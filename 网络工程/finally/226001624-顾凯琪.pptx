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58" r:id="rId5"/>
    <p:sldId id="268" r:id="rId6"/>
    <p:sldId id="259" r:id="rId7"/>
    <p:sldId id="262" r:id="rId8"/>
    <p:sldId id="263" r:id="rId9"/>
    <p:sldId id="281" r:id="rId10"/>
    <p:sldId id="282" r:id="rId11"/>
    <p:sldId id="269" r:id="rId12"/>
    <p:sldId id="278" r:id="rId13"/>
    <p:sldId id="277" r:id="rId14"/>
    <p:sldId id="279" r:id="rId15"/>
    <p:sldId id="280" r:id="rId16"/>
    <p:sldId id="283" r:id="rId17"/>
    <p:sldId id="266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3" d="100"/>
          <a:sy n="93" d="100"/>
        </p:scale>
        <p:origin x="71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2156" y="105155"/>
            <a:ext cx="1693159" cy="51663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24514" y="128862"/>
            <a:ext cx="1208722" cy="46058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367009" y="118110"/>
            <a:ext cx="0" cy="497205"/>
          </a:xfrm>
          <a:custGeom>
            <a:avLst/>
            <a:gdLst/>
            <a:ahLst/>
            <a:cxnLst/>
            <a:rect l="l" t="t" r="r" b="b"/>
            <a:pathLst>
              <a:path h="497205">
                <a:moveTo>
                  <a:pt x="0" y="0"/>
                </a:moveTo>
                <a:lnTo>
                  <a:pt x="0" y="496824"/>
                </a:lnTo>
              </a:path>
            </a:pathLst>
          </a:custGeom>
          <a:ln w="38100">
            <a:solidFill>
              <a:srgbClr val="C8C8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653539"/>
            <a:ext cx="12192000" cy="3051175"/>
          </a:xfrm>
          <a:custGeom>
            <a:avLst/>
            <a:gdLst/>
            <a:ahLst/>
            <a:cxnLst/>
            <a:rect l="l" t="t" r="r" b="b"/>
            <a:pathLst>
              <a:path w="12192000" h="3051175">
                <a:moveTo>
                  <a:pt x="12192000" y="0"/>
                </a:moveTo>
                <a:lnTo>
                  <a:pt x="0" y="0"/>
                </a:lnTo>
                <a:lnTo>
                  <a:pt x="0" y="3051048"/>
                </a:lnTo>
                <a:lnTo>
                  <a:pt x="12192000" y="30510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35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01089" y="2570479"/>
            <a:ext cx="8989821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35C9C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35C9C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35C9C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35C9C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21208" y="687323"/>
            <a:ext cx="11671300" cy="76200"/>
          </a:xfrm>
          <a:custGeom>
            <a:avLst/>
            <a:gdLst/>
            <a:ahLst/>
            <a:cxnLst/>
            <a:rect l="l" t="t" r="r" b="b"/>
            <a:pathLst>
              <a:path w="11671300" h="76200">
                <a:moveTo>
                  <a:pt x="11670792" y="0"/>
                </a:moveTo>
                <a:lnTo>
                  <a:pt x="16497" y="0"/>
                </a:lnTo>
                <a:lnTo>
                  <a:pt x="0" y="76200"/>
                </a:lnTo>
                <a:lnTo>
                  <a:pt x="11670792" y="76200"/>
                </a:lnTo>
                <a:lnTo>
                  <a:pt x="11670792" y="0"/>
                </a:lnTo>
                <a:close/>
              </a:path>
            </a:pathLst>
          </a:custGeom>
          <a:solidFill>
            <a:srgbClr val="035C9C">
              <a:alpha val="9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81000"/>
            <a:ext cx="396240" cy="382905"/>
          </a:xfrm>
          <a:custGeom>
            <a:avLst/>
            <a:gdLst/>
            <a:ahLst/>
            <a:cxnLst/>
            <a:rect l="l" t="t" r="r" b="b"/>
            <a:pathLst>
              <a:path w="396240" h="382905">
                <a:moveTo>
                  <a:pt x="187744" y="0"/>
                </a:moveTo>
                <a:lnTo>
                  <a:pt x="0" y="117"/>
                </a:lnTo>
                <a:lnTo>
                  <a:pt x="0" y="382524"/>
                </a:lnTo>
                <a:lnTo>
                  <a:pt x="396240" y="382524"/>
                </a:lnTo>
                <a:lnTo>
                  <a:pt x="187744" y="0"/>
                </a:lnTo>
                <a:close/>
              </a:path>
            </a:pathLst>
          </a:custGeom>
          <a:solidFill>
            <a:srgbClr val="035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451" y="187578"/>
            <a:ext cx="415925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35C9C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9831" y="2500122"/>
            <a:ext cx="5846445" cy="276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4081" y="2684145"/>
            <a:ext cx="12192000" cy="14897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基于</a:t>
            </a:r>
            <a:r>
              <a:rPr sz="4000" spc="-45" dirty="0">
                <a:solidFill>
                  <a:srgbClr val="FFFFFF"/>
                </a:solidFill>
              </a:rPr>
              <a:t>NB-</a:t>
            </a:r>
            <a:r>
              <a:rPr sz="4000" spc="-85" dirty="0">
                <a:solidFill>
                  <a:srgbClr val="FFFFFF"/>
                </a:solidFill>
              </a:rPr>
              <a:t>IOT</a:t>
            </a:r>
            <a:r>
              <a:rPr lang="zh-CN" altLang="en-US" sz="4000" spc="-85" dirty="0">
                <a:solidFill>
                  <a:srgbClr val="FFFFFF"/>
                </a:solidFill>
              </a:rPr>
              <a:t>和</a:t>
            </a:r>
            <a:r>
              <a:rPr lang="en-US" altLang="zh-CN" sz="4000" spc="-85" dirty="0" err="1">
                <a:solidFill>
                  <a:srgbClr val="FFFFFF"/>
                </a:solidFill>
              </a:rPr>
              <a:t>LSTM</a:t>
            </a:r>
            <a:r>
              <a:rPr sz="4000" spc="-10" dirty="0" err="1">
                <a:solidFill>
                  <a:srgbClr val="FFFFFF"/>
                </a:solidFill>
              </a:rPr>
              <a:t>的智能环境监测</a:t>
            </a:r>
            <a:r>
              <a:rPr lang="zh-CN" altLang="en-US" sz="40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  <a:r>
              <a:rPr sz="4000" spc="-10" dirty="0" err="1">
                <a:solidFill>
                  <a:srgbClr val="FFFFFF"/>
                </a:solidFill>
              </a:rPr>
              <a:t>系统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4617465" y="3752469"/>
            <a:ext cx="28295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宋体"/>
                <a:cs typeface="宋体"/>
              </a:rPr>
              <a:t>网络工程课程设计汇报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96746" y="3886961"/>
            <a:ext cx="9250680" cy="76200"/>
          </a:xfrm>
          <a:custGeom>
            <a:avLst/>
            <a:gdLst/>
            <a:ahLst/>
            <a:cxnLst/>
            <a:rect l="l" t="t" r="r" b="b"/>
            <a:pathLst>
              <a:path w="9250680" h="76200">
                <a:moveTo>
                  <a:pt x="2340991" y="38100"/>
                </a:moveTo>
                <a:lnTo>
                  <a:pt x="2317673" y="2997"/>
                </a:lnTo>
                <a:lnTo>
                  <a:pt x="2302891" y="0"/>
                </a:lnTo>
                <a:lnTo>
                  <a:pt x="2288032" y="2997"/>
                </a:lnTo>
                <a:lnTo>
                  <a:pt x="2275929" y="11150"/>
                </a:lnTo>
                <a:lnTo>
                  <a:pt x="2267775" y="23253"/>
                </a:lnTo>
                <a:lnTo>
                  <a:pt x="2266785" y="28194"/>
                </a:lnTo>
                <a:lnTo>
                  <a:pt x="0" y="28194"/>
                </a:lnTo>
                <a:lnTo>
                  <a:pt x="0" y="48006"/>
                </a:lnTo>
                <a:lnTo>
                  <a:pt x="2266772" y="48006"/>
                </a:lnTo>
                <a:lnTo>
                  <a:pt x="2267775" y="52959"/>
                </a:lnTo>
                <a:lnTo>
                  <a:pt x="2275929" y="65062"/>
                </a:lnTo>
                <a:lnTo>
                  <a:pt x="2288032" y="73215"/>
                </a:lnTo>
                <a:lnTo>
                  <a:pt x="2302891" y="76200"/>
                </a:lnTo>
                <a:lnTo>
                  <a:pt x="2317673" y="73215"/>
                </a:lnTo>
                <a:lnTo>
                  <a:pt x="2329789" y="65062"/>
                </a:lnTo>
                <a:lnTo>
                  <a:pt x="2337981" y="52959"/>
                </a:lnTo>
                <a:lnTo>
                  <a:pt x="2338984" y="48006"/>
                </a:lnTo>
                <a:lnTo>
                  <a:pt x="2340991" y="38100"/>
                </a:lnTo>
                <a:close/>
              </a:path>
              <a:path w="9250680" h="76200">
                <a:moveTo>
                  <a:pt x="9250299" y="28194"/>
                </a:moveTo>
                <a:lnTo>
                  <a:pt x="6948957" y="28194"/>
                </a:lnTo>
                <a:lnTo>
                  <a:pt x="6947967" y="23253"/>
                </a:lnTo>
                <a:lnTo>
                  <a:pt x="6939813" y="11150"/>
                </a:lnTo>
                <a:lnTo>
                  <a:pt x="6927710" y="2997"/>
                </a:lnTo>
                <a:lnTo>
                  <a:pt x="6912864" y="0"/>
                </a:lnTo>
                <a:lnTo>
                  <a:pt x="6898005" y="2997"/>
                </a:lnTo>
                <a:lnTo>
                  <a:pt x="6885902" y="11150"/>
                </a:lnTo>
                <a:lnTo>
                  <a:pt x="6877748" y="23253"/>
                </a:lnTo>
                <a:lnTo>
                  <a:pt x="6874764" y="38100"/>
                </a:lnTo>
                <a:lnTo>
                  <a:pt x="6877748" y="52959"/>
                </a:lnTo>
                <a:lnTo>
                  <a:pt x="6885902" y="65062"/>
                </a:lnTo>
                <a:lnTo>
                  <a:pt x="6898005" y="73215"/>
                </a:lnTo>
                <a:lnTo>
                  <a:pt x="6912864" y="76200"/>
                </a:lnTo>
                <a:lnTo>
                  <a:pt x="6927710" y="73215"/>
                </a:lnTo>
                <a:lnTo>
                  <a:pt x="6939813" y="65062"/>
                </a:lnTo>
                <a:lnTo>
                  <a:pt x="6947967" y="52959"/>
                </a:lnTo>
                <a:lnTo>
                  <a:pt x="6948957" y="48006"/>
                </a:lnTo>
                <a:lnTo>
                  <a:pt x="9250299" y="48006"/>
                </a:lnTo>
                <a:lnTo>
                  <a:pt x="9250299" y="28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文本框 4"/>
          <p:cNvSpPr txBox="1"/>
          <p:nvPr userDrawn="1"/>
        </p:nvSpPr>
        <p:spPr>
          <a:xfrm>
            <a:off x="8989541" y="4173906"/>
            <a:ext cx="2769973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汇报人：顾凯琪、徐豪城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165353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研究背景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5894" y="1078230"/>
            <a:ext cx="11303635" cy="389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3730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微软雅黑"/>
                <a:cs typeface="微软雅黑"/>
              </a:rPr>
              <a:t>环境温湿度监测</a:t>
            </a:r>
            <a:r>
              <a:rPr lang="zh-CN" altLang="en-US" sz="2400" b="1" dirty="0">
                <a:solidFill>
                  <a:srgbClr val="FF0000"/>
                </a:solidFill>
                <a:latin typeface="微软雅黑"/>
                <a:cs typeface="微软雅黑"/>
              </a:rPr>
              <a:t>预测</a:t>
            </a:r>
            <a:r>
              <a:rPr sz="2400" spc="-5" dirty="0">
                <a:latin typeface="微软雅黑"/>
                <a:cs typeface="微软雅黑"/>
              </a:rPr>
              <a:t>在许多行业中具有重要意义，包括农业、物流、仓储、医疗等众多重要领域。通过实时监测环境的温度和湿度，可以提前预警并及时采取措施，</a:t>
            </a:r>
            <a:r>
              <a:rPr sz="2400" spc="-50" dirty="0">
                <a:latin typeface="微软雅黑"/>
                <a:cs typeface="微软雅黑"/>
              </a:rPr>
              <a:t> </a:t>
            </a:r>
            <a:r>
              <a:rPr sz="2400" spc="-5" dirty="0">
                <a:latin typeface="微软雅黑"/>
                <a:cs typeface="微软雅黑"/>
              </a:rPr>
              <a:t>保证设备的正常运行，提高生产效率，防止质量问题的发生。在当下，许多企业和机</a:t>
            </a:r>
            <a:r>
              <a:rPr sz="2400" spc="-10" dirty="0">
                <a:latin typeface="微软雅黑"/>
                <a:cs typeface="微软雅黑"/>
              </a:rPr>
              <a:t>构依然采用</a:t>
            </a:r>
            <a:r>
              <a:rPr sz="2400" b="1" spc="-10" dirty="0">
                <a:solidFill>
                  <a:srgbClr val="FF0000"/>
                </a:solidFill>
                <a:latin typeface="微软雅黑"/>
                <a:cs typeface="微软雅黑"/>
              </a:rPr>
              <a:t>传统的手工监测模式</a:t>
            </a:r>
            <a:r>
              <a:rPr sz="2400" spc="-15" dirty="0">
                <a:latin typeface="微软雅黑"/>
                <a:cs typeface="微软雅黑"/>
              </a:rPr>
              <a:t>，投入数量有限的监测点，并投入一定量的人力，导</a:t>
            </a:r>
            <a:r>
              <a:rPr sz="2400" spc="-5" dirty="0">
                <a:latin typeface="微软雅黑"/>
                <a:cs typeface="微软雅黑"/>
              </a:rPr>
              <a:t>致监测数据出现获取不及时、准确性低等状况。这类方式存在一定的弊端，包括高昂的成本、效率低下、难以实现全面覆盖等问题。</a:t>
            </a:r>
            <a:endParaRPr sz="2400">
              <a:latin typeface="微软雅黑"/>
              <a:cs typeface="微软雅黑"/>
            </a:endParaRPr>
          </a:p>
          <a:p>
            <a:pPr marL="64643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微软雅黑"/>
                <a:cs typeface="微软雅黑"/>
              </a:rPr>
              <a:t>因此我们设计制作的是基于</a:t>
            </a:r>
            <a:r>
              <a:rPr sz="2400" b="1" spc="-10" dirty="0">
                <a:latin typeface="微软雅黑"/>
                <a:cs typeface="微软雅黑"/>
              </a:rPr>
              <a:t>NB-</a:t>
            </a:r>
            <a:r>
              <a:rPr sz="2400" b="1" spc="-45" dirty="0">
                <a:latin typeface="微软雅黑"/>
                <a:cs typeface="微软雅黑"/>
              </a:rPr>
              <a:t>IOT</a:t>
            </a:r>
            <a:r>
              <a:rPr lang="zh-CN" altLang="en-US" sz="2400" b="1" spc="-45" dirty="0">
                <a:latin typeface="微软雅黑"/>
                <a:cs typeface="微软雅黑"/>
              </a:rPr>
              <a:t>和</a:t>
            </a:r>
            <a:r>
              <a:rPr lang="en-US" altLang="zh-CN" sz="2400" b="1" spc="-45" dirty="0">
                <a:latin typeface="微软雅黑"/>
                <a:cs typeface="微软雅黑"/>
              </a:rPr>
              <a:t>LSTM</a:t>
            </a:r>
            <a:r>
              <a:rPr sz="2400" b="1" spc="-5" dirty="0">
                <a:latin typeface="微软雅黑"/>
                <a:cs typeface="微软雅黑"/>
              </a:rPr>
              <a:t>的智能环境</a:t>
            </a:r>
            <a:r>
              <a:rPr lang="zh-CN" altLang="en-US" sz="2400" b="1" spc="-5" dirty="0">
                <a:latin typeface="微软雅黑"/>
                <a:cs typeface="微软雅黑"/>
              </a:rPr>
              <a:t>温湿度</a:t>
            </a:r>
            <a:r>
              <a:rPr sz="2400" b="1" spc="-5" dirty="0">
                <a:latin typeface="微软雅黑"/>
                <a:cs typeface="微软雅黑"/>
              </a:rPr>
              <a:t>监测</a:t>
            </a:r>
            <a:r>
              <a:rPr lang="zh-CN" altLang="en-US" sz="2400" b="1" spc="-5" dirty="0">
                <a:latin typeface="微软雅黑"/>
                <a:cs typeface="微软雅黑"/>
              </a:rPr>
              <a:t>预测</a:t>
            </a:r>
            <a:r>
              <a:rPr sz="2400" b="1" spc="-5" dirty="0">
                <a:latin typeface="微软雅黑"/>
                <a:cs typeface="微软雅黑"/>
              </a:rPr>
              <a:t>系统。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1653539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15" dirty="0"/>
              <a:t>技术栈</a:t>
            </a:r>
            <a:endParaRPr spc="-15" dirty="0"/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5894" y="1088527"/>
            <a:ext cx="11262360" cy="444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4475" indent="633730">
              <a:lnSpc>
                <a:spcPct val="15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硬件平台的选用将综合考虑性能、稳定性、成本、使用门槛、平台拓展性等方面。节点的开发板方面，本次实验选用 </a:t>
            </a:r>
            <a:r>
              <a:rPr sz="2400" b="1" dirty="0">
                <a:latin typeface="微软雅黑"/>
                <a:cs typeface="微软雅黑"/>
              </a:rPr>
              <a:t>ESP8266</a:t>
            </a:r>
            <a:r>
              <a:rPr sz="2400" b="1" spc="-5" dirty="0">
                <a:latin typeface="微软雅黑"/>
                <a:cs typeface="微软雅黑"/>
              </a:rPr>
              <a:t> 模块</a:t>
            </a:r>
            <a:r>
              <a:rPr sz="2400" dirty="0">
                <a:latin typeface="微软雅黑"/>
                <a:cs typeface="微软雅黑"/>
              </a:rPr>
              <a:t>，</a:t>
            </a:r>
            <a:r>
              <a:rPr sz="2400" b="1" dirty="0">
                <a:latin typeface="微软雅黑"/>
                <a:cs typeface="微软雅黑"/>
              </a:rPr>
              <a:t>NB-IoT</a:t>
            </a:r>
            <a:r>
              <a:rPr sz="2400" spc="-20" dirty="0">
                <a:latin typeface="微软雅黑"/>
                <a:cs typeface="微软雅黑"/>
              </a:rPr>
              <a:t> 联网方面选用</a:t>
            </a:r>
            <a:r>
              <a:rPr sz="2400" spc="-50" dirty="0">
                <a:latin typeface="微软雅黑"/>
                <a:cs typeface="微软雅黑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SIM7020</a:t>
            </a:r>
            <a:r>
              <a:rPr sz="2400" b="1" spc="-20" dirty="0">
                <a:latin typeface="微软雅黑"/>
                <a:cs typeface="微软雅黑"/>
              </a:rPr>
              <a:t> 模块</a:t>
            </a:r>
            <a:r>
              <a:rPr lang="zh-CN" altLang="en-US" sz="2400" b="1" spc="-20" dirty="0">
                <a:latin typeface="微软雅黑"/>
                <a:cs typeface="微软雅黑"/>
              </a:rPr>
              <a:t>（实际使用</a:t>
            </a:r>
            <a:r>
              <a:rPr lang="en-US" altLang="zh-CN" sz="2400" b="1" spc="-20" dirty="0">
                <a:latin typeface="微软雅黑"/>
                <a:cs typeface="微软雅黑"/>
              </a:rPr>
              <a:t>WIFI</a:t>
            </a:r>
            <a:r>
              <a:rPr lang="zh-CN" altLang="en-US" sz="2400" b="1" spc="-20" dirty="0">
                <a:latin typeface="微软雅黑"/>
                <a:cs typeface="微软雅黑"/>
              </a:rPr>
              <a:t>）</a:t>
            </a:r>
            <a:r>
              <a:rPr sz="2400" spc="-5" dirty="0">
                <a:latin typeface="微软雅黑"/>
                <a:cs typeface="微软雅黑"/>
              </a:rPr>
              <a:t>，温湿度监测方面选用 </a:t>
            </a:r>
            <a:r>
              <a:rPr sz="2400" b="1" dirty="0">
                <a:latin typeface="微软雅黑"/>
                <a:cs typeface="微软雅黑"/>
              </a:rPr>
              <a:t>DHT22</a:t>
            </a:r>
            <a:r>
              <a:rPr sz="2400" b="1" spc="-10" dirty="0">
                <a:latin typeface="微软雅黑"/>
                <a:cs typeface="微软雅黑"/>
              </a:rPr>
              <a:t> 模块</a:t>
            </a:r>
            <a:r>
              <a:rPr sz="2400" spc="-5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2700" indent="63373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微软雅黑"/>
                <a:cs typeface="微软雅黑"/>
              </a:rPr>
              <a:t>软件平台选用 </a:t>
            </a:r>
            <a:r>
              <a:rPr sz="2400" b="1" dirty="0">
                <a:latin typeface="微软雅黑"/>
                <a:cs typeface="微软雅黑"/>
              </a:rPr>
              <a:t>Arduino</a:t>
            </a:r>
            <a:r>
              <a:rPr sz="2400" b="1" spc="20" dirty="0">
                <a:latin typeface="微软雅黑"/>
                <a:cs typeface="微软雅黑"/>
              </a:rPr>
              <a:t> </a:t>
            </a:r>
            <a:r>
              <a:rPr sz="2400" b="1" spc="-10" dirty="0">
                <a:latin typeface="微软雅黑"/>
                <a:cs typeface="微软雅黑"/>
              </a:rPr>
              <a:t>IDE</a:t>
            </a:r>
            <a:r>
              <a:rPr sz="2400" spc="-15" dirty="0">
                <a:latin typeface="微软雅黑"/>
                <a:cs typeface="微软雅黑"/>
              </a:rPr>
              <a:t>进行硬件联网，温湿度获取，数据传输等方面的代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2400" dirty="0">
                <a:latin typeface="微软雅黑"/>
                <a:cs typeface="微软雅黑"/>
              </a:rPr>
              <a:t>码编写。在进行后端开发时我们选用了</a:t>
            </a:r>
            <a:r>
              <a:rPr sz="2400" b="1" spc="-10" dirty="0">
                <a:latin typeface="微软雅黑"/>
                <a:cs typeface="微软雅黑"/>
              </a:rPr>
              <a:t>IDEA</a:t>
            </a:r>
            <a:r>
              <a:rPr sz="2400" spc="-5" dirty="0">
                <a:latin typeface="微软雅黑"/>
                <a:cs typeface="微软雅黑"/>
              </a:rPr>
              <a:t>，</a:t>
            </a:r>
            <a:r>
              <a:rPr lang="zh-CN" altLang="en-US" sz="2400" dirty="0">
                <a:latin typeface="微软雅黑"/>
                <a:cs typeface="微软雅黑"/>
              </a:rPr>
              <a:t>主要用于开发</a:t>
            </a:r>
            <a:r>
              <a:rPr lang="en-US" altLang="zh-CN" sz="2400" dirty="0">
                <a:latin typeface="微软雅黑"/>
                <a:cs typeface="微软雅黑"/>
              </a:rPr>
              <a:t> </a:t>
            </a:r>
            <a:r>
              <a:rPr lang="en-US" altLang="zh-CN" sz="2400" b="1" dirty="0">
                <a:latin typeface="微软雅黑"/>
                <a:cs typeface="微软雅黑"/>
              </a:rPr>
              <a:t>Java </a:t>
            </a:r>
            <a:r>
              <a:rPr lang="zh-CN" altLang="en-US" sz="2400" dirty="0">
                <a:latin typeface="微软雅黑"/>
                <a:cs typeface="微软雅黑"/>
              </a:rPr>
              <a:t>程序，同时也支持多种其他编程语言，如</a:t>
            </a:r>
            <a:r>
              <a:rPr lang="en-US" altLang="zh-CN" sz="2400" dirty="0">
                <a:latin typeface="微软雅黑"/>
                <a:cs typeface="微软雅黑"/>
              </a:rPr>
              <a:t> </a:t>
            </a:r>
            <a:r>
              <a:rPr lang="en-US" altLang="zh-CN" sz="2400" b="1" dirty="0">
                <a:latin typeface="微软雅黑"/>
                <a:cs typeface="微软雅黑"/>
              </a:rPr>
              <a:t>Python</a:t>
            </a:r>
            <a:r>
              <a:rPr lang="zh-CN" altLang="en-US" sz="2400" b="1" dirty="0">
                <a:latin typeface="微软雅黑"/>
                <a:cs typeface="微软雅黑"/>
              </a:rPr>
              <a:t>、</a:t>
            </a:r>
            <a:r>
              <a:rPr lang="en-US" altLang="zh-CN" sz="2400" b="1" dirty="0">
                <a:latin typeface="微软雅黑"/>
                <a:cs typeface="微软雅黑"/>
              </a:rPr>
              <a:t>JavaScript</a:t>
            </a:r>
            <a:r>
              <a:rPr lang="zh-CN" altLang="en-US" sz="2400" b="1" dirty="0">
                <a:latin typeface="微软雅黑"/>
                <a:cs typeface="微软雅黑"/>
              </a:rPr>
              <a:t>、</a:t>
            </a:r>
            <a:r>
              <a:rPr lang="en-US" altLang="zh-CN" sz="2400" b="1" dirty="0">
                <a:latin typeface="微软雅黑"/>
                <a:cs typeface="微软雅黑"/>
              </a:rPr>
              <a:t>HTML/CSS </a:t>
            </a:r>
            <a:r>
              <a:rPr lang="zh-CN" altLang="en-US" sz="2400" dirty="0">
                <a:latin typeface="微软雅黑"/>
                <a:cs typeface="微软雅黑"/>
              </a:rPr>
              <a:t>等</a:t>
            </a:r>
            <a:r>
              <a:rPr sz="2400" dirty="0">
                <a:latin typeface="微软雅黑"/>
                <a:cs typeface="微软雅黑"/>
              </a:rPr>
              <a:t>。前端界面的编写选用了</a:t>
            </a:r>
            <a:r>
              <a:rPr sz="2400" b="1" dirty="0">
                <a:latin typeface="微软雅黑"/>
                <a:cs typeface="微软雅黑"/>
              </a:rPr>
              <a:t>Visual</a:t>
            </a:r>
            <a:r>
              <a:rPr sz="2400" b="1" spc="-80" dirty="0">
                <a:latin typeface="微软雅黑"/>
                <a:cs typeface="微软雅黑"/>
              </a:rPr>
              <a:t> </a:t>
            </a:r>
            <a:r>
              <a:rPr sz="2400" b="1" dirty="0">
                <a:latin typeface="微软雅黑"/>
                <a:cs typeface="微软雅黑"/>
              </a:rPr>
              <a:t>Studio</a:t>
            </a:r>
            <a:r>
              <a:rPr sz="2400" b="1" spc="-65" dirty="0">
                <a:latin typeface="微软雅黑"/>
                <a:cs typeface="微软雅黑"/>
              </a:rPr>
              <a:t> </a:t>
            </a:r>
            <a:r>
              <a:rPr sz="2400" b="1" spc="-10" dirty="0">
                <a:latin typeface="微软雅黑"/>
                <a:cs typeface="微软雅黑"/>
              </a:rPr>
              <a:t>Code</a:t>
            </a:r>
            <a:r>
              <a:rPr lang="zh-CN" altLang="en-US" sz="2400" b="1" spc="-10" dirty="0">
                <a:latin typeface="微软雅黑"/>
                <a:cs typeface="微软雅黑"/>
              </a:rPr>
              <a:t>，并把</a:t>
            </a:r>
            <a:r>
              <a:rPr sz="2400" b="1" dirty="0">
                <a:latin typeface="微软雅黑" charset="0"/>
                <a:cs typeface="微软雅黑" charset="0"/>
              </a:rPr>
              <a:t>Mosquitto</a:t>
            </a:r>
            <a:r>
              <a:rPr sz="2400" spc="-25" dirty="0">
                <a:latin typeface="微软雅黑"/>
                <a:cs typeface="微软雅黑"/>
              </a:rPr>
              <a:t>作为</a:t>
            </a:r>
            <a:r>
              <a:rPr sz="2400" spc="-25" dirty="0">
                <a:latin typeface="微软雅黑" charset="0"/>
                <a:cs typeface="微软雅黑" charset="0"/>
              </a:rPr>
              <a:t>代理服务器</a:t>
            </a:r>
            <a:r>
              <a:rPr sz="2400" spc="-10" dirty="0">
                <a:latin typeface="微软雅黑"/>
                <a:cs typeface="微软雅黑"/>
              </a:rPr>
              <a:t>，为各节点提供了可靠的 消息传递机制</a:t>
            </a:r>
            <a:r>
              <a:rPr lang="zh-CN" altLang="en-US" sz="2400" spc="-1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165353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设计思路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5894" y="1078230"/>
            <a:ext cx="11401425" cy="49974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"/>
              <a:tabLst>
                <a:tab pos="354965" algn="l"/>
              </a:tabLst>
            </a:pPr>
            <a:r>
              <a:rPr sz="2400" b="1" dirty="0">
                <a:latin typeface="微软雅黑"/>
                <a:cs typeface="微软雅黑"/>
              </a:rPr>
              <a:t>信息的获取：</a:t>
            </a:r>
            <a:r>
              <a:rPr sz="2400" dirty="0">
                <a:latin typeface="微软雅黑"/>
                <a:cs typeface="微软雅黑"/>
              </a:rPr>
              <a:t>通过</a:t>
            </a:r>
            <a:r>
              <a:rPr sz="2400" b="1" dirty="0">
                <a:latin typeface="微软雅黑"/>
                <a:cs typeface="微软雅黑"/>
              </a:rPr>
              <a:t>温湿度传感器</a:t>
            </a:r>
            <a:r>
              <a:rPr sz="2400" spc="-10" dirty="0">
                <a:latin typeface="微软雅黑"/>
                <a:cs typeface="微软雅黑"/>
              </a:rPr>
              <a:t>连接节点获取信息。</a:t>
            </a:r>
            <a:endParaRPr sz="2400">
              <a:latin typeface="微软雅黑"/>
              <a:cs typeface="微软雅黑"/>
            </a:endParaRPr>
          </a:p>
          <a:p>
            <a:pPr marL="354965" marR="188595" indent="-342900">
              <a:lnSpc>
                <a:spcPct val="150000"/>
              </a:lnSpc>
              <a:spcBef>
                <a:spcPts val="5"/>
              </a:spcBef>
              <a:buFont typeface="Wingdings"/>
              <a:buChar char=""/>
              <a:tabLst>
                <a:tab pos="354965" algn="l"/>
              </a:tabLst>
            </a:pPr>
            <a:r>
              <a:rPr sz="2400" b="1" dirty="0">
                <a:latin typeface="微软雅黑"/>
                <a:cs typeface="微软雅黑"/>
              </a:rPr>
              <a:t>信息的汇总：</a:t>
            </a:r>
            <a:r>
              <a:rPr sz="2400" dirty="0">
                <a:latin typeface="微软雅黑"/>
                <a:cs typeface="微软雅黑"/>
              </a:rPr>
              <a:t>使用</a:t>
            </a:r>
            <a:r>
              <a:rPr sz="2400" b="1" dirty="0">
                <a:latin typeface="微软雅黑" charset="0"/>
                <a:cs typeface="微软雅黑" charset="0"/>
              </a:rPr>
              <a:t>WIFI</a:t>
            </a:r>
            <a:r>
              <a:rPr sz="2400" dirty="0">
                <a:latin typeface="微软雅黑"/>
                <a:cs typeface="微软雅黑"/>
              </a:rPr>
              <a:t>进行通信</a:t>
            </a:r>
            <a:r>
              <a:rPr sz="2400" spc="-10" dirty="0">
                <a:latin typeface="微软雅黑"/>
                <a:cs typeface="微软雅黑"/>
              </a:rPr>
              <a:t>。各节点通过消</a:t>
            </a:r>
            <a:r>
              <a:rPr sz="2400" dirty="0">
                <a:latin typeface="微软雅黑"/>
                <a:cs typeface="微软雅黑"/>
              </a:rPr>
              <a:t>息队列服务器将信息汇总到</a:t>
            </a:r>
            <a:r>
              <a:rPr lang="en-US" altLang="zh-CN" sz="2400" b="1" dirty="0">
                <a:latin typeface="微软雅黑"/>
                <a:cs typeface="微软雅黑"/>
              </a:rPr>
              <a:t>Mosquitto</a:t>
            </a:r>
            <a:r>
              <a:rPr sz="2400" b="1" dirty="0">
                <a:latin typeface="微软雅黑"/>
                <a:cs typeface="微软雅黑"/>
              </a:rPr>
              <a:t>服务器</a:t>
            </a:r>
            <a:r>
              <a:rPr sz="2400" dirty="0">
                <a:latin typeface="微软雅黑"/>
                <a:cs typeface="微软雅黑"/>
              </a:rPr>
              <a:t>，将数据打包并通过</a:t>
            </a:r>
            <a:r>
              <a:rPr sz="2400" b="1" dirty="0">
                <a:latin typeface="微软雅黑" charset="0"/>
                <a:cs typeface="微软雅黑" charset="0"/>
              </a:rPr>
              <a:t>WIFI</a:t>
            </a:r>
            <a:r>
              <a:rPr sz="2400" spc="-20" dirty="0">
                <a:latin typeface="微软雅黑"/>
                <a:cs typeface="微软雅黑"/>
              </a:rPr>
              <a:t>发送至</a:t>
            </a:r>
            <a:r>
              <a:rPr sz="2400" spc="-50" dirty="0">
                <a:latin typeface="微软雅黑"/>
                <a:cs typeface="微软雅黑"/>
              </a:rPr>
              <a:t> </a:t>
            </a:r>
            <a:r>
              <a:rPr lang="en-US" altLang="zh-CN" sz="2400" b="1" spc="-5" dirty="0">
                <a:latin typeface="微软雅黑"/>
                <a:cs typeface="微软雅黑"/>
              </a:rPr>
              <a:t>Mosquitto</a:t>
            </a:r>
            <a:r>
              <a:rPr sz="2400" spc="-5" dirty="0">
                <a:latin typeface="微软雅黑"/>
                <a:cs typeface="微软雅黑"/>
              </a:rPr>
              <a:t>服务器的特定</a:t>
            </a:r>
            <a:r>
              <a:rPr lang="en-US" altLang="zh-CN" sz="2400" b="1" spc="-5" dirty="0">
                <a:latin typeface="微软雅黑"/>
                <a:cs typeface="微软雅黑"/>
              </a:rPr>
              <a:t>topic</a:t>
            </a:r>
            <a:r>
              <a:rPr sz="2400" spc="-5" dirty="0">
                <a:latin typeface="微软雅黑"/>
                <a:cs typeface="微软雅黑"/>
              </a:rPr>
              <a:t>，以实现信息的共同发布与汇总。</a:t>
            </a:r>
            <a:endParaRPr sz="2400">
              <a:latin typeface="微软雅黑"/>
              <a:cs typeface="微软雅黑"/>
            </a:endParaRPr>
          </a:p>
          <a:p>
            <a:pPr marL="354965" marR="379730" indent="-342900">
              <a:lnSpc>
                <a:spcPct val="150000"/>
              </a:lnSpc>
              <a:buFont typeface="Wingdings"/>
              <a:buChar char=""/>
              <a:tabLst>
                <a:tab pos="354965" algn="l"/>
              </a:tabLst>
            </a:pPr>
            <a:r>
              <a:rPr sz="2400" b="1" dirty="0">
                <a:latin typeface="微软雅黑"/>
                <a:cs typeface="微软雅黑"/>
              </a:rPr>
              <a:t>数据的存储：</a:t>
            </a:r>
            <a:r>
              <a:rPr sz="2400" dirty="0">
                <a:latin typeface="微软雅黑"/>
                <a:cs typeface="微软雅黑"/>
              </a:rPr>
              <a:t>使用后端程序实现，后端程序订阅</a:t>
            </a:r>
            <a:r>
              <a:rPr lang="en-US" altLang="zh-CN" sz="2400" b="1" spc="-5" dirty="0">
                <a:latin typeface="微软雅黑"/>
                <a:cs typeface="微软雅黑"/>
              </a:rPr>
              <a:t>Mosquitto</a:t>
            </a:r>
            <a:r>
              <a:rPr sz="2400" spc="-5" dirty="0">
                <a:latin typeface="微软雅黑"/>
                <a:cs typeface="微软雅黑"/>
              </a:rPr>
              <a:t>服务器中的指定</a:t>
            </a:r>
            <a:r>
              <a:rPr lang="en-US" altLang="zh-CN" sz="2400" b="1" spc="-5" dirty="0">
                <a:latin typeface="微软雅黑"/>
                <a:cs typeface="微软雅黑"/>
              </a:rPr>
              <a:t>topic</a:t>
            </a:r>
            <a:r>
              <a:rPr sz="2400" spc="-5" dirty="0">
                <a:latin typeface="微软雅黑"/>
                <a:cs typeface="微软雅黑"/>
              </a:rPr>
              <a:t>，接</a:t>
            </a:r>
            <a:r>
              <a:rPr sz="2400" dirty="0">
                <a:latin typeface="微软雅黑"/>
                <a:cs typeface="微软雅黑"/>
              </a:rPr>
              <a:t>收传感器信息并</a:t>
            </a:r>
            <a:r>
              <a:rPr sz="2400" b="1" dirty="0">
                <a:latin typeface="微软雅黑"/>
                <a:cs typeface="微软雅黑"/>
              </a:rPr>
              <a:t>连接</a:t>
            </a:r>
            <a:r>
              <a:rPr sz="2400" b="1" spc="-20" dirty="0">
                <a:latin typeface="微软雅黑" charset="0"/>
                <a:cs typeface="微软雅黑" charset="0"/>
              </a:rPr>
              <a:t>O</a:t>
            </a:r>
            <a:r>
              <a:rPr lang="en-US" altLang="zh-CN" sz="2400" b="1" spc="-20" dirty="0">
                <a:latin typeface="微软雅黑" charset="0"/>
                <a:cs typeface="微软雅黑" charset="0"/>
              </a:rPr>
              <a:t>penGauss</a:t>
            </a:r>
            <a:r>
              <a:rPr sz="2400" b="1" dirty="0">
                <a:latin typeface="微软雅黑"/>
                <a:cs typeface="微软雅黑"/>
              </a:rPr>
              <a:t>数据库进行数据存储</a:t>
            </a:r>
            <a:r>
              <a:rPr sz="2400" spc="-5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354965" marR="5080" indent="-342900">
              <a:lnSpc>
                <a:spcPct val="150000"/>
              </a:lnSpc>
              <a:buFont typeface="Wingdings"/>
              <a:buChar char=""/>
              <a:tabLst>
                <a:tab pos="354965" algn="l"/>
              </a:tabLst>
            </a:pPr>
            <a:r>
              <a:rPr sz="2400" b="1" dirty="0">
                <a:latin typeface="微软雅黑"/>
                <a:cs typeface="微软雅黑"/>
              </a:rPr>
              <a:t>数据的处理与呈现：</a:t>
            </a:r>
            <a:r>
              <a:rPr sz="2400" dirty="0">
                <a:latin typeface="微软雅黑"/>
                <a:cs typeface="微软雅黑"/>
              </a:rPr>
              <a:t>使用前端</a:t>
            </a:r>
            <a:r>
              <a:rPr sz="2400" b="1" spc="-40" dirty="0">
                <a:latin typeface="微软雅黑"/>
                <a:cs typeface="微软雅黑"/>
              </a:rPr>
              <a:t>Web</a:t>
            </a:r>
            <a:r>
              <a:rPr sz="2400" spc="-5" dirty="0">
                <a:latin typeface="微软雅黑"/>
                <a:cs typeface="微软雅黑"/>
              </a:rPr>
              <a:t>应用进行报表</a:t>
            </a:r>
            <a:r>
              <a:rPr lang="zh-CN" altLang="en-US" sz="2400" spc="-5" dirty="0">
                <a:latin typeface="微软雅黑"/>
                <a:cs typeface="微软雅黑"/>
              </a:rPr>
              <a:t>呈现和</a:t>
            </a:r>
            <a:r>
              <a:rPr lang="en-US" altLang="zh-CN" sz="2400" b="1" spc="-5" dirty="0">
                <a:latin typeface="微软雅黑"/>
                <a:cs typeface="微软雅黑"/>
              </a:rPr>
              <a:t>3D</a:t>
            </a:r>
            <a:r>
              <a:rPr lang="zh-CN" altLang="en-US" sz="2400" spc="-5" dirty="0">
                <a:latin typeface="微软雅黑"/>
                <a:cs typeface="微软雅黑"/>
              </a:rPr>
              <a:t>大棚仿真</a:t>
            </a:r>
            <a:r>
              <a:rPr sz="2400" spc="-5" dirty="0">
                <a:latin typeface="微软雅黑"/>
                <a:cs typeface="微软雅黑"/>
              </a:rPr>
              <a:t>，提供用户操作数据的接口，包括阈值设定、动态报表呈现、数据导出</a:t>
            </a:r>
            <a:r>
              <a:rPr lang="zh-CN" altLang="en-US" sz="2400" spc="-5" dirty="0">
                <a:latin typeface="微软雅黑"/>
                <a:cs typeface="微软雅黑"/>
              </a:rPr>
              <a:t>、大棚设备控制</a:t>
            </a:r>
            <a:r>
              <a:rPr sz="2400" spc="-5" dirty="0">
                <a:latin typeface="微软雅黑"/>
                <a:cs typeface="微软雅黑"/>
              </a:rPr>
              <a:t>等。前端代码向后端请求数据，后端程序根据需求提供接口。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165353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设计思路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图片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89" y="1412847"/>
            <a:ext cx="10835422" cy="48150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解决方案——信息获取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834596" y="2314892"/>
            <a:ext cx="5846445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100"/>
              </a:spcBef>
            </a:pPr>
            <a:r>
              <a:rPr spc="420" dirty="0"/>
              <a:t>采用</a:t>
            </a:r>
            <a:r>
              <a:rPr b="1" spc="-10" dirty="0">
                <a:latin typeface="微软雅黑"/>
                <a:cs typeface="微软雅黑"/>
              </a:rPr>
              <a:t>DHT22</a:t>
            </a:r>
            <a:r>
              <a:rPr b="1" spc="220" dirty="0">
                <a:latin typeface="微软雅黑"/>
                <a:cs typeface="微软雅黑"/>
              </a:rPr>
              <a:t> 温湿度传感器模块 </a:t>
            </a:r>
            <a:r>
              <a:rPr spc="-100" dirty="0"/>
              <a:t>，</a:t>
            </a:r>
            <a:r>
              <a:rPr spc="55" dirty="0"/>
              <a:t>编写右图所示代码</a:t>
            </a:r>
            <a:r>
              <a:rPr lang="zh-CN" altLang="en-US" spc="55" dirty="0"/>
              <a:t>，将时延和心跳设为一分钟</a:t>
            </a:r>
            <a:r>
              <a:rPr spc="55" dirty="0"/>
              <a:t>。主</a:t>
            </a:r>
            <a:r>
              <a:rPr spc="10" dirty="0"/>
              <a:t>要功能是获取当前温湿度并将当前设备信息</a:t>
            </a:r>
            <a:r>
              <a:rPr dirty="0"/>
              <a:t>和时间信息打包成</a:t>
            </a:r>
            <a:r>
              <a:rPr b="1" spc="-5" dirty="0"/>
              <a:t>json</a:t>
            </a:r>
            <a:r>
              <a:rPr dirty="0"/>
              <a:t>格式。</a:t>
            </a: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848" y="878051"/>
            <a:ext cx="3498406" cy="57396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解决方案——信息汇总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1185" y="5472049"/>
            <a:ext cx="1065085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7995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上述代码是用于使用WiFi模块联网并</a:t>
            </a:r>
            <a:r>
              <a:rPr sz="2400" dirty="0">
                <a:latin typeface="微软雅黑" charset="0"/>
                <a:cs typeface="微软雅黑" charset="0"/>
              </a:rPr>
              <a:t>订阅相关topic</a:t>
            </a:r>
            <a:r>
              <a:rPr sz="2400" spc="-10" dirty="0">
                <a:latin typeface="微软雅黑"/>
                <a:cs typeface="微软雅黑"/>
              </a:rPr>
              <a:t>的相关代码。</a:t>
            </a:r>
            <a:endParaRPr sz="2400">
              <a:latin typeface="微软雅黑"/>
              <a:cs typeface="微软雅黑"/>
            </a:endParaRPr>
          </a:p>
        </p:txBody>
      </p:sp>
      <p:pic>
        <p:nvPicPr>
          <p:cNvPr id="16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61" y="1205861"/>
            <a:ext cx="5272405" cy="3750310"/>
          </a:xfrm>
          <a:prstGeom prst="rect">
            <a:avLst/>
          </a:prstGeom>
        </p:spPr>
      </p:pic>
      <p:pic>
        <p:nvPicPr>
          <p:cNvPr id="15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379" y="1892584"/>
            <a:ext cx="5271135" cy="2496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解决方案——数据存储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175834" y="1391232"/>
            <a:ext cx="6637020" cy="3835400"/>
            <a:chOff x="5227320" y="1144097"/>
            <a:chExt cx="6637020" cy="38354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7320" y="1144097"/>
              <a:ext cx="5311139" cy="33440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03079" y="2880359"/>
              <a:ext cx="2461260" cy="20985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87461" y="5443723"/>
            <a:ext cx="1065212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7360">
              <a:lnSpc>
                <a:spcPct val="150000"/>
              </a:lnSpc>
              <a:spcBef>
                <a:spcPts val="95"/>
              </a:spcBef>
            </a:pPr>
            <a:r>
              <a:rPr sz="2400" spc="5" dirty="0">
                <a:latin typeface="微软雅黑"/>
                <a:cs typeface="微软雅黑"/>
              </a:rPr>
              <a:t>上述代码是用于后端连接</a:t>
            </a:r>
            <a:r>
              <a:rPr sz="2400" spc="-25" dirty="0">
                <a:latin typeface="微软雅黑"/>
                <a:cs typeface="微软雅黑"/>
              </a:rPr>
              <a:t>MQTT</a:t>
            </a:r>
            <a:r>
              <a:rPr sz="2400" spc="-5" dirty="0">
                <a:latin typeface="微软雅黑"/>
                <a:cs typeface="微软雅黑"/>
              </a:rPr>
              <a:t>服务器并订阅主题接收数据，将接收到的数</a:t>
            </a:r>
            <a:r>
              <a:rPr sz="2400" spc="-15" dirty="0">
                <a:latin typeface="微软雅黑"/>
                <a:cs typeface="微软雅黑"/>
              </a:rPr>
              <a:t>据转换成记录插入数据库并当前端界面请求时传送给前端。</a:t>
            </a:r>
            <a:endParaRPr sz="2400" dirty="0">
              <a:latin typeface="微软雅黑"/>
              <a:cs typeface="微软雅黑"/>
            </a:endParaRPr>
          </a:p>
        </p:txBody>
      </p:sp>
      <p:pic>
        <p:nvPicPr>
          <p:cNvPr id="12" name="图片 11" descr="upload_post_object_v2_24055176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16" y="1153297"/>
            <a:ext cx="4917560" cy="3960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15925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解决方案——</a:t>
            </a:r>
            <a:r>
              <a:rPr lang="zh-CN" altLang="en-US" spc="-25" dirty="0"/>
              <a:t>模型训练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11590" y="5544130"/>
            <a:ext cx="1065085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7995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上述代码是</a:t>
            </a:r>
            <a:r>
              <a:rPr sz="2400" dirty="0">
                <a:latin typeface="微软雅黑" charset="0"/>
                <a:cs typeface="微软雅黑" charset="0"/>
              </a:rPr>
              <a:t>用于使用lSTM模型对历史温湿度数据进行</a:t>
            </a:r>
            <a:r>
              <a:rPr lang="zh-CN" altLang="en-US" sz="2400" dirty="0">
                <a:latin typeface="微软雅黑" charset="0"/>
                <a:cs typeface="微软雅黑" charset="0"/>
              </a:rPr>
              <a:t>训练和预测</a:t>
            </a:r>
            <a:r>
              <a:rPr sz="2400" spc="-1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pic>
        <p:nvPicPr>
          <p:cNvPr id="28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95" y="1093998"/>
            <a:ext cx="6481798" cy="2646285"/>
          </a:xfrm>
          <a:prstGeom prst="rect">
            <a:avLst/>
          </a:prstGeom>
        </p:spPr>
      </p:pic>
      <p:pic>
        <p:nvPicPr>
          <p:cNvPr id="29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9" y="4141877"/>
            <a:ext cx="6481840" cy="961227"/>
          </a:xfrm>
          <a:prstGeom prst="rect">
            <a:avLst/>
          </a:prstGeom>
        </p:spPr>
      </p:pic>
      <p:pic>
        <p:nvPicPr>
          <p:cNvPr id="31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919" y="1476890"/>
            <a:ext cx="527113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15925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解决方案——</a:t>
            </a:r>
            <a:r>
              <a:rPr lang="zh-CN" altLang="en-US" spc="-25" dirty="0"/>
              <a:t>模型训练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23140" y="5612071"/>
            <a:ext cx="3545720" cy="5664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indent="467995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模型</a:t>
            </a:r>
            <a:r>
              <a:rPr sz="2400" dirty="0">
                <a:latin typeface="微软雅黑"/>
                <a:cs typeface="Arial" panose="020B0604020202020204" pitchFamily="34" charset="0"/>
              </a:rPr>
              <a:t>训练</a:t>
            </a:r>
            <a:r>
              <a:rPr lang="zh-CN" altLang="en-US" sz="2400" dirty="0">
                <a:latin typeface="微软雅黑"/>
                <a:cs typeface="Arial" panose="020B0604020202020204" pitchFamily="34" charset="0"/>
              </a:rPr>
              <a:t>精准度</a:t>
            </a:r>
            <a:endParaRPr>
              <a:latin typeface="微软雅黑"/>
              <a:cs typeface="Arial" panose="020B0604020202020204" pitchFamily="34" charset="0"/>
            </a:endParaRPr>
          </a:p>
        </p:txBody>
      </p:sp>
      <p:pic>
        <p:nvPicPr>
          <p:cNvPr id="46" name="图片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352" y="857963"/>
            <a:ext cx="6833784" cy="45893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8512" y="5403820"/>
            <a:ext cx="1065212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67360">
              <a:lnSpc>
                <a:spcPct val="150000"/>
              </a:lnSpc>
              <a:spcBef>
                <a:spcPts val="95"/>
              </a:spcBef>
            </a:pPr>
            <a:r>
              <a:rPr sz="2400" spc="5" dirty="0">
                <a:latin typeface="微软雅黑"/>
                <a:cs typeface="微软雅黑"/>
              </a:rPr>
              <a:t>上述代码是</a:t>
            </a:r>
            <a:r>
              <a:rPr lang="zh-CN" altLang="en-US" sz="2400" spc="5" dirty="0">
                <a:latin typeface="微软雅黑"/>
                <a:cs typeface="微软雅黑"/>
              </a:rPr>
              <a:t>前端的主要页面代码和</a:t>
            </a:r>
            <a:r>
              <a:rPr lang="en-US" altLang="zh-CN" sz="2400" spc="5" dirty="0">
                <a:latin typeface="微软雅黑"/>
                <a:cs typeface="微软雅黑"/>
              </a:rPr>
              <a:t>three.js</a:t>
            </a:r>
            <a:r>
              <a:rPr lang="zh-CN" altLang="en-US" sz="2400" spc="5" dirty="0">
                <a:latin typeface="微软雅黑"/>
                <a:cs typeface="微软雅黑"/>
              </a:rPr>
              <a:t>建立相关</a:t>
            </a:r>
            <a:r>
              <a:rPr lang="en-US" altLang="zh-CN" sz="2400" spc="5" dirty="0">
                <a:latin typeface="微软雅黑"/>
                <a:cs typeface="微软雅黑"/>
              </a:rPr>
              <a:t>3</a:t>
            </a:r>
            <a:r>
              <a:rPr lang="zh-CN" altLang="en-US" sz="2400" spc="5" dirty="0">
                <a:latin typeface="微软雅黑"/>
                <a:cs typeface="微软雅黑"/>
              </a:rPr>
              <a:t>维建模的部分代码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5" name="object 2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15925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解决方案——</a:t>
            </a:r>
            <a:r>
              <a:rPr lang="zh-CN" altLang="en-US" spc="-25" dirty="0"/>
              <a:t>前端代码</a:t>
            </a:r>
            <a:endParaRPr spc="-25" dirty="0"/>
          </a:p>
        </p:txBody>
      </p:sp>
      <p:pic>
        <p:nvPicPr>
          <p:cNvPr id="2" name="图片 1" descr="upload_post_object_v2_28373085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014" y="1024458"/>
            <a:ext cx="7312933" cy="1575620"/>
          </a:xfrm>
          <a:prstGeom prst="rect">
            <a:avLst/>
          </a:prstGeom>
        </p:spPr>
      </p:pic>
      <p:pic>
        <p:nvPicPr>
          <p:cNvPr id="12" name="图片 11" descr="upload_post_object_v2_808446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9853" y="2924149"/>
            <a:ext cx="6246432" cy="21565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08" y="687323"/>
            <a:ext cx="11671300" cy="76200"/>
          </a:xfrm>
          <a:custGeom>
            <a:avLst/>
            <a:gdLst/>
            <a:ahLst/>
            <a:cxnLst/>
            <a:rect l="l" t="t" r="r" b="b"/>
            <a:pathLst>
              <a:path w="11671300" h="76200">
                <a:moveTo>
                  <a:pt x="11670792" y="0"/>
                </a:moveTo>
                <a:lnTo>
                  <a:pt x="16497" y="0"/>
                </a:lnTo>
                <a:lnTo>
                  <a:pt x="0" y="76200"/>
                </a:lnTo>
                <a:lnTo>
                  <a:pt x="11670792" y="76200"/>
                </a:lnTo>
                <a:lnTo>
                  <a:pt x="11670792" y="0"/>
                </a:lnTo>
                <a:close/>
              </a:path>
            </a:pathLst>
          </a:custGeom>
          <a:solidFill>
            <a:srgbClr val="035C9C">
              <a:alpha val="9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1000"/>
            <a:ext cx="396240" cy="382905"/>
          </a:xfrm>
          <a:custGeom>
            <a:avLst/>
            <a:gdLst/>
            <a:ahLst/>
            <a:cxnLst/>
            <a:rect l="l" t="t" r="r" b="b"/>
            <a:pathLst>
              <a:path w="396240" h="382905">
                <a:moveTo>
                  <a:pt x="187744" y="0"/>
                </a:moveTo>
                <a:lnTo>
                  <a:pt x="0" y="117"/>
                </a:lnTo>
                <a:lnTo>
                  <a:pt x="0" y="382524"/>
                </a:lnTo>
                <a:lnTo>
                  <a:pt x="396240" y="382524"/>
                </a:lnTo>
                <a:lnTo>
                  <a:pt x="187744" y="0"/>
                </a:lnTo>
                <a:close/>
              </a:path>
            </a:pathLst>
          </a:custGeom>
          <a:solidFill>
            <a:srgbClr val="035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9726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解决方案——数据呈现分析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文本框 8"/>
          <p:cNvSpPr txBox="1"/>
          <p:nvPr userDrawn="1"/>
        </p:nvSpPr>
        <p:spPr>
          <a:xfrm>
            <a:off x="4354474" y="5910782"/>
            <a:ext cx="3866015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pPr algn="ctr"/>
            <a:r>
              <a:rPr lang="zh-CN" altLang="en-US" sz="2400">
                <a:cs typeface="Arial" panose="020B0604020202020204" pitchFamily="34" charset="0"/>
              </a:rPr>
              <a:t>系统首页</a:t>
            </a:r>
            <a:endParaRPr lang="zh-CN" altLang="en-US" sz="2400"/>
          </a:p>
        </p:txBody>
      </p:sp>
      <p:pic>
        <p:nvPicPr>
          <p:cNvPr id="47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368" y="955028"/>
            <a:ext cx="9071216" cy="4764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08" y="687323"/>
            <a:ext cx="11671300" cy="76200"/>
          </a:xfrm>
          <a:custGeom>
            <a:avLst/>
            <a:gdLst/>
            <a:ahLst/>
            <a:cxnLst/>
            <a:rect l="l" t="t" r="r" b="b"/>
            <a:pathLst>
              <a:path w="11671300" h="76200">
                <a:moveTo>
                  <a:pt x="11670792" y="0"/>
                </a:moveTo>
                <a:lnTo>
                  <a:pt x="16497" y="0"/>
                </a:lnTo>
                <a:lnTo>
                  <a:pt x="0" y="76200"/>
                </a:lnTo>
                <a:lnTo>
                  <a:pt x="11670792" y="76200"/>
                </a:lnTo>
                <a:lnTo>
                  <a:pt x="11670792" y="0"/>
                </a:lnTo>
                <a:close/>
              </a:path>
            </a:pathLst>
          </a:custGeom>
          <a:solidFill>
            <a:srgbClr val="035C9C">
              <a:alpha val="9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1000"/>
            <a:ext cx="396240" cy="382905"/>
          </a:xfrm>
          <a:custGeom>
            <a:avLst/>
            <a:gdLst/>
            <a:ahLst/>
            <a:cxnLst/>
            <a:rect l="l" t="t" r="r" b="b"/>
            <a:pathLst>
              <a:path w="396240" h="382905">
                <a:moveTo>
                  <a:pt x="187744" y="0"/>
                </a:moveTo>
                <a:lnTo>
                  <a:pt x="0" y="117"/>
                </a:lnTo>
                <a:lnTo>
                  <a:pt x="0" y="382524"/>
                </a:lnTo>
                <a:lnTo>
                  <a:pt x="396240" y="382524"/>
                </a:lnTo>
                <a:lnTo>
                  <a:pt x="187744" y="0"/>
                </a:lnTo>
                <a:close/>
              </a:path>
            </a:pathLst>
          </a:custGeom>
          <a:solidFill>
            <a:srgbClr val="035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97268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25" dirty="0"/>
              <a:t>解决方案</a:t>
            </a:r>
            <a:r>
              <a:rPr lang="en-US" altLang="zh-CN" spc="-25" dirty="0"/>
              <a:t>——</a:t>
            </a:r>
            <a:r>
              <a:rPr lang="zh-CN" altLang="en-US" spc="-25" dirty="0"/>
              <a:t>前端页面展示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文本框 8"/>
          <p:cNvSpPr txBox="1"/>
          <p:nvPr userDrawn="1"/>
        </p:nvSpPr>
        <p:spPr>
          <a:xfrm>
            <a:off x="4064822" y="5857485"/>
            <a:ext cx="3866015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pPr algn="ctr"/>
            <a:r>
              <a:rPr lang="zh-CN" altLang="en-US" sz="2400">
                <a:cs typeface="Arial" panose="020B0604020202020204" pitchFamily="34" charset="0"/>
              </a:rPr>
              <a:t>实时监控和修改密码页面</a:t>
            </a:r>
            <a:endParaRPr lang="zh-CN" altLang="en-US" sz="2400"/>
          </a:p>
        </p:txBody>
      </p:sp>
      <p:pic>
        <p:nvPicPr>
          <p:cNvPr id="10" name="图片 9" descr="upload_post_object_v2_41491457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89" y="1482122"/>
            <a:ext cx="7557519" cy="3893804"/>
          </a:xfrm>
          <a:prstGeom prst="rect">
            <a:avLst/>
          </a:prstGeom>
        </p:spPr>
      </p:pic>
      <p:pic>
        <p:nvPicPr>
          <p:cNvPr id="11" name="图片 10" descr="upload_post_object_v2_40059269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579" y="1557152"/>
            <a:ext cx="2835087" cy="35196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08" y="687323"/>
            <a:ext cx="11671300" cy="76200"/>
          </a:xfrm>
          <a:custGeom>
            <a:avLst/>
            <a:gdLst/>
            <a:ahLst/>
            <a:cxnLst/>
            <a:rect l="l" t="t" r="r" b="b"/>
            <a:pathLst>
              <a:path w="11671300" h="76200">
                <a:moveTo>
                  <a:pt x="11670792" y="0"/>
                </a:moveTo>
                <a:lnTo>
                  <a:pt x="16497" y="0"/>
                </a:lnTo>
                <a:lnTo>
                  <a:pt x="0" y="76200"/>
                </a:lnTo>
                <a:lnTo>
                  <a:pt x="11670792" y="76200"/>
                </a:lnTo>
                <a:lnTo>
                  <a:pt x="11670792" y="0"/>
                </a:lnTo>
                <a:close/>
              </a:path>
            </a:pathLst>
          </a:custGeom>
          <a:solidFill>
            <a:srgbClr val="035C9C">
              <a:alpha val="9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1000"/>
            <a:ext cx="396240" cy="382905"/>
          </a:xfrm>
          <a:custGeom>
            <a:avLst/>
            <a:gdLst/>
            <a:ahLst/>
            <a:cxnLst/>
            <a:rect l="l" t="t" r="r" b="b"/>
            <a:pathLst>
              <a:path w="396240" h="382905">
                <a:moveTo>
                  <a:pt x="187744" y="0"/>
                </a:moveTo>
                <a:lnTo>
                  <a:pt x="0" y="117"/>
                </a:lnTo>
                <a:lnTo>
                  <a:pt x="0" y="382524"/>
                </a:lnTo>
                <a:lnTo>
                  <a:pt x="396240" y="382524"/>
                </a:lnTo>
                <a:lnTo>
                  <a:pt x="187744" y="0"/>
                </a:lnTo>
                <a:close/>
              </a:path>
            </a:pathLst>
          </a:custGeom>
          <a:solidFill>
            <a:srgbClr val="035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97268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25" dirty="0"/>
              <a:t>解决方案</a:t>
            </a:r>
            <a:r>
              <a:rPr lang="en-US" altLang="zh-CN" spc="-25" dirty="0"/>
              <a:t>——</a:t>
            </a:r>
            <a:r>
              <a:rPr lang="zh-CN" altLang="en-US" spc="-25" dirty="0"/>
              <a:t>前端页面展示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文本框 8"/>
          <p:cNvSpPr txBox="1"/>
          <p:nvPr userDrawn="1"/>
        </p:nvSpPr>
        <p:spPr>
          <a:xfrm>
            <a:off x="4364040" y="6098403"/>
            <a:ext cx="3866015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pPr algn="ctr"/>
            <a:r>
              <a:rPr lang="zh-CN" altLang="en-US" sz="2400">
                <a:cs typeface="Arial" panose="020B0604020202020204" pitchFamily="34" charset="0"/>
              </a:rPr>
              <a:t>数据分析预测页面</a:t>
            </a:r>
            <a:endParaRPr lang="zh-CN" altLang="en-US" sz="2400"/>
          </a:p>
        </p:txBody>
      </p:sp>
      <p:pic>
        <p:nvPicPr>
          <p:cNvPr id="48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846" y="1022964"/>
            <a:ext cx="9162363" cy="48121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08" y="687323"/>
            <a:ext cx="11671300" cy="76200"/>
          </a:xfrm>
          <a:custGeom>
            <a:avLst/>
            <a:gdLst/>
            <a:ahLst/>
            <a:cxnLst/>
            <a:rect l="l" t="t" r="r" b="b"/>
            <a:pathLst>
              <a:path w="11671300" h="76200">
                <a:moveTo>
                  <a:pt x="11670792" y="0"/>
                </a:moveTo>
                <a:lnTo>
                  <a:pt x="16497" y="0"/>
                </a:lnTo>
                <a:lnTo>
                  <a:pt x="0" y="76200"/>
                </a:lnTo>
                <a:lnTo>
                  <a:pt x="11670792" y="76200"/>
                </a:lnTo>
                <a:lnTo>
                  <a:pt x="11670792" y="0"/>
                </a:lnTo>
                <a:close/>
              </a:path>
            </a:pathLst>
          </a:custGeom>
          <a:solidFill>
            <a:srgbClr val="035C9C">
              <a:alpha val="9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1000"/>
            <a:ext cx="396240" cy="382905"/>
          </a:xfrm>
          <a:custGeom>
            <a:avLst/>
            <a:gdLst/>
            <a:ahLst/>
            <a:cxnLst/>
            <a:rect l="l" t="t" r="r" b="b"/>
            <a:pathLst>
              <a:path w="396240" h="382905">
                <a:moveTo>
                  <a:pt x="187744" y="0"/>
                </a:moveTo>
                <a:lnTo>
                  <a:pt x="0" y="117"/>
                </a:lnTo>
                <a:lnTo>
                  <a:pt x="0" y="382524"/>
                </a:lnTo>
                <a:lnTo>
                  <a:pt x="396240" y="382524"/>
                </a:lnTo>
                <a:lnTo>
                  <a:pt x="187744" y="0"/>
                </a:lnTo>
                <a:close/>
              </a:path>
            </a:pathLst>
          </a:custGeom>
          <a:solidFill>
            <a:srgbClr val="035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97268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25" dirty="0"/>
              <a:t>解决方案</a:t>
            </a:r>
            <a:r>
              <a:rPr lang="en-US" altLang="zh-CN" spc="-25" dirty="0"/>
              <a:t>——</a:t>
            </a:r>
            <a:r>
              <a:rPr lang="zh-CN" altLang="en-US" spc="-25" dirty="0"/>
              <a:t>前端页面展示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4" name="图片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83" y="883199"/>
            <a:ext cx="5524598" cy="2901546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1447952" y="5144622"/>
            <a:ext cx="3866015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r>
              <a:rPr lang="en-US" altLang="zh-CN" sz="2400"/>
              <a:t>3</a:t>
            </a:r>
            <a:r>
              <a:rPr lang="en-US" altLang="zh-CN" sz="2400">
                <a:cs typeface="Arial" panose="020B0604020202020204" pitchFamily="34" charset="0"/>
              </a:rPr>
              <a:t>D</a:t>
            </a:r>
            <a:r>
              <a:rPr lang="zh-CN" altLang="en-US" sz="2400">
                <a:cs typeface="Arial" panose="020B0604020202020204" pitchFamily="34" charset="0"/>
              </a:rPr>
              <a:t>大棚仿真页面</a:t>
            </a:r>
            <a:endParaRPr lang="zh-CN" altLang="en-US" sz="2400"/>
          </a:p>
        </p:txBody>
      </p:sp>
      <p:pic>
        <p:nvPicPr>
          <p:cNvPr id="11" name="图片 10" descr="upload_post_object_v2_4339549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26" y="883214"/>
            <a:ext cx="5564193" cy="2901546"/>
          </a:xfrm>
          <a:prstGeom prst="rect">
            <a:avLst/>
          </a:prstGeom>
        </p:spPr>
      </p:pic>
      <p:pic>
        <p:nvPicPr>
          <p:cNvPr id="12" name="图片 11" descr="upload_post_object_v2_18942002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729" y="3905535"/>
            <a:ext cx="5524692" cy="2846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08" y="687323"/>
            <a:ext cx="11671300" cy="76200"/>
          </a:xfrm>
          <a:custGeom>
            <a:avLst/>
            <a:gdLst/>
            <a:ahLst/>
            <a:cxnLst/>
            <a:rect l="l" t="t" r="r" b="b"/>
            <a:pathLst>
              <a:path w="11671300" h="76200">
                <a:moveTo>
                  <a:pt x="11670792" y="0"/>
                </a:moveTo>
                <a:lnTo>
                  <a:pt x="16497" y="0"/>
                </a:lnTo>
                <a:lnTo>
                  <a:pt x="0" y="76200"/>
                </a:lnTo>
                <a:lnTo>
                  <a:pt x="11670792" y="76200"/>
                </a:lnTo>
                <a:lnTo>
                  <a:pt x="11670792" y="0"/>
                </a:lnTo>
                <a:close/>
              </a:path>
            </a:pathLst>
          </a:custGeom>
          <a:solidFill>
            <a:srgbClr val="035C9C">
              <a:alpha val="9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1000"/>
            <a:ext cx="396240" cy="382905"/>
          </a:xfrm>
          <a:custGeom>
            <a:avLst/>
            <a:gdLst/>
            <a:ahLst/>
            <a:cxnLst/>
            <a:rect l="l" t="t" r="r" b="b"/>
            <a:pathLst>
              <a:path w="396240" h="382905">
                <a:moveTo>
                  <a:pt x="187744" y="0"/>
                </a:moveTo>
                <a:lnTo>
                  <a:pt x="0" y="117"/>
                </a:lnTo>
                <a:lnTo>
                  <a:pt x="0" y="382524"/>
                </a:lnTo>
                <a:lnTo>
                  <a:pt x="396240" y="382524"/>
                </a:lnTo>
                <a:lnTo>
                  <a:pt x="187744" y="0"/>
                </a:lnTo>
                <a:close/>
              </a:path>
            </a:pathLst>
          </a:custGeom>
          <a:solidFill>
            <a:srgbClr val="035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451" y="187578"/>
            <a:ext cx="4972685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25" dirty="0"/>
              <a:t>解决方案</a:t>
            </a:r>
            <a:r>
              <a:rPr lang="en-US" altLang="zh-CN" spc="-25" dirty="0"/>
              <a:t>——</a:t>
            </a:r>
            <a:r>
              <a:rPr lang="zh-CN" altLang="en-US" spc="-25" dirty="0"/>
              <a:t>前端页面展示</a:t>
            </a:r>
            <a:endParaRPr spc="-25" dirty="0"/>
          </a:p>
        </p:txBody>
      </p:sp>
      <p:grpSp>
        <p:nvGrpSpPr>
          <p:cNvPr id="5" name="object 5"/>
          <p:cNvGrpSpPr/>
          <p:nvPr/>
        </p:nvGrpSpPr>
        <p:grpSpPr>
          <a:xfrm>
            <a:off x="9133658" y="155447"/>
            <a:ext cx="2962910" cy="518159"/>
            <a:chOff x="9133658" y="155447"/>
            <a:chExt cx="2962910" cy="51815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2824" y="155447"/>
              <a:ext cx="1693159" cy="5181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3658" y="180678"/>
              <a:ext cx="1208722" cy="4605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76154" y="169925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文本框 8"/>
          <p:cNvSpPr txBox="1"/>
          <p:nvPr userDrawn="1"/>
        </p:nvSpPr>
        <p:spPr>
          <a:xfrm>
            <a:off x="2446108" y="6025270"/>
            <a:ext cx="3866015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pPr algn="ctr"/>
            <a:r>
              <a:rPr lang="zh-CN" altLang="en-US" sz="2400">
                <a:cs typeface="Arial" panose="020B0604020202020204" pitchFamily="34" charset="0"/>
              </a:rPr>
              <a:t>历史数据页面</a:t>
            </a:r>
            <a:endParaRPr lang="zh-CN" altLang="en-US" sz="2400"/>
          </a:p>
        </p:txBody>
      </p:sp>
      <p:pic>
        <p:nvPicPr>
          <p:cNvPr id="10" name="图片 9" descr="upload_post_object_v2_27382578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76" y="1390670"/>
            <a:ext cx="7823369" cy="4076709"/>
          </a:xfrm>
          <a:prstGeom prst="rect">
            <a:avLst/>
          </a:prstGeom>
        </p:spPr>
      </p:pic>
      <p:pic>
        <p:nvPicPr>
          <p:cNvPr id="12" name="图片 11" descr="upload_post_object_v2_15452358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862" y="1272639"/>
            <a:ext cx="2875182" cy="4312773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9325088" y="6025270"/>
            <a:ext cx="2327421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r>
              <a:rPr lang="zh-CN" altLang="en-US" sz="2400"/>
              <a:t>导出的</a:t>
            </a:r>
            <a:r>
              <a:rPr lang="zh-CN" altLang="en-US" sz="2400">
                <a:cs typeface="Arial" panose="020B0604020202020204" pitchFamily="34" charset="0"/>
              </a:rPr>
              <a:t>数据</a:t>
            </a:r>
            <a:endParaRPr lang="zh-CN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53539"/>
            <a:ext cx="12192000" cy="3051175"/>
            <a:chOff x="0" y="1653539"/>
            <a:chExt cx="12192000" cy="3051175"/>
          </a:xfrm>
        </p:grpSpPr>
        <p:sp>
          <p:nvSpPr>
            <p:cNvPr id="3" name="object 3"/>
            <p:cNvSpPr/>
            <p:nvPr/>
          </p:nvSpPr>
          <p:spPr>
            <a:xfrm>
              <a:off x="0" y="1653539"/>
              <a:ext cx="12192000" cy="3051175"/>
            </a:xfrm>
            <a:custGeom>
              <a:avLst/>
              <a:gdLst/>
              <a:ahLst/>
              <a:cxnLst/>
              <a:rect l="l" t="t" r="r" b="b"/>
              <a:pathLst>
                <a:path w="12192000" h="3051175">
                  <a:moveTo>
                    <a:pt x="12192000" y="0"/>
                  </a:moveTo>
                  <a:lnTo>
                    <a:pt x="0" y="0"/>
                  </a:lnTo>
                  <a:lnTo>
                    <a:pt x="0" y="3051048"/>
                  </a:lnTo>
                  <a:lnTo>
                    <a:pt x="12192000" y="305104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72462" y="3629405"/>
              <a:ext cx="7811770" cy="76200"/>
            </a:xfrm>
            <a:custGeom>
              <a:avLst/>
              <a:gdLst/>
              <a:ahLst/>
              <a:cxnLst/>
              <a:rect l="l" t="t" r="r" b="b"/>
              <a:pathLst>
                <a:path w="7811770" h="76200">
                  <a:moveTo>
                    <a:pt x="2340991" y="38100"/>
                  </a:moveTo>
                  <a:lnTo>
                    <a:pt x="2317673" y="2997"/>
                  </a:lnTo>
                  <a:lnTo>
                    <a:pt x="2302891" y="0"/>
                  </a:lnTo>
                  <a:lnTo>
                    <a:pt x="2288032" y="2997"/>
                  </a:lnTo>
                  <a:lnTo>
                    <a:pt x="2275929" y="11150"/>
                  </a:lnTo>
                  <a:lnTo>
                    <a:pt x="2267775" y="23253"/>
                  </a:lnTo>
                  <a:lnTo>
                    <a:pt x="2266785" y="28194"/>
                  </a:lnTo>
                  <a:lnTo>
                    <a:pt x="0" y="28194"/>
                  </a:lnTo>
                  <a:lnTo>
                    <a:pt x="0" y="48006"/>
                  </a:lnTo>
                  <a:lnTo>
                    <a:pt x="2266772" y="48006"/>
                  </a:lnTo>
                  <a:lnTo>
                    <a:pt x="2267775" y="52959"/>
                  </a:lnTo>
                  <a:lnTo>
                    <a:pt x="2275929" y="65062"/>
                  </a:lnTo>
                  <a:lnTo>
                    <a:pt x="2288032" y="73215"/>
                  </a:lnTo>
                  <a:lnTo>
                    <a:pt x="2302891" y="76200"/>
                  </a:lnTo>
                  <a:lnTo>
                    <a:pt x="2317673" y="73215"/>
                  </a:lnTo>
                  <a:lnTo>
                    <a:pt x="2329789" y="65062"/>
                  </a:lnTo>
                  <a:lnTo>
                    <a:pt x="2337981" y="52959"/>
                  </a:lnTo>
                  <a:lnTo>
                    <a:pt x="2338984" y="48006"/>
                  </a:lnTo>
                  <a:lnTo>
                    <a:pt x="2340991" y="38100"/>
                  </a:lnTo>
                  <a:close/>
                </a:path>
                <a:path w="7811770" h="76200">
                  <a:moveTo>
                    <a:pt x="7811643" y="28194"/>
                  </a:moveTo>
                  <a:lnTo>
                    <a:pt x="5510301" y="28194"/>
                  </a:lnTo>
                  <a:lnTo>
                    <a:pt x="5509311" y="23253"/>
                  </a:lnTo>
                  <a:lnTo>
                    <a:pt x="5501157" y="11150"/>
                  </a:lnTo>
                  <a:lnTo>
                    <a:pt x="5489054" y="2997"/>
                  </a:lnTo>
                  <a:lnTo>
                    <a:pt x="5474208" y="0"/>
                  </a:lnTo>
                  <a:lnTo>
                    <a:pt x="5459349" y="2997"/>
                  </a:lnTo>
                  <a:lnTo>
                    <a:pt x="5447246" y="11150"/>
                  </a:lnTo>
                  <a:lnTo>
                    <a:pt x="5439092" y="23253"/>
                  </a:lnTo>
                  <a:lnTo>
                    <a:pt x="5436108" y="38100"/>
                  </a:lnTo>
                  <a:lnTo>
                    <a:pt x="5439092" y="52959"/>
                  </a:lnTo>
                  <a:lnTo>
                    <a:pt x="5447246" y="65062"/>
                  </a:lnTo>
                  <a:lnTo>
                    <a:pt x="5459349" y="73215"/>
                  </a:lnTo>
                  <a:lnTo>
                    <a:pt x="5474208" y="76200"/>
                  </a:lnTo>
                  <a:lnTo>
                    <a:pt x="5489054" y="73215"/>
                  </a:lnTo>
                  <a:lnTo>
                    <a:pt x="5501157" y="65062"/>
                  </a:lnTo>
                  <a:lnTo>
                    <a:pt x="5509311" y="52959"/>
                  </a:lnTo>
                  <a:lnTo>
                    <a:pt x="5510301" y="48006"/>
                  </a:lnTo>
                  <a:lnTo>
                    <a:pt x="7811643" y="48006"/>
                  </a:lnTo>
                  <a:lnTo>
                    <a:pt x="7811643" y="28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2156" y="105155"/>
            <a:ext cx="1693159" cy="5166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124514" y="118110"/>
            <a:ext cx="1261745" cy="497205"/>
            <a:chOff x="9124514" y="118110"/>
            <a:chExt cx="1261745" cy="4972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4514" y="128862"/>
              <a:ext cx="1208722" cy="4605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367009" y="118110"/>
              <a:ext cx="0" cy="497205"/>
            </a:xfrm>
            <a:custGeom>
              <a:avLst/>
              <a:gdLst/>
              <a:ahLst/>
              <a:cxnLst/>
              <a:rect l="l" t="t" r="r" b="b"/>
              <a:pathLst>
                <a:path h="497205">
                  <a:moveTo>
                    <a:pt x="0" y="0"/>
                  </a:moveTo>
                  <a:lnTo>
                    <a:pt x="0" y="496824"/>
                  </a:lnTo>
                </a:path>
              </a:pathLst>
            </a:custGeom>
            <a:ln w="38100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92582" y="1723304"/>
            <a:ext cx="9062257" cy="204406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600" b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THANK  </a:t>
            </a:r>
            <a:r>
              <a:rPr sz="6600" b="0" spc="-2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600" b="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lang="zh-CN" altLang="en-US" sz="6600" b="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，</a:t>
            </a:r>
            <a:r>
              <a:rPr lang="en-US" altLang="zh-CN" sz="6600" b="0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Mr Jiang  Everyone </a:t>
            </a:r>
            <a:endParaRPr sz="6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8989541" y="4173906"/>
            <a:ext cx="2769973" cy="36830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r>
              <a:rPr lang="zh-CN" altLang="en-US">
                <a:solidFill>
                  <a:srgbClr val="FFFFFF"/>
                </a:solidFill>
              </a:rPr>
              <a:t>汇报人：顾凯琪、徐豪城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宽屏</PresentationFormat>
  <Paragraphs>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宋体</vt:lpstr>
      <vt:lpstr>微软雅黑</vt:lpstr>
      <vt:lpstr>Arial</vt:lpstr>
      <vt:lpstr>Times New Roman</vt:lpstr>
      <vt:lpstr>Wingdings</vt:lpstr>
      <vt:lpstr>Office Theme</vt:lpstr>
      <vt:lpstr>基于NB-IOT和LSTM的智能环境监测预测系统</vt:lpstr>
      <vt:lpstr>研究背景</vt:lpstr>
      <vt:lpstr>技术栈</vt:lpstr>
      <vt:lpstr>设计思路</vt:lpstr>
      <vt:lpstr>设计思路</vt:lpstr>
      <vt:lpstr>解决方案——信息获取</vt:lpstr>
      <vt:lpstr>解决方案——信息汇总</vt:lpstr>
      <vt:lpstr>解决方案——数据存储</vt:lpstr>
      <vt:lpstr>解决方案——模型训练</vt:lpstr>
      <vt:lpstr>解决方案——模型训练</vt:lpstr>
      <vt:lpstr>解决方案——前端代码</vt:lpstr>
      <vt:lpstr>解决方案——数据呈现分析</vt:lpstr>
      <vt:lpstr>解决方案——前端页面展示</vt:lpstr>
      <vt:lpstr>解决方案——前端页面展示</vt:lpstr>
      <vt:lpstr>解决方案——前端页面展示</vt:lpstr>
      <vt:lpstr>解决方案——前端页面展示</vt:lpstr>
      <vt:lpstr>THANK   U，Mr Jiang  Everyone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基于NB-IOT和LSTM的智能环境监测预测系统</dc:title>
  <dc:creator>第一PPT</dc:creator>
  <cp:keywords>www.1ppt.com</cp:keywords>
  <cp:lastModifiedBy>gkq2414774255@163.com</cp:lastModifiedBy>
  <cp:revision>2</cp:revision>
  <dcterms:created xsi:type="dcterms:W3CDTF">2024-12-30T13:41:47Z</dcterms:created>
  <dcterms:modified xsi:type="dcterms:W3CDTF">2024-12-30T13:51:43Z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2024-01-06T08:00:00Z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2024-12-30T08:00:00Z</vt:filetime>
  </property>
  <property fmtid="{D5CDD505-2E9C-101B-9397-08002B2CF9AE}" pid="5" name="Producer">
    <vt:lpwstr>Microsoft® PowerPoint® for Office 365</vt:lpwstr>
  </property>
  <property fmtid="{D5CDD505-2E9C-101B-9397-08002B2CF9AE}" pid="6" name="ICV">
    <vt:lpwstr>686890A2EFE9E864A694726770B85492_42</vt:lpwstr>
  </property>
  <property fmtid="{D5CDD505-2E9C-101B-9397-08002B2CF9AE}" pid="7" name="KSOProductBuildVer">
    <vt:lpwstr>2052-12.9.0.19779</vt:lpwstr>
  </property>
</Properties>
</file>