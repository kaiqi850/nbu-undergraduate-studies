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1.pdf" ContentType="application/pdf"/>
  <Override PartName="/ppt/media/image13.pdf" ContentType="application/pdf"/>
  <Override PartName="/ppt/media/image15.pdf" ContentType="application/pdf"/>
  <Override PartName="/ppt/media/image17.pdf" ContentType="application/pdf"/>
  <Override PartName="/ppt/media/image19.pdf" ContentType="application/pdf"/>
  <Override PartName="/ppt/media/image21.pdf" ContentType="application/pdf"/>
  <Override PartName="/ppt/media/image23.pdf" ContentType="application/pdf"/>
  <Override PartName="/ppt/media/image25.pdf" ContentType="application/pdf"/>
  <Override PartName="/ppt/media/image36.pdf" ContentType="application/pdf"/>
  <Override PartName="/ppt/media/image4.pdf" ContentType="application/pdf"/>
  <Override PartName="/ppt/media/image42.pdf" ContentType="application/pdf"/>
  <Override PartName="/ppt/media/image44.pdf" ContentType="application/pdf"/>
  <Override PartName="/ppt/media/image6.pdf" ContentType="application/pdf"/>
  <Override PartName="/ppt/media/image8.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35" r:id="rId3"/>
    <p:sldId id="526" r:id="rId4"/>
    <p:sldId id="527" r:id="rId6"/>
    <p:sldId id="539" r:id="rId7"/>
    <p:sldId id="552" r:id="rId8"/>
    <p:sldId id="555" r:id="rId9"/>
    <p:sldId id="556" r:id="rId10"/>
    <p:sldId id="574" r:id="rId11"/>
    <p:sldId id="562" r:id="rId12"/>
    <p:sldId id="565" r:id="rId13"/>
    <p:sldId id="572" r:id="rId14"/>
    <p:sldId id="571" r:id="rId15"/>
    <p:sldId id="573" r:id="rId16"/>
    <p:sldId id="575" r:id="rId17"/>
    <p:sldId id="610" r:id="rId18"/>
    <p:sldId id="611" r:id="rId19"/>
    <p:sldId id="612" r:id="rId20"/>
    <p:sldId id="613" r:id="rId21"/>
    <p:sldId id="614" r:id="rId22"/>
    <p:sldId id="629" r:id="rId23"/>
    <p:sldId id="630" r:id="rId24"/>
    <p:sldId id="631" r:id="rId25"/>
    <p:sldId id="632" r:id="rId26"/>
    <p:sldId id="633" r:id="rId27"/>
    <p:sldId id="634" r:id="rId28"/>
    <p:sldId id="635" r:id="rId29"/>
    <p:sldId id="636" r:id="rId30"/>
    <p:sldId id="638" r:id="rId31"/>
    <p:sldId id="641" r:id="rId32"/>
    <p:sldId id="640" r:id="rId33"/>
    <p:sldId id="642" r:id="rId34"/>
    <p:sldId id="668" r:id="rId35"/>
    <p:sldId id="643" r:id="rId36"/>
    <p:sldId id="644" r:id="rId37"/>
    <p:sldId id="646" r:id="rId38"/>
    <p:sldId id="670" r:id="rId39"/>
    <p:sldId id="698" r:id="rId40"/>
    <p:sldId id="654" r:id="rId41"/>
    <p:sldId id="673" r:id="rId42"/>
    <p:sldId id="675" r:id="rId43"/>
    <p:sldId id="656" r:id="rId44"/>
    <p:sldId id="657" r:id="rId45"/>
    <p:sldId id="658" r:id="rId46"/>
    <p:sldId id="659" r:id="rId47"/>
    <p:sldId id="660" r:id="rId48"/>
    <p:sldId id="661" r:id="rId49"/>
    <p:sldId id="699" r:id="rId50"/>
    <p:sldId id="650" r:id="rId51"/>
    <p:sldId id="648" r:id="rId52"/>
    <p:sldId id="651" r:id="rId53"/>
    <p:sldId id="649" r:id="rId54"/>
    <p:sldId id="678" r:id="rId55"/>
    <p:sldId id="679" r:id="rId56"/>
    <p:sldId id="680" r:id="rId57"/>
    <p:sldId id="681" r:id="rId58"/>
    <p:sldId id="694" r:id="rId59"/>
    <p:sldId id="695" r:id="rId60"/>
    <p:sldId id="696" r:id="rId61"/>
    <p:sldId id="677" r:id="rId62"/>
    <p:sldId id="652" r:id="rId63"/>
    <p:sldId id="653" r:id="rId64"/>
    <p:sldId id="697" r:id="rId65"/>
  </p:sldIdLst>
  <p:sldSz cx="12192000" cy="6858000" type="screen4x3"/>
  <p:notesSz cx="6858000" cy="9144000"/>
  <p:custDataLst>
    <p:tags r:id="rId6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250"/>
        <p:guide pos="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9" Type="http://schemas.openxmlformats.org/officeDocument/2006/relationships/tags" Target="tags/tag2.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015A331-C409-E643-872B-F3E44706BE0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7E8D6CD8-6BFA-2347-8417-40D8035EC1DE}">
      <dgm:prSet phldrT="[Text]" phldr="0" custT="0"/>
      <dgm:spPr/>
      <dgm:t>
        <a:bodyPr vert="horz" wrap="square"/>
        <a:p>
          <a:pPr>
            <a:lnSpc>
              <a:spcPct val="100000"/>
            </a:lnSpc>
            <a:spcBef>
              <a:spcPct val="0"/>
            </a:spcBef>
            <a:spcAft>
              <a:spcPct val="35000"/>
            </a:spcAft>
          </a:pPr>
          <a:r>
            <a:rPr lang="en-US" dirty="0">
              <a:effectLst>
                <a:outerShdw blurRad="38100" dist="38100" dir="2700000" algn="tl">
                  <a:srgbClr val="000000">
                    <a:alpha val="43137"/>
                  </a:srgbClr>
                </a:outerShdw>
              </a:effectLst>
            </a:rPr>
            <a:t>MAC函数将密钥和数据块作为输入，产生Hash值作为MAC码，然后将MAC码和受保护的消息一起传递或存储</a:t>
          </a:r>
          <a:r>
            <a:rPr lang="en-US" dirty="0">
              <a:effectLst>
                <a:outerShdw blurRad="38100" dist="38100" dir="2700000" algn="tl">
                  <a:srgbClr val="000000">
                    <a:alpha val="43137"/>
                  </a:srgbClr>
                </a:outerShdw>
              </a:effectLst>
            </a:rPr>
            <a:t/>
          </a:r>
          <a:endParaRPr lang="en-US" dirty="0">
            <a:effectLst>
              <a:outerShdw blurRad="38100" dist="38100" dir="2700000" algn="tl">
                <a:srgbClr val="000000">
                  <a:alpha val="43137"/>
                </a:srgbClr>
              </a:outerShdw>
            </a:effectLst>
          </a:endParaRPr>
        </a:p>
      </dgm:t>
    </dgm:pt>
    <dgm:pt modelId="{45DB7120-E821-6B40-A252-FF085388B5BA}" cxnId="{5ED5B4AC-F10C-447F-B42C-40F7C11D77B4}" type="parTrans">
      <dgm:prSet/>
      <dgm:spPr/>
      <dgm:t>
        <a:bodyPr/>
        <a:lstStyle/>
        <a:p>
          <a:endParaRPr lang="en-US"/>
        </a:p>
      </dgm:t>
    </dgm:pt>
    <dgm:pt modelId="{ABD61B1A-22B0-894F-9F2A-FCF338AAA7AD}" cxnId="{5ED5B4AC-F10C-447F-B42C-40F7C11D77B4}" type="sibTrans">
      <dgm:prSet/>
      <dgm:spPr/>
      <dgm:t>
        <a:bodyPr/>
        <a:lstStyle/>
        <a:p>
          <a:endParaRPr lang="en-US"/>
        </a:p>
      </dgm:t>
    </dgm:pt>
    <dgm:pt modelId="{AEE03503-E94F-5346-B825-5D9196C7700C}">
      <dgm:prSet phldr="0" custT="0"/>
      <dgm:spPr>
        <a:solidFill>
          <a:schemeClr val="bg1"/>
        </a:solidFill>
      </dgm:spPr>
      <dgm:t>
        <a:bodyPr vert="horz" wrap="square"/>
        <a:p>
          <a:pPr>
            <a:lnSpc>
              <a:spcPct val="100000"/>
            </a:lnSpc>
            <a:spcBef>
              <a:spcPct val="0"/>
            </a:spcBef>
            <a:spcAft>
              <a:spcPct val="15000"/>
            </a:spcAft>
          </a:pPr>
          <a:r>
            <a:rPr lang="en-US" dirty="0" smtClean="0"/>
            <a:t>需要检查消息的完整性时，使用MAC函数对消息重新计算，并将计算结果与存储的MAC码对比。</a:t>
          </a:r>
          <a:endParaRPr lang="en-US" dirty="0" smtClean="0"/>
        </a:p>
      </dgm:t>
    </dgm:pt>
    <dgm:pt modelId="{C62E1A9D-8703-9D4D-BE11-2321C5AA327C}" cxnId="{E5A2043A-540D-48C1-BBC2-48B3E3750BBD}" type="parTrans">
      <dgm:prSet/>
      <dgm:spPr/>
      <dgm:t>
        <a:bodyPr/>
        <a:lstStyle/>
        <a:p>
          <a:endParaRPr lang="en-US"/>
        </a:p>
      </dgm:t>
    </dgm:pt>
    <dgm:pt modelId="{F49E7C5F-03A9-6046-9AE5-FC5D0F4049E7}" cxnId="{E5A2043A-540D-48C1-BBC2-48B3E3750BBD}" type="sibTrans">
      <dgm:prSet/>
      <dgm:spPr/>
      <dgm:t>
        <a:bodyPr/>
        <a:lstStyle/>
        <a:p>
          <a:endParaRPr lang="en-US"/>
        </a:p>
      </dgm:t>
    </dgm:pt>
    <dgm:pt modelId="{A4189C08-F765-4C85-A80D-5F25C35109C3}">
      <dgm:prSet phldr="0" custT="0"/>
      <dgm:spPr/>
      <dgm:t>
        <a:bodyPr vert="horz" wrap="square"/>
        <a:p>
          <a:pPr>
            <a:lnSpc>
              <a:spcPct val="100000"/>
            </a:lnSpc>
            <a:spcBef>
              <a:spcPct val="0"/>
            </a:spcBef>
            <a:spcAft>
              <a:spcPct val="15000"/>
            </a:spcAft>
          </a:pPr>
          <a:r>
            <a:rPr lang="en-US" dirty="0" smtClean="0"/>
            <a:t>攻击者能对消息进行篡改，但在不知道密钥的情况下不能够计算出与篡改后的消息相匹配的MAC值。</a:t>
          </a:r>
          <a:r>
            <a:rPr lang="en-US" dirty="0"/>
            <a:t/>
          </a:r>
          <a:endParaRPr lang="en-US" dirty="0"/>
        </a:p>
      </dgm:t>
    </dgm:pt>
    <dgm:pt modelId="{B50EA04C-E53A-425E-852D-425DA243E23D}" cxnId="{3DA693B3-0539-44C7-B2D9-E6E3DF2C131C}" type="parTrans">
      <dgm:prSet/>
      <dgm:spPr/>
    </dgm:pt>
    <dgm:pt modelId="{44841FAA-9157-4169-86E8-944090AD4C29}" cxnId="{3DA693B3-0539-44C7-B2D9-E6E3DF2C131C}" type="sibTrans">
      <dgm:prSet/>
      <dgm:spPr/>
    </dgm:pt>
    <dgm:pt modelId="{B2DEDA57-9127-0248-8909-03B3298F72F0}" type="pres">
      <dgm:prSet presAssocID="{C015A331-C409-E643-872B-F3E44706BE0A}" presName="Name0" presStyleCnt="0">
        <dgm:presLayoutVars>
          <dgm:dir/>
          <dgm:animLvl val="lvl"/>
          <dgm:resizeHandles val="exact"/>
        </dgm:presLayoutVars>
      </dgm:prSet>
      <dgm:spPr/>
      <dgm:t>
        <a:bodyPr/>
        <a:lstStyle/>
        <a:p>
          <a:endParaRPr lang="en-US"/>
        </a:p>
      </dgm:t>
    </dgm:pt>
    <dgm:pt modelId="{606112E6-3DB0-DA46-B863-ADF0EDF96B70}" type="pres">
      <dgm:prSet presAssocID="{7E8D6CD8-6BFA-2347-8417-40D8035EC1DE}" presName="composite" presStyleCnt="0"/>
      <dgm:spPr/>
    </dgm:pt>
    <dgm:pt modelId="{9B6C901C-3225-9A49-8E32-8AA62AA2EF15}" type="pres">
      <dgm:prSet presAssocID="{7E8D6CD8-6BFA-2347-8417-40D8035EC1DE}" presName="parTx" presStyleLbl="alignNode1" presStyleIdx="0" presStyleCnt="1">
        <dgm:presLayoutVars>
          <dgm:chMax val="0"/>
          <dgm:chPref val="0"/>
          <dgm:bulletEnabled val="1"/>
        </dgm:presLayoutVars>
      </dgm:prSet>
      <dgm:spPr/>
      <dgm:t>
        <a:bodyPr/>
        <a:lstStyle/>
        <a:p>
          <a:endParaRPr lang="en-US"/>
        </a:p>
      </dgm:t>
    </dgm:pt>
    <dgm:pt modelId="{97553C45-932E-B64E-92DD-2B633E7B7105}" type="pres">
      <dgm:prSet presAssocID="{7E8D6CD8-6BFA-2347-8417-40D8035EC1DE}" presName="desTx" presStyleLbl="alignAccFollowNode1" presStyleIdx="0" presStyleCnt="1">
        <dgm:presLayoutVars>
          <dgm:bulletEnabled val="1"/>
        </dgm:presLayoutVars>
      </dgm:prSet>
      <dgm:spPr/>
      <dgm:t>
        <a:bodyPr/>
        <a:lstStyle/>
        <a:p>
          <a:endParaRPr lang="en-US"/>
        </a:p>
      </dgm:t>
    </dgm:pt>
  </dgm:ptLst>
  <dgm:cxnLst>
    <dgm:cxn modelId="{5ED5B4AC-F10C-447F-B42C-40F7C11D77B4}" srcId="{C015A331-C409-E643-872B-F3E44706BE0A}" destId="{7E8D6CD8-6BFA-2347-8417-40D8035EC1DE}" srcOrd="0" destOrd="0" parTransId="{45DB7120-E821-6B40-A252-FF085388B5BA}" sibTransId="{ABD61B1A-22B0-894F-9F2A-FCF338AAA7AD}"/>
    <dgm:cxn modelId="{E5A2043A-540D-48C1-BBC2-48B3E3750BBD}" srcId="{7E8D6CD8-6BFA-2347-8417-40D8035EC1DE}" destId="{AEE03503-E94F-5346-B825-5D9196C7700C}" srcOrd="0" destOrd="0" parTransId="{C62E1A9D-8703-9D4D-BE11-2321C5AA327C}" sibTransId="{F49E7C5F-03A9-6046-9AE5-FC5D0F4049E7}"/>
    <dgm:cxn modelId="{3DA693B3-0539-44C7-B2D9-E6E3DF2C131C}" srcId="{7E8D6CD8-6BFA-2347-8417-40D8035EC1DE}" destId="{A4189C08-F765-4C85-A80D-5F25C35109C3}" srcOrd="1" destOrd="0" parTransId="{B50EA04C-E53A-425E-852D-425DA243E23D}" sibTransId="{44841FAA-9157-4169-86E8-944090AD4C29}"/>
    <dgm:cxn modelId="{A40B3FEF-C336-407B-95ED-EF305E813DBA}" type="presOf" srcId="{C015A331-C409-E643-872B-F3E44706BE0A}" destId="{B2DEDA57-9127-0248-8909-03B3298F72F0}" srcOrd="0" destOrd="0" presId="urn:microsoft.com/office/officeart/2005/8/layout/hList1"/>
    <dgm:cxn modelId="{8A3C4958-8FEF-4AA6-9032-67720D3D21A4}" type="presParOf" srcId="{B2DEDA57-9127-0248-8909-03B3298F72F0}" destId="{606112E6-3DB0-DA46-B863-ADF0EDF96B70}" srcOrd="0" destOrd="0" presId="urn:microsoft.com/office/officeart/2005/8/layout/hList1"/>
    <dgm:cxn modelId="{E9E9C697-824A-4D52-B555-EE52E92CEDDF}" type="presParOf" srcId="{606112E6-3DB0-DA46-B863-ADF0EDF96B70}" destId="{9B6C901C-3225-9A49-8E32-8AA62AA2EF15}" srcOrd="0" destOrd="0" presId="urn:microsoft.com/office/officeart/2005/8/layout/hList1"/>
    <dgm:cxn modelId="{32DF5823-6B96-4B18-A615-D91C9CA9CF3D}" type="presOf" srcId="{7E8D6CD8-6BFA-2347-8417-40D8035EC1DE}" destId="{9B6C901C-3225-9A49-8E32-8AA62AA2EF15}" srcOrd="0" destOrd="0" presId="urn:microsoft.com/office/officeart/2005/8/layout/hList1"/>
    <dgm:cxn modelId="{6E6C74F3-F8B6-4F27-9BBF-EE2AF61FD090}" type="presParOf" srcId="{606112E6-3DB0-DA46-B863-ADF0EDF96B70}" destId="{97553C45-932E-B64E-92DD-2B633E7B7105}" srcOrd="1" destOrd="0" presId="urn:microsoft.com/office/officeart/2005/8/layout/hList1"/>
    <dgm:cxn modelId="{75FEACF5-EC85-461B-B30D-F2EFFA88C66A}" type="presOf" srcId="{AEE03503-E94F-5346-B825-5D9196C7700C}" destId="{97553C45-932E-B64E-92DD-2B633E7B7105}" srcOrd="0" destOrd="0" presId="urn:microsoft.com/office/officeart/2005/8/layout/hList1"/>
    <dgm:cxn modelId="{9E6A12A0-7286-467C-B653-F8551872621F}" type="presOf" srcId="{A4189C08-F765-4C85-A80D-5F25C35109C3}" destId="{97553C45-932E-B64E-92DD-2B633E7B7105}" srcOrd="0" destOrd="1"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EBDC1B-6146-8B4F-ADAA-B1BAE52EE31A}"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2168749A-CCED-F94B-85DD-583BF6BB6ECA}">
      <dgm:prSet phldr="0" custT="0"/>
      <dgm:spPr>
        <a:solidFill>
          <a:schemeClr val="bg1"/>
        </a:solidFill>
        <a:effectLst>
          <a:glow rad="101600">
            <a:schemeClr val="accent1">
              <a:alpha val="75000"/>
            </a:schemeClr>
          </a:glow>
          <a:softEdge rad="101600"/>
        </a:effectLst>
      </dgm:spPr>
      <dgm:t>
        <a:bodyPr vert="horz" wrap="square"/>
        <a:p>
          <a:pPr rtl="0">
            <a:lnSpc>
              <a:spcPct val="100000"/>
            </a:lnSpc>
            <a:spcBef>
              <a:spcPct val="0"/>
            </a:spcBef>
            <a:spcAft>
              <a:spcPct val="35000"/>
            </a:spcAft>
          </a:pPr>
          <a:r>
            <a:rPr lang="en-US" dirty="0" smtClean="0"/>
            <a:t>产生单向口令文件</a:t>
          </a:r>
          <a:r>
            <a:rPr lang="en-US" dirty="0" smtClean="0"/>
            <a:t/>
          </a:r>
          <a:endParaRPr lang="en-US" dirty="0" smtClean="0"/>
        </a:p>
      </dgm:t>
    </dgm:pt>
    <dgm:pt modelId="{6C916D29-5426-E845-97F0-AA734D75502E}" cxnId="{8648E9CD-1C58-4EBD-9AB7-5A0445189EAC}" type="parTrans">
      <dgm:prSet/>
      <dgm:spPr/>
      <dgm:t>
        <a:bodyPr/>
        <a:lstStyle/>
        <a:p>
          <a:endParaRPr lang="en-US"/>
        </a:p>
      </dgm:t>
    </dgm:pt>
    <dgm:pt modelId="{2666BCAD-EF2E-ED48-8EB0-7FA10ED7AB39}" cxnId="{8648E9CD-1C58-4EBD-9AB7-5A0445189EAC}" type="sibTrans">
      <dgm:prSet/>
      <dgm:spPr/>
      <dgm:t>
        <a:bodyPr/>
        <a:lstStyle/>
        <a:p>
          <a:endParaRPr lang="en-US"/>
        </a:p>
      </dgm:t>
    </dgm:pt>
    <dgm:pt modelId="{45CB8223-24EF-DA44-B0F7-261AFC2D85F1}">
      <dgm:prSet phldr="0" custT="0"/>
      <dgm:spPr>
        <a:ln>
          <a:solidFill>
            <a:schemeClr val="tx1"/>
          </a:solidFill>
        </a:ln>
      </dgm:spPr>
      <dgm:t>
        <a:bodyPr vert="horz" wrap="square"/>
        <a:p>
          <a:pPr rtl="0">
            <a:lnSpc>
              <a:spcPct val="100000"/>
            </a:lnSpc>
            <a:spcBef>
              <a:spcPct val="0"/>
            </a:spcBef>
            <a:spcAft>
              <a:spcPct val="35000"/>
            </a:spcAft>
          </a:pPr>
          <a:r>
            <a:rPr lang="en-US" dirty="0" smtClean="0"/>
            <a:t>当用户输入口令时，操作系统将比对输入口令的Hash值和存储在口令文件中的Hash值</a:t>
          </a:r>
          <a:r>
            <a:rPr lang="en-US" dirty="0" smtClean="0"/>
            <a:t/>
          </a:r>
          <a:endParaRPr lang="en-US" dirty="0" smtClean="0"/>
        </a:p>
      </dgm:t>
    </dgm:pt>
    <dgm:pt modelId="{19BDC7F9-204D-BC45-8712-C0E743B3E059}" cxnId="{191FE246-A37D-4016-AF2C-3BF7E3F40587}" type="parTrans">
      <dgm:prSet/>
      <dgm:spPr/>
      <dgm:t>
        <a:bodyPr/>
        <a:lstStyle/>
        <a:p>
          <a:endParaRPr lang="en-US"/>
        </a:p>
      </dgm:t>
    </dgm:pt>
    <dgm:pt modelId="{6ACE365A-8EE6-3441-BC81-803990CBAA46}" cxnId="{191FE246-A37D-4016-AF2C-3BF7E3F40587}" type="sibTrans">
      <dgm:prSet/>
      <dgm:spPr/>
      <dgm:t>
        <a:bodyPr/>
        <a:lstStyle/>
        <a:p>
          <a:endParaRPr lang="en-US"/>
        </a:p>
      </dgm:t>
    </dgm:pt>
    <dgm:pt modelId="{60DD25D4-1CB3-834F-9602-C41C798A7F4D}">
      <dgm:prSet phldr="0" custT="0"/>
      <dgm:spPr>
        <a:ln>
          <a:solidFill>
            <a:schemeClr val="tx1"/>
          </a:solidFill>
        </a:ln>
      </dgm:spPr>
      <dgm:t>
        <a:bodyPr vert="horz" wrap="square"/>
        <a:p>
          <a:pPr rtl="0">
            <a:lnSpc>
              <a:spcPct val="100000"/>
            </a:lnSpc>
            <a:spcBef>
              <a:spcPct val="0"/>
            </a:spcBef>
            <a:spcAft>
              <a:spcPct val="35000"/>
            </a:spcAft>
          </a:pPr>
          <a:r>
            <a:rPr lang="en-US" dirty="0" smtClean="0"/>
            <a:t>在大多数操作系统中都使用了这样的口令保护机制。</a:t>
          </a:r>
          <a:r>
            <a:rPr lang="en-US" dirty="0" smtClean="0"/>
            <a:t/>
          </a:r>
          <a:endParaRPr lang="en-US" dirty="0" smtClean="0"/>
        </a:p>
      </dgm:t>
    </dgm:pt>
    <dgm:pt modelId="{0A089693-76E9-7A4B-9148-82FE024D2EC8}" cxnId="{0EC2CC4D-7A13-4DD4-A2B2-B4112CE9E7F3}" type="parTrans">
      <dgm:prSet/>
      <dgm:spPr/>
      <dgm:t>
        <a:bodyPr/>
        <a:lstStyle/>
        <a:p>
          <a:endParaRPr lang="en-US"/>
        </a:p>
      </dgm:t>
    </dgm:pt>
    <dgm:pt modelId="{05551EFB-9F83-2349-9014-87D3233C4975}" cxnId="{0EC2CC4D-7A13-4DD4-A2B2-B4112CE9E7F3}" type="sibTrans">
      <dgm:prSet/>
      <dgm:spPr/>
      <dgm:t>
        <a:bodyPr/>
        <a:lstStyle/>
        <a:p>
          <a:endParaRPr lang="en-US"/>
        </a:p>
      </dgm:t>
    </dgm:pt>
    <dgm:pt modelId="{C6BFF961-4373-6E4D-90C3-1F201EBAB55E}">
      <dgm:prSet phldr="0" custT="0"/>
      <dgm:spPr>
        <a:solidFill>
          <a:schemeClr val="bg1"/>
        </a:solidFill>
        <a:effectLst>
          <a:glow rad="101600">
            <a:schemeClr val="accent1">
              <a:alpha val="75000"/>
            </a:schemeClr>
          </a:glow>
          <a:softEdge rad="63500"/>
        </a:effectLst>
      </dgm:spPr>
      <dgm:t>
        <a:bodyPr vert="horz" wrap="square"/>
        <a:p>
          <a:pPr rtl="0">
            <a:lnSpc>
              <a:spcPct val="100000"/>
            </a:lnSpc>
            <a:spcBef>
              <a:spcPct val="0"/>
            </a:spcBef>
            <a:spcAft>
              <a:spcPct val="35000"/>
            </a:spcAft>
          </a:pPr>
          <a:r>
            <a:rPr lang="en-US" dirty="0" smtClean="0"/>
            <a:t>用于入侵检测和病毒检测</a:t>
          </a:r>
          <a:r>
            <a:rPr lang="en-US" dirty="0" smtClean="0"/>
            <a:t/>
          </a:r>
          <a:endParaRPr lang="en-US" dirty="0" smtClean="0"/>
        </a:p>
      </dgm:t>
    </dgm:pt>
    <dgm:pt modelId="{CF7868EC-A98C-5342-8873-CCCF7E182B9A}" cxnId="{94E9CD12-41C6-48BE-969C-1AE19AEE9624}" type="parTrans">
      <dgm:prSet/>
      <dgm:spPr/>
      <dgm:t>
        <a:bodyPr/>
        <a:lstStyle/>
        <a:p>
          <a:endParaRPr lang="en-US"/>
        </a:p>
      </dgm:t>
    </dgm:pt>
    <dgm:pt modelId="{34C2C00B-100D-8548-88E7-E3DF6B3D1BCE}" cxnId="{94E9CD12-41C6-48BE-969C-1AE19AEE9624}" type="sibTrans">
      <dgm:prSet/>
      <dgm:spPr/>
      <dgm:t>
        <a:bodyPr/>
        <a:lstStyle/>
        <a:p>
          <a:endParaRPr lang="en-US"/>
        </a:p>
      </dgm:t>
    </dgm:pt>
    <dgm:pt modelId="{E645E13A-A24E-6B48-B19F-89AFAD4995F2}">
      <dgm:prSet phldr="0" custT="0"/>
      <dgm:spPr>
        <a:ln>
          <a:solidFill>
            <a:schemeClr val="tx1"/>
          </a:solidFill>
        </a:ln>
      </dgm:spPr>
      <dgm:t>
        <a:bodyPr vert="horz" wrap="square"/>
        <a:p>
          <a:pPr rtl="0">
            <a:lnSpc>
              <a:spcPct val="100000"/>
            </a:lnSpc>
            <a:spcBef>
              <a:spcPct val="0"/>
            </a:spcBef>
            <a:spcAft>
              <a:spcPct val="35000"/>
            </a:spcAft>
          </a:pPr>
          <a:r>
            <a:rPr lang="en-US" dirty="0" smtClean="0"/>
            <a:t>将每个文件的Hash值H(F)存储在安全系统中</a:t>
          </a:r>
          <a:r>
            <a:rPr lang="en-US" dirty="0" smtClean="0"/>
            <a:t/>
          </a:r>
          <a:endParaRPr lang="en-US" dirty="0" smtClean="0"/>
        </a:p>
      </dgm:t>
    </dgm:pt>
    <dgm:pt modelId="{59B39548-73D2-0249-A7C6-B778D02A4F88}" cxnId="{71096A4A-EF29-4D13-8985-C241BC2F263D}" type="parTrans">
      <dgm:prSet/>
      <dgm:spPr/>
      <dgm:t>
        <a:bodyPr/>
        <a:lstStyle/>
        <a:p>
          <a:endParaRPr lang="en-US"/>
        </a:p>
      </dgm:t>
    </dgm:pt>
    <dgm:pt modelId="{29313F91-225C-F043-8F8F-E6D2E14FAD7C}" cxnId="{71096A4A-EF29-4D13-8985-C241BC2F263D}" type="sibTrans">
      <dgm:prSet/>
      <dgm:spPr/>
      <dgm:t>
        <a:bodyPr/>
        <a:lstStyle/>
        <a:p>
          <a:endParaRPr lang="en-US"/>
        </a:p>
      </dgm:t>
    </dgm:pt>
    <dgm:pt modelId="{8A46D1A2-AE66-5545-B5C6-68A577BE8DFF}">
      <dgm:prSet phldr="0" custT="0"/>
      <dgm:spPr>
        <a:ln>
          <a:solidFill>
            <a:schemeClr val="tx1"/>
          </a:solidFill>
        </a:ln>
      </dgm:spPr>
      <dgm:t>
        <a:bodyPr vert="horz" wrap="square"/>
        <a:p>
          <a:pPr rtl="0">
            <a:lnSpc>
              <a:spcPct val="100000"/>
            </a:lnSpc>
            <a:spcBef>
              <a:spcPct val="0"/>
            </a:spcBef>
            <a:spcAft>
              <a:spcPct val="35000"/>
            </a:spcAft>
          </a:pPr>
          <a:r>
            <a:rPr lang="en-US" smtClean="0"/>
            <a:t>随后就能够通过重新计算H(F)来判断文件是否被修改过</a:t>
          </a:r>
          <a:r>
            <a:rPr lang="en-US" smtClean="0"/>
            <a:t/>
          </a:r>
          <a:endParaRPr lang="en-US" smtClean="0"/>
        </a:p>
      </dgm:t>
    </dgm:pt>
    <dgm:pt modelId="{6024C005-E62C-944B-A18B-3CA93DF3F49C}" cxnId="{3A6D5296-68E8-4C93-849D-17B722595368}" type="parTrans">
      <dgm:prSet/>
      <dgm:spPr/>
      <dgm:t>
        <a:bodyPr/>
        <a:lstStyle/>
        <a:p>
          <a:endParaRPr lang="en-US"/>
        </a:p>
      </dgm:t>
    </dgm:pt>
    <dgm:pt modelId="{DCC37FF7-A669-D344-BFD1-C182DC2A28CF}" cxnId="{3A6D5296-68E8-4C93-849D-17B722595368}" type="sibTrans">
      <dgm:prSet/>
      <dgm:spPr/>
      <dgm:t>
        <a:bodyPr/>
        <a:lstStyle/>
        <a:p>
          <a:endParaRPr lang="en-US"/>
        </a:p>
      </dgm:t>
    </dgm:pt>
    <dgm:pt modelId="{35D04BC2-6AD2-EF4F-B93B-6DF04AE62FD4}">
      <dgm:prSet phldr="0" custT="0"/>
      <dgm:spPr>
        <a:ln>
          <a:solidFill>
            <a:schemeClr val="tx1"/>
          </a:solidFill>
        </a:ln>
      </dgm:spPr>
      <dgm:t>
        <a:bodyPr vert="horz" wrap="square"/>
        <a:p>
          <a:pPr rtl="0">
            <a:lnSpc>
              <a:spcPct val="100000"/>
            </a:lnSpc>
            <a:spcBef>
              <a:spcPct val="0"/>
            </a:spcBef>
            <a:spcAft>
              <a:spcPct val="35000"/>
            </a:spcAft>
          </a:pPr>
          <a:r>
            <a:rPr lang="en-US" dirty="0" smtClean="0"/>
            <a:t>入侵者只能够改变F,而不能够改变H(F)</a:t>
          </a:r>
          <a:r>
            <a:rPr lang="en-US" dirty="0" smtClean="0"/>
            <a:t/>
          </a:r>
          <a:endParaRPr lang="en-US" dirty="0" smtClean="0"/>
        </a:p>
      </dgm:t>
    </dgm:pt>
    <dgm:pt modelId="{918F828C-F7CE-4245-BDE4-80D63A70B67C}" cxnId="{37A05F67-37FD-47C6-8EB4-C605C4E54664}" type="parTrans">
      <dgm:prSet/>
      <dgm:spPr/>
      <dgm:t>
        <a:bodyPr/>
        <a:lstStyle/>
        <a:p>
          <a:endParaRPr lang="en-US"/>
        </a:p>
      </dgm:t>
    </dgm:pt>
    <dgm:pt modelId="{D08FEB11-9159-CB47-A020-E7CE4A2E6A60}" cxnId="{37A05F67-37FD-47C6-8EB4-C605C4E54664}" type="sibTrans">
      <dgm:prSet/>
      <dgm:spPr/>
      <dgm:t>
        <a:bodyPr/>
        <a:lstStyle/>
        <a:p>
          <a:endParaRPr lang="en-US"/>
        </a:p>
      </dgm:t>
    </dgm:pt>
    <dgm:pt modelId="{C19458EB-338E-834D-9D24-B265F4C45145}">
      <dgm:prSet phldr="0" custT="0"/>
      <dgm:spPr>
        <a:solidFill>
          <a:schemeClr val="bg1"/>
        </a:solidFill>
        <a:effectLst>
          <a:glow rad="101600">
            <a:schemeClr val="accent1">
              <a:alpha val="75000"/>
            </a:schemeClr>
          </a:glow>
          <a:softEdge rad="63500"/>
        </a:effectLst>
      </dgm:spPr>
      <dgm:t>
        <a:bodyPr vert="horz" wrap="square"/>
        <a:p>
          <a:pPr rtl="0">
            <a:lnSpc>
              <a:spcPct val="100000"/>
            </a:lnSpc>
            <a:spcBef>
              <a:spcPct val="0"/>
            </a:spcBef>
            <a:spcAft>
              <a:spcPct val="35000"/>
            </a:spcAft>
          </a:pPr>
          <a:r>
            <a:rPr lang="en-US" dirty="0" smtClean="0"/>
            <a:t>密码学Hash函数能够用于构建随机函数(PRF)或用做伪随机数发生器(PRNG)</a:t>
          </a:r>
          <a:r>
            <a:rPr lang="en-US" dirty="0" smtClean="0"/>
            <a:t/>
          </a:r>
          <a:endParaRPr lang="en-US" dirty="0" smtClean="0"/>
        </a:p>
      </dgm:t>
    </dgm:pt>
    <dgm:pt modelId="{053173A1-753A-0343-970C-5BE5BAB1D2EC}" cxnId="{DB8D45D1-28E8-45BA-8738-E9E9E60CB403}" type="parTrans">
      <dgm:prSet/>
      <dgm:spPr/>
      <dgm:t>
        <a:bodyPr/>
        <a:lstStyle/>
        <a:p>
          <a:endParaRPr lang="en-US"/>
        </a:p>
      </dgm:t>
    </dgm:pt>
    <dgm:pt modelId="{98381C18-658F-454A-ABED-C101412FD474}" cxnId="{DB8D45D1-28E8-45BA-8738-E9E9E60CB403}" type="sibTrans">
      <dgm:prSet/>
      <dgm:spPr/>
      <dgm:t>
        <a:bodyPr/>
        <a:lstStyle/>
        <a:p>
          <a:endParaRPr lang="en-US"/>
        </a:p>
      </dgm:t>
    </dgm:pt>
    <dgm:pt modelId="{A015E574-47A3-E944-B303-D53B4E1815CF}">
      <dgm:prSet phldr="0" custT="0"/>
      <dgm:spPr>
        <a:ln>
          <a:solidFill>
            <a:schemeClr val="tx1"/>
          </a:solidFill>
        </a:ln>
      </dgm:spPr>
      <dgm:t>
        <a:bodyPr vert="horz" wrap="square"/>
        <a:p>
          <a:pPr rtl="0">
            <a:lnSpc>
              <a:spcPct val="100000"/>
            </a:lnSpc>
            <a:spcBef>
              <a:spcPct val="0"/>
            </a:spcBef>
            <a:spcAft>
              <a:spcPct val="35000"/>
            </a:spcAft>
          </a:pPr>
          <a:r>
            <a:rPr lang="en-US" dirty="0" smtClean="0"/>
            <a:t>基于Hash函数的PRF可用于对称密码中的密钥产生</a:t>
          </a:r>
          <a:r>
            <a:rPr lang="en-US" dirty="0" smtClean="0"/>
            <a:t/>
          </a:r>
          <a:endParaRPr lang="en-US" dirty="0" smtClean="0"/>
        </a:p>
      </dgm:t>
    </dgm:pt>
    <dgm:pt modelId="{D9B79708-16E5-A444-848C-4BDA40A631A6}" cxnId="{0DA0829D-5602-4596-94CF-CAF43B22A8F6}" type="parTrans">
      <dgm:prSet/>
      <dgm:spPr/>
      <dgm:t>
        <a:bodyPr/>
        <a:lstStyle/>
        <a:p>
          <a:endParaRPr lang="en-US"/>
        </a:p>
      </dgm:t>
    </dgm:pt>
    <dgm:pt modelId="{ABB6F286-DC2D-F24A-A05D-7C2C2ACA01A9}" cxnId="{0DA0829D-5602-4596-94CF-CAF43B22A8F6}" type="sibTrans">
      <dgm:prSet/>
      <dgm:spPr/>
      <dgm:t>
        <a:bodyPr/>
        <a:lstStyle/>
        <a:p>
          <a:endParaRPr lang="en-US"/>
        </a:p>
      </dgm:t>
    </dgm:pt>
    <dgm:pt modelId="{3A9DB640-426A-0648-828C-9459C8F29563}" type="pres">
      <dgm:prSet presAssocID="{F6EBDC1B-6146-8B4F-ADAA-B1BAE52EE31A}" presName="theList" presStyleCnt="0">
        <dgm:presLayoutVars>
          <dgm:dir/>
          <dgm:animLvl val="lvl"/>
          <dgm:resizeHandles val="exact"/>
        </dgm:presLayoutVars>
      </dgm:prSet>
      <dgm:spPr/>
      <dgm:t>
        <a:bodyPr/>
        <a:lstStyle/>
        <a:p>
          <a:endParaRPr lang="en-US"/>
        </a:p>
      </dgm:t>
    </dgm:pt>
    <dgm:pt modelId="{0E031654-D7E9-8E48-94E5-BBF8E3A21A9E}" type="pres">
      <dgm:prSet presAssocID="{2168749A-CCED-F94B-85DD-583BF6BB6ECA}" presName="compNode" presStyleCnt="0"/>
      <dgm:spPr/>
    </dgm:pt>
    <dgm:pt modelId="{1886384E-7F5E-0C46-B09E-DD5887B1D990}" type="pres">
      <dgm:prSet presAssocID="{2168749A-CCED-F94B-85DD-583BF6BB6ECA}" presName="aNode" presStyleLbl="bgShp" presStyleIdx="0" presStyleCnt="3"/>
      <dgm:spPr/>
      <dgm:t>
        <a:bodyPr/>
        <a:lstStyle/>
        <a:p>
          <a:endParaRPr lang="en-US"/>
        </a:p>
      </dgm:t>
    </dgm:pt>
    <dgm:pt modelId="{A4F68F0C-ADB1-7E4E-A35C-8C21154957C6}" type="pres">
      <dgm:prSet presAssocID="{2168749A-CCED-F94B-85DD-583BF6BB6ECA}" presName="textNode" presStyleCnt="0"/>
      <dgm:spPr/>
      <dgm:t>
        <a:bodyPr/>
        <a:lstStyle/>
        <a:p>
          <a:endParaRPr lang="en-US"/>
        </a:p>
      </dgm:t>
    </dgm:pt>
    <dgm:pt modelId="{604D0E69-2C8A-FF4A-A767-DC104804CBE4}" type="pres">
      <dgm:prSet presAssocID="{2168749A-CCED-F94B-85DD-583BF6BB6ECA}" presName="compChildNode" presStyleCnt="0"/>
      <dgm:spPr/>
    </dgm:pt>
    <dgm:pt modelId="{3A6283B4-62BC-1642-8579-66480AFE9981}" type="pres">
      <dgm:prSet presAssocID="{2168749A-CCED-F94B-85DD-583BF6BB6ECA}" presName="theInnerList" presStyleCnt="0"/>
      <dgm:spPr/>
    </dgm:pt>
    <dgm:pt modelId="{9A5C8B54-E8B9-5144-A712-533FDFDCB980}" type="pres">
      <dgm:prSet presAssocID="{45CB8223-24EF-DA44-B0F7-261AFC2D85F1}" presName="childNode" presStyleLbl="node1" presStyleIdx="0" presStyleCnt="6">
        <dgm:presLayoutVars>
          <dgm:bulletEnabled val="1"/>
        </dgm:presLayoutVars>
      </dgm:prSet>
      <dgm:spPr/>
      <dgm:t>
        <a:bodyPr/>
        <a:lstStyle/>
        <a:p>
          <a:endParaRPr lang="en-US"/>
        </a:p>
      </dgm:t>
    </dgm:pt>
    <dgm:pt modelId="{EF5C0AB9-8408-B444-8622-D43C27D9DAFC}" type="pres">
      <dgm:prSet presAssocID="{45CB8223-24EF-DA44-B0F7-261AFC2D85F1}" presName="aSpace2" presStyleCnt="0"/>
      <dgm:spPr/>
    </dgm:pt>
    <dgm:pt modelId="{32190510-28D4-564D-8C61-CA1C4E71FFDA}" type="pres">
      <dgm:prSet presAssocID="{60DD25D4-1CB3-834F-9602-C41C798A7F4D}" presName="childNode" presStyleLbl="node1" presStyleIdx="1" presStyleCnt="6">
        <dgm:presLayoutVars>
          <dgm:bulletEnabled val="1"/>
        </dgm:presLayoutVars>
      </dgm:prSet>
      <dgm:spPr/>
      <dgm:t>
        <a:bodyPr/>
        <a:lstStyle/>
        <a:p>
          <a:endParaRPr lang="en-US"/>
        </a:p>
      </dgm:t>
    </dgm:pt>
    <dgm:pt modelId="{0A2909FE-8B7B-FD4B-80C1-8E30337A1613}" type="pres">
      <dgm:prSet presAssocID="{2168749A-CCED-F94B-85DD-583BF6BB6ECA}" presName="aSpace" presStyleCnt="0"/>
      <dgm:spPr/>
    </dgm:pt>
    <dgm:pt modelId="{FA2DD86E-B6D3-E94E-958E-153B47809AD4}" type="pres">
      <dgm:prSet presAssocID="{C6BFF961-4373-6E4D-90C3-1F201EBAB55E}" presName="compNode" presStyleCnt="0"/>
      <dgm:spPr/>
    </dgm:pt>
    <dgm:pt modelId="{5F7C211F-9042-EC43-AF3D-42BEB42044BE}" type="pres">
      <dgm:prSet presAssocID="{C6BFF961-4373-6E4D-90C3-1F201EBAB55E}" presName="aNode" presStyleLbl="bgShp" presStyleIdx="1" presStyleCnt="3"/>
      <dgm:spPr/>
      <dgm:t>
        <a:bodyPr/>
        <a:lstStyle/>
        <a:p>
          <a:endParaRPr lang="en-US"/>
        </a:p>
      </dgm:t>
    </dgm:pt>
    <dgm:pt modelId="{42B7F9B9-8348-0C4D-AC9B-CC66D458F7FF}" type="pres">
      <dgm:prSet presAssocID="{C6BFF961-4373-6E4D-90C3-1F201EBAB55E}" presName="textNode" presStyleCnt="0"/>
      <dgm:spPr/>
      <dgm:t>
        <a:bodyPr/>
        <a:lstStyle/>
        <a:p>
          <a:endParaRPr lang="en-US"/>
        </a:p>
      </dgm:t>
    </dgm:pt>
    <dgm:pt modelId="{268DBC68-748D-B043-B027-807A4CC41A44}" type="pres">
      <dgm:prSet presAssocID="{C6BFF961-4373-6E4D-90C3-1F201EBAB55E}" presName="compChildNode" presStyleCnt="0"/>
      <dgm:spPr/>
    </dgm:pt>
    <dgm:pt modelId="{0E727FDF-35A6-7145-B311-ECCC0E742A36}" type="pres">
      <dgm:prSet presAssocID="{C6BFF961-4373-6E4D-90C3-1F201EBAB55E}" presName="theInnerList" presStyleCnt="0"/>
      <dgm:spPr/>
    </dgm:pt>
    <dgm:pt modelId="{BB3EEB33-7471-3C46-B37A-EF306DC11397}" type="pres">
      <dgm:prSet presAssocID="{E645E13A-A24E-6B48-B19F-89AFAD4995F2}" presName="childNode" presStyleLbl="node1" presStyleIdx="2" presStyleCnt="6">
        <dgm:presLayoutVars>
          <dgm:bulletEnabled val="1"/>
        </dgm:presLayoutVars>
      </dgm:prSet>
      <dgm:spPr/>
      <dgm:t>
        <a:bodyPr/>
        <a:lstStyle/>
        <a:p>
          <a:endParaRPr lang="en-US"/>
        </a:p>
      </dgm:t>
    </dgm:pt>
    <dgm:pt modelId="{B6AADDC7-19A1-E046-8D58-2090353C4FC2}" type="pres">
      <dgm:prSet presAssocID="{E645E13A-A24E-6B48-B19F-89AFAD4995F2}" presName="aSpace2" presStyleCnt="0"/>
      <dgm:spPr/>
    </dgm:pt>
    <dgm:pt modelId="{219509CF-B5AE-824C-9137-90FE6F41E897}" type="pres">
      <dgm:prSet presAssocID="{8A46D1A2-AE66-5545-B5C6-68A577BE8DFF}" presName="childNode" presStyleLbl="node1" presStyleIdx="3" presStyleCnt="6">
        <dgm:presLayoutVars>
          <dgm:bulletEnabled val="1"/>
        </dgm:presLayoutVars>
      </dgm:prSet>
      <dgm:spPr/>
      <dgm:t>
        <a:bodyPr/>
        <a:lstStyle/>
        <a:p>
          <a:endParaRPr lang="en-US"/>
        </a:p>
      </dgm:t>
    </dgm:pt>
    <dgm:pt modelId="{E0CE05AF-A9AC-F34D-BAE5-F9BF37374EDB}" type="pres">
      <dgm:prSet presAssocID="{8A46D1A2-AE66-5545-B5C6-68A577BE8DFF}" presName="aSpace2" presStyleCnt="0"/>
      <dgm:spPr/>
    </dgm:pt>
    <dgm:pt modelId="{BF798EF9-4DCA-F54E-BDEA-C66F968FF331}" type="pres">
      <dgm:prSet presAssocID="{35D04BC2-6AD2-EF4F-B93B-6DF04AE62FD4}" presName="childNode" presStyleLbl="node1" presStyleIdx="4" presStyleCnt="6">
        <dgm:presLayoutVars>
          <dgm:bulletEnabled val="1"/>
        </dgm:presLayoutVars>
      </dgm:prSet>
      <dgm:spPr/>
      <dgm:t>
        <a:bodyPr/>
        <a:lstStyle/>
        <a:p>
          <a:endParaRPr lang="en-US"/>
        </a:p>
      </dgm:t>
    </dgm:pt>
    <dgm:pt modelId="{A051A7FC-48BE-1849-81A6-2DCDABBA10D4}" type="pres">
      <dgm:prSet presAssocID="{C6BFF961-4373-6E4D-90C3-1F201EBAB55E}" presName="aSpace" presStyleCnt="0"/>
      <dgm:spPr/>
    </dgm:pt>
    <dgm:pt modelId="{194E2B3A-3D7A-354B-B54E-F148D5E0D04C}" type="pres">
      <dgm:prSet presAssocID="{C19458EB-338E-834D-9D24-B265F4C45145}" presName="compNode" presStyleCnt="0"/>
      <dgm:spPr/>
    </dgm:pt>
    <dgm:pt modelId="{847E0B4C-8D6D-244B-9DA0-6F3A49E346AE}" type="pres">
      <dgm:prSet presAssocID="{C19458EB-338E-834D-9D24-B265F4C45145}" presName="aNode" presStyleLbl="bgShp" presStyleIdx="2" presStyleCnt="3"/>
      <dgm:spPr/>
      <dgm:t>
        <a:bodyPr/>
        <a:lstStyle/>
        <a:p>
          <a:endParaRPr lang="en-US"/>
        </a:p>
      </dgm:t>
    </dgm:pt>
    <dgm:pt modelId="{2F0FD1B9-6F06-5F43-8A4B-220409073675}" type="pres">
      <dgm:prSet presAssocID="{C19458EB-338E-834D-9D24-B265F4C45145}" presName="textNode" presStyleCnt="0"/>
      <dgm:spPr/>
      <dgm:t>
        <a:bodyPr/>
        <a:lstStyle/>
        <a:p>
          <a:endParaRPr lang="en-US"/>
        </a:p>
      </dgm:t>
    </dgm:pt>
    <dgm:pt modelId="{835EDF3B-C9A5-3246-9510-75B3D6732884}" type="pres">
      <dgm:prSet presAssocID="{C19458EB-338E-834D-9D24-B265F4C45145}" presName="compChildNode" presStyleCnt="0"/>
      <dgm:spPr/>
    </dgm:pt>
    <dgm:pt modelId="{D37A1B7D-60C9-C140-B7DD-4859D7571AC8}" type="pres">
      <dgm:prSet presAssocID="{C19458EB-338E-834D-9D24-B265F4C45145}" presName="theInnerList" presStyleCnt="0"/>
      <dgm:spPr/>
    </dgm:pt>
    <dgm:pt modelId="{2DE2D63A-4790-D443-97AA-DFD90F9B3785}" type="pres">
      <dgm:prSet presAssocID="{A015E574-47A3-E944-B303-D53B4E1815CF}" presName="childNode" presStyleLbl="node1" presStyleIdx="5" presStyleCnt="6">
        <dgm:presLayoutVars>
          <dgm:bulletEnabled val="1"/>
        </dgm:presLayoutVars>
      </dgm:prSet>
      <dgm:spPr/>
      <dgm:t>
        <a:bodyPr/>
        <a:lstStyle/>
        <a:p>
          <a:endParaRPr lang="en-US"/>
        </a:p>
      </dgm:t>
    </dgm:pt>
  </dgm:ptLst>
  <dgm:cxnLst>
    <dgm:cxn modelId="{8648E9CD-1C58-4EBD-9AB7-5A0445189EAC}" srcId="{F6EBDC1B-6146-8B4F-ADAA-B1BAE52EE31A}" destId="{2168749A-CCED-F94B-85DD-583BF6BB6ECA}" srcOrd="0" destOrd="0" parTransId="{6C916D29-5426-E845-97F0-AA734D75502E}" sibTransId="{2666BCAD-EF2E-ED48-8EB0-7FA10ED7AB39}"/>
    <dgm:cxn modelId="{191FE246-A37D-4016-AF2C-3BF7E3F40587}" srcId="{2168749A-CCED-F94B-85DD-583BF6BB6ECA}" destId="{45CB8223-24EF-DA44-B0F7-261AFC2D85F1}" srcOrd="0" destOrd="0" parTransId="{19BDC7F9-204D-BC45-8712-C0E743B3E059}" sibTransId="{6ACE365A-8EE6-3441-BC81-803990CBAA46}"/>
    <dgm:cxn modelId="{0EC2CC4D-7A13-4DD4-A2B2-B4112CE9E7F3}" srcId="{2168749A-CCED-F94B-85DD-583BF6BB6ECA}" destId="{60DD25D4-1CB3-834F-9602-C41C798A7F4D}" srcOrd="1" destOrd="0" parTransId="{0A089693-76E9-7A4B-9148-82FE024D2EC8}" sibTransId="{05551EFB-9F83-2349-9014-87D3233C4975}"/>
    <dgm:cxn modelId="{94E9CD12-41C6-48BE-969C-1AE19AEE9624}" srcId="{F6EBDC1B-6146-8B4F-ADAA-B1BAE52EE31A}" destId="{C6BFF961-4373-6E4D-90C3-1F201EBAB55E}" srcOrd="1" destOrd="0" parTransId="{CF7868EC-A98C-5342-8873-CCCF7E182B9A}" sibTransId="{34C2C00B-100D-8548-88E7-E3DF6B3D1BCE}"/>
    <dgm:cxn modelId="{71096A4A-EF29-4D13-8985-C241BC2F263D}" srcId="{C6BFF961-4373-6E4D-90C3-1F201EBAB55E}" destId="{E645E13A-A24E-6B48-B19F-89AFAD4995F2}" srcOrd="0" destOrd="1" parTransId="{59B39548-73D2-0249-A7C6-B778D02A4F88}" sibTransId="{29313F91-225C-F043-8F8F-E6D2E14FAD7C}"/>
    <dgm:cxn modelId="{3A6D5296-68E8-4C93-849D-17B722595368}" srcId="{C6BFF961-4373-6E4D-90C3-1F201EBAB55E}" destId="{8A46D1A2-AE66-5545-B5C6-68A577BE8DFF}" srcOrd="1" destOrd="1" parTransId="{6024C005-E62C-944B-A18B-3CA93DF3F49C}" sibTransId="{DCC37FF7-A669-D344-BFD1-C182DC2A28CF}"/>
    <dgm:cxn modelId="{37A05F67-37FD-47C6-8EB4-C605C4E54664}" srcId="{C6BFF961-4373-6E4D-90C3-1F201EBAB55E}" destId="{35D04BC2-6AD2-EF4F-B93B-6DF04AE62FD4}" srcOrd="2" destOrd="1" parTransId="{918F828C-F7CE-4245-BDE4-80D63A70B67C}" sibTransId="{D08FEB11-9159-CB47-A020-E7CE4A2E6A60}"/>
    <dgm:cxn modelId="{DB8D45D1-28E8-45BA-8738-E9E9E60CB403}" srcId="{F6EBDC1B-6146-8B4F-ADAA-B1BAE52EE31A}" destId="{C19458EB-338E-834D-9D24-B265F4C45145}" srcOrd="2" destOrd="0" parTransId="{053173A1-753A-0343-970C-5BE5BAB1D2EC}" sibTransId="{98381C18-658F-454A-ABED-C101412FD474}"/>
    <dgm:cxn modelId="{0DA0829D-5602-4596-94CF-CAF43B22A8F6}" srcId="{C19458EB-338E-834D-9D24-B265F4C45145}" destId="{A015E574-47A3-E944-B303-D53B4E1815CF}" srcOrd="0" destOrd="2" parTransId="{D9B79708-16E5-A444-848C-4BDA40A631A6}" sibTransId="{ABB6F286-DC2D-F24A-A05D-7C2C2ACA01A9}"/>
    <dgm:cxn modelId="{34B5469C-5F45-41DA-9C0F-4FB5D44F36E3}" type="presOf" srcId="{F6EBDC1B-6146-8B4F-ADAA-B1BAE52EE31A}" destId="{3A9DB640-426A-0648-828C-9459C8F29563}" srcOrd="0" destOrd="0" presId="urn:microsoft.com/office/officeart/2005/8/layout/lProcess2"/>
    <dgm:cxn modelId="{28AD27CA-A929-437B-91AF-D95ACD3D895D}" type="presParOf" srcId="{3A9DB640-426A-0648-828C-9459C8F29563}" destId="{0E031654-D7E9-8E48-94E5-BBF8E3A21A9E}" srcOrd="0" destOrd="0" presId="urn:microsoft.com/office/officeart/2005/8/layout/lProcess2"/>
    <dgm:cxn modelId="{B3A37BFE-CD7E-458E-AA9D-46132BDD567F}" type="presParOf" srcId="{0E031654-D7E9-8E48-94E5-BBF8E3A21A9E}" destId="{1886384E-7F5E-0C46-B09E-DD5887B1D990}" srcOrd="0" destOrd="0" presId="urn:microsoft.com/office/officeart/2005/8/layout/lProcess2"/>
    <dgm:cxn modelId="{A67A4DE9-64B1-4697-9BCD-70331208A10E}" type="presOf" srcId="{2168749A-CCED-F94B-85DD-583BF6BB6ECA}" destId="{1886384E-7F5E-0C46-B09E-DD5887B1D990}" srcOrd="0" destOrd="0" presId="urn:microsoft.com/office/officeart/2005/8/layout/lProcess2"/>
    <dgm:cxn modelId="{7F040786-E000-44BF-8273-76E35D5E2E9C}" type="presParOf" srcId="{0E031654-D7E9-8E48-94E5-BBF8E3A21A9E}" destId="{A4F68F0C-ADB1-7E4E-A35C-8C21154957C6}" srcOrd="1" destOrd="0" presId="urn:microsoft.com/office/officeart/2005/8/layout/lProcess2"/>
    <dgm:cxn modelId="{2DE94A88-B821-4415-AC3E-090AC19BE47D}" type="presOf" srcId="{2168749A-CCED-F94B-85DD-583BF6BB6ECA}" destId="{A4F68F0C-ADB1-7E4E-A35C-8C21154957C6}" srcOrd="1" destOrd="0" presId="urn:microsoft.com/office/officeart/2005/8/layout/lProcess2"/>
    <dgm:cxn modelId="{B20E8CB4-EDBC-49C1-A09A-506C80EBE419}" type="presParOf" srcId="{0E031654-D7E9-8E48-94E5-BBF8E3A21A9E}" destId="{604D0E69-2C8A-FF4A-A767-DC104804CBE4}" srcOrd="2" destOrd="0" presId="urn:microsoft.com/office/officeart/2005/8/layout/lProcess2"/>
    <dgm:cxn modelId="{E154098E-7F18-4BC1-92EB-E6F0D6BC6C00}" type="presParOf" srcId="{604D0E69-2C8A-FF4A-A767-DC104804CBE4}" destId="{3A6283B4-62BC-1642-8579-66480AFE9981}" srcOrd="0" destOrd="2" presId="urn:microsoft.com/office/officeart/2005/8/layout/lProcess2"/>
    <dgm:cxn modelId="{42C0A14D-D645-4E23-A1CD-3980AA0741C3}" type="presParOf" srcId="{3A6283B4-62BC-1642-8579-66480AFE9981}" destId="{9A5C8B54-E8B9-5144-A712-533FDFDCB980}" srcOrd="0" destOrd="0" presId="urn:microsoft.com/office/officeart/2005/8/layout/lProcess2"/>
    <dgm:cxn modelId="{118A0021-4BA5-4DB0-9DDF-2A20A3EA31E8}" type="presOf" srcId="{45CB8223-24EF-DA44-B0F7-261AFC2D85F1}" destId="{9A5C8B54-E8B9-5144-A712-533FDFDCB980}" srcOrd="0" destOrd="0" presId="urn:microsoft.com/office/officeart/2005/8/layout/lProcess2"/>
    <dgm:cxn modelId="{869A7DF9-3AED-4EA7-B62D-E28CDF0F886A}" type="presParOf" srcId="{3A6283B4-62BC-1642-8579-66480AFE9981}" destId="{EF5C0AB9-8408-B444-8622-D43C27D9DAFC}" srcOrd="1" destOrd="0" presId="urn:microsoft.com/office/officeart/2005/8/layout/lProcess2"/>
    <dgm:cxn modelId="{9DA856AE-BE6F-4FD5-8583-5E482842AE1D}" type="presParOf" srcId="{3A6283B4-62BC-1642-8579-66480AFE9981}" destId="{32190510-28D4-564D-8C61-CA1C4E71FFDA}" srcOrd="2" destOrd="0" presId="urn:microsoft.com/office/officeart/2005/8/layout/lProcess2"/>
    <dgm:cxn modelId="{F7DB7F16-1A60-40CD-88B4-3F974789BEF2}" type="presOf" srcId="{60DD25D4-1CB3-834F-9602-C41C798A7F4D}" destId="{32190510-28D4-564D-8C61-CA1C4E71FFDA}" srcOrd="0" destOrd="0" presId="urn:microsoft.com/office/officeart/2005/8/layout/lProcess2"/>
    <dgm:cxn modelId="{15B2653F-8587-4FA3-BCEF-98BE8E70E199}" type="presParOf" srcId="{3A9DB640-426A-0648-828C-9459C8F29563}" destId="{0A2909FE-8B7B-FD4B-80C1-8E30337A1613}" srcOrd="1" destOrd="0" presId="urn:microsoft.com/office/officeart/2005/8/layout/lProcess2"/>
    <dgm:cxn modelId="{64AD628A-1C0F-4E2F-BACC-1EED8B18DB98}" type="presParOf" srcId="{3A9DB640-426A-0648-828C-9459C8F29563}" destId="{FA2DD86E-B6D3-E94E-958E-153B47809AD4}" srcOrd="2" destOrd="0" presId="urn:microsoft.com/office/officeart/2005/8/layout/lProcess2"/>
    <dgm:cxn modelId="{70EDFF47-4468-45CD-BCD1-3E105F83264F}" type="presParOf" srcId="{FA2DD86E-B6D3-E94E-958E-153B47809AD4}" destId="{5F7C211F-9042-EC43-AF3D-42BEB42044BE}" srcOrd="0" destOrd="2" presId="urn:microsoft.com/office/officeart/2005/8/layout/lProcess2"/>
    <dgm:cxn modelId="{CD2222FD-672E-4912-AC56-9A50CCDDDA18}" type="presOf" srcId="{C6BFF961-4373-6E4D-90C3-1F201EBAB55E}" destId="{5F7C211F-9042-EC43-AF3D-42BEB42044BE}" srcOrd="0" destOrd="0" presId="urn:microsoft.com/office/officeart/2005/8/layout/lProcess2"/>
    <dgm:cxn modelId="{6C460E14-42C9-4374-81BD-7333DCEAF188}" type="presParOf" srcId="{FA2DD86E-B6D3-E94E-958E-153B47809AD4}" destId="{42B7F9B9-8348-0C4D-AC9B-CC66D458F7FF}" srcOrd="1" destOrd="2" presId="urn:microsoft.com/office/officeart/2005/8/layout/lProcess2"/>
    <dgm:cxn modelId="{6264D5DC-5ED4-476E-9754-C5F109F83712}" type="presOf" srcId="{C6BFF961-4373-6E4D-90C3-1F201EBAB55E}" destId="{42B7F9B9-8348-0C4D-AC9B-CC66D458F7FF}" srcOrd="1" destOrd="0" presId="urn:microsoft.com/office/officeart/2005/8/layout/lProcess2"/>
    <dgm:cxn modelId="{5D5EC27D-8BA4-47CA-9A16-C3135789A8B6}" type="presParOf" srcId="{FA2DD86E-B6D3-E94E-958E-153B47809AD4}" destId="{268DBC68-748D-B043-B027-807A4CC41A44}" srcOrd="2" destOrd="2" presId="urn:microsoft.com/office/officeart/2005/8/layout/lProcess2"/>
    <dgm:cxn modelId="{B8344554-3A4A-49C5-B4D2-8625DC25C374}" type="presParOf" srcId="{268DBC68-748D-B043-B027-807A4CC41A44}" destId="{0E727FDF-35A6-7145-B311-ECCC0E742A36}" srcOrd="0" destOrd="2" presId="urn:microsoft.com/office/officeart/2005/8/layout/lProcess2"/>
    <dgm:cxn modelId="{B64FDA44-311A-4DE8-8522-1AF44BA4A575}" type="presParOf" srcId="{0E727FDF-35A6-7145-B311-ECCC0E742A36}" destId="{BB3EEB33-7471-3C46-B37A-EF306DC11397}" srcOrd="0" destOrd="0" presId="urn:microsoft.com/office/officeart/2005/8/layout/lProcess2"/>
    <dgm:cxn modelId="{48AECC9C-160A-4164-A356-BB3C3D06925E}" type="presOf" srcId="{E645E13A-A24E-6B48-B19F-89AFAD4995F2}" destId="{BB3EEB33-7471-3C46-B37A-EF306DC11397}" srcOrd="0" destOrd="0" presId="urn:microsoft.com/office/officeart/2005/8/layout/lProcess2"/>
    <dgm:cxn modelId="{73D309DF-E53E-4C43-99EA-B6241C028D6B}" type="presParOf" srcId="{0E727FDF-35A6-7145-B311-ECCC0E742A36}" destId="{B6AADDC7-19A1-E046-8D58-2090353C4FC2}" srcOrd="1" destOrd="0" presId="urn:microsoft.com/office/officeart/2005/8/layout/lProcess2"/>
    <dgm:cxn modelId="{D953897B-0CE7-4513-80B8-9404BEE4905E}" type="presParOf" srcId="{0E727FDF-35A6-7145-B311-ECCC0E742A36}" destId="{219509CF-B5AE-824C-9137-90FE6F41E897}" srcOrd="2" destOrd="0" presId="urn:microsoft.com/office/officeart/2005/8/layout/lProcess2"/>
    <dgm:cxn modelId="{212204D3-A37C-4DF3-BC2E-94ECA9F68D43}" type="presOf" srcId="{8A46D1A2-AE66-5545-B5C6-68A577BE8DFF}" destId="{219509CF-B5AE-824C-9137-90FE6F41E897}" srcOrd="0" destOrd="0" presId="urn:microsoft.com/office/officeart/2005/8/layout/lProcess2"/>
    <dgm:cxn modelId="{852E72CF-6CBB-47F4-8548-2C787C5B3B48}" type="presParOf" srcId="{0E727FDF-35A6-7145-B311-ECCC0E742A36}" destId="{E0CE05AF-A9AC-F34D-BAE5-F9BF37374EDB}" srcOrd="3" destOrd="0" presId="urn:microsoft.com/office/officeart/2005/8/layout/lProcess2"/>
    <dgm:cxn modelId="{4D94DEE7-98D7-4FE1-B89E-AB497A0C51B5}" type="presParOf" srcId="{0E727FDF-35A6-7145-B311-ECCC0E742A36}" destId="{BF798EF9-4DCA-F54E-BDEA-C66F968FF331}" srcOrd="4" destOrd="0" presId="urn:microsoft.com/office/officeart/2005/8/layout/lProcess2"/>
    <dgm:cxn modelId="{9588B7AD-77CE-4C8E-87F2-D0F8F4AD1260}" type="presOf" srcId="{35D04BC2-6AD2-EF4F-B93B-6DF04AE62FD4}" destId="{BF798EF9-4DCA-F54E-BDEA-C66F968FF331}" srcOrd="0" destOrd="0" presId="urn:microsoft.com/office/officeart/2005/8/layout/lProcess2"/>
    <dgm:cxn modelId="{7534D96C-D5D8-4EBB-8162-6BA840106247}" type="presParOf" srcId="{3A9DB640-426A-0648-828C-9459C8F29563}" destId="{A051A7FC-48BE-1849-81A6-2DCDABBA10D4}" srcOrd="3" destOrd="0" presId="urn:microsoft.com/office/officeart/2005/8/layout/lProcess2"/>
    <dgm:cxn modelId="{6BF13C8C-A6B1-44E4-B23D-00098127F72C}" type="presParOf" srcId="{3A9DB640-426A-0648-828C-9459C8F29563}" destId="{194E2B3A-3D7A-354B-B54E-F148D5E0D04C}" srcOrd="4" destOrd="0" presId="urn:microsoft.com/office/officeart/2005/8/layout/lProcess2"/>
    <dgm:cxn modelId="{A6FEE2CB-8CC0-49D7-8997-E4B5D6F23FF9}" type="presParOf" srcId="{194E2B3A-3D7A-354B-B54E-F148D5E0D04C}" destId="{847E0B4C-8D6D-244B-9DA0-6F3A49E346AE}" srcOrd="0" destOrd="4" presId="urn:microsoft.com/office/officeart/2005/8/layout/lProcess2"/>
    <dgm:cxn modelId="{5DF4CD9A-3703-4834-A559-CB330C2620A9}" type="presOf" srcId="{C19458EB-338E-834D-9D24-B265F4C45145}" destId="{847E0B4C-8D6D-244B-9DA0-6F3A49E346AE}" srcOrd="0" destOrd="0" presId="urn:microsoft.com/office/officeart/2005/8/layout/lProcess2"/>
    <dgm:cxn modelId="{FE1BD51D-EB98-4025-84CD-A3CD58ED16B1}" type="presParOf" srcId="{194E2B3A-3D7A-354B-B54E-F148D5E0D04C}" destId="{2F0FD1B9-6F06-5F43-8A4B-220409073675}" srcOrd="1" destOrd="4" presId="urn:microsoft.com/office/officeart/2005/8/layout/lProcess2"/>
    <dgm:cxn modelId="{EC1A1FF7-9B49-4AC8-BAD0-BB51D22CDA5C}" type="presOf" srcId="{C19458EB-338E-834D-9D24-B265F4C45145}" destId="{2F0FD1B9-6F06-5F43-8A4B-220409073675}" srcOrd="1" destOrd="0" presId="urn:microsoft.com/office/officeart/2005/8/layout/lProcess2"/>
    <dgm:cxn modelId="{B2FB3F89-6C62-4ED4-B6EB-3C786D8B874D}" type="presParOf" srcId="{194E2B3A-3D7A-354B-B54E-F148D5E0D04C}" destId="{835EDF3B-C9A5-3246-9510-75B3D6732884}" srcOrd="2" destOrd="4" presId="urn:microsoft.com/office/officeart/2005/8/layout/lProcess2"/>
    <dgm:cxn modelId="{08E60B6E-A73B-47FD-B779-5BB63F2BE304}" type="presParOf" srcId="{835EDF3B-C9A5-3246-9510-75B3D6732884}" destId="{D37A1B7D-60C9-C140-B7DD-4859D7571AC8}" srcOrd="0" destOrd="2" presId="urn:microsoft.com/office/officeart/2005/8/layout/lProcess2"/>
    <dgm:cxn modelId="{4800EEEC-1CC4-4FCD-8E49-C5AC1DF6C08E}" type="presParOf" srcId="{D37A1B7D-60C9-C140-B7DD-4859D7571AC8}" destId="{2DE2D63A-4790-D443-97AA-DFD90F9B3785}" srcOrd="0" destOrd="0" presId="urn:microsoft.com/office/officeart/2005/8/layout/lProcess2"/>
    <dgm:cxn modelId="{E3C4835F-743F-4CD0-8A4B-975C5F756C20}" type="presOf" srcId="{A015E574-47A3-E944-B303-D53B4E1815CF}" destId="{2DE2D63A-4790-D443-97AA-DFD90F9B3785}"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781800" cy="3022600"/>
        <a:chOff x="0" y="0"/>
        <a:chExt cx="6781800" cy="3022600"/>
      </a:xfrm>
    </dsp:grpSpPr>
    <dsp:sp modelId="{9B6C901C-3225-9A49-8E32-8AA62AA2EF15}">
      <dsp:nvSpPr>
        <dsp:cNvPr id="3" name="矩形 2"/>
        <dsp:cNvSpPr/>
      </dsp:nvSpPr>
      <dsp:spPr bwMode="white">
        <a:xfrm>
          <a:off x="0" y="68263"/>
          <a:ext cx="6781800" cy="1187450"/>
        </a:xfrm>
        <a:prstGeom prst="rect">
          <a:avLst/>
        </a:prstGeom>
      </dsp:spPr>
      <dsp:style>
        <a:lnRef idx="1">
          <a:schemeClr val="accent1"/>
        </a:lnRef>
        <a:fillRef idx="3">
          <a:schemeClr val="accent1"/>
        </a:fillRef>
        <a:effectRef idx="2">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dirty="0">
              <a:effectLst>
                <a:outerShdw blurRad="38100" dist="38100" dir="2700000" algn="tl">
                  <a:srgbClr val="000000">
                    <a:alpha val="43137"/>
                  </a:srgbClr>
                </a:outerShdw>
              </a:effectLst>
            </a:rPr>
            <a:t>MAC函数将密钥和数据块作为输入，产生Hash值作为MAC码，然后将MAC码和受保护的消息一起传递或存储</a:t>
          </a:r>
          <a:endParaRPr lang="en-US" dirty="0">
            <a:effectLst>
              <a:outerShdw blurRad="38100" dist="38100" dir="2700000" algn="tl">
                <a:srgbClr val="000000">
                  <a:alpha val="43137"/>
                </a:srgbClr>
              </a:outerShdw>
            </a:effectLst>
          </a:endParaRPr>
        </a:p>
      </dsp:txBody>
      <dsp:txXfrm>
        <a:off x="0" y="68263"/>
        <a:ext cx="6781800" cy="1187450"/>
      </dsp:txXfrm>
    </dsp:sp>
    <dsp:sp modelId="{97553C45-932E-B64E-92DD-2B633E7B7105}">
      <dsp:nvSpPr>
        <dsp:cNvPr id="4" name="矩形 3"/>
        <dsp:cNvSpPr/>
      </dsp:nvSpPr>
      <dsp:spPr bwMode="white">
        <a:xfrm>
          <a:off x="0" y="1255713"/>
          <a:ext cx="6781800" cy="1698625"/>
        </a:xfrm>
        <a:prstGeom prst="rect">
          <a:avLst/>
        </a:prstGeom>
        <a:solidFill>
          <a:schemeClr val="bg1"/>
        </a:solidFill>
      </dsp:spPr>
      <dsp:style>
        <a:lnRef idx="1">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nSpc>
              <a:spcPct val="100000"/>
            </a:lnSpc>
            <a:spcBef>
              <a:spcPct val="0"/>
            </a:spcBef>
            <a:spcAft>
              <a:spcPct val="15000"/>
            </a:spcAft>
            <a:buChar char="•"/>
          </a:pPr>
          <a:r>
            <a:rPr lang="en-US" dirty="0" smtClean="0">
              <a:solidFill>
                <a:schemeClr val="dk1"/>
              </a:solidFill>
            </a:rPr>
            <a:t>需要检查消息的完整性时，使用MAC函数对消息重新计算，并将计算结果与存储的MAC码对比。</a:t>
          </a:r>
          <a:endParaRPr lang="en-US" dirty="0" smtClean="0">
            <a:solidFill>
              <a:schemeClr val="dk1"/>
            </a:solidFill>
          </a:endParaRPr>
        </a:p>
        <a:p>
          <a:pPr lvl="1">
            <a:lnSpc>
              <a:spcPct val="100000"/>
            </a:lnSpc>
            <a:spcBef>
              <a:spcPct val="0"/>
            </a:spcBef>
            <a:spcAft>
              <a:spcPct val="15000"/>
            </a:spcAft>
            <a:buChar char="•"/>
          </a:pPr>
          <a:r>
            <a:rPr lang="en-US" dirty="0" smtClean="0">
              <a:solidFill>
                <a:schemeClr val="dk1"/>
              </a:solidFill>
            </a:rPr>
            <a:t>攻击者能对消息进行篡改，但在不知道密钥的情况下不能够计算出与篡改后的消息相匹配的MAC值。</a:t>
          </a:r>
          <a:endParaRPr lang="en-US" dirty="0">
            <a:solidFill>
              <a:schemeClr val="dk1"/>
            </a:solidFill>
          </a:endParaRPr>
        </a:p>
      </dsp:txBody>
      <dsp:txXfrm>
        <a:off x="0" y="1255713"/>
        <a:ext cx="6781800" cy="1698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58200" cy="4867275"/>
        <a:chOff x="0" y="0"/>
        <a:chExt cx="8458200" cy="4867275"/>
      </a:xfrm>
    </dsp:grpSpPr>
    <dsp:sp modelId="{1886384E-7F5E-0C46-B09E-DD5887B1D990}">
      <dsp:nvSpPr>
        <dsp:cNvPr id="3" name="圆角矩形 2"/>
        <dsp:cNvSpPr/>
      </dsp:nvSpPr>
      <dsp:spPr bwMode="white">
        <a:xfrm>
          <a:off x="0" y="0"/>
          <a:ext cx="2685143" cy="4867275"/>
        </a:xfrm>
        <a:prstGeom prst="roundRect">
          <a:avLst>
            <a:gd name="adj" fmla="val 10000"/>
          </a:avLst>
        </a:prstGeom>
        <a:solidFill>
          <a:schemeClr val="bg1"/>
        </a:solidFill>
        <a:effectLst>
          <a:glow rad="101600">
            <a:schemeClr val="accent1">
              <a:alpha val="75000"/>
            </a:schemeClr>
          </a:glow>
          <a:softEdge rad="101600"/>
        </a:effectLst>
      </dsp:spPr>
      <dsp:style>
        <a:lnRef idx="0">
          <a:schemeClr val="accent1"/>
        </a:lnRef>
        <a:fillRef idx="1">
          <a:schemeClr val="accent1">
            <a:tint val="40000"/>
          </a:schemeClr>
        </a:fillRef>
        <a:effectRef idx="2">
          <a:scrgbClr r="0" g="0" b="0"/>
        </a:effectRef>
        <a:fontRef idx="minor"/>
      </dsp:style>
      <dsp:txBody>
        <a:bodyPr vert="horz" wrap="square"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en-US" dirty="0" smtClean="0">
              <a:solidFill>
                <a:schemeClr val="dk1"/>
              </a:solidFill>
            </a:rPr>
            <a:t>产生单向口令文件</a:t>
          </a:r>
          <a:endParaRPr lang="en-US" dirty="0" smtClean="0">
            <a:solidFill>
              <a:schemeClr val="dk1"/>
            </a:solidFill>
          </a:endParaRPr>
        </a:p>
      </dsp:txBody>
      <dsp:txXfrm>
        <a:off x="0" y="0"/>
        <a:ext cx="2685143" cy="4867275"/>
      </dsp:txXfrm>
    </dsp:sp>
    <dsp:sp modelId="{9A5C8B54-E8B9-5144-A712-533FDFDCB980}">
      <dsp:nvSpPr>
        <dsp:cNvPr id="4" name="圆角矩形 3"/>
        <dsp:cNvSpPr/>
      </dsp:nvSpPr>
      <dsp:spPr bwMode="white">
        <a:xfrm>
          <a:off x="268514" y="1460183"/>
          <a:ext cx="2148114" cy="1468874"/>
        </a:xfrm>
        <a:prstGeom prst="roundRect">
          <a:avLst>
            <a:gd name="adj" fmla="val 10000"/>
          </a:avLst>
        </a:prstGeom>
        <a:ln>
          <a:solidFill>
            <a:schemeClr val="tx1"/>
          </a:solidFill>
        </a:ln>
      </dsp:spPr>
      <dsp:style>
        <a:lnRef idx="0">
          <a:schemeClr val="lt1"/>
        </a:lnRef>
        <a:fillRef idx="3">
          <a:schemeClr val="accent1"/>
        </a:fillRef>
        <a:effectRef idx="2">
          <a:scrgbClr r="0" g="0" b="0"/>
        </a:effectRef>
        <a:fontRef idx="minor">
          <a:schemeClr val="lt1"/>
        </a:fontRef>
      </dsp:style>
      <dsp:txBody>
        <a:bodyPr vert="horz" wrap="square" lIns="43180" tIns="32384" rIns="43180" bIns="32384"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US" dirty="0" smtClean="0"/>
            <a:t>当用户输入口令时，操作系统将比对输入口令的Hash值和存储在口令文件中的Hash值</a:t>
          </a:r>
          <a:endParaRPr lang="en-US" dirty="0" smtClean="0"/>
        </a:p>
      </dsp:txBody>
      <dsp:txXfrm>
        <a:off x="268514" y="1460183"/>
        <a:ext cx="2148114" cy="1468874"/>
      </dsp:txXfrm>
    </dsp:sp>
    <dsp:sp modelId="{32190510-28D4-564D-8C61-CA1C4E71FFDA}">
      <dsp:nvSpPr>
        <dsp:cNvPr id="5" name="圆角矩形 4"/>
        <dsp:cNvSpPr/>
      </dsp:nvSpPr>
      <dsp:spPr bwMode="white">
        <a:xfrm>
          <a:off x="268514" y="3155037"/>
          <a:ext cx="2148114" cy="1468874"/>
        </a:xfrm>
        <a:prstGeom prst="roundRect">
          <a:avLst>
            <a:gd name="adj" fmla="val 10000"/>
          </a:avLst>
        </a:prstGeom>
        <a:ln>
          <a:solidFill>
            <a:schemeClr val="tx1"/>
          </a:solidFill>
        </a:ln>
      </dsp:spPr>
      <dsp:style>
        <a:lnRef idx="0">
          <a:schemeClr val="lt1"/>
        </a:lnRef>
        <a:fillRef idx="3">
          <a:schemeClr val="accent1"/>
        </a:fillRef>
        <a:effectRef idx="2">
          <a:scrgbClr r="0" g="0" b="0"/>
        </a:effectRef>
        <a:fontRef idx="minor">
          <a:schemeClr val="lt1"/>
        </a:fontRef>
      </dsp:style>
      <dsp:txBody>
        <a:bodyPr vert="horz" wrap="square" lIns="43180" tIns="32384" rIns="43180" bIns="32384"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US" dirty="0" smtClean="0"/>
            <a:t>在大多数操作系统中都使用了这样的口令保护机制。</a:t>
          </a:r>
          <a:endParaRPr lang="en-US" dirty="0" smtClean="0"/>
        </a:p>
      </dsp:txBody>
      <dsp:txXfrm>
        <a:off x="268514" y="3155037"/>
        <a:ext cx="2148114" cy="1468874"/>
      </dsp:txXfrm>
    </dsp:sp>
    <dsp:sp modelId="{5F7C211F-9042-EC43-AF3D-42BEB42044BE}">
      <dsp:nvSpPr>
        <dsp:cNvPr id="6" name="圆角矩形 5"/>
        <dsp:cNvSpPr/>
      </dsp:nvSpPr>
      <dsp:spPr bwMode="white">
        <a:xfrm>
          <a:off x="2886529" y="0"/>
          <a:ext cx="2685143" cy="4867275"/>
        </a:xfrm>
        <a:prstGeom prst="roundRect">
          <a:avLst>
            <a:gd name="adj" fmla="val 10000"/>
          </a:avLst>
        </a:prstGeom>
        <a:solidFill>
          <a:schemeClr val="bg1"/>
        </a:solidFill>
        <a:effectLst>
          <a:glow rad="101600">
            <a:schemeClr val="accent1">
              <a:alpha val="75000"/>
            </a:schemeClr>
          </a:glow>
          <a:softEdge rad="63500"/>
        </a:effectLst>
      </dsp:spPr>
      <dsp:style>
        <a:lnRef idx="0">
          <a:schemeClr val="accent1"/>
        </a:lnRef>
        <a:fillRef idx="1">
          <a:schemeClr val="accent1">
            <a:tint val="40000"/>
          </a:schemeClr>
        </a:fillRef>
        <a:effectRef idx="2">
          <a:scrgbClr r="0" g="0" b="0"/>
        </a:effectRef>
        <a:fontRef idx="minor"/>
      </dsp:style>
      <dsp:txBody>
        <a:bodyPr vert="horz" wrap="square"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en-US" dirty="0" smtClean="0">
              <a:solidFill>
                <a:schemeClr val="dk1"/>
              </a:solidFill>
            </a:rPr>
            <a:t>用于入侵检测和病毒检测</a:t>
          </a:r>
          <a:endParaRPr lang="en-US" dirty="0" smtClean="0">
            <a:solidFill>
              <a:schemeClr val="dk1"/>
            </a:solidFill>
          </a:endParaRPr>
        </a:p>
      </dsp:txBody>
      <dsp:txXfrm>
        <a:off x="2886529" y="0"/>
        <a:ext cx="2685143" cy="4867275"/>
      </dsp:txXfrm>
    </dsp:sp>
    <dsp:sp modelId="{BB3EEB33-7471-3C46-B37A-EF306DC11397}">
      <dsp:nvSpPr>
        <dsp:cNvPr id="7" name="圆角矩形 6"/>
        <dsp:cNvSpPr/>
      </dsp:nvSpPr>
      <dsp:spPr bwMode="white">
        <a:xfrm>
          <a:off x="3155043" y="1460183"/>
          <a:ext cx="2148114" cy="956476"/>
        </a:xfrm>
        <a:prstGeom prst="roundRect">
          <a:avLst>
            <a:gd name="adj" fmla="val 10000"/>
          </a:avLst>
        </a:prstGeom>
        <a:ln>
          <a:solidFill>
            <a:schemeClr val="tx1"/>
          </a:solidFill>
        </a:ln>
      </dsp:spPr>
      <dsp:style>
        <a:lnRef idx="0">
          <a:schemeClr val="lt1"/>
        </a:lnRef>
        <a:fillRef idx="3">
          <a:schemeClr val="accent1"/>
        </a:fillRef>
        <a:effectRef idx="2">
          <a:scrgbClr r="0" g="0" b="0"/>
        </a:effectRef>
        <a:fontRef idx="minor">
          <a:schemeClr val="lt1"/>
        </a:fontRef>
      </dsp:style>
      <dsp:txBody>
        <a:bodyPr vert="horz" wrap="square" lIns="43180" tIns="32384" rIns="43180" bIns="32384"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US" dirty="0" smtClean="0"/>
            <a:t>将每个文件的Hash值H(F)存储在安全系统中</a:t>
          </a:r>
          <a:endParaRPr lang="en-US" dirty="0" smtClean="0"/>
        </a:p>
      </dsp:txBody>
      <dsp:txXfrm>
        <a:off x="3155043" y="1460183"/>
        <a:ext cx="2148114" cy="956476"/>
      </dsp:txXfrm>
    </dsp:sp>
    <dsp:sp modelId="{219509CF-B5AE-824C-9137-90FE6F41E897}">
      <dsp:nvSpPr>
        <dsp:cNvPr id="8" name="圆角矩形 7"/>
        <dsp:cNvSpPr/>
      </dsp:nvSpPr>
      <dsp:spPr bwMode="white">
        <a:xfrm>
          <a:off x="3155043" y="2563809"/>
          <a:ext cx="2148114" cy="956476"/>
        </a:xfrm>
        <a:prstGeom prst="roundRect">
          <a:avLst>
            <a:gd name="adj" fmla="val 10000"/>
          </a:avLst>
        </a:prstGeom>
        <a:ln>
          <a:solidFill>
            <a:schemeClr val="tx1"/>
          </a:solidFill>
        </a:ln>
      </dsp:spPr>
      <dsp:style>
        <a:lnRef idx="0">
          <a:schemeClr val="lt1"/>
        </a:lnRef>
        <a:fillRef idx="3">
          <a:schemeClr val="accent1"/>
        </a:fillRef>
        <a:effectRef idx="2">
          <a:scrgbClr r="0" g="0" b="0"/>
        </a:effectRef>
        <a:fontRef idx="minor">
          <a:schemeClr val="lt1"/>
        </a:fontRef>
      </dsp:style>
      <dsp:txBody>
        <a:bodyPr vert="horz" wrap="square" lIns="43180" tIns="32384" rIns="43180" bIns="32384"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US" smtClean="0"/>
            <a:t>随后就能够通过重新计算H(F)来判断文件是否被修改过</a:t>
          </a:r>
          <a:endParaRPr lang="en-US" smtClean="0"/>
        </a:p>
      </dsp:txBody>
      <dsp:txXfrm>
        <a:off x="3155043" y="2563809"/>
        <a:ext cx="2148114" cy="956476"/>
      </dsp:txXfrm>
    </dsp:sp>
    <dsp:sp modelId="{BF798EF9-4DCA-F54E-BDEA-C66F968FF331}">
      <dsp:nvSpPr>
        <dsp:cNvPr id="9" name="圆角矩形 8"/>
        <dsp:cNvSpPr/>
      </dsp:nvSpPr>
      <dsp:spPr bwMode="white">
        <a:xfrm>
          <a:off x="3155043" y="3667435"/>
          <a:ext cx="2148114" cy="956476"/>
        </a:xfrm>
        <a:prstGeom prst="roundRect">
          <a:avLst>
            <a:gd name="adj" fmla="val 10000"/>
          </a:avLst>
        </a:prstGeom>
        <a:ln>
          <a:solidFill>
            <a:schemeClr val="tx1"/>
          </a:solidFill>
        </a:ln>
      </dsp:spPr>
      <dsp:style>
        <a:lnRef idx="0">
          <a:schemeClr val="lt1"/>
        </a:lnRef>
        <a:fillRef idx="3">
          <a:schemeClr val="accent1"/>
        </a:fillRef>
        <a:effectRef idx="2">
          <a:scrgbClr r="0" g="0" b="0"/>
        </a:effectRef>
        <a:fontRef idx="minor">
          <a:schemeClr val="lt1"/>
        </a:fontRef>
      </dsp:style>
      <dsp:txBody>
        <a:bodyPr vert="horz" wrap="square" lIns="43180" tIns="32384" rIns="43180" bIns="32384"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US" dirty="0" smtClean="0"/>
            <a:t>入侵者只能够改变F,而不能够改变H(F)</a:t>
          </a:r>
          <a:endParaRPr lang="en-US" dirty="0" smtClean="0"/>
        </a:p>
      </dsp:txBody>
      <dsp:txXfrm>
        <a:off x="3155043" y="3667435"/>
        <a:ext cx="2148114" cy="956476"/>
      </dsp:txXfrm>
    </dsp:sp>
    <dsp:sp modelId="{847E0B4C-8D6D-244B-9DA0-6F3A49E346AE}">
      <dsp:nvSpPr>
        <dsp:cNvPr id="10" name="圆角矩形 9"/>
        <dsp:cNvSpPr/>
      </dsp:nvSpPr>
      <dsp:spPr bwMode="white">
        <a:xfrm>
          <a:off x="5773057" y="0"/>
          <a:ext cx="2685143" cy="4867275"/>
        </a:xfrm>
        <a:prstGeom prst="roundRect">
          <a:avLst>
            <a:gd name="adj" fmla="val 10000"/>
          </a:avLst>
        </a:prstGeom>
        <a:solidFill>
          <a:schemeClr val="bg1"/>
        </a:solidFill>
        <a:effectLst>
          <a:glow rad="101600">
            <a:schemeClr val="accent1">
              <a:alpha val="75000"/>
            </a:schemeClr>
          </a:glow>
          <a:softEdge rad="63500"/>
        </a:effectLst>
      </dsp:spPr>
      <dsp:style>
        <a:lnRef idx="0">
          <a:schemeClr val="accent1"/>
        </a:lnRef>
        <a:fillRef idx="1">
          <a:schemeClr val="accent1">
            <a:tint val="40000"/>
          </a:schemeClr>
        </a:fillRef>
        <a:effectRef idx="2">
          <a:scrgbClr r="0" g="0" b="0"/>
        </a:effectRef>
        <a:fontRef idx="minor"/>
      </dsp:style>
      <dsp:txBody>
        <a:bodyPr vert="horz" wrap="square"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en-US" dirty="0" smtClean="0">
              <a:solidFill>
                <a:schemeClr val="dk1"/>
              </a:solidFill>
            </a:rPr>
            <a:t>密码学Hash函数能够用于构建随机函数(PRF)或用做伪随机数发生器(PRNG)</a:t>
          </a:r>
          <a:endParaRPr lang="en-US" dirty="0" smtClean="0">
            <a:solidFill>
              <a:schemeClr val="dk1"/>
            </a:solidFill>
          </a:endParaRPr>
        </a:p>
      </dsp:txBody>
      <dsp:txXfrm>
        <a:off x="5773057" y="0"/>
        <a:ext cx="2685143" cy="4867275"/>
      </dsp:txXfrm>
    </dsp:sp>
    <dsp:sp modelId="{2DE2D63A-4790-D443-97AA-DFD90F9B3785}">
      <dsp:nvSpPr>
        <dsp:cNvPr id="11" name="圆角矩形 10"/>
        <dsp:cNvSpPr/>
      </dsp:nvSpPr>
      <dsp:spPr bwMode="white">
        <a:xfrm>
          <a:off x="6041571" y="1460183"/>
          <a:ext cx="2148114" cy="3163729"/>
        </a:xfrm>
        <a:prstGeom prst="roundRect">
          <a:avLst>
            <a:gd name="adj" fmla="val 10000"/>
          </a:avLst>
        </a:prstGeom>
        <a:ln>
          <a:solidFill>
            <a:schemeClr val="tx1"/>
          </a:solidFill>
        </a:ln>
      </dsp:spPr>
      <dsp:style>
        <a:lnRef idx="0">
          <a:schemeClr val="lt1"/>
        </a:lnRef>
        <a:fillRef idx="3">
          <a:schemeClr val="accent1"/>
        </a:fillRef>
        <a:effectRef idx="2">
          <a:scrgbClr r="0" g="0" b="0"/>
        </a:effectRef>
        <a:fontRef idx="minor">
          <a:schemeClr val="lt1"/>
        </a:fontRef>
      </dsp:style>
      <dsp:txBody>
        <a:bodyPr vert="horz" wrap="square" lIns="43180" tIns="32384" rIns="43180" bIns="32384"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rtl="0">
            <a:lnSpc>
              <a:spcPct val="100000"/>
            </a:lnSpc>
            <a:spcBef>
              <a:spcPct val="0"/>
            </a:spcBef>
            <a:spcAft>
              <a:spcPct val="35000"/>
            </a:spcAft>
          </a:pPr>
          <a:r>
            <a:rPr lang="en-US" dirty="0" smtClean="0"/>
            <a:t>基于Hash函数的PRF可用于对称密码中的密钥产生</a:t>
          </a:r>
          <a:endParaRPr lang="en-US" dirty="0" smtClean="0"/>
        </a:p>
      </dsp:txBody>
      <dsp:txXfrm>
        <a:off x="6041571" y="1460183"/>
        <a:ext cx="2148114" cy="316372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rSet qsTypeId="urn:microsoft.com/office/officeart/2005/8/quickstyle/simple5"/>
        </dgm:pt>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 modelId="6" srcId="0" destId="3" srcOrd="2"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r>
              <a:rPr lang="en-US" dirty="0" smtClean="0">
                <a:solidFill>
                  <a:schemeClr val="tx1"/>
                </a:solidFill>
                <a:uFillTx/>
                <a:latin typeface="Calibri" panose="020F0502020204030204" charset="0"/>
                <a:ea typeface="微软雅黑" panose="020B0503020204020204" charset="-122"/>
              </a:rPr>
              <a:t>DH</a:t>
            </a:r>
            <a:r>
              <a:rPr lang="zh-CN" altLang="en-US" dirty="0" smtClean="0">
                <a:solidFill>
                  <a:schemeClr val="tx1"/>
                </a:solidFill>
                <a:uFillTx/>
                <a:latin typeface="Calibri" panose="020F0502020204030204" charset="0"/>
                <a:ea typeface="微软雅黑" panose="020B0503020204020204" charset="-122"/>
              </a:rPr>
              <a:t>密钥交换不能抵抗中间人攻击。</a:t>
            </a:r>
            <a:endParaRPr dirty="0" smtClean="0">
              <a:solidFill>
                <a:schemeClr val="tx1"/>
              </a:solidFill>
              <a:uFillTx/>
              <a:latin typeface="Calibri" panose="020F0502020204030204" charset="0"/>
              <a:ea typeface="微软雅黑" panose="020B0503020204020204" charset="-122"/>
            </a:endParaRP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与 Diffie-Hellman一样 ，EIGamal 的系统用户也是共同选择一个素数q,和它的本原根a  </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，模</a:t>
            </a:r>
            <a:r>
              <a:rPr lang="en-US" altLang="zh-CN">
                <a:sym typeface="+mn-ea"/>
              </a:rPr>
              <a:t>P</a:t>
            </a:r>
            <a:r>
              <a:rPr lang="zh-CN" altLang="en-US">
                <a:sym typeface="+mn-ea"/>
              </a:rPr>
              <a:t>的有限域。</a:t>
            </a:r>
            <a:endParaRPr lang="zh-CN" altLang="en-US">
              <a:sym typeface="+mn-ea"/>
            </a:endParaRPr>
          </a:p>
          <a:p>
            <a:r>
              <a:rPr lang="zh-CN" altLang="en-US">
                <a:sym typeface="+mn-ea"/>
              </a:rPr>
              <a:t>目前对于这种离散对数的复杂性求解难度是亚指数。目前要求</a:t>
            </a:r>
            <a:r>
              <a:rPr lang="zh-CN" altLang="en-US" dirty="0" smtClean="0">
                <a:uFillTx/>
                <a:latin typeface="Calibri" panose="020F0502020204030204" charset="0"/>
                <a:ea typeface="微软雅黑" panose="020B0503020204020204" charset="-122"/>
                <a:sym typeface="+mn-ea"/>
              </a:rPr>
              <a:t>为了安全p应为150位以上的十进制数，但在实际应用中一般在</a:t>
            </a:r>
            <a:r>
              <a:rPr lang="en-US" altLang="zh-CN" dirty="0" smtClean="0">
                <a:uFillTx/>
                <a:latin typeface="Calibri" panose="020F0502020204030204" charset="0"/>
                <a:ea typeface="微软雅黑" panose="020B0503020204020204" charset="-122"/>
                <a:sym typeface="+mn-ea"/>
              </a:rPr>
              <a:t>200</a:t>
            </a:r>
            <a:r>
              <a:rPr lang="zh-CN" altLang="en-US" dirty="0" smtClean="0">
                <a:uFillTx/>
                <a:latin typeface="Calibri" panose="020F0502020204030204" charset="0"/>
                <a:ea typeface="微软雅黑" panose="020B0503020204020204" charset="-122"/>
                <a:sym typeface="+mn-ea"/>
              </a:rPr>
              <a:t>位以上。</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消息认证是用来验证消息完整性的一种机制或服务。</a:t>
            </a:r>
            <a:endParaRPr lang="zh-CN" altLang="en-US"/>
          </a:p>
          <a:p>
            <a:r>
              <a:rPr lang="zh-CN" altLang="en-US"/>
              <a:t>消息认证确保收到的数据确实和发送时的一样(即没有修改、插入、删除或重放)。此外，通常还要求消息认证机制确保发送方声称的身份是真实有效的。当Hash函数用于提供消息认证功能时，Hash函数值通常称为消息摘要①。</a:t>
            </a:r>
            <a:endParaRPr lang="zh-CN" altLang="en-US"/>
          </a:p>
          <a:p>
            <a:r>
              <a:rPr lang="zh-CN" altLang="en-US"/>
              <a:t>消息认证中使用Hash函数的本质如下：</a:t>
            </a:r>
            <a:endParaRPr lang="zh-CN" altLang="en-US"/>
          </a:p>
          <a:p>
            <a:r>
              <a:rPr lang="zh-CN" altLang="en-US"/>
              <a:t>发送者根据待发送的消息使用该函数计算一组Hash值，然后将Hash值和消息一起发送过去。接收者收到后对于消息执行同样的Hash计算，并将结果与收到的Hash值进行对比。如果不匹配，则接收者推断出消息(当然也可能是Hash值)遭受了篡改[参见图11.2(a)]。</a:t>
            </a:r>
            <a:endParaRPr lang="zh-CN" altLang="en-US"/>
          </a:p>
          <a:p>
            <a:endParaRPr lang="zh-CN" altLang="en-US"/>
          </a:p>
          <a:p>
            <a:r>
              <a:rPr lang="zh-CN" altLang="en-US"/>
              <a:t>Hash函数的运算结果必须通过安全的方式传输。因为Hash函数必须得到保护，使得如果攻击者篡改或替换消息的话，对于攻击者不能够轻易地同时对Hash值进行修改以蒙骗接收者。这种类</a:t>
            </a:r>
            <a:endParaRPr lang="zh-CN" altLang="en-US"/>
          </a:p>
          <a:p>
            <a:r>
              <a:rPr lang="zh-CN" altLang="en-US"/>
              <a:t>型的攻击如图11.2(b)所示。该例中，Alice传输消息时附上数据的Hash值。Darth拦截了该消息，篡改或替换其中的数据，然后重新计算Hash值并附在后面。Bob收到篡改后的数据块以及新的Hash值，未能发现消息已经被篡改。为了防止该类攻击，由Alice生成的Hash值必须得到保护。</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Hash码能够通过如下各种不同的方法用于提供消息认证。</a:t>
            </a:r>
            <a:endParaRPr lang="zh-CN" altLang="en-US"/>
          </a:p>
          <a:p>
            <a:r>
              <a:rPr lang="zh-CN" altLang="en-US"/>
              <a:t>(a)使用对称密码算法E加密消息和Hash码。因为只有A和B共享密钥K,所以消息必然是发自A处，并且未被更改过。这里附加的Hash码提供了实现认证功能的结构。因为对于整个消息以及Hash码都使用了加密，保密性也被提供。</a:t>
            </a:r>
            <a:endParaRPr lang="zh-CN" altLang="en-US"/>
          </a:p>
          <a:p>
            <a:r>
              <a:rPr lang="zh-CN" altLang="en-US"/>
              <a:t>(b)使用对称密码算法E只对Hash码进行加密。对于无须保密性的应用，这种方案减少了加解密操作的负担。</a:t>
            </a:r>
            <a:endParaRPr lang="zh-CN" altLang="en-US"/>
          </a:p>
          <a:p>
            <a:r>
              <a:rPr lang="zh-CN" altLang="en-US"/>
              <a:t>(c)不使用加密算法，仅使用Hash函数也能够实现消息认证。该方案假设通信双方共享相同的秘密值S。发送方A将消息M和秘密值S串联后计算其Hash值，并将得到的Hash值附在消息M后发送。因为接收方B同时掌握S,所以能够重新计算该Hash值进行验证。由于秘密值S本身并没有在信道传送，攻击者不能够对在信道上拦截的消息进行修改，进而也不能制作假消息。</a:t>
            </a:r>
            <a:endParaRPr lang="zh-CN" altLang="en-US"/>
          </a:p>
          <a:p>
            <a:r>
              <a:rPr lang="zh-CN" altLang="en-US"/>
              <a:t>(d)通过将整个消息和Hash值加密，能够在方案(c)的基础上提供保密性。</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a)使用发送方的私钥，利用公钥密码算法仅对Hash码进行加密。与图11.3(b)一样，这种方法可提供认证；由于只有发送方可以产生加密后的Hash码，所以这种方法也提供了数字签名，事实上，这就是数字签名技术的本质所在。</a:t>
            </a:r>
            <a:endParaRPr lang="zh-CN" altLang="en-US"/>
          </a:p>
          <a:p>
            <a:r>
              <a:rPr lang="zh-CN" altLang="en-US"/>
              <a:t>(b)若既希望保证保密性又希望有数字签名，则先用发送方的私钥对Hash码加密，再用对称密码中的密钥对消息和公钥算法加密结果进行加密，这种技术比较常用。</a:t>
            </a:r>
            <a:r>
              <a:rPr lang="en-US" altLang="zh-CN"/>
              <a:t>K</a:t>
            </a:r>
            <a:r>
              <a:rPr lang="zh-CN" altLang="en-US"/>
              <a:t>是对称</a:t>
            </a:r>
            <a:r>
              <a:rPr lang="zh-CN" altLang="en-US"/>
              <a:t>密钥</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图11.6展示了三个安全特性(抗原像攻击、抗弱碰撞攻击、抗强碰撞攻击)之间的联系。</a:t>
            </a:r>
            <a:endParaRPr lang="zh-CN" altLang="en-US">
              <a:sym typeface="+mn-ea"/>
            </a:endParaRPr>
          </a:p>
          <a:p>
            <a:r>
              <a:rPr lang="zh-CN" altLang="en-US">
                <a:sym typeface="+mn-ea"/>
              </a:rPr>
              <a:t>一个函数如果是抗强碰撞的，那么也同时是抗弱碰撞的，但反之则不一定成立。</a:t>
            </a:r>
            <a:endParaRPr lang="zh-CN" altLang="en-US">
              <a:sym typeface="+mn-ea"/>
            </a:endParaRPr>
          </a:p>
          <a:p>
            <a:r>
              <a:rPr lang="zh-CN" altLang="en-US">
                <a:sym typeface="+mn-ea"/>
              </a:rPr>
              <a:t>一个函数可以是抗强碰撞的，但不一定是抗原像攻击</a:t>
            </a:r>
            <a:r>
              <a:rPr lang="en-US" altLang="zh-CN">
                <a:sym typeface="+mn-ea"/>
              </a:rPr>
              <a:t>(</a:t>
            </a:r>
            <a:r>
              <a:rPr lang="zh-CN" altLang="en-US">
                <a:sym typeface="+mn-ea"/>
              </a:rPr>
              <a:t>单向性）的，反之亦然。</a:t>
            </a:r>
            <a:endParaRPr lang="zh-CN" altLang="en-US">
              <a:sym typeface="+mn-ea"/>
            </a:endParaRPr>
          </a:p>
          <a:p>
            <a:r>
              <a:rPr lang="zh-CN" altLang="en-US">
                <a:sym typeface="+mn-ea"/>
              </a:rPr>
              <a:t>一个函数可以是抗弱碰撞的，但不一定是抗原像攻击（</a:t>
            </a:r>
            <a:r>
              <a:rPr lang="zh-CN" altLang="en-US">
                <a:sym typeface="+mn-ea"/>
              </a:rPr>
              <a:t>单向性）的，反之亦然。</a:t>
            </a:r>
            <a:endParaRPr lang="zh-CN" altLang="en-US"/>
          </a:p>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表11.2展示了在不同应用环境下Hash函数的安全性需求。</a:t>
            </a:r>
            <a:endParaRPr lang="zh-CN" altLang="en-US"/>
          </a:p>
          <a:p>
            <a:r>
              <a:rPr lang="zh-CN" altLang="en-US"/>
              <a:t>在</a:t>
            </a:r>
            <a:r>
              <a:rPr lang="en-US" altLang="zh-CN"/>
              <a:t>Hash</a:t>
            </a:r>
            <a:r>
              <a:rPr lang="zh-CN" altLang="en-US"/>
              <a:t>和数字签名场景下：要求</a:t>
            </a:r>
            <a:r>
              <a:rPr lang="en-US" altLang="zh-CN"/>
              <a:t>Hash</a:t>
            </a:r>
            <a:r>
              <a:rPr lang="zh-CN" altLang="en-US"/>
              <a:t>函数需要具有抵抗上述三种攻击的</a:t>
            </a:r>
            <a:r>
              <a:rPr lang="zh-CN" altLang="en-US"/>
              <a:t>能力</a:t>
            </a:r>
            <a:endParaRPr lang="zh-CN" altLang="en-US"/>
          </a:p>
          <a:p>
            <a:r>
              <a:rPr lang="zh-CN" altLang="en-US"/>
              <a:t>入侵检测和病毒检测场景下，要求抗弱碰撞攻击，就是我们只需要保证再针对病毒或者入侵行为做</a:t>
            </a:r>
            <a:r>
              <a:rPr lang="en-US" altLang="zh-CN"/>
              <a:t>Hash</a:t>
            </a:r>
            <a:r>
              <a:rPr lang="zh-CN" altLang="en-US"/>
              <a:t>记录的时候，不会用冲突</a:t>
            </a:r>
            <a:r>
              <a:rPr lang="zh-CN" altLang="en-US"/>
              <a:t>即可。</a:t>
            </a:r>
            <a:endParaRPr lang="zh-CN" altLang="en-US"/>
          </a:p>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当使用</a:t>
            </a:r>
            <a:r>
              <a:rPr lang="en-US" altLang="zh-CN"/>
              <a:t>64</a:t>
            </a:r>
            <a:r>
              <a:rPr lang="zh-CN" altLang="en-US"/>
              <a:t>位</a:t>
            </a:r>
            <a:r>
              <a:rPr lang="en-US" altLang="zh-CN"/>
              <a:t>Hash</a:t>
            </a:r>
            <a:r>
              <a:rPr lang="zh-CN" altLang="en-US"/>
              <a:t>码的时候，所需的代价数量级为</a:t>
            </a:r>
            <a:r>
              <a:rPr lang="en-US" altLang="zh-CN"/>
              <a:t>2</a:t>
            </a:r>
            <a:r>
              <a:rPr lang="zh-CN" altLang="en-US"/>
              <a:t>的</a:t>
            </a:r>
            <a:r>
              <a:rPr lang="en-US" altLang="zh-CN"/>
              <a:t>32</a:t>
            </a:r>
            <a:r>
              <a:rPr lang="zh-CN" altLang="en-US"/>
              <a:t>次方。</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概率不小于</a:t>
            </a:r>
            <a:r>
              <a:rPr lang="en-US" altLang="zh-CN"/>
              <a:t>0.5</a:t>
            </a:r>
            <a:r>
              <a:rPr lang="zh-CN" altLang="en-US"/>
              <a:t>，不要求概率是</a:t>
            </a:r>
            <a:r>
              <a:rPr lang="en-US" altLang="zh-CN"/>
              <a:t>1.</a:t>
            </a:r>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a:p>
            <a:r>
              <a:rPr lang="zh-CN" altLang="en-US"/>
              <a:t>抗弱碰撞</a:t>
            </a:r>
            <a:r>
              <a:rPr lang="en-US" altLang="zh-CN"/>
              <a:t>o(2</a:t>
            </a:r>
            <a:r>
              <a:rPr lang="zh-CN" altLang="en-US"/>
              <a:t>的</a:t>
            </a:r>
            <a:r>
              <a:rPr lang="en-US" altLang="zh-CN"/>
              <a:t>n</a:t>
            </a:r>
            <a:r>
              <a:rPr lang="zh-CN" altLang="en-US"/>
              <a:t>）</a:t>
            </a:r>
            <a:r>
              <a:rPr lang="zh-CN" altLang="en-US"/>
              <a:t>次方</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a:p>
            <a:r>
              <a:rPr lang="en-US" altLang="zh-CN"/>
              <a:t>生日悖论是一个经典的数学问题，它考虑的是在一组特定数量的人中至少有两个人有相同生日的概率。这里我们假设一年有365天，不考虑闰年。</a:t>
            </a:r>
            <a:endParaRPr lang="en-US" altLang="zh-CN"/>
          </a:p>
          <a:p>
            <a:r>
              <a:rPr lang="en-US" altLang="zh-CN"/>
              <a:t>要计算至少两个人生日相同的概率，我们可以先计算没有任何两个人生日相同的概率，然后用1减去这个概率得到至少两个人生日相同的概率。</a:t>
            </a:r>
            <a:endParaRPr lang="en-US" altLang="zh-CN"/>
          </a:p>
          <a:p>
            <a:r>
              <a:rPr lang="zh-CN" altLang="en-US"/>
              <a:t>抗强碰撞</a:t>
            </a:r>
            <a:r>
              <a:rPr lang="en-US" altLang="zh-CN"/>
              <a:t>o(2</a:t>
            </a:r>
            <a:r>
              <a:rPr lang="zh-CN" altLang="en-US"/>
              <a:t>的</a:t>
            </a:r>
            <a:r>
              <a:rPr lang="en-US" altLang="zh-CN"/>
              <a:t>n/2)</a:t>
            </a:r>
            <a:r>
              <a:rPr lang="zh-CN" altLang="en-US"/>
              <a:t>次方</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主处理中一般包含压缩</a:t>
            </a:r>
            <a:r>
              <a:rPr lang="zh-CN" altLang="en-US"/>
              <a:t>函数。</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主处理中一般包含压缩</a:t>
            </a:r>
            <a:r>
              <a:rPr lang="zh-CN" altLang="en-US"/>
              <a:t>函数。</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主处理中一般包含压缩</a:t>
            </a:r>
            <a:r>
              <a:rPr lang="zh-CN" altLang="en-US"/>
              <a:t>函数。</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1" fontAlgn="auto">
              <a:lnSpc>
                <a:spcPct val="110000"/>
              </a:lnSpc>
              <a:spcBef>
                <a:spcPts val="600"/>
              </a:spcBef>
              <a:spcAft>
                <a:spcPts val="600"/>
              </a:spcAft>
              <a:buFont typeface="Arial" panose="020B0604020202020204" pitchFamily="34" charset="0"/>
              <a:buChar char="•"/>
            </a:pPr>
            <a:r>
              <a:rPr lang="en-US" altLang="zh-CN" dirty="0" smtClean="0">
                <a:uFillTx/>
                <a:latin typeface="微软雅黑" panose="020B0503020204020204" charset="-122"/>
                <a:ea typeface="微软雅黑" panose="020B0503020204020204" charset="-122"/>
                <a:cs typeface="微软雅黑" panose="020B0503020204020204" charset="-122"/>
                <a:sym typeface="+mn-ea"/>
              </a:rPr>
              <a:t>BLK </a:t>
            </a:r>
            <a:r>
              <a:rPr lang="zh-CN" altLang="en-US" dirty="0" smtClean="0">
                <a:uFillTx/>
                <a:latin typeface="微软雅黑" panose="020B0503020204020204" charset="-122"/>
                <a:ea typeface="微软雅黑" panose="020B0503020204020204" charset="-122"/>
                <a:cs typeface="微软雅黑" panose="020B0503020204020204" charset="-122"/>
                <a:sym typeface="+mn-ea"/>
              </a:rPr>
              <a:t>就是</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当前的</a:t>
            </a:r>
            <a:r>
              <a:rPr lang="en-US" altLang="zh-CN" dirty="0" smtClean="0">
                <a:uFillTx/>
                <a:latin typeface="微软雅黑" panose="020B0503020204020204" charset="-122"/>
                <a:ea typeface="微软雅黑" panose="020B0503020204020204" charset="-122"/>
                <a:cs typeface="微软雅黑" panose="020B0503020204020204" charset="-122"/>
                <a:sym typeface="+mn-ea"/>
              </a:rPr>
              <a:t> 512 </a:t>
            </a:r>
            <a:r>
              <a:rPr lang="zh-CN" altLang="en-US" dirty="0" smtClean="0">
                <a:uFillTx/>
                <a:latin typeface="微软雅黑" panose="020B0503020204020204" charset="-122"/>
                <a:ea typeface="微软雅黑" panose="020B0503020204020204" charset="-122"/>
                <a:cs typeface="微软雅黑" panose="020B0503020204020204" charset="-122"/>
                <a:sym typeface="+mn-ea"/>
              </a:rPr>
              <a:t>位消息分组块，即一个消息块（</a:t>
            </a:r>
            <a:r>
              <a:rPr lang="en-US" altLang="zh-CN" dirty="0" smtClean="0">
                <a:uFillTx/>
                <a:latin typeface="微软雅黑" panose="020B0503020204020204" charset="-122"/>
                <a:ea typeface="微软雅黑" panose="020B0503020204020204" charset="-122"/>
                <a:cs typeface="微软雅黑" panose="020B0503020204020204" charset="-122"/>
                <a:sym typeface="+mn-ea"/>
              </a:rPr>
              <a:t>Message Block</a:t>
            </a:r>
            <a:r>
              <a:rPr lang="zh-CN" altLang="en-US" dirty="0" smtClean="0">
                <a:uFillTx/>
                <a:latin typeface="微软雅黑" panose="020B0503020204020204" charset="-122"/>
                <a:ea typeface="微软雅黑" panose="020B0503020204020204" charset="-122"/>
                <a:cs typeface="微软雅黑" panose="020B0503020204020204" charset="-122"/>
                <a:sym typeface="+mn-ea"/>
              </a:rPr>
              <a:t>）</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它由四层运算（每层迭代20步）组成，四层的运算结构相 同。</a:t>
            </a:r>
            <a:endParaRPr lang="zh-CN" altLang="en-US"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每轮的输入是当前要处理的512位的分组BLK和160位缓冲区 ABCDE的内容，每轮都对ABCDE的内容更新，而且每轮使 用的逻辑函数不同，分别为f1, f2, f3和f4。</a:t>
            </a:r>
            <a:endParaRPr lang="zh-CN" altLang="en-US"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第四轮的输出与第一轮的输入相加得到压缩函数的输出。</a:t>
            </a:r>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主处理中一般包含压缩</a:t>
            </a:r>
            <a:r>
              <a:rPr lang="zh-CN" altLang="en-US"/>
              <a:t>函数。</a:t>
            </a:r>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主处理中一般包含压缩</a:t>
            </a:r>
            <a:r>
              <a:rPr lang="zh-CN" altLang="en-US"/>
              <a:t>函数。</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主处理中一般包含压缩</a:t>
            </a:r>
            <a:r>
              <a:rPr lang="zh-CN" altLang="en-US"/>
              <a:t>函数。</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●步骤1:附加填充位 填充消息使其长度模1024与896同余[即长度=896(mod 1024)],即使消息已经满足上述长度要求，仍然需要进行填充，因此填充位数在1～1024之间。填充由一个1和后续的0组成。</a:t>
            </a:r>
            <a:endParaRPr lang="zh-CN" altLang="en-US"/>
          </a:p>
          <a:p>
            <a:r>
              <a:rPr lang="zh-CN" altLang="en-US"/>
              <a:t>●步骤2:附加长度 在消息后附加一个128位的块，将其视为128位的无符号整数(最高有效字节在前),它包含填充前消息的长度。</a:t>
            </a:r>
            <a:endParaRPr lang="zh-CN" altLang="en-US"/>
          </a:p>
          <a:p>
            <a:r>
              <a:rPr lang="zh-CN" altLang="en-US"/>
              <a:t>前两步的结果是产生了一个长度为1024整数倍的消息。图11.9中，扩展的消息被表示为一串长度为1024位的消息分组Mj,M?,…,My,因此扩展消息的长度为N×1024位。</a:t>
            </a:r>
            <a:endParaRPr lang="zh-CN" altLang="en-US"/>
          </a:p>
          <a:p>
            <a:r>
              <a:rPr lang="zh-CN" altLang="en-US"/>
              <a:t>●步骤3:初始化Hash缓冲区Hash函数的中间结果和最终结果保存于512位的缓冲区中，缓冲区用8个64位的寄存器(a,b,c,d,e,f,g,h)表示，并将这些寄存器初始化为下列64位的整数(十六进制值):</a:t>
            </a:r>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CH</a:t>
            </a:r>
            <a:r>
              <a:rPr lang="zh-CN" altLang="en-US"/>
              <a:t>为条件选择</a:t>
            </a:r>
            <a:r>
              <a:rPr lang="zh-CN" altLang="en-US"/>
              <a:t>运算</a:t>
            </a:r>
            <a:endParaRPr lang="zh-CN" altLang="en-US"/>
          </a:p>
          <a:p>
            <a:r>
              <a:rPr lang="en-US" altLang="zh-CN"/>
              <a:t>Maj</a:t>
            </a:r>
            <a:r>
              <a:rPr lang="zh-CN" altLang="en-US"/>
              <a:t>为用于取三个输入中的“多数”值。如果三个输入中有两个或两个以上相同，则Maj函数输出该值。</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CH</a:t>
            </a:r>
            <a:r>
              <a:rPr lang="zh-CN" altLang="en-US"/>
              <a:t>为条件选择</a:t>
            </a:r>
            <a:r>
              <a:rPr lang="zh-CN" altLang="en-US"/>
              <a:t>运算</a:t>
            </a:r>
            <a:endParaRPr lang="zh-CN" altLang="en-US"/>
          </a:p>
          <a:p>
            <a:r>
              <a:rPr lang="en-US" altLang="zh-CN"/>
              <a:t>Maj</a:t>
            </a:r>
            <a:r>
              <a:rPr lang="zh-CN" altLang="en-US"/>
              <a:t>为用于取三个输入中的“多数”值。如果三个输入中有两个或两个以上相同，则Maj函数输出该值。</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d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4.pdf"/><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df"/><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df"/><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3.pdf"/><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16.png"/><Relationship Id="rId2" Type="http://schemas.openxmlformats.org/officeDocument/2006/relationships/image" Target="../media/image15.pdf"/><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df"/><Relationship Id="rId3" Type="http://schemas.openxmlformats.org/officeDocument/2006/relationships/image" Target="../media/image18.png"/><Relationship Id="rId2" Type="http://schemas.openxmlformats.org/officeDocument/2006/relationships/image" Target="../media/image17.pdf"/><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2.xml"/><Relationship Id="rId3" Type="http://schemas.openxmlformats.org/officeDocument/2006/relationships/image" Target="../media/image22.png"/><Relationship Id="rId2" Type="http://schemas.openxmlformats.org/officeDocument/2006/relationships/image" Target="../media/image21.pdf"/><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tags" Target="../tags/tag1.xml"/><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2.xml"/><Relationship Id="rId3" Type="http://schemas.openxmlformats.org/officeDocument/2006/relationships/image" Target="../media/image24.png"/><Relationship Id="rId2" Type="http://schemas.openxmlformats.org/officeDocument/2006/relationships/image" Target="../media/image23.pdf"/><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2.xml"/><Relationship Id="rId3" Type="http://schemas.openxmlformats.org/officeDocument/2006/relationships/image" Target="../media/image26.png"/><Relationship Id="rId2" Type="http://schemas.openxmlformats.org/officeDocument/2006/relationships/image" Target="../media/image25.pdf"/><Relationship Id="rId1" Type="http://schemas.openxmlformats.org/officeDocument/2006/relationships/image" Target="../media/image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image" Target="../media/image28.png"/><Relationship Id="rId1" Type="http://schemas.openxmlformats.org/officeDocument/2006/relationships/image" Target="../media/image3.jpe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3.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3.jpe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2.xml"/><Relationship Id="rId2" Type="http://schemas.openxmlformats.org/officeDocument/2006/relationships/image" Target="../media/image32.png"/><Relationship Id="rId1" Type="http://schemas.openxmlformats.org/officeDocument/2006/relationships/image" Target="../media/image3.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2.xml"/><Relationship Id="rId2" Type="http://schemas.openxmlformats.org/officeDocument/2006/relationships/image" Target="../media/image33.png"/><Relationship Id="rId1" Type="http://schemas.openxmlformats.org/officeDocument/2006/relationships/image" Target="../media/image3.jpe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2.xml"/><Relationship Id="rId2" Type="http://schemas.openxmlformats.org/officeDocument/2006/relationships/image" Target="../media/image34.png"/><Relationship Id="rId1" Type="http://schemas.openxmlformats.org/officeDocument/2006/relationships/image" Target="../media/image3.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2.xml"/><Relationship Id="rId2" Type="http://schemas.openxmlformats.org/officeDocument/2006/relationships/image" Target="../media/image35.png"/><Relationship Id="rId1" Type="http://schemas.openxmlformats.org/officeDocument/2006/relationships/image" Target="../media/image3.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2.xml"/><Relationship Id="rId3" Type="http://schemas.openxmlformats.org/officeDocument/2006/relationships/image" Target="../media/image37.png"/><Relationship Id="rId2" Type="http://schemas.openxmlformats.org/officeDocument/2006/relationships/image" Target="../media/image36.pdf"/><Relationship Id="rId1" Type="http://schemas.openxmlformats.org/officeDocument/2006/relationships/image" Target="../media/image3.jpe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2.xml"/><Relationship Id="rId2" Type="http://schemas.openxmlformats.org/officeDocument/2006/relationships/image" Target="../media/image38.png"/><Relationship Id="rId1" Type="http://schemas.openxmlformats.org/officeDocument/2006/relationships/image" Target="../media/image3.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2.xml"/><Relationship Id="rId2" Type="http://schemas.openxmlformats.org/officeDocument/2006/relationships/image" Target="../media/image39.png"/><Relationship Id="rId1" Type="http://schemas.openxmlformats.org/officeDocument/2006/relationships/image" Target="../media/image3.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40.png"/><Relationship Id="rId1" Type="http://schemas.openxmlformats.org/officeDocument/2006/relationships/image" Target="../media/image3.jpe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2.xml"/><Relationship Id="rId2" Type="http://schemas.openxmlformats.org/officeDocument/2006/relationships/image" Target="../media/image41.png"/><Relationship Id="rId1" Type="http://schemas.openxmlformats.org/officeDocument/2006/relationships/image" Target="../media/image3.jpeg"/></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12.xml"/><Relationship Id="rId3" Type="http://schemas.openxmlformats.org/officeDocument/2006/relationships/image" Target="../media/image43.png"/><Relationship Id="rId2" Type="http://schemas.openxmlformats.org/officeDocument/2006/relationships/image" Target="../media/image42.pdf"/><Relationship Id="rId1" Type="http://schemas.openxmlformats.org/officeDocument/2006/relationships/image" Target="../media/image3.jpeg"/></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12.xml"/><Relationship Id="rId3" Type="http://schemas.openxmlformats.org/officeDocument/2006/relationships/image" Target="../media/image45.png"/><Relationship Id="rId2" Type="http://schemas.openxmlformats.org/officeDocument/2006/relationships/image" Target="../media/image44.pdf"/><Relationship Id="rId1" Type="http://schemas.openxmlformats.org/officeDocument/2006/relationships/image" Target="../media/image3.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2.xml"/><Relationship Id="rId2" Type="http://schemas.openxmlformats.org/officeDocument/2006/relationships/image" Target="../media/image46.png"/><Relationship Id="rId1" Type="http://schemas.openxmlformats.org/officeDocument/2006/relationships/image" Target="../media/image3.jpe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12.xml"/><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495" y="1997710"/>
            <a:ext cx="714502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上节回顾</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——RSA</a:t>
            </a:r>
            <a:r>
              <a:rPr lang="zh-CN" altLang="en-US"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密码和</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DH</a:t>
            </a:r>
            <a:r>
              <a:rPr lang="zh-CN" altLang="en-US"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密钥交换</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F09-9.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1"/>
              <a:srcRect l="12941" t="7273" r="12941" b="21818"/>
              <a:stretch>
                <a:fillRect/>
              </a:stretch>
            </p:blipFill>
          </mc:Choice>
          <mc:Fallback>
            <p:blipFill>
              <a:blip r:embed="rId2"/>
              <a:srcRect l="12941" t="7273" r="12941" b="21818"/>
              <a:stretch>
                <a:fillRect/>
              </a:stretch>
            </p:blipFill>
          </mc:Fallback>
        </mc:AlternateContent>
        <p:spPr>
          <a:xfrm>
            <a:off x="3232150" y="-58056"/>
            <a:ext cx="5462883" cy="67636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91895"/>
            <a:ext cx="9785985" cy="5073650"/>
          </a:xfrm>
        </p:spPr>
        <p:txBody>
          <a:bodyPr>
            <a:noAutofit/>
          </a:bodyPr>
          <a:p>
            <a:pPr fontAlgn="auto">
              <a:lnSpc>
                <a:spcPct val="110000"/>
              </a:lnSpc>
              <a:spcBef>
                <a:spcPts val="600"/>
              </a:spcBef>
              <a:spcAft>
                <a:spcPts val="600"/>
              </a:spcAft>
            </a:pPr>
            <a:r>
              <a:rPr lang="zh-CN" altLang="en-AU" sz="2400" dirty="0" smtClean="0">
                <a:solidFill>
                  <a:schemeClr val="tx1"/>
                </a:solidFill>
                <a:uFillTx/>
                <a:latin typeface="Calibri" panose="020F0502020204030204" charset="0"/>
                <a:ea typeface="微软雅黑" panose="020B0503020204020204" charset="-122"/>
              </a:rPr>
              <a:t>密钥产生</a:t>
            </a:r>
            <a:endParaRPr lang="en-AU"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①随机地选择两个大素数</a:t>
            </a:r>
            <a:r>
              <a:rPr lang="en-AU" dirty="0" smtClean="0">
                <a:solidFill>
                  <a:srgbClr val="FF0000"/>
                </a:solidFill>
                <a:uFillTx/>
                <a:latin typeface="Calibri" panose="020F0502020204030204" charset="0"/>
                <a:ea typeface="微软雅黑" panose="020B0503020204020204" charset="-122"/>
              </a:rPr>
              <a:t>p</a:t>
            </a:r>
            <a:r>
              <a:rPr lang="en-AU" dirty="0" smtClean="0">
                <a:solidFill>
                  <a:schemeClr val="tx1"/>
                </a:solidFill>
                <a:uFillTx/>
                <a:latin typeface="Calibri" panose="020F0502020204030204" charset="0"/>
                <a:ea typeface="微软雅黑" panose="020B0503020204020204" charset="-122"/>
              </a:rPr>
              <a:t>和</a:t>
            </a:r>
            <a:r>
              <a:rPr lang="en-AU" dirty="0" smtClean="0">
                <a:solidFill>
                  <a:srgbClr val="FF0000"/>
                </a:solidFill>
                <a:uFillTx/>
                <a:latin typeface="Calibri" panose="020F0502020204030204" charset="0"/>
                <a:ea typeface="微软雅黑" panose="020B0503020204020204" charset="-122"/>
              </a:rPr>
              <a:t>q</a:t>
            </a:r>
            <a:r>
              <a:rPr lang="en-AU" dirty="0" smtClean="0">
                <a:solidFill>
                  <a:schemeClr val="tx1"/>
                </a:solidFill>
                <a:uFillTx/>
                <a:latin typeface="Calibri" panose="020F0502020204030204" charset="0"/>
                <a:ea typeface="微软雅黑" panose="020B0503020204020204" charset="-122"/>
              </a:rPr>
              <a:t>,而且保密；</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②计算n=pq,将</a:t>
            </a:r>
            <a:r>
              <a:rPr lang="en-AU" dirty="0" smtClean="0">
                <a:solidFill>
                  <a:srgbClr val="0070C0"/>
                </a:solidFill>
                <a:uFillTx/>
                <a:latin typeface="Calibri" panose="020F0502020204030204" charset="0"/>
                <a:ea typeface="微软雅黑" panose="020B0503020204020204" charset="-122"/>
              </a:rPr>
              <a:t>n</a:t>
            </a:r>
            <a:r>
              <a:rPr lang="en-AU" dirty="0" smtClean="0">
                <a:solidFill>
                  <a:schemeClr val="tx1"/>
                </a:solidFill>
                <a:uFillTx/>
                <a:latin typeface="Calibri" panose="020F0502020204030204" charset="0"/>
                <a:ea typeface="微软雅黑" panose="020B0503020204020204" charset="-122"/>
              </a:rPr>
              <a:t>公开；</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③计算φ(n)=(p-1)(q-1),对</a:t>
            </a:r>
            <a:r>
              <a:rPr lang="en-AU" dirty="0" smtClean="0">
                <a:solidFill>
                  <a:srgbClr val="FF0000"/>
                </a:solidFill>
                <a:uFillTx/>
                <a:latin typeface="Calibri" panose="020F0502020204030204" charset="0"/>
                <a:ea typeface="微软雅黑" panose="020B0503020204020204" charset="-122"/>
              </a:rPr>
              <a:t>φ(n)</a:t>
            </a:r>
            <a:r>
              <a:rPr lang="en-AU" dirty="0" smtClean="0">
                <a:solidFill>
                  <a:schemeClr val="tx1"/>
                </a:solidFill>
                <a:uFillTx/>
                <a:latin typeface="Calibri" panose="020F0502020204030204" charset="0"/>
                <a:ea typeface="微软雅黑" panose="020B0503020204020204" charset="-122"/>
              </a:rPr>
              <a:t>保密；</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④随机地选取一个正整数</a:t>
            </a:r>
            <a:r>
              <a:rPr lang="en-AU" dirty="0" smtClean="0">
                <a:solidFill>
                  <a:srgbClr val="0070C0"/>
                </a:solidFill>
                <a:uFillTx/>
                <a:latin typeface="Calibri" panose="020F0502020204030204" charset="0"/>
                <a:ea typeface="微软雅黑" panose="020B0503020204020204" charset="-122"/>
              </a:rPr>
              <a:t>e</a:t>
            </a:r>
            <a:r>
              <a:rPr lang="en-AU" dirty="0" smtClean="0">
                <a:solidFill>
                  <a:schemeClr val="tx1"/>
                </a:solidFill>
                <a:uFillTx/>
                <a:latin typeface="Calibri" panose="020F0502020204030204" charset="0"/>
                <a:ea typeface="微软雅黑" panose="020B0503020204020204" charset="-122"/>
              </a:rPr>
              <a:t>,1&lt;e&lt;φ(n)且</a:t>
            </a:r>
            <a:r>
              <a:rPr lang="en-US" altLang="en-AU" dirty="0" smtClean="0">
                <a:solidFill>
                  <a:schemeClr val="tx1"/>
                </a:solidFill>
                <a:uFillTx/>
                <a:latin typeface="Calibri" panose="020F0502020204030204" charset="0"/>
                <a:ea typeface="微软雅黑" panose="020B0503020204020204" charset="-122"/>
              </a:rPr>
              <a:t>gcd</a:t>
            </a:r>
            <a:r>
              <a:rPr lang="en-AU" dirty="0" smtClean="0">
                <a:solidFill>
                  <a:schemeClr val="tx1"/>
                </a:solidFill>
                <a:uFillTx/>
                <a:latin typeface="Calibri" panose="020F0502020204030204" charset="0"/>
                <a:ea typeface="微软雅黑" panose="020B0503020204020204" charset="-122"/>
              </a:rPr>
              <a:t>(e,φ(n))=1,将e公开；</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⑤根据ed=1 mod φ(n),求出d,并对</a:t>
            </a:r>
            <a:r>
              <a:rPr lang="en-AU" dirty="0" smtClean="0">
                <a:solidFill>
                  <a:srgbClr val="FF0000"/>
                </a:solidFill>
                <a:uFillTx/>
                <a:latin typeface="Calibri" panose="020F0502020204030204" charset="0"/>
                <a:ea typeface="微软雅黑" panose="020B0503020204020204" charset="-122"/>
              </a:rPr>
              <a:t>d</a:t>
            </a:r>
            <a:r>
              <a:rPr lang="en-AU" dirty="0" smtClean="0">
                <a:solidFill>
                  <a:schemeClr val="tx1"/>
                </a:solidFill>
                <a:uFillTx/>
                <a:latin typeface="Calibri" panose="020F0502020204030204" charset="0"/>
                <a:ea typeface="微软雅黑" panose="020B0503020204020204" charset="-122"/>
              </a:rPr>
              <a:t>保密；</a:t>
            </a:r>
            <a:endParaRPr lang="en-AU" dirty="0" smtClean="0">
              <a:solidFill>
                <a:schemeClr val="tx1"/>
              </a:solidFill>
              <a:uFillTx/>
              <a:latin typeface="Calibri" panose="020F0502020204030204" charset="0"/>
              <a:ea typeface="微软雅黑" panose="020B0503020204020204" charset="-122"/>
            </a:endParaRPr>
          </a:p>
          <a:p>
            <a:pPr lvl="0" algn="l" fontAlgn="auto">
              <a:lnSpc>
                <a:spcPct val="110000"/>
              </a:lnSpc>
              <a:spcBef>
                <a:spcPts val="600"/>
              </a:spcBef>
              <a:spcAft>
                <a:spcPts val="600"/>
              </a:spcAft>
            </a:pPr>
            <a:r>
              <a:rPr lang="zh-CN" altLang="en-AU" sz="2400" dirty="0" smtClean="0">
                <a:solidFill>
                  <a:schemeClr val="tx1"/>
                </a:solidFill>
                <a:uFillTx/>
                <a:latin typeface="Calibri" panose="020F0502020204030204" charset="0"/>
                <a:ea typeface="微软雅黑" panose="020B0503020204020204" charset="-122"/>
              </a:rPr>
              <a:t>加密运算：</a:t>
            </a:r>
            <a:r>
              <a:rPr lang="en-AU" sz="2400" dirty="0" smtClean="0">
                <a:solidFill>
                  <a:schemeClr val="tx1"/>
                </a:solidFill>
                <a:uFillTx/>
                <a:latin typeface="Calibri" panose="020F0502020204030204" charset="0"/>
                <a:ea typeface="微软雅黑" panose="020B0503020204020204" charset="-122"/>
              </a:rPr>
              <a:t>C=M</a:t>
            </a:r>
            <a:r>
              <a:rPr lang="en-AU" sz="2400" baseline="30000" dirty="0" smtClean="0">
                <a:solidFill>
                  <a:schemeClr val="tx1"/>
                </a:solidFill>
                <a:uFillTx/>
                <a:latin typeface="Calibri" panose="020F0502020204030204" charset="0"/>
                <a:ea typeface="微软雅黑" panose="020B0503020204020204" charset="-122"/>
              </a:rPr>
              <a:t>e </a:t>
            </a:r>
            <a:r>
              <a:rPr lang="en-AU" sz="2400" dirty="0" smtClean="0">
                <a:solidFill>
                  <a:schemeClr val="tx1"/>
                </a:solidFill>
                <a:uFillTx/>
                <a:latin typeface="Calibri" panose="020F0502020204030204" charset="0"/>
                <a:ea typeface="微软雅黑" panose="020B0503020204020204" charset="-122"/>
              </a:rPr>
              <a:t>mod n</a:t>
            </a:r>
            <a:endParaRPr lang="en-AU" sz="2400" dirty="0" smtClean="0">
              <a:solidFill>
                <a:schemeClr val="tx1"/>
              </a:solidFill>
              <a:uFillTx/>
              <a:latin typeface="Calibri" panose="020F0502020204030204" charset="0"/>
              <a:ea typeface="微软雅黑" panose="020B0503020204020204" charset="-122"/>
            </a:endParaRPr>
          </a:p>
          <a:p>
            <a:pPr lvl="0" algn="l" fontAlgn="auto">
              <a:lnSpc>
                <a:spcPct val="110000"/>
              </a:lnSpc>
              <a:spcBef>
                <a:spcPts val="600"/>
              </a:spcBef>
              <a:spcAft>
                <a:spcPts val="600"/>
              </a:spcAft>
              <a:buClrTx/>
              <a:buSzTx/>
            </a:pPr>
            <a:r>
              <a:rPr lang="zh-CN" altLang="en-AU" sz="2400" dirty="0" smtClean="0">
                <a:solidFill>
                  <a:schemeClr val="tx1"/>
                </a:solidFill>
                <a:uFillTx/>
                <a:latin typeface="Calibri" panose="020F0502020204030204" charset="0"/>
                <a:ea typeface="微软雅黑" panose="020B0503020204020204" charset="-122"/>
              </a:rPr>
              <a:t>解密运算：M=Cd mod n</a:t>
            </a:r>
            <a:endParaRPr lang="zh-CN" altLang="en-AU" sz="2400" dirty="0" smtClean="0">
              <a:solidFill>
                <a:schemeClr val="tx1"/>
              </a:solidFill>
              <a:uFillTx/>
              <a:latin typeface="Calibri" panose="020F0502020204030204" charset="0"/>
              <a:ea typeface="微软雅黑" panose="020B0503020204020204" charset="-122"/>
            </a:endParaRPr>
          </a:p>
          <a:p>
            <a:pPr lvl="0" algn="l" fontAlgn="auto">
              <a:lnSpc>
                <a:spcPct val="110000"/>
              </a:lnSpc>
              <a:spcBef>
                <a:spcPts val="600"/>
              </a:spcBef>
              <a:spcAft>
                <a:spcPts val="600"/>
              </a:spcAft>
              <a:buClrTx/>
              <a:buSzTx/>
            </a:pPr>
            <a:r>
              <a:rPr lang="zh-CN" altLang="en-AU" sz="2400" dirty="0" smtClean="0">
                <a:solidFill>
                  <a:schemeClr val="tx1"/>
                </a:solidFill>
                <a:uFillTx/>
                <a:latin typeface="Calibri" panose="020F0502020204030204" charset="0"/>
                <a:ea typeface="微软雅黑" panose="020B0503020204020204" charset="-122"/>
              </a:rPr>
              <a:t>公开加密钥</a:t>
            </a:r>
            <a:r>
              <a:rPr lang="en-US" altLang="zh-CN" sz="2400" dirty="0" smtClean="0">
                <a:solidFill>
                  <a:srgbClr val="0070C0"/>
                </a:solidFill>
                <a:uFillTx/>
                <a:latin typeface="Calibri" panose="020F0502020204030204" charset="0"/>
                <a:ea typeface="微软雅黑" panose="020B0503020204020204" charset="-122"/>
              </a:rPr>
              <a:t>PU</a:t>
            </a:r>
            <a:r>
              <a:rPr lang="zh-CN" altLang="en-AU" sz="2400" dirty="0" smtClean="0">
                <a:solidFill>
                  <a:srgbClr val="0070C0"/>
                </a:solidFill>
                <a:uFillTx/>
                <a:latin typeface="Calibri" panose="020F0502020204030204" charset="0"/>
                <a:ea typeface="微软雅黑" panose="020B0503020204020204" charset="-122"/>
              </a:rPr>
              <a:t>=&lt;e,n&gt;</a:t>
            </a:r>
            <a:r>
              <a:rPr lang="zh-CN" altLang="en-AU" sz="2400" dirty="0" smtClean="0">
                <a:solidFill>
                  <a:schemeClr val="tx1"/>
                </a:solidFill>
                <a:uFillTx/>
                <a:latin typeface="Calibri" panose="020F0502020204030204" charset="0"/>
                <a:ea typeface="微软雅黑" panose="020B0503020204020204" charset="-122"/>
              </a:rPr>
              <a:t>,保密解密钥</a:t>
            </a:r>
            <a:r>
              <a:rPr lang="en-US" altLang="zh-CN" sz="2400" dirty="0" smtClean="0">
                <a:solidFill>
                  <a:srgbClr val="FF0000"/>
                </a:solidFill>
                <a:uFillTx/>
                <a:latin typeface="Calibri" panose="020F0502020204030204" charset="0"/>
                <a:ea typeface="微软雅黑" panose="020B0503020204020204" charset="-122"/>
              </a:rPr>
              <a:t>PR</a:t>
            </a:r>
            <a:r>
              <a:rPr lang="zh-CN" altLang="en-AU" sz="2400" dirty="0" smtClean="0">
                <a:solidFill>
                  <a:srgbClr val="FF0000"/>
                </a:solidFill>
                <a:uFillTx/>
                <a:latin typeface="Calibri" panose="020F0502020204030204" charset="0"/>
                <a:ea typeface="微软雅黑" panose="020B0503020204020204" charset="-122"/>
              </a:rPr>
              <a:t>=&lt;p,q,d,φ(n)&gt;</a:t>
            </a:r>
            <a:r>
              <a:rPr lang="en-US" altLang="zh-CN" sz="2400" dirty="0" smtClean="0">
                <a:solidFill>
                  <a:srgbClr val="FF0000"/>
                </a:solidFill>
                <a:uFillTx/>
                <a:latin typeface="Calibri" panose="020F0502020204030204" charset="0"/>
                <a:ea typeface="微软雅黑" panose="020B0503020204020204" charset="-122"/>
              </a:rPr>
              <a:t>=&lt;d,n&gt;</a:t>
            </a:r>
            <a:endParaRPr lang="zh-CN" altLang="en-US" sz="2400" dirty="0" smtClean="0">
              <a:solidFill>
                <a:srgbClr val="FF0000"/>
              </a:solidFill>
              <a:uFillTx/>
              <a:latin typeface="Calibri" panose="020F0502020204030204" charset="0"/>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078990" y="1997710"/>
            <a:ext cx="8051165" cy="3321050"/>
          </a:xfrm>
          <a:prstGeom prst="rect">
            <a:avLst/>
          </a:prstGeom>
          <a:noFill/>
          <a:ln w="0" cap="flat">
            <a:noFill/>
            <a:prstDash val="solid"/>
            <a:miter lim="0"/>
          </a:ln>
        </p:spPr>
        <p:txBody>
          <a:bodyPr vert="horz" wrap="square" lIns="0" tIns="0" rIns="0" bIns="0"/>
          <a:lstStyle/>
          <a:p>
            <a:pPr algn="l" rtl="0" eaLnBrk="0">
              <a:lnSpc>
                <a:spcPct val="100000"/>
              </a:lnSpc>
            </a:pPr>
            <a:r>
              <a:rPr lang="zh-CN" sz="3600" b="1" dirty="0">
                <a:latin typeface="仿宋" panose="02010609060101010101" charset="-122"/>
                <a:ea typeface="仿宋" panose="02010609060101010101" charset="-122"/>
                <a:cs typeface="仿宋" panose="02010609060101010101" charset="-122"/>
              </a:rPr>
              <a:t>第</a:t>
            </a:r>
            <a:r>
              <a:rPr lang="en-US" altLang="zh-CN" sz="3600" b="1" dirty="0">
                <a:latin typeface="仿宋" panose="02010609060101010101" charset="-122"/>
                <a:ea typeface="仿宋" panose="02010609060101010101" charset="-122"/>
                <a:cs typeface="仿宋" panose="02010609060101010101" charset="-122"/>
              </a:rPr>
              <a:t>10</a:t>
            </a:r>
            <a:r>
              <a:rPr lang="zh-CN" altLang="en-US" sz="3600" b="1" dirty="0">
                <a:latin typeface="仿宋" panose="02010609060101010101" charset="-122"/>
                <a:ea typeface="仿宋" panose="02010609060101010101" charset="-122"/>
                <a:cs typeface="仿宋" panose="02010609060101010101" charset="-122"/>
              </a:rPr>
              <a:t>章</a:t>
            </a:r>
            <a:r>
              <a:rPr lang="en-US" altLang="zh-CN" sz="3600" b="1" dirty="0">
                <a:latin typeface="仿宋" panose="02010609060101010101" charset="-122"/>
                <a:ea typeface="仿宋" panose="02010609060101010101" charset="-122"/>
                <a:cs typeface="仿宋" panose="02010609060101010101" charset="-122"/>
              </a:rPr>
              <a:t> </a:t>
            </a:r>
            <a:r>
              <a:rPr lang="zh-CN" sz="3600" b="1" dirty="0">
                <a:latin typeface="仿宋" panose="02010609060101010101" charset="-122"/>
                <a:ea typeface="仿宋" panose="02010609060101010101" charset="-122"/>
                <a:cs typeface="仿宋" panose="02010609060101010101" charset="-122"/>
              </a:rPr>
              <a:t>密钥管理和其他公钥密码体制</a:t>
            </a:r>
            <a:endParaRPr lang="zh-CN" sz="3600" b="1"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lvl="1"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en-US" altLang="zh-CN" sz="3600" dirty="0">
                <a:solidFill>
                  <a:srgbClr val="FF0000"/>
                </a:solidFill>
                <a:latin typeface="仿宋" panose="02010609060101010101" charset="-122"/>
                <a:ea typeface="仿宋" panose="02010609060101010101" charset="-122"/>
                <a:cs typeface="仿宋" panose="02010609060101010101" charset="-122"/>
                <a:sym typeface="+mn-ea"/>
              </a:rPr>
              <a:t>Diffe-Hellman</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密钥交换</a:t>
            </a:r>
            <a:endParaRPr lang="zh-CN" sz="3600" dirty="0">
              <a:latin typeface="仿宋" panose="02010609060101010101" charset="-122"/>
              <a:ea typeface="仿宋" panose="02010609060101010101" charset="-122"/>
              <a:cs typeface="仿宋" panose="02010609060101010101" charset="-122"/>
            </a:endParaRPr>
          </a:p>
          <a:p>
            <a:pPr marL="469900" lvl="1"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sym typeface="+mn-ea"/>
              </a:rPr>
              <a:t>二、</a:t>
            </a:r>
            <a:r>
              <a:rPr lang="en-US" altLang="zh-CN" sz="3600" dirty="0">
                <a:latin typeface="仿宋" panose="02010609060101010101" charset="-122"/>
                <a:ea typeface="仿宋" panose="02010609060101010101" charset="-122"/>
                <a:cs typeface="仿宋" panose="02010609060101010101" charset="-122"/>
                <a:sym typeface="+mn-ea"/>
              </a:rPr>
              <a:t>ElGamal</a:t>
            </a:r>
            <a:r>
              <a:rPr lang="zh-CN" altLang="en-US" sz="3600" dirty="0">
                <a:latin typeface="仿宋" panose="02010609060101010101" charset="-122"/>
                <a:ea typeface="仿宋" panose="02010609060101010101" charset="-122"/>
                <a:cs typeface="仿宋" panose="02010609060101010101" charset="-122"/>
                <a:sym typeface="+mn-ea"/>
              </a:rPr>
              <a:t>密码体制</a:t>
            </a: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en-US" altLang="zh-CN"/>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Diffe-Hellman密钥交换</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4969510" cy="5073650"/>
          </a:xfrm>
        </p:spPr>
        <p:txBody>
          <a:bodyPr>
            <a:noAutofit/>
          </a:bodyPr>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素数 q 和其本原根</a:t>
            </a:r>
            <a:r>
              <a:rPr lang="en-US" sz="2000" dirty="0" smtClean="0">
                <a:solidFill>
                  <a:schemeClr val="tx1"/>
                </a:solidFill>
                <a:uFillTx/>
                <a:latin typeface="Calibri" panose="020F0502020204030204" charset="0"/>
                <a:ea typeface="微软雅黑" panose="020B0503020204020204" charset="-122"/>
              </a:rPr>
              <a:t>α</a:t>
            </a:r>
            <a:r>
              <a:rPr sz="2000" dirty="0" smtClean="0">
                <a:solidFill>
                  <a:schemeClr val="tx1"/>
                </a:solidFill>
                <a:uFillTx/>
                <a:latin typeface="Calibri" panose="020F0502020204030204" charset="0"/>
                <a:ea typeface="微软雅黑" panose="020B0503020204020204" charset="-122"/>
              </a:rPr>
              <a:t>是两个公开的整数</a:t>
            </a:r>
            <a:endParaRPr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用户A 选择一个随机整数X</a:t>
            </a:r>
            <a:r>
              <a:rPr lang="en-US" sz="2000" baseline="-25000" dirty="0" smtClean="0">
                <a:solidFill>
                  <a:schemeClr val="tx1"/>
                </a:solidFill>
                <a:uFillTx/>
                <a:latin typeface="Calibri" panose="020F0502020204030204" charset="0"/>
                <a:ea typeface="微软雅黑" panose="020B0503020204020204" charset="-122"/>
              </a:rPr>
              <a:t>A</a:t>
            </a:r>
            <a:r>
              <a:rPr sz="2000" dirty="0" smtClean="0">
                <a:solidFill>
                  <a:schemeClr val="tx1"/>
                </a:solidFill>
                <a:uFillTx/>
                <a:latin typeface="Calibri" panose="020F0502020204030204" charset="0"/>
                <a:ea typeface="微软雅黑" panose="020B0503020204020204" charset="-122"/>
              </a:rPr>
              <a:t>&lt;q, 并计算Y</a:t>
            </a:r>
            <a:r>
              <a:rPr lang="en-US" sz="2000" baseline="-25000" dirty="0" smtClean="0">
                <a:solidFill>
                  <a:schemeClr val="tx1"/>
                </a:solidFill>
                <a:uFillTx/>
                <a:latin typeface="Calibri" panose="020F0502020204030204" charset="0"/>
                <a:ea typeface="微软雅黑" panose="020B0503020204020204" charset="-122"/>
              </a:rPr>
              <a:t>A</a:t>
            </a:r>
            <a:r>
              <a:rPr sz="2000" dirty="0" smtClean="0">
                <a:solidFill>
                  <a:schemeClr val="tx1"/>
                </a:solidFill>
                <a:uFillTx/>
                <a:latin typeface="Calibri" panose="020F0502020204030204" charset="0"/>
                <a:ea typeface="微软雅黑" panose="020B0503020204020204" charset="-122"/>
              </a:rPr>
              <a:t>=</a:t>
            </a:r>
            <a:r>
              <a:rPr lang="en-US"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solidFill>
                  <a:schemeClr val="tx1"/>
                </a:solidFill>
                <a:uFillTx/>
                <a:latin typeface="Calibri" panose="020F0502020204030204" charset="0"/>
                <a:ea typeface="微软雅黑" panose="020B0503020204020204" charset="-122"/>
              </a:rPr>
              <a:t>mod</a:t>
            </a:r>
            <a:r>
              <a:rPr lang="en-US" sz="2000" dirty="0" smtClean="0">
                <a:solidFill>
                  <a:schemeClr val="tx1"/>
                </a:solidFill>
                <a:uFillTx/>
                <a:latin typeface="Calibri" panose="020F0502020204030204" charset="0"/>
                <a:ea typeface="微软雅黑" panose="020B0503020204020204" charset="-122"/>
              </a:rPr>
              <a:t> </a:t>
            </a:r>
            <a:r>
              <a:rPr sz="2000" dirty="0" smtClean="0">
                <a:solidFill>
                  <a:schemeClr val="tx1"/>
                </a:solidFill>
                <a:uFillTx/>
                <a:latin typeface="Calibri" panose="020F0502020204030204" charset="0"/>
                <a:ea typeface="微软雅黑" panose="020B0503020204020204" charset="-122"/>
              </a:rPr>
              <a:t>q。 </a:t>
            </a:r>
            <a:endParaRPr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用户B独立地选择一个随机整数X</a:t>
            </a:r>
            <a:r>
              <a:rPr lang="en-US" sz="2000" baseline="-25000" dirty="0" smtClean="0">
                <a:solidFill>
                  <a:schemeClr val="tx1"/>
                </a:solidFill>
                <a:uFillTx/>
                <a:latin typeface="Calibri" panose="020F0502020204030204" charset="0"/>
                <a:ea typeface="微软雅黑" panose="020B0503020204020204" charset="-122"/>
              </a:rPr>
              <a:t>B</a:t>
            </a:r>
            <a:r>
              <a:rPr sz="2000" dirty="0" smtClean="0">
                <a:solidFill>
                  <a:schemeClr val="tx1"/>
                </a:solidFill>
                <a:uFillTx/>
                <a:latin typeface="Calibri" panose="020F0502020204030204" charset="0"/>
                <a:ea typeface="微软雅黑" panose="020B0503020204020204" charset="-122"/>
              </a:rPr>
              <a:t>&lt;q,    并计算Y</a:t>
            </a:r>
            <a:r>
              <a:rPr lang="en-US" sz="2000" baseline="-25000" dirty="0" smtClean="0">
                <a:solidFill>
                  <a:schemeClr val="tx1"/>
                </a:solidFill>
                <a:uFillTx/>
                <a:latin typeface="Calibri" panose="020F0502020204030204" charset="0"/>
                <a:ea typeface="微软雅黑" panose="020B0503020204020204" charset="-122"/>
              </a:rPr>
              <a:t>B</a:t>
            </a:r>
            <a:r>
              <a:rPr sz="2000" dirty="0" smtClean="0">
                <a:solidFill>
                  <a:schemeClr val="tx1"/>
                </a:solidFill>
                <a:uFillTx/>
                <a:latin typeface="Calibri" panose="020F0502020204030204" charset="0"/>
                <a:ea typeface="微软雅黑" panose="020B0503020204020204" charset="-122"/>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solidFill>
                  <a:schemeClr val="tx1"/>
                </a:solidFill>
                <a:uFillTx/>
                <a:latin typeface="Calibri" panose="020F0502020204030204" charset="0"/>
                <a:ea typeface="微软雅黑" panose="020B0503020204020204" charset="-122"/>
              </a:rPr>
              <a:t>mod q 。</a:t>
            </a:r>
            <a:endParaRPr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lang="zh-CN" sz="2000" dirty="0" smtClean="0">
                <a:solidFill>
                  <a:schemeClr val="tx1"/>
                </a:solidFill>
                <a:uFillTx/>
                <a:latin typeface="Calibri" panose="020F0502020204030204" charset="0"/>
                <a:ea typeface="微软雅黑" panose="020B0503020204020204" charset="-122"/>
              </a:rPr>
              <a:t>其中</a:t>
            </a:r>
            <a:r>
              <a:rPr lang="en-US" altLang="zh-CN" sz="2000" dirty="0" smtClean="0">
                <a:solidFill>
                  <a:schemeClr val="tx1"/>
                </a:solidFill>
                <a:uFillTx/>
                <a:latin typeface="Calibri" panose="020F0502020204030204" charset="0"/>
                <a:ea typeface="微软雅黑" panose="020B0503020204020204" charset="-122"/>
              </a:rPr>
              <a:t>X</a:t>
            </a:r>
            <a:r>
              <a:rPr lang="zh-CN" altLang="en-US" sz="2000" dirty="0" smtClean="0">
                <a:solidFill>
                  <a:schemeClr val="tx1"/>
                </a:solidFill>
                <a:uFillTx/>
                <a:latin typeface="Calibri" panose="020F0502020204030204" charset="0"/>
                <a:ea typeface="微软雅黑" panose="020B0503020204020204" charset="-122"/>
              </a:rPr>
              <a:t>为私有的，</a:t>
            </a:r>
            <a:r>
              <a:rPr lang="en-US" altLang="zh-CN" sz="2000" dirty="0" smtClean="0">
                <a:solidFill>
                  <a:schemeClr val="tx1"/>
                </a:solidFill>
                <a:uFillTx/>
                <a:latin typeface="Calibri" panose="020F0502020204030204" charset="0"/>
                <a:ea typeface="微软雅黑" panose="020B0503020204020204" charset="-122"/>
              </a:rPr>
              <a:t>Y</a:t>
            </a:r>
            <a:r>
              <a:rPr lang="zh-CN" altLang="en-US" sz="2000" dirty="0" smtClean="0">
                <a:solidFill>
                  <a:schemeClr val="tx1"/>
                </a:solidFill>
                <a:uFillTx/>
                <a:latin typeface="Calibri" panose="020F0502020204030204" charset="0"/>
                <a:ea typeface="微软雅黑" panose="020B0503020204020204" charset="-122"/>
              </a:rPr>
              <a:t>为公开的。</a:t>
            </a:r>
            <a:endParaRPr lang="zh-CN" altLang="en-US"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计算</a:t>
            </a:r>
            <a:r>
              <a:rPr lang="en-US" altLang="zh-CN" sz="2000" dirty="0" smtClean="0">
                <a:solidFill>
                  <a:schemeClr val="tx1"/>
                </a:solidFill>
                <a:uFillTx/>
                <a:latin typeface="Calibri" panose="020F0502020204030204" charset="0"/>
                <a:ea typeface="微软雅黑" panose="020B0503020204020204" charset="-122"/>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B</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zh-CN" sz="2000" dirty="0" smtClean="0">
                <a:uFillTx/>
                <a:latin typeface="Calibri" panose="020F0502020204030204" charset="0"/>
                <a:ea typeface="微软雅黑" panose="020B0503020204020204" charset="-122"/>
                <a:sym typeface="+mn-ea"/>
              </a:rPr>
              <a:t>，</a:t>
            </a:r>
            <a:r>
              <a:rPr lang="en-US" altLang="zh-CN" sz="2000" dirty="0" smtClean="0">
                <a:uFillTx/>
                <a:latin typeface="Calibri" panose="020F0502020204030204" charset="0"/>
                <a:ea typeface="微软雅黑" panose="020B0503020204020204" charset="-122"/>
                <a:sym typeface="+mn-ea"/>
              </a:rPr>
              <a:t>B</a:t>
            </a:r>
            <a:r>
              <a:rPr lang="zh-CN" altLang="en-US" sz="2000" dirty="0" smtClean="0">
                <a:uFillTx/>
                <a:latin typeface="Calibri" panose="020F0502020204030204" charset="0"/>
                <a:ea typeface="微软雅黑" panose="020B0503020204020204" charset="-122"/>
                <a:sym typeface="+mn-ea"/>
              </a:rPr>
              <a:t>计算</a:t>
            </a: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B</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 q</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a:t>
            </a:r>
            <a:r>
              <a:rPr lang="en-US"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 = (</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 q</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a:t>
            </a:r>
            <a:r>
              <a:rPr lang="en-US" altLang="zh-CN"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pic>
        <p:nvPicPr>
          <p:cNvPr id="2" name="Picture 3" descr="f1.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4706" t="909" r="3529" b="21818"/>
              <a:stretch>
                <a:fillRect/>
              </a:stretch>
            </p:blipFill>
          </mc:Choice>
          <mc:Fallback>
            <p:blipFill>
              <a:blip r:embed="rId3"/>
              <a:srcRect l="4706" t="909" r="3529" b="21818"/>
              <a:stretch>
                <a:fillRect/>
              </a:stretch>
            </p:blipFill>
          </mc:Fallback>
        </mc:AlternateContent>
        <p:spPr>
          <a:xfrm>
            <a:off x="6320790" y="817245"/>
            <a:ext cx="5474335" cy="596646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Diffe-Hellman密钥交换</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Rectangle 3"/>
          <p:cNvSpPr>
            <a:spLocks noGrp="1" noChangeArrowheads="1"/>
          </p:cNvSpPr>
          <p:nvPr>
            <p:ph idx="1"/>
          </p:nvPr>
        </p:nvSpPr>
        <p:spPr>
          <a:xfrm>
            <a:off x="1351280" y="1110615"/>
            <a:ext cx="9785985" cy="5073650"/>
          </a:xfrm>
        </p:spPr>
        <p:txBody>
          <a:bodyPr>
            <a:noAutofit/>
          </a:bodyPr>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Diffie-Hellman算法的</a:t>
            </a:r>
            <a:r>
              <a:rPr lang="zh-CN" sz="2400" dirty="0" smtClean="0">
                <a:solidFill>
                  <a:schemeClr val="tx1"/>
                </a:solidFill>
                <a:uFillTx/>
                <a:latin typeface="Calibri" panose="020F0502020204030204" charset="0"/>
                <a:ea typeface="微软雅黑" panose="020B0503020204020204" charset="-122"/>
              </a:rPr>
              <a:t>中间人攻击</a:t>
            </a:r>
            <a:endParaRPr lang="zh-CN"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endParaRPr lang="zh-CN" sz="2400" dirty="0" smtClean="0">
              <a:solidFill>
                <a:schemeClr val="tx1"/>
              </a:solidFill>
              <a:uFillTx/>
              <a:latin typeface="Calibri" panose="020F0502020204030204" charset="0"/>
              <a:ea typeface="微软雅黑" panose="020B0503020204020204" charset="-122"/>
              <a:sym typeface="+mn-ea"/>
            </a:endParaRPr>
          </a:p>
        </p:txBody>
      </p:sp>
      <p:pic>
        <p:nvPicPr>
          <p:cNvPr id="2" name="Picture 3" descr="f2.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5882" t="1818" r="5882" b="10000"/>
              <a:stretch>
                <a:fillRect/>
              </a:stretch>
            </p:blipFill>
          </mc:Choice>
          <mc:Fallback>
            <p:blipFill>
              <a:blip r:embed="rId3"/>
              <a:srcRect l="5882" t="1818" r="5882" b="10000"/>
              <a:stretch>
                <a:fillRect/>
              </a:stretch>
            </p:blipFill>
          </mc:Fallback>
        </mc:AlternateContent>
        <p:spPr>
          <a:xfrm>
            <a:off x="3679190" y="665480"/>
            <a:ext cx="4610735" cy="5963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3">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3">
                                            <p:txEl>
                                              <p:pRg st="0" end="0"/>
                                            </p:txEl>
                                          </p:spTgt>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6"/>
                                        </p:tgtEl>
                                        <p:attrNameLst>
                                          <p:attrName>ppt_x</p:attrName>
                                        </p:attrNameLst>
                                      </p:cBhvr>
                                      <p:tavLst>
                                        <p:tav tm="0">
                                          <p:val>
                                            <p:strVal val="ppt_x"/>
                                          </p:val>
                                        </p:tav>
                                        <p:tav tm="100000">
                                          <p:val>
                                            <p:strVal val="ppt_x"/>
                                          </p:val>
                                        </p:tav>
                                      </p:tavLst>
                                    </p:anim>
                                    <p:anim calcmode="lin" valueType="num">
                                      <p:cBhvr additive="base">
                                        <p:cTn id="11" dur="500"/>
                                        <p:tgtEl>
                                          <p:spTgt spid="6"/>
                                        </p:tgtEl>
                                        <p:attrNameLst>
                                          <p:attrName>ppt_y</p:attrName>
                                        </p:attrNameLst>
                                      </p:cBhvr>
                                      <p:tavLst>
                                        <p:tav tm="0">
                                          <p:val>
                                            <p:strVal val="ppt_y"/>
                                          </p:val>
                                        </p:tav>
                                        <p:tav tm="100000">
                                          <p:val>
                                            <p:strVal val="1+ppt_h/2"/>
                                          </p:val>
                                        </p:tav>
                                      </p:tavLst>
                                    </p:anim>
                                    <p:set>
                                      <p:cBhvr>
                                        <p:cTn id="12" dur="1" fill="hold">
                                          <p:stCondLst>
                                            <p:cond delay="499"/>
                                          </p:stCondLst>
                                        </p:cTn>
                                        <p:tgtEl>
                                          <p:spTgt spid="6"/>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152"/>
                                        </p:tgtEl>
                                        <p:attrNameLst>
                                          <p:attrName>ppt_x</p:attrName>
                                        </p:attrNameLst>
                                      </p:cBhvr>
                                      <p:tavLst>
                                        <p:tav tm="0">
                                          <p:val>
                                            <p:strVal val="ppt_x"/>
                                          </p:val>
                                        </p:tav>
                                        <p:tav tm="100000">
                                          <p:val>
                                            <p:strVal val="ppt_x"/>
                                          </p:val>
                                        </p:tav>
                                      </p:tavLst>
                                    </p:anim>
                                    <p:anim calcmode="lin" valueType="num">
                                      <p:cBhvr additive="base">
                                        <p:cTn id="15" dur="500"/>
                                        <p:tgtEl>
                                          <p:spTgt spid="152"/>
                                        </p:tgtEl>
                                        <p:attrNameLst>
                                          <p:attrName>ppt_y</p:attrName>
                                        </p:attrNameLst>
                                      </p:cBhvr>
                                      <p:tavLst>
                                        <p:tav tm="0">
                                          <p:val>
                                            <p:strVal val="ppt_y"/>
                                          </p:val>
                                        </p:tav>
                                        <p:tav tm="100000">
                                          <p:val>
                                            <p:strVal val="1+ppt_h/2"/>
                                          </p:val>
                                        </p:tav>
                                      </p:tavLst>
                                    </p:anim>
                                    <p:set>
                                      <p:cBhvr>
                                        <p:cTn id="16" dur="1" fill="hold">
                                          <p:stCondLst>
                                            <p:cond delay="499"/>
                                          </p:stCondLst>
                                        </p:cTn>
                                        <p:tgtEl>
                                          <p:spTgt spid="152"/>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148"/>
                                        </p:tgtEl>
                                        <p:attrNameLst>
                                          <p:attrName>ppt_x</p:attrName>
                                        </p:attrNameLst>
                                      </p:cBhvr>
                                      <p:tavLst>
                                        <p:tav tm="0">
                                          <p:val>
                                            <p:strVal val="ppt_x"/>
                                          </p:val>
                                        </p:tav>
                                        <p:tav tm="100000">
                                          <p:val>
                                            <p:strVal val="ppt_x"/>
                                          </p:val>
                                        </p:tav>
                                      </p:tavLst>
                                    </p:anim>
                                    <p:anim calcmode="lin" valueType="num">
                                      <p:cBhvr additive="base">
                                        <p:cTn id="19" dur="500"/>
                                        <p:tgtEl>
                                          <p:spTgt spid="148"/>
                                        </p:tgtEl>
                                        <p:attrNameLst>
                                          <p:attrName>ppt_y</p:attrName>
                                        </p:attrNameLst>
                                      </p:cBhvr>
                                      <p:tavLst>
                                        <p:tav tm="0">
                                          <p:val>
                                            <p:strVal val="ppt_y"/>
                                          </p:val>
                                        </p:tav>
                                        <p:tav tm="100000">
                                          <p:val>
                                            <p:strVal val="1+ppt_h/2"/>
                                          </p:val>
                                        </p:tav>
                                      </p:tavLst>
                                    </p:anim>
                                    <p:set>
                                      <p:cBhvr>
                                        <p:cTn id="20" dur="1" fill="hold">
                                          <p:stCondLst>
                                            <p:cond delay="499"/>
                                          </p:stCondLst>
                                        </p:cTn>
                                        <p:tgtEl>
                                          <p:spTgt spid="14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152" grpId="0" animBg="1"/>
      <p:bldP spid="148" grpId="0" animBg="1"/>
      <p:bldP spid="3" grpId="1" build="p"/>
      <p:bldP spid="6" grpId="1"/>
      <p:bldP spid="152" grpId="1" animBg="1"/>
      <p:bldP spid="14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078990" y="1997710"/>
            <a:ext cx="8051165" cy="3321050"/>
          </a:xfrm>
          <a:prstGeom prst="rect">
            <a:avLst/>
          </a:prstGeom>
          <a:noFill/>
          <a:ln w="0" cap="flat">
            <a:noFill/>
            <a:prstDash val="solid"/>
            <a:miter lim="0"/>
          </a:ln>
        </p:spPr>
        <p:txBody>
          <a:bodyPr vert="horz" wrap="square" lIns="0" tIns="0" rIns="0" bIns="0"/>
          <a:lstStyle/>
          <a:p>
            <a:pPr algn="l" rtl="0" eaLnBrk="0">
              <a:lnSpc>
                <a:spcPct val="100000"/>
              </a:lnSpc>
            </a:pPr>
            <a:r>
              <a:rPr lang="zh-CN" sz="3600" b="1" dirty="0">
                <a:latin typeface="仿宋" panose="02010609060101010101" charset="-122"/>
                <a:ea typeface="仿宋" panose="02010609060101010101" charset="-122"/>
                <a:cs typeface="仿宋" panose="02010609060101010101" charset="-122"/>
              </a:rPr>
              <a:t>第</a:t>
            </a:r>
            <a:r>
              <a:rPr lang="en-US" altLang="zh-CN" sz="3600" b="1" dirty="0">
                <a:latin typeface="仿宋" panose="02010609060101010101" charset="-122"/>
                <a:ea typeface="仿宋" panose="02010609060101010101" charset="-122"/>
                <a:cs typeface="仿宋" panose="02010609060101010101" charset="-122"/>
              </a:rPr>
              <a:t>10</a:t>
            </a:r>
            <a:r>
              <a:rPr lang="zh-CN" altLang="en-US" sz="3600" b="1" dirty="0">
                <a:latin typeface="仿宋" panose="02010609060101010101" charset="-122"/>
                <a:ea typeface="仿宋" panose="02010609060101010101" charset="-122"/>
                <a:cs typeface="仿宋" panose="02010609060101010101" charset="-122"/>
              </a:rPr>
              <a:t>章</a:t>
            </a:r>
            <a:r>
              <a:rPr lang="en-US" altLang="zh-CN" sz="3600" b="1" dirty="0">
                <a:latin typeface="仿宋" panose="02010609060101010101" charset="-122"/>
                <a:ea typeface="仿宋" panose="02010609060101010101" charset="-122"/>
                <a:cs typeface="仿宋" panose="02010609060101010101" charset="-122"/>
              </a:rPr>
              <a:t> </a:t>
            </a:r>
            <a:r>
              <a:rPr lang="zh-CN" sz="3600" b="1" dirty="0">
                <a:latin typeface="仿宋" panose="02010609060101010101" charset="-122"/>
                <a:ea typeface="仿宋" panose="02010609060101010101" charset="-122"/>
                <a:cs typeface="仿宋" panose="02010609060101010101" charset="-122"/>
              </a:rPr>
              <a:t>密钥管理和其他公钥密码体制</a:t>
            </a:r>
            <a:endParaRPr lang="zh-CN" sz="3600" b="1"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lvl="1"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en-US" altLang="zh-CN" sz="3600" dirty="0">
                <a:solidFill>
                  <a:schemeClr val="tx1"/>
                </a:solidFill>
                <a:latin typeface="仿宋" panose="02010609060101010101" charset="-122"/>
                <a:ea typeface="仿宋" panose="02010609060101010101" charset="-122"/>
                <a:cs typeface="仿宋" panose="02010609060101010101" charset="-122"/>
                <a:sym typeface="+mn-ea"/>
              </a:rPr>
              <a:t>Diffe-Hellman</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密钥交换</a:t>
            </a:r>
            <a:endParaRPr lang="zh-CN" sz="3600" dirty="0">
              <a:latin typeface="仿宋" panose="02010609060101010101" charset="-122"/>
              <a:ea typeface="仿宋" panose="02010609060101010101" charset="-122"/>
              <a:cs typeface="仿宋" panose="02010609060101010101" charset="-122"/>
            </a:endParaRPr>
          </a:p>
          <a:p>
            <a:pPr marL="469900" lvl="1"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sym typeface="+mn-ea"/>
              </a:rPr>
              <a:t>二、</a:t>
            </a:r>
            <a:r>
              <a:rPr lang="en-US" altLang="zh-CN" sz="3600" dirty="0">
                <a:solidFill>
                  <a:srgbClr val="FF0000"/>
                </a:solidFill>
                <a:latin typeface="仿宋" panose="02010609060101010101" charset="-122"/>
                <a:ea typeface="仿宋" panose="02010609060101010101" charset="-122"/>
                <a:cs typeface="仿宋" panose="02010609060101010101" charset="-122"/>
                <a:sym typeface="+mn-ea"/>
              </a:rPr>
              <a:t>ElGamal</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密码体制</a:t>
            </a: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en-US" altLang="zh-CN"/>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基本情况</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公钥密码的理论模型是单向陷门函数</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用正变换作加密，加密效率高；</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用逆变换作解密，安全；</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把陷门信息作为密钥，且只分配给合法用户。确保合法用户能够方便地解密，而非法用户不能破译。</a:t>
            </a:r>
            <a:endParaRPr lang="zh-CN" altLang="en-US" sz="2000" dirty="0" smtClean="0">
              <a:solidFill>
                <a:srgbClr val="FF0000"/>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成功实例</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RSA密码建立在大合数分解的困难性之上。</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EIGamal密码建立在离散对数的困难性之上。</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ECC密码建立在椭圆曲线离散对数的困难性之上。</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3.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11765" t="6364" r="10588" b="10000"/>
              <a:stretch>
                <a:fillRect/>
              </a:stretch>
            </p:blipFill>
          </mc:Choice>
          <mc:Fallback>
            <p:blipFill>
              <a:blip r:embed="rId3"/>
              <a:srcRect l="11765" t="6364" r="10588" b="10000"/>
              <a:stretch>
                <a:fillRect/>
              </a:stretch>
            </p:blipFill>
          </mc:Fallback>
        </mc:AlternateContent>
        <p:spPr>
          <a:xfrm>
            <a:off x="7552690" y="-222885"/>
            <a:ext cx="4919802" cy="6858000"/>
          </a:xfrm>
          <a:prstGeom prst="rect">
            <a:avLst/>
          </a:prstGeom>
        </p:spPr>
      </p:pic>
      <p:sp>
        <p:nvSpPr>
          <p:cNvPr id="66563" name="Rectangle 3"/>
          <p:cNvSpPr>
            <a:spLocks noGrp="1" noChangeArrowheads="1"/>
          </p:cNvSpPr>
          <p:nvPr>
            <p:ph idx="1"/>
          </p:nvPr>
        </p:nvSpPr>
        <p:spPr>
          <a:xfrm>
            <a:off x="1351280" y="1110615"/>
            <a:ext cx="6201410" cy="5073650"/>
          </a:xfrm>
        </p:spPr>
        <p:txBody>
          <a:bodyPr>
            <a:noAutofit/>
          </a:bodyPr>
          <a:p>
            <a:pPr fontAlgn="auto">
              <a:lnSpc>
                <a:spcPct val="110000"/>
              </a:lnSpc>
              <a:spcBef>
                <a:spcPts val="600"/>
              </a:spcBef>
              <a:spcAft>
                <a:spcPts val="600"/>
              </a:spcAft>
            </a:pPr>
            <a:r>
              <a:rPr lang="zh-CN" sz="2000" dirty="0" smtClean="0">
                <a:solidFill>
                  <a:schemeClr val="tx1"/>
                </a:solidFill>
                <a:uFillTx/>
                <a:latin typeface="Calibri" panose="020F0502020204030204" charset="0"/>
                <a:ea typeface="微软雅黑" panose="020B0503020204020204" charset="-122"/>
              </a:rPr>
              <a:t>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生成密钥对：</a:t>
            </a:r>
            <a:endParaRPr lang="zh-CN" altLang="en-US"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1710" dirty="0" smtClean="0">
                <a:solidFill>
                  <a:schemeClr val="tx1"/>
                </a:solidFill>
                <a:uFillTx/>
                <a:latin typeface="Calibri" panose="020F0502020204030204" charset="0"/>
                <a:ea typeface="微软雅黑" panose="020B0503020204020204" charset="-122"/>
              </a:rPr>
              <a:t>用户A </a:t>
            </a:r>
            <a:r>
              <a:rPr lang="zh-CN" sz="1710" dirty="0" smtClean="0">
                <a:solidFill>
                  <a:schemeClr val="tx1"/>
                </a:solidFill>
                <a:uFillTx/>
                <a:latin typeface="Calibri" panose="020F0502020204030204" charset="0"/>
                <a:ea typeface="微软雅黑" panose="020B0503020204020204" charset="-122"/>
              </a:rPr>
              <a:t>生成</a:t>
            </a:r>
            <a:r>
              <a:rPr sz="1710" dirty="0" smtClean="0">
                <a:solidFill>
                  <a:schemeClr val="tx1"/>
                </a:solidFill>
                <a:uFillTx/>
                <a:latin typeface="Calibri" panose="020F0502020204030204" charset="0"/>
                <a:ea typeface="微软雅黑" panose="020B0503020204020204" charset="-122"/>
              </a:rPr>
              <a:t>随机整数X</a:t>
            </a:r>
            <a:r>
              <a:rPr lang="en-US" sz="1710" baseline="-25000" dirty="0" smtClean="0">
                <a:solidFill>
                  <a:schemeClr val="tx1"/>
                </a:solidFill>
                <a:uFillTx/>
                <a:latin typeface="Calibri" panose="020F0502020204030204" charset="0"/>
                <a:ea typeface="微软雅黑" panose="020B0503020204020204" charset="-122"/>
              </a:rPr>
              <a:t>A</a:t>
            </a:r>
            <a:r>
              <a:rPr lang="zh-CN" altLang="en-US" sz="1710" baseline="-25000" dirty="0" smtClean="0">
                <a:solidFill>
                  <a:schemeClr val="tx1"/>
                </a:solidFill>
                <a:uFillTx/>
                <a:latin typeface="Calibri" panose="020F0502020204030204" charset="0"/>
                <a:ea typeface="微软雅黑" panose="020B0503020204020204" charset="-122"/>
              </a:rPr>
              <a:t>，</a:t>
            </a:r>
            <a:r>
              <a:rPr lang="en-US" altLang="zh-CN" sz="1710" dirty="0" smtClean="0">
                <a:solidFill>
                  <a:schemeClr val="tx1"/>
                </a:solidFill>
                <a:uFillTx/>
                <a:latin typeface="Calibri" panose="020F0502020204030204" charset="0"/>
                <a:ea typeface="微软雅黑" panose="020B0503020204020204" charset="-122"/>
              </a:rPr>
              <a:t>0</a:t>
            </a:r>
            <a:r>
              <a:rPr sz="1710" dirty="0" smtClean="0">
                <a:uFillTx/>
                <a:latin typeface="Calibri" panose="020F0502020204030204" charset="0"/>
                <a:ea typeface="微软雅黑" panose="020B0503020204020204" charset="-122"/>
                <a:sym typeface="+mn-ea"/>
              </a:rPr>
              <a:t>&lt;X</a:t>
            </a:r>
            <a:r>
              <a:rPr lang="en-US" sz="1710" baseline="-25000" dirty="0" smtClean="0">
                <a:uFillTx/>
                <a:latin typeface="Calibri" panose="020F0502020204030204" charset="0"/>
                <a:ea typeface="微软雅黑" panose="020B0503020204020204" charset="-122"/>
                <a:sym typeface="+mn-ea"/>
              </a:rPr>
              <a:t>A</a:t>
            </a:r>
            <a:r>
              <a:rPr sz="1710" dirty="0" smtClean="0">
                <a:solidFill>
                  <a:schemeClr val="tx1"/>
                </a:solidFill>
                <a:uFillTx/>
                <a:latin typeface="Calibri" panose="020F0502020204030204" charset="0"/>
                <a:ea typeface="微软雅黑" panose="020B0503020204020204" charset="-122"/>
              </a:rPr>
              <a:t>&lt;q, 并计算Y</a:t>
            </a:r>
            <a:r>
              <a:rPr lang="en-US" sz="1710" baseline="-25000" dirty="0" smtClean="0">
                <a:solidFill>
                  <a:schemeClr val="tx1"/>
                </a:solidFill>
                <a:uFillTx/>
                <a:latin typeface="Calibri" panose="020F0502020204030204" charset="0"/>
                <a:ea typeface="微软雅黑" panose="020B0503020204020204" charset="-122"/>
              </a:rPr>
              <a:t>A</a:t>
            </a:r>
            <a:r>
              <a:rPr sz="1710" dirty="0" smtClean="0">
                <a:solidFill>
                  <a:schemeClr val="tx1"/>
                </a:solidFill>
                <a:uFillTx/>
                <a:latin typeface="Calibri" panose="020F0502020204030204" charset="0"/>
                <a:ea typeface="微软雅黑" panose="020B0503020204020204" charset="-122"/>
              </a:rPr>
              <a:t>=</a:t>
            </a:r>
            <a:r>
              <a:rPr lang="en-US" sz="1710" dirty="0" smtClean="0">
                <a:uFillTx/>
                <a:latin typeface="Calibri" panose="020F0502020204030204" charset="0"/>
                <a:ea typeface="微软雅黑" panose="020B0503020204020204" charset="-122"/>
                <a:sym typeface="+mn-ea"/>
              </a:rPr>
              <a:t>α</a:t>
            </a:r>
            <a:r>
              <a:rPr lang="en-US" sz="1710" baseline="30000" dirty="0" smtClean="0">
                <a:uFillTx/>
                <a:latin typeface="Calibri" panose="020F0502020204030204" charset="0"/>
                <a:ea typeface="微软雅黑" panose="020B0503020204020204" charset="-122"/>
                <a:sym typeface="+mn-ea"/>
              </a:rPr>
              <a:t>X</a:t>
            </a:r>
            <a:r>
              <a:rPr lang="en-US" sz="1200" baseline="30000" dirty="0" smtClean="0">
                <a:uFillTx/>
                <a:latin typeface="Calibri" panose="020F0502020204030204" charset="0"/>
                <a:ea typeface="微软雅黑" panose="020B0503020204020204" charset="-122"/>
                <a:sym typeface="+mn-ea"/>
              </a:rPr>
              <a:t>A</a:t>
            </a:r>
            <a:r>
              <a:rPr sz="1710" dirty="0" smtClean="0">
                <a:solidFill>
                  <a:schemeClr val="tx1"/>
                </a:solidFill>
                <a:uFillTx/>
                <a:latin typeface="Calibri" panose="020F0502020204030204" charset="0"/>
                <a:ea typeface="微软雅黑" panose="020B0503020204020204" charset="-122"/>
              </a:rPr>
              <a:t>mod</a:t>
            </a:r>
            <a:r>
              <a:rPr lang="en-US" sz="1710" dirty="0" smtClean="0">
                <a:solidFill>
                  <a:schemeClr val="tx1"/>
                </a:solidFill>
                <a:uFillTx/>
                <a:latin typeface="Calibri" panose="020F0502020204030204" charset="0"/>
                <a:ea typeface="微软雅黑" panose="020B0503020204020204" charset="-122"/>
              </a:rPr>
              <a:t> </a:t>
            </a:r>
            <a:r>
              <a:rPr sz="1710" dirty="0" smtClean="0">
                <a:solidFill>
                  <a:schemeClr val="tx1"/>
                </a:solidFill>
                <a:uFillTx/>
                <a:latin typeface="Calibri" panose="020F0502020204030204" charset="0"/>
                <a:ea typeface="微软雅黑" panose="020B0503020204020204" charset="-122"/>
              </a:rPr>
              <a:t>q。 </a:t>
            </a:r>
            <a:endParaRPr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en-US" sz="1710" dirty="0" smtClean="0">
                <a:solidFill>
                  <a:schemeClr val="tx1"/>
                </a:solidFill>
                <a:uFillTx/>
                <a:latin typeface="Calibri" panose="020F0502020204030204" charset="0"/>
                <a:ea typeface="微软雅黑" panose="020B0503020204020204" charset="-122"/>
              </a:rPr>
              <a:t>A</a:t>
            </a:r>
            <a:r>
              <a:rPr lang="zh-CN" altLang="en-US" sz="1710" dirty="0" smtClean="0">
                <a:solidFill>
                  <a:schemeClr val="tx1"/>
                </a:solidFill>
                <a:uFillTx/>
                <a:latin typeface="Calibri" panose="020F0502020204030204" charset="0"/>
                <a:ea typeface="微软雅黑" panose="020B0503020204020204" charset="-122"/>
              </a:rPr>
              <a:t>的私钥为</a:t>
            </a:r>
            <a:r>
              <a:rPr sz="1710" dirty="0" smtClean="0">
                <a:uFillTx/>
                <a:latin typeface="Calibri" panose="020F0502020204030204" charset="0"/>
                <a:ea typeface="微软雅黑" panose="020B0503020204020204" charset="-122"/>
                <a:sym typeface="+mn-ea"/>
              </a:rPr>
              <a:t>X</a:t>
            </a:r>
            <a:r>
              <a:rPr lang="en-US" sz="1710" baseline="-25000" dirty="0" smtClean="0">
                <a:uFillTx/>
                <a:latin typeface="Calibri" panose="020F0502020204030204" charset="0"/>
                <a:ea typeface="微软雅黑" panose="020B0503020204020204" charset="-122"/>
                <a:sym typeface="+mn-ea"/>
              </a:rPr>
              <a:t>A</a:t>
            </a:r>
            <a:r>
              <a:rPr lang="zh-CN" altLang="en-US" sz="1710" dirty="0" smtClean="0">
                <a:uFillTx/>
                <a:latin typeface="Calibri" panose="020F0502020204030204" charset="0"/>
                <a:ea typeface="微软雅黑" panose="020B0503020204020204" charset="-122"/>
                <a:sym typeface="+mn-ea"/>
              </a:rPr>
              <a:t>，公钥为</a:t>
            </a:r>
            <a:r>
              <a:rPr lang="en-US" altLang="zh-CN" sz="1710" dirty="0" smtClean="0">
                <a:uFillTx/>
                <a:latin typeface="Calibri" panose="020F0502020204030204" charset="0"/>
                <a:ea typeface="微软雅黑" panose="020B0503020204020204" charset="-122"/>
                <a:sym typeface="+mn-ea"/>
              </a:rPr>
              <a:t>{q,</a:t>
            </a:r>
            <a:r>
              <a:rPr lang="en-US" sz="1710" dirty="0" smtClean="0">
                <a:uFillTx/>
                <a:latin typeface="Calibri" panose="020F0502020204030204" charset="0"/>
                <a:ea typeface="微软雅黑" panose="020B0503020204020204" charset="-122"/>
                <a:sym typeface="+mn-ea"/>
              </a:rPr>
              <a:t>α,</a:t>
            </a:r>
            <a:r>
              <a:rPr sz="1710" dirty="0" smtClean="0">
                <a:uFillTx/>
                <a:latin typeface="Calibri" panose="020F0502020204030204" charset="0"/>
                <a:ea typeface="微软雅黑" panose="020B0503020204020204" charset="-122"/>
                <a:sym typeface="+mn-ea"/>
              </a:rPr>
              <a:t>Y</a:t>
            </a:r>
            <a:r>
              <a:rPr lang="en-US" sz="1710" baseline="-25000" dirty="0" smtClean="0">
                <a:uFillTx/>
                <a:latin typeface="Calibri" panose="020F0502020204030204" charset="0"/>
                <a:ea typeface="微软雅黑" panose="020B0503020204020204" charset="-122"/>
                <a:sym typeface="+mn-ea"/>
              </a:rPr>
              <a:t>A</a:t>
            </a:r>
            <a:r>
              <a:rPr lang="en-US" sz="1710" dirty="0" smtClean="0">
                <a:uFillTx/>
                <a:latin typeface="Calibri" panose="020F0502020204030204" charset="0"/>
                <a:ea typeface="微软雅黑" panose="020B0503020204020204" charset="-122"/>
                <a:sym typeface="+mn-ea"/>
              </a:rPr>
              <a:t>}</a:t>
            </a:r>
            <a:endParaRPr sz="171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用户B</a:t>
            </a:r>
            <a:r>
              <a:rPr lang="zh-CN" sz="2000" dirty="0" smtClean="0">
                <a:solidFill>
                  <a:schemeClr val="tx1"/>
                </a:solidFill>
                <a:uFillTx/>
                <a:latin typeface="Calibri" panose="020F0502020204030204" charset="0"/>
                <a:ea typeface="微软雅黑" panose="020B0503020204020204" charset="-122"/>
              </a:rPr>
              <a:t>通过用户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的公钥加密消息</a:t>
            </a:r>
            <a:r>
              <a:rPr lang="en-US" altLang="zh-CN" sz="2000" dirty="0" smtClean="0">
                <a:solidFill>
                  <a:schemeClr val="tx1"/>
                </a:solidFill>
                <a:uFillTx/>
                <a:latin typeface="Calibri" panose="020F0502020204030204" charset="0"/>
                <a:ea typeface="微软雅黑" panose="020B0503020204020204" charset="-122"/>
              </a:rPr>
              <a:t>M</a:t>
            </a:r>
            <a:r>
              <a:rPr lang="zh-CN" altLang="en-US" sz="2000" dirty="0" smtClean="0">
                <a:solidFill>
                  <a:schemeClr val="tx1"/>
                </a:solidFill>
                <a:uFillTx/>
                <a:latin typeface="Calibri" panose="020F0502020204030204" charset="0"/>
                <a:ea typeface="微软雅黑" panose="020B0503020204020204" charset="-122"/>
              </a:rPr>
              <a:t>，</a:t>
            </a:r>
            <a:r>
              <a:rPr lang="en-US" altLang="zh-CN" sz="2000" dirty="0" smtClean="0">
                <a:uFillTx/>
                <a:latin typeface="Calibri" panose="020F0502020204030204" charset="0"/>
                <a:ea typeface="微软雅黑" panose="020B0503020204020204" charset="-122"/>
                <a:sym typeface="+mn-ea"/>
              </a:rPr>
              <a:t>0≤M</a:t>
            </a:r>
            <a:r>
              <a:rPr lang="en-US" altLang="zh-CN"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rPr>
              <a:t>：</a:t>
            </a:r>
            <a:endParaRPr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1710" dirty="0" smtClean="0">
                <a:solidFill>
                  <a:schemeClr val="tx1"/>
                </a:solidFill>
                <a:uFillTx/>
                <a:latin typeface="Calibri" panose="020F0502020204030204" charset="0"/>
                <a:ea typeface="微软雅黑" panose="020B0503020204020204" charset="-122"/>
              </a:rPr>
              <a:t>选择</a:t>
            </a:r>
            <a:r>
              <a:rPr lang="zh-CN" sz="1710" dirty="0" smtClean="0">
                <a:solidFill>
                  <a:schemeClr val="tx1"/>
                </a:solidFill>
                <a:uFillTx/>
                <a:latin typeface="Calibri" panose="020F0502020204030204" charset="0"/>
                <a:ea typeface="微软雅黑" panose="020B0503020204020204" charset="-122"/>
              </a:rPr>
              <a:t>任意</a:t>
            </a:r>
            <a:r>
              <a:rPr sz="1710" dirty="0" smtClean="0">
                <a:solidFill>
                  <a:schemeClr val="tx1"/>
                </a:solidFill>
                <a:uFillTx/>
                <a:latin typeface="Calibri" panose="020F0502020204030204" charset="0"/>
                <a:ea typeface="微软雅黑" panose="020B0503020204020204" charset="-122"/>
              </a:rPr>
              <a:t>整数</a:t>
            </a:r>
            <a:r>
              <a:rPr lang="en-US" sz="1710" dirty="0" smtClean="0">
                <a:solidFill>
                  <a:schemeClr val="tx1"/>
                </a:solidFill>
                <a:uFillTx/>
                <a:latin typeface="Calibri" panose="020F0502020204030204" charset="0"/>
                <a:ea typeface="微软雅黑" panose="020B0503020204020204" charset="-122"/>
              </a:rPr>
              <a:t>k</a:t>
            </a:r>
            <a:r>
              <a:rPr sz="1710" dirty="0" smtClean="0">
                <a:solidFill>
                  <a:schemeClr val="tx1"/>
                </a:solidFill>
                <a:uFillTx/>
                <a:latin typeface="Calibri" panose="020F0502020204030204" charset="0"/>
                <a:ea typeface="微软雅黑" panose="020B0503020204020204" charset="-122"/>
              </a:rPr>
              <a:t>, </a:t>
            </a:r>
            <a:r>
              <a:rPr lang="en-US" sz="1710" dirty="0" smtClean="0">
                <a:solidFill>
                  <a:schemeClr val="tx1"/>
                </a:solidFill>
                <a:uFillTx/>
                <a:latin typeface="Calibri" panose="020F0502020204030204" charset="0"/>
                <a:ea typeface="微软雅黑" panose="020B0503020204020204" charset="-122"/>
              </a:rPr>
              <a:t>1</a:t>
            </a:r>
            <a:r>
              <a:rPr lang="en-US" altLang="zh-CN" sz="171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q</a:t>
            </a:r>
            <a:r>
              <a:rPr lang="en-US" sz="1710" dirty="0" smtClean="0">
                <a:uFillTx/>
                <a:latin typeface="Calibri" panose="020F0502020204030204" charset="0"/>
                <a:ea typeface="微软雅黑" panose="020B0503020204020204" charset="-122"/>
                <a:sym typeface="+mn-ea"/>
              </a:rPr>
              <a:t>-1</a:t>
            </a:r>
            <a:r>
              <a:rPr lang="zh-CN" altLang="en-US" sz="1710" dirty="0" smtClean="0">
                <a:uFillTx/>
                <a:latin typeface="Calibri" panose="020F0502020204030204" charset="0"/>
                <a:ea typeface="微软雅黑" panose="020B0503020204020204" charset="-122"/>
                <a:sym typeface="+mn-ea"/>
              </a:rPr>
              <a:t>；</a:t>
            </a:r>
            <a:r>
              <a:rPr sz="1710" dirty="0" smtClean="0">
                <a:solidFill>
                  <a:schemeClr val="tx1"/>
                </a:solidFill>
                <a:uFillTx/>
                <a:latin typeface="Calibri" panose="020F0502020204030204" charset="0"/>
                <a:ea typeface="微软雅黑" panose="020B0503020204020204" charset="-122"/>
              </a:rPr>
              <a:t>计算</a:t>
            </a:r>
            <a:r>
              <a:rPr lang="en-US" altLang="zh-CN" sz="171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Y</a:t>
            </a:r>
            <a:r>
              <a:rPr lang="en-US" sz="1710" baseline="-25000" dirty="0" smtClean="0">
                <a:uFillTx/>
                <a:latin typeface="Calibri" panose="020F0502020204030204" charset="0"/>
                <a:ea typeface="微软雅黑" panose="020B0503020204020204" charset="-122"/>
                <a:sym typeface="+mn-ea"/>
              </a:rPr>
              <a:t>A</a:t>
            </a:r>
            <a:r>
              <a:rPr lang="en-US" sz="1710" dirty="0" smtClean="0">
                <a:uFillTx/>
                <a:latin typeface="Calibri" panose="020F0502020204030204" charset="0"/>
                <a:ea typeface="微软雅黑" panose="020B0503020204020204" charset="-122"/>
                <a:sym typeface="+mn-ea"/>
              </a:rPr>
              <a:t>)</a:t>
            </a:r>
            <a:r>
              <a:rPr lang="en-US" sz="1710" baseline="3000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r>
              <a:rPr sz="1710" dirty="0" smtClean="0">
                <a:solidFill>
                  <a:schemeClr val="tx1"/>
                </a:solidFill>
                <a:uFillTx/>
                <a:latin typeface="Calibri" panose="020F0502020204030204" charset="0"/>
                <a:ea typeface="微软雅黑" panose="020B0503020204020204" charset="-122"/>
              </a:rPr>
              <a:t> 。</a:t>
            </a:r>
            <a:endParaRPr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zh-CN" sz="1710" dirty="0" smtClean="0">
                <a:solidFill>
                  <a:schemeClr val="tx1"/>
                </a:solidFill>
                <a:uFillTx/>
                <a:latin typeface="Calibri" panose="020F0502020204030204" charset="0"/>
                <a:ea typeface="微软雅黑" panose="020B0503020204020204" charset="-122"/>
              </a:rPr>
              <a:t>将</a:t>
            </a:r>
            <a:r>
              <a:rPr lang="en-US" altLang="zh-CN" sz="1710" dirty="0" smtClean="0">
                <a:solidFill>
                  <a:schemeClr val="tx1"/>
                </a:solidFill>
                <a:uFillTx/>
                <a:latin typeface="Calibri" panose="020F0502020204030204" charset="0"/>
                <a:ea typeface="微软雅黑" panose="020B0503020204020204" charset="-122"/>
              </a:rPr>
              <a:t>M</a:t>
            </a:r>
            <a:r>
              <a:rPr lang="zh-CN" altLang="en-US" sz="1710" dirty="0" smtClean="0">
                <a:solidFill>
                  <a:schemeClr val="tx1"/>
                </a:solidFill>
                <a:uFillTx/>
                <a:latin typeface="Calibri" panose="020F0502020204030204" charset="0"/>
                <a:ea typeface="微软雅黑" panose="020B0503020204020204" charset="-122"/>
              </a:rPr>
              <a:t>加密为整数对</a:t>
            </a:r>
            <a:r>
              <a:rPr lang="en-US" altLang="zh-CN" sz="1710" dirty="0" smtClean="0">
                <a:solidFill>
                  <a:schemeClr val="tx1"/>
                </a:solidFill>
                <a:uFillTx/>
                <a:latin typeface="Calibri" panose="020F0502020204030204" charset="0"/>
                <a:ea typeface="微软雅黑" panose="020B0503020204020204" charset="-122"/>
              </a:rPr>
              <a:t>(C</a:t>
            </a:r>
            <a:r>
              <a:rPr lang="en-US" altLang="zh-CN" sz="1710" baseline="-25000" dirty="0" smtClean="0">
                <a:solidFill>
                  <a:schemeClr val="tx1"/>
                </a:solidFill>
                <a:uFillTx/>
                <a:latin typeface="Calibri" panose="020F0502020204030204" charset="0"/>
                <a:ea typeface="微软雅黑" panose="020B0503020204020204" charset="-122"/>
              </a:rPr>
              <a:t>1</a:t>
            </a:r>
            <a:r>
              <a:rPr lang="en-US" altLang="zh-CN" sz="1710" dirty="0" smtClean="0">
                <a:solidFill>
                  <a:schemeClr val="tx1"/>
                </a:solidFill>
                <a:uFillTx/>
                <a:latin typeface="Calibri" panose="020F0502020204030204" charset="0"/>
                <a:ea typeface="微软雅黑" panose="020B0503020204020204" charset="-122"/>
              </a:rPr>
              <a:t>,C</a:t>
            </a:r>
            <a:r>
              <a:rPr lang="en-US" altLang="zh-CN" sz="1710" baseline="-25000" dirty="0" smtClean="0">
                <a:uFillTx/>
                <a:latin typeface="Calibri" panose="020F0502020204030204" charset="0"/>
                <a:ea typeface="微软雅黑" panose="020B0503020204020204" charset="-122"/>
                <a:sym typeface="+mn-ea"/>
              </a:rPr>
              <a:t>2</a:t>
            </a:r>
            <a:r>
              <a:rPr lang="en-US" altLang="zh-CN" sz="1710" dirty="0" smtClean="0">
                <a:solidFill>
                  <a:schemeClr val="tx1"/>
                </a:solidFill>
                <a:uFillTx/>
                <a:latin typeface="Calibri" panose="020F0502020204030204" charset="0"/>
                <a:ea typeface="微软雅黑" panose="020B0503020204020204" charset="-122"/>
              </a:rPr>
              <a:t>)</a:t>
            </a:r>
            <a:r>
              <a:rPr lang="zh-CN" altLang="en-US" sz="1710" dirty="0" smtClean="0">
                <a:solidFill>
                  <a:schemeClr val="tx1"/>
                </a:solidFill>
                <a:uFillTx/>
                <a:latin typeface="Calibri" panose="020F0502020204030204" charset="0"/>
                <a:ea typeface="微软雅黑" panose="020B0503020204020204" charset="-122"/>
              </a:rPr>
              <a:t>，其中：</a:t>
            </a:r>
            <a:endParaRPr lang="zh-CN" altLang="en-US"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1</a:t>
            </a:r>
            <a:r>
              <a:rPr lang="en-US" altLang="zh-CN" sz="1710" dirty="0" smtClean="0">
                <a:uFillTx/>
                <a:latin typeface="Calibri" panose="020F0502020204030204" charset="0"/>
                <a:ea typeface="微软雅黑" panose="020B0503020204020204" charset="-122"/>
                <a:sym typeface="+mn-ea"/>
              </a:rPr>
              <a:t>=</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α</a:t>
            </a:r>
            <a:r>
              <a:rPr lang="en-US" sz="1710" baseline="30000" dirty="0" smtClean="0">
                <a:uFillTx/>
                <a:latin typeface="Calibri" panose="020F0502020204030204" charset="0"/>
                <a:ea typeface="微软雅黑" panose="020B0503020204020204" charset="-122"/>
                <a:sym typeface="+mn-ea"/>
              </a:rPr>
              <a:t>k</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r>
              <a:rPr lang="zh-CN" sz="1710" dirty="0" smtClean="0">
                <a:uFillTx/>
                <a:latin typeface="Calibri" panose="020F0502020204030204" charset="0"/>
                <a:ea typeface="微软雅黑" panose="020B0503020204020204" charset="-122"/>
                <a:sym typeface="+mn-ea"/>
              </a:rPr>
              <a:t>，</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2</a:t>
            </a:r>
            <a:r>
              <a:rPr lang="en-US" sz="1710" dirty="0" smtClean="0">
                <a:uFillTx/>
                <a:latin typeface="Calibri" panose="020F0502020204030204" charset="0"/>
                <a:ea typeface="微软雅黑" panose="020B0503020204020204" charset="-122"/>
                <a:sym typeface="+mn-ea"/>
              </a:rPr>
              <a:t>=KM </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sz="171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rPr>
              <a:t>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解密过程：</a:t>
            </a:r>
            <a:endParaRPr lang="zh-CN" altLang="en-US"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zh-CN" altLang="en-US" sz="1710" dirty="0" smtClean="0">
                <a:solidFill>
                  <a:schemeClr val="tx1"/>
                </a:solidFill>
                <a:uFillTx/>
                <a:latin typeface="Calibri" panose="020F0502020204030204" charset="0"/>
                <a:ea typeface="微软雅黑" panose="020B0503020204020204" charset="-122"/>
              </a:rPr>
              <a:t>恢复密钥：</a:t>
            </a:r>
            <a:r>
              <a:rPr lang="en-US" altLang="zh-CN" sz="1710" dirty="0" smtClean="0">
                <a:solidFill>
                  <a:schemeClr val="tx1"/>
                </a:solidFill>
                <a:uFillTx/>
                <a:latin typeface="Calibri" panose="020F0502020204030204" charset="0"/>
                <a:ea typeface="微软雅黑" panose="020B0503020204020204" charset="-122"/>
              </a:rPr>
              <a:t>K=(</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1</a:t>
            </a:r>
            <a:r>
              <a:rPr lang="en-US" sz="1710" dirty="0" smtClean="0">
                <a:uFillTx/>
                <a:latin typeface="Calibri" panose="020F0502020204030204" charset="0"/>
                <a:ea typeface="微软雅黑" panose="020B0503020204020204" charset="-122"/>
                <a:sym typeface="+mn-ea"/>
              </a:rPr>
              <a:t>)</a:t>
            </a:r>
            <a:r>
              <a:rPr lang="en-US" sz="1710" baseline="30000" dirty="0" smtClean="0">
                <a:uFillTx/>
                <a:latin typeface="Calibri" panose="020F0502020204030204" charset="0"/>
                <a:ea typeface="微软雅黑" panose="020B0503020204020204" charset="-122"/>
                <a:sym typeface="+mn-ea"/>
              </a:rPr>
              <a:t>X</a:t>
            </a:r>
            <a:r>
              <a:rPr lang="en-US" sz="1200" baseline="30000" dirty="0" smtClean="0">
                <a:uFillTx/>
                <a:latin typeface="Calibri" panose="020F0502020204030204" charset="0"/>
                <a:ea typeface="微软雅黑" panose="020B0503020204020204" charset="-122"/>
                <a:sym typeface="+mn-ea"/>
              </a:rPr>
              <a:t>A</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lang="zh-CN" sz="1710" dirty="0" smtClean="0">
              <a:uFillTx/>
              <a:latin typeface="Calibri" panose="020F0502020204030204" charset="0"/>
              <a:ea typeface="微软雅黑" panose="020B0503020204020204" charset="-122"/>
              <a:sym typeface="+mn-ea"/>
            </a:endParaRPr>
          </a:p>
          <a:p>
            <a:pPr lvl="1" fontAlgn="auto">
              <a:lnSpc>
                <a:spcPct val="110000"/>
              </a:lnSpc>
              <a:spcBef>
                <a:spcPts val="600"/>
              </a:spcBef>
              <a:spcAft>
                <a:spcPts val="600"/>
              </a:spcAft>
            </a:pPr>
            <a:r>
              <a:rPr lang="en-US" altLang="zh-CN" sz="1710" dirty="0" smtClean="0">
                <a:uFillTx/>
                <a:latin typeface="Calibri" panose="020F0502020204030204" charset="0"/>
                <a:ea typeface="微软雅黑" panose="020B0503020204020204" charset="-122"/>
                <a:sym typeface="+mn-ea"/>
              </a:rPr>
              <a:t>M=(</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2</a:t>
            </a:r>
            <a:r>
              <a:rPr lang="en-US" altLang="zh-CN" sz="1710" dirty="0" smtClean="0">
                <a:uFillTx/>
                <a:latin typeface="Calibri" panose="020F0502020204030204" charset="0"/>
                <a:ea typeface="微软雅黑" panose="020B0503020204020204" charset="-122"/>
                <a:sym typeface="+mn-ea"/>
              </a:rPr>
              <a:t>K</a:t>
            </a:r>
            <a:r>
              <a:rPr lang="en-US" altLang="zh-CN" sz="1710" baseline="30000" dirty="0" smtClean="0">
                <a:uFillTx/>
                <a:latin typeface="Calibri" panose="020F0502020204030204" charset="0"/>
                <a:ea typeface="微软雅黑" panose="020B0503020204020204" charset="-122"/>
                <a:sym typeface="+mn-ea"/>
              </a:rPr>
              <a:t>-1</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sz="1710" dirty="0" smtClean="0">
              <a:uFillTx/>
              <a:latin typeface="Calibri" panose="020F0502020204030204" charset="0"/>
              <a:ea typeface="微软雅黑" panose="020B0503020204020204" charset="-122"/>
              <a:sym typeface="+mn-ea"/>
            </a:endParaRPr>
          </a:p>
          <a:p>
            <a:pPr marL="0" indent="0" fontAlgn="auto">
              <a:lnSpc>
                <a:spcPct val="110000"/>
              </a:lnSpc>
              <a:spcBef>
                <a:spcPts val="600"/>
              </a:spcBef>
              <a:spcAft>
                <a:spcPts val="600"/>
              </a:spcAft>
              <a:buNone/>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ElGamal解密过程可还原性证明：</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首先，我们来看K被解密恢复的过程：</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solidFill>
                  <a:schemeClr val="tx1"/>
                </a:solidFill>
                <a:uFillTx/>
                <a:latin typeface="Calibri" panose="020F0502020204030204" charset="0"/>
                <a:ea typeface="微软雅黑" panose="020B0503020204020204" charset="-122"/>
                <a:sym typeface="+mn-ea"/>
              </a:rPr>
              <a:t>K=(</a:t>
            </a:r>
            <a:r>
              <a:rPr lang="en-US"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altLang="zh-CN" sz="2000" dirty="0" smtClean="0">
                <a:solidFill>
                  <a:schemeClr val="tx1"/>
                </a:solidFill>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k</a:t>
            </a:r>
            <a:r>
              <a:rPr lang="en-US" altLang="zh-CN" sz="2000" dirty="0" smtClean="0">
                <a:solidFill>
                  <a:schemeClr val="tx1"/>
                </a:solidFill>
                <a:uFillTx/>
                <a:latin typeface="Calibri" panose="020F0502020204030204" charset="0"/>
                <a:ea typeface="微软雅黑" panose="020B0503020204020204" charset="-122"/>
                <a:sym typeface="+mn-ea"/>
              </a:rPr>
              <a:t>mod q</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solidFill>
                  <a:schemeClr val="tx1"/>
                </a:solidFill>
                <a:uFillTx/>
                <a:latin typeface="Calibri" panose="020F0502020204030204" charset="0"/>
                <a:ea typeface="微软雅黑" panose="020B0503020204020204" charset="-122"/>
                <a:sym typeface="+mn-ea"/>
              </a:rPr>
              <a:t>K= </a:t>
            </a:r>
            <a:r>
              <a:rPr lang="en-US"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kXA</a:t>
            </a:r>
            <a:r>
              <a:rPr lang="en-US" altLang="zh-CN" sz="2000" dirty="0" smtClean="0">
                <a:solidFill>
                  <a:schemeClr val="tx1"/>
                </a:solidFill>
                <a:uFillTx/>
                <a:latin typeface="Calibri" panose="020F0502020204030204" charset="0"/>
                <a:ea typeface="微软雅黑" panose="020B0503020204020204" charset="-122"/>
                <a:sym typeface="+mn-ea"/>
              </a:rPr>
              <a:t>mod q</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solidFill>
                  <a:schemeClr val="tx1"/>
                </a:solidFill>
                <a:uFillTx/>
                <a:latin typeface="Calibri" panose="020F0502020204030204" charset="0"/>
                <a:ea typeface="微软雅黑" panose="020B0503020204020204" charset="-122"/>
                <a:sym typeface="+mn-ea"/>
              </a:rPr>
              <a:t>K=(</a:t>
            </a:r>
            <a:r>
              <a:rPr lang="en-US" altLang="zh-CN" sz="2000" dirty="0" smtClean="0">
                <a:uFillTx/>
                <a:latin typeface="Calibri" panose="020F0502020204030204" charset="0"/>
                <a:ea typeface="微软雅黑" panose="020B0503020204020204" charset="-122"/>
                <a:sym typeface="+mn-ea"/>
              </a:rPr>
              <a:t>C</a:t>
            </a:r>
            <a:r>
              <a:rPr lang="en-US" altLang="zh-CN" sz="2000" baseline="-25000" dirty="0" smtClean="0">
                <a:uFillTx/>
                <a:latin typeface="Calibri" panose="020F0502020204030204" charset="0"/>
                <a:ea typeface="微软雅黑" panose="020B0503020204020204" charset="-122"/>
                <a:sym typeface="+mn-ea"/>
              </a:rPr>
              <a:t>1</a:t>
            </a:r>
            <a:r>
              <a:rPr lang="en-US" altLang="zh-CN" sz="2000" dirty="0" smtClean="0">
                <a:solidFill>
                  <a:schemeClr val="tx1"/>
                </a:solidFill>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a:t>
            </a:r>
            <a:r>
              <a:rPr lang="en-US" altLang="zh-CN" sz="2000" dirty="0" smtClean="0">
                <a:solidFill>
                  <a:schemeClr val="tx1"/>
                </a:solidFill>
                <a:uFillTx/>
                <a:latin typeface="Calibri" panose="020F0502020204030204" charset="0"/>
                <a:ea typeface="微软雅黑" panose="020B0503020204020204" charset="-122"/>
                <a:sym typeface="+mn-ea"/>
              </a:rPr>
              <a:t>mod q</a:t>
            </a:r>
            <a:endParaRPr lang="en-US" altLang="zh-CN" sz="2000" dirty="0" smtClean="0">
              <a:solidFill>
                <a:schemeClr val="tx1"/>
              </a:solidFill>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接下来，用K来恢复明文</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algn="l" fontAlgn="auto">
              <a:lnSpc>
                <a:spcPct val="70000"/>
              </a:lnSpc>
              <a:spcBef>
                <a:spcPts val="600"/>
              </a:spcBef>
              <a:spcAft>
                <a:spcPts val="600"/>
              </a:spcAft>
              <a:buClrTx/>
              <a:buSzTx/>
            </a:pPr>
            <a:r>
              <a:rPr lang="en-US" altLang="zh-CN" sz="2000" dirty="0" smtClean="0">
                <a:solidFill>
                  <a:schemeClr val="tx1"/>
                </a:solidFill>
                <a:uFillTx/>
                <a:latin typeface="Calibri" panose="020F0502020204030204" charset="0"/>
                <a:ea typeface="微软雅黑" panose="020B0503020204020204" charset="-122"/>
                <a:sym typeface="+mn-ea"/>
              </a:rPr>
              <a:t>C₂=KM </a:t>
            </a:r>
            <a:r>
              <a:rPr lang="en-US" altLang="zh-CN" sz="2000" dirty="0" smtClean="0">
                <a:uFillTx/>
                <a:latin typeface="Calibri" panose="020F0502020204030204" charset="0"/>
                <a:ea typeface="微软雅黑" panose="020B0503020204020204" charset="-122"/>
                <a:sym typeface="+mn-ea"/>
              </a:rPr>
              <a:t>mod q</a:t>
            </a:r>
            <a:endParaRPr lang="en-US" altLang="zh-CN" sz="2000" dirty="0" smtClean="0">
              <a:uFillTx/>
              <a:latin typeface="Calibri" panose="020F0502020204030204" charset="0"/>
              <a:ea typeface="微软雅黑" panose="020B0503020204020204" charset="-122"/>
              <a:sym typeface="+mn-ea"/>
            </a:endParaRPr>
          </a:p>
          <a:p>
            <a:pPr marL="2286000" lvl="5" algn="l" fontAlgn="auto">
              <a:lnSpc>
                <a:spcPct val="70000"/>
              </a:lnSpc>
              <a:spcBef>
                <a:spcPts val="600"/>
              </a:spcBef>
              <a:spcAft>
                <a:spcPts val="600"/>
              </a:spcAft>
              <a:buClrTx/>
              <a:buSzTx/>
            </a:pPr>
            <a:r>
              <a:rPr lang="en-US" altLang="zh-CN" sz="2000" dirty="0" smtClean="0">
                <a:uFillTx/>
                <a:latin typeface="Calibri" panose="020F0502020204030204" charset="0"/>
                <a:ea typeface="微软雅黑" panose="020B0503020204020204" charset="-122"/>
                <a:sym typeface="+mn-ea"/>
              </a:rPr>
              <a:t>(C</a:t>
            </a:r>
            <a:r>
              <a:rPr lang="en-US" altLang="zh-CN" sz="2000" baseline="-25000" dirty="0" smtClean="0">
                <a:uFillTx/>
                <a:latin typeface="Calibri" panose="020F0502020204030204" charset="0"/>
                <a:ea typeface="微软雅黑" panose="020B0503020204020204" charset="-122"/>
                <a:sym typeface="+mn-ea"/>
              </a:rPr>
              <a:t>2</a:t>
            </a:r>
            <a:r>
              <a:rPr lang="en-US" altLang="zh-CN" sz="2000" dirty="0" smtClean="0">
                <a:uFillTx/>
                <a:latin typeface="Calibri" panose="020F0502020204030204" charset="0"/>
                <a:ea typeface="微软雅黑" panose="020B0503020204020204" charset="-122"/>
                <a:sym typeface="+mn-ea"/>
              </a:rPr>
              <a:t>K</a:t>
            </a:r>
            <a:r>
              <a:rPr lang="en-US" altLang="zh-CN" sz="2000" baseline="30000" dirty="0" smtClean="0">
                <a:uFillTx/>
                <a:latin typeface="Calibri" panose="020F0502020204030204" charset="0"/>
                <a:ea typeface="微软雅黑" panose="020B0503020204020204" charset="-122"/>
                <a:sym typeface="+mn-ea"/>
              </a:rPr>
              <a:t>-1</a:t>
            </a:r>
            <a:r>
              <a:rPr lang="en-US" altLang="zh-CN" sz="2000" dirty="0" smtClean="0">
                <a:uFillTx/>
                <a:latin typeface="Calibri" panose="020F0502020204030204" charset="0"/>
                <a:ea typeface="微软雅黑" panose="020B0503020204020204" charset="-122"/>
                <a:sym typeface="+mn-ea"/>
              </a:rPr>
              <a:t>) mod q</a:t>
            </a:r>
            <a:r>
              <a:rPr lang="en-US" altLang="zh-CN" sz="2000" dirty="0" smtClean="0">
                <a:solidFill>
                  <a:schemeClr val="tx1"/>
                </a:solidFill>
                <a:uFillTx/>
                <a:latin typeface="Calibri" panose="020F0502020204030204" charset="0"/>
                <a:ea typeface="微软雅黑" panose="020B0503020204020204" charset="-122"/>
                <a:sym typeface="+mn-ea"/>
              </a:rPr>
              <a:t> = KM</a:t>
            </a:r>
            <a:r>
              <a:rPr lang="en-US" altLang="zh-CN" sz="2000" dirty="0" smtClean="0">
                <a:uFillTx/>
                <a:latin typeface="Calibri" panose="020F0502020204030204" charset="0"/>
                <a:ea typeface="微软雅黑" panose="020B0503020204020204" charset="-122"/>
                <a:sym typeface="+mn-ea"/>
              </a:rPr>
              <a:t>K</a:t>
            </a:r>
            <a:r>
              <a:rPr lang="en-US" altLang="zh-CN" sz="2000" baseline="30000" dirty="0" smtClean="0">
                <a:uFillTx/>
                <a:latin typeface="Calibri" panose="020F0502020204030204" charset="0"/>
                <a:ea typeface="微软雅黑" panose="020B0503020204020204" charset="-122"/>
                <a:sym typeface="+mn-ea"/>
              </a:rPr>
              <a:t>-1</a:t>
            </a:r>
            <a:r>
              <a:rPr lang="en-US" altLang="zh-CN" sz="2000" dirty="0" smtClean="0">
                <a:uFillTx/>
                <a:latin typeface="Calibri" panose="020F0502020204030204" charset="0"/>
                <a:ea typeface="微软雅黑" panose="020B0503020204020204" charset="-122"/>
                <a:sym typeface="+mn-ea"/>
              </a:rPr>
              <a:t> mod q = M mod q = M</a:t>
            </a:r>
            <a:endParaRPr lang="en-US" altLang="zh-CN"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10000"/>
              </a:lnSpc>
              <a:spcBef>
                <a:spcPts val="600"/>
              </a:spcBef>
              <a:spcAft>
                <a:spcPts val="600"/>
              </a:spcAft>
              <a:buNone/>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ElGamal算法的安全性分析</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由于EIGamal密码的安全性建立在GF(p)离散对数的困难性之上，而目前尚无求解GF(p)离散对数的有效算法，所以在p足够大时EIGamal密码是安全的。</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为了安全p应为150位以上的十进制数，而且p-1应有大素因子。</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sz="2000" dirty="0" smtClean="0">
                <a:uFillTx/>
                <a:latin typeface="Calibri" panose="020F0502020204030204" charset="0"/>
                <a:ea typeface="微软雅黑" panose="020B0503020204020204" charset="-122"/>
                <a:sym typeface="+mn-ea"/>
              </a:rPr>
              <a:t>X</a:t>
            </a:r>
            <a:r>
              <a:rPr lang="en-US" sz="2000" baseline="-25000" dirty="0" smtClean="0">
                <a:uFillTx/>
                <a:latin typeface="Calibri" panose="020F0502020204030204" charset="0"/>
                <a:ea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sym typeface="+mn-ea"/>
              </a:rPr>
              <a:t>和k都不能太小。</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为了安全加密和签名所使用的k必须是一次性的。</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ElGamal算法的安全性分析</a:t>
            </a:r>
            <a:endParaRPr lang="en-US" altLang="zh-CN" sz="2400" dirty="0" smtClean="0">
              <a:solidFill>
                <a:schemeClr val="tx1"/>
              </a:solidFill>
              <a:uFillTx/>
              <a:latin typeface="Calibri" panose="020F0502020204030204" charset="0"/>
              <a:ea typeface="微软雅黑" panose="020B0503020204020204" charset="-122"/>
            </a:endParaRPr>
          </a:p>
          <a:p>
            <a:pPr marL="457200" indent="-457200" fontAlgn="auto">
              <a:lnSpc>
                <a:spcPct val="110000"/>
              </a:lnSpc>
              <a:spcBef>
                <a:spcPts val="600"/>
              </a:spcBef>
              <a:spcAft>
                <a:spcPts val="600"/>
              </a:spcAft>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如果k不是一次性的，时间长了就可能被攻击者获得。</a:t>
            </a:r>
            <a:endParaRPr lang="zh-CN" altLang="en-US" sz="2000" dirty="0" smtClean="0">
              <a:solidFill>
                <a:schemeClr val="tx1"/>
              </a:solidFill>
              <a:uFillTx/>
              <a:latin typeface="Calibri" panose="020F0502020204030204" charset="0"/>
              <a:ea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又因</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sym typeface="+mn-ea"/>
              </a:rPr>
              <a:t>是公开密钥，攻击者自然知道。于是攻击者就可以根据</a:t>
            </a:r>
            <a:r>
              <a:rPr lang="en-US" altLang="zh-CN" sz="2000" dirty="0" smtClean="0">
                <a:solidFill>
                  <a:schemeClr val="tx1"/>
                </a:solidFill>
                <a:uFillTx/>
                <a:latin typeface="Calibri" panose="020F0502020204030204" charset="0"/>
                <a:ea typeface="微软雅黑" panose="020B0503020204020204" charset="-122"/>
                <a:sym typeface="+mn-ea"/>
              </a:rPr>
              <a:t> </a:t>
            </a: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zh-CN" altLang="en-US" sz="2000" dirty="0" smtClean="0">
                <a:solidFill>
                  <a:schemeClr val="tx1"/>
                </a:solidFill>
                <a:uFillTx/>
                <a:latin typeface="Calibri" panose="020F0502020204030204" charset="0"/>
                <a:ea typeface="微软雅黑" panose="020B0503020204020204" charset="-122"/>
                <a:sym typeface="+mn-ea"/>
              </a:rPr>
              <a:t>计算出</a:t>
            </a:r>
            <a:r>
              <a:rPr lang="en-US" altLang="zh-CN" sz="2000" dirty="0" smtClean="0">
                <a:solidFill>
                  <a:schemeClr val="tx1"/>
                </a:solidFill>
                <a:uFillTx/>
                <a:latin typeface="Calibri" panose="020F0502020204030204" charset="0"/>
                <a:ea typeface="微软雅黑" panose="020B0503020204020204" charset="-122"/>
                <a:sym typeface="+mn-ea"/>
              </a:rPr>
              <a:t>K</a:t>
            </a:r>
            <a:r>
              <a:rPr lang="zh-CN" altLang="en-US" sz="2000" dirty="0" smtClean="0">
                <a:solidFill>
                  <a:schemeClr val="tx1"/>
                </a:solidFill>
                <a:uFillTx/>
                <a:latin typeface="Calibri" panose="020F0502020204030204" charset="0"/>
                <a:ea typeface="微软雅黑" panose="020B0503020204020204" charset="-122"/>
                <a:sym typeface="+mn-ea"/>
              </a:rPr>
              <a:t>，进而利用欧几里得算法求出</a:t>
            </a:r>
            <a:r>
              <a:rPr lang="en-US" altLang="zh-CN" sz="2000" dirty="0" smtClean="0">
                <a:solidFill>
                  <a:schemeClr val="tx1"/>
                </a:solidFill>
                <a:uFillTx/>
                <a:latin typeface="Calibri" panose="020F0502020204030204" charset="0"/>
                <a:ea typeface="微软雅黑" panose="020B0503020204020204" charset="-122"/>
                <a:sym typeface="+mn-ea"/>
              </a:rPr>
              <a:t>K</a:t>
            </a:r>
            <a:r>
              <a:rPr lang="en-US" altLang="zh-CN" sz="2000" baseline="30000" dirty="0" smtClean="0">
                <a:solidFill>
                  <a:schemeClr val="tx1"/>
                </a:solidFill>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sym typeface="+mn-ea"/>
              </a:rPr>
              <a:t>。</a:t>
            </a:r>
            <a:endParaRPr lang="zh-CN" altLang="en-US" sz="2000" dirty="0" smtClean="0">
              <a:solidFill>
                <a:schemeClr val="tx1"/>
              </a:solidFill>
              <a:uFillTx/>
              <a:latin typeface="Calibri" panose="020F0502020204030204" charset="0"/>
              <a:ea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因为攻击者可以获得密文C₂,于是可根据式C₂=</a:t>
            </a:r>
            <a:r>
              <a:rPr lang="en-US" altLang="zh-CN" sz="2000" dirty="0" smtClean="0">
                <a:solidFill>
                  <a:schemeClr val="tx1"/>
                </a:solidFill>
                <a:uFillTx/>
                <a:latin typeface="Calibri" panose="020F0502020204030204" charset="0"/>
                <a:ea typeface="微软雅黑" panose="020B0503020204020204" charset="-122"/>
                <a:sym typeface="+mn-ea"/>
              </a:rPr>
              <a:t>K</a:t>
            </a:r>
            <a:r>
              <a:rPr lang="zh-CN" altLang="en-US" sz="2000" dirty="0" smtClean="0">
                <a:solidFill>
                  <a:schemeClr val="tx1"/>
                </a:solidFill>
                <a:uFillTx/>
                <a:latin typeface="Calibri" panose="020F0502020204030204" charset="0"/>
                <a:ea typeface="微软雅黑" panose="020B0503020204020204" charset="-122"/>
                <a:sym typeface="+mn-ea"/>
              </a:rPr>
              <a:t>M mod p通过计算</a:t>
            </a:r>
            <a:r>
              <a:rPr lang="en-US" altLang="zh-CN" sz="2000" dirty="0" smtClean="0">
                <a:solidFill>
                  <a:schemeClr val="tx1"/>
                </a:solidFill>
                <a:uFillTx/>
                <a:latin typeface="Calibri" panose="020F0502020204030204" charset="0"/>
                <a:ea typeface="微软雅黑" panose="020B0503020204020204" charset="-122"/>
                <a:sym typeface="+mn-ea"/>
              </a:rPr>
              <a:t>K</a:t>
            </a:r>
            <a:r>
              <a:rPr lang="zh-CN" altLang="en-US" sz="2000" baseline="30000" dirty="0" smtClean="0">
                <a:solidFill>
                  <a:schemeClr val="tx1"/>
                </a:solidFill>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sym typeface="+mn-ea"/>
              </a:rPr>
              <a:t>C</a:t>
            </a:r>
            <a:r>
              <a:rPr lang="zh-CN" altLang="en-US" sz="2000" baseline="-25000" dirty="0" smtClean="0">
                <a:solidFill>
                  <a:schemeClr val="tx1"/>
                </a:solidFill>
                <a:uFillTx/>
                <a:latin typeface="Calibri" panose="020F0502020204030204" charset="0"/>
                <a:ea typeface="微软雅黑" panose="020B0503020204020204" charset="-122"/>
                <a:sym typeface="+mn-ea"/>
              </a:rPr>
              <a:t>2</a:t>
            </a:r>
            <a:r>
              <a:rPr lang="zh-CN" altLang="en-US" sz="2000" dirty="0" smtClean="0">
                <a:solidFill>
                  <a:schemeClr val="tx1"/>
                </a:solidFill>
                <a:uFillTx/>
                <a:latin typeface="Calibri" panose="020F0502020204030204" charset="0"/>
                <a:ea typeface="微软雅黑" panose="020B0503020204020204" charset="-122"/>
                <a:sym typeface="+mn-ea"/>
              </a:rPr>
              <a:t>得到明文M。</a:t>
            </a:r>
            <a:endParaRPr lang="zh-CN" altLang="en-US" sz="2000" dirty="0" smtClean="0">
              <a:solidFill>
                <a:schemeClr val="tx1"/>
              </a:solidFill>
              <a:uFillTx/>
              <a:latin typeface="Calibri" panose="020F0502020204030204" charset="0"/>
              <a:ea typeface="微软雅黑" panose="020B0503020204020204" charset="-122"/>
              <a:sym typeface="+mn-ea"/>
            </a:endParaRPr>
          </a:p>
          <a:p>
            <a:pPr marL="457200" indent="-457200" fontAlgn="auto">
              <a:lnSpc>
                <a:spcPct val="110000"/>
              </a:lnSpc>
              <a:spcBef>
                <a:spcPts val="600"/>
              </a:spcBef>
              <a:spcAft>
                <a:spcPts val="600"/>
              </a:spcAft>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设用同一个k加密两个不同的明文M和M</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，相应的密文为(C₁,C₂)和(C</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,C₂</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)。因为C₂/C₂</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=M/M'，如果攻击者知道M,则很容易求出M</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ElGamal算法的应用</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由于EIGamal密码的安全性得到世界公认，所以得广泛的应用。</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著名的美国数字签名标准DSS,采用了EIGamal密码的一种变形。</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电子邮件标准S/MIME采用了EIGamal密码。</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俄罗斯的数字签名标准也是EIGamal密码的一种变形，而且数据规模选得更大。</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为了适应不同的应用，人们在应用中总结出18种不同的EIGamal密码的变形。</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a:t>
            </a:r>
            <a:r>
              <a:rPr lang="zh-CN" altLang="en-US" sz="2400" dirty="0" smtClean="0">
                <a:solidFill>
                  <a:schemeClr val="tx1"/>
                </a:solidFill>
                <a:uFillTx/>
                <a:latin typeface="Calibri" panose="020F0502020204030204" charset="0"/>
                <a:ea typeface="微软雅黑" panose="020B0503020204020204" charset="-122"/>
              </a:rPr>
              <a:t>算法的应用</a:t>
            </a:r>
            <a:endParaRPr lang="zh-CN" altLang="en-US" sz="2400"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①加解密速度快</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由于实际应用时EIGamal密码运算的素数p比RSA要小，所以EIGamal密码的加解密速度比RSA快。</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②随机数源</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由EIGamal密码的解密钥d和随机数k都应是高质量的随机数。因此，应用EIGamal密码需要一个好的随机数源，也就是说能够快速地产生高质量的随机数。</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③大素数的选择</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为了EIGamal密码的安全，p应为150位(十进制数)以上的大素数，而且p-1应有大素因子。</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en-US" altLang="en-US" sz="3600" dirty="0"/>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2306955"/>
          </a:xfrm>
          <a:prstGeom prst="rect">
            <a:avLst/>
          </a:prstGeom>
          <a:noFill/>
        </p:spPr>
        <p:txBody>
          <a:bodyPr wrap="square" rtlCol="0" anchor="t">
            <a:spAutoFit/>
          </a:bodyPr>
          <a:p>
            <a:pPr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zh-CN" sz="3600" dirty="0">
                <a:solidFill>
                  <a:srgbClr val="FF0000"/>
                </a:solidFill>
                <a:latin typeface="仿宋" panose="02010609060101010101" charset="-122"/>
                <a:ea typeface="仿宋" panose="02010609060101010101" charset="-122"/>
                <a:cs typeface="仿宋" panose="02010609060101010101" charset="-122"/>
                <a:sym typeface="+mn-ea"/>
              </a:rPr>
              <a:t>密码学</a:t>
            </a:r>
            <a:r>
              <a:rPr lang="en-US" altLang="zh-CN" sz="3600" dirty="0">
                <a:solidFill>
                  <a:srgbClr val="FF0000"/>
                </a:solidFill>
                <a:latin typeface="仿宋" panose="02010609060101010101" charset="-122"/>
                <a:ea typeface="仿宋" panose="02010609060101010101" charset="-122"/>
                <a:cs typeface="仿宋" panose="02010609060101010101" charset="-122"/>
                <a:sym typeface="+mn-ea"/>
              </a:rPr>
              <a:t>Hash</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函数的应用</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二、两个简单的</a:t>
            </a:r>
            <a:r>
              <a:rPr lang="en-US" altLang="zh-CN" sz="3600" dirty="0">
                <a:latin typeface="仿宋" panose="02010609060101010101" charset="-122"/>
                <a:ea typeface="仿宋" panose="02010609060101010101" charset="-122"/>
                <a:cs typeface="仿宋" panose="02010609060101010101" charset="-122"/>
                <a:sym typeface="+mn-ea"/>
              </a:rPr>
              <a:t>Hash</a:t>
            </a:r>
            <a:r>
              <a:rPr lang="zh-CN" altLang="en-US" sz="3600" dirty="0">
                <a:latin typeface="仿宋" panose="02010609060101010101" charset="-122"/>
                <a:ea typeface="仿宋" panose="02010609060101010101" charset="-122"/>
                <a:cs typeface="仿宋" panose="02010609060101010101" charset="-122"/>
                <a:sym typeface="+mn-ea"/>
              </a:rPr>
              <a:t>函数</a:t>
            </a:r>
            <a:endParaRPr lang="zh-CN" altLang="en-US" sz="3600" dirty="0">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三、需求和</a:t>
            </a:r>
            <a:r>
              <a:rPr lang="zh-CN" altLang="en-US" sz="3600" dirty="0">
                <a:latin typeface="仿宋" panose="02010609060101010101" charset="-122"/>
                <a:ea typeface="仿宋" panose="02010609060101010101" charset="-122"/>
                <a:cs typeface="仿宋" panose="02010609060101010101" charset="-122"/>
                <a:sym typeface="+mn-ea"/>
              </a:rPr>
              <a:t>安全性</a:t>
            </a:r>
            <a:endParaRPr lang="zh-CN" altLang="en-US" sz="3600" dirty="0">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四、安全</a:t>
            </a:r>
            <a:r>
              <a:rPr lang="en-US" altLang="zh-CN" sz="3600" dirty="0">
                <a:latin typeface="仿宋" panose="02010609060101010101" charset="-122"/>
                <a:ea typeface="仿宋" panose="02010609060101010101" charset="-122"/>
                <a:cs typeface="仿宋" panose="02010609060101010101" charset="-122"/>
                <a:sym typeface="+mn-ea"/>
              </a:rPr>
              <a:t>Hash</a:t>
            </a:r>
            <a:r>
              <a:rPr lang="zh-CN" altLang="en-US" sz="3600" dirty="0">
                <a:latin typeface="仿宋" panose="02010609060101010101" charset="-122"/>
                <a:ea typeface="仿宋" panose="02010609060101010101" charset="-122"/>
                <a:cs typeface="仿宋" panose="02010609060101010101" charset="-122"/>
                <a:sym typeface="+mn-ea"/>
              </a:rPr>
              <a:t>函数</a:t>
            </a:r>
            <a:endParaRPr lang="zh-CN" altLang="en-US" sz="3600" dirty="0">
              <a:latin typeface="仿宋" panose="02010609060101010101" charset="-122"/>
              <a:ea typeface="仿宋" panose="02010609060101010101" charset="-122"/>
              <a:cs typeface="仿宋" panose="02010609060101010101"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Hash函数的定义</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2"/>
          <a:stretch>
            <a:fillRect/>
          </a:stretch>
        </p:blipFill>
        <p:spPr>
          <a:xfrm>
            <a:off x="356870" y="1019810"/>
            <a:ext cx="11457940" cy="913765"/>
          </a:xfrm>
          <a:prstGeom prst="rect">
            <a:avLst/>
          </a:prstGeom>
        </p:spPr>
      </p:pic>
      <p:sp>
        <p:nvSpPr>
          <p:cNvPr id="7" name="文本框 6"/>
          <p:cNvSpPr txBox="1"/>
          <p:nvPr/>
        </p:nvSpPr>
        <p:spPr>
          <a:xfrm>
            <a:off x="694055" y="1933575"/>
            <a:ext cx="11120755" cy="4246245"/>
          </a:xfrm>
          <a:prstGeom prst="rect">
            <a:avLst/>
          </a:prstGeom>
          <a:noFill/>
        </p:spPr>
        <p:txBody>
          <a:bodyPr wrap="square" rtlCol="0" anchor="t">
            <a:spAutoFit/>
          </a:bodyPr>
          <a:p>
            <a:r>
              <a:rPr lang="zh-CN" altLang="en-US"/>
              <a:t>Xcode 是由苹果公司发布的运行在操作系统Mac OS X上的集成开发工具（IDE），是开发OS X 和 iOS 应用程序的最主流工具。</a:t>
            </a:r>
            <a:endParaRPr lang="zh-CN" altLang="en-US"/>
          </a:p>
          <a:p>
            <a:r>
              <a:rPr lang="zh-CN" altLang="en-US"/>
              <a:t>2015年9月14日起，一例Xcode非官方版本恶意代码污染。多数分析者将这一事件称为“XcodeGhost”。</a:t>
            </a:r>
            <a:endParaRPr lang="zh-CN" altLang="en-US"/>
          </a:p>
          <a:p>
            <a:r>
              <a:rPr lang="zh-CN" altLang="en-US"/>
              <a:t>攻击者通过对Xcode进行篡改，加入恶意模块，并进行各种传播活动，使大量开发者使用被污染过的版本，建立开发环境。经过被污染过的Xcode版本编译出的App程序，将被植入恶意逻辑，其中包括向攻击者注册的域名回传若干信息，并可能导致弹窗攻击和被远程控制的风险。</a:t>
            </a:r>
            <a:endParaRPr lang="zh-CN" altLang="en-US"/>
          </a:p>
          <a:p>
            <a:r>
              <a:rPr lang="zh-CN" altLang="en-US"/>
              <a:t>本事件由腾讯相关安全团队发现，并上报国家互联网应急中心，国家互联网应急中心发出了公开预警，阿里安全研究员蒸米、Xundi根据分析将这一事件称为“XcodeGhost”，这一名称被其他机构和研究者所沿袭。PaloAlto Network、360、盘古、微步、i春秋等安全厂商和团队机构，对事件进行了大量跟进分析、普查和解读工作。有多个分析团队发现著名的游戏开发工具Unity 3D、Cocos 2d-x也被同一作者进行了地下供应链污染，因此会影响更多的操作系统平台。截止到本版本报告发布，尚未发现“XcodeGhost”组织对其他更多开发环境的影响，但安天分析小组基于JAVA代码和Native代码的开发特点，同样发出了相关风险预警。</a:t>
            </a:r>
            <a:endParaRPr lang="zh-CN" altLang="en-US"/>
          </a:p>
          <a:p>
            <a:r>
              <a:rPr lang="zh-CN" altLang="en-US"/>
              <a:t>截止到2015年9月20日，各方已经累计发现当前已确认共692种（如按版本号计算为858个）App曾受到污染，受影响的厂商中包括了微信、滴滴、网易云音乐等著名应用。</a:t>
            </a:r>
            <a:endParaRPr lang="zh-CN" altLang="en-US"/>
          </a:p>
          <a:p>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Calibri" panose="020F0502020204030204" charset="0"/>
                <a:ea typeface="微软雅黑" panose="020B0503020204020204" charset="-122"/>
              </a:rPr>
              <a:t>Hash函数的定义</a:t>
            </a:r>
            <a:endParaRPr lang="zh-CN" altLang="en-US" sz="2400"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①</a:t>
            </a:r>
            <a:r>
              <a:rPr lang="en-US" altLang="zh-CN" sz="2000" dirty="0" smtClean="0">
                <a:solidFill>
                  <a:schemeClr val="tx1"/>
                </a:solidFill>
                <a:uFillTx/>
                <a:latin typeface="Calibri" panose="020F0502020204030204" charset="0"/>
                <a:ea typeface="微软雅黑" panose="020B0503020204020204" charset="-122"/>
                <a:sym typeface="+mn-ea"/>
              </a:rPr>
              <a:t> </a:t>
            </a:r>
            <a:r>
              <a:rPr lang="en-US" altLang="zh-CN" sz="2000" dirty="0" smtClean="0">
                <a:uFillTx/>
                <a:latin typeface="Calibri" panose="020F0502020204030204" charset="0"/>
                <a:ea typeface="微软雅黑" panose="020B0503020204020204" charset="-122"/>
                <a:sym typeface="+mn-ea"/>
              </a:rPr>
              <a:t>Hash函数H将可变长度的数据块M作为输入，产生固定长度的Hash值h=H(M)。</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②</a:t>
            </a:r>
            <a:r>
              <a:rPr lang="en-US" altLang="zh-CN" sz="2000" dirty="0" smtClean="0">
                <a:solidFill>
                  <a:schemeClr val="tx1"/>
                </a:solidFill>
                <a:uFillTx/>
                <a:latin typeface="Calibri" panose="020F0502020204030204" charset="0"/>
                <a:ea typeface="微软雅黑" panose="020B0503020204020204" charset="-122"/>
                <a:sym typeface="+mn-ea"/>
              </a:rPr>
              <a:t> </a:t>
            </a:r>
            <a:r>
              <a:rPr lang="zh-CN" altLang="en-US" sz="2000" dirty="0" smtClean="0">
                <a:uFillTx/>
                <a:latin typeface="Calibri" panose="020F0502020204030204" charset="0"/>
                <a:ea typeface="微软雅黑" panose="020B0503020204020204" charset="-122"/>
                <a:sym typeface="+mn-ea"/>
              </a:rPr>
              <a:t>Hash函数也称为哈希函数、散列函数、压缩函数、杂凑函数、指纹函数等。其函数值H(M)为哈希值、散列值、杂凑码、指纹、消息摘要等。</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③</a:t>
            </a:r>
            <a:r>
              <a:rPr lang="en-US" altLang="zh-CN" sz="2000" dirty="0" smtClean="0">
                <a:solidFill>
                  <a:schemeClr val="tx1"/>
                </a:solidFill>
                <a:uFillTx/>
                <a:latin typeface="Calibri" panose="020F0502020204030204" charset="0"/>
                <a:ea typeface="微软雅黑" panose="020B0503020204020204" charset="-122"/>
                <a:sym typeface="+mn-ea"/>
              </a:rPr>
              <a:t> Hash函数的首要目标是保证数据完整性</a:t>
            </a:r>
            <a:r>
              <a:rPr lang="zh-CN" altLang="en-US" sz="2000" dirty="0" smtClean="0">
                <a:solidFill>
                  <a:schemeClr val="tx1"/>
                </a:solidFill>
                <a:uFillTx/>
                <a:latin typeface="Calibri" panose="020F0502020204030204" charset="0"/>
                <a:ea typeface="微软雅黑" panose="020B0503020204020204" charset="-122"/>
                <a:sym typeface="+mn-ea"/>
              </a:rPr>
              <a:t>。</a:t>
            </a:r>
            <a:endParaRPr lang="en-US" altLang="zh-CN"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buFont typeface="Wingdings" panose="05000000000000000000" charset="0"/>
              <a:buChar char="Ø"/>
            </a:pPr>
            <a:r>
              <a:rPr lang="zh-CN" altLang="en-US" sz="2400" dirty="0" smtClean="0">
                <a:uFillTx/>
                <a:latin typeface="Calibri" panose="020F0502020204030204" charset="0"/>
                <a:ea typeface="微软雅黑" panose="020B0503020204020204" charset="-122"/>
                <a:sym typeface="+mn-ea"/>
              </a:rPr>
              <a:t>密码学Hash函数</a:t>
            </a:r>
            <a:endParaRPr lang="zh-CN" altLang="en-US" sz="2400" dirty="0" smtClean="0">
              <a:uFillTx/>
              <a:latin typeface="Calibri" panose="020F0502020204030204" charset="0"/>
              <a:ea typeface="微软雅黑" panose="020B0503020204020204" charset="-122"/>
              <a:sym typeface="+mn-ea"/>
            </a:endParaRPr>
          </a:p>
          <a:p>
            <a:pPr marL="457200" indent="-457200" fontAlgn="auto">
              <a:lnSpc>
                <a:spcPct val="130000"/>
              </a:lnSpc>
              <a:spcBef>
                <a:spcPts val="600"/>
              </a:spcBef>
              <a:spcAft>
                <a:spcPts val="600"/>
              </a:spcAft>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rPr>
              <a:t>在安全应用中使用的Hash函数称为密码学Hash函数。密码学Hash函数要求如下两种情况在计算上不可行(即没有攻击方法比穷举攻击更有效)</a:t>
            </a:r>
            <a:endParaRPr lang="zh-CN" altLang="en-US" sz="2000" dirty="0" smtClean="0">
              <a:solidFill>
                <a:schemeClr val="tx1"/>
              </a:solidFill>
              <a:uFillTx/>
              <a:latin typeface="Calibri" panose="020F0502020204030204" charset="0"/>
              <a:ea typeface="微软雅黑" panose="020B0503020204020204" charset="-122"/>
            </a:endParaRPr>
          </a:p>
          <a:p>
            <a:pPr marL="457200" indent="-457200" fontAlgn="auto">
              <a:lnSpc>
                <a:spcPct val="130000"/>
              </a:lnSpc>
              <a:spcBef>
                <a:spcPts val="600"/>
              </a:spcBef>
              <a:spcAft>
                <a:spcPts val="600"/>
              </a:spcAft>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rPr>
              <a:t>对预先指定的Hash值找到对应的数据块(单向性)</a:t>
            </a:r>
            <a:endParaRPr lang="zh-CN" altLang="en-US" sz="2000" dirty="0" smtClean="0">
              <a:solidFill>
                <a:schemeClr val="tx1"/>
              </a:solidFill>
              <a:uFillTx/>
              <a:latin typeface="Calibri" panose="020F0502020204030204" charset="0"/>
              <a:ea typeface="微软雅黑" panose="020B0503020204020204" charset="-122"/>
            </a:endParaRPr>
          </a:p>
          <a:p>
            <a:pPr marL="457200" indent="-457200" fontAlgn="auto">
              <a:lnSpc>
                <a:spcPct val="130000"/>
              </a:lnSpc>
              <a:spcBef>
                <a:spcPts val="600"/>
              </a:spcBef>
              <a:spcAft>
                <a:spcPts val="600"/>
              </a:spcAft>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rPr>
              <a:t>找到两个不同的数据块对应相同的Hash值(抗碰撞性)</a:t>
            </a:r>
            <a:endParaRPr lang="zh-CN" altLang="en-US" sz="2000"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函数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Calibri" panose="020F0502020204030204" charset="0"/>
                <a:ea typeface="微软雅黑" panose="020B0503020204020204" charset="-122"/>
              </a:rPr>
              <a:t>Hash函数的定义</a:t>
            </a:r>
            <a:endParaRPr lang="zh-CN" altLang="en-US" sz="2400"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①</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pic>
        <p:nvPicPr>
          <p:cNvPr id="58" name="picture 58"/>
          <p:cNvPicPr>
            <a:picLocks noChangeAspect="1"/>
          </p:cNvPicPr>
          <p:nvPr/>
        </p:nvPicPr>
        <p:blipFill>
          <a:blip r:embed="rId2"/>
          <a:stretch>
            <a:fillRect/>
          </a:stretch>
        </p:blipFill>
        <p:spPr>
          <a:xfrm rot="21600000">
            <a:off x="1896745" y="1688465"/>
            <a:ext cx="7332980" cy="2113915"/>
          </a:xfrm>
          <a:prstGeom prst="rect">
            <a:avLst/>
          </a:prstGeom>
        </p:spPr>
      </p:pic>
      <p:pic>
        <p:nvPicPr>
          <p:cNvPr id="3" name="图片 2"/>
          <p:cNvPicPr>
            <a:picLocks noChangeAspect="1"/>
          </p:cNvPicPr>
          <p:nvPr/>
        </p:nvPicPr>
        <p:blipFill>
          <a:blip r:embed="rId3"/>
          <a:stretch>
            <a:fillRect/>
          </a:stretch>
        </p:blipFill>
        <p:spPr>
          <a:xfrm>
            <a:off x="6576060" y="2018665"/>
            <a:ext cx="5496560" cy="420370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flipV="1">
            <a:off x="694055" y="6236335"/>
            <a:ext cx="5010785" cy="76200"/>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flipV="1">
            <a:off x="1465580" y="982980"/>
            <a:ext cx="4344035" cy="76200"/>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函数</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424815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 </a:t>
            </a:r>
            <a:r>
              <a:rPr lang="zh-CN" altLang="en-US" sz="2400" dirty="0" smtClean="0">
                <a:solidFill>
                  <a:schemeClr val="tx1"/>
                </a:solidFill>
                <a:uFillTx/>
                <a:latin typeface="Calibri" panose="020F0502020204030204" charset="0"/>
                <a:ea typeface="微软雅黑" panose="020B0503020204020204" charset="-122"/>
              </a:rPr>
              <a:t>Hash函数用于消息</a:t>
            </a:r>
            <a:r>
              <a:rPr lang="zh-CN" altLang="en-US" sz="2400" dirty="0" smtClean="0">
                <a:solidFill>
                  <a:schemeClr val="tx1"/>
                </a:solidFill>
                <a:uFillTx/>
                <a:latin typeface="Calibri" panose="020F0502020204030204" charset="0"/>
                <a:ea typeface="微软雅黑" panose="020B0503020204020204" charset="-122"/>
              </a:rPr>
              <a:t>认证</a:t>
            </a:r>
            <a:endParaRPr lang="zh-CN" altLang="en-US" sz="24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buFont typeface="Arial" panose="020B0604020202020204" pitchFamily="34" charset="0"/>
              <a:buChar char="•"/>
            </a:pPr>
            <a:r>
              <a:rPr lang="zh-CN" altLang="en-US" sz="2055">
                <a:sym typeface="+mn-ea"/>
              </a:rPr>
              <a:t>消息认证是用来验证消息完整性的一种机制或服务。</a:t>
            </a:r>
            <a:endParaRPr lang="zh-CN" altLang="en-US" sz="2055">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a:sym typeface="+mn-ea"/>
              </a:rPr>
              <a:t>Hash函数的运算结果必须通过安全的方式传输</a:t>
            </a:r>
            <a:endParaRPr lang="zh-CN" altLang="en-US" sz="2055">
              <a:sym typeface="+mn-ea"/>
            </a:endParaRPr>
          </a:p>
          <a:p>
            <a:pPr lvl="1" fontAlgn="auto">
              <a:lnSpc>
                <a:spcPct val="110000"/>
              </a:lnSpc>
              <a:spcBef>
                <a:spcPts val="600"/>
              </a:spcBef>
              <a:spcAft>
                <a:spcPts val="600"/>
              </a:spcAft>
              <a:buFont typeface="Arial" panose="020B0604020202020204" pitchFamily="34" charset="0"/>
              <a:buChar char="•"/>
            </a:pPr>
            <a:endParaRPr lang="zh-CN" altLang="en-US" sz="2055"/>
          </a:p>
          <a:p>
            <a:pPr lvl="1" fontAlgn="auto">
              <a:lnSpc>
                <a:spcPct val="110000"/>
              </a:lnSpc>
              <a:spcBef>
                <a:spcPts val="600"/>
              </a:spcBef>
              <a:spcAft>
                <a:spcPts val="600"/>
              </a:spcAft>
              <a:buFont typeface="Arial" panose="020B0604020202020204" pitchFamily="34" charset="0"/>
              <a:buChar char="•"/>
            </a:pPr>
            <a:endParaRPr lang="zh-CN" altLang="en-US" sz="2055"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endParaRPr lang="zh-CN" altLang="en-US" sz="2000" dirty="0" smtClean="0">
              <a:solidFill>
                <a:schemeClr val="tx1"/>
              </a:solidFill>
              <a:uFillTx/>
              <a:latin typeface="Calibri" panose="020F0502020204030204" charset="0"/>
              <a:ea typeface="微软雅黑" panose="020B0503020204020204" charset="-122"/>
              <a:sym typeface="+mn-ea"/>
            </a:endParaRPr>
          </a:p>
        </p:txBody>
      </p:sp>
      <p:pic>
        <p:nvPicPr>
          <p:cNvPr id="2" name="Picture 3" descr="f2.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5599430" y="-635"/>
            <a:ext cx="5368925" cy="6948170"/>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flipV="1">
            <a:off x="1627505" y="977265"/>
            <a:ext cx="3014980" cy="76200"/>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7505" y="487045"/>
            <a:ext cx="3117215"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函数</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424815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a:sym typeface="+mn-ea"/>
              </a:rPr>
              <a:t>Hash码能够通过如下各种不同的方法用于提供消息认证。</a:t>
            </a:r>
            <a:endParaRPr lang="zh-CN" altLang="en-US" sz="2055"/>
          </a:p>
          <a:p>
            <a:pPr marL="457200" lvl="1" indent="0" fontAlgn="auto">
              <a:lnSpc>
                <a:spcPct val="110000"/>
              </a:lnSpc>
              <a:spcBef>
                <a:spcPts val="600"/>
              </a:spcBef>
              <a:spcAft>
                <a:spcPts val="600"/>
              </a:spcAft>
              <a:buNone/>
            </a:pPr>
            <a:r>
              <a:rPr lang="zh-CN" altLang="en-US" sz="2055"/>
              <a:t>(a)使用对称密码算法E加密消息和Hash码。</a:t>
            </a:r>
            <a:endParaRPr lang="zh-CN" altLang="en-US" sz="2055"/>
          </a:p>
          <a:p>
            <a:pPr marL="457200" lvl="1" indent="0" fontAlgn="auto">
              <a:lnSpc>
                <a:spcPct val="110000"/>
              </a:lnSpc>
              <a:spcBef>
                <a:spcPts val="600"/>
              </a:spcBef>
              <a:spcAft>
                <a:spcPts val="600"/>
              </a:spcAft>
              <a:buNone/>
            </a:pPr>
            <a:r>
              <a:rPr lang="zh-CN" altLang="en-US" sz="2055"/>
              <a:t>(b)使用对称密码算法E只对Hash码进行加密。</a:t>
            </a:r>
            <a:endParaRPr lang="zh-CN" altLang="en-US" sz="2055"/>
          </a:p>
          <a:p>
            <a:pPr marL="457200" lvl="1" indent="0" fontAlgn="auto">
              <a:lnSpc>
                <a:spcPct val="110000"/>
              </a:lnSpc>
              <a:spcBef>
                <a:spcPts val="600"/>
              </a:spcBef>
              <a:spcAft>
                <a:spcPts val="600"/>
              </a:spcAft>
              <a:buNone/>
            </a:pPr>
            <a:r>
              <a:rPr lang="zh-CN" altLang="en-US" sz="2055"/>
              <a:t>(c)不使用加密算法，仅使用Hash函数也能够实现消息认证。</a:t>
            </a:r>
            <a:endParaRPr lang="zh-CN" altLang="en-US" sz="2055"/>
          </a:p>
          <a:p>
            <a:pPr marL="457200" lvl="1" indent="0" fontAlgn="auto">
              <a:lnSpc>
                <a:spcPct val="110000"/>
              </a:lnSpc>
              <a:spcBef>
                <a:spcPts val="600"/>
              </a:spcBef>
              <a:spcAft>
                <a:spcPts val="600"/>
              </a:spcAft>
              <a:buNone/>
            </a:pPr>
            <a:r>
              <a:rPr lang="zh-CN" altLang="en-US" sz="2055"/>
              <a:t>(d)通过将整个消息和Hash值加密，能够在方案(c)的基础上提供保密性。</a:t>
            </a:r>
            <a:endParaRPr lang="zh-CN" altLang="en-US" sz="2055"/>
          </a:p>
          <a:p>
            <a:pPr lvl="1" fontAlgn="auto">
              <a:lnSpc>
                <a:spcPct val="110000"/>
              </a:lnSpc>
              <a:spcBef>
                <a:spcPts val="600"/>
              </a:spcBef>
              <a:spcAft>
                <a:spcPts val="600"/>
              </a:spcAft>
              <a:buFont typeface="Arial" panose="020B0604020202020204" pitchFamily="34" charset="0"/>
              <a:buChar char="•"/>
            </a:pPr>
            <a:endParaRPr lang="zh-CN" altLang="en-US" sz="2055"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endParaRPr lang="zh-CN" altLang="en-US" sz="2000" dirty="0" smtClean="0">
              <a:solidFill>
                <a:schemeClr val="tx1"/>
              </a:solidFill>
              <a:uFillTx/>
              <a:latin typeface="Calibri" panose="020F0502020204030204" charset="0"/>
              <a:ea typeface="微软雅黑" panose="020B0503020204020204" charset="-122"/>
              <a:sym typeface="+mn-ea"/>
            </a:endParaRPr>
          </a:p>
        </p:txBody>
      </p:sp>
      <p:sp>
        <p:nvSpPr>
          <p:cNvPr id="5" name="文本框 4"/>
          <p:cNvSpPr txBox="1"/>
          <p:nvPr/>
        </p:nvSpPr>
        <p:spPr>
          <a:xfrm>
            <a:off x="8529320" y="9197340"/>
            <a:ext cx="4064000" cy="368300"/>
          </a:xfrm>
          <a:prstGeom prst="rect">
            <a:avLst/>
          </a:prstGeom>
          <a:noFill/>
        </p:spPr>
        <p:txBody>
          <a:bodyPr wrap="square" rtlCol="0">
            <a:spAutoFit/>
          </a:bodyPr>
          <a:p>
            <a:endParaRPr lang="zh-CN" altLang="en-US"/>
          </a:p>
        </p:txBody>
      </p:sp>
      <p:pic>
        <p:nvPicPr>
          <p:cNvPr id="3" name="Picture 3" descr="f3.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8182" b="1818"/>
              <a:stretch>
                <a:fillRect/>
              </a:stretch>
            </p:blipFill>
          </mc:Choice>
          <mc:Fallback>
            <p:blipFill>
              <a:blip r:embed="rId3"/>
              <a:srcRect t="8182" b="1818"/>
              <a:stretch>
                <a:fillRect/>
              </a:stretch>
            </p:blipFill>
          </mc:Fallback>
        </mc:AlternateContent>
        <p:spPr>
          <a:xfrm>
            <a:off x="5704205" y="198"/>
            <a:ext cx="6027024" cy="7019727"/>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函数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Calibri" panose="020F0502020204030204" charset="0"/>
                <a:ea typeface="微软雅黑" panose="020B0503020204020204" charset="-122"/>
              </a:rPr>
              <a:t>消息</a:t>
            </a:r>
            <a:r>
              <a:rPr lang="zh-CN" altLang="en-US" sz="2400" dirty="0" smtClean="0">
                <a:solidFill>
                  <a:schemeClr val="tx1"/>
                </a:solidFill>
                <a:uFillTx/>
                <a:latin typeface="Calibri" panose="020F0502020204030204" charset="0"/>
                <a:ea typeface="微软雅黑" panose="020B0503020204020204" charset="-122"/>
              </a:rPr>
              <a:t>认证码</a:t>
            </a:r>
            <a:endParaRPr lang="zh-CN" altLang="en-US"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buFont typeface="Wingdings" panose="05000000000000000000" charset="0"/>
              <a:buChar char="ü"/>
            </a:pPr>
            <a:r>
              <a:rPr lang="en-US" altLang="zh-CN" sz="2000" dirty="0" smtClean="0">
                <a:solidFill>
                  <a:schemeClr val="tx1"/>
                </a:solidFill>
                <a:uFillTx/>
                <a:latin typeface="Calibri" panose="020F0502020204030204" charset="0"/>
                <a:ea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sym typeface="+mn-ea"/>
              </a:rPr>
              <a:t>带密钥的Hash函数</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00000"/>
              </a:lnSpc>
              <a:spcBef>
                <a:spcPts val="600"/>
              </a:spcBef>
              <a:spcAft>
                <a:spcPts val="600"/>
              </a:spcAft>
              <a:buFont typeface="Wingdings" panose="05000000000000000000" charset="0"/>
              <a:buChar char="ü"/>
            </a:pPr>
            <a:r>
              <a:rPr lang="en-US" altLang="zh-CN" sz="2000" dirty="0" smtClean="0">
                <a:solidFill>
                  <a:schemeClr val="tx1"/>
                </a:solidFill>
                <a:uFillTx/>
                <a:latin typeface="Calibri" panose="020F0502020204030204" charset="0"/>
                <a:ea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sym typeface="+mn-ea"/>
              </a:rPr>
              <a:t>通信双方基于共享的同一密钥来认证彼此之间交互的信息时，就会使用MAC。</a:t>
            </a:r>
            <a:r>
              <a:rPr lang="en-US" altLang="zh-CN" sz="2000" dirty="0" smtClean="0">
                <a:solidFill>
                  <a:schemeClr val="tx1"/>
                </a:solidFill>
                <a:uFillTx/>
                <a:latin typeface="Calibri" panose="020F0502020204030204" charset="0"/>
                <a:ea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sym typeface="+mn-ea"/>
              </a:rPr>
              <a:t>MAC函数将密钥和数据块作为输入，产生Hash值作为MAC码，然后将MAC码和受保护的消息一起传递或存储</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buFont typeface="Wingdings" panose="05000000000000000000" charset="0"/>
              <a:buChar char="ü"/>
            </a:pPr>
            <a:endParaRPr lang="zh-CN" altLang="en-US" sz="2000" dirty="0" smtClean="0">
              <a:solidFill>
                <a:schemeClr val="tx1"/>
              </a:solidFill>
              <a:uFillTx/>
              <a:latin typeface="Calibri" panose="020F0502020204030204" charset="0"/>
              <a:ea typeface="微软雅黑" panose="020B0503020204020204" charset="-122"/>
              <a:sym typeface="+mn-ea"/>
            </a:endParaRPr>
          </a:p>
        </p:txBody>
      </p:sp>
      <p:graphicFrame>
        <p:nvGraphicFramePr>
          <p:cNvPr id="5" name="Diagram 5"/>
          <p:cNvGraphicFramePr/>
          <p:nvPr/>
        </p:nvGraphicFramePr>
        <p:xfrm>
          <a:off x="2705100" y="3213735"/>
          <a:ext cx="6781800" cy="302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函数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Calibri" panose="020F0502020204030204" charset="0"/>
                <a:ea typeface="微软雅黑" panose="020B0503020204020204" charset="-122"/>
              </a:rPr>
              <a:t>数字签名</a:t>
            </a:r>
            <a:endParaRPr lang="zh-CN" altLang="en-US"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buFont typeface="Wingdings" panose="05000000000000000000" charset="0"/>
              <a:buChar char="ü"/>
            </a:pPr>
            <a:r>
              <a:rPr lang="en-US" altLang="zh-CN" sz="2000" dirty="0" smtClean="0">
                <a:solidFill>
                  <a:schemeClr val="tx1"/>
                </a:solidFill>
                <a:uFillTx/>
                <a:latin typeface="Calibri" panose="020F0502020204030204" charset="0"/>
                <a:ea typeface="微软雅黑" panose="020B0503020204020204" charset="-122"/>
                <a:sym typeface="+mn-ea"/>
              </a:rPr>
              <a:t> 数字签名的操作与MAC相似，</a:t>
            </a:r>
            <a:endParaRPr lang="en-US" altLang="zh-CN" sz="2000" dirty="0" smtClean="0">
              <a:solidFill>
                <a:schemeClr val="tx1"/>
              </a:solidFill>
              <a:uFillTx/>
              <a:latin typeface="Calibri" panose="020F0502020204030204" charset="0"/>
              <a:ea typeface="微软雅黑" panose="020B0503020204020204" charset="-122"/>
              <a:sym typeface="+mn-ea"/>
            </a:endParaRPr>
          </a:p>
          <a:p>
            <a:pPr fontAlgn="auto">
              <a:lnSpc>
                <a:spcPct val="100000"/>
              </a:lnSpc>
              <a:spcBef>
                <a:spcPts val="600"/>
              </a:spcBef>
              <a:spcAft>
                <a:spcPts val="600"/>
              </a:spcAft>
              <a:buFont typeface="Wingdings" panose="05000000000000000000" charset="0"/>
              <a:buChar char="ü"/>
            </a:pPr>
            <a:r>
              <a:rPr lang="en-US" altLang="zh-CN" sz="2000" dirty="0" smtClean="0">
                <a:solidFill>
                  <a:schemeClr val="tx1"/>
                </a:solidFill>
                <a:uFillTx/>
                <a:latin typeface="Calibri" panose="020F0502020204030204" charset="0"/>
                <a:ea typeface="微软雅黑" panose="020B0503020204020204" charset="-122"/>
                <a:sym typeface="+mn-ea"/>
              </a:rPr>
              <a:t>在进行数字签名过程中使用用户的私钥加密消息的Hash值</a:t>
            </a:r>
            <a:endParaRPr lang="en-US" altLang="zh-CN" sz="2000" dirty="0" smtClean="0">
              <a:solidFill>
                <a:schemeClr val="tx1"/>
              </a:solidFill>
              <a:uFillTx/>
              <a:latin typeface="Calibri" panose="020F0502020204030204" charset="0"/>
              <a:ea typeface="微软雅黑" panose="020B0503020204020204" charset="-122"/>
              <a:sym typeface="+mn-ea"/>
            </a:endParaRPr>
          </a:p>
          <a:p>
            <a:pPr fontAlgn="auto">
              <a:lnSpc>
                <a:spcPct val="100000"/>
              </a:lnSpc>
              <a:spcBef>
                <a:spcPts val="600"/>
              </a:spcBef>
              <a:spcAft>
                <a:spcPts val="600"/>
              </a:spcAft>
              <a:buFont typeface="Wingdings" panose="05000000000000000000" charset="0"/>
              <a:buChar char="ü"/>
            </a:pPr>
            <a:r>
              <a:rPr lang="en-US" altLang="zh-CN" sz="2000" dirty="0" smtClean="0">
                <a:solidFill>
                  <a:schemeClr val="tx1"/>
                </a:solidFill>
                <a:uFillTx/>
                <a:latin typeface="Calibri" panose="020F0502020204030204" charset="0"/>
                <a:ea typeface="微软雅黑" panose="020B0503020204020204" charset="-122"/>
                <a:sym typeface="+mn-ea"/>
              </a:rPr>
              <a:t>其他任何知道该用户公钥的人都能够通过数字签名来验证消息的完整性。</a:t>
            </a:r>
            <a:endParaRPr lang="en-US" altLang="zh-CN" sz="2000" dirty="0" smtClean="0">
              <a:solidFill>
                <a:schemeClr val="tx1"/>
              </a:solidFill>
              <a:uFillTx/>
              <a:latin typeface="Calibri" panose="020F0502020204030204" charset="0"/>
              <a:ea typeface="微软雅黑" panose="020B0503020204020204" charset="-122"/>
              <a:sym typeface="+mn-ea"/>
            </a:endParaRPr>
          </a:p>
          <a:p>
            <a:pPr fontAlgn="auto">
              <a:lnSpc>
                <a:spcPct val="100000"/>
              </a:lnSpc>
              <a:spcBef>
                <a:spcPts val="600"/>
              </a:spcBef>
              <a:spcAft>
                <a:spcPts val="600"/>
              </a:spcAft>
              <a:buFont typeface="Wingdings" panose="05000000000000000000" charset="0"/>
              <a:buChar char="ü"/>
            </a:pPr>
            <a:r>
              <a:rPr lang="en-US" altLang="zh-CN" sz="2000" dirty="0" smtClean="0">
                <a:solidFill>
                  <a:schemeClr val="tx1"/>
                </a:solidFill>
                <a:uFillTx/>
                <a:latin typeface="Calibri" panose="020F0502020204030204" charset="0"/>
                <a:ea typeface="微软雅黑" panose="020B0503020204020204" charset="-122"/>
                <a:sym typeface="+mn-ea"/>
              </a:rPr>
              <a:t>在这种情况下，攻击者要想篡改消息，则需要知道</a:t>
            </a:r>
            <a:r>
              <a:rPr lang="zh-CN" altLang="en-US" sz="2000" dirty="0" smtClean="0">
                <a:solidFill>
                  <a:schemeClr val="tx1"/>
                </a:solidFill>
                <a:uFillTx/>
                <a:latin typeface="Calibri" panose="020F0502020204030204" charset="0"/>
                <a:ea typeface="微软雅黑" panose="020B0503020204020204" charset="-122"/>
                <a:sym typeface="+mn-ea"/>
              </a:rPr>
              <a:t>用户的私钥。</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00000"/>
              </a:lnSpc>
              <a:spcBef>
                <a:spcPts val="600"/>
              </a:spcBef>
              <a:spcAft>
                <a:spcPts val="600"/>
              </a:spcAft>
              <a:buFont typeface="Wingdings" panose="05000000000000000000" charset="0"/>
              <a:buChar char="ü"/>
            </a:pPr>
            <a:r>
              <a:rPr lang="zh-CN" altLang="en-US" sz="2000" dirty="0" smtClean="0">
                <a:solidFill>
                  <a:schemeClr val="tx1"/>
                </a:solidFill>
                <a:uFillTx/>
                <a:latin typeface="Calibri" panose="020F0502020204030204" charset="0"/>
                <a:ea typeface="微软雅黑" panose="020B0503020204020204" charset="-122"/>
                <a:sym typeface="+mn-ea"/>
              </a:rPr>
              <a:t>数字签名的含义不仅仅是消息身份验证，</a:t>
            </a:r>
            <a:r>
              <a:rPr lang="en-US" altLang="zh-CN" sz="2000" dirty="0" smtClean="0">
                <a:solidFill>
                  <a:schemeClr val="tx1"/>
                </a:solidFill>
                <a:uFillTx/>
                <a:latin typeface="Calibri" panose="020F0502020204030204" charset="0"/>
                <a:ea typeface="微软雅黑" panose="020B0503020204020204" charset="-122"/>
                <a:sym typeface="+mn-ea"/>
              </a:rPr>
              <a:t>数字签名的应用比消息认证更为广泛</a:t>
            </a: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函数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Calibri" panose="020F0502020204030204" charset="0"/>
                <a:ea typeface="微软雅黑" panose="020B0503020204020204" charset="-122"/>
              </a:rPr>
              <a:t>数字签名</a:t>
            </a:r>
            <a:endParaRPr lang="zh-CN" altLang="en-US"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buFont typeface="Wingdings" panose="05000000000000000000" charset="0"/>
              <a:buChar char="ü"/>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pic>
        <p:nvPicPr>
          <p:cNvPr id="5" name="Picture 4" descr="f04.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20000" b="32727"/>
              <a:stretch>
                <a:fillRect/>
              </a:stretch>
            </p:blipFill>
          </mc:Choice>
          <mc:Fallback>
            <p:blipFill>
              <a:blip r:embed="rId3"/>
              <a:srcRect t="20000" b="32727"/>
              <a:stretch>
                <a:fillRect/>
              </a:stretch>
            </p:blipFill>
          </mc:Fallback>
        </mc:AlternateContent>
        <p:spPr>
          <a:xfrm>
            <a:off x="2560955" y="1244600"/>
            <a:ext cx="7854950" cy="4805680"/>
          </a:xfrm>
          <a:prstGeom prst="rect">
            <a:avLst/>
          </a:prstGeom>
        </p:spPr>
      </p:pic>
      <p:pic>
        <p:nvPicPr>
          <p:cNvPr id="2" name="Picture 3" descr="f4.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4"/>
              <a:srcRect t="80000" b="12727"/>
              <a:stretch>
                <a:fillRect/>
              </a:stretch>
            </p:blipFill>
          </mc:Choice>
          <mc:Fallback>
            <p:blipFill>
              <a:blip r:embed="rId5"/>
              <a:srcRect t="80000" b="12727"/>
              <a:stretch>
                <a:fillRect/>
              </a:stretch>
            </p:blipFill>
          </mc:Fallback>
        </mc:AlternateContent>
        <p:spPr>
          <a:xfrm>
            <a:off x="2560955" y="5880100"/>
            <a:ext cx="7867292" cy="740532"/>
          </a:xfrm>
          <a:prstGeom prst="rect">
            <a:avLst/>
          </a:prstGeom>
        </p:spPr>
      </p:pic>
      <p:sp>
        <p:nvSpPr>
          <p:cNvPr id="3" name="矩形 2"/>
          <p:cNvSpPr/>
          <p:nvPr/>
        </p:nvSpPr>
        <p:spPr>
          <a:xfrm>
            <a:off x="5113655" y="4495800"/>
            <a:ext cx="626110" cy="83947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a:t>
            </a: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函数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Hash</a:t>
            </a:r>
            <a:r>
              <a:rPr lang="zh-CN" altLang="en-US" sz="2400" dirty="0" smtClean="0">
                <a:solidFill>
                  <a:schemeClr val="tx1"/>
                </a:solidFill>
                <a:uFillTx/>
                <a:latin typeface="Calibri" panose="020F0502020204030204" charset="0"/>
                <a:ea typeface="微软雅黑" panose="020B0503020204020204" charset="-122"/>
              </a:rPr>
              <a:t>函数的其他</a:t>
            </a:r>
            <a:r>
              <a:rPr lang="zh-CN" altLang="en-US" sz="2400" dirty="0" smtClean="0">
                <a:solidFill>
                  <a:schemeClr val="tx1"/>
                </a:solidFill>
                <a:uFillTx/>
                <a:latin typeface="Calibri" panose="020F0502020204030204" charset="0"/>
                <a:ea typeface="微软雅黑" panose="020B0503020204020204" charset="-122"/>
              </a:rPr>
              <a:t>应用</a:t>
            </a:r>
            <a:endParaRPr lang="zh-CN" altLang="en-US"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buFont typeface="Wingdings" panose="05000000000000000000" charset="0"/>
              <a:buChar char="ü"/>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graphicFrame>
        <p:nvGraphicFramePr>
          <p:cNvPr id="3" name="Content Placeholder 3"/>
          <p:cNvGraphicFramePr>
            <a:graphicFrameLocks noGrp="1"/>
          </p:cNvGraphicFramePr>
          <p:nvPr/>
        </p:nvGraphicFramePr>
        <p:xfrm>
          <a:off x="1866901" y="1584960"/>
          <a:ext cx="8458200" cy="4867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2306955"/>
          </a:xfrm>
          <a:prstGeom prst="rect">
            <a:avLst/>
          </a:prstGeom>
          <a:noFill/>
        </p:spPr>
        <p:txBody>
          <a:bodyPr wrap="square" rtlCol="0" anchor="t">
            <a:spAutoFit/>
          </a:bodyPr>
          <a:p>
            <a:pPr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zh-CN" sz="3600" dirty="0">
                <a:solidFill>
                  <a:schemeClr val="tx1"/>
                </a:solidFill>
                <a:latin typeface="仿宋" panose="02010609060101010101" charset="-122"/>
                <a:ea typeface="仿宋" panose="02010609060101010101" charset="-122"/>
                <a:cs typeface="仿宋" panose="02010609060101010101" charset="-122"/>
                <a:sym typeface="+mn-ea"/>
              </a:rPr>
              <a:t>密码学</a:t>
            </a:r>
            <a:r>
              <a:rPr lang="en-US" altLang="zh-CN" sz="3600" dirty="0">
                <a:solidFill>
                  <a:schemeClr val="tx1"/>
                </a:solidFill>
                <a:latin typeface="仿宋" panose="02010609060101010101" charset="-122"/>
                <a:ea typeface="仿宋" panose="02010609060101010101" charset="-122"/>
                <a:cs typeface="仿宋" panose="02010609060101010101" charset="-122"/>
                <a:sym typeface="+mn-ea"/>
              </a:rPr>
              <a:t>Hash</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函数的应用</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二、</a:t>
            </a:r>
            <a:r>
              <a:rPr lang="zh-CN" sz="3600" dirty="0">
                <a:solidFill>
                  <a:srgbClr val="FF0000"/>
                </a:solidFill>
                <a:latin typeface="仿宋" panose="02010609060101010101" charset="-122"/>
                <a:ea typeface="仿宋" panose="02010609060101010101" charset="-122"/>
                <a:cs typeface="仿宋" panose="02010609060101010101" charset="-122"/>
                <a:sym typeface="+mn-ea"/>
              </a:rPr>
              <a:t>两个简单的</a:t>
            </a:r>
            <a:r>
              <a:rPr lang="en-US" altLang="zh-CN" sz="3600" dirty="0">
                <a:solidFill>
                  <a:srgbClr val="FF0000"/>
                </a:solidFill>
                <a:latin typeface="仿宋" panose="02010609060101010101" charset="-122"/>
                <a:ea typeface="仿宋" panose="02010609060101010101" charset="-122"/>
                <a:cs typeface="仿宋" panose="02010609060101010101" charset="-122"/>
                <a:sym typeface="+mn-ea"/>
              </a:rPr>
              <a:t>Hash</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函数</a:t>
            </a:r>
            <a:endParaRPr lang="zh-CN" altLang="en-US" sz="3600" dirty="0">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三、需求和</a:t>
            </a:r>
            <a:r>
              <a:rPr lang="zh-CN" altLang="en-US" sz="3600" dirty="0">
                <a:latin typeface="仿宋" panose="02010609060101010101" charset="-122"/>
                <a:ea typeface="仿宋" panose="02010609060101010101" charset="-122"/>
                <a:cs typeface="仿宋" panose="02010609060101010101" charset="-122"/>
                <a:sym typeface="+mn-ea"/>
              </a:rPr>
              <a:t>安全性</a:t>
            </a:r>
            <a:endParaRPr lang="zh-CN" altLang="en-US" sz="3600" dirty="0">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四、安全</a:t>
            </a:r>
            <a:r>
              <a:rPr lang="en-US" altLang="zh-CN" sz="3600" dirty="0">
                <a:latin typeface="仿宋" panose="02010609060101010101" charset="-122"/>
                <a:ea typeface="仿宋" panose="02010609060101010101" charset="-122"/>
                <a:cs typeface="仿宋" panose="02010609060101010101" charset="-122"/>
                <a:sym typeface="+mn-ea"/>
              </a:rPr>
              <a:t>Hash</a:t>
            </a:r>
            <a:r>
              <a:rPr lang="zh-CN" altLang="en-US" sz="3600" dirty="0">
                <a:latin typeface="仿宋" panose="02010609060101010101" charset="-122"/>
                <a:ea typeface="仿宋" panose="02010609060101010101" charset="-122"/>
                <a:cs typeface="仿宋" panose="02010609060101010101" charset="-122"/>
                <a:sym typeface="+mn-ea"/>
              </a:rPr>
              <a:t>函数</a:t>
            </a:r>
            <a:endParaRPr lang="zh-CN" altLang="en-US" sz="3600" dirty="0">
              <a:latin typeface="仿宋" panose="02010609060101010101" charset="-122"/>
              <a:ea typeface="仿宋" panose="02010609060101010101" charset="-122"/>
              <a:cs typeface="仿宋" panose="02010609060101010101"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两个简单的Hash函数</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所有的Hash函数都按下面的一般原理进行运算：</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输入(消息、文件等)都可视为一个n位分组的序列，其输出是n位的Hash值。</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Hash函数每次处理一个分组，重复该过程直至处理完所有的输入分组。</a:t>
            </a:r>
            <a:endParaRPr lang="en-US" altLang="zh-CN" sz="2000" dirty="0" smtClean="0">
              <a:solidFill>
                <a:schemeClr val="tx1"/>
              </a:solidFill>
              <a:uFillTx/>
              <a:latin typeface="Calibri" panose="020F0502020204030204" charset="0"/>
              <a:ea typeface="微软雅黑" panose="020B0503020204020204" charset="-122"/>
              <a:sym typeface="+mn-ea"/>
            </a:endParaRPr>
          </a:p>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最简单的Hash函数之一，是将每个分组相应位异或(XOR)</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Ci = bi1 xor bi2 xor . . . xor bim </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9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上述运算过程，它对每一位产生一个简单的奇偶校验，我们称之为经度冗余校验</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9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这种方法用于随机数的数据完整性检查比较有效。</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 lvl="1"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一种简单的改进方法是，每处理完一个分组后，将Hash值平移一位或循环移位一次</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这样可使输入更加完全地“随机”,从而消除输入数据的规则性。</a:t>
            </a: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flipV="1">
            <a:off x="694055" y="6229350"/>
            <a:ext cx="4269105" cy="76200"/>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flipV="1">
            <a:off x="1465580" y="987425"/>
            <a:ext cx="4808855" cy="76200"/>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alt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两个简单的Hash函数</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8182" b="7273"/>
              <a:stretch>
                <a:fillRect/>
              </a:stretch>
            </p:blipFill>
          </mc:Choice>
          <mc:Fallback>
            <p:blipFill>
              <a:blip r:embed="rId3"/>
              <a:srcRect t="8182" b="7273"/>
              <a:stretch>
                <a:fillRect/>
              </a:stretch>
            </p:blipFill>
          </mc:Fallback>
        </mc:AlternateContent>
        <p:spPr>
          <a:xfrm>
            <a:off x="5119370" y="0"/>
            <a:ext cx="6096000" cy="6669693"/>
          </a:xfrm>
          <a:prstGeom prst="rect">
            <a:avLst/>
          </a:prstGeom>
        </p:spPr>
      </p:pic>
      <p:sp>
        <p:nvSpPr>
          <p:cNvPr id="2" name="文本框 1"/>
          <p:cNvSpPr txBox="1"/>
          <p:nvPr/>
        </p:nvSpPr>
        <p:spPr>
          <a:xfrm>
            <a:off x="821690" y="1289050"/>
            <a:ext cx="6096000" cy="3326765"/>
          </a:xfrm>
          <a:prstGeom prst="rect">
            <a:avLst/>
          </a:prstGeom>
          <a:noFill/>
        </p:spPr>
        <p:txBody>
          <a:bodyPr wrap="square" rtlCol="0" anchor="t">
            <a:spAutoFit/>
          </a:bodyPr>
          <a:p>
            <a:pPr marL="228600" lvl="1" algn="l" fontAlgn="auto">
              <a:lnSpc>
                <a:spcPct val="110000"/>
              </a:lnSpc>
              <a:spcBef>
                <a:spcPts val="600"/>
              </a:spcBef>
              <a:spcAft>
                <a:spcPts val="600"/>
              </a:spcAft>
              <a:buClrTx/>
              <a:buSzTx/>
              <a:buFont typeface="Wingdings" panose="05000000000000000000" charset="0"/>
              <a:buChar char="Ø"/>
            </a:pPr>
            <a:r>
              <a:rPr lang="en-US" altLang="zh-CN" sz="2400" dirty="0" smtClean="0">
                <a:uFillTx/>
                <a:latin typeface="微软雅黑" panose="020B0503020204020204" charset="-122"/>
                <a:ea typeface="微软雅黑" panose="020B0503020204020204" charset="-122"/>
                <a:cs typeface="微软雅黑" panose="020B0503020204020204" charset="-122"/>
                <a:sym typeface="+mn-ea"/>
              </a:rPr>
              <a:t> 最简单的Hash函数之一，是将每个分组相应位异或(XOR)</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228600" lvl="1" indent="0" algn="l" fontAlgn="auto">
              <a:lnSpc>
                <a:spcPct val="110000"/>
              </a:lnSpc>
              <a:spcBef>
                <a:spcPts val="600"/>
              </a:spcBef>
              <a:spcAft>
                <a:spcPts val="600"/>
              </a:spcAft>
              <a:buClrTx/>
              <a:buSzTx/>
              <a:buFont typeface="Wingdings" panose="05000000000000000000" charset="0"/>
              <a:buNone/>
            </a:pPr>
            <a:endParaRPr lang="en-US" altLang="zh-CN" sz="2400" dirty="0" smtClean="0">
              <a:uFillTx/>
              <a:latin typeface="微软雅黑" panose="020B0503020204020204" charset="-122"/>
              <a:ea typeface="微软雅黑" panose="020B0503020204020204" charset="-122"/>
              <a:cs typeface="微软雅黑" panose="020B0503020204020204" charset="-122"/>
              <a:sym typeface="+mn-ea"/>
            </a:endParaRPr>
          </a:p>
          <a:p>
            <a:pPr marL="228600" lvl="1" algn="l" fontAlgn="auto">
              <a:lnSpc>
                <a:spcPct val="110000"/>
              </a:lnSpc>
              <a:spcBef>
                <a:spcPts val="600"/>
              </a:spcBef>
              <a:spcAft>
                <a:spcPts val="600"/>
              </a:spcAft>
              <a:buClrTx/>
              <a:buSzTx/>
              <a:buFont typeface="Wingdings" panose="05000000000000000000" charset="0"/>
              <a:buChar char="Ø"/>
            </a:pPr>
            <a:r>
              <a:rPr lang="en-US" altLang="zh-CN" sz="2400" dirty="0" smtClean="0">
                <a:uFillTx/>
                <a:latin typeface="微软雅黑" panose="020B0503020204020204" charset="-122"/>
                <a:ea typeface="微软雅黑" panose="020B0503020204020204" charset="-122"/>
                <a:cs typeface="微软雅黑" panose="020B0503020204020204" charset="-122"/>
                <a:sym typeface="+mn-ea"/>
              </a:rPr>
              <a:t> 一种简单的改进方法是，每处理完一个分组后，将Hash值平移一位或循环移位一次</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indent="0" fontAlgn="auto">
              <a:lnSpc>
                <a:spcPct val="110000"/>
              </a:lnSpc>
              <a:spcBef>
                <a:spcPts val="600"/>
              </a:spcBef>
              <a:spcAft>
                <a:spcPts val="600"/>
              </a:spcAft>
              <a:buFont typeface="Arial" panose="020B0604020202020204" pitchFamily="34" charset="0"/>
              <a:buNone/>
            </a:pPr>
            <a:endParaRPr lang="en-US" altLang="zh-CN" sz="2000" dirty="0" smtClean="0">
              <a:uFillTx/>
              <a:latin typeface="Calibri" panose="020F0502020204030204" charset="0"/>
              <a:ea typeface="微软雅黑" panose="020B0503020204020204" charset="-122"/>
              <a:sym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2306955"/>
          </a:xfrm>
          <a:prstGeom prst="rect">
            <a:avLst/>
          </a:prstGeom>
          <a:noFill/>
        </p:spPr>
        <p:txBody>
          <a:bodyPr wrap="square" rtlCol="0" anchor="t">
            <a:spAutoFit/>
          </a:bodyPr>
          <a:p>
            <a:pPr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zh-CN" sz="3600" dirty="0">
                <a:solidFill>
                  <a:schemeClr val="tx1"/>
                </a:solidFill>
                <a:latin typeface="仿宋" panose="02010609060101010101" charset="-122"/>
                <a:ea typeface="仿宋" panose="02010609060101010101" charset="-122"/>
                <a:cs typeface="仿宋" panose="02010609060101010101" charset="-122"/>
                <a:sym typeface="+mn-ea"/>
              </a:rPr>
              <a:t>密码学</a:t>
            </a:r>
            <a:r>
              <a:rPr lang="en-US" altLang="zh-CN" sz="3600" dirty="0">
                <a:solidFill>
                  <a:schemeClr val="tx1"/>
                </a:solidFill>
                <a:latin typeface="仿宋" panose="02010609060101010101" charset="-122"/>
                <a:ea typeface="仿宋" panose="02010609060101010101" charset="-122"/>
                <a:cs typeface="仿宋" panose="02010609060101010101" charset="-122"/>
                <a:sym typeface="+mn-ea"/>
              </a:rPr>
              <a:t>Hash</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函数的应用</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sz="3600" dirty="0">
                <a:solidFill>
                  <a:schemeClr val="tx1"/>
                </a:solidFill>
                <a:latin typeface="仿宋" panose="02010609060101010101" charset="-122"/>
                <a:ea typeface="仿宋" panose="02010609060101010101" charset="-122"/>
                <a:cs typeface="仿宋" panose="02010609060101010101" charset="-122"/>
                <a:sym typeface="+mn-ea"/>
              </a:rPr>
              <a:t>二、两个简单的</a:t>
            </a:r>
            <a:r>
              <a:rPr lang="en-US" altLang="zh-CN" sz="3600" dirty="0">
                <a:solidFill>
                  <a:schemeClr val="tx1"/>
                </a:solidFill>
                <a:latin typeface="仿宋" panose="02010609060101010101" charset="-122"/>
                <a:ea typeface="仿宋" panose="02010609060101010101" charset="-122"/>
                <a:cs typeface="仿宋" panose="02010609060101010101" charset="-122"/>
                <a:sym typeface="+mn-ea"/>
              </a:rPr>
              <a:t>Hash</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函数</a:t>
            </a:r>
            <a:endParaRPr lang="zh-CN" altLang="en-US" sz="3600" dirty="0">
              <a:solidFill>
                <a:schemeClr val="tx1"/>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三、</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需求和安全性</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四、安全</a:t>
            </a:r>
            <a:r>
              <a:rPr lang="en-US" altLang="zh-CN" sz="3600" dirty="0">
                <a:latin typeface="仿宋" panose="02010609060101010101" charset="-122"/>
                <a:ea typeface="仿宋" panose="02010609060101010101" charset="-122"/>
                <a:cs typeface="仿宋" panose="02010609060101010101" charset="-122"/>
                <a:sym typeface="+mn-ea"/>
              </a:rPr>
              <a:t>Hash</a:t>
            </a:r>
            <a:r>
              <a:rPr lang="zh-CN" altLang="en-US" sz="3600" dirty="0">
                <a:latin typeface="仿宋" panose="02010609060101010101" charset="-122"/>
                <a:ea typeface="仿宋" panose="02010609060101010101" charset="-122"/>
                <a:cs typeface="仿宋" panose="02010609060101010101" charset="-122"/>
                <a:sym typeface="+mn-ea"/>
              </a:rPr>
              <a:t>函数</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原像</a:t>
            </a: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对于Hash函数h=H(x),称x是h的原像。即把数据块x作为输入，使用Hash函数H得到h。因为H是多对一映射，所以对于任意给定的Hash值h,对应有多个原像。</a:t>
            </a:r>
            <a:endParaRPr lang="en-US" altLang="zh-CN" sz="2000" dirty="0" smtClean="0">
              <a:solidFill>
                <a:schemeClr val="tx1"/>
              </a:solidFill>
              <a:uFillTx/>
              <a:latin typeface="Calibri" panose="020F0502020204030204" charset="0"/>
              <a:ea typeface="微软雅黑" panose="020B0503020204020204" charset="-122"/>
              <a:sym typeface="+mn-ea"/>
            </a:endParaRPr>
          </a:p>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碰撞</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如果满足x≠y且H(x)=H(y),则称出现碰撞。</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9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因为我们使用Hash函数的目的是保证数据完整性，碰撞的出现显然是我们不希望的。</a:t>
            </a: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3" name="表格 2"/>
          <p:cNvGraphicFramePr/>
          <p:nvPr>
            <p:custDataLst>
              <p:tags r:id="rId2"/>
            </p:custDataLst>
          </p:nvPr>
        </p:nvGraphicFramePr>
        <p:xfrm>
          <a:off x="1076325" y="1479550"/>
          <a:ext cx="10396855" cy="4742180"/>
        </p:xfrm>
        <a:graphic>
          <a:graphicData uri="http://schemas.openxmlformats.org/drawingml/2006/table">
            <a:tbl>
              <a:tblPr/>
              <a:tblGrid>
                <a:gridCol w="3190875"/>
                <a:gridCol w="7205980"/>
              </a:tblGrid>
              <a:tr h="514985">
                <a:tc>
                  <a:txBody>
                    <a:bodyPr/>
                    <a:p>
                      <a:pPr indent="0" algn="ctr">
                        <a:lnSpc>
                          <a:spcPct val="120000"/>
                        </a:lnSpc>
                        <a:spcBef>
                          <a:spcPts val="0"/>
                        </a:spcBef>
                        <a:spcAft>
                          <a:spcPts val="0"/>
                        </a:spcAft>
                        <a:buNone/>
                      </a:pPr>
                      <a:r>
                        <a:rPr lang="en-US" sz="1600" b="1" spc="130">
                          <a:solidFill>
                            <a:srgbClr val="000000"/>
                          </a:solidFill>
                          <a:latin typeface="宋体" panose="02010600030101010101" charset="-52"/>
                        </a:rPr>
                        <a:t>需求</a:t>
                      </a:r>
                      <a:endParaRPr lang="en-US" sz="1600" b="1" spc="13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lnSpc>
                          <a:spcPct val="120000"/>
                        </a:lnSpc>
                        <a:spcBef>
                          <a:spcPts val="0"/>
                        </a:spcBef>
                        <a:spcAft>
                          <a:spcPts val="0"/>
                        </a:spcAft>
                        <a:buNone/>
                      </a:pPr>
                      <a:r>
                        <a:rPr lang="en-US" sz="1600" b="1" spc="130">
                          <a:solidFill>
                            <a:srgbClr val="000000"/>
                          </a:solidFill>
                          <a:latin typeface="宋体" panose="02010600030101010101" charset="-52"/>
                        </a:rPr>
                        <a:t>描述</a:t>
                      </a:r>
                      <a:endParaRPr lang="en-US" altLang="en-US" sz="1600" b="1" spc="13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4985">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输入长度可变</a:t>
                      </a:r>
                      <a:endParaRPr 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H可应用于任意大小的数据块</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4985">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输出长度固定</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H产生定长的输出</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5620">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效率</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对任意给定的x,计算H(x)比较容易，用硬件和软件均可实现</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825500">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抗原像攻击(单向性)</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l">
                        <a:lnSpc>
                          <a:spcPct val="120000"/>
                        </a:lnSpc>
                        <a:spcBef>
                          <a:spcPts val="0"/>
                        </a:spcBef>
                        <a:spcAft>
                          <a:spcPts val="0"/>
                        </a:spcAft>
                        <a:buNone/>
                      </a:pPr>
                      <a:r>
                        <a:rPr lang="zh-CN" altLang="en-US" sz="1600" b="0" spc="120">
                          <a:solidFill>
                            <a:srgbClr val="000000"/>
                          </a:solidFill>
                          <a:latin typeface="宋体" panose="02010600030101010101" pitchFamily="2" charset="-122"/>
                          <a:ea typeface="宋体" panose="02010600030101010101" pitchFamily="2" charset="-122"/>
                          <a:cs typeface="宋体" panose="02010600030101010101" pitchFamily="2" charset="-122"/>
                        </a:rPr>
                        <a:t>对任意给定的</a:t>
                      </a:r>
                      <a:r>
                        <a:rPr lang="en-US" altLang="zh-CN" sz="1600" b="0" spc="120">
                          <a:solidFill>
                            <a:srgbClr val="000000"/>
                          </a:solidFill>
                          <a:latin typeface="宋体" panose="02010600030101010101" pitchFamily="2" charset="-122"/>
                          <a:ea typeface="宋体" panose="02010600030101010101" pitchFamily="2" charset="-122"/>
                          <a:cs typeface="宋体" panose="02010600030101010101" pitchFamily="2" charset="-122"/>
                        </a:rPr>
                        <a:t>Hash</a:t>
                      </a:r>
                      <a:r>
                        <a:rPr lang="zh-CN" altLang="en-US" sz="1600" b="0" spc="120">
                          <a:solidFill>
                            <a:srgbClr val="000000"/>
                          </a:solidFill>
                          <a:latin typeface="宋体" panose="02010600030101010101" pitchFamily="2" charset="-122"/>
                          <a:ea typeface="宋体" panose="02010600030101010101" pitchFamily="2" charset="-122"/>
                          <a:cs typeface="宋体" panose="02010600030101010101" pitchFamily="2" charset="-122"/>
                        </a:rPr>
                        <a:t>码</a:t>
                      </a:r>
                      <a:r>
                        <a:rPr lang="en-US" altLang="zh-CN" sz="1600" b="0" spc="120">
                          <a:solidFill>
                            <a:srgbClr val="000000"/>
                          </a:solidFill>
                          <a:latin typeface="宋体" panose="02010600030101010101" pitchFamily="2" charset="-122"/>
                          <a:ea typeface="宋体" panose="02010600030101010101" pitchFamily="2" charset="-122"/>
                          <a:cs typeface="宋体" panose="02010600030101010101" pitchFamily="2" charset="-122"/>
                        </a:rPr>
                        <a:t>h</a:t>
                      </a:r>
                      <a:r>
                        <a:rPr lang="zh-CN" altLang="en-US" sz="1600" b="0" spc="120">
                          <a:solidFill>
                            <a:srgbClr val="000000"/>
                          </a:solidFill>
                          <a:latin typeface="宋体" panose="02010600030101010101" pitchFamily="2" charset="-122"/>
                          <a:ea typeface="宋体" panose="02010600030101010101" pitchFamily="2" charset="-122"/>
                          <a:cs typeface="宋体" panose="02010600030101010101" pitchFamily="2" charset="-122"/>
                        </a:rPr>
                        <a:t>，找到满足</a:t>
                      </a:r>
                      <a:r>
                        <a:rPr lang="en-US" altLang="zh-CN" sz="1600" b="0" spc="120">
                          <a:solidFill>
                            <a:srgbClr val="000000"/>
                          </a:solidFill>
                          <a:latin typeface="宋体" panose="02010600030101010101" pitchFamily="2" charset="-122"/>
                          <a:ea typeface="宋体" panose="02010600030101010101" pitchFamily="2" charset="-122"/>
                          <a:cs typeface="宋体" panose="02010600030101010101" pitchFamily="2" charset="-122"/>
                        </a:rPr>
                        <a:t>H(y)=h</a:t>
                      </a:r>
                      <a:r>
                        <a:rPr lang="zh-CN" altLang="en-US" sz="1600" b="0" spc="120">
                          <a:solidFill>
                            <a:srgbClr val="000000"/>
                          </a:solidFill>
                          <a:latin typeface="宋体" panose="02010600030101010101" pitchFamily="2" charset="-122"/>
                          <a:ea typeface="宋体" panose="02010600030101010101" pitchFamily="2" charset="-122"/>
                          <a:cs typeface="宋体" panose="02010600030101010101" pitchFamily="2" charset="-122"/>
                        </a:rPr>
                        <a:t>的</a:t>
                      </a:r>
                      <a:r>
                        <a:rPr lang="en-US" altLang="zh-CN" sz="1600" b="0" spc="120">
                          <a:solidFill>
                            <a:srgbClr val="000000"/>
                          </a:solidFill>
                          <a:latin typeface="宋体" panose="02010600030101010101" pitchFamily="2" charset="-122"/>
                          <a:ea typeface="宋体" panose="02010600030101010101" pitchFamily="2" charset="-122"/>
                          <a:cs typeface="宋体" panose="02010600030101010101" pitchFamily="2" charset="-122"/>
                        </a:rPr>
                        <a:t>y</a:t>
                      </a:r>
                      <a:r>
                        <a:rPr lang="zh-CN" altLang="en-US" sz="1600" b="0" spc="120">
                          <a:solidFill>
                            <a:srgbClr val="000000"/>
                          </a:solidFill>
                          <a:latin typeface="宋体" panose="02010600030101010101" pitchFamily="2" charset="-122"/>
                          <a:ea typeface="宋体" panose="02010600030101010101" pitchFamily="2" charset="-122"/>
                          <a:cs typeface="宋体" panose="02010600030101010101" pitchFamily="2" charset="-122"/>
                        </a:rPr>
                        <a:t>在计算上是不可行的</a:t>
                      </a:r>
                      <a:endParaRPr lang="zh-CN" altLang="en-US" sz="1600" b="0" spc="12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826135">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抗第二原像攻击(抗弱碰撞性)</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对任何给定的分块x,找到满足y≠x且H(x)=H(y)的y在计算上是不可行的</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4985">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抗碰撞攻击(抗强碰撞性)</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找到任何满足H(x)=H(y)的偶对(x,y)在计算上是不可行的</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4985">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伪随机性</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l">
                        <a:lnSpc>
                          <a:spcPct val="120000"/>
                        </a:lnSpc>
                        <a:spcBef>
                          <a:spcPts val="0"/>
                        </a:spcBef>
                        <a:spcAft>
                          <a:spcPts val="0"/>
                        </a:spcAft>
                        <a:buNone/>
                      </a:pPr>
                      <a:r>
                        <a:rPr lang="en-US" sz="1600" b="0" spc="120">
                          <a:solidFill>
                            <a:srgbClr val="000000"/>
                          </a:solidFill>
                          <a:latin typeface="宋体" panose="02010600030101010101" charset="-52"/>
                        </a:rPr>
                        <a:t>H的输出满足伪随机性测试标准</a:t>
                      </a:r>
                      <a:endParaRPr lang="en-US" altLang="en-US" sz="1600" b="0" spc="120">
                        <a:solidFill>
                          <a:srgbClr val="000000"/>
                        </a:solidFill>
                        <a:latin typeface="宋体" panose="02010600030101010101" charset="-52"/>
                      </a:endParaRPr>
                    </a:p>
                  </a:txBody>
                  <a:tcPr marL="177800" marR="177800" marT="107950" marB="10795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3284220" y="1019810"/>
            <a:ext cx="6096000" cy="460375"/>
          </a:xfrm>
          <a:prstGeom prst="rect">
            <a:avLst/>
          </a:prstGeom>
          <a:noFill/>
        </p:spPr>
        <p:txBody>
          <a:bodyPr wrap="square" rtlCol="0" anchor="t">
            <a:spAutoFit/>
          </a:bodyPr>
          <a:p>
            <a:r>
              <a:rPr lang="zh-CN" altLang="en-US" sz="2400" b="1"/>
              <a:t>表11.1 密码学 Hash 函数H 的安全性需求</a:t>
            </a:r>
            <a:endParaRPr lang="zh-CN" altLang="en-US" sz="2400" b="1"/>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00000"/>
              </a:lnSpc>
              <a:spcBef>
                <a:spcPts val="0"/>
              </a:spcBef>
              <a:spcAft>
                <a:spcPts val="0"/>
              </a:spcAft>
              <a:buFont typeface="Wingdings" panose="05000000000000000000" charset="0"/>
              <a:buChar char="Ø"/>
            </a:pPr>
            <a:r>
              <a:rPr lang="en-US" altLang="zh-CN" sz="2400" b="1" dirty="0" smtClean="0">
                <a:solidFill>
                  <a:srgbClr val="FF0000"/>
                </a:solidFill>
                <a:uFillTx/>
                <a:latin typeface="Calibri" panose="020F0502020204030204" charset="0"/>
                <a:ea typeface="微软雅黑" panose="020B0503020204020204" charset="-122"/>
                <a:sym typeface="+mn-ea"/>
              </a:rPr>
              <a:t>单向性</a:t>
            </a:r>
            <a:r>
              <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0"/>
              </a:spcBef>
              <a:spcAft>
                <a:spcPts val="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对给定的Hash值h ，找到满足H(x) ＝h的x在计算上 是不可行的。</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100000"/>
              </a:lnSpc>
              <a:spcBef>
                <a:spcPts val="0"/>
              </a:spcBef>
              <a:spcAft>
                <a:spcPts val="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设h码为n位长，且Hash函数的输出值是等概分布的，那么任意输入数据x产生的H(x)恰好为h的概率是1/2</a:t>
            </a:r>
            <a:r>
              <a:rPr lang="en-US" altLang="zh-CN" sz="2000" baseline="30000" dirty="0" smtClean="0">
                <a:solidFill>
                  <a:schemeClr val="tx1"/>
                </a:solidFill>
                <a:uFillTx/>
                <a:latin typeface="Calibri" panose="020F0502020204030204" charset="0"/>
                <a:ea typeface="微软雅黑" panose="020B0503020204020204" charset="-122"/>
                <a:sym typeface="+mn-ea"/>
              </a:rPr>
              <a:t>n</a:t>
            </a:r>
            <a:r>
              <a:rPr lang="en-US" altLang="zh-CN" sz="2000" dirty="0" smtClean="0">
                <a:solidFill>
                  <a:schemeClr val="tx1"/>
                </a:solidFill>
                <a:uFillTx/>
                <a:latin typeface="Calibri" panose="020F0502020204030204" charset="0"/>
                <a:ea typeface="微软雅黑" panose="020B0503020204020204" charset="-122"/>
                <a:sym typeface="+mn-ea"/>
              </a:rPr>
              <a:t> 。因此穷 举攻击对于单向性求解的时间复杂度为O(2</a:t>
            </a:r>
            <a:r>
              <a:rPr lang="en-US" altLang="zh-CN" sz="2000" baseline="30000" dirty="0" smtClean="0">
                <a:solidFill>
                  <a:schemeClr val="tx1"/>
                </a:solidFill>
                <a:uFillTx/>
                <a:latin typeface="Calibri" panose="020F0502020204030204" charset="0"/>
                <a:ea typeface="微软雅黑" panose="020B0503020204020204" charset="-122"/>
                <a:sym typeface="+mn-ea"/>
              </a:rPr>
              <a:t>n</a:t>
            </a:r>
            <a:r>
              <a:rPr lang="en-US" altLang="zh-CN" sz="2000" dirty="0" smtClean="0">
                <a:solidFill>
                  <a:schemeClr val="tx1"/>
                </a:solidFill>
                <a:uFillTx/>
                <a:latin typeface="Calibri" panose="020F0502020204030204" charset="0"/>
                <a:ea typeface="微软雅黑" panose="020B0503020204020204" charset="-122"/>
                <a:sym typeface="+mn-ea"/>
              </a:rPr>
              <a:t> )。</a:t>
            </a:r>
            <a:endParaRPr lang="en-US" altLang="zh-CN" sz="2000" dirty="0" smtClean="0">
              <a:solidFill>
                <a:schemeClr val="tx1"/>
              </a:solidFill>
              <a:uFillTx/>
              <a:latin typeface="Calibri" panose="020F0502020204030204" charset="0"/>
              <a:ea typeface="微软雅黑" panose="020B0503020204020204" charset="-122"/>
              <a:sym typeface="+mn-ea"/>
            </a:endParaRPr>
          </a:p>
          <a:p>
            <a:pPr algn="l" fontAlgn="auto">
              <a:lnSpc>
                <a:spcPct val="100000"/>
              </a:lnSpc>
              <a:spcBef>
                <a:spcPts val="0"/>
              </a:spcBef>
              <a:spcAft>
                <a:spcPts val="0"/>
              </a:spcAft>
              <a:buClrTx/>
              <a:buSzTx/>
              <a:buFont typeface="Wingdings" panose="05000000000000000000" charset="0"/>
              <a:buChar char="Ø"/>
            </a:pPr>
            <a:r>
              <a:rPr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抗弱碰撞性</a:t>
            </a:r>
            <a:r>
              <a:rPr lang="zh-CN" altLang="en-US"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00000"/>
              </a:lnSpc>
              <a:spcBef>
                <a:spcPts val="0"/>
              </a:spcBef>
              <a:spcAft>
                <a:spcPts val="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sym typeface="+mn-ea"/>
              </a:rPr>
              <a:t>对任何给定的x，找到满足y≠x且H(x)=H(y)的y 在计算上是不可行的。</a:t>
            </a:r>
            <a:endParaRPr lang="en-US" altLang="zh-CN" sz="2000" dirty="0" smtClean="0">
              <a:uFillTx/>
              <a:latin typeface="Calibri" panose="020F0502020204030204" charset="0"/>
              <a:ea typeface="微软雅黑" panose="020B0503020204020204" charset="-122"/>
            </a:endParaRPr>
          </a:p>
          <a:p>
            <a:pPr lvl="1" algn="l" rtl="0" fontAlgn="auto">
              <a:lnSpc>
                <a:spcPct val="100000"/>
              </a:lnSpc>
              <a:spcBef>
                <a:spcPts val="0"/>
              </a:spcBef>
              <a:spcAft>
                <a:spcPts val="0"/>
              </a:spcAft>
              <a:buClrTx/>
              <a:buSzTx/>
            </a:pPr>
            <a:r>
              <a:rPr lang="en-US" altLang="zh-CN" sz="2000" dirty="0" smtClean="0">
                <a:uFillTx/>
                <a:latin typeface="Calibri" panose="020F0502020204030204" charset="0"/>
                <a:ea typeface="微软雅黑" panose="020B0503020204020204" charset="-122"/>
                <a:sym typeface="+mn-ea"/>
              </a:rPr>
              <a:t>否则 ，攻击者可以截获报文M及其H(M) ，并找出另一报文M′使得 H(M′)=H(M) 。这样攻击者可用M′去冒充M，而收方不能发现。</a:t>
            </a:r>
            <a:endParaRPr lang="en-US" altLang="zh-CN" sz="2000" dirty="0" smtClean="0">
              <a:uFillTx/>
              <a:latin typeface="Calibri" panose="020F0502020204030204" charset="0"/>
              <a:ea typeface="微软雅黑" panose="020B0503020204020204" charset="-122"/>
              <a:sym typeface="+mn-ea"/>
            </a:endParaRPr>
          </a:p>
          <a:p>
            <a:pPr lvl="1" algn="l" rtl="0" fontAlgn="auto">
              <a:lnSpc>
                <a:spcPct val="100000"/>
              </a:lnSpc>
              <a:spcBef>
                <a:spcPts val="0"/>
              </a:spcBef>
              <a:spcAft>
                <a:spcPts val="0"/>
              </a:spcAft>
              <a:buClrTx/>
              <a:buSzTx/>
            </a:pPr>
            <a:r>
              <a:rPr lang="en-US" altLang="zh-CN" sz="2000" dirty="0" smtClean="0">
                <a:solidFill>
                  <a:srgbClr val="FF0000"/>
                </a:solidFill>
                <a:uFillTx/>
                <a:latin typeface="Calibri" panose="020F0502020204030204" charset="0"/>
                <a:ea typeface="微软雅黑" panose="020B0503020204020204" charset="-122"/>
                <a:sym typeface="+mn-ea"/>
              </a:rPr>
              <a:t>抗弱碰撞又称为抗求第二原像。</a:t>
            </a:r>
            <a:endParaRPr lang="en-US" altLang="zh-CN" sz="2000" dirty="0" smtClean="0">
              <a:solidFill>
                <a:srgbClr val="FF0000"/>
              </a:solidFill>
              <a:uFillTx/>
              <a:latin typeface="Calibri" panose="020F0502020204030204" charset="0"/>
              <a:ea typeface="微软雅黑" panose="020B0503020204020204" charset="-122"/>
            </a:endParaRPr>
          </a:p>
          <a:p>
            <a:pPr lvl="1" algn="l" rtl="0" fontAlgn="auto">
              <a:lnSpc>
                <a:spcPct val="100000"/>
              </a:lnSpc>
              <a:spcBef>
                <a:spcPts val="0"/>
              </a:spcBef>
              <a:spcAft>
                <a:spcPts val="0"/>
              </a:spcAft>
              <a:buClrTx/>
              <a:buSzTx/>
            </a:pPr>
            <a:r>
              <a:rPr lang="en-US" altLang="zh-CN" sz="2000" dirty="0" smtClean="0">
                <a:uFillTx/>
                <a:latin typeface="Calibri" panose="020F0502020204030204" charset="0"/>
                <a:ea typeface="微软雅黑" panose="020B0503020204020204" charset="-122"/>
                <a:sym typeface="+mn-ea"/>
              </a:rPr>
              <a:t>从穷举分析的角度求解弱碰撞问题的难度等价于求解单向性的难度， 时间复杂度为O（2</a:t>
            </a:r>
            <a:r>
              <a:rPr lang="en-US" altLang="zh-CN" sz="2000" baseline="30000" dirty="0" smtClean="0">
                <a:uFillTx/>
                <a:latin typeface="Calibri" panose="020F0502020204030204" charset="0"/>
                <a:ea typeface="微软雅黑" panose="020B0503020204020204" charset="-122"/>
                <a:sym typeface="+mn-ea"/>
              </a:rPr>
              <a:t>n</a:t>
            </a:r>
            <a:r>
              <a:rPr lang="en-US" altLang="zh-CN" sz="2000" dirty="0" smtClean="0">
                <a:uFillTx/>
                <a:latin typeface="Calibri" panose="020F0502020204030204" charset="0"/>
                <a:ea typeface="微软雅黑" panose="020B0503020204020204" charset="-122"/>
                <a:sym typeface="+mn-ea"/>
              </a:rPr>
              <a:t> ）。</a:t>
            </a:r>
            <a:endParaRPr lang="en-US" altLang="zh-CN" sz="2000" dirty="0" smtClean="0">
              <a:uFillTx/>
              <a:latin typeface="Calibri" panose="020F0502020204030204" charset="0"/>
              <a:ea typeface="微软雅黑" panose="020B0503020204020204" charset="-122"/>
              <a:sym typeface="+mn-ea"/>
            </a:endParaRPr>
          </a:p>
          <a:p>
            <a:pPr lvl="0" algn="l" rtl="0" fontAlgn="auto">
              <a:lnSpc>
                <a:spcPct val="100000"/>
              </a:lnSpc>
              <a:spcBef>
                <a:spcPts val="0"/>
              </a:spcBef>
              <a:spcAft>
                <a:spcPts val="0"/>
              </a:spcAft>
              <a:buClrTx/>
              <a:buSzTx/>
              <a:buFont typeface="Wingdings" panose="05000000000000000000" charset="0"/>
              <a:buChar char="Ø"/>
            </a:pPr>
            <a:r>
              <a:rPr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抗</a:t>
            </a:r>
            <a:r>
              <a:rPr lang="zh-CN"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强</a:t>
            </a:r>
            <a:r>
              <a:rPr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碰撞性</a:t>
            </a:r>
            <a:r>
              <a:rPr lang="zh-CN" altLang="en-US"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endParaRPr>
          </a:p>
          <a:p>
            <a:pPr lvl="1" algn="l" rtl="0" fontAlgn="auto">
              <a:lnSpc>
                <a:spcPct val="100000"/>
              </a:lnSpc>
              <a:spcBef>
                <a:spcPts val="0"/>
              </a:spcBef>
              <a:spcAft>
                <a:spcPts val="0"/>
              </a:spcAft>
              <a:buClrTx/>
              <a:buSzTx/>
            </a:pPr>
            <a:r>
              <a:rPr lang="en-US" altLang="zh-CN" sz="2000" dirty="0" smtClean="0">
                <a:solidFill>
                  <a:schemeClr val="tx1"/>
                </a:solidFill>
                <a:uFillTx/>
                <a:latin typeface="Calibri" panose="020F0502020204030204" charset="0"/>
                <a:ea typeface="微软雅黑" panose="020B0503020204020204" charset="-122"/>
                <a:sym typeface="+mn-ea"/>
              </a:rPr>
              <a:t>找到任何满足H(x)=H(y)的偶对(x,y)在计算上是 不可行的。</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algn="l" rtl="0" fontAlgn="auto">
              <a:lnSpc>
                <a:spcPct val="100000"/>
              </a:lnSpc>
              <a:spcBef>
                <a:spcPts val="0"/>
              </a:spcBef>
              <a:spcAft>
                <a:spcPts val="0"/>
              </a:spcAft>
              <a:buClrTx/>
              <a:buSzTx/>
            </a:pPr>
            <a:r>
              <a:rPr lang="en-US" altLang="zh-CN" sz="2000" dirty="0" smtClean="0">
                <a:solidFill>
                  <a:schemeClr val="tx1"/>
                </a:solidFill>
                <a:uFillTx/>
                <a:latin typeface="Calibri" panose="020F0502020204030204" charset="0"/>
                <a:ea typeface="微软雅黑" panose="020B0503020204020204" charset="-122"/>
                <a:sym typeface="+mn-ea"/>
              </a:rPr>
              <a:t>. 平均需要尝试超过2</a:t>
            </a:r>
            <a:r>
              <a:rPr lang="en-US" altLang="zh-CN" sz="2000" baseline="30000" dirty="0" smtClean="0">
                <a:solidFill>
                  <a:schemeClr val="tx1"/>
                </a:solidFill>
                <a:uFillTx/>
                <a:latin typeface="Calibri" panose="020F0502020204030204" charset="0"/>
                <a:ea typeface="微软雅黑" panose="020B0503020204020204" charset="-122"/>
                <a:sym typeface="+mn-ea"/>
              </a:rPr>
              <a:t>n/2</a:t>
            </a:r>
            <a:r>
              <a:rPr lang="en-US" altLang="zh-CN" sz="2000" dirty="0" smtClean="0">
                <a:solidFill>
                  <a:schemeClr val="tx1"/>
                </a:solidFill>
                <a:uFillTx/>
                <a:latin typeface="Calibri" panose="020F0502020204030204" charset="0"/>
                <a:ea typeface="微软雅黑" panose="020B0503020204020204" charset="-122"/>
                <a:sym typeface="+mn-ea"/>
              </a:rPr>
              <a:t>个数据就能产生一个碰撞，复杂度O(2</a:t>
            </a:r>
            <a:r>
              <a:rPr lang="en-US" altLang="zh-CN" sz="2000" baseline="30000" dirty="0" smtClean="0">
                <a:solidFill>
                  <a:schemeClr val="tx1"/>
                </a:solidFill>
                <a:uFillTx/>
                <a:latin typeface="Calibri" panose="020F0502020204030204" charset="0"/>
                <a:ea typeface="微软雅黑" panose="020B0503020204020204" charset="-122"/>
                <a:sym typeface="+mn-ea"/>
              </a:rPr>
              <a:t>n/2</a:t>
            </a:r>
            <a:r>
              <a:rPr lang="en-US" altLang="zh-CN" sz="2000" dirty="0" smtClean="0">
                <a:solidFill>
                  <a:schemeClr val="tx1"/>
                </a:solidFill>
                <a:uFillTx/>
                <a:latin typeface="Calibri" panose="020F0502020204030204" charset="0"/>
                <a:ea typeface="微软雅黑" panose="020B0503020204020204" charset="-122"/>
                <a:sym typeface="+mn-ea"/>
              </a:rPr>
              <a:t>)。</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90000"/>
              </a:lnSpc>
              <a:spcBef>
                <a:spcPts val="600"/>
              </a:spcBef>
              <a:spcAft>
                <a:spcPts val="600"/>
              </a:spcAft>
              <a:buFont typeface="Arial" panose="020B0604020202020204" pitchFamily="34" charset="0"/>
              <a:buChar char="•"/>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Picture 1" descr="f6.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10588" t="25455" r="9412" b="33636"/>
              <a:stretch>
                <a:fillRect/>
              </a:stretch>
            </p:blipFill>
          </mc:Choice>
          <mc:Fallback>
            <p:blipFill>
              <a:blip r:embed="rId3"/>
              <a:srcRect l="10588" t="25455" r="9412" b="33636"/>
              <a:stretch>
                <a:fillRect/>
              </a:stretch>
            </p:blipFill>
          </mc:Fallback>
        </mc:AlternateContent>
        <p:spPr>
          <a:xfrm>
            <a:off x="1864360" y="1063625"/>
            <a:ext cx="7533005" cy="4985385"/>
          </a:xfrm>
          <a:prstGeom prst="rect">
            <a:avLst/>
          </a:prstGeom>
        </p:spPr>
      </p:pic>
      <p:pic>
        <p:nvPicPr>
          <p:cNvPr id="7" name="Picture 3" descr="f6.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10588" t="73182" r="9412" b="21818"/>
              <a:stretch>
                <a:fillRect/>
              </a:stretch>
            </p:blipFill>
          </mc:Choice>
          <mc:Fallback>
            <p:blipFill>
              <a:blip r:embed="rId3"/>
              <a:srcRect l="10588" t="73182" r="9412" b="21818"/>
              <a:stretch>
                <a:fillRect/>
              </a:stretch>
            </p:blipFill>
          </mc:Fallback>
        </mc:AlternateContent>
        <p:spPr>
          <a:xfrm>
            <a:off x="2052955" y="5728335"/>
            <a:ext cx="7861935" cy="63436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Picture 1"/>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860550" y="2193925"/>
            <a:ext cx="8654988" cy="3714433"/>
          </a:xfrm>
          <a:prstGeom prst="rect">
            <a:avLst/>
          </a:prstGeom>
        </p:spPr>
      </p:pic>
      <p:sp>
        <p:nvSpPr>
          <p:cNvPr id="5" name="Rectangle 2"/>
          <p:cNvSpPr txBox="1">
            <a:spLocks noChangeArrowheads="1"/>
          </p:cNvSpPr>
          <p:nvPr/>
        </p:nvSpPr>
        <p:spPr bwMode="auto">
          <a:xfrm>
            <a:off x="515620" y="1170305"/>
            <a:ext cx="10957560" cy="1023620"/>
          </a:xfrm>
          <a:prstGeom prst="rect">
            <a:avLst/>
          </a:prstGeom>
          <a:noFill/>
          <a:ln w="9525">
            <a:noFill/>
            <a:miter lim="800000"/>
          </a:ln>
        </p:spPr>
        <p:txBody>
          <a:bodyPr vert="horz" wrap="square" lIns="91440" tIns="45720" rIns="91440" bIns="45720" numCol="1" anchor="ctr" anchorCtr="0" compatLnSpc="1"/>
          <a:p>
            <a:pPr marL="0" marR="0" lvl="0" indent="0" algn="ctr" defTabSz="914400" rtl="0" eaLnBrk="1" fontAlgn="base" latinLnBrk="0" hangingPunct="1">
              <a:lnSpc>
                <a:spcPts val="4500"/>
              </a:lnSpc>
              <a:spcBef>
                <a:spcPct val="0"/>
              </a:spcBef>
              <a:spcAft>
                <a:spcPct val="0"/>
              </a:spcAft>
              <a:buClrTx/>
              <a:buSzTx/>
              <a:buFontTx/>
              <a:buNone/>
              <a:defRPr/>
            </a:pPr>
            <a:r>
              <a:rPr kumimoji="0" lang="en-US" sz="2400" b="0" i="0" u="none" strike="noStrike" kern="1200" cap="none" spc="0" normalizeH="0" baseline="0" noProof="0" dirty="0" smtClean="0">
                <a:ln>
                  <a:noFill/>
                </a:ln>
                <a:solidFill>
                  <a:schemeClr val="tx2"/>
                </a:solidFill>
                <a:effectLst/>
                <a:uLnTx/>
                <a:uFillTx/>
                <a:latin typeface="+mn-lt"/>
                <a:ea typeface="MS PGothic" panose="020B0600070205080204" charset="-128"/>
                <a:cs typeface="MS PGothic" panose="020B0600070205080204" charset="-128"/>
              </a:rPr>
              <a:t>Hash Function Resistance Properties</a:t>
            </a:r>
            <a:r>
              <a:rPr kumimoji="0" lang="en-US" sz="2400" b="0" i="0" u="none" strike="noStrike" kern="1200" cap="none" spc="0" normalizeH="0" noProof="0" dirty="0" smtClean="0">
                <a:ln>
                  <a:noFill/>
                </a:ln>
                <a:solidFill>
                  <a:schemeClr val="tx2"/>
                </a:solidFill>
                <a:effectLst/>
                <a:uLnTx/>
                <a:uFillTx/>
                <a:latin typeface="+mn-lt"/>
                <a:ea typeface="MS PGothic" panose="020B0600070205080204" charset="-128"/>
                <a:cs typeface="MS PGothic" panose="020B0600070205080204" charset="-128"/>
              </a:rPr>
              <a:t> Required for Various Data Integrity Applications</a:t>
            </a:r>
            <a:endParaRPr kumimoji="0" lang="en-US" sz="2400" b="0" i="0" u="none" strike="noStrike" kern="1200" cap="none" spc="0" normalizeH="0" baseline="0" noProof="0" dirty="0" smtClean="0">
              <a:ln>
                <a:noFill/>
              </a:ln>
              <a:solidFill>
                <a:schemeClr val="tx2"/>
              </a:solidFill>
              <a:effectLst/>
              <a:uLnTx/>
              <a:uFillTx/>
              <a:latin typeface="+mn-lt"/>
              <a:ea typeface="MS PGothic" panose="020B0600070205080204" charset="-128"/>
              <a:cs typeface="MS PGothic" panose="020B0600070205080204" charset="-128"/>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针对</a:t>
            </a: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Hash</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函数攻击</a:t>
            </a: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charset="0"/>
              <a:buChar char="Ø"/>
            </a:pPr>
            <a:r>
              <a:rPr lang="en-US" altLang="zh-CN" sz="2400"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uFillTx/>
                <a:latin typeface="微软雅黑" panose="020B0503020204020204" charset="-122"/>
                <a:ea typeface="微软雅黑" panose="020B0503020204020204" charset="-122"/>
                <a:cs typeface="微软雅黑" panose="020B0503020204020204" charset="-122"/>
                <a:sym typeface="+mn-ea"/>
              </a:rPr>
              <a:t>暴力破解</a:t>
            </a:r>
            <a:r>
              <a:rPr lang="zh-CN" altLang="en-US" sz="2400" dirty="0" smtClean="0">
                <a:uFillTx/>
                <a:latin typeface="微软雅黑" panose="020B0503020204020204" charset="-122"/>
                <a:ea typeface="微软雅黑" panose="020B0503020204020204" charset="-122"/>
                <a:cs typeface="微软雅黑" panose="020B0503020204020204" charset="-122"/>
                <a:sym typeface="+mn-ea"/>
              </a:rPr>
              <a:t>攻击</a:t>
            </a:r>
            <a:endParaRPr lang="zh-CN" altLang="en-US" sz="24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uFillTx/>
                <a:latin typeface="微软雅黑" panose="020B0503020204020204" charset="-122"/>
                <a:ea typeface="微软雅黑" panose="020B0503020204020204" charset="-122"/>
                <a:cs typeface="微软雅黑" panose="020B0503020204020204" charset="-122"/>
                <a:sym typeface="+mn-ea"/>
              </a:rPr>
              <a:t>穷举攻击不依赖于任何算法的细节，仅与相应的长度相关。</a:t>
            </a:r>
            <a:endParaRPr lang="zh-CN" altLang="en-US" sz="2055"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uFillTx/>
                <a:latin typeface="微软雅黑" panose="020B0503020204020204" charset="-122"/>
                <a:ea typeface="微软雅黑" panose="020B0503020204020204" charset="-122"/>
                <a:cs typeface="微软雅黑" panose="020B0503020204020204" charset="-122"/>
                <a:sym typeface="+mn-ea"/>
              </a:rPr>
              <a:t>对于Hash函数，穷举攻击仅与算法所产生的Hash值的长度相关。</a:t>
            </a:r>
            <a:endParaRPr lang="zh-CN" altLang="en-US" sz="2055" dirty="0" smtClean="0">
              <a:uFillTx/>
              <a:latin typeface="微软雅黑" panose="020B0503020204020204" charset="-122"/>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charset="0"/>
              <a:buChar char="Ø"/>
            </a:pPr>
            <a:r>
              <a:rPr lang="zh-CN" altLang="en-US" sz="2400" dirty="0" smtClean="0">
                <a:uFillTx/>
                <a:latin typeface="微软雅黑" panose="020B0503020204020204" charset="-122"/>
                <a:ea typeface="微软雅黑" panose="020B0503020204020204" charset="-122"/>
                <a:cs typeface="微软雅黑" panose="020B0503020204020204" charset="-122"/>
                <a:sym typeface="+mn-ea"/>
              </a:rPr>
              <a:t>穷举</a:t>
            </a:r>
            <a:r>
              <a:rPr lang="zh-CN" altLang="en-US" sz="2400" dirty="0" smtClean="0">
                <a:uFillTx/>
                <a:latin typeface="微软雅黑" panose="020B0503020204020204" charset="-122"/>
                <a:ea typeface="微软雅黑" panose="020B0503020204020204" charset="-122"/>
                <a:cs typeface="微软雅黑" panose="020B0503020204020204" charset="-122"/>
                <a:sym typeface="+mn-ea"/>
              </a:rPr>
              <a:t>攻击</a:t>
            </a:r>
            <a:endParaRPr lang="zh-CN" altLang="en-US" sz="24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uFillTx/>
                <a:latin typeface="微软雅黑" panose="020B0503020204020204" charset="-122"/>
                <a:ea typeface="微软雅黑" panose="020B0503020204020204" charset="-122"/>
                <a:cs typeface="微软雅黑" panose="020B0503020204020204" charset="-122"/>
                <a:sym typeface="+mn-ea"/>
              </a:rPr>
              <a:t>密码分析依赖于具体算法的设计缺点。</a:t>
            </a:r>
            <a:endParaRPr lang="zh-CN" altLang="en-US" sz="2055"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碰撞攻击</a:t>
            </a: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uFillTx/>
                <a:latin typeface="微软雅黑" panose="020B0503020204020204" charset="-122"/>
                <a:ea typeface="微软雅黑" panose="020B0503020204020204" charset="-122"/>
                <a:cs typeface="微软雅黑" panose="020B0503020204020204" charset="-122"/>
                <a:sym typeface="+mn-ea"/>
              </a:rPr>
              <a:t>攻击者试图找到两个消息或数据块x和y,满足H(x)=H(y)</a:t>
            </a:r>
            <a:endParaRPr lang="zh-CN" altLang="en-US" sz="2055" dirty="0" smtClean="0">
              <a:uFillTx/>
              <a:latin typeface="微软雅黑" panose="020B0503020204020204" charset="-122"/>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charset="0"/>
              <a:buChar char="Ø"/>
            </a:pPr>
            <a:r>
              <a:rPr lang="zh-CN" altLang="en-US" sz="2400" dirty="0" smtClean="0">
                <a:uFillTx/>
                <a:latin typeface="微软雅黑" panose="020B0503020204020204" charset="-122"/>
                <a:ea typeface="微软雅黑" panose="020B0503020204020204" charset="-122"/>
                <a:cs typeface="微软雅黑" panose="020B0503020204020204" charset="-122"/>
                <a:sym typeface="+mn-ea"/>
              </a:rPr>
              <a:t>Yuval提出了以下策略通过生日悖论进行碰撞攻击：</a:t>
            </a:r>
            <a:endParaRPr lang="zh-CN" altLang="en-US" sz="24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发送方A准备对文本消息x进行签名，其使用的方法是：用A的私钥对m位的Hash码加密并将加密后的Hash码附于消息之后[参见图11.4(a)]。</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攻击者产生该(合法)消息x的2</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m/2</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种变式x',且每一种变式表达相同的意义，将这些消息以及对应的Hash值存储起来。</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攻击者准备伪造一条消息y,并想获取A的签名。</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攻击者再产生该伪造(非法)消息y的消息变式y',每个变式y与y表达相同的意义。对于每个y',攻击者计算H</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y),并与任意的H(x)进行比对，重复这一过程直到碰撞出现。即这一过程直到找到一个y'与某个x'具有相同的Hash值。</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攻击者将该合法消息变式x'提供给A签名，将该签名附于伪造消息的有效变式y'后并发送给预期的接收方。因为上述两个变式的Hash码相同，所以它们产生的签名也相同，因此攻击者即使不知道加密密钥也能攻击成功。</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178810" y="269240"/>
            <a:ext cx="5525770" cy="63195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生日问题：一个教室中，最少应有多少学生，才使至少有两人具有相同生日的概率不小于</a:t>
            </a:r>
            <a:r>
              <a:rPr lang="en-US" altLang="zh-CN" dirty="0" smtClean="0">
                <a:uFillTx/>
                <a:latin typeface="微软雅黑" panose="020B0503020204020204" charset="-122"/>
                <a:ea typeface="微软雅黑" panose="020B0503020204020204" charset="-122"/>
                <a:cs typeface="微软雅黑" panose="020B0503020204020204" charset="-122"/>
                <a:sym typeface="+mn-ea"/>
              </a:rPr>
              <a:t>1/2</a:t>
            </a:r>
            <a:r>
              <a:rPr lang="zh-CN" altLang="en-US" dirty="0" smtClean="0">
                <a:uFillTx/>
                <a:latin typeface="微软雅黑" panose="020B0503020204020204" charset="-122"/>
                <a:ea typeface="微软雅黑" panose="020B0503020204020204" charset="-122"/>
                <a:cs typeface="微软雅黑" panose="020B0503020204020204" charset="-122"/>
                <a:sym typeface="+mn-ea"/>
              </a:rPr>
              <a:t>？</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如果概率是</a:t>
            </a:r>
            <a:r>
              <a:rPr lang="en-US" altLang="zh-CN" dirty="0" smtClean="0">
                <a:uFillTx/>
                <a:latin typeface="微软雅黑" panose="020B0503020204020204" charset="-122"/>
                <a:ea typeface="微软雅黑" panose="020B0503020204020204" charset="-122"/>
                <a:cs typeface="微软雅黑" panose="020B0503020204020204" charset="-122"/>
                <a:sym typeface="+mn-ea"/>
              </a:rPr>
              <a:t>1</a:t>
            </a:r>
            <a:r>
              <a:rPr lang="zh-CN" altLang="en-US" dirty="0" smtClean="0">
                <a:uFillTx/>
                <a:latin typeface="微软雅黑" panose="020B0503020204020204" charset="-122"/>
                <a:ea typeface="微软雅黑" panose="020B0503020204020204" charset="-122"/>
                <a:cs typeface="微软雅黑" panose="020B0503020204020204" charset="-122"/>
                <a:sym typeface="+mn-ea"/>
              </a:rPr>
              <a:t>的话，需要</a:t>
            </a:r>
            <a:r>
              <a:rPr lang="en-US" altLang="zh-CN" dirty="0" smtClean="0">
                <a:uFillTx/>
                <a:latin typeface="微软雅黑" panose="020B0503020204020204" charset="-122"/>
                <a:ea typeface="微软雅黑" panose="020B0503020204020204" charset="-122"/>
                <a:cs typeface="微软雅黑" panose="020B0503020204020204" charset="-122"/>
                <a:sym typeface="+mn-ea"/>
              </a:rPr>
              <a:t>366</a:t>
            </a:r>
            <a:r>
              <a:rPr lang="zh-CN" altLang="en-US" dirty="0" smtClean="0">
                <a:uFillTx/>
                <a:latin typeface="微软雅黑" panose="020B0503020204020204" charset="-122"/>
                <a:ea typeface="微软雅黑" panose="020B0503020204020204" charset="-122"/>
                <a:cs typeface="微软雅黑" panose="020B0503020204020204" charset="-122"/>
                <a:sym typeface="+mn-ea"/>
              </a:rPr>
              <a:t>个人。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概率是</a:t>
            </a:r>
            <a:r>
              <a:rPr lang="en-US" altLang="zh-CN" dirty="0" smtClean="0">
                <a:uFillTx/>
                <a:latin typeface="微软雅黑" panose="020B0503020204020204" charset="-122"/>
                <a:ea typeface="微软雅黑" panose="020B0503020204020204" charset="-122"/>
                <a:cs typeface="微软雅黑" panose="020B0503020204020204" charset="-122"/>
                <a:sym typeface="+mn-ea"/>
              </a:rPr>
              <a:t>1/2</a:t>
            </a:r>
            <a:r>
              <a:rPr lang="zh-CN" altLang="en-US" dirty="0" smtClean="0">
                <a:uFillTx/>
                <a:latin typeface="微软雅黑" panose="020B0503020204020204" charset="-122"/>
                <a:ea typeface="微软雅黑" panose="020B0503020204020204" charset="-122"/>
                <a:cs typeface="微软雅黑" panose="020B0503020204020204" charset="-122"/>
                <a:sym typeface="+mn-ea"/>
              </a:rPr>
              <a:t>，需要</a:t>
            </a:r>
            <a:r>
              <a:rPr lang="en-US" altLang="zh-CN" dirty="0" smtClean="0">
                <a:uFillTx/>
                <a:latin typeface="微软雅黑" panose="020B0503020204020204" charset="-122"/>
                <a:ea typeface="微软雅黑" panose="020B0503020204020204" charset="-122"/>
                <a:cs typeface="微软雅黑" panose="020B0503020204020204" charset="-122"/>
                <a:sym typeface="+mn-ea"/>
              </a:rPr>
              <a:t>23</a:t>
            </a:r>
            <a:r>
              <a:rPr lang="zh-CN" altLang="en-US" dirty="0" smtClean="0">
                <a:uFillTx/>
                <a:latin typeface="微软雅黑" panose="020B0503020204020204" charset="-122"/>
                <a:ea typeface="微软雅黑" panose="020B0503020204020204" charset="-122"/>
                <a:cs typeface="微软雅黑" panose="020B0503020204020204" charset="-122"/>
                <a:sym typeface="+mn-ea"/>
              </a:rPr>
              <a:t>个人。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概率结果跟人的直觉是相违背的，所以叫做</a:t>
            </a:r>
            <a:r>
              <a:rPr lang="zh-CN" altLang="en-US" dirty="0" smtClean="0">
                <a:uFillTx/>
                <a:latin typeface="微软雅黑" panose="020B0503020204020204" charset="-122"/>
                <a:ea typeface="微软雅黑" panose="020B0503020204020204" charset="-122"/>
                <a:cs typeface="微软雅黑" panose="020B0503020204020204" charset="-122"/>
                <a:sym typeface="+mn-ea"/>
              </a:rPr>
              <a:t>生日悖论。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第一类生日攻击</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假设你和其余</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k</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个人一起在一个屋子中，那么至少找到一个人同你的生日相同的话，需要</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k</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多大？</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存在有人同你生日相同的概率超过</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1/2</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的话，需要</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k</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多大？</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14:m>
                  <m:oMath xmlns:m="http://schemas.openxmlformats.org/officeDocument/2006/math">
                    <m:sSub>
                      <m:sSubPr>
                        <m:ctrlPr>
                          <a:rPr lang="en-US" altLang="zh-CN" sz="2000" i="1" dirty="0" smtClean="0">
                            <a:uFillTx/>
                            <a:latin typeface="Cambria Math" panose="02040503050406030204" charset="0"/>
                            <a:ea typeface="微软雅黑" panose="020B0503020204020204" charset="-122"/>
                            <a:cs typeface="Cambria Math" panose="02040503050406030204" charset="0"/>
                            <a:sym typeface="+mn-ea"/>
                          </a:rPr>
                        </m:ctrlPr>
                      </m:sSubPr>
                      <m:e>
                        <m:r>
                          <a:rPr lang="en-US" altLang="zh-CN" sz="2000" i="1" dirty="0" smtClean="0">
                            <a:uFillTx/>
                            <a:latin typeface="Cambria Math" panose="02040503050406030204" charset="0"/>
                            <a:ea typeface="微软雅黑" panose="020B0503020204020204" charset="-122"/>
                            <a:cs typeface="Cambria Math" panose="02040503050406030204" charset="0"/>
                            <a:sym typeface="+mn-ea"/>
                          </a:rPr>
                          <m:t>𝑃</m:t>
                        </m:r>
                      </m:e>
                      <m:sub>
                        <m:r>
                          <a:rPr lang="en-US" altLang="zh-CN" sz="2000" i="1" dirty="0" smtClean="0">
                            <a:uFillTx/>
                            <a:latin typeface="Cambria Math" panose="02040503050406030204" charset="0"/>
                            <a:ea typeface="微软雅黑" panose="020B0503020204020204" charset="-122"/>
                            <a:cs typeface="Cambria Math" panose="02040503050406030204" charset="0"/>
                            <a:sym typeface="+mn-ea"/>
                          </a:rPr>
                          <m:t>𝑘</m:t>
                        </m:r>
                      </m:sub>
                    </m:sSub>
                  </m:oMath>
                </a14:m>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=1-(1-</a:t>
                </a:r>
                <a14:m>
                  <m:oMath xmlns:m="http://schemas.openxmlformats.org/officeDocument/2006/math">
                    <m:f>
                      <m:fPr>
                        <m:ctrlPr>
                          <a:rPr lang="en-US" altLang="zh-CN" sz="2000" i="1" dirty="0" smtClean="0">
                            <a:uFillTx/>
                            <a:latin typeface="Cambria Math" panose="02040503050406030204" charset="0"/>
                            <a:ea typeface="微软雅黑" panose="020B0503020204020204" charset="-122"/>
                            <a:cs typeface="Cambria Math" panose="02040503050406030204" charset="0"/>
                            <a:sym typeface="+mn-ea"/>
                          </a:rPr>
                        </m:ctrlPr>
                      </m:fPr>
                      <m:num>
                        <m:r>
                          <a:rPr lang="en-US" altLang="zh-CN" sz="2000" i="1" dirty="0" smtClean="0">
                            <a:uFillTx/>
                            <a:latin typeface="Cambria Math" panose="02040503050406030204" charset="0"/>
                            <a:ea typeface="微软雅黑" panose="020B0503020204020204" charset="-122"/>
                            <a:cs typeface="Cambria Math" panose="02040503050406030204" charset="0"/>
                            <a:sym typeface="+mn-ea"/>
                          </a:rPr>
                          <m:t>1</m:t>
                        </m:r>
                      </m:num>
                      <m:den>
                        <m:r>
                          <a:rPr lang="en-US" altLang="zh-CN" sz="2000" i="1" dirty="0" smtClean="0">
                            <a:uFillTx/>
                            <a:latin typeface="Cambria Math" panose="02040503050406030204" charset="0"/>
                            <a:ea typeface="微软雅黑" panose="020B0503020204020204" charset="-122"/>
                            <a:cs typeface="Cambria Math" panose="02040503050406030204" charset="0"/>
                            <a:sym typeface="+mn-ea"/>
                          </a:rPr>
                          <m:t>365</m:t>
                        </m:r>
                      </m:den>
                    </m:f>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1</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f>
                      <m:fPr>
                        <m:ctrlPr>
                          <a:rPr lang="en-US" altLang="zh-CN" sz="2000" i="1" dirty="0" smtClean="0">
                            <a:uFillTx/>
                            <a:latin typeface="Cambria Math" panose="02040503050406030204" charset="0"/>
                            <a:ea typeface="微软雅黑" panose="020B0503020204020204" charset="-122"/>
                            <a:cs typeface="Cambria Math" panose="02040503050406030204" charset="0"/>
                            <a:sym typeface="+mn-ea"/>
                          </a:rPr>
                        </m:ctrlPr>
                      </m:fPr>
                      <m:num>
                        <m:r>
                          <a:rPr lang="en-US" altLang="zh-CN" sz="2000" i="1" dirty="0" smtClean="0">
                            <a:uFillTx/>
                            <a:latin typeface="Cambria Math" panose="02040503050406030204" charset="0"/>
                            <a:ea typeface="微软雅黑" panose="020B0503020204020204" charset="-122"/>
                            <a:cs typeface="Cambria Math" panose="02040503050406030204" charset="0"/>
                            <a:sym typeface="+mn-ea"/>
                          </a:rPr>
                          <m:t>1</m:t>
                        </m:r>
                      </m:num>
                      <m:den>
                        <m:r>
                          <a:rPr lang="en-US" altLang="zh-CN" sz="2000" i="1" dirty="0" smtClean="0">
                            <a:uFillTx/>
                            <a:latin typeface="Cambria Math" panose="02040503050406030204" charset="0"/>
                            <a:ea typeface="微软雅黑" panose="020B0503020204020204" charset="-122"/>
                            <a:cs typeface="Cambria Math" panose="02040503050406030204" charset="0"/>
                            <a:sym typeface="+mn-ea"/>
                          </a:rPr>
                          <m:t>365</m:t>
                        </m:r>
                      </m:den>
                    </m:f>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1</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f>
                      <m:fPr>
                        <m:ctrlPr>
                          <a:rPr lang="en-US" altLang="zh-CN" sz="2000" i="1" dirty="0" smtClean="0">
                            <a:uFillTx/>
                            <a:latin typeface="Cambria Math" panose="02040503050406030204" charset="0"/>
                            <a:ea typeface="微软雅黑" panose="020B0503020204020204" charset="-122"/>
                            <a:cs typeface="Cambria Math" panose="02040503050406030204" charset="0"/>
                            <a:sym typeface="+mn-ea"/>
                          </a:rPr>
                        </m:ctrlPr>
                      </m:fPr>
                      <m:num>
                        <m:r>
                          <a:rPr lang="en-US" altLang="zh-CN" sz="2000" i="1" dirty="0" smtClean="0">
                            <a:uFillTx/>
                            <a:latin typeface="Cambria Math" panose="02040503050406030204" charset="0"/>
                            <a:ea typeface="微软雅黑" panose="020B0503020204020204" charset="-122"/>
                            <a:cs typeface="Cambria Math" panose="02040503050406030204" charset="0"/>
                            <a:sym typeface="+mn-ea"/>
                          </a:rPr>
                          <m:t>1</m:t>
                        </m:r>
                      </m:num>
                      <m:den>
                        <m:r>
                          <a:rPr lang="en-US" altLang="zh-CN" sz="2000" i="1" dirty="0" smtClean="0">
                            <a:uFillTx/>
                            <a:latin typeface="Cambria Math" panose="02040503050406030204" charset="0"/>
                            <a:ea typeface="微软雅黑" panose="020B0503020204020204" charset="-122"/>
                            <a:cs typeface="Cambria Math" panose="02040503050406030204" charset="0"/>
                            <a:sym typeface="+mn-ea"/>
                          </a:rPr>
                          <m:t>365</m:t>
                        </m:r>
                      </m:den>
                    </m:f>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1</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f>
                      <m:fPr>
                        <m:ctrlPr>
                          <a:rPr lang="en-US" altLang="zh-CN" sz="2000" i="1" dirty="0" smtClean="0">
                            <a:uFillTx/>
                            <a:latin typeface="Cambria Math" panose="02040503050406030204" charset="0"/>
                            <a:ea typeface="微软雅黑" panose="020B0503020204020204" charset="-122"/>
                            <a:cs typeface="Cambria Math" panose="02040503050406030204" charset="0"/>
                            <a:sym typeface="+mn-ea"/>
                          </a:rPr>
                        </m:ctrlPr>
                      </m:fPr>
                      <m:num>
                        <m:r>
                          <a:rPr lang="en-US" altLang="zh-CN" sz="2000" i="1" dirty="0" smtClean="0">
                            <a:uFillTx/>
                            <a:latin typeface="Cambria Math" panose="02040503050406030204" charset="0"/>
                            <a:ea typeface="微软雅黑" panose="020B0503020204020204" charset="-122"/>
                            <a:cs typeface="Cambria Math" panose="02040503050406030204" charset="0"/>
                            <a:sym typeface="+mn-ea"/>
                          </a:rPr>
                          <m:t>364</m:t>
                        </m:r>
                      </m:num>
                      <m:den>
                        <m:r>
                          <a:rPr lang="en-US" altLang="zh-CN" sz="2000" i="1" dirty="0" smtClean="0">
                            <a:uFillTx/>
                            <a:latin typeface="Cambria Math" panose="02040503050406030204" charset="0"/>
                            <a:ea typeface="微软雅黑" panose="020B0503020204020204" charset="-122"/>
                            <a:cs typeface="Cambria Math" panose="02040503050406030204" charset="0"/>
                            <a:sym typeface="+mn-ea"/>
                          </a:rPr>
                          <m:t>365</m:t>
                        </m:r>
                      </m:den>
                    </m:f>
                    <m:sSup>
                      <m:sSupPr>
                        <m:ctrlPr>
                          <a:rPr lang="en-US" altLang="zh-CN" sz="2000" i="1" dirty="0" smtClean="0">
                            <a:uFillTx/>
                            <a:latin typeface="Cambria Math" panose="02040503050406030204" charset="0"/>
                            <a:ea typeface="微软雅黑" panose="020B0503020204020204" charset="-122"/>
                            <a:cs typeface="Cambria Math" panose="02040503050406030204" charset="0"/>
                            <a:sym typeface="+mn-ea"/>
                          </a:rPr>
                        </m:ctrlPr>
                      </m:sSupPr>
                      <m:e>
                        <m:r>
                          <a:rPr lang="en-US" altLang="zh-CN" sz="2000" i="1" dirty="0" smtClean="0">
                            <a:uFillTx/>
                            <a:latin typeface="Cambria Math" panose="02040503050406030204" charset="0"/>
                            <a:ea typeface="微软雅黑" panose="020B0503020204020204" charset="-122"/>
                            <a:cs typeface="Cambria Math" panose="02040503050406030204" charset="0"/>
                            <a:sym typeface="+mn-ea"/>
                          </a:rPr>
                          <m:t>)</m:t>
                        </m:r>
                      </m:e>
                      <m:sup>
                        <m:r>
                          <a:rPr lang="en-US" altLang="zh-CN" sz="2000" i="1" dirty="0" smtClean="0">
                            <a:uFillTx/>
                            <a:latin typeface="Cambria Math" panose="02040503050406030204" charset="0"/>
                            <a:ea typeface="微软雅黑" panose="020B0503020204020204" charset="-122"/>
                            <a:cs typeface="Cambria Math" panose="02040503050406030204" charset="0"/>
                            <a:sym typeface="+mn-ea"/>
                          </a:rPr>
                          <m:t>𝑘</m:t>
                        </m:r>
                      </m:sup>
                    </m:sSup>
                  </m:oMath>
                </a14:m>
                <a:endParaRPr lang="en-US" altLang="zh-CN" sz="2000" i="1" dirty="0" smtClean="0">
                  <a:uFillTx/>
                  <a:latin typeface="Cambria Math" panose="02040503050406030204" charset="0"/>
                  <a:ea typeface="微软雅黑" panose="020B0503020204020204" charset="-122"/>
                  <a:cs typeface="Cambria Math" panose="02040503050406030204" charset="0"/>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取</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P&gt;0.5</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时，得</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k=253</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endParaRPr lang="en-US" altLang="zh-CN" sz="2000" dirty="0" smtClean="0">
                  <a:uFillTx/>
                  <a:latin typeface="微软雅黑" panose="020B0503020204020204" charset="-122"/>
                  <a:ea typeface="微软雅黑" panose="020B0503020204020204" charset="-122"/>
                  <a:cs typeface="微软雅黑" panose="020B0503020204020204" charset="-122"/>
                  <a:sym typeface="+mn-ea"/>
                </a:endParaRPr>
              </a:p>
            </p:txBody>
          </p:sp>
        </mc:Choice>
        <mc:Fallback>
          <p:sp>
            <p:nvSpPr>
              <p:cNvPr id="66563" name="Rectangle 3"/>
              <p:cNvSpPr>
                <a:spLocks noRot="1" noChangeAspect="1" noMove="1" noResize="1" noEditPoints="1" noAdjustHandles="1" noChangeArrowheads="1" noChangeShapeType="1" noTextEdit="1"/>
              </p:cNvSpPr>
              <p:nvPr>
                <p:ph idx="1"/>
              </p:nvPr>
            </p:nvSpPr>
            <p:spPr>
              <a:xfrm>
                <a:off x="1351280" y="1110615"/>
                <a:ext cx="9151620" cy="5073650"/>
              </a:xfrm>
              <a:blipFill rotWithShape="1">
                <a:blip r:embed="rId2"/>
                <a:stretch>
                  <a:fillRect/>
                </a:stretch>
              </a:blipFill>
            </p:spPr>
            <p:txBody>
              <a:bodyPr/>
              <a:lstStyle/>
              <a:p>
                <a:r>
                  <a:rPr lang="zh-CN" altLang="en-US">
                    <a:noFill/>
                  </a:rPr>
                  <a:t> </a:t>
                </a:r>
              </a:p>
            </p:txBody>
          </p:sp>
        </mc:Fallback>
      </mc:AlternateContent>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第二类生日攻击</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假设有</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N</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个人在一个屋子中，如果任何两个或两个以上的人生日相同的概率超过</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1/2</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的话，需要</a:t>
            </a:r>
            <a:r>
              <a:rPr lang="en-US" altLang="zh-CN" sz="2000" dirty="0" smtClean="0">
                <a:uFillTx/>
                <a:latin typeface="微软雅黑" panose="020B0503020204020204" charset="-122"/>
                <a:ea typeface="微软雅黑" panose="020B0503020204020204" charset="-122"/>
                <a:cs typeface="微软雅黑" panose="020B0503020204020204" charset="-122"/>
                <a:sym typeface="+mn-ea"/>
              </a:rPr>
              <a:t>N</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为</a:t>
            </a: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多大？</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rcRect t="45572"/>
          <a:stretch>
            <a:fillRect/>
          </a:stretch>
        </p:blipFill>
        <p:spPr>
          <a:xfrm>
            <a:off x="2103120" y="2239645"/>
            <a:ext cx="7749540" cy="858520"/>
          </a:xfrm>
          <a:prstGeom prst="rect">
            <a:avLst/>
          </a:prstGeom>
        </p:spPr>
      </p:pic>
      <p:pic>
        <p:nvPicPr>
          <p:cNvPr id="7" name="图片 6"/>
          <p:cNvPicPr>
            <a:picLocks noChangeAspect="1"/>
          </p:cNvPicPr>
          <p:nvPr/>
        </p:nvPicPr>
        <p:blipFill>
          <a:blip r:embed="rId3"/>
          <a:stretch>
            <a:fillRect/>
          </a:stretch>
        </p:blipFill>
        <p:spPr>
          <a:xfrm>
            <a:off x="2113280" y="3098165"/>
            <a:ext cx="6522720" cy="2476500"/>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问题2---生日悖论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在k个人中至少有两个人的生日相同的概率大于0.5时，k至少多大？</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设有k个整数项，每一项都在1到n之间等可能地取值。</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P(n, k)：k个整数项中至少有两个取值相同的概率</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r>
              <a:rPr lang="zh-CN" altLang="en-US" sz="2000" dirty="0" smtClean="0">
                <a:uFillTx/>
                <a:latin typeface="微软雅黑" panose="020B0503020204020204" charset="-122"/>
                <a:ea typeface="微软雅黑" panose="020B0503020204020204" charset="-122"/>
                <a:cs typeface="微软雅黑" panose="020B0503020204020204" charset="-122"/>
                <a:sym typeface="+mn-ea"/>
              </a:rPr>
              <a:t>生日悖论就是求使得P(365,k)≥0.5的最小k。Q(365, k) ：k个数据项中任意两个取值都不同的概率。</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问题2---生日悖论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2310130" y="2132965"/>
            <a:ext cx="7750810" cy="3940175"/>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问题2---生日悖论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2"/>
          <a:stretch>
            <a:fillRect/>
          </a:stretch>
        </p:blipFill>
        <p:spPr>
          <a:xfrm>
            <a:off x="2118995" y="2129790"/>
            <a:ext cx="7906385" cy="3568065"/>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问题2---生日悖论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2580005" y="2099945"/>
            <a:ext cx="7616190" cy="3579495"/>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80000"/>
              </a:lnSpc>
              <a:spcBef>
                <a:spcPts val="600"/>
              </a:spcBef>
              <a:spcAft>
                <a:spcPts val="600"/>
              </a:spcAft>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问题2---生日悖论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2"/>
          <a:stretch>
            <a:fillRect/>
          </a:stretch>
        </p:blipFill>
        <p:spPr>
          <a:xfrm>
            <a:off x="2052320" y="2135505"/>
            <a:ext cx="8269605" cy="298831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生日悖论</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600"/>
              </a:spcBef>
              <a:spcAft>
                <a:spcPts val="600"/>
              </a:spcAft>
              <a:buFont typeface="Arial" panose="020B0604020202020204" pitchFamily="34" charset="0"/>
              <a:buChar char="•"/>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1388110" y="1598295"/>
            <a:ext cx="9093200" cy="3550920"/>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需求和安全性</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00000"/>
              </a:lnSpc>
              <a:spcBef>
                <a:spcPts val="0"/>
              </a:spcBef>
              <a:spcAft>
                <a:spcPts val="0"/>
              </a:spcAft>
              <a:buFont typeface="Wingdings" panose="05000000000000000000" charset="0"/>
              <a:buChar char="Ø"/>
            </a:pPr>
            <a:r>
              <a:rPr lang="en-US" altLang="zh-CN" sz="2400" b="1" dirty="0" smtClean="0">
                <a:solidFill>
                  <a:srgbClr val="FF0000"/>
                </a:solidFill>
                <a:uFillTx/>
                <a:latin typeface="Calibri" panose="020F0502020204030204" charset="0"/>
                <a:ea typeface="微软雅黑" panose="020B0503020204020204" charset="-122"/>
                <a:sym typeface="+mn-ea"/>
              </a:rPr>
              <a:t>单向性</a:t>
            </a:r>
            <a:r>
              <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00000"/>
              </a:lnSpc>
              <a:spcBef>
                <a:spcPts val="0"/>
              </a:spcBef>
              <a:spcAft>
                <a:spcPts val="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对给定的Hash值h ，找到满足H(x) ＝h的x在计算上 是不可行的。</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100000"/>
              </a:lnSpc>
              <a:spcBef>
                <a:spcPts val="0"/>
              </a:spcBef>
              <a:spcAft>
                <a:spcPts val="0"/>
              </a:spcAft>
              <a:buFont typeface="Arial" panose="020B0604020202020204" pitchFamily="34" charset="0"/>
              <a:buChar char="•"/>
            </a:pPr>
            <a:r>
              <a:rPr lang="en-US" altLang="zh-CN" sz="2000" dirty="0" smtClean="0">
                <a:solidFill>
                  <a:schemeClr val="tx1"/>
                </a:solidFill>
                <a:uFillTx/>
                <a:latin typeface="Calibri" panose="020F0502020204030204" charset="0"/>
                <a:ea typeface="微软雅黑" panose="020B0503020204020204" charset="-122"/>
                <a:sym typeface="+mn-ea"/>
              </a:rPr>
              <a:t>设h码为n位长，且Hash函数的输出值是等概分布的，那么任意输入数据x产生的H(x)恰好为h的概率是1/2</a:t>
            </a:r>
            <a:r>
              <a:rPr lang="en-US" altLang="zh-CN" sz="2000" baseline="30000" dirty="0" smtClean="0">
                <a:solidFill>
                  <a:schemeClr val="tx1"/>
                </a:solidFill>
                <a:uFillTx/>
                <a:latin typeface="Calibri" panose="020F0502020204030204" charset="0"/>
                <a:ea typeface="微软雅黑" panose="020B0503020204020204" charset="-122"/>
                <a:sym typeface="+mn-ea"/>
              </a:rPr>
              <a:t>n</a:t>
            </a:r>
            <a:r>
              <a:rPr lang="en-US" altLang="zh-CN" sz="2000" dirty="0" smtClean="0">
                <a:solidFill>
                  <a:schemeClr val="tx1"/>
                </a:solidFill>
                <a:uFillTx/>
                <a:latin typeface="Calibri" panose="020F0502020204030204" charset="0"/>
                <a:ea typeface="微软雅黑" panose="020B0503020204020204" charset="-122"/>
                <a:sym typeface="+mn-ea"/>
              </a:rPr>
              <a:t> 。因此穷 举攻击对于单向性求解的时间复杂度为O(2</a:t>
            </a:r>
            <a:r>
              <a:rPr lang="en-US" altLang="zh-CN" sz="2000" baseline="30000" dirty="0" smtClean="0">
                <a:solidFill>
                  <a:schemeClr val="tx1"/>
                </a:solidFill>
                <a:uFillTx/>
                <a:latin typeface="Calibri" panose="020F0502020204030204" charset="0"/>
                <a:ea typeface="微软雅黑" panose="020B0503020204020204" charset="-122"/>
                <a:sym typeface="+mn-ea"/>
              </a:rPr>
              <a:t>n</a:t>
            </a:r>
            <a:r>
              <a:rPr lang="en-US" altLang="zh-CN" sz="2000" dirty="0" smtClean="0">
                <a:solidFill>
                  <a:schemeClr val="tx1"/>
                </a:solidFill>
                <a:uFillTx/>
                <a:latin typeface="Calibri" panose="020F0502020204030204" charset="0"/>
                <a:ea typeface="微软雅黑" panose="020B0503020204020204" charset="-122"/>
                <a:sym typeface="+mn-ea"/>
              </a:rPr>
              <a:t> )。</a:t>
            </a:r>
            <a:endParaRPr lang="en-US" altLang="zh-CN" sz="2000" dirty="0" smtClean="0">
              <a:solidFill>
                <a:schemeClr val="tx1"/>
              </a:solidFill>
              <a:uFillTx/>
              <a:latin typeface="Calibri" panose="020F0502020204030204" charset="0"/>
              <a:ea typeface="微软雅黑" panose="020B0503020204020204" charset="-122"/>
              <a:sym typeface="+mn-ea"/>
            </a:endParaRPr>
          </a:p>
          <a:p>
            <a:pPr algn="l" fontAlgn="auto">
              <a:lnSpc>
                <a:spcPct val="100000"/>
              </a:lnSpc>
              <a:spcBef>
                <a:spcPts val="0"/>
              </a:spcBef>
              <a:spcAft>
                <a:spcPts val="0"/>
              </a:spcAft>
              <a:buClrTx/>
              <a:buSzTx/>
              <a:buFont typeface="Wingdings" panose="05000000000000000000" charset="0"/>
              <a:buChar char="Ø"/>
            </a:pPr>
            <a:r>
              <a:rPr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抗弱碰撞性</a:t>
            </a:r>
            <a:r>
              <a:rPr lang="zh-CN" altLang="en-US"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00000"/>
              </a:lnSpc>
              <a:spcBef>
                <a:spcPts val="0"/>
              </a:spcBef>
              <a:spcAft>
                <a:spcPts val="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sym typeface="+mn-ea"/>
              </a:rPr>
              <a:t>对任何给定的x，找到满足y≠x且H(x)=H(y)的y 在计算上是不可行的。</a:t>
            </a:r>
            <a:endParaRPr lang="en-US" altLang="zh-CN" sz="2000" dirty="0" smtClean="0">
              <a:uFillTx/>
              <a:latin typeface="Calibri" panose="020F0502020204030204" charset="0"/>
              <a:ea typeface="微软雅黑" panose="020B0503020204020204" charset="-122"/>
            </a:endParaRPr>
          </a:p>
          <a:p>
            <a:pPr lvl="1" algn="l" rtl="0" fontAlgn="auto">
              <a:lnSpc>
                <a:spcPct val="100000"/>
              </a:lnSpc>
              <a:spcBef>
                <a:spcPts val="0"/>
              </a:spcBef>
              <a:spcAft>
                <a:spcPts val="0"/>
              </a:spcAft>
              <a:buClrTx/>
              <a:buSzTx/>
            </a:pPr>
            <a:r>
              <a:rPr lang="en-US" altLang="zh-CN" sz="2000" dirty="0" smtClean="0">
                <a:uFillTx/>
                <a:latin typeface="Calibri" panose="020F0502020204030204" charset="0"/>
                <a:ea typeface="微软雅黑" panose="020B0503020204020204" charset="-122"/>
                <a:sym typeface="+mn-ea"/>
              </a:rPr>
              <a:t>否则 ，攻击者可以截获报文M及其H(M) ，并找出另一报文M′使得 H(M′)=H(M) 。这样攻击者可用M′去冒充M，而收方不能发现。</a:t>
            </a:r>
            <a:endParaRPr lang="en-US" altLang="zh-CN" sz="2000" dirty="0" smtClean="0">
              <a:uFillTx/>
              <a:latin typeface="Calibri" panose="020F0502020204030204" charset="0"/>
              <a:ea typeface="微软雅黑" panose="020B0503020204020204" charset="-122"/>
              <a:sym typeface="+mn-ea"/>
            </a:endParaRPr>
          </a:p>
          <a:p>
            <a:pPr lvl="1" algn="l" rtl="0" fontAlgn="auto">
              <a:lnSpc>
                <a:spcPct val="100000"/>
              </a:lnSpc>
              <a:spcBef>
                <a:spcPts val="0"/>
              </a:spcBef>
              <a:spcAft>
                <a:spcPts val="0"/>
              </a:spcAft>
              <a:buClrTx/>
              <a:buSzTx/>
            </a:pPr>
            <a:r>
              <a:rPr lang="en-US" altLang="zh-CN" sz="2000" dirty="0" smtClean="0">
                <a:solidFill>
                  <a:srgbClr val="FF0000"/>
                </a:solidFill>
                <a:uFillTx/>
                <a:latin typeface="Calibri" panose="020F0502020204030204" charset="0"/>
                <a:ea typeface="微软雅黑" panose="020B0503020204020204" charset="-122"/>
                <a:sym typeface="+mn-ea"/>
              </a:rPr>
              <a:t>抗弱碰撞又称为抗求第二原像。</a:t>
            </a:r>
            <a:endParaRPr lang="en-US" altLang="zh-CN" sz="2000" dirty="0" smtClean="0">
              <a:solidFill>
                <a:srgbClr val="FF0000"/>
              </a:solidFill>
              <a:uFillTx/>
              <a:latin typeface="Calibri" panose="020F0502020204030204" charset="0"/>
              <a:ea typeface="微软雅黑" panose="020B0503020204020204" charset="-122"/>
            </a:endParaRPr>
          </a:p>
          <a:p>
            <a:pPr lvl="1" algn="l" rtl="0" fontAlgn="auto">
              <a:lnSpc>
                <a:spcPct val="100000"/>
              </a:lnSpc>
              <a:spcBef>
                <a:spcPts val="0"/>
              </a:spcBef>
              <a:spcAft>
                <a:spcPts val="0"/>
              </a:spcAft>
              <a:buClrTx/>
              <a:buSzTx/>
            </a:pPr>
            <a:r>
              <a:rPr lang="en-US" altLang="zh-CN" sz="2000" dirty="0" smtClean="0">
                <a:uFillTx/>
                <a:latin typeface="Calibri" panose="020F0502020204030204" charset="0"/>
                <a:ea typeface="微软雅黑" panose="020B0503020204020204" charset="-122"/>
                <a:sym typeface="+mn-ea"/>
              </a:rPr>
              <a:t>从穷举分析的角度求解弱碰撞问题的难度等价于求解单向性的难度， 时间复杂度为O（2</a:t>
            </a:r>
            <a:r>
              <a:rPr lang="en-US" altLang="zh-CN" sz="2000" baseline="30000" dirty="0" smtClean="0">
                <a:uFillTx/>
                <a:latin typeface="Calibri" panose="020F0502020204030204" charset="0"/>
                <a:ea typeface="微软雅黑" panose="020B0503020204020204" charset="-122"/>
                <a:sym typeface="+mn-ea"/>
              </a:rPr>
              <a:t>n</a:t>
            </a:r>
            <a:r>
              <a:rPr lang="en-US" altLang="zh-CN" sz="2000" dirty="0" smtClean="0">
                <a:uFillTx/>
                <a:latin typeface="Calibri" panose="020F0502020204030204" charset="0"/>
                <a:ea typeface="微软雅黑" panose="020B0503020204020204" charset="-122"/>
                <a:sym typeface="+mn-ea"/>
              </a:rPr>
              <a:t> ）。</a:t>
            </a:r>
            <a:endParaRPr lang="en-US" altLang="zh-CN" sz="2000" dirty="0" smtClean="0">
              <a:uFillTx/>
              <a:latin typeface="Calibri" panose="020F0502020204030204" charset="0"/>
              <a:ea typeface="微软雅黑" panose="020B0503020204020204" charset="-122"/>
              <a:sym typeface="+mn-ea"/>
            </a:endParaRPr>
          </a:p>
          <a:p>
            <a:pPr lvl="0" algn="l" rtl="0" fontAlgn="auto">
              <a:lnSpc>
                <a:spcPct val="100000"/>
              </a:lnSpc>
              <a:spcBef>
                <a:spcPts val="0"/>
              </a:spcBef>
              <a:spcAft>
                <a:spcPts val="0"/>
              </a:spcAft>
              <a:buClrTx/>
              <a:buSzTx/>
              <a:buFont typeface="Wingdings" panose="05000000000000000000" charset="0"/>
              <a:buChar char="Ø"/>
            </a:pPr>
            <a:r>
              <a:rPr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抗</a:t>
            </a:r>
            <a:r>
              <a:rPr lang="zh-CN"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强</a:t>
            </a:r>
            <a:r>
              <a:rPr sz="2400" kern="0" spc="-30" dirty="0">
                <a:ln w="6096" cap="flat" cmpd="sng">
                  <a:solidFill>
                    <a:srgbClr val="FF0000">
                      <a:alpha val="100000"/>
                    </a:srgbClr>
                  </a:solidFill>
                  <a:prstDash val="solid"/>
                  <a:miter lim="1"/>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碰撞性</a:t>
            </a:r>
            <a:r>
              <a:rPr lang="zh-CN" altLang="en-US"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400" b="1" dirty="0" smtClean="0">
              <a:solidFill>
                <a:srgbClr val="FF0000"/>
              </a:solidFill>
              <a:uFillTx/>
              <a:latin typeface="微软雅黑" panose="020B0503020204020204" charset="-122"/>
              <a:ea typeface="微软雅黑" panose="020B0503020204020204" charset="-122"/>
              <a:cs typeface="微软雅黑" panose="020B0503020204020204" charset="-122"/>
              <a:sym typeface="+mn-ea"/>
            </a:endParaRPr>
          </a:p>
          <a:p>
            <a:pPr lvl="1" algn="l" rtl="0" fontAlgn="auto">
              <a:lnSpc>
                <a:spcPct val="100000"/>
              </a:lnSpc>
              <a:spcBef>
                <a:spcPts val="0"/>
              </a:spcBef>
              <a:spcAft>
                <a:spcPts val="0"/>
              </a:spcAft>
              <a:buClrTx/>
              <a:buSzTx/>
            </a:pPr>
            <a:r>
              <a:rPr lang="en-US" altLang="zh-CN" sz="2000" dirty="0" smtClean="0">
                <a:solidFill>
                  <a:schemeClr val="tx1"/>
                </a:solidFill>
                <a:uFillTx/>
                <a:latin typeface="Calibri" panose="020F0502020204030204" charset="0"/>
                <a:ea typeface="微软雅黑" panose="020B0503020204020204" charset="-122"/>
                <a:sym typeface="+mn-ea"/>
              </a:rPr>
              <a:t>找到任何满足H(x)=H(y)的偶对(x,y)在计算上是 不可行的。</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algn="l" rtl="0" fontAlgn="auto">
              <a:lnSpc>
                <a:spcPct val="100000"/>
              </a:lnSpc>
              <a:spcBef>
                <a:spcPts val="0"/>
              </a:spcBef>
              <a:spcAft>
                <a:spcPts val="0"/>
              </a:spcAft>
              <a:buClrTx/>
              <a:buSzTx/>
            </a:pPr>
            <a:r>
              <a:rPr lang="en-US" altLang="zh-CN" sz="2000" dirty="0" smtClean="0">
                <a:solidFill>
                  <a:schemeClr val="tx1"/>
                </a:solidFill>
                <a:uFillTx/>
                <a:latin typeface="Calibri" panose="020F0502020204030204" charset="0"/>
                <a:ea typeface="微软雅黑" panose="020B0503020204020204" charset="-122"/>
                <a:sym typeface="+mn-ea"/>
              </a:rPr>
              <a:t>. 平均需要尝试超过2</a:t>
            </a:r>
            <a:r>
              <a:rPr lang="en-US" altLang="zh-CN" sz="2000" baseline="30000" dirty="0" smtClean="0">
                <a:solidFill>
                  <a:schemeClr val="tx1"/>
                </a:solidFill>
                <a:uFillTx/>
                <a:latin typeface="Calibri" panose="020F0502020204030204" charset="0"/>
                <a:ea typeface="微软雅黑" panose="020B0503020204020204" charset="-122"/>
                <a:sym typeface="+mn-ea"/>
              </a:rPr>
              <a:t>n/2</a:t>
            </a:r>
            <a:r>
              <a:rPr lang="en-US" altLang="zh-CN" sz="2000" dirty="0" smtClean="0">
                <a:solidFill>
                  <a:schemeClr val="tx1"/>
                </a:solidFill>
                <a:uFillTx/>
                <a:latin typeface="Calibri" panose="020F0502020204030204" charset="0"/>
                <a:ea typeface="微软雅黑" panose="020B0503020204020204" charset="-122"/>
                <a:sym typeface="+mn-ea"/>
              </a:rPr>
              <a:t>个数据就能产生一个碰撞，复杂度O(2</a:t>
            </a:r>
            <a:r>
              <a:rPr lang="en-US" altLang="zh-CN" sz="2000" baseline="30000" dirty="0" smtClean="0">
                <a:solidFill>
                  <a:schemeClr val="tx1"/>
                </a:solidFill>
                <a:uFillTx/>
                <a:latin typeface="Calibri" panose="020F0502020204030204" charset="0"/>
                <a:ea typeface="微软雅黑" panose="020B0503020204020204" charset="-122"/>
                <a:sym typeface="+mn-ea"/>
              </a:rPr>
              <a:t>n/2</a:t>
            </a:r>
            <a:r>
              <a:rPr lang="en-US" altLang="zh-CN" sz="2000" dirty="0" smtClean="0">
                <a:solidFill>
                  <a:schemeClr val="tx1"/>
                </a:solidFill>
                <a:uFillTx/>
                <a:latin typeface="Calibri" panose="020F0502020204030204" charset="0"/>
                <a:ea typeface="微软雅黑" panose="020B0503020204020204" charset="-122"/>
                <a:sym typeface="+mn-ea"/>
              </a:rPr>
              <a:t>)。</a:t>
            </a:r>
            <a:endParaRPr lang="en-US" altLang="zh-CN" sz="2000" dirty="0" smtClean="0">
              <a:solidFill>
                <a:schemeClr val="tx1"/>
              </a:solidFill>
              <a:uFillTx/>
              <a:latin typeface="Calibri" panose="020F0502020204030204" charset="0"/>
              <a:ea typeface="微软雅黑" panose="020B0503020204020204" charset="-122"/>
              <a:sym typeface="+mn-ea"/>
            </a:endParaRPr>
          </a:p>
          <a:p>
            <a:pPr lvl="1" fontAlgn="auto">
              <a:lnSpc>
                <a:spcPct val="90000"/>
              </a:lnSpc>
              <a:spcBef>
                <a:spcPts val="600"/>
              </a:spcBef>
              <a:spcAft>
                <a:spcPts val="600"/>
              </a:spcAft>
              <a:buFont typeface="Arial" panose="020B0604020202020204" pitchFamily="34" charset="0"/>
              <a:buChar char="•"/>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2306955"/>
          </a:xfrm>
          <a:prstGeom prst="rect">
            <a:avLst/>
          </a:prstGeom>
          <a:noFill/>
        </p:spPr>
        <p:txBody>
          <a:bodyPr wrap="square" rtlCol="0" anchor="t">
            <a:spAutoFit/>
          </a:bodyPr>
          <a:p>
            <a:pPr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zh-CN" sz="3600" dirty="0">
                <a:solidFill>
                  <a:schemeClr val="tx1"/>
                </a:solidFill>
                <a:latin typeface="仿宋" panose="02010609060101010101" charset="-122"/>
                <a:ea typeface="仿宋" panose="02010609060101010101" charset="-122"/>
                <a:cs typeface="仿宋" panose="02010609060101010101" charset="-122"/>
                <a:sym typeface="+mn-ea"/>
              </a:rPr>
              <a:t>密码学</a:t>
            </a:r>
            <a:r>
              <a:rPr lang="en-US" altLang="zh-CN" sz="3600" dirty="0">
                <a:solidFill>
                  <a:schemeClr val="tx1"/>
                </a:solidFill>
                <a:latin typeface="仿宋" panose="02010609060101010101" charset="-122"/>
                <a:ea typeface="仿宋" panose="02010609060101010101" charset="-122"/>
                <a:cs typeface="仿宋" panose="02010609060101010101" charset="-122"/>
                <a:sym typeface="+mn-ea"/>
              </a:rPr>
              <a:t>Hash</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函数的应用</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sz="3600" dirty="0">
                <a:solidFill>
                  <a:schemeClr val="tx1"/>
                </a:solidFill>
                <a:latin typeface="仿宋" panose="02010609060101010101" charset="-122"/>
                <a:ea typeface="仿宋" panose="02010609060101010101" charset="-122"/>
                <a:cs typeface="仿宋" panose="02010609060101010101" charset="-122"/>
                <a:sym typeface="+mn-ea"/>
              </a:rPr>
              <a:t>二、两个简单的</a:t>
            </a:r>
            <a:r>
              <a:rPr lang="en-US" altLang="zh-CN" sz="3600" dirty="0">
                <a:solidFill>
                  <a:schemeClr val="tx1"/>
                </a:solidFill>
                <a:latin typeface="仿宋" panose="02010609060101010101" charset="-122"/>
                <a:ea typeface="仿宋" panose="02010609060101010101" charset="-122"/>
                <a:cs typeface="仿宋" panose="02010609060101010101" charset="-122"/>
                <a:sym typeface="+mn-ea"/>
              </a:rPr>
              <a:t>Hash</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函数</a:t>
            </a:r>
            <a:endParaRPr lang="zh-CN" altLang="en-US" sz="3600" dirty="0">
              <a:solidFill>
                <a:schemeClr val="tx1"/>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三、</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需求和安全性</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a:p>
            <a:pPr algn="l" rtl="0" eaLnBrk="0">
              <a:lnSpc>
                <a:spcPct val="100000"/>
              </a:lnSpc>
            </a:pPr>
            <a:r>
              <a:rPr lang="zh-CN" altLang="en-US" sz="3600" dirty="0">
                <a:latin typeface="仿宋" panose="02010609060101010101" charset="-122"/>
                <a:ea typeface="仿宋" panose="02010609060101010101" charset="-122"/>
                <a:cs typeface="仿宋" panose="02010609060101010101" charset="-122"/>
                <a:sym typeface="+mn-ea"/>
              </a:rPr>
              <a:t>四、</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安全</a:t>
            </a:r>
            <a:r>
              <a:rPr lang="en-US" altLang="zh-CN" sz="3600" dirty="0">
                <a:solidFill>
                  <a:srgbClr val="FF0000"/>
                </a:solidFill>
                <a:latin typeface="仿宋" panose="02010609060101010101" charset="-122"/>
                <a:ea typeface="仿宋" panose="02010609060101010101" charset="-122"/>
                <a:cs typeface="仿宋" panose="02010609060101010101" charset="-122"/>
                <a:sym typeface="+mn-ea"/>
              </a:rPr>
              <a:t>Hash</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函数</a:t>
            </a:r>
            <a:endParaRPr lang="zh-CN" altLang="en-US" sz="3600" dirty="0">
              <a:solidFill>
                <a:srgbClr val="FF0000"/>
              </a:solidFill>
              <a:latin typeface="仿宋" panose="02010609060101010101" charset="-122"/>
              <a:ea typeface="仿宋" panose="02010609060101010101" charset="-122"/>
              <a:cs typeface="仿宋" panose="02010609060101010101"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安全Hash算法(SHA)是使用最广泛的Hash函数</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SHA由美国标准与技术研究所(NIST)设计，并于1993年作为联邦信息处理标准(FIPS 180)发布。</a:t>
            </a:r>
            <a:endPar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随后该版本的SHA(即SHA-0)被发现存在缺陷，修订版于1995年发布(FIPS 180-1),通常称之为SHA-1。实际的标准文件称其为“安全Hash标准”。SHA算法建立在MD4算法之上，其基本框架与MD4类似。</a:t>
            </a:r>
            <a:endPar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SHA-1产生160位的Hash值。</a:t>
            </a:r>
            <a:endPar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2002年，NIST发布了修订版FIPS 180-2,其中给出了三种新的SHA版本，Hash值长度依次为256位、384位和512位，分别称为SHA-256、SHA-384和SHA-512。这些算法被统称为SHA-2。</a:t>
            </a:r>
            <a:endParaRPr lang="en-US" altLang="zh-CN"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charset="0"/>
              <a:buChar char="Ø"/>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安全Hash算法(SHA)是使用最广泛的Hash函数</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charset="0"/>
              <a:buChar char="Ø"/>
            </a:pP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7" name="Picture 6"/>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628140" y="1616710"/>
            <a:ext cx="9238540" cy="4648200"/>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22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采用了Merkle提出了安全Hash模型</a:t>
            </a: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MD</a:t>
            </a: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结构）</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1111250" y="2530475"/>
            <a:ext cx="9631680" cy="3041650"/>
          </a:xfrm>
          <a:prstGeom prst="rect">
            <a:avLst/>
          </a:prstGeo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22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457200" lvl="0" indent="-457200" fontAlgn="auto">
              <a:lnSpc>
                <a:spcPct val="110000"/>
              </a:lnSpc>
              <a:spcBef>
                <a:spcPts val="600"/>
              </a:spcBef>
              <a:spcAft>
                <a:spcPts val="600"/>
              </a:spcAft>
              <a:buFont typeface="+mj-lt"/>
              <a:buAutoNum type="arabicPeriod"/>
            </a:pPr>
            <a:r>
              <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输入填充</a:t>
            </a: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目的是使填充后的报文长度满足：</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457200" lvl="1" indent="0" algn="ctr" fontAlgn="auto">
              <a:lnSpc>
                <a:spcPct val="110000"/>
              </a:lnSpc>
              <a:spcBef>
                <a:spcPts val="600"/>
              </a:spcBef>
              <a:spcAft>
                <a:spcPts val="600"/>
              </a:spcAft>
              <a:buFont typeface="Arial" panose="020B0604020202020204" pitchFamily="34" charset="0"/>
              <a:buNone/>
            </a:pPr>
            <a:r>
              <a:rPr lang="zh-CN" altLang="en-US" sz="2055"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长度 = 448 mod 512 </a:t>
            </a:r>
            <a:endParaRPr lang="zh-CN" altLang="en-US" sz="2055" dirty="0" smtClean="0">
              <a:solidFill>
                <a:srgbClr val="FF0000"/>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①填充方法是在报文后附加一个1和若干个0。</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②然后附上表示填充前报文长度的64位数据(最高有效位在前)。</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若报文本身已经满足上述长度要求，仍然需要进行填充（例 如，若报文长度为448位，则仍需要填充512位使其长度为960 位），因此填充位数在1到512之间。</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经过填充和附加后，数据的长度为512位的整数倍。</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22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457200" lvl="0" indent="-457200" fontAlgn="auto">
              <a:lnSpc>
                <a:spcPct val="110000"/>
              </a:lnSpc>
              <a:spcBef>
                <a:spcPts val="600"/>
              </a:spcBef>
              <a:spcAft>
                <a:spcPts val="600"/>
              </a:spcAft>
              <a:buFont typeface="+mj-lt"/>
              <a:buAutoNum type="arabicPeriod" startAt="2"/>
            </a:pPr>
            <a:r>
              <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初始化缓冲区</a:t>
            </a: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缓冲区由5个32位的寄存器(A ，B ，C ，D ，E)组成，用于保存160位的中间结果和最终结果。</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将寄存器初始化为下列32位的整数：</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 67452301                   B： EFCDAB89</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C： 98BADCFE               </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D： 10325476</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E： C3D2E1F0</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注意：高有效位存于低地址。</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22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457200" lvl="0" indent="-457200" fontAlgn="auto">
              <a:lnSpc>
                <a:spcPct val="110000"/>
              </a:lnSpc>
              <a:spcBef>
                <a:spcPts val="600"/>
              </a:spcBef>
              <a:spcAft>
                <a:spcPts val="600"/>
              </a:spcAft>
              <a:buFont typeface="+mj-lt"/>
              <a:buAutoNum type="arabicPeriod" startAt="3"/>
            </a:pPr>
            <a:r>
              <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主处理</a:t>
            </a: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主处理是SHA-1 HASH函数的核心。</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每次处理一个512位的分组，链接迭代处理所有L个分组数。</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rgbClr val="FF0000"/>
                </a:solidFill>
                <a:uFillTx/>
                <a:latin typeface="微软雅黑" panose="020B0503020204020204" charset="-122"/>
                <a:ea typeface="微软雅黑" panose="020B0503020204020204" charset="-122"/>
                <a:cs typeface="微软雅黑" panose="020B0503020204020204" charset="-122"/>
                <a:sym typeface="+mn-ea"/>
              </a:rPr>
              <a:t>压缩函数</a:t>
            </a: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是主处理的核心。</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它由四层运算（每层迭代20步）组成，四层的运算结构相同。</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每轮的输入是当前要处理的512位的分组BLK和160位缓冲区 ABCDE的内容，每轮都对ABCDE的内容更新，而且每轮使用的逻辑函数不同，分别为f1, f2, f3和f4。</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第四轮的输出与第一轮的输入相加得到压缩函数的输出。</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22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0" lvl="0" indent="0" fontAlgn="auto">
              <a:lnSpc>
                <a:spcPct val="110000"/>
              </a:lnSpc>
              <a:spcBef>
                <a:spcPts val="600"/>
              </a:spcBef>
              <a:spcAft>
                <a:spcPts val="600"/>
              </a:spcAft>
              <a:buFont typeface="+mj-lt"/>
              <a:buNone/>
            </a:pP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0" lvl="0" indent="0" fontAlgn="auto">
              <a:lnSpc>
                <a:spcPct val="110000"/>
              </a:lnSpc>
              <a:spcBef>
                <a:spcPts val="600"/>
              </a:spcBef>
              <a:spcAft>
                <a:spcPts val="600"/>
              </a:spcAft>
              <a:buFont typeface="+mj-lt"/>
              <a:buNone/>
            </a:pP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1628140" y="1663065"/>
            <a:ext cx="8120380" cy="4368800"/>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22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457200" lvl="0" indent="-457200" fontAlgn="auto">
              <a:lnSpc>
                <a:spcPct val="110000"/>
              </a:lnSpc>
              <a:spcBef>
                <a:spcPts val="600"/>
              </a:spcBef>
              <a:spcAft>
                <a:spcPts val="600"/>
              </a:spcAft>
              <a:buFont typeface="+mj-lt"/>
              <a:buAutoNum type="arabicPeriod" startAt="4"/>
            </a:pPr>
            <a:r>
              <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输出</a:t>
            </a: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所有的L个512位的分组处理完后，第L个分组的输出即是160位的报文摘要。</a:t>
            </a: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22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457200" lvl="0" indent="-457200" fontAlgn="auto">
              <a:lnSpc>
                <a:spcPct val="110000"/>
              </a:lnSpc>
              <a:spcBef>
                <a:spcPts val="600"/>
              </a:spcBef>
              <a:spcAft>
                <a:spcPts val="600"/>
              </a:spcAft>
              <a:buFont typeface="+mj-lt"/>
              <a:buAutoNum type="arabicPeriod" startAt="5"/>
            </a:pPr>
            <a:r>
              <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归纳</a:t>
            </a: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1900555" y="2286000"/>
            <a:ext cx="7555865" cy="3022600"/>
          </a:xfrm>
          <a:prstGeom prst="rect">
            <a:avLst/>
          </a:prstGeom>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104265" y="1110615"/>
            <a:ext cx="549275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SHA-1</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marL="457200" lvl="0" indent="-457200" fontAlgn="auto">
              <a:lnSpc>
                <a:spcPct val="110000"/>
              </a:lnSpc>
              <a:spcBef>
                <a:spcPts val="600"/>
              </a:spcBef>
              <a:spcAft>
                <a:spcPts val="600"/>
              </a:spcAft>
              <a:buFont typeface="+mj-lt"/>
              <a:buAutoNum type="arabicPeriod" startAt="6"/>
            </a:pPr>
            <a:r>
              <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压缩</a:t>
            </a:r>
            <a:r>
              <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函数</a:t>
            </a:r>
            <a:endParaRPr lang="zh-CN" altLang="en-US" sz="239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pPr>
            <a:r>
              <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每轮对A,B,C,D,E进行20次迭代，四轮共80次迭代。 t为迭代次数编号，所以 0≤t≤79  。</a:t>
            </a:r>
            <a:endPar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pPr>
            <a:r>
              <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其中，ft(B,C,D)=第t步使用的基本逻辑函数；</a:t>
            </a:r>
            <a:endPar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pPr>
            <a:r>
              <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&lt;&lt;s 表示 32位的变量循环左移s位</a:t>
            </a:r>
            <a:endPar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pPr>
            <a:r>
              <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Wt表示从当前分组BLK导出的32位的字</a:t>
            </a:r>
            <a:endPar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pPr>
            <a:r>
              <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Kt表示加法常量，共使用4个不同的加法常量</a:t>
            </a:r>
            <a:endPar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90000"/>
              </a:lnSpc>
              <a:spcBef>
                <a:spcPts val="600"/>
              </a:spcBef>
              <a:spcAft>
                <a:spcPts val="600"/>
              </a:spcAft>
            </a:pPr>
            <a:r>
              <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+为模2</a:t>
            </a:r>
            <a:r>
              <a:rPr lang="zh-CN" altLang="en-US" sz="2050" baseline="30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32</a:t>
            </a:r>
            <a:r>
              <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加法</a:t>
            </a:r>
            <a:endParaRPr lang="zh-CN" altLang="en-US" sz="205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endPar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2"/>
          <a:srcRect l="5666"/>
          <a:stretch>
            <a:fillRect/>
          </a:stretch>
        </p:blipFill>
        <p:spPr>
          <a:xfrm>
            <a:off x="6596380" y="1048385"/>
            <a:ext cx="5264785" cy="5047615"/>
          </a:xfrm>
          <a:prstGeom prst="rect">
            <a:avLst/>
          </a:prstGeo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44780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SHA-512</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算法的输入是最大长度小于2</a:t>
            </a:r>
            <a:r>
              <a:rPr lang="en-US" altLang="zh-CN" sz="2055" baseline="30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128</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位的消息</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输出是512位的消息摘要</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输入消息以1024位的分组为单位进行处理。</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5" name="Picture 4" descr="f09.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8182" b="24545"/>
              <a:stretch>
                <a:fillRect/>
              </a:stretch>
            </p:blipFill>
          </mc:Choice>
          <mc:Fallback>
            <p:blipFill>
              <a:blip r:embed="rId3"/>
              <a:srcRect t="8182" b="24545"/>
              <a:stretch>
                <a:fillRect/>
              </a:stretch>
            </p:blipFill>
          </mc:Fallback>
        </mc:AlternateContent>
        <p:spPr>
          <a:xfrm>
            <a:off x="5060950" y="889000"/>
            <a:ext cx="7047230" cy="6135370"/>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Picture 3" descr="f10.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3636" b="3636"/>
              <a:stretch>
                <a:fillRect/>
              </a:stretch>
            </p:blipFill>
          </mc:Choice>
          <mc:Fallback>
            <p:blipFill>
              <a:blip r:embed="rId3"/>
              <a:srcRect t="3636" b="3636"/>
              <a:stretch>
                <a:fillRect/>
              </a:stretch>
            </p:blipFill>
          </mc:Fallback>
        </mc:AlternateContent>
        <p:spPr>
          <a:xfrm>
            <a:off x="6343015" y="0"/>
            <a:ext cx="5549926" cy="6659842"/>
          </a:xfrm>
          <a:prstGeom prst="rect">
            <a:avLst/>
          </a:prstGeom>
        </p:spPr>
      </p:pic>
      <p:sp>
        <p:nvSpPr>
          <p:cNvPr id="3" name="Rectangle 3"/>
          <p:cNvSpPr>
            <a:spLocks noGrp="1" noChangeArrowheads="1"/>
          </p:cNvSpPr>
          <p:nvPr>
            <p:ph idx="1"/>
          </p:nvPr>
        </p:nvSpPr>
        <p:spPr>
          <a:xfrm>
            <a:off x="1351280" y="1110615"/>
            <a:ext cx="44780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SHA-512</a:t>
            </a:r>
            <a:endPar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算法的输入是最大长度小于2</a:t>
            </a:r>
            <a:r>
              <a:rPr lang="en-US" altLang="zh-CN" sz="2055" baseline="30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128</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位的消息</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输出是512位的消息摘要</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输入消息以1024位的分组为单位进行处理。</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0" algn="l" rtl="0">
              <a:lnSpc>
                <a:spcPct val="110000"/>
              </a:lnSpc>
              <a:spcBef>
                <a:spcPts val="600"/>
              </a:spcBef>
              <a:spcAft>
                <a:spcPts val="600"/>
              </a:spcAft>
              <a:buClrTx/>
              <a:buSzTx/>
            </a:pPr>
            <a:r>
              <a:rPr lang="en-US" altLang="zh-CN" sz="2395" dirty="0" smtClean="0">
                <a:uFillTx/>
                <a:latin typeface="微软雅黑" panose="020B0503020204020204" charset="-122"/>
                <a:ea typeface="微软雅黑" panose="020B0503020204020204" charset="-122"/>
                <a:cs typeface="微软雅黑" panose="020B0503020204020204" charset="-122"/>
                <a:sym typeface="+mn-ea"/>
              </a:rPr>
              <a:t>与SHA-1比较：</a:t>
            </a:r>
            <a:endParaRPr lang="en-US" altLang="zh-CN" sz="2395" dirty="0" smtClean="0">
              <a:uFillTx/>
              <a:latin typeface="微软雅黑" panose="020B0503020204020204" charset="-122"/>
              <a:ea typeface="微软雅黑" panose="020B0503020204020204" charset="-122"/>
              <a:cs typeface="微软雅黑" panose="020B0503020204020204" charset="-122"/>
            </a:endParaRPr>
          </a:p>
          <a:p>
            <a:pPr lvl="1" algn="l" rtl="0">
              <a:lnSpc>
                <a:spcPct val="110000"/>
              </a:lnSpc>
              <a:spcBef>
                <a:spcPts val="600"/>
              </a:spcBef>
              <a:spcAft>
                <a:spcPts val="600"/>
              </a:spcAft>
              <a:buClrTx/>
              <a:buSzTx/>
            </a:pP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结构相同</a:t>
            </a:r>
            <a:endParaRPr lang="en-US" altLang="zh-CN" sz="2055" dirty="0" smtClean="0">
              <a:uFillTx/>
              <a:latin typeface="微软雅黑" panose="020B0503020204020204" charset="-122"/>
              <a:ea typeface="微软雅黑" panose="020B0503020204020204" charset="-122"/>
              <a:cs typeface="微软雅黑" panose="020B0503020204020204" charset="-122"/>
            </a:endParaRPr>
          </a:p>
          <a:p>
            <a:pPr lvl="1" algn="l" rtl="0">
              <a:lnSpc>
                <a:spcPct val="110000"/>
              </a:lnSpc>
              <a:spcBef>
                <a:spcPts val="600"/>
              </a:spcBef>
              <a:spcAft>
                <a:spcPts val="600"/>
              </a:spcAft>
              <a:buClrTx/>
              <a:buSzTx/>
            </a:pP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逻辑函数相同</a:t>
            </a:r>
            <a:endParaRPr lang="en-US" altLang="zh-CN" sz="2055" dirty="0" smtClean="0">
              <a:uFillTx/>
              <a:latin typeface="微软雅黑" panose="020B0503020204020204" charset="-122"/>
              <a:ea typeface="微软雅黑" panose="020B0503020204020204" charset="-122"/>
              <a:cs typeface="微软雅黑" panose="020B0503020204020204" charset="-122"/>
            </a:endParaRPr>
          </a:p>
          <a:p>
            <a:pPr lvl="1" algn="l" rtl="0">
              <a:lnSpc>
                <a:spcPct val="110000"/>
              </a:lnSpc>
              <a:spcBef>
                <a:spcPts val="600"/>
              </a:spcBef>
              <a:spcAft>
                <a:spcPts val="600"/>
              </a:spcAft>
              <a:buClrTx/>
              <a:buSzTx/>
            </a:pPr>
            <a:r>
              <a:rPr lang="zh-CN" altLang="en-US" sz="2055" dirty="0" smtClean="0">
                <a:uFillTx/>
                <a:latin typeface="微软雅黑" panose="020B0503020204020204" charset="-122"/>
                <a:ea typeface="微软雅黑" panose="020B0503020204020204" charset="-122"/>
                <a:cs typeface="微软雅黑" panose="020B0503020204020204" charset="-122"/>
                <a:sym typeface="+mn-ea"/>
              </a:rPr>
              <a:t>模</a:t>
            </a: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算术相同</a:t>
            </a:r>
            <a:endParaRPr lang="en-US" altLang="zh-CN" sz="2055" dirty="0" smtClean="0">
              <a:uFillTx/>
              <a:latin typeface="微软雅黑" panose="020B0503020204020204" charset="-122"/>
              <a:ea typeface="微软雅黑" panose="020B0503020204020204" charset="-122"/>
              <a:cs typeface="微软雅黑" panose="020B0503020204020204" charset="-122"/>
            </a:endParaRPr>
          </a:p>
          <a:p>
            <a:pPr lvl="1" fontAlgn="auto">
              <a:lnSpc>
                <a:spcPct val="110000"/>
              </a:lnSpc>
              <a:spcBef>
                <a:spcPts val="600"/>
              </a:spcBef>
              <a:spcAft>
                <a:spcPts val="600"/>
              </a:spcAft>
              <a:buFont typeface="Arial" panose="020B0604020202020204" pitchFamily="34" charset="0"/>
              <a:buChar char="•"/>
            </a:pPr>
            <a:endParaRPr lang="en-US" altLang="en-US" sz="20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Rectangle 3"/>
          <p:cNvSpPr>
            <a:spLocks noGrp="1" noChangeArrowheads="1"/>
          </p:cNvSpPr>
          <p:nvPr>
            <p:ph idx="1"/>
          </p:nvPr>
        </p:nvSpPr>
        <p:spPr>
          <a:xfrm>
            <a:off x="936625" y="1105535"/>
            <a:ext cx="43389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轮函数有如下两个特点：</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轮函数输出的8个字中的6个(b,c,d,f,g,h)是通过简单的轮转置换实现的。如图11.11中的阴影部分。</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输出中只有2个字(a,e)通过替代操作产生。字e是将输入变量(d,e,f;g,h)以及轮消息W;和轮常数K,作为输入的函数。字a是将除d之外的输入变量以及轮消息W,和轮常数K,作为输入的函数。</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2"/>
          <a:srcRect l="7838" r="8698"/>
          <a:stretch>
            <a:fillRect/>
          </a:stretch>
        </p:blipFill>
        <p:spPr>
          <a:xfrm>
            <a:off x="5173980" y="1063625"/>
            <a:ext cx="6897370" cy="5541010"/>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Hash</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函数(SHA)</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 name="Rectangle 3"/>
              <p:cNvSpPr>
                <a:spLocks noGrp="1" noChangeArrowheads="1"/>
              </p:cNvSpPr>
              <p:nvPr>
                <p:ph idx="1"/>
              </p:nvPr>
            </p:nvSpPr>
            <p:spPr>
              <a:xfrm>
                <a:off x="936625" y="1105535"/>
                <a:ext cx="4338955"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 </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轮函数</a:t>
                </a:r>
                <a:r>
                  <a:rPr lang="zh-CN" altLang="en-US"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基本逻辑函数</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CH(E,F,G)=(E AND F) ⊕(NOT E AND G)</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Arial" panose="020B0604020202020204" pitchFamily="34" charset="0"/>
                  <a:buChar char="•"/>
                </a:pP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Maj</a:t>
                </a: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a:t>
                </a: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A,B,C</a:t>
                </a: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a:t>
                </a:r>
                <a:r>
                  <a:rPr lang="en-US" altLang="zh-CN" sz="2055" dirty="0" smtClean="0">
                    <a:uFillTx/>
                    <a:latin typeface="微软雅黑" panose="020B0503020204020204" charset="-122"/>
                    <a:ea typeface="微软雅黑" panose="020B0503020204020204" charset="-122"/>
                    <a:cs typeface="微软雅黑" panose="020B0503020204020204" charset="-122"/>
                    <a:sym typeface="+mn-ea"/>
                  </a:rPr>
                  <a:t>=(A AND B)⊕(A AND C)⊕(B AND C) </a:t>
                </a:r>
                <a:endParaRPr lang="en-US" altLang="zh-CN" sz="2055" dirty="0" smtClean="0">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Arial" panose="020B0604020202020204" pitchFamily="34" charset="0"/>
                  <a:buChar char="•"/>
                </a:pPr>
                <a14:m>
                  <m:oMath xmlns:m="http://schemas.openxmlformats.org/officeDocument/2006/math">
                    <m:nary>
                      <m:naryPr>
                        <m:chr m:val="∑"/>
                        <m:limLoc m:val="subSup"/>
                        <m:supHide m:val="on"/>
                        <m:ctrlPr>
                          <a:rPr lang="en-US" altLang="zh-CN" sz="2055" i="1" dirty="0" smtClean="0">
                            <a:solidFill>
                              <a:schemeClr val="tx1"/>
                            </a:solidFill>
                            <a:uFillTx/>
                            <a:latin typeface="Cambria Math" panose="02040503050406030204" charset="0"/>
                            <a:ea typeface="微软雅黑" panose="020B0503020204020204" charset="-122"/>
                            <a:cs typeface="Cambria Math" panose="02040503050406030204" charset="0"/>
                            <a:sym typeface="+mn-ea"/>
                          </a:rPr>
                        </m:ctrlPr>
                      </m:naryPr>
                      <m:sub>
                        <m:r>
                          <a:rPr lang="en-US" altLang="zh-CN" sz="2055" i="1" dirty="0" smtClean="0">
                            <a:solidFill>
                              <a:schemeClr val="tx1"/>
                            </a:solidFill>
                            <a:uFillTx/>
                            <a:latin typeface="Cambria Math" panose="02040503050406030204" charset="0"/>
                            <a:ea typeface="微软雅黑" panose="020B0503020204020204" charset="-122"/>
                            <a:cs typeface="Cambria Math" panose="02040503050406030204" charset="0"/>
                            <a:sym typeface="+mn-ea"/>
                          </a:rPr>
                          <m:t>0</m:t>
                        </m:r>
                      </m:sub>
                      <m:sup/>
                      <m:e>
                        <m:r>
                          <a:rPr lang="en-US" altLang="zh-CN" sz="2055" i="1" dirty="0" smtClean="0">
                            <a:solidFill>
                              <a:schemeClr val="tx1"/>
                            </a:solidFill>
                            <a:uFillTx/>
                            <a:latin typeface="Cambria Math" panose="02040503050406030204" charset="0"/>
                            <a:ea typeface="微软雅黑" panose="020B0503020204020204" charset="-122"/>
                            <a:cs typeface="Cambria Math" panose="02040503050406030204" charset="0"/>
                            <a:sym typeface="+mn-ea"/>
                          </a:rPr>
                          <m:t>512</m:t>
                        </m:r>
                      </m:e>
                    </m:nary>
                  </m:oMath>
                </a14:m>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=ROTR28(A) ⊕ ROTR34(A) ⊕ ROTR39(A)</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Arial" panose="020B0604020202020204" pitchFamily="34" charset="0"/>
                  <a:buChar char="•"/>
                </a:pPr>
                <a14:m>
                  <m:oMath xmlns:m="http://schemas.openxmlformats.org/officeDocument/2006/math">
                    <m:nary>
                      <m:naryPr>
                        <m:chr m:val="∑"/>
                        <m:limLoc m:val="subSup"/>
                        <m:supHide m:val="on"/>
                        <m:ctrlPr>
                          <a:rPr lang="en-US" altLang="zh-CN" sz="2055" i="1" dirty="0" smtClean="0">
                            <a:solidFill>
                              <a:schemeClr val="tx1"/>
                            </a:solidFill>
                            <a:uFillTx/>
                            <a:latin typeface="Cambria Math" panose="02040503050406030204" charset="0"/>
                            <a:ea typeface="微软雅黑" panose="020B0503020204020204" charset="-122"/>
                            <a:cs typeface="Cambria Math" panose="02040503050406030204" charset="0"/>
                            <a:sym typeface="+mn-ea"/>
                          </a:rPr>
                        </m:ctrlPr>
                      </m:naryPr>
                      <m:sub>
                        <m:r>
                          <a:rPr lang="en-US" altLang="zh-CN" sz="2055" i="1" dirty="0" smtClean="0">
                            <a:solidFill>
                              <a:schemeClr val="tx1"/>
                            </a:solidFill>
                            <a:uFillTx/>
                            <a:latin typeface="Cambria Math" panose="02040503050406030204" charset="0"/>
                            <a:ea typeface="微软雅黑" panose="020B0503020204020204" charset="-122"/>
                            <a:cs typeface="Cambria Math" panose="02040503050406030204" charset="0"/>
                            <a:sym typeface="+mn-ea"/>
                          </a:rPr>
                          <m:t>1</m:t>
                        </m:r>
                      </m:sub>
                      <m:sup/>
                      <m:e>
                        <m:r>
                          <a:rPr lang="en-US" altLang="zh-CN" sz="2055" i="1" dirty="0" smtClean="0">
                            <a:solidFill>
                              <a:schemeClr val="tx1"/>
                            </a:solidFill>
                            <a:uFillTx/>
                            <a:latin typeface="Cambria Math" panose="02040503050406030204" charset="0"/>
                            <a:ea typeface="微软雅黑" panose="020B0503020204020204" charset="-122"/>
                            <a:cs typeface="Cambria Math" panose="02040503050406030204" charset="0"/>
                            <a:sym typeface="+mn-ea"/>
                          </a:rPr>
                          <m:t>512</m:t>
                        </m:r>
                      </m:e>
                    </m:nary>
                  </m:oMath>
                </a14:m>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a:t>
                </a:r>
                <a:r>
                  <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rPr>
                  <a:t>ROTR14(E) ⊕ ROTR18(E) ⊕ ROTR41(E)   </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Arial" panose="020B0604020202020204" pitchFamily="34" charset="0"/>
                  <a:buChar char="•"/>
                </a:pPr>
                <a:r>
                  <a:rPr sz="2055" kern="0" dirty="0">
                    <a:ln w="609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其中</a:t>
                </a:r>
                <a:r>
                  <a:rPr sz="2055" b="1" kern="0" dirty="0">
                    <a:solidFill>
                      <a:srgbClr val="000000">
                        <a:alpha val="100000"/>
                      </a:srgbClr>
                    </a:solidFill>
                    <a:latin typeface="Times New Roman" panose="02020603050405020304"/>
                    <a:ea typeface="Times New Roman" panose="02020603050405020304"/>
                    <a:cs typeface="Times New Roman" panose="02020603050405020304"/>
                    <a:sym typeface="+mn-ea"/>
                  </a:rPr>
                  <a:t>ROTR</a:t>
                </a:r>
                <a:r>
                  <a:rPr sz="2055" b="1" kern="0" baseline="28000" dirty="0">
                    <a:solidFill>
                      <a:srgbClr val="000000">
                        <a:alpha val="100000"/>
                      </a:srgbClr>
                    </a:solidFill>
                    <a:latin typeface="Times New Roman" panose="02020603050405020304"/>
                    <a:ea typeface="Times New Roman" panose="02020603050405020304"/>
                    <a:cs typeface="Times New Roman" panose="02020603050405020304"/>
                    <a:sym typeface="+mn-ea"/>
                  </a:rPr>
                  <a:t>i</a:t>
                </a:r>
                <a:r>
                  <a:rPr sz="2055" b="1" kern="0" dirty="0">
                    <a:solidFill>
                      <a:srgbClr val="000000">
                        <a:alpha val="100000"/>
                      </a:srgbClr>
                    </a:solidFill>
                    <a:latin typeface="Times New Roman" panose="02020603050405020304"/>
                    <a:ea typeface="Times New Roman" panose="02020603050405020304"/>
                    <a:cs typeface="Times New Roman" panose="02020603050405020304"/>
                    <a:sym typeface="+mn-ea"/>
                  </a:rPr>
                  <a:t>(X)</a:t>
                </a:r>
                <a:r>
                  <a:rPr sz="2055" kern="0" dirty="0">
                    <a:ln w="609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表示把</a:t>
                </a:r>
                <a:r>
                  <a:rPr sz="2055" b="1" kern="0" dirty="0">
                    <a:solidFill>
                      <a:srgbClr val="000000">
                        <a:alpha val="100000"/>
                      </a:srgbClr>
                    </a:solidFill>
                    <a:latin typeface="Times New Roman" panose="02020603050405020304"/>
                    <a:ea typeface="Times New Roman" panose="02020603050405020304"/>
                    <a:cs typeface="Times New Roman" panose="02020603050405020304"/>
                    <a:sym typeface="+mn-ea"/>
                  </a:rPr>
                  <a:t>X</a:t>
                </a:r>
                <a:r>
                  <a:rPr sz="2055" kern="0" dirty="0">
                    <a:ln w="609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循环右移</a:t>
                </a:r>
                <a:r>
                  <a:rPr sz="2055" b="1" kern="0" dirty="0">
                    <a:solidFill>
                      <a:srgbClr val="000000">
                        <a:alpha val="100000"/>
                      </a:srgbClr>
                    </a:solidFill>
                    <a:latin typeface="Times New Roman" panose="02020603050405020304"/>
                    <a:ea typeface="Times New Roman" panose="02020603050405020304"/>
                    <a:cs typeface="Times New Roman" panose="02020603050405020304"/>
                    <a:sym typeface="+mn-ea"/>
                  </a:rPr>
                  <a:t>i</a:t>
                </a:r>
                <a:r>
                  <a:rPr sz="2055" kern="0" dirty="0">
                    <a:ln w="609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位。</a:t>
                </a:r>
                <a:endParaRPr lang="en-US" altLang="zh-CN" sz="2055" dirty="0" smtClean="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mc:Choice>
        <mc:Fallback>
          <p:sp>
            <p:nvSpPr>
              <p:cNvPr id="3" name="Rectangle 3"/>
              <p:cNvSpPr>
                <a:spLocks noRot="1" noChangeAspect="1" noMove="1" noResize="1" noEditPoints="1" noAdjustHandles="1" noChangeArrowheads="1" noChangeShapeType="1" noTextEdit="1"/>
              </p:cNvSpPr>
              <p:nvPr>
                <p:ph idx="1"/>
              </p:nvPr>
            </p:nvSpPr>
            <p:spPr>
              <a:xfrm>
                <a:off x="936625" y="1105535"/>
                <a:ext cx="4338955" cy="5073650"/>
              </a:xfrm>
              <a:blipFill rotWithShape="1">
                <a:blip r:embed="rId2"/>
                <a:stretch>
                  <a:fillRect/>
                </a:stretch>
              </a:blipFill>
            </p:spPr>
            <p:txBody>
              <a:bodyPr/>
              <a:lstStyle/>
              <a:p>
                <a:r>
                  <a:rPr lang="zh-CN" altLang="en-US">
                    <a:noFill/>
                  </a:rPr>
                  <a:t> </a:t>
                </a:r>
              </a:p>
            </p:txBody>
          </p:sp>
        </mc:Fallback>
      </mc:AlternateContent>
      <p:pic>
        <p:nvPicPr>
          <p:cNvPr id="7" name="图片 6"/>
          <p:cNvPicPr>
            <a:picLocks noChangeAspect="1"/>
          </p:cNvPicPr>
          <p:nvPr/>
        </p:nvPicPr>
        <p:blipFill>
          <a:blip r:embed="rId3"/>
          <a:srcRect l="7838" r="8698"/>
          <a:stretch>
            <a:fillRect/>
          </a:stretch>
        </p:blipFill>
        <p:spPr>
          <a:xfrm>
            <a:off x="5173980" y="1063625"/>
            <a:ext cx="6897370" cy="5541010"/>
          </a:xfrm>
          <a:prstGeom prst="rect">
            <a:avLst/>
          </a:prstGeom>
        </p:spPr>
      </p:pic>
    </p:spTree>
  </p:cSld>
  <p:clrMapOvr>
    <a:masterClrMapping/>
  </p:clrMapOvr>
  <p:transition/>
</p:sld>
</file>

<file path=ppt/tags/tag1.xml><?xml version="1.0" encoding="utf-8"?>
<p:tagLst xmlns:p="http://schemas.openxmlformats.org/presentationml/2006/main">
  <p:tag name="TABLE_ENDDRAG_ORIGIN_RECT" val="818*373"/>
  <p:tag name="TABLE_ENDDRAG_RECT" val="84*116*818*373"/>
  <p:tag name="TABLE_AUTOADJUST_FLAG" val="1"/>
</p:tagLst>
</file>

<file path=ppt/tags/tag2.xml><?xml version="1.0" encoding="utf-8"?>
<p:tagLst xmlns:p="http://schemas.openxmlformats.org/presentationml/2006/main">
  <p:tag name="commondata" val="eyJoZGlkIjoiZTcwZjg3OGM5MWVhNmI0ZmM4OGQ1YjQxNGU4NWYzMj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8410</Words>
  <Application>WPS 演示</Application>
  <PresentationFormat>宽屏</PresentationFormat>
  <Paragraphs>564</Paragraphs>
  <Slides>62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62</vt:i4>
      </vt:variant>
    </vt:vector>
  </HeadingPairs>
  <TitlesOfParts>
    <vt:vector size="75" baseType="lpstr">
      <vt:lpstr>Arial</vt:lpstr>
      <vt:lpstr>宋体</vt:lpstr>
      <vt:lpstr>Wingdings</vt:lpstr>
      <vt:lpstr>仿宋</vt:lpstr>
      <vt:lpstr>Calibri</vt:lpstr>
      <vt:lpstr>微软雅黑</vt:lpstr>
      <vt:lpstr>Wingdings</vt:lpstr>
      <vt:lpstr>Arial Unicode MS</vt:lpstr>
      <vt:lpstr>宋体</vt:lpstr>
      <vt:lpstr>MS PGothic</vt:lpstr>
      <vt:lpstr>Cambria Math</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32</cp:revision>
  <dcterms:created xsi:type="dcterms:W3CDTF">1900-01-01T00:00:00Z</dcterms:created>
  <dcterms:modified xsi:type="dcterms:W3CDTF">2025-04-15T02:23:29Z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2052-12.1.0.20784</vt:lpwstr>
  </property>
</Properties>
</file>