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560" r:id="rId6"/>
    <p:sldId id="561" r:id="rId7"/>
    <p:sldId id="562" r:id="rId8"/>
    <p:sldId id="563" r:id="rId9"/>
    <p:sldId id="564" r:id="rId10"/>
    <p:sldId id="565" r:id="rId11"/>
    <p:sldId id="566" r:id="rId12"/>
    <p:sldId id="887" r:id="rId13"/>
    <p:sldId id="888" r:id="rId14"/>
    <p:sldId id="889" r:id="rId15"/>
    <p:sldId id="890" r:id="rId16"/>
    <p:sldId id="891" r:id="rId17"/>
    <p:sldId id="896" r:id="rId18"/>
    <p:sldId id="892" r:id="rId19"/>
    <p:sldId id="893" r:id="rId20"/>
    <p:sldId id="894" r:id="rId21"/>
    <p:sldId id="898" r:id="rId22"/>
    <p:sldId id="895" r:id="rId23"/>
    <p:sldId id="899" r:id="rId24"/>
    <p:sldId id="567" r:id="rId25"/>
    <p:sldId id="574" r:id="rId26"/>
    <p:sldId id="568" r:id="rId27"/>
    <p:sldId id="681" r:id="rId28"/>
    <p:sldId id="886" r:id="rId29"/>
    <p:sldId id="683" r:id="rId30"/>
    <p:sldId id="682" r:id="rId31"/>
    <p:sldId id="570" r:id="rId32"/>
    <p:sldId id="571" r:id="rId33"/>
    <p:sldId id="572" r:id="rId34"/>
    <p:sldId id="573" r:id="rId35"/>
    <p:sldId id="591" r:id="rId36"/>
    <p:sldId id="776" r:id="rId37"/>
    <p:sldId id="775" r:id="rId38"/>
    <p:sldId id="594" r:id="rId39"/>
    <p:sldId id="595" r:id="rId40"/>
    <p:sldId id="901" r:id="rId41"/>
    <p:sldId id="900" r:id="rId42"/>
    <p:sldId id="596" r:id="rId43"/>
    <p:sldId id="597" r:id="rId44"/>
    <p:sldId id="598" r:id="rId45"/>
    <p:sldId id="599" r:id="rId46"/>
    <p:sldId id="600" r:id="rId47"/>
    <p:sldId id="601" r:id="rId48"/>
    <p:sldId id="602" r:id="rId49"/>
    <p:sldId id="603" r:id="rId50"/>
    <p:sldId id="604" r:id="rId51"/>
    <p:sldId id="605" r:id="rId52"/>
    <p:sldId id="606" r:id="rId53"/>
    <p:sldId id="607" r:id="rId54"/>
    <p:sldId id="608" r:id="rId55"/>
    <p:sldId id="609" r:id="rId56"/>
    <p:sldId id="610" r:id="rId57"/>
    <p:sldId id="611" r:id="rId58"/>
    <p:sldId id="612" r:id="rId59"/>
    <p:sldId id="613" r:id="rId60"/>
    <p:sldId id="614" r:id="rId61"/>
    <p:sldId id="846" r:id="rId62"/>
    <p:sldId id="847" r:id="rId63"/>
    <p:sldId id="848" r:id="rId64"/>
    <p:sldId id="849" r:id="rId65"/>
    <p:sldId id="616" r:id="rId66"/>
    <p:sldId id="617" r:id="rId67"/>
    <p:sldId id="618" r:id="rId68"/>
    <p:sldId id="619" r:id="rId69"/>
    <p:sldId id="620" r:id="rId70"/>
    <p:sldId id="621" r:id="rId71"/>
    <p:sldId id="622" r:id="rId72"/>
    <p:sldId id="623" r:id="rId73"/>
    <p:sldId id="624" r:id="rId74"/>
    <p:sldId id="625" r:id="rId75"/>
    <p:sldId id="626" r:id="rId76"/>
    <p:sldId id="627" r:id="rId77"/>
    <p:sldId id="655" r:id="rId78"/>
    <p:sldId id="629" r:id="rId79"/>
    <p:sldId id="630" r:id="rId80"/>
    <p:sldId id="631" r:id="rId81"/>
    <p:sldId id="632" r:id="rId82"/>
    <p:sldId id="633" r:id="rId83"/>
    <p:sldId id="634" r:id="rId84"/>
    <p:sldId id="635" r:id="rId85"/>
    <p:sldId id="636" r:id="rId86"/>
    <p:sldId id="637" r:id="rId87"/>
    <p:sldId id="638" r:id="rId88"/>
    <p:sldId id="639" r:id="rId89"/>
    <p:sldId id="652" r:id="rId90"/>
    <p:sldId id="641" r:id="rId91"/>
    <p:sldId id="642" r:id="rId92"/>
    <p:sldId id="643" r:id="rId93"/>
    <p:sldId id="653" r:id="rId94"/>
    <p:sldId id="645" r:id="rId95"/>
    <p:sldId id="646" r:id="rId96"/>
    <p:sldId id="647" r:id="rId97"/>
    <p:sldId id="654" r:id="rId98"/>
    <p:sldId id="649" r:id="rId99"/>
    <p:sldId id="650" r:id="rId100"/>
    <p:sldId id="651" r:id="rId101"/>
  </p:sldIdLst>
  <p:sldSz cx="12192000" cy="6858000" type="screen16x9"/>
  <p:notesSz cx="6858000" cy="9144000"/>
  <p:custDataLst>
    <p:tags r:id="rId10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14" d="100"/>
          <a:sy n="114" d="100"/>
        </p:scale>
        <p:origin x="414" y="108"/>
      </p:cViewPr>
      <p:guideLst>
        <p:guide orient="horz" pos="2181"/>
        <p:guide pos="35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5" Type="http://schemas.openxmlformats.org/officeDocument/2006/relationships/tags" Target="tags/tag1.xml"/><Relationship Id="rId104" Type="http://schemas.openxmlformats.org/officeDocument/2006/relationships/tableStyles" Target="tableStyles.xml"/><Relationship Id="rId103" Type="http://schemas.openxmlformats.org/officeDocument/2006/relationships/viewProps" Target="viewProps.xml"/><Relationship Id="rId102" Type="http://schemas.openxmlformats.org/officeDocument/2006/relationships/presProps" Target="presProps.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334" name=""/>
        <p:cNvGrpSpPr/>
        <p:nvPr/>
      </p:nvGrpSpPr>
      <p:grpSpPr>
        <a:xfrm>
          <a:off x="0" y="0"/>
          <a:ext cx="0" cy="0"/>
          <a:chOff x="0" y="0"/>
          <a:chExt cx="0" cy="0"/>
        </a:xfrm>
      </p:grpSpPr>
      <p:sp>
        <p:nvSpPr>
          <p:cNvPr id="1049503" name="页眉占位符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9504" name="日期占位符 2"/>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1049505" name="幻灯片图像占位符 3"/>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p>
            <a:endParaRPr lang="zh-CN" altLang="en-US"/>
          </a:p>
        </p:txBody>
      </p:sp>
      <p:sp>
        <p:nvSpPr>
          <p:cNvPr id="1049506" name="备注占位符 4"/>
          <p:cNvSpPr/>
          <p:nvPr>
            <p:ph type="body" sz="quarter" idx="3"/>
          </p:nvPr>
        </p:nvSpPr>
        <p:spPr>
          <a:xfrm>
            <a:off x="685800" y="4400550"/>
            <a:ext cx="5486400" cy="3600450"/>
          </a:xfrm>
          <a:prstGeom prst="rect">
            <a:avLst/>
          </a:prstGeom>
        </p:spPr>
        <p:txBody>
          <a:bodyPr vert="horz" lIns="91440" tIns="45720" rIns="91440" bIns="45720" rtlCol="0"/>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9507" name="页脚占位符 5"/>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9508" name="灯片编号占位符 6"/>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习题</a:t>
            </a:r>
            <a:r>
              <a:rPr lang="en-US" altLang="zh-CN"/>
              <a:t>6.4</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04" name=""/>
        <p:cNvGrpSpPr/>
        <p:nvPr/>
      </p:nvGrpSpPr>
      <p:grpSpPr/>
      <p:sp>
        <p:nvSpPr>
          <p:cNvPr id="1048849" name="幻灯片图像占位符 1"/>
          <p:cNvSpPr/>
          <p:nvPr>
            <p:ph type="sldImg" idx="2"/>
          </p:nvPr>
        </p:nvSpPr>
        <p:spPr/>
      </p:sp>
      <p:sp>
        <p:nvSpPr>
          <p:cNvPr id="1048850"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AES</a:t>
            </a:r>
            <a:r>
              <a:rPr lang="zh-CN" altLang="en-US"/>
              <a:t>相比与</a:t>
            </a:r>
            <a:r>
              <a:rPr lang="en-US" altLang="zh-CN"/>
              <a:t>DES</a:t>
            </a:r>
            <a:r>
              <a:rPr lang="zh-CN" altLang="en-US"/>
              <a:t>来讲，数据理论基础要更加</a:t>
            </a:r>
            <a:r>
              <a:rPr lang="zh-CN" altLang="en-US"/>
              <a:t>完整。</a:t>
            </a:r>
            <a:endParaRPr lang="zh-CN" altLang="en-US"/>
          </a:p>
          <a:p>
            <a:r>
              <a:rPr lang="en-US" altLang="zh-CN"/>
              <a:t>AES</a:t>
            </a:r>
            <a:r>
              <a:rPr lang="zh-CN" altLang="en-US"/>
              <a:t>的数学理论是基于近代代数</a:t>
            </a:r>
            <a:r>
              <a:rPr lang="en-US" altLang="zh-CN"/>
              <a:t>——</a:t>
            </a:r>
            <a:r>
              <a:rPr lang="zh-CN" altLang="en-US"/>
              <a:t>有限域，这类基本数学工具进行</a:t>
            </a:r>
            <a:r>
              <a:rPr lang="zh-CN" altLang="en-US"/>
              <a:t>的。</a:t>
            </a:r>
            <a:endParaRPr lang="zh-CN" altLang="en-US"/>
          </a:p>
          <a:p>
            <a:endParaRPr lang="zh-CN" altLang="en-US"/>
          </a:p>
          <a:p>
            <a:r>
              <a:rPr lang="zh-CN" altLang="en-US"/>
              <a:t>我们来简单看一下</a:t>
            </a:r>
            <a:r>
              <a:rPr lang="en-US" altLang="zh-CN"/>
              <a:t>AES</a:t>
            </a:r>
            <a:r>
              <a:rPr lang="zh-CN" altLang="en-US"/>
              <a:t>中有关有限域的一些数学</a:t>
            </a:r>
            <a:r>
              <a:rPr lang="zh-CN" altLang="en-US"/>
              <a:t>知识。</a:t>
            </a:r>
            <a:endParaRPr lang="zh-CN" altLang="en-US"/>
          </a:p>
          <a:p>
            <a:r>
              <a:rPr lang="en-US" altLang="zh-CN"/>
              <a:t>AES</a:t>
            </a:r>
            <a:r>
              <a:rPr lang="zh-CN" altLang="en-US"/>
              <a:t>的有限域是</a:t>
            </a:r>
            <a:r>
              <a:rPr lang="en-US" altLang="zh-CN"/>
              <a:t>2^8</a:t>
            </a:r>
            <a:r>
              <a:rPr lang="zh-CN" altLang="en-US"/>
              <a:t>的有限域，也就是其中有</a:t>
            </a:r>
            <a:r>
              <a:rPr lang="en-US" altLang="zh-CN"/>
              <a:t>256</a:t>
            </a:r>
            <a:r>
              <a:rPr lang="zh-CN" altLang="en-US"/>
              <a:t>个</a:t>
            </a:r>
            <a:r>
              <a:rPr lang="zh-CN" altLang="en-US"/>
              <a:t>元素。</a:t>
            </a:r>
            <a:endParaRPr lang="zh-CN" altLang="en-US"/>
          </a:p>
          <a:p>
            <a:r>
              <a:rPr lang="zh-CN" altLang="en-US"/>
              <a:t>对于我们计算机专业的学生，可以从字节的角度来理解。我们</a:t>
            </a:r>
            <a:r>
              <a:rPr lang="en-US" altLang="zh-CN"/>
              <a:t>1</a:t>
            </a:r>
            <a:r>
              <a:rPr lang="zh-CN" altLang="en-US"/>
              <a:t>个字节</a:t>
            </a:r>
            <a:r>
              <a:rPr lang="en-US" altLang="zh-CN"/>
              <a:t>=8bit</a:t>
            </a:r>
            <a:r>
              <a:rPr lang="zh-CN" altLang="en-US"/>
              <a:t>，从</a:t>
            </a:r>
            <a:r>
              <a:rPr lang="en-US" altLang="zh-CN"/>
              <a:t>00000000~11111111</a:t>
            </a:r>
            <a:r>
              <a:rPr lang="zh-CN" altLang="en-US"/>
              <a:t>其中的所有取值，就是我们</a:t>
            </a:r>
            <a:r>
              <a:rPr lang="en-US" altLang="zh-CN"/>
              <a:t>256</a:t>
            </a:r>
            <a:r>
              <a:rPr lang="zh-CN" altLang="en-US"/>
              <a:t>个可能的</a:t>
            </a:r>
            <a:r>
              <a:rPr lang="zh-CN" altLang="en-US"/>
              <a:t>取值。</a:t>
            </a:r>
            <a:endParaRPr lang="zh-CN" altLang="en-US"/>
          </a:p>
          <a:p>
            <a:r>
              <a:rPr lang="zh-CN" altLang="en-US"/>
              <a:t>和字节对应，还可以使用多项式来</a:t>
            </a:r>
            <a:r>
              <a:rPr lang="zh-CN" altLang="en-US"/>
              <a:t>描述。</a:t>
            </a:r>
            <a:endParaRPr lang="zh-CN" altLang="en-US"/>
          </a:p>
          <a:p>
            <a:r>
              <a:rPr lang="zh-CN" altLang="en-US"/>
              <a:t>可以使用一个系数取自二元域上的八次方的</a:t>
            </a:r>
            <a:r>
              <a:rPr lang="zh-CN" altLang="en-US"/>
              <a:t>不可约多项式</a:t>
            </a:r>
            <a:r>
              <a:rPr lang="zh-CN" altLang="en-US"/>
              <a:t>来表示。</a:t>
            </a:r>
            <a:endParaRPr lang="zh-CN" altLang="en-US"/>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不可约的多项式</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其实</a:t>
            </a:r>
            <a:r>
              <a:rPr lang="en-US" altLang="zh-CN"/>
              <a:t>AES</a:t>
            </a:r>
            <a:r>
              <a:rPr lang="zh-CN" altLang="en-US"/>
              <a:t>中有限域</a:t>
            </a:r>
            <a:r>
              <a:rPr lang="en-US" altLang="zh-CN"/>
              <a:t>2</a:t>
            </a:r>
            <a:r>
              <a:rPr lang="zh-CN" altLang="en-US"/>
              <a:t>的</a:t>
            </a:r>
            <a:r>
              <a:rPr lang="en-US" altLang="zh-CN"/>
              <a:t>8</a:t>
            </a:r>
            <a:r>
              <a:rPr lang="zh-CN" altLang="en-US"/>
              <a:t>次方的加法就相当于按位异或。</a:t>
            </a:r>
            <a:endParaRPr lang="zh-CN" altLang="en-US"/>
          </a:p>
          <a:p>
            <a:r>
              <a:rPr lang="zh-CN" altLang="en-US"/>
              <a:t>乘法的话就是两个元素的多项式相乘然后模（不可约多项式</a:t>
            </a:r>
            <a:r>
              <a:rPr lang="en-US" altLang="zh-CN"/>
              <a:t>Mx</a:t>
            </a:r>
            <a:r>
              <a:rPr lang="zh-CN" altLang="en-US"/>
              <a:t>）。</a:t>
            </a:r>
            <a:r>
              <a:rPr lang="en-US" altLang="zh-CN"/>
              <a:t>mx=x^8+x^4+x^3+x+1</a:t>
            </a:r>
            <a:endParaRPr lang="zh-CN" altLang="en-US"/>
          </a:p>
          <a:p>
            <a:r>
              <a:rPr lang="zh-CN" altLang="en-US"/>
              <a:t>乘法逆元的计算需要使用到扩展欧几里得算法或者费马定理。</a:t>
            </a:r>
            <a:endParaRPr lang="zh-CN" altLang="en-US"/>
          </a:p>
          <a:p>
            <a:r>
              <a:rPr lang="zh-CN" altLang="en-US"/>
              <a:t>这里我们只需要理解的一点就是，</a:t>
            </a:r>
            <a:r>
              <a:rPr lang="zh-CN" altLang="en-US" b="1"/>
              <a:t>在</a:t>
            </a:r>
            <a:r>
              <a:rPr lang="en-US" altLang="zh-CN" b="1"/>
              <a:t>AES</a:t>
            </a:r>
            <a:r>
              <a:rPr lang="zh-CN" altLang="en-US" b="1"/>
              <a:t>的运算中，无论之后进行怎样的操作，最后的计算结果依旧是在这个</a:t>
            </a:r>
            <a:r>
              <a:rPr lang="en-US" altLang="zh-CN" b="1"/>
              <a:t>2</a:t>
            </a:r>
            <a:r>
              <a:rPr lang="zh-CN" altLang="en-US" b="1"/>
              <a:t>的八次方的有限域中。</a:t>
            </a:r>
            <a:endParaRPr lang="zh-CN" altLang="en-US" b="1"/>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Feistal</a:t>
            </a:r>
            <a:r>
              <a:rPr lang="zh-CN" altLang="en-US"/>
              <a:t>运算中，由于加解密算法完全一致，所以使用的是对合运算，但是</a:t>
            </a:r>
            <a:r>
              <a:rPr lang="en-US" altLang="zh-CN"/>
              <a:t>AES</a:t>
            </a:r>
            <a:r>
              <a:rPr lang="zh-CN" altLang="en-US"/>
              <a:t>中使用的不再是对合运算了。加解密使用了不同的</a:t>
            </a:r>
            <a:r>
              <a:rPr lang="zh-CN" altLang="en-US"/>
              <a:t>算法。</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分组长度为</a:t>
            </a:r>
            <a:r>
              <a:rPr lang="en-US" altLang="zh-CN"/>
              <a:t>192bit</a:t>
            </a:r>
            <a:r>
              <a:rPr lang="zh-CN" altLang="en-US"/>
              <a:t>和密钥长度为</a:t>
            </a:r>
            <a:r>
              <a:rPr lang="en-US" altLang="zh-CN"/>
              <a:t>128bit</a:t>
            </a:r>
            <a:r>
              <a:rPr lang="zh-CN" altLang="en-US"/>
              <a:t>时。</a:t>
            </a:r>
            <a:r>
              <a:rPr lang="en-US" altLang="zh-CN"/>
              <a:t>a00</a:t>
            </a:r>
            <a:r>
              <a:rPr lang="zh-CN" altLang="en-US"/>
              <a:t>为第一个字节，</a:t>
            </a:r>
            <a:r>
              <a:rPr lang="en-US" altLang="zh-CN"/>
              <a:t>a10</a:t>
            </a:r>
            <a:r>
              <a:rPr lang="zh-CN" altLang="en-US"/>
              <a:t>为第二个字节。</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分组长度和密钥长度不同，</a:t>
            </a:r>
            <a:r>
              <a:rPr lang="en-US" altLang="zh-CN"/>
              <a:t>AES</a:t>
            </a:r>
            <a:r>
              <a:rPr lang="zh-CN" altLang="en-US"/>
              <a:t>算法执行的轮函数的次数也会随之变换，具体对应关系如下表所示。</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这个矩阵每行每列有</a:t>
            </a:r>
            <a:r>
              <a:rPr lang="en-US" altLang="zh-CN"/>
              <a:t>5</a:t>
            </a:r>
            <a:r>
              <a:rPr lang="zh-CN" altLang="en-US"/>
              <a:t>个</a:t>
            </a:r>
            <a:r>
              <a:rPr lang="en-US" altLang="zh-CN"/>
              <a:t>1</a:t>
            </a:r>
            <a:r>
              <a:rPr lang="zh-CN" altLang="en-US"/>
              <a:t>，说明输出的每一位都和输入中的</a:t>
            </a:r>
            <a:r>
              <a:rPr lang="en-US" altLang="zh-CN"/>
              <a:t>5</a:t>
            </a:r>
            <a:r>
              <a:rPr lang="zh-CN" altLang="en-US"/>
              <a:t>位</a:t>
            </a:r>
            <a:r>
              <a:rPr lang="zh-CN" altLang="en-US"/>
              <a:t>相关。</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线性变换，起到</a:t>
            </a:r>
            <a:r>
              <a:rPr lang="zh-CN" altLang="en-US"/>
              <a:t>扩散作用。</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这是线性变换起到扩散作用。就像魔方一样，横着变换后，竖着</a:t>
            </a:r>
            <a:r>
              <a:rPr lang="zh-CN" altLang="en-US"/>
              <a:t>叶变换。</a:t>
            </a:r>
            <a:endParaRPr lang="zh-CN" altLang="en-US"/>
          </a:p>
          <a:p>
            <a:r>
              <a:rPr lang="zh-CN" altLang="en-US"/>
              <a:t>将</a:t>
            </a:r>
            <a:r>
              <a:rPr lang="en-US" altLang="zh-CN"/>
              <a:t>state</a:t>
            </a:r>
            <a:r>
              <a:rPr lang="zh-CN" altLang="en-US"/>
              <a:t>中的每一列表示为多项式，然后与</a:t>
            </a:r>
            <a:r>
              <a:rPr lang="en-US" altLang="zh-CN"/>
              <a:t>cx</a:t>
            </a:r>
            <a:r>
              <a:rPr lang="zh-CN" altLang="en-US"/>
              <a:t>相乘。</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Rotl</a:t>
            </a:r>
            <a:r>
              <a:rPr lang="zh-CN" altLang="en-US"/>
              <a:t>变换是字里面的字节进行循环</a:t>
            </a:r>
            <a:r>
              <a:rPr lang="zh-CN" altLang="en-US"/>
              <a:t>左移。</a:t>
            </a:r>
            <a:endParaRPr lang="zh-CN" altLang="en-US"/>
          </a:p>
          <a:p>
            <a:r>
              <a:rPr lang="en-US" altLang="zh-CN"/>
              <a:t>ByteSub</a:t>
            </a:r>
            <a:r>
              <a:rPr lang="zh-CN" altLang="en-US"/>
              <a:t>是使用</a:t>
            </a:r>
            <a:r>
              <a:rPr lang="en-US" altLang="zh-CN"/>
              <a:t>S</a:t>
            </a:r>
            <a:r>
              <a:rPr lang="zh-CN" altLang="en-US"/>
              <a:t>盒去做字节替换。之后再亦或一个轮常</a:t>
            </a:r>
            <a:r>
              <a:rPr lang="zh-CN" altLang="en-US"/>
              <a:t>数。</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rotl</a:t>
            </a:r>
            <a:r>
              <a:rPr lang="zh-CN" altLang="en-US"/>
              <a:t>：字节循环左移函数</a:t>
            </a:r>
            <a:r>
              <a:rPr lang="en-US" altLang="zh-CN"/>
              <a:t>   ByteSub</a:t>
            </a:r>
            <a:r>
              <a:rPr lang="zh-CN" altLang="en-US"/>
              <a:t>是使用刚才提到的</a:t>
            </a:r>
            <a:r>
              <a:rPr lang="en-US" altLang="zh-CN"/>
              <a:t>S</a:t>
            </a:r>
            <a:r>
              <a:rPr lang="zh-CN" altLang="en-US"/>
              <a:t>盒做一个替代。</a:t>
            </a:r>
            <a:endParaRPr lang="zh-CN" altLang="en-US"/>
          </a:p>
          <a:p>
            <a:r>
              <a:rPr lang="en-US" altLang="zh-CN"/>
              <a:t>Rcon</a:t>
            </a:r>
            <a:r>
              <a:rPr lang="zh-CN" altLang="en-US"/>
              <a:t>是一个轮常数</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x=2</a:t>
            </a:r>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Nk=8</a:t>
            </a:r>
            <a:r>
              <a:rPr lang="zh-CN" altLang="en-US"/>
              <a:t>的时候密钥长度长达</a:t>
            </a:r>
            <a:r>
              <a:rPr lang="en-US" altLang="zh-CN"/>
              <a:t>256bit</a:t>
            </a:r>
            <a:r>
              <a:rPr lang="zh-CN" altLang="en-US"/>
              <a:t>，如果还按照原来的密钥扩展，仅仅在整数倍的时候进行一次</a:t>
            </a:r>
            <a:r>
              <a:rPr lang="en-US" altLang="zh-CN"/>
              <a:t>S</a:t>
            </a:r>
            <a:r>
              <a:rPr lang="zh-CN" altLang="en-US"/>
              <a:t>盒，那每次</a:t>
            </a:r>
            <a:r>
              <a:rPr lang="en-US" altLang="zh-CN"/>
              <a:t>S</a:t>
            </a:r>
            <a:r>
              <a:rPr lang="zh-CN" altLang="en-US"/>
              <a:t>盒中间没有进行处理的扩展密钥的长度就比较长。</a:t>
            </a:r>
            <a:endParaRPr lang="zh-CN" altLang="en-US"/>
          </a:p>
          <a:p>
            <a:r>
              <a:rPr lang="zh-CN" altLang="en-US"/>
              <a:t>所以为了提升密钥强度，当</a:t>
            </a:r>
            <a:r>
              <a:rPr lang="en-US" altLang="zh-CN"/>
              <a:t>Nk&gt;6</a:t>
            </a:r>
            <a:r>
              <a:rPr lang="zh-CN" altLang="en-US"/>
              <a:t>的时候，不仅仅在整数倍的时候进行一次</a:t>
            </a:r>
            <a:r>
              <a:rPr lang="en-US" altLang="zh-CN"/>
              <a:t>S</a:t>
            </a:r>
            <a:r>
              <a:rPr lang="zh-CN" altLang="en-US"/>
              <a:t>盒变换，余数为</a:t>
            </a:r>
            <a:r>
              <a:rPr lang="en-US" altLang="zh-CN"/>
              <a:t>4</a:t>
            </a:r>
            <a:r>
              <a:rPr lang="zh-CN" altLang="en-US"/>
              <a:t>的时候也进行一次</a:t>
            </a:r>
            <a:r>
              <a:rPr lang="en-US" altLang="zh-CN"/>
              <a:t>S</a:t>
            </a:r>
            <a:r>
              <a:rPr lang="zh-CN" altLang="en-US"/>
              <a:t>盒变换。</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为什么需要工作模式呢？</a:t>
            </a:r>
            <a:endParaRPr lang="zh-CN" altLang="en-US"/>
          </a:p>
          <a:p>
            <a:r>
              <a:rPr lang="zh-CN" altLang="en-US"/>
              <a:t>因为分组密码在工作的时候，分组的长度是固定的，但是实际中被加密的消息的数据量是不确定的。</a:t>
            </a:r>
            <a:endParaRPr lang="zh-CN" altLang="en-US"/>
          </a:p>
          <a:p>
            <a:r>
              <a:rPr lang="zh-CN" altLang="en-US"/>
              <a:t>这些被加密消息的数据格式也是多种多样的，所以呢，就需要使用分组密码的工作模式。</a:t>
            </a:r>
            <a:endParaRPr lang="zh-CN" altLang="en-US"/>
          </a:p>
          <a:p>
            <a:endParaRPr lang="zh-CN" altLang="en-US"/>
          </a:p>
          <a:p>
            <a:r>
              <a:rPr lang="zh-CN" altLang="en-US"/>
              <a:t>根据被加密消息，不同的数据格式和安全要求用一个具体的分组密码算法，作为基础结构去构造这个分组密码系统。</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分组密码的主要工作服模式；</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电码的模式就是直接利用分组密码算法对</a:t>
            </a:r>
            <a:r>
              <a:rPr lang="zh-CN" altLang="en-US"/>
              <a:t>明文进行加密的工作模式。</a:t>
            </a:r>
            <a:endParaRPr lang="zh-CN" altLang="en-US"/>
          </a:p>
          <a:p>
            <a:r>
              <a:rPr lang="zh-CN" altLang="en-US"/>
              <a:t>就直接将我们的明文分成P</a:t>
            </a:r>
            <a:r>
              <a:rPr lang="en-US" altLang="zh-CN"/>
              <a:t>1</a:t>
            </a:r>
            <a:r>
              <a:rPr lang="zh-CN" altLang="en-US"/>
              <a:t> P</a:t>
            </a:r>
            <a:r>
              <a:rPr lang="en-US" altLang="zh-CN"/>
              <a:t>2</a:t>
            </a:r>
            <a:r>
              <a:rPr lang="zh-CN" altLang="en-US"/>
              <a:t>到P</a:t>
            </a:r>
            <a:r>
              <a:rPr lang="en-US" altLang="zh-CN"/>
              <a:t>n</a:t>
            </a:r>
            <a:r>
              <a:rPr lang="zh-CN" altLang="en-US"/>
              <a:t>个分组，然后呢使用我们的分组密码算法使用相同的密钥去进行加密。</a:t>
            </a:r>
            <a:endParaRPr lang="zh-CN" altLang="en-US"/>
          </a:p>
          <a:p>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为了克服电码本工作模式的缺陷，我们希望在进行分组密码工作模式的设计师可以当存在相同的明文时出现不同的明文分组</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ltLang="zh-CN"/>
              <a:t>cfb</a:t>
            </a:r>
            <a:r>
              <a:rPr lang="zh-CN" altLang="en-US"/>
              <a:t>和cbc中存在的错误传播，可以通过输出反馈模式来解决这个问题</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输出反馈模式的结构，其实类似于C F B结构，但是他反馈的内容是</a:t>
            </a:r>
            <a:r>
              <a:rPr lang="en-US" altLang="zh-CN"/>
              <a:t>d</a:t>
            </a:r>
            <a:r>
              <a:rPr lang="zh-CN" altLang="en-US"/>
              <a:t>DS算法中加密函数的输出</a:t>
            </a:r>
            <a:r>
              <a:rPr lang="en-US" altLang="zh-CN"/>
              <a:t>.</a:t>
            </a:r>
            <a:endParaRPr lang="en-US" altLang="zh-CN"/>
          </a:p>
          <a:p>
            <a:r>
              <a:rPr lang="en-US" altLang="zh-CN"/>
              <a:t>cfb模式反馈</a:t>
            </a:r>
            <a:r>
              <a:rPr lang="zh-CN" altLang="en-US"/>
              <a:t>值为异或操作的输出。</a:t>
            </a:r>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zh-CN" altLang="en-US"/>
              <a:t>计数器模式可以看作是O F B模式的简化版本。</a:t>
            </a:r>
            <a:endParaRPr lang="zh-CN" altLang="en-US"/>
          </a:p>
          <a:p>
            <a:endParaRPr lang="zh-CN" altLang="en-US"/>
          </a:p>
        </p:txBody>
      </p:sp>
      <p:sp>
        <p:nvSpPr>
          <p:cNvPr id="4" name="Slide Number Placeholder 3"/>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9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Screen Image">
    <p:bg>
      <p:bgPr>
        <a:solidFill>
          <a:schemeClr val="bg1"/>
        </a:solidFill>
        <a:effectLst/>
      </p:bgPr>
    </p:bg>
    <p:spTree>
      <p:nvGrpSpPr>
        <p:cNvPr id="1" name=""/>
        <p:cNvGrpSpPr/>
        <p:nvPr/>
      </p:nvGrpSpPr>
      <p:grpSpPr>
        <a:xfrm>
          <a:off x="0" y="0"/>
          <a:ext cx="0" cy="0"/>
          <a:chOff x="0" y="0"/>
          <a:chExt cx="0" cy="0"/>
        </a:xfrm>
      </p:grpSpPr>
      <p:pic>
        <p:nvPicPr>
          <p:cNvPr id="4098" name="图片 6"/>
          <p:cNvPicPr>
            <a:picLocks noChangeAspect="1"/>
          </p:cNvPicPr>
          <p:nvPr userDrawn="1"/>
        </p:nvPicPr>
        <p:blipFill>
          <a:blip r:embed="rId2"/>
          <a:stretch>
            <a:fillRect/>
          </a:stretch>
        </p:blipFill>
        <p:spPr>
          <a:xfrm>
            <a:off x="8633884" y="6186488"/>
            <a:ext cx="3558116" cy="579437"/>
          </a:xfrm>
          <a:prstGeom prst="rect">
            <a:avLst/>
          </a:prstGeom>
          <a:noFill/>
          <a:ln w="9525">
            <a:noFill/>
          </a:ln>
        </p:spPr>
      </p:pic>
      <p:sp>
        <p:nvSpPr>
          <p:cNvPr id="8" name="Text Box 15"/>
          <p:cNvSpPr txBox="1"/>
          <p:nvPr/>
        </p:nvSpPr>
        <p:spPr bwMode="auto">
          <a:xfrm>
            <a:off x="46567" y="85725"/>
            <a:ext cx="4099984" cy="368300"/>
          </a:xfrm>
          <a:prstGeom prst="rect">
            <a:avLst/>
          </a:prstGeom>
          <a:noFill/>
          <a:ln>
            <a:noFill/>
          </a:ln>
          <a:effectLst>
            <a:prstShdw prst="shdw17" dist="17961" dir="27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dirty="0">
                <a:ln>
                  <a:noFill/>
                </a:ln>
                <a:solidFill>
                  <a:srgbClr val="990000"/>
                </a:solidFill>
                <a:effectLst/>
                <a:uLnTx/>
                <a:uFillTx/>
                <a:latin typeface="黑体" panose="02010609060101010101" charset="-122"/>
                <a:ea typeface="黑体" panose="02010609060101010101" charset="-122"/>
                <a:cs typeface="+mn-cs"/>
              </a:rPr>
              <a:t>现代密码学（第五版）</a:t>
            </a:r>
            <a:endParaRPr kumimoji="0" lang="zh-CN" altLang="en-US" sz="1800" b="1" i="0" u="none" strike="noStrike" kern="1200" cap="none" spc="0" normalizeH="0" baseline="0" noProof="0" dirty="0">
              <a:ln>
                <a:noFill/>
              </a:ln>
              <a:solidFill>
                <a:srgbClr val="990000"/>
              </a:solidFill>
              <a:effectLst/>
              <a:uLnTx/>
              <a:uFillTx/>
              <a:latin typeface="黑体" panose="02010609060101010101" charset="-122"/>
              <a:ea typeface="黑体" panose="02010609060101010101" charset="-122"/>
              <a:cs typeface="+mn-cs"/>
            </a:endParaRPr>
          </a:p>
        </p:txBody>
      </p:sp>
      <p:cxnSp>
        <p:nvCxnSpPr>
          <p:cNvPr id="9" name="直接连接符 8"/>
          <p:cNvCxnSpPr/>
          <p:nvPr/>
        </p:nvCxnSpPr>
        <p:spPr>
          <a:xfrm flipV="1">
            <a:off x="47413" y="6525895"/>
            <a:ext cx="8641080" cy="20955"/>
          </a:xfrm>
          <a:prstGeom prst="line">
            <a:avLst/>
          </a:prstGeom>
          <a:ln w="63500">
            <a:gradFill>
              <a:gsLst>
                <a:gs pos="84000">
                  <a:srgbClr val="C00000"/>
                </a:gs>
                <a:gs pos="100000">
                  <a:schemeClr val="accent1">
                    <a:tint val="23500"/>
                    <a:satMod val="160000"/>
                  </a:schemeClr>
                </a:gs>
              </a:gsLst>
              <a:lin ang="5400000" scaled="0"/>
            </a:gradFill>
          </a:ln>
        </p:spPr>
        <p:style>
          <a:lnRef idx="3">
            <a:schemeClr val="accent2"/>
          </a:lnRef>
          <a:fillRef idx="0">
            <a:schemeClr val="accent2"/>
          </a:fillRef>
          <a:effectRef idx="2">
            <a:schemeClr val="accent2"/>
          </a:effectRef>
          <a:fontRef idx="minor">
            <a:schemeClr val="tx1"/>
          </a:fontRef>
        </p:style>
      </p:cxnSp>
      <p:cxnSp>
        <p:nvCxnSpPr>
          <p:cNvPr id="10" name="直接连接符 9"/>
          <p:cNvCxnSpPr/>
          <p:nvPr/>
        </p:nvCxnSpPr>
        <p:spPr>
          <a:xfrm flipV="1">
            <a:off x="1487589" y="593722"/>
            <a:ext cx="10704407" cy="27305"/>
          </a:xfrm>
          <a:prstGeom prst="line">
            <a:avLst/>
          </a:prstGeom>
          <a:ln w="63500">
            <a:gradFill>
              <a:gsLst>
                <a:gs pos="84000">
                  <a:srgbClr val="C00000"/>
                </a:gs>
                <a:gs pos="100000">
                  <a:schemeClr val="accent1">
                    <a:tint val="23500"/>
                    <a:satMod val="160000"/>
                  </a:schemeClr>
                </a:gs>
              </a:gsLst>
              <a:lin ang="5400000" scaled="0"/>
            </a:gradFill>
          </a:ln>
        </p:spPr>
        <p:style>
          <a:lnRef idx="3">
            <a:schemeClr val="accent2"/>
          </a:lnRef>
          <a:fillRef idx="0">
            <a:schemeClr val="accent2"/>
          </a:fillRef>
          <a:effectRef idx="2">
            <a:schemeClr val="accent2"/>
          </a:effectRef>
          <a:fontRef idx="minor">
            <a:schemeClr val="tx1"/>
          </a:fontRef>
        </p:style>
      </p:cxnSp>
      <p:sp>
        <p:nvSpPr>
          <p:cNvPr id="2" name="日期占位符 1"/>
          <p:cNvSpPr/>
          <p:nvPr>
            <p:ph type="dt" sz="half" idx="10"/>
          </p:nvPr>
        </p:nvSpPr>
        <p:spPr>
          <a:xfrm>
            <a:off x="609600" y="6245225"/>
            <a:ext cx="2844800" cy="476250"/>
          </a:xfrm>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p:nvPr>
            <p:ph type="ftr" sz="quarter" idx="11"/>
          </p:nvPr>
        </p:nvSpPr>
        <p:spPr>
          <a:xfrm>
            <a:off x="4165600" y="6245225"/>
            <a:ext cx="3860800" cy="476250"/>
          </a:xfrm>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p:nvPr>
            <p:ph type="sldNum" sz="quarter" idx="12"/>
          </p:nvPr>
        </p:nvSpPr>
        <p:spPr>
          <a:xfrm>
            <a:off x="8737600" y="6245225"/>
            <a:ext cx="2844800" cy="476250"/>
          </a:xfrm>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72318CB-51F9-4AE7-8C04-F83B55FA4C79}" type="slidenum">
              <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advClick="0" advTm="5000">
    <p:random/>
  </p:transition>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89"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6.jpe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6.jpe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jpeg"/><Relationship Id="rId2" Type="http://schemas.openxmlformats.org/officeDocument/2006/relationships/image" Target="../media/image7.png"/><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image" Target="../media/image26.png"/><Relationship Id="rId7" Type="http://schemas.openxmlformats.org/officeDocument/2006/relationships/image" Target="../media/image25.png"/><Relationship Id="rId6" Type="http://schemas.openxmlformats.org/officeDocument/2006/relationships/image" Target="../media/image24.png"/><Relationship Id="rId5" Type="http://schemas.openxmlformats.org/officeDocument/2006/relationships/image" Target="../media/image6.jpeg"/><Relationship Id="rId4" Type="http://schemas.openxmlformats.org/officeDocument/2006/relationships/image" Target="../media/image23.png"/><Relationship Id="rId35" Type="http://schemas.openxmlformats.org/officeDocument/2006/relationships/slideLayout" Target="../slideLayouts/slideLayout1.xml"/><Relationship Id="rId34" Type="http://schemas.openxmlformats.org/officeDocument/2006/relationships/image" Target="../media/image52.png"/><Relationship Id="rId33" Type="http://schemas.openxmlformats.org/officeDocument/2006/relationships/image" Target="../media/image51.png"/><Relationship Id="rId32" Type="http://schemas.openxmlformats.org/officeDocument/2006/relationships/image" Target="../media/image50.png"/><Relationship Id="rId31" Type="http://schemas.openxmlformats.org/officeDocument/2006/relationships/image" Target="../media/image49.png"/><Relationship Id="rId30" Type="http://schemas.openxmlformats.org/officeDocument/2006/relationships/image" Target="../media/image48.png"/><Relationship Id="rId3" Type="http://schemas.openxmlformats.org/officeDocument/2006/relationships/image" Target="../media/image22.png"/><Relationship Id="rId29" Type="http://schemas.openxmlformats.org/officeDocument/2006/relationships/image" Target="../media/image47.png"/><Relationship Id="rId28" Type="http://schemas.openxmlformats.org/officeDocument/2006/relationships/image" Target="../media/image46.png"/><Relationship Id="rId27" Type="http://schemas.openxmlformats.org/officeDocument/2006/relationships/image" Target="../media/image45.png"/><Relationship Id="rId26" Type="http://schemas.openxmlformats.org/officeDocument/2006/relationships/image" Target="../media/image44.png"/><Relationship Id="rId25" Type="http://schemas.openxmlformats.org/officeDocument/2006/relationships/image" Target="../media/image43.png"/><Relationship Id="rId24" Type="http://schemas.openxmlformats.org/officeDocument/2006/relationships/image" Target="../media/image42.png"/><Relationship Id="rId23" Type="http://schemas.openxmlformats.org/officeDocument/2006/relationships/image" Target="../media/image41.png"/><Relationship Id="rId22" Type="http://schemas.openxmlformats.org/officeDocument/2006/relationships/image" Target="../media/image40.png"/><Relationship Id="rId21" Type="http://schemas.openxmlformats.org/officeDocument/2006/relationships/image" Target="../media/image39.png"/><Relationship Id="rId20" Type="http://schemas.openxmlformats.org/officeDocument/2006/relationships/image" Target="../media/image38.png"/><Relationship Id="rId2" Type="http://schemas.openxmlformats.org/officeDocument/2006/relationships/image" Target="../media/image21.png"/><Relationship Id="rId19" Type="http://schemas.openxmlformats.org/officeDocument/2006/relationships/image" Target="../media/image37.png"/><Relationship Id="rId18" Type="http://schemas.openxmlformats.org/officeDocument/2006/relationships/image" Target="../media/image36.png"/><Relationship Id="rId17" Type="http://schemas.openxmlformats.org/officeDocument/2006/relationships/image" Target="../media/image35.png"/><Relationship Id="rId16" Type="http://schemas.openxmlformats.org/officeDocument/2006/relationships/image" Target="../media/image34.png"/><Relationship Id="rId15" Type="http://schemas.openxmlformats.org/officeDocument/2006/relationships/image" Target="../media/image33.png"/><Relationship Id="rId14" Type="http://schemas.openxmlformats.org/officeDocument/2006/relationships/image" Target="../media/image32.png"/><Relationship Id="rId13" Type="http://schemas.openxmlformats.org/officeDocument/2006/relationships/image" Target="../media/image31.png"/><Relationship Id="rId12" Type="http://schemas.openxmlformats.org/officeDocument/2006/relationships/image" Target="../media/image30.png"/><Relationship Id="rId11" Type="http://schemas.openxmlformats.org/officeDocument/2006/relationships/image" Target="../media/image29.png"/><Relationship Id="rId10" Type="http://schemas.openxmlformats.org/officeDocument/2006/relationships/image" Target="../media/image28.png"/><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3.png"/><Relationship Id="rId1" Type="http://schemas.openxmlformats.org/officeDocument/2006/relationships/image" Target="../media/image6.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54.png"/><Relationship Id="rId1" Type="http://schemas.openxmlformats.org/officeDocument/2006/relationships/image" Target="../media/image6.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3.png"/><Relationship Id="rId1" Type="http://schemas.openxmlformats.org/officeDocument/2006/relationships/image" Target="../media/image6.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8.png"/><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3.png"/><Relationship Id="rId1" Type="http://schemas.openxmlformats.org/officeDocument/2006/relationships/image" Target="../media/image6.jpe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39.xml.rels><?xml version="1.0" encoding="UTF-8" standalone="yes"?>
<Relationships xmlns="http://schemas.openxmlformats.org/package/2006/relationships"><Relationship Id="rId9" Type="http://schemas.openxmlformats.org/officeDocument/2006/relationships/image" Target="../media/image67.png"/><Relationship Id="rId8" Type="http://schemas.openxmlformats.org/officeDocument/2006/relationships/image" Target="../media/image66.png"/><Relationship Id="rId7" Type="http://schemas.openxmlformats.org/officeDocument/2006/relationships/image" Target="../media/image65.png"/><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7" Type="http://schemas.openxmlformats.org/officeDocument/2006/relationships/notesSlide" Target="../notesSlides/notesSlide19.xml"/><Relationship Id="rId16" Type="http://schemas.openxmlformats.org/officeDocument/2006/relationships/slideLayout" Target="../slideLayouts/slideLayout1.xml"/><Relationship Id="rId15" Type="http://schemas.openxmlformats.org/officeDocument/2006/relationships/image" Target="../media/image72.png"/><Relationship Id="rId14" Type="http://schemas.openxmlformats.org/officeDocument/2006/relationships/image" Target="../media/image6.jpeg"/><Relationship Id="rId13" Type="http://schemas.openxmlformats.org/officeDocument/2006/relationships/image" Target="../media/image71.png"/><Relationship Id="rId12" Type="http://schemas.openxmlformats.org/officeDocument/2006/relationships/image" Target="../media/image70.png"/><Relationship Id="rId11" Type="http://schemas.openxmlformats.org/officeDocument/2006/relationships/image" Target="../media/image69.png"/><Relationship Id="rId10" Type="http://schemas.openxmlformats.org/officeDocument/2006/relationships/image" Target="../media/image68.png"/><Relationship Id="rId1" Type="http://schemas.openxmlformats.org/officeDocument/2006/relationships/image" Target="../media/image5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73.jpeg"/></Relationships>
</file>

<file path=ppt/slides/_rels/slide4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8.png"/><Relationship Id="rId3" Type="http://schemas.openxmlformats.org/officeDocument/2006/relationships/image" Target="../media/image55.png"/><Relationship Id="rId2" Type="http://schemas.openxmlformats.org/officeDocument/2006/relationships/image" Target="../media/image57.png"/><Relationship Id="rId1" Type="http://schemas.openxmlformats.org/officeDocument/2006/relationships/image" Target="../media/image56.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74.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7.png"/><Relationship Id="rId3" Type="http://schemas.openxmlformats.org/officeDocument/2006/relationships/image" Target="../media/image55.png"/><Relationship Id="rId2" Type="http://schemas.openxmlformats.org/officeDocument/2006/relationships/image" Target="../media/image58.png"/><Relationship Id="rId1" Type="http://schemas.openxmlformats.org/officeDocument/2006/relationships/image" Target="../media/image56.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75.png"/><Relationship Id="rId1" Type="http://schemas.openxmlformats.org/officeDocument/2006/relationships/image" Target="../media/image6.jpeg"/></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7.png"/><Relationship Id="rId2" Type="http://schemas.openxmlformats.org/officeDocument/2006/relationships/image" Target="../media/image6.jpeg"/><Relationship Id="rId1" Type="http://schemas.openxmlformats.org/officeDocument/2006/relationships/image" Target="../media/image76.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78.jpe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9.png"/><Relationship Id="rId1" Type="http://schemas.openxmlformats.org/officeDocument/2006/relationships/image" Target="../media/image6.jpe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80.png"/></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5.png"/><Relationship Id="rId3" Type="http://schemas.openxmlformats.org/officeDocument/2006/relationships/image" Target="../media/image57.png"/><Relationship Id="rId2" Type="http://schemas.openxmlformats.org/officeDocument/2006/relationships/image" Target="../media/image58.png"/><Relationship Id="rId1" Type="http://schemas.openxmlformats.org/officeDocument/2006/relationships/image" Target="../media/image56.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image" Target="../media/image7.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81.png"/><Relationship Id="rId1" Type="http://schemas.openxmlformats.org/officeDocument/2006/relationships/image" Target="../media/image6.jpe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82.png"/><Relationship Id="rId1" Type="http://schemas.openxmlformats.org/officeDocument/2006/relationships/image" Target="../media/image6.jpe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83.png"/><Relationship Id="rId1" Type="http://schemas.openxmlformats.org/officeDocument/2006/relationships/image" Target="../media/image6.jpeg"/></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xml"/><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image" Target="../media/image6.jpe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86.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87.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8.png"/><Relationship Id="rId1" Type="http://schemas.openxmlformats.org/officeDocument/2006/relationships/image" Target="../media/image6.jpeg"/></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image" Target="../media/image89.png"/><Relationship Id="rId1" Type="http://schemas.openxmlformats.org/officeDocument/2006/relationships/image" Target="../media/image6.jpe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90.jpeg"/></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image" Target="../media/image7.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5.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1.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image" Target="../media/image7.png"/></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94.jpe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9.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slideLayout" Target="../slideLayouts/slideLayout1.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image" Target="../media/image7.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5.png"/><Relationship Id="rId1" Type="http://schemas.openxmlformats.org/officeDocument/2006/relationships/image" Target="../media/image6.jpe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96.jpe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85.xml.rels><?xml version="1.0" encoding="UTF-8" standalone="yes"?>
<Relationships xmlns="http://schemas.openxmlformats.org/package/2006/relationships"><Relationship Id="rId9" Type="http://schemas.openxmlformats.org/officeDocument/2006/relationships/image" Target="../media/image6.jpeg"/><Relationship Id="rId8" Type="http://schemas.openxmlformats.org/officeDocument/2006/relationships/image" Target="../media/image104.png"/><Relationship Id="rId7" Type="http://schemas.openxmlformats.org/officeDocument/2006/relationships/image" Target="../media/image103.png"/><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 Id="rId3" Type="http://schemas.openxmlformats.org/officeDocument/2006/relationships/image" Target="../media/image99.png"/><Relationship Id="rId20" Type="http://schemas.openxmlformats.org/officeDocument/2006/relationships/slideLayout" Target="../slideLayouts/slideLayout1.xml"/><Relationship Id="rId2" Type="http://schemas.openxmlformats.org/officeDocument/2006/relationships/image" Target="../media/image98.png"/><Relationship Id="rId19" Type="http://schemas.openxmlformats.org/officeDocument/2006/relationships/image" Target="../media/image114.png"/><Relationship Id="rId18" Type="http://schemas.openxmlformats.org/officeDocument/2006/relationships/image" Target="../media/image113.png"/><Relationship Id="rId17" Type="http://schemas.openxmlformats.org/officeDocument/2006/relationships/image" Target="../media/image112.png"/><Relationship Id="rId16" Type="http://schemas.openxmlformats.org/officeDocument/2006/relationships/image" Target="../media/image111.png"/><Relationship Id="rId15" Type="http://schemas.openxmlformats.org/officeDocument/2006/relationships/image" Target="../media/image110.png"/><Relationship Id="rId14" Type="http://schemas.openxmlformats.org/officeDocument/2006/relationships/image" Target="../media/image109.png"/><Relationship Id="rId13" Type="http://schemas.openxmlformats.org/officeDocument/2006/relationships/image" Target="../media/image108.png"/><Relationship Id="rId12" Type="http://schemas.openxmlformats.org/officeDocument/2006/relationships/image" Target="../media/image107.png"/><Relationship Id="rId11" Type="http://schemas.openxmlformats.org/officeDocument/2006/relationships/image" Target="../media/image106.png"/><Relationship Id="rId10" Type="http://schemas.openxmlformats.org/officeDocument/2006/relationships/image" Target="../media/image105.png"/><Relationship Id="rId1" Type="http://schemas.openxmlformats.org/officeDocument/2006/relationships/image" Target="../media/image97.png"/></Relationships>
</file>

<file path=ppt/slides/_rels/slide86.xml.rels><?xml version="1.0" encoding="UTF-8" standalone="yes"?>
<Relationships xmlns="http://schemas.openxmlformats.org/package/2006/relationships"><Relationship Id="rId9" Type="http://schemas.openxmlformats.org/officeDocument/2006/relationships/image" Target="../media/image123.png"/><Relationship Id="rId8" Type="http://schemas.openxmlformats.org/officeDocument/2006/relationships/image" Target="../media/image122.png"/><Relationship Id="rId7" Type="http://schemas.openxmlformats.org/officeDocument/2006/relationships/image" Target="../media/image121.png"/><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 Id="rId3" Type="http://schemas.openxmlformats.org/officeDocument/2006/relationships/image" Target="../media/image117.png"/><Relationship Id="rId2" Type="http://schemas.openxmlformats.org/officeDocument/2006/relationships/image" Target="../media/image116.png"/><Relationship Id="rId18" Type="http://schemas.openxmlformats.org/officeDocument/2006/relationships/notesSlide" Target="../notesSlides/notesSlide32.xml"/><Relationship Id="rId17" Type="http://schemas.openxmlformats.org/officeDocument/2006/relationships/slideLayout" Target="../slideLayouts/slideLayout1.xml"/><Relationship Id="rId16" Type="http://schemas.openxmlformats.org/officeDocument/2006/relationships/image" Target="../media/image129.png"/><Relationship Id="rId15" Type="http://schemas.openxmlformats.org/officeDocument/2006/relationships/image" Target="../media/image128.png"/><Relationship Id="rId14" Type="http://schemas.openxmlformats.org/officeDocument/2006/relationships/image" Target="../media/image127.png"/><Relationship Id="rId13" Type="http://schemas.openxmlformats.org/officeDocument/2006/relationships/image" Target="../media/image126.png"/><Relationship Id="rId12" Type="http://schemas.openxmlformats.org/officeDocument/2006/relationships/image" Target="../media/image125.png"/><Relationship Id="rId11" Type="http://schemas.openxmlformats.org/officeDocument/2006/relationships/image" Target="../media/image6.jpeg"/><Relationship Id="rId10" Type="http://schemas.openxmlformats.org/officeDocument/2006/relationships/image" Target="../media/image124.png"/><Relationship Id="rId1" Type="http://schemas.openxmlformats.org/officeDocument/2006/relationships/image" Target="../media/image115.png"/></Relationships>
</file>

<file path=ppt/slides/_rels/slide87.xml.rels><?xml version="1.0" encoding="UTF-8" standalone="yes"?>
<Relationships xmlns="http://schemas.openxmlformats.org/package/2006/relationships"><Relationship Id="rId8" Type="http://schemas.openxmlformats.org/officeDocument/2006/relationships/notesSlide" Target="../notesSlides/notesSlide33.xml"/><Relationship Id="rId7" Type="http://schemas.openxmlformats.org/officeDocument/2006/relationships/slideLayout" Target="../slideLayouts/slideLayout1.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image" Target="../media/image7.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8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32.png"/><Relationship Id="rId3" Type="http://schemas.openxmlformats.org/officeDocument/2006/relationships/image" Target="../media/image6.jpeg"/><Relationship Id="rId2" Type="http://schemas.openxmlformats.org/officeDocument/2006/relationships/image" Target="../media/image131.png"/><Relationship Id="rId1" Type="http://schemas.openxmlformats.org/officeDocument/2006/relationships/image" Target="../media/image130.jpe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91.xml.rels><?xml version="1.0" encoding="UTF-8" standalone="yes"?>
<Relationships xmlns="http://schemas.openxmlformats.org/package/2006/relationships"><Relationship Id="rId8" Type="http://schemas.openxmlformats.org/officeDocument/2006/relationships/notesSlide" Target="../notesSlides/notesSlide34.xml"/><Relationship Id="rId7" Type="http://schemas.openxmlformats.org/officeDocument/2006/relationships/slideLayout" Target="../slideLayouts/slideLayout1.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image" Target="../media/image7.png"/></Relationships>
</file>

<file path=ppt/slides/_rels/slide92.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133.jpe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9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image" Target="../media/image7.png"/></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134.jpe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sp>
        <p:nvSpPr>
          <p:cNvPr id="1048829" name="rect"/>
          <p:cNvSpPr/>
          <p:nvPr/>
        </p:nvSpPr>
        <p:spPr>
          <a:xfrm>
            <a:off x="588263" y="408432"/>
            <a:ext cx="10460735" cy="608076"/>
          </a:xfrm>
          <a:prstGeom prst="rect">
            <a:avLst/>
          </a:prstGeom>
          <a:solidFill>
            <a:srgbClr val="D4E4F3">
              <a:alpha val="100000"/>
            </a:srgbClr>
          </a:solidFill>
          <a:ln cap="flat">
            <a:noFill/>
            <a:prstDash val="solid"/>
            <a:miter lim="0"/>
          </a:ln>
        </p:spPr>
        <p:txBody>
          <a:bodyPr rtlCol="0"/>
          <a:p>
            <a:pPr algn="ctr"/>
            <a:endParaRPr lang="zh-CN" altLang="en-US"/>
          </a:p>
        </p:txBody>
      </p:sp>
      <p:sp>
        <p:nvSpPr>
          <p:cNvPr id="1048830" name="textbox 4"/>
          <p:cNvSpPr/>
          <p:nvPr/>
        </p:nvSpPr>
        <p:spPr>
          <a:xfrm>
            <a:off x="2981325" y="3208020"/>
            <a:ext cx="6763385" cy="542925"/>
          </a:xfrm>
          <a:prstGeom prst="rect">
            <a:avLst/>
          </a:prstGeom>
        </p:spPr>
        <p:txBody>
          <a:bodyPr vert="horz" wrap="square" lIns="0" tIns="0" rIns="0" bIns="0"/>
          <a:p>
            <a:pPr algn="l" rtl="0" eaLnBrk="0">
              <a:lnSpc>
                <a:spcPct val="91000"/>
              </a:lnSpc>
            </a:pPr>
            <a:endParaRPr lang="en-US" altLang="en-US" sz="100" dirty="0"/>
          </a:p>
          <a:p>
            <a:pPr marL="12700" algn="l" rtl="0" eaLnBrk="0">
              <a:lnSpc>
                <a:spcPct val="94000"/>
              </a:lnSpc>
            </a:pPr>
            <a:r>
              <a:rPr sz="3600" kern="0" spc="-6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第</a:t>
            </a:r>
            <a:r>
              <a:rPr lang="zh-CN" sz="3600" kern="0" spc="-6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四</a:t>
            </a:r>
            <a:r>
              <a:rPr sz="3600" kern="0" spc="-6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讲</a:t>
            </a:r>
            <a:r>
              <a:rPr sz="3600" kern="0" spc="440" dirty="0">
                <a:solidFill>
                  <a:srgbClr val="000000">
                    <a:alpha val="100000"/>
                  </a:srgbClr>
                </a:solidFill>
                <a:latin typeface="仿宋" panose="02010609060101010101" charset="-122"/>
                <a:ea typeface="仿宋" panose="02010609060101010101" charset="-122"/>
                <a:cs typeface="仿宋" panose="02010609060101010101" charset="-122"/>
              </a:rPr>
              <a:t> </a:t>
            </a:r>
            <a:r>
              <a:rPr sz="3600" kern="0" spc="-6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分组密码算法</a:t>
            </a:r>
            <a:r>
              <a:rPr lang="en-US" sz="3600" kern="0" spc="-6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—AES</a:t>
            </a:r>
            <a:r>
              <a:rPr lang="zh-CN" altLang="en-US" sz="3600" kern="0" spc="-6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算法</a:t>
            </a:r>
            <a:endParaRPr lang="zh-CN" altLang="en-US" sz="3600" kern="0" spc="-6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endParaRPr>
          </a:p>
        </p:txBody>
      </p:sp>
      <p:sp>
        <p:nvSpPr>
          <p:cNvPr id="1048831" name="textbox 6"/>
          <p:cNvSpPr/>
          <p:nvPr/>
        </p:nvSpPr>
        <p:spPr>
          <a:xfrm>
            <a:off x="3075305" y="2057400"/>
            <a:ext cx="6092190" cy="660400"/>
          </a:xfrm>
          <a:prstGeom prst="rect">
            <a:avLst/>
          </a:prstGeom>
        </p:spPr>
        <p:txBody>
          <a:bodyPr vert="horz" wrap="square" lIns="0" tIns="0" rIns="0" bIns="0"/>
          <a:p>
            <a:pPr algn="l" rtl="0" eaLnBrk="0">
              <a:lnSpc>
                <a:spcPct val="69000"/>
              </a:lnSpc>
            </a:pPr>
            <a:endParaRPr lang="en-US" altLang="en-US" sz="100" dirty="0"/>
          </a:p>
          <a:p>
            <a:pPr marL="12700" algn="l" rtl="0" eaLnBrk="0">
              <a:lnSpc>
                <a:spcPct val="95000"/>
              </a:lnSpc>
            </a:pPr>
            <a:r>
              <a:rPr lang="zh-CN" altLang="en-US" sz="4400" dirty="0"/>
              <a:t>密码编程学与网络安全</a:t>
            </a:r>
            <a:endParaRPr lang="zh-CN" altLang="en-US" sz="4400" dirty="0"/>
          </a:p>
        </p:txBody>
      </p:sp>
      <p:sp>
        <p:nvSpPr>
          <p:cNvPr id="1048832" name="textbox 10"/>
          <p:cNvSpPr/>
          <p:nvPr/>
        </p:nvSpPr>
        <p:spPr>
          <a:xfrm>
            <a:off x="4731582" y="4947963"/>
            <a:ext cx="2748914" cy="369570"/>
          </a:xfrm>
          <a:prstGeom prst="rect">
            <a:avLst/>
          </a:prstGeom>
        </p:spPr>
        <p:txBody>
          <a:bodyPr vert="horz" wrap="square" lIns="0" tIns="0" rIns="0" bIns="0"/>
          <a:p>
            <a:pPr algn="l" rtl="0" eaLnBrk="0">
              <a:lnSpc>
                <a:spcPct val="83000"/>
              </a:lnSpc>
            </a:pPr>
            <a:endParaRPr lang="en-US" altLang="en-US" sz="100" dirty="0"/>
          </a:p>
          <a:p>
            <a:pPr marL="12700" algn="l" rtl="0" eaLnBrk="0">
              <a:lnSpc>
                <a:spcPct val="94000"/>
              </a:lnSpc>
            </a:pPr>
            <a:r>
              <a:rPr sz="2400" kern="0" spc="-20" dirty="0">
                <a:solidFill>
                  <a:srgbClr val="000000">
                    <a:alpha val="100000"/>
                  </a:srgbClr>
                </a:solidFill>
                <a:latin typeface="仿宋" panose="02010609060101010101" charset="-122"/>
                <a:ea typeface="仿宋" panose="02010609060101010101" charset="-122"/>
                <a:cs typeface="仿宋" panose="02010609060101010101" charset="-122"/>
              </a:rPr>
              <a:t>信息</a:t>
            </a:r>
            <a:r>
              <a:rPr lang="zh-CN" sz="2400" kern="0" spc="-20" dirty="0">
                <a:solidFill>
                  <a:srgbClr val="000000">
                    <a:alpha val="100000"/>
                  </a:srgbClr>
                </a:solidFill>
                <a:latin typeface="仿宋" panose="02010609060101010101" charset="-122"/>
                <a:ea typeface="仿宋" panose="02010609060101010101" charset="-122"/>
                <a:cs typeface="仿宋" panose="02010609060101010101" charset="-122"/>
              </a:rPr>
              <a:t>科学</a:t>
            </a:r>
            <a:r>
              <a:rPr sz="2400" kern="0" spc="-20" dirty="0">
                <a:solidFill>
                  <a:srgbClr val="000000">
                    <a:alpha val="100000"/>
                  </a:srgbClr>
                </a:solidFill>
                <a:latin typeface="仿宋" panose="02010609060101010101" charset="-122"/>
                <a:ea typeface="仿宋" panose="02010609060101010101" charset="-122"/>
                <a:cs typeface="仿宋" panose="02010609060101010101" charset="-122"/>
              </a:rPr>
              <a:t>与工程学院</a:t>
            </a:r>
            <a:endParaRPr lang="en-US" alt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grpSp>
        <p:nvGrpSpPr>
          <p:cNvPr id="98" name="group 2"/>
          <p:cNvGrpSpPr/>
          <p:nvPr/>
        </p:nvGrpSpPr>
        <p:grpSpPr>
          <a:xfrm rot="21600000">
            <a:off x="3878579" y="2758440"/>
            <a:ext cx="5507735" cy="813815"/>
            <a:chOff x="0" y="0"/>
            <a:chExt cx="5507735" cy="813815"/>
          </a:xfrm>
        </p:grpSpPr>
        <p:pic>
          <p:nvPicPr>
            <p:cNvPr id="2097173" name="picture 12"/>
            <p:cNvPicPr>
              <a:picLocks noChangeAspect="1"/>
            </p:cNvPicPr>
            <p:nvPr/>
          </p:nvPicPr>
          <p:blipFill>
            <a:blip r:embed="rId1"/>
            <a:stretch>
              <a:fillRect/>
            </a:stretch>
          </p:blipFill>
          <p:spPr>
            <a:xfrm rot="21600000">
              <a:off x="0" y="0"/>
              <a:ext cx="5507735" cy="813815"/>
            </a:xfrm>
            <a:prstGeom prst="rect">
              <a:avLst/>
            </a:prstGeom>
          </p:spPr>
        </p:pic>
        <p:sp>
          <p:nvSpPr>
            <p:cNvPr id="1048833" name="textbox 14"/>
            <p:cNvSpPr/>
            <p:nvPr/>
          </p:nvSpPr>
          <p:spPr>
            <a:xfrm>
              <a:off x="-12700" y="-12700"/>
              <a:ext cx="5533390" cy="879475"/>
            </a:xfrm>
            <a:prstGeom prst="rect">
              <a:avLst/>
            </a:prstGeom>
          </p:spPr>
          <p:txBody>
            <a:bodyPr vert="horz" wrap="square" lIns="0" tIns="0" rIns="0" bIns="0"/>
            <a:p>
              <a:pPr algn="l" rtl="0" eaLnBrk="0">
                <a:lnSpc>
                  <a:spcPct val="168000"/>
                </a:lnSpc>
              </a:pPr>
              <a:endParaRPr lang="en-US" altLang="en-US" sz="1000" dirty="0"/>
            </a:p>
            <a:p>
              <a:pPr algn="l" rtl="0" eaLnBrk="0">
                <a:lnSpc>
                  <a:spcPct val="7000"/>
                </a:lnSpc>
              </a:pPr>
              <a:endParaRPr lang="en-US" altLang="en-US" sz="100" dirty="0"/>
            </a:p>
            <a:p>
              <a:pPr marL="680720" algn="l" rtl="0" eaLnBrk="0">
                <a:lnSpc>
                  <a:spcPct val="94000"/>
                </a:lnSpc>
              </a:pPr>
              <a:r>
                <a:rPr lang="en-US" altLang="zh-CN" sz="2400" kern="0" spc="-2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AES</a:t>
              </a:r>
              <a:r>
                <a:rPr lang="zh-CN" altLang="en-US" sz="2400" kern="0" spc="-2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数学</a:t>
              </a:r>
              <a:r>
                <a:rPr lang="zh-CN" altLang="en-US" sz="2400" kern="0" spc="-2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基础</a:t>
              </a:r>
              <a:endParaRPr lang="zh-CN" altLang="en-US" sz="2400" kern="0" spc="-2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endParaRPr>
            </a:p>
          </p:txBody>
        </p:sp>
      </p:grpSp>
      <p:grpSp>
        <p:nvGrpSpPr>
          <p:cNvPr id="99" name="group 4"/>
          <p:cNvGrpSpPr/>
          <p:nvPr/>
        </p:nvGrpSpPr>
        <p:grpSpPr>
          <a:xfrm rot="21600000">
            <a:off x="3508248" y="1591055"/>
            <a:ext cx="5864351" cy="812291"/>
            <a:chOff x="0" y="0"/>
            <a:chExt cx="5864351" cy="812291"/>
          </a:xfrm>
        </p:grpSpPr>
        <p:pic>
          <p:nvPicPr>
            <p:cNvPr id="2097174" name="picture 16"/>
            <p:cNvPicPr>
              <a:picLocks noChangeAspect="1"/>
            </p:cNvPicPr>
            <p:nvPr/>
          </p:nvPicPr>
          <p:blipFill>
            <a:blip r:embed="rId2"/>
            <a:stretch>
              <a:fillRect/>
            </a:stretch>
          </p:blipFill>
          <p:spPr>
            <a:xfrm rot="21600000">
              <a:off x="0" y="0"/>
              <a:ext cx="5864351" cy="812291"/>
            </a:xfrm>
            <a:prstGeom prst="rect">
              <a:avLst/>
            </a:prstGeom>
          </p:spPr>
        </p:pic>
        <p:sp>
          <p:nvSpPr>
            <p:cNvPr id="1048834" name="textbox 18"/>
            <p:cNvSpPr/>
            <p:nvPr/>
          </p:nvSpPr>
          <p:spPr>
            <a:xfrm>
              <a:off x="-12700" y="-12700"/>
              <a:ext cx="5890259" cy="874394"/>
            </a:xfrm>
            <a:prstGeom prst="rect">
              <a:avLst/>
            </a:prstGeom>
          </p:spPr>
          <p:txBody>
            <a:bodyPr vert="horz" wrap="square" lIns="0" tIns="0" rIns="0" bIns="0"/>
            <a:p>
              <a:pPr algn="l" rtl="0" eaLnBrk="0">
                <a:lnSpc>
                  <a:spcPct val="167000"/>
                </a:lnSpc>
              </a:pPr>
              <a:endParaRPr lang="en-US" altLang="en-US" sz="1000" dirty="0"/>
            </a:p>
            <a:p>
              <a:pPr algn="l" rtl="0" eaLnBrk="0">
                <a:lnSpc>
                  <a:spcPct val="10000"/>
                </a:lnSpc>
              </a:pPr>
              <a:endParaRPr lang="en-US" altLang="en-US" sz="100" dirty="0"/>
            </a:p>
            <a:p>
              <a:pPr marL="678180" algn="l" rtl="0" eaLnBrk="0">
                <a:lnSpc>
                  <a:spcPct val="93000"/>
                </a:lnSpc>
              </a:pPr>
              <a:r>
                <a:rPr lang="en-US" altLang="zh-CN" sz="2400" kern="0" spc="-1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AES</a:t>
              </a:r>
              <a:r>
                <a:rPr lang="zh-CN" altLang="en-US" sz="2400" kern="0" spc="-1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算法</a:t>
              </a:r>
              <a:r>
                <a:rPr lang="zh-CN" altLang="en-US" sz="2400" kern="0" spc="-1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简介</a:t>
              </a:r>
              <a:endParaRPr lang="zh-CN" altLang="en-US" sz="2400" kern="0" spc="-1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endParaRPr>
            </a:p>
          </p:txBody>
        </p:sp>
      </p:grpSp>
      <p:grpSp>
        <p:nvGrpSpPr>
          <p:cNvPr id="100" name="group 6"/>
          <p:cNvGrpSpPr/>
          <p:nvPr/>
        </p:nvGrpSpPr>
        <p:grpSpPr>
          <a:xfrm rot="21600000">
            <a:off x="3831335" y="3849623"/>
            <a:ext cx="5541264" cy="812292"/>
            <a:chOff x="0" y="0"/>
            <a:chExt cx="5541264" cy="812292"/>
          </a:xfrm>
        </p:grpSpPr>
        <p:pic>
          <p:nvPicPr>
            <p:cNvPr id="2097175" name="picture 20"/>
            <p:cNvPicPr>
              <a:picLocks noChangeAspect="1"/>
            </p:cNvPicPr>
            <p:nvPr/>
          </p:nvPicPr>
          <p:blipFill>
            <a:blip r:embed="rId3"/>
            <a:stretch>
              <a:fillRect/>
            </a:stretch>
          </p:blipFill>
          <p:spPr>
            <a:xfrm rot="21600000">
              <a:off x="0" y="0"/>
              <a:ext cx="5541264" cy="812292"/>
            </a:xfrm>
            <a:prstGeom prst="rect">
              <a:avLst/>
            </a:prstGeom>
          </p:spPr>
        </p:pic>
        <p:sp>
          <p:nvSpPr>
            <p:cNvPr id="1048835" name="textbox 22"/>
            <p:cNvSpPr/>
            <p:nvPr/>
          </p:nvSpPr>
          <p:spPr>
            <a:xfrm>
              <a:off x="-12700" y="-12700"/>
              <a:ext cx="5567045" cy="876935"/>
            </a:xfrm>
            <a:prstGeom prst="rect">
              <a:avLst/>
            </a:prstGeom>
          </p:spPr>
          <p:txBody>
            <a:bodyPr vert="horz" wrap="square" lIns="0" tIns="0" rIns="0" bIns="0"/>
            <a:p>
              <a:pPr algn="l" rtl="0" eaLnBrk="0">
                <a:lnSpc>
                  <a:spcPct val="167000"/>
                </a:lnSpc>
              </a:pPr>
              <a:endParaRPr lang="en-US" altLang="en-US" sz="1000" dirty="0"/>
            </a:p>
            <a:p>
              <a:pPr algn="l" rtl="0" eaLnBrk="0">
                <a:lnSpc>
                  <a:spcPct val="7000"/>
                </a:lnSpc>
              </a:pPr>
              <a:endParaRPr lang="en-US" altLang="en-US" sz="100" dirty="0"/>
            </a:p>
            <a:p>
              <a:pPr marL="692785" algn="l" rtl="0" eaLnBrk="0">
                <a:lnSpc>
                  <a:spcPct val="94000"/>
                </a:lnSpc>
              </a:pPr>
              <a:r>
                <a:rPr lang="en-US" altLang="zh-CN" sz="2400" kern="0" spc="-3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AES</a:t>
              </a:r>
              <a:r>
                <a:rPr lang="zh-CN" altLang="en-US" sz="2400" kern="0" spc="-3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轮函数与密钥</a:t>
              </a:r>
              <a:r>
                <a:rPr lang="zh-CN" altLang="en-US" sz="2400" kern="0" spc="-3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编排</a:t>
              </a:r>
              <a:endParaRPr lang="zh-CN" altLang="en-US" sz="2400" kern="0" spc="-3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endParaRPr>
            </a:p>
          </p:txBody>
        </p:sp>
      </p:grpSp>
      <p:grpSp>
        <p:nvGrpSpPr>
          <p:cNvPr id="101" name="group 8"/>
          <p:cNvGrpSpPr/>
          <p:nvPr/>
        </p:nvGrpSpPr>
        <p:grpSpPr>
          <a:xfrm rot="21600000">
            <a:off x="3508248" y="4972811"/>
            <a:ext cx="5864351" cy="812291"/>
            <a:chOff x="0" y="0"/>
            <a:chExt cx="5864351" cy="812291"/>
          </a:xfrm>
        </p:grpSpPr>
        <p:pic>
          <p:nvPicPr>
            <p:cNvPr id="2097176" name="picture 24"/>
            <p:cNvPicPr>
              <a:picLocks noChangeAspect="1"/>
            </p:cNvPicPr>
            <p:nvPr/>
          </p:nvPicPr>
          <p:blipFill>
            <a:blip r:embed="rId4"/>
            <a:stretch>
              <a:fillRect/>
            </a:stretch>
          </p:blipFill>
          <p:spPr>
            <a:xfrm rot="21600000">
              <a:off x="0" y="0"/>
              <a:ext cx="5864351" cy="812291"/>
            </a:xfrm>
            <a:prstGeom prst="rect">
              <a:avLst/>
            </a:prstGeom>
          </p:spPr>
        </p:pic>
        <p:sp>
          <p:nvSpPr>
            <p:cNvPr id="1048836" name="textbox 26"/>
            <p:cNvSpPr/>
            <p:nvPr/>
          </p:nvSpPr>
          <p:spPr>
            <a:xfrm>
              <a:off x="-12700" y="-12700"/>
              <a:ext cx="5890259" cy="874394"/>
            </a:xfrm>
            <a:prstGeom prst="rect">
              <a:avLst/>
            </a:prstGeom>
          </p:spPr>
          <p:txBody>
            <a:bodyPr vert="horz" wrap="square" lIns="0" tIns="0" rIns="0" bIns="0"/>
            <a:p>
              <a:pPr algn="l" rtl="0" eaLnBrk="0">
                <a:lnSpc>
                  <a:spcPct val="168000"/>
                </a:lnSpc>
              </a:pPr>
              <a:endParaRPr lang="en-US" altLang="en-US" sz="1000" dirty="0"/>
            </a:p>
            <a:p>
              <a:pPr marL="694055" algn="l" rtl="0" eaLnBrk="0">
                <a:lnSpc>
                  <a:spcPct val="93000"/>
                </a:lnSpc>
                <a:spcBef>
                  <a:spcPts val="0"/>
                </a:spcBef>
              </a:pPr>
              <a:r>
                <a:rPr lang="zh-CN" sz="2400" kern="0" spc="-2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分组密码工作</a:t>
              </a:r>
              <a:r>
                <a:rPr lang="zh-CN" sz="2400" kern="0" spc="-2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模式</a:t>
              </a:r>
              <a:endParaRPr lang="zh-CN" sz="2400" kern="0" spc="-2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endParaRPr>
            </a:p>
          </p:txBody>
        </p:sp>
      </p:grpSp>
      <p:grpSp>
        <p:nvGrpSpPr>
          <p:cNvPr id="102" name="group 10"/>
          <p:cNvGrpSpPr/>
          <p:nvPr/>
        </p:nvGrpSpPr>
        <p:grpSpPr>
          <a:xfrm rot="21600000">
            <a:off x="2564257" y="1351661"/>
            <a:ext cx="1824862" cy="4514214"/>
            <a:chOff x="0" y="0"/>
            <a:chExt cx="1824862" cy="4514214"/>
          </a:xfrm>
        </p:grpSpPr>
        <p:sp>
          <p:nvSpPr>
            <p:cNvPr id="1048837" name="path"/>
            <p:cNvSpPr/>
            <p:nvPr/>
          </p:nvSpPr>
          <p:spPr>
            <a:xfrm>
              <a:off x="0" y="0"/>
              <a:ext cx="1283479" cy="4498352"/>
            </a:xfrm>
            <a:custGeom>
              <a:avLst/>
              <a:gdLst/>
              <a:ahLst/>
              <a:cxnLst/>
              <a:rect l="0" t="0" r="0" b="0"/>
              <a:pathLst>
                <a:path w="2021" h="7084">
                  <a:moveTo>
                    <a:pt x="320" y="4"/>
                  </a:moveTo>
                  <a:cubicBezTo>
                    <a:pt x="2213" y="1448"/>
                    <a:pt x="2577" y="4153"/>
                    <a:pt x="1134" y="6046"/>
                  </a:cubicBezTo>
                  <a:cubicBezTo>
                    <a:pt x="822" y="6455"/>
                    <a:pt x="439" y="6805"/>
                    <a:pt x="4" y="7079"/>
                  </a:cubicBezTo>
                  <a:lnTo>
                    <a:pt x="4" y="7079"/>
                  </a:lnTo>
                  <a:cubicBezTo>
                    <a:pt x="2018" y="5810"/>
                    <a:pt x="2622" y="3148"/>
                    <a:pt x="1353" y="1134"/>
                  </a:cubicBezTo>
                  <a:cubicBezTo>
                    <a:pt x="1079" y="699"/>
                    <a:pt x="729" y="316"/>
                    <a:pt x="320" y="4"/>
                  </a:cubicBezTo>
                </a:path>
              </a:pathLst>
            </a:custGeom>
            <a:noFill/>
            <a:ln w="6096" cap="flat">
              <a:solidFill>
                <a:srgbClr val="477BA9">
                  <a:alpha val="100000"/>
                </a:srgbClr>
              </a:solidFill>
              <a:prstDash val="solid"/>
              <a:miter lim="1000000"/>
            </a:ln>
          </p:spPr>
          <p:txBody>
            <a:bodyPr rtlCol="0"/>
            <a:p>
              <a:pPr algn="ctr"/>
              <a:endParaRPr lang="zh-CN" altLang="en-US"/>
            </a:p>
          </p:txBody>
        </p:sp>
        <p:sp>
          <p:nvSpPr>
            <p:cNvPr id="1048838" name="path"/>
            <p:cNvSpPr/>
            <p:nvPr/>
          </p:nvSpPr>
          <p:spPr>
            <a:xfrm>
              <a:off x="436498" y="137286"/>
              <a:ext cx="1014984" cy="1016508"/>
            </a:xfrm>
            <a:custGeom>
              <a:avLst/>
              <a:gdLst/>
              <a:ahLst/>
              <a:cxnLst/>
              <a:rect l="0" t="0" r="0" b="0"/>
              <a:pathLst>
                <a:path w="1598" h="1600">
                  <a:moveTo>
                    <a:pt x="0" y="800"/>
                  </a:moveTo>
                  <a:cubicBezTo>
                    <a:pt x="0" y="358"/>
                    <a:pt x="357" y="0"/>
                    <a:pt x="799" y="0"/>
                  </a:cubicBezTo>
                  <a:cubicBezTo>
                    <a:pt x="1240" y="0"/>
                    <a:pt x="1598" y="358"/>
                    <a:pt x="1598" y="800"/>
                  </a:cubicBezTo>
                  <a:cubicBezTo>
                    <a:pt x="1598" y="1242"/>
                    <a:pt x="1240" y="1600"/>
                    <a:pt x="799" y="1600"/>
                  </a:cubicBezTo>
                  <a:cubicBezTo>
                    <a:pt x="357"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8839" name="path"/>
            <p:cNvSpPr/>
            <p:nvPr/>
          </p:nvSpPr>
          <p:spPr>
            <a:xfrm>
              <a:off x="433450" y="134238"/>
              <a:ext cx="1021080" cy="1022603"/>
            </a:xfrm>
            <a:custGeom>
              <a:avLst/>
              <a:gdLst/>
              <a:ahLst/>
              <a:cxnLst/>
              <a:rect l="0" t="0" r="0" b="0"/>
              <a:pathLst>
                <a:path w="1608" h="1610">
                  <a:moveTo>
                    <a:pt x="4" y="805"/>
                  </a:moveTo>
                  <a:cubicBezTo>
                    <a:pt x="4" y="363"/>
                    <a:pt x="362" y="4"/>
                    <a:pt x="804" y="4"/>
                  </a:cubicBezTo>
                  <a:cubicBezTo>
                    <a:pt x="1245" y="4"/>
                    <a:pt x="1603" y="363"/>
                    <a:pt x="1603" y="805"/>
                  </a:cubicBezTo>
                  <a:cubicBezTo>
                    <a:pt x="1603" y="1247"/>
                    <a:pt x="1245" y="1605"/>
                    <a:pt x="804" y="1605"/>
                  </a:cubicBezTo>
                  <a:cubicBezTo>
                    <a:pt x="362"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8840" name="path"/>
            <p:cNvSpPr/>
            <p:nvPr/>
          </p:nvSpPr>
          <p:spPr>
            <a:xfrm>
              <a:off x="758063" y="2427858"/>
              <a:ext cx="1016508"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8841" name="path"/>
            <p:cNvSpPr/>
            <p:nvPr/>
          </p:nvSpPr>
          <p:spPr>
            <a:xfrm>
              <a:off x="755015" y="2424810"/>
              <a:ext cx="1022603" cy="1022604"/>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8842" name="path"/>
            <p:cNvSpPr/>
            <p:nvPr/>
          </p:nvSpPr>
          <p:spPr>
            <a:xfrm>
              <a:off x="805306" y="1306194"/>
              <a:ext cx="1016508" cy="1014983"/>
            </a:xfrm>
            <a:custGeom>
              <a:avLst/>
              <a:gdLst/>
              <a:ahLst/>
              <a:cxnLst/>
              <a:rect l="0" t="0" r="0" b="0"/>
              <a:pathLst>
                <a:path w="1600" h="1598">
                  <a:moveTo>
                    <a:pt x="0" y="799"/>
                  </a:moveTo>
                  <a:cubicBezTo>
                    <a:pt x="0" y="357"/>
                    <a:pt x="358" y="0"/>
                    <a:pt x="800" y="0"/>
                  </a:cubicBezTo>
                  <a:cubicBezTo>
                    <a:pt x="1242" y="0"/>
                    <a:pt x="1600" y="357"/>
                    <a:pt x="1600" y="799"/>
                  </a:cubicBezTo>
                  <a:cubicBezTo>
                    <a:pt x="1600" y="1240"/>
                    <a:pt x="1242" y="1598"/>
                    <a:pt x="800" y="1598"/>
                  </a:cubicBezTo>
                  <a:cubicBezTo>
                    <a:pt x="358" y="1598"/>
                    <a:pt x="0" y="1240"/>
                    <a:pt x="0" y="799"/>
                  </a:cubicBezTo>
                </a:path>
              </a:pathLst>
            </a:custGeom>
            <a:solidFill>
              <a:srgbClr val="FFFFFF">
                <a:alpha val="100000"/>
              </a:srgbClr>
            </a:solidFill>
            <a:ln cap="flat">
              <a:noFill/>
              <a:prstDash val="solid"/>
              <a:miter lim="0"/>
            </a:ln>
          </p:spPr>
          <p:txBody>
            <a:bodyPr rtlCol="0"/>
            <a:p>
              <a:pPr algn="ctr"/>
              <a:endParaRPr lang="zh-CN" altLang="en-US"/>
            </a:p>
          </p:txBody>
        </p:sp>
        <p:sp>
          <p:nvSpPr>
            <p:cNvPr id="1048843" name="path"/>
            <p:cNvSpPr/>
            <p:nvPr/>
          </p:nvSpPr>
          <p:spPr>
            <a:xfrm>
              <a:off x="802258" y="1303146"/>
              <a:ext cx="1022603" cy="1021079"/>
            </a:xfrm>
            <a:custGeom>
              <a:avLst/>
              <a:gdLst/>
              <a:ahLst/>
              <a:cxnLst/>
              <a:rect l="0" t="0" r="0" b="0"/>
              <a:pathLst>
                <a:path w="1610" h="1607">
                  <a:moveTo>
                    <a:pt x="4" y="803"/>
                  </a:moveTo>
                  <a:cubicBezTo>
                    <a:pt x="4" y="362"/>
                    <a:pt x="363" y="4"/>
                    <a:pt x="805" y="4"/>
                  </a:cubicBezTo>
                  <a:cubicBezTo>
                    <a:pt x="1247" y="4"/>
                    <a:pt x="1605" y="362"/>
                    <a:pt x="1605" y="803"/>
                  </a:cubicBezTo>
                  <a:cubicBezTo>
                    <a:pt x="1605" y="1245"/>
                    <a:pt x="1247" y="1603"/>
                    <a:pt x="805" y="1603"/>
                  </a:cubicBezTo>
                  <a:cubicBezTo>
                    <a:pt x="363" y="1603"/>
                    <a:pt x="4" y="1245"/>
                    <a:pt x="4" y="803"/>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8844" name="path"/>
            <p:cNvSpPr/>
            <p:nvPr/>
          </p:nvSpPr>
          <p:spPr>
            <a:xfrm>
              <a:off x="250570" y="3494658"/>
              <a:ext cx="1016507"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8845" name="path"/>
            <p:cNvSpPr/>
            <p:nvPr/>
          </p:nvSpPr>
          <p:spPr>
            <a:xfrm>
              <a:off x="247522" y="3491610"/>
              <a:ext cx="1022603"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8846" name="textbox 46"/>
          <p:cNvSpPr/>
          <p:nvPr/>
        </p:nvSpPr>
        <p:spPr>
          <a:xfrm>
            <a:off x="2745896" y="488157"/>
            <a:ext cx="4671059" cy="485775"/>
          </a:xfrm>
          <a:prstGeom prst="rect">
            <a:avLst/>
          </a:prstGeom>
        </p:spPr>
        <p:txBody>
          <a:bodyPr vert="horz" wrap="square" lIns="0" tIns="0" rIns="0" bIns="0"/>
          <a:p>
            <a:pPr algn="l" rtl="0" eaLnBrk="0">
              <a:lnSpc>
                <a:spcPct val="94000"/>
              </a:lnSpc>
            </a:pPr>
            <a:endParaRPr lang="en-US" altLang="en-US" sz="100" dirty="0"/>
          </a:p>
          <a:p>
            <a:pPr marL="12700" algn="l" rtl="0" eaLnBrk="0">
              <a:lnSpc>
                <a:spcPct val="94000"/>
              </a:lnSpc>
            </a:pPr>
            <a:r>
              <a:rPr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第</a:t>
            </a:r>
            <a:r>
              <a:rPr lang="zh-CN"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四</a:t>
            </a:r>
            <a:r>
              <a:rPr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讲</a:t>
            </a:r>
            <a:r>
              <a:rPr sz="3200" kern="0" spc="42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分组密码算法</a:t>
            </a:r>
            <a:endParaRPr lang="zh-CN" sz="3200" kern="0" spc="420" dirty="0">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048847"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177" name="picture 52"/>
          <p:cNvPicPr>
            <a:picLocks noChangeAspect="1"/>
          </p:cNvPicPr>
          <p:nvPr/>
        </p:nvPicPr>
        <p:blipFill>
          <a:blip r:embed="rId5"/>
          <a:stretch>
            <a:fillRect/>
          </a:stretch>
        </p:blipFill>
        <p:spPr>
          <a:xfrm rot="21600000">
            <a:off x="824483" y="408431"/>
            <a:ext cx="419100" cy="655320"/>
          </a:xfrm>
          <a:prstGeom prst="rect">
            <a:avLst/>
          </a:prstGeom>
        </p:spPr>
      </p:pic>
      <p:sp>
        <p:nvSpPr>
          <p:cNvPr id="1048848"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3607899" y="1997482"/>
            <a:ext cx="5026659"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1125855" algn="l" rtl="0" eaLnBrk="0">
              <a:lnSpc>
                <a:spcPct val="96000"/>
              </a:lnSpc>
            </a:pPr>
            <a:endParaRPr sz="4300" dirty="0">
              <a:latin typeface="仿宋" panose="02010609060101010101" charset="-122"/>
              <a:ea typeface="仿宋" panose="02010609060101010101" charset="-122"/>
              <a:cs typeface="仿宋" panose="02010609060101010101" charset="-122"/>
            </a:endParaRPr>
          </a:p>
          <a:p>
            <a:pPr algn="l" rtl="0" eaLnBrk="0">
              <a:lnSpc>
                <a:spcPct val="14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5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4000"/>
              </a:lnSpc>
              <a:spcBef>
                <a:spcPts val="1090"/>
              </a:spcBef>
            </a:pPr>
            <a:r>
              <a:rPr sz="3600" b="1" kern="0" spc="-30" dirty="0">
                <a:solidFill>
                  <a:srgbClr val="000000">
                    <a:alpha val="100000"/>
                  </a:srgbClr>
                </a:solidFill>
                <a:latin typeface="仿宋" panose="02010609060101010101" charset="-122"/>
                <a:ea typeface="仿宋" panose="02010609060101010101" charset="-122"/>
                <a:cs typeface="仿宋" panose="02010609060101010101" charset="-122"/>
              </a:rPr>
              <a:t>AES算</a:t>
            </a:r>
            <a:r>
              <a:rPr sz="3600" b="1" kern="0" spc="-40" dirty="0">
                <a:solidFill>
                  <a:srgbClr val="000000">
                    <a:alpha val="100000"/>
                  </a:srgbClr>
                </a:solidFill>
                <a:latin typeface="仿宋" panose="02010609060101010101" charset="-122"/>
                <a:ea typeface="仿宋" panose="02010609060101010101" charset="-122"/>
                <a:cs typeface="仿宋" panose="02010609060101010101" charset="-122"/>
              </a:rPr>
              <a:t>法简介</a:t>
            </a:r>
            <a:endParaRPr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1137920"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1600000">
            <a:off x="3557015" y="2057400"/>
            <a:ext cx="5708903" cy="813816"/>
            <a:chOff x="0" y="0"/>
            <a:chExt cx="5708903" cy="813816"/>
          </a:xfrm>
        </p:grpSpPr>
        <p:pic>
          <p:nvPicPr>
            <p:cNvPr id="10" name="picture 10"/>
            <p:cNvPicPr>
              <a:picLocks noChangeAspect="1"/>
            </p:cNvPicPr>
            <p:nvPr/>
          </p:nvPicPr>
          <p:blipFill>
            <a:blip r:embed="rId1"/>
            <a:stretch>
              <a:fillRect/>
            </a:stretch>
          </p:blipFill>
          <p:spPr>
            <a:xfrm rot="21600000">
              <a:off x="0" y="0"/>
              <a:ext cx="5708903" cy="813816"/>
            </a:xfrm>
            <a:prstGeom prst="rect">
              <a:avLst/>
            </a:prstGeom>
          </p:spPr>
        </p:pic>
        <p:sp>
          <p:nvSpPr>
            <p:cNvPr id="12" name="textbox 12"/>
            <p:cNvSpPr/>
            <p:nvPr/>
          </p:nvSpPr>
          <p:spPr>
            <a:xfrm>
              <a:off x="-12700" y="-12700"/>
              <a:ext cx="5734684" cy="87947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60400" algn="l" rtl="0" eaLnBrk="0">
                <a:lnSpc>
                  <a:spcPct val="94000"/>
                </a:lnSpc>
                <a:spcBef>
                  <a:spcPts val="5"/>
                </a:spcBef>
              </a:pPr>
              <a:r>
                <a:rPr sz="2400" b="1" kern="0" spc="0" dirty="0">
                  <a:solidFill>
                    <a:srgbClr val="FFFFFF">
                      <a:alpha val="100000"/>
                    </a:srgbClr>
                  </a:solidFill>
                  <a:latin typeface="Times New Roman" panose="02020603050405020304"/>
                  <a:ea typeface="Times New Roman" panose="02020603050405020304"/>
                  <a:cs typeface="Times New Roman" panose="02020603050405020304"/>
                </a:rPr>
                <a:t>AES</a:t>
              </a:r>
              <a:r>
                <a:rPr sz="2400" b="1" kern="0" spc="0" dirty="0">
                  <a:solidFill>
                    <a:srgbClr val="FFFFFF">
                      <a:alpha val="100000"/>
                    </a:srgbClr>
                  </a:solidFill>
                  <a:latin typeface="仿宋" panose="02010609060101010101" charset="-122"/>
                  <a:ea typeface="仿宋" panose="02010609060101010101" charset="-122"/>
                  <a:cs typeface="仿宋" panose="02010609060101010101" charset="-122"/>
                </a:rPr>
                <a:t>提出的背景</a:t>
              </a:r>
              <a:endParaRPr sz="2400" dirty="0">
                <a:latin typeface="仿宋" panose="02010609060101010101" charset="-122"/>
                <a:ea typeface="仿宋" panose="02010609060101010101" charset="-122"/>
                <a:cs typeface="仿宋" panose="02010609060101010101" charset="-122"/>
              </a:endParaRPr>
            </a:p>
          </p:txBody>
        </p:sp>
      </p:grpSp>
      <p:grpSp>
        <p:nvGrpSpPr>
          <p:cNvPr id="4" name="group 4"/>
          <p:cNvGrpSpPr/>
          <p:nvPr/>
        </p:nvGrpSpPr>
        <p:grpSpPr>
          <a:xfrm rot="21600000">
            <a:off x="3709415" y="3886200"/>
            <a:ext cx="5507736" cy="813816"/>
            <a:chOff x="0" y="0"/>
            <a:chExt cx="5507736" cy="813816"/>
          </a:xfrm>
        </p:grpSpPr>
        <p:pic>
          <p:nvPicPr>
            <p:cNvPr id="14" name="picture 14"/>
            <p:cNvPicPr>
              <a:picLocks noChangeAspect="1"/>
            </p:cNvPicPr>
            <p:nvPr/>
          </p:nvPicPr>
          <p:blipFill>
            <a:blip r:embed="rId2"/>
            <a:stretch>
              <a:fillRect/>
            </a:stretch>
          </p:blipFill>
          <p:spPr>
            <a:xfrm rot="21600000">
              <a:off x="0" y="0"/>
              <a:ext cx="5507736" cy="813816"/>
            </a:xfrm>
            <a:prstGeom prst="rect">
              <a:avLst/>
            </a:prstGeom>
          </p:spPr>
        </p:pic>
        <p:sp>
          <p:nvSpPr>
            <p:cNvPr id="16" name="textbox 16"/>
            <p:cNvSpPr/>
            <p:nvPr/>
          </p:nvSpPr>
          <p:spPr>
            <a:xfrm>
              <a:off x="-12700" y="-12700"/>
              <a:ext cx="5533390" cy="876935"/>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marL="660400" algn="l" rtl="0" eaLnBrk="0">
                <a:lnSpc>
                  <a:spcPct val="94000"/>
                </a:lnSpc>
                <a:spcBef>
                  <a:spcPts val="5"/>
                </a:spcBef>
              </a:pPr>
              <a:r>
                <a:rPr sz="2400" b="1" kern="0" spc="0" dirty="0">
                  <a:solidFill>
                    <a:srgbClr val="FFFFFF">
                      <a:alpha val="100000"/>
                    </a:srgbClr>
                  </a:solidFill>
                  <a:latin typeface="Times New Roman" panose="02020603050405020304"/>
                  <a:ea typeface="Times New Roman" panose="02020603050405020304"/>
                  <a:cs typeface="Times New Roman" panose="02020603050405020304"/>
                </a:rPr>
                <a:t>AES</a:t>
              </a:r>
              <a:r>
                <a:rPr sz="2400" b="1" kern="0" spc="0" dirty="0">
                  <a:solidFill>
                    <a:srgbClr val="FFFFFF">
                      <a:alpha val="100000"/>
                    </a:srgbClr>
                  </a:solidFill>
                  <a:latin typeface="仿宋" panose="02010609060101010101" charset="-122"/>
                  <a:ea typeface="仿宋" panose="02010609060101010101" charset="-122"/>
                  <a:cs typeface="仿宋" panose="02010609060101010101" charset="-122"/>
                </a:rPr>
                <a:t>算法框架和参数说明</a:t>
              </a:r>
              <a:endParaRPr sz="2400" dirty="0">
                <a:latin typeface="仿宋" panose="02010609060101010101" charset="-122"/>
                <a:ea typeface="仿宋" panose="02010609060101010101" charset="-122"/>
                <a:cs typeface="仿宋" panose="02010609060101010101" charset="-122"/>
              </a:endParaRPr>
            </a:p>
          </p:txBody>
        </p:sp>
      </p:grpSp>
      <p:grpSp>
        <p:nvGrpSpPr>
          <p:cNvPr id="6" name="group 6"/>
          <p:cNvGrpSpPr/>
          <p:nvPr/>
        </p:nvGrpSpPr>
        <p:grpSpPr>
          <a:xfrm rot="21600000">
            <a:off x="2969132" y="1523492"/>
            <a:ext cx="1249298" cy="3784726"/>
            <a:chOff x="0" y="0"/>
            <a:chExt cx="1249298" cy="3784726"/>
          </a:xfrm>
        </p:grpSpPr>
        <p:sp>
          <p:nvSpPr>
            <p:cNvPr id="18" name="path 18"/>
            <p:cNvSpPr/>
            <p:nvPr/>
          </p:nvSpPr>
          <p:spPr>
            <a:xfrm>
              <a:off x="0" y="0"/>
              <a:ext cx="872886" cy="3784726"/>
            </a:xfrm>
            <a:custGeom>
              <a:avLst/>
              <a:gdLst/>
              <a:ahLst/>
              <a:cxnLst/>
              <a:rect l="0" t="0" r="0" b="0"/>
              <a:pathLst>
                <a:path w="1374" h="5960">
                  <a:moveTo>
                    <a:pt x="4" y="4"/>
                  </a:moveTo>
                  <a:cubicBezTo>
                    <a:pt x="1692" y="1576"/>
                    <a:pt x="1843" y="4199"/>
                    <a:pt x="347" y="5955"/>
                  </a:cubicBezTo>
                  <a:lnTo>
                    <a:pt x="347" y="5955"/>
                  </a:lnTo>
                  <a:cubicBezTo>
                    <a:pt x="1843" y="4199"/>
                    <a:pt x="1692" y="1576"/>
                    <a:pt x="4" y="4"/>
                  </a:cubicBezTo>
                </a:path>
              </a:pathLst>
            </a:custGeom>
            <a:noFill/>
            <a:ln w="6096" cap="flat">
              <a:solidFill>
                <a:srgbClr val="477BA9"/>
              </a:solidFill>
              <a:prstDash val="solid"/>
              <a:miter lim="1000000"/>
            </a:ln>
          </p:spPr>
          <p:txBody>
            <a:bodyPr rtlCol="0"/>
            <a:lstStyle/>
            <a:p>
              <a:pPr algn="ctr"/>
              <a:endParaRPr lang="zh-CN" altLang="en-US"/>
            </a:p>
          </p:txBody>
        </p:sp>
        <p:sp>
          <p:nvSpPr>
            <p:cNvPr id="20" name="path 20"/>
            <p:cNvSpPr/>
            <p:nvPr/>
          </p:nvSpPr>
          <p:spPr>
            <a:xfrm>
              <a:off x="78867" y="4333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2" name="path 22"/>
            <p:cNvSpPr/>
            <p:nvPr/>
          </p:nvSpPr>
          <p:spPr>
            <a:xfrm>
              <a:off x="75819" y="430276"/>
              <a:ext cx="1021079" cy="1021079"/>
            </a:xfrm>
            <a:custGeom>
              <a:avLst/>
              <a:gdLst/>
              <a:ahLst/>
              <a:cxnLst/>
              <a:rect l="0" t="0" r="0" b="0"/>
              <a:pathLst>
                <a:path w="1607" h="1607">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24" name="path 24"/>
            <p:cNvSpPr/>
            <p:nvPr/>
          </p:nvSpPr>
          <p:spPr>
            <a:xfrm>
              <a:off x="231267" y="22621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6" name="path 26"/>
            <p:cNvSpPr/>
            <p:nvPr/>
          </p:nvSpPr>
          <p:spPr>
            <a:xfrm>
              <a:off x="228219" y="2259075"/>
              <a:ext cx="1021079" cy="1021080"/>
            </a:xfrm>
            <a:custGeom>
              <a:avLst/>
              <a:gdLst/>
              <a:ahLst/>
              <a:cxnLst/>
              <a:rect l="0" t="0" r="0" b="0"/>
              <a:pathLst>
                <a:path w="1607" h="1608">
                  <a:moveTo>
                    <a:pt x="4" y="804"/>
                  </a:moveTo>
                  <a:cubicBezTo>
                    <a:pt x="4" y="362"/>
                    <a:pt x="362" y="4"/>
                    <a:pt x="803" y="4"/>
                  </a:cubicBezTo>
                  <a:cubicBezTo>
                    <a:pt x="1245" y="4"/>
                    <a:pt x="1603" y="362"/>
                    <a:pt x="1603" y="804"/>
                  </a:cubicBezTo>
                  <a:cubicBezTo>
                    <a:pt x="1603" y="1245"/>
                    <a:pt x="1245" y="1603"/>
                    <a:pt x="803" y="1603"/>
                  </a:cubicBezTo>
                  <a:cubicBezTo>
                    <a:pt x="362" y="1603"/>
                    <a:pt x="4" y="1245"/>
                    <a:pt x="4" y="804"/>
                  </a:cubicBezTo>
                </a:path>
              </a:pathLst>
            </a:custGeom>
            <a:noFill/>
            <a:ln w="6096" cap="flat">
              <a:solidFill>
                <a:srgbClr val="5B9BD5"/>
              </a:solidFill>
              <a:prstDash val="solid"/>
              <a:miter lim="1000000"/>
            </a:ln>
          </p:spPr>
          <p:txBody>
            <a:bodyPr rtlCol="0"/>
            <a:lstStyle/>
            <a:p>
              <a:pPr algn="ctr"/>
              <a:endParaRPr lang="zh-CN" altLang="en-US"/>
            </a:p>
          </p:txBody>
        </p:sp>
      </p:grpSp>
      <p:sp>
        <p:nvSpPr>
          <p:cNvPr id="28" name="textbox 28"/>
          <p:cNvSpPr/>
          <p:nvPr/>
        </p:nvSpPr>
        <p:spPr>
          <a:xfrm>
            <a:off x="2745984" y="466861"/>
            <a:ext cx="4490720" cy="47942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kern="0" spc="0" dirty="0">
                <a:solidFill>
                  <a:srgbClr val="1F4E79">
                    <a:alpha val="100000"/>
                  </a:srgbClr>
                </a:solidFill>
                <a:latin typeface="Times New Roman" panose="02020603050405020304"/>
                <a:ea typeface="Times New Roman" panose="02020603050405020304"/>
                <a:cs typeface="Times New Roman" panose="02020603050405020304"/>
              </a:rPr>
              <a:t>AES</a:t>
            </a:r>
            <a:r>
              <a:rPr sz="3100" kern="0" spc="150" dirty="0">
                <a:solidFill>
                  <a:srgbClr val="1F4E79">
                    <a:alpha val="100000"/>
                  </a:srgbClr>
                </a:solidFill>
                <a:latin typeface="仿宋" panose="02010609060101010101" charset="-122"/>
                <a:ea typeface="仿宋" panose="02010609060101010101" charset="-122"/>
                <a:cs typeface="仿宋" panose="02010609060101010101" charset="-122"/>
              </a:rPr>
              <a:t>算法简介</a:t>
            </a:r>
            <a:endParaRPr sz="3100" dirty="0">
              <a:latin typeface="仿宋" panose="02010609060101010101" charset="-122"/>
              <a:ea typeface="仿宋" panose="02010609060101010101" charset="-122"/>
              <a:cs typeface="仿宋" panose="02010609060101010101" charset="-122"/>
            </a:endParaRPr>
          </a:p>
        </p:txBody>
      </p:sp>
      <p:sp>
        <p:nvSpPr>
          <p:cNvPr id="32" name="path 32"/>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34" name="picture 34"/>
          <p:cNvPicPr>
            <a:picLocks noChangeAspect="1"/>
          </p:cNvPicPr>
          <p:nvPr/>
        </p:nvPicPr>
        <p:blipFill>
          <a:blip r:embed="rId3"/>
          <a:stretch>
            <a:fillRect/>
          </a:stretch>
        </p:blipFill>
        <p:spPr>
          <a:xfrm rot="21600000">
            <a:off x="822960" y="408431"/>
            <a:ext cx="420623" cy="655320"/>
          </a:xfrm>
          <a:prstGeom prst="rect">
            <a:avLst/>
          </a:prstGeom>
        </p:spPr>
      </p:pic>
      <p:sp>
        <p:nvSpPr>
          <p:cNvPr id="36" name="path 3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8"/>
          <p:cNvSpPr/>
          <p:nvPr/>
        </p:nvSpPr>
        <p:spPr>
          <a:xfrm>
            <a:off x="921835" y="1576561"/>
            <a:ext cx="10341609" cy="3190875"/>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562610" indent="-550545" algn="l" rtl="0" eaLnBrk="0">
              <a:lnSpc>
                <a:spcPct val="107000"/>
              </a:lnSpc>
            </a:pPr>
            <a:r>
              <a:rPr sz="2800" kern="0" spc="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DES</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算法由于其密钥较短，难以抵抗现有的攻击，因此不再作</a:t>
            </a:r>
            <a:r>
              <a:rPr sz="2800" kern="0" spc="4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60" dirty="0">
                <a:solidFill>
                  <a:srgbClr val="000000">
                    <a:alpha val="100000"/>
                  </a:srgbClr>
                </a:solidFill>
                <a:latin typeface="仿宋" panose="02010609060101010101" charset="-122"/>
                <a:ea typeface="仿宋" panose="02010609060101010101" charset="-122"/>
                <a:cs typeface="仿宋" panose="02010609060101010101" charset="-122"/>
              </a:rPr>
              <a:t>为加密标准</a:t>
            </a:r>
            <a:endParaRPr sz="2800" dirty="0">
              <a:latin typeface="仿宋" panose="02010609060101010101" charset="-122"/>
              <a:ea typeface="仿宋" panose="02010609060101010101" charset="-122"/>
              <a:cs typeface="仿宋" panose="02010609060101010101" charset="-122"/>
            </a:endParaRPr>
          </a:p>
          <a:p>
            <a:pPr algn="l" rtl="0" eaLnBrk="0">
              <a:lnSpc>
                <a:spcPct val="14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700" dirty="0">
              <a:latin typeface="Arial" panose="020B0604020202020204" pitchFamily="34" charset="0"/>
              <a:ea typeface="Arial" panose="020B0604020202020204" pitchFamily="34" charset="0"/>
              <a:cs typeface="Arial" panose="020B0604020202020204" pitchFamily="34" charset="0"/>
            </a:endParaRPr>
          </a:p>
          <a:p>
            <a:pPr marL="549275" indent="-536575" algn="l" rtl="0" eaLnBrk="0">
              <a:lnSpc>
                <a:spcPct val="113000"/>
              </a:lnSpc>
              <a:spcBef>
                <a:spcPts val="5"/>
              </a:spcBef>
            </a:pPr>
            <a:r>
              <a:rPr sz="2800" kern="0" spc="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50" dirty="0">
                <a:solidFill>
                  <a:srgbClr val="000000">
                    <a:alpha val="100000"/>
                  </a:srgbClr>
                </a:solidFill>
                <a:latin typeface="Times New Roman" panose="02020603050405020304"/>
                <a:ea typeface="Times New Roman" panose="02020603050405020304"/>
                <a:cs typeface="Times New Roman" panose="02020603050405020304"/>
              </a:rPr>
              <a:t>1997</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年</a:t>
            </a:r>
            <a:r>
              <a:rPr sz="2800" b="1" kern="0" spc="50" dirty="0">
                <a:solidFill>
                  <a:srgbClr val="000000">
                    <a:alpha val="100000"/>
                  </a:srgbClr>
                </a:solidFill>
                <a:latin typeface="Times New Roman" panose="02020603050405020304"/>
                <a:ea typeface="Times New Roman" panose="02020603050405020304"/>
                <a:cs typeface="Times New Roman" panose="02020603050405020304"/>
              </a:rPr>
              <a:t>1</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月，美国</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NIST</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向全世界密码学界发出征集</a:t>
            </a:r>
            <a:r>
              <a:rPr sz="2800" b="1" kern="0" spc="50" dirty="0">
                <a:solidFill>
                  <a:srgbClr val="000000">
                    <a:alpha val="100000"/>
                  </a:srgbClr>
                </a:solidFill>
                <a:latin typeface="Times New Roman" panose="02020603050405020304"/>
                <a:ea typeface="Times New Roman" panose="02020603050405020304"/>
                <a:cs typeface="Times New Roman" panose="02020603050405020304"/>
              </a:rPr>
              <a:t>21</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世</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纪高级</a:t>
            </a:r>
            <a:r>
              <a:rPr sz="28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60" dirty="0">
                <a:solidFill>
                  <a:srgbClr val="000000">
                    <a:alpha val="100000"/>
                  </a:srgbClr>
                </a:solidFill>
                <a:latin typeface="仿宋" panose="02010609060101010101" charset="-122"/>
                <a:ea typeface="仿宋" panose="02010609060101010101" charset="-122"/>
                <a:cs typeface="仿宋" panose="02010609060101010101" charset="-122"/>
              </a:rPr>
              <a:t>加密标准（</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AES</a:t>
            </a:r>
            <a:r>
              <a:rPr sz="2800" b="1" kern="0" spc="6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Advanced</a:t>
            </a:r>
            <a:r>
              <a:rPr sz="2800" b="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Encryption</a:t>
            </a:r>
            <a:r>
              <a:rPr sz="2800" b="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Standard</a:t>
            </a:r>
            <a:r>
              <a:rPr sz="2800" b="1" kern="0" spc="60" dirty="0">
                <a:solidFill>
                  <a:srgbClr val="000000">
                    <a:alpha val="100000"/>
                  </a:srgbClr>
                </a:solidFill>
                <a:latin typeface="仿宋" panose="02010609060101010101" charset="-122"/>
                <a:ea typeface="仿宋" panose="02010609060101010101" charset="-122"/>
                <a:cs typeface="仿宋" panose="02010609060101010101" charset="-122"/>
              </a:rPr>
              <a:t>）算法的</a:t>
            </a:r>
            <a:r>
              <a:rPr sz="2800" kern="0" spc="7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公告，并成立了</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AES</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标准</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工作研究室，</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1997</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年</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4</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月</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15</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日的例会制</a:t>
            </a:r>
            <a:r>
              <a:rPr sz="28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定了对</a:t>
            </a:r>
            <a:r>
              <a:rPr sz="2800" b="1" kern="0" spc="-20" dirty="0">
                <a:solidFill>
                  <a:srgbClr val="000000">
                    <a:alpha val="100000"/>
                  </a:srgbClr>
                </a:solidFill>
                <a:latin typeface="Times New Roman" panose="02020603050405020304"/>
                <a:ea typeface="Times New Roman" panose="02020603050405020304"/>
                <a:cs typeface="Times New Roman" panose="02020603050405020304"/>
              </a:rPr>
              <a:t>AES</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的评估标准。</a:t>
            </a:r>
            <a:endParaRPr sz="2800" dirty="0">
              <a:latin typeface="仿宋" panose="02010609060101010101" charset="-122"/>
              <a:ea typeface="仿宋" panose="02010609060101010101" charset="-122"/>
              <a:cs typeface="仿宋" panose="02010609060101010101" charset="-122"/>
            </a:endParaRPr>
          </a:p>
        </p:txBody>
      </p:sp>
      <p:sp>
        <p:nvSpPr>
          <p:cNvPr id="40" name="textbox 40"/>
          <p:cNvSpPr/>
          <p:nvPr/>
        </p:nvSpPr>
        <p:spPr>
          <a:xfrm>
            <a:off x="1547817" y="466861"/>
            <a:ext cx="3268345"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Times New Roman" panose="02020603050405020304"/>
                <a:ea typeface="Times New Roman" panose="02020603050405020304"/>
                <a:cs typeface="Times New Roman" panose="02020603050405020304"/>
              </a:rPr>
              <a:t>AES</a:t>
            </a:r>
            <a:r>
              <a:rPr sz="3100" b="1" kern="0" spc="130" dirty="0">
                <a:solidFill>
                  <a:srgbClr val="1F4E79">
                    <a:alpha val="100000"/>
                  </a:srgbClr>
                </a:solidFill>
                <a:latin typeface="仿宋" panose="02010609060101010101" charset="-122"/>
                <a:ea typeface="仿宋" panose="02010609060101010101" charset="-122"/>
                <a:cs typeface="仿宋" panose="02010609060101010101" charset="-122"/>
              </a:rPr>
              <a:t>标准算法征集</a:t>
            </a:r>
            <a:endParaRPr sz="3100" dirty="0">
              <a:latin typeface="仿宋" panose="02010609060101010101" charset="-122"/>
              <a:ea typeface="仿宋" panose="02010609060101010101" charset="-122"/>
              <a:cs typeface="仿宋" panose="02010609060101010101" charset="-122"/>
            </a:endParaRPr>
          </a:p>
        </p:txBody>
      </p:sp>
      <p:sp>
        <p:nvSpPr>
          <p:cNvPr id="44" name="path 44"/>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46" name="picture 46"/>
          <p:cNvPicPr>
            <a:picLocks noChangeAspect="1"/>
          </p:cNvPicPr>
          <p:nvPr/>
        </p:nvPicPr>
        <p:blipFill>
          <a:blip r:embed="rId1"/>
          <a:stretch>
            <a:fillRect/>
          </a:stretch>
        </p:blipFill>
        <p:spPr>
          <a:xfrm rot="21600000">
            <a:off x="822960" y="408431"/>
            <a:ext cx="420623" cy="655320"/>
          </a:xfrm>
          <a:prstGeom prst="rect">
            <a:avLst/>
          </a:prstGeom>
        </p:spPr>
      </p:pic>
      <p:sp>
        <p:nvSpPr>
          <p:cNvPr id="48" name="path 48"/>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50"/>
          <p:cNvSpPr/>
          <p:nvPr/>
        </p:nvSpPr>
        <p:spPr>
          <a:xfrm>
            <a:off x="926963" y="1497313"/>
            <a:ext cx="10337165" cy="3164204"/>
          </a:xfrm>
          <a:prstGeom prst="rect">
            <a:avLst/>
          </a:prstGeom>
          <a:noFill/>
          <a:ln w="0" cap="flat">
            <a:noFill/>
            <a:prstDash val="solid"/>
            <a:miter lim="0"/>
          </a:ln>
        </p:spPr>
        <p:txBody>
          <a:bodyPr vert="horz" wrap="square" lIns="0" tIns="0" rIns="0" bIns="0"/>
          <a:lstStyle/>
          <a:p>
            <a:pPr algn="l" rtl="0" eaLnBrk="0">
              <a:lnSpc>
                <a:spcPct val="70000"/>
              </a:lnSpc>
            </a:pPr>
            <a:endParaRPr sz="100" dirty="0">
              <a:latin typeface="Arial" panose="020B0604020202020204" pitchFamily="34" charset="0"/>
              <a:ea typeface="Arial" panose="020B0604020202020204" pitchFamily="34" charset="0"/>
              <a:cs typeface="Arial" panose="020B0604020202020204" pitchFamily="34" charset="0"/>
            </a:endParaRPr>
          </a:p>
          <a:p>
            <a:pPr marL="190500" algn="l" rtl="0" eaLnBrk="0">
              <a:lnSpc>
                <a:spcPct val="95000"/>
              </a:lnSpc>
            </a:pPr>
            <a:r>
              <a:rPr sz="2800" b="1" kern="0" spc="-15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50" dirty="0">
                <a:solidFill>
                  <a:srgbClr val="000000">
                    <a:alpha val="100000"/>
                  </a:srgbClr>
                </a:solidFill>
                <a:latin typeface="Times New Roman" panose="02020603050405020304"/>
                <a:ea typeface="Times New Roman" panose="02020603050405020304"/>
                <a:cs typeface="Times New Roman" panose="02020603050405020304"/>
              </a:rPr>
              <a:t>1</a:t>
            </a:r>
            <a:r>
              <a:rPr sz="2800" b="1" kern="0" spc="-15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50" dirty="0">
                <a:solidFill>
                  <a:srgbClr val="000000">
                    <a:alpha val="100000"/>
                  </a:srgbClr>
                </a:solidFill>
                <a:latin typeface="Times New Roman" panose="02020603050405020304"/>
                <a:ea typeface="Times New Roman" panose="02020603050405020304"/>
                <a:cs typeface="Times New Roman" panose="02020603050405020304"/>
              </a:rPr>
              <a:t>AES</a:t>
            </a:r>
            <a:r>
              <a:rPr sz="2800" b="1" kern="0" spc="-150" dirty="0">
                <a:solidFill>
                  <a:srgbClr val="000000">
                    <a:alpha val="100000"/>
                  </a:srgbClr>
                </a:solidFill>
                <a:latin typeface="仿宋" panose="02010609060101010101" charset="-122"/>
                <a:ea typeface="仿宋" panose="02010609060101010101" charset="-122"/>
                <a:cs typeface="仿宋" panose="02010609060101010101" charset="-122"/>
              </a:rPr>
              <a:t>是公开的；</a:t>
            </a:r>
            <a:endParaRPr sz="2800" dirty="0">
              <a:latin typeface="仿宋" panose="02010609060101010101" charset="-122"/>
              <a:ea typeface="仿宋" panose="02010609060101010101" charset="-122"/>
              <a:cs typeface="仿宋" panose="02010609060101010101" charset="-122"/>
            </a:endParaRPr>
          </a:p>
          <a:p>
            <a:pPr marL="190500" algn="l" rtl="0" eaLnBrk="0">
              <a:lnSpc>
                <a:spcPct val="94000"/>
              </a:lnSpc>
              <a:spcBef>
                <a:spcPts val="1455"/>
              </a:spcBef>
            </a:pPr>
            <a:r>
              <a:rPr sz="2800" b="1" kern="0" spc="-14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40" dirty="0">
                <a:solidFill>
                  <a:srgbClr val="000000">
                    <a:alpha val="100000"/>
                  </a:srgbClr>
                </a:solidFill>
                <a:latin typeface="Times New Roman" panose="02020603050405020304"/>
                <a:ea typeface="Times New Roman" panose="02020603050405020304"/>
                <a:cs typeface="Times New Roman" panose="02020603050405020304"/>
              </a:rPr>
              <a:t>2</a:t>
            </a:r>
            <a:r>
              <a:rPr sz="2800" b="1" kern="0" spc="-14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40" dirty="0">
                <a:solidFill>
                  <a:srgbClr val="000000">
                    <a:alpha val="100000"/>
                  </a:srgbClr>
                </a:solidFill>
                <a:latin typeface="Times New Roman" panose="02020603050405020304"/>
                <a:ea typeface="Times New Roman" panose="02020603050405020304"/>
                <a:cs typeface="Times New Roman" panose="02020603050405020304"/>
              </a:rPr>
              <a:t>AES</a:t>
            </a:r>
            <a:r>
              <a:rPr sz="2800" b="1" kern="0" spc="-140" dirty="0">
                <a:solidFill>
                  <a:srgbClr val="000000">
                    <a:alpha val="100000"/>
                  </a:srgbClr>
                </a:solidFill>
                <a:latin typeface="仿宋" panose="02010609060101010101" charset="-122"/>
                <a:ea typeface="仿宋" panose="02010609060101010101" charset="-122"/>
                <a:cs typeface="仿宋" panose="02010609060101010101" charset="-122"/>
              </a:rPr>
              <a:t>为对称密</a:t>
            </a:r>
            <a:r>
              <a:rPr sz="2800" b="1" kern="0" spc="-150" dirty="0">
                <a:solidFill>
                  <a:srgbClr val="000000">
                    <a:alpha val="100000"/>
                  </a:srgbClr>
                </a:solidFill>
                <a:latin typeface="仿宋" panose="02010609060101010101" charset="-122"/>
                <a:ea typeface="仿宋" panose="02010609060101010101" charset="-122"/>
                <a:cs typeface="仿宋" panose="02010609060101010101" charset="-122"/>
              </a:rPr>
              <a:t>钥分组密码体制；</a:t>
            </a:r>
            <a:endParaRPr sz="2800" dirty="0">
              <a:latin typeface="仿宋" panose="02010609060101010101" charset="-122"/>
              <a:ea typeface="仿宋" panose="02010609060101010101" charset="-122"/>
              <a:cs typeface="仿宋" panose="02010609060101010101" charset="-122"/>
            </a:endParaRPr>
          </a:p>
          <a:p>
            <a:pPr marL="190500" algn="l" rtl="0" eaLnBrk="0">
              <a:lnSpc>
                <a:spcPct val="94000"/>
              </a:lnSpc>
              <a:spcBef>
                <a:spcPts val="1475"/>
              </a:spcBef>
            </a:pPr>
            <a:r>
              <a:rPr sz="2800" b="1" kern="0" spc="-8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80" dirty="0">
                <a:solidFill>
                  <a:srgbClr val="000000">
                    <a:alpha val="100000"/>
                  </a:srgbClr>
                </a:solidFill>
                <a:latin typeface="Times New Roman" panose="02020603050405020304"/>
                <a:ea typeface="Times New Roman" panose="02020603050405020304"/>
                <a:cs typeface="Times New Roman" panose="02020603050405020304"/>
              </a:rPr>
              <a:t>3</a:t>
            </a:r>
            <a:r>
              <a:rPr sz="2800" b="1" kern="0" spc="-8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80" dirty="0">
                <a:solidFill>
                  <a:srgbClr val="000000">
                    <a:alpha val="100000"/>
                  </a:srgbClr>
                </a:solidFill>
                <a:latin typeface="Times New Roman" panose="02020603050405020304"/>
                <a:ea typeface="Times New Roman" panose="02020603050405020304"/>
                <a:cs typeface="Times New Roman" panose="02020603050405020304"/>
              </a:rPr>
              <a:t>AES</a:t>
            </a:r>
            <a:r>
              <a:rPr sz="2800" b="1" kern="0" spc="-80" dirty="0">
                <a:solidFill>
                  <a:srgbClr val="000000">
                    <a:alpha val="100000"/>
                  </a:srgbClr>
                </a:solidFill>
                <a:latin typeface="仿宋" panose="02010609060101010101" charset="-122"/>
                <a:ea typeface="仿宋" panose="02010609060101010101" charset="-122"/>
                <a:cs typeface="仿宋" panose="02010609060101010101" charset="-122"/>
              </a:rPr>
              <a:t>的密钥长度可变，可按需要增大；</a:t>
            </a:r>
            <a:endParaRPr sz="2800" dirty="0">
              <a:latin typeface="仿宋" panose="02010609060101010101" charset="-122"/>
              <a:ea typeface="仿宋" panose="02010609060101010101" charset="-122"/>
              <a:cs typeface="仿宋" panose="02010609060101010101" charset="-122"/>
            </a:endParaRPr>
          </a:p>
          <a:p>
            <a:pPr marL="190500" algn="l" rtl="0" eaLnBrk="0">
              <a:lnSpc>
                <a:spcPct val="94000"/>
              </a:lnSpc>
              <a:spcBef>
                <a:spcPts val="1475"/>
              </a:spcBef>
            </a:pPr>
            <a:r>
              <a:rPr sz="2800" b="1" kern="0" spc="-9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90" dirty="0">
                <a:solidFill>
                  <a:srgbClr val="000000">
                    <a:alpha val="100000"/>
                  </a:srgbClr>
                </a:solidFill>
                <a:latin typeface="Times New Roman" panose="02020603050405020304"/>
                <a:ea typeface="Times New Roman" panose="02020603050405020304"/>
                <a:cs typeface="Times New Roman" panose="02020603050405020304"/>
              </a:rPr>
              <a:t>4</a:t>
            </a:r>
            <a:r>
              <a:rPr sz="2800" b="1" kern="0" spc="-9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90" dirty="0">
                <a:solidFill>
                  <a:srgbClr val="000000">
                    <a:alpha val="100000"/>
                  </a:srgbClr>
                </a:solidFill>
                <a:latin typeface="Times New Roman" panose="02020603050405020304"/>
                <a:ea typeface="Times New Roman" panose="02020603050405020304"/>
                <a:cs typeface="Times New Roman" panose="02020603050405020304"/>
              </a:rPr>
              <a:t>AES</a:t>
            </a:r>
            <a:r>
              <a:rPr sz="2800" b="1" kern="0" spc="-90" dirty="0">
                <a:solidFill>
                  <a:srgbClr val="000000">
                    <a:alpha val="100000"/>
                  </a:srgbClr>
                </a:solidFill>
                <a:latin typeface="仿宋" panose="02010609060101010101" charset="-122"/>
                <a:ea typeface="仿宋" panose="02010609060101010101" charset="-122"/>
                <a:cs typeface="仿宋" panose="02010609060101010101" charset="-122"/>
              </a:rPr>
              <a:t>适于用软</a:t>
            </a:r>
            <a:r>
              <a:rPr sz="2800" b="1" kern="0" spc="-100" dirty="0">
                <a:solidFill>
                  <a:srgbClr val="000000">
                    <a:alpha val="100000"/>
                  </a:srgbClr>
                </a:solidFill>
                <a:latin typeface="仿宋" panose="02010609060101010101" charset="-122"/>
                <a:ea typeface="仿宋" panose="02010609060101010101" charset="-122"/>
                <a:cs typeface="仿宋" panose="02010609060101010101" charset="-122"/>
              </a:rPr>
              <a:t>件和硬件实现；</a:t>
            </a:r>
            <a:endParaRPr sz="2800" dirty="0">
              <a:latin typeface="仿宋" panose="02010609060101010101" charset="-122"/>
              <a:ea typeface="仿宋" panose="02010609060101010101" charset="-122"/>
              <a:cs typeface="仿宋" panose="02010609060101010101" charset="-122"/>
            </a:endParaRPr>
          </a:p>
          <a:p>
            <a:pPr algn="r" rtl="0" eaLnBrk="0">
              <a:lnSpc>
                <a:spcPct val="90000"/>
              </a:lnSpc>
              <a:spcBef>
                <a:spcPts val="1460"/>
              </a:spcBef>
            </a:pP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30" dirty="0">
                <a:solidFill>
                  <a:srgbClr val="000000">
                    <a:alpha val="100000"/>
                  </a:srgbClr>
                </a:solidFill>
                <a:latin typeface="Times New Roman" panose="02020603050405020304"/>
                <a:ea typeface="Times New Roman" panose="02020603050405020304"/>
                <a:cs typeface="Times New Roman" panose="02020603050405020304"/>
              </a:rPr>
              <a:t>5</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AES</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可以自由地使用，或按符合美国国家标准</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ANST</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）策</a:t>
            </a:r>
            <a:endParaRPr sz="2800" dirty="0">
              <a:latin typeface="仿宋" panose="02010609060101010101" charset="-122"/>
              <a:ea typeface="仿宋" panose="02010609060101010101" charset="-122"/>
              <a:cs typeface="仿宋" panose="02010609060101010101" charset="-122"/>
            </a:endParaRPr>
          </a:p>
          <a:p>
            <a:pPr marL="254635" algn="l" rtl="0" eaLnBrk="0">
              <a:lnSpc>
                <a:spcPct val="94000"/>
              </a:lnSpc>
              <a:spcBef>
                <a:spcPts val="20"/>
              </a:spcBef>
            </a:pP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略的条件使用。</a:t>
            </a:r>
            <a:endParaRPr sz="2800" dirty="0">
              <a:latin typeface="仿宋" panose="02010609060101010101" charset="-122"/>
              <a:ea typeface="仿宋" panose="02010609060101010101" charset="-122"/>
              <a:cs typeface="仿宋" panose="02010609060101010101" charset="-122"/>
            </a:endParaRPr>
          </a:p>
        </p:txBody>
      </p:sp>
      <p:sp>
        <p:nvSpPr>
          <p:cNvPr id="52" name="textbox 52"/>
          <p:cNvSpPr/>
          <p:nvPr/>
        </p:nvSpPr>
        <p:spPr>
          <a:xfrm>
            <a:off x="1546195" y="491245"/>
            <a:ext cx="3491865"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0563C1">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0563C1">
                    <a:alpha val="100000"/>
                  </a:srgbClr>
                </a:solidFill>
                <a:latin typeface="仿宋" panose="02010609060101010101" charset="-122"/>
                <a:ea typeface="仿宋" panose="02010609060101010101" charset="-122"/>
                <a:cs typeface="仿宋" panose="02010609060101010101" charset="-122"/>
              </a:rPr>
              <a:t>算法征集的要求</a:t>
            </a:r>
            <a:endParaRPr sz="3100" dirty="0">
              <a:latin typeface="仿宋" panose="02010609060101010101" charset="-122"/>
              <a:ea typeface="仿宋" panose="02010609060101010101" charset="-122"/>
              <a:cs typeface="仿宋" panose="02010609060101010101" charset="-122"/>
            </a:endParaRPr>
          </a:p>
        </p:txBody>
      </p:sp>
      <p:sp>
        <p:nvSpPr>
          <p:cNvPr id="56" name="path 5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58" name="picture 58"/>
          <p:cNvPicPr>
            <a:picLocks noChangeAspect="1"/>
          </p:cNvPicPr>
          <p:nvPr/>
        </p:nvPicPr>
        <p:blipFill>
          <a:blip r:embed="rId1"/>
          <a:stretch>
            <a:fillRect/>
          </a:stretch>
        </p:blipFill>
        <p:spPr>
          <a:xfrm rot="21600000">
            <a:off x="822960" y="408431"/>
            <a:ext cx="420623" cy="655320"/>
          </a:xfrm>
          <a:prstGeom prst="rect">
            <a:avLst/>
          </a:prstGeom>
        </p:spPr>
      </p:pic>
      <p:sp>
        <p:nvSpPr>
          <p:cNvPr id="60" name="path 6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box 62"/>
          <p:cNvSpPr/>
          <p:nvPr/>
        </p:nvSpPr>
        <p:spPr>
          <a:xfrm>
            <a:off x="921835" y="1497313"/>
            <a:ext cx="8081644" cy="2687954"/>
          </a:xfrm>
          <a:prstGeom prst="rect">
            <a:avLst/>
          </a:prstGeom>
          <a:noFill/>
          <a:ln w="0" cap="flat">
            <a:noFill/>
            <a:prstDash val="solid"/>
            <a:miter lim="0"/>
          </a:ln>
        </p:spPr>
        <p:txBody>
          <a:bodyPr vert="horz" wrap="square" lIns="0" tIns="0" rIns="0" bIns="0"/>
          <a:lstStyle/>
          <a:p>
            <a:pPr algn="l" rtl="0" eaLnBrk="0">
              <a:lnSpc>
                <a:spcPct val="94000"/>
              </a:lnSpc>
            </a:pPr>
            <a:endParaRPr sz="100" dirty="0">
              <a:latin typeface="Arial" panose="020B0604020202020204" pitchFamily="34" charset="0"/>
              <a:ea typeface="Arial" panose="020B0604020202020204" pitchFamily="34" charset="0"/>
              <a:cs typeface="Arial" panose="020B0604020202020204" pitchFamily="34" charset="0"/>
            </a:endParaRPr>
          </a:p>
          <a:p>
            <a:pPr marL="469900" indent="-457200" algn="l" rtl="0" eaLnBrk="0">
              <a:lnSpc>
                <a:spcPct val="102000"/>
              </a:lnSpc>
            </a:pPr>
            <a:r>
              <a:rPr sz="28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满足以上要求的</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AES</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算法，需</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按下述条件判断优劣</a:t>
            </a:r>
            <a:r>
              <a:rPr sz="28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800" kern="0" spc="-1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8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00" dirty="0">
                <a:solidFill>
                  <a:srgbClr val="000000">
                    <a:alpha val="100000"/>
                  </a:srgbClr>
                </a:solidFill>
                <a:latin typeface="仿宋" panose="02010609060101010101" charset="-122"/>
                <a:ea typeface="仿宋" panose="02010609060101010101" charset="-122"/>
                <a:cs typeface="仿宋" panose="02010609060101010101" charset="-122"/>
              </a:rPr>
              <a:t>安全性</a:t>
            </a:r>
            <a:endParaRPr sz="2800" dirty="0">
              <a:latin typeface="仿宋" panose="02010609060101010101" charset="-122"/>
              <a:ea typeface="仿宋" panose="02010609060101010101" charset="-122"/>
              <a:cs typeface="仿宋" panose="02010609060101010101" charset="-122"/>
            </a:endParaRPr>
          </a:p>
          <a:p>
            <a:pPr marL="469900" algn="l" rtl="0" eaLnBrk="0">
              <a:lnSpc>
                <a:spcPct val="100000"/>
              </a:lnSpc>
              <a:spcBef>
                <a:spcPts val="190"/>
              </a:spcBef>
            </a:pPr>
            <a:r>
              <a:rPr sz="2800" kern="0" spc="-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70" dirty="0">
                <a:solidFill>
                  <a:srgbClr val="000000">
                    <a:alpha val="100000"/>
                  </a:srgbClr>
                </a:solidFill>
                <a:latin typeface="仿宋" panose="02010609060101010101" charset="-122"/>
                <a:ea typeface="仿宋" panose="02010609060101010101" charset="-122"/>
                <a:cs typeface="仿宋" panose="02010609060101010101" charset="-122"/>
              </a:rPr>
              <a:t>计算效率</a:t>
            </a:r>
            <a:endParaRPr sz="2800" dirty="0">
              <a:latin typeface="仿宋" panose="02010609060101010101" charset="-122"/>
              <a:ea typeface="仿宋" panose="02010609060101010101" charset="-122"/>
              <a:cs typeface="仿宋" panose="02010609060101010101" charset="-122"/>
            </a:endParaRPr>
          </a:p>
          <a:p>
            <a:pPr marL="469900" algn="l" rtl="0" eaLnBrk="0">
              <a:lnSpc>
                <a:spcPct val="99000"/>
              </a:lnSpc>
              <a:spcBef>
                <a:spcPts val="170"/>
              </a:spcBef>
            </a:pPr>
            <a:r>
              <a:rPr sz="2800" kern="0" spc="-1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5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40" dirty="0">
                <a:solidFill>
                  <a:srgbClr val="000000">
                    <a:alpha val="100000"/>
                  </a:srgbClr>
                </a:solidFill>
                <a:latin typeface="仿宋" panose="02010609060101010101" charset="-122"/>
                <a:ea typeface="仿宋" panose="02010609060101010101" charset="-122"/>
                <a:cs typeface="仿宋" panose="02010609060101010101" charset="-122"/>
              </a:rPr>
              <a:t>内存要求</a:t>
            </a:r>
            <a:endParaRPr sz="2800" dirty="0">
              <a:latin typeface="仿宋" panose="02010609060101010101" charset="-122"/>
              <a:ea typeface="仿宋" panose="02010609060101010101" charset="-122"/>
              <a:cs typeface="仿宋" panose="02010609060101010101" charset="-122"/>
            </a:endParaRPr>
          </a:p>
          <a:p>
            <a:pPr marL="469900" algn="l" rtl="0" eaLnBrk="0">
              <a:lnSpc>
                <a:spcPct val="102000"/>
              </a:lnSpc>
              <a:spcBef>
                <a:spcPts val="190"/>
              </a:spcBef>
            </a:pPr>
            <a:r>
              <a:rPr sz="2800" kern="0" spc="-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8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70" dirty="0">
                <a:solidFill>
                  <a:srgbClr val="000000">
                    <a:alpha val="100000"/>
                  </a:srgbClr>
                </a:solidFill>
                <a:latin typeface="仿宋" panose="02010609060101010101" charset="-122"/>
                <a:ea typeface="仿宋" panose="02010609060101010101" charset="-122"/>
                <a:cs typeface="仿宋" panose="02010609060101010101" charset="-122"/>
              </a:rPr>
              <a:t>使用简便性</a:t>
            </a:r>
            <a:r>
              <a:rPr sz="28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800" kern="0" spc="-1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8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00" dirty="0">
                <a:solidFill>
                  <a:srgbClr val="000000">
                    <a:alpha val="100000"/>
                  </a:srgbClr>
                </a:solidFill>
                <a:latin typeface="仿宋" panose="02010609060101010101" charset="-122"/>
                <a:ea typeface="仿宋" panose="02010609060101010101" charset="-122"/>
                <a:cs typeface="仿宋" panose="02010609060101010101" charset="-122"/>
              </a:rPr>
              <a:t>灵活性</a:t>
            </a:r>
            <a:endParaRPr sz="2800" dirty="0">
              <a:latin typeface="仿宋" panose="02010609060101010101" charset="-122"/>
              <a:ea typeface="仿宋" panose="02010609060101010101" charset="-122"/>
              <a:cs typeface="仿宋" panose="02010609060101010101" charset="-122"/>
            </a:endParaRPr>
          </a:p>
        </p:txBody>
      </p:sp>
      <p:sp>
        <p:nvSpPr>
          <p:cNvPr id="64" name="textbox 64"/>
          <p:cNvSpPr/>
          <p:nvPr/>
        </p:nvSpPr>
        <p:spPr>
          <a:xfrm>
            <a:off x="1571329" y="491245"/>
            <a:ext cx="2446654"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60" dirty="0">
                <a:solidFill>
                  <a:srgbClr val="0563C1">
                    <a:alpha val="100000"/>
                  </a:srgbClr>
                </a:solidFill>
                <a:latin typeface="仿宋" panose="02010609060101010101" charset="-122"/>
                <a:ea typeface="仿宋" panose="02010609060101010101" charset="-122"/>
                <a:cs typeface="仿宋" panose="02010609060101010101" charset="-122"/>
              </a:rPr>
              <a:t>算法衡量条件</a:t>
            </a:r>
            <a:endParaRPr sz="3100" dirty="0">
              <a:latin typeface="仿宋" panose="02010609060101010101" charset="-122"/>
              <a:ea typeface="仿宋" panose="02010609060101010101" charset="-122"/>
              <a:cs typeface="仿宋" panose="02010609060101010101" charset="-122"/>
            </a:endParaRPr>
          </a:p>
        </p:txBody>
      </p:sp>
      <p:sp>
        <p:nvSpPr>
          <p:cNvPr id="68" name="path 6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70" name="picture 70"/>
          <p:cNvPicPr>
            <a:picLocks noChangeAspect="1"/>
          </p:cNvPicPr>
          <p:nvPr/>
        </p:nvPicPr>
        <p:blipFill>
          <a:blip r:embed="rId1"/>
          <a:stretch>
            <a:fillRect/>
          </a:stretch>
        </p:blipFill>
        <p:spPr>
          <a:xfrm rot="21600000">
            <a:off x="822960" y="408431"/>
            <a:ext cx="420623" cy="655320"/>
          </a:xfrm>
          <a:prstGeom prst="rect">
            <a:avLst/>
          </a:prstGeom>
        </p:spPr>
      </p:pic>
      <p:sp>
        <p:nvSpPr>
          <p:cNvPr id="72" name="path 7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box 74"/>
          <p:cNvSpPr/>
          <p:nvPr/>
        </p:nvSpPr>
        <p:spPr>
          <a:xfrm>
            <a:off x="933399" y="1319953"/>
            <a:ext cx="10344784" cy="4900295"/>
          </a:xfrm>
          <a:prstGeom prst="rect">
            <a:avLst/>
          </a:prstGeom>
          <a:noFill/>
          <a:ln w="0" cap="flat">
            <a:noFill/>
            <a:prstDash val="solid"/>
            <a:miter lim="0"/>
          </a:ln>
        </p:spPr>
        <p:txBody>
          <a:bodyPr vert="horz" wrap="square" lIns="0" tIns="0" rIns="0" bIns="0"/>
          <a:lstStyle/>
          <a:p>
            <a:pPr algn="l" rtl="0" eaLnBrk="0">
              <a:lnSpc>
                <a:spcPct val="88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89000"/>
              </a:lnSpc>
            </a:pPr>
            <a:r>
              <a:rPr sz="2400" kern="0" spc="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1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50" dirty="0">
                <a:solidFill>
                  <a:srgbClr val="000000">
                    <a:alpha val="100000"/>
                  </a:srgbClr>
                </a:solidFill>
                <a:latin typeface="Times New Roman" panose="02020603050405020304"/>
                <a:ea typeface="Times New Roman" panose="02020603050405020304"/>
                <a:cs typeface="Times New Roman" panose="02020603050405020304"/>
              </a:rPr>
              <a:t>1998</a:t>
            </a:r>
            <a:r>
              <a:rPr sz="2400" b="1" kern="0" spc="50" dirty="0">
                <a:solidFill>
                  <a:srgbClr val="000000">
                    <a:alpha val="100000"/>
                  </a:srgbClr>
                </a:solidFill>
                <a:latin typeface="仿宋" panose="02010609060101010101" charset="-122"/>
                <a:ea typeface="仿宋" panose="02010609060101010101" charset="-122"/>
                <a:cs typeface="仿宋" panose="02010609060101010101" charset="-122"/>
              </a:rPr>
              <a:t>年</a:t>
            </a:r>
            <a:r>
              <a:rPr sz="2400" b="1" kern="0" spc="50" dirty="0">
                <a:solidFill>
                  <a:srgbClr val="000000">
                    <a:alpha val="100000"/>
                  </a:srgbClr>
                </a:solidFill>
                <a:latin typeface="Times New Roman" panose="02020603050405020304"/>
                <a:ea typeface="Times New Roman" panose="02020603050405020304"/>
                <a:cs typeface="Times New Roman" panose="02020603050405020304"/>
              </a:rPr>
              <a:t>4</a:t>
            </a:r>
            <a:r>
              <a:rPr sz="2400" b="1" kern="0" spc="50" dirty="0">
                <a:solidFill>
                  <a:srgbClr val="000000">
                    <a:alpha val="100000"/>
                  </a:srgbClr>
                </a:solidFill>
                <a:latin typeface="仿宋" panose="02010609060101010101" charset="-122"/>
                <a:ea typeface="仿宋" panose="02010609060101010101" charset="-122"/>
                <a:cs typeface="仿宋" panose="02010609060101010101" charset="-122"/>
              </a:rPr>
              <a:t>月</a:t>
            </a:r>
            <a:r>
              <a:rPr sz="2400" b="1" kern="0" spc="50" dirty="0">
                <a:solidFill>
                  <a:srgbClr val="000000">
                    <a:alpha val="100000"/>
                  </a:srgbClr>
                </a:solidFill>
                <a:latin typeface="Times New Roman" panose="02020603050405020304"/>
                <a:ea typeface="Times New Roman" panose="02020603050405020304"/>
                <a:cs typeface="Times New Roman" panose="02020603050405020304"/>
              </a:rPr>
              <a:t>15</a:t>
            </a:r>
            <a:r>
              <a:rPr sz="2400" b="1" kern="0" spc="50" dirty="0">
                <a:solidFill>
                  <a:srgbClr val="000000">
                    <a:alpha val="100000"/>
                  </a:srgbClr>
                </a:solidFill>
                <a:latin typeface="仿宋" panose="02010609060101010101" charset="-122"/>
                <a:ea typeface="仿宋" panose="02010609060101010101" charset="-122"/>
                <a:cs typeface="仿宋" panose="02010609060101010101" charset="-122"/>
              </a:rPr>
              <a:t>日全面征集</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AES</a:t>
            </a:r>
            <a:r>
              <a:rPr sz="2400" b="1" kern="0" spc="50" dirty="0">
                <a:solidFill>
                  <a:srgbClr val="000000">
                    <a:alpha val="100000"/>
                  </a:srgbClr>
                </a:solidFill>
                <a:latin typeface="仿宋" panose="02010609060101010101" charset="-122"/>
                <a:ea typeface="仿宋" panose="02010609060101010101" charset="-122"/>
                <a:cs typeface="仿宋" panose="02010609060101010101" charset="-122"/>
              </a:rPr>
              <a:t>算法的工</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作结束。</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1998</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年</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8</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月</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20</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日举行了首届</a:t>
            </a:r>
            <a:endParaRPr sz="2400" dirty="0">
              <a:latin typeface="仿宋" panose="02010609060101010101" charset="-122"/>
              <a:ea typeface="仿宋" panose="02010609060101010101" charset="-122"/>
              <a:cs typeface="仿宋" panose="02010609060101010101" charset="-122"/>
            </a:endParaRPr>
          </a:p>
          <a:p>
            <a:pPr marL="244475" indent="-17145" algn="l" rtl="0" eaLnBrk="0">
              <a:lnSpc>
                <a:spcPct val="122000"/>
              </a:lnSpc>
              <a:spcBef>
                <a:spcPts val="10"/>
              </a:spcBef>
            </a:pP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AES</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讨论会，对涉及</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14</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个国家的密码学家所提出的候选</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AES</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算法</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进行了评估</a:t>
            </a:r>
            <a:r>
              <a:rPr sz="24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和测试，初选并公布了</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15</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个</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被选方案，供大家公开讨论。</a:t>
            </a:r>
            <a:endParaRPr sz="2400" dirty="0">
              <a:latin typeface="仿宋" panose="02010609060101010101" charset="-122"/>
              <a:ea typeface="仿宋" panose="02010609060101010101" charset="-122"/>
              <a:cs typeface="仿宋" panose="02010609060101010101" charset="-122"/>
            </a:endParaRPr>
          </a:p>
          <a:p>
            <a:pPr algn="l" rtl="0" eaLnBrk="0">
              <a:lnSpc>
                <a:spcPct val="175000"/>
              </a:lnSpc>
            </a:pPr>
            <a:endParaRPr sz="1000" dirty="0">
              <a:latin typeface="Arial" panose="020B0604020202020204" pitchFamily="34" charset="0"/>
              <a:ea typeface="Arial" panose="020B0604020202020204" pitchFamily="34" charset="0"/>
              <a:cs typeface="Arial" panose="020B0604020202020204" pitchFamily="34" charset="0"/>
            </a:endParaRPr>
          </a:p>
          <a:p>
            <a:pPr marL="541655" algn="l" rtl="0" eaLnBrk="0">
              <a:lnSpc>
                <a:spcPct val="76000"/>
              </a:lnSpc>
              <a:spcBef>
                <a:spcPts val="730"/>
              </a:spcBef>
            </a:pP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CAST-256</a:t>
            </a:r>
            <a:r>
              <a:rPr sz="2400" b="1"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a:t>
            </a:r>
            <a:r>
              <a:rPr sz="2400" kern="0" spc="-4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RC-6</a:t>
            </a:r>
            <a:r>
              <a:rPr sz="2400" b="1"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a:t>
            </a:r>
            <a:r>
              <a:rPr sz="2400" kern="0" spc="25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CRYP</a:t>
            </a:r>
            <a:r>
              <a:rPr sz="2400" b="1" kern="0" spc="-50" dirty="0">
                <a:solidFill>
                  <a:srgbClr val="000000">
                    <a:alpha val="100000"/>
                  </a:srgbClr>
                </a:solidFill>
                <a:latin typeface="Times New Roman" panose="02020603050405020304"/>
                <a:ea typeface="Times New Roman" panose="02020603050405020304"/>
                <a:cs typeface="Times New Roman" panose="02020603050405020304"/>
              </a:rPr>
              <a:t>TON-128</a:t>
            </a:r>
            <a:r>
              <a:rPr sz="2400" b="1"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50" dirty="0">
                <a:solidFill>
                  <a:srgbClr val="000000">
                    <a:alpha val="100000"/>
                  </a:srgbClr>
                </a:solidFill>
                <a:latin typeface="仿宋" panose="02010609060101010101" charset="-122"/>
                <a:ea typeface="仿宋" panose="02010609060101010101" charset="-122"/>
                <a:cs typeface="仿宋" panose="02010609060101010101" charset="-122"/>
              </a:rPr>
              <a:t>，</a:t>
            </a:r>
            <a:r>
              <a:rPr sz="2400" b="1" kern="0" spc="-50" dirty="0">
                <a:solidFill>
                  <a:srgbClr val="000000">
                    <a:alpha val="100000"/>
                  </a:srgbClr>
                </a:solidFill>
                <a:latin typeface="Times New Roman" panose="02020603050405020304"/>
                <a:ea typeface="Times New Roman" panose="02020603050405020304"/>
                <a:cs typeface="Times New Roman" panose="02020603050405020304"/>
              </a:rPr>
              <a:t>DEAL-128</a:t>
            </a:r>
            <a:r>
              <a:rPr sz="2400" b="1" kern="0" spc="-50" dirty="0">
                <a:solidFill>
                  <a:srgbClr val="000000">
                    <a:alpha val="100000"/>
                  </a:srgbClr>
                </a:solidFill>
                <a:latin typeface="仿宋" panose="02010609060101010101" charset="-122"/>
                <a:ea typeface="仿宋" panose="02010609060101010101" charset="-122"/>
                <a:cs typeface="仿宋" panose="02010609060101010101" charset="-122"/>
              </a:rPr>
              <a:t>，</a:t>
            </a:r>
            <a:endParaRPr sz="2400" dirty="0">
              <a:latin typeface="仿宋" panose="02010609060101010101" charset="-122"/>
              <a:ea typeface="仿宋" panose="02010609060101010101" charset="-122"/>
              <a:cs typeface="仿宋" panose="02010609060101010101" charset="-122"/>
            </a:endParaRPr>
          </a:p>
          <a:p>
            <a:pPr algn="l" rtl="0" eaLnBrk="0">
              <a:lnSpc>
                <a:spcPct val="177000"/>
              </a:lnSpc>
            </a:pPr>
            <a:endParaRPr sz="1000" dirty="0">
              <a:latin typeface="Arial" panose="020B0604020202020204" pitchFamily="34" charset="0"/>
              <a:ea typeface="Arial" panose="020B0604020202020204" pitchFamily="34" charset="0"/>
              <a:cs typeface="Arial" panose="020B0604020202020204" pitchFamily="34" charset="0"/>
            </a:endParaRPr>
          </a:p>
          <a:p>
            <a:pPr marL="536575" algn="l" rtl="0" eaLnBrk="0">
              <a:lnSpc>
                <a:spcPct val="76000"/>
              </a:lnSpc>
              <a:spcBef>
                <a:spcPts val="730"/>
              </a:spcBef>
            </a:pPr>
            <a:r>
              <a:rPr sz="2400" b="1" kern="0" spc="-50" dirty="0">
                <a:solidFill>
                  <a:srgbClr val="000000">
                    <a:alpha val="100000"/>
                  </a:srgbClr>
                </a:solidFill>
                <a:latin typeface="Times New Roman" panose="02020603050405020304"/>
                <a:ea typeface="Times New Roman" panose="02020603050405020304"/>
                <a:cs typeface="Times New Roman" panose="02020603050405020304"/>
              </a:rPr>
              <a:t>FROG</a:t>
            </a:r>
            <a:r>
              <a:rPr sz="2400" b="1"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50" dirty="0">
                <a:solidFill>
                  <a:srgbClr val="000000">
                    <a:alpha val="100000"/>
                  </a:srgbClr>
                </a:solidFill>
                <a:latin typeface="仿宋" panose="02010609060101010101" charset="-122"/>
                <a:ea typeface="仿宋" panose="02010609060101010101" charset="-122"/>
                <a:cs typeface="仿宋" panose="02010609060101010101" charset="-122"/>
              </a:rPr>
              <a:t>，</a:t>
            </a:r>
            <a:r>
              <a:rPr sz="2400" kern="0" spc="-5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50" dirty="0">
                <a:solidFill>
                  <a:srgbClr val="000000">
                    <a:alpha val="100000"/>
                  </a:srgbClr>
                </a:solidFill>
                <a:latin typeface="Times New Roman" panose="02020603050405020304"/>
                <a:ea typeface="Times New Roman" panose="02020603050405020304"/>
                <a:cs typeface="Times New Roman" panose="02020603050405020304"/>
              </a:rPr>
              <a:t>DFC</a:t>
            </a:r>
            <a:r>
              <a:rPr sz="2400" b="1"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50" dirty="0">
                <a:solidFill>
                  <a:srgbClr val="000000">
                    <a:alpha val="100000"/>
                  </a:srgbClr>
                </a:solidFill>
                <a:latin typeface="仿宋" panose="02010609060101010101" charset="-122"/>
                <a:ea typeface="仿宋" panose="02010609060101010101" charset="-122"/>
                <a:cs typeface="仿宋" panose="02010609060101010101" charset="-122"/>
              </a:rPr>
              <a:t>，</a:t>
            </a:r>
            <a:r>
              <a:rPr sz="2400" kern="0" spc="17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50" dirty="0">
                <a:solidFill>
                  <a:srgbClr val="000000">
                    <a:alpha val="100000"/>
                  </a:srgbClr>
                </a:solidFill>
                <a:latin typeface="Times New Roman" panose="02020603050405020304"/>
                <a:ea typeface="Times New Roman" panose="02020603050405020304"/>
                <a:cs typeface="Times New Roman" panose="02020603050405020304"/>
              </a:rPr>
              <a:t>LOKI-97</a:t>
            </a:r>
            <a:r>
              <a:rPr sz="2400" b="1"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50" dirty="0">
                <a:solidFill>
                  <a:srgbClr val="000000">
                    <a:alpha val="100000"/>
                  </a:srgbClr>
                </a:solidFill>
                <a:latin typeface="仿宋" panose="02010609060101010101" charset="-122"/>
                <a:ea typeface="仿宋" panose="02010609060101010101" charset="-122"/>
                <a:cs typeface="仿宋" panose="02010609060101010101" charset="-122"/>
              </a:rPr>
              <a:t>，</a:t>
            </a:r>
            <a:r>
              <a:rPr sz="2400" kern="0" spc="13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50" dirty="0">
                <a:solidFill>
                  <a:srgbClr val="000000">
                    <a:alpha val="100000"/>
                  </a:srgbClr>
                </a:solidFill>
                <a:latin typeface="Times New Roman" panose="02020603050405020304"/>
                <a:ea typeface="Times New Roman" panose="02020603050405020304"/>
                <a:cs typeface="Times New Roman" panose="02020603050405020304"/>
              </a:rPr>
              <a:t>MAGENTA</a:t>
            </a:r>
            <a:r>
              <a:rPr sz="2400" b="1" kern="0" spc="-50" dirty="0">
                <a:solidFill>
                  <a:srgbClr val="000000">
                    <a:alpha val="100000"/>
                  </a:srgbClr>
                </a:solidFill>
                <a:latin typeface="仿宋" panose="02010609060101010101" charset="-122"/>
                <a:ea typeface="仿宋" panose="02010609060101010101" charset="-122"/>
                <a:cs typeface="仿宋" panose="02010609060101010101" charset="-122"/>
              </a:rPr>
              <a:t>，</a:t>
            </a:r>
            <a:endParaRPr sz="2400" dirty="0">
              <a:latin typeface="仿宋" panose="02010609060101010101" charset="-122"/>
              <a:ea typeface="仿宋" panose="02010609060101010101" charset="-122"/>
              <a:cs typeface="仿宋" panose="02010609060101010101" charset="-122"/>
            </a:endParaRPr>
          </a:p>
          <a:p>
            <a:pPr algn="l" rtl="0" eaLnBrk="0">
              <a:lnSpc>
                <a:spcPct val="178000"/>
              </a:lnSpc>
            </a:pPr>
            <a:endParaRPr sz="1000" dirty="0">
              <a:latin typeface="Arial" panose="020B0604020202020204" pitchFamily="34" charset="0"/>
              <a:ea typeface="Arial" panose="020B0604020202020204" pitchFamily="34" charset="0"/>
              <a:cs typeface="Arial" panose="020B0604020202020204" pitchFamily="34" charset="0"/>
            </a:endParaRPr>
          </a:p>
          <a:p>
            <a:pPr marL="535940" algn="l" rtl="0" eaLnBrk="0">
              <a:lnSpc>
                <a:spcPct val="80000"/>
              </a:lnSpc>
              <a:spcBef>
                <a:spcPts val="725"/>
              </a:spcBef>
            </a:pP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MARS</a:t>
            </a:r>
            <a:r>
              <a:rPr sz="2400" b="1"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a:t>
            </a:r>
            <a:r>
              <a:rPr sz="2400" kern="0" spc="-2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HPC,            RIJND</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AEL</a:t>
            </a:r>
            <a:r>
              <a:rPr sz="2400" b="1"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a:t>
            </a:r>
            <a:r>
              <a:rPr sz="2400" kern="0" spc="6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SAFER+</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a:t>
            </a:r>
            <a:endParaRPr sz="2400" dirty="0">
              <a:latin typeface="仿宋" panose="02010609060101010101" charset="-122"/>
              <a:ea typeface="仿宋" panose="02010609060101010101" charset="-122"/>
              <a:cs typeface="仿宋" panose="02010609060101010101" charset="-122"/>
            </a:endParaRPr>
          </a:p>
          <a:p>
            <a:pPr algn="l" rtl="0" eaLnBrk="0">
              <a:lnSpc>
                <a:spcPct val="171000"/>
              </a:lnSpc>
            </a:pPr>
            <a:endParaRPr sz="1000" dirty="0">
              <a:latin typeface="Arial" panose="020B0604020202020204" pitchFamily="34" charset="0"/>
              <a:ea typeface="Arial" panose="020B0604020202020204" pitchFamily="34" charset="0"/>
              <a:cs typeface="Arial" panose="020B0604020202020204" pitchFamily="34" charset="0"/>
            </a:endParaRPr>
          </a:p>
          <a:p>
            <a:pPr marL="545465" algn="l" rtl="0" eaLnBrk="0">
              <a:lnSpc>
                <a:spcPct val="76000"/>
              </a:lnSpc>
              <a:spcBef>
                <a:spcPts val="725"/>
              </a:spcBef>
            </a:pP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SERPENT</a:t>
            </a:r>
            <a:r>
              <a:rPr sz="2400" b="1"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a:t>
            </a:r>
            <a:r>
              <a:rPr sz="2400" kern="0" spc="68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E-2</a:t>
            </a:r>
            <a:r>
              <a:rPr sz="2400" b="1"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a:t>
            </a:r>
            <a:r>
              <a:rPr sz="2400" kern="0" spc="-4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TWOFISH</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a:t>
            </a:r>
            <a:endParaRPr sz="2400" dirty="0">
              <a:latin typeface="仿宋" panose="02010609060101010101" charset="-122"/>
              <a:ea typeface="仿宋" panose="02010609060101010101" charset="-122"/>
              <a:cs typeface="仿宋" panose="02010609060101010101" charset="-122"/>
            </a:endParaRPr>
          </a:p>
          <a:p>
            <a:pPr algn="l" rtl="0" eaLnBrk="0">
              <a:lnSpc>
                <a:spcPct val="13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44475" indent="-232410" algn="l" rtl="0" eaLnBrk="0">
              <a:lnSpc>
                <a:spcPct val="108000"/>
              </a:lnSpc>
              <a:spcBef>
                <a:spcPts val="0"/>
              </a:spcBef>
            </a:pPr>
            <a:r>
              <a:rPr sz="2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这些算法设计思想新颖，技术水平先</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进，算法的强度都超过</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3-DES</a:t>
            </a:r>
            <a:r>
              <a:rPr sz="2400" b="1"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，实现速</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度快于</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3-DES</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a:t>
            </a:r>
            <a:endParaRPr sz="2400" dirty="0">
              <a:latin typeface="仿宋" panose="02010609060101010101" charset="-122"/>
              <a:ea typeface="仿宋" panose="02010609060101010101" charset="-122"/>
              <a:cs typeface="仿宋" panose="02010609060101010101" charset="-122"/>
            </a:endParaRPr>
          </a:p>
        </p:txBody>
      </p:sp>
      <p:sp>
        <p:nvSpPr>
          <p:cNvPr id="76" name="textbox 76"/>
          <p:cNvSpPr/>
          <p:nvPr/>
        </p:nvSpPr>
        <p:spPr>
          <a:xfrm>
            <a:off x="1548646" y="411369"/>
            <a:ext cx="8969375" cy="614044"/>
          </a:xfrm>
          <a:prstGeom prst="rect">
            <a:avLst/>
          </a:prstGeom>
          <a:noFill/>
          <a:ln w="0" cap="flat">
            <a:noFill/>
            <a:prstDash val="solid"/>
            <a:miter lim="0"/>
          </a:ln>
        </p:spPr>
        <p:txBody>
          <a:bodyPr vert="horz" wrap="square" lIns="0" tIns="0" rIns="0" bIns="0"/>
          <a:lstStyle/>
          <a:p>
            <a:pPr algn="l" rtl="0" eaLnBrk="0">
              <a:lnSpc>
                <a:spcPct val="9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4000"/>
              </a:lnSpc>
              <a:tabLst>
                <a:tab pos="8956040" algn="l"/>
              </a:tabLst>
            </a:pPr>
            <a:r>
              <a:rPr sz="4000" b="1" u="sng" kern="0" spc="-10" dirty="0">
                <a:solidFill>
                  <a:srgbClr val="0563C1">
                    <a:alpha val="100000"/>
                  </a:srgbClr>
                </a:solidFill>
                <a:uFill>
                  <a:solidFill>
                    <a:srgbClr val="5B9BD5"/>
                  </a:solidFill>
                </a:uFill>
                <a:latin typeface="Times New Roman" panose="02020603050405020304"/>
                <a:ea typeface="Times New Roman" panose="02020603050405020304"/>
                <a:cs typeface="Times New Roman" panose="02020603050405020304"/>
              </a:rPr>
              <a:t>AES</a:t>
            </a:r>
            <a:r>
              <a:rPr sz="4000" b="1" u="sng" kern="0" spc="-1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的评审</a:t>
            </a:r>
            <a:r>
              <a:rPr sz="4000" u="sng" kern="0" spc="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4000" dirty="0">
              <a:latin typeface="仿宋" panose="02010609060101010101" charset="-122"/>
              <a:ea typeface="仿宋" panose="02010609060101010101" charset="-122"/>
              <a:cs typeface="仿宋" panose="02010609060101010101" charset="-122"/>
            </a:endParaRPr>
          </a:p>
        </p:txBody>
      </p:sp>
      <p:sp>
        <p:nvSpPr>
          <p:cNvPr id="80" name="path 80"/>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82" name="picture 82"/>
          <p:cNvPicPr>
            <a:picLocks noChangeAspect="1"/>
          </p:cNvPicPr>
          <p:nvPr/>
        </p:nvPicPr>
        <p:blipFill>
          <a:blip r:embed="rId1"/>
          <a:stretch>
            <a:fillRect/>
          </a:stretch>
        </p:blipFill>
        <p:spPr>
          <a:xfrm rot="21600000">
            <a:off x="822960" y="408431"/>
            <a:ext cx="420623" cy="6553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box 84"/>
          <p:cNvSpPr/>
          <p:nvPr/>
        </p:nvSpPr>
        <p:spPr>
          <a:xfrm>
            <a:off x="921819" y="1576561"/>
            <a:ext cx="9409430" cy="396176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9000"/>
              </a:lnSpc>
            </a:pPr>
            <a:r>
              <a:rPr sz="2800" kern="0" spc="-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50" dirty="0">
                <a:solidFill>
                  <a:srgbClr val="000000">
                    <a:alpha val="100000"/>
                  </a:srgbClr>
                </a:solidFill>
                <a:latin typeface="Times New Roman" panose="02020603050405020304"/>
                <a:ea typeface="Times New Roman" panose="02020603050405020304"/>
                <a:cs typeface="Times New Roman" panose="02020603050405020304"/>
              </a:rPr>
              <a:t>1999</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年</a:t>
            </a:r>
            <a:r>
              <a:rPr sz="2800" b="1" kern="0" spc="-50" dirty="0">
                <a:solidFill>
                  <a:srgbClr val="000000">
                    <a:alpha val="100000"/>
                  </a:srgbClr>
                </a:solidFill>
                <a:latin typeface="Times New Roman" panose="02020603050405020304"/>
                <a:ea typeface="Times New Roman" panose="02020603050405020304"/>
                <a:cs typeface="Times New Roman" panose="02020603050405020304"/>
              </a:rPr>
              <a:t>8</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月</a:t>
            </a:r>
            <a:r>
              <a:rPr sz="2800" b="1" kern="0" spc="-50" dirty="0">
                <a:solidFill>
                  <a:srgbClr val="000000">
                    <a:alpha val="100000"/>
                  </a:srgbClr>
                </a:solidFill>
                <a:latin typeface="Times New Roman" panose="02020603050405020304"/>
                <a:ea typeface="Times New Roman" panose="02020603050405020304"/>
                <a:cs typeface="Times New Roman" panose="02020603050405020304"/>
              </a:rPr>
              <a:t>9</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日</a:t>
            </a:r>
            <a:r>
              <a:rPr sz="2800" b="1" kern="0" spc="-50" dirty="0">
                <a:solidFill>
                  <a:srgbClr val="000000">
                    <a:alpha val="100000"/>
                  </a:srgbClr>
                </a:solidFill>
                <a:latin typeface="Times New Roman" panose="02020603050405020304"/>
                <a:ea typeface="Times New Roman" panose="02020603050405020304"/>
                <a:cs typeface="Times New Roman" panose="02020603050405020304"/>
              </a:rPr>
              <a:t>NIST</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宣布第二轮筛选出的</a:t>
            </a:r>
            <a:r>
              <a:rPr sz="2800" b="1" kern="0" spc="-50" dirty="0">
                <a:solidFill>
                  <a:srgbClr val="000000">
                    <a:alpha val="100000"/>
                  </a:srgbClr>
                </a:solidFill>
                <a:latin typeface="Times New Roman" panose="02020603050405020304"/>
                <a:ea typeface="Times New Roman" panose="02020603050405020304"/>
                <a:cs typeface="Times New Roman" panose="02020603050405020304"/>
              </a:rPr>
              <a:t>5</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个候选算法为：</a:t>
            </a:r>
            <a:endParaRPr sz="2800" dirty="0">
              <a:latin typeface="仿宋" panose="02010609060101010101" charset="-122"/>
              <a:ea typeface="仿宋" panose="02010609060101010101" charset="-122"/>
              <a:cs typeface="仿宋" panose="02010609060101010101" charset="-122"/>
            </a:endParaRPr>
          </a:p>
          <a:p>
            <a:pPr algn="l" rtl="0" eaLnBrk="0">
              <a:lnSpc>
                <a:spcPct val="112000"/>
              </a:lnSpc>
            </a:pPr>
            <a:endParaRPr sz="1000" dirty="0">
              <a:latin typeface="Arial" panose="020B0604020202020204" pitchFamily="34" charset="0"/>
              <a:ea typeface="Arial" panose="020B0604020202020204" pitchFamily="34" charset="0"/>
              <a:cs typeface="Arial" panose="020B0604020202020204" pitchFamily="34" charset="0"/>
            </a:endParaRPr>
          </a:p>
          <a:p>
            <a:pPr marL="532765" algn="l" rtl="0" eaLnBrk="0">
              <a:lnSpc>
                <a:spcPct val="93000"/>
              </a:lnSpc>
              <a:spcBef>
                <a:spcPts val="720"/>
              </a:spcBef>
            </a:pP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MARS(C.Burwick</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等</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,IBM</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a:t>
            </a:r>
            <a:endParaRPr sz="2400" dirty="0">
              <a:latin typeface="仿宋" panose="02010609060101010101" charset="-122"/>
              <a:ea typeface="仿宋" panose="02010609060101010101" charset="-122"/>
              <a:cs typeface="仿宋" panose="02010609060101010101" charset="-122"/>
            </a:endParaRPr>
          </a:p>
          <a:p>
            <a:pPr marL="532765" algn="l" rtl="0" eaLnBrk="0">
              <a:lnSpc>
                <a:spcPct val="90000"/>
              </a:lnSpc>
              <a:spcBef>
                <a:spcPts val="1900"/>
              </a:spcBef>
            </a:pPr>
            <a:r>
              <a:rPr sz="2400" b="1" kern="0" spc="0" dirty="0">
                <a:solidFill>
                  <a:srgbClr val="FF0000">
                    <a:alpha val="100000"/>
                  </a:srgbClr>
                </a:solidFill>
                <a:latin typeface="Times New Roman" panose="02020603050405020304"/>
                <a:ea typeface="Times New Roman" panose="02020603050405020304"/>
                <a:cs typeface="Times New Roman" panose="02020603050405020304"/>
              </a:rPr>
              <a:t>RC6</a:t>
            </a:r>
            <a:r>
              <a:rPr sz="2400" b="1" kern="0" spc="0" baseline="28000" dirty="0">
                <a:solidFill>
                  <a:srgbClr val="FF0000">
                    <a:alpha val="100000"/>
                  </a:srgbClr>
                </a:solidFill>
                <a:latin typeface="Times New Roman" panose="02020603050405020304"/>
                <a:ea typeface="Times New Roman" panose="02020603050405020304"/>
                <a:cs typeface="Times New Roman" panose="02020603050405020304"/>
              </a:rPr>
              <a:t>TM</a:t>
            </a:r>
            <a:r>
              <a:rPr sz="2400" b="1" kern="0" spc="0" dirty="0">
                <a:solidFill>
                  <a:srgbClr val="FF0000">
                    <a:alpha val="100000"/>
                  </a:srgbClr>
                </a:solidFill>
                <a:latin typeface="仿宋" panose="02010609060101010101" charset="-122"/>
                <a:ea typeface="仿宋" panose="02010609060101010101" charset="-122"/>
                <a:cs typeface="仿宋" panose="02010609060101010101" charset="-122"/>
              </a:rPr>
              <a:t>（</a:t>
            </a:r>
            <a:r>
              <a:rPr sz="2400" b="1" kern="0" spc="0" dirty="0">
                <a:solidFill>
                  <a:srgbClr val="FF0000">
                    <a:alpha val="100000"/>
                  </a:srgbClr>
                </a:solidFill>
                <a:latin typeface="Times New Roman" panose="02020603050405020304"/>
                <a:ea typeface="Times New Roman" panose="02020603050405020304"/>
                <a:cs typeface="Times New Roman" panose="02020603050405020304"/>
              </a:rPr>
              <a:t>R. Rives</a:t>
            </a:r>
            <a:r>
              <a:rPr sz="2400" b="1" kern="0" spc="-10" dirty="0">
                <a:solidFill>
                  <a:srgbClr val="FF0000">
                    <a:alpha val="100000"/>
                  </a:srgbClr>
                </a:solidFill>
                <a:latin typeface="Times New Roman" panose="02020603050405020304"/>
                <a:ea typeface="Times New Roman" panose="02020603050405020304"/>
                <a:cs typeface="Times New Roman" panose="02020603050405020304"/>
              </a:rPr>
              <a:t>t</a:t>
            </a:r>
            <a:r>
              <a:rPr sz="2400" b="1" kern="0" spc="-10" dirty="0">
                <a:solidFill>
                  <a:srgbClr val="FF0000">
                    <a:alpha val="100000"/>
                  </a:srgbClr>
                </a:solidFill>
                <a:latin typeface="仿宋" panose="02010609060101010101" charset="-122"/>
                <a:ea typeface="仿宋" panose="02010609060101010101" charset="-122"/>
                <a:cs typeface="仿宋" panose="02010609060101010101" charset="-122"/>
              </a:rPr>
              <a:t>等</a:t>
            </a:r>
            <a:r>
              <a:rPr sz="2400" b="1" kern="0" spc="-10" dirty="0">
                <a:solidFill>
                  <a:srgbClr val="FF0000">
                    <a:alpha val="100000"/>
                  </a:srgbClr>
                </a:solidFill>
                <a:latin typeface="Times New Roman" panose="02020603050405020304"/>
                <a:ea typeface="Times New Roman" panose="02020603050405020304"/>
                <a:cs typeface="Times New Roman" panose="02020603050405020304"/>
              </a:rPr>
              <a:t>,RSA Lab.)</a:t>
            </a:r>
            <a:r>
              <a:rPr sz="2400" b="1" kern="0" spc="-10" dirty="0">
                <a:solidFill>
                  <a:srgbClr val="FF0000">
                    <a:alpha val="100000"/>
                  </a:srgbClr>
                </a:solidFill>
                <a:latin typeface="仿宋" panose="02010609060101010101" charset="-122"/>
                <a:ea typeface="仿宋" panose="02010609060101010101" charset="-122"/>
                <a:cs typeface="仿宋" panose="02010609060101010101" charset="-122"/>
              </a:rPr>
              <a:t>，</a:t>
            </a:r>
            <a:endParaRPr sz="2400" dirty="0">
              <a:solidFill>
                <a:srgbClr val="FF0000"/>
              </a:solidFill>
              <a:latin typeface="仿宋" panose="02010609060101010101" charset="-122"/>
              <a:ea typeface="仿宋" panose="02010609060101010101" charset="-122"/>
              <a:cs typeface="仿宋" panose="02010609060101010101" charset="-122"/>
            </a:endParaRPr>
          </a:p>
          <a:p>
            <a:pPr marL="532765" algn="l" rtl="0" eaLnBrk="0">
              <a:lnSpc>
                <a:spcPts val="4465"/>
              </a:lnSpc>
            </a:pP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RIJNDEAL(J. Dae</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men,</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比利时</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a:t>
            </a:r>
            <a:endParaRPr sz="2400" dirty="0">
              <a:latin typeface="仿宋" panose="02010609060101010101" charset="-122"/>
              <a:ea typeface="仿宋" panose="02010609060101010101" charset="-122"/>
              <a:cs typeface="仿宋" panose="02010609060101010101" charset="-122"/>
            </a:endParaRPr>
          </a:p>
          <a:p>
            <a:pPr marL="542925" algn="l" rtl="0" eaLnBrk="0">
              <a:lnSpc>
                <a:spcPct val="90000"/>
              </a:lnSpc>
              <a:spcBef>
                <a:spcPts val="1875"/>
              </a:spcBef>
            </a:pP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SERPENT(R. A</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nderson</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等，英国、以利时、挪威</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a:t>
            </a:r>
            <a:endParaRPr sz="2400" dirty="0">
              <a:latin typeface="仿宋" panose="02010609060101010101" charset="-122"/>
              <a:ea typeface="仿宋" panose="02010609060101010101" charset="-122"/>
              <a:cs typeface="仿宋" panose="02010609060101010101" charset="-122"/>
            </a:endParaRPr>
          </a:p>
          <a:p>
            <a:pPr marL="531495" algn="l" rtl="0" eaLnBrk="0">
              <a:lnSpc>
                <a:spcPts val="4440"/>
              </a:lnSpc>
            </a:pP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TWOFISH(B. Schne</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ier</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，美国</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a:t>
            </a:r>
            <a:endParaRPr sz="2400" dirty="0">
              <a:latin typeface="仿宋" panose="02010609060101010101" charset="-122"/>
              <a:ea typeface="仿宋" panose="02010609060101010101" charset="-122"/>
              <a:cs typeface="仿宋" panose="02010609060101010101" charset="-122"/>
            </a:endParaRPr>
          </a:p>
          <a:p>
            <a:pPr algn="l" rtl="0" eaLnBrk="0">
              <a:lnSpc>
                <a:spcPct val="102000"/>
              </a:lnSpc>
            </a:pPr>
            <a:endParaRPr sz="16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2000"/>
              </a:lnSpc>
              <a:spcBef>
                <a:spcPts val="5"/>
              </a:spcBef>
            </a:pPr>
            <a:r>
              <a:rPr sz="28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1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2000</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年</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10</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月</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2</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日，</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NI</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ST</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宣布</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Rijndael</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作为新的</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AES</a:t>
            </a:r>
            <a:endParaRPr sz="2800" dirty="0">
              <a:latin typeface="Times New Roman" panose="02020603050405020304"/>
              <a:ea typeface="Times New Roman" panose="02020603050405020304"/>
              <a:cs typeface="Times New Roman" panose="02020603050405020304"/>
            </a:endParaRPr>
          </a:p>
        </p:txBody>
      </p:sp>
      <p:sp>
        <p:nvSpPr>
          <p:cNvPr id="86" name="textbox 86"/>
          <p:cNvSpPr/>
          <p:nvPr/>
        </p:nvSpPr>
        <p:spPr>
          <a:xfrm>
            <a:off x="1547817" y="466861"/>
            <a:ext cx="3238500" cy="482600"/>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7000"/>
              </a:lnSpc>
            </a:pPr>
            <a:r>
              <a:rPr sz="3100" b="1" kern="0" spc="-120" dirty="0">
                <a:solidFill>
                  <a:srgbClr val="0563C1">
                    <a:alpha val="100000"/>
                  </a:srgbClr>
                </a:solidFill>
                <a:latin typeface="Times New Roman" panose="02020603050405020304"/>
                <a:ea typeface="Times New Roman" panose="02020603050405020304"/>
                <a:cs typeface="Times New Roman" panose="02020603050405020304"/>
              </a:rPr>
              <a:t>AES</a:t>
            </a:r>
            <a:r>
              <a:rPr sz="3100" b="1" kern="0" spc="-120" dirty="0">
                <a:solidFill>
                  <a:srgbClr val="0563C1">
                    <a:alpha val="100000"/>
                  </a:srgbClr>
                </a:solidFill>
                <a:latin typeface="仿宋" panose="02010609060101010101" charset="-122"/>
                <a:ea typeface="仿宋" panose="02010609060101010101" charset="-122"/>
                <a:cs typeface="仿宋" panose="02010609060101010101" charset="-122"/>
              </a:rPr>
              <a:t>的评审（续）</a:t>
            </a:r>
            <a:endParaRPr sz="3100" dirty="0">
              <a:latin typeface="仿宋" panose="02010609060101010101" charset="-122"/>
              <a:ea typeface="仿宋" panose="02010609060101010101" charset="-122"/>
              <a:cs typeface="仿宋" panose="02010609060101010101" charset="-122"/>
            </a:endParaRPr>
          </a:p>
        </p:txBody>
      </p:sp>
      <p:sp>
        <p:nvSpPr>
          <p:cNvPr id="90" name="path 90"/>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92" name="picture 92"/>
          <p:cNvPicPr>
            <a:picLocks noChangeAspect="1"/>
          </p:cNvPicPr>
          <p:nvPr/>
        </p:nvPicPr>
        <p:blipFill>
          <a:blip r:embed="rId1"/>
          <a:stretch>
            <a:fillRect/>
          </a:stretch>
        </p:blipFill>
        <p:spPr>
          <a:xfrm rot="21600000">
            <a:off x="822960" y="408431"/>
            <a:ext cx="420623" cy="655320"/>
          </a:xfrm>
          <a:prstGeom prst="rect">
            <a:avLst/>
          </a:prstGeom>
        </p:spPr>
      </p:pic>
      <p:sp>
        <p:nvSpPr>
          <p:cNvPr id="94" name="path 94"/>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3723723" y="1997482"/>
            <a:ext cx="4796154"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1009650" algn="l" rtl="0" eaLnBrk="0">
              <a:lnSpc>
                <a:spcPct val="96000"/>
              </a:lnSpc>
            </a:pPr>
            <a:endParaRPr sz="4300" dirty="0">
              <a:latin typeface="仿宋" panose="02010609060101010101" charset="-122"/>
              <a:ea typeface="仿宋" panose="02010609060101010101" charset="-122"/>
              <a:cs typeface="仿宋" panose="02010609060101010101" charset="-122"/>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4000"/>
              </a:lnSpc>
              <a:spcBef>
                <a:spcPts val="1080"/>
              </a:spcBef>
            </a:pPr>
            <a:r>
              <a:rPr lang="en-US" sz="3600" b="1" kern="0" spc="-40" dirty="0">
                <a:solidFill>
                  <a:srgbClr val="000000">
                    <a:alpha val="100000"/>
                  </a:srgbClr>
                </a:solidFill>
                <a:latin typeface="仿宋" panose="02010609060101010101" charset="-122"/>
                <a:ea typeface="仿宋" panose="02010609060101010101" charset="-122"/>
                <a:cs typeface="仿宋" panose="02010609060101010101" charset="-122"/>
              </a:rPr>
              <a:t>AES</a:t>
            </a:r>
            <a:r>
              <a:rPr lang="zh-CN" sz="3600" b="1" kern="0" spc="-40" dirty="0">
                <a:solidFill>
                  <a:srgbClr val="000000">
                    <a:alpha val="100000"/>
                  </a:srgbClr>
                </a:solidFill>
                <a:latin typeface="仿宋" panose="02010609060101010101" charset="-122"/>
                <a:ea typeface="仿宋" panose="02010609060101010101" charset="-122"/>
                <a:cs typeface="仿宋" panose="02010609060101010101" charset="-122"/>
              </a:rPr>
              <a:t>算法数学</a:t>
            </a:r>
            <a:r>
              <a:rPr sz="3600" b="1" kern="0" spc="-40" dirty="0">
                <a:solidFill>
                  <a:srgbClr val="000000">
                    <a:alpha val="100000"/>
                  </a:srgbClr>
                </a:solidFill>
                <a:latin typeface="仿宋" panose="02010609060101010101" charset="-122"/>
                <a:ea typeface="仿宋" panose="02010609060101010101" charset="-122"/>
                <a:cs typeface="仿宋" panose="02010609060101010101" charset="-122"/>
              </a:rPr>
              <a:t>基础</a:t>
            </a:r>
            <a:endParaRPr sz="3600" dirty="0">
              <a:latin typeface="仿宋" panose="02010609060101010101" charset="-122"/>
              <a:ea typeface="仿宋" panose="02010609060101010101" charset="-122"/>
              <a:cs typeface="仿宋" panose="02010609060101010101" charset="-122"/>
            </a:endParaRPr>
          </a:p>
          <a:p>
            <a:pPr algn="l" rtl="0" eaLnBrk="0">
              <a:lnSpc>
                <a:spcPct val="10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1022350"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extbox 114"/>
          <p:cNvSpPr/>
          <p:nvPr/>
        </p:nvSpPr>
        <p:spPr>
          <a:xfrm>
            <a:off x="1546195" y="491245"/>
            <a:ext cx="3087370" cy="47942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中的处理单元</a:t>
            </a:r>
            <a:endParaRPr sz="3100" dirty="0">
              <a:latin typeface="仿宋" panose="02010609060101010101" charset="-122"/>
              <a:ea typeface="仿宋" panose="02010609060101010101" charset="-122"/>
              <a:cs typeface="仿宋" panose="02010609060101010101" charset="-122"/>
            </a:endParaRPr>
          </a:p>
        </p:txBody>
      </p:sp>
      <p:sp>
        <p:nvSpPr>
          <p:cNvPr id="118" name="path 11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0" name="picture 120"/>
          <p:cNvPicPr>
            <a:picLocks noChangeAspect="1"/>
          </p:cNvPicPr>
          <p:nvPr/>
        </p:nvPicPr>
        <p:blipFill>
          <a:blip r:embed="rId1"/>
          <a:stretch>
            <a:fillRect/>
          </a:stretch>
        </p:blipFill>
        <p:spPr>
          <a:xfrm rot="21600000">
            <a:off x="822960" y="408431"/>
            <a:ext cx="420623" cy="655320"/>
          </a:xfrm>
          <a:prstGeom prst="rect">
            <a:avLst/>
          </a:prstGeom>
        </p:spPr>
      </p:pic>
      <p:sp>
        <p:nvSpPr>
          <p:cNvPr id="122" name="path 12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1467485" y="1349375"/>
            <a:ext cx="7940040" cy="45110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extbox 114"/>
          <p:cNvSpPr/>
          <p:nvPr/>
        </p:nvSpPr>
        <p:spPr>
          <a:xfrm>
            <a:off x="1546195" y="491245"/>
            <a:ext cx="3087370" cy="47942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中的处理单元</a:t>
            </a:r>
            <a:endParaRPr sz="3100" dirty="0">
              <a:latin typeface="仿宋" panose="02010609060101010101" charset="-122"/>
              <a:ea typeface="仿宋" panose="02010609060101010101" charset="-122"/>
              <a:cs typeface="仿宋" panose="02010609060101010101" charset="-122"/>
            </a:endParaRPr>
          </a:p>
        </p:txBody>
      </p:sp>
      <p:sp>
        <p:nvSpPr>
          <p:cNvPr id="118" name="path 11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0" name="picture 120"/>
          <p:cNvPicPr>
            <a:picLocks noChangeAspect="1"/>
          </p:cNvPicPr>
          <p:nvPr/>
        </p:nvPicPr>
        <p:blipFill>
          <a:blip r:embed="rId1"/>
          <a:stretch>
            <a:fillRect/>
          </a:stretch>
        </p:blipFill>
        <p:spPr>
          <a:xfrm rot="21600000">
            <a:off x="822960" y="408431"/>
            <a:ext cx="420623" cy="655320"/>
          </a:xfrm>
          <a:prstGeom prst="rect">
            <a:avLst/>
          </a:prstGeom>
        </p:spPr>
      </p:pic>
      <p:sp>
        <p:nvSpPr>
          <p:cNvPr id="122" name="path 12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3" name="图片 2"/>
          <p:cNvPicPr>
            <a:picLocks noChangeAspect="1"/>
          </p:cNvPicPr>
          <p:nvPr/>
        </p:nvPicPr>
        <p:blipFill>
          <a:blip r:embed="rId2"/>
          <a:stretch>
            <a:fillRect/>
          </a:stretch>
        </p:blipFill>
        <p:spPr>
          <a:xfrm>
            <a:off x="1243330" y="1162050"/>
            <a:ext cx="8282940" cy="45339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extbox 114"/>
          <p:cNvSpPr/>
          <p:nvPr/>
        </p:nvSpPr>
        <p:spPr>
          <a:xfrm>
            <a:off x="1546225" y="491490"/>
            <a:ext cx="3880485" cy="47942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中的</a:t>
            </a:r>
            <a:r>
              <a:rPr lang="zh-CN" sz="3100" b="1" kern="0" spc="110" dirty="0">
                <a:solidFill>
                  <a:srgbClr val="1F4E79">
                    <a:alpha val="100000"/>
                  </a:srgbClr>
                </a:solidFill>
                <a:latin typeface="仿宋" panose="02010609060101010101" charset="-122"/>
                <a:ea typeface="仿宋" panose="02010609060101010101" charset="-122"/>
                <a:cs typeface="仿宋" panose="02010609060101010101" charset="-122"/>
              </a:rPr>
              <a:t>有限域</a:t>
            </a:r>
            <a:r>
              <a:rPr lang="zh-CN" sz="3100" b="1" kern="0" spc="110" dirty="0">
                <a:solidFill>
                  <a:srgbClr val="1F4E79">
                    <a:alpha val="100000"/>
                  </a:srgbClr>
                </a:solidFill>
                <a:latin typeface="仿宋" panose="02010609060101010101" charset="-122"/>
                <a:ea typeface="仿宋" panose="02010609060101010101" charset="-122"/>
                <a:cs typeface="仿宋" panose="02010609060101010101" charset="-122"/>
              </a:rPr>
              <a:t>运算</a:t>
            </a:r>
            <a:endParaRPr lang="zh-CN" sz="3100" b="1" kern="0" spc="110" dirty="0">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18" name="path 11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0" name="picture 120"/>
          <p:cNvPicPr>
            <a:picLocks noChangeAspect="1"/>
          </p:cNvPicPr>
          <p:nvPr/>
        </p:nvPicPr>
        <p:blipFill>
          <a:blip r:embed="rId1"/>
          <a:stretch>
            <a:fillRect/>
          </a:stretch>
        </p:blipFill>
        <p:spPr>
          <a:xfrm rot="21600000">
            <a:off x="822960" y="408431"/>
            <a:ext cx="420623" cy="655320"/>
          </a:xfrm>
          <a:prstGeom prst="rect">
            <a:avLst/>
          </a:prstGeom>
        </p:spPr>
      </p:pic>
      <p:sp>
        <p:nvSpPr>
          <p:cNvPr id="122" name="path 12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1546225" y="1196340"/>
            <a:ext cx="7764780" cy="44653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extbox 114"/>
          <p:cNvSpPr/>
          <p:nvPr/>
        </p:nvSpPr>
        <p:spPr>
          <a:xfrm>
            <a:off x="1546225" y="491490"/>
            <a:ext cx="3716655" cy="47942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中的</a:t>
            </a:r>
            <a:r>
              <a:rPr lang="zh-CN" sz="3100" b="1" kern="0" spc="110" dirty="0">
                <a:solidFill>
                  <a:srgbClr val="1F4E79">
                    <a:alpha val="100000"/>
                  </a:srgbClr>
                </a:solidFill>
                <a:latin typeface="仿宋" panose="02010609060101010101" charset="-122"/>
                <a:ea typeface="仿宋" panose="02010609060101010101" charset="-122"/>
                <a:cs typeface="仿宋" panose="02010609060101010101" charset="-122"/>
                <a:sym typeface="+mn-ea"/>
              </a:rPr>
              <a:t>有限域运算</a:t>
            </a:r>
            <a:endParaRPr sz="3100" dirty="0">
              <a:latin typeface="仿宋" panose="02010609060101010101" charset="-122"/>
              <a:ea typeface="仿宋" panose="02010609060101010101" charset="-122"/>
              <a:cs typeface="仿宋" panose="02010609060101010101" charset="-122"/>
            </a:endParaRPr>
          </a:p>
        </p:txBody>
      </p:sp>
      <p:sp>
        <p:nvSpPr>
          <p:cNvPr id="118" name="path 11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0" name="picture 120"/>
          <p:cNvPicPr>
            <a:picLocks noChangeAspect="1"/>
          </p:cNvPicPr>
          <p:nvPr/>
        </p:nvPicPr>
        <p:blipFill>
          <a:blip r:embed="rId1"/>
          <a:stretch>
            <a:fillRect/>
          </a:stretch>
        </p:blipFill>
        <p:spPr>
          <a:xfrm rot="21600000">
            <a:off x="822960" y="408431"/>
            <a:ext cx="420623" cy="655320"/>
          </a:xfrm>
          <a:prstGeom prst="rect">
            <a:avLst/>
          </a:prstGeom>
        </p:spPr>
      </p:pic>
      <p:sp>
        <p:nvSpPr>
          <p:cNvPr id="122" name="path 12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3" name="图片 2"/>
          <p:cNvPicPr>
            <a:picLocks noChangeAspect="1"/>
          </p:cNvPicPr>
          <p:nvPr/>
        </p:nvPicPr>
        <p:blipFill>
          <a:blip r:embed="rId2"/>
          <a:stretch>
            <a:fillRect/>
          </a:stretch>
        </p:blipFill>
        <p:spPr>
          <a:xfrm>
            <a:off x="1467485" y="1342390"/>
            <a:ext cx="8168640" cy="39395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4" name="textbox 114"/>
          <p:cNvSpPr/>
          <p:nvPr/>
        </p:nvSpPr>
        <p:spPr>
          <a:xfrm>
            <a:off x="1546225" y="491490"/>
            <a:ext cx="3716655" cy="47942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中的</a:t>
            </a:r>
            <a:r>
              <a:rPr lang="zh-CN" sz="3100" b="1" kern="0" spc="110" dirty="0">
                <a:solidFill>
                  <a:srgbClr val="1F4E79">
                    <a:alpha val="100000"/>
                  </a:srgbClr>
                </a:solidFill>
                <a:latin typeface="仿宋" panose="02010609060101010101" charset="-122"/>
                <a:ea typeface="仿宋" panose="02010609060101010101" charset="-122"/>
                <a:cs typeface="仿宋" panose="02010609060101010101" charset="-122"/>
                <a:sym typeface="+mn-ea"/>
              </a:rPr>
              <a:t>有限域运算</a:t>
            </a:r>
            <a:endParaRPr sz="3100" dirty="0">
              <a:latin typeface="仿宋" panose="02010609060101010101" charset="-122"/>
              <a:ea typeface="仿宋" panose="02010609060101010101" charset="-122"/>
              <a:cs typeface="仿宋" panose="02010609060101010101" charset="-122"/>
            </a:endParaRPr>
          </a:p>
        </p:txBody>
      </p:sp>
      <p:sp>
        <p:nvSpPr>
          <p:cNvPr id="118" name="path 11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0" name="picture 120"/>
          <p:cNvPicPr>
            <a:picLocks noChangeAspect="1"/>
          </p:cNvPicPr>
          <p:nvPr/>
        </p:nvPicPr>
        <p:blipFill>
          <a:blip r:embed="rId1"/>
          <a:stretch>
            <a:fillRect/>
          </a:stretch>
        </p:blipFill>
        <p:spPr>
          <a:xfrm rot="21600000">
            <a:off x="822960" y="408431"/>
            <a:ext cx="420623" cy="655320"/>
          </a:xfrm>
          <a:prstGeom prst="rect">
            <a:avLst/>
          </a:prstGeom>
        </p:spPr>
      </p:pic>
      <p:sp>
        <p:nvSpPr>
          <p:cNvPr id="122" name="path 12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2295525" y="-22860"/>
            <a:ext cx="8950325" cy="6682740"/>
          </a:xfrm>
          <a:prstGeom prst="rect">
            <a:avLst/>
          </a:prstGeom>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extbox 114"/>
          <p:cNvSpPr/>
          <p:nvPr/>
        </p:nvSpPr>
        <p:spPr>
          <a:xfrm>
            <a:off x="1546225" y="491490"/>
            <a:ext cx="4044950" cy="47942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中的</a:t>
            </a:r>
            <a:r>
              <a:rPr lang="zh-CN" sz="3100" b="1" kern="0" spc="110" dirty="0">
                <a:solidFill>
                  <a:srgbClr val="1F4E79">
                    <a:alpha val="100000"/>
                  </a:srgbClr>
                </a:solidFill>
                <a:latin typeface="仿宋" panose="02010609060101010101" charset="-122"/>
                <a:ea typeface="仿宋" panose="02010609060101010101" charset="-122"/>
                <a:cs typeface="仿宋" panose="02010609060101010101" charset="-122"/>
                <a:sym typeface="+mn-ea"/>
              </a:rPr>
              <a:t>有限域运算</a:t>
            </a:r>
            <a:endParaRPr sz="3100" dirty="0">
              <a:latin typeface="仿宋" panose="02010609060101010101" charset="-122"/>
              <a:ea typeface="仿宋" panose="02010609060101010101" charset="-122"/>
              <a:cs typeface="仿宋" panose="02010609060101010101" charset="-122"/>
            </a:endParaRPr>
          </a:p>
        </p:txBody>
      </p:sp>
      <p:sp>
        <p:nvSpPr>
          <p:cNvPr id="118" name="path 11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0" name="picture 120"/>
          <p:cNvPicPr>
            <a:picLocks noChangeAspect="1"/>
          </p:cNvPicPr>
          <p:nvPr/>
        </p:nvPicPr>
        <p:blipFill>
          <a:blip r:embed="rId1"/>
          <a:stretch>
            <a:fillRect/>
          </a:stretch>
        </p:blipFill>
        <p:spPr>
          <a:xfrm rot="21600000">
            <a:off x="822960" y="408431"/>
            <a:ext cx="420623" cy="655320"/>
          </a:xfrm>
          <a:prstGeom prst="rect">
            <a:avLst/>
          </a:prstGeom>
        </p:spPr>
      </p:pic>
      <p:sp>
        <p:nvSpPr>
          <p:cNvPr id="122" name="path 12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1546225" y="1179830"/>
            <a:ext cx="8130540" cy="45262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path 11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0" name="picture 120"/>
          <p:cNvPicPr>
            <a:picLocks noChangeAspect="1"/>
          </p:cNvPicPr>
          <p:nvPr/>
        </p:nvPicPr>
        <p:blipFill>
          <a:blip r:embed="rId1"/>
          <a:stretch>
            <a:fillRect/>
          </a:stretch>
        </p:blipFill>
        <p:spPr>
          <a:xfrm rot="21600000">
            <a:off x="822960" y="408431"/>
            <a:ext cx="420623" cy="655320"/>
          </a:xfrm>
          <a:prstGeom prst="rect">
            <a:avLst/>
          </a:prstGeom>
        </p:spPr>
      </p:pic>
      <p:sp>
        <p:nvSpPr>
          <p:cNvPr id="122" name="path 12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3" name="图片 2"/>
          <p:cNvPicPr>
            <a:picLocks noChangeAspect="1"/>
          </p:cNvPicPr>
          <p:nvPr/>
        </p:nvPicPr>
        <p:blipFill>
          <a:blip r:embed="rId2"/>
          <a:stretch>
            <a:fillRect/>
          </a:stretch>
        </p:blipFill>
        <p:spPr>
          <a:xfrm>
            <a:off x="1546225" y="1356995"/>
            <a:ext cx="7429500" cy="4495800"/>
          </a:xfrm>
          <a:prstGeom prst="rect">
            <a:avLst/>
          </a:prstGeom>
        </p:spPr>
      </p:pic>
      <p:sp>
        <p:nvSpPr>
          <p:cNvPr id="4" name="textbox 114"/>
          <p:cNvSpPr/>
          <p:nvPr/>
        </p:nvSpPr>
        <p:spPr>
          <a:xfrm>
            <a:off x="1546225" y="491490"/>
            <a:ext cx="4044950" cy="479425"/>
          </a:xfrm>
          <a:prstGeom prst="rect">
            <a:avLst/>
          </a:prstGeom>
          <a:noFill/>
          <a:ln w="0" cap="flat">
            <a:noFill/>
            <a:prstDash val="solid"/>
            <a:miter lim="0"/>
          </a:ln>
        </p:spPr>
        <p:txBody>
          <a:bodyPr vert="horz" wrap="square" lIns="0" tIns="0" rIns="0" bIns="0"/>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中的</a:t>
            </a:r>
            <a:r>
              <a:rPr lang="zh-CN" sz="3100" b="1" kern="0" spc="110" dirty="0">
                <a:solidFill>
                  <a:srgbClr val="1F4E79">
                    <a:alpha val="100000"/>
                  </a:srgbClr>
                </a:solidFill>
                <a:latin typeface="仿宋" panose="02010609060101010101" charset="-122"/>
                <a:ea typeface="仿宋" panose="02010609060101010101" charset="-122"/>
                <a:cs typeface="仿宋" panose="02010609060101010101" charset="-122"/>
                <a:sym typeface="+mn-ea"/>
              </a:rPr>
              <a:t>有限域运算</a:t>
            </a:r>
            <a:endParaRPr sz="3100" dirty="0">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path 11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0" name="picture 120"/>
          <p:cNvPicPr>
            <a:picLocks noChangeAspect="1"/>
          </p:cNvPicPr>
          <p:nvPr/>
        </p:nvPicPr>
        <p:blipFill>
          <a:blip r:embed="rId1"/>
          <a:stretch>
            <a:fillRect/>
          </a:stretch>
        </p:blipFill>
        <p:spPr>
          <a:xfrm rot="21600000">
            <a:off x="822960" y="408431"/>
            <a:ext cx="420623" cy="655320"/>
          </a:xfrm>
          <a:prstGeom prst="rect">
            <a:avLst/>
          </a:prstGeom>
        </p:spPr>
      </p:pic>
      <p:sp>
        <p:nvSpPr>
          <p:cNvPr id="122" name="path 12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1467485" y="1196340"/>
            <a:ext cx="7901940" cy="4465320"/>
          </a:xfrm>
          <a:prstGeom prst="rect">
            <a:avLst/>
          </a:prstGeom>
        </p:spPr>
      </p:pic>
      <p:sp>
        <p:nvSpPr>
          <p:cNvPr id="4" name="textbox 114"/>
          <p:cNvSpPr/>
          <p:nvPr/>
        </p:nvSpPr>
        <p:spPr>
          <a:xfrm>
            <a:off x="1546225" y="491490"/>
            <a:ext cx="4044950" cy="47942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中的</a:t>
            </a:r>
            <a:r>
              <a:rPr lang="zh-CN" sz="3100" b="1" kern="0" spc="110" dirty="0">
                <a:solidFill>
                  <a:srgbClr val="1F4E79">
                    <a:alpha val="100000"/>
                  </a:srgbClr>
                </a:solidFill>
                <a:latin typeface="仿宋" panose="02010609060101010101" charset="-122"/>
                <a:ea typeface="仿宋" panose="02010609060101010101" charset="-122"/>
                <a:cs typeface="仿宋" panose="02010609060101010101" charset="-122"/>
                <a:sym typeface="+mn-ea"/>
              </a:rPr>
              <a:t>有限域运算</a:t>
            </a:r>
            <a:endParaRPr sz="3100" dirty="0">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path 11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0" name="picture 120"/>
          <p:cNvPicPr>
            <a:picLocks noChangeAspect="1"/>
          </p:cNvPicPr>
          <p:nvPr/>
        </p:nvPicPr>
        <p:blipFill>
          <a:blip r:embed="rId1"/>
          <a:stretch>
            <a:fillRect/>
          </a:stretch>
        </p:blipFill>
        <p:spPr>
          <a:xfrm rot="21600000">
            <a:off x="822960" y="408431"/>
            <a:ext cx="420623" cy="655320"/>
          </a:xfrm>
          <a:prstGeom prst="rect">
            <a:avLst/>
          </a:prstGeom>
        </p:spPr>
      </p:pic>
      <p:sp>
        <p:nvSpPr>
          <p:cNvPr id="122" name="path 12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1467485" y="1196340"/>
            <a:ext cx="7901940" cy="4465320"/>
          </a:xfrm>
          <a:prstGeom prst="rect">
            <a:avLst/>
          </a:prstGeom>
        </p:spPr>
      </p:pic>
      <p:sp>
        <p:nvSpPr>
          <p:cNvPr id="4" name="textbox 114"/>
          <p:cNvSpPr/>
          <p:nvPr/>
        </p:nvSpPr>
        <p:spPr>
          <a:xfrm>
            <a:off x="1546225" y="491490"/>
            <a:ext cx="4044950" cy="47942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中的</a:t>
            </a:r>
            <a:r>
              <a:rPr lang="zh-CN" sz="3100" b="1" kern="0" spc="110" dirty="0">
                <a:solidFill>
                  <a:srgbClr val="1F4E79">
                    <a:alpha val="100000"/>
                  </a:srgbClr>
                </a:solidFill>
                <a:latin typeface="仿宋" panose="02010609060101010101" charset="-122"/>
                <a:ea typeface="仿宋" panose="02010609060101010101" charset="-122"/>
                <a:cs typeface="仿宋" panose="02010609060101010101" charset="-122"/>
                <a:sym typeface="+mn-ea"/>
              </a:rPr>
              <a:t>有限域运算</a:t>
            </a:r>
            <a:endParaRPr sz="3100" dirty="0">
              <a:latin typeface="仿宋" panose="02010609060101010101" charset="-122"/>
              <a:ea typeface="仿宋" panose="02010609060101010101" charset="-122"/>
              <a:cs typeface="仿宋" panose="02010609060101010101" charset="-122"/>
            </a:endParaRPr>
          </a:p>
        </p:txBody>
      </p:sp>
      <p:pic>
        <p:nvPicPr>
          <p:cNvPr id="3" name="图片 2"/>
          <p:cNvPicPr>
            <a:picLocks noChangeAspect="1"/>
          </p:cNvPicPr>
          <p:nvPr/>
        </p:nvPicPr>
        <p:blipFill>
          <a:blip r:embed="rId3"/>
          <a:stretch>
            <a:fillRect/>
          </a:stretch>
        </p:blipFill>
        <p:spPr>
          <a:xfrm>
            <a:off x="3975100" y="0"/>
            <a:ext cx="8216900" cy="4168140"/>
          </a:xfrm>
          <a:prstGeom prst="rect">
            <a:avLst/>
          </a:prstGeom>
        </p:spPr>
      </p:pic>
      <p:cxnSp>
        <p:nvCxnSpPr>
          <p:cNvPr id="5" name="曲线连接符 4"/>
          <p:cNvCxnSpPr>
            <a:stCxn id="3" idx="2"/>
          </p:cNvCxnSpPr>
          <p:nvPr/>
        </p:nvCxnSpPr>
        <p:spPr>
          <a:xfrm rot="5400000">
            <a:off x="7366635" y="4007485"/>
            <a:ext cx="556895" cy="877570"/>
          </a:xfrm>
          <a:prstGeom prst="curvedConnector2">
            <a:avLst/>
          </a:prstGeom>
          <a:ln>
            <a:solidFill>
              <a:srgbClr val="FF0000"/>
            </a:solidFill>
            <a:tailEnd type="arrow" w="med" len="med"/>
          </a:ln>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path 11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0" name="picture 120"/>
          <p:cNvPicPr>
            <a:picLocks noChangeAspect="1"/>
          </p:cNvPicPr>
          <p:nvPr/>
        </p:nvPicPr>
        <p:blipFill>
          <a:blip r:embed="rId1"/>
          <a:stretch>
            <a:fillRect/>
          </a:stretch>
        </p:blipFill>
        <p:spPr>
          <a:xfrm rot="21600000">
            <a:off x="822960" y="408431"/>
            <a:ext cx="420623" cy="655320"/>
          </a:xfrm>
          <a:prstGeom prst="rect">
            <a:avLst/>
          </a:prstGeom>
        </p:spPr>
      </p:pic>
      <p:sp>
        <p:nvSpPr>
          <p:cNvPr id="122" name="path 12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3" name="图片 2"/>
          <p:cNvPicPr>
            <a:picLocks noChangeAspect="1"/>
          </p:cNvPicPr>
          <p:nvPr/>
        </p:nvPicPr>
        <p:blipFill>
          <a:blip r:embed="rId2"/>
          <a:stretch>
            <a:fillRect/>
          </a:stretch>
        </p:blipFill>
        <p:spPr>
          <a:xfrm>
            <a:off x="1546225" y="1278255"/>
            <a:ext cx="7665720" cy="4465320"/>
          </a:xfrm>
          <a:prstGeom prst="rect">
            <a:avLst/>
          </a:prstGeom>
        </p:spPr>
      </p:pic>
      <p:sp>
        <p:nvSpPr>
          <p:cNvPr id="4" name="textbox 114"/>
          <p:cNvSpPr/>
          <p:nvPr/>
        </p:nvSpPr>
        <p:spPr>
          <a:xfrm>
            <a:off x="1546225" y="491490"/>
            <a:ext cx="4044950" cy="47942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中的</a:t>
            </a:r>
            <a:r>
              <a:rPr lang="zh-CN" sz="3100" b="1" kern="0" spc="110" dirty="0">
                <a:solidFill>
                  <a:srgbClr val="1F4E79">
                    <a:alpha val="100000"/>
                  </a:srgbClr>
                </a:solidFill>
                <a:latin typeface="仿宋" panose="02010609060101010101" charset="-122"/>
                <a:ea typeface="仿宋" panose="02010609060101010101" charset="-122"/>
                <a:cs typeface="仿宋" panose="02010609060101010101" charset="-122"/>
                <a:sym typeface="+mn-ea"/>
              </a:rPr>
              <a:t>有限域运算</a:t>
            </a:r>
            <a:endParaRPr sz="3100" dirty="0">
              <a:latin typeface="仿宋" panose="02010609060101010101" charset="-122"/>
              <a:ea typeface="仿宋" panose="02010609060101010101" charset="-122"/>
              <a:cs typeface="仿宋" panose="02010609060101010101" charset="-122"/>
            </a:endParaRPr>
          </a:p>
        </p:txBody>
      </p:sp>
      <p:sp>
        <p:nvSpPr>
          <p:cNvPr id="2" name="矩形 1"/>
          <p:cNvSpPr/>
          <p:nvPr/>
        </p:nvSpPr>
        <p:spPr>
          <a:xfrm>
            <a:off x="7240905" y="1098550"/>
            <a:ext cx="4720590" cy="1905000"/>
          </a:xfrm>
          <a:prstGeom prst="rect">
            <a:avLst/>
          </a:prstGeom>
          <a:gradFill>
            <a:gsLst>
              <a:gs pos="44000">
                <a:srgbClr val="F5CBB8"/>
              </a:gs>
              <a:gs pos="0">
                <a:srgbClr val="F8DCD0"/>
              </a:gs>
              <a:gs pos="100000">
                <a:srgbClr val="F1B9A0"/>
              </a:gs>
            </a:gsLst>
            <a:lin scaled="1"/>
          </a:gradFill>
        </p:spPr>
        <p:style>
          <a:lnRef idx="2">
            <a:schemeClr val="accent2"/>
          </a:lnRef>
          <a:fillRef idx="1">
            <a:schemeClr val="lt1"/>
          </a:fillRef>
          <a:effectRef idx="0">
            <a:schemeClr val="accent2"/>
          </a:effectRef>
          <a:fontRef idx="minor">
            <a:schemeClr val="dk1"/>
          </a:fontRef>
        </p:style>
        <p:txBody>
          <a:bodyPr rtlCol="0" anchor="ctr"/>
          <a:p>
            <a:pPr algn="l"/>
            <a:r>
              <a:rPr lang="zh-CN" altLang="en-US" sz="2800"/>
              <a:t>思考：以字</a:t>
            </a:r>
            <a:r>
              <a:rPr lang="en-US" altLang="zh-CN" sz="2800"/>
              <a:t>“12 34 56 78”</a:t>
            </a:r>
            <a:r>
              <a:rPr lang="zh-CN" altLang="en-US" sz="2800"/>
              <a:t>为例，表示成</a:t>
            </a:r>
            <a:r>
              <a:rPr lang="en-US" altLang="zh-CN" sz="2800"/>
              <a:t>b(x)</a:t>
            </a:r>
            <a:r>
              <a:rPr lang="zh-CN" altLang="en-US" sz="2800">
                <a:ea typeface="宋体" panose="02010600030101010101" pitchFamily="2" charset="-122"/>
              </a:rPr>
              <a:t>，然后计算</a:t>
            </a:r>
            <a:r>
              <a:rPr lang="en-US" altLang="zh-CN" sz="2800">
                <a:ea typeface="宋体" panose="02010600030101010101" pitchFamily="2" charset="-122"/>
              </a:rPr>
              <a:t>P(x)</a:t>
            </a:r>
            <a:endParaRPr lang="en-US" altLang="zh-CN" sz="280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path 11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0" name="picture 120"/>
          <p:cNvPicPr>
            <a:picLocks noChangeAspect="1"/>
          </p:cNvPicPr>
          <p:nvPr/>
        </p:nvPicPr>
        <p:blipFill>
          <a:blip r:embed="rId1"/>
          <a:stretch>
            <a:fillRect/>
          </a:stretch>
        </p:blipFill>
        <p:spPr>
          <a:xfrm rot="21600000">
            <a:off x="822960" y="408431"/>
            <a:ext cx="420623" cy="655320"/>
          </a:xfrm>
          <a:prstGeom prst="rect">
            <a:avLst/>
          </a:prstGeom>
        </p:spPr>
      </p:pic>
      <p:sp>
        <p:nvSpPr>
          <p:cNvPr id="122" name="path 12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3" name="图片 2"/>
          <p:cNvPicPr>
            <a:picLocks noChangeAspect="1"/>
          </p:cNvPicPr>
          <p:nvPr/>
        </p:nvPicPr>
        <p:blipFill>
          <a:blip r:embed="rId2"/>
          <a:stretch>
            <a:fillRect/>
          </a:stretch>
        </p:blipFill>
        <p:spPr>
          <a:xfrm>
            <a:off x="1546225" y="1278255"/>
            <a:ext cx="7665720" cy="4465320"/>
          </a:xfrm>
          <a:prstGeom prst="rect">
            <a:avLst/>
          </a:prstGeom>
        </p:spPr>
      </p:pic>
      <p:sp>
        <p:nvSpPr>
          <p:cNvPr id="4" name="textbox 114"/>
          <p:cNvSpPr/>
          <p:nvPr/>
        </p:nvSpPr>
        <p:spPr>
          <a:xfrm>
            <a:off x="1546225" y="491490"/>
            <a:ext cx="4044950" cy="47942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中的</a:t>
            </a:r>
            <a:r>
              <a:rPr lang="zh-CN" sz="3100" b="1" kern="0" spc="110" dirty="0">
                <a:solidFill>
                  <a:srgbClr val="1F4E79">
                    <a:alpha val="100000"/>
                  </a:srgbClr>
                </a:solidFill>
                <a:latin typeface="仿宋" panose="02010609060101010101" charset="-122"/>
                <a:ea typeface="仿宋" panose="02010609060101010101" charset="-122"/>
                <a:cs typeface="仿宋" panose="02010609060101010101" charset="-122"/>
                <a:sym typeface="+mn-ea"/>
              </a:rPr>
              <a:t>有限域运算</a:t>
            </a:r>
            <a:endParaRPr sz="3100" dirty="0">
              <a:latin typeface="仿宋" panose="02010609060101010101" charset="-122"/>
              <a:ea typeface="仿宋" panose="02010609060101010101" charset="-122"/>
              <a:cs typeface="仿宋" panose="02010609060101010101" charset="-122"/>
            </a:endParaRPr>
          </a:p>
        </p:txBody>
      </p:sp>
      <p:sp>
        <p:nvSpPr>
          <p:cNvPr id="2" name="矩形 1"/>
          <p:cNvSpPr/>
          <p:nvPr/>
        </p:nvSpPr>
        <p:spPr>
          <a:xfrm>
            <a:off x="7240905" y="1098550"/>
            <a:ext cx="4720590" cy="1905000"/>
          </a:xfrm>
          <a:prstGeom prst="rect">
            <a:avLst/>
          </a:prstGeom>
          <a:gradFill>
            <a:gsLst>
              <a:gs pos="44000">
                <a:srgbClr val="F5CBB8"/>
              </a:gs>
              <a:gs pos="0">
                <a:srgbClr val="F8DCD0"/>
              </a:gs>
              <a:gs pos="100000">
                <a:srgbClr val="F1B9A0"/>
              </a:gs>
            </a:gsLst>
            <a:lin scaled="1"/>
          </a:gradFill>
        </p:spPr>
        <p:style>
          <a:lnRef idx="2">
            <a:schemeClr val="accent2"/>
          </a:lnRef>
          <a:fillRef idx="1">
            <a:schemeClr val="lt1"/>
          </a:fillRef>
          <a:effectRef idx="0">
            <a:schemeClr val="accent2"/>
          </a:effectRef>
          <a:fontRef idx="minor">
            <a:schemeClr val="dk1"/>
          </a:fontRef>
        </p:style>
        <p:txBody>
          <a:bodyPr rtlCol="0" anchor="ctr"/>
          <a:p>
            <a:pPr algn="l"/>
            <a:r>
              <a:rPr lang="zh-CN" altLang="en-US" sz="2800"/>
              <a:t>思考：以字</a:t>
            </a:r>
            <a:r>
              <a:rPr lang="en-US" altLang="zh-CN" sz="2800"/>
              <a:t>“12 34 56 78”</a:t>
            </a:r>
            <a:r>
              <a:rPr lang="zh-CN" altLang="en-US" sz="2800"/>
              <a:t>为例，表示成</a:t>
            </a:r>
            <a:r>
              <a:rPr lang="en-US" altLang="zh-CN" sz="2800"/>
              <a:t>b(x)</a:t>
            </a:r>
            <a:r>
              <a:rPr lang="zh-CN" altLang="en-US" sz="2800">
                <a:ea typeface="宋体" panose="02010600030101010101" pitchFamily="2" charset="-122"/>
              </a:rPr>
              <a:t>，然后计算</a:t>
            </a:r>
            <a:r>
              <a:rPr lang="en-US" altLang="zh-CN" sz="2800">
                <a:ea typeface="宋体" panose="02010600030101010101" pitchFamily="2" charset="-122"/>
              </a:rPr>
              <a:t>P(x)</a:t>
            </a:r>
            <a:endParaRPr lang="en-US" altLang="zh-CN" sz="2800">
              <a:ea typeface="宋体" panose="02010600030101010101" pitchFamily="2" charset="-122"/>
            </a:endParaRPr>
          </a:p>
        </p:txBody>
      </p:sp>
      <p:pic>
        <p:nvPicPr>
          <p:cNvPr id="5" name="图片 4"/>
          <p:cNvPicPr>
            <a:picLocks noChangeAspect="1"/>
          </p:cNvPicPr>
          <p:nvPr/>
        </p:nvPicPr>
        <p:blipFill>
          <a:blip r:embed="rId3"/>
          <a:stretch>
            <a:fillRect/>
          </a:stretch>
        </p:blipFill>
        <p:spPr>
          <a:xfrm>
            <a:off x="3965575" y="0"/>
            <a:ext cx="8226425" cy="4758690"/>
          </a:xfrm>
          <a:prstGeom prst="rect">
            <a:avLst/>
          </a:prstGeom>
        </p:spPr>
      </p:pic>
      <p:cxnSp>
        <p:nvCxnSpPr>
          <p:cNvPr id="6" name="曲线连接符 5"/>
          <p:cNvCxnSpPr/>
          <p:nvPr/>
        </p:nvCxnSpPr>
        <p:spPr>
          <a:xfrm rot="5400000">
            <a:off x="7585710" y="4958715"/>
            <a:ext cx="559435" cy="158750"/>
          </a:xfrm>
          <a:prstGeom prst="curvedConnector3">
            <a:avLst>
              <a:gd name="adj1" fmla="val 50000"/>
            </a:avLst>
          </a:prstGeom>
          <a:ln>
            <a:solidFill>
              <a:srgbClr val="FF0000"/>
            </a:solidFill>
            <a:tailEnd type="arrow" w="med" len="med"/>
          </a:ln>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rot="21600000">
            <a:off x="3709415" y="3886200"/>
            <a:ext cx="5507736" cy="813816"/>
            <a:chOff x="0" y="0"/>
            <a:chExt cx="5507736" cy="813816"/>
          </a:xfrm>
        </p:grpSpPr>
        <p:pic>
          <p:nvPicPr>
            <p:cNvPr id="96" name="picture 96"/>
            <p:cNvPicPr>
              <a:picLocks noChangeAspect="1"/>
            </p:cNvPicPr>
            <p:nvPr/>
          </p:nvPicPr>
          <p:blipFill>
            <a:blip r:embed="rId1"/>
            <a:stretch>
              <a:fillRect/>
            </a:stretch>
          </p:blipFill>
          <p:spPr>
            <a:xfrm rot="21600000">
              <a:off x="0" y="0"/>
              <a:ext cx="5507736" cy="813816"/>
            </a:xfrm>
            <a:prstGeom prst="rect">
              <a:avLst/>
            </a:prstGeom>
          </p:spPr>
        </p:pic>
        <p:sp>
          <p:nvSpPr>
            <p:cNvPr id="98" name="textbox 98"/>
            <p:cNvSpPr/>
            <p:nvPr/>
          </p:nvSpPr>
          <p:spPr>
            <a:xfrm>
              <a:off x="-12700" y="-12700"/>
              <a:ext cx="5533390" cy="876935"/>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marL="660400" algn="l" rtl="0" eaLnBrk="0">
                <a:lnSpc>
                  <a:spcPct val="94000"/>
                </a:lnSpc>
                <a:spcBef>
                  <a:spcPts val="5"/>
                </a:spcBef>
              </a:pPr>
              <a:r>
                <a:rPr sz="2400" b="1" kern="0" spc="0" dirty="0">
                  <a:solidFill>
                    <a:srgbClr val="FFFFFF">
                      <a:alpha val="100000"/>
                    </a:srgbClr>
                  </a:solidFill>
                  <a:latin typeface="Times New Roman" panose="02020603050405020304"/>
                  <a:ea typeface="Times New Roman" panose="02020603050405020304"/>
                  <a:cs typeface="Times New Roman" panose="02020603050405020304"/>
                </a:rPr>
                <a:t>AES</a:t>
              </a:r>
              <a:r>
                <a:rPr sz="2400" b="1" kern="0" spc="0" dirty="0">
                  <a:solidFill>
                    <a:srgbClr val="FFFFFF">
                      <a:alpha val="100000"/>
                    </a:srgbClr>
                  </a:solidFill>
                  <a:latin typeface="仿宋" panose="02010609060101010101" charset="-122"/>
                  <a:ea typeface="仿宋" panose="02010609060101010101" charset="-122"/>
                  <a:cs typeface="仿宋" panose="02010609060101010101" charset="-122"/>
                </a:rPr>
                <a:t>算法框架和参数说明</a:t>
              </a:r>
              <a:endParaRPr sz="2400" dirty="0">
                <a:latin typeface="仿宋" panose="02010609060101010101" charset="-122"/>
                <a:ea typeface="仿宋" panose="02010609060101010101" charset="-122"/>
                <a:cs typeface="仿宋" panose="02010609060101010101" charset="-122"/>
              </a:endParaRPr>
            </a:p>
          </p:txBody>
        </p:sp>
      </p:grpSp>
      <p:grpSp>
        <p:nvGrpSpPr>
          <p:cNvPr id="10" name="group 10"/>
          <p:cNvGrpSpPr/>
          <p:nvPr/>
        </p:nvGrpSpPr>
        <p:grpSpPr>
          <a:xfrm rot="21600000">
            <a:off x="3557015" y="2057400"/>
            <a:ext cx="5708903" cy="813816"/>
            <a:chOff x="0" y="0"/>
            <a:chExt cx="5708903" cy="813816"/>
          </a:xfrm>
        </p:grpSpPr>
        <p:pic>
          <p:nvPicPr>
            <p:cNvPr id="100" name="picture 100"/>
            <p:cNvPicPr>
              <a:picLocks noChangeAspect="1"/>
            </p:cNvPicPr>
            <p:nvPr/>
          </p:nvPicPr>
          <p:blipFill>
            <a:blip r:embed="rId2"/>
            <a:stretch>
              <a:fillRect/>
            </a:stretch>
          </p:blipFill>
          <p:spPr>
            <a:xfrm rot="21600000">
              <a:off x="0" y="0"/>
              <a:ext cx="5708903" cy="813816"/>
            </a:xfrm>
            <a:prstGeom prst="rect">
              <a:avLst/>
            </a:prstGeom>
          </p:spPr>
        </p:pic>
        <p:sp>
          <p:nvSpPr>
            <p:cNvPr id="102" name="textbox 102"/>
            <p:cNvSpPr/>
            <p:nvPr/>
          </p:nvSpPr>
          <p:spPr>
            <a:xfrm>
              <a:off x="-12700" y="-12700"/>
              <a:ext cx="5734684" cy="87947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60400" algn="l" rtl="0" eaLnBrk="0">
                <a:lnSpc>
                  <a:spcPct val="94000"/>
                </a:lnSpc>
                <a:spcBef>
                  <a:spcPts val="5"/>
                </a:spcBef>
              </a:pPr>
              <a:r>
                <a:rPr sz="2400" b="1" kern="0" spc="0" dirty="0">
                  <a:solidFill>
                    <a:srgbClr val="FFFFFF">
                      <a:alpha val="100000"/>
                    </a:srgbClr>
                  </a:solidFill>
                  <a:latin typeface="Times New Roman" panose="02020603050405020304"/>
                  <a:ea typeface="Times New Roman" panose="02020603050405020304"/>
                  <a:cs typeface="Times New Roman" panose="02020603050405020304"/>
                </a:rPr>
                <a:t>AES</a:t>
              </a:r>
              <a:r>
                <a:rPr sz="2400" b="1" kern="0" spc="0" dirty="0">
                  <a:solidFill>
                    <a:srgbClr val="FFFFFF">
                      <a:alpha val="100000"/>
                    </a:srgbClr>
                  </a:solidFill>
                  <a:latin typeface="仿宋" panose="02010609060101010101" charset="-122"/>
                  <a:ea typeface="仿宋" panose="02010609060101010101" charset="-122"/>
                  <a:cs typeface="仿宋" panose="02010609060101010101" charset="-122"/>
                </a:rPr>
                <a:t>提出的背景</a:t>
              </a:r>
              <a:endParaRPr sz="2400" dirty="0">
                <a:latin typeface="仿宋" panose="02010609060101010101" charset="-122"/>
                <a:ea typeface="仿宋" panose="02010609060101010101" charset="-122"/>
                <a:cs typeface="仿宋" panose="02010609060101010101" charset="-122"/>
              </a:endParaRPr>
            </a:p>
          </p:txBody>
        </p:sp>
      </p:grpSp>
      <p:grpSp>
        <p:nvGrpSpPr>
          <p:cNvPr id="12" name="group 12"/>
          <p:cNvGrpSpPr/>
          <p:nvPr/>
        </p:nvGrpSpPr>
        <p:grpSpPr>
          <a:xfrm rot="21600000">
            <a:off x="2969132" y="1523492"/>
            <a:ext cx="1249298" cy="3784726"/>
            <a:chOff x="0" y="0"/>
            <a:chExt cx="1249298" cy="3784726"/>
          </a:xfrm>
        </p:grpSpPr>
        <p:sp>
          <p:nvSpPr>
            <p:cNvPr id="104" name="path 104"/>
            <p:cNvSpPr/>
            <p:nvPr/>
          </p:nvSpPr>
          <p:spPr>
            <a:xfrm>
              <a:off x="0" y="0"/>
              <a:ext cx="872886" cy="3784726"/>
            </a:xfrm>
            <a:custGeom>
              <a:avLst/>
              <a:gdLst/>
              <a:ahLst/>
              <a:cxnLst/>
              <a:rect l="0" t="0" r="0" b="0"/>
              <a:pathLst>
                <a:path w="1374" h="5960">
                  <a:moveTo>
                    <a:pt x="4" y="4"/>
                  </a:moveTo>
                  <a:cubicBezTo>
                    <a:pt x="1692" y="1576"/>
                    <a:pt x="1843" y="4199"/>
                    <a:pt x="347" y="5955"/>
                  </a:cubicBezTo>
                  <a:lnTo>
                    <a:pt x="347" y="5955"/>
                  </a:lnTo>
                  <a:cubicBezTo>
                    <a:pt x="1843" y="4199"/>
                    <a:pt x="1692" y="1576"/>
                    <a:pt x="4" y="4"/>
                  </a:cubicBezTo>
                </a:path>
              </a:pathLst>
            </a:custGeom>
            <a:noFill/>
            <a:ln w="6096" cap="flat">
              <a:solidFill>
                <a:srgbClr val="477BA9"/>
              </a:solidFill>
              <a:prstDash val="solid"/>
              <a:miter lim="1000000"/>
            </a:ln>
          </p:spPr>
          <p:txBody>
            <a:bodyPr rtlCol="0"/>
            <a:lstStyle/>
            <a:p>
              <a:pPr algn="ctr"/>
              <a:endParaRPr lang="zh-CN" altLang="en-US"/>
            </a:p>
          </p:txBody>
        </p:sp>
        <p:sp>
          <p:nvSpPr>
            <p:cNvPr id="106" name="path 106"/>
            <p:cNvSpPr/>
            <p:nvPr/>
          </p:nvSpPr>
          <p:spPr>
            <a:xfrm>
              <a:off x="78867" y="4333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108" name="path 108"/>
            <p:cNvSpPr/>
            <p:nvPr/>
          </p:nvSpPr>
          <p:spPr>
            <a:xfrm>
              <a:off x="75819" y="430276"/>
              <a:ext cx="1021079" cy="1021079"/>
            </a:xfrm>
            <a:custGeom>
              <a:avLst/>
              <a:gdLst/>
              <a:ahLst/>
              <a:cxnLst/>
              <a:rect l="0" t="0" r="0" b="0"/>
              <a:pathLst>
                <a:path w="1607" h="1607">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110" name="path 110"/>
            <p:cNvSpPr/>
            <p:nvPr/>
          </p:nvSpPr>
          <p:spPr>
            <a:xfrm>
              <a:off x="231267" y="22621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112" name="path 112"/>
            <p:cNvSpPr/>
            <p:nvPr/>
          </p:nvSpPr>
          <p:spPr>
            <a:xfrm>
              <a:off x="228219" y="2259075"/>
              <a:ext cx="1021079" cy="1021080"/>
            </a:xfrm>
            <a:custGeom>
              <a:avLst/>
              <a:gdLst/>
              <a:ahLst/>
              <a:cxnLst/>
              <a:rect l="0" t="0" r="0" b="0"/>
              <a:pathLst>
                <a:path w="1607" h="1608">
                  <a:moveTo>
                    <a:pt x="4" y="804"/>
                  </a:moveTo>
                  <a:cubicBezTo>
                    <a:pt x="4" y="362"/>
                    <a:pt x="362" y="4"/>
                    <a:pt x="803" y="4"/>
                  </a:cubicBezTo>
                  <a:cubicBezTo>
                    <a:pt x="1245" y="4"/>
                    <a:pt x="1603" y="362"/>
                    <a:pt x="1603" y="804"/>
                  </a:cubicBezTo>
                  <a:cubicBezTo>
                    <a:pt x="1603" y="1245"/>
                    <a:pt x="1245" y="1603"/>
                    <a:pt x="803" y="1603"/>
                  </a:cubicBezTo>
                  <a:cubicBezTo>
                    <a:pt x="362" y="1603"/>
                    <a:pt x="4" y="1245"/>
                    <a:pt x="4" y="804"/>
                  </a:cubicBezTo>
                </a:path>
              </a:pathLst>
            </a:custGeom>
            <a:noFill/>
            <a:ln w="6096" cap="flat">
              <a:solidFill>
                <a:srgbClr val="5B9BD5"/>
              </a:solidFill>
              <a:prstDash val="solid"/>
              <a:miter lim="1000000"/>
            </a:ln>
          </p:spPr>
          <p:txBody>
            <a:bodyPr rtlCol="0"/>
            <a:lstStyle/>
            <a:p>
              <a:pPr algn="ctr"/>
              <a:endParaRPr lang="zh-CN" altLang="en-US"/>
            </a:p>
          </p:txBody>
        </p:sp>
      </p:grpSp>
      <p:sp>
        <p:nvSpPr>
          <p:cNvPr id="114" name="textbox 114"/>
          <p:cNvSpPr/>
          <p:nvPr/>
        </p:nvSpPr>
        <p:spPr>
          <a:xfrm>
            <a:off x="1456299" y="496706"/>
            <a:ext cx="4530090" cy="47942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Times New Roman" panose="02020603050405020304"/>
                <a:ea typeface="Times New Roman" panose="02020603050405020304"/>
                <a:cs typeface="Times New Roman" panose="02020603050405020304"/>
              </a:rPr>
              <a:t>AES</a:t>
            </a:r>
            <a:r>
              <a:rPr sz="3100" b="1" kern="0" spc="150" dirty="0">
                <a:solidFill>
                  <a:srgbClr val="1F4E79">
                    <a:alpha val="100000"/>
                  </a:srgbClr>
                </a:solidFill>
                <a:latin typeface="仿宋" panose="02010609060101010101" charset="-122"/>
                <a:ea typeface="仿宋" panose="02010609060101010101" charset="-122"/>
                <a:cs typeface="仿宋" panose="02010609060101010101" charset="-122"/>
              </a:rPr>
              <a:t>算法简介</a:t>
            </a:r>
            <a:endParaRPr sz="3100" dirty="0">
              <a:latin typeface="仿宋" panose="02010609060101010101" charset="-122"/>
              <a:ea typeface="仿宋" panose="02010609060101010101" charset="-122"/>
              <a:cs typeface="仿宋" panose="02010609060101010101" charset="-122"/>
            </a:endParaRPr>
          </a:p>
        </p:txBody>
      </p:sp>
      <p:sp>
        <p:nvSpPr>
          <p:cNvPr id="118" name="path 11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0" name="picture 120"/>
          <p:cNvPicPr>
            <a:picLocks noChangeAspect="1"/>
          </p:cNvPicPr>
          <p:nvPr/>
        </p:nvPicPr>
        <p:blipFill>
          <a:blip r:embed="rId3"/>
          <a:stretch>
            <a:fillRect/>
          </a:stretch>
        </p:blipFill>
        <p:spPr>
          <a:xfrm rot="21600000">
            <a:off x="822960" y="408431"/>
            <a:ext cx="420623" cy="655320"/>
          </a:xfrm>
          <a:prstGeom prst="rect">
            <a:avLst/>
          </a:prstGeom>
        </p:spPr>
      </p:pic>
      <p:sp>
        <p:nvSpPr>
          <p:cNvPr id="122" name="path 12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6" name="table 226"/>
          <p:cNvGraphicFramePr>
            <a:graphicFrameLocks noGrp="1"/>
          </p:cNvGraphicFramePr>
          <p:nvPr/>
        </p:nvGraphicFramePr>
        <p:xfrm>
          <a:off x="3346703" y="5852159"/>
          <a:ext cx="984250" cy="249555"/>
        </p:xfrm>
        <a:graphic>
          <a:graphicData uri="http://schemas.openxmlformats.org/drawingml/2006/table">
            <a:tbl>
              <a:tblPr/>
              <a:tblGrid>
                <a:gridCol w="984250"/>
              </a:tblGrid>
              <a:tr h="243205">
                <a:tc>
                  <a:txBody>
                    <a:bodyPr/>
                    <a:lstStyle/>
                    <a:p>
                      <a:pPr algn="l" rtl="0" eaLnBrk="0">
                        <a:lnSpc>
                          <a:spcPct val="119000"/>
                        </a:lnSpc>
                      </a:pPr>
                      <a:endParaRPr sz="400" dirty="0">
                        <a:latin typeface="Arial" panose="020B0604020202020204" pitchFamily="34" charset="0"/>
                        <a:ea typeface="Arial" panose="020B0604020202020204" pitchFamily="34" charset="0"/>
                        <a:cs typeface="Arial" panose="020B0604020202020204" pitchFamily="34" charset="0"/>
                      </a:endParaRPr>
                    </a:p>
                    <a:p>
                      <a:pPr marL="186690" algn="l" rtl="0" eaLnBrk="0">
                        <a:lnSpc>
                          <a:spcPct val="93000"/>
                        </a:lnSpc>
                        <a:spcBef>
                          <a:spcPts val="5"/>
                        </a:spcBef>
                      </a:pPr>
                      <a:r>
                        <a:rPr sz="12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轮密钥加</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28" name="table 228"/>
          <p:cNvGraphicFramePr>
            <a:graphicFrameLocks noGrp="1"/>
          </p:cNvGraphicFramePr>
          <p:nvPr/>
        </p:nvGraphicFramePr>
        <p:xfrm>
          <a:off x="3346703" y="554736"/>
          <a:ext cx="984250" cy="249554"/>
        </p:xfrm>
        <a:graphic>
          <a:graphicData uri="http://schemas.openxmlformats.org/drawingml/2006/table">
            <a:tbl>
              <a:tblPr/>
              <a:tblGrid>
                <a:gridCol w="984250"/>
              </a:tblGrid>
              <a:tr h="243204">
                <a:tc>
                  <a:txBody>
                    <a:bodyPr/>
                    <a:lstStyle/>
                    <a:p>
                      <a:pPr algn="l" rtl="0" eaLnBrk="0">
                        <a:lnSpc>
                          <a:spcPct val="116000"/>
                        </a:lnSpc>
                      </a:pPr>
                      <a:endParaRPr sz="400" dirty="0">
                        <a:latin typeface="Arial" panose="020B0604020202020204" pitchFamily="34" charset="0"/>
                        <a:ea typeface="Arial" panose="020B0604020202020204" pitchFamily="34" charset="0"/>
                        <a:cs typeface="Arial" panose="020B0604020202020204" pitchFamily="34" charset="0"/>
                      </a:endParaRPr>
                    </a:p>
                    <a:p>
                      <a:pPr marL="186690" algn="l" rtl="0" eaLnBrk="0">
                        <a:lnSpc>
                          <a:spcPct val="94000"/>
                        </a:lnSpc>
                        <a:spcBef>
                          <a:spcPts val="5"/>
                        </a:spcBef>
                      </a:pPr>
                      <a:r>
                        <a:rPr sz="12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轮密钥加</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30" name="table 230"/>
          <p:cNvGraphicFramePr>
            <a:graphicFrameLocks noGrp="1"/>
          </p:cNvGraphicFramePr>
          <p:nvPr/>
        </p:nvGraphicFramePr>
        <p:xfrm>
          <a:off x="3346703" y="2161032"/>
          <a:ext cx="984250" cy="249554"/>
        </p:xfrm>
        <a:graphic>
          <a:graphicData uri="http://schemas.openxmlformats.org/drawingml/2006/table">
            <a:tbl>
              <a:tblPr/>
              <a:tblGrid>
                <a:gridCol w="984250"/>
              </a:tblGrid>
              <a:tr h="243204">
                <a:tc>
                  <a:txBody>
                    <a:bodyPr/>
                    <a:lstStyle/>
                    <a:p>
                      <a:pPr algn="l" rtl="0" eaLnBrk="0">
                        <a:lnSpc>
                          <a:spcPct val="116000"/>
                        </a:lnSpc>
                      </a:pPr>
                      <a:endParaRPr sz="400" dirty="0">
                        <a:latin typeface="Arial" panose="020B0604020202020204" pitchFamily="34" charset="0"/>
                        <a:ea typeface="Arial" panose="020B0604020202020204" pitchFamily="34" charset="0"/>
                        <a:cs typeface="Arial" panose="020B0604020202020204" pitchFamily="34" charset="0"/>
                      </a:endParaRPr>
                    </a:p>
                    <a:p>
                      <a:pPr marL="186690" algn="l" rtl="0" eaLnBrk="0">
                        <a:lnSpc>
                          <a:spcPct val="94000"/>
                        </a:lnSpc>
                        <a:spcBef>
                          <a:spcPts val="5"/>
                        </a:spcBef>
                      </a:pPr>
                      <a:r>
                        <a:rPr sz="12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轮密钥加</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32" name="table 232"/>
          <p:cNvGraphicFramePr>
            <a:graphicFrameLocks noGrp="1"/>
          </p:cNvGraphicFramePr>
          <p:nvPr/>
        </p:nvGraphicFramePr>
        <p:xfrm>
          <a:off x="3346703" y="4648200"/>
          <a:ext cx="984250" cy="249554"/>
        </p:xfrm>
        <a:graphic>
          <a:graphicData uri="http://schemas.openxmlformats.org/drawingml/2006/table">
            <a:tbl>
              <a:tblPr/>
              <a:tblGrid>
                <a:gridCol w="984250"/>
              </a:tblGrid>
              <a:tr h="243204">
                <a:tc>
                  <a:txBody>
                    <a:bodyPr/>
                    <a:lstStyle/>
                    <a:p>
                      <a:pPr algn="l" rtl="0" eaLnBrk="0">
                        <a:lnSpc>
                          <a:spcPct val="119000"/>
                        </a:lnSpc>
                      </a:pPr>
                      <a:endParaRPr sz="400" dirty="0">
                        <a:latin typeface="Arial" panose="020B0604020202020204" pitchFamily="34" charset="0"/>
                        <a:ea typeface="Arial" panose="020B0604020202020204" pitchFamily="34" charset="0"/>
                        <a:cs typeface="Arial" panose="020B0604020202020204" pitchFamily="34" charset="0"/>
                      </a:endParaRPr>
                    </a:p>
                    <a:p>
                      <a:pPr marL="186690" algn="l" rtl="0" eaLnBrk="0">
                        <a:lnSpc>
                          <a:spcPct val="93000"/>
                        </a:lnSpc>
                        <a:spcBef>
                          <a:spcPts val="5"/>
                        </a:spcBef>
                      </a:pPr>
                      <a:r>
                        <a:rPr sz="1200" b="1"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轮密钥加</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34" name="table 234"/>
          <p:cNvGraphicFramePr>
            <a:graphicFrameLocks noGrp="1"/>
          </p:cNvGraphicFramePr>
          <p:nvPr/>
        </p:nvGraphicFramePr>
        <p:xfrm>
          <a:off x="7089647" y="554736"/>
          <a:ext cx="984250" cy="249554"/>
        </p:xfrm>
        <a:graphic>
          <a:graphicData uri="http://schemas.openxmlformats.org/drawingml/2006/table">
            <a:tbl>
              <a:tblPr/>
              <a:tblGrid>
                <a:gridCol w="984250"/>
              </a:tblGrid>
              <a:tr h="243204">
                <a:tc>
                  <a:txBody>
                    <a:bodyPr/>
                    <a:lstStyle/>
                    <a:p>
                      <a:pPr algn="l" rtl="0" eaLnBrk="0">
                        <a:lnSpc>
                          <a:spcPct val="116000"/>
                        </a:lnSpc>
                      </a:pPr>
                      <a:endParaRPr sz="400" dirty="0">
                        <a:latin typeface="Arial" panose="020B0604020202020204" pitchFamily="34" charset="0"/>
                        <a:ea typeface="Arial" panose="020B0604020202020204" pitchFamily="34" charset="0"/>
                        <a:cs typeface="Arial" panose="020B0604020202020204" pitchFamily="34" charset="0"/>
                      </a:endParaRPr>
                    </a:p>
                    <a:p>
                      <a:pPr marL="188595" algn="l" rtl="0" eaLnBrk="0">
                        <a:lnSpc>
                          <a:spcPct val="94000"/>
                        </a:lnSpc>
                        <a:spcBef>
                          <a:spcPts val="5"/>
                        </a:spcBef>
                      </a:pPr>
                      <a:r>
                        <a:rPr sz="12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轮密钥加</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36" name="table 236"/>
          <p:cNvGraphicFramePr>
            <a:graphicFrameLocks noGrp="1"/>
          </p:cNvGraphicFramePr>
          <p:nvPr/>
        </p:nvGraphicFramePr>
        <p:xfrm>
          <a:off x="7089647" y="2161032"/>
          <a:ext cx="984250" cy="249554"/>
        </p:xfrm>
        <a:graphic>
          <a:graphicData uri="http://schemas.openxmlformats.org/drawingml/2006/table">
            <a:tbl>
              <a:tblPr/>
              <a:tblGrid>
                <a:gridCol w="984250"/>
              </a:tblGrid>
              <a:tr h="243204">
                <a:tc>
                  <a:txBody>
                    <a:bodyPr/>
                    <a:lstStyle/>
                    <a:p>
                      <a:pPr algn="l" rtl="0" eaLnBrk="0">
                        <a:lnSpc>
                          <a:spcPct val="116000"/>
                        </a:lnSpc>
                      </a:pPr>
                      <a:endParaRPr sz="400" dirty="0">
                        <a:latin typeface="Arial" panose="020B0604020202020204" pitchFamily="34" charset="0"/>
                        <a:ea typeface="Arial" panose="020B0604020202020204" pitchFamily="34" charset="0"/>
                        <a:cs typeface="Arial" panose="020B0604020202020204" pitchFamily="34" charset="0"/>
                      </a:endParaRPr>
                    </a:p>
                    <a:p>
                      <a:pPr marL="188595" algn="l" rtl="0" eaLnBrk="0">
                        <a:lnSpc>
                          <a:spcPct val="94000"/>
                        </a:lnSpc>
                        <a:spcBef>
                          <a:spcPts val="5"/>
                        </a:spcBef>
                      </a:pPr>
                      <a:r>
                        <a:rPr sz="12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轮密钥加</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38" name="table 238"/>
          <p:cNvGraphicFramePr>
            <a:graphicFrameLocks noGrp="1"/>
          </p:cNvGraphicFramePr>
          <p:nvPr/>
        </p:nvGraphicFramePr>
        <p:xfrm>
          <a:off x="7089647" y="4648200"/>
          <a:ext cx="984250" cy="249554"/>
        </p:xfrm>
        <a:graphic>
          <a:graphicData uri="http://schemas.openxmlformats.org/drawingml/2006/table">
            <a:tbl>
              <a:tblPr/>
              <a:tblGrid>
                <a:gridCol w="984250"/>
              </a:tblGrid>
              <a:tr h="243204">
                <a:tc>
                  <a:txBody>
                    <a:bodyPr/>
                    <a:lstStyle/>
                    <a:p>
                      <a:pPr algn="l" rtl="0" eaLnBrk="0">
                        <a:lnSpc>
                          <a:spcPct val="119000"/>
                        </a:lnSpc>
                      </a:pPr>
                      <a:endParaRPr sz="400" dirty="0">
                        <a:latin typeface="Arial" panose="020B0604020202020204" pitchFamily="34" charset="0"/>
                        <a:ea typeface="Arial" panose="020B0604020202020204" pitchFamily="34" charset="0"/>
                        <a:cs typeface="Arial" panose="020B0604020202020204" pitchFamily="34" charset="0"/>
                      </a:endParaRPr>
                    </a:p>
                    <a:p>
                      <a:pPr marL="188595" algn="l" rtl="0" eaLnBrk="0">
                        <a:lnSpc>
                          <a:spcPct val="93000"/>
                        </a:lnSpc>
                        <a:spcBef>
                          <a:spcPts val="5"/>
                        </a:spcBef>
                      </a:pPr>
                      <a:r>
                        <a:rPr sz="12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轮密钥加</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40" name="picture 240"/>
          <p:cNvPicPr>
            <a:picLocks noChangeAspect="1"/>
          </p:cNvPicPr>
          <p:nvPr/>
        </p:nvPicPr>
        <p:blipFill>
          <a:blip r:embed="rId1"/>
          <a:stretch>
            <a:fillRect/>
          </a:stretch>
        </p:blipFill>
        <p:spPr>
          <a:xfrm rot="21600000">
            <a:off x="5756275" y="397636"/>
            <a:ext cx="76200" cy="161671"/>
          </a:xfrm>
          <a:prstGeom prst="rect">
            <a:avLst/>
          </a:prstGeom>
        </p:spPr>
      </p:pic>
      <p:graphicFrame>
        <p:nvGraphicFramePr>
          <p:cNvPr id="242" name="table 242"/>
          <p:cNvGraphicFramePr>
            <a:graphicFrameLocks noGrp="1"/>
          </p:cNvGraphicFramePr>
          <p:nvPr/>
        </p:nvGraphicFramePr>
        <p:xfrm>
          <a:off x="7089647" y="5852159"/>
          <a:ext cx="984250" cy="249555"/>
        </p:xfrm>
        <a:graphic>
          <a:graphicData uri="http://schemas.openxmlformats.org/drawingml/2006/table">
            <a:tbl>
              <a:tblPr/>
              <a:tblGrid>
                <a:gridCol w="984250"/>
              </a:tblGrid>
              <a:tr h="243205">
                <a:tc>
                  <a:txBody>
                    <a:bodyPr/>
                    <a:lstStyle/>
                    <a:p>
                      <a:pPr algn="l" rtl="0" eaLnBrk="0">
                        <a:lnSpc>
                          <a:spcPct val="122000"/>
                        </a:lnSpc>
                      </a:pPr>
                      <a:endParaRPr sz="400" dirty="0">
                        <a:latin typeface="Arial" panose="020B0604020202020204" pitchFamily="34" charset="0"/>
                        <a:ea typeface="Arial" panose="020B0604020202020204" pitchFamily="34" charset="0"/>
                        <a:cs typeface="Arial" panose="020B0604020202020204" pitchFamily="34" charset="0"/>
                      </a:endParaRPr>
                    </a:p>
                    <a:p>
                      <a:pPr marL="188595" algn="l" rtl="0" eaLnBrk="0">
                        <a:lnSpc>
                          <a:spcPct val="92000"/>
                        </a:lnSpc>
                        <a:spcBef>
                          <a:spcPts val="5"/>
                        </a:spcBef>
                      </a:pPr>
                      <a:r>
                        <a:rPr sz="12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轮密钥加</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44" name="picture 244"/>
          <p:cNvPicPr>
            <a:picLocks noChangeAspect="1"/>
          </p:cNvPicPr>
          <p:nvPr/>
        </p:nvPicPr>
        <p:blipFill>
          <a:blip r:embed="rId2"/>
          <a:stretch>
            <a:fillRect/>
          </a:stretch>
        </p:blipFill>
        <p:spPr>
          <a:xfrm rot="21600000">
            <a:off x="1467611" y="475488"/>
            <a:ext cx="9037573" cy="5501640"/>
          </a:xfrm>
          <a:prstGeom prst="rect">
            <a:avLst/>
          </a:prstGeom>
        </p:spPr>
      </p:pic>
      <p:pic>
        <p:nvPicPr>
          <p:cNvPr id="246" name="picture 246"/>
          <p:cNvPicPr>
            <a:picLocks noChangeAspect="1"/>
          </p:cNvPicPr>
          <p:nvPr/>
        </p:nvPicPr>
        <p:blipFill>
          <a:blip r:embed="rId3"/>
          <a:stretch>
            <a:fillRect/>
          </a:stretch>
        </p:blipFill>
        <p:spPr>
          <a:xfrm rot="21600000">
            <a:off x="696468" y="6097523"/>
            <a:ext cx="10779125" cy="169164"/>
          </a:xfrm>
          <a:prstGeom prst="rect">
            <a:avLst/>
          </a:prstGeom>
        </p:spPr>
      </p:pic>
      <p:pic>
        <p:nvPicPr>
          <p:cNvPr id="248" name="picture 248"/>
          <p:cNvPicPr>
            <a:picLocks noChangeAspect="1"/>
          </p:cNvPicPr>
          <p:nvPr/>
        </p:nvPicPr>
        <p:blipFill>
          <a:blip r:embed="rId4"/>
          <a:stretch>
            <a:fillRect/>
          </a:stretch>
        </p:blipFill>
        <p:spPr>
          <a:xfrm rot="21600000">
            <a:off x="4978908" y="480059"/>
            <a:ext cx="1466088" cy="722376"/>
          </a:xfrm>
          <a:prstGeom prst="rect">
            <a:avLst/>
          </a:prstGeom>
        </p:spPr>
      </p:pic>
      <p:graphicFrame>
        <p:nvGraphicFramePr>
          <p:cNvPr id="252" name="table 252"/>
          <p:cNvGraphicFramePr>
            <a:graphicFrameLocks noGrp="1"/>
          </p:cNvGraphicFramePr>
          <p:nvPr/>
        </p:nvGraphicFramePr>
        <p:xfrm>
          <a:off x="4974336" y="957072"/>
          <a:ext cx="1475104" cy="249554"/>
        </p:xfrm>
        <a:graphic>
          <a:graphicData uri="http://schemas.openxmlformats.org/drawingml/2006/table">
            <a:tbl>
              <a:tblPr/>
              <a:tblGrid>
                <a:gridCol w="1475104"/>
              </a:tblGrid>
              <a:tr h="243204">
                <a:tc>
                  <a:txBody>
                    <a:bodyPr/>
                    <a:lstStyle/>
                    <a:p>
                      <a:pPr algn="l" rtl="0" eaLnBrk="0">
                        <a:lnSpc>
                          <a:spcPct val="113000"/>
                        </a:lnSpc>
                      </a:pPr>
                      <a:endParaRPr sz="400" dirty="0">
                        <a:latin typeface="Arial" panose="020B0604020202020204" pitchFamily="34" charset="0"/>
                        <a:ea typeface="Arial" panose="020B0604020202020204" pitchFamily="34" charset="0"/>
                        <a:cs typeface="Arial" panose="020B0604020202020204" pitchFamily="34" charset="0"/>
                      </a:endParaRPr>
                    </a:p>
                    <a:p>
                      <a:pPr marL="431165" algn="l" rtl="0" eaLnBrk="0">
                        <a:lnSpc>
                          <a:spcPct val="95000"/>
                        </a:lnSpc>
                        <a:spcBef>
                          <a:spcPts val="5"/>
                        </a:spcBef>
                      </a:pPr>
                      <a:r>
                        <a:rPr sz="12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扩展密钥</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254" name="textbox 254"/>
          <p:cNvSpPr/>
          <p:nvPr/>
        </p:nvSpPr>
        <p:spPr>
          <a:xfrm>
            <a:off x="3113857" y="6314228"/>
            <a:ext cx="890905" cy="450215"/>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6000"/>
              </a:lnSpc>
            </a:pP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密文</a:t>
            </a:r>
            <a:endParaRPr sz="12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2000"/>
              </a:lnSpc>
            </a:pPr>
            <a:endParaRPr sz="400" dirty="0">
              <a:latin typeface="Arial" panose="020B0604020202020204" pitchFamily="34" charset="0"/>
              <a:ea typeface="Arial" panose="020B0604020202020204" pitchFamily="34" charset="0"/>
              <a:cs typeface="Arial" panose="020B0604020202020204" pitchFamily="34" charset="0"/>
            </a:endParaRPr>
          </a:p>
          <a:p>
            <a:pPr marL="88900" algn="l" rtl="0" eaLnBrk="0">
              <a:lnSpc>
                <a:spcPts val="1465"/>
              </a:lnSpc>
              <a:spcBef>
                <a:spcPts val="0"/>
              </a:spcBef>
            </a:pPr>
            <a:r>
              <a:rPr lang="en-US" sz="1100" b="1" kern="0" spc="1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(i) </a:t>
            </a:r>
            <a:r>
              <a:rPr sz="1100" b="1" kern="0" spc="1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加密</a:t>
            </a:r>
            <a:endParaRPr sz="1100" dirty="0">
              <a:latin typeface="宋体" panose="02010600030101010101" pitchFamily="2" charset="-122"/>
              <a:ea typeface="宋体" panose="02010600030101010101" pitchFamily="2" charset="-122"/>
              <a:cs typeface="宋体" panose="02010600030101010101" pitchFamily="2" charset="-122"/>
            </a:endParaRPr>
          </a:p>
        </p:txBody>
      </p:sp>
      <p:sp>
        <p:nvSpPr>
          <p:cNvPr id="256" name="textbox 256"/>
          <p:cNvSpPr/>
          <p:nvPr/>
        </p:nvSpPr>
        <p:spPr>
          <a:xfrm>
            <a:off x="7021393" y="6314228"/>
            <a:ext cx="727709" cy="447675"/>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6000"/>
              </a:lnSpc>
            </a:pP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密文</a:t>
            </a:r>
            <a:endParaRPr sz="12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2000"/>
              </a:lnSpc>
            </a:pPr>
            <a:endParaRPr sz="400" dirty="0">
              <a:latin typeface="Arial" panose="020B0604020202020204" pitchFamily="34" charset="0"/>
              <a:ea typeface="Arial" panose="020B0604020202020204" pitchFamily="34" charset="0"/>
              <a:cs typeface="Arial" panose="020B0604020202020204" pitchFamily="34" charset="0"/>
            </a:endParaRPr>
          </a:p>
          <a:p>
            <a:pPr marL="88900" algn="l" rtl="0" eaLnBrk="0">
              <a:lnSpc>
                <a:spcPts val="1450"/>
              </a:lnSpc>
              <a:spcBef>
                <a:spcPts val="0"/>
              </a:spcBef>
            </a:pPr>
            <a:r>
              <a:rPr sz="1100" b="1"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1100" b="1" kern="0" spc="-50" dirty="0">
                <a:solidFill>
                  <a:srgbClr val="000000">
                    <a:alpha val="100000"/>
                  </a:srgbClr>
                </a:solidFill>
                <a:latin typeface="Times New Roman" panose="02020603050405020304"/>
                <a:ea typeface="Times New Roman" panose="02020603050405020304"/>
                <a:cs typeface="Times New Roman" panose="02020603050405020304"/>
              </a:rPr>
              <a:t>ii</a:t>
            </a:r>
            <a:r>
              <a:rPr sz="1100" b="1"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）解密</a:t>
            </a:r>
            <a:endParaRPr sz="1100" dirty="0">
              <a:latin typeface="宋体" panose="02010600030101010101" pitchFamily="2" charset="-122"/>
              <a:ea typeface="宋体" panose="02010600030101010101" pitchFamily="2" charset="-122"/>
              <a:cs typeface="宋体" panose="02010600030101010101" pitchFamily="2" charset="-122"/>
            </a:endParaRPr>
          </a:p>
        </p:txBody>
      </p:sp>
      <p:pic>
        <p:nvPicPr>
          <p:cNvPr id="258" name="picture 258"/>
          <p:cNvPicPr>
            <a:picLocks noChangeAspect="1"/>
          </p:cNvPicPr>
          <p:nvPr/>
        </p:nvPicPr>
        <p:blipFill>
          <a:blip r:embed="rId5"/>
          <a:stretch>
            <a:fillRect/>
          </a:stretch>
        </p:blipFill>
        <p:spPr>
          <a:xfrm rot="21600000">
            <a:off x="822960" y="408431"/>
            <a:ext cx="420623" cy="655320"/>
          </a:xfrm>
          <a:prstGeom prst="rect">
            <a:avLst/>
          </a:prstGeom>
        </p:spPr>
      </p:pic>
      <p:sp>
        <p:nvSpPr>
          <p:cNvPr id="260" name="path 260"/>
          <p:cNvSpPr/>
          <p:nvPr/>
        </p:nvSpPr>
        <p:spPr>
          <a:xfrm>
            <a:off x="8229600" y="4245864"/>
            <a:ext cx="173735" cy="1456944"/>
          </a:xfrm>
          <a:custGeom>
            <a:avLst/>
            <a:gdLst/>
            <a:ahLst/>
            <a:cxnLst/>
            <a:rect l="0" t="0" r="0" b="0"/>
            <a:pathLst>
              <a:path w="273" h="2294">
                <a:moveTo>
                  <a:pt x="7" y="7"/>
                </a:moveTo>
                <a:cubicBezTo>
                  <a:pt x="78" y="7"/>
                  <a:pt x="136" y="157"/>
                  <a:pt x="136" y="343"/>
                </a:cubicBezTo>
                <a:lnTo>
                  <a:pt x="136" y="810"/>
                </a:lnTo>
                <a:cubicBezTo>
                  <a:pt x="136" y="996"/>
                  <a:pt x="194" y="1147"/>
                  <a:pt x="266" y="1147"/>
                </a:cubicBezTo>
                <a:cubicBezTo>
                  <a:pt x="194" y="1147"/>
                  <a:pt x="136" y="1297"/>
                  <a:pt x="136" y="1483"/>
                </a:cubicBezTo>
                <a:lnTo>
                  <a:pt x="136" y="1950"/>
                </a:lnTo>
                <a:cubicBezTo>
                  <a:pt x="136" y="2136"/>
                  <a:pt x="78" y="2287"/>
                  <a:pt x="7" y="2287"/>
                </a:cubicBezTo>
              </a:path>
            </a:pathLst>
          </a:custGeom>
          <a:noFill/>
          <a:ln w="9143" cap="flat">
            <a:solidFill>
              <a:srgbClr val="000000"/>
            </a:solidFill>
            <a:prstDash val="solid"/>
            <a:round/>
          </a:ln>
        </p:spPr>
        <p:txBody>
          <a:bodyPr rtlCol="0"/>
          <a:lstStyle/>
          <a:p>
            <a:pPr algn="ctr"/>
            <a:endParaRPr lang="zh-CN" altLang="en-US"/>
          </a:p>
        </p:txBody>
      </p:sp>
      <p:sp>
        <p:nvSpPr>
          <p:cNvPr id="262" name="path 262"/>
          <p:cNvSpPr/>
          <p:nvPr/>
        </p:nvSpPr>
        <p:spPr>
          <a:xfrm>
            <a:off x="8229600" y="1758696"/>
            <a:ext cx="173735" cy="1453895"/>
          </a:xfrm>
          <a:custGeom>
            <a:avLst/>
            <a:gdLst/>
            <a:ahLst/>
            <a:cxnLst/>
            <a:rect l="0" t="0" r="0" b="0"/>
            <a:pathLst>
              <a:path w="273" h="2289">
                <a:moveTo>
                  <a:pt x="7" y="7"/>
                </a:moveTo>
                <a:cubicBezTo>
                  <a:pt x="78" y="7"/>
                  <a:pt x="136" y="156"/>
                  <a:pt x="136" y="341"/>
                </a:cubicBezTo>
                <a:lnTo>
                  <a:pt x="136" y="810"/>
                </a:lnTo>
                <a:cubicBezTo>
                  <a:pt x="136" y="994"/>
                  <a:pt x="194" y="1144"/>
                  <a:pt x="266" y="1144"/>
                </a:cubicBezTo>
                <a:cubicBezTo>
                  <a:pt x="194" y="1144"/>
                  <a:pt x="136" y="1294"/>
                  <a:pt x="136" y="1479"/>
                </a:cubicBezTo>
                <a:lnTo>
                  <a:pt x="136" y="1947"/>
                </a:lnTo>
                <a:cubicBezTo>
                  <a:pt x="136" y="2132"/>
                  <a:pt x="78" y="2282"/>
                  <a:pt x="7" y="2282"/>
                </a:cubicBezTo>
              </a:path>
            </a:pathLst>
          </a:custGeom>
          <a:noFill/>
          <a:ln w="9143" cap="flat">
            <a:solidFill>
              <a:srgbClr val="000000"/>
            </a:solidFill>
            <a:prstDash val="solid"/>
            <a:round/>
          </a:ln>
        </p:spPr>
        <p:txBody>
          <a:bodyPr rtlCol="0"/>
          <a:lstStyle/>
          <a:p>
            <a:pPr algn="ctr"/>
            <a:endParaRPr lang="zh-CN" altLang="en-US"/>
          </a:p>
        </p:txBody>
      </p:sp>
      <p:sp>
        <p:nvSpPr>
          <p:cNvPr id="264" name="path 264"/>
          <p:cNvSpPr/>
          <p:nvPr/>
        </p:nvSpPr>
        <p:spPr>
          <a:xfrm>
            <a:off x="3020567" y="3444240"/>
            <a:ext cx="170688" cy="1453895"/>
          </a:xfrm>
          <a:custGeom>
            <a:avLst/>
            <a:gdLst/>
            <a:ahLst/>
            <a:cxnLst/>
            <a:rect l="0" t="0" r="0" b="0"/>
            <a:pathLst>
              <a:path w="268" h="2289">
                <a:moveTo>
                  <a:pt x="261" y="2282"/>
                </a:moveTo>
                <a:cubicBezTo>
                  <a:pt x="191" y="2282"/>
                  <a:pt x="134" y="2133"/>
                  <a:pt x="134" y="1950"/>
                </a:cubicBezTo>
                <a:lnTo>
                  <a:pt x="134" y="1476"/>
                </a:lnTo>
                <a:cubicBezTo>
                  <a:pt x="134" y="1293"/>
                  <a:pt x="77" y="1144"/>
                  <a:pt x="7" y="1144"/>
                </a:cubicBezTo>
                <a:cubicBezTo>
                  <a:pt x="77" y="1144"/>
                  <a:pt x="134" y="995"/>
                  <a:pt x="134" y="812"/>
                </a:cubicBezTo>
                <a:lnTo>
                  <a:pt x="134" y="339"/>
                </a:lnTo>
                <a:cubicBezTo>
                  <a:pt x="134" y="155"/>
                  <a:pt x="191" y="7"/>
                  <a:pt x="261" y="7"/>
                </a:cubicBezTo>
              </a:path>
            </a:pathLst>
          </a:custGeom>
          <a:noFill/>
          <a:ln w="9143" cap="flat">
            <a:solidFill>
              <a:srgbClr val="000000"/>
            </a:solidFill>
            <a:prstDash val="solid"/>
            <a:round/>
          </a:ln>
        </p:spPr>
        <p:txBody>
          <a:bodyPr rtlCol="0"/>
          <a:lstStyle/>
          <a:p>
            <a:pPr algn="ctr"/>
            <a:endParaRPr lang="zh-CN" altLang="en-US"/>
          </a:p>
        </p:txBody>
      </p:sp>
      <p:sp>
        <p:nvSpPr>
          <p:cNvPr id="266" name="path 266"/>
          <p:cNvSpPr/>
          <p:nvPr/>
        </p:nvSpPr>
        <p:spPr>
          <a:xfrm>
            <a:off x="3020567" y="957072"/>
            <a:ext cx="170688" cy="1453895"/>
          </a:xfrm>
          <a:custGeom>
            <a:avLst/>
            <a:gdLst/>
            <a:ahLst/>
            <a:cxnLst/>
            <a:rect l="0" t="0" r="0" b="0"/>
            <a:pathLst>
              <a:path w="268" h="2289">
                <a:moveTo>
                  <a:pt x="261" y="2282"/>
                </a:moveTo>
                <a:cubicBezTo>
                  <a:pt x="191" y="2282"/>
                  <a:pt x="134" y="2133"/>
                  <a:pt x="134" y="1950"/>
                </a:cubicBezTo>
                <a:lnTo>
                  <a:pt x="134" y="1476"/>
                </a:lnTo>
                <a:cubicBezTo>
                  <a:pt x="134" y="1293"/>
                  <a:pt x="77" y="1144"/>
                  <a:pt x="7" y="1144"/>
                </a:cubicBezTo>
                <a:cubicBezTo>
                  <a:pt x="77" y="1144"/>
                  <a:pt x="134" y="995"/>
                  <a:pt x="134" y="812"/>
                </a:cubicBezTo>
                <a:lnTo>
                  <a:pt x="134" y="339"/>
                </a:lnTo>
                <a:cubicBezTo>
                  <a:pt x="134" y="155"/>
                  <a:pt x="191" y="7"/>
                  <a:pt x="261" y="7"/>
                </a:cubicBezTo>
              </a:path>
            </a:pathLst>
          </a:custGeom>
          <a:noFill/>
          <a:ln w="9143" cap="flat">
            <a:solidFill>
              <a:srgbClr val="000000"/>
            </a:solidFill>
            <a:prstDash val="solid"/>
            <a:round/>
          </a:ln>
        </p:spPr>
        <p:txBody>
          <a:bodyPr rtlCol="0"/>
          <a:lstStyle/>
          <a:p>
            <a:pPr algn="ctr"/>
            <a:endParaRPr lang="zh-CN" altLang="en-US"/>
          </a:p>
        </p:txBody>
      </p:sp>
      <p:pic>
        <p:nvPicPr>
          <p:cNvPr id="268" name="picture 268"/>
          <p:cNvPicPr>
            <a:picLocks noChangeAspect="1"/>
          </p:cNvPicPr>
          <p:nvPr/>
        </p:nvPicPr>
        <p:blipFill>
          <a:blip r:embed="rId6"/>
          <a:stretch>
            <a:fillRect/>
          </a:stretch>
        </p:blipFill>
        <p:spPr>
          <a:xfrm rot="21600000">
            <a:off x="3800855" y="3287267"/>
            <a:ext cx="76200" cy="161544"/>
          </a:xfrm>
          <a:prstGeom prst="rect">
            <a:avLst/>
          </a:prstGeom>
        </p:spPr>
      </p:pic>
      <p:graphicFrame>
        <p:nvGraphicFramePr>
          <p:cNvPr id="270" name="table 270"/>
          <p:cNvGraphicFramePr>
            <a:graphicFrameLocks noGrp="1"/>
          </p:cNvGraphicFramePr>
          <p:nvPr/>
        </p:nvGraphicFramePr>
        <p:xfrm>
          <a:off x="3346703" y="3444240"/>
          <a:ext cx="987425" cy="249554"/>
        </p:xfrm>
        <a:graphic>
          <a:graphicData uri="http://schemas.openxmlformats.org/drawingml/2006/table">
            <a:tbl>
              <a:tblPr/>
              <a:tblGrid>
                <a:gridCol w="987425"/>
              </a:tblGrid>
              <a:tr h="243204">
                <a:tc>
                  <a:txBody>
                    <a:bodyPr/>
                    <a:lstStyle/>
                    <a:p>
                      <a:pPr algn="l" rtl="0" eaLnBrk="0">
                        <a:lnSpc>
                          <a:spcPct val="116000"/>
                        </a:lnSpc>
                      </a:pPr>
                      <a:endParaRPr sz="400" dirty="0">
                        <a:latin typeface="Arial" panose="020B0604020202020204" pitchFamily="34" charset="0"/>
                        <a:ea typeface="Arial" panose="020B0604020202020204" pitchFamily="34" charset="0"/>
                        <a:cs typeface="Arial" panose="020B0604020202020204" pitchFamily="34" charset="0"/>
                      </a:endParaRPr>
                    </a:p>
                    <a:p>
                      <a:pPr marL="187325" algn="l" rtl="0" eaLnBrk="0">
                        <a:lnSpc>
                          <a:spcPct val="94000"/>
                        </a:lnSpc>
                        <a:spcBef>
                          <a:spcPts val="5"/>
                        </a:spcBef>
                      </a:pPr>
                      <a:r>
                        <a:rPr sz="12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字节替换</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72" name="picture 272"/>
          <p:cNvPicPr>
            <a:picLocks noChangeAspect="1"/>
          </p:cNvPicPr>
          <p:nvPr/>
        </p:nvPicPr>
        <p:blipFill>
          <a:blip r:embed="rId7"/>
          <a:stretch>
            <a:fillRect/>
          </a:stretch>
        </p:blipFill>
        <p:spPr>
          <a:xfrm rot="21600000">
            <a:off x="3800855" y="4893564"/>
            <a:ext cx="76200" cy="161544"/>
          </a:xfrm>
          <a:prstGeom prst="rect">
            <a:avLst/>
          </a:prstGeom>
        </p:spPr>
      </p:pic>
      <p:graphicFrame>
        <p:nvGraphicFramePr>
          <p:cNvPr id="274" name="table 274"/>
          <p:cNvGraphicFramePr>
            <a:graphicFrameLocks noGrp="1"/>
          </p:cNvGraphicFramePr>
          <p:nvPr/>
        </p:nvGraphicFramePr>
        <p:xfrm>
          <a:off x="3346703" y="5050535"/>
          <a:ext cx="987425" cy="249555"/>
        </p:xfrm>
        <a:graphic>
          <a:graphicData uri="http://schemas.openxmlformats.org/drawingml/2006/table">
            <a:tbl>
              <a:tblPr/>
              <a:tblGrid>
                <a:gridCol w="987425"/>
              </a:tblGrid>
              <a:tr h="243205">
                <a:tc>
                  <a:txBody>
                    <a:bodyPr/>
                    <a:lstStyle/>
                    <a:p>
                      <a:pPr algn="l" rtl="0" eaLnBrk="0">
                        <a:lnSpc>
                          <a:spcPct val="116000"/>
                        </a:lnSpc>
                      </a:pPr>
                      <a:endParaRPr sz="400" dirty="0">
                        <a:latin typeface="Arial" panose="020B0604020202020204" pitchFamily="34" charset="0"/>
                        <a:ea typeface="Arial" panose="020B0604020202020204" pitchFamily="34" charset="0"/>
                        <a:cs typeface="Arial" panose="020B0604020202020204" pitchFamily="34" charset="0"/>
                      </a:endParaRPr>
                    </a:p>
                    <a:p>
                      <a:pPr marL="187325" algn="l" rtl="0" eaLnBrk="0">
                        <a:lnSpc>
                          <a:spcPct val="94000"/>
                        </a:lnSpc>
                        <a:spcBef>
                          <a:spcPts val="5"/>
                        </a:spcBef>
                      </a:pPr>
                      <a:r>
                        <a:rPr sz="12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字节替换</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76" name="picture 276"/>
          <p:cNvPicPr>
            <a:picLocks noChangeAspect="1"/>
          </p:cNvPicPr>
          <p:nvPr/>
        </p:nvPicPr>
        <p:blipFill>
          <a:blip r:embed="rId8"/>
          <a:stretch>
            <a:fillRect/>
          </a:stretch>
        </p:blipFill>
        <p:spPr>
          <a:xfrm rot="21600000">
            <a:off x="7545196" y="4893564"/>
            <a:ext cx="76200" cy="161671"/>
          </a:xfrm>
          <a:prstGeom prst="rect">
            <a:avLst/>
          </a:prstGeom>
        </p:spPr>
      </p:pic>
      <p:graphicFrame>
        <p:nvGraphicFramePr>
          <p:cNvPr id="278" name="table 278"/>
          <p:cNvGraphicFramePr>
            <a:graphicFrameLocks noGrp="1"/>
          </p:cNvGraphicFramePr>
          <p:nvPr/>
        </p:nvGraphicFramePr>
        <p:xfrm>
          <a:off x="7089647" y="5050535"/>
          <a:ext cx="987425" cy="249555"/>
        </p:xfrm>
        <a:graphic>
          <a:graphicData uri="http://schemas.openxmlformats.org/drawingml/2006/table">
            <a:tbl>
              <a:tblPr/>
              <a:tblGrid>
                <a:gridCol w="987425"/>
              </a:tblGrid>
              <a:tr h="243205">
                <a:tc>
                  <a:txBody>
                    <a:bodyPr/>
                    <a:lstStyle/>
                    <a:p>
                      <a:pPr algn="l" rtl="0" eaLnBrk="0">
                        <a:lnSpc>
                          <a:spcPct val="116000"/>
                        </a:lnSpc>
                      </a:pPr>
                      <a:endParaRPr sz="400" dirty="0">
                        <a:latin typeface="Arial" panose="020B0604020202020204" pitchFamily="34" charset="0"/>
                        <a:ea typeface="Arial" panose="020B0604020202020204" pitchFamily="34" charset="0"/>
                        <a:cs typeface="Arial" panose="020B0604020202020204" pitchFamily="34" charset="0"/>
                      </a:endParaRPr>
                    </a:p>
                    <a:p>
                      <a:pPr marL="111760" algn="l" rtl="0" eaLnBrk="0">
                        <a:lnSpc>
                          <a:spcPct val="94000"/>
                        </a:lnSpc>
                        <a:spcBef>
                          <a:spcPts val="5"/>
                        </a:spcBef>
                      </a:pPr>
                      <a:r>
                        <a:rPr sz="12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逆字节替换</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80" name="picture 280"/>
          <p:cNvPicPr>
            <a:picLocks noChangeAspect="1"/>
          </p:cNvPicPr>
          <p:nvPr/>
        </p:nvPicPr>
        <p:blipFill>
          <a:blip r:embed="rId9"/>
          <a:stretch>
            <a:fillRect/>
          </a:stretch>
        </p:blipFill>
        <p:spPr>
          <a:xfrm rot="21600000">
            <a:off x="7545323" y="2406396"/>
            <a:ext cx="76072" cy="158622"/>
          </a:xfrm>
          <a:prstGeom prst="rect">
            <a:avLst/>
          </a:prstGeom>
        </p:spPr>
      </p:pic>
      <p:graphicFrame>
        <p:nvGraphicFramePr>
          <p:cNvPr id="282" name="table 282"/>
          <p:cNvGraphicFramePr>
            <a:graphicFrameLocks noGrp="1"/>
          </p:cNvGraphicFramePr>
          <p:nvPr/>
        </p:nvGraphicFramePr>
        <p:xfrm>
          <a:off x="7089647" y="2560320"/>
          <a:ext cx="987425" cy="249554"/>
        </p:xfrm>
        <a:graphic>
          <a:graphicData uri="http://schemas.openxmlformats.org/drawingml/2006/table">
            <a:tbl>
              <a:tblPr/>
              <a:tblGrid>
                <a:gridCol w="987425"/>
              </a:tblGrid>
              <a:tr h="243204">
                <a:tc>
                  <a:txBody>
                    <a:bodyPr/>
                    <a:lstStyle/>
                    <a:p>
                      <a:pPr algn="l" rtl="0" eaLnBrk="0">
                        <a:lnSpc>
                          <a:spcPct val="119000"/>
                        </a:lnSpc>
                      </a:pPr>
                      <a:endParaRPr sz="400" dirty="0">
                        <a:latin typeface="Arial" panose="020B0604020202020204" pitchFamily="34" charset="0"/>
                        <a:ea typeface="Arial" panose="020B0604020202020204" pitchFamily="34" charset="0"/>
                        <a:cs typeface="Arial" panose="020B0604020202020204" pitchFamily="34" charset="0"/>
                      </a:endParaRPr>
                    </a:p>
                    <a:p>
                      <a:pPr marL="111760" algn="l" rtl="0" eaLnBrk="0">
                        <a:lnSpc>
                          <a:spcPct val="93000"/>
                        </a:lnSpc>
                        <a:spcBef>
                          <a:spcPts val="5"/>
                        </a:spcBef>
                      </a:pPr>
                      <a:r>
                        <a:rPr sz="12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逆字节替换</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84" name="table 284"/>
          <p:cNvGraphicFramePr>
            <a:graphicFrameLocks noGrp="1"/>
          </p:cNvGraphicFramePr>
          <p:nvPr/>
        </p:nvGraphicFramePr>
        <p:xfrm>
          <a:off x="3346703" y="3846576"/>
          <a:ext cx="984250" cy="249554"/>
        </p:xfrm>
        <a:graphic>
          <a:graphicData uri="http://schemas.openxmlformats.org/drawingml/2006/table">
            <a:tbl>
              <a:tblPr/>
              <a:tblGrid>
                <a:gridCol w="984250"/>
              </a:tblGrid>
              <a:tr h="243204">
                <a:tc>
                  <a:txBody>
                    <a:bodyPr/>
                    <a:lstStyle/>
                    <a:p>
                      <a:pPr algn="l" rtl="0" eaLnBrk="0">
                        <a:lnSpc>
                          <a:spcPct val="116000"/>
                        </a:lnSpc>
                      </a:pPr>
                      <a:endParaRPr sz="400" dirty="0">
                        <a:latin typeface="Arial" panose="020B0604020202020204" pitchFamily="34" charset="0"/>
                        <a:ea typeface="Arial" panose="020B0604020202020204" pitchFamily="34" charset="0"/>
                        <a:cs typeface="Arial" panose="020B0604020202020204" pitchFamily="34" charset="0"/>
                      </a:endParaRPr>
                    </a:p>
                    <a:p>
                      <a:pPr marL="265430" algn="l" rtl="0" eaLnBrk="0">
                        <a:lnSpc>
                          <a:spcPct val="94000"/>
                        </a:lnSpc>
                        <a:spcBef>
                          <a:spcPts val="5"/>
                        </a:spcBef>
                      </a:pP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行移位</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86" name="table 286"/>
          <p:cNvGraphicFramePr>
            <a:graphicFrameLocks noGrp="1"/>
          </p:cNvGraphicFramePr>
          <p:nvPr/>
        </p:nvGraphicFramePr>
        <p:xfrm>
          <a:off x="3346703" y="4245864"/>
          <a:ext cx="984250" cy="249554"/>
        </p:xfrm>
        <a:graphic>
          <a:graphicData uri="http://schemas.openxmlformats.org/drawingml/2006/table">
            <a:tbl>
              <a:tblPr/>
              <a:tblGrid>
                <a:gridCol w="984250"/>
              </a:tblGrid>
              <a:tr h="243204">
                <a:tc>
                  <a:txBody>
                    <a:bodyPr/>
                    <a:lstStyle/>
                    <a:p>
                      <a:pPr algn="l" rtl="0" eaLnBrk="0">
                        <a:lnSpc>
                          <a:spcPct val="119000"/>
                        </a:lnSpc>
                      </a:pPr>
                      <a:endParaRPr sz="400" dirty="0">
                        <a:latin typeface="Arial" panose="020B0604020202020204" pitchFamily="34" charset="0"/>
                        <a:ea typeface="Arial" panose="020B0604020202020204" pitchFamily="34" charset="0"/>
                        <a:cs typeface="Arial" panose="020B0604020202020204" pitchFamily="34" charset="0"/>
                      </a:endParaRPr>
                    </a:p>
                    <a:p>
                      <a:pPr marL="266065" algn="l" rtl="0" eaLnBrk="0">
                        <a:lnSpc>
                          <a:spcPct val="93000"/>
                        </a:lnSpc>
                        <a:spcBef>
                          <a:spcPts val="5"/>
                        </a:spcBef>
                      </a:pP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列混淆</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88" name="table 288"/>
          <p:cNvGraphicFramePr>
            <a:graphicFrameLocks noGrp="1"/>
          </p:cNvGraphicFramePr>
          <p:nvPr/>
        </p:nvGraphicFramePr>
        <p:xfrm>
          <a:off x="3346703" y="5449823"/>
          <a:ext cx="984250" cy="249555"/>
        </p:xfrm>
        <a:graphic>
          <a:graphicData uri="http://schemas.openxmlformats.org/drawingml/2006/table">
            <a:tbl>
              <a:tblPr/>
              <a:tblGrid>
                <a:gridCol w="984250"/>
              </a:tblGrid>
              <a:tr h="243205">
                <a:tc>
                  <a:txBody>
                    <a:bodyPr/>
                    <a:lstStyle/>
                    <a:p>
                      <a:pPr algn="l" rtl="0" eaLnBrk="0">
                        <a:lnSpc>
                          <a:spcPct val="122000"/>
                        </a:lnSpc>
                      </a:pPr>
                      <a:endParaRPr sz="400" dirty="0">
                        <a:latin typeface="Arial" panose="020B0604020202020204" pitchFamily="34" charset="0"/>
                        <a:ea typeface="Arial" panose="020B0604020202020204" pitchFamily="34" charset="0"/>
                        <a:cs typeface="Arial" panose="020B0604020202020204" pitchFamily="34" charset="0"/>
                      </a:endParaRPr>
                    </a:p>
                    <a:p>
                      <a:pPr marL="265430" algn="l" rtl="0" eaLnBrk="0">
                        <a:lnSpc>
                          <a:spcPct val="92000"/>
                        </a:lnSpc>
                        <a:spcBef>
                          <a:spcPts val="5"/>
                        </a:spcBef>
                      </a:pP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行移位</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90" name="table 290"/>
          <p:cNvGraphicFramePr>
            <a:graphicFrameLocks noGrp="1"/>
          </p:cNvGraphicFramePr>
          <p:nvPr/>
        </p:nvGraphicFramePr>
        <p:xfrm>
          <a:off x="7089647" y="4245864"/>
          <a:ext cx="984250" cy="249554"/>
        </p:xfrm>
        <a:graphic>
          <a:graphicData uri="http://schemas.openxmlformats.org/drawingml/2006/table">
            <a:tbl>
              <a:tblPr/>
              <a:tblGrid>
                <a:gridCol w="984250"/>
              </a:tblGrid>
              <a:tr h="243204">
                <a:tc>
                  <a:txBody>
                    <a:bodyPr/>
                    <a:lstStyle/>
                    <a:p>
                      <a:pPr algn="l" rtl="0" eaLnBrk="0">
                        <a:lnSpc>
                          <a:spcPct val="119000"/>
                        </a:lnSpc>
                      </a:pPr>
                      <a:endParaRPr sz="400" dirty="0">
                        <a:latin typeface="Arial" panose="020B0604020202020204" pitchFamily="34" charset="0"/>
                        <a:ea typeface="Arial" panose="020B0604020202020204" pitchFamily="34" charset="0"/>
                        <a:cs typeface="Arial" panose="020B0604020202020204" pitchFamily="34" charset="0"/>
                      </a:endParaRPr>
                    </a:p>
                    <a:p>
                      <a:pPr marL="187960" algn="l" rtl="0" eaLnBrk="0">
                        <a:lnSpc>
                          <a:spcPct val="93000"/>
                        </a:lnSpc>
                        <a:spcBef>
                          <a:spcPts val="5"/>
                        </a:spcBef>
                      </a:pPr>
                      <a:r>
                        <a:rPr sz="1200" b="1"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逆列混淆</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92" name="table 292"/>
          <p:cNvGraphicFramePr>
            <a:graphicFrameLocks noGrp="1"/>
          </p:cNvGraphicFramePr>
          <p:nvPr/>
        </p:nvGraphicFramePr>
        <p:xfrm>
          <a:off x="7089647" y="5449823"/>
          <a:ext cx="984250" cy="249555"/>
        </p:xfrm>
        <a:graphic>
          <a:graphicData uri="http://schemas.openxmlformats.org/drawingml/2006/table">
            <a:tbl>
              <a:tblPr/>
              <a:tblGrid>
                <a:gridCol w="984250"/>
              </a:tblGrid>
              <a:tr h="243205">
                <a:tc>
                  <a:txBody>
                    <a:bodyPr/>
                    <a:lstStyle/>
                    <a:p>
                      <a:pPr algn="l" rtl="0" eaLnBrk="0">
                        <a:lnSpc>
                          <a:spcPct val="122000"/>
                        </a:lnSpc>
                      </a:pPr>
                      <a:endParaRPr sz="400" dirty="0">
                        <a:latin typeface="Arial" panose="020B0604020202020204" pitchFamily="34" charset="0"/>
                        <a:ea typeface="Arial" panose="020B0604020202020204" pitchFamily="34" charset="0"/>
                        <a:cs typeface="Arial" panose="020B0604020202020204" pitchFamily="34" charset="0"/>
                      </a:endParaRPr>
                    </a:p>
                    <a:p>
                      <a:pPr marL="187960" algn="l" rtl="0" eaLnBrk="0">
                        <a:lnSpc>
                          <a:spcPct val="92000"/>
                        </a:lnSpc>
                        <a:spcBef>
                          <a:spcPts val="5"/>
                        </a:spcBef>
                      </a:pPr>
                      <a:r>
                        <a:rPr sz="1200" b="1"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逆行移位</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94" name="table 294"/>
          <p:cNvGraphicFramePr>
            <a:graphicFrameLocks noGrp="1"/>
          </p:cNvGraphicFramePr>
          <p:nvPr/>
        </p:nvGraphicFramePr>
        <p:xfrm>
          <a:off x="3346703" y="1356360"/>
          <a:ext cx="984250" cy="249554"/>
        </p:xfrm>
        <a:graphic>
          <a:graphicData uri="http://schemas.openxmlformats.org/drawingml/2006/table">
            <a:tbl>
              <a:tblPr/>
              <a:tblGrid>
                <a:gridCol w="984250"/>
              </a:tblGrid>
              <a:tr h="243204">
                <a:tc>
                  <a:txBody>
                    <a:bodyPr/>
                    <a:lstStyle/>
                    <a:p>
                      <a:pPr algn="l" rtl="0" eaLnBrk="0">
                        <a:lnSpc>
                          <a:spcPct val="116000"/>
                        </a:lnSpc>
                      </a:pPr>
                      <a:endParaRPr sz="400" dirty="0">
                        <a:latin typeface="Arial" panose="020B0604020202020204" pitchFamily="34" charset="0"/>
                        <a:ea typeface="Arial" panose="020B0604020202020204" pitchFamily="34" charset="0"/>
                        <a:cs typeface="Arial" panose="020B0604020202020204" pitchFamily="34" charset="0"/>
                      </a:endParaRPr>
                    </a:p>
                    <a:p>
                      <a:pPr marL="265430" algn="l" rtl="0" eaLnBrk="0">
                        <a:lnSpc>
                          <a:spcPct val="94000"/>
                        </a:lnSpc>
                        <a:spcBef>
                          <a:spcPts val="5"/>
                        </a:spcBef>
                      </a:pP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行移位</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296" name="table 296"/>
          <p:cNvGraphicFramePr>
            <a:graphicFrameLocks noGrp="1"/>
          </p:cNvGraphicFramePr>
          <p:nvPr/>
        </p:nvGraphicFramePr>
        <p:xfrm>
          <a:off x="3346703" y="1758696"/>
          <a:ext cx="984250" cy="249554"/>
        </p:xfrm>
        <a:graphic>
          <a:graphicData uri="http://schemas.openxmlformats.org/drawingml/2006/table">
            <a:tbl>
              <a:tblPr/>
              <a:tblGrid>
                <a:gridCol w="984250"/>
              </a:tblGrid>
              <a:tr h="243204">
                <a:tc>
                  <a:txBody>
                    <a:bodyPr/>
                    <a:lstStyle/>
                    <a:p>
                      <a:pPr algn="l" rtl="0" eaLnBrk="0">
                        <a:lnSpc>
                          <a:spcPct val="116000"/>
                        </a:lnSpc>
                      </a:pPr>
                      <a:endParaRPr sz="400" dirty="0">
                        <a:latin typeface="Arial" panose="020B0604020202020204" pitchFamily="34" charset="0"/>
                        <a:ea typeface="Arial" panose="020B0604020202020204" pitchFamily="34" charset="0"/>
                        <a:cs typeface="Arial" panose="020B0604020202020204" pitchFamily="34" charset="0"/>
                      </a:endParaRPr>
                    </a:p>
                    <a:p>
                      <a:pPr marL="266065" algn="l" rtl="0" eaLnBrk="0">
                        <a:lnSpc>
                          <a:spcPct val="94000"/>
                        </a:lnSpc>
                        <a:spcBef>
                          <a:spcPts val="5"/>
                        </a:spcBef>
                      </a:pP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列混淆</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98" name="picture 298"/>
          <p:cNvPicPr>
            <a:picLocks noChangeAspect="1"/>
          </p:cNvPicPr>
          <p:nvPr/>
        </p:nvPicPr>
        <p:blipFill>
          <a:blip r:embed="rId10"/>
          <a:stretch>
            <a:fillRect/>
          </a:stretch>
        </p:blipFill>
        <p:spPr>
          <a:xfrm rot="21600000">
            <a:off x="7545196" y="3208020"/>
            <a:ext cx="76200" cy="161670"/>
          </a:xfrm>
          <a:prstGeom prst="rect">
            <a:avLst/>
          </a:prstGeom>
        </p:spPr>
      </p:pic>
      <p:graphicFrame>
        <p:nvGraphicFramePr>
          <p:cNvPr id="300" name="table 300"/>
          <p:cNvGraphicFramePr>
            <a:graphicFrameLocks noGrp="1"/>
          </p:cNvGraphicFramePr>
          <p:nvPr/>
        </p:nvGraphicFramePr>
        <p:xfrm>
          <a:off x="7089647" y="2962656"/>
          <a:ext cx="984250" cy="249554"/>
        </p:xfrm>
        <a:graphic>
          <a:graphicData uri="http://schemas.openxmlformats.org/drawingml/2006/table">
            <a:tbl>
              <a:tblPr/>
              <a:tblGrid>
                <a:gridCol w="984250"/>
              </a:tblGrid>
              <a:tr h="243204">
                <a:tc>
                  <a:txBody>
                    <a:bodyPr/>
                    <a:lstStyle/>
                    <a:p>
                      <a:pPr algn="l" rtl="0" eaLnBrk="0">
                        <a:lnSpc>
                          <a:spcPct val="116000"/>
                        </a:lnSpc>
                      </a:pPr>
                      <a:endParaRPr sz="400" dirty="0">
                        <a:latin typeface="Arial" panose="020B0604020202020204" pitchFamily="34" charset="0"/>
                        <a:ea typeface="Arial" panose="020B0604020202020204" pitchFamily="34" charset="0"/>
                        <a:cs typeface="Arial" panose="020B0604020202020204" pitchFamily="34" charset="0"/>
                      </a:endParaRPr>
                    </a:p>
                    <a:p>
                      <a:pPr marL="187960" algn="l" rtl="0" eaLnBrk="0">
                        <a:lnSpc>
                          <a:spcPct val="94000"/>
                        </a:lnSpc>
                        <a:spcBef>
                          <a:spcPts val="5"/>
                        </a:spcBef>
                      </a:pPr>
                      <a:r>
                        <a:rPr sz="1200" b="1"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逆行移位</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02" name="table 302"/>
          <p:cNvGraphicFramePr>
            <a:graphicFrameLocks noGrp="1"/>
          </p:cNvGraphicFramePr>
          <p:nvPr/>
        </p:nvGraphicFramePr>
        <p:xfrm>
          <a:off x="7089647" y="1356360"/>
          <a:ext cx="984250" cy="249554"/>
        </p:xfrm>
        <a:graphic>
          <a:graphicData uri="http://schemas.openxmlformats.org/drawingml/2006/table">
            <a:tbl>
              <a:tblPr/>
              <a:tblGrid>
                <a:gridCol w="984250"/>
              </a:tblGrid>
              <a:tr h="243204">
                <a:tc>
                  <a:txBody>
                    <a:bodyPr/>
                    <a:lstStyle/>
                    <a:p>
                      <a:pPr algn="l" rtl="0" eaLnBrk="0">
                        <a:lnSpc>
                          <a:spcPct val="116000"/>
                        </a:lnSpc>
                      </a:pPr>
                      <a:endParaRPr sz="400" dirty="0">
                        <a:latin typeface="Arial" panose="020B0604020202020204" pitchFamily="34" charset="0"/>
                        <a:ea typeface="Arial" panose="020B0604020202020204" pitchFamily="34" charset="0"/>
                        <a:cs typeface="Arial" panose="020B0604020202020204" pitchFamily="34" charset="0"/>
                      </a:endParaRPr>
                    </a:p>
                    <a:p>
                      <a:pPr marL="187960" algn="l" rtl="0" eaLnBrk="0">
                        <a:lnSpc>
                          <a:spcPct val="94000"/>
                        </a:lnSpc>
                        <a:spcBef>
                          <a:spcPts val="5"/>
                        </a:spcBef>
                      </a:pPr>
                      <a:r>
                        <a:rPr sz="1200" b="1"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逆行移位</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04" name="table 304"/>
          <p:cNvGraphicFramePr>
            <a:graphicFrameLocks noGrp="1"/>
          </p:cNvGraphicFramePr>
          <p:nvPr/>
        </p:nvGraphicFramePr>
        <p:xfrm>
          <a:off x="7089647" y="1758696"/>
          <a:ext cx="984250" cy="249554"/>
        </p:xfrm>
        <a:graphic>
          <a:graphicData uri="http://schemas.openxmlformats.org/drawingml/2006/table">
            <a:tbl>
              <a:tblPr/>
              <a:tblGrid>
                <a:gridCol w="984250"/>
              </a:tblGrid>
              <a:tr h="243204">
                <a:tc>
                  <a:txBody>
                    <a:bodyPr/>
                    <a:lstStyle/>
                    <a:p>
                      <a:pPr algn="l" rtl="0" eaLnBrk="0">
                        <a:lnSpc>
                          <a:spcPct val="116000"/>
                        </a:lnSpc>
                      </a:pPr>
                      <a:endParaRPr sz="400" dirty="0">
                        <a:latin typeface="Arial" panose="020B0604020202020204" pitchFamily="34" charset="0"/>
                        <a:ea typeface="Arial" panose="020B0604020202020204" pitchFamily="34" charset="0"/>
                        <a:cs typeface="Arial" panose="020B0604020202020204" pitchFamily="34" charset="0"/>
                      </a:endParaRPr>
                    </a:p>
                    <a:p>
                      <a:pPr marL="187960" algn="l" rtl="0" eaLnBrk="0">
                        <a:lnSpc>
                          <a:spcPct val="94000"/>
                        </a:lnSpc>
                        <a:spcBef>
                          <a:spcPts val="5"/>
                        </a:spcBef>
                      </a:pPr>
                      <a:r>
                        <a:rPr sz="1200" b="1"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逆列混淆</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06" name="table 306"/>
          <p:cNvGraphicFramePr>
            <a:graphicFrameLocks noGrp="1"/>
          </p:cNvGraphicFramePr>
          <p:nvPr/>
        </p:nvGraphicFramePr>
        <p:xfrm>
          <a:off x="3346703" y="957072"/>
          <a:ext cx="987425" cy="246379"/>
        </p:xfrm>
        <a:graphic>
          <a:graphicData uri="http://schemas.openxmlformats.org/drawingml/2006/table">
            <a:tbl>
              <a:tblPr/>
              <a:tblGrid>
                <a:gridCol w="987425"/>
              </a:tblGrid>
              <a:tr h="240029">
                <a:tc>
                  <a:txBody>
                    <a:bodyPr/>
                    <a:lstStyle/>
                    <a:p>
                      <a:pPr algn="l" rtl="0" eaLnBrk="0">
                        <a:lnSpc>
                          <a:spcPct val="114000"/>
                        </a:lnSpc>
                      </a:pPr>
                      <a:endParaRPr sz="400" dirty="0">
                        <a:latin typeface="Arial" panose="020B0604020202020204" pitchFamily="34" charset="0"/>
                        <a:ea typeface="Arial" panose="020B0604020202020204" pitchFamily="34" charset="0"/>
                        <a:cs typeface="Arial" panose="020B0604020202020204" pitchFamily="34" charset="0"/>
                      </a:endParaRPr>
                    </a:p>
                    <a:p>
                      <a:pPr marL="187325" algn="l" rtl="0" eaLnBrk="0">
                        <a:lnSpc>
                          <a:spcPct val="93000"/>
                        </a:lnSpc>
                        <a:spcBef>
                          <a:spcPts val="5"/>
                        </a:spcBef>
                      </a:pPr>
                      <a:r>
                        <a:rPr sz="12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字节替换</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08" name="table 308"/>
          <p:cNvGraphicFramePr>
            <a:graphicFrameLocks noGrp="1"/>
          </p:cNvGraphicFramePr>
          <p:nvPr/>
        </p:nvGraphicFramePr>
        <p:xfrm>
          <a:off x="7089647" y="957072"/>
          <a:ext cx="987425" cy="246379"/>
        </p:xfrm>
        <a:graphic>
          <a:graphicData uri="http://schemas.openxmlformats.org/drawingml/2006/table">
            <a:tbl>
              <a:tblPr/>
              <a:tblGrid>
                <a:gridCol w="987425"/>
              </a:tblGrid>
              <a:tr h="240029">
                <a:tc>
                  <a:txBody>
                    <a:bodyPr/>
                    <a:lstStyle/>
                    <a:p>
                      <a:pPr algn="l" rtl="0" eaLnBrk="0">
                        <a:lnSpc>
                          <a:spcPct val="114000"/>
                        </a:lnSpc>
                      </a:pPr>
                      <a:endParaRPr sz="400" dirty="0">
                        <a:latin typeface="Arial" panose="020B0604020202020204" pitchFamily="34" charset="0"/>
                        <a:ea typeface="Arial" panose="020B0604020202020204" pitchFamily="34" charset="0"/>
                        <a:cs typeface="Arial" panose="020B0604020202020204" pitchFamily="34" charset="0"/>
                      </a:endParaRPr>
                    </a:p>
                    <a:p>
                      <a:pPr marL="111760" algn="l" rtl="0" eaLnBrk="0">
                        <a:lnSpc>
                          <a:spcPct val="93000"/>
                        </a:lnSpc>
                        <a:spcBef>
                          <a:spcPts val="5"/>
                        </a:spcBef>
                      </a:pPr>
                      <a:r>
                        <a:rPr sz="12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逆字节替换</a:t>
                      </a:r>
                      <a:endParaRPr sz="12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310" name="textbox 310"/>
          <p:cNvSpPr/>
          <p:nvPr/>
        </p:nvSpPr>
        <p:spPr>
          <a:xfrm>
            <a:off x="5567883" y="211226"/>
            <a:ext cx="452755" cy="59626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75565" algn="l" rtl="0" eaLnBrk="0">
              <a:lnSpc>
                <a:spcPct val="95000"/>
              </a:lnSpc>
            </a:pP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密钥</a:t>
            </a:r>
            <a:endParaRPr sz="12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3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2000"/>
              </a:lnSpc>
            </a:pPr>
            <a:endParaRPr sz="3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9000"/>
              </a:lnSpc>
              <a:spcBef>
                <a:spcPts val="5"/>
              </a:spcBef>
            </a:pPr>
            <a:r>
              <a:rPr sz="1200" b="1" i="1" kern="0" spc="-10" dirty="0">
                <a:solidFill>
                  <a:srgbClr val="000000">
                    <a:alpha val="100000"/>
                  </a:srgbClr>
                </a:solidFill>
                <a:latin typeface="Times New Roman" panose="02020603050405020304"/>
                <a:ea typeface="Times New Roman" panose="02020603050405020304"/>
                <a:cs typeface="Times New Roman" panose="02020603050405020304"/>
              </a:rPr>
              <a:t>w</a:t>
            </a: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[0, 3]</a:t>
            </a:r>
            <a:endParaRPr sz="1200" dirty="0">
              <a:latin typeface="Times New Roman" panose="02020603050405020304"/>
              <a:ea typeface="Times New Roman" panose="02020603050405020304"/>
              <a:cs typeface="Times New Roman" panose="02020603050405020304"/>
            </a:endParaRPr>
          </a:p>
        </p:txBody>
      </p:sp>
      <p:sp>
        <p:nvSpPr>
          <p:cNvPr id="312" name="path 312"/>
          <p:cNvSpPr/>
          <p:nvPr/>
        </p:nvSpPr>
        <p:spPr>
          <a:xfrm>
            <a:off x="8229600" y="554736"/>
            <a:ext cx="173735" cy="1051559"/>
          </a:xfrm>
          <a:custGeom>
            <a:avLst/>
            <a:gdLst/>
            <a:ahLst/>
            <a:cxnLst/>
            <a:rect l="0" t="0" r="0" b="0"/>
            <a:pathLst>
              <a:path w="273" h="1655">
                <a:moveTo>
                  <a:pt x="7" y="7"/>
                </a:moveTo>
                <a:cubicBezTo>
                  <a:pt x="78" y="7"/>
                  <a:pt x="136" y="115"/>
                  <a:pt x="136" y="250"/>
                </a:cubicBezTo>
                <a:lnTo>
                  <a:pt x="136" y="584"/>
                </a:lnTo>
                <a:cubicBezTo>
                  <a:pt x="136" y="719"/>
                  <a:pt x="194" y="827"/>
                  <a:pt x="266" y="827"/>
                </a:cubicBezTo>
                <a:cubicBezTo>
                  <a:pt x="194" y="827"/>
                  <a:pt x="136" y="936"/>
                  <a:pt x="136" y="1071"/>
                </a:cubicBezTo>
                <a:lnTo>
                  <a:pt x="136" y="1405"/>
                </a:lnTo>
                <a:cubicBezTo>
                  <a:pt x="136" y="1540"/>
                  <a:pt x="78" y="1648"/>
                  <a:pt x="7" y="1648"/>
                </a:cubicBezTo>
              </a:path>
            </a:pathLst>
          </a:custGeom>
          <a:noFill/>
          <a:ln w="9143" cap="flat">
            <a:solidFill>
              <a:srgbClr val="000000"/>
            </a:solidFill>
            <a:prstDash val="solid"/>
            <a:round/>
          </a:ln>
        </p:spPr>
        <p:txBody>
          <a:bodyPr rtlCol="0"/>
          <a:lstStyle/>
          <a:p>
            <a:pPr algn="ctr"/>
            <a:endParaRPr lang="zh-CN" altLang="en-US"/>
          </a:p>
        </p:txBody>
      </p:sp>
      <p:sp>
        <p:nvSpPr>
          <p:cNvPr id="314" name="path 314"/>
          <p:cNvSpPr/>
          <p:nvPr/>
        </p:nvSpPr>
        <p:spPr>
          <a:xfrm>
            <a:off x="3020567" y="5050535"/>
            <a:ext cx="170688" cy="1051559"/>
          </a:xfrm>
          <a:custGeom>
            <a:avLst/>
            <a:gdLst/>
            <a:ahLst/>
            <a:cxnLst/>
            <a:rect l="0" t="0" r="0" b="0"/>
            <a:pathLst>
              <a:path w="268" h="1655">
                <a:moveTo>
                  <a:pt x="261" y="1648"/>
                </a:moveTo>
                <a:cubicBezTo>
                  <a:pt x="191" y="1648"/>
                  <a:pt x="134" y="1541"/>
                  <a:pt x="134" y="1408"/>
                </a:cubicBezTo>
                <a:lnTo>
                  <a:pt x="134" y="1067"/>
                </a:lnTo>
                <a:cubicBezTo>
                  <a:pt x="134" y="935"/>
                  <a:pt x="77" y="827"/>
                  <a:pt x="7" y="827"/>
                </a:cubicBezTo>
                <a:cubicBezTo>
                  <a:pt x="77" y="827"/>
                  <a:pt x="134" y="720"/>
                  <a:pt x="134" y="587"/>
                </a:cubicBezTo>
                <a:lnTo>
                  <a:pt x="134" y="247"/>
                </a:lnTo>
                <a:cubicBezTo>
                  <a:pt x="134" y="114"/>
                  <a:pt x="191" y="7"/>
                  <a:pt x="261" y="7"/>
                </a:cubicBezTo>
              </a:path>
            </a:pathLst>
          </a:custGeom>
          <a:noFill/>
          <a:ln w="9143" cap="flat">
            <a:solidFill>
              <a:srgbClr val="000000"/>
            </a:solidFill>
            <a:prstDash val="solid"/>
            <a:round/>
          </a:ln>
        </p:spPr>
        <p:txBody>
          <a:bodyPr rtlCol="0"/>
          <a:lstStyle/>
          <a:p>
            <a:pPr algn="ctr"/>
            <a:endParaRPr lang="zh-CN" altLang="en-US"/>
          </a:p>
        </p:txBody>
      </p:sp>
      <p:sp>
        <p:nvSpPr>
          <p:cNvPr id="316" name="textbox 316"/>
          <p:cNvSpPr/>
          <p:nvPr/>
        </p:nvSpPr>
        <p:spPr>
          <a:xfrm>
            <a:off x="5491429" y="5938062"/>
            <a:ext cx="605155" cy="170814"/>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9000"/>
              </a:lnSpc>
            </a:pPr>
            <a:r>
              <a:rPr sz="1200" b="1" i="1" kern="0" spc="-10" dirty="0">
                <a:solidFill>
                  <a:srgbClr val="000000">
                    <a:alpha val="100000"/>
                  </a:srgbClr>
                </a:solidFill>
                <a:latin typeface="Times New Roman" panose="02020603050405020304"/>
                <a:ea typeface="Times New Roman" panose="02020603050405020304"/>
                <a:cs typeface="Times New Roman" panose="02020603050405020304"/>
              </a:rPr>
              <a:t>w</a:t>
            </a: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[40, 43]</a:t>
            </a:r>
            <a:endParaRPr sz="1200" dirty="0">
              <a:latin typeface="Times New Roman" panose="02020603050405020304"/>
              <a:ea typeface="Times New Roman" panose="02020603050405020304"/>
              <a:cs typeface="Times New Roman" panose="02020603050405020304"/>
            </a:endParaRPr>
          </a:p>
        </p:txBody>
      </p:sp>
      <p:sp>
        <p:nvSpPr>
          <p:cNvPr id="318" name="textbox 318"/>
          <p:cNvSpPr/>
          <p:nvPr/>
        </p:nvSpPr>
        <p:spPr>
          <a:xfrm>
            <a:off x="5491429" y="4733493"/>
            <a:ext cx="605155" cy="170814"/>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9000"/>
              </a:lnSpc>
            </a:pPr>
            <a:r>
              <a:rPr sz="1200" b="1" i="1" kern="0" spc="-10" dirty="0">
                <a:solidFill>
                  <a:srgbClr val="000000">
                    <a:alpha val="100000"/>
                  </a:srgbClr>
                </a:solidFill>
                <a:latin typeface="Times New Roman" panose="02020603050405020304"/>
                <a:ea typeface="Times New Roman" panose="02020603050405020304"/>
                <a:cs typeface="Times New Roman" panose="02020603050405020304"/>
              </a:rPr>
              <a:t>w</a:t>
            </a: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[36, 39]</a:t>
            </a:r>
            <a:endParaRPr sz="1200" dirty="0">
              <a:latin typeface="Times New Roman" panose="02020603050405020304"/>
              <a:ea typeface="Times New Roman" panose="02020603050405020304"/>
              <a:cs typeface="Times New Roman" panose="02020603050405020304"/>
            </a:endParaRPr>
          </a:p>
        </p:txBody>
      </p:sp>
      <p:sp>
        <p:nvSpPr>
          <p:cNvPr id="320" name="textbox 320"/>
          <p:cNvSpPr/>
          <p:nvPr/>
        </p:nvSpPr>
        <p:spPr>
          <a:xfrm>
            <a:off x="2378049" y="5508294"/>
            <a:ext cx="480059" cy="199389"/>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第</a:t>
            </a: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10</a:t>
            </a: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轮</a:t>
            </a:r>
            <a:endParaRPr sz="1200" dirty="0">
              <a:latin typeface="宋体" panose="02010600030101010101" pitchFamily="2" charset="-122"/>
              <a:ea typeface="宋体" panose="02010600030101010101" pitchFamily="2" charset="-122"/>
              <a:cs typeface="宋体" panose="02010600030101010101" pitchFamily="2" charset="-122"/>
            </a:endParaRPr>
          </a:p>
        </p:txBody>
      </p:sp>
      <p:sp>
        <p:nvSpPr>
          <p:cNvPr id="322" name="textbox 322"/>
          <p:cNvSpPr/>
          <p:nvPr/>
        </p:nvSpPr>
        <p:spPr>
          <a:xfrm>
            <a:off x="8565108" y="1011580"/>
            <a:ext cx="480059" cy="199389"/>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第</a:t>
            </a: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10</a:t>
            </a: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轮</a:t>
            </a:r>
            <a:endParaRPr sz="1200" dirty="0">
              <a:latin typeface="宋体" panose="02010600030101010101" pitchFamily="2" charset="-122"/>
              <a:ea typeface="宋体" panose="02010600030101010101" pitchFamily="2" charset="-122"/>
              <a:cs typeface="宋体" panose="02010600030101010101" pitchFamily="2" charset="-122"/>
            </a:endParaRPr>
          </a:p>
        </p:txBody>
      </p:sp>
      <p:sp>
        <p:nvSpPr>
          <p:cNvPr id="324" name="textbox 324"/>
          <p:cNvSpPr/>
          <p:nvPr/>
        </p:nvSpPr>
        <p:spPr>
          <a:xfrm>
            <a:off x="5567629" y="2243912"/>
            <a:ext cx="452755" cy="170814"/>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9000"/>
              </a:lnSpc>
            </a:pPr>
            <a:r>
              <a:rPr sz="1200" b="1" i="1" kern="0" spc="-20" dirty="0">
                <a:solidFill>
                  <a:srgbClr val="000000">
                    <a:alpha val="100000"/>
                  </a:srgbClr>
                </a:solidFill>
                <a:latin typeface="Times New Roman" panose="02020603050405020304"/>
                <a:ea typeface="Times New Roman" panose="02020603050405020304"/>
                <a:cs typeface="Times New Roman" panose="02020603050405020304"/>
              </a:rPr>
              <a:t>w</a:t>
            </a: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a:t>
            </a:r>
            <a:r>
              <a:rPr sz="1200" b="1" kern="0" spc="80" dirty="0">
                <a:solidFill>
                  <a:srgbClr val="000000">
                    <a:alpha val="100000"/>
                  </a:srgbClr>
                </a:solidFill>
                <a:latin typeface="Times New Roman" panose="02020603050405020304"/>
                <a:ea typeface="Times New Roman" panose="02020603050405020304"/>
                <a:cs typeface="Times New Roman" panose="02020603050405020304"/>
              </a:rPr>
              <a:t> </a:t>
            </a: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a:t>
            </a:r>
            <a:endParaRPr sz="1200" dirty="0">
              <a:latin typeface="Times New Roman" panose="02020603050405020304"/>
              <a:ea typeface="Times New Roman" panose="02020603050405020304"/>
              <a:cs typeface="Times New Roman" panose="02020603050405020304"/>
            </a:endParaRPr>
          </a:p>
        </p:txBody>
      </p:sp>
      <p:sp>
        <p:nvSpPr>
          <p:cNvPr id="326" name="textbox 326"/>
          <p:cNvSpPr/>
          <p:nvPr/>
        </p:nvSpPr>
        <p:spPr>
          <a:xfrm>
            <a:off x="2417673" y="1573682"/>
            <a:ext cx="403859" cy="199389"/>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第</a:t>
            </a: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1</a:t>
            </a: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轮</a:t>
            </a:r>
            <a:endParaRPr sz="1200" dirty="0">
              <a:latin typeface="宋体" panose="02010600030101010101" pitchFamily="2" charset="-122"/>
              <a:ea typeface="宋体" panose="02010600030101010101" pitchFamily="2" charset="-122"/>
              <a:cs typeface="宋体" panose="02010600030101010101" pitchFamily="2" charset="-122"/>
            </a:endParaRPr>
          </a:p>
        </p:txBody>
      </p:sp>
      <p:sp>
        <p:nvSpPr>
          <p:cNvPr id="328" name="textbox 328"/>
          <p:cNvSpPr/>
          <p:nvPr/>
        </p:nvSpPr>
        <p:spPr>
          <a:xfrm>
            <a:off x="2417673" y="4063263"/>
            <a:ext cx="403859" cy="199389"/>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第</a:t>
            </a: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a:t>
            </a: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轮</a:t>
            </a:r>
            <a:endParaRPr sz="1200" dirty="0">
              <a:latin typeface="宋体" panose="02010600030101010101" pitchFamily="2" charset="-122"/>
              <a:ea typeface="宋体" panose="02010600030101010101" pitchFamily="2" charset="-122"/>
              <a:cs typeface="宋体" panose="02010600030101010101" pitchFamily="2" charset="-122"/>
            </a:endParaRPr>
          </a:p>
        </p:txBody>
      </p:sp>
      <p:sp>
        <p:nvSpPr>
          <p:cNvPr id="330" name="textbox 330"/>
          <p:cNvSpPr/>
          <p:nvPr/>
        </p:nvSpPr>
        <p:spPr>
          <a:xfrm>
            <a:off x="8604732" y="2376195"/>
            <a:ext cx="403859" cy="199389"/>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第</a:t>
            </a: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a:t>
            </a: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轮</a:t>
            </a:r>
            <a:endParaRPr sz="1200" dirty="0">
              <a:latin typeface="宋体" panose="02010600030101010101" pitchFamily="2" charset="-122"/>
              <a:ea typeface="宋体" panose="02010600030101010101" pitchFamily="2" charset="-122"/>
              <a:cs typeface="宋体" panose="02010600030101010101" pitchFamily="2" charset="-122"/>
            </a:endParaRPr>
          </a:p>
        </p:txBody>
      </p:sp>
      <p:sp>
        <p:nvSpPr>
          <p:cNvPr id="332" name="textbox 332"/>
          <p:cNvSpPr/>
          <p:nvPr/>
        </p:nvSpPr>
        <p:spPr>
          <a:xfrm>
            <a:off x="8604732" y="4946294"/>
            <a:ext cx="403859" cy="199389"/>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第</a:t>
            </a: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1</a:t>
            </a:r>
            <a:r>
              <a:rPr sz="1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轮</a:t>
            </a:r>
            <a:endParaRPr sz="1200" dirty="0">
              <a:latin typeface="宋体" panose="02010600030101010101" pitchFamily="2" charset="-122"/>
              <a:ea typeface="宋体" panose="02010600030101010101" pitchFamily="2" charset="-122"/>
              <a:cs typeface="宋体" panose="02010600030101010101" pitchFamily="2" charset="-122"/>
            </a:endParaRPr>
          </a:p>
        </p:txBody>
      </p:sp>
      <p:sp>
        <p:nvSpPr>
          <p:cNvPr id="334" name="textbox 334"/>
          <p:cNvSpPr/>
          <p:nvPr/>
        </p:nvSpPr>
        <p:spPr>
          <a:xfrm>
            <a:off x="3691077" y="211226"/>
            <a:ext cx="313690" cy="199389"/>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1200" b="1"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明文</a:t>
            </a:r>
            <a:endParaRPr sz="1200" dirty="0">
              <a:latin typeface="宋体" panose="02010600030101010101" pitchFamily="2" charset="-122"/>
              <a:ea typeface="宋体" panose="02010600030101010101" pitchFamily="2" charset="-122"/>
              <a:cs typeface="宋体" panose="02010600030101010101" pitchFamily="2" charset="-122"/>
            </a:endParaRPr>
          </a:p>
        </p:txBody>
      </p:sp>
      <p:sp>
        <p:nvSpPr>
          <p:cNvPr id="336" name="textbox 336"/>
          <p:cNvSpPr/>
          <p:nvPr/>
        </p:nvSpPr>
        <p:spPr>
          <a:xfrm>
            <a:off x="7435799" y="211226"/>
            <a:ext cx="313054" cy="199389"/>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1200" b="1"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明文</a:t>
            </a:r>
            <a:endParaRPr sz="1200" dirty="0">
              <a:latin typeface="宋体" panose="02010600030101010101" pitchFamily="2" charset="-122"/>
              <a:ea typeface="宋体" panose="02010600030101010101" pitchFamily="2" charset="-122"/>
              <a:cs typeface="宋体" panose="02010600030101010101" pitchFamily="2" charset="-122"/>
            </a:endParaRPr>
          </a:p>
        </p:txBody>
      </p:sp>
      <p:pic>
        <p:nvPicPr>
          <p:cNvPr id="338" name="picture 338"/>
          <p:cNvPicPr>
            <a:picLocks noChangeAspect="1"/>
          </p:cNvPicPr>
          <p:nvPr/>
        </p:nvPicPr>
        <p:blipFill>
          <a:blip r:embed="rId11"/>
          <a:stretch>
            <a:fillRect/>
          </a:stretch>
        </p:blipFill>
        <p:spPr>
          <a:xfrm rot="21600000">
            <a:off x="7544816" y="318515"/>
            <a:ext cx="76200" cy="240919"/>
          </a:xfrm>
          <a:prstGeom prst="rect">
            <a:avLst/>
          </a:prstGeom>
        </p:spPr>
      </p:pic>
      <p:pic>
        <p:nvPicPr>
          <p:cNvPr id="340" name="picture 340"/>
          <p:cNvPicPr>
            <a:picLocks noChangeAspect="1"/>
          </p:cNvPicPr>
          <p:nvPr/>
        </p:nvPicPr>
        <p:blipFill>
          <a:blip r:embed="rId12"/>
          <a:stretch>
            <a:fillRect/>
          </a:stretch>
        </p:blipFill>
        <p:spPr>
          <a:xfrm rot="21600000">
            <a:off x="3800855" y="318515"/>
            <a:ext cx="76200" cy="240792"/>
          </a:xfrm>
          <a:prstGeom prst="rect">
            <a:avLst/>
          </a:prstGeom>
        </p:spPr>
      </p:pic>
      <p:pic>
        <p:nvPicPr>
          <p:cNvPr id="342" name="picture 342"/>
          <p:cNvPicPr>
            <a:picLocks noChangeAspect="1"/>
          </p:cNvPicPr>
          <p:nvPr/>
        </p:nvPicPr>
        <p:blipFill>
          <a:blip r:embed="rId13"/>
          <a:stretch>
            <a:fillRect/>
          </a:stretch>
        </p:blipFill>
        <p:spPr>
          <a:xfrm rot="21600000">
            <a:off x="7545196" y="2805684"/>
            <a:ext cx="76200" cy="161671"/>
          </a:xfrm>
          <a:prstGeom prst="rect">
            <a:avLst/>
          </a:prstGeom>
        </p:spPr>
      </p:pic>
      <p:pic>
        <p:nvPicPr>
          <p:cNvPr id="344" name="picture 344"/>
          <p:cNvPicPr>
            <a:picLocks noChangeAspect="1"/>
          </p:cNvPicPr>
          <p:nvPr/>
        </p:nvPicPr>
        <p:blipFill>
          <a:blip r:embed="rId14"/>
          <a:stretch>
            <a:fillRect/>
          </a:stretch>
        </p:blipFill>
        <p:spPr>
          <a:xfrm rot="21600000">
            <a:off x="7545196" y="2004059"/>
            <a:ext cx="76200" cy="161671"/>
          </a:xfrm>
          <a:prstGeom prst="rect">
            <a:avLst/>
          </a:prstGeom>
        </p:spPr>
      </p:pic>
      <p:pic>
        <p:nvPicPr>
          <p:cNvPr id="346" name="picture 346"/>
          <p:cNvPicPr>
            <a:picLocks noChangeAspect="1"/>
          </p:cNvPicPr>
          <p:nvPr/>
        </p:nvPicPr>
        <p:blipFill>
          <a:blip r:embed="rId15"/>
          <a:stretch>
            <a:fillRect/>
          </a:stretch>
        </p:blipFill>
        <p:spPr>
          <a:xfrm rot="21600000">
            <a:off x="5756275" y="4491101"/>
            <a:ext cx="76200" cy="161671"/>
          </a:xfrm>
          <a:prstGeom prst="rect">
            <a:avLst/>
          </a:prstGeom>
        </p:spPr>
      </p:pic>
      <p:pic>
        <p:nvPicPr>
          <p:cNvPr id="348" name="picture 348"/>
          <p:cNvPicPr>
            <a:picLocks noChangeAspect="1"/>
          </p:cNvPicPr>
          <p:nvPr/>
        </p:nvPicPr>
        <p:blipFill>
          <a:blip r:embed="rId16"/>
          <a:stretch>
            <a:fillRect/>
          </a:stretch>
        </p:blipFill>
        <p:spPr>
          <a:xfrm rot="21600000">
            <a:off x="3802507" y="5695060"/>
            <a:ext cx="76200" cy="161670"/>
          </a:xfrm>
          <a:prstGeom prst="rect">
            <a:avLst/>
          </a:prstGeom>
        </p:spPr>
      </p:pic>
      <p:pic>
        <p:nvPicPr>
          <p:cNvPr id="350" name="picture 350"/>
          <p:cNvPicPr>
            <a:picLocks noChangeAspect="1"/>
          </p:cNvPicPr>
          <p:nvPr/>
        </p:nvPicPr>
        <p:blipFill>
          <a:blip r:embed="rId17"/>
          <a:stretch>
            <a:fillRect/>
          </a:stretch>
        </p:blipFill>
        <p:spPr>
          <a:xfrm rot="21600000">
            <a:off x="7545196" y="4491228"/>
            <a:ext cx="76200" cy="161670"/>
          </a:xfrm>
          <a:prstGeom prst="rect">
            <a:avLst/>
          </a:prstGeom>
        </p:spPr>
      </p:pic>
      <p:pic>
        <p:nvPicPr>
          <p:cNvPr id="352" name="picture 352"/>
          <p:cNvPicPr>
            <a:picLocks noChangeAspect="1"/>
          </p:cNvPicPr>
          <p:nvPr/>
        </p:nvPicPr>
        <p:blipFill>
          <a:blip r:embed="rId18"/>
          <a:stretch>
            <a:fillRect/>
          </a:stretch>
        </p:blipFill>
        <p:spPr>
          <a:xfrm rot="21600000">
            <a:off x="7545196" y="800100"/>
            <a:ext cx="76200" cy="161670"/>
          </a:xfrm>
          <a:prstGeom prst="rect">
            <a:avLst/>
          </a:prstGeom>
        </p:spPr>
      </p:pic>
      <p:pic>
        <p:nvPicPr>
          <p:cNvPr id="354" name="picture 354"/>
          <p:cNvPicPr>
            <a:picLocks noChangeAspect="1"/>
          </p:cNvPicPr>
          <p:nvPr/>
        </p:nvPicPr>
        <p:blipFill>
          <a:blip r:embed="rId19"/>
          <a:stretch>
            <a:fillRect/>
          </a:stretch>
        </p:blipFill>
        <p:spPr>
          <a:xfrm rot="21600000">
            <a:off x="7545196" y="1601724"/>
            <a:ext cx="76200" cy="161670"/>
          </a:xfrm>
          <a:prstGeom prst="rect">
            <a:avLst/>
          </a:prstGeom>
        </p:spPr>
      </p:pic>
      <p:pic>
        <p:nvPicPr>
          <p:cNvPr id="356" name="picture 356"/>
          <p:cNvPicPr>
            <a:picLocks noChangeAspect="1"/>
          </p:cNvPicPr>
          <p:nvPr/>
        </p:nvPicPr>
        <p:blipFill>
          <a:blip r:embed="rId20"/>
          <a:stretch>
            <a:fillRect/>
          </a:stretch>
        </p:blipFill>
        <p:spPr>
          <a:xfrm rot="21600000">
            <a:off x="7545196" y="5695188"/>
            <a:ext cx="76200" cy="161658"/>
          </a:xfrm>
          <a:prstGeom prst="rect">
            <a:avLst/>
          </a:prstGeom>
        </p:spPr>
      </p:pic>
      <p:pic>
        <p:nvPicPr>
          <p:cNvPr id="358" name="picture 358"/>
          <p:cNvPicPr>
            <a:picLocks noChangeAspect="1"/>
          </p:cNvPicPr>
          <p:nvPr/>
        </p:nvPicPr>
        <p:blipFill>
          <a:blip r:embed="rId21"/>
          <a:stretch>
            <a:fillRect/>
          </a:stretch>
        </p:blipFill>
        <p:spPr>
          <a:xfrm rot="21600000">
            <a:off x="3800855" y="2004059"/>
            <a:ext cx="76200" cy="161544"/>
          </a:xfrm>
          <a:prstGeom prst="rect">
            <a:avLst/>
          </a:prstGeom>
        </p:spPr>
      </p:pic>
      <p:pic>
        <p:nvPicPr>
          <p:cNvPr id="360" name="picture 360"/>
          <p:cNvPicPr>
            <a:picLocks noChangeAspect="1"/>
          </p:cNvPicPr>
          <p:nvPr/>
        </p:nvPicPr>
        <p:blipFill>
          <a:blip r:embed="rId22"/>
          <a:stretch>
            <a:fillRect/>
          </a:stretch>
        </p:blipFill>
        <p:spPr>
          <a:xfrm rot="21600000">
            <a:off x="5754623" y="2004059"/>
            <a:ext cx="76200" cy="161544"/>
          </a:xfrm>
          <a:prstGeom prst="rect">
            <a:avLst/>
          </a:prstGeom>
        </p:spPr>
      </p:pic>
      <p:pic>
        <p:nvPicPr>
          <p:cNvPr id="362" name="picture 362"/>
          <p:cNvPicPr>
            <a:picLocks noChangeAspect="1"/>
          </p:cNvPicPr>
          <p:nvPr/>
        </p:nvPicPr>
        <p:blipFill>
          <a:blip r:embed="rId23"/>
          <a:stretch>
            <a:fillRect/>
          </a:stretch>
        </p:blipFill>
        <p:spPr>
          <a:xfrm rot="21600000">
            <a:off x="3800855" y="4491228"/>
            <a:ext cx="76200" cy="161544"/>
          </a:xfrm>
          <a:prstGeom prst="rect">
            <a:avLst/>
          </a:prstGeom>
        </p:spPr>
      </p:pic>
      <p:pic>
        <p:nvPicPr>
          <p:cNvPr id="364" name="picture 364"/>
          <p:cNvPicPr>
            <a:picLocks noChangeAspect="1"/>
          </p:cNvPicPr>
          <p:nvPr/>
        </p:nvPicPr>
        <p:blipFill>
          <a:blip r:embed="rId24"/>
          <a:stretch>
            <a:fillRect/>
          </a:stretch>
        </p:blipFill>
        <p:spPr>
          <a:xfrm rot="21600000">
            <a:off x="3800855" y="3689604"/>
            <a:ext cx="76200" cy="161544"/>
          </a:xfrm>
          <a:prstGeom prst="rect">
            <a:avLst/>
          </a:prstGeom>
        </p:spPr>
      </p:pic>
      <p:pic>
        <p:nvPicPr>
          <p:cNvPr id="366" name="picture 366"/>
          <p:cNvPicPr>
            <a:picLocks noChangeAspect="1"/>
          </p:cNvPicPr>
          <p:nvPr/>
        </p:nvPicPr>
        <p:blipFill>
          <a:blip r:embed="rId25"/>
          <a:stretch>
            <a:fillRect/>
          </a:stretch>
        </p:blipFill>
        <p:spPr>
          <a:xfrm rot="21600000">
            <a:off x="3800855" y="800100"/>
            <a:ext cx="76200" cy="161544"/>
          </a:xfrm>
          <a:prstGeom prst="rect">
            <a:avLst/>
          </a:prstGeom>
        </p:spPr>
      </p:pic>
      <p:pic>
        <p:nvPicPr>
          <p:cNvPr id="368" name="picture 368"/>
          <p:cNvPicPr>
            <a:picLocks noChangeAspect="1"/>
          </p:cNvPicPr>
          <p:nvPr/>
        </p:nvPicPr>
        <p:blipFill>
          <a:blip r:embed="rId26"/>
          <a:stretch>
            <a:fillRect/>
          </a:stretch>
        </p:blipFill>
        <p:spPr>
          <a:xfrm rot="21600000">
            <a:off x="3800855" y="1601724"/>
            <a:ext cx="76200" cy="161543"/>
          </a:xfrm>
          <a:prstGeom prst="rect">
            <a:avLst/>
          </a:prstGeom>
        </p:spPr>
      </p:pic>
      <p:pic>
        <p:nvPicPr>
          <p:cNvPr id="370" name="picture 370"/>
          <p:cNvPicPr>
            <a:picLocks noChangeAspect="1"/>
          </p:cNvPicPr>
          <p:nvPr/>
        </p:nvPicPr>
        <p:blipFill>
          <a:blip r:embed="rId27"/>
          <a:stretch>
            <a:fillRect/>
          </a:stretch>
        </p:blipFill>
        <p:spPr>
          <a:xfrm rot="21600000">
            <a:off x="3800855" y="4091940"/>
            <a:ext cx="76200" cy="158495"/>
          </a:xfrm>
          <a:prstGeom prst="rect">
            <a:avLst/>
          </a:prstGeom>
        </p:spPr>
      </p:pic>
      <p:pic>
        <p:nvPicPr>
          <p:cNvPr id="372" name="picture 372"/>
          <p:cNvPicPr>
            <a:picLocks noChangeAspect="1"/>
          </p:cNvPicPr>
          <p:nvPr/>
        </p:nvPicPr>
        <p:blipFill>
          <a:blip r:embed="rId28"/>
          <a:stretch>
            <a:fillRect/>
          </a:stretch>
        </p:blipFill>
        <p:spPr>
          <a:xfrm rot="21600000">
            <a:off x="3800855" y="1202436"/>
            <a:ext cx="76200" cy="158495"/>
          </a:xfrm>
          <a:prstGeom prst="rect">
            <a:avLst/>
          </a:prstGeom>
        </p:spPr>
      </p:pic>
      <p:pic>
        <p:nvPicPr>
          <p:cNvPr id="374" name="picture 374"/>
          <p:cNvPicPr>
            <a:picLocks noChangeAspect="1"/>
          </p:cNvPicPr>
          <p:nvPr/>
        </p:nvPicPr>
        <p:blipFill>
          <a:blip r:embed="rId29"/>
          <a:stretch>
            <a:fillRect/>
          </a:stretch>
        </p:blipFill>
        <p:spPr>
          <a:xfrm rot="21600000">
            <a:off x="3800855" y="2406396"/>
            <a:ext cx="76200" cy="158495"/>
          </a:xfrm>
          <a:prstGeom prst="rect">
            <a:avLst/>
          </a:prstGeom>
        </p:spPr>
      </p:pic>
      <p:pic>
        <p:nvPicPr>
          <p:cNvPr id="376" name="picture 376"/>
          <p:cNvPicPr>
            <a:picLocks noChangeAspect="1"/>
          </p:cNvPicPr>
          <p:nvPr/>
        </p:nvPicPr>
        <p:blipFill>
          <a:blip r:embed="rId30"/>
          <a:stretch>
            <a:fillRect/>
          </a:stretch>
        </p:blipFill>
        <p:spPr>
          <a:xfrm rot="21600000">
            <a:off x="5756275" y="5698108"/>
            <a:ext cx="76073" cy="158622"/>
          </a:xfrm>
          <a:prstGeom prst="rect">
            <a:avLst/>
          </a:prstGeom>
        </p:spPr>
      </p:pic>
      <p:pic>
        <p:nvPicPr>
          <p:cNvPr id="378" name="picture 378"/>
          <p:cNvPicPr>
            <a:picLocks noChangeAspect="1"/>
          </p:cNvPicPr>
          <p:nvPr/>
        </p:nvPicPr>
        <p:blipFill>
          <a:blip r:embed="rId31"/>
          <a:stretch>
            <a:fillRect/>
          </a:stretch>
        </p:blipFill>
        <p:spPr>
          <a:xfrm rot="21600000">
            <a:off x="7545323" y="4091940"/>
            <a:ext cx="76072" cy="158623"/>
          </a:xfrm>
          <a:prstGeom prst="rect">
            <a:avLst/>
          </a:prstGeom>
        </p:spPr>
      </p:pic>
      <p:pic>
        <p:nvPicPr>
          <p:cNvPr id="380" name="picture 380"/>
          <p:cNvPicPr>
            <a:picLocks noChangeAspect="1"/>
          </p:cNvPicPr>
          <p:nvPr/>
        </p:nvPicPr>
        <p:blipFill>
          <a:blip r:embed="rId32"/>
          <a:stretch>
            <a:fillRect/>
          </a:stretch>
        </p:blipFill>
        <p:spPr>
          <a:xfrm rot="21600000">
            <a:off x="3802507" y="5295772"/>
            <a:ext cx="76072" cy="158623"/>
          </a:xfrm>
          <a:prstGeom prst="rect">
            <a:avLst/>
          </a:prstGeom>
        </p:spPr>
      </p:pic>
      <p:pic>
        <p:nvPicPr>
          <p:cNvPr id="382" name="picture 382"/>
          <p:cNvPicPr>
            <a:picLocks noChangeAspect="1"/>
          </p:cNvPicPr>
          <p:nvPr/>
        </p:nvPicPr>
        <p:blipFill>
          <a:blip r:embed="rId33"/>
          <a:stretch>
            <a:fillRect/>
          </a:stretch>
        </p:blipFill>
        <p:spPr>
          <a:xfrm rot="21600000">
            <a:off x="7545323" y="5295900"/>
            <a:ext cx="76072" cy="158622"/>
          </a:xfrm>
          <a:prstGeom prst="rect">
            <a:avLst/>
          </a:prstGeom>
        </p:spPr>
      </p:pic>
      <p:pic>
        <p:nvPicPr>
          <p:cNvPr id="384" name="picture 384"/>
          <p:cNvPicPr>
            <a:picLocks noChangeAspect="1"/>
          </p:cNvPicPr>
          <p:nvPr/>
        </p:nvPicPr>
        <p:blipFill>
          <a:blip r:embed="rId34"/>
          <a:stretch>
            <a:fillRect/>
          </a:stretch>
        </p:blipFill>
        <p:spPr>
          <a:xfrm rot="21600000">
            <a:off x="7545323" y="1202436"/>
            <a:ext cx="76072" cy="15862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extbox 128"/>
          <p:cNvSpPr/>
          <p:nvPr/>
        </p:nvSpPr>
        <p:spPr>
          <a:xfrm>
            <a:off x="1546195" y="491245"/>
            <a:ext cx="3087370"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0563C1">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0563C1">
                    <a:alpha val="100000"/>
                  </a:srgbClr>
                </a:solidFill>
                <a:latin typeface="仿宋" panose="02010609060101010101" charset="-122"/>
                <a:ea typeface="仿宋" panose="02010609060101010101" charset="-122"/>
                <a:cs typeface="仿宋" panose="02010609060101010101" charset="-122"/>
              </a:rPr>
              <a:t>算法设计思想</a:t>
            </a:r>
            <a:endParaRPr sz="3100" dirty="0">
              <a:latin typeface="仿宋" panose="02010609060101010101" charset="-122"/>
              <a:ea typeface="仿宋" panose="02010609060101010101" charset="-122"/>
              <a:cs typeface="仿宋" panose="02010609060101010101" charset="-122"/>
            </a:endParaRPr>
          </a:p>
        </p:txBody>
      </p:sp>
      <p:sp>
        <p:nvSpPr>
          <p:cNvPr id="132" name="path 132"/>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34" name="picture 134"/>
          <p:cNvPicPr>
            <a:picLocks noChangeAspect="1"/>
          </p:cNvPicPr>
          <p:nvPr/>
        </p:nvPicPr>
        <p:blipFill>
          <a:blip r:embed="rId1"/>
          <a:stretch>
            <a:fillRect/>
          </a:stretch>
        </p:blipFill>
        <p:spPr>
          <a:xfrm rot="21600000">
            <a:off x="822960" y="408431"/>
            <a:ext cx="420623" cy="655320"/>
          </a:xfrm>
          <a:prstGeom prst="rect">
            <a:avLst/>
          </a:prstGeom>
        </p:spPr>
      </p:pic>
      <p:sp>
        <p:nvSpPr>
          <p:cNvPr id="136" name="path 13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3" name="图片 2"/>
          <p:cNvPicPr>
            <a:picLocks noChangeAspect="1"/>
          </p:cNvPicPr>
          <p:nvPr/>
        </p:nvPicPr>
        <p:blipFill>
          <a:blip r:embed="rId2"/>
          <a:stretch>
            <a:fillRect/>
          </a:stretch>
        </p:blipFill>
        <p:spPr>
          <a:xfrm>
            <a:off x="2225040" y="1418590"/>
            <a:ext cx="7741920" cy="43738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extbox 124"/>
          <p:cNvSpPr/>
          <p:nvPr/>
        </p:nvSpPr>
        <p:spPr>
          <a:xfrm>
            <a:off x="1563474" y="3401304"/>
            <a:ext cx="10249534" cy="1468119"/>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247015" indent="-234315" algn="l" rtl="0" eaLnBrk="0">
              <a:lnSpc>
                <a:spcPct val="107000"/>
              </a:lnSpc>
            </a:pPr>
            <a:r>
              <a:rPr sz="28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lang="en-US" sz="28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AES</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没有</a:t>
            </a:r>
            <a:r>
              <a:rPr sz="2800" b="1" kern="0" spc="0" dirty="0">
                <a:solidFill>
                  <a:srgbClr val="FF0000">
                    <a:alpha val="100000"/>
                  </a:srgbClr>
                </a:solidFill>
                <a:latin typeface="仿宋" panose="02010609060101010101" charset="-122"/>
                <a:ea typeface="仿宋" panose="02010609060101010101" charset="-122"/>
                <a:cs typeface="仿宋" panose="02010609060101010101" charset="-122"/>
              </a:rPr>
              <a:t>采用Fei</a:t>
            </a:r>
            <a:r>
              <a:rPr sz="2800" b="1" kern="0" spc="-10" dirty="0">
                <a:solidFill>
                  <a:srgbClr val="FF0000">
                    <a:alpha val="100000"/>
                  </a:srgbClr>
                </a:solidFill>
                <a:latin typeface="仿宋" panose="02010609060101010101" charset="-122"/>
                <a:ea typeface="仿宋" panose="02010609060101010101" charset="-122"/>
                <a:cs typeface="仿宋" panose="02010609060101010101" charset="-122"/>
              </a:rPr>
              <a:t>stel结构</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，轮函数由3个不同的可逆均匀变</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换构成的，称为3个层</a:t>
            </a:r>
            <a:endParaRPr sz="2800" dirty="0">
              <a:latin typeface="仿宋" panose="02010609060101010101" charset="-122"/>
              <a:ea typeface="仿宋" panose="02010609060101010101" charset="-122"/>
              <a:cs typeface="仿宋" panose="02010609060101010101" charset="-122"/>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
              </a:lnSpc>
            </a:pPr>
            <a:endParaRPr sz="100" dirty="0">
              <a:latin typeface="Arial" panose="020B0604020202020204" pitchFamily="34" charset="0"/>
              <a:ea typeface="Arial" panose="020B0604020202020204" pitchFamily="34" charset="0"/>
              <a:cs typeface="Arial" panose="020B0604020202020204" pitchFamily="34" charset="0"/>
            </a:endParaRPr>
          </a:p>
          <a:p>
            <a:pPr marL="466725" algn="l" rtl="0" eaLnBrk="0">
              <a:lnSpc>
                <a:spcPct val="100000"/>
              </a:lnSpc>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均匀变换是指状态的每个bit都用类</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似的方法处理</a:t>
            </a:r>
            <a:endParaRPr sz="2400" dirty="0">
              <a:latin typeface="仿宋" panose="02010609060101010101" charset="-122"/>
              <a:ea typeface="仿宋" panose="02010609060101010101" charset="-122"/>
              <a:cs typeface="仿宋" panose="02010609060101010101" charset="-122"/>
            </a:endParaRPr>
          </a:p>
        </p:txBody>
      </p:sp>
      <p:sp>
        <p:nvSpPr>
          <p:cNvPr id="126" name="textbox 126"/>
          <p:cNvSpPr/>
          <p:nvPr/>
        </p:nvSpPr>
        <p:spPr>
          <a:xfrm>
            <a:off x="1563474" y="1483223"/>
            <a:ext cx="5236845" cy="173101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pPr>
            <a:r>
              <a:rPr sz="2800" kern="0" spc="-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70" dirty="0">
                <a:solidFill>
                  <a:srgbClr val="000000">
                    <a:alpha val="100000"/>
                  </a:srgbClr>
                </a:solidFill>
                <a:latin typeface="仿宋" panose="02010609060101010101" charset="-122"/>
                <a:ea typeface="仿宋" panose="02010609060101010101" charset="-122"/>
                <a:cs typeface="仿宋" panose="02010609060101010101" charset="-122"/>
              </a:rPr>
              <a:t>设计简单</a:t>
            </a:r>
            <a:endParaRPr sz="2800" dirty="0">
              <a:latin typeface="仿宋" panose="02010609060101010101" charset="-122"/>
              <a:ea typeface="仿宋" panose="02010609060101010101" charset="-122"/>
              <a:cs typeface="仿宋" panose="02010609060101010101" charset="-122"/>
            </a:endParaRPr>
          </a:p>
          <a:p>
            <a:pPr marL="12700" algn="l" rtl="0" eaLnBrk="0">
              <a:lnSpc>
                <a:spcPct val="99000"/>
              </a:lnSpc>
              <a:spcBef>
                <a:spcPts val="1695"/>
              </a:spcBef>
            </a:pPr>
            <a:r>
              <a:rPr sz="28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在多个平台上速度</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快，编码紧凑</a:t>
            </a:r>
            <a:endParaRPr sz="2800" dirty="0">
              <a:latin typeface="仿宋" panose="02010609060101010101" charset="-122"/>
              <a:ea typeface="仿宋" panose="02010609060101010101" charset="-122"/>
              <a:cs typeface="仿宋" panose="02010609060101010101" charset="-122"/>
            </a:endParaRPr>
          </a:p>
          <a:p>
            <a:pPr algn="l" rtl="0" eaLnBrk="0">
              <a:lnSpc>
                <a:spcPct val="101000"/>
              </a:lnSpc>
            </a:pPr>
            <a:endParaRPr sz="14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spcBef>
                <a:spcPts val="5"/>
              </a:spcBef>
            </a:pPr>
            <a:r>
              <a:rPr sz="2800" kern="0" spc="-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抵抗所有已知的攻击</a:t>
            </a:r>
            <a:endParaRPr sz="2800" dirty="0">
              <a:latin typeface="仿宋" panose="02010609060101010101" charset="-122"/>
              <a:ea typeface="仿宋" panose="02010609060101010101" charset="-122"/>
              <a:cs typeface="仿宋" panose="02010609060101010101" charset="-122"/>
            </a:endParaRPr>
          </a:p>
        </p:txBody>
      </p:sp>
      <p:sp>
        <p:nvSpPr>
          <p:cNvPr id="128" name="textbox 128"/>
          <p:cNvSpPr/>
          <p:nvPr/>
        </p:nvSpPr>
        <p:spPr>
          <a:xfrm>
            <a:off x="1546195" y="491245"/>
            <a:ext cx="3087370"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0563C1">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0563C1">
                    <a:alpha val="100000"/>
                  </a:srgbClr>
                </a:solidFill>
                <a:latin typeface="仿宋" panose="02010609060101010101" charset="-122"/>
                <a:ea typeface="仿宋" panose="02010609060101010101" charset="-122"/>
                <a:cs typeface="仿宋" panose="02010609060101010101" charset="-122"/>
              </a:rPr>
              <a:t>算法设计思想</a:t>
            </a:r>
            <a:endParaRPr sz="3100" dirty="0">
              <a:latin typeface="仿宋" panose="02010609060101010101" charset="-122"/>
              <a:ea typeface="仿宋" panose="02010609060101010101" charset="-122"/>
              <a:cs typeface="仿宋" panose="02010609060101010101" charset="-122"/>
            </a:endParaRPr>
          </a:p>
        </p:txBody>
      </p:sp>
      <p:sp>
        <p:nvSpPr>
          <p:cNvPr id="132" name="path 132"/>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34" name="picture 134"/>
          <p:cNvPicPr>
            <a:picLocks noChangeAspect="1"/>
          </p:cNvPicPr>
          <p:nvPr/>
        </p:nvPicPr>
        <p:blipFill>
          <a:blip r:embed="rId1"/>
          <a:stretch>
            <a:fillRect/>
          </a:stretch>
        </p:blipFill>
        <p:spPr>
          <a:xfrm rot="21600000">
            <a:off x="822960" y="408431"/>
            <a:ext cx="420623" cy="655320"/>
          </a:xfrm>
          <a:prstGeom prst="rect">
            <a:avLst/>
          </a:prstGeom>
        </p:spPr>
      </p:pic>
      <p:sp>
        <p:nvSpPr>
          <p:cNvPr id="136" name="path 13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extbox 138"/>
          <p:cNvSpPr/>
          <p:nvPr/>
        </p:nvSpPr>
        <p:spPr>
          <a:xfrm>
            <a:off x="1164745" y="1483223"/>
            <a:ext cx="8314690" cy="3236595"/>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9000"/>
              </a:lnSpc>
            </a:pPr>
            <a:r>
              <a:rPr sz="2800" kern="0" spc="-8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3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80" dirty="0">
                <a:solidFill>
                  <a:srgbClr val="000000">
                    <a:alpha val="100000"/>
                  </a:srgbClr>
                </a:solidFill>
                <a:latin typeface="仿宋" panose="02010609060101010101" charset="-122"/>
                <a:ea typeface="仿宋" panose="02010609060101010101" charset="-122"/>
                <a:cs typeface="仿宋" panose="02010609060101010101" charset="-122"/>
              </a:rPr>
              <a:t>线性混合层</a:t>
            </a:r>
            <a:endParaRPr sz="2800" dirty="0">
              <a:latin typeface="仿宋" panose="02010609060101010101" charset="-122"/>
              <a:ea typeface="仿宋" panose="02010609060101010101" charset="-122"/>
              <a:cs typeface="仿宋" panose="02010609060101010101" charset="-122"/>
            </a:endParaRPr>
          </a:p>
          <a:p>
            <a:pPr marL="466725" algn="l" rtl="0" eaLnBrk="0">
              <a:lnSpc>
                <a:spcPct val="99000"/>
              </a:lnSpc>
              <a:spcBef>
                <a:spcPts val="1115"/>
              </a:spcBef>
            </a:pPr>
            <a:r>
              <a:rPr sz="2400"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确保多轮之上的高度扩散；</a:t>
            </a:r>
            <a:endParaRPr sz="2400" dirty="0">
              <a:latin typeface="仿宋" panose="02010609060101010101" charset="-122"/>
              <a:ea typeface="仿宋" panose="02010609060101010101" charset="-122"/>
              <a:cs typeface="仿宋" panose="02010609060101010101" charset="-122"/>
            </a:endParaRPr>
          </a:p>
          <a:p>
            <a:pPr marL="12700" algn="l" rtl="0" eaLnBrk="0">
              <a:lnSpc>
                <a:spcPct val="99000"/>
              </a:lnSpc>
              <a:spcBef>
                <a:spcPts val="1715"/>
              </a:spcBef>
            </a:pPr>
            <a:r>
              <a:rPr sz="2800" kern="0" spc="-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3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90" dirty="0">
                <a:solidFill>
                  <a:srgbClr val="000000">
                    <a:alpha val="100000"/>
                  </a:srgbClr>
                </a:solidFill>
                <a:latin typeface="仿宋" panose="02010609060101010101" charset="-122"/>
                <a:ea typeface="仿宋" panose="02010609060101010101" charset="-122"/>
                <a:cs typeface="仿宋" panose="02010609060101010101" charset="-122"/>
              </a:rPr>
              <a:t>非线性层</a:t>
            </a:r>
            <a:endParaRPr sz="2800" dirty="0">
              <a:latin typeface="仿宋" panose="02010609060101010101" charset="-122"/>
              <a:ea typeface="仿宋" panose="02010609060101010101" charset="-122"/>
              <a:cs typeface="仿宋" panose="02010609060101010101" charset="-122"/>
            </a:endParaRPr>
          </a:p>
          <a:p>
            <a:pPr marL="466725" algn="l" rtl="0" eaLnBrk="0">
              <a:lnSpc>
                <a:spcPct val="99000"/>
              </a:lnSpc>
              <a:spcBef>
                <a:spcPts val="1100"/>
              </a:spcBef>
            </a:pPr>
            <a:r>
              <a:rPr sz="24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将具有最优的“最坏</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情况非线性特性</a:t>
            </a:r>
            <a:r>
              <a:rPr sz="2400" kern="0" spc="-84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”的S盒并行使用；</a:t>
            </a:r>
            <a:endParaRPr sz="2400" dirty="0">
              <a:latin typeface="仿宋" panose="02010609060101010101" charset="-122"/>
              <a:ea typeface="仿宋" panose="02010609060101010101" charset="-122"/>
              <a:cs typeface="仿宋" panose="02010609060101010101" charset="-122"/>
            </a:endParaRPr>
          </a:p>
          <a:p>
            <a:pPr marL="12700" algn="l" rtl="0" eaLnBrk="0">
              <a:lnSpc>
                <a:spcPts val="3380"/>
              </a:lnSpc>
              <a:spcBef>
                <a:spcPts val="1695"/>
              </a:spcBef>
            </a:pPr>
            <a:r>
              <a:rPr sz="2800" kern="0" spc="-1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3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00" dirty="0">
                <a:solidFill>
                  <a:srgbClr val="000000">
                    <a:alpha val="100000"/>
                  </a:srgbClr>
                </a:solidFill>
                <a:latin typeface="仿宋" panose="02010609060101010101" charset="-122"/>
                <a:ea typeface="仿宋" panose="02010609060101010101" charset="-122"/>
                <a:cs typeface="仿宋" panose="02010609060101010101" charset="-122"/>
              </a:rPr>
              <a:t>密钥加层</a:t>
            </a:r>
            <a:endParaRPr sz="2800" dirty="0">
              <a:latin typeface="仿宋" panose="02010609060101010101" charset="-122"/>
              <a:ea typeface="仿宋" panose="02010609060101010101" charset="-122"/>
              <a:cs typeface="仿宋" panose="02010609060101010101" charset="-122"/>
            </a:endParaRPr>
          </a:p>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r" rtl="0" eaLnBrk="0">
              <a:lnSpc>
                <a:spcPct val="99000"/>
              </a:lnSpc>
              <a:spcBef>
                <a:spcPts val="5"/>
              </a:spcBef>
            </a:pPr>
            <a:r>
              <a:rPr sz="2400" kern="0" spc="-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70" dirty="0">
                <a:solidFill>
                  <a:srgbClr val="000000">
                    <a:alpha val="100000"/>
                  </a:srgbClr>
                </a:solidFill>
                <a:latin typeface="仿宋" panose="02010609060101010101" charset="-122"/>
                <a:ea typeface="仿宋" panose="02010609060101010101" charset="-122"/>
                <a:cs typeface="仿宋" panose="02010609060101010101" charset="-122"/>
              </a:rPr>
              <a:t>单轮子密钥简单的异或到中间状态上，实现一次性掩</a:t>
            </a:r>
            <a:r>
              <a:rPr sz="2400" b="1" kern="0" spc="-80" dirty="0">
                <a:solidFill>
                  <a:srgbClr val="000000">
                    <a:alpha val="100000"/>
                  </a:srgbClr>
                </a:solidFill>
                <a:latin typeface="仿宋" panose="02010609060101010101" charset="-122"/>
                <a:ea typeface="仿宋" panose="02010609060101010101" charset="-122"/>
                <a:cs typeface="仿宋" panose="02010609060101010101" charset="-122"/>
              </a:rPr>
              <a:t>盖。</a:t>
            </a:r>
            <a:endParaRPr sz="2400" dirty="0">
              <a:latin typeface="仿宋" panose="02010609060101010101" charset="-122"/>
              <a:ea typeface="仿宋" panose="02010609060101010101" charset="-122"/>
              <a:cs typeface="仿宋" panose="02010609060101010101" charset="-122"/>
            </a:endParaRPr>
          </a:p>
        </p:txBody>
      </p:sp>
      <p:sp>
        <p:nvSpPr>
          <p:cNvPr id="140" name="textbox 140"/>
          <p:cNvSpPr/>
          <p:nvPr/>
        </p:nvSpPr>
        <p:spPr>
          <a:xfrm>
            <a:off x="1570113" y="491245"/>
            <a:ext cx="2243454" cy="476250"/>
          </a:xfrm>
          <a:prstGeom prst="rect">
            <a:avLst/>
          </a:prstGeom>
          <a:noFill/>
          <a:ln w="0" cap="flat">
            <a:noFill/>
            <a:prstDash val="solid"/>
            <a:miter lim="0"/>
          </a:ln>
        </p:spPr>
        <p:txBody>
          <a:bodyPr vert="horz" wrap="square" lIns="0" tIns="0" rIns="0" bIns="0"/>
          <a:lstStyle/>
          <a:p>
            <a:pPr algn="l" rtl="0" eaLnBrk="0">
              <a:lnSpc>
                <a:spcPct val="9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3100" b="1" kern="0" spc="50" dirty="0">
                <a:solidFill>
                  <a:srgbClr val="0563C1">
                    <a:alpha val="100000"/>
                  </a:srgbClr>
                </a:solidFill>
                <a:latin typeface="仿宋" panose="02010609060101010101" charset="-122"/>
                <a:ea typeface="仿宋" panose="02010609060101010101" charset="-122"/>
                <a:cs typeface="仿宋" panose="02010609060101010101" charset="-122"/>
              </a:rPr>
              <a:t>轮函数的3层</a:t>
            </a:r>
            <a:endParaRPr sz="3100" dirty="0">
              <a:latin typeface="仿宋" panose="02010609060101010101" charset="-122"/>
              <a:ea typeface="仿宋" panose="02010609060101010101" charset="-122"/>
              <a:cs typeface="仿宋" panose="02010609060101010101" charset="-122"/>
            </a:endParaRPr>
          </a:p>
        </p:txBody>
      </p:sp>
      <p:sp>
        <p:nvSpPr>
          <p:cNvPr id="144" name="path 144"/>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46" name="picture 146"/>
          <p:cNvPicPr>
            <a:picLocks noChangeAspect="1"/>
          </p:cNvPicPr>
          <p:nvPr/>
        </p:nvPicPr>
        <p:blipFill>
          <a:blip r:embed="rId1"/>
          <a:stretch>
            <a:fillRect/>
          </a:stretch>
        </p:blipFill>
        <p:spPr>
          <a:xfrm rot="21600000">
            <a:off x="822960" y="408431"/>
            <a:ext cx="420623" cy="655320"/>
          </a:xfrm>
          <a:prstGeom prst="rect">
            <a:avLst/>
          </a:prstGeom>
        </p:spPr>
      </p:pic>
      <p:sp>
        <p:nvSpPr>
          <p:cNvPr id="148" name="path 148"/>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textbox 126"/>
          <p:cNvSpPr/>
          <p:nvPr/>
        </p:nvSpPr>
        <p:spPr>
          <a:xfrm>
            <a:off x="1563474" y="1483223"/>
            <a:ext cx="5236845" cy="173101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pPr>
            <a:endParaRPr sz="2800" dirty="0">
              <a:latin typeface="仿宋" panose="02010609060101010101" charset="-122"/>
              <a:ea typeface="仿宋" panose="02010609060101010101" charset="-122"/>
              <a:cs typeface="仿宋" panose="02010609060101010101" charset="-122"/>
            </a:endParaRPr>
          </a:p>
        </p:txBody>
      </p:sp>
      <p:sp>
        <p:nvSpPr>
          <p:cNvPr id="128" name="textbox 128"/>
          <p:cNvSpPr/>
          <p:nvPr/>
        </p:nvSpPr>
        <p:spPr>
          <a:xfrm>
            <a:off x="1546195" y="491245"/>
            <a:ext cx="3087370"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0563C1">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0563C1">
                    <a:alpha val="100000"/>
                  </a:srgbClr>
                </a:solidFill>
                <a:latin typeface="仿宋" panose="02010609060101010101" charset="-122"/>
                <a:ea typeface="仿宋" panose="02010609060101010101" charset="-122"/>
                <a:cs typeface="仿宋" panose="02010609060101010101" charset="-122"/>
              </a:rPr>
              <a:t>算法设计思想</a:t>
            </a:r>
            <a:endParaRPr sz="3100" dirty="0">
              <a:latin typeface="仿宋" panose="02010609060101010101" charset="-122"/>
              <a:ea typeface="仿宋" panose="02010609060101010101" charset="-122"/>
              <a:cs typeface="仿宋" panose="02010609060101010101" charset="-122"/>
            </a:endParaRPr>
          </a:p>
        </p:txBody>
      </p:sp>
      <p:sp>
        <p:nvSpPr>
          <p:cNvPr id="132" name="path 132"/>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34" name="picture 134"/>
          <p:cNvPicPr>
            <a:picLocks noChangeAspect="1"/>
          </p:cNvPicPr>
          <p:nvPr/>
        </p:nvPicPr>
        <p:blipFill>
          <a:blip r:embed="rId1"/>
          <a:stretch>
            <a:fillRect/>
          </a:stretch>
        </p:blipFill>
        <p:spPr>
          <a:xfrm rot="21600000">
            <a:off x="822960" y="408431"/>
            <a:ext cx="420623" cy="655320"/>
          </a:xfrm>
          <a:prstGeom prst="rect">
            <a:avLst/>
          </a:prstGeom>
        </p:spPr>
      </p:pic>
      <p:sp>
        <p:nvSpPr>
          <p:cNvPr id="136" name="path 13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1467485" y="1344295"/>
            <a:ext cx="8031480" cy="44577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extbox 128"/>
          <p:cNvSpPr/>
          <p:nvPr/>
        </p:nvSpPr>
        <p:spPr>
          <a:xfrm>
            <a:off x="1546195" y="491245"/>
            <a:ext cx="3087370"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0563C1">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0563C1">
                    <a:alpha val="100000"/>
                  </a:srgbClr>
                </a:solidFill>
                <a:latin typeface="仿宋" panose="02010609060101010101" charset="-122"/>
                <a:ea typeface="仿宋" panose="02010609060101010101" charset="-122"/>
                <a:cs typeface="仿宋" panose="02010609060101010101" charset="-122"/>
              </a:rPr>
              <a:t>算法设计思想</a:t>
            </a:r>
            <a:endParaRPr sz="3100" dirty="0">
              <a:latin typeface="仿宋" panose="02010609060101010101" charset="-122"/>
              <a:ea typeface="仿宋" panose="02010609060101010101" charset="-122"/>
              <a:cs typeface="仿宋" panose="02010609060101010101" charset="-122"/>
            </a:endParaRPr>
          </a:p>
        </p:txBody>
      </p:sp>
      <p:sp>
        <p:nvSpPr>
          <p:cNvPr id="132" name="path 132"/>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34" name="picture 134"/>
          <p:cNvPicPr>
            <a:picLocks noChangeAspect="1"/>
          </p:cNvPicPr>
          <p:nvPr/>
        </p:nvPicPr>
        <p:blipFill>
          <a:blip r:embed="rId1"/>
          <a:stretch>
            <a:fillRect/>
          </a:stretch>
        </p:blipFill>
        <p:spPr>
          <a:xfrm rot="21600000">
            <a:off x="822960" y="408431"/>
            <a:ext cx="420623" cy="655320"/>
          </a:xfrm>
          <a:prstGeom prst="rect">
            <a:avLst/>
          </a:prstGeom>
        </p:spPr>
      </p:pic>
      <p:sp>
        <p:nvSpPr>
          <p:cNvPr id="136" name="path 13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3" name="图片 2"/>
          <p:cNvPicPr>
            <a:picLocks noChangeAspect="1"/>
          </p:cNvPicPr>
          <p:nvPr/>
        </p:nvPicPr>
        <p:blipFill>
          <a:blip r:embed="rId2"/>
          <a:stretch>
            <a:fillRect/>
          </a:stretch>
        </p:blipFill>
        <p:spPr>
          <a:xfrm>
            <a:off x="2225040" y="1418590"/>
            <a:ext cx="7741920" cy="437388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textbox 150"/>
          <p:cNvSpPr/>
          <p:nvPr/>
        </p:nvSpPr>
        <p:spPr>
          <a:xfrm>
            <a:off x="1045568" y="1483223"/>
            <a:ext cx="9878694" cy="383095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3380"/>
              </a:lnSpc>
            </a:pPr>
            <a:r>
              <a:rPr sz="2800" kern="0" spc="-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4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60" dirty="0">
                <a:solidFill>
                  <a:srgbClr val="000000">
                    <a:alpha val="100000"/>
                  </a:srgbClr>
                </a:solidFill>
                <a:latin typeface="仿宋" panose="02010609060101010101" charset="-122"/>
                <a:ea typeface="仿宋" panose="02010609060101010101" charset="-122"/>
                <a:cs typeface="仿宋" panose="02010609060101010101" charset="-122"/>
              </a:rPr>
              <a:t>明文分组可变，</a:t>
            </a:r>
            <a:r>
              <a:rPr sz="2800" b="1" kern="0" spc="-60" dirty="0">
                <a:solidFill>
                  <a:srgbClr val="000000">
                    <a:alpha val="100000"/>
                  </a:srgbClr>
                </a:solidFill>
                <a:latin typeface="Times New Roman" panose="02020603050405020304"/>
                <a:ea typeface="Times New Roman" panose="02020603050405020304"/>
                <a:cs typeface="Times New Roman" panose="02020603050405020304"/>
              </a:rPr>
              <a:t>128</a:t>
            </a:r>
            <a:r>
              <a:rPr sz="2800" b="1" kern="0" spc="-32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6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60" dirty="0">
                <a:solidFill>
                  <a:srgbClr val="000000">
                    <a:alpha val="100000"/>
                  </a:srgbClr>
                </a:solidFill>
                <a:latin typeface="Times New Roman" panose="02020603050405020304"/>
                <a:ea typeface="Times New Roman" panose="02020603050405020304"/>
                <a:cs typeface="Times New Roman" panose="02020603050405020304"/>
              </a:rPr>
              <a:t>192</a:t>
            </a:r>
            <a:r>
              <a:rPr sz="2800" b="1" kern="0" spc="-31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6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60" dirty="0">
                <a:solidFill>
                  <a:srgbClr val="000000">
                    <a:alpha val="100000"/>
                  </a:srgbClr>
                </a:solidFill>
                <a:latin typeface="Times New Roman" panose="02020603050405020304"/>
                <a:ea typeface="Times New Roman" panose="02020603050405020304"/>
                <a:cs typeface="Times New Roman" panose="02020603050405020304"/>
              </a:rPr>
              <a:t>256</a:t>
            </a:r>
            <a:r>
              <a:rPr sz="2800" b="1" kern="0" spc="-60" dirty="0">
                <a:solidFill>
                  <a:srgbClr val="000000">
                    <a:alpha val="100000"/>
                  </a:srgbClr>
                </a:solidFill>
                <a:latin typeface="仿宋" panose="02010609060101010101" charset="-122"/>
                <a:ea typeface="仿宋" panose="02010609060101010101" charset="-122"/>
                <a:cs typeface="仿宋" panose="02010609060101010101" charset="-122"/>
              </a:rPr>
              <a:t>比特</a:t>
            </a:r>
            <a:endParaRPr sz="2800" dirty="0">
              <a:latin typeface="仿宋" panose="02010609060101010101" charset="-122"/>
              <a:ea typeface="仿宋" panose="02010609060101010101" charset="-122"/>
              <a:cs typeface="仿宋" panose="02010609060101010101" charset="-122"/>
            </a:endParaRPr>
          </a:p>
          <a:p>
            <a:pPr marL="12700" algn="l" rtl="0" eaLnBrk="0">
              <a:lnSpc>
                <a:spcPct val="125000"/>
              </a:lnSpc>
              <a:spcBef>
                <a:spcPts val="1685"/>
              </a:spcBef>
            </a:pPr>
            <a:r>
              <a:rPr sz="2800" kern="0" spc="-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3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密钥长度可变，各自可独立指定为</a:t>
            </a:r>
            <a:r>
              <a:rPr sz="2800" b="1" kern="0" spc="-40" dirty="0">
                <a:solidFill>
                  <a:srgbClr val="000000">
                    <a:alpha val="100000"/>
                  </a:srgbClr>
                </a:solidFill>
                <a:latin typeface="Times New Roman" panose="02020603050405020304"/>
                <a:ea typeface="Times New Roman" panose="02020603050405020304"/>
                <a:cs typeface="Times New Roman" panose="02020603050405020304"/>
              </a:rPr>
              <a:t>128</a:t>
            </a:r>
            <a:r>
              <a:rPr sz="2800" b="1" kern="0" spc="-32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40" dirty="0">
                <a:solidFill>
                  <a:srgbClr val="000000">
                    <a:alpha val="100000"/>
                  </a:srgbClr>
                </a:solidFill>
                <a:latin typeface="Times New Roman" panose="02020603050405020304"/>
                <a:ea typeface="Times New Roman" panose="02020603050405020304"/>
                <a:cs typeface="Times New Roman" panose="02020603050405020304"/>
              </a:rPr>
              <a:t>192</a:t>
            </a:r>
            <a:r>
              <a:rPr sz="2800" b="1" kern="0" spc="-32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40" dirty="0">
                <a:solidFill>
                  <a:srgbClr val="000000">
                    <a:alpha val="100000"/>
                  </a:srgbClr>
                </a:solidFill>
                <a:latin typeface="Times New Roman" panose="02020603050405020304"/>
                <a:ea typeface="Times New Roman" panose="02020603050405020304"/>
                <a:cs typeface="Times New Roman" panose="02020603050405020304"/>
              </a:rPr>
              <a:t>25</a:t>
            </a:r>
            <a:r>
              <a:rPr sz="2800" b="1" kern="0" spc="-50" dirty="0">
                <a:solidFill>
                  <a:srgbClr val="000000">
                    <a:alpha val="100000"/>
                  </a:srgbClr>
                </a:solidFill>
                <a:latin typeface="Times New Roman" panose="02020603050405020304"/>
                <a:ea typeface="Times New Roman" panose="02020603050405020304"/>
                <a:cs typeface="Times New Roman" panose="02020603050405020304"/>
              </a:rPr>
              <a:t>6</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比特。</a:t>
            </a:r>
            <a:r>
              <a:rPr sz="28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lang="zh-CN" sz="2800" kern="0" spc="0" dirty="0">
                <a:solidFill>
                  <a:srgbClr val="000000">
                    <a:alpha val="100000"/>
                  </a:srgbClr>
                </a:solidFill>
                <a:latin typeface="仿宋" panose="02010609060101010101" charset="-122"/>
                <a:ea typeface="仿宋" panose="02010609060101010101" charset="-122"/>
                <a:cs typeface="仿宋" panose="02010609060101010101" charset="-122"/>
              </a:rPr>
              <a:t>根据密钥长度不同，算法被称为</a:t>
            </a:r>
            <a:r>
              <a:rPr lang="en-US" altLang="zh-CN" sz="2800" kern="0" spc="0" dirty="0">
                <a:solidFill>
                  <a:srgbClr val="000000">
                    <a:alpha val="100000"/>
                  </a:srgbClr>
                </a:solidFill>
                <a:latin typeface="仿宋" panose="02010609060101010101" charset="-122"/>
                <a:ea typeface="仿宋" panose="02010609060101010101" charset="-122"/>
                <a:cs typeface="仿宋" panose="02010609060101010101" charset="-122"/>
              </a:rPr>
              <a:t>:AES-128,AES-192,AES-256</a:t>
            </a:r>
            <a:endParaRPr lang="zh-CN" sz="2800" kern="0" spc="0" dirty="0">
              <a:solidFill>
                <a:srgbClr val="000000">
                  <a:alpha val="100000"/>
                </a:srgbClr>
              </a:solidFill>
              <a:latin typeface="仿宋" panose="02010609060101010101" charset="-122"/>
              <a:ea typeface="仿宋" panose="02010609060101010101" charset="-122"/>
              <a:cs typeface="仿宋" panose="02010609060101010101" charset="-122"/>
            </a:endParaRPr>
          </a:p>
          <a:p>
            <a:pPr marL="12700" algn="l" rtl="0" eaLnBrk="0">
              <a:lnSpc>
                <a:spcPct val="125000"/>
              </a:lnSpc>
              <a:spcBef>
                <a:spcPts val="1685"/>
              </a:spcBef>
            </a:pPr>
            <a:r>
              <a:rPr sz="2800" kern="0" spc="-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90" dirty="0">
                <a:solidFill>
                  <a:srgbClr val="000000">
                    <a:alpha val="100000"/>
                  </a:srgbClr>
                </a:solidFill>
                <a:latin typeface="仿宋" panose="02010609060101010101" charset="-122"/>
                <a:ea typeface="仿宋" panose="02010609060101010101" charset="-122"/>
                <a:cs typeface="仿宋" panose="02010609060101010101" charset="-122"/>
              </a:rPr>
              <a:t>状态</a:t>
            </a:r>
            <a:r>
              <a:rPr lang="en-US" sz="2800" b="1" kern="0" spc="-90" dirty="0">
                <a:solidFill>
                  <a:srgbClr val="000000">
                    <a:alpha val="100000"/>
                  </a:srgbClr>
                </a:solidFill>
                <a:latin typeface="仿宋" panose="02010609060101010101" charset="-122"/>
                <a:ea typeface="仿宋" panose="02010609060101010101" charset="-122"/>
                <a:cs typeface="仿宋" panose="02010609060101010101" charset="-122"/>
              </a:rPr>
              <a:t>(State)</a:t>
            </a:r>
            <a:endParaRPr sz="2800" dirty="0">
              <a:latin typeface="仿宋" panose="02010609060101010101" charset="-122"/>
              <a:ea typeface="仿宋" panose="02010609060101010101" charset="-122"/>
              <a:cs typeface="仿宋" panose="02010609060101010101" charset="-122"/>
            </a:endParaRPr>
          </a:p>
          <a:p>
            <a:pPr marL="717550" indent="-250190" algn="l" rtl="0" eaLnBrk="0">
              <a:lnSpc>
                <a:spcPct val="117000"/>
              </a:lnSpc>
              <a:spcBef>
                <a:spcPts val="1055"/>
              </a:spcBef>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算法中间的结果也需要分组，称之为</a:t>
            </a:r>
            <a:r>
              <a:rPr lang="en-US" sz="2400" b="1" kern="0" spc="-10" dirty="0">
                <a:solidFill>
                  <a:srgbClr val="000000">
                    <a:alpha val="100000"/>
                  </a:srgbClr>
                </a:solidFill>
                <a:latin typeface="仿宋" panose="02010609060101010101" charset="-122"/>
                <a:ea typeface="仿宋" panose="02010609060101010101" charset="-122"/>
                <a:cs typeface="仿宋" panose="02010609060101010101" charset="-122"/>
              </a:rPr>
              <a:t>state</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a:t>
            </a:r>
            <a:r>
              <a:rPr lang="en-US" sz="2400" b="1" kern="0" spc="-10" dirty="0">
                <a:solidFill>
                  <a:srgbClr val="000000">
                    <a:alpha val="100000"/>
                  </a:srgbClr>
                </a:solidFill>
                <a:latin typeface="仿宋" panose="02010609060101010101" charset="-122"/>
                <a:ea typeface="仿宋" panose="02010609060101010101" charset="-122"/>
                <a:cs typeface="仿宋" panose="02010609060101010101" charset="-122"/>
              </a:rPr>
              <a:t>state</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可以用以字</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节为元素</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的矩阵阵列表示，该阵</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列有</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4</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行，列数</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N</a:t>
            </a:r>
            <a:r>
              <a:rPr sz="2400" b="1" kern="0" spc="-20" baseline="-24000" dirty="0">
                <a:solidFill>
                  <a:srgbClr val="000000">
                    <a:alpha val="100000"/>
                  </a:srgbClr>
                </a:solidFill>
                <a:latin typeface="Times New Roman" panose="02020603050405020304"/>
                <a:ea typeface="Times New Roman" panose="02020603050405020304"/>
                <a:cs typeface="Times New Roman" panose="02020603050405020304"/>
              </a:rPr>
              <a:t>b</a:t>
            </a:r>
            <a:r>
              <a:rPr sz="1500" b="1"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为分组长度除</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32</a:t>
            </a:r>
            <a:endParaRPr sz="2400" dirty="0">
              <a:latin typeface="Times New Roman" panose="02020603050405020304"/>
              <a:ea typeface="Times New Roman" panose="02020603050405020304"/>
              <a:cs typeface="Times New Roman" panose="02020603050405020304"/>
            </a:endParaRPr>
          </a:p>
          <a:p>
            <a:pPr marL="12700" algn="l" rtl="0" eaLnBrk="0">
              <a:lnSpc>
                <a:spcPct val="100000"/>
              </a:lnSpc>
              <a:spcBef>
                <a:spcPts val="1255"/>
              </a:spcBef>
            </a:pPr>
            <a:r>
              <a:rPr sz="2800" kern="0" spc="-8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8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80" dirty="0">
                <a:solidFill>
                  <a:srgbClr val="000000">
                    <a:alpha val="100000"/>
                  </a:srgbClr>
                </a:solidFill>
                <a:latin typeface="仿宋" panose="02010609060101010101" charset="-122"/>
                <a:ea typeface="仿宋" panose="02010609060101010101" charset="-122"/>
                <a:cs typeface="仿宋" panose="02010609060101010101" charset="-122"/>
              </a:rPr>
              <a:t>种子密钥</a:t>
            </a:r>
            <a:endParaRPr sz="2800" dirty="0">
              <a:latin typeface="仿宋" panose="02010609060101010101" charset="-122"/>
              <a:ea typeface="仿宋" panose="02010609060101010101" charset="-122"/>
              <a:cs typeface="仿宋" panose="02010609060101010101" charset="-122"/>
            </a:endParaRPr>
          </a:p>
          <a:p>
            <a:pPr algn="l" rtl="0" eaLnBrk="0">
              <a:lnSpc>
                <a:spcPct val="102000"/>
              </a:lnSpc>
            </a:pPr>
            <a:endParaRPr sz="9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467360" algn="l" rtl="0" eaLnBrk="0">
              <a:lnSpc>
                <a:spcPts val="2985"/>
              </a:lnSpc>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以字节为元素的矩</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阵阵列描述，阵列为</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4</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行，列数</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N</a:t>
            </a:r>
            <a:r>
              <a:rPr sz="2400" b="1" kern="0" spc="-20" baseline="-22000" dirty="0">
                <a:solidFill>
                  <a:srgbClr val="000000">
                    <a:alpha val="100000"/>
                  </a:srgbClr>
                </a:solidFill>
                <a:latin typeface="Times New Roman" panose="02020603050405020304"/>
                <a:ea typeface="Times New Roman" panose="02020603050405020304"/>
                <a:cs typeface="Times New Roman" panose="02020603050405020304"/>
              </a:rPr>
              <a:t>k</a:t>
            </a:r>
            <a:r>
              <a:rPr sz="1500" b="1"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为密钥长度除</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32</a:t>
            </a:r>
            <a:endParaRPr sz="2400" dirty="0">
              <a:latin typeface="Times New Roman" panose="02020603050405020304"/>
              <a:ea typeface="Times New Roman" panose="02020603050405020304"/>
              <a:cs typeface="Times New Roman" panose="02020603050405020304"/>
            </a:endParaRPr>
          </a:p>
        </p:txBody>
      </p:sp>
      <p:sp>
        <p:nvSpPr>
          <p:cNvPr id="154" name="textbox 154"/>
          <p:cNvSpPr/>
          <p:nvPr/>
        </p:nvSpPr>
        <p:spPr>
          <a:xfrm>
            <a:off x="1571329" y="491245"/>
            <a:ext cx="1629410"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30" dirty="0">
                <a:solidFill>
                  <a:srgbClr val="0563C1">
                    <a:alpha val="100000"/>
                  </a:srgbClr>
                </a:solidFill>
                <a:latin typeface="仿宋" panose="02010609060101010101" charset="-122"/>
                <a:ea typeface="仿宋" panose="02010609060101010101" charset="-122"/>
                <a:cs typeface="仿宋" panose="02010609060101010101" charset="-122"/>
              </a:rPr>
              <a:t>算法说明</a:t>
            </a:r>
            <a:endParaRPr sz="3100" dirty="0">
              <a:latin typeface="仿宋" panose="02010609060101010101" charset="-122"/>
              <a:ea typeface="仿宋" panose="02010609060101010101" charset="-122"/>
              <a:cs typeface="仿宋" panose="02010609060101010101" charset="-122"/>
            </a:endParaRPr>
          </a:p>
        </p:txBody>
      </p:sp>
      <p:sp>
        <p:nvSpPr>
          <p:cNvPr id="156" name="path 15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58" name="picture 158"/>
          <p:cNvPicPr>
            <a:picLocks noChangeAspect="1"/>
          </p:cNvPicPr>
          <p:nvPr/>
        </p:nvPicPr>
        <p:blipFill>
          <a:blip r:embed="rId1"/>
          <a:stretch>
            <a:fillRect/>
          </a:stretch>
        </p:blipFill>
        <p:spPr>
          <a:xfrm rot="21600000">
            <a:off x="822960" y="408431"/>
            <a:ext cx="420623" cy="655320"/>
          </a:xfrm>
          <a:prstGeom prst="rect">
            <a:avLst/>
          </a:prstGeom>
        </p:spPr>
      </p:pic>
      <p:sp>
        <p:nvSpPr>
          <p:cNvPr id="160" name="path 16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textbox 162"/>
          <p:cNvSpPr/>
          <p:nvPr/>
        </p:nvSpPr>
        <p:spPr>
          <a:xfrm>
            <a:off x="921835" y="1576561"/>
            <a:ext cx="9477375" cy="2111375"/>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pPr>
            <a:r>
              <a:rPr sz="2800" kern="0" spc="-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60" dirty="0">
                <a:solidFill>
                  <a:srgbClr val="000000">
                    <a:alpha val="100000"/>
                  </a:srgbClr>
                </a:solidFill>
                <a:latin typeface="仿宋" panose="02010609060101010101" charset="-122"/>
                <a:ea typeface="仿宋" panose="02010609060101010101" charset="-122"/>
                <a:cs typeface="仿宋" panose="02010609060101010101" charset="-122"/>
              </a:rPr>
              <a:t>算法的输入、输出和种子密钥可看成字节组成的一维数组。</a:t>
            </a:r>
            <a:endParaRPr sz="2800" dirty="0">
              <a:latin typeface="仿宋" panose="02010609060101010101" charset="-122"/>
              <a:ea typeface="仿宋" panose="02010609060101010101" charset="-122"/>
              <a:cs typeface="仿宋" panose="02010609060101010101" charset="-122"/>
            </a:endParaRPr>
          </a:p>
          <a:p>
            <a:pPr marL="12700" algn="l" rtl="0" eaLnBrk="0">
              <a:lnSpc>
                <a:spcPct val="100000"/>
              </a:lnSpc>
              <a:spcBef>
                <a:spcPts val="1705"/>
              </a:spcBef>
            </a:pPr>
            <a:r>
              <a:rPr sz="2800" kern="0" spc="-8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80" dirty="0">
                <a:solidFill>
                  <a:srgbClr val="000000">
                    <a:alpha val="100000"/>
                  </a:srgbClr>
                </a:solidFill>
                <a:latin typeface="仿宋" panose="02010609060101010101" charset="-122"/>
                <a:ea typeface="仿宋" panose="02010609060101010101" charset="-122"/>
                <a:cs typeface="仿宋" panose="02010609060101010101" charset="-122"/>
              </a:rPr>
              <a:t>下标范围</a:t>
            </a:r>
            <a:endParaRPr sz="2800" dirty="0">
              <a:latin typeface="仿宋" panose="02010609060101010101" charset="-122"/>
              <a:ea typeface="仿宋" panose="02010609060101010101" charset="-122"/>
              <a:cs typeface="仿宋" panose="02010609060101010101" charset="-122"/>
            </a:endParaRPr>
          </a:p>
          <a:p>
            <a:pPr marL="466725" algn="l" rtl="0" eaLnBrk="0">
              <a:lnSpc>
                <a:spcPts val="2985"/>
              </a:lnSpc>
              <a:spcBef>
                <a:spcPts val="1090"/>
              </a:spcBef>
            </a:pPr>
            <a:r>
              <a:rPr sz="24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输入输出：</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0</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4N</a:t>
            </a:r>
            <a:r>
              <a:rPr sz="2400" b="1" kern="0" spc="-20" baseline="-22000" dirty="0">
                <a:solidFill>
                  <a:srgbClr val="000000">
                    <a:alpha val="100000"/>
                  </a:srgbClr>
                </a:solidFill>
                <a:latin typeface="Times New Roman" panose="02020603050405020304"/>
                <a:ea typeface="Times New Roman" panose="02020603050405020304"/>
                <a:cs typeface="Times New Roman" panose="02020603050405020304"/>
              </a:rPr>
              <a:t>b</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-1</a:t>
            </a:r>
            <a:endParaRPr sz="2400" dirty="0">
              <a:latin typeface="Times New Roman" panose="02020603050405020304"/>
              <a:ea typeface="Times New Roman" panose="02020603050405020304"/>
              <a:cs typeface="Times New Roman" panose="02020603050405020304"/>
            </a:endParaRPr>
          </a:p>
          <a:p>
            <a:pPr algn="l" rtl="0" eaLnBrk="0">
              <a:lnSpc>
                <a:spcPct val="113000"/>
              </a:lnSpc>
            </a:pPr>
            <a:endParaRPr sz="700" dirty="0">
              <a:latin typeface="Arial" panose="020B0604020202020204" pitchFamily="34" charset="0"/>
              <a:ea typeface="Arial" panose="020B0604020202020204" pitchFamily="34" charset="0"/>
              <a:cs typeface="Arial" panose="020B0604020202020204" pitchFamily="34" charset="0"/>
            </a:endParaRPr>
          </a:p>
          <a:p>
            <a:pPr marL="466725" algn="l" rtl="0" eaLnBrk="0">
              <a:lnSpc>
                <a:spcPts val="2985"/>
              </a:lnSpc>
              <a:spcBef>
                <a:spcPts val="5"/>
              </a:spcBef>
            </a:pPr>
            <a:r>
              <a:rPr sz="24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种子密钥：</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0</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4N</a:t>
            </a:r>
            <a:r>
              <a:rPr sz="2400" b="1" kern="0" spc="-30" baseline="-22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-1</a:t>
            </a:r>
            <a:endParaRPr sz="2400" dirty="0">
              <a:latin typeface="Times New Roman" panose="02020603050405020304"/>
              <a:ea typeface="Times New Roman" panose="02020603050405020304"/>
              <a:cs typeface="Times New Roman" panose="02020603050405020304"/>
            </a:endParaRPr>
          </a:p>
        </p:txBody>
      </p:sp>
      <p:sp>
        <p:nvSpPr>
          <p:cNvPr id="166" name="textbox 166"/>
          <p:cNvSpPr/>
          <p:nvPr/>
        </p:nvSpPr>
        <p:spPr>
          <a:xfrm>
            <a:off x="1571329" y="491245"/>
            <a:ext cx="1629410"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30" dirty="0">
                <a:solidFill>
                  <a:srgbClr val="0563C1">
                    <a:alpha val="100000"/>
                  </a:srgbClr>
                </a:solidFill>
                <a:latin typeface="仿宋" panose="02010609060101010101" charset="-122"/>
                <a:ea typeface="仿宋" panose="02010609060101010101" charset="-122"/>
                <a:cs typeface="仿宋" panose="02010609060101010101" charset="-122"/>
              </a:rPr>
              <a:t>算法说明</a:t>
            </a:r>
            <a:endParaRPr sz="3100" dirty="0">
              <a:latin typeface="仿宋" panose="02010609060101010101" charset="-122"/>
              <a:ea typeface="仿宋" panose="02010609060101010101" charset="-122"/>
              <a:cs typeface="仿宋" panose="02010609060101010101" charset="-122"/>
            </a:endParaRPr>
          </a:p>
        </p:txBody>
      </p:sp>
      <p:sp>
        <p:nvSpPr>
          <p:cNvPr id="168" name="path 16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70" name="picture 170"/>
          <p:cNvPicPr>
            <a:picLocks noChangeAspect="1"/>
          </p:cNvPicPr>
          <p:nvPr/>
        </p:nvPicPr>
        <p:blipFill>
          <a:blip r:embed="rId1"/>
          <a:stretch>
            <a:fillRect/>
          </a:stretch>
        </p:blipFill>
        <p:spPr>
          <a:xfrm rot="21600000">
            <a:off x="822960" y="408431"/>
            <a:ext cx="420623" cy="655320"/>
          </a:xfrm>
          <a:prstGeom prst="rect">
            <a:avLst/>
          </a:prstGeom>
        </p:spPr>
      </p:pic>
      <p:sp>
        <p:nvSpPr>
          <p:cNvPr id="172" name="path 17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path 174"/>
          <p:cNvSpPr/>
          <p:nvPr/>
        </p:nvSpPr>
        <p:spPr>
          <a:xfrm>
            <a:off x="4188290" y="1904798"/>
            <a:ext cx="800947" cy="1948074"/>
          </a:xfrm>
          <a:custGeom>
            <a:avLst/>
            <a:gdLst/>
            <a:ahLst/>
            <a:cxnLst/>
            <a:rect l="0" t="0" r="0" b="0"/>
            <a:pathLst>
              <a:path w="1261" h="3067">
                <a:moveTo>
                  <a:pt x="6" y="3065"/>
                </a:moveTo>
                <a:lnTo>
                  <a:pt x="1254" y="2"/>
                </a:lnTo>
              </a:path>
            </a:pathLst>
          </a:custGeom>
          <a:noFill/>
          <a:ln w="9143" cap="flat">
            <a:solidFill>
              <a:srgbClr val="000000"/>
            </a:solidFill>
            <a:prstDash val="solid"/>
            <a:round/>
          </a:ln>
        </p:spPr>
        <p:txBody>
          <a:bodyPr rtlCol="0"/>
          <a:lstStyle/>
          <a:p>
            <a:pPr algn="ctr"/>
            <a:endParaRPr lang="zh-CN" altLang="en-US"/>
          </a:p>
        </p:txBody>
      </p:sp>
      <p:sp>
        <p:nvSpPr>
          <p:cNvPr id="176" name="path 176"/>
          <p:cNvSpPr/>
          <p:nvPr/>
        </p:nvSpPr>
        <p:spPr>
          <a:xfrm>
            <a:off x="3395810" y="1904798"/>
            <a:ext cx="800947" cy="1948074"/>
          </a:xfrm>
          <a:custGeom>
            <a:avLst/>
            <a:gdLst/>
            <a:ahLst/>
            <a:cxnLst/>
            <a:rect l="0" t="0" r="0" b="0"/>
            <a:pathLst>
              <a:path w="1261" h="3067">
                <a:moveTo>
                  <a:pt x="6" y="3065"/>
                </a:moveTo>
                <a:lnTo>
                  <a:pt x="1254" y="2"/>
                </a:lnTo>
              </a:path>
            </a:pathLst>
          </a:custGeom>
          <a:noFill/>
          <a:ln w="9143" cap="flat">
            <a:solidFill>
              <a:srgbClr val="000000"/>
            </a:solidFill>
            <a:prstDash val="solid"/>
            <a:round/>
          </a:ln>
        </p:spPr>
        <p:txBody>
          <a:bodyPr rtlCol="0"/>
          <a:lstStyle/>
          <a:p>
            <a:pPr algn="ctr"/>
            <a:endParaRPr lang="zh-CN" altLang="en-US"/>
          </a:p>
        </p:txBody>
      </p:sp>
      <p:sp>
        <p:nvSpPr>
          <p:cNvPr id="178" name="path 178"/>
          <p:cNvSpPr/>
          <p:nvPr/>
        </p:nvSpPr>
        <p:spPr>
          <a:xfrm>
            <a:off x="2603330" y="1904798"/>
            <a:ext cx="800947" cy="1948074"/>
          </a:xfrm>
          <a:custGeom>
            <a:avLst/>
            <a:gdLst/>
            <a:ahLst/>
            <a:cxnLst/>
            <a:rect l="0" t="0" r="0" b="0"/>
            <a:pathLst>
              <a:path w="1261" h="3067">
                <a:moveTo>
                  <a:pt x="6" y="3065"/>
                </a:moveTo>
                <a:lnTo>
                  <a:pt x="1254" y="2"/>
                </a:lnTo>
              </a:path>
            </a:pathLst>
          </a:custGeom>
          <a:noFill/>
          <a:ln w="9143" cap="flat">
            <a:solidFill>
              <a:srgbClr val="000000"/>
            </a:solidFill>
            <a:prstDash val="solid"/>
            <a:round/>
          </a:ln>
        </p:spPr>
        <p:txBody>
          <a:bodyPr rtlCol="0"/>
          <a:lstStyle/>
          <a:p>
            <a:pPr algn="ctr"/>
            <a:endParaRPr lang="zh-CN" altLang="en-US"/>
          </a:p>
        </p:txBody>
      </p:sp>
      <p:sp>
        <p:nvSpPr>
          <p:cNvPr id="180" name="path 180"/>
          <p:cNvSpPr/>
          <p:nvPr/>
        </p:nvSpPr>
        <p:spPr>
          <a:xfrm>
            <a:off x="1810850" y="1904798"/>
            <a:ext cx="800947" cy="1948074"/>
          </a:xfrm>
          <a:custGeom>
            <a:avLst/>
            <a:gdLst/>
            <a:ahLst/>
            <a:cxnLst/>
            <a:rect l="0" t="0" r="0" b="0"/>
            <a:pathLst>
              <a:path w="1261" h="3067">
                <a:moveTo>
                  <a:pt x="6" y="3065"/>
                </a:moveTo>
                <a:lnTo>
                  <a:pt x="1254" y="2"/>
                </a:lnTo>
              </a:path>
            </a:pathLst>
          </a:custGeom>
          <a:noFill/>
          <a:ln w="9143" cap="flat">
            <a:solidFill>
              <a:srgbClr val="000000"/>
            </a:solidFill>
            <a:prstDash val="solid"/>
            <a:round/>
          </a:ln>
        </p:spPr>
        <p:txBody>
          <a:bodyPr rtlCol="0"/>
          <a:lstStyle/>
          <a:p>
            <a:pPr algn="ctr"/>
            <a:endParaRPr lang="zh-CN" altLang="en-US"/>
          </a:p>
        </p:txBody>
      </p:sp>
      <p:sp>
        <p:nvSpPr>
          <p:cNvPr id="182" name="path 182"/>
          <p:cNvSpPr/>
          <p:nvPr/>
        </p:nvSpPr>
        <p:spPr>
          <a:xfrm>
            <a:off x="4980770" y="1904798"/>
            <a:ext cx="800947" cy="1948074"/>
          </a:xfrm>
          <a:custGeom>
            <a:avLst/>
            <a:gdLst/>
            <a:ahLst/>
            <a:cxnLst/>
            <a:rect l="0" t="0" r="0" b="0"/>
            <a:pathLst>
              <a:path w="1261" h="3067">
                <a:moveTo>
                  <a:pt x="6" y="3065"/>
                </a:moveTo>
                <a:lnTo>
                  <a:pt x="1254" y="2"/>
                </a:lnTo>
              </a:path>
            </a:pathLst>
          </a:custGeom>
          <a:noFill/>
          <a:ln w="9143" cap="flat">
            <a:solidFill>
              <a:srgbClr val="000000"/>
            </a:solidFill>
            <a:prstDash val="solid"/>
            <a:round/>
          </a:ln>
        </p:spPr>
        <p:txBody>
          <a:bodyPr rtlCol="0"/>
          <a:lstStyle/>
          <a:p>
            <a:pPr algn="ctr"/>
            <a:endParaRPr lang="zh-CN" altLang="en-US"/>
          </a:p>
        </p:txBody>
      </p:sp>
      <p:graphicFrame>
        <p:nvGraphicFramePr>
          <p:cNvPr id="184" name="table 184"/>
          <p:cNvGraphicFramePr>
            <a:graphicFrameLocks noGrp="1"/>
          </p:cNvGraphicFramePr>
          <p:nvPr/>
        </p:nvGraphicFramePr>
        <p:xfrm>
          <a:off x="1238250" y="1906524"/>
          <a:ext cx="5092699" cy="2014220"/>
        </p:xfrm>
        <a:graphic>
          <a:graphicData uri="http://schemas.openxmlformats.org/drawingml/2006/table">
            <a:tbl>
              <a:tblPr/>
              <a:tblGrid>
                <a:gridCol w="576580"/>
                <a:gridCol w="276225"/>
                <a:gridCol w="516254"/>
                <a:gridCol w="330200"/>
                <a:gridCol w="462279"/>
                <a:gridCol w="384809"/>
                <a:gridCol w="407669"/>
                <a:gridCol w="438784"/>
                <a:gridCol w="353694"/>
                <a:gridCol w="492759"/>
                <a:gridCol w="299719"/>
                <a:gridCol w="553719"/>
              </a:tblGrid>
              <a:tr h="561975">
                <a:tc>
                  <a:txBody>
                    <a:bodyPr/>
                    <a:lstStyle/>
                    <a:p>
                      <a:pPr algn="l" rtl="0" eaLnBrk="0">
                        <a:lnSpc>
                          <a:spcPct val="158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88000"/>
                        </a:lnSpc>
                      </a:pPr>
                      <a:r>
                        <a:rPr sz="3600" b="1" i="1" kern="0" spc="-140" baseline="6000" dirty="0">
                          <a:solidFill>
                            <a:srgbClr val="000000">
                              <a:alpha val="100000"/>
                            </a:srgbClr>
                          </a:solidFill>
                          <a:latin typeface="Times New Roman" panose="02020603050405020304"/>
                          <a:ea typeface="Times New Roman" panose="02020603050405020304"/>
                          <a:cs typeface="Times New Roman" panose="02020603050405020304"/>
                        </a:rPr>
                        <a:t>a</a:t>
                      </a:r>
                      <a:r>
                        <a:rPr sz="2400" b="1" kern="0" spc="-50" baseline="-15000" dirty="0">
                          <a:solidFill>
                            <a:srgbClr val="000000">
                              <a:alpha val="100000"/>
                            </a:srgbClr>
                          </a:solidFill>
                          <a:latin typeface="Times New Roman" panose="02020603050405020304"/>
                          <a:ea typeface="Times New Roman" panose="02020603050405020304"/>
                          <a:cs typeface="Times New Roman" panose="02020603050405020304"/>
                        </a:rPr>
                        <a:t>00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58000"/>
                        </a:lnSpc>
                      </a:pPr>
                      <a:endParaRPr sz="1000" dirty="0">
                        <a:latin typeface="Arial" panose="020B0604020202020204" pitchFamily="34" charset="0"/>
                        <a:ea typeface="Arial" panose="020B0604020202020204" pitchFamily="34" charset="0"/>
                        <a:cs typeface="Arial" panose="020B0604020202020204" pitchFamily="34" charset="0"/>
                      </a:endParaRPr>
                    </a:p>
                    <a:p>
                      <a:pPr marL="250190" algn="l" rtl="0" eaLnBrk="0">
                        <a:lnSpc>
                          <a:spcPct val="86000"/>
                        </a:lnSpc>
                        <a:spcBef>
                          <a:spcPts val="5"/>
                        </a:spcBef>
                      </a:pPr>
                      <a:r>
                        <a:rPr sz="2400" b="1" i="1" kern="0" spc="-20" dirty="0">
                          <a:solidFill>
                            <a:srgbClr val="000000">
                              <a:alpha val="100000"/>
                            </a:srgbClr>
                          </a:solidFill>
                          <a:latin typeface="Times New Roman" panose="02020603050405020304"/>
                          <a:ea typeface="Times New Roman" panose="02020603050405020304"/>
                          <a:cs typeface="Times New Roman" panose="02020603050405020304"/>
                        </a:rPr>
                        <a:t>a</a:t>
                      </a:r>
                      <a:r>
                        <a:rPr sz="2400" b="1" kern="0" spc="-20" baseline="-20000" dirty="0">
                          <a:solidFill>
                            <a:srgbClr val="000000">
                              <a:alpha val="100000"/>
                            </a:srgbClr>
                          </a:solidFill>
                          <a:latin typeface="Times New Roman" panose="02020603050405020304"/>
                          <a:ea typeface="Times New Roman" panose="02020603050405020304"/>
                          <a:cs typeface="Times New Roman" panose="02020603050405020304"/>
                        </a:rPr>
                        <a:t>0</a:t>
                      </a:r>
                      <a:endParaRPr sz="2400" baseline="-20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2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1000"/>
                        </a:lnSpc>
                      </a:pPr>
                      <a:r>
                        <a:rPr sz="1600" b="1" kern="0" spc="-10" dirty="0">
                          <a:solidFill>
                            <a:srgbClr val="000000">
                              <a:alpha val="100000"/>
                            </a:srgbClr>
                          </a:solidFill>
                          <a:latin typeface="Times New Roman" panose="02020603050405020304"/>
                          <a:ea typeface="Times New Roman" panose="02020603050405020304"/>
                          <a:cs typeface="Times New Roman" panose="02020603050405020304"/>
                        </a:rPr>
                        <a:t>1</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5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4000"/>
                        </a:lnSpc>
                      </a:pPr>
                      <a:r>
                        <a:rPr sz="2200" b="1" i="1" kern="0" spc="-140" dirty="0">
                          <a:solidFill>
                            <a:srgbClr val="000000">
                              <a:alpha val="100000"/>
                            </a:srgbClr>
                          </a:solidFill>
                          <a:latin typeface="Times New Roman" panose="02020603050405020304"/>
                          <a:ea typeface="Times New Roman" panose="02020603050405020304"/>
                          <a:cs typeface="Times New Roman" panose="02020603050405020304"/>
                        </a:rPr>
                        <a:t>a</a:t>
                      </a:r>
                      <a:r>
                        <a:rPr sz="2200" b="1" kern="0" spc="-30" baseline="-21000" dirty="0">
                          <a:solidFill>
                            <a:srgbClr val="000000">
                              <a:alpha val="100000"/>
                            </a:srgbClr>
                          </a:solidFill>
                          <a:latin typeface="Times New Roman" panose="02020603050405020304"/>
                          <a:ea typeface="Times New Roman" panose="02020603050405020304"/>
                          <a:cs typeface="Times New Roman" panose="02020603050405020304"/>
                        </a:rPr>
                        <a:t>0</a:t>
                      </a:r>
                      <a:endParaRPr sz="2200" baseline="-21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2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6000"/>
                        </a:lnSpc>
                      </a:pPr>
                      <a:endParaRPr sz="1000" dirty="0">
                        <a:latin typeface="Arial" panose="020B0604020202020204" pitchFamily="34" charset="0"/>
                        <a:ea typeface="Arial" panose="020B0604020202020204" pitchFamily="34" charset="0"/>
                        <a:cs typeface="Arial" panose="020B0604020202020204" pitchFamily="34" charset="0"/>
                      </a:endParaRPr>
                    </a:p>
                    <a:p>
                      <a:pPr marL="43815" algn="l" rtl="0" eaLnBrk="0">
                        <a:lnSpc>
                          <a:spcPct val="71000"/>
                        </a:lnSpc>
                      </a:pPr>
                      <a:r>
                        <a:rPr sz="1600" b="1"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58000"/>
                        </a:lnSpc>
                      </a:pPr>
                      <a:endParaRPr sz="1000" dirty="0">
                        <a:latin typeface="Arial" panose="020B0604020202020204" pitchFamily="34" charset="0"/>
                        <a:ea typeface="Arial" panose="020B0604020202020204" pitchFamily="34" charset="0"/>
                        <a:cs typeface="Arial" panose="020B0604020202020204" pitchFamily="34" charset="0"/>
                      </a:endParaRPr>
                    </a:p>
                    <a:p>
                      <a:pPr algn="r" rtl="0" eaLnBrk="0">
                        <a:lnSpc>
                          <a:spcPct val="86000"/>
                        </a:lnSpc>
                        <a:spcBef>
                          <a:spcPts val="5"/>
                        </a:spcBef>
                      </a:pP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a</a:t>
                      </a:r>
                      <a:endParaRPr sz="24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2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1000"/>
                        </a:lnSpc>
                      </a:pPr>
                      <a:r>
                        <a:rPr sz="1600" b="1" kern="0" spc="-30" dirty="0">
                          <a:solidFill>
                            <a:srgbClr val="000000">
                              <a:alpha val="100000"/>
                            </a:srgbClr>
                          </a:solidFill>
                          <a:latin typeface="Times New Roman" panose="02020603050405020304"/>
                          <a:ea typeface="Times New Roman" panose="02020603050405020304"/>
                          <a:cs typeface="Times New Roman" panose="02020603050405020304"/>
                        </a:rPr>
                        <a:t>03</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2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6000"/>
                        </a:lnSpc>
                      </a:pPr>
                      <a:endParaRPr sz="1000" dirty="0">
                        <a:latin typeface="Arial" panose="020B0604020202020204" pitchFamily="34" charset="0"/>
                        <a:ea typeface="Arial" panose="020B0604020202020204" pitchFamily="34" charset="0"/>
                        <a:cs typeface="Arial" panose="020B0604020202020204" pitchFamily="34" charset="0"/>
                      </a:endParaRPr>
                    </a:p>
                    <a:p>
                      <a:pPr marL="51435" algn="l" rtl="0" eaLnBrk="0">
                        <a:lnSpc>
                          <a:spcPct val="71000"/>
                        </a:lnSpc>
                      </a:pPr>
                      <a:r>
                        <a:rPr sz="1600" b="1" kern="0" spc="-20" dirty="0">
                          <a:solidFill>
                            <a:srgbClr val="000000">
                              <a:alpha val="100000"/>
                            </a:srgbClr>
                          </a:solidFill>
                          <a:latin typeface="Times New Roman" panose="02020603050405020304"/>
                          <a:ea typeface="Times New Roman" panose="02020603050405020304"/>
                          <a:cs typeface="Times New Roman" panose="02020603050405020304"/>
                        </a:rPr>
                        <a:t>04</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5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1000"/>
                        </a:lnSpc>
                        <a:spcBef>
                          <a:spcPts val="5"/>
                        </a:spcBef>
                      </a:pPr>
                      <a:r>
                        <a:rPr sz="3500" b="1" i="1" kern="0" spc="-160" baseline="6000" dirty="0">
                          <a:solidFill>
                            <a:srgbClr val="000000">
                              <a:alpha val="100000"/>
                            </a:srgbClr>
                          </a:solidFill>
                          <a:latin typeface="Times New Roman" panose="02020603050405020304"/>
                          <a:ea typeface="Times New Roman" panose="02020603050405020304"/>
                          <a:cs typeface="Times New Roman" panose="02020603050405020304"/>
                        </a:rPr>
                        <a:t>a</a:t>
                      </a:r>
                      <a:r>
                        <a:rPr sz="2300" b="1" kern="0" spc="-10" baseline="-16000" dirty="0">
                          <a:solidFill>
                            <a:srgbClr val="000000">
                              <a:alpha val="100000"/>
                            </a:srgbClr>
                          </a:solidFill>
                          <a:latin typeface="Times New Roman" panose="02020603050405020304"/>
                          <a:ea typeface="Times New Roman" panose="02020603050405020304"/>
                          <a:cs typeface="Times New Roman" panose="02020603050405020304"/>
                        </a:rPr>
                        <a:t>05</a:t>
                      </a:r>
                      <a:endParaRPr sz="2300" baseline="-160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200">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algn="r" rtl="0" eaLnBrk="0">
                        <a:lnSpc>
                          <a:spcPct val="88000"/>
                        </a:lnSpc>
                        <a:spcBef>
                          <a:spcPts val="5"/>
                        </a:spcBef>
                      </a:pPr>
                      <a:r>
                        <a:rPr sz="3600" b="1" i="1" kern="0" spc="-90" baseline="6000" dirty="0">
                          <a:solidFill>
                            <a:srgbClr val="000000">
                              <a:alpha val="100000"/>
                            </a:srgbClr>
                          </a:solidFill>
                          <a:latin typeface="Times New Roman" panose="02020603050405020304"/>
                          <a:ea typeface="Times New Roman" panose="02020603050405020304"/>
                          <a:cs typeface="Times New Roman" panose="02020603050405020304"/>
                        </a:rPr>
                        <a:t>a</a:t>
                      </a:r>
                      <a:r>
                        <a:rPr sz="2400" b="1" kern="0" spc="-90" baseline="-15000" dirty="0">
                          <a:solidFill>
                            <a:srgbClr val="000000">
                              <a:alpha val="100000"/>
                            </a:srgbClr>
                          </a:solidFill>
                          <a:latin typeface="Times New Roman" panose="02020603050405020304"/>
                          <a:ea typeface="Times New Roman" panose="02020603050405020304"/>
                          <a:cs typeface="Times New Roman" panose="02020603050405020304"/>
                        </a:rPr>
                        <a:t>1</a:t>
                      </a:r>
                      <a:r>
                        <a:rPr sz="2400" b="1" kern="0" spc="-60" baseline="-15000" dirty="0">
                          <a:solidFill>
                            <a:srgbClr val="000000">
                              <a:alpha val="100000"/>
                            </a:srgbClr>
                          </a:solidFill>
                          <a:latin typeface="Times New Roman" panose="02020603050405020304"/>
                          <a:ea typeface="Times New Roman" panose="02020603050405020304"/>
                          <a:cs typeface="Times New Roman" panose="02020603050405020304"/>
                        </a:rPr>
                        <a:t>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r" rtl="0" eaLnBrk="0">
                        <a:lnSpc>
                          <a:spcPts val="2480"/>
                        </a:lnSpc>
                        <a:spcBef>
                          <a:spcPts val="5"/>
                        </a:spcBef>
                      </a:pPr>
                      <a:r>
                        <a:rPr sz="2900" b="1" i="1" kern="0" spc="-60" baseline="17000" dirty="0">
                          <a:solidFill>
                            <a:srgbClr val="000000">
                              <a:alpha val="100000"/>
                            </a:srgbClr>
                          </a:solidFill>
                          <a:latin typeface="Times New Roman" panose="02020603050405020304"/>
                          <a:ea typeface="Times New Roman" panose="02020603050405020304"/>
                          <a:cs typeface="Times New Roman" panose="02020603050405020304"/>
                        </a:rPr>
                        <a:t>a</a:t>
                      </a:r>
                      <a:r>
                        <a:rPr sz="1900" b="1" kern="0" spc="-60" baseline="-1000" dirty="0">
                          <a:solidFill>
                            <a:srgbClr val="000000">
                              <a:alpha val="100000"/>
                            </a:srgbClr>
                          </a:solidFill>
                          <a:latin typeface="Times New Roman" panose="02020603050405020304"/>
                          <a:ea typeface="Times New Roman" panose="02020603050405020304"/>
                          <a:cs typeface="Times New Roman" panose="02020603050405020304"/>
                        </a:rPr>
                        <a:t>11</a:t>
                      </a:r>
                      <a:endParaRPr sz="1900" baseline="-1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r" rtl="0" eaLnBrk="0">
                        <a:lnSpc>
                          <a:spcPct val="94000"/>
                        </a:lnSpc>
                        <a:spcBef>
                          <a:spcPts val="5"/>
                        </a:spcBef>
                      </a:pPr>
                      <a:r>
                        <a:rPr sz="2200" b="1" i="1" kern="0" spc="-90" dirty="0">
                          <a:solidFill>
                            <a:srgbClr val="000000">
                              <a:alpha val="100000"/>
                            </a:srgbClr>
                          </a:solidFill>
                          <a:latin typeface="Times New Roman" panose="02020603050405020304"/>
                          <a:ea typeface="Times New Roman" panose="02020603050405020304"/>
                          <a:cs typeface="Times New Roman" panose="02020603050405020304"/>
                        </a:rPr>
                        <a:t>a</a:t>
                      </a:r>
                      <a:r>
                        <a:rPr sz="2200" b="1" kern="0" spc="-90" baseline="-21000" dirty="0">
                          <a:solidFill>
                            <a:srgbClr val="000000">
                              <a:alpha val="100000"/>
                            </a:srgbClr>
                          </a:solidFill>
                          <a:latin typeface="Times New Roman" panose="02020603050405020304"/>
                          <a:ea typeface="Times New Roman" panose="02020603050405020304"/>
                          <a:cs typeface="Times New Roman" panose="02020603050405020304"/>
                        </a:rPr>
                        <a:t>1</a:t>
                      </a:r>
                      <a:endParaRPr sz="2200" baseline="-21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82000"/>
                        </a:lnSpc>
                      </a:pPr>
                      <a:endParaRPr sz="1000" dirty="0">
                        <a:latin typeface="Arial" panose="020B0604020202020204" pitchFamily="34" charset="0"/>
                        <a:ea typeface="Arial" panose="020B0604020202020204" pitchFamily="34" charset="0"/>
                        <a:cs typeface="Arial" panose="020B0604020202020204" pitchFamily="34" charset="0"/>
                      </a:endParaRPr>
                    </a:p>
                    <a:p>
                      <a:pPr marL="43815" algn="l" rtl="0" eaLnBrk="0">
                        <a:lnSpc>
                          <a:spcPct val="71000"/>
                        </a:lnSpc>
                        <a:spcBef>
                          <a:spcPts val="5"/>
                        </a:spcBef>
                      </a:pPr>
                      <a:r>
                        <a:rPr sz="1600" b="1"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86000"/>
                        </a:lnSpc>
                      </a:pP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a</a:t>
                      </a:r>
                      <a:endParaRPr sz="24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82000"/>
                        </a:lnSpc>
                      </a:pPr>
                      <a:endParaRPr sz="1000" dirty="0">
                        <a:latin typeface="Arial" panose="020B0604020202020204" pitchFamily="34" charset="0"/>
                        <a:ea typeface="Arial" panose="020B0604020202020204" pitchFamily="34" charset="0"/>
                        <a:cs typeface="Arial" panose="020B0604020202020204" pitchFamily="34" charset="0"/>
                      </a:endParaRPr>
                    </a:p>
                    <a:p>
                      <a:pPr marL="2540" algn="l" rtl="0" eaLnBrk="0">
                        <a:lnSpc>
                          <a:spcPct val="71000"/>
                        </a:lnSpc>
                        <a:spcBef>
                          <a:spcPts val="5"/>
                        </a:spcBef>
                      </a:pPr>
                      <a:r>
                        <a:rPr sz="1600" b="1" kern="0" spc="-30" dirty="0">
                          <a:solidFill>
                            <a:srgbClr val="000000">
                              <a:alpha val="100000"/>
                            </a:srgbClr>
                          </a:solidFill>
                          <a:latin typeface="Times New Roman" panose="02020603050405020304"/>
                          <a:ea typeface="Times New Roman" panose="02020603050405020304"/>
                          <a:cs typeface="Times New Roman" panose="02020603050405020304"/>
                        </a:rPr>
                        <a:t>13</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82000"/>
                        </a:lnSpc>
                      </a:pPr>
                      <a:endParaRPr sz="1000" dirty="0">
                        <a:latin typeface="Arial" panose="020B0604020202020204" pitchFamily="34" charset="0"/>
                        <a:ea typeface="Arial" panose="020B0604020202020204" pitchFamily="34" charset="0"/>
                        <a:cs typeface="Arial" panose="020B0604020202020204" pitchFamily="34" charset="0"/>
                      </a:endParaRPr>
                    </a:p>
                    <a:p>
                      <a:pPr marL="57150" algn="l" rtl="0" eaLnBrk="0">
                        <a:lnSpc>
                          <a:spcPct val="71000"/>
                        </a:lnSpc>
                        <a:spcBef>
                          <a:spcPts val="5"/>
                        </a:spcBef>
                      </a:pPr>
                      <a:r>
                        <a:rPr sz="1600" b="1" kern="0" spc="-30" dirty="0">
                          <a:solidFill>
                            <a:srgbClr val="000000">
                              <a:alpha val="100000"/>
                            </a:srgbClr>
                          </a:solidFill>
                          <a:latin typeface="Times New Roman" panose="02020603050405020304"/>
                          <a:ea typeface="Times New Roman" panose="02020603050405020304"/>
                          <a:cs typeface="Times New Roman" panose="02020603050405020304"/>
                        </a:rPr>
                        <a:t>14</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88000"/>
                        </a:lnSpc>
                        <a:spcBef>
                          <a:spcPts val="5"/>
                        </a:spcBef>
                      </a:pPr>
                      <a:r>
                        <a:rPr sz="3600" b="1" i="1" kern="0" spc="-80" baseline="6000" dirty="0">
                          <a:solidFill>
                            <a:srgbClr val="000000">
                              <a:alpha val="100000"/>
                            </a:srgbClr>
                          </a:solidFill>
                          <a:latin typeface="Times New Roman" panose="02020603050405020304"/>
                          <a:ea typeface="Times New Roman" panose="02020603050405020304"/>
                          <a:cs typeface="Times New Roman" panose="02020603050405020304"/>
                        </a:rPr>
                        <a:t>a</a:t>
                      </a:r>
                      <a:r>
                        <a:rPr sz="2400" b="1" kern="0" spc="-80" baseline="-15000" dirty="0">
                          <a:solidFill>
                            <a:srgbClr val="000000">
                              <a:alpha val="100000"/>
                            </a:srgbClr>
                          </a:solidFill>
                          <a:latin typeface="Times New Roman" panose="02020603050405020304"/>
                          <a:ea typeface="Times New Roman" panose="02020603050405020304"/>
                          <a:cs typeface="Times New Roman" panose="02020603050405020304"/>
                        </a:rPr>
                        <a:t>15</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200">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algn="r" rtl="0" eaLnBrk="0">
                        <a:lnSpc>
                          <a:spcPct val="88000"/>
                        </a:lnSpc>
                        <a:spcBef>
                          <a:spcPts val="5"/>
                        </a:spcBef>
                      </a:pPr>
                      <a:r>
                        <a:rPr sz="3600" b="1" i="1" kern="0" spc="-140" baseline="6000" dirty="0">
                          <a:solidFill>
                            <a:srgbClr val="000000">
                              <a:alpha val="100000"/>
                            </a:srgbClr>
                          </a:solidFill>
                          <a:latin typeface="Times New Roman" panose="02020603050405020304"/>
                          <a:ea typeface="Times New Roman" panose="02020603050405020304"/>
                          <a:cs typeface="Times New Roman" panose="02020603050405020304"/>
                        </a:rPr>
                        <a:t>a</a:t>
                      </a:r>
                      <a:r>
                        <a:rPr sz="2400" b="1" kern="0" spc="-50" baseline="-15000" dirty="0">
                          <a:solidFill>
                            <a:srgbClr val="000000">
                              <a:alpha val="100000"/>
                            </a:srgbClr>
                          </a:solidFill>
                          <a:latin typeface="Times New Roman" panose="02020603050405020304"/>
                          <a:ea typeface="Times New Roman" panose="02020603050405020304"/>
                          <a:cs typeface="Times New Roman" panose="02020603050405020304"/>
                        </a:rPr>
                        <a:t>20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250190" algn="l" rtl="0" eaLnBrk="0">
                        <a:lnSpc>
                          <a:spcPct val="86000"/>
                        </a:lnSpc>
                      </a:pPr>
                      <a:r>
                        <a:rPr sz="2400" b="1" i="1" kern="0" spc="-20" dirty="0">
                          <a:solidFill>
                            <a:srgbClr val="000000">
                              <a:alpha val="100000"/>
                            </a:srgbClr>
                          </a:solidFill>
                          <a:latin typeface="Times New Roman" panose="02020603050405020304"/>
                          <a:ea typeface="Times New Roman" panose="02020603050405020304"/>
                          <a:cs typeface="Times New Roman" panose="02020603050405020304"/>
                        </a:rPr>
                        <a:t>a</a:t>
                      </a:r>
                      <a:r>
                        <a:rPr sz="2400" b="1" kern="0" spc="-20" baseline="-20000" dirty="0">
                          <a:solidFill>
                            <a:srgbClr val="000000">
                              <a:alpha val="100000"/>
                            </a:srgbClr>
                          </a:solidFill>
                          <a:latin typeface="Times New Roman" panose="02020603050405020304"/>
                          <a:ea typeface="Times New Roman" panose="02020603050405020304"/>
                          <a:cs typeface="Times New Roman" panose="02020603050405020304"/>
                        </a:rPr>
                        <a:t>2</a:t>
                      </a:r>
                      <a:endParaRPr sz="2400" baseline="-20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82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1000"/>
                        </a:lnSpc>
                        <a:spcBef>
                          <a:spcPts val="5"/>
                        </a:spcBef>
                      </a:pPr>
                      <a:r>
                        <a:rPr sz="1600" b="1" kern="0" spc="-10" dirty="0">
                          <a:solidFill>
                            <a:srgbClr val="000000">
                              <a:alpha val="100000"/>
                            </a:srgbClr>
                          </a:solidFill>
                          <a:latin typeface="Times New Roman" panose="02020603050405020304"/>
                          <a:ea typeface="Times New Roman" panose="02020603050405020304"/>
                          <a:cs typeface="Times New Roman" panose="02020603050405020304"/>
                        </a:rPr>
                        <a:t>1</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r" rtl="0" eaLnBrk="0">
                        <a:lnSpc>
                          <a:spcPct val="94000"/>
                        </a:lnSpc>
                        <a:spcBef>
                          <a:spcPts val="5"/>
                        </a:spcBef>
                      </a:pPr>
                      <a:r>
                        <a:rPr sz="2200" b="1" i="1" kern="0" spc="-140" dirty="0">
                          <a:solidFill>
                            <a:srgbClr val="000000">
                              <a:alpha val="100000"/>
                            </a:srgbClr>
                          </a:solidFill>
                          <a:latin typeface="Times New Roman" panose="02020603050405020304"/>
                          <a:ea typeface="Times New Roman" panose="02020603050405020304"/>
                          <a:cs typeface="Times New Roman" panose="02020603050405020304"/>
                        </a:rPr>
                        <a:t>a</a:t>
                      </a:r>
                      <a:r>
                        <a:rPr sz="2200" b="1" kern="0" spc="-30" baseline="-21000" dirty="0">
                          <a:solidFill>
                            <a:srgbClr val="000000">
                              <a:alpha val="100000"/>
                            </a:srgbClr>
                          </a:solidFill>
                          <a:latin typeface="Times New Roman" panose="02020603050405020304"/>
                          <a:ea typeface="Times New Roman" panose="02020603050405020304"/>
                          <a:cs typeface="Times New Roman" panose="02020603050405020304"/>
                        </a:rPr>
                        <a:t>2</a:t>
                      </a:r>
                      <a:endParaRPr sz="2200" baseline="-21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82000"/>
                        </a:lnSpc>
                      </a:pPr>
                      <a:endParaRPr sz="1000" dirty="0">
                        <a:latin typeface="Arial" panose="020B0604020202020204" pitchFamily="34" charset="0"/>
                        <a:ea typeface="Arial" panose="020B0604020202020204" pitchFamily="34" charset="0"/>
                        <a:cs typeface="Arial" panose="020B0604020202020204" pitchFamily="34" charset="0"/>
                      </a:endParaRPr>
                    </a:p>
                    <a:p>
                      <a:pPr marL="43815" algn="l" rtl="0" eaLnBrk="0">
                        <a:lnSpc>
                          <a:spcPct val="71000"/>
                        </a:lnSpc>
                        <a:spcBef>
                          <a:spcPts val="5"/>
                        </a:spcBef>
                      </a:pPr>
                      <a:r>
                        <a:rPr sz="1600" b="1"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86000"/>
                        </a:lnSpc>
                      </a:pP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a</a:t>
                      </a:r>
                      <a:endParaRPr sz="24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82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1000"/>
                        </a:lnSpc>
                        <a:spcBef>
                          <a:spcPts val="5"/>
                        </a:spcBef>
                      </a:pPr>
                      <a:r>
                        <a:rPr sz="1600" b="1" kern="0" spc="-30" dirty="0">
                          <a:solidFill>
                            <a:srgbClr val="000000">
                              <a:alpha val="100000"/>
                            </a:srgbClr>
                          </a:solidFill>
                          <a:latin typeface="Times New Roman" panose="02020603050405020304"/>
                          <a:ea typeface="Times New Roman" panose="02020603050405020304"/>
                          <a:cs typeface="Times New Roman" panose="02020603050405020304"/>
                        </a:rPr>
                        <a:t>23</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82000"/>
                        </a:lnSpc>
                      </a:pPr>
                      <a:endParaRPr sz="1000" dirty="0">
                        <a:latin typeface="Arial" panose="020B0604020202020204" pitchFamily="34" charset="0"/>
                        <a:ea typeface="Arial" panose="020B0604020202020204" pitchFamily="34" charset="0"/>
                        <a:cs typeface="Arial" panose="020B0604020202020204" pitchFamily="34" charset="0"/>
                      </a:endParaRPr>
                    </a:p>
                    <a:p>
                      <a:pPr marL="48895" algn="l" rtl="0" eaLnBrk="0">
                        <a:lnSpc>
                          <a:spcPct val="71000"/>
                        </a:lnSpc>
                        <a:spcBef>
                          <a:spcPts val="5"/>
                        </a:spcBef>
                      </a:pPr>
                      <a:r>
                        <a:rPr sz="1600" b="1" kern="0" spc="-10" dirty="0">
                          <a:solidFill>
                            <a:srgbClr val="000000">
                              <a:alpha val="100000"/>
                            </a:srgbClr>
                          </a:solidFill>
                          <a:latin typeface="Times New Roman" panose="02020603050405020304"/>
                          <a:ea typeface="Times New Roman" panose="02020603050405020304"/>
                          <a:cs typeface="Times New Roman" panose="02020603050405020304"/>
                        </a:rPr>
                        <a:t>24</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91000"/>
                        </a:lnSpc>
                      </a:pPr>
                      <a:r>
                        <a:rPr sz="3500" b="1" i="1" kern="0" spc="-160" baseline="6000" dirty="0">
                          <a:solidFill>
                            <a:srgbClr val="000000">
                              <a:alpha val="100000"/>
                            </a:srgbClr>
                          </a:solidFill>
                          <a:latin typeface="Times New Roman" panose="02020603050405020304"/>
                          <a:ea typeface="Times New Roman" panose="02020603050405020304"/>
                          <a:cs typeface="Times New Roman" panose="02020603050405020304"/>
                        </a:rPr>
                        <a:t>a</a:t>
                      </a:r>
                      <a:r>
                        <a:rPr sz="2300" b="1" kern="0" spc="-10" baseline="-16000" dirty="0">
                          <a:solidFill>
                            <a:srgbClr val="000000">
                              <a:alpha val="100000"/>
                            </a:srgbClr>
                          </a:solidFill>
                          <a:latin typeface="Times New Roman" panose="02020603050405020304"/>
                          <a:ea typeface="Times New Roman" panose="02020603050405020304"/>
                          <a:cs typeface="Times New Roman" panose="02020603050405020304"/>
                        </a:rPr>
                        <a:t>25</a:t>
                      </a:r>
                      <a:endParaRPr sz="2300" baseline="-160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7844">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algn="r" rtl="0" eaLnBrk="0">
                        <a:lnSpc>
                          <a:spcPct val="98000"/>
                        </a:lnSpc>
                        <a:spcBef>
                          <a:spcPts val="5"/>
                        </a:spcBef>
                      </a:pPr>
                      <a:r>
                        <a:rPr sz="3600" b="1" i="1" kern="0" spc="-140" baseline="6000" dirty="0">
                          <a:solidFill>
                            <a:srgbClr val="000000">
                              <a:alpha val="100000"/>
                            </a:srgbClr>
                          </a:solidFill>
                          <a:latin typeface="Times New Roman" panose="02020603050405020304"/>
                          <a:ea typeface="Times New Roman" panose="02020603050405020304"/>
                          <a:cs typeface="Times New Roman" panose="02020603050405020304"/>
                        </a:rPr>
                        <a:t>a</a:t>
                      </a:r>
                      <a:r>
                        <a:rPr sz="2400" b="1" kern="0" spc="-50" baseline="-15000" dirty="0">
                          <a:solidFill>
                            <a:srgbClr val="000000">
                              <a:alpha val="100000"/>
                            </a:srgbClr>
                          </a:solidFill>
                          <a:latin typeface="Times New Roman" panose="02020603050405020304"/>
                          <a:ea typeface="Times New Roman" panose="02020603050405020304"/>
                          <a:cs typeface="Times New Roman" panose="02020603050405020304"/>
                        </a:rPr>
                        <a:t>30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0190" algn="l" rtl="0" eaLnBrk="0">
                        <a:lnSpc>
                          <a:spcPct val="96000"/>
                        </a:lnSpc>
                        <a:spcBef>
                          <a:spcPts val="5"/>
                        </a:spcBef>
                      </a:pPr>
                      <a:r>
                        <a:rPr sz="2400" b="1" i="1" kern="0" spc="-20" dirty="0">
                          <a:solidFill>
                            <a:srgbClr val="000000">
                              <a:alpha val="100000"/>
                            </a:srgbClr>
                          </a:solidFill>
                          <a:latin typeface="Times New Roman" panose="02020603050405020304"/>
                          <a:ea typeface="Times New Roman" panose="02020603050405020304"/>
                          <a:cs typeface="Times New Roman" panose="02020603050405020304"/>
                        </a:rPr>
                        <a:t>a</a:t>
                      </a:r>
                      <a:r>
                        <a:rPr sz="2400" b="1" kern="0" spc="-20" baseline="-20000" dirty="0">
                          <a:solidFill>
                            <a:srgbClr val="000000">
                              <a:alpha val="100000"/>
                            </a:srgbClr>
                          </a:solidFill>
                          <a:latin typeface="Times New Roman" panose="02020603050405020304"/>
                          <a:ea typeface="Times New Roman" panose="02020603050405020304"/>
                          <a:cs typeface="Times New Roman" panose="02020603050405020304"/>
                        </a:rPr>
                        <a:t>3</a:t>
                      </a:r>
                      <a:endParaRPr sz="2400" baseline="-20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82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7000"/>
                        </a:lnSpc>
                        <a:spcBef>
                          <a:spcPts val="0"/>
                        </a:spcBef>
                      </a:pPr>
                      <a:r>
                        <a:rPr sz="1600" b="1" kern="0" spc="-10" dirty="0">
                          <a:solidFill>
                            <a:srgbClr val="000000">
                              <a:alpha val="100000"/>
                            </a:srgbClr>
                          </a:solidFill>
                          <a:latin typeface="Times New Roman" panose="02020603050405020304"/>
                          <a:ea typeface="Times New Roman" panose="02020603050405020304"/>
                          <a:cs typeface="Times New Roman" panose="02020603050405020304"/>
                        </a:rPr>
                        <a:t>1</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algn="r" rtl="0" eaLnBrk="0">
                        <a:lnSpc>
                          <a:spcPts val="2720"/>
                        </a:lnSpc>
                        <a:spcBef>
                          <a:spcPts val="5"/>
                        </a:spcBef>
                      </a:pPr>
                      <a:r>
                        <a:rPr sz="2200" b="1" i="1" kern="0" spc="-140" dirty="0">
                          <a:solidFill>
                            <a:srgbClr val="000000">
                              <a:alpha val="100000"/>
                            </a:srgbClr>
                          </a:solidFill>
                          <a:latin typeface="Times New Roman" panose="02020603050405020304"/>
                          <a:ea typeface="Times New Roman" panose="02020603050405020304"/>
                          <a:cs typeface="Times New Roman" panose="02020603050405020304"/>
                        </a:rPr>
                        <a:t>a</a:t>
                      </a:r>
                      <a:r>
                        <a:rPr sz="2200" b="1" kern="0" spc="-30" baseline="-6000" dirty="0">
                          <a:solidFill>
                            <a:srgbClr val="000000">
                              <a:alpha val="100000"/>
                            </a:srgbClr>
                          </a:solidFill>
                          <a:latin typeface="Times New Roman" panose="02020603050405020304"/>
                          <a:ea typeface="Times New Roman" panose="02020603050405020304"/>
                          <a:cs typeface="Times New Roman" panose="02020603050405020304"/>
                        </a:rPr>
                        <a:t>3</a:t>
                      </a:r>
                      <a:endParaRPr sz="2200" baseline="-6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82000"/>
                        </a:lnSpc>
                      </a:pPr>
                      <a:endParaRPr sz="1000" dirty="0">
                        <a:latin typeface="Arial" panose="020B0604020202020204" pitchFamily="34" charset="0"/>
                        <a:ea typeface="Arial" panose="020B0604020202020204" pitchFamily="34" charset="0"/>
                        <a:cs typeface="Arial" panose="020B0604020202020204" pitchFamily="34" charset="0"/>
                      </a:endParaRPr>
                    </a:p>
                    <a:p>
                      <a:pPr marL="43815" algn="l" rtl="0" eaLnBrk="0">
                        <a:lnSpc>
                          <a:spcPct val="77000"/>
                        </a:lnSpc>
                        <a:spcBef>
                          <a:spcPts val="0"/>
                        </a:spcBef>
                      </a:pPr>
                      <a:r>
                        <a:rPr sz="1600" b="1"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900" dirty="0">
                        <a:latin typeface="Arial" panose="020B0604020202020204" pitchFamily="34" charset="0"/>
                        <a:ea typeface="Arial" panose="020B0604020202020204" pitchFamily="34" charset="0"/>
                        <a:cs typeface="Arial" panose="020B0604020202020204" pitchFamily="34" charset="0"/>
                      </a:endParaRPr>
                    </a:p>
                    <a:p>
                      <a:pPr algn="r" rtl="0" eaLnBrk="0">
                        <a:lnSpc>
                          <a:spcPct val="93000"/>
                        </a:lnSpc>
                        <a:spcBef>
                          <a:spcPts val="5"/>
                        </a:spcBef>
                      </a:pP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a</a:t>
                      </a:r>
                      <a:endParaRPr sz="24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8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algn="l" rtl="0" eaLnBrk="0">
                        <a:lnSpc>
                          <a:spcPct val="77000"/>
                        </a:lnSpc>
                      </a:pPr>
                      <a:r>
                        <a:rPr sz="1600" b="1" kern="0" spc="-30" dirty="0">
                          <a:solidFill>
                            <a:srgbClr val="000000">
                              <a:alpha val="100000"/>
                            </a:srgbClr>
                          </a:solidFill>
                          <a:latin typeface="Times New Roman" panose="02020603050405020304"/>
                          <a:ea typeface="Times New Roman" panose="02020603050405020304"/>
                          <a:cs typeface="Times New Roman" panose="02020603050405020304"/>
                        </a:rPr>
                        <a:t>33</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8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46990" algn="l" rtl="0" eaLnBrk="0">
                        <a:lnSpc>
                          <a:spcPct val="77000"/>
                        </a:lnSpc>
                      </a:pPr>
                      <a:r>
                        <a:rPr sz="1600" b="1" kern="0" spc="-10" dirty="0">
                          <a:solidFill>
                            <a:srgbClr val="000000">
                              <a:alpha val="100000"/>
                            </a:srgbClr>
                          </a:solidFill>
                          <a:latin typeface="Times New Roman" panose="02020603050405020304"/>
                          <a:ea typeface="Times New Roman" panose="02020603050405020304"/>
                          <a:cs typeface="Times New Roman" panose="02020603050405020304"/>
                        </a:rPr>
                        <a:t>34</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9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spcBef>
                          <a:spcPts val="5"/>
                        </a:spcBef>
                      </a:pPr>
                      <a:r>
                        <a:rPr sz="3500" b="1" i="1" kern="0" spc="-160" baseline="6000" dirty="0">
                          <a:solidFill>
                            <a:srgbClr val="000000">
                              <a:alpha val="100000"/>
                            </a:srgbClr>
                          </a:solidFill>
                          <a:latin typeface="Times New Roman" panose="02020603050405020304"/>
                          <a:ea typeface="Times New Roman" panose="02020603050405020304"/>
                          <a:cs typeface="Times New Roman" panose="02020603050405020304"/>
                        </a:rPr>
                        <a:t>a</a:t>
                      </a:r>
                      <a:r>
                        <a:rPr sz="2300" b="1" kern="0" spc="-10" baseline="-16000" dirty="0">
                          <a:solidFill>
                            <a:srgbClr val="000000">
                              <a:alpha val="100000"/>
                            </a:srgbClr>
                          </a:solidFill>
                          <a:latin typeface="Times New Roman" panose="02020603050405020304"/>
                          <a:ea typeface="Times New Roman" panose="02020603050405020304"/>
                          <a:cs typeface="Times New Roman" panose="02020603050405020304"/>
                        </a:rPr>
                        <a:t>35</a:t>
                      </a:r>
                      <a:endParaRPr sz="2300" baseline="-160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86" name="path 186"/>
          <p:cNvSpPr/>
          <p:nvPr/>
        </p:nvSpPr>
        <p:spPr>
          <a:xfrm>
            <a:off x="9671642" y="1904798"/>
            <a:ext cx="800948" cy="1948074"/>
          </a:xfrm>
          <a:custGeom>
            <a:avLst/>
            <a:gdLst/>
            <a:ahLst/>
            <a:cxnLst/>
            <a:rect l="0" t="0" r="0" b="0"/>
            <a:pathLst>
              <a:path w="1261" h="3067">
                <a:moveTo>
                  <a:pt x="6" y="3065"/>
                </a:moveTo>
                <a:lnTo>
                  <a:pt x="1254" y="2"/>
                </a:lnTo>
              </a:path>
            </a:pathLst>
          </a:custGeom>
          <a:noFill/>
          <a:ln w="9143" cap="flat">
            <a:solidFill>
              <a:srgbClr val="000000"/>
            </a:solidFill>
            <a:prstDash val="solid"/>
            <a:round/>
          </a:ln>
        </p:spPr>
        <p:txBody>
          <a:bodyPr rtlCol="0"/>
          <a:lstStyle/>
          <a:p>
            <a:pPr algn="ctr"/>
            <a:endParaRPr lang="zh-CN" altLang="en-US"/>
          </a:p>
        </p:txBody>
      </p:sp>
      <p:sp>
        <p:nvSpPr>
          <p:cNvPr id="188" name="path 188"/>
          <p:cNvSpPr/>
          <p:nvPr/>
        </p:nvSpPr>
        <p:spPr>
          <a:xfrm>
            <a:off x="8879162" y="1904798"/>
            <a:ext cx="800947" cy="1948074"/>
          </a:xfrm>
          <a:custGeom>
            <a:avLst/>
            <a:gdLst/>
            <a:ahLst/>
            <a:cxnLst/>
            <a:rect l="0" t="0" r="0" b="0"/>
            <a:pathLst>
              <a:path w="1261" h="3067">
                <a:moveTo>
                  <a:pt x="6" y="3065"/>
                </a:moveTo>
                <a:lnTo>
                  <a:pt x="1254" y="2"/>
                </a:lnTo>
              </a:path>
            </a:pathLst>
          </a:custGeom>
          <a:noFill/>
          <a:ln w="9143" cap="flat">
            <a:solidFill>
              <a:srgbClr val="000000"/>
            </a:solidFill>
            <a:prstDash val="solid"/>
            <a:round/>
          </a:ln>
        </p:spPr>
        <p:txBody>
          <a:bodyPr rtlCol="0"/>
          <a:lstStyle/>
          <a:p>
            <a:pPr algn="ctr"/>
            <a:endParaRPr lang="zh-CN" altLang="en-US"/>
          </a:p>
        </p:txBody>
      </p:sp>
      <p:sp>
        <p:nvSpPr>
          <p:cNvPr id="190" name="path 190"/>
          <p:cNvSpPr/>
          <p:nvPr/>
        </p:nvSpPr>
        <p:spPr>
          <a:xfrm>
            <a:off x="8086682" y="1904798"/>
            <a:ext cx="800948" cy="1948074"/>
          </a:xfrm>
          <a:custGeom>
            <a:avLst/>
            <a:gdLst/>
            <a:ahLst/>
            <a:cxnLst/>
            <a:rect l="0" t="0" r="0" b="0"/>
            <a:pathLst>
              <a:path w="1261" h="3067">
                <a:moveTo>
                  <a:pt x="6" y="3065"/>
                </a:moveTo>
                <a:lnTo>
                  <a:pt x="1254" y="2"/>
                </a:lnTo>
              </a:path>
            </a:pathLst>
          </a:custGeom>
          <a:noFill/>
          <a:ln w="9143" cap="flat">
            <a:solidFill>
              <a:srgbClr val="000000"/>
            </a:solidFill>
            <a:prstDash val="solid"/>
            <a:round/>
          </a:ln>
        </p:spPr>
        <p:txBody>
          <a:bodyPr rtlCol="0"/>
          <a:lstStyle/>
          <a:p>
            <a:pPr algn="ctr"/>
            <a:endParaRPr lang="zh-CN" altLang="en-US"/>
          </a:p>
        </p:txBody>
      </p:sp>
      <p:graphicFrame>
        <p:nvGraphicFramePr>
          <p:cNvPr id="192" name="table 192"/>
          <p:cNvGraphicFramePr>
            <a:graphicFrameLocks noGrp="1"/>
          </p:cNvGraphicFramePr>
          <p:nvPr/>
        </p:nvGraphicFramePr>
        <p:xfrm>
          <a:off x="7537450" y="1906524"/>
          <a:ext cx="3517900" cy="2014220"/>
        </p:xfrm>
        <a:graphic>
          <a:graphicData uri="http://schemas.openxmlformats.org/drawingml/2006/table">
            <a:tbl>
              <a:tblPr/>
              <a:tblGrid>
                <a:gridCol w="553719"/>
                <a:gridCol w="329564"/>
                <a:gridCol w="463550"/>
                <a:gridCol w="413384"/>
                <a:gridCol w="379729"/>
                <a:gridCol w="497205"/>
                <a:gridCol w="295909"/>
                <a:gridCol w="584834"/>
              </a:tblGrid>
              <a:tr h="561975">
                <a:tc>
                  <a:txBody>
                    <a:bodyPr/>
                    <a:lstStyle/>
                    <a:p>
                      <a:pPr algn="l" rtl="0" eaLnBrk="0">
                        <a:lnSpc>
                          <a:spcPct val="158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9000"/>
                        </a:lnSpc>
                      </a:pPr>
                      <a:r>
                        <a:rPr sz="3200" b="1" i="1" kern="0" spc="-70" baseline="7000" dirty="0">
                          <a:solidFill>
                            <a:srgbClr val="000000">
                              <a:alpha val="100000"/>
                            </a:srgbClr>
                          </a:solidFill>
                          <a:latin typeface="Times New Roman" panose="02020603050405020304"/>
                          <a:ea typeface="Times New Roman" panose="02020603050405020304"/>
                          <a:cs typeface="Times New Roman" panose="02020603050405020304"/>
                        </a:rPr>
                        <a:t>k</a:t>
                      </a:r>
                      <a:r>
                        <a:rPr sz="2100" b="1" kern="0" spc="-60" baseline="-17000" dirty="0">
                          <a:solidFill>
                            <a:srgbClr val="000000">
                              <a:alpha val="100000"/>
                            </a:srgbClr>
                          </a:solidFill>
                          <a:latin typeface="Times New Roman" panose="02020603050405020304"/>
                          <a:ea typeface="Times New Roman" panose="02020603050405020304"/>
                          <a:cs typeface="Times New Roman" panose="02020603050405020304"/>
                        </a:rPr>
                        <a:t>0</a:t>
                      </a:r>
                      <a:r>
                        <a:rPr sz="2100" b="1" kern="0" spc="-50" baseline="-17000" dirty="0">
                          <a:solidFill>
                            <a:srgbClr val="000000">
                              <a:alpha val="100000"/>
                            </a:srgbClr>
                          </a:solidFill>
                          <a:latin typeface="Times New Roman" panose="02020603050405020304"/>
                          <a:ea typeface="Times New Roman" panose="02020603050405020304"/>
                          <a:cs typeface="Times New Roman" panose="02020603050405020304"/>
                        </a:rPr>
                        <a:t>0</a:t>
                      </a:r>
                      <a:endParaRPr sz="2100" baseline="-17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58000"/>
                        </a:lnSpc>
                      </a:pPr>
                      <a:endParaRPr sz="10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86000"/>
                        </a:lnSpc>
                        <a:spcBef>
                          <a:spcPts val="5"/>
                        </a:spcBef>
                      </a:pP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k</a:t>
                      </a:r>
                      <a:endParaRPr sz="24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2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algn="l" rtl="0" eaLnBrk="0">
                        <a:lnSpc>
                          <a:spcPct val="76000"/>
                        </a:lnSpc>
                      </a:pPr>
                      <a:r>
                        <a:rPr sz="1500" b="1" kern="0" spc="-60" dirty="0">
                          <a:solidFill>
                            <a:srgbClr val="000000">
                              <a:alpha val="100000"/>
                            </a:srgbClr>
                          </a:solidFill>
                          <a:latin typeface="Times New Roman" panose="02020603050405020304"/>
                          <a:ea typeface="Times New Roman" panose="02020603050405020304"/>
                          <a:cs typeface="Times New Roman" panose="02020603050405020304"/>
                        </a:rPr>
                        <a:t>01</a:t>
                      </a:r>
                      <a:endParaRPr sz="15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58000"/>
                        </a:lnSpc>
                      </a:pPr>
                      <a:endParaRPr sz="1000" dirty="0">
                        <a:latin typeface="Arial" panose="020B0604020202020204" pitchFamily="34" charset="0"/>
                        <a:ea typeface="Arial" panose="020B0604020202020204" pitchFamily="34" charset="0"/>
                        <a:cs typeface="Arial" panose="020B0604020202020204" pitchFamily="34" charset="0"/>
                      </a:endParaRPr>
                    </a:p>
                    <a:p>
                      <a:pPr algn="r" rtl="0" eaLnBrk="0">
                        <a:lnSpc>
                          <a:spcPts val="2475"/>
                        </a:lnSpc>
                        <a:spcBef>
                          <a:spcPts val="0"/>
                        </a:spcBef>
                      </a:pPr>
                      <a:r>
                        <a:rPr sz="2000" b="1" i="1" kern="0" spc="-70" dirty="0">
                          <a:solidFill>
                            <a:srgbClr val="000000">
                              <a:alpha val="100000"/>
                            </a:srgbClr>
                          </a:solidFill>
                          <a:latin typeface="Times New Roman" panose="02020603050405020304"/>
                          <a:ea typeface="Times New Roman" panose="02020603050405020304"/>
                          <a:cs typeface="Times New Roman" panose="02020603050405020304"/>
                        </a:rPr>
                        <a:t>k</a:t>
                      </a:r>
                      <a:endParaRPr sz="2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2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6000"/>
                        </a:lnSpc>
                      </a:pPr>
                      <a:endParaRPr sz="1000" dirty="0">
                        <a:latin typeface="Arial" panose="020B0604020202020204" pitchFamily="34" charset="0"/>
                        <a:ea typeface="Arial" panose="020B0604020202020204" pitchFamily="34" charset="0"/>
                        <a:cs typeface="Arial" panose="020B0604020202020204" pitchFamily="34" charset="0"/>
                      </a:endParaRPr>
                    </a:p>
                    <a:p>
                      <a:pPr marL="37465" algn="l" rtl="0" eaLnBrk="0">
                        <a:lnSpc>
                          <a:spcPct val="71000"/>
                        </a:lnSpc>
                      </a:pPr>
                      <a:r>
                        <a:rPr sz="1600" b="1" kern="0" spc="-20" dirty="0">
                          <a:solidFill>
                            <a:srgbClr val="000000">
                              <a:alpha val="100000"/>
                            </a:srgbClr>
                          </a:solidFill>
                          <a:latin typeface="Times New Roman" panose="02020603050405020304"/>
                          <a:ea typeface="Times New Roman" panose="02020603050405020304"/>
                          <a:cs typeface="Times New Roman" panose="02020603050405020304"/>
                        </a:rPr>
                        <a:t>02</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58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algn="l" rtl="0" eaLnBrk="0">
                        <a:lnSpc>
                          <a:spcPct val="88000"/>
                        </a:lnSpc>
                      </a:pPr>
                      <a:r>
                        <a:rPr sz="3600" b="1" i="1" kern="0" spc="-10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40" baseline="-15000" dirty="0">
                          <a:solidFill>
                            <a:srgbClr val="000000">
                              <a:alpha val="100000"/>
                            </a:srgbClr>
                          </a:solidFill>
                          <a:latin typeface="Times New Roman" panose="02020603050405020304"/>
                          <a:ea typeface="Times New Roman" panose="02020603050405020304"/>
                          <a:cs typeface="Times New Roman" panose="02020603050405020304"/>
                        </a:rPr>
                        <a:t>03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200">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algn="r" rtl="0" eaLnBrk="0">
                        <a:lnSpc>
                          <a:spcPct val="99000"/>
                        </a:lnSpc>
                        <a:spcBef>
                          <a:spcPts val="5"/>
                        </a:spcBef>
                      </a:pPr>
                      <a:r>
                        <a:rPr sz="3200" b="1" i="1" kern="0" spc="-70" baseline="5000" dirty="0">
                          <a:solidFill>
                            <a:srgbClr val="000000">
                              <a:alpha val="100000"/>
                            </a:srgbClr>
                          </a:solidFill>
                          <a:latin typeface="Times New Roman" panose="02020603050405020304"/>
                          <a:ea typeface="Times New Roman" panose="02020603050405020304"/>
                          <a:cs typeface="Times New Roman" panose="02020603050405020304"/>
                        </a:rPr>
                        <a:t>k</a:t>
                      </a:r>
                      <a:r>
                        <a:rPr sz="2100" b="1" kern="0" spc="-60" baseline="-17000" dirty="0">
                          <a:solidFill>
                            <a:srgbClr val="000000">
                              <a:alpha val="100000"/>
                            </a:srgbClr>
                          </a:solidFill>
                          <a:latin typeface="Times New Roman" panose="02020603050405020304"/>
                          <a:ea typeface="Times New Roman" panose="02020603050405020304"/>
                          <a:cs typeface="Times New Roman" panose="02020603050405020304"/>
                        </a:rPr>
                        <a:t>1</a:t>
                      </a:r>
                      <a:r>
                        <a:rPr sz="2100" b="1" kern="0" spc="-50" baseline="-17000" dirty="0">
                          <a:solidFill>
                            <a:srgbClr val="000000">
                              <a:alpha val="100000"/>
                            </a:srgbClr>
                          </a:solidFill>
                          <a:latin typeface="Times New Roman" panose="02020603050405020304"/>
                          <a:ea typeface="Times New Roman" panose="02020603050405020304"/>
                          <a:cs typeface="Times New Roman" panose="02020603050405020304"/>
                        </a:rPr>
                        <a:t>0</a:t>
                      </a:r>
                      <a:endParaRPr sz="2100" baseline="-17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266065" algn="l" rtl="0" eaLnBrk="0">
                        <a:lnSpc>
                          <a:spcPct val="86000"/>
                        </a:lnSpc>
                      </a:pP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k</a:t>
                      </a:r>
                      <a:endParaRPr sz="24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8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algn="l" rtl="0" eaLnBrk="0">
                        <a:lnSpc>
                          <a:spcPct val="76000"/>
                        </a:lnSpc>
                      </a:pPr>
                      <a:r>
                        <a:rPr sz="1500" b="1" kern="0" spc="-70" dirty="0">
                          <a:solidFill>
                            <a:srgbClr val="000000">
                              <a:alpha val="100000"/>
                            </a:srgbClr>
                          </a:solidFill>
                          <a:latin typeface="Times New Roman" panose="02020603050405020304"/>
                          <a:ea typeface="Times New Roman" panose="02020603050405020304"/>
                          <a:cs typeface="Times New Roman" panose="02020603050405020304"/>
                        </a:rPr>
                        <a:t>11</a:t>
                      </a:r>
                      <a:endParaRPr sz="15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r" rtl="0" eaLnBrk="0">
                        <a:lnSpc>
                          <a:spcPts val="2480"/>
                        </a:lnSpc>
                        <a:spcBef>
                          <a:spcPts val="5"/>
                        </a:spcBef>
                      </a:pPr>
                      <a:r>
                        <a:rPr sz="2000" b="1" i="1" kern="0" spc="-70" dirty="0">
                          <a:solidFill>
                            <a:srgbClr val="000000">
                              <a:alpha val="100000"/>
                            </a:srgbClr>
                          </a:solidFill>
                          <a:latin typeface="Times New Roman" panose="02020603050405020304"/>
                          <a:ea typeface="Times New Roman" panose="02020603050405020304"/>
                          <a:cs typeface="Times New Roman" panose="02020603050405020304"/>
                        </a:rPr>
                        <a:t>k</a:t>
                      </a:r>
                      <a:endParaRPr sz="2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82000"/>
                        </a:lnSpc>
                      </a:pPr>
                      <a:endParaRPr sz="1000" dirty="0">
                        <a:latin typeface="Arial" panose="020B0604020202020204" pitchFamily="34" charset="0"/>
                        <a:ea typeface="Arial" panose="020B0604020202020204" pitchFamily="34" charset="0"/>
                        <a:cs typeface="Arial" panose="020B0604020202020204" pitchFamily="34" charset="0"/>
                      </a:endParaRPr>
                    </a:p>
                    <a:p>
                      <a:pPr marL="43815" algn="l" rtl="0" eaLnBrk="0">
                        <a:lnSpc>
                          <a:spcPct val="71000"/>
                        </a:lnSpc>
                        <a:spcBef>
                          <a:spcPts val="5"/>
                        </a:spcBef>
                      </a:pPr>
                      <a:r>
                        <a:rPr sz="1600" b="1" kern="0" spc="-30" dirty="0">
                          <a:solidFill>
                            <a:srgbClr val="000000">
                              <a:alpha val="100000"/>
                            </a:srgbClr>
                          </a:solidFill>
                          <a:latin typeface="Times New Roman" panose="02020603050405020304"/>
                          <a:ea typeface="Times New Roman" panose="02020603050405020304"/>
                          <a:cs typeface="Times New Roman" panose="02020603050405020304"/>
                        </a:rPr>
                        <a:t>12</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88000"/>
                        </a:lnSpc>
                        <a:spcBef>
                          <a:spcPts val="5"/>
                        </a:spcBef>
                      </a:pPr>
                      <a:r>
                        <a:rPr sz="3600" b="1" i="1" kern="0" spc="-5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50" baseline="-15000" dirty="0">
                          <a:solidFill>
                            <a:srgbClr val="000000">
                              <a:alpha val="100000"/>
                            </a:srgbClr>
                          </a:solidFill>
                          <a:latin typeface="Times New Roman" panose="02020603050405020304"/>
                          <a:ea typeface="Times New Roman" panose="02020603050405020304"/>
                          <a:cs typeface="Times New Roman" panose="02020603050405020304"/>
                        </a:rPr>
                        <a:t>13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200">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algn="r" rtl="0" eaLnBrk="0">
                        <a:lnSpc>
                          <a:spcPct val="99000"/>
                        </a:lnSpc>
                        <a:spcBef>
                          <a:spcPts val="5"/>
                        </a:spcBef>
                      </a:pPr>
                      <a:r>
                        <a:rPr sz="3200" b="1" i="1" kern="0" spc="-70" baseline="5000" dirty="0">
                          <a:solidFill>
                            <a:srgbClr val="000000">
                              <a:alpha val="100000"/>
                            </a:srgbClr>
                          </a:solidFill>
                          <a:latin typeface="Times New Roman" panose="02020603050405020304"/>
                          <a:ea typeface="Times New Roman" panose="02020603050405020304"/>
                          <a:cs typeface="Times New Roman" panose="02020603050405020304"/>
                        </a:rPr>
                        <a:t>k</a:t>
                      </a:r>
                      <a:r>
                        <a:rPr sz="2100" b="1" kern="0" spc="-60" baseline="-17000" dirty="0">
                          <a:solidFill>
                            <a:srgbClr val="000000">
                              <a:alpha val="100000"/>
                            </a:srgbClr>
                          </a:solidFill>
                          <a:latin typeface="Times New Roman" panose="02020603050405020304"/>
                          <a:ea typeface="Times New Roman" panose="02020603050405020304"/>
                          <a:cs typeface="Times New Roman" panose="02020603050405020304"/>
                        </a:rPr>
                        <a:t>2</a:t>
                      </a:r>
                      <a:r>
                        <a:rPr sz="2100" b="1" kern="0" spc="-50" baseline="-17000" dirty="0">
                          <a:solidFill>
                            <a:srgbClr val="000000">
                              <a:alpha val="100000"/>
                            </a:srgbClr>
                          </a:solidFill>
                          <a:latin typeface="Times New Roman" panose="02020603050405020304"/>
                          <a:ea typeface="Times New Roman" panose="02020603050405020304"/>
                          <a:cs typeface="Times New Roman" panose="02020603050405020304"/>
                        </a:rPr>
                        <a:t>0</a:t>
                      </a:r>
                      <a:endParaRPr sz="2100" baseline="-17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86000"/>
                        </a:lnSpc>
                      </a:pP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k</a:t>
                      </a:r>
                      <a:endParaRPr sz="24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8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algn="l" rtl="0" eaLnBrk="0">
                        <a:lnSpc>
                          <a:spcPct val="76000"/>
                        </a:lnSpc>
                      </a:pPr>
                      <a:r>
                        <a:rPr sz="1500" b="1" kern="0" spc="-60" dirty="0">
                          <a:solidFill>
                            <a:srgbClr val="000000">
                              <a:alpha val="100000"/>
                            </a:srgbClr>
                          </a:solidFill>
                          <a:latin typeface="Times New Roman" panose="02020603050405020304"/>
                          <a:ea typeface="Times New Roman" panose="02020603050405020304"/>
                          <a:cs typeface="Times New Roman" panose="02020603050405020304"/>
                        </a:rPr>
                        <a:t>21</a:t>
                      </a:r>
                      <a:endParaRPr sz="15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algn="r" rtl="0" eaLnBrk="0">
                        <a:lnSpc>
                          <a:spcPts val="2475"/>
                        </a:lnSpc>
                        <a:spcBef>
                          <a:spcPts val="0"/>
                        </a:spcBef>
                      </a:pPr>
                      <a:r>
                        <a:rPr sz="2000" b="1" i="1" kern="0" spc="-70" dirty="0">
                          <a:solidFill>
                            <a:srgbClr val="000000">
                              <a:alpha val="100000"/>
                            </a:srgbClr>
                          </a:solidFill>
                          <a:latin typeface="Times New Roman" panose="02020603050405020304"/>
                          <a:ea typeface="Times New Roman" panose="02020603050405020304"/>
                          <a:cs typeface="Times New Roman" panose="02020603050405020304"/>
                        </a:rPr>
                        <a:t>k</a:t>
                      </a:r>
                      <a:endParaRPr sz="2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82000"/>
                        </a:lnSpc>
                      </a:pPr>
                      <a:endParaRPr sz="1000" dirty="0">
                        <a:latin typeface="Arial" panose="020B0604020202020204" pitchFamily="34" charset="0"/>
                        <a:ea typeface="Arial" panose="020B0604020202020204" pitchFamily="34" charset="0"/>
                        <a:cs typeface="Arial" panose="020B0604020202020204" pitchFamily="34" charset="0"/>
                      </a:endParaRPr>
                    </a:p>
                    <a:p>
                      <a:pPr marL="34925" algn="l" rtl="0" eaLnBrk="0">
                        <a:lnSpc>
                          <a:spcPct val="71000"/>
                        </a:lnSpc>
                        <a:spcBef>
                          <a:spcPts val="5"/>
                        </a:spcBef>
                      </a:pPr>
                      <a:r>
                        <a:rPr sz="1600" b="1" kern="0" spc="-10" dirty="0">
                          <a:solidFill>
                            <a:srgbClr val="000000">
                              <a:alpha val="100000"/>
                            </a:srgbClr>
                          </a:solidFill>
                          <a:latin typeface="Times New Roman" panose="02020603050405020304"/>
                          <a:ea typeface="Times New Roman" panose="02020603050405020304"/>
                          <a:cs typeface="Times New Roman" panose="02020603050405020304"/>
                        </a:rPr>
                        <a:t>22</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88000"/>
                        </a:lnSpc>
                        <a:spcBef>
                          <a:spcPts val="5"/>
                        </a:spcBef>
                      </a:pPr>
                      <a:r>
                        <a:rPr sz="3600" b="1" i="1" kern="0" spc="-10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40" baseline="-15000" dirty="0">
                          <a:solidFill>
                            <a:srgbClr val="000000">
                              <a:alpha val="100000"/>
                            </a:srgbClr>
                          </a:solidFill>
                          <a:latin typeface="Times New Roman" panose="02020603050405020304"/>
                          <a:ea typeface="Times New Roman" panose="02020603050405020304"/>
                          <a:cs typeface="Times New Roman" panose="02020603050405020304"/>
                        </a:rPr>
                        <a:t>23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7844">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algn="r" rtl="0" eaLnBrk="0">
                        <a:lnSpc>
                          <a:spcPts val="2700"/>
                        </a:lnSpc>
                        <a:spcBef>
                          <a:spcPts val="5"/>
                        </a:spcBef>
                      </a:pPr>
                      <a:r>
                        <a:rPr sz="3200" b="1" i="1" kern="0" spc="-70" baseline="10000" dirty="0">
                          <a:solidFill>
                            <a:srgbClr val="000000">
                              <a:alpha val="100000"/>
                            </a:srgbClr>
                          </a:solidFill>
                          <a:latin typeface="Times New Roman" panose="02020603050405020304"/>
                          <a:ea typeface="Times New Roman" panose="02020603050405020304"/>
                          <a:cs typeface="Times New Roman" panose="02020603050405020304"/>
                        </a:rPr>
                        <a:t>k</a:t>
                      </a:r>
                      <a:r>
                        <a:rPr sz="2100" b="1" kern="0" spc="-60" baseline="-12000" dirty="0">
                          <a:solidFill>
                            <a:srgbClr val="000000">
                              <a:alpha val="100000"/>
                            </a:srgbClr>
                          </a:solidFill>
                          <a:latin typeface="Times New Roman" panose="02020603050405020304"/>
                          <a:ea typeface="Times New Roman" panose="02020603050405020304"/>
                          <a:cs typeface="Times New Roman" panose="02020603050405020304"/>
                        </a:rPr>
                        <a:t>3</a:t>
                      </a:r>
                      <a:r>
                        <a:rPr sz="2100" b="1" kern="0" spc="-50" baseline="-12000" dirty="0">
                          <a:solidFill>
                            <a:srgbClr val="000000">
                              <a:alpha val="100000"/>
                            </a:srgbClr>
                          </a:solidFill>
                          <a:latin typeface="Times New Roman" panose="02020603050405020304"/>
                          <a:ea typeface="Times New Roman" panose="02020603050405020304"/>
                          <a:cs typeface="Times New Roman" panose="02020603050405020304"/>
                        </a:rPr>
                        <a:t>0</a:t>
                      </a:r>
                      <a:endParaRPr sz="2100" baseline="-12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94000"/>
                        </a:lnSpc>
                      </a:pP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k</a:t>
                      </a:r>
                      <a:endParaRPr sz="24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83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0"/>
                        </a:lnSpc>
                        <a:spcBef>
                          <a:spcPts val="5"/>
                        </a:spcBef>
                      </a:pPr>
                      <a:r>
                        <a:rPr sz="1500" b="1" kern="0" spc="-60" dirty="0">
                          <a:solidFill>
                            <a:srgbClr val="000000">
                              <a:alpha val="100000"/>
                            </a:srgbClr>
                          </a:solidFill>
                          <a:latin typeface="Times New Roman" panose="02020603050405020304"/>
                          <a:ea typeface="Times New Roman" panose="02020603050405020304"/>
                          <a:cs typeface="Times New Roman" panose="02020603050405020304"/>
                        </a:rPr>
                        <a:t>31</a:t>
                      </a:r>
                      <a:endParaRPr sz="15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algn="r" rtl="0" eaLnBrk="0">
                        <a:lnSpc>
                          <a:spcPts val="2610"/>
                        </a:lnSpc>
                        <a:spcBef>
                          <a:spcPts val="5"/>
                        </a:spcBef>
                      </a:pPr>
                      <a:r>
                        <a:rPr sz="2000" b="1" i="1" kern="0" spc="-70" dirty="0">
                          <a:solidFill>
                            <a:srgbClr val="000000">
                              <a:alpha val="100000"/>
                            </a:srgbClr>
                          </a:solidFill>
                          <a:latin typeface="Times New Roman" panose="02020603050405020304"/>
                          <a:ea typeface="Times New Roman" panose="02020603050405020304"/>
                          <a:cs typeface="Times New Roman" panose="02020603050405020304"/>
                        </a:rPr>
                        <a:t>k</a:t>
                      </a:r>
                      <a:endParaRPr sz="2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8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33655" algn="l" rtl="0" eaLnBrk="0">
                        <a:lnSpc>
                          <a:spcPct val="77000"/>
                        </a:lnSpc>
                      </a:pPr>
                      <a:r>
                        <a:rPr sz="1600" b="1" kern="0" spc="-10" dirty="0">
                          <a:solidFill>
                            <a:srgbClr val="000000">
                              <a:alpha val="100000"/>
                            </a:srgbClr>
                          </a:solidFill>
                          <a:latin typeface="Times New Roman" panose="02020603050405020304"/>
                          <a:ea typeface="Times New Roman" panose="02020603050405020304"/>
                          <a:cs typeface="Times New Roman" panose="02020603050405020304"/>
                        </a:rPr>
                        <a:t>32</a:t>
                      </a:r>
                      <a:endParaRPr sz="1600" dirty="0">
                        <a:latin typeface="Times New Roman" panose="02020603050405020304"/>
                        <a:ea typeface="Times New Roman" panose="02020603050405020304"/>
                        <a:cs typeface="Times New Roman" panose="02020603050405020304"/>
                      </a:endParaRPr>
                    </a:p>
                  </a:txBody>
                  <a:tcPr marL="0" marR="0" marT="0" marB="0" vert="horz">
                    <a:lnL w="762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9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algn="l" rtl="0" eaLnBrk="0">
                        <a:lnSpc>
                          <a:spcPct val="98000"/>
                        </a:lnSpc>
                      </a:pPr>
                      <a:r>
                        <a:rPr sz="3600" b="1" i="1" kern="0" spc="-10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40" baseline="-15000" dirty="0">
                          <a:solidFill>
                            <a:srgbClr val="000000">
                              <a:alpha val="100000"/>
                            </a:srgbClr>
                          </a:solidFill>
                          <a:latin typeface="Times New Roman" panose="02020603050405020304"/>
                          <a:ea typeface="Times New Roman" panose="02020603050405020304"/>
                          <a:cs typeface="Times New Roman" panose="02020603050405020304"/>
                        </a:rPr>
                        <a:t>33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94" name="textbox 194"/>
          <p:cNvSpPr/>
          <p:nvPr/>
        </p:nvSpPr>
        <p:spPr>
          <a:xfrm>
            <a:off x="1546195" y="491245"/>
            <a:ext cx="8971915" cy="572134"/>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110000"/>
              </a:lnSpc>
              <a:tabLst>
                <a:tab pos="8958580" algn="l"/>
              </a:tabLst>
            </a:pPr>
            <a:r>
              <a:rPr sz="4900" b="1" u="sng" kern="0" spc="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N</a:t>
            </a:r>
            <a:r>
              <a:rPr sz="2100" b="1" u="sng" kern="0" spc="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b</a:t>
            </a:r>
            <a:r>
              <a:rPr sz="4900" b="1" u="sng" kern="0" spc="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=6和N</a:t>
            </a:r>
            <a:r>
              <a:rPr sz="2100" b="1" u="sng" kern="0" spc="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k</a:t>
            </a:r>
            <a:r>
              <a:rPr sz="4900" b="1" u="sng" kern="0" spc="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=4的状态</a:t>
            </a:r>
            <a:r>
              <a:rPr lang="en-US" sz="4900" b="1" u="sng" kern="0" spc="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state</a:t>
            </a:r>
            <a:r>
              <a:rPr sz="4900" b="1" u="sng" kern="0" spc="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密钥阵列</a:t>
            </a:r>
            <a:r>
              <a:rPr sz="3100" u="sng" kern="0" spc="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100" dirty="0">
              <a:latin typeface="仿宋" panose="02010609060101010101" charset="-122"/>
              <a:ea typeface="仿宋" panose="02010609060101010101" charset="-122"/>
              <a:cs typeface="仿宋" panose="02010609060101010101" charset="-122"/>
            </a:endParaRPr>
          </a:p>
        </p:txBody>
      </p:sp>
      <p:sp>
        <p:nvSpPr>
          <p:cNvPr id="196" name="textbox 196"/>
          <p:cNvSpPr/>
          <p:nvPr/>
        </p:nvSpPr>
        <p:spPr>
          <a:xfrm>
            <a:off x="2151115" y="4413293"/>
            <a:ext cx="8060055" cy="372745"/>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24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按此顺序放入和读出</a:t>
            </a:r>
            <a:r>
              <a:rPr sz="24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按此顺序放入</a:t>
            </a:r>
            <a:endParaRPr sz="2400" dirty="0">
              <a:latin typeface="宋体" panose="02010600030101010101" pitchFamily="2" charset="-122"/>
              <a:ea typeface="宋体" panose="02010600030101010101" pitchFamily="2" charset="-122"/>
              <a:cs typeface="宋体" panose="02010600030101010101" pitchFamily="2" charset="-122"/>
            </a:endParaRPr>
          </a:p>
        </p:txBody>
      </p:sp>
      <p:sp>
        <p:nvSpPr>
          <p:cNvPr id="200" name="path 200"/>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202" name="picture 202"/>
          <p:cNvPicPr>
            <a:picLocks noChangeAspect="1"/>
          </p:cNvPicPr>
          <p:nvPr/>
        </p:nvPicPr>
        <p:blipFill>
          <a:blip r:embed="rId1"/>
          <a:stretch>
            <a:fillRect/>
          </a:stretch>
        </p:blipFill>
        <p:spPr>
          <a:xfrm rot="21600000">
            <a:off x="822960" y="408431"/>
            <a:ext cx="420623" cy="655320"/>
          </a:xfrm>
          <a:prstGeom prst="rect">
            <a:avLst/>
          </a:prstGeom>
        </p:spPr>
      </p:pic>
      <p:sp>
        <p:nvSpPr>
          <p:cNvPr id="204" name="textbox 204"/>
          <p:cNvSpPr/>
          <p:nvPr/>
        </p:nvSpPr>
        <p:spPr>
          <a:xfrm>
            <a:off x="4869947" y="2591889"/>
            <a:ext cx="172085" cy="367029"/>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pP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a</a:t>
            </a:r>
            <a:endParaRPr sz="2400" dirty="0">
              <a:latin typeface="Times New Roman" panose="02020603050405020304"/>
              <a:ea typeface="Times New Roman" panose="02020603050405020304"/>
              <a:cs typeface="Times New Roman" panose="02020603050405020304"/>
            </a:endParaRPr>
          </a:p>
        </p:txBody>
      </p:sp>
      <p:sp>
        <p:nvSpPr>
          <p:cNvPr id="206" name="textbox 206"/>
          <p:cNvSpPr/>
          <p:nvPr/>
        </p:nvSpPr>
        <p:spPr>
          <a:xfrm>
            <a:off x="4869941" y="3507130"/>
            <a:ext cx="172085" cy="367029"/>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pP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a</a:t>
            </a:r>
            <a:endParaRPr sz="2400" dirty="0">
              <a:latin typeface="Times New Roman" panose="02020603050405020304"/>
              <a:ea typeface="Times New Roman" panose="02020603050405020304"/>
              <a:cs typeface="Times New Roman" panose="02020603050405020304"/>
            </a:endParaRPr>
          </a:p>
        </p:txBody>
      </p:sp>
      <p:sp>
        <p:nvSpPr>
          <p:cNvPr id="208" name="textbox 208"/>
          <p:cNvSpPr/>
          <p:nvPr/>
        </p:nvSpPr>
        <p:spPr>
          <a:xfrm>
            <a:off x="4869941" y="2134895"/>
            <a:ext cx="172085" cy="367029"/>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pP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a</a:t>
            </a:r>
            <a:endParaRPr sz="2400" dirty="0">
              <a:latin typeface="Times New Roman" panose="02020603050405020304"/>
              <a:ea typeface="Times New Roman" panose="02020603050405020304"/>
              <a:cs typeface="Times New Roman" panose="02020603050405020304"/>
            </a:endParaRPr>
          </a:p>
        </p:txBody>
      </p:sp>
      <p:sp>
        <p:nvSpPr>
          <p:cNvPr id="210" name="textbox 210"/>
          <p:cNvSpPr/>
          <p:nvPr/>
        </p:nvSpPr>
        <p:spPr>
          <a:xfrm>
            <a:off x="4869941" y="3049676"/>
            <a:ext cx="172085" cy="367029"/>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pP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a</a:t>
            </a:r>
            <a:endParaRPr sz="2400" dirty="0">
              <a:latin typeface="Times New Roman" panose="02020603050405020304"/>
              <a:ea typeface="Times New Roman" panose="02020603050405020304"/>
              <a:cs typeface="Times New Roman" panose="02020603050405020304"/>
            </a:endParaRPr>
          </a:p>
        </p:txBody>
      </p:sp>
      <p:cxnSp>
        <p:nvCxnSpPr>
          <p:cNvPr id="2" name="直接箭头连接符 1"/>
          <p:cNvCxnSpPr/>
          <p:nvPr/>
        </p:nvCxnSpPr>
        <p:spPr>
          <a:xfrm>
            <a:off x="1800225" y="1951990"/>
            <a:ext cx="0" cy="2078355"/>
          </a:xfrm>
          <a:prstGeom prst="straightConnector1">
            <a:avLst/>
          </a:prstGeom>
          <a:ln w="44450"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3" name="直接箭头连接符 2"/>
          <p:cNvCxnSpPr/>
          <p:nvPr/>
        </p:nvCxnSpPr>
        <p:spPr>
          <a:xfrm>
            <a:off x="2588260" y="1951990"/>
            <a:ext cx="20320" cy="2067560"/>
          </a:xfrm>
          <a:prstGeom prst="straightConnector1">
            <a:avLst/>
          </a:prstGeom>
          <a:ln w="44450"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4" name="直接箭头连接符 3"/>
          <p:cNvCxnSpPr/>
          <p:nvPr/>
        </p:nvCxnSpPr>
        <p:spPr>
          <a:xfrm>
            <a:off x="3388360" y="1951990"/>
            <a:ext cx="20320" cy="2067560"/>
          </a:xfrm>
          <a:prstGeom prst="straightConnector1">
            <a:avLst/>
          </a:prstGeom>
          <a:ln w="44450"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5" name="直接箭头连接符 4"/>
          <p:cNvCxnSpPr/>
          <p:nvPr/>
        </p:nvCxnSpPr>
        <p:spPr>
          <a:xfrm>
            <a:off x="8111490" y="1941195"/>
            <a:ext cx="0" cy="2078355"/>
          </a:xfrm>
          <a:prstGeom prst="straightConnector1">
            <a:avLst/>
          </a:prstGeom>
          <a:ln w="44450"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2" name="table 212"/>
          <p:cNvGraphicFramePr>
            <a:graphicFrameLocks noGrp="1"/>
          </p:cNvGraphicFramePr>
          <p:nvPr/>
        </p:nvGraphicFramePr>
        <p:xfrm>
          <a:off x="711200" y="3948048"/>
          <a:ext cx="10545444" cy="2105660"/>
        </p:xfrm>
        <a:graphic>
          <a:graphicData uri="http://schemas.openxmlformats.org/drawingml/2006/table">
            <a:tbl>
              <a:tblPr/>
              <a:tblGrid>
                <a:gridCol w="2644139"/>
                <a:gridCol w="2630170"/>
                <a:gridCol w="2626995"/>
                <a:gridCol w="2644139"/>
              </a:tblGrid>
              <a:tr h="532765">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869950" algn="l" rtl="0" eaLnBrk="0">
                        <a:lnSpc>
                          <a:spcPct val="87000"/>
                        </a:lnSpc>
                      </a:pPr>
                      <a:r>
                        <a:rPr sz="2800" b="1" kern="0" spc="-220" dirty="0">
                          <a:solidFill>
                            <a:srgbClr val="000000">
                              <a:alpha val="100000"/>
                            </a:srgbClr>
                          </a:solidFill>
                          <a:latin typeface="Tahoma" panose="020B0604030504040204"/>
                          <a:ea typeface="Tahoma" panose="020B0604030504040204"/>
                          <a:cs typeface="Tahoma" panose="020B0604030504040204"/>
                        </a:rPr>
                        <a:t>N</a:t>
                      </a:r>
                      <a:r>
                        <a:rPr sz="2800" b="1" kern="0" spc="-50" baseline="-19000" dirty="0">
                          <a:solidFill>
                            <a:srgbClr val="000000">
                              <a:alpha val="100000"/>
                            </a:srgbClr>
                          </a:solidFill>
                          <a:latin typeface="Tahoma" panose="020B0604030504040204"/>
                          <a:ea typeface="Tahoma" panose="020B0604030504040204"/>
                          <a:cs typeface="Tahoma" panose="020B0604030504040204"/>
                        </a:rPr>
                        <a:t>b</a:t>
                      </a:r>
                      <a:r>
                        <a:rPr sz="1800" b="1" kern="0" spc="-220" dirty="0">
                          <a:solidFill>
                            <a:srgbClr val="000000">
                              <a:alpha val="100000"/>
                            </a:srgbClr>
                          </a:solidFill>
                          <a:latin typeface="Tahoma" panose="020B0604030504040204"/>
                          <a:ea typeface="Tahoma" panose="020B0604030504040204"/>
                          <a:cs typeface="Tahoma" panose="020B0604030504040204"/>
                        </a:rPr>
                        <a:t> </a:t>
                      </a:r>
                      <a:r>
                        <a:rPr sz="2800" b="1" kern="0" spc="-50" dirty="0">
                          <a:solidFill>
                            <a:srgbClr val="000000">
                              <a:alpha val="100000"/>
                            </a:srgbClr>
                          </a:solidFill>
                          <a:latin typeface="Tahoma" panose="020B0604030504040204"/>
                          <a:ea typeface="Tahoma" panose="020B0604030504040204"/>
                          <a:cs typeface="Tahoma" panose="020B0604030504040204"/>
                        </a:rPr>
                        <a:t>=4</a:t>
                      </a:r>
                      <a:r>
                        <a:rPr lang="en-US" sz="2800" b="1" kern="0" spc="-50" dirty="0">
                          <a:solidFill>
                            <a:srgbClr val="000000">
                              <a:alpha val="100000"/>
                            </a:srgbClr>
                          </a:solidFill>
                          <a:latin typeface="Tahoma" panose="020B0604030504040204"/>
                          <a:ea typeface="Tahoma" panose="020B0604030504040204"/>
                          <a:cs typeface="Tahoma" panose="020B0604030504040204"/>
                        </a:rPr>
                        <a:t>(</a:t>
                      </a:r>
                      <a:r>
                        <a:rPr lang="en-US" sz="1800" b="1" kern="0" spc="-50" dirty="0">
                          <a:solidFill>
                            <a:srgbClr val="000000">
                              <a:alpha val="100000"/>
                            </a:srgbClr>
                          </a:solidFill>
                          <a:latin typeface="Tahoma" panose="020B0604030504040204"/>
                          <a:ea typeface="Tahoma" panose="020B0604030504040204"/>
                          <a:cs typeface="Tahoma" panose="020B0604030504040204"/>
                        </a:rPr>
                        <a:t>128</a:t>
                      </a:r>
                      <a:r>
                        <a:rPr lang="en-US" sz="2800" b="1" kern="0" spc="-50" dirty="0">
                          <a:solidFill>
                            <a:srgbClr val="000000">
                              <a:alpha val="100000"/>
                            </a:srgbClr>
                          </a:solidFill>
                          <a:latin typeface="Tahoma" panose="020B0604030504040204"/>
                          <a:ea typeface="Tahoma" panose="020B0604030504040204"/>
                          <a:cs typeface="Tahoma" panose="020B0604030504040204"/>
                        </a:rPr>
                        <a:t>)</a:t>
                      </a:r>
                      <a:endParaRPr lang="en-US" sz="2800" b="1" kern="0" spc="-50" dirty="0">
                        <a:solidFill>
                          <a:srgbClr val="000000">
                            <a:alpha val="100000"/>
                          </a:srgbClr>
                        </a:solidFill>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0000"/>
                        </a:lnSpc>
                      </a:pPr>
                      <a:endParaRPr sz="900" dirty="0">
                        <a:latin typeface="Arial" panose="020B0604020202020204" pitchFamily="34" charset="0"/>
                        <a:ea typeface="Arial" panose="020B0604020202020204" pitchFamily="34" charset="0"/>
                        <a:cs typeface="Arial" panose="020B0604020202020204" pitchFamily="34" charset="0"/>
                      </a:endParaRPr>
                    </a:p>
                    <a:p>
                      <a:pPr marL="869950" algn="l" rtl="0" eaLnBrk="0">
                        <a:lnSpc>
                          <a:spcPct val="88000"/>
                        </a:lnSpc>
                        <a:spcBef>
                          <a:spcPts val="0"/>
                        </a:spcBef>
                      </a:pPr>
                      <a:r>
                        <a:rPr sz="2800" b="1" kern="0" spc="-220" dirty="0">
                          <a:solidFill>
                            <a:srgbClr val="000000">
                              <a:alpha val="100000"/>
                            </a:srgbClr>
                          </a:solidFill>
                          <a:latin typeface="Tahoma" panose="020B0604030504040204"/>
                          <a:ea typeface="Tahoma" panose="020B0604030504040204"/>
                          <a:cs typeface="Tahoma" panose="020B0604030504040204"/>
                        </a:rPr>
                        <a:t>N</a:t>
                      </a:r>
                      <a:r>
                        <a:rPr sz="2800" b="1" kern="0" spc="-50" baseline="-19000" dirty="0">
                          <a:solidFill>
                            <a:srgbClr val="000000">
                              <a:alpha val="100000"/>
                            </a:srgbClr>
                          </a:solidFill>
                          <a:latin typeface="Tahoma" panose="020B0604030504040204"/>
                          <a:ea typeface="Tahoma" panose="020B0604030504040204"/>
                          <a:cs typeface="Tahoma" panose="020B0604030504040204"/>
                        </a:rPr>
                        <a:t>b</a:t>
                      </a:r>
                      <a:r>
                        <a:rPr sz="1800" b="1" kern="0" spc="-220" dirty="0">
                          <a:solidFill>
                            <a:srgbClr val="000000">
                              <a:alpha val="100000"/>
                            </a:srgbClr>
                          </a:solidFill>
                          <a:latin typeface="Tahoma" panose="020B0604030504040204"/>
                          <a:ea typeface="Tahoma" panose="020B0604030504040204"/>
                          <a:cs typeface="Tahoma" panose="020B0604030504040204"/>
                        </a:rPr>
                        <a:t> </a:t>
                      </a:r>
                      <a:r>
                        <a:rPr sz="2800" b="1" kern="0" spc="-50" dirty="0">
                          <a:solidFill>
                            <a:srgbClr val="000000">
                              <a:alpha val="100000"/>
                            </a:srgbClr>
                          </a:solidFill>
                          <a:latin typeface="Tahoma" panose="020B0604030504040204"/>
                          <a:ea typeface="Tahoma" panose="020B0604030504040204"/>
                          <a:cs typeface="Tahoma" panose="020B0604030504040204"/>
                        </a:rPr>
                        <a:t>=6</a:t>
                      </a:r>
                      <a:r>
                        <a:rPr lang="en-US" sz="2800" b="1" kern="0" spc="-50" dirty="0">
                          <a:solidFill>
                            <a:srgbClr val="000000">
                              <a:alpha val="100000"/>
                            </a:srgbClr>
                          </a:solidFill>
                          <a:latin typeface="Tahoma" panose="020B0604030504040204"/>
                          <a:ea typeface="Tahoma" panose="020B0604030504040204"/>
                          <a:cs typeface="Tahoma" panose="020B0604030504040204"/>
                        </a:rPr>
                        <a:t>(</a:t>
                      </a:r>
                      <a:r>
                        <a:rPr lang="en-US" sz="1800" b="1" kern="0" spc="-50" dirty="0">
                          <a:solidFill>
                            <a:srgbClr val="000000">
                              <a:alpha val="100000"/>
                            </a:srgbClr>
                          </a:solidFill>
                          <a:latin typeface="Tahoma" panose="020B0604030504040204"/>
                          <a:ea typeface="Tahoma" panose="020B0604030504040204"/>
                          <a:cs typeface="Tahoma" panose="020B0604030504040204"/>
                        </a:rPr>
                        <a:t>192</a:t>
                      </a:r>
                      <a:r>
                        <a:rPr lang="en-US" sz="2800" b="1" kern="0" spc="-50" dirty="0">
                          <a:solidFill>
                            <a:srgbClr val="000000">
                              <a:alpha val="100000"/>
                            </a:srgbClr>
                          </a:solidFill>
                          <a:latin typeface="Tahoma" panose="020B0604030504040204"/>
                          <a:ea typeface="Tahoma" panose="020B0604030504040204"/>
                          <a:cs typeface="Tahoma" panose="020B0604030504040204"/>
                        </a:rPr>
                        <a:t>)</a:t>
                      </a:r>
                      <a:endParaRPr lang="en-US" sz="2800" b="1" kern="0" spc="-50" dirty="0">
                        <a:solidFill>
                          <a:srgbClr val="000000">
                            <a:alpha val="100000"/>
                          </a:srgbClr>
                        </a:solidFill>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0000"/>
                        </a:lnSpc>
                      </a:pPr>
                      <a:endParaRPr sz="900" dirty="0">
                        <a:latin typeface="Arial" panose="020B0604020202020204" pitchFamily="34" charset="0"/>
                        <a:ea typeface="Arial" panose="020B0604020202020204" pitchFamily="34" charset="0"/>
                        <a:cs typeface="Arial" panose="020B0604020202020204" pitchFamily="34" charset="0"/>
                      </a:endParaRPr>
                    </a:p>
                    <a:p>
                      <a:pPr marL="871220" algn="l" rtl="0" eaLnBrk="0">
                        <a:lnSpc>
                          <a:spcPct val="88000"/>
                        </a:lnSpc>
                        <a:spcBef>
                          <a:spcPts val="0"/>
                        </a:spcBef>
                      </a:pPr>
                      <a:r>
                        <a:rPr sz="2800" b="1" kern="0" spc="-220" dirty="0">
                          <a:solidFill>
                            <a:srgbClr val="000000">
                              <a:alpha val="100000"/>
                            </a:srgbClr>
                          </a:solidFill>
                          <a:latin typeface="Tahoma" panose="020B0604030504040204"/>
                          <a:ea typeface="Tahoma" panose="020B0604030504040204"/>
                          <a:cs typeface="Tahoma" panose="020B0604030504040204"/>
                        </a:rPr>
                        <a:t>N</a:t>
                      </a:r>
                      <a:r>
                        <a:rPr sz="2800" b="1" kern="0" spc="-50" baseline="-19000" dirty="0">
                          <a:solidFill>
                            <a:srgbClr val="000000">
                              <a:alpha val="100000"/>
                            </a:srgbClr>
                          </a:solidFill>
                          <a:latin typeface="Tahoma" panose="020B0604030504040204"/>
                          <a:ea typeface="Tahoma" panose="020B0604030504040204"/>
                          <a:cs typeface="Tahoma" panose="020B0604030504040204"/>
                        </a:rPr>
                        <a:t>b</a:t>
                      </a:r>
                      <a:r>
                        <a:rPr sz="1800" b="1" kern="0" spc="-220" dirty="0">
                          <a:solidFill>
                            <a:srgbClr val="000000">
                              <a:alpha val="100000"/>
                            </a:srgbClr>
                          </a:solidFill>
                          <a:latin typeface="Tahoma" panose="020B0604030504040204"/>
                          <a:ea typeface="Tahoma" panose="020B0604030504040204"/>
                          <a:cs typeface="Tahoma" panose="020B0604030504040204"/>
                        </a:rPr>
                        <a:t> </a:t>
                      </a:r>
                      <a:r>
                        <a:rPr sz="2800" b="1" kern="0" spc="-50" dirty="0">
                          <a:solidFill>
                            <a:srgbClr val="000000">
                              <a:alpha val="100000"/>
                            </a:srgbClr>
                          </a:solidFill>
                          <a:latin typeface="Tahoma" panose="020B0604030504040204"/>
                          <a:ea typeface="Tahoma" panose="020B0604030504040204"/>
                          <a:cs typeface="Tahoma" panose="020B0604030504040204"/>
                        </a:rPr>
                        <a:t>=8</a:t>
                      </a:r>
                      <a:r>
                        <a:rPr lang="en-US" sz="2800" b="1" kern="0" spc="-50" dirty="0">
                          <a:solidFill>
                            <a:srgbClr val="000000">
                              <a:alpha val="100000"/>
                            </a:srgbClr>
                          </a:solidFill>
                          <a:latin typeface="Tahoma" panose="020B0604030504040204"/>
                          <a:ea typeface="Tahoma" panose="020B0604030504040204"/>
                          <a:cs typeface="Tahoma" panose="020B0604030504040204"/>
                        </a:rPr>
                        <a:t>(</a:t>
                      </a:r>
                      <a:r>
                        <a:rPr lang="en-US" sz="1800" b="1" kern="0" spc="-50" dirty="0">
                          <a:solidFill>
                            <a:srgbClr val="000000">
                              <a:alpha val="100000"/>
                            </a:srgbClr>
                          </a:solidFill>
                          <a:latin typeface="Tahoma" panose="020B0604030504040204"/>
                          <a:ea typeface="Tahoma" panose="020B0604030504040204"/>
                          <a:cs typeface="Tahoma" panose="020B0604030504040204"/>
                        </a:rPr>
                        <a:t>256</a:t>
                      </a:r>
                      <a:r>
                        <a:rPr lang="en-US" sz="2800" b="1" kern="0" spc="-50" dirty="0">
                          <a:solidFill>
                            <a:srgbClr val="000000">
                              <a:alpha val="100000"/>
                            </a:srgbClr>
                          </a:solidFill>
                          <a:latin typeface="Tahoma" panose="020B0604030504040204"/>
                          <a:ea typeface="Tahoma" panose="020B0604030504040204"/>
                          <a:cs typeface="Tahoma" panose="020B0604030504040204"/>
                        </a:rPr>
                        <a:t>)</a:t>
                      </a:r>
                      <a:endParaRPr lang="en-US" sz="2800" b="1" kern="0" spc="-50" dirty="0">
                        <a:solidFill>
                          <a:srgbClr val="000000">
                            <a:alpha val="100000"/>
                          </a:srgbClr>
                        </a:solidFill>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8159">
                <a:tc>
                  <a:txBody>
                    <a:bodyPr/>
                    <a:lstStyle/>
                    <a:p>
                      <a:pPr algn="l" rtl="0" eaLnBrk="0">
                        <a:lnSpc>
                          <a:spcPct val="102000"/>
                        </a:lnSpc>
                      </a:pPr>
                      <a:endParaRPr sz="900" dirty="0">
                        <a:latin typeface="Arial" panose="020B0604020202020204" pitchFamily="34" charset="0"/>
                        <a:ea typeface="Arial" panose="020B0604020202020204" pitchFamily="34" charset="0"/>
                        <a:cs typeface="Arial" panose="020B0604020202020204" pitchFamily="34" charset="0"/>
                      </a:endParaRPr>
                    </a:p>
                    <a:p>
                      <a:pPr marL="886460" algn="l" rtl="0" eaLnBrk="0">
                        <a:lnSpc>
                          <a:spcPct val="87000"/>
                        </a:lnSpc>
                        <a:spcBef>
                          <a:spcPts val="5"/>
                        </a:spcBef>
                      </a:pPr>
                      <a:r>
                        <a:rPr sz="2800" b="1" kern="0" spc="-220" dirty="0">
                          <a:solidFill>
                            <a:srgbClr val="000000">
                              <a:alpha val="100000"/>
                            </a:srgbClr>
                          </a:solidFill>
                          <a:latin typeface="Tahoma" panose="020B0604030504040204"/>
                          <a:ea typeface="Tahoma" panose="020B0604030504040204"/>
                          <a:cs typeface="Tahoma" panose="020B0604030504040204"/>
                        </a:rPr>
                        <a:t>N</a:t>
                      </a:r>
                      <a:r>
                        <a:rPr sz="2800" b="1" kern="0" spc="-50" baseline="-19000" dirty="0">
                          <a:solidFill>
                            <a:srgbClr val="000000">
                              <a:alpha val="100000"/>
                            </a:srgbClr>
                          </a:solidFill>
                          <a:latin typeface="Tahoma" panose="020B0604030504040204"/>
                          <a:ea typeface="Tahoma" panose="020B0604030504040204"/>
                          <a:cs typeface="Tahoma" panose="020B0604030504040204"/>
                        </a:rPr>
                        <a:t>k</a:t>
                      </a:r>
                      <a:r>
                        <a:rPr sz="1800" b="1" kern="0" spc="-220" dirty="0">
                          <a:solidFill>
                            <a:srgbClr val="000000">
                              <a:alpha val="100000"/>
                            </a:srgbClr>
                          </a:solidFill>
                          <a:latin typeface="Tahoma" panose="020B0604030504040204"/>
                          <a:ea typeface="Tahoma" panose="020B0604030504040204"/>
                          <a:cs typeface="Tahoma" panose="020B0604030504040204"/>
                        </a:rPr>
                        <a:t> </a:t>
                      </a:r>
                      <a:r>
                        <a:rPr sz="2800" b="1" kern="0" spc="-50" dirty="0">
                          <a:solidFill>
                            <a:srgbClr val="000000">
                              <a:alpha val="100000"/>
                            </a:srgbClr>
                          </a:solidFill>
                          <a:latin typeface="Tahoma" panose="020B0604030504040204"/>
                          <a:ea typeface="Tahoma" panose="020B0604030504040204"/>
                          <a:cs typeface="Tahoma" panose="020B0604030504040204"/>
                        </a:rPr>
                        <a:t>=4</a:t>
                      </a:r>
                      <a:r>
                        <a:rPr lang="en-US" sz="2800" b="1" kern="0" spc="-50" dirty="0">
                          <a:solidFill>
                            <a:srgbClr val="000000">
                              <a:alpha val="100000"/>
                            </a:srgbClr>
                          </a:solidFill>
                          <a:latin typeface="Tahoma" panose="020B0604030504040204"/>
                          <a:ea typeface="Tahoma" panose="020B0604030504040204"/>
                          <a:cs typeface="Tahoma" panose="020B0604030504040204"/>
                        </a:rPr>
                        <a:t>(</a:t>
                      </a:r>
                      <a:r>
                        <a:rPr lang="en-US" sz="1800" b="1" kern="0" spc="-50" dirty="0">
                          <a:solidFill>
                            <a:srgbClr val="000000">
                              <a:alpha val="100000"/>
                            </a:srgbClr>
                          </a:solidFill>
                          <a:latin typeface="Tahoma" panose="020B0604030504040204"/>
                          <a:ea typeface="Tahoma" panose="020B0604030504040204"/>
                          <a:cs typeface="Tahoma" panose="020B0604030504040204"/>
                        </a:rPr>
                        <a:t>128</a:t>
                      </a:r>
                      <a:r>
                        <a:rPr lang="en-US" sz="2800" b="1" kern="0" spc="-50" dirty="0">
                          <a:solidFill>
                            <a:srgbClr val="000000">
                              <a:alpha val="100000"/>
                            </a:srgbClr>
                          </a:solidFill>
                          <a:latin typeface="Tahoma" panose="020B0604030504040204"/>
                          <a:ea typeface="Tahoma" panose="020B0604030504040204"/>
                          <a:cs typeface="Tahoma" panose="020B0604030504040204"/>
                        </a:rPr>
                        <a:t>)</a:t>
                      </a:r>
                      <a:endParaRPr lang="en-US" sz="2800" b="1" kern="0" spc="-50" dirty="0">
                        <a:solidFill>
                          <a:srgbClr val="000000">
                            <a:alpha val="100000"/>
                          </a:srgbClr>
                        </a:solidFill>
                        <a:latin typeface="Tahoma" panose="020B0604030504040204"/>
                        <a:ea typeface="Tahoma" panose="020B0604030504040204"/>
                        <a:cs typeface="Tahoma" panose="020B0604030504040204"/>
                      </a:endParaRPr>
                    </a:p>
                  </a:txBody>
                  <a:tcPr marL="0" marR="0" marT="0" marB="0" vert="horz">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1123950" algn="l" rtl="0" eaLnBrk="0">
                        <a:lnSpc>
                          <a:spcPct val="82000"/>
                        </a:lnSpc>
                      </a:pPr>
                      <a:r>
                        <a:rPr sz="2800" b="1" kern="0" spc="-80" dirty="0">
                          <a:solidFill>
                            <a:srgbClr val="000000">
                              <a:alpha val="100000"/>
                            </a:srgbClr>
                          </a:solidFill>
                          <a:latin typeface="Tahoma" panose="020B0604030504040204"/>
                          <a:ea typeface="Tahoma" panose="020B0604030504040204"/>
                          <a:cs typeface="Tahoma" panose="020B0604030504040204"/>
                        </a:rPr>
                        <a:t>10</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1123950" algn="l" rtl="0" eaLnBrk="0">
                        <a:lnSpc>
                          <a:spcPct val="82000"/>
                        </a:lnSpc>
                        <a:spcBef>
                          <a:spcPts val="5"/>
                        </a:spcBef>
                      </a:pPr>
                      <a:r>
                        <a:rPr sz="2800" b="1" kern="0" spc="-80" dirty="0">
                          <a:solidFill>
                            <a:srgbClr val="000000">
                              <a:alpha val="100000"/>
                            </a:srgbClr>
                          </a:solidFill>
                          <a:latin typeface="Tahoma" panose="020B0604030504040204"/>
                          <a:ea typeface="Tahoma" panose="020B0604030504040204"/>
                          <a:cs typeface="Tahoma" panose="020B0604030504040204"/>
                        </a:rPr>
                        <a:t>12</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9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1125220" algn="l" rtl="0" eaLnBrk="0">
                        <a:lnSpc>
                          <a:spcPct val="81000"/>
                        </a:lnSpc>
                      </a:pPr>
                      <a:r>
                        <a:rPr sz="2800" b="1" kern="0" spc="-80" dirty="0">
                          <a:solidFill>
                            <a:srgbClr val="000000">
                              <a:alpha val="100000"/>
                            </a:srgbClr>
                          </a:solidFill>
                          <a:latin typeface="Tahoma" panose="020B0604030504040204"/>
                          <a:ea typeface="Tahoma" panose="020B0604030504040204"/>
                          <a:cs typeface="Tahoma" panose="020B0604030504040204"/>
                        </a:rPr>
                        <a:t>14</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8159">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886460" algn="l" rtl="0" eaLnBrk="0">
                        <a:lnSpc>
                          <a:spcPct val="88000"/>
                        </a:lnSpc>
                      </a:pPr>
                      <a:r>
                        <a:rPr sz="2800" b="1" kern="0" spc="-90" dirty="0">
                          <a:solidFill>
                            <a:srgbClr val="000000">
                              <a:alpha val="100000"/>
                            </a:srgbClr>
                          </a:solidFill>
                          <a:latin typeface="Tahoma" panose="020B0604030504040204"/>
                          <a:ea typeface="Tahoma" panose="020B0604030504040204"/>
                          <a:cs typeface="Tahoma" panose="020B0604030504040204"/>
                        </a:rPr>
                        <a:t>N</a:t>
                      </a:r>
                      <a:r>
                        <a:rPr sz="2800" b="1" kern="0" spc="-90" baseline="-19000" dirty="0">
                          <a:solidFill>
                            <a:srgbClr val="000000">
                              <a:alpha val="100000"/>
                            </a:srgbClr>
                          </a:solidFill>
                          <a:latin typeface="Tahoma" panose="020B0604030504040204"/>
                          <a:ea typeface="Tahoma" panose="020B0604030504040204"/>
                          <a:cs typeface="Tahoma" panose="020B0604030504040204"/>
                        </a:rPr>
                        <a:t>k</a:t>
                      </a:r>
                      <a:r>
                        <a:rPr sz="1800" b="1" kern="0" spc="-230" dirty="0">
                          <a:solidFill>
                            <a:srgbClr val="000000">
                              <a:alpha val="100000"/>
                            </a:srgbClr>
                          </a:solidFill>
                          <a:latin typeface="Tahoma" panose="020B0604030504040204"/>
                          <a:ea typeface="Tahoma" panose="020B0604030504040204"/>
                          <a:cs typeface="Tahoma" panose="020B0604030504040204"/>
                        </a:rPr>
                        <a:t> </a:t>
                      </a:r>
                      <a:r>
                        <a:rPr sz="2800" b="1" kern="0" spc="-90" dirty="0">
                          <a:solidFill>
                            <a:srgbClr val="000000">
                              <a:alpha val="100000"/>
                            </a:srgbClr>
                          </a:solidFill>
                          <a:latin typeface="Tahoma" panose="020B0604030504040204"/>
                          <a:ea typeface="Tahoma" panose="020B0604030504040204"/>
                          <a:cs typeface="Tahoma" panose="020B0604030504040204"/>
                        </a:rPr>
                        <a:t>=6</a:t>
                      </a:r>
                      <a:r>
                        <a:rPr lang="en-US" sz="2800" b="1" kern="0" spc="-50" dirty="0">
                          <a:solidFill>
                            <a:srgbClr val="000000">
                              <a:alpha val="100000"/>
                            </a:srgbClr>
                          </a:solidFill>
                          <a:latin typeface="Tahoma" panose="020B0604030504040204"/>
                          <a:ea typeface="Tahoma" panose="020B0604030504040204"/>
                          <a:cs typeface="Tahoma" panose="020B0604030504040204"/>
                          <a:sym typeface="+mn-ea"/>
                        </a:rPr>
                        <a:t>(</a:t>
                      </a:r>
                      <a:r>
                        <a:rPr lang="en-US" sz="1800" b="1" kern="0" spc="-50" dirty="0">
                          <a:solidFill>
                            <a:srgbClr val="000000">
                              <a:alpha val="100000"/>
                            </a:srgbClr>
                          </a:solidFill>
                          <a:latin typeface="Tahoma" panose="020B0604030504040204"/>
                          <a:ea typeface="Tahoma" panose="020B0604030504040204"/>
                          <a:cs typeface="Tahoma" panose="020B0604030504040204"/>
                          <a:sym typeface="+mn-ea"/>
                        </a:rPr>
                        <a:t>192</a:t>
                      </a:r>
                      <a:r>
                        <a:rPr lang="en-US" sz="2800" b="1" kern="0" spc="-50" dirty="0">
                          <a:solidFill>
                            <a:srgbClr val="000000">
                              <a:alpha val="100000"/>
                            </a:srgbClr>
                          </a:solidFill>
                          <a:latin typeface="Tahoma" panose="020B0604030504040204"/>
                          <a:ea typeface="Tahoma" panose="020B0604030504040204"/>
                          <a:cs typeface="Tahoma" panose="020B0604030504040204"/>
                          <a:sym typeface="+mn-ea"/>
                        </a:rPr>
                        <a:t>)</a:t>
                      </a:r>
                      <a:endParaRPr sz="2800" dirty="0">
                        <a:latin typeface="Tahoma" panose="020B0604030504040204"/>
                        <a:ea typeface="Tahoma" panose="020B0604030504040204"/>
                        <a:cs typeface="Tahoma" panose="020B0604030504040204"/>
                      </a:endParaRPr>
                    </a:p>
                  </a:txBody>
                  <a:tcPr marL="0" marR="0" marT="0" marB="0" vert="horz">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900" dirty="0">
                        <a:latin typeface="Arial" panose="020B0604020202020204" pitchFamily="34" charset="0"/>
                        <a:ea typeface="Arial" panose="020B0604020202020204" pitchFamily="34" charset="0"/>
                        <a:cs typeface="Arial" panose="020B0604020202020204" pitchFamily="34" charset="0"/>
                      </a:endParaRPr>
                    </a:p>
                    <a:p>
                      <a:pPr marL="1123950" algn="l" rtl="0" eaLnBrk="0">
                        <a:lnSpc>
                          <a:spcPct val="82000"/>
                        </a:lnSpc>
                        <a:spcBef>
                          <a:spcPts val="0"/>
                        </a:spcBef>
                      </a:pPr>
                      <a:r>
                        <a:rPr sz="2800" b="1" kern="0" spc="-80" dirty="0">
                          <a:solidFill>
                            <a:srgbClr val="000000">
                              <a:alpha val="100000"/>
                            </a:srgbClr>
                          </a:solidFill>
                          <a:latin typeface="Tahoma" panose="020B0604030504040204"/>
                          <a:ea typeface="Tahoma" panose="020B0604030504040204"/>
                          <a:cs typeface="Tahoma" panose="020B0604030504040204"/>
                        </a:rPr>
                        <a:t>12</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900" dirty="0">
                        <a:latin typeface="Arial" panose="020B0604020202020204" pitchFamily="34" charset="0"/>
                        <a:ea typeface="Arial" panose="020B0604020202020204" pitchFamily="34" charset="0"/>
                        <a:cs typeface="Arial" panose="020B0604020202020204" pitchFamily="34" charset="0"/>
                      </a:endParaRPr>
                    </a:p>
                    <a:p>
                      <a:pPr marL="1123950" algn="l" rtl="0" eaLnBrk="0">
                        <a:lnSpc>
                          <a:spcPct val="82000"/>
                        </a:lnSpc>
                        <a:spcBef>
                          <a:spcPts val="0"/>
                        </a:spcBef>
                      </a:pPr>
                      <a:r>
                        <a:rPr sz="2800" b="1" kern="0" spc="-80" dirty="0">
                          <a:solidFill>
                            <a:srgbClr val="000000">
                              <a:alpha val="100000"/>
                            </a:srgbClr>
                          </a:solidFill>
                          <a:latin typeface="Tahoma" panose="020B0604030504040204"/>
                          <a:ea typeface="Tahoma" panose="020B0604030504040204"/>
                          <a:cs typeface="Tahoma" panose="020B0604030504040204"/>
                        </a:rPr>
                        <a:t>12</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9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1125220" algn="l" rtl="0" eaLnBrk="0">
                        <a:lnSpc>
                          <a:spcPct val="81000"/>
                        </a:lnSpc>
                      </a:pPr>
                      <a:r>
                        <a:rPr sz="2800" b="1" kern="0" spc="-80" dirty="0">
                          <a:solidFill>
                            <a:srgbClr val="000000">
                              <a:alpha val="100000"/>
                            </a:srgbClr>
                          </a:solidFill>
                          <a:latin typeface="Tahoma" panose="020B0604030504040204"/>
                          <a:ea typeface="Tahoma" panose="020B0604030504040204"/>
                          <a:cs typeface="Tahoma" panose="020B0604030504040204"/>
                        </a:rPr>
                        <a:t>14</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6575">
                <a:tc>
                  <a:txBody>
                    <a:bodyPr/>
                    <a:lstStyle/>
                    <a:p>
                      <a:pPr algn="l" rtl="0" eaLnBrk="0">
                        <a:lnSpc>
                          <a:spcPct val="100000"/>
                        </a:lnSpc>
                      </a:pPr>
                      <a:endParaRPr sz="900" dirty="0">
                        <a:latin typeface="Arial" panose="020B0604020202020204" pitchFamily="34" charset="0"/>
                        <a:ea typeface="Arial" panose="020B0604020202020204" pitchFamily="34" charset="0"/>
                        <a:cs typeface="Arial" panose="020B0604020202020204" pitchFamily="34" charset="0"/>
                      </a:endParaRPr>
                    </a:p>
                    <a:p>
                      <a:pPr marL="886460" algn="l" rtl="0" eaLnBrk="0">
                        <a:lnSpc>
                          <a:spcPct val="92000"/>
                        </a:lnSpc>
                        <a:spcBef>
                          <a:spcPts val="5"/>
                        </a:spcBef>
                      </a:pPr>
                      <a:r>
                        <a:rPr sz="2800" b="1" kern="0" spc="-220" dirty="0">
                          <a:solidFill>
                            <a:srgbClr val="000000">
                              <a:alpha val="100000"/>
                            </a:srgbClr>
                          </a:solidFill>
                          <a:latin typeface="Tahoma" panose="020B0604030504040204"/>
                          <a:ea typeface="Tahoma" panose="020B0604030504040204"/>
                          <a:cs typeface="Tahoma" panose="020B0604030504040204"/>
                        </a:rPr>
                        <a:t>N</a:t>
                      </a:r>
                      <a:r>
                        <a:rPr sz="2800" b="1" kern="0" spc="-50" baseline="-19000" dirty="0">
                          <a:solidFill>
                            <a:srgbClr val="000000">
                              <a:alpha val="100000"/>
                            </a:srgbClr>
                          </a:solidFill>
                          <a:latin typeface="Tahoma" panose="020B0604030504040204"/>
                          <a:ea typeface="Tahoma" panose="020B0604030504040204"/>
                          <a:cs typeface="Tahoma" panose="020B0604030504040204"/>
                        </a:rPr>
                        <a:t>k</a:t>
                      </a:r>
                      <a:r>
                        <a:rPr sz="1800" b="1" kern="0" spc="-220" dirty="0">
                          <a:solidFill>
                            <a:srgbClr val="000000">
                              <a:alpha val="100000"/>
                            </a:srgbClr>
                          </a:solidFill>
                          <a:latin typeface="Tahoma" panose="020B0604030504040204"/>
                          <a:ea typeface="Tahoma" panose="020B0604030504040204"/>
                          <a:cs typeface="Tahoma" panose="020B0604030504040204"/>
                        </a:rPr>
                        <a:t> </a:t>
                      </a:r>
                      <a:r>
                        <a:rPr sz="2800" b="1" kern="0" spc="-50" dirty="0">
                          <a:solidFill>
                            <a:srgbClr val="000000">
                              <a:alpha val="100000"/>
                            </a:srgbClr>
                          </a:solidFill>
                          <a:latin typeface="Tahoma" panose="020B0604030504040204"/>
                          <a:ea typeface="Tahoma" panose="020B0604030504040204"/>
                          <a:cs typeface="Tahoma" panose="020B0604030504040204"/>
                        </a:rPr>
                        <a:t>=8</a:t>
                      </a:r>
                      <a:r>
                        <a:rPr lang="en-US" sz="2800" b="1" kern="0" spc="-50" dirty="0">
                          <a:solidFill>
                            <a:srgbClr val="000000">
                              <a:alpha val="100000"/>
                            </a:srgbClr>
                          </a:solidFill>
                          <a:latin typeface="Tahoma" panose="020B0604030504040204"/>
                          <a:ea typeface="Tahoma" panose="020B0604030504040204"/>
                          <a:cs typeface="Tahoma" panose="020B0604030504040204"/>
                        </a:rPr>
                        <a:t>(</a:t>
                      </a:r>
                      <a:r>
                        <a:rPr lang="en-US" sz="1800" b="1" kern="0" spc="-50" dirty="0">
                          <a:solidFill>
                            <a:srgbClr val="000000">
                              <a:alpha val="100000"/>
                            </a:srgbClr>
                          </a:solidFill>
                          <a:latin typeface="Tahoma" panose="020B0604030504040204"/>
                          <a:ea typeface="Tahoma" panose="020B0604030504040204"/>
                          <a:cs typeface="Tahoma" panose="020B0604030504040204"/>
                        </a:rPr>
                        <a:t>256</a:t>
                      </a:r>
                      <a:r>
                        <a:rPr lang="en-US" sz="2800" b="1" kern="0" spc="-50" dirty="0">
                          <a:solidFill>
                            <a:srgbClr val="000000">
                              <a:alpha val="100000"/>
                            </a:srgbClr>
                          </a:solidFill>
                          <a:latin typeface="Tahoma" panose="020B0604030504040204"/>
                          <a:ea typeface="Tahoma" panose="020B0604030504040204"/>
                          <a:cs typeface="Tahoma" panose="020B0604030504040204"/>
                        </a:rPr>
                        <a:t>)</a:t>
                      </a:r>
                      <a:endParaRPr lang="en-US" sz="2800" b="1" kern="0" spc="-50" dirty="0">
                        <a:solidFill>
                          <a:srgbClr val="000000">
                            <a:alpha val="100000"/>
                          </a:srgbClr>
                        </a:solidFill>
                        <a:latin typeface="Tahoma" panose="020B0604030504040204"/>
                        <a:ea typeface="Tahoma" panose="020B0604030504040204"/>
                        <a:cs typeface="Tahoma" panose="020B0604030504040204"/>
                      </a:endParaRPr>
                    </a:p>
                  </a:txBody>
                  <a:tcPr marL="0" marR="0" marT="0" marB="0" vert="horz">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03000"/>
                        </a:lnSpc>
                      </a:pPr>
                      <a:endParaRPr sz="900" dirty="0">
                        <a:latin typeface="Arial" panose="020B0604020202020204" pitchFamily="34" charset="0"/>
                        <a:ea typeface="Arial" panose="020B0604020202020204" pitchFamily="34" charset="0"/>
                        <a:cs typeface="Arial" panose="020B0604020202020204" pitchFamily="34" charset="0"/>
                      </a:endParaRPr>
                    </a:p>
                    <a:p>
                      <a:pPr marL="1123950" algn="l" rtl="0" eaLnBrk="0">
                        <a:lnSpc>
                          <a:spcPct val="81000"/>
                        </a:lnSpc>
                        <a:spcBef>
                          <a:spcPts val="5"/>
                        </a:spcBef>
                      </a:pPr>
                      <a:r>
                        <a:rPr sz="2800" b="1" kern="0" spc="-80" dirty="0">
                          <a:solidFill>
                            <a:srgbClr val="000000">
                              <a:alpha val="100000"/>
                            </a:srgbClr>
                          </a:solidFill>
                          <a:latin typeface="Tahoma" panose="020B0604030504040204"/>
                          <a:ea typeface="Tahoma" panose="020B0604030504040204"/>
                          <a:cs typeface="Tahoma" panose="020B0604030504040204"/>
                        </a:rPr>
                        <a:t>14</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03000"/>
                        </a:lnSpc>
                      </a:pPr>
                      <a:endParaRPr sz="900" dirty="0">
                        <a:latin typeface="Arial" panose="020B0604020202020204" pitchFamily="34" charset="0"/>
                        <a:ea typeface="Arial" panose="020B0604020202020204" pitchFamily="34" charset="0"/>
                        <a:cs typeface="Arial" panose="020B0604020202020204" pitchFamily="34" charset="0"/>
                      </a:endParaRPr>
                    </a:p>
                    <a:p>
                      <a:pPr marL="1123950" algn="l" rtl="0" eaLnBrk="0">
                        <a:lnSpc>
                          <a:spcPct val="81000"/>
                        </a:lnSpc>
                        <a:spcBef>
                          <a:spcPts val="5"/>
                        </a:spcBef>
                      </a:pPr>
                      <a:r>
                        <a:rPr sz="2800" b="1" kern="0" spc="-80" dirty="0">
                          <a:solidFill>
                            <a:srgbClr val="000000">
                              <a:alpha val="100000"/>
                            </a:srgbClr>
                          </a:solidFill>
                          <a:latin typeface="Tahoma" panose="020B0604030504040204"/>
                          <a:ea typeface="Tahoma" panose="020B0604030504040204"/>
                          <a:cs typeface="Tahoma" panose="020B0604030504040204"/>
                        </a:rPr>
                        <a:t>14</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03000"/>
                        </a:lnSpc>
                      </a:pPr>
                      <a:endParaRPr sz="900" dirty="0">
                        <a:latin typeface="Arial" panose="020B0604020202020204" pitchFamily="34" charset="0"/>
                        <a:ea typeface="Arial" panose="020B0604020202020204" pitchFamily="34" charset="0"/>
                        <a:cs typeface="Arial" panose="020B0604020202020204" pitchFamily="34" charset="0"/>
                      </a:endParaRPr>
                    </a:p>
                    <a:p>
                      <a:pPr marL="1125220" algn="l" rtl="0" eaLnBrk="0">
                        <a:lnSpc>
                          <a:spcPct val="81000"/>
                        </a:lnSpc>
                        <a:spcBef>
                          <a:spcPts val="5"/>
                        </a:spcBef>
                      </a:pPr>
                      <a:r>
                        <a:rPr sz="2800" b="1" kern="0" spc="-80" dirty="0">
                          <a:solidFill>
                            <a:srgbClr val="000000">
                              <a:alpha val="100000"/>
                            </a:srgbClr>
                          </a:solidFill>
                          <a:latin typeface="Tahoma" panose="020B0604030504040204"/>
                          <a:ea typeface="Tahoma" panose="020B0604030504040204"/>
                          <a:cs typeface="Tahoma" panose="020B0604030504040204"/>
                        </a:rPr>
                        <a:t>14</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214" name="textbox 214"/>
          <p:cNvSpPr/>
          <p:nvPr/>
        </p:nvSpPr>
        <p:spPr>
          <a:xfrm>
            <a:off x="1563474" y="1327775"/>
            <a:ext cx="4240529" cy="18834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3385"/>
              </a:lnSpc>
            </a:pPr>
            <a:r>
              <a:rPr sz="2800" kern="0" spc="-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3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60" dirty="0">
                <a:solidFill>
                  <a:srgbClr val="000000">
                    <a:alpha val="100000"/>
                  </a:srgbClr>
                </a:solidFill>
                <a:latin typeface="仿宋" panose="02010609060101010101" charset="-122"/>
                <a:ea typeface="仿宋" panose="02010609060101010101" charset="-122"/>
                <a:cs typeface="仿宋" panose="02010609060101010101" charset="-122"/>
              </a:rPr>
              <a:t>分组下标</a:t>
            </a:r>
            <a:r>
              <a:rPr sz="2800" b="1" kern="0" spc="-60" dirty="0">
                <a:solidFill>
                  <a:srgbClr val="000000">
                    <a:alpha val="100000"/>
                  </a:srgbClr>
                </a:solidFill>
                <a:latin typeface="Times New Roman" panose="02020603050405020304"/>
                <a:ea typeface="Times New Roman" panose="02020603050405020304"/>
                <a:cs typeface="Times New Roman" panose="02020603050405020304"/>
              </a:rPr>
              <a:t>n</a:t>
            </a:r>
            <a:endParaRPr sz="2800" dirty="0">
              <a:latin typeface="Times New Roman" panose="02020603050405020304"/>
              <a:ea typeface="Times New Roman" panose="02020603050405020304"/>
              <a:cs typeface="Times New Roman" panose="02020603050405020304"/>
            </a:endParaRPr>
          </a:p>
          <a:p>
            <a:pPr marL="12700" algn="l" rtl="0" eaLnBrk="0">
              <a:lnSpc>
                <a:spcPct val="92000"/>
              </a:lnSpc>
              <a:spcBef>
                <a:spcPts val="645"/>
              </a:spcBef>
            </a:pPr>
            <a:r>
              <a:rPr sz="2800" kern="0" spc="-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4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阵列位置</a:t>
            </a:r>
            <a:r>
              <a:rPr sz="2800" b="1" kern="0" spc="-50" dirty="0">
                <a:solidFill>
                  <a:srgbClr val="000000">
                    <a:alpha val="100000"/>
                  </a:srgbClr>
                </a:solidFill>
                <a:latin typeface="Times New Roman" panose="02020603050405020304"/>
                <a:ea typeface="Times New Roman" panose="02020603050405020304"/>
                <a:cs typeface="Times New Roman" panose="02020603050405020304"/>
              </a:rPr>
              <a:t>(i,j)</a:t>
            </a:r>
            <a:endParaRPr sz="2800" dirty="0">
              <a:latin typeface="Times New Roman" panose="02020603050405020304"/>
              <a:ea typeface="Times New Roman" panose="02020603050405020304"/>
              <a:cs typeface="Times New Roman" panose="02020603050405020304"/>
            </a:endParaRPr>
          </a:p>
          <a:p>
            <a:pPr marL="466725" algn="l" rtl="0" eaLnBrk="0">
              <a:lnSpc>
                <a:spcPct val="81000"/>
              </a:lnSpc>
              <a:spcBef>
                <a:spcPts val="715"/>
              </a:spcBef>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3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i=n mod 4, j=[n/4];n=i+4j</a:t>
            </a:r>
            <a:endParaRPr sz="2400" dirty="0">
              <a:latin typeface="Times New Roman" panose="02020603050405020304"/>
              <a:ea typeface="Times New Roman" panose="02020603050405020304"/>
              <a:cs typeface="Times New Roman" panose="02020603050405020304"/>
            </a:endParaRPr>
          </a:p>
          <a:p>
            <a:pPr algn="l" rtl="0" eaLnBrk="0">
              <a:lnSpc>
                <a:spcPct val="101000"/>
              </a:lnSpc>
            </a:pPr>
            <a:endParaRPr sz="8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3490"/>
              </a:lnSpc>
              <a:spcBef>
                <a:spcPts val="5"/>
              </a:spcBef>
            </a:pPr>
            <a:r>
              <a:rPr sz="2800" kern="0" spc="-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轮数</a:t>
            </a:r>
            <a:r>
              <a:rPr sz="2800" b="1" kern="0" spc="-50" dirty="0">
                <a:solidFill>
                  <a:srgbClr val="000000">
                    <a:alpha val="100000"/>
                  </a:srgbClr>
                </a:solidFill>
                <a:latin typeface="Times New Roman" panose="02020603050405020304"/>
                <a:ea typeface="Times New Roman" panose="02020603050405020304"/>
                <a:cs typeface="Times New Roman" panose="02020603050405020304"/>
              </a:rPr>
              <a:t>N</a:t>
            </a:r>
            <a:r>
              <a:rPr sz="2800" b="1" kern="0" spc="-50" baseline="-20000" dirty="0">
                <a:solidFill>
                  <a:srgbClr val="000000">
                    <a:alpha val="100000"/>
                  </a:srgbClr>
                </a:solidFill>
                <a:latin typeface="Times New Roman" panose="02020603050405020304"/>
                <a:ea typeface="Times New Roman" panose="02020603050405020304"/>
                <a:cs typeface="Times New Roman" panose="02020603050405020304"/>
              </a:rPr>
              <a:t>r</a:t>
            </a:r>
            <a:r>
              <a:rPr sz="1800" b="1"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与</a:t>
            </a:r>
            <a:r>
              <a:rPr sz="2800" b="1" kern="0" spc="-50" dirty="0">
                <a:solidFill>
                  <a:srgbClr val="000000">
                    <a:alpha val="100000"/>
                  </a:srgbClr>
                </a:solidFill>
                <a:latin typeface="Times New Roman" panose="02020603050405020304"/>
                <a:ea typeface="Times New Roman" panose="02020603050405020304"/>
                <a:cs typeface="Times New Roman" panose="02020603050405020304"/>
              </a:rPr>
              <a:t>N</a:t>
            </a:r>
            <a:r>
              <a:rPr sz="2800" b="1" kern="0" spc="-50" baseline="-20000" dirty="0">
                <a:solidFill>
                  <a:srgbClr val="000000">
                    <a:alpha val="100000"/>
                  </a:srgbClr>
                </a:solidFill>
                <a:latin typeface="Times New Roman" panose="02020603050405020304"/>
                <a:ea typeface="Times New Roman" panose="02020603050405020304"/>
                <a:cs typeface="Times New Roman" panose="02020603050405020304"/>
              </a:rPr>
              <a:t>b</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和</a:t>
            </a:r>
            <a:r>
              <a:rPr sz="2800" b="1" kern="0" spc="-50" dirty="0">
                <a:solidFill>
                  <a:srgbClr val="000000">
                    <a:alpha val="100000"/>
                  </a:srgbClr>
                </a:solidFill>
                <a:latin typeface="Times New Roman" panose="02020603050405020304"/>
                <a:ea typeface="Times New Roman" panose="02020603050405020304"/>
                <a:cs typeface="Times New Roman" panose="02020603050405020304"/>
              </a:rPr>
              <a:t>N</a:t>
            </a:r>
            <a:r>
              <a:rPr sz="2800" b="1" kern="0" spc="-50" baseline="-20000" dirty="0">
                <a:solidFill>
                  <a:srgbClr val="000000">
                    <a:alpha val="100000"/>
                  </a:srgbClr>
                </a:solidFill>
                <a:latin typeface="Times New Roman" panose="02020603050405020304"/>
                <a:ea typeface="Times New Roman" panose="02020603050405020304"/>
                <a:cs typeface="Times New Roman" panose="02020603050405020304"/>
              </a:rPr>
              <a:t>k</a:t>
            </a:r>
            <a:r>
              <a:rPr sz="1800" b="1"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对应关系</a:t>
            </a:r>
            <a:endParaRPr sz="2800" dirty="0">
              <a:latin typeface="仿宋" panose="02010609060101010101" charset="-122"/>
              <a:ea typeface="仿宋" panose="02010609060101010101" charset="-122"/>
              <a:cs typeface="仿宋" panose="02010609060101010101" charset="-122"/>
            </a:endParaRPr>
          </a:p>
        </p:txBody>
      </p:sp>
      <p:sp>
        <p:nvSpPr>
          <p:cNvPr id="216" name="textbox 216"/>
          <p:cNvSpPr/>
          <p:nvPr/>
        </p:nvSpPr>
        <p:spPr>
          <a:xfrm>
            <a:off x="1576193" y="491245"/>
            <a:ext cx="4886959" cy="47942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70" dirty="0">
                <a:solidFill>
                  <a:srgbClr val="0563C1">
                    <a:alpha val="100000"/>
                  </a:srgbClr>
                </a:solidFill>
                <a:latin typeface="仿宋" panose="02010609060101010101" charset="-122"/>
                <a:ea typeface="仿宋" panose="02010609060101010101" charset="-122"/>
                <a:cs typeface="仿宋" panose="02010609060101010101" charset="-122"/>
              </a:rPr>
              <a:t>分组和阵列中元素对应关系</a:t>
            </a:r>
            <a:endParaRPr sz="3100" dirty="0">
              <a:latin typeface="仿宋" panose="02010609060101010101" charset="-122"/>
              <a:ea typeface="仿宋" panose="02010609060101010101" charset="-122"/>
              <a:cs typeface="仿宋" panose="02010609060101010101" charset="-122"/>
            </a:endParaRPr>
          </a:p>
        </p:txBody>
      </p:sp>
      <p:sp>
        <p:nvSpPr>
          <p:cNvPr id="220" name="path 220"/>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222" name="picture 222"/>
          <p:cNvPicPr>
            <a:picLocks noChangeAspect="1"/>
          </p:cNvPicPr>
          <p:nvPr/>
        </p:nvPicPr>
        <p:blipFill>
          <a:blip r:embed="rId1"/>
          <a:stretch>
            <a:fillRect/>
          </a:stretch>
        </p:blipFill>
        <p:spPr>
          <a:xfrm rot="21600000">
            <a:off x="822960" y="408431"/>
            <a:ext cx="420623" cy="655320"/>
          </a:xfrm>
          <a:prstGeom prst="rect">
            <a:avLst/>
          </a:prstGeom>
        </p:spPr>
      </p:pic>
      <p:sp>
        <p:nvSpPr>
          <p:cNvPr id="224" name="path 224"/>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1600000">
            <a:off x="3709415" y="2691383"/>
            <a:ext cx="5205984" cy="813816"/>
            <a:chOff x="0" y="0"/>
            <a:chExt cx="5205984" cy="813816"/>
          </a:xfrm>
        </p:grpSpPr>
        <p:pic>
          <p:nvPicPr>
            <p:cNvPr id="10" name="picture 10"/>
            <p:cNvPicPr>
              <a:picLocks noChangeAspect="1"/>
            </p:cNvPicPr>
            <p:nvPr/>
          </p:nvPicPr>
          <p:blipFill>
            <a:blip r:embed="rId1"/>
            <a:stretch>
              <a:fillRect/>
            </a:stretch>
          </p:blipFill>
          <p:spPr>
            <a:xfrm rot="21600000">
              <a:off x="0" y="0"/>
              <a:ext cx="5205984" cy="813816"/>
            </a:xfrm>
            <a:prstGeom prst="rect">
              <a:avLst/>
            </a:prstGeom>
          </p:spPr>
        </p:pic>
        <p:sp>
          <p:nvSpPr>
            <p:cNvPr id="12" name="textbox 12"/>
            <p:cNvSpPr/>
            <p:nvPr/>
          </p:nvSpPr>
          <p:spPr>
            <a:xfrm>
              <a:off x="-12700" y="-12700"/>
              <a:ext cx="5231765" cy="876935"/>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680085" algn="l" rtl="0" eaLnBrk="0">
                <a:lnSpc>
                  <a:spcPct val="94000"/>
                </a:lnSpc>
              </a:pP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行移位</a:t>
              </a:r>
              <a:endParaRPr sz="2400" dirty="0">
                <a:latin typeface="仿宋" panose="02010609060101010101" charset="-122"/>
                <a:ea typeface="仿宋" panose="02010609060101010101" charset="-122"/>
                <a:cs typeface="仿宋" panose="02010609060101010101" charset="-122"/>
              </a:endParaRPr>
            </a:p>
          </p:txBody>
        </p:sp>
      </p:grpSp>
      <p:grpSp>
        <p:nvGrpSpPr>
          <p:cNvPr id="4" name="group 4"/>
          <p:cNvGrpSpPr/>
          <p:nvPr/>
        </p:nvGrpSpPr>
        <p:grpSpPr>
          <a:xfrm rot="21600000">
            <a:off x="3206495" y="1624583"/>
            <a:ext cx="5708904" cy="813816"/>
            <a:chOff x="0" y="0"/>
            <a:chExt cx="5708904" cy="813816"/>
          </a:xfrm>
        </p:grpSpPr>
        <p:pic>
          <p:nvPicPr>
            <p:cNvPr id="14" name="picture 14"/>
            <p:cNvPicPr>
              <a:picLocks noChangeAspect="1"/>
            </p:cNvPicPr>
            <p:nvPr/>
          </p:nvPicPr>
          <p:blipFill>
            <a:blip r:embed="rId2"/>
            <a:stretch>
              <a:fillRect/>
            </a:stretch>
          </p:blipFill>
          <p:spPr>
            <a:xfrm rot="21600000">
              <a:off x="0" y="0"/>
              <a:ext cx="5708904" cy="813816"/>
            </a:xfrm>
            <a:prstGeom prst="rect">
              <a:avLst/>
            </a:prstGeom>
          </p:spPr>
        </p:pic>
        <p:sp>
          <p:nvSpPr>
            <p:cNvPr id="16" name="textbox 16"/>
            <p:cNvSpPr/>
            <p:nvPr/>
          </p:nvSpPr>
          <p:spPr>
            <a:xfrm>
              <a:off x="-12700" y="-12700"/>
              <a:ext cx="5734684" cy="87820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90880" algn="l" rtl="0" eaLnBrk="0">
                <a:lnSpc>
                  <a:spcPct val="94000"/>
                </a:lnSpc>
                <a:spcBef>
                  <a:spcPts val="5"/>
                </a:spcBef>
              </a:pPr>
              <a:r>
                <a:rPr sz="2400" b="1" kern="0" spc="-70" dirty="0">
                  <a:solidFill>
                    <a:srgbClr val="FFFFFF">
                      <a:alpha val="100000"/>
                    </a:srgbClr>
                  </a:solidFill>
                  <a:latin typeface="仿宋" panose="02010609060101010101" charset="-122"/>
                  <a:ea typeface="仿宋" panose="02010609060101010101" charset="-122"/>
                  <a:cs typeface="仿宋" panose="02010609060101010101" charset="-122"/>
                </a:rPr>
                <a:t>字节代换</a:t>
              </a:r>
              <a:endParaRPr sz="2400" dirty="0">
                <a:latin typeface="仿宋" panose="02010609060101010101" charset="-122"/>
                <a:ea typeface="仿宋" panose="02010609060101010101" charset="-122"/>
                <a:cs typeface="仿宋" panose="02010609060101010101" charset="-122"/>
              </a:endParaRPr>
            </a:p>
          </p:txBody>
        </p:sp>
      </p:grpSp>
      <p:grpSp>
        <p:nvGrpSpPr>
          <p:cNvPr id="6" name="group 6"/>
          <p:cNvGrpSpPr/>
          <p:nvPr/>
        </p:nvGrpSpPr>
        <p:grpSpPr>
          <a:xfrm rot="21600000">
            <a:off x="3709415" y="3800855"/>
            <a:ext cx="5205984" cy="813816"/>
            <a:chOff x="0" y="0"/>
            <a:chExt cx="5205984" cy="813816"/>
          </a:xfrm>
        </p:grpSpPr>
        <p:pic>
          <p:nvPicPr>
            <p:cNvPr id="18" name="picture 18"/>
            <p:cNvPicPr>
              <a:picLocks noChangeAspect="1"/>
            </p:cNvPicPr>
            <p:nvPr/>
          </p:nvPicPr>
          <p:blipFill>
            <a:blip r:embed="rId3"/>
            <a:stretch>
              <a:fillRect/>
            </a:stretch>
          </p:blipFill>
          <p:spPr>
            <a:xfrm rot="21600000">
              <a:off x="0" y="0"/>
              <a:ext cx="5205984" cy="813816"/>
            </a:xfrm>
            <a:prstGeom prst="rect">
              <a:avLst/>
            </a:prstGeom>
          </p:spPr>
        </p:pic>
        <p:sp>
          <p:nvSpPr>
            <p:cNvPr id="20" name="textbox 20"/>
            <p:cNvSpPr/>
            <p:nvPr/>
          </p:nvSpPr>
          <p:spPr>
            <a:xfrm>
              <a:off x="-12700" y="-12700"/>
              <a:ext cx="5231765" cy="879475"/>
            </a:xfrm>
            <a:prstGeom prst="rect">
              <a:avLst/>
            </a:prstGeom>
            <a:noFill/>
            <a:ln w="0" cap="flat">
              <a:noFill/>
              <a:prstDash val="solid"/>
              <a:miter lim="0"/>
            </a:ln>
          </p:spPr>
          <p:txBody>
            <a:bodyPr vert="horz" wrap="square" lIns="0" tIns="0" rIns="0" bIns="0"/>
            <a:lstStyle/>
            <a:p>
              <a:pPr algn="l" rtl="0" eaLnBrk="0">
                <a:lnSpc>
                  <a:spcPct val="169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687705" algn="l" rtl="0" eaLnBrk="0">
                <a:lnSpc>
                  <a:spcPct val="94000"/>
                </a:lnSpc>
              </a:pPr>
              <a:r>
                <a:rPr sz="2400" b="1" kern="0" spc="-60" dirty="0">
                  <a:solidFill>
                    <a:srgbClr val="FFFFFF">
                      <a:alpha val="100000"/>
                    </a:srgbClr>
                  </a:solidFill>
                  <a:latin typeface="仿宋" panose="02010609060101010101" charset="-122"/>
                  <a:ea typeface="仿宋" panose="02010609060101010101" charset="-122"/>
                  <a:cs typeface="仿宋" panose="02010609060101010101" charset="-122"/>
                </a:rPr>
                <a:t>列混淆</a:t>
              </a:r>
              <a:endParaRPr sz="2400" dirty="0">
                <a:latin typeface="仿宋" panose="02010609060101010101" charset="-122"/>
                <a:ea typeface="仿宋" panose="02010609060101010101" charset="-122"/>
                <a:cs typeface="仿宋" panose="02010609060101010101" charset="-122"/>
              </a:endParaRPr>
            </a:p>
          </p:txBody>
        </p:sp>
      </p:grpSp>
      <p:grpSp>
        <p:nvGrpSpPr>
          <p:cNvPr id="8" name="group 8"/>
          <p:cNvGrpSpPr/>
          <p:nvPr/>
        </p:nvGrpSpPr>
        <p:grpSpPr>
          <a:xfrm rot="21600000">
            <a:off x="3206495" y="4910328"/>
            <a:ext cx="5708904" cy="813816"/>
            <a:chOff x="0" y="0"/>
            <a:chExt cx="5708904" cy="813816"/>
          </a:xfrm>
        </p:grpSpPr>
        <p:pic>
          <p:nvPicPr>
            <p:cNvPr id="22" name="picture 22"/>
            <p:cNvPicPr>
              <a:picLocks noChangeAspect="1"/>
            </p:cNvPicPr>
            <p:nvPr/>
          </p:nvPicPr>
          <p:blipFill>
            <a:blip r:embed="rId4"/>
            <a:stretch>
              <a:fillRect/>
            </a:stretch>
          </p:blipFill>
          <p:spPr>
            <a:xfrm rot="21600000">
              <a:off x="0" y="0"/>
              <a:ext cx="5708904" cy="813816"/>
            </a:xfrm>
            <a:prstGeom prst="rect">
              <a:avLst/>
            </a:prstGeom>
          </p:spPr>
        </p:pic>
        <p:sp>
          <p:nvSpPr>
            <p:cNvPr id="24" name="textbox 24"/>
            <p:cNvSpPr/>
            <p:nvPr/>
          </p:nvSpPr>
          <p:spPr>
            <a:xfrm>
              <a:off x="-12700" y="-12700"/>
              <a:ext cx="5734684" cy="874394"/>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78180" algn="l" rtl="0" eaLnBrk="0">
                <a:lnSpc>
                  <a:spcPct val="93000"/>
                </a:lnSpc>
                <a:spcBef>
                  <a:spcPts val="5"/>
                </a:spcBef>
              </a:pP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轮密钥加</a:t>
              </a:r>
              <a:endParaRPr sz="2400" dirty="0">
                <a:latin typeface="仿宋" panose="02010609060101010101" charset="-122"/>
                <a:ea typeface="仿宋" panose="02010609060101010101" charset="-122"/>
                <a:cs typeface="仿宋" panose="02010609060101010101" charset="-122"/>
              </a:endParaRPr>
            </a:p>
          </p:txBody>
        </p:sp>
      </p:grpSp>
      <p:grpSp>
        <p:nvGrpSpPr>
          <p:cNvPr id="3" name="group 10"/>
          <p:cNvGrpSpPr/>
          <p:nvPr/>
        </p:nvGrpSpPr>
        <p:grpSpPr>
          <a:xfrm rot="21600000">
            <a:off x="2620898" y="1335404"/>
            <a:ext cx="1600580" cy="4492371"/>
            <a:chOff x="0" y="0"/>
            <a:chExt cx="1600580" cy="4492371"/>
          </a:xfrm>
        </p:grpSpPr>
        <p:sp>
          <p:nvSpPr>
            <p:cNvPr id="26" name="path 26"/>
            <p:cNvSpPr/>
            <p:nvPr/>
          </p:nvSpPr>
          <p:spPr>
            <a:xfrm>
              <a:off x="0" y="0"/>
              <a:ext cx="1225704" cy="4475619"/>
            </a:xfrm>
            <a:custGeom>
              <a:avLst/>
              <a:gdLst/>
              <a:ahLst/>
              <a:cxnLst/>
              <a:rect l="0" t="0" r="0" b="0"/>
              <a:pathLst>
                <a:path w="1930" h="7048">
                  <a:moveTo>
                    <a:pt x="199" y="4"/>
                  </a:moveTo>
                  <a:cubicBezTo>
                    <a:pt x="2103" y="1431"/>
                    <a:pt x="2492" y="4133"/>
                    <a:pt x="1066" y="6038"/>
                  </a:cubicBezTo>
                  <a:cubicBezTo>
                    <a:pt x="772" y="6431"/>
                    <a:pt x="413" y="6771"/>
                    <a:pt x="4" y="7043"/>
                  </a:cubicBezTo>
                  <a:lnTo>
                    <a:pt x="4" y="7043"/>
                  </a:lnTo>
                  <a:cubicBezTo>
                    <a:pt x="1985" y="5724"/>
                    <a:pt x="2522" y="3048"/>
                    <a:pt x="1203" y="1066"/>
                  </a:cubicBezTo>
                  <a:cubicBezTo>
                    <a:pt x="931" y="658"/>
                    <a:pt x="592" y="299"/>
                    <a:pt x="199" y="4"/>
                  </a:cubicBezTo>
                </a:path>
              </a:pathLst>
            </a:custGeom>
            <a:noFill/>
            <a:ln w="6096" cap="flat">
              <a:solidFill>
                <a:srgbClr val="477BA9"/>
              </a:solidFill>
              <a:prstDash val="solid"/>
              <a:miter lim="1000000"/>
            </a:ln>
          </p:spPr>
          <p:txBody>
            <a:bodyPr rtlCol="0"/>
            <a:lstStyle/>
            <a:p>
              <a:pPr algn="ctr"/>
              <a:endParaRPr lang="zh-CN" altLang="en-US"/>
            </a:p>
          </p:txBody>
        </p:sp>
        <p:sp>
          <p:nvSpPr>
            <p:cNvPr id="28" name="path 28"/>
            <p:cNvSpPr/>
            <p:nvPr/>
          </p:nvSpPr>
          <p:spPr>
            <a:xfrm>
              <a:off x="76580" y="188595"/>
              <a:ext cx="1018032" cy="1014984"/>
            </a:xfrm>
            <a:custGeom>
              <a:avLst/>
              <a:gdLst/>
              <a:ahLst/>
              <a:cxnLst/>
              <a:rect l="0" t="0" r="0" b="0"/>
              <a:pathLst>
                <a:path w="1603" h="1598">
                  <a:moveTo>
                    <a:pt x="0" y="799"/>
                  </a:moveTo>
                  <a:cubicBezTo>
                    <a:pt x="0" y="357"/>
                    <a:pt x="358" y="0"/>
                    <a:pt x="801" y="0"/>
                  </a:cubicBezTo>
                  <a:cubicBezTo>
                    <a:pt x="1244" y="0"/>
                    <a:pt x="1603" y="357"/>
                    <a:pt x="1603" y="799"/>
                  </a:cubicBezTo>
                  <a:cubicBezTo>
                    <a:pt x="1603" y="1240"/>
                    <a:pt x="1244" y="1598"/>
                    <a:pt x="801" y="1598"/>
                  </a:cubicBezTo>
                  <a:cubicBezTo>
                    <a:pt x="358"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0" name="path 30"/>
            <p:cNvSpPr/>
            <p:nvPr/>
          </p:nvSpPr>
          <p:spPr>
            <a:xfrm>
              <a:off x="73532" y="185547"/>
              <a:ext cx="1024127" cy="1021079"/>
            </a:xfrm>
            <a:custGeom>
              <a:avLst/>
              <a:gdLst/>
              <a:ahLst/>
              <a:cxnLst/>
              <a:rect l="0" t="0" r="0" b="0"/>
              <a:pathLst>
                <a:path w="1612" h="1607">
                  <a:moveTo>
                    <a:pt x="4" y="803"/>
                  </a:moveTo>
                  <a:cubicBezTo>
                    <a:pt x="4" y="362"/>
                    <a:pt x="363" y="4"/>
                    <a:pt x="806" y="4"/>
                  </a:cubicBezTo>
                  <a:cubicBezTo>
                    <a:pt x="1249" y="4"/>
                    <a:pt x="1608" y="362"/>
                    <a:pt x="1608" y="803"/>
                  </a:cubicBezTo>
                  <a:cubicBezTo>
                    <a:pt x="1608" y="1245"/>
                    <a:pt x="1249" y="1603"/>
                    <a:pt x="806" y="1603"/>
                  </a:cubicBezTo>
                  <a:cubicBezTo>
                    <a:pt x="363"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32" name="path 32"/>
            <p:cNvSpPr/>
            <p:nvPr/>
          </p:nvSpPr>
          <p:spPr>
            <a:xfrm>
              <a:off x="579501" y="1255395"/>
              <a:ext cx="1014983" cy="1014984"/>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4" name="path 34"/>
            <p:cNvSpPr/>
            <p:nvPr/>
          </p:nvSpPr>
          <p:spPr>
            <a:xfrm>
              <a:off x="576452" y="1252347"/>
              <a:ext cx="1021079" cy="1021080"/>
            </a:xfrm>
            <a:custGeom>
              <a:avLst/>
              <a:gdLst/>
              <a:ahLst/>
              <a:cxnLst/>
              <a:rect l="0" t="0" r="0" b="0"/>
              <a:pathLst>
                <a:path w="1607" h="1608">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36" name="path 36"/>
            <p:cNvSpPr/>
            <p:nvPr/>
          </p:nvSpPr>
          <p:spPr>
            <a:xfrm>
              <a:off x="582548" y="2364867"/>
              <a:ext cx="1014984"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8" name="path 38"/>
            <p:cNvSpPr/>
            <p:nvPr/>
          </p:nvSpPr>
          <p:spPr>
            <a:xfrm>
              <a:off x="579500" y="2361819"/>
              <a:ext cx="1021080" cy="1021080"/>
            </a:xfrm>
            <a:custGeom>
              <a:avLst/>
              <a:gdLst/>
              <a:ahLst/>
              <a:cxnLst/>
              <a:rect l="0" t="0" r="0" b="0"/>
              <a:pathLst>
                <a:path w="1608" h="1608">
                  <a:moveTo>
                    <a:pt x="4" y="803"/>
                  </a:moveTo>
                  <a:cubicBezTo>
                    <a:pt x="4" y="362"/>
                    <a:pt x="362" y="4"/>
                    <a:pt x="804" y="4"/>
                  </a:cubicBezTo>
                  <a:cubicBezTo>
                    <a:pt x="1245" y="4"/>
                    <a:pt x="1603" y="362"/>
                    <a:pt x="1603" y="803"/>
                  </a:cubicBezTo>
                  <a:cubicBezTo>
                    <a:pt x="1603" y="1245"/>
                    <a:pt x="1245" y="1603"/>
                    <a:pt x="804" y="1603"/>
                  </a:cubicBezTo>
                  <a:cubicBezTo>
                    <a:pt x="362"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40" name="path 40"/>
            <p:cNvSpPr/>
            <p:nvPr/>
          </p:nvSpPr>
          <p:spPr>
            <a:xfrm>
              <a:off x="76580" y="3474339"/>
              <a:ext cx="1018032" cy="1014983"/>
            </a:xfrm>
            <a:custGeom>
              <a:avLst/>
              <a:gdLst/>
              <a:ahLst/>
              <a:cxnLst/>
              <a:rect l="0" t="0" r="0" b="0"/>
              <a:pathLst>
                <a:path w="1603" h="1598">
                  <a:moveTo>
                    <a:pt x="0" y="799"/>
                  </a:moveTo>
                  <a:cubicBezTo>
                    <a:pt x="0" y="357"/>
                    <a:pt x="358" y="0"/>
                    <a:pt x="801" y="0"/>
                  </a:cubicBezTo>
                  <a:cubicBezTo>
                    <a:pt x="1244" y="0"/>
                    <a:pt x="1603" y="357"/>
                    <a:pt x="1603" y="799"/>
                  </a:cubicBezTo>
                  <a:cubicBezTo>
                    <a:pt x="1603" y="1240"/>
                    <a:pt x="1244" y="1598"/>
                    <a:pt x="801" y="1598"/>
                  </a:cubicBezTo>
                  <a:cubicBezTo>
                    <a:pt x="358"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42" name="path 42"/>
            <p:cNvSpPr/>
            <p:nvPr/>
          </p:nvSpPr>
          <p:spPr>
            <a:xfrm>
              <a:off x="73532" y="3471291"/>
              <a:ext cx="1024127" cy="1021080"/>
            </a:xfrm>
            <a:custGeom>
              <a:avLst/>
              <a:gdLst/>
              <a:ahLst/>
              <a:cxnLst/>
              <a:rect l="0" t="0" r="0" b="0"/>
              <a:pathLst>
                <a:path w="1612" h="1608">
                  <a:moveTo>
                    <a:pt x="4" y="804"/>
                  </a:moveTo>
                  <a:cubicBezTo>
                    <a:pt x="4" y="362"/>
                    <a:pt x="363" y="4"/>
                    <a:pt x="806" y="4"/>
                  </a:cubicBezTo>
                  <a:cubicBezTo>
                    <a:pt x="1249" y="4"/>
                    <a:pt x="1608" y="362"/>
                    <a:pt x="1608" y="804"/>
                  </a:cubicBezTo>
                  <a:cubicBezTo>
                    <a:pt x="1608" y="1245"/>
                    <a:pt x="1249" y="1603"/>
                    <a:pt x="806" y="1603"/>
                  </a:cubicBezTo>
                  <a:cubicBezTo>
                    <a:pt x="363" y="1603"/>
                    <a:pt x="4" y="1245"/>
                    <a:pt x="4" y="804"/>
                  </a:cubicBezTo>
                </a:path>
              </a:pathLst>
            </a:custGeom>
            <a:noFill/>
            <a:ln w="6096" cap="flat">
              <a:solidFill>
                <a:srgbClr val="5B9BD5"/>
              </a:solidFill>
              <a:prstDash val="solid"/>
              <a:miter lim="1000000"/>
            </a:ln>
          </p:spPr>
          <p:txBody>
            <a:bodyPr rtlCol="0"/>
            <a:lstStyle/>
            <a:p>
              <a:pPr algn="ctr"/>
              <a:endParaRPr lang="zh-CN" altLang="en-US"/>
            </a:p>
          </p:txBody>
        </p:sp>
      </p:grpSp>
      <p:sp>
        <p:nvSpPr>
          <p:cNvPr id="44" name="textbox 44"/>
          <p:cNvSpPr/>
          <p:nvPr/>
        </p:nvSpPr>
        <p:spPr>
          <a:xfrm>
            <a:off x="2745984" y="491245"/>
            <a:ext cx="4450715" cy="476250"/>
          </a:xfrm>
          <a:prstGeom prst="rect">
            <a:avLst/>
          </a:prstGeom>
          <a:noFill/>
          <a:ln w="0" cap="flat">
            <a:noFill/>
            <a:prstDash val="solid"/>
            <a:miter lim="0"/>
          </a:ln>
        </p:spPr>
        <p:txBody>
          <a:bodyPr vert="horz" wrap="square" lIns="0" tIns="0" rIns="0" bIns="0"/>
          <a:lstStyle/>
          <a:p>
            <a:pPr algn="l" rtl="0" eaLnBrk="0">
              <a:lnSpc>
                <a:spcPct val="9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3100"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kern="0" spc="70" dirty="0">
                <a:solidFill>
                  <a:srgbClr val="1F4E79">
                    <a:alpha val="100000"/>
                  </a:srgbClr>
                </a:solidFill>
                <a:latin typeface="仿宋" panose="02010609060101010101" charset="-122"/>
                <a:ea typeface="仿宋" panose="02010609060101010101" charset="-122"/>
                <a:cs typeface="仿宋" panose="02010609060101010101" charset="-122"/>
              </a:rPr>
              <a:t>的轮函数</a:t>
            </a:r>
            <a:endParaRPr sz="3100" dirty="0">
              <a:latin typeface="仿宋" panose="02010609060101010101" charset="-122"/>
              <a:ea typeface="仿宋" panose="02010609060101010101" charset="-122"/>
              <a:cs typeface="仿宋" panose="02010609060101010101" charset="-122"/>
            </a:endParaRPr>
          </a:p>
        </p:txBody>
      </p:sp>
      <p:sp>
        <p:nvSpPr>
          <p:cNvPr id="48" name="path 4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50" name="picture 50"/>
          <p:cNvPicPr>
            <a:picLocks noChangeAspect="1"/>
          </p:cNvPicPr>
          <p:nvPr/>
        </p:nvPicPr>
        <p:blipFill>
          <a:blip r:embed="rId5"/>
          <a:stretch>
            <a:fillRect/>
          </a:stretch>
        </p:blipFill>
        <p:spPr>
          <a:xfrm rot="21600000">
            <a:off x="822960" y="408431"/>
            <a:ext cx="420623" cy="655320"/>
          </a:xfrm>
          <a:prstGeom prst="rect">
            <a:avLst/>
          </a:prstGeom>
        </p:spPr>
      </p:pic>
      <p:sp>
        <p:nvSpPr>
          <p:cNvPr id="52" name="path 5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extbox 128"/>
          <p:cNvSpPr/>
          <p:nvPr/>
        </p:nvSpPr>
        <p:spPr>
          <a:xfrm>
            <a:off x="1546195" y="491245"/>
            <a:ext cx="3087370"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lang="zh-CN" sz="3100" dirty="0">
                <a:latin typeface="仿宋" panose="02010609060101010101" charset="-122"/>
                <a:ea typeface="仿宋" panose="02010609060101010101" charset="-122"/>
                <a:cs typeface="仿宋" panose="02010609060101010101" charset="-122"/>
              </a:rPr>
              <a:t>字节代换（</a:t>
            </a:r>
            <a:r>
              <a:rPr lang="en-US" altLang="zh-CN" sz="3100" dirty="0">
                <a:latin typeface="仿宋" panose="02010609060101010101" charset="-122"/>
                <a:ea typeface="仿宋" panose="02010609060101010101" charset="-122"/>
                <a:cs typeface="仿宋" panose="02010609060101010101" charset="-122"/>
              </a:rPr>
              <a:t>S</a:t>
            </a:r>
            <a:r>
              <a:rPr lang="zh-CN" altLang="en-US" sz="3100" dirty="0">
                <a:latin typeface="仿宋" panose="02010609060101010101" charset="-122"/>
                <a:ea typeface="仿宋" panose="02010609060101010101" charset="-122"/>
                <a:cs typeface="仿宋" panose="02010609060101010101" charset="-122"/>
              </a:rPr>
              <a:t>盒）</a:t>
            </a:r>
            <a:endParaRPr lang="zh-CN" altLang="en-US" sz="3100" dirty="0">
              <a:latin typeface="仿宋" panose="02010609060101010101" charset="-122"/>
              <a:ea typeface="仿宋" panose="02010609060101010101" charset="-122"/>
              <a:cs typeface="仿宋" panose="02010609060101010101" charset="-122"/>
            </a:endParaRPr>
          </a:p>
        </p:txBody>
      </p:sp>
      <p:sp>
        <p:nvSpPr>
          <p:cNvPr id="132" name="path 132"/>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34" name="picture 134"/>
          <p:cNvPicPr>
            <a:picLocks noChangeAspect="1"/>
          </p:cNvPicPr>
          <p:nvPr/>
        </p:nvPicPr>
        <p:blipFill>
          <a:blip r:embed="rId1"/>
          <a:stretch>
            <a:fillRect/>
          </a:stretch>
        </p:blipFill>
        <p:spPr>
          <a:xfrm rot="21600000">
            <a:off x="822960" y="408431"/>
            <a:ext cx="420623" cy="655320"/>
          </a:xfrm>
          <a:prstGeom prst="rect">
            <a:avLst/>
          </a:prstGeom>
        </p:spPr>
      </p:pic>
      <p:sp>
        <p:nvSpPr>
          <p:cNvPr id="136" name="path 13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3" name="图片 2"/>
          <p:cNvPicPr>
            <a:picLocks noChangeAspect="1"/>
          </p:cNvPicPr>
          <p:nvPr/>
        </p:nvPicPr>
        <p:blipFill>
          <a:blip r:embed="rId2"/>
          <a:stretch>
            <a:fillRect/>
          </a:stretch>
        </p:blipFill>
        <p:spPr>
          <a:xfrm>
            <a:off x="2225040" y="1418590"/>
            <a:ext cx="7741920" cy="4373880"/>
          </a:xfrm>
          <a:prstGeom prst="rect">
            <a:avLst/>
          </a:prstGeom>
        </p:spPr>
      </p:pic>
      <p:sp>
        <p:nvSpPr>
          <p:cNvPr id="2" name="圆角矩形 1"/>
          <p:cNvSpPr/>
          <p:nvPr/>
        </p:nvSpPr>
        <p:spPr>
          <a:xfrm>
            <a:off x="4700270" y="2901315"/>
            <a:ext cx="2860675" cy="73914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56"/>
          <p:cNvSpPr/>
          <p:nvPr/>
        </p:nvSpPr>
        <p:spPr>
          <a:xfrm>
            <a:off x="921835" y="1576561"/>
            <a:ext cx="10351134" cy="930275"/>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pitchFamily="34" charset="0"/>
              <a:ea typeface="Arial" panose="020B0604020202020204" pitchFamily="34" charset="0"/>
              <a:cs typeface="Arial" panose="020B0604020202020204" pitchFamily="34" charset="0"/>
            </a:endParaRPr>
          </a:p>
          <a:p>
            <a:pPr marL="469900" indent="-457200" algn="l" rtl="0" eaLnBrk="0">
              <a:lnSpc>
                <a:spcPct val="113000"/>
              </a:lnSpc>
              <a:buFont typeface="Arial" panose="020B0604020202020204" pitchFamily="34" charset="0"/>
              <a:buChar char="•"/>
            </a:pP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非线性代换，</a:t>
            </a:r>
            <a:r>
              <a:rPr 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AES</a:t>
            </a:r>
            <a:r>
              <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中的字节代替分为正向和逆向变换，是一个简单的查表操作，其中加密过程中的正向变换使用的代换表被称为</a:t>
            </a:r>
            <a:r>
              <a:rPr lang="en-US" altLang="zh-CN" sz="2800" b="1" kern="0" spc="0" dirty="0">
                <a:solidFill>
                  <a:srgbClr val="000000">
                    <a:alpha val="100000"/>
                  </a:srgbClr>
                </a:solidFill>
                <a:latin typeface="仿宋" panose="02010609060101010101" charset="-122"/>
                <a:ea typeface="仿宋" panose="02010609060101010101" charset="-122"/>
                <a:cs typeface="仿宋" panose="02010609060101010101" charset="-122"/>
              </a:rPr>
              <a:t>S</a:t>
            </a:r>
            <a:r>
              <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盒，解密过程中逆向变换使用的代换表被称为逆</a:t>
            </a:r>
            <a:r>
              <a:rPr lang="en-US" altLang="zh-CN" sz="2800" b="1" kern="0" spc="0" dirty="0">
                <a:solidFill>
                  <a:srgbClr val="000000">
                    <a:alpha val="100000"/>
                  </a:srgbClr>
                </a:solidFill>
                <a:latin typeface="仿宋" panose="02010609060101010101" charset="-122"/>
                <a:ea typeface="仿宋" panose="02010609060101010101" charset="-122"/>
                <a:cs typeface="仿宋" panose="02010609060101010101" charset="-122"/>
              </a:rPr>
              <a:t>S</a:t>
            </a:r>
            <a:r>
              <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盒。</a:t>
            </a:r>
            <a:endPar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endParaRPr>
          </a:p>
          <a:p>
            <a:pPr marL="469900" indent="-457200" algn="l" rtl="0" eaLnBrk="0">
              <a:lnSpc>
                <a:spcPct val="113000"/>
              </a:lnSpc>
              <a:buFont typeface="Arial" panose="020B0604020202020204" pitchFamily="34" charset="0"/>
              <a:buChar char="•"/>
            </a:pPr>
            <a:r>
              <a:rPr lang="en-US" altLang="zh-CN" sz="2800" b="1" kern="0" spc="0" dirty="0">
                <a:solidFill>
                  <a:srgbClr val="000000">
                    <a:alpha val="100000"/>
                  </a:srgbClr>
                </a:solidFill>
                <a:latin typeface="仿宋" panose="02010609060101010101" charset="-122"/>
                <a:ea typeface="仿宋" panose="02010609060101010101" charset="-122"/>
                <a:cs typeface="仿宋" panose="02010609060101010101" charset="-122"/>
              </a:rPr>
              <a:t>S</a:t>
            </a:r>
            <a:r>
              <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盒是一个</a:t>
            </a:r>
            <a:r>
              <a:rPr lang="en-US" altLang="zh-CN" sz="2800" b="1" kern="0" spc="0" dirty="0">
                <a:solidFill>
                  <a:srgbClr val="000000">
                    <a:alpha val="100000"/>
                  </a:srgbClr>
                </a:solidFill>
                <a:latin typeface="仿宋" panose="02010609060101010101" charset="-122"/>
                <a:ea typeface="仿宋" panose="02010609060101010101" charset="-122"/>
                <a:cs typeface="仿宋" panose="02010609060101010101" charset="-122"/>
              </a:rPr>
              <a:t>16</a:t>
            </a:r>
            <a:r>
              <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a:t>
            </a:r>
            <a:r>
              <a:rPr lang="en-US" altLang="zh-CN" sz="2800" b="1" kern="0" spc="0" dirty="0">
                <a:solidFill>
                  <a:srgbClr val="000000">
                    <a:alpha val="100000"/>
                  </a:srgbClr>
                </a:solidFill>
                <a:latin typeface="仿宋" panose="02010609060101010101" charset="-122"/>
                <a:ea typeface="仿宋" panose="02010609060101010101" charset="-122"/>
                <a:cs typeface="仿宋" panose="02010609060101010101" charset="-122"/>
              </a:rPr>
              <a:t>16</a:t>
            </a:r>
            <a:r>
              <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个字节组成的矩阵，包含了</a:t>
            </a:r>
            <a:r>
              <a:rPr lang="en-US" altLang="zh-CN" sz="2800" b="1" kern="0" spc="0" dirty="0">
                <a:solidFill>
                  <a:srgbClr val="000000">
                    <a:alpha val="100000"/>
                  </a:srgbClr>
                </a:solidFill>
                <a:latin typeface="仿宋" panose="02010609060101010101" charset="-122"/>
                <a:ea typeface="仿宋" panose="02010609060101010101" charset="-122"/>
                <a:cs typeface="仿宋" panose="02010609060101010101" charset="-122"/>
              </a:rPr>
              <a:t>8</a:t>
            </a:r>
            <a:r>
              <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位所能表示的</a:t>
            </a:r>
            <a:r>
              <a:rPr lang="en-US" altLang="zh-CN" sz="2800" b="1" kern="0" spc="0" dirty="0">
                <a:solidFill>
                  <a:srgbClr val="000000">
                    <a:alpha val="100000"/>
                  </a:srgbClr>
                </a:solidFill>
                <a:latin typeface="仿宋" panose="02010609060101010101" charset="-122"/>
                <a:ea typeface="仿宋" panose="02010609060101010101" charset="-122"/>
                <a:cs typeface="仿宋" panose="02010609060101010101" charset="-122"/>
              </a:rPr>
              <a:t>256</a:t>
            </a:r>
            <a:r>
              <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个数的</a:t>
            </a:r>
            <a:r>
              <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置换。</a:t>
            </a:r>
            <a:endPar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endParaRPr>
          </a:p>
          <a:p>
            <a:pPr marL="469900" indent="-457200" algn="l" rtl="0" eaLnBrk="0">
              <a:lnSpc>
                <a:spcPct val="113000"/>
              </a:lnSpc>
              <a:buFont typeface="Arial" panose="020B0604020202020204" pitchFamily="34" charset="0"/>
              <a:buChar char="•"/>
            </a:pPr>
            <a:r>
              <a:rPr lang="en-US" altLang="zh-CN" sz="2800" b="1" kern="0" spc="0" dirty="0">
                <a:solidFill>
                  <a:srgbClr val="000000">
                    <a:alpha val="100000"/>
                  </a:srgbClr>
                </a:solidFill>
                <a:latin typeface="仿宋" panose="02010609060101010101" charset="-122"/>
                <a:ea typeface="仿宋" panose="02010609060101010101" charset="-122"/>
                <a:cs typeface="仿宋" panose="02010609060101010101" charset="-122"/>
              </a:rPr>
              <a:t>State</a:t>
            </a:r>
            <a:r>
              <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中的每一个值都会按照字节进行索引，其中高四位作为行值，底四位作为列值，进行</a:t>
            </a:r>
            <a:r>
              <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查表。</a:t>
            </a:r>
            <a:endPar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endParaRPr>
          </a:p>
          <a:p>
            <a:pPr marL="12700" algn="l" rtl="0" eaLnBrk="0">
              <a:lnSpc>
                <a:spcPct val="113000"/>
              </a:lnSpc>
            </a:pPr>
            <a:endParaRPr lang="en-US" altLang="zh-CN" sz="2800" b="1" kern="0" spc="0" dirty="0">
              <a:solidFill>
                <a:srgbClr val="000000">
                  <a:alpha val="100000"/>
                </a:srgbClr>
              </a:solidFill>
              <a:latin typeface="仿宋" panose="02010609060101010101" charset="-122"/>
              <a:ea typeface="仿宋" panose="02010609060101010101" charset="-122"/>
              <a:cs typeface="仿宋" panose="02010609060101010101" charset="-122"/>
            </a:endParaRPr>
          </a:p>
        </p:txBody>
      </p:sp>
      <p:sp>
        <p:nvSpPr>
          <p:cNvPr id="62" name="textbox 62"/>
          <p:cNvSpPr/>
          <p:nvPr/>
        </p:nvSpPr>
        <p:spPr>
          <a:xfrm>
            <a:off x="1587139" y="491245"/>
            <a:ext cx="1613535"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0563C1">
                    <a:alpha val="100000"/>
                  </a:srgbClr>
                </a:solidFill>
                <a:latin typeface="仿宋" panose="02010609060101010101" charset="-122"/>
                <a:ea typeface="仿宋" panose="02010609060101010101" charset="-122"/>
                <a:cs typeface="仿宋" panose="02010609060101010101" charset="-122"/>
              </a:rPr>
              <a:t>字节代换</a:t>
            </a:r>
            <a:endParaRPr sz="3100" dirty="0">
              <a:latin typeface="仿宋" panose="02010609060101010101" charset="-122"/>
              <a:ea typeface="仿宋" panose="02010609060101010101" charset="-122"/>
              <a:cs typeface="仿宋" panose="02010609060101010101" charset="-122"/>
            </a:endParaRPr>
          </a:p>
        </p:txBody>
      </p:sp>
      <p:sp>
        <p:nvSpPr>
          <p:cNvPr id="66" name="path 6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68" name="picture 68"/>
          <p:cNvPicPr>
            <a:picLocks noChangeAspect="1"/>
          </p:cNvPicPr>
          <p:nvPr/>
        </p:nvPicPr>
        <p:blipFill>
          <a:blip r:embed="rId1"/>
          <a:stretch>
            <a:fillRect/>
          </a:stretch>
        </p:blipFill>
        <p:spPr>
          <a:xfrm rot="21600000">
            <a:off x="822960" y="408431"/>
            <a:ext cx="420623" cy="655320"/>
          </a:xfrm>
          <a:prstGeom prst="rect">
            <a:avLst/>
          </a:prstGeom>
        </p:spPr>
      </p:pic>
      <p:sp>
        <p:nvSpPr>
          <p:cNvPr id="70" name="path 7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8" name="table 128"/>
          <p:cNvGraphicFramePr>
            <a:graphicFrameLocks noGrp="1"/>
          </p:cNvGraphicFramePr>
          <p:nvPr/>
        </p:nvGraphicFramePr>
        <p:xfrm>
          <a:off x="831850" y="1212850"/>
          <a:ext cx="10527666" cy="4949824"/>
        </p:xfrm>
        <a:graphic>
          <a:graphicData uri="http://schemas.openxmlformats.org/drawingml/2006/table">
            <a:tbl>
              <a:tblPr/>
              <a:tblGrid>
                <a:gridCol w="588644"/>
                <a:gridCol w="584200"/>
                <a:gridCol w="582294"/>
                <a:gridCol w="581659"/>
                <a:gridCol w="584200"/>
                <a:gridCol w="582294"/>
                <a:gridCol w="584200"/>
                <a:gridCol w="582294"/>
                <a:gridCol w="582294"/>
                <a:gridCol w="584200"/>
                <a:gridCol w="584200"/>
                <a:gridCol w="586105"/>
                <a:gridCol w="586105"/>
                <a:gridCol w="586105"/>
                <a:gridCol w="586105"/>
                <a:gridCol w="584200"/>
                <a:gridCol w="586105"/>
                <a:gridCol w="592455"/>
              </a:tblGrid>
              <a:tr h="280670">
                <a:tc rowSpan="2" gridSpan="2">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6">
                  <a:txBody>
                    <a:bodyPr/>
                    <a:lstStyle/>
                    <a:p>
                      <a:pPr algn="l" rtl="0" eaLnBrk="0">
                        <a:lnSpc>
                          <a:spcPct val="105000"/>
                        </a:lnSpc>
                      </a:pPr>
                      <a:endParaRPr sz="600" dirty="0">
                        <a:latin typeface="Arial" panose="020B0604020202020204" pitchFamily="34" charset="0"/>
                        <a:ea typeface="Arial" panose="020B0604020202020204" pitchFamily="34" charset="0"/>
                        <a:cs typeface="Arial" panose="020B0604020202020204" pitchFamily="34" charset="0"/>
                      </a:endParaRPr>
                    </a:p>
                    <a:p>
                      <a:pPr marL="463740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y</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3684">
                <a:tc vMerge="1" gridSpan="2">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781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6225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590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527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654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8445" algn="l" rtl="0" eaLnBrk="0">
                        <a:lnSpc>
                          <a:spcPct val="75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844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7175" algn="l" rtl="0" eaLnBrk="0">
                        <a:lnSpc>
                          <a:spcPct val="75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781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6035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7000"/>
                        </a:lnSpc>
                      </a:pPr>
                      <a:endParaRPr sz="500" dirty="0">
                        <a:latin typeface="Arial" panose="020B0604020202020204" pitchFamily="34" charset="0"/>
                        <a:ea typeface="Arial" panose="020B0604020202020204" pitchFamily="34" charset="0"/>
                        <a:cs typeface="Arial" panose="020B0604020202020204" pitchFamily="34" charset="0"/>
                      </a:endParaRPr>
                    </a:p>
                    <a:p>
                      <a:pPr marL="263525" algn="l" rtl="0" eaLnBrk="0">
                        <a:lnSpc>
                          <a:spcPct val="94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4000" algn="l" rtl="0" eaLnBrk="0">
                        <a:lnSpc>
                          <a:spcPct val="93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6606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7175" algn="l" rtl="0" eaLnBrk="0">
                        <a:lnSpc>
                          <a:spcPct val="93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66700"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6000"/>
                        </a:lnSpc>
                      </a:pPr>
                      <a:endParaRPr sz="500" dirty="0">
                        <a:latin typeface="Arial" panose="020B0604020202020204" pitchFamily="34" charset="0"/>
                        <a:ea typeface="Arial" panose="020B0604020202020204" pitchFamily="34" charset="0"/>
                        <a:cs typeface="Arial" panose="020B0604020202020204" pitchFamily="34" charset="0"/>
                      </a:endParaRPr>
                    </a:p>
                    <a:p>
                      <a:pPr marL="274955" algn="l" rtl="0" eaLnBrk="0">
                        <a:lnSpc>
                          <a:spcPct val="95000"/>
                        </a:lnSpc>
                        <a:spcBef>
                          <a:spcPts val="0"/>
                        </a:spcBef>
                      </a:pPr>
                      <a:r>
                        <a:rPr sz="1200" b="1" kern="0" spc="40" dirty="0">
                          <a:solidFill>
                            <a:srgbClr val="000000">
                              <a:alpha val="100000"/>
                            </a:srgbClr>
                          </a:solidFill>
                          <a:latin typeface="Times New Roman" panose="02020603050405020304"/>
                          <a:ea typeface="Times New Roman" panose="02020603050405020304"/>
                          <a:cs typeface="Times New Roman" panose="02020603050405020304"/>
                        </a:rPr>
                        <a:t>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rowSpan="16">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marL="262255" algn="l" rtl="0" eaLnBrk="0">
                        <a:lnSpc>
                          <a:spcPct val="94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x</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5717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30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431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6f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4066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6162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33045" algn="l" rtl="0" eaLnBrk="0">
                        <a:lnSpc>
                          <a:spcPct val="94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30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39395" algn="l" rtl="0" eaLnBrk="0">
                        <a:lnSpc>
                          <a:spcPct val="94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af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860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98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5527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2725" algn="l" rtl="0" eaLnBrk="0">
                        <a:lnSpc>
                          <a:spcPct val="75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669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1140" algn="l" rtl="0" eaLnBrk="0">
                        <a:lnSpc>
                          <a:spcPct val="76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3f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36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0505" algn="l" rtl="0" eaLnBrk="0">
                        <a:lnSpc>
                          <a:spcPct val="93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cc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860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7000"/>
                        </a:lnSpc>
                      </a:pPr>
                      <a:endParaRPr sz="500" dirty="0">
                        <a:latin typeface="Arial" panose="020B0604020202020204" pitchFamily="34" charset="0"/>
                        <a:ea typeface="Arial" panose="020B0604020202020204" pitchFamily="34" charset="0"/>
                        <a:cs typeface="Arial" panose="020B0604020202020204" pitchFamily="34" charset="0"/>
                      </a:endParaRPr>
                    </a:p>
                    <a:p>
                      <a:pPr marL="237490" algn="l" rtl="0" eaLnBrk="0">
                        <a:lnSpc>
                          <a:spcPct val="77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860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5400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76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527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542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669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685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56540" algn="l" rtl="0" eaLnBrk="0">
                        <a:lnSpc>
                          <a:spcPct val="75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685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336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463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be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42570"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cf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717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6855" algn="l" rtl="0" eaLnBrk="0">
                        <a:lnSpc>
                          <a:spcPct val="93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ef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94000"/>
                        </a:lnSpc>
                        <a:spcBef>
                          <a:spcPts val="0"/>
                        </a:spcBef>
                      </a:pPr>
                      <a:r>
                        <a:rPr sz="1200" b="1" kern="0" spc="-40" dirty="0">
                          <a:solidFill>
                            <a:srgbClr val="000000">
                              <a:alpha val="100000"/>
                            </a:srgbClr>
                          </a:solidFill>
                          <a:latin typeface="Times New Roman" panose="02020603050405020304"/>
                          <a:ea typeface="Times New Roman" panose="02020603050405020304"/>
                          <a:cs typeface="Times New Roman" panose="02020603050405020304"/>
                        </a:rPr>
                        <a:t>aa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7330"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399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622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749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7f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3c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812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56540" algn="l" rtl="0" eaLnBrk="0">
                        <a:lnSpc>
                          <a:spcPct val="75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68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8f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04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bc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7330" algn="l" rtl="0" eaLnBrk="0">
                        <a:lnSpc>
                          <a:spcPct val="76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49555" algn="l" rtl="0" eaLnBrk="0">
                        <a:lnSpc>
                          <a:spcPct val="94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ff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812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717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76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7965" algn="l" rtl="0" eaLnBrk="0">
                        <a:lnSpc>
                          <a:spcPct val="93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ec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04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5f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76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5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7965" algn="l" rtl="0" eaLnBrk="0">
                        <a:lnSpc>
                          <a:spcPct val="75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5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7965" algn="l" rtl="0" eaLnBrk="0">
                        <a:lnSpc>
                          <a:spcPct val="76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654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31775" algn="l" rtl="0" eaLnBrk="0">
                        <a:lnSpc>
                          <a:spcPct val="77000"/>
                        </a:lnSpc>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1140" algn="l" rtl="0" eaLnBrk="0">
                        <a:lnSpc>
                          <a:spcPct val="93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ee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733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5425" algn="l" rtl="0" eaLnBrk="0">
                        <a:lnSpc>
                          <a:spcPct val="75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58445" algn="l" rtl="0" eaLnBrk="0">
                        <a:lnSpc>
                          <a:spcPct val="94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93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ac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8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2095"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685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0505" algn="l" rtl="0" eaLnBrk="0">
                        <a:lnSpc>
                          <a:spcPct val="93000"/>
                        </a:lnSpc>
                        <a:spcBef>
                          <a:spcPts val="5"/>
                        </a:spcBef>
                      </a:pPr>
                      <a:r>
                        <a:rPr sz="1200" b="1" kern="0" spc="-40" dirty="0">
                          <a:solidFill>
                            <a:srgbClr val="000000">
                              <a:alpha val="100000"/>
                            </a:srgbClr>
                          </a:solidFill>
                          <a:latin typeface="Times New Roman" panose="02020603050405020304"/>
                          <a:ea typeface="Times New Roman" panose="02020603050405020304"/>
                          <a:cs typeface="Times New Roman" panose="02020603050405020304"/>
                        </a:rPr>
                        <a:t>ae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6352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2725"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336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272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42570" algn="l" rtl="0" eaLnBrk="0">
                        <a:lnSpc>
                          <a:spcPct val="77000"/>
                        </a:lnSpc>
                        <a:spcBef>
                          <a:spcPts val="0"/>
                        </a:spcBef>
                      </a:pPr>
                      <a:r>
                        <a:rPr sz="1200" b="1" kern="0" spc="0" dirty="0">
                          <a:solidFill>
                            <a:srgbClr val="000000">
                              <a:alpha val="100000"/>
                            </a:srgbClr>
                          </a:solidFill>
                          <a:latin typeface="Times New Roman" panose="02020603050405020304"/>
                          <a:ea typeface="Times New Roman" panose="02020603050405020304"/>
                          <a:cs typeface="Times New Roman" panose="02020603050405020304"/>
                        </a:rPr>
                        <a:t>1f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1455"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4635"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3e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03835" algn="l" rtl="0" eaLnBrk="0">
                        <a:lnSpc>
                          <a:spcPct val="75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6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6352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24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76000"/>
                        </a:lnSpc>
                      </a:pPr>
                      <a:r>
                        <a:rPr sz="1200" b="1" kern="0" spc="-50" dirty="0">
                          <a:solidFill>
                            <a:srgbClr val="000000">
                              <a:alpha val="100000"/>
                            </a:srgbClr>
                          </a:solidFill>
                          <a:latin typeface="Times New Roman" panose="02020603050405020304"/>
                          <a:ea typeface="Times New Roman" panose="02020603050405020304"/>
                          <a:cs typeface="Times New Roman" panose="02020603050405020304"/>
                        </a:rPr>
                        <a:t>11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463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241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2410" algn="l" rtl="0" eaLnBrk="0">
                        <a:lnSpc>
                          <a:spcPct val="93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ce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045"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df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066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71780" algn="l" rtl="0" eaLnBrk="0">
                        <a:lnSpc>
                          <a:spcPct val="95000"/>
                        </a:lnSpc>
                        <a:spcBef>
                          <a:spcPts val="5"/>
                        </a:spcBef>
                      </a:pPr>
                      <a:r>
                        <a:rPr sz="1200" b="1" kern="0" spc="40" dirty="0">
                          <a:solidFill>
                            <a:srgbClr val="000000">
                              <a:alpha val="100000"/>
                            </a:srgbClr>
                          </a:solidFill>
                          <a:latin typeface="Times New Roman" panose="02020603050405020304"/>
                          <a:ea typeface="Times New Roman" panose="02020603050405020304"/>
                          <a:cs typeface="Times New Roman" panose="02020603050405020304"/>
                        </a:rPr>
                        <a:t>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7965" algn="l" rtl="0" eaLnBrk="0">
                        <a:lnSpc>
                          <a:spcPct val="93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bf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542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812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0f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828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2090"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860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32" name="textbox 132"/>
          <p:cNvSpPr/>
          <p:nvPr/>
        </p:nvSpPr>
        <p:spPr>
          <a:xfrm>
            <a:off x="1546195" y="491245"/>
            <a:ext cx="1657985" cy="491490"/>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9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的S盒</a:t>
            </a:r>
            <a:endParaRPr sz="3100" dirty="0">
              <a:latin typeface="仿宋" panose="02010609060101010101" charset="-122"/>
              <a:ea typeface="仿宋" panose="02010609060101010101" charset="-122"/>
              <a:cs typeface="仿宋" panose="02010609060101010101" charset="-122"/>
            </a:endParaRPr>
          </a:p>
        </p:txBody>
      </p:sp>
      <p:sp>
        <p:nvSpPr>
          <p:cNvPr id="134" name="path 134"/>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36" name="picture 136"/>
          <p:cNvPicPr>
            <a:picLocks noChangeAspect="1"/>
          </p:cNvPicPr>
          <p:nvPr/>
        </p:nvPicPr>
        <p:blipFill>
          <a:blip r:embed="rId1"/>
          <a:stretch>
            <a:fillRect/>
          </a:stretch>
        </p:blipFill>
        <p:spPr>
          <a:xfrm rot="21600000">
            <a:off x="822960" y="408431"/>
            <a:ext cx="420623" cy="655320"/>
          </a:xfrm>
          <a:prstGeom prst="rect">
            <a:avLst/>
          </a:prstGeom>
        </p:spPr>
      </p:pic>
      <p:sp>
        <p:nvSpPr>
          <p:cNvPr id="138" name="path 138"/>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0" name="table 140"/>
          <p:cNvGraphicFramePr>
            <a:graphicFrameLocks noGrp="1"/>
          </p:cNvGraphicFramePr>
          <p:nvPr/>
        </p:nvGraphicFramePr>
        <p:xfrm>
          <a:off x="831850" y="1212850"/>
          <a:ext cx="10527666" cy="4949824"/>
        </p:xfrm>
        <a:graphic>
          <a:graphicData uri="http://schemas.openxmlformats.org/drawingml/2006/table">
            <a:tbl>
              <a:tblPr/>
              <a:tblGrid>
                <a:gridCol w="588644"/>
                <a:gridCol w="584200"/>
                <a:gridCol w="582294"/>
                <a:gridCol w="581659"/>
                <a:gridCol w="584200"/>
                <a:gridCol w="582294"/>
                <a:gridCol w="584200"/>
                <a:gridCol w="582294"/>
                <a:gridCol w="582294"/>
                <a:gridCol w="584200"/>
                <a:gridCol w="584200"/>
                <a:gridCol w="586105"/>
                <a:gridCol w="586105"/>
                <a:gridCol w="586105"/>
                <a:gridCol w="586105"/>
                <a:gridCol w="584200"/>
                <a:gridCol w="586105"/>
                <a:gridCol w="592455"/>
              </a:tblGrid>
              <a:tr h="280670">
                <a:tc rowSpan="2" gridSpan="2">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6">
                  <a:txBody>
                    <a:bodyPr/>
                    <a:lstStyle/>
                    <a:p>
                      <a:pPr algn="l" rtl="0" eaLnBrk="0">
                        <a:lnSpc>
                          <a:spcPct val="105000"/>
                        </a:lnSpc>
                      </a:pPr>
                      <a:endParaRPr sz="600" dirty="0">
                        <a:latin typeface="Arial" panose="020B0604020202020204" pitchFamily="34" charset="0"/>
                        <a:ea typeface="Arial" panose="020B0604020202020204" pitchFamily="34" charset="0"/>
                        <a:cs typeface="Arial" panose="020B0604020202020204" pitchFamily="34" charset="0"/>
                      </a:endParaRPr>
                    </a:p>
                    <a:p>
                      <a:pPr marL="463740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y</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3684">
                <a:tc vMerge="1" gridSpan="2">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781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6225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590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527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654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8445" algn="l" rtl="0" eaLnBrk="0">
                        <a:lnSpc>
                          <a:spcPct val="75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844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7175" algn="l" rtl="0" eaLnBrk="0">
                        <a:lnSpc>
                          <a:spcPct val="75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781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6035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7000"/>
                        </a:lnSpc>
                      </a:pPr>
                      <a:endParaRPr sz="500" dirty="0">
                        <a:latin typeface="Arial" panose="020B0604020202020204" pitchFamily="34" charset="0"/>
                        <a:ea typeface="Arial" panose="020B0604020202020204" pitchFamily="34" charset="0"/>
                        <a:cs typeface="Arial" panose="020B0604020202020204" pitchFamily="34" charset="0"/>
                      </a:endParaRPr>
                    </a:p>
                    <a:p>
                      <a:pPr marL="263525" algn="l" rtl="0" eaLnBrk="0">
                        <a:lnSpc>
                          <a:spcPct val="94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4000" algn="l" rtl="0" eaLnBrk="0">
                        <a:lnSpc>
                          <a:spcPct val="93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6606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7175" algn="l" rtl="0" eaLnBrk="0">
                        <a:lnSpc>
                          <a:spcPct val="93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66700"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6000"/>
                        </a:lnSpc>
                      </a:pPr>
                      <a:endParaRPr sz="500" dirty="0">
                        <a:latin typeface="Arial" panose="020B0604020202020204" pitchFamily="34" charset="0"/>
                        <a:ea typeface="Arial" panose="020B0604020202020204" pitchFamily="34" charset="0"/>
                        <a:cs typeface="Arial" panose="020B0604020202020204" pitchFamily="34" charset="0"/>
                      </a:endParaRPr>
                    </a:p>
                    <a:p>
                      <a:pPr marL="274955" algn="l" rtl="0" eaLnBrk="0">
                        <a:lnSpc>
                          <a:spcPct val="95000"/>
                        </a:lnSpc>
                        <a:spcBef>
                          <a:spcPts val="0"/>
                        </a:spcBef>
                      </a:pPr>
                      <a:r>
                        <a:rPr sz="1200" b="1" kern="0" spc="40" dirty="0">
                          <a:solidFill>
                            <a:srgbClr val="000000">
                              <a:alpha val="100000"/>
                            </a:srgbClr>
                          </a:solidFill>
                          <a:latin typeface="Times New Roman" panose="02020603050405020304"/>
                          <a:ea typeface="Times New Roman" panose="02020603050405020304"/>
                          <a:cs typeface="Times New Roman" panose="02020603050405020304"/>
                        </a:rPr>
                        <a:t>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rowSpan="16">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marL="262255" algn="l" rtl="0" eaLnBrk="0">
                        <a:lnSpc>
                          <a:spcPct val="94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x</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5717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30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431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6f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4066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6162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33045" algn="l" rtl="0" eaLnBrk="0">
                        <a:lnSpc>
                          <a:spcPct val="94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30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39395" algn="l" rtl="0" eaLnBrk="0">
                        <a:lnSpc>
                          <a:spcPct val="94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af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860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98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5527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2725" algn="l" rtl="0" eaLnBrk="0">
                        <a:lnSpc>
                          <a:spcPct val="75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669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1140" algn="l" rtl="0" eaLnBrk="0">
                        <a:lnSpc>
                          <a:spcPct val="76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3f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36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0505" algn="l" rtl="0" eaLnBrk="0">
                        <a:lnSpc>
                          <a:spcPct val="93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cc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860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17000"/>
                        </a:lnSpc>
                      </a:pPr>
                      <a:endParaRPr sz="500" dirty="0">
                        <a:latin typeface="Arial" panose="020B0604020202020204" pitchFamily="34" charset="0"/>
                        <a:ea typeface="Arial" panose="020B0604020202020204" pitchFamily="34" charset="0"/>
                        <a:cs typeface="Arial" panose="020B0604020202020204" pitchFamily="34" charset="0"/>
                      </a:endParaRPr>
                    </a:p>
                    <a:p>
                      <a:pPr marL="237490" algn="l" rtl="0" eaLnBrk="0">
                        <a:lnSpc>
                          <a:spcPct val="77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860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5400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76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527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542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669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685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56540" algn="l" rtl="0" eaLnBrk="0">
                        <a:lnSpc>
                          <a:spcPct val="75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685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336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463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be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42570"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cf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717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6855" algn="l" rtl="0" eaLnBrk="0">
                        <a:lnSpc>
                          <a:spcPct val="93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ef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94000"/>
                        </a:lnSpc>
                        <a:spcBef>
                          <a:spcPts val="0"/>
                        </a:spcBef>
                      </a:pPr>
                      <a:r>
                        <a:rPr sz="1200" b="1" kern="0" spc="-40" dirty="0">
                          <a:solidFill>
                            <a:srgbClr val="000000">
                              <a:alpha val="100000"/>
                            </a:srgbClr>
                          </a:solidFill>
                          <a:latin typeface="Times New Roman" panose="02020603050405020304"/>
                          <a:ea typeface="Times New Roman" panose="02020603050405020304"/>
                          <a:cs typeface="Times New Roman" panose="02020603050405020304"/>
                        </a:rPr>
                        <a:t>aa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7330"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399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622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749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7f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3c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812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56540" algn="l" rtl="0" eaLnBrk="0">
                        <a:lnSpc>
                          <a:spcPct val="75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68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8f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04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bc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7330" algn="l" rtl="0" eaLnBrk="0">
                        <a:lnSpc>
                          <a:spcPct val="76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49555" algn="l" rtl="0" eaLnBrk="0">
                        <a:lnSpc>
                          <a:spcPct val="94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ff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812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717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76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7965" algn="l" rtl="0" eaLnBrk="0">
                        <a:lnSpc>
                          <a:spcPct val="93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ec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04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5f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76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5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7965" algn="l" rtl="0" eaLnBrk="0">
                        <a:lnSpc>
                          <a:spcPct val="75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5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7965" algn="l" rtl="0" eaLnBrk="0">
                        <a:lnSpc>
                          <a:spcPct val="76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654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31775" algn="l" rtl="0" eaLnBrk="0">
                        <a:lnSpc>
                          <a:spcPct val="77000"/>
                        </a:lnSpc>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1140" algn="l" rtl="0" eaLnBrk="0">
                        <a:lnSpc>
                          <a:spcPct val="93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ee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733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5425" algn="l" rtl="0" eaLnBrk="0">
                        <a:lnSpc>
                          <a:spcPct val="75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58445" algn="l" rtl="0" eaLnBrk="0">
                        <a:lnSpc>
                          <a:spcPct val="94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93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ac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8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2095"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685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0505" algn="l" rtl="0" eaLnBrk="0">
                        <a:lnSpc>
                          <a:spcPct val="93000"/>
                        </a:lnSpc>
                        <a:spcBef>
                          <a:spcPts val="5"/>
                        </a:spcBef>
                      </a:pPr>
                      <a:r>
                        <a:rPr sz="1200" b="1" kern="0" spc="-40" dirty="0">
                          <a:solidFill>
                            <a:srgbClr val="000000">
                              <a:alpha val="100000"/>
                            </a:srgbClr>
                          </a:solidFill>
                          <a:latin typeface="Times New Roman" panose="02020603050405020304"/>
                          <a:ea typeface="Times New Roman" panose="02020603050405020304"/>
                          <a:cs typeface="Times New Roman" panose="02020603050405020304"/>
                        </a:rPr>
                        <a:t>ae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6352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2725"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336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272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42570" algn="l" rtl="0" eaLnBrk="0">
                        <a:lnSpc>
                          <a:spcPct val="77000"/>
                        </a:lnSpc>
                        <a:spcBef>
                          <a:spcPts val="0"/>
                        </a:spcBef>
                      </a:pPr>
                      <a:r>
                        <a:rPr sz="1200" b="1" kern="0" spc="0" dirty="0">
                          <a:solidFill>
                            <a:srgbClr val="000000">
                              <a:alpha val="100000"/>
                            </a:srgbClr>
                          </a:solidFill>
                          <a:latin typeface="Times New Roman" panose="02020603050405020304"/>
                          <a:ea typeface="Times New Roman" panose="02020603050405020304"/>
                          <a:cs typeface="Times New Roman" panose="02020603050405020304"/>
                        </a:rPr>
                        <a:t>1f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1455"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4635"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3e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03835" algn="l" rtl="0" eaLnBrk="0">
                        <a:lnSpc>
                          <a:spcPct val="75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6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6352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24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76000"/>
                        </a:lnSpc>
                      </a:pPr>
                      <a:r>
                        <a:rPr sz="1200" b="1" kern="0" spc="-50" dirty="0">
                          <a:solidFill>
                            <a:srgbClr val="000000">
                              <a:alpha val="100000"/>
                            </a:srgbClr>
                          </a:solidFill>
                          <a:latin typeface="Times New Roman" panose="02020603050405020304"/>
                          <a:ea typeface="Times New Roman" panose="02020603050405020304"/>
                          <a:cs typeface="Times New Roman" panose="02020603050405020304"/>
                        </a:rPr>
                        <a:t>11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463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241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2410" algn="l" rtl="0" eaLnBrk="0">
                        <a:lnSpc>
                          <a:spcPct val="93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ce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045"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df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066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71780" algn="l" rtl="0" eaLnBrk="0">
                        <a:lnSpc>
                          <a:spcPct val="95000"/>
                        </a:lnSpc>
                        <a:spcBef>
                          <a:spcPts val="5"/>
                        </a:spcBef>
                      </a:pPr>
                      <a:r>
                        <a:rPr sz="1200" b="1" kern="0" spc="40" dirty="0">
                          <a:solidFill>
                            <a:srgbClr val="000000">
                              <a:alpha val="100000"/>
                            </a:srgbClr>
                          </a:solidFill>
                          <a:latin typeface="Times New Roman" panose="02020603050405020304"/>
                          <a:ea typeface="Times New Roman" panose="02020603050405020304"/>
                          <a:cs typeface="Times New Roman" panose="02020603050405020304"/>
                        </a:rPr>
                        <a:t>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7965" algn="l" rtl="0" eaLnBrk="0">
                        <a:lnSpc>
                          <a:spcPct val="93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bf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542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812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0f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828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2090"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860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42" name="textbox 142"/>
          <p:cNvSpPr/>
          <p:nvPr/>
        </p:nvSpPr>
        <p:spPr>
          <a:xfrm>
            <a:off x="1546195" y="491245"/>
            <a:ext cx="8982075" cy="482600"/>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7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10" dirty="0">
                <a:solidFill>
                  <a:srgbClr val="1F4E79">
                    <a:alpha val="100000"/>
                  </a:srgbClr>
                </a:solidFill>
                <a:latin typeface="仿宋" panose="02010609060101010101" charset="-122"/>
                <a:ea typeface="仿宋" panose="02010609060101010101" charset="-122"/>
                <a:cs typeface="仿宋" panose="02010609060101010101" charset="-122"/>
              </a:rPr>
              <a:t>的S盒的使用：输入8a，输出7e，即7e=S（8a）</a:t>
            </a:r>
            <a:endParaRPr sz="3100" dirty="0">
              <a:latin typeface="仿宋" panose="02010609060101010101" charset="-122"/>
              <a:ea typeface="仿宋" panose="02010609060101010101" charset="-122"/>
              <a:cs typeface="仿宋" panose="02010609060101010101" charset="-122"/>
            </a:endParaRPr>
          </a:p>
        </p:txBody>
      </p:sp>
      <p:sp>
        <p:nvSpPr>
          <p:cNvPr id="146" name="path 14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48" name="picture 148"/>
          <p:cNvPicPr>
            <a:picLocks noChangeAspect="1"/>
          </p:cNvPicPr>
          <p:nvPr/>
        </p:nvPicPr>
        <p:blipFill>
          <a:blip r:embed="rId1"/>
          <a:stretch>
            <a:fillRect/>
          </a:stretch>
        </p:blipFill>
        <p:spPr>
          <a:xfrm rot="21600000">
            <a:off x="822960" y="408431"/>
            <a:ext cx="420623" cy="655320"/>
          </a:xfrm>
          <a:prstGeom prst="rect">
            <a:avLst/>
          </a:prstGeom>
        </p:spPr>
      </p:pic>
      <p:sp>
        <p:nvSpPr>
          <p:cNvPr id="150" name="path 15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box 54"/>
          <p:cNvSpPr/>
          <p:nvPr/>
        </p:nvSpPr>
        <p:spPr>
          <a:xfrm>
            <a:off x="1991360" y="2654935"/>
            <a:ext cx="8514080" cy="1597660"/>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15000"/>
              </a:lnSpc>
            </a:pP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将字节作为</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GF(2</a:t>
            </a:r>
            <a:r>
              <a:rPr sz="2400" b="1" kern="0" spc="0" baseline="30000" dirty="0">
                <a:solidFill>
                  <a:srgbClr val="000000">
                    <a:alpha val="100000"/>
                  </a:srgbClr>
                </a:solidFill>
                <a:latin typeface="Times New Roman" panose="02020603050405020304"/>
                <a:ea typeface="Times New Roman" panose="02020603050405020304"/>
                <a:cs typeface="Times New Roman" panose="02020603050405020304"/>
              </a:rPr>
              <a:t>8</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上的元素映射到自己的逆元</a:t>
            </a:r>
            <a:r>
              <a:rPr lang="zh-CN" sz="2400" b="1" kern="0" spc="-10" dirty="0">
                <a:solidFill>
                  <a:srgbClr val="000000">
                    <a:alpha val="100000"/>
                  </a:srgbClr>
                </a:solidFill>
                <a:latin typeface="仿宋" panose="02010609060101010101" charset="-122"/>
                <a:ea typeface="仿宋" panose="02010609060101010101" charset="-122"/>
                <a:cs typeface="仿宋" panose="02010609060101010101" charset="-122"/>
              </a:rPr>
              <a:t>（非线性）</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endParaRPr sz="2400" kern="0" spc="0" dirty="0">
              <a:solidFill>
                <a:srgbClr val="000000">
                  <a:alpha val="100000"/>
                </a:srgbClr>
              </a:solidFill>
              <a:latin typeface="仿宋" panose="02010609060101010101" charset="-122"/>
              <a:ea typeface="仿宋" panose="02010609060101010101" charset="-122"/>
              <a:cs typeface="仿宋" panose="02010609060101010101" charset="-122"/>
            </a:endParaRPr>
          </a:p>
          <a:p>
            <a:pPr marL="12700" algn="l" rtl="0" eaLnBrk="0">
              <a:lnSpc>
                <a:spcPct val="115000"/>
              </a:lnSpc>
            </a:pP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将字节做</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GF(2)</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上的仿射变换</a:t>
            </a:r>
            <a:r>
              <a:rPr lang="zh-CN" sz="2400" b="1" kern="0" spc="-10" dirty="0">
                <a:solidFill>
                  <a:srgbClr val="000000">
                    <a:alpha val="100000"/>
                  </a:srgbClr>
                </a:solidFill>
                <a:latin typeface="仿宋" panose="02010609060101010101" charset="-122"/>
                <a:ea typeface="仿宋" panose="02010609060101010101" charset="-122"/>
                <a:cs typeface="仿宋" panose="02010609060101010101" charset="-122"/>
              </a:rPr>
              <a:t>（线性，扩散作用）</a:t>
            </a:r>
            <a:endParaRPr sz="2400" dirty="0">
              <a:latin typeface="仿宋" panose="02010609060101010101" charset="-122"/>
              <a:ea typeface="仿宋" panose="02010609060101010101" charset="-122"/>
              <a:cs typeface="仿宋" panose="02010609060101010101" charset="-122"/>
            </a:endParaRPr>
          </a:p>
          <a:p>
            <a:pPr algn="l" rtl="0" eaLnBrk="0">
              <a:lnSpc>
                <a:spcPct val="14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700" dirty="0">
              <a:latin typeface="Arial" panose="020B0604020202020204" pitchFamily="34" charset="0"/>
              <a:ea typeface="Arial" panose="020B0604020202020204" pitchFamily="34" charset="0"/>
              <a:cs typeface="Arial" panose="020B0604020202020204" pitchFamily="34" charset="0"/>
            </a:endParaRPr>
          </a:p>
          <a:p>
            <a:pPr marL="586105" algn="l" rtl="0" eaLnBrk="0">
              <a:lnSpc>
                <a:spcPct val="93000"/>
              </a:lnSpc>
              <a:spcBef>
                <a:spcPts val="0"/>
              </a:spcBef>
            </a:pPr>
            <a:r>
              <a:rPr sz="2800" i="1" kern="0" spc="190" dirty="0">
                <a:solidFill>
                  <a:srgbClr val="000000">
                    <a:alpha val="100000"/>
                  </a:srgbClr>
                </a:solidFill>
                <a:latin typeface="Times New Roman" panose="02020603050405020304"/>
                <a:ea typeface="Times New Roman" panose="02020603050405020304"/>
                <a:cs typeface="Times New Roman" panose="02020603050405020304"/>
              </a:rPr>
              <a:t>y </a:t>
            </a:r>
            <a:r>
              <a:rPr sz="2800" kern="0" spc="1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i="1" kern="0" spc="0" dirty="0">
                <a:solidFill>
                  <a:srgbClr val="000000">
                    <a:alpha val="100000"/>
                  </a:srgbClr>
                </a:solidFill>
                <a:latin typeface="Times New Roman" panose="02020603050405020304"/>
                <a:ea typeface="Times New Roman" panose="02020603050405020304"/>
                <a:cs typeface="Times New Roman" panose="02020603050405020304"/>
              </a:rPr>
              <a:t>Ax</a:t>
            </a:r>
            <a:r>
              <a:rPr sz="2500" kern="0" spc="190" baseline="500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500" kern="0" spc="190" baseline="50000" dirty="0">
                <a:solidFill>
                  <a:srgbClr val="000000">
                    <a:alpha val="100000"/>
                  </a:srgbClr>
                </a:solidFill>
                <a:latin typeface="Times New Roman" panose="02020603050405020304"/>
                <a:ea typeface="Times New Roman" panose="02020603050405020304"/>
                <a:cs typeface="Times New Roman" panose="02020603050405020304"/>
              </a:rPr>
              <a:t>1</a:t>
            </a:r>
            <a:r>
              <a:rPr sz="1600"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2800" kern="0" spc="1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i="1" kern="0" spc="190" dirty="0">
                <a:solidFill>
                  <a:srgbClr val="000000">
                    <a:alpha val="100000"/>
                  </a:srgbClr>
                </a:solidFill>
                <a:latin typeface="Times New Roman" panose="02020603050405020304"/>
                <a:ea typeface="Times New Roman" panose="02020603050405020304"/>
                <a:cs typeface="Times New Roman" panose="02020603050405020304"/>
              </a:rPr>
              <a:t>B</a:t>
            </a:r>
            <a:endParaRPr sz="2800" dirty="0">
              <a:latin typeface="Times New Roman" panose="02020603050405020304"/>
              <a:ea typeface="Times New Roman" panose="02020603050405020304"/>
              <a:cs typeface="Times New Roman" panose="02020603050405020304"/>
            </a:endParaRPr>
          </a:p>
        </p:txBody>
      </p:sp>
      <p:sp>
        <p:nvSpPr>
          <p:cNvPr id="56" name="textbox 56"/>
          <p:cNvSpPr/>
          <p:nvPr/>
        </p:nvSpPr>
        <p:spPr>
          <a:xfrm>
            <a:off x="921835" y="1576561"/>
            <a:ext cx="10351134" cy="930275"/>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pPr>
            <a:r>
              <a:rPr sz="28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非线性代换，独</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立地对状态的每个字节进行，并且代换表</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(S</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盒</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sz="2800" dirty="0">
              <a:latin typeface="Times New Roman" panose="02020603050405020304"/>
              <a:ea typeface="Times New Roman" panose="02020603050405020304"/>
              <a:cs typeface="Times New Roman" panose="02020603050405020304"/>
            </a:endParaRPr>
          </a:p>
          <a:p>
            <a:pPr algn="l" rtl="0" eaLnBrk="0">
              <a:lnSpc>
                <a:spcPct val="107000"/>
              </a:lnSpc>
            </a:pPr>
            <a:endParaRPr sz="700" dirty="0">
              <a:latin typeface="Arial" panose="020B0604020202020204" pitchFamily="34" charset="0"/>
              <a:ea typeface="Arial" panose="020B0604020202020204" pitchFamily="34" charset="0"/>
              <a:cs typeface="Arial" panose="020B0604020202020204" pitchFamily="34" charset="0"/>
            </a:endParaRPr>
          </a:p>
          <a:p>
            <a:pPr marL="632460" algn="l" rtl="0" eaLnBrk="0">
              <a:lnSpc>
                <a:spcPct val="92000"/>
              </a:lnSpc>
              <a:spcBef>
                <a:spcPts val="0"/>
              </a:spcBef>
            </a:pP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可逆，记为</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ByteSub(State),</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分两步</a:t>
            </a:r>
            <a:endParaRPr sz="2800" dirty="0">
              <a:latin typeface="仿宋" panose="02010609060101010101" charset="-122"/>
              <a:ea typeface="仿宋" panose="02010609060101010101" charset="-122"/>
              <a:cs typeface="仿宋" panose="02010609060101010101" charset="-122"/>
            </a:endParaRPr>
          </a:p>
        </p:txBody>
      </p:sp>
      <p:sp>
        <p:nvSpPr>
          <p:cNvPr id="58" name="textbox 58"/>
          <p:cNvSpPr/>
          <p:nvPr/>
        </p:nvSpPr>
        <p:spPr>
          <a:xfrm>
            <a:off x="1382725" y="4664761"/>
            <a:ext cx="9603105" cy="383540"/>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8000"/>
              </a:lnSpc>
            </a:pP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其中</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A</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是一个</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GF</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2</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）上</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8</a:t>
            </a:r>
            <a:r>
              <a:rPr sz="2400" b="1" kern="0" spc="-60" dirty="0">
                <a:solidFill>
                  <a:srgbClr val="000000">
                    <a:alpha val="100000"/>
                  </a:srgbClr>
                </a:solidFill>
                <a:latin typeface="MS Gothic" panose="020B0609070205080204" charset="-128"/>
                <a:ea typeface="MS Gothic" panose="020B0609070205080204" charset="-128"/>
                <a:cs typeface="MS Gothic" panose="020B0609070205080204" charset="-128"/>
              </a:rPr>
              <a:t>☓</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8</a:t>
            </a:r>
            <a:r>
              <a:rPr sz="2400" b="1"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的可逆矩阵，</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B</a:t>
            </a:r>
            <a:r>
              <a:rPr sz="2400" b="1" kern="0" spc="-60" dirty="0">
                <a:solidFill>
                  <a:srgbClr val="000000">
                    <a:alpha val="100000"/>
                  </a:srgbClr>
                </a:solidFill>
                <a:latin typeface="MS Gothic" panose="020B0609070205080204" charset="-128"/>
                <a:ea typeface="MS Gothic" panose="020B0609070205080204" charset="-128"/>
                <a:cs typeface="MS Gothic" panose="020B0609070205080204" charset="-128"/>
              </a:rPr>
              <a:t>是</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GF</a:t>
            </a:r>
            <a:r>
              <a:rPr sz="2400" b="1" kern="0" spc="-60" dirty="0">
                <a:solidFill>
                  <a:srgbClr val="000000">
                    <a:alpha val="100000"/>
                  </a:srgbClr>
                </a:solidFill>
                <a:latin typeface="MS Gothic" panose="020B0609070205080204" charset="-128"/>
                <a:ea typeface="MS Gothic" panose="020B0609070205080204" charset="-128"/>
                <a:cs typeface="MS Gothic" panose="020B0609070205080204" charset="-128"/>
              </a:rPr>
              <a:t>（</a:t>
            </a:r>
            <a:r>
              <a:rPr sz="2400" kern="0" spc="-400" dirty="0">
                <a:solidFill>
                  <a:srgbClr val="000000">
                    <a:alpha val="100000"/>
                  </a:srgbClr>
                </a:solidFill>
                <a:latin typeface="MS Gothic" panose="020B0609070205080204" charset="-128"/>
                <a:ea typeface="MS Gothic" panose="020B0609070205080204" charset="-128"/>
                <a:cs typeface="MS Gothic" panose="020B0609070205080204" charset="-128"/>
              </a:rPr>
              <a:t> </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2 </a:t>
            </a:r>
            <a:r>
              <a:rPr sz="2400" b="1" kern="0" spc="-60" dirty="0">
                <a:solidFill>
                  <a:srgbClr val="000000">
                    <a:alpha val="100000"/>
                  </a:srgbClr>
                </a:solidFill>
                <a:latin typeface="MS Gothic" panose="020B0609070205080204" charset="-128"/>
                <a:ea typeface="MS Gothic" panose="020B0609070205080204" charset="-128"/>
                <a:cs typeface="MS Gothic" panose="020B0609070205080204" charset="-128"/>
              </a:rPr>
              <a:t>）上一个</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8</a:t>
            </a:r>
            <a:r>
              <a:rPr sz="2400" b="1" kern="0" spc="-60" dirty="0">
                <a:solidFill>
                  <a:srgbClr val="000000">
                    <a:alpha val="100000"/>
                  </a:srgbClr>
                </a:solidFill>
                <a:latin typeface="MS Gothic" panose="020B0609070205080204" charset="-128"/>
                <a:ea typeface="MS Gothic" panose="020B0609070205080204" charset="-128"/>
                <a:cs typeface="MS Gothic" panose="020B0609070205080204" charset="-128"/>
              </a:rPr>
              <a:t>位列</a:t>
            </a:r>
            <a:r>
              <a:rPr sz="2400" b="1" kern="0" spc="-70" dirty="0">
                <a:solidFill>
                  <a:srgbClr val="000000">
                    <a:alpha val="100000"/>
                  </a:srgbClr>
                </a:solidFill>
                <a:latin typeface="MS Gothic" panose="020B0609070205080204" charset="-128"/>
                <a:ea typeface="MS Gothic" panose="020B0609070205080204" charset="-128"/>
                <a:cs typeface="MS Gothic" panose="020B0609070205080204" charset="-128"/>
              </a:rPr>
              <a:t>向量</a:t>
            </a:r>
            <a:endParaRPr sz="2400" dirty="0">
              <a:latin typeface="MS Gothic" panose="020B0609070205080204" charset="-128"/>
              <a:ea typeface="MS Gothic" panose="020B0609070205080204" charset="-128"/>
              <a:cs typeface="MS Gothic" panose="020B0609070205080204" charset="-128"/>
            </a:endParaRPr>
          </a:p>
        </p:txBody>
      </p:sp>
      <p:sp>
        <p:nvSpPr>
          <p:cNvPr id="62" name="textbox 62"/>
          <p:cNvSpPr/>
          <p:nvPr/>
        </p:nvSpPr>
        <p:spPr>
          <a:xfrm>
            <a:off x="1587139" y="491245"/>
            <a:ext cx="1613535"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0563C1">
                    <a:alpha val="100000"/>
                  </a:srgbClr>
                </a:solidFill>
                <a:latin typeface="仿宋" panose="02010609060101010101" charset="-122"/>
                <a:ea typeface="仿宋" panose="02010609060101010101" charset="-122"/>
                <a:cs typeface="仿宋" panose="02010609060101010101" charset="-122"/>
              </a:rPr>
              <a:t>字节代换</a:t>
            </a:r>
            <a:endParaRPr sz="3100" dirty="0">
              <a:latin typeface="仿宋" panose="02010609060101010101" charset="-122"/>
              <a:ea typeface="仿宋" panose="02010609060101010101" charset="-122"/>
              <a:cs typeface="仿宋" panose="02010609060101010101" charset="-122"/>
            </a:endParaRPr>
          </a:p>
        </p:txBody>
      </p:sp>
      <p:sp>
        <p:nvSpPr>
          <p:cNvPr id="64" name="textbox 64"/>
          <p:cNvSpPr/>
          <p:nvPr/>
        </p:nvSpPr>
        <p:spPr>
          <a:xfrm>
            <a:off x="1372361" y="2710713"/>
            <a:ext cx="368934" cy="1320800"/>
          </a:xfrm>
          <a:prstGeom prst="rect">
            <a:avLst/>
          </a:prstGeom>
          <a:noFill/>
          <a:ln w="0" cap="flat">
            <a:noFill/>
            <a:prstDash val="solid"/>
            <a:miter lim="0"/>
          </a:ln>
        </p:spPr>
        <p:txBody>
          <a:bodyPr vert="horz" wrap="square" lIns="0" tIns="0" rIns="0" bIns="0"/>
          <a:lstStyle/>
          <a:p>
            <a:pPr algn="l" rtl="0" eaLnBrk="0">
              <a:lnSpc>
                <a:spcPct val="9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4000"/>
              </a:lnSpc>
            </a:pP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(1)</a:t>
            </a:r>
            <a:endParaRPr sz="2400" dirty="0">
              <a:latin typeface="Times New Roman" panose="02020603050405020304"/>
              <a:ea typeface="Times New Roman" panose="02020603050405020304"/>
              <a:cs typeface="Times New Roman" panose="02020603050405020304"/>
            </a:endParaRPr>
          </a:p>
          <a:p>
            <a:pPr marL="36830" indent="-24130" algn="l" rtl="0" eaLnBrk="0">
              <a:lnSpc>
                <a:spcPct val="139000"/>
              </a:lnSpc>
              <a:spcBef>
                <a:spcPts val="50"/>
              </a:spcBef>
            </a:pP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(2)</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即</a:t>
            </a:r>
            <a:endParaRPr sz="2400" dirty="0">
              <a:latin typeface="仿宋" panose="02010609060101010101" charset="-122"/>
              <a:ea typeface="仿宋" panose="02010609060101010101" charset="-122"/>
              <a:cs typeface="仿宋" panose="02010609060101010101" charset="-122"/>
            </a:endParaRPr>
          </a:p>
        </p:txBody>
      </p:sp>
      <p:sp>
        <p:nvSpPr>
          <p:cNvPr id="66" name="path 6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68" name="picture 68"/>
          <p:cNvPicPr>
            <a:picLocks noChangeAspect="1"/>
          </p:cNvPicPr>
          <p:nvPr/>
        </p:nvPicPr>
        <p:blipFill>
          <a:blip r:embed="rId1"/>
          <a:stretch>
            <a:fillRect/>
          </a:stretch>
        </p:blipFill>
        <p:spPr>
          <a:xfrm rot="21600000">
            <a:off x="822960" y="408431"/>
            <a:ext cx="420623" cy="655320"/>
          </a:xfrm>
          <a:prstGeom prst="rect">
            <a:avLst/>
          </a:prstGeom>
        </p:spPr>
      </p:pic>
      <p:sp>
        <p:nvSpPr>
          <p:cNvPr id="70" name="path 7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extbox 72"/>
          <p:cNvSpPr/>
          <p:nvPr/>
        </p:nvSpPr>
        <p:spPr>
          <a:xfrm>
            <a:off x="2562694" y="2495734"/>
            <a:ext cx="6645275" cy="326897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ts val="3590"/>
              </a:lnSpc>
              <a:tabLst>
                <a:tab pos="29210" algn="l"/>
              </a:tabLst>
            </a:pPr>
            <a:r>
              <a:rPr sz="26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600" i="1" kern="0" spc="440" dirty="0">
                <a:solidFill>
                  <a:srgbClr val="000000">
                    <a:alpha val="100000"/>
                  </a:srgbClr>
                </a:solidFill>
                <a:latin typeface="Times New Roman" panose="02020603050405020304"/>
                <a:ea typeface="Times New Roman" panose="02020603050405020304"/>
                <a:cs typeface="Times New Roman" panose="02020603050405020304"/>
              </a:rPr>
              <a:t> </a:t>
            </a:r>
            <a:r>
              <a:rPr sz="2600" i="1" kern="0" spc="-40" dirty="0">
                <a:solidFill>
                  <a:srgbClr val="000000">
                    <a:alpha val="100000"/>
                  </a:srgbClr>
                </a:solidFill>
                <a:latin typeface="Times New Roman" panose="02020603050405020304"/>
                <a:ea typeface="Times New Roman" panose="02020603050405020304"/>
                <a:cs typeface="Times New Roman" panose="02020603050405020304"/>
              </a:rPr>
              <a:t>y</a:t>
            </a:r>
            <a:r>
              <a:rPr sz="2300" kern="0" spc="-40" baseline="-15000" dirty="0">
                <a:solidFill>
                  <a:srgbClr val="000000">
                    <a:alpha val="100000"/>
                  </a:srgbClr>
                </a:solidFill>
                <a:latin typeface="Times New Roman" panose="02020603050405020304"/>
                <a:ea typeface="Times New Roman" panose="02020603050405020304"/>
                <a:cs typeface="Times New Roman" panose="02020603050405020304"/>
              </a:rPr>
              <a:t>2</a:t>
            </a:r>
            <a:r>
              <a:rPr sz="15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6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600" kern="0" spc="-40" dirty="0">
                <a:solidFill>
                  <a:srgbClr val="000000">
                    <a:alpha val="100000"/>
                  </a:srgbClr>
                </a:solidFill>
                <a:latin typeface="Times New Roman" panose="02020603050405020304"/>
                <a:ea typeface="Times New Roman" panose="02020603050405020304"/>
                <a:cs typeface="Times New Roman" panose="02020603050405020304"/>
              </a:rPr>
              <a:t>1</a:t>
            </a:r>
            <a:r>
              <a:rPr sz="26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90" dirty="0">
                <a:solidFill>
                  <a:srgbClr val="000000">
                    <a:alpha val="100000"/>
                  </a:srgbClr>
                </a:solidFill>
                <a:latin typeface="Times New Roman" panose="02020603050405020304"/>
                <a:ea typeface="Times New Roman" panose="02020603050405020304"/>
                <a:cs typeface="Times New Roman" panose="02020603050405020304"/>
              </a:rPr>
              <a:t>1</a:t>
            </a:r>
            <a:r>
              <a:rPr sz="26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90" dirty="0">
                <a:solidFill>
                  <a:srgbClr val="000000">
                    <a:alpha val="100000"/>
                  </a:srgbClr>
                </a:solidFill>
                <a:latin typeface="Times New Roman" panose="02020603050405020304"/>
                <a:ea typeface="Times New Roman" panose="02020603050405020304"/>
                <a:cs typeface="Times New Roman" panose="02020603050405020304"/>
              </a:rPr>
              <a:t>1</a:t>
            </a:r>
            <a:r>
              <a:rPr sz="26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90" dirty="0">
                <a:solidFill>
                  <a:srgbClr val="000000">
                    <a:alpha val="100000"/>
                  </a:srgbClr>
                </a:solidFill>
                <a:latin typeface="Times New Roman" panose="02020603050405020304"/>
                <a:ea typeface="Times New Roman" panose="02020603050405020304"/>
                <a:cs typeface="Times New Roman" panose="02020603050405020304"/>
              </a:rPr>
              <a:t>0</a:t>
            </a:r>
            <a:r>
              <a:rPr sz="26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90" dirty="0">
                <a:solidFill>
                  <a:srgbClr val="000000">
                    <a:alpha val="100000"/>
                  </a:srgbClr>
                </a:solidFill>
                <a:latin typeface="Times New Roman" panose="02020603050405020304"/>
                <a:ea typeface="Times New Roman" panose="02020603050405020304"/>
                <a:cs typeface="Times New Roman" panose="02020603050405020304"/>
              </a:rPr>
              <a:t>0</a:t>
            </a:r>
            <a:r>
              <a:rPr sz="26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90" dirty="0">
                <a:solidFill>
                  <a:srgbClr val="000000">
                    <a:alpha val="100000"/>
                  </a:srgbClr>
                </a:solidFill>
                <a:latin typeface="Times New Roman" panose="02020603050405020304"/>
                <a:ea typeface="Times New Roman" panose="02020603050405020304"/>
                <a:cs typeface="Times New Roman" panose="02020603050405020304"/>
              </a:rPr>
              <a:t>0</a:t>
            </a:r>
            <a:r>
              <a:rPr sz="26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90" dirty="0">
                <a:solidFill>
                  <a:srgbClr val="000000">
                    <a:alpha val="100000"/>
                  </a:srgbClr>
                </a:solidFill>
                <a:latin typeface="Times New Roman" panose="02020603050405020304"/>
                <a:ea typeface="Times New Roman" panose="02020603050405020304"/>
                <a:cs typeface="Times New Roman" panose="02020603050405020304"/>
              </a:rPr>
              <a:t>1</a:t>
            </a:r>
            <a:r>
              <a:rPr sz="26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90" dirty="0">
                <a:solidFill>
                  <a:srgbClr val="000000">
                    <a:alpha val="100000"/>
                  </a:srgbClr>
                </a:solidFill>
                <a:latin typeface="Times New Roman" panose="02020603050405020304"/>
                <a:ea typeface="Times New Roman" panose="02020603050405020304"/>
                <a:cs typeface="Times New Roman" panose="02020603050405020304"/>
              </a:rPr>
              <a:t>1</a:t>
            </a:r>
            <a:r>
              <a:rPr sz="2600" kern="0" spc="33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600" i="1" kern="0" spc="-90" dirty="0">
                <a:solidFill>
                  <a:srgbClr val="000000">
                    <a:alpha val="100000"/>
                  </a:srgbClr>
                </a:solidFill>
                <a:latin typeface="Times New Roman" panose="02020603050405020304"/>
                <a:ea typeface="Times New Roman" panose="02020603050405020304"/>
                <a:cs typeface="Times New Roman" panose="02020603050405020304"/>
              </a:rPr>
              <a:t>x</a:t>
            </a:r>
            <a:r>
              <a:rPr sz="2300" kern="0" spc="170" baseline="-15000" dirty="0">
                <a:solidFill>
                  <a:srgbClr val="000000">
                    <a:alpha val="100000"/>
                  </a:srgbClr>
                </a:solidFill>
                <a:latin typeface="Times New Roman" panose="02020603050405020304"/>
                <a:ea typeface="Times New Roman" panose="02020603050405020304"/>
                <a:cs typeface="Times New Roman" panose="02020603050405020304"/>
              </a:rPr>
              <a:t>2</a:t>
            </a:r>
            <a:r>
              <a:rPr sz="15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1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600" kern="0" spc="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600" kern="0" spc="-190" dirty="0">
                <a:solidFill>
                  <a:srgbClr val="000000">
                    <a:alpha val="100000"/>
                  </a:srgbClr>
                </a:solidFill>
                <a:latin typeface="Times New Roman" panose="02020603050405020304"/>
                <a:ea typeface="Times New Roman" panose="02020603050405020304"/>
                <a:cs typeface="Times New Roman" panose="02020603050405020304"/>
              </a:rPr>
              <a:t>0</a:t>
            </a:r>
            <a:endParaRPr sz="2600" dirty="0">
              <a:latin typeface="Times New Roman" panose="02020603050405020304"/>
              <a:ea typeface="Times New Roman" panose="02020603050405020304"/>
              <a:cs typeface="Times New Roman" panose="02020603050405020304"/>
            </a:endParaRPr>
          </a:p>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ts val="2870"/>
              </a:lnSpc>
              <a:spcBef>
                <a:spcPts val="250"/>
              </a:spcBef>
              <a:tabLst>
                <a:tab pos="29210" algn="l"/>
              </a:tabLst>
            </a:pPr>
            <a:r>
              <a:rPr sz="8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8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                                                           </a:t>
            </a:r>
            <a:r>
              <a:rPr sz="8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                       |                             |</a:t>
            </a:r>
            <a:endParaRPr sz="8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4000"/>
              </a:lnSpc>
              <a:spcBef>
                <a:spcPts val="5"/>
              </a:spcBef>
              <a:tabLst>
                <a:tab pos="29210" algn="l"/>
              </a:tabLst>
            </a:pPr>
            <a:r>
              <a:rPr sz="2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i="1" kern="0" spc="520" dirty="0">
                <a:solidFill>
                  <a:srgbClr val="000000">
                    <a:alpha val="100000"/>
                  </a:srgbClr>
                </a:solidFill>
                <a:latin typeface="Times New Roman" panose="02020603050405020304"/>
                <a:ea typeface="Times New Roman" panose="02020603050405020304"/>
                <a:cs typeface="Times New Roman" panose="02020603050405020304"/>
              </a:rPr>
              <a:t> </a:t>
            </a:r>
            <a:r>
              <a:rPr sz="3800" i="1" kern="0" spc="-30" baseline="1100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30" baseline="-12000" dirty="0">
                <a:solidFill>
                  <a:srgbClr val="000000">
                    <a:alpha val="100000"/>
                  </a:srgbClr>
                </a:solidFill>
                <a:latin typeface="Times New Roman" panose="02020603050405020304"/>
                <a:ea typeface="Times New Roman" panose="02020603050405020304"/>
                <a:cs typeface="Times New Roman" panose="02020603050405020304"/>
              </a:rPr>
              <a:t>5</a:t>
            </a:r>
            <a:r>
              <a:rPr sz="14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30" baseline="-70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3800" kern="0" spc="-30" baseline="10000" dirty="0">
                <a:solidFill>
                  <a:srgbClr val="000000">
                    <a:alpha val="100000"/>
                  </a:srgbClr>
                </a:solidFill>
                <a:latin typeface="Times New Roman" panose="02020603050405020304"/>
                <a:ea typeface="Times New Roman" panose="02020603050405020304"/>
                <a:cs typeface="Times New Roman" panose="02020603050405020304"/>
              </a:rPr>
              <a:t>0</a:t>
            </a:r>
            <a:r>
              <a:rPr sz="24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30" baseline="10000" dirty="0">
                <a:solidFill>
                  <a:srgbClr val="000000">
                    <a:alpha val="100000"/>
                  </a:srgbClr>
                </a:solidFill>
                <a:latin typeface="Times New Roman" panose="02020603050405020304"/>
                <a:ea typeface="Times New Roman" panose="02020603050405020304"/>
                <a:cs typeface="Times New Roman" panose="02020603050405020304"/>
              </a:rPr>
              <a:t>1</a:t>
            </a:r>
            <a:r>
              <a:rPr sz="24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30" baseline="10000" dirty="0">
                <a:solidFill>
                  <a:srgbClr val="000000">
                    <a:alpha val="100000"/>
                  </a:srgbClr>
                </a:solidFill>
                <a:latin typeface="Times New Roman" panose="02020603050405020304"/>
                <a:ea typeface="Times New Roman" panose="02020603050405020304"/>
                <a:cs typeface="Times New Roman" panose="02020603050405020304"/>
              </a:rPr>
              <a:t>1</a:t>
            </a:r>
            <a:r>
              <a:rPr sz="24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30" baseline="10000" dirty="0">
                <a:solidFill>
                  <a:srgbClr val="000000">
                    <a:alpha val="100000"/>
                  </a:srgbClr>
                </a:solidFill>
                <a:latin typeface="Times New Roman" panose="02020603050405020304"/>
                <a:ea typeface="Times New Roman" panose="02020603050405020304"/>
                <a:cs typeface="Times New Roman" panose="02020603050405020304"/>
              </a:rPr>
              <a:t>1</a:t>
            </a:r>
            <a:r>
              <a:rPr sz="24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30" baseline="10000" dirty="0">
                <a:solidFill>
                  <a:srgbClr val="000000">
                    <a:alpha val="100000"/>
                  </a:srgbClr>
                </a:solidFill>
                <a:latin typeface="Times New Roman" panose="02020603050405020304"/>
                <a:ea typeface="Times New Roman" panose="02020603050405020304"/>
                <a:cs typeface="Times New Roman" panose="02020603050405020304"/>
              </a:rPr>
              <a:t>1</a:t>
            </a:r>
            <a:r>
              <a:rPr sz="24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30" baseline="10000" dirty="0">
                <a:solidFill>
                  <a:srgbClr val="000000">
                    <a:alpha val="100000"/>
                  </a:srgbClr>
                </a:solidFill>
                <a:latin typeface="Times New Roman" panose="02020603050405020304"/>
                <a:ea typeface="Times New Roman" panose="02020603050405020304"/>
                <a:cs typeface="Times New Roman" panose="02020603050405020304"/>
              </a:rPr>
              <a:t>1</a:t>
            </a:r>
            <a:r>
              <a:rPr sz="24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30" baseline="10000" dirty="0">
                <a:solidFill>
                  <a:srgbClr val="000000">
                    <a:alpha val="100000"/>
                  </a:srgbClr>
                </a:solidFill>
                <a:latin typeface="Times New Roman" panose="02020603050405020304"/>
                <a:ea typeface="Times New Roman" panose="02020603050405020304"/>
                <a:cs typeface="Times New Roman" panose="02020603050405020304"/>
              </a:rPr>
              <a:t>0</a:t>
            </a:r>
            <a:r>
              <a:rPr sz="24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30" baseline="10000" dirty="0">
                <a:solidFill>
                  <a:srgbClr val="000000">
                    <a:alpha val="100000"/>
                  </a:srgbClr>
                </a:solidFill>
                <a:latin typeface="Times New Roman" panose="02020603050405020304"/>
                <a:ea typeface="Times New Roman" panose="02020603050405020304"/>
                <a:cs typeface="Times New Roman" panose="02020603050405020304"/>
              </a:rPr>
              <a:t>0</a:t>
            </a:r>
            <a:r>
              <a:rPr sz="2400" kern="0" spc="37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30" baseline="-70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3800" i="1" kern="0" spc="-30" baseline="1100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40" baseline="-12000" dirty="0">
                <a:solidFill>
                  <a:srgbClr val="000000">
                    <a:alpha val="100000"/>
                  </a:srgbClr>
                </a:solidFill>
                <a:latin typeface="Times New Roman" panose="02020603050405020304"/>
                <a:ea typeface="Times New Roman" panose="02020603050405020304"/>
                <a:cs typeface="Times New Roman" panose="02020603050405020304"/>
              </a:rPr>
              <a:t>5</a:t>
            </a:r>
            <a:r>
              <a:rPr sz="1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40" baseline="-70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3800" kern="0" spc="-330" baseline="10000" dirty="0">
                <a:solidFill>
                  <a:srgbClr val="000000">
                    <a:alpha val="100000"/>
                  </a:srgbClr>
                </a:solidFill>
                <a:latin typeface="Times New Roman" panose="02020603050405020304"/>
                <a:ea typeface="Times New Roman" panose="02020603050405020304"/>
                <a:cs typeface="Times New Roman" panose="02020603050405020304"/>
              </a:rPr>
              <a:t>1</a:t>
            </a:r>
            <a:r>
              <a:rPr sz="2400" kern="0" spc="42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230" baseline="-70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endParaRPr sz="3800" baseline="-70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ts val="8790"/>
              </a:lnSpc>
              <a:tabLst>
                <a:tab pos="6631940" algn="l"/>
              </a:tabLst>
            </a:pPr>
            <a:r>
              <a:rPr sz="10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endParaRPr sz="1000" dirty="0">
              <a:latin typeface="Arial" panose="020B0604020202020204" pitchFamily="34" charset="0"/>
              <a:ea typeface="Arial" panose="020B0604020202020204" pitchFamily="34" charset="0"/>
              <a:cs typeface="Arial" panose="020B0604020202020204" pitchFamily="34" charset="0"/>
            </a:endParaRPr>
          </a:p>
        </p:txBody>
      </p:sp>
      <p:pic>
        <p:nvPicPr>
          <p:cNvPr id="74" name="picture 74"/>
          <p:cNvPicPr>
            <a:picLocks noChangeAspect="1"/>
          </p:cNvPicPr>
          <p:nvPr/>
        </p:nvPicPr>
        <p:blipFill>
          <a:blip r:embed="rId1"/>
          <a:stretch>
            <a:fillRect/>
          </a:stretch>
        </p:blipFill>
        <p:spPr>
          <a:xfrm rot="21600000">
            <a:off x="2575394" y="4635138"/>
            <a:ext cx="6619862" cy="1116532"/>
          </a:xfrm>
          <a:prstGeom prst="rect">
            <a:avLst/>
          </a:prstGeom>
        </p:spPr>
      </p:pic>
      <p:pic>
        <p:nvPicPr>
          <p:cNvPr id="76" name="picture 76"/>
          <p:cNvPicPr>
            <a:picLocks noChangeAspect="1"/>
          </p:cNvPicPr>
          <p:nvPr/>
        </p:nvPicPr>
        <p:blipFill>
          <a:blip r:embed="rId2"/>
          <a:stretch>
            <a:fillRect/>
          </a:stretch>
        </p:blipFill>
        <p:spPr>
          <a:xfrm rot="21600000">
            <a:off x="8718787" y="4285566"/>
            <a:ext cx="17286" cy="349571"/>
          </a:xfrm>
          <a:prstGeom prst="rect">
            <a:avLst/>
          </a:prstGeom>
        </p:spPr>
      </p:pic>
      <p:pic>
        <p:nvPicPr>
          <p:cNvPr id="78" name="picture 78"/>
          <p:cNvPicPr>
            <a:picLocks noChangeAspect="1"/>
          </p:cNvPicPr>
          <p:nvPr/>
        </p:nvPicPr>
        <p:blipFill>
          <a:blip r:embed="rId3"/>
          <a:stretch>
            <a:fillRect/>
          </a:stretch>
        </p:blipFill>
        <p:spPr>
          <a:xfrm rot="21600000">
            <a:off x="7781560" y="4280606"/>
            <a:ext cx="17286" cy="349571"/>
          </a:xfrm>
          <a:prstGeom prst="rect">
            <a:avLst/>
          </a:prstGeom>
        </p:spPr>
      </p:pic>
      <p:pic>
        <p:nvPicPr>
          <p:cNvPr id="80" name="picture 80"/>
          <p:cNvPicPr>
            <a:picLocks noChangeAspect="1"/>
          </p:cNvPicPr>
          <p:nvPr/>
        </p:nvPicPr>
        <p:blipFill>
          <a:blip r:embed="rId4"/>
          <a:stretch>
            <a:fillRect/>
          </a:stretch>
        </p:blipFill>
        <p:spPr>
          <a:xfrm rot="21600000">
            <a:off x="3583628" y="4285566"/>
            <a:ext cx="17286" cy="349571"/>
          </a:xfrm>
          <a:prstGeom prst="rect">
            <a:avLst/>
          </a:prstGeom>
        </p:spPr>
      </p:pic>
      <p:pic>
        <p:nvPicPr>
          <p:cNvPr id="82" name="picture 82"/>
          <p:cNvPicPr>
            <a:picLocks noChangeAspect="1"/>
          </p:cNvPicPr>
          <p:nvPr/>
        </p:nvPicPr>
        <p:blipFill>
          <a:blip r:embed="rId5"/>
          <a:stretch>
            <a:fillRect/>
          </a:stretch>
        </p:blipFill>
        <p:spPr>
          <a:xfrm rot="21600000">
            <a:off x="2575394" y="4280606"/>
            <a:ext cx="17286" cy="349571"/>
          </a:xfrm>
          <a:prstGeom prst="rect">
            <a:avLst/>
          </a:prstGeom>
        </p:spPr>
      </p:pic>
      <p:pic>
        <p:nvPicPr>
          <p:cNvPr id="84" name="picture 84"/>
          <p:cNvPicPr>
            <a:picLocks noChangeAspect="1"/>
          </p:cNvPicPr>
          <p:nvPr/>
        </p:nvPicPr>
        <p:blipFill>
          <a:blip r:embed="rId6"/>
          <a:stretch>
            <a:fillRect/>
          </a:stretch>
        </p:blipFill>
        <p:spPr>
          <a:xfrm rot="21600000">
            <a:off x="8715310" y="3920401"/>
            <a:ext cx="17286" cy="360203"/>
          </a:xfrm>
          <a:prstGeom prst="rect">
            <a:avLst/>
          </a:prstGeom>
        </p:spPr>
      </p:pic>
      <p:pic>
        <p:nvPicPr>
          <p:cNvPr id="86" name="picture 86"/>
          <p:cNvPicPr>
            <a:picLocks noChangeAspect="1"/>
          </p:cNvPicPr>
          <p:nvPr/>
        </p:nvPicPr>
        <p:blipFill>
          <a:blip r:embed="rId7"/>
          <a:stretch>
            <a:fillRect/>
          </a:stretch>
        </p:blipFill>
        <p:spPr>
          <a:xfrm rot="21600000">
            <a:off x="7740927" y="3915991"/>
            <a:ext cx="17286" cy="360203"/>
          </a:xfrm>
          <a:prstGeom prst="rect">
            <a:avLst/>
          </a:prstGeom>
        </p:spPr>
      </p:pic>
      <p:pic>
        <p:nvPicPr>
          <p:cNvPr id="88" name="picture 88"/>
          <p:cNvPicPr>
            <a:picLocks noChangeAspect="1"/>
          </p:cNvPicPr>
          <p:nvPr/>
        </p:nvPicPr>
        <p:blipFill>
          <a:blip r:embed="rId8"/>
          <a:stretch>
            <a:fillRect/>
          </a:stretch>
        </p:blipFill>
        <p:spPr>
          <a:xfrm rot="21600000">
            <a:off x="3604266" y="3920401"/>
            <a:ext cx="17286" cy="360203"/>
          </a:xfrm>
          <a:prstGeom prst="rect">
            <a:avLst/>
          </a:prstGeom>
        </p:spPr>
      </p:pic>
      <p:pic>
        <p:nvPicPr>
          <p:cNvPr id="90" name="picture 90"/>
          <p:cNvPicPr>
            <a:picLocks noChangeAspect="1"/>
          </p:cNvPicPr>
          <p:nvPr/>
        </p:nvPicPr>
        <p:blipFill>
          <a:blip r:embed="rId7"/>
          <a:stretch>
            <a:fillRect/>
          </a:stretch>
        </p:blipFill>
        <p:spPr>
          <a:xfrm rot="21600000">
            <a:off x="2575394" y="3915991"/>
            <a:ext cx="17286" cy="360203"/>
          </a:xfrm>
          <a:prstGeom prst="rect">
            <a:avLst/>
          </a:prstGeom>
        </p:spPr>
      </p:pic>
      <p:pic>
        <p:nvPicPr>
          <p:cNvPr id="92" name="picture 92"/>
          <p:cNvPicPr>
            <a:picLocks noChangeAspect="1"/>
          </p:cNvPicPr>
          <p:nvPr/>
        </p:nvPicPr>
        <p:blipFill>
          <a:blip r:embed="rId9"/>
          <a:stretch>
            <a:fillRect/>
          </a:stretch>
        </p:blipFill>
        <p:spPr>
          <a:xfrm rot="21600000">
            <a:off x="8756250" y="2513007"/>
            <a:ext cx="17286" cy="373501"/>
          </a:xfrm>
          <a:prstGeom prst="rect">
            <a:avLst/>
          </a:prstGeom>
        </p:spPr>
      </p:pic>
      <p:pic>
        <p:nvPicPr>
          <p:cNvPr id="94" name="picture 94"/>
          <p:cNvPicPr>
            <a:picLocks noChangeAspect="1"/>
          </p:cNvPicPr>
          <p:nvPr/>
        </p:nvPicPr>
        <p:blipFill>
          <a:blip r:embed="rId10"/>
          <a:stretch>
            <a:fillRect/>
          </a:stretch>
        </p:blipFill>
        <p:spPr>
          <a:xfrm rot="21600000">
            <a:off x="7798703" y="2508434"/>
            <a:ext cx="17286" cy="373501"/>
          </a:xfrm>
          <a:prstGeom prst="rect">
            <a:avLst/>
          </a:prstGeom>
        </p:spPr>
      </p:pic>
      <p:pic>
        <p:nvPicPr>
          <p:cNvPr id="96" name="picture 96"/>
          <p:cNvPicPr>
            <a:picLocks noChangeAspect="1"/>
          </p:cNvPicPr>
          <p:nvPr/>
        </p:nvPicPr>
        <p:blipFill>
          <a:blip r:embed="rId9"/>
          <a:stretch>
            <a:fillRect/>
          </a:stretch>
        </p:blipFill>
        <p:spPr>
          <a:xfrm rot="21600000">
            <a:off x="3586167" y="2513007"/>
            <a:ext cx="17286" cy="373501"/>
          </a:xfrm>
          <a:prstGeom prst="rect">
            <a:avLst/>
          </a:prstGeom>
        </p:spPr>
      </p:pic>
      <p:pic>
        <p:nvPicPr>
          <p:cNvPr id="98" name="picture 98"/>
          <p:cNvPicPr>
            <a:picLocks noChangeAspect="1"/>
          </p:cNvPicPr>
          <p:nvPr/>
        </p:nvPicPr>
        <p:blipFill>
          <a:blip r:embed="rId10"/>
          <a:stretch>
            <a:fillRect/>
          </a:stretch>
        </p:blipFill>
        <p:spPr>
          <a:xfrm rot="21600000">
            <a:off x="2575394" y="2508434"/>
            <a:ext cx="17286" cy="373501"/>
          </a:xfrm>
          <a:prstGeom prst="rect">
            <a:avLst/>
          </a:prstGeom>
        </p:spPr>
      </p:pic>
      <p:sp>
        <p:nvSpPr>
          <p:cNvPr id="100" name="textbox 100"/>
          <p:cNvSpPr/>
          <p:nvPr/>
        </p:nvSpPr>
        <p:spPr>
          <a:xfrm>
            <a:off x="2562694" y="2847646"/>
            <a:ext cx="6645275" cy="123126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ts val="9495"/>
              </a:lnSpc>
              <a:tabLst>
                <a:tab pos="6631940" algn="l"/>
              </a:tabLst>
            </a:pPr>
            <a:r>
              <a:rPr sz="10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endParaRPr sz="1000" dirty="0">
              <a:latin typeface="Arial" panose="020B0604020202020204" pitchFamily="34" charset="0"/>
              <a:ea typeface="Arial" panose="020B0604020202020204" pitchFamily="34" charset="0"/>
              <a:cs typeface="Arial" panose="020B0604020202020204" pitchFamily="34" charset="0"/>
            </a:endParaRPr>
          </a:p>
        </p:txBody>
      </p:sp>
      <p:pic>
        <p:nvPicPr>
          <p:cNvPr id="102" name="picture 102"/>
          <p:cNvPicPr>
            <a:picLocks noChangeAspect="1"/>
          </p:cNvPicPr>
          <p:nvPr/>
        </p:nvPicPr>
        <p:blipFill>
          <a:blip r:embed="rId11"/>
          <a:stretch>
            <a:fillRect/>
          </a:stretch>
        </p:blipFill>
        <p:spPr>
          <a:xfrm rot="21600000">
            <a:off x="2575394" y="2860346"/>
            <a:ext cx="6619862" cy="1205707"/>
          </a:xfrm>
          <a:prstGeom prst="rect">
            <a:avLst/>
          </a:prstGeom>
        </p:spPr>
      </p:pic>
      <p:sp>
        <p:nvSpPr>
          <p:cNvPr id="104" name="textbox 104"/>
          <p:cNvSpPr/>
          <p:nvPr/>
        </p:nvSpPr>
        <p:spPr>
          <a:xfrm>
            <a:off x="2562694" y="1440210"/>
            <a:ext cx="6645275" cy="145923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ts val="11290"/>
              </a:lnSpc>
              <a:tabLst>
                <a:tab pos="6631940" algn="l"/>
              </a:tabLst>
            </a:pPr>
            <a:r>
              <a:rPr sz="10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endParaRPr sz="1000" dirty="0">
              <a:latin typeface="Arial" panose="020B0604020202020204" pitchFamily="34" charset="0"/>
              <a:ea typeface="Arial" panose="020B0604020202020204" pitchFamily="34" charset="0"/>
              <a:cs typeface="Arial" panose="020B0604020202020204" pitchFamily="34" charset="0"/>
            </a:endParaRPr>
          </a:p>
        </p:txBody>
      </p:sp>
      <p:pic>
        <p:nvPicPr>
          <p:cNvPr id="106" name="picture 106"/>
          <p:cNvPicPr>
            <a:picLocks noChangeAspect="1"/>
          </p:cNvPicPr>
          <p:nvPr/>
        </p:nvPicPr>
        <p:blipFill>
          <a:blip r:embed="rId12"/>
          <a:stretch>
            <a:fillRect/>
          </a:stretch>
        </p:blipFill>
        <p:spPr>
          <a:xfrm rot="21600000">
            <a:off x="2575394" y="1452910"/>
            <a:ext cx="6619862" cy="1433598"/>
          </a:xfrm>
          <a:prstGeom prst="rect">
            <a:avLst/>
          </a:prstGeom>
        </p:spPr>
      </p:pic>
      <p:sp>
        <p:nvSpPr>
          <p:cNvPr id="108" name="textbox 108"/>
          <p:cNvSpPr/>
          <p:nvPr/>
        </p:nvSpPr>
        <p:spPr>
          <a:xfrm>
            <a:off x="2562694" y="4606327"/>
            <a:ext cx="6189345" cy="40449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ts val="2980"/>
              </a:lnSpc>
              <a:tabLst>
                <a:tab pos="29210" algn="l"/>
              </a:tabLst>
            </a:pPr>
            <a:r>
              <a:rPr sz="8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8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                                          </a:t>
            </a:r>
            <a:r>
              <a:rPr sz="8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                       |                   </a:t>
            </a:r>
            <a:endParaRPr sz="800" dirty="0">
              <a:latin typeface="Arial" panose="020B0604020202020204" pitchFamily="34" charset="0"/>
              <a:ea typeface="Arial" panose="020B0604020202020204" pitchFamily="34" charset="0"/>
              <a:cs typeface="Arial" panose="020B0604020202020204" pitchFamily="34" charset="0"/>
            </a:endParaRPr>
          </a:p>
        </p:txBody>
      </p:sp>
      <p:pic>
        <p:nvPicPr>
          <p:cNvPr id="110" name="picture 110"/>
          <p:cNvPicPr>
            <a:picLocks noChangeAspect="1"/>
          </p:cNvPicPr>
          <p:nvPr/>
        </p:nvPicPr>
        <p:blipFill>
          <a:blip r:embed="rId13"/>
          <a:stretch>
            <a:fillRect/>
          </a:stretch>
        </p:blipFill>
        <p:spPr>
          <a:xfrm rot="21600000">
            <a:off x="8693718" y="4624328"/>
            <a:ext cx="17286" cy="373501"/>
          </a:xfrm>
          <a:prstGeom prst="rect">
            <a:avLst/>
          </a:prstGeom>
        </p:spPr>
      </p:pic>
      <p:pic>
        <p:nvPicPr>
          <p:cNvPr id="112" name="picture 112"/>
          <p:cNvPicPr>
            <a:picLocks noChangeAspect="1"/>
          </p:cNvPicPr>
          <p:nvPr/>
        </p:nvPicPr>
        <p:blipFill>
          <a:blip r:embed="rId9"/>
          <a:stretch>
            <a:fillRect/>
          </a:stretch>
        </p:blipFill>
        <p:spPr>
          <a:xfrm rot="21600000">
            <a:off x="7719335" y="4619027"/>
            <a:ext cx="17286" cy="373501"/>
          </a:xfrm>
          <a:prstGeom prst="rect">
            <a:avLst/>
          </a:prstGeom>
        </p:spPr>
      </p:pic>
      <p:pic>
        <p:nvPicPr>
          <p:cNvPr id="114" name="picture 114"/>
          <p:cNvPicPr>
            <a:picLocks noChangeAspect="1"/>
          </p:cNvPicPr>
          <p:nvPr/>
        </p:nvPicPr>
        <p:blipFill>
          <a:blip r:embed="rId13"/>
          <a:stretch>
            <a:fillRect/>
          </a:stretch>
        </p:blipFill>
        <p:spPr>
          <a:xfrm rot="21600000">
            <a:off x="3604266" y="4624328"/>
            <a:ext cx="17286" cy="373501"/>
          </a:xfrm>
          <a:prstGeom prst="rect">
            <a:avLst/>
          </a:prstGeom>
        </p:spPr>
      </p:pic>
      <p:pic>
        <p:nvPicPr>
          <p:cNvPr id="116" name="picture 116"/>
          <p:cNvPicPr>
            <a:picLocks noChangeAspect="1"/>
          </p:cNvPicPr>
          <p:nvPr/>
        </p:nvPicPr>
        <p:blipFill>
          <a:blip r:embed="rId9"/>
          <a:stretch>
            <a:fillRect/>
          </a:stretch>
        </p:blipFill>
        <p:spPr>
          <a:xfrm rot="21600000">
            <a:off x="2575394" y="4619027"/>
            <a:ext cx="17286" cy="373501"/>
          </a:xfrm>
          <a:prstGeom prst="rect">
            <a:avLst/>
          </a:prstGeom>
        </p:spPr>
      </p:pic>
      <p:sp>
        <p:nvSpPr>
          <p:cNvPr id="120" name="textbox 120"/>
          <p:cNvSpPr/>
          <p:nvPr/>
        </p:nvSpPr>
        <p:spPr>
          <a:xfrm>
            <a:off x="1587139" y="491245"/>
            <a:ext cx="1613535"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0563C1">
                    <a:alpha val="100000"/>
                  </a:srgbClr>
                </a:solidFill>
                <a:latin typeface="仿宋" panose="02010609060101010101" charset="-122"/>
                <a:ea typeface="仿宋" panose="02010609060101010101" charset="-122"/>
                <a:cs typeface="仿宋" panose="02010609060101010101" charset="-122"/>
              </a:rPr>
              <a:t>字节代换</a:t>
            </a:r>
            <a:endParaRPr sz="3100" dirty="0">
              <a:latin typeface="仿宋" panose="02010609060101010101" charset="-122"/>
              <a:ea typeface="仿宋" panose="02010609060101010101" charset="-122"/>
              <a:cs typeface="仿宋" panose="02010609060101010101" charset="-122"/>
            </a:endParaRPr>
          </a:p>
        </p:txBody>
      </p:sp>
      <p:sp>
        <p:nvSpPr>
          <p:cNvPr id="122" name="path 122"/>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4" name="picture 124"/>
          <p:cNvPicPr>
            <a:picLocks noChangeAspect="1"/>
          </p:cNvPicPr>
          <p:nvPr/>
        </p:nvPicPr>
        <p:blipFill>
          <a:blip r:embed="rId14"/>
          <a:stretch>
            <a:fillRect/>
          </a:stretch>
        </p:blipFill>
        <p:spPr>
          <a:xfrm rot="21600000">
            <a:off x="822960" y="408431"/>
            <a:ext cx="420623" cy="655320"/>
          </a:xfrm>
          <a:prstGeom prst="rect">
            <a:avLst/>
          </a:prstGeom>
        </p:spPr>
      </p:pic>
      <p:sp>
        <p:nvSpPr>
          <p:cNvPr id="126" name="path 12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15"/>
          <a:stretch>
            <a:fillRect/>
          </a:stretch>
        </p:blipFill>
        <p:spPr>
          <a:xfrm>
            <a:off x="2592705" y="1253490"/>
            <a:ext cx="7208520" cy="4977130"/>
          </a:xfrm>
          <a:prstGeom prst="rect">
            <a:avLst/>
          </a:prstGeom>
        </p:spPr>
      </p:pic>
      <p:sp>
        <p:nvSpPr>
          <p:cNvPr id="3" name="文本框 2"/>
          <p:cNvSpPr txBox="1"/>
          <p:nvPr/>
        </p:nvSpPr>
        <p:spPr>
          <a:xfrm>
            <a:off x="1467485" y="1105535"/>
            <a:ext cx="4972685" cy="368300"/>
          </a:xfrm>
          <a:prstGeom prst="rect">
            <a:avLst/>
          </a:prstGeom>
          <a:noFill/>
        </p:spPr>
        <p:txBody>
          <a:bodyPr wrap="square" rtlCol="0" anchor="t">
            <a:spAutoFit/>
          </a:bodyPr>
          <a:p>
            <a:r>
              <a:rPr lang="zh-CN" b="1" kern="0" spc="-10" dirty="0">
                <a:solidFill>
                  <a:srgbClr val="000000">
                    <a:alpha val="100000"/>
                  </a:srgbClr>
                </a:solidFill>
                <a:latin typeface="仿宋" panose="02010609060101010101" charset="-122"/>
                <a:ea typeface="仿宋" panose="02010609060101010101" charset="-122"/>
                <a:cs typeface="仿宋" panose="02010609060101010101" charset="-122"/>
                <a:sym typeface="+mn-ea"/>
              </a:rPr>
              <a:t>（</a:t>
            </a:r>
            <a:r>
              <a:rPr lang="en-US" altLang="zh-CN" b="1" kern="0" spc="-10" dirty="0">
                <a:solidFill>
                  <a:srgbClr val="000000">
                    <a:alpha val="100000"/>
                  </a:srgbClr>
                </a:solidFill>
                <a:latin typeface="仿宋" panose="02010609060101010101" charset="-122"/>
                <a:ea typeface="仿宋" panose="02010609060101010101" charset="-122"/>
                <a:cs typeface="仿宋" panose="02010609060101010101" charset="-122"/>
                <a:sym typeface="+mn-ea"/>
              </a:rPr>
              <a:t>2</a:t>
            </a:r>
            <a:r>
              <a:rPr lang="zh-CN" altLang="en-US" b="1" kern="0" spc="-10" dirty="0">
                <a:solidFill>
                  <a:srgbClr val="000000">
                    <a:alpha val="100000"/>
                  </a:srgbClr>
                </a:solidFill>
                <a:latin typeface="仿宋" panose="02010609060101010101" charset="-122"/>
                <a:ea typeface="仿宋" panose="02010609060101010101" charset="-122"/>
                <a:cs typeface="仿宋" panose="02010609060101010101" charset="-122"/>
                <a:sym typeface="+mn-ea"/>
              </a:rPr>
              <a:t>）</a:t>
            </a:r>
            <a:r>
              <a:rPr b="1" kern="0" spc="-10" dirty="0">
                <a:solidFill>
                  <a:srgbClr val="000000">
                    <a:alpha val="100000"/>
                  </a:srgbClr>
                </a:solidFill>
                <a:latin typeface="仿宋" panose="02010609060101010101" charset="-122"/>
                <a:ea typeface="仿宋" panose="02010609060101010101" charset="-122"/>
                <a:cs typeface="仿宋" panose="02010609060101010101" charset="-122"/>
                <a:sym typeface="+mn-ea"/>
              </a:rPr>
              <a:t>将字节做</a:t>
            </a:r>
            <a:r>
              <a:rPr b="1" kern="0" spc="-10" dirty="0">
                <a:solidFill>
                  <a:srgbClr val="000000">
                    <a:alpha val="100000"/>
                  </a:srgbClr>
                </a:solidFill>
                <a:latin typeface="Times New Roman" panose="02020603050405020304"/>
                <a:ea typeface="Times New Roman" panose="02020603050405020304"/>
                <a:cs typeface="Times New Roman" panose="02020603050405020304"/>
                <a:sym typeface="+mn-ea"/>
              </a:rPr>
              <a:t>GF(2)</a:t>
            </a:r>
            <a:r>
              <a:rPr b="1" kern="0" spc="-10" dirty="0">
                <a:solidFill>
                  <a:srgbClr val="000000">
                    <a:alpha val="100000"/>
                  </a:srgbClr>
                </a:solidFill>
                <a:latin typeface="仿宋" panose="02010609060101010101" charset="-122"/>
                <a:ea typeface="仿宋" panose="02010609060101010101" charset="-122"/>
                <a:cs typeface="仿宋" panose="02010609060101010101" charset="-122"/>
                <a:sym typeface="+mn-ea"/>
              </a:rPr>
              <a:t>上的仿射变换</a:t>
            </a:r>
            <a:endParaRPr lang="zh-CN" alt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textbox 152"/>
          <p:cNvSpPr/>
          <p:nvPr/>
        </p:nvSpPr>
        <p:spPr>
          <a:xfrm>
            <a:off x="921835" y="1576561"/>
            <a:ext cx="10241280" cy="1886585"/>
          </a:xfrm>
          <a:prstGeom prst="rect">
            <a:avLst/>
          </a:prstGeom>
          <a:noFill/>
          <a:ln w="0" cap="flat">
            <a:noFill/>
            <a:prstDash val="solid"/>
            <a:miter lim="0"/>
          </a:ln>
        </p:spPr>
        <p:txBody>
          <a:bodyPr vert="horz" wrap="square" lIns="0" tIns="0" rIns="0" bIns="0"/>
          <a:lstStyle/>
          <a:p>
            <a:pPr algn="l" rtl="0" eaLnBrk="0">
              <a:lnSpc>
                <a:spcPct val="63000"/>
              </a:lnSpc>
            </a:pPr>
            <a:endParaRPr sz="100" dirty="0">
              <a:latin typeface="Arial" panose="020B0604020202020204" pitchFamily="34" charset="0"/>
              <a:ea typeface="Arial" panose="020B0604020202020204" pitchFamily="34" charset="0"/>
              <a:cs typeface="Arial" panose="020B0604020202020204" pitchFamily="34" charset="0"/>
            </a:endParaRPr>
          </a:p>
          <a:p>
            <a:pPr marL="245745" indent="-233045" algn="l" rtl="0" eaLnBrk="0">
              <a:lnSpc>
                <a:spcPct val="108000"/>
              </a:lnSpc>
            </a:pPr>
            <a:r>
              <a:rPr sz="28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逆字节替代变换是字节替代变换</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的逆变换，在状态的每个字节上</a:t>
            </a:r>
            <a:r>
              <a:rPr sz="28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应用逆S盒</a:t>
            </a:r>
            <a:endParaRPr sz="2800" dirty="0">
              <a:latin typeface="仿宋" panose="02010609060101010101" charset="-122"/>
              <a:ea typeface="仿宋" panose="02010609060101010101" charset="-122"/>
              <a:cs typeface="仿宋" panose="02010609060101010101" charset="-122"/>
            </a:endParaRPr>
          </a:p>
          <a:p>
            <a:pPr algn="l" rtl="0" eaLnBrk="0">
              <a:lnSpc>
                <a:spcPct val="10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
              </a:lnSpc>
            </a:pPr>
            <a:endParaRPr sz="100" dirty="0">
              <a:latin typeface="Arial" panose="020B0604020202020204" pitchFamily="34" charset="0"/>
              <a:ea typeface="Arial" panose="020B0604020202020204" pitchFamily="34" charset="0"/>
              <a:cs typeface="Arial" panose="020B0604020202020204" pitchFamily="34" charset="0"/>
            </a:endParaRPr>
          </a:p>
          <a:p>
            <a:pPr marL="695325" indent="-228600" algn="l" rtl="0" eaLnBrk="0">
              <a:lnSpc>
                <a:spcPct val="107000"/>
              </a:lnSpc>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这是通过应用字节替代变换中的仿射变换的逆变换，再对所得结果</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应用</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有限域的乘法逆运算得</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到的</a:t>
            </a:r>
            <a:endParaRPr sz="2400" dirty="0">
              <a:latin typeface="仿宋" panose="02010609060101010101" charset="-122"/>
              <a:ea typeface="仿宋" panose="02010609060101010101" charset="-122"/>
              <a:cs typeface="仿宋" panose="02010609060101010101" charset="-122"/>
            </a:endParaRPr>
          </a:p>
        </p:txBody>
      </p:sp>
      <p:sp>
        <p:nvSpPr>
          <p:cNvPr id="154" name="textbox 154"/>
          <p:cNvSpPr/>
          <p:nvPr/>
        </p:nvSpPr>
        <p:spPr>
          <a:xfrm>
            <a:off x="1577815" y="491245"/>
            <a:ext cx="4690109" cy="467359"/>
          </a:xfrm>
          <a:prstGeom prst="rect">
            <a:avLst/>
          </a:prstGeom>
          <a:noFill/>
          <a:ln w="0" cap="flat">
            <a:noFill/>
            <a:prstDash val="solid"/>
            <a:miter lim="0"/>
          </a:ln>
        </p:spPr>
        <p:txBody>
          <a:bodyPr vert="horz" wrap="square" lIns="0" tIns="0" rIns="0" bIns="0"/>
          <a:lstStyle/>
          <a:p>
            <a:pPr algn="l" rtl="0" eaLnBrk="0">
              <a:lnSpc>
                <a:spcPct val="97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pP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逆字节代换</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InvSubBytes</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a:t>
            </a:r>
            <a:endParaRPr sz="3100" dirty="0">
              <a:latin typeface="仿宋" panose="02010609060101010101" charset="-122"/>
              <a:ea typeface="仿宋" panose="02010609060101010101" charset="-122"/>
              <a:cs typeface="仿宋" panose="02010609060101010101" charset="-122"/>
            </a:endParaRPr>
          </a:p>
        </p:txBody>
      </p:sp>
      <p:sp>
        <p:nvSpPr>
          <p:cNvPr id="158" name="textbox 158"/>
          <p:cNvSpPr/>
          <p:nvPr/>
        </p:nvSpPr>
        <p:spPr>
          <a:xfrm>
            <a:off x="2427941" y="3830787"/>
            <a:ext cx="2153285" cy="42164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pPr>
            <a:r>
              <a:rPr sz="2800" i="1" kern="0" spc="220" dirty="0">
                <a:solidFill>
                  <a:srgbClr val="000000">
                    <a:alpha val="100000"/>
                  </a:srgbClr>
                </a:solidFill>
                <a:latin typeface="Times New Roman" panose="02020603050405020304"/>
                <a:ea typeface="Times New Roman" panose="02020603050405020304"/>
                <a:cs typeface="Times New Roman" panose="02020603050405020304"/>
              </a:rPr>
              <a:t>y </a:t>
            </a:r>
            <a:r>
              <a:rPr sz="2800" kern="0" spc="2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i="1" kern="0" spc="220" dirty="0">
                <a:solidFill>
                  <a:srgbClr val="000000">
                    <a:alpha val="100000"/>
                  </a:srgbClr>
                </a:solidFill>
                <a:latin typeface="Times New Roman" panose="02020603050405020304"/>
                <a:ea typeface="Times New Roman" panose="02020603050405020304"/>
                <a:cs typeface="Times New Roman" panose="02020603050405020304"/>
              </a:rPr>
              <a:t>A</a:t>
            </a:r>
            <a:r>
              <a:rPr sz="2500" kern="0" spc="220" baseline="500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500" kern="0" spc="220" baseline="50000" dirty="0">
                <a:solidFill>
                  <a:srgbClr val="000000">
                    <a:alpha val="100000"/>
                  </a:srgbClr>
                </a:solidFill>
                <a:latin typeface="Times New Roman" panose="02020603050405020304"/>
                <a:ea typeface="Times New Roman" panose="02020603050405020304"/>
                <a:cs typeface="Times New Roman" panose="02020603050405020304"/>
              </a:rPr>
              <a:t>1</a:t>
            </a:r>
            <a:r>
              <a:rPr sz="2800" kern="0" spc="220" dirty="0">
                <a:solidFill>
                  <a:srgbClr val="000000">
                    <a:alpha val="100000"/>
                  </a:srgbClr>
                </a:solidFill>
                <a:latin typeface="Times New Roman" panose="02020603050405020304"/>
                <a:ea typeface="Times New Roman" panose="02020603050405020304"/>
                <a:cs typeface="Times New Roman" panose="02020603050405020304"/>
              </a:rPr>
              <a:t>(</a:t>
            </a:r>
            <a:r>
              <a:rPr sz="2800" i="1" kern="0" spc="220" dirty="0">
                <a:solidFill>
                  <a:srgbClr val="000000">
                    <a:alpha val="100000"/>
                  </a:srgbClr>
                </a:solidFill>
                <a:latin typeface="Times New Roman" panose="02020603050405020304"/>
                <a:ea typeface="Times New Roman" panose="02020603050405020304"/>
                <a:cs typeface="Times New Roman" panose="02020603050405020304"/>
              </a:rPr>
              <a:t>x</a:t>
            </a:r>
            <a:r>
              <a:rPr sz="2800" i="1"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800" kern="0" spc="2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i="1" kern="0" spc="220" dirty="0">
                <a:solidFill>
                  <a:srgbClr val="000000">
                    <a:alpha val="100000"/>
                  </a:srgbClr>
                </a:solidFill>
                <a:latin typeface="Times New Roman" panose="02020603050405020304"/>
                <a:ea typeface="Times New Roman" panose="02020603050405020304"/>
                <a:cs typeface="Times New Roman" panose="02020603050405020304"/>
              </a:rPr>
              <a:t>B</a:t>
            </a:r>
            <a:r>
              <a:rPr sz="2800" kern="0" spc="220" dirty="0">
                <a:solidFill>
                  <a:srgbClr val="000000">
                    <a:alpha val="100000"/>
                  </a:srgbClr>
                </a:solidFill>
                <a:latin typeface="Times New Roman" panose="02020603050405020304"/>
                <a:ea typeface="Times New Roman" panose="02020603050405020304"/>
                <a:cs typeface="Times New Roman" panose="02020603050405020304"/>
              </a:rPr>
              <a:t>)</a:t>
            </a:r>
            <a:endParaRPr sz="2800" dirty="0">
              <a:latin typeface="Times New Roman" panose="02020603050405020304"/>
              <a:ea typeface="Times New Roman" panose="02020603050405020304"/>
              <a:cs typeface="Times New Roman" panose="02020603050405020304"/>
            </a:endParaRPr>
          </a:p>
        </p:txBody>
      </p:sp>
      <p:sp>
        <p:nvSpPr>
          <p:cNvPr id="160" name="path 160"/>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62" name="picture 162"/>
          <p:cNvPicPr>
            <a:picLocks noChangeAspect="1"/>
          </p:cNvPicPr>
          <p:nvPr/>
        </p:nvPicPr>
        <p:blipFill>
          <a:blip r:embed="rId1"/>
          <a:stretch>
            <a:fillRect/>
          </a:stretch>
        </p:blipFill>
        <p:spPr>
          <a:xfrm rot="21600000">
            <a:off x="822960" y="408431"/>
            <a:ext cx="420623" cy="655320"/>
          </a:xfrm>
          <a:prstGeom prst="rect">
            <a:avLst/>
          </a:prstGeom>
        </p:spPr>
      </p:pic>
      <p:sp>
        <p:nvSpPr>
          <p:cNvPr id="164" name="path 164"/>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
        <p:nvSpPr>
          <p:cNvPr id="166" name="textbox 166"/>
          <p:cNvSpPr/>
          <p:nvPr/>
        </p:nvSpPr>
        <p:spPr>
          <a:xfrm>
            <a:off x="1397087" y="3597064"/>
            <a:ext cx="294004" cy="368934"/>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8000"/>
              </a:lnSpc>
            </a:pPr>
            <a:r>
              <a:rPr sz="2300" b="1" kern="0" spc="-220" dirty="0">
                <a:solidFill>
                  <a:srgbClr val="000000">
                    <a:alpha val="100000"/>
                  </a:srgbClr>
                </a:solidFill>
                <a:latin typeface="仿宋" panose="02010609060101010101" charset="-122"/>
                <a:ea typeface="仿宋" panose="02010609060101010101" charset="-122"/>
                <a:cs typeface="仿宋" panose="02010609060101010101" charset="-122"/>
              </a:rPr>
              <a:t>即</a:t>
            </a:r>
            <a:endParaRPr sz="2300" dirty="0">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8" name="table 168"/>
          <p:cNvGraphicFramePr>
            <a:graphicFrameLocks noGrp="1"/>
          </p:cNvGraphicFramePr>
          <p:nvPr/>
        </p:nvGraphicFramePr>
        <p:xfrm>
          <a:off x="831850" y="1212850"/>
          <a:ext cx="10527666" cy="4949824"/>
        </p:xfrm>
        <a:graphic>
          <a:graphicData uri="http://schemas.openxmlformats.org/drawingml/2006/table">
            <a:tbl>
              <a:tblPr/>
              <a:tblGrid>
                <a:gridCol w="588644"/>
                <a:gridCol w="584200"/>
                <a:gridCol w="582294"/>
                <a:gridCol w="581659"/>
                <a:gridCol w="584200"/>
                <a:gridCol w="582294"/>
                <a:gridCol w="584200"/>
                <a:gridCol w="582294"/>
                <a:gridCol w="582294"/>
                <a:gridCol w="584200"/>
                <a:gridCol w="584200"/>
                <a:gridCol w="586105"/>
                <a:gridCol w="586105"/>
                <a:gridCol w="586105"/>
                <a:gridCol w="586105"/>
                <a:gridCol w="584200"/>
                <a:gridCol w="586105"/>
                <a:gridCol w="592455"/>
              </a:tblGrid>
              <a:tr h="280670">
                <a:tc rowSpan="2" gridSpan="2">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6">
                  <a:txBody>
                    <a:bodyPr/>
                    <a:lstStyle/>
                    <a:p>
                      <a:pPr algn="l" rtl="0" eaLnBrk="0">
                        <a:lnSpc>
                          <a:spcPct val="105000"/>
                        </a:lnSpc>
                      </a:pPr>
                      <a:endParaRPr sz="600" dirty="0">
                        <a:latin typeface="Arial" panose="020B0604020202020204" pitchFamily="34" charset="0"/>
                        <a:ea typeface="Arial" panose="020B0604020202020204" pitchFamily="34" charset="0"/>
                        <a:cs typeface="Arial" panose="020B0604020202020204" pitchFamily="34" charset="0"/>
                      </a:endParaRPr>
                    </a:p>
                    <a:p>
                      <a:pPr marL="463740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y</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3684">
                <a:tc vMerge="1" gridSpan="2">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781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6225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590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527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654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8445" algn="l" rtl="0" eaLnBrk="0">
                        <a:lnSpc>
                          <a:spcPct val="75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844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7175" algn="l" rtl="0" eaLnBrk="0">
                        <a:lnSpc>
                          <a:spcPct val="75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781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6035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7000"/>
                        </a:lnSpc>
                      </a:pPr>
                      <a:endParaRPr sz="500" dirty="0">
                        <a:latin typeface="Arial" panose="020B0604020202020204" pitchFamily="34" charset="0"/>
                        <a:ea typeface="Arial" panose="020B0604020202020204" pitchFamily="34" charset="0"/>
                        <a:cs typeface="Arial" panose="020B0604020202020204" pitchFamily="34" charset="0"/>
                      </a:endParaRPr>
                    </a:p>
                    <a:p>
                      <a:pPr marL="263525" algn="l" rtl="0" eaLnBrk="0">
                        <a:lnSpc>
                          <a:spcPct val="94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4000" algn="l" rtl="0" eaLnBrk="0">
                        <a:lnSpc>
                          <a:spcPct val="93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6606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57175" algn="l" rtl="0" eaLnBrk="0">
                        <a:lnSpc>
                          <a:spcPct val="93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66700"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6000"/>
                        </a:lnSpc>
                      </a:pPr>
                      <a:endParaRPr sz="500" dirty="0">
                        <a:latin typeface="Arial" panose="020B0604020202020204" pitchFamily="34" charset="0"/>
                        <a:ea typeface="Arial" panose="020B0604020202020204" pitchFamily="34" charset="0"/>
                        <a:cs typeface="Arial" panose="020B0604020202020204" pitchFamily="34" charset="0"/>
                      </a:endParaRPr>
                    </a:p>
                    <a:p>
                      <a:pPr marL="274955" algn="l" rtl="0" eaLnBrk="0">
                        <a:lnSpc>
                          <a:spcPct val="95000"/>
                        </a:lnSpc>
                        <a:spcBef>
                          <a:spcPts val="0"/>
                        </a:spcBef>
                      </a:pPr>
                      <a:r>
                        <a:rPr sz="1200" b="1" kern="0" spc="40" dirty="0">
                          <a:solidFill>
                            <a:srgbClr val="000000">
                              <a:alpha val="100000"/>
                            </a:srgbClr>
                          </a:solidFill>
                          <a:latin typeface="Times New Roman" panose="02020603050405020304"/>
                          <a:ea typeface="Times New Roman" panose="02020603050405020304"/>
                          <a:cs typeface="Times New Roman" panose="02020603050405020304"/>
                        </a:rPr>
                        <a:t>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rowSpan="16">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marL="262255" algn="l" rtl="0" eaLnBrk="0">
                        <a:lnSpc>
                          <a:spcPct val="94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x</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5717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7965" algn="l" rtl="0" eaLnBrk="0">
                        <a:lnSpc>
                          <a:spcPct val="93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bf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796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431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2410"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6162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463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24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45745" algn="l" rtl="0" eaLnBrk="0">
                        <a:lnSpc>
                          <a:spcPct val="94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ff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733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98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5527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463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542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209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0505" algn="l" rtl="0" eaLnBrk="0">
                        <a:lnSpc>
                          <a:spcPct val="93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ee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34315" algn="l" rtl="0" eaLnBrk="0">
                        <a:lnSpc>
                          <a:spcPct val="94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987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796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5400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19875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A1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272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527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24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30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796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1775" algn="l" rtl="0" eaLnBrk="0">
                        <a:lnSpc>
                          <a:spcPct val="93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cc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0891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56540" algn="l" rtl="0" eaLnBrk="0">
                        <a:lnSpc>
                          <a:spcPct val="75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9870"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336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717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bc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04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796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463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56540" algn="l" rtl="0" eaLnBrk="0">
                        <a:lnSpc>
                          <a:spcPct val="75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76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68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8f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114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3f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431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0f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38125" algn="l" rtl="0" eaLnBrk="0">
                        <a:lnSpc>
                          <a:spcPct val="94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af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0820" algn="l" rtl="0" eaLnBrk="0">
                        <a:lnSpc>
                          <a:spcPct val="93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7330" algn="l" rtl="0" eaLnBrk="0">
                        <a:lnSpc>
                          <a:spcPct val="76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717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76000"/>
                        </a:lnSpc>
                        <a:spcBef>
                          <a:spcPts val="5"/>
                        </a:spcBef>
                      </a:pPr>
                      <a:r>
                        <a:rPr sz="1200" b="1" kern="0" spc="-50" dirty="0">
                          <a:solidFill>
                            <a:srgbClr val="000000">
                              <a:alpha val="100000"/>
                            </a:srgbClr>
                          </a:solidFill>
                          <a:latin typeface="Times New Roman" panose="02020603050405020304"/>
                          <a:ea typeface="Times New Roman" panose="02020603050405020304"/>
                          <a:cs typeface="Times New Roman" panose="02020603050405020304"/>
                        </a:rPr>
                        <a:t>11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17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622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40665" algn="l" rtl="0" eaLnBrk="0">
                        <a:lnSpc>
                          <a:spcPct val="93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cf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1775" algn="l" rtl="0" eaLnBrk="0">
                        <a:lnSpc>
                          <a:spcPct val="93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ce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749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463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87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654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5425" algn="l" rtl="0" eaLnBrk="0">
                        <a:lnSpc>
                          <a:spcPct val="93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ac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5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93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622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680" algn="l" rtl="0" eaLnBrk="0">
                        <a:lnSpc>
                          <a:spcPct val="76000"/>
                        </a:lnSpc>
                        <a:spcBef>
                          <a:spcPts val="0"/>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5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045" algn="l" rtl="0" eaLnBrk="0">
                        <a:lnSpc>
                          <a:spcPct val="93000"/>
                        </a:lnSpc>
                        <a:spcBef>
                          <a:spcPts val="0"/>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df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870" algn="l" rtl="0" eaLnBrk="0">
                        <a:lnSpc>
                          <a:spcPct val="76000"/>
                        </a:lnSpc>
                        <a:spcBef>
                          <a:spcPts val="0"/>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58445" algn="l" rtl="0" eaLnBrk="0">
                        <a:lnSpc>
                          <a:spcPct val="94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24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542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68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6f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5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860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9000"/>
                        </a:lnSpc>
                      </a:pPr>
                      <a:endParaRPr sz="5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94000"/>
                        </a:lnSpc>
                        <a:spcBef>
                          <a:spcPts val="5"/>
                        </a:spcBef>
                      </a:pPr>
                      <a:r>
                        <a:rPr sz="1200" b="1" kern="0" spc="-40" dirty="0">
                          <a:solidFill>
                            <a:srgbClr val="000000">
                              <a:alpha val="100000"/>
                            </a:srgbClr>
                          </a:solidFill>
                          <a:latin typeface="Times New Roman" panose="02020603050405020304"/>
                          <a:ea typeface="Times New Roman" panose="02020603050405020304"/>
                          <a:cs typeface="Times New Roman" panose="02020603050405020304"/>
                        </a:rPr>
                        <a:t>aa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733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be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5425"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2095"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558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3e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399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65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272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860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40030"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3520"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812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20">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6352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38125" algn="l" rtl="0" eaLnBrk="0">
                        <a:lnSpc>
                          <a:spcPct val="77000"/>
                        </a:lnSpc>
                        <a:spcBef>
                          <a:spcPts val="0"/>
                        </a:spcBef>
                      </a:pPr>
                      <a:r>
                        <a:rPr sz="1200" b="1" kern="0" spc="0" dirty="0">
                          <a:solidFill>
                            <a:srgbClr val="000000">
                              <a:alpha val="100000"/>
                            </a:srgbClr>
                          </a:solidFill>
                          <a:latin typeface="Times New Roman" panose="02020603050405020304"/>
                          <a:ea typeface="Times New Roman" panose="02020603050405020304"/>
                          <a:cs typeface="Times New Roman" panose="02020603050405020304"/>
                        </a:rPr>
                        <a:t>1f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9550"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542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272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12</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6695"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045" algn="l" rtl="0" eaLnBrk="0">
                        <a:lnSpc>
                          <a:spcPct val="93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ec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876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5f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54635"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80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04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7f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13360" algn="l" rtl="0" eaLnBrk="0">
                        <a:lnSpc>
                          <a:spcPct val="75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26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336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796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685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860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42570"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ef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31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63525"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71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a0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2090"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3b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399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4d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6060" algn="l" rtl="0" eaLnBrk="0">
                        <a:lnSpc>
                          <a:spcPct val="93000"/>
                        </a:lnSpc>
                        <a:spcBef>
                          <a:spcPts val="5"/>
                        </a:spcBef>
                      </a:pPr>
                      <a:r>
                        <a:rPr sz="1200" b="1" kern="0" spc="-40" dirty="0">
                          <a:solidFill>
                            <a:srgbClr val="000000">
                              <a:alpha val="100000"/>
                            </a:srgbClr>
                          </a:solidFill>
                          <a:latin typeface="Times New Roman" panose="02020603050405020304"/>
                          <a:ea typeface="Times New Roman" panose="02020603050405020304"/>
                          <a:cs typeface="Times New Roman" panose="02020603050405020304"/>
                        </a:rPr>
                        <a:t>ae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717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3368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f5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2725" algn="l" rtl="0" eaLnBrk="0">
                        <a:lnSpc>
                          <a:spcPct val="76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b0</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c8</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250" algn="l" rtl="0" eaLnBrk="0">
                        <a:lnSpc>
                          <a:spcPct val="93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0820"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542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3c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83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99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0669">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8000"/>
                        </a:lnSpc>
                      </a:pPr>
                      <a:endParaRPr sz="500" dirty="0">
                        <a:latin typeface="Arial" panose="020B0604020202020204" pitchFamily="34" charset="0"/>
                        <a:ea typeface="Arial" panose="020B0604020202020204" pitchFamily="34" charset="0"/>
                        <a:cs typeface="Arial" panose="020B0604020202020204" pitchFamily="34" charset="0"/>
                      </a:endParaRPr>
                    </a:p>
                    <a:p>
                      <a:pPr marL="271780" algn="l" rtl="0" eaLnBrk="0">
                        <a:lnSpc>
                          <a:spcPct val="95000"/>
                        </a:lnSpc>
                        <a:spcBef>
                          <a:spcPts val="5"/>
                        </a:spcBef>
                      </a:pPr>
                      <a:r>
                        <a:rPr sz="1200" b="1" kern="0" spc="40" dirty="0">
                          <a:solidFill>
                            <a:srgbClr val="000000">
                              <a:alpha val="100000"/>
                            </a:srgbClr>
                          </a:solidFill>
                          <a:latin typeface="Times New Roman" panose="02020603050405020304"/>
                          <a:ea typeface="Times New Roman" panose="02020603050405020304"/>
                          <a:cs typeface="Times New Roman" panose="02020603050405020304"/>
                        </a:rPr>
                        <a:t>f</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336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2b</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7e</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2725" algn="l" rtl="0" eaLnBrk="0">
                        <a:lnSpc>
                          <a:spcPct val="93000"/>
                        </a:lnSpc>
                        <a:spcBef>
                          <a:spcPts val="5"/>
                        </a:spcBef>
                      </a:pP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ba</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18440"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77</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590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d6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1907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26</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4790"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e1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161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69</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6695" algn="l" rtl="0" eaLnBrk="0">
                        <a:lnSpc>
                          <a:spcPct val="76000"/>
                        </a:lnSpc>
                      </a:pPr>
                      <a:r>
                        <a:rPr sz="1200" b="1" kern="0" spc="-30" dirty="0">
                          <a:solidFill>
                            <a:srgbClr val="000000">
                              <a:alpha val="100000"/>
                            </a:srgbClr>
                          </a:solidFill>
                          <a:latin typeface="Times New Roman" panose="02020603050405020304"/>
                          <a:ea typeface="Times New Roman" panose="02020603050405020304"/>
                          <a:cs typeface="Times New Roman" panose="02020603050405020304"/>
                        </a:rPr>
                        <a:t>14</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63</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288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55</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220980" algn="l" rtl="0" eaLnBrk="0">
                        <a:lnSpc>
                          <a:spcPct val="76000"/>
                        </a:lnSpc>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21</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9235" algn="l" rtl="0" eaLnBrk="0">
                        <a:lnSpc>
                          <a:spcPct val="76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0c</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600" dirty="0">
                        <a:latin typeface="Arial" panose="020B0604020202020204" pitchFamily="34" charset="0"/>
                        <a:ea typeface="Arial" panose="020B0604020202020204" pitchFamily="34" charset="0"/>
                        <a:cs typeface="Arial" panose="020B0604020202020204" pitchFamily="34" charset="0"/>
                      </a:endParaRPr>
                    </a:p>
                    <a:p>
                      <a:pPr marL="220345" algn="l" rtl="0" eaLnBrk="0">
                        <a:lnSpc>
                          <a:spcPct val="75000"/>
                        </a:lnSpc>
                        <a:spcBef>
                          <a:spcPts val="5"/>
                        </a:spcBef>
                      </a:pPr>
                      <a:r>
                        <a:rPr sz="1200" b="1" kern="0" spc="-20" dirty="0">
                          <a:solidFill>
                            <a:srgbClr val="000000">
                              <a:alpha val="100000"/>
                            </a:srgbClr>
                          </a:solidFill>
                          <a:latin typeface="Times New Roman" panose="02020603050405020304"/>
                          <a:ea typeface="Times New Roman" panose="02020603050405020304"/>
                          <a:cs typeface="Times New Roman" panose="02020603050405020304"/>
                        </a:rPr>
                        <a:t>7d</a:t>
                      </a:r>
                      <a:endParaRPr sz="12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72" name="textbox 172"/>
          <p:cNvSpPr/>
          <p:nvPr/>
        </p:nvSpPr>
        <p:spPr>
          <a:xfrm>
            <a:off x="1546195" y="491245"/>
            <a:ext cx="2066289" cy="491490"/>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9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的逆S盒</a:t>
            </a:r>
            <a:endParaRPr sz="3100" dirty="0">
              <a:latin typeface="仿宋" panose="02010609060101010101" charset="-122"/>
              <a:ea typeface="仿宋" panose="02010609060101010101" charset="-122"/>
              <a:cs typeface="仿宋" panose="02010609060101010101" charset="-122"/>
            </a:endParaRPr>
          </a:p>
        </p:txBody>
      </p:sp>
      <p:sp>
        <p:nvSpPr>
          <p:cNvPr id="174" name="path 174"/>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76" name="picture 176"/>
          <p:cNvPicPr>
            <a:picLocks noChangeAspect="1"/>
          </p:cNvPicPr>
          <p:nvPr/>
        </p:nvPicPr>
        <p:blipFill>
          <a:blip r:embed="rId1"/>
          <a:stretch>
            <a:fillRect/>
          </a:stretch>
        </p:blipFill>
        <p:spPr>
          <a:xfrm rot="21600000">
            <a:off x="822960" y="408431"/>
            <a:ext cx="420623" cy="655320"/>
          </a:xfrm>
          <a:prstGeom prst="rect">
            <a:avLst/>
          </a:prstGeom>
        </p:spPr>
      </p:pic>
      <p:sp>
        <p:nvSpPr>
          <p:cNvPr id="178" name="path 178"/>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0" name="picture 180"/>
          <p:cNvPicPr>
            <a:picLocks noChangeAspect="1"/>
          </p:cNvPicPr>
          <p:nvPr/>
        </p:nvPicPr>
        <p:blipFill>
          <a:blip r:embed="rId1"/>
          <a:stretch>
            <a:fillRect/>
          </a:stretch>
        </p:blipFill>
        <p:spPr>
          <a:xfrm rot="21600000">
            <a:off x="1993391" y="2566416"/>
            <a:ext cx="8351519" cy="2807207"/>
          </a:xfrm>
          <a:prstGeom prst="rect">
            <a:avLst/>
          </a:prstGeom>
        </p:spPr>
      </p:pic>
      <p:sp>
        <p:nvSpPr>
          <p:cNvPr id="182" name="textbox 182"/>
          <p:cNvSpPr/>
          <p:nvPr/>
        </p:nvSpPr>
        <p:spPr>
          <a:xfrm>
            <a:off x="1199489" y="1478076"/>
            <a:ext cx="8250555" cy="379729"/>
          </a:xfrm>
          <a:prstGeom prst="rect">
            <a:avLst/>
          </a:prstGeom>
          <a:noFill/>
          <a:ln w="0" cap="flat">
            <a:noFill/>
            <a:prstDash val="solid"/>
            <a:miter lim="0"/>
          </a:ln>
        </p:spPr>
        <p:txBody>
          <a:bodyPr vert="horz" wrap="square" lIns="0" tIns="0" rIns="0" bIns="0"/>
          <a:lstStyle/>
          <a:p>
            <a:pPr algn="l" rtl="0" eaLnBrk="0">
              <a:lnSpc>
                <a:spcPct val="77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24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上述S-盒对状态的所有字节所做的变换记为ByteSub</a:t>
            </a:r>
            <a:r>
              <a:rPr sz="2400" kern="0" spc="58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(State)</a:t>
            </a:r>
            <a:endParaRPr sz="2400" dirty="0">
              <a:latin typeface="仿宋" panose="02010609060101010101" charset="-122"/>
              <a:ea typeface="仿宋" panose="02010609060101010101" charset="-122"/>
              <a:cs typeface="仿宋" panose="02010609060101010101" charset="-122"/>
            </a:endParaRPr>
          </a:p>
        </p:txBody>
      </p:sp>
      <p:sp>
        <p:nvSpPr>
          <p:cNvPr id="184" name="textbox 184"/>
          <p:cNvSpPr/>
          <p:nvPr/>
        </p:nvSpPr>
        <p:spPr>
          <a:xfrm>
            <a:off x="1587139" y="491245"/>
            <a:ext cx="2840354"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40" dirty="0">
                <a:solidFill>
                  <a:srgbClr val="1F4E79">
                    <a:alpha val="100000"/>
                  </a:srgbClr>
                </a:solidFill>
                <a:latin typeface="仿宋" panose="02010609060101010101" charset="-122"/>
                <a:ea typeface="仿宋" panose="02010609060101010101" charset="-122"/>
                <a:cs typeface="仿宋" panose="02010609060101010101" charset="-122"/>
              </a:rPr>
              <a:t>字节代换示意图</a:t>
            </a:r>
            <a:endParaRPr sz="3100" dirty="0">
              <a:latin typeface="仿宋" panose="02010609060101010101" charset="-122"/>
              <a:ea typeface="仿宋" panose="02010609060101010101" charset="-122"/>
              <a:cs typeface="仿宋" panose="02010609060101010101" charset="-122"/>
            </a:endParaRPr>
          </a:p>
        </p:txBody>
      </p:sp>
      <p:sp>
        <p:nvSpPr>
          <p:cNvPr id="188" name="path 18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90" name="picture 190"/>
          <p:cNvPicPr>
            <a:picLocks noChangeAspect="1"/>
          </p:cNvPicPr>
          <p:nvPr/>
        </p:nvPicPr>
        <p:blipFill>
          <a:blip r:embed="rId2"/>
          <a:stretch>
            <a:fillRect/>
          </a:stretch>
        </p:blipFill>
        <p:spPr>
          <a:xfrm rot="21600000">
            <a:off x="822960" y="408431"/>
            <a:ext cx="420623" cy="655320"/>
          </a:xfrm>
          <a:prstGeom prst="rect">
            <a:avLst/>
          </a:prstGeom>
        </p:spPr>
      </p:pic>
      <p:sp>
        <p:nvSpPr>
          <p:cNvPr id="192" name="path 19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2"/>
          <p:cNvGrpSpPr/>
          <p:nvPr/>
        </p:nvGrpSpPr>
        <p:grpSpPr>
          <a:xfrm rot="21600000">
            <a:off x="3206495" y="1624583"/>
            <a:ext cx="5708904" cy="813816"/>
            <a:chOff x="0" y="0"/>
            <a:chExt cx="5708904" cy="813816"/>
          </a:xfrm>
        </p:grpSpPr>
        <p:pic>
          <p:nvPicPr>
            <p:cNvPr id="194" name="picture 194"/>
            <p:cNvPicPr>
              <a:picLocks noChangeAspect="1"/>
            </p:cNvPicPr>
            <p:nvPr/>
          </p:nvPicPr>
          <p:blipFill>
            <a:blip r:embed="rId1"/>
            <a:stretch>
              <a:fillRect/>
            </a:stretch>
          </p:blipFill>
          <p:spPr>
            <a:xfrm rot="21600000">
              <a:off x="0" y="0"/>
              <a:ext cx="5708904" cy="813816"/>
            </a:xfrm>
            <a:prstGeom prst="rect">
              <a:avLst/>
            </a:prstGeom>
          </p:spPr>
        </p:pic>
        <p:sp>
          <p:nvSpPr>
            <p:cNvPr id="196" name="textbox 196"/>
            <p:cNvSpPr/>
            <p:nvPr/>
          </p:nvSpPr>
          <p:spPr>
            <a:xfrm>
              <a:off x="-12700" y="-12700"/>
              <a:ext cx="5734684" cy="87820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90880" algn="l" rtl="0" eaLnBrk="0">
                <a:lnSpc>
                  <a:spcPct val="94000"/>
                </a:lnSpc>
                <a:spcBef>
                  <a:spcPts val="5"/>
                </a:spcBef>
              </a:pPr>
              <a:r>
                <a:rPr sz="2400" b="1" kern="0" spc="-70" dirty="0">
                  <a:solidFill>
                    <a:srgbClr val="FFFFFF">
                      <a:alpha val="100000"/>
                    </a:srgbClr>
                  </a:solidFill>
                  <a:latin typeface="仿宋" panose="02010609060101010101" charset="-122"/>
                  <a:ea typeface="仿宋" panose="02010609060101010101" charset="-122"/>
                  <a:cs typeface="仿宋" panose="02010609060101010101" charset="-122"/>
                </a:rPr>
                <a:t>字节代换</a:t>
              </a:r>
              <a:endParaRPr sz="2400" dirty="0">
                <a:latin typeface="仿宋" panose="02010609060101010101" charset="-122"/>
                <a:ea typeface="仿宋" panose="02010609060101010101" charset="-122"/>
                <a:cs typeface="仿宋" panose="02010609060101010101" charset="-122"/>
              </a:endParaRPr>
            </a:p>
          </p:txBody>
        </p:sp>
      </p:grpSp>
      <p:grpSp>
        <p:nvGrpSpPr>
          <p:cNvPr id="14" name="group 14"/>
          <p:cNvGrpSpPr/>
          <p:nvPr/>
        </p:nvGrpSpPr>
        <p:grpSpPr>
          <a:xfrm rot="21600000">
            <a:off x="3709415" y="3800855"/>
            <a:ext cx="5205984" cy="813816"/>
            <a:chOff x="0" y="0"/>
            <a:chExt cx="5205984" cy="813816"/>
          </a:xfrm>
        </p:grpSpPr>
        <p:pic>
          <p:nvPicPr>
            <p:cNvPr id="198" name="picture 198"/>
            <p:cNvPicPr>
              <a:picLocks noChangeAspect="1"/>
            </p:cNvPicPr>
            <p:nvPr/>
          </p:nvPicPr>
          <p:blipFill>
            <a:blip r:embed="rId2"/>
            <a:stretch>
              <a:fillRect/>
            </a:stretch>
          </p:blipFill>
          <p:spPr>
            <a:xfrm rot="21600000">
              <a:off x="0" y="0"/>
              <a:ext cx="5205984" cy="813816"/>
            </a:xfrm>
            <a:prstGeom prst="rect">
              <a:avLst/>
            </a:prstGeom>
          </p:spPr>
        </p:pic>
        <p:sp>
          <p:nvSpPr>
            <p:cNvPr id="200" name="textbox 200"/>
            <p:cNvSpPr/>
            <p:nvPr/>
          </p:nvSpPr>
          <p:spPr>
            <a:xfrm>
              <a:off x="-12700" y="-12700"/>
              <a:ext cx="5231765" cy="879475"/>
            </a:xfrm>
            <a:prstGeom prst="rect">
              <a:avLst/>
            </a:prstGeom>
            <a:noFill/>
            <a:ln w="0" cap="flat">
              <a:noFill/>
              <a:prstDash val="solid"/>
              <a:miter lim="0"/>
            </a:ln>
          </p:spPr>
          <p:txBody>
            <a:bodyPr vert="horz" wrap="square" lIns="0" tIns="0" rIns="0" bIns="0"/>
            <a:lstStyle/>
            <a:p>
              <a:pPr algn="l" rtl="0" eaLnBrk="0">
                <a:lnSpc>
                  <a:spcPct val="169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687705" algn="l" rtl="0" eaLnBrk="0">
                <a:lnSpc>
                  <a:spcPct val="94000"/>
                </a:lnSpc>
              </a:pPr>
              <a:r>
                <a:rPr sz="2400" b="1" kern="0" spc="-60" dirty="0">
                  <a:solidFill>
                    <a:srgbClr val="FFFFFF">
                      <a:alpha val="100000"/>
                    </a:srgbClr>
                  </a:solidFill>
                  <a:latin typeface="仿宋" panose="02010609060101010101" charset="-122"/>
                  <a:ea typeface="仿宋" panose="02010609060101010101" charset="-122"/>
                  <a:cs typeface="仿宋" panose="02010609060101010101" charset="-122"/>
                </a:rPr>
                <a:t>列混淆</a:t>
              </a:r>
              <a:endParaRPr sz="2400" dirty="0">
                <a:latin typeface="仿宋" panose="02010609060101010101" charset="-122"/>
                <a:ea typeface="仿宋" panose="02010609060101010101" charset="-122"/>
                <a:cs typeface="仿宋" panose="02010609060101010101" charset="-122"/>
              </a:endParaRPr>
            </a:p>
          </p:txBody>
        </p:sp>
      </p:grpSp>
      <p:grpSp>
        <p:nvGrpSpPr>
          <p:cNvPr id="16" name="group 16"/>
          <p:cNvGrpSpPr/>
          <p:nvPr/>
        </p:nvGrpSpPr>
        <p:grpSpPr>
          <a:xfrm rot="21600000">
            <a:off x="3709415" y="2691383"/>
            <a:ext cx="5205984" cy="813816"/>
            <a:chOff x="0" y="0"/>
            <a:chExt cx="5205984" cy="813816"/>
          </a:xfrm>
        </p:grpSpPr>
        <p:pic>
          <p:nvPicPr>
            <p:cNvPr id="202" name="picture 202"/>
            <p:cNvPicPr>
              <a:picLocks noChangeAspect="1"/>
            </p:cNvPicPr>
            <p:nvPr/>
          </p:nvPicPr>
          <p:blipFill>
            <a:blip r:embed="rId3"/>
            <a:stretch>
              <a:fillRect/>
            </a:stretch>
          </p:blipFill>
          <p:spPr>
            <a:xfrm rot="21600000">
              <a:off x="0" y="0"/>
              <a:ext cx="5205984" cy="813816"/>
            </a:xfrm>
            <a:prstGeom prst="rect">
              <a:avLst/>
            </a:prstGeom>
          </p:spPr>
        </p:pic>
        <p:sp>
          <p:nvSpPr>
            <p:cNvPr id="204" name="textbox 204"/>
            <p:cNvSpPr/>
            <p:nvPr/>
          </p:nvSpPr>
          <p:spPr>
            <a:xfrm>
              <a:off x="-12700" y="-12700"/>
              <a:ext cx="5231765" cy="876935"/>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680085" algn="l" rtl="0" eaLnBrk="0">
                <a:lnSpc>
                  <a:spcPct val="94000"/>
                </a:lnSpc>
              </a:pP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行移位</a:t>
              </a:r>
              <a:endParaRPr sz="2400" dirty="0">
                <a:latin typeface="仿宋" panose="02010609060101010101" charset="-122"/>
                <a:ea typeface="仿宋" panose="02010609060101010101" charset="-122"/>
                <a:cs typeface="仿宋" panose="02010609060101010101" charset="-122"/>
              </a:endParaRPr>
            </a:p>
          </p:txBody>
        </p:sp>
      </p:grpSp>
      <p:grpSp>
        <p:nvGrpSpPr>
          <p:cNvPr id="18" name="group 18"/>
          <p:cNvGrpSpPr/>
          <p:nvPr/>
        </p:nvGrpSpPr>
        <p:grpSpPr>
          <a:xfrm rot="21600000">
            <a:off x="3206495" y="4910328"/>
            <a:ext cx="5708904" cy="813816"/>
            <a:chOff x="0" y="0"/>
            <a:chExt cx="5708904" cy="813816"/>
          </a:xfrm>
        </p:grpSpPr>
        <p:pic>
          <p:nvPicPr>
            <p:cNvPr id="206" name="picture 206"/>
            <p:cNvPicPr>
              <a:picLocks noChangeAspect="1"/>
            </p:cNvPicPr>
            <p:nvPr/>
          </p:nvPicPr>
          <p:blipFill>
            <a:blip r:embed="rId4"/>
            <a:stretch>
              <a:fillRect/>
            </a:stretch>
          </p:blipFill>
          <p:spPr>
            <a:xfrm rot="21600000">
              <a:off x="0" y="0"/>
              <a:ext cx="5708904" cy="813816"/>
            </a:xfrm>
            <a:prstGeom prst="rect">
              <a:avLst/>
            </a:prstGeom>
          </p:spPr>
        </p:pic>
        <p:sp>
          <p:nvSpPr>
            <p:cNvPr id="208" name="textbox 208"/>
            <p:cNvSpPr/>
            <p:nvPr/>
          </p:nvSpPr>
          <p:spPr>
            <a:xfrm>
              <a:off x="-12700" y="-12700"/>
              <a:ext cx="5734684" cy="874394"/>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78180" algn="l" rtl="0" eaLnBrk="0">
                <a:lnSpc>
                  <a:spcPct val="93000"/>
                </a:lnSpc>
                <a:spcBef>
                  <a:spcPts val="5"/>
                </a:spcBef>
              </a:pP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轮密钥加</a:t>
              </a:r>
              <a:endParaRPr sz="2400" dirty="0">
                <a:latin typeface="仿宋" panose="02010609060101010101" charset="-122"/>
                <a:ea typeface="仿宋" panose="02010609060101010101" charset="-122"/>
                <a:cs typeface="仿宋" panose="02010609060101010101" charset="-122"/>
              </a:endParaRPr>
            </a:p>
          </p:txBody>
        </p:sp>
      </p:grpSp>
      <p:grpSp>
        <p:nvGrpSpPr>
          <p:cNvPr id="20" name="group 20"/>
          <p:cNvGrpSpPr/>
          <p:nvPr/>
        </p:nvGrpSpPr>
        <p:grpSpPr>
          <a:xfrm rot="21600000">
            <a:off x="2620898" y="1335404"/>
            <a:ext cx="1600580" cy="4492371"/>
            <a:chOff x="0" y="0"/>
            <a:chExt cx="1600580" cy="4492371"/>
          </a:xfrm>
        </p:grpSpPr>
        <p:sp>
          <p:nvSpPr>
            <p:cNvPr id="210" name="path 210"/>
            <p:cNvSpPr/>
            <p:nvPr/>
          </p:nvSpPr>
          <p:spPr>
            <a:xfrm>
              <a:off x="0" y="0"/>
              <a:ext cx="1225704" cy="4475619"/>
            </a:xfrm>
            <a:custGeom>
              <a:avLst/>
              <a:gdLst/>
              <a:ahLst/>
              <a:cxnLst/>
              <a:rect l="0" t="0" r="0" b="0"/>
              <a:pathLst>
                <a:path w="1930" h="7048">
                  <a:moveTo>
                    <a:pt x="199" y="4"/>
                  </a:moveTo>
                  <a:cubicBezTo>
                    <a:pt x="2103" y="1431"/>
                    <a:pt x="2492" y="4133"/>
                    <a:pt x="1066" y="6038"/>
                  </a:cubicBezTo>
                  <a:cubicBezTo>
                    <a:pt x="772" y="6431"/>
                    <a:pt x="413" y="6771"/>
                    <a:pt x="4" y="7043"/>
                  </a:cubicBezTo>
                  <a:lnTo>
                    <a:pt x="4" y="7043"/>
                  </a:lnTo>
                  <a:cubicBezTo>
                    <a:pt x="1985" y="5724"/>
                    <a:pt x="2522" y="3048"/>
                    <a:pt x="1203" y="1066"/>
                  </a:cubicBezTo>
                  <a:cubicBezTo>
                    <a:pt x="931" y="658"/>
                    <a:pt x="592" y="299"/>
                    <a:pt x="199" y="4"/>
                  </a:cubicBezTo>
                </a:path>
              </a:pathLst>
            </a:custGeom>
            <a:noFill/>
            <a:ln w="6096" cap="flat">
              <a:solidFill>
                <a:srgbClr val="477BA9"/>
              </a:solidFill>
              <a:prstDash val="solid"/>
              <a:miter lim="1000000"/>
            </a:ln>
          </p:spPr>
          <p:txBody>
            <a:bodyPr rtlCol="0"/>
            <a:lstStyle/>
            <a:p>
              <a:pPr algn="ctr"/>
              <a:endParaRPr lang="zh-CN" altLang="en-US"/>
            </a:p>
          </p:txBody>
        </p:sp>
        <p:sp>
          <p:nvSpPr>
            <p:cNvPr id="212" name="path 212"/>
            <p:cNvSpPr/>
            <p:nvPr/>
          </p:nvSpPr>
          <p:spPr>
            <a:xfrm>
              <a:off x="76580" y="188595"/>
              <a:ext cx="1018032" cy="1014984"/>
            </a:xfrm>
            <a:custGeom>
              <a:avLst/>
              <a:gdLst/>
              <a:ahLst/>
              <a:cxnLst/>
              <a:rect l="0" t="0" r="0" b="0"/>
              <a:pathLst>
                <a:path w="1603" h="1598">
                  <a:moveTo>
                    <a:pt x="0" y="799"/>
                  </a:moveTo>
                  <a:cubicBezTo>
                    <a:pt x="0" y="357"/>
                    <a:pt x="358" y="0"/>
                    <a:pt x="801" y="0"/>
                  </a:cubicBezTo>
                  <a:cubicBezTo>
                    <a:pt x="1244" y="0"/>
                    <a:pt x="1603" y="357"/>
                    <a:pt x="1603" y="799"/>
                  </a:cubicBezTo>
                  <a:cubicBezTo>
                    <a:pt x="1603" y="1240"/>
                    <a:pt x="1244" y="1598"/>
                    <a:pt x="801" y="1598"/>
                  </a:cubicBezTo>
                  <a:cubicBezTo>
                    <a:pt x="358"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14" name="path 214"/>
            <p:cNvSpPr/>
            <p:nvPr/>
          </p:nvSpPr>
          <p:spPr>
            <a:xfrm>
              <a:off x="73532" y="185547"/>
              <a:ext cx="1024127" cy="1021079"/>
            </a:xfrm>
            <a:custGeom>
              <a:avLst/>
              <a:gdLst/>
              <a:ahLst/>
              <a:cxnLst/>
              <a:rect l="0" t="0" r="0" b="0"/>
              <a:pathLst>
                <a:path w="1612" h="1607">
                  <a:moveTo>
                    <a:pt x="4" y="803"/>
                  </a:moveTo>
                  <a:cubicBezTo>
                    <a:pt x="4" y="362"/>
                    <a:pt x="363" y="4"/>
                    <a:pt x="806" y="4"/>
                  </a:cubicBezTo>
                  <a:cubicBezTo>
                    <a:pt x="1249" y="4"/>
                    <a:pt x="1608" y="362"/>
                    <a:pt x="1608" y="803"/>
                  </a:cubicBezTo>
                  <a:cubicBezTo>
                    <a:pt x="1608" y="1245"/>
                    <a:pt x="1249" y="1603"/>
                    <a:pt x="806" y="1603"/>
                  </a:cubicBezTo>
                  <a:cubicBezTo>
                    <a:pt x="363"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216" name="path 216"/>
            <p:cNvSpPr/>
            <p:nvPr/>
          </p:nvSpPr>
          <p:spPr>
            <a:xfrm>
              <a:off x="579501" y="1255395"/>
              <a:ext cx="1014983" cy="1014984"/>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18" name="path 218"/>
            <p:cNvSpPr/>
            <p:nvPr/>
          </p:nvSpPr>
          <p:spPr>
            <a:xfrm>
              <a:off x="576452" y="1252347"/>
              <a:ext cx="1021079" cy="1021080"/>
            </a:xfrm>
            <a:custGeom>
              <a:avLst/>
              <a:gdLst/>
              <a:ahLst/>
              <a:cxnLst/>
              <a:rect l="0" t="0" r="0" b="0"/>
              <a:pathLst>
                <a:path w="1607" h="1608">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220" name="path 220"/>
            <p:cNvSpPr/>
            <p:nvPr/>
          </p:nvSpPr>
          <p:spPr>
            <a:xfrm>
              <a:off x="582548" y="2364867"/>
              <a:ext cx="1014984"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22" name="path 222"/>
            <p:cNvSpPr/>
            <p:nvPr/>
          </p:nvSpPr>
          <p:spPr>
            <a:xfrm>
              <a:off x="579500" y="2361819"/>
              <a:ext cx="1021080" cy="1021080"/>
            </a:xfrm>
            <a:custGeom>
              <a:avLst/>
              <a:gdLst/>
              <a:ahLst/>
              <a:cxnLst/>
              <a:rect l="0" t="0" r="0" b="0"/>
              <a:pathLst>
                <a:path w="1608" h="1608">
                  <a:moveTo>
                    <a:pt x="4" y="803"/>
                  </a:moveTo>
                  <a:cubicBezTo>
                    <a:pt x="4" y="362"/>
                    <a:pt x="362" y="4"/>
                    <a:pt x="804" y="4"/>
                  </a:cubicBezTo>
                  <a:cubicBezTo>
                    <a:pt x="1245" y="4"/>
                    <a:pt x="1603" y="362"/>
                    <a:pt x="1603" y="803"/>
                  </a:cubicBezTo>
                  <a:cubicBezTo>
                    <a:pt x="1603" y="1245"/>
                    <a:pt x="1245" y="1603"/>
                    <a:pt x="804" y="1603"/>
                  </a:cubicBezTo>
                  <a:cubicBezTo>
                    <a:pt x="362"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224" name="path 224"/>
            <p:cNvSpPr/>
            <p:nvPr/>
          </p:nvSpPr>
          <p:spPr>
            <a:xfrm>
              <a:off x="76580" y="3474339"/>
              <a:ext cx="1018032" cy="1014983"/>
            </a:xfrm>
            <a:custGeom>
              <a:avLst/>
              <a:gdLst/>
              <a:ahLst/>
              <a:cxnLst/>
              <a:rect l="0" t="0" r="0" b="0"/>
              <a:pathLst>
                <a:path w="1603" h="1598">
                  <a:moveTo>
                    <a:pt x="0" y="799"/>
                  </a:moveTo>
                  <a:cubicBezTo>
                    <a:pt x="0" y="357"/>
                    <a:pt x="358" y="0"/>
                    <a:pt x="801" y="0"/>
                  </a:cubicBezTo>
                  <a:cubicBezTo>
                    <a:pt x="1244" y="0"/>
                    <a:pt x="1603" y="357"/>
                    <a:pt x="1603" y="799"/>
                  </a:cubicBezTo>
                  <a:cubicBezTo>
                    <a:pt x="1603" y="1240"/>
                    <a:pt x="1244" y="1598"/>
                    <a:pt x="801" y="1598"/>
                  </a:cubicBezTo>
                  <a:cubicBezTo>
                    <a:pt x="358"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26" name="path 226"/>
            <p:cNvSpPr/>
            <p:nvPr/>
          </p:nvSpPr>
          <p:spPr>
            <a:xfrm>
              <a:off x="73532" y="3471291"/>
              <a:ext cx="1024127" cy="1021080"/>
            </a:xfrm>
            <a:custGeom>
              <a:avLst/>
              <a:gdLst/>
              <a:ahLst/>
              <a:cxnLst/>
              <a:rect l="0" t="0" r="0" b="0"/>
              <a:pathLst>
                <a:path w="1612" h="1608">
                  <a:moveTo>
                    <a:pt x="4" y="804"/>
                  </a:moveTo>
                  <a:cubicBezTo>
                    <a:pt x="4" y="362"/>
                    <a:pt x="363" y="4"/>
                    <a:pt x="806" y="4"/>
                  </a:cubicBezTo>
                  <a:cubicBezTo>
                    <a:pt x="1249" y="4"/>
                    <a:pt x="1608" y="362"/>
                    <a:pt x="1608" y="804"/>
                  </a:cubicBezTo>
                  <a:cubicBezTo>
                    <a:pt x="1608" y="1245"/>
                    <a:pt x="1249" y="1603"/>
                    <a:pt x="806" y="1603"/>
                  </a:cubicBezTo>
                  <a:cubicBezTo>
                    <a:pt x="363" y="1603"/>
                    <a:pt x="4" y="1245"/>
                    <a:pt x="4" y="804"/>
                  </a:cubicBezTo>
                </a:path>
              </a:pathLst>
            </a:custGeom>
            <a:noFill/>
            <a:ln w="6096" cap="flat">
              <a:solidFill>
                <a:srgbClr val="5B9BD5"/>
              </a:solidFill>
              <a:prstDash val="solid"/>
              <a:miter lim="1000000"/>
            </a:ln>
          </p:spPr>
          <p:txBody>
            <a:bodyPr rtlCol="0"/>
            <a:lstStyle/>
            <a:p>
              <a:pPr algn="ctr"/>
              <a:endParaRPr lang="zh-CN" altLang="en-US"/>
            </a:p>
          </p:txBody>
        </p:sp>
      </p:grpSp>
      <p:sp>
        <p:nvSpPr>
          <p:cNvPr id="228" name="textbox 228"/>
          <p:cNvSpPr/>
          <p:nvPr/>
        </p:nvSpPr>
        <p:spPr>
          <a:xfrm>
            <a:off x="2745984" y="491245"/>
            <a:ext cx="4472304" cy="476250"/>
          </a:xfrm>
          <a:prstGeom prst="rect">
            <a:avLst/>
          </a:prstGeom>
          <a:noFill/>
          <a:ln w="0" cap="flat">
            <a:noFill/>
            <a:prstDash val="solid"/>
            <a:miter lim="0"/>
          </a:ln>
        </p:spPr>
        <p:txBody>
          <a:bodyPr vert="horz" wrap="square" lIns="0" tIns="0" rIns="0" bIns="0"/>
          <a:lstStyle/>
          <a:p>
            <a:pPr algn="l" rtl="0" eaLnBrk="0">
              <a:lnSpc>
                <a:spcPct val="9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70" dirty="0">
                <a:solidFill>
                  <a:srgbClr val="1F4E79">
                    <a:alpha val="100000"/>
                  </a:srgbClr>
                </a:solidFill>
                <a:latin typeface="仿宋" panose="02010609060101010101" charset="-122"/>
                <a:ea typeface="仿宋" panose="02010609060101010101" charset="-122"/>
                <a:cs typeface="仿宋" panose="02010609060101010101" charset="-122"/>
              </a:rPr>
              <a:t>的轮函数</a:t>
            </a:r>
            <a:endParaRPr sz="3100" dirty="0">
              <a:latin typeface="仿宋" panose="02010609060101010101" charset="-122"/>
              <a:ea typeface="仿宋" panose="02010609060101010101" charset="-122"/>
              <a:cs typeface="仿宋" panose="02010609060101010101" charset="-122"/>
            </a:endParaRPr>
          </a:p>
        </p:txBody>
      </p:sp>
      <p:sp>
        <p:nvSpPr>
          <p:cNvPr id="232" name="path 232"/>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234" name="picture 234"/>
          <p:cNvPicPr>
            <a:picLocks noChangeAspect="1"/>
          </p:cNvPicPr>
          <p:nvPr/>
        </p:nvPicPr>
        <p:blipFill>
          <a:blip r:embed="rId5"/>
          <a:stretch>
            <a:fillRect/>
          </a:stretch>
        </p:blipFill>
        <p:spPr>
          <a:xfrm rot="21600000">
            <a:off x="822960" y="408431"/>
            <a:ext cx="420623" cy="655320"/>
          </a:xfrm>
          <a:prstGeom prst="rect">
            <a:avLst/>
          </a:prstGeom>
        </p:spPr>
      </p:pic>
      <p:sp>
        <p:nvSpPr>
          <p:cNvPr id="236" name="path 23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8" name="table 238"/>
          <p:cNvGraphicFramePr>
            <a:graphicFrameLocks noGrp="1"/>
          </p:cNvGraphicFramePr>
          <p:nvPr/>
        </p:nvGraphicFramePr>
        <p:xfrm>
          <a:off x="4938712" y="2424112"/>
          <a:ext cx="6810374" cy="2133600"/>
        </p:xfrm>
        <a:graphic>
          <a:graphicData uri="http://schemas.openxmlformats.org/drawingml/2006/table">
            <a:tbl>
              <a:tblPr/>
              <a:tblGrid>
                <a:gridCol w="1710054"/>
                <a:gridCol w="1696085"/>
                <a:gridCol w="1694179"/>
                <a:gridCol w="1710054"/>
              </a:tblGrid>
              <a:tr h="532130">
                <a:tc>
                  <a:txBody>
                    <a:bodyPr/>
                    <a:lstStyle/>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676275" algn="l" rtl="0" eaLnBrk="0">
                        <a:lnSpc>
                          <a:spcPct val="87000"/>
                        </a:lnSpc>
                      </a:pPr>
                      <a:r>
                        <a:rPr sz="4300" b="1" kern="0" spc="-210" baseline="6000" dirty="0">
                          <a:solidFill>
                            <a:srgbClr val="000000">
                              <a:alpha val="100000"/>
                            </a:srgbClr>
                          </a:solidFill>
                          <a:latin typeface="Tahoma" panose="020B0604030504040204"/>
                          <a:ea typeface="Tahoma" panose="020B0604030504040204"/>
                          <a:cs typeface="Tahoma" panose="020B0604030504040204"/>
                        </a:rPr>
                        <a:t>N</a:t>
                      </a:r>
                      <a:r>
                        <a:rPr sz="2800" b="1" kern="0" spc="20" baseline="-13000" dirty="0">
                          <a:solidFill>
                            <a:srgbClr val="000000">
                              <a:alpha val="100000"/>
                            </a:srgbClr>
                          </a:solidFill>
                          <a:latin typeface="Tahoma" panose="020B0604030504040204"/>
                          <a:ea typeface="Tahoma" panose="020B0604030504040204"/>
                          <a:cs typeface="Tahoma" panose="020B0604030504040204"/>
                        </a:rPr>
                        <a:t>b</a:t>
                      </a:r>
                      <a:endParaRPr sz="2800" baseline="-13000" dirty="0">
                        <a:latin typeface="Tahoma" panose="020B0604030504040204"/>
                        <a:ea typeface="Tahoma" panose="020B0604030504040204"/>
                        <a:cs typeface="Tahoma" panose="020B0604030504040204"/>
                      </a:endParaRPr>
                    </a:p>
                  </a:txBody>
                  <a:tcPr marL="0" marR="0" marT="0" marB="0" vert="horz">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9000"/>
                        </a:lnSpc>
                      </a:pPr>
                      <a:endParaRPr sz="900" dirty="0">
                        <a:latin typeface="Arial" panose="020B0604020202020204" pitchFamily="34" charset="0"/>
                        <a:ea typeface="Arial" panose="020B0604020202020204" pitchFamily="34" charset="0"/>
                        <a:cs typeface="Arial" panose="020B0604020202020204" pitchFamily="34" charset="0"/>
                      </a:endParaRPr>
                    </a:p>
                    <a:p>
                      <a:pPr marL="629920" algn="l" rtl="0" eaLnBrk="0">
                        <a:lnSpc>
                          <a:spcPct val="82000"/>
                        </a:lnSpc>
                        <a:spcBef>
                          <a:spcPts val="5"/>
                        </a:spcBef>
                      </a:pPr>
                      <a:r>
                        <a:rPr sz="2800" b="1" kern="0" spc="-40" dirty="0">
                          <a:solidFill>
                            <a:srgbClr val="000000">
                              <a:alpha val="100000"/>
                            </a:srgbClr>
                          </a:solidFill>
                          <a:latin typeface="Tahoma" panose="020B0604030504040204"/>
                          <a:ea typeface="Tahoma" panose="020B0604030504040204"/>
                          <a:cs typeface="Tahoma" panose="020B0604030504040204"/>
                        </a:rPr>
                        <a:t>C1</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9000"/>
                        </a:lnSpc>
                      </a:pPr>
                      <a:endParaRPr sz="900" dirty="0">
                        <a:latin typeface="Arial" panose="020B0604020202020204" pitchFamily="34" charset="0"/>
                        <a:ea typeface="Arial" panose="020B0604020202020204" pitchFamily="34" charset="0"/>
                        <a:cs typeface="Arial" panose="020B0604020202020204" pitchFamily="34" charset="0"/>
                      </a:endParaRPr>
                    </a:p>
                    <a:p>
                      <a:pPr marL="626745" algn="l" rtl="0" eaLnBrk="0">
                        <a:lnSpc>
                          <a:spcPct val="82000"/>
                        </a:lnSpc>
                        <a:spcBef>
                          <a:spcPts val="5"/>
                        </a:spcBef>
                      </a:pPr>
                      <a:r>
                        <a:rPr sz="2800" b="1" kern="0" spc="-40" dirty="0">
                          <a:solidFill>
                            <a:srgbClr val="000000">
                              <a:alpha val="100000"/>
                            </a:srgbClr>
                          </a:solidFill>
                          <a:latin typeface="Tahoma" panose="020B0604030504040204"/>
                          <a:ea typeface="Tahoma" panose="020B0604030504040204"/>
                          <a:cs typeface="Tahoma" panose="020B0604030504040204"/>
                        </a:rPr>
                        <a:t>C2</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9000"/>
                        </a:lnSpc>
                      </a:pPr>
                      <a:endParaRPr sz="900" dirty="0">
                        <a:latin typeface="Arial" panose="020B0604020202020204" pitchFamily="34" charset="0"/>
                        <a:ea typeface="Arial" panose="020B0604020202020204" pitchFamily="34" charset="0"/>
                        <a:cs typeface="Arial" panose="020B0604020202020204" pitchFamily="34" charset="0"/>
                      </a:endParaRPr>
                    </a:p>
                    <a:p>
                      <a:pPr marL="630555" algn="l" rtl="0" eaLnBrk="0">
                        <a:lnSpc>
                          <a:spcPct val="82000"/>
                        </a:lnSpc>
                        <a:spcBef>
                          <a:spcPts val="5"/>
                        </a:spcBef>
                      </a:pPr>
                      <a:r>
                        <a:rPr sz="2800" b="1" kern="0" spc="-40" dirty="0">
                          <a:solidFill>
                            <a:srgbClr val="000000">
                              <a:alpha val="100000"/>
                            </a:srgbClr>
                          </a:solidFill>
                          <a:latin typeface="Tahoma" panose="020B0604030504040204"/>
                          <a:ea typeface="Tahoma" panose="020B0604030504040204"/>
                          <a:cs typeface="Tahoma" panose="020B0604030504040204"/>
                        </a:rPr>
                        <a:t>C3</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0544">
                <a:tc>
                  <a:txBody>
                    <a:bodyPr/>
                    <a:lstStyle/>
                    <a:p>
                      <a:pPr algn="l" rtl="0" eaLnBrk="0">
                        <a:lnSpc>
                          <a:spcPct val="102000"/>
                        </a:lnSpc>
                      </a:pPr>
                      <a:endParaRPr sz="900" dirty="0">
                        <a:latin typeface="Arial" panose="020B0604020202020204" pitchFamily="34" charset="0"/>
                        <a:ea typeface="Arial" panose="020B0604020202020204" pitchFamily="34" charset="0"/>
                        <a:cs typeface="Arial" panose="020B0604020202020204" pitchFamily="34" charset="0"/>
                      </a:endParaRPr>
                    </a:p>
                    <a:p>
                      <a:pPr marL="758825" algn="l" rtl="0" eaLnBrk="0">
                        <a:lnSpc>
                          <a:spcPct val="81000"/>
                        </a:lnSpc>
                        <a:spcBef>
                          <a:spcPts val="5"/>
                        </a:spcBef>
                      </a:pPr>
                      <a:r>
                        <a:rPr sz="2800" b="1" kern="0" spc="-20" dirty="0">
                          <a:solidFill>
                            <a:srgbClr val="000000">
                              <a:alpha val="100000"/>
                            </a:srgbClr>
                          </a:solidFill>
                          <a:latin typeface="Tahoma" panose="020B0604030504040204"/>
                          <a:ea typeface="Tahoma" panose="020B0604030504040204"/>
                          <a:cs typeface="Tahoma" panose="020B0604030504040204"/>
                        </a:rPr>
                        <a:t>4</a:t>
                      </a:r>
                      <a:endParaRPr sz="2800" dirty="0">
                        <a:latin typeface="Tahoma" panose="020B0604030504040204"/>
                        <a:ea typeface="Tahoma" panose="020B0604030504040204"/>
                        <a:cs typeface="Tahoma" panose="020B0604030504040204"/>
                      </a:endParaRPr>
                    </a:p>
                  </a:txBody>
                  <a:tcPr marL="0" marR="0" marT="0" marB="0" vert="horz">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9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770890" algn="l" rtl="0" eaLnBrk="0">
                        <a:lnSpc>
                          <a:spcPct val="81000"/>
                        </a:lnSpc>
                      </a:pPr>
                      <a:r>
                        <a:rPr sz="2800" b="1" kern="0" spc="-20" dirty="0">
                          <a:solidFill>
                            <a:srgbClr val="000000">
                              <a:alpha val="100000"/>
                            </a:srgbClr>
                          </a:solidFill>
                          <a:latin typeface="Tahoma" panose="020B0604030504040204"/>
                          <a:ea typeface="Tahoma" panose="020B0604030504040204"/>
                          <a:cs typeface="Tahoma" panose="020B0604030504040204"/>
                        </a:rPr>
                        <a:t>1</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760095" algn="l" rtl="0" eaLnBrk="0">
                        <a:lnSpc>
                          <a:spcPct val="82000"/>
                        </a:lnSpc>
                      </a:pPr>
                      <a:r>
                        <a:rPr sz="2800" b="1" kern="0" spc="-20" dirty="0">
                          <a:solidFill>
                            <a:srgbClr val="000000">
                              <a:alpha val="100000"/>
                            </a:srgbClr>
                          </a:solidFill>
                          <a:latin typeface="Tahoma" panose="020B0604030504040204"/>
                          <a:ea typeface="Tahoma" panose="020B0604030504040204"/>
                          <a:cs typeface="Tahoma" panose="020B0604030504040204"/>
                        </a:rPr>
                        <a:t>2</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marL="755015" algn="l" rtl="0" eaLnBrk="0">
                        <a:lnSpc>
                          <a:spcPct val="82000"/>
                        </a:lnSpc>
                        <a:spcBef>
                          <a:spcPts val="5"/>
                        </a:spcBef>
                      </a:pPr>
                      <a:r>
                        <a:rPr sz="2800" b="1" kern="0" spc="-20" dirty="0">
                          <a:solidFill>
                            <a:srgbClr val="000000">
                              <a:alpha val="100000"/>
                            </a:srgbClr>
                          </a:solidFill>
                          <a:latin typeface="Tahoma" panose="020B0604030504040204"/>
                          <a:ea typeface="Tahoma" panose="020B0604030504040204"/>
                          <a:cs typeface="Tahoma" panose="020B0604030504040204"/>
                        </a:rPr>
                        <a:t>3</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8159">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767715" algn="l" rtl="0" eaLnBrk="0">
                        <a:lnSpc>
                          <a:spcPct val="82000"/>
                        </a:lnSpc>
                      </a:pPr>
                      <a:r>
                        <a:rPr sz="2800" b="1" kern="0" spc="-20" dirty="0">
                          <a:solidFill>
                            <a:srgbClr val="000000">
                              <a:alpha val="100000"/>
                            </a:srgbClr>
                          </a:solidFill>
                          <a:latin typeface="Tahoma" panose="020B0604030504040204"/>
                          <a:ea typeface="Tahoma" panose="020B0604030504040204"/>
                          <a:cs typeface="Tahoma" panose="020B0604030504040204"/>
                        </a:rPr>
                        <a:t>6</a:t>
                      </a:r>
                      <a:endParaRPr sz="2800" dirty="0">
                        <a:latin typeface="Tahoma" panose="020B0604030504040204"/>
                        <a:ea typeface="Tahoma" panose="020B0604030504040204"/>
                        <a:cs typeface="Tahoma" panose="020B0604030504040204"/>
                      </a:endParaRPr>
                    </a:p>
                  </a:txBody>
                  <a:tcPr marL="0" marR="0" marT="0" marB="0" vert="horz">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sz="9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770890" algn="l" rtl="0" eaLnBrk="0">
                        <a:lnSpc>
                          <a:spcPct val="81000"/>
                        </a:lnSpc>
                      </a:pPr>
                      <a:r>
                        <a:rPr sz="2800" b="1" kern="0" spc="-20" dirty="0">
                          <a:solidFill>
                            <a:srgbClr val="000000">
                              <a:alpha val="100000"/>
                            </a:srgbClr>
                          </a:solidFill>
                          <a:latin typeface="Tahoma" panose="020B0604030504040204"/>
                          <a:ea typeface="Tahoma" panose="020B0604030504040204"/>
                          <a:cs typeface="Tahoma" panose="020B0604030504040204"/>
                        </a:rPr>
                        <a:t>1</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760095" algn="l" rtl="0" eaLnBrk="0">
                        <a:lnSpc>
                          <a:spcPct val="82000"/>
                        </a:lnSpc>
                        <a:spcBef>
                          <a:spcPts val="0"/>
                        </a:spcBef>
                      </a:pPr>
                      <a:r>
                        <a:rPr sz="2800" b="1" kern="0" spc="-20" dirty="0">
                          <a:solidFill>
                            <a:srgbClr val="000000">
                              <a:alpha val="100000"/>
                            </a:srgbClr>
                          </a:solidFill>
                          <a:latin typeface="Tahoma" panose="020B0604030504040204"/>
                          <a:ea typeface="Tahoma" panose="020B0604030504040204"/>
                          <a:cs typeface="Tahoma" panose="020B0604030504040204"/>
                        </a:rPr>
                        <a:t>2</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755650" algn="l" rtl="0" eaLnBrk="0">
                        <a:lnSpc>
                          <a:spcPct val="82000"/>
                        </a:lnSpc>
                      </a:pPr>
                      <a:r>
                        <a:rPr sz="2800" b="1" kern="0" spc="-20" dirty="0">
                          <a:solidFill>
                            <a:srgbClr val="000000">
                              <a:alpha val="100000"/>
                            </a:srgbClr>
                          </a:solidFill>
                          <a:latin typeface="Tahoma" panose="020B0604030504040204"/>
                          <a:ea typeface="Tahoma" panose="020B0604030504040204"/>
                          <a:cs typeface="Tahoma" panose="020B0604030504040204"/>
                        </a:rPr>
                        <a:t>3</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2765">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762000" algn="l" rtl="0" eaLnBrk="0">
                        <a:lnSpc>
                          <a:spcPct val="82000"/>
                        </a:lnSpc>
                        <a:spcBef>
                          <a:spcPts val="5"/>
                        </a:spcBef>
                      </a:pPr>
                      <a:r>
                        <a:rPr sz="2800" b="1" kern="0" spc="-20" dirty="0">
                          <a:solidFill>
                            <a:srgbClr val="000000">
                              <a:alpha val="100000"/>
                            </a:srgbClr>
                          </a:solidFill>
                          <a:latin typeface="Tahoma" panose="020B0604030504040204"/>
                          <a:ea typeface="Tahoma" panose="020B0604030504040204"/>
                          <a:cs typeface="Tahoma" panose="020B0604030504040204"/>
                        </a:rPr>
                        <a:t>8</a:t>
                      </a:r>
                      <a:endParaRPr sz="2800" dirty="0">
                        <a:latin typeface="Tahoma" panose="020B0604030504040204"/>
                        <a:ea typeface="Tahoma" panose="020B0604030504040204"/>
                        <a:cs typeface="Tahoma" panose="020B0604030504040204"/>
                      </a:endParaRPr>
                    </a:p>
                  </a:txBody>
                  <a:tcPr marL="0" marR="0" marT="0" marB="0" vert="horz">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03000"/>
                        </a:lnSpc>
                      </a:pPr>
                      <a:endParaRPr sz="900" dirty="0">
                        <a:latin typeface="Arial" panose="020B0604020202020204" pitchFamily="34" charset="0"/>
                        <a:ea typeface="Arial" panose="020B0604020202020204" pitchFamily="34" charset="0"/>
                        <a:cs typeface="Arial" panose="020B0604020202020204" pitchFamily="34" charset="0"/>
                      </a:endParaRPr>
                    </a:p>
                    <a:p>
                      <a:pPr marL="770890" algn="l" rtl="0" eaLnBrk="0">
                        <a:lnSpc>
                          <a:spcPct val="81000"/>
                        </a:lnSpc>
                        <a:spcBef>
                          <a:spcPts val="0"/>
                        </a:spcBef>
                      </a:pPr>
                      <a:r>
                        <a:rPr sz="2800" b="1" kern="0" spc="-20" dirty="0">
                          <a:solidFill>
                            <a:srgbClr val="000000">
                              <a:alpha val="100000"/>
                            </a:srgbClr>
                          </a:solidFill>
                          <a:latin typeface="Tahoma" panose="020B0604030504040204"/>
                          <a:ea typeface="Tahoma" panose="020B0604030504040204"/>
                          <a:cs typeface="Tahoma" panose="020B0604030504040204"/>
                        </a:rPr>
                        <a:t>1</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751840" algn="l" rtl="0" eaLnBrk="0">
                        <a:lnSpc>
                          <a:spcPct val="82000"/>
                        </a:lnSpc>
                        <a:spcBef>
                          <a:spcPts val="0"/>
                        </a:spcBef>
                      </a:pPr>
                      <a:r>
                        <a:rPr sz="2800" b="1" kern="0" spc="-20" dirty="0">
                          <a:solidFill>
                            <a:srgbClr val="000000">
                              <a:alpha val="100000"/>
                            </a:srgbClr>
                          </a:solidFill>
                          <a:latin typeface="Tahoma" panose="020B0604030504040204"/>
                          <a:ea typeface="Tahoma" panose="020B0604030504040204"/>
                          <a:cs typeface="Tahoma" panose="020B0604030504040204"/>
                        </a:rPr>
                        <a:t>3</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rtl="0" eaLnBrk="0">
                        <a:lnSpc>
                          <a:spcPct val="102000"/>
                        </a:lnSpc>
                      </a:pPr>
                      <a:endParaRPr sz="9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745490" algn="l" rtl="0" eaLnBrk="0">
                        <a:lnSpc>
                          <a:spcPct val="81000"/>
                        </a:lnSpc>
                      </a:pPr>
                      <a:r>
                        <a:rPr sz="2800" b="1" kern="0" spc="-20" dirty="0">
                          <a:solidFill>
                            <a:srgbClr val="000000">
                              <a:alpha val="100000"/>
                            </a:srgbClr>
                          </a:solidFill>
                          <a:latin typeface="Tahoma" panose="020B0604030504040204"/>
                          <a:ea typeface="Tahoma" panose="020B0604030504040204"/>
                          <a:cs typeface="Tahoma" panose="020B0604030504040204"/>
                        </a:rPr>
                        <a:t>4</a:t>
                      </a:r>
                      <a:endParaRPr sz="2800" dirty="0">
                        <a:latin typeface="Tahoma" panose="020B0604030504040204"/>
                        <a:ea typeface="Tahoma" panose="020B0604030504040204"/>
                        <a:cs typeface="Tahoma" panose="020B0604030504040204"/>
                      </a:endParaRPr>
                    </a:p>
                  </a:txBody>
                  <a:tcPr marL="0" marR="0" marT="0" marB="0" vert="horz">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240" name="textbox 240"/>
          <p:cNvSpPr/>
          <p:nvPr/>
        </p:nvSpPr>
        <p:spPr>
          <a:xfrm>
            <a:off x="919073" y="2133651"/>
            <a:ext cx="3464559" cy="2656204"/>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9000"/>
              </a:lnSpc>
            </a:pPr>
            <a:r>
              <a:rPr sz="2400" kern="0" spc="-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3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0行：不动</a:t>
            </a:r>
            <a:endParaRPr sz="2400" dirty="0">
              <a:latin typeface="仿宋" panose="02010609060101010101" charset="-122"/>
              <a:ea typeface="仿宋" panose="02010609060101010101" charset="-122"/>
              <a:cs typeface="仿宋" panose="02010609060101010101" charset="-122"/>
            </a:endParaRPr>
          </a:p>
          <a:p>
            <a:pPr marL="12700" algn="l" rtl="0" eaLnBrk="0">
              <a:lnSpc>
                <a:spcPct val="99000"/>
              </a:lnSpc>
              <a:spcBef>
                <a:spcPts val="1590"/>
              </a:spcBef>
            </a:pPr>
            <a:r>
              <a:rPr sz="2400"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1行：循环左移C</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1字节</a:t>
            </a:r>
            <a:endParaRPr sz="2400" dirty="0">
              <a:latin typeface="仿宋" panose="02010609060101010101" charset="-122"/>
              <a:ea typeface="仿宋" panose="02010609060101010101" charset="-122"/>
              <a:cs typeface="仿宋" panose="02010609060101010101" charset="-122"/>
            </a:endParaRPr>
          </a:p>
          <a:p>
            <a:pPr marL="12700" algn="l" rtl="0" eaLnBrk="0">
              <a:lnSpc>
                <a:spcPct val="99000"/>
              </a:lnSpc>
              <a:spcBef>
                <a:spcPts val="1615"/>
              </a:spcBef>
            </a:pPr>
            <a:r>
              <a:rPr sz="24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2行：循环左移C2字节</a:t>
            </a:r>
            <a:endParaRPr sz="2400" dirty="0">
              <a:latin typeface="仿宋" panose="02010609060101010101" charset="-122"/>
              <a:ea typeface="仿宋" panose="02010609060101010101" charset="-122"/>
              <a:cs typeface="仿宋" panose="02010609060101010101" charset="-122"/>
            </a:endParaRPr>
          </a:p>
          <a:p>
            <a:pPr marL="12700" algn="l" rtl="0" eaLnBrk="0">
              <a:lnSpc>
                <a:spcPct val="99000"/>
              </a:lnSpc>
              <a:spcBef>
                <a:spcPts val="1615"/>
              </a:spcBef>
            </a:pPr>
            <a:r>
              <a:rPr sz="24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3行：循环左移C3</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字节</a:t>
            </a:r>
            <a:endParaRPr sz="2400" dirty="0">
              <a:latin typeface="仿宋" panose="02010609060101010101" charset="-122"/>
              <a:ea typeface="仿宋" panose="02010609060101010101" charset="-122"/>
              <a:cs typeface="仿宋" panose="02010609060101010101" charset="-122"/>
            </a:endParaRPr>
          </a:p>
          <a:p>
            <a:pPr algn="l" rtl="0" eaLnBrk="0">
              <a:lnSpc>
                <a:spcPct val="101000"/>
              </a:lnSpc>
            </a:pPr>
            <a:endParaRPr sz="13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2900"/>
              </a:lnSpc>
              <a:spcBef>
                <a:spcPts val="0"/>
              </a:spcBef>
            </a:pPr>
            <a:r>
              <a:rPr sz="24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记为：ShiftRow(State)</a:t>
            </a:r>
            <a:endParaRPr sz="2400" dirty="0">
              <a:latin typeface="仿宋" panose="02010609060101010101" charset="-122"/>
              <a:ea typeface="仿宋" panose="02010609060101010101" charset="-122"/>
              <a:cs typeface="仿宋" panose="02010609060101010101" charset="-122"/>
            </a:endParaRPr>
          </a:p>
        </p:txBody>
      </p:sp>
      <p:sp>
        <p:nvSpPr>
          <p:cNvPr id="242" name="textbox 242"/>
          <p:cNvSpPr/>
          <p:nvPr/>
        </p:nvSpPr>
        <p:spPr>
          <a:xfrm>
            <a:off x="919089" y="1566206"/>
            <a:ext cx="7586980" cy="389254"/>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9000"/>
              </a:lnSpc>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将状态阵列的各行进行循环移位</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，不同行的移位量不同</a:t>
            </a:r>
            <a:endParaRPr sz="2400" dirty="0">
              <a:latin typeface="仿宋" panose="02010609060101010101" charset="-122"/>
              <a:ea typeface="仿宋" panose="02010609060101010101" charset="-122"/>
              <a:cs typeface="仿宋" panose="02010609060101010101" charset="-122"/>
            </a:endParaRPr>
          </a:p>
        </p:txBody>
      </p:sp>
      <p:sp>
        <p:nvSpPr>
          <p:cNvPr id="246" name="textbox 246"/>
          <p:cNvSpPr/>
          <p:nvPr/>
        </p:nvSpPr>
        <p:spPr>
          <a:xfrm>
            <a:off x="1574572" y="491245"/>
            <a:ext cx="1217930" cy="47942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10" dirty="0">
                <a:solidFill>
                  <a:srgbClr val="0563C1">
                    <a:alpha val="100000"/>
                  </a:srgbClr>
                </a:solidFill>
                <a:latin typeface="仿宋" panose="02010609060101010101" charset="-122"/>
                <a:ea typeface="仿宋" panose="02010609060101010101" charset="-122"/>
                <a:cs typeface="仿宋" panose="02010609060101010101" charset="-122"/>
              </a:rPr>
              <a:t>行移位</a:t>
            </a:r>
            <a:endParaRPr sz="3100" dirty="0">
              <a:latin typeface="仿宋" panose="02010609060101010101" charset="-122"/>
              <a:ea typeface="仿宋" panose="02010609060101010101" charset="-122"/>
              <a:cs typeface="仿宋" panose="02010609060101010101" charset="-122"/>
            </a:endParaRPr>
          </a:p>
        </p:txBody>
      </p:sp>
      <p:sp>
        <p:nvSpPr>
          <p:cNvPr id="248" name="path 24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250" name="picture 250"/>
          <p:cNvPicPr>
            <a:picLocks noChangeAspect="1"/>
          </p:cNvPicPr>
          <p:nvPr/>
        </p:nvPicPr>
        <p:blipFill>
          <a:blip r:embed="rId1"/>
          <a:stretch>
            <a:fillRect/>
          </a:stretch>
        </p:blipFill>
        <p:spPr>
          <a:xfrm rot="21600000">
            <a:off x="822960" y="408431"/>
            <a:ext cx="420623" cy="655320"/>
          </a:xfrm>
          <a:prstGeom prst="rect">
            <a:avLst/>
          </a:prstGeom>
        </p:spPr>
      </p:pic>
      <p:sp>
        <p:nvSpPr>
          <p:cNvPr id="252" name="path 25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4" name="picture 254"/>
          <p:cNvPicPr>
            <a:picLocks noChangeAspect="1"/>
          </p:cNvPicPr>
          <p:nvPr/>
        </p:nvPicPr>
        <p:blipFill>
          <a:blip r:embed="rId1"/>
          <a:stretch>
            <a:fillRect/>
          </a:stretch>
        </p:blipFill>
        <p:spPr>
          <a:xfrm rot="21600000">
            <a:off x="1847087" y="1414271"/>
            <a:ext cx="8570976" cy="3169920"/>
          </a:xfrm>
          <a:prstGeom prst="rect">
            <a:avLst/>
          </a:prstGeom>
        </p:spPr>
      </p:pic>
      <p:sp>
        <p:nvSpPr>
          <p:cNvPr id="256" name="textbox 256"/>
          <p:cNvSpPr/>
          <p:nvPr/>
        </p:nvSpPr>
        <p:spPr>
          <a:xfrm>
            <a:off x="1574572" y="491245"/>
            <a:ext cx="2443479" cy="47942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50" dirty="0">
                <a:solidFill>
                  <a:srgbClr val="1F4E79">
                    <a:alpha val="100000"/>
                  </a:srgbClr>
                </a:solidFill>
                <a:latin typeface="仿宋" panose="02010609060101010101" charset="-122"/>
                <a:ea typeface="仿宋" panose="02010609060101010101" charset="-122"/>
                <a:cs typeface="仿宋" panose="02010609060101010101" charset="-122"/>
              </a:rPr>
              <a:t>行移位示意图</a:t>
            </a:r>
            <a:endParaRPr sz="3100" dirty="0">
              <a:latin typeface="仿宋" panose="02010609060101010101" charset="-122"/>
              <a:ea typeface="仿宋" panose="02010609060101010101" charset="-122"/>
              <a:cs typeface="仿宋" panose="02010609060101010101" charset="-122"/>
            </a:endParaRPr>
          </a:p>
        </p:txBody>
      </p:sp>
      <p:sp>
        <p:nvSpPr>
          <p:cNvPr id="260" name="path 260"/>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262" name="picture 262"/>
          <p:cNvPicPr>
            <a:picLocks noChangeAspect="1"/>
          </p:cNvPicPr>
          <p:nvPr/>
        </p:nvPicPr>
        <p:blipFill>
          <a:blip r:embed="rId2"/>
          <a:stretch>
            <a:fillRect/>
          </a:stretch>
        </p:blipFill>
        <p:spPr>
          <a:xfrm rot="21600000">
            <a:off x="822960" y="408431"/>
            <a:ext cx="420623" cy="655320"/>
          </a:xfrm>
          <a:prstGeom prst="rect">
            <a:avLst/>
          </a:prstGeom>
        </p:spPr>
      </p:pic>
      <p:sp>
        <p:nvSpPr>
          <p:cNvPr id="264" name="path 264"/>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textbox 266"/>
          <p:cNvSpPr/>
          <p:nvPr/>
        </p:nvSpPr>
        <p:spPr>
          <a:xfrm>
            <a:off x="921835" y="1576561"/>
            <a:ext cx="5953125" cy="2976879"/>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pPr>
            <a:r>
              <a:rPr sz="28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逆行移位变换是行移</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位变换的逆变换</a:t>
            </a:r>
            <a:endParaRPr sz="2800" dirty="0">
              <a:latin typeface="仿宋" panose="02010609060101010101" charset="-122"/>
              <a:ea typeface="仿宋" panose="02010609060101010101" charset="-122"/>
              <a:cs typeface="仿宋" panose="02010609060101010101" charset="-122"/>
            </a:endParaRPr>
          </a:p>
          <a:p>
            <a:pPr marL="466725" algn="l" rtl="0" eaLnBrk="0">
              <a:lnSpc>
                <a:spcPct val="99000"/>
              </a:lnSpc>
              <a:spcBef>
                <a:spcPts val="1120"/>
              </a:spcBef>
            </a:pPr>
            <a:r>
              <a:rPr sz="2400"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6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它对状态的每一行进行循环右移</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a:t>
            </a:r>
            <a:endParaRPr sz="2400" dirty="0">
              <a:latin typeface="仿宋" panose="02010609060101010101" charset="-122"/>
              <a:ea typeface="仿宋" panose="02010609060101010101" charset="-122"/>
              <a:cs typeface="仿宋" panose="02010609060101010101" charset="-122"/>
            </a:endParaRPr>
          </a:p>
          <a:p>
            <a:pPr marL="466725" algn="l" rtl="0" eaLnBrk="0">
              <a:lnSpc>
                <a:spcPct val="99000"/>
              </a:lnSpc>
              <a:spcBef>
                <a:spcPts val="1110"/>
              </a:spcBef>
            </a:pPr>
            <a:r>
              <a:rPr sz="2400" kern="0" spc="-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50" dirty="0">
                <a:solidFill>
                  <a:srgbClr val="000000">
                    <a:alpha val="100000"/>
                  </a:srgbClr>
                </a:solidFill>
                <a:latin typeface="仿宋" panose="02010609060101010101" charset="-122"/>
                <a:ea typeface="仿宋" panose="02010609060101010101" charset="-122"/>
                <a:cs typeface="仿宋" panose="02010609060101010101" charset="-122"/>
              </a:rPr>
              <a:t>第</a:t>
            </a:r>
            <a:r>
              <a:rPr sz="2400" b="1" kern="0" spc="-50" dirty="0">
                <a:solidFill>
                  <a:srgbClr val="000000">
                    <a:alpha val="100000"/>
                  </a:srgbClr>
                </a:solidFill>
                <a:latin typeface="Times New Roman" panose="02020603050405020304"/>
                <a:ea typeface="Times New Roman" panose="02020603050405020304"/>
                <a:cs typeface="Times New Roman" panose="02020603050405020304"/>
              </a:rPr>
              <a:t>0</a:t>
            </a:r>
            <a:r>
              <a:rPr sz="2400" b="1" kern="0" spc="-50" dirty="0">
                <a:solidFill>
                  <a:srgbClr val="000000">
                    <a:alpha val="100000"/>
                  </a:srgbClr>
                </a:solidFill>
                <a:latin typeface="仿宋" panose="02010609060101010101" charset="-122"/>
                <a:ea typeface="仿宋" panose="02010609060101010101" charset="-122"/>
                <a:cs typeface="仿宋" panose="02010609060101010101" charset="-122"/>
              </a:rPr>
              <a:t>行保持不变</a:t>
            </a:r>
            <a:endParaRPr sz="2400" dirty="0">
              <a:latin typeface="仿宋" panose="02010609060101010101" charset="-122"/>
              <a:ea typeface="仿宋" panose="02010609060101010101" charset="-122"/>
              <a:cs typeface="仿宋" panose="02010609060101010101" charset="-122"/>
            </a:endParaRPr>
          </a:p>
          <a:p>
            <a:pPr marL="466725" algn="l" rtl="0" eaLnBrk="0">
              <a:lnSpc>
                <a:spcPts val="2930"/>
              </a:lnSpc>
              <a:spcBef>
                <a:spcPts val="1100"/>
              </a:spcBef>
            </a:pPr>
            <a:r>
              <a:rPr sz="2400" kern="0" spc="-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8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第</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1</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行循环右移</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C</a:t>
            </a:r>
            <a:r>
              <a:rPr sz="2400" b="1" kern="0" spc="-40" baseline="-23000" dirty="0">
                <a:solidFill>
                  <a:srgbClr val="000000">
                    <a:alpha val="100000"/>
                  </a:srgbClr>
                </a:solidFill>
                <a:latin typeface="Times New Roman" panose="02020603050405020304"/>
                <a:ea typeface="Times New Roman" panose="02020603050405020304"/>
                <a:cs typeface="Times New Roman" panose="02020603050405020304"/>
              </a:rPr>
              <a:t>1</a:t>
            </a:r>
            <a:r>
              <a:rPr sz="1500" b="1"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个字节</a:t>
            </a:r>
            <a:endParaRPr sz="2400" dirty="0">
              <a:latin typeface="仿宋" panose="02010609060101010101" charset="-122"/>
              <a:ea typeface="仿宋" panose="02010609060101010101" charset="-122"/>
              <a:cs typeface="仿宋" panose="02010609060101010101" charset="-122"/>
            </a:endParaRPr>
          </a:p>
          <a:p>
            <a:pPr marL="466725" algn="l" rtl="0" eaLnBrk="0">
              <a:lnSpc>
                <a:spcPts val="2935"/>
              </a:lnSpc>
              <a:spcBef>
                <a:spcPts val="1000"/>
              </a:spcBef>
            </a:pPr>
            <a:r>
              <a:rPr sz="2400" kern="0" spc="-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8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第</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2</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行循环右移</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C</a:t>
            </a:r>
            <a:r>
              <a:rPr sz="2400" b="1" kern="0" spc="-40" baseline="-22000" dirty="0">
                <a:solidFill>
                  <a:srgbClr val="000000">
                    <a:alpha val="100000"/>
                  </a:srgbClr>
                </a:solidFill>
                <a:latin typeface="Times New Roman" panose="02020603050405020304"/>
                <a:ea typeface="Times New Roman" panose="02020603050405020304"/>
                <a:cs typeface="Times New Roman" panose="02020603050405020304"/>
              </a:rPr>
              <a:t>2</a:t>
            </a:r>
            <a:r>
              <a:rPr sz="1500" b="1"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个字节</a:t>
            </a:r>
            <a:endParaRPr sz="2400" dirty="0">
              <a:latin typeface="仿宋" panose="02010609060101010101" charset="-122"/>
              <a:ea typeface="仿宋" panose="02010609060101010101" charset="-122"/>
              <a:cs typeface="仿宋" panose="02010609060101010101" charset="-122"/>
            </a:endParaRPr>
          </a:p>
          <a:p>
            <a:pPr algn="l" rtl="0" eaLnBrk="0">
              <a:lnSpc>
                <a:spcPct val="107000"/>
              </a:lnSpc>
            </a:pPr>
            <a:endParaRPr sz="800" dirty="0">
              <a:latin typeface="Arial" panose="020B0604020202020204" pitchFamily="34" charset="0"/>
              <a:ea typeface="Arial" panose="020B0604020202020204" pitchFamily="34" charset="0"/>
              <a:cs typeface="Arial" panose="020B0604020202020204" pitchFamily="34" charset="0"/>
            </a:endParaRPr>
          </a:p>
          <a:p>
            <a:pPr marL="466725" algn="l" rtl="0" eaLnBrk="0">
              <a:lnSpc>
                <a:spcPts val="2955"/>
              </a:lnSpc>
              <a:spcBef>
                <a:spcPts val="5"/>
              </a:spcBef>
            </a:pPr>
            <a:r>
              <a:rPr sz="2400" kern="0" spc="-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8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第</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3</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行循环右移</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C</a:t>
            </a:r>
            <a:r>
              <a:rPr sz="2400" b="1" kern="0" spc="-40" baseline="-22000" dirty="0">
                <a:solidFill>
                  <a:srgbClr val="000000">
                    <a:alpha val="100000"/>
                  </a:srgbClr>
                </a:solidFill>
                <a:latin typeface="Times New Roman" panose="02020603050405020304"/>
                <a:ea typeface="Times New Roman" panose="02020603050405020304"/>
                <a:cs typeface="Times New Roman" panose="02020603050405020304"/>
              </a:rPr>
              <a:t>3</a:t>
            </a:r>
            <a:r>
              <a:rPr sz="1500" b="1"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个字节</a:t>
            </a:r>
            <a:endParaRPr sz="2400" dirty="0">
              <a:latin typeface="仿宋" panose="02010609060101010101" charset="-122"/>
              <a:ea typeface="仿宋" panose="02010609060101010101" charset="-122"/>
              <a:cs typeface="仿宋" panose="02010609060101010101" charset="-122"/>
            </a:endParaRPr>
          </a:p>
        </p:txBody>
      </p:sp>
      <p:sp>
        <p:nvSpPr>
          <p:cNvPr id="268" name="textbox 268"/>
          <p:cNvSpPr/>
          <p:nvPr/>
        </p:nvSpPr>
        <p:spPr>
          <a:xfrm>
            <a:off x="1577815" y="491245"/>
            <a:ext cx="4485640" cy="47942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120" dirty="0">
                <a:solidFill>
                  <a:srgbClr val="1F4E79">
                    <a:alpha val="100000"/>
                  </a:srgbClr>
                </a:solidFill>
                <a:latin typeface="仿宋" panose="02010609060101010101" charset="-122"/>
                <a:ea typeface="仿宋" panose="02010609060101010101" charset="-122"/>
                <a:cs typeface="仿宋" panose="02010609060101010101" charset="-122"/>
              </a:rPr>
              <a:t>逆行移位</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InvShiftRows</a:t>
            </a:r>
            <a:r>
              <a:rPr sz="3100" b="1" kern="0" spc="120" dirty="0">
                <a:solidFill>
                  <a:srgbClr val="1F4E79">
                    <a:alpha val="100000"/>
                  </a:srgbClr>
                </a:solidFill>
                <a:latin typeface="仿宋" panose="02010609060101010101" charset="-122"/>
                <a:ea typeface="仿宋" panose="02010609060101010101" charset="-122"/>
                <a:cs typeface="仿宋" panose="02010609060101010101" charset="-122"/>
              </a:rPr>
              <a:t>()</a:t>
            </a:r>
            <a:endParaRPr sz="3100" dirty="0">
              <a:latin typeface="仿宋" panose="02010609060101010101" charset="-122"/>
              <a:ea typeface="仿宋" panose="02010609060101010101" charset="-122"/>
              <a:cs typeface="仿宋" panose="02010609060101010101" charset="-122"/>
            </a:endParaRPr>
          </a:p>
        </p:txBody>
      </p:sp>
      <p:sp>
        <p:nvSpPr>
          <p:cNvPr id="272" name="path 272"/>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274" name="picture 274"/>
          <p:cNvPicPr>
            <a:picLocks noChangeAspect="1"/>
          </p:cNvPicPr>
          <p:nvPr/>
        </p:nvPicPr>
        <p:blipFill>
          <a:blip r:embed="rId1"/>
          <a:stretch>
            <a:fillRect/>
          </a:stretch>
        </p:blipFill>
        <p:spPr>
          <a:xfrm rot="21600000">
            <a:off x="822960" y="408431"/>
            <a:ext cx="420623" cy="655320"/>
          </a:xfrm>
          <a:prstGeom prst="rect">
            <a:avLst/>
          </a:prstGeom>
        </p:spPr>
      </p:pic>
      <p:sp>
        <p:nvSpPr>
          <p:cNvPr id="276" name="path 27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2"/>
          <p:cNvGrpSpPr/>
          <p:nvPr/>
        </p:nvGrpSpPr>
        <p:grpSpPr>
          <a:xfrm rot="21600000">
            <a:off x="3206495" y="1624583"/>
            <a:ext cx="5708904" cy="813816"/>
            <a:chOff x="0" y="0"/>
            <a:chExt cx="5708904" cy="813816"/>
          </a:xfrm>
        </p:grpSpPr>
        <p:pic>
          <p:nvPicPr>
            <p:cNvPr id="278" name="picture 278"/>
            <p:cNvPicPr>
              <a:picLocks noChangeAspect="1"/>
            </p:cNvPicPr>
            <p:nvPr/>
          </p:nvPicPr>
          <p:blipFill>
            <a:blip r:embed="rId1"/>
            <a:stretch>
              <a:fillRect/>
            </a:stretch>
          </p:blipFill>
          <p:spPr>
            <a:xfrm rot="21600000">
              <a:off x="0" y="0"/>
              <a:ext cx="5708904" cy="813816"/>
            </a:xfrm>
            <a:prstGeom prst="rect">
              <a:avLst/>
            </a:prstGeom>
          </p:spPr>
        </p:pic>
        <p:sp>
          <p:nvSpPr>
            <p:cNvPr id="280" name="textbox 280"/>
            <p:cNvSpPr/>
            <p:nvPr/>
          </p:nvSpPr>
          <p:spPr>
            <a:xfrm>
              <a:off x="-12700" y="-12700"/>
              <a:ext cx="5734684" cy="87820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90880" algn="l" rtl="0" eaLnBrk="0">
                <a:lnSpc>
                  <a:spcPct val="94000"/>
                </a:lnSpc>
                <a:spcBef>
                  <a:spcPts val="5"/>
                </a:spcBef>
              </a:pPr>
              <a:r>
                <a:rPr sz="2400" b="1" kern="0" spc="-70" dirty="0">
                  <a:solidFill>
                    <a:srgbClr val="FFFFFF">
                      <a:alpha val="100000"/>
                    </a:srgbClr>
                  </a:solidFill>
                  <a:latin typeface="仿宋" panose="02010609060101010101" charset="-122"/>
                  <a:ea typeface="仿宋" panose="02010609060101010101" charset="-122"/>
                  <a:cs typeface="仿宋" panose="02010609060101010101" charset="-122"/>
                </a:rPr>
                <a:t>字节代换</a:t>
              </a:r>
              <a:endParaRPr sz="2400" dirty="0">
                <a:latin typeface="仿宋" panose="02010609060101010101" charset="-122"/>
                <a:ea typeface="仿宋" panose="02010609060101010101" charset="-122"/>
                <a:cs typeface="仿宋" panose="02010609060101010101" charset="-122"/>
              </a:endParaRPr>
            </a:p>
          </p:txBody>
        </p:sp>
      </p:grpSp>
      <p:grpSp>
        <p:nvGrpSpPr>
          <p:cNvPr id="24" name="group 24"/>
          <p:cNvGrpSpPr/>
          <p:nvPr/>
        </p:nvGrpSpPr>
        <p:grpSpPr>
          <a:xfrm rot="21600000">
            <a:off x="3206495" y="4910328"/>
            <a:ext cx="5708904" cy="813816"/>
            <a:chOff x="0" y="0"/>
            <a:chExt cx="5708904" cy="813816"/>
          </a:xfrm>
        </p:grpSpPr>
        <p:pic>
          <p:nvPicPr>
            <p:cNvPr id="282" name="picture 282"/>
            <p:cNvPicPr>
              <a:picLocks noChangeAspect="1"/>
            </p:cNvPicPr>
            <p:nvPr/>
          </p:nvPicPr>
          <p:blipFill>
            <a:blip r:embed="rId2"/>
            <a:stretch>
              <a:fillRect/>
            </a:stretch>
          </p:blipFill>
          <p:spPr>
            <a:xfrm rot="21600000">
              <a:off x="0" y="0"/>
              <a:ext cx="5708904" cy="813816"/>
            </a:xfrm>
            <a:prstGeom prst="rect">
              <a:avLst/>
            </a:prstGeom>
          </p:spPr>
        </p:pic>
        <p:sp>
          <p:nvSpPr>
            <p:cNvPr id="284" name="textbox 284"/>
            <p:cNvSpPr/>
            <p:nvPr/>
          </p:nvSpPr>
          <p:spPr>
            <a:xfrm>
              <a:off x="-12700" y="-12700"/>
              <a:ext cx="5734684" cy="874394"/>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78180" algn="l" rtl="0" eaLnBrk="0">
                <a:lnSpc>
                  <a:spcPct val="93000"/>
                </a:lnSpc>
                <a:spcBef>
                  <a:spcPts val="5"/>
                </a:spcBef>
              </a:pP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轮密钥加</a:t>
              </a:r>
              <a:endParaRPr sz="2400" dirty="0">
                <a:latin typeface="仿宋" panose="02010609060101010101" charset="-122"/>
                <a:ea typeface="仿宋" panose="02010609060101010101" charset="-122"/>
                <a:cs typeface="仿宋" panose="02010609060101010101" charset="-122"/>
              </a:endParaRPr>
            </a:p>
          </p:txBody>
        </p:sp>
      </p:grpSp>
      <p:grpSp>
        <p:nvGrpSpPr>
          <p:cNvPr id="26" name="group 26"/>
          <p:cNvGrpSpPr/>
          <p:nvPr/>
        </p:nvGrpSpPr>
        <p:grpSpPr>
          <a:xfrm rot="21600000">
            <a:off x="3709415" y="2691383"/>
            <a:ext cx="5205984" cy="813816"/>
            <a:chOff x="0" y="0"/>
            <a:chExt cx="5205984" cy="813816"/>
          </a:xfrm>
        </p:grpSpPr>
        <p:pic>
          <p:nvPicPr>
            <p:cNvPr id="286" name="picture 286"/>
            <p:cNvPicPr>
              <a:picLocks noChangeAspect="1"/>
            </p:cNvPicPr>
            <p:nvPr/>
          </p:nvPicPr>
          <p:blipFill>
            <a:blip r:embed="rId3"/>
            <a:stretch>
              <a:fillRect/>
            </a:stretch>
          </p:blipFill>
          <p:spPr>
            <a:xfrm rot="21600000">
              <a:off x="0" y="0"/>
              <a:ext cx="5205984" cy="813816"/>
            </a:xfrm>
            <a:prstGeom prst="rect">
              <a:avLst/>
            </a:prstGeom>
          </p:spPr>
        </p:pic>
        <p:sp>
          <p:nvSpPr>
            <p:cNvPr id="288" name="textbox 288"/>
            <p:cNvSpPr/>
            <p:nvPr/>
          </p:nvSpPr>
          <p:spPr>
            <a:xfrm>
              <a:off x="-12700" y="-12700"/>
              <a:ext cx="5231765" cy="876935"/>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680085" algn="l" rtl="0" eaLnBrk="0">
                <a:lnSpc>
                  <a:spcPct val="94000"/>
                </a:lnSpc>
              </a:pP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行移位</a:t>
              </a:r>
              <a:endParaRPr sz="2400" dirty="0">
                <a:latin typeface="仿宋" panose="02010609060101010101" charset="-122"/>
                <a:ea typeface="仿宋" panose="02010609060101010101" charset="-122"/>
                <a:cs typeface="仿宋" panose="02010609060101010101" charset="-122"/>
              </a:endParaRPr>
            </a:p>
          </p:txBody>
        </p:sp>
      </p:grpSp>
      <p:grpSp>
        <p:nvGrpSpPr>
          <p:cNvPr id="28" name="group 28"/>
          <p:cNvGrpSpPr/>
          <p:nvPr/>
        </p:nvGrpSpPr>
        <p:grpSpPr>
          <a:xfrm rot="21600000">
            <a:off x="3709415" y="3800855"/>
            <a:ext cx="5205984" cy="813816"/>
            <a:chOff x="0" y="0"/>
            <a:chExt cx="5205984" cy="813816"/>
          </a:xfrm>
        </p:grpSpPr>
        <p:pic>
          <p:nvPicPr>
            <p:cNvPr id="290" name="picture 290"/>
            <p:cNvPicPr>
              <a:picLocks noChangeAspect="1"/>
            </p:cNvPicPr>
            <p:nvPr/>
          </p:nvPicPr>
          <p:blipFill>
            <a:blip r:embed="rId4"/>
            <a:stretch>
              <a:fillRect/>
            </a:stretch>
          </p:blipFill>
          <p:spPr>
            <a:xfrm rot="21600000">
              <a:off x="0" y="0"/>
              <a:ext cx="5205984" cy="813816"/>
            </a:xfrm>
            <a:prstGeom prst="rect">
              <a:avLst/>
            </a:prstGeom>
          </p:spPr>
        </p:pic>
        <p:sp>
          <p:nvSpPr>
            <p:cNvPr id="292" name="textbox 292"/>
            <p:cNvSpPr/>
            <p:nvPr/>
          </p:nvSpPr>
          <p:spPr>
            <a:xfrm>
              <a:off x="-12700" y="-12700"/>
              <a:ext cx="5231765" cy="879475"/>
            </a:xfrm>
            <a:prstGeom prst="rect">
              <a:avLst/>
            </a:prstGeom>
            <a:noFill/>
            <a:ln w="0" cap="flat">
              <a:noFill/>
              <a:prstDash val="solid"/>
              <a:miter lim="0"/>
            </a:ln>
          </p:spPr>
          <p:txBody>
            <a:bodyPr vert="horz" wrap="square" lIns="0" tIns="0" rIns="0" bIns="0"/>
            <a:lstStyle/>
            <a:p>
              <a:pPr algn="l" rtl="0" eaLnBrk="0">
                <a:lnSpc>
                  <a:spcPct val="169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687705" algn="l" rtl="0" eaLnBrk="0">
                <a:lnSpc>
                  <a:spcPct val="94000"/>
                </a:lnSpc>
              </a:pPr>
              <a:r>
                <a:rPr sz="2400" b="1" kern="0" spc="-60" dirty="0">
                  <a:solidFill>
                    <a:srgbClr val="FFFFFF">
                      <a:alpha val="100000"/>
                    </a:srgbClr>
                  </a:solidFill>
                  <a:latin typeface="仿宋" panose="02010609060101010101" charset="-122"/>
                  <a:ea typeface="仿宋" panose="02010609060101010101" charset="-122"/>
                  <a:cs typeface="仿宋" panose="02010609060101010101" charset="-122"/>
                </a:rPr>
                <a:t>列混淆</a:t>
              </a:r>
              <a:endParaRPr sz="2400" dirty="0">
                <a:latin typeface="仿宋" panose="02010609060101010101" charset="-122"/>
                <a:ea typeface="仿宋" panose="02010609060101010101" charset="-122"/>
                <a:cs typeface="仿宋" panose="02010609060101010101" charset="-122"/>
              </a:endParaRPr>
            </a:p>
          </p:txBody>
        </p:sp>
      </p:grpSp>
      <p:grpSp>
        <p:nvGrpSpPr>
          <p:cNvPr id="30" name="group 30"/>
          <p:cNvGrpSpPr/>
          <p:nvPr/>
        </p:nvGrpSpPr>
        <p:grpSpPr>
          <a:xfrm rot="21600000">
            <a:off x="2620898" y="1335404"/>
            <a:ext cx="1600580" cy="4492371"/>
            <a:chOff x="0" y="0"/>
            <a:chExt cx="1600580" cy="4492371"/>
          </a:xfrm>
        </p:grpSpPr>
        <p:sp>
          <p:nvSpPr>
            <p:cNvPr id="294" name="path 294"/>
            <p:cNvSpPr/>
            <p:nvPr/>
          </p:nvSpPr>
          <p:spPr>
            <a:xfrm>
              <a:off x="0" y="0"/>
              <a:ext cx="1225704" cy="4475619"/>
            </a:xfrm>
            <a:custGeom>
              <a:avLst/>
              <a:gdLst/>
              <a:ahLst/>
              <a:cxnLst/>
              <a:rect l="0" t="0" r="0" b="0"/>
              <a:pathLst>
                <a:path w="1930" h="7048">
                  <a:moveTo>
                    <a:pt x="199" y="4"/>
                  </a:moveTo>
                  <a:cubicBezTo>
                    <a:pt x="2103" y="1431"/>
                    <a:pt x="2492" y="4133"/>
                    <a:pt x="1066" y="6038"/>
                  </a:cubicBezTo>
                  <a:cubicBezTo>
                    <a:pt x="772" y="6431"/>
                    <a:pt x="413" y="6771"/>
                    <a:pt x="4" y="7043"/>
                  </a:cubicBezTo>
                  <a:lnTo>
                    <a:pt x="4" y="7043"/>
                  </a:lnTo>
                  <a:cubicBezTo>
                    <a:pt x="1985" y="5724"/>
                    <a:pt x="2522" y="3048"/>
                    <a:pt x="1203" y="1066"/>
                  </a:cubicBezTo>
                  <a:cubicBezTo>
                    <a:pt x="931" y="658"/>
                    <a:pt x="592" y="299"/>
                    <a:pt x="199" y="4"/>
                  </a:cubicBezTo>
                </a:path>
              </a:pathLst>
            </a:custGeom>
            <a:noFill/>
            <a:ln w="6096" cap="flat">
              <a:solidFill>
                <a:srgbClr val="477BA9"/>
              </a:solidFill>
              <a:prstDash val="solid"/>
              <a:miter lim="1000000"/>
            </a:ln>
          </p:spPr>
          <p:txBody>
            <a:bodyPr rtlCol="0"/>
            <a:lstStyle/>
            <a:p>
              <a:pPr algn="ctr"/>
              <a:endParaRPr lang="zh-CN" altLang="en-US"/>
            </a:p>
          </p:txBody>
        </p:sp>
        <p:sp>
          <p:nvSpPr>
            <p:cNvPr id="296" name="path 296"/>
            <p:cNvSpPr/>
            <p:nvPr/>
          </p:nvSpPr>
          <p:spPr>
            <a:xfrm>
              <a:off x="76580" y="188595"/>
              <a:ext cx="1018032" cy="1014984"/>
            </a:xfrm>
            <a:custGeom>
              <a:avLst/>
              <a:gdLst/>
              <a:ahLst/>
              <a:cxnLst/>
              <a:rect l="0" t="0" r="0" b="0"/>
              <a:pathLst>
                <a:path w="1603" h="1598">
                  <a:moveTo>
                    <a:pt x="0" y="799"/>
                  </a:moveTo>
                  <a:cubicBezTo>
                    <a:pt x="0" y="357"/>
                    <a:pt x="358" y="0"/>
                    <a:pt x="801" y="0"/>
                  </a:cubicBezTo>
                  <a:cubicBezTo>
                    <a:pt x="1244" y="0"/>
                    <a:pt x="1603" y="357"/>
                    <a:pt x="1603" y="799"/>
                  </a:cubicBezTo>
                  <a:cubicBezTo>
                    <a:pt x="1603" y="1240"/>
                    <a:pt x="1244" y="1598"/>
                    <a:pt x="801" y="1598"/>
                  </a:cubicBezTo>
                  <a:cubicBezTo>
                    <a:pt x="358"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98" name="path 298"/>
            <p:cNvSpPr/>
            <p:nvPr/>
          </p:nvSpPr>
          <p:spPr>
            <a:xfrm>
              <a:off x="73532" y="185547"/>
              <a:ext cx="1024127" cy="1021079"/>
            </a:xfrm>
            <a:custGeom>
              <a:avLst/>
              <a:gdLst/>
              <a:ahLst/>
              <a:cxnLst/>
              <a:rect l="0" t="0" r="0" b="0"/>
              <a:pathLst>
                <a:path w="1612" h="1607">
                  <a:moveTo>
                    <a:pt x="4" y="803"/>
                  </a:moveTo>
                  <a:cubicBezTo>
                    <a:pt x="4" y="362"/>
                    <a:pt x="363" y="4"/>
                    <a:pt x="806" y="4"/>
                  </a:cubicBezTo>
                  <a:cubicBezTo>
                    <a:pt x="1249" y="4"/>
                    <a:pt x="1608" y="362"/>
                    <a:pt x="1608" y="803"/>
                  </a:cubicBezTo>
                  <a:cubicBezTo>
                    <a:pt x="1608" y="1245"/>
                    <a:pt x="1249" y="1603"/>
                    <a:pt x="806" y="1603"/>
                  </a:cubicBezTo>
                  <a:cubicBezTo>
                    <a:pt x="363"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300" name="path 300"/>
            <p:cNvSpPr/>
            <p:nvPr/>
          </p:nvSpPr>
          <p:spPr>
            <a:xfrm>
              <a:off x="579501" y="1255395"/>
              <a:ext cx="1014983" cy="1014984"/>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02" name="path 302"/>
            <p:cNvSpPr/>
            <p:nvPr/>
          </p:nvSpPr>
          <p:spPr>
            <a:xfrm>
              <a:off x="576452" y="1252347"/>
              <a:ext cx="1021079" cy="1021080"/>
            </a:xfrm>
            <a:custGeom>
              <a:avLst/>
              <a:gdLst/>
              <a:ahLst/>
              <a:cxnLst/>
              <a:rect l="0" t="0" r="0" b="0"/>
              <a:pathLst>
                <a:path w="1607" h="1608">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304" name="path 304"/>
            <p:cNvSpPr/>
            <p:nvPr/>
          </p:nvSpPr>
          <p:spPr>
            <a:xfrm>
              <a:off x="582548" y="2364867"/>
              <a:ext cx="1014984"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06" name="path 306"/>
            <p:cNvSpPr/>
            <p:nvPr/>
          </p:nvSpPr>
          <p:spPr>
            <a:xfrm>
              <a:off x="579500" y="2361819"/>
              <a:ext cx="1021080" cy="1021080"/>
            </a:xfrm>
            <a:custGeom>
              <a:avLst/>
              <a:gdLst/>
              <a:ahLst/>
              <a:cxnLst/>
              <a:rect l="0" t="0" r="0" b="0"/>
              <a:pathLst>
                <a:path w="1608" h="1608">
                  <a:moveTo>
                    <a:pt x="4" y="803"/>
                  </a:moveTo>
                  <a:cubicBezTo>
                    <a:pt x="4" y="362"/>
                    <a:pt x="362" y="4"/>
                    <a:pt x="804" y="4"/>
                  </a:cubicBezTo>
                  <a:cubicBezTo>
                    <a:pt x="1245" y="4"/>
                    <a:pt x="1603" y="362"/>
                    <a:pt x="1603" y="803"/>
                  </a:cubicBezTo>
                  <a:cubicBezTo>
                    <a:pt x="1603" y="1245"/>
                    <a:pt x="1245" y="1603"/>
                    <a:pt x="804" y="1603"/>
                  </a:cubicBezTo>
                  <a:cubicBezTo>
                    <a:pt x="362"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308" name="path 308"/>
            <p:cNvSpPr/>
            <p:nvPr/>
          </p:nvSpPr>
          <p:spPr>
            <a:xfrm>
              <a:off x="76580" y="3474339"/>
              <a:ext cx="1018032" cy="1014983"/>
            </a:xfrm>
            <a:custGeom>
              <a:avLst/>
              <a:gdLst/>
              <a:ahLst/>
              <a:cxnLst/>
              <a:rect l="0" t="0" r="0" b="0"/>
              <a:pathLst>
                <a:path w="1603" h="1598">
                  <a:moveTo>
                    <a:pt x="0" y="799"/>
                  </a:moveTo>
                  <a:cubicBezTo>
                    <a:pt x="0" y="357"/>
                    <a:pt x="358" y="0"/>
                    <a:pt x="801" y="0"/>
                  </a:cubicBezTo>
                  <a:cubicBezTo>
                    <a:pt x="1244" y="0"/>
                    <a:pt x="1603" y="357"/>
                    <a:pt x="1603" y="799"/>
                  </a:cubicBezTo>
                  <a:cubicBezTo>
                    <a:pt x="1603" y="1240"/>
                    <a:pt x="1244" y="1598"/>
                    <a:pt x="801" y="1598"/>
                  </a:cubicBezTo>
                  <a:cubicBezTo>
                    <a:pt x="358"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10" name="path 310"/>
            <p:cNvSpPr/>
            <p:nvPr/>
          </p:nvSpPr>
          <p:spPr>
            <a:xfrm>
              <a:off x="73532" y="3471291"/>
              <a:ext cx="1024127" cy="1021080"/>
            </a:xfrm>
            <a:custGeom>
              <a:avLst/>
              <a:gdLst/>
              <a:ahLst/>
              <a:cxnLst/>
              <a:rect l="0" t="0" r="0" b="0"/>
              <a:pathLst>
                <a:path w="1612" h="1608">
                  <a:moveTo>
                    <a:pt x="4" y="804"/>
                  </a:moveTo>
                  <a:cubicBezTo>
                    <a:pt x="4" y="362"/>
                    <a:pt x="363" y="4"/>
                    <a:pt x="806" y="4"/>
                  </a:cubicBezTo>
                  <a:cubicBezTo>
                    <a:pt x="1249" y="4"/>
                    <a:pt x="1608" y="362"/>
                    <a:pt x="1608" y="804"/>
                  </a:cubicBezTo>
                  <a:cubicBezTo>
                    <a:pt x="1608" y="1245"/>
                    <a:pt x="1249" y="1603"/>
                    <a:pt x="806" y="1603"/>
                  </a:cubicBezTo>
                  <a:cubicBezTo>
                    <a:pt x="363" y="1603"/>
                    <a:pt x="4" y="1245"/>
                    <a:pt x="4" y="804"/>
                  </a:cubicBezTo>
                </a:path>
              </a:pathLst>
            </a:custGeom>
            <a:noFill/>
            <a:ln w="6096" cap="flat">
              <a:solidFill>
                <a:srgbClr val="5B9BD5"/>
              </a:solidFill>
              <a:prstDash val="solid"/>
              <a:miter lim="1000000"/>
            </a:ln>
          </p:spPr>
          <p:txBody>
            <a:bodyPr rtlCol="0"/>
            <a:lstStyle/>
            <a:p>
              <a:pPr algn="ctr"/>
              <a:endParaRPr lang="zh-CN" altLang="en-US"/>
            </a:p>
          </p:txBody>
        </p:sp>
      </p:grpSp>
      <p:sp>
        <p:nvSpPr>
          <p:cNvPr id="312" name="textbox 312"/>
          <p:cNvSpPr/>
          <p:nvPr/>
        </p:nvSpPr>
        <p:spPr>
          <a:xfrm>
            <a:off x="2745984" y="491245"/>
            <a:ext cx="4472304" cy="476250"/>
          </a:xfrm>
          <a:prstGeom prst="rect">
            <a:avLst/>
          </a:prstGeom>
          <a:noFill/>
          <a:ln w="0" cap="flat">
            <a:noFill/>
            <a:prstDash val="solid"/>
            <a:miter lim="0"/>
          </a:ln>
        </p:spPr>
        <p:txBody>
          <a:bodyPr vert="horz" wrap="square" lIns="0" tIns="0" rIns="0" bIns="0"/>
          <a:lstStyle/>
          <a:p>
            <a:pPr algn="l" rtl="0" eaLnBrk="0">
              <a:lnSpc>
                <a:spcPct val="9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70" dirty="0">
                <a:solidFill>
                  <a:srgbClr val="1F4E79">
                    <a:alpha val="100000"/>
                  </a:srgbClr>
                </a:solidFill>
                <a:latin typeface="仿宋" panose="02010609060101010101" charset="-122"/>
                <a:ea typeface="仿宋" panose="02010609060101010101" charset="-122"/>
                <a:cs typeface="仿宋" panose="02010609060101010101" charset="-122"/>
              </a:rPr>
              <a:t>的轮函数</a:t>
            </a:r>
            <a:endParaRPr sz="3100" dirty="0">
              <a:latin typeface="仿宋" panose="02010609060101010101" charset="-122"/>
              <a:ea typeface="仿宋" panose="02010609060101010101" charset="-122"/>
              <a:cs typeface="仿宋" panose="02010609060101010101" charset="-122"/>
            </a:endParaRPr>
          </a:p>
        </p:txBody>
      </p:sp>
      <p:sp>
        <p:nvSpPr>
          <p:cNvPr id="316" name="path 31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318" name="picture 318"/>
          <p:cNvPicPr>
            <a:picLocks noChangeAspect="1"/>
          </p:cNvPicPr>
          <p:nvPr/>
        </p:nvPicPr>
        <p:blipFill>
          <a:blip r:embed="rId5"/>
          <a:stretch>
            <a:fillRect/>
          </a:stretch>
        </p:blipFill>
        <p:spPr>
          <a:xfrm rot="21600000">
            <a:off x="822960" y="408431"/>
            <a:ext cx="420623" cy="655320"/>
          </a:xfrm>
          <a:prstGeom prst="rect">
            <a:avLst/>
          </a:prstGeom>
        </p:spPr>
      </p:pic>
      <p:sp>
        <p:nvSpPr>
          <p:cNvPr id="320" name="path 32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textbox 322"/>
          <p:cNvSpPr/>
          <p:nvPr/>
        </p:nvSpPr>
        <p:spPr>
          <a:xfrm>
            <a:off x="1563474" y="1330823"/>
            <a:ext cx="8634730" cy="3009264"/>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pitchFamily="34" charset="0"/>
              <a:ea typeface="Arial" panose="020B0604020202020204" pitchFamily="34" charset="0"/>
              <a:cs typeface="Arial" panose="020B0604020202020204" pitchFamily="34" charset="0"/>
            </a:endParaRPr>
          </a:p>
          <a:p>
            <a:pPr marL="244475" indent="-231775" algn="l" rtl="0" eaLnBrk="0">
              <a:lnSpc>
                <a:spcPct val="90000"/>
              </a:lnSpc>
            </a:pPr>
            <a:r>
              <a:rPr sz="28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将每列视为</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GF(2</a:t>
            </a:r>
            <a:r>
              <a:rPr sz="2800" b="1" kern="0" spc="-10" baseline="30000" dirty="0">
                <a:solidFill>
                  <a:srgbClr val="000000">
                    <a:alpha val="100000"/>
                  </a:srgbClr>
                </a:solidFill>
                <a:latin typeface="Times New Roman" panose="02020603050405020304"/>
                <a:ea typeface="Times New Roman" panose="02020603050405020304"/>
                <a:cs typeface="Times New Roman" panose="02020603050405020304"/>
              </a:rPr>
              <a:t>8</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上多项式，与固定的多项式</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c(x)</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进</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行</a:t>
            </a:r>
            <a:r>
              <a:rPr sz="28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模</a:t>
            </a:r>
            <a:r>
              <a:rPr sz="2800" b="1" kern="0" spc="-40" dirty="0">
                <a:solidFill>
                  <a:srgbClr val="000000">
                    <a:alpha val="100000"/>
                  </a:srgbClr>
                </a:solidFill>
                <a:latin typeface="Times New Roman" panose="02020603050405020304"/>
                <a:ea typeface="Times New Roman" panose="02020603050405020304"/>
                <a:cs typeface="Times New Roman" panose="02020603050405020304"/>
              </a:rPr>
              <a:t>x</a:t>
            </a:r>
            <a:r>
              <a:rPr sz="2800" b="1" kern="0" spc="-40" baseline="30000" dirty="0">
                <a:solidFill>
                  <a:srgbClr val="000000">
                    <a:alpha val="100000"/>
                  </a:srgbClr>
                </a:solidFill>
                <a:latin typeface="Times New Roman" panose="02020603050405020304"/>
                <a:ea typeface="Times New Roman" panose="02020603050405020304"/>
                <a:cs typeface="Times New Roman" panose="02020603050405020304"/>
              </a:rPr>
              <a:t>4</a:t>
            </a:r>
            <a:r>
              <a:rPr sz="2800" b="1" kern="0" spc="-40" dirty="0">
                <a:solidFill>
                  <a:srgbClr val="000000">
                    <a:alpha val="100000"/>
                  </a:srgbClr>
                </a:solidFill>
                <a:latin typeface="Times New Roman" panose="02020603050405020304"/>
                <a:ea typeface="Times New Roman" panose="02020603050405020304"/>
                <a:cs typeface="Times New Roman" panose="02020603050405020304"/>
              </a:rPr>
              <a:t>+1</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乘法，记为</a:t>
            </a:r>
            <a:r>
              <a:rPr sz="6000" kern="0" spc="-40" baseline="-7000" dirty="0">
                <a:solidFill>
                  <a:srgbClr val="000000">
                    <a:alpha val="100000"/>
                  </a:srgbClr>
                </a:solidFill>
                <a:latin typeface="微软雅黑" panose="020B0503020204020204" charset="-122"/>
                <a:ea typeface="微软雅黑" panose="020B0503020204020204" charset="-122"/>
                <a:cs typeface="微软雅黑" panose="020B0503020204020204" charset="-122"/>
              </a:rPr>
              <a:t>②</a:t>
            </a:r>
            <a:r>
              <a:rPr sz="3900" kern="0" spc="-8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800" b="1" kern="0" spc="-4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要求</a:t>
            </a:r>
            <a:r>
              <a:rPr sz="2800" b="1" kern="0" spc="-40" dirty="0">
                <a:solidFill>
                  <a:srgbClr val="000000">
                    <a:alpha val="100000"/>
                  </a:srgbClr>
                </a:solidFill>
                <a:latin typeface="Times New Roman" panose="02020603050405020304"/>
                <a:ea typeface="Times New Roman" panose="02020603050405020304"/>
                <a:cs typeface="Times New Roman" panose="02020603050405020304"/>
              </a:rPr>
              <a:t>c(x)</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模</a:t>
            </a:r>
            <a:r>
              <a:rPr sz="2800" b="1" kern="0" spc="-40" dirty="0">
                <a:solidFill>
                  <a:srgbClr val="000000">
                    <a:alpha val="100000"/>
                  </a:srgbClr>
                </a:solidFill>
                <a:latin typeface="Times New Roman" panose="02020603050405020304"/>
                <a:ea typeface="Times New Roman" panose="02020603050405020304"/>
                <a:cs typeface="Times New Roman" panose="02020603050405020304"/>
              </a:rPr>
              <a:t>x</a:t>
            </a:r>
            <a:r>
              <a:rPr sz="2800" b="1" kern="0" spc="-40" baseline="30000" dirty="0">
                <a:solidFill>
                  <a:srgbClr val="000000">
                    <a:alpha val="100000"/>
                  </a:srgbClr>
                </a:solidFill>
                <a:latin typeface="Times New Roman" panose="02020603050405020304"/>
                <a:ea typeface="Times New Roman" panose="02020603050405020304"/>
                <a:cs typeface="Times New Roman" panose="02020603050405020304"/>
              </a:rPr>
              <a:t>4</a:t>
            </a:r>
            <a:r>
              <a:rPr sz="2800" b="1" kern="0" spc="-40" dirty="0">
                <a:solidFill>
                  <a:srgbClr val="000000">
                    <a:alpha val="100000"/>
                  </a:srgbClr>
                </a:solidFill>
                <a:latin typeface="Times New Roman" panose="02020603050405020304"/>
                <a:ea typeface="Times New Roman" panose="02020603050405020304"/>
                <a:cs typeface="Times New Roman" panose="02020603050405020304"/>
              </a:rPr>
              <a:t>+1</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可逆。</a:t>
            </a:r>
            <a:endParaRPr sz="2800" dirty="0">
              <a:latin typeface="仿宋" panose="02010609060101010101" charset="-122"/>
              <a:ea typeface="仿宋" panose="02010609060101010101" charset="-122"/>
              <a:cs typeface="仿宋" panose="02010609060101010101" charset="-122"/>
            </a:endParaRPr>
          </a:p>
          <a:p>
            <a:pPr marL="12700" algn="l" rtl="0" eaLnBrk="0">
              <a:lnSpc>
                <a:spcPct val="93000"/>
              </a:lnSpc>
              <a:spcBef>
                <a:spcPts val="1840"/>
              </a:spcBef>
            </a:pPr>
            <a:r>
              <a:rPr sz="28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8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表示为</a:t>
            </a:r>
            <a:r>
              <a:rPr sz="2800" b="1" kern="0" spc="-20" dirty="0">
                <a:solidFill>
                  <a:srgbClr val="000000">
                    <a:alpha val="100000"/>
                  </a:srgbClr>
                </a:solidFill>
                <a:latin typeface="Times New Roman" panose="02020603050405020304"/>
                <a:ea typeface="Times New Roman" panose="02020603050405020304"/>
                <a:cs typeface="Times New Roman" panose="02020603050405020304"/>
              </a:rPr>
              <a:t>MixColumn(State)</a:t>
            </a:r>
            <a:endParaRPr sz="2800" dirty="0">
              <a:latin typeface="Times New Roman" panose="02020603050405020304"/>
              <a:ea typeface="Times New Roman" panose="02020603050405020304"/>
              <a:cs typeface="Times New Roman" panose="02020603050405020304"/>
            </a:endParaRPr>
          </a:p>
          <a:p>
            <a:pPr algn="l" rtl="0" eaLnBrk="0">
              <a:lnSpc>
                <a:spcPct val="122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2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2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2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8000"/>
              </a:lnSpc>
            </a:pPr>
            <a:endParaRPr sz="900" dirty="0">
              <a:latin typeface="Arial" panose="020B0604020202020204" pitchFamily="34" charset="0"/>
              <a:ea typeface="Arial" panose="020B0604020202020204" pitchFamily="34" charset="0"/>
              <a:cs typeface="Arial" panose="020B0604020202020204" pitchFamily="34" charset="0"/>
            </a:endParaRPr>
          </a:p>
          <a:p>
            <a:pPr marL="1720850" algn="l" rtl="0" eaLnBrk="0">
              <a:lnSpc>
                <a:spcPct val="91000"/>
              </a:lnSpc>
              <a:spcBef>
                <a:spcPts val="5"/>
              </a:spcBef>
            </a:pPr>
            <a:r>
              <a:rPr sz="3900" i="1" kern="0" spc="-40" dirty="0">
                <a:solidFill>
                  <a:srgbClr val="000000">
                    <a:alpha val="100000"/>
                  </a:srgbClr>
                </a:solidFill>
                <a:latin typeface="Times New Roman" panose="02020603050405020304"/>
                <a:ea typeface="Times New Roman" panose="02020603050405020304"/>
                <a:cs typeface="Times New Roman" panose="02020603050405020304"/>
              </a:rPr>
              <a:t>c</a:t>
            </a:r>
            <a:r>
              <a:rPr sz="3900" kern="0" spc="-40" dirty="0">
                <a:solidFill>
                  <a:srgbClr val="000000">
                    <a:alpha val="100000"/>
                  </a:srgbClr>
                </a:solidFill>
                <a:latin typeface="Times New Roman" panose="02020603050405020304"/>
                <a:ea typeface="Times New Roman" panose="02020603050405020304"/>
                <a:cs typeface="Times New Roman" panose="02020603050405020304"/>
              </a:rPr>
              <a:t>(</a:t>
            </a:r>
            <a:r>
              <a:rPr sz="3900" i="1" kern="0" spc="-40" dirty="0">
                <a:solidFill>
                  <a:srgbClr val="000000">
                    <a:alpha val="100000"/>
                  </a:srgbClr>
                </a:solidFill>
                <a:latin typeface="Times New Roman" panose="02020603050405020304"/>
                <a:ea typeface="Times New Roman" panose="02020603050405020304"/>
                <a:cs typeface="Times New Roman" panose="02020603050405020304"/>
              </a:rPr>
              <a:t>x</a:t>
            </a:r>
            <a:r>
              <a:rPr sz="39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39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3900" kern="0" spc="-40" dirty="0">
                <a:solidFill>
                  <a:srgbClr val="000000">
                    <a:alpha val="100000"/>
                  </a:srgbClr>
                </a:solidFill>
                <a:latin typeface="Times New Roman" panose="02020603050405020304"/>
                <a:ea typeface="Times New Roman" panose="02020603050405020304"/>
                <a:cs typeface="Times New Roman" panose="02020603050405020304"/>
              </a:rPr>
              <a:t>'03'</a:t>
            </a:r>
            <a:r>
              <a:rPr sz="3900" kern="0" spc="-470" dirty="0">
                <a:solidFill>
                  <a:srgbClr val="000000">
                    <a:alpha val="100000"/>
                  </a:srgbClr>
                </a:solidFill>
                <a:latin typeface="Times New Roman" panose="02020603050405020304"/>
                <a:ea typeface="Times New Roman" panose="02020603050405020304"/>
                <a:cs typeface="Times New Roman" panose="02020603050405020304"/>
              </a:rPr>
              <a:t> </a:t>
            </a:r>
            <a:r>
              <a:rPr sz="3900" i="1" kern="0" spc="-40" dirty="0">
                <a:solidFill>
                  <a:srgbClr val="000000">
                    <a:alpha val="100000"/>
                  </a:srgbClr>
                </a:solidFill>
                <a:latin typeface="Times New Roman" panose="02020603050405020304"/>
                <a:ea typeface="Times New Roman" panose="02020603050405020304"/>
                <a:cs typeface="Times New Roman" panose="02020603050405020304"/>
              </a:rPr>
              <a:t>x</a:t>
            </a:r>
            <a:r>
              <a:rPr sz="3500" kern="0" spc="-40" baseline="51000" dirty="0">
                <a:solidFill>
                  <a:srgbClr val="000000">
                    <a:alpha val="100000"/>
                  </a:srgbClr>
                </a:solidFill>
                <a:latin typeface="Times New Roman" panose="02020603050405020304"/>
                <a:ea typeface="Times New Roman" panose="02020603050405020304"/>
                <a:cs typeface="Times New Roman" panose="02020603050405020304"/>
              </a:rPr>
              <a:t>3</a:t>
            </a:r>
            <a:r>
              <a:rPr sz="22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39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3900" kern="0" spc="-40" dirty="0">
                <a:solidFill>
                  <a:srgbClr val="000000">
                    <a:alpha val="100000"/>
                  </a:srgbClr>
                </a:solidFill>
                <a:latin typeface="Times New Roman" panose="02020603050405020304"/>
                <a:ea typeface="Times New Roman" panose="02020603050405020304"/>
                <a:cs typeface="Times New Roman" panose="02020603050405020304"/>
              </a:rPr>
              <a:t>'01'</a:t>
            </a:r>
            <a:r>
              <a:rPr sz="3900" kern="0" spc="-460" dirty="0">
                <a:solidFill>
                  <a:srgbClr val="000000">
                    <a:alpha val="100000"/>
                  </a:srgbClr>
                </a:solidFill>
                <a:latin typeface="Times New Roman" panose="02020603050405020304"/>
                <a:ea typeface="Times New Roman" panose="02020603050405020304"/>
                <a:cs typeface="Times New Roman" panose="02020603050405020304"/>
              </a:rPr>
              <a:t> </a:t>
            </a:r>
            <a:r>
              <a:rPr sz="3900" i="1" kern="0" spc="-40" dirty="0">
                <a:solidFill>
                  <a:srgbClr val="000000">
                    <a:alpha val="100000"/>
                  </a:srgbClr>
                </a:solidFill>
                <a:latin typeface="Times New Roman" panose="02020603050405020304"/>
                <a:ea typeface="Times New Roman" panose="02020603050405020304"/>
                <a:cs typeface="Times New Roman" panose="02020603050405020304"/>
              </a:rPr>
              <a:t>x</a:t>
            </a:r>
            <a:r>
              <a:rPr sz="3500" kern="0" spc="-40" baseline="51000" dirty="0">
                <a:solidFill>
                  <a:srgbClr val="000000">
                    <a:alpha val="100000"/>
                  </a:srgbClr>
                </a:solidFill>
                <a:latin typeface="Times New Roman" panose="02020603050405020304"/>
                <a:ea typeface="Times New Roman" panose="02020603050405020304"/>
                <a:cs typeface="Times New Roman" panose="02020603050405020304"/>
              </a:rPr>
              <a:t>2</a:t>
            </a:r>
            <a:r>
              <a:rPr sz="22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39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3900" kern="0" spc="-40" dirty="0">
                <a:solidFill>
                  <a:srgbClr val="000000">
                    <a:alpha val="100000"/>
                  </a:srgbClr>
                </a:solidFill>
                <a:latin typeface="Times New Roman" panose="02020603050405020304"/>
                <a:ea typeface="Times New Roman" panose="02020603050405020304"/>
                <a:cs typeface="Times New Roman" panose="02020603050405020304"/>
              </a:rPr>
              <a:t>'01'</a:t>
            </a:r>
            <a:r>
              <a:rPr sz="3900" kern="0" spc="-460" dirty="0">
                <a:solidFill>
                  <a:srgbClr val="000000">
                    <a:alpha val="100000"/>
                  </a:srgbClr>
                </a:solidFill>
                <a:latin typeface="Times New Roman" panose="02020603050405020304"/>
                <a:ea typeface="Times New Roman" panose="02020603050405020304"/>
                <a:cs typeface="Times New Roman" panose="02020603050405020304"/>
              </a:rPr>
              <a:t> </a:t>
            </a:r>
            <a:r>
              <a:rPr sz="3900" i="1" kern="0" spc="-40" dirty="0">
                <a:solidFill>
                  <a:srgbClr val="000000">
                    <a:alpha val="100000"/>
                  </a:srgbClr>
                </a:solidFill>
                <a:latin typeface="Times New Roman" panose="02020603050405020304"/>
                <a:ea typeface="Times New Roman" panose="02020603050405020304"/>
                <a:cs typeface="Times New Roman" panose="02020603050405020304"/>
              </a:rPr>
              <a:t>x</a:t>
            </a:r>
            <a:r>
              <a:rPr sz="39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3900" kern="0" spc="-50" dirty="0">
                <a:solidFill>
                  <a:srgbClr val="000000">
                    <a:alpha val="100000"/>
                  </a:srgbClr>
                </a:solidFill>
                <a:latin typeface="Times New Roman" panose="02020603050405020304"/>
                <a:ea typeface="Times New Roman" panose="02020603050405020304"/>
                <a:cs typeface="Times New Roman" panose="02020603050405020304"/>
              </a:rPr>
              <a:t>'02'</a:t>
            </a:r>
            <a:endParaRPr sz="3900" dirty="0">
              <a:latin typeface="Times New Roman" panose="02020603050405020304"/>
              <a:ea typeface="Times New Roman" panose="02020603050405020304"/>
              <a:cs typeface="Times New Roman" panose="02020603050405020304"/>
            </a:endParaRPr>
          </a:p>
        </p:txBody>
      </p:sp>
      <p:sp>
        <p:nvSpPr>
          <p:cNvPr id="326" name="textbox 326"/>
          <p:cNvSpPr/>
          <p:nvPr/>
        </p:nvSpPr>
        <p:spPr>
          <a:xfrm>
            <a:off x="1582680" y="491245"/>
            <a:ext cx="1209675" cy="482600"/>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20" dirty="0">
                <a:solidFill>
                  <a:srgbClr val="0563C1">
                    <a:alpha val="100000"/>
                  </a:srgbClr>
                </a:solidFill>
                <a:latin typeface="仿宋" panose="02010609060101010101" charset="-122"/>
                <a:ea typeface="仿宋" panose="02010609060101010101" charset="-122"/>
                <a:cs typeface="仿宋" panose="02010609060101010101" charset="-122"/>
              </a:rPr>
              <a:t>列混淆</a:t>
            </a:r>
            <a:endParaRPr sz="3100" dirty="0">
              <a:latin typeface="仿宋" panose="02010609060101010101" charset="-122"/>
              <a:ea typeface="仿宋" panose="02010609060101010101" charset="-122"/>
              <a:cs typeface="仿宋" panose="02010609060101010101" charset="-122"/>
            </a:endParaRPr>
          </a:p>
        </p:txBody>
      </p:sp>
      <p:sp>
        <p:nvSpPr>
          <p:cNvPr id="328" name="path 32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330" name="picture 330"/>
          <p:cNvPicPr>
            <a:picLocks noChangeAspect="1"/>
          </p:cNvPicPr>
          <p:nvPr/>
        </p:nvPicPr>
        <p:blipFill>
          <a:blip r:embed="rId1"/>
          <a:stretch>
            <a:fillRect/>
          </a:stretch>
        </p:blipFill>
        <p:spPr>
          <a:xfrm rot="21600000">
            <a:off x="822960" y="408431"/>
            <a:ext cx="420623" cy="655320"/>
          </a:xfrm>
          <a:prstGeom prst="rect">
            <a:avLst/>
          </a:prstGeom>
        </p:spPr>
      </p:pic>
      <p:sp>
        <p:nvSpPr>
          <p:cNvPr id="332" name="path 33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1344295" y="1209040"/>
            <a:ext cx="9685655" cy="376872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textbox 334"/>
          <p:cNvSpPr/>
          <p:nvPr/>
        </p:nvSpPr>
        <p:spPr>
          <a:xfrm>
            <a:off x="1216885" y="1515601"/>
            <a:ext cx="9432290" cy="3582670"/>
          </a:xfrm>
          <a:prstGeom prst="rect">
            <a:avLst/>
          </a:prstGeom>
          <a:noFill/>
          <a:ln w="0" cap="flat">
            <a:noFill/>
            <a:prstDash val="solid"/>
            <a:miter lim="0"/>
          </a:ln>
        </p:spPr>
        <p:txBody>
          <a:bodyPr vert="horz" wrap="square" lIns="0" tIns="0" rIns="0" bIns="0"/>
          <a:lstStyle/>
          <a:p>
            <a:pPr algn="l" rtl="0" eaLnBrk="0">
              <a:lnSpc>
                <a:spcPct val="6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1000"/>
              </a:lnSpc>
            </a:pPr>
            <a:r>
              <a:rPr sz="4300" b="1" kern="0" spc="40" baseline="4000" dirty="0">
                <a:solidFill>
                  <a:srgbClr val="000000">
                    <a:alpha val="100000"/>
                  </a:srgbClr>
                </a:solidFill>
                <a:latin typeface="仿宋" panose="02010609060101010101" charset="-122"/>
                <a:ea typeface="仿宋" panose="02010609060101010101" charset="-122"/>
                <a:cs typeface="仿宋" panose="02010609060101010101" charset="-122"/>
              </a:rPr>
              <a:t>列混淆运算也可写为矩阵乘法。设</a:t>
            </a:r>
            <a:r>
              <a:rPr sz="2700" kern="0" spc="40" dirty="0">
                <a:solidFill>
                  <a:srgbClr val="000000">
                    <a:alpha val="100000"/>
                  </a:srgbClr>
                </a:solidFill>
                <a:latin typeface="仿宋" panose="02010609060101010101" charset="-122"/>
                <a:ea typeface="仿宋" panose="02010609060101010101" charset="-122"/>
                <a:cs typeface="仿宋" panose="02010609060101010101" charset="-122"/>
              </a:rPr>
              <a:t> </a:t>
            </a:r>
            <a:r>
              <a:rPr sz="3300" i="1" kern="0" spc="40" dirty="0">
                <a:solidFill>
                  <a:srgbClr val="000000">
                    <a:alpha val="100000"/>
                  </a:srgbClr>
                </a:solidFill>
                <a:latin typeface="Times New Roman" panose="02020603050405020304"/>
                <a:ea typeface="Times New Roman" panose="02020603050405020304"/>
                <a:cs typeface="Times New Roman" panose="02020603050405020304"/>
              </a:rPr>
              <a:t>b</a:t>
            </a:r>
            <a:r>
              <a:rPr sz="3300" kern="0" spc="40" dirty="0">
                <a:solidFill>
                  <a:srgbClr val="000000">
                    <a:alpha val="100000"/>
                  </a:srgbClr>
                </a:solidFill>
                <a:latin typeface="Times New Roman" panose="02020603050405020304"/>
                <a:ea typeface="Times New Roman" panose="02020603050405020304"/>
                <a:cs typeface="Times New Roman" panose="02020603050405020304"/>
              </a:rPr>
              <a:t>(</a:t>
            </a:r>
            <a:r>
              <a:rPr sz="3300" i="1" kern="0" spc="40" dirty="0">
                <a:solidFill>
                  <a:srgbClr val="000000">
                    <a:alpha val="100000"/>
                  </a:srgbClr>
                </a:solidFill>
                <a:latin typeface="Times New Roman" panose="02020603050405020304"/>
                <a:ea typeface="Times New Roman" panose="02020603050405020304"/>
                <a:cs typeface="Times New Roman" panose="02020603050405020304"/>
              </a:rPr>
              <a:t>x</a:t>
            </a:r>
            <a:r>
              <a:rPr sz="33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3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33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300" i="1" kern="0" spc="40" dirty="0">
                <a:solidFill>
                  <a:srgbClr val="000000">
                    <a:alpha val="100000"/>
                  </a:srgbClr>
                </a:solidFill>
                <a:latin typeface="Times New Roman" panose="02020603050405020304"/>
                <a:ea typeface="Times New Roman" panose="02020603050405020304"/>
                <a:cs typeface="Times New Roman" panose="02020603050405020304"/>
              </a:rPr>
              <a:t>c</a:t>
            </a:r>
            <a:r>
              <a:rPr sz="3300" kern="0" spc="40" dirty="0">
                <a:solidFill>
                  <a:srgbClr val="000000">
                    <a:alpha val="100000"/>
                  </a:srgbClr>
                </a:solidFill>
                <a:latin typeface="Times New Roman" panose="02020603050405020304"/>
                <a:ea typeface="Times New Roman" panose="02020603050405020304"/>
                <a:cs typeface="Times New Roman" panose="02020603050405020304"/>
              </a:rPr>
              <a:t>(</a:t>
            </a:r>
            <a:r>
              <a:rPr sz="3300" i="1" kern="0" spc="40" dirty="0">
                <a:solidFill>
                  <a:srgbClr val="000000">
                    <a:alpha val="100000"/>
                  </a:srgbClr>
                </a:solidFill>
                <a:latin typeface="Times New Roman" panose="02020603050405020304"/>
                <a:ea typeface="Times New Roman" panose="02020603050405020304"/>
                <a:cs typeface="Times New Roman" panose="02020603050405020304"/>
              </a:rPr>
              <a:t>x</a:t>
            </a:r>
            <a:r>
              <a:rPr sz="3300" kern="0" spc="40" dirty="0">
                <a:solidFill>
                  <a:srgbClr val="000000">
                    <a:alpha val="100000"/>
                  </a:srgbClr>
                </a:solidFill>
                <a:latin typeface="Times New Roman" panose="02020603050405020304"/>
                <a:ea typeface="Times New Roman" panose="02020603050405020304"/>
                <a:cs typeface="Times New Roman" panose="02020603050405020304"/>
              </a:rPr>
              <a:t>)</a:t>
            </a:r>
            <a:r>
              <a:rPr sz="33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②</a:t>
            </a:r>
            <a:r>
              <a:rPr sz="3300" kern="0" spc="-5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300" i="1" kern="0" spc="30" dirty="0">
                <a:solidFill>
                  <a:srgbClr val="000000">
                    <a:alpha val="100000"/>
                  </a:srgbClr>
                </a:solidFill>
                <a:latin typeface="Times New Roman" panose="02020603050405020304"/>
                <a:ea typeface="Times New Roman" panose="02020603050405020304"/>
                <a:cs typeface="Times New Roman" panose="02020603050405020304"/>
              </a:rPr>
              <a:t>a</a:t>
            </a:r>
            <a:r>
              <a:rPr sz="33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3300" i="1" kern="0" spc="30" dirty="0">
                <a:solidFill>
                  <a:srgbClr val="000000">
                    <a:alpha val="100000"/>
                  </a:srgbClr>
                </a:solidFill>
                <a:latin typeface="Times New Roman" panose="02020603050405020304"/>
                <a:ea typeface="Times New Roman" panose="02020603050405020304"/>
                <a:cs typeface="Times New Roman" panose="02020603050405020304"/>
              </a:rPr>
              <a:t>x</a:t>
            </a:r>
            <a:r>
              <a:rPr sz="33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，则</a:t>
            </a:r>
            <a:endParaRPr sz="2800" dirty="0">
              <a:latin typeface="仿宋" panose="02010609060101010101" charset="-122"/>
              <a:ea typeface="仿宋" panose="02010609060101010101" charset="-122"/>
              <a:cs typeface="仿宋" panose="02010609060101010101" charset="-122"/>
            </a:endParaRPr>
          </a:p>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9000"/>
              </a:lnSpc>
            </a:pPr>
            <a:endParaRPr sz="200" dirty="0">
              <a:latin typeface="Arial" panose="020B0604020202020204" pitchFamily="34" charset="0"/>
              <a:ea typeface="Arial" panose="020B0604020202020204" pitchFamily="34" charset="0"/>
              <a:cs typeface="Arial" panose="020B0604020202020204" pitchFamily="34" charset="0"/>
            </a:endParaRPr>
          </a:p>
          <a:p>
            <a:pPr marL="1823085" algn="l" defTabSz="0" rtl="0" eaLnBrk="0">
              <a:lnSpc>
                <a:spcPts val="19300"/>
              </a:lnSpc>
              <a:spcBef>
                <a:spcPts val="0"/>
              </a:spcBef>
              <a:tabLst>
                <a:tab pos="7150735" algn="l"/>
              </a:tabLst>
            </a:pPr>
            <a:r>
              <a:rPr sz="10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endParaRPr sz="1000" dirty="0">
              <a:latin typeface="Arial" panose="020B0604020202020204" pitchFamily="34" charset="0"/>
              <a:ea typeface="Arial" panose="020B0604020202020204" pitchFamily="34" charset="0"/>
              <a:cs typeface="Arial" panose="020B0604020202020204" pitchFamily="34" charset="0"/>
            </a:endParaRPr>
          </a:p>
        </p:txBody>
      </p:sp>
      <p:pic>
        <p:nvPicPr>
          <p:cNvPr id="336" name="picture 336"/>
          <p:cNvPicPr>
            <a:picLocks noChangeAspect="1"/>
          </p:cNvPicPr>
          <p:nvPr/>
        </p:nvPicPr>
        <p:blipFill>
          <a:blip r:embed="rId1"/>
          <a:stretch>
            <a:fillRect/>
          </a:stretch>
        </p:blipFill>
        <p:spPr>
          <a:xfrm rot="21600000">
            <a:off x="3040601" y="2634392"/>
            <a:ext cx="5328239" cy="2451076"/>
          </a:xfrm>
          <a:prstGeom prst="rect">
            <a:avLst/>
          </a:prstGeom>
        </p:spPr>
      </p:pic>
      <p:sp>
        <p:nvSpPr>
          <p:cNvPr id="338" name="textbox 338"/>
          <p:cNvSpPr/>
          <p:nvPr/>
        </p:nvSpPr>
        <p:spPr>
          <a:xfrm>
            <a:off x="810260" y="395731"/>
            <a:ext cx="4020184" cy="729615"/>
          </a:xfrm>
          <a:prstGeom prst="rect">
            <a:avLst/>
          </a:prstGeom>
          <a:noFill/>
          <a:ln w="0" cap="flat">
            <a:noFill/>
            <a:prstDash val="solid"/>
            <a:miter lim="0"/>
          </a:ln>
        </p:spPr>
        <p:txBody>
          <a:bodyPr vert="horz" wrap="square" lIns="0" tIns="0" rIns="0" bIns="0"/>
          <a:lstStyle/>
          <a:p>
            <a:pPr algn="l" rtl="0" eaLnBrk="0">
              <a:lnSpc>
                <a:spcPct val="101000"/>
              </a:lnSpc>
            </a:pPr>
            <a:endParaRPr sz="700" dirty="0">
              <a:latin typeface="Arial" panose="020B0604020202020204" pitchFamily="34" charset="0"/>
              <a:ea typeface="Arial" panose="020B0604020202020204" pitchFamily="34" charset="0"/>
              <a:cs typeface="Arial" panose="020B0604020202020204" pitchFamily="34" charset="0"/>
            </a:endParaRPr>
          </a:p>
          <a:p>
            <a:pPr marL="433070" algn="l" defTabSz="0" rtl="0" eaLnBrk="0">
              <a:lnSpc>
                <a:spcPct val="96000"/>
              </a:lnSpc>
              <a:spcBef>
                <a:spcPts val="5"/>
              </a:spcBef>
              <a:tabLst>
                <a:tab pos="784225" algn="l"/>
              </a:tabLst>
            </a:pPr>
            <a:r>
              <a:rPr sz="31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100" b="1" kern="0" spc="50" dirty="0">
                <a:solidFill>
                  <a:srgbClr val="1F4E79">
                    <a:alpha val="100000"/>
                  </a:srgbClr>
                </a:solidFill>
                <a:latin typeface="仿宋" panose="02010609060101010101" charset="-122"/>
                <a:ea typeface="仿宋" panose="02010609060101010101" charset="-122"/>
                <a:cs typeface="仿宋" panose="02010609060101010101" charset="-122"/>
              </a:rPr>
              <a:t>列混淆的矩阵表示</a:t>
            </a:r>
            <a:endParaRPr sz="3100" dirty="0">
              <a:latin typeface="仿宋" panose="02010609060101010101" charset="-122"/>
              <a:ea typeface="仿宋" panose="02010609060101010101" charset="-122"/>
              <a:cs typeface="仿宋" panose="02010609060101010101" charset="-122"/>
            </a:endParaRPr>
          </a:p>
        </p:txBody>
      </p:sp>
      <p:pic>
        <p:nvPicPr>
          <p:cNvPr id="340" name="picture 340"/>
          <p:cNvPicPr>
            <a:picLocks noChangeAspect="1"/>
          </p:cNvPicPr>
          <p:nvPr/>
        </p:nvPicPr>
        <p:blipFill>
          <a:blip r:embed="rId2"/>
          <a:stretch>
            <a:fillRect/>
          </a:stretch>
        </p:blipFill>
        <p:spPr>
          <a:xfrm rot="21600000">
            <a:off x="822960" y="408431"/>
            <a:ext cx="420623" cy="655320"/>
          </a:xfrm>
          <a:prstGeom prst="rect">
            <a:avLst/>
          </a:prstGeom>
        </p:spPr>
      </p:pic>
      <p:sp>
        <p:nvSpPr>
          <p:cNvPr id="344" name="path 344"/>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346" name="path 34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3"/>
          <a:stretch>
            <a:fillRect/>
          </a:stretch>
        </p:blipFill>
        <p:spPr>
          <a:xfrm>
            <a:off x="979170" y="1337310"/>
            <a:ext cx="10213340" cy="440055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 name="picture 348"/>
          <p:cNvPicPr>
            <a:picLocks noChangeAspect="1"/>
          </p:cNvPicPr>
          <p:nvPr/>
        </p:nvPicPr>
        <p:blipFill>
          <a:blip r:embed="rId1"/>
          <a:stretch>
            <a:fillRect/>
          </a:stretch>
        </p:blipFill>
        <p:spPr>
          <a:xfrm rot="21600000">
            <a:off x="1917191" y="1676400"/>
            <a:ext cx="8135112" cy="3383280"/>
          </a:xfrm>
          <a:prstGeom prst="rect">
            <a:avLst/>
          </a:prstGeom>
        </p:spPr>
      </p:pic>
      <p:sp>
        <p:nvSpPr>
          <p:cNvPr id="350" name="textbox 350"/>
          <p:cNvSpPr/>
          <p:nvPr/>
        </p:nvSpPr>
        <p:spPr>
          <a:xfrm>
            <a:off x="1582680" y="491245"/>
            <a:ext cx="3248025"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50" dirty="0">
                <a:solidFill>
                  <a:srgbClr val="1F4E79">
                    <a:alpha val="100000"/>
                  </a:srgbClr>
                </a:solidFill>
                <a:latin typeface="仿宋" panose="02010609060101010101" charset="-122"/>
                <a:ea typeface="仿宋" panose="02010609060101010101" charset="-122"/>
                <a:cs typeface="仿宋" panose="02010609060101010101" charset="-122"/>
              </a:rPr>
              <a:t>列混淆运算示意图</a:t>
            </a:r>
            <a:endParaRPr sz="3100" dirty="0">
              <a:latin typeface="仿宋" panose="02010609060101010101" charset="-122"/>
              <a:ea typeface="仿宋" panose="02010609060101010101" charset="-122"/>
              <a:cs typeface="仿宋" panose="02010609060101010101" charset="-122"/>
            </a:endParaRPr>
          </a:p>
        </p:txBody>
      </p:sp>
      <p:sp>
        <p:nvSpPr>
          <p:cNvPr id="354" name="path 354"/>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356" name="picture 356"/>
          <p:cNvPicPr>
            <a:picLocks noChangeAspect="1"/>
          </p:cNvPicPr>
          <p:nvPr/>
        </p:nvPicPr>
        <p:blipFill>
          <a:blip r:embed="rId2"/>
          <a:stretch>
            <a:fillRect/>
          </a:stretch>
        </p:blipFill>
        <p:spPr>
          <a:xfrm rot="21600000">
            <a:off x="822960" y="408431"/>
            <a:ext cx="420623" cy="655320"/>
          </a:xfrm>
          <a:prstGeom prst="rect">
            <a:avLst/>
          </a:prstGeom>
        </p:spPr>
      </p:pic>
      <p:sp>
        <p:nvSpPr>
          <p:cNvPr id="358" name="path 358"/>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textbox 360"/>
          <p:cNvSpPr/>
          <p:nvPr/>
        </p:nvSpPr>
        <p:spPr>
          <a:xfrm>
            <a:off x="1317110" y="1373234"/>
            <a:ext cx="9616440" cy="3494404"/>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pPr>
            <a:r>
              <a:rPr sz="2800"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3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逆列混淆变换是列混淆变换的逆</a:t>
            </a:r>
            <a:endParaRPr sz="2800" dirty="0">
              <a:latin typeface="仿宋" panose="02010609060101010101" charset="-122"/>
              <a:ea typeface="仿宋" panose="02010609060101010101" charset="-122"/>
              <a:cs typeface="仿宋" panose="02010609060101010101" charset="-122"/>
            </a:endParaRPr>
          </a:p>
          <a:p>
            <a:pPr marL="266700" indent="-254000" algn="l" rtl="0" eaLnBrk="0">
              <a:lnSpc>
                <a:spcPct val="111000"/>
              </a:lnSpc>
              <a:spcBef>
                <a:spcPts val="1380"/>
              </a:spcBef>
            </a:pPr>
            <a:r>
              <a:rPr sz="28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5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它将状态矩阵中的每一列视为系数在</a:t>
            </a:r>
            <a:r>
              <a:rPr sz="3800" i="1" kern="0" spc="-10" baseline="8000" dirty="0">
                <a:solidFill>
                  <a:srgbClr val="000000">
                    <a:alpha val="100000"/>
                  </a:srgbClr>
                </a:solidFill>
                <a:latin typeface="Times New Roman" panose="02020603050405020304"/>
                <a:ea typeface="Times New Roman" panose="02020603050405020304"/>
                <a:cs typeface="Times New Roman" panose="02020603050405020304"/>
              </a:rPr>
              <a:t>GF</a:t>
            </a:r>
            <a:r>
              <a:rPr sz="3800" kern="0" spc="-10" baseline="8000" dirty="0">
                <a:solidFill>
                  <a:srgbClr val="000000">
                    <a:alpha val="100000"/>
                  </a:srgbClr>
                </a:solidFill>
                <a:latin typeface="Times New Roman" panose="02020603050405020304"/>
                <a:ea typeface="Times New Roman" panose="02020603050405020304"/>
                <a:cs typeface="Times New Roman" panose="02020603050405020304"/>
              </a:rPr>
              <a:t>(2</a:t>
            </a:r>
            <a:r>
              <a:rPr sz="2600" kern="0" spc="-10" baseline="58000" dirty="0">
                <a:solidFill>
                  <a:srgbClr val="000000">
                    <a:alpha val="100000"/>
                  </a:srgbClr>
                </a:solidFill>
                <a:latin typeface="Times New Roman" panose="02020603050405020304"/>
                <a:ea typeface="Times New Roman" panose="02020603050405020304"/>
                <a:cs typeface="Times New Roman" panose="02020603050405020304"/>
              </a:rPr>
              <a:t>8</a:t>
            </a:r>
            <a:r>
              <a:rPr sz="16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上的次数小于</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4</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的</a:t>
            </a:r>
            <a:r>
              <a:rPr sz="28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多项式与同一个固定的多</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项式</a:t>
            </a:r>
            <a:r>
              <a:rPr sz="2800" kern="0" spc="-67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i="1" kern="0" spc="-20" dirty="0">
                <a:solidFill>
                  <a:srgbClr val="000000">
                    <a:alpha val="100000"/>
                  </a:srgbClr>
                </a:solidFill>
                <a:latin typeface="Times New Roman" panose="02020603050405020304"/>
                <a:ea typeface="Times New Roman" panose="02020603050405020304"/>
                <a:cs typeface="Times New Roman" panose="02020603050405020304"/>
              </a:rPr>
              <a:t>d</a:t>
            </a:r>
            <a:r>
              <a:rPr sz="2800" b="1" kern="0" spc="-20" dirty="0">
                <a:solidFill>
                  <a:srgbClr val="000000">
                    <a:alpha val="100000"/>
                  </a:srgbClr>
                </a:solidFill>
                <a:latin typeface="Times New Roman" panose="02020603050405020304"/>
                <a:ea typeface="Times New Roman" panose="02020603050405020304"/>
                <a:cs typeface="Times New Roman" panose="02020603050405020304"/>
              </a:rPr>
              <a:t>(</a:t>
            </a:r>
            <a:r>
              <a:rPr sz="2800" b="1" i="1"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800" b="1" kern="0" spc="-2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相乘。</a:t>
            </a:r>
            <a:r>
              <a:rPr sz="2800" kern="0" spc="-68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i="1" kern="0" spc="-20" dirty="0">
                <a:solidFill>
                  <a:srgbClr val="000000">
                    <a:alpha val="100000"/>
                  </a:srgbClr>
                </a:solidFill>
                <a:latin typeface="Times New Roman" panose="02020603050405020304"/>
                <a:ea typeface="Times New Roman" panose="02020603050405020304"/>
                <a:cs typeface="Times New Roman" panose="02020603050405020304"/>
              </a:rPr>
              <a:t>d</a:t>
            </a:r>
            <a:r>
              <a:rPr sz="2800" b="1" kern="0" spc="-20" dirty="0">
                <a:solidFill>
                  <a:srgbClr val="000000">
                    <a:alpha val="100000"/>
                  </a:srgbClr>
                </a:solidFill>
                <a:latin typeface="Times New Roman" panose="02020603050405020304"/>
                <a:ea typeface="Times New Roman" panose="02020603050405020304"/>
                <a:cs typeface="Times New Roman" panose="02020603050405020304"/>
              </a:rPr>
              <a:t>(</a:t>
            </a:r>
            <a:r>
              <a:rPr sz="2800" b="1" i="1"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800" b="1" kern="0" spc="-2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满足</a:t>
            </a:r>
            <a:endParaRPr sz="2800" dirty="0">
              <a:latin typeface="仿宋" panose="02010609060101010101" charset="-122"/>
              <a:ea typeface="仿宋" panose="02010609060101010101" charset="-122"/>
              <a:cs typeface="仿宋" panose="02010609060101010101" charset="-122"/>
            </a:endParaRPr>
          </a:p>
          <a:p>
            <a:pPr marL="2163445" algn="l" rtl="0" eaLnBrk="0">
              <a:lnSpc>
                <a:spcPts val="3035"/>
              </a:lnSpc>
              <a:spcBef>
                <a:spcPts val="2060"/>
              </a:spcBef>
            </a:pPr>
            <a:r>
              <a:rPr sz="2800" b="1" kern="0" spc="-3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kern="0" spc="-30" dirty="0">
                <a:solidFill>
                  <a:srgbClr val="000000">
                    <a:alpha val="100000"/>
                  </a:srgbClr>
                </a:solidFill>
                <a:latin typeface="Times New Roman" panose="02020603050405020304"/>
                <a:ea typeface="Times New Roman" panose="02020603050405020304"/>
                <a:cs typeface="Times New Roman" panose="02020603050405020304"/>
              </a:rPr>
              <a:t>03</a:t>
            </a:r>
            <a:r>
              <a:rPr sz="2800" b="1"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i="1" kern="0" spc="-30" dirty="0">
                <a:solidFill>
                  <a:srgbClr val="000000">
                    <a:alpha val="100000"/>
                  </a:srgbClr>
                </a:solidFill>
                <a:latin typeface="Times New Roman" panose="02020603050405020304"/>
                <a:ea typeface="Times New Roman" panose="02020603050405020304"/>
                <a:cs typeface="Times New Roman" panose="02020603050405020304"/>
              </a:rPr>
              <a:t>x</a:t>
            </a:r>
            <a:r>
              <a:rPr sz="2800" b="1" kern="0" spc="-30" baseline="35000" dirty="0">
                <a:solidFill>
                  <a:srgbClr val="000000">
                    <a:alpha val="100000"/>
                  </a:srgbClr>
                </a:solidFill>
                <a:latin typeface="Times New Roman" panose="02020603050405020304"/>
                <a:ea typeface="Times New Roman" panose="02020603050405020304"/>
                <a:cs typeface="Times New Roman" panose="02020603050405020304"/>
              </a:rPr>
              <a:t>3</a:t>
            </a:r>
            <a:r>
              <a:rPr sz="2800" b="1" kern="0" spc="-3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kern="0" spc="-30" dirty="0">
                <a:solidFill>
                  <a:srgbClr val="000000">
                    <a:alpha val="100000"/>
                  </a:srgbClr>
                </a:solidFill>
                <a:latin typeface="Times New Roman" panose="02020603050405020304"/>
                <a:ea typeface="Times New Roman" panose="02020603050405020304"/>
                <a:cs typeface="Times New Roman" panose="02020603050405020304"/>
              </a:rPr>
              <a:t>01</a:t>
            </a:r>
            <a:r>
              <a:rPr sz="2800" b="1"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i="1" kern="0" spc="-30" dirty="0">
                <a:solidFill>
                  <a:srgbClr val="000000">
                    <a:alpha val="100000"/>
                  </a:srgbClr>
                </a:solidFill>
                <a:latin typeface="Times New Roman" panose="02020603050405020304"/>
                <a:ea typeface="Times New Roman" panose="02020603050405020304"/>
                <a:cs typeface="Times New Roman" panose="02020603050405020304"/>
              </a:rPr>
              <a:t>x</a:t>
            </a:r>
            <a:r>
              <a:rPr sz="2800" b="1" kern="0" spc="-30" baseline="35000" dirty="0">
                <a:solidFill>
                  <a:srgbClr val="000000">
                    <a:alpha val="100000"/>
                  </a:srgbClr>
                </a:solidFill>
                <a:latin typeface="Times New Roman" panose="02020603050405020304"/>
                <a:ea typeface="Times New Roman" panose="02020603050405020304"/>
                <a:cs typeface="Times New Roman" panose="02020603050405020304"/>
              </a:rPr>
              <a:t>2</a:t>
            </a:r>
            <a:r>
              <a:rPr sz="2800" b="1" kern="0" spc="-3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kern="0" spc="-30" dirty="0">
                <a:solidFill>
                  <a:srgbClr val="000000">
                    <a:alpha val="100000"/>
                  </a:srgbClr>
                </a:solidFill>
                <a:latin typeface="Times New Roman" panose="02020603050405020304"/>
                <a:ea typeface="Times New Roman" panose="02020603050405020304"/>
                <a:cs typeface="Times New Roman" panose="02020603050405020304"/>
              </a:rPr>
              <a:t>01</a:t>
            </a:r>
            <a:r>
              <a:rPr sz="2800" b="1"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i="1" kern="0" spc="-30" dirty="0">
                <a:solidFill>
                  <a:srgbClr val="000000">
                    <a:alpha val="100000"/>
                  </a:srgbClr>
                </a:solidFill>
                <a:latin typeface="Times New Roman" panose="02020603050405020304"/>
                <a:ea typeface="Times New Roman" panose="02020603050405020304"/>
                <a:cs typeface="Times New Roman" panose="02020603050405020304"/>
              </a:rPr>
              <a:t>x</a:t>
            </a:r>
            <a:r>
              <a:rPr sz="2800" b="1" kern="0" spc="-3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kern="0" spc="-30" dirty="0">
                <a:solidFill>
                  <a:srgbClr val="000000">
                    <a:alpha val="100000"/>
                  </a:srgbClr>
                </a:solidFill>
                <a:latin typeface="Times New Roman" panose="02020603050405020304"/>
                <a:ea typeface="Times New Roman" panose="02020603050405020304"/>
                <a:cs typeface="Times New Roman" panose="02020603050405020304"/>
              </a:rPr>
              <a:t>02</a:t>
            </a:r>
            <a:r>
              <a:rPr sz="2800" b="1"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kern="0" spc="-30" dirty="0">
                <a:solidFill>
                  <a:srgbClr val="000000">
                    <a:alpha val="100000"/>
                  </a:srgbClr>
                </a:solidFill>
                <a:latin typeface="Times New Roman" panose="02020603050405020304"/>
                <a:ea typeface="Times New Roman" panose="02020603050405020304"/>
                <a:cs typeface="Times New Roman" panose="02020603050405020304"/>
              </a:rPr>
              <a:t>)</a:t>
            </a:r>
            <a:r>
              <a:rPr sz="6000" kern="0" spc="-30" baseline="-5000" dirty="0">
                <a:solidFill>
                  <a:srgbClr val="000000">
                    <a:alpha val="100000"/>
                  </a:srgbClr>
                </a:solidFill>
                <a:latin typeface="微软雅黑" panose="020B0503020204020204" charset="-122"/>
                <a:ea typeface="微软雅黑" panose="020B0503020204020204" charset="-122"/>
                <a:cs typeface="微软雅黑" panose="020B0503020204020204" charset="-122"/>
              </a:rPr>
              <a:t>②</a:t>
            </a:r>
            <a:r>
              <a:rPr sz="2800" b="1" i="1" kern="0" spc="-30" dirty="0">
                <a:solidFill>
                  <a:srgbClr val="000000">
                    <a:alpha val="100000"/>
                  </a:srgbClr>
                </a:solidFill>
                <a:latin typeface="Times New Roman" panose="02020603050405020304"/>
                <a:ea typeface="Times New Roman" panose="02020603050405020304"/>
                <a:cs typeface="Times New Roman" panose="02020603050405020304"/>
              </a:rPr>
              <a:t>d</a:t>
            </a:r>
            <a:r>
              <a:rPr sz="2800" b="1" kern="0" spc="-30" dirty="0">
                <a:solidFill>
                  <a:srgbClr val="000000">
                    <a:alpha val="100000"/>
                  </a:srgbClr>
                </a:solidFill>
                <a:latin typeface="Times New Roman" panose="02020603050405020304"/>
                <a:ea typeface="Times New Roman" panose="02020603050405020304"/>
                <a:cs typeface="Times New Roman" panose="02020603050405020304"/>
              </a:rPr>
              <a:t>(</a:t>
            </a:r>
            <a:r>
              <a:rPr sz="2800" b="1" i="1" kern="0" spc="-30" dirty="0">
                <a:solidFill>
                  <a:srgbClr val="000000">
                    <a:alpha val="100000"/>
                  </a:srgbClr>
                </a:solidFill>
                <a:latin typeface="Times New Roman" panose="02020603050405020304"/>
                <a:ea typeface="Times New Roman" panose="02020603050405020304"/>
                <a:cs typeface="Times New Roman" panose="02020603050405020304"/>
              </a:rPr>
              <a:t>x</a:t>
            </a:r>
            <a:r>
              <a:rPr sz="2800" b="1" kern="0" spc="-4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kern="0" spc="-40" dirty="0">
                <a:solidFill>
                  <a:srgbClr val="000000">
                    <a:alpha val="100000"/>
                  </a:srgbClr>
                </a:solidFill>
                <a:latin typeface="Times New Roman" panose="02020603050405020304"/>
                <a:ea typeface="Times New Roman" panose="02020603050405020304"/>
                <a:cs typeface="Times New Roman" panose="02020603050405020304"/>
              </a:rPr>
              <a:t>01</a:t>
            </a:r>
            <a:r>
              <a:rPr sz="2800" b="1" kern="0" spc="-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endParaRPr sz="2800" dirty="0">
              <a:latin typeface="Arial" panose="020B0604020202020204" pitchFamily="34" charset="0"/>
              <a:ea typeface="Arial" panose="020B0604020202020204" pitchFamily="34" charset="0"/>
              <a:cs typeface="Arial" panose="020B0604020202020204" pitchFamily="34" charset="0"/>
            </a:endParaRPr>
          </a:p>
          <a:p>
            <a:pPr marL="62865" algn="l" rtl="0" eaLnBrk="0">
              <a:lnSpc>
                <a:spcPct val="94000"/>
              </a:lnSpc>
              <a:spcBef>
                <a:spcPts val="1850"/>
              </a:spcBef>
            </a:pPr>
            <a:r>
              <a:rPr sz="2800" b="1" kern="0" spc="-150" dirty="0">
                <a:solidFill>
                  <a:srgbClr val="000000">
                    <a:alpha val="100000"/>
                  </a:srgbClr>
                </a:solidFill>
                <a:latin typeface="仿宋" panose="02010609060101010101" charset="-122"/>
                <a:ea typeface="仿宋" panose="02010609060101010101" charset="-122"/>
                <a:cs typeface="仿宋" panose="02010609060101010101" charset="-122"/>
              </a:rPr>
              <a:t>由此可得</a:t>
            </a:r>
            <a:endParaRPr sz="2800" dirty="0">
              <a:latin typeface="仿宋" panose="02010609060101010101" charset="-122"/>
              <a:ea typeface="仿宋" panose="02010609060101010101" charset="-122"/>
              <a:cs typeface="仿宋" panose="02010609060101010101" charset="-122"/>
            </a:endParaRPr>
          </a:p>
          <a:p>
            <a:pPr algn="l" rtl="0" eaLnBrk="0">
              <a:lnSpc>
                <a:spcPct val="11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700" dirty="0">
              <a:latin typeface="Arial" panose="020B0604020202020204" pitchFamily="34" charset="0"/>
              <a:ea typeface="Arial" panose="020B0604020202020204" pitchFamily="34" charset="0"/>
              <a:cs typeface="Arial" panose="020B0604020202020204" pitchFamily="34" charset="0"/>
            </a:endParaRPr>
          </a:p>
          <a:p>
            <a:pPr marL="2631440" algn="l" rtl="0" eaLnBrk="0">
              <a:lnSpc>
                <a:spcPct val="84000"/>
              </a:lnSpc>
              <a:spcBef>
                <a:spcPts val="5"/>
              </a:spcBef>
            </a:pPr>
            <a:r>
              <a:rPr sz="2800" b="1" i="1" kern="0" spc="0" dirty="0">
                <a:solidFill>
                  <a:srgbClr val="000000">
                    <a:alpha val="100000"/>
                  </a:srgbClr>
                </a:solidFill>
                <a:latin typeface="Times New Roman" panose="02020603050405020304"/>
                <a:ea typeface="Times New Roman" panose="02020603050405020304"/>
                <a:cs typeface="Times New Roman" panose="02020603050405020304"/>
              </a:rPr>
              <a:t>d</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a:t>
            </a:r>
            <a:r>
              <a:rPr sz="2800" b="1"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0B</a:t>
            </a:r>
            <a:r>
              <a:rPr sz="28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800" b="1" kern="0" spc="0" baseline="30000" dirty="0">
                <a:solidFill>
                  <a:srgbClr val="000000">
                    <a:alpha val="100000"/>
                  </a:srgbClr>
                </a:solidFill>
                <a:latin typeface="Times New Roman" panose="02020603050405020304"/>
                <a:ea typeface="Times New Roman" panose="02020603050405020304"/>
                <a:cs typeface="Times New Roman" panose="02020603050405020304"/>
              </a:rPr>
              <a:t>3</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0D</a:t>
            </a:r>
            <a:r>
              <a:rPr sz="28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800" b="1" kern="0" spc="0" baseline="30000" dirty="0">
                <a:solidFill>
                  <a:srgbClr val="000000">
                    <a:alpha val="100000"/>
                  </a:srgbClr>
                </a:solidFill>
                <a:latin typeface="Times New Roman" panose="02020603050405020304"/>
                <a:ea typeface="Times New Roman" panose="02020603050405020304"/>
                <a:cs typeface="Times New Roman" panose="02020603050405020304"/>
              </a:rPr>
              <a:t>2</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09</a:t>
            </a:r>
            <a:r>
              <a:rPr sz="28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0E</a:t>
            </a:r>
            <a:r>
              <a:rPr sz="2800" b="1"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endParaRPr sz="2800" dirty="0">
              <a:latin typeface="Arial" panose="020B0604020202020204" pitchFamily="34" charset="0"/>
              <a:ea typeface="Arial" panose="020B0604020202020204" pitchFamily="34" charset="0"/>
              <a:cs typeface="Arial" panose="020B0604020202020204" pitchFamily="34" charset="0"/>
            </a:endParaRPr>
          </a:p>
        </p:txBody>
      </p:sp>
      <p:sp>
        <p:nvSpPr>
          <p:cNvPr id="362" name="textbox 362"/>
          <p:cNvSpPr/>
          <p:nvPr/>
        </p:nvSpPr>
        <p:spPr>
          <a:xfrm>
            <a:off x="810260" y="395731"/>
            <a:ext cx="5465445" cy="732155"/>
          </a:xfrm>
          <a:prstGeom prst="rect">
            <a:avLst/>
          </a:prstGeom>
          <a:noFill/>
          <a:ln w="0" cap="flat">
            <a:noFill/>
            <a:prstDash val="solid"/>
            <a:miter lim="0"/>
          </a:ln>
        </p:spPr>
        <p:txBody>
          <a:bodyPr vert="horz" wrap="square" lIns="0" tIns="0" rIns="0" bIns="0"/>
          <a:lstStyle/>
          <a:p>
            <a:pPr algn="l" rtl="0" eaLnBrk="0">
              <a:lnSpc>
                <a:spcPct val="100000"/>
              </a:lnSpc>
            </a:pPr>
            <a:endParaRPr sz="700" dirty="0">
              <a:latin typeface="Arial" panose="020B0604020202020204" pitchFamily="34" charset="0"/>
              <a:ea typeface="Arial" panose="020B0604020202020204" pitchFamily="34" charset="0"/>
              <a:cs typeface="Arial" panose="020B0604020202020204" pitchFamily="34" charset="0"/>
            </a:endParaRPr>
          </a:p>
          <a:p>
            <a:pPr marL="433070" algn="l" defTabSz="0" rtl="0" eaLnBrk="0">
              <a:lnSpc>
                <a:spcPct val="97000"/>
              </a:lnSpc>
              <a:spcBef>
                <a:spcPts val="0"/>
              </a:spcBef>
              <a:tabLst>
                <a:tab pos="779780" algn="l"/>
              </a:tabLst>
            </a:pPr>
            <a:r>
              <a:rPr sz="31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100" b="1" kern="0" spc="140" dirty="0">
                <a:solidFill>
                  <a:srgbClr val="1F4E79">
                    <a:alpha val="100000"/>
                  </a:srgbClr>
                </a:solidFill>
                <a:latin typeface="仿宋" panose="02010609060101010101" charset="-122"/>
                <a:ea typeface="仿宋" panose="02010609060101010101" charset="-122"/>
                <a:cs typeface="仿宋" panose="02010609060101010101" charset="-122"/>
              </a:rPr>
              <a:t>逆列混淆</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InvMixColumns</a:t>
            </a:r>
            <a:r>
              <a:rPr sz="3100" b="1" kern="0" spc="140" dirty="0">
                <a:solidFill>
                  <a:srgbClr val="1F4E79">
                    <a:alpha val="100000"/>
                  </a:srgbClr>
                </a:solidFill>
                <a:latin typeface="仿宋" panose="02010609060101010101" charset="-122"/>
                <a:ea typeface="仿宋" panose="02010609060101010101" charset="-122"/>
                <a:cs typeface="仿宋" panose="02010609060101010101" charset="-122"/>
              </a:rPr>
              <a:t>()</a:t>
            </a:r>
            <a:endParaRPr sz="3100" dirty="0">
              <a:latin typeface="仿宋" panose="02010609060101010101" charset="-122"/>
              <a:ea typeface="仿宋" panose="02010609060101010101" charset="-122"/>
              <a:cs typeface="仿宋" panose="02010609060101010101" charset="-122"/>
            </a:endParaRPr>
          </a:p>
        </p:txBody>
      </p:sp>
      <p:pic>
        <p:nvPicPr>
          <p:cNvPr id="364" name="picture 364"/>
          <p:cNvPicPr>
            <a:picLocks noChangeAspect="1"/>
          </p:cNvPicPr>
          <p:nvPr/>
        </p:nvPicPr>
        <p:blipFill>
          <a:blip r:embed="rId1"/>
          <a:stretch>
            <a:fillRect/>
          </a:stretch>
        </p:blipFill>
        <p:spPr>
          <a:xfrm rot="21600000">
            <a:off x="822960" y="408431"/>
            <a:ext cx="420623" cy="655320"/>
          </a:xfrm>
          <a:prstGeom prst="rect">
            <a:avLst/>
          </a:prstGeom>
        </p:spPr>
      </p:pic>
      <p:sp>
        <p:nvSpPr>
          <p:cNvPr id="368" name="path 36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370" name="path 37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1154430" y="1373505"/>
            <a:ext cx="10363200" cy="442722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 name="textbox 372"/>
          <p:cNvSpPr/>
          <p:nvPr/>
        </p:nvSpPr>
        <p:spPr>
          <a:xfrm>
            <a:off x="919073" y="1514652"/>
            <a:ext cx="7457440" cy="3815715"/>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9000"/>
              </a:lnSpc>
            </a:pPr>
            <a:r>
              <a:rPr sz="2400"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同样，逆列混淆可以写成矩阵乘法形式</a:t>
            </a:r>
            <a:endParaRPr sz="24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26000"/>
              </a:lnSpc>
            </a:pPr>
            <a:endParaRPr sz="200" dirty="0">
              <a:latin typeface="Arial" panose="020B0604020202020204" pitchFamily="34" charset="0"/>
              <a:ea typeface="Arial" panose="020B0604020202020204" pitchFamily="34" charset="0"/>
              <a:cs typeface="Arial" panose="020B0604020202020204" pitchFamily="34" charset="0"/>
            </a:endParaRPr>
          </a:p>
          <a:p>
            <a:pPr marL="2356485" algn="l" defTabSz="0" rtl="0" eaLnBrk="0">
              <a:lnSpc>
                <a:spcPts val="17720"/>
              </a:lnSpc>
              <a:spcBef>
                <a:spcPts val="0"/>
              </a:spcBef>
              <a:tabLst>
                <a:tab pos="7444105" algn="l"/>
              </a:tabLst>
            </a:pPr>
            <a:r>
              <a:rPr sz="10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endParaRPr sz="1000" dirty="0">
              <a:latin typeface="Arial" panose="020B0604020202020204" pitchFamily="34" charset="0"/>
              <a:ea typeface="Arial" panose="020B0604020202020204" pitchFamily="34" charset="0"/>
              <a:cs typeface="Arial" panose="020B0604020202020204" pitchFamily="34" charset="0"/>
            </a:endParaRPr>
          </a:p>
        </p:txBody>
      </p:sp>
      <p:pic>
        <p:nvPicPr>
          <p:cNvPr id="374" name="picture 374"/>
          <p:cNvPicPr>
            <a:picLocks noChangeAspect="1"/>
          </p:cNvPicPr>
          <p:nvPr/>
        </p:nvPicPr>
        <p:blipFill>
          <a:blip r:embed="rId1"/>
          <a:stretch>
            <a:fillRect/>
          </a:stretch>
        </p:blipFill>
        <p:spPr>
          <a:xfrm rot="21600000">
            <a:off x="3275896" y="3066581"/>
            <a:ext cx="5087496" cy="2250808"/>
          </a:xfrm>
          <a:prstGeom prst="rect">
            <a:avLst/>
          </a:prstGeom>
        </p:spPr>
      </p:pic>
      <p:sp>
        <p:nvSpPr>
          <p:cNvPr id="376" name="textbox 376"/>
          <p:cNvSpPr/>
          <p:nvPr/>
        </p:nvSpPr>
        <p:spPr>
          <a:xfrm>
            <a:off x="1577815" y="491245"/>
            <a:ext cx="3660775" cy="47942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60" dirty="0">
                <a:solidFill>
                  <a:srgbClr val="1F4E79">
                    <a:alpha val="100000"/>
                  </a:srgbClr>
                </a:solidFill>
                <a:latin typeface="仿宋" panose="02010609060101010101" charset="-122"/>
                <a:ea typeface="仿宋" panose="02010609060101010101" charset="-122"/>
                <a:cs typeface="仿宋" panose="02010609060101010101" charset="-122"/>
              </a:rPr>
              <a:t>逆列混淆的矩阵形式</a:t>
            </a:r>
            <a:endParaRPr sz="3100" dirty="0">
              <a:latin typeface="仿宋" panose="02010609060101010101" charset="-122"/>
              <a:ea typeface="仿宋" panose="02010609060101010101" charset="-122"/>
              <a:cs typeface="仿宋" panose="02010609060101010101" charset="-122"/>
            </a:endParaRPr>
          </a:p>
        </p:txBody>
      </p:sp>
      <p:sp>
        <p:nvSpPr>
          <p:cNvPr id="380" name="path 380"/>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382" name="picture 382"/>
          <p:cNvPicPr>
            <a:picLocks noChangeAspect="1"/>
          </p:cNvPicPr>
          <p:nvPr/>
        </p:nvPicPr>
        <p:blipFill>
          <a:blip r:embed="rId2"/>
          <a:stretch>
            <a:fillRect/>
          </a:stretch>
        </p:blipFill>
        <p:spPr>
          <a:xfrm rot="21600000">
            <a:off x="822960" y="408431"/>
            <a:ext cx="420623" cy="655320"/>
          </a:xfrm>
          <a:prstGeom prst="rect">
            <a:avLst/>
          </a:prstGeom>
        </p:spPr>
      </p:pic>
      <p:sp>
        <p:nvSpPr>
          <p:cNvPr id="384" name="path 384"/>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2"/>
          <p:cNvGrpSpPr/>
          <p:nvPr/>
        </p:nvGrpSpPr>
        <p:grpSpPr>
          <a:xfrm rot="21600000">
            <a:off x="3206495" y="1624583"/>
            <a:ext cx="5708904" cy="813816"/>
            <a:chOff x="0" y="0"/>
            <a:chExt cx="5708904" cy="813816"/>
          </a:xfrm>
        </p:grpSpPr>
        <p:pic>
          <p:nvPicPr>
            <p:cNvPr id="386" name="picture 386"/>
            <p:cNvPicPr>
              <a:picLocks noChangeAspect="1"/>
            </p:cNvPicPr>
            <p:nvPr/>
          </p:nvPicPr>
          <p:blipFill>
            <a:blip r:embed="rId1"/>
            <a:stretch>
              <a:fillRect/>
            </a:stretch>
          </p:blipFill>
          <p:spPr>
            <a:xfrm rot="21600000">
              <a:off x="0" y="0"/>
              <a:ext cx="5708904" cy="813816"/>
            </a:xfrm>
            <a:prstGeom prst="rect">
              <a:avLst/>
            </a:prstGeom>
          </p:spPr>
        </p:pic>
        <p:sp>
          <p:nvSpPr>
            <p:cNvPr id="388" name="textbox 388"/>
            <p:cNvSpPr/>
            <p:nvPr/>
          </p:nvSpPr>
          <p:spPr>
            <a:xfrm>
              <a:off x="-12700" y="-12700"/>
              <a:ext cx="5734684" cy="87820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90880" algn="l" rtl="0" eaLnBrk="0">
                <a:lnSpc>
                  <a:spcPct val="94000"/>
                </a:lnSpc>
                <a:spcBef>
                  <a:spcPts val="5"/>
                </a:spcBef>
              </a:pPr>
              <a:r>
                <a:rPr sz="2400" b="1" kern="0" spc="-70" dirty="0">
                  <a:solidFill>
                    <a:srgbClr val="FFFFFF">
                      <a:alpha val="100000"/>
                    </a:srgbClr>
                  </a:solidFill>
                  <a:latin typeface="仿宋" panose="02010609060101010101" charset="-122"/>
                  <a:ea typeface="仿宋" panose="02010609060101010101" charset="-122"/>
                  <a:cs typeface="仿宋" panose="02010609060101010101" charset="-122"/>
                </a:rPr>
                <a:t>字节代换</a:t>
              </a:r>
              <a:endParaRPr sz="2400" dirty="0">
                <a:latin typeface="仿宋" panose="02010609060101010101" charset="-122"/>
                <a:ea typeface="仿宋" panose="02010609060101010101" charset="-122"/>
                <a:cs typeface="仿宋" panose="02010609060101010101" charset="-122"/>
              </a:endParaRPr>
            </a:p>
          </p:txBody>
        </p:sp>
      </p:grpSp>
      <p:grpSp>
        <p:nvGrpSpPr>
          <p:cNvPr id="34" name="group 34"/>
          <p:cNvGrpSpPr/>
          <p:nvPr/>
        </p:nvGrpSpPr>
        <p:grpSpPr>
          <a:xfrm rot="21600000">
            <a:off x="3206495" y="4910328"/>
            <a:ext cx="5708904" cy="813816"/>
            <a:chOff x="0" y="0"/>
            <a:chExt cx="5708904" cy="813816"/>
          </a:xfrm>
        </p:grpSpPr>
        <p:pic>
          <p:nvPicPr>
            <p:cNvPr id="390" name="picture 390"/>
            <p:cNvPicPr>
              <a:picLocks noChangeAspect="1"/>
            </p:cNvPicPr>
            <p:nvPr/>
          </p:nvPicPr>
          <p:blipFill>
            <a:blip r:embed="rId2"/>
            <a:stretch>
              <a:fillRect/>
            </a:stretch>
          </p:blipFill>
          <p:spPr>
            <a:xfrm rot="21600000">
              <a:off x="0" y="0"/>
              <a:ext cx="5708904" cy="813816"/>
            </a:xfrm>
            <a:prstGeom prst="rect">
              <a:avLst/>
            </a:prstGeom>
          </p:spPr>
        </p:pic>
        <p:sp>
          <p:nvSpPr>
            <p:cNvPr id="392" name="textbox 392"/>
            <p:cNvSpPr/>
            <p:nvPr/>
          </p:nvSpPr>
          <p:spPr>
            <a:xfrm>
              <a:off x="-12700" y="-12700"/>
              <a:ext cx="5734684" cy="874394"/>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78180" algn="l" rtl="0" eaLnBrk="0">
                <a:lnSpc>
                  <a:spcPct val="93000"/>
                </a:lnSpc>
                <a:spcBef>
                  <a:spcPts val="5"/>
                </a:spcBef>
              </a:pP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轮密钥加</a:t>
              </a:r>
              <a:endParaRPr sz="2400" dirty="0">
                <a:latin typeface="仿宋" panose="02010609060101010101" charset="-122"/>
                <a:ea typeface="仿宋" panose="02010609060101010101" charset="-122"/>
                <a:cs typeface="仿宋" panose="02010609060101010101" charset="-122"/>
              </a:endParaRPr>
            </a:p>
          </p:txBody>
        </p:sp>
      </p:grpSp>
      <p:grpSp>
        <p:nvGrpSpPr>
          <p:cNvPr id="36" name="group 36"/>
          <p:cNvGrpSpPr/>
          <p:nvPr/>
        </p:nvGrpSpPr>
        <p:grpSpPr>
          <a:xfrm rot="21600000">
            <a:off x="3709415" y="3800855"/>
            <a:ext cx="5205984" cy="813816"/>
            <a:chOff x="0" y="0"/>
            <a:chExt cx="5205984" cy="813816"/>
          </a:xfrm>
        </p:grpSpPr>
        <p:pic>
          <p:nvPicPr>
            <p:cNvPr id="394" name="picture 394"/>
            <p:cNvPicPr>
              <a:picLocks noChangeAspect="1"/>
            </p:cNvPicPr>
            <p:nvPr/>
          </p:nvPicPr>
          <p:blipFill>
            <a:blip r:embed="rId3"/>
            <a:stretch>
              <a:fillRect/>
            </a:stretch>
          </p:blipFill>
          <p:spPr>
            <a:xfrm rot="21600000">
              <a:off x="0" y="0"/>
              <a:ext cx="5205984" cy="813816"/>
            </a:xfrm>
            <a:prstGeom prst="rect">
              <a:avLst/>
            </a:prstGeom>
          </p:spPr>
        </p:pic>
        <p:sp>
          <p:nvSpPr>
            <p:cNvPr id="396" name="textbox 396"/>
            <p:cNvSpPr/>
            <p:nvPr/>
          </p:nvSpPr>
          <p:spPr>
            <a:xfrm>
              <a:off x="-12700" y="-12700"/>
              <a:ext cx="5231765" cy="879475"/>
            </a:xfrm>
            <a:prstGeom prst="rect">
              <a:avLst/>
            </a:prstGeom>
            <a:noFill/>
            <a:ln w="0" cap="flat">
              <a:noFill/>
              <a:prstDash val="solid"/>
              <a:miter lim="0"/>
            </a:ln>
          </p:spPr>
          <p:txBody>
            <a:bodyPr vert="horz" wrap="square" lIns="0" tIns="0" rIns="0" bIns="0"/>
            <a:lstStyle/>
            <a:p>
              <a:pPr algn="l" rtl="0" eaLnBrk="0">
                <a:lnSpc>
                  <a:spcPct val="169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687705" algn="l" rtl="0" eaLnBrk="0">
                <a:lnSpc>
                  <a:spcPct val="94000"/>
                </a:lnSpc>
              </a:pPr>
              <a:r>
                <a:rPr sz="2400" b="1" kern="0" spc="-60" dirty="0">
                  <a:solidFill>
                    <a:srgbClr val="FFFFFF">
                      <a:alpha val="100000"/>
                    </a:srgbClr>
                  </a:solidFill>
                  <a:latin typeface="仿宋" panose="02010609060101010101" charset="-122"/>
                  <a:ea typeface="仿宋" panose="02010609060101010101" charset="-122"/>
                  <a:cs typeface="仿宋" panose="02010609060101010101" charset="-122"/>
                </a:rPr>
                <a:t>列混淆</a:t>
              </a:r>
              <a:endParaRPr sz="2400" dirty="0">
                <a:latin typeface="仿宋" panose="02010609060101010101" charset="-122"/>
                <a:ea typeface="仿宋" panose="02010609060101010101" charset="-122"/>
                <a:cs typeface="仿宋" panose="02010609060101010101" charset="-122"/>
              </a:endParaRPr>
            </a:p>
          </p:txBody>
        </p:sp>
      </p:grpSp>
      <p:grpSp>
        <p:nvGrpSpPr>
          <p:cNvPr id="38" name="group 38"/>
          <p:cNvGrpSpPr/>
          <p:nvPr/>
        </p:nvGrpSpPr>
        <p:grpSpPr>
          <a:xfrm rot="21600000">
            <a:off x="3709415" y="2691383"/>
            <a:ext cx="5205984" cy="813816"/>
            <a:chOff x="0" y="0"/>
            <a:chExt cx="5205984" cy="813816"/>
          </a:xfrm>
        </p:grpSpPr>
        <p:pic>
          <p:nvPicPr>
            <p:cNvPr id="398" name="picture 398"/>
            <p:cNvPicPr>
              <a:picLocks noChangeAspect="1"/>
            </p:cNvPicPr>
            <p:nvPr/>
          </p:nvPicPr>
          <p:blipFill>
            <a:blip r:embed="rId4"/>
            <a:stretch>
              <a:fillRect/>
            </a:stretch>
          </p:blipFill>
          <p:spPr>
            <a:xfrm rot="21600000">
              <a:off x="0" y="0"/>
              <a:ext cx="5205984" cy="813816"/>
            </a:xfrm>
            <a:prstGeom prst="rect">
              <a:avLst/>
            </a:prstGeom>
          </p:spPr>
        </p:pic>
        <p:sp>
          <p:nvSpPr>
            <p:cNvPr id="400" name="textbox 400"/>
            <p:cNvSpPr/>
            <p:nvPr/>
          </p:nvSpPr>
          <p:spPr>
            <a:xfrm>
              <a:off x="-12700" y="-12700"/>
              <a:ext cx="5231765" cy="876935"/>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680085" algn="l" rtl="0" eaLnBrk="0">
                <a:lnSpc>
                  <a:spcPct val="94000"/>
                </a:lnSpc>
              </a:pP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行移位</a:t>
              </a:r>
              <a:endParaRPr sz="2400" dirty="0">
                <a:latin typeface="仿宋" panose="02010609060101010101" charset="-122"/>
                <a:ea typeface="仿宋" panose="02010609060101010101" charset="-122"/>
                <a:cs typeface="仿宋" panose="02010609060101010101" charset="-122"/>
              </a:endParaRPr>
            </a:p>
          </p:txBody>
        </p:sp>
      </p:grpSp>
      <p:grpSp>
        <p:nvGrpSpPr>
          <p:cNvPr id="40" name="group 40"/>
          <p:cNvGrpSpPr/>
          <p:nvPr/>
        </p:nvGrpSpPr>
        <p:grpSpPr>
          <a:xfrm rot="21600000">
            <a:off x="2620898" y="1335404"/>
            <a:ext cx="1600580" cy="4492371"/>
            <a:chOff x="0" y="0"/>
            <a:chExt cx="1600580" cy="4492371"/>
          </a:xfrm>
        </p:grpSpPr>
        <p:sp>
          <p:nvSpPr>
            <p:cNvPr id="402" name="path 402"/>
            <p:cNvSpPr/>
            <p:nvPr/>
          </p:nvSpPr>
          <p:spPr>
            <a:xfrm>
              <a:off x="0" y="0"/>
              <a:ext cx="1225704" cy="4475619"/>
            </a:xfrm>
            <a:custGeom>
              <a:avLst/>
              <a:gdLst/>
              <a:ahLst/>
              <a:cxnLst/>
              <a:rect l="0" t="0" r="0" b="0"/>
              <a:pathLst>
                <a:path w="1930" h="7048">
                  <a:moveTo>
                    <a:pt x="199" y="4"/>
                  </a:moveTo>
                  <a:cubicBezTo>
                    <a:pt x="2103" y="1431"/>
                    <a:pt x="2492" y="4133"/>
                    <a:pt x="1066" y="6038"/>
                  </a:cubicBezTo>
                  <a:cubicBezTo>
                    <a:pt x="772" y="6431"/>
                    <a:pt x="413" y="6771"/>
                    <a:pt x="4" y="7043"/>
                  </a:cubicBezTo>
                  <a:lnTo>
                    <a:pt x="4" y="7043"/>
                  </a:lnTo>
                  <a:cubicBezTo>
                    <a:pt x="1985" y="5724"/>
                    <a:pt x="2522" y="3048"/>
                    <a:pt x="1203" y="1066"/>
                  </a:cubicBezTo>
                  <a:cubicBezTo>
                    <a:pt x="931" y="658"/>
                    <a:pt x="592" y="299"/>
                    <a:pt x="199" y="4"/>
                  </a:cubicBezTo>
                </a:path>
              </a:pathLst>
            </a:custGeom>
            <a:noFill/>
            <a:ln w="6096" cap="flat">
              <a:solidFill>
                <a:srgbClr val="477BA9"/>
              </a:solidFill>
              <a:prstDash val="solid"/>
              <a:miter lim="1000000"/>
            </a:ln>
          </p:spPr>
          <p:txBody>
            <a:bodyPr rtlCol="0"/>
            <a:lstStyle/>
            <a:p>
              <a:pPr algn="ctr"/>
              <a:endParaRPr lang="zh-CN" altLang="en-US"/>
            </a:p>
          </p:txBody>
        </p:sp>
        <p:sp>
          <p:nvSpPr>
            <p:cNvPr id="404" name="path 404"/>
            <p:cNvSpPr/>
            <p:nvPr/>
          </p:nvSpPr>
          <p:spPr>
            <a:xfrm>
              <a:off x="76580" y="188595"/>
              <a:ext cx="1018032" cy="1014984"/>
            </a:xfrm>
            <a:custGeom>
              <a:avLst/>
              <a:gdLst/>
              <a:ahLst/>
              <a:cxnLst/>
              <a:rect l="0" t="0" r="0" b="0"/>
              <a:pathLst>
                <a:path w="1603" h="1598">
                  <a:moveTo>
                    <a:pt x="0" y="799"/>
                  </a:moveTo>
                  <a:cubicBezTo>
                    <a:pt x="0" y="357"/>
                    <a:pt x="358" y="0"/>
                    <a:pt x="801" y="0"/>
                  </a:cubicBezTo>
                  <a:cubicBezTo>
                    <a:pt x="1244" y="0"/>
                    <a:pt x="1603" y="357"/>
                    <a:pt x="1603" y="799"/>
                  </a:cubicBezTo>
                  <a:cubicBezTo>
                    <a:pt x="1603" y="1240"/>
                    <a:pt x="1244" y="1598"/>
                    <a:pt x="801" y="1598"/>
                  </a:cubicBezTo>
                  <a:cubicBezTo>
                    <a:pt x="358"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406" name="path 406"/>
            <p:cNvSpPr/>
            <p:nvPr/>
          </p:nvSpPr>
          <p:spPr>
            <a:xfrm>
              <a:off x="73532" y="185547"/>
              <a:ext cx="1024127" cy="1021079"/>
            </a:xfrm>
            <a:custGeom>
              <a:avLst/>
              <a:gdLst/>
              <a:ahLst/>
              <a:cxnLst/>
              <a:rect l="0" t="0" r="0" b="0"/>
              <a:pathLst>
                <a:path w="1612" h="1607">
                  <a:moveTo>
                    <a:pt x="4" y="803"/>
                  </a:moveTo>
                  <a:cubicBezTo>
                    <a:pt x="4" y="362"/>
                    <a:pt x="363" y="4"/>
                    <a:pt x="806" y="4"/>
                  </a:cubicBezTo>
                  <a:cubicBezTo>
                    <a:pt x="1249" y="4"/>
                    <a:pt x="1608" y="362"/>
                    <a:pt x="1608" y="803"/>
                  </a:cubicBezTo>
                  <a:cubicBezTo>
                    <a:pt x="1608" y="1245"/>
                    <a:pt x="1249" y="1603"/>
                    <a:pt x="806" y="1603"/>
                  </a:cubicBezTo>
                  <a:cubicBezTo>
                    <a:pt x="363"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408" name="path 408"/>
            <p:cNvSpPr/>
            <p:nvPr/>
          </p:nvSpPr>
          <p:spPr>
            <a:xfrm>
              <a:off x="579501" y="1255395"/>
              <a:ext cx="1014983" cy="1014984"/>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410" name="path 410"/>
            <p:cNvSpPr/>
            <p:nvPr/>
          </p:nvSpPr>
          <p:spPr>
            <a:xfrm>
              <a:off x="576452" y="1252347"/>
              <a:ext cx="1021079" cy="1021080"/>
            </a:xfrm>
            <a:custGeom>
              <a:avLst/>
              <a:gdLst/>
              <a:ahLst/>
              <a:cxnLst/>
              <a:rect l="0" t="0" r="0" b="0"/>
              <a:pathLst>
                <a:path w="1607" h="1608">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412" name="path 412"/>
            <p:cNvSpPr/>
            <p:nvPr/>
          </p:nvSpPr>
          <p:spPr>
            <a:xfrm>
              <a:off x="582548" y="2364867"/>
              <a:ext cx="1014984"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414" name="path 414"/>
            <p:cNvSpPr/>
            <p:nvPr/>
          </p:nvSpPr>
          <p:spPr>
            <a:xfrm>
              <a:off x="579500" y="2361819"/>
              <a:ext cx="1021080" cy="1021080"/>
            </a:xfrm>
            <a:custGeom>
              <a:avLst/>
              <a:gdLst/>
              <a:ahLst/>
              <a:cxnLst/>
              <a:rect l="0" t="0" r="0" b="0"/>
              <a:pathLst>
                <a:path w="1608" h="1608">
                  <a:moveTo>
                    <a:pt x="4" y="803"/>
                  </a:moveTo>
                  <a:cubicBezTo>
                    <a:pt x="4" y="362"/>
                    <a:pt x="362" y="4"/>
                    <a:pt x="804" y="4"/>
                  </a:cubicBezTo>
                  <a:cubicBezTo>
                    <a:pt x="1245" y="4"/>
                    <a:pt x="1603" y="362"/>
                    <a:pt x="1603" y="803"/>
                  </a:cubicBezTo>
                  <a:cubicBezTo>
                    <a:pt x="1603" y="1245"/>
                    <a:pt x="1245" y="1603"/>
                    <a:pt x="804" y="1603"/>
                  </a:cubicBezTo>
                  <a:cubicBezTo>
                    <a:pt x="362"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416" name="path 416"/>
            <p:cNvSpPr/>
            <p:nvPr/>
          </p:nvSpPr>
          <p:spPr>
            <a:xfrm>
              <a:off x="76580" y="3474339"/>
              <a:ext cx="1018032" cy="1014983"/>
            </a:xfrm>
            <a:custGeom>
              <a:avLst/>
              <a:gdLst/>
              <a:ahLst/>
              <a:cxnLst/>
              <a:rect l="0" t="0" r="0" b="0"/>
              <a:pathLst>
                <a:path w="1603" h="1598">
                  <a:moveTo>
                    <a:pt x="0" y="799"/>
                  </a:moveTo>
                  <a:cubicBezTo>
                    <a:pt x="0" y="357"/>
                    <a:pt x="358" y="0"/>
                    <a:pt x="801" y="0"/>
                  </a:cubicBezTo>
                  <a:cubicBezTo>
                    <a:pt x="1244" y="0"/>
                    <a:pt x="1603" y="357"/>
                    <a:pt x="1603" y="799"/>
                  </a:cubicBezTo>
                  <a:cubicBezTo>
                    <a:pt x="1603" y="1240"/>
                    <a:pt x="1244" y="1598"/>
                    <a:pt x="801" y="1598"/>
                  </a:cubicBezTo>
                  <a:cubicBezTo>
                    <a:pt x="358"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418" name="path 418"/>
            <p:cNvSpPr/>
            <p:nvPr/>
          </p:nvSpPr>
          <p:spPr>
            <a:xfrm>
              <a:off x="73532" y="3471291"/>
              <a:ext cx="1024127" cy="1021080"/>
            </a:xfrm>
            <a:custGeom>
              <a:avLst/>
              <a:gdLst/>
              <a:ahLst/>
              <a:cxnLst/>
              <a:rect l="0" t="0" r="0" b="0"/>
              <a:pathLst>
                <a:path w="1612" h="1608">
                  <a:moveTo>
                    <a:pt x="4" y="804"/>
                  </a:moveTo>
                  <a:cubicBezTo>
                    <a:pt x="4" y="362"/>
                    <a:pt x="363" y="4"/>
                    <a:pt x="806" y="4"/>
                  </a:cubicBezTo>
                  <a:cubicBezTo>
                    <a:pt x="1249" y="4"/>
                    <a:pt x="1608" y="362"/>
                    <a:pt x="1608" y="804"/>
                  </a:cubicBezTo>
                  <a:cubicBezTo>
                    <a:pt x="1608" y="1245"/>
                    <a:pt x="1249" y="1603"/>
                    <a:pt x="806" y="1603"/>
                  </a:cubicBezTo>
                  <a:cubicBezTo>
                    <a:pt x="363" y="1603"/>
                    <a:pt x="4" y="1245"/>
                    <a:pt x="4" y="804"/>
                  </a:cubicBezTo>
                </a:path>
              </a:pathLst>
            </a:custGeom>
            <a:noFill/>
            <a:ln w="6096" cap="flat">
              <a:solidFill>
                <a:srgbClr val="5B9BD5"/>
              </a:solidFill>
              <a:prstDash val="solid"/>
              <a:miter lim="1000000"/>
            </a:ln>
          </p:spPr>
          <p:txBody>
            <a:bodyPr rtlCol="0"/>
            <a:lstStyle/>
            <a:p>
              <a:pPr algn="ctr"/>
              <a:endParaRPr lang="zh-CN" altLang="en-US"/>
            </a:p>
          </p:txBody>
        </p:sp>
      </p:grpSp>
      <p:sp>
        <p:nvSpPr>
          <p:cNvPr id="420" name="textbox 420"/>
          <p:cNvSpPr/>
          <p:nvPr/>
        </p:nvSpPr>
        <p:spPr>
          <a:xfrm>
            <a:off x="2745984" y="491245"/>
            <a:ext cx="4472304" cy="476250"/>
          </a:xfrm>
          <a:prstGeom prst="rect">
            <a:avLst/>
          </a:prstGeom>
          <a:noFill/>
          <a:ln w="0" cap="flat">
            <a:noFill/>
            <a:prstDash val="solid"/>
            <a:miter lim="0"/>
          </a:ln>
        </p:spPr>
        <p:txBody>
          <a:bodyPr vert="horz" wrap="square" lIns="0" tIns="0" rIns="0" bIns="0"/>
          <a:lstStyle/>
          <a:p>
            <a:pPr algn="l" rtl="0" eaLnBrk="0">
              <a:lnSpc>
                <a:spcPct val="9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70" dirty="0">
                <a:solidFill>
                  <a:srgbClr val="1F4E79">
                    <a:alpha val="100000"/>
                  </a:srgbClr>
                </a:solidFill>
                <a:latin typeface="仿宋" panose="02010609060101010101" charset="-122"/>
                <a:ea typeface="仿宋" panose="02010609060101010101" charset="-122"/>
                <a:cs typeface="仿宋" panose="02010609060101010101" charset="-122"/>
              </a:rPr>
              <a:t>的轮函数</a:t>
            </a:r>
            <a:endParaRPr sz="3100" dirty="0">
              <a:latin typeface="仿宋" panose="02010609060101010101" charset="-122"/>
              <a:ea typeface="仿宋" panose="02010609060101010101" charset="-122"/>
              <a:cs typeface="仿宋" panose="02010609060101010101" charset="-122"/>
            </a:endParaRPr>
          </a:p>
        </p:txBody>
      </p:sp>
      <p:sp>
        <p:nvSpPr>
          <p:cNvPr id="424" name="path 424"/>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426" name="picture 426"/>
          <p:cNvPicPr>
            <a:picLocks noChangeAspect="1"/>
          </p:cNvPicPr>
          <p:nvPr/>
        </p:nvPicPr>
        <p:blipFill>
          <a:blip r:embed="rId5"/>
          <a:stretch>
            <a:fillRect/>
          </a:stretch>
        </p:blipFill>
        <p:spPr>
          <a:xfrm rot="21600000">
            <a:off x="822960" y="408431"/>
            <a:ext cx="420623" cy="655320"/>
          </a:xfrm>
          <a:prstGeom prst="rect">
            <a:avLst/>
          </a:prstGeom>
        </p:spPr>
      </p:pic>
      <p:sp>
        <p:nvSpPr>
          <p:cNvPr id="428" name="path 428"/>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textbox 430"/>
          <p:cNvSpPr/>
          <p:nvPr/>
        </p:nvSpPr>
        <p:spPr>
          <a:xfrm>
            <a:off x="1240945" y="1483223"/>
            <a:ext cx="6668134" cy="2357754"/>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9000"/>
              </a:lnSpc>
            </a:pPr>
            <a:r>
              <a:rPr sz="2800" kern="0" spc="-1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10" dirty="0">
                <a:solidFill>
                  <a:srgbClr val="000000">
                    <a:alpha val="100000"/>
                  </a:srgbClr>
                </a:solidFill>
                <a:latin typeface="仿宋" panose="02010609060101010101" charset="-122"/>
                <a:ea typeface="仿宋" panose="02010609060101010101" charset="-122"/>
                <a:cs typeface="仿宋" panose="02010609060101010101" charset="-122"/>
              </a:rPr>
              <a:t>轮密钥与状态进行逐</a:t>
            </a:r>
            <a:r>
              <a:rPr sz="2800" b="1" kern="0" spc="-120" dirty="0">
                <a:solidFill>
                  <a:srgbClr val="000000">
                    <a:alpha val="100000"/>
                  </a:srgbClr>
                </a:solidFill>
                <a:latin typeface="仿宋" panose="02010609060101010101" charset="-122"/>
                <a:ea typeface="仿宋" panose="02010609060101010101" charset="-122"/>
                <a:cs typeface="仿宋" panose="02010609060101010101" charset="-122"/>
              </a:rPr>
              <a:t>比特异或。</a:t>
            </a:r>
            <a:endParaRPr sz="2800" dirty="0">
              <a:latin typeface="仿宋" panose="02010609060101010101" charset="-122"/>
              <a:ea typeface="仿宋" panose="02010609060101010101" charset="-122"/>
              <a:cs typeface="仿宋" panose="02010609060101010101" charset="-122"/>
            </a:endParaRPr>
          </a:p>
          <a:p>
            <a:pPr marL="12700" algn="l" rtl="0" eaLnBrk="0">
              <a:lnSpc>
                <a:spcPct val="99000"/>
              </a:lnSpc>
              <a:spcBef>
                <a:spcPts val="1715"/>
              </a:spcBef>
            </a:pPr>
            <a:r>
              <a:rPr sz="28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轮密钥由种子密钥通过密钥编排算法得到</a:t>
            </a:r>
            <a:endParaRPr sz="2800" dirty="0">
              <a:latin typeface="仿宋" panose="02010609060101010101" charset="-122"/>
              <a:ea typeface="仿宋" panose="02010609060101010101" charset="-122"/>
              <a:cs typeface="仿宋" panose="02010609060101010101" charset="-122"/>
            </a:endParaRPr>
          </a:p>
          <a:p>
            <a:pPr marL="12700" algn="l" rtl="0" eaLnBrk="0">
              <a:lnSpc>
                <a:spcPct val="99000"/>
              </a:lnSpc>
              <a:spcBef>
                <a:spcPts val="1690"/>
              </a:spcBef>
            </a:pPr>
            <a:r>
              <a:rPr sz="2800"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轮密钥长度与分组长度相同</a:t>
            </a:r>
            <a:endParaRPr sz="2800" dirty="0">
              <a:latin typeface="仿宋" panose="02010609060101010101" charset="-122"/>
              <a:ea typeface="仿宋" panose="02010609060101010101" charset="-122"/>
              <a:cs typeface="仿宋" panose="02010609060101010101" charset="-122"/>
            </a:endParaRPr>
          </a:p>
          <a:p>
            <a:pPr algn="l" rtl="0" eaLnBrk="0">
              <a:lnSpc>
                <a:spcPct val="102000"/>
              </a:lnSpc>
            </a:pPr>
            <a:endParaRPr sz="14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spcBef>
                <a:spcPts val="5"/>
              </a:spcBef>
            </a:pPr>
            <a:r>
              <a:rPr sz="28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表示为AddRound</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Key(State,RoundKey)</a:t>
            </a:r>
            <a:endParaRPr sz="2800" dirty="0">
              <a:latin typeface="仿宋" panose="02010609060101010101" charset="-122"/>
              <a:ea typeface="仿宋" panose="02010609060101010101" charset="-122"/>
              <a:cs typeface="仿宋" panose="02010609060101010101" charset="-122"/>
            </a:endParaRPr>
          </a:p>
        </p:txBody>
      </p:sp>
      <p:sp>
        <p:nvSpPr>
          <p:cNvPr id="434" name="textbox 434"/>
          <p:cNvSpPr/>
          <p:nvPr/>
        </p:nvSpPr>
        <p:spPr>
          <a:xfrm>
            <a:off x="1570113" y="491245"/>
            <a:ext cx="1630679" cy="476250"/>
          </a:xfrm>
          <a:prstGeom prst="rect">
            <a:avLst/>
          </a:prstGeom>
          <a:noFill/>
          <a:ln w="0" cap="flat">
            <a:noFill/>
            <a:prstDash val="solid"/>
            <a:miter lim="0"/>
          </a:ln>
        </p:spPr>
        <p:txBody>
          <a:bodyPr vert="horz" wrap="square" lIns="0" tIns="0" rIns="0" bIns="0"/>
          <a:lstStyle/>
          <a:p>
            <a:pPr algn="l" rtl="0" eaLnBrk="0">
              <a:lnSpc>
                <a:spcPct val="9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3100" b="1" kern="0" spc="40" dirty="0">
                <a:solidFill>
                  <a:srgbClr val="0563C1">
                    <a:alpha val="100000"/>
                  </a:srgbClr>
                </a:solidFill>
                <a:latin typeface="仿宋" panose="02010609060101010101" charset="-122"/>
                <a:ea typeface="仿宋" panose="02010609060101010101" charset="-122"/>
                <a:cs typeface="仿宋" panose="02010609060101010101" charset="-122"/>
              </a:rPr>
              <a:t>轮密钥加</a:t>
            </a:r>
            <a:endParaRPr sz="3100" dirty="0">
              <a:latin typeface="仿宋" panose="02010609060101010101" charset="-122"/>
              <a:ea typeface="仿宋" panose="02010609060101010101" charset="-122"/>
              <a:cs typeface="仿宋" panose="02010609060101010101" charset="-122"/>
            </a:endParaRPr>
          </a:p>
        </p:txBody>
      </p:sp>
      <p:sp>
        <p:nvSpPr>
          <p:cNvPr id="436" name="path 43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438" name="picture 438"/>
          <p:cNvPicPr>
            <a:picLocks noChangeAspect="1"/>
          </p:cNvPicPr>
          <p:nvPr/>
        </p:nvPicPr>
        <p:blipFill>
          <a:blip r:embed="rId1"/>
          <a:stretch>
            <a:fillRect/>
          </a:stretch>
        </p:blipFill>
        <p:spPr>
          <a:xfrm rot="21600000">
            <a:off x="822960" y="408431"/>
            <a:ext cx="420623" cy="655320"/>
          </a:xfrm>
          <a:prstGeom prst="rect">
            <a:avLst/>
          </a:prstGeom>
        </p:spPr>
      </p:pic>
      <p:sp>
        <p:nvSpPr>
          <p:cNvPr id="440" name="path 44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461598" y="1997482"/>
            <a:ext cx="73202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2272030" algn="l" rtl="0" eaLnBrk="0">
              <a:lnSpc>
                <a:spcPct val="96000"/>
              </a:lnSpc>
            </a:pPr>
            <a:endParaRPr sz="4300" dirty="0">
              <a:latin typeface="仿宋" panose="02010609060101010101" charset="-122"/>
              <a:ea typeface="仿宋" panose="02010609060101010101" charset="-122"/>
              <a:cs typeface="仿宋" panose="02010609060101010101" charset="-122"/>
            </a:endParaRPr>
          </a:p>
          <a:p>
            <a:pPr algn="l" rtl="0" eaLnBrk="0">
              <a:lnSpc>
                <a:spcPct val="14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4000"/>
              </a:lnSpc>
              <a:spcBef>
                <a:spcPts val="1080"/>
              </a:spcBef>
            </a:pPr>
            <a:r>
              <a:rPr sz="3600" b="1" kern="0" spc="-20" dirty="0">
                <a:solidFill>
                  <a:srgbClr val="000000">
                    <a:alpha val="100000"/>
                  </a:srgbClr>
                </a:solidFill>
                <a:latin typeface="仿宋" panose="02010609060101010101" charset="-122"/>
                <a:ea typeface="仿宋" panose="02010609060101010101" charset="-122"/>
                <a:cs typeface="仿宋" panose="02010609060101010101" charset="-122"/>
              </a:rPr>
              <a:t>AES的密</a:t>
            </a:r>
            <a:r>
              <a:rPr sz="3600" b="1" kern="0" spc="-30" dirty="0">
                <a:solidFill>
                  <a:srgbClr val="000000">
                    <a:alpha val="100000"/>
                  </a:srgbClr>
                </a:solidFill>
                <a:latin typeface="仿宋" panose="02010609060101010101" charset="-122"/>
                <a:ea typeface="仿宋" panose="02010609060101010101" charset="-122"/>
                <a:cs typeface="仿宋" panose="02010609060101010101" charset="-122"/>
              </a:rPr>
              <a:t>钥编排及伪代码</a:t>
            </a:r>
            <a:endParaRPr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284095" algn="l" rtl="0" eaLnBrk="0">
              <a:lnSpc>
                <a:spcPct val="94000"/>
              </a:lnSpc>
              <a:spcBef>
                <a:spcPts val="0"/>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1600000">
            <a:off x="3557015" y="2057400"/>
            <a:ext cx="5708903" cy="813816"/>
            <a:chOff x="0" y="0"/>
            <a:chExt cx="5708903" cy="813816"/>
          </a:xfrm>
        </p:grpSpPr>
        <p:pic>
          <p:nvPicPr>
            <p:cNvPr id="10" name="picture 10"/>
            <p:cNvPicPr>
              <a:picLocks noChangeAspect="1"/>
            </p:cNvPicPr>
            <p:nvPr/>
          </p:nvPicPr>
          <p:blipFill>
            <a:blip r:embed="rId1"/>
            <a:stretch>
              <a:fillRect/>
            </a:stretch>
          </p:blipFill>
          <p:spPr>
            <a:xfrm rot="21600000">
              <a:off x="0" y="0"/>
              <a:ext cx="5708903" cy="813816"/>
            </a:xfrm>
            <a:prstGeom prst="rect">
              <a:avLst/>
            </a:prstGeom>
          </p:spPr>
        </p:pic>
        <p:sp>
          <p:nvSpPr>
            <p:cNvPr id="12" name="textbox 12"/>
            <p:cNvSpPr/>
            <p:nvPr/>
          </p:nvSpPr>
          <p:spPr>
            <a:xfrm>
              <a:off x="-12700" y="-12700"/>
              <a:ext cx="5734684" cy="87947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60400" algn="l" rtl="0" eaLnBrk="0">
                <a:lnSpc>
                  <a:spcPct val="94000"/>
                </a:lnSpc>
                <a:spcBef>
                  <a:spcPts val="5"/>
                </a:spcBef>
              </a:pPr>
              <a:r>
                <a:rPr sz="2400" b="1" kern="0" spc="0" dirty="0">
                  <a:solidFill>
                    <a:srgbClr val="FFFFFF">
                      <a:alpha val="100000"/>
                    </a:srgbClr>
                  </a:solidFill>
                  <a:latin typeface="Times New Roman" panose="02020603050405020304"/>
                  <a:ea typeface="Times New Roman" panose="02020603050405020304"/>
                  <a:cs typeface="Times New Roman" panose="02020603050405020304"/>
                </a:rPr>
                <a:t>AES</a:t>
              </a:r>
              <a:r>
                <a:rPr sz="2400" b="1" kern="0" spc="0" dirty="0">
                  <a:solidFill>
                    <a:srgbClr val="FFFFFF">
                      <a:alpha val="100000"/>
                    </a:srgbClr>
                  </a:solidFill>
                  <a:latin typeface="仿宋" panose="02010609060101010101" charset="-122"/>
                  <a:ea typeface="仿宋" panose="02010609060101010101" charset="-122"/>
                  <a:cs typeface="仿宋" panose="02010609060101010101" charset="-122"/>
                </a:rPr>
                <a:t>的密钥编排</a:t>
              </a:r>
              <a:endParaRPr sz="2400" dirty="0">
                <a:latin typeface="仿宋" panose="02010609060101010101" charset="-122"/>
                <a:ea typeface="仿宋" panose="02010609060101010101" charset="-122"/>
                <a:cs typeface="仿宋" panose="02010609060101010101" charset="-122"/>
              </a:endParaRPr>
            </a:p>
          </p:txBody>
        </p:sp>
      </p:grpSp>
      <p:grpSp>
        <p:nvGrpSpPr>
          <p:cNvPr id="4" name="group 4"/>
          <p:cNvGrpSpPr/>
          <p:nvPr/>
        </p:nvGrpSpPr>
        <p:grpSpPr>
          <a:xfrm rot="21600000">
            <a:off x="3709415" y="3886200"/>
            <a:ext cx="5507736" cy="813816"/>
            <a:chOff x="0" y="0"/>
            <a:chExt cx="5507736" cy="813816"/>
          </a:xfrm>
        </p:grpSpPr>
        <p:pic>
          <p:nvPicPr>
            <p:cNvPr id="14" name="picture 14"/>
            <p:cNvPicPr>
              <a:picLocks noChangeAspect="1"/>
            </p:cNvPicPr>
            <p:nvPr/>
          </p:nvPicPr>
          <p:blipFill>
            <a:blip r:embed="rId2"/>
            <a:stretch>
              <a:fillRect/>
            </a:stretch>
          </p:blipFill>
          <p:spPr>
            <a:xfrm rot="21600000">
              <a:off x="0" y="0"/>
              <a:ext cx="5507736" cy="813816"/>
            </a:xfrm>
            <a:prstGeom prst="rect">
              <a:avLst/>
            </a:prstGeom>
          </p:spPr>
        </p:pic>
        <p:sp>
          <p:nvSpPr>
            <p:cNvPr id="16" name="textbox 16"/>
            <p:cNvSpPr/>
            <p:nvPr/>
          </p:nvSpPr>
          <p:spPr>
            <a:xfrm>
              <a:off x="-12700" y="-12700"/>
              <a:ext cx="5533390" cy="87820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60400" algn="l" rtl="0" eaLnBrk="0">
                <a:lnSpc>
                  <a:spcPct val="94000"/>
                </a:lnSpc>
                <a:spcBef>
                  <a:spcPts val="5"/>
                </a:spcBef>
              </a:pPr>
              <a:r>
                <a:rPr sz="2400" b="1" kern="0" spc="0" dirty="0">
                  <a:solidFill>
                    <a:srgbClr val="FFFFFF">
                      <a:alpha val="100000"/>
                    </a:srgbClr>
                  </a:solidFill>
                  <a:latin typeface="Times New Roman" panose="02020603050405020304"/>
                  <a:ea typeface="Times New Roman" panose="02020603050405020304"/>
                  <a:cs typeface="Times New Roman" panose="02020603050405020304"/>
                </a:rPr>
                <a:t>AES</a:t>
              </a:r>
              <a:r>
                <a:rPr sz="2400" b="1" kern="0" spc="0" dirty="0">
                  <a:solidFill>
                    <a:srgbClr val="FFFFFF">
                      <a:alpha val="100000"/>
                    </a:srgbClr>
                  </a:solidFill>
                  <a:latin typeface="仿宋" panose="02010609060101010101" charset="-122"/>
                  <a:ea typeface="仿宋" panose="02010609060101010101" charset="-122"/>
                  <a:cs typeface="仿宋" panose="02010609060101010101" charset="-122"/>
                </a:rPr>
                <a:t>的伪代码</a:t>
              </a:r>
              <a:endParaRPr sz="2400" dirty="0">
                <a:latin typeface="仿宋" panose="02010609060101010101" charset="-122"/>
                <a:ea typeface="仿宋" panose="02010609060101010101" charset="-122"/>
                <a:cs typeface="仿宋" panose="02010609060101010101" charset="-122"/>
              </a:endParaRPr>
            </a:p>
          </p:txBody>
        </p:sp>
      </p:grpSp>
      <p:grpSp>
        <p:nvGrpSpPr>
          <p:cNvPr id="6" name="group 6"/>
          <p:cNvGrpSpPr/>
          <p:nvPr/>
        </p:nvGrpSpPr>
        <p:grpSpPr>
          <a:xfrm rot="21600000">
            <a:off x="2969132" y="1523492"/>
            <a:ext cx="1249298" cy="3784726"/>
            <a:chOff x="0" y="0"/>
            <a:chExt cx="1249298" cy="3784726"/>
          </a:xfrm>
        </p:grpSpPr>
        <p:sp>
          <p:nvSpPr>
            <p:cNvPr id="18" name="path 18"/>
            <p:cNvSpPr/>
            <p:nvPr/>
          </p:nvSpPr>
          <p:spPr>
            <a:xfrm>
              <a:off x="0" y="0"/>
              <a:ext cx="872886" cy="3784726"/>
            </a:xfrm>
            <a:custGeom>
              <a:avLst/>
              <a:gdLst/>
              <a:ahLst/>
              <a:cxnLst/>
              <a:rect l="0" t="0" r="0" b="0"/>
              <a:pathLst>
                <a:path w="1374" h="5960">
                  <a:moveTo>
                    <a:pt x="4" y="4"/>
                  </a:moveTo>
                  <a:cubicBezTo>
                    <a:pt x="1692" y="1576"/>
                    <a:pt x="1843" y="4199"/>
                    <a:pt x="347" y="5955"/>
                  </a:cubicBezTo>
                  <a:lnTo>
                    <a:pt x="347" y="5955"/>
                  </a:lnTo>
                  <a:cubicBezTo>
                    <a:pt x="1843" y="4199"/>
                    <a:pt x="1692" y="1576"/>
                    <a:pt x="4" y="4"/>
                  </a:cubicBezTo>
                </a:path>
              </a:pathLst>
            </a:custGeom>
            <a:noFill/>
            <a:ln w="6096" cap="flat">
              <a:solidFill>
                <a:srgbClr val="477BA9"/>
              </a:solidFill>
              <a:prstDash val="solid"/>
              <a:miter lim="1000000"/>
            </a:ln>
          </p:spPr>
          <p:txBody>
            <a:bodyPr rtlCol="0"/>
            <a:lstStyle/>
            <a:p>
              <a:pPr algn="ctr"/>
              <a:endParaRPr lang="zh-CN" altLang="en-US"/>
            </a:p>
          </p:txBody>
        </p:sp>
        <p:sp>
          <p:nvSpPr>
            <p:cNvPr id="20" name="path 20"/>
            <p:cNvSpPr/>
            <p:nvPr/>
          </p:nvSpPr>
          <p:spPr>
            <a:xfrm>
              <a:off x="78867" y="4333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2" name="path 22"/>
            <p:cNvSpPr/>
            <p:nvPr/>
          </p:nvSpPr>
          <p:spPr>
            <a:xfrm>
              <a:off x="75819" y="430276"/>
              <a:ext cx="1021079" cy="1021079"/>
            </a:xfrm>
            <a:custGeom>
              <a:avLst/>
              <a:gdLst/>
              <a:ahLst/>
              <a:cxnLst/>
              <a:rect l="0" t="0" r="0" b="0"/>
              <a:pathLst>
                <a:path w="1607" h="1607">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24" name="path 24"/>
            <p:cNvSpPr/>
            <p:nvPr/>
          </p:nvSpPr>
          <p:spPr>
            <a:xfrm>
              <a:off x="231267" y="22621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6" name="path 26"/>
            <p:cNvSpPr/>
            <p:nvPr/>
          </p:nvSpPr>
          <p:spPr>
            <a:xfrm>
              <a:off x="228219" y="2259075"/>
              <a:ext cx="1021079" cy="1021080"/>
            </a:xfrm>
            <a:custGeom>
              <a:avLst/>
              <a:gdLst/>
              <a:ahLst/>
              <a:cxnLst/>
              <a:rect l="0" t="0" r="0" b="0"/>
              <a:pathLst>
                <a:path w="1607" h="1608">
                  <a:moveTo>
                    <a:pt x="4" y="804"/>
                  </a:moveTo>
                  <a:cubicBezTo>
                    <a:pt x="4" y="362"/>
                    <a:pt x="362" y="4"/>
                    <a:pt x="803" y="4"/>
                  </a:cubicBezTo>
                  <a:cubicBezTo>
                    <a:pt x="1245" y="4"/>
                    <a:pt x="1603" y="362"/>
                    <a:pt x="1603" y="804"/>
                  </a:cubicBezTo>
                  <a:cubicBezTo>
                    <a:pt x="1603" y="1245"/>
                    <a:pt x="1245" y="1603"/>
                    <a:pt x="803" y="1603"/>
                  </a:cubicBezTo>
                  <a:cubicBezTo>
                    <a:pt x="362" y="1603"/>
                    <a:pt x="4" y="1245"/>
                    <a:pt x="4" y="804"/>
                  </a:cubicBezTo>
                </a:path>
              </a:pathLst>
            </a:custGeom>
            <a:noFill/>
            <a:ln w="6096" cap="flat">
              <a:solidFill>
                <a:srgbClr val="5B9BD5"/>
              </a:solidFill>
              <a:prstDash val="solid"/>
              <a:miter lim="1000000"/>
            </a:ln>
          </p:spPr>
          <p:txBody>
            <a:bodyPr rtlCol="0"/>
            <a:lstStyle/>
            <a:p>
              <a:pPr algn="ctr"/>
              <a:endParaRPr lang="zh-CN" altLang="en-US"/>
            </a:p>
          </p:txBody>
        </p:sp>
      </p:grpSp>
      <p:sp>
        <p:nvSpPr>
          <p:cNvPr id="28" name="textbox 28"/>
          <p:cNvSpPr/>
          <p:nvPr/>
        </p:nvSpPr>
        <p:spPr>
          <a:xfrm>
            <a:off x="2745984" y="491245"/>
            <a:ext cx="6483350"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kern="0" spc="80" dirty="0">
                <a:solidFill>
                  <a:srgbClr val="1F4E79">
                    <a:alpha val="100000"/>
                  </a:srgbClr>
                </a:solidFill>
                <a:latin typeface="仿宋" panose="02010609060101010101" charset="-122"/>
                <a:ea typeface="仿宋" panose="02010609060101010101" charset="-122"/>
                <a:cs typeface="仿宋" panose="02010609060101010101" charset="-122"/>
              </a:rPr>
              <a:t>的密钥编排及伪代码</a:t>
            </a:r>
            <a:endParaRPr sz="3100" dirty="0">
              <a:latin typeface="仿宋" panose="02010609060101010101" charset="-122"/>
              <a:ea typeface="仿宋" panose="02010609060101010101" charset="-122"/>
              <a:cs typeface="仿宋" panose="02010609060101010101" charset="-122"/>
            </a:endParaRPr>
          </a:p>
        </p:txBody>
      </p:sp>
      <p:sp>
        <p:nvSpPr>
          <p:cNvPr id="32" name="path 32"/>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34" name="picture 34"/>
          <p:cNvPicPr>
            <a:picLocks noChangeAspect="1"/>
          </p:cNvPicPr>
          <p:nvPr/>
        </p:nvPicPr>
        <p:blipFill>
          <a:blip r:embed="rId3"/>
          <a:stretch>
            <a:fillRect/>
          </a:stretch>
        </p:blipFill>
        <p:spPr>
          <a:xfrm rot="21600000">
            <a:off x="822960" y="408431"/>
            <a:ext cx="420623" cy="655320"/>
          </a:xfrm>
          <a:prstGeom prst="rect">
            <a:avLst/>
          </a:prstGeom>
        </p:spPr>
      </p:pic>
      <p:sp>
        <p:nvSpPr>
          <p:cNvPr id="36" name="path 3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8"/>
          <p:cNvSpPr/>
          <p:nvPr/>
        </p:nvSpPr>
        <p:spPr>
          <a:xfrm>
            <a:off x="1202235" y="1576561"/>
            <a:ext cx="10050780" cy="4308475"/>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41275" indent="-28575" algn="l" rtl="0" eaLnBrk="0">
              <a:lnSpc>
                <a:spcPct val="107000"/>
              </a:lnSpc>
            </a:pPr>
            <a:r>
              <a:rPr sz="28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密钥编排指从种子密钥得到轮密</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钥的过程，它由密钥扩展和轮</a:t>
            </a:r>
            <a:r>
              <a:rPr sz="28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密钥选取两部分组成</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。其基本原则如下：</a:t>
            </a:r>
            <a:endParaRPr sz="2800" dirty="0">
              <a:latin typeface="仿宋" panose="02010609060101010101" charset="-122"/>
              <a:ea typeface="仿宋" panose="02010609060101010101" charset="-122"/>
              <a:cs typeface="仿宋" panose="02010609060101010101" charset="-122"/>
            </a:endParaRPr>
          </a:p>
          <a:p>
            <a:pPr marL="22225" indent="-9525" algn="l" rtl="0" eaLnBrk="0">
              <a:lnSpc>
                <a:spcPct val="112000"/>
              </a:lnSpc>
              <a:spcBef>
                <a:spcPts val="1830"/>
              </a:spcBef>
            </a:pPr>
            <a:r>
              <a:rPr sz="28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1</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）轮密钥的比特</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数等于分组长度乘以轮数加</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1</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；例如要将</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128 </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比特的明文经过</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10</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轮的加密，则总共需要</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10+1</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*128=1408</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比</a:t>
            </a:r>
            <a:r>
              <a:rPr sz="28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100" dirty="0">
                <a:solidFill>
                  <a:srgbClr val="000000">
                    <a:alpha val="100000"/>
                  </a:srgbClr>
                </a:solidFill>
                <a:latin typeface="仿宋" panose="02010609060101010101" charset="-122"/>
                <a:ea typeface="仿宋" panose="02010609060101010101" charset="-122"/>
                <a:cs typeface="仿宋" panose="02010609060101010101" charset="-122"/>
              </a:rPr>
              <a:t>特的密钥。</a:t>
            </a:r>
            <a:endParaRPr sz="2800" dirty="0">
              <a:latin typeface="仿宋" panose="02010609060101010101" charset="-122"/>
              <a:ea typeface="仿宋" panose="02010609060101010101" charset="-122"/>
              <a:cs typeface="仿宋" panose="02010609060101010101" charset="-122"/>
            </a:endParaRPr>
          </a:p>
          <a:p>
            <a:pPr marL="12700" algn="l" rtl="0" eaLnBrk="0">
              <a:lnSpc>
                <a:spcPct val="100000"/>
              </a:lnSpc>
              <a:spcBef>
                <a:spcPts val="835"/>
              </a:spcBef>
            </a:pPr>
            <a:r>
              <a:rPr sz="2800" kern="0" spc="-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kern="0" spc="-9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90" dirty="0">
                <a:solidFill>
                  <a:srgbClr val="000000">
                    <a:alpha val="100000"/>
                  </a:srgbClr>
                </a:solidFill>
                <a:latin typeface="Times New Roman" panose="02020603050405020304"/>
                <a:ea typeface="Times New Roman" panose="02020603050405020304"/>
                <a:cs typeface="Times New Roman" panose="02020603050405020304"/>
              </a:rPr>
              <a:t>2</a:t>
            </a:r>
            <a:r>
              <a:rPr sz="2800" b="1" kern="0" spc="-90" dirty="0">
                <a:solidFill>
                  <a:srgbClr val="000000">
                    <a:alpha val="100000"/>
                  </a:srgbClr>
                </a:solidFill>
                <a:latin typeface="仿宋" panose="02010609060101010101" charset="-122"/>
                <a:ea typeface="仿宋" panose="02010609060101010101" charset="-122"/>
                <a:cs typeface="仿宋" panose="02010609060101010101" charset="-122"/>
              </a:rPr>
              <a:t>）种子密钥被扩展成为扩</a:t>
            </a:r>
            <a:r>
              <a:rPr sz="2800" b="1" kern="0" spc="-100" dirty="0">
                <a:solidFill>
                  <a:srgbClr val="000000">
                    <a:alpha val="100000"/>
                  </a:srgbClr>
                </a:solidFill>
                <a:latin typeface="仿宋" panose="02010609060101010101" charset="-122"/>
                <a:ea typeface="仿宋" panose="02010609060101010101" charset="-122"/>
                <a:cs typeface="仿宋" panose="02010609060101010101" charset="-122"/>
              </a:rPr>
              <a:t>展密钥；</a:t>
            </a:r>
            <a:endParaRPr sz="2800" dirty="0">
              <a:latin typeface="仿宋" panose="02010609060101010101" charset="-122"/>
              <a:ea typeface="仿宋" panose="02010609060101010101" charset="-122"/>
              <a:cs typeface="仿宋" panose="02010609060101010101" charset="-122"/>
            </a:endParaRPr>
          </a:p>
          <a:p>
            <a:pPr marL="12700" algn="l" rtl="0" eaLnBrk="0">
              <a:lnSpc>
                <a:spcPct val="89000"/>
              </a:lnSpc>
              <a:spcBef>
                <a:spcPts val="1685"/>
              </a:spcBef>
            </a:pPr>
            <a:r>
              <a:rPr sz="28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3</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）轮密钥从扩展密钥中</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取，其中第</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1</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轮轮密钥取扩展密钥的</a:t>
            </a:r>
            <a:endParaRPr sz="2800" dirty="0">
              <a:latin typeface="仿宋" panose="02010609060101010101" charset="-122"/>
              <a:ea typeface="仿宋" panose="02010609060101010101" charset="-122"/>
              <a:cs typeface="仿宋" panose="02010609060101010101" charset="-122"/>
            </a:endParaRPr>
          </a:p>
          <a:p>
            <a:pPr marL="27305" algn="l" rtl="0" eaLnBrk="0">
              <a:lnSpc>
                <a:spcPts val="4520"/>
              </a:lnSpc>
            </a:pP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前</a:t>
            </a:r>
            <a:r>
              <a:rPr sz="2800" b="1" kern="0" spc="-50" dirty="0">
                <a:solidFill>
                  <a:srgbClr val="000000">
                    <a:alpha val="100000"/>
                  </a:srgbClr>
                </a:solidFill>
                <a:latin typeface="Times New Roman" panose="02020603050405020304"/>
                <a:ea typeface="Times New Roman" panose="02020603050405020304"/>
                <a:cs typeface="Times New Roman" panose="02020603050405020304"/>
              </a:rPr>
              <a:t>N</a:t>
            </a:r>
            <a:r>
              <a:rPr sz="2800" b="1" kern="0" spc="-50" baseline="-29000" dirty="0">
                <a:solidFill>
                  <a:srgbClr val="000000">
                    <a:alpha val="100000"/>
                  </a:srgbClr>
                </a:solidFill>
                <a:latin typeface="Times New Roman" panose="02020603050405020304"/>
                <a:ea typeface="Times New Roman" panose="02020603050405020304"/>
                <a:cs typeface="Times New Roman" panose="02020603050405020304"/>
              </a:rPr>
              <a:t>b</a:t>
            </a:r>
            <a:r>
              <a:rPr sz="1800" b="1"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个字，第</a:t>
            </a:r>
            <a:r>
              <a:rPr sz="2800" b="1" kern="0" spc="-50" dirty="0">
                <a:solidFill>
                  <a:srgbClr val="000000">
                    <a:alpha val="100000"/>
                  </a:srgbClr>
                </a:solidFill>
                <a:latin typeface="Times New Roman" panose="02020603050405020304"/>
                <a:ea typeface="Times New Roman" panose="02020603050405020304"/>
                <a:cs typeface="Times New Roman" panose="02020603050405020304"/>
              </a:rPr>
              <a:t>2</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轮轮密钥取接下来的</a:t>
            </a:r>
            <a:r>
              <a:rPr sz="2800" b="1" kern="0" spc="-50" dirty="0">
                <a:solidFill>
                  <a:srgbClr val="000000">
                    <a:alpha val="100000"/>
                  </a:srgbClr>
                </a:solidFill>
                <a:latin typeface="Times New Roman" panose="02020603050405020304"/>
                <a:ea typeface="Times New Roman" panose="02020603050405020304"/>
                <a:cs typeface="Times New Roman" panose="02020603050405020304"/>
              </a:rPr>
              <a:t>N</a:t>
            </a:r>
            <a:r>
              <a:rPr sz="2800" b="1" kern="0" spc="-50" baseline="-29000" dirty="0">
                <a:solidFill>
                  <a:srgbClr val="000000">
                    <a:alpha val="100000"/>
                  </a:srgbClr>
                </a:solidFill>
                <a:latin typeface="Times New Roman" panose="02020603050405020304"/>
                <a:ea typeface="Times New Roman" panose="02020603050405020304"/>
                <a:cs typeface="Times New Roman" panose="02020603050405020304"/>
              </a:rPr>
              <a:t>b</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个字，如此下去</a:t>
            </a:r>
            <a:r>
              <a:rPr sz="2800" b="1" kern="0" spc="-60" dirty="0">
                <a:solidFill>
                  <a:srgbClr val="000000">
                    <a:alpha val="100000"/>
                  </a:srgbClr>
                </a:solidFill>
                <a:latin typeface="仿宋" panose="02010609060101010101" charset="-122"/>
                <a:ea typeface="仿宋" panose="02010609060101010101" charset="-122"/>
                <a:cs typeface="仿宋" panose="02010609060101010101" charset="-122"/>
              </a:rPr>
              <a:t>。</a:t>
            </a:r>
            <a:endParaRPr sz="2800" dirty="0">
              <a:latin typeface="仿宋" panose="02010609060101010101" charset="-122"/>
              <a:ea typeface="仿宋" panose="02010609060101010101" charset="-122"/>
              <a:cs typeface="仿宋" panose="02010609060101010101" charset="-122"/>
            </a:endParaRPr>
          </a:p>
        </p:txBody>
      </p:sp>
      <p:sp>
        <p:nvSpPr>
          <p:cNvPr id="42" name="textbox 42"/>
          <p:cNvSpPr/>
          <p:nvPr/>
        </p:nvSpPr>
        <p:spPr>
          <a:xfrm>
            <a:off x="1592003" y="491245"/>
            <a:ext cx="1609089" cy="482600"/>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10" dirty="0">
                <a:solidFill>
                  <a:srgbClr val="1F4E79">
                    <a:alpha val="100000"/>
                  </a:srgbClr>
                </a:solidFill>
                <a:latin typeface="仿宋" panose="02010609060101010101" charset="-122"/>
                <a:ea typeface="仿宋" panose="02010609060101010101" charset="-122"/>
                <a:cs typeface="仿宋" panose="02010609060101010101" charset="-122"/>
              </a:rPr>
              <a:t>密钥编排</a:t>
            </a:r>
            <a:endParaRPr sz="3100" dirty="0">
              <a:latin typeface="仿宋" panose="02010609060101010101" charset="-122"/>
              <a:ea typeface="仿宋" panose="02010609060101010101" charset="-122"/>
              <a:cs typeface="仿宋" panose="02010609060101010101" charset="-122"/>
            </a:endParaRPr>
          </a:p>
        </p:txBody>
      </p:sp>
      <p:sp>
        <p:nvSpPr>
          <p:cNvPr id="44" name="path 44"/>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46" name="picture 46"/>
          <p:cNvPicPr>
            <a:picLocks noChangeAspect="1"/>
          </p:cNvPicPr>
          <p:nvPr/>
        </p:nvPicPr>
        <p:blipFill>
          <a:blip r:embed="rId1"/>
          <a:stretch>
            <a:fillRect/>
          </a:stretch>
        </p:blipFill>
        <p:spPr>
          <a:xfrm rot="21600000">
            <a:off x="822960" y="408431"/>
            <a:ext cx="420623" cy="655320"/>
          </a:xfrm>
          <a:prstGeom prst="rect">
            <a:avLst/>
          </a:prstGeom>
        </p:spPr>
      </p:pic>
      <p:sp>
        <p:nvSpPr>
          <p:cNvPr id="48" name="path 48"/>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50"/>
          <p:cNvSpPr/>
          <p:nvPr/>
        </p:nvSpPr>
        <p:spPr>
          <a:xfrm>
            <a:off x="1202055" y="1356360"/>
            <a:ext cx="10273665" cy="1493520"/>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469900" indent="-457200" algn="l" rtl="0" eaLnBrk="0">
              <a:lnSpc>
                <a:spcPct val="115000"/>
              </a:lnSpc>
              <a:buFont typeface="Arial" panose="020B0604020202020204" pitchFamily="34" charset="0"/>
              <a:buChar char="•"/>
            </a:pP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扩展密钥</a:t>
            </a:r>
            <a:r>
              <a:rPr lang="zh-CN" sz="2800" b="1" kern="0" spc="0" dirty="0">
                <a:solidFill>
                  <a:srgbClr val="000000">
                    <a:alpha val="100000"/>
                  </a:srgbClr>
                </a:solidFill>
                <a:latin typeface="仿宋" panose="02010609060101010101" charset="-122"/>
                <a:ea typeface="仿宋" panose="02010609060101010101" charset="-122"/>
                <a:cs typeface="仿宋" panose="02010609060101010101" charset="-122"/>
              </a:rPr>
              <a:t>的输入</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是</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4</a:t>
            </a:r>
            <a:r>
              <a:rPr lang="zh-CN" sz="2800" b="1" kern="0" spc="0" dirty="0">
                <a:solidFill>
                  <a:srgbClr val="000000">
                    <a:alpha val="100000"/>
                  </a:srgbClr>
                </a:solidFill>
                <a:latin typeface="Times New Roman" panose="02020603050405020304"/>
                <a:ea typeface="Times New Roman" panose="02020603050405020304"/>
                <a:cs typeface="Times New Roman" panose="02020603050405020304"/>
              </a:rPr>
              <a:t>个</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字</a:t>
            </a:r>
            <a:r>
              <a:rPr lang="zh-CN" sz="2800" b="1" kern="0" spc="0" dirty="0">
                <a:solidFill>
                  <a:srgbClr val="000000">
                    <a:alpha val="100000"/>
                  </a:srgbClr>
                </a:solidFill>
                <a:latin typeface="仿宋" panose="02010609060101010101" charset="-122"/>
                <a:ea typeface="仿宋" panose="02010609060101010101" charset="-122"/>
                <a:cs typeface="仿宋" panose="02010609060101010101" charset="-122"/>
              </a:rPr>
              <a:t>（</a:t>
            </a:r>
            <a:r>
              <a:rPr lang="en-US" altLang="zh-CN" sz="2800" b="1" kern="0" spc="0" dirty="0">
                <a:solidFill>
                  <a:srgbClr val="000000">
                    <a:alpha val="100000"/>
                  </a:srgbClr>
                </a:solidFill>
                <a:latin typeface="仿宋" panose="02010609060101010101" charset="-122"/>
                <a:ea typeface="仿宋" panose="02010609060101010101" charset="-122"/>
                <a:cs typeface="仿宋" panose="02010609060101010101" charset="-122"/>
              </a:rPr>
              <a:t>16</a:t>
            </a:r>
            <a:r>
              <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个字节）</a:t>
            </a:r>
            <a:endPar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endParaRPr>
          </a:p>
          <a:p>
            <a:pPr marL="469900" indent="-457200" algn="l" rtl="0" eaLnBrk="0">
              <a:lnSpc>
                <a:spcPct val="115000"/>
              </a:lnSpc>
              <a:buFont typeface="Arial" panose="020B0604020202020204" pitchFamily="34" charset="0"/>
              <a:buChar char="•"/>
            </a:pPr>
            <a:r>
              <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输出为</a:t>
            </a:r>
            <a:r>
              <a:rPr lang="en-US" altLang="zh-CN" sz="2800" b="1" kern="0" spc="0" dirty="0">
                <a:solidFill>
                  <a:srgbClr val="000000">
                    <a:alpha val="100000"/>
                  </a:srgbClr>
                </a:solidFill>
                <a:latin typeface="仿宋" panose="02010609060101010101" charset="-122"/>
                <a:ea typeface="仿宋" panose="02010609060101010101" charset="-122"/>
                <a:cs typeface="仿宋" panose="02010609060101010101" charset="-122"/>
              </a:rPr>
              <a:t>44</a:t>
            </a:r>
            <a:r>
              <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个字（</a:t>
            </a:r>
            <a:r>
              <a:rPr lang="en-US" altLang="zh-CN" sz="2800" b="1" kern="0" spc="0" dirty="0">
                <a:solidFill>
                  <a:srgbClr val="000000">
                    <a:alpha val="100000"/>
                  </a:srgbClr>
                </a:solidFill>
                <a:latin typeface="仿宋" panose="02010609060101010101" charset="-122"/>
                <a:ea typeface="仿宋" panose="02010609060101010101" charset="-122"/>
                <a:cs typeface="仿宋" panose="02010609060101010101" charset="-122"/>
              </a:rPr>
              <a:t>176</a:t>
            </a:r>
            <a:r>
              <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个字节）组成的一维线性</a:t>
            </a:r>
            <a:r>
              <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数组。</a:t>
            </a:r>
            <a:endPar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endParaRPr>
          </a:p>
          <a:p>
            <a:pPr marL="469900" indent="-457200" algn="l" rtl="0" eaLnBrk="0">
              <a:lnSpc>
                <a:spcPct val="115000"/>
              </a:lnSpc>
              <a:buFont typeface="Arial" panose="020B0604020202020204" pitchFamily="34" charset="0"/>
              <a:buChar char="•"/>
            </a:pPr>
            <a:r>
              <a:rPr lang="zh-CN" altLang="en-US" sz="2800" b="1" kern="0" spc="0" dirty="0">
                <a:solidFill>
                  <a:srgbClr val="000000">
                    <a:alpha val="100000"/>
                  </a:srgbClr>
                </a:solidFill>
                <a:latin typeface="仿宋" panose="02010609060101010101" charset="-122"/>
                <a:ea typeface="仿宋" panose="02010609060101010101" charset="-122"/>
                <a:cs typeface="仿宋" panose="02010609060101010101" charset="-122"/>
              </a:rPr>
              <a:t>密钥扩展算法</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表示为</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W[Nb*</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(N</a:t>
            </a:r>
            <a:r>
              <a:rPr sz="2800" b="1" kern="0" spc="0" baseline="-18000" dirty="0">
                <a:solidFill>
                  <a:srgbClr val="000000">
                    <a:alpha val="100000"/>
                  </a:srgbClr>
                </a:solidFill>
                <a:latin typeface="Times New Roman" panose="02020603050405020304"/>
                <a:ea typeface="Times New Roman" panose="02020603050405020304"/>
                <a:cs typeface="Times New Roman" panose="02020603050405020304"/>
              </a:rPr>
              <a:t>r</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+1)]</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，其中前</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N</a:t>
            </a:r>
            <a:r>
              <a:rPr sz="2800" b="1" kern="0" spc="0" baseline="-18000" dirty="0">
                <a:solidFill>
                  <a:srgbClr val="000000">
                    <a:alpha val="100000"/>
                  </a:srgbClr>
                </a:solidFill>
                <a:latin typeface="Times New Roman" panose="02020603050405020304"/>
                <a:ea typeface="Times New Roman" panose="02020603050405020304"/>
                <a:cs typeface="Times New Roman" panose="02020603050405020304"/>
              </a:rPr>
              <a:t>k</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个字取为种子密钥，以后每个字按递</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归方式</a:t>
            </a:r>
            <a:r>
              <a:rPr sz="2800" b="1" kern="0" spc="-60" dirty="0">
                <a:solidFill>
                  <a:srgbClr val="000000">
                    <a:alpha val="100000"/>
                  </a:srgbClr>
                </a:solidFill>
                <a:latin typeface="仿宋" panose="02010609060101010101" charset="-122"/>
                <a:ea typeface="仿宋" panose="02010609060101010101" charset="-122"/>
                <a:cs typeface="仿宋" panose="02010609060101010101" charset="-122"/>
              </a:rPr>
              <a:t>定义。扩展算法根据</a:t>
            </a:r>
            <a:r>
              <a:rPr sz="2800" b="1" kern="0" spc="-70" dirty="0">
                <a:solidFill>
                  <a:srgbClr val="000000">
                    <a:alpha val="100000"/>
                  </a:srgbClr>
                </a:solidFill>
                <a:latin typeface="Times New Roman" panose="02020603050405020304"/>
                <a:ea typeface="Times New Roman" panose="02020603050405020304"/>
                <a:cs typeface="Times New Roman" panose="02020603050405020304"/>
              </a:rPr>
              <a:t>N</a:t>
            </a:r>
            <a:r>
              <a:rPr sz="2800" b="1" kern="0" spc="-70" baseline="-20000" dirty="0">
                <a:solidFill>
                  <a:srgbClr val="000000">
                    <a:alpha val="100000"/>
                  </a:srgbClr>
                </a:solidFill>
                <a:latin typeface="Times New Roman" panose="02020603050405020304"/>
                <a:ea typeface="Times New Roman" panose="02020603050405020304"/>
                <a:cs typeface="Times New Roman" panose="02020603050405020304"/>
              </a:rPr>
              <a:t>k</a:t>
            </a:r>
            <a:r>
              <a:rPr sz="2800" b="1" kern="0" spc="-70" dirty="0">
                <a:solidFill>
                  <a:srgbClr val="000000">
                    <a:alpha val="100000"/>
                  </a:srgbClr>
                </a:solidFill>
                <a:latin typeface="Times New Roman" panose="02020603050405020304"/>
                <a:ea typeface="Times New Roman" panose="02020603050405020304"/>
                <a:cs typeface="Times New Roman" panose="02020603050405020304"/>
              </a:rPr>
              <a:t>≤6</a:t>
            </a:r>
            <a:r>
              <a:rPr sz="2800" b="1" kern="0" spc="-70" dirty="0">
                <a:solidFill>
                  <a:srgbClr val="000000">
                    <a:alpha val="100000"/>
                  </a:srgbClr>
                </a:solidFill>
                <a:latin typeface="仿宋" panose="02010609060101010101" charset="-122"/>
                <a:ea typeface="仿宋" panose="02010609060101010101" charset="-122"/>
                <a:cs typeface="仿宋" panose="02010609060101010101" charset="-122"/>
              </a:rPr>
              <a:t>和</a:t>
            </a:r>
            <a:r>
              <a:rPr sz="2800" b="1" kern="0" spc="-70" dirty="0">
                <a:solidFill>
                  <a:srgbClr val="000000">
                    <a:alpha val="100000"/>
                  </a:srgbClr>
                </a:solidFill>
                <a:latin typeface="Times New Roman" panose="02020603050405020304"/>
                <a:ea typeface="Times New Roman" panose="02020603050405020304"/>
                <a:cs typeface="Times New Roman" panose="02020603050405020304"/>
              </a:rPr>
              <a:t>N</a:t>
            </a:r>
            <a:r>
              <a:rPr sz="2800" b="1" kern="0" spc="-70" baseline="-20000" dirty="0">
                <a:solidFill>
                  <a:srgbClr val="000000">
                    <a:alpha val="100000"/>
                  </a:srgbClr>
                </a:solidFill>
                <a:latin typeface="Times New Roman" panose="02020603050405020304"/>
                <a:ea typeface="Times New Roman" panose="02020603050405020304"/>
                <a:cs typeface="Times New Roman" panose="02020603050405020304"/>
              </a:rPr>
              <a:t>k</a:t>
            </a:r>
            <a:r>
              <a:rPr sz="2800" b="1" kern="0" spc="-70" dirty="0">
                <a:solidFill>
                  <a:srgbClr val="000000">
                    <a:alpha val="100000"/>
                  </a:srgbClr>
                </a:solidFill>
                <a:latin typeface="Times New Roman" panose="02020603050405020304"/>
                <a:ea typeface="Times New Roman" panose="02020603050405020304"/>
                <a:cs typeface="Times New Roman" panose="02020603050405020304"/>
              </a:rPr>
              <a:t>&gt;6</a:t>
            </a:r>
            <a:r>
              <a:rPr sz="2800" b="1" kern="0" spc="-70" dirty="0">
                <a:solidFill>
                  <a:srgbClr val="000000">
                    <a:alpha val="100000"/>
                  </a:srgbClr>
                </a:solidFill>
                <a:latin typeface="仿宋" panose="02010609060101010101" charset="-122"/>
                <a:ea typeface="仿宋" panose="02010609060101010101" charset="-122"/>
                <a:cs typeface="仿宋" panose="02010609060101010101" charset="-122"/>
              </a:rPr>
              <a:t>有所不同。</a:t>
            </a:r>
            <a:endParaRPr sz="2800" dirty="0">
              <a:latin typeface="仿宋" panose="02010609060101010101" charset="-122"/>
              <a:ea typeface="仿宋" panose="02010609060101010101" charset="-122"/>
              <a:cs typeface="仿宋" panose="02010609060101010101" charset="-122"/>
            </a:endParaRPr>
          </a:p>
        </p:txBody>
      </p:sp>
      <p:graphicFrame>
        <p:nvGraphicFramePr>
          <p:cNvPr id="52" name="table 52"/>
          <p:cNvGraphicFramePr>
            <a:graphicFrameLocks noGrp="1"/>
          </p:cNvGraphicFramePr>
          <p:nvPr/>
        </p:nvGraphicFramePr>
        <p:xfrm>
          <a:off x="2027301" y="4032250"/>
          <a:ext cx="7023100" cy="1841500"/>
        </p:xfrm>
        <a:graphic>
          <a:graphicData uri="http://schemas.openxmlformats.org/drawingml/2006/table">
            <a:tbl>
              <a:tblPr/>
              <a:tblGrid>
                <a:gridCol w="882650"/>
                <a:gridCol w="876300"/>
                <a:gridCol w="876300"/>
                <a:gridCol w="876300"/>
                <a:gridCol w="876300"/>
                <a:gridCol w="876300"/>
                <a:gridCol w="876300"/>
                <a:gridCol w="882650"/>
              </a:tblGrid>
              <a:tr h="463550">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6479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01</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02</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04</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05</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200">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6479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10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65430" algn="l" rtl="0" eaLnBrk="0">
                        <a:lnSpc>
                          <a:spcPct val="88000"/>
                        </a:lnSpc>
                        <a:spcBef>
                          <a:spcPts val="5"/>
                        </a:spcBef>
                      </a:pPr>
                      <a:r>
                        <a:rPr sz="3600" b="1" i="1" kern="0" spc="-1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10" baseline="-15000" dirty="0">
                          <a:solidFill>
                            <a:srgbClr val="000000">
                              <a:alpha val="100000"/>
                            </a:srgbClr>
                          </a:solidFill>
                          <a:latin typeface="Times New Roman" panose="02020603050405020304"/>
                          <a:ea typeface="Times New Roman" panose="02020603050405020304"/>
                          <a:cs typeface="Times New Roman" panose="02020603050405020304"/>
                        </a:rPr>
                        <a:t>11</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12</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13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88000"/>
                        </a:lnSpc>
                        <a:spcBef>
                          <a:spcPts val="5"/>
                        </a:spcBef>
                      </a:pPr>
                      <a:r>
                        <a:rPr sz="3600" b="1" i="1" kern="0" spc="2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14</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15</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200">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6479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21</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22</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88000"/>
                        </a:lnSpc>
                        <a:spcBef>
                          <a:spcPts val="5"/>
                        </a:spcBef>
                      </a:pPr>
                      <a:r>
                        <a:rPr sz="3600" b="1" i="1" kern="0" spc="2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24</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25</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3550">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64795"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31</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32</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34</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35</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4" name="textbox 54"/>
          <p:cNvSpPr/>
          <p:nvPr/>
        </p:nvSpPr>
        <p:spPr>
          <a:xfrm>
            <a:off x="2267257" y="3745709"/>
            <a:ext cx="5701665" cy="32067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2320"/>
              </a:lnSpc>
            </a:pPr>
            <a:r>
              <a:rPr sz="2700" b="1" kern="0" spc="2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20" baseline="3000" dirty="0">
                <a:solidFill>
                  <a:srgbClr val="000000">
                    <a:alpha val="100000"/>
                  </a:srgbClr>
                </a:solidFill>
                <a:latin typeface="Times New Roman" panose="02020603050405020304"/>
                <a:ea typeface="Times New Roman" panose="02020603050405020304"/>
                <a:cs typeface="Times New Roman" panose="02020603050405020304"/>
              </a:rPr>
              <a:t>0</a:t>
            </a:r>
            <a:r>
              <a:rPr sz="1100" b="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2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20" baseline="3000" dirty="0">
                <a:solidFill>
                  <a:srgbClr val="000000">
                    <a:alpha val="100000"/>
                  </a:srgbClr>
                </a:solidFill>
                <a:latin typeface="Times New Roman" panose="02020603050405020304"/>
                <a:ea typeface="Times New Roman" panose="02020603050405020304"/>
                <a:cs typeface="Times New Roman" panose="02020603050405020304"/>
              </a:rPr>
              <a:t>1</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1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2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20" baseline="3000" dirty="0">
                <a:solidFill>
                  <a:srgbClr val="000000">
                    <a:alpha val="100000"/>
                  </a:srgbClr>
                </a:solidFill>
                <a:latin typeface="Times New Roman" panose="02020603050405020304"/>
                <a:ea typeface="Times New Roman" panose="02020603050405020304"/>
                <a:cs typeface="Times New Roman" panose="02020603050405020304"/>
              </a:rPr>
              <a:t>2</a:t>
            </a:r>
            <a:r>
              <a:rPr sz="1100" b="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1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10" baseline="3000" dirty="0">
                <a:solidFill>
                  <a:srgbClr val="000000">
                    <a:alpha val="100000"/>
                  </a:srgbClr>
                </a:solidFill>
                <a:latin typeface="Times New Roman" panose="02020603050405020304"/>
                <a:ea typeface="Times New Roman" panose="02020603050405020304"/>
                <a:cs typeface="Times New Roman" panose="02020603050405020304"/>
              </a:rPr>
              <a:t>3</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1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1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10" baseline="3000" dirty="0">
                <a:solidFill>
                  <a:srgbClr val="000000">
                    <a:alpha val="100000"/>
                  </a:srgbClr>
                </a:solidFill>
                <a:latin typeface="Times New Roman" panose="02020603050405020304"/>
                <a:ea typeface="Times New Roman" panose="02020603050405020304"/>
                <a:cs typeface="Times New Roman" panose="02020603050405020304"/>
              </a:rPr>
              <a:t>4</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1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10" baseline="3000" dirty="0">
                <a:solidFill>
                  <a:srgbClr val="000000">
                    <a:alpha val="100000"/>
                  </a:srgbClr>
                </a:solidFill>
                <a:latin typeface="Times New Roman" panose="02020603050405020304"/>
                <a:ea typeface="Times New Roman" panose="02020603050405020304"/>
                <a:cs typeface="Times New Roman" panose="02020603050405020304"/>
              </a:rPr>
              <a:t>5</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10" baseline="6000" dirty="0">
                <a:solidFill>
                  <a:srgbClr val="000000">
                    <a:alpha val="100000"/>
                  </a:srgbClr>
                </a:solidFill>
                <a:latin typeface="Times New Roman" panose="02020603050405020304"/>
                <a:ea typeface="Times New Roman" panose="02020603050405020304"/>
                <a:cs typeface="Times New Roman" panose="02020603050405020304"/>
              </a:rPr>
              <a:t>……</a:t>
            </a:r>
            <a:endParaRPr sz="2700" baseline="6000" dirty="0">
              <a:latin typeface="Times New Roman" panose="02020603050405020304"/>
              <a:ea typeface="Times New Roman" panose="02020603050405020304"/>
              <a:cs typeface="Times New Roman" panose="02020603050405020304"/>
            </a:endParaRPr>
          </a:p>
        </p:txBody>
      </p:sp>
      <p:sp>
        <p:nvSpPr>
          <p:cNvPr id="58" name="textbox 58"/>
          <p:cNvSpPr/>
          <p:nvPr/>
        </p:nvSpPr>
        <p:spPr>
          <a:xfrm>
            <a:off x="1592003" y="491245"/>
            <a:ext cx="1609089" cy="483869"/>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10" dirty="0">
                <a:solidFill>
                  <a:srgbClr val="1F4E79">
                    <a:alpha val="100000"/>
                  </a:srgbClr>
                </a:solidFill>
                <a:latin typeface="仿宋" panose="02010609060101010101" charset="-122"/>
                <a:ea typeface="仿宋" panose="02010609060101010101" charset="-122"/>
                <a:cs typeface="仿宋" panose="02010609060101010101" charset="-122"/>
              </a:rPr>
              <a:t>密钥扩展</a:t>
            </a:r>
            <a:endParaRPr sz="3100" dirty="0">
              <a:latin typeface="仿宋" panose="02010609060101010101" charset="-122"/>
              <a:ea typeface="仿宋" panose="02010609060101010101" charset="-122"/>
              <a:cs typeface="仿宋" panose="02010609060101010101" charset="-122"/>
            </a:endParaRPr>
          </a:p>
        </p:txBody>
      </p:sp>
      <p:sp>
        <p:nvSpPr>
          <p:cNvPr id="60" name="path 60"/>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62" name="picture 62"/>
          <p:cNvPicPr>
            <a:picLocks noChangeAspect="1"/>
          </p:cNvPicPr>
          <p:nvPr/>
        </p:nvPicPr>
        <p:blipFill>
          <a:blip r:embed="rId1"/>
          <a:stretch>
            <a:fillRect/>
          </a:stretch>
        </p:blipFill>
        <p:spPr>
          <a:xfrm rot="21600000">
            <a:off x="822960" y="408431"/>
            <a:ext cx="420623" cy="655320"/>
          </a:xfrm>
          <a:prstGeom prst="rect">
            <a:avLst/>
          </a:prstGeom>
        </p:spPr>
      </p:pic>
      <p:sp>
        <p:nvSpPr>
          <p:cNvPr id="64" name="path 64"/>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
        <p:nvSpPr>
          <p:cNvPr id="66" name="textbox 66"/>
          <p:cNvSpPr/>
          <p:nvPr/>
        </p:nvSpPr>
        <p:spPr>
          <a:xfrm>
            <a:off x="9361932" y="4849800"/>
            <a:ext cx="463550" cy="281940"/>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pPr>
            <a:r>
              <a:rPr sz="1800" b="1" kern="0" spc="-5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extbox 68"/>
          <p:cNvSpPr/>
          <p:nvPr/>
        </p:nvSpPr>
        <p:spPr>
          <a:xfrm>
            <a:off x="1279382" y="1370938"/>
            <a:ext cx="7680959" cy="4679315"/>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8000"/>
              </a:lnSpc>
            </a:pP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KeyExpansion</a:t>
            </a:r>
            <a:r>
              <a:rPr sz="1900" b="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byteKey</a:t>
            </a:r>
            <a:r>
              <a:rPr sz="1900" b="1" kern="0" spc="100" dirty="0">
                <a:solidFill>
                  <a:srgbClr val="000000">
                    <a:alpha val="100000"/>
                  </a:srgbClr>
                </a:solidFill>
                <a:latin typeface="Times New Roman" panose="02020603050405020304"/>
                <a:ea typeface="Times New Roman" panose="02020603050405020304"/>
                <a:cs typeface="Times New Roman" panose="02020603050405020304"/>
              </a:rPr>
              <a:t>[4*</a:t>
            </a: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Nk</a:t>
            </a:r>
            <a:r>
              <a:rPr sz="1900" b="1" kern="0" spc="100" dirty="0">
                <a:solidFill>
                  <a:srgbClr val="000000">
                    <a:alpha val="100000"/>
                  </a:srgbClr>
                </a:solidFill>
                <a:latin typeface="Times New Roman" panose="02020603050405020304"/>
                <a:ea typeface="Times New Roman" panose="02020603050405020304"/>
                <a:cs typeface="Times New Roman" panose="02020603050405020304"/>
              </a:rPr>
              <a:t>] , W[</a:t>
            </a: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Nb</a:t>
            </a:r>
            <a:r>
              <a:rPr sz="1900" b="1" kern="0" spc="100" dirty="0">
                <a:solidFill>
                  <a:srgbClr val="000000">
                    <a:alpha val="100000"/>
                  </a:srgbClr>
                </a:solidFill>
                <a:latin typeface="Times New Roman" panose="02020603050405020304"/>
                <a:ea typeface="Times New Roman" panose="02020603050405020304"/>
                <a:cs typeface="Times New Roman" panose="02020603050405020304"/>
              </a:rPr>
              <a:t>*(</a:t>
            </a: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Nr</a:t>
            </a:r>
            <a:r>
              <a:rPr sz="1900" b="1" kern="0" spc="100" dirty="0">
                <a:solidFill>
                  <a:srgbClr val="000000">
                    <a:alpha val="100000"/>
                  </a:srgbClr>
                </a:solidFill>
                <a:latin typeface="Times New Roman" panose="02020603050405020304"/>
                <a:ea typeface="Times New Roman" panose="02020603050405020304"/>
                <a:cs typeface="Times New Roman" panose="02020603050405020304"/>
              </a:rPr>
              <a:t>+1)])</a:t>
            </a:r>
            <a:endParaRPr sz="1900" dirty="0">
              <a:latin typeface="Times New Roman" panose="02020603050405020304"/>
              <a:ea typeface="Times New Roman" panose="02020603050405020304"/>
              <a:cs typeface="Times New Roman" panose="02020603050405020304"/>
            </a:endParaRPr>
          </a:p>
          <a:p>
            <a:pPr marL="27305" algn="l" rtl="0" eaLnBrk="0">
              <a:lnSpc>
                <a:spcPts val="3170"/>
              </a:lnSpc>
            </a:pPr>
            <a:r>
              <a:rPr sz="1900" b="1"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p>
            <a:pPr marL="267970" algn="l" rtl="0" eaLnBrk="0">
              <a:lnSpc>
                <a:spcPct val="81000"/>
              </a:lnSpc>
              <a:spcBef>
                <a:spcPts val="1400"/>
              </a:spcBef>
            </a:pP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for</a:t>
            </a:r>
            <a:r>
              <a:rPr sz="1900" b="1" kern="0" spc="30" dirty="0">
                <a:solidFill>
                  <a:srgbClr val="000000">
                    <a:alpha val="100000"/>
                  </a:srgbClr>
                </a:solidFill>
                <a:latin typeface="Times New Roman" panose="02020603050405020304"/>
                <a:ea typeface="Times New Roman" panose="02020603050405020304"/>
                <a:cs typeface="Times New Roman" panose="02020603050405020304"/>
              </a:rPr>
              <a:t> (i =0;</a:t>
            </a:r>
            <a:r>
              <a:rPr sz="1900" b="1" kern="0" spc="70" dirty="0">
                <a:solidFill>
                  <a:srgbClr val="000000">
                    <a:alpha val="100000"/>
                  </a:srgbClr>
                </a:solidFill>
                <a:latin typeface="Times New Roman" panose="02020603050405020304"/>
                <a:ea typeface="Times New Roman" panose="02020603050405020304"/>
                <a:cs typeface="Times New Roman" panose="02020603050405020304"/>
              </a:rPr>
              <a:t> </a:t>
            </a:r>
            <a:r>
              <a:rPr sz="1900" b="1" kern="0" spc="30" dirty="0">
                <a:solidFill>
                  <a:srgbClr val="000000">
                    <a:alpha val="100000"/>
                  </a:srgbClr>
                </a:solidFill>
                <a:latin typeface="Times New Roman" panose="02020603050405020304"/>
                <a:ea typeface="Times New Roman" panose="02020603050405020304"/>
                <a:cs typeface="Times New Roman" panose="02020603050405020304"/>
              </a:rPr>
              <a:t>i</a:t>
            </a:r>
            <a:r>
              <a:rPr sz="1900" b="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1900" b="1" kern="0" spc="30" dirty="0">
                <a:solidFill>
                  <a:srgbClr val="000000">
                    <a:alpha val="100000"/>
                  </a:srgbClr>
                </a:solidFill>
                <a:latin typeface="Times New Roman" panose="02020603050405020304"/>
                <a:ea typeface="Times New Roman" panose="02020603050405020304"/>
                <a:cs typeface="Times New Roman" panose="02020603050405020304"/>
              </a:rPr>
              <a:t>&lt;</a:t>
            </a:r>
            <a:r>
              <a:rPr sz="1900" b="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Nk</a:t>
            </a:r>
            <a:r>
              <a:rPr sz="1900" b="1" kern="0" spc="20" dirty="0">
                <a:solidFill>
                  <a:srgbClr val="000000">
                    <a:alpha val="100000"/>
                  </a:srgbClr>
                </a:solidFill>
                <a:latin typeface="Times New Roman" panose="02020603050405020304"/>
                <a:ea typeface="Times New Roman" panose="02020603050405020304"/>
                <a:cs typeface="Times New Roman" panose="02020603050405020304"/>
              </a:rPr>
              <a:t>;</a:t>
            </a:r>
            <a:r>
              <a:rPr sz="1900" b="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900" b="1" kern="0" spc="20" dirty="0">
                <a:solidFill>
                  <a:srgbClr val="000000">
                    <a:alpha val="100000"/>
                  </a:srgbClr>
                </a:solidFill>
                <a:latin typeface="Times New Roman" panose="02020603050405020304"/>
                <a:ea typeface="Times New Roman" panose="02020603050405020304"/>
                <a:cs typeface="Times New Roman" panose="02020603050405020304"/>
              </a:rPr>
              <a:t>i</a:t>
            </a:r>
            <a:r>
              <a:rPr sz="1900" b="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1900" b="1"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p>
            <a:pPr marL="267970" indent="1289685" algn="l" rtl="0" eaLnBrk="0">
              <a:lnSpc>
                <a:spcPct val="128000"/>
              </a:lnSpc>
              <a:spcBef>
                <a:spcPts val="480"/>
              </a:spcBef>
            </a:pPr>
            <a:r>
              <a:rPr sz="1900" b="1" kern="0" spc="50" dirty="0">
                <a:solidFill>
                  <a:srgbClr val="000000">
                    <a:alpha val="100000"/>
                  </a:srgbClr>
                </a:solidFill>
                <a:latin typeface="Times New Roman" panose="02020603050405020304"/>
                <a:ea typeface="Times New Roman" panose="02020603050405020304"/>
                <a:cs typeface="Times New Roman" panose="02020603050405020304"/>
              </a:rPr>
              <a:t>W[i]=(</a:t>
            </a: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Key</a:t>
            </a:r>
            <a:r>
              <a:rPr sz="1900" b="1" kern="0" spc="50" dirty="0">
                <a:solidFill>
                  <a:srgbClr val="000000">
                    <a:alpha val="100000"/>
                  </a:srgbClr>
                </a:solidFill>
                <a:latin typeface="Times New Roman" panose="02020603050405020304"/>
                <a:ea typeface="Times New Roman" panose="02020603050405020304"/>
                <a:cs typeface="Times New Roman" panose="02020603050405020304"/>
              </a:rPr>
              <a:t>[4* i],</a:t>
            </a: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Key</a:t>
            </a:r>
            <a:r>
              <a:rPr sz="1900" b="1" kern="0" spc="50" dirty="0">
                <a:solidFill>
                  <a:srgbClr val="000000">
                    <a:alpha val="100000"/>
                  </a:srgbClr>
                </a:solidFill>
                <a:latin typeface="Times New Roman" panose="02020603050405020304"/>
                <a:ea typeface="Times New Roman" panose="02020603050405020304"/>
                <a:cs typeface="Times New Roman" panose="02020603050405020304"/>
              </a:rPr>
              <a:t>[4* i +1],</a:t>
            </a: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Key</a:t>
            </a:r>
            <a:r>
              <a:rPr sz="1900" b="1" kern="0" spc="50" dirty="0">
                <a:solidFill>
                  <a:srgbClr val="000000">
                    <a:alpha val="100000"/>
                  </a:srgbClr>
                </a:solidFill>
                <a:latin typeface="Times New Roman" panose="02020603050405020304"/>
                <a:ea typeface="Times New Roman" panose="02020603050405020304"/>
                <a:cs typeface="Times New Roman" panose="02020603050405020304"/>
              </a:rPr>
              <a:t>[4* i +2],</a:t>
            </a: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Key</a:t>
            </a:r>
            <a:r>
              <a:rPr sz="1900" b="1" kern="0" spc="40" dirty="0">
                <a:solidFill>
                  <a:srgbClr val="000000">
                    <a:alpha val="100000"/>
                  </a:srgbClr>
                </a:solidFill>
                <a:latin typeface="Times New Roman" panose="02020603050405020304"/>
                <a:ea typeface="Times New Roman" panose="02020603050405020304"/>
                <a:cs typeface="Times New Roman" panose="02020603050405020304"/>
              </a:rPr>
              <a:t>[4* i +3] );</a:t>
            </a: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for</a:t>
            </a:r>
            <a:r>
              <a:rPr sz="1900" b="1" kern="0" spc="50" dirty="0">
                <a:solidFill>
                  <a:srgbClr val="000000">
                    <a:alpha val="100000"/>
                  </a:srgbClr>
                </a:solidFill>
                <a:latin typeface="Times New Roman" panose="02020603050405020304"/>
                <a:ea typeface="Times New Roman" panose="02020603050405020304"/>
                <a:cs typeface="Times New Roman" panose="02020603050405020304"/>
              </a:rPr>
              <a:t> (i =</a:t>
            </a: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Nk</a:t>
            </a:r>
            <a:r>
              <a:rPr sz="1900" b="1" kern="0" spc="50" dirty="0">
                <a:solidFill>
                  <a:srgbClr val="000000">
                    <a:alpha val="100000"/>
                  </a:srgbClr>
                </a:solidFill>
                <a:latin typeface="Times New Roman" panose="02020603050405020304"/>
                <a:ea typeface="Times New Roman" panose="02020603050405020304"/>
                <a:cs typeface="Times New Roman" panose="02020603050405020304"/>
              </a:rPr>
              <a:t>; i &lt;</a:t>
            </a: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Nb</a:t>
            </a:r>
            <a:r>
              <a:rPr sz="1900" b="1" kern="0" spc="50" dirty="0">
                <a:solidFill>
                  <a:srgbClr val="000000">
                    <a:alpha val="100000"/>
                  </a:srgbClr>
                </a:solidFill>
                <a:latin typeface="Times New Roman" panose="02020603050405020304"/>
                <a:ea typeface="Times New Roman" panose="02020603050405020304"/>
                <a:cs typeface="Times New Roman" panose="02020603050405020304"/>
              </a:rPr>
              <a:t>*</a:t>
            </a:r>
            <a:r>
              <a:rPr sz="1900" b="1" kern="0" spc="40" dirty="0">
                <a:solidFill>
                  <a:srgbClr val="000000">
                    <a:alpha val="100000"/>
                  </a:srgbClr>
                </a:solidFill>
                <a:latin typeface="Times New Roman" panose="02020603050405020304"/>
                <a:ea typeface="Times New Roman" panose="02020603050405020304"/>
                <a:cs typeface="Times New Roman" panose="02020603050405020304"/>
              </a:rPr>
              <a:t>(</a:t>
            </a: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Nr</a:t>
            </a:r>
            <a:r>
              <a:rPr sz="1900" b="1" kern="0" spc="40" dirty="0">
                <a:solidFill>
                  <a:srgbClr val="000000">
                    <a:alpha val="100000"/>
                  </a:srgbClr>
                </a:solidFill>
                <a:latin typeface="Times New Roman" panose="02020603050405020304"/>
                <a:ea typeface="Times New Roman" panose="02020603050405020304"/>
                <a:cs typeface="Times New Roman" panose="02020603050405020304"/>
              </a:rPr>
              <a:t>+1);</a:t>
            </a:r>
            <a:r>
              <a:rPr sz="1900" b="1" kern="0" spc="80" dirty="0">
                <a:solidFill>
                  <a:srgbClr val="000000">
                    <a:alpha val="100000"/>
                  </a:srgbClr>
                </a:solidFill>
                <a:latin typeface="Times New Roman" panose="02020603050405020304"/>
                <a:ea typeface="Times New Roman" panose="02020603050405020304"/>
                <a:cs typeface="Times New Roman" panose="02020603050405020304"/>
              </a:rPr>
              <a:t> </a:t>
            </a:r>
            <a:r>
              <a:rPr sz="1900" b="1" kern="0" spc="40" dirty="0">
                <a:solidFill>
                  <a:srgbClr val="000000">
                    <a:alpha val="100000"/>
                  </a:srgbClr>
                </a:solidFill>
                <a:latin typeface="Times New Roman" panose="02020603050405020304"/>
                <a:ea typeface="Times New Roman" panose="02020603050405020304"/>
                <a:cs typeface="Times New Roman" panose="02020603050405020304"/>
              </a:rPr>
              <a:t>i ++)</a:t>
            </a:r>
            <a:endParaRPr sz="1900" dirty="0">
              <a:latin typeface="Times New Roman" panose="02020603050405020304"/>
              <a:ea typeface="Times New Roman" panose="02020603050405020304"/>
              <a:cs typeface="Times New Roman" panose="02020603050405020304"/>
            </a:endParaRPr>
          </a:p>
          <a:p>
            <a:pPr marL="280035" algn="l" rtl="0" eaLnBrk="0">
              <a:lnSpc>
                <a:spcPct val="81000"/>
              </a:lnSpc>
              <a:spcBef>
                <a:spcPts val="1315"/>
              </a:spcBef>
            </a:pPr>
            <a:r>
              <a:rPr sz="1900" b="1"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p>
            <a:pPr marL="1560195" algn="l" rtl="0" eaLnBrk="0">
              <a:lnSpc>
                <a:spcPct val="78000"/>
              </a:lnSpc>
              <a:spcBef>
                <a:spcPts val="1295"/>
              </a:spcBef>
            </a:pP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temp</a:t>
            </a:r>
            <a:r>
              <a:rPr sz="1900" b="1" kern="0" spc="50" dirty="0">
                <a:solidFill>
                  <a:srgbClr val="000000">
                    <a:alpha val="100000"/>
                  </a:srgbClr>
                </a:solidFill>
                <a:latin typeface="Times New Roman" panose="02020603050405020304"/>
                <a:ea typeface="Times New Roman" panose="02020603050405020304"/>
                <a:cs typeface="Times New Roman" panose="02020603050405020304"/>
              </a:rPr>
              <a:t>=W[i-1];</a:t>
            </a:r>
            <a:endParaRPr sz="1900" dirty="0">
              <a:latin typeface="Times New Roman" panose="02020603050405020304"/>
              <a:ea typeface="Times New Roman" panose="02020603050405020304"/>
              <a:cs typeface="Times New Roman" panose="02020603050405020304"/>
            </a:endParaRPr>
          </a:p>
          <a:p>
            <a:pPr marL="1560830" algn="l" rtl="0" eaLnBrk="0">
              <a:lnSpc>
                <a:spcPts val="3170"/>
              </a:lnSpc>
            </a:pP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if</a:t>
            </a:r>
            <a:r>
              <a:rPr sz="1900" b="1" kern="0" spc="30" dirty="0">
                <a:solidFill>
                  <a:srgbClr val="000000">
                    <a:alpha val="100000"/>
                  </a:srgbClr>
                </a:solidFill>
                <a:latin typeface="Times New Roman" panose="02020603050405020304"/>
                <a:ea typeface="Times New Roman" panose="02020603050405020304"/>
                <a:cs typeface="Times New Roman" panose="02020603050405020304"/>
              </a:rPr>
              <a:t> (i</a:t>
            </a:r>
            <a:r>
              <a:rPr sz="1900" b="1"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1900" b="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Nk</a:t>
            </a:r>
            <a:r>
              <a:rPr sz="1900" b="1" kern="0" spc="30" dirty="0">
                <a:solidFill>
                  <a:srgbClr val="000000">
                    <a:alpha val="100000"/>
                  </a:srgbClr>
                </a:solidFill>
                <a:latin typeface="Times New Roman" panose="02020603050405020304"/>
                <a:ea typeface="Times New Roman" panose="02020603050405020304"/>
                <a:cs typeface="Times New Roman" panose="02020603050405020304"/>
              </a:rPr>
              <a:t>= =0)</a:t>
            </a:r>
            <a:endParaRPr sz="1900" dirty="0">
              <a:latin typeface="Times New Roman" panose="02020603050405020304"/>
              <a:ea typeface="Times New Roman" panose="02020603050405020304"/>
              <a:cs typeface="Times New Roman" panose="02020603050405020304"/>
            </a:endParaRPr>
          </a:p>
          <a:p>
            <a:pPr marL="2475230" algn="l" rtl="0" eaLnBrk="0">
              <a:lnSpc>
                <a:spcPct val="80000"/>
              </a:lnSpc>
              <a:spcBef>
                <a:spcPts val="1390"/>
              </a:spcBef>
            </a:pPr>
            <a:r>
              <a:rPr sz="1900" b="1" kern="0" spc="0" dirty="0">
                <a:solidFill>
                  <a:srgbClr val="FF0000">
                    <a:alpha val="100000"/>
                  </a:srgbClr>
                </a:solidFill>
                <a:latin typeface="Times New Roman" panose="02020603050405020304"/>
                <a:ea typeface="Times New Roman" panose="02020603050405020304"/>
                <a:cs typeface="Times New Roman" panose="02020603050405020304"/>
              </a:rPr>
              <a:t>temp</a:t>
            </a:r>
            <a:r>
              <a:rPr sz="1900" b="1" kern="0" spc="120" dirty="0">
                <a:solidFill>
                  <a:srgbClr val="FF0000">
                    <a:alpha val="100000"/>
                  </a:srgbClr>
                </a:solidFill>
                <a:latin typeface="Times New Roman" panose="02020603050405020304"/>
                <a:ea typeface="Times New Roman" panose="02020603050405020304"/>
                <a:cs typeface="Times New Roman" panose="02020603050405020304"/>
              </a:rPr>
              <a:t>=</a:t>
            </a:r>
            <a:r>
              <a:rPr sz="1900" b="1" kern="0" spc="0" dirty="0">
                <a:solidFill>
                  <a:srgbClr val="FF0000">
                    <a:alpha val="100000"/>
                  </a:srgbClr>
                </a:solidFill>
                <a:latin typeface="Times New Roman" panose="02020603050405020304"/>
                <a:ea typeface="Times New Roman" panose="02020603050405020304"/>
                <a:cs typeface="Times New Roman" panose="02020603050405020304"/>
              </a:rPr>
              <a:t>SubByte</a:t>
            </a:r>
            <a:r>
              <a:rPr sz="1900" b="1" kern="0" spc="150" dirty="0">
                <a:solidFill>
                  <a:srgbClr val="FF0000">
                    <a:alpha val="100000"/>
                  </a:srgbClr>
                </a:solidFill>
                <a:latin typeface="Times New Roman" panose="02020603050405020304"/>
                <a:ea typeface="Times New Roman" panose="02020603050405020304"/>
                <a:cs typeface="Times New Roman" panose="02020603050405020304"/>
              </a:rPr>
              <a:t> </a:t>
            </a:r>
            <a:r>
              <a:rPr sz="1900" b="1" kern="0" spc="120" dirty="0">
                <a:solidFill>
                  <a:srgbClr val="FF0000">
                    <a:alpha val="100000"/>
                  </a:srgbClr>
                </a:solidFill>
                <a:latin typeface="Times New Roman" panose="02020603050405020304"/>
                <a:ea typeface="Times New Roman" panose="02020603050405020304"/>
                <a:cs typeface="Times New Roman" panose="02020603050405020304"/>
              </a:rPr>
              <a:t>(</a:t>
            </a:r>
            <a:r>
              <a:rPr sz="1900" b="1" kern="0" spc="0" dirty="0">
                <a:solidFill>
                  <a:srgbClr val="FF0000">
                    <a:alpha val="100000"/>
                  </a:srgbClr>
                </a:solidFill>
                <a:latin typeface="Times New Roman" panose="02020603050405020304"/>
                <a:ea typeface="Times New Roman" panose="02020603050405020304"/>
                <a:cs typeface="Times New Roman" panose="02020603050405020304"/>
              </a:rPr>
              <a:t>RotByte</a:t>
            </a:r>
            <a:r>
              <a:rPr sz="1900" b="1" kern="0" spc="120" dirty="0">
                <a:solidFill>
                  <a:srgbClr val="FF0000">
                    <a:alpha val="100000"/>
                  </a:srgbClr>
                </a:solidFill>
                <a:latin typeface="Times New Roman" panose="02020603050405020304"/>
                <a:ea typeface="Times New Roman" panose="02020603050405020304"/>
                <a:cs typeface="Times New Roman" panose="02020603050405020304"/>
              </a:rPr>
              <a:t> (</a:t>
            </a:r>
            <a:r>
              <a:rPr sz="1900" b="1" kern="0" spc="0" dirty="0">
                <a:solidFill>
                  <a:srgbClr val="FF0000">
                    <a:alpha val="100000"/>
                  </a:srgbClr>
                </a:solidFill>
                <a:latin typeface="Times New Roman" panose="02020603050405020304"/>
                <a:ea typeface="Times New Roman" panose="02020603050405020304"/>
                <a:cs typeface="Times New Roman" panose="02020603050405020304"/>
              </a:rPr>
              <a:t>temp</a:t>
            </a:r>
            <a:r>
              <a:rPr sz="1900" b="1" kern="0" spc="120" dirty="0">
                <a:solidFill>
                  <a:srgbClr val="FF0000">
                    <a:alpha val="100000"/>
                  </a:srgbClr>
                </a:solidFill>
                <a:latin typeface="Times New Roman" panose="02020603050405020304"/>
                <a:ea typeface="Times New Roman" panose="02020603050405020304"/>
                <a:cs typeface="Times New Roman" panose="02020603050405020304"/>
              </a:rPr>
              <a:t>))^</a:t>
            </a:r>
            <a:r>
              <a:rPr sz="1900" b="1" kern="0" spc="0" dirty="0">
                <a:solidFill>
                  <a:srgbClr val="FF0000">
                    <a:alpha val="100000"/>
                  </a:srgbClr>
                </a:solidFill>
                <a:latin typeface="Times New Roman" panose="02020603050405020304"/>
                <a:ea typeface="Times New Roman" panose="02020603050405020304"/>
                <a:cs typeface="Times New Roman" panose="02020603050405020304"/>
              </a:rPr>
              <a:t>Rcon</a:t>
            </a:r>
            <a:r>
              <a:rPr sz="1900" b="1" kern="0" spc="120" dirty="0">
                <a:solidFill>
                  <a:srgbClr val="FF0000">
                    <a:alpha val="100000"/>
                  </a:srgbClr>
                </a:solidFill>
                <a:latin typeface="Times New Roman" panose="02020603050405020304"/>
                <a:ea typeface="Times New Roman" panose="02020603050405020304"/>
                <a:cs typeface="Times New Roman" panose="02020603050405020304"/>
              </a:rPr>
              <a:t>[i /</a:t>
            </a:r>
            <a:r>
              <a:rPr sz="1900" b="1" kern="0" spc="0" dirty="0">
                <a:solidFill>
                  <a:srgbClr val="FF0000">
                    <a:alpha val="100000"/>
                  </a:srgbClr>
                </a:solidFill>
                <a:latin typeface="Times New Roman" panose="02020603050405020304"/>
                <a:ea typeface="Times New Roman" panose="02020603050405020304"/>
                <a:cs typeface="Times New Roman" panose="02020603050405020304"/>
              </a:rPr>
              <a:t>Nk</a:t>
            </a:r>
            <a:r>
              <a:rPr sz="1900" b="1" kern="0" spc="110" dirty="0">
                <a:solidFill>
                  <a:srgbClr val="FF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p>
            <a:pPr marL="1557655" algn="l" rtl="0" eaLnBrk="0">
              <a:lnSpc>
                <a:spcPct val="78000"/>
              </a:lnSpc>
              <a:spcBef>
                <a:spcPts val="1320"/>
              </a:spcBef>
            </a:pPr>
            <a:r>
              <a:rPr sz="1900" b="1" kern="0" spc="60" dirty="0">
                <a:solidFill>
                  <a:srgbClr val="000000">
                    <a:alpha val="100000"/>
                  </a:srgbClr>
                </a:solidFill>
                <a:latin typeface="Times New Roman" panose="02020603050405020304"/>
                <a:ea typeface="Times New Roman" panose="02020603050405020304"/>
                <a:cs typeface="Times New Roman" panose="02020603050405020304"/>
              </a:rPr>
              <a:t>W[i]=W[i-</a:t>
            </a: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Nk</a:t>
            </a:r>
            <a:r>
              <a:rPr sz="1900" b="1" kern="0" spc="60" dirty="0">
                <a:solidFill>
                  <a:srgbClr val="000000">
                    <a:alpha val="100000"/>
                  </a:srgbClr>
                </a:solidFill>
                <a:latin typeface="Times New Roman" panose="02020603050405020304"/>
                <a:ea typeface="Times New Roman" panose="02020603050405020304"/>
                <a:cs typeface="Times New Roman" panose="02020603050405020304"/>
              </a:rPr>
              <a:t>]</a:t>
            </a:r>
            <a:r>
              <a:rPr sz="1900" b="1" kern="0" spc="50" dirty="0">
                <a:solidFill>
                  <a:srgbClr val="000000">
                    <a:alpha val="100000"/>
                  </a:srgbClr>
                </a:solidFill>
                <a:latin typeface="Times New Roman" panose="02020603050405020304"/>
                <a:ea typeface="Times New Roman" panose="02020603050405020304"/>
                <a:cs typeface="Times New Roman" panose="02020603050405020304"/>
              </a:rPr>
              <a:t>^ </a:t>
            </a:r>
            <a:r>
              <a:rPr sz="1900" b="1" kern="0" spc="0" dirty="0">
                <a:solidFill>
                  <a:srgbClr val="000000">
                    <a:alpha val="100000"/>
                  </a:srgbClr>
                </a:solidFill>
                <a:latin typeface="Times New Roman" panose="02020603050405020304"/>
                <a:ea typeface="Times New Roman" panose="02020603050405020304"/>
                <a:cs typeface="Times New Roman" panose="02020603050405020304"/>
              </a:rPr>
              <a:t>temp</a:t>
            </a:r>
            <a:r>
              <a:rPr sz="1900" b="1" kern="0" spc="5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p>
            <a:pPr marL="271145" algn="l" rtl="0" eaLnBrk="0">
              <a:lnSpc>
                <a:spcPts val="3170"/>
              </a:lnSpc>
            </a:pPr>
            <a:r>
              <a:rPr sz="1900" b="1"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p>
            <a:pPr algn="l" rtl="0" eaLnBrk="0">
              <a:lnSpc>
                <a:spcPct val="105000"/>
              </a:lnSpc>
            </a:pPr>
            <a:endParaRPr sz="11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17780" algn="l" rtl="0" eaLnBrk="0">
              <a:lnSpc>
                <a:spcPct val="81000"/>
              </a:lnSpc>
            </a:pPr>
            <a:r>
              <a:rPr sz="1900" b="1"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p:txBody>
      </p:sp>
      <p:sp>
        <p:nvSpPr>
          <p:cNvPr id="70" name="textbox 70"/>
          <p:cNvSpPr/>
          <p:nvPr/>
        </p:nvSpPr>
        <p:spPr>
          <a:xfrm>
            <a:off x="1571329" y="491245"/>
            <a:ext cx="8947150" cy="57340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110000"/>
              </a:lnSpc>
              <a:tabLst>
                <a:tab pos="8933815" algn="l"/>
              </a:tabLst>
            </a:pPr>
            <a:r>
              <a:rPr sz="4900" b="1" u="sng" kern="0" spc="-240" baseline="1600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扩展算法（</a:t>
            </a:r>
            <a:r>
              <a:rPr sz="4900" b="1" u="sng" kern="0" spc="-24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N</a:t>
            </a:r>
            <a:r>
              <a:rPr sz="2100" b="1" u="sng" kern="0" spc="-24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k</a:t>
            </a:r>
            <a:r>
              <a:rPr sz="2100" u="sng" kern="0" spc="-62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4900" b="1" u="sng" kern="0" spc="-24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≤6</a:t>
            </a:r>
            <a:r>
              <a:rPr lang="zh-CN" sz="4900" b="1" u="sng" kern="0" spc="-24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lang="en-US" altLang="zh-CN" sz="4900" b="1" u="sng" kern="0" spc="-24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128</a:t>
            </a:r>
            <a:r>
              <a:rPr lang="zh-CN" altLang="en-US" sz="4900" b="1" u="sng" kern="0" spc="-24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或</a:t>
            </a:r>
            <a:r>
              <a:rPr lang="en-US" altLang="zh-CN" sz="4900" b="1" u="sng" kern="0" spc="-24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192 bit</a:t>
            </a:r>
            <a:r>
              <a:rPr sz="4900" b="1" u="sng" kern="0" spc="-240" baseline="1600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sz="31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100" dirty="0">
              <a:latin typeface="仿宋" panose="02010609060101010101" charset="-122"/>
              <a:ea typeface="仿宋" panose="02010609060101010101" charset="-122"/>
              <a:cs typeface="仿宋" panose="02010609060101010101" charset="-122"/>
            </a:endParaRPr>
          </a:p>
        </p:txBody>
      </p:sp>
      <p:sp>
        <p:nvSpPr>
          <p:cNvPr id="74" name="path 74"/>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76" name="picture 76"/>
          <p:cNvPicPr>
            <a:picLocks noChangeAspect="1"/>
          </p:cNvPicPr>
          <p:nvPr/>
        </p:nvPicPr>
        <p:blipFill>
          <a:blip r:embed="rId1"/>
          <a:stretch>
            <a:fillRect/>
          </a:stretch>
        </p:blipFill>
        <p:spPr>
          <a:xfrm rot="21600000">
            <a:off x="822960" y="408431"/>
            <a:ext cx="420623" cy="655320"/>
          </a:xfrm>
          <a:prstGeom prst="rect">
            <a:avLst/>
          </a:prstGeom>
        </p:spPr>
      </p:pic>
      <p:pic>
        <p:nvPicPr>
          <p:cNvPr id="2" name="图片 1"/>
          <p:cNvPicPr>
            <a:picLocks noChangeAspect="1"/>
          </p:cNvPicPr>
          <p:nvPr/>
        </p:nvPicPr>
        <p:blipFill>
          <a:blip r:embed="rId2"/>
          <a:stretch>
            <a:fillRect/>
          </a:stretch>
        </p:blipFill>
        <p:spPr>
          <a:xfrm>
            <a:off x="1279525" y="1064895"/>
            <a:ext cx="9788525" cy="494538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70"/>
          <p:cNvSpPr/>
          <p:nvPr/>
        </p:nvSpPr>
        <p:spPr>
          <a:xfrm>
            <a:off x="1571329" y="491245"/>
            <a:ext cx="8947150" cy="57340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110000"/>
              </a:lnSpc>
              <a:tabLst>
                <a:tab pos="8933815" algn="l"/>
              </a:tabLst>
            </a:pPr>
            <a:r>
              <a:rPr sz="4900" b="1" u="sng" kern="0" spc="-240" baseline="1600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扩展算法（</a:t>
            </a:r>
            <a:r>
              <a:rPr sz="4900" b="1" u="sng" kern="0" spc="-24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N</a:t>
            </a:r>
            <a:r>
              <a:rPr sz="2100" b="1" u="sng" kern="0" spc="-24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k</a:t>
            </a:r>
            <a:r>
              <a:rPr sz="2100" u="sng" kern="0" spc="-62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4900" b="1" u="sng" kern="0" spc="-24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≤6</a:t>
            </a:r>
            <a:r>
              <a:rPr sz="4900" b="1" u="sng" kern="0" spc="-240" baseline="1600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sz="31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100" dirty="0">
              <a:latin typeface="仿宋" panose="02010609060101010101" charset="-122"/>
              <a:ea typeface="仿宋" panose="02010609060101010101" charset="-122"/>
              <a:cs typeface="仿宋" panose="02010609060101010101" charset="-122"/>
            </a:endParaRPr>
          </a:p>
        </p:txBody>
      </p:sp>
      <p:sp>
        <p:nvSpPr>
          <p:cNvPr id="74" name="path 74"/>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76" name="picture 76"/>
          <p:cNvPicPr>
            <a:picLocks noChangeAspect="1"/>
          </p:cNvPicPr>
          <p:nvPr/>
        </p:nvPicPr>
        <p:blipFill>
          <a:blip r:embed="rId1"/>
          <a:stretch>
            <a:fillRect/>
          </a:stretch>
        </p:blipFill>
        <p:spPr>
          <a:xfrm rot="21600000">
            <a:off x="822960" y="408431"/>
            <a:ext cx="420623" cy="655320"/>
          </a:xfrm>
          <a:prstGeom prst="rect">
            <a:avLst/>
          </a:prstGeom>
        </p:spPr>
      </p:pic>
      <p:pic>
        <p:nvPicPr>
          <p:cNvPr id="3" name="图片 2"/>
          <p:cNvPicPr>
            <a:picLocks noChangeAspect="1"/>
          </p:cNvPicPr>
          <p:nvPr/>
        </p:nvPicPr>
        <p:blipFill>
          <a:blip r:embed="rId2"/>
          <a:stretch>
            <a:fillRect/>
          </a:stretch>
        </p:blipFill>
        <p:spPr>
          <a:xfrm>
            <a:off x="646430" y="1210945"/>
            <a:ext cx="11178540" cy="52578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70"/>
          <p:cNvSpPr/>
          <p:nvPr/>
        </p:nvSpPr>
        <p:spPr>
          <a:xfrm>
            <a:off x="1571329" y="491245"/>
            <a:ext cx="8947150" cy="57340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110000"/>
              </a:lnSpc>
              <a:tabLst>
                <a:tab pos="8933815" algn="l"/>
              </a:tabLst>
            </a:pPr>
            <a:r>
              <a:rPr sz="4900" b="1" u="sng" kern="0" spc="-240" baseline="1600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扩展算法（</a:t>
            </a:r>
            <a:r>
              <a:rPr sz="4900" b="1" u="sng" kern="0" spc="-24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N</a:t>
            </a:r>
            <a:r>
              <a:rPr sz="2100" b="1" u="sng" kern="0" spc="-24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k</a:t>
            </a:r>
            <a:r>
              <a:rPr sz="2100" u="sng" kern="0" spc="-62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4900" b="1" u="sng" kern="0" spc="-24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≤6</a:t>
            </a:r>
            <a:r>
              <a:rPr sz="4900" b="1" u="sng" kern="0" spc="-240" baseline="1600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sz="31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100" dirty="0">
              <a:latin typeface="仿宋" panose="02010609060101010101" charset="-122"/>
              <a:ea typeface="仿宋" panose="02010609060101010101" charset="-122"/>
              <a:cs typeface="仿宋" panose="02010609060101010101" charset="-122"/>
            </a:endParaRPr>
          </a:p>
        </p:txBody>
      </p:sp>
      <p:sp>
        <p:nvSpPr>
          <p:cNvPr id="74" name="path 74"/>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76" name="picture 76"/>
          <p:cNvPicPr>
            <a:picLocks noChangeAspect="1"/>
          </p:cNvPicPr>
          <p:nvPr/>
        </p:nvPicPr>
        <p:blipFill>
          <a:blip r:embed="rId1"/>
          <a:stretch>
            <a:fillRect/>
          </a:stretch>
        </p:blipFill>
        <p:spPr>
          <a:xfrm rot="21600000">
            <a:off x="822960" y="408431"/>
            <a:ext cx="420623" cy="655320"/>
          </a:xfrm>
          <a:prstGeom prst="rect">
            <a:avLst/>
          </a:prstGeom>
        </p:spPr>
      </p:pic>
      <p:pic>
        <p:nvPicPr>
          <p:cNvPr id="2" name="图片 1"/>
          <p:cNvPicPr>
            <a:picLocks noChangeAspect="1"/>
          </p:cNvPicPr>
          <p:nvPr/>
        </p:nvPicPr>
        <p:blipFill>
          <a:blip r:embed="rId2"/>
          <a:stretch>
            <a:fillRect/>
          </a:stretch>
        </p:blipFill>
        <p:spPr>
          <a:xfrm>
            <a:off x="1132840" y="1143635"/>
            <a:ext cx="9926320" cy="495236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70"/>
          <p:cNvSpPr/>
          <p:nvPr/>
        </p:nvSpPr>
        <p:spPr>
          <a:xfrm>
            <a:off x="1571329" y="491245"/>
            <a:ext cx="8947150" cy="57340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110000"/>
              </a:lnSpc>
              <a:tabLst>
                <a:tab pos="8933815" algn="l"/>
              </a:tabLst>
            </a:pPr>
            <a:r>
              <a:rPr sz="4900" b="1" u="sng" kern="0" spc="-240" baseline="1600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扩展算法（</a:t>
            </a:r>
            <a:r>
              <a:rPr sz="4900" b="1" u="sng" kern="0" spc="-24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N</a:t>
            </a:r>
            <a:r>
              <a:rPr sz="2100" b="1" u="sng" kern="0" spc="-24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k</a:t>
            </a:r>
            <a:r>
              <a:rPr sz="2100" u="sng" kern="0" spc="-62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4900" b="1" u="sng" kern="0" spc="-24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≤6</a:t>
            </a:r>
            <a:r>
              <a:rPr sz="4900" b="1" u="sng" kern="0" spc="-240" baseline="1600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sz="31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100" dirty="0">
              <a:latin typeface="仿宋" panose="02010609060101010101" charset="-122"/>
              <a:ea typeface="仿宋" panose="02010609060101010101" charset="-122"/>
              <a:cs typeface="仿宋" panose="02010609060101010101" charset="-122"/>
            </a:endParaRPr>
          </a:p>
        </p:txBody>
      </p:sp>
      <p:sp>
        <p:nvSpPr>
          <p:cNvPr id="74" name="path 74"/>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76" name="picture 76"/>
          <p:cNvPicPr>
            <a:picLocks noChangeAspect="1"/>
          </p:cNvPicPr>
          <p:nvPr/>
        </p:nvPicPr>
        <p:blipFill>
          <a:blip r:embed="rId1"/>
          <a:stretch>
            <a:fillRect/>
          </a:stretch>
        </p:blipFill>
        <p:spPr>
          <a:xfrm rot="21600000">
            <a:off x="822960" y="408431"/>
            <a:ext cx="420623" cy="655320"/>
          </a:xfrm>
          <a:prstGeom prst="rect">
            <a:avLst/>
          </a:prstGeom>
        </p:spPr>
      </p:pic>
      <p:pic>
        <p:nvPicPr>
          <p:cNvPr id="3" name="图片 2"/>
          <p:cNvPicPr>
            <a:picLocks noChangeAspect="1"/>
          </p:cNvPicPr>
          <p:nvPr/>
        </p:nvPicPr>
        <p:blipFill>
          <a:blip r:embed="rId2"/>
          <a:stretch>
            <a:fillRect/>
          </a:stretch>
        </p:blipFill>
        <p:spPr>
          <a:xfrm>
            <a:off x="605790" y="906780"/>
            <a:ext cx="10980420" cy="5044440"/>
          </a:xfrm>
          <a:prstGeom prst="rect">
            <a:avLst/>
          </a:prstGeom>
        </p:spPr>
      </p:pic>
      <p:pic>
        <p:nvPicPr>
          <p:cNvPr id="4" name="图片 3"/>
          <p:cNvPicPr>
            <a:picLocks noChangeAspect="1"/>
          </p:cNvPicPr>
          <p:nvPr/>
        </p:nvPicPr>
        <p:blipFill>
          <a:blip r:embed="rId3"/>
          <a:srcRect t="26487"/>
          <a:stretch>
            <a:fillRect/>
          </a:stretch>
        </p:blipFill>
        <p:spPr>
          <a:xfrm>
            <a:off x="1782445" y="4389755"/>
            <a:ext cx="8114030" cy="16637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 name="table 78"/>
          <p:cNvGraphicFramePr>
            <a:graphicFrameLocks noGrp="1"/>
          </p:cNvGraphicFramePr>
          <p:nvPr/>
        </p:nvGraphicFramePr>
        <p:xfrm>
          <a:off x="1212850" y="1593850"/>
          <a:ext cx="7023100" cy="1841500"/>
        </p:xfrm>
        <a:graphic>
          <a:graphicData uri="http://schemas.openxmlformats.org/drawingml/2006/table">
            <a:tbl>
              <a:tblPr/>
              <a:tblGrid>
                <a:gridCol w="882650"/>
                <a:gridCol w="876300"/>
                <a:gridCol w="876300"/>
                <a:gridCol w="876300"/>
                <a:gridCol w="876300"/>
                <a:gridCol w="876300"/>
                <a:gridCol w="876300"/>
                <a:gridCol w="882650"/>
              </a:tblGrid>
              <a:tr h="463550">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6479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01</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02</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04</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05</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200">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6479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10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64795" algn="l" rtl="0" eaLnBrk="0">
                        <a:lnSpc>
                          <a:spcPct val="88000"/>
                        </a:lnSpc>
                        <a:spcBef>
                          <a:spcPts val="5"/>
                        </a:spcBef>
                      </a:pPr>
                      <a:r>
                        <a:rPr sz="3600" b="1" i="1" kern="0" spc="-1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10" baseline="-15000" dirty="0">
                          <a:solidFill>
                            <a:srgbClr val="000000">
                              <a:alpha val="100000"/>
                            </a:srgbClr>
                          </a:solidFill>
                          <a:latin typeface="Times New Roman" panose="02020603050405020304"/>
                          <a:ea typeface="Times New Roman" panose="02020603050405020304"/>
                          <a:cs typeface="Times New Roman" panose="02020603050405020304"/>
                        </a:rPr>
                        <a:t>11</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12</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13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14</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15</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200">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6479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21</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22</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24</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25</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3550">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64795"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31</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32</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34</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35</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80" name="table 80"/>
          <p:cNvGraphicFramePr>
            <a:graphicFrameLocks noGrp="1"/>
          </p:cNvGraphicFramePr>
          <p:nvPr/>
        </p:nvGraphicFramePr>
        <p:xfrm>
          <a:off x="1050925" y="4176776"/>
          <a:ext cx="889000" cy="1840865"/>
        </p:xfrm>
        <a:graphic>
          <a:graphicData uri="http://schemas.openxmlformats.org/drawingml/2006/table">
            <a:tbl>
              <a:tblPr/>
              <a:tblGrid>
                <a:gridCol w="889000"/>
              </a:tblGrid>
              <a:tr h="463550">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6479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14400">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2915">
                <a:tc>
                  <a:txBody>
                    <a:bodyPr/>
                    <a:lstStyle/>
                    <a:p>
                      <a:pPr algn="l" rtl="0" eaLnBrk="0">
                        <a:lnSpc>
                          <a:spcPct val="101000"/>
                        </a:lnSpc>
                      </a:pPr>
                      <a:endParaRPr sz="900" dirty="0">
                        <a:latin typeface="Arial" panose="020B0604020202020204" pitchFamily="34" charset="0"/>
                        <a:ea typeface="Arial" panose="020B0604020202020204" pitchFamily="34" charset="0"/>
                        <a:cs typeface="Arial" panose="020B0604020202020204" pitchFamily="34" charset="0"/>
                      </a:endParaRPr>
                    </a:p>
                    <a:p>
                      <a:pPr marL="264795" algn="l" rtl="0" eaLnBrk="0">
                        <a:lnSpc>
                          <a:spcPct val="89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82" name="table 82"/>
          <p:cNvGraphicFramePr>
            <a:graphicFrameLocks noGrp="1"/>
          </p:cNvGraphicFramePr>
          <p:nvPr/>
        </p:nvGraphicFramePr>
        <p:xfrm>
          <a:off x="4718050" y="4176776"/>
          <a:ext cx="889000" cy="1840865"/>
        </p:xfrm>
        <a:graphic>
          <a:graphicData uri="http://schemas.openxmlformats.org/drawingml/2006/table">
            <a:tbl>
              <a:tblPr/>
              <a:tblGrid>
                <a:gridCol w="889000"/>
              </a:tblGrid>
              <a:tr h="463550">
                <a:tc>
                  <a:txBody>
                    <a:bodyPr/>
                    <a:lstStyle/>
                    <a:p>
                      <a:pPr algn="l" rtl="0" eaLnBrk="0">
                        <a:lnSpc>
                          <a:spcPct val="105000"/>
                        </a:lnSpc>
                      </a:pPr>
                      <a:endParaRPr sz="9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74295" algn="l" rtl="0" eaLnBrk="0">
                        <a:lnSpc>
                          <a:spcPct val="80000"/>
                        </a:lnSpc>
                      </a:pP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S</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10" baseline="-22000" dirty="0">
                          <a:solidFill>
                            <a:srgbClr val="000000">
                              <a:alpha val="100000"/>
                            </a:srgbClr>
                          </a:solidFill>
                          <a:latin typeface="Times New Roman" panose="02020603050405020304"/>
                          <a:ea typeface="Times New Roman" panose="02020603050405020304"/>
                          <a:cs typeface="Times New Roman" panose="02020603050405020304"/>
                        </a:rPr>
                        <a:t>13</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14400">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2915">
                <a:tc>
                  <a:txBody>
                    <a:bodyPr/>
                    <a:lstStyle/>
                    <a:p>
                      <a:pPr algn="l" rtl="0" eaLnBrk="0">
                        <a:lnSpc>
                          <a:spcPct val="101000"/>
                        </a:lnSpc>
                      </a:pPr>
                      <a:endParaRPr sz="900" dirty="0">
                        <a:latin typeface="Arial" panose="020B0604020202020204" pitchFamily="34" charset="0"/>
                        <a:ea typeface="Arial" panose="020B0604020202020204" pitchFamily="34" charset="0"/>
                        <a:cs typeface="Arial" panose="020B0604020202020204" pitchFamily="34" charset="0"/>
                      </a:endParaRPr>
                    </a:p>
                    <a:p>
                      <a:pPr marL="74295" algn="l" rtl="0" eaLnBrk="0">
                        <a:lnSpc>
                          <a:spcPct val="80000"/>
                        </a:lnSpc>
                        <a:spcBef>
                          <a:spcPts val="5"/>
                        </a:spcBef>
                      </a:pP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S</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10" baseline="-22000" dirty="0">
                          <a:solidFill>
                            <a:srgbClr val="000000">
                              <a:alpha val="100000"/>
                            </a:srgbClr>
                          </a:solidFill>
                          <a:latin typeface="Times New Roman" panose="02020603050405020304"/>
                          <a:ea typeface="Times New Roman" panose="02020603050405020304"/>
                          <a:cs typeface="Times New Roman" panose="02020603050405020304"/>
                        </a:rPr>
                        <a:t>03</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84" name="table 84"/>
          <p:cNvGraphicFramePr>
            <a:graphicFrameLocks noGrp="1"/>
          </p:cNvGraphicFramePr>
          <p:nvPr/>
        </p:nvGraphicFramePr>
        <p:xfrm>
          <a:off x="2889250" y="4176776"/>
          <a:ext cx="889000" cy="1840865"/>
        </p:xfrm>
        <a:graphic>
          <a:graphicData uri="http://schemas.openxmlformats.org/drawingml/2006/table">
            <a:tbl>
              <a:tblPr/>
              <a:tblGrid>
                <a:gridCol w="889000"/>
              </a:tblGrid>
              <a:tr h="463550">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65430" algn="l" rtl="0" eaLnBrk="0">
                        <a:lnSpc>
                          <a:spcPct val="88000"/>
                        </a:lnSpc>
                        <a:spcBef>
                          <a:spcPts val="5"/>
                        </a:spcBef>
                      </a:pPr>
                      <a:r>
                        <a:rPr sz="3600" b="1" i="1" kern="0" spc="2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13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14400">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2915">
                <a:tc>
                  <a:txBody>
                    <a:bodyPr/>
                    <a:lstStyle/>
                    <a:p>
                      <a:pPr algn="l" rtl="0" eaLnBrk="0">
                        <a:lnSpc>
                          <a:spcPct val="101000"/>
                        </a:lnSpc>
                      </a:pPr>
                      <a:endParaRPr sz="900" dirty="0">
                        <a:latin typeface="Arial" panose="020B0604020202020204" pitchFamily="34" charset="0"/>
                        <a:ea typeface="Arial" panose="020B0604020202020204" pitchFamily="34" charset="0"/>
                        <a:cs typeface="Arial" panose="020B0604020202020204" pitchFamily="34" charset="0"/>
                      </a:endParaRPr>
                    </a:p>
                    <a:p>
                      <a:pPr marL="265430" algn="l" rtl="0" eaLnBrk="0">
                        <a:lnSpc>
                          <a:spcPct val="89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86" name="table 86"/>
          <p:cNvGraphicFramePr>
            <a:graphicFrameLocks noGrp="1"/>
          </p:cNvGraphicFramePr>
          <p:nvPr/>
        </p:nvGraphicFramePr>
        <p:xfrm>
          <a:off x="6546850" y="4176776"/>
          <a:ext cx="889000" cy="1840865"/>
        </p:xfrm>
        <a:graphic>
          <a:graphicData uri="http://schemas.openxmlformats.org/drawingml/2006/table">
            <a:tbl>
              <a:tblPr/>
              <a:tblGrid>
                <a:gridCol w="889000"/>
              </a:tblGrid>
              <a:tr h="463550">
                <a:tc>
                  <a:txBody>
                    <a:bodyPr/>
                    <a:lstStyle/>
                    <a:p>
                      <a:pPr algn="l" rtl="0" eaLnBrk="0">
                        <a:lnSpc>
                          <a:spcPct val="105000"/>
                        </a:lnSpc>
                      </a:pPr>
                      <a:endParaRPr sz="9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74930" algn="l" rtl="0" eaLnBrk="0">
                        <a:lnSpc>
                          <a:spcPct val="80000"/>
                        </a:lnSpc>
                      </a:pP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S</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10" baseline="-22000" dirty="0">
                          <a:solidFill>
                            <a:srgbClr val="000000">
                              <a:alpha val="100000"/>
                            </a:srgbClr>
                          </a:solidFill>
                          <a:latin typeface="Times New Roman" panose="02020603050405020304"/>
                          <a:ea typeface="Times New Roman" panose="02020603050405020304"/>
                          <a:cs typeface="Times New Roman" panose="02020603050405020304"/>
                        </a:rPr>
                        <a:t>13</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14400">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2915">
                <a:tc>
                  <a:txBody>
                    <a:bodyPr/>
                    <a:lstStyle/>
                    <a:p>
                      <a:pPr algn="l" rtl="0" eaLnBrk="0">
                        <a:lnSpc>
                          <a:spcPct val="101000"/>
                        </a:lnSpc>
                      </a:pPr>
                      <a:endParaRPr sz="900" dirty="0">
                        <a:latin typeface="Arial" panose="020B0604020202020204" pitchFamily="34" charset="0"/>
                        <a:ea typeface="Arial" panose="020B0604020202020204" pitchFamily="34" charset="0"/>
                        <a:cs typeface="Arial" panose="020B0604020202020204" pitchFamily="34" charset="0"/>
                      </a:endParaRPr>
                    </a:p>
                    <a:p>
                      <a:pPr marL="74930" algn="l" rtl="0" eaLnBrk="0">
                        <a:lnSpc>
                          <a:spcPct val="80000"/>
                        </a:lnSpc>
                        <a:spcBef>
                          <a:spcPts val="5"/>
                        </a:spcBef>
                      </a:pP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S</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10" baseline="-22000" dirty="0">
                          <a:solidFill>
                            <a:srgbClr val="000000">
                              <a:alpha val="100000"/>
                            </a:srgbClr>
                          </a:solidFill>
                          <a:latin typeface="Times New Roman" panose="02020603050405020304"/>
                          <a:ea typeface="Times New Roman" panose="02020603050405020304"/>
                          <a:cs typeface="Times New Roman" panose="02020603050405020304"/>
                        </a:rPr>
                        <a:t>03</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88" name="textbox 88"/>
          <p:cNvSpPr/>
          <p:nvPr/>
        </p:nvSpPr>
        <p:spPr>
          <a:xfrm>
            <a:off x="1038225" y="4649441"/>
            <a:ext cx="10448925" cy="88074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ts val="6730"/>
              </a:lnSpc>
              <a:tabLst>
                <a:tab pos="10436225" algn="l"/>
              </a:tabLst>
            </a:pPr>
            <a:r>
              <a:rPr sz="10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endParaRPr sz="1000" dirty="0">
              <a:latin typeface="Arial" panose="020B0604020202020204" pitchFamily="34" charset="0"/>
              <a:ea typeface="Arial" panose="020B0604020202020204" pitchFamily="34" charset="0"/>
              <a:cs typeface="Arial" panose="020B0604020202020204" pitchFamily="34" charset="0"/>
            </a:endParaRPr>
          </a:p>
        </p:txBody>
      </p:sp>
      <p:pic>
        <p:nvPicPr>
          <p:cNvPr id="90" name="picture 90"/>
          <p:cNvPicPr>
            <a:picLocks noChangeAspect="1"/>
          </p:cNvPicPr>
          <p:nvPr/>
        </p:nvPicPr>
        <p:blipFill>
          <a:blip r:embed="rId1"/>
          <a:stretch>
            <a:fillRect/>
          </a:stretch>
        </p:blipFill>
        <p:spPr>
          <a:xfrm rot="21600000">
            <a:off x="1050925" y="4662141"/>
            <a:ext cx="10423525" cy="854984"/>
          </a:xfrm>
          <a:prstGeom prst="rect">
            <a:avLst/>
          </a:prstGeom>
        </p:spPr>
      </p:pic>
      <p:sp>
        <p:nvSpPr>
          <p:cNvPr id="92" name="textbox 92"/>
          <p:cNvSpPr/>
          <p:nvPr/>
        </p:nvSpPr>
        <p:spPr>
          <a:xfrm>
            <a:off x="1571329" y="466861"/>
            <a:ext cx="4593590" cy="50990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3810"/>
              </a:lnSpc>
            </a:pPr>
            <a:r>
              <a:rPr sz="3100" b="1" kern="0" spc="-30" dirty="0">
                <a:solidFill>
                  <a:srgbClr val="1F4E79">
                    <a:alpha val="100000"/>
                  </a:srgbClr>
                </a:solidFill>
                <a:latin typeface="仿宋" panose="02010609060101010101" charset="-122"/>
                <a:ea typeface="仿宋" panose="02010609060101010101" charset="-122"/>
                <a:cs typeface="仿宋" panose="02010609060101010101" charset="-122"/>
              </a:rPr>
              <a:t>扩展算法（</a:t>
            </a:r>
            <a:r>
              <a:rPr sz="3100" b="1" kern="0" spc="-30" dirty="0">
                <a:solidFill>
                  <a:srgbClr val="0563C1">
                    <a:alpha val="100000"/>
                  </a:srgbClr>
                </a:solidFill>
                <a:latin typeface="仿宋" panose="02010609060101010101" charset="-122"/>
                <a:ea typeface="仿宋" panose="02010609060101010101" charset="-122"/>
                <a:cs typeface="仿宋" panose="02010609060101010101" charset="-122"/>
              </a:rPr>
              <a:t>N</a:t>
            </a:r>
            <a:r>
              <a:rPr sz="3200" b="1" kern="0" spc="-30" baseline="-22000" dirty="0">
                <a:solidFill>
                  <a:srgbClr val="0563C1">
                    <a:alpha val="100000"/>
                  </a:srgbClr>
                </a:solidFill>
                <a:latin typeface="仿宋" panose="02010609060101010101" charset="-122"/>
                <a:ea typeface="仿宋" panose="02010609060101010101" charset="-122"/>
                <a:cs typeface="仿宋" panose="02010609060101010101" charset="-122"/>
              </a:rPr>
              <a:t>k</a:t>
            </a:r>
            <a:r>
              <a:rPr sz="2000" kern="0" spc="-640" dirty="0">
                <a:solidFill>
                  <a:srgbClr val="0563C1">
                    <a:alpha val="100000"/>
                  </a:srgbClr>
                </a:solidFill>
                <a:latin typeface="仿宋" panose="02010609060101010101" charset="-122"/>
                <a:ea typeface="仿宋" panose="02010609060101010101" charset="-122"/>
                <a:cs typeface="仿宋" panose="02010609060101010101" charset="-122"/>
              </a:rPr>
              <a:t> </a:t>
            </a:r>
            <a:r>
              <a:rPr sz="3100" b="1" kern="0" spc="-30" dirty="0">
                <a:solidFill>
                  <a:srgbClr val="0563C1">
                    <a:alpha val="100000"/>
                  </a:srgbClr>
                </a:solidFill>
                <a:latin typeface="仿宋" panose="02010609060101010101" charset="-122"/>
                <a:ea typeface="仿宋" panose="02010609060101010101" charset="-122"/>
                <a:cs typeface="仿宋" panose="02010609060101010101" charset="-122"/>
              </a:rPr>
              <a:t>≤6</a:t>
            </a:r>
            <a:r>
              <a:rPr sz="3100" b="1" kern="0" spc="-320" dirty="0">
                <a:solidFill>
                  <a:srgbClr val="1F4E79">
                    <a:alpha val="100000"/>
                  </a:srgbClr>
                </a:solidFill>
                <a:latin typeface="仿宋" panose="02010609060101010101" charset="-122"/>
                <a:ea typeface="仿宋" panose="02010609060101010101" charset="-122"/>
                <a:cs typeface="仿宋" panose="02010609060101010101" charset="-122"/>
              </a:rPr>
              <a:t>）（</a:t>
            </a:r>
            <a:r>
              <a:rPr sz="3100" b="1" kern="0" spc="-30" dirty="0">
                <a:solidFill>
                  <a:srgbClr val="1F4E79">
                    <a:alpha val="100000"/>
                  </a:srgbClr>
                </a:solidFill>
                <a:latin typeface="仿宋" panose="02010609060101010101" charset="-122"/>
                <a:ea typeface="仿宋" panose="02010609060101010101" charset="-122"/>
                <a:cs typeface="仿宋" panose="02010609060101010101" charset="-122"/>
              </a:rPr>
              <a:t>续）</a:t>
            </a:r>
            <a:endParaRPr sz="3100" dirty="0">
              <a:latin typeface="仿宋" panose="02010609060101010101" charset="-122"/>
              <a:ea typeface="仿宋" panose="02010609060101010101" charset="-122"/>
              <a:cs typeface="仿宋" panose="02010609060101010101" charset="-122"/>
            </a:endParaRPr>
          </a:p>
        </p:txBody>
      </p:sp>
      <p:sp>
        <p:nvSpPr>
          <p:cNvPr id="94" name="textbox 94"/>
          <p:cNvSpPr/>
          <p:nvPr/>
        </p:nvSpPr>
        <p:spPr>
          <a:xfrm>
            <a:off x="1279321" y="3757091"/>
            <a:ext cx="9741534" cy="287020"/>
          </a:xfrm>
          <a:prstGeom prst="rect">
            <a:avLst/>
          </a:prstGeom>
          <a:noFill/>
          <a:ln w="0" cap="flat">
            <a:noFill/>
            <a:prstDash val="solid"/>
            <a:miter lim="0"/>
          </a:ln>
        </p:spPr>
        <p:txBody>
          <a:bodyPr vert="horz" wrap="square" lIns="0" tIns="0" rIns="0" bIns="0"/>
          <a:lstStyle/>
          <a:p>
            <a:pPr algn="l" rtl="0" eaLnBrk="0">
              <a:lnSpc>
                <a:spcPct val="88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10" baseline="-20000" dirty="0">
                <a:solidFill>
                  <a:srgbClr val="000000">
                    <a:alpha val="100000"/>
                  </a:srgbClr>
                </a:solidFill>
                <a:latin typeface="Times New Roman" panose="02020603050405020304"/>
                <a:ea typeface="Times New Roman" panose="02020603050405020304"/>
                <a:cs typeface="Times New Roman" panose="02020603050405020304"/>
              </a:rPr>
              <a:t>3</a:t>
            </a:r>
            <a:r>
              <a:rPr sz="11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baseline="3000" dirty="0">
                <a:solidFill>
                  <a:srgbClr val="000000">
                    <a:alpha val="100000"/>
                  </a:srgbClr>
                </a:solidFill>
                <a:latin typeface="Times New Roman" panose="02020603050405020304"/>
                <a:ea typeface="Times New Roman" panose="02020603050405020304"/>
                <a:cs typeface="Times New Roman" panose="02020603050405020304"/>
              </a:rPr>
              <a:t>Rcon</a:t>
            </a:r>
            <a:r>
              <a:rPr sz="1800" b="1" kern="0" spc="10" baseline="30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1800" b="1" kern="0" spc="10" baseline="3000" dirty="0">
                <a:solidFill>
                  <a:srgbClr val="000000">
                    <a:alpha val="100000"/>
                  </a:srgbClr>
                </a:solidFill>
                <a:latin typeface="Times New Roman" panose="02020603050405020304"/>
                <a:ea typeface="Times New Roman" panose="02020603050405020304"/>
                <a:cs typeface="Times New Roman" panose="02020603050405020304"/>
              </a:rPr>
              <a:t>4</a:t>
            </a:r>
            <a:r>
              <a:rPr sz="1800" b="1" kern="0" spc="10" baseline="30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11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10" baseline="-20000" dirty="0">
                <a:solidFill>
                  <a:srgbClr val="000000">
                    <a:alpha val="100000"/>
                  </a:srgbClr>
                </a:solidFill>
                <a:latin typeface="Times New Roman" panose="02020603050405020304"/>
                <a:ea typeface="Times New Roman" panose="02020603050405020304"/>
                <a:cs typeface="Times New Roman" panose="02020603050405020304"/>
              </a:rPr>
              <a:t>0</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10" baseline="-20000" dirty="0">
                <a:solidFill>
                  <a:srgbClr val="000000">
                    <a:alpha val="100000"/>
                  </a:srgbClr>
                </a:solidFill>
                <a:latin typeface="Times New Roman" panose="02020603050405020304"/>
                <a:ea typeface="Times New Roman" panose="02020603050405020304"/>
                <a:cs typeface="Times New Roman" panose="02020603050405020304"/>
              </a:rPr>
              <a:t>4</a:t>
            </a:r>
            <a:endParaRPr sz="1800" baseline="-20000" dirty="0">
              <a:latin typeface="Times New Roman" panose="02020603050405020304"/>
              <a:ea typeface="Times New Roman" panose="02020603050405020304"/>
              <a:cs typeface="Times New Roman" panose="02020603050405020304"/>
            </a:endParaRPr>
          </a:p>
        </p:txBody>
      </p:sp>
      <p:graphicFrame>
        <p:nvGraphicFramePr>
          <p:cNvPr id="96" name="table 96"/>
          <p:cNvGraphicFramePr>
            <a:graphicFrameLocks noGrp="1"/>
          </p:cNvGraphicFramePr>
          <p:nvPr/>
        </p:nvGraphicFramePr>
        <p:xfrm>
          <a:off x="7904226" y="4184650"/>
          <a:ext cx="889000" cy="1841500"/>
        </p:xfrm>
        <a:graphic>
          <a:graphicData uri="http://schemas.openxmlformats.org/drawingml/2006/table">
            <a:tbl>
              <a:tblPr/>
              <a:tblGrid>
                <a:gridCol w="889000"/>
              </a:tblGrid>
              <a:tr h="463550">
                <a:tc>
                  <a:txBody>
                    <a:bodyPr/>
                    <a:lstStyle/>
                    <a:p>
                      <a:pPr algn="l" rtl="0" eaLnBrk="0">
                        <a:lnSpc>
                          <a:spcPct val="105000"/>
                        </a:lnSpc>
                      </a:pPr>
                      <a:endParaRPr sz="900" dirty="0">
                        <a:latin typeface="Arial" panose="020B0604020202020204" pitchFamily="34" charset="0"/>
                        <a:ea typeface="Arial" panose="020B0604020202020204" pitchFamily="34" charset="0"/>
                        <a:cs typeface="Arial" panose="020B0604020202020204" pitchFamily="34" charset="0"/>
                      </a:endParaRPr>
                    </a:p>
                    <a:p>
                      <a:pPr marL="309245" algn="l" rtl="0" eaLnBrk="0">
                        <a:lnSpc>
                          <a:spcPct val="76000"/>
                        </a:lnSpc>
                        <a:spcBef>
                          <a:spcPts val="5"/>
                        </a:spcBef>
                      </a:pPr>
                      <a:r>
                        <a:rPr sz="2400" b="1" i="1" kern="0" spc="-40" dirty="0">
                          <a:solidFill>
                            <a:srgbClr val="000000">
                              <a:alpha val="100000"/>
                            </a:srgbClr>
                          </a:solidFill>
                          <a:latin typeface="Times New Roman" panose="02020603050405020304"/>
                          <a:ea typeface="Times New Roman" panose="02020603050405020304"/>
                          <a:cs typeface="Times New Roman" panose="02020603050405020304"/>
                        </a:rPr>
                        <a:t>01</a:t>
                      </a:r>
                      <a:endParaRPr sz="24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14400">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3550">
                <a:tc>
                  <a:txBody>
                    <a:bodyPr/>
                    <a:lstStyle/>
                    <a:p>
                      <a:pPr algn="l" rtl="0" eaLnBrk="0">
                        <a:lnSpc>
                          <a:spcPct val="101000"/>
                        </a:lnSpc>
                      </a:pPr>
                      <a:endParaRPr sz="900" dirty="0">
                        <a:latin typeface="Arial" panose="020B0604020202020204" pitchFamily="34" charset="0"/>
                        <a:ea typeface="Arial" panose="020B0604020202020204" pitchFamily="34" charset="0"/>
                        <a:cs typeface="Arial" panose="020B0604020202020204" pitchFamily="34" charset="0"/>
                      </a:endParaRPr>
                    </a:p>
                    <a:p>
                      <a:pPr marL="309245" algn="l" rtl="0" eaLnBrk="0">
                        <a:lnSpc>
                          <a:spcPct val="76000"/>
                        </a:lnSpc>
                        <a:spcBef>
                          <a:spcPts val="5"/>
                        </a:spcBef>
                      </a:pPr>
                      <a:r>
                        <a:rPr sz="2400" b="1" i="1" kern="0" spc="-40" dirty="0">
                          <a:solidFill>
                            <a:srgbClr val="000000">
                              <a:alpha val="100000"/>
                            </a:srgbClr>
                          </a:solidFill>
                          <a:latin typeface="Times New Roman" panose="02020603050405020304"/>
                          <a:ea typeface="Times New Roman" panose="02020603050405020304"/>
                          <a:cs typeface="Times New Roman" panose="02020603050405020304"/>
                        </a:rPr>
                        <a:t>00</a:t>
                      </a:r>
                      <a:endParaRPr sz="24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98" name="table 98"/>
          <p:cNvGraphicFramePr>
            <a:graphicFrameLocks noGrp="1"/>
          </p:cNvGraphicFramePr>
          <p:nvPr/>
        </p:nvGraphicFramePr>
        <p:xfrm>
          <a:off x="9313926" y="4176776"/>
          <a:ext cx="889000" cy="1840865"/>
        </p:xfrm>
        <a:graphic>
          <a:graphicData uri="http://schemas.openxmlformats.org/drawingml/2006/table">
            <a:tbl>
              <a:tblPr/>
              <a:tblGrid>
                <a:gridCol w="889000"/>
              </a:tblGrid>
              <a:tr h="463550">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6670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14400">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2915">
                <a:tc>
                  <a:txBody>
                    <a:bodyPr/>
                    <a:lstStyle/>
                    <a:p>
                      <a:pPr algn="l" rtl="0" eaLnBrk="0">
                        <a:lnSpc>
                          <a:spcPct val="101000"/>
                        </a:lnSpc>
                      </a:pPr>
                      <a:endParaRPr sz="900" dirty="0">
                        <a:latin typeface="Arial" panose="020B0604020202020204" pitchFamily="34" charset="0"/>
                        <a:ea typeface="Arial" panose="020B0604020202020204" pitchFamily="34" charset="0"/>
                        <a:cs typeface="Arial" panose="020B0604020202020204" pitchFamily="34" charset="0"/>
                      </a:endParaRPr>
                    </a:p>
                    <a:p>
                      <a:pPr marL="266700" algn="l" rtl="0" eaLnBrk="0">
                        <a:lnSpc>
                          <a:spcPct val="89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00" name="table 100"/>
          <p:cNvGraphicFramePr>
            <a:graphicFrameLocks noGrp="1"/>
          </p:cNvGraphicFramePr>
          <p:nvPr/>
        </p:nvGraphicFramePr>
        <p:xfrm>
          <a:off x="10585450" y="4176776"/>
          <a:ext cx="889000" cy="1840865"/>
        </p:xfrm>
        <a:graphic>
          <a:graphicData uri="http://schemas.openxmlformats.org/drawingml/2006/table">
            <a:tbl>
              <a:tblPr/>
              <a:tblGrid>
                <a:gridCol w="889000"/>
              </a:tblGrid>
              <a:tr h="463550">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6733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04</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14400">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2915">
                <a:tc>
                  <a:txBody>
                    <a:bodyPr/>
                    <a:lstStyle/>
                    <a:p>
                      <a:pPr algn="l" rtl="0" eaLnBrk="0">
                        <a:lnSpc>
                          <a:spcPct val="101000"/>
                        </a:lnSpc>
                      </a:pPr>
                      <a:endParaRPr sz="900" dirty="0">
                        <a:latin typeface="Arial" panose="020B0604020202020204" pitchFamily="34" charset="0"/>
                        <a:ea typeface="Arial" panose="020B0604020202020204" pitchFamily="34" charset="0"/>
                        <a:cs typeface="Arial" panose="020B0604020202020204" pitchFamily="34" charset="0"/>
                      </a:endParaRPr>
                    </a:p>
                    <a:p>
                      <a:pPr marL="267335" algn="l" rtl="0" eaLnBrk="0">
                        <a:lnSpc>
                          <a:spcPct val="89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34</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2" name="textbox 102"/>
          <p:cNvSpPr/>
          <p:nvPr/>
        </p:nvSpPr>
        <p:spPr>
          <a:xfrm>
            <a:off x="1452422" y="1306499"/>
            <a:ext cx="5702300" cy="32004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2315"/>
              </a:lnSpc>
            </a:pPr>
            <a:r>
              <a:rPr sz="2700" b="1" kern="0" spc="2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20" baseline="3000" dirty="0">
                <a:solidFill>
                  <a:srgbClr val="000000">
                    <a:alpha val="100000"/>
                  </a:srgbClr>
                </a:solidFill>
                <a:latin typeface="Times New Roman" panose="02020603050405020304"/>
                <a:ea typeface="Times New Roman" panose="02020603050405020304"/>
                <a:cs typeface="Times New Roman" panose="02020603050405020304"/>
              </a:rPr>
              <a:t>0</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1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2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20" baseline="3000" dirty="0">
                <a:solidFill>
                  <a:srgbClr val="000000">
                    <a:alpha val="100000"/>
                  </a:srgbClr>
                </a:solidFill>
                <a:latin typeface="Times New Roman" panose="02020603050405020304"/>
                <a:ea typeface="Times New Roman" panose="02020603050405020304"/>
                <a:cs typeface="Times New Roman" panose="02020603050405020304"/>
              </a:rPr>
              <a:t>1</a:t>
            </a:r>
            <a:r>
              <a:rPr sz="1100" b="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1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10" baseline="3000" dirty="0">
                <a:solidFill>
                  <a:srgbClr val="000000">
                    <a:alpha val="100000"/>
                  </a:srgbClr>
                </a:solidFill>
                <a:latin typeface="Times New Roman" panose="02020603050405020304"/>
                <a:ea typeface="Times New Roman" panose="02020603050405020304"/>
                <a:cs typeface="Times New Roman" panose="02020603050405020304"/>
              </a:rPr>
              <a:t>2</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1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1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10" baseline="3000" dirty="0">
                <a:solidFill>
                  <a:srgbClr val="000000">
                    <a:alpha val="100000"/>
                  </a:srgbClr>
                </a:solidFill>
                <a:latin typeface="Times New Roman" panose="02020603050405020304"/>
                <a:ea typeface="Times New Roman" panose="02020603050405020304"/>
                <a:cs typeface="Times New Roman" panose="02020603050405020304"/>
              </a:rPr>
              <a:t>3</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1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10" baseline="3000" dirty="0">
                <a:solidFill>
                  <a:srgbClr val="000000">
                    <a:alpha val="100000"/>
                  </a:srgbClr>
                </a:solidFill>
                <a:latin typeface="Times New Roman" panose="02020603050405020304"/>
                <a:ea typeface="Times New Roman" panose="02020603050405020304"/>
                <a:cs typeface="Times New Roman" panose="02020603050405020304"/>
              </a:rPr>
              <a:t>4</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1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1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10" baseline="3000" dirty="0">
                <a:solidFill>
                  <a:srgbClr val="000000">
                    <a:alpha val="100000"/>
                  </a:srgbClr>
                </a:solidFill>
                <a:latin typeface="Times New Roman" panose="02020603050405020304"/>
                <a:ea typeface="Times New Roman" panose="02020603050405020304"/>
                <a:cs typeface="Times New Roman" panose="02020603050405020304"/>
              </a:rPr>
              <a:t>5</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1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10" baseline="6000" dirty="0">
                <a:solidFill>
                  <a:srgbClr val="000000">
                    <a:alpha val="100000"/>
                  </a:srgbClr>
                </a:solidFill>
                <a:latin typeface="Times New Roman" panose="02020603050405020304"/>
                <a:ea typeface="Times New Roman" panose="02020603050405020304"/>
                <a:cs typeface="Times New Roman" panose="02020603050405020304"/>
              </a:rPr>
              <a:t>……</a:t>
            </a:r>
            <a:endParaRPr sz="2700" baseline="6000" dirty="0">
              <a:latin typeface="Times New Roman" panose="02020603050405020304"/>
              <a:ea typeface="Times New Roman" panose="02020603050405020304"/>
              <a:cs typeface="Times New Roman" panose="02020603050405020304"/>
            </a:endParaRPr>
          </a:p>
        </p:txBody>
      </p:sp>
      <p:sp>
        <p:nvSpPr>
          <p:cNvPr id="106" name="path 10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08" name="picture 108"/>
          <p:cNvPicPr>
            <a:picLocks noChangeAspect="1"/>
          </p:cNvPicPr>
          <p:nvPr/>
        </p:nvPicPr>
        <p:blipFill>
          <a:blip r:embed="rId2"/>
          <a:stretch>
            <a:fillRect/>
          </a:stretch>
        </p:blipFill>
        <p:spPr>
          <a:xfrm rot="21600000">
            <a:off x="822960" y="408431"/>
            <a:ext cx="420623" cy="655320"/>
          </a:xfrm>
          <a:prstGeom prst="rect">
            <a:avLst/>
          </a:prstGeom>
        </p:spPr>
      </p:pic>
      <p:sp>
        <p:nvSpPr>
          <p:cNvPr id="110" name="path 11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
        <p:nvSpPr>
          <p:cNvPr id="112" name="textbox 112"/>
          <p:cNvSpPr/>
          <p:nvPr/>
        </p:nvSpPr>
        <p:spPr>
          <a:xfrm>
            <a:off x="8547253" y="2410050"/>
            <a:ext cx="464184" cy="281940"/>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pPr>
            <a:r>
              <a:rPr sz="1800" b="1" kern="0" spc="-5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4" name="table 114"/>
          <p:cNvGraphicFramePr>
            <a:graphicFrameLocks noGrp="1"/>
          </p:cNvGraphicFramePr>
          <p:nvPr/>
        </p:nvGraphicFramePr>
        <p:xfrm>
          <a:off x="1212850" y="1593850"/>
          <a:ext cx="7023100" cy="1841500"/>
        </p:xfrm>
        <a:graphic>
          <a:graphicData uri="http://schemas.openxmlformats.org/drawingml/2006/table">
            <a:tbl>
              <a:tblPr/>
              <a:tblGrid>
                <a:gridCol w="882650"/>
                <a:gridCol w="876300"/>
                <a:gridCol w="876300"/>
                <a:gridCol w="876300"/>
                <a:gridCol w="876300"/>
                <a:gridCol w="876300"/>
                <a:gridCol w="876300"/>
                <a:gridCol w="882650"/>
              </a:tblGrid>
              <a:tr h="463550">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6479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01</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02</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04</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05</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200">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6479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10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64795" algn="l" rtl="0" eaLnBrk="0">
                        <a:lnSpc>
                          <a:spcPct val="88000"/>
                        </a:lnSpc>
                        <a:spcBef>
                          <a:spcPts val="5"/>
                        </a:spcBef>
                      </a:pPr>
                      <a:r>
                        <a:rPr sz="3600" b="1" i="1" kern="0" spc="-1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10" baseline="-15000" dirty="0">
                          <a:solidFill>
                            <a:srgbClr val="000000">
                              <a:alpha val="100000"/>
                            </a:srgbClr>
                          </a:solidFill>
                          <a:latin typeface="Times New Roman" panose="02020603050405020304"/>
                          <a:ea typeface="Times New Roman" panose="02020603050405020304"/>
                          <a:cs typeface="Times New Roman" panose="02020603050405020304"/>
                        </a:rPr>
                        <a:t>11</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12</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13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14</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15</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200">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6479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21</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22</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88000"/>
                        </a:lnSpc>
                        <a:spcBef>
                          <a:spcPts val="5"/>
                        </a:spcBef>
                      </a:pPr>
                      <a:r>
                        <a:rPr sz="3600" b="1" i="1" kern="0" spc="20" baseline="4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24</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sz="8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25</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3550">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64795"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30</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31</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32</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33</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59080"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34</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59715"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35</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16" name="textbox 116"/>
          <p:cNvSpPr/>
          <p:nvPr/>
        </p:nvSpPr>
        <p:spPr>
          <a:xfrm>
            <a:off x="3155950" y="4696279"/>
            <a:ext cx="3644900" cy="76580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ts val="5825"/>
              </a:lnSpc>
              <a:tabLst>
                <a:tab pos="3632200" algn="l"/>
              </a:tabLst>
            </a:pPr>
            <a:r>
              <a:rPr sz="10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endParaRPr sz="1000" dirty="0">
              <a:latin typeface="Arial" panose="020B0604020202020204" pitchFamily="34" charset="0"/>
              <a:ea typeface="Arial" panose="020B0604020202020204" pitchFamily="34" charset="0"/>
              <a:cs typeface="Arial" panose="020B0604020202020204" pitchFamily="34" charset="0"/>
            </a:endParaRPr>
          </a:p>
        </p:txBody>
      </p:sp>
      <p:pic>
        <p:nvPicPr>
          <p:cNvPr id="118" name="picture 118"/>
          <p:cNvPicPr>
            <a:picLocks noChangeAspect="1"/>
          </p:cNvPicPr>
          <p:nvPr/>
        </p:nvPicPr>
        <p:blipFill>
          <a:blip r:embed="rId1"/>
          <a:stretch>
            <a:fillRect/>
          </a:stretch>
        </p:blipFill>
        <p:spPr>
          <a:xfrm rot="21600000">
            <a:off x="3168650" y="4708979"/>
            <a:ext cx="3619500" cy="739820"/>
          </a:xfrm>
          <a:prstGeom prst="rect">
            <a:avLst/>
          </a:prstGeom>
        </p:spPr>
      </p:pic>
      <p:sp>
        <p:nvSpPr>
          <p:cNvPr id="120" name="textbox 120"/>
          <p:cNvSpPr/>
          <p:nvPr/>
        </p:nvSpPr>
        <p:spPr>
          <a:xfrm>
            <a:off x="1571329" y="466861"/>
            <a:ext cx="4593590" cy="50990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3810"/>
              </a:lnSpc>
            </a:pPr>
            <a:r>
              <a:rPr sz="3100" b="1" kern="0" spc="-30" dirty="0">
                <a:solidFill>
                  <a:srgbClr val="1F4E79">
                    <a:alpha val="100000"/>
                  </a:srgbClr>
                </a:solidFill>
                <a:latin typeface="仿宋" panose="02010609060101010101" charset="-122"/>
                <a:ea typeface="仿宋" panose="02010609060101010101" charset="-122"/>
                <a:cs typeface="仿宋" panose="02010609060101010101" charset="-122"/>
              </a:rPr>
              <a:t>扩展算法（</a:t>
            </a:r>
            <a:r>
              <a:rPr sz="3100" b="1" kern="0" spc="-30" dirty="0">
                <a:solidFill>
                  <a:srgbClr val="0563C1">
                    <a:alpha val="100000"/>
                  </a:srgbClr>
                </a:solidFill>
                <a:latin typeface="仿宋" panose="02010609060101010101" charset="-122"/>
                <a:ea typeface="仿宋" panose="02010609060101010101" charset="-122"/>
                <a:cs typeface="仿宋" panose="02010609060101010101" charset="-122"/>
              </a:rPr>
              <a:t>N</a:t>
            </a:r>
            <a:r>
              <a:rPr sz="3200" b="1" kern="0" spc="-30" baseline="-22000" dirty="0">
                <a:solidFill>
                  <a:srgbClr val="0563C1">
                    <a:alpha val="100000"/>
                  </a:srgbClr>
                </a:solidFill>
                <a:latin typeface="仿宋" panose="02010609060101010101" charset="-122"/>
                <a:ea typeface="仿宋" panose="02010609060101010101" charset="-122"/>
                <a:cs typeface="仿宋" panose="02010609060101010101" charset="-122"/>
              </a:rPr>
              <a:t>k</a:t>
            </a:r>
            <a:r>
              <a:rPr sz="2000" kern="0" spc="-640" dirty="0">
                <a:solidFill>
                  <a:srgbClr val="0563C1">
                    <a:alpha val="100000"/>
                  </a:srgbClr>
                </a:solidFill>
                <a:latin typeface="仿宋" panose="02010609060101010101" charset="-122"/>
                <a:ea typeface="仿宋" panose="02010609060101010101" charset="-122"/>
                <a:cs typeface="仿宋" panose="02010609060101010101" charset="-122"/>
              </a:rPr>
              <a:t> </a:t>
            </a:r>
            <a:r>
              <a:rPr sz="3100" b="1" kern="0" spc="-30" dirty="0">
                <a:solidFill>
                  <a:srgbClr val="0563C1">
                    <a:alpha val="100000"/>
                  </a:srgbClr>
                </a:solidFill>
                <a:latin typeface="仿宋" panose="02010609060101010101" charset="-122"/>
                <a:ea typeface="仿宋" panose="02010609060101010101" charset="-122"/>
                <a:cs typeface="仿宋" panose="02010609060101010101" charset="-122"/>
              </a:rPr>
              <a:t>≤6</a:t>
            </a:r>
            <a:r>
              <a:rPr sz="3100" b="1" kern="0" spc="-320" dirty="0">
                <a:solidFill>
                  <a:srgbClr val="1F4E79">
                    <a:alpha val="100000"/>
                  </a:srgbClr>
                </a:solidFill>
                <a:latin typeface="仿宋" panose="02010609060101010101" charset="-122"/>
                <a:ea typeface="仿宋" panose="02010609060101010101" charset="-122"/>
                <a:cs typeface="仿宋" panose="02010609060101010101" charset="-122"/>
              </a:rPr>
              <a:t>）（</a:t>
            </a:r>
            <a:r>
              <a:rPr sz="3100" b="1" kern="0" spc="-30" dirty="0">
                <a:solidFill>
                  <a:srgbClr val="1F4E79">
                    <a:alpha val="100000"/>
                  </a:srgbClr>
                </a:solidFill>
                <a:latin typeface="仿宋" panose="02010609060101010101" charset="-122"/>
                <a:ea typeface="仿宋" panose="02010609060101010101" charset="-122"/>
                <a:cs typeface="仿宋" panose="02010609060101010101" charset="-122"/>
              </a:rPr>
              <a:t>续）</a:t>
            </a:r>
            <a:endParaRPr sz="3100" dirty="0">
              <a:latin typeface="仿宋" panose="02010609060101010101" charset="-122"/>
              <a:ea typeface="仿宋" panose="02010609060101010101" charset="-122"/>
              <a:cs typeface="仿宋" panose="02010609060101010101" charset="-122"/>
            </a:endParaRPr>
          </a:p>
        </p:txBody>
      </p:sp>
      <p:graphicFrame>
        <p:nvGraphicFramePr>
          <p:cNvPr id="122" name="table 122"/>
          <p:cNvGraphicFramePr>
            <a:graphicFrameLocks noGrp="1"/>
          </p:cNvGraphicFramePr>
          <p:nvPr/>
        </p:nvGraphicFramePr>
        <p:xfrm>
          <a:off x="3168650" y="4108450"/>
          <a:ext cx="889000" cy="1841500"/>
        </p:xfrm>
        <a:graphic>
          <a:graphicData uri="http://schemas.openxmlformats.org/drawingml/2006/table">
            <a:tbl>
              <a:tblPr/>
              <a:tblGrid>
                <a:gridCol w="889000"/>
              </a:tblGrid>
              <a:tr h="463550">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65430"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01</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14400">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3550">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65430"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31</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4" name="table 124"/>
          <p:cNvGraphicFramePr>
            <a:graphicFrameLocks noGrp="1"/>
          </p:cNvGraphicFramePr>
          <p:nvPr/>
        </p:nvGraphicFramePr>
        <p:xfrm>
          <a:off x="4533900" y="4108450"/>
          <a:ext cx="889000" cy="1841500"/>
        </p:xfrm>
        <a:graphic>
          <a:graphicData uri="http://schemas.openxmlformats.org/drawingml/2006/table">
            <a:tbl>
              <a:tblPr/>
              <a:tblGrid>
                <a:gridCol w="889000"/>
              </a:tblGrid>
              <a:tr h="463550">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6606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04</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14400">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3550">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66065"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34</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6" name="table 126"/>
          <p:cNvGraphicFramePr>
            <a:graphicFrameLocks noGrp="1"/>
          </p:cNvGraphicFramePr>
          <p:nvPr/>
        </p:nvGraphicFramePr>
        <p:xfrm>
          <a:off x="5899150" y="4108450"/>
          <a:ext cx="889000" cy="1841500"/>
        </p:xfrm>
        <a:graphic>
          <a:graphicData uri="http://schemas.openxmlformats.org/drawingml/2006/table">
            <a:tbl>
              <a:tblPr/>
              <a:tblGrid>
                <a:gridCol w="889000"/>
              </a:tblGrid>
              <a:tr h="463550">
                <a:tc>
                  <a:txBody>
                    <a:bodyPr/>
                    <a:lstStyle/>
                    <a:p>
                      <a:pPr algn="l" rtl="0" eaLnBrk="0">
                        <a:lnSpc>
                          <a:spcPct val="104000"/>
                        </a:lnSpc>
                      </a:pPr>
                      <a:endParaRPr sz="900" dirty="0">
                        <a:latin typeface="Arial" panose="020B0604020202020204" pitchFamily="34" charset="0"/>
                        <a:ea typeface="Arial" panose="020B0604020202020204" pitchFamily="34" charset="0"/>
                        <a:cs typeface="Arial" panose="020B0604020202020204" pitchFamily="34" charset="0"/>
                      </a:endParaRPr>
                    </a:p>
                    <a:p>
                      <a:pPr marL="266065" algn="l" rtl="0" eaLnBrk="0">
                        <a:lnSpc>
                          <a:spcPct val="88000"/>
                        </a:lnSpc>
                        <a:spcBef>
                          <a:spcPts val="5"/>
                        </a:spcBef>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05</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14400">
                <a:tc>
                  <a:txBody>
                    <a:bodyPr/>
                    <a:lstStyle/>
                    <a:p>
                      <a:pPr algn="l" rtl="0" eaLnBrk="0">
                        <a:lnSpc>
                          <a:spcPct val="100000"/>
                        </a:lnSpc>
                      </a:pPr>
                      <a:endParaRPr sz="1000" dirty="0">
                        <a:latin typeface="Arial" panose="020B0604020202020204" pitchFamily="34" charset="0"/>
                        <a:ea typeface="Arial" panose="020B0604020202020204" pitchFamily="34" charset="0"/>
                        <a:cs typeface="Arial" panose="020B0604020202020204" pitchFamily="34" charset="0"/>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3550">
                <a:tc>
                  <a:txBody>
                    <a:bodyPr/>
                    <a:lstStyle/>
                    <a:p>
                      <a:pPr algn="l" rtl="0" eaLnBrk="0">
                        <a:lnSpc>
                          <a:spcPct val="111000"/>
                        </a:lnSpc>
                      </a:pPr>
                      <a:endParaRPr sz="8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266065" algn="l" rtl="0" eaLnBrk="0">
                        <a:lnSpc>
                          <a:spcPct val="90000"/>
                        </a:lnSpc>
                      </a:pPr>
                      <a:r>
                        <a:rPr sz="3600" b="1" i="1" kern="0" spc="20" baseline="6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20" baseline="-15000" dirty="0">
                          <a:solidFill>
                            <a:srgbClr val="000000">
                              <a:alpha val="100000"/>
                            </a:srgbClr>
                          </a:solidFill>
                          <a:latin typeface="Times New Roman" panose="02020603050405020304"/>
                          <a:ea typeface="Times New Roman" panose="02020603050405020304"/>
                          <a:cs typeface="Times New Roman" panose="02020603050405020304"/>
                        </a:rPr>
                        <a:t>35</a:t>
                      </a:r>
                      <a:endParaRPr sz="2400" baseline="-15000" dirty="0">
                        <a:latin typeface="Times New Roman" panose="02020603050405020304"/>
                        <a:ea typeface="Times New Roman" panose="02020603050405020304"/>
                        <a:cs typeface="Times New Roman" panose="02020603050405020304"/>
                      </a:endParaRPr>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28" name="textbox 128"/>
          <p:cNvSpPr/>
          <p:nvPr/>
        </p:nvSpPr>
        <p:spPr>
          <a:xfrm>
            <a:off x="1452422" y="1306499"/>
            <a:ext cx="5702300" cy="32004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2315"/>
              </a:lnSpc>
            </a:pPr>
            <a:r>
              <a:rPr sz="2700" b="1" kern="0" spc="2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20" baseline="3000" dirty="0">
                <a:solidFill>
                  <a:srgbClr val="000000">
                    <a:alpha val="100000"/>
                  </a:srgbClr>
                </a:solidFill>
                <a:latin typeface="Times New Roman" panose="02020603050405020304"/>
                <a:ea typeface="Times New Roman" panose="02020603050405020304"/>
                <a:cs typeface="Times New Roman" panose="02020603050405020304"/>
              </a:rPr>
              <a:t>0</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1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2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20" baseline="3000" dirty="0">
                <a:solidFill>
                  <a:srgbClr val="000000">
                    <a:alpha val="100000"/>
                  </a:srgbClr>
                </a:solidFill>
                <a:latin typeface="Times New Roman" panose="02020603050405020304"/>
                <a:ea typeface="Times New Roman" panose="02020603050405020304"/>
                <a:cs typeface="Times New Roman" panose="02020603050405020304"/>
              </a:rPr>
              <a:t>1</a:t>
            </a:r>
            <a:r>
              <a:rPr sz="1100" b="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1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10" baseline="3000" dirty="0">
                <a:solidFill>
                  <a:srgbClr val="000000">
                    <a:alpha val="100000"/>
                  </a:srgbClr>
                </a:solidFill>
                <a:latin typeface="Times New Roman" panose="02020603050405020304"/>
                <a:ea typeface="Times New Roman" panose="02020603050405020304"/>
                <a:cs typeface="Times New Roman" panose="02020603050405020304"/>
              </a:rPr>
              <a:t>2</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1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1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10" baseline="3000" dirty="0">
                <a:solidFill>
                  <a:srgbClr val="000000">
                    <a:alpha val="100000"/>
                  </a:srgbClr>
                </a:solidFill>
                <a:latin typeface="Times New Roman" panose="02020603050405020304"/>
                <a:ea typeface="Times New Roman" panose="02020603050405020304"/>
                <a:cs typeface="Times New Roman" panose="02020603050405020304"/>
              </a:rPr>
              <a:t>3</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1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10" baseline="3000" dirty="0">
                <a:solidFill>
                  <a:srgbClr val="000000">
                    <a:alpha val="100000"/>
                  </a:srgbClr>
                </a:solidFill>
                <a:latin typeface="Times New Roman" panose="02020603050405020304"/>
                <a:ea typeface="Times New Roman" panose="02020603050405020304"/>
                <a:cs typeface="Times New Roman" panose="02020603050405020304"/>
              </a:rPr>
              <a:t>4</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1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10" baseline="1600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10" baseline="3000" dirty="0">
                <a:solidFill>
                  <a:srgbClr val="000000">
                    <a:alpha val="100000"/>
                  </a:srgbClr>
                </a:solidFill>
                <a:latin typeface="Times New Roman" panose="02020603050405020304"/>
                <a:ea typeface="Times New Roman" panose="02020603050405020304"/>
                <a:cs typeface="Times New Roman" panose="02020603050405020304"/>
              </a:rPr>
              <a:t>5</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1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10" baseline="6000" dirty="0">
                <a:solidFill>
                  <a:srgbClr val="000000">
                    <a:alpha val="100000"/>
                  </a:srgbClr>
                </a:solidFill>
                <a:latin typeface="Times New Roman" panose="02020603050405020304"/>
                <a:ea typeface="Times New Roman" panose="02020603050405020304"/>
                <a:cs typeface="Times New Roman" panose="02020603050405020304"/>
              </a:rPr>
              <a:t>……</a:t>
            </a:r>
            <a:endParaRPr sz="2700" baseline="6000" dirty="0">
              <a:latin typeface="Times New Roman" panose="02020603050405020304"/>
              <a:ea typeface="Times New Roman" panose="02020603050405020304"/>
              <a:cs typeface="Times New Roman" panose="02020603050405020304"/>
            </a:endParaRPr>
          </a:p>
        </p:txBody>
      </p:sp>
      <p:sp>
        <p:nvSpPr>
          <p:cNvPr id="132" name="textbox 132"/>
          <p:cNvSpPr/>
          <p:nvPr/>
        </p:nvSpPr>
        <p:spPr>
          <a:xfrm>
            <a:off x="3484931" y="3741343"/>
            <a:ext cx="2938779" cy="2889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20" baseline="-17000" dirty="0">
                <a:solidFill>
                  <a:srgbClr val="000000">
                    <a:alpha val="100000"/>
                  </a:srgbClr>
                </a:solidFill>
                <a:latin typeface="Times New Roman" panose="02020603050405020304"/>
                <a:ea typeface="Times New Roman" panose="02020603050405020304"/>
                <a:cs typeface="Times New Roman" panose="02020603050405020304"/>
              </a:rPr>
              <a:t>1</a:t>
            </a:r>
            <a:r>
              <a:rPr sz="1100" b="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10" baseline="-17000" dirty="0">
                <a:solidFill>
                  <a:srgbClr val="000000">
                    <a:alpha val="100000"/>
                  </a:srgbClr>
                </a:solidFill>
                <a:latin typeface="Times New Roman" panose="02020603050405020304"/>
                <a:ea typeface="Times New Roman" panose="02020603050405020304"/>
                <a:cs typeface="Times New Roman" panose="02020603050405020304"/>
              </a:rPr>
              <a:t>4</a:t>
            </a:r>
            <a:r>
              <a:rPr sz="11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10" baseline="-17000" dirty="0">
                <a:solidFill>
                  <a:srgbClr val="000000">
                    <a:alpha val="100000"/>
                  </a:srgbClr>
                </a:solidFill>
                <a:latin typeface="Times New Roman" panose="02020603050405020304"/>
                <a:ea typeface="Times New Roman" panose="02020603050405020304"/>
                <a:cs typeface="Times New Roman" panose="02020603050405020304"/>
              </a:rPr>
              <a:t>5</a:t>
            </a:r>
            <a:endParaRPr sz="1800" baseline="-17000" dirty="0">
              <a:latin typeface="Times New Roman" panose="02020603050405020304"/>
              <a:ea typeface="Times New Roman" panose="02020603050405020304"/>
              <a:cs typeface="Times New Roman" panose="02020603050405020304"/>
            </a:endParaRPr>
          </a:p>
        </p:txBody>
      </p:sp>
      <p:sp>
        <p:nvSpPr>
          <p:cNvPr id="134" name="path 134"/>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36" name="picture 136"/>
          <p:cNvPicPr>
            <a:picLocks noChangeAspect="1"/>
          </p:cNvPicPr>
          <p:nvPr/>
        </p:nvPicPr>
        <p:blipFill>
          <a:blip r:embed="rId2"/>
          <a:stretch>
            <a:fillRect/>
          </a:stretch>
        </p:blipFill>
        <p:spPr>
          <a:xfrm rot="21600000">
            <a:off x="822960" y="408431"/>
            <a:ext cx="420623" cy="655320"/>
          </a:xfrm>
          <a:prstGeom prst="rect">
            <a:avLst/>
          </a:prstGeom>
        </p:spPr>
      </p:pic>
      <p:sp>
        <p:nvSpPr>
          <p:cNvPr id="138" name="path 138"/>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
        <p:nvSpPr>
          <p:cNvPr id="140" name="textbox 140"/>
          <p:cNvSpPr/>
          <p:nvPr/>
        </p:nvSpPr>
        <p:spPr>
          <a:xfrm>
            <a:off x="8547253" y="2410050"/>
            <a:ext cx="464184" cy="281940"/>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pPr>
            <a:r>
              <a:rPr sz="1800" b="1" kern="0" spc="-5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box 142"/>
          <p:cNvSpPr/>
          <p:nvPr/>
        </p:nvSpPr>
        <p:spPr>
          <a:xfrm>
            <a:off x="1202696" y="1289910"/>
            <a:ext cx="7254240" cy="323024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5000"/>
              </a:lnSpc>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KeyExpansion (byte  Key[4*Nk]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 W[Nb*(Nr+1)])</a:t>
            </a:r>
            <a:endParaRPr sz="1800" dirty="0">
              <a:latin typeface="Times New Roman" panose="02020603050405020304"/>
              <a:ea typeface="Times New Roman" panose="02020603050405020304"/>
              <a:cs typeface="Times New Roman" panose="02020603050405020304"/>
            </a:endParaRPr>
          </a:p>
          <a:p>
            <a:pPr marL="26035" algn="l" rtl="0" eaLnBrk="0">
              <a:lnSpc>
                <a:spcPts val="2955"/>
              </a:lnSpc>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a:p>
            <a:pPr marL="877570" algn="l" rtl="0" eaLnBrk="0">
              <a:lnSpc>
                <a:spcPct val="78000"/>
              </a:lnSpc>
              <a:spcBef>
                <a:spcPts val="1340"/>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for (i=0; i</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&lt; Nk;</a:t>
            </a:r>
            <a:r>
              <a:rPr sz="1800" b="1" kern="0" spc="9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i </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a:p>
            <a:pPr marL="14605" indent="1543050" algn="l" rtl="0" eaLnBrk="0">
              <a:lnSpc>
                <a:spcPct val="126000"/>
              </a:lnSpc>
              <a:spcBef>
                <a:spcPts val="440"/>
              </a:spcBef>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W[i]=(Key[4* i], Key[4* i +1], Key[4* i +2], Key[4* i</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 +3]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for (i =Nk; i</a:t>
            </a:r>
            <a:r>
              <a:rPr sz="1800" b="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&lt;Nb*(Nr+1);</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i</a:t>
            </a:r>
            <a:r>
              <a:rPr sz="1800" b="1" kern="0" spc="5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a:p>
            <a:pPr marL="254635" algn="l" rtl="0" eaLnBrk="0">
              <a:lnSpc>
                <a:spcPct val="78000"/>
              </a:lnSpc>
              <a:spcBef>
                <a:spcPts val="1265"/>
              </a:spcBef>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a:p>
            <a:pPr marL="1560195" algn="l" rtl="0" eaLnBrk="0">
              <a:lnSpc>
                <a:spcPct val="74000"/>
              </a:lnSpc>
              <a:spcBef>
                <a:spcPts val="1265"/>
              </a:spcBef>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temp=W[i</a:t>
            </a:r>
            <a:r>
              <a:rPr sz="1800" b="1"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-1];</a:t>
            </a:r>
            <a:endParaRPr sz="1800" dirty="0">
              <a:latin typeface="Times New Roman" panose="02020603050405020304"/>
              <a:ea typeface="Times New Roman" panose="02020603050405020304"/>
              <a:cs typeface="Times New Roman" panose="02020603050405020304"/>
            </a:endParaRPr>
          </a:p>
          <a:p>
            <a:pPr marL="1560830" algn="l" rtl="0" eaLnBrk="0">
              <a:lnSpc>
                <a:spcPts val="2950"/>
              </a:lnSpc>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if (i</a:t>
            </a:r>
            <a:r>
              <a:rPr sz="1800" b="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 Nk= =0</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a:p>
            <a:pPr algn="l" rtl="0" eaLnBrk="0">
              <a:lnSpc>
                <a:spcPct val="102000"/>
              </a:lnSpc>
            </a:pPr>
            <a:endParaRPr sz="11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1788795" algn="l" rtl="0" eaLnBrk="0">
              <a:lnSpc>
                <a:spcPct val="76000"/>
              </a:lnSpc>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temp=SubBy</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te</a:t>
            </a:r>
            <a:r>
              <a:rPr sz="1800" b="1"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(RotByte (temp))^Rcon[i</a:t>
            </a:r>
            <a:r>
              <a:rPr sz="1800" b="1"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/Nk];</a:t>
            </a:r>
            <a:endParaRPr sz="1800" dirty="0">
              <a:latin typeface="Times New Roman" panose="02020603050405020304"/>
              <a:ea typeface="Times New Roman" panose="02020603050405020304"/>
              <a:cs typeface="Times New Roman" panose="02020603050405020304"/>
            </a:endParaRPr>
          </a:p>
        </p:txBody>
      </p:sp>
      <p:sp>
        <p:nvSpPr>
          <p:cNvPr id="144" name="textbox 144"/>
          <p:cNvSpPr/>
          <p:nvPr/>
        </p:nvSpPr>
        <p:spPr>
          <a:xfrm>
            <a:off x="7095184" y="4720513"/>
            <a:ext cx="4637404" cy="1458594"/>
          </a:xfrm>
          <a:prstGeom prst="rect">
            <a:avLst/>
          </a:prstGeom>
          <a:noFill/>
          <a:ln w="0" cap="flat">
            <a:noFill/>
            <a:prstDash val="solid"/>
            <a:miter lim="0"/>
          </a:ln>
        </p:spPr>
        <p:txBody>
          <a:bodyPr vert="horz" wrap="square" lIns="0" tIns="0" rIns="0" bIns="0"/>
          <a:lstStyle/>
          <a:p>
            <a:pPr algn="l" rtl="0" eaLnBrk="0">
              <a:lnSpc>
                <a:spcPct val="77000"/>
              </a:lnSpc>
            </a:pPr>
            <a:endParaRPr sz="100" dirty="0">
              <a:latin typeface="Arial" panose="020B0604020202020204" pitchFamily="34" charset="0"/>
              <a:ea typeface="Arial" panose="020B0604020202020204" pitchFamily="34" charset="0"/>
              <a:cs typeface="Arial" panose="020B0604020202020204" pitchFamily="34" charset="0"/>
            </a:endParaRPr>
          </a:p>
          <a:p>
            <a:pPr marL="23495" indent="-11430" algn="l" rtl="0" eaLnBrk="0">
              <a:lnSpc>
                <a:spcPct val="98000"/>
              </a:lnSpc>
            </a:pP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N</a:t>
            </a:r>
            <a:r>
              <a:rPr sz="2400" b="1" kern="0" spc="0" baseline="-22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120" dirty="0">
                <a:solidFill>
                  <a:srgbClr val="000000">
                    <a:alpha val="100000"/>
                  </a:srgbClr>
                </a:solidFill>
                <a:latin typeface="Times New Roman" panose="02020603050405020304"/>
                <a:ea typeface="Times New Roman" panose="02020603050405020304"/>
                <a:cs typeface="Times New Roman" panose="02020603050405020304"/>
              </a:rPr>
              <a:t>&gt;6</a:t>
            </a:r>
            <a:r>
              <a:rPr sz="2400" b="1" kern="0" spc="120" dirty="0">
                <a:solidFill>
                  <a:srgbClr val="000000">
                    <a:alpha val="100000"/>
                  </a:srgbClr>
                </a:solidFill>
                <a:latin typeface="仿宋" panose="02010609060101010101" charset="-122"/>
                <a:ea typeface="仿宋" panose="02010609060101010101" charset="-122"/>
                <a:cs typeface="仿宋" panose="02010609060101010101" charset="-122"/>
              </a:rPr>
              <a:t>与</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N</a:t>
            </a:r>
            <a:r>
              <a:rPr sz="2400" b="1" kern="0" spc="0" baseline="-22000" dirty="0">
                <a:solidFill>
                  <a:srgbClr val="000000">
                    <a:alpha val="100000"/>
                  </a:srgbClr>
                </a:solidFill>
                <a:latin typeface="Verdana" panose="020B0604030504040204"/>
                <a:ea typeface="Verdana" panose="020B0604030504040204"/>
                <a:cs typeface="Verdana" panose="020B0604030504040204"/>
              </a:rPr>
              <a:t>k</a:t>
            </a:r>
            <a:r>
              <a:rPr sz="2400" b="1" kern="0" spc="120" dirty="0">
                <a:solidFill>
                  <a:srgbClr val="000000">
                    <a:alpha val="100000"/>
                  </a:srgbClr>
                </a:solidFill>
                <a:latin typeface="Times New Roman" panose="02020603050405020304"/>
                <a:ea typeface="Times New Roman" panose="02020603050405020304"/>
                <a:cs typeface="Times New Roman" panose="02020603050405020304"/>
              </a:rPr>
              <a:t>≤6</a:t>
            </a:r>
            <a:r>
              <a:rPr sz="2400" b="1" kern="0" spc="120" dirty="0">
                <a:solidFill>
                  <a:srgbClr val="000000">
                    <a:alpha val="100000"/>
                  </a:srgbClr>
                </a:solidFill>
                <a:latin typeface="仿宋" panose="02010609060101010101" charset="-122"/>
                <a:ea typeface="仿宋" panose="02010609060101010101" charset="-122"/>
                <a:cs typeface="仿宋" panose="02010609060101010101" charset="-122"/>
              </a:rPr>
              <a:t>的密钥扩展算法的</a:t>
            </a:r>
            <a:r>
              <a:rPr sz="2400" b="1" kern="0" spc="110" dirty="0">
                <a:solidFill>
                  <a:srgbClr val="000000">
                    <a:alpha val="100000"/>
                  </a:srgbClr>
                </a:solidFill>
                <a:latin typeface="仿宋" panose="02010609060101010101" charset="-122"/>
                <a:ea typeface="仿宋" panose="02010609060101010101" charset="-122"/>
                <a:cs typeface="仿宋" panose="02010609060101010101" charset="-122"/>
              </a:rPr>
              <a:t>区</a:t>
            </a:r>
            <a:r>
              <a:rPr sz="24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别在于：</a:t>
            </a:r>
            <a:r>
              <a:rPr sz="2400" kern="0" spc="-46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当</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i-4</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为</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N</a:t>
            </a:r>
            <a:r>
              <a:rPr sz="2400" b="1" kern="0" spc="0" baseline="-24000" dirty="0">
                <a:solidFill>
                  <a:srgbClr val="000000">
                    <a:alpha val="100000"/>
                  </a:srgbClr>
                </a:solidFill>
                <a:latin typeface="Verdana" panose="020B0604030504040204"/>
                <a:ea typeface="Verdana" panose="020B0604030504040204"/>
                <a:cs typeface="Verdana" panose="020B0604030504040204"/>
              </a:rPr>
              <a:t>k</a:t>
            </a:r>
            <a:r>
              <a:rPr sz="1500" b="1" kern="0" spc="10" dirty="0">
                <a:solidFill>
                  <a:srgbClr val="000000">
                    <a:alpha val="100000"/>
                  </a:srgbClr>
                </a:solidFill>
                <a:latin typeface="Verdana" panose="020B0604030504040204"/>
                <a:ea typeface="Verdana" panose="020B0604030504040204"/>
                <a:cs typeface="Verdana" panose="020B06040305040402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的整数倍时</a:t>
            </a:r>
            <a:r>
              <a:rPr sz="2400" kern="0" spc="-72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10" dirty="0">
                <a:solidFill>
                  <a:srgbClr val="000000">
                    <a:alpha val="100000"/>
                  </a:srgbClr>
                </a:solidFill>
                <a:latin typeface="仿宋" panose="02010609060101010101" charset="-122"/>
                <a:ea typeface="仿宋" panose="02010609060101010101" charset="-122"/>
                <a:cs typeface="仿宋" panose="02010609060101010101" charset="-122"/>
              </a:rPr>
              <a:t>须</a:t>
            </a:r>
            <a:r>
              <a:rPr sz="2400" kern="0" spc="-1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10" dirty="0">
                <a:solidFill>
                  <a:srgbClr val="000000">
                    <a:alpha val="100000"/>
                  </a:srgbClr>
                </a:solidFill>
                <a:latin typeface="仿宋" panose="02010609060101010101" charset="-122"/>
                <a:ea typeface="仿宋" panose="02010609060101010101" charset="-122"/>
                <a:cs typeface="仿宋" panose="02010609060101010101" charset="-122"/>
              </a:rPr>
              <a:t>先</a:t>
            </a:r>
            <a:r>
              <a:rPr sz="2400" kern="0" spc="-1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10" dirty="0">
                <a:solidFill>
                  <a:srgbClr val="000000">
                    <a:alpha val="100000"/>
                  </a:srgbClr>
                </a:solidFill>
                <a:latin typeface="仿宋" panose="02010609060101010101" charset="-122"/>
                <a:ea typeface="仿宋" panose="02010609060101010101" charset="-122"/>
                <a:cs typeface="仿宋" panose="02010609060101010101" charset="-122"/>
              </a:rPr>
              <a:t>将</a:t>
            </a:r>
            <a:r>
              <a:rPr sz="2400" kern="0" spc="-1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10" dirty="0">
                <a:solidFill>
                  <a:srgbClr val="000000">
                    <a:alpha val="100000"/>
                  </a:srgbClr>
                </a:solidFill>
                <a:latin typeface="仿宋" panose="02010609060101010101" charset="-122"/>
                <a:ea typeface="仿宋" panose="02010609060101010101" charset="-122"/>
                <a:cs typeface="仿宋" panose="02010609060101010101" charset="-122"/>
              </a:rPr>
              <a:t>前</a:t>
            </a:r>
            <a:r>
              <a:rPr sz="2400" kern="0" spc="-12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10" dirty="0">
                <a:solidFill>
                  <a:srgbClr val="000000">
                    <a:alpha val="100000"/>
                  </a:srgbClr>
                </a:solidFill>
                <a:latin typeface="仿宋" panose="02010609060101010101" charset="-122"/>
                <a:ea typeface="仿宋" panose="02010609060101010101" charset="-122"/>
                <a:cs typeface="仿宋" panose="02010609060101010101" charset="-122"/>
              </a:rPr>
              <a:t>一</a:t>
            </a:r>
            <a:r>
              <a:rPr sz="2400" kern="0" spc="-13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10" dirty="0">
                <a:solidFill>
                  <a:srgbClr val="000000">
                    <a:alpha val="100000"/>
                  </a:srgbClr>
                </a:solidFill>
                <a:latin typeface="仿宋" panose="02010609060101010101" charset="-122"/>
                <a:ea typeface="仿宋" panose="02010609060101010101" charset="-122"/>
                <a:cs typeface="仿宋" panose="02010609060101010101" charset="-122"/>
              </a:rPr>
              <a:t>个</a:t>
            </a:r>
            <a:r>
              <a:rPr sz="2400" kern="0" spc="-1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20" dirty="0">
                <a:solidFill>
                  <a:srgbClr val="000000">
                    <a:alpha val="100000"/>
                  </a:srgbClr>
                </a:solidFill>
                <a:latin typeface="仿宋" panose="02010609060101010101" charset="-122"/>
                <a:ea typeface="仿宋" panose="02010609060101010101" charset="-122"/>
                <a:cs typeface="仿宋" panose="02010609060101010101" charset="-122"/>
              </a:rPr>
              <a:t>字</a:t>
            </a:r>
            <a:r>
              <a:rPr sz="2400" kern="0" spc="-27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20" dirty="0">
                <a:solidFill>
                  <a:srgbClr val="000000">
                    <a:alpha val="100000"/>
                  </a:srgbClr>
                </a:solidFill>
                <a:latin typeface="Times New Roman" panose="02020603050405020304"/>
                <a:ea typeface="Times New Roman" panose="02020603050405020304"/>
                <a:cs typeface="Times New Roman" panose="02020603050405020304"/>
              </a:rPr>
              <a:t>W[i-1]</a:t>
            </a:r>
            <a:r>
              <a:rPr sz="2400" b="1" kern="0" spc="44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20" dirty="0">
                <a:solidFill>
                  <a:srgbClr val="000000">
                    <a:alpha val="100000"/>
                  </a:srgbClr>
                </a:solidFill>
                <a:latin typeface="仿宋" panose="02010609060101010101" charset="-122"/>
                <a:ea typeface="仿宋" panose="02010609060101010101" charset="-122"/>
                <a:cs typeface="仿宋" panose="02010609060101010101" charset="-122"/>
              </a:rPr>
              <a:t>经</a:t>
            </a:r>
            <a:r>
              <a:rPr sz="2400" kern="0" spc="-12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20" dirty="0">
                <a:solidFill>
                  <a:srgbClr val="000000">
                    <a:alpha val="100000"/>
                  </a:srgbClr>
                </a:solidFill>
                <a:latin typeface="仿宋" panose="02010609060101010101" charset="-122"/>
                <a:ea typeface="仿宋" panose="02010609060101010101" charset="-122"/>
                <a:cs typeface="仿宋" panose="02010609060101010101" charset="-122"/>
              </a:rPr>
              <a:t>过</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SubByte</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变换</a:t>
            </a:r>
            <a:endParaRPr sz="2400" dirty="0">
              <a:latin typeface="仿宋" panose="02010609060101010101" charset="-122"/>
              <a:ea typeface="仿宋" panose="02010609060101010101" charset="-122"/>
              <a:cs typeface="仿宋" panose="02010609060101010101" charset="-122"/>
            </a:endParaRPr>
          </a:p>
        </p:txBody>
      </p:sp>
      <p:sp>
        <p:nvSpPr>
          <p:cNvPr id="146" name="textbox 146"/>
          <p:cNvSpPr/>
          <p:nvPr/>
        </p:nvSpPr>
        <p:spPr>
          <a:xfrm>
            <a:off x="1571329" y="491245"/>
            <a:ext cx="8947150" cy="57340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110000"/>
              </a:lnSpc>
              <a:tabLst>
                <a:tab pos="8933815" algn="l"/>
              </a:tabLst>
            </a:pPr>
            <a:r>
              <a:rPr sz="4900" b="1" u="sng" kern="0" spc="-200" baseline="1600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扩展算法（</a:t>
            </a:r>
            <a:r>
              <a:rPr sz="4900" b="1" u="sng" kern="0" spc="-20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N</a:t>
            </a:r>
            <a:r>
              <a:rPr sz="2100" b="1" u="sng" kern="0" spc="-2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k</a:t>
            </a:r>
            <a:r>
              <a:rPr sz="4900" b="1" u="sng" kern="0" spc="-20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&gt;6</a:t>
            </a:r>
            <a:r>
              <a:rPr sz="4900" b="1" u="sng" kern="0" spc="-200" baseline="1600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sz="31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100" dirty="0">
              <a:latin typeface="仿宋" panose="02010609060101010101" charset="-122"/>
              <a:ea typeface="仿宋" panose="02010609060101010101" charset="-122"/>
              <a:cs typeface="仿宋" panose="02010609060101010101" charset="-122"/>
            </a:endParaRPr>
          </a:p>
        </p:txBody>
      </p:sp>
      <p:sp>
        <p:nvSpPr>
          <p:cNvPr id="148" name="textbox 148"/>
          <p:cNvSpPr/>
          <p:nvPr/>
        </p:nvSpPr>
        <p:spPr>
          <a:xfrm>
            <a:off x="1199720" y="4656426"/>
            <a:ext cx="2877185" cy="1352550"/>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pitchFamily="34" charset="0"/>
              <a:ea typeface="Arial" panose="020B0604020202020204" pitchFamily="34" charset="0"/>
              <a:cs typeface="Arial" panose="020B0604020202020204" pitchFamily="34" charset="0"/>
            </a:endParaRPr>
          </a:p>
          <a:p>
            <a:pPr marL="418465" algn="l" rtl="0" eaLnBrk="0">
              <a:lnSpc>
                <a:spcPct val="78000"/>
              </a:lnSpc>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else if (i</a:t>
            </a:r>
            <a:r>
              <a:rPr sz="1800" b="1"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 N</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k==4)</a:t>
            </a:r>
            <a:endParaRPr sz="1800" dirty="0">
              <a:latin typeface="Times New Roman" panose="02020603050405020304"/>
              <a:ea typeface="Times New Roman" panose="02020603050405020304"/>
              <a:cs typeface="Times New Roman" panose="02020603050405020304"/>
            </a:endParaRPr>
          </a:p>
          <a:p>
            <a:pPr algn="r" rtl="0" eaLnBrk="0">
              <a:lnSpc>
                <a:spcPct val="76000"/>
              </a:lnSpc>
              <a:spcBef>
                <a:spcPts val="1285"/>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temp=SubByte</a:t>
            </a:r>
            <a:r>
              <a:rPr sz="1800" b="1"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(t</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emp);</a:t>
            </a:r>
            <a:endParaRPr sz="1800" dirty="0">
              <a:latin typeface="Times New Roman" panose="02020603050405020304"/>
              <a:ea typeface="Times New Roman" panose="02020603050405020304"/>
              <a:cs typeface="Times New Roman" panose="02020603050405020304"/>
            </a:endParaRPr>
          </a:p>
          <a:p>
            <a:pPr marL="12700" algn="l" rtl="0" eaLnBrk="0">
              <a:lnSpc>
                <a:spcPct val="75000"/>
              </a:lnSpc>
              <a:spcBef>
                <a:spcPts val="1290"/>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W[i]=W[i - Nk]^</a:t>
            </a:r>
            <a:r>
              <a:rPr sz="1800" b="1" kern="0" spc="9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temp;</a:t>
            </a:r>
            <a:endParaRPr sz="1800" dirty="0">
              <a:latin typeface="Times New Roman" panose="02020603050405020304"/>
              <a:ea typeface="Times New Roman" panose="02020603050405020304"/>
              <a:cs typeface="Times New Roman" panose="02020603050405020304"/>
            </a:endParaRPr>
          </a:p>
          <a:p>
            <a:pPr marL="248920" algn="l" rtl="0" eaLnBrk="0">
              <a:lnSpc>
                <a:spcPts val="2930"/>
              </a:lnSpc>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p:txBody>
      </p:sp>
      <p:sp>
        <p:nvSpPr>
          <p:cNvPr id="152" name="path 152"/>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54" name="picture 154"/>
          <p:cNvPicPr>
            <a:picLocks noChangeAspect="1"/>
          </p:cNvPicPr>
          <p:nvPr/>
        </p:nvPicPr>
        <p:blipFill>
          <a:blip r:embed="rId1"/>
          <a:stretch>
            <a:fillRect/>
          </a:stretch>
        </p:blipFill>
        <p:spPr>
          <a:xfrm rot="21600000">
            <a:off x="822960" y="408431"/>
            <a:ext cx="420623" cy="655320"/>
          </a:xfrm>
          <a:prstGeom prst="rect">
            <a:avLst/>
          </a:prstGeom>
        </p:spPr>
      </p:pic>
      <p:sp>
        <p:nvSpPr>
          <p:cNvPr id="156" name="textbox 156"/>
          <p:cNvSpPr/>
          <p:nvPr/>
        </p:nvSpPr>
        <p:spPr>
          <a:xfrm>
            <a:off x="1207719" y="6154089"/>
            <a:ext cx="106045" cy="238759"/>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8000"/>
              </a:lnSpc>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p:txBody>
      </p:sp>
      <p:pic>
        <p:nvPicPr>
          <p:cNvPr id="2" name="图片 1"/>
          <p:cNvPicPr>
            <a:picLocks noChangeAspect="1"/>
          </p:cNvPicPr>
          <p:nvPr/>
        </p:nvPicPr>
        <p:blipFill>
          <a:blip r:embed="rId2"/>
          <a:stretch>
            <a:fillRect/>
          </a:stretch>
        </p:blipFill>
        <p:spPr>
          <a:xfrm>
            <a:off x="5236845" y="53340"/>
            <a:ext cx="6906895" cy="219964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1202235" y="1576561"/>
            <a:ext cx="9843134" cy="3494404"/>
          </a:xfrm>
          <a:prstGeom prst="rect">
            <a:avLst/>
          </a:prstGeom>
          <a:noFill/>
          <a:ln w="0" cap="flat">
            <a:noFill/>
            <a:prstDash val="solid"/>
            <a:miter lim="0"/>
          </a:ln>
        </p:spPr>
        <p:txBody>
          <a:bodyPr vert="horz" wrap="square" lIns="0" tIns="0" rIns="0" bIns="0"/>
          <a:lstStyle/>
          <a:p>
            <a:pPr algn="l" rtl="0" eaLnBrk="0">
              <a:lnSpc>
                <a:spcPct val="64000"/>
              </a:lnSpc>
            </a:pPr>
            <a:endParaRPr sz="100" dirty="0">
              <a:latin typeface="Arial" panose="020B0604020202020204" pitchFamily="34" charset="0"/>
              <a:ea typeface="Arial" panose="020B0604020202020204" pitchFamily="34" charset="0"/>
              <a:cs typeface="Arial" panose="020B0604020202020204" pitchFamily="34" charset="0"/>
            </a:endParaRPr>
          </a:p>
          <a:p>
            <a:pPr marL="36195" indent="-23495" algn="l" rtl="0" eaLnBrk="0">
              <a:lnSpc>
                <a:spcPct val="107000"/>
              </a:lnSpc>
            </a:pPr>
            <a:r>
              <a:rPr sz="28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以上两个算法中，</a:t>
            </a:r>
            <a:r>
              <a:rPr sz="2800" b="1" kern="0" spc="-20" dirty="0">
                <a:solidFill>
                  <a:srgbClr val="000000">
                    <a:alpha val="100000"/>
                  </a:srgbClr>
                </a:solidFill>
                <a:latin typeface="Times New Roman" panose="02020603050405020304"/>
                <a:ea typeface="Times New Roman" panose="02020603050405020304"/>
                <a:cs typeface="Times New Roman" panose="02020603050405020304"/>
              </a:rPr>
              <a:t>Rcon[i/Nk]</a:t>
            </a:r>
            <a:r>
              <a:rPr sz="2800" b="1" kern="0" spc="32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为轮常数，其值与</a:t>
            </a:r>
            <a:r>
              <a:rPr sz="2800" b="1" kern="0" spc="-20" dirty="0">
                <a:solidFill>
                  <a:srgbClr val="000000">
                    <a:alpha val="100000"/>
                  </a:srgbClr>
                </a:solidFill>
                <a:latin typeface="Times New Roman" panose="02020603050405020304"/>
                <a:ea typeface="Times New Roman" panose="02020603050405020304"/>
                <a:cs typeface="Times New Roman" panose="02020603050405020304"/>
              </a:rPr>
              <a:t>Nk</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无关，定义</a:t>
            </a:r>
            <a:r>
              <a:rPr sz="28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为（字节用十六进制表示，</a:t>
            </a:r>
            <a:r>
              <a:rPr sz="2800" kern="0" spc="-83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同时理解为</a:t>
            </a:r>
            <a:r>
              <a:rPr sz="2800" b="1" kern="0" spc="-30" dirty="0">
                <a:solidFill>
                  <a:srgbClr val="000000">
                    <a:alpha val="100000"/>
                  </a:srgbClr>
                </a:solidFill>
                <a:latin typeface="Times New Roman" panose="02020603050405020304"/>
                <a:ea typeface="Times New Roman" panose="02020603050405020304"/>
                <a:cs typeface="Times New Roman" panose="02020603050405020304"/>
              </a:rPr>
              <a:t>GF(2</a:t>
            </a:r>
            <a:r>
              <a:rPr sz="2800" b="1" kern="0" spc="-40" baseline="30000" dirty="0">
                <a:solidFill>
                  <a:srgbClr val="000000">
                    <a:alpha val="100000"/>
                  </a:srgbClr>
                </a:solidFill>
                <a:latin typeface="Times New Roman" panose="02020603050405020304"/>
                <a:ea typeface="Times New Roman" panose="02020603050405020304"/>
                <a:cs typeface="Times New Roman" panose="02020603050405020304"/>
              </a:rPr>
              <a:t>8</a:t>
            </a:r>
            <a:r>
              <a:rPr sz="2800" b="1" kern="0" spc="-4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上的元素</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a:t>
            </a:r>
            <a:endParaRPr sz="2800" dirty="0">
              <a:latin typeface="仿宋" panose="02010609060101010101" charset="-122"/>
              <a:ea typeface="仿宋" panose="02010609060101010101" charset="-122"/>
              <a:cs typeface="仿宋" panose="02010609060101010101" charset="-122"/>
            </a:endParaRPr>
          </a:p>
          <a:p>
            <a:pPr algn="l" rtl="0" eaLnBrk="0">
              <a:lnSpc>
                <a:spcPct val="120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82000"/>
              </a:lnSpc>
              <a:spcBef>
                <a:spcPts val="850"/>
              </a:spcBef>
            </a:pPr>
            <a:r>
              <a:rPr sz="28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Rcon</a:t>
            </a:r>
            <a:r>
              <a:rPr sz="2800" b="1"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[i]=(</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RC[i], ‘00’, ‘00’, ‘00’)</a:t>
            </a:r>
            <a:endParaRPr sz="2800" dirty="0">
              <a:latin typeface="Times New Roman" panose="02020603050405020304"/>
              <a:ea typeface="Times New Roman" panose="02020603050405020304"/>
              <a:cs typeface="Times New Roman" panose="02020603050405020304"/>
            </a:endParaRPr>
          </a:p>
          <a:p>
            <a:pPr marL="12700" algn="l" rtl="0" eaLnBrk="0">
              <a:lnSpc>
                <a:spcPct val="93000"/>
              </a:lnSpc>
              <a:spcBef>
                <a:spcPts val="1895"/>
              </a:spcBef>
            </a:pPr>
            <a:r>
              <a:rPr sz="28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1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其中</a:t>
            </a:r>
            <a:r>
              <a:rPr sz="2800" b="1" kern="0" spc="-20" dirty="0">
                <a:solidFill>
                  <a:srgbClr val="000000">
                    <a:alpha val="100000"/>
                  </a:srgbClr>
                </a:solidFill>
                <a:latin typeface="Times New Roman" panose="02020603050405020304"/>
                <a:ea typeface="Times New Roman" panose="02020603050405020304"/>
                <a:cs typeface="Times New Roman" panose="02020603050405020304"/>
              </a:rPr>
              <a:t>RC[i] </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是</a:t>
            </a:r>
            <a:r>
              <a:rPr sz="2800" b="1" kern="0" spc="-20" dirty="0">
                <a:solidFill>
                  <a:srgbClr val="000000">
                    <a:alpha val="100000"/>
                  </a:srgbClr>
                </a:solidFill>
                <a:latin typeface="Times New Roman" panose="02020603050405020304"/>
                <a:ea typeface="Times New Roman" panose="02020603050405020304"/>
                <a:cs typeface="Times New Roman" panose="02020603050405020304"/>
              </a:rPr>
              <a:t>GF(2</a:t>
            </a:r>
            <a:r>
              <a:rPr sz="2800" b="1" kern="0" spc="-20" baseline="30000" dirty="0">
                <a:solidFill>
                  <a:srgbClr val="000000">
                    <a:alpha val="100000"/>
                  </a:srgbClr>
                </a:solidFill>
                <a:latin typeface="Times New Roman" panose="02020603050405020304"/>
                <a:ea typeface="Times New Roman" panose="02020603050405020304"/>
                <a:cs typeface="Times New Roman" panose="02020603050405020304"/>
              </a:rPr>
              <a:t>8</a:t>
            </a:r>
            <a:r>
              <a:rPr sz="2800" b="1" kern="0" spc="-20" dirty="0">
                <a:solidFill>
                  <a:srgbClr val="000000">
                    <a:alpha val="100000"/>
                  </a:srgbClr>
                </a:solidFill>
                <a:latin typeface="Times New Roman" panose="02020603050405020304"/>
                <a:ea typeface="Times New Roman" panose="02020603050405020304"/>
                <a:cs typeface="Times New Roman" panose="02020603050405020304"/>
              </a:rPr>
              <a:t>)</a:t>
            </a:r>
            <a:r>
              <a:rPr sz="2800" b="1" kern="0" spc="51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中值为</a:t>
            </a:r>
            <a:r>
              <a:rPr sz="2800" b="1"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800" b="1" kern="0" spc="-20" baseline="30000" dirty="0">
                <a:solidFill>
                  <a:srgbClr val="000000">
                    <a:alpha val="100000"/>
                  </a:srgbClr>
                </a:solidFill>
                <a:latin typeface="Times New Roman" panose="02020603050405020304"/>
                <a:ea typeface="Times New Roman" panose="02020603050405020304"/>
                <a:cs typeface="Times New Roman" panose="02020603050405020304"/>
              </a:rPr>
              <a:t>i-1</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的元素，因此</a:t>
            </a:r>
            <a:endParaRPr sz="2800" dirty="0">
              <a:latin typeface="仿宋" panose="02010609060101010101" charset="-122"/>
              <a:ea typeface="仿宋" panose="02010609060101010101" charset="-122"/>
              <a:cs typeface="仿宋" panose="02010609060101010101" charset="-122"/>
            </a:endParaRPr>
          </a:p>
          <a:p>
            <a:pPr marL="12700" algn="l" rtl="0" eaLnBrk="0">
              <a:lnSpc>
                <a:spcPct val="93000"/>
              </a:lnSpc>
              <a:spcBef>
                <a:spcPts val="1920"/>
              </a:spcBef>
            </a:pPr>
            <a:r>
              <a:rPr sz="28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RC[1] =1(</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即‘</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01’)</a:t>
            </a:r>
            <a:endParaRPr sz="2800" dirty="0">
              <a:latin typeface="Times New Roman" panose="02020603050405020304"/>
              <a:ea typeface="Times New Roman" panose="02020603050405020304"/>
              <a:cs typeface="Times New Roman" panose="02020603050405020304"/>
            </a:endParaRPr>
          </a:p>
          <a:p>
            <a:pPr algn="l" rtl="0" eaLnBrk="0">
              <a:lnSpc>
                <a:spcPct val="106000"/>
              </a:lnSpc>
            </a:pPr>
            <a:endParaRPr sz="15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pPr>
            <a:r>
              <a:rPr sz="28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RC[i] = x(</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即‘</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02’)</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·RC[i-1]= x</a:t>
            </a:r>
            <a:r>
              <a:rPr sz="2800" b="1" kern="0" spc="-10" baseline="30000" dirty="0">
                <a:solidFill>
                  <a:srgbClr val="000000">
                    <a:alpha val="100000"/>
                  </a:srgbClr>
                </a:solidFill>
                <a:latin typeface="Times New Roman" panose="02020603050405020304"/>
                <a:ea typeface="Times New Roman" panose="02020603050405020304"/>
                <a:cs typeface="Times New Roman" panose="02020603050405020304"/>
              </a:rPr>
              <a:t>i-1</a:t>
            </a:r>
            <a:endParaRPr sz="2800" baseline="30000" dirty="0">
              <a:latin typeface="Times New Roman" panose="02020603050405020304"/>
              <a:ea typeface="Times New Roman" panose="02020603050405020304"/>
              <a:cs typeface="Times New Roman" panose="02020603050405020304"/>
            </a:endParaRPr>
          </a:p>
        </p:txBody>
      </p:sp>
      <p:sp>
        <p:nvSpPr>
          <p:cNvPr id="164" name="path 164"/>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66" name="picture 166"/>
          <p:cNvPicPr>
            <a:picLocks noChangeAspect="1"/>
          </p:cNvPicPr>
          <p:nvPr/>
        </p:nvPicPr>
        <p:blipFill>
          <a:blip r:embed="rId1"/>
          <a:stretch>
            <a:fillRect/>
          </a:stretch>
        </p:blipFill>
        <p:spPr>
          <a:xfrm rot="21600000">
            <a:off x="822960" y="408431"/>
            <a:ext cx="420623" cy="655320"/>
          </a:xfrm>
          <a:prstGeom prst="rect">
            <a:avLst/>
          </a:prstGeom>
        </p:spPr>
      </p:pic>
      <p:sp>
        <p:nvSpPr>
          <p:cNvPr id="168" name="path 168"/>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3" name="图片 2"/>
          <p:cNvPicPr>
            <a:picLocks noChangeAspect="1"/>
          </p:cNvPicPr>
          <p:nvPr/>
        </p:nvPicPr>
        <p:blipFill>
          <a:blip r:embed="rId2"/>
          <a:stretch>
            <a:fillRect/>
          </a:stretch>
        </p:blipFill>
        <p:spPr>
          <a:xfrm>
            <a:off x="1067435" y="1116965"/>
            <a:ext cx="9838055" cy="5112385"/>
          </a:xfrm>
          <a:prstGeom prst="rect">
            <a:avLst/>
          </a:prstGeom>
        </p:spPr>
      </p:pic>
      <p:sp>
        <p:nvSpPr>
          <p:cNvPr id="146" name="textbox 146"/>
          <p:cNvSpPr/>
          <p:nvPr/>
        </p:nvSpPr>
        <p:spPr>
          <a:xfrm>
            <a:off x="1571329" y="491245"/>
            <a:ext cx="8947150" cy="573405"/>
          </a:xfrm>
          <a:prstGeom prst="rect">
            <a:avLst/>
          </a:prstGeom>
          <a:noFill/>
          <a:ln w="0" cap="flat">
            <a:noFill/>
            <a:prstDash val="solid"/>
            <a:miter lim="0"/>
          </a:ln>
        </p:spPr>
        <p:txBody>
          <a:bodyPr vert="horz" wrap="square" lIns="0" tIns="0" rIns="0" bIns="0"/>
          <a:p>
            <a:pPr algn="l" rtl="0" eaLnBrk="0">
              <a:lnSpc>
                <a:spcPct val="92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110000"/>
              </a:lnSpc>
              <a:tabLst>
                <a:tab pos="8933815" algn="l"/>
              </a:tabLst>
            </a:pPr>
            <a:r>
              <a:rPr sz="4900" b="1" u="sng" kern="0" spc="-200" baseline="1600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扩展算法（</a:t>
            </a:r>
            <a:r>
              <a:rPr sz="4900" b="1" u="sng" kern="0" spc="-20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N</a:t>
            </a:r>
            <a:r>
              <a:rPr sz="2100" b="1" u="sng" kern="0" spc="-2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k</a:t>
            </a:r>
            <a:r>
              <a:rPr sz="4900" b="1" u="sng" kern="0" spc="-200" baseline="16000" dirty="0">
                <a:solidFill>
                  <a:srgbClr val="0563C1">
                    <a:alpha val="100000"/>
                  </a:srgbClr>
                </a:solidFill>
                <a:uFill>
                  <a:solidFill>
                    <a:srgbClr val="5B9BD5"/>
                  </a:solidFill>
                </a:uFill>
                <a:latin typeface="仿宋" panose="02010609060101010101" charset="-122"/>
                <a:ea typeface="仿宋" panose="02010609060101010101" charset="-122"/>
                <a:cs typeface="仿宋" panose="02010609060101010101" charset="-122"/>
              </a:rPr>
              <a:t>&gt;6</a:t>
            </a:r>
            <a:r>
              <a:rPr sz="4900" b="1" u="sng" kern="0" spc="-200" baseline="1600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sz="31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100" dirty="0">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picture 170"/>
          <p:cNvPicPr>
            <a:picLocks noChangeAspect="1"/>
          </p:cNvPicPr>
          <p:nvPr/>
        </p:nvPicPr>
        <p:blipFill>
          <a:blip r:embed="rId1"/>
          <a:stretch>
            <a:fillRect/>
          </a:stretch>
        </p:blipFill>
        <p:spPr>
          <a:xfrm rot="21600000">
            <a:off x="2133600" y="3505200"/>
            <a:ext cx="7696200" cy="1767839"/>
          </a:xfrm>
          <a:prstGeom prst="rect">
            <a:avLst/>
          </a:prstGeom>
        </p:spPr>
      </p:pic>
      <p:sp>
        <p:nvSpPr>
          <p:cNvPr id="172" name="textbox 172"/>
          <p:cNvSpPr/>
          <p:nvPr/>
        </p:nvSpPr>
        <p:spPr>
          <a:xfrm>
            <a:off x="1192643" y="1576561"/>
            <a:ext cx="8632190" cy="935989"/>
          </a:xfrm>
          <a:prstGeom prst="rect">
            <a:avLst/>
          </a:prstGeom>
          <a:noFill/>
          <a:ln w="0" cap="flat">
            <a:noFill/>
            <a:prstDash val="solid"/>
            <a:miter lim="0"/>
          </a:ln>
        </p:spPr>
        <p:txBody>
          <a:bodyPr vert="horz" wrap="square" lIns="0" tIns="0" rIns="0" bIns="0"/>
          <a:lstStyle/>
          <a:p>
            <a:pPr algn="l" rtl="0" eaLnBrk="0">
              <a:lnSpc>
                <a:spcPct val="6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indent="9525" algn="l" rtl="0" eaLnBrk="0">
              <a:lnSpc>
                <a:spcPct val="107000"/>
              </a:lnSpc>
            </a:pPr>
            <a:r>
              <a:rPr sz="28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轮密钥</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i</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（即第</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i </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个轮</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密钥）由轮密钥缓冲字</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W[Nb* i]</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到</a:t>
            </a:r>
            <a:r>
              <a:rPr sz="28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0" dirty="0">
                <a:solidFill>
                  <a:srgbClr val="000000">
                    <a:alpha val="100000"/>
                  </a:srgbClr>
                </a:solidFill>
                <a:latin typeface="Times New Roman" panose="02020603050405020304"/>
                <a:ea typeface="Times New Roman" panose="02020603050405020304"/>
                <a:cs typeface="Times New Roman" panose="02020603050405020304"/>
              </a:rPr>
              <a:t>W[Nb*(i+1)]</a:t>
            </a:r>
            <a:r>
              <a:rPr sz="2800" b="1" kern="0" spc="0" dirty="0">
                <a:solidFill>
                  <a:srgbClr val="000000">
                    <a:alpha val="100000"/>
                  </a:srgbClr>
                </a:solidFill>
                <a:latin typeface="仿宋" panose="02010609060101010101" charset="-122"/>
                <a:ea typeface="仿宋" panose="02010609060101010101" charset="-122"/>
                <a:cs typeface="仿宋" panose="02010609060101010101" charset="-122"/>
              </a:rPr>
              <a:t>给出，如图所示。</a:t>
            </a:r>
            <a:endParaRPr sz="2800" dirty="0">
              <a:latin typeface="仿宋" panose="02010609060101010101" charset="-122"/>
              <a:ea typeface="仿宋" panose="02010609060101010101" charset="-122"/>
              <a:cs typeface="仿宋" panose="02010609060101010101" charset="-122"/>
            </a:endParaRPr>
          </a:p>
        </p:txBody>
      </p:sp>
      <p:sp>
        <p:nvSpPr>
          <p:cNvPr id="174" name="textbox 174"/>
          <p:cNvSpPr/>
          <p:nvPr/>
        </p:nvSpPr>
        <p:spPr>
          <a:xfrm>
            <a:off x="3055442" y="5635244"/>
            <a:ext cx="5331459" cy="40449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2985"/>
              </a:lnSpc>
            </a:pP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N</a:t>
            </a:r>
            <a:r>
              <a:rPr sz="2400" b="1" kern="0" spc="0" baseline="-21000" dirty="0">
                <a:solidFill>
                  <a:srgbClr val="000000">
                    <a:alpha val="100000"/>
                  </a:srgbClr>
                </a:solidFill>
                <a:latin typeface="Times New Roman" panose="02020603050405020304"/>
                <a:ea typeface="Times New Roman" panose="02020603050405020304"/>
                <a:cs typeface="Times New Roman" panose="02020603050405020304"/>
              </a:rPr>
              <a:t>b</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=6</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且</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N</a:t>
            </a:r>
            <a:r>
              <a:rPr sz="2400" b="1" kern="0" spc="0" baseline="-2100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=4</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时的密钥扩展与轮密钥选取</a:t>
            </a:r>
            <a:endParaRPr sz="2400" dirty="0">
              <a:latin typeface="仿宋" panose="02010609060101010101" charset="-122"/>
              <a:ea typeface="仿宋" panose="02010609060101010101" charset="-122"/>
              <a:cs typeface="仿宋" panose="02010609060101010101" charset="-122"/>
            </a:endParaRPr>
          </a:p>
        </p:txBody>
      </p:sp>
      <p:sp>
        <p:nvSpPr>
          <p:cNvPr id="178" name="textbox 178"/>
          <p:cNvSpPr/>
          <p:nvPr/>
        </p:nvSpPr>
        <p:spPr>
          <a:xfrm>
            <a:off x="1570113" y="491245"/>
            <a:ext cx="2039620" cy="476250"/>
          </a:xfrm>
          <a:prstGeom prst="rect">
            <a:avLst/>
          </a:prstGeom>
          <a:noFill/>
          <a:ln w="0" cap="flat">
            <a:noFill/>
            <a:prstDash val="solid"/>
            <a:miter lim="0"/>
          </a:ln>
        </p:spPr>
        <p:txBody>
          <a:bodyPr vert="horz" wrap="square" lIns="0" tIns="0" rIns="0" bIns="0"/>
          <a:lstStyle/>
          <a:p>
            <a:pPr algn="l" rtl="0" eaLnBrk="0">
              <a:lnSpc>
                <a:spcPct val="9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3100" b="1" kern="0" spc="50" dirty="0">
                <a:solidFill>
                  <a:srgbClr val="1F4E79">
                    <a:alpha val="100000"/>
                  </a:srgbClr>
                </a:solidFill>
                <a:latin typeface="仿宋" panose="02010609060101010101" charset="-122"/>
                <a:ea typeface="仿宋" panose="02010609060101010101" charset="-122"/>
                <a:cs typeface="仿宋" panose="02010609060101010101" charset="-122"/>
              </a:rPr>
              <a:t>轮密钥选取</a:t>
            </a:r>
            <a:endParaRPr sz="3100" dirty="0">
              <a:latin typeface="仿宋" panose="02010609060101010101" charset="-122"/>
              <a:ea typeface="仿宋" panose="02010609060101010101" charset="-122"/>
              <a:cs typeface="仿宋" panose="02010609060101010101" charset="-122"/>
            </a:endParaRPr>
          </a:p>
        </p:txBody>
      </p:sp>
      <p:sp>
        <p:nvSpPr>
          <p:cNvPr id="180" name="path 180"/>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82" name="picture 182"/>
          <p:cNvPicPr>
            <a:picLocks noChangeAspect="1"/>
          </p:cNvPicPr>
          <p:nvPr/>
        </p:nvPicPr>
        <p:blipFill>
          <a:blip r:embed="rId2"/>
          <a:stretch>
            <a:fillRect/>
          </a:stretch>
        </p:blipFill>
        <p:spPr>
          <a:xfrm rot="21600000">
            <a:off x="822960" y="408431"/>
            <a:ext cx="420623" cy="655320"/>
          </a:xfrm>
          <a:prstGeom prst="rect">
            <a:avLst/>
          </a:prstGeom>
        </p:spPr>
      </p:pic>
      <p:sp>
        <p:nvSpPr>
          <p:cNvPr id="184" name="path 184"/>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rot="21600000">
            <a:off x="3557015" y="2057400"/>
            <a:ext cx="5708903" cy="813816"/>
            <a:chOff x="0" y="0"/>
            <a:chExt cx="5708903" cy="813816"/>
          </a:xfrm>
        </p:grpSpPr>
        <p:pic>
          <p:nvPicPr>
            <p:cNvPr id="186" name="picture 186"/>
            <p:cNvPicPr>
              <a:picLocks noChangeAspect="1"/>
            </p:cNvPicPr>
            <p:nvPr/>
          </p:nvPicPr>
          <p:blipFill>
            <a:blip r:embed="rId1"/>
            <a:stretch>
              <a:fillRect/>
            </a:stretch>
          </p:blipFill>
          <p:spPr>
            <a:xfrm rot="21600000">
              <a:off x="0" y="0"/>
              <a:ext cx="5708903" cy="813816"/>
            </a:xfrm>
            <a:prstGeom prst="rect">
              <a:avLst/>
            </a:prstGeom>
          </p:spPr>
        </p:pic>
        <p:sp>
          <p:nvSpPr>
            <p:cNvPr id="188" name="textbox 188"/>
            <p:cNvSpPr/>
            <p:nvPr/>
          </p:nvSpPr>
          <p:spPr>
            <a:xfrm>
              <a:off x="-12700" y="-12700"/>
              <a:ext cx="5734684" cy="87947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60400" algn="l" rtl="0" eaLnBrk="0">
                <a:lnSpc>
                  <a:spcPct val="94000"/>
                </a:lnSpc>
                <a:spcBef>
                  <a:spcPts val="5"/>
                </a:spcBef>
              </a:pPr>
              <a:r>
                <a:rPr sz="2400" b="1" kern="0" spc="0" dirty="0">
                  <a:solidFill>
                    <a:srgbClr val="FFFFFF">
                      <a:alpha val="100000"/>
                    </a:srgbClr>
                  </a:solidFill>
                  <a:latin typeface="Times New Roman" panose="02020603050405020304"/>
                  <a:ea typeface="Times New Roman" panose="02020603050405020304"/>
                  <a:cs typeface="Times New Roman" panose="02020603050405020304"/>
                </a:rPr>
                <a:t>AES</a:t>
              </a:r>
              <a:r>
                <a:rPr sz="2400" b="1" kern="0" spc="0" dirty="0">
                  <a:solidFill>
                    <a:srgbClr val="FFFFFF">
                      <a:alpha val="100000"/>
                    </a:srgbClr>
                  </a:solidFill>
                  <a:latin typeface="仿宋" panose="02010609060101010101" charset="-122"/>
                  <a:ea typeface="仿宋" panose="02010609060101010101" charset="-122"/>
                  <a:cs typeface="仿宋" panose="02010609060101010101" charset="-122"/>
                </a:rPr>
                <a:t>的密钥编排</a:t>
              </a:r>
              <a:endParaRPr sz="2400" dirty="0">
                <a:latin typeface="仿宋" panose="02010609060101010101" charset="-122"/>
                <a:ea typeface="仿宋" panose="02010609060101010101" charset="-122"/>
                <a:cs typeface="仿宋" panose="02010609060101010101" charset="-122"/>
              </a:endParaRPr>
            </a:p>
          </p:txBody>
        </p:sp>
      </p:grpSp>
      <p:grpSp>
        <p:nvGrpSpPr>
          <p:cNvPr id="10" name="group 10"/>
          <p:cNvGrpSpPr/>
          <p:nvPr/>
        </p:nvGrpSpPr>
        <p:grpSpPr>
          <a:xfrm rot="21600000">
            <a:off x="3709415" y="3886200"/>
            <a:ext cx="5507736" cy="813816"/>
            <a:chOff x="0" y="0"/>
            <a:chExt cx="5507736" cy="813816"/>
          </a:xfrm>
        </p:grpSpPr>
        <p:pic>
          <p:nvPicPr>
            <p:cNvPr id="190" name="picture 190"/>
            <p:cNvPicPr>
              <a:picLocks noChangeAspect="1"/>
            </p:cNvPicPr>
            <p:nvPr/>
          </p:nvPicPr>
          <p:blipFill>
            <a:blip r:embed="rId2"/>
            <a:stretch>
              <a:fillRect/>
            </a:stretch>
          </p:blipFill>
          <p:spPr>
            <a:xfrm rot="21600000">
              <a:off x="0" y="0"/>
              <a:ext cx="5507736" cy="813816"/>
            </a:xfrm>
            <a:prstGeom prst="rect">
              <a:avLst/>
            </a:prstGeom>
          </p:spPr>
        </p:pic>
        <p:sp>
          <p:nvSpPr>
            <p:cNvPr id="192" name="textbox 192"/>
            <p:cNvSpPr/>
            <p:nvPr/>
          </p:nvSpPr>
          <p:spPr>
            <a:xfrm>
              <a:off x="-12700" y="-12700"/>
              <a:ext cx="5533390" cy="87820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60400" algn="l" rtl="0" eaLnBrk="0">
                <a:lnSpc>
                  <a:spcPct val="94000"/>
                </a:lnSpc>
                <a:spcBef>
                  <a:spcPts val="5"/>
                </a:spcBef>
              </a:pPr>
              <a:r>
                <a:rPr sz="2400" b="1" kern="0" spc="0" dirty="0">
                  <a:solidFill>
                    <a:srgbClr val="FFFFFF">
                      <a:alpha val="100000"/>
                    </a:srgbClr>
                  </a:solidFill>
                  <a:latin typeface="Times New Roman" panose="02020603050405020304"/>
                  <a:ea typeface="Times New Roman" panose="02020603050405020304"/>
                  <a:cs typeface="Times New Roman" panose="02020603050405020304"/>
                </a:rPr>
                <a:t>AES</a:t>
              </a:r>
              <a:r>
                <a:rPr sz="2400" b="1" kern="0" spc="0" dirty="0">
                  <a:solidFill>
                    <a:srgbClr val="FFFFFF">
                      <a:alpha val="100000"/>
                    </a:srgbClr>
                  </a:solidFill>
                  <a:latin typeface="仿宋" panose="02010609060101010101" charset="-122"/>
                  <a:ea typeface="仿宋" panose="02010609060101010101" charset="-122"/>
                  <a:cs typeface="仿宋" panose="02010609060101010101" charset="-122"/>
                </a:rPr>
                <a:t>的伪代码</a:t>
              </a:r>
              <a:endParaRPr sz="2400" dirty="0">
                <a:latin typeface="仿宋" panose="02010609060101010101" charset="-122"/>
                <a:ea typeface="仿宋" panose="02010609060101010101" charset="-122"/>
                <a:cs typeface="仿宋" panose="02010609060101010101" charset="-122"/>
              </a:endParaRPr>
            </a:p>
          </p:txBody>
        </p:sp>
      </p:grpSp>
      <p:grpSp>
        <p:nvGrpSpPr>
          <p:cNvPr id="12" name="group 12"/>
          <p:cNvGrpSpPr/>
          <p:nvPr/>
        </p:nvGrpSpPr>
        <p:grpSpPr>
          <a:xfrm rot="21600000">
            <a:off x="2969132" y="1523492"/>
            <a:ext cx="1249298" cy="3784726"/>
            <a:chOff x="0" y="0"/>
            <a:chExt cx="1249298" cy="3784726"/>
          </a:xfrm>
        </p:grpSpPr>
        <p:sp>
          <p:nvSpPr>
            <p:cNvPr id="194" name="path 194"/>
            <p:cNvSpPr/>
            <p:nvPr/>
          </p:nvSpPr>
          <p:spPr>
            <a:xfrm>
              <a:off x="0" y="0"/>
              <a:ext cx="872886" cy="3784726"/>
            </a:xfrm>
            <a:custGeom>
              <a:avLst/>
              <a:gdLst/>
              <a:ahLst/>
              <a:cxnLst/>
              <a:rect l="0" t="0" r="0" b="0"/>
              <a:pathLst>
                <a:path w="1374" h="5960">
                  <a:moveTo>
                    <a:pt x="4" y="4"/>
                  </a:moveTo>
                  <a:cubicBezTo>
                    <a:pt x="1692" y="1576"/>
                    <a:pt x="1843" y="4199"/>
                    <a:pt x="347" y="5955"/>
                  </a:cubicBezTo>
                  <a:lnTo>
                    <a:pt x="347" y="5955"/>
                  </a:lnTo>
                  <a:cubicBezTo>
                    <a:pt x="1843" y="4199"/>
                    <a:pt x="1692" y="1576"/>
                    <a:pt x="4" y="4"/>
                  </a:cubicBezTo>
                </a:path>
              </a:pathLst>
            </a:custGeom>
            <a:noFill/>
            <a:ln w="6096" cap="flat">
              <a:solidFill>
                <a:srgbClr val="477BA9"/>
              </a:solidFill>
              <a:prstDash val="solid"/>
              <a:miter lim="1000000"/>
            </a:ln>
          </p:spPr>
          <p:txBody>
            <a:bodyPr rtlCol="0"/>
            <a:lstStyle/>
            <a:p>
              <a:pPr algn="ctr"/>
              <a:endParaRPr lang="zh-CN" altLang="en-US"/>
            </a:p>
          </p:txBody>
        </p:sp>
        <p:sp>
          <p:nvSpPr>
            <p:cNvPr id="196" name="path 196"/>
            <p:cNvSpPr/>
            <p:nvPr/>
          </p:nvSpPr>
          <p:spPr>
            <a:xfrm>
              <a:off x="78867" y="4333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198" name="path 198"/>
            <p:cNvSpPr/>
            <p:nvPr/>
          </p:nvSpPr>
          <p:spPr>
            <a:xfrm>
              <a:off x="75819" y="430276"/>
              <a:ext cx="1021079" cy="1021079"/>
            </a:xfrm>
            <a:custGeom>
              <a:avLst/>
              <a:gdLst/>
              <a:ahLst/>
              <a:cxnLst/>
              <a:rect l="0" t="0" r="0" b="0"/>
              <a:pathLst>
                <a:path w="1607" h="1607">
                  <a:moveTo>
                    <a:pt x="4" y="803"/>
                  </a:moveTo>
                  <a:cubicBezTo>
                    <a:pt x="4" y="362"/>
                    <a:pt x="362" y="4"/>
                    <a:pt x="803" y="4"/>
                  </a:cubicBezTo>
                  <a:cubicBezTo>
                    <a:pt x="1245" y="4"/>
                    <a:pt x="1603" y="362"/>
                    <a:pt x="1603" y="803"/>
                  </a:cubicBezTo>
                  <a:cubicBezTo>
                    <a:pt x="1603" y="1245"/>
                    <a:pt x="1245" y="1603"/>
                    <a:pt x="803" y="1603"/>
                  </a:cubicBezTo>
                  <a:cubicBezTo>
                    <a:pt x="362" y="1603"/>
                    <a:pt x="4" y="1245"/>
                    <a:pt x="4" y="803"/>
                  </a:cubicBezTo>
                </a:path>
              </a:pathLst>
            </a:custGeom>
            <a:noFill/>
            <a:ln w="6096" cap="flat">
              <a:solidFill>
                <a:srgbClr val="5B9BD5"/>
              </a:solidFill>
              <a:prstDash val="solid"/>
              <a:miter lim="1000000"/>
            </a:ln>
          </p:spPr>
          <p:txBody>
            <a:bodyPr rtlCol="0"/>
            <a:lstStyle/>
            <a:p>
              <a:pPr algn="ctr"/>
              <a:endParaRPr lang="zh-CN" altLang="en-US"/>
            </a:p>
          </p:txBody>
        </p:sp>
        <p:sp>
          <p:nvSpPr>
            <p:cNvPr id="200" name="path 200"/>
            <p:cNvSpPr/>
            <p:nvPr/>
          </p:nvSpPr>
          <p:spPr>
            <a:xfrm>
              <a:off x="231267" y="2262123"/>
              <a:ext cx="1014983" cy="1014983"/>
            </a:xfrm>
            <a:custGeom>
              <a:avLst/>
              <a:gdLst/>
              <a:ahLst/>
              <a:cxnLst/>
              <a:rect l="0" t="0" r="0" b="0"/>
              <a:pathLst>
                <a:path w="1598" h="1598">
                  <a:moveTo>
                    <a:pt x="0" y="799"/>
                  </a:moveTo>
                  <a:cubicBezTo>
                    <a:pt x="0" y="357"/>
                    <a:pt x="357" y="0"/>
                    <a:pt x="799" y="0"/>
                  </a:cubicBezTo>
                  <a:cubicBezTo>
                    <a:pt x="1240" y="0"/>
                    <a:pt x="1598" y="357"/>
                    <a:pt x="1598" y="799"/>
                  </a:cubicBezTo>
                  <a:cubicBezTo>
                    <a:pt x="1598" y="1240"/>
                    <a:pt x="1240" y="1598"/>
                    <a:pt x="799" y="1598"/>
                  </a:cubicBezTo>
                  <a:cubicBezTo>
                    <a:pt x="357" y="1598"/>
                    <a:pt x="0" y="1240"/>
                    <a:pt x="0" y="799"/>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02" name="path 202"/>
            <p:cNvSpPr/>
            <p:nvPr/>
          </p:nvSpPr>
          <p:spPr>
            <a:xfrm>
              <a:off x="228219" y="2259075"/>
              <a:ext cx="1021079" cy="1021080"/>
            </a:xfrm>
            <a:custGeom>
              <a:avLst/>
              <a:gdLst/>
              <a:ahLst/>
              <a:cxnLst/>
              <a:rect l="0" t="0" r="0" b="0"/>
              <a:pathLst>
                <a:path w="1607" h="1608">
                  <a:moveTo>
                    <a:pt x="4" y="804"/>
                  </a:moveTo>
                  <a:cubicBezTo>
                    <a:pt x="4" y="362"/>
                    <a:pt x="362" y="4"/>
                    <a:pt x="803" y="4"/>
                  </a:cubicBezTo>
                  <a:cubicBezTo>
                    <a:pt x="1245" y="4"/>
                    <a:pt x="1603" y="362"/>
                    <a:pt x="1603" y="804"/>
                  </a:cubicBezTo>
                  <a:cubicBezTo>
                    <a:pt x="1603" y="1245"/>
                    <a:pt x="1245" y="1603"/>
                    <a:pt x="803" y="1603"/>
                  </a:cubicBezTo>
                  <a:cubicBezTo>
                    <a:pt x="362" y="1603"/>
                    <a:pt x="4" y="1245"/>
                    <a:pt x="4" y="804"/>
                  </a:cubicBezTo>
                </a:path>
              </a:pathLst>
            </a:custGeom>
            <a:noFill/>
            <a:ln w="6096" cap="flat">
              <a:solidFill>
                <a:srgbClr val="5B9BD5"/>
              </a:solidFill>
              <a:prstDash val="solid"/>
              <a:miter lim="1000000"/>
            </a:ln>
          </p:spPr>
          <p:txBody>
            <a:bodyPr rtlCol="0"/>
            <a:lstStyle/>
            <a:p>
              <a:pPr algn="ctr"/>
              <a:endParaRPr lang="zh-CN" altLang="en-US"/>
            </a:p>
          </p:txBody>
        </p:sp>
      </p:grpSp>
      <p:sp>
        <p:nvSpPr>
          <p:cNvPr id="204" name="textbox 204"/>
          <p:cNvSpPr/>
          <p:nvPr/>
        </p:nvSpPr>
        <p:spPr>
          <a:xfrm>
            <a:off x="2745984" y="491245"/>
            <a:ext cx="6510019"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80" dirty="0">
                <a:solidFill>
                  <a:srgbClr val="1F4E79">
                    <a:alpha val="100000"/>
                  </a:srgbClr>
                </a:solidFill>
                <a:latin typeface="仿宋" panose="02010609060101010101" charset="-122"/>
                <a:ea typeface="仿宋" panose="02010609060101010101" charset="-122"/>
                <a:cs typeface="仿宋" panose="02010609060101010101" charset="-122"/>
              </a:rPr>
              <a:t>的密钥编排及伪代</a:t>
            </a:r>
            <a:r>
              <a:rPr sz="3100" b="1" kern="0" spc="70" dirty="0">
                <a:solidFill>
                  <a:srgbClr val="1F4E79">
                    <a:alpha val="100000"/>
                  </a:srgbClr>
                </a:solidFill>
                <a:latin typeface="仿宋" panose="02010609060101010101" charset="-122"/>
                <a:ea typeface="仿宋" panose="02010609060101010101" charset="-122"/>
                <a:cs typeface="仿宋" panose="02010609060101010101" charset="-122"/>
              </a:rPr>
              <a:t>码</a:t>
            </a:r>
            <a:endParaRPr sz="3100" dirty="0">
              <a:latin typeface="仿宋" panose="02010609060101010101" charset="-122"/>
              <a:ea typeface="仿宋" panose="02010609060101010101" charset="-122"/>
              <a:cs typeface="仿宋" panose="02010609060101010101" charset="-122"/>
            </a:endParaRPr>
          </a:p>
        </p:txBody>
      </p:sp>
      <p:sp>
        <p:nvSpPr>
          <p:cNvPr id="208" name="path 20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210" name="picture 210"/>
          <p:cNvPicPr>
            <a:picLocks noChangeAspect="1"/>
          </p:cNvPicPr>
          <p:nvPr/>
        </p:nvPicPr>
        <p:blipFill>
          <a:blip r:embed="rId3"/>
          <a:stretch>
            <a:fillRect/>
          </a:stretch>
        </p:blipFill>
        <p:spPr>
          <a:xfrm rot="21600000">
            <a:off x="822960" y="408431"/>
            <a:ext cx="420623" cy="655320"/>
          </a:xfrm>
          <a:prstGeom prst="rect">
            <a:avLst/>
          </a:prstGeom>
        </p:spPr>
      </p:pic>
      <p:sp>
        <p:nvSpPr>
          <p:cNvPr id="212" name="path 21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textbox 214"/>
          <p:cNvSpPr/>
          <p:nvPr/>
        </p:nvSpPr>
        <p:spPr>
          <a:xfrm>
            <a:off x="1683994" y="1186484"/>
            <a:ext cx="5700395" cy="4742179"/>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pitchFamily="34" charset="0"/>
              <a:ea typeface="Arial" panose="020B0604020202020204" pitchFamily="34" charset="0"/>
              <a:cs typeface="Arial" panose="020B0604020202020204" pitchFamily="34" charset="0"/>
            </a:endParaRPr>
          </a:p>
          <a:p>
            <a:pPr marL="16510" algn="l" rtl="0" eaLnBrk="0">
              <a:lnSpc>
                <a:spcPct val="74000"/>
              </a:lnSpc>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Cipher(byte in[4*Nb], byte out[4*Nb], word w[Nb*Nr</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+1])</a:t>
            </a:r>
            <a:endParaRPr sz="1800" dirty="0">
              <a:latin typeface="Times New Roman" panose="02020603050405020304"/>
              <a:ea typeface="Times New Roman" panose="02020603050405020304"/>
              <a:cs typeface="Times New Roman" panose="02020603050405020304"/>
            </a:endParaRPr>
          </a:p>
          <a:p>
            <a:pPr marL="12700" algn="l" rtl="0" eaLnBrk="0">
              <a:lnSpc>
                <a:spcPts val="2735"/>
              </a:lnSpc>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begin</a:t>
            </a:r>
            <a:endParaRPr sz="1800" dirty="0">
              <a:latin typeface="Times New Roman" panose="02020603050405020304"/>
              <a:ea typeface="Times New Roman" panose="02020603050405020304"/>
              <a:cs typeface="Times New Roman" panose="02020603050405020304"/>
            </a:endParaRPr>
          </a:p>
          <a:p>
            <a:pPr marL="183515" algn="l" rtl="0" eaLnBrk="0">
              <a:lnSpc>
                <a:spcPct val="75000"/>
              </a:lnSpc>
              <a:spcBef>
                <a:spcPts val="1115"/>
              </a:spcBef>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byte state[</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4,Nb]</a:t>
            </a:r>
            <a:endParaRPr sz="1800" dirty="0">
              <a:latin typeface="Times New Roman" panose="02020603050405020304"/>
              <a:ea typeface="Times New Roman" panose="02020603050405020304"/>
              <a:cs typeface="Times New Roman" panose="02020603050405020304"/>
            </a:endParaRPr>
          </a:p>
          <a:p>
            <a:pPr marL="187960" algn="l" rtl="0" eaLnBrk="0">
              <a:lnSpc>
                <a:spcPts val="2715"/>
              </a:lnSpc>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state</a:t>
            </a:r>
            <a:r>
              <a:rPr sz="1800" b="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 in</a:t>
            </a:r>
            <a:endParaRPr sz="1800" dirty="0">
              <a:latin typeface="Times New Roman" panose="02020603050405020304"/>
              <a:ea typeface="Times New Roman" panose="02020603050405020304"/>
              <a:cs typeface="Times New Roman" panose="02020603050405020304"/>
            </a:endParaRPr>
          </a:p>
          <a:p>
            <a:pPr marL="168275" algn="l" rtl="0" eaLnBrk="0">
              <a:lnSpc>
                <a:spcPct val="77000"/>
              </a:lnSpc>
              <a:spcBef>
                <a:spcPts val="1115"/>
              </a:spcBef>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AddRoundKey</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state</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 w[0,</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Nb</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-1</a:t>
            </a: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a:p>
            <a:pPr marL="186055" algn="l" rtl="0" eaLnBrk="0">
              <a:lnSpc>
                <a:spcPct val="74000"/>
              </a:lnSpc>
              <a:spcBef>
                <a:spcPts val="1095"/>
              </a:spcBef>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for round =</a:t>
            </a:r>
            <a:r>
              <a:rPr sz="1800" b="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1</a:t>
            </a:r>
            <a:r>
              <a:rPr sz="1800" b="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step</a:t>
            </a:r>
            <a:r>
              <a:rPr sz="1800" b="1"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1</a:t>
            </a:r>
            <a:r>
              <a:rPr sz="1800" b="1" kern="0" spc="5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to</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Nr-1</a:t>
            </a:r>
            <a:endParaRPr sz="1800" dirty="0">
              <a:latin typeface="Times New Roman" panose="02020603050405020304"/>
              <a:ea typeface="Times New Roman" panose="02020603050405020304"/>
              <a:cs typeface="Times New Roman" panose="02020603050405020304"/>
            </a:endParaRPr>
          </a:p>
          <a:p>
            <a:pPr marL="364490" algn="l" rtl="0" eaLnBrk="0">
              <a:lnSpc>
                <a:spcPts val="2710"/>
              </a:lnSpc>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SubBytes(state)</a:t>
            </a:r>
            <a:endParaRPr sz="1800" dirty="0">
              <a:latin typeface="Times New Roman" panose="02020603050405020304"/>
              <a:ea typeface="Times New Roman" panose="02020603050405020304"/>
              <a:cs typeface="Times New Roman" panose="02020603050405020304"/>
            </a:endParaRPr>
          </a:p>
          <a:p>
            <a:pPr marL="364490" algn="l" rtl="0" eaLnBrk="0">
              <a:lnSpc>
                <a:spcPct val="78000"/>
              </a:lnSpc>
              <a:spcBef>
                <a:spcPts val="1125"/>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ShiftRows(state)</a:t>
            </a:r>
            <a:endParaRPr sz="1800" dirty="0">
              <a:latin typeface="Times New Roman" panose="02020603050405020304"/>
              <a:ea typeface="Times New Roman" panose="02020603050405020304"/>
              <a:cs typeface="Times New Roman" panose="02020603050405020304"/>
            </a:endParaRPr>
          </a:p>
          <a:p>
            <a:pPr marL="356870" algn="l" rtl="0" eaLnBrk="0">
              <a:lnSpc>
                <a:spcPct val="78000"/>
              </a:lnSpc>
              <a:spcBef>
                <a:spcPts val="1050"/>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MixColumns(state)</a:t>
            </a:r>
            <a:endParaRPr sz="1800" dirty="0">
              <a:latin typeface="Times New Roman" panose="02020603050405020304"/>
              <a:ea typeface="Times New Roman" panose="02020603050405020304"/>
              <a:cs typeface="Times New Roman" panose="02020603050405020304"/>
            </a:endParaRPr>
          </a:p>
          <a:p>
            <a:pPr marL="339090" algn="l" rtl="0" eaLnBrk="0">
              <a:lnSpc>
                <a:spcPct val="76000"/>
              </a:lnSpc>
              <a:spcBef>
                <a:spcPts val="1045"/>
              </a:spcBef>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AddRoundKey(state,</a:t>
            </a:r>
            <a:r>
              <a:rPr sz="1800" b="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w[rou</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nd*Nb, (round+1)*Nb-1])</a:t>
            </a:r>
            <a:endParaRPr sz="1800" dirty="0">
              <a:latin typeface="Times New Roman" panose="02020603050405020304"/>
              <a:ea typeface="Times New Roman" panose="02020603050405020304"/>
              <a:cs typeface="Times New Roman" panose="02020603050405020304"/>
            </a:endParaRPr>
          </a:p>
          <a:p>
            <a:pPr marL="187325" algn="l" rtl="0" eaLnBrk="0">
              <a:lnSpc>
                <a:spcPct val="93000"/>
              </a:lnSpc>
              <a:spcBef>
                <a:spcPts val="1090"/>
              </a:spcBef>
            </a:pP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end</a:t>
            </a:r>
            <a:r>
              <a:rPr sz="1800" b="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for</a:t>
            </a:r>
            <a:endParaRPr sz="1800" dirty="0">
              <a:latin typeface="Times New Roman" panose="02020603050405020304"/>
              <a:ea typeface="Times New Roman" panose="02020603050405020304"/>
              <a:cs typeface="Times New Roman" panose="02020603050405020304"/>
            </a:endParaRPr>
          </a:p>
          <a:p>
            <a:pPr marL="190500" algn="l" rtl="0" eaLnBrk="0">
              <a:lnSpc>
                <a:spcPct val="74000"/>
              </a:lnSpc>
              <a:spcBef>
                <a:spcPts val="730"/>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SubBytes(state)</a:t>
            </a:r>
            <a:endParaRPr sz="1800" dirty="0">
              <a:latin typeface="Times New Roman" panose="02020603050405020304"/>
              <a:ea typeface="Times New Roman" panose="02020603050405020304"/>
              <a:cs typeface="Times New Roman" panose="02020603050405020304"/>
            </a:endParaRPr>
          </a:p>
          <a:p>
            <a:pPr marL="190500" algn="l" rtl="0" eaLnBrk="0">
              <a:lnSpc>
                <a:spcPts val="2710"/>
              </a:lnSpc>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ShiftRows(state)</a:t>
            </a:r>
            <a:endParaRPr sz="1800" dirty="0">
              <a:latin typeface="Times New Roman" panose="02020603050405020304"/>
              <a:ea typeface="Times New Roman" panose="02020603050405020304"/>
              <a:cs typeface="Times New Roman" panose="02020603050405020304"/>
            </a:endParaRPr>
          </a:p>
          <a:p>
            <a:pPr algn="l" rtl="0" eaLnBrk="0">
              <a:lnSpc>
                <a:spcPct val="105000"/>
              </a:lnSpc>
            </a:pPr>
            <a:endParaRPr sz="900" dirty="0">
              <a:latin typeface="Arial" panose="020B0604020202020204" pitchFamily="34" charset="0"/>
              <a:ea typeface="Arial" panose="020B0604020202020204" pitchFamily="34" charset="0"/>
              <a:cs typeface="Arial" panose="020B0604020202020204" pitchFamily="34" charset="0"/>
            </a:endParaRPr>
          </a:p>
          <a:p>
            <a:pPr marL="168275" algn="l" rtl="0" eaLnBrk="0">
              <a:lnSpc>
                <a:spcPct val="76000"/>
              </a:lnSpc>
              <a:spcBef>
                <a:spcPts val="5"/>
              </a:spcBef>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AddRoundKey(state,</a:t>
            </a:r>
            <a:r>
              <a:rPr sz="1800" b="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w[Nr*Nb,</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 (Nr+1)*Nb-1])</a:t>
            </a:r>
            <a:endParaRPr sz="1800" dirty="0">
              <a:latin typeface="Times New Roman" panose="02020603050405020304"/>
              <a:ea typeface="Times New Roman" panose="02020603050405020304"/>
              <a:cs typeface="Times New Roman" panose="02020603050405020304"/>
            </a:endParaRPr>
          </a:p>
        </p:txBody>
      </p:sp>
      <p:sp>
        <p:nvSpPr>
          <p:cNvPr id="216" name="textbox 216"/>
          <p:cNvSpPr/>
          <p:nvPr/>
        </p:nvSpPr>
        <p:spPr>
          <a:xfrm>
            <a:off x="683768" y="6040802"/>
            <a:ext cx="10804525" cy="57467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75000"/>
              </a:lnSpc>
              <a:tabLst>
                <a:tab pos="1188085" algn="l"/>
                <a:tab pos="10791825" algn="l"/>
              </a:tabLst>
            </a:pPr>
            <a:r>
              <a:rPr sz="1800" u="sng" kern="0" spc="0" dirty="0">
                <a:solidFill>
                  <a:srgbClr val="000000">
                    <a:alpha val="100000"/>
                  </a:srgbClr>
                </a:solidFill>
                <a:uFill>
                  <a:solidFill>
                    <a:srgbClr val="5B9BD5"/>
                  </a:solidFill>
                </a:uFill>
                <a:latin typeface="Times New Roman" panose="02020603050405020304"/>
                <a:ea typeface="Times New Roman" panose="02020603050405020304"/>
                <a:cs typeface="Times New Roman" panose="02020603050405020304"/>
              </a:rPr>
              <a:t>	</a:t>
            </a:r>
            <a:r>
              <a:rPr sz="1800" b="1" u="sng" kern="0" spc="-20" dirty="0">
                <a:solidFill>
                  <a:srgbClr val="000000">
                    <a:alpha val="100000"/>
                  </a:srgbClr>
                </a:solidFill>
                <a:uFill>
                  <a:solidFill>
                    <a:srgbClr val="5B9BD5"/>
                  </a:solidFill>
                </a:uFill>
                <a:latin typeface="Times New Roman" panose="02020603050405020304"/>
                <a:ea typeface="Times New Roman" panose="02020603050405020304"/>
                <a:cs typeface="Times New Roman" panose="02020603050405020304"/>
              </a:rPr>
              <a:t>Out</a:t>
            </a:r>
            <a:r>
              <a:rPr sz="1800" b="1" u="sng" kern="0" spc="90" dirty="0">
                <a:solidFill>
                  <a:srgbClr val="000000">
                    <a:alpha val="100000"/>
                  </a:srgbClr>
                </a:solidFill>
                <a:uFill>
                  <a:solidFill>
                    <a:srgbClr val="5B9BD5"/>
                  </a:solidFill>
                </a:uFill>
                <a:latin typeface="Times New Roman" panose="02020603050405020304"/>
                <a:ea typeface="Times New Roman" panose="02020603050405020304"/>
                <a:cs typeface="Times New Roman" panose="02020603050405020304"/>
              </a:rPr>
              <a:t> </a:t>
            </a:r>
            <a:r>
              <a:rPr sz="1800" b="1" u="sng" kern="0" spc="-20" dirty="0">
                <a:solidFill>
                  <a:srgbClr val="000000">
                    <a:alpha val="100000"/>
                  </a:srgbClr>
                </a:solidFill>
                <a:uFill>
                  <a:solidFill>
                    <a:srgbClr val="5B9BD5"/>
                  </a:solidFill>
                </a:uFill>
                <a:latin typeface="Times New Roman" panose="02020603050405020304"/>
                <a:ea typeface="Times New Roman" panose="02020603050405020304"/>
                <a:cs typeface="Times New Roman" panose="02020603050405020304"/>
              </a:rPr>
              <a:t>= state</a:t>
            </a:r>
            <a:r>
              <a:rPr sz="1800" b="1" u="sng" kern="0" spc="0" dirty="0">
                <a:solidFill>
                  <a:srgbClr val="000000">
                    <a:alpha val="100000"/>
                  </a:srgbClr>
                </a:solidFill>
                <a:uFill>
                  <a:solidFill>
                    <a:srgbClr val="5B9BD5"/>
                  </a:solidFill>
                </a:uFill>
                <a:latin typeface="Times New Roman" panose="02020603050405020304"/>
                <a:ea typeface="Times New Roman" panose="02020603050405020304"/>
                <a:cs typeface="Times New Roman" panose="02020603050405020304"/>
              </a:rPr>
              <a:t>	</a:t>
            </a:r>
            <a:endParaRPr sz="1800" dirty="0">
              <a:latin typeface="Times New Roman" panose="02020603050405020304"/>
              <a:ea typeface="Times New Roman" panose="02020603050405020304"/>
              <a:cs typeface="Times New Roman" panose="02020603050405020304"/>
            </a:endParaRPr>
          </a:p>
          <a:p>
            <a:pPr marL="1016635" algn="l" rtl="0" eaLnBrk="0">
              <a:lnSpc>
                <a:spcPts val="2715"/>
              </a:lnSpc>
            </a:pP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end</a:t>
            </a:r>
            <a:endParaRPr sz="1800" dirty="0">
              <a:latin typeface="Times New Roman" panose="02020603050405020304"/>
              <a:ea typeface="Times New Roman" panose="02020603050405020304"/>
              <a:cs typeface="Times New Roman" panose="02020603050405020304"/>
            </a:endParaRPr>
          </a:p>
        </p:txBody>
      </p:sp>
      <p:sp>
        <p:nvSpPr>
          <p:cNvPr id="218" name="textbox 218"/>
          <p:cNvSpPr/>
          <p:nvPr/>
        </p:nvSpPr>
        <p:spPr>
          <a:xfrm>
            <a:off x="1546195" y="491245"/>
            <a:ext cx="3900170"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加密过程的伪代码</a:t>
            </a:r>
            <a:endParaRPr sz="3100" dirty="0">
              <a:latin typeface="仿宋" panose="02010609060101010101" charset="-122"/>
              <a:ea typeface="仿宋" panose="02010609060101010101" charset="-122"/>
              <a:cs typeface="仿宋" panose="02010609060101010101" charset="-122"/>
            </a:endParaRPr>
          </a:p>
        </p:txBody>
      </p:sp>
      <p:pic>
        <p:nvPicPr>
          <p:cNvPr id="222" name="picture 222"/>
          <p:cNvPicPr>
            <a:picLocks noChangeAspect="1"/>
          </p:cNvPicPr>
          <p:nvPr/>
        </p:nvPicPr>
        <p:blipFill>
          <a:blip r:embed="rId1"/>
          <a:stretch>
            <a:fillRect/>
          </a:stretch>
        </p:blipFill>
        <p:spPr>
          <a:xfrm rot="21600000">
            <a:off x="822960" y="408431"/>
            <a:ext cx="420623" cy="655320"/>
          </a:xfrm>
          <a:prstGeom prst="rect">
            <a:avLst/>
          </a:prstGeom>
        </p:spPr>
      </p:pic>
      <p:sp>
        <p:nvSpPr>
          <p:cNvPr id="224" name="path 224"/>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box 226"/>
          <p:cNvSpPr/>
          <p:nvPr/>
        </p:nvSpPr>
        <p:spPr>
          <a:xfrm>
            <a:off x="1759966" y="1186484"/>
            <a:ext cx="6033770" cy="4742179"/>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4000"/>
              </a:lnSpc>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InvCipher</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byte</a:t>
            </a:r>
            <a:r>
              <a:rPr sz="1800" b="1"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in</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[4*</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Nb</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byte</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out</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[4*</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Nb</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word</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Nb</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Nr</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+1])</a:t>
            </a:r>
            <a:endParaRPr sz="1800" dirty="0">
              <a:latin typeface="Times New Roman" panose="02020603050405020304"/>
              <a:ea typeface="Times New Roman" panose="02020603050405020304"/>
              <a:cs typeface="Times New Roman" panose="02020603050405020304"/>
            </a:endParaRPr>
          </a:p>
          <a:p>
            <a:pPr marL="12700" algn="l" rtl="0" eaLnBrk="0">
              <a:lnSpc>
                <a:spcPts val="2735"/>
              </a:lnSpc>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begin</a:t>
            </a:r>
            <a:endParaRPr sz="1800" dirty="0">
              <a:latin typeface="Times New Roman" panose="02020603050405020304"/>
              <a:ea typeface="Times New Roman" panose="02020603050405020304"/>
              <a:cs typeface="Times New Roman" panose="02020603050405020304"/>
            </a:endParaRPr>
          </a:p>
          <a:p>
            <a:pPr marL="183515" algn="l" rtl="0" eaLnBrk="0">
              <a:lnSpc>
                <a:spcPct val="75000"/>
              </a:lnSpc>
              <a:spcBef>
                <a:spcPts val="1115"/>
              </a:spcBef>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byte state[</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4,Nb]</a:t>
            </a:r>
            <a:endParaRPr sz="1800" dirty="0">
              <a:latin typeface="Times New Roman" panose="02020603050405020304"/>
              <a:ea typeface="Times New Roman" panose="02020603050405020304"/>
              <a:cs typeface="Times New Roman" panose="02020603050405020304"/>
            </a:endParaRPr>
          </a:p>
          <a:p>
            <a:pPr marL="187960" algn="l" rtl="0" eaLnBrk="0">
              <a:lnSpc>
                <a:spcPts val="2715"/>
              </a:lnSpc>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state</a:t>
            </a:r>
            <a:r>
              <a:rPr sz="1800" b="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 in</a:t>
            </a:r>
            <a:endParaRPr sz="1800" dirty="0">
              <a:latin typeface="Times New Roman" panose="02020603050405020304"/>
              <a:ea typeface="Times New Roman" panose="02020603050405020304"/>
              <a:cs typeface="Times New Roman" panose="02020603050405020304"/>
            </a:endParaRPr>
          </a:p>
          <a:p>
            <a:pPr marL="168275" algn="l" rtl="0" eaLnBrk="0">
              <a:lnSpc>
                <a:spcPct val="77000"/>
              </a:lnSpc>
              <a:spcBef>
                <a:spcPts val="1115"/>
              </a:spcBef>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AddRoundKey(state,</a:t>
            </a:r>
            <a:r>
              <a:rPr sz="1800" b="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w[Nr*Nb,</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 (Nr+1)*Nb-1])</a:t>
            </a:r>
            <a:endParaRPr sz="1800" dirty="0">
              <a:latin typeface="Times New Roman" panose="02020603050405020304"/>
              <a:ea typeface="Times New Roman" panose="02020603050405020304"/>
              <a:cs typeface="Times New Roman" panose="02020603050405020304"/>
            </a:endParaRPr>
          </a:p>
          <a:p>
            <a:pPr marL="186055" algn="l" rtl="0" eaLnBrk="0">
              <a:lnSpc>
                <a:spcPct val="74000"/>
              </a:lnSpc>
              <a:spcBef>
                <a:spcPts val="1095"/>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for round = Nr-1</a:t>
            </a:r>
            <a:r>
              <a:rPr sz="1800" b="1" kern="0" spc="9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step</a:t>
            </a:r>
            <a:r>
              <a:rPr sz="1800" b="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-1</a:t>
            </a:r>
            <a:r>
              <a:rPr sz="1800" b="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downto</a:t>
            </a:r>
            <a:r>
              <a:rPr sz="1800" b="1"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1</a:t>
            </a:r>
            <a:endParaRPr sz="1800" dirty="0">
              <a:latin typeface="Times New Roman" panose="02020603050405020304"/>
              <a:ea typeface="Times New Roman" panose="02020603050405020304"/>
              <a:cs typeface="Times New Roman" panose="02020603050405020304"/>
            </a:endParaRPr>
          </a:p>
          <a:p>
            <a:pPr marL="357505" algn="l" rtl="0" eaLnBrk="0">
              <a:lnSpc>
                <a:spcPts val="2710"/>
              </a:lnSpc>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InvShiftRow</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s(state)</a:t>
            </a:r>
            <a:endParaRPr sz="1800" dirty="0">
              <a:latin typeface="Times New Roman" panose="02020603050405020304"/>
              <a:ea typeface="Times New Roman" panose="02020603050405020304"/>
              <a:cs typeface="Times New Roman" panose="02020603050405020304"/>
            </a:endParaRPr>
          </a:p>
          <a:p>
            <a:pPr marL="357505" algn="l" rtl="0" eaLnBrk="0">
              <a:lnSpc>
                <a:spcPct val="76000"/>
              </a:lnSpc>
              <a:spcBef>
                <a:spcPts val="1140"/>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InvSubBytes(state)</a:t>
            </a:r>
            <a:endParaRPr sz="1800" dirty="0">
              <a:latin typeface="Times New Roman" panose="02020603050405020304"/>
              <a:ea typeface="Times New Roman" panose="02020603050405020304"/>
              <a:cs typeface="Times New Roman" panose="02020603050405020304"/>
            </a:endParaRPr>
          </a:p>
          <a:p>
            <a:pPr marL="356870" indent="-17780" algn="l" rtl="0" eaLnBrk="0">
              <a:lnSpc>
                <a:spcPct val="115000"/>
              </a:lnSpc>
              <a:spcBef>
                <a:spcPts val="510"/>
              </a:spcBef>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AddRoundKey(state,</a:t>
            </a:r>
            <a:r>
              <a:rPr sz="1800" b="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w[rou</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nd*Nb, (round+1)*Nb-1])</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InvMixColumns(state)</a:t>
            </a:r>
            <a:endParaRPr sz="1800" dirty="0">
              <a:latin typeface="Times New Roman" panose="02020603050405020304"/>
              <a:ea typeface="Times New Roman" panose="02020603050405020304"/>
              <a:cs typeface="Times New Roman" panose="02020603050405020304"/>
            </a:endParaRPr>
          </a:p>
          <a:p>
            <a:pPr marL="187960" algn="l" rtl="0" eaLnBrk="0">
              <a:lnSpc>
                <a:spcPct val="93000"/>
              </a:lnSpc>
              <a:spcBef>
                <a:spcPts val="1065"/>
              </a:spcBef>
            </a:pP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end</a:t>
            </a:r>
            <a:r>
              <a:rPr sz="1800" b="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for</a:t>
            </a:r>
            <a:endParaRPr sz="1800" dirty="0">
              <a:latin typeface="Times New Roman" panose="02020603050405020304"/>
              <a:ea typeface="Times New Roman" panose="02020603050405020304"/>
              <a:cs typeface="Times New Roman" panose="02020603050405020304"/>
            </a:endParaRPr>
          </a:p>
          <a:p>
            <a:pPr marL="190500" algn="l" rtl="0" eaLnBrk="0">
              <a:lnSpc>
                <a:spcPct val="74000"/>
              </a:lnSpc>
              <a:spcBef>
                <a:spcPts val="730"/>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SubBytes(state)</a:t>
            </a:r>
            <a:endParaRPr sz="1800" dirty="0">
              <a:latin typeface="Times New Roman" panose="02020603050405020304"/>
              <a:ea typeface="Times New Roman" panose="02020603050405020304"/>
              <a:cs typeface="Times New Roman" panose="02020603050405020304"/>
            </a:endParaRPr>
          </a:p>
          <a:p>
            <a:pPr marL="190500" algn="l" rtl="0" eaLnBrk="0">
              <a:lnSpc>
                <a:spcPts val="2710"/>
              </a:lnSpc>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ShiftRows(state)</a:t>
            </a:r>
            <a:endParaRPr sz="1800" dirty="0">
              <a:latin typeface="Times New Roman" panose="02020603050405020304"/>
              <a:ea typeface="Times New Roman" panose="02020603050405020304"/>
              <a:cs typeface="Times New Roman" panose="02020603050405020304"/>
            </a:endParaRPr>
          </a:p>
          <a:p>
            <a:pPr algn="l" rtl="0" eaLnBrk="0">
              <a:lnSpc>
                <a:spcPct val="105000"/>
              </a:lnSpc>
            </a:pPr>
            <a:endParaRPr sz="900" dirty="0">
              <a:latin typeface="Arial" panose="020B0604020202020204" pitchFamily="34" charset="0"/>
              <a:ea typeface="Arial" panose="020B0604020202020204" pitchFamily="34" charset="0"/>
              <a:cs typeface="Arial" panose="020B0604020202020204" pitchFamily="34" charset="0"/>
            </a:endParaRPr>
          </a:p>
          <a:p>
            <a:pPr marL="168275" algn="l" rtl="0" eaLnBrk="0">
              <a:lnSpc>
                <a:spcPct val="76000"/>
              </a:lnSpc>
              <a:spcBef>
                <a:spcPts val="5"/>
              </a:spcBef>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AddRoundKey</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state</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 w[0,</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Nb</a:t>
            </a: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-1</a:t>
            </a: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p:txBody>
      </p:sp>
      <p:sp>
        <p:nvSpPr>
          <p:cNvPr id="228" name="textbox 228"/>
          <p:cNvSpPr/>
          <p:nvPr/>
        </p:nvSpPr>
        <p:spPr>
          <a:xfrm>
            <a:off x="683768" y="6040802"/>
            <a:ext cx="10804525" cy="57467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75000"/>
              </a:lnSpc>
              <a:tabLst>
                <a:tab pos="1264285" algn="l"/>
                <a:tab pos="10791825" algn="l"/>
              </a:tabLst>
            </a:pPr>
            <a:r>
              <a:rPr sz="1800" u="sng" kern="0" spc="0" dirty="0">
                <a:solidFill>
                  <a:srgbClr val="000000">
                    <a:alpha val="100000"/>
                  </a:srgbClr>
                </a:solidFill>
                <a:uFill>
                  <a:solidFill>
                    <a:srgbClr val="5B9BD5"/>
                  </a:solidFill>
                </a:uFill>
                <a:latin typeface="Times New Roman" panose="02020603050405020304"/>
                <a:ea typeface="Times New Roman" panose="02020603050405020304"/>
                <a:cs typeface="Times New Roman" panose="02020603050405020304"/>
              </a:rPr>
              <a:t>	</a:t>
            </a:r>
            <a:r>
              <a:rPr sz="1800" b="1" u="sng" kern="0" spc="-20" dirty="0">
                <a:solidFill>
                  <a:srgbClr val="000000">
                    <a:alpha val="100000"/>
                  </a:srgbClr>
                </a:solidFill>
                <a:uFill>
                  <a:solidFill>
                    <a:srgbClr val="5B9BD5"/>
                  </a:solidFill>
                </a:uFill>
                <a:latin typeface="Times New Roman" panose="02020603050405020304"/>
                <a:ea typeface="Times New Roman" panose="02020603050405020304"/>
                <a:cs typeface="Times New Roman" panose="02020603050405020304"/>
              </a:rPr>
              <a:t>Out</a:t>
            </a:r>
            <a:r>
              <a:rPr sz="1800" b="1" u="sng" kern="0" spc="90" dirty="0">
                <a:solidFill>
                  <a:srgbClr val="000000">
                    <a:alpha val="100000"/>
                  </a:srgbClr>
                </a:solidFill>
                <a:uFill>
                  <a:solidFill>
                    <a:srgbClr val="5B9BD5"/>
                  </a:solidFill>
                </a:uFill>
                <a:latin typeface="Times New Roman" panose="02020603050405020304"/>
                <a:ea typeface="Times New Roman" panose="02020603050405020304"/>
                <a:cs typeface="Times New Roman" panose="02020603050405020304"/>
              </a:rPr>
              <a:t> </a:t>
            </a:r>
            <a:r>
              <a:rPr sz="1800" b="1" u="sng" kern="0" spc="-20" dirty="0">
                <a:solidFill>
                  <a:srgbClr val="000000">
                    <a:alpha val="100000"/>
                  </a:srgbClr>
                </a:solidFill>
                <a:uFill>
                  <a:solidFill>
                    <a:srgbClr val="5B9BD5"/>
                  </a:solidFill>
                </a:uFill>
                <a:latin typeface="Times New Roman" panose="02020603050405020304"/>
                <a:ea typeface="Times New Roman" panose="02020603050405020304"/>
                <a:cs typeface="Times New Roman" panose="02020603050405020304"/>
              </a:rPr>
              <a:t>= state</a:t>
            </a:r>
            <a:r>
              <a:rPr sz="1800" b="1" u="sng" kern="0" spc="0" dirty="0">
                <a:solidFill>
                  <a:srgbClr val="000000">
                    <a:alpha val="100000"/>
                  </a:srgbClr>
                </a:solidFill>
                <a:uFill>
                  <a:solidFill>
                    <a:srgbClr val="5B9BD5"/>
                  </a:solidFill>
                </a:uFill>
                <a:latin typeface="Times New Roman" panose="02020603050405020304"/>
                <a:ea typeface="Times New Roman" panose="02020603050405020304"/>
                <a:cs typeface="Times New Roman" panose="02020603050405020304"/>
              </a:rPr>
              <a:t>	</a:t>
            </a:r>
            <a:endParaRPr sz="1800" dirty="0">
              <a:latin typeface="Times New Roman" panose="02020603050405020304"/>
              <a:ea typeface="Times New Roman" panose="02020603050405020304"/>
              <a:cs typeface="Times New Roman" panose="02020603050405020304"/>
            </a:endParaRPr>
          </a:p>
          <a:p>
            <a:pPr marL="1092835" algn="l" rtl="0" eaLnBrk="0">
              <a:lnSpc>
                <a:spcPts val="2715"/>
              </a:lnSpc>
            </a:pP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end</a:t>
            </a:r>
            <a:endParaRPr sz="1800" dirty="0">
              <a:latin typeface="Times New Roman" panose="02020603050405020304"/>
              <a:ea typeface="Times New Roman" panose="02020603050405020304"/>
              <a:cs typeface="Times New Roman" panose="02020603050405020304"/>
            </a:endParaRPr>
          </a:p>
        </p:txBody>
      </p:sp>
      <p:sp>
        <p:nvSpPr>
          <p:cNvPr id="230" name="textbox 230"/>
          <p:cNvSpPr/>
          <p:nvPr/>
        </p:nvSpPr>
        <p:spPr>
          <a:xfrm>
            <a:off x="1546195" y="491245"/>
            <a:ext cx="3900170"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解密过程的伪代码</a:t>
            </a:r>
            <a:endParaRPr sz="3100" dirty="0">
              <a:latin typeface="仿宋" panose="02010609060101010101" charset="-122"/>
              <a:ea typeface="仿宋" panose="02010609060101010101" charset="-122"/>
              <a:cs typeface="仿宋" panose="02010609060101010101" charset="-122"/>
            </a:endParaRPr>
          </a:p>
        </p:txBody>
      </p:sp>
      <p:pic>
        <p:nvPicPr>
          <p:cNvPr id="234" name="picture 234"/>
          <p:cNvPicPr>
            <a:picLocks noChangeAspect="1"/>
          </p:cNvPicPr>
          <p:nvPr/>
        </p:nvPicPr>
        <p:blipFill>
          <a:blip r:embed="rId1"/>
          <a:stretch>
            <a:fillRect/>
          </a:stretch>
        </p:blipFill>
        <p:spPr>
          <a:xfrm rot="21600000">
            <a:off x="822960" y="408431"/>
            <a:ext cx="420623" cy="655320"/>
          </a:xfrm>
          <a:prstGeom prst="rect">
            <a:avLst/>
          </a:prstGeom>
        </p:spPr>
      </p:pic>
      <p:sp>
        <p:nvSpPr>
          <p:cNvPr id="236" name="path 23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textbox 238"/>
          <p:cNvSpPr/>
          <p:nvPr/>
        </p:nvSpPr>
        <p:spPr>
          <a:xfrm>
            <a:off x="1455394" y="1233776"/>
            <a:ext cx="6989444" cy="4667250"/>
          </a:xfrm>
          <a:prstGeom prst="rect">
            <a:avLst/>
          </a:prstGeom>
          <a:noFill/>
          <a:ln w="0" cap="flat">
            <a:noFill/>
            <a:prstDash val="solid"/>
            <a:miter lim="0"/>
          </a:ln>
        </p:spPr>
        <p:txBody>
          <a:bodyPr vert="horz" wrap="square" lIns="0" tIns="0" rIns="0" bIns="0"/>
          <a:lstStyle/>
          <a:p>
            <a:pPr algn="l" rtl="0" eaLnBrk="0">
              <a:lnSpc>
                <a:spcPct val="1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4000"/>
              </a:lnSpc>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KeyExpansion</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byte</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key</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[4*</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Nk</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word</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w</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Nb</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Nr</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+1)],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Nk</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begin</a:t>
            </a:r>
            <a:endParaRPr sz="1800" dirty="0">
              <a:latin typeface="Times New Roman" panose="02020603050405020304"/>
              <a:ea typeface="Times New Roman" panose="02020603050405020304"/>
              <a:cs typeface="Times New Roman" panose="02020603050405020304"/>
            </a:endParaRPr>
          </a:p>
          <a:p>
            <a:pPr marL="466725" algn="l" rtl="0" eaLnBrk="0">
              <a:lnSpc>
                <a:spcPct val="75000"/>
              </a:lnSpc>
              <a:spcBef>
                <a:spcPts val="665"/>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word temp</a:t>
            </a:r>
            <a:endParaRPr sz="1800" dirty="0">
              <a:latin typeface="Times New Roman" panose="02020603050405020304"/>
              <a:ea typeface="Times New Roman" panose="02020603050405020304"/>
              <a:cs typeface="Times New Roman" panose="02020603050405020304"/>
            </a:endParaRPr>
          </a:p>
          <a:p>
            <a:pPr marL="469900" algn="l" rtl="0" eaLnBrk="0">
              <a:lnSpc>
                <a:spcPts val="2370"/>
              </a:lnSpc>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i=0</a:t>
            </a:r>
            <a:endParaRPr sz="1800" dirty="0">
              <a:latin typeface="Times New Roman" panose="02020603050405020304"/>
              <a:ea typeface="Times New Roman" panose="02020603050405020304"/>
              <a:cs typeface="Times New Roman" panose="02020603050405020304"/>
            </a:endParaRPr>
          </a:p>
          <a:p>
            <a:pPr marL="466725" algn="l" rtl="0" eaLnBrk="0">
              <a:lnSpc>
                <a:spcPct val="78000"/>
              </a:lnSpc>
              <a:spcBef>
                <a:spcPts val="675"/>
              </a:spcBef>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while (i&lt;Nk)</a:t>
            </a:r>
            <a:endParaRPr sz="1800" dirty="0">
              <a:latin typeface="Times New Roman" panose="02020603050405020304"/>
              <a:ea typeface="Times New Roman" panose="02020603050405020304"/>
              <a:cs typeface="Times New Roman" panose="02020603050405020304"/>
            </a:endParaRPr>
          </a:p>
          <a:p>
            <a:pPr algn="r" rtl="0" eaLnBrk="0">
              <a:lnSpc>
                <a:spcPct val="76000"/>
              </a:lnSpc>
              <a:spcBef>
                <a:spcPts val="660"/>
              </a:spcBef>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w[i]=word(Key[4* i], Key[4* i +1], Key[4* i +2], Key[4* i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3] )</a:t>
            </a:r>
            <a:endParaRPr sz="1800" dirty="0">
              <a:latin typeface="Times New Roman" panose="02020603050405020304"/>
              <a:ea typeface="Times New Roman" panose="02020603050405020304"/>
              <a:cs typeface="Times New Roman" panose="02020603050405020304"/>
            </a:endParaRPr>
          </a:p>
          <a:p>
            <a:pPr marL="927100" algn="l" rtl="0" eaLnBrk="0">
              <a:lnSpc>
                <a:spcPts val="1220"/>
              </a:lnSpc>
              <a:spcBef>
                <a:spcPts val="675"/>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i=i+1</a:t>
            </a:r>
            <a:endParaRPr sz="1800" dirty="0">
              <a:latin typeface="Times New Roman" panose="02020603050405020304"/>
              <a:ea typeface="Times New Roman" panose="02020603050405020304"/>
              <a:cs typeface="Times New Roman" panose="02020603050405020304"/>
            </a:endParaRPr>
          </a:p>
          <a:p>
            <a:pPr marL="532130" algn="l" rtl="0" eaLnBrk="0">
              <a:lnSpc>
                <a:spcPts val="2720"/>
              </a:lnSpc>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end while</a:t>
            </a:r>
            <a:endParaRPr sz="1800" dirty="0">
              <a:latin typeface="Times New Roman" panose="02020603050405020304"/>
              <a:ea typeface="Times New Roman" panose="02020603050405020304"/>
              <a:cs typeface="Times New Roman" panose="02020603050405020304"/>
            </a:endParaRPr>
          </a:p>
          <a:p>
            <a:pPr marL="527685" algn="l" rtl="0" eaLnBrk="0">
              <a:lnSpc>
                <a:spcPts val="2370"/>
              </a:lnSpc>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i=Nk</a:t>
            </a:r>
            <a:endParaRPr sz="1800" dirty="0">
              <a:latin typeface="Times New Roman" panose="02020603050405020304"/>
              <a:ea typeface="Times New Roman" panose="02020603050405020304"/>
              <a:cs typeface="Times New Roman" panose="02020603050405020304"/>
            </a:endParaRPr>
          </a:p>
          <a:p>
            <a:pPr marL="525145" algn="l" rtl="0" eaLnBrk="0">
              <a:lnSpc>
                <a:spcPct val="75000"/>
              </a:lnSpc>
              <a:spcBef>
                <a:spcPts val="670"/>
              </a:spcBef>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while(i&lt;Nb*(Nr+1))</a:t>
            </a:r>
            <a:endParaRPr sz="1800" dirty="0">
              <a:latin typeface="Times New Roman" panose="02020603050405020304"/>
              <a:ea typeface="Times New Roman" panose="02020603050405020304"/>
              <a:cs typeface="Times New Roman" panose="02020603050405020304"/>
            </a:endParaRPr>
          </a:p>
          <a:p>
            <a:pPr marL="926465" algn="l" rtl="0" eaLnBrk="0">
              <a:lnSpc>
                <a:spcPts val="2330"/>
              </a:lnSpc>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temp=W[i-</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1]</a:t>
            </a:r>
            <a:endParaRPr sz="1800" dirty="0">
              <a:latin typeface="Times New Roman" panose="02020603050405020304"/>
              <a:ea typeface="Times New Roman" panose="02020603050405020304"/>
              <a:cs typeface="Times New Roman" panose="02020603050405020304"/>
            </a:endParaRPr>
          </a:p>
          <a:p>
            <a:pPr marL="927100" algn="l" rtl="0" eaLnBrk="0">
              <a:lnSpc>
                <a:spcPct val="78000"/>
              </a:lnSpc>
              <a:spcBef>
                <a:spcPts val="715"/>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if (I mod</a:t>
            </a:r>
            <a:r>
              <a:rPr sz="1800" b="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Nk= =0)</a:t>
            </a:r>
            <a:endParaRPr sz="1800" dirty="0">
              <a:latin typeface="Times New Roman" panose="02020603050405020304"/>
              <a:ea typeface="Times New Roman" panose="02020603050405020304"/>
              <a:cs typeface="Times New Roman" panose="02020603050405020304"/>
            </a:endParaRPr>
          </a:p>
          <a:p>
            <a:pPr marL="931545" indent="223520" algn="l" rtl="0" eaLnBrk="0">
              <a:lnSpc>
                <a:spcPct val="97000"/>
              </a:lnSpc>
              <a:spcBef>
                <a:spcPts val="470"/>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temp=SubByte</a:t>
            </a:r>
            <a:r>
              <a:rPr sz="1800" b="1"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(RotByte (temp))</a:t>
            </a:r>
            <a:r>
              <a:rPr sz="1800" b="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xor Rcon[i /Nk]</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elseif</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Nk</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&gt;6</a:t>
            </a:r>
            <a:r>
              <a:rPr sz="1800" b="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and</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i</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mod</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Nk</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 = 4</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a:p>
            <a:pPr marL="1155065" algn="l" rtl="0" eaLnBrk="0">
              <a:lnSpc>
                <a:spcPct val="74000"/>
              </a:lnSpc>
              <a:spcBef>
                <a:spcPts val="660"/>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temp=SubWo</a:t>
            </a: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rd(temp)</a:t>
            </a:r>
            <a:endParaRPr sz="1800" dirty="0">
              <a:latin typeface="Times New Roman" panose="02020603050405020304"/>
              <a:ea typeface="Times New Roman" panose="02020603050405020304"/>
              <a:cs typeface="Times New Roman" panose="02020603050405020304"/>
            </a:endParaRPr>
          </a:p>
          <a:p>
            <a:pPr marL="989330" algn="l" rtl="0" eaLnBrk="0">
              <a:lnSpc>
                <a:spcPts val="2325"/>
              </a:lnSpc>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end</a:t>
            </a:r>
            <a:r>
              <a:rPr sz="1800" b="1" kern="0" spc="8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if</a:t>
            </a:r>
            <a:endParaRPr sz="1800" dirty="0">
              <a:latin typeface="Times New Roman" panose="02020603050405020304"/>
              <a:ea typeface="Times New Roman" panose="02020603050405020304"/>
              <a:cs typeface="Times New Roman" panose="02020603050405020304"/>
            </a:endParaRPr>
          </a:p>
        </p:txBody>
      </p:sp>
      <p:sp>
        <p:nvSpPr>
          <p:cNvPr id="240" name="textbox 240"/>
          <p:cNvSpPr/>
          <p:nvPr/>
        </p:nvSpPr>
        <p:spPr>
          <a:xfrm>
            <a:off x="683768" y="5966942"/>
            <a:ext cx="10804525" cy="873125"/>
          </a:xfrm>
          <a:prstGeom prst="rect">
            <a:avLst/>
          </a:prstGeom>
          <a:noFill/>
          <a:ln w="0" cap="flat">
            <a:noFill/>
            <a:prstDash val="solid"/>
            <a:miter lim="0"/>
          </a:ln>
        </p:spPr>
        <p:txBody>
          <a:bodyPr vert="horz" wrap="square" lIns="0" tIns="0" rIns="0" bIns="0"/>
          <a:lstStyle/>
          <a:p>
            <a:pPr algn="l" rtl="0" eaLnBrk="0">
              <a:lnSpc>
                <a:spcPct val="31000"/>
              </a:lnSpc>
            </a:pPr>
            <a:endParaRPr sz="100" dirty="0">
              <a:latin typeface="Arial" panose="020B0604020202020204" pitchFamily="34" charset="0"/>
              <a:ea typeface="Arial" panose="020B0604020202020204" pitchFamily="34" charset="0"/>
              <a:cs typeface="Arial" panose="020B0604020202020204" pitchFamily="34" charset="0"/>
            </a:endParaRPr>
          </a:p>
          <a:p>
            <a:pPr marL="1473835" indent="-1461770" algn="l" defTabSz="0" rtl="0" eaLnBrk="0">
              <a:lnSpc>
                <a:spcPct val="102000"/>
              </a:lnSpc>
              <a:tabLst>
                <a:tab pos="1924685" algn="l"/>
                <a:tab pos="10791825" algn="l"/>
              </a:tabLst>
            </a:pPr>
            <a:r>
              <a:rPr sz="1800" u="sng" kern="0" spc="0" dirty="0">
                <a:solidFill>
                  <a:srgbClr val="000000">
                    <a:alpha val="100000"/>
                  </a:srgbClr>
                </a:solidFill>
                <a:uFill>
                  <a:solidFill>
                    <a:srgbClr val="5B9BD5"/>
                  </a:solidFill>
                </a:uFill>
                <a:latin typeface="Times New Roman" panose="02020603050405020304"/>
                <a:ea typeface="Times New Roman" panose="02020603050405020304"/>
                <a:cs typeface="Times New Roman" panose="02020603050405020304"/>
              </a:rPr>
              <a:t>	</a:t>
            </a:r>
            <a:r>
              <a:rPr sz="1800" u="sng" kern="0" spc="0" dirty="0">
                <a:solidFill>
                  <a:srgbClr val="000000">
                    <a:alpha val="100000"/>
                  </a:srgbClr>
                </a:solidFill>
                <a:uFill>
                  <a:solidFill>
                    <a:srgbClr val="5B9BD5"/>
                  </a:solidFill>
                </a:uFill>
                <a:latin typeface="Times New Roman" panose="02020603050405020304"/>
                <a:ea typeface="Times New Roman" panose="02020603050405020304"/>
                <a:cs typeface="Times New Roman" panose="02020603050405020304"/>
              </a:rPr>
              <a:t>	</a:t>
            </a:r>
            <a:r>
              <a:rPr sz="1800" b="1" u="sng" kern="0" spc="0" dirty="0">
                <a:solidFill>
                  <a:srgbClr val="000000">
                    <a:alpha val="100000"/>
                  </a:srgbClr>
                </a:solidFill>
                <a:uFill>
                  <a:solidFill>
                    <a:srgbClr val="5B9BD5"/>
                  </a:solidFill>
                </a:uFill>
                <a:latin typeface="Times New Roman" panose="02020603050405020304"/>
                <a:ea typeface="Times New Roman" panose="02020603050405020304"/>
                <a:cs typeface="Times New Roman" panose="02020603050405020304"/>
              </a:rPr>
              <a:t>w[i]=w[i-N</a:t>
            </a:r>
            <a:r>
              <a:rPr sz="1800" b="1" u="sng" kern="0" spc="-10" dirty="0">
                <a:solidFill>
                  <a:srgbClr val="000000">
                    <a:alpha val="100000"/>
                  </a:srgbClr>
                </a:solidFill>
                <a:uFill>
                  <a:solidFill>
                    <a:srgbClr val="5B9BD5"/>
                  </a:solidFill>
                </a:uFill>
                <a:latin typeface="Times New Roman" panose="02020603050405020304"/>
                <a:ea typeface="Times New Roman" panose="02020603050405020304"/>
                <a:cs typeface="Times New Roman" panose="02020603050405020304"/>
              </a:rPr>
              <a:t>k ] xor temp</a:t>
            </a:r>
            <a:r>
              <a:rPr sz="1800" b="1" u="sng" kern="0" spc="0" dirty="0">
                <a:solidFill>
                  <a:srgbClr val="000000">
                    <a:alpha val="100000"/>
                  </a:srgbClr>
                </a:solidFill>
                <a:uFill>
                  <a:solidFill>
                    <a:srgbClr val="5B9BD5"/>
                  </a:solidFill>
                </a:u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end while</a:t>
            </a:r>
            <a:endParaRPr sz="1800" dirty="0">
              <a:latin typeface="Times New Roman" panose="02020603050405020304"/>
              <a:ea typeface="Times New Roman" panose="02020603050405020304"/>
              <a:cs typeface="Times New Roman" panose="02020603050405020304"/>
            </a:endParaRPr>
          </a:p>
          <a:p>
            <a:pPr marL="788035" algn="l" rtl="0" eaLnBrk="0">
              <a:lnSpc>
                <a:spcPct val="93000"/>
              </a:lnSpc>
              <a:spcBef>
                <a:spcPts val="320"/>
              </a:spcBef>
            </a:pP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end</a:t>
            </a:r>
            <a:endParaRPr sz="1800" dirty="0">
              <a:latin typeface="Times New Roman" panose="02020603050405020304"/>
              <a:ea typeface="Times New Roman" panose="02020603050405020304"/>
              <a:cs typeface="Times New Roman" panose="02020603050405020304"/>
            </a:endParaRPr>
          </a:p>
        </p:txBody>
      </p:sp>
      <p:sp>
        <p:nvSpPr>
          <p:cNvPr id="242" name="textbox 242"/>
          <p:cNvSpPr/>
          <p:nvPr/>
        </p:nvSpPr>
        <p:spPr>
          <a:xfrm>
            <a:off x="1546195" y="491245"/>
            <a:ext cx="4716145"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AES</a:t>
            </a: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密钥编排算法的伪代码</a:t>
            </a:r>
            <a:endParaRPr sz="3100" dirty="0">
              <a:latin typeface="仿宋" panose="02010609060101010101" charset="-122"/>
              <a:ea typeface="仿宋" panose="02010609060101010101" charset="-122"/>
              <a:cs typeface="仿宋" panose="02010609060101010101" charset="-122"/>
            </a:endParaRPr>
          </a:p>
        </p:txBody>
      </p:sp>
      <p:pic>
        <p:nvPicPr>
          <p:cNvPr id="246" name="picture 246"/>
          <p:cNvPicPr>
            <a:picLocks noChangeAspect="1"/>
          </p:cNvPicPr>
          <p:nvPr/>
        </p:nvPicPr>
        <p:blipFill>
          <a:blip r:embed="rId1"/>
          <a:stretch>
            <a:fillRect/>
          </a:stretch>
        </p:blipFill>
        <p:spPr>
          <a:xfrm rot="21600000">
            <a:off x="822960" y="408431"/>
            <a:ext cx="420623" cy="655320"/>
          </a:xfrm>
          <a:prstGeom prst="rect">
            <a:avLst/>
          </a:prstGeom>
        </p:spPr>
      </p:pic>
      <p:sp>
        <p:nvSpPr>
          <p:cNvPr id="248" name="path 248"/>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2043430" algn="l" rtl="0" eaLnBrk="0">
              <a:lnSpc>
                <a:spcPct val="96000"/>
              </a:lnSpc>
            </a:pPr>
            <a:endParaRPr sz="4300" dirty="0">
              <a:latin typeface="仿宋" panose="02010609060101010101" charset="-122"/>
              <a:ea typeface="仿宋" panose="02010609060101010101" charset="-122"/>
              <a:cs typeface="仿宋" panose="02010609060101010101" charset="-122"/>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spcBef>
                <a:spcPts val="1085"/>
              </a:spcBef>
            </a:pPr>
            <a:r>
              <a:rPr sz="3600" b="1" kern="0" spc="-30" dirty="0">
                <a:solidFill>
                  <a:srgbClr val="000000">
                    <a:alpha val="100000"/>
                  </a:srgbClr>
                </a:solidFill>
                <a:latin typeface="仿宋" panose="02010609060101010101" charset="-122"/>
                <a:ea typeface="仿宋" panose="02010609060101010101" charset="-122"/>
                <a:cs typeface="仿宋" panose="02010609060101010101" charset="-122"/>
              </a:rPr>
              <a:t>分组密码的工作模式</a:t>
            </a:r>
            <a:endParaRPr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
          <p:cNvSpPr/>
          <p:nvPr/>
        </p:nvSpPr>
        <p:spPr>
          <a:xfrm>
            <a:off x="921819" y="1576561"/>
            <a:ext cx="10244455" cy="2882900"/>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pitchFamily="34" charset="0"/>
              <a:ea typeface="Arial" panose="020B0604020202020204" pitchFamily="34" charset="0"/>
              <a:cs typeface="Arial" panose="020B0604020202020204" pitchFamily="34" charset="0"/>
            </a:endParaRPr>
          </a:p>
          <a:p>
            <a:pPr marL="251460" indent="-238760" algn="l" rtl="0" eaLnBrk="0">
              <a:lnSpc>
                <a:spcPct val="107000"/>
              </a:lnSpc>
            </a:pPr>
            <a:r>
              <a:rPr sz="2800"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分组密码的工作模式是：根据不同的数据格式和安全性要求,</a:t>
            </a:r>
            <a:r>
              <a:rPr sz="2800" kern="0" spc="47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以</a:t>
            </a:r>
            <a:r>
              <a:rPr sz="28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一个具体的分组密码算法为基础构造一个分组密码系统的方</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法</a:t>
            </a:r>
            <a:endParaRPr sz="2800" dirty="0">
              <a:latin typeface="仿宋" panose="02010609060101010101" charset="-122"/>
              <a:ea typeface="仿宋" panose="02010609060101010101" charset="-122"/>
              <a:cs typeface="仿宋" panose="02010609060101010101" charset="-122"/>
            </a:endParaRPr>
          </a:p>
          <a:p>
            <a:pPr marL="12700" algn="l" rtl="0" eaLnBrk="0">
              <a:lnSpc>
                <a:spcPct val="99000"/>
              </a:lnSpc>
              <a:spcBef>
                <a:spcPts val="1890"/>
              </a:spcBef>
            </a:pPr>
            <a:r>
              <a:rPr sz="28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分组密码的工作模</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式应当力求简单,</a:t>
            </a:r>
            <a:r>
              <a:rPr sz="2800" kern="0" spc="-2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有效和易于实现</a:t>
            </a:r>
            <a:endParaRPr sz="2800" dirty="0">
              <a:latin typeface="仿宋" panose="02010609060101010101" charset="-122"/>
              <a:ea typeface="仿宋" panose="02010609060101010101" charset="-122"/>
              <a:cs typeface="仿宋" panose="02010609060101010101" charset="-122"/>
            </a:endParaRPr>
          </a:p>
          <a:p>
            <a:pPr marL="12700" algn="l" rtl="0" eaLnBrk="0">
              <a:lnSpc>
                <a:spcPct val="99000"/>
              </a:lnSpc>
              <a:spcBef>
                <a:spcPts val="1690"/>
              </a:spcBef>
            </a:pPr>
            <a:r>
              <a:rPr sz="28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3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需要采用适当的工</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作模式来隐蔽明文的统计特性、数据的格式等</a:t>
            </a:r>
            <a:endParaRPr sz="2800" dirty="0">
              <a:latin typeface="仿宋" panose="02010609060101010101" charset="-122"/>
              <a:ea typeface="仿宋" panose="02010609060101010101" charset="-122"/>
              <a:cs typeface="仿宋" panose="02010609060101010101" charset="-122"/>
            </a:endParaRPr>
          </a:p>
          <a:p>
            <a:pPr algn="l" rtl="0" eaLnBrk="0">
              <a:lnSpc>
                <a:spcPct val="101000"/>
              </a:lnSpc>
            </a:pPr>
            <a:endParaRPr sz="14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pPr>
            <a:r>
              <a:rPr sz="2800"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4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降低删除、重放、插入和伪造成功的机会</a:t>
            </a:r>
            <a:endParaRPr sz="2800" dirty="0">
              <a:latin typeface="仿宋" panose="02010609060101010101" charset="-122"/>
              <a:ea typeface="仿宋" panose="02010609060101010101" charset="-122"/>
              <a:cs typeface="仿宋" panose="02010609060101010101" charset="-122"/>
            </a:endParaRPr>
          </a:p>
        </p:txBody>
      </p:sp>
      <p:sp>
        <p:nvSpPr>
          <p:cNvPr id="12" name="textbox 12"/>
          <p:cNvSpPr/>
          <p:nvPr/>
        </p:nvSpPr>
        <p:spPr>
          <a:xfrm>
            <a:off x="1585923" y="491245"/>
            <a:ext cx="3852545"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6000"/>
              </a:lnSpc>
            </a:pP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为什么需要工作模式？</a:t>
            </a:r>
            <a:endParaRPr sz="3100" dirty="0">
              <a:latin typeface="仿宋" panose="02010609060101010101" charset="-122"/>
              <a:ea typeface="仿宋" panose="02010609060101010101" charset="-122"/>
              <a:cs typeface="仿宋" panose="02010609060101010101" charset="-122"/>
            </a:endParaRPr>
          </a:p>
        </p:txBody>
      </p:sp>
      <p:sp>
        <p:nvSpPr>
          <p:cNvPr id="16" name="path 1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8" name="picture 18"/>
          <p:cNvPicPr>
            <a:picLocks noChangeAspect="1"/>
          </p:cNvPicPr>
          <p:nvPr/>
        </p:nvPicPr>
        <p:blipFill>
          <a:blip r:embed="rId1"/>
          <a:stretch>
            <a:fillRect/>
          </a:stretch>
        </p:blipFill>
        <p:spPr>
          <a:xfrm rot="21600000">
            <a:off x="822960" y="408431"/>
            <a:ext cx="420623" cy="655320"/>
          </a:xfrm>
          <a:prstGeom prst="rect">
            <a:avLst/>
          </a:prstGeom>
        </p:spPr>
      </p:pic>
      <p:sp>
        <p:nvSpPr>
          <p:cNvPr id="20" name="path 2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2"/>
          <p:cNvSpPr/>
          <p:nvPr/>
        </p:nvSpPr>
        <p:spPr>
          <a:xfrm>
            <a:off x="1405170" y="1576561"/>
            <a:ext cx="4356100" cy="2987675"/>
          </a:xfrm>
          <a:prstGeom prst="rect">
            <a:avLst/>
          </a:prstGeom>
          <a:noFill/>
          <a:ln w="0" cap="flat">
            <a:noFill/>
            <a:prstDash val="solid"/>
            <a:miter lim="0"/>
          </a:ln>
        </p:spPr>
        <p:txBody>
          <a:bodyPr vert="horz" wrap="square" lIns="0" tIns="0" rIns="0" bIns="0"/>
          <a:lstStyle/>
          <a:p>
            <a:pPr algn="l" rtl="0" eaLnBrk="0">
              <a:lnSpc>
                <a:spcPct val="70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5000"/>
              </a:lnSpc>
            </a:pP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1．电码本(ECB)模</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式</a:t>
            </a:r>
            <a:endParaRPr sz="2800" dirty="0">
              <a:latin typeface="仿宋" panose="02010609060101010101" charset="-122"/>
              <a:ea typeface="仿宋" panose="02010609060101010101" charset="-122"/>
              <a:cs typeface="仿宋" panose="02010609060101010101" charset="-122"/>
            </a:endParaRPr>
          </a:p>
          <a:p>
            <a:pPr marL="66675" algn="l" rtl="0" eaLnBrk="0">
              <a:lnSpc>
                <a:spcPct val="95000"/>
              </a:lnSpc>
              <a:spcBef>
                <a:spcPts val="1860"/>
              </a:spcBef>
            </a:pP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2．密码分组链接(CBC)</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模式</a:t>
            </a:r>
            <a:endParaRPr sz="2800" dirty="0">
              <a:latin typeface="仿宋" panose="02010609060101010101" charset="-122"/>
              <a:ea typeface="仿宋" panose="02010609060101010101" charset="-122"/>
              <a:cs typeface="仿宋" panose="02010609060101010101" charset="-122"/>
            </a:endParaRPr>
          </a:p>
          <a:p>
            <a:pPr marL="69215" algn="l" rtl="0" eaLnBrk="0">
              <a:lnSpc>
                <a:spcPct val="95000"/>
              </a:lnSpc>
              <a:spcBef>
                <a:spcPts val="1825"/>
              </a:spcBef>
            </a:pP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3．密码反馈(CFB)模式</a:t>
            </a:r>
            <a:endParaRPr sz="2800" dirty="0">
              <a:latin typeface="仿宋" panose="02010609060101010101" charset="-122"/>
              <a:ea typeface="仿宋" panose="02010609060101010101" charset="-122"/>
              <a:cs typeface="仿宋" panose="02010609060101010101" charset="-122"/>
            </a:endParaRPr>
          </a:p>
          <a:p>
            <a:pPr marL="60960" algn="l" rtl="0" eaLnBrk="0">
              <a:lnSpc>
                <a:spcPct val="95000"/>
              </a:lnSpc>
              <a:spcBef>
                <a:spcPts val="1850"/>
              </a:spcBef>
            </a:pP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4．输出反馈(OFB)模</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式</a:t>
            </a:r>
            <a:endParaRPr sz="2800" dirty="0">
              <a:latin typeface="仿宋" panose="02010609060101010101" charset="-122"/>
              <a:ea typeface="仿宋" panose="02010609060101010101" charset="-122"/>
              <a:cs typeface="仿宋" panose="02010609060101010101" charset="-122"/>
            </a:endParaRPr>
          </a:p>
          <a:p>
            <a:pPr algn="l" rtl="0" eaLnBrk="0">
              <a:lnSpc>
                <a:spcPct val="102000"/>
              </a:lnSpc>
            </a:pPr>
            <a:endParaRPr sz="1500" dirty="0">
              <a:latin typeface="Arial" panose="020B0604020202020204" pitchFamily="34" charset="0"/>
              <a:ea typeface="Arial" panose="020B0604020202020204" pitchFamily="34" charset="0"/>
              <a:cs typeface="Arial" panose="020B0604020202020204" pitchFamily="34" charset="0"/>
            </a:endParaRPr>
          </a:p>
          <a:p>
            <a:pPr marL="69215" algn="l" rtl="0" eaLnBrk="0">
              <a:lnSpc>
                <a:spcPct val="95000"/>
              </a:lnSpc>
              <a:spcBef>
                <a:spcPts val="5"/>
              </a:spcBef>
            </a:pPr>
            <a:r>
              <a:rPr sz="2800" b="1" kern="0" spc="-60" dirty="0">
                <a:solidFill>
                  <a:srgbClr val="000000">
                    <a:alpha val="100000"/>
                  </a:srgbClr>
                </a:solidFill>
                <a:latin typeface="仿宋" panose="02010609060101010101" charset="-122"/>
                <a:ea typeface="仿宋" panose="02010609060101010101" charset="-122"/>
                <a:cs typeface="仿宋" panose="02010609060101010101" charset="-122"/>
              </a:rPr>
              <a:t>5.</a:t>
            </a:r>
            <a:r>
              <a:rPr sz="2800" kern="0" spc="24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60" dirty="0">
                <a:solidFill>
                  <a:srgbClr val="000000">
                    <a:alpha val="100000"/>
                  </a:srgbClr>
                </a:solidFill>
                <a:latin typeface="仿宋" panose="02010609060101010101" charset="-122"/>
                <a:ea typeface="仿宋" panose="02010609060101010101" charset="-122"/>
                <a:cs typeface="仿宋" panose="02010609060101010101" charset="-122"/>
              </a:rPr>
              <a:t>计数器模式</a:t>
            </a:r>
            <a:endParaRPr sz="2800" dirty="0">
              <a:latin typeface="仿宋" panose="02010609060101010101" charset="-122"/>
              <a:ea typeface="仿宋" panose="02010609060101010101" charset="-122"/>
              <a:cs typeface="仿宋" panose="02010609060101010101" charset="-122"/>
            </a:endParaRPr>
          </a:p>
        </p:txBody>
      </p:sp>
      <p:sp>
        <p:nvSpPr>
          <p:cNvPr id="24" name="textbox 24"/>
          <p:cNvSpPr/>
          <p:nvPr/>
        </p:nvSpPr>
        <p:spPr>
          <a:xfrm>
            <a:off x="1576193" y="491245"/>
            <a:ext cx="4478654"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70" dirty="0">
                <a:solidFill>
                  <a:srgbClr val="1F4E79">
                    <a:alpha val="100000"/>
                  </a:srgbClr>
                </a:solidFill>
                <a:latin typeface="仿宋" panose="02010609060101010101" charset="-122"/>
                <a:ea typeface="仿宋" panose="02010609060101010101" charset="-122"/>
                <a:cs typeface="仿宋" panose="02010609060101010101" charset="-122"/>
              </a:rPr>
              <a:t>分组密码的主要工作模式</a:t>
            </a:r>
            <a:endParaRPr sz="3100" dirty="0">
              <a:latin typeface="仿宋" panose="02010609060101010101" charset="-122"/>
              <a:ea typeface="仿宋" panose="02010609060101010101" charset="-122"/>
              <a:cs typeface="仿宋" panose="02010609060101010101" charset="-122"/>
            </a:endParaRPr>
          </a:p>
        </p:txBody>
      </p:sp>
      <p:sp>
        <p:nvSpPr>
          <p:cNvPr id="28" name="path 2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30" name="picture 30"/>
          <p:cNvPicPr>
            <a:picLocks noChangeAspect="1"/>
          </p:cNvPicPr>
          <p:nvPr/>
        </p:nvPicPr>
        <p:blipFill>
          <a:blip r:embed="rId1"/>
          <a:stretch>
            <a:fillRect/>
          </a:stretch>
        </p:blipFill>
        <p:spPr>
          <a:xfrm rot="21600000">
            <a:off x="822960" y="408431"/>
            <a:ext cx="420623" cy="655320"/>
          </a:xfrm>
          <a:prstGeom prst="rect">
            <a:avLst/>
          </a:prstGeom>
        </p:spPr>
      </p:pic>
      <p:sp>
        <p:nvSpPr>
          <p:cNvPr id="32" name="path 3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rot="21600000">
            <a:off x="2598165" y="1378585"/>
            <a:ext cx="5708903" cy="813816"/>
            <a:chOff x="0" y="0"/>
            <a:chExt cx="5708903" cy="813816"/>
          </a:xfrm>
        </p:grpSpPr>
        <p:pic>
          <p:nvPicPr>
            <p:cNvPr id="104" name="picture 104"/>
            <p:cNvPicPr>
              <a:picLocks noChangeAspect="1"/>
            </p:cNvPicPr>
            <p:nvPr/>
          </p:nvPicPr>
          <p:blipFill>
            <a:blip r:embed="rId1"/>
            <a:stretch>
              <a:fillRect/>
            </a:stretch>
          </p:blipFill>
          <p:spPr>
            <a:xfrm rot="21600000">
              <a:off x="0" y="0"/>
              <a:ext cx="5708903" cy="813816"/>
            </a:xfrm>
            <a:prstGeom prst="rect">
              <a:avLst/>
            </a:prstGeom>
          </p:spPr>
        </p:pic>
        <p:sp>
          <p:nvSpPr>
            <p:cNvPr id="106" name="textbox 106"/>
            <p:cNvSpPr/>
            <p:nvPr/>
          </p:nvSpPr>
          <p:spPr>
            <a:xfrm>
              <a:off x="-12700" y="-12700"/>
              <a:ext cx="5734684" cy="851535"/>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711200" algn="l" rtl="0" eaLnBrk="0">
                <a:lnSpc>
                  <a:spcPct val="93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电码本</a:t>
              </a:r>
              <a:r>
                <a:rPr sz="2400" b="1" kern="0" spc="-40" dirty="0">
                  <a:solidFill>
                    <a:srgbClr val="FFFFFF">
                      <a:alpha val="100000"/>
                    </a:srgbClr>
                  </a:solidFill>
                  <a:latin typeface="Times New Roman" panose="02020603050405020304"/>
                  <a:ea typeface="Times New Roman" panose="02020603050405020304"/>
                  <a:cs typeface="Times New Roman" panose="02020603050405020304"/>
                </a:rPr>
                <a:t>(ECB)</a:t>
              </a: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模</a:t>
              </a: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式</a:t>
              </a:r>
              <a:endParaRPr sz="2400" dirty="0">
                <a:latin typeface="仿宋" panose="02010609060101010101" charset="-122"/>
                <a:ea typeface="仿宋" panose="02010609060101010101" charset="-122"/>
                <a:cs typeface="仿宋" panose="02010609060101010101" charset="-122"/>
              </a:endParaRPr>
            </a:p>
          </p:txBody>
        </p:sp>
      </p:grpSp>
      <p:grpSp>
        <p:nvGrpSpPr>
          <p:cNvPr id="10" name="group 10"/>
          <p:cNvGrpSpPr/>
          <p:nvPr/>
        </p:nvGrpSpPr>
        <p:grpSpPr>
          <a:xfrm rot="21600000">
            <a:off x="2598165" y="2340610"/>
            <a:ext cx="5695950" cy="851535"/>
            <a:chOff x="-135890" y="-1545590"/>
            <a:chExt cx="5695950" cy="851535"/>
          </a:xfrm>
        </p:grpSpPr>
        <p:pic>
          <p:nvPicPr>
            <p:cNvPr id="108" name="picture 108"/>
            <p:cNvPicPr>
              <a:picLocks noChangeAspect="1"/>
            </p:cNvPicPr>
            <p:nvPr/>
          </p:nvPicPr>
          <p:blipFill>
            <a:blip r:embed="rId2"/>
            <a:stretch>
              <a:fillRect/>
            </a:stretch>
          </p:blipFill>
          <p:spPr>
            <a:xfrm rot="21600000">
              <a:off x="-110490" y="-1545590"/>
              <a:ext cx="5670550" cy="814070"/>
            </a:xfrm>
            <a:prstGeom prst="rect">
              <a:avLst/>
            </a:prstGeom>
          </p:spPr>
        </p:pic>
        <p:sp>
          <p:nvSpPr>
            <p:cNvPr id="110" name="textbox 110"/>
            <p:cNvSpPr/>
            <p:nvPr/>
          </p:nvSpPr>
          <p:spPr>
            <a:xfrm>
              <a:off x="-135890" y="-1545590"/>
              <a:ext cx="5533390" cy="85153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934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密码分组链接</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(CBC)</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
        <p:nvSpPr>
          <p:cNvPr id="122" name="textbox 122"/>
          <p:cNvSpPr/>
          <p:nvPr/>
        </p:nvSpPr>
        <p:spPr>
          <a:xfrm>
            <a:off x="2745984" y="491245"/>
            <a:ext cx="6104890"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70" dirty="0">
                <a:solidFill>
                  <a:srgbClr val="1F4E79">
                    <a:alpha val="100000"/>
                  </a:srgbClr>
                </a:solidFill>
                <a:latin typeface="仿宋" panose="02010609060101010101" charset="-122"/>
                <a:ea typeface="仿宋" panose="02010609060101010101" charset="-122"/>
                <a:cs typeface="仿宋" panose="02010609060101010101" charset="-122"/>
              </a:rPr>
              <a:t>分组密码的工作模式</a:t>
            </a:r>
            <a:endParaRPr sz="3100" dirty="0">
              <a:latin typeface="仿宋" panose="02010609060101010101" charset="-122"/>
              <a:ea typeface="仿宋" panose="02010609060101010101" charset="-122"/>
              <a:cs typeface="仿宋" panose="02010609060101010101" charset="-122"/>
            </a:endParaRPr>
          </a:p>
        </p:txBody>
      </p:sp>
      <p:sp>
        <p:nvSpPr>
          <p:cNvPr id="126" name="path 12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8" name="picture 128"/>
          <p:cNvPicPr>
            <a:picLocks noChangeAspect="1"/>
          </p:cNvPicPr>
          <p:nvPr/>
        </p:nvPicPr>
        <p:blipFill>
          <a:blip r:embed="rId3"/>
          <a:stretch>
            <a:fillRect/>
          </a:stretch>
        </p:blipFill>
        <p:spPr>
          <a:xfrm rot="21600000">
            <a:off x="822960" y="408431"/>
            <a:ext cx="420623" cy="655320"/>
          </a:xfrm>
          <a:prstGeom prst="rect">
            <a:avLst/>
          </a:prstGeom>
        </p:spPr>
      </p:pic>
      <p:sp>
        <p:nvSpPr>
          <p:cNvPr id="130" name="path 13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grpSp>
        <p:nvGrpSpPr>
          <p:cNvPr id="18" name="group 18"/>
          <p:cNvGrpSpPr/>
          <p:nvPr/>
        </p:nvGrpSpPr>
        <p:grpSpPr>
          <a:xfrm rot="21600000">
            <a:off x="2623820" y="4264660"/>
            <a:ext cx="5725160" cy="851535"/>
            <a:chOff x="-161925" y="-1996440"/>
            <a:chExt cx="5601970" cy="851535"/>
          </a:xfrm>
        </p:grpSpPr>
        <p:pic>
          <p:nvPicPr>
            <p:cNvPr id="164" name="picture 164"/>
            <p:cNvPicPr>
              <a:picLocks noChangeAspect="1"/>
            </p:cNvPicPr>
            <p:nvPr/>
          </p:nvPicPr>
          <p:blipFill>
            <a:blip r:embed="rId4"/>
            <a:stretch>
              <a:fillRect/>
            </a:stretch>
          </p:blipFill>
          <p:spPr>
            <a:xfrm rot="21600000">
              <a:off x="-161925" y="-1971040"/>
              <a:ext cx="5507735" cy="813816"/>
            </a:xfrm>
            <a:prstGeom prst="rect">
              <a:avLst/>
            </a:prstGeom>
          </p:spPr>
        </p:pic>
        <p:sp>
          <p:nvSpPr>
            <p:cNvPr id="166" name="textbox 166"/>
            <p:cNvSpPr/>
            <p:nvPr/>
          </p:nvSpPr>
          <p:spPr>
            <a:xfrm>
              <a:off x="-93345" y="-1996440"/>
              <a:ext cx="5533390" cy="851535"/>
            </a:xfrm>
            <a:prstGeom prst="rect">
              <a:avLst/>
            </a:prstGeom>
            <a:noFill/>
            <a:ln w="0" cap="flat">
              <a:noFill/>
              <a:prstDash val="solid"/>
              <a:miter lim="0"/>
            </a:ln>
          </p:spPr>
          <p:txBody>
            <a:bodyPr vert="horz" wrap="square" lIns="0" tIns="0" rIns="0" bIns="0"/>
            <a:p>
              <a:pPr algn="l" rtl="0" eaLnBrk="0">
                <a:lnSpc>
                  <a:spcPct val="176000"/>
                </a:lnSpc>
              </a:pPr>
              <a:endParaRPr sz="1000" dirty="0">
                <a:latin typeface="Arial" panose="020B0604020202020204" pitchFamily="34" charset="0"/>
                <a:ea typeface="Arial" panose="020B0604020202020204" pitchFamily="34" charset="0"/>
                <a:cs typeface="Arial" panose="020B0604020202020204" pitchFamily="34" charset="0"/>
              </a:endParaRPr>
            </a:p>
            <a:p>
              <a:pPr marL="6807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输出反馈</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(OFB)</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grpSp>
        <p:nvGrpSpPr>
          <p:cNvPr id="20" name="group 20"/>
          <p:cNvGrpSpPr/>
          <p:nvPr/>
        </p:nvGrpSpPr>
        <p:grpSpPr>
          <a:xfrm rot="21600000">
            <a:off x="2623565" y="5277358"/>
            <a:ext cx="5711951" cy="813816"/>
            <a:chOff x="0" y="0"/>
            <a:chExt cx="5711951" cy="813816"/>
          </a:xfrm>
        </p:grpSpPr>
        <p:pic>
          <p:nvPicPr>
            <p:cNvPr id="168" name="picture 168"/>
            <p:cNvPicPr>
              <a:picLocks noChangeAspect="1"/>
            </p:cNvPicPr>
            <p:nvPr/>
          </p:nvPicPr>
          <p:blipFill>
            <a:blip r:embed="rId5"/>
            <a:stretch>
              <a:fillRect/>
            </a:stretch>
          </p:blipFill>
          <p:spPr>
            <a:xfrm rot="21600000">
              <a:off x="0" y="0"/>
              <a:ext cx="5711951" cy="813816"/>
            </a:xfrm>
            <a:prstGeom prst="rect">
              <a:avLst/>
            </a:prstGeom>
          </p:spPr>
        </p:pic>
        <p:sp>
          <p:nvSpPr>
            <p:cNvPr id="170" name="textbox 170"/>
            <p:cNvSpPr/>
            <p:nvPr/>
          </p:nvSpPr>
          <p:spPr>
            <a:xfrm>
              <a:off x="-12700" y="-12700"/>
              <a:ext cx="5737859" cy="879475"/>
            </a:xfrm>
            <a:prstGeom prst="rect">
              <a:avLst/>
            </a:prstGeom>
            <a:noFill/>
            <a:ln w="0" cap="flat">
              <a:noFill/>
              <a:prstDash val="solid"/>
              <a:miter lim="0"/>
            </a:ln>
          </p:spPr>
          <p:txBody>
            <a:bodyPr vert="horz" wrap="square" lIns="0" tIns="0" rIns="0" bIns="0"/>
            <a:p>
              <a:pPr algn="l" rtl="0" eaLnBrk="0">
                <a:lnSpc>
                  <a:spcPct val="17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77545" algn="l" rtl="0" eaLnBrk="0">
                <a:lnSpc>
                  <a:spcPct val="94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计数器模式</a:t>
              </a:r>
              <a:endParaRPr sz="2400" dirty="0">
                <a:latin typeface="仿宋" panose="02010609060101010101" charset="-122"/>
                <a:ea typeface="仿宋" panose="02010609060101010101" charset="-122"/>
                <a:cs typeface="仿宋" panose="02010609060101010101" charset="-122"/>
              </a:endParaRPr>
            </a:p>
          </p:txBody>
        </p:sp>
      </p:grpSp>
      <p:grpSp>
        <p:nvGrpSpPr>
          <p:cNvPr id="22" name="group 22"/>
          <p:cNvGrpSpPr/>
          <p:nvPr/>
        </p:nvGrpSpPr>
        <p:grpSpPr>
          <a:xfrm rot="21600000">
            <a:off x="2623820" y="3302635"/>
            <a:ext cx="5670550" cy="814070"/>
            <a:chOff x="0" y="0"/>
            <a:chExt cx="5708903" cy="813816"/>
          </a:xfrm>
        </p:grpSpPr>
        <p:pic>
          <p:nvPicPr>
            <p:cNvPr id="172" name="picture 172"/>
            <p:cNvPicPr>
              <a:picLocks noChangeAspect="1"/>
            </p:cNvPicPr>
            <p:nvPr/>
          </p:nvPicPr>
          <p:blipFill>
            <a:blip r:embed="rId6"/>
            <a:stretch>
              <a:fillRect/>
            </a:stretch>
          </p:blipFill>
          <p:spPr>
            <a:xfrm rot="21600000">
              <a:off x="0" y="0"/>
              <a:ext cx="5708903" cy="813816"/>
            </a:xfrm>
            <a:prstGeom prst="rect">
              <a:avLst/>
            </a:prstGeom>
          </p:spPr>
        </p:pic>
        <p:sp>
          <p:nvSpPr>
            <p:cNvPr id="174" name="textbox 174"/>
            <p:cNvSpPr/>
            <p:nvPr/>
          </p:nvSpPr>
          <p:spPr>
            <a:xfrm>
              <a:off x="-12700" y="-12700"/>
              <a:ext cx="5734684" cy="851535"/>
            </a:xfrm>
            <a:prstGeom prst="rect">
              <a:avLst/>
            </a:prstGeom>
            <a:noFill/>
            <a:ln w="0" cap="flat">
              <a:noFill/>
              <a:prstDash val="solid"/>
              <a:miter lim="0"/>
            </a:ln>
          </p:spPr>
          <p:txBody>
            <a:bodyPr vert="horz" wrap="square" lIns="0" tIns="0" rIns="0" bIns="0"/>
            <a:p>
              <a:pPr algn="l" rtl="0" eaLnBrk="0">
                <a:lnSpc>
                  <a:spcPct val="17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94690" algn="l" rtl="0" eaLnBrk="0">
                <a:lnSpc>
                  <a:spcPct val="93000"/>
                </a:lnSpc>
              </a:pP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密码反馈</a:t>
              </a:r>
              <a:r>
                <a:rPr sz="2400" b="1" kern="0" spc="-30" dirty="0">
                  <a:solidFill>
                    <a:srgbClr val="FFFFFF">
                      <a:alpha val="100000"/>
                    </a:srgbClr>
                  </a:solidFill>
                  <a:latin typeface="Times New Roman" panose="02020603050405020304"/>
                  <a:ea typeface="Times New Roman" panose="02020603050405020304"/>
                  <a:cs typeface="Times New Roman" panose="02020603050405020304"/>
                </a:rPr>
                <a:t>(CFB)</a:t>
              </a: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 name="picture 62"/>
          <p:cNvPicPr>
            <a:picLocks noChangeAspect="1"/>
          </p:cNvPicPr>
          <p:nvPr/>
        </p:nvPicPr>
        <p:blipFill>
          <a:blip r:embed="rId1"/>
          <a:stretch>
            <a:fillRect/>
          </a:stretch>
        </p:blipFill>
        <p:spPr>
          <a:xfrm rot="21600000">
            <a:off x="2133600" y="1530095"/>
            <a:ext cx="7239000" cy="4434840"/>
          </a:xfrm>
          <a:prstGeom prst="rect">
            <a:avLst/>
          </a:prstGeom>
        </p:spPr>
      </p:pic>
      <p:sp>
        <p:nvSpPr>
          <p:cNvPr id="64" name="textbox 64"/>
          <p:cNvSpPr/>
          <p:nvPr/>
        </p:nvSpPr>
        <p:spPr>
          <a:xfrm>
            <a:off x="1615921" y="491245"/>
            <a:ext cx="7479665" cy="482600"/>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电码本</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ECB</a:t>
            </a: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Electronic</a:t>
            </a:r>
            <a:r>
              <a:rPr sz="3100" kern="0" spc="100" dirty="0">
                <a:solidFill>
                  <a:srgbClr val="1F4E79">
                    <a:alpha val="100000"/>
                  </a:srgbClr>
                </a:solidFill>
                <a:latin typeface="仿宋" panose="02010609060101010101" charset="-122"/>
                <a:ea typeface="仿宋" panose="02010609060101010101" charset="-122"/>
                <a:cs typeface="仿宋" panose="02010609060101010101" charset="-122"/>
              </a:rPr>
              <a:t> </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Code</a:t>
            </a:r>
            <a:r>
              <a:rPr sz="3100" kern="0" spc="100" dirty="0">
                <a:solidFill>
                  <a:srgbClr val="1F4E79">
                    <a:alpha val="100000"/>
                  </a:srgbClr>
                </a:solidFill>
                <a:latin typeface="仿宋" panose="02010609060101010101" charset="-122"/>
                <a:ea typeface="仿宋" panose="02010609060101010101" charset="-122"/>
                <a:cs typeface="仿宋" panose="02010609060101010101" charset="-122"/>
              </a:rPr>
              <a:t> </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Book</a:t>
            </a: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）模式</a:t>
            </a:r>
            <a:endParaRPr sz="3100" dirty="0">
              <a:latin typeface="仿宋" panose="02010609060101010101" charset="-122"/>
              <a:ea typeface="仿宋" panose="02010609060101010101" charset="-122"/>
              <a:cs typeface="仿宋" panose="02010609060101010101" charset="-122"/>
            </a:endParaRPr>
          </a:p>
        </p:txBody>
      </p:sp>
      <p:sp>
        <p:nvSpPr>
          <p:cNvPr id="68" name="path 6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70" name="picture 70"/>
          <p:cNvPicPr>
            <a:picLocks noChangeAspect="1"/>
          </p:cNvPicPr>
          <p:nvPr/>
        </p:nvPicPr>
        <p:blipFill>
          <a:blip r:embed="rId2"/>
          <a:stretch>
            <a:fillRect/>
          </a:stretch>
        </p:blipFill>
        <p:spPr>
          <a:xfrm rot="21600000">
            <a:off x="822960" y="408431"/>
            <a:ext cx="420623" cy="655320"/>
          </a:xfrm>
          <a:prstGeom prst="rect">
            <a:avLst/>
          </a:prstGeom>
        </p:spPr>
      </p:pic>
      <p:sp>
        <p:nvSpPr>
          <p:cNvPr id="72" name="path 7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box 74"/>
          <p:cNvSpPr/>
          <p:nvPr/>
        </p:nvSpPr>
        <p:spPr>
          <a:xfrm>
            <a:off x="919089" y="1566206"/>
            <a:ext cx="9744075" cy="4180204"/>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pPr>
            <a:r>
              <a:rPr sz="2400" kern="0" spc="-80" dirty="0">
                <a:solidFill>
                  <a:srgbClr val="1C1C1C">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60" dirty="0">
                <a:solidFill>
                  <a:srgbClr val="1C1C1C">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80" dirty="0">
                <a:solidFill>
                  <a:srgbClr val="1C1C1C">
                    <a:alpha val="100000"/>
                  </a:srgbClr>
                </a:solidFill>
                <a:latin typeface="仿宋" panose="02010609060101010101" charset="-122"/>
                <a:ea typeface="仿宋" panose="02010609060101010101" charset="-122"/>
                <a:cs typeface="仿宋" panose="02010609060101010101" charset="-122"/>
              </a:rPr>
              <a:t>优点：</a:t>
            </a:r>
            <a:endParaRPr sz="2400" dirty="0">
              <a:latin typeface="仿宋" panose="02010609060101010101" charset="-122"/>
              <a:ea typeface="仿宋" panose="02010609060101010101" charset="-122"/>
              <a:cs typeface="仿宋" panose="02010609060101010101" charset="-122"/>
            </a:endParaRPr>
          </a:p>
          <a:p>
            <a:pPr marL="854710" algn="l" rtl="0" eaLnBrk="0">
              <a:lnSpc>
                <a:spcPct val="95000"/>
              </a:lnSpc>
              <a:spcBef>
                <a:spcPts val="720"/>
              </a:spcBef>
            </a:pPr>
            <a:r>
              <a:rPr sz="2400" b="1" kern="0" spc="-170" dirty="0">
                <a:solidFill>
                  <a:srgbClr val="1C1C1C">
                    <a:alpha val="100000"/>
                  </a:srgbClr>
                </a:solidFill>
                <a:latin typeface="仿宋" panose="02010609060101010101" charset="-122"/>
                <a:ea typeface="仿宋" panose="02010609060101010101" charset="-122"/>
                <a:cs typeface="仿宋" panose="02010609060101010101" charset="-122"/>
              </a:rPr>
              <a:t>（</a:t>
            </a:r>
            <a:r>
              <a:rPr sz="2400" b="1" kern="0" spc="-170" dirty="0">
                <a:solidFill>
                  <a:srgbClr val="1C1C1C">
                    <a:alpha val="100000"/>
                  </a:srgbClr>
                </a:solidFill>
                <a:latin typeface="Times New Roman" panose="02020603050405020304"/>
                <a:ea typeface="Times New Roman" panose="02020603050405020304"/>
                <a:cs typeface="Times New Roman" panose="02020603050405020304"/>
              </a:rPr>
              <a:t>1</a:t>
            </a:r>
            <a:r>
              <a:rPr sz="2400" b="1" kern="0" spc="-170" dirty="0">
                <a:solidFill>
                  <a:srgbClr val="1C1C1C">
                    <a:alpha val="100000"/>
                  </a:srgbClr>
                </a:solidFill>
                <a:latin typeface="仿宋" panose="02010609060101010101" charset="-122"/>
                <a:ea typeface="仿宋" panose="02010609060101010101" charset="-122"/>
                <a:cs typeface="仿宋" panose="02010609060101010101" charset="-122"/>
              </a:rPr>
              <a:t>）实现简单</a:t>
            </a:r>
            <a:r>
              <a:rPr sz="2400" b="1" kern="0" spc="-170" dirty="0">
                <a:solidFill>
                  <a:srgbClr val="1C1C1C">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p>
            <a:pPr algn="r" rtl="0" eaLnBrk="0">
              <a:lnSpc>
                <a:spcPct val="93000"/>
              </a:lnSpc>
              <a:spcBef>
                <a:spcPts val="870"/>
              </a:spcBef>
            </a:pPr>
            <a:r>
              <a:rPr sz="2400" b="1" kern="0" spc="-40" dirty="0">
                <a:solidFill>
                  <a:srgbClr val="1C1C1C">
                    <a:alpha val="100000"/>
                  </a:srgbClr>
                </a:solidFill>
                <a:latin typeface="仿宋" panose="02010609060101010101" charset="-122"/>
                <a:ea typeface="仿宋" panose="02010609060101010101" charset="-122"/>
                <a:cs typeface="仿宋" panose="02010609060101010101" charset="-122"/>
              </a:rPr>
              <a:t>（</a:t>
            </a:r>
            <a:r>
              <a:rPr sz="2400" b="1" kern="0" spc="-40" dirty="0">
                <a:solidFill>
                  <a:srgbClr val="1C1C1C">
                    <a:alpha val="100000"/>
                  </a:srgbClr>
                </a:solidFill>
                <a:latin typeface="Times New Roman" panose="02020603050405020304"/>
                <a:ea typeface="Times New Roman" panose="02020603050405020304"/>
                <a:cs typeface="Times New Roman" panose="02020603050405020304"/>
              </a:rPr>
              <a:t>2</a:t>
            </a:r>
            <a:r>
              <a:rPr sz="2400" b="1" kern="0" spc="-40" dirty="0">
                <a:solidFill>
                  <a:srgbClr val="1C1C1C">
                    <a:alpha val="100000"/>
                  </a:srgbClr>
                </a:solidFill>
                <a:latin typeface="仿宋" panose="02010609060101010101" charset="-122"/>
                <a:ea typeface="仿宋" panose="02010609060101010101" charset="-122"/>
                <a:cs typeface="仿宋" panose="02010609060101010101" charset="-122"/>
              </a:rPr>
              <a:t>）不同明文分组的加密可并行实施，尤其是</a:t>
            </a:r>
            <a:r>
              <a:rPr sz="2400" b="1" kern="0" spc="-50" dirty="0">
                <a:solidFill>
                  <a:srgbClr val="1C1C1C">
                    <a:alpha val="100000"/>
                  </a:srgbClr>
                </a:solidFill>
                <a:latin typeface="仿宋" panose="02010609060101010101" charset="-122"/>
                <a:ea typeface="仿宋" panose="02010609060101010101" charset="-122"/>
                <a:cs typeface="仿宋" panose="02010609060101010101" charset="-122"/>
              </a:rPr>
              <a:t>硬件实现时速度很快</a:t>
            </a:r>
            <a:endParaRPr sz="2400" dirty="0">
              <a:latin typeface="仿宋" panose="02010609060101010101" charset="-122"/>
              <a:ea typeface="仿宋" panose="02010609060101010101" charset="-122"/>
              <a:cs typeface="仿宋" panose="02010609060101010101" charset="-122"/>
            </a:endParaRPr>
          </a:p>
          <a:p>
            <a:pPr marL="12700" algn="l" rtl="0" eaLnBrk="0">
              <a:lnSpc>
                <a:spcPts val="2900"/>
              </a:lnSpc>
              <a:spcBef>
                <a:spcPts val="915"/>
              </a:spcBef>
            </a:pPr>
            <a:r>
              <a:rPr sz="2400" kern="0" spc="-80" dirty="0">
                <a:solidFill>
                  <a:srgbClr val="1C1C1C">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60" dirty="0">
                <a:solidFill>
                  <a:srgbClr val="1C1C1C">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80" dirty="0">
                <a:solidFill>
                  <a:srgbClr val="1C1C1C">
                    <a:alpha val="100000"/>
                  </a:srgbClr>
                </a:solidFill>
                <a:latin typeface="仿宋" panose="02010609060101010101" charset="-122"/>
                <a:ea typeface="仿宋" panose="02010609060101010101" charset="-122"/>
                <a:cs typeface="仿宋" panose="02010609060101010101" charset="-122"/>
              </a:rPr>
              <a:t>缺点：</a:t>
            </a:r>
            <a:endParaRPr sz="2400" dirty="0">
              <a:latin typeface="仿宋" panose="02010609060101010101" charset="-122"/>
              <a:ea typeface="仿宋" panose="02010609060101010101" charset="-122"/>
              <a:cs typeface="仿宋" panose="02010609060101010101" charset="-122"/>
            </a:endParaRPr>
          </a:p>
          <a:p>
            <a:pPr marL="854710" algn="l" rtl="0" eaLnBrk="0">
              <a:lnSpc>
                <a:spcPct val="94000"/>
              </a:lnSpc>
              <a:spcBef>
                <a:spcPts val="700"/>
              </a:spcBef>
            </a:pPr>
            <a:r>
              <a:rPr sz="2400" b="1" kern="0" spc="-80" dirty="0">
                <a:solidFill>
                  <a:srgbClr val="1C1C1C">
                    <a:alpha val="100000"/>
                  </a:srgbClr>
                </a:solidFill>
                <a:latin typeface="仿宋" panose="02010609060101010101" charset="-122"/>
                <a:ea typeface="仿宋" panose="02010609060101010101" charset="-122"/>
                <a:cs typeface="仿宋" panose="02010609060101010101" charset="-122"/>
              </a:rPr>
              <a:t>（</a:t>
            </a:r>
            <a:r>
              <a:rPr sz="2400" b="1" kern="0" spc="-80" dirty="0">
                <a:solidFill>
                  <a:srgbClr val="1C1C1C">
                    <a:alpha val="100000"/>
                  </a:srgbClr>
                </a:solidFill>
                <a:latin typeface="Times New Roman" panose="02020603050405020304"/>
                <a:ea typeface="Times New Roman" panose="02020603050405020304"/>
                <a:cs typeface="Times New Roman" panose="02020603050405020304"/>
              </a:rPr>
              <a:t>1</a:t>
            </a:r>
            <a:r>
              <a:rPr sz="2400" b="1" kern="0" spc="-80" dirty="0">
                <a:solidFill>
                  <a:srgbClr val="1C1C1C">
                    <a:alpha val="100000"/>
                  </a:srgbClr>
                </a:solidFill>
                <a:latin typeface="仿宋" panose="02010609060101010101" charset="-122"/>
                <a:ea typeface="仿宋" panose="02010609060101010101" charset="-122"/>
                <a:cs typeface="仿宋" panose="02010609060101010101" charset="-122"/>
              </a:rPr>
              <a:t>）</a:t>
            </a:r>
            <a:r>
              <a:rPr sz="2400" b="1" kern="0" spc="-80" dirty="0">
                <a:solidFill>
                  <a:srgbClr val="FF0000">
                    <a:alpha val="100000"/>
                  </a:srgbClr>
                </a:solidFill>
                <a:latin typeface="仿宋" panose="02010609060101010101" charset="-122"/>
                <a:ea typeface="仿宋" panose="02010609060101010101" charset="-122"/>
                <a:cs typeface="仿宋" panose="02010609060101010101" charset="-122"/>
              </a:rPr>
              <a:t>相同明文分组对应相同密文分组</a:t>
            </a:r>
            <a:endParaRPr sz="2400" dirty="0">
              <a:latin typeface="仿宋" panose="02010609060101010101" charset="-122"/>
              <a:ea typeface="仿宋" panose="02010609060101010101" charset="-122"/>
              <a:cs typeface="仿宋" panose="02010609060101010101" charset="-122"/>
            </a:endParaRPr>
          </a:p>
          <a:p>
            <a:pPr marL="854710" algn="l" rtl="0" eaLnBrk="0">
              <a:lnSpc>
                <a:spcPct val="95000"/>
              </a:lnSpc>
              <a:spcBef>
                <a:spcPts val="900"/>
              </a:spcBef>
            </a:pPr>
            <a:r>
              <a:rPr sz="2400" b="1" kern="0" spc="-40" dirty="0">
                <a:solidFill>
                  <a:srgbClr val="1C1C1C">
                    <a:alpha val="100000"/>
                  </a:srgbClr>
                </a:solidFill>
                <a:latin typeface="仿宋" panose="02010609060101010101" charset="-122"/>
                <a:ea typeface="仿宋" panose="02010609060101010101" charset="-122"/>
                <a:cs typeface="仿宋" panose="02010609060101010101" charset="-122"/>
              </a:rPr>
              <a:t>（</a:t>
            </a:r>
            <a:r>
              <a:rPr sz="2400" b="1" kern="0" spc="-40" dirty="0">
                <a:solidFill>
                  <a:srgbClr val="1C1C1C">
                    <a:alpha val="100000"/>
                  </a:srgbClr>
                </a:solidFill>
                <a:latin typeface="Times New Roman" panose="02020603050405020304"/>
                <a:ea typeface="Times New Roman" panose="02020603050405020304"/>
                <a:cs typeface="Times New Roman" panose="02020603050405020304"/>
              </a:rPr>
              <a:t>2</a:t>
            </a:r>
            <a:r>
              <a:rPr sz="2400" b="1" kern="0" spc="-40" dirty="0">
                <a:solidFill>
                  <a:srgbClr val="1C1C1C">
                    <a:alpha val="100000"/>
                  </a:srgbClr>
                </a:solidFill>
                <a:latin typeface="仿宋" panose="02010609060101010101" charset="-122"/>
                <a:ea typeface="仿宋" panose="02010609060101010101" charset="-122"/>
                <a:cs typeface="仿宋" panose="02010609060101010101" charset="-122"/>
              </a:rPr>
              <a:t>）不能隐蔽明文分组的统计规律和结构规</a:t>
            </a:r>
            <a:r>
              <a:rPr sz="2400" b="1" kern="0" spc="-50" dirty="0">
                <a:solidFill>
                  <a:srgbClr val="1C1C1C">
                    <a:alpha val="100000"/>
                  </a:srgbClr>
                </a:solidFill>
                <a:latin typeface="仿宋" panose="02010609060101010101" charset="-122"/>
                <a:ea typeface="仿宋" panose="02010609060101010101" charset="-122"/>
                <a:cs typeface="仿宋" panose="02010609060101010101" charset="-122"/>
              </a:rPr>
              <a:t>律</a:t>
            </a:r>
            <a:r>
              <a:rPr sz="2400" b="1" kern="0" spc="-50" dirty="0">
                <a:solidFill>
                  <a:srgbClr val="1C1C1C">
                    <a:alpha val="100000"/>
                  </a:srgbClr>
                </a:solidFill>
                <a:latin typeface="Times New Roman" panose="02020603050405020304"/>
                <a:ea typeface="Times New Roman" panose="02020603050405020304"/>
                <a:cs typeface="Times New Roman" panose="02020603050405020304"/>
              </a:rPr>
              <a:t>,</a:t>
            </a:r>
            <a:r>
              <a:rPr sz="2400" b="1" kern="0" spc="-50" dirty="0">
                <a:solidFill>
                  <a:srgbClr val="1C1C1C">
                    <a:alpha val="100000"/>
                  </a:srgbClr>
                </a:solidFill>
                <a:latin typeface="仿宋" panose="02010609060101010101" charset="-122"/>
                <a:ea typeface="仿宋" panose="02010609060101010101" charset="-122"/>
                <a:cs typeface="仿宋" panose="02010609060101010101" charset="-122"/>
              </a:rPr>
              <a:t>不能抵抗替换攻击</a:t>
            </a:r>
            <a:endParaRPr sz="2400" dirty="0">
              <a:latin typeface="仿宋" panose="02010609060101010101" charset="-122"/>
              <a:ea typeface="仿宋" panose="02010609060101010101" charset="-122"/>
              <a:cs typeface="仿宋" panose="02010609060101010101" charset="-122"/>
            </a:endParaRPr>
          </a:p>
          <a:p>
            <a:pPr marL="12700" algn="l" rtl="0" eaLnBrk="0">
              <a:lnSpc>
                <a:spcPts val="2570"/>
              </a:lnSpc>
              <a:spcBef>
                <a:spcPts val="865"/>
              </a:spcBef>
            </a:pPr>
            <a:r>
              <a:rPr sz="2100" kern="0" spc="-80" dirty="0">
                <a:solidFill>
                  <a:srgbClr val="1C1C1C">
                    <a:alpha val="100000"/>
                  </a:srgbClr>
                </a:solidFill>
                <a:latin typeface="Arial" panose="020B0604020202020204" pitchFamily="34" charset="0"/>
                <a:ea typeface="Arial" panose="020B0604020202020204" pitchFamily="34" charset="0"/>
                <a:cs typeface="Arial" panose="020B0604020202020204" pitchFamily="34" charset="0"/>
              </a:rPr>
              <a:t>•  </a:t>
            </a:r>
            <a:r>
              <a:rPr sz="2100" b="1" kern="0" spc="-80" dirty="0">
                <a:solidFill>
                  <a:srgbClr val="1C1C1C">
                    <a:alpha val="100000"/>
                  </a:srgbClr>
                </a:solidFill>
                <a:latin typeface="仿宋" panose="02010609060101010101" charset="-122"/>
                <a:ea typeface="仿宋" panose="02010609060101010101" charset="-122"/>
                <a:cs typeface="仿宋" panose="02010609060101010101" charset="-122"/>
              </a:rPr>
              <a:t>应用：</a:t>
            </a:r>
            <a:endParaRPr sz="2100" dirty="0">
              <a:latin typeface="仿宋" panose="02010609060101010101" charset="-122"/>
              <a:ea typeface="仿宋" panose="02010609060101010101" charset="-122"/>
              <a:cs typeface="仿宋" panose="02010609060101010101" charset="-122"/>
            </a:endParaRPr>
          </a:p>
          <a:p>
            <a:pPr marL="854710" algn="l" rtl="0" eaLnBrk="0">
              <a:lnSpc>
                <a:spcPct val="94000"/>
              </a:lnSpc>
              <a:spcBef>
                <a:spcPts val="1790"/>
              </a:spcBef>
            </a:pPr>
            <a:r>
              <a:rPr sz="2400" b="1" kern="0" spc="-100" dirty="0">
                <a:solidFill>
                  <a:srgbClr val="000000">
                    <a:alpha val="100000"/>
                  </a:srgbClr>
                </a:solidFill>
                <a:latin typeface="仿宋" panose="02010609060101010101" charset="-122"/>
                <a:ea typeface="仿宋" panose="02010609060101010101" charset="-122"/>
                <a:cs typeface="仿宋" panose="02010609060101010101" charset="-122"/>
              </a:rPr>
              <a:t>（</a:t>
            </a:r>
            <a:r>
              <a:rPr sz="2400" b="1" kern="0" spc="-100" dirty="0">
                <a:solidFill>
                  <a:srgbClr val="000000">
                    <a:alpha val="100000"/>
                  </a:srgbClr>
                </a:solidFill>
                <a:latin typeface="Times New Roman" panose="02020603050405020304"/>
                <a:ea typeface="Times New Roman" panose="02020603050405020304"/>
                <a:cs typeface="Times New Roman" panose="02020603050405020304"/>
              </a:rPr>
              <a:t>1</a:t>
            </a:r>
            <a:r>
              <a:rPr sz="2400" b="1" kern="0" spc="-100" dirty="0">
                <a:solidFill>
                  <a:srgbClr val="000000">
                    <a:alpha val="100000"/>
                  </a:srgbClr>
                </a:solidFill>
                <a:latin typeface="仿宋" panose="02010609060101010101" charset="-122"/>
                <a:ea typeface="仿宋" panose="02010609060101010101" charset="-122"/>
                <a:cs typeface="仿宋" panose="02010609060101010101" charset="-122"/>
              </a:rPr>
              <a:t>）用于随机数的加密保护</a:t>
            </a:r>
            <a:endParaRPr sz="2400" dirty="0">
              <a:latin typeface="仿宋" panose="02010609060101010101" charset="-122"/>
              <a:ea typeface="仿宋" panose="02010609060101010101" charset="-122"/>
              <a:cs typeface="仿宋" panose="02010609060101010101" charset="-122"/>
            </a:endParaRPr>
          </a:p>
          <a:p>
            <a:pPr algn="l" rtl="0" eaLnBrk="0">
              <a:lnSpc>
                <a:spcPct val="100000"/>
              </a:lnSpc>
            </a:pPr>
            <a:endParaRPr sz="11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854710" algn="l" rtl="0" eaLnBrk="0">
              <a:lnSpc>
                <a:spcPct val="94000"/>
              </a:lnSpc>
            </a:pPr>
            <a:r>
              <a:rPr sz="2400" b="1" kern="0" spc="-100" dirty="0">
                <a:solidFill>
                  <a:srgbClr val="000000">
                    <a:alpha val="100000"/>
                  </a:srgbClr>
                </a:solidFill>
                <a:latin typeface="仿宋" panose="02010609060101010101" charset="-122"/>
                <a:ea typeface="仿宋" panose="02010609060101010101" charset="-122"/>
                <a:cs typeface="仿宋" panose="02010609060101010101" charset="-122"/>
              </a:rPr>
              <a:t>（</a:t>
            </a:r>
            <a:r>
              <a:rPr sz="2400" b="1" kern="0" spc="-100" dirty="0">
                <a:solidFill>
                  <a:srgbClr val="000000">
                    <a:alpha val="100000"/>
                  </a:srgbClr>
                </a:solidFill>
                <a:latin typeface="Times New Roman" panose="02020603050405020304"/>
                <a:ea typeface="Times New Roman" panose="02020603050405020304"/>
                <a:cs typeface="Times New Roman" panose="02020603050405020304"/>
              </a:rPr>
              <a:t>2</a:t>
            </a:r>
            <a:r>
              <a:rPr sz="2400" b="1" kern="0" spc="-100" dirty="0">
                <a:solidFill>
                  <a:srgbClr val="000000">
                    <a:alpha val="100000"/>
                  </a:srgbClr>
                </a:solidFill>
                <a:latin typeface="仿宋" panose="02010609060101010101" charset="-122"/>
                <a:ea typeface="仿宋" panose="02010609060101010101" charset="-122"/>
                <a:cs typeface="仿宋" panose="02010609060101010101" charset="-122"/>
              </a:rPr>
              <a:t>）用于单分组明文的加密</a:t>
            </a:r>
            <a:endParaRPr sz="2400" dirty="0">
              <a:latin typeface="仿宋" panose="02010609060101010101" charset="-122"/>
              <a:ea typeface="仿宋" panose="02010609060101010101" charset="-122"/>
              <a:cs typeface="仿宋" panose="02010609060101010101" charset="-122"/>
            </a:endParaRPr>
          </a:p>
        </p:txBody>
      </p:sp>
      <p:sp>
        <p:nvSpPr>
          <p:cNvPr id="76" name="textbox 76"/>
          <p:cNvSpPr/>
          <p:nvPr/>
        </p:nvSpPr>
        <p:spPr>
          <a:xfrm>
            <a:off x="1553897" y="491245"/>
            <a:ext cx="3485515" cy="482600"/>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10" dirty="0">
                <a:solidFill>
                  <a:srgbClr val="1F4E79">
                    <a:alpha val="100000"/>
                  </a:srgbClr>
                </a:solidFill>
                <a:latin typeface="仿宋" panose="02010609060101010101" charset="-122"/>
                <a:ea typeface="仿宋" panose="02010609060101010101" charset="-122"/>
                <a:cs typeface="仿宋" panose="02010609060101010101" charset="-122"/>
              </a:rPr>
              <a:t>ECB模式的优、</a:t>
            </a:r>
            <a:r>
              <a:rPr sz="3100" kern="0" spc="-730" dirty="0">
                <a:solidFill>
                  <a:srgbClr val="1F4E79">
                    <a:alpha val="100000"/>
                  </a:srgbClr>
                </a:solidFill>
                <a:latin typeface="仿宋" panose="02010609060101010101" charset="-122"/>
                <a:ea typeface="仿宋" panose="02010609060101010101" charset="-122"/>
                <a:cs typeface="仿宋" panose="02010609060101010101" charset="-122"/>
              </a:rPr>
              <a:t> </a:t>
            </a:r>
            <a:r>
              <a:rPr sz="3100" b="1" kern="0" spc="-10" dirty="0">
                <a:solidFill>
                  <a:srgbClr val="1F4E79">
                    <a:alpha val="100000"/>
                  </a:srgbClr>
                </a:solidFill>
                <a:latin typeface="仿宋" panose="02010609060101010101" charset="-122"/>
                <a:ea typeface="仿宋" panose="02010609060101010101" charset="-122"/>
                <a:cs typeface="仿宋" panose="02010609060101010101" charset="-122"/>
              </a:rPr>
              <a:t>缺点</a:t>
            </a:r>
            <a:endParaRPr sz="3100" dirty="0">
              <a:latin typeface="仿宋" panose="02010609060101010101" charset="-122"/>
              <a:ea typeface="仿宋" panose="02010609060101010101" charset="-122"/>
              <a:cs typeface="仿宋" panose="02010609060101010101" charset="-122"/>
            </a:endParaRPr>
          </a:p>
        </p:txBody>
      </p:sp>
      <p:sp>
        <p:nvSpPr>
          <p:cNvPr id="80" name="path 80"/>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82" name="picture 82"/>
          <p:cNvPicPr>
            <a:picLocks noChangeAspect="1"/>
          </p:cNvPicPr>
          <p:nvPr/>
        </p:nvPicPr>
        <p:blipFill>
          <a:blip r:embed="rId1"/>
          <a:stretch>
            <a:fillRect/>
          </a:stretch>
        </p:blipFill>
        <p:spPr>
          <a:xfrm rot="21600000">
            <a:off x="822960" y="408431"/>
            <a:ext cx="420623" cy="655320"/>
          </a:xfrm>
          <a:prstGeom prst="rect">
            <a:avLst/>
          </a:prstGeom>
        </p:spPr>
      </p:pic>
      <p:sp>
        <p:nvSpPr>
          <p:cNvPr id="84" name="path 84"/>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 name="table 86"/>
          <p:cNvGraphicFramePr>
            <a:graphicFrameLocks noGrp="1"/>
          </p:cNvGraphicFramePr>
          <p:nvPr/>
        </p:nvGraphicFramePr>
        <p:xfrm>
          <a:off x="2400663" y="1780564"/>
          <a:ext cx="6715123" cy="1435100"/>
        </p:xfrm>
        <a:graphic>
          <a:graphicData uri="http://schemas.openxmlformats.org/drawingml/2006/table">
            <a:tbl>
              <a:tblPr/>
              <a:tblGrid>
                <a:gridCol w="518794"/>
                <a:gridCol w="514984"/>
                <a:gridCol w="251459"/>
                <a:gridCol w="265429"/>
                <a:gridCol w="503554"/>
                <a:gridCol w="25400"/>
                <a:gridCol w="501015"/>
                <a:gridCol w="514984"/>
                <a:gridCol w="514984"/>
                <a:gridCol w="516255"/>
                <a:gridCol w="514984"/>
                <a:gridCol w="516890"/>
                <a:gridCol w="514984"/>
                <a:gridCol w="516890"/>
                <a:gridCol w="524509"/>
              </a:tblGrid>
              <a:tr h="724534">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211455"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1</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74625"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marL="182245" algn="l" rtl="0" eaLnBrk="0">
                        <a:lnSpc>
                          <a:spcPct val="78000"/>
                        </a:lnSpc>
                        <a:spcBef>
                          <a:spcPts val="5"/>
                        </a:spcBef>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3</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73355"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4</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marL="196215" algn="l" rtl="0" eaLnBrk="0">
                        <a:lnSpc>
                          <a:spcPct val="77000"/>
                        </a:lnSpc>
                        <a:spcBef>
                          <a:spcPts val="5"/>
                        </a:spcBef>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5</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marL="183515" algn="l" rtl="0" eaLnBrk="0">
                        <a:lnSpc>
                          <a:spcPct val="78000"/>
                        </a:lnSpc>
                        <a:spcBef>
                          <a:spcPts val="5"/>
                        </a:spcBef>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6</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marL="181610" algn="l" rtl="0" eaLnBrk="0">
                        <a:lnSpc>
                          <a:spcPct val="77000"/>
                        </a:lnSpc>
                        <a:spcBef>
                          <a:spcPts val="5"/>
                        </a:spcBef>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7</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marL="189865" algn="l" rtl="0" eaLnBrk="0">
                        <a:lnSpc>
                          <a:spcPct val="78000"/>
                        </a:lnSpc>
                        <a:spcBef>
                          <a:spcPts val="5"/>
                        </a:spcBef>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8</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marL="183515" algn="l" rtl="0" eaLnBrk="0">
                        <a:lnSpc>
                          <a:spcPct val="78000"/>
                        </a:lnSpc>
                        <a:spcBef>
                          <a:spcPts val="5"/>
                        </a:spcBef>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9</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marL="121285" algn="l" rtl="0" eaLnBrk="0">
                        <a:lnSpc>
                          <a:spcPct val="78000"/>
                        </a:lnSpc>
                        <a:spcBef>
                          <a:spcPts val="5"/>
                        </a:spcBef>
                      </a:pPr>
                      <a:r>
                        <a:rPr sz="2700" kern="0" spc="-70" dirty="0">
                          <a:solidFill>
                            <a:srgbClr val="000000">
                              <a:alpha val="100000"/>
                            </a:srgbClr>
                          </a:solidFill>
                          <a:latin typeface="Times New Roman" panose="02020603050405020304"/>
                          <a:ea typeface="Times New Roman" panose="02020603050405020304"/>
                          <a:cs typeface="Times New Roman" panose="02020603050405020304"/>
                        </a:rPr>
                        <a:t>10</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26365" algn="l" rtl="0" eaLnBrk="0">
                        <a:lnSpc>
                          <a:spcPct val="78000"/>
                        </a:lnSpc>
                      </a:pPr>
                      <a:r>
                        <a:rPr sz="2700" kern="0" spc="-100" dirty="0">
                          <a:solidFill>
                            <a:srgbClr val="000000">
                              <a:alpha val="100000"/>
                            </a:srgbClr>
                          </a:solidFill>
                          <a:latin typeface="Times New Roman" panose="02020603050405020304"/>
                          <a:ea typeface="Times New Roman" panose="02020603050405020304"/>
                          <a:cs typeface="Times New Roman" panose="02020603050405020304"/>
                        </a:rPr>
                        <a:t>11</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20015" algn="l" rtl="0" eaLnBrk="0">
                        <a:lnSpc>
                          <a:spcPct val="78000"/>
                        </a:lnSpc>
                      </a:pPr>
                      <a:r>
                        <a:rPr sz="2700" kern="0" spc="-70" dirty="0">
                          <a:solidFill>
                            <a:srgbClr val="000000">
                              <a:alpha val="100000"/>
                            </a:srgbClr>
                          </a:solidFill>
                          <a:latin typeface="Times New Roman" panose="02020603050405020304"/>
                          <a:ea typeface="Times New Roman" panose="02020603050405020304"/>
                          <a:cs typeface="Times New Roman" panose="02020603050405020304"/>
                        </a:rPr>
                        <a:t>12</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marL="122555" algn="l" rtl="0" eaLnBrk="0">
                        <a:lnSpc>
                          <a:spcPct val="78000"/>
                        </a:lnSpc>
                        <a:spcBef>
                          <a:spcPts val="5"/>
                        </a:spcBef>
                      </a:pPr>
                      <a:r>
                        <a:rPr sz="2700" kern="0" spc="-70" dirty="0">
                          <a:solidFill>
                            <a:srgbClr val="000000">
                              <a:alpha val="100000"/>
                            </a:srgbClr>
                          </a:solidFill>
                          <a:latin typeface="Times New Roman" panose="02020603050405020304"/>
                          <a:ea typeface="Times New Roman" panose="02020603050405020304"/>
                          <a:cs typeface="Times New Roman" panose="02020603050405020304"/>
                        </a:rPr>
                        <a:t>13</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r>
              <a:tr h="710565">
                <a:tc>
                  <a:txBody>
                    <a:bodyPr/>
                    <a:lstStyle/>
                    <a:p>
                      <a:pPr algn="l" rtl="0" eaLnBrk="0">
                        <a:lnSpc>
                          <a:spcPct val="10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00965" indent="6350" algn="l" rtl="0" eaLnBrk="0">
                        <a:lnSpc>
                          <a:spcPct val="102000"/>
                        </a:lnSpc>
                      </a:pPr>
                      <a:r>
                        <a:rPr sz="13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时间</a:t>
                      </a:r>
                      <a:r>
                        <a:rPr sz="13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标记</a:t>
                      </a:r>
                      <a:endParaRPr sz="13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ct val="104000"/>
                        </a:lnSpc>
                      </a:pPr>
                      <a:endParaRPr sz="10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84000"/>
                        </a:lnSpc>
                        <a:spcBef>
                          <a:spcPts val="5"/>
                        </a:spcBef>
                      </a:pPr>
                      <a:r>
                        <a:rPr sz="1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发送</a:t>
                      </a:r>
                      <a:endParaRPr sz="1300" dirty="0">
                        <a:latin typeface="宋体" panose="02010600030101010101" pitchFamily="2" charset="-122"/>
                        <a:ea typeface="宋体" panose="02010600030101010101" pitchFamily="2" charset="-122"/>
                        <a:cs typeface="宋体" panose="02010600030101010101" pitchFamily="2" charset="-122"/>
                      </a:endParaRPr>
                    </a:p>
                    <a:p>
                      <a:pPr marL="222250" algn="l" rtl="0" eaLnBrk="0">
                        <a:lnSpc>
                          <a:spcPts val="1700"/>
                        </a:lnSpc>
                      </a:pPr>
                      <a:r>
                        <a:rPr sz="1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银行</a:t>
                      </a:r>
                      <a:endParaRPr sz="13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3">
                  <a:txBody>
                    <a:bodyPr/>
                    <a:lstStyle/>
                    <a:p>
                      <a:pPr algn="l" rtl="0" eaLnBrk="0">
                        <a:lnSpc>
                          <a:spcPct val="104000"/>
                        </a:lnSpc>
                      </a:pPr>
                      <a:endParaRPr sz="1000" dirty="0">
                        <a:latin typeface="Arial" panose="020B0604020202020204" pitchFamily="34" charset="0"/>
                        <a:ea typeface="Arial" panose="020B0604020202020204" pitchFamily="34" charset="0"/>
                        <a:cs typeface="Arial" panose="020B0604020202020204" pitchFamily="34" charset="0"/>
                      </a:endParaRPr>
                    </a:p>
                    <a:p>
                      <a:pPr marL="235585" algn="l" rtl="0" eaLnBrk="0">
                        <a:lnSpc>
                          <a:spcPct val="84000"/>
                        </a:lnSpc>
                        <a:spcBef>
                          <a:spcPts val="5"/>
                        </a:spcBef>
                      </a:pPr>
                      <a:r>
                        <a:rPr sz="1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接收</a:t>
                      </a:r>
                      <a:endParaRPr sz="1300" dirty="0">
                        <a:latin typeface="宋体" panose="02010600030101010101" pitchFamily="2" charset="-122"/>
                        <a:ea typeface="宋体" panose="02010600030101010101" pitchFamily="2" charset="-122"/>
                        <a:cs typeface="宋体" panose="02010600030101010101" pitchFamily="2" charset="-122"/>
                      </a:endParaRPr>
                    </a:p>
                    <a:p>
                      <a:pPr marL="236855" algn="l" rtl="0" eaLnBrk="0">
                        <a:lnSpc>
                          <a:spcPts val="1700"/>
                        </a:lnSpc>
                      </a:pPr>
                      <a:r>
                        <a:rPr sz="1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银行</a:t>
                      </a:r>
                      <a:endParaRPr sz="13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6">
                  <a:txBody>
                    <a:bodyPr/>
                    <a:lstStyle/>
                    <a:p>
                      <a:pPr algn="l" rtl="0" eaLnBrk="0">
                        <a:lnSpc>
                          <a:spcPct val="17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6000"/>
                        </a:lnSpc>
                      </a:pPr>
                      <a:endParaRPr sz="100" dirty="0">
                        <a:latin typeface="Arial" panose="020B0604020202020204" pitchFamily="34" charset="0"/>
                        <a:ea typeface="Arial" panose="020B0604020202020204" pitchFamily="34" charset="0"/>
                        <a:cs typeface="Arial" panose="020B0604020202020204" pitchFamily="34" charset="0"/>
                      </a:endParaRPr>
                    </a:p>
                    <a:p>
                      <a:pPr marL="1143635" algn="l" rtl="0" eaLnBrk="0">
                        <a:lnSpc>
                          <a:spcPct val="95000"/>
                        </a:lnSpc>
                      </a:pPr>
                      <a:r>
                        <a:rPr sz="13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储户姓名</a:t>
                      </a:r>
                      <a:r>
                        <a:rPr sz="1300" kern="0" spc="-1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20" dirty="0">
                          <a:solidFill>
                            <a:srgbClr val="000000">
                              <a:alpha val="100000"/>
                            </a:srgbClr>
                          </a:solidFill>
                          <a:latin typeface="Times New Roman" panose="02020603050405020304"/>
                          <a:ea typeface="Times New Roman" panose="02020603050405020304"/>
                          <a:cs typeface="Times New Roman" panose="02020603050405020304"/>
                        </a:rPr>
                        <a:t>1</a:t>
                      </a:r>
                      <a:endParaRPr sz="13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ct val="176000"/>
                        </a:lnSpc>
                      </a:pPr>
                      <a:endParaRPr sz="1000" dirty="0">
                        <a:latin typeface="Arial" panose="020B0604020202020204" pitchFamily="34" charset="0"/>
                        <a:ea typeface="Arial" panose="020B0604020202020204" pitchFamily="34" charset="0"/>
                        <a:cs typeface="Arial" panose="020B0604020202020204" pitchFamily="34" charset="0"/>
                      </a:endParaRPr>
                    </a:p>
                    <a:p>
                      <a:pPr marL="120650" algn="l" rtl="0" eaLnBrk="0">
                        <a:lnSpc>
                          <a:spcPct val="95000"/>
                        </a:lnSpc>
                      </a:pPr>
                      <a:r>
                        <a:rPr sz="13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储户帐号</a:t>
                      </a:r>
                      <a:r>
                        <a:rPr sz="1300" kern="0" spc="-1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20" dirty="0">
                          <a:solidFill>
                            <a:srgbClr val="000000">
                              <a:alpha val="100000"/>
                            </a:srgbClr>
                          </a:solidFill>
                          <a:latin typeface="Times New Roman" panose="02020603050405020304"/>
                          <a:ea typeface="Times New Roman" panose="02020603050405020304"/>
                          <a:cs typeface="Times New Roman" panose="02020603050405020304"/>
                        </a:rPr>
                        <a:t>1</a:t>
                      </a:r>
                      <a:endParaRPr sz="13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05000"/>
                        </a:lnSpc>
                      </a:pPr>
                      <a:endParaRPr sz="1000" dirty="0">
                        <a:latin typeface="Arial" panose="020B0604020202020204" pitchFamily="34" charset="0"/>
                        <a:ea typeface="Arial" panose="020B0604020202020204" pitchFamily="34" charset="0"/>
                        <a:cs typeface="Arial" panose="020B0604020202020204" pitchFamily="34" charset="0"/>
                      </a:endParaRPr>
                    </a:p>
                    <a:p>
                      <a:pPr marL="101600" indent="-1905" algn="l" rtl="0" eaLnBrk="0">
                        <a:lnSpc>
                          <a:spcPct val="102000"/>
                        </a:lnSpc>
                        <a:spcBef>
                          <a:spcPts val="5"/>
                        </a:spcBef>
                      </a:pPr>
                      <a:r>
                        <a:rPr sz="13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存款</a:t>
                      </a:r>
                      <a:r>
                        <a:rPr sz="13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金额</a:t>
                      </a:r>
                      <a:endParaRPr sz="13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r>
            </a:tbl>
          </a:graphicData>
        </a:graphic>
      </p:graphicFrame>
      <p:graphicFrame>
        <p:nvGraphicFramePr>
          <p:cNvPr id="88" name="table 88"/>
          <p:cNvGraphicFramePr>
            <a:graphicFrameLocks noGrp="1"/>
          </p:cNvGraphicFramePr>
          <p:nvPr/>
        </p:nvGraphicFramePr>
        <p:xfrm>
          <a:off x="2397495" y="3469264"/>
          <a:ext cx="6706870" cy="1435735"/>
        </p:xfrm>
        <a:graphic>
          <a:graphicData uri="http://schemas.openxmlformats.org/drawingml/2006/table">
            <a:tbl>
              <a:tblPr/>
              <a:tblGrid>
                <a:gridCol w="518159"/>
                <a:gridCol w="514350"/>
                <a:gridCol w="250825"/>
                <a:gridCol w="264795"/>
                <a:gridCol w="502919"/>
                <a:gridCol w="25400"/>
                <a:gridCol w="500380"/>
                <a:gridCol w="514350"/>
                <a:gridCol w="514350"/>
                <a:gridCol w="515619"/>
                <a:gridCol w="514350"/>
                <a:gridCol w="516890"/>
                <a:gridCol w="514350"/>
                <a:gridCol w="516254"/>
                <a:gridCol w="523875"/>
              </a:tblGrid>
              <a:tr h="725169">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211455"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1</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174625"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81610"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3</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173355"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4</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marL="196215" algn="l" rtl="0" eaLnBrk="0">
                        <a:lnSpc>
                          <a:spcPct val="77000"/>
                        </a:lnSpc>
                        <a:spcBef>
                          <a:spcPts val="5"/>
                        </a:spcBef>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5</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83515"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6</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marL="182245" algn="l" rtl="0" eaLnBrk="0">
                        <a:lnSpc>
                          <a:spcPct val="77000"/>
                        </a:lnSpc>
                        <a:spcBef>
                          <a:spcPts val="5"/>
                        </a:spcBef>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7</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90500"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8</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84150" algn="l" rtl="0" eaLnBrk="0">
                        <a:lnSpc>
                          <a:spcPct val="78000"/>
                        </a:lnSpc>
                      </a:pPr>
                      <a:r>
                        <a:rPr sz="2700" kern="0" spc="-10" dirty="0">
                          <a:solidFill>
                            <a:srgbClr val="000000">
                              <a:alpha val="100000"/>
                            </a:srgbClr>
                          </a:solidFill>
                          <a:latin typeface="Times New Roman" panose="02020603050405020304"/>
                          <a:ea typeface="Times New Roman" panose="02020603050405020304"/>
                          <a:cs typeface="Times New Roman" panose="02020603050405020304"/>
                        </a:rPr>
                        <a:t>9</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21920" algn="l" rtl="0" eaLnBrk="0">
                        <a:lnSpc>
                          <a:spcPct val="78000"/>
                        </a:lnSpc>
                      </a:pPr>
                      <a:r>
                        <a:rPr sz="2700" kern="0" spc="-70" dirty="0">
                          <a:solidFill>
                            <a:srgbClr val="000000">
                              <a:alpha val="100000"/>
                            </a:srgbClr>
                          </a:solidFill>
                          <a:latin typeface="Times New Roman" panose="02020603050405020304"/>
                          <a:ea typeface="Times New Roman" panose="02020603050405020304"/>
                          <a:cs typeface="Times New Roman" panose="02020603050405020304"/>
                        </a:rPr>
                        <a:t>10</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126365" algn="l" rtl="0" eaLnBrk="0">
                        <a:lnSpc>
                          <a:spcPct val="78000"/>
                        </a:lnSpc>
                      </a:pPr>
                      <a:r>
                        <a:rPr sz="2700" kern="0" spc="-100" dirty="0">
                          <a:solidFill>
                            <a:srgbClr val="000000">
                              <a:alpha val="100000"/>
                            </a:srgbClr>
                          </a:solidFill>
                          <a:latin typeface="Times New Roman" panose="02020603050405020304"/>
                          <a:ea typeface="Times New Roman" panose="02020603050405020304"/>
                          <a:cs typeface="Times New Roman" panose="02020603050405020304"/>
                        </a:rPr>
                        <a:t>11</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120015" algn="l" rtl="0" eaLnBrk="0">
                        <a:lnSpc>
                          <a:spcPct val="78000"/>
                        </a:lnSpc>
                      </a:pPr>
                      <a:r>
                        <a:rPr sz="2700" kern="0" spc="-70" dirty="0">
                          <a:solidFill>
                            <a:srgbClr val="000000">
                              <a:alpha val="100000"/>
                            </a:srgbClr>
                          </a:solidFill>
                          <a:latin typeface="Times New Roman" panose="02020603050405020304"/>
                          <a:ea typeface="Times New Roman" panose="02020603050405020304"/>
                          <a:cs typeface="Times New Roman" panose="02020603050405020304"/>
                        </a:rPr>
                        <a:t>12</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6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22555" algn="l" rtl="0" eaLnBrk="0">
                        <a:lnSpc>
                          <a:spcPct val="78000"/>
                        </a:lnSpc>
                      </a:pPr>
                      <a:r>
                        <a:rPr sz="2700" kern="0" spc="-70" dirty="0">
                          <a:solidFill>
                            <a:srgbClr val="000000">
                              <a:alpha val="100000"/>
                            </a:srgbClr>
                          </a:solidFill>
                          <a:latin typeface="Times New Roman" panose="02020603050405020304"/>
                          <a:ea typeface="Times New Roman" panose="02020603050405020304"/>
                          <a:cs typeface="Times New Roman" panose="02020603050405020304"/>
                        </a:rPr>
                        <a:t>13</a:t>
                      </a:r>
                      <a:endParaRPr sz="27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r>
              <a:tr h="710565">
                <a:tc>
                  <a:txBody>
                    <a:bodyPr/>
                    <a:lstStyle/>
                    <a:p>
                      <a:pPr algn="l" rtl="0" eaLnBrk="0">
                        <a:lnSpc>
                          <a:spcPct val="10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100965" indent="6350" algn="l" rtl="0" eaLnBrk="0">
                        <a:lnSpc>
                          <a:spcPct val="102000"/>
                        </a:lnSpc>
                      </a:pPr>
                      <a:r>
                        <a:rPr sz="13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时间</a:t>
                      </a:r>
                      <a:r>
                        <a:rPr sz="13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标记</a:t>
                      </a:r>
                      <a:endParaRPr sz="13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ct val="104000"/>
                        </a:lnSpc>
                      </a:pPr>
                      <a:endParaRPr sz="1000" dirty="0">
                        <a:latin typeface="Arial" panose="020B0604020202020204" pitchFamily="34" charset="0"/>
                        <a:ea typeface="Arial" panose="020B0604020202020204" pitchFamily="34" charset="0"/>
                        <a:cs typeface="Arial" panose="020B0604020202020204" pitchFamily="34" charset="0"/>
                      </a:endParaRPr>
                    </a:p>
                    <a:p>
                      <a:pPr marL="224155" algn="l" rtl="0" eaLnBrk="0">
                        <a:lnSpc>
                          <a:spcPct val="84000"/>
                        </a:lnSpc>
                        <a:spcBef>
                          <a:spcPts val="5"/>
                        </a:spcBef>
                      </a:pPr>
                      <a:r>
                        <a:rPr sz="1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发送</a:t>
                      </a:r>
                      <a:endParaRPr sz="1300" dirty="0">
                        <a:latin typeface="宋体" panose="02010600030101010101" pitchFamily="2" charset="-122"/>
                        <a:ea typeface="宋体" panose="02010600030101010101" pitchFamily="2" charset="-122"/>
                        <a:cs typeface="宋体" panose="02010600030101010101" pitchFamily="2" charset="-122"/>
                      </a:endParaRPr>
                    </a:p>
                    <a:p>
                      <a:pPr marL="222250" algn="l" rtl="0" eaLnBrk="0">
                        <a:lnSpc>
                          <a:spcPts val="1705"/>
                        </a:lnSpc>
                      </a:pPr>
                      <a:r>
                        <a:rPr sz="1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银行</a:t>
                      </a:r>
                      <a:endParaRPr sz="13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3">
                  <a:txBody>
                    <a:bodyPr/>
                    <a:lstStyle/>
                    <a:p>
                      <a:pPr algn="l" rtl="0" eaLnBrk="0">
                        <a:lnSpc>
                          <a:spcPct val="104000"/>
                        </a:lnSpc>
                      </a:pPr>
                      <a:endParaRPr sz="1000" dirty="0">
                        <a:latin typeface="Arial" panose="020B0604020202020204" pitchFamily="34" charset="0"/>
                        <a:ea typeface="Arial" panose="020B0604020202020204" pitchFamily="34" charset="0"/>
                        <a:cs typeface="Arial" panose="020B0604020202020204" pitchFamily="34" charset="0"/>
                      </a:endParaRPr>
                    </a:p>
                    <a:p>
                      <a:pPr marL="235585" algn="l" rtl="0" eaLnBrk="0">
                        <a:lnSpc>
                          <a:spcPct val="84000"/>
                        </a:lnSpc>
                        <a:spcBef>
                          <a:spcPts val="5"/>
                        </a:spcBef>
                      </a:pPr>
                      <a:r>
                        <a:rPr sz="1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接收</a:t>
                      </a:r>
                      <a:endParaRPr sz="1300" dirty="0">
                        <a:latin typeface="宋体" panose="02010600030101010101" pitchFamily="2" charset="-122"/>
                        <a:ea typeface="宋体" panose="02010600030101010101" pitchFamily="2" charset="-122"/>
                        <a:cs typeface="宋体" panose="02010600030101010101" pitchFamily="2" charset="-122"/>
                      </a:endParaRPr>
                    </a:p>
                    <a:p>
                      <a:pPr marL="236855" algn="l" rtl="0" eaLnBrk="0">
                        <a:lnSpc>
                          <a:spcPts val="1705"/>
                        </a:lnSpc>
                      </a:pPr>
                      <a:r>
                        <a:rPr sz="1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银行</a:t>
                      </a:r>
                      <a:endParaRPr sz="13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6">
                  <a:txBody>
                    <a:bodyPr/>
                    <a:lstStyle/>
                    <a:p>
                      <a:pPr algn="l" rtl="0" eaLnBrk="0">
                        <a:lnSpc>
                          <a:spcPct val="175000"/>
                        </a:lnSpc>
                      </a:pPr>
                      <a:endParaRPr sz="1000" dirty="0">
                        <a:latin typeface="Arial" panose="020B0604020202020204" pitchFamily="34" charset="0"/>
                        <a:ea typeface="Arial" panose="020B0604020202020204" pitchFamily="34" charset="0"/>
                        <a:cs typeface="Arial" panose="020B0604020202020204" pitchFamily="34" charset="0"/>
                      </a:endParaRPr>
                    </a:p>
                    <a:p>
                      <a:pPr marL="1143000" algn="l" rtl="0" eaLnBrk="0">
                        <a:lnSpc>
                          <a:spcPct val="95000"/>
                        </a:lnSpc>
                        <a:spcBef>
                          <a:spcPts val="5"/>
                        </a:spcBef>
                      </a:pPr>
                      <a:r>
                        <a:rPr sz="13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储户姓名</a:t>
                      </a:r>
                      <a:r>
                        <a:rPr sz="1300" kern="0" spc="-2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20" dirty="0">
                          <a:solidFill>
                            <a:srgbClr val="000000">
                              <a:alpha val="100000"/>
                            </a:srgbClr>
                          </a:solidFill>
                          <a:latin typeface="Times New Roman" panose="02020603050405020304"/>
                          <a:ea typeface="Times New Roman" panose="02020603050405020304"/>
                          <a:cs typeface="Times New Roman" panose="02020603050405020304"/>
                        </a:rPr>
                        <a:t>2</a:t>
                      </a:r>
                      <a:endParaRPr sz="13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gridSpan="2">
                  <a:txBody>
                    <a:bodyPr/>
                    <a:lstStyle/>
                    <a:p>
                      <a:pPr algn="l" rtl="0" eaLnBrk="0">
                        <a:lnSpc>
                          <a:spcPct val="176000"/>
                        </a:lnSpc>
                      </a:pPr>
                      <a:endParaRPr sz="1000" dirty="0">
                        <a:latin typeface="Arial" panose="020B0604020202020204" pitchFamily="34" charset="0"/>
                        <a:ea typeface="Arial" panose="020B0604020202020204" pitchFamily="34" charset="0"/>
                        <a:cs typeface="Arial" panose="020B0604020202020204" pitchFamily="34" charset="0"/>
                      </a:endParaRPr>
                    </a:p>
                    <a:p>
                      <a:pPr marL="120650" algn="l" rtl="0" eaLnBrk="0">
                        <a:lnSpc>
                          <a:spcPct val="95000"/>
                        </a:lnSpc>
                      </a:pPr>
                      <a:r>
                        <a:rPr sz="13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储户帐号</a:t>
                      </a:r>
                      <a:r>
                        <a:rPr sz="1300" kern="0" spc="-2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20" dirty="0">
                          <a:solidFill>
                            <a:srgbClr val="000000">
                              <a:alpha val="100000"/>
                            </a:srgbClr>
                          </a:solidFill>
                          <a:latin typeface="Times New Roman" panose="02020603050405020304"/>
                          <a:ea typeface="Times New Roman" panose="02020603050405020304"/>
                          <a:cs typeface="Times New Roman" panose="02020603050405020304"/>
                        </a:rPr>
                        <a:t>2</a:t>
                      </a:r>
                      <a:endParaRPr sz="1300" dirty="0">
                        <a:latin typeface="Times New Roman" panose="02020603050405020304"/>
                        <a:ea typeface="Times New Roman" panose="02020603050405020304"/>
                        <a:cs typeface="Times New Roman" panose="02020603050405020304"/>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hMerge="1">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lstStyle/>
                    <a:p>
                      <a:pPr algn="l" rtl="0" eaLnBrk="0">
                        <a:lnSpc>
                          <a:spcPct val="105000"/>
                        </a:lnSpc>
                      </a:pPr>
                      <a:endParaRPr sz="1000" dirty="0">
                        <a:latin typeface="Arial" panose="020B0604020202020204" pitchFamily="34" charset="0"/>
                        <a:ea typeface="Arial" panose="020B0604020202020204" pitchFamily="34" charset="0"/>
                        <a:cs typeface="Arial" panose="020B0604020202020204" pitchFamily="34" charset="0"/>
                      </a:endParaRPr>
                    </a:p>
                    <a:p>
                      <a:pPr marL="101600" indent="-1905" algn="l" rtl="0" eaLnBrk="0">
                        <a:lnSpc>
                          <a:spcPct val="102000"/>
                        </a:lnSpc>
                        <a:spcBef>
                          <a:spcPts val="5"/>
                        </a:spcBef>
                      </a:pPr>
                      <a:r>
                        <a:rPr sz="13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存款</a:t>
                      </a:r>
                      <a:r>
                        <a:rPr sz="13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金额</a:t>
                      </a:r>
                      <a:endParaRPr sz="1300" dirty="0">
                        <a:latin typeface="宋体" panose="02010600030101010101" pitchFamily="2" charset="-122"/>
                        <a:ea typeface="宋体" panose="02010600030101010101" pitchFamily="2" charset="-122"/>
                        <a:cs typeface="宋体" panose="02010600030101010101" pitchFamily="2" charset="-122"/>
                      </a:endParaRPr>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r>
            </a:tbl>
          </a:graphicData>
        </a:graphic>
      </p:graphicFrame>
      <p:sp>
        <p:nvSpPr>
          <p:cNvPr id="90" name="textbox 90"/>
          <p:cNvSpPr/>
          <p:nvPr/>
        </p:nvSpPr>
        <p:spPr>
          <a:xfrm>
            <a:off x="919073" y="5302046"/>
            <a:ext cx="10233025" cy="694690"/>
          </a:xfrm>
          <a:prstGeom prst="rect">
            <a:avLst/>
          </a:prstGeom>
          <a:noFill/>
          <a:ln w="0" cap="flat">
            <a:noFill/>
            <a:prstDash val="solid"/>
            <a:miter lim="0"/>
          </a:ln>
        </p:spPr>
        <p:txBody>
          <a:bodyPr vert="horz" wrap="square" lIns="0" tIns="0" rIns="0" bIns="0"/>
          <a:lstStyle/>
          <a:p>
            <a:pPr algn="l" rtl="0" eaLnBrk="0">
              <a:lnSpc>
                <a:spcPct val="106000"/>
              </a:lnSpc>
            </a:pPr>
            <a:endParaRPr sz="100" dirty="0">
              <a:latin typeface="Arial" panose="020B0604020202020204" pitchFamily="34" charset="0"/>
              <a:ea typeface="Arial" panose="020B0604020202020204" pitchFamily="34" charset="0"/>
              <a:cs typeface="Arial" panose="020B0604020202020204" pitchFamily="34" charset="0"/>
            </a:endParaRPr>
          </a:p>
          <a:p>
            <a:pPr marL="245745" indent="-233680" algn="l" rtl="0" eaLnBrk="0">
              <a:lnSpc>
                <a:spcPct val="91000"/>
              </a:lnSpc>
            </a:pPr>
            <a:r>
              <a:rPr sz="2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敌手</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C</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通过截收从</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A</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到</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B</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的</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加密消息，只要将第</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5</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至第</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12</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分组替换为自己的姓</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名和帐号相对应的密文，即可将别人的存款存入自己的帐号。</a:t>
            </a:r>
            <a:endParaRPr sz="2400" dirty="0">
              <a:latin typeface="仿宋" panose="02010609060101010101" charset="-122"/>
              <a:ea typeface="仿宋" panose="02010609060101010101" charset="-122"/>
              <a:cs typeface="仿宋" panose="02010609060101010101" charset="-122"/>
            </a:endParaRPr>
          </a:p>
        </p:txBody>
      </p:sp>
      <p:sp>
        <p:nvSpPr>
          <p:cNvPr id="92" name="textbox 92"/>
          <p:cNvSpPr/>
          <p:nvPr/>
        </p:nvSpPr>
        <p:spPr>
          <a:xfrm>
            <a:off x="919073" y="1194613"/>
            <a:ext cx="9354819" cy="387350"/>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9000"/>
              </a:lnSpc>
            </a:pPr>
            <a:r>
              <a:rPr sz="2400" kern="0" spc="-30" dirty="0">
                <a:solidFill>
                  <a:srgbClr val="FF0066">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例</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假设银行</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A</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和银行</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B</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之间的资金转帐系统所使用报文模式如下</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a:t>
            </a:r>
            <a:endParaRPr sz="2400" dirty="0">
              <a:latin typeface="仿宋" panose="02010609060101010101" charset="-122"/>
              <a:ea typeface="仿宋" panose="02010609060101010101" charset="-122"/>
              <a:cs typeface="仿宋" panose="02010609060101010101" charset="-122"/>
            </a:endParaRPr>
          </a:p>
        </p:txBody>
      </p:sp>
      <p:sp>
        <p:nvSpPr>
          <p:cNvPr id="94" name="textbox 94"/>
          <p:cNvSpPr/>
          <p:nvPr/>
        </p:nvSpPr>
        <p:spPr>
          <a:xfrm>
            <a:off x="1615921" y="491245"/>
            <a:ext cx="4030979" cy="480694"/>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30" dirty="0">
                <a:solidFill>
                  <a:srgbClr val="1F4E79">
                    <a:alpha val="100000"/>
                  </a:srgbClr>
                </a:solidFill>
                <a:latin typeface="仿宋" panose="02010609060101010101" charset="-122"/>
                <a:ea typeface="仿宋" panose="02010609060101010101" charset="-122"/>
                <a:cs typeface="仿宋" panose="02010609060101010101" charset="-122"/>
              </a:rPr>
              <a:t>电码本模式缺陷的例子</a:t>
            </a:r>
            <a:endParaRPr sz="3100" dirty="0">
              <a:latin typeface="仿宋" panose="02010609060101010101" charset="-122"/>
              <a:ea typeface="仿宋" panose="02010609060101010101" charset="-122"/>
              <a:cs typeface="仿宋" panose="02010609060101010101" charset="-122"/>
            </a:endParaRPr>
          </a:p>
        </p:txBody>
      </p:sp>
      <p:sp>
        <p:nvSpPr>
          <p:cNvPr id="98" name="path 9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00" name="picture 100"/>
          <p:cNvPicPr>
            <a:picLocks noChangeAspect="1"/>
          </p:cNvPicPr>
          <p:nvPr/>
        </p:nvPicPr>
        <p:blipFill>
          <a:blip r:embed="rId1"/>
          <a:stretch>
            <a:fillRect/>
          </a:stretch>
        </p:blipFill>
        <p:spPr>
          <a:xfrm rot="21600000">
            <a:off x="822960" y="408431"/>
            <a:ext cx="420623" cy="655320"/>
          </a:xfrm>
          <a:prstGeom prst="rect">
            <a:avLst/>
          </a:prstGeom>
        </p:spPr>
      </p:pic>
      <p:sp>
        <p:nvSpPr>
          <p:cNvPr id="102" name="path 10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rot="21600000">
            <a:off x="2598165" y="1378585"/>
            <a:ext cx="5708903" cy="813816"/>
            <a:chOff x="0" y="0"/>
            <a:chExt cx="5708903" cy="813816"/>
          </a:xfrm>
        </p:grpSpPr>
        <p:pic>
          <p:nvPicPr>
            <p:cNvPr id="104" name="picture 104"/>
            <p:cNvPicPr>
              <a:picLocks noChangeAspect="1"/>
            </p:cNvPicPr>
            <p:nvPr/>
          </p:nvPicPr>
          <p:blipFill>
            <a:blip r:embed="rId1"/>
            <a:stretch>
              <a:fillRect/>
            </a:stretch>
          </p:blipFill>
          <p:spPr>
            <a:xfrm rot="21600000">
              <a:off x="0" y="0"/>
              <a:ext cx="5708903" cy="813816"/>
            </a:xfrm>
            <a:prstGeom prst="rect">
              <a:avLst/>
            </a:prstGeom>
          </p:spPr>
        </p:pic>
        <p:sp>
          <p:nvSpPr>
            <p:cNvPr id="106" name="textbox 106"/>
            <p:cNvSpPr/>
            <p:nvPr/>
          </p:nvSpPr>
          <p:spPr>
            <a:xfrm>
              <a:off x="-12700" y="-12700"/>
              <a:ext cx="5734684" cy="851535"/>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711200" algn="l" rtl="0" eaLnBrk="0">
                <a:lnSpc>
                  <a:spcPct val="93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电码本</a:t>
              </a:r>
              <a:r>
                <a:rPr sz="2400" b="1" kern="0" spc="-40" dirty="0">
                  <a:solidFill>
                    <a:srgbClr val="FFFFFF">
                      <a:alpha val="100000"/>
                    </a:srgbClr>
                  </a:solidFill>
                  <a:latin typeface="Times New Roman" panose="02020603050405020304"/>
                  <a:ea typeface="Times New Roman" panose="02020603050405020304"/>
                  <a:cs typeface="Times New Roman" panose="02020603050405020304"/>
                </a:rPr>
                <a:t>(ECB)</a:t>
              </a: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模</a:t>
              </a: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式</a:t>
              </a:r>
              <a:endParaRPr sz="2400" dirty="0">
                <a:latin typeface="仿宋" panose="02010609060101010101" charset="-122"/>
                <a:ea typeface="仿宋" panose="02010609060101010101" charset="-122"/>
                <a:cs typeface="仿宋" panose="02010609060101010101" charset="-122"/>
              </a:endParaRPr>
            </a:p>
          </p:txBody>
        </p:sp>
      </p:grpSp>
      <p:grpSp>
        <p:nvGrpSpPr>
          <p:cNvPr id="10" name="group 10"/>
          <p:cNvGrpSpPr/>
          <p:nvPr/>
        </p:nvGrpSpPr>
        <p:grpSpPr>
          <a:xfrm rot="21600000">
            <a:off x="2598165" y="2340610"/>
            <a:ext cx="5695950" cy="851535"/>
            <a:chOff x="-135890" y="-1545590"/>
            <a:chExt cx="5695950" cy="851535"/>
          </a:xfrm>
        </p:grpSpPr>
        <p:pic>
          <p:nvPicPr>
            <p:cNvPr id="108" name="picture 108"/>
            <p:cNvPicPr>
              <a:picLocks noChangeAspect="1"/>
            </p:cNvPicPr>
            <p:nvPr/>
          </p:nvPicPr>
          <p:blipFill>
            <a:blip r:embed="rId2"/>
            <a:stretch>
              <a:fillRect/>
            </a:stretch>
          </p:blipFill>
          <p:spPr>
            <a:xfrm rot="21600000">
              <a:off x="-110490" y="-1545590"/>
              <a:ext cx="5670550" cy="814070"/>
            </a:xfrm>
            <a:prstGeom prst="rect">
              <a:avLst/>
            </a:prstGeom>
          </p:spPr>
        </p:pic>
        <p:sp>
          <p:nvSpPr>
            <p:cNvPr id="110" name="textbox 110"/>
            <p:cNvSpPr/>
            <p:nvPr/>
          </p:nvSpPr>
          <p:spPr>
            <a:xfrm>
              <a:off x="-135890" y="-1545590"/>
              <a:ext cx="5533390" cy="85153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934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密码分组链接</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(CBC)</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
        <p:nvSpPr>
          <p:cNvPr id="122" name="textbox 122"/>
          <p:cNvSpPr/>
          <p:nvPr/>
        </p:nvSpPr>
        <p:spPr>
          <a:xfrm>
            <a:off x="2745984" y="491245"/>
            <a:ext cx="6104890"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70" dirty="0">
                <a:solidFill>
                  <a:srgbClr val="1F4E79">
                    <a:alpha val="100000"/>
                  </a:srgbClr>
                </a:solidFill>
                <a:latin typeface="仿宋" panose="02010609060101010101" charset="-122"/>
                <a:ea typeface="仿宋" panose="02010609060101010101" charset="-122"/>
                <a:cs typeface="仿宋" panose="02010609060101010101" charset="-122"/>
              </a:rPr>
              <a:t>分组密码的工作模式</a:t>
            </a:r>
            <a:endParaRPr sz="3100" dirty="0">
              <a:latin typeface="仿宋" panose="02010609060101010101" charset="-122"/>
              <a:ea typeface="仿宋" panose="02010609060101010101" charset="-122"/>
              <a:cs typeface="仿宋" panose="02010609060101010101" charset="-122"/>
            </a:endParaRPr>
          </a:p>
        </p:txBody>
      </p:sp>
      <p:sp>
        <p:nvSpPr>
          <p:cNvPr id="126" name="path 12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8" name="picture 128"/>
          <p:cNvPicPr>
            <a:picLocks noChangeAspect="1"/>
          </p:cNvPicPr>
          <p:nvPr/>
        </p:nvPicPr>
        <p:blipFill>
          <a:blip r:embed="rId3"/>
          <a:stretch>
            <a:fillRect/>
          </a:stretch>
        </p:blipFill>
        <p:spPr>
          <a:xfrm rot="21600000">
            <a:off x="822960" y="408431"/>
            <a:ext cx="420623" cy="655320"/>
          </a:xfrm>
          <a:prstGeom prst="rect">
            <a:avLst/>
          </a:prstGeom>
        </p:spPr>
      </p:pic>
      <p:sp>
        <p:nvSpPr>
          <p:cNvPr id="130" name="path 13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grpSp>
        <p:nvGrpSpPr>
          <p:cNvPr id="18" name="group 18"/>
          <p:cNvGrpSpPr/>
          <p:nvPr/>
        </p:nvGrpSpPr>
        <p:grpSpPr>
          <a:xfrm rot="21600000">
            <a:off x="2623820" y="4264660"/>
            <a:ext cx="5725160" cy="851535"/>
            <a:chOff x="-161925" y="-1996440"/>
            <a:chExt cx="5601970" cy="851535"/>
          </a:xfrm>
        </p:grpSpPr>
        <p:pic>
          <p:nvPicPr>
            <p:cNvPr id="164" name="picture 164"/>
            <p:cNvPicPr>
              <a:picLocks noChangeAspect="1"/>
            </p:cNvPicPr>
            <p:nvPr/>
          </p:nvPicPr>
          <p:blipFill>
            <a:blip r:embed="rId4"/>
            <a:stretch>
              <a:fillRect/>
            </a:stretch>
          </p:blipFill>
          <p:spPr>
            <a:xfrm rot="21600000">
              <a:off x="-161925" y="-1971040"/>
              <a:ext cx="5507735" cy="813816"/>
            </a:xfrm>
            <a:prstGeom prst="rect">
              <a:avLst/>
            </a:prstGeom>
          </p:spPr>
        </p:pic>
        <p:sp>
          <p:nvSpPr>
            <p:cNvPr id="166" name="textbox 166"/>
            <p:cNvSpPr/>
            <p:nvPr/>
          </p:nvSpPr>
          <p:spPr>
            <a:xfrm>
              <a:off x="-93345" y="-1996440"/>
              <a:ext cx="5533390" cy="851535"/>
            </a:xfrm>
            <a:prstGeom prst="rect">
              <a:avLst/>
            </a:prstGeom>
            <a:noFill/>
            <a:ln w="0" cap="flat">
              <a:noFill/>
              <a:prstDash val="solid"/>
              <a:miter lim="0"/>
            </a:ln>
          </p:spPr>
          <p:txBody>
            <a:bodyPr vert="horz" wrap="square" lIns="0" tIns="0" rIns="0" bIns="0"/>
            <a:p>
              <a:pPr algn="l" rtl="0" eaLnBrk="0">
                <a:lnSpc>
                  <a:spcPct val="176000"/>
                </a:lnSpc>
              </a:pPr>
              <a:endParaRPr sz="1000" dirty="0">
                <a:latin typeface="Arial" panose="020B0604020202020204" pitchFamily="34" charset="0"/>
                <a:ea typeface="Arial" panose="020B0604020202020204" pitchFamily="34" charset="0"/>
                <a:cs typeface="Arial" panose="020B0604020202020204" pitchFamily="34" charset="0"/>
              </a:endParaRPr>
            </a:p>
            <a:p>
              <a:pPr marL="6807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输出反馈</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(OFB)</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grpSp>
        <p:nvGrpSpPr>
          <p:cNvPr id="20" name="group 20"/>
          <p:cNvGrpSpPr/>
          <p:nvPr/>
        </p:nvGrpSpPr>
        <p:grpSpPr>
          <a:xfrm rot="21600000">
            <a:off x="2623565" y="5277358"/>
            <a:ext cx="5711951" cy="813816"/>
            <a:chOff x="0" y="0"/>
            <a:chExt cx="5711951" cy="813816"/>
          </a:xfrm>
        </p:grpSpPr>
        <p:pic>
          <p:nvPicPr>
            <p:cNvPr id="168" name="picture 168"/>
            <p:cNvPicPr>
              <a:picLocks noChangeAspect="1"/>
            </p:cNvPicPr>
            <p:nvPr/>
          </p:nvPicPr>
          <p:blipFill>
            <a:blip r:embed="rId5"/>
            <a:stretch>
              <a:fillRect/>
            </a:stretch>
          </p:blipFill>
          <p:spPr>
            <a:xfrm rot="21600000">
              <a:off x="0" y="0"/>
              <a:ext cx="5711951" cy="813816"/>
            </a:xfrm>
            <a:prstGeom prst="rect">
              <a:avLst/>
            </a:prstGeom>
          </p:spPr>
        </p:pic>
        <p:sp>
          <p:nvSpPr>
            <p:cNvPr id="170" name="textbox 170"/>
            <p:cNvSpPr/>
            <p:nvPr/>
          </p:nvSpPr>
          <p:spPr>
            <a:xfrm>
              <a:off x="-12700" y="-12700"/>
              <a:ext cx="5737859" cy="879475"/>
            </a:xfrm>
            <a:prstGeom prst="rect">
              <a:avLst/>
            </a:prstGeom>
            <a:noFill/>
            <a:ln w="0" cap="flat">
              <a:noFill/>
              <a:prstDash val="solid"/>
              <a:miter lim="0"/>
            </a:ln>
          </p:spPr>
          <p:txBody>
            <a:bodyPr vert="horz" wrap="square" lIns="0" tIns="0" rIns="0" bIns="0"/>
            <a:p>
              <a:pPr algn="l" rtl="0" eaLnBrk="0">
                <a:lnSpc>
                  <a:spcPct val="17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77545" algn="l" rtl="0" eaLnBrk="0">
                <a:lnSpc>
                  <a:spcPct val="94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计数器模式</a:t>
              </a:r>
              <a:endParaRPr sz="2400" dirty="0">
                <a:latin typeface="仿宋" panose="02010609060101010101" charset="-122"/>
                <a:ea typeface="仿宋" panose="02010609060101010101" charset="-122"/>
                <a:cs typeface="仿宋" panose="02010609060101010101" charset="-122"/>
              </a:endParaRPr>
            </a:p>
          </p:txBody>
        </p:sp>
      </p:grpSp>
      <p:grpSp>
        <p:nvGrpSpPr>
          <p:cNvPr id="22" name="group 22"/>
          <p:cNvGrpSpPr/>
          <p:nvPr/>
        </p:nvGrpSpPr>
        <p:grpSpPr>
          <a:xfrm rot="21600000">
            <a:off x="2623820" y="3302635"/>
            <a:ext cx="5670550" cy="814070"/>
            <a:chOff x="0" y="0"/>
            <a:chExt cx="5708903" cy="813816"/>
          </a:xfrm>
        </p:grpSpPr>
        <p:pic>
          <p:nvPicPr>
            <p:cNvPr id="172" name="picture 172"/>
            <p:cNvPicPr>
              <a:picLocks noChangeAspect="1"/>
            </p:cNvPicPr>
            <p:nvPr/>
          </p:nvPicPr>
          <p:blipFill>
            <a:blip r:embed="rId6"/>
            <a:stretch>
              <a:fillRect/>
            </a:stretch>
          </p:blipFill>
          <p:spPr>
            <a:xfrm rot="21600000">
              <a:off x="0" y="0"/>
              <a:ext cx="5708903" cy="813816"/>
            </a:xfrm>
            <a:prstGeom prst="rect">
              <a:avLst/>
            </a:prstGeom>
          </p:spPr>
        </p:pic>
        <p:sp>
          <p:nvSpPr>
            <p:cNvPr id="174" name="textbox 174"/>
            <p:cNvSpPr/>
            <p:nvPr/>
          </p:nvSpPr>
          <p:spPr>
            <a:xfrm>
              <a:off x="-12700" y="-12700"/>
              <a:ext cx="5734684" cy="851535"/>
            </a:xfrm>
            <a:prstGeom prst="rect">
              <a:avLst/>
            </a:prstGeom>
            <a:noFill/>
            <a:ln w="0" cap="flat">
              <a:noFill/>
              <a:prstDash val="solid"/>
              <a:miter lim="0"/>
            </a:ln>
          </p:spPr>
          <p:txBody>
            <a:bodyPr vert="horz" wrap="square" lIns="0" tIns="0" rIns="0" bIns="0"/>
            <a:p>
              <a:pPr algn="l" rtl="0" eaLnBrk="0">
                <a:lnSpc>
                  <a:spcPct val="17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94690" algn="l" rtl="0" eaLnBrk="0">
                <a:lnSpc>
                  <a:spcPct val="93000"/>
                </a:lnSpc>
              </a:pP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密码反馈</a:t>
              </a:r>
              <a:r>
                <a:rPr sz="2400" b="1" kern="0" spc="-30" dirty="0">
                  <a:solidFill>
                    <a:srgbClr val="FFFFFF">
                      <a:alpha val="100000"/>
                    </a:srgbClr>
                  </a:solidFill>
                  <a:latin typeface="Times New Roman" panose="02020603050405020304"/>
                  <a:ea typeface="Times New Roman" panose="02020603050405020304"/>
                  <a:cs typeface="Times New Roman" panose="02020603050405020304"/>
                </a:rPr>
                <a:t>(CFB)</a:t>
              </a: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box 132"/>
          <p:cNvSpPr/>
          <p:nvPr/>
        </p:nvSpPr>
        <p:spPr>
          <a:xfrm>
            <a:off x="919089" y="1566206"/>
            <a:ext cx="10036175" cy="837564"/>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260350" indent="-247650" algn="l" rtl="0" eaLnBrk="0">
              <a:lnSpc>
                <a:spcPct val="111000"/>
              </a:lnSpc>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这种模式先将明文分组与上一次的密文块进行按比特异或</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，然后再进行加</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密处理。这种模式必须选择一个初始向量c</a:t>
            </a:r>
            <a:r>
              <a:rPr sz="2400" b="1" kern="0" spc="-10" baseline="-24000" dirty="0">
                <a:solidFill>
                  <a:srgbClr val="000000">
                    <a:alpha val="100000"/>
                  </a:srgbClr>
                </a:solidFill>
                <a:latin typeface="仿宋" panose="02010609060101010101" charset="-122"/>
                <a:ea typeface="仿宋" panose="02010609060101010101" charset="-122"/>
                <a:cs typeface="仿宋" panose="02010609060101010101" charset="-122"/>
              </a:rPr>
              <a:t>0</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=IV，用于加密第一块明文。</a:t>
            </a:r>
            <a:endParaRPr sz="2400" dirty="0">
              <a:latin typeface="仿宋" panose="02010609060101010101" charset="-122"/>
              <a:ea typeface="仿宋" panose="02010609060101010101" charset="-122"/>
              <a:cs typeface="仿宋" panose="02010609060101010101" charset="-122"/>
            </a:endParaRPr>
          </a:p>
        </p:txBody>
      </p:sp>
      <p:sp>
        <p:nvSpPr>
          <p:cNvPr id="134" name="textbox 134"/>
          <p:cNvSpPr/>
          <p:nvPr/>
        </p:nvSpPr>
        <p:spPr>
          <a:xfrm>
            <a:off x="4252379" y="3063424"/>
            <a:ext cx="2778125" cy="1673225"/>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pitchFamily="34" charset="0"/>
              <a:ea typeface="Arial" panose="020B0604020202020204" pitchFamily="34" charset="0"/>
              <a:cs typeface="Arial" panose="020B0604020202020204" pitchFamily="34" charset="0"/>
            </a:endParaRPr>
          </a:p>
          <a:p>
            <a:pPr marL="16510" algn="l" rtl="0" eaLnBrk="0">
              <a:lnSpc>
                <a:spcPct val="91000"/>
              </a:lnSpc>
            </a:pPr>
            <a:r>
              <a:rPr sz="3100" i="1" kern="0" spc="-50" dirty="0">
                <a:solidFill>
                  <a:srgbClr val="000000">
                    <a:alpha val="100000"/>
                  </a:srgbClr>
                </a:solidFill>
                <a:latin typeface="Times New Roman" panose="02020603050405020304"/>
                <a:ea typeface="Times New Roman" panose="02020603050405020304"/>
                <a:cs typeface="Times New Roman" panose="02020603050405020304"/>
              </a:rPr>
              <a:t>c</a:t>
            </a:r>
            <a:r>
              <a:rPr sz="2700" i="1" kern="0" spc="-5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1700" i="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3100"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100" i="1" kern="0" spc="-140" dirty="0">
                <a:solidFill>
                  <a:srgbClr val="000000">
                    <a:alpha val="100000"/>
                  </a:srgbClr>
                </a:solidFill>
                <a:latin typeface="Times New Roman" panose="02020603050405020304"/>
                <a:ea typeface="Times New Roman" panose="02020603050405020304"/>
                <a:cs typeface="Times New Roman" panose="02020603050405020304"/>
              </a:rPr>
              <a:t>E</a:t>
            </a:r>
            <a:r>
              <a:rPr sz="2700" i="1" kern="0" spc="-120" baseline="-23000" dirty="0">
                <a:solidFill>
                  <a:srgbClr val="000000">
                    <a:alpha val="100000"/>
                  </a:srgbClr>
                </a:solidFill>
                <a:latin typeface="Times New Roman" panose="02020603050405020304"/>
                <a:ea typeface="Times New Roman" panose="02020603050405020304"/>
                <a:cs typeface="Times New Roman" panose="02020603050405020304"/>
              </a:rPr>
              <a:t>k</a:t>
            </a:r>
            <a:r>
              <a:rPr sz="1700" i="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20" dirty="0">
                <a:solidFill>
                  <a:srgbClr val="000000">
                    <a:alpha val="100000"/>
                  </a:srgbClr>
                </a:solidFill>
                <a:latin typeface="Times New Roman" panose="02020603050405020304"/>
                <a:ea typeface="Times New Roman" panose="02020603050405020304"/>
                <a:cs typeface="Times New Roman" panose="02020603050405020304"/>
              </a:rPr>
              <a:t>(</a:t>
            </a:r>
            <a:r>
              <a:rPr sz="3100" i="1" kern="0" spc="-120" dirty="0">
                <a:solidFill>
                  <a:srgbClr val="000000">
                    <a:alpha val="100000"/>
                  </a:srgbClr>
                </a:solidFill>
                <a:latin typeface="Times New Roman" panose="02020603050405020304"/>
                <a:ea typeface="Times New Roman" panose="02020603050405020304"/>
                <a:cs typeface="Times New Roman" panose="02020603050405020304"/>
              </a:rPr>
              <a:t>m</a:t>
            </a:r>
            <a:r>
              <a:rPr sz="2700" i="1" kern="0" spc="-12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1700" i="1" kern="0" spc="8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田</a:t>
            </a:r>
            <a:r>
              <a:rPr sz="3100" kern="0" spc="-3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100" i="1" kern="0" spc="-120" dirty="0">
                <a:solidFill>
                  <a:srgbClr val="000000">
                    <a:alpha val="100000"/>
                  </a:srgbClr>
                </a:solidFill>
                <a:latin typeface="Times New Roman" panose="02020603050405020304"/>
                <a:ea typeface="Times New Roman" panose="02020603050405020304"/>
                <a:cs typeface="Times New Roman" panose="02020603050405020304"/>
              </a:rPr>
              <a:t>c</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i</a:t>
            </a:r>
            <a:r>
              <a:rPr sz="18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800" kern="0" spc="100" dirty="0">
                <a:solidFill>
                  <a:srgbClr val="000000">
                    <a:alpha val="100000"/>
                  </a:srgbClr>
                </a:solidFill>
                <a:latin typeface="Times New Roman" panose="02020603050405020304"/>
                <a:ea typeface="Times New Roman" panose="02020603050405020304"/>
                <a:cs typeface="Times New Roman" panose="02020603050405020304"/>
              </a:rPr>
              <a:t>1</a:t>
            </a:r>
            <a:r>
              <a:rPr sz="18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00" dirty="0">
                <a:solidFill>
                  <a:srgbClr val="000000">
                    <a:alpha val="100000"/>
                  </a:srgbClr>
                </a:solidFill>
                <a:latin typeface="Times New Roman" panose="02020603050405020304"/>
                <a:ea typeface="Times New Roman" panose="02020603050405020304"/>
                <a:cs typeface="Times New Roman" panose="02020603050405020304"/>
              </a:rPr>
              <a:t>)</a:t>
            </a:r>
            <a:endParaRPr sz="3100" dirty="0">
              <a:latin typeface="Times New Roman" panose="02020603050405020304"/>
              <a:ea typeface="Times New Roman" panose="02020603050405020304"/>
              <a:cs typeface="Times New Roman" panose="02020603050405020304"/>
            </a:endParaRPr>
          </a:p>
          <a:p>
            <a:pPr algn="r" rtl="0" eaLnBrk="0">
              <a:lnSpc>
                <a:spcPts val="9600"/>
              </a:lnSpc>
            </a:pPr>
            <a:r>
              <a:rPr sz="3100" i="1" kern="0" spc="-40" dirty="0">
                <a:solidFill>
                  <a:srgbClr val="000000">
                    <a:alpha val="100000"/>
                  </a:srgbClr>
                </a:solidFill>
                <a:latin typeface="Times New Roman" panose="02020603050405020304"/>
                <a:ea typeface="Times New Roman" panose="02020603050405020304"/>
                <a:cs typeface="Times New Roman" panose="02020603050405020304"/>
              </a:rPr>
              <a:t>m</a:t>
            </a:r>
            <a:r>
              <a:rPr sz="2700" i="1" kern="0" spc="-40" baseline="-65000" dirty="0">
                <a:solidFill>
                  <a:srgbClr val="000000">
                    <a:alpha val="100000"/>
                  </a:srgbClr>
                </a:solidFill>
                <a:latin typeface="Times New Roman" panose="02020603050405020304"/>
                <a:ea typeface="Times New Roman" panose="02020603050405020304"/>
                <a:cs typeface="Times New Roman" panose="02020603050405020304"/>
              </a:rPr>
              <a:t>i</a:t>
            </a:r>
            <a:r>
              <a:rPr sz="1700" i="1"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3100"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100" i="1" kern="0" spc="-100" dirty="0">
                <a:solidFill>
                  <a:srgbClr val="000000">
                    <a:alpha val="100000"/>
                  </a:srgbClr>
                </a:solidFill>
                <a:latin typeface="Times New Roman" panose="02020603050405020304"/>
                <a:ea typeface="Times New Roman" panose="02020603050405020304"/>
                <a:cs typeface="Times New Roman" panose="02020603050405020304"/>
              </a:rPr>
              <a:t>D</a:t>
            </a:r>
            <a:r>
              <a:rPr sz="2700" i="1" kern="0" spc="-100" baseline="-65000" dirty="0">
                <a:solidFill>
                  <a:srgbClr val="000000">
                    <a:alpha val="100000"/>
                  </a:srgbClr>
                </a:solidFill>
                <a:latin typeface="Times New Roman" panose="02020603050405020304"/>
                <a:ea typeface="Times New Roman" panose="02020603050405020304"/>
                <a:cs typeface="Times New Roman" panose="02020603050405020304"/>
              </a:rPr>
              <a:t>k</a:t>
            </a:r>
            <a:r>
              <a:rPr sz="1700" i="1" kern="0" spc="7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00" dirty="0">
                <a:solidFill>
                  <a:srgbClr val="000000">
                    <a:alpha val="100000"/>
                  </a:srgbClr>
                </a:solidFill>
                <a:latin typeface="Times New Roman" panose="02020603050405020304"/>
                <a:ea typeface="Times New Roman" panose="02020603050405020304"/>
                <a:cs typeface="Times New Roman" panose="02020603050405020304"/>
              </a:rPr>
              <a:t>(</a:t>
            </a:r>
            <a:r>
              <a:rPr sz="3100" i="1" kern="0" spc="-100" dirty="0">
                <a:solidFill>
                  <a:srgbClr val="000000">
                    <a:alpha val="100000"/>
                  </a:srgbClr>
                </a:solidFill>
                <a:latin typeface="Times New Roman" panose="02020603050405020304"/>
                <a:ea typeface="Times New Roman" panose="02020603050405020304"/>
                <a:cs typeface="Times New Roman" panose="02020603050405020304"/>
              </a:rPr>
              <a:t>c</a:t>
            </a:r>
            <a:r>
              <a:rPr sz="2700" i="1" kern="0" spc="-100" baseline="-65000" dirty="0">
                <a:solidFill>
                  <a:srgbClr val="000000">
                    <a:alpha val="100000"/>
                  </a:srgbClr>
                </a:solidFill>
                <a:latin typeface="Times New Roman" panose="02020603050405020304"/>
                <a:ea typeface="Times New Roman" panose="02020603050405020304"/>
                <a:cs typeface="Times New Roman" panose="02020603050405020304"/>
              </a:rPr>
              <a:t>i</a:t>
            </a:r>
            <a:r>
              <a:rPr sz="17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田</a:t>
            </a:r>
            <a:r>
              <a:rPr sz="3100" kern="0" spc="-3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100" i="1" kern="0" spc="-110" dirty="0">
                <a:solidFill>
                  <a:srgbClr val="000000">
                    <a:alpha val="100000"/>
                  </a:srgbClr>
                </a:solidFill>
                <a:latin typeface="Times New Roman" panose="02020603050405020304"/>
                <a:ea typeface="Times New Roman" panose="02020603050405020304"/>
                <a:cs typeface="Times New Roman" panose="02020603050405020304"/>
              </a:rPr>
              <a:t>c</a:t>
            </a:r>
            <a:r>
              <a:rPr sz="1800" i="1" kern="0" spc="-110" dirty="0">
                <a:solidFill>
                  <a:srgbClr val="000000">
                    <a:alpha val="100000"/>
                  </a:srgbClr>
                </a:solidFill>
                <a:latin typeface="Times New Roman" panose="02020603050405020304"/>
                <a:ea typeface="Times New Roman" panose="02020603050405020304"/>
                <a:cs typeface="Times New Roman" panose="02020603050405020304"/>
              </a:rPr>
              <a:t>i</a:t>
            </a:r>
            <a:r>
              <a:rPr sz="1800" i="1"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800" kern="0" spc="90" dirty="0">
                <a:solidFill>
                  <a:srgbClr val="000000">
                    <a:alpha val="100000"/>
                  </a:srgbClr>
                </a:solidFill>
                <a:latin typeface="Times New Roman" panose="02020603050405020304"/>
                <a:ea typeface="Times New Roman" panose="02020603050405020304"/>
                <a:cs typeface="Times New Roman" panose="02020603050405020304"/>
              </a:rPr>
              <a:t>1</a:t>
            </a:r>
            <a:endParaRPr sz="1800" dirty="0">
              <a:latin typeface="Times New Roman" panose="02020603050405020304"/>
              <a:ea typeface="Times New Roman" panose="02020603050405020304"/>
              <a:cs typeface="Times New Roman" panose="02020603050405020304"/>
            </a:endParaRPr>
          </a:p>
        </p:txBody>
      </p:sp>
      <p:sp>
        <p:nvSpPr>
          <p:cNvPr id="136" name="textbox 136"/>
          <p:cNvSpPr/>
          <p:nvPr/>
        </p:nvSpPr>
        <p:spPr>
          <a:xfrm>
            <a:off x="1587760" y="506272"/>
            <a:ext cx="8103234" cy="430530"/>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2000"/>
              </a:lnSpc>
            </a:pPr>
            <a:r>
              <a:rPr sz="2900" b="1" kern="0" spc="-20" dirty="0">
                <a:solidFill>
                  <a:srgbClr val="1F4E79">
                    <a:alpha val="100000"/>
                  </a:srgbClr>
                </a:solidFill>
                <a:latin typeface="仿宋" panose="02010609060101010101" charset="-122"/>
                <a:ea typeface="仿宋" panose="02010609060101010101" charset="-122"/>
                <a:cs typeface="仿宋" panose="02010609060101010101" charset="-122"/>
              </a:rPr>
              <a:t>密码分组链接CBC（Cipher</a:t>
            </a:r>
            <a:r>
              <a:rPr sz="2900" kern="0" spc="-20" dirty="0">
                <a:solidFill>
                  <a:srgbClr val="1F4E79">
                    <a:alpha val="100000"/>
                  </a:srgbClr>
                </a:solidFill>
                <a:latin typeface="仿宋" panose="02010609060101010101" charset="-122"/>
                <a:ea typeface="仿宋" panose="02010609060101010101" charset="-122"/>
                <a:cs typeface="仿宋" panose="02010609060101010101" charset="-122"/>
              </a:rPr>
              <a:t> </a:t>
            </a:r>
            <a:r>
              <a:rPr sz="2900" b="1" kern="0" spc="-20" dirty="0">
                <a:solidFill>
                  <a:srgbClr val="1F4E79">
                    <a:alpha val="100000"/>
                  </a:srgbClr>
                </a:solidFill>
                <a:latin typeface="仿宋" panose="02010609060101010101" charset="-122"/>
                <a:ea typeface="仿宋" panose="02010609060101010101" charset="-122"/>
                <a:cs typeface="仿宋" panose="02010609060101010101" charset="-122"/>
              </a:rPr>
              <a:t>Block</a:t>
            </a:r>
            <a:r>
              <a:rPr sz="2900" kern="0" spc="-20" dirty="0">
                <a:solidFill>
                  <a:srgbClr val="1F4E79">
                    <a:alpha val="100000"/>
                  </a:srgbClr>
                </a:solidFill>
                <a:latin typeface="仿宋" panose="02010609060101010101" charset="-122"/>
                <a:ea typeface="仿宋" panose="02010609060101010101" charset="-122"/>
                <a:cs typeface="仿宋" panose="02010609060101010101" charset="-122"/>
              </a:rPr>
              <a:t> </a:t>
            </a:r>
            <a:r>
              <a:rPr sz="2900" b="1" kern="0" spc="-20" dirty="0">
                <a:solidFill>
                  <a:srgbClr val="1F4E79">
                    <a:alpha val="100000"/>
                  </a:srgbClr>
                </a:solidFill>
                <a:latin typeface="仿宋" panose="02010609060101010101" charset="-122"/>
                <a:ea typeface="仿宋" panose="02010609060101010101" charset="-122"/>
                <a:cs typeface="仿宋" panose="02010609060101010101" charset="-122"/>
              </a:rPr>
              <a:t>Chaining）模式</a:t>
            </a:r>
            <a:endParaRPr sz="2900" dirty="0">
              <a:latin typeface="仿宋" panose="02010609060101010101" charset="-122"/>
              <a:ea typeface="仿宋" panose="02010609060101010101" charset="-122"/>
              <a:cs typeface="仿宋" panose="02010609060101010101" charset="-122"/>
            </a:endParaRPr>
          </a:p>
        </p:txBody>
      </p:sp>
      <p:sp>
        <p:nvSpPr>
          <p:cNvPr id="138" name="textbox 138"/>
          <p:cNvSpPr/>
          <p:nvPr/>
        </p:nvSpPr>
        <p:spPr>
          <a:xfrm>
            <a:off x="919073" y="2572943"/>
            <a:ext cx="1771014" cy="1522730"/>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pPr>
            <a:r>
              <a:rPr sz="2400" kern="0" spc="-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50" dirty="0">
                <a:solidFill>
                  <a:srgbClr val="000000">
                    <a:alpha val="100000"/>
                  </a:srgbClr>
                </a:solidFill>
                <a:latin typeface="仿宋" panose="02010609060101010101" charset="-122"/>
                <a:ea typeface="仿宋" panose="02010609060101010101" charset="-122"/>
                <a:cs typeface="仿宋" panose="02010609060101010101" charset="-122"/>
              </a:rPr>
              <a:t>加密过程为</a:t>
            </a:r>
            <a:endParaRPr sz="2400" dirty="0">
              <a:latin typeface="仿宋" panose="02010609060101010101" charset="-122"/>
              <a:ea typeface="仿宋" panose="02010609060101010101" charset="-122"/>
              <a:cs typeface="仿宋" panose="02010609060101010101" charset="-122"/>
            </a:endParaRPr>
          </a:p>
          <a:p>
            <a:pPr algn="l" rtl="0" eaLnBrk="0">
              <a:lnSpc>
                <a:spcPct val="11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0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1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spcBef>
                <a:spcPts val="5"/>
              </a:spcBef>
            </a:pPr>
            <a:r>
              <a:rPr sz="2400" kern="0" spc="-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解密过程为</a:t>
            </a:r>
            <a:endParaRPr sz="2400" dirty="0">
              <a:latin typeface="仿宋" panose="02010609060101010101" charset="-122"/>
              <a:ea typeface="仿宋" panose="02010609060101010101" charset="-122"/>
              <a:cs typeface="仿宋" panose="02010609060101010101" charset="-122"/>
            </a:endParaRPr>
          </a:p>
        </p:txBody>
      </p:sp>
      <p:sp>
        <p:nvSpPr>
          <p:cNvPr id="142" name="path 142"/>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44" name="picture 144"/>
          <p:cNvPicPr>
            <a:picLocks noChangeAspect="1"/>
          </p:cNvPicPr>
          <p:nvPr/>
        </p:nvPicPr>
        <p:blipFill>
          <a:blip r:embed="rId1"/>
          <a:stretch>
            <a:fillRect/>
          </a:stretch>
        </p:blipFill>
        <p:spPr>
          <a:xfrm rot="21600000">
            <a:off x="822960" y="408431"/>
            <a:ext cx="420623" cy="655320"/>
          </a:xfrm>
          <a:prstGeom prst="rect">
            <a:avLst/>
          </a:prstGeom>
        </p:spPr>
      </p:pic>
      <p:sp>
        <p:nvSpPr>
          <p:cNvPr id="146" name="path 14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2"/>
          <a:stretch>
            <a:fillRect/>
          </a:stretch>
        </p:blipFill>
        <p:spPr>
          <a:xfrm>
            <a:off x="585470" y="1418590"/>
            <a:ext cx="11021060" cy="374777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2057400" y="1143000"/>
            <a:ext cx="8077200" cy="5410200"/>
          </a:xfrm>
          <a:prstGeom prst="rect">
            <a:avLst/>
          </a:prstGeom>
        </p:spPr>
      </p:pic>
      <p:sp>
        <p:nvSpPr>
          <p:cNvPr id="152" name="textbox 152"/>
          <p:cNvSpPr/>
          <p:nvPr/>
        </p:nvSpPr>
        <p:spPr>
          <a:xfrm>
            <a:off x="1587760" y="506272"/>
            <a:ext cx="8103234" cy="430530"/>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2000"/>
              </a:lnSpc>
            </a:pPr>
            <a:r>
              <a:rPr sz="2900" b="1" kern="0" spc="-20" dirty="0">
                <a:solidFill>
                  <a:srgbClr val="1F4E79">
                    <a:alpha val="100000"/>
                  </a:srgbClr>
                </a:solidFill>
                <a:latin typeface="仿宋" panose="02010609060101010101" charset="-122"/>
                <a:ea typeface="仿宋" panose="02010609060101010101" charset="-122"/>
                <a:cs typeface="仿宋" panose="02010609060101010101" charset="-122"/>
              </a:rPr>
              <a:t>密码分组链接CBC（Cipher</a:t>
            </a:r>
            <a:r>
              <a:rPr sz="2900" kern="0" spc="-20" dirty="0">
                <a:solidFill>
                  <a:srgbClr val="1F4E79">
                    <a:alpha val="100000"/>
                  </a:srgbClr>
                </a:solidFill>
                <a:latin typeface="仿宋" panose="02010609060101010101" charset="-122"/>
                <a:ea typeface="仿宋" panose="02010609060101010101" charset="-122"/>
                <a:cs typeface="仿宋" panose="02010609060101010101" charset="-122"/>
              </a:rPr>
              <a:t> </a:t>
            </a:r>
            <a:r>
              <a:rPr sz="2900" b="1" kern="0" spc="-20" dirty="0">
                <a:solidFill>
                  <a:srgbClr val="1F4E79">
                    <a:alpha val="100000"/>
                  </a:srgbClr>
                </a:solidFill>
                <a:latin typeface="仿宋" panose="02010609060101010101" charset="-122"/>
                <a:ea typeface="仿宋" panose="02010609060101010101" charset="-122"/>
                <a:cs typeface="仿宋" panose="02010609060101010101" charset="-122"/>
              </a:rPr>
              <a:t>Block</a:t>
            </a:r>
            <a:r>
              <a:rPr sz="2900" kern="0" spc="-20" dirty="0">
                <a:solidFill>
                  <a:srgbClr val="1F4E79">
                    <a:alpha val="100000"/>
                  </a:srgbClr>
                </a:solidFill>
                <a:latin typeface="仿宋" panose="02010609060101010101" charset="-122"/>
                <a:ea typeface="仿宋" panose="02010609060101010101" charset="-122"/>
                <a:cs typeface="仿宋" panose="02010609060101010101" charset="-122"/>
              </a:rPr>
              <a:t> </a:t>
            </a:r>
            <a:r>
              <a:rPr sz="2900" b="1" kern="0" spc="-20" dirty="0">
                <a:solidFill>
                  <a:srgbClr val="1F4E79">
                    <a:alpha val="100000"/>
                  </a:srgbClr>
                </a:solidFill>
                <a:latin typeface="仿宋" panose="02010609060101010101" charset="-122"/>
                <a:ea typeface="仿宋" panose="02010609060101010101" charset="-122"/>
                <a:cs typeface="仿宋" panose="02010609060101010101" charset="-122"/>
              </a:rPr>
              <a:t>Chaining）模式</a:t>
            </a:r>
            <a:endParaRPr sz="2900" dirty="0">
              <a:latin typeface="仿宋" panose="02010609060101010101" charset="-122"/>
              <a:ea typeface="仿宋" panose="02010609060101010101" charset="-122"/>
              <a:cs typeface="仿宋" panose="02010609060101010101" charset="-122"/>
            </a:endParaRPr>
          </a:p>
        </p:txBody>
      </p:sp>
      <p:pic>
        <p:nvPicPr>
          <p:cNvPr id="156" name="picture 156"/>
          <p:cNvPicPr>
            <a:picLocks noChangeAspect="1"/>
          </p:cNvPicPr>
          <p:nvPr/>
        </p:nvPicPr>
        <p:blipFill>
          <a:blip r:embed="rId2"/>
          <a:stretch>
            <a:fillRect/>
          </a:stretch>
        </p:blipFill>
        <p:spPr>
          <a:xfrm rot="21600000">
            <a:off x="822960" y="408431"/>
            <a:ext cx="420623" cy="655320"/>
          </a:xfrm>
          <a:prstGeom prst="rect">
            <a:avLst/>
          </a:prstGeom>
        </p:spPr>
      </p:pic>
      <p:sp>
        <p:nvSpPr>
          <p:cNvPr id="158" name="path 158"/>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textbox 160"/>
          <p:cNvSpPr/>
          <p:nvPr/>
        </p:nvSpPr>
        <p:spPr>
          <a:xfrm>
            <a:off x="919694" y="1576561"/>
            <a:ext cx="10350500" cy="4472940"/>
          </a:xfrm>
          <a:prstGeom prst="rect">
            <a:avLst/>
          </a:prstGeom>
          <a:noFill/>
          <a:ln w="0" cap="flat">
            <a:noFill/>
            <a:prstDash val="solid"/>
            <a:miter lim="0"/>
          </a:ln>
        </p:spPr>
        <p:txBody>
          <a:bodyPr vert="horz" wrap="square" lIns="0" tIns="0" rIns="0" bIns="0"/>
          <a:lstStyle/>
          <a:p>
            <a:pPr algn="l" rtl="0" eaLnBrk="0">
              <a:lnSpc>
                <a:spcPct val="71000"/>
              </a:lnSpc>
            </a:pPr>
            <a:endParaRPr sz="100" dirty="0">
              <a:latin typeface="Arial" panose="020B0604020202020204" pitchFamily="34" charset="0"/>
              <a:ea typeface="Arial" panose="020B0604020202020204" pitchFamily="34" charset="0"/>
              <a:cs typeface="Arial" panose="020B0604020202020204" pitchFamily="34" charset="0"/>
            </a:endParaRPr>
          </a:p>
          <a:p>
            <a:pPr marL="34290" algn="l" rtl="0" eaLnBrk="0">
              <a:lnSpc>
                <a:spcPct val="94000"/>
              </a:lnSpc>
            </a:pP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1.</a:t>
            </a:r>
            <a:r>
              <a:rPr sz="2800" kern="0" spc="41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明文块的统计特性得到了隐蔽</a:t>
            </a:r>
            <a:endParaRPr sz="2800" dirty="0">
              <a:latin typeface="仿宋" panose="02010609060101010101" charset="-122"/>
              <a:ea typeface="仿宋" panose="02010609060101010101" charset="-122"/>
              <a:cs typeface="仿宋" panose="02010609060101010101" charset="-122"/>
            </a:endParaRPr>
          </a:p>
          <a:p>
            <a:pPr marL="469265" algn="l" rtl="0" eaLnBrk="0">
              <a:lnSpc>
                <a:spcPct val="99000"/>
              </a:lnSpc>
              <a:spcBef>
                <a:spcPts val="1400"/>
              </a:spcBef>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由于在CBC模式中，各密</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文块不仅与当前明文块有关，而且还与以前的</a:t>
            </a:r>
            <a:endParaRPr sz="2400" dirty="0">
              <a:latin typeface="仿宋" panose="02010609060101010101" charset="-122"/>
              <a:ea typeface="仿宋" panose="02010609060101010101" charset="-122"/>
              <a:cs typeface="仿宋" panose="02010609060101010101" charset="-122"/>
            </a:endParaRPr>
          </a:p>
          <a:p>
            <a:pPr marL="720725" algn="l" rtl="0" eaLnBrk="0">
              <a:lnSpc>
                <a:spcPct val="93000"/>
              </a:lnSpc>
              <a:spcBef>
                <a:spcPts val="615"/>
              </a:spcBef>
            </a:pP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明文块及初始化向量有关，从而使明文的统计规律在密文中</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得到了较好</a:t>
            </a:r>
            <a:endParaRPr sz="2400" dirty="0">
              <a:latin typeface="仿宋" panose="02010609060101010101" charset="-122"/>
              <a:ea typeface="仿宋" panose="02010609060101010101" charset="-122"/>
              <a:cs typeface="仿宋" panose="02010609060101010101" charset="-122"/>
            </a:endParaRPr>
          </a:p>
          <a:p>
            <a:pPr marL="719455" algn="l" rtl="0" eaLnBrk="0">
              <a:lnSpc>
                <a:spcPct val="95000"/>
              </a:lnSpc>
              <a:spcBef>
                <a:spcPts val="775"/>
              </a:spcBef>
            </a:pPr>
            <a:r>
              <a:rPr sz="2400" b="1" kern="0" spc="-100" dirty="0">
                <a:solidFill>
                  <a:srgbClr val="000000">
                    <a:alpha val="100000"/>
                  </a:srgbClr>
                </a:solidFill>
                <a:latin typeface="仿宋" panose="02010609060101010101" charset="-122"/>
                <a:ea typeface="仿宋" panose="02010609060101010101" charset="-122"/>
                <a:cs typeface="仿宋" panose="02010609060101010101" charset="-122"/>
              </a:rPr>
              <a:t>的隐藏</a:t>
            </a:r>
            <a:endParaRPr sz="2400" dirty="0">
              <a:latin typeface="仿宋" panose="02010609060101010101" charset="-122"/>
              <a:ea typeface="仿宋" panose="02010609060101010101" charset="-122"/>
              <a:cs typeface="仿宋" panose="02010609060101010101" charset="-122"/>
            </a:endParaRPr>
          </a:p>
          <a:p>
            <a:pPr marL="12700" algn="l" rtl="0" eaLnBrk="0">
              <a:lnSpc>
                <a:spcPct val="94000"/>
              </a:lnSpc>
              <a:spcBef>
                <a:spcPts val="1390"/>
              </a:spcBef>
            </a:pP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2.</a:t>
            </a:r>
            <a:r>
              <a:rPr sz="28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具有有限的(两步)错误传播特性</a:t>
            </a:r>
            <a:endParaRPr sz="2800" dirty="0">
              <a:latin typeface="仿宋" panose="02010609060101010101" charset="-122"/>
              <a:ea typeface="仿宋" panose="02010609060101010101" charset="-122"/>
              <a:cs typeface="仿宋" panose="02010609060101010101" charset="-122"/>
            </a:endParaRPr>
          </a:p>
          <a:p>
            <a:pPr marL="469265" algn="l" rtl="0" eaLnBrk="0">
              <a:lnSpc>
                <a:spcPct val="100000"/>
              </a:lnSpc>
              <a:spcBef>
                <a:spcPts val="1400"/>
              </a:spcBef>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一个密文块的错误将导致</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两个密文块不能正确解密</a:t>
            </a:r>
            <a:endParaRPr sz="2400" dirty="0">
              <a:latin typeface="仿宋" panose="02010609060101010101" charset="-122"/>
              <a:ea typeface="仿宋" panose="02010609060101010101" charset="-122"/>
              <a:cs typeface="仿宋" panose="02010609060101010101" charset="-122"/>
            </a:endParaRPr>
          </a:p>
          <a:p>
            <a:pPr marL="15240" algn="l" rtl="0" eaLnBrk="0">
              <a:lnSpc>
                <a:spcPct val="94000"/>
              </a:lnSpc>
              <a:spcBef>
                <a:spcPts val="1275"/>
              </a:spcBef>
            </a:pP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3.</a:t>
            </a:r>
            <a:r>
              <a:rPr sz="2800" kern="0" spc="28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50" dirty="0">
                <a:solidFill>
                  <a:srgbClr val="000000">
                    <a:alpha val="100000"/>
                  </a:srgbClr>
                </a:solidFill>
                <a:latin typeface="仿宋" panose="02010609060101010101" charset="-122"/>
                <a:ea typeface="仿宋" panose="02010609060101010101" charset="-122"/>
                <a:cs typeface="仿宋" panose="02010609060101010101" charset="-122"/>
              </a:rPr>
              <a:t>具有自同步功能</a:t>
            </a:r>
            <a:endParaRPr sz="2800" dirty="0">
              <a:latin typeface="仿宋" panose="02010609060101010101" charset="-122"/>
              <a:ea typeface="仿宋" panose="02010609060101010101" charset="-122"/>
              <a:cs typeface="仿宋" panose="02010609060101010101" charset="-122"/>
            </a:endParaRPr>
          </a:p>
          <a:p>
            <a:pPr algn="l" rtl="0" eaLnBrk="0">
              <a:lnSpc>
                <a:spcPct val="100000"/>
              </a:lnSpc>
            </a:pPr>
            <a:endParaRPr sz="11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705485" indent="-236220" algn="l" rtl="0" eaLnBrk="0">
              <a:lnSpc>
                <a:spcPct val="108000"/>
              </a:lnSpc>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密文出现丢块和错块不影响后续密文块的解密.若从第t块</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起密文块正确,</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则第t+1个明文块就能</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正确求出</a:t>
            </a:r>
            <a:endParaRPr sz="2400" dirty="0">
              <a:latin typeface="仿宋" panose="02010609060101010101" charset="-122"/>
              <a:ea typeface="仿宋" panose="02010609060101010101" charset="-122"/>
              <a:cs typeface="仿宋" panose="02010609060101010101" charset="-122"/>
            </a:endParaRPr>
          </a:p>
        </p:txBody>
      </p:sp>
      <p:sp>
        <p:nvSpPr>
          <p:cNvPr id="162" name="textbox 162"/>
          <p:cNvSpPr/>
          <p:nvPr/>
        </p:nvSpPr>
        <p:spPr>
          <a:xfrm>
            <a:off x="1560789" y="466861"/>
            <a:ext cx="2914650" cy="483869"/>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0" dirty="0">
                <a:solidFill>
                  <a:srgbClr val="1F4E79">
                    <a:alpha val="100000"/>
                  </a:srgbClr>
                </a:solidFill>
                <a:latin typeface="Times New Roman" panose="02020603050405020304"/>
                <a:ea typeface="Times New Roman" panose="02020603050405020304"/>
                <a:cs typeface="Times New Roman" panose="02020603050405020304"/>
              </a:rPr>
              <a:t>CBC</a:t>
            </a:r>
            <a:r>
              <a:rPr sz="3100" b="1" kern="0" spc="120" dirty="0">
                <a:solidFill>
                  <a:srgbClr val="1F4E79">
                    <a:alpha val="100000"/>
                  </a:srgbClr>
                </a:solidFill>
                <a:latin typeface="仿宋" panose="02010609060101010101" charset="-122"/>
                <a:ea typeface="仿宋" panose="02010609060101010101" charset="-122"/>
                <a:cs typeface="仿宋" panose="02010609060101010101" charset="-122"/>
              </a:rPr>
              <a:t>模式的特点</a:t>
            </a:r>
            <a:endParaRPr sz="3100" dirty="0">
              <a:latin typeface="仿宋" panose="02010609060101010101" charset="-122"/>
              <a:ea typeface="仿宋" panose="02010609060101010101" charset="-122"/>
              <a:cs typeface="仿宋" panose="02010609060101010101" charset="-122"/>
            </a:endParaRPr>
          </a:p>
        </p:txBody>
      </p:sp>
      <p:sp>
        <p:nvSpPr>
          <p:cNvPr id="166" name="path 16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68" name="picture 168"/>
          <p:cNvPicPr>
            <a:picLocks noChangeAspect="1"/>
          </p:cNvPicPr>
          <p:nvPr/>
        </p:nvPicPr>
        <p:blipFill>
          <a:blip r:embed="rId1"/>
          <a:stretch>
            <a:fillRect/>
          </a:stretch>
        </p:blipFill>
        <p:spPr>
          <a:xfrm rot="21600000">
            <a:off x="822960" y="408431"/>
            <a:ext cx="420623" cy="655320"/>
          </a:xfrm>
          <a:prstGeom prst="rect">
            <a:avLst/>
          </a:prstGeom>
        </p:spPr>
      </p:pic>
      <p:sp>
        <p:nvSpPr>
          <p:cNvPr id="170" name="path 17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textbox 172"/>
          <p:cNvSpPr/>
          <p:nvPr/>
        </p:nvSpPr>
        <p:spPr>
          <a:xfrm>
            <a:off x="919073" y="1566206"/>
            <a:ext cx="9901555" cy="319595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目的</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检查文件在</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直接或加密</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传输和存储中是否遭到有意或无意</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的篡改</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p>
            <a:pPr marL="12700" algn="l" rtl="0" eaLnBrk="0">
              <a:lnSpc>
                <a:spcPct val="100000"/>
              </a:lnSpc>
              <a:spcBef>
                <a:spcPts val="1805"/>
              </a:spcBef>
            </a:pPr>
            <a:r>
              <a:rPr sz="2400" kern="0" spc="-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关键技术</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p>
            <a:pPr marL="541655" algn="l" rtl="0" eaLnBrk="0">
              <a:lnSpc>
                <a:spcPct val="93000"/>
              </a:lnSpc>
              <a:spcBef>
                <a:spcPts val="1545"/>
              </a:spcBef>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(1)</a:t>
            </a:r>
            <a:r>
              <a:rPr sz="2400" b="1"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文件的制造者和检验</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者共享一个密钥</a:t>
            </a:r>
            <a:endParaRPr sz="2400" dirty="0">
              <a:latin typeface="仿宋" panose="02010609060101010101" charset="-122"/>
              <a:ea typeface="仿宋" panose="02010609060101010101" charset="-122"/>
              <a:cs typeface="仿宋" panose="02010609060101010101" charset="-122"/>
            </a:endParaRPr>
          </a:p>
          <a:p>
            <a:pPr marL="541655" algn="l" rtl="0" eaLnBrk="0">
              <a:lnSpc>
                <a:spcPct val="93000"/>
              </a:lnSpc>
              <a:spcBef>
                <a:spcPts val="1790"/>
              </a:spcBef>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(2)</a:t>
            </a:r>
            <a:r>
              <a:rPr sz="2400" b="1"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文件的明文必须具有检验者预先知道的冗余</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度</a:t>
            </a:r>
            <a:endParaRPr sz="2400" dirty="0">
              <a:latin typeface="仿宋" panose="02010609060101010101" charset="-122"/>
              <a:ea typeface="仿宋" panose="02010609060101010101" charset="-122"/>
              <a:cs typeface="仿宋" panose="02010609060101010101" charset="-122"/>
            </a:endParaRPr>
          </a:p>
          <a:p>
            <a:pPr algn="r" rtl="0" eaLnBrk="0">
              <a:lnSpc>
                <a:spcPct val="93000"/>
              </a:lnSpc>
              <a:spcBef>
                <a:spcPts val="1790"/>
              </a:spcBef>
            </a:pP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(3)</a:t>
            </a:r>
            <a:r>
              <a:rPr sz="2400" b="1"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文件的制造者用共享密</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钥对具有约定冗余度的明文用</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CBC</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模式加密</a:t>
            </a:r>
            <a:endParaRPr sz="2400" dirty="0">
              <a:latin typeface="仿宋" panose="02010609060101010101" charset="-122"/>
              <a:ea typeface="仿宋" panose="02010609060101010101" charset="-122"/>
              <a:cs typeface="仿宋" panose="02010609060101010101" charset="-122"/>
            </a:endParaRPr>
          </a:p>
          <a:p>
            <a:pPr algn="l" rtl="0" eaLnBrk="0">
              <a:lnSpc>
                <a:spcPct val="104000"/>
              </a:lnSpc>
            </a:pPr>
            <a:endParaRPr sz="1400" dirty="0">
              <a:latin typeface="Arial" panose="020B0604020202020204" pitchFamily="34" charset="0"/>
              <a:ea typeface="Arial" panose="020B0604020202020204" pitchFamily="34" charset="0"/>
              <a:cs typeface="Arial" panose="020B0604020202020204" pitchFamily="34" charset="0"/>
            </a:endParaRPr>
          </a:p>
          <a:p>
            <a:pPr algn="l" rtl="0" eaLnBrk="0">
              <a:lnSpc>
                <a:spcPct val="13000"/>
              </a:lnSpc>
            </a:pPr>
            <a:endParaRPr sz="100" dirty="0">
              <a:latin typeface="Arial" panose="020B0604020202020204" pitchFamily="34" charset="0"/>
              <a:ea typeface="Arial" panose="020B0604020202020204" pitchFamily="34" charset="0"/>
              <a:cs typeface="Arial" panose="020B0604020202020204" pitchFamily="34" charset="0"/>
            </a:endParaRPr>
          </a:p>
          <a:p>
            <a:pPr marL="541655" algn="l" rtl="0" eaLnBrk="0">
              <a:lnSpc>
                <a:spcPct val="93000"/>
              </a:lnSpc>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(4)</a:t>
            </a:r>
            <a:r>
              <a:rPr sz="2400" b="1"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文件的检验者用共享密钥对密文解密，并检验约定冗余度是否正确</a:t>
            </a:r>
            <a:endParaRPr sz="2400" dirty="0">
              <a:latin typeface="仿宋" panose="02010609060101010101" charset="-122"/>
              <a:ea typeface="仿宋" panose="02010609060101010101" charset="-122"/>
              <a:cs typeface="仿宋" panose="02010609060101010101" charset="-122"/>
            </a:endParaRPr>
          </a:p>
        </p:txBody>
      </p:sp>
      <p:sp>
        <p:nvSpPr>
          <p:cNvPr id="174" name="textbox 174"/>
          <p:cNvSpPr/>
          <p:nvPr/>
        </p:nvSpPr>
        <p:spPr>
          <a:xfrm>
            <a:off x="1570113" y="491245"/>
            <a:ext cx="6323965"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90" dirty="0">
                <a:solidFill>
                  <a:srgbClr val="1F4E79">
                    <a:alpha val="100000"/>
                  </a:srgbClr>
                </a:solidFill>
                <a:latin typeface="仿宋" panose="02010609060101010101" charset="-122"/>
                <a:ea typeface="仿宋" panose="02010609060101010101" charset="-122"/>
                <a:cs typeface="仿宋" panose="02010609060101010101" charset="-122"/>
              </a:rPr>
              <a:t>利用</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CBC</a:t>
            </a:r>
            <a:r>
              <a:rPr sz="3100" b="1" kern="0" spc="90" dirty="0">
                <a:solidFill>
                  <a:srgbClr val="1F4E79">
                    <a:alpha val="100000"/>
                  </a:srgbClr>
                </a:solidFill>
                <a:latin typeface="仿宋" panose="02010609060101010101" charset="-122"/>
                <a:ea typeface="仿宋" panose="02010609060101010101" charset="-122"/>
                <a:cs typeface="仿宋" panose="02010609060101010101" charset="-122"/>
              </a:rPr>
              <a:t>模式实现报文的完整性认证</a:t>
            </a:r>
            <a:endParaRPr sz="3100" dirty="0">
              <a:latin typeface="仿宋" panose="02010609060101010101" charset="-122"/>
              <a:ea typeface="仿宋" panose="02010609060101010101" charset="-122"/>
              <a:cs typeface="仿宋" panose="02010609060101010101" charset="-122"/>
            </a:endParaRPr>
          </a:p>
        </p:txBody>
      </p:sp>
      <p:sp>
        <p:nvSpPr>
          <p:cNvPr id="178" name="path 17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80" name="picture 180"/>
          <p:cNvPicPr>
            <a:picLocks noChangeAspect="1"/>
          </p:cNvPicPr>
          <p:nvPr/>
        </p:nvPicPr>
        <p:blipFill>
          <a:blip r:embed="rId1"/>
          <a:stretch>
            <a:fillRect/>
          </a:stretch>
        </p:blipFill>
        <p:spPr>
          <a:xfrm rot="21600000">
            <a:off x="822960" y="408431"/>
            <a:ext cx="420623" cy="655320"/>
          </a:xfrm>
          <a:prstGeom prst="rect">
            <a:avLst/>
          </a:prstGeom>
        </p:spPr>
      </p:pic>
      <p:sp>
        <p:nvSpPr>
          <p:cNvPr id="182" name="path 18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textbox 184"/>
          <p:cNvSpPr/>
          <p:nvPr/>
        </p:nvSpPr>
        <p:spPr>
          <a:xfrm>
            <a:off x="919073" y="1593639"/>
            <a:ext cx="10253344" cy="205105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(1)</a:t>
            </a:r>
            <a:r>
              <a:rPr sz="2400" b="1"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文件的制造者</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和检验者共享一个密钥；</a:t>
            </a:r>
            <a:endParaRPr sz="2400" dirty="0">
              <a:latin typeface="仿宋" panose="02010609060101010101" charset="-122"/>
              <a:ea typeface="仿宋" panose="02010609060101010101" charset="-122"/>
              <a:cs typeface="仿宋" panose="02010609060101010101" charset="-122"/>
            </a:endParaRPr>
          </a:p>
          <a:p>
            <a:pPr algn="l" rtl="0" eaLnBrk="0">
              <a:lnSpc>
                <a:spcPct val="113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spcBef>
                <a:spcPts val="720"/>
              </a:spcBef>
            </a:pPr>
            <a:r>
              <a:rPr sz="2400"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(2)</a:t>
            </a:r>
            <a:r>
              <a:rPr sz="2400" b="1"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利用文件的明文</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m</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产生一个奇偶校验码</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r</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的分组；</a:t>
            </a:r>
            <a:endParaRPr sz="2400" dirty="0">
              <a:latin typeface="仿宋" panose="02010609060101010101" charset="-122"/>
              <a:ea typeface="仿宋" panose="02010609060101010101" charset="-122"/>
              <a:cs typeface="仿宋" panose="02010609060101010101" charset="-122"/>
            </a:endParaRPr>
          </a:p>
          <a:p>
            <a:pPr algn="l" rtl="0" eaLnBrk="0">
              <a:lnSpc>
                <a:spcPct val="112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43840" indent="-231140" algn="l" rtl="0" eaLnBrk="0">
              <a:lnSpc>
                <a:spcPct val="112000"/>
              </a:lnSpc>
            </a:pPr>
            <a:r>
              <a:rPr sz="2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(3)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采用分组密码的</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CBC</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模</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式，对附带校验码的已扩充的明文</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(m, r)</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进行</a:t>
            </a:r>
            <a:r>
              <a:rPr sz="24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加密，得到的最后一个密文分组就是认证码</a:t>
            </a:r>
            <a:endParaRPr sz="2400" dirty="0">
              <a:latin typeface="仿宋" panose="02010609060101010101" charset="-122"/>
              <a:ea typeface="仿宋" panose="02010609060101010101" charset="-122"/>
              <a:cs typeface="仿宋" panose="02010609060101010101" charset="-122"/>
            </a:endParaRPr>
          </a:p>
        </p:txBody>
      </p:sp>
      <p:sp>
        <p:nvSpPr>
          <p:cNvPr id="186" name="textbox 186"/>
          <p:cNvSpPr/>
          <p:nvPr/>
        </p:nvSpPr>
        <p:spPr>
          <a:xfrm>
            <a:off x="1571329" y="491245"/>
            <a:ext cx="5711825"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80" dirty="0">
                <a:solidFill>
                  <a:srgbClr val="1F4E79">
                    <a:alpha val="100000"/>
                  </a:srgbClr>
                </a:solidFill>
                <a:latin typeface="仿宋" panose="02010609060101010101" charset="-122"/>
                <a:ea typeface="仿宋" panose="02010609060101010101" charset="-122"/>
                <a:cs typeface="仿宋" panose="02010609060101010101" charset="-122"/>
              </a:rPr>
              <a:t>报文完整性认证的具体实现技术</a:t>
            </a:r>
            <a:endParaRPr sz="3100" dirty="0">
              <a:latin typeface="仿宋" panose="02010609060101010101" charset="-122"/>
              <a:ea typeface="仿宋" panose="02010609060101010101" charset="-122"/>
              <a:cs typeface="仿宋" panose="02010609060101010101" charset="-122"/>
            </a:endParaRPr>
          </a:p>
        </p:txBody>
      </p:sp>
      <p:sp>
        <p:nvSpPr>
          <p:cNvPr id="190" name="path 190"/>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92" name="picture 192"/>
          <p:cNvPicPr>
            <a:picLocks noChangeAspect="1"/>
          </p:cNvPicPr>
          <p:nvPr/>
        </p:nvPicPr>
        <p:blipFill>
          <a:blip r:embed="rId1"/>
          <a:stretch>
            <a:fillRect/>
          </a:stretch>
        </p:blipFill>
        <p:spPr>
          <a:xfrm rot="21600000">
            <a:off x="822960" y="408431"/>
            <a:ext cx="420623" cy="655320"/>
          </a:xfrm>
          <a:prstGeom prst="rect">
            <a:avLst/>
          </a:prstGeom>
        </p:spPr>
      </p:pic>
      <p:sp>
        <p:nvSpPr>
          <p:cNvPr id="194" name="path 194"/>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
        <p:nvSpPr>
          <p:cNvPr id="196" name="textbox 196"/>
          <p:cNvSpPr/>
          <p:nvPr/>
        </p:nvSpPr>
        <p:spPr>
          <a:xfrm>
            <a:off x="11008258" y="6481064"/>
            <a:ext cx="168275" cy="16510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76000"/>
              </a:lnSpc>
            </a:pPr>
            <a:r>
              <a:rPr sz="1200" b="1" kern="0" spc="-30" dirty="0">
                <a:solidFill>
                  <a:srgbClr val="898989">
                    <a:alpha val="100000"/>
                  </a:srgbClr>
                </a:solidFill>
                <a:latin typeface="Times New Roman" panose="02020603050405020304"/>
                <a:ea typeface="Times New Roman" panose="02020603050405020304"/>
                <a:cs typeface="Times New Roman" panose="02020603050405020304"/>
              </a:rPr>
              <a:t>13</a:t>
            </a:r>
            <a:endParaRPr sz="12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textbox 198"/>
          <p:cNvSpPr/>
          <p:nvPr/>
        </p:nvSpPr>
        <p:spPr>
          <a:xfrm>
            <a:off x="683768" y="5117027"/>
            <a:ext cx="10804525" cy="1176019"/>
          </a:xfrm>
          <a:prstGeom prst="rect">
            <a:avLst/>
          </a:prstGeom>
          <a:noFill/>
          <a:ln w="0" cap="flat">
            <a:noFill/>
            <a:prstDash val="solid"/>
            <a:miter lim="0"/>
          </a:ln>
        </p:spPr>
        <p:txBody>
          <a:bodyPr vert="horz" wrap="square" lIns="0" tIns="0" rIns="0" bIns="0"/>
          <a:lstStyle/>
          <a:p>
            <a:pPr algn="l" rtl="0" eaLnBrk="0">
              <a:lnSpc>
                <a:spcPct val="96000"/>
              </a:lnSpc>
            </a:pPr>
            <a:endParaRPr sz="100" dirty="0">
              <a:latin typeface="Arial" panose="020B0604020202020204" pitchFamily="34" charset="0"/>
              <a:ea typeface="Arial" panose="020B0604020202020204" pitchFamily="34" charset="0"/>
              <a:cs typeface="Arial" panose="020B0604020202020204" pitchFamily="34" charset="0"/>
            </a:endParaRPr>
          </a:p>
          <a:p>
            <a:pPr marL="558800" indent="-6350" algn="l" rtl="0" eaLnBrk="0">
              <a:lnSpc>
                <a:spcPct val="114000"/>
              </a:lnSpc>
            </a:pPr>
            <a:r>
              <a:rPr sz="2100" b="1" kern="0" spc="40" dirty="0">
                <a:solidFill>
                  <a:srgbClr val="1C1C1C">
                    <a:alpha val="100000"/>
                  </a:srgbClr>
                </a:solidFill>
                <a:latin typeface="Times New Roman" panose="02020603050405020304"/>
                <a:ea typeface="Times New Roman" panose="02020603050405020304"/>
                <a:cs typeface="Times New Roman" panose="02020603050405020304"/>
              </a:rPr>
              <a:t>(1)</a:t>
            </a:r>
            <a:r>
              <a:rPr sz="2100" b="1" kern="0" spc="160" dirty="0">
                <a:solidFill>
                  <a:srgbClr val="1C1C1C">
                    <a:alpha val="100000"/>
                  </a:srgbClr>
                </a:solidFill>
                <a:latin typeface="Times New Roman" panose="02020603050405020304"/>
                <a:ea typeface="Times New Roman" panose="02020603050405020304"/>
                <a:cs typeface="Times New Roman" panose="02020603050405020304"/>
              </a:rPr>
              <a:t> </a:t>
            </a:r>
            <a:r>
              <a:rPr sz="2100" b="1" kern="0" spc="40" dirty="0">
                <a:solidFill>
                  <a:srgbClr val="1C1C1C">
                    <a:alpha val="100000"/>
                  </a:srgbClr>
                </a:solidFill>
                <a:latin typeface="仿宋" panose="02010609060101010101" charset="-122"/>
                <a:ea typeface="仿宋" panose="02010609060101010101" charset="-122"/>
                <a:cs typeface="仿宋" panose="02010609060101010101" charset="-122"/>
              </a:rPr>
              <a:t>仅需对明文认证</a:t>
            </a:r>
            <a:r>
              <a:rPr sz="2100" b="1" kern="0" spc="30" dirty="0">
                <a:solidFill>
                  <a:srgbClr val="1C1C1C">
                    <a:alpha val="100000"/>
                  </a:srgbClr>
                </a:solidFill>
                <a:latin typeface="Times New Roman" panose="02020603050405020304"/>
                <a:ea typeface="Times New Roman" panose="02020603050405020304"/>
                <a:cs typeface="Times New Roman" panose="02020603050405020304"/>
              </a:rPr>
              <a:t>,</a:t>
            </a:r>
            <a:r>
              <a:rPr sz="2100" b="1" kern="0" spc="30" dirty="0">
                <a:solidFill>
                  <a:srgbClr val="1C1C1C">
                    <a:alpha val="100000"/>
                  </a:srgbClr>
                </a:solidFill>
                <a:latin typeface="仿宋" panose="02010609060101010101" charset="-122"/>
                <a:ea typeface="仿宋" panose="02010609060101010101" charset="-122"/>
                <a:cs typeface="仿宋" panose="02010609060101010101" charset="-122"/>
              </a:rPr>
              <a:t>而不需加密时</a:t>
            </a:r>
            <a:r>
              <a:rPr sz="2100" b="1" kern="0" spc="30" dirty="0">
                <a:solidFill>
                  <a:srgbClr val="1C1C1C">
                    <a:alpha val="100000"/>
                  </a:srgbClr>
                </a:solidFill>
                <a:latin typeface="Times New Roman" panose="02020603050405020304"/>
                <a:ea typeface="Times New Roman" panose="02020603050405020304"/>
                <a:cs typeface="Times New Roman" panose="02020603050405020304"/>
              </a:rPr>
              <a:t>,</a:t>
            </a:r>
            <a:r>
              <a:rPr sz="2100" b="1" kern="0" spc="30" dirty="0">
                <a:solidFill>
                  <a:srgbClr val="1C1C1C">
                    <a:alpha val="100000"/>
                  </a:srgbClr>
                </a:solidFill>
                <a:latin typeface="仿宋" panose="02010609060101010101" charset="-122"/>
                <a:ea typeface="仿宋" panose="02010609060101010101" charset="-122"/>
                <a:cs typeface="仿宋" panose="02010609060101010101" charset="-122"/>
              </a:rPr>
              <a:t>传送明文</a:t>
            </a:r>
            <a:r>
              <a:rPr sz="2100" b="1" kern="0" spc="30" dirty="0">
                <a:solidFill>
                  <a:srgbClr val="1C1C1C">
                    <a:alpha val="100000"/>
                  </a:srgbClr>
                </a:solidFill>
                <a:latin typeface="Times New Roman" panose="02020603050405020304"/>
                <a:ea typeface="Times New Roman" panose="02020603050405020304"/>
                <a:cs typeface="Times New Roman" panose="02020603050405020304"/>
              </a:rPr>
              <a:t>m</a:t>
            </a:r>
            <a:r>
              <a:rPr sz="2100" b="1" kern="0" spc="30" dirty="0">
                <a:solidFill>
                  <a:srgbClr val="1C1C1C">
                    <a:alpha val="100000"/>
                  </a:srgbClr>
                </a:solidFill>
                <a:latin typeface="仿宋" panose="02010609060101010101" charset="-122"/>
                <a:ea typeface="仿宋" panose="02010609060101010101" charset="-122"/>
                <a:cs typeface="仿宋" panose="02010609060101010101" charset="-122"/>
              </a:rPr>
              <a:t>和认证码</a:t>
            </a:r>
            <a:r>
              <a:rPr sz="2100" b="1" i="1" kern="0" spc="0" dirty="0">
                <a:solidFill>
                  <a:srgbClr val="1C1C1C">
                    <a:alpha val="100000"/>
                  </a:srgbClr>
                </a:solidFill>
                <a:latin typeface="Times New Roman" panose="02020603050405020304"/>
                <a:ea typeface="Times New Roman" panose="02020603050405020304"/>
                <a:cs typeface="Times New Roman" panose="02020603050405020304"/>
              </a:rPr>
              <a:t>C</a:t>
            </a:r>
            <a:r>
              <a:rPr sz="2200" b="1" i="1" kern="0" spc="0" baseline="-24000" dirty="0">
                <a:solidFill>
                  <a:srgbClr val="1C1C1C">
                    <a:alpha val="100000"/>
                  </a:srgbClr>
                </a:solidFill>
                <a:latin typeface="Times New Roman" panose="02020603050405020304"/>
                <a:ea typeface="Times New Roman" panose="02020603050405020304"/>
                <a:cs typeface="Times New Roman" panose="02020603050405020304"/>
              </a:rPr>
              <a:t>n</a:t>
            </a:r>
            <a:r>
              <a:rPr sz="2200" b="1" i="1" kern="0" spc="30" baseline="-24000" dirty="0">
                <a:solidFill>
                  <a:srgbClr val="1C1C1C">
                    <a:alpha val="100000"/>
                  </a:srgbClr>
                </a:solidFill>
                <a:latin typeface="Times New Roman" panose="02020603050405020304"/>
                <a:ea typeface="Times New Roman" panose="02020603050405020304"/>
                <a:cs typeface="Times New Roman" panose="02020603050405020304"/>
              </a:rPr>
              <a:t>+1</a:t>
            </a:r>
            <a:r>
              <a:rPr sz="1400" b="1" i="1" kern="0" spc="-200" dirty="0">
                <a:solidFill>
                  <a:srgbClr val="1C1C1C">
                    <a:alpha val="100000"/>
                  </a:srgbClr>
                </a:solidFill>
                <a:latin typeface="Times New Roman" panose="02020603050405020304"/>
                <a:ea typeface="Times New Roman" panose="02020603050405020304"/>
                <a:cs typeface="Times New Roman" panose="02020603050405020304"/>
              </a:rPr>
              <a:t> </a:t>
            </a:r>
            <a:r>
              <a:rPr sz="2300" b="1" i="1" kern="0" spc="30" baseline="-23000" dirty="0">
                <a:solidFill>
                  <a:srgbClr val="1C1C1C">
                    <a:alpha val="100000"/>
                  </a:srgbClr>
                </a:solidFill>
                <a:latin typeface="仿宋" panose="02010609060101010101" charset="-122"/>
                <a:ea typeface="仿宋" panose="02010609060101010101" charset="-122"/>
                <a:cs typeface="仿宋" panose="02010609060101010101" charset="-122"/>
              </a:rPr>
              <a:t>，</a:t>
            </a:r>
            <a:r>
              <a:rPr sz="2100" b="1" kern="0" spc="30" dirty="0">
                <a:solidFill>
                  <a:srgbClr val="1C1C1C">
                    <a:alpha val="100000"/>
                  </a:srgbClr>
                </a:solidFill>
                <a:latin typeface="仿宋" panose="02010609060101010101" charset="-122"/>
                <a:ea typeface="仿宋" panose="02010609060101010101" charset="-122"/>
                <a:cs typeface="仿宋" panose="02010609060101010101" charset="-122"/>
              </a:rPr>
              <a:t>此时也可仅保留</a:t>
            </a:r>
            <a:r>
              <a:rPr sz="2100" kern="0" spc="0" dirty="0">
                <a:solidFill>
                  <a:srgbClr val="1C1C1C">
                    <a:alpha val="100000"/>
                  </a:srgbClr>
                </a:solidFill>
                <a:latin typeface="仿宋" panose="02010609060101010101" charset="-122"/>
                <a:ea typeface="仿宋" panose="02010609060101010101" charset="-122"/>
                <a:cs typeface="仿宋" panose="02010609060101010101" charset="-122"/>
              </a:rPr>
              <a:t>         </a:t>
            </a:r>
            <a:r>
              <a:rPr sz="2100" b="1" i="1" kern="0" spc="-30" dirty="0">
                <a:solidFill>
                  <a:srgbClr val="1C1C1C">
                    <a:alpha val="100000"/>
                  </a:srgbClr>
                </a:solidFill>
                <a:latin typeface="Times New Roman" panose="02020603050405020304"/>
                <a:ea typeface="Times New Roman" panose="02020603050405020304"/>
                <a:cs typeface="Times New Roman" panose="02020603050405020304"/>
              </a:rPr>
              <a:t>C</a:t>
            </a:r>
            <a:r>
              <a:rPr sz="2200" b="1" i="1" kern="0" spc="-30" baseline="-24000" dirty="0">
                <a:solidFill>
                  <a:srgbClr val="1C1C1C">
                    <a:alpha val="100000"/>
                  </a:srgbClr>
                </a:solidFill>
                <a:latin typeface="Times New Roman" panose="02020603050405020304"/>
                <a:ea typeface="Times New Roman" panose="02020603050405020304"/>
                <a:cs typeface="Times New Roman" panose="02020603050405020304"/>
              </a:rPr>
              <a:t>n+1</a:t>
            </a:r>
            <a:r>
              <a:rPr sz="1400" b="1" i="1" kern="0" spc="-30" dirty="0">
                <a:solidFill>
                  <a:srgbClr val="1C1C1C">
                    <a:alpha val="100000"/>
                  </a:srgbClr>
                </a:solidFill>
                <a:latin typeface="Times New Roman" panose="02020603050405020304"/>
                <a:ea typeface="Times New Roman" panose="02020603050405020304"/>
                <a:cs typeface="Times New Roman" panose="02020603050405020304"/>
              </a:rPr>
              <a:t> </a:t>
            </a:r>
            <a:r>
              <a:rPr sz="2100" b="1" kern="0" spc="-30" dirty="0">
                <a:solidFill>
                  <a:srgbClr val="1C1C1C">
                    <a:alpha val="100000"/>
                  </a:srgbClr>
                </a:solidFill>
                <a:latin typeface="仿宋" panose="02010609060101010101" charset="-122"/>
                <a:ea typeface="仿宋" panose="02010609060101010101" charset="-122"/>
                <a:cs typeface="仿宋" panose="02010609060101010101" charset="-122"/>
              </a:rPr>
              <a:t>的</a:t>
            </a:r>
            <a:r>
              <a:rPr sz="2100" kern="0" spc="-450" dirty="0">
                <a:solidFill>
                  <a:srgbClr val="1C1C1C">
                    <a:alpha val="100000"/>
                  </a:srgbClr>
                </a:solidFill>
                <a:latin typeface="仿宋" panose="02010609060101010101" charset="-122"/>
                <a:ea typeface="仿宋" panose="02010609060101010101" charset="-122"/>
                <a:cs typeface="仿宋" panose="02010609060101010101" charset="-122"/>
              </a:rPr>
              <a:t> </a:t>
            </a:r>
            <a:r>
              <a:rPr sz="2100" b="1" kern="0" spc="-30" dirty="0">
                <a:solidFill>
                  <a:srgbClr val="1C1C1C">
                    <a:alpha val="100000"/>
                  </a:srgbClr>
                </a:solidFill>
                <a:latin typeface="Times New Roman" panose="02020603050405020304"/>
                <a:ea typeface="Times New Roman" panose="02020603050405020304"/>
                <a:cs typeface="Times New Roman" panose="02020603050405020304"/>
              </a:rPr>
              <a:t>t</a:t>
            </a:r>
            <a:r>
              <a:rPr sz="2100" b="1" kern="0" spc="180" dirty="0">
                <a:solidFill>
                  <a:srgbClr val="1C1C1C">
                    <a:alpha val="100000"/>
                  </a:srgbClr>
                </a:solidFill>
                <a:latin typeface="Times New Roman" panose="02020603050405020304"/>
                <a:ea typeface="Times New Roman" panose="02020603050405020304"/>
                <a:cs typeface="Times New Roman" panose="02020603050405020304"/>
              </a:rPr>
              <a:t> </a:t>
            </a:r>
            <a:r>
              <a:rPr sz="2100" b="1" kern="0" spc="-30" dirty="0">
                <a:solidFill>
                  <a:srgbClr val="1C1C1C">
                    <a:alpha val="100000"/>
                  </a:srgbClr>
                </a:solidFill>
                <a:latin typeface="仿宋" panose="02010609060101010101" charset="-122"/>
                <a:ea typeface="仿宋" panose="02010609060101010101" charset="-122"/>
                <a:cs typeface="仿宋" panose="02010609060101010101" charset="-122"/>
              </a:rPr>
              <a:t>个比特作为认证码；</a:t>
            </a:r>
            <a:endParaRPr sz="2100" dirty="0">
              <a:latin typeface="仿宋" panose="02010609060101010101" charset="-122"/>
              <a:ea typeface="仿宋" panose="02010609060101010101" charset="-122"/>
              <a:cs typeface="仿宋" panose="02010609060101010101" charset="-122"/>
            </a:endParaRPr>
          </a:p>
          <a:p>
            <a:pPr algn="l" rtl="0" eaLnBrk="0">
              <a:lnSpc>
                <a:spcPct val="101000"/>
              </a:lnSpc>
            </a:pPr>
            <a:endParaRPr sz="6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6000"/>
              </a:lnSpc>
              <a:tabLst>
                <a:tab pos="552450" algn="l"/>
                <a:tab pos="10791825" algn="l"/>
              </a:tabLst>
            </a:pPr>
            <a:r>
              <a:rPr sz="2100" u="sng" kern="0" spc="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	</a:t>
            </a:r>
            <a:r>
              <a:rPr sz="3300" b="1" u="sng" kern="0" spc="-10" baseline="1600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(2)</a:t>
            </a:r>
            <a:r>
              <a:rPr sz="2100" b="1" u="sng" kern="0" spc="40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 </a:t>
            </a:r>
            <a:r>
              <a:rPr sz="3300" b="1" u="sng" kern="0" spc="-10" baseline="16000" dirty="0">
                <a:solidFill>
                  <a:srgbClr val="1C1C1C">
                    <a:alpha val="100000"/>
                  </a:srgbClr>
                </a:solidFill>
                <a:uFill>
                  <a:solidFill>
                    <a:srgbClr val="5B9BD5"/>
                  </a:solidFill>
                </a:uFill>
                <a:latin typeface="仿宋" panose="02010609060101010101" charset="-122"/>
                <a:ea typeface="仿宋" panose="02010609060101010101" charset="-122"/>
                <a:cs typeface="仿宋" panose="02010609060101010101" charset="-122"/>
              </a:rPr>
              <a:t>既需对明文认证</a:t>
            </a:r>
            <a:r>
              <a:rPr sz="3300" b="1" u="sng" kern="0" spc="-10" baseline="1600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a:t>
            </a:r>
            <a:r>
              <a:rPr sz="3300" b="1" u="sng" kern="0" spc="-10" baseline="16000" dirty="0">
                <a:solidFill>
                  <a:srgbClr val="1C1C1C">
                    <a:alpha val="100000"/>
                  </a:srgbClr>
                </a:solidFill>
                <a:uFill>
                  <a:solidFill>
                    <a:srgbClr val="5B9BD5"/>
                  </a:solidFill>
                </a:uFill>
                <a:latin typeface="仿宋" panose="02010609060101010101" charset="-122"/>
                <a:ea typeface="仿宋" panose="02010609060101010101" charset="-122"/>
                <a:cs typeface="仿宋" panose="02010609060101010101" charset="-122"/>
              </a:rPr>
              <a:t>又需要加密时</a:t>
            </a:r>
            <a:r>
              <a:rPr sz="3300" b="1" u="sng" kern="0" spc="-10" baseline="1600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a:t>
            </a:r>
            <a:r>
              <a:rPr sz="3300" b="1" u="sng" kern="0" spc="-10" baseline="16000" dirty="0">
                <a:solidFill>
                  <a:srgbClr val="1C1C1C">
                    <a:alpha val="100000"/>
                  </a:srgbClr>
                </a:solidFill>
                <a:uFill>
                  <a:solidFill>
                    <a:srgbClr val="5B9BD5"/>
                  </a:solidFill>
                </a:uFill>
                <a:latin typeface="仿宋" panose="02010609060101010101" charset="-122"/>
                <a:ea typeface="仿宋" panose="02010609060101010101" charset="-122"/>
                <a:cs typeface="仿宋" panose="02010609060101010101" charset="-122"/>
              </a:rPr>
              <a:t>传送密文</a:t>
            </a:r>
            <a:r>
              <a:rPr sz="3300" b="1" u="sng" kern="0" spc="-10" baseline="1600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C</a:t>
            </a:r>
            <a:r>
              <a:rPr sz="3300" b="1" u="sng" kern="0" spc="-10" baseline="16000" dirty="0">
                <a:solidFill>
                  <a:srgbClr val="1C1C1C">
                    <a:alpha val="100000"/>
                  </a:srgbClr>
                </a:solidFill>
                <a:uFill>
                  <a:solidFill>
                    <a:srgbClr val="5B9BD5"/>
                  </a:solidFill>
                </a:uFill>
                <a:latin typeface="仿宋" panose="02010609060101010101" charset="-122"/>
                <a:ea typeface="仿宋" panose="02010609060101010101" charset="-122"/>
                <a:cs typeface="仿宋" panose="02010609060101010101" charset="-122"/>
              </a:rPr>
              <a:t>和认证码</a:t>
            </a:r>
            <a:r>
              <a:rPr sz="3300" b="1" i="1" u="sng" kern="0" spc="-10" baseline="1600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C</a:t>
            </a:r>
            <a:r>
              <a:rPr sz="1400" b="1" i="1" u="sng" kern="0" spc="-1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n+1</a:t>
            </a:r>
            <a:r>
              <a:rPr sz="1400" b="1" i="1" u="sng" kern="0" spc="0" dirty="0">
                <a:solidFill>
                  <a:srgbClr val="1C1C1C">
                    <a:alpha val="100000"/>
                  </a:srgbClr>
                </a:solidFill>
                <a:uFill>
                  <a:solidFill>
                    <a:srgbClr val="5B9BD5"/>
                  </a:solidFill>
                </a:uFill>
                <a:latin typeface="Times New Roman" panose="02020603050405020304"/>
                <a:ea typeface="Times New Roman" panose="02020603050405020304"/>
                <a:cs typeface="Times New Roman" panose="02020603050405020304"/>
              </a:rPr>
              <a:t>	</a:t>
            </a:r>
            <a:endParaRPr sz="1400" dirty="0">
              <a:latin typeface="Times New Roman" panose="02020603050405020304"/>
              <a:ea typeface="Times New Roman" panose="02020603050405020304"/>
              <a:cs typeface="Times New Roman" panose="02020603050405020304"/>
            </a:endParaRPr>
          </a:p>
        </p:txBody>
      </p:sp>
      <p:sp>
        <p:nvSpPr>
          <p:cNvPr id="200" name="textbox 200"/>
          <p:cNvSpPr/>
          <p:nvPr/>
        </p:nvSpPr>
        <p:spPr>
          <a:xfrm>
            <a:off x="1924755" y="1105112"/>
            <a:ext cx="5656579" cy="1226819"/>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pitchFamily="34" charset="0"/>
              <a:ea typeface="Arial" panose="020B0604020202020204" pitchFamily="34" charset="0"/>
              <a:cs typeface="Arial" panose="020B0604020202020204" pitchFamily="34" charset="0"/>
            </a:endParaRPr>
          </a:p>
          <a:p>
            <a:pPr marL="1802765" indent="-1177925" algn="l" rtl="0" eaLnBrk="0">
              <a:lnSpc>
                <a:spcPct val="103000"/>
              </a:lnSpc>
            </a:pPr>
            <a:r>
              <a:rPr sz="2100" b="1" i="1" kern="0" spc="0" dirty="0">
                <a:solidFill>
                  <a:srgbClr val="1C1C1C">
                    <a:alpha val="100000"/>
                  </a:srgbClr>
                </a:solidFill>
                <a:latin typeface="Times New Roman" panose="02020603050405020304"/>
                <a:ea typeface="Times New Roman" panose="02020603050405020304"/>
                <a:cs typeface="Times New Roman" panose="02020603050405020304"/>
              </a:rPr>
              <a:t>n</a:t>
            </a:r>
            <a:r>
              <a:rPr sz="2100" b="1" kern="0" spc="0" dirty="0">
                <a:solidFill>
                  <a:srgbClr val="1C1C1C">
                    <a:alpha val="100000"/>
                  </a:srgbClr>
                </a:solidFill>
                <a:latin typeface="仿宋" panose="02010609060101010101" charset="-122"/>
                <a:ea typeface="仿宋" panose="02010609060101010101" charset="-122"/>
                <a:cs typeface="仿宋" panose="02010609060101010101" charset="-122"/>
              </a:rPr>
              <a:t>个分组明文</a:t>
            </a:r>
            <a:r>
              <a:rPr sz="2100" kern="0" spc="-600" dirty="0">
                <a:solidFill>
                  <a:srgbClr val="1C1C1C">
                    <a:alpha val="100000"/>
                  </a:srgbClr>
                </a:solidFill>
                <a:latin typeface="仿宋" panose="02010609060101010101" charset="-122"/>
                <a:ea typeface="仿宋" panose="02010609060101010101" charset="-122"/>
                <a:cs typeface="仿宋" panose="02010609060101010101" charset="-122"/>
              </a:rPr>
              <a:t> </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m </a:t>
            </a:r>
            <a:r>
              <a:rPr sz="2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6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600" kern="0" spc="0" dirty="0">
                <a:solidFill>
                  <a:srgbClr val="000000">
                    <a:alpha val="100000"/>
                  </a:srgbClr>
                </a:solidFill>
                <a:latin typeface="Times New Roman" panose="02020603050405020304"/>
                <a:ea typeface="Times New Roman" panose="02020603050405020304"/>
                <a:cs typeface="Times New Roman" panose="02020603050405020304"/>
              </a:rPr>
              <a:t>(</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0" baseline="-27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360" dirty="0">
                <a:solidFill>
                  <a:srgbClr val="000000">
                    <a:alpha val="100000"/>
                  </a:srgbClr>
                </a:solidFill>
                <a:latin typeface="Times New Roman" panose="02020603050405020304"/>
                <a:ea typeface="Times New Roman" panose="02020603050405020304"/>
                <a:cs typeface="Times New Roman" panose="02020603050405020304"/>
              </a:rPr>
              <a:t> </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m</a:t>
            </a:r>
            <a:r>
              <a:rPr sz="2300" i="1" kern="0" spc="0" baseline="-27000" dirty="0">
                <a:solidFill>
                  <a:srgbClr val="000000">
                    <a:alpha val="100000"/>
                  </a:srgbClr>
                </a:solidFill>
                <a:latin typeface="Times New Roman" panose="02020603050405020304"/>
                <a:ea typeface="Times New Roman" panose="02020603050405020304"/>
                <a:cs typeface="Times New Roman" panose="02020603050405020304"/>
              </a:rPr>
              <a:t>n</a:t>
            </a:r>
            <a:r>
              <a:rPr sz="1400"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0" dirty="0">
                <a:solidFill>
                  <a:srgbClr val="000000">
                    <a:alpha val="100000"/>
                  </a:srgbClr>
                </a:solidFill>
                <a:latin typeface="Times New Roman" panose="02020603050405020304"/>
                <a:ea typeface="Times New Roman" panose="02020603050405020304"/>
                <a:cs typeface="Times New Roman" panose="02020603050405020304"/>
              </a:rPr>
              <a:t>)</a:t>
            </a:r>
            <a:r>
              <a:rPr sz="2600" kern="0" spc="350" dirty="0">
                <a:solidFill>
                  <a:srgbClr val="000000">
                    <a:alpha val="100000"/>
                  </a:srgbClr>
                </a:solidFill>
                <a:latin typeface="Times New Roman" panose="02020603050405020304"/>
                <a:ea typeface="Times New Roman" panose="02020603050405020304"/>
                <a:cs typeface="Times New Roman" panose="02020603050405020304"/>
              </a:rPr>
              <a:t> </a:t>
            </a:r>
            <a:r>
              <a:rPr sz="2100" b="1" kern="0" spc="0" dirty="0">
                <a:solidFill>
                  <a:srgbClr val="1C1C1C">
                    <a:alpha val="100000"/>
                  </a:srgbClr>
                </a:solidFill>
                <a:latin typeface="Times New Roman" panose="02020603050405020304"/>
                <a:ea typeface="Times New Roman" panose="02020603050405020304"/>
                <a:cs typeface="Times New Roman" panose="02020603050405020304"/>
              </a:rPr>
              <a:t>, </a:t>
            </a:r>
            <a:r>
              <a:rPr sz="2100" b="1" kern="0" spc="0" dirty="0">
                <a:solidFill>
                  <a:srgbClr val="1C1C1C">
                    <a:alpha val="100000"/>
                  </a:srgbClr>
                </a:solidFill>
                <a:latin typeface="仿宋" panose="02010609060101010101" charset="-122"/>
                <a:ea typeface="仿宋" panose="02010609060101010101" charset="-122"/>
                <a:cs typeface="仿宋" panose="02010609060101010101" charset="-122"/>
              </a:rPr>
              <a:t>校验码为</a:t>
            </a:r>
            <a:r>
              <a:rPr sz="2100" kern="0" spc="0" dirty="0">
                <a:solidFill>
                  <a:srgbClr val="1C1C1C">
                    <a:alpha val="100000"/>
                  </a:srgbClr>
                </a:solidFill>
                <a:latin typeface="仿宋" panose="02010609060101010101" charset="-122"/>
                <a:ea typeface="仿宋" panose="02010609060101010101" charset="-122"/>
                <a:cs typeface="仿宋" panose="02010609060101010101" charset="-122"/>
              </a:rPr>
              <a:t> </a:t>
            </a:r>
            <a:r>
              <a:rPr sz="2500" i="1" kern="0" spc="-40" dirty="0">
                <a:solidFill>
                  <a:srgbClr val="000000">
                    <a:alpha val="100000"/>
                  </a:srgbClr>
                </a:solidFill>
                <a:latin typeface="Times New Roman" panose="02020603050405020304"/>
                <a:ea typeface="Times New Roman" panose="02020603050405020304"/>
                <a:cs typeface="Times New Roman" panose="02020603050405020304"/>
              </a:rPr>
              <a:t>r </a:t>
            </a:r>
            <a:r>
              <a:rPr sz="2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5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500" i="1" kern="0" spc="-40" dirty="0">
                <a:solidFill>
                  <a:srgbClr val="000000">
                    <a:alpha val="100000"/>
                  </a:srgbClr>
                </a:solidFill>
                <a:latin typeface="Times New Roman" panose="02020603050405020304"/>
                <a:ea typeface="Times New Roman" panose="02020603050405020304"/>
                <a:cs typeface="Times New Roman" panose="02020603050405020304"/>
              </a:rPr>
              <a:t>m</a:t>
            </a:r>
            <a:r>
              <a:rPr sz="2200" i="1" kern="0" spc="-40" baseline="-24000" dirty="0">
                <a:solidFill>
                  <a:srgbClr val="000000">
                    <a:alpha val="100000"/>
                  </a:srgbClr>
                </a:solidFill>
                <a:latin typeface="Times New Roman" panose="02020603050405020304"/>
                <a:ea typeface="Times New Roman" panose="02020603050405020304"/>
                <a:cs typeface="Times New Roman" panose="02020603050405020304"/>
              </a:rPr>
              <a:t>n</a:t>
            </a:r>
            <a:r>
              <a:rPr sz="2200" kern="0" spc="-40" baseline="-24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200" kern="0" spc="-40" baseline="-24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5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500" i="1" kern="0" spc="-130" dirty="0">
                <a:solidFill>
                  <a:srgbClr val="000000">
                    <a:alpha val="100000"/>
                  </a:srgbClr>
                </a:solidFill>
                <a:latin typeface="Times New Roman" panose="02020603050405020304"/>
                <a:ea typeface="Times New Roman" panose="02020603050405020304"/>
                <a:cs typeface="Times New Roman" panose="02020603050405020304"/>
              </a:rPr>
              <a:t>m</a:t>
            </a:r>
            <a:r>
              <a:rPr sz="2200" kern="0" spc="-130" baseline="-24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田</a:t>
            </a:r>
            <a:r>
              <a:rPr sz="25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500"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田</a:t>
            </a:r>
            <a:r>
              <a:rPr sz="2500"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500" i="1" kern="0" spc="-250" dirty="0">
                <a:solidFill>
                  <a:srgbClr val="000000">
                    <a:alpha val="100000"/>
                  </a:srgbClr>
                </a:solidFill>
                <a:latin typeface="Times New Roman" panose="02020603050405020304"/>
                <a:ea typeface="Times New Roman" panose="02020603050405020304"/>
                <a:cs typeface="Times New Roman" panose="02020603050405020304"/>
              </a:rPr>
              <a:t>m</a:t>
            </a:r>
            <a:r>
              <a:rPr sz="2200" i="1" kern="0" spc="50" baseline="-24000" dirty="0">
                <a:solidFill>
                  <a:srgbClr val="000000">
                    <a:alpha val="100000"/>
                  </a:srgbClr>
                </a:solidFill>
                <a:latin typeface="Times New Roman" panose="02020603050405020304"/>
                <a:ea typeface="Times New Roman" panose="02020603050405020304"/>
                <a:cs typeface="Times New Roman" panose="02020603050405020304"/>
              </a:rPr>
              <a:t>n</a:t>
            </a:r>
            <a:endParaRPr sz="2200" baseline="-24000" dirty="0">
              <a:latin typeface="Times New Roman" panose="02020603050405020304"/>
              <a:ea typeface="Times New Roman" panose="02020603050405020304"/>
              <a:cs typeface="Times New Roman" panose="02020603050405020304"/>
            </a:endParaRPr>
          </a:p>
          <a:p>
            <a:pPr marL="12700" algn="l" rtl="0" eaLnBrk="0">
              <a:lnSpc>
                <a:spcPts val="2685"/>
              </a:lnSpc>
              <a:spcBef>
                <a:spcPts val="465"/>
              </a:spcBef>
            </a:pPr>
            <a:r>
              <a:rPr sz="2100" b="1" i="1" kern="0" spc="-130" dirty="0">
                <a:solidFill>
                  <a:srgbClr val="1C1C1C">
                    <a:alpha val="100000"/>
                  </a:srgbClr>
                </a:solidFill>
                <a:latin typeface="Times New Roman" panose="02020603050405020304"/>
                <a:ea typeface="Times New Roman" panose="02020603050405020304"/>
                <a:cs typeface="Times New Roman" panose="02020603050405020304"/>
              </a:rPr>
              <a:t>C</a:t>
            </a:r>
            <a:r>
              <a:rPr sz="2200" b="1" i="1" kern="0" spc="-130" baseline="-19000" dirty="0">
                <a:solidFill>
                  <a:srgbClr val="1C1C1C">
                    <a:alpha val="100000"/>
                  </a:srgbClr>
                </a:solidFill>
                <a:latin typeface="Times New Roman" panose="02020603050405020304"/>
                <a:ea typeface="Times New Roman" panose="02020603050405020304"/>
                <a:cs typeface="Times New Roman" panose="02020603050405020304"/>
              </a:rPr>
              <a:t>n+1</a:t>
            </a:r>
            <a:r>
              <a:rPr sz="1400" b="1" i="1" kern="0" spc="-100" dirty="0">
                <a:solidFill>
                  <a:srgbClr val="1C1C1C">
                    <a:alpha val="100000"/>
                  </a:srgbClr>
                </a:solidFill>
                <a:latin typeface="Times New Roman" panose="02020603050405020304"/>
                <a:ea typeface="Times New Roman" panose="02020603050405020304"/>
                <a:cs typeface="Times New Roman" panose="02020603050405020304"/>
              </a:rPr>
              <a:t> </a:t>
            </a:r>
            <a:r>
              <a:rPr sz="2100" b="1" kern="0" spc="-130" dirty="0">
                <a:solidFill>
                  <a:srgbClr val="1C1C1C">
                    <a:alpha val="100000"/>
                  </a:srgbClr>
                </a:solidFill>
                <a:latin typeface="仿宋" panose="02010609060101010101" charset="-122"/>
                <a:ea typeface="仿宋" panose="02010609060101010101" charset="-122"/>
                <a:cs typeface="仿宋" panose="02010609060101010101" charset="-122"/>
              </a:rPr>
              <a:t>为认证码。</a:t>
            </a:r>
            <a:endParaRPr sz="2100" dirty="0">
              <a:latin typeface="仿宋" panose="02010609060101010101" charset="-122"/>
              <a:ea typeface="仿宋" panose="02010609060101010101" charset="-122"/>
              <a:cs typeface="仿宋" panose="02010609060101010101" charset="-122"/>
            </a:endParaRPr>
          </a:p>
        </p:txBody>
      </p:sp>
      <p:pic>
        <p:nvPicPr>
          <p:cNvPr id="202" name="picture 202"/>
          <p:cNvPicPr>
            <a:picLocks noChangeAspect="1"/>
          </p:cNvPicPr>
          <p:nvPr/>
        </p:nvPicPr>
        <p:blipFill>
          <a:blip r:embed="rId1"/>
          <a:stretch>
            <a:fillRect/>
          </a:stretch>
        </p:blipFill>
        <p:spPr>
          <a:xfrm rot="21600000">
            <a:off x="5833106" y="1638111"/>
            <a:ext cx="288551" cy="49079"/>
          </a:xfrm>
          <a:prstGeom prst="rect">
            <a:avLst/>
          </a:prstGeom>
        </p:spPr>
      </p:pic>
      <p:pic>
        <p:nvPicPr>
          <p:cNvPr id="204" name="picture 204"/>
          <p:cNvPicPr>
            <a:picLocks noChangeAspect="1"/>
          </p:cNvPicPr>
          <p:nvPr/>
        </p:nvPicPr>
        <p:blipFill>
          <a:blip r:embed="rId2"/>
          <a:stretch>
            <a:fillRect/>
          </a:stretch>
        </p:blipFill>
        <p:spPr>
          <a:xfrm rot="21600000">
            <a:off x="5321186" y="1231719"/>
            <a:ext cx="290216" cy="50370"/>
          </a:xfrm>
          <a:prstGeom prst="rect">
            <a:avLst/>
          </a:prstGeom>
        </p:spPr>
      </p:pic>
      <p:sp>
        <p:nvSpPr>
          <p:cNvPr id="206" name="path 206"/>
          <p:cNvSpPr/>
          <p:nvPr/>
        </p:nvSpPr>
        <p:spPr>
          <a:xfrm>
            <a:off x="3221735" y="3319272"/>
            <a:ext cx="2133600" cy="624839"/>
          </a:xfrm>
          <a:custGeom>
            <a:avLst/>
            <a:gdLst/>
            <a:ahLst/>
            <a:cxnLst/>
            <a:rect l="0" t="0" r="0" b="0"/>
            <a:pathLst>
              <a:path w="3360" h="983">
                <a:moveTo>
                  <a:pt x="2056" y="976"/>
                </a:moveTo>
                <a:lnTo>
                  <a:pt x="3352" y="976"/>
                </a:lnTo>
                <a:lnTo>
                  <a:pt x="3352" y="7"/>
                </a:lnTo>
                <a:lnTo>
                  <a:pt x="2056" y="7"/>
                </a:lnTo>
                <a:lnTo>
                  <a:pt x="2056" y="976"/>
                </a:lnTo>
                <a:close/>
                <a:moveTo>
                  <a:pt x="7" y="976"/>
                </a:moveTo>
                <a:lnTo>
                  <a:pt x="1303" y="976"/>
                </a:lnTo>
                <a:lnTo>
                  <a:pt x="1303" y="7"/>
                </a:lnTo>
                <a:lnTo>
                  <a:pt x="7" y="7"/>
                </a:lnTo>
                <a:lnTo>
                  <a:pt x="7" y="976"/>
                </a:lnTo>
                <a:close/>
              </a:path>
            </a:pathLst>
          </a:custGeom>
          <a:noFill/>
          <a:ln w="9143" cap="flat">
            <a:solidFill>
              <a:srgbClr val="000000"/>
            </a:solidFill>
            <a:prstDash val="solid"/>
            <a:miter lim="1000000"/>
          </a:ln>
        </p:spPr>
        <p:txBody>
          <a:bodyPr rtlCol="0"/>
          <a:lstStyle/>
          <a:p>
            <a:pPr algn="ctr"/>
            <a:endParaRPr lang="zh-CN" altLang="en-US"/>
          </a:p>
        </p:txBody>
      </p:sp>
      <p:pic>
        <p:nvPicPr>
          <p:cNvPr id="208" name="picture 208"/>
          <p:cNvPicPr>
            <a:picLocks noChangeAspect="1"/>
          </p:cNvPicPr>
          <p:nvPr/>
        </p:nvPicPr>
        <p:blipFill>
          <a:blip r:embed="rId3"/>
          <a:stretch>
            <a:fillRect/>
          </a:stretch>
        </p:blipFill>
        <p:spPr>
          <a:xfrm rot="21600000">
            <a:off x="3599688" y="2775204"/>
            <a:ext cx="76200" cy="548639"/>
          </a:xfrm>
          <a:prstGeom prst="rect">
            <a:avLst/>
          </a:prstGeom>
        </p:spPr>
      </p:pic>
      <p:pic>
        <p:nvPicPr>
          <p:cNvPr id="210" name="picture 210"/>
          <p:cNvPicPr>
            <a:picLocks noChangeAspect="1"/>
          </p:cNvPicPr>
          <p:nvPr/>
        </p:nvPicPr>
        <p:blipFill>
          <a:blip r:embed="rId4"/>
          <a:stretch>
            <a:fillRect/>
          </a:stretch>
        </p:blipFill>
        <p:spPr>
          <a:xfrm rot="21600000">
            <a:off x="4901183" y="2775204"/>
            <a:ext cx="76200" cy="548639"/>
          </a:xfrm>
          <a:prstGeom prst="rect">
            <a:avLst/>
          </a:prstGeom>
        </p:spPr>
      </p:pic>
      <p:grpSp>
        <p:nvGrpSpPr>
          <p:cNvPr id="14" name="group 14"/>
          <p:cNvGrpSpPr/>
          <p:nvPr/>
        </p:nvGrpSpPr>
        <p:grpSpPr>
          <a:xfrm rot="21600000">
            <a:off x="3496056" y="2868168"/>
            <a:ext cx="1584959" cy="310895"/>
            <a:chOff x="0" y="0"/>
            <a:chExt cx="1584959" cy="310895"/>
          </a:xfrm>
        </p:grpSpPr>
        <p:sp>
          <p:nvSpPr>
            <p:cNvPr id="212" name="path 212"/>
            <p:cNvSpPr/>
            <p:nvPr/>
          </p:nvSpPr>
          <p:spPr>
            <a:xfrm>
              <a:off x="4571" y="4571"/>
              <a:ext cx="289559" cy="289559"/>
            </a:xfrm>
            <a:custGeom>
              <a:avLst/>
              <a:gdLst/>
              <a:ahLst/>
              <a:cxnLst/>
              <a:rect l="0" t="0" r="0" b="0"/>
              <a:pathLst>
                <a:path w="455" h="455">
                  <a:moveTo>
                    <a:pt x="0" y="227"/>
                  </a:moveTo>
                  <a:cubicBezTo>
                    <a:pt x="0" y="101"/>
                    <a:pt x="102" y="0"/>
                    <a:pt x="227" y="0"/>
                  </a:cubicBezTo>
                  <a:cubicBezTo>
                    <a:pt x="353" y="0"/>
                    <a:pt x="455" y="101"/>
                    <a:pt x="455" y="227"/>
                  </a:cubicBezTo>
                  <a:cubicBezTo>
                    <a:pt x="455" y="353"/>
                    <a:pt x="353" y="455"/>
                    <a:pt x="227" y="455"/>
                  </a:cubicBezTo>
                  <a:cubicBezTo>
                    <a:pt x="102" y="455"/>
                    <a:pt x="0" y="353"/>
                    <a:pt x="0" y="227"/>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14" name="path 214"/>
            <p:cNvSpPr/>
            <p:nvPr/>
          </p:nvSpPr>
          <p:spPr>
            <a:xfrm>
              <a:off x="0" y="0"/>
              <a:ext cx="298703" cy="298703"/>
            </a:xfrm>
            <a:custGeom>
              <a:avLst/>
              <a:gdLst/>
              <a:ahLst/>
              <a:cxnLst/>
              <a:rect l="0" t="0" r="0" b="0"/>
              <a:pathLst>
                <a:path w="470" h="470">
                  <a:moveTo>
                    <a:pt x="235" y="7"/>
                  </a:moveTo>
                  <a:lnTo>
                    <a:pt x="235" y="463"/>
                  </a:lnTo>
                  <a:moveTo>
                    <a:pt x="7" y="235"/>
                  </a:moveTo>
                  <a:cubicBezTo>
                    <a:pt x="7" y="109"/>
                    <a:pt x="109" y="7"/>
                    <a:pt x="235" y="7"/>
                  </a:cubicBezTo>
                  <a:cubicBezTo>
                    <a:pt x="361" y="7"/>
                    <a:pt x="463" y="109"/>
                    <a:pt x="463" y="235"/>
                  </a:cubicBezTo>
                  <a:cubicBezTo>
                    <a:pt x="463" y="361"/>
                    <a:pt x="361" y="463"/>
                    <a:pt x="235" y="463"/>
                  </a:cubicBezTo>
                  <a:cubicBezTo>
                    <a:pt x="109" y="463"/>
                    <a:pt x="7" y="361"/>
                    <a:pt x="7" y="235"/>
                  </a:cubicBezTo>
                </a:path>
              </a:pathLst>
            </a:custGeom>
            <a:noFill/>
            <a:ln w="9143" cap="flat">
              <a:solidFill>
                <a:srgbClr val="FF00FF"/>
              </a:solidFill>
              <a:prstDash val="solid"/>
              <a:round/>
            </a:ln>
          </p:spPr>
          <p:txBody>
            <a:bodyPr rtlCol="0"/>
            <a:lstStyle/>
            <a:p>
              <a:pPr algn="ctr"/>
              <a:endParaRPr lang="zh-CN" altLang="en-US"/>
            </a:p>
          </p:txBody>
        </p:sp>
        <p:sp>
          <p:nvSpPr>
            <p:cNvPr id="216" name="path 216"/>
            <p:cNvSpPr/>
            <p:nvPr/>
          </p:nvSpPr>
          <p:spPr>
            <a:xfrm>
              <a:off x="1293875" y="19811"/>
              <a:ext cx="286511" cy="286511"/>
            </a:xfrm>
            <a:custGeom>
              <a:avLst/>
              <a:gdLst/>
              <a:ahLst/>
              <a:cxnLst/>
              <a:rect l="0" t="0" r="0" b="0"/>
              <a:pathLst>
                <a:path w="451" h="451">
                  <a:moveTo>
                    <a:pt x="0" y="225"/>
                  </a:moveTo>
                  <a:cubicBezTo>
                    <a:pt x="0" y="101"/>
                    <a:pt x="101" y="0"/>
                    <a:pt x="225" y="0"/>
                  </a:cubicBezTo>
                  <a:cubicBezTo>
                    <a:pt x="350" y="0"/>
                    <a:pt x="451" y="101"/>
                    <a:pt x="451" y="225"/>
                  </a:cubicBezTo>
                  <a:cubicBezTo>
                    <a:pt x="451" y="350"/>
                    <a:pt x="350" y="451"/>
                    <a:pt x="225" y="451"/>
                  </a:cubicBezTo>
                  <a:cubicBezTo>
                    <a:pt x="101" y="451"/>
                    <a:pt x="0" y="350"/>
                    <a:pt x="0" y="225"/>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18" name="path 218"/>
            <p:cNvSpPr/>
            <p:nvPr/>
          </p:nvSpPr>
          <p:spPr>
            <a:xfrm>
              <a:off x="1289303" y="15239"/>
              <a:ext cx="295655" cy="295655"/>
            </a:xfrm>
            <a:custGeom>
              <a:avLst/>
              <a:gdLst/>
              <a:ahLst/>
              <a:cxnLst/>
              <a:rect l="0" t="0" r="0" b="0"/>
              <a:pathLst>
                <a:path w="465" h="465">
                  <a:moveTo>
                    <a:pt x="232" y="7"/>
                  </a:moveTo>
                  <a:lnTo>
                    <a:pt x="232" y="458"/>
                  </a:lnTo>
                  <a:moveTo>
                    <a:pt x="7" y="232"/>
                  </a:moveTo>
                  <a:cubicBezTo>
                    <a:pt x="7" y="108"/>
                    <a:pt x="108" y="7"/>
                    <a:pt x="232" y="7"/>
                  </a:cubicBezTo>
                  <a:cubicBezTo>
                    <a:pt x="357" y="7"/>
                    <a:pt x="458" y="108"/>
                    <a:pt x="458" y="232"/>
                  </a:cubicBezTo>
                  <a:cubicBezTo>
                    <a:pt x="458" y="357"/>
                    <a:pt x="357" y="458"/>
                    <a:pt x="232" y="458"/>
                  </a:cubicBezTo>
                  <a:cubicBezTo>
                    <a:pt x="108" y="458"/>
                    <a:pt x="7" y="357"/>
                    <a:pt x="7" y="232"/>
                  </a:cubicBezTo>
                </a:path>
              </a:pathLst>
            </a:custGeom>
            <a:noFill/>
            <a:ln w="9143" cap="flat">
              <a:solidFill>
                <a:srgbClr val="FF00FF"/>
              </a:solidFill>
              <a:prstDash val="solid"/>
              <a:round/>
            </a:ln>
          </p:spPr>
          <p:txBody>
            <a:bodyPr rtlCol="0"/>
            <a:lstStyle/>
            <a:p>
              <a:pPr algn="ctr"/>
              <a:endParaRPr lang="zh-CN" altLang="en-US"/>
            </a:p>
          </p:txBody>
        </p:sp>
      </p:grpSp>
      <p:pic>
        <p:nvPicPr>
          <p:cNvPr id="220" name="picture 220"/>
          <p:cNvPicPr>
            <a:picLocks noChangeAspect="1"/>
          </p:cNvPicPr>
          <p:nvPr/>
        </p:nvPicPr>
        <p:blipFill>
          <a:blip r:embed="rId5"/>
          <a:stretch>
            <a:fillRect/>
          </a:stretch>
        </p:blipFill>
        <p:spPr>
          <a:xfrm rot="21600000">
            <a:off x="4901183" y="3939540"/>
            <a:ext cx="76200" cy="548639"/>
          </a:xfrm>
          <a:prstGeom prst="rect">
            <a:avLst/>
          </a:prstGeom>
        </p:spPr>
      </p:pic>
      <p:pic>
        <p:nvPicPr>
          <p:cNvPr id="222" name="picture 222"/>
          <p:cNvPicPr>
            <a:picLocks noChangeAspect="1"/>
          </p:cNvPicPr>
          <p:nvPr/>
        </p:nvPicPr>
        <p:blipFill>
          <a:blip r:embed="rId6"/>
          <a:stretch>
            <a:fillRect/>
          </a:stretch>
        </p:blipFill>
        <p:spPr>
          <a:xfrm rot="21600000">
            <a:off x="3599688" y="3939540"/>
            <a:ext cx="76200" cy="548639"/>
          </a:xfrm>
          <a:prstGeom prst="rect">
            <a:avLst/>
          </a:prstGeom>
        </p:spPr>
      </p:pic>
      <p:sp>
        <p:nvSpPr>
          <p:cNvPr id="224" name="path 224"/>
          <p:cNvSpPr/>
          <p:nvPr/>
        </p:nvSpPr>
        <p:spPr>
          <a:xfrm>
            <a:off x="3622548" y="4130040"/>
            <a:ext cx="1950719" cy="9144"/>
          </a:xfrm>
          <a:custGeom>
            <a:avLst/>
            <a:gdLst/>
            <a:ahLst/>
            <a:cxnLst/>
            <a:rect l="0" t="0" r="0" b="0"/>
            <a:pathLst>
              <a:path w="3071" h="14">
                <a:moveTo>
                  <a:pt x="0" y="7"/>
                </a:moveTo>
                <a:lnTo>
                  <a:pt x="974" y="7"/>
                </a:lnTo>
                <a:moveTo>
                  <a:pt x="2102" y="7"/>
                </a:moveTo>
                <a:lnTo>
                  <a:pt x="3071" y="7"/>
                </a:lnTo>
              </a:path>
            </a:pathLst>
          </a:custGeom>
          <a:noFill/>
          <a:ln w="9143" cap="flat">
            <a:solidFill>
              <a:srgbClr val="FF00FF"/>
            </a:solidFill>
            <a:prstDash val="solid"/>
            <a:round/>
          </a:ln>
        </p:spPr>
        <p:txBody>
          <a:bodyPr rtlCol="0"/>
          <a:lstStyle/>
          <a:p>
            <a:pPr algn="ctr"/>
            <a:endParaRPr lang="zh-CN" altLang="en-US"/>
          </a:p>
        </p:txBody>
      </p:sp>
      <p:sp>
        <p:nvSpPr>
          <p:cNvPr id="226" name="textbox 226"/>
          <p:cNvSpPr/>
          <p:nvPr/>
        </p:nvSpPr>
        <p:spPr>
          <a:xfrm>
            <a:off x="2939287" y="2524962"/>
            <a:ext cx="2409825" cy="1622425"/>
          </a:xfrm>
          <a:prstGeom prst="rect">
            <a:avLst/>
          </a:prstGeom>
          <a:noFill/>
          <a:ln w="0" cap="flat">
            <a:noFill/>
            <a:prstDash val="solid"/>
            <a:miter lim="0"/>
          </a:ln>
        </p:spPr>
        <p:txBody>
          <a:bodyPr vert="horz" wrap="square" lIns="0" tIns="0" rIns="0" bIns="0"/>
          <a:lstStyle/>
          <a:p>
            <a:pPr algn="l" rtl="0" eaLnBrk="0">
              <a:lnSpc>
                <a:spcPct val="107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65000"/>
              </a:lnSpc>
              <a:tabLst>
                <a:tab pos="770255" algn="l"/>
              </a:tabLst>
            </a:pPr>
            <a:r>
              <a:rPr sz="26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50" baseline="2300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50" baseline="5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50" dirty="0">
                <a:solidFill>
                  <a:srgbClr val="FF00FF">
                    <a:alpha val="100000"/>
                  </a:srgbClr>
                </a:solidFill>
                <a:latin typeface="微软雅黑" panose="020B0503020204020204" charset="-122"/>
                <a:ea typeface="微软雅黑" panose="020B0503020204020204" charset="-122"/>
                <a:cs typeface="微软雅黑" panose="020B0503020204020204" charset="-122"/>
              </a:rPr>
              <a:t>一</a:t>
            </a:r>
            <a:r>
              <a:rPr sz="5200" i="1" u="sng" kern="0" spc="450" dirty="0">
                <a:solidFill>
                  <a:srgbClr val="000000">
                    <a:alpha val="100000"/>
                  </a:srgbClr>
                </a:solidFill>
                <a:uFill>
                  <a:solidFill>
                    <a:srgbClr val="FF00FF"/>
                  </a:solidFill>
                </a:uFill>
                <a:latin typeface="Times New Roman" panose="02020603050405020304"/>
                <a:ea typeface="Times New Roman" panose="02020603050405020304"/>
                <a:cs typeface="Times New Roman" panose="02020603050405020304"/>
              </a:rPr>
              <a:t> </a:t>
            </a:r>
            <a:r>
              <a:rPr sz="4000" i="1" u="sng" kern="0" spc="50" baseline="2300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50" baseline="5000" dirty="0">
                <a:solidFill>
                  <a:srgbClr val="000000">
                    <a:alpha val="100000"/>
                  </a:srgbClr>
                </a:solidFill>
                <a:latin typeface="Times New Roman" panose="02020603050405020304"/>
                <a:ea typeface="Times New Roman" panose="02020603050405020304"/>
                <a:cs typeface="Times New Roman" panose="02020603050405020304"/>
              </a:rPr>
              <a:t>3</a:t>
            </a:r>
            <a:endParaRPr sz="2300" baseline="5000" dirty="0">
              <a:latin typeface="Times New Roman" panose="02020603050405020304"/>
              <a:ea typeface="Times New Roman" panose="02020603050405020304"/>
              <a:cs typeface="Times New Roman" panose="02020603050405020304"/>
            </a:endParaRPr>
          </a:p>
          <a:p>
            <a:pPr algn="l" rtl="0" eaLnBrk="0">
              <a:lnSpc>
                <a:spcPct val="11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15000"/>
              </a:lnSpc>
            </a:pPr>
            <a:endParaRPr sz="500" dirty="0">
              <a:latin typeface="Arial" panose="020B0604020202020204" pitchFamily="34" charset="0"/>
              <a:ea typeface="Arial" panose="020B0604020202020204" pitchFamily="34" charset="0"/>
              <a:cs typeface="Arial" panose="020B0604020202020204" pitchFamily="34" charset="0"/>
            </a:endParaRPr>
          </a:p>
          <a:p>
            <a:pPr marL="372110" algn="l" rtl="0" eaLnBrk="0">
              <a:lnSpc>
                <a:spcPct val="93000"/>
              </a:lnSpc>
              <a:spcBef>
                <a:spcPts val="5"/>
              </a:spcBef>
            </a:pPr>
            <a:r>
              <a:rPr sz="2300" i="1" kern="0" spc="-100" dirty="0">
                <a:solidFill>
                  <a:srgbClr val="000000">
                    <a:alpha val="100000"/>
                  </a:srgbClr>
                </a:solidFill>
                <a:latin typeface="Times New Roman" panose="02020603050405020304"/>
                <a:ea typeface="Times New Roman" panose="02020603050405020304"/>
                <a:cs typeface="Times New Roman" panose="02020603050405020304"/>
              </a:rPr>
              <a:t>E</a:t>
            </a:r>
            <a:r>
              <a:rPr sz="2300" i="1" kern="0" spc="-100" baseline="-25000" dirty="0">
                <a:solidFill>
                  <a:srgbClr val="000000">
                    <a:alpha val="100000"/>
                  </a:srgbClr>
                </a:solidFill>
                <a:latin typeface="Times New Roman" panose="02020603050405020304"/>
                <a:ea typeface="Times New Roman" panose="02020603050405020304"/>
                <a:cs typeface="Times New Roman" panose="02020603050405020304"/>
              </a:rPr>
              <a:t>k</a:t>
            </a:r>
            <a:r>
              <a:rPr sz="14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60" dirty="0">
                <a:solidFill>
                  <a:srgbClr val="000000">
                    <a:alpha val="100000"/>
                  </a:srgbClr>
                </a:solidFill>
                <a:latin typeface="Times New Roman" panose="02020603050405020304"/>
                <a:ea typeface="Times New Roman" panose="02020603050405020304"/>
                <a:cs typeface="Times New Roman" panose="02020603050405020304"/>
              </a:rPr>
              <a:t>(</a:t>
            </a:r>
            <a:r>
              <a:rPr sz="2300" i="1" kern="0" spc="-60" dirty="0">
                <a:solidFill>
                  <a:srgbClr val="000000">
                    <a:alpha val="100000"/>
                  </a:srgbClr>
                </a:solidFill>
                <a:latin typeface="Times New Roman" panose="02020603050405020304"/>
                <a:ea typeface="Times New Roman" panose="02020603050405020304"/>
                <a:cs typeface="Times New Roman" panose="02020603050405020304"/>
              </a:rPr>
              <a:t>x</a:t>
            </a:r>
            <a:r>
              <a:rPr sz="2300" kern="0" spc="-60" dirty="0">
                <a:solidFill>
                  <a:srgbClr val="000000">
                    <a:alpha val="100000"/>
                  </a:srgbClr>
                </a:solidFill>
                <a:latin typeface="Times New Roman" panose="02020603050405020304"/>
                <a:ea typeface="Times New Roman" panose="02020603050405020304"/>
                <a:cs typeface="Times New Roman" panose="02020603050405020304"/>
              </a:rPr>
              <a:t>)</a:t>
            </a:r>
            <a:r>
              <a:rPr sz="23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300" i="1" kern="0" spc="-60" dirty="0">
                <a:solidFill>
                  <a:srgbClr val="000000">
                    <a:alpha val="100000"/>
                  </a:srgbClr>
                </a:solidFill>
                <a:latin typeface="Times New Roman" panose="02020603050405020304"/>
                <a:ea typeface="Times New Roman" panose="02020603050405020304"/>
                <a:cs typeface="Times New Roman" panose="02020603050405020304"/>
              </a:rPr>
              <a:t>E</a:t>
            </a:r>
            <a:r>
              <a:rPr sz="2300" i="1" kern="0" spc="-60" baseline="-25000" dirty="0">
                <a:solidFill>
                  <a:srgbClr val="000000">
                    <a:alpha val="100000"/>
                  </a:srgbClr>
                </a:solidFill>
                <a:latin typeface="Times New Roman" panose="02020603050405020304"/>
                <a:ea typeface="Times New Roman" panose="02020603050405020304"/>
                <a:cs typeface="Times New Roman" panose="02020603050405020304"/>
              </a:rPr>
              <a:t>k</a:t>
            </a:r>
            <a:r>
              <a:rPr sz="1400" i="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60" dirty="0">
                <a:solidFill>
                  <a:srgbClr val="000000">
                    <a:alpha val="100000"/>
                  </a:srgbClr>
                </a:solidFill>
                <a:latin typeface="Times New Roman" panose="02020603050405020304"/>
                <a:ea typeface="Times New Roman" panose="02020603050405020304"/>
                <a:cs typeface="Times New Roman" panose="02020603050405020304"/>
              </a:rPr>
              <a:t>(</a:t>
            </a:r>
            <a:r>
              <a:rPr sz="2300" i="1" kern="0" spc="-60" dirty="0">
                <a:solidFill>
                  <a:srgbClr val="000000">
                    <a:alpha val="100000"/>
                  </a:srgbClr>
                </a:solidFill>
                <a:latin typeface="Times New Roman" panose="02020603050405020304"/>
                <a:ea typeface="Times New Roman" panose="02020603050405020304"/>
                <a:cs typeface="Times New Roman" panose="02020603050405020304"/>
              </a:rPr>
              <a:t>x</a:t>
            </a:r>
            <a:r>
              <a:rPr sz="2300" kern="0" spc="-60" dirty="0">
                <a:solidFill>
                  <a:srgbClr val="000000">
                    <a:alpha val="100000"/>
                  </a:srgbClr>
                </a:solidFill>
                <a:latin typeface="Times New Roman" panose="02020603050405020304"/>
                <a:ea typeface="Times New Roman" panose="02020603050405020304"/>
                <a:cs typeface="Times New Roman" panose="02020603050405020304"/>
              </a:rPr>
              <a:t>)</a:t>
            </a:r>
            <a:endParaRPr sz="2300" dirty="0">
              <a:latin typeface="Times New Roman" panose="02020603050405020304"/>
              <a:ea typeface="Times New Roman" panose="02020603050405020304"/>
              <a:cs typeface="Times New Roman" panose="02020603050405020304"/>
            </a:endParaRPr>
          </a:p>
        </p:txBody>
      </p:sp>
      <p:sp>
        <p:nvSpPr>
          <p:cNvPr id="228" name="path 228"/>
          <p:cNvSpPr/>
          <p:nvPr/>
        </p:nvSpPr>
        <p:spPr>
          <a:xfrm>
            <a:off x="4234166" y="3056382"/>
            <a:ext cx="9143" cy="1078230"/>
          </a:xfrm>
          <a:custGeom>
            <a:avLst/>
            <a:gdLst/>
            <a:ahLst/>
            <a:cxnLst/>
            <a:rect l="0" t="0" r="0" b="0"/>
            <a:pathLst>
              <a:path w="14" h="1698">
                <a:moveTo>
                  <a:pt x="7" y="0"/>
                </a:moveTo>
                <a:lnTo>
                  <a:pt x="7" y="1698"/>
                </a:lnTo>
              </a:path>
            </a:pathLst>
          </a:custGeom>
          <a:noFill/>
          <a:ln w="8985" cap="flat">
            <a:solidFill>
              <a:srgbClr val="FF00FF"/>
            </a:solidFill>
            <a:prstDash val="solid"/>
            <a:round/>
          </a:ln>
        </p:spPr>
        <p:txBody>
          <a:bodyPr rtlCol="0"/>
          <a:lstStyle/>
          <a:p>
            <a:pPr algn="ctr"/>
            <a:endParaRPr lang="zh-CN" altLang="en-US"/>
          </a:p>
        </p:txBody>
      </p:sp>
      <p:sp>
        <p:nvSpPr>
          <p:cNvPr id="230" name="textbox 230"/>
          <p:cNvSpPr/>
          <p:nvPr/>
        </p:nvSpPr>
        <p:spPr>
          <a:xfrm>
            <a:off x="7959545" y="3024632"/>
            <a:ext cx="2175510" cy="1867535"/>
          </a:xfrm>
          <a:prstGeom prst="rect">
            <a:avLst/>
          </a:prstGeom>
          <a:noFill/>
          <a:ln w="0" cap="flat">
            <a:noFill/>
            <a:prstDash val="solid"/>
            <a:miter lim="0"/>
          </a:ln>
        </p:spPr>
        <p:txBody>
          <a:bodyPr vert="horz" wrap="square" lIns="0" tIns="0" rIns="0" bIns="0"/>
          <a:lstStyle/>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0000"/>
              </a:lnSpc>
            </a:pPr>
            <a:r>
              <a:rPr sz="2400" b="1" i="1" kern="0" spc="0" dirty="0">
                <a:solidFill>
                  <a:srgbClr val="1C1C1C">
                    <a:alpha val="100000"/>
                  </a:srgbClr>
                </a:solidFill>
                <a:latin typeface="Times New Roman" panose="02020603050405020304"/>
                <a:ea typeface="Times New Roman" panose="02020603050405020304"/>
                <a:cs typeface="Times New Roman" panose="02020603050405020304"/>
              </a:rPr>
              <a:t>E</a:t>
            </a:r>
            <a:r>
              <a:rPr sz="2400" b="1" i="1" kern="0" spc="0" baseline="-20000" dirty="0">
                <a:solidFill>
                  <a:srgbClr val="1C1C1C">
                    <a:alpha val="100000"/>
                  </a:srgbClr>
                </a:solidFill>
                <a:latin typeface="Times New Roman" panose="02020603050405020304"/>
                <a:ea typeface="Times New Roman" panose="02020603050405020304"/>
                <a:cs typeface="Times New Roman" panose="02020603050405020304"/>
              </a:rPr>
              <a:t>k</a:t>
            </a:r>
            <a:r>
              <a:rPr sz="2400" b="1" i="1" u="sng" kern="0" spc="-230" dirty="0">
                <a:solidFill>
                  <a:srgbClr val="1C1C1C">
                    <a:alpha val="100000"/>
                  </a:srgbClr>
                </a:solidFill>
                <a:uFill>
                  <a:solidFill>
                    <a:srgbClr val="FF00FF"/>
                  </a:solidFill>
                </a:uFill>
                <a:latin typeface="Times New Roman" panose="02020603050405020304"/>
                <a:ea typeface="Times New Roman" panose="02020603050405020304"/>
                <a:cs typeface="Times New Roman" panose="02020603050405020304"/>
              </a:rPr>
              <a:t> </a:t>
            </a:r>
            <a:r>
              <a:rPr sz="2400" b="1" u="sng" kern="0" spc="0" dirty="0">
                <a:solidFill>
                  <a:srgbClr val="1C1C1C">
                    <a:alpha val="100000"/>
                  </a:srgbClr>
                </a:solidFill>
                <a:uFill>
                  <a:solidFill>
                    <a:srgbClr val="FF00FF"/>
                  </a:solidFill>
                </a:uFill>
                <a:latin typeface="Times New Roman" panose="02020603050405020304"/>
                <a:ea typeface="Times New Roman" panose="02020603050405020304"/>
                <a:cs typeface="Times New Roman" panose="02020603050405020304"/>
              </a:rPr>
              <a:t>(</a:t>
            </a:r>
            <a:r>
              <a:rPr sz="2400" b="1" i="1" u="sng" kern="0" spc="0" dirty="0">
                <a:solidFill>
                  <a:srgbClr val="1C1C1C">
                    <a:alpha val="100000"/>
                  </a:srgbClr>
                </a:solidFill>
                <a:uFill>
                  <a:solidFill>
                    <a:srgbClr val="FF00FF"/>
                  </a:solidFill>
                </a:uFill>
                <a:latin typeface="Times New Roman" panose="02020603050405020304"/>
                <a:ea typeface="Times New Roman" panose="02020603050405020304"/>
                <a:cs typeface="Times New Roman" panose="02020603050405020304"/>
              </a:rPr>
              <a:t>x</a:t>
            </a:r>
            <a:r>
              <a:rPr sz="2400" b="1" u="sng" kern="0" spc="0" dirty="0">
                <a:solidFill>
                  <a:srgbClr val="1C1C1C">
                    <a:alpha val="100000"/>
                  </a:srgbClr>
                </a:solidFill>
                <a:uFill>
                  <a:solidFill>
                    <a:srgbClr val="FF00FF"/>
                  </a:solidFill>
                </a:uFill>
                <a:latin typeface="Times New Roman" panose="02020603050405020304"/>
                <a:ea typeface="Times New Roman" panose="02020603050405020304"/>
                <a:cs typeface="Times New Roman" panose="02020603050405020304"/>
              </a:rPr>
              <a:t>)</a:t>
            </a:r>
            <a:r>
              <a:rPr sz="2400" b="1" u="sng" kern="0" spc="230" dirty="0">
                <a:solidFill>
                  <a:srgbClr val="1C1C1C">
                    <a:alpha val="100000"/>
                  </a:srgbClr>
                </a:solidFill>
                <a:uFill>
                  <a:solidFill>
                    <a:srgbClr val="FF00FF"/>
                  </a:solidFill>
                </a:uFill>
                <a:latin typeface="Times New Roman" panose="02020603050405020304"/>
                <a:ea typeface="Times New Roman" panose="02020603050405020304"/>
                <a:cs typeface="Times New Roman" panose="02020603050405020304"/>
              </a:rPr>
              <a:t>  </a:t>
            </a:r>
            <a:r>
              <a:rPr sz="2400" b="1" kern="0" spc="130" dirty="0">
                <a:solidFill>
                  <a:srgbClr val="1C1C1C">
                    <a:alpha val="100000"/>
                  </a:srgbClr>
                </a:solidFill>
                <a:latin typeface="Times New Roman" panose="02020603050405020304"/>
                <a:ea typeface="Times New Roman" panose="02020603050405020304"/>
                <a:cs typeface="Times New Roman" panose="02020603050405020304"/>
              </a:rPr>
              <a:t>    </a:t>
            </a:r>
            <a:r>
              <a:rPr sz="2400" b="1" i="1" kern="0" spc="0" dirty="0">
                <a:solidFill>
                  <a:srgbClr val="1C1C1C">
                    <a:alpha val="100000"/>
                  </a:srgbClr>
                </a:solidFill>
                <a:latin typeface="Times New Roman" panose="02020603050405020304"/>
                <a:ea typeface="Times New Roman" panose="02020603050405020304"/>
                <a:cs typeface="Times New Roman" panose="02020603050405020304"/>
              </a:rPr>
              <a:t>E</a:t>
            </a:r>
            <a:r>
              <a:rPr sz="2400" b="1" i="1" kern="0" spc="0" baseline="-20000" dirty="0">
                <a:solidFill>
                  <a:srgbClr val="1C1C1C">
                    <a:alpha val="100000"/>
                  </a:srgbClr>
                </a:solidFill>
                <a:latin typeface="Times New Roman" panose="02020603050405020304"/>
                <a:ea typeface="Times New Roman" panose="02020603050405020304"/>
                <a:cs typeface="Times New Roman" panose="02020603050405020304"/>
              </a:rPr>
              <a:t>k</a:t>
            </a:r>
            <a:r>
              <a:rPr sz="1500" b="1" i="1" kern="0" spc="0" dirty="0">
                <a:solidFill>
                  <a:srgbClr val="1C1C1C">
                    <a:alpha val="100000"/>
                  </a:srgbClr>
                </a:solidFill>
                <a:latin typeface="Times New Roman" panose="02020603050405020304"/>
                <a:ea typeface="Times New Roman" panose="02020603050405020304"/>
                <a:cs typeface="Times New Roman" panose="02020603050405020304"/>
              </a:rPr>
              <a:t> </a:t>
            </a:r>
            <a:r>
              <a:rPr sz="2400" b="1" kern="0" spc="0" dirty="0">
                <a:solidFill>
                  <a:srgbClr val="1C1C1C">
                    <a:alpha val="100000"/>
                  </a:srgbClr>
                </a:solidFill>
                <a:latin typeface="Times New Roman" panose="02020603050405020304"/>
                <a:ea typeface="Times New Roman" panose="02020603050405020304"/>
                <a:cs typeface="Times New Roman" panose="02020603050405020304"/>
              </a:rPr>
              <a:t>(</a:t>
            </a:r>
            <a:r>
              <a:rPr sz="2400" b="1" i="1" kern="0" spc="0" dirty="0">
                <a:solidFill>
                  <a:srgbClr val="1C1C1C">
                    <a:alpha val="100000"/>
                  </a:srgbClr>
                </a:solidFill>
                <a:latin typeface="Times New Roman" panose="02020603050405020304"/>
                <a:ea typeface="Times New Roman" panose="02020603050405020304"/>
                <a:cs typeface="Times New Roman" panose="02020603050405020304"/>
              </a:rPr>
              <a:t>x</a:t>
            </a:r>
            <a:r>
              <a:rPr sz="2400" b="1" kern="0" spc="0" dirty="0">
                <a:solidFill>
                  <a:srgbClr val="1C1C1C">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p>
            <a:pPr algn="l"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9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9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9000"/>
              </a:lnSpc>
            </a:pPr>
            <a:endParaRPr sz="600" dirty="0">
              <a:latin typeface="Arial" panose="020B0604020202020204" pitchFamily="34" charset="0"/>
              <a:ea typeface="Arial" panose="020B0604020202020204" pitchFamily="34" charset="0"/>
              <a:cs typeface="Arial" panose="020B0604020202020204" pitchFamily="34" charset="0"/>
            </a:endParaRPr>
          </a:p>
          <a:p>
            <a:pPr algn="r" rtl="0" eaLnBrk="0">
              <a:lnSpc>
                <a:spcPts val="3435"/>
              </a:lnSpc>
              <a:spcBef>
                <a:spcPts val="5"/>
              </a:spcBef>
            </a:pPr>
            <a:r>
              <a:rPr sz="4000" i="1" kern="0" spc="-50" baseline="17000" dirty="0">
                <a:solidFill>
                  <a:srgbClr val="000000">
                    <a:alpha val="100000"/>
                  </a:srgbClr>
                </a:solidFill>
                <a:latin typeface="Times New Roman" panose="02020603050405020304"/>
                <a:ea typeface="Times New Roman" panose="02020603050405020304"/>
                <a:cs typeface="Times New Roman" panose="02020603050405020304"/>
              </a:rPr>
              <a:t>c</a:t>
            </a:r>
            <a:r>
              <a:rPr sz="2300" i="1" kern="0" spc="-50" baseline="3000" dirty="0">
                <a:solidFill>
                  <a:srgbClr val="000000">
                    <a:alpha val="100000"/>
                  </a:srgbClr>
                </a:solidFill>
                <a:latin typeface="Times New Roman" panose="02020603050405020304"/>
                <a:ea typeface="Times New Roman" panose="02020603050405020304"/>
                <a:cs typeface="Times New Roman" panose="02020603050405020304"/>
              </a:rPr>
              <a:t>n</a:t>
            </a:r>
            <a:r>
              <a:rPr sz="14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400"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50" baseline="17000" dirty="0">
                <a:solidFill>
                  <a:srgbClr val="000000">
                    <a:alpha val="100000"/>
                  </a:srgbClr>
                </a:solidFill>
                <a:latin typeface="Times New Roman" panose="02020603050405020304"/>
                <a:ea typeface="Times New Roman" panose="02020603050405020304"/>
                <a:cs typeface="Times New Roman" panose="02020603050405020304"/>
              </a:rPr>
              <a:t>c</a:t>
            </a:r>
            <a:r>
              <a:rPr sz="2300" i="1" kern="0" spc="-50" baseline="3000" dirty="0">
                <a:solidFill>
                  <a:srgbClr val="000000">
                    <a:alpha val="100000"/>
                  </a:srgbClr>
                </a:solidFill>
                <a:latin typeface="Times New Roman" panose="02020603050405020304"/>
                <a:ea typeface="Times New Roman" panose="02020603050405020304"/>
                <a:cs typeface="Times New Roman" panose="02020603050405020304"/>
              </a:rPr>
              <a:t>n</a:t>
            </a:r>
            <a:r>
              <a:rPr sz="2300" kern="0" spc="-50" baseline="3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300" kern="0" spc="-50" baseline="3000" dirty="0">
                <a:solidFill>
                  <a:srgbClr val="000000">
                    <a:alpha val="100000"/>
                  </a:srgbClr>
                </a:solidFill>
                <a:latin typeface="Times New Roman" panose="02020603050405020304"/>
                <a:ea typeface="Times New Roman" panose="02020603050405020304"/>
                <a:cs typeface="Times New Roman" panose="02020603050405020304"/>
              </a:rPr>
              <a:t>1</a:t>
            </a:r>
            <a:endParaRPr sz="2300" baseline="3000" dirty="0">
              <a:latin typeface="Times New Roman" panose="02020603050405020304"/>
              <a:ea typeface="Times New Roman" panose="02020603050405020304"/>
              <a:cs typeface="Times New Roman" panose="02020603050405020304"/>
            </a:endParaRPr>
          </a:p>
        </p:txBody>
      </p:sp>
      <p:sp>
        <p:nvSpPr>
          <p:cNvPr id="232" name="path 232"/>
          <p:cNvSpPr/>
          <p:nvPr/>
        </p:nvSpPr>
        <p:spPr>
          <a:xfrm>
            <a:off x="8889415" y="3037332"/>
            <a:ext cx="9143" cy="1097280"/>
          </a:xfrm>
          <a:custGeom>
            <a:avLst/>
            <a:gdLst/>
            <a:ahLst/>
            <a:cxnLst/>
            <a:rect l="0" t="0" r="0" b="0"/>
            <a:pathLst>
              <a:path w="14" h="1728">
                <a:moveTo>
                  <a:pt x="7" y="0"/>
                </a:moveTo>
                <a:lnTo>
                  <a:pt x="7" y="1728"/>
                </a:lnTo>
              </a:path>
            </a:pathLst>
          </a:custGeom>
          <a:noFill/>
          <a:ln w="9143" cap="flat">
            <a:solidFill>
              <a:srgbClr val="FF00FF"/>
            </a:solidFill>
            <a:prstDash val="solid"/>
            <a:round/>
          </a:ln>
        </p:spPr>
        <p:txBody>
          <a:bodyPr rtlCol="0"/>
          <a:lstStyle/>
          <a:p>
            <a:pPr algn="ctr"/>
            <a:endParaRPr lang="zh-CN" altLang="en-US"/>
          </a:p>
        </p:txBody>
      </p:sp>
      <p:sp>
        <p:nvSpPr>
          <p:cNvPr id="236" name="textbox 236"/>
          <p:cNvSpPr/>
          <p:nvPr/>
        </p:nvSpPr>
        <p:spPr>
          <a:xfrm>
            <a:off x="1572950" y="466861"/>
            <a:ext cx="2036445" cy="485775"/>
          </a:xfrm>
          <a:prstGeom prst="rect">
            <a:avLst/>
          </a:prstGeom>
          <a:noFill/>
          <a:ln w="0" cap="flat">
            <a:noFill/>
            <a:prstDash val="solid"/>
            <a:miter lim="0"/>
          </a:ln>
        </p:spPr>
        <p:txBody>
          <a:bodyPr vert="horz" wrap="square" lIns="0" tIns="0" rIns="0" bIns="0"/>
          <a:lstStyle/>
          <a:p>
            <a:pPr algn="l" rtl="0" eaLnBrk="0">
              <a:lnSpc>
                <a:spcPct val="9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40" dirty="0">
                <a:solidFill>
                  <a:srgbClr val="1C1C1C">
                    <a:alpha val="100000"/>
                  </a:srgbClr>
                </a:solidFill>
                <a:latin typeface="仿宋" panose="02010609060101010101" charset="-122"/>
                <a:ea typeface="仿宋" panose="02010609060101010101" charset="-122"/>
                <a:cs typeface="仿宋" panose="02010609060101010101" charset="-122"/>
              </a:rPr>
              <a:t>认证码生成</a:t>
            </a:r>
            <a:endParaRPr sz="3100" dirty="0">
              <a:latin typeface="仿宋" panose="02010609060101010101" charset="-122"/>
              <a:ea typeface="仿宋" panose="02010609060101010101" charset="-122"/>
              <a:cs typeface="仿宋" panose="02010609060101010101" charset="-122"/>
            </a:endParaRPr>
          </a:p>
        </p:txBody>
      </p:sp>
      <p:graphicFrame>
        <p:nvGraphicFramePr>
          <p:cNvPr id="238" name="table 238"/>
          <p:cNvGraphicFramePr>
            <a:graphicFrameLocks noGrp="1"/>
          </p:cNvGraphicFramePr>
          <p:nvPr/>
        </p:nvGraphicFramePr>
        <p:xfrm>
          <a:off x="1886711" y="3319272"/>
          <a:ext cx="865504" cy="624204"/>
        </p:xfrm>
        <a:graphic>
          <a:graphicData uri="http://schemas.openxmlformats.org/drawingml/2006/table">
            <a:tbl>
              <a:tblPr/>
              <a:tblGrid>
                <a:gridCol w="865504"/>
              </a:tblGrid>
              <a:tr h="617854">
                <a:tc>
                  <a:txBody>
                    <a:bodyPr/>
                    <a:lstStyle/>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82550" algn="l" rtl="0" eaLnBrk="0">
                        <a:lnSpc>
                          <a:spcPct val="93000"/>
                        </a:lnSpc>
                      </a:pPr>
                      <a:r>
                        <a:rPr sz="24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0" baseline="-27000" dirty="0">
                          <a:solidFill>
                            <a:srgbClr val="000000">
                              <a:alpha val="100000"/>
                            </a:srgbClr>
                          </a:solidFill>
                          <a:latin typeface="Times New Roman" panose="02020603050405020304"/>
                          <a:ea typeface="Times New Roman" panose="02020603050405020304"/>
                          <a:cs typeface="Times New Roman" panose="02020603050405020304"/>
                        </a:rPr>
                        <a:t>k</a:t>
                      </a:r>
                      <a:r>
                        <a:rPr sz="1300" i="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1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11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11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40" name="picture 240"/>
          <p:cNvPicPr>
            <a:picLocks noChangeAspect="1"/>
          </p:cNvPicPr>
          <p:nvPr/>
        </p:nvPicPr>
        <p:blipFill>
          <a:blip r:embed="rId7"/>
          <a:stretch>
            <a:fillRect/>
          </a:stretch>
        </p:blipFill>
        <p:spPr>
          <a:xfrm rot="21600000">
            <a:off x="2298191" y="3939540"/>
            <a:ext cx="76200" cy="548639"/>
          </a:xfrm>
          <a:prstGeom prst="rect">
            <a:avLst/>
          </a:prstGeom>
        </p:spPr>
      </p:pic>
      <p:sp>
        <p:nvSpPr>
          <p:cNvPr id="242" name="path 242"/>
          <p:cNvSpPr/>
          <p:nvPr/>
        </p:nvSpPr>
        <p:spPr>
          <a:xfrm>
            <a:off x="2333244" y="3025140"/>
            <a:ext cx="623315" cy="1101851"/>
          </a:xfrm>
          <a:custGeom>
            <a:avLst/>
            <a:gdLst/>
            <a:ahLst/>
            <a:cxnLst/>
            <a:rect l="0" t="0" r="0" b="0"/>
            <a:pathLst>
              <a:path w="981" h="1735">
                <a:moveTo>
                  <a:pt x="0" y="1727"/>
                </a:moveTo>
                <a:lnTo>
                  <a:pt x="974" y="1727"/>
                </a:lnTo>
                <a:moveTo>
                  <a:pt x="974" y="0"/>
                </a:moveTo>
                <a:lnTo>
                  <a:pt x="974" y="1727"/>
                </a:lnTo>
              </a:path>
            </a:pathLst>
          </a:custGeom>
          <a:noFill/>
          <a:ln w="9143" cap="flat">
            <a:solidFill>
              <a:srgbClr val="FF00FF"/>
            </a:solidFill>
            <a:prstDash val="solid"/>
            <a:round/>
          </a:ln>
        </p:spPr>
        <p:txBody>
          <a:bodyPr rtlCol="0"/>
          <a:lstStyle/>
          <a:p>
            <a:pPr algn="ctr"/>
            <a:endParaRPr lang="zh-CN" altLang="en-US"/>
          </a:p>
        </p:txBody>
      </p:sp>
      <p:graphicFrame>
        <p:nvGraphicFramePr>
          <p:cNvPr id="244" name="table 244"/>
          <p:cNvGraphicFramePr>
            <a:graphicFrameLocks noGrp="1"/>
          </p:cNvGraphicFramePr>
          <p:nvPr/>
        </p:nvGraphicFramePr>
        <p:xfrm>
          <a:off x="5858256" y="3319272"/>
          <a:ext cx="835025" cy="624204"/>
        </p:xfrm>
        <a:graphic>
          <a:graphicData uri="http://schemas.openxmlformats.org/drawingml/2006/table">
            <a:tbl>
              <a:tblPr/>
              <a:tblGrid>
                <a:gridCol w="835025"/>
              </a:tblGrid>
              <a:tr h="617854">
                <a:tc>
                  <a:txBody>
                    <a:bodyPr/>
                    <a:lstStyle/>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6675" algn="l" rtl="0" eaLnBrk="0">
                        <a:lnSpc>
                          <a:spcPct val="93000"/>
                        </a:lnSpc>
                      </a:pPr>
                      <a:r>
                        <a:rPr sz="24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0" baseline="-27000" dirty="0">
                          <a:solidFill>
                            <a:srgbClr val="000000">
                              <a:alpha val="100000"/>
                            </a:srgbClr>
                          </a:solidFill>
                          <a:latin typeface="Times New Roman" panose="02020603050405020304"/>
                          <a:ea typeface="Times New Roman" panose="02020603050405020304"/>
                          <a:cs typeface="Times New Roman" panose="02020603050405020304"/>
                        </a:rPr>
                        <a:t>k</a:t>
                      </a:r>
                      <a:r>
                        <a:rPr sz="13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10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10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46" name="picture 246"/>
          <p:cNvPicPr>
            <a:picLocks noChangeAspect="1"/>
          </p:cNvPicPr>
          <p:nvPr/>
        </p:nvPicPr>
        <p:blipFill>
          <a:blip r:embed="rId8"/>
          <a:stretch>
            <a:fillRect/>
          </a:stretch>
        </p:blipFill>
        <p:spPr>
          <a:xfrm rot="21600000">
            <a:off x="6239255" y="3939540"/>
            <a:ext cx="76200" cy="548639"/>
          </a:xfrm>
          <a:prstGeom prst="rect">
            <a:avLst/>
          </a:prstGeom>
        </p:spPr>
      </p:pic>
      <p:sp>
        <p:nvSpPr>
          <p:cNvPr id="248" name="path 248"/>
          <p:cNvSpPr/>
          <p:nvPr/>
        </p:nvSpPr>
        <p:spPr>
          <a:xfrm>
            <a:off x="6228588" y="3025140"/>
            <a:ext cx="623315" cy="1101851"/>
          </a:xfrm>
          <a:custGeom>
            <a:avLst/>
            <a:gdLst/>
            <a:ahLst/>
            <a:cxnLst/>
            <a:rect l="0" t="0" r="0" b="0"/>
            <a:pathLst>
              <a:path w="981" h="1735">
                <a:moveTo>
                  <a:pt x="0" y="1727"/>
                </a:moveTo>
                <a:lnTo>
                  <a:pt x="974" y="1727"/>
                </a:lnTo>
                <a:moveTo>
                  <a:pt x="974" y="0"/>
                </a:moveTo>
                <a:lnTo>
                  <a:pt x="974" y="1727"/>
                </a:lnTo>
              </a:path>
            </a:pathLst>
          </a:custGeom>
          <a:noFill/>
          <a:ln w="9143" cap="flat">
            <a:solidFill>
              <a:srgbClr val="FF00FF"/>
            </a:solidFill>
            <a:prstDash val="solid"/>
            <a:round/>
          </a:ln>
        </p:spPr>
        <p:txBody>
          <a:bodyPr rtlCol="0"/>
          <a:lstStyle/>
          <a:p>
            <a:pPr algn="ctr"/>
            <a:endParaRPr lang="zh-CN" altLang="en-US"/>
          </a:p>
        </p:txBody>
      </p:sp>
      <p:sp>
        <p:nvSpPr>
          <p:cNvPr id="250" name="textbox 250"/>
          <p:cNvSpPr/>
          <p:nvPr/>
        </p:nvSpPr>
        <p:spPr>
          <a:xfrm>
            <a:off x="8397568" y="2524962"/>
            <a:ext cx="1861820" cy="46164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3435"/>
              </a:lnSpc>
            </a:pPr>
            <a:r>
              <a:rPr sz="4000" i="1" kern="0" spc="-10" baseline="19000" dirty="0">
                <a:solidFill>
                  <a:srgbClr val="000000">
                    <a:alpha val="100000"/>
                  </a:srgbClr>
                </a:solidFill>
                <a:latin typeface="Times New Roman" panose="02020603050405020304"/>
                <a:ea typeface="Times New Roman" panose="02020603050405020304"/>
                <a:cs typeface="Times New Roman" panose="02020603050405020304"/>
              </a:rPr>
              <a:t>m</a:t>
            </a:r>
            <a:r>
              <a:rPr sz="2300" i="1" kern="0" spc="-10" baseline="3000" dirty="0">
                <a:solidFill>
                  <a:srgbClr val="000000">
                    <a:alpha val="100000"/>
                  </a:srgbClr>
                </a:solidFill>
                <a:latin typeface="Times New Roman" panose="02020603050405020304"/>
                <a:ea typeface="Times New Roman" panose="02020603050405020304"/>
                <a:cs typeface="Times New Roman" panose="02020603050405020304"/>
              </a:rPr>
              <a:t>n</a:t>
            </a:r>
            <a:r>
              <a:rPr sz="14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400" i="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20" baseline="19000" dirty="0">
                <a:solidFill>
                  <a:srgbClr val="000000">
                    <a:alpha val="100000"/>
                  </a:srgbClr>
                </a:solidFill>
                <a:latin typeface="Times New Roman" panose="02020603050405020304"/>
                <a:ea typeface="Times New Roman" panose="02020603050405020304"/>
                <a:cs typeface="Times New Roman" panose="02020603050405020304"/>
              </a:rPr>
              <a:t>m</a:t>
            </a:r>
            <a:r>
              <a:rPr sz="2300" i="1" kern="0" spc="-20" baseline="3000" dirty="0">
                <a:solidFill>
                  <a:srgbClr val="000000">
                    <a:alpha val="100000"/>
                  </a:srgbClr>
                </a:solidFill>
                <a:latin typeface="Times New Roman" panose="02020603050405020304"/>
                <a:ea typeface="Times New Roman" panose="02020603050405020304"/>
                <a:cs typeface="Times New Roman" panose="02020603050405020304"/>
              </a:rPr>
              <a:t>n</a:t>
            </a:r>
            <a:r>
              <a:rPr sz="2300" kern="0" spc="-20" baseline="3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300" kern="0" spc="-20" baseline="3000" dirty="0">
                <a:solidFill>
                  <a:srgbClr val="000000">
                    <a:alpha val="100000"/>
                  </a:srgbClr>
                </a:solidFill>
                <a:latin typeface="Times New Roman" panose="02020603050405020304"/>
                <a:ea typeface="Times New Roman" panose="02020603050405020304"/>
                <a:cs typeface="Times New Roman" panose="02020603050405020304"/>
              </a:rPr>
              <a:t>1</a:t>
            </a:r>
            <a:endParaRPr sz="2300" baseline="3000" dirty="0">
              <a:latin typeface="Times New Roman" panose="02020603050405020304"/>
              <a:ea typeface="Times New Roman" panose="02020603050405020304"/>
              <a:cs typeface="Times New Roman" panose="02020603050405020304"/>
            </a:endParaRPr>
          </a:p>
        </p:txBody>
      </p:sp>
      <p:sp>
        <p:nvSpPr>
          <p:cNvPr id="252" name="path 252"/>
          <p:cNvSpPr/>
          <p:nvPr/>
        </p:nvSpPr>
        <p:spPr>
          <a:xfrm>
            <a:off x="7879080" y="3319272"/>
            <a:ext cx="920495" cy="627887"/>
          </a:xfrm>
          <a:custGeom>
            <a:avLst/>
            <a:gdLst/>
            <a:ahLst/>
            <a:cxnLst/>
            <a:rect l="0" t="0" r="0" b="0"/>
            <a:pathLst>
              <a:path w="1449" h="988">
                <a:moveTo>
                  <a:pt x="7" y="981"/>
                </a:moveTo>
                <a:lnTo>
                  <a:pt x="1442" y="981"/>
                </a:lnTo>
                <a:lnTo>
                  <a:pt x="1442" y="7"/>
                </a:lnTo>
                <a:lnTo>
                  <a:pt x="7" y="7"/>
                </a:lnTo>
                <a:lnTo>
                  <a:pt x="7" y="981"/>
                </a:lnTo>
                <a:close/>
              </a:path>
            </a:pathLst>
          </a:custGeom>
          <a:noFill/>
          <a:ln w="9143" cap="flat">
            <a:solidFill>
              <a:srgbClr val="000000"/>
            </a:solidFill>
            <a:prstDash val="solid"/>
            <a:miter lim="800000"/>
          </a:ln>
        </p:spPr>
        <p:txBody>
          <a:bodyPr rtlCol="0"/>
          <a:lstStyle/>
          <a:p>
            <a:pPr algn="ctr"/>
            <a:endParaRPr lang="zh-CN" altLang="en-US"/>
          </a:p>
        </p:txBody>
      </p:sp>
      <p:pic>
        <p:nvPicPr>
          <p:cNvPr id="254" name="picture 254"/>
          <p:cNvPicPr>
            <a:picLocks noChangeAspect="1"/>
          </p:cNvPicPr>
          <p:nvPr/>
        </p:nvPicPr>
        <p:blipFill>
          <a:blip r:embed="rId9"/>
          <a:stretch>
            <a:fillRect/>
          </a:stretch>
        </p:blipFill>
        <p:spPr>
          <a:xfrm rot="21600000">
            <a:off x="822960" y="408431"/>
            <a:ext cx="420623" cy="655320"/>
          </a:xfrm>
          <a:prstGeom prst="rect">
            <a:avLst/>
          </a:prstGeom>
        </p:spPr>
      </p:pic>
      <p:sp>
        <p:nvSpPr>
          <p:cNvPr id="256" name="path 25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
        <p:nvSpPr>
          <p:cNvPr id="258" name="textbox 258"/>
          <p:cNvSpPr/>
          <p:nvPr/>
        </p:nvSpPr>
        <p:spPr>
          <a:xfrm>
            <a:off x="6109208" y="2524962"/>
            <a:ext cx="619759" cy="344804"/>
          </a:xfrm>
          <a:prstGeom prst="rect">
            <a:avLst/>
          </a:prstGeom>
          <a:noFill/>
          <a:ln w="0" cap="flat">
            <a:noFill/>
            <a:prstDash val="solid"/>
            <a:miter lim="0"/>
          </a:ln>
        </p:spPr>
        <p:txBody>
          <a:bodyPr vert="horz" wrap="square" lIns="0" tIns="0" rIns="0" bIns="0"/>
          <a:lstStyle/>
          <a:p>
            <a:pPr algn="l" rtl="0" eaLnBrk="0">
              <a:lnSpc>
                <a:spcPct val="9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80000"/>
              </a:lnSpc>
              <a:tabLst>
                <a:tab pos="276225" algn="l"/>
              </a:tabLst>
            </a:pPr>
            <a:r>
              <a:rPr sz="2600" u="sng" kern="0" spc="0" dirty="0">
                <a:solidFill>
                  <a:srgbClr val="000000">
                    <a:alpha val="100000"/>
                  </a:srgbClr>
                </a:solidFill>
                <a:uFill>
                  <a:solidFill>
                    <a:srgbClr val="FF00FF"/>
                  </a:solidFill>
                </a:uFill>
                <a:latin typeface="Times New Roman" panose="02020603050405020304"/>
                <a:ea typeface="Times New Roman" panose="02020603050405020304"/>
                <a:cs typeface="Times New Roman" panose="02020603050405020304"/>
              </a:rPr>
              <a:t>	</a:t>
            </a:r>
            <a:r>
              <a:rPr sz="2600" i="1" kern="0" spc="-2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20" baseline="-25000" dirty="0">
                <a:solidFill>
                  <a:srgbClr val="000000">
                    <a:alpha val="100000"/>
                  </a:srgbClr>
                </a:solidFill>
                <a:latin typeface="Times New Roman" panose="02020603050405020304"/>
                <a:ea typeface="Times New Roman" panose="02020603050405020304"/>
                <a:cs typeface="Times New Roman" panose="02020603050405020304"/>
              </a:rPr>
              <a:t>4</a:t>
            </a:r>
            <a:endParaRPr sz="2300" baseline="-25000" dirty="0">
              <a:latin typeface="Times New Roman" panose="02020603050405020304"/>
              <a:ea typeface="Times New Roman" panose="02020603050405020304"/>
              <a:cs typeface="Times New Roman" panose="02020603050405020304"/>
            </a:endParaRPr>
          </a:p>
        </p:txBody>
      </p:sp>
      <p:sp>
        <p:nvSpPr>
          <p:cNvPr id="260" name="textbox 260"/>
          <p:cNvSpPr/>
          <p:nvPr/>
        </p:nvSpPr>
        <p:spPr>
          <a:xfrm>
            <a:off x="10329605" y="2524962"/>
            <a:ext cx="423544" cy="40449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2980"/>
              </a:lnSpc>
            </a:pP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4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i="1" kern="0" spc="-70" dirty="0">
                <a:solidFill>
                  <a:srgbClr val="000000">
                    <a:alpha val="100000"/>
                  </a:srgbClr>
                </a:solidFill>
                <a:latin typeface="Times New Roman" panose="02020603050405020304"/>
                <a:ea typeface="Times New Roman" panose="02020603050405020304"/>
                <a:cs typeface="Times New Roman" panose="02020603050405020304"/>
              </a:rPr>
              <a:t>r</a:t>
            </a:r>
            <a:endParaRPr sz="2400" dirty="0">
              <a:latin typeface="Times New Roman" panose="02020603050405020304"/>
              <a:ea typeface="Times New Roman" panose="02020603050405020304"/>
              <a:cs typeface="Times New Roman" panose="02020603050405020304"/>
            </a:endParaRPr>
          </a:p>
        </p:txBody>
      </p:sp>
      <p:sp>
        <p:nvSpPr>
          <p:cNvPr id="262" name="textbox 262"/>
          <p:cNvSpPr/>
          <p:nvPr/>
        </p:nvSpPr>
        <p:spPr>
          <a:xfrm>
            <a:off x="2426459" y="2524962"/>
            <a:ext cx="339725" cy="419734"/>
          </a:xfrm>
          <a:prstGeom prst="rect">
            <a:avLst/>
          </a:prstGeom>
          <a:noFill/>
          <a:ln w="0" cap="flat">
            <a:noFill/>
            <a:prstDash val="solid"/>
            <a:miter lim="0"/>
          </a:ln>
        </p:spPr>
        <p:txBody>
          <a:bodyPr vert="horz" wrap="square" lIns="0" tIns="0" rIns="0" bIns="0"/>
          <a:lstStyle/>
          <a:p>
            <a:pPr algn="l" rtl="0" eaLnBrk="0">
              <a:lnSpc>
                <a:spcPct val="71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100000"/>
              </a:lnSpc>
            </a:pPr>
            <a:r>
              <a:rPr sz="2600" i="1" kern="0" spc="-9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90" baseline="-25000" dirty="0">
                <a:solidFill>
                  <a:srgbClr val="000000">
                    <a:alpha val="100000"/>
                  </a:srgbClr>
                </a:solidFill>
                <a:latin typeface="Times New Roman" panose="02020603050405020304"/>
                <a:ea typeface="Times New Roman" panose="02020603050405020304"/>
                <a:cs typeface="Times New Roman" panose="02020603050405020304"/>
              </a:rPr>
              <a:t>1</a:t>
            </a:r>
            <a:endParaRPr sz="2300" baseline="-25000" dirty="0">
              <a:latin typeface="Times New Roman" panose="02020603050405020304"/>
              <a:ea typeface="Times New Roman" panose="02020603050405020304"/>
              <a:cs typeface="Times New Roman" panose="02020603050405020304"/>
            </a:endParaRPr>
          </a:p>
        </p:txBody>
      </p:sp>
      <p:pic>
        <p:nvPicPr>
          <p:cNvPr id="264" name="picture 264"/>
          <p:cNvPicPr>
            <a:picLocks noChangeAspect="1"/>
          </p:cNvPicPr>
          <p:nvPr/>
        </p:nvPicPr>
        <p:blipFill>
          <a:blip r:embed="rId10"/>
          <a:stretch>
            <a:fillRect/>
          </a:stretch>
        </p:blipFill>
        <p:spPr>
          <a:xfrm rot="21600000">
            <a:off x="9540240" y="2775204"/>
            <a:ext cx="76200" cy="548639"/>
          </a:xfrm>
          <a:prstGeom prst="rect">
            <a:avLst/>
          </a:prstGeom>
        </p:spPr>
      </p:pic>
      <p:pic>
        <p:nvPicPr>
          <p:cNvPr id="266" name="picture 266"/>
          <p:cNvPicPr>
            <a:picLocks noChangeAspect="1"/>
          </p:cNvPicPr>
          <p:nvPr/>
        </p:nvPicPr>
        <p:blipFill>
          <a:blip r:embed="rId11"/>
          <a:stretch>
            <a:fillRect/>
          </a:stretch>
        </p:blipFill>
        <p:spPr>
          <a:xfrm rot="21600000">
            <a:off x="8889492" y="2999232"/>
            <a:ext cx="838200" cy="76200"/>
          </a:xfrm>
          <a:prstGeom prst="rect">
            <a:avLst/>
          </a:prstGeom>
        </p:spPr>
      </p:pic>
      <p:grpSp>
        <p:nvGrpSpPr>
          <p:cNvPr id="16" name="group 16"/>
          <p:cNvGrpSpPr/>
          <p:nvPr/>
        </p:nvGrpSpPr>
        <p:grpSpPr>
          <a:xfrm rot="21600000">
            <a:off x="9433559" y="2883408"/>
            <a:ext cx="298704" cy="295655"/>
            <a:chOff x="0" y="0"/>
            <a:chExt cx="298704" cy="295655"/>
          </a:xfrm>
        </p:grpSpPr>
        <p:sp>
          <p:nvSpPr>
            <p:cNvPr id="268" name="path 268"/>
            <p:cNvSpPr/>
            <p:nvPr/>
          </p:nvSpPr>
          <p:spPr>
            <a:xfrm>
              <a:off x="4571" y="4571"/>
              <a:ext cx="289560" cy="286511"/>
            </a:xfrm>
            <a:custGeom>
              <a:avLst/>
              <a:gdLst/>
              <a:ahLst/>
              <a:cxnLst/>
              <a:rect l="0" t="0" r="0" b="0"/>
              <a:pathLst>
                <a:path w="456" h="451">
                  <a:moveTo>
                    <a:pt x="0" y="225"/>
                  </a:moveTo>
                  <a:cubicBezTo>
                    <a:pt x="0" y="101"/>
                    <a:pt x="102" y="0"/>
                    <a:pt x="228" y="0"/>
                  </a:cubicBezTo>
                  <a:cubicBezTo>
                    <a:pt x="354" y="0"/>
                    <a:pt x="456" y="101"/>
                    <a:pt x="456" y="225"/>
                  </a:cubicBezTo>
                  <a:cubicBezTo>
                    <a:pt x="456" y="350"/>
                    <a:pt x="354" y="451"/>
                    <a:pt x="228" y="451"/>
                  </a:cubicBezTo>
                  <a:cubicBezTo>
                    <a:pt x="102" y="451"/>
                    <a:pt x="0" y="350"/>
                    <a:pt x="0" y="225"/>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70" name="path 270"/>
            <p:cNvSpPr/>
            <p:nvPr/>
          </p:nvSpPr>
          <p:spPr>
            <a:xfrm>
              <a:off x="0" y="0"/>
              <a:ext cx="298704" cy="295655"/>
            </a:xfrm>
            <a:custGeom>
              <a:avLst/>
              <a:gdLst/>
              <a:ahLst/>
              <a:cxnLst/>
              <a:rect l="0" t="0" r="0" b="0"/>
              <a:pathLst>
                <a:path w="470" h="465">
                  <a:moveTo>
                    <a:pt x="235" y="7"/>
                  </a:moveTo>
                  <a:lnTo>
                    <a:pt x="235" y="458"/>
                  </a:lnTo>
                  <a:moveTo>
                    <a:pt x="7" y="232"/>
                  </a:moveTo>
                  <a:cubicBezTo>
                    <a:pt x="7" y="108"/>
                    <a:pt x="109" y="7"/>
                    <a:pt x="235" y="7"/>
                  </a:cubicBezTo>
                  <a:cubicBezTo>
                    <a:pt x="361" y="7"/>
                    <a:pt x="463" y="108"/>
                    <a:pt x="463" y="232"/>
                  </a:cubicBezTo>
                  <a:cubicBezTo>
                    <a:pt x="463" y="357"/>
                    <a:pt x="361" y="458"/>
                    <a:pt x="235" y="458"/>
                  </a:cubicBezTo>
                  <a:cubicBezTo>
                    <a:pt x="109" y="458"/>
                    <a:pt x="7" y="357"/>
                    <a:pt x="7" y="232"/>
                  </a:cubicBezTo>
                </a:path>
              </a:pathLst>
            </a:custGeom>
            <a:noFill/>
            <a:ln w="9143" cap="flat">
              <a:solidFill>
                <a:srgbClr val="FF00FF"/>
              </a:solidFill>
              <a:prstDash val="solid"/>
              <a:round/>
            </a:ln>
          </p:spPr>
          <p:txBody>
            <a:bodyPr rtlCol="0"/>
            <a:lstStyle/>
            <a:p>
              <a:pPr algn="ctr"/>
              <a:endParaRPr lang="zh-CN" altLang="en-US"/>
            </a:p>
          </p:txBody>
        </p:sp>
      </p:grpSp>
      <p:pic>
        <p:nvPicPr>
          <p:cNvPr id="272" name="picture 272"/>
          <p:cNvPicPr>
            <a:picLocks noChangeAspect="1"/>
          </p:cNvPicPr>
          <p:nvPr/>
        </p:nvPicPr>
        <p:blipFill>
          <a:blip r:embed="rId12"/>
          <a:stretch>
            <a:fillRect/>
          </a:stretch>
        </p:blipFill>
        <p:spPr>
          <a:xfrm rot="21600000">
            <a:off x="6239255" y="2775204"/>
            <a:ext cx="76200" cy="548639"/>
          </a:xfrm>
          <a:prstGeom prst="rect">
            <a:avLst/>
          </a:prstGeom>
        </p:spPr>
      </p:pic>
      <p:grpSp>
        <p:nvGrpSpPr>
          <p:cNvPr id="18" name="group 18"/>
          <p:cNvGrpSpPr/>
          <p:nvPr/>
        </p:nvGrpSpPr>
        <p:grpSpPr>
          <a:xfrm rot="21600000">
            <a:off x="6117336" y="2883408"/>
            <a:ext cx="298703" cy="295655"/>
            <a:chOff x="0" y="0"/>
            <a:chExt cx="298703" cy="295655"/>
          </a:xfrm>
        </p:grpSpPr>
        <p:sp>
          <p:nvSpPr>
            <p:cNvPr id="274" name="path 274"/>
            <p:cNvSpPr/>
            <p:nvPr/>
          </p:nvSpPr>
          <p:spPr>
            <a:xfrm>
              <a:off x="4571" y="4571"/>
              <a:ext cx="289559" cy="286511"/>
            </a:xfrm>
            <a:custGeom>
              <a:avLst/>
              <a:gdLst/>
              <a:ahLst/>
              <a:cxnLst/>
              <a:rect l="0" t="0" r="0" b="0"/>
              <a:pathLst>
                <a:path w="455" h="451">
                  <a:moveTo>
                    <a:pt x="0" y="225"/>
                  </a:moveTo>
                  <a:cubicBezTo>
                    <a:pt x="0" y="101"/>
                    <a:pt x="102" y="0"/>
                    <a:pt x="227" y="0"/>
                  </a:cubicBezTo>
                  <a:cubicBezTo>
                    <a:pt x="354" y="0"/>
                    <a:pt x="455" y="101"/>
                    <a:pt x="455" y="225"/>
                  </a:cubicBezTo>
                  <a:cubicBezTo>
                    <a:pt x="455" y="350"/>
                    <a:pt x="354" y="451"/>
                    <a:pt x="227" y="451"/>
                  </a:cubicBezTo>
                  <a:cubicBezTo>
                    <a:pt x="102" y="451"/>
                    <a:pt x="0" y="350"/>
                    <a:pt x="0" y="225"/>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76" name="path 276"/>
            <p:cNvSpPr/>
            <p:nvPr/>
          </p:nvSpPr>
          <p:spPr>
            <a:xfrm>
              <a:off x="0" y="0"/>
              <a:ext cx="298703" cy="295655"/>
            </a:xfrm>
            <a:custGeom>
              <a:avLst/>
              <a:gdLst/>
              <a:ahLst/>
              <a:cxnLst/>
              <a:rect l="0" t="0" r="0" b="0"/>
              <a:pathLst>
                <a:path w="470" h="465">
                  <a:moveTo>
                    <a:pt x="235" y="7"/>
                  </a:moveTo>
                  <a:lnTo>
                    <a:pt x="235" y="458"/>
                  </a:lnTo>
                  <a:moveTo>
                    <a:pt x="7" y="232"/>
                  </a:moveTo>
                  <a:cubicBezTo>
                    <a:pt x="7" y="108"/>
                    <a:pt x="109" y="7"/>
                    <a:pt x="235" y="7"/>
                  </a:cubicBezTo>
                  <a:cubicBezTo>
                    <a:pt x="361" y="7"/>
                    <a:pt x="463" y="108"/>
                    <a:pt x="463" y="232"/>
                  </a:cubicBezTo>
                  <a:cubicBezTo>
                    <a:pt x="463" y="357"/>
                    <a:pt x="361" y="458"/>
                    <a:pt x="235" y="458"/>
                  </a:cubicBezTo>
                  <a:cubicBezTo>
                    <a:pt x="109" y="458"/>
                    <a:pt x="7" y="357"/>
                    <a:pt x="7" y="232"/>
                  </a:cubicBezTo>
                </a:path>
              </a:pathLst>
            </a:custGeom>
            <a:noFill/>
            <a:ln w="9143" cap="flat">
              <a:solidFill>
                <a:srgbClr val="FF00FF"/>
              </a:solidFill>
              <a:prstDash val="solid"/>
              <a:round/>
            </a:ln>
          </p:spPr>
          <p:txBody>
            <a:bodyPr rtlCol="0"/>
            <a:lstStyle/>
            <a:p>
              <a:pPr algn="ctr"/>
              <a:endParaRPr lang="zh-CN" altLang="en-US"/>
            </a:p>
          </p:txBody>
        </p:sp>
      </p:grpSp>
      <p:sp>
        <p:nvSpPr>
          <p:cNvPr id="278" name="textbox 278"/>
          <p:cNvSpPr/>
          <p:nvPr/>
        </p:nvSpPr>
        <p:spPr>
          <a:xfrm>
            <a:off x="6349570" y="4429962"/>
            <a:ext cx="259079" cy="344804"/>
          </a:xfrm>
          <a:prstGeom prst="rect">
            <a:avLst/>
          </a:prstGeom>
          <a:noFill/>
          <a:ln w="0" cap="flat">
            <a:noFill/>
            <a:prstDash val="solid"/>
            <a:miter lim="0"/>
          </a:ln>
        </p:spPr>
        <p:txBody>
          <a:bodyPr vert="horz" wrap="square" lIns="0" tIns="0" rIns="0" bIns="0"/>
          <a:lstStyle/>
          <a:p>
            <a:pPr algn="l" rtl="0" eaLnBrk="0">
              <a:lnSpc>
                <a:spcPct val="9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80000"/>
              </a:lnSpc>
            </a:pPr>
            <a:r>
              <a:rPr sz="2600" i="1" kern="0" spc="-40" dirty="0">
                <a:solidFill>
                  <a:srgbClr val="000000">
                    <a:alpha val="100000"/>
                  </a:srgbClr>
                </a:solidFill>
                <a:latin typeface="Times New Roman" panose="02020603050405020304"/>
                <a:ea typeface="Times New Roman" panose="02020603050405020304"/>
                <a:cs typeface="Times New Roman" panose="02020603050405020304"/>
              </a:rPr>
              <a:t>c</a:t>
            </a:r>
            <a:r>
              <a:rPr sz="2300" kern="0" spc="-40" baseline="-25000" dirty="0">
                <a:solidFill>
                  <a:srgbClr val="000000">
                    <a:alpha val="100000"/>
                  </a:srgbClr>
                </a:solidFill>
                <a:latin typeface="Times New Roman" panose="02020603050405020304"/>
                <a:ea typeface="Times New Roman" panose="02020603050405020304"/>
                <a:cs typeface="Times New Roman" panose="02020603050405020304"/>
              </a:rPr>
              <a:t>4</a:t>
            </a:r>
            <a:endParaRPr sz="2300" baseline="-25000" dirty="0">
              <a:latin typeface="Times New Roman" panose="02020603050405020304"/>
              <a:ea typeface="Times New Roman" panose="02020603050405020304"/>
              <a:cs typeface="Times New Roman" panose="02020603050405020304"/>
            </a:endParaRPr>
          </a:p>
        </p:txBody>
      </p:sp>
      <p:sp>
        <p:nvSpPr>
          <p:cNvPr id="280" name="textbox 280"/>
          <p:cNvSpPr/>
          <p:nvPr/>
        </p:nvSpPr>
        <p:spPr>
          <a:xfrm>
            <a:off x="3682570" y="4429962"/>
            <a:ext cx="259079" cy="419734"/>
          </a:xfrm>
          <a:prstGeom prst="rect">
            <a:avLst/>
          </a:prstGeom>
          <a:noFill/>
          <a:ln w="0" cap="flat">
            <a:noFill/>
            <a:prstDash val="solid"/>
            <a:miter lim="0"/>
          </a:ln>
        </p:spPr>
        <p:txBody>
          <a:bodyPr vert="horz" wrap="square" lIns="0" tIns="0" rIns="0" bIns="0"/>
          <a:lstStyle/>
          <a:p>
            <a:pPr algn="l" rtl="0" eaLnBrk="0">
              <a:lnSpc>
                <a:spcPct val="71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pPr>
            <a:r>
              <a:rPr sz="2600" i="1" kern="0" spc="-40" dirty="0">
                <a:solidFill>
                  <a:srgbClr val="000000">
                    <a:alpha val="100000"/>
                  </a:srgbClr>
                </a:solidFill>
                <a:latin typeface="Times New Roman" panose="02020603050405020304"/>
                <a:ea typeface="Times New Roman" panose="02020603050405020304"/>
                <a:cs typeface="Times New Roman" panose="02020603050405020304"/>
              </a:rPr>
              <a:t>c</a:t>
            </a:r>
            <a:r>
              <a:rPr sz="2300" kern="0" spc="-40" baseline="-25000" dirty="0">
                <a:solidFill>
                  <a:srgbClr val="000000">
                    <a:alpha val="100000"/>
                  </a:srgbClr>
                </a:solidFill>
                <a:latin typeface="Times New Roman" panose="02020603050405020304"/>
                <a:ea typeface="Times New Roman" panose="02020603050405020304"/>
                <a:cs typeface="Times New Roman" panose="02020603050405020304"/>
              </a:rPr>
              <a:t>2</a:t>
            </a:r>
            <a:endParaRPr sz="2300" baseline="-25000" dirty="0">
              <a:latin typeface="Times New Roman" panose="02020603050405020304"/>
              <a:ea typeface="Times New Roman" panose="02020603050405020304"/>
              <a:cs typeface="Times New Roman" panose="02020603050405020304"/>
            </a:endParaRPr>
          </a:p>
        </p:txBody>
      </p:sp>
      <p:sp>
        <p:nvSpPr>
          <p:cNvPr id="282" name="textbox 282"/>
          <p:cNvSpPr/>
          <p:nvPr/>
        </p:nvSpPr>
        <p:spPr>
          <a:xfrm>
            <a:off x="5029784" y="4429962"/>
            <a:ext cx="254634" cy="42227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100000"/>
              </a:lnSpc>
            </a:pPr>
            <a:r>
              <a:rPr sz="2600" i="1" kern="0" spc="-50" dirty="0">
                <a:solidFill>
                  <a:srgbClr val="000000">
                    <a:alpha val="100000"/>
                  </a:srgbClr>
                </a:solidFill>
                <a:latin typeface="Times New Roman" panose="02020603050405020304"/>
                <a:ea typeface="Times New Roman" panose="02020603050405020304"/>
                <a:cs typeface="Times New Roman" panose="02020603050405020304"/>
              </a:rPr>
              <a:t>c</a:t>
            </a:r>
            <a:r>
              <a:rPr sz="2300" kern="0" spc="-50" baseline="-25000" dirty="0">
                <a:solidFill>
                  <a:srgbClr val="000000">
                    <a:alpha val="100000"/>
                  </a:srgbClr>
                </a:solidFill>
                <a:latin typeface="Times New Roman" panose="02020603050405020304"/>
                <a:ea typeface="Times New Roman" panose="02020603050405020304"/>
                <a:cs typeface="Times New Roman" panose="02020603050405020304"/>
              </a:rPr>
              <a:t>3</a:t>
            </a:r>
            <a:endParaRPr sz="2300" baseline="-25000" dirty="0">
              <a:latin typeface="Times New Roman" panose="02020603050405020304"/>
              <a:ea typeface="Times New Roman" panose="02020603050405020304"/>
              <a:cs typeface="Times New Roman" panose="02020603050405020304"/>
            </a:endParaRPr>
          </a:p>
        </p:txBody>
      </p:sp>
      <p:sp>
        <p:nvSpPr>
          <p:cNvPr id="284" name="textbox 284"/>
          <p:cNvSpPr/>
          <p:nvPr/>
        </p:nvSpPr>
        <p:spPr>
          <a:xfrm>
            <a:off x="2432888" y="4429962"/>
            <a:ext cx="241300" cy="41719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ts val="3080"/>
              </a:lnSpc>
            </a:pPr>
            <a:r>
              <a:rPr sz="2500" i="1" kern="0" spc="-80" dirty="0">
                <a:solidFill>
                  <a:srgbClr val="000000">
                    <a:alpha val="100000"/>
                  </a:srgbClr>
                </a:solidFill>
                <a:latin typeface="Times New Roman" panose="02020603050405020304"/>
                <a:ea typeface="Times New Roman" panose="02020603050405020304"/>
                <a:cs typeface="Times New Roman" panose="02020603050405020304"/>
              </a:rPr>
              <a:t>c</a:t>
            </a:r>
            <a:r>
              <a:rPr sz="2200" kern="0" spc="-80" baseline="-8000" dirty="0">
                <a:solidFill>
                  <a:srgbClr val="000000">
                    <a:alpha val="100000"/>
                  </a:srgbClr>
                </a:solidFill>
                <a:latin typeface="Times New Roman" panose="02020603050405020304"/>
                <a:ea typeface="Times New Roman" panose="02020603050405020304"/>
                <a:cs typeface="Times New Roman" panose="02020603050405020304"/>
              </a:rPr>
              <a:t>1</a:t>
            </a:r>
            <a:endParaRPr sz="2200" baseline="-8000" dirty="0">
              <a:latin typeface="Times New Roman" panose="02020603050405020304"/>
              <a:ea typeface="Times New Roman" panose="02020603050405020304"/>
              <a:cs typeface="Times New Roman" panose="02020603050405020304"/>
            </a:endParaRPr>
          </a:p>
        </p:txBody>
      </p:sp>
      <p:sp>
        <p:nvSpPr>
          <p:cNvPr id="286" name="textbox 286"/>
          <p:cNvSpPr/>
          <p:nvPr/>
        </p:nvSpPr>
        <p:spPr>
          <a:xfrm>
            <a:off x="7328865" y="3553038"/>
            <a:ext cx="276859" cy="331470"/>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5000"/>
              </a:lnSpc>
            </a:pPr>
            <a:r>
              <a:rPr sz="2100" b="1" kern="0" spc="-140" dirty="0">
                <a:solidFill>
                  <a:srgbClr val="1C1C1C">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p:txBody>
      </p:sp>
      <p:sp>
        <p:nvSpPr>
          <p:cNvPr id="288" name="textbox 288"/>
          <p:cNvSpPr/>
          <p:nvPr/>
        </p:nvSpPr>
        <p:spPr>
          <a:xfrm>
            <a:off x="7328865" y="4631395"/>
            <a:ext cx="276859" cy="331470"/>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5000"/>
              </a:lnSpc>
            </a:pPr>
            <a:r>
              <a:rPr sz="2100" b="1" kern="0" spc="-140" dirty="0">
                <a:solidFill>
                  <a:srgbClr val="1C1C1C">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p:txBody>
      </p:sp>
      <p:sp>
        <p:nvSpPr>
          <p:cNvPr id="290" name="textbox 290"/>
          <p:cNvSpPr/>
          <p:nvPr/>
        </p:nvSpPr>
        <p:spPr>
          <a:xfrm>
            <a:off x="7297115" y="2401529"/>
            <a:ext cx="276859" cy="270509"/>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77000"/>
              </a:lnSpc>
            </a:pPr>
            <a:r>
              <a:rPr sz="2100" b="1" kern="0" spc="-140" dirty="0">
                <a:solidFill>
                  <a:srgbClr val="1C1C1C">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p:txBody>
      </p:sp>
      <p:sp>
        <p:nvSpPr>
          <p:cNvPr id="292" name="path 292"/>
          <p:cNvSpPr/>
          <p:nvPr/>
        </p:nvSpPr>
        <p:spPr>
          <a:xfrm>
            <a:off x="5568696" y="3037332"/>
            <a:ext cx="9143" cy="1097280"/>
          </a:xfrm>
          <a:custGeom>
            <a:avLst/>
            <a:gdLst/>
            <a:ahLst/>
            <a:cxnLst/>
            <a:rect l="0" t="0" r="0" b="0"/>
            <a:pathLst>
              <a:path w="14" h="1728">
                <a:moveTo>
                  <a:pt x="7" y="0"/>
                </a:moveTo>
                <a:lnTo>
                  <a:pt x="7" y="1728"/>
                </a:lnTo>
              </a:path>
            </a:pathLst>
          </a:custGeom>
          <a:noFill/>
          <a:ln w="9143" cap="flat">
            <a:solidFill>
              <a:srgbClr val="FF00FF"/>
            </a:solidFill>
            <a:prstDash val="solid"/>
            <a:round/>
          </a:ln>
        </p:spPr>
        <p:txBody>
          <a:bodyPr rtlCol="0"/>
          <a:lstStyle/>
          <a:p>
            <a:pPr algn="ctr"/>
            <a:endParaRPr lang="zh-CN" altLang="en-US"/>
          </a:p>
        </p:txBody>
      </p:sp>
      <p:pic>
        <p:nvPicPr>
          <p:cNvPr id="294" name="picture 294"/>
          <p:cNvPicPr>
            <a:picLocks noChangeAspect="1"/>
          </p:cNvPicPr>
          <p:nvPr/>
        </p:nvPicPr>
        <p:blipFill>
          <a:blip r:embed="rId13"/>
          <a:stretch>
            <a:fillRect/>
          </a:stretch>
        </p:blipFill>
        <p:spPr>
          <a:xfrm rot="21600000">
            <a:off x="5573267" y="2999232"/>
            <a:ext cx="548640" cy="76200"/>
          </a:xfrm>
          <a:prstGeom prst="rect">
            <a:avLst/>
          </a:prstGeom>
        </p:spPr>
      </p:pic>
      <p:pic>
        <p:nvPicPr>
          <p:cNvPr id="296" name="picture 296"/>
          <p:cNvPicPr>
            <a:picLocks noChangeAspect="1"/>
          </p:cNvPicPr>
          <p:nvPr/>
        </p:nvPicPr>
        <p:blipFill>
          <a:blip r:embed="rId14"/>
          <a:stretch>
            <a:fillRect/>
          </a:stretch>
        </p:blipFill>
        <p:spPr>
          <a:xfrm rot="21600000">
            <a:off x="6847331" y="2987040"/>
            <a:ext cx="548640" cy="76200"/>
          </a:xfrm>
          <a:prstGeom prst="rect">
            <a:avLst/>
          </a:prstGeom>
        </p:spPr>
      </p:pic>
      <p:pic>
        <p:nvPicPr>
          <p:cNvPr id="298" name="picture 298"/>
          <p:cNvPicPr>
            <a:picLocks noChangeAspect="1"/>
          </p:cNvPicPr>
          <p:nvPr/>
        </p:nvPicPr>
        <p:blipFill>
          <a:blip r:embed="rId15"/>
          <a:stretch>
            <a:fillRect/>
          </a:stretch>
        </p:blipFill>
        <p:spPr>
          <a:xfrm rot="21600000">
            <a:off x="8257031" y="3942588"/>
            <a:ext cx="76200" cy="548639"/>
          </a:xfrm>
          <a:prstGeom prst="rect">
            <a:avLst/>
          </a:prstGeom>
        </p:spPr>
      </p:pic>
      <p:pic>
        <p:nvPicPr>
          <p:cNvPr id="300" name="picture 300"/>
          <p:cNvPicPr>
            <a:picLocks noChangeAspect="1"/>
          </p:cNvPicPr>
          <p:nvPr/>
        </p:nvPicPr>
        <p:blipFill>
          <a:blip r:embed="rId16"/>
          <a:stretch>
            <a:fillRect/>
          </a:stretch>
        </p:blipFill>
        <p:spPr>
          <a:xfrm rot="21600000">
            <a:off x="9540240" y="3942588"/>
            <a:ext cx="76200" cy="548639"/>
          </a:xfrm>
          <a:prstGeom prst="rect">
            <a:avLst/>
          </a:prstGeom>
        </p:spPr>
      </p:pic>
      <p:pic>
        <p:nvPicPr>
          <p:cNvPr id="302" name="picture 302"/>
          <p:cNvPicPr>
            <a:picLocks noChangeAspect="1"/>
          </p:cNvPicPr>
          <p:nvPr/>
        </p:nvPicPr>
        <p:blipFill>
          <a:blip r:embed="rId17"/>
          <a:stretch>
            <a:fillRect/>
          </a:stretch>
        </p:blipFill>
        <p:spPr>
          <a:xfrm rot="21600000">
            <a:off x="2298191" y="2775204"/>
            <a:ext cx="76200" cy="548639"/>
          </a:xfrm>
          <a:prstGeom prst="rect">
            <a:avLst/>
          </a:prstGeom>
        </p:spPr>
      </p:pic>
      <p:pic>
        <p:nvPicPr>
          <p:cNvPr id="304" name="picture 304"/>
          <p:cNvPicPr>
            <a:picLocks noChangeAspect="1"/>
          </p:cNvPicPr>
          <p:nvPr/>
        </p:nvPicPr>
        <p:blipFill>
          <a:blip r:embed="rId18"/>
          <a:stretch>
            <a:fillRect/>
          </a:stretch>
        </p:blipFill>
        <p:spPr>
          <a:xfrm rot="21600000">
            <a:off x="8257031" y="2775204"/>
            <a:ext cx="76200" cy="548639"/>
          </a:xfrm>
          <a:prstGeom prst="rect">
            <a:avLst/>
          </a:prstGeom>
        </p:spPr>
      </p:pic>
      <p:pic>
        <p:nvPicPr>
          <p:cNvPr id="2" name="图片 1"/>
          <p:cNvPicPr>
            <a:picLocks noChangeAspect="1"/>
          </p:cNvPicPr>
          <p:nvPr/>
        </p:nvPicPr>
        <p:blipFill>
          <a:blip r:embed="rId19"/>
          <a:stretch>
            <a:fillRect/>
          </a:stretch>
        </p:blipFill>
        <p:spPr>
          <a:xfrm>
            <a:off x="923290" y="1231900"/>
            <a:ext cx="10733405" cy="373126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6" name="table 306"/>
          <p:cNvGraphicFramePr>
            <a:graphicFrameLocks noGrp="1"/>
          </p:cNvGraphicFramePr>
          <p:nvPr/>
        </p:nvGraphicFramePr>
        <p:xfrm>
          <a:off x="2904744" y="4760976"/>
          <a:ext cx="831850" cy="624839"/>
        </p:xfrm>
        <a:graphic>
          <a:graphicData uri="http://schemas.openxmlformats.org/drawingml/2006/table">
            <a:tbl>
              <a:tblPr/>
              <a:tblGrid>
                <a:gridCol w="831850"/>
              </a:tblGrid>
              <a:tr h="618489">
                <a:tc>
                  <a:txBody>
                    <a:bodyPr/>
                    <a:lstStyle/>
                    <a:p>
                      <a:pPr algn="l"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marL="89535" algn="l" rtl="0" eaLnBrk="0">
                        <a:lnSpc>
                          <a:spcPct val="92000"/>
                        </a:lnSpc>
                        <a:spcBef>
                          <a:spcPts val="5"/>
                        </a:spcBef>
                      </a:pPr>
                      <a:r>
                        <a:rPr sz="2400" i="1" kern="0" spc="-10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100" baseline="-27000" dirty="0">
                          <a:solidFill>
                            <a:srgbClr val="000000">
                              <a:alpha val="100000"/>
                            </a:srgbClr>
                          </a:solidFill>
                          <a:latin typeface="Times New Roman" panose="02020603050405020304"/>
                          <a:ea typeface="Times New Roman" panose="02020603050405020304"/>
                          <a:cs typeface="Times New Roman" panose="02020603050405020304"/>
                        </a:rPr>
                        <a:t>k</a:t>
                      </a:r>
                      <a:r>
                        <a:rPr sz="1300"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8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8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8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308" name="picture 308"/>
          <p:cNvPicPr>
            <a:picLocks noChangeAspect="1"/>
          </p:cNvPicPr>
          <p:nvPr/>
        </p:nvPicPr>
        <p:blipFill>
          <a:blip r:embed="rId1"/>
          <a:stretch>
            <a:fillRect/>
          </a:stretch>
        </p:blipFill>
        <p:spPr>
          <a:xfrm rot="21600000">
            <a:off x="3282695" y="5381244"/>
            <a:ext cx="76200" cy="548639"/>
          </a:xfrm>
          <a:prstGeom prst="rect">
            <a:avLst/>
          </a:prstGeom>
        </p:spPr>
      </p:pic>
      <p:sp>
        <p:nvSpPr>
          <p:cNvPr id="310" name="path 310"/>
          <p:cNvSpPr/>
          <p:nvPr/>
        </p:nvSpPr>
        <p:spPr>
          <a:xfrm>
            <a:off x="3305555" y="5571744"/>
            <a:ext cx="618744" cy="9144"/>
          </a:xfrm>
          <a:custGeom>
            <a:avLst/>
            <a:gdLst/>
            <a:ahLst/>
            <a:cxnLst/>
            <a:rect l="0" t="0" r="0" b="0"/>
            <a:pathLst>
              <a:path w="974" h="14">
                <a:moveTo>
                  <a:pt x="0" y="7"/>
                </a:moveTo>
                <a:lnTo>
                  <a:pt x="974" y="7"/>
                </a:lnTo>
              </a:path>
            </a:pathLst>
          </a:custGeom>
          <a:noFill/>
          <a:ln w="9143" cap="flat">
            <a:solidFill>
              <a:srgbClr val="FF00FF"/>
            </a:solidFill>
            <a:prstDash val="solid"/>
            <a:round/>
          </a:ln>
        </p:spPr>
        <p:txBody>
          <a:bodyPr rtlCol="0"/>
          <a:lstStyle/>
          <a:p>
            <a:pPr algn="ctr"/>
            <a:endParaRPr lang="zh-CN" altLang="en-US"/>
          </a:p>
        </p:txBody>
      </p:sp>
      <p:graphicFrame>
        <p:nvGraphicFramePr>
          <p:cNvPr id="312" name="table 312"/>
          <p:cNvGraphicFramePr>
            <a:graphicFrameLocks noGrp="1"/>
          </p:cNvGraphicFramePr>
          <p:nvPr/>
        </p:nvGraphicFramePr>
        <p:xfrm>
          <a:off x="1569719" y="4760976"/>
          <a:ext cx="862330" cy="624839"/>
        </p:xfrm>
        <a:graphic>
          <a:graphicData uri="http://schemas.openxmlformats.org/drawingml/2006/table">
            <a:tbl>
              <a:tblPr/>
              <a:tblGrid>
                <a:gridCol w="862330"/>
              </a:tblGrid>
              <a:tr h="618489">
                <a:tc>
                  <a:txBody>
                    <a:bodyPr/>
                    <a:lstStyle/>
                    <a:p>
                      <a:pPr algn="l"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marL="81915" algn="l" rtl="0" eaLnBrk="0">
                        <a:lnSpc>
                          <a:spcPct val="92000"/>
                        </a:lnSpc>
                        <a:spcBef>
                          <a:spcPts val="5"/>
                        </a:spcBef>
                      </a:pPr>
                      <a:r>
                        <a:rPr sz="24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0" baseline="-27000" dirty="0">
                          <a:solidFill>
                            <a:srgbClr val="000000">
                              <a:alpha val="100000"/>
                            </a:srgbClr>
                          </a:solidFill>
                          <a:latin typeface="Times New Roman" panose="02020603050405020304"/>
                          <a:ea typeface="Times New Roman" panose="02020603050405020304"/>
                          <a:cs typeface="Times New Roman" panose="02020603050405020304"/>
                        </a:rPr>
                        <a:t>k</a:t>
                      </a:r>
                      <a:r>
                        <a:rPr sz="1300" i="1"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1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11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11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314" name="picture 314"/>
          <p:cNvPicPr>
            <a:picLocks noChangeAspect="1"/>
          </p:cNvPicPr>
          <p:nvPr/>
        </p:nvPicPr>
        <p:blipFill>
          <a:blip r:embed="rId2"/>
          <a:stretch>
            <a:fillRect/>
          </a:stretch>
        </p:blipFill>
        <p:spPr>
          <a:xfrm rot="21600000">
            <a:off x="1978151" y="5381244"/>
            <a:ext cx="76200" cy="548639"/>
          </a:xfrm>
          <a:prstGeom prst="rect">
            <a:avLst/>
          </a:prstGeom>
        </p:spPr>
      </p:pic>
      <p:sp>
        <p:nvSpPr>
          <p:cNvPr id="316" name="path 316"/>
          <p:cNvSpPr/>
          <p:nvPr/>
        </p:nvSpPr>
        <p:spPr>
          <a:xfrm>
            <a:off x="2016251" y="5559552"/>
            <a:ext cx="618744" cy="9144"/>
          </a:xfrm>
          <a:custGeom>
            <a:avLst/>
            <a:gdLst/>
            <a:ahLst/>
            <a:cxnLst/>
            <a:rect l="0" t="0" r="0" b="0"/>
            <a:pathLst>
              <a:path w="974" h="14">
                <a:moveTo>
                  <a:pt x="0" y="7"/>
                </a:moveTo>
                <a:lnTo>
                  <a:pt x="974" y="7"/>
                </a:lnTo>
              </a:path>
            </a:pathLst>
          </a:custGeom>
          <a:noFill/>
          <a:ln w="9143" cap="flat">
            <a:solidFill>
              <a:srgbClr val="FF00FF"/>
            </a:solidFill>
            <a:prstDash val="solid"/>
            <a:round/>
          </a:ln>
        </p:spPr>
        <p:txBody>
          <a:bodyPr rtlCol="0"/>
          <a:lstStyle/>
          <a:p>
            <a:pPr algn="ctr"/>
            <a:endParaRPr lang="zh-CN" altLang="en-US"/>
          </a:p>
        </p:txBody>
      </p:sp>
      <p:graphicFrame>
        <p:nvGraphicFramePr>
          <p:cNvPr id="318" name="table 318"/>
          <p:cNvGraphicFramePr>
            <a:graphicFrameLocks noGrp="1"/>
          </p:cNvGraphicFramePr>
          <p:nvPr/>
        </p:nvGraphicFramePr>
        <p:xfrm>
          <a:off x="4206240" y="4760976"/>
          <a:ext cx="831850" cy="624839"/>
        </p:xfrm>
        <a:graphic>
          <a:graphicData uri="http://schemas.openxmlformats.org/drawingml/2006/table">
            <a:tbl>
              <a:tblPr/>
              <a:tblGrid>
                <a:gridCol w="831850"/>
              </a:tblGrid>
              <a:tr h="618489">
                <a:tc>
                  <a:txBody>
                    <a:bodyPr/>
                    <a:lstStyle/>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
                        </a:lnSpc>
                      </a:pPr>
                      <a:endParaRPr sz="100" dirty="0">
                        <a:latin typeface="Arial" panose="020B0604020202020204" pitchFamily="34" charset="0"/>
                        <a:ea typeface="Arial" panose="020B0604020202020204" pitchFamily="34" charset="0"/>
                        <a:cs typeface="Arial" panose="020B0604020202020204" pitchFamily="34" charset="0"/>
                      </a:endParaRPr>
                    </a:p>
                    <a:p>
                      <a:pPr marL="94615" algn="l" rtl="0" eaLnBrk="0">
                        <a:lnSpc>
                          <a:spcPct val="96000"/>
                        </a:lnSpc>
                      </a:pPr>
                      <a:r>
                        <a:rPr sz="2300" i="1" kern="0" spc="-70" dirty="0">
                          <a:solidFill>
                            <a:srgbClr val="000000">
                              <a:alpha val="100000"/>
                            </a:srgbClr>
                          </a:solidFill>
                          <a:latin typeface="Times New Roman" panose="02020603050405020304"/>
                          <a:ea typeface="Times New Roman" panose="02020603050405020304"/>
                          <a:cs typeface="Times New Roman" panose="02020603050405020304"/>
                        </a:rPr>
                        <a:t>E</a:t>
                      </a:r>
                      <a:r>
                        <a:rPr sz="2000" i="1" kern="0" spc="-70" baseline="-29000" dirty="0">
                          <a:solidFill>
                            <a:srgbClr val="000000">
                              <a:alpha val="100000"/>
                            </a:srgbClr>
                          </a:solidFill>
                          <a:latin typeface="Times New Roman" panose="02020603050405020304"/>
                          <a:ea typeface="Times New Roman" panose="02020603050405020304"/>
                          <a:cs typeface="Times New Roman" panose="02020603050405020304"/>
                        </a:rPr>
                        <a:t>k</a:t>
                      </a:r>
                      <a:r>
                        <a:rPr sz="1200" i="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50" dirty="0">
                          <a:solidFill>
                            <a:srgbClr val="000000">
                              <a:alpha val="100000"/>
                            </a:srgbClr>
                          </a:solidFill>
                          <a:latin typeface="Times New Roman" panose="02020603050405020304"/>
                          <a:ea typeface="Times New Roman" panose="02020603050405020304"/>
                          <a:cs typeface="Times New Roman" panose="02020603050405020304"/>
                        </a:rPr>
                        <a:t>(</a:t>
                      </a:r>
                      <a:r>
                        <a:rPr sz="2300" i="1" kern="0" spc="-50" dirty="0">
                          <a:solidFill>
                            <a:srgbClr val="000000">
                              <a:alpha val="100000"/>
                            </a:srgbClr>
                          </a:solidFill>
                          <a:latin typeface="Times New Roman" panose="02020603050405020304"/>
                          <a:ea typeface="Times New Roman" panose="02020603050405020304"/>
                          <a:cs typeface="Times New Roman" panose="02020603050405020304"/>
                        </a:rPr>
                        <a:t>x</a:t>
                      </a:r>
                      <a:r>
                        <a:rPr sz="2300" kern="0" spc="-50" dirty="0">
                          <a:solidFill>
                            <a:srgbClr val="000000">
                              <a:alpha val="100000"/>
                            </a:srgbClr>
                          </a:solidFill>
                          <a:latin typeface="Times New Roman" panose="02020603050405020304"/>
                          <a:ea typeface="Times New Roman" panose="02020603050405020304"/>
                          <a:cs typeface="Times New Roman" panose="02020603050405020304"/>
                        </a:rPr>
                        <a:t>)</a:t>
                      </a:r>
                      <a:endParaRPr sz="2300" dirty="0">
                        <a:latin typeface="Times New Roman" panose="02020603050405020304"/>
                        <a:ea typeface="Times New Roman" panose="02020603050405020304"/>
                        <a:cs typeface="Times New Roman" panose="02020603050405020304"/>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320" name="picture 320"/>
          <p:cNvPicPr>
            <a:picLocks noChangeAspect="1"/>
          </p:cNvPicPr>
          <p:nvPr/>
        </p:nvPicPr>
        <p:blipFill>
          <a:blip r:embed="rId3"/>
          <a:stretch>
            <a:fillRect/>
          </a:stretch>
        </p:blipFill>
        <p:spPr>
          <a:xfrm rot="21600000">
            <a:off x="4584191" y="5381244"/>
            <a:ext cx="76200" cy="548639"/>
          </a:xfrm>
          <a:prstGeom prst="rect">
            <a:avLst/>
          </a:prstGeom>
        </p:spPr>
      </p:pic>
      <p:sp>
        <p:nvSpPr>
          <p:cNvPr id="322" name="path 322"/>
          <p:cNvSpPr/>
          <p:nvPr/>
        </p:nvSpPr>
        <p:spPr>
          <a:xfrm>
            <a:off x="4637532" y="5571744"/>
            <a:ext cx="618743" cy="9144"/>
          </a:xfrm>
          <a:custGeom>
            <a:avLst/>
            <a:gdLst/>
            <a:ahLst/>
            <a:cxnLst/>
            <a:rect l="0" t="0" r="0" b="0"/>
            <a:pathLst>
              <a:path w="974" h="14">
                <a:moveTo>
                  <a:pt x="0" y="7"/>
                </a:moveTo>
                <a:lnTo>
                  <a:pt x="974" y="7"/>
                </a:lnTo>
              </a:path>
            </a:pathLst>
          </a:custGeom>
          <a:noFill/>
          <a:ln w="9143" cap="flat">
            <a:solidFill>
              <a:srgbClr val="FF00FF"/>
            </a:solidFill>
            <a:prstDash val="solid"/>
            <a:round/>
          </a:ln>
        </p:spPr>
        <p:txBody>
          <a:bodyPr rtlCol="0"/>
          <a:lstStyle/>
          <a:p>
            <a:pPr algn="ctr"/>
            <a:endParaRPr lang="zh-CN" altLang="en-US"/>
          </a:p>
        </p:txBody>
      </p:sp>
      <p:graphicFrame>
        <p:nvGraphicFramePr>
          <p:cNvPr id="324" name="table 324"/>
          <p:cNvGraphicFramePr>
            <a:graphicFrameLocks noGrp="1"/>
          </p:cNvGraphicFramePr>
          <p:nvPr/>
        </p:nvGraphicFramePr>
        <p:xfrm>
          <a:off x="5541264" y="4760976"/>
          <a:ext cx="835025" cy="624839"/>
        </p:xfrm>
        <a:graphic>
          <a:graphicData uri="http://schemas.openxmlformats.org/drawingml/2006/table">
            <a:tbl>
              <a:tblPr/>
              <a:tblGrid>
                <a:gridCol w="835025"/>
              </a:tblGrid>
              <a:tr h="618489">
                <a:tc>
                  <a:txBody>
                    <a:bodyPr/>
                    <a:lstStyle/>
                    <a:p>
                      <a:pPr algn="l" rtl="0" eaLnBrk="0">
                        <a:lnSpc>
                          <a:spcPct val="108000"/>
                        </a:lnSpc>
                      </a:pPr>
                      <a:endParaRPr sz="1000" dirty="0">
                        <a:latin typeface="Arial" panose="020B0604020202020204" pitchFamily="34" charset="0"/>
                        <a:ea typeface="Arial" panose="020B0604020202020204" pitchFamily="34" charset="0"/>
                        <a:cs typeface="Arial" panose="020B0604020202020204" pitchFamily="34" charset="0"/>
                      </a:endParaRPr>
                    </a:p>
                    <a:p>
                      <a:pPr marL="64135" algn="l" rtl="0" eaLnBrk="0">
                        <a:lnSpc>
                          <a:spcPct val="92000"/>
                        </a:lnSpc>
                        <a:spcBef>
                          <a:spcPts val="5"/>
                        </a:spcBef>
                      </a:pPr>
                      <a:r>
                        <a:rPr sz="24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0" baseline="-27000" dirty="0">
                          <a:solidFill>
                            <a:srgbClr val="000000">
                              <a:alpha val="100000"/>
                            </a:srgbClr>
                          </a:solidFill>
                          <a:latin typeface="Times New Roman" panose="02020603050405020304"/>
                          <a:ea typeface="Times New Roman" panose="02020603050405020304"/>
                          <a:cs typeface="Times New Roman" panose="02020603050405020304"/>
                        </a:rPr>
                        <a:t>k</a:t>
                      </a:r>
                      <a:r>
                        <a:rPr sz="1300" i="1"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1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11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11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326" name="picture 326"/>
          <p:cNvPicPr>
            <a:picLocks noChangeAspect="1"/>
          </p:cNvPicPr>
          <p:nvPr/>
        </p:nvPicPr>
        <p:blipFill>
          <a:blip r:embed="rId4"/>
          <a:stretch>
            <a:fillRect/>
          </a:stretch>
        </p:blipFill>
        <p:spPr>
          <a:xfrm rot="21600000">
            <a:off x="5922263" y="5381244"/>
            <a:ext cx="76200" cy="548639"/>
          </a:xfrm>
          <a:prstGeom prst="rect">
            <a:avLst/>
          </a:prstGeom>
        </p:spPr>
      </p:pic>
      <p:sp>
        <p:nvSpPr>
          <p:cNvPr id="328" name="path 328"/>
          <p:cNvSpPr/>
          <p:nvPr/>
        </p:nvSpPr>
        <p:spPr>
          <a:xfrm>
            <a:off x="5911595" y="5559552"/>
            <a:ext cx="618744" cy="9144"/>
          </a:xfrm>
          <a:custGeom>
            <a:avLst/>
            <a:gdLst/>
            <a:ahLst/>
            <a:cxnLst/>
            <a:rect l="0" t="0" r="0" b="0"/>
            <a:pathLst>
              <a:path w="974" h="14">
                <a:moveTo>
                  <a:pt x="0" y="7"/>
                </a:moveTo>
                <a:lnTo>
                  <a:pt x="974" y="7"/>
                </a:lnTo>
              </a:path>
            </a:pathLst>
          </a:custGeom>
          <a:noFill/>
          <a:ln w="9143" cap="flat">
            <a:solidFill>
              <a:srgbClr val="FF00FF"/>
            </a:solidFill>
            <a:prstDash val="solid"/>
            <a:round/>
          </a:ln>
        </p:spPr>
        <p:txBody>
          <a:bodyPr rtlCol="0"/>
          <a:lstStyle/>
          <a:p>
            <a:pPr algn="ctr"/>
            <a:endParaRPr lang="zh-CN" altLang="en-US"/>
          </a:p>
        </p:txBody>
      </p:sp>
      <p:sp>
        <p:nvSpPr>
          <p:cNvPr id="330" name="path 330"/>
          <p:cNvSpPr/>
          <p:nvPr/>
        </p:nvSpPr>
        <p:spPr>
          <a:xfrm>
            <a:off x="7956804" y="5571744"/>
            <a:ext cx="615695" cy="9144"/>
          </a:xfrm>
          <a:custGeom>
            <a:avLst/>
            <a:gdLst/>
            <a:ahLst/>
            <a:cxnLst/>
            <a:rect l="0" t="0" r="0" b="0"/>
            <a:pathLst>
              <a:path w="969" h="14">
                <a:moveTo>
                  <a:pt x="0" y="7"/>
                </a:moveTo>
                <a:lnTo>
                  <a:pt x="969" y="7"/>
                </a:lnTo>
              </a:path>
            </a:pathLst>
          </a:custGeom>
          <a:noFill/>
          <a:ln w="9143" cap="flat">
            <a:solidFill>
              <a:srgbClr val="FF00FF"/>
            </a:solidFill>
            <a:prstDash val="solid"/>
            <a:round/>
          </a:ln>
        </p:spPr>
        <p:txBody>
          <a:bodyPr rtlCol="0"/>
          <a:lstStyle/>
          <a:p>
            <a:pPr algn="ctr"/>
            <a:endParaRPr lang="zh-CN" altLang="en-US"/>
          </a:p>
        </p:txBody>
      </p:sp>
      <p:grpSp>
        <p:nvGrpSpPr>
          <p:cNvPr id="20" name="group 20"/>
          <p:cNvGrpSpPr/>
          <p:nvPr/>
        </p:nvGrpSpPr>
        <p:grpSpPr>
          <a:xfrm rot="21600000">
            <a:off x="2630423" y="4466844"/>
            <a:ext cx="5946647" cy="1109472"/>
            <a:chOff x="0" y="0"/>
            <a:chExt cx="5946647" cy="1109472"/>
          </a:xfrm>
        </p:grpSpPr>
        <p:sp>
          <p:nvSpPr>
            <p:cNvPr id="332" name="path 332"/>
            <p:cNvSpPr/>
            <p:nvPr/>
          </p:nvSpPr>
          <p:spPr>
            <a:xfrm>
              <a:off x="0" y="0"/>
              <a:ext cx="3904488" cy="1109472"/>
            </a:xfrm>
            <a:custGeom>
              <a:avLst/>
              <a:gdLst/>
              <a:ahLst/>
              <a:cxnLst/>
              <a:rect l="0" t="0" r="0" b="0"/>
              <a:pathLst>
                <a:path w="6148" h="1747">
                  <a:moveTo>
                    <a:pt x="7" y="0"/>
                  </a:moveTo>
                  <a:lnTo>
                    <a:pt x="7" y="1727"/>
                  </a:lnTo>
                  <a:moveTo>
                    <a:pt x="2037" y="19"/>
                  </a:moveTo>
                  <a:lnTo>
                    <a:pt x="2037" y="1747"/>
                  </a:lnTo>
                  <a:moveTo>
                    <a:pt x="4135" y="19"/>
                  </a:moveTo>
                  <a:lnTo>
                    <a:pt x="4135" y="1747"/>
                  </a:lnTo>
                  <a:moveTo>
                    <a:pt x="6141" y="0"/>
                  </a:moveTo>
                  <a:lnTo>
                    <a:pt x="6141" y="1727"/>
                  </a:lnTo>
                </a:path>
              </a:pathLst>
            </a:custGeom>
            <a:noFill/>
            <a:ln w="9143" cap="flat">
              <a:solidFill>
                <a:srgbClr val="FF00FF"/>
              </a:solidFill>
              <a:prstDash val="solid"/>
              <a:round/>
            </a:ln>
          </p:spPr>
          <p:txBody>
            <a:bodyPr rtlCol="0"/>
            <a:lstStyle/>
            <a:p>
              <a:pPr algn="ctr"/>
              <a:endParaRPr lang="zh-CN" altLang="en-US"/>
            </a:p>
          </p:txBody>
        </p:sp>
        <p:sp>
          <p:nvSpPr>
            <p:cNvPr id="334" name="path 334"/>
            <p:cNvSpPr/>
            <p:nvPr/>
          </p:nvSpPr>
          <p:spPr>
            <a:xfrm>
              <a:off x="5937504" y="12191"/>
              <a:ext cx="9143" cy="1097280"/>
            </a:xfrm>
            <a:custGeom>
              <a:avLst/>
              <a:gdLst/>
              <a:ahLst/>
              <a:cxnLst/>
              <a:rect l="0" t="0" r="0" b="0"/>
              <a:pathLst>
                <a:path w="14" h="1728">
                  <a:moveTo>
                    <a:pt x="7" y="0"/>
                  </a:moveTo>
                  <a:lnTo>
                    <a:pt x="7" y="1728"/>
                  </a:lnTo>
                </a:path>
              </a:pathLst>
            </a:custGeom>
            <a:noFill/>
            <a:ln w="9143" cap="flat">
              <a:solidFill>
                <a:srgbClr val="FF00FF"/>
              </a:solidFill>
              <a:prstDash val="solid"/>
              <a:round/>
            </a:ln>
          </p:spPr>
          <p:txBody>
            <a:bodyPr rtlCol="0"/>
            <a:lstStyle/>
            <a:p>
              <a:pPr algn="ctr"/>
              <a:endParaRPr lang="zh-CN" altLang="en-US"/>
            </a:p>
          </p:txBody>
        </p:sp>
      </p:grpSp>
      <p:pic>
        <p:nvPicPr>
          <p:cNvPr id="336" name="picture 336"/>
          <p:cNvPicPr>
            <a:picLocks noChangeAspect="1"/>
          </p:cNvPicPr>
          <p:nvPr/>
        </p:nvPicPr>
        <p:blipFill>
          <a:blip r:embed="rId5"/>
          <a:stretch>
            <a:fillRect/>
          </a:stretch>
        </p:blipFill>
        <p:spPr>
          <a:xfrm rot="21600000">
            <a:off x="3282695" y="4216908"/>
            <a:ext cx="76200" cy="548639"/>
          </a:xfrm>
          <a:prstGeom prst="rect">
            <a:avLst/>
          </a:prstGeom>
        </p:spPr>
      </p:pic>
      <p:pic>
        <p:nvPicPr>
          <p:cNvPr id="338" name="picture 338"/>
          <p:cNvPicPr>
            <a:picLocks noChangeAspect="1"/>
          </p:cNvPicPr>
          <p:nvPr/>
        </p:nvPicPr>
        <p:blipFill>
          <a:blip r:embed="rId6"/>
          <a:stretch>
            <a:fillRect/>
          </a:stretch>
        </p:blipFill>
        <p:spPr>
          <a:xfrm rot="21600000">
            <a:off x="4584191" y="4216908"/>
            <a:ext cx="76200" cy="548639"/>
          </a:xfrm>
          <a:prstGeom prst="rect">
            <a:avLst/>
          </a:prstGeom>
        </p:spPr>
      </p:pic>
      <p:grpSp>
        <p:nvGrpSpPr>
          <p:cNvPr id="22" name="group 22"/>
          <p:cNvGrpSpPr/>
          <p:nvPr/>
        </p:nvGrpSpPr>
        <p:grpSpPr>
          <a:xfrm rot="21600000">
            <a:off x="3179064" y="4309871"/>
            <a:ext cx="295655" cy="298704"/>
            <a:chOff x="0" y="0"/>
            <a:chExt cx="295655" cy="298704"/>
          </a:xfrm>
        </p:grpSpPr>
        <p:sp>
          <p:nvSpPr>
            <p:cNvPr id="340" name="path 340"/>
            <p:cNvSpPr/>
            <p:nvPr/>
          </p:nvSpPr>
          <p:spPr>
            <a:xfrm>
              <a:off x="4572" y="4572"/>
              <a:ext cx="286512" cy="289560"/>
            </a:xfrm>
            <a:custGeom>
              <a:avLst/>
              <a:gdLst/>
              <a:ahLst/>
              <a:cxnLst/>
              <a:rect l="0" t="0" r="0" b="0"/>
              <a:pathLst>
                <a:path w="451" h="456">
                  <a:moveTo>
                    <a:pt x="0" y="227"/>
                  </a:moveTo>
                  <a:cubicBezTo>
                    <a:pt x="0" y="101"/>
                    <a:pt x="100" y="0"/>
                    <a:pt x="225" y="0"/>
                  </a:cubicBezTo>
                  <a:cubicBezTo>
                    <a:pt x="350" y="0"/>
                    <a:pt x="451" y="101"/>
                    <a:pt x="451" y="227"/>
                  </a:cubicBezTo>
                  <a:cubicBezTo>
                    <a:pt x="451" y="353"/>
                    <a:pt x="350" y="456"/>
                    <a:pt x="225" y="456"/>
                  </a:cubicBezTo>
                  <a:cubicBezTo>
                    <a:pt x="100" y="456"/>
                    <a:pt x="0" y="353"/>
                    <a:pt x="0" y="227"/>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42" name="path 342"/>
            <p:cNvSpPr/>
            <p:nvPr/>
          </p:nvSpPr>
          <p:spPr>
            <a:xfrm>
              <a:off x="0" y="0"/>
              <a:ext cx="295655" cy="298704"/>
            </a:xfrm>
            <a:custGeom>
              <a:avLst/>
              <a:gdLst/>
              <a:ahLst/>
              <a:cxnLst/>
              <a:rect l="0" t="0" r="0" b="0"/>
              <a:pathLst>
                <a:path w="465" h="470">
                  <a:moveTo>
                    <a:pt x="232" y="7"/>
                  </a:moveTo>
                  <a:lnTo>
                    <a:pt x="232" y="463"/>
                  </a:lnTo>
                  <a:moveTo>
                    <a:pt x="7" y="235"/>
                  </a:moveTo>
                  <a:cubicBezTo>
                    <a:pt x="7" y="109"/>
                    <a:pt x="108" y="7"/>
                    <a:pt x="232" y="7"/>
                  </a:cubicBezTo>
                  <a:cubicBezTo>
                    <a:pt x="357" y="7"/>
                    <a:pt x="458" y="109"/>
                    <a:pt x="458" y="235"/>
                  </a:cubicBezTo>
                  <a:cubicBezTo>
                    <a:pt x="458" y="361"/>
                    <a:pt x="357" y="463"/>
                    <a:pt x="232" y="463"/>
                  </a:cubicBezTo>
                  <a:cubicBezTo>
                    <a:pt x="108" y="463"/>
                    <a:pt x="7" y="361"/>
                    <a:pt x="7" y="235"/>
                  </a:cubicBezTo>
                </a:path>
              </a:pathLst>
            </a:custGeom>
            <a:noFill/>
            <a:ln w="9143" cap="flat">
              <a:solidFill>
                <a:srgbClr val="FF00FF"/>
              </a:solidFill>
              <a:prstDash val="solid"/>
              <a:round/>
            </a:ln>
          </p:spPr>
          <p:txBody>
            <a:bodyPr rtlCol="0"/>
            <a:lstStyle/>
            <a:p>
              <a:pPr algn="ctr"/>
              <a:endParaRPr lang="zh-CN" altLang="en-US"/>
            </a:p>
          </p:txBody>
        </p:sp>
      </p:grpSp>
      <p:pic>
        <p:nvPicPr>
          <p:cNvPr id="344" name="picture 344"/>
          <p:cNvPicPr>
            <a:picLocks noChangeAspect="1"/>
          </p:cNvPicPr>
          <p:nvPr/>
        </p:nvPicPr>
        <p:blipFill>
          <a:blip r:embed="rId7"/>
          <a:stretch>
            <a:fillRect/>
          </a:stretch>
        </p:blipFill>
        <p:spPr>
          <a:xfrm rot="21600000">
            <a:off x="5922263" y="4216908"/>
            <a:ext cx="76200" cy="548639"/>
          </a:xfrm>
          <a:prstGeom prst="rect">
            <a:avLst/>
          </a:prstGeom>
        </p:spPr>
      </p:pic>
      <p:grpSp>
        <p:nvGrpSpPr>
          <p:cNvPr id="24" name="group 24"/>
          <p:cNvGrpSpPr/>
          <p:nvPr/>
        </p:nvGrpSpPr>
        <p:grpSpPr>
          <a:xfrm rot="21600000">
            <a:off x="4468368" y="4325111"/>
            <a:ext cx="295655" cy="295655"/>
            <a:chOff x="0" y="0"/>
            <a:chExt cx="295655" cy="295655"/>
          </a:xfrm>
        </p:grpSpPr>
        <p:sp>
          <p:nvSpPr>
            <p:cNvPr id="346" name="path 346"/>
            <p:cNvSpPr/>
            <p:nvPr/>
          </p:nvSpPr>
          <p:spPr>
            <a:xfrm>
              <a:off x="4571" y="4572"/>
              <a:ext cx="286511" cy="286511"/>
            </a:xfrm>
            <a:custGeom>
              <a:avLst/>
              <a:gdLst/>
              <a:ahLst/>
              <a:cxnLst/>
              <a:rect l="0" t="0" r="0" b="0"/>
              <a:pathLst>
                <a:path w="451" h="451">
                  <a:moveTo>
                    <a:pt x="0" y="225"/>
                  </a:moveTo>
                  <a:cubicBezTo>
                    <a:pt x="0" y="101"/>
                    <a:pt x="100" y="0"/>
                    <a:pt x="225" y="0"/>
                  </a:cubicBezTo>
                  <a:cubicBezTo>
                    <a:pt x="350" y="0"/>
                    <a:pt x="451" y="101"/>
                    <a:pt x="451" y="225"/>
                  </a:cubicBezTo>
                  <a:cubicBezTo>
                    <a:pt x="451" y="350"/>
                    <a:pt x="350" y="451"/>
                    <a:pt x="225" y="451"/>
                  </a:cubicBezTo>
                  <a:cubicBezTo>
                    <a:pt x="100" y="451"/>
                    <a:pt x="0" y="350"/>
                    <a:pt x="0" y="225"/>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48" name="path 348"/>
            <p:cNvSpPr/>
            <p:nvPr/>
          </p:nvSpPr>
          <p:spPr>
            <a:xfrm>
              <a:off x="0" y="0"/>
              <a:ext cx="295655" cy="295655"/>
            </a:xfrm>
            <a:custGeom>
              <a:avLst/>
              <a:gdLst/>
              <a:ahLst/>
              <a:cxnLst/>
              <a:rect l="0" t="0" r="0" b="0"/>
              <a:pathLst>
                <a:path w="465" h="465">
                  <a:moveTo>
                    <a:pt x="232" y="7"/>
                  </a:moveTo>
                  <a:lnTo>
                    <a:pt x="232" y="458"/>
                  </a:lnTo>
                  <a:moveTo>
                    <a:pt x="7" y="232"/>
                  </a:moveTo>
                  <a:cubicBezTo>
                    <a:pt x="7" y="108"/>
                    <a:pt x="108" y="7"/>
                    <a:pt x="232" y="7"/>
                  </a:cubicBezTo>
                  <a:cubicBezTo>
                    <a:pt x="357" y="7"/>
                    <a:pt x="458" y="108"/>
                    <a:pt x="458" y="232"/>
                  </a:cubicBezTo>
                  <a:cubicBezTo>
                    <a:pt x="458" y="357"/>
                    <a:pt x="357" y="458"/>
                    <a:pt x="232" y="458"/>
                  </a:cubicBezTo>
                  <a:cubicBezTo>
                    <a:pt x="108" y="458"/>
                    <a:pt x="7" y="357"/>
                    <a:pt x="7" y="232"/>
                  </a:cubicBezTo>
                </a:path>
              </a:pathLst>
            </a:custGeom>
            <a:noFill/>
            <a:ln w="9143" cap="flat">
              <a:solidFill>
                <a:srgbClr val="FF00FF"/>
              </a:solidFill>
              <a:prstDash val="solid"/>
              <a:round/>
            </a:ln>
          </p:spPr>
          <p:txBody>
            <a:bodyPr rtlCol="0"/>
            <a:lstStyle/>
            <a:p>
              <a:pPr algn="ctr"/>
              <a:endParaRPr lang="zh-CN" altLang="en-US"/>
            </a:p>
          </p:txBody>
        </p:sp>
      </p:grpSp>
      <p:grpSp>
        <p:nvGrpSpPr>
          <p:cNvPr id="26" name="group 26"/>
          <p:cNvGrpSpPr/>
          <p:nvPr/>
        </p:nvGrpSpPr>
        <p:grpSpPr>
          <a:xfrm rot="21600000">
            <a:off x="5800344" y="4325111"/>
            <a:ext cx="298703" cy="295655"/>
            <a:chOff x="0" y="0"/>
            <a:chExt cx="298703" cy="295655"/>
          </a:xfrm>
        </p:grpSpPr>
        <p:sp>
          <p:nvSpPr>
            <p:cNvPr id="350" name="path 350"/>
            <p:cNvSpPr/>
            <p:nvPr/>
          </p:nvSpPr>
          <p:spPr>
            <a:xfrm>
              <a:off x="4571" y="4572"/>
              <a:ext cx="289559" cy="286511"/>
            </a:xfrm>
            <a:custGeom>
              <a:avLst/>
              <a:gdLst/>
              <a:ahLst/>
              <a:cxnLst/>
              <a:rect l="0" t="0" r="0" b="0"/>
              <a:pathLst>
                <a:path w="455" h="451">
                  <a:moveTo>
                    <a:pt x="0" y="225"/>
                  </a:moveTo>
                  <a:cubicBezTo>
                    <a:pt x="0" y="101"/>
                    <a:pt x="102" y="0"/>
                    <a:pt x="227" y="0"/>
                  </a:cubicBezTo>
                  <a:cubicBezTo>
                    <a:pt x="354" y="0"/>
                    <a:pt x="455" y="101"/>
                    <a:pt x="455" y="225"/>
                  </a:cubicBezTo>
                  <a:cubicBezTo>
                    <a:pt x="455" y="350"/>
                    <a:pt x="354" y="451"/>
                    <a:pt x="227" y="451"/>
                  </a:cubicBezTo>
                  <a:cubicBezTo>
                    <a:pt x="102" y="451"/>
                    <a:pt x="0" y="350"/>
                    <a:pt x="0" y="225"/>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52" name="path 352"/>
            <p:cNvSpPr/>
            <p:nvPr/>
          </p:nvSpPr>
          <p:spPr>
            <a:xfrm>
              <a:off x="0" y="0"/>
              <a:ext cx="298703" cy="295655"/>
            </a:xfrm>
            <a:custGeom>
              <a:avLst/>
              <a:gdLst/>
              <a:ahLst/>
              <a:cxnLst/>
              <a:rect l="0" t="0" r="0" b="0"/>
              <a:pathLst>
                <a:path w="470" h="465">
                  <a:moveTo>
                    <a:pt x="235" y="7"/>
                  </a:moveTo>
                  <a:lnTo>
                    <a:pt x="235" y="458"/>
                  </a:lnTo>
                  <a:moveTo>
                    <a:pt x="7" y="232"/>
                  </a:moveTo>
                  <a:cubicBezTo>
                    <a:pt x="7" y="108"/>
                    <a:pt x="109" y="7"/>
                    <a:pt x="235" y="7"/>
                  </a:cubicBezTo>
                  <a:cubicBezTo>
                    <a:pt x="361" y="7"/>
                    <a:pt x="463" y="108"/>
                    <a:pt x="463" y="232"/>
                  </a:cubicBezTo>
                  <a:cubicBezTo>
                    <a:pt x="463" y="357"/>
                    <a:pt x="361" y="458"/>
                    <a:pt x="235" y="458"/>
                  </a:cubicBezTo>
                  <a:cubicBezTo>
                    <a:pt x="109" y="458"/>
                    <a:pt x="7" y="357"/>
                    <a:pt x="7" y="232"/>
                  </a:cubicBezTo>
                </a:path>
              </a:pathLst>
            </a:custGeom>
            <a:noFill/>
            <a:ln w="9143" cap="flat">
              <a:solidFill>
                <a:srgbClr val="FF00FF"/>
              </a:solidFill>
              <a:prstDash val="solid"/>
              <a:round/>
            </a:ln>
          </p:spPr>
          <p:txBody>
            <a:bodyPr rtlCol="0"/>
            <a:lstStyle/>
            <a:p>
              <a:pPr algn="ctr"/>
              <a:endParaRPr lang="zh-CN" altLang="en-US"/>
            </a:p>
          </p:txBody>
        </p:sp>
      </p:grpSp>
      <p:graphicFrame>
        <p:nvGraphicFramePr>
          <p:cNvPr id="354" name="table 354"/>
          <p:cNvGraphicFramePr>
            <a:graphicFrameLocks noGrp="1"/>
          </p:cNvGraphicFramePr>
          <p:nvPr/>
        </p:nvGraphicFramePr>
        <p:xfrm>
          <a:off x="8845295" y="4760976"/>
          <a:ext cx="916940" cy="627380"/>
        </p:xfrm>
        <a:graphic>
          <a:graphicData uri="http://schemas.openxmlformats.org/drawingml/2006/table">
            <a:tbl>
              <a:tblPr/>
              <a:tblGrid>
                <a:gridCol w="916940"/>
              </a:tblGrid>
              <a:tr h="621030">
                <a:tc>
                  <a:txBody>
                    <a:bodyPr/>
                    <a:lstStyle/>
                    <a:p>
                      <a:pPr algn="l" rtl="0" eaLnBrk="0">
                        <a:lnSpc>
                          <a:spcPct val="129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92075" algn="l" rtl="0" eaLnBrk="0">
                        <a:lnSpc>
                          <a:spcPct val="90000"/>
                        </a:lnSpc>
                      </a:pPr>
                      <a:r>
                        <a:rPr sz="2400" b="1" i="1" kern="0" spc="0" dirty="0">
                          <a:solidFill>
                            <a:srgbClr val="1C1C1C">
                              <a:alpha val="100000"/>
                            </a:srgbClr>
                          </a:solidFill>
                          <a:latin typeface="Times New Roman" panose="02020603050405020304"/>
                          <a:ea typeface="Times New Roman" panose="02020603050405020304"/>
                          <a:cs typeface="Times New Roman" panose="02020603050405020304"/>
                        </a:rPr>
                        <a:t>E</a:t>
                      </a:r>
                      <a:r>
                        <a:rPr sz="2200" b="1" i="1" kern="0" spc="0" baseline="-24000" dirty="0">
                          <a:solidFill>
                            <a:srgbClr val="1C1C1C">
                              <a:alpha val="100000"/>
                            </a:srgbClr>
                          </a:solidFill>
                          <a:latin typeface="Times New Roman" panose="02020603050405020304"/>
                          <a:ea typeface="Times New Roman" panose="02020603050405020304"/>
                          <a:cs typeface="Times New Roman" panose="02020603050405020304"/>
                        </a:rPr>
                        <a:t>k</a:t>
                      </a:r>
                      <a:r>
                        <a:rPr sz="1400" b="1" i="1" kern="0" spc="30" dirty="0">
                          <a:solidFill>
                            <a:srgbClr val="1C1C1C">
                              <a:alpha val="100000"/>
                            </a:srgbClr>
                          </a:solidFill>
                          <a:latin typeface="Times New Roman" panose="02020603050405020304"/>
                          <a:ea typeface="Times New Roman" panose="02020603050405020304"/>
                          <a:cs typeface="Times New Roman" panose="02020603050405020304"/>
                        </a:rPr>
                        <a:t> </a:t>
                      </a:r>
                      <a:r>
                        <a:rPr sz="2400" b="1" kern="0" spc="30" dirty="0">
                          <a:solidFill>
                            <a:srgbClr val="1C1C1C">
                              <a:alpha val="100000"/>
                            </a:srgbClr>
                          </a:solidFill>
                          <a:latin typeface="Times New Roman" panose="02020603050405020304"/>
                          <a:ea typeface="Times New Roman" panose="02020603050405020304"/>
                          <a:cs typeface="Times New Roman" panose="02020603050405020304"/>
                        </a:rPr>
                        <a:t>(</a:t>
                      </a:r>
                      <a:r>
                        <a:rPr sz="2400" b="1" i="1" kern="0" spc="30" dirty="0">
                          <a:solidFill>
                            <a:srgbClr val="1C1C1C">
                              <a:alpha val="100000"/>
                            </a:srgbClr>
                          </a:solidFill>
                          <a:latin typeface="Times New Roman" panose="02020603050405020304"/>
                          <a:ea typeface="Times New Roman" panose="02020603050405020304"/>
                          <a:cs typeface="Times New Roman" panose="02020603050405020304"/>
                        </a:rPr>
                        <a:t>x</a:t>
                      </a:r>
                      <a:r>
                        <a:rPr sz="2400" b="1" kern="0" spc="30" dirty="0">
                          <a:solidFill>
                            <a:srgbClr val="1C1C1C">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356" name="picture 356"/>
          <p:cNvPicPr>
            <a:picLocks noChangeAspect="1"/>
          </p:cNvPicPr>
          <p:nvPr/>
        </p:nvPicPr>
        <p:blipFill>
          <a:blip r:embed="rId8"/>
          <a:stretch>
            <a:fillRect/>
          </a:stretch>
        </p:blipFill>
        <p:spPr>
          <a:xfrm rot="21600000">
            <a:off x="9223247" y="4216908"/>
            <a:ext cx="76200" cy="548639"/>
          </a:xfrm>
          <a:prstGeom prst="rect">
            <a:avLst/>
          </a:prstGeom>
        </p:spPr>
      </p:pic>
      <p:grpSp>
        <p:nvGrpSpPr>
          <p:cNvPr id="28" name="group 28"/>
          <p:cNvGrpSpPr/>
          <p:nvPr/>
        </p:nvGrpSpPr>
        <p:grpSpPr>
          <a:xfrm rot="21600000">
            <a:off x="9116568" y="4325111"/>
            <a:ext cx="298703" cy="295655"/>
            <a:chOff x="0" y="0"/>
            <a:chExt cx="298703" cy="295655"/>
          </a:xfrm>
        </p:grpSpPr>
        <p:sp>
          <p:nvSpPr>
            <p:cNvPr id="358" name="path 358"/>
            <p:cNvSpPr/>
            <p:nvPr/>
          </p:nvSpPr>
          <p:spPr>
            <a:xfrm>
              <a:off x="4571" y="4572"/>
              <a:ext cx="289559" cy="286511"/>
            </a:xfrm>
            <a:custGeom>
              <a:avLst/>
              <a:gdLst/>
              <a:ahLst/>
              <a:cxnLst/>
              <a:rect l="0" t="0" r="0" b="0"/>
              <a:pathLst>
                <a:path w="455" h="451">
                  <a:moveTo>
                    <a:pt x="0" y="225"/>
                  </a:moveTo>
                  <a:cubicBezTo>
                    <a:pt x="0" y="101"/>
                    <a:pt x="101" y="0"/>
                    <a:pt x="227" y="0"/>
                  </a:cubicBezTo>
                  <a:cubicBezTo>
                    <a:pt x="354" y="0"/>
                    <a:pt x="455" y="101"/>
                    <a:pt x="455" y="225"/>
                  </a:cubicBezTo>
                  <a:cubicBezTo>
                    <a:pt x="455" y="350"/>
                    <a:pt x="354" y="451"/>
                    <a:pt x="227" y="451"/>
                  </a:cubicBezTo>
                  <a:cubicBezTo>
                    <a:pt x="101" y="451"/>
                    <a:pt x="0" y="350"/>
                    <a:pt x="0" y="225"/>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60" name="path 360"/>
            <p:cNvSpPr/>
            <p:nvPr/>
          </p:nvSpPr>
          <p:spPr>
            <a:xfrm>
              <a:off x="0" y="0"/>
              <a:ext cx="298703" cy="295655"/>
            </a:xfrm>
            <a:custGeom>
              <a:avLst/>
              <a:gdLst/>
              <a:ahLst/>
              <a:cxnLst/>
              <a:rect l="0" t="0" r="0" b="0"/>
              <a:pathLst>
                <a:path w="470" h="465">
                  <a:moveTo>
                    <a:pt x="235" y="7"/>
                  </a:moveTo>
                  <a:lnTo>
                    <a:pt x="235" y="458"/>
                  </a:lnTo>
                  <a:moveTo>
                    <a:pt x="7" y="232"/>
                  </a:moveTo>
                  <a:cubicBezTo>
                    <a:pt x="7" y="108"/>
                    <a:pt x="109" y="7"/>
                    <a:pt x="235" y="7"/>
                  </a:cubicBezTo>
                  <a:cubicBezTo>
                    <a:pt x="361" y="7"/>
                    <a:pt x="463" y="108"/>
                    <a:pt x="463" y="232"/>
                  </a:cubicBezTo>
                  <a:cubicBezTo>
                    <a:pt x="463" y="357"/>
                    <a:pt x="361" y="458"/>
                    <a:pt x="235" y="458"/>
                  </a:cubicBezTo>
                  <a:cubicBezTo>
                    <a:pt x="109" y="458"/>
                    <a:pt x="7" y="357"/>
                    <a:pt x="7" y="232"/>
                  </a:cubicBezTo>
                </a:path>
              </a:pathLst>
            </a:custGeom>
            <a:noFill/>
            <a:ln w="9143" cap="flat">
              <a:solidFill>
                <a:srgbClr val="FF00FF"/>
              </a:solidFill>
              <a:prstDash val="solid"/>
              <a:round/>
            </a:ln>
          </p:spPr>
          <p:txBody>
            <a:bodyPr rtlCol="0"/>
            <a:lstStyle/>
            <a:p>
              <a:pPr algn="ctr"/>
              <a:endParaRPr lang="zh-CN" altLang="en-US"/>
            </a:p>
          </p:txBody>
        </p:sp>
      </p:grpSp>
      <p:sp>
        <p:nvSpPr>
          <p:cNvPr id="362" name="textbox 362"/>
          <p:cNvSpPr/>
          <p:nvPr/>
        </p:nvSpPr>
        <p:spPr>
          <a:xfrm>
            <a:off x="831596" y="1210741"/>
            <a:ext cx="10580369" cy="3319145"/>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245745" indent="-233680" algn="l" rtl="0" eaLnBrk="0">
              <a:lnSpc>
                <a:spcPct val="107000"/>
              </a:lnSpc>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2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1</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）仅需对明文认证而不需加密时</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此时验证者仅收到明文</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m</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和认证码</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C</a:t>
            </a:r>
            <a:r>
              <a:rPr sz="2400" b="1" i="1" kern="0" spc="-10" baseline="-24000" dirty="0">
                <a:solidFill>
                  <a:srgbClr val="000000">
                    <a:alpha val="100000"/>
                  </a:srgbClr>
                </a:solidFill>
                <a:latin typeface="Times New Roman" panose="02020603050405020304"/>
                <a:ea typeface="Times New Roman" panose="02020603050405020304"/>
                <a:cs typeface="Times New Roman" panose="02020603050405020304"/>
              </a:rPr>
              <a:t>n+1</a:t>
            </a:r>
            <a:r>
              <a:rPr sz="1500" b="1"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20" dirty="0">
                <a:solidFill>
                  <a:srgbClr val="000000">
                    <a:alpha val="100000"/>
                  </a:srgbClr>
                </a:solidFill>
                <a:latin typeface="仿宋" panose="02010609060101010101" charset="-122"/>
                <a:ea typeface="仿宋" panose="02010609060101010101" charset="-122"/>
                <a:cs typeface="仿宋" panose="02010609060101010101" charset="-122"/>
              </a:rPr>
              <a:t>他需要：</a:t>
            </a:r>
            <a:endParaRPr sz="2400" dirty="0">
              <a:latin typeface="仿宋" panose="02010609060101010101" charset="-122"/>
              <a:ea typeface="仿宋" panose="02010609060101010101" charset="-122"/>
              <a:cs typeface="仿宋" panose="02010609060101010101" charset="-122"/>
            </a:endParaRPr>
          </a:p>
          <a:p>
            <a:pPr marL="12700" algn="l" rtl="0" eaLnBrk="0">
              <a:lnSpc>
                <a:spcPct val="95000"/>
              </a:lnSpc>
              <a:spcBef>
                <a:spcPts val="1595"/>
              </a:spcBef>
            </a:pPr>
            <a:r>
              <a:rPr sz="2400" kern="0" spc="-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Step1</a:t>
            </a:r>
            <a:r>
              <a:rPr sz="2400" b="1"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产生明文</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m</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的校验码</a:t>
            </a:r>
            <a:r>
              <a:rPr sz="2400" kern="0" spc="280" dirty="0">
                <a:solidFill>
                  <a:srgbClr val="000000">
                    <a:alpha val="100000"/>
                  </a:srgbClr>
                </a:solidFill>
                <a:latin typeface="仿宋" panose="02010609060101010101" charset="-122"/>
                <a:ea typeface="仿宋" panose="02010609060101010101" charset="-122"/>
                <a:cs typeface="仿宋" panose="02010609060101010101" charset="-122"/>
              </a:rPr>
              <a:t> </a:t>
            </a:r>
            <a:r>
              <a:rPr sz="4000" i="1" kern="0" spc="-60" baseline="7000" dirty="0">
                <a:solidFill>
                  <a:srgbClr val="000000">
                    <a:alpha val="100000"/>
                  </a:srgbClr>
                </a:solidFill>
                <a:latin typeface="Times New Roman" panose="02020603050405020304"/>
                <a:ea typeface="Times New Roman" panose="02020603050405020304"/>
                <a:cs typeface="Times New Roman" panose="02020603050405020304"/>
              </a:rPr>
              <a:t>r</a:t>
            </a:r>
            <a:r>
              <a:rPr sz="2600" i="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60" baseline="7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600" kern="0" spc="-2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4000" i="1" kern="0" spc="-60" baseline="7000" dirty="0">
                <a:solidFill>
                  <a:srgbClr val="000000">
                    <a:alpha val="100000"/>
                  </a:srgbClr>
                </a:solidFill>
                <a:latin typeface="Times New Roman" panose="02020603050405020304"/>
                <a:ea typeface="Times New Roman" panose="02020603050405020304"/>
                <a:cs typeface="Times New Roman" panose="02020603050405020304"/>
              </a:rPr>
              <a:t>m</a:t>
            </a:r>
            <a:r>
              <a:rPr sz="2300" i="1" kern="0" spc="-60" baseline="-16000" dirty="0">
                <a:solidFill>
                  <a:srgbClr val="000000">
                    <a:alpha val="100000"/>
                  </a:srgbClr>
                </a:solidFill>
                <a:latin typeface="Times New Roman" panose="02020603050405020304"/>
                <a:ea typeface="Times New Roman" panose="02020603050405020304"/>
                <a:cs typeface="Times New Roman" panose="02020603050405020304"/>
              </a:rPr>
              <a:t>n</a:t>
            </a:r>
            <a:r>
              <a:rPr sz="2300" kern="0" spc="-60" baseline="-16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300" kern="0" spc="-60" baseline="-16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60" baseline="7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600" kern="0" spc="-2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4000" i="1" kern="0" spc="-60" baseline="700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60" baseline="-16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60" baseline="7000" dirty="0">
                <a:solidFill>
                  <a:srgbClr val="000000">
                    <a:alpha val="100000"/>
                  </a:srgbClr>
                </a:solidFill>
                <a:latin typeface="微软雅黑" panose="020B0503020204020204" charset="-122"/>
                <a:ea typeface="微软雅黑" panose="020B0503020204020204" charset="-122"/>
                <a:cs typeface="微软雅黑" panose="020B0503020204020204" charset="-122"/>
              </a:rPr>
              <a:t>田</a:t>
            </a:r>
            <a:r>
              <a:rPr sz="26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4000" kern="0" spc="-230" baseline="7000" dirty="0">
                <a:solidFill>
                  <a:srgbClr val="000000">
                    <a:alpha val="100000"/>
                  </a:srgbClr>
                </a:solidFill>
                <a:latin typeface="微软雅黑" panose="020B0503020204020204" charset="-122"/>
                <a:ea typeface="微软雅黑" panose="020B0503020204020204" charset="-122"/>
                <a:cs typeface="微软雅黑" panose="020B0503020204020204" charset="-122"/>
              </a:rPr>
              <a:t>田</a:t>
            </a:r>
            <a:r>
              <a:rPr sz="2600" kern="0" spc="-3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4000" i="1" kern="0" spc="-230" baseline="7000" dirty="0">
                <a:solidFill>
                  <a:srgbClr val="000000">
                    <a:alpha val="100000"/>
                  </a:srgbClr>
                </a:solidFill>
                <a:latin typeface="Times New Roman" panose="02020603050405020304"/>
                <a:ea typeface="Times New Roman" panose="02020603050405020304"/>
                <a:cs typeface="Times New Roman" panose="02020603050405020304"/>
              </a:rPr>
              <a:t>m</a:t>
            </a:r>
            <a:r>
              <a:rPr sz="2300" i="1" kern="0" spc="-10" baseline="-16000" dirty="0">
                <a:solidFill>
                  <a:srgbClr val="000000">
                    <a:alpha val="100000"/>
                  </a:srgbClr>
                </a:solidFill>
                <a:latin typeface="Times New Roman" panose="02020603050405020304"/>
                <a:ea typeface="Times New Roman" panose="02020603050405020304"/>
                <a:cs typeface="Times New Roman" panose="02020603050405020304"/>
              </a:rPr>
              <a:t>n</a:t>
            </a:r>
            <a:endParaRPr sz="2300" baseline="-16000" dirty="0">
              <a:latin typeface="Times New Roman" panose="02020603050405020304"/>
              <a:ea typeface="Times New Roman" panose="02020603050405020304"/>
              <a:cs typeface="Times New Roman" panose="02020603050405020304"/>
            </a:endParaRPr>
          </a:p>
          <a:p>
            <a:pPr marL="257175" indent="-244475" algn="l" rtl="0" eaLnBrk="0">
              <a:lnSpc>
                <a:spcPct val="111000"/>
              </a:lnSpc>
              <a:spcBef>
                <a:spcPts val="1655"/>
              </a:spcBef>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Step2</a:t>
            </a:r>
            <a:r>
              <a:rPr sz="2400" b="1"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利用共享密钥使用</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CBC</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模式对</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(m,r)</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加密，将得到的最后一个密文分组</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与接收到的认证码</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C</a:t>
            </a:r>
            <a:r>
              <a:rPr sz="2400" b="1" i="1" kern="0" spc="-10" baseline="-24000" dirty="0">
                <a:solidFill>
                  <a:srgbClr val="000000">
                    <a:alpha val="100000"/>
                  </a:srgbClr>
                </a:solidFill>
                <a:latin typeface="Times New Roman" panose="02020603050405020304"/>
                <a:ea typeface="Times New Roman" panose="02020603050405020304"/>
                <a:cs typeface="Times New Roman" panose="02020603050405020304"/>
              </a:rPr>
              <a:t>n+1</a:t>
            </a:r>
            <a:r>
              <a:rPr sz="1500" b="1"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比较，二者一</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致时判定接收的明文无错；二者不一致时</a:t>
            </a:r>
            <a:endParaRPr sz="2400" dirty="0">
              <a:latin typeface="仿宋" panose="02010609060101010101" charset="-122"/>
              <a:ea typeface="仿宋" panose="02010609060101010101" charset="-122"/>
              <a:cs typeface="仿宋" panose="02010609060101010101" charset="-122"/>
            </a:endParaRPr>
          </a:p>
          <a:p>
            <a:pPr marL="250190" algn="l" rtl="0" eaLnBrk="0">
              <a:lnSpc>
                <a:spcPct val="83000"/>
              </a:lnSpc>
              <a:spcBef>
                <a:spcPts val="520"/>
              </a:spcBef>
            </a:pP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判定明文出错。</a:t>
            </a:r>
            <a:endParaRPr sz="2400" dirty="0">
              <a:latin typeface="仿宋" panose="02010609060101010101" charset="-122"/>
              <a:ea typeface="仿宋" panose="02010609060101010101" charset="-122"/>
              <a:cs typeface="仿宋" panose="02010609060101010101" charset="-122"/>
            </a:endParaRPr>
          </a:p>
          <a:p>
            <a:pPr marL="1289685" algn="l" rtl="0" eaLnBrk="0">
              <a:lnSpc>
                <a:spcPct val="68000"/>
              </a:lnSpc>
              <a:spcBef>
                <a:spcPts val="10"/>
              </a:spcBef>
            </a:pPr>
            <a:r>
              <a:rPr sz="4000" i="1" kern="0" spc="20" baseline="2300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20" baseline="5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20" dirty="0">
                <a:solidFill>
                  <a:srgbClr val="FF00FF">
                    <a:alpha val="100000"/>
                  </a:srgbClr>
                </a:solidFill>
                <a:latin typeface="微软雅黑" panose="020B0503020204020204" charset="-122"/>
                <a:ea typeface="微软雅黑" panose="020B0503020204020204" charset="-122"/>
                <a:cs typeface="微软雅黑" panose="020B0503020204020204" charset="-122"/>
              </a:rPr>
              <a:t>一</a:t>
            </a:r>
            <a:r>
              <a:rPr sz="5200" i="1" u="sng" kern="0" spc="420" dirty="0">
                <a:solidFill>
                  <a:srgbClr val="000000">
                    <a:alpha val="100000"/>
                  </a:srgbClr>
                </a:solidFill>
                <a:uFill>
                  <a:solidFill>
                    <a:srgbClr val="FF00FF"/>
                  </a:solidFill>
                </a:uFill>
                <a:latin typeface="Times New Roman" panose="02020603050405020304"/>
                <a:ea typeface="Times New Roman" panose="02020603050405020304"/>
                <a:cs typeface="Times New Roman" panose="02020603050405020304"/>
              </a:rPr>
              <a:t> </a:t>
            </a:r>
            <a:r>
              <a:rPr sz="4000" i="1" u="sng" kern="0" spc="20" baseline="2300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20" baseline="5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20" dirty="0">
                <a:solidFill>
                  <a:srgbClr val="FF00FF">
                    <a:alpha val="100000"/>
                  </a:srgbClr>
                </a:solidFill>
                <a:latin typeface="微软雅黑" panose="020B0503020204020204" charset="-122"/>
                <a:ea typeface="微软雅黑" panose="020B0503020204020204" charset="-122"/>
                <a:cs typeface="微软雅黑" panose="020B0503020204020204" charset="-122"/>
              </a:rPr>
              <a:t>一</a:t>
            </a:r>
            <a:r>
              <a:rPr sz="5200" i="1" u="sng" kern="0" spc="420" dirty="0">
                <a:solidFill>
                  <a:srgbClr val="000000">
                    <a:alpha val="100000"/>
                  </a:srgbClr>
                </a:solidFill>
                <a:uFill>
                  <a:solidFill>
                    <a:srgbClr val="FF00FF"/>
                  </a:solidFill>
                </a:uFill>
                <a:latin typeface="Times New Roman" panose="02020603050405020304"/>
                <a:ea typeface="Times New Roman" panose="02020603050405020304"/>
                <a:cs typeface="Times New Roman" panose="02020603050405020304"/>
              </a:rPr>
              <a:t> </a:t>
            </a:r>
            <a:r>
              <a:rPr sz="4000" i="1" u="sng" kern="0" spc="20" baseline="2300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20" baseline="5000" dirty="0">
                <a:solidFill>
                  <a:srgbClr val="000000">
                    <a:alpha val="100000"/>
                  </a:srgbClr>
                </a:solidFill>
                <a:latin typeface="Times New Roman" panose="02020603050405020304"/>
                <a:ea typeface="Times New Roman" panose="02020603050405020304"/>
                <a:cs typeface="Times New Roman" panose="02020603050405020304"/>
              </a:rPr>
              <a:t>3</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20" dirty="0">
                <a:solidFill>
                  <a:srgbClr val="FF00FF">
                    <a:alpha val="100000"/>
                  </a:srgbClr>
                </a:solidFill>
                <a:latin typeface="微软雅黑" panose="020B0503020204020204" charset="-122"/>
                <a:ea typeface="微软雅黑" panose="020B0503020204020204" charset="-122"/>
                <a:cs typeface="微软雅黑" panose="020B0503020204020204" charset="-122"/>
              </a:rPr>
              <a:t>一</a:t>
            </a:r>
            <a:r>
              <a:rPr sz="4000" u="sng" kern="0" spc="900" dirty="0">
                <a:solidFill>
                  <a:srgbClr val="FF00FF">
                    <a:alpha val="100000"/>
                  </a:srgbClr>
                </a:solidFill>
                <a:latin typeface="微软雅黑" panose="020B0503020204020204" charset="-122"/>
                <a:ea typeface="微软雅黑" panose="020B0503020204020204" charset="-122"/>
                <a:cs typeface="微软雅黑" panose="020B0503020204020204" charset="-122"/>
              </a:rPr>
              <a:t> </a:t>
            </a:r>
            <a:r>
              <a:rPr sz="4000" i="1" kern="0" spc="20" baseline="2300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20" baseline="5000" dirty="0">
                <a:solidFill>
                  <a:srgbClr val="000000">
                    <a:alpha val="100000"/>
                  </a:srgbClr>
                </a:solidFill>
                <a:latin typeface="Times New Roman" panose="02020603050405020304"/>
                <a:ea typeface="Times New Roman" panose="02020603050405020304"/>
                <a:cs typeface="Times New Roman" panose="02020603050405020304"/>
              </a:rPr>
              <a:t>4</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20" dirty="0">
                <a:solidFill>
                  <a:srgbClr val="FF00FF">
                    <a:alpha val="100000"/>
                  </a:srgbClr>
                </a:solidFill>
                <a:latin typeface="微软雅黑" panose="020B0503020204020204" charset="-122"/>
                <a:ea typeface="微软雅黑" panose="020B0503020204020204" charset="-122"/>
                <a:cs typeface="微软雅黑" panose="020B0503020204020204" charset="-122"/>
              </a:rPr>
              <a:t>一</a:t>
            </a:r>
            <a:r>
              <a:rPr sz="4000" kern="0" spc="140" dirty="0">
                <a:solidFill>
                  <a:srgbClr val="FF00FF">
                    <a:alpha val="100000"/>
                  </a:srgbClr>
                </a:solidFill>
                <a:latin typeface="微软雅黑" panose="020B0503020204020204" charset="-122"/>
                <a:ea typeface="微软雅黑" panose="020B0503020204020204" charset="-122"/>
                <a:cs typeface="微软雅黑" panose="020B0503020204020204" charset="-122"/>
              </a:rPr>
              <a:t>      </a:t>
            </a:r>
            <a:r>
              <a:rPr sz="4000" i="1" kern="0" spc="0" baseline="23000" dirty="0">
                <a:solidFill>
                  <a:srgbClr val="000000">
                    <a:alpha val="100000"/>
                  </a:srgbClr>
                </a:solidFill>
                <a:latin typeface="Times New Roman" panose="02020603050405020304"/>
                <a:ea typeface="Times New Roman" panose="02020603050405020304"/>
                <a:cs typeface="Times New Roman" panose="02020603050405020304"/>
              </a:rPr>
              <a:t>m</a:t>
            </a:r>
            <a:r>
              <a:rPr sz="1500" i="1" kern="0" spc="0" dirty="0">
                <a:solidFill>
                  <a:srgbClr val="000000">
                    <a:alpha val="100000"/>
                  </a:srgbClr>
                </a:solidFill>
                <a:latin typeface="Times New Roman" panose="02020603050405020304"/>
                <a:ea typeface="Times New Roman" panose="02020603050405020304"/>
                <a:cs typeface="Times New Roman" panose="02020603050405020304"/>
              </a:rPr>
              <a:t>n</a:t>
            </a:r>
            <a:r>
              <a:rPr sz="1500" i="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20" dirty="0">
                <a:solidFill>
                  <a:srgbClr val="FF00FF">
                    <a:alpha val="100000"/>
                  </a:srgbClr>
                </a:solidFill>
                <a:latin typeface="微软雅黑" panose="020B0503020204020204" charset="-122"/>
                <a:ea typeface="微软雅黑" panose="020B0503020204020204" charset="-122"/>
                <a:cs typeface="微软雅黑" panose="020B0503020204020204" charset="-122"/>
              </a:rPr>
              <a:t>一</a:t>
            </a:r>
            <a:r>
              <a:rPr sz="5200" i="1" u="sng" kern="0" spc="760" dirty="0">
                <a:solidFill>
                  <a:srgbClr val="000000">
                    <a:alpha val="100000"/>
                  </a:srgbClr>
                </a:solidFill>
                <a:uFill>
                  <a:solidFill>
                    <a:srgbClr val="FF00FF"/>
                  </a:solidFill>
                </a:uFill>
                <a:latin typeface="Times New Roman" panose="02020603050405020304"/>
                <a:ea typeface="Times New Roman" panose="02020603050405020304"/>
                <a:cs typeface="Times New Roman" panose="02020603050405020304"/>
              </a:rPr>
              <a:t> </a:t>
            </a:r>
            <a:r>
              <a:rPr sz="4000" i="1" u="sng" kern="0" spc="0" baseline="23000" dirty="0">
                <a:solidFill>
                  <a:srgbClr val="000000">
                    <a:alpha val="100000"/>
                  </a:srgbClr>
                </a:solidFill>
                <a:latin typeface="Times New Roman" panose="02020603050405020304"/>
                <a:ea typeface="Times New Roman" panose="02020603050405020304"/>
                <a:cs typeface="Times New Roman" panose="02020603050405020304"/>
              </a:rPr>
              <a:t>m</a:t>
            </a:r>
            <a:r>
              <a:rPr sz="1500" i="1" kern="0" spc="0" dirty="0">
                <a:solidFill>
                  <a:srgbClr val="000000">
                    <a:alpha val="100000"/>
                  </a:srgbClr>
                </a:solidFill>
                <a:latin typeface="Times New Roman" panose="02020603050405020304"/>
                <a:ea typeface="Times New Roman" panose="02020603050405020304"/>
                <a:cs typeface="Times New Roman" panose="02020603050405020304"/>
              </a:rPr>
              <a:t>n</a:t>
            </a:r>
            <a:r>
              <a:rPr sz="15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500" kern="0" spc="20" dirty="0">
                <a:solidFill>
                  <a:srgbClr val="000000">
                    <a:alpha val="100000"/>
                  </a:srgbClr>
                </a:solidFill>
                <a:latin typeface="Times New Roman" panose="02020603050405020304"/>
                <a:ea typeface="Times New Roman" panose="02020603050405020304"/>
                <a:cs typeface="Times New Roman" panose="02020603050405020304"/>
              </a:rPr>
              <a:t>1  </a:t>
            </a:r>
            <a:r>
              <a:rPr sz="4000" kern="0" spc="20" baseline="25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6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4000" i="1" kern="0" spc="20" baseline="23000" dirty="0">
                <a:solidFill>
                  <a:srgbClr val="000000">
                    <a:alpha val="100000"/>
                  </a:srgbClr>
                </a:solidFill>
                <a:latin typeface="Times New Roman" panose="02020603050405020304"/>
                <a:ea typeface="Times New Roman" panose="02020603050405020304"/>
                <a:cs typeface="Times New Roman" panose="02020603050405020304"/>
              </a:rPr>
              <a:t>r</a:t>
            </a:r>
            <a:endParaRPr sz="4000" baseline="23000" dirty="0">
              <a:latin typeface="Times New Roman" panose="02020603050405020304"/>
              <a:ea typeface="Times New Roman" panose="02020603050405020304"/>
              <a:cs typeface="Times New Roman" panose="02020603050405020304"/>
            </a:endParaRPr>
          </a:p>
        </p:txBody>
      </p:sp>
      <p:pic>
        <p:nvPicPr>
          <p:cNvPr id="364" name="picture 364"/>
          <p:cNvPicPr>
            <a:picLocks noChangeAspect="1"/>
          </p:cNvPicPr>
          <p:nvPr/>
        </p:nvPicPr>
        <p:blipFill>
          <a:blip r:embed="rId9"/>
          <a:stretch>
            <a:fillRect/>
          </a:stretch>
        </p:blipFill>
        <p:spPr>
          <a:xfrm rot="21600000">
            <a:off x="6871246" y="2324183"/>
            <a:ext cx="288829" cy="50692"/>
          </a:xfrm>
          <a:prstGeom prst="rect">
            <a:avLst/>
          </a:prstGeom>
        </p:spPr>
      </p:pic>
      <p:pic>
        <p:nvPicPr>
          <p:cNvPr id="366" name="picture 366"/>
          <p:cNvPicPr>
            <a:picLocks noChangeAspect="1"/>
          </p:cNvPicPr>
          <p:nvPr/>
        </p:nvPicPr>
        <p:blipFill>
          <a:blip r:embed="rId10"/>
          <a:stretch>
            <a:fillRect/>
          </a:stretch>
        </p:blipFill>
        <p:spPr>
          <a:xfrm rot="21600000">
            <a:off x="696468" y="6233135"/>
            <a:ext cx="10779125" cy="48993"/>
          </a:xfrm>
          <a:prstGeom prst="rect">
            <a:avLst/>
          </a:prstGeom>
        </p:spPr>
      </p:pic>
      <p:sp>
        <p:nvSpPr>
          <p:cNvPr id="368" name="textbox 368"/>
          <p:cNvSpPr/>
          <p:nvPr/>
        </p:nvSpPr>
        <p:spPr>
          <a:xfrm>
            <a:off x="2115897" y="5871666"/>
            <a:ext cx="7702550" cy="46164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3435"/>
              </a:lnSpc>
            </a:pPr>
            <a:r>
              <a:rPr sz="4000" i="1" kern="0" spc="-20" baseline="16000" dirty="0">
                <a:solidFill>
                  <a:srgbClr val="000000">
                    <a:alpha val="100000"/>
                  </a:srgbClr>
                </a:solidFill>
                <a:latin typeface="Times New Roman" panose="02020603050405020304"/>
                <a:ea typeface="Times New Roman" panose="02020603050405020304"/>
                <a:cs typeface="Times New Roman" panose="02020603050405020304"/>
              </a:rPr>
              <a:t>c</a:t>
            </a:r>
            <a:r>
              <a:rPr sz="2300" kern="0" spc="-20" baseline="-1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20" baseline="16000" dirty="0">
                <a:solidFill>
                  <a:srgbClr val="000000">
                    <a:alpha val="100000"/>
                  </a:srgbClr>
                </a:solidFill>
                <a:latin typeface="Times New Roman" panose="02020603050405020304"/>
                <a:ea typeface="Times New Roman" panose="02020603050405020304"/>
                <a:cs typeface="Times New Roman" panose="02020603050405020304"/>
              </a:rPr>
              <a:t>c</a:t>
            </a:r>
            <a:r>
              <a:rPr sz="2300" kern="0" spc="-20" baseline="-1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20" baseline="16000" dirty="0">
                <a:solidFill>
                  <a:srgbClr val="000000">
                    <a:alpha val="100000"/>
                  </a:srgbClr>
                </a:solidFill>
                <a:latin typeface="Times New Roman" panose="02020603050405020304"/>
                <a:ea typeface="Times New Roman" panose="02020603050405020304"/>
                <a:cs typeface="Times New Roman" panose="02020603050405020304"/>
              </a:rPr>
              <a:t>c</a:t>
            </a:r>
            <a:r>
              <a:rPr sz="2300" kern="0" spc="-20" baseline="-1000" dirty="0">
                <a:solidFill>
                  <a:srgbClr val="000000">
                    <a:alpha val="100000"/>
                  </a:srgbClr>
                </a:solidFill>
                <a:latin typeface="Times New Roman" panose="02020603050405020304"/>
                <a:ea typeface="Times New Roman" panose="02020603050405020304"/>
                <a:cs typeface="Times New Roman" panose="02020603050405020304"/>
              </a:rPr>
              <a:t>3</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20" baseline="16000" dirty="0">
                <a:solidFill>
                  <a:srgbClr val="000000">
                    <a:alpha val="100000"/>
                  </a:srgbClr>
                </a:solidFill>
                <a:latin typeface="Times New Roman" panose="02020603050405020304"/>
                <a:ea typeface="Times New Roman" panose="02020603050405020304"/>
                <a:cs typeface="Times New Roman" panose="02020603050405020304"/>
              </a:rPr>
              <a:t>c</a:t>
            </a:r>
            <a:r>
              <a:rPr sz="2300" kern="0" spc="-20" baseline="-1000" dirty="0">
                <a:solidFill>
                  <a:srgbClr val="000000">
                    <a:alpha val="100000"/>
                  </a:srgbClr>
                </a:solidFill>
                <a:latin typeface="Times New Roman" panose="02020603050405020304"/>
                <a:ea typeface="Times New Roman" panose="02020603050405020304"/>
                <a:cs typeface="Times New Roman" panose="02020603050405020304"/>
              </a:rPr>
              <a:t>4</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30" baseline="16000" dirty="0">
                <a:solidFill>
                  <a:srgbClr val="000000">
                    <a:alpha val="100000"/>
                  </a:srgbClr>
                </a:solidFill>
                <a:latin typeface="Times New Roman" panose="02020603050405020304"/>
                <a:ea typeface="Times New Roman" panose="02020603050405020304"/>
                <a:cs typeface="Times New Roman" panose="02020603050405020304"/>
              </a:rPr>
              <a:t>c</a:t>
            </a:r>
            <a:r>
              <a:rPr sz="2300" i="1" kern="0" spc="-30" baseline="-1000" dirty="0">
                <a:solidFill>
                  <a:srgbClr val="000000">
                    <a:alpha val="100000"/>
                  </a:srgbClr>
                </a:solidFill>
                <a:latin typeface="Times New Roman" panose="02020603050405020304"/>
                <a:ea typeface="Times New Roman" panose="02020603050405020304"/>
                <a:cs typeface="Times New Roman" panose="02020603050405020304"/>
              </a:rPr>
              <a:t>n</a:t>
            </a:r>
            <a:r>
              <a:rPr sz="1400"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30" baseline="16000" dirty="0">
                <a:solidFill>
                  <a:srgbClr val="000000">
                    <a:alpha val="100000"/>
                  </a:srgbClr>
                </a:solidFill>
                <a:latin typeface="Times New Roman" panose="02020603050405020304"/>
                <a:ea typeface="Times New Roman" panose="02020603050405020304"/>
                <a:cs typeface="Times New Roman" panose="02020603050405020304"/>
              </a:rPr>
              <a:t>c</a:t>
            </a:r>
            <a:r>
              <a:rPr sz="2300" i="1" kern="0" spc="-30" baseline="-1000" dirty="0">
                <a:solidFill>
                  <a:srgbClr val="000000">
                    <a:alpha val="100000"/>
                  </a:srgbClr>
                </a:solidFill>
                <a:latin typeface="Times New Roman" panose="02020603050405020304"/>
                <a:ea typeface="Times New Roman" panose="02020603050405020304"/>
                <a:cs typeface="Times New Roman" panose="02020603050405020304"/>
              </a:rPr>
              <a:t>n</a:t>
            </a:r>
            <a:r>
              <a:rPr sz="2300" kern="0" spc="-30" baseline="-1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300" kern="0" spc="-30" baseline="-1000" dirty="0">
                <a:solidFill>
                  <a:srgbClr val="000000">
                    <a:alpha val="100000"/>
                  </a:srgbClr>
                </a:solidFill>
                <a:latin typeface="Times New Roman" panose="02020603050405020304"/>
                <a:ea typeface="Times New Roman" panose="02020603050405020304"/>
                <a:cs typeface="Times New Roman" panose="02020603050405020304"/>
              </a:rPr>
              <a:t>1</a:t>
            </a:r>
            <a:endParaRPr sz="2300" baseline="-1000" dirty="0">
              <a:latin typeface="Times New Roman" panose="02020603050405020304"/>
              <a:ea typeface="Times New Roman" panose="02020603050405020304"/>
              <a:cs typeface="Times New Roman" panose="02020603050405020304"/>
            </a:endParaRPr>
          </a:p>
        </p:txBody>
      </p:sp>
      <p:sp>
        <p:nvSpPr>
          <p:cNvPr id="372" name="textbox 372"/>
          <p:cNvSpPr/>
          <p:nvPr/>
        </p:nvSpPr>
        <p:spPr>
          <a:xfrm>
            <a:off x="1572950" y="491245"/>
            <a:ext cx="2036445"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40" dirty="0">
                <a:solidFill>
                  <a:srgbClr val="1F4E79">
                    <a:alpha val="100000"/>
                  </a:srgbClr>
                </a:solidFill>
                <a:latin typeface="仿宋" panose="02010609060101010101" charset="-122"/>
                <a:ea typeface="仿宋" panose="02010609060101010101" charset="-122"/>
                <a:cs typeface="仿宋" panose="02010609060101010101" charset="-122"/>
              </a:rPr>
              <a:t>认证码检验</a:t>
            </a:r>
            <a:endParaRPr sz="3100" dirty="0">
              <a:latin typeface="仿宋" panose="02010609060101010101" charset="-122"/>
              <a:ea typeface="仿宋" panose="02010609060101010101" charset="-122"/>
              <a:cs typeface="仿宋" panose="02010609060101010101" charset="-122"/>
            </a:endParaRPr>
          </a:p>
        </p:txBody>
      </p:sp>
      <p:graphicFrame>
        <p:nvGraphicFramePr>
          <p:cNvPr id="374" name="table 374"/>
          <p:cNvGraphicFramePr>
            <a:graphicFrameLocks noGrp="1"/>
          </p:cNvGraphicFramePr>
          <p:nvPr/>
        </p:nvGraphicFramePr>
        <p:xfrm>
          <a:off x="7562088" y="4760976"/>
          <a:ext cx="920115" cy="627380"/>
        </p:xfrm>
        <a:graphic>
          <a:graphicData uri="http://schemas.openxmlformats.org/drawingml/2006/table">
            <a:tbl>
              <a:tblPr/>
              <a:tblGrid>
                <a:gridCol w="920115"/>
              </a:tblGrid>
              <a:tr h="621030">
                <a:tc>
                  <a:txBody>
                    <a:bodyPr/>
                    <a:lstStyle/>
                    <a:p>
                      <a:pPr algn="l" rtl="0" eaLnBrk="0">
                        <a:lnSpc>
                          <a:spcPct val="129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9000"/>
                        </a:lnSpc>
                      </a:pPr>
                      <a:endParaRPr sz="100" dirty="0">
                        <a:latin typeface="Arial" panose="020B0604020202020204" pitchFamily="34" charset="0"/>
                        <a:ea typeface="Arial" panose="020B0604020202020204" pitchFamily="34" charset="0"/>
                        <a:cs typeface="Arial" panose="020B0604020202020204" pitchFamily="34" charset="0"/>
                      </a:endParaRPr>
                    </a:p>
                    <a:p>
                      <a:pPr marL="92075" algn="l" rtl="0" eaLnBrk="0">
                        <a:lnSpc>
                          <a:spcPct val="90000"/>
                        </a:lnSpc>
                      </a:pPr>
                      <a:r>
                        <a:rPr sz="2400" b="1" i="1" kern="0" spc="0" dirty="0">
                          <a:solidFill>
                            <a:srgbClr val="1C1C1C">
                              <a:alpha val="100000"/>
                            </a:srgbClr>
                          </a:solidFill>
                          <a:latin typeface="Times New Roman" panose="02020603050405020304"/>
                          <a:ea typeface="Times New Roman" panose="02020603050405020304"/>
                          <a:cs typeface="Times New Roman" panose="02020603050405020304"/>
                        </a:rPr>
                        <a:t>E</a:t>
                      </a:r>
                      <a:r>
                        <a:rPr sz="2200" b="1" i="1" kern="0" spc="0" baseline="-24000" dirty="0">
                          <a:solidFill>
                            <a:srgbClr val="1C1C1C">
                              <a:alpha val="100000"/>
                            </a:srgbClr>
                          </a:solidFill>
                          <a:latin typeface="Times New Roman" panose="02020603050405020304"/>
                          <a:ea typeface="Times New Roman" panose="02020603050405020304"/>
                          <a:cs typeface="Times New Roman" panose="02020603050405020304"/>
                        </a:rPr>
                        <a:t>k</a:t>
                      </a:r>
                      <a:r>
                        <a:rPr sz="1400" b="1" i="1" kern="0" spc="30" dirty="0">
                          <a:solidFill>
                            <a:srgbClr val="1C1C1C">
                              <a:alpha val="100000"/>
                            </a:srgbClr>
                          </a:solidFill>
                          <a:latin typeface="Times New Roman" panose="02020603050405020304"/>
                          <a:ea typeface="Times New Roman" panose="02020603050405020304"/>
                          <a:cs typeface="Times New Roman" panose="02020603050405020304"/>
                        </a:rPr>
                        <a:t> </a:t>
                      </a:r>
                      <a:r>
                        <a:rPr sz="2400" b="1" kern="0" spc="30" dirty="0">
                          <a:solidFill>
                            <a:srgbClr val="1C1C1C">
                              <a:alpha val="100000"/>
                            </a:srgbClr>
                          </a:solidFill>
                          <a:latin typeface="Times New Roman" panose="02020603050405020304"/>
                          <a:ea typeface="Times New Roman" panose="02020603050405020304"/>
                          <a:cs typeface="Times New Roman" panose="02020603050405020304"/>
                        </a:rPr>
                        <a:t>(</a:t>
                      </a:r>
                      <a:r>
                        <a:rPr sz="2400" b="1" i="1" kern="0" spc="30" dirty="0">
                          <a:solidFill>
                            <a:srgbClr val="1C1C1C">
                              <a:alpha val="100000"/>
                            </a:srgbClr>
                          </a:solidFill>
                          <a:latin typeface="Times New Roman" panose="02020603050405020304"/>
                          <a:ea typeface="Times New Roman" panose="02020603050405020304"/>
                          <a:cs typeface="Times New Roman" panose="02020603050405020304"/>
                        </a:rPr>
                        <a:t>x</a:t>
                      </a:r>
                      <a:r>
                        <a:rPr sz="2400" b="1" kern="0" spc="30" dirty="0">
                          <a:solidFill>
                            <a:srgbClr val="1C1C1C">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376" name="picture 376"/>
          <p:cNvPicPr>
            <a:picLocks noChangeAspect="1"/>
          </p:cNvPicPr>
          <p:nvPr/>
        </p:nvPicPr>
        <p:blipFill>
          <a:blip r:embed="rId11"/>
          <a:stretch>
            <a:fillRect/>
          </a:stretch>
        </p:blipFill>
        <p:spPr>
          <a:xfrm rot="21600000">
            <a:off x="822960" y="408431"/>
            <a:ext cx="420623" cy="655320"/>
          </a:xfrm>
          <a:prstGeom prst="rect">
            <a:avLst/>
          </a:prstGeom>
        </p:spPr>
      </p:pic>
      <p:sp>
        <p:nvSpPr>
          <p:cNvPr id="378" name="path 378"/>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
        <p:nvSpPr>
          <p:cNvPr id="380" name="textbox 380"/>
          <p:cNvSpPr/>
          <p:nvPr/>
        </p:nvSpPr>
        <p:spPr>
          <a:xfrm>
            <a:off x="6979640" y="3843280"/>
            <a:ext cx="276859" cy="271145"/>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77000"/>
              </a:lnSpc>
            </a:pPr>
            <a:r>
              <a:rPr sz="2100" b="1" kern="0" spc="-140" dirty="0">
                <a:solidFill>
                  <a:srgbClr val="1C1C1C">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p:txBody>
      </p:sp>
      <p:sp>
        <p:nvSpPr>
          <p:cNvPr id="382" name="textbox 382"/>
          <p:cNvSpPr/>
          <p:nvPr/>
        </p:nvSpPr>
        <p:spPr>
          <a:xfrm>
            <a:off x="7011238" y="4995123"/>
            <a:ext cx="276859" cy="331470"/>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pitchFamily="34" charset="0"/>
              <a:ea typeface="Arial" panose="020B0604020202020204" pitchFamily="34" charset="0"/>
              <a:cs typeface="Arial" panose="020B0604020202020204" pitchFamily="34" charset="0"/>
            </a:endParaRPr>
          </a:p>
          <a:p>
            <a:pPr algn="r" rtl="0" eaLnBrk="0">
              <a:lnSpc>
                <a:spcPct val="95000"/>
              </a:lnSpc>
            </a:pPr>
            <a:r>
              <a:rPr sz="2100" b="1" kern="0" spc="-140" dirty="0">
                <a:solidFill>
                  <a:srgbClr val="1C1C1C">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p:txBody>
      </p:sp>
      <p:pic>
        <p:nvPicPr>
          <p:cNvPr id="384" name="picture 384"/>
          <p:cNvPicPr>
            <a:picLocks noChangeAspect="1"/>
          </p:cNvPicPr>
          <p:nvPr/>
        </p:nvPicPr>
        <p:blipFill>
          <a:blip r:embed="rId12"/>
          <a:stretch>
            <a:fillRect/>
          </a:stretch>
        </p:blipFill>
        <p:spPr>
          <a:xfrm rot="21600000">
            <a:off x="7940040" y="4216908"/>
            <a:ext cx="76200" cy="548639"/>
          </a:xfrm>
          <a:prstGeom prst="rect">
            <a:avLst/>
          </a:prstGeom>
        </p:spPr>
      </p:pic>
      <p:pic>
        <p:nvPicPr>
          <p:cNvPr id="386" name="picture 386"/>
          <p:cNvPicPr>
            <a:picLocks noChangeAspect="1"/>
          </p:cNvPicPr>
          <p:nvPr/>
        </p:nvPicPr>
        <p:blipFill>
          <a:blip r:embed="rId13"/>
          <a:stretch>
            <a:fillRect/>
          </a:stretch>
        </p:blipFill>
        <p:spPr>
          <a:xfrm rot="21600000">
            <a:off x="7940040" y="5384291"/>
            <a:ext cx="76200" cy="548639"/>
          </a:xfrm>
          <a:prstGeom prst="rect">
            <a:avLst/>
          </a:prstGeom>
        </p:spPr>
      </p:pic>
      <p:pic>
        <p:nvPicPr>
          <p:cNvPr id="388" name="picture 388"/>
          <p:cNvPicPr>
            <a:picLocks noChangeAspect="1"/>
          </p:cNvPicPr>
          <p:nvPr/>
        </p:nvPicPr>
        <p:blipFill>
          <a:blip r:embed="rId14"/>
          <a:stretch>
            <a:fillRect/>
          </a:stretch>
        </p:blipFill>
        <p:spPr>
          <a:xfrm rot="21600000">
            <a:off x="9223247" y="5384291"/>
            <a:ext cx="76200" cy="548639"/>
          </a:xfrm>
          <a:prstGeom prst="rect">
            <a:avLst/>
          </a:prstGeom>
        </p:spPr>
      </p:pic>
      <p:pic>
        <p:nvPicPr>
          <p:cNvPr id="390" name="picture 390"/>
          <p:cNvPicPr>
            <a:picLocks noChangeAspect="1"/>
          </p:cNvPicPr>
          <p:nvPr/>
        </p:nvPicPr>
        <p:blipFill>
          <a:blip r:embed="rId15"/>
          <a:stretch>
            <a:fillRect/>
          </a:stretch>
        </p:blipFill>
        <p:spPr>
          <a:xfrm rot="21600000">
            <a:off x="1978151" y="4216908"/>
            <a:ext cx="76200" cy="548639"/>
          </a:xfrm>
          <a:prstGeom prst="rect">
            <a:avLst/>
          </a:prstGeom>
        </p:spPr>
      </p:pic>
      <p:pic>
        <p:nvPicPr>
          <p:cNvPr id="2" name="图片 1"/>
          <p:cNvPicPr>
            <a:picLocks noChangeAspect="1"/>
          </p:cNvPicPr>
          <p:nvPr/>
        </p:nvPicPr>
        <p:blipFill>
          <a:blip r:embed="rId16"/>
          <a:stretch>
            <a:fillRect/>
          </a:stretch>
        </p:blipFill>
        <p:spPr>
          <a:xfrm>
            <a:off x="514985" y="1078230"/>
            <a:ext cx="11595100" cy="520319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rot="21600000">
            <a:off x="2598165" y="1378585"/>
            <a:ext cx="5708903" cy="813816"/>
            <a:chOff x="0" y="0"/>
            <a:chExt cx="5708903" cy="813816"/>
          </a:xfrm>
        </p:grpSpPr>
        <p:pic>
          <p:nvPicPr>
            <p:cNvPr id="104" name="picture 104"/>
            <p:cNvPicPr>
              <a:picLocks noChangeAspect="1"/>
            </p:cNvPicPr>
            <p:nvPr/>
          </p:nvPicPr>
          <p:blipFill>
            <a:blip r:embed="rId1"/>
            <a:stretch>
              <a:fillRect/>
            </a:stretch>
          </p:blipFill>
          <p:spPr>
            <a:xfrm rot="21600000">
              <a:off x="0" y="0"/>
              <a:ext cx="5708903" cy="813816"/>
            </a:xfrm>
            <a:prstGeom prst="rect">
              <a:avLst/>
            </a:prstGeom>
          </p:spPr>
        </p:pic>
        <p:sp>
          <p:nvSpPr>
            <p:cNvPr id="106" name="textbox 106"/>
            <p:cNvSpPr/>
            <p:nvPr/>
          </p:nvSpPr>
          <p:spPr>
            <a:xfrm>
              <a:off x="-12700" y="-12700"/>
              <a:ext cx="5734684" cy="851535"/>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711200" algn="l" rtl="0" eaLnBrk="0">
                <a:lnSpc>
                  <a:spcPct val="93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电码本</a:t>
              </a:r>
              <a:r>
                <a:rPr sz="2400" b="1" kern="0" spc="-40" dirty="0">
                  <a:solidFill>
                    <a:srgbClr val="FFFFFF">
                      <a:alpha val="100000"/>
                    </a:srgbClr>
                  </a:solidFill>
                  <a:latin typeface="Times New Roman" panose="02020603050405020304"/>
                  <a:ea typeface="Times New Roman" panose="02020603050405020304"/>
                  <a:cs typeface="Times New Roman" panose="02020603050405020304"/>
                </a:rPr>
                <a:t>(ECB)</a:t>
              </a: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模</a:t>
              </a: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式</a:t>
              </a:r>
              <a:endParaRPr sz="2400" dirty="0">
                <a:latin typeface="仿宋" panose="02010609060101010101" charset="-122"/>
                <a:ea typeface="仿宋" panose="02010609060101010101" charset="-122"/>
                <a:cs typeface="仿宋" panose="02010609060101010101" charset="-122"/>
              </a:endParaRPr>
            </a:p>
          </p:txBody>
        </p:sp>
      </p:grpSp>
      <p:grpSp>
        <p:nvGrpSpPr>
          <p:cNvPr id="10" name="group 10"/>
          <p:cNvGrpSpPr/>
          <p:nvPr/>
        </p:nvGrpSpPr>
        <p:grpSpPr>
          <a:xfrm rot="21600000">
            <a:off x="2598165" y="2340610"/>
            <a:ext cx="5695950" cy="851535"/>
            <a:chOff x="-135890" y="-1545590"/>
            <a:chExt cx="5695950" cy="851535"/>
          </a:xfrm>
        </p:grpSpPr>
        <p:pic>
          <p:nvPicPr>
            <p:cNvPr id="108" name="picture 108"/>
            <p:cNvPicPr>
              <a:picLocks noChangeAspect="1"/>
            </p:cNvPicPr>
            <p:nvPr/>
          </p:nvPicPr>
          <p:blipFill>
            <a:blip r:embed="rId2"/>
            <a:stretch>
              <a:fillRect/>
            </a:stretch>
          </p:blipFill>
          <p:spPr>
            <a:xfrm rot="21600000">
              <a:off x="-110490" y="-1545590"/>
              <a:ext cx="5670550" cy="814070"/>
            </a:xfrm>
            <a:prstGeom prst="rect">
              <a:avLst/>
            </a:prstGeom>
          </p:spPr>
        </p:pic>
        <p:sp>
          <p:nvSpPr>
            <p:cNvPr id="110" name="textbox 110"/>
            <p:cNvSpPr/>
            <p:nvPr/>
          </p:nvSpPr>
          <p:spPr>
            <a:xfrm>
              <a:off x="-135890" y="-1545590"/>
              <a:ext cx="5533390" cy="85153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934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密码分组链接</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(CBC)</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
        <p:nvSpPr>
          <p:cNvPr id="122" name="textbox 122"/>
          <p:cNvSpPr/>
          <p:nvPr/>
        </p:nvSpPr>
        <p:spPr>
          <a:xfrm>
            <a:off x="2745984" y="491245"/>
            <a:ext cx="6104890"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70" dirty="0">
                <a:solidFill>
                  <a:srgbClr val="1F4E79">
                    <a:alpha val="100000"/>
                  </a:srgbClr>
                </a:solidFill>
                <a:latin typeface="仿宋" panose="02010609060101010101" charset="-122"/>
                <a:ea typeface="仿宋" panose="02010609060101010101" charset="-122"/>
                <a:cs typeface="仿宋" panose="02010609060101010101" charset="-122"/>
              </a:rPr>
              <a:t>分组密码的工作模式</a:t>
            </a:r>
            <a:endParaRPr sz="3100" dirty="0">
              <a:latin typeface="仿宋" panose="02010609060101010101" charset="-122"/>
              <a:ea typeface="仿宋" panose="02010609060101010101" charset="-122"/>
              <a:cs typeface="仿宋" panose="02010609060101010101" charset="-122"/>
            </a:endParaRPr>
          </a:p>
        </p:txBody>
      </p:sp>
      <p:sp>
        <p:nvSpPr>
          <p:cNvPr id="126" name="path 12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8" name="picture 128"/>
          <p:cNvPicPr>
            <a:picLocks noChangeAspect="1"/>
          </p:cNvPicPr>
          <p:nvPr/>
        </p:nvPicPr>
        <p:blipFill>
          <a:blip r:embed="rId3"/>
          <a:stretch>
            <a:fillRect/>
          </a:stretch>
        </p:blipFill>
        <p:spPr>
          <a:xfrm rot="21600000">
            <a:off x="822960" y="408431"/>
            <a:ext cx="420623" cy="655320"/>
          </a:xfrm>
          <a:prstGeom prst="rect">
            <a:avLst/>
          </a:prstGeom>
        </p:spPr>
      </p:pic>
      <p:sp>
        <p:nvSpPr>
          <p:cNvPr id="130" name="path 13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grpSp>
        <p:nvGrpSpPr>
          <p:cNvPr id="18" name="group 18"/>
          <p:cNvGrpSpPr/>
          <p:nvPr/>
        </p:nvGrpSpPr>
        <p:grpSpPr>
          <a:xfrm rot="21600000">
            <a:off x="2623820" y="4264660"/>
            <a:ext cx="5725160" cy="851535"/>
            <a:chOff x="-161925" y="-1996440"/>
            <a:chExt cx="5601970" cy="851535"/>
          </a:xfrm>
        </p:grpSpPr>
        <p:pic>
          <p:nvPicPr>
            <p:cNvPr id="164" name="picture 164"/>
            <p:cNvPicPr>
              <a:picLocks noChangeAspect="1"/>
            </p:cNvPicPr>
            <p:nvPr/>
          </p:nvPicPr>
          <p:blipFill>
            <a:blip r:embed="rId4"/>
            <a:stretch>
              <a:fillRect/>
            </a:stretch>
          </p:blipFill>
          <p:spPr>
            <a:xfrm rot="21600000">
              <a:off x="-161925" y="-1971040"/>
              <a:ext cx="5507735" cy="813816"/>
            </a:xfrm>
            <a:prstGeom prst="rect">
              <a:avLst/>
            </a:prstGeom>
          </p:spPr>
        </p:pic>
        <p:sp>
          <p:nvSpPr>
            <p:cNvPr id="166" name="textbox 166"/>
            <p:cNvSpPr/>
            <p:nvPr/>
          </p:nvSpPr>
          <p:spPr>
            <a:xfrm>
              <a:off x="-93345" y="-1996440"/>
              <a:ext cx="5533390" cy="851535"/>
            </a:xfrm>
            <a:prstGeom prst="rect">
              <a:avLst/>
            </a:prstGeom>
            <a:noFill/>
            <a:ln w="0" cap="flat">
              <a:noFill/>
              <a:prstDash val="solid"/>
              <a:miter lim="0"/>
            </a:ln>
          </p:spPr>
          <p:txBody>
            <a:bodyPr vert="horz" wrap="square" lIns="0" tIns="0" rIns="0" bIns="0"/>
            <a:p>
              <a:pPr algn="l" rtl="0" eaLnBrk="0">
                <a:lnSpc>
                  <a:spcPct val="176000"/>
                </a:lnSpc>
              </a:pPr>
              <a:endParaRPr sz="1000" dirty="0">
                <a:latin typeface="Arial" panose="020B0604020202020204" pitchFamily="34" charset="0"/>
                <a:ea typeface="Arial" panose="020B0604020202020204" pitchFamily="34" charset="0"/>
                <a:cs typeface="Arial" panose="020B0604020202020204" pitchFamily="34" charset="0"/>
              </a:endParaRPr>
            </a:p>
            <a:p>
              <a:pPr marL="6807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输出反馈</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(OFB)</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grpSp>
        <p:nvGrpSpPr>
          <p:cNvPr id="20" name="group 20"/>
          <p:cNvGrpSpPr/>
          <p:nvPr/>
        </p:nvGrpSpPr>
        <p:grpSpPr>
          <a:xfrm rot="21600000">
            <a:off x="2623565" y="5277358"/>
            <a:ext cx="5711951" cy="813816"/>
            <a:chOff x="0" y="0"/>
            <a:chExt cx="5711951" cy="813816"/>
          </a:xfrm>
        </p:grpSpPr>
        <p:pic>
          <p:nvPicPr>
            <p:cNvPr id="168" name="picture 168"/>
            <p:cNvPicPr>
              <a:picLocks noChangeAspect="1"/>
            </p:cNvPicPr>
            <p:nvPr/>
          </p:nvPicPr>
          <p:blipFill>
            <a:blip r:embed="rId5"/>
            <a:stretch>
              <a:fillRect/>
            </a:stretch>
          </p:blipFill>
          <p:spPr>
            <a:xfrm rot="21600000">
              <a:off x="0" y="0"/>
              <a:ext cx="5711951" cy="813816"/>
            </a:xfrm>
            <a:prstGeom prst="rect">
              <a:avLst/>
            </a:prstGeom>
          </p:spPr>
        </p:pic>
        <p:sp>
          <p:nvSpPr>
            <p:cNvPr id="170" name="textbox 170"/>
            <p:cNvSpPr/>
            <p:nvPr/>
          </p:nvSpPr>
          <p:spPr>
            <a:xfrm>
              <a:off x="-12700" y="-12700"/>
              <a:ext cx="5737859" cy="879475"/>
            </a:xfrm>
            <a:prstGeom prst="rect">
              <a:avLst/>
            </a:prstGeom>
            <a:noFill/>
            <a:ln w="0" cap="flat">
              <a:noFill/>
              <a:prstDash val="solid"/>
              <a:miter lim="0"/>
            </a:ln>
          </p:spPr>
          <p:txBody>
            <a:bodyPr vert="horz" wrap="square" lIns="0" tIns="0" rIns="0" bIns="0"/>
            <a:p>
              <a:pPr algn="l" rtl="0" eaLnBrk="0">
                <a:lnSpc>
                  <a:spcPct val="17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77545" algn="l" rtl="0" eaLnBrk="0">
                <a:lnSpc>
                  <a:spcPct val="94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计数器模式</a:t>
              </a:r>
              <a:endParaRPr sz="2400" dirty="0">
                <a:latin typeface="仿宋" panose="02010609060101010101" charset="-122"/>
                <a:ea typeface="仿宋" panose="02010609060101010101" charset="-122"/>
                <a:cs typeface="仿宋" panose="02010609060101010101" charset="-122"/>
              </a:endParaRPr>
            </a:p>
          </p:txBody>
        </p:sp>
      </p:grpSp>
      <p:grpSp>
        <p:nvGrpSpPr>
          <p:cNvPr id="22" name="group 22"/>
          <p:cNvGrpSpPr/>
          <p:nvPr/>
        </p:nvGrpSpPr>
        <p:grpSpPr>
          <a:xfrm rot="21600000">
            <a:off x="2623820" y="3302635"/>
            <a:ext cx="5670550" cy="814070"/>
            <a:chOff x="0" y="0"/>
            <a:chExt cx="5708903" cy="813816"/>
          </a:xfrm>
        </p:grpSpPr>
        <p:pic>
          <p:nvPicPr>
            <p:cNvPr id="172" name="picture 172"/>
            <p:cNvPicPr>
              <a:picLocks noChangeAspect="1"/>
            </p:cNvPicPr>
            <p:nvPr/>
          </p:nvPicPr>
          <p:blipFill>
            <a:blip r:embed="rId6"/>
            <a:stretch>
              <a:fillRect/>
            </a:stretch>
          </p:blipFill>
          <p:spPr>
            <a:xfrm rot="21600000">
              <a:off x="0" y="0"/>
              <a:ext cx="5708903" cy="813816"/>
            </a:xfrm>
            <a:prstGeom prst="rect">
              <a:avLst/>
            </a:prstGeom>
          </p:spPr>
        </p:pic>
        <p:sp>
          <p:nvSpPr>
            <p:cNvPr id="174" name="textbox 174"/>
            <p:cNvSpPr/>
            <p:nvPr/>
          </p:nvSpPr>
          <p:spPr>
            <a:xfrm>
              <a:off x="-12700" y="-12700"/>
              <a:ext cx="5734684" cy="851535"/>
            </a:xfrm>
            <a:prstGeom prst="rect">
              <a:avLst/>
            </a:prstGeom>
            <a:noFill/>
            <a:ln w="0" cap="flat">
              <a:noFill/>
              <a:prstDash val="solid"/>
              <a:miter lim="0"/>
            </a:ln>
          </p:spPr>
          <p:txBody>
            <a:bodyPr vert="horz" wrap="square" lIns="0" tIns="0" rIns="0" bIns="0"/>
            <a:p>
              <a:pPr algn="l" rtl="0" eaLnBrk="0">
                <a:lnSpc>
                  <a:spcPct val="17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94690" algn="l" rtl="0" eaLnBrk="0">
                <a:lnSpc>
                  <a:spcPct val="93000"/>
                </a:lnSpc>
              </a:pP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密码反馈</a:t>
              </a:r>
              <a:r>
                <a:rPr sz="2400" b="1" kern="0" spc="-30" dirty="0">
                  <a:solidFill>
                    <a:srgbClr val="FFFFFF">
                      <a:alpha val="100000"/>
                    </a:srgbClr>
                  </a:solidFill>
                  <a:latin typeface="Times New Roman" panose="02020603050405020304"/>
                  <a:ea typeface="Times New Roman" panose="02020603050405020304"/>
                  <a:cs typeface="Times New Roman" panose="02020603050405020304"/>
                </a:rPr>
                <a:t>(CFB)</a:t>
              </a: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46"/>
          <p:cNvSpPr/>
          <p:nvPr/>
        </p:nvSpPr>
        <p:spPr>
          <a:xfrm>
            <a:off x="921819" y="1591801"/>
            <a:ext cx="10196194" cy="3331209"/>
          </a:xfrm>
          <a:prstGeom prst="rect">
            <a:avLst/>
          </a:prstGeom>
          <a:noFill/>
          <a:ln w="0" cap="flat">
            <a:noFill/>
            <a:prstDash val="solid"/>
            <a:miter lim="0"/>
          </a:ln>
        </p:spPr>
        <p:txBody>
          <a:bodyPr vert="horz" wrap="square" lIns="0" tIns="0" rIns="0" bIns="0"/>
          <a:lstStyle/>
          <a:p>
            <a:pPr algn="l" rtl="0" eaLnBrk="0">
              <a:lnSpc>
                <a:spcPct val="108000"/>
              </a:lnSpc>
            </a:pPr>
            <a:endParaRPr sz="100" dirty="0">
              <a:latin typeface="Arial" panose="020B0604020202020204" pitchFamily="34" charset="0"/>
              <a:ea typeface="Arial" panose="020B0604020202020204" pitchFamily="34" charset="0"/>
              <a:cs typeface="Arial" panose="020B0604020202020204" pitchFamily="34" charset="0"/>
            </a:endParaRPr>
          </a:p>
          <a:p>
            <a:pPr marL="250190" indent="-237490" algn="l" rtl="0" eaLnBrk="0">
              <a:lnSpc>
                <a:spcPct val="112000"/>
              </a:lnSpc>
              <a:spcBef>
                <a:spcPts val="0"/>
              </a:spcBef>
            </a:pPr>
            <a:r>
              <a:rPr sz="28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若待加密消息需按字符、字节或比特处理时，可采用</a:t>
            </a:r>
            <a:r>
              <a:rPr sz="2800" b="1" kern="0" spc="-20" dirty="0">
                <a:solidFill>
                  <a:srgbClr val="000000">
                    <a:alpha val="100000"/>
                  </a:srgbClr>
                </a:solidFill>
                <a:latin typeface="Times New Roman" panose="02020603050405020304"/>
                <a:ea typeface="Times New Roman" panose="02020603050405020304"/>
                <a:cs typeface="Times New Roman" panose="02020603050405020304"/>
              </a:rPr>
              <a:t>CFB</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模式</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a:t>
            </a:r>
            <a:r>
              <a:rPr sz="28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并称待加密消息按</a:t>
            </a:r>
            <a:r>
              <a:rPr sz="28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800" b="1" i="1" kern="0" spc="-10" dirty="0">
                <a:solidFill>
                  <a:srgbClr val="000000">
                    <a:alpha val="100000"/>
                  </a:srgbClr>
                </a:solidFill>
                <a:latin typeface="Times New Roman" panose="02020603050405020304"/>
                <a:ea typeface="Times New Roman" panose="02020603050405020304"/>
                <a:cs typeface="Times New Roman" panose="02020603050405020304"/>
              </a:rPr>
              <a:t>r</a:t>
            </a:r>
            <a:r>
              <a:rPr sz="2800" b="1" i="1" kern="0" spc="47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比特处理</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的</a:t>
            </a:r>
            <a:r>
              <a:rPr sz="2800" b="1" kern="0" spc="-20" dirty="0">
                <a:solidFill>
                  <a:srgbClr val="000000">
                    <a:alpha val="100000"/>
                  </a:srgbClr>
                </a:solidFill>
                <a:latin typeface="Times New Roman" panose="02020603050405020304"/>
                <a:ea typeface="Times New Roman" panose="02020603050405020304"/>
                <a:cs typeface="Times New Roman" panose="02020603050405020304"/>
              </a:rPr>
              <a:t>CFB</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模式为</a:t>
            </a:r>
            <a:r>
              <a:rPr sz="2800" b="1" i="1" kern="0" spc="-20" dirty="0">
                <a:solidFill>
                  <a:srgbClr val="000000">
                    <a:alpha val="100000"/>
                  </a:srgbClr>
                </a:solidFill>
                <a:latin typeface="Times New Roman" panose="02020603050405020304"/>
                <a:ea typeface="Times New Roman" panose="02020603050405020304"/>
                <a:cs typeface="Times New Roman" panose="02020603050405020304"/>
              </a:rPr>
              <a:t>r</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比特</a:t>
            </a:r>
            <a:r>
              <a:rPr sz="2800" b="1" kern="0" spc="-20" dirty="0">
                <a:solidFill>
                  <a:srgbClr val="000000">
                    <a:alpha val="100000"/>
                  </a:srgbClr>
                </a:solidFill>
                <a:latin typeface="Times New Roman" panose="02020603050405020304"/>
                <a:ea typeface="Times New Roman" panose="02020603050405020304"/>
                <a:cs typeface="Times New Roman" panose="02020603050405020304"/>
                <a:sym typeface="+mn-ea"/>
              </a:rPr>
              <a:t>CFB</a:t>
            </a:r>
            <a:r>
              <a:rPr sz="2800" b="1" kern="0" spc="-20" dirty="0">
                <a:solidFill>
                  <a:srgbClr val="000000">
                    <a:alpha val="100000"/>
                  </a:srgbClr>
                </a:solidFill>
                <a:latin typeface="仿宋" panose="02010609060101010101" charset="-122"/>
                <a:ea typeface="仿宋" panose="02010609060101010101" charset="-122"/>
                <a:cs typeface="仿宋" panose="02010609060101010101" charset="-122"/>
              </a:rPr>
              <a:t>模式。</a:t>
            </a:r>
            <a:endParaRPr sz="2800" dirty="0">
              <a:latin typeface="仿宋" panose="02010609060101010101" charset="-122"/>
              <a:ea typeface="仿宋" panose="02010609060101010101" charset="-122"/>
              <a:cs typeface="仿宋" panose="02010609060101010101" charset="-122"/>
            </a:endParaRPr>
          </a:p>
          <a:p>
            <a:pPr marL="12700" algn="l" rtl="0" eaLnBrk="0">
              <a:lnSpc>
                <a:spcPts val="3395"/>
              </a:lnSpc>
              <a:spcBef>
                <a:spcPts val="850"/>
              </a:spcBef>
            </a:pPr>
            <a:r>
              <a:rPr sz="28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0" dirty="0">
                <a:solidFill>
                  <a:srgbClr val="000000">
                    <a:alpha val="100000"/>
                  </a:srgbClr>
                </a:solidFill>
                <a:latin typeface="仿宋" panose="02010609060101010101" charset="-122"/>
                <a:ea typeface="仿宋" panose="02010609060101010101" charset="-122"/>
                <a:cs typeface="仿宋" panose="02010609060101010101" charset="-122"/>
              </a:rPr>
              <a:t>适用范围</a:t>
            </a:r>
            <a:r>
              <a:rPr sz="2800" b="1"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sz="2800" dirty="0">
              <a:latin typeface="Times New Roman" panose="02020603050405020304"/>
              <a:ea typeface="Times New Roman" panose="02020603050405020304"/>
              <a:cs typeface="Times New Roman" panose="02020603050405020304"/>
            </a:endParaRPr>
          </a:p>
          <a:p>
            <a:pPr marL="697865" indent="-231140" algn="l" rtl="0" eaLnBrk="0">
              <a:lnSpc>
                <a:spcPct val="110000"/>
              </a:lnSpc>
              <a:spcBef>
                <a:spcPts val="705"/>
              </a:spcBef>
            </a:pPr>
            <a:r>
              <a:rPr sz="2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适用于每次处理</a:t>
            </a:r>
            <a:r>
              <a:rPr sz="2400" kern="0" spc="-62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r</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比特明</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文块的特定需求的加密情形</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能灵活适应数据各</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格式的需要</a:t>
            </a:r>
            <a:endParaRPr sz="2400" dirty="0">
              <a:latin typeface="仿宋" panose="02010609060101010101" charset="-122"/>
              <a:ea typeface="仿宋" panose="02010609060101010101" charset="-122"/>
              <a:cs typeface="仿宋" panose="02010609060101010101" charset="-122"/>
            </a:endParaRPr>
          </a:p>
          <a:p>
            <a:pPr algn="l" rtl="0" eaLnBrk="0">
              <a:lnSpc>
                <a:spcPct val="108000"/>
              </a:lnSpc>
            </a:pPr>
            <a:endParaRPr sz="700" dirty="0">
              <a:latin typeface="Arial" panose="020B0604020202020204" pitchFamily="34" charset="0"/>
              <a:ea typeface="Arial" panose="020B0604020202020204" pitchFamily="34" charset="0"/>
              <a:cs typeface="Arial" panose="020B0604020202020204" pitchFamily="34" charset="0"/>
            </a:endParaRPr>
          </a:p>
          <a:p>
            <a:pPr marL="710565" indent="-243840" algn="l" rtl="0" eaLnBrk="0">
              <a:lnSpc>
                <a:spcPct val="109000"/>
              </a:lnSpc>
              <a:spcBef>
                <a:spcPts val="0"/>
              </a:spcBef>
            </a:pPr>
            <a:r>
              <a:rPr sz="2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例如</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数据库加密要</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求加密时不能改变明文的字节长度</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这时就要以明文</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字节为单位进行加密</a:t>
            </a:r>
            <a:endParaRPr sz="2400" dirty="0">
              <a:latin typeface="仿宋" panose="02010609060101010101" charset="-122"/>
              <a:ea typeface="仿宋" panose="02010609060101010101" charset="-122"/>
              <a:cs typeface="仿宋" panose="02010609060101010101" charset="-122"/>
            </a:endParaRPr>
          </a:p>
        </p:txBody>
      </p:sp>
      <p:sp>
        <p:nvSpPr>
          <p:cNvPr id="48" name="textbox 48"/>
          <p:cNvSpPr/>
          <p:nvPr/>
        </p:nvSpPr>
        <p:spPr>
          <a:xfrm>
            <a:off x="1592003" y="491245"/>
            <a:ext cx="6884669" cy="469900"/>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4000"/>
              </a:lnSpc>
            </a:pP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密码反馈</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CFB</a:t>
            </a: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Cipher</a:t>
            </a:r>
            <a:r>
              <a:rPr sz="3100" kern="0" spc="100" dirty="0">
                <a:solidFill>
                  <a:srgbClr val="1F4E79">
                    <a:alpha val="100000"/>
                  </a:srgbClr>
                </a:solidFill>
                <a:latin typeface="仿宋" panose="02010609060101010101" charset="-122"/>
                <a:ea typeface="仿宋" panose="02010609060101010101" charset="-122"/>
                <a:cs typeface="仿宋" panose="02010609060101010101" charset="-122"/>
              </a:rPr>
              <a:t> </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Feedback</a:t>
            </a: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）模式</a:t>
            </a:r>
            <a:endParaRPr sz="3100" dirty="0">
              <a:latin typeface="仿宋" panose="02010609060101010101" charset="-122"/>
              <a:ea typeface="仿宋" panose="02010609060101010101" charset="-122"/>
              <a:cs typeface="仿宋" panose="02010609060101010101" charset="-122"/>
            </a:endParaRPr>
          </a:p>
        </p:txBody>
      </p:sp>
      <p:sp>
        <p:nvSpPr>
          <p:cNvPr id="52" name="path 52"/>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54" name="picture 54"/>
          <p:cNvPicPr>
            <a:picLocks noChangeAspect="1"/>
          </p:cNvPicPr>
          <p:nvPr/>
        </p:nvPicPr>
        <p:blipFill>
          <a:blip r:embed="rId1"/>
          <a:stretch>
            <a:fillRect/>
          </a:stretch>
        </p:blipFill>
        <p:spPr>
          <a:xfrm rot="21600000">
            <a:off x="822960" y="408431"/>
            <a:ext cx="420623" cy="655320"/>
          </a:xfrm>
          <a:prstGeom prst="rect">
            <a:avLst/>
          </a:prstGeom>
        </p:spPr>
      </p:pic>
      <p:sp>
        <p:nvSpPr>
          <p:cNvPr id="56" name="path 5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picture 58"/>
          <p:cNvPicPr>
            <a:picLocks noChangeAspect="1"/>
          </p:cNvPicPr>
          <p:nvPr/>
        </p:nvPicPr>
        <p:blipFill>
          <a:blip r:embed="rId1"/>
          <a:stretch>
            <a:fillRect/>
          </a:stretch>
        </p:blipFill>
        <p:spPr>
          <a:xfrm rot="21600000">
            <a:off x="2816351" y="1581912"/>
            <a:ext cx="7065264" cy="4322063"/>
          </a:xfrm>
          <a:prstGeom prst="rect">
            <a:avLst/>
          </a:prstGeom>
        </p:spPr>
      </p:pic>
      <p:sp>
        <p:nvSpPr>
          <p:cNvPr id="60" name="textbox 60"/>
          <p:cNvSpPr/>
          <p:nvPr/>
        </p:nvSpPr>
        <p:spPr>
          <a:xfrm>
            <a:off x="933399" y="1203939"/>
            <a:ext cx="10736580" cy="40512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2985"/>
              </a:lnSpc>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若记</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IV</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c</a:t>
            </a:r>
            <a:r>
              <a:rPr sz="1600" b="1" i="1" kern="0" spc="-10" dirty="0">
                <a:solidFill>
                  <a:srgbClr val="000000">
                    <a:alpha val="100000"/>
                  </a:srgbClr>
                </a:solidFill>
                <a:latin typeface="Times New Roman" panose="02020603050405020304"/>
                <a:ea typeface="Times New Roman" panose="02020603050405020304"/>
                <a:cs typeface="Times New Roman" panose="02020603050405020304"/>
              </a:rPr>
              <a:t>-l</a:t>
            </a:r>
            <a:r>
              <a:rPr sz="1600" b="1" kern="0" spc="-10" dirty="0">
                <a:solidFill>
                  <a:srgbClr val="000000">
                    <a:alpha val="100000"/>
                  </a:srgbClr>
                </a:solidFill>
                <a:latin typeface="Times New Roman" panose="02020603050405020304"/>
                <a:ea typeface="Times New Roman" panose="02020603050405020304"/>
                <a:cs typeface="Times New Roman" panose="02020603050405020304"/>
              </a:rPr>
              <a:t>+1</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c</a:t>
            </a:r>
            <a:r>
              <a:rPr sz="1600" b="1" kern="0" spc="-10" dirty="0">
                <a:solidFill>
                  <a:srgbClr val="000000">
                    <a:alpha val="100000"/>
                  </a:srgbClr>
                </a:solidFill>
                <a:latin typeface="Times New Roman" panose="02020603050405020304"/>
                <a:ea typeface="Times New Roman" panose="02020603050405020304"/>
                <a:cs typeface="Times New Roman" panose="02020603050405020304"/>
              </a:rPr>
              <a:t>-1 </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c</a:t>
            </a:r>
            <a:r>
              <a:rPr sz="2400" b="1" kern="0" spc="-10" baseline="-21000" dirty="0">
                <a:solidFill>
                  <a:srgbClr val="000000">
                    <a:alpha val="100000"/>
                  </a:srgbClr>
                </a:solidFill>
                <a:latin typeface="Times New Roman" panose="02020603050405020304"/>
                <a:ea typeface="Times New Roman" panose="02020603050405020304"/>
                <a:cs typeface="Times New Roman" panose="02020603050405020304"/>
              </a:rPr>
              <a:t>0</a:t>
            </a:r>
            <a:r>
              <a:rPr sz="15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a:t>
            </a:r>
            <a:r>
              <a:rPr sz="2400" kern="0" spc="-4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c</a:t>
            </a:r>
            <a:r>
              <a:rPr sz="2400" b="1" i="1" kern="0" spc="-10" baseline="-21000" dirty="0">
                <a:solidFill>
                  <a:srgbClr val="000000">
                    <a:alpha val="100000"/>
                  </a:srgbClr>
                </a:solidFill>
                <a:latin typeface="Times New Roman" panose="02020603050405020304"/>
                <a:ea typeface="Times New Roman" panose="02020603050405020304"/>
                <a:cs typeface="Times New Roman" panose="02020603050405020304"/>
              </a:rPr>
              <a:t>i</a:t>
            </a:r>
            <a:r>
              <a:rPr sz="1500" b="1" i="1"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|=r</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，则加密过程可表示为</a:t>
            </a:r>
            <a:r>
              <a:rPr sz="2400" kern="0" spc="-6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3400" i="1" kern="0" spc="-10" baseline="17000" dirty="0">
                <a:solidFill>
                  <a:srgbClr val="000000">
                    <a:alpha val="100000"/>
                  </a:srgbClr>
                </a:solidFill>
                <a:latin typeface="Times New Roman" panose="02020603050405020304"/>
                <a:ea typeface="Times New Roman" panose="02020603050405020304"/>
                <a:cs typeface="Times New Roman" panose="02020603050405020304"/>
              </a:rPr>
              <a:t>c</a:t>
            </a:r>
            <a:r>
              <a:rPr sz="1900" i="1" kern="0" spc="-10" baseline="1000" dirty="0">
                <a:solidFill>
                  <a:srgbClr val="000000">
                    <a:alpha val="100000"/>
                  </a:srgbClr>
                </a:solidFill>
                <a:latin typeface="Times New Roman" panose="02020603050405020304"/>
                <a:ea typeface="Times New Roman" panose="02020603050405020304"/>
                <a:cs typeface="Times New Roman" panose="02020603050405020304"/>
              </a:rPr>
              <a:t>i</a:t>
            </a:r>
            <a:r>
              <a:rPr sz="12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3400" kern="0" spc="-10" baseline="17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2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400" i="1" kern="0" spc="-10" baseline="17000" dirty="0">
                <a:solidFill>
                  <a:srgbClr val="000000">
                    <a:alpha val="100000"/>
                  </a:srgbClr>
                </a:solidFill>
                <a:latin typeface="Times New Roman" panose="02020603050405020304"/>
                <a:ea typeface="Times New Roman" panose="02020603050405020304"/>
                <a:cs typeface="Times New Roman" panose="02020603050405020304"/>
              </a:rPr>
              <a:t>x</a:t>
            </a:r>
            <a:r>
              <a:rPr sz="1900" i="1" kern="0" spc="-10" baseline="1000" dirty="0">
                <a:solidFill>
                  <a:srgbClr val="000000">
                    <a:alpha val="100000"/>
                  </a:srgbClr>
                </a:solidFill>
                <a:latin typeface="Times New Roman" panose="02020603050405020304"/>
                <a:ea typeface="Times New Roman" panose="02020603050405020304"/>
                <a:cs typeface="Times New Roman" panose="02020603050405020304"/>
              </a:rPr>
              <a:t>i</a:t>
            </a:r>
            <a:r>
              <a:rPr sz="1200" i="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3400" kern="0" spc="-10" baseline="17000" dirty="0">
                <a:solidFill>
                  <a:srgbClr val="000000">
                    <a:alpha val="100000"/>
                  </a:srgbClr>
                </a:solidFill>
                <a:latin typeface="微软雅黑" panose="020B0503020204020204" charset="-122"/>
                <a:ea typeface="微软雅黑" panose="020B0503020204020204" charset="-122"/>
                <a:cs typeface="微软雅黑" panose="020B0503020204020204" charset="-122"/>
              </a:rPr>
              <a:t>田</a:t>
            </a:r>
            <a:r>
              <a:rPr sz="2200" kern="0" spc="-2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400" i="1" kern="0" spc="-10" baseline="17000" dirty="0">
                <a:solidFill>
                  <a:srgbClr val="000000">
                    <a:alpha val="100000"/>
                  </a:srgbClr>
                </a:solidFill>
                <a:latin typeface="Times New Roman" panose="02020603050405020304"/>
                <a:ea typeface="Times New Roman" panose="02020603050405020304"/>
                <a:cs typeface="Times New Roman" panose="02020603050405020304"/>
              </a:rPr>
              <a:t>left</a:t>
            </a:r>
            <a:r>
              <a:rPr sz="1900" i="1" kern="0" spc="-10" baseline="1000" dirty="0">
                <a:solidFill>
                  <a:srgbClr val="000000">
                    <a:alpha val="100000"/>
                  </a:srgbClr>
                </a:solidFill>
                <a:latin typeface="Times New Roman" panose="02020603050405020304"/>
                <a:ea typeface="Times New Roman" panose="02020603050405020304"/>
                <a:cs typeface="Times New Roman" panose="02020603050405020304"/>
              </a:rPr>
              <a:t>r</a:t>
            </a:r>
            <a:r>
              <a:rPr sz="12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3400" kern="0" spc="-10" baseline="17000" dirty="0">
                <a:solidFill>
                  <a:srgbClr val="000000">
                    <a:alpha val="100000"/>
                  </a:srgbClr>
                </a:solidFill>
                <a:latin typeface="Times New Roman" panose="02020603050405020304"/>
                <a:ea typeface="Times New Roman" panose="02020603050405020304"/>
                <a:cs typeface="Times New Roman" panose="02020603050405020304"/>
              </a:rPr>
              <a:t>(</a:t>
            </a:r>
            <a:r>
              <a:rPr sz="3400" i="1" kern="0" spc="-10" baseline="17000" dirty="0">
                <a:solidFill>
                  <a:srgbClr val="000000">
                    <a:alpha val="100000"/>
                  </a:srgbClr>
                </a:solidFill>
                <a:latin typeface="Times New Roman" panose="02020603050405020304"/>
                <a:ea typeface="Times New Roman" panose="02020603050405020304"/>
                <a:cs typeface="Times New Roman" panose="02020603050405020304"/>
              </a:rPr>
              <a:t>E</a:t>
            </a:r>
            <a:r>
              <a:rPr sz="1900" i="1" kern="0" spc="-10" baseline="1000" dirty="0">
                <a:solidFill>
                  <a:srgbClr val="000000">
                    <a:alpha val="100000"/>
                  </a:srgbClr>
                </a:solidFill>
                <a:latin typeface="Times New Roman" panose="02020603050405020304"/>
                <a:ea typeface="Times New Roman" panose="02020603050405020304"/>
                <a:cs typeface="Times New Roman" panose="02020603050405020304"/>
              </a:rPr>
              <a:t>k</a:t>
            </a:r>
            <a:r>
              <a:rPr sz="1200" i="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3400" kern="0" spc="-10" baseline="17000" dirty="0">
                <a:solidFill>
                  <a:srgbClr val="000000">
                    <a:alpha val="100000"/>
                  </a:srgbClr>
                </a:solidFill>
                <a:latin typeface="Times New Roman" panose="02020603050405020304"/>
                <a:ea typeface="Times New Roman" panose="02020603050405020304"/>
                <a:cs typeface="Times New Roman" panose="02020603050405020304"/>
              </a:rPr>
              <a:t>(</a:t>
            </a:r>
            <a:r>
              <a:rPr sz="3400" i="1" kern="0" spc="-10" baseline="17000" dirty="0">
                <a:solidFill>
                  <a:srgbClr val="000000">
                    <a:alpha val="100000"/>
                  </a:srgbClr>
                </a:solidFill>
                <a:latin typeface="Times New Roman" panose="02020603050405020304"/>
                <a:ea typeface="Times New Roman" panose="02020603050405020304"/>
                <a:cs typeface="Times New Roman" panose="02020603050405020304"/>
              </a:rPr>
              <a:t>c</a:t>
            </a:r>
            <a:r>
              <a:rPr sz="1900" i="1" kern="0" spc="-10" baseline="1000" dirty="0">
                <a:solidFill>
                  <a:srgbClr val="000000">
                    <a:alpha val="100000"/>
                  </a:srgbClr>
                </a:solidFill>
                <a:latin typeface="Times New Roman" panose="02020603050405020304"/>
                <a:ea typeface="Times New Roman" panose="02020603050405020304"/>
                <a:cs typeface="Times New Roman" panose="02020603050405020304"/>
              </a:rPr>
              <a:t>i</a:t>
            </a:r>
            <a:r>
              <a:rPr sz="1900" kern="0" spc="-10" baseline="1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900" i="1" kern="0" spc="-10" baseline="1000" dirty="0">
                <a:solidFill>
                  <a:srgbClr val="000000">
                    <a:alpha val="100000"/>
                  </a:srgbClr>
                </a:solidFill>
                <a:latin typeface="Times New Roman" panose="02020603050405020304"/>
                <a:ea typeface="Times New Roman" panose="02020603050405020304"/>
                <a:cs typeface="Times New Roman" panose="02020603050405020304"/>
              </a:rPr>
              <a:t>l</a:t>
            </a:r>
            <a:r>
              <a:rPr sz="12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3400" i="1" kern="0" spc="-10" baseline="17000" dirty="0">
                <a:solidFill>
                  <a:srgbClr val="000000">
                    <a:alpha val="100000"/>
                  </a:srgbClr>
                </a:solidFill>
                <a:latin typeface="Times New Roman" panose="02020603050405020304"/>
                <a:ea typeface="Times New Roman" panose="02020603050405020304"/>
                <a:cs typeface="Times New Roman" panose="02020603050405020304"/>
              </a:rPr>
              <a:t>c</a:t>
            </a:r>
            <a:r>
              <a:rPr sz="1900" i="1" kern="0" spc="-10" baseline="1000" dirty="0">
                <a:solidFill>
                  <a:srgbClr val="000000">
                    <a:alpha val="100000"/>
                  </a:srgbClr>
                </a:solidFill>
                <a:latin typeface="Times New Roman" panose="02020603050405020304"/>
                <a:ea typeface="Times New Roman" panose="02020603050405020304"/>
                <a:cs typeface="Times New Roman" panose="02020603050405020304"/>
              </a:rPr>
              <a:t>i</a:t>
            </a:r>
            <a:r>
              <a:rPr sz="1900" kern="0" spc="-10" baseline="1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900" kern="0" spc="-10" baseline="1000" dirty="0">
                <a:solidFill>
                  <a:srgbClr val="000000">
                    <a:alpha val="100000"/>
                  </a:srgbClr>
                </a:solidFill>
                <a:latin typeface="Times New Roman" panose="02020603050405020304"/>
                <a:ea typeface="Times New Roman" panose="02020603050405020304"/>
                <a:cs typeface="Times New Roman" panose="02020603050405020304"/>
              </a:rPr>
              <a:t>2</a:t>
            </a:r>
            <a:r>
              <a:rPr sz="3400" i="1" kern="0" spc="-10" baseline="17000" dirty="0">
                <a:solidFill>
                  <a:srgbClr val="000000">
                    <a:alpha val="100000"/>
                  </a:srgbClr>
                </a:solidFill>
                <a:latin typeface="Times New Roman" panose="02020603050405020304"/>
                <a:ea typeface="Times New Roman" panose="02020603050405020304"/>
                <a:cs typeface="Times New Roman" panose="02020603050405020304"/>
              </a:rPr>
              <a:t>c</a:t>
            </a:r>
            <a:r>
              <a:rPr sz="1900" i="1" kern="0" spc="-10" baseline="1000" dirty="0">
                <a:solidFill>
                  <a:srgbClr val="000000">
                    <a:alpha val="100000"/>
                  </a:srgbClr>
                </a:solidFill>
                <a:latin typeface="Times New Roman" panose="02020603050405020304"/>
                <a:ea typeface="Times New Roman" panose="02020603050405020304"/>
                <a:cs typeface="Times New Roman" panose="02020603050405020304"/>
              </a:rPr>
              <a:t>i</a:t>
            </a:r>
            <a:r>
              <a:rPr sz="1900" kern="0" spc="-10" baseline="1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900" kern="0" spc="-10" baseline="1000" dirty="0">
                <a:solidFill>
                  <a:srgbClr val="000000">
                    <a:alpha val="100000"/>
                  </a:srgbClr>
                </a:solidFill>
                <a:latin typeface="Times New Roman" panose="02020603050405020304"/>
                <a:ea typeface="Times New Roman" panose="02020603050405020304"/>
                <a:cs typeface="Times New Roman" panose="02020603050405020304"/>
              </a:rPr>
              <a:t>1</a:t>
            </a:r>
            <a:r>
              <a:rPr sz="3400" kern="0" spc="-20" baseline="17000" dirty="0">
                <a:solidFill>
                  <a:srgbClr val="000000">
                    <a:alpha val="100000"/>
                  </a:srgbClr>
                </a:solidFill>
                <a:latin typeface="Times New Roman" panose="02020603050405020304"/>
                <a:ea typeface="Times New Roman" panose="02020603050405020304"/>
                <a:cs typeface="Times New Roman" panose="02020603050405020304"/>
              </a:rPr>
              <a:t>))</a:t>
            </a:r>
            <a:endParaRPr sz="3400" baseline="17000" dirty="0">
              <a:latin typeface="Times New Roman" panose="02020603050405020304"/>
              <a:ea typeface="Times New Roman" panose="02020603050405020304"/>
              <a:cs typeface="Times New Roman" panose="02020603050405020304"/>
            </a:endParaRPr>
          </a:p>
        </p:txBody>
      </p:sp>
      <p:pic>
        <p:nvPicPr>
          <p:cNvPr id="62" name="picture 62"/>
          <p:cNvPicPr>
            <a:picLocks noChangeAspect="1"/>
          </p:cNvPicPr>
          <p:nvPr/>
        </p:nvPicPr>
        <p:blipFill>
          <a:blip r:embed="rId2"/>
          <a:stretch>
            <a:fillRect/>
          </a:stretch>
        </p:blipFill>
        <p:spPr>
          <a:xfrm rot="21600000">
            <a:off x="10576054" y="1319026"/>
            <a:ext cx="238460" cy="37718"/>
          </a:xfrm>
          <a:prstGeom prst="rect">
            <a:avLst/>
          </a:prstGeom>
        </p:spPr>
      </p:pic>
      <p:sp>
        <p:nvSpPr>
          <p:cNvPr id="64" name="textbox 64"/>
          <p:cNvSpPr/>
          <p:nvPr/>
        </p:nvSpPr>
        <p:spPr>
          <a:xfrm>
            <a:off x="4083202" y="5836411"/>
            <a:ext cx="4251325" cy="4064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3000"/>
              </a:lnSpc>
            </a:pPr>
            <a:r>
              <a:rPr sz="2400" b="1" kern="0" spc="-70" dirty="0">
                <a:solidFill>
                  <a:srgbClr val="000000">
                    <a:alpha val="100000"/>
                  </a:srgbClr>
                </a:solidFill>
                <a:latin typeface="仿宋" panose="02010609060101010101" charset="-122"/>
                <a:ea typeface="仿宋" panose="02010609060101010101" charset="-122"/>
                <a:cs typeface="仿宋" panose="02010609060101010101" charset="-122"/>
              </a:rPr>
              <a:t>加密</a:t>
            </a:r>
            <a:r>
              <a:rPr sz="2400" kern="0" spc="6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70" dirty="0">
                <a:solidFill>
                  <a:srgbClr val="000000">
                    <a:alpha val="100000"/>
                  </a:srgbClr>
                </a:solidFill>
                <a:latin typeface="仿宋" panose="02010609060101010101" charset="-122"/>
                <a:ea typeface="仿宋" panose="02010609060101010101" charset="-122"/>
                <a:cs typeface="仿宋" panose="02010609060101010101" charset="-122"/>
              </a:rPr>
              <a:t>解密</a:t>
            </a:r>
            <a:endParaRPr sz="2400" dirty="0">
              <a:latin typeface="仿宋" panose="02010609060101010101" charset="-122"/>
              <a:ea typeface="仿宋" panose="02010609060101010101" charset="-122"/>
              <a:cs typeface="仿宋" panose="02010609060101010101" charset="-122"/>
            </a:endParaRPr>
          </a:p>
        </p:txBody>
      </p:sp>
      <p:sp>
        <p:nvSpPr>
          <p:cNvPr id="66" name="textbox 66"/>
          <p:cNvSpPr/>
          <p:nvPr/>
        </p:nvSpPr>
        <p:spPr>
          <a:xfrm>
            <a:off x="1555519" y="491245"/>
            <a:ext cx="2669539" cy="482600"/>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CFB</a:t>
            </a: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的加密解密</a:t>
            </a:r>
            <a:endParaRPr sz="3100" dirty="0">
              <a:latin typeface="仿宋" panose="02010609060101010101" charset="-122"/>
              <a:ea typeface="仿宋" panose="02010609060101010101" charset="-122"/>
              <a:cs typeface="仿宋" panose="02010609060101010101" charset="-122"/>
            </a:endParaRPr>
          </a:p>
        </p:txBody>
      </p:sp>
      <p:sp>
        <p:nvSpPr>
          <p:cNvPr id="70" name="path 70"/>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72" name="picture 72"/>
          <p:cNvPicPr>
            <a:picLocks noChangeAspect="1"/>
          </p:cNvPicPr>
          <p:nvPr/>
        </p:nvPicPr>
        <p:blipFill>
          <a:blip r:embed="rId3"/>
          <a:stretch>
            <a:fillRect/>
          </a:stretch>
        </p:blipFill>
        <p:spPr>
          <a:xfrm rot="21600000">
            <a:off x="822960" y="408431"/>
            <a:ext cx="420623" cy="655320"/>
          </a:xfrm>
          <a:prstGeom prst="rect">
            <a:avLst/>
          </a:prstGeom>
        </p:spPr>
      </p:pic>
      <p:sp>
        <p:nvSpPr>
          <p:cNvPr id="74" name="path 74"/>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pic>
        <p:nvPicPr>
          <p:cNvPr id="2" name="图片 1"/>
          <p:cNvPicPr>
            <a:picLocks noChangeAspect="1"/>
          </p:cNvPicPr>
          <p:nvPr/>
        </p:nvPicPr>
        <p:blipFill>
          <a:blip r:embed="rId4"/>
          <a:stretch>
            <a:fillRect/>
          </a:stretch>
        </p:blipFill>
        <p:spPr>
          <a:xfrm>
            <a:off x="507365" y="1097280"/>
            <a:ext cx="11375390" cy="516255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textbox 76"/>
          <p:cNvSpPr/>
          <p:nvPr/>
        </p:nvSpPr>
        <p:spPr>
          <a:xfrm>
            <a:off x="1393977" y="1319953"/>
            <a:ext cx="9201784" cy="4263390"/>
          </a:xfrm>
          <a:prstGeom prst="rect">
            <a:avLst/>
          </a:prstGeom>
          <a:noFill/>
          <a:ln w="0" cap="flat">
            <a:noFill/>
            <a:prstDash val="solid"/>
            <a:miter lim="0"/>
          </a:ln>
        </p:spPr>
        <p:txBody>
          <a:bodyPr vert="horz" wrap="square" lIns="0" tIns="0" rIns="0" bIns="0"/>
          <a:lstStyle/>
          <a:p>
            <a:pPr algn="l" rtl="0" eaLnBrk="0">
              <a:lnSpc>
                <a:spcPct val="55000"/>
              </a:lnSpc>
            </a:pPr>
            <a:endParaRPr sz="100" dirty="0">
              <a:latin typeface="Arial" panose="020B0604020202020204" pitchFamily="34" charset="0"/>
              <a:ea typeface="Arial" panose="020B0604020202020204" pitchFamily="34" charset="0"/>
              <a:cs typeface="Arial" panose="020B0604020202020204" pitchFamily="34" charset="0"/>
            </a:endParaRPr>
          </a:p>
          <a:p>
            <a:pPr marL="247650" indent="-234950" algn="l" rtl="0" eaLnBrk="0">
              <a:lnSpc>
                <a:spcPct val="112000"/>
              </a:lnSpc>
            </a:pPr>
            <a:r>
              <a:rPr sz="2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相同明文：和按</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CBC</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模式加密一样，改变</a:t>
            </a: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IV</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同样</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会导致相同的明文</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输入得到不同的加密输出。</a:t>
            </a:r>
            <a:r>
              <a:rPr sz="2400" b="1" i="1" kern="0" spc="0" dirty="0">
                <a:solidFill>
                  <a:srgbClr val="000000">
                    <a:alpha val="100000"/>
                  </a:srgbClr>
                </a:solidFill>
                <a:latin typeface="Times New Roman" panose="02020603050405020304"/>
                <a:ea typeface="Times New Roman" panose="02020603050405020304"/>
                <a:cs typeface="Times New Roman" panose="02020603050405020304"/>
              </a:rPr>
              <a:t>IV</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无需保密（虽在某些应用中</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IV</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须是不</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可预测的）。</a:t>
            </a:r>
            <a:endParaRPr sz="2400" dirty="0">
              <a:latin typeface="仿宋" panose="02010609060101010101" charset="-122"/>
              <a:ea typeface="仿宋" panose="02010609060101010101" charset="-122"/>
              <a:cs typeface="仿宋" panose="02010609060101010101" charset="-122"/>
            </a:endParaRPr>
          </a:p>
          <a:p>
            <a:pPr marL="245745" indent="-233680" algn="l" rtl="0" eaLnBrk="0">
              <a:lnSpc>
                <a:spcPct val="107000"/>
              </a:lnSpc>
              <a:spcBef>
                <a:spcPts val="1740"/>
              </a:spcBef>
            </a:pPr>
            <a:r>
              <a:rPr sz="2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链接依赖性：类似</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CBC</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加密，链接机制致使密文组依赖于当前明文</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组和其前面的明文组；因此，重排密文组会影响解密。</a:t>
            </a:r>
            <a:endParaRPr sz="2400" dirty="0">
              <a:latin typeface="仿宋" panose="02010609060101010101" charset="-122"/>
              <a:ea typeface="仿宋" panose="02010609060101010101" charset="-122"/>
              <a:cs typeface="仿宋" panose="02010609060101010101" charset="-122"/>
            </a:endParaRPr>
          </a:p>
          <a:p>
            <a:pPr marL="254635" indent="-241935" algn="l" rtl="0" eaLnBrk="0">
              <a:lnSpc>
                <a:spcPct val="106000"/>
              </a:lnSpc>
              <a:spcBef>
                <a:spcPts val="1735"/>
              </a:spcBef>
            </a:pPr>
            <a:r>
              <a:rPr sz="2400" kern="0" spc="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错误的传播：一个或多个比特错误</a:t>
            </a:r>
            <a:r>
              <a:rPr sz="2400" b="1" kern="0" spc="50" dirty="0">
                <a:solidFill>
                  <a:srgbClr val="000000">
                    <a:alpha val="100000"/>
                  </a:srgbClr>
                </a:solidFill>
                <a:latin typeface="仿宋" panose="02010609060101010101" charset="-122"/>
                <a:ea typeface="仿宋" panose="02010609060101010101" charset="-122"/>
                <a:cs typeface="仿宋" panose="02010609060101010101" charset="-122"/>
              </a:rPr>
              <a:t>出现在任一个</a:t>
            </a:r>
            <a:r>
              <a:rPr sz="2400" b="1" kern="0" spc="50" dirty="0">
                <a:solidFill>
                  <a:srgbClr val="000000">
                    <a:alpha val="100000"/>
                  </a:srgbClr>
                </a:solidFill>
                <a:latin typeface="Times New Roman" panose="02020603050405020304"/>
                <a:ea typeface="Times New Roman" panose="02020603050405020304"/>
                <a:cs typeface="Times New Roman" panose="02020603050405020304"/>
              </a:rPr>
              <a:t>r</a:t>
            </a:r>
            <a:r>
              <a:rPr sz="2400" b="1" kern="0" spc="50" dirty="0">
                <a:solidFill>
                  <a:srgbClr val="000000">
                    <a:alpha val="100000"/>
                  </a:srgbClr>
                </a:solidFill>
                <a:latin typeface="仿宋" panose="02010609060101010101" charset="-122"/>
                <a:ea typeface="仿宋" panose="02010609060101010101" charset="-122"/>
                <a:cs typeface="仿宋" panose="02010609060101010101" charset="-122"/>
              </a:rPr>
              <a:t>比特的密文组中</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会影响这个组和后继</a:t>
            </a:r>
            <a:r>
              <a:rPr sz="19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900" i="1" kern="0" spc="-20" dirty="0">
                <a:solidFill>
                  <a:srgbClr val="000000">
                    <a:alpha val="100000"/>
                  </a:srgbClr>
                </a:solidFill>
                <a:latin typeface="Times New Roman" panose="02020603050405020304"/>
                <a:ea typeface="Times New Roman" panose="02020603050405020304"/>
                <a:cs typeface="Times New Roman" panose="02020603050405020304"/>
              </a:rPr>
              <a:t>n</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a:t>
            </a:r>
            <a:r>
              <a:rPr sz="1900" i="1" kern="0" spc="-20" dirty="0">
                <a:solidFill>
                  <a:srgbClr val="000000">
                    <a:alpha val="100000"/>
                  </a:srgbClr>
                </a:solidFill>
                <a:latin typeface="Times New Roman" panose="02020603050405020304"/>
                <a:ea typeface="Times New Roman" panose="02020603050405020304"/>
                <a:cs typeface="Times New Roman" panose="02020603050405020304"/>
              </a:rPr>
              <a:t>r</a:t>
            </a:r>
            <a:r>
              <a:rPr sz="19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7|</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个密文组的解密。</a:t>
            </a:r>
            <a:endParaRPr sz="2400" dirty="0">
              <a:latin typeface="仿宋" panose="02010609060101010101" charset="-122"/>
              <a:ea typeface="仿宋" panose="02010609060101010101" charset="-122"/>
              <a:cs typeface="仿宋" panose="02010609060101010101" charset="-122"/>
            </a:endParaRPr>
          </a:p>
          <a:p>
            <a:pPr algn="l" rtl="0" eaLnBrk="0">
              <a:lnSpc>
                <a:spcPct val="101000"/>
              </a:lnSpc>
            </a:pPr>
            <a:endParaRPr sz="1500" dirty="0">
              <a:latin typeface="Arial" panose="020B0604020202020204" pitchFamily="34" charset="0"/>
              <a:ea typeface="Arial" panose="020B0604020202020204" pitchFamily="34" charset="0"/>
              <a:cs typeface="Arial" panose="020B0604020202020204" pitchFamily="34" charset="0"/>
            </a:endParaRPr>
          </a:p>
          <a:p>
            <a:pPr marL="245745" indent="-233680" algn="l" rtl="0" eaLnBrk="0">
              <a:lnSpc>
                <a:spcPct val="107000"/>
              </a:lnSpc>
              <a:spcBef>
                <a:spcPts val="5"/>
              </a:spcBef>
            </a:pPr>
            <a:r>
              <a:rPr sz="2400"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5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错误恢复：</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CFB</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和</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CBC</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相似，也是自同步的，但它需有</a:t>
            </a:r>
            <a:r>
              <a:rPr sz="19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900" i="1" kern="0" spc="-40" dirty="0">
                <a:solidFill>
                  <a:srgbClr val="000000">
                    <a:alpha val="100000"/>
                  </a:srgbClr>
                </a:solidFill>
                <a:latin typeface="Times New Roman" panose="02020603050405020304"/>
                <a:ea typeface="Times New Roman" panose="02020603050405020304"/>
                <a:cs typeface="Times New Roman" panose="02020603050405020304"/>
              </a:rPr>
              <a:t>n</a:t>
            </a:r>
            <a:r>
              <a:rPr sz="1900" kern="0" spc="-40" dirty="0">
                <a:solidFill>
                  <a:srgbClr val="000000">
                    <a:alpha val="100000"/>
                  </a:srgbClr>
                </a:solidFill>
                <a:latin typeface="Times New Roman" panose="02020603050405020304"/>
                <a:ea typeface="Times New Roman" panose="02020603050405020304"/>
                <a:cs typeface="Times New Roman" panose="02020603050405020304"/>
              </a:rPr>
              <a:t>/</a:t>
            </a:r>
            <a:r>
              <a:rPr sz="1900" i="1" kern="0" spc="-40" dirty="0">
                <a:solidFill>
                  <a:srgbClr val="000000">
                    <a:alpha val="100000"/>
                  </a:srgbClr>
                </a:solidFill>
                <a:latin typeface="Times New Roman" panose="02020603050405020304"/>
                <a:ea typeface="Times New Roman" panose="02020603050405020304"/>
                <a:cs typeface="Times New Roman" panose="02020603050405020304"/>
              </a:rPr>
              <a:t>r</a:t>
            </a:r>
            <a:r>
              <a:rPr sz="19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7|</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个密文</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组才能还原</a:t>
            </a:r>
            <a:endParaRPr sz="2400" dirty="0">
              <a:latin typeface="仿宋" panose="02010609060101010101" charset="-122"/>
              <a:ea typeface="仿宋" panose="02010609060101010101" charset="-122"/>
              <a:cs typeface="仿宋" panose="02010609060101010101" charset="-122"/>
            </a:endParaRPr>
          </a:p>
        </p:txBody>
      </p:sp>
      <p:sp>
        <p:nvSpPr>
          <p:cNvPr id="78" name="textbox 78"/>
          <p:cNvSpPr/>
          <p:nvPr/>
        </p:nvSpPr>
        <p:spPr>
          <a:xfrm>
            <a:off x="1555519" y="491245"/>
            <a:ext cx="2669539" cy="483869"/>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CFB</a:t>
            </a:r>
            <a:r>
              <a:rPr sz="3100" b="1" kern="0" spc="100" dirty="0">
                <a:solidFill>
                  <a:srgbClr val="1F4E79">
                    <a:alpha val="100000"/>
                  </a:srgbClr>
                </a:solidFill>
                <a:latin typeface="仿宋" panose="02010609060101010101" charset="-122"/>
                <a:ea typeface="仿宋" panose="02010609060101010101" charset="-122"/>
                <a:cs typeface="仿宋" panose="02010609060101010101" charset="-122"/>
              </a:rPr>
              <a:t>模式的特点</a:t>
            </a:r>
            <a:endParaRPr sz="3100" dirty="0">
              <a:latin typeface="仿宋" panose="02010609060101010101" charset="-122"/>
              <a:ea typeface="仿宋" panose="02010609060101010101" charset="-122"/>
              <a:cs typeface="仿宋" panose="02010609060101010101" charset="-122"/>
            </a:endParaRPr>
          </a:p>
        </p:txBody>
      </p:sp>
      <p:sp>
        <p:nvSpPr>
          <p:cNvPr id="82" name="path 82"/>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84" name="picture 84"/>
          <p:cNvPicPr>
            <a:picLocks noChangeAspect="1"/>
          </p:cNvPicPr>
          <p:nvPr/>
        </p:nvPicPr>
        <p:blipFill>
          <a:blip r:embed="rId1"/>
          <a:stretch>
            <a:fillRect/>
          </a:stretch>
        </p:blipFill>
        <p:spPr>
          <a:xfrm rot="21600000">
            <a:off x="822960" y="408431"/>
            <a:ext cx="420623" cy="655320"/>
          </a:xfrm>
          <a:prstGeom prst="rect">
            <a:avLst/>
          </a:prstGeom>
        </p:spPr>
      </p:pic>
      <p:sp>
        <p:nvSpPr>
          <p:cNvPr id="86" name="path 86"/>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rot="21600000">
            <a:off x="2598165" y="1378585"/>
            <a:ext cx="5708903" cy="813816"/>
            <a:chOff x="0" y="0"/>
            <a:chExt cx="5708903" cy="813816"/>
          </a:xfrm>
        </p:grpSpPr>
        <p:pic>
          <p:nvPicPr>
            <p:cNvPr id="104" name="picture 104"/>
            <p:cNvPicPr>
              <a:picLocks noChangeAspect="1"/>
            </p:cNvPicPr>
            <p:nvPr/>
          </p:nvPicPr>
          <p:blipFill>
            <a:blip r:embed="rId1"/>
            <a:stretch>
              <a:fillRect/>
            </a:stretch>
          </p:blipFill>
          <p:spPr>
            <a:xfrm rot="21600000">
              <a:off x="0" y="0"/>
              <a:ext cx="5708903" cy="813816"/>
            </a:xfrm>
            <a:prstGeom prst="rect">
              <a:avLst/>
            </a:prstGeom>
          </p:spPr>
        </p:pic>
        <p:sp>
          <p:nvSpPr>
            <p:cNvPr id="106" name="textbox 106"/>
            <p:cNvSpPr/>
            <p:nvPr/>
          </p:nvSpPr>
          <p:spPr>
            <a:xfrm>
              <a:off x="-12700" y="-12700"/>
              <a:ext cx="5734684" cy="851535"/>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711200" algn="l" rtl="0" eaLnBrk="0">
                <a:lnSpc>
                  <a:spcPct val="93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电码本</a:t>
              </a:r>
              <a:r>
                <a:rPr sz="2400" b="1" kern="0" spc="-40" dirty="0">
                  <a:solidFill>
                    <a:srgbClr val="FFFFFF">
                      <a:alpha val="100000"/>
                    </a:srgbClr>
                  </a:solidFill>
                  <a:latin typeface="Times New Roman" panose="02020603050405020304"/>
                  <a:ea typeface="Times New Roman" panose="02020603050405020304"/>
                  <a:cs typeface="Times New Roman" panose="02020603050405020304"/>
                </a:rPr>
                <a:t>(ECB)</a:t>
              </a: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模</a:t>
              </a: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式</a:t>
              </a:r>
              <a:endParaRPr sz="2400" dirty="0">
                <a:latin typeface="仿宋" panose="02010609060101010101" charset="-122"/>
                <a:ea typeface="仿宋" panose="02010609060101010101" charset="-122"/>
                <a:cs typeface="仿宋" panose="02010609060101010101" charset="-122"/>
              </a:endParaRPr>
            </a:p>
          </p:txBody>
        </p:sp>
      </p:grpSp>
      <p:grpSp>
        <p:nvGrpSpPr>
          <p:cNvPr id="10" name="group 10"/>
          <p:cNvGrpSpPr/>
          <p:nvPr/>
        </p:nvGrpSpPr>
        <p:grpSpPr>
          <a:xfrm rot="21600000">
            <a:off x="2598165" y="2340610"/>
            <a:ext cx="5695950" cy="851535"/>
            <a:chOff x="-135890" y="-1545590"/>
            <a:chExt cx="5695950" cy="851535"/>
          </a:xfrm>
        </p:grpSpPr>
        <p:pic>
          <p:nvPicPr>
            <p:cNvPr id="108" name="picture 108"/>
            <p:cNvPicPr>
              <a:picLocks noChangeAspect="1"/>
            </p:cNvPicPr>
            <p:nvPr/>
          </p:nvPicPr>
          <p:blipFill>
            <a:blip r:embed="rId2"/>
            <a:stretch>
              <a:fillRect/>
            </a:stretch>
          </p:blipFill>
          <p:spPr>
            <a:xfrm rot="21600000">
              <a:off x="-110490" y="-1545590"/>
              <a:ext cx="5670550" cy="814070"/>
            </a:xfrm>
            <a:prstGeom prst="rect">
              <a:avLst/>
            </a:prstGeom>
          </p:spPr>
        </p:pic>
        <p:sp>
          <p:nvSpPr>
            <p:cNvPr id="110" name="textbox 110"/>
            <p:cNvSpPr/>
            <p:nvPr/>
          </p:nvSpPr>
          <p:spPr>
            <a:xfrm>
              <a:off x="-135890" y="-1545590"/>
              <a:ext cx="5533390" cy="85153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934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密码分组链接</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(CBC)</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
        <p:nvSpPr>
          <p:cNvPr id="122" name="textbox 122"/>
          <p:cNvSpPr/>
          <p:nvPr/>
        </p:nvSpPr>
        <p:spPr>
          <a:xfrm>
            <a:off x="2745984" y="491245"/>
            <a:ext cx="6104890"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70" dirty="0">
                <a:solidFill>
                  <a:srgbClr val="1F4E79">
                    <a:alpha val="100000"/>
                  </a:srgbClr>
                </a:solidFill>
                <a:latin typeface="仿宋" panose="02010609060101010101" charset="-122"/>
                <a:ea typeface="仿宋" panose="02010609060101010101" charset="-122"/>
                <a:cs typeface="仿宋" panose="02010609060101010101" charset="-122"/>
              </a:rPr>
              <a:t>分组密码的工作模式</a:t>
            </a:r>
            <a:endParaRPr sz="3100" dirty="0">
              <a:latin typeface="仿宋" panose="02010609060101010101" charset="-122"/>
              <a:ea typeface="仿宋" panose="02010609060101010101" charset="-122"/>
              <a:cs typeface="仿宋" panose="02010609060101010101" charset="-122"/>
            </a:endParaRPr>
          </a:p>
        </p:txBody>
      </p:sp>
      <p:sp>
        <p:nvSpPr>
          <p:cNvPr id="126" name="path 12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8" name="picture 128"/>
          <p:cNvPicPr>
            <a:picLocks noChangeAspect="1"/>
          </p:cNvPicPr>
          <p:nvPr/>
        </p:nvPicPr>
        <p:blipFill>
          <a:blip r:embed="rId3"/>
          <a:stretch>
            <a:fillRect/>
          </a:stretch>
        </p:blipFill>
        <p:spPr>
          <a:xfrm rot="21600000">
            <a:off x="822960" y="408431"/>
            <a:ext cx="420623" cy="655320"/>
          </a:xfrm>
          <a:prstGeom prst="rect">
            <a:avLst/>
          </a:prstGeom>
        </p:spPr>
      </p:pic>
      <p:sp>
        <p:nvSpPr>
          <p:cNvPr id="130" name="path 13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grpSp>
        <p:nvGrpSpPr>
          <p:cNvPr id="18" name="group 18"/>
          <p:cNvGrpSpPr/>
          <p:nvPr/>
        </p:nvGrpSpPr>
        <p:grpSpPr>
          <a:xfrm rot="21600000">
            <a:off x="2623820" y="4264660"/>
            <a:ext cx="5725160" cy="851535"/>
            <a:chOff x="-161925" y="-1996440"/>
            <a:chExt cx="5601970" cy="851535"/>
          </a:xfrm>
        </p:grpSpPr>
        <p:pic>
          <p:nvPicPr>
            <p:cNvPr id="164" name="picture 164"/>
            <p:cNvPicPr>
              <a:picLocks noChangeAspect="1"/>
            </p:cNvPicPr>
            <p:nvPr/>
          </p:nvPicPr>
          <p:blipFill>
            <a:blip r:embed="rId4"/>
            <a:stretch>
              <a:fillRect/>
            </a:stretch>
          </p:blipFill>
          <p:spPr>
            <a:xfrm rot="21600000">
              <a:off x="-161925" y="-1971040"/>
              <a:ext cx="5507735" cy="813816"/>
            </a:xfrm>
            <a:prstGeom prst="rect">
              <a:avLst/>
            </a:prstGeom>
          </p:spPr>
        </p:pic>
        <p:sp>
          <p:nvSpPr>
            <p:cNvPr id="166" name="textbox 166"/>
            <p:cNvSpPr/>
            <p:nvPr/>
          </p:nvSpPr>
          <p:spPr>
            <a:xfrm>
              <a:off x="-93345" y="-1996440"/>
              <a:ext cx="5533390" cy="851535"/>
            </a:xfrm>
            <a:prstGeom prst="rect">
              <a:avLst/>
            </a:prstGeom>
            <a:noFill/>
            <a:ln w="0" cap="flat">
              <a:noFill/>
              <a:prstDash val="solid"/>
              <a:miter lim="0"/>
            </a:ln>
          </p:spPr>
          <p:txBody>
            <a:bodyPr vert="horz" wrap="square" lIns="0" tIns="0" rIns="0" bIns="0"/>
            <a:p>
              <a:pPr algn="l" rtl="0" eaLnBrk="0">
                <a:lnSpc>
                  <a:spcPct val="176000"/>
                </a:lnSpc>
              </a:pPr>
              <a:endParaRPr sz="1000" dirty="0">
                <a:latin typeface="Arial" panose="020B0604020202020204" pitchFamily="34" charset="0"/>
                <a:ea typeface="Arial" panose="020B0604020202020204" pitchFamily="34" charset="0"/>
                <a:cs typeface="Arial" panose="020B0604020202020204" pitchFamily="34" charset="0"/>
              </a:endParaRPr>
            </a:p>
            <a:p>
              <a:pPr marL="6807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输出反馈</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(OFB)</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grpSp>
        <p:nvGrpSpPr>
          <p:cNvPr id="20" name="group 20"/>
          <p:cNvGrpSpPr/>
          <p:nvPr/>
        </p:nvGrpSpPr>
        <p:grpSpPr>
          <a:xfrm rot="21600000">
            <a:off x="2623565" y="5277358"/>
            <a:ext cx="5711951" cy="813816"/>
            <a:chOff x="0" y="0"/>
            <a:chExt cx="5711951" cy="813816"/>
          </a:xfrm>
        </p:grpSpPr>
        <p:pic>
          <p:nvPicPr>
            <p:cNvPr id="168" name="picture 168"/>
            <p:cNvPicPr>
              <a:picLocks noChangeAspect="1"/>
            </p:cNvPicPr>
            <p:nvPr/>
          </p:nvPicPr>
          <p:blipFill>
            <a:blip r:embed="rId5"/>
            <a:stretch>
              <a:fillRect/>
            </a:stretch>
          </p:blipFill>
          <p:spPr>
            <a:xfrm rot="21600000">
              <a:off x="0" y="0"/>
              <a:ext cx="5711951" cy="813816"/>
            </a:xfrm>
            <a:prstGeom prst="rect">
              <a:avLst/>
            </a:prstGeom>
          </p:spPr>
        </p:pic>
        <p:sp>
          <p:nvSpPr>
            <p:cNvPr id="170" name="textbox 170"/>
            <p:cNvSpPr/>
            <p:nvPr/>
          </p:nvSpPr>
          <p:spPr>
            <a:xfrm>
              <a:off x="-12700" y="-12700"/>
              <a:ext cx="5737859" cy="879475"/>
            </a:xfrm>
            <a:prstGeom prst="rect">
              <a:avLst/>
            </a:prstGeom>
            <a:noFill/>
            <a:ln w="0" cap="flat">
              <a:noFill/>
              <a:prstDash val="solid"/>
              <a:miter lim="0"/>
            </a:ln>
          </p:spPr>
          <p:txBody>
            <a:bodyPr vert="horz" wrap="square" lIns="0" tIns="0" rIns="0" bIns="0"/>
            <a:p>
              <a:pPr algn="l" rtl="0" eaLnBrk="0">
                <a:lnSpc>
                  <a:spcPct val="17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77545" algn="l" rtl="0" eaLnBrk="0">
                <a:lnSpc>
                  <a:spcPct val="94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计数器模式</a:t>
              </a:r>
              <a:endParaRPr sz="2400" dirty="0">
                <a:latin typeface="仿宋" panose="02010609060101010101" charset="-122"/>
                <a:ea typeface="仿宋" panose="02010609060101010101" charset="-122"/>
                <a:cs typeface="仿宋" panose="02010609060101010101" charset="-122"/>
              </a:endParaRPr>
            </a:p>
          </p:txBody>
        </p:sp>
      </p:grpSp>
      <p:grpSp>
        <p:nvGrpSpPr>
          <p:cNvPr id="22" name="group 22"/>
          <p:cNvGrpSpPr/>
          <p:nvPr/>
        </p:nvGrpSpPr>
        <p:grpSpPr>
          <a:xfrm rot="21600000">
            <a:off x="2623820" y="3302635"/>
            <a:ext cx="5670550" cy="814070"/>
            <a:chOff x="0" y="0"/>
            <a:chExt cx="5708903" cy="813816"/>
          </a:xfrm>
        </p:grpSpPr>
        <p:pic>
          <p:nvPicPr>
            <p:cNvPr id="172" name="picture 172"/>
            <p:cNvPicPr>
              <a:picLocks noChangeAspect="1"/>
            </p:cNvPicPr>
            <p:nvPr/>
          </p:nvPicPr>
          <p:blipFill>
            <a:blip r:embed="rId6"/>
            <a:stretch>
              <a:fillRect/>
            </a:stretch>
          </p:blipFill>
          <p:spPr>
            <a:xfrm rot="21600000">
              <a:off x="0" y="0"/>
              <a:ext cx="5708903" cy="813816"/>
            </a:xfrm>
            <a:prstGeom prst="rect">
              <a:avLst/>
            </a:prstGeom>
          </p:spPr>
        </p:pic>
        <p:sp>
          <p:nvSpPr>
            <p:cNvPr id="174" name="textbox 174"/>
            <p:cNvSpPr/>
            <p:nvPr/>
          </p:nvSpPr>
          <p:spPr>
            <a:xfrm>
              <a:off x="-12700" y="-12700"/>
              <a:ext cx="5734684" cy="851535"/>
            </a:xfrm>
            <a:prstGeom prst="rect">
              <a:avLst/>
            </a:prstGeom>
            <a:noFill/>
            <a:ln w="0" cap="flat">
              <a:noFill/>
              <a:prstDash val="solid"/>
              <a:miter lim="0"/>
            </a:ln>
          </p:spPr>
          <p:txBody>
            <a:bodyPr vert="horz" wrap="square" lIns="0" tIns="0" rIns="0" bIns="0"/>
            <a:p>
              <a:pPr algn="l" rtl="0" eaLnBrk="0">
                <a:lnSpc>
                  <a:spcPct val="17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94690" algn="l" rtl="0" eaLnBrk="0">
                <a:lnSpc>
                  <a:spcPct val="93000"/>
                </a:lnSpc>
              </a:pP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密码反馈</a:t>
              </a:r>
              <a:r>
                <a:rPr sz="2400" b="1" kern="0" spc="-30" dirty="0">
                  <a:solidFill>
                    <a:srgbClr val="FFFFFF">
                      <a:alpha val="100000"/>
                    </a:srgbClr>
                  </a:solidFill>
                  <a:latin typeface="Times New Roman" panose="02020603050405020304"/>
                  <a:ea typeface="Times New Roman" panose="02020603050405020304"/>
                  <a:cs typeface="Times New Roman" panose="02020603050405020304"/>
                </a:rPr>
                <a:t>(CFB)</a:t>
              </a: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 name="picture 124"/>
          <p:cNvPicPr>
            <a:picLocks noChangeAspect="1"/>
          </p:cNvPicPr>
          <p:nvPr/>
        </p:nvPicPr>
        <p:blipFill>
          <a:blip r:embed="rId1"/>
          <a:stretch>
            <a:fillRect/>
          </a:stretch>
        </p:blipFill>
        <p:spPr>
          <a:xfrm rot="21600000">
            <a:off x="2749295" y="1905000"/>
            <a:ext cx="6693407" cy="3986783"/>
          </a:xfrm>
          <a:prstGeom prst="rect">
            <a:avLst/>
          </a:prstGeom>
        </p:spPr>
      </p:pic>
      <p:sp>
        <p:nvSpPr>
          <p:cNvPr id="126" name="textbox 126"/>
          <p:cNvSpPr/>
          <p:nvPr/>
        </p:nvSpPr>
        <p:spPr>
          <a:xfrm>
            <a:off x="919073" y="1499413"/>
            <a:ext cx="10614659" cy="386715"/>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9000"/>
              </a:lnSpc>
            </a:pPr>
            <a:r>
              <a:rPr sz="24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3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OFB</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模式在结构上类似于</a:t>
            </a: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CFB</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模式，</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但反馈的内容是</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DES</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的输出而不是密文！</a:t>
            </a:r>
            <a:endParaRPr sz="2400" dirty="0">
              <a:latin typeface="仿宋" panose="02010609060101010101" charset="-122"/>
              <a:ea typeface="仿宋" panose="02010609060101010101" charset="-122"/>
              <a:cs typeface="仿宋" panose="02010609060101010101" charset="-122"/>
            </a:endParaRPr>
          </a:p>
        </p:txBody>
      </p:sp>
      <p:sp>
        <p:nvSpPr>
          <p:cNvPr id="128" name="textbox 128"/>
          <p:cNvSpPr/>
          <p:nvPr/>
        </p:nvSpPr>
        <p:spPr>
          <a:xfrm>
            <a:off x="1574572" y="491245"/>
            <a:ext cx="6537959" cy="468630"/>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4000"/>
              </a:lnSpc>
            </a:pPr>
            <a:r>
              <a:rPr sz="3100" b="1" kern="0" spc="140" dirty="0">
                <a:solidFill>
                  <a:srgbClr val="1F4E79">
                    <a:alpha val="100000"/>
                  </a:srgbClr>
                </a:solidFill>
                <a:latin typeface="仿宋" panose="02010609060101010101" charset="-122"/>
                <a:ea typeface="仿宋" panose="02010609060101010101" charset="-122"/>
                <a:cs typeface="仿宋" panose="02010609060101010101" charset="-122"/>
              </a:rPr>
              <a:t>输出反馈</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OFB</a:t>
            </a:r>
            <a:r>
              <a:rPr sz="3100" b="1" kern="0" spc="140" dirty="0">
                <a:solidFill>
                  <a:srgbClr val="1F4E79">
                    <a:alpha val="100000"/>
                  </a:srgbClr>
                </a:solidFill>
                <a:latin typeface="仿宋" panose="02010609060101010101" charset="-122"/>
                <a:ea typeface="仿宋" panose="02010609060101010101" charset="-122"/>
                <a:cs typeface="仿宋" panose="02010609060101010101" charset="-122"/>
              </a:rPr>
              <a:t>(</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Output</a:t>
            </a:r>
            <a:r>
              <a:rPr sz="3100" kern="0" spc="140" dirty="0">
                <a:solidFill>
                  <a:srgbClr val="1F4E79">
                    <a:alpha val="100000"/>
                  </a:srgbClr>
                </a:solidFill>
                <a:latin typeface="仿宋" panose="02010609060101010101" charset="-122"/>
                <a:ea typeface="仿宋" panose="02010609060101010101" charset="-122"/>
                <a:cs typeface="仿宋" panose="02010609060101010101" charset="-122"/>
              </a:rPr>
              <a:t> </a:t>
            </a: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Feedback</a:t>
            </a:r>
            <a:r>
              <a:rPr sz="3100" b="1" kern="0" spc="140" dirty="0">
                <a:solidFill>
                  <a:srgbClr val="1F4E79">
                    <a:alpha val="100000"/>
                  </a:srgbClr>
                </a:solidFill>
                <a:latin typeface="仿宋" panose="02010609060101010101" charset="-122"/>
                <a:ea typeface="仿宋" panose="02010609060101010101" charset="-122"/>
                <a:cs typeface="仿宋" panose="02010609060101010101" charset="-122"/>
              </a:rPr>
              <a:t>)模式</a:t>
            </a:r>
            <a:endParaRPr sz="3100" dirty="0">
              <a:latin typeface="仿宋" panose="02010609060101010101" charset="-122"/>
              <a:ea typeface="仿宋" panose="02010609060101010101" charset="-122"/>
              <a:cs typeface="仿宋" panose="02010609060101010101" charset="-122"/>
            </a:endParaRPr>
          </a:p>
        </p:txBody>
      </p:sp>
      <p:sp>
        <p:nvSpPr>
          <p:cNvPr id="130" name="textbox 130"/>
          <p:cNvSpPr/>
          <p:nvPr/>
        </p:nvSpPr>
        <p:spPr>
          <a:xfrm>
            <a:off x="3930802" y="5836411"/>
            <a:ext cx="4251325" cy="4064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3000"/>
              </a:lnSpc>
            </a:pPr>
            <a:r>
              <a:rPr sz="2400" b="1" kern="0" spc="-70" dirty="0">
                <a:solidFill>
                  <a:srgbClr val="000000">
                    <a:alpha val="100000"/>
                  </a:srgbClr>
                </a:solidFill>
                <a:latin typeface="仿宋" panose="02010609060101010101" charset="-122"/>
                <a:ea typeface="仿宋" panose="02010609060101010101" charset="-122"/>
                <a:cs typeface="仿宋" panose="02010609060101010101" charset="-122"/>
              </a:rPr>
              <a:t>加密</a:t>
            </a:r>
            <a:r>
              <a:rPr sz="2400" kern="0" spc="6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70" dirty="0">
                <a:solidFill>
                  <a:srgbClr val="000000">
                    <a:alpha val="100000"/>
                  </a:srgbClr>
                </a:solidFill>
                <a:latin typeface="仿宋" panose="02010609060101010101" charset="-122"/>
                <a:ea typeface="仿宋" panose="02010609060101010101" charset="-122"/>
                <a:cs typeface="仿宋" panose="02010609060101010101" charset="-122"/>
              </a:rPr>
              <a:t>解密</a:t>
            </a:r>
            <a:endParaRPr sz="2400" dirty="0">
              <a:latin typeface="仿宋" panose="02010609060101010101" charset="-122"/>
              <a:ea typeface="仿宋" panose="02010609060101010101" charset="-122"/>
              <a:cs typeface="仿宋" panose="02010609060101010101" charset="-122"/>
            </a:endParaRPr>
          </a:p>
        </p:txBody>
      </p:sp>
      <p:sp>
        <p:nvSpPr>
          <p:cNvPr id="134" name="path 134"/>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36" name="picture 136"/>
          <p:cNvPicPr>
            <a:picLocks noChangeAspect="1"/>
          </p:cNvPicPr>
          <p:nvPr/>
        </p:nvPicPr>
        <p:blipFill>
          <a:blip r:embed="rId2"/>
          <a:stretch>
            <a:fillRect/>
          </a:stretch>
        </p:blipFill>
        <p:spPr>
          <a:xfrm rot="21600000">
            <a:off x="822960" y="408431"/>
            <a:ext cx="420623" cy="655320"/>
          </a:xfrm>
          <a:prstGeom prst="rect">
            <a:avLst/>
          </a:prstGeom>
        </p:spPr>
      </p:pic>
      <p:sp>
        <p:nvSpPr>
          <p:cNvPr id="138" name="path 138"/>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textbox 140"/>
          <p:cNvSpPr/>
          <p:nvPr/>
        </p:nvSpPr>
        <p:spPr>
          <a:xfrm>
            <a:off x="1239723" y="1549069"/>
            <a:ext cx="9184640" cy="4264659"/>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pitchFamily="34" charset="0"/>
              <a:ea typeface="Arial" panose="020B0604020202020204" pitchFamily="34" charset="0"/>
              <a:cs typeface="Arial" panose="020B0604020202020204" pitchFamily="34" charset="0"/>
            </a:endParaRPr>
          </a:p>
          <a:p>
            <a:pPr marL="245745" indent="-233680" algn="l" rtl="0" eaLnBrk="0">
              <a:lnSpc>
                <a:spcPct val="107000"/>
              </a:lnSpc>
            </a:pPr>
            <a:r>
              <a:rPr sz="2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相同明文：和</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CBC</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及</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CF</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B</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一样，改变</a:t>
            </a:r>
            <a:r>
              <a:rPr sz="2400" b="1" i="1" kern="0" spc="-10" dirty="0">
                <a:solidFill>
                  <a:srgbClr val="000000">
                    <a:alpha val="100000"/>
                  </a:srgbClr>
                </a:solidFill>
                <a:latin typeface="Times New Roman" panose="02020603050405020304"/>
                <a:ea typeface="Times New Roman" panose="02020603050405020304"/>
                <a:cs typeface="Times New Roman" panose="02020603050405020304"/>
              </a:rPr>
              <a:t>IV</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同样会导致相同的明文输入</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得到不同的加密输出。</a:t>
            </a:r>
            <a:endParaRPr sz="2400" dirty="0">
              <a:latin typeface="仿宋" panose="02010609060101010101" charset="-122"/>
              <a:ea typeface="仿宋" panose="02010609060101010101" charset="-122"/>
              <a:cs typeface="仿宋" panose="02010609060101010101" charset="-122"/>
            </a:endParaRPr>
          </a:p>
          <a:p>
            <a:pPr marL="12700" algn="l" rtl="0" eaLnBrk="0">
              <a:lnSpc>
                <a:spcPct val="99000"/>
              </a:lnSpc>
              <a:spcBef>
                <a:spcPts val="1755"/>
              </a:spcBef>
            </a:pPr>
            <a:r>
              <a:rPr sz="24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链接依赖性：密钥流是独立于明文的。</a:t>
            </a:r>
            <a:endParaRPr sz="2400" dirty="0">
              <a:latin typeface="仿宋" panose="02010609060101010101" charset="-122"/>
              <a:ea typeface="仿宋" panose="02010609060101010101" charset="-122"/>
              <a:cs typeface="仿宋" panose="02010609060101010101" charset="-122"/>
            </a:endParaRPr>
          </a:p>
          <a:p>
            <a:pPr marL="254635" indent="-241935" algn="l" rtl="0" eaLnBrk="0">
              <a:lnSpc>
                <a:spcPct val="112000"/>
              </a:lnSpc>
              <a:spcBef>
                <a:spcPts val="1550"/>
              </a:spcBef>
            </a:pPr>
            <a:r>
              <a:rPr sz="2400" kern="0" spc="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错误传播：有一个或多个比特错误</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的任一密文字符仅会影响该字符</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的解密，</a:t>
            </a:r>
            <a:r>
              <a:rPr sz="2400" kern="0" spc="43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密文字符的某比特位置出</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错将致使还原明文的相应位置</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70" dirty="0">
                <a:solidFill>
                  <a:srgbClr val="000000">
                    <a:alpha val="100000"/>
                  </a:srgbClr>
                </a:solidFill>
                <a:latin typeface="仿宋" panose="02010609060101010101" charset="-122"/>
                <a:ea typeface="仿宋" panose="02010609060101010101" charset="-122"/>
                <a:cs typeface="仿宋" panose="02010609060101010101" charset="-122"/>
              </a:rPr>
              <a:t>也出错。</a:t>
            </a:r>
            <a:endParaRPr sz="2400" dirty="0">
              <a:latin typeface="仿宋" panose="02010609060101010101" charset="-122"/>
              <a:ea typeface="仿宋" panose="02010609060101010101" charset="-122"/>
              <a:cs typeface="仿宋" panose="02010609060101010101" charset="-122"/>
            </a:endParaRPr>
          </a:p>
          <a:p>
            <a:pPr algn="l" rtl="0" eaLnBrk="0">
              <a:lnSpc>
                <a:spcPct val="106000"/>
              </a:lnSpc>
            </a:pPr>
            <a:endParaRPr sz="1400" dirty="0">
              <a:latin typeface="Arial" panose="020B0604020202020204" pitchFamily="34" charset="0"/>
              <a:ea typeface="Arial" panose="020B0604020202020204" pitchFamily="34" charset="0"/>
              <a:cs typeface="Arial" panose="020B0604020202020204" pitchFamily="34" charset="0"/>
            </a:endParaRPr>
          </a:p>
          <a:p>
            <a:pPr marL="262890" indent="-250190" algn="l" rtl="0" eaLnBrk="0">
              <a:lnSpc>
                <a:spcPct val="111000"/>
              </a:lnSpc>
              <a:spcBef>
                <a:spcPts val="5"/>
              </a:spcBef>
            </a:pPr>
            <a:r>
              <a:rPr sz="2400" kern="0" spc="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错误恢复：</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OFB</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模式能从密文比特错误中得以恢复，但在丢失密文</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比特后就无法实现自同步</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了，这是因为丢失密文比特会破坏密钥流</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80" dirty="0">
                <a:solidFill>
                  <a:srgbClr val="000000">
                    <a:alpha val="100000"/>
                  </a:srgbClr>
                </a:solidFill>
                <a:latin typeface="仿宋" panose="02010609060101010101" charset="-122"/>
                <a:ea typeface="仿宋" panose="02010609060101010101" charset="-122"/>
                <a:cs typeface="仿宋" panose="02010609060101010101" charset="-122"/>
              </a:rPr>
              <a:t>的编排。</a:t>
            </a:r>
            <a:endParaRPr sz="2400" dirty="0">
              <a:latin typeface="仿宋" panose="02010609060101010101" charset="-122"/>
              <a:ea typeface="仿宋" panose="02010609060101010101" charset="-122"/>
              <a:cs typeface="仿宋" panose="02010609060101010101" charset="-122"/>
            </a:endParaRPr>
          </a:p>
        </p:txBody>
      </p:sp>
      <p:sp>
        <p:nvSpPr>
          <p:cNvPr id="142" name="textbox 142"/>
          <p:cNvSpPr/>
          <p:nvPr/>
        </p:nvSpPr>
        <p:spPr>
          <a:xfrm>
            <a:off x="1557140" y="491245"/>
            <a:ext cx="3480434"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OFB</a:t>
            </a:r>
            <a:r>
              <a:rPr sz="3100" b="1" kern="0" spc="90" dirty="0">
                <a:solidFill>
                  <a:srgbClr val="1F4E79">
                    <a:alpha val="100000"/>
                  </a:srgbClr>
                </a:solidFill>
                <a:latin typeface="仿宋" panose="02010609060101010101" charset="-122"/>
                <a:ea typeface="仿宋" panose="02010609060101010101" charset="-122"/>
                <a:cs typeface="仿宋" panose="02010609060101010101" charset="-122"/>
              </a:rPr>
              <a:t>工作模式的特点</a:t>
            </a:r>
            <a:endParaRPr sz="3100" dirty="0">
              <a:latin typeface="仿宋" panose="02010609060101010101" charset="-122"/>
              <a:ea typeface="仿宋" panose="02010609060101010101" charset="-122"/>
              <a:cs typeface="仿宋" panose="02010609060101010101" charset="-122"/>
            </a:endParaRPr>
          </a:p>
        </p:txBody>
      </p:sp>
      <p:sp>
        <p:nvSpPr>
          <p:cNvPr id="146" name="path 14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48" name="picture 148"/>
          <p:cNvPicPr>
            <a:picLocks noChangeAspect="1"/>
          </p:cNvPicPr>
          <p:nvPr/>
        </p:nvPicPr>
        <p:blipFill>
          <a:blip r:embed="rId1"/>
          <a:stretch>
            <a:fillRect/>
          </a:stretch>
        </p:blipFill>
        <p:spPr>
          <a:xfrm rot="21600000">
            <a:off x="822960" y="408431"/>
            <a:ext cx="420623" cy="655320"/>
          </a:xfrm>
          <a:prstGeom prst="rect">
            <a:avLst/>
          </a:prstGeom>
        </p:spPr>
      </p:pic>
      <p:sp>
        <p:nvSpPr>
          <p:cNvPr id="150" name="path 15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textbox 152"/>
          <p:cNvSpPr/>
          <p:nvPr/>
        </p:nvSpPr>
        <p:spPr>
          <a:xfrm>
            <a:off x="1579540" y="1483223"/>
            <a:ext cx="9469755" cy="4410709"/>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pitchFamily="34" charset="0"/>
              <a:ea typeface="Arial" panose="020B0604020202020204" pitchFamily="34" charset="0"/>
              <a:cs typeface="Arial" panose="020B0604020202020204" pitchFamily="34" charset="0"/>
            </a:endParaRPr>
          </a:p>
          <a:p>
            <a:pPr marL="190500" algn="l" rtl="0" eaLnBrk="0">
              <a:lnSpc>
                <a:spcPct val="94000"/>
              </a:lnSpc>
            </a:pPr>
            <a:r>
              <a:rPr sz="2800" b="1" kern="0" spc="-10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00" dirty="0">
                <a:solidFill>
                  <a:srgbClr val="000000">
                    <a:alpha val="100000"/>
                  </a:srgbClr>
                </a:solidFill>
                <a:latin typeface="Times New Roman" panose="02020603050405020304"/>
                <a:ea typeface="Times New Roman" panose="02020603050405020304"/>
                <a:cs typeface="Times New Roman" panose="02020603050405020304"/>
              </a:rPr>
              <a:t>1</a:t>
            </a:r>
            <a:r>
              <a:rPr sz="2800" b="1" kern="0" spc="-10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00" dirty="0">
                <a:solidFill>
                  <a:srgbClr val="000000">
                    <a:alpha val="100000"/>
                  </a:srgbClr>
                </a:solidFill>
                <a:latin typeface="Times New Roman" panose="02020603050405020304"/>
                <a:ea typeface="Times New Roman" panose="02020603050405020304"/>
                <a:cs typeface="Times New Roman" panose="02020603050405020304"/>
              </a:rPr>
              <a:t>ECB</a:t>
            </a:r>
            <a:r>
              <a:rPr sz="2800" b="1" kern="0" spc="-100" dirty="0">
                <a:solidFill>
                  <a:srgbClr val="000000">
                    <a:alpha val="100000"/>
                  </a:srgbClr>
                </a:solidFill>
                <a:latin typeface="仿宋" panose="02010609060101010101" charset="-122"/>
                <a:ea typeface="仿宋" panose="02010609060101010101" charset="-122"/>
                <a:cs typeface="仿宋" panose="02010609060101010101" charset="-122"/>
              </a:rPr>
              <a:t>模式简</a:t>
            </a:r>
            <a:r>
              <a:rPr sz="2800" b="1" kern="0" spc="-110" dirty="0">
                <a:solidFill>
                  <a:srgbClr val="000000">
                    <a:alpha val="100000"/>
                  </a:srgbClr>
                </a:solidFill>
                <a:latin typeface="仿宋" panose="02010609060101010101" charset="-122"/>
                <a:ea typeface="仿宋" panose="02010609060101010101" charset="-122"/>
                <a:cs typeface="仿宋" panose="02010609060101010101" charset="-122"/>
              </a:rPr>
              <a:t>单、高速，但最弱，易受重放和替换攻击，</a:t>
            </a:r>
            <a:endParaRPr sz="2800" dirty="0">
              <a:latin typeface="仿宋" panose="02010609060101010101" charset="-122"/>
              <a:ea typeface="仿宋" panose="02010609060101010101" charset="-122"/>
              <a:cs typeface="仿宋" panose="02010609060101010101" charset="-122"/>
            </a:endParaRPr>
          </a:p>
          <a:p>
            <a:pPr marL="17780" algn="l" rtl="0" eaLnBrk="0">
              <a:lnSpc>
                <a:spcPct val="94000"/>
              </a:lnSpc>
              <a:spcBef>
                <a:spcPts val="890"/>
              </a:spcBef>
            </a:pPr>
            <a:r>
              <a:rPr sz="2800" b="1" kern="0" spc="-60" dirty="0">
                <a:solidFill>
                  <a:srgbClr val="000000">
                    <a:alpha val="100000"/>
                  </a:srgbClr>
                </a:solidFill>
                <a:latin typeface="仿宋" panose="02010609060101010101" charset="-122"/>
                <a:ea typeface="仿宋" panose="02010609060101010101" charset="-122"/>
                <a:cs typeface="仿宋" panose="02010609060101010101" charset="-122"/>
              </a:rPr>
              <a:t>一般用于加密长度小于等于分组长度的消息。</a:t>
            </a:r>
            <a:endParaRPr sz="2800" dirty="0">
              <a:latin typeface="仿宋" panose="02010609060101010101" charset="-122"/>
              <a:ea typeface="仿宋" panose="02010609060101010101" charset="-122"/>
              <a:cs typeface="仿宋" panose="02010609060101010101" charset="-122"/>
            </a:endParaRPr>
          </a:p>
          <a:p>
            <a:pPr marL="190500" algn="l" rtl="0" eaLnBrk="0">
              <a:lnSpc>
                <a:spcPct val="94000"/>
              </a:lnSpc>
              <a:spcBef>
                <a:spcPts val="1885"/>
              </a:spcBef>
            </a:pPr>
            <a:r>
              <a:rPr sz="2800" b="1" kern="0" spc="-12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20" dirty="0">
                <a:solidFill>
                  <a:srgbClr val="000000">
                    <a:alpha val="100000"/>
                  </a:srgbClr>
                </a:solidFill>
                <a:latin typeface="Times New Roman" panose="02020603050405020304"/>
                <a:ea typeface="Times New Roman" panose="02020603050405020304"/>
                <a:cs typeface="Times New Roman" panose="02020603050405020304"/>
              </a:rPr>
              <a:t>2</a:t>
            </a:r>
            <a:r>
              <a:rPr sz="2800" b="1" kern="0" spc="-12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20" dirty="0">
                <a:solidFill>
                  <a:srgbClr val="000000">
                    <a:alpha val="100000"/>
                  </a:srgbClr>
                </a:solidFill>
                <a:latin typeface="Times New Roman" panose="02020603050405020304"/>
                <a:ea typeface="Times New Roman" panose="02020603050405020304"/>
                <a:cs typeface="Times New Roman" panose="02020603050405020304"/>
              </a:rPr>
              <a:t>CBC</a:t>
            </a:r>
            <a:r>
              <a:rPr sz="2800" b="1" kern="0" spc="-33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12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20" dirty="0">
                <a:solidFill>
                  <a:srgbClr val="000000">
                    <a:alpha val="100000"/>
                  </a:srgbClr>
                </a:solidFill>
                <a:latin typeface="Times New Roman" panose="02020603050405020304"/>
                <a:ea typeface="Times New Roman" panose="02020603050405020304"/>
                <a:cs typeface="Times New Roman" panose="02020603050405020304"/>
              </a:rPr>
              <a:t>CFB</a:t>
            </a:r>
            <a:r>
              <a:rPr sz="2800" b="1" kern="0" spc="-340" dirty="0">
                <a:solidFill>
                  <a:srgbClr val="000000">
                    <a:alpha val="100000"/>
                  </a:srgbClr>
                </a:solidFill>
                <a:latin typeface="Times New Roman" panose="02020603050405020304"/>
                <a:ea typeface="Times New Roman" panose="02020603050405020304"/>
                <a:cs typeface="Times New Roman" panose="02020603050405020304"/>
              </a:rPr>
              <a:t> </a:t>
            </a:r>
            <a:r>
              <a:rPr sz="2800" b="1" kern="0" spc="-120" dirty="0">
                <a:solidFill>
                  <a:srgbClr val="000000">
                    <a:alpha val="100000"/>
                  </a:srgbClr>
                </a:solidFill>
                <a:latin typeface="仿宋" panose="02010609060101010101" charset="-122"/>
                <a:ea typeface="仿宋" panose="02010609060101010101" charset="-122"/>
                <a:cs typeface="仿宋" panose="02010609060101010101" charset="-122"/>
              </a:rPr>
              <a:t>，</a:t>
            </a:r>
            <a:r>
              <a:rPr sz="2800" b="1" kern="0" spc="-120" dirty="0">
                <a:solidFill>
                  <a:srgbClr val="000000">
                    <a:alpha val="100000"/>
                  </a:srgbClr>
                </a:solidFill>
                <a:latin typeface="Times New Roman" panose="02020603050405020304"/>
                <a:ea typeface="Times New Roman" panose="02020603050405020304"/>
                <a:cs typeface="Times New Roman" panose="02020603050405020304"/>
              </a:rPr>
              <a:t>OFB</a:t>
            </a:r>
            <a:r>
              <a:rPr sz="2800" b="1" kern="0" spc="-120" dirty="0">
                <a:solidFill>
                  <a:srgbClr val="000000">
                    <a:alpha val="100000"/>
                  </a:srgbClr>
                </a:solidFill>
                <a:latin typeface="仿宋" panose="02010609060101010101" charset="-122"/>
                <a:ea typeface="仿宋" panose="02010609060101010101" charset="-122"/>
                <a:cs typeface="仿宋" panose="02010609060101010101" charset="-122"/>
              </a:rPr>
              <a:t>模式的选用取决于实际的特殊需求。</a:t>
            </a:r>
            <a:endParaRPr sz="2800" dirty="0">
              <a:latin typeface="仿宋" panose="02010609060101010101" charset="-122"/>
              <a:ea typeface="仿宋" panose="02010609060101010101" charset="-122"/>
              <a:cs typeface="仿宋" panose="02010609060101010101" charset="-122"/>
            </a:endParaRPr>
          </a:p>
          <a:p>
            <a:pPr marL="914400" indent="-458470" algn="l" rtl="0" eaLnBrk="0">
              <a:lnSpc>
                <a:spcPct val="107000"/>
              </a:lnSpc>
              <a:spcBef>
                <a:spcPts val="1270"/>
              </a:spcBef>
            </a:pP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①</a:t>
            </a:r>
            <a:r>
              <a:rPr sz="2400" kern="0" spc="30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明文不易丢信号，</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对明文的格式没有特殊要求的环境可选用</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CBC</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模式。需要完整性认证功能时也可选用该模式。</a:t>
            </a:r>
            <a:endParaRPr sz="2400" dirty="0">
              <a:latin typeface="仿宋" panose="02010609060101010101" charset="-122"/>
              <a:ea typeface="仿宋" panose="02010609060101010101" charset="-122"/>
              <a:cs typeface="仿宋" panose="02010609060101010101" charset="-122"/>
            </a:endParaRPr>
          </a:p>
          <a:p>
            <a:pPr marL="915035" indent="-459740" algn="l" rtl="0" eaLnBrk="0">
              <a:lnSpc>
                <a:spcPct val="107000"/>
              </a:lnSpc>
              <a:spcBef>
                <a:spcPts val="1270"/>
              </a:spcBef>
            </a:pP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②</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容易丢信号的环境，或对明文格</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式有特殊要求的环境，可选用</a:t>
            </a:r>
            <a:r>
              <a:rPr sz="24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CFB</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a:p>
            <a:pPr algn="l" rtl="0" eaLnBrk="0">
              <a:lnSpc>
                <a:spcPct val="104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915035" indent="-459740" algn="l" rtl="0" eaLnBrk="0">
              <a:lnSpc>
                <a:spcPct val="107000"/>
              </a:lnSpc>
            </a:pP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③</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不易丢信号，但信号特别容易错</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，且明文冗余特别多，可选用</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60" dirty="0">
                <a:solidFill>
                  <a:srgbClr val="000000">
                    <a:alpha val="100000"/>
                  </a:srgbClr>
                </a:solidFill>
                <a:latin typeface="Times New Roman" panose="02020603050405020304"/>
                <a:ea typeface="Times New Roman" panose="02020603050405020304"/>
                <a:cs typeface="Times New Roman" panose="02020603050405020304"/>
              </a:rPr>
              <a:t>OFB</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sp>
        <p:nvSpPr>
          <p:cNvPr id="154" name="textbox 154"/>
          <p:cNvSpPr/>
          <p:nvPr/>
        </p:nvSpPr>
        <p:spPr>
          <a:xfrm>
            <a:off x="1619164" y="491245"/>
            <a:ext cx="4436109"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40" dirty="0">
                <a:solidFill>
                  <a:srgbClr val="1F4E79">
                    <a:alpha val="100000"/>
                  </a:srgbClr>
                </a:solidFill>
                <a:latin typeface="仿宋" panose="02010609060101010101" charset="-122"/>
                <a:ea typeface="仿宋" panose="02010609060101010101" charset="-122"/>
                <a:cs typeface="仿宋" panose="02010609060101010101" charset="-122"/>
              </a:rPr>
              <a:t>四类工作模式比较和选用</a:t>
            </a:r>
            <a:endParaRPr sz="3100" dirty="0">
              <a:latin typeface="仿宋" panose="02010609060101010101" charset="-122"/>
              <a:ea typeface="仿宋" panose="02010609060101010101" charset="-122"/>
              <a:cs typeface="仿宋" panose="02010609060101010101" charset="-122"/>
            </a:endParaRPr>
          </a:p>
        </p:txBody>
      </p:sp>
      <p:sp>
        <p:nvSpPr>
          <p:cNvPr id="158" name="path 15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60" name="picture 160"/>
          <p:cNvPicPr>
            <a:picLocks noChangeAspect="1"/>
          </p:cNvPicPr>
          <p:nvPr/>
        </p:nvPicPr>
        <p:blipFill>
          <a:blip r:embed="rId1"/>
          <a:stretch>
            <a:fillRect/>
          </a:stretch>
        </p:blipFill>
        <p:spPr>
          <a:xfrm rot="21600000">
            <a:off x="822960" y="408431"/>
            <a:ext cx="420623" cy="655320"/>
          </a:xfrm>
          <a:prstGeom prst="rect">
            <a:avLst/>
          </a:prstGeom>
        </p:spPr>
      </p:pic>
      <p:sp>
        <p:nvSpPr>
          <p:cNvPr id="162" name="path 16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rot="21600000">
            <a:off x="2598165" y="1378585"/>
            <a:ext cx="5708903" cy="813816"/>
            <a:chOff x="0" y="0"/>
            <a:chExt cx="5708903" cy="813816"/>
          </a:xfrm>
        </p:grpSpPr>
        <p:pic>
          <p:nvPicPr>
            <p:cNvPr id="104" name="picture 104"/>
            <p:cNvPicPr>
              <a:picLocks noChangeAspect="1"/>
            </p:cNvPicPr>
            <p:nvPr/>
          </p:nvPicPr>
          <p:blipFill>
            <a:blip r:embed="rId1"/>
            <a:stretch>
              <a:fillRect/>
            </a:stretch>
          </p:blipFill>
          <p:spPr>
            <a:xfrm rot="21600000">
              <a:off x="0" y="0"/>
              <a:ext cx="5708903" cy="813816"/>
            </a:xfrm>
            <a:prstGeom prst="rect">
              <a:avLst/>
            </a:prstGeom>
          </p:spPr>
        </p:pic>
        <p:sp>
          <p:nvSpPr>
            <p:cNvPr id="106" name="textbox 106"/>
            <p:cNvSpPr/>
            <p:nvPr/>
          </p:nvSpPr>
          <p:spPr>
            <a:xfrm>
              <a:off x="-12700" y="-12700"/>
              <a:ext cx="5734684" cy="851535"/>
            </a:xfrm>
            <a:prstGeom prst="rect">
              <a:avLst/>
            </a:prstGeom>
            <a:noFill/>
            <a:ln w="0" cap="flat">
              <a:noFill/>
              <a:prstDash val="solid"/>
              <a:miter lim="0"/>
            </a:ln>
          </p:spPr>
          <p:txBody>
            <a:bodyPr vert="horz" wrap="square" lIns="0" tIns="0" rIns="0" bIns="0"/>
            <a:lstStyle/>
            <a:p>
              <a:pPr algn="l" rtl="0" eaLnBrk="0">
                <a:lnSpc>
                  <a:spcPct val="16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8000"/>
                </a:lnSpc>
              </a:pPr>
              <a:endParaRPr sz="100" dirty="0">
                <a:latin typeface="Arial" panose="020B0604020202020204" pitchFamily="34" charset="0"/>
                <a:ea typeface="Arial" panose="020B0604020202020204" pitchFamily="34" charset="0"/>
                <a:cs typeface="Arial" panose="020B0604020202020204" pitchFamily="34" charset="0"/>
              </a:endParaRPr>
            </a:p>
            <a:p>
              <a:pPr marL="711200" algn="l" rtl="0" eaLnBrk="0">
                <a:lnSpc>
                  <a:spcPct val="93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电码本</a:t>
              </a:r>
              <a:r>
                <a:rPr sz="2400" b="1" kern="0" spc="-40" dirty="0">
                  <a:solidFill>
                    <a:srgbClr val="FFFFFF">
                      <a:alpha val="100000"/>
                    </a:srgbClr>
                  </a:solidFill>
                  <a:latin typeface="Times New Roman" panose="02020603050405020304"/>
                  <a:ea typeface="Times New Roman" panose="02020603050405020304"/>
                  <a:cs typeface="Times New Roman" panose="02020603050405020304"/>
                </a:rPr>
                <a:t>(ECB)</a:t>
              </a: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模</a:t>
              </a:r>
              <a:r>
                <a:rPr sz="2400" b="1" kern="0" spc="-50" dirty="0">
                  <a:solidFill>
                    <a:srgbClr val="FFFFFF">
                      <a:alpha val="100000"/>
                    </a:srgbClr>
                  </a:solidFill>
                  <a:latin typeface="仿宋" panose="02010609060101010101" charset="-122"/>
                  <a:ea typeface="仿宋" panose="02010609060101010101" charset="-122"/>
                  <a:cs typeface="仿宋" panose="02010609060101010101" charset="-122"/>
                </a:rPr>
                <a:t>式</a:t>
              </a:r>
              <a:endParaRPr sz="2400" dirty="0">
                <a:latin typeface="仿宋" panose="02010609060101010101" charset="-122"/>
                <a:ea typeface="仿宋" panose="02010609060101010101" charset="-122"/>
                <a:cs typeface="仿宋" panose="02010609060101010101" charset="-122"/>
              </a:endParaRPr>
            </a:p>
          </p:txBody>
        </p:sp>
      </p:grpSp>
      <p:grpSp>
        <p:nvGrpSpPr>
          <p:cNvPr id="10" name="group 10"/>
          <p:cNvGrpSpPr/>
          <p:nvPr/>
        </p:nvGrpSpPr>
        <p:grpSpPr>
          <a:xfrm rot="21600000">
            <a:off x="2598165" y="2340610"/>
            <a:ext cx="5695950" cy="851535"/>
            <a:chOff x="-135890" y="-1545590"/>
            <a:chExt cx="5695950" cy="851535"/>
          </a:xfrm>
        </p:grpSpPr>
        <p:pic>
          <p:nvPicPr>
            <p:cNvPr id="108" name="picture 108"/>
            <p:cNvPicPr>
              <a:picLocks noChangeAspect="1"/>
            </p:cNvPicPr>
            <p:nvPr/>
          </p:nvPicPr>
          <p:blipFill>
            <a:blip r:embed="rId2"/>
            <a:stretch>
              <a:fillRect/>
            </a:stretch>
          </p:blipFill>
          <p:spPr>
            <a:xfrm rot="21600000">
              <a:off x="-110490" y="-1545590"/>
              <a:ext cx="5670550" cy="814070"/>
            </a:xfrm>
            <a:prstGeom prst="rect">
              <a:avLst/>
            </a:prstGeom>
          </p:spPr>
        </p:pic>
        <p:sp>
          <p:nvSpPr>
            <p:cNvPr id="110" name="textbox 110"/>
            <p:cNvSpPr/>
            <p:nvPr/>
          </p:nvSpPr>
          <p:spPr>
            <a:xfrm>
              <a:off x="-135890" y="-1545590"/>
              <a:ext cx="5533390" cy="851535"/>
            </a:xfrm>
            <a:prstGeom prst="rect">
              <a:avLst/>
            </a:prstGeom>
            <a:noFill/>
            <a:ln w="0" cap="flat">
              <a:noFill/>
              <a:prstDash val="solid"/>
              <a:miter lim="0"/>
            </a:ln>
          </p:spPr>
          <p:txBody>
            <a:bodyPr vert="horz" wrap="square" lIns="0" tIns="0" rIns="0" bIns="0"/>
            <a:lstStyle/>
            <a:p>
              <a:pPr algn="l" rtl="0" eaLnBrk="0">
                <a:lnSpc>
                  <a:spcPct val="168000"/>
                </a:lnSpc>
              </a:pPr>
              <a:endParaRPr sz="1000" dirty="0">
                <a:latin typeface="Arial" panose="020B0604020202020204" pitchFamily="34" charset="0"/>
                <a:ea typeface="Arial" panose="020B0604020202020204" pitchFamily="34" charset="0"/>
                <a:cs typeface="Arial" panose="020B0604020202020204" pitchFamily="34" charset="0"/>
              </a:endParaRPr>
            </a:p>
            <a:p>
              <a:pPr marL="6934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密码分组链接</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(CBC)</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
        <p:nvSpPr>
          <p:cNvPr id="122" name="textbox 122"/>
          <p:cNvSpPr/>
          <p:nvPr/>
        </p:nvSpPr>
        <p:spPr>
          <a:xfrm>
            <a:off x="2745984" y="491245"/>
            <a:ext cx="6104890" cy="478155"/>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6000"/>
              </a:lnSpc>
            </a:pPr>
            <a:r>
              <a:rPr sz="3100" b="1" kern="0" spc="70" dirty="0">
                <a:solidFill>
                  <a:srgbClr val="1F4E79">
                    <a:alpha val="100000"/>
                  </a:srgbClr>
                </a:solidFill>
                <a:latin typeface="仿宋" panose="02010609060101010101" charset="-122"/>
                <a:ea typeface="仿宋" panose="02010609060101010101" charset="-122"/>
                <a:cs typeface="仿宋" panose="02010609060101010101" charset="-122"/>
              </a:rPr>
              <a:t>分组密码的工作模式</a:t>
            </a:r>
            <a:endParaRPr sz="3100" dirty="0">
              <a:latin typeface="仿宋" panose="02010609060101010101" charset="-122"/>
              <a:ea typeface="仿宋" panose="02010609060101010101" charset="-122"/>
              <a:cs typeface="仿宋" panose="02010609060101010101" charset="-122"/>
            </a:endParaRPr>
          </a:p>
        </p:txBody>
      </p:sp>
      <p:sp>
        <p:nvSpPr>
          <p:cNvPr id="126" name="path 12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128" name="picture 128"/>
          <p:cNvPicPr>
            <a:picLocks noChangeAspect="1"/>
          </p:cNvPicPr>
          <p:nvPr/>
        </p:nvPicPr>
        <p:blipFill>
          <a:blip r:embed="rId3"/>
          <a:stretch>
            <a:fillRect/>
          </a:stretch>
        </p:blipFill>
        <p:spPr>
          <a:xfrm rot="21600000">
            <a:off x="822960" y="408431"/>
            <a:ext cx="420623" cy="655320"/>
          </a:xfrm>
          <a:prstGeom prst="rect">
            <a:avLst/>
          </a:prstGeom>
        </p:spPr>
      </p:pic>
      <p:sp>
        <p:nvSpPr>
          <p:cNvPr id="130" name="path 13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grpSp>
        <p:nvGrpSpPr>
          <p:cNvPr id="18" name="group 18"/>
          <p:cNvGrpSpPr/>
          <p:nvPr/>
        </p:nvGrpSpPr>
        <p:grpSpPr>
          <a:xfrm rot="21600000">
            <a:off x="2623820" y="4264660"/>
            <a:ext cx="5725160" cy="851535"/>
            <a:chOff x="-161925" y="-1996440"/>
            <a:chExt cx="5601970" cy="851535"/>
          </a:xfrm>
        </p:grpSpPr>
        <p:pic>
          <p:nvPicPr>
            <p:cNvPr id="164" name="picture 164"/>
            <p:cNvPicPr>
              <a:picLocks noChangeAspect="1"/>
            </p:cNvPicPr>
            <p:nvPr/>
          </p:nvPicPr>
          <p:blipFill>
            <a:blip r:embed="rId4"/>
            <a:stretch>
              <a:fillRect/>
            </a:stretch>
          </p:blipFill>
          <p:spPr>
            <a:xfrm rot="21600000">
              <a:off x="-161925" y="-1971040"/>
              <a:ext cx="5507735" cy="813816"/>
            </a:xfrm>
            <a:prstGeom prst="rect">
              <a:avLst/>
            </a:prstGeom>
          </p:spPr>
        </p:pic>
        <p:sp>
          <p:nvSpPr>
            <p:cNvPr id="166" name="textbox 166"/>
            <p:cNvSpPr/>
            <p:nvPr/>
          </p:nvSpPr>
          <p:spPr>
            <a:xfrm>
              <a:off x="-93345" y="-1996440"/>
              <a:ext cx="5533390" cy="851535"/>
            </a:xfrm>
            <a:prstGeom prst="rect">
              <a:avLst/>
            </a:prstGeom>
            <a:noFill/>
            <a:ln w="0" cap="flat">
              <a:noFill/>
              <a:prstDash val="solid"/>
              <a:miter lim="0"/>
            </a:ln>
          </p:spPr>
          <p:txBody>
            <a:bodyPr vert="horz" wrap="square" lIns="0" tIns="0" rIns="0" bIns="0"/>
            <a:p>
              <a:pPr algn="l" rtl="0" eaLnBrk="0">
                <a:lnSpc>
                  <a:spcPct val="176000"/>
                </a:lnSpc>
              </a:pPr>
              <a:endParaRPr sz="1000" dirty="0">
                <a:latin typeface="Arial" panose="020B0604020202020204" pitchFamily="34" charset="0"/>
                <a:ea typeface="Arial" panose="020B0604020202020204" pitchFamily="34" charset="0"/>
                <a:cs typeface="Arial" panose="020B0604020202020204" pitchFamily="34" charset="0"/>
              </a:endParaRPr>
            </a:p>
            <a:p>
              <a:pPr marL="680720" algn="l" rtl="0" eaLnBrk="0">
                <a:lnSpc>
                  <a:spcPct val="93000"/>
                </a:lnSpc>
                <a:spcBef>
                  <a:spcPts val="5"/>
                </a:spcBef>
              </a:pP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输出反馈</a:t>
              </a:r>
              <a:r>
                <a:rPr sz="2400" b="1" kern="0" spc="-20" dirty="0">
                  <a:solidFill>
                    <a:srgbClr val="FFFFFF">
                      <a:alpha val="100000"/>
                    </a:srgbClr>
                  </a:solidFill>
                  <a:latin typeface="Times New Roman" panose="02020603050405020304"/>
                  <a:ea typeface="Times New Roman" panose="02020603050405020304"/>
                  <a:cs typeface="Times New Roman" panose="02020603050405020304"/>
                </a:rPr>
                <a:t>(OFB)</a:t>
              </a:r>
              <a:r>
                <a:rPr sz="2400" b="1" kern="0" spc="-2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grpSp>
        <p:nvGrpSpPr>
          <p:cNvPr id="20" name="group 20"/>
          <p:cNvGrpSpPr/>
          <p:nvPr/>
        </p:nvGrpSpPr>
        <p:grpSpPr>
          <a:xfrm rot="21600000">
            <a:off x="2623565" y="5277358"/>
            <a:ext cx="5711951" cy="813816"/>
            <a:chOff x="0" y="0"/>
            <a:chExt cx="5711951" cy="813816"/>
          </a:xfrm>
        </p:grpSpPr>
        <p:pic>
          <p:nvPicPr>
            <p:cNvPr id="168" name="picture 168"/>
            <p:cNvPicPr>
              <a:picLocks noChangeAspect="1"/>
            </p:cNvPicPr>
            <p:nvPr/>
          </p:nvPicPr>
          <p:blipFill>
            <a:blip r:embed="rId5"/>
            <a:stretch>
              <a:fillRect/>
            </a:stretch>
          </p:blipFill>
          <p:spPr>
            <a:xfrm rot="21600000">
              <a:off x="0" y="0"/>
              <a:ext cx="5711951" cy="813816"/>
            </a:xfrm>
            <a:prstGeom prst="rect">
              <a:avLst/>
            </a:prstGeom>
          </p:spPr>
        </p:pic>
        <p:sp>
          <p:nvSpPr>
            <p:cNvPr id="170" name="textbox 170"/>
            <p:cNvSpPr/>
            <p:nvPr/>
          </p:nvSpPr>
          <p:spPr>
            <a:xfrm>
              <a:off x="-12700" y="-12700"/>
              <a:ext cx="5737859" cy="879475"/>
            </a:xfrm>
            <a:prstGeom prst="rect">
              <a:avLst/>
            </a:prstGeom>
            <a:noFill/>
            <a:ln w="0" cap="flat">
              <a:noFill/>
              <a:prstDash val="solid"/>
              <a:miter lim="0"/>
            </a:ln>
          </p:spPr>
          <p:txBody>
            <a:bodyPr vert="horz" wrap="square" lIns="0" tIns="0" rIns="0" bIns="0"/>
            <a:p>
              <a:pPr algn="l" rtl="0" eaLnBrk="0">
                <a:lnSpc>
                  <a:spcPct val="17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77545" algn="l" rtl="0" eaLnBrk="0">
                <a:lnSpc>
                  <a:spcPct val="94000"/>
                </a:lnSpc>
              </a:pPr>
              <a:r>
                <a:rPr sz="2400" b="1" kern="0" spc="-40" dirty="0">
                  <a:solidFill>
                    <a:srgbClr val="FFFFFF">
                      <a:alpha val="100000"/>
                    </a:srgbClr>
                  </a:solidFill>
                  <a:latin typeface="仿宋" panose="02010609060101010101" charset="-122"/>
                  <a:ea typeface="仿宋" panose="02010609060101010101" charset="-122"/>
                  <a:cs typeface="仿宋" panose="02010609060101010101" charset="-122"/>
                </a:rPr>
                <a:t>计数器模式</a:t>
              </a:r>
              <a:endParaRPr sz="2400" dirty="0">
                <a:latin typeface="仿宋" panose="02010609060101010101" charset="-122"/>
                <a:ea typeface="仿宋" panose="02010609060101010101" charset="-122"/>
                <a:cs typeface="仿宋" panose="02010609060101010101" charset="-122"/>
              </a:endParaRPr>
            </a:p>
          </p:txBody>
        </p:sp>
      </p:grpSp>
      <p:grpSp>
        <p:nvGrpSpPr>
          <p:cNvPr id="22" name="group 22"/>
          <p:cNvGrpSpPr/>
          <p:nvPr/>
        </p:nvGrpSpPr>
        <p:grpSpPr>
          <a:xfrm rot="21600000">
            <a:off x="2623820" y="3302635"/>
            <a:ext cx="5670550" cy="814070"/>
            <a:chOff x="0" y="0"/>
            <a:chExt cx="5708903" cy="813816"/>
          </a:xfrm>
        </p:grpSpPr>
        <p:pic>
          <p:nvPicPr>
            <p:cNvPr id="172" name="picture 172"/>
            <p:cNvPicPr>
              <a:picLocks noChangeAspect="1"/>
            </p:cNvPicPr>
            <p:nvPr/>
          </p:nvPicPr>
          <p:blipFill>
            <a:blip r:embed="rId6"/>
            <a:stretch>
              <a:fillRect/>
            </a:stretch>
          </p:blipFill>
          <p:spPr>
            <a:xfrm rot="21600000">
              <a:off x="0" y="0"/>
              <a:ext cx="5708903" cy="813816"/>
            </a:xfrm>
            <a:prstGeom prst="rect">
              <a:avLst/>
            </a:prstGeom>
          </p:spPr>
        </p:pic>
        <p:sp>
          <p:nvSpPr>
            <p:cNvPr id="174" name="textbox 174"/>
            <p:cNvSpPr/>
            <p:nvPr/>
          </p:nvSpPr>
          <p:spPr>
            <a:xfrm>
              <a:off x="-12700" y="-12700"/>
              <a:ext cx="5734684" cy="851535"/>
            </a:xfrm>
            <a:prstGeom prst="rect">
              <a:avLst/>
            </a:prstGeom>
            <a:noFill/>
            <a:ln w="0" cap="flat">
              <a:noFill/>
              <a:prstDash val="solid"/>
              <a:miter lim="0"/>
            </a:ln>
          </p:spPr>
          <p:txBody>
            <a:bodyPr vert="horz" wrap="square" lIns="0" tIns="0" rIns="0" bIns="0"/>
            <a:p>
              <a:pPr algn="l" rtl="0" eaLnBrk="0">
                <a:lnSpc>
                  <a:spcPct val="175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7000"/>
                </a:lnSpc>
              </a:pPr>
              <a:endParaRPr sz="100" dirty="0">
                <a:latin typeface="Arial" panose="020B0604020202020204" pitchFamily="34" charset="0"/>
                <a:ea typeface="Arial" panose="020B0604020202020204" pitchFamily="34" charset="0"/>
                <a:cs typeface="Arial" panose="020B0604020202020204" pitchFamily="34" charset="0"/>
              </a:endParaRPr>
            </a:p>
            <a:p>
              <a:pPr marL="694690" algn="l" rtl="0" eaLnBrk="0">
                <a:lnSpc>
                  <a:spcPct val="93000"/>
                </a:lnSpc>
              </a:pP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密码反馈</a:t>
              </a:r>
              <a:r>
                <a:rPr sz="2400" b="1" kern="0" spc="-30" dirty="0">
                  <a:solidFill>
                    <a:srgbClr val="FFFFFF">
                      <a:alpha val="100000"/>
                    </a:srgbClr>
                  </a:solidFill>
                  <a:latin typeface="Times New Roman" panose="02020603050405020304"/>
                  <a:ea typeface="Times New Roman" panose="02020603050405020304"/>
                  <a:cs typeface="Times New Roman" panose="02020603050405020304"/>
                </a:rPr>
                <a:t>(CFB)</a:t>
              </a:r>
              <a:r>
                <a:rPr sz="2400" b="1" kern="0" spc="-30" dirty="0">
                  <a:solidFill>
                    <a:srgbClr val="FFFFFF">
                      <a:alpha val="100000"/>
                    </a:srgbClr>
                  </a:solidFill>
                  <a:latin typeface="仿宋" panose="02010609060101010101" charset="-122"/>
                  <a:ea typeface="仿宋" panose="02010609060101010101" charset="-122"/>
                  <a:cs typeface="仿宋" panose="02010609060101010101" charset="-122"/>
                </a:rPr>
                <a:t>模式</a:t>
              </a:r>
              <a:endParaRPr sz="2400" dirty="0">
                <a:latin typeface="仿宋" panose="02010609060101010101" charset="-122"/>
                <a:ea typeface="仿宋" panose="02010609060101010101" charset="-122"/>
                <a:cs typeface="仿宋" panose="02010609060101010101" charset="-122"/>
              </a:endParaRPr>
            </a:p>
          </p:txBody>
        </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textbox 200"/>
          <p:cNvSpPr/>
          <p:nvPr/>
        </p:nvSpPr>
        <p:spPr>
          <a:xfrm>
            <a:off x="919073" y="1581446"/>
            <a:ext cx="10344150" cy="1864360"/>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pitchFamily="34" charset="0"/>
              <a:ea typeface="Arial" panose="020B0604020202020204" pitchFamily="34" charset="0"/>
              <a:cs typeface="Arial" panose="020B0604020202020204" pitchFamily="34" charset="0"/>
            </a:endParaRPr>
          </a:p>
          <a:p>
            <a:pPr marL="249555" indent="-236855" algn="l" rtl="0" eaLnBrk="0">
              <a:lnSpc>
                <a:spcPct val="109000"/>
              </a:lnSpc>
            </a:pPr>
            <a:r>
              <a:rPr sz="2400"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利用固定密钥</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k</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对自然数序列</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1,2,3,…,n,  …</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加密，将得到的密文分组序列看</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0" dirty="0">
                <a:solidFill>
                  <a:srgbClr val="000000">
                    <a:alpha val="100000"/>
                  </a:srgbClr>
                </a:solidFill>
                <a:latin typeface="仿宋" panose="02010609060101010101" charset="-122"/>
                <a:ea typeface="仿宋" panose="02010609060101010101" charset="-122"/>
                <a:cs typeface="仿宋" panose="02010609060101010101" charset="-122"/>
              </a:rPr>
              <a:t>作密钥流序列，按加</a:t>
            </a:r>
            <a:r>
              <a:rPr sz="2400" b="1" kern="0" spc="-10" dirty="0">
                <a:solidFill>
                  <a:srgbClr val="000000">
                    <a:alpha val="100000"/>
                  </a:srgbClr>
                </a:solidFill>
                <a:latin typeface="仿宋" panose="02010609060101010101" charset="-122"/>
                <a:ea typeface="仿宋" panose="02010609060101010101" charset="-122"/>
                <a:cs typeface="仿宋" panose="02010609060101010101" charset="-122"/>
              </a:rPr>
              <a:t>法密码的方式与明文分组逐位异或的一种方式</a:t>
            </a:r>
            <a:endParaRPr sz="2400" dirty="0">
              <a:latin typeface="仿宋" panose="02010609060101010101" charset="-122"/>
              <a:ea typeface="仿宋" panose="02010609060101010101" charset="-122"/>
              <a:cs typeface="仿宋" panose="02010609060101010101" charset="-122"/>
            </a:endParaRPr>
          </a:p>
          <a:p>
            <a:pPr algn="l" rtl="0" eaLnBrk="0">
              <a:lnSpc>
                <a:spcPct val="106000"/>
              </a:lnSpc>
            </a:pPr>
            <a:endParaRPr sz="1500" dirty="0">
              <a:latin typeface="Arial" panose="020B0604020202020204" pitchFamily="34" charset="0"/>
              <a:ea typeface="Arial" panose="020B0604020202020204" pitchFamily="34" charset="0"/>
              <a:cs typeface="Arial" panose="020B0604020202020204" pitchFamily="34" charset="0"/>
            </a:endParaRPr>
          </a:p>
          <a:p>
            <a:pPr marL="243840" indent="-231140" algn="l" rtl="0" eaLnBrk="0">
              <a:lnSpc>
                <a:spcPct val="109000"/>
              </a:lnSpc>
              <a:spcBef>
                <a:spcPts val="0"/>
              </a:spcBef>
            </a:pPr>
            <a:r>
              <a:rPr sz="2400" kern="0" spc="4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利用这种方式可以产生伪随机数序列</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其伪随机特性远比计算机产生的随机</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40" dirty="0">
                <a:solidFill>
                  <a:srgbClr val="000000">
                    <a:alpha val="100000"/>
                  </a:srgbClr>
                </a:solidFill>
                <a:latin typeface="仿宋" panose="02010609060101010101" charset="-122"/>
                <a:ea typeface="仿宋" panose="02010609060101010101" charset="-122"/>
                <a:cs typeface="仿宋" panose="02010609060101010101" charset="-122"/>
              </a:rPr>
              <a:t>数的性质好</a:t>
            </a:r>
            <a:endParaRPr sz="2400" dirty="0">
              <a:latin typeface="仿宋" panose="02010609060101010101" charset="-122"/>
              <a:ea typeface="仿宋" panose="02010609060101010101" charset="-122"/>
              <a:cs typeface="仿宋" panose="02010609060101010101" charset="-122"/>
            </a:endParaRPr>
          </a:p>
        </p:txBody>
      </p:sp>
      <p:sp>
        <p:nvSpPr>
          <p:cNvPr id="204" name="textbox 204"/>
          <p:cNvSpPr/>
          <p:nvPr/>
        </p:nvSpPr>
        <p:spPr>
          <a:xfrm>
            <a:off x="1571329" y="491245"/>
            <a:ext cx="2038350" cy="482600"/>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50" dirty="0">
                <a:solidFill>
                  <a:srgbClr val="1F4E79">
                    <a:alpha val="100000"/>
                  </a:srgbClr>
                </a:solidFill>
                <a:latin typeface="仿宋" panose="02010609060101010101" charset="-122"/>
                <a:ea typeface="仿宋" panose="02010609060101010101" charset="-122"/>
                <a:cs typeface="仿宋" panose="02010609060101010101" charset="-122"/>
              </a:rPr>
              <a:t>计数器模式</a:t>
            </a:r>
            <a:endParaRPr sz="3100" dirty="0">
              <a:latin typeface="仿宋" panose="02010609060101010101" charset="-122"/>
              <a:ea typeface="仿宋" panose="02010609060101010101" charset="-122"/>
              <a:cs typeface="仿宋" panose="02010609060101010101" charset="-122"/>
            </a:endParaRPr>
          </a:p>
        </p:txBody>
      </p:sp>
      <p:sp>
        <p:nvSpPr>
          <p:cNvPr id="206" name="path 206"/>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208" name="picture 208"/>
          <p:cNvPicPr>
            <a:picLocks noChangeAspect="1"/>
          </p:cNvPicPr>
          <p:nvPr/>
        </p:nvPicPr>
        <p:blipFill>
          <a:blip r:embed="rId1"/>
          <a:stretch>
            <a:fillRect/>
          </a:stretch>
        </p:blipFill>
        <p:spPr>
          <a:xfrm rot="21600000">
            <a:off x="822960" y="408431"/>
            <a:ext cx="420623" cy="655320"/>
          </a:xfrm>
          <a:prstGeom prst="rect">
            <a:avLst/>
          </a:prstGeom>
        </p:spPr>
      </p:pic>
      <p:sp>
        <p:nvSpPr>
          <p:cNvPr id="210" name="path 210"/>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path 212"/>
          <p:cNvSpPr/>
          <p:nvPr/>
        </p:nvSpPr>
        <p:spPr>
          <a:xfrm>
            <a:off x="696468" y="1021080"/>
            <a:ext cx="10779125" cy="5245607"/>
          </a:xfrm>
          <a:custGeom>
            <a:avLst/>
            <a:gdLst/>
            <a:ahLst/>
            <a:cxnLst/>
            <a:rect l="0" t="0" r="0" b="0"/>
            <a:pathLst>
              <a:path w="16975" h="8260">
                <a:moveTo>
                  <a:pt x="1214" y="21"/>
                </a:moveTo>
                <a:lnTo>
                  <a:pt x="15446" y="21"/>
                </a:lnTo>
                <a:moveTo>
                  <a:pt x="0" y="8239"/>
                </a:moveTo>
                <a:lnTo>
                  <a:pt x="16975" y="8239"/>
                </a:lnTo>
              </a:path>
            </a:pathLst>
          </a:custGeom>
          <a:noFill/>
          <a:ln w="27431" cap="flat">
            <a:solidFill>
              <a:srgbClr val="5B9BD5"/>
            </a:solidFill>
            <a:prstDash val="solid"/>
            <a:miter lim="1000000"/>
          </a:ln>
        </p:spPr>
        <p:txBody>
          <a:bodyPr rtlCol="0"/>
          <a:lstStyle/>
          <a:p>
            <a:pPr algn="ctr"/>
            <a:endParaRPr lang="zh-CN" altLang="en-US"/>
          </a:p>
        </p:txBody>
      </p:sp>
      <p:pic>
        <p:nvPicPr>
          <p:cNvPr id="214" name="picture 214"/>
          <p:cNvPicPr>
            <a:picLocks noChangeAspect="1"/>
          </p:cNvPicPr>
          <p:nvPr/>
        </p:nvPicPr>
        <p:blipFill>
          <a:blip r:embed="rId1"/>
          <a:stretch>
            <a:fillRect/>
          </a:stretch>
        </p:blipFill>
        <p:spPr>
          <a:xfrm rot="21600000">
            <a:off x="1990344" y="1033271"/>
            <a:ext cx="7985760" cy="5486400"/>
          </a:xfrm>
          <a:prstGeom prst="rect">
            <a:avLst/>
          </a:prstGeom>
        </p:spPr>
      </p:pic>
      <p:sp>
        <p:nvSpPr>
          <p:cNvPr id="216" name="textbox 216"/>
          <p:cNvSpPr/>
          <p:nvPr/>
        </p:nvSpPr>
        <p:spPr>
          <a:xfrm>
            <a:off x="810260" y="395731"/>
            <a:ext cx="4020820" cy="732155"/>
          </a:xfrm>
          <a:prstGeom prst="rect">
            <a:avLst/>
          </a:prstGeom>
          <a:noFill/>
          <a:ln w="0" cap="flat">
            <a:noFill/>
            <a:prstDash val="solid"/>
            <a:miter lim="0"/>
          </a:ln>
        </p:spPr>
        <p:txBody>
          <a:bodyPr vert="horz" wrap="square" lIns="0" tIns="0" rIns="0" bIns="0"/>
          <a:lstStyle/>
          <a:p>
            <a:pPr algn="l" rtl="0" eaLnBrk="0">
              <a:lnSpc>
                <a:spcPct val="100000"/>
              </a:lnSpc>
            </a:pPr>
            <a:endParaRPr sz="700" dirty="0">
              <a:latin typeface="Arial" panose="020B0604020202020204" pitchFamily="34" charset="0"/>
              <a:ea typeface="Arial" panose="020B0604020202020204" pitchFamily="34" charset="0"/>
              <a:cs typeface="Arial" panose="020B0604020202020204" pitchFamily="34" charset="0"/>
            </a:endParaRPr>
          </a:p>
          <a:p>
            <a:pPr marL="433070" algn="l" defTabSz="0" rtl="0" eaLnBrk="0">
              <a:lnSpc>
                <a:spcPct val="97000"/>
              </a:lnSpc>
              <a:spcBef>
                <a:spcPts val="0"/>
              </a:spcBef>
              <a:tabLst>
                <a:tab pos="773430" algn="l"/>
              </a:tabLst>
            </a:pPr>
            <a:r>
              <a:rPr sz="31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100" b="1" kern="0" spc="60" dirty="0">
                <a:solidFill>
                  <a:srgbClr val="1F4E79">
                    <a:alpha val="100000"/>
                  </a:srgbClr>
                </a:solidFill>
                <a:latin typeface="仿宋" panose="02010609060101010101" charset="-122"/>
                <a:ea typeface="仿宋" panose="02010609060101010101" charset="-122"/>
                <a:cs typeface="仿宋" panose="02010609060101010101" charset="-122"/>
              </a:rPr>
              <a:t>计数器模式的结构</a:t>
            </a:r>
            <a:endParaRPr sz="3100" dirty="0">
              <a:latin typeface="仿宋" panose="02010609060101010101" charset="-122"/>
              <a:ea typeface="仿宋" panose="02010609060101010101" charset="-122"/>
              <a:cs typeface="仿宋" panose="02010609060101010101" charset="-122"/>
            </a:endParaRPr>
          </a:p>
        </p:txBody>
      </p:sp>
      <p:pic>
        <p:nvPicPr>
          <p:cNvPr id="218" name="picture 218"/>
          <p:cNvPicPr>
            <a:picLocks noChangeAspect="1"/>
          </p:cNvPicPr>
          <p:nvPr/>
        </p:nvPicPr>
        <p:blipFill>
          <a:blip r:embed="rId2"/>
          <a:stretch>
            <a:fillRect/>
          </a:stretch>
        </p:blipFill>
        <p:spPr>
          <a:xfrm rot="21600000">
            <a:off x="822960" y="408431"/>
            <a:ext cx="420623" cy="65532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textbox 222"/>
          <p:cNvSpPr/>
          <p:nvPr/>
        </p:nvSpPr>
        <p:spPr>
          <a:xfrm>
            <a:off x="1582270" y="1483223"/>
            <a:ext cx="5287009" cy="387667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ts val="3380"/>
              </a:lnSpc>
            </a:pPr>
            <a:r>
              <a:rPr sz="2800" kern="0" spc="-10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00" dirty="0">
                <a:solidFill>
                  <a:srgbClr val="000000">
                    <a:alpha val="100000"/>
                  </a:srgbClr>
                </a:solidFill>
                <a:latin typeface="仿宋" panose="02010609060101010101" charset="-122"/>
                <a:ea typeface="仿宋" panose="02010609060101010101" charset="-122"/>
                <a:cs typeface="仿宋" panose="02010609060101010101" charset="-122"/>
              </a:rPr>
              <a:t>效率</a:t>
            </a:r>
            <a:endParaRPr sz="2800" dirty="0">
              <a:latin typeface="仿宋" panose="02010609060101010101" charset="-122"/>
              <a:ea typeface="仿宋" panose="02010609060101010101" charset="-122"/>
              <a:cs typeface="仿宋" panose="02010609060101010101" charset="-122"/>
            </a:endParaRPr>
          </a:p>
          <a:p>
            <a:pPr marL="466725" algn="l" rtl="0" eaLnBrk="0">
              <a:lnSpc>
                <a:spcPct val="119000"/>
              </a:lnSpc>
              <a:spcBef>
                <a:spcPts val="1095"/>
              </a:spcBef>
            </a:pPr>
            <a:r>
              <a:rPr sz="2400" kern="0" spc="-6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5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60" dirty="0">
                <a:solidFill>
                  <a:srgbClr val="000000">
                    <a:alpha val="100000"/>
                  </a:srgbClr>
                </a:solidFill>
                <a:latin typeface="仿宋" panose="02010609060101010101" charset="-122"/>
                <a:ea typeface="仿宋" panose="02010609060101010101" charset="-122"/>
                <a:cs typeface="仿宋" panose="02010609060101010101" charset="-122"/>
              </a:rPr>
              <a:t>可并行加密</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70" dirty="0">
                <a:solidFill>
                  <a:srgbClr val="000000">
                    <a:alpha val="100000"/>
                  </a:srgbClr>
                </a:solidFill>
                <a:latin typeface="仿宋" panose="02010609060101010101" charset="-122"/>
                <a:ea typeface="仿宋" panose="02010609060101010101" charset="-122"/>
                <a:cs typeface="仿宋" panose="02010609060101010101" charset="-122"/>
              </a:rPr>
              <a:t>预处理</a:t>
            </a:r>
            <a:endParaRPr sz="2400" dirty="0">
              <a:latin typeface="仿宋" panose="02010609060101010101" charset="-122"/>
              <a:ea typeface="仿宋" panose="02010609060101010101" charset="-122"/>
              <a:cs typeface="仿宋" panose="02010609060101010101" charset="-122"/>
            </a:endParaRPr>
          </a:p>
          <a:p>
            <a:pPr algn="r" rtl="0" eaLnBrk="0">
              <a:lnSpc>
                <a:spcPct val="99000"/>
              </a:lnSpc>
              <a:spcBef>
                <a:spcPts val="1055"/>
              </a:spcBef>
            </a:pPr>
            <a:r>
              <a:rPr sz="2400" kern="0" spc="-2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400" kern="0" spc="48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400" b="1" kern="0" spc="-20" dirty="0">
                <a:solidFill>
                  <a:srgbClr val="000000">
                    <a:alpha val="100000"/>
                  </a:srgbClr>
                </a:solidFill>
                <a:latin typeface="仿宋" panose="02010609060101010101" charset="-122"/>
                <a:ea typeface="仿宋" panose="02010609060101010101" charset="-122"/>
                <a:cs typeface="仿宋" panose="02010609060101010101" charset="-122"/>
              </a:rPr>
              <a:t>吞吐量仅受可使用并行数量的</a:t>
            </a:r>
            <a:r>
              <a:rPr sz="2400" b="1" kern="0" spc="-30" dirty="0">
                <a:solidFill>
                  <a:srgbClr val="000000">
                    <a:alpha val="100000"/>
                  </a:srgbClr>
                </a:solidFill>
                <a:latin typeface="仿宋" panose="02010609060101010101" charset="-122"/>
                <a:ea typeface="仿宋" panose="02010609060101010101" charset="-122"/>
                <a:cs typeface="仿宋" panose="02010609060101010101" charset="-122"/>
              </a:rPr>
              <a:t>限制</a:t>
            </a:r>
            <a:endParaRPr sz="2400" dirty="0">
              <a:latin typeface="仿宋" panose="02010609060101010101" charset="-122"/>
              <a:ea typeface="仿宋" panose="02010609060101010101" charset="-122"/>
              <a:cs typeface="仿宋" panose="02010609060101010101" charset="-122"/>
            </a:endParaRPr>
          </a:p>
          <a:p>
            <a:pPr marL="12700" algn="l" rtl="0" eaLnBrk="0">
              <a:lnSpc>
                <a:spcPct val="100000"/>
              </a:lnSpc>
              <a:spcBef>
                <a:spcPts val="1680"/>
              </a:spcBef>
            </a:pPr>
            <a:r>
              <a:rPr sz="2800" kern="0" spc="-3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30" dirty="0">
                <a:solidFill>
                  <a:srgbClr val="000000">
                    <a:alpha val="100000"/>
                  </a:srgbClr>
                </a:solidFill>
                <a:latin typeface="仿宋" panose="02010609060101010101" charset="-122"/>
                <a:ea typeface="仿宋" panose="02010609060101010101" charset="-122"/>
                <a:cs typeface="仿宋" panose="02010609060101010101" charset="-122"/>
              </a:rPr>
              <a:t>加密数据块的随机访</a:t>
            </a:r>
            <a:r>
              <a:rPr sz="2800" b="1" kern="0" spc="-40" dirty="0">
                <a:solidFill>
                  <a:srgbClr val="000000">
                    <a:alpha val="100000"/>
                  </a:srgbClr>
                </a:solidFill>
                <a:latin typeface="仿宋" panose="02010609060101010101" charset="-122"/>
                <a:ea typeface="仿宋" panose="02010609060101010101" charset="-122"/>
                <a:cs typeface="仿宋" panose="02010609060101010101" charset="-122"/>
              </a:rPr>
              <a:t>问</a:t>
            </a:r>
            <a:endParaRPr sz="2800" dirty="0">
              <a:latin typeface="仿宋" panose="02010609060101010101" charset="-122"/>
              <a:ea typeface="仿宋" panose="02010609060101010101" charset="-122"/>
              <a:cs typeface="仿宋" panose="02010609060101010101" charset="-122"/>
            </a:endParaRPr>
          </a:p>
          <a:p>
            <a:pPr marL="12700" algn="l" rtl="0" eaLnBrk="0">
              <a:lnSpc>
                <a:spcPts val="3380"/>
              </a:lnSpc>
              <a:spcBef>
                <a:spcPts val="1675"/>
              </a:spcBef>
            </a:pPr>
            <a:r>
              <a:rPr sz="2800" kern="0" spc="-7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29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70" dirty="0">
                <a:solidFill>
                  <a:srgbClr val="000000">
                    <a:alpha val="100000"/>
                  </a:srgbClr>
                </a:solidFill>
                <a:latin typeface="仿宋" panose="02010609060101010101" charset="-122"/>
                <a:ea typeface="仿宋" panose="02010609060101010101" charset="-122"/>
                <a:cs typeface="仿宋" panose="02010609060101010101" charset="-122"/>
              </a:rPr>
              <a:t>可证明安全</a:t>
            </a:r>
            <a:endParaRPr sz="2800" dirty="0">
              <a:latin typeface="仿宋" panose="02010609060101010101" charset="-122"/>
              <a:ea typeface="仿宋" panose="02010609060101010101" charset="-122"/>
              <a:cs typeface="仿宋" panose="02010609060101010101" charset="-122"/>
            </a:endParaRPr>
          </a:p>
          <a:p>
            <a:pPr algn="l" rtl="0" eaLnBrk="0">
              <a:lnSpc>
                <a:spcPct val="107000"/>
              </a:lnSpc>
            </a:pPr>
            <a:endParaRPr sz="13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9000"/>
              </a:lnSpc>
              <a:spcBef>
                <a:spcPts val="5"/>
              </a:spcBef>
            </a:pPr>
            <a:r>
              <a:rPr sz="2800" kern="0" spc="-11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a:t>
            </a:r>
            <a:r>
              <a:rPr sz="2800" kern="0" spc="380" dirty="0">
                <a:solidFill>
                  <a:srgbClr val="000000">
                    <a:alpha val="100000"/>
                  </a:srgbClr>
                </a:solidFill>
                <a:latin typeface="Arial" panose="020B0604020202020204" pitchFamily="34" charset="0"/>
                <a:ea typeface="Arial" panose="020B0604020202020204" pitchFamily="34" charset="0"/>
                <a:cs typeface="Arial" panose="020B0604020202020204" pitchFamily="34" charset="0"/>
              </a:rPr>
              <a:t> </a:t>
            </a:r>
            <a:r>
              <a:rPr sz="2800" b="1" kern="0" spc="-110" dirty="0">
                <a:solidFill>
                  <a:srgbClr val="000000">
                    <a:alpha val="100000"/>
                  </a:srgbClr>
                </a:solidFill>
                <a:latin typeface="仿宋" panose="02010609060101010101" charset="-122"/>
                <a:ea typeface="仿宋" panose="02010609060101010101" charset="-122"/>
                <a:cs typeface="仿宋" panose="02010609060101010101" charset="-122"/>
              </a:rPr>
              <a:t>简单性（只要求实</a:t>
            </a:r>
            <a:r>
              <a:rPr sz="2800" b="1" kern="0" spc="-120" dirty="0">
                <a:solidFill>
                  <a:srgbClr val="000000">
                    <a:alpha val="100000"/>
                  </a:srgbClr>
                </a:solidFill>
                <a:latin typeface="仿宋" panose="02010609060101010101" charset="-122"/>
                <a:ea typeface="仿宋" panose="02010609060101010101" charset="-122"/>
                <a:cs typeface="仿宋" panose="02010609060101010101" charset="-122"/>
              </a:rPr>
              <a:t>现加密算法）</a:t>
            </a:r>
            <a:endParaRPr sz="2800" dirty="0">
              <a:latin typeface="仿宋" panose="02010609060101010101" charset="-122"/>
              <a:ea typeface="仿宋" panose="02010609060101010101" charset="-122"/>
              <a:cs typeface="仿宋" panose="02010609060101010101" charset="-122"/>
            </a:endParaRPr>
          </a:p>
        </p:txBody>
      </p:sp>
      <p:sp>
        <p:nvSpPr>
          <p:cNvPr id="226" name="textbox 226"/>
          <p:cNvSpPr/>
          <p:nvPr/>
        </p:nvSpPr>
        <p:spPr>
          <a:xfrm>
            <a:off x="1555519" y="491245"/>
            <a:ext cx="1852929" cy="482600"/>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7000"/>
              </a:lnSpc>
            </a:pPr>
            <a:r>
              <a:rPr sz="3100" b="1" kern="0" spc="0" dirty="0">
                <a:solidFill>
                  <a:srgbClr val="1F4E79">
                    <a:alpha val="100000"/>
                  </a:srgbClr>
                </a:solidFill>
                <a:latin typeface="仿宋" panose="02010609060101010101" charset="-122"/>
                <a:ea typeface="仿宋" panose="02010609060101010101" charset="-122"/>
                <a:cs typeface="仿宋" panose="02010609060101010101" charset="-122"/>
              </a:rPr>
              <a:t>CTR</a:t>
            </a:r>
            <a:r>
              <a:rPr sz="3100" b="1" kern="0" spc="110" dirty="0">
                <a:solidFill>
                  <a:srgbClr val="1F4E79">
                    <a:alpha val="100000"/>
                  </a:srgbClr>
                </a:solidFill>
                <a:latin typeface="仿宋" panose="02010609060101010101" charset="-122"/>
                <a:ea typeface="仿宋" panose="02010609060101010101" charset="-122"/>
                <a:cs typeface="仿宋" panose="02010609060101010101" charset="-122"/>
              </a:rPr>
              <a:t>的优点</a:t>
            </a:r>
            <a:endParaRPr sz="3100" dirty="0">
              <a:latin typeface="仿宋" panose="02010609060101010101" charset="-122"/>
              <a:ea typeface="仿宋" panose="02010609060101010101" charset="-122"/>
              <a:cs typeface="仿宋" panose="02010609060101010101" charset="-122"/>
            </a:endParaRPr>
          </a:p>
        </p:txBody>
      </p:sp>
      <p:sp>
        <p:nvSpPr>
          <p:cNvPr id="228" name="path 22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pic>
        <p:nvPicPr>
          <p:cNvPr id="230" name="picture 230"/>
          <p:cNvPicPr>
            <a:picLocks noChangeAspect="1"/>
          </p:cNvPicPr>
          <p:nvPr/>
        </p:nvPicPr>
        <p:blipFill>
          <a:blip r:embed="rId1"/>
          <a:stretch>
            <a:fillRect/>
          </a:stretch>
        </p:blipFill>
        <p:spPr>
          <a:xfrm rot="21600000">
            <a:off x="822960" y="408431"/>
            <a:ext cx="420623" cy="655320"/>
          </a:xfrm>
          <a:prstGeom prst="rect">
            <a:avLst/>
          </a:prstGeom>
        </p:spPr>
      </p:pic>
      <p:sp>
        <p:nvSpPr>
          <p:cNvPr id="232" name="path 232"/>
          <p:cNvSpPr/>
          <p:nvPr/>
        </p:nvSpPr>
        <p:spPr>
          <a:xfrm>
            <a:off x="1467611" y="1021080"/>
            <a:ext cx="9037573" cy="27431"/>
          </a:xfrm>
          <a:custGeom>
            <a:avLst/>
            <a:gdLst/>
            <a:ahLst/>
            <a:cxnLst/>
            <a:rect l="0" t="0" r="0" b="0"/>
            <a:pathLst>
              <a:path w="14232" h="43">
                <a:moveTo>
                  <a:pt x="0" y="21"/>
                </a:moveTo>
                <a:lnTo>
                  <a:pt x="14232"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tags/tag1.xml><?xml version="1.0" encoding="utf-8"?>
<p:tagLst xmlns:p="http://schemas.openxmlformats.org/presentationml/2006/main">
  <p:tag name="commondata" val="eyJoZGlkIjoiY2U4YTU5MTY0Mzg0NDJkNzg4NTk2MGI3NDY0ZjlmZjEifQ=="/>
  <p:tag name="KSO_WPP_MARK_KEY" val="894bc18c-c241-452e-b44f-1177c2297912"/>
  <p:tag name="COMMONDATA" val="eyJoZGlkIjoiMzEwNTM5NzYwMDRjMzkwZTVkZjY2ODkwMGIxNGU0OTUifQ=="/>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14668</Words>
  <Application>WPS 演示</Application>
  <PresentationFormat/>
  <Paragraphs>4117</Paragraphs>
  <Slides>98</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98</vt:i4>
      </vt:variant>
    </vt:vector>
  </HeadingPairs>
  <TitlesOfParts>
    <vt:vector size="111" baseType="lpstr">
      <vt:lpstr>Arial</vt:lpstr>
      <vt:lpstr>宋体</vt:lpstr>
      <vt:lpstr>Wingdings</vt:lpstr>
      <vt:lpstr>黑体</vt:lpstr>
      <vt:lpstr>仿宋</vt:lpstr>
      <vt:lpstr>Times New Roman</vt:lpstr>
      <vt:lpstr>微软雅黑</vt:lpstr>
      <vt:lpstr>Arial Unicode MS</vt:lpstr>
      <vt:lpstr>Calibri</vt:lpstr>
      <vt:lpstr>Tahoma</vt:lpstr>
      <vt:lpstr>MS Gothic</vt:lpstr>
      <vt:lpstr>Verdana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BWX</cp:lastModifiedBy>
  <cp:revision>28</cp:revision>
  <dcterms:created xsi:type="dcterms:W3CDTF">1900-01-01T00:00:00Z</dcterms:created>
  <dcterms:modified xsi:type="dcterms:W3CDTF">2025-04-01T02:59:43Z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wqlLaW5nc29mdCBQREYgdG8gV1BTIDkw</vt:lpwstr>
  </property>
  <property fmtid="{D5CDD505-2E9C-101B-9397-08002B2CF9AE}" pid="3" name="Created">
    <vt:filetime>1900-01-01T16:00:00Z</vt:filetime>
  </property>
  <property fmtid="{D5CDD505-2E9C-101B-9397-08002B2CF9AE}" pid="4" name="ICV">
    <vt:lpwstr>90E8CFAD18154463980DEB4B6C8205AC_13</vt:lpwstr>
  </property>
  <property fmtid="{D5CDD505-2E9C-101B-9397-08002B2CF9AE}" pid="5" name="KSOProductBuildVer">
    <vt:lpwstr>2052-11.1.0.12375</vt:lpwstr>
  </property>
</Properties>
</file>