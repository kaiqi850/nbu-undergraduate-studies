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841" r:id="rId3"/>
    <p:sldId id="842" r:id="rId4"/>
    <p:sldId id="847" r:id="rId6"/>
    <p:sldId id="1021" r:id="rId7"/>
    <p:sldId id="1091" r:id="rId8"/>
    <p:sldId id="1022" r:id="rId9"/>
    <p:sldId id="941" r:id="rId10"/>
    <p:sldId id="1023" r:id="rId11"/>
    <p:sldId id="1026" r:id="rId12"/>
    <p:sldId id="1025" r:id="rId13"/>
    <p:sldId id="1065" r:id="rId14"/>
    <p:sldId id="1066" r:id="rId15"/>
    <p:sldId id="1067" r:id="rId16"/>
    <p:sldId id="1068" r:id="rId17"/>
    <p:sldId id="1093" r:id="rId18"/>
    <p:sldId id="1076" r:id="rId19"/>
    <p:sldId id="1077" r:id="rId20"/>
    <p:sldId id="1078" r:id="rId21"/>
    <p:sldId id="1079" r:id="rId22"/>
    <p:sldId id="1080" r:id="rId23"/>
    <p:sldId id="1082" r:id="rId24"/>
    <p:sldId id="1081" r:id="rId25"/>
    <p:sldId id="1083" r:id="rId26"/>
    <p:sldId id="1084" r:id="rId27"/>
    <p:sldId id="1085" r:id="rId28"/>
    <p:sldId id="1086" r:id="rId29"/>
    <p:sldId id="1087" r:id="rId30"/>
    <p:sldId id="1088" r:id="rId31"/>
    <p:sldId id="1094" r:id="rId32"/>
    <p:sldId id="1095" r:id="rId33"/>
    <p:sldId id="1096" r:id="rId34"/>
    <p:sldId id="1097" r:id="rId35"/>
    <p:sldId id="1098" r:id="rId36"/>
    <p:sldId id="1099" r:id="rId37"/>
    <p:sldId id="1100" r:id="rId38"/>
    <p:sldId id="1101" r:id="rId39"/>
    <p:sldId id="1092" r:id="rId40"/>
    <p:sldId id="1089" r:id="rId41"/>
    <p:sldId id="1090" r:id="rId42"/>
  </p:sldIdLst>
  <p:sldSz cx="12192000" cy="6858000" type="screen4x3"/>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9" userDrawn="1">
          <p15:clr>
            <a:srgbClr val="A4A3A4"/>
          </p15:clr>
        </p15:guide>
        <p15:guide id="2" pos="37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qx" initials="w" lastIdx="6"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249"/>
        <p:guide pos="37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7" Type="http://schemas.openxmlformats.org/officeDocument/2006/relationships/tags" Target="tags/tag1.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IPSec</a:t>
            </a:r>
            <a:r>
              <a:rPr lang="zh-CN" altLang="en-US"/>
              <a:t>协议保障的范围不只是</a:t>
            </a:r>
            <a:r>
              <a:rPr lang="en-US" altLang="zh-CN"/>
              <a:t>IP</a:t>
            </a:r>
            <a:r>
              <a:rPr lang="zh-CN" altLang="en-US"/>
              <a:t>层，而是包括上层数据包在内的所有</a:t>
            </a:r>
            <a:r>
              <a:rPr lang="zh-CN" altLang="en-US"/>
              <a:t>层。</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消息用户代理</a:t>
            </a:r>
            <a:r>
              <a:rPr lang="en-US" altLang="zh-CN" dirty="0">
                <a:sym typeface="+mn-ea"/>
              </a:rPr>
              <a:t>MUA(Mail User Agent)</a:t>
            </a:r>
            <a:r>
              <a:rPr lang="zh-CN" altLang="en-US" dirty="0">
                <a:sym typeface="+mn-ea"/>
              </a:rPr>
              <a:t>：客户端电子邮件程序或者是本地网络电子邮件服务器。会将我们要发送的消息格式化，然后通过</a:t>
            </a:r>
            <a:r>
              <a:rPr lang="en-US" altLang="zh-CN" dirty="0">
                <a:sym typeface="+mn-ea"/>
              </a:rPr>
              <a:t>MSA</a:t>
            </a:r>
            <a:r>
              <a:rPr lang="zh-CN" altLang="en-US" dirty="0">
                <a:sym typeface="+mn-ea"/>
              </a:rPr>
              <a:t>提交给</a:t>
            </a:r>
            <a:r>
              <a:rPr lang="en-US" altLang="zh-CN" dirty="0">
                <a:sym typeface="+mn-ea"/>
              </a:rPr>
              <a:t>MHS</a:t>
            </a:r>
            <a:r>
              <a:rPr lang="zh-CN" altLang="en-US" dirty="0">
                <a:sym typeface="+mn-ea"/>
              </a:rPr>
              <a:t>（消息处理系统）。接收方</a:t>
            </a:r>
            <a:r>
              <a:rPr lang="en-US" altLang="zh-CN" dirty="0">
                <a:sym typeface="+mn-ea"/>
              </a:rPr>
              <a:t>MUA</a:t>
            </a:r>
            <a:r>
              <a:rPr lang="zh-CN" altLang="en-US" dirty="0">
                <a:sym typeface="+mn-ea"/>
              </a:rPr>
              <a:t>接收到邮件后，存储并显示给用户。</a:t>
            </a:r>
            <a:endParaRPr lang="zh-CN" altLang="en-US" dirty="0">
              <a:sym typeface="+mn-ea"/>
            </a:endParaRPr>
          </a:p>
          <a:p>
            <a:r>
              <a:rPr lang="en-US" altLang="zh-CN" dirty="0">
                <a:sym typeface="+mn-ea"/>
              </a:rPr>
              <a:t>2. MSA</a:t>
            </a:r>
            <a:r>
              <a:rPr lang="zh-CN" altLang="en-US" dirty="0">
                <a:sym typeface="+mn-ea"/>
              </a:rPr>
              <a:t>是接收</a:t>
            </a:r>
            <a:r>
              <a:rPr lang="en-US" altLang="zh-CN" dirty="0">
                <a:sym typeface="+mn-ea"/>
              </a:rPr>
              <a:t>MUA</a:t>
            </a:r>
            <a:r>
              <a:rPr lang="zh-CN" altLang="en-US" dirty="0">
                <a:sym typeface="+mn-ea"/>
              </a:rPr>
              <a:t>的消息，然后提供对应的安全策略。可以单独部署或者和</a:t>
            </a:r>
            <a:r>
              <a:rPr lang="en-US" altLang="zh-CN" dirty="0">
                <a:sym typeface="+mn-ea"/>
              </a:rPr>
              <a:t>MUA</a:t>
            </a:r>
            <a:r>
              <a:rPr lang="zh-CN" altLang="en-US" dirty="0">
                <a:sym typeface="+mn-ea"/>
              </a:rPr>
              <a:t>合并。如果作为单独模块的话，</a:t>
            </a:r>
            <a:r>
              <a:rPr lang="en-US" altLang="zh-CN" dirty="0">
                <a:sym typeface="+mn-ea"/>
              </a:rPr>
              <a:t>SMTP</a:t>
            </a:r>
            <a:r>
              <a:rPr lang="zh-CN" altLang="en-US" dirty="0">
                <a:sym typeface="+mn-ea"/>
              </a:rPr>
              <a:t>就运行在</a:t>
            </a:r>
            <a:r>
              <a:rPr lang="en-US" altLang="zh-CN" dirty="0">
                <a:sym typeface="+mn-ea"/>
              </a:rPr>
              <a:t>MUA</a:t>
            </a:r>
            <a:r>
              <a:rPr lang="zh-CN" altLang="en-US" dirty="0">
                <a:sym typeface="+mn-ea"/>
              </a:rPr>
              <a:t>和</a:t>
            </a:r>
            <a:r>
              <a:rPr lang="en-US" altLang="zh-CN" dirty="0">
                <a:sym typeface="+mn-ea"/>
              </a:rPr>
              <a:t>MSA</a:t>
            </a:r>
            <a:r>
              <a:rPr lang="zh-CN" altLang="en-US" dirty="0">
                <a:sym typeface="+mn-ea"/>
              </a:rPr>
              <a:t>之间。</a:t>
            </a:r>
            <a:endParaRPr lang="zh-CN" altLang="en-US" dirty="0">
              <a:sym typeface="+mn-ea"/>
            </a:endParaRPr>
          </a:p>
          <a:p>
            <a:r>
              <a:rPr lang="en-US" altLang="zh-CN" dirty="0">
                <a:sym typeface="+mn-ea"/>
              </a:rPr>
              <a:t>3. MTA</a:t>
            </a:r>
            <a:r>
              <a:rPr lang="zh-CN" altLang="en-US" dirty="0">
                <a:sym typeface="+mn-ea"/>
              </a:rPr>
              <a:t>：在应用层中继邮件，类似于路由器。</a:t>
            </a:r>
            <a:endParaRPr lang="zh-CN" altLang="en-US" dirty="0">
              <a:sym typeface="+mn-ea"/>
            </a:endParaRPr>
          </a:p>
          <a:p>
            <a:r>
              <a:rPr lang="en-US" altLang="zh-CN" dirty="0">
                <a:sym typeface="+mn-ea"/>
              </a:rPr>
              <a:t>4.MDA</a:t>
            </a:r>
            <a:r>
              <a:rPr lang="zh-CN" altLang="en-US" dirty="0">
                <a:sym typeface="+mn-ea"/>
              </a:rPr>
              <a:t>：负责将邮件从</a:t>
            </a:r>
            <a:r>
              <a:rPr lang="en-US" altLang="zh-CN" dirty="0">
                <a:sym typeface="+mn-ea"/>
              </a:rPr>
              <a:t>MHS</a:t>
            </a:r>
            <a:r>
              <a:rPr lang="zh-CN" altLang="en-US" dirty="0">
                <a:sym typeface="+mn-ea"/>
              </a:rPr>
              <a:t>发送给</a:t>
            </a:r>
            <a:r>
              <a:rPr lang="en-US" altLang="zh-CN" dirty="0">
                <a:sym typeface="+mn-ea"/>
              </a:rPr>
              <a:t>MS</a:t>
            </a:r>
            <a:r>
              <a:rPr lang="zh-CN" altLang="en-US" dirty="0">
                <a:sym typeface="+mn-ea"/>
              </a:rPr>
              <a:t>。</a:t>
            </a:r>
            <a:endParaRPr lang="zh-CN" altLang="en-US" dirty="0">
              <a:sym typeface="+mn-ea"/>
            </a:endParaRPr>
          </a:p>
          <a:p>
            <a:r>
              <a:rPr lang="en-US" altLang="zh-CN" dirty="0">
                <a:sym typeface="+mn-ea"/>
              </a:rPr>
              <a:t>5.MUA</a:t>
            </a:r>
            <a:r>
              <a:rPr lang="zh-CN" altLang="en-US" dirty="0">
                <a:sym typeface="+mn-ea"/>
              </a:rPr>
              <a:t>可以采用长期</a:t>
            </a:r>
            <a:r>
              <a:rPr lang="en-US" altLang="zh-CN" dirty="0">
                <a:sym typeface="+mn-ea"/>
              </a:rPr>
              <a:t>MS</a:t>
            </a:r>
            <a:r>
              <a:rPr lang="zh-CN" altLang="en-US" dirty="0">
                <a:sym typeface="+mn-ea"/>
              </a:rPr>
              <a:t>，</a:t>
            </a:r>
            <a:r>
              <a:rPr lang="en-US" altLang="zh-CN" dirty="0">
                <a:sym typeface="+mn-ea"/>
              </a:rPr>
              <a:t>MS</a:t>
            </a:r>
            <a:r>
              <a:rPr lang="zh-CN" altLang="en-US" dirty="0">
                <a:sym typeface="+mn-ea"/>
              </a:rPr>
              <a:t>可以部署在远程服务器上也可以部署在同一机器上。</a:t>
            </a:r>
            <a:r>
              <a:rPr lang="en-US" altLang="zh-CN" dirty="0">
                <a:sym typeface="+mn-ea"/>
              </a:rPr>
              <a:t>MUA</a:t>
            </a:r>
            <a:r>
              <a:rPr lang="zh-CN" altLang="en-US" dirty="0">
                <a:sym typeface="+mn-ea"/>
              </a:rPr>
              <a:t>通常使用邮局协议</a:t>
            </a:r>
            <a:r>
              <a:rPr lang="en-US" altLang="zh-CN" dirty="0">
                <a:sym typeface="+mn-ea"/>
              </a:rPr>
              <a:t>POP</a:t>
            </a:r>
            <a:r>
              <a:rPr lang="zh-CN" altLang="en-US" dirty="0">
                <a:sym typeface="+mn-ea"/>
              </a:rPr>
              <a:t>或者交互式邮件存取协议从远程服务器检索消息。</a:t>
            </a:r>
            <a:endParaRPr lang="en-US" altLang="zh-CN" dirty="0"/>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消息用户代理</a:t>
            </a:r>
            <a:r>
              <a:rPr lang="en-US" altLang="zh-CN" dirty="0">
                <a:sym typeface="+mn-ea"/>
              </a:rPr>
              <a:t>MUA(Mail User Agent)</a:t>
            </a:r>
            <a:r>
              <a:rPr lang="zh-CN" altLang="en-US" dirty="0">
                <a:sym typeface="+mn-ea"/>
              </a:rPr>
              <a:t>：客户端电子邮件程序或者是本地网络电子邮件服务器。会将我们要发送的消息格式化，然后通过</a:t>
            </a:r>
            <a:r>
              <a:rPr lang="en-US" altLang="zh-CN" dirty="0">
                <a:sym typeface="+mn-ea"/>
              </a:rPr>
              <a:t>MSA</a:t>
            </a:r>
            <a:r>
              <a:rPr lang="zh-CN" altLang="en-US" dirty="0">
                <a:sym typeface="+mn-ea"/>
              </a:rPr>
              <a:t>提交给</a:t>
            </a:r>
            <a:r>
              <a:rPr lang="en-US" altLang="zh-CN" dirty="0">
                <a:sym typeface="+mn-ea"/>
              </a:rPr>
              <a:t>MHS</a:t>
            </a:r>
            <a:r>
              <a:rPr lang="zh-CN" altLang="en-US" dirty="0">
                <a:sym typeface="+mn-ea"/>
              </a:rPr>
              <a:t>（消息处理系统）。接收方</a:t>
            </a:r>
            <a:r>
              <a:rPr lang="en-US" altLang="zh-CN" dirty="0">
                <a:sym typeface="+mn-ea"/>
              </a:rPr>
              <a:t>MUA</a:t>
            </a:r>
            <a:r>
              <a:rPr lang="zh-CN" altLang="en-US" dirty="0">
                <a:sym typeface="+mn-ea"/>
              </a:rPr>
              <a:t>接收到邮件后，存储并显示给用户。</a:t>
            </a:r>
            <a:endParaRPr lang="zh-CN" altLang="en-US" dirty="0">
              <a:sym typeface="+mn-ea"/>
            </a:endParaRPr>
          </a:p>
          <a:p>
            <a:r>
              <a:rPr lang="en-US" altLang="zh-CN" dirty="0">
                <a:sym typeface="+mn-ea"/>
              </a:rPr>
              <a:t>2. MSA</a:t>
            </a:r>
            <a:r>
              <a:rPr lang="zh-CN" altLang="en-US" dirty="0">
                <a:sym typeface="+mn-ea"/>
              </a:rPr>
              <a:t>是接收</a:t>
            </a:r>
            <a:r>
              <a:rPr lang="en-US" altLang="zh-CN" dirty="0">
                <a:sym typeface="+mn-ea"/>
              </a:rPr>
              <a:t>MUA</a:t>
            </a:r>
            <a:r>
              <a:rPr lang="zh-CN" altLang="en-US" dirty="0">
                <a:sym typeface="+mn-ea"/>
              </a:rPr>
              <a:t>的消息，然后提供对应的安全策略。可以单独部署或者和</a:t>
            </a:r>
            <a:r>
              <a:rPr lang="en-US" altLang="zh-CN" dirty="0">
                <a:sym typeface="+mn-ea"/>
              </a:rPr>
              <a:t>MUA</a:t>
            </a:r>
            <a:r>
              <a:rPr lang="zh-CN" altLang="en-US" dirty="0">
                <a:sym typeface="+mn-ea"/>
              </a:rPr>
              <a:t>合并。如果作为单独模块的话，</a:t>
            </a:r>
            <a:r>
              <a:rPr lang="en-US" altLang="zh-CN" dirty="0">
                <a:sym typeface="+mn-ea"/>
              </a:rPr>
              <a:t>SMTP</a:t>
            </a:r>
            <a:r>
              <a:rPr lang="zh-CN" altLang="en-US" dirty="0">
                <a:sym typeface="+mn-ea"/>
              </a:rPr>
              <a:t>就运行在</a:t>
            </a:r>
            <a:r>
              <a:rPr lang="en-US" altLang="zh-CN" dirty="0">
                <a:sym typeface="+mn-ea"/>
              </a:rPr>
              <a:t>MUA</a:t>
            </a:r>
            <a:r>
              <a:rPr lang="zh-CN" altLang="en-US" dirty="0">
                <a:sym typeface="+mn-ea"/>
              </a:rPr>
              <a:t>和</a:t>
            </a:r>
            <a:r>
              <a:rPr lang="en-US" altLang="zh-CN" dirty="0">
                <a:sym typeface="+mn-ea"/>
              </a:rPr>
              <a:t>MSA</a:t>
            </a:r>
            <a:r>
              <a:rPr lang="zh-CN" altLang="en-US" dirty="0">
                <a:sym typeface="+mn-ea"/>
              </a:rPr>
              <a:t>之间。</a:t>
            </a:r>
            <a:endParaRPr lang="zh-CN" altLang="en-US" dirty="0">
              <a:sym typeface="+mn-ea"/>
            </a:endParaRPr>
          </a:p>
          <a:p>
            <a:r>
              <a:rPr lang="en-US" altLang="zh-CN" dirty="0">
                <a:sym typeface="+mn-ea"/>
              </a:rPr>
              <a:t>3. MTA</a:t>
            </a:r>
            <a:r>
              <a:rPr lang="zh-CN" altLang="en-US" dirty="0">
                <a:sym typeface="+mn-ea"/>
              </a:rPr>
              <a:t>：在应用层中继邮件，类似于路由器。</a:t>
            </a:r>
            <a:endParaRPr lang="zh-CN" altLang="en-US" dirty="0">
              <a:sym typeface="+mn-ea"/>
            </a:endParaRPr>
          </a:p>
          <a:p>
            <a:r>
              <a:rPr lang="en-US" altLang="zh-CN" dirty="0">
                <a:sym typeface="+mn-ea"/>
              </a:rPr>
              <a:t>4.MDA</a:t>
            </a:r>
            <a:r>
              <a:rPr lang="zh-CN" altLang="en-US" dirty="0">
                <a:sym typeface="+mn-ea"/>
              </a:rPr>
              <a:t>：负责将邮件从</a:t>
            </a:r>
            <a:r>
              <a:rPr lang="en-US" altLang="zh-CN" dirty="0">
                <a:sym typeface="+mn-ea"/>
              </a:rPr>
              <a:t>MHS</a:t>
            </a:r>
            <a:r>
              <a:rPr lang="zh-CN" altLang="en-US" dirty="0">
                <a:sym typeface="+mn-ea"/>
              </a:rPr>
              <a:t>发送给</a:t>
            </a:r>
            <a:r>
              <a:rPr lang="en-US" altLang="zh-CN" dirty="0">
                <a:sym typeface="+mn-ea"/>
              </a:rPr>
              <a:t>MS</a:t>
            </a:r>
            <a:r>
              <a:rPr lang="zh-CN" altLang="en-US" dirty="0">
                <a:sym typeface="+mn-ea"/>
              </a:rPr>
              <a:t>。</a:t>
            </a:r>
            <a:endParaRPr lang="zh-CN" altLang="en-US" dirty="0">
              <a:sym typeface="+mn-ea"/>
            </a:endParaRPr>
          </a:p>
          <a:p>
            <a:r>
              <a:rPr lang="en-US" altLang="zh-CN" dirty="0">
                <a:sym typeface="+mn-ea"/>
              </a:rPr>
              <a:t>5.MUA</a:t>
            </a:r>
            <a:r>
              <a:rPr lang="zh-CN" altLang="en-US" dirty="0">
                <a:sym typeface="+mn-ea"/>
              </a:rPr>
              <a:t>可以采用长期</a:t>
            </a:r>
            <a:r>
              <a:rPr lang="en-US" altLang="zh-CN" dirty="0">
                <a:sym typeface="+mn-ea"/>
              </a:rPr>
              <a:t>MS</a:t>
            </a:r>
            <a:r>
              <a:rPr lang="zh-CN" altLang="en-US" dirty="0">
                <a:sym typeface="+mn-ea"/>
              </a:rPr>
              <a:t>，</a:t>
            </a:r>
            <a:r>
              <a:rPr lang="en-US" altLang="zh-CN" dirty="0">
                <a:sym typeface="+mn-ea"/>
              </a:rPr>
              <a:t>MS</a:t>
            </a:r>
            <a:r>
              <a:rPr lang="zh-CN" altLang="en-US" dirty="0">
                <a:sym typeface="+mn-ea"/>
              </a:rPr>
              <a:t>可以部署在远程服务器上也可以部署在同一机器上。</a:t>
            </a:r>
            <a:r>
              <a:rPr lang="en-US" altLang="zh-CN" dirty="0">
                <a:sym typeface="+mn-ea"/>
              </a:rPr>
              <a:t>MUA</a:t>
            </a:r>
            <a:r>
              <a:rPr lang="zh-CN" altLang="en-US" dirty="0">
                <a:sym typeface="+mn-ea"/>
              </a:rPr>
              <a:t>通常使用邮局协议</a:t>
            </a:r>
            <a:r>
              <a:rPr lang="en-US" altLang="zh-CN" dirty="0">
                <a:sym typeface="+mn-ea"/>
              </a:rPr>
              <a:t>POP</a:t>
            </a:r>
            <a:r>
              <a:rPr lang="zh-CN" altLang="en-US" dirty="0">
                <a:sym typeface="+mn-ea"/>
              </a:rPr>
              <a:t>或者交互式邮件存取协议从远程服务器检索消息。</a:t>
            </a:r>
            <a:endParaRPr lang="en-US" altLang="zh-CN" dirty="0"/>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消息用户代理</a:t>
            </a:r>
            <a:r>
              <a:rPr lang="en-US" altLang="zh-CN" dirty="0">
                <a:sym typeface="+mn-ea"/>
              </a:rPr>
              <a:t>MUA(Mail User Agent)</a:t>
            </a:r>
            <a:r>
              <a:rPr lang="zh-CN" altLang="en-US" dirty="0">
                <a:sym typeface="+mn-ea"/>
              </a:rPr>
              <a:t>：客户端电子邮件程序或者是本地网络电子邮件服务器。会将我们要发送的消息格式化，然后通过</a:t>
            </a:r>
            <a:r>
              <a:rPr lang="en-US" altLang="zh-CN" dirty="0">
                <a:sym typeface="+mn-ea"/>
              </a:rPr>
              <a:t>MSA</a:t>
            </a:r>
            <a:r>
              <a:rPr lang="zh-CN" altLang="en-US" dirty="0">
                <a:sym typeface="+mn-ea"/>
              </a:rPr>
              <a:t>提交给</a:t>
            </a:r>
            <a:r>
              <a:rPr lang="en-US" altLang="zh-CN" dirty="0">
                <a:sym typeface="+mn-ea"/>
              </a:rPr>
              <a:t>MHS</a:t>
            </a:r>
            <a:r>
              <a:rPr lang="zh-CN" altLang="en-US" dirty="0">
                <a:sym typeface="+mn-ea"/>
              </a:rPr>
              <a:t>（消息处理系统）。接收方</a:t>
            </a:r>
            <a:r>
              <a:rPr lang="en-US" altLang="zh-CN" dirty="0">
                <a:sym typeface="+mn-ea"/>
              </a:rPr>
              <a:t>MUA</a:t>
            </a:r>
            <a:r>
              <a:rPr lang="zh-CN" altLang="en-US" dirty="0">
                <a:sym typeface="+mn-ea"/>
              </a:rPr>
              <a:t>接收到邮件后，存储并显示给用户。</a:t>
            </a:r>
            <a:endParaRPr lang="zh-CN" altLang="en-US" dirty="0">
              <a:sym typeface="+mn-ea"/>
            </a:endParaRPr>
          </a:p>
          <a:p>
            <a:r>
              <a:rPr lang="en-US" altLang="zh-CN" dirty="0">
                <a:sym typeface="+mn-ea"/>
              </a:rPr>
              <a:t>2. MSA</a:t>
            </a:r>
            <a:r>
              <a:rPr lang="zh-CN" altLang="en-US" dirty="0">
                <a:sym typeface="+mn-ea"/>
              </a:rPr>
              <a:t>是接收</a:t>
            </a:r>
            <a:r>
              <a:rPr lang="en-US" altLang="zh-CN" dirty="0">
                <a:sym typeface="+mn-ea"/>
              </a:rPr>
              <a:t>MUA</a:t>
            </a:r>
            <a:r>
              <a:rPr lang="zh-CN" altLang="en-US" dirty="0">
                <a:sym typeface="+mn-ea"/>
              </a:rPr>
              <a:t>的消息，然后提供对应的安全策略。可以单独部署或者和</a:t>
            </a:r>
            <a:r>
              <a:rPr lang="en-US" altLang="zh-CN" dirty="0">
                <a:sym typeface="+mn-ea"/>
              </a:rPr>
              <a:t>MUA</a:t>
            </a:r>
            <a:r>
              <a:rPr lang="zh-CN" altLang="en-US" dirty="0">
                <a:sym typeface="+mn-ea"/>
              </a:rPr>
              <a:t>合并。如果作为单独模块的话，</a:t>
            </a:r>
            <a:r>
              <a:rPr lang="en-US" altLang="zh-CN" dirty="0">
                <a:sym typeface="+mn-ea"/>
              </a:rPr>
              <a:t>SMTP</a:t>
            </a:r>
            <a:r>
              <a:rPr lang="zh-CN" altLang="en-US" dirty="0">
                <a:sym typeface="+mn-ea"/>
              </a:rPr>
              <a:t>就运行在</a:t>
            </a:r>
            <a:r>
              <a:rPr lang="en-US" altLang="zh-CN" dirty="0">
                <a:sym typeface="+mn-ea"/>
              </a:rPr>
              <a:t>MUA</a:t>
            </a:r>
            <a:r>
              <a:rPr lang="zh-CN" altLang="en-US" dirty="0">
                <a:sym typeface="+mn-ea"/>
              </a:rPr>
              <a:t>和</a:t>
            </a:r>
            <a:r>
              <a:rPr lang="en-US" altLang="zh-CN" dirty="0">
                <a:sym typeface="+mn-ea"/>
              </a:rPr>
              <a:t>MSA</a:t>
            </a:r>
            <a:r>
              <a:rPr lang="zh-CN" altLang="en-US" dirty="0">
                <a:sym typeface="+mn-ea"/>
              </a:rPr>
              <a:t>之间。</a:t>
            </a:r>
            <a:endParaRPr lang="zh-CN" altLang="en-US" dirty="0">
              <a:sym typeface="+mn-ea"/>
            </a:endParaRPr>
          </a:p>
          <a:p>
            <a:r>
              <a:rPr lang="en-US" altLang="zh-CN" dirty="0">
                <a:sym typeface="+mn-ea"/>
              </a:rPr>
              <a:t>3. MTA</a:t>
            </a:r>
            <a:r>
              <a:rPr lang="zh-CN" altLang="en-US" dirty="0">
                <a:sym typeface="+mn-ea"/>
              </a:rPr>
              <a:t>：在应用层中继邮件，类似于路由器。</a:t>
            </a:r>
            <a:endParaRPr lang="zh-CN" altLang="en-US" dirty="0">
              <a:sym typeface="+mn-ea"/>
            </a:endParaRPr>
          </a:p>
          <a:p>
            <a:r>
              <a:rPr lang="en-US" altLang="zh-CN" dirty="0">
                <a:sym typeface="+mn-ea"/>
              </a:rPr>
              <a:t>4.MDA</a:t>
            </a:r>
            <a:r>
              <a:rPr lang="zh-CN" altLang="en-US" dirty="0">
                <a:sym typeface="+mn-ea"/>
              </a:rPr>
              <a:t>：负责将邮件从</a:t>
            </a:r>
            <a:r>
              <a:rPr lang="en-US" altLang="zh-CN" dirty="0">
                <a:sym typeface="+mn-ea"/>
              </a:rPr>
              <a:t>MHS</a:t>
            </a:r>
            <a:r>
              <a:rPr lang="zh-CN" altLang="en-US" dirty="0">
                <a:sym typeface="+mn-ea"/>
              </a:rPr>
              <a:t>发送给</a:t>
            </a:r>
            <a:r>
              <a:rPr lang="en-US" altLang="zh-CN" dirty="0">
                <a:sym typeface="+mn-ea"/>
              </a:rPr>
              <a:t>MS</a:t>
            </a:r>
            <a:r>
              <a:rPr lang="zh-CN" altLang="en-US" dirty="0">
                <a:sym typeface="+mn-ea"/>
              </a:rPr>
              <a:t>。</a:t>
            </a:r>
            <a:endParaRPr lang="zh-CN" altLang="en-US" dirty="0">
              <a:sym typeface="+mn-ea"/>
            </a:endParaRPr>
          </a:p>
          <a:p>
            <a:r>
              <a:rPr lang="en-US" altLang="zh-CN" dirty="0">
                <a:sym typeface="+mn-ea"/>
              </a:rPr>
              <a:t>5.MUA</a:t>
            </a:r>
            <a:r>
              <a:rPr lang="zh-CN" altLang="en-US" dirty="0">
                <a:sym typeface="+mn-ea"/>
              </a:rPr>
              <a:t>可以采用长期</a:t>
            </a:r>
            <a:r>
              <a:rPr lang="en-US" altLang="zh-CN" dirty="0">
                <a:sym typeface="+mn-ea"/>
              </a:rPr>
              <a:t>MS</a:t>
            </a:r>
            <a:r>
              <a:rPr lang="zh-CN" altLang="en-US" dirty="0">
                <a:sym typeface="+mn-ea"/>
              </a:rPr>
              <a:t>，</a:t>
            </a:r>
            <a:r>
              <a:rPr lang="en-US" altLang="zh-CN" dirty="0">
                <a:sym typeface="+mn-ea"/>
              </a:rPr>
              <a:t>MS</a:t>
            </a:r>
            <a:r>
              <a:rPr lang="zh-CN" altLang="en-US" dirty="0">
                <a:sym typeface="+mn-ea"/>
              </a:rPr>
              <a:t>可以部署在远程服务器上也可以部署在同一机器上。</a:t>
            </a:r>
            <a:r>
              <a:rPr lang="en-US" altLang="zh-CN" dirty="0">
                <a:sym typeface="+mn-ea"/>
              </a:rPr>
              <a:t>MUA</a:t>
            </a:r>
            <a:r>
              <a:rPr lang="zh-CN" altLang="en-US" dirty="0">
                <a:sym typeface="+mn-ea"/>
              </a:rPr>
              <a:t>通常使用邮局协议</a:t>
            </a:r>
            <a:r>
              <a:rPr lang="en-US" altLang="zh-CN" dirty="0">
                <a:sym typeface="+mn-ea"/>
              </a:rPr>
              <a:t>POP</a:t>
            </a:r>
            <a:r>
              <a:rPr lang="zh-CN" altLang="en-US" dirty="0">
                <a:sym typeface="+mn-ea"/>
              </a:rPr>
              <a:t>或者交互式邮件存取协议</a:t>
            </a:r>
            <a:r>
              <a:rPr lang="en-US" altLang="zh-CN" dirty="0">
                <a:sym typeface="+mn-ea"/>
              </a:rPr>
              <a:t>IMAP</a:t>
            </a:r>
            <a:r>
              <a:rPr lang="zh-CN" altLang="en-US" dirty="0">
                <a:sym typeface="+mn-ea"/>
              </a:rPr>
              <a:t>从远程服务器检索消息。</a:t>
            </a:r>
            <a:endParaRPr lang="en-US" altLang="zh-CN" dirty="0"/>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dirty="0">
                <a:sym typeface="+mn-ea"/>
              </a:rPr>
              <a:t>1. </a:t>
            </a:r>
            <a:r>
              <a:rPr lang="zh-CN" altLang="en-US" dirty="0">
                <a:sym typeface="+mn-ea"/>
              </a:rPr>
              <a:t>客户端利用客户端软件使用SMTP协议将要发送邮件发送到本地的邮件服务器，</a:t>
            </a:r>
            <a:endParaRPr lang="zh-CN" altLang="en-US" dirty="0"/>
          </a:p>
          <a:p>
            <a:r>
              <a:rPr lang="en-US" altLang="zh-CN" dirty="0">
                <a:sym typeface="+mn-ea"/>
              </a:rPr>
              <a:t>2. </a:t>
            </a:r>
            <a:r>
              <a:rPr lang="zh-CN" altLang="en-US" dirty="0">
                <a:sym typeface="+mn-ea"/>
              </a:rPr>
              <a:t>然后本地服务器再查看接收来邮件的目标地址，如果目标地址在远端则本地邮供服务器就将该邮件发往下一个邮件服务器或直接发往目标邮件服务器里。</a:t>
            </a:r>
            <a:endParaRPr lang="zh-CN" altLang="en-US" dirty="0">
              <a:sym typeface="+mn-ea"/>
            </a:endParaRPr>
          </a:p>
          <a:p>
            <a:r>
              <a:rPr lang="en-US" altLang="zh-CN" dirty="0">
                <a:sym typeface="+mn-ea"/>
              </a:rPr>
              <a:t>3. </a:t>
            </a:r>
            <a:r>
              <a:rPr lang="zh-CN" altLang="en-US" dirty="0">
                <a:sym typeface="+mn-ea"/>
              </a:rPr>
              <a:t>如果客户端想要查看其邮件内容，则必须使用POP3或者</a:t>
            </a:r>
            <a:r>
              <a:rPr lang="en-US" altLang="zh-CN" dirty="0">
                <a:sym typeface="+mn-ea"/>
              </a:rPr>
              <a:t>IMAP</a:t>
            </a:r>
            <a:r>
              <a:rPr lang="zh-CN" altLang="en-US" dirty="0">
                <a:sym typeface="+mn-ea"/>
              </a:rPr>
              <a:t>协议来接收才可以看到。</a:t>
            </a:r>
            <a:endParaRPr lang="zh-CN" altLang="en-US" dirty="0"/>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IPSec</a:t>
            </a:r>
            <a:r>
              <a:rPr lang="zh-CN" altLang="en-US"/>
              <a:t>是一组协议，</a:t>
            </a:r>
            <a:r>
              <a:rPr lang="en-US" altLang="zh-CN"/>
              <a:t>DOI</a:t>
            </a:r>
            <a:r>
              <a:rPr lang="zh-CN" altLang="en-US"/>
              <a:t>是对各种文档进行解释的解释域。此外还要使用加密算法和签名算法。此外就是</a:t>
            </a:r>
            <a:r>
              <a:rPr lang="en-US" altLang="zh-CN"/>
              <a:t>ESP</a:t>
            </a:r>
            <a:r>
              <a:rPr lang="zh-CN" altLang="en-US"/>
              <a:t>和</a:t>
            </a:r>
            <a:r>
              <a:rPr lang="en-US" altLang="zh-CN"/>
              <a:t>AH</a:t>
            </a:r>
            <a:r>
              <a:rPr lang="zh-CN" altLang="en-US"/>
              <a:t>协议是保证安全性的，</a:t>
            </a:r>
            <a:r>
              <a:rPr lang="en-US" altLang="zh-CN"/>
              <a:t>IKE</a:t>
            </a:r>
            <a:r>
              <a:rPr lang="zh-CN" altLang="en-US"/>
              <a:t>是密码算法的参数</a:t>
            </a:r>
            <a:r>
              <a:rPr lang="zh-CN" altLang="en-US"/>
              <a:t>协商</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如何将</a:t>
            </a:r>
            <a:r>
              <a:rPr lang="en-US" altLang="zh-CN"/>
              <a:t>AH</a:t>
            </a:r>
            <a:r>
              <a:rPr lang="zh-CN" altLang="en-US"/>
              <a:t>包头或者</a:t>
            </a:r>
            <a:r>
              <a:rPr lang="en-US" altLang="zh-CN"/>
              <a:t>ESP</a:t>
            </a:r>
            <a:r>
              <a:rPr lang="zh-CN" altLang="en-US"/>
              <a:t>包头插入原有的</a:t>
            </a:r>
            <a:r>
              <a:rPr lang="en-US" altLang="zh-CN"/>
              <a:t>IP</a:t>
            </a:r>
            <a:r>
              <a:rPr lang="zh-CN" altLang="en-US"/>
              <a:t>包。</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如何将</a:t>
            </a:r>
            <a:r>
              <a:rPr lang="en-US" altLang="zh-CN"/>
              <a:t>AH</a:t>
            </a:r>
            <a:r>
              <a:rPr lang="zh-CN" altLang="en-US"/>
              <a:t>包头或者</a:t>
            </a:r>
            <a:r>
              <a:rPr lang="en-US" altLang="zh-CN"/>
              <a:t>ESP</a:t>
            </a:r>
            <a:r>
              <a:rPr lang="zh-CN" altLang="en-US"/>
              <a:t>包头插入原有的</a:t>
            </a:r>
            <a:r>
              <a:rPr lang="en-US" altLang="zh-CN"/>
              <a:t>IP</a:t>
            </a:r>
            <a:r>
              <a:rPr lang="zh-CN" altLang="en-US"/>
              <a:t>包。</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如何将</a:t>
            </a:r>
            <a:r>
              <a:rPr lang="en-US" altLang="zh-CN"/>
              <a:t>AH</a:t>
            </a:r>
            <a:r>
              <a:rPr lang="zh-CN" altLang="en-US"/>
              <a:t>包头或者</a:t>
            </a:r>
            <a:r>
              <a:rPr lang="en-US" altLang="zh-CN"/>
              <a:t>ESP</a:t>
            </a:r>
            <a:r>
              <a:rPr lang="zh-CN" altLang="en-US"/>
              <a:t>包头插入原有的</a:t>
            </a:r>
            <a:r>
              <a:rPr lang="en-US" altLang="zh-CN"/>
              <a:t>IP</a:t>
            </a:r>
            <a:r>
              <a:rPr lang="zh-CN" altLang="en-US"/>
              <a:t>包。</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a:p>
            <a:r>
              <a:rPr lang="zh-CN" altLang="en-US"/>
              <a:t>如何将</a:t>
            </a:r>
            <a:r>
              <a:rPr lang="en-US" altLang="zh-CN"/>
              <a:t>AH</a:t>
            </a:r>
            <a:r>
              <a:rPr lang="zh-CN" altLang="en-US"/>
              <a:t>包头或者</a:t>
            </a:r>
            <a:r>
              <a:rPr lang="en-US" altLang="zh-CN"/>
              <a:t>ESP</a:t>
            </a:r>
            <a:r>
              <a:rPr lang="zh-CN" altLang="en-US"/>
              <a:t>包头插入原有的</a:t>
            </a:r>
            <a:r>
              <a:rPr lang="en-US" altLang="zh-CN"/>
              <a:t>IP</a:t>
            </a:r>
            <a:r>
              <a:rPr lang="zh-CN" altLang="en-US"/>
              <a:t>包。</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zh-CN" dirty="0"/>
              <a:t>AH</a:t>
            </a:r>
            <a:r>
              <a:rPr lang="zh-CN" altLang="en-US" dirty="0"/>
              <a:t>协议主要提供认证</a:t>
            </a:r>
            <a:r>
              <a:rPr lang="zh-CN" altLang="en-US" dirty="0"/>
              <a:t>功能。</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zh-CN" dirty="0"/>
              <a:t>AH</a:t>
            </a:r>
            <a:r>
              <a:rPr lang="zh-CN" altLang="en-US" dirty="0"/>
              <a:t>协议主要提供认证</a:t>
            </a:r>
            <a:r>
              <a:rPr lang="zh-CN" altLang="en-US" dirty="0"/>
              <a:t>功能。</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zh-CN" dirty="0"/>
              <a:t>AH</a:t>
            </a:r>
            <a:r>
              <a:rPr lang="zh-CN" altLang="en-US" dirty="0"/>
              <a:t>协议主要提供认证</a:t>
            </a:r>
            <a:r>
              <a:rPr lang="zh-CN" altLang="en-US" dirty="0"/>
              <a:t>功能。</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接收方会对接收到的数据包进行</a:t>
            </a:r>
            <a:r>
              <a:rPr lang="zh-CN" altLang="en-US" dirty="0"/>
              <a:t>确认。</a:t>
            </a:r>
            <a:endParaRPr lang="zh-CN" altLang="en-US" dirty="0"/>
          </a:p>
          <a:p>
            <a:r>
              <a:rPr lang="zh-CN" altLang="en-US" dirty="0"/>
              <a:t>如果窗口内</a:t>
            </a:r>
            <a:r>
              <a:rPr lang="en-US" altLang="zh-CN" dirty="0"/>
              <a:t>5 </a:t>
            </a:r>
            <a:r>
              <a:rPr lang="zh-CN" altLang="en-US" dirty="0"/>
              <a:t>没收到</a:t>
            </a:r>
            <a:r>
              <a:rPr lang="en-US" altLang="zh-CN" dirty="0"/>
              <a:t> </a:t>
            </a:r>
            <a:r>
              <a:rPr lang="zh-CN" altLang="en-US" dirty="0"/>
              <a:t>那么</a:t>
            </a:r>
            <a:r>
              <a:rPr lang="en-US" altLang="zh-CN" dirty="0"/>
              <a:t>4-7</a:t>
            </a:r>
            <a:r>
              <a:rPr lang="zh-CN" altLang="en-US" dirty="0"/>
              <a:t>都不会被确认，并且超时</a:t>
            </a:r>
            <a:r>
              <a:rPr lang="zh-CN" altLang="en-US" dirty="0"/>
              <a:t>重传。</a:t>
            </a:r>
            <a:endParaRPr lang="zh-CN" altLang="en-US" dirty="0"/>
          </a:p>
          <a:p>
            <a:r>
              <a:rPr lang="zh-CN" altLang="en-US" dirty="0"/>
              <a:t>接收到后串口滑动，然后发送</a:t>
            </a:r>
            <a:r>
              <a:rPr lang="en-US" altLang="zh-CN" dirty="0"/>
              <a:t>8.</a:t>
            </a:r>
            <a:endParaRPr lang="en-US" altLang="zh-CN"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接收方会对接收到的数据包进行</a:t>
            </a:r>
            <a:r>
              <a:rPr lang="zh-CN" altLang="en-US" dirty="0"/>
              <a:t>确认。</a:t>
            </a:r>
            <a:endParaRPr lang="zh-CN" altLang="en-US" dirty="0"/>
          </a:p>
          <a:p>
            <a:r>
              <a:rPr lang="zh-CN" altLang="en-US" dirty="0"/>
              <a:t>如果窗口内</a:t>
            </a:r>
            <a:r>
              <a:rPr lang="en-US" altLang="zh-CN" dirty="0"/>
              <a:t>5 </a:t>
            </a:r>
            <a:r>
              <a:rPr lang="zh-CN" altLang="en-US" dirty="0"/>
              <a:t>没收到</a:t>
            </a:r>
            <a:r>
              <a:rPr lang="en-US" altLang="zh-CN" dirty="0"/>
              <a:t> </a:t>
            </a:r>
            <a:r>
              <a:rPr lang="zh-CN" altLang="en-US" dirty="0"/>
              <a:t>那么</a:t>
            </a:r>
            <a:r>
              <a:rPr lang="en-US" altLang="zh-CN" dirty="0"/>
              <a:t>4-7</a:t>
            </a:r>
            <a:r>
              <a:rPr lang="zh-CN" altLang="en-US" dirty="0"/>
              <a:t>都不会被确认，并且超时</a:t>
            </a:r>
            <a:r>
              <a:rPr lang="zh-CN" altLang="en-US" dirty="0"/>
              <a:t>重传。</a:t>
            </a:r>
            <a:endParaRPr lang="zh-CN" altLang="en-US" dirty="0"/>
          </a:p>
          <a:p>
            <a:r>
              <a:rPr lang="zh-CN" altLang="en-US" dirty="0"/>
              <a:t>接收到后串口滑动，然后发送</a:t>
            </a:r>
            <a:r>
              <a:rPr lang="en-US" altLang="zh-CN" dirty="0"/>
              <a:t>8.</a:t>
            </a:r>
            <a:endParaRPr lang="en-US" altLang="zh-CN"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接收方会对接收到的数据包进行</a:t>
            </a:r>
            <a:r>
              <a:rPr lang="zh-CN" altLang="en-US" dirty="0"/>
              <a:t>确认。</a:t>
            </a:r>
            <a:endParaRPr lang="zh-CN" altLang="en-US" dirty="0"/>
          </a:p>
          <a:p>
            <a:r>
              <a:rPr lang="zh-CN" altLang="en-US" dirty="0"/>
              <a:t>如果窗口内</a:t>
            </a:r>
            <a:r>
              <a:rPr lang="en-US" altLang="zh-CN" dirty="0"/>
              <a:t>5 </a:t>
            </a:r>
            <a:r>
              <a:rPr lang="zh-CN" altLang="en-US" dirty="0"/>
              <a:t>没收到</a:t>
            </a:r>
            <a:r>
              <a:rPr lang="en-US" altLang="zh-CN" dirty="0"/>
              <a:t> </a:t>
            </a:r>
            <a:r>
              <a:rPr lang="zh-CN" altLang="en-US" dirty="0"/>
              <a:t>那么</a:t>
            </a:r>
            <a:r>
              <a:rPr lang="en-US" altLang="zh-CN" dirty="0"/>
              <a:t>4-7</a:t>
            </a:r>
            <a:r>
              <a:rPr lang="zh-CN" altLang="en-US" dirty="0"/>
              <a:t>都不会被确认，并且超时</a:t>
            </a:r>
            <a:r>
              <a:rPr lang="zh-CN" altLang="en-US" dirty="0"/>
              <a:t>重传。</a:t>
            </a:r>
            <a:endParaRPr lang="zh-CN" altLang="en-US" dirty="0"/>
          </a:p>
          <a:p>
            <a:r>
              <a:rPr lang="zh-CN" altLang="en-US" dirty="0"/>
              <a:t>接收到后串口滑动，然后发送</a:t>
            </a:r>
            <a:r>
              <a:rPr lang="en-US" altLang="zh-CN" dirty="0"/>
              <a:t>8.</a:t>
            </a:r>
            <a:endParaRPr lang="en-US" altLang="zh-CN"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接收方会对接收到的数据包进行</a:t>
            </a:r>
            <a:r>
              <a:rPr lang="zh-CN" altLang="en-US" dirty="0"/>
              <a:t>确认。</a:t>
            </a:r>
            <a:endParaRPr lang="zh-CN" altLang="en-US" dirty="0"/>
          </a:p>
          <a:p>
            <a:r>
              <a:rPr lang="zh-CN" altLang="en-US" dirty="0"/>
              <a:t>如果窗口内</a:t>
            </a:r>
            <a:r>
              <a:rPr lang="en-US" altLang="zh-CN" dirty="0"/>
              <a:t>5 </a:t>
            </a:r>
            <a:r>
              <a:rPr lang="zh-CN" altLang="en-US" dirty="0"/>
              <a:t>没收到</a:t>
            </a:r>
            <a:r>
              <a:rPr lang="en-US" altLang="zh-CN" dirty="0"/>
              <a:t> </a:t>
            </a:r>
            <a:r>
              <a:rPr lang="zh-CN" altLang="en-US" dirty="0"/>
              <a:t>那么</a:t>
            </a:r>
            <a:r>
              <a:rPr lang="en-US" altLang="zh-CN" dirty="0"/>
              <a:t>4-7</a:t>
            </a:r>
            <a:r>
              <a:rPr lang="zh-CN" altLang="en-US" dirty="0"/>
              <a:t>都不会被确认，并且超时</a:t>
            </a:r>
            <a:r>
              <a:rPr lang="zh-CN" altLang="en-US" dirty="0"/>
              <a:t>重传。</a:t>
            </a:r>
            <a:endParaRPr lang="zh-CN" altLang="en-US" dirty="0"/>
          </a:p>
          <a:p>
            <a:r>
              <a:rPr lang="zh-CN" altLang="en-US" dirty="0"/>
              <a:t>接收到后串口滑动，然后发送</a:t>
            </a:r>
            <a:r>
              <a:rPr lang="en-US" altLang="zh-CN" dirty="0"/>
              <a:t>8.</a:t>
            </a:r>
            <a:endParaRPr lang="en-US" altLang="zh-CN"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下一首部，表示载荷数据包中的下一个协议</a:t>
            </a:r>
            <a:r>
              <a:rPr lang="zh-CN" altLang="en-US" dirty="0"/>
              <a:t>类型。</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下一首部，表示载荷数据包中的下一个协议</a:t>
            </a:r>
            <a:r>
              <a:rPr lang="zh-CN" altLang="en-US" dirty="0"/>
              <a:t>类型。</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下一首部，表示载荷数据包中的下一个协议</a:t>
            </a:r>
            <a:r>
              <a:rPr lang="zh-CN" altLang="en-US" dirty="0"/>
              <a:t>类型。</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下一首部，表示载荷数据包中的下一个协议</a:t>
            </a:r>
            <a:r>
              <a:rPr lang="zh-CN" altLang="en-US" dirty="0"/>
              <a:t>类型。</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zh-CN" dirty="0"/>
              <a:t>AH</a:t>
            </a:r>
            <a:r>
              <a:rPr lang="zh-CN" altLang="en-US" dirty="0"/>
              <a:t>协议和</a:t>
            </a:r>
            <a:r>
              <a:rPr lang="en-US" altLang="zh-CN" dirty="0"/>
              <a:t>ESP</a:t>
            </a:r>
            <a:r>
              <a:rPr lang="zh-CN" altLang="en-US" dirty="0"/>
              <a:t>协议在提供安全服务时，所使用的参数是通过安全关联提供</a:t>
            </a:r>
            <a:r>
              <a:rPr lang="zh-CN" altLang="en-US" dirty="0"/>
              <a:t>的。</a:t>
            </a:r>
            <a:endParaRPr lang="zh-CN" altLang="en-US" dirty="0"/>
          </a:p>
          <a:p>
            <a:r>
              <a:rPr lang="zh-CN" altLang="en-US" dirty="0"/>
              <a:t>一个安全关联只能和一个协议</a:t>
            </a:r>
            <a:r>
              <a:rPr lang="zh-CN" altLang="en-US" dirty="0"/>
              <a:t>相对应。</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zh-CN" dirty="0"/>
              <a:t>IKE</a:t>
            </a:r>
            <a:r>
              <a:rPr lang="zh-CN" altLang="en-US" dirty="0"/>
              <a:t>中包含一组协议：</a:t>
            </a:r>
            <a:r>
              <a:rPr lang="en-US" altLang="zh-CN" dirty="0"/>
              <a:t>ISAKMP</a:t>
            </a:r>
            <a:r>
              <a:rPr lang="zh-CN" altLang="en-US" dirty="0"/>
              <a:t>和</a:t>
            </a:r>
            <a:r>
              <a:rPr lang="en-US" altLang="zh-CN" dirty="0"/>
              <a:t>Oakley(ooukeli)</a:t>
            </a:r>
            <a:r>
              <a:rPr lang="zh-CN" altLang="en-US" dirty="0"/>
              <a:t>在</a:t>
            </a:r>
            <a:r>
              <a:rPr lang="en-US" altLang="zh-CN" dirty="0"/>
              <a:t>IKEv2</a:t>
            </a:r>
            <a:r>
              <a:rPr lang="zh-CN" altLang="en-US" dirty="0"/>
              <a:t>就不再</a:t>
            </a:r>
            <a:r>
              <a:rPr lang="zh-CN" altLang="en-US" dirty="0"/>
              <a:t>使用了。</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可以理解为通信双方之间单向的安全</a:t>
            </a:r>
            <a:r>
              <a:rPr lang="zh-CN" altLang="en-US" dirty="0"/>
              <a:t>服务。</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安全参数索引就是用来表示使用的安全参数，例如使用的密码学算法、有哪些安全参数、密钥</a:t>
            </a:r>
            <a:r>
              <a:rPr lang="zh-CN" altLang="en-US" dirty="0"/>
              <a:t>等</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安全参数索引就是用来表示使用的安全参数，例如使用的密码学算法、有哪些安全参数、密钥</a:t>
            </a:r>
            <a:r>
              <a:rPr lang="zh-CN" altLang="en-US" dirty="0"/>
              <a:t>等</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安全参数索引就是用来表示使用的安全参数，例如使用的密码学算法、有哪些安全参数、密钥</a:t>
            </a:r>
            <a:r>
              <a:rPr lang="zh-CN" altLang="en-US" dirty="0"/>
              <a:t>等</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安全参数索引就是用来表示使用的安全参数，例如使用的密码学算法、有哪些安全参数、密钥</a:t>
            </a:r>
            <a:r>
              <a:rPr lang="zh-CN" altLang="en-US" dirty="0"/>
              <a:t>等</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安全参数索引就是用来表示使用的安全参数，例如使用的密码学算法、有哪些安全参数、密钥</a:t>
            </a:r>
            <a:r>
              <a:rPr lang="zh-CN" altLang="en-US" dirty="0"/>
              <a:t>等</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安全参数索引就是用来表示使用的安全参数，例如使用的密码学算法、有哪些安全参数、密钥</a:t>
            </a:r>
            <a:r>
              <a:rPr lang="zh-CN" altLang="en-US" dirty="0"/>
              <a:t>等</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zh-CN" dirty="0"/>
              <a:t>IPSec</a:t>
            </a:r>
            <a:r>
              <a:rPr lang="zh-CN" altLang="en-US" dirty="0"/>
              <a:t>搜索和这个包匹配的</a:t>
            </a:r>
            <a:r>
              <a:rPr lang="en-US" altLang="zh-CN" dirty="0"/>
              <a:t>SPD</a:t>
            </a:r>
            <a:r>
              <a:rPr lang="zh-CN" altLang="en-US" dirty="0"/>
              <a:t>（安全策略数据库），如果没找到就丢弃，如果找到了就根据</a:t>
            </a:r>
            <a:r>
              <a:rPr lang="en-US" altLang="zh-CN" dirty="0"/>
              <a:t>SP</a:t>
            </a:r>
            <a:r>
              <a:rPr lang="zh-CN" altLang="en-US" dirty="0"/>
              <a:t>决定如何</a:t>
            </a:r>
            <a:r>
              <a:rPr lang="zh-CN" altLang="en-US" dirty="0"/>
              <a:t>处理。</a:t>
            </a:r>
            <a:endParaRPr lang="zh-CN" altLang="en-US" dirty="0"/>
          </a:p>
          <a:p>
            <a:r>
              <a:rPr lang="zh-CN" altLang="en-US" dirty="0"/>
              <a:t>如果安全策略是保护，则通过搜索匹配的</a:t>
            </a:r>
            <a:r>
              <a:rPr lang="en-US" altLang="zh-CN" dirty="0"/>
              <a:t>SAD</a:t>
            </a:r>
            <a:r>
              <a:rPr lang="zh-CN" altLang="en-US" dirty="0"/>
              <a:t>。如果没有找到</a:t>
            </a:r>
            <a:r>
              <a:rPr lang="en-US" altLang="zh-CN" dirty="0"/>
              <a:t>SAD</a:t>
            </a:r>
            <a:r>
              <a:rPr lang="zh-CN" altLang="en-US" dirty="0"/>
              <a:t>就唤醒</a:t>
            </a:r>
            <a:r>
              <a:rPr lang="en-US" altLang="zh-CN" dirty="0"/>
              <a:t>IKE</a:t>
            </a:r>
            <a:r>
              <a:rPr lang="zh-CN" altLang="en-US" dirty="0"/>
              <a:t>。</a:t>
            </a:r>
            <a:endParaRPr lang="zh-CN" altLang="en-US" dirty="0"/>
          </a:p>
          <a:p>
            <a:r>
              <a:rPr lang="zh-CN" altLang="en-US" dirty="0"/>
              <a:t>如果找到就按照</a:t>
            </a:r>
            <a:r>
              <a:rPr lang="en-US" altLang="zh-CN" dirty="0"/>
              <a:t>SAD</a:t>
            </a:r>
            <a:r>
              <a:rPr lang="zh-CN" altLang="en-US" dirty="0"/>
              <a:t>处理。</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altLang="zh-CN" dirty="0"/>
              <a:t>IKE</a:t>
            </a:r>
            <a:r>
              <a:rPr lang="zh-CN" altLang="en-US" dirty="0"/>
              <a:t>中包含一组协议：</a:t>
            </a:r>
            <a:r>
              <a:rPr lang="en-US" altLang="zh-CN" dirty="0"/>
              <a:t>ISAKMP</a:t>
            </a:r>
            <a:r>
              <a:rPr lang="zh-CN" altLang="en-US" dirty="0"/>
              <a:t>和</a:t>
            </a:r>
            <a:r>
              <a:rPr lang="en-US" altLang="zh-CN" dirty="0"/>
              <a:t>Oakley(ooukeli)</a:t>
            </a:r>
            <a:r>
              <a:rPr lang="zh-CN" altLang="en-US" dirty="0"/>
              <a:t>在</a:t>
            </a:r>
            <a:r>
              <a:rPr lang="en-US" altLang="zh-CN" dirty="0"/>
              <a:t>IKEv2</a:t>
            </a:r>
            <a:r>
              <a:rPr lang="zh-CN" altLang="en-US" dirty="0"/>
              <a:t>就不再</a:t>
            </a:r>
            <a:r>
              <a:rPr lang="zh-CN" altLang="en-US" dirty="0"/>
              <a:t>使用了。</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zh-CN" altLang="en-US" dirty="0"/>
              <a:t>所以通过创建一些包含通信双方信息的</a:t>
            </a:r>
            <a:r>
              <a:rPr lang="en-US" altLang="zh-CN" dirty="0"/>
              <a:t>cookie</a:t>
            </a:r>
            <a:r>
              <a:rPr lang="zh-CN" altLang="en-US" dirty="0"/>
              <a:t>以及对应的</a:t>
            </a:r>
            <a:r>
              <a:rPr lang="en-US" altLang="zh-CN" dirty="0"/>
              <a:t>Hash</a:t>
            </a:r>
            <a:r>
              <a:rPr lang="zh-CN" altLang="en-US" dirty="0"/>
              <a:t>值来</a:t>
            </a:r>
            <a:r>
              <a:rPr lang="zh-CN" altLang="en-US" dirty="0"/>
              <a:t>完成。</a:t>
            </a:r>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zh-CN" altLang="en-US" dirty="0"/>
          </a:p>
        </p:txBody>
      </p:sp>
      <p:sp>
        <p:nvSpPr>
          <p:cNvPr id="4" name="Slide Number Placeholder 3"/>
          <p:cNvSpPr>
            <a:spLocks noGrp="1"/>
          </p:cNvSpPr>
          <p:nvPr>
            <p:ph type="sldNum" sz="quarter" idx="10"/>
          </p:nvPr>
        </p:nvSpPr>
        <p:spPr/>
        <p:txBody>
          <a:bodyPr/>
          <a:lstStyle/>
          <a:p>
            <a:pPr>
              <a:defRPr/>
            </a:pPr>
            <a:fld id="{CB7A55E6-BE3F-7A48-8783-9A487B642D69}" type="slidenum">
              <a:rPr lang="en-AU" smtClean="0"/>
            </a:fld>
            <a:endParaRPr lang="en-AU"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4" name="Picture 4" descr="B-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815413" y="548680"/>
            <a:ext cx="10478955" cy="648072"/>
          </a:xfrm>
        </p:spPr>
        <p:txBody>
          <a:bodyPr/>
          <a:lstStyle>
            <a:lvl1pPr algn="l">
              <a:defRPr sz="4000"/>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0" y="1600200"/>
            <a:ext cx="10972800" cy="4925144"/>
          </a:xfrm>
        </p:spPr>
        <p:txBody>
          <a:bodyPr/>
          <a:lstStyle>
            <a:lvl1pPr marL="342900" indent="-342900">
              <a:lnSpc>
                <a:spcPts val="3200"/>
              </a:lnSpc>
              <a:buClrTx/>
              <a:buSzPct val="85000"/>
              <a:buFont typeface="Wingdings" panose="05000000000000000000" pitchFamily="2" charset="2"/>
              <a:buChar char="p"/>
              <a:defRPr sz="2400"/>
            </a:lvl1pPr>
            <a:lvl2pPr marL="914400" indent="-457200">
              <a:lnSpc>
                <a:spcPts val="3200"/>
              </a:lnSpc>
              <a:buClrTx/>
              <a:buSzPct val="85000"/>
              <a:buFont typeface="Wingdings" panose="05000000000000000000" pitchFamily="2" charset="2"/>
              <a:buChar char="n"/>
              <a:defRPr sz="2000"/>
            </a:lvl2pPr>
            <a:lvl3pPr marL="1371600" indent="-457200">
              <a:lnSpc>
                <a:spcPts val="3200"/>
              </a:lnSpc>
              <a:buClrTx/>
              <a:buSzPct val="85000"/>
              <a:buFont typeface="Wingdings" panose="05000000000000000000" pitchFamily="2" charset="2"/>
              <a:buChar char="u"/>
              <a:defRPr sz="1800"/>
            </a:lvl3pPr>
            <a:lvl4pPr>
              <a:lnSpc>
                <a:spcPts val="3200"/>
              </a:lnSpc>
              <a:defRPr sz="1600"/>
            </a:lvl4pPr>
            <a:lvl5pPr>
              <a:lnSpc>
                <a:spcPts val="3200"/>
              </a:lnSpc>
              <a:defRPr sz="1600"/>
            </a:lvl5pPr>
          </a:lstStyle>
          <a:p>
            <a:pPr lvl="0"/>
            <a:r>
              <a:rPr lang="zh-CN" altLang="en-US" dirty="0"/>
              <a:t>单击此处编辑母版文本样式</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Rectangle 6"/>
          <p:cNvSpPr>
            <a:spLocks noGrp="1" noChangeArrowheads="1"/>
          </p:cNvSpPr>
          <p:nvPr>
            <p:ph type="sldNum" sz="quarter" idx="12"/>
          </p:nvPr>
        </p:nvSpPr>
        <p:spPr>
          <a:xfrm>
            <a:off x="10443382" y="6525344"/>
            <a:ext cx="1142325" cy="332656"/>
          </a:xfrm>
        </p:spPr>
        <p:txBody>
          <a:bodyPr/>
          <a:lstStyle>
            <a:lvl1pPr>
              <a:defRPr/>
            </a:lvl1pPr>
          </a:lstStyle>
          <a:p>
            <a:pPr>
              <a:defRPr/>
            </a:pPr>
            <a:fld id="{B42B4293-9377-4872-955B-7EAEC82CC678}" type="slidenum">
              <a:rPr lang="en-US" altLang="zh-CN" smtClean="0"/>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20</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IP</a:t>
            </a: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安全性</a:t>
            </a:r>
            <a:endParaRPr lang="en-US" altLang="en-US" sz="3600" dirty="0">
              <a:latin typeface="Calibri" panose="020F0502020204030204" charset="0"/>
              <a:ea typeface="微软雅黑" panose="020B0503020204020204" charset="-122"/>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20</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IP</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安全</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性</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3" name="文本框 2"/>
          <p:cNvSpPr txBox="1"/>
          <p:nvPr/>
        </p:nvSpPr>
        <p:spPr>
          <a:xfrm>
            <a:off x="2678430" y="1671320"/>
            <a:ext cx="6465570" cy="2084070"/>
          </a:xfrm>
          <a:prstGeom prst="rect">
            <a:avLst/>
          </a:prstGeom>
          <a:noFill/>
        </p:spPr>
        <p:txBody>
          <a:bodyPr wrap="square" rtlCol="0" anchor="t">
            <a:spAutoFit/>
          </a:bodyPr>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IP</a:t>
            </a:r>
            <a:r>
              <a:rPr lang="zh-CN" altLang="en-US" sz="3600" b="1" dirty="0">
                <a:latin typeface="Times New Roman" panose="02020603050405020304" pitchFamily="18" charset="0"/>
                <a:cs typeface="Times New Roman" panose="02020603050405020304" pitchFamily="18" charset="0"/>
                <a:sym typeface="+mn-ea"/>
              </a:rPr>
              <a:t>安全性概述</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rPr>
              <a:t>IPSec</a:t>
            </a:r>
            <a:r>
              <a:rPr lang="zh-CN" altLang="en-US" sz="3600" b="1" dirty="0">
                <a:latin typeface="Times New Roman" panose="02020603050405020304" pitchFamily="18" charset="0"/>
                <a:cs typeface="Times New Roman" panose="02020603050405020304" pitchFamily="18" charset="0"/>
              </a:rPr>
              <a:t>服务</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endParaRPr lang="en-US" altLang="zh-CN" sz="3600" b="1"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协议概述</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t>IPSec</a:t>
            </a:r>
            <a:r>
              <a:rPr lang="zh-CN" altLang="en-US" dirty="0"/>
              <a:t>（</a:t>
            </a:r>
            <a:r>
              <a:rPr lang="en-US" altLang="zh-CN" dirty="0"/>
              <a:t>IP Security</a:t>
            </a:r>
            <a:r>
              <a:rPr lang="zh-CN" altLang="en-US" dirty="0"/>
              <a:t>）是一种由</a:t>
            </a:r>
            <a:r>
              <a:rPr lang="en-US" altLang="zh-CN" dirty="0"/>
              <a:t>IETF</a:t>
            </a:r>
            <a:r>
              <a:rPr lang="zh-CN" altLang="en-US" dirty="0"/>
              <a:t>设计的端到端的确保</a:t>
            </a:r>
            <a:r>
              <a:rPr lang="en-US" altLang="zh-CN" dirty="0">
                <a:solidFill>
                  <a:srgbClr val="FF0000"/>
                </a:solidFill>
              </a:rPr>
              <a:t>IP</a:t>
            </a:r>
            <a:r>
              <a:rPr lang="zh-CN" altLang="en-US" dirty="0">
                <a:solidFill>
                  <a:srgbClr val="FF0000"/>
                </a:solidFill>
              </a:rPr>
              <a:t>层通信安全</a:t>
            </a:r>
            <a:r>
              <a:rPr lang="zh-CN" altLang="en-US" dirty="0"/>
              <a:t>的机制。</a:t>
            </a:r>
            <a:endParaRPr lang="zh-CN" altLang="en-US" dirty="0"/>
          </a:p>
          <a:p>
            <a:pPr>
              <a:lnSpc>
                <a:spcPct val="130000"/>
              </a:lnSpc>
              <a:buFont typeface="Wingdings" panose="05000000000000000000" pitchFamily="2" charset="2"/>
              <a:buChar char="Ø"/>
            </a:pPr>
            <a:r>
              <a:rPr lang="en-US" altLang="zh-CN" dirty="0"/>
              <a:t>IPSec</a:t>
            </a:r>
            <a:r>
              <a:rPr lang="zh-CN" altLang="en-US" dirty="0"/>
              <a:t>不是一个单独的协议，而是一组协议，</a:t>
            </a:r>
            <a:r>
              <a:rPr lang="en-US" altLang="zh-CN" dirty="0"/>
              <a:t>IPSec</a:t>
            </a:r>
            <a:r>
              <a:rPr lang="zh-CN" altLang="en-US" dirty="0"/>
              <a:t>协议的定义文件包括了</a:t>
            </a:r>
            <a:r>
              <a:rPr lang="en-US" altLang="zh-CN" dirty="0"/>
              <a:t>12</a:t>
            </a:r>
            <a:r>
              <a:rPr lang="zh-CN" altLang="en-US" dirty="0"/>
              <a:t>个</a:t>
            </a:r>
            <a:r>
              <a:rPr lang="en-US" altLang="zh-CN" dirty="0"/>
              <a:t>RFC</a:t>
            </a:r>
            <a:r>
              <a:rPr lang="zh-CN" altLang="en-US" dirty="0"/>
              <a:t>文件和几十个</a:t>
            </a:r>
            <a:r>
              <a:rPr lang="en-US" altLang="zh-CN" dirty="0"/>
              <a:t>Internet</a:t>
            </a:r>
            <a:r>
              <a:rPr lang="zh-CN" altLang="en-US" dirty="0"/>
              <a:t>草案，已经成为工业标准的网络安全协议。</a:t>
            </a:r>
            <a:endParaRPr lang="zh-CN" altLang="en-US" dirty="0"/>
          </a:p>
          <a:p>
            <a:pPr>
              <a:lnSpc>
                <a:spcPct val="130000"/>
              </a:lnSpc>
              <a:buFont typeface="Wingdings" panose="05000000000000000000" pitchFamily="2" charset="2"/>
              <a:buChar char="Ø"/>
            </a:pPr>
            <a:r>
              <a:rPr lang="en-US" altLang="zh-CN" dirty="0"/>
              <a:t>IPSec</a:t>
            </a:r>
            <a:r>
              <a:rPr lang="zh-CN" altLang="en-US" dirty="0"/>
              <a:t>在</a:t>
            </a:r>
            <a:r>
              <a:rPr lang="en-US" altLang="zh-CN" dirty="0"/>
              <a:t>IPv6</a:t>
            </a:r>
            <a:r>
              <a:rPr lang="zh-CN" altLang="en-US" dirty="0"/>
              <a:t>中是必须支持的，而在</a:t>
            </a:r>
            <a:r>
              <a:rPr lang="en-US" altLang="zh-CN" dirty="0"/>
              <a:t>IPv4</a:t>
            </a:r>
            <a:r>
              <a:rPr lang="zh-CN" altLang="en-US" dirty="0"/>
              <a:t>中是可选的。</a:t>
            </a:r>
            <a:endParaRPr lang="zh-CN" altLang="en-US" dirty="0"/>
          </a:p>
          <a:p>
            <a:pPr>
              <a:lnSpc>
                <a:spcPct val="130000"/>
              </a:lnSpc>
              <a:buFont typeface="Wingdings" panose="05000000000000000000" pitchFamily="2" charset="2"/>
              <a:buChar char="Ø"/>
            </a:pPr>
            <a:r>
              <a:rPr lang="en-US" altLang="zh-CN" dirty="0"/>
              <a:t>IP</a:t>
            </a:r>
            <a:r>
              <a:rPr lang="zh-CN" altLang="en-US" dirty="0"/>
              <a:t>通信可能会遭受如下攻击</a:t>
            </a:r>
            <a:r>
              <a:rPr lang="en-US" altLang="zh-CN" dirty="0"/>
              <a:t>:</a:t>
            </a:r>
            <a:r>
              <a:rPr lang="zh-CN" altLang="en-US" dirty="0"/>
              <a:t>窃听、篡改、</a:t>
            </a:r>
            <a:r>
              <a:rPr lang="en-US" altLang="zh-CN" dirty="0"/>
              <a:t>IP</a:t>
            </a:r>
            <a:r>
              <a:rPr lang="zh-CN" altLang="en-US" dirty="0"/>
              <a:t>欺骗、重放</a:t>
            </a:r>
            <a:r>
              <a:rPr lang="en-US" altLang="zh-CN" dirty="0"/>
              <a:t>…</a:t>
            </a:r>
            <a:endParaRPr lang="en-US" altLang="zh-CN"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20.1 </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t>IETF</a:t>
            </a:r>
            <a:r>
              <a:rPr lang="zh-CN" altLang="en-US" dirty="0"/>
              <a:t>中的</a:t>
            </a:r>
            <a:r>
              <a:rPr lang="en-US" altLang="zh-CN" dirty="0"/>
              <a:t>IP Security Protocol Working Group</a:t>
            </a:r>
            <a:r>
              <a:rPr lang="zh-CN" altLang="en-US" dirty="0"/>
              <a:t>工作组负责标准化，目标包括</a:t>
            </a:r>
            <a:r>
              <a:rPr lang="en-US" altLang="zh-CN" dirty="0"/>
              <a:t>:</a:t>
            </a:r>
            <a:endParaRPr lang="en-US" altLang="zh-CN" dirty="0"/>
          </a:p>
          <a:p>
            <a:pPr marL="457200" lvl="1" indent="0">
              <a:lnSpc>
                <a:spcPct val="130000"/>
              </a:lnSpc>
              <a:buNone/>
            </a:pPr>
            <a:r>
              <a:rPr lang="en-US" altLang="zh-CN" dirty="0"/>
              <a:t>-</a:t>
            </a:r>
            <a:r>
              <a:rPr lang="zh-CN" altLang="en-US" dirty="0"/>
              <a:t>该体制不仅适用于</a:t>
            </a:r>
            <a:r>
              <a:rPr lang="en-US" altLang="zh-CN" dirty="0"/>
              <a:t>IPv4,</a:t>
            </a:r>
            <a:r>
              <a:rPr lang="zh-CN" altLang="en-US" dirty="0"/>
              <a:t>也适合于</a:t>
            </a:r>
            <a:r>
              <a:rPr lang="en-US" altLang="zh-CN" dirty="0"/>
              <a:t>IPv6</a:t>
            </a:r>
            <a:endParaRPr lang="en-US" altLang="zh-CN" dirty="0"/>
          </a:p>
          <a:p>
            <a:pPr marL="457200" lvl="1" indent="0">
              <a:lnSpc>
                <a:spcPct val="130000"/>
              </a:lnSpc>
              <a:buNone/>
            </a:pPr>
            <a:r>
              <a:rPr lang="en-US" altLang="zh-CN" dirty="0"/>
              <a:t>-</a:t>
            </a:r>
            <a:r>
              <a:rPr lang="zh-CN" altLang="en-US" dirty="0"/>
              <a:t>可为运行于</a:t>
            </a:r>
            <a:r>
              <a:rPr lang="en-US" altLang="zh-CN" dirty="0"/>
              <a:t>IP</a:t>
            </a:r>
            <a:r>
              <a:rPr lang="zh-CN" altLang="en-US" dirty="0"/>
              <a:t>顶部的任何一种协议提供保护</a:t>
            </a:r>
            <a:endParaRPr lang="zh-CN" altLang="en-US" dirty="0"/>
          </a:p>
          <a:p>
            <a:pPr marL="457200" lvl="1" indent="0">
              <a:lnSpc>
                <a:spcPct val="130000"/>
              </a:lnSpc>
              <a:buNone/>
            </a:pPr>
            <a:r>
              <a:rPr lang="en-US" altLang="zh-CN" dirty="0"/>
              <a:t>-</a:t>
            </a:r>
            <a:r>
              <a:rPr lang="zh-CN" altLang="en-US" dirty="0"/>
              <a:t>与加密算法无关</a:t>
            </a:r>
            <a:endParaRPr lang="zh-CN" altLang="en-US" dirty="0"/>
          </a:p>
          <a:p>
            <a:pPr marL="914400" lvl="2" indent="0">
              <a:lnSpc>
                <a:spcPct val="130000"/>
              </a:lnSpc>
              <a:buNone/>
            </a:pPr>
            <a:r>
              <a:rPr lang="zh-CN" altLang="en-US" dirty="0"/>
              <a:t>即使加密算法改变了或增加新的算法，也不对其他部分的实现产生影响</a:t>
            </a:r>
            <a:endParaRPr lang="zh-CN" altLang="en-US" dirty="0"/>
          </a:p>
          <a:p>
            <a:pPr marL="457200" lvl="1" indent="0">
              <a:lnSpc>
                <a:spcPct val="130000"/>
              </a:lnSpc>
              <a:buNone/>
            </a:pPr>
            <a:r>
              <a:rPr lang="en-US" altLang="zh-CN" dirty="0">
                <a:sym typeface="+mn-ea"/>
              </a:rPr>
              <a:t>-</a:t>
            </a:r>
            <a:r>
              <a:rPr lang="zh-CN" altLang="en-US" dirty="0"/>
              <a:t>必须能实现多种安全策略</a:t>
            </a:r>
            <a:endParaRPr lang="en-US" altLang="zh-CN" dirty="0"/>
          </a:p>
          <a:p>
            <a:pPr marL="914400" lvl="2" indent="0">
              <a:lnSpc>
                <a:spcPct val="130000"/>
              </a:lnSpc>
              <a:buNone/>
            </a:pPr>
            <a:r>
              <a:rPr lang="zh-CN" altLang="en-US" dirty="0"/>
              <a:t>也要避免给不使用该体制的系统成不利影响</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20.1 </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498600" y="1063625"/>
            <a:ext cx="8873490" cy="517271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20.1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协议优点</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1243330" y="1149350"/>
            <a:ext cx="9912985" cy="4699000"/>
          </a:xfrm>
          <a:prstGeom prst="rect">
            <a:avLst/>
          </a:prstGeom>
          <a:noFill/>
        </p:spPr>
        <p:txBody>
          <a:bodyPr wrap="square" rtlCol="0" anchor="t">
            <a:spAutoFit/>
          </a:bodyPr>
          <a:p>
            <a:pPr marL="457200" lvl="0" indent="-457200" algn="l">
              <a:lnSpc>
                <a:spcPct val="90000"/>
              </a:lnSpc>
              <a:spcBef>
                <a:spcPts val="1000"/>
              </a:spcBef>
              <a:buClrTx/>
              <a:buSzTx/>
              <a:buFont typeface="Wingdings" panose="05000000000000000000" charset="0"/>
              <a:buChar char="Ø"/>
            </a:pPr>
            <a:r>
              <a:rPr lang="en-US" altLang="zh-CN" sz="2400" dirty="0">
                <a:sym typeface="+mn-ea"/>
              </a:rPr>
              <a:t>如果在路由器或防火墙上执行了IPSec, 就可以为周边的通信提供强有力的安全保障。</a:t>
            </a:r>
            <a:endParaRPr lang="en-US" altLang="zh-CN" sz="2400" spc="0" dirty="0">
              <a:sym typeface="+mn-ea"/>
            </a:endParaRPr>
          </a:p>
          <a:p>
            <a:pPr marL="914400" lvl="1" indent="-457200" algn="l" defTabSz="914400">
              <a:lnSpc>
                <a:spcPct val="90000"/>
              </a:lnSpc>
              <a:spcBef>
                <a:spcPts val="1000"/>
              </a:spcBef>
              <a:buClrTx/>
              <a:buSzTx/>
              <a:buFont typeface="Arial" panose="020B0604020202020204" pitchFamily="34" charset="0"/>
              <a:buChar char="•"/>
            </a:pPr>
            <a:r>
              <a:rPr lang="en-US" altLang="zh-CN" sz="2000" dirty="0">
                <a:sym typeface="+mn-ea"/>
              </a:rPr>
              <a:t>该防火墙或者路由器所管辖的网络(如一个公司或工作组内部)的通信将不涉及与安全相关的费用。</a:t>
            </a:r>
            <a:endParaRPr lang="en-US" altLang="zh-CN" sz="2000" spc="0" dirty="0">
              <a:sym typeface="+mn-ea"/>
            </a:endParaRPr>
          </a:p>
          <a:p>
            <a:pPr marL="457200" lvl="0" indent="-457200" algn="l" defTabSz="266700" eaLnBrk="0" fontAlgn="ctr">
              <a:lnSpc>
                <a:spcPct val="90000"/>
              </a:lnSpc>
              <a:spcBef>
                <a:spcPts val="1200"/>
              </a:spcBef>
              <a:spcAft>
                <a:spcPts val="0"/>
              </a:spcAft>
              <a:buClrTx/>
              <a:buSzPct val="80000"/>
              <a:buFont typeface="Wingdings" panose="05000000000000000000" charset="0"/>
              <a:buChar char="Ø"/>
            </a:pPr>
            <a:r>
              <a:rPr lang="en-US" altLang="zh-CN" sz="2400" spc="160" dirty="0" err="1">
                <a:solidFill>
                  <a:schemeClr val="tx1">
                    <a:lumMod val="75000"/>
                    <a:lumOff val="25000"/>
                  </a:schemeClr>
                </a:solidFill>
                <a:uFillTx/>
                <a:latin typeface="微软雅黑" panose="020B0503020204020204" charset="-122"/>
                <a:ea typeface="微软雅黑" panose="020B0503020204020204" charset="-122"/>
                <a:sym typeface="+mn-ea"/>
              </a:rPr>
              <a:t>IPSec</a:t>
            </a:r>
            <a:r>
              <a:rPr lang="zh-CN" altLang="en-US" sz="2400" spc="160" dirty="0" err="1">
                <a:solidFill>
                  <a:schemeClr val="tx1">
                    <a:lumMod val="75000"/>
                    <a:lumOff val="25000"/>
                  </a:schemeClr>
                </a:solidFill>
                <a:uFillTx/>
                <a:latin typeface="微软雅黑" panose="020B0503020204020204" charset="-122"/>
                <a:ea typeface="微软雅黑" panose="020B0503020204020204" charset="-122"/>
                <a:sym typeface="+mn-ea"/>
              </a:rPr>
              <a:t>在传输层之下，对于应用程序来说是透明的。</a:t>
            </a:r>
            <a:endParaRPr lang="zh-CN" altLang="en-US" sz="2400" spc="160" dirty="0" err="1">
              <a:solidFill>
                <a:schemeClr val="tx1">
                  <a:lumMod val="75000"/>
                  <a:lumOff val="25000"/>
                </a:schemeClr>
              </a:solidFill>
              <a:uFillTx/>
              <a:latin typeface="微软雅黑" panose="020B0503020204020204" charset="-122"/>
              <a:ea typeface="微软雅黑" panose="020B0503020204020204" charset="-122"/>
              <a:sym typeface="+mn-ea"/>
            </a:endParaRPr>
          </a:p>
          <a:p>
            <a:pPr marL="914400" lvl="1" indent="-457200" algn="l" defTabSz="266700" eaLnBrk="0" fontAlgn="ctr">
              <a:lnSpc>
                <a:spcPct val="90000"/>
              </a:lnSpc>
              <a:spcBef>
                <a:spcPts val="1200"/>
              </a:spcBef>
              <a:spcAft>
                <a:spcPts val="0"/>
              </a:spcAft>
              <a:buClrTx/>
              <a:buSzPct val="80000"/>
              <a:buFont typeface="Arial" panose="020B0604020202020204" pitchFamily="34" charset="0"/>
              <a:buChar char="•"/>
            </a:pPr>
            <a:r>
              <a:rPr lang="zh-CN" altLang="en-US" sz="2000" spc="160" dirty="0" err="1">
                <a:solidFill>
                  <a:schemeClr val="tx1">
                    <a:lumMod val="75000"/>
                    <a:lumOff val="25000"/>
                  </a:schemeClr>
                </a:solidFill>
                <a:uFillTx/>
                <a:latin typeface="微软雅黑" panose="020B0503020204020204" charset="-122"/>
                <a:ea typeface="微软雅黑" panose="020B0503020204020204" charset="-122"/>
                <a:sym typeface="+mn-ea"/>
              </a:rPr>
              <a:t>当在路由器或防火墙上实现</a:t>
            </a:r>
            <a:r>
              <a:rPr lang="en-US" altLang="zh-CN" sz="2000" spc="160" dirty="0" err="1">
                <a:solidFill>
                  <a:schemeClr val="tx1">
                    <a:lumMod val="75000"/>
                    <a:lumOff val="25000"/>
                  </a:schemeClr>
                </a:solidFill>
                <a:uFillTx/>
                <a:latin typeface="微软雅黑" panose="020B0503020204020204" charset="-122"/>
                <a:ea typeface="微软雅黑" panose="020B0503020204020204" charset="-122"/>
                <a:sym typeface="+mn-ea"/>
              </a:rPr>
              <a:t>IPSec</a:t>
            </a:r>
            <a:r>
              <a:rPr lang="zh-CN" altLang="en-US" sz="2000" spc="160" dirty="0" err="1">
                <a:solidFill>
                  <a:schemeClr val="tx1">
                    <a:lumMod val="75000"/>
                    <a:lumOff val="25000"/>
                  </a:schemeClr>
                </a:solidFill>
                <a:uFillTx/>
                <a:latin typeface="微软雅黑" panose="020B0503020204020204" charset="-122"/>
                <a:ea typeface="微软雅黑" panose="020B0503020204020204" charset="-122"/>
                <a:sym typeface="+mn-ea"/>
              </a:rPr>
              <a:t>时，无需更改用户或服务器系统中的软件设置。</a:t>
            </a:r>
            <a:endParaRPr lang="zh-CN" altLang="en-US" sz="2000" spc="160" dirty="0" err="1">
              <a:solidFill>
                <a:schemeClr val="tx1">
                  <a:lumMod val="75000"/>
                  <a:lumOff val="25000"/>
                </a:schemeClr>
              </a:solidFill>
              <a:uFillTx/>
              <a:latin typeface="微软雅黑" panose="020B0503020204020204" charset="-122"/>
              <a:ea typeface="微软雅黑" panose="020B0503020204020204" charset="-122"/>
              <a:sym typeface="+mn-ea"/>
            </a:endParaRPr>
          </a:p>
          <a:p>
            <a:pPr marL="914400" lvl="1" indent="-457200" algn="l" defTabSz="266700" eaLnBrk="0" fontAlgn="ctr">
              <a:lnSpc>
                <a:spcPct val="90000"/>
              </a:lnSpc>
              <a:spcBef>
                <a:spcPts val="1200"/>
              </a:spcBef>
              <a:spcAft>
                <a:spcPts val="0"/>
              </a:spcAft>
              <a:buClrTx/>
              <a:buSzPct val="80000"/>
              <a:buFont typeface="Arial" panose="020B0604020202020204" pitchFamily="34" charset="0"/>
              <a:buChar char="•"/>
            </a:pPr>
            <a:r>
              <a:rPr lang="zh-CN" altLang="en-US" sz="2000" spc="160" dirty="0" err="1">
                <a:solidFill>
                  <a:schemeClr val="tx1">
                    <a:lumMod val="75000"/>
                    <a:lumOff val="25000"/>
                  </a:schemeClr>
                </a:solidFill>
                <a:uFillTx/>
                <a:latin typeface="微软雅黑" panose="020B0503020204020204" charset="-122"/>
                <a:ea typeface="微软雅黑" panose="020B0503020204020204" charset="-122"/>
                <a:sym typeface="+mn-ea"/>
              </a:rPr>
              <a:t>即使在终端系统中执行</a:t>
            </a:r>
            <a:r>
              <a:rPr lang="en-US" altLang="zh-CN" sz="2000" spc="160" dirty="0" err="1">
                <a:solidFill>
                  <a:schemeClr val="tx1">
                    <a:lumMod val="75000"/>
                    <a:lumOff val="25000"/>
                  </a:schemeClr>
                </a:solidFill>
                <a:uFillTx/>
                <a:latin typeface="微软雅黑" panose="020B0503020204020204" charset="-122"/>
                <a:ea typeface="微软雅黑" panose="020B0503020204020204" charset="-122"/>
                <a:sym typeface="+mn-ea"/>
              </a:rPr>
              <a:t>IPSec,  </a:t>
            </a:r>
            <a:r>
              <a:rPr lang="zh-CN" altLang="en-US" sz="2000" spc="160" dirty="0" err="1">
                <a:solidFill>
                  <a:schemeClr val="tx1">
                    <a:lumMod val="75000"/>
                    <a:lumOff val="25000"/>
                  </a:schemeClr>
                </a:solidFill>
                <a:uFillTx/>
                <a:latin typeface="微软雅黑" panose="020B0503020204020204" charset="-122"/>
                <a:ea typeface="微软雅黑" panose="020B0503020204020204" charset="-122"/>
                <a:sym typeface="+mn-ea"/>
              </a:rPr>
              <a:t>应用程序一类的上层软件也不会被影响。</a:t>
            </a:r>
            <a:endParaRPr lang="zh-CN" altLang="en-US" sz="2000" spc="160" dirty="0" err="1">
              <a:solidFill>
                <a:schemeClr val="tx1">
                  <a:lumMod val="75000"/>
                  <a:lumOff val="25000"/>
                </a:schemeClr>
              </a:solidFill>
              <a:uFillTx/>
              <a:latin typeface="微软雅黑" panose="020B0503020204020204" charset="-122"/>
              <a:ea typeface="微软雅黑" panose="020B0503020204020204" charset="-122"/>
              <a:sym typeface="+mn-ea"/>
            </a:endParaRPr>
          </a:p>
          <a:p>
            <a:pPr marL="457200" lvl="0" indent="-457200" algn="l" defTabSz="266700" eaLnBrk="0" fontAlgn="ctr">
              <a:lnSpc>
                <a:spcPct val="90000"/>
              </a:lnSpc>
              <a:spcBef>
                <a:spcPts val="1200"/>
              </a:spcBef>
              <a:spcAft>
                <a:spcPts val="0"/>
              </a:spcAft>
              <a:buClrTx/>
              <a:buSzPct val="80000"/>
              <a:buFont typeface="Wingdings" panose="05000000000000000000" charset="0"/>
              <a:buChar char="Ø"/>
            </a:pPr>
            <a:r>
              <a:rPr lang="en-US" altLang="zh-CN" sz="2400" spc="160" dirty="0" err="1">
                <a:solidFill>
                  <a:schemeClr val="tx1">
                    <a:lumMod val="75000"/>
                    <a:lumOff val="25000"/>
                  </a:schemeClr>
                </a:solidFill>
                <a:uFillTx/>
                <a:latin typeface="微软雅黑" panose="020B0503020204020204" charset="-122"/>
                <a:ea typeface="微软雅黑" panose="020B0503020204020204" charset="-122"/>
                <a:sym typeface="+mn-ea"/>
              </a:rPr>
              <a:t>IPSec</a:t>
            </a:r>
            <a:r>
              <a:rPr lang="zh-CN" altLang="en-US" sz="2400" spc="160" dirty="0" err="1">
                <a:solidFill>
                  <a:schemeClr val="tx1">
                    <a:lumMod val="75000"/>
                    <a:lumOff val="25000"/>
                  </a:schemeClr>
                </a:solidFill>
                <a:uFillTx/>
                <a:latin typeface="微软雅黑" panose="020B0503020204020204" charset="-122"/>
                <a:ea typeface="微软雅黑" panose="020B0503020204020204" charset="-122"/>
                <a:sym typeface="+mn-ea"/>
              </a:rPr>
              <a:t>对终端用户来说是透明的，因此不必对用户进行安全机制的培训。</a:t>
            </a:r>
            <a:endParaRPr lang="zh-CN" altLang="en-US" sz="2400" spc="160" dirty="0" err="1">
              <a:solidFill>
                <a:schemeClr val="tx1">
                  <a:lumMod val="75000"/>
                  <a:lumOff val="25000"/>
                </a:schemeClr>
              </a:solidFill>
              <a:uFillTx/>
              <a:latin typeface="微软雅黑" panose="020B0503020204020204" charset="-122"/>
              <a:ea typeface="微软雅黑" panose="020B0503020204020204" charset="-122"/>
              <a:sym typeface="+mn-ea"/>
            </a:endParaRPr>
          </a:p>
          <a:p>
            <a:pPr marL="457200" lvl="0" indent="-457200" algn="l" defTabSz="266700" eaLnBrk="0" fontAlgn="ctr">
              <a:lnSpc>
                <a:spcPct val="90000"/>
              </a:lnSpc>
              <a:spcBef>
                <a:spcPts val="1200"/>
              </a:spcBef>
              <a:spcAft>
                <a:spcPts val="0"/>
              </a:spcAft>
              <a:buClrTx/>
              <a:buSzPct val="80000"/>
              <a:buFont typeface="Wingdings" panose="05000000000000000000" charset="0"/>
              <a:buChar char="Ø"/>
            </a:pPr>
            <a:r>
              <a:rPr lang="zh-CN" altLang="en-US" sz="2400" spc="160" dirty="0" err="1">
                <a:solidFill>
                  <a:schemeClr val="tx1">
                    <a:lumMod val="75000"/>
                    <a:lumOff val="25000"/>
                  </a:schemeClr>
                </a:solidFill>
                <a:uFillTx/>
                <a:latin typeface="微软雅黑" panose="020B0503020204020204" charset="-122"/>
                <a:ea typeface="微软雅黑" panose="020B0503020204020204" charset="-122"/>
                <a:sym typeface="+mn-ea"/>
              </a:rPr>
              <a:t>需要的话，</a:t>
            </a:r>
            <a:r>
              <a:rPr lang="en-US" altLang="zh-CN" sz="2400" spc="160" dirty="0" err="1">
                <a:solidFill>
                  <a:schemeClr val="tx1">
                    <a:lumMod val="75000"/>
                    <a:lumOff val="25000"/>
                  </a:schemeClr>
                </a:solidFill>
                <a:uFillTx/>
                <a:latin typeface="微软雅黑" panose="020B0503020204020204" charset="-122"/>
                <a:ea typeface="微软雅黑" panose="020B0503020204020204" charset="-122"/>
                <a:sym typeface="+mn-ea"/>
              </a:rPr>
              <a:t>IPSec</a:t>
            </a:r>
            <a:r>
              <a:rPr lang="zh-CN" altLang="en-US" sz="2400" spc="160" dirty="0" err="1">
                <a:solidFill>
                  <a:schemeClr val="tx1">
                    <a:lumMod val="75000"/>
                    <a:lumOff val="25000"/>
                  </a:schemeClr>
                </a:solidFill>
                <a:uFillTx/>
                <a:latin typeface="微软雅黑" panose="020B0503020204020204" charset="-122"/>
                <a:ea typeface="微软雅黑" panose="020B0503020204020204" charset="-122"/>
                <a:sym typeface="+mn-ea"/>
              </a:rPr>
              <a:t>可以为个体用户提供安全保障，这样做就可以保护企业内部的敏感信息。</a:t>
            </a:r>
            <a:endParaRPr lang="zh-CN" altLang="en-US" sz="2400" spc="160" dirty="0" err="1">
              <a:solidFill>
                <a:schemeClr val="tx1">
                  <a:lumMod val="75000"/>
                  <a:lumOff val="25000"/>
                </a:schemeClr>
              </a:solidFill>
              <a:uFillTx/>
              <a:latin typeface="微软雅黑" panose="020B0503020204020204" charset="-122"/>
              <a:ea typeface="微软雅黑" panose="020B0503020204020204" charset="-122"/>
              <a:sym typeface="+mn-ea"/>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20.1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协议相关的</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RFC</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643380" y="1319530"/>
            <a:ext cx="8682355" cy="4357370"/>
          </a:xfrm>
          <a:prstGeom prst="rect">
            <a:avLst/>
          </a:prstGeom>
        </p:spPr>
      </p:pic>
      <p:sp>
        <p:nvSpPr>
          <p:cNvPr id="3" name="矩形 2"/>
          <p:cNvSpPr/>
          <p:nvPr/>
        </p:nvSpPr>
        <p:spPr>
          <a:xfrm>
            <a:off x="3675380" y="2204085"/>
            <a:ext cx="1998980" cy="372745"/>
          </a:xfrm>
          <a:prstGeom prst="rect">
            <a:avLst/>
          </a:prstGeom>
          <a:ln w="28575">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 name="矩形 4"/>
          <p:cNvSpPr/>
          <p:nvPr/>
        </p:nvSpPr>
        <p:spPr>
          <a:xfrm>
            <a:off x="3738245" y="2626360"/>
            <a:ext cx="2416175" cy="372745"/>
          </a:xfrm>
          <a:prstGeom prst="rect">
            <a:avLst/>
          </a:prstGeom>
          <a:ln w="28575">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algn="l" rtl="0" eaLnBrk="0">
              <a:lnSpc>
                <a:spcPct val="79000"/>
              </a:lnSpc>
            </a:pPr>
            <a:r>
              <a:rPr lang="en-US" altLang="zh-CN" sz="1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20.1  IPSec</a:t>
            </a:r>
            <a:r>
              <a:rPr lang="zh-CN" altLang="en-US" sz="1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协议相关的</a:t>
            </a:r>
            <a:r>
              <a:rPr lang="en-US" altLang="zh-CN" sz="1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RFC</a:t>
            </a:r>
            <a:endParaRPr sz="36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20.1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的功能</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dirty="0"/>
              <a:t>IPSec</a:t>
            </a:r>
            <a:r>
              <a:rPr lang="zh-CN" altLang="en-US" dirty="0"/>
              <a:t>允许系统选择所需的安全协议，决定所使用的算法和对应的密钥提供</a:t>
            </a:r>
            <a:r>
              <a:rPr lang="en-US" altLang="zh-CN" dirty="0"/>
              <a:t>IP</a:t>
            </a:r>
            <a:r>
              <a:rPr lang="zh-CN" altLang="en-US" dirty="0"/>
              <a:t>的安全服务。</a:t>
            </a:r>
            <a:r>
              <a:rPr lang="en-US" altLang="zh-CN" dirty="0"/>
              <a:t>IPSec</a:t>
            </a:r>
            <a:r>
              <a:rPr lang="zh-CN" altLang="en-US" dirty="0"/>
              <a:t>包含两个主要的协议：</a:t>
            </a:r>
            <a:r>
              <a:rPr lang="en-US" altLang="zh-CN" dirty="0">
                <a:solidFill>
                  <a:srgbClr val="FF0000"/>
                </a:solidFill>
              </a:rPr>
              <a:t>AH</a:t>
            </a:r>
            <a:r>
              <a:rPr lang="zh-CN" altLang="en-US" dirty="0">
                <a:solidFill>
                  <a:srgbClr val="FF0000"/>
                </a:solidFill>
              </a:rPr>
              <a:t>协议和</a:t>
            </a:r>
            <a:r>
              <a:rPr lang="en-US" altLang="zh-CN" dirty="0">
                <a:solidFill>
                  <a:srgbClr val="FF0000"/>
                </a:solidFill>
              </a:rPr>
              <a:t>ESP</a:t>
            </a:r>
            <a:r>
              <a:rPr lang="zh-CN" altLang="en-US" dirty="0">
                <a:solidFill>
                  <a:srgbClr val="FF0000"/>
                </a:solidFill>
              </a:rPr>
              <a:t>协议</a:t>
            </a:r>
            <a:r>
              <a:rPr lang="zh-CN" altLang="en-US" dirty="0"/>
              <a:t>。</a:t>
            </a:r>
            <a:endParaRPr lang="zh-CN" altLang="en-US" dirty="0"/>
          </a:p>
          <a:p>
            <a:pPr>
              <a:lnSpc>
                <a:spcPct val="130000"/>
              </a:lnSpc>
              <a:buFont typeface="Wingdings" panose="05000000000000000000" pitchFamily="2" charset="2"/>
              <a:buChar char="Ø"/>
            </a:pPr>
            <a:r>
              <a:rPr lang="en-US" altLang="zh-CN" dirty="0"/>
              <a:t>IPSec</a:t>
            </a:r>
            <a:r>
              <a:rPr lang="zh-CN" altLang="en-US" dirty="0"/>
              <a:t>支持以下</a:t>
            </a:r>
            <a:r>
              <a:rPr lang="zh-CN" altLang="en-US" dirty="0"/>
              <a:t>服务：</a:t>
            </a:r>
            <a:endParaRPr lang="zh-CN" altLang="en-US" dirty="0"/>
          </a:p>
          <a:p>
            <a:pPr lvl="1">
              <a:lnSpc>
                <a:spcPct val="100000"/>
              </a:lnSpc>
              <a:buFont typeface="Arial" panose="020B0604020202020204" pitchFamily="34" charset="0"/>
              <a:buChar char="•"/>
            </a:pPr>
            <a:r>
              <a:rPr lang="zh-CN" altLang="en-US" dirty="0"/>
              <a:t>访问</a:t>
            </a:r>
            <a:r>
              <a:rPr lang="zh-CN" altLang="en-US" dirty="0"/>
              <a:t>控制</a:t>
            </a:r>
            <a:endParaRPr lang="zh-CN" altLang="en-US" dirty="0"/>
          </a:p>
          <a:p>
            <a:pPr lvl="1">
              <a:lnSpc>
                <a:spcPct val="100000"/>
              </a:lnSpc>
              <a:buFont typeface="Arial" panose="020B0604020202020204" pitchFamily="34" charset="0"/>
              <a:buChar char="•"/>
            </a:pPr>
            <a:r>
              <a:rPr lang="zh-CN" altLang="en-US" dirty="0"/>
              <a:t>无连接</a:t>
            </a:r>
            <a:r>
              <a:rPr lang="zh-CN" altLang="en-US" dirty="0"/>
              <a:t>完整性</a:t>
            </a:r>
            <a:endParaRPr lang="zh-CN" altLang="en-US" dirty="0"/>
          </a:p>
          <a:p>
            <a:pPr lvl="1">
              <a:lnSpc>
                <a:spcPct val="100000"/>
              </a:lnSpc>
              <a:buFont typeface="Arial" panose="020B0604020202020204" pitchFamily="34" charset="0"/>
              <a:buChar char="•"/>
            </a:pPr>
            <a:r>
              <a:rPr lang="zh-CN" altLang="en-US" dirty="0"/>
              <a:t>数据源</a:t>
            </a:r>
            <a:r>
              <a:rPr lang="zh-CN" altLang="en-US" dirty="0"/>
              <a:t>认证</a:t>
            </a:r>
            <a:endParaRPr lang="zh-CN" altLang="en-US" dirty="0"/>
          </a:p>
          <a:p>
            <a:pPr lvl="1">
              <a:lnSpc>
                <a:spcPct val="100000"/>
              </a:lnSpc>
              <a:buFont typeface="Arial" panose="020B0604020202020204" pitchFamily="34" charset="0"/>
              <a:buChar char="•"/>
            </a:pPr>
            <a:r>
              <a:rPr lang="zh-CN" altLang="en-US" dirty="0"/>
              <a:t>拒绝重放</a:t>
            </a:r>
            <a:r>
              <a:rPr lang="zh-CN" altLang="en-US" dirty="0"/>
              <a:t>包</a:t>
            </a:r>
            <a:endParaRPr lang="zh-CN" altLang="en-US" dirty="0"/>
          </a:p>
          <a:p>
            <a:pPr lvl="1">
              <a:lnSpc>
                <a:spcPct val="100000"/>
              </a:lnSpc>
              <a:buFont typeface="Arial" panose="020B0604020202020204" pitchFamily="34" charset="0"/>
              <a:buChar char="•"/>
            </a:pPr>
            <a:r>
              <a:rPr lang="zh-CN" altLang="en-US" dirty="0"/>
              <a:t>保密性</a:t>
            </a:r>
            <a:endParaRPr lang="zh-CN" altLang="en-US" dirty="0"/>
          </a:p>
          <a:p>
            <a:pPr lvl="1">
              <a:lnSpc>
                <a:spcPct val="100000"/>
              </a:lnSpc>
              <a:buFont typeface="Arial" panose="020B0604020202020204" pitchFamily="34" charset="0"/>
              <a:buChar char="•"/>
            </a:pPr>
            <a:r>
              <a:rPr lang="zh-CN" altLang="en-US" dirty="0"/>
              <a:t>限制流量</a:t>
            </a:r>
            <a:r>
              <a:rPr lang="zh-CN" altLang="en-US" dirty="0"/>
              <a:t>保密性</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20.1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的结构</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3" name="图片 2"/>
          <p:cNvPicPr>
            <a:picLocks noChangeAspect="1"/>
          </p:cNvPicPr>
          <p:nvPr/>
        </p:nvPicPr>
        <p:blipFill>
          <a:blip r:embed="rId2"/>
          <a:stretch>
            <a:fillRect/>
          </a:stretch>
        </p:blipFill>
        <p:spPr>
          <a:xfrm>
            <a:off x="1974850" y="1129030"/>
            <a:ext cx="8043545" cy="5036185"/>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20.2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的两种工作模式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文本框 2"/>
          <p:cNvSpPr txBox="1"/>
          <p:nvPr/>
        </p:nvSpPr>
        <p:spPr>
          <a:xfrm>
            <a:off x="1465580" y="1063625"/>
            <a:ext cx="8947785" cy="3838575"/>
          </a:xfrm>
          <a:prstGeom prst="rect">
            <a:avLst/>
          </a:prstGeom>
          <a:noFill/>
        </p:spPr>
        <p:txBody>
          <a:bodyPr wrap="square" rtlCol="0">
            <a:spAutoFit/>
          </a:bodyPr>
          <a:p>
            <a:pPr marL="342900" indent="-342900">
              <a:lnSpc>
                <a:spcPct val="160000"/>
              </a:lnSpc>
              <a:buFont typeface="Arial" panose="020B0604020202020204" pitchFamily="34" charset="0"/>
              <a:buChar char="•"/>
            </a:pPr>
            <a:r>
              <a:rPr lang="zh-CN" altLang="en-US" sz="2800">
                <a:solidFill>
                  <a:srgbClr val="FF0000"/>
                </a:solidFill>
              </a:rPr>
              <a:t>传输模式</a:t>
            </a:r>
            <a:r>
              <a:rPr lang="en-US" altLang="zh-CN" sz="2800">
                <a:solidFill>
                  <a:srgbClr val="FF0000"/>
                </a:solidFill>
              </a:rPr>
              <a:t>(Transport Mode)</a:t>
            </a:r>
            <a:r>
              <a:rPr lang="zh-CN" altLang="en-US" sz="2800">
                <a:solidFill>
                  <a:srgbClr val="FF0000"/>
                </a:solidFill>
              </a:rPr>
              <a:t>和隧道模式</a:t>
            </a:r>
            <a:r>
              <a:rPr lang="en-US" altLang="zh-CN" sz="2800">
                <a:solidFill>
                  <a:srgbClr val="FF0000"/>
                </a:solidFill>
              </a:rPr>
              <a:t>(TunnelMode)</a:t>
            </a:r>
            <a:endParaRPr lang="en-US" altLang="zh-CN" sz="2800">
              <a:solidFill>
                <a:srgbClr val="FF0000"/>
              </a:solidFill>
            </a:endParaRPr>
          </a:p>
          <a:p>
            <a:pPr marL="342900" indent="-342900">
              <a:lnSpc>
                <a:spcPct val="160000"/>
              </a:lnSpc>
              <a:buFont typeface="Arial" panose="020B0604020202020204" pitchFamily="34" charset="0"/>
              <a:buChar char="•"/>
            </a:pPr>
            <a:r>
              <a:rPr lang="en-US" altLang="zh-CN" sz="2800"/>
              <a:t>AH</a:t>
            </a:r>
            <a:r>
              <a:rPr lang="zh-CN" altLang="en-US" sz="2800"/>
              <a:t>和</a:t>
            </a:r>
            <a:r>
              <a:rPr lang="en-US" altLang="zh-CN" sz="2800"/>
              <a:t>ESP</a:t>
            </a:r>
            <a:r>
              <a:rPr lang="zh-CN" altLang="en-US" sz="2800"/>
              <a:t>都支持这两种模式，因此有四种组合</a:t>
            </a:r>
            <a:r>
              <a:rPr lang="en-US" altLang="zh-CN" sz="2800"/>
              <a:t>:</a:t>
            </a:r>
            <a:endParaRPr lang="en-US" altLang="zh-CN" sz="2800"/>
          </a:p>
          <a:p>
            <a:pPr marL="800100" lvl="1" indent="-342900">
              <a:lnSpc>
                <a:spcPct val="160000"/>
              </a:lnSpc>
              <a:buFont typeface="Arial" panose="020B0604020202020204" pitchFamily="34" charset="0"/>
              <a:buChar char="•"/>
            </a:pPr>
            <a:r>
              <a:rPr lang="zh-CN" altLang="en-US" sz="2800"/>
              <a:t>传输模式的</a:t>
            </a:r>
            <a:r>
              <a:rPr lang="en-US" altLang="zh-CN" sz="2800"/>
              <a:t>AH</a:t>
            </a:r>
            <a:endParaRPr lang="en-US" altLang="zh-CN" sz="2800"/>
          </a:p>
          <a:p>
            <a:pPr marL="800100" lvl="1" indent="-342900">
              <a:lnSpc>
                <a:spcPct val="130000"/>
              </a:lnSpc>
              <a:buFont typeface="Arial" panose="020B0604020202020204" pitchFamily="34" charset="0"/>
              <a:buChar char="•"/>
            </a:pPr>
            <a:r>
              <a:rPr lang="zh-CN" altLang="en-US" sz="2800"/>
              <a:t>隧道模式的</a:t>
            </a:r>
            <a:r>
              <a:rPr lang="en-US" altLang="zh-CN" sz="2800"/>
              <a:t>AH</a:t>
            </a:r>
            <a:endParaRPr lang="en-US" altLang="zh-CN" sz="2800"/>
          </a:p>
          <a:p>
            <a:pPr marL="800100" lvl="1" indent="-342900">
              <a:lnSpc>
                <a:spcPct val="130000"/>
              </a:lnSpc>
              <a:buFont typeface="Arial" panose="020B0604020202020204" pitchFamily="34" charset="0"/>
              <a:buChar char="•"/>
            </a:pPr>
            <a:r>
              <a:rPr lang="zh-CN" altLang="en-US" sz="2800"/>
              <a:t>传输模式的</a:t>
            </a:r>
            <a:r>
              <a:rPr lang="en-US" altLang="zh-CN" sz="2800"/>
              <a:t>ESP</a:t>
            </a:r>
            <a:endParaRPr lang="en-US" altLang="zh-CN" sz="2800"/>
          </a:p>
          <a:p>
            <a:pPr marL="800100" lvl="1" indent="-342900">
              <a:lnSpc>
                <a:spcPct val="130000"/>
              </a:lnSpc>
              <a:buFont typeface="Arial" panose="020B0604020202020204" pitchFamily="34" charset="0"/>
              <a:buChar char="•"/>
            </a:pPr>
            <a:r>
              <a:rPr lang="zh-CN" altLang="en-US" sz="2800"/>
              <a:t>隧道模式的</a:t>
            </a:r>
            <a:r>
              <a:rPr lang="en-US" altLang="zh-CN" sz="2800"/>
              <a:t>ESP</a:t>
            </a:r>
            <a:endParaRPr lang="zh-CN" altLang="en-US" sz="28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20.2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的两种工作模式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文本框 2"/>
          <p:cNvSpPr txBox="1"/>
          <p:nvPr/>
        </p:nvSpPr>
        <p:spPr>
          <a:xfrm>
            <a:off x="1465580" y="1063625"/>
            <a:ext cx="8947785" cy="4268470"/>
          </a:xfrm>
          <a:prstGeom prst="rect">
            <a:avLst/>
          </a:prstGeom>
          <a:noFill/>
        </p:spPr>
        <p:txBody>
          <a:bodyPr wrap="square" rtlCol="0">
            <a:spAutoFit/>
          </a:bodyPr>
          <a:p>
            <a:pPr indent="0">
              <a:lnSpc>
                <a:spcPct val="130000"/>
              </a:lnSpc>
              <a:buFont typeface="Arial" panose="020B0604020202020204" pitchFamily="34" charset="0"/>
              <a:buNone/>
            </a:pPr>
            <a:r>
              <a:rPr lang="zh-CN" altLang="en-US" sz="2800" b="1"/>
              <a:t>传输模式</a:t>
            </a:r>
            <a:endParaRPr lang="en-US" altLang="zh-CN" sz="2800" b="1"/>
          </a:p>
          <a:p>
            <a:pPr marL="342900" indent="-342900">
              <a:lnSpc>
                <a:spcPct val="130000"/>
              </a:lnSpc>
              <a:buFont typeface="Arial" panose="020B0604020202020204" pitchFamily="34" charset="0"/>
              <a:buChar char="•"/>
            </a:pPr>
            <a:r>
              <a:rPr lang="zh-CN" altLang="en-US" sz="2800"/>
              <a:t>传输模式要</a:t>
            </a:r>
            <a:r>
              <a:rPr lang="zh-CN" altLang="en-US" sz="2800">
                <a:solidFill>
                  <a:srgbClr val="FF0000"/>
                </a:solidFill>
              </a:rPr>
              <a:t>保护的是</a:t>
            </a:r>
            <a:r>
              <a:rPr lang="en-US" altLang="zh-CN" sz="2800">
                <a:solidFill>
                  <a:srgbClr val="FF0000"/>
                </a:solidFill>
              </a:rPr>
              <a:t>IP</a:t>
            </a:r>
            <a:r>
              <a:rPr lang="zh-CN" altLang="en-US" sz="2800">
                <a:solidFill>
                  <a:srgbClr val="FF0000"/>
                </a:solidFill>
              </a:rPr>
              <a:t>包的载荷</a:t>
            </a:r>
            <a:r>
              <a:rPr lang="zh-CN" altLang="en-US" sz="2800"/>
              <a:t>，通常情况下，只用于两台主机之间的安全通信。</a:t>
            </a:r>
            <a:endParaRPr lang="zh-CN" altLang="en-US" sz="2800"/>
          </a:p>
          <a:p>
            <a:pPr marL="342900" indent="-342900">
              <a:lnSpc>
                <a:spcPct val="130000"/>
              </a:lnSpc>
              <a:buFont typeface="Arial" panose="020B0604020202020204" pitchFamily="34" charset="0"/>
              <a:buChar char="•"/>
            </a:pPr>
            <a:r>
              <a:rPr lang="zh-CN" altLang="en-US" sz="2800"/>
              <a:t>正常网络层次处理</a:t>
            </a:r>
            <a:r>
              <a:rPr lang="en-US" altLang="zh-CN" sz="2800"/>
              <a:t>:</a:t>
            </a:r>
            <a:endParaRPr lang="en-US" altLang="zh-CN" sz="2800"/>
          </a:p>
          <a:p>
            <a:pPr marL="342900" indent="-342900">
              <a:lnSpc>
                <a:spcPct val="160000"/>
              </a:lnSpc>
              <a:buFont typeface="Arial" panose="020B0604020202020204" pitchFamily="34" charset="0"/>
              <a:buChar char="•"/>
            </a:pPr>
            <a:endParaRPr lang="en-US" altLang="zh-CN" sz="2800"/>
          </a:p>
          <a:p>
            <a:pPr marL="342900" indent="-342900">
              <a:lnSpc>
                <a:spcPct val="160000"/>
              </a:lnSpc>
              <a:buFont typeface="Arial" panose="020B0604020202020204" pitchFamily="34" charset="0"/>
              <a:buChar char="•"/>
            </a:pPr>
            <a:r>
              <a:rPr lang="zh-CN" altLang="en-US" sz="2800"/>
              <a:t>启用</a:t>
            </a:r>
            <a:r>
              <a:rPr lang="en-US" altLang="zh-CN" sz="2800"/>
              <a:t>IPSec</a:t>
            </a:r>
            <a:r>
              <a:rPr lang="zh-CN" altLang="en-US" sz="2800"/>
              <a:t>传输模式之后</a:t>
            </a:r>
            <a:r>
              <a:rPr lang="en-US" altLang="zh-CN" sz="2800"/>
              <a:t>:</a:t>
            </a:r>
            <a:r>
              <a:rPr lang="zh-CN" altLang="en-US" sz="2800"/>
              <a:t>传输模式的</a:t>
            </a:r>
            <a:r>
              <a:rPr lang="en-US" altLang="zh-CN" sz="2800"/>
              <a:t>AH</a:t>
            </a:r>
            <a:endParaRPr lang="en-US" altLang="zh-CN" sz="2800"/>
          </a:p>
          <a:p>
            <a:pPr marL="800100" lvl="1" indent="-342900">
              <a:lnSpc>
                <a:spcPct val="130000"/>
              </a:lnSpc>
              <a:buFont typeface="Arial" panose="020B0604020202020204" pitchFamily="34" charset="0"/>
              <a:buChar char="•"/>
            </a:pPr>
            <a:r>
              <a:rPr lang="en-US" altLang="zh-CN" sz="2800"/>
              <a:t> </a:t>
            </a:r>
            <a:endParaRPr lang="en-US" altLang="zh-CN" sz="2800"/>
          </a:p>
        </p:txBody>
      </p:sp>
      <p:pic>
        <p:nvPicPr>
          <p:cNvPr id="5" name="图片 4"/>
          <p:cNvPicPr>
            <a:picLocks noChangeAspect="1"/>
          </p:cNvPicPr>
          <p:nvPr/>
        </p:nvPicPr>
        <p:blipFill>
          <a:blip r:embed="rId2"/>
          <a:stretch>
            <a:fillRect/>
          </a:stretch>
        </p:blipFill>
        <p:spPr>
          <a:xfrm>
            <a:off x="4143375" y="3335020"/>
            <a:ext cx="3681730" cy="765175"/>
          </a:xfrm>
          <a:prstGeom prst="rect">
            <a:avLst/>
          </a:prstGeom>
        </p:spPr>
      </p:pic>
      <p:pic>
        <p:nvPicPr>
          <p:cNvPr id="6" name="图片 5"/>
          <p:cNvPicPr>
            <a:picLocks noChangeAspect="1"/>
          </p:cNvPicPr>
          <p:nvPr/>
        </p:nvPicPr>
        <p:blipFill>
          <a:blip r:embed="rId3"/>
          <a:stretch>
            <a:fillRect/>
          </a:stretch>
        </p:blipFill>
        <p:spPr>
          <a:xfrm>
            <a:off x="3032760" y="4891405"/>
            <a:ext cx="5903595" cy="133096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20.2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的两种工作模式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文本框 2"/>
          <p:cNvSpPr txBox="1"/>
          <p:nvPr/>
        </p:nvSpPr>
        <p:spPr>
          <a:xfrm>
            <a:off x="1465580" y="1063625"/>
            <a:ext cx="8947785" cy="2330450"/>
          </a:xfrm>
          <a:prstGeom prst="rect">
            <a:avLst/>
          </a:prstGeom>
          <a:noFill/>
        </p:spPr>
        <p:txBody>
          <a:bodyPr wrap="square" rtlCol="0">
            <a:spAutoFit/>
          </a:bodyPr>
          <a:p>
            <a:pPr indent="0">
              <a:lnSpc>
                <a:spcPct val="130000"/>
              </a:lnSpc>
              <a:buFont typeface="Arial" panose="020B0604020202020204" pitchFamily="34" charset="0"/>
              <a:buNone/>
            </a:pPr>
            <a:r>
              <a:rPr lang="zh-CN" altLang="en-US" sz="2800" b="1"/>
              <a:t>隧道模式</a:t>
            </a:r>
            <a:endParaRPr lang="en-US" altLang="zh-CN" sz="2800" b="1"/>
          </a:p>
          <a:p>
            <a:pPr marL="342900" indent="-342900">
              <a:lnSpc>
                <a:spcPct val="130000"/>
              </a:lnSpc>
              <a:buFont typeface="Arial" panose="020B0604020202020204" pitchFamily="34" charset="0"/>
              <a:buChar char="•"/>
            </a:pPr>
            <a:r>
              <a:rPr lang="zh-CN" altLang="en-US" sz="2800"/>
              <a:t>隧道模式要</a:t>
            </a:r>
            <a:r>
              <a:rPr lang="zh-CN" altLang="en-US" sz="2800">
                <a:solidFill>
                  <a:srgbClr val="FF0000"/>
                </a:solidFill>
              </a:rPr>
              <a:t>保护的整个</a:t>
            </a:r>
            <a:r>
              <a:rPr lang="en-US" altLang="zh-CN" sz="2800">
                <a:solidFill>
                  <a:srgbClr val="FF0000"/>
                </a:solidFill>
              </a:rPr>
              <a:t>IP</a:t>
            </a:r>
            <a:r>
              <a:rPr lang="zh-CN" altLang="en-US" sz="2800">
                <a:solidFill>
                  <a:srgbClr val="FF0000"/>
                </a:solidFill>
              </a:rPr>
              <a:t>包</a:t>
            </a:r>
            <a:r>
              <a:rPr lang="zh-CN" altLang="en-US" sz="2800"/>
              <a:t>，通常情况下，只要</a:t>
            </a:r>
            <a:r>
              <a:rPr lang="en-US" altLang="zh-CN" sz="2800"/>
              <a:t>IPSec</a:t>
            </a:r>
            <a:r>
              <a:rPr lang="zh-CN" altLang="en-US" sz="2800"/>
              <a:t>双方有一方是安全网关或者路由器，就必须使用隧道</a:t>
            </a:r>
            <a:r>
              <a:rPr lang="zh-CN" altLang="en-US" sz="2800"/>
              <a:t>模式</a:t>
            </a:r>
            <a:endParaRPr lang="en-US" altLang="zh-CN" sz="2800"/>
          </a:p>
        </p:txBody>
      </p:sp>
      <p:pic>
        <p:nvPicPr>
          <p:cNvPr id="7" name="图片 6"/>
          <p:cNvPicPr>
            <a:picLocks noChangeAspect="1"/>
          </p:cNvPicPr>
          <p:nvPr/>
        </p:nvPicPr>
        <p:blipFill>
          <a:blip r:embed="rId2"/>
          <a:stretch>
            <a:fillRect/>
          </a:stretch>
        </p:blipFill>
        <p:spPr>
          <a:xfrm>
            <a:off x="3096260" y="3429000"/>
            <a:ext cx="5767705" cy="2363470"/>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20.2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的两种工作模式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文本框 2"/>
          <p:cNvSpPr txBox="1"/>
          <p:nvPr/>
        </p:nvSpPr>
        <p:spPr>
          <a:xfrm>
            <a:off x="1465580" y="1063625"/>
            <a:ext cx="8947785" cy="1210945"/>
          </a:xfrm>
          <a:prstGeom prst="rect">
            <a:avLst/>
          </a:prstGeom>
          <a:noFill/>
        </p:spPr>
        <p:txBody>
          <a:bodyPr wrap="square" rtlCol="0">
            <a:spAutoFit/>
          </a:bodyPr>
          <a:p>
            <a:pPr marL="342900" indent="-342900">
              <a:lnSpc>
                <a:spcPct val="130000"/>
              </a:lnSpc>
              <a:buFont typeface="Arial" panose="020B0604020202020204" pitchFamily="34" charset="0"/>
              <a:buChar char="•"/>
            </a:pPr>
            <a:r>
              <a:rPr lang="zh-CN" altLang="en-US" sz="2800">
                <a:sym typeface="+mn-ea"/>
              </a:rPr>
              <a:t>传输模式要</a:t>
            </a:r>
            <a:r>
              <a:rPr lang="zh-CN" altLang="en-US" sz="2800">
                <a:solidFill>
                  <a:srgbClr val="FF0000"/>
                </a:solidFill>
                <a:sym typeface="+mn-ea"/>
              </a:rPr>
              <a:t>保护的是</a:t>
            </a:r>
            <a:r>
              <a:rPr lang="en-US" altLang="zh-CN" sz="2800">
                <a:solidFill>
                  <a:srgbClr val="FF0000"/>
                </a:solidFill>
                <a:sym typeface="+mn-ea"/>
              </a:rPr>
              <a:t>IP</a:t>
            </a:r>
            <a:r>
              <a:rPr lang="zh-CN" altLang="en-US" sz="2800">
                <a:solidFill>
                  <a:srgbClr val="FF0000"/>
                </a:solidFill>
                <a:sym typeface="+mn-ea"/>
              </a:rPr>
              <a:t>包的载荷</a:t>
            </a:r>
            <a:endParaRPr lang="zh-CN" altLang="en-US" sz="2800">
              <a:solidFill>
                <a:srgbClr val="FF0000"/>
              </a:solidFill>
              <a:sym typeface="+mn-ea"/>
            </a:endParaRPr>
          </a:p>
          <a:p>
            <a:pPr marL="342900" indent="-342900">
              <a:lnSpc>
                <a:spcPct val="130000"/>
              </a:lnSpc>
              <a:buFont typeface="Arial" panose="020B0604020202020204" pitchFamily="34" charset="0"/>
              <a:buChar char="•"/>
            </a:pPr>
            <a:r>
              <a:rPr lang="zh-CN" altLang="en-US" sz="2800"/>
              <a:t>隧道模式要</a:t>
            </a:r>
            <a:r>
              <a:rPr lang="zh-CN" altLang="en-US" sz="2800">
                <a:solidFill>
                  <a:srgbClr val="FF0000"/>
                </a:solidFill>
              </a:rPr>
              <a:t>保护的整个</a:t>
            </a:r>
            <a:r>
              <a:rPr lang="en-US" altLang="zh-CN" sz="2800">
                <a:solidFill>
                  <a:srgbClr val="FF0000"/>
                </a:solidFill>
              </a:rPr>
              <a:t>IP</a:t>
            </a:r>
            <a:r>
              <a:rPr lang="zh-CN" altLang="en-US" sz="2800">
                <a:solidFill>
                  <a:srgbClr val="FF0000"/>
                </a:solidFill>
              </a:rPr>
              <a:t>包</a:t>
            </a:r>
            <a:r>
              <a:rPr lang="en-US" altLang="zh-CN" sz="2800"/>
              <a:t> </a:t>
            </a:r>
            <a:endParaRPr lang="en-US" altLang="zh-CN" sz="2800"/>
          </a:p>
        </p:txBody>
      </p:sp>
      <p:pic>
        <p:nvPicPr>
          <p:cNvPr id="5" name="图片 4"/>
          <p:cNvPicPr>
            <a:picLocks noChangeAspect="1"/>
          </p:cNvPicPr>
          <p:nvPr/>
        </p:nvPicPr>
        <p:blipFill>
          <a:blip r:embed="rId2"/>
          <a:stretch>
            <a:fillRect/>
          </a:stretch>
        </p:blipFill>
        <p:spPr>
          <a:xfrm>
            <a:off x="1628140" y="2374900"/>
            <a:ext cx="3757930" cy="3620770"/>
          </a:xfrm>
          <a:prstGeom prst="rect">
            <a:avLst/>
          </a:prstGeom>
        </p:spPr>
      </p:pic>
      <p:pic>
        <p:nvPicPr>
          <p:cNvPr id="6" name="图片 5"/>
          <p:cNvPicPr>
            <a:picLocks noChangeAspect="1"/>
          </p:cNvPicPr>
          <p:nvPr/>
        </p:nvPicPr>
        <p:blipFill>
          <a:blip r:embed="rId3"/>
          <a:stretch>
            <a:fillRect/>
          </a:stretch>
        </p:blipFill>
        <p:spPr>
          <a:xfrm>
            <a:off x="6236970" y="2374900"/>
            <a:ext cx="4320540" cy="362394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20.2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的两种工作模式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7" name="图片 6"/>
          <p:cNvPicPr>
            <a:picLocks noChangeAspect="1"/>
          </p:cNvPicPr>
          <p:nvPr/>
        </p:nvPicPr>
        <p:blipFill>
          <a:blip r:embed="rId2"/>
          <a:stretch>
            <a:fillRect/>
          </a:stretch>
        </p:blipFill>
        <p:spPr>
          <a:xfrm>
            <a:off x="1465580" y="1063625"/>
            <a:ext cx="9178925" cy="504888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20.1 IPSec</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提供的安全服务</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stretch>
            <a:fillRect/>
          </a:stretch>
        </p:blipFill>
        <p:spPr>
          <a:xfrm>
            <a:off x="1873250" y="1296670"/>
            <a:ext cx="8397240" cy="3533140"/>
          </a:xfrm>
          <a:prstGeom prst="rect">
            <a:avLst/>
          </a:prstGeo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20.4 AH</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824230" y="1296670"/>
            <a:ext cx="10515600" cy="4351338"/>
          </a:xfrm>
        </p:spPr>
        <p:txBody>
          <a:bodyPr>
            <a:normAutofit/>
          </a:bodyPr>
          <a:p>
            <a:r>
              <a:rPr lang="en-US" altLang="zh-CN"/>
              <a:t>IPSec</a:t>
            </a:r>
            <a:r>
              <a:rPr lang="zh-CN" altLang="en-US"/>
              <a:t>定义了两种安全机制，用以扩展</a:t>
            </a:r>
            <a:r>
              <a:rPr lang="en-US" altLang="zh-CN"/>
              <a:t>IP</a:t>
            </a:r>
            <a:r>
              <a:rPr lang="zh-CN" altLang="en-US"/>
              <a:t>协议来支持</a:t>
            </a:r>
            <a:r>
              <a:rPr lang="en-US" altLang="zh-CN"/>
              <a:t>IP</a:t>
            </a:r>
            <a:r>
              <a:rPr lang="zh-CN" altLang="en-US"/>
              <a:t>数据包的安全</a:t>
            </a:r>
            <a:endParaRPr lang="zh-CN" altLang="en-US"/>
          </a:p>
          <a:p>
            <a:pPr marL="457200" lvl="1" indent="0">
              <a:buNone/>
            </a:pPr>
            <a:r>
              <a:rPr lang="en-US" altLang="zh-CN" sz="2800"/>
              <a:t>-</a:t>
            </a:r>
            <a:r>
              <a:rPr lang="en-US" altLang="zh-CN" sz="2800" b="1">
                <a:solidFill>
                  <a:srgbClr val="FF0000"/>
                </a:solidFill>
              </a:rPr>
              <a:t> </a:t>
            </a:r>
            <a:r>
              <a:rPr lang="zh-CN" altLang="en-US" sz="2800" b="1">
                <a:solidFill>
                  <a:srgbClr val="FF0000"/>
                </a:solidFill>
              </a:rPr>
              <a:t>认证头</a:t>
            </a:r>
            <a:r>
              <a:rPr lang="en-US" altLang="zh-CN" sz="2800" b="1">
                <a:solidFill>
                  <a:srgbClr val="FF0000"/>
                </a:solidFill>
              </a:rPr>
              <a:t>(AH)</a:t>
            </a:r>
            <a:endParaRPr lang="en-US" altLang="zh-CN" sz="2800" b="1">
              <a:solidFill>
                <a:srgbClr val="FF0000"/>
              </a:solidFill>
            </a:endParaRPr>
          </a:p>
          <a:p>
            <a:pPr marL="457200" lvl="1" indent="0">
              <a:buNone/>
            </a:pPr>
            <a:r>
              <a:rPr lang="en-US" altLang="zh-CN" sz="2800" b="1">
                <a:solidFill>
                  <a:srgbClr val="FF0000"/>
                </a:solidFill>
              </a:rPr>
              <a:t>- IP</a:t>
            </a:r>
            <a:r>
              <a:rPr lang="zh-CN" altLang="en-US" sz="2800" b="1">
                <a:solidFill>
                  <a:srgbClr val="FF0000"/>
                </a:solidFill>
              </a:rPr>
              <a:t>封装安全有效负载</a:t>
            </a:r>
            <a:r>
              <a:rPr lang="en-US" altLang="zh-CN" sz="2800" b="1">
                <a:solidFill>
                  <a:srgbClr val="FF0000"/>
                </a:solidFill>
              </a:rPr>
              <a:t>(ESP)</a:t>
            </a:r>
            <a:endParaRPr lang="en-US" altLang="zh-CN" sz="2800" b="1">
              <a:solidFill>
                <a:srgbClr val="FF0000"/>
              </a:solidFill>
            </a:endParaRPr>
          </a:p>
          <a:p>
            <a:pPr lvl="0"/>
            <a:r>
              <a:rPr lang="en-US" altLang="zh-CN"/>
              <a:t>AH</a:t>
            </a:r>
            <a:r>
              <a:rPr lang="zh-CN" altLang="en-US"/>
              <a:t>协议为</a:t>
            </a:r>
            <a:r>
              <a:rPr lang="en-US" altLang="zh-CN"/>
              <a:t>IP</a:t>
            </a:r>
            <a:r>
              <a:rPr lang="zh-CN" altLang="en-US"/>
              <a:t>包提供以下安全功能</a:t>
            </a:r>
            <a:endParaRPr lang="zh-CN" altLang="en-US"/>
          </a:p>
          <a:p>
            <a:pPr marL="457200" lvl="1" indent="0">
              <a:buNone/>
            </a:pPr>
            <a:r>
              <a:rPr lang="en-US" altLang="zh-CN" sz="2800"/>
              <a:t>- </a:t>
            </a:r>
            <a:r>
              <a:rPr lang="zh-CN" altLang="en-US" sz="2800"/>
              <a:t>完整性</a:t>
            </a:r>
            <a:endParaRPr lang="zh-CN" altLang="en-US" sz="2800"/>
          </a:p>
          <a:p>
            <a:pPr marL="457200" lvl="1" indent="0">
              <a:buNone/>
            </a:pPr>
            <a:r>
              <a:rPr lang="en-US" altLang="zh-CN" sz="2800"/>
              <a:t>- </a:t>
            </a:r>
            <a:r>
              <a:rPr lang="zh-CN" altLang="en-US" sz="2800"/>
              <a:t>数据起源认证</a:t>
            </a:r>
            <a:endParaRPr lang="zh-CN" altLang="en-US" sz="2800"/>
          </a:p>
          <a:p>
            <a:pPr marL="457200" lvl="1" indent="0">
              <a:buNone/>
            </a:pPr>
            <a:r>
              <a:rPr lang="en-US" altLang="zh-CN" sz="2800"/>
              <a:t>- </a:t>
            </a:r>
            <a:r>
              <a:rPr lang="zh-CN" altLang="en-US" sz="2800"/>
              <a:t>抗重放攻击</a:t>
            </a:r>
            <a:endParaRPr lang="zh-CN" altLang="en-US" sz="28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20.4 AH</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957580" y="1142365"/>
            <a:ext cx="10515600" cy="4351338"/>
          </a:xfrm>
        </p:spPr>
        <p:txBody>
          <a:bodyPr>
            <a:normAutofit/>
          </a:bodyPr>
          <a:p>
            <a:pPr marL="0" lvl="0" indent="0">
              <a:buNone/>
            </a:pPr>
            <a:r>
              <a:rPr lang="en-US" altLang="zh-CN" sz="3730"/>
              <a:t>AH</a:t>
            </a:r>
            <a:r>
              <a:rPr lang="zh-CN" altLang="en-US" sz="3730"/>
              <a:t>协议</a:t>
            </a:r>
            <a:endParaRPr lang="zh-CN" altLang="en-US" sz="3730"/>
          </a:p>
          <a:p>
            <a:pPr lvl="0" algn="l">
              <a:buClrTx/>
              <a:buSzTx/>
            </a:pPr>
            <a:r>
              <a:rPr lang="zh-CN" altLang="en-US" sz="2800"/>
              <a:t>利用</a:t>
            </a:r>
            <a:r>
              <a:rPr lang="zh-CN" altLang="en-US" sz="2800"/>
              <a:t>MAC码实现认证：双方必须共享一个密钥</a:t>
            </a:r>
            <a:endParaRPr lang="zh-CN" altLang="en-US" sz="2800"/>
          </a:p>
          <a:p>
            <a:pPr lvl="0" algn="l">
              <a:buClrTx/>
              <a:buSzTx/>
            </a:pPr>
            <a:r>
              <a:rPr lang="zh-CN" altLang="en-US" sz="2800"/>
              <a:t>认证算法由安全关联（</a:t>
            </a:r>
            <a:r>
              <a:rPr lang="zh-CN" altLang="en-US" sz="2800"/>
              <a:t>SA）指定</a:t>
            </a:r>
            <a:endParaRPr lang="zh-CN" altLang="en-US" sz="2800"/>
          </a:p>
          <a:p>
            <a:pPr lvl="0" algn="l">
              <a:buClrTx/>
              <a:buSzTx/>
            </a:pPr>
            <a:r>
              <a:rPr lang="zh-CN" altLang="en-US"/>
              <a:t>两种鉴别模式：</a:t>
            </a:r>
            <a:endParaRPr lang="en-US" altLang="zh-CN"/>
          </a:p>
          <a:p>
            <a:pPr marL="457200" lvl="1" indent="0">
              <a:buNone/>
            </a:pPr>
            <a:r>
              <a:rPr lang="en-US" altLang="zh-CN" sz="2800"/>
              <a:t>- </a:t>
            </a:r>
            <a:r>
              <a:rPr lang="zh-CN" altLang="en-US" sz="2800"/>
              <a:t>传输模式</a:t>
            </a:r>
            <a:r>
              <a:rPr lang="en-US" altLang="zh-CN" sz="2800"/>
              <a:t>:</a:t>
            </a:r>
            <a:r>
              <a:rPr lang="zh-CN" altLang="en-US" sz="2800"/>
              <a:t>不改变</a:t>
            </a:r>
            <a:r>
              <a:rPr lang="en-US" altLang="zh-CN" sz="2800"/>
              <a:t>IP</a:t>
            </a:r>
            <a:r>
              <a:rPr lang="zh-CN" altLang="en-US" sz="2800"/>
              <a:t>地址，插入一个</a:t>
            </a:r>
            <a:r>
              <a:rPr lang="en-US" altLang="zh-CN" sz="2800"/>
              <a:t>AH</a:t>
            </a:r>
            <a:endParaRPr lang="en-US" altLang="zh-CN" sz="2800"/>
          </a:p>
          <a:p>
            <a:pPr marL="457200" lvl="1" indent="0">
              <a:buNone/>
            </a:pPr>
            <a:r>
              <a:rPr lang="en-US" altLang="zh-CN" sz="2800"/>
              <a:t>- </a:t>
            </a:r>
            <a:r>
              <a:rPr lang="zh-CN" altLang="en-US" sz="2800"/>
              <a:t>生成一个新的</a:t>
            </a:r>
            <a:r>
              <a:rPr lang="en-US" altLang="zh-CN" sz="2800"/>
              <a:t>IP</a:t>
            </a:r>
            <a:r>
              <a:rPr lang="zh-CN" altLang="en-US" sz="2800"/>
              <a:t>头，把</a:t>
            </a:r>
            <a:r>
              <a:rPr lang="en-US" altLang="zh-CN" sz="2800"/>
              <a:t>AH</a:t>
            </a:r>
            <a:r>
              <a:rPr lang="zh-CN" altLang="en-US" sz="2800"/>
              <a:t>和原来的整个</a:t>
            </a:r>
            <a:r>
              <a:rPr lang="en-US" altLang="zh-CN" sz="2800"/>
              <a:t>IP</a:t>
            </a:r>
            <a:r>
              <a:rPr lang="zh-CN" altLang="en-US" sz="2800"/>
              <a:t>包放到新</a:t>
            </a:r>
            <a:r>
              <a:rPr lang="en-US" altLang="zh-CN" sz="2800"/>
              <a:t>IP</a:t>
            </a:r>
            <a:r>
              <a:rPr lang="zh-CN" altLang="en-US" sz="2800"/>
              <a:t>包的载荷数据中</a:t>
            </a:r>
            <a:endParaRPr lang="zh-CN" altLang="en-US" sz="2800"/>
          </a:p>
          <a:p>
            <a:pPr marL="457200" lvl="1" indent="0">
              <a:buNone/>
            </a:pPr>
            <a:endParaRPr lang="zh-CN" altLang="en-US" sz="28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20.4 AH</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824230" y="1296670"/>
            <a:ext cx="10515600" cy="4351338"/>
          </a:xfrm>
        </p:spPr>
        <p:txBody>
          <a:bodyPr>
            <a:normAutofit/>
          </a:bodyPr>
          <a:p>
            <a:pPr lvl="0"/>
            <a:r>
              <a:rPr lang="en-US" altLang="zh-CN" sz="3730"/>
              <a:t>AH</a:t>
            </a:r>
            <a:r>
              <a:rPr lang="zh-CN" altLang="en-US" sz="3730"/>
              <a:t>协议</a:t>
            </a:r>
            <a:endParaRPr lang="zh-CN" altLang="en-US" sz="3730"/>
          </a:p>
          <a:p>
            <a:pPr marL="457200" lvl="1" indent="0">
              <a:buNone/>
            </a:pPr>
            <a:endParaRPr lang="zh-CN" altLang="en-US" sz="2800"/>
          </a:p>
        </p:txBody>
      </p:sp>
      <p:pic>
        <p:nvPicPr>
          <p:cNvPr id="4" name="图片 3"/>
          <p:cNvPicPr>
            <a:picLocks noChangeAspect="1"/>
          </p:cNvPicPr>
          <p:nvPr/>
        </p:nvPicPr>
        <p:blipFill>
          <a:blip r:embed="rId2"/>
          <a:stretch>
            <a:fillRect/>
          </a:stretch>
        </p:blipFill>
        <p:spPr>
          <a:xfrm>
            <a:off x="1300480" y="1973580"/>
            <a:ext cx="9542145" cy="426275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20.4 AH</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3" name="内容占位符 2"/>
          <p:cNvPicPr>
            <a:picLocks noChangeAspect="1"/>
          </p:cNvPicPr>
          <p:nvPr>
            <p:ph idx="1"/>
          </p:nvPr>
        </p:nvPicPr>
        <p:blipFill>
          <a:blip r:embed="rId2"/>
          <a:stretch>
            <a:fillRect/>
          </a:stretch>
        </p:blipFill>
        <p:spPr>
          <a:xfrm>
            <a:off x="1104265" y="1010285"/>
            <a:ext cx="10129520" cy="522668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20.4 AH</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957580" y="1184275"/>
            <a:ext cx="10515600" cy="4351338"/>
          </a:xfrm>
        </p:spPr>
        <p:txBody>
          <a:bodyPr>
            <a:normAutofit fontScale="90000" lnSpcReduction="10000"/>
          </a:bodyPr>
          <a:p>
            <a:r>
              <a:rPr lang="en-US" altLang="zh-CN"/>
              <a:t>IPSec</a:t>
            </a:r>
            <a:r>
              <a:rPr lang="zh-CN" altLang="en-US"/>
              <a:t>抵御重放攻击的处理流程</a:t>
            </a:r>
            <a:endParaRPr lang="zh-CN" altLang="en-US"/>
          </a:p>
          <a:p>
            <a:pPr>
              <a:lnSpc>
                <a:spcPct val="100000"/>
              </a:lnSpc>
            </a:pPr>
            <a:r>
              <a:rPr lang="en-US" altLang="zh-CN"/>
              <a:t>-Step1:</a:t>
            </a:r>
            <a:r>
              <a:rPr lang="zh-CN" altLang="en-US"/>
              <a:t>判断接收到的数据包序号是否小于最后一个收到的数据包的序号</a:t>
            </a:r>
            <a:endParaRPr lang="zh-CN" altLang="en-US"/>
          </a:p>
          <a:p>
            <a:pPr>
              <a:lnSpc>
                <a:spcPct val="100000"/>
              </a:lnSpc>
            </a:pPr>
            <a:r>
              <a:rPr lang="en-US" altLang="zh-CN"/>
              <a:t>-Step2:</a:t>
            </a:r>
            <a:r>
              <a:rPr lang="zh-CN" altLang="en-US"/>
              <a:t>如果是，再检查最大包序号之间差值是否大于窗口大小，如果大于则说明数据包已经过期，丢弃该包，处理结束</a:t>
            </a:r>
            <a:r>
              <a:rPr lang="en-US" altLang="zh-CN"/>
              <a:t>;</a:t>
            </a:r>
            <a:r>
              <a:rPr lang="zh-CN" altLang="en-US"/>
              <a:t>否则转</a:t>
            </a:r>
            <a:r>
              <a:rPr lang="en-US" altLang="zh-CN"/>
              <a:t>Step3</a:t>
            </a:r>
            <a:r>
              <a:rPr lang="zh-CN" altLang="en-US"/>
              <a:t>。</a:t>
            </a:r>
            <a:endParaRPr lang="zh-CN" altLang="en-US"/>
          </a:p>
          <a:p>
            <a:pPr>
              <a:lnSpc>
                <a:spcPct val="100000"/>
              </a:lnSpc>
            </a:pPr>
            <a:r>
              <a:rPr lang="en-US" altLang="zh-CN"/>
              <a:t>-Step3</a:t>
            </a:r>
            <a:r>
              <a:rPr lang="zh-CN" altLang="en-US"/>
              <a:t>根据包是否被接收过的状态信息判断该序列号对应的包是否已经接受过，如果是则肯定是重放，丢弃该包，处理结束</a:t>
            </a:r>
            <a:r>
              <a:rPr lang="en-US" altLang="zh-CN"/>
              <a:t>;</a:t>
            </a:r>
            <a:r>
              <a:rPr lang="zh-CN" altLang="en-US"/>
              <a:t>反之不是重放，更新包是否被接收过的状态信息。</a:t>
            </a:r>
            <a:endParaRPr lang="zh-CN" altLang="en-US"/>
          </a:p>
          <a:p>
            <a:pPr>
              <a:lnSpc>
                <a:spcPct val="100000"/>
              </a:lnSpc>
            </a:pPr>
            <a:r>
              <a:rPr lang="en-US" altLang="zh-CN"/>
              <a:t>-Step4</a:t>
            </a:r>
            <a:r>
              <a:rPr lang="zh-CN" altLang="en-US"/>
              <a:t>如果接收到的序列号比最后一个包的序号大，并且差值小于窗口大小，则窗口向右滑动，否则窗口不滑动。</a:t>
            </a:r>
            <a:endParaRPr lang="zh-CN" altLang="en-US"/>
          </a:p>
          <a:p>
            <a:pPr>
              <a:lnSpc>
                <a:spcPct val="100000"/>
              </a:lnSpc>
            </a:pPr>
            <a:r>
              <a:rPr lang="en-US" altLang="zh-CN"/>
              <a:t>-Step5</a:t>
            </a:r>
            <a:r>
              <a:rPr lang="zh-CN" altLang="en-US"/>
              <a:t>将该包的序列号更新为接收到的包的最大序列号。</a:t>
            </a:r>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20.4 AH</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协议概述</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957580" y="1184275"/>
            <a:ext cx="10515600" cy="4351338"/>
          </a:xfrm>
        </p:spPr>
        <p:txBody>
          <a:bodyPr>
            <a:normAutofit fontScale="90000" lnSpcReduction="10000"/>
          </a:bodyPr>
          <a:p>
            <a:r>
              <a:rPr lang="en-US" altLang="zh-CN"/>
              <a:t>IPSec</a:t>
            </a:r>
            <a:r>
              <a:rPr lang="zh-CN" altLang="en-US"/>
              <a:t>抵御重放攻击的处理流程</a:t>
            </a:r>
            <a:endParaRPr lang="zh-CN" altLang="en-US"/>
          </a:p>
          <a:p>
            <a:pPr>
              <a:lnSpc>
                <a:spcPct val="100000"/>
              </a:lnSpc>
            </a:pPr>
            <a:r>
              <a:rPr lang="en-US" altLang="zh-CN"/>
              <a:t>-Step1:</a:t>
            </a:r>
            <a:r>
              <a:rPr lang="zh-CN" altLang="en-US"/>
              <a:t>判断接收到的数据包序号是否小于最后一个收到的数据包的序号</a:t>
            </a:r>
            <a:endParaRPr lang="zh-CN" altLang="en-US"/>
          </a:p>
          <a:p>
            <a:pPr>
              <a:lnSpc>
                <a:spcPct val="100000"/>
              </a:lnSpc>
            </a:pPr>
            <a:r>
              <a:rPr lang="en-US" altLang="zh-CN"/>
              <a:t>-Step2:</a:t>
            </a:r>
            <a:r>
              <a:rPr lang="zh-CN" altLang="en-US"/>
              <a:t>如果是，再检查最大包序号之间差值是否大于窗口大小，如果大于则说明数据包已经过期，丢弃该包，处理结束</a:t>
            </a:r>
            <a:r>
              <a:rPr lang="en-US" altLang="zh-CN"/>
              <a:t>;</a:t>
            </a:r>
            <a:r>
              <a:rPr lang="zh-CN" altLang="en-US"/>
              <a:t>否则转</a:t>
            </a:r>
            <a:r>
              <a:rPr lang="en-US" altLang="zh-CN"/>
              <a:t>Step3</a:t>
            </a:r>
            <a:r>
              <a:rPr lang="zh-CN" altLang="en-US"/>
              <a:t>。</a:t>
            </a:r>
            <a:endParaRPr lang="zh-CN" altLang="en-US"/>
          </a:p>
          <a:p>
            <a:pPr>
              <a:lnSpc>
                <a:spcPct val="100000"/>
              </a:lnSpc>
            </a:pPr>
            <a:r>
              <a:rPr lang="en-US" altLang="zh-CN"/>
              <a:t>-Step3</a:t>
            </a:r>
            <a:r>
              <a:rPr lang="zh-CN" altLang="en-US"/>
              <a:t>根据包是否被接收过的状态信息判断该序列号对应的包是否已经接受过，如果是则肯定是重放，丢弃该包，处理结束</a:t>
            </a:r>
            <a:r>
              <a:rPr lang="en-US" altLang="zh-CN"/>
              <a:t>;</a:t>
            </a:r>
            <a:r>
              <a:rPr lang="zh-CN" altLang="en-US"/>
              <a:t>反之不是重放，更新包是否被接收过的状态信息。</a:t>
            </a:r>
            <a:endParaRPr lang="zh-CN" altLang="en-US"/>
          </a:p>
          <a:p>
            <a:pPr>
              <a:lnSpc>
                <a:spcPct val="100000"/>
              </a:lnSpc>
            </a:pPr>
            <a:r>
              <a:rPr lang="en-US" altLang="zh-CN"/>
              <a:t>-Step4</a:t>
            </a:r>
            <a:r>
              <a:rPr lang="zh-CN" altLang="en-US"/>
              <a:t>如果接收到的序列号比最后一个包的序号大，并且差值小于窗口大小，则窗口向右滑动，否则窗口不滑动。</a:t>
            </a:r>
            <a:endParaRPr lang="zh-CN" altLang="en-US"/>
          </a:p>
          <a:p>
            <a:pPr>
              <a:lnSpc>
                <a:spcPct val="100000"/>
              </a:lnSpc>
            </a:pPr>
            <a:r>
              <a:rPr lang="en-US" altLang="zh-CN"/>
              <a:t>-Step5</a:t>
            </a:r>
            <a:r>
              <a:rPr lang="zh-CN" altLang="en-US"/>
              <a:t>将该包的序列号更新为接收到的包的最大序列号。</a:t>
            </a:r>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20.5 </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封装安全载荷</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ESP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957580" y="1184275"/>
            <a:ext cx="10515600" cy="4351338"/>
          </a:xfrm>
        </p:spPr>
        <p:txBody>
          <a:bodyPr>
            <a:normAutofit/>
          </a:bodyPr>
          <a:p>
            <a:r>
              <a:rPr lang="zh-CN" altLang="en-US" sz="3100"/>
              <a:t>提供两种安全服务</a:t>
            </a:r>
            <a:r>
              <a:rPr lang="en-US" altLang="zh-CN" sz="3100"/>
              <a:t>:</a:t>
            </a:r>
            <a:r>
              <a:rPr lang="zh-CN" altLang="en-US" sz="3100"/>
              <a:t>机密性服务和认证服务</a:t>
            </a:r>
            <a:r>
              <a:rPr lang="en-US" altLang="zh-CN" sz="3100"/>
              <a:t>:</a:t>
            </a:r>
            <a:endParaRPr lang="en-US" altLang="zh-CN" sz="3100"/>
          </a:p>
          <a:p>
            <a:pPr marL="0" indent="457200">
              <a:buNone/>
            </a:pPr>
            <a:r>
              <a:rPr lang="en-US" altLang="zh-CN"/>
              <a:t>-</a:t>
            </a:r>
            <a:r>
              <a:rPr lang="zh-CN" altLang="en-US"/>
              <a:t>机密性服务</a:t>
            </a:r>
            <a:endParaRPr lang="zh-CN" altLang="en-US"/>
          </a:p>
          <a:p>
            <a:pPr marL="457200" lvl="1" indent="457200">
              <a:buNone/>
            </a:pPr>
            <a:r>
              <a:rPr lang="zh-CN" altLang="en-US"/>
              <a:t>将需要保密的用户数据进行加密后再封装到一个新的</a:t>
            </a:r>
            <a:r>
              <a:rPr lang="en-US" altLang="zh-CN"/>
              <a:t>IP</a:t>
            </a:r>
            <a:r>
              <a:rPr lang="zh-CN" altLang="en-US"/>
              <a:t>包中</a:t>
            </a:r>
            <a:endParaRPr lang="zh-CN" altLang="en-US"/>
          </a:p>
          <a:p>
            <a:pPr marL="0" indent="457200">
              <a:buNone/>
            </a:pPr>
            <a:r>
              <a:rPr lang="en-US" altLang="zh-CN"/>
              <a:t>-</a:t>
            </a:r>
            <a:r>
              <a:rPr lang="zh-CN" altLang="en-US"/>
              <a:t>认证服务</a:t>
            </a:r>
            <a:r>
              <a:rPr lang="en-US" altLang="zh-CN"/>
              <a:t>(</a:t>
            </a:r>
            <a:r>
              <a:rPr lang="zh-CN" altLang="en-US"/>
              <a:t>也叫鉴别服务</a:t>
            </a:r>
            <a:r>
              <a:rPr lang="en-US" altLang="zh-CN"/>
              <a:t>(</a:t>
            </a:r>
            <a:r>
              <a:rPr lang="zh-CN" altLang="en-US"/>
              <a:t>可选</a:t>
            </a:r>
            <a:r>
              <a:rPr lang="en-US" altLang="zh-CN"/>
              <a:t>)</a:t>
            </a:r>
            <a:r>
              <a:rPr lang="zh-CN" altLang="en-US"/>
              <a:t>）</a:t>
            </a:r>
            <a:endParaRPr lang="en-US" altLang="zh-CN"/>
          </a:p>
          <a:p>
            <a:pPr marL="457200" lvl="1" indent="457200">
              <a:buNone/>
            </a:pPr>
            <a:r>
              <a:rPr lang="en-US" altLang="zh-CN"/>
              <a:t>ESP</a:t>
            </a:r>
            <a:r>
              <a:rPr lang="zh-CN" altLang="en-US"/>
              <a:t>只鉴别</a:t>
            </a:r>
            <a:r>
              <a:rPr lang="en-US" altLang="zh-CN"/>
              <a:t>ESP</a:t>
            </a:r>
            <a:r>
              <a:rPr lang="zh-CN" altLang="en-US"/>
              <a:t>头之后的信息</a:t>
            </a:r>
            <a:endParaRPr lang="zh-CN" altLang="en-US"/>
          </a:p>
          <a:p>
            <a:pPr marL="0" indent="457200">
              <a:buNone/>
            </a:pPr>
            <a:r>
              <a:rPr lang="en-US" altLang="zh-CN"/>
              <a:t>-</a:t>
            </a:r>
            <a:r>
              <a:rPr lang="zh-CN" altLang="en-US"/>
              <a:t>加密算法和认证算法由</a:t>
            </a:r>
            <a:r>
              <a:rPr lang="en-US" altLang="zh-CN"/>
              <a:t>SA</a:t>
            </a:r>
            <a:r>
              <a:rPr lang="zh-CN" altLang="en-US"/>
              <a:t>指定</a:t>
            </a:r>
            <a:endParaRPr lang="zh-CN" altLang="en-US"/>
          </a:p>
          <a:p>
            <a:pPr marL="0" indent="457200">
              <a:buNone/>
            </a:pPr>
            <a:r>
              <a:rPr lang="en-US" altLang="zh-CN"/>
              <a:t>-</a:t>
            </a:r>
            <a:r>
              <a:rPr lang="zh-CN" altLang="en-US"/>
              <a:t>两种模式</a:t>
            </a:r>
            <a:r>
              <a:rPr lang="en-US" altLang="zh-CN"/>
              <a:t>:</a:t>
            </a:r>
            <a:r>
              <a:rPr lang="zh-CN" altLang="en-US"/>
              <a:t>传输模式和隧道模式</a:t>
            </a:r>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20.5 </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封装安全载荷</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ESP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4" name="内容占位符 3"/>
          <p:cNvPicPr>
            <a:picLocks noChangeAspect="1"/>
          </p:cNvPicPr>
          <p:nvPr>
            <p:ph idx="1"/>
          </p:nvPr>
        </p:nvPicPr>
        <p:blipFill>
          <a:blip r:embed="rId2"/>
          <a:stretch>
            <a:fillRect/>
          </a:stretch>
        </p:blipFill>
        <p:spPr>
          <a:xfrm>
            <a:off x="3159125" y="1211580"/>
            <a:ext cx="5825490" cy="487235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20.5 </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封装安全载荷</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ESP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4" name="内容占位符 3"/>
          <p:cNvPicPr>
            <a:picLocks noChangeAspect="1"/>
          </p:cNvPicPr>
          <p:nvPr>
            <p:ph idx="1"/>
          </p:nvPr>
        </p:nvPicPr>
        <p:blipFill>
          <a:blip r:embed="rId2"/>
          <a:stretch>
            <a:fillRect/>
          </a:stretch>
        </p:blipFill>
        <p:spPr>
          <a:xfrm>
            <a:off x="3159125" y="1211580"/>
            <a:ext cx="5825490" cy="487235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20.5 </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封装安全载荷</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ESP </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和</a:t>
            </a: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AH</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协议比较</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3" name="内容占位符 2"/>
          <p:cNvPicPr>
            <a:picLocks noChangeAspect="1"/>
          </p:cNvPicPr>
          <p:nvPr>
            <p:ph idx="1"/>
          </p:nvPr>
        </p:nvPicPr>
        <p:blipFill>
          <a:blip r:embed="rId2"/>
          <a:stretch>
            <a:fillRect/>
          </a:stretch>
        </p:blipFill>
        <p:spPr>
          <a:xfrm>
            <a:off x="694055" y="1637665"/>
            <a:ext cx="10515600" cy="3865880"/>
          </a:xfrm>
          <a:prstGeom prst="rect">
            <a:avLst/>
          </a:prstGeom>
        </p:spPr>
      </p:pic>
      <p:sp>
        <p:nvSpPr>
          <p:cNvPr id="5" name="文本框 4"/>
          <p:cNvSpPr txBox="1"/>
          <p:nvPr/>
        </p:nvSpPr>
        <p:spPr>
          <a:xfrm>
            <a:off x="1628140" y="1154430"/>
            <a:ext cx="6558915" cy="521970"/>
          </a:xfrm>
          <a:prstGeom prst="rect">
            <a:avLst/>
          </a:prstGeom>
          <a:noFill/>
        </p:spPr>
        <p:txBody>
          <a:bodyPr wrap="square" rtlCol="0">
            <a:spAutoFit/>
          </a:bodyPr>
          <a:p>
            <a:r>
              <a:rPr lang="en-US" altLang="zh-CN" sz="2800"/>
              <a:t>AH</a:t>
            </a:r>
            <a:r>
              <a:rPr lang="zh-CN" altLang="en-US" sz="2800"/>
              <a:t>和</a:t>
            </a:r>
            <a:r>
              <a:rPr lang="en-US" altLang="zh-CN" sz="2800"/>
              <a:t>ESP</a:t>
            </a:r>
            <a:r>
              <a:rPr lang="zh-CN" altLang="en-US" sz="2800"/>
              <a:t>协议都提供认证功能但范围不同</a:t>
            </a:r>
            <a:endParaRPr lang="zh-CN" altLang="en-US" sz="2800"/>
          </a:p>
        </p:txBody>
      </p:sp>
      <p:sp>
        <p:nvSpPr>
          <p:cNvPr id="7" name="文本框 6"/>
          <p:cNvSpPr txBox="1"/>
          <p:nvPr/>
        </p:nvSpPr>
        <p:spPr>
          <a:xfrm>
            <a:off x="1703705" y="5608955"/>
            <a:ext cx="9554210" cy="521970"/>
          </a:xfrm>
          <a:prstGeom prst="rect">
            <a:avLst/>
          </a:prstGeom>
          <a:noFill/>
        </p:spPr>
        <p:txBody>
          <a:bodyPr wrap="square" rtlCol="0">
            <a:spAutoFit/>
          </a:bodyPr>
          <a:p>
            <a:r>
              <a:rPr lang="en-US" altLang="zh-CN" sz="2800"/>
              <a:t>AH</a:t>
            </a:r>
            <a:r>
              <a:rPr lang="zh-CN" altLang="en-US" sz="2800"/>
              <a:t>认证范围比</a:t>
            </a:r>
            <a:r>
              <a:rPr lang="en-US" altLang="zh-CN" sz="2800"/>
              <a:t>ESP</a:t>
            </a:r>
            <a:r>
              <a:rPr lang="zh-CN" altLang="en-US" sz="2800"/>
              <a:t>大：</a:t>
            </a:r>
            <a:r>
              <a:rPr lang="en-US" altLang="zh-CN" sz="2800"/>
              <a:t>AH</a:t>
            </a:r>
            <a:r>
              <a:rPr lang="zh-CN" altLang="en-US" sz="2800"/>
              <a:t>认证范围包括</a:t>
            </a:r>
            <a:r>
              <a:rPr lang="en-US" altLang="zh-CN" sz="2800"/>
              <a:t>IP</a:t>
            </a:r>
            <a:r>
              <a:rPr lang="zh-CN" altLang="en-US" sz="2800"/>
              <a:t>头和</a:t>
            </a:r>
            <a:r>
              <a:rPr lang="en-US" altLang="zh-CN" sz="2800"/>
              <a:t>IP</a:t>
            </a:r>
            <a:r>
              <a:rPr lang="zh-CN" altLang="en-US" sz="2800"/>
              <a:t>载荷</a:t>
            </a:r>
            <a:endParaRPr lang="zh-CN" altLang="en-US" sz="280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ChangeAspect="1"/>
          </p:cNvPicPr>
          <p:nvPr>
            <p:ph idx="1"/>
          </p:nvPr>
        </p:nvPicPr>
        <p:blipFill>
          <a:blip r:embed="rId1"/>
          <a:stretch>
            <a:fillRect/>
          </a:stretch>
        </p:blipFill>
        <p:spPr>
          <a:xfrm>
            <a:off x="818515" y="1177925"/>
            <a:ext cx="10330815" cy="4944110"/>
          </a:xfrm>
          <a:prstGeom prst="rect">
            <a:avLst/>
          </a:prstGeom>
        </p:spPr>
      </p:pic>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2"/>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20.5 </a:t>
            </a:r>
            <a:r>
              <a:rPr lang="zh-CN" altLang="en-US" sz="3600" b="1"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封装安全载荷</a:t>
            </a:r>
            <a:r>
              <a:rPr lang="en-US" altLang="zh-CN" sz="3600" b="1"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ESP </a:t>
            </a:r>
            <a:r>
              <a:rPr lang="zh-CN" altLang="en-US" sz="3600" b="1"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和</a:t>
            </a:r>
            <a:r>
              <a:rPr lang="en-US" altLang="zh-CN" sz="3600" b="1"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AH</a:t>
            </a:r>
            <a:r>
              <a:rPr lang="zh-CN" altLang="en-US" sz="3600" b="1"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协议比较</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20.6 </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安全关联的</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组合</a:t>
            </a:r>
            <a:endPar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endParaRPr>
          </a:p>
        </p:txBody>
      </p:sp>
      <p:pic>
        <p:nvPicPr>
          <p:cNvPr id="3" name="内容占位符 2"/>
          <p:cNvPicPr>
            <a:picLocks noChangeAspect="1"/>
          </p:cNvPicPr>
          <p:nvPr>
            <p:ph idx="1"/>
          </p:nvPr>
        </p:nvPicPr>
        <p:blipFill>
          <a:blip r:embed="rId2"/>
          <a:stretch>
            <a:fillRect/>
          </a:stretch>
        </p:blipFill>
        <p:spPr>
          <a:xfrm>
            <a:off x="1266190" y="1329690"/>
            <a:ext cx="10206990" cy="312991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20.6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协议</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总结</a:t>
            </a:r>
            <a:endPar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endParaRPr>
          </a:p>
        </p:txBody>
      </p:sp>
      <p:pic>
        <p:nvPicPr>
          <p:cNvPr id="4" name="内容占位符 3"/>
          <p:cNvPicPr>
            <a:picLocks noChangeAspect="1"/>
          </p:cNvPicPr>
          <p:nvPr>
            <p:ph idx="1"/>
          </p:nvPr>
        </p:nvPicPr>
        <p:blipFill>
          <a:blip r:embed="rId2"/>
          <a:stretch>
            <a:fillRect/>
          </a:stretch>
        </p:blipFill>
        <p:spPr>
          <a:xfrm>
            <a:off x="2372360" y="1385570"/>
            <a:ext cx="7223760" cy="4523105"/>
          </a:xfrm>
          <a:prstGeom prst="rect">
            <a:avLst/>
          </a:prstGeom>
        </p:spPr>
      </p:pic>
      <p:pic>
        <p:nvPicPr>
          <p:cNvPr id="2" name="图片 1"/>
          <p:cNvPicPr>
            <a:picLocks noChangeAspect="1"/>
          </p:cNvPicPr>
          <p:nvPr/>
        </p:nvPicPr>
        <p:blipFill>
          <a:blip r:embed="rId3"/>
          <a:stretch>
            <a:fillRect/>
          </a:stretch>
        </p:blipFill>
        <p:spPr>
          <a:xfrm>
            <a:off x="1299845" y="1063625"/>
            <a:ext cx="9215755" cy="5079365"/>
          </a:xfrm>
          <a:prstGeom prst="rect">
            <a:avLst/>
          </a:prstGeom>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838200" y="1318260"/>
            <a:ext cx="10515600" cy="4351338"/>
          </a:xfrm>
        </p:spPr>
        <p:txBody>
          <a:bodyPr/>
          <a:p>
            <a:pPr>
              <a:lnSpc>
                <a:spcPct val="150000"/>
              </a:lnSpc>
            </a:pPr>
            <a:r>
              <a:rPr lang="zh-CN" altLang="en-US"/>
              <a:t>安全关联（</a:t>
            </a:r>
            <a:r>
              <a:rPr lang="en-US" altLang="zh-CN"/>
              <a:t>SA</a:t>
            </a:r>
            <a:r>
              <a:rPr lang="zh-CN" altLang="en-US"/>
              <a:t>）是指发送方和接收方之间的</a:t>
            </a:r>
            <a:r>
              <a:rPr lang="zh-CN" altLang="en-US">
                <a:solidFill>
                  <a:srgbClr val="FF0000"/>
                </a:solidFill>
              </a:rPr>
              <a:t>单向关系</a:t>
            </a:r>
            <a:r>
              <a:rPr lang="zh-CN" altLang="en-US"/>
              <a:t>，用于为通信双方之间的业务流</a:t>
            </a:r>
            <a:r>
              <a:rPr lang="zh-CN" altLang="en-US">
                <a:solidFill>
                  <a:srgbClr val="FF0000"/>
                </a:solidFill>
              </a:rPr>
              <a:t>提供安全服务</a:t>
            </a:r>
            <a:r>
              <a:rPr lang="zh-CN" altLang="en-US"/>
              <a:t>。</a:t>
            </a:r>
            <a:endParaRPr lang="zh-CN" altLang="en-US"/>
          </a:p>
          <a:p>
            <a:pPr lvl="1">
              <a:lnSpc>
                <a:spcPct val="150000"/>
              </a:lnSpc>
            </a:pPr>
            <a:r>
              <a:rPr lang="zh-CN" altLang="en-US"/>
              <a:t>安全关联是单向的</a:t>
            </a:r>
            <a:endParaRPr lang="zh-CN" altLang="en-US"/>
          </a:p>
          <a:p>
            <a:pPr lvl="2">
              <a:lnSpc>
                <a:spcPct val="150000"/>
              </a:lnSpc>
            </a:pPr>
            <a:r>
              <a:rPr lang="zh-CN" altLang="en-US"/>
              <a:t>如果需要双向的安全交换，则需要建立两个安全关联</a:t>
            </a:r>
            <a:endParaRPr lang="zh-CN" altLang="en-US"/>
          </a:p>
          <a:p>
            <a:pPr lvl="1">
              <a:lnSpc>
                <a:spcPct val="150000"/>
              </a:lnSpc>
            </a:pPr>
            <a:r>
              <a:rPr lang="zh-CN" altLang="en-US"/>
              <a:t>安全服务是通过使用</a:t>
            </a:r>
            <a:r>
              <a:rPr lang="en-US" altLang="zh-CN"/>
              <a:t>AH</a:t>
            </a:r>
            <a:r>
              <a:rPr lang="zh-CN" altLang="en-US"/>
              <a:t>或</a:t>
            </a:r>
            <a:r>
              <a:rPr lang="en-US" altLang="zh-CN"/>
              <a:t>ESP</a:t>
            </a:r>
            <a:r>
              <a:rPr lang="zh-CN" altLang="en-US"/>
              <a:t>来实现的</a:t>
            </a:r>
            <a:endParaRPr lang="zh-CN" altLang="en-US"/>
          </a:p>
          <a:p>
            <a:pPr lvl="2">
              <a:lnSpc>
                <a:spcPct val="150000"/>
              </a:lnSpc>
            </a:pPr>
            <a:r>
              <a:rPr lang="en-US" altLang="zh-CN"/>
              <a:t>AH</a:t>
            </a:r>
            <a:r>
              <a:rPr lang="zh-CN" altLang="en-US"/>
              <a:t>和</a:t>
            </a:r>
            <a:r>
              <a:rPr lang="en-US" altLang="zh-CN"/>
              <a:t>ESP</a:t>
            </a:r>
            <a:r>
              <a:rPr lang="zh-CN" altLang="en-US"/>
              <a:t>不能在一个</a:t>
            </a:r>
            <a:r>
              <a:rPr lang="en-US" altLang="zh-CN"/>
              <a:t>SA</a:t>
            </a:r>
            <a:r>
              <a:rPr lang="zh-CN" altLang="en-US"/>
              <a:t>上同时实现</a:t>
            </a:r>
            <a:endParaRPr lang="zh-CN" altLang="en-US"/>
          </a:p>
          <a:p>
            <a:pPr lvl="2">
              <a:lnSpc>
                <a:spcPct val="150000"/>
              </a:lnSpc>
            </a:pPr>
            <a:r>
              <a:rPr lang="zh-CN" altLang="en-US"/>
              <a:t>如果需要同时提供</a:t>
            </a:r>
            <a:r>
              <a:rPr lang="en-US" altLang="zh-CN"/>
              <a:t>AH</a:t>
            </a:r>
            <a:r>
              <a:rPr lang="zh-CN" altLang="en-US"/>
              <a:t>和</a:t>
            </a:r>
            <a:r>
              <a:rPr lang="en-US" altLang="zh-CN"/>
              <a:t>ESP</a:t>
            </a:r>
            <a:r>
              <a:rPr lang="zh-CN" altLang="en-US"/>
              <a:t>，则需要建立多个</a:t>
            </a:r>
            <a:r>
              <a:rPr lang="en-US" altLang="zh-CN"/>
              <a:t>SA</a:t>
            </a:r>
            <a:endParaRPr lang="en-US" alt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2" name="内容占位符 1"/>
          <p:cNvSpPr/>
          <p:nvPr>
            <p:ph idx="1"/>
          </p:nvPr>
        </p:nvSpPr>
        <p:spPr>
          <a:xfrm>
            <a:off x="838200" y="1156335"/>
            <a:ext cx="10515600" cy="4351338"/>
          </a:xfrm>
        </p:spPr>
        <p:txBody>
          <a:bodyPr>
            <a:normAutofit lnSpcReduction="10000"/>
          </a:bodyPr>
          <a:p>
            <a:pPr fontAlgn="auto">
              <a:lnSpc>
                <a:spcPct val="100000"/>
              </a:lnSpc>
            </a:pPr>
            <a:r>
              <a:rPr lang="zh-CN" altLang="en-US"/>
              <a:t>安全关联（</a:t>
            </a:r>
            <a:r>
              <a:rPr lang="en-US" altLang="zh-CN"/>
              <a:t>SA</a:t>
            </a:r>
            <a:r>
              <a:rPr lang="zh-CN" altLang="en-US"/>
              <a:t>）的</a:t>
            </a:r>
            <a:r>
              <a:rPr lang="zh-CN" altLang="en-US"/>
              <a:t>内容</a:t>
            </a:r>
            <a:endParaRPr lang="zh-CN" altLang="en-US"/>
          </a:p>
          <a:p>
            <a:pPr fontAlgn="auto">
              <a:lnSpc>
                <a:spcPct val="100000"/>
              </a:lnSpc>
            </a:pPr>
            <a:r>
              <a:rPr lang="en-US" altLang="zh-CN" dirty="0">
                <a:sym typeface="+mn-ea"/>
              </a:rPr>
              <a:t>SA</a:t>
            </a:r>
            <a:r>
              <a:rPr lang="zh-CN" altLang="en-US" dirty="0">
                <a:sym typeface="+mn-ea"/>
              </a:rPr>
              <a:t>的内容主要是包含一组针对特定目的主机</a:t>
            </a:r>
            <a:r>
              <a:rPr lang="en-US" altLang="zh-CN" dirty="0">
                <a:sym typeface="+mn-ea"/>
              </a:rPr>
              <a:t>(</a:t>
            </a:r>
            <a:r>
              <a:rPr lang="zh-CN" altLang="en-US" dirty="0">
                <a:sym typeface="+mn-ea"/>
              </a:rPr>
              <a:t>或安全网关</a:t>
            </a:r>
            <a:r>
              <a:rPr lang="en-US" altLang="zh-CN" dirty="0">
                <a:sym typeface="+mn-ea"/>
              </a:rPr>
              <a:t>)</a:t>
            </a:r>
            <a:r>
              <a:rPr lang="zh-CN" altLang="en-US" dirty="0">
                <a:sym typeface="+mn-ea"/>
              </a:rPr>
              <a:t>的一组参数</a:t>
            </a:r>
            <a:endParaRPr lang="zh-CN" altLang="en-US" dirty="0"/>
          </a:p>
          <a:p>
            <a:pPr lvl="1" fontAlgn="auto">
              <a:lnSpc>
                <a:spcPct val="100000"/>
              </a:lnSpc>
            </a:pPr>
            <a:r>
              <a:rPr lang="zh-CN" altLang="en-US" dirty="0">
                <a:sym typeface="+mn-ea"/>
              </a:rPr>
              <a:t>通过这组参数，可以提供安全服务</a:t>
            </a:r>
            <a:endParaRPr lang="zh-CN" altLang="en-US" dirty="0"/>
          </a:p>
          <a:p>
            <a:pPr fontAlgn="auto">
              <a:lnSpc>
                <a:spcPct val="100000"/>
              </a:lnSpc>
            </a:pPr>
            <a:r>
              <a:rPr lang="zh-CN" altLang="en-US" dirty="0">
                <a:sym typeface="+mn-ea"/>
              </a:rPr>
              <a:t>一个安全关联由</a:t>
            </a:r>
            <a:r>
              <a:rPr lang="zh-CN" altLang="en-US" dirty="0">
                <a:solidFill>
                  <a:srgbClr val="FF0000"/>
                </a:solidFill>
                <a:sym typeface="+mn-ea"/>
              </a:rPr>
              <a:t>三个参数</a:t>
            </a:r>
            <a:r>
              <a:rPr lang="zh-CN" altLang="en-US" dirty="0">
                <a:sym typeface="+mn-ea"/>
              </a:rPr>
              <a:t>唯一确定</a:t>
            </a:r>
            <a:r>
              <a:rPr lang="en-US" altLang="zh-CN" dirty="0">
                <a:sym typeface="+mn-ea"/>
              </a:rPr>
              <a:t>:</a:t>
            </a:r>
            <a:endParaRPr lang="zh-CN" altLang="en-US"/>
          </a:p>
          <a:p>
            <a:pPr lvl="1" fontAlgn="auto">
              <a:lnSpc>
                <a:spcPct val="100000"/>
              </a:lnSpc>
            </a:pPr>
            <a:r>
              <a:rPr lang="zh-CN" altLang="en-US" dirty="0">
                <a:sym typeface="+mn-ea"/>
              </a:rPr>
              <a:t>安全参数索引</a:t>
            </a:r>
            <a:r>
              <a:rPr lang="en-US" altLang="zh-CN" dirty="0">
                <a:sym typeface="+mn-ea"/>
              </a:rPr>
              <a:t>(SPI: Security Parameter Index)</a:t>
            </a:r>
            <a:endParaRPr lang="en-US" altLang="zh-CN" dirty="0"/>
          </a:p>
          <a:p>
            <a:pPr lvl="1" fontAlgn="auto">
              <a:lnSpc>
                <a:spcPct val="100000"/>
              </a:lnSpc>
            </a:pPr>
            <a:r>
              <a:rPr lang="en-US" altLang="zh-CN" dirty="0">
                <a:sym typeface="+mn-ea"/>
              </a:rPr>
              <a:t>IP</a:t>
            </a:r>
            <a:r>
              <a:rPr lang="zh-CN" altLang="en-US" dirty="0">
                <a:sym typeface="+mn-ea"/>
              </a:rPr>
              <a:t>目的地址</a:t>
            </a:r>
            <a:endParaRPr lang="zh-CN" altLang="en-US" dirty="0"/>
          </a:p>
          <a:p>
            <a:pPr lvl="1" fontAlgn="auto">
              <a:lnSpc>
                <a:spcPct val="100000"/>
              </a:lnSpc>
            </a:pPr>
            <a:r>
              <a:rPr lang="zh-CN" altLang="en-US" dirty="0">
                <a:sym typeface="+mn-ea"/>
              </a:rPr>
              <a:t>安全协议标识</a:t>
            </a:r>
            <a:r>
              <a:rPr lang="en-US" altLang="zh-CN" dirty="0">
                <a:sym typeface="+mn-ea"/>
              </a:rPr>
              <a:t>:AH</a:t>
            </a:r>
            <a:r>
              <a:rPr lang="zh-CN" altLang="en-US" dirty="0">
                <a:sym typeface="+mn-ea"/>
              </a:rPr>
              <a:t>或者</a:t>
            </a:r>
            <a:r>
              <a:rPr lang="en-US" altLang="zh-CN" dirty="0">
                <a:sym typeface="+mn-ea"/>
              </a:rPr>
              <a:t>ESP</a:t>
            </a:r>
            <a:endParaRPr lang="en-US" altLang="zh-CN" dirty="0"/>
          </a:p>
          <a:p>
            <a:pPr lvl="1" fontAlgn="auto">
              <a:lnSpc>
                <a:spcPct val="100000"/>
              </a:lnSpc>
            </a:pPr>
            <a:endParaRPr lang="en-US" altLang="zh-CN"/>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内容占位符 2"/>
          <p:cNvSpPr/>
          <p:nvPr>
            <p:ph idx="1"/>
          </p:nvPr>
        </p:nvSpPr>
        <p:spPr>
          <a:xfrm>
            <a:off x="957580" y="1252855"/>
            <a:ext cx="10515600" cy="4351338"/>
          </a:xfrm>
        </p:spPr>
        <p:txBody>
          <a:bodyPr/>
          <a:p>
            <a:r>
              <a:rPr lang="zh-CN" altLang="en-US"/>
              <a:t>如何获得</a:t>
            </a:r>
            <a:r>
              <a:rPr lang="en-US" altLang="zh-CN"/>
              <a:t>SA?</a:t>
            </a:r>
            <a:endParaRPr lang="en-US" altLang="zh-CN"/>
          </a:p>
          <a:p>
            <a:pPr lvl="1"/>
            <a:r>
              <a:rPr lang="zh-CN" altLang="en-US"/>
              <a:t>通过像</a:t>
            </a:r>
            <a:r>
              <a:rPr lang="en-US" altLang="zh-CN"/>
              <a:t>IKE</a:t>
            </a:r>
            <a:r>
              <a:rPr lang="zh-CN" altLang="en-US"/>
              <a:t>这样的密钥管理协议在通信对等方之间协商而生成</a:t>
            </a:r>
            <a:endParaRPr lang="zh-CN" altLang="en-US"/>
          </a:p>
          <a:p>
            <a:r>
              <a:rPr lang="zh-CN" altLang="en-US"/>
              <a:t>如何管理</a:t>
            </a:r>
            <a:r>
              <a:rPr lang="en-US" altLang="zh-CN"/>
              <a:t>SA?</a:t>
            </a:r>
            <a:endParaRPr lang="en-US" altLang="zh-CN"/>
          </a:p>
          <a:p>
            <a:pPr lvl="1"/>
            <a:r>
              <a:rPr lang="zh-CN" altLang="en-US"/>
              <a:t>当一个</a:t>
            </a:r>
            <a:r>
              <a:rPr lang="en-US" altLang="zh-CN"/>
              <a:t>SA</a:t>
            </a:r>
            <a:r>
              <a:rPr lang="zh-CN" altLang="en-US"/>
              <a:t>协商完成后，两个对等方都在其安全关联数据库</a:t>
            </a:r>
            <a:r>
              <a:rPr lang="en-US" altLang="zh-CN"/>
              <a:t>(SAD)</a:t>
            </a:r>
            <a:r>
              <a:rPr lang="zh-CN" altLang="en-US"/>
              <a:t>中存储该</a:t>
            </a:r>
            <a:r>
              <a:rPr lang="en-US" altLang="zh-CN"/>
              <a:t>SA</a:t>
            </a:r>
            <a:r>
              <a:rPr lang="zh-CN" altLang="en-US"/>
              <a:t>参数</a:t>
            </a:r>
            <a:endParaRPr lang="zh-CN" altLang="en-US"/>
          </a:p>
          <a:p>
            <a:pPr lvl="2"/>
            <a:r>
              <a:rPr lang="en-US" altLang="zh-CN" sz="2400">
                <a:solidFill>
                  <a:srgbClr val="FF0000"/>
                </a:solidFill>
              </a:rPr>
              <a:t>SAD</a:t>
            </a:r>
            <a:r>
              <a:rPr lang="zh-CN" altLang="en-US" sz="2400">
                <a:solidFill>
                  <a:srgbClr val="FF0000"/>
                </a:solidFill>
              </a:rPr>
              <a:t>用于存放</a:t>
            </a:r>
            <a:r>
              <a:rPr lang="en-US" altLang="zh-CN" sz="2400">
                <a:solidFill>
                  <a:srgbClr val="FF0000"/>
                </a:solidFill>
              </a:rPr>
              <a:t>SA</a:t>
            </a:r>
            <a:r>
              <a:rPr lang="zh-CN" altLang="en-US" sz="2400">
                <a:solidFill>
                  <a:srgbClr val="FF0000"/>
                </a:solidFill>
              </a:rPr>
              <a:t>的内容</a:t>
            </a:r>
            <a:endParaRPr lang="zh-CN" altLang="en-US" sz="2400">
              <a:solidFill>
                <a:srgbClr val="FF0000"/>
              </a:solidFill>
            </a:endParaRPr>
          </a:p>
          <a:p>
            <a:pPr lvl="1"/>
            <a:r>
              <a:rPr lang="en-US" altLang="zh-CN"/>
              <a:t>SA</a:t>
            </a:r>
            <a:r>
              <a:rPr lang="zh-CN" altLang="en-US"/>
              <a:t>具有一定的生存期，当过期时，要么中止该</a:t>
            </a:r>
            <a:r>
              <a:rPr lang="en-US" altLang="zh-CN"/>
              <a:t>SA</a:t>
            </a:r>
            <a:r>
              <a:rPr lang="zh-CN" altLang="en-US"/>
              <a:t>，要么用新的</a:t>
            </a:r>
            <a:r>
              <a:rPr lang="en-US" altLang="zh-CN"/>
              <a:t>SA</a:t>
            </a:r>
            <a:r>
              <a:rPr lang="zh-CN" altLang="en-US"/>
              <a:t>替换</a:t>
            </a:r>
            <a:endParaRPr lang="zh-CN" altLang="en-US"/>
          </a:p>
          <a:p>
            <a:pPr lvl="1"/>
            <a:r>
              <a:rPr lang="zh-CN" altLang="en-US"/>
              <a:t>终止的</a:t>
            </a:r>
            <a:r>
              <a:rPr lang="en-US" altLang="zh-CN"/>
              <a:t>SA</a:t>
            </a:r>
            <a:r>
              <a:rPr lang="zh-CN" altLang="en-US"/>
              <a:t>将从</a:t>
            </a:r>
            <a:r>
              <a:rPr lang="en-US" altLang="zh-CN"/>
              <a:t>SAD</a:t>
            </a:r>
            <a:r>
              <a:rPr lang="zh-CN" altLang="en-US"/>
              <a:t>中删除</a:t>
            </a:r>
            <a:endParaRPr lang="zh-CN"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内容占位符 2"/>
          <p:cNvSpPr/>
          <p:nvPr>
            <p:ph idx="1"/>
          </p:nvPr>
        </p:nvSpPr>
        <p:spPr>
          <a:xfrm>
            <a:off x="957580" y="1252855"/>
            <a:ext cx="10515600" cy="4351338"/>
          </a:xfrm>
        </p:spPr>
        <p:txBody>
          <a:bodyPr/>
          <a:p>
            <a:r>
              <a:rPr lang="en-US" altLang="zh-CN"/>
              <a:t>SA</a:t>
            </a:r>
            <a:r>
              <a:rPr lang="zh-CN" altLang="en-US"/>
              <a:t>和</a:t>
            </a:r>
            <a:r>
              <a:rPr lang="en-US" altLang="zh-CN"/>
              <a:t>SAD</a:t>
            </a:r>
            <a:r>
              <a:rPr lang="zh-CN" altLang="en-US"/>
              <a:t>之间的</a:t>
            </a:r>
            <a:r>
              <a:rPr lang="zh-CN" altLang="en-US"/>
              <a:t>关系</a:t>
            </a:r>
            <a:endParaRPr lang="zh-CN" altLang="en-US"/>
          </a:p>
          <a:p>
            <a:endParaRPr lang="zh-CN" altLang="en-US"/>
          </a:p>
        </p:txBody>
      </p:sp>
      <p:pic>
        <p:nvPicPr>
          <p:cNvPr id="2" name="图片 1"/>
          <p:cNvPicPr>
            <a:picLocks noChangeAspect="1"/>
          </p:cNvPicPr>
          <p:nvPr/>
        </p:nvPicPr>
        <p:blipFill>
          <a:blip r:embed="rId2"/>
          <a:stretch>
            <a:fillRect/>
          </a:stretch>
        </p:blipFill>
        <p:spPr>
          <a:xfrm>
            <a:off x="1785620" y="1752600"/>
            <a:ext cx="8860155" cy="439166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内容占位符 2"/>
          <p:cNvSpPr/>
          <p:nvPr>
            <p:ph idx="1"/>
          </p:nvPr>
        </p:nvSpPr>
        <p:spPr>
          <a:xfrm>
            <a:off x="957580" y="1252855"/>
            <a:ext cx="10515600" cy="4351338"/>
          </a:xfrm>
        </p:spPr>
        <p:txBody>
          <a:bodyPr/>
          <a:p>
            <a:r>
              <a:rPr lang="zh-CN" altLang="en-US"/>
              <a:t>安全策略和安全策略</a:t>
            </a:r>
            <a:r>
              <a:rPr lang="zh-CN" altLang="en-US"/>
              <a:t>数据库</a:t>
            </a:r>
            <a:endParaRPr lang="zh-CN" altLang="en-US"/>
          </a:p>
          <a:p>
            <a:r>
              <a:rPr lang="zh-CN" altLang="en-US"/>
              <a:t>安全策略</a:t>
            </a:r>
            <a:r>
              <a:rPr lang="en-US" altLang="zh-CN"/>
              <a:t>(SP)</a:t>
            </a:r>
            <a:endParaRPr lang="en-US" altLang="zh-CN"/>
          </a:p>
          <a:p>
            <a:pPr marL="457200" lvl="1" indent="0">
              <a:buNone/>
            </a:pPr>
            <a:r>
              <a:rPr lang="en-US" altLang="zh-CN"/>
              <a:t>-</a:t>
            </a:r>
            <a:r>
              <a:rPr lang="zh-CN" altLang="en-US"/>
              <a:t>指定用于到达或源自特定主机</a:t>
            </a:r>
            <a:r>
              <a:rPr lang="en-US" altLang="zh-CN"/>
              <a:t>/</a:t>
            </a:r>
            <a:r>
              <a:rPr lang="zh-CN" altLang="en-US"/>
              <a:t>网络的数据流的策略</a:t>
            </a:r>
            <a:endParaRPr lang="zh-CN" altLang="en-US"/>
          </a:p>
          <a:p>
            <a:pPr marL="0" indent="0">
              <a:buNone/>
            </a:pPr>
            <a:r>
              <a:rPr lang="zh-CN" altLang="en-US"/>
              <a:t>安全策略数据库</a:t>
            </a:r>
            <a:r>
              <a:rPr lang="en-US" altLang="zh-CN"/>
              <a:t>(SPD):</a:t>
            </a:r>
            <a:endParaRPr lang="en-US" altLang="zh-CN"/>
          </a:p>
          <a:p>
            <a:pPr marL="457200" lvl="1" indent="0">
              <a:buNone/>
            </a:pPr>
            <a:r>
              <a:rPr lang="en-US" altLang="zh-CN"/>
              <a:t>-</a:t>
            </a:r>
            <a:r>
              <a:rPr lang="zh-CN" altLang="en-US"/>
              <a:t>包含策略条目的有序列表</a:t>
            </a:r>
            <a:endParaRPr lang="zh-CN" altLang="en-US"/>
          </a:p>
          <a:p>
            <a:r>
              <a:rPr lang="zh-CN" altLang="en-US"/>
              <a:t>通过使用一个或多个</a:t>
            </a:r>
            <a:r>
              <a:rPr lang="zh-CN" altLang="en-US">
                <a:solidFill>
                  <a:srgbClr val="FF0000"/>
                </a:solidFill>
              </a:rPr>
              <a:t>选择符</a:t>
            </a:r>
            <a:r>
              <a:rPr lang="zh-CN" altLang="en-US"/>
              <a:t>来确定每个条目</a:t>
            </a:r>
            <a:endParaRPr lang="zh-CN" altLang="en-US"/>
          </a:p>
          <a:p>
            <a:endParaRPr lang="zh-CN" altLang="en-US"/>
          </a:p>
          <a:p>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3" name="内容占位符 2"/>
          <p:cNvSpPr/>
          <p:nvPr>
            <p:ph idx="1"/>
          </p:nvPr>
        </p:nvSpPr>
        <p:spPr>
          <a:xfrm>
            <a:off x="957580" y="1252855"/>
            <a:ext cx="10515600" cy="4351338"/>
          </a:xfrm>
        </p:spPr>
        <p:txBody>
          <a:bodyPr/>
          <a:p>
            <a:r>
              <a:rPr lang="zh-CN" altLang="en-US"/>
              <a:t>安全策略和安全策略</a:t>
            </a:r>
            <a:r>
              <a:rPr lang="zh-CN" altLang="en-US"/>
              <a:t>数据库</a:t>
            </a:r>
            <a:endParaRPr lang="zh-CN" altLang="en-US"/>
          </a:p>
          <a:p>
            <a:r>
              <a:rPr lang="zh-CN" altLang="en-US"/>
              <a:t>安全策略</a:t>
            </a:r>
            <a:r>
              <a:rPr lang="en-US" altLang="zh-CN"/>
              <a:t>(SP)</a:t>
            </a:r>
            <a:endParaRPr lang="en-US" altLang="zh-CN"/>
          </a:p>
          <a:p>
            <a:pPr marL="457200" lvl="1" indent="0">
              <a:buNone/>
            </a:pPr>
            <a:r>
              <a:rPr lang="en-US" altLang="zh-CN"/>
              <a:t>-</a:t>
            </a:r>
            <a:r>
              <a:rPr lang="zh-CN" altLang="en-US"/>
              <a:t>指定用于到达或源自特定主机</a:t>
            </a:r>
            <a:r>
              <a:rPr lang="en-US" altLang="zh-CN"/>
              <a:t>/</a:t>
            </a:r>
            <a:r>
              <a:rPr lang="zh-CN" altLang="en-US"/>
              <a:t>网络的数据流的策略</a:t>
            </a:r>
            <a:endParaRPr lang="zh-CN" altLang="en-US"/>
          </a:p>
          <a:p>
            <a:pPr marL="0" indent="0">
              <a:buNone/>
            </a:pPr>
            <a:r>
              <a:rPr lang="zh-CN" altLang="en-US"/>
              <a:t>安全策略数据库</a:t>
            </a:r>
            <a:r>
              <a:rPr lang="en-US" altLang="zh-CN"/>
              <a:t>(SPD):</a:t>
            </a:r>
            <a:endParaRPr lang="en-US" altLang="zh-CN"/>
          </a:p>
          <a:p>
            <a:pPr marL="457200" lvl="1" indent="0">
              <a:buNone/>
            </a:pPr>
            <a:r>
              <a:rPr lang="en-US" altLang="zh-CN"/>
              <a:t>-</a:t>
            </a:r>
            <a:r>
              <a:rPr lang="zh-CN" altLang="en-US"/>
              <a:t>包含策略条目的有序列表</a:t>
            </a:r>
            <a:endParaRPr lang="zh-CN" altLang="en-US"/>
          </a:p>
          <a:p>
            <a:r>
              <a:rPr lang="zh-CN" altLang="en-US"/>
              <a:t>通过使用一个或多个</a:t>
            </a:r>
            <a:r>
              <a:rPr lang="zh-CN" altLang="en-US">
                <a:solidFill>
                  <a:srgbClr val="FF0000"/>
                </a:solidFill>
              </a:rPr>
              <a:t>选择符</a:t>
            </a:r>
            <a:r>
              <a:rPr lang="zh-CN" altLang="en-US"/>
              <a:t>来确定每个条目</a:t>
            </a:r>
            <a:endParaRPr lang="zh-CN" altLang="en-US"/>
          </a:p>
          <a:p>
            <a:endParaRPr lang="zh-CN" altLang="en-US"/>
          </a:p>
          <a:p>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4" name="内容占位符 3"/>
          <p:cNvPicPr>
            <a:picLocks noChangeAspect="1"/>
          </p:cNvPicPr>
          <p:nvPr>
            <p:ph idx="1"/>
          </p:nvPr>
        </p:nvPicPr>
        <p:blipFill>
          <a:blip r:embed="rId2"/>
          <a:stretch>
            <a:fillRect/>
          </a:stretch>
        </p:blipFill>
        <p:spPr>
          <a:xfrm>
            <a:off x="991870" y="1242695"/>
            <a:ext cx="10208895" cy="48006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20.3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IP</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安全性策略</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pic>
        <p:nvPicPr>
          <p:cNvPr id="3" name="内容占位符 2"/>
          <p:cNvPicPr>
            <a:picLocks noChangeAspect="1"/>
          </p:cNvPicPr>
          <p:nvPr>
            <p:ph idx="1"/>
          </p:nvPr>
        </p:nvPicPr>
        <p:blipFill>
          <a:blip r:embed="rId2"/>
          <a:stretch>
            <a:fillRect/>
          </a:stretch>
        </p:blipFill>
        <p:spPr>
          <a:xfrm>
            <a:off x="1628140" y="1409065"/>
            <a:ext cx="8657590" cy="4625975"/>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20.6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密钥</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管理</a:t>
            </a:r>
            <a:endPar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endParaRPr>
          </a:p>
        </p:txBody>
      </p:sp>
      <p:pic>
        <p:nvPicPr>
          <p:cNvPr id="4" name="内容占位符 3"/>
          <p:cNvPicPr>
            <a:picLocks noChangeAspect="1"/>
          </p:cNvPicPr>
          <p:nvPr>
            <p:ph idx="1"/>
          </p:nvPr>
        </p:nvPicPr>
        <p:blipFill>
          <a:blip r:embed="rId2"/>
          <a:stretch>
            <a:fillRect/>
          </a:stretch>
        </p:blipFill>
        <p:spPr>
          <a:xfrm>
            <a:off x="2372360" y="1385570"/>
            <a:ext cx="7223760" cy="4523105"/>
          </a:xfrm>
          <a:prstGeom prst="rect">
            <a:avLst/>
          </a:prstGeom>
        </p:spPr>
      </p:pic>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20.6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密钥</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管理</a:t>
            </a:r>
            <a:endPar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endParaRPr>
          </a:p>
        </p:txBody>
      </p:sp>
      <p:sp>
        <p:nvSpPr>
          <p:cNvPr id="2" name="内容占位符 1"/>
          <p:cNvSpPr/>
          <p:nvPr>
            <p:ph idx="1"/>
          </p:nvPr>
        </p:nvSpPr>
        <p:spPr>
          <a:xfrm>
            <a:off x="957580" y="1252855"/>
            <a:ext cx="10515600" cy="4351338"/>
          </a:xfrm>
        </p:spPr>
        <p:txBody>
          <a:bodyPr>
            <a:normAutofit lnSpcReduction="10000"/>
          </a:bodyPr>
          <a:p>
            <a:pPr>
              <a:lnSpc>
                <a:spcPct val="110000"/>
              </a:lnSpc>
            </a:pPr>
            <a:r>
              <a:rPr lang="zh-CN" altLang="en-US"/>
              <a:t>密钥确定</a:t>
            </a:r>
            <a:r>
              <a:rPr lang="zh-CN" altLang="en-US"/>
              <a:t>协议</a:t>
            </a:r>
            <a:endParaRPr lang="zh-CN" altLang="en-US"/>
          </a:p>
          <a:p>
            <a:pPr lvl="1">
              <a:lnSpc>
                <a:spcPct val="110000"/>
              </a:lnSpc>
            </a:pPr>
            <a:r>
              <a:rPr lang="en-US" altLang="zh-CN"/>
              <a:t>IKE</a:t>
            </a:r>
            <a:r>
              <a:rPr lang="zh-CN" altLang="en-US"/>
              <a:t>密钥确定协议时</a:t>
            </a:r>
            <a:r>
              <a:rPr lang="en-US" altLang="zh-CN"/>
              <a:t>DH</a:t>
            </a:r>
            <a:r>
              <a:rPr lang="zh-CN" altLang="en-US"/>
              <a:t>密钥交换算法的</a:t>
            </a:r>
            <a:r>
              <a:rPr lang="zh-CN" altLang="en-US"/>
              <a:t>细化。</a:t>
            </a:r>
            <a:endParaRPr lang="zh-CN" altLang="en-US"/>
          </a:p>
          <a:p>
            <a:pPr lvl="1">
              <a:lnSpc>
                <a:spcPct val="110000"/>
              </a:lnSpc>
            </a:pPr>
            <a:r>
              <a:rPr lang="en-US" altLang="zh-CN"/>
              <a:t>DH</a:t>
            </a:r>
            <a:r>
              <a:rPr lang="zh-CN" altLang="en-US"/>
              <a:t>密钥交换易受到中间人</a:t>
            </a:r>
            <a:r>
              <a:rPr lang="zh-CN" altLang="en-US"/>
              <a:t>攻击。</a:t>
            </a:r>
            <a:endParaRPr lang="zh-CN" altLang="en-US"/>
          </a:p>
          <a:p>
            <a:pPr lvl="0">
              <a:lnSpc>
                <a:spcPct val="110000"/>
              </a:lnSpc>
            </a:pPr>
            <a:r>
              <a:rPr lang="en-US" altLang="zh-CN"/>
              <a:t>IKE</a:t>
            </a:r>
            <a:r>
              <a:rPr lang="zh-CN" altLang="en-US"/>
              <a:t>密钥确定</a:t>
            </a:r>
            <a:r>
              <a:rPr lang="zh-CN" altLang="en-US"/>
              <a:t>特性：</a:t>
            </a:r>
            <a:endParaRPr lang="zh-CN" altLang="en-US"/>
          </a:p>
          <a:p>
            <a:pPr lvl="1">
              <a:lnSpc>
                <a:spcPct val="110000"/>
              </a:lnSpc>
            </a:pPr>
            <a:r>
              <a:rPr lang="zh-CN" altLang="en-US"/>
              <a:t>可以防止阻塞</a:t>
            </a:r>
            <a:r>
              <a:rPr lang="zh-CN" altLang="en-US"/>
              <a:t>攻击</a:t>
            </a:r>
            <a:endParaRPr lang="zh-CN" altLang="en-US"/>
          </a:p>
          <a:p>
            <a:pPr lvl="1">
              <a:lnSpc>
                <a:spcPct val="110000"/>
              </a:lnSpc>
            </a:pPr>
            <a:r>
              <a:rPr lang="zh-CN" altLang="en-US"/>
              <a:t>双方可以协商得到一个组，本质上与</a:t>
            </a:r>
            <a:r>
              <a:rPr lang="en-US" altLang="zh-CN"/>
              <a:t>DH</a:t>
            </a:r>
            <a:r>
              <a:rPr lang="zh-CN" altLang="en-US"/>
              <a:t>密钥交换的全局参数</a:t>
            </a:r>
            <a:r>
              <a:rPr lang="zh-CN" altLang="en-US"/>
              <a:t>一样</a:t>
            </a:r>
            <a:endParaRPr lang="zh-CN" altLang="en-US"/>
          </a:p>
          <a:p>
            <a:pPr lvl="1">
              <a:lnSpc>
                <a:spcPct val="110000"/>
              </a:lnSpc>
            </a:pPr>
            <a:r>
              <a:rPr lang="zh-CN" altLang="en-US"/>
              <a:t>使用临时交互号防止重放</a:t>
            </a:r>
            <a:r>
              <a:rPr lang="zh-CN" altLang="en-US"/>
              <a:t>攻击</a:t>
            </a:r>
            <a:endParaRPr lang="zh-CN" altLang="en-US"/>
          </a:p>
          <a:p>
            <a:pPr lvl="1">
              <a:lnSpc>
                <a:spcPct val="110000"/>
              </a:lnSpc>
            </a:pPr>
            <a:r>
              <a:rPr lang="zh-CN" altLang="en-US"/>
              <a:t>可以交换</a:t>
            </a:r>
            <a:r>
              <a:rPr lang="en-US" altLang="zh-CN"/>
              <a:t>DH</a:t>
            </a:r>
            <a:r>
              <a:rPr lang="zh-CN" altLang="en-US"/>
              <a:t>的</a:t>
            </a:r>
            <a:r>
              <a:rPr lang="zh-CN" altLang="en-US"/>
              <a:t>公钥值</a:t>
            </a:r>
            <a:endParaRPr lang="zh-CN" altLang="en-US"/>
          </a:p>
          <a:p>
            <a:pPr lvl="1">
              <a:lnSpc>
                <a:spcPct val="110000"/>
              </a:lnSpc>
            </a:pPr>
            <a:r>
              <a:rPr lang="zh-CN" altLang="en-US"/>
              <a:t>对</a:t>
            </a:r>
            <a:r>
              <a:rPr lang="en-US" altLang="zh-CN"/>
              <a:t>DH</a:t>
            </a:r>
            <a:r>
              <a:rPr lang="zh-CN" altLang="en-US"/>
              <a:t>交换进行认证，防止中间人</a:t>
            </a:r>
            <a:r>
              <a:rPr lang="zh-CN" altLang="en-US"/>
              <a:t>攻击</a:t>
            </a:r>
            <a:endParaRPr lang="zh-CN" altLang="en-US"/>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20.6 IPSec</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密钥</a:t>
            </a:r>
            <a:r>
              <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管理</a:t>
            </a:r>
            <a:endParaRPr lang="zh-CN" altLang="en-US"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endParaRPr>
          </a:p>
        </p:txBody>
      </p:sp>
      <p:sp>
        <p:nvSpPr>
          <p:cNvPr id="2" name="内容占位符 1"/>
          <p:cNvSpPr/>
          <p:nvPr>
            <p:ph idx="1"/>
          </p:nvPr>
        </p:nvSpPr>
        <p:spPr>
          <a:xfrm>
            <a:off x="957580" y="1252855"/>
            <a:ext cx="10515600" cy="4351338"/>
          </a:xfrm>
        </p:spPr>
        <p:txBody>
          <a:bodyPr>
            <a:normAutofit/>
          </a:bodyPr>
          <a:p>
            <a:pPr>
              <a:lnSpc>
                <a:spcPct val="110000"/>
              </a:lnSpc>
            </a:pPr>
            <a:r>
              <a:rPr lang="en-US" altLang="zh-CN"/>
              <a:t>IKE</a:t>
            </a:r>
            <a:r>
              <a:rPr lang="zh-CN" altLang="en-US"/>
              <a:t>密钥确定使用的三种认证</a:t>
            </a:r>
            <a:r>
              <a:rPr lang="zh-CN" altLang="en-US"/>
              <a:t>方法</a:t>
            </a:r>
            <a:endParaRPr lang="zh-CN" altLang="en-US"/>
          </a:p>
          <a:p>
            <a:pPr lvl="1">
              <a:lnSpc>
                <a:spcPct val="110000"/>
              </a:lnSpc>
            </a:pPr>
            <a:r>
              <a:rPr lang="zh-CN" altLang="en-US"/>
              <a:t>数字签名算法</a:t>
            </a:r>
            <a:endParaRPr lang="zh-CN" altLang="en-US"/>
          </a:p>
          <a:p>
            <a:pPr lvl="1">
              <a:lnSpc>
                <a:spcPct val="110000"/>
              </a:lnSpc>
            </a:pPr>
            <a:r>
              <a:rPr lang="zh-CN" altLang="en-US"/>
              <a:t>公钥加密算法</a:t>
            </a:r>
            <a:endParaRPr lang="zh-CN" altLang="en-US"/>
          </a:p>
          <a:p>
            <a:pPr lvl="1">
              <a:lnSpc>
                <a:spcPct val="110000"/>
              </a:lnSpc>
            </a:pPr>
            <a:r>
              <a:rPr lang="zh-CN" altLang="en-US"/>
              <a:t>对称密钥加密</a:t>
            </a:r>
            <a:endParaRPr lang="en-US" altLang="zh-CN"/>
          </a:p>
          <a:p>
            <a:pPr lvl="1">
              <a:lnSpc>
                <a:spcPct val="110000"/>
              </a:lnSpc>
            </a:pPr>
            <a:endParaRPr lang="zh-CN" altLang="en-US"/>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commondata" val="eyJoZGlkIjoiZTcwZjg3OGM5MWVhNmI0ZmM4OGQ1YjQxNGU4NWYzMj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3311</Words>
  <Application>WPS 演示</Application>
  <PresentationFormat>宽屏</PresentationFormat>
  <Paragraphs>251</Paragraphs>
  <Slides>39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39</vt:i4>
      </vt:variant>
    </vt:vector>
  </HeadingPairs>
  <TitlesOfParts>
    <vt:vector size="51" baseType="lpstr">
      <vt:lpstr>Arial</vt:lpstr>
      <vt:lpstr>宋体</vt:lpstr>
      <vt:lpstr>Wingdings</vt:lpstr>
      <vt:lpstr>Calibri</vt:lpstr>
      <vt:lpstr>Calibri</vt:lpstr>
      <vt:lpstr>微软雅黑</vt:lpstr>
      <vt:lpstr>仿宋</vt:lpstr>
      <vt:lpstr>Times New Roman</vt:lpstr>
      <vt:lpstr>Wingdings</vt:lpstr>
      <vt:lpstr>Arial Unicode MS</vt:lpstr>
      <vt:lpstr>Impact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67</cp:revision>
  <dcterms:created xsi:type="dcterms:W3CDTF">1900-01-01T00:00:00Z</dcterms:created>
  <dcterms:modified xsi:type="dcterms:W3CDTF">2025-06-17T01:56:13Z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2052-12.1.0.21541</vt:lpwstr>
  </property>
</Properties>
</file>