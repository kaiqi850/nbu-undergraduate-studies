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85" r:id="rId3"/>
    <p:sldId id="386" r:id="rId5"/>
    <p:sldId id="387" r:id="rId6"/>
    <p:sldId id="388"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5" r:id="rId35"/>
    <p:sldId id="466" r:id="rId36"/>
    <p:sldId id="287" r:id="rId37"/>
    <p:sldId id="288" r:id="rId38"/>
    <p:sldId id="289" r:id="rId39"/>
    <p:sldId id="290" r:id="rId40"/>
    <p:sldId id="291" r:id="rId41"/>
    <p:sldId id="292" r:id="rId42"/>
    <p:sldId id="343" r:id="rId43"/>
    <p:sldId id="301" r:id="rId44"/>
    <p:sldId id="295" r:id="rId45"/>
    <p:sldId id="302" r:id="rId46"/>
    <p:sldId id="296" r:id="rId47"/>
    <p:sldId id="305" r:id="rId48"/>
    <p:sldId id="307" r:id="rId49"/>
    <p:sldId id="306" r:id="rId50"/>
    <p:sldId id="309" r:id="rId51"/>
    <p:sldId id="470" r:id="rId52"/>
    <p:sldId id="471" r:id="rId53"/>
    <p:sldId id="308"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6" r:id="rId69"/>
    <p:sldId id="325" r:id="rId70"/>
    <p:sldId id="327" r:id="rId71"/>
    <p:sldId id="328" r:id="rId72"/>
    <p:sldId id="329" r:id="rId73"/>
    <p:sldId id="330" r:id="rId74"/>
    <p:sldId id="331" r:id="rId75"/>
    <p:sldId id="332" r:id="rId76"/>
    <p:sldId id="333" r:id="rId77"/>
    <p:sldId id="335" r:id="rId78"/>
    <p:sldId id="334" r:id="rId79"/>
    <p:sldId id="336" r:id="rId80"/>
    <p:sldId id="337" r:id="rId81"/>
    <p:sldId id="338" r:id="rId82"/>
    <p:sldId id="467" r:id="rId83"/>
    <p:sldId id="339" r:id="rId84"/>
    <p:sldId id="468" r:id="rId85"/>
    <p:sldId id="469" r:id="rId86"/>
    <p:sldId id="342" r:id="rId87"/>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3.xml"/><Relationship Id="rId90" Type="http://schemas.openxmlformats.org/officeDocument/2006/relationships/tableStyles" Target="tableStyles.xml"/><Relationship Id="rId9" Type="http://schemas.openxmlformats.org/officeDocument/2006/relationships/slide" Target="slides/slide6.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为什么需要工作模式呢？</a:t>
            </a:r>
            <a:endParaRPr lang="zh-CN" altLang="en-US"/>
          </a:p>
          <a:p>
            <a:r>
              <a:rPr lang="zh-CN" altLang="en-US"/>
              <a:t>因为分组密码在工作的时候，分组的长度是固定的，但是实际中被加密的消息的数据量是不确定的。</a:t>
            </a:r>
            <a:endParaRPr lang="zh-CN" altLang="en-US"/>
          </a:p>
          <a:p>
            <a:r>
              <a:rPr lang="zh-CN" altLang="en-US"/>
              <a:t>这些被加密消息的数据格式也是多种多样的，所以呢，就需要使用分组密码的工作模式。</a:t>
            </a:r>
            <a:endParaRPr lang="zh-CN" altLang="en-US"/>
          </a:p>
          <a:p>
            <a:endParaRPr lang="zh-CN" altLang="en-US"/>
          </a:p>
          <a:p>
            <a:r>
              <a:rPr lang="zh-CN" altLang="en-US"/>
              <a:t>根据被加密消息，不同的数据格式和安全要求用一个具体的分组密码算法，作为基础结构去构造这个分组密码系统。</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分组密码的主要工作服模式；</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电码的模式就是直接利用分组密码算法对铭文进行加密的工作模式。</a:t>
            </a:r>
            <a:endParaRPr lang="zh-CN" altLang="en-US"/>
          </a:p>
          <a:p>
            <a:r>
              <a:rPr lang="zh-CN" altLang="en-US"/>
              <a:t>就直接将我们的明文分成P</a:t>
            </a:r>
            <a:r>
              <a:rPr lang="en-US" altLang="zh-CN"/>
              <a:t>1</a:t>
            </a:r>
            <a:r>
              <a:rPr lang="zh-CN" altLang="en-US"/>
              <a:t> P</a:t>
            </a:r>
            <a:r>
              <a:rPr lang="en-US" altLang="zh-CN"/>
              <a:t>2</a:t>
            </a:r>
            <a:r>
              <a:rPr lang="zh-CN" altLang="en-US"/>
              <a:t>到P</a:t>
            </a:r>
            <a:r>
              <a:rPr lang="en-US" altLang="zh-CN"/>
              <a:t>n</a:t>
            </a:r>
            <a:r>
              <a:rPr lang="zh-CN" altLang="en-US"/>
              <a:t>个分组，然后呢使用我们的分组密码算法使用相同的密钥去进行加密。</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为了克服电码本工作模式的缺陷，我们希望在进行分组密码工作模式的设计师可以当存在相同的明文时出现不同的明文分组</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下面我们给大家介绍第三种工作模式</a:t>
            </a:r>
            <a:endParaRPr lang="zh-CN" altLang="en-US"/>
          </a:p>
          <a:p>
            <a:r>
              <a:rPr lang="zh-CN" altLang="en-US">
                <a:sym typeface="+mn-ea"/>
              </a:rPr>
              <a:t>叫做</a:t>
            </a:r>
            <a:r>
              <a:rPr lang="zh-CN" altLang="en-US">
                <a:sym typeface="+mn-ea"/>
              </a:rPr>
              <a:t>密码反馈模式</a:t>
            </a:r>
            <a:endParaRPr lang="zh-CN" altLang="en-US"/>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前两种模式都是分组密码的加密解密工作模式</a:t>
            </a:r>
            <a:endParaRPr lang="zh-CN" altLang="en-US"/>
          </a:p>
          <a:p>
            <a:r>
              <a:rPr lang="zh-CN" altLang="en-US">
                <a:sym typeface="+mn-ea"/>
              </a:rPr>
              <a:t>那么除了分组密码之外，还有序列密码。</a:t>
            </a:r>
            <a:endParaRPr lang="zh-CN" altLang="en-US"/>
          </a:p>
          <a:p>
            <a:r>
              <a:rPr lang="zh-CN" altLang="en-US">
                <a:sym typeface="+mn-ea"/>
              </a:rPr>
              <a:t>什么叫序列密码？就是产生第一个密钥序列，</a:t>
            </a:r>
            <a:r>
              <a:rPr lang="zh-CN" altLang="en-US"/>
              <a:t>把明文和密文和密钥都表示成二进制序列</a:t>
            </a:r>
            <a:endParaRPr lang="zh-CN" altLang="en-US"/>
          </a:p>
          <a:p>
            <a:r>
              <a:rPr lang="zh-CN" altLang="en-US"/>
              <a:t>把密钥和铭文摩尔相加，这种加密方式就是序列密码。</a:t>
            </a:r>
            <a:endParaRPr lang="zh-CN" altLang="en-US"/>
          </a:p>
          <a:p>
            <a:r>
              <a:rPr lang="zh-CN" altLang="en-US"/>
              <a:t>那么现在我们在讲的都是分组密码，分组密码能否转化成序列密码，这种</a:t>
            </a:r>
            <a:r>
              <a:rPr lang="en-US" altLang="zh-CN"/>
              <a:t>CFB</a:t>
            </a:r>
            <a:r>
              <a:rPr lang="zh-CN" altLang="en-US"/>
              <a:t>模式就提供了这样一种可能性，把分组密码转化成一种密钥序列产生器。因此就能利用分组密码实现序列密码的工作再加密。</a:t>
            </a:r>
            <a:endParaRPr lang="zh-CN" altLang="en-US"/>
          </a:p>
          <a:p>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我们的方案是采用什么呢，采用这样一个工作模式。</a:t>
            </a:r>
            <a:endParaRPr lang="zh-CN" altLang="en-US"/>
          </a:p>
          <a:p>
            <a:r>
              <a:rPr lang="en-US" altLang="zh-CN"/>
              <a:t>E</a:t>
            </a:r>
            <a:r>
              <a:rPr lang="zh-CN" altLang="en-US"/>
              <a:t>是分组密码，而且是强的分组密码，比如</a:t>
            </a:r>
            <a:r>
              <a:rPr lang="en-US" altLang="zh-CN"/>
              <a:t>AES</a:t>
            </a:r>
            <a:r>
              <a:rPr lang="zh-CN" altLang="en-US"/>
              <a:t>、</a:t>
            </a:r>
            <a:r>
              <a:rPr lang="en-US" altLang="zh-CN"/>
              <a:t>DES</a:t>
            </a:r>
            <a:r>
              <a:rPr lang="zh-CN" altLang="en-US"/>
              <a:t>。</a:t>
            </a:r>
            <a:endParaRPr lang="zh-CN" altLang="en-US"/>
          </a:p>
          <a:p>
            <a:r>
              <a:rPr lang="zh-CN" altLang="en-US"/>
              <a:t>但是通过使用</a:t>
            </a:r>
            <a:r>
              <a:rPr lang="en-US" altLang="zh-CN"/>
              <a:t>CFB</a:t>
            </a:r>
            <a:r>
              <a:rPr lang="zh-CN" altLang="en-US"/>
              <a:t>反馈模式，我们可以把这个工作流程转换成序列加密</a:t>
            </a:r>
            <a:r>
              <a:rPr lang="zh-CN" altLang="en-US"/>
              <a:t>方式。</a:t>
            </a:r>
            <a:endParaRPr lang="zh-CN" altLang="en-US"/>
          </a:p>
          <a:p>
            <a:r>
              <a:rPr lang="zh-CN" altLang="en-US"/>
              <a:t>怎么把这个分组</a:t>
            </a:r>
            <a:r>
              <a:rPr lang="zh-CN" altLang="en-US"/>
              <a:t>密码转换成一个序列密码？首先用了一个移位寄存器</a:t>
            </a:r>
            <a:endParaRPr lang="zh-CN" altLang="en-US"/>
          </a:p>
          <a:p>
            <a:r>
              <a:rPr lang="zh-CN" altLang="en-US"/>
              <a:t>假如</a:t>
            </a:r>
            <a:r>
              <a:rPr lang="en-US" altLang="zh-CN"/>
              <a:t>E</a:t>
            </a:r>
            <a:r>
              <a:rPr lang="zh-CN" altLang="en-US"/>
              <a:t>选择的分组密码算法是</a:t>
            </a:r>
            <a:r>
              <a:rPr lang="en-US" altLang="zh-CN"/>
              <a:t>DES</a:t>
            </a:r>
            <a:r>
              <a:rPr lang="zh-CN" altLang="en-US"/>
              <a:t>的话，要用64位的移位寄存器，因为</a:t>
            </a:r>
            <a:r>
              <a:rPr lang="en-US" altLang="zh-CN"/>
              <a:t>DES</a:t>
            </a:r>
            <a:r>
              <a:rPr lang="zh-CN" altLang="en-US"/>
              <a:t>的</a:t>
            </a:r>
            <a:r>
              <a:rPr lang="zh-CN" altLang="en-US"/>
              <a:t>明文的分组长度64位。</a:t>
            </a:r>
            <a:endParaRPr lang="zh-CN" altLang="en-US"/>
          </a:p>
          <a:p>
            <a:r>
              <a:rPr lang="zh-CN" altLang="en-US"/>
              <a:t>选用一个64位的一位寄存器，中间有一个随机数的种子，初始化的时候把它移进去</a:t>
            </a:r>
            <a:endParaRPr lang="zh-CN" altLang="en-US"/>
          </a:p>
          <a:p>
            <a:r>
              <a:rPr lang="zh-CN" altLang="en-US"/>
              <a:t>也就是说这个</a:t>
            </a:r>
            <a:r>
              <a:rPr lang="zh-CN" altLang="en-US"/>
              <a:t>移位寄存器，最开始的时候是一个随机数r0。选一个密钥对这个r0进行加密</a:t>
            </a:r>
            <a:endParaRPr lang="zh-CN" altLang="en-US"/>
          </a:p>
          <a:p>
            <a:r>
              <a:rPr lang="zh-CN" altLang="en-US"/>
              <a:t>加密结果产生64位的密文，把这64位密文的后</a:t>
            </a:r>
            <a:r>
              <a:rPr lang="en-US" altLang="zh-CN"/>
              <a:t>S</a:t>
            </a:r>
            <a:r>
              <a:rPr lang="zh-CN" altLang="en-US"/>
              <a:t>位跟明文的</a:t>
            </a:r>
            <a:r>
              <a:rPr lang="en-US" altLang="zh-CN"/>
              <a:t>S</a:t>
            </a:r>
            <a:r>
              <a:rPr lang="zh-CN" altLang="en-US"/>
              <a:t>位做异或（序列密码）。随后，再把计算后的密文反馈到移位寄存器</a:t>
            </a:r>
            <a:r>
              <a:rPr lang="zh-CN" altLang="en-US"/>
              <a:t>中。</a:t>
            </a:r>
            <a:endParaRPr lang="zh-CN" altLang="en-US"/>
          </a:p>
          <a:p>
            <a:r>
              <a:rPr lang="zh-CN" altLang="en-US"/>
              <a:t>他把原来的r0向这边移</a:t>
            </a:r>
            <a:r>
              <a:rPr lang="en-US" altLang="zh-CN"/>
              <a:t>S</a:t>
            </a:r>
            <a:r>
              <a:rPr lang="zh-CN" altLang="en-US"/>
              <a:t>位，把这个地方腾出来了，然后密文的</a:t>
            </a:r>
            <a:r>
              <a:rPr lang="en-US" altLang="zh-CN"/>
              <a:t>S</a:t>
            </a:r>
            <a:r>
              <a:rPr lang="zh-CN" altLang="en-US"/>
              <a:t>位填到这了，这个密文也是加密过的，那么原来r0是个随机数，然后填过来也是随机的，仍然保持这个内容的随机性，再一次加密，再加上又取出s位来，如此继续</a:t>
            </a:r>
            <a:r>
              <a:rPr lang="zh-CN" altLang="en-US"/>
              <a:t>异或，这样就把一个分组密码，把它变成一个序列名码了是吧</a:t>
            </a:r>
            <a:endParaRPr lang="zh-CN" altLang="en-US"/>
          </a:p>
          <a:p>
            <a:r>
              <a:rPr lang="zh-CN" altLang="en-US"/>
              <a:t>就是这个密码反馈</a:t>
            </a:r>
            <a:r>
              <a:rPr lang="zh-CN" altLang="en-US"/>
              <a:t>模式</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解密的时候如果密码错了一位，这个时候呢不仅影响相应的明文错，而且这个明文的错误也会反馈到密文的错误</a:t>
            </a:r>
            <a:r>
              <a:rPr lang="zh-CN" altLang="en-US"/>
              <a:t>中去，也反馈到这个因为计算器当中去，导致后续的整个都错。</a:t>
            </a:r>
            <a:endParaRPr lang="zh-CN" altLang="en-US"/>
          </a:p>
          <a:p>
            <a:r>
              <a:rPr lang="zh-CN" altLang="en-US"/>
              <a:t>解密这个概率大，传输错误概率大，为什么解密的密</a:t>
            </a:r>
            <a:r>
              <a:rPr lang="zh-CN" altLang="en-US"/>
              <a:t>文错误是通过信道传输的，信道是有干扰的，因此解密的错误传播的概率大。加密的是存在，但是加密的时候概率小，这种情况概率比较大</a:t>
            </a:r>
            <a:endParaRPr lang="zh-CN" altLang="en-US"/>
          </a:p>
          <a:p>
            <a:r>
              <a:rPr lang="zh-CN" altLang="en-US"/>
              <a:t>因为他这具有错误传播无界这个特点，所以它有利于，它有利于检测认证你的密文数据，是否被别人篡改了是不是有错误。如果有</a:t>
            </a:r>
            <a:r>
              <a:rPr lang="zh-CN" altLang="en-US"/>
              <a:t>错误容易发现但是也有麻烦</a:t>
            </a:r>
            <a:endParaRPr lang="zh-CN" altLang="en-US"/>
          </a:p>
          <a:p>
            <a:r>
              <a:rPr lang="zh-CN" altLang="en-US"/>
              <a:t>你如果用它的加密你的磁盘文件，如果错了一个比特，那后边全错，这也是对很多工作模式方式情况下，我们不希望他错误传播</a:t>
            </a:r>
            <a:r>
              <a:rPr lang="zh-CN" altLang="en-US"/>
              <a:t>无界。</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sym typeface="+mn-ea"/>
              </a:rPr>
              <a:t>下面我们给大家介绍第</a:t>
            </a:r>
            <a:r>
              <a:rPr lang="zh-CN" altLang="en-US">
                <a:sym typeface="+mn-ea"/>
              </a:rPr>
              <a:t>四种工作模式</a:t>
            </a:r>
            <a:endParaRPr lang="zh-CN" altLang="en-US"/>
          </a:p>
          <a:p>
            <a:r>
              <a:rPr lang="zh-CN" altLang="en-US">
                <a:sym typeface="+mn-ea"/>
              </a:rPr>
              <a:t>叫做输出反馈模式</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输出反馈模式的结构，其实类似于CFB结构，但是他反馈的内容是</a:t>
            </a:r>
            <a:r>
              <a:rPr lang="en-US" altLang="zh-CN"/>
              <a:t>d</a:t>
            </a:r>
            <a:r>
              <a:rPr lang="zh-CN" altLang="en-US"/>
              <a:t>DS算法中加密函数的输出</a:t>
            </a:r>
            <a:r>
              <a:rPr lang="en-US" altLang="zh-CN"/>
              <a:t>.</a:t>
            </a:r>
            <a:endParaRPr lang="en-US" altLang="zh-CN"/>
          </a:p>
          <a:p>
            <a:r>
              <a:rPr lang="zh-CN" altLang="en-US">
                <a:sym typeface="+mn-ea"/>
              </a:rPr>
              <a:t>我们的方案是采用什么呢，采用这样一个工作模式。</a:t>
            </a:r>
            <a:endParaRPr lang="zh-CN" altLang="en-US"/>
          </a:p>
          <a:p>
            <a:r>
              <a:rPr lang="en-US" altLang="zh-CN">
                <a:sym typeface="+mn-ea"/>
              </a:rPr>
              <a:t>E</a:t>
            </a:r>
            <a:r>
              <a:rPr lang="zh-CN" altLang="en-US">
                <a:sym typeface="+mn-ea"/>
              </a:rPr>
              <a:t>是分组密码，而且是强的分组密码，比如</a:t>
            </a:r>
            <a:r>
              <a:rPr lang="en-US" altLang="zh-CN">
                <a:sym typeface="+mn-ea"/>
              </a:rPr>
              <a:t>AES</a:t>
            </a:r>
            <a:r>
              <a:rPr lang="zh-CN" altLang="en-US">
                <a:sym typeface="+mn-ea"/>
              </a:rPr>
              <a:t>、</a:t>
            </a:r>
            <a:r>
              <a:rPr lang="en-US" altLang="zh-CN">
                <a:sym typeface="+mn-ea"/>
              </a:rPr>
              <a:t>DES</a:t>
            </a:r>
            <a:r>
              <a:rPr lang="zh-CN" altLang="en-US">
                <a:sym typeface="+mn-ea"/>
              </a:rPr>
              <a:t>。</a:t>
            </a:r>
            <a:endParaRPr lang="zh-CN" altLang="en-US"/>
          </a:p>
          <a:p>
            <a:r>
              <a:rPr lang="zh-CN" altLang="en-US">
                <a:sym typeface="+mn-ea"/>
              </a:rPr>
              <a:t>但是通过使用</a:t>
            </a:r>
            <a:r>
              <a:rPr lang="en-US" altLang="zh-CN">
                <a:sym typeface="+mn-ea"/>
              </a:rPr>
              <a:t>CFB</a:t>
            </a:r>
            <a:r>
              <a:rPr lang="zh-CN" altLang="en-US">
                <a:sym typeface="+mn-ea"/>
              </a:rPr>
              <a:t>反馈模式，我们可以把这个工作流程转换成序列加密方式。</a:t>
            </a:r>
            <a:endParaRPr lang="zh-CN" altLang="en-US"/>
          </a:p>
          <a:p>
            <a:r>
              <a:rPr lang="zh-CN" altLang="en-US">
                <a:sym typeface="+mn-ea"/>
              </a:rPr>
              <a:t>怎么把这个分组密码转换成一个序列密码？首先用了一个移位寄存器</a:t>
            </a:r>
            <a:endParaRPr lang="zh-CN" altLang="en-US"/>
          </a:p>
          <a:p>
            <a:r>
              <a:rPr lang="zh-CN" altLang="en-US">
                <a:sym typeface="+mn-ea"/>
              </a:rPr>
              <a:t>假如</a:t>
            </a:r>
            <a:r>
              <a:rPr lang="en-US" altLang="zh-CN">
                <a:sym typeface="+mn-ea"/>
              </a:rPr>
              <a:t>E</a:t>
            </a:r>
            <a:r>
              <a:rPr lang="zh-CN" altLang="en-US">
                <a:sym typeface="+mn-ea"/>
              </a:rPr>
              <a:t>选择的分组密码算法是</a:t>
            </a:r>
            <a:r>
              <a:rPr lang="en-US" altLang="zh-CN">
                <a:sym typeface="+mn-ea"/>
              </a:rPr>
              <a:t>DES</a:t>
            </a:r>
            <a:r>
              <a:rPr lang="zh-CN" altLang="en-US">
                <a:sym typeface="+mn-ea"/>
              </a:rPr>
              <a:t>的话，要用64位的移位寄存器，因为</a:t>
            </a:r>
            <a:r>
              <a:rPr lang="en-US" altLang="zh-CN">
                <a:sym typeface="+mn-ea"/>
              </a:rPr>
              <a:t>DES</a:t>
            </a:r>
            <a:r>
              <a:rPr lang="zh-CN" altLang="en-US">
                <a:sym typeface="+mn-ea"/>
              </a:rPr>
              <a:t>的明文的分组长度64位。</a:t>
            </a:r>
            <a:endParaRPr lang="zh-CN" altLang="en-US"/>
          </a:p>
          <a:p>
            <a:r>
              <a:rPr lang="zh-CN" altLang="en-US">
                <a:sym typeface="+mn-ea"/>
              </a:rPr>
              <a:t>选用一个64位的一位寄存器，中间有一个随机数的种子，初始化的时候把它移进去</a:t>
            </a:r>
            <a:endParaRPr lang="zh-CN" altLang="en-US"/>
          </a:p>
          <a:p>
            <a:r>
              <a:rPr lang="zh-CN" altLang="en-US">
                <a:sym typeface="+mn-ea"/>
              </a:rPr>
              <a:t>也就是说这个移位寄存器，最开始的时候是一个随机数r0。选一个密钥对这个r0进行加密</a:t>
            </a:r>
            <a:endParaRPr lang="zh-CN" altLang="en-US"/>
          </a:p>
          <a:p>
            <a:r>
              <a:rPr lang="zh-CN" altLang="en-US">
                <a:sym typeface="+mn-ea"/>
              </a:rPr>
              <a:t>加密结果产生64位的密文，把这64位密文的后</a:t>
            </a:r>
            <a:r>
              <a:rPr lang="en-US" altLang="zh-CN">
                <a:sym typeface="+mn-ea"/>
              </a:rPr>
              <a:t>S</a:t>
            </a:r>
            <a:r>
              <a:rPr lang="zh-CN" altLang="en-US">
                <a:sym typeface="+mn-ea"/>
              </a:rPr>
              <a:t>位跟明文的</a:t>
            </a:r>
            <a:r>
              <a:rPr lang="en-US" altLang="zh-CN">
                <a:sym typeface="+mn-ea"/>
              </a:rPr>
              <a:t>S</a:t>
            </a:r>
            <a:r>
              <a:rPr lang="zh-CN" altLang="en-US">
                <a:sym typeface="+mn-ea"/>
              </a:rPr>
              <a:t>位做异或（序列密码）。随后，再把计算后的密文反馈到移位寄存器中。</a:t>
            </a:r>
            <a:endParaRPr lang="zh-CN" altLang="en-US"/>
          </a:p>
          <a:p>
            <a:r>
              <a:rPr lang="zh-CN" altLang="en-US">
                <a:sym typeface="+mn-ea"/>
              </a:rPr>
              <a:t>他把原来的r0向这边移</a:t>
            </a:r>
            <a:r>
              <a:rPr lang="en-US" altLang="zh-CN">
                <a:sym typeface="+mn-ea"/>
              </a:rPr>
              <a:t>S</a:t>
            </a:r>
            <a:r>
              <a:rPr lang="zh-CN" altLang="en-US">
                <a:sym typeface="+mn-ea"/>
              </a:rPr>
              <a:t>位，把这个地方腾出来了，然后密文的</a:t>
            </a:r>
            <a:r>
              <a:rPr lang="en-US" altLang="zh-CN">
                <a:sym typeface="+mn-ea"/>
              </a:rPr>
              <a:t>S</a:t>
            </a:r>
            <a:r>
              <a:rPr lang="zh-CN" altLang="en-US">
                <a:sym typeface="+mn-ea"/>
              </a:rPr>
              <a:t>位填到这了，这个密文也是加密过的，那么原来r0是个随机数，然后填过来也是随机的，仍然保持这个内容的随机性，再一次加密，再加上又取出s位来，如此继续异或，这样就把一个分组密码，把它变成一个序列名码了是吧</a:t>
            </a:r>
            <a:endParaRPr lang="zh-CN" altLang="en-US"/>
          </a:p>
          <a:p>
            <a:r>
              <a:rPr lang="zh-CN" altLang="en-US">
                <a:sym typeface="+mn-ea"/>
              </a:rPr>
              <a:t>就是这个输出反馈</a:t>
            </a:r>
            <a:r>
              <a:rPr lang="zh-CN" altLang="en-US">
                <a:sym typeface="+mn-ea"/>
              </a:rPr>
              <a:t>模式。</a:t>
            </a:r>
            <a:endParaRPr lang="zh-CN" altLang="en-US">
              <a:sym typeface="+mn-ea"/>
            </a:endParaRPr>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我们输出反馈</a:t>
            </a:r>
            <a:r>
              <a:rPr lang="zh-CN" altLang="en-US"/>
              <a:t>模式这个密码这种工作方式它的特点：</a:t>
            </a:r>
            <a:endParaRPr lang="zh-CN" altLang="en-US"/>
          </a:p>
          <a:p>
            <a:r>
              <a:rPr lang="en-US" altLang="zh-CN"/>
              <a:t>1. </a:t>
            </a:r>
            <a:r>
              <a:rPr lang="zh-CN" altLang="en-US"/>
              <a:t>首先它的核心仍然是分组密码，所以这种工作模式安全性，完全取决于分组密码的安全性。如果你选的这个分组密码是安全的，刚才那种工作模式就是安全的；如果你选了个分组密码不安全，你的密钥序列厂商是不安全的。因为整个就不安全了。</a:t>
            </a:r>
            <a:r>
              <a:rPr lang="zh-CN" altLang="en-US" b="1">
                <a:solidFill>
                  <a:srgbClr val="FF0000"/>
                </a:solidFill>
              </a:rPr>
              <a:t>注意它的核心仍然是分组密码。</a:t>
            </a:r>
            <a:endParaRPr lang="zh-CN" altLang="en-US" b="1">
              <a:solidFill>
                <a:srgbClr val="FF0000"/>
              </a:solidFill>
            </a:endParaRPr>
          </a:p>
          <a:p>
            <a:r>
              <a:rPr lang="en-US" altLang="zh-CN"/>
              <a:t>2. </a:t>
            </a:r>
            <a:r>
              <a:rPr lang="zh-CN" altLang="en-US"/>
              <a:t>第二个是加密和解密是</a:t>
            </a:r>
            <a:r>
              <a:rPr lang="zh-CN" altLang="en-US" b="1"/>
              <a:t>没有错误传播</a:t>
            </a:r>
            <a:r>
              <a:rPr lang="zh-CN" altLang="en-US"/>
              <a:t>的，</a:t>
            </a:r>
            <a:endParaRPr lang="zh-CN" altLang="en-US"/>
          </a:p>
          <a:p>
            <a:r>
              <a:rPr lang="zh-CN" altLang="en-US"/>
              <a:t>为什么没有错误传播，它是一比特、一比特加密</a:t>
            </a:r>
            <a:r>
              <a:rPr lang="zh-CN" altLang="en-US"/>
              <a:t>的。这一比特错了，只影响这一比特，不影响下比特。彼此之间没有关联。因此是没有错误传播的，不存在错误传播。</a:t>
            </a:r>
            <a:endParaRPr lang="zh-CN" altLang="en-US"/>
          </a:p>
          <a:p>
            <a:r>
              <a:rPr lang="zh-CN" altLang="en-US"/>
              <a:t>那么它没有错误传播，那么它适合加密哪些数据呢，它适合加密</a:t>
            </a:r>
            <a:r>
              <a:rPr lang="zh-CN" altLang="en-US"/>
              <a:t>流密度比较大的这种数据</a:t>
            </a:r>
            <a:endParaRPr lang="zh-CN" altLang="en-US"/>
          </a:p>
          <a:p>
            <a:r>
              <a:rPr lang="zh-CN" altLang="en-US"/>
              <a:t>比如说语音数据或者是图像数据，大家知道图像数是最典型的，就是数据量非常大是吧。</a:t>
            </a:r>
            <a:endParaRPr lang="zh-CN" altLang="en-US"/>
          </a:p>
          <a:p>
            <a:r>
              <a:rPr lang="zh-CN" altLang="en-US"/>
              <a:t>我们计算机一个屏幕，1024x768，1平。那么如果我这个是个动画，我的动画这个如果是有那么十分钟，你算一算那得多大数据量了，所以图像的数据的数据量非常大，因此用这种方式加密语音或者图像，这种是比较合适的但是呢因为他没有错传播有啊</a:t>
            </a:r>
            <a:endParaRPr lang="zh-CN" altLang="en-US"/>
          </a:p>
          <a:p>
            <a:r>
              <a:rPr lang="zh-CN" altLang="en-US"/>
              <a:t>没有错误传播它就出现一个问题，就是如果对密文有篡改或者有错误，很难</a:t>
            </a:r>
            <a:r>
              <a:rPr lang="zh-CN" altLang="en-US"/>
              <a:t>发现。</a:t>
            </a:r>
            <a:endParaRPr lang="zh-CN" altLang="en-US"/>
          </a:p>
          <a:p>
            <a:r>
              <a:rPr lang="zh-CN" altLang="en-US"/>
              <a:t>很难发现别人把你的数据篡改了。</a:t>
            </a:r>
            <a:endParaRPr lang="zh-CN" altLang="en-US"/>
          </a:p>
          <a:p>
            <a:r>
              <a:rPr lang="zh-CN" altLang="en-US"/>
              <a:t>想我们一会要将的密文反馈模式，错误传播无界，但是</a:t>
            </a:r>
            <a:r>
              <a:rPr lang="en-US" altLang="zh-CN"/>
              <a:t>OFB</a:t>
            </a:r>
            <a:r>
              <a:rPr lang="zh-CN" altLang="en-US"/>
              <a:t>就没有错误传播。可以说错误传播有利有弊，要根据需要选择工作</a:t>
            </a:r>
            <a:r>
              <a:rPr lang="zh-CN" altLang="en-US"/>
              <a:t>模式。</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计数器模式可以看作是O F B模式的简化版本。</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计数器使用和分组密码算法相同的长度。如果是</a:t>
            </a:r>
            <a:r>
              <a:rPr lang="en-US" altLang="zh-CN"/>
              <a:t>DES</a:t>
            </a:r>
            <a:r>
              <a:rPr lang="zh-CN" altLang="en-US"/>
              <a:t>，那么选择的计数器长度要也是</a:t>
            </a:r>
            <a:r>
              <a:rPr lang="en-US" altLang="zh-CN"/>
              <a:t>64bit</a:t>
            </a:r>
            <a:r>
              <a:rPr lang="zh-CN" altLang="en-US"/>
              <a:t>。</a:t>
            </a:r>
            <a:endParaRPr lang="zh-CN" altLang="en-US"/>
          </a:p>
          <a:p>
            <a:r>
              <a:rPr lang="zh-CN" altLang="en-US"/>
              <a:t>最开始，计数器被初始化成一个值，然后随着每次分组的计算，计数器都会对应的</a:t>
            </a:r>
            <a:r>
              <a:rPr lang="en-US" altLang="zh-CN"/>
              <a:t>+1</a:t>
            </a:r>
            <a:r>
              <a:rPr lang="zh-CN" altLang="en-US"/>
              <a:t>。</a:t>
            </a:r>
            <a:endParaRPr lang="zh-CN" altLang="en-US"/>
          </a:p>
          <a:p>
            <a:r>
              <a:rPr lang="zh-CN" altLang="en-US"/>
              <a:t>计数器的要求就是，每次新计算一个不同的明文的时候，都要重新初始化计数器的</a:t>
            </a:r>
            <a:r>
              <a:rPr lang="zh-CN" altLang="en-US"/>
              <a:t>值。</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我们今天讲另外一种重要的对称密码，序列密码</a:t>
            </a:r>
            <a:endParaRPr lang="zh-CN" altLang="en-US"/>
          </a:p>
          <a:p>
            <a:r>
              <a:rPr lang="zh-CN" altLang="en-US">
                <a:sym typeface="+mn-ea"/>
              </a:rPr>
              <a:t>首先给大家介绍一下序列密码一些概念</a:t>
            </a:r>
            <a:endParaRPr lang="zh-CN" altLang="en-US"/>
          </a:p>
          <a:p>
            <a:r>
              <a:rPr lang="zh-CN" altLang="en-US">
                <a:sym typeface="+mn-ea"/>
              </a:rPr>
              <a:t>实际上序列密码最早的基本概念啊，密码学的基本知识的时候已经跟大家介绍过</a:t>
            </a:r>
            <a:endParaRPr lang="zh-CN" altLang="en-US"/>
          </a:p>
          <a:p>
            <a:r>
              <a:rPr lang="zh-CN" altLang="en-US">
                <a:sym typeface="+mn-ea"/>
              </a:rPr>
              <a:t>那么今天再加强一下，首先什么叫序列密码</a:t>
            </a:r>
            <a:endParaRPr lang="zh-CN" altLang="en-US"/>
          </a:p>
          <a:p>
            <a:r>
              <a:rPr lang="zh-CN" altLang="en-US">
                <a:sym typeface="+mn-ea"/>
              </a:rPr>
              <a:t>那么我们先回忆一下。我们现在给同学们已经介绍了，近代的两个重要的密码算法</a:t>
            </a:r>
            <a:endParaRPr lang="zh-CN" altLang="en-US"/>
          </a:p>
          <a:p>
            <a:r>
              <a:rPr lang="zh-CN" altLang="en-US">
                <a:sym typeface="+mn-ea"/>
              </a:rPr>
              <a:t>数据加密标准算法</a:t>
            </a:r>
            <a:r>
              <a:rPr lang="en-US" altLang="zh-CN">
                <a:sym typeface="+mn-ea"/>
              </a:rPr>
              <a:t>DES</a:t>
            </a:r>
            <a:r>
              <a:rPr lang="zh-CN" altLang="en-US">
                <a:sym typeface="+mn-ea"/>
              </a:rPr>
              <a:t>、高级数据加密标准算法</a:t>
            </a:r>
            <a:r>
              <a:rPr lang="en-US" altLang="zh-CN">
                <a:sym typeface="+mn-ea"/>
              </a:rPr>
              <a:t>AES</a:t>
            </a:r>
            <a:r>
              <a:rPr lang="zh-CN" altLang="en-US">
                <a:sym typeface="+mn-ea"/>
              </a:rPr>
              <a:t>，它们都是属于分组密码。</a:t>
            </a:r>
            <a:endParaRPr lang="zh-CN" altLang="en-US"/>
          </a:p>
          <a:p>
            <a:r>
              <a:rPr lang="zh-CN" altLang="en-US">
                <a:sym typeface="+mn-ea"/>
              </a:rPr>
              <a:t>为什么呢</a:t>
            </a:r>
            <a:endParaRPr lang="zh-CN" altLang="en-US"/>
          </a:p>
          <a:p>
            <a:r>
              <a:rPr lang="zh-CN" altLang="en-US">
                <a:sym typeface="+mn-ea"/>
              </a:rPr>
              <a:t>他的明文、它的密文、它的密钥都是以数据块的形式出现的</a:t>
            </a:r>
            <a:endParaRPr lang="zh-CN" altLang="en-US"/>
          </a:p>
          <a:p>
            <a:r>
              <a:rPr lang="zh-CN" altLang="en-US">
                <a:sym typeface="+mn-ea"/>
              </a:rPr>
              <a:t>像</a:t>
            </a:r>
            <a:r>
              <a:rPr lang="en-US" altLang="zh-CN">
                <a:sym typeface="+mn-ea"/>
              </a:rPr>
              <a:t>DES</a:t>
            </a:r>
            <a:r>
              <a:rPr lang="zh-CN" altLang="en-US">
                <a:sym typeface="+mn-ea"/>
              </a:rPr>
              <a:t>数据块长度64</a:t>
            </a:r>
            <a:r>
              <a:rPr lang="en-US" altLang="zh-CN">
                <a:sym typeface="+mn-ea"/>
              </a:rPr>
              <a:t>bit</a:t>
            </a:r>
            <a:r>
              <a:rPr lang="zh-CN" altLang="en-US">
                <a:sym typeface="+mn-ea"/>
              </a:rPr>
              <a:t>，所以对应的密钥长度也是</a:t>
            </a:r>
            <a:r>
              <a:rPr lang="en-US" altLang="zh-CN">
                <a:sym typeface="+mn-ea"/>
              </a:rPr>
              <a:t>64bit</a:t>
            </a:r>
            <a:r>
              <a:rPr lang="zh-CN" altLang="en-US">
                <a:sym typeface="+mn-ea"/>
              </a:rPr>
              <a:t>。</a:t>
            </a:r>
            <a:endParaRPr lang="zh-CN" altLang="en-US"/>
          </a:p>
          <a:p>
            <a:r>
              <a:rPr lang="en-US" altLang="zh-CN">
                <a:sym typeface="+mn-ea"/>
              </a:rPr>
              <a:t>AES</a:t>
            </a:r>
            <a:r>
              <a:rPr lang="zh-CN" altLang="en-US">
                <a:sym typeface="+mn-ea"/>
              </a:rPr>
              <a:t>数据块的长度128比特、</a:t>
            </a:r>
            <a:r>
              <a:rPr lang="en-US" altLang="zh-CN">
                <a:sym typeface="+mn-ea"/>
              </a:rPr>
              <a:t>256bit</a:t>
            </a:r>
            <a:r>
              <a:rPr lang="zh-CN" altLang="en-US">
                <a:sym typeface="+mn-ea"/>
              </a:rPr>
              <a:t>，密钥的长度也是128比特、</a:t>
            </a:r>
            <a:r>
              <a:rPr lang="en-US" altLang="zh-CN">
                <a:sym typeface="+mn-ea"/>
              </a:rPr>
              <a:t>256</a:t>
            </a:r>
            <a:r>
              <a:rPr lang="zh-CN" altLang="en-US">
                <a:sym typeface="+mn-ea"/>
              </a:rPr>
              <a:t>等等。</a:t>
            </a:r>
            <a:endParaRPr lang="zh-CN" altLang="en-US"/>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那么今天我们给大家介绍这个序列密码，它的明密文，也就是数据以及它的密钥都是按照</a:t>
            </a:r>
            <a:r>
              <a:rPr lang="en-US" altLang="zh-CN">
                <a:sym typeface="+mn-ea"/>
              </a:rPr>
              <a:t>bit</a:t>
            </a:r>
            <a:r>
              <a:rPr lang="zh-CN" altLang="en-US">
                <a:sym typeface="+mn-ea"/>
              </a:rPr>
              <a:t>位单位进行加解密的。</a:t>
            </a:r>
            <a:endParaRPr lang="zh-CN" altLang="en-US"/>
          </a:p>
          <a:p>
            <a:r>
              <a:rPr lang="zh-CN" altLang="en-US">
                <a:sym typeface="+mn-ea"/>
              </a:rPr>
              <a:t>这显然和前面我们学的分组密码完全不一样，我们这分组密码它是一块一块的。</a:t>
            </a:r>
            <a:endParaRPr lang="zh-CN" altLang="en-US"/>
          </a:p>
          <a:p>
            <a:r>
              <a:rPr lang="zh-CN" altLang="en-US">
                <a:sym typeface="+mn-ea"/>
              </a:rPr>
              <a:t>我们介绍分组密码算法的时候讲到，如果我们的明文不够一块还不能加密，必须要进行填充。</a:t>
            </a:r>
            <a:endParaRPr lang="zh-CN" altLang="en-US">
              <a:sym typeface="+mn-ea"/>
            </a:endParaRPr>
          </a:p>
          <a:p>
            <a:r>
              <a:rPr lang="zh-CN" altLang="en-US"/>
              <a:t>而这个地方是一比特一比特加密，显然序列密码不存在短板块。因为它已经到了最小单位一比特。</a:t>
            </a:r>
            <a:endParaRPr lang="zh-CN" altLang="en-US"/>
          </a:p>
          <a:p>
            <a:r>
              <a:rPr lang="zh-CN" altLang="en-US"/>
              <a:t>但是这时候有的同学可能注意到，我们上面括号里还有个（按字符）为单位</a:t>
            </a:r>
            <a:r>
              <a:rPr lang="zh-CN" altLang="en-US"/>
              <a:t>进行。</a:t>
            </a:r>
            <a:endParaRPr lang="zh-CN" altLang="en-US"/>
          </a:p>
          <a:p>
            <a:r>
              <a:rPr lang="zh-CN" altLang="en-US"/>
              <a:t>那是</a:t>
            </a:r>
            <a:r>
              <a:rPr lang="zh-CN" altLang="en-US"/>
              <a:t>因为一比特一比特加密太慢了。</a:t>
            </a:r>
            <a:endParaRPr lang="zh-CN" altLang="en-US"/>
          </a:p>
          <a:p>
            <a:r>
              <a:rPr lang="zh-CN" altLang="en-US"/>
              <a:t>所以现在又发展了面向字符序列密码，我们最常用的字符就是一个字节，八比特八比特进行加密。最近的话是又在发展到什么，发展到一个16比特的、面向字的这个</a:t>
            </a:r>
            <a:r>
              <a:rPr lang="zh-CN" altLang="en-US"/>
              <a:t>序列密码。</a:t>
            </a:r>
            <a:endParaRPr lang="zh-CN" altLang="en-US"/>
          </a:p>
          <a:p>
            <a:r>
              <a:rPr lang="zh-CN" altLang="en-US"/>
              <a:t>那也可见就是随着技术发展</a:t>
            </a:r>
            <a:endParaRPr lang="zh-CN" altLang="en-US"/>
          </a:p>
          <a:p>
            <a:r>
              <a:rPr lang="zh-CN" altLang="en-US"/>
              <a:t>这个序列密码和分数密码越来越靠近了啊</a:t>
            </a:r>
            <a:endParaRPr lang="zh-CN" altLang="en-US"/>
          </a:p>
          <a:p>
            <a:r>
              <a:rPr lang="zh-CN" altLang="en-US"/>
              <a:t>原来</a:t>
            </a:r>
            <a:r>
              <a:rPr lang="en-US" altLang="zh-CN"/>
              <a:t>DES </a:t>
            </a:r>
            <a:r>
              <a:rPr lang="zh-CN" altLang="en-US"/>
              <a:t>64 比特一</a:t>
            </a:r>
            <a:r>
              <a:rPr lang="zh-CN" altLang="en-US"/>
              <a:t>加密。</a:t>
            </a:r>
            <a:endParaRPr lang="zh-CN" altLang="en-US"/>
          </a:p>
          <a:p>
            <a:r>
              <a:rPr lang="zh-CN" altLang="en-US"/>
              <a:t>这个</a:t>
            </a:r>
            <a:r>
              <a:rPr lang="zh-CN" altLang="en-US"/>
              <a:t>序列密码、一比特一加密</a:t>
            </a:r>
            <a:endParaRPr lang="zh-CN" altLang="en-US"/>
          </a:p>
          <a:p>
            <a:r>
              <a:rPr lang="zh-CN" altLang="en-US"/>
              <a:t>而现在</a:t>
            </a:r>
            <a:r>
              <a:rPr lang="zh-CN" altLang="en-US"/>
              <a:t>序列密码可以八比特一加密、16比特一加密</a:t>
            </a:r>
            <a:endParaRPr lang="zh-CN" altLang="en-US"/>
          </a:p>
          <a:p>
            <a:r>
              <a:rPr lang="zh-CN" altLang="en-US"/>
              <a:t>这不是越来越靠近了吗。</a:t>
            </a:r>
            <a:endParaRPr lang="zh-CN" altLang="en-US"/>
          </a:p>
          <a:p>
            <a:r>
              <a:rPr lang="zh-CN" altLang="en-US"/>
              <a:t>那么序列密码和分组密码的区别在哪儿呢？他的最基本的加解密工作方式是不一样</a:t>
            </a:r>
            <a:r>
              <a:rPr lang="zh-CN" altLang="en-US"/>
              <a:t>的。</a:t>
            </a:r>
            <a:endParaRPr lang="zh-CN" altLang="en-US"/>
          </a:p>
          <a:p>
            <a:r>
              <a:rPr lang="zh-CN" altLang="en-US"/>
              <a:t>那么这是训练密码最基本的这个加密</a:t>
            </a:r>
            <a:endParaRPr lang="zh-CN" altLang="en-US"/>
          </a:p>
          <a:p>
            <a:r>
              <a:rPr lang="zh-CN" altLang="en-US"/>
              <a:t>解密的这个工作方式</a:t>
            </a:r>
            <a:endParaRPr lang="zh-CN" altLang="en-US"/>
          </a:p>
          <a:p>
            <a:r>
              <a:rPr lang="zh-CN" altLang="en-US"/>
              <a:t>它和分组面向不一样</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其中一种类型我们把它叫做同步序列密码</a:t>
            </a:r>
            <a:endParaRPr lang="zh-CN" altLang="en-US"/>
          </a:p>
          <a:p>
            <a:r>
              <a:rPr lang="zh-CN" altLang="en-US"/>
              <a:t>这个什么叫同步训练密码</a:t>
            </a:r>
            <a:endParaRPr lang="zh-CN" altLang="en-US"/>
          </a:p>
          <a:p>
            <a:r>
              <a:rPr lang="zh-CN" altLang="en-US"/>
              <a:t>也就是强调了同步收发两端</a:t>
            </a:r>
            <a:endParaRPr lang="zh-CN" altLang="en-US"/>
          </a:p>
          <a:p>
            <a:r>
              <a:rPr lang="zh-CN" altLang="en-US"/>
              <a:t>进行序列密码加密通信的时候</a:t>
            </a:r>
            <a:endParaRPr lang="zh-CN" altLang="en-US"/>
          </a:p>
          <a:p>
            <a:r>
              <a:rPr lang="zh-CN" altLang="en-US"/>
              <a:t>收发两端要保持精确的同步</a:t>
            </a:r>
            <a:endParaRPr lang="zh-CN" altLang="en-US"/>
          </a:p>
          <a:p>
            <a:r>
              <a:rPr lang="zh-CN" altLang="en-US"/>
              <a:t>为什么呢</a:t>
            </a:r>
            <a:endParaRPr lang="zh-CN" altLang="en-US"/>
          </a:p>
          <a:p>
            <a:r>
              <a:rPr lang="zh-CN" altLang="en-US"/>
              <a:t>大家看一下</a:t>
            </a:r>
            <a:endParaRPr lang="zh-CN" altLang="en-US"/>
          </a:p>
          <a:p>
            <a:r>
              <a:rPr lang="zh-CN" altLang="en-US"/>
              <a:t>假如不同步</a:t>
            </a:r>
            <a:endParaRPr lang="zh-CN" altLang="en-US"/>
          </a:p>
          <a:p>
            <a:r>
              <a:rPr lang="zh-CN" altLang="en-US"/>
              <a:t>注意不同步</a:t>
            </a:r>
            <a:endParaRPr lang="zh-CN" altLang="en-US"/>
          </a:p>
          <a:p>
            <a:r>
              <a:rPr lang="zh-CN" altLang="en-US"/>
              <a:t>我们叫</a:t>
            </a:r>
            <a:r>
              <a:rPr lang="zh-CN" altLang="en-US"/>
              <a:t>失步</a:t>
            </a:r>
            <a:endParaRPr lang="zh-CN" altLang="en-US"/>
          </a:p>
          <a:p>
            <a:r>
              <a:rPr lang="zh-CN" altLang="en-US"/>
              <a:t>假如不同步了</a:t>
            </a:r>
            <a:endParaRPr lang="zh-CN" altLang="en-US"/>
          </a:p>
          <a:p>
            <a:r>
              <a:rPr lang="zh-CN" altLang="en-US"/>
              <a:t>也就是发送一段</a:t>
            </a:r>
            <a:endParaRPr lang="zh-CN" altLang="en-US"/>
          </a:p>
          <a:p>
            <a:r>
              <a:rPr lang="zh-CN" altLang="en-US"/>
              <a:t>输送一段那个表</a:t>
            </a:r>
            <a:endParaRPr lang="zh-CN" altLang="en-US"/>
          </a:p>
          <a:p>
            <a:r>
              <a:rPr lang="zh-CN" altLang="en-US"/>
              <a:t>他们那个时钟不对了</a:t>
            </a:r>
            <a:endParaRPr lang="zh-CN" altLang="en-US"/>
          </a:p>
          <a:p>
            <a:r>
              <a:rPr lang="zh-CN" altLang="en-US"/>
              <a:t>对不上了</a:t>
            </a:r>
            <a:endParaRPr lang="zh-CN" altLang="en-US"/>
          </a:p>
          <a:p>
            <a:r>
              <a:rPr lang="zh-CN" altLang="en-US"/>
              <a:t>我们叫失误了</a:t>
            </a:r>
            <a:endParaRPr lang="zh-CN" altLang="en-US"/>
          </a:p>
          <a:p>
            <a:r>
              <a:rPr lang="zh-CN" altLang="en-US"/>
              <a:t>这个时候接收一方呢他就不能正确的解密</a:t>
            </a:r>
            <a:endParaRPr lang="zh-CN" altLang="en-US"/>
          </a:p>
          <a:p>
            <a:r>
              <a:rPr lang="zh-CN" altLang="en-US"/>
              <a:t>以至于从</a:t>
            </a:r>
            <a:r>
              <a:rPr lang="zh-CN" altLang="en-US"/>
              <a:t>失步的那时刻开始</a:t>
            </a:r>
            <a:endParaRPr lang="zh-CN" altLang="en-US"/>
          </a:p>
          <a:p>
            <a:r>
              <a:rPr lang="zh-CN" altLang="en-US"/>
              <a:t>开始向后全都是错的</a:t>
            </a:r>
            <a:endParaRPr lang="zh-CN" altLang="en-US"/>
          </a:p>
          <a:p>
            <a:r>
              <a:rPr lang="zh-CN" altLang="en-US"/>
              <a:t>造成全错啊</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这种流密码对同步的要求非常高，只要丢失一个密文或者插入了一个密文会导致后续解密全部出错。必须保证严格同步</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失步是丢失或者插入了一个密钥位。</a:t>
            </a:r>
            <a:endParaRPr lang="zh-CN" altLang="en-US"/>
          </a:p>
          <a:p>
            <a:r>
              <a:rPr lang="zh-CN" altLang="en-US"/>
              <a:t>但是错误的话就是当前位出现了错误，</a:t>
            </a:r>
            <a:r>
              <a:rPr lang="en-US" altLang="zh-CN"/>
              <a:t>0</a:t>
            </a:r>
            <a:r>
              <a:rPr lang="zh-CN" altLang="en-US"/>
              <a:t>变成了</a:t>
            </a:r>
            <a:r>
              <a:rPr lang="en-US" altLang="zh-CN"/>
              <a:t>1</a:t>
            </a:r>
            <a:r>
              <a:rPr lang="zh-CN" altLang="en-US"/>
              <a:t>或者</a:t>
            </a:r>
            <a:r>
              <a:rPr lang="en-US" altLang="zh-CN"/>
              <a:t>1</a:t>
            </a:r>
            <a:r>
              <a:rPr lang="zh-CN" altLang="en-US"/>
              <a:t>变成</a:t>
            </a:r>
            <a:r>
              <a:rPr lang="en-US" altLang="zh-CN"/>
              <a:t>0</a:t>
            </a:r>
            <a:r>
              <a:rPr lang="zh-CN" altLang="en-US"/>
              <a:t>。</a:t>
            </a:r>
            <a:endParaRPr lang="zh-CN" altLang="en-US"/>
          </a:p>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由于同步流密码一旦失步会导致后续所有的位都处理错误，为了解决这个问题，希望失步等错误只会影响一部分错误传播，之后会进行恢复。</a:t>
            </a:r>
            <a:endParaRPr lang="zh-CN" altLang="en-US"/>
          </a:p>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我们对这个增加到移位寄存器上的数学运算进行数学抽象表述。把它表示成一个函数，将所有的寄存器的状态作为输入。</a:t>
            </a:r>
            <a:endParaRPr lang="zh-CN" altLang="en-US"/>
          </a:p>
          <a:p>
            <a:r>
              <a:rPr lang="zh-CN" altLang="en-US"/>
              <a:t>函数</a:t>
            </a:r>
            <a:r>
              <a:rPr lang="en-US" altLang="zh-CN"/>
              <a:t>F</a:t>
            </a:r>
            <a:r>
              <a:rPr lang="zh-CN" altLang="en-US"/>
              <a:t>就是这些寄存器进行处理得到新的状态值的一个处理过程。</a:t>
            </a:r>
            <a:endParaRPr lang="zh-CN" altLang="en-US"/>
          </a:p>
          <a:p>
            <a:r>
              <a:rPr lang="en-US" altLang="zh-CN"/>
              <a:t>F</a:t>
            </a:r>
            <a:r>
              <a:rPr lang="zh-CN" altLang="en-US"/>
              <a:t>的具体处理方式根据需求可以有不同的设计。</a:t>
            </a:r>
            <a:endParaRPr lang="zh-CN" altLang="en-US"/>
          </a:p>
          <a:p>
            <a:r>
              <a:rPr lang="zh-CN" altLang="en-US"/>
              <a:t>这时我们很容易理解，我们实现流密码算法生成密钥流的核心问题就变成了寻找一个合适的函数</a:t>
            </a:r>
            <a:r>
              <a:rPr lang="en-US" altLang="zh-CN"/>
              <a:t>F</a:t>
            </a:r>
            <a:r>
              <a:rPr lang="zh-CN" altLang="en-US"/>
              <a:t>。</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线性移位寄存器和非线性移位寄存器的概念非常重要。</a:t>
            </a:r>
            <a:endParaRPr lang="zh-CN" altLang="en-US"/>
          </a:p>
          <a:p>
            <a:r>
              <a:rPr lang="zh-CN" altLang="en-US"/>
              <a:t>这两类寄存器在密码学中都有非常重要的应用，但是由于数学的原因，数学的局限。数学家和密码学家们对于线性移位寄存器研究得非常彻底，对于非线性移位寄存器由于缺少数学分析工具，所以研究有些困难。</a:t>
            </a:r>
            <a:endParaRPr lang="zh-CN" altLang="en-US"/>
          </a:p>
          <a:p>
            <a:r>
              <a:rPr lang="zh-CN" altLang="en-US"/>
              <a:t>但是在密码学中，必须使用到一定的非线性处理。</a:t>
            </a:r>
            <a:endParaRPr lang="zh-CN" altLang="en-US"/>
          </a:p>
          <a:p>
            <a:r>
              <a:rPr lang="zh-CN" altLang="en-US"/>
              <a:t>大家可以回忆一下，我们在设计</a:t>
            </a:r>
            <a:r>
              <a:rPr lang="en-US" altLang="zh-CN"/>
              <a:t>DES</a:t>
            </a:r>
            <a:r>
              <a:rPr lang="zh-CN" altLang="en-US"/>
              <a:t>、</a:t>
            </a:r>
            <a:r>
              <a:rPr lang="en-US" altLang="zh-CN"/>
              <a:t>AES</a:t>
            </a:r>
            <a:r>
              <a:rPr lang="zh-CN" altLang="en-US"/>
              <a:t>时，都必须使用一个非线性的部件</a:t>
            </a:r>
            <a:r>
              <a:rPr lang="en-US" altLang="zh-CN"/>
              <a:t>S</a:t>
            </a:r>
            <a:r>
              <a:rPr lang="zh-CN" altLang="en-US"/>
              <a:t>盒去进行处理，除了</a:t>
            </a:r>
            <a:r>
              <a:rPr lang="en-US" altLang="zh-CN"/>
              <a:t>S</a:t>
            </a:r>
            <a:r>
              <a:rPr lang="zh-CN" altLang="en-US"/>
              <a:t>盒以外的其他处理都是线性处理。</a:t>
            </a:r>
            <a:endParaRPr lang="zh-CN" altLang="en-US"/>
          </a:p>
          <a:p>
            <a:r>
              <a:rPr lang="zh-CN" altLang="en-US"/>
              <a:t>如果全部使用线性处理方式实现密码学算法，那攻击者在截获到密文获取到部分明文后，对密码算法的攻击就可以转化成对应数学问题的求解。</a:t>
            </a:r>
            <a:endParaRPr lang="zh-CN" altLang="en-US"/>
          </a:p>
          <a:p>
            <a:r>
              <a:rPr lang="zh-CN" altLang="en-US"/>
              <a:t>现在对于数学上线性问题的求解的方法有很多，因此密码算法就不再安全了。</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线性函数的一定可以写成如下的表示方式。</a:t>
            </a:r>
            <a:endParaRPr lang="zh-CN" altLang="en-US"/>
          </a:p>
          <a:p>
            <a:r>
              <a:rPr lang="zh-CN" altLang="en-US"/>
              <a:t>在二进制的情况下上面线性函数的加号就变成了异或（</a:t>
            </a:r>
            <a:r>
              <a:rPr lang="en-US" altLang="zh-CN"/>
              <a:t>mod2 +</a:t>
            </a:r>
            <a:r>
              <a:rPr lang="zh-CN" altLang="en-US"/>
              <a:t>）而反馈系数也就相当于只有两种情况</a:t>
            </a:r>
            <a:r>
              <a:rPr lang="en-US" altLang="zh-CN"/>
              <a:t>1</a:t>
            </a:r>
            <a:r>
              <a:rPr lang="zh-CN" altLang="en-US"/>
              <a:t>和</a:t>
            </a:r>
            <a:r>
              <a:rPr lang="en-US" altLang="zh-CN"/>
              <a:t>0</a:t>
            </a:r>
            <a:r>
              <a:rPr lang="zh-CN" altLang="en-US"/>
              <a:t>，相当于一个开关。</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这时，我们就将反馈函数转换成了多项式的表达方式。</a:t>
            </a:r>
            <a:endParaRPr lang="zh-CN" altLang="en-US"/>
          </a:p>
          <a:p>
            <a:r>
              <a:rPr lang="en-US" altLang="zh-CN"/>
              <a:t>F</a:t>
            </a:r>
            <a:r>
              <a:rPr lang="zh-CN" altLang="en-US"/>
              <a:t>函数也就转换成了多项式，也就是方程。</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这时我们就可以把它转换成一个装置。</a:t>
            </a:r>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当我们有了一个</a:t>
            </a:r>
            <a:r>
              <a:rPr lang="en-US" altLang="zh-CN"/>
              <a:t>n</a:t>
            </a:r>
            <a:r>
              <a:rPr lang="zh-CN" altLang="en-US"/>
              <a:t>为的线性寄存器，这时这个线性寄存器的就会有</a:t>
            </a:r>
            <a:r>
              <a:rPr lang="en-US" altLang="zh-CN"/>
              <a:t>2</a:t>
            </a:r>
            <a:r>
              <a:rPr lang="zh-CN" altLang="en-US"/>
              <a:t>的</a:t>
            </a:r>
            <a:r>
              <a:rPr lang="en-US" altLang="zh-CN"/>
              <a:t>n</a:t>
            </a:r>
            <a:r>
              <a:rPr lang="zh-CN" altLang="en-US"/>
              <a:t>次方个不同的状态，从</a:t>
            </a:r>
            <a:r>
              <a:rPr lang="en-US" altLang="zh-CN"/>
              <a:t>00000-11111</a:t>
            </a:r>
            <a:r>
              <a:rPr lang="zh-CN" altLang="en-US"/>
              <a:t>。</a:t>
            </a:r>
            <a:endParaRPr lang="zh-CN" altLang="en-US"/>
          </a:p>
          <a:p>
            <a:r>
              <a:rPr lang="zh-CN" altLang="en-US"/>
              <a:t>但是这时大家考虑一个状态就是如果寄存器的初始状态为</a:t>
            </a:r>
            <a:r>
              <a:rPr lang="en-US" altLang="zh-CN"/>
              <a:t>00000</a:t>
            </a:r>
            <a:r>
              <a:rPr lang="zh-CN" altLang="en-US"/>
              <a:t>这时会发生什么情况？</a:t>
            </a:r>
            <a:endParaRPr lang="zh-CN" altLang="en-US"/>
          </a:p>
          <a:p>
            <a:endParaRPr lang="zh-CN" altLang="en-US"/>
          </a:p>
          <a:p>
            <a:r>
              <a:rPr lang="zh-CN" altLang="en-US"/>
              <a:t>这时后续状态就会一直是</a:t>
            </a:r>
            <a:r>
              <a:rPr lang="en-US" altLang="zh-CN"/>
              <a:t>00000.</a:t>
            </a:r>
            <a:endParaRPr lang="en-US" altLang="zh-CN"/>
          </a:p>
          <a:p>
            <a:r>
              <a:rPr lang="zh-CN" altLang="en-US"/>
              <a:t>如果初始状态不为</a:t>
            </a:r>
            <a:r>
              <a:rPr lang="en-US" altLang="zh-CN"/>
              <a:t>0</a:t>
            </a:r>
            <a:r>
              <a:rPr lang="zh-CN" altLang="en-US"/>
              <a:t>，那这个后续就不会是全</a:t>
            </a:r>
            <a:r>
              <a:rPr lang="en-US" altLang="zh-CN"/>
              <a:t>0</a:t>
            </a:r>
            <a:r>
              <a:rPr lang="zh-CN" altLang="en-US"/>
              <a:t>，所以状态周期为</a:t>
            </a:r>
            <a:r>
              <a:rPr lang="en-US" altLang="zh-CN"/>
              <a:t>2</a:t>
            </a:r>
            <a:r>
              <a:rPr lang="zh-CN" altLang="en-US"/>
              <a:t>的</a:t>
            </a:r>
            <a:r>
              <a:rPr lang="en-US" altLang="zh-CN"/>
              <a:t>n</a:t>
            </a:r>
            <a:r>
              <a:rPr lang="zh-CN" altLang="en-US"/>
              <a:t>次方</a:t>
            </a:r>
            <a:r>
              <a:rPr lang="en-US" altLang="zh-CN"/>
              <a:t>-1.</a:t>
            </a:r>
            <a:endParaRPr lang="en-US" altLang="zh-CN"/>
          </a:p>
          <a:p>
            <a:r>
              <a:rPr lang="zh-CN" altLang="en-US"/>
              <a:t>给这个最好的状态一个名称为</a:t>
            </a:r>
            <a:r>
              <a:rPr lang="en-US" altLang="zh-CN"/>
              <a:t>m</a:t>
            </a:r>
            <a:r>
              <a:rPr lang="zh-CN" altLang="en-US"/>
              <a:t>序列。</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m</a:t>
            </a:r>
            <a:r>
              <a:rPr lang="zh-CN" altLang="en-US"/>
              <a:t>序列使我们设计</a:t>
            </a:r>
            <a:r>
              <a:rPr lang="en-US" altLang="zh-CN"/>
              <a:t>gx</a:t>
            </a:r>
            <a:r>
              <a:rPr lang="zh-CN" altLang="en-US"/>
              <a:t>时候目的想要达到的最理想的状态，那如何设计</a:t>
            </a:r>
            <a:r>
              <a:rPr lang="en-US" altLang="zh-CN"/>
              <a:t>gx</a:t>
            </a:r>
            <a:r>
              <a:rPr lang="zh-CN" altLang="en-US"/>
              <a:t>就是我们要考虑的关键问题。</a:t>
            </a:r>
            <a:endParaRPr lang="zh-CN" altLang="en-US"/>
          </a:p>
          <a:p>
            <a:r>
              <a:rPr lang="zh-CN" altLang="en-US"/>
              <a:t>这其实是一个数学问题，并且现在已经有了确定的数学研究成果。</a:t>
            </a:r>
            <a:endParaRPr lang="zh-CN" altLang="en-US"/>
          </a:p>
          <a:p>
            <a:r>
              <a:rPr lang="zh-CN" altLang="en-US"/>
              <a:t>（也就是使用本原多项式就可以达到这个目的）</a:t>
            </a:r>
            <a:endParaRPr lang="zh-CN" altLang="en-US"/>
          </a:p>
          <a:p>
            <a:r>
              <a:rPr lang="zh-CN" altLang="en-US"/>
              <a:t>本原多项式是一个近世代数的概念，是唯一分解整环上满足所有系数的公因数为</a:t>
            </a:r>
            <a:r>
              <a:rPr lang="en-US" altLang="zh-CN"/>
              <a:t>1</a:t>
            </a:r>
            <a:r>
              <a:rPr lang="zh-CN" altLang="en-US"/>
              <a:t>的多项式。</a:t>
            </a:r>
            <a:endParaRPr lang="zh-CN" altLang="en-US"/>
          </a:p>
          <a:p>
            <a:r>
              <a:rPr lang="zh-CN" altLang="en-US"/>
              <a:t>在这里不过多讲述，大家只需要知道这个问题现在已经有解了，我们在设计移位寄存器的时候可以直接使用。</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000</a:t>
            </a:r>
            <a:r>
              <a:rPr lang="zh-CN" altLang="en-US"/>
              <a:t>为长度为</a:t>
            </a:r>
            <a:r>
              <a:rPr lang="en-US" altLang="zh-CN"/>
              <a:t>3</a:t>
            </a:r>
            <a:r>
              <a:rPr lang="zh-CN" altLang="en-US"/>
              <a:t>的</a:t>
            </a:r>
            <a:r>
              <a:rPr lang="en-US" altLang="zh-CN"/>
              <a:t>0</a:t>
            </a:r>
            <a:r>
              <a:rPr lang="zh-CN" altLang="en-US"/>
              <a:t>游程，而</a:t>
            </a:r>
            <a:r>
              <a:rPr lang="en-US" altLang="zh-CN"/>
              <a:t>111</a:t>
            </a:r>
            <a:r>
              <a:rPr lang="zh-CN" altLang="en-US"/>
              <a:t>为长度为</a:t>
            </a:r>
            <a:r>
              <a:rPr lang="en-US" altLang="zh-CN"/>
              <a:t>3</a:t>
            </a:r>
            <a:r>
              <a:rPr lang="zh-CN" altLang="en-US"/>
              <a:t>的</a:t>
            </a:r>
            <a:r>
              <a:rPr lang="en-US" altLang="zh-CN"/>
              <a:t>1</a:t>
            </a:r>
            <a:r>
              <a:rPr lang="zh-CN" altLang="en-US"/>
              <a:t>游程。</a:t>
            </a:r>
            <a:endParaRPr lang="zh-CN" altLang="en-US"/>
          </a:p>
          <a:p>
            <a:r>
              <a:rPr lang="en-US" altLang="zh-CN"/>
              <a:t>1. </a:t>
            </a:r>
            <a:r>
              <a:rPr lang="zh-CN" altLang="en-US"/>
              <a:t>很均匀，</a:t>
            </a:r>
            <a:r>
              <a:rPr lang="en-US" altLang="zh-CN"/>
              <a:t>0</a:t>
            </a:r>
            <a:r>
              <a:rPr lang="zh-CN" altLang="en-US"/>
              <a:t>和</a:t>
            </a:r>
            <a:r>
              <a:rPr lang="en-US" altLang="zh-CN"/>
              <a:t>1</a:t>
            </a:r>
            <a:r>
              <a:rPr lang="zh-CN" altLang="en-US"/>
              <a:t>的分布几乎相等</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游程的总数是</a:t>
            </a:r>
            <a:r>
              <a:rPr lang="en-US" altLang="zh-CN"/>
              <a:t>N=2</a:t>
            </a:r>
            <a:r>
              <a:rPr lang="zh-CN" altLang="en-US"/>
              <a:t>的</a:t>
            </a:r>
            <a:r>
              <a:rPr lang="en-US" altLang="zh-CN"/>
              <a:t>n-1</a:t>
            </a:r>
            <a:r>
              <a:rPr lang="zh-CN" altLang="en-US"/>
              <a:t>次方（把生成的随机数首尾相接计算）</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从序列中取出两个长度相同的子段，看其中相同的位数。</a:t>
            </a:r>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从序列中取出两个长度相同的子段，看其中相同的位数。相同位数为</a:t>
            </a:r>
            <a:r>
              <a:rPr lang="en-US" altLang="zh-CN"/>
              <a:t>7</a:t>
            </a:r>
            <a:r>
              <a:rPr lang="zh-CN" altLang="en-US"/>
              <a:t>，不相同位数为</a:t>
            </a:r>
            <a:r>
              <a:rPr lang="en-US" altLang="zh-CN"/>
              <a:t>8</a:t>
            </a:r>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当然目前由于数学的局限所以对于非线性的研究并不是很充足。</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当是非线性的时候，输出周期就为</a:t>
            </a:r>
            <a:r>
              <a:rPr lang="en-US" altLang="zh-CN"/>
              <a:t>2</a:t>
            </a:r>
            <a:r>
              <a:rPr lang="zh-CN" altLang="en-US"/>
              <a:t>的</a:t>
            </a:r>
            <a:r>
              <a:rPr lang="en-US" altLang="zh-CN"/>
              <a:t>n</a:t>
            </a:r>
            <a:r>
              <a:rPr lang="zh-CN" altLang="en-US"/>
              <a:t>次方，我们称这个序列为大</a:t>
            </a:r>
            <a:r>
              <a:rPr lang="en-US" altLang="zh-CN"/>
              <a:t>M</a:t>
            </a:r>
            <a:r>
              <a:rPr lang="zh-CN" altLang="en-US"/>
              <a:t>序列。</a:t>
            </a:r>
            <a:r>
              <a:rPr lang="en-US" altLang="zh-CN"/>
              <a:t>M</a:t>
            </a:r>
            <a:r>
              <a:rPr lang="zh-CN" altLang="en-US"/>
              <a:t>序列有更好地密码学特性。</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引入与或非运算（而不是简单的异或相当于开关）这时其实就是一个非线性运算，与运算其实就是一个非线性运算。</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从线性寄存器中取</a:t>
            </a:r>
            <a:r>
              <a:rPr lang="en-US" altLang="zh-CN"/>
              <a:t>n</a:t>
            </a:r>
            <a:r>
              <a:rPr lang="zh-CN" altLang="en-US"/>
              <a:t>位做非线性组合（例如与或非运算，多路选择器等）处理后在输出。</a:t>
            </a:r>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其实非线性组合的选择非常困难。</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是基于查表的一个流密码。</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RC4</a:t>
            </a:r>
            <a:r>
              <a:rPr lang="zh-CN" altLang="en-US"/>
              <a:t>的处理单位为字节。</a:t>
            </a:r>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利用</a:t>
            </a:r>
            <a:r>
              <a:rPr lang="en-US" altLang="zh-CN"/>
              <a:t>R</a:t>
            </a:r>
            <a:r>
              <a:rPr lang="zh-CN" altLang="en-US"/>
              <a:t>表随机化</a:t>
            </a:r>
            <a:r>
              <a:rPr lang="en-US" altLang="zh-CN"/>
              <a:t>S</a:t>
            </a:r>
            <a:r>
              <a:rPr lang="zh-CN" altLang="en-US"/>
              <a:t>表。</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tags" Target="../tags/tag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1.jpeg"/><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jpeg"/><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9" Type="http://schemas.openxmlformats.org/officeDocument/2006/relationships/image" Target="../media/image1.jpe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0" Type="http://schemas.openxmlformats.org/officeDocument/2006/relationships/slideLayout" Target="../slideLayouts/slideLayout12.xml"/><Relationship Id="rId2" Type="http://schemas.openxmlformats.org/officeDocument/2006/relationships/image" Target="../media/image14.png"/><Relationship Id="rId19" Type="http://schemas.openxmlformats.org/officeDocument/2006/relationships/image" Target="../media/image30.png"/><Relationship Id="rId18" Type="http://schemas.openxmlformats.org/officeDocument/2006/relationships/image" Target="../media/image29.png"/><Relationship Id="rId17" Type="http://schemas.openxmlformats.org/officeDocument/2006/relationships/image" Target="../media/image28.png"/><Relationship Id="rId16" Type="http://schemas.openxmlformats.org/officeDocument/2006/relationships/image" Target="../media/image27.png"/><Relationship Id="rId15" Type="http://schemas.openxmlformats.org/officeDocument/2006/relationships/image" Target="../media/image26.png"/><Relationship Id="rId14" Type="http://schemas.openxmlformats.org/officeDocument/2006/relationships/image" Target="../media/image25.png"/><Relationship Id="rId13" Type="http://schemas.openxmlformats.org/officeDocument/2006/relationships/image" Target="../media/image24.png"/><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png"/><Relationship Id="rId7" Type="http://schemas.openxmlformats.org/officeDocument/2006/relationships/image" Target="../media/image37.png"/><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8" Type="http://schemas.openxmlformats.org/officeDocument/2006/relationships/notesSlide" Target="../notesSlides/notesSlide14.xml"/><Relationship Id="rId17" Type="http://schemas.openxmlformats.org/officeDocument/2006/relationships/slideLayout" Target="../slideLayouts/slideLayout12.xml"/><Relationship Id="rId16" Type="http://schemas.openxmlformats.org/officeDocument/2006/relationships/image" Target="../media/image45.png"/><Relationship Id="rId15" Type="http://schemas.openxmlformats.org/officeDocument/2006/relationships/image" Target="../media/image44.png"/><Relationship Id="rId14" Type="http://schemas.openxmlformats.org/officeDocument/2006/relationships/image" Target="../media/image43.png"/><Relationship Id="rId13" Type="http://schemas.openxmlformats.org/officeDocument/2006/relationships/image" Target="../media/image42.png"/><Relationship Id="rId12" Type="http://schemas.openxmlformats.org/officeDocument/2006/relationships/image" Target="../media/image41.png"/><Relationship Id="rId11" Type="http://schemas.openxmlformats.org/officeDocument/2006/relationships/image" Target="../media/image1.jpeg"/><Relationship Id="rId10" Type="http://schemas.openxmlformats.org/officeDocument/2006/relationships/image" Target="../media/image40.png"/><Relationship Id="rId1" Type="http://schemas.openxmlformats.org/officeDocument/2006/relationships/image" Target="../media/image3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image" Target="../media/image48.png"/><Relationship Id="rId3" Type="http://schemas.openxmlformats.org/officeDocument/2006/relationships/image" Target="../media/image1.jpeg"/><Relationship Id="rId2" Type="http://schemas.openxmlformats.org/officeDocument/2006/relationships/image" Target="../media/image47.png"/><Relationship Id="rId1" Type="http://schemas.openxmlformats.org/officeDocument/2006/relationships/image" Target="../media/image46.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49.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50.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51.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1.jpeg"/><Relationship Id="rId1" Type="http://schemas.openxmlformats.org/officeDocument/2006/relationships/image" Target="../media/image52.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53.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2.xml"/><Relationship Id="rId4" Type="http://schemas.openxmlformats.org/officeDocument/2006/relationships/image" Target="../media/image1.jpe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image" Target="../media/image1.jpe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jpeg"/><Relationship Id="rId3" Type="http://schemas.openxmlformats.org/officeDocument/2006/relationships/image" Target="../media/image55.png"/><Relationship Id="rId2" Type="http://schemas.openxmlformats.org/officeDocument/2006/relationships/image" Target="../media/image56.png"/><Relationship Id="rId1"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2.png"/><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3.png"/><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jpe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2.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2.xml"/><Relationship Id="rId3"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image" Target="../media/image6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2.xml"/><Relationship Id="rId2" Type="http://schemas.openxmlformats.org/officeDocument/2006/relationships/image" Target="../media/image67.png"/><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tags" Target="../tags/tag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0.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71.png"/><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2.xml"/><Relationship Id="rId2" Type="http://schemas.openxmlformats.org/officeDocument/2006/relationships/image" Target="../media/image72.png"/><Relationship Id="rId1" Type="http://schemas.openxmlformats.org/officeDocument/2006/relationships/image" Target="../media/image1.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image" Target="../media/image73.png"/><Relationship Id="rId1" Type="http://schemas.openxmlformats.org/officeDocument/2006/relationships/image" Target="../media/image1.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2.xml"/><Relationship Id="rId2" Type="http://schemas.openxmlformats.org/officeDocument/2006/relationships/image" Target="../media/image74.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2.xml"/><Relationship Id="rId2" Type="http://schemas.openxmlformats.org/officeDocument/2006/relationships/image" Target="../media/image75.png"/><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76.png"/><Relationship Id="rId1" Type="http://schemas.openxmlformats.org/officeDocument/2006/relationships/image" Target="../media/image1.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2.xml"/><Relationship Id="rId2" Type="http://schemas.openxmlformats.org/officeDocument/2006/relationships/image" Target="../media/image77.png"/><Relationship Id="rId1" Type="http://schemas.openxmlformats.org/officeDocument/2006/relationships/image" Target="../media/image1.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78.png"/><Relationship Id="rId1" Type="http://schemas.openxmlformats.org/officeDocument/2006/relationships/image" Target="../media/image1.jpe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2.xml"/><Relationship Id="rId2" Type="http://schemas.openxmlformats.org/officeDocument/2006/relationships/image" Target="../media/image79.png"/><Relationship Id="rId1" Type="http://schemas.openxmlformats.org/officeDocument/2006/relationships/image" Target="../media/image1.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2.xml"/><Relationship Id="rId2" Type="http://schemas.openxmlformats.org/officeDocument/2006/relationships/image" Target="../media/image80.png"/><Relationship Id="rId1" Type="http://schemas.openxmlformats.org/officeDocument/2006/relationships/image" Target="../media/image1.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2.xml"/><Relationship Id="rId2" Type="http://schemas.openxmlformats.org/officeDocument/2006/relationships/image" Target="../media/image81.png"/><Relationship Id="rId1" Type="http://schemas.openxmlformats.org/officeDocument/2006/relationships/image" Target="../media/image1.jpe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2.xml"/><Relationship Id="rId2" Type="http://schemas.openxmlformats.org/officeDocument/2006/relationships/image" Target="../media/image82.png"/><Relationship Id="rId1" Type="http://schemas.openxmlformats.org/officeDocument/2006/relationships/image" Target="../media/image1.jpe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2.xml"/><Relationship Id="rId2" Type="http://schemas.openxmlformats.org/officeDocument/2006/relationships/image" Target="../media/image83.png"/><Relationship Id="rId1" Type="http://schemas.openxmlformats.org/officeDocument/2006/relationships/image" Target="../media/image1.jpe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2.xml"/><Relationship Id="rId2" Type="http://schemas.openxmlformats.org/officeDocument/2006/relationships/image" Target="../media/image84.png"/><Relationship Id="rId1" Type="http://schemas.openxmlformats.org/officeDocument/2006/relationships/image" Target="../media/image1.jpe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12.xml"/><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1.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2.xml"/><Relationship Id="rId2" Type="http://schemas.openxmlformats.org/officeDocument/2006/relationships/image" Target="../media/image87.png"/><Relationship Id="rId1" Type="http://schemas.openxmlformats.org/officeDocument/2006/relationships/image" Target="../media/image1.jpe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2.xml"/><Relationship Id="rId2" Type="http://schemas.openxmlformats.org/officeDocument/2006/relationships/image" Target="../media/image88.png"/><Relationship Id="rId1" Type="http://schemas.openxmlformats.org/officeDocument/2006/relationships/image" Target="../media/image1.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2.xml"/><Relationship Id="rId2" Type="http://schemas.openxmlformats.org/officeDocument/2006/relationships/image" Target="../media/image89.png"/><Relationship Id="rId1" Type="http://schemas.openxmlformats.org/officeDocument/2006/relationships/image" Target="../media/image1.jpe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90.png"/><Relationship Id="rId1" Type="http://schemas.openxmlformats.org/officeDocument/2006/relationships/image" Target="../media/image1.jpe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2.xml"/><Relationship Id="rId2" Type="http://schemas.openxmlformats.org/officeDocument/2006/relationships/image" Target="../media/image91.png"/><Relationship Id="rId1" Type="http://schemas.openxmlformats.org/officeDocument/2006/relationships/image" Target="../media/image1.jpe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2.xml"/><Relationship Id="rId2" Type="http://schemas.openxmlformats.org/officeDocument/2006/relationships/image" Target="../media/image92.png"/><Relationship Id="rId1" Type="http://schemas.openxmlformats.org/officeDocument/2006/relationships/image" Target="../media/image1.jpe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2.xml"/><Relationship Id="rId2" Type="http://schemas.openxmlformats.org/officeDocument/2006/relationships/image" Target="../media/image93.png"/><Relationship Id="rId1" Type="http://schemas.openxmlformats.org/officeDocument/2006/relationships/image" Target="../media/image1.jpe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2.xml"/><Relationship Id="rId2" Type="http://schemas.openxmlformats.org/officeDocument/2006/relationships/image" Target="../media/image94.png"/><Relationship Id="rId1" Type="http://schemas.openxmlformats.org/officeDocument/2006/relationships/image" Target="../media/image1.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2.xml"/><Relationship Id="rId2" Type="http://schemas.openxmlformats.org/officeDocument/2006/relationships/image" Target="../media/image95.png"/><Relationship Id="rId1" Type="http://schemas.openxmlformats.org/officeDocument/2006/relationships/image" Target="../media/image1.jpe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2.xml"/><Relationship Id="rId2" Type="http://schemas.openxmlformats.org/officeDocument/2006/relationships/image" Target="../media/image96.png"/><Relationship Id="rId1" Type="http://schemas.openxmlformats.org/officeDocument/2006/relationships/image" Target="../media/image1.jpe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2.xml"/><Relationship Id="rId2" Type="http://schemas.openxmlformats.org/officeDocument/2006/relationships/image" Target="../media/image97.png"/><Relationship Id="rId1" Type="http://schemas.openxmlformats.org/officeDocument/2006/relationships/image" Target="../media/image1.jpe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2.xml"/><Relationship Id="rId2" Type="http://schemas.openxmlformats.org/officeDocument/2006/relationships/image" Target="../media/image98.png"/><Relationship Id="rId1" Type="http://schemas.openxmlformats.org/officeDocument/2006/relationships/image" Target="../media/image1.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2.xml"/><Relationship Id="rId2" Type="http://schemas.openxmlformats.org/officeDocument/2006/relationships/image" Target="../media/image99.png"/><Relationship Id="rId1" Type="http://schemas.openxmlformats.org/officeDocument/2006/relationships/image" Target="../media/image1.jpe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2.xml"/><Relationship Id="rId2" Type="http://schemas.openxmlformats.org/officeDocument/2006/relationships/image" Target="../media/image100.png"/><Relationship Id="rId1" Type="http://schemas.openxmlformats.org/officeDocument/2006/relationships/image" Target="../media/image1.jpe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2.xml"/><Relationship Id="rId2" Type="http://schemas.openxmlformats.org/officeDocument/2006/relationships/image" Target="../media/image101.png"/><Relationship Id="rId1" Type="http://schemas.openxmlformats.org/officeDocument/2006/relationships/image" Target="../media/image1.jpe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2.xml"/><Relationship Id="rId2" Type="http://schemas.openxmlformats.org/officeDocument/2006/relationships/image" Target="../media/image10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rPr>
              <a:t>信息安全技术课程实验</a:t>
            </a:r>
            <a:endParaRPr sz="3600" b="1" kern="0" spc="-30" dirty="0">
              <a:solidFill>
                <a:srgbClr val="000000">
                  <a:alpha val="100000"/>
                </a:srgbClr>
              </a:solidFill>
              <a:latin typeface="仿宋" panose="02010609060101010101" charset="-122"/>
              <a:ea typeface="仿宋" panose="02010609060101010101" charset="-122"/>
              <a:cs typeface="仿宋" panose="02010609060101010101" charset="-122"/>
            </a:endParaRPr>
          </a:p>
          <a:p>
            <a:pPr algn="l" rtl="0" eaLnBrk="0">
              <a:lnSpc>
                <a:spcPct val="106000"/>
              </a:lnSpc>
            </a:pPr>
            <a:endParaRPr sz="3600" b="1" kern="0" spc="-30" dirty="0">
              <a:solidFill>
                <a:srgbClr val="000000">
                  <a:alpha val="100000"/>
                </a:srgbClr>
              </a:solidFill>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p:nvPr/>
        </p:nvSpPr>
        <p:spPr>
          <a:xfrm>
            <a:off x="1511935" y="1099820"/>
            <a:ext cx="10680065" cy="288290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251460" indent="-238760" algn="l" rtl="0" eaLnBrk="0">
              <a:lnSpc>
                <a:spcPct val="107000"/>
              </a:lnSpc>
            </a:pPr>
            <a:r>
              <a:rPr sz="2800" kern="0" dirty="0">
                <a:solidFill>
                  <a:srgbClr val="000000">
                    <a:alpha val="100000"/>
                  </a:srgbClr>
                </a:solidFill>
              </a:rPr>
              <a:t>https://seedsecuritylabs.org/chinese/labsetup.html</a:t>
            </a:r>
            <a:endParaRPr sz="2800" kern="0" dirty="0">
              <a:solidFill>
                <a:srgbClr val="000000">
                  <a:alpha val="100000"/>
                </a:srgbClr>
              </a:solidFill>
            </a:endParaRPr>
          </a:p>
        </p:txBody>
      </p:sp>
      <p:sp>
        <p:nvSpPr>
          <p:cNvPr id="12" name="textbox 12"/>
          <p:cNvSpPr/>
          <p:nvPr/>
        </p:nvSpPr>
        <p:spPr>
          <a:xfrm>
            <a:off x="1585923" y="491245"/>
            <a:ext cx="38525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6000"/>
              </a:lnSpc>
            </a:pPr>
            <a:r>
              <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rPr>
              <a:t>Seed </a:t>
            </a:r>
            <a:r>
              <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rPr>
              <a:t>Leb</a:t>
            </a:r>
            <a:endPar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6" name="path 1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 name="picture 18"/>
          <p:cNvPicPr>
            <a:picLocks noChangeAspect="1"/>
          </p:cNvPicPr>
          <p:nvPr/>
        </p:nvPicPr>
        <p:blipFill>
          <a:blip r:embed="rId1"/>
          <a:stretch>
            <a:fillRect/>
          </a:stretch>
        </p:blipFill>
        <p:spPr>
          <a:xfrm rot="21600000">
            <a:off x="822960" y="408431"/>
            <a:ext cx="420623" cy="655320"/>
          </a:xfrm>
          <a:prstGeom prst="rect">
            <a:avLst/>
          </a:prstGeom>
        </p:spPr>
      </p:pic>
      <p:sp>
        <p:nvSpPr>
          <p:cNvPr id="20" name="path 2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956945" y="1619885"/>
            <a:ext cx="10421620" cy="4549140"/>
          </a:xfrm>
          <a:prstGeom prst="rect">
            <a:avLst/>
          </a:prstGeom>
        </p:spPr>
      </p:pic>
      <p:sp>
        <p:nvSpPr>
          <p:cNvPr id="3" name="矩形 2"/>
          <p:cNvSpPr/>
          <p:nvPr/>
        </p:nvSpPr>
        <p:spPr>
          <a:xfrm>
            <a:off x="5006975" y="2800985"/>
            <a:ext cx="2360295" cy="3316605"/>
          </a:xfrm>
          <a:prstGeom prst="rect">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p:nvPr/>
        </p:nvSpPr>
        <p:spPr>
          <a:xfrm>
            <a:off x="1585923" y="491245"/>
            <a:ext cx="38525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6000"/>
              </a:lnSpc>
            </a:pPr>
            <a:r>
              <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rPr>
              <a:t>Seed </a:t>
            </a:r>
            <a:r>
              <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rPr>
              <a:t>Leb</a:t>
            </a:r>
            <a:endPar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6" name="path 1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 name="picture 18"/>
          <p:cNvPicPr>
            <a:picLocks noChangeAspect="1"/>
          </p:cNvPicPr>
          <p:nvPr/>
        </p:nvPicPr>
        <p:blipFill>
          <a:blip r:embed="rId1"/>
          <a:stretch>
            <a:fillRect/>
          </a:stretch>
        </p:blipFill>
        <p:spPr>
          <a:xfrm rot="21600000">
            <a:off x="822960" y="408431"/>
            <a:ext cx="420623" cy="655320"/>
          </a:xfrm>
          <a:prstGeom prst="rect">
            <a:avLst/>
          </a:prstGeom>
        </p:spPr>
      </p:pic>
      <p:sp>
        <p:nvSpPr>
          <p:cNvPr id="20" name="path 2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4" name="图片 3"/>
          <p:cNvPicPr>
            <a:picLocks noChangeAspect="1"/>
          </p:cNvPicPr>
          <p:nvPr>
            <p:custDataLst>
              <p:tags r:id="rId2"/>
            </p:custDataLst>
          </p:nvPr>
        </p:nvPicPr>
        <p:blipFill>
          <a:blip r:embed="rId3"/>
          <a:stretch>
            <a:fillRect/>
          </a:stretch>
        </p:blipFill>
        <p:spPr>
          <a:xfrm>
            <a:off x="3218180" y="0"/>
            <a:ext cx="639953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p:nvPr/>
        </p:nvSpPr>
        <p:spPr>
          <a:xfrm>
            <a:off x="1585923" y="491245"/>
            <a:ext cx="38525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6000"/>
              </a:lnSpc>
            </a:pPr>
            <a:r>
              <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rPr>
              <a:t>Seed </a:t>
            </a:r>
            <a:r>
              <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rPr>
              <a:t>Leb</a:t>
            </a:r>
            <a:endParaRPr lang="en-US" sz="3100" b="1" kern="0" spc="-110" dirty="0">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6" name="path 1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 name="picture 18"/>
          <p:cNvPicPr>
            <a:picLocks noChangeAspect="1"/>
          </p:cNvPicPr>
          <p:nvPr/>
        </p:nvPicPr>
        <p:blipFill>
          <a:blip r:embed="rId1"/>
          <a:stretch>
            <a:fillRect/>
          </a:stretch>
        </p:blipFill>
        <p:spPr>
          <a:xfrm rot="21600000">
            <a:off x="822960" y="408431"/>
            <a:ext cx="420623" cy="655320"/>
          </a:xfrm>
          <a:prstGeom prst="rect">
            <a:avLst/>
          </a:prstGeom>
        </p:spPr>
      </p:pic>
      <p:sp>
        <p:nvSpPr>
          <p:cNvPr id="20" name="path 2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3101975" y="1183005"/>
            <a:ext cx="5967730" cy="48437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rPr>
              <a:t>分组密码的工作模式</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p:nvPr/>
        </p:nvSpPr>
        <p:spPr>
          <a:xfrm>
            <a:off x="822960" y="1392555"/>
            <a:ext cx="10680065" cy="288290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251460" indent="-238760" algn="l" rtl="0" eaLnBrk="0">
              <a:lnSpc>
                <a:spcPct val="107000"/>
              </a:lnSpc>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分组密码的工作模式是：根据不同的数据格式和安全性要求,</a:t>
            </a:r>
            <a:r>
              <a:rPr sz="2800" kern="0" spc="47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以</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一个具体的分组密码算法为基础构造一个分组密码系统的方</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法</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89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分组密码的工作模</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式应当力求简单,</a:t>
            </a:r>
            <a:r>
              <a:rPr sz="28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有效和易于实现</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69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需要采用适当的工</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作模式来隐蔽明文的统计特性、数据的格式等</a:t>
            </a:r>
            <a:endParaRPr sz="2800" dirty="0">
              <a:latin typeface="仿宋" panose="02010609060101010101" charset="-122"/>
              <a:ea typeface="仿宋" panose="02010609060101010101" charset="-122"/>
              <a:cs typeface="仿宋" panose="02010609060101010101" charset="-122"/>
            </a:endParaRPr>
          </a:p>
          <a:p>
            <a:pPr algn="l" rtl="0" eaLnBrk="0">
              <a:lnSpc>
                <a:spcPct val="101000"/>
              </a:lnSpc>
            </a:pPr>
            <a:endParaRPr sz="14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4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降低删除、重放、插入和伪造成功的机会</a:t>
            </a:r>
            <a:endParaRPr sz="2800" dirty="0">
              <a:latin typeface="仿宋" panose="02010609060101010101" charset="-122"/>
              <a:ea typeface="仿宋" panose="02010609060101010101" charset="-122"/>
              <a:cs typeface="仿宋" panose="02010609060101010101" charset="-122"/>
            </a:endParaRPr>
          </a:p>
        </p:txBody>
      </p:sp>
      <p:sp>
        <p:nvSpPr>
          <p:cNvPr id="12" name="textbox 12"/>
          <p:cNvSpPr/>
          <p:nvPr/>
        </p:nvSpPr>
        <p:spPr>
          <a:xfrm>
            <a:off x="1585923" y="491245"/>
            <a:ext cx="38525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6000"/>
              </a:lnSpc>
            </a:pP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为什么需要工作模式？</a:t>
            </a:r>
            <a:endParaRPr sz="3100" dirty="0">
              <a:latin typeface="仿宋" panose="02010609060101010101" charset="-122"/>
              <a:ea typeface="仿宋" panose="02010609060101010101" charset="-122"/>
              <a:cs typeface="仿宋" panose="02010609060101010101" charset="-122"/>
            </a:endParaRPr>
          </a:p>
        </p:txBody>
      </p:sp>
      <p:sp>
        <p:nvSpPr>
          <p:cNvPr id="16" name="path 1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 name="picture 18"/>
          <p:cNvPicPr>
            <a:picLocks noChangeAspect="1"/>
          </p:cNvPicPr>
          <p:nvPr/>
        </p:nvPicPr>
        <p:blipFill>
          <a:blip r:embed="rId1"/>
          <a:stretch>
            <a:fillRect/>
          </a:stretch>
        </p:blipFill>
        <p:spPr>
          <a:xfrm rot="21600000">
            <a:off x="822960" y="408431"/>
            <a:ext cx="420623" cy="655320"/>
          </a:xfrm>
          <a:prstGeom prst="rect">
            <a:avLst/>
          </a:prstGeom>
        </p:spPr>
      </p:pic>
      <p:sp>
        <p:nvSpPr>
          <p:cNvPr id="20" name="path 2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p:nvPr/>
        </p:nvSpPr>
        <p:spPr>
          <a:xfrm>
            <a:off x="1468120" y="1399540"/>
            <a:ext cx="9037955" cy="2987675"/>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1．电码本(ECB)模</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式</a:t>
            </a:r>
            <a:endParaRPr sz="2800" dirty="0">
              <a:latin typeface="仿宋" panose="02010609060101010101" charset="-122"/>
              <a:ea typeface="仿宋" panose="02010609060101010101" charset="-122"/>
              <a:cs typeface="仿宋" panose="02010609060101010101" charset="-122"/>
            </a:endParaRPr>
          </a:p>
          <a:p>
            <a:pPr marL="66675" algn="l" rtl="0" eaLnBrk="0">
              <a:lnSpc>
                <a:spcPct val="95000"/>
              </a:lnSpc>
              <a:spcBef>
                <a:spcPts val="186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2．密码分组链接(CBC)</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800" dirty="0">
              <a:latin typeface="仿宋" panose="02010609060101010101" charset="-122"/>
              <a:ea typeface="仿宋" panose="02010609060101010101" charset="-122"/>
              <a:cs typeface="仿宋" panose="02010609060101010101" charset="-122"/>
            </a:endParaRPr>
          </a:p>
          <a:p>
            <a:pPr marL="69215" algn="l" rtl="0" eaLnBrk="0">
              <a:lnSpc>
                <a:spcPct val="95000"/>
              </a:lnSpc>
              <a:spcBef>
                <a:spcPts val="1825"/>
              </a:spcBef>
            </a:pP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3．密码反馈(CFB)模式</a:t>
            </a:r>
            <a:endParaRPr sz="2800" dirty="0">
              <a:latin typeface="仿宋" panose="02010609060101010101" charset="-122"/>
              <a:ea typeface="仿宋" panose="02010609060101010101" charset="-122"/>
              <a:cs typeface="仿宋" panose="02010609060101010101" charset="-122"/>
            </a:endParaRPr>
          </a:p>
          <a:p>
            <a:pPr marL="60960" algn="l" rtl="0" eaLnBrk="0">
              <a:lnSpc>
                <a:spcPct val="95000"/>
              </a:lnSpc>
              <a:spcBef>
                <a:spcPts val="185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4．输出反馈(OFB)模</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式</a:t>
            </a:r>
            <a:endParaRPr sz="2800" dirty="0">
              <a:latin typeface="仿宋" panose="02010609060101010101" charset="-122"/>
              <a:ea typeface="仿宋" panose="02010609060101010101" charset="-122"/>
              <a:cs typeface="仿宋" panose="02010609060101010101" charset="-122"/>
            </a:endParaRPr>
          </a:p>
          <a:p>
            <a:pPr algn="l" rtl="0" eaLnBrk="0">
              <a:lnSpc>
                <a:spcPct val="102000"/>
              </a:lnSpc>
            </a:pPr>
            <a:endParaRPr sz="1500" dirty="0">
              <a:latin typeface="Arial" panose="020B0604020202020204" pitchFamily="34" charset="0"/>
              <a:ea typeface="Arial" panose="020B0604020202020204" pitchFamily="34" charset="0"/>
              <a:cs typeface="Arial" panose="020B0604020202020204" pitchFamily="34" charset="0"/>
            </a:endParaRPr>
          </a:p>
          <a:p>
            <a:pPr marL="69215" algn="l" rtl="0" eaLnBrk="0">
              <a:lnSpc>
                <a:spcPct val="95000"/>
              </a:lnSpc>
              <a:spcBef>
                <a:spcPts val="5"/>
              </a:spcBef>
            </a:pP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5.</a:t>
            </a:r>
            <a:r>
              <a:rPr sz="2800" kern="0" spc="24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计数器模式</a:t>
            </a:r>
            <a:endParaRPr sz="2800" dirty="0">
              <a:latin typeface="仿宋" panose="02010609060101010101" charset="-122"/>
              <a:ea typeface="仿宋" panose="02010609060101010101" charset="-122"/>
              <a:cs typeface="仿宋" panose="02010609060101010101" charset="-122"/>
            </a:endParaRPr>
          </a:p>
        </p:txBody>
      </p:sp>
      <p:sp>
        <p:nvSpPr>
          <p:cNvPr id="24" name="textbox 24"/>
          <p:cNvSpPr/>
          <p:nvPr/>
        </p:nvSpPr>
        <p:spPr>
          <a:xfrm>
            <a:off x="1576193" y="491245"/>
            <a:ext cx="4478654"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分组密码的主要工作模式</a:t>
            </a:r>
            <a:endParaRPr sz="3100" dirty="0">
              <a:latin typeface="仿宋" panose="02010609060101010101" charset="-122"/>
              <a:ea typeface="仿宋" panose="02010609060101010101" charset="-122"/>
              <a:cs typeface="仿宋" panose="02010609060101010101" charset="-122"/>
            </a:endParaRPr>
          </a:p>
        </p:txBody>
      </p:sp>
      <p:sp>
        <p:nvSpPr>
          <p:cNvPr id="28" name="path 2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0" name="picture 30"/>
          <p:cNvPicPr>
            <a:picLocks noChangeAspect="1"/>
          </p:cNvPicPr>
          <p:nvPr/>
        </p:nvPicPr>
        <p:blipFill>
          <a:blip r:embed="rId1"/>
          <a:stretch>
            <a:fillRect/>
          </a:stretch>
        </p:blipFill>
        <p:spPr>
          <a:xfrm rot="21600000">
            <a:off x="822960" y="408431"/>
            <a:ext cx="420623" cy="655320"/>
          </a:xfrm>
          <a:prstGeom prst="rect">
            <a:avLst/>
          </a:prstGeom>
        </p:spPr>
      </p:pic>
      <p:sp>
        <p:nvSpPr>
          <p:cNvPr id="32" name="path 3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a:t>
              </a:r>
              <a:r>
                <a:rPr lang="zh-CN" sz="2400" b="1" kern="0" spc="-30" dirty="0">
                  <a:solidFill>
                    <a:srgbClr val="FFFFFF">
                      <a:alpha val="100000"/>
                    </a:srgbClr>
                  </a:solidFill>
                  <a:latin typeface="仿宋" panose="02010609060101010101" charset="-122"/>
                  <a:ea typeface="仿宋" panose="02010609060101010101" charset="-122"/>
                  <a:cs typeface="仿宋" panose="02010609060101010101" charset="-122"/>
                </a:rPr>
                <a:t>文</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2"/>
          <p:cNvPicPr>
            <a:picLocks noChangeAspect="1"/>
          </p:cNvPicPr>
          <p:nvPr/>
        </p:nvPicPr>
        <p:blipFill>
          <a:blip r:embed="rId1"/>
          <a:stretch>
            <a:fillRect/>
          </a:stretch>
        </p:blipFill>
        <p:spPr>
          <a:xfrm rot="21600000">
            <a:off x="2133600" y="1530095"/>
            <a:ext cx="7239000" cy="4434840"/>
          </a:xfrm>
          <a:prstGeom prst="rect">
            <a:avLst/>
          </a:prstGeom>
        </p:spPr>
      </p:pic>
      <p:sp>
        <p:nvSpPr>
          <p:cNvPr id="64" name="textbox 64"/>
          <p:cNvSpPr/>
          <p:nvPr/>
        </p:nvSpPr>
        <p:spPr>
          <a:xfrm>
            <a:off x="1615921" y="491245"/>
            <a:ext cx="7479665"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电码本</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ECB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Electronic</a:t>
            </a:r>
            <a:r>
              <a:rPr sz="3100"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Code</a:t>
            </a:r>
            <a:r>
              <a:rPr sz="3100"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Book</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）模式</a:t>
            </a:r>
            <a:endParaRPr sz="3100" dirty="0">
              <a:latin typeface="仿宋" panose="02010609060101010101" charset="-122"/>
              <a:ea typeface="仿宋" panose="02010609060101010101" charset="-122"/>
              <a:cs typeface="仿宋" panose="02010609060101010101" charset="-122"/>
            </a:endParaRPr>
          </a:p>
        </p:txBody>
      </p:sp>
      <p:sp>
        <p:nvSpPr>
          <p:cNvPr id="68" name="path 6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0" name="picture 70"/>
          <p:cNvPicPr>
            <a:picLocks noChangeAspect="1"/>
          </p:cNvPicPr>
          <p:nvPr/>
        </p:nvPicPr>
        <p:blipFill>
          <a:blip r:embed="rId2"/>
          <a:stretch>
            <a:fillRect/>
          </a:stretch>
        </p:blipFill>
        <p:spPr>
          <a:xfrm rot="21600000">
            <a:off x="822960" y="408431"/>
            <a:ext cx="420623" cy="655320"/>
          </a:xfrm>
          <a:prstGeom prst="rect">
            <a:avLst/>
          </a:prstGeom>
        </p:spPr>
      </p:pic>
      <p:sp>
        <p:nvSpPr>
          <p:cNvPr id="72" name="path 7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4"/>
          <p:cNvSpPr/>
          <p:nvPr/>
        </p:nvSpPr>
        <p:spPr>
          <a:xfrm>
            <a:off x="1013704" y="1279821"/>
            <a:ext cx="9744075" cy="418020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400" kern="0" spc="-8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优点：</a:t>
            </a:r>
            <a:endParaRPr sz="2400" dirty="0">
              <a:latin typeface="仿宋" panose="02010609060101010101" charset="-122"/>
              <a:ea typeface="仿宋" panose="02010609060101010101" charset="-122"/>
              <a:cs typeface="仿宋" panose="02010609060101010101" charset="-122"/>
            </a:endParaRPr>
          </a:p>
          <a:p>
            <a:pPr marL="854710" algn="l" rtl="0" eaLnBrk="0">
              <a:lnSpc>
                <a:spcPct val="95000"/>
              </a:lnSpc>
              <a:spcBef>
                <a:spcPts val="720"/>
              </a:spcBef>
            </a:pPr>
            <a:r>
              <a:rPr sz="2400" b="1" kern="0" spc="-17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170" dirty="0">
                <a:solidFill>
                  <a:srgbClr val="1C1C1C">
                    <a:alpha val="100000"/>
                  </a:srgbClr>
                </a:solidFill>
                <a:latin typeface="Times New Roman" panose="02020603050405020304"/>
                <a:ea typeface="Times New Roman" panose="02020603050405020304"/>
                <a:cs typeface="Times New Roman" panose="02020603050405020304"/>
              </a:rPr>
              <a:t>1</a:t>
            </a:r>
            <a:r>
              <a:rPr sz="2400" b="1" kern="0" spc="-170" dirty="0">
                <a:solidFill>
                  <a:srgbClr val="1C1C1C">
                    <a:alpha val="100000"/>
                  </a:srgbClr>
                </a:solidFill>
                <a:latin typeface="仿宋" panose="02010609060101010101" charset="-122"/>
                <a:ea typeface="仿宋" panose="02010609060101010101" charset="-122"/>
                <a:cs typeface="仿宋" panose="02010609060101010101" charset="-122"/>
              </a:rPr>
              <a:t>）实现简单</a:t>
            </a:r>
            <a:r>
              <a:rPr sz="2400" b="1" kern="0" spc="-17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algn="r" rtl="0" eaLnBrk="0">
              <a:lnSpc>
                <a:spcPct val="93000"/>
              </a:lnSpc>
              <a:spcBef>
                <a:spcPts val="870"/>
              </a:spcBef>
            </a:pP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40" dirty="0">
                <a:solidFill>
                  <a:srgbClr val="1C1C1C">
                    <a:alpha val="100000"/>
                  </a:srgbClr>
                </a:solidFill>
                <a:latin typeface="Times New Roman" panose="02020603050405020304"/>
                <a:ea typeface="Times New Roman" panose="02020603050405020304"/>
                <a:cs typeface="Times New Roman" panose="02020603050405020304"/>
              </a:rPr>
              <a:t>2</a:t>
            </a: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）不同明文分组的加密可并行实施，尤其是</a:t>
            </a:r>
            <a:r>
              <a:rPr sz="2400" b="1" kern="0" spc="-50" dirty="0">
                <a:solidFill>
                  <a:srgbClr val="1C1C1C">
                    <a:alpha val="100000"/>
                  </a:srgbClr>
                </a:solidFill>
                <a:latin typeface="仿宋" panose="02010609060101010101" charset="-122"/>
                <a:ea typeface="仿宋" panose="02010609060101010101" charset="-122"/>
                <a:cs typeface="仿宋" panose="02010609060101010101" charset="-122"/>
              </a:rPr>
              <a:t>硬件实现时速度很快</a:t>
            </a:r>
            <a:endParaRPr sz="2400" dirty="0">
              <a:latin typeface="仿宋" panose="02010609060101010101" charset="-122"/>
              <a:ea typeface="仿宋" panose="02010609060101010101" charset="-122"/>
              <a:cs typeface="仿宋" panose="02010609060101010101" charset="-122"/>
            </a:endParaRPr>
          </a:p>
          <a:p>
            <a:pPr marL="12700" algn="l" rtl="0" eaLnBrk="0">
              <a:lnSpc>
                <a:spcPts val="2900"/>
              </a:lnSpc>
              <a:spcBef>
                <a:spcPts val="915"/>
              </a:spcBef>
            </a:pPr>
            <a:r>
              <a:rPr sz="2400" kern="0" spc="-8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缺点：</a:t>
            </a:r>
            <a:endParaRPr sz="2400" dirty="0">
              <a:latin typeface="仿宋" panose="02010609060101010101" charset="-122"/>
              <a:ea typeface="仿宋" panose="02010609060101010101" charset="-122"/>
              <a:cs typeface="仿宋" panose="02010609060101010101" charset="-122"/>
            </a:endParaRPr>
          </a:p>
          <a:p>
            <a:pPr marL="854710" algn="l" rtl="0" eaLnBrk="0">
              <a:lnSpc>
                <a:spcPct val="94000"/>
              </a:lnSpc>
              <a:spcBef>
                <a:spcPts val="700"/>
              </a:spcBef>
            </a:pP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80" dirty="0">
                <a:solidFill>
                  <a:srgbClr val="1C1C1C">
                    <a:alpha val="100000"/>
                  </a:srgbClr>
                </a:solidFill>
                <a:latin typeface="Times New Roman" panose="02020603050405020304"/>
                <a:ea typeface="Times New Roman" panose="02020603050405020304"/>
                <a:cs typeface="Times New Roman" panose="02020603050405020304"/>
              </a:rPr>
              <a:t>1</a:t>
            </a: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80" dirty="0">
                <a:solidFill>
                  <a:srgbClr val="FF0000">
                    <a:alpha val="100000"/>
                  </a:srgbClr>
                </a:solidFill>
                <a:latin typeface="仿宋" panose="02010609060101010101" charset="-122"/>
                <a:ea typeface="仿宋" panose="02010609060101010101" charset="-122"/>
                <a:cs typeface="仿宋" panose="02010609060101010101" charset="-122"/>
              </a:rPr>
              <a:t>相同明文分组对应相同密文分组</a:t>
            </a:r>
            <a:endParaRPr sz="2400" dirty="0">
              <a:latin typeface="仿宋" panose="02010609060101010101" charset="-122"/>
              <a:ea typeface="仿宋" panose="02010609060101010101" charset="-122"/>
              <a:cs typeface="仿宋" panose="02010609060101010101" charset="-122"/>
            </a:endParaRPr>
          </a:p>
          <a:p>
            <a:pPr marL="854710" algn="l" rtl="0" eaLnBrk="0">
              <a:lnSpc>
                <a:spcPct val="95000"/>
              </a:lnSpc>
              <a:spcBef>
                <a:spcPts val="900"/>
              </a:spcBef>
            </a:pP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40" dirty="0">
                <a:solidFill>
                  <a:srgbClr val="1C1C1C">
                    <a:alpha val="100000"/>
                  </a:srgbClr>
                </a:solidFill>
                <a:latin typeface="Times New Roman" panose="02020603050405020304"/>
                <a:ea typeface="Times New Roman" panose="02020603050405020304"/>
                <a:cs typeface="Times New Roman" panose="02020603050405020304"/>
              </a:rPr>
              <a:t>2</a:t>
            </a: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）不能隐蔽明文分组的统计规律和结构规</a:t>
            </a:r>
            <a:r>
              <a:rPr sz="2400" b="1" kern="0" spc="-50" dirty="0">
                <a:solidFill>
                  <a:srgbClr val="1C1C1C">
                    <a:alpha val="100000"/>
                  </a:srgbClr>
                </a:solidFill>
                <a:latin typeface="仿宋" panose="02010609060101010101" charset="-122"/>
                <a:ea typeface="仿宋" panose="02010609060101010101" charset="-122"/>
                <a:cs typeface="仿宋" panose="02010609060101010101" charset="-122"/>
              </a:rPr>
              <a:t>律</a:t>
            </a:r>
            <a:r>
              <a:rPr sz="2400" b="1" kern="0" spc="-50" dirty="0">
                <a:solidFill>
                  <a:srgbClr val="1C1C1C">
                    <a:alpha val="100000"/>
                  </a:srgbClr>
                </a:solidFill>
                <a:latin typeface="Times New Roman" panose="02020603050405020304"/>
                <a:ea typeface="Times New Roman" panose="02020603050405020304"/>
                <a:cs typeface="Times New Roman" panose="02020603050405020304"/>
              </a:rPr>
              <a:t>,</a:t>
            </a:r>
            <a:r>
              <a:rPr sz="2400" b="1" kern="0" spc="-50" dirty="0">
                <a:solidFill>
                  <a:srgbClr val="1C1C1C">
                    <a:alpha val="100000"/>
                  </a:srgbClr>
                </a:solidFill>
                <a:latin typeface="仿宋" panose="02010609060101010101" charset="-122"/>
                <a:ea typeface="仿宋" panose="02010609060101010101" charset="-122"/>
                <a:cs typeface="仿宋" panose="02010609060101010101" charset="-122"/>
              </a:rPr>
              <a:t>不能抵抗替换攻击</a:t>
            </a:r>
            <a:endParaRPr sz="2400" dirty="0">
              <a:latin typeface="仿宋" panose="02010609060101010101" charset="-122"/>
              <a:ea typeface="仿宋" panose="02010609060101010101" charset="-122"/>
              <a:cs typeface="仿宋" panose="02010609060101010101" charset="-122"/>
            </a:endParaRPr>
          </a:p>
          <a:p>
            <a:pPr marL="12700" algn="l" rtl="0" eaLnBrk="0">
              <a:lnSpc>
                <a:spcPts val="2570"/>
              </a:lnSpc>
              <a:spcBef>
                <a:spcPts val="865"/>
              </a:spcBef>
            </a:pPr>
            <a:r>
              <a:rPr sz="2100" kern="0" spc="-8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  </a:t>
            </a:r>
            <a:r>
              <a:rPr sz="2100" b="1" kern="0" spc="-80" dirty="0">
                <a:solidFill>
                  <a:srgbClr val="1C1C1C">
                    <a:alpha val="100000"/>
                  </a:srgbClr>
                </a:solidFill>
                <a:latin typeface="仿宋" panose="02010609060101010101" charset="-122"/>
                <a:ea typeface="仿宋" panose="02010609060101010101" charset="-122"/>
                <a:cs typeface="仿宋" panose="02010609060101010101" charset="-122"/>
              </a:rPr>
              <a:t>应用：</a:t>
            </a:r>
            <a:endParaRPr sz="2100" dirty="0">
              <a:latin typeface="仿宋" panose="02010609060101010101" charset="-122"/>
              <a:ea typeface="仿宋" panose="02010609060101010101" charset="-122"/>
              <a:cs typeface="仿宋" panose="02010609060101010101" charset="-122"/>
            </a:endParaRPr>
          </a:p>
          <a:p>
            <a:pPr marL="854710" algn="l" rtl="0" eaLnBrk="0">
              <a:lnSpc>
                <a:spcPct val="94000"/>
              </a:lnSpc>
              <a:spcBef>
                <a:spcPts val="1790"/>
              </a:spcBef>
            </a:pP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）用于随机数的加密保护</a:t>
            </a:r>
            <a:endParaRPr sz="2400" dirty="0">
              <a:latin typeface="仿宋" panose="02010609060101010101" charset="-122"/>
              <a:ea typeface="仿宋" panose="02010609060101010101" charset="-122"/>
              <a:cs typeface="仿宋" panose="02010609060101010101" charset="-122"/>
            </a:endParaRPr>
          </a:p>
          <a:p>
            <a:pPr algn="l" rtl="0" eaLnBrk="0">
              <a:lnSpc>
                <a:spcPct val="100000"/>
              </a:lnSpc>
            </a:pPr>
            <a:endParaRPr sz="11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854710" algn="l" rtl="0" eaLnBrk="0">
              <a:lnSpc>
                <a:spcPct val="94000"/>
              </a:lnSpc>
            </a:pP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）用于单分组明文的加密</a:t>
            </a:r>
            <a:endParaRPr sz="2400" dirty="0">
              <a:latin typeface="仿宋" panose="02010609060101010101" charset="-122"/>
              <a:ea typeface="仿宋" panose="02010609060101010101" charset="-122"/>
              <a:cs typeface="仿宋" panose="02010609060101010101" charset="-122"/>
            </a:endParaRPr>
          </a:p>
        </p:txBody>
      </p:sp>
      <p:sp>
        <p:nvSpPr>
          <p:cNvPr id="76" name="textbox 76"/>
          <p:cNvSpPr/>
          <p:nvPr/>
        </p:nvSpPr>
        <p:spPr>
          <a:xfrm>
            <a:off x="1553897" y="491245"/>
            <a:ext cx="3485515"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ECB模式的优、</a:t>
            </a:r>
            <a:r>
              <a:rPr sz="3100" kern="0" spc="-73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缺点</a:t>
            </a:r>
            <a:endParaRPr sz="3100" dirty="0">
              <a:latin typeface="仿宋" panose="02010609060101010101" charset="-122"/>
              <a:ea typeface="仿宋" panose="02010609060101010101" charset="-122"/>
              <a:cs typeface="仿宋" panose="02010609060101010101" charset="-122"/>
            </a:endParaRPr>
          </a:p>
        </p:txBody>
      </p:sp>
      <p:sp>
        <p:nvSpPr>
          <p:cNvPr id="80" name="path 8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82" name="picture 82"/>
          <p:cNvPicPr>
            <a:picLocks noChangeAspect="1"/>
          </p:cNvPicPr>
          <p:nvPr/>
        </p:nvPicPr>
        <p:blipFill>
          <a:blip r:embed="rId1"/>
          <a:stretch>
            <a:fillRect/>
          </a:stretch>
        </p:blipFill>
        <p:spPr>
          <a:xfrm rot="21600000">
            <a:off x="822960" y="408431"/>
            <a:ext cx="420623" cy="655320"/>
          </a:xfrm>
          <a:prstGeom prst="rect">
            <a:avLst/>
          </a:prstGeom>
        </p:spPr>
      </p:pic>
      <p:sp>
        <p:nvSpPr>
          <p:cNvPr id="84" name="path 8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table 86"/>
          <p:cNvGraphicFramePr>
            <a:graphicFrameLocks noGrp="1"/>
          </p:cNvGraphicFramePr>
          <p:nvPr/>
        </p:nvGraphicFramePr>
        <p:xfrm>
          <a:off x="2400663" y="1780564"/>
          <a:ext cx="6715123" cy="1435100"/>
        </p:xfrm>
        <a:graphic>
          <a:graphicData uri="http://schemas.openxmlformats.org/drawingml/2006/table">
            <a:tbl>
              <a:tblPr/>
              <a:tblGrid>
                <a:gridCol w="518794"/>
                <a:gridCol w="514984"/>
                <a:gridCol w="251459"/>
                <a:gridCol w="265429"/>
                <a:gridCol w="503554"/>
                <a:gridCol w="25400"/>
                <a:gridCol w="501015"/>
                <a:gridCol w="514984"/>
                <a:gridCol w="514984"/>
                <a:gridCol w="516255"/>
                <a:gridCol w="514984"/>
                <a:gridCol w="516890"/>
                <a:gridCol w="514984"/>
                <a:gridCol w="516890"/>
                <a:gridCol w="524509"/>
              </a:tblGrid>
              <a:tr h="724534">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114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7462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224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733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96215"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351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81610"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986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351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21285" algn="l" rtl="0" eaLnBrk="0">
                        <a:lnSpc>
                          <a:spcPct val="78000"/>
                        </a:lnSpc>
                        <a:spcBef>
                          <a:spcPts val="5"/>
                        </a:spcBef>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10</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6365" algn="l" rtl="0" eaLnBrk="0">
                        <a:lnSpc>
                          <a:spcPct val="78000"/>
                        </a:lnSpc>
                      </a:pPr>
                      <a:r>
                        <a:rPr sz="2700" kern="0" spc="-100" dirty="0">
                          <a:solidFill>
                            <a:srgbClr val="000000">
                              <a:alpha val="100000"/>
                            </a:srgbClr>
                          </a:solidFill>
                          <a:latin typeface="Times New Roman" panose="02020603050405020304"/>
                          <a:ea typeface="Times New Roman" panose="02020603050405020304"/>
                          <a:cs typeface="Times New Roman" panose="02020603050405020304"/>
                        </a:rPr>
                        <a:t>11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0015"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22555" algn="l" rtl="0" eaLnBrk="0">
                        <a:lnSpc>
                          <a:spcPct val="78000"/>
                        </a:lnSpc>
                        <a:spcBef>
                          <a:spcPts val="5"/>
                        </a:spcBef>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710565">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00965" indent="6350" algn="l" rtl="0" eaLnBrk="0">
                        <a:lnSpc>
                          <a:spcPct val="102000"/>
                        </a:lnSpc>
                      </a:pPr>
                      <a:r>
                        <a:rPr sz="13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时间</a:t>
                      </a:r>
                      <a:r>
                        <a:rPr sz="13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标记</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发送</a:t>
                      </a:r>
                      <a:endParaRPr sz="1300" dirty="0">
                        <a:latin typeface="宋体" panose="02010600030101010101" pitchFamily="2" charset="-122"/>
                        <a:ea typeface="宋体" panose="02010600030101010101" pitchFamily="2" charset="-122"/>
                        <a:cs typeface="宋体" panose="02010600030101010101" pitchFamily="2" charset="-122"/>
                      </a:endParaRPr>
                    </a:p>
                    <a:p>
                      <a:pPr marL="222250" algn="l" rtl="0" eaLnBrk="0">
                        <a:lnSpc>
                          <a:spcPts val="1700"/>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3558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接收</a:t>
                      </a:r>
                      <a:endParaRPr sz="1300" dirty="0">
                        <a:latin typeface="宋体" panose="02010600030101010101" pitchFamily="2" charset="-122"/>
                        <a:ea typeface="宋体" panose="02010600030101010101" pitchFamily="2" charset="-122"/>
                        <a:cs typeface="宋体" panose="02010600030101010101" pitchFamily="2" charset="-122"/>
                      </a:endParaRPr>
                    </a:p>
                    <a:p>
                      <a:pPr marL="236855" algn="l" rtl="0" eaLnBrk="0">
                        <a:lnSpc>
                          <a:spcPts val="1700"/>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6">
                  <a:txBody>
                    <a:bodyPr/>
                    <a:lstStyle/>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1143635" algn="l" rtl="0" eaLnBrk="0">
                        <a:lnSpc>
                          <a:spcPct val="95000"/>
                        </a:lnSpc>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储户姓名</a:t>
                      </a:r>
                      <a:r>
                        <a:rPr sz="13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120650" algn="l" rtl="0" eaLnBrk="0">
                        <a:lnSpc>
                          <a:spcPct val="95000"/>
                        </a:lnSpc>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储户帐号</a:t>
                      </a:r>
                      <a:r>
                        <a:rPr sz="13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marL="101600" indent="-1905" algn="l" rtl="0" eaLnBrk="0">
                        <a:lnSpc>
                          <a:spcPct val="102000"/>
                        </a:lnSpc>
                        <a:spcBef>
                          <a:spcPts val="5"/>
                        </a:spcBef>
                      </a:pPr>
                      <a:r>
                        <a:rPr sz="1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存款</a:t>
                      </a:r>
                      <a:r>
                        <a:rPr sz="13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金额</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graphicFrame>
        <p:nvGraphicFramePr>
          <p:cNvPr id="88" name="table 88"/>
          <p:cNvGraphicFramePr>
            <a:graphicFrameLocks noGrp="1"/>
          </p:cNvGraphicFramePr>
          <p:nvPr/>
        </p:nvGraphicFramePr>
        <p:xfrm>
          <a:off x="2397495" y="3469264"/>
          <a:ext cx="6706870" cy="1435735"/>
        </p:xfrm>
        <a:graphic>
          <a:graphicData uri="http://schemas.openxmlformats.org/drawingml/2006/table">
            <a:tbl>
              <a:tblPr/>
              <a:tblGrid>
                <a:gridCol w="518159"/>
                <a:gridCol w="514350"/>
                <a:gridCol w="250825"/>
                <a:gridCol w="264795"/>
                <a:gridCol w="502919"/>
                <a:gridCol w="25400"/>
                <a:gridCol w="500380"/>
                <a:gridCol w="514350"/>
                <a:gridCol w="514350"/>
                <a:gridCol w="515619"/>
                <a:gridCol w="514350"/>
                <a:gridCol w="516890"/>
                <a:gridCol w="514350"/>
                <a:gridCol w="516254"/>
                <a:gridCol w="523875"/>
              </a:tblGrid>
              <a:tr h="725169">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2114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7462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81610"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733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96215"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8351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82245"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90500"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84150"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1920"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10</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26365" algn="l" rtl="0" eaLnBrk="0">
                        <a:lnSpc>
                          <a:spcPct val="78000"/>
                        </a:lnSpc>
                      </a:pPr>
                      <a:r>
                        <a:rPr sz="2700" kern="0" spc="-100" dirty="0">
                          <a:solidFill>
                            <a:srgbClr val="000000">
                              <a:alpha val="100000"/>
                            </a:srgbClr>
                          </a:solidFill>
                          <a:latin typeface="Times New Roman" panose="02020603050405020304"/>
                          <a:ea typeface="Times New Roman" panose="02020603050405020304"/>
                          <a:cs typeface="Times New Roman" panose="02020603050405020304"/>
                        </a:rPr>
                        <a:t>11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20015"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2555"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710565">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00965" indent="6350" algn="l" rtl="0" eaLnBrk="0">
                        <a:lnSpc>
                          <a:spcPct val="102000"/>
                        </a:lnSpc>
                      </a:pPr>
                      <a:r>
                        <a:rPr sz="13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时间</a:t>
                      </a:r>
                      <a:r>
                        <a:rPr sz="13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标记</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发送</a:t>
                      </a:r>
                      <a:endParaRPr sz="1300" dirty="0">
                        <a:latin typeface="宋体" panose="02010600030101010101" pitchFamily="2" charset="-122"/>
                        <a:ea typeface="宋体" panose="02010600030101010101" pitchFamily="2" charset="-122"/>
                        <a:cs typeface="宋体" panose="02010600030101010101" pitchFamily="2" charset="-122"/>
                      </a:endParaRPr>
                    </a:p>
                    <a:p>
                      <a:pPr marL="222250" algn="l" rtl="0" eaLnBrk="0">
                        <a:lnSpc>
                          <a:spcPts val="1705"/>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3558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接收</a:t>
                      </a:r>
                      <a:endParaRPr sz="1300" dirty="0">
                        <a:latin typeface="宋体" panose="02010600030101010101" pitchFamily="2" charset="-122"/>
                        <a:ea typeface="宋体" panose="02010600030101010101" pitchFamily="2" charset="-122"/>
                        <a:cs typeface="宋体" panose="02010600030101010101" pitchFamily="2" charset="-122"/>
                      </a:endParaRPr>
                    </a:p>
                    <a:p>
                      <a:pPr marL="236855" algn="l" rtl="0" eaLnBrk="0">
                        <a:lnSpc>
                          <a:spcPts val="1705"/>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6">
                  <a:txBody>
                    <a:bodyPr/>
                    <a:lstStyle/>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marL="1143000" algn="l" rtl="0" eaLnBrk="0">
                        <a:lnSpc>
                          <a:spcPct val="95000"/>
                        </a:lnSpc>
                        <a:spcBef>
                          <a:spcPts val="5"/>
                        </a:spcBef>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储户姓名</a:t>
                      </a:r>
                      <a:r>
                        <a:rPr sz="1300" kern="0" spc="-2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120650" algn="l" rtl="0" eaLnBrk="0">
                        <a:lnSpc>
                          <a:spcPct val="95000"/>
                        </a:lnSpc>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储户帐号</a:t>
                      </a:r>
                      <a:r>
                        <a:rPr sz="1300" kern="0" spc="-2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marL="101600" indent="-1905" algn="l" rtl="0" eaLnBrk="0">
                        <a:lnSpc>
                          <a:spcPct val="102000"/>
                        </a:lnSpc>
                        <a:spcBef>
                          <a:spcPts val="5"/>
                        </a:spcBef>
                      </a:pPr>
                      <a:r>
                        <a:rPr sz="1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存款</a:t>
                      </a:r>
                      <a:r>
                        <a:rPr sz="13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金额</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sp>
        <p:nvSpPr>
          <p:cNvPr id="90" name="textbox 90"/>
          <p:cNvSpPr/>
          <p:nvPr/>
        </p:nvSpPr>
        <p:spPr>
          <a:xfrm>
            <a:off x="919073" y="5302046"/>
            <a:ext cx="10233025" cy="694690"/>
          </a:xfrm>
          <a:prstGeom prst="rect">
            <a:avLst/>
          </a:prstGeom>
          <a:noFill/>
          <a:ln w="0" cap="flat">
            <a:noFill/>
            <a:prstDash val="solid"/>
            <a:miter lim="0"/>
          </a:ln>
        </p:spPr>
        <p:txBody>
          <a:bodyPr vert="horz" wrap="square" lIns="0" tIns="0" rIns="0" bIns="0"/>
          <a:lstStyle/>
          <a:p>
            <a:pPr algn="l" rtl="0" eaLnBrk="0">
              <a:lnSpc>
                <a:spcPct val="106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91000"/>
              </a:lnSpc>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敌手</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通过截收从</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到</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的</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加密消息，只要将第</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5</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至第</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12</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分组替换为自己的姓</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名和帐号相对应的密文，即可将别人的存款存入自己的帐号。</a:t>
            </a:r>
            <a:endParaRPr sz="2400" dirty="0">
              <a:latin typeface="仿宋" panose="02010609060101010101" charset="-122"/>
              <a:ea typeface="仿宋" panose="02010609060101010101" charset="-122"/>
              <a:cs typeface="仿宋" panose="02010609060101010101" charset="-122"/>
            </a:endParaRPr>
          </a:p>
        </p:txBody>
      </p:sp>
      <p:sp>
        <p:nvSpPr>
          <p:cNvPr id="92" name="textbox 92"/>
          <p:cNvSpPr/>
          <p:nvPr/>
        </p:nvSpPr>
        <p:spPr>
          <a:xfrm>
            <a:off x="919073" y="1194613"/>
            <a:ext cx="9354819" cy="38735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400" kern="0" spc="-30" dirty="0">
                <a:solidFill>
                  <a:srgbClr val="FF0066">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例</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假设银行</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和银行</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之间的资金转帐系统所使用报文模式如下</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p:txBody>
      </p:sp>
      <p:sp>
        <p:nvSpPr>
          <p:cNvPr id="94" name="textbox 94"/>
          <p:cNvSpPr/>
          <p:nvPr/>
        </p:nvSpPr>
        <p:spPr>
          <a:xfrm>
            <a:off x="1615921" y="491245"/>
            <a:ext cx="4030979"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30" dirty="0">
                <a:solidFill>
                  <a:srgbClr val="1F4E79">
                    <a:alpha val="100000"/>
                  </a:srgbClr>
                </a:solidFill>
                <a:latin typeface="仿宋" panose="02010609060101010101" charset="-122"/>
                <a:ea typeface="仿宋" panose="02010609060101010101" charset="-122"/>
                <a:cs typeface="仿宋" panose="02010609060101010101" charset="-122"/>
              </a:rPr>
              <a:t>电码本模式缺陷的例子</a:t>
            </a:r>
            <a:endParaRPr sz="3100" dirty="0">
              <a:latin typeface="仿宋" panose="02010609060101010101" charset="-122"/>
              <a:ea typeface="仿宋" panose="02010609060101010101" charset="-122"/>
              <a:cs typeface="仿宋" panose="02010609060101010101" charset="-122"/>
            </a:endParaRPr>
          </a:p>
        </p:txBody>
      </p:sp>
      <p:sp>
        <p:nvSpPr>
          <p:cNvPr id="98" name="path 9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00" name="picture 100"/>
          <p:cNvPicPr>
            <a:picLocks noChangeAspect="1"/>
          </p:cNvPicPr>
          <p:nvPr/>
        </p:nvPicPr>
        <p:blipFill>
          <a:blip r:embed="rId1"/>
          <a:stretch>
            <a:fillRect/>
          </a:stretch>
        </p:blipFill>
        <p:spPr>
          <a:xfrm rot="21600000">
            <a:off x="822960" y="408431"/>
            <a:ext cx="420623" cy="655320"/>
          </a:xfrm>
          <a:prstGeom prst="rect">
            <a:avLst/>
          </a:prstGeom>
        </p:spPr>
      </p:pic>
      <p:sp>
        <p:nvSpPr>
          <p:cNvPr id="102" name="path 10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a:t>
              </a:r>
              <a:r>
                <a:rPr lang="zh-CN" sz="2400" b="1" kern="0" spc="-30" dirty="0">
                  <a:solidFill>
                    <a:srgbClr val="FFFFFF">
                      <a:alpha val="100000"/>
                    </a:srgbClr>
                  </a:solidFill>
                  <a:latin typeface="仿宋" panose="02010609060101010101" charset="-122"/>
                  <a:ea typeface="仿宋" panose="02010609060101010101" charset="-122"/>
                  <a:cs typeface="仿宋" panose="02010609060101010101" charset="-122"/>
                </a:rPr>
                <a:t>文</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box 132"/>
          <p:cNvSpPr/>
          <p:nvPr/>
        </p:nvSpPr>
        <p:spPr>
          <a:xfrm>
            <a:off x="919089" y="1566206"/>
            <a:ext cx="10036175" cy="837564"/>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60350" indent="-247650" algn="l" rtl="0" eaLnBrk="0">
              <a:lnSpc>
                <a:spcPct val="111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这种模式先将明文分组与上一次的密文块进行按比特异或</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，然后再进行加</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密处理。这种模式必须选择一个初始向量c</a:t>
            </a:r>
            <a:r>
              <a:rPr sz="2400" b="1" kern="0" spc="-10" baseline="-24000" dirty="0">
                <a:solidFill>
                  <a:srgbClr val="000000">
                    <a:alpha val="100000"/>
                  </a:srgbClr>
                </a:solidFill>
                <a:latin typeface="仿宋" panose="02010609060101010101" charset="-122"/>
                <a:ea typeface="仿宋" panose="02010609060101010101" charset="-122"/>
                <a:cs typeface="仿宋" panose="02010609060101010101" charset="-122"/>
              </a:rPr>
              <a:t>0</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=IV，用于加密第一块明文。</a:t>
            </a:r>
            <a:endParaRPr sz="2400" dirty="0">
              <a:latin typeface="仿宋" panose="02010609060101010101" charset="-122"/>
              <a:ea typeface="仿宋" panose="02010609060101010101" charset="-122"/>
              <a:cs typeface="仿宋" panose="02010609060101010101" charset="-122"/>
            </a:endParaRPr>
          </a:p>
        </p:txBody>
      </p:sp>
      <p:sp>
        <p:nvSpPr>
          <p:cNvPr id="134" name="textbox 134"/>
          <p:cNvSpPr/>
          <p:nvPr/>
        </p:nvSpPr>
        <p:spPr>
          <a:xfrm>
            <a:off x="4252379" y="3063424"/>
            <a:ext cx="2778125" cy="167322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pitchFamily="34" charset="0"/>
              <a:ea typeface="Arial" panose="020B0604020202020204" pitchFamily="34" charset="0"/>
              <a:cs typeface="Arial" panose="020B0604020202020204" pitchFamily="34" charset="0"/>
            </a:endParaRPr>
          </a:p>
          <a:p>
            <a:pPr marL="16510" algn="l" rtl="0" eaLnBrk="0">
              <a:lnSpc>
                <a:spcPct val="91000"/>
              </a:lnSpc>
            </a:pPr>
            <a:r>
              <a:rPr sz="3100" i="1" kern="0" spc="-50" dirty="0">
                <a:solidFill>
                  <a:srgbClr val="000000">
                    <a:alpha val="100000"/>
                  </a:srgbClr>
                </a:solidFill>
                <a:latin typeface="Times New Roman" panose="02020603050405020304"/>
                <a:ea typeface="Times New Roman" panose="02020603050405020304"/>
                <a:cs typeface="Times New Roman" panose="02020603050405020304"/>
              </a:rPr>
              <a:t>c</a:t>
            </a:r>
            <a:r>
              <a:rPr sz="2700" i="1" kern="0" spc="-5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1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40" dirty="0">
                <a:solidFill>
                  <a:srgbClr val="000000">
                    <a:alpha val="100000"/>
                  </a:srgbClr>
                </a:solidFill>
                <a:latin typeface="Times New Roman" panose="02020603050405020304"/>
                <a:ea typeface="Times New Roman" panose="02020603050405020304"/>
                <a:cs typeface="Times New Roman" panose="02020603050405020304"/>
              </a:rPr>
              <a:t>E</a:t>
            </a:r>
            <a:r>
              <a:rPr sz="2700" i="1" kern="0" spc="-120" baseline="-23000" dirty="0">
                <a:solidFill>
                  <a:srgbClr val="000000">
                    <a:alpha val="100000"/>
                  </a:srgbClr>
                </a:solidFill>
                <a:latin typeface="Times New Roman" panose="02020603050405020304"/>
                <a:ea typeface="Times New Roman" panose="02020603050405020304"/>
                <a:cs typeface="Times New Roman" panose="02020603050405020304"/>
              </a:rPr>
              <a:t>k</a:t>
            </a:r>
            <a:r>
              <a:rPr sz="17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20" dirty="0">
                <a:solidFill>
                  <a:srgbClr val="000000">
                    <a:alpha val="100000"/>
                  </a:srgbClr>
                </a:solidFill>
                <a:latin typeface="Times New Roman" panose="02020603050405020304"/>
                <a:ea typeface="Times New Roman" panose="02020603050405020304"/>
                <a:cs typeface="Times New Roman" panose="02020603050405020304"/>
              </a:rPr>
              <a:t>(</a:t>
            </a:r>
            <a:r>
              <a:rPr sz="3100" i="1" kern="0" spc="-120" dirty="0">
                <a:solidFill>
                  <a:srgbClr val="000000">
                    <a:alpha val="100000"/>
                  </a:srgbClr>
                </a:solidFill>
                <a:latin typeface="Times New Roman" panose="02020603050405020304"/>
                <a:ea typeface="Times New Roman" panose="02020603050405020304"/>
                <a:cs typeface="Times New Roman" panose="02020603050405020304"/>
              </a:rPr>
              <a:t>m</a:t>
            </a:r>
            <a:r>
              <a:rPr sz="2700" i="1" kern="0" spc="-12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3100" kern="0" spc="-3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20" dirty="0">
                <a:solidFill>
                  <a:srgbClr val="000000">
                    <a:alpha val="100000"/>
                  </a:srgbClr>
                </a:solidFill>
                <a:latin typeface="Times New Roman" panose="02020603050405020304"/>
                <a:ea typeface="Times New Roman" panose="02020603050405020304"/>
                <a:cs typeface="Times New Roman" panose="02020603050405020304"/>
              </a:rPr>
              <a:t>c</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i</a:t>
            </a:r>
            <a:r>
              <a:rPr sz="18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18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Times New Roman" panose="02020603050405020304"/>
                <a:ea typeface="Times New Roman" panose="02020603050405020304"/>
                <a:cs typeface="Times New Roman" panose="02020603050405020304"/>
              </a:rPr>
              <a:t>)</a:t>
            </a:r>
            <a:endParaRPr sz="3100" dirty="0">
              <a:latin typeface="Times New Roman" panose="02020603050405020304"/>
              <a:ea typeface="Times New Roman" panose="02020603050405020304"/>
              <a:cs typeface="Times New Roman" panose="02020603050405020304"/>
            </a:endParaRPr>
          </a:p>
          <a:p>
            <a:pPr algn="r" rtl="0" eaLnBrk="0">
              <a:lnSpc>
                <a:spcPts val="9600"/>
              </a:lnSpc>
            </a:pPr>
            <a:r>
              <a:rPr sz="3100" i="1" kern="0" spc="-40" dirty="0">
                <a:solidFill>
                  <a:srgbClr val="000000">
                    <a:alpha val="100000"/>
                  </a:srgbClr>
                </a:solidFill>
                <a:latin typeface="Times New Roman" panose="02020603050405020304"/>
                <a:ea typeface="Times New Roman" panose="02020603050405020304"/>
                <a:cs typeface="Times New Roman" panose="02020603050405020304"/>
              </a:rPr>
              <a:t>m</a:t>
            </a:r>
            <a:r>
              <a:rPr sz="2700" i="1" kern="0" spc="-40" baseline="-65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1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00" dirty="0">
                <a:solidFill>
                  <a:srgbClr val="000000">
                    <a:alpha val="100000"/>
                  </a:srgbClr>
                </a:solidFill>
                <a:latin typeface="Times New Roman" panose="02020603050405020304"/>
                <a:ea typeface="Times New Roman" panose="02020603050405020304"/>
                <a:cs typeface="Times New Roman" panose="02020603050405020304"/>
              </a:rPr>
              <a:t>D</a:t>
            </a:r>
            <a:r>
              <a:rPr sz="2700" i="1" kern="0" spc="-100" baseline="-65000" dirty="0">
                <a:solidFill>
                  <a:srgbClr val="000000">
                    <a:alpha val="100000"/>
                  </a:srgbClr>
                </a:solidFill>
                <a:latin typeface="Times New Roman" panose="02020603050405020304"/>
                <a:ea typeface="Times New Roman" panose="02020603050405020304"/>
                <a:cs typeface="Times New Roman" panose="02020603050405020304"/>
              </a:rPr>
              <a:t>k</a:t>
            </a:r>
            <a:r>
              <a:rPr sz="17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3100" i="1" kern="0" spc="-100" dirty="0">
                <a:solidFill>
                  <a:srgbClr val="000000">
                    <a:alpha val="100000"/>
                  </a:srgbClr>
                </a:solidFill>
                <a:latin typeface="Times New Roman" panose="02020603050405020304"/>
                <a:ea typeface="Times New Roman" panose="02020603050405020304"/>
                <a:cs typeface="Times New Roman" panose="02020603050405020304"/>
              </a:rPr>
              <a:t>c</a:t>
            </a:r>
            <a:r>
              <a:rPr sz="2700" i="1" kern="0" spc="-100" baseline="-65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3100" kern="0" spc="-3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10" dirty="0">
                <a:solidFill>
                  <a:srgbClr val="000000">
                    <a:alpha val="100000"/>
                  </a:srgbClr>
                </a:solidFill>
                <a:latin typeface="Times New Roman" panose="02020603050405020304"/>
                <a:ea typeface="Times New Roman" panose="02020603050405020304"/>
                <a:cs typeface="Times New Roman" panose="02020603050405020304"/>
              </a:rPr>
              <a:t>c</a:t>
            </a:r>
            <a:r>
              <a:rPr sz="1800" i="1" kern="0" spc="-110" dirty="0">
                <a:solidFill>
                  <a:srgbClr val="000000">
                    <a:alpha val="100000"/>
                  </a:srgbClr>
                </a:solidFill>
                <a:latin typeface="Times New Roman" panose="02020603050405020304"/>
                <a:ea typeface="Times New Roman" panose="02020603050405020304"/>
                <a:cs typeface="Times New Roman" panose="02020603050405020304"/>
              </a:rPr>
              <a:t>i</a:t>
            </a:r>
            <a:r>
              <a:rPr sz="1800" i="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p:txBody>
      </p:sp>
      <p:sp>
        <p:nvSpPr>
          <p:cNvPr id="136" name="textbox 136"/>
          <p:cNvSpPr/>
          <p:nvPr/>
        </p:nvSpPr>
        <p:spPr>
          <a:xfrm>
            <a:off x="1587760" y="506272"/>
            <a:ext cx="8103234" cy="43053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2000"/>
              </a:lnSpc>
            </a:pP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密码分组链接CBC（Cipher</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Block</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Chaining）模式</a:t>
            </a:r>
            <a:endParaRPr sz="2900" dirty="0">
              <a:latin typeface="仿宋" panose="02010609060101010101" charset="-122"/>
              <a:ea typeface="仿宋" panose="02010609060101010101" charset="-122"/>
              <a:cs typeface="仿宋" panose="02010609060101010101" charset="-122"/>
            </a:endParaRPr>
          </a:p>
        </p:txBody>
      </p:sp>
      <p:sp>
        <p:nvSpPr>
          <p:cNvPr id="138" name="textbox 138"/>
          <p:cNvSpPr/>
          <p:nvPr/>
        </p:nvSpPr>
        <p:spPr>
          <a:xfrm>
            <a:off x="919073" y="2572943"/>
            <a:ext cx="1771014" cy="152273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4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加密过程为</a:t>
            </a:r>
            <a:endParaRPr sz="2400" dirty="0">
              <a:latin typeface="仿宋" panose="02010609060101010101" charset="-122"/>
              <a:ea typeface="仿宋" panose="02010609060101010101" charset="-122"/>
              <a:cs typeface="仿宋" panose="02010609060101010101" charset="-122"/>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spcBef>
                <a:spcPts val="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解密过程为</a:t>
            </a:r>
            <a:endParaRPr sz="2400" dirty="0">
              <a:latin typeface="仿宋" panose="02010609060101010101" charset="-122"/>
              <a:ea typeface="仿宋" panose="02010609060101010101" charset="-122"/>
              <a:cs typeface="仿宋" panose="02010609060101010101" charset="-122"/>
            </a:endParaRPr>
          </a:p>
        </p:txBody>
      </p:sp>
      <p:sp>
        <p:nvSpPr>
          <p:cNvPr id="142" name="path 14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44" name="picture 144"/>
          <p:cNvPicPr>
            <a:picLocks noChangeAspect="1"/>
          </p:cNvPicPr>
          <p:nvPr/>
        </p:nvPicPr>
        <p:blipFill>
          <a:blip r:embed="rId1"/>
          <a:stretch>
            <a:fillRect/>
          </a:stretch>
        </p:blipFill>
        <p:spPr>
          <a:xfrm rot="21600000">
            <a:off x="822960" y="408431"/>
            <a:ext cx="420623" cy="655320"/>
          </a:xfrm>
          <a:prstGeom prst="rect">
            <a:avLst/>
          </a:prstGeom>
        </p:spPr>
      </p:pic>
      <p:sp>
        <p:nvSpPr>
          <p:cNvPr id="146" name="path 14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822960" y="1257935"/>
            <a:ext cx="11069320" cy="37477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2057400" y="1143000"/>
            <a:ext cx="8077200" cy="5019675"/>
          </a:xfrm>
          <a:prstGeom prst="rect">
            <a:avLst/>
          </a:prstGeom>
        </p:spPr>
      </p:pic>
      <p:sp>
        <p:nvSpPr>
          <p:cNvPr id="152" name="textbox 152"/>
          <p:cNvSpPr/>
          <p:nvPr/>
        </p:nvSpPr>
        <p:spPr>
          <a:xfrm>
            <a:off x="1587760" y="506272"/>
            <a:ext cx="8103234" cy="43053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2000"/>
              </a:lnSpc>
            </a:pP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密码分组链接CBC（Cipher</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Block</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Chaining）模式</a:t>
            </a:r>
            <a:endParaRPr sz="2900" dirty="0">
              <a:latin typeface="仿宋" panose="02010609060101010101" charset="-122"/>
              <a:ea typeface="仿宋" panose="02010609060101010101" charset="-122"/>
              <a:cs typeface="仿宋" panose="02010609060101010101" charset="-122"/>
            </a:endParaRPr>
          </a:p>
        </p:txBody>
      </p:sp>
      <p:pic>
        <p:nvPicPr>
          <p:cNvPr id="156" name="picture 156"/>
          <p:cNvPicPr>
            <a:picLocks noChangeAspect="1"/>
          </p:cNvPicPr>
          <p:nvPr/>
        </p:nvPicPr>
        <p:blipFill>
          <a:blip r:embed="rId2"/>
          <a:stretch>
            <a:fillRect/>
          </a:stretch>
        </p:blipFill>
        <p:spPr>
          <a:xfrm rot="21600000">
            <a:off x="822960" y="408431"/>
            <a:ext cx="420623" cy="655320"/>
          </a:xfrm>
          <a:prstGeom prst="rect">
            <a:avLst/>
          </a:prstGeom>
        </p:spPr>
      </p:pic>
      <p:sp>
        <p:nvSpPr>
          <p:cNvPr id="158" name="path 15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box 160"/>
          <p:cNvSpPr/>
          <p:nvPr/>
        </p:nvSpPr>
        <p:spPr>
          <a:xfrm>
            <a:off x="920964" y="1276841"/>
            <a:ext cx="10350500" cy="4472940"/>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pitchFamily="34" charset="0"/>
              <a:ea typeface="Arial" panose="020B0604020202020204" pitchFamily="34" charset="0"/>
              <a:cs typeface="Arial" panose="020B0604020202020204" pitchFamily="34" charset="0"/>
            </a:endParaRPr>
          </a:p>
          <a:p>
            <a:pPr marL="34290" algn="l" rtl="0" eaLnBrk="0">
              <a:lnSpc>
                <a:spcPct val="94000"/>
              </a:lnSpc>
            </a:pP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1.</a:t>
            </a:r>
            <a:r>
              <a:rPr sz="2800" kern="0" spc="4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明文块的统计特性得到了隐蔽</a:t>
            </a:r>
            <a:endParaRPr sz="2800" dirty="0">
              <a:latin typeface="仿宋" panose="02010609060101010101" charset="-122"/>
              <a:ea typeface="仿宋" panose="02010609060101010101" charset="-122"/>
              <a:cs typeface="仿宋" panose="02010609060101010101" charset="-122"/>
            </a:endParaRPr>
          </a:p>
          <a:p>
            <a:pPr marL="469265" algn="l" rtl="0" eaLnBrk="0">
              <a:lnSpc>
                <a:spcPct val="99000"/>
              </a:lnSpc>
              <a:spcBef>
                <a:spcPts val="1400"/>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由于在CBC模式中，各密</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文块不仅与当前明文块有关，而且还与以前的</a:t>
            </a:r>
            <a:endParaRPr sz="2400" dirty="0">
              <a:latin typeface="仿宋" panose="02010609060101010101" charset="-122"/>
              <a:ea typeface="仿宋" panose="02010609060101010101" charset="-122"/>
              <a:cs typeface="仿宋" panose="02010609060101010101" charset="-122"/>
            </a:endParaRPr>
          </a:p>
          <a:p>
            <a:pPr marL="720725" algn="l" rtl="0" eaLnBrk="0">
              <a:lnSpc>
                <a:spcPct val="93000"/>
              </a:lnSpc>
              <a:spcBef>
                <a:spcPts val="615"/>
              </a:spcBef>
            </a:pP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明文块及初始化向量有关，从而使明文的统计规律在密文中</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得到了较好</a:t>
            </a:r>
            <a:endParaRPr sz="2400" dirty="0">
              <a:latin typeface="仿宋" panose="02010609060101010101" charset="-122"/>
              <a:ea typeface="仿宋" panose="02010609060101010101" charset="-122"/>
              <a:cs typeface="仿宋" panose="02010609060101010101" charset="-122"/>
            </a:endParaRPr>
          </a:p>
          <a:p>
            <a:pPr marL="719455" algn="l" rtl="0" eaLnBrk="0">
              <a:lnSpc>
                <a:spcPct val="95000"/>
              </a:lnSpc>
              <a:spcBef>
                <a:spcPts val="775"/>
              </a:spcBef>
            </a:pP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的隐藏</a:t>
            </a:r>
            <a:endParaRPr sz="2400" dirty="0">
              <a:latin typeface="仿宋" panose="02010609060101010101" charset="-122"/>
              <a:ea typeface="仿宋" panose="02010609060101010101" charset="-122"/>
              <a:cs typeface="仿宋" panose="02010609060101010101" charset="-122"/>
            </a:endParaRPr>
          </a:p>
          <a:p>
            <a:pPr marL="12700" algn="l" rtl="0" eaLnBrk="0">
              <a:lnSpc>
                <a:spcPct val="94000"/>
              </a:lnSpc>
              <a:spcBef>
                <a:spcPts val="139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2.</a:t>
            </a:r>
            <a:r>
              <a:rPr sz="28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具有有限的(两步)错误传播特性</a:t>
            </a:r>
            <a:endParaRPr sz="2800" dirty="0">
              <a:latin typeface="仿宋" panose="02010609060101010101" charset="-122"/>
              <a:ea typeface="仿宋" panose="02010609060101010101" charset="-122"/>
              <a:cs typeface="仿宋" panose="02010609060101010101" charset="-122"/>
            </a:endParaRPr>
          </a:p>
          <a:p>
            <a:pPr marL="469265" algn="l" rtl="0" eaLnBrk="0">
              <a:lnSpc>
                <a:spcPct val="100000"/>
              </a:lnSpc>
              <a:spcBef>
                <a:spcPts val="1400"/>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一个密文块的错误将导致</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两个密文块不能正确解密</a:t>
            </a:r>
            <a:endParaRPr sz="2400" dirty="0">
              <a:latin typeface="仿宋" panose="02010609060101010101" charset="-122"/>
              <a:ea typeface="仿宋" panose="02010609060101010101" charset="-122"/>
              <a:cs typeface="仿宋" panose="02010609060101010101" charset="-122"/>
            </a:endParaRPr>
          </a:p>
          <a:p>
            <a:pPr marL="15240" algn="l" rtl="0" eaLnBrk="0">
              <a:lnSpc>
                <a:spcPct val="94000"/>
              </a:lnSpc>
              <a:spcBef>
                <a:spcPts val="1275"/>
              </a:spcBef>
            </a:pP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3.</a:t>
            </a:r>
            <a:r>
              <a:rPr sz="2800" kern="0" spc="28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具有自同步功能</a:t>
            </a:r>
            <a:endParaRPr sz="2800" dirty="0">
              <a:latin typeface="仿宋" panose="02010609060101010101" charset="-122"/>
              <a:ea typeface="仿宋" panose="02010609060101010101" charset="-122"/>
              <a:cs typeface="仿宋" panose="02010609060101010101" charset="-122"/>
            </a:endParaRPr>
          </a:p>
          <a:p>
            <a:pPr algn="l" rtl="0" eaLnBrk="0">
              <a:lnSpc>
                <a:spcPct val="100000"/>
              </a:lnSpc>
            </a:pPr>
            <a:endParaRPr sz="1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705485" indent="-236220" algn="l" rtl="0" eaLnBrk="0">
              <a:lnSpc>
                <a:spcPct val="108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密文出现丢块和错块不影响后续密文块的解密.若从第t块</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起密文块正确,</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则第t+1个明文块就能</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正确求出</a:t>
            </a:r>
            <a:endParaRPr sz="2400" dirty="0">
              <a:latin typeface="仿宋" panose="02010609060101010101" charset="-122"/>
              <a:ea typeface="仿宋" panose="02010609060101010101" charset="-122"/>
              <a:cs typeface="仿宋" panose="02010609060101010101" charset="-122"/>
            </a:endParaRPr>
          </a:p>
        </p:txBody>
      </p:sp>
      <p:sp>
        <p:nvSpPr>
          <p:cNvPr id="162" name="textbox 162"/>
          <p:cNvSpPr/>
          <p:nvPr/>
        </p:nvSpPr>
        <p:spPr>
          <a:xfrm>
            <a:off x="1560789" y="466861"/>
            <a:ext cx="2914650" cy="48386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Times New Roman" panose="02020603050405020304"/>
                <a:ea typeface="Times New Roman" panose="02020603050405020304"/>
                <a:cs typeface="Times New Roman" panose="02020603050405020304"/>
              </a:rPr>
              <a:t>CBC</a:t>
            </a:r>
            <a:r>
              <a:rPr sz="3100" b="1" kern="0" spc="120" dirty="0">
                <a:solidFill>
                  <a:srgbClr val="1F4E79">
                    <a:alpha val="100000"/>
                  </a:srgbClr>
                </a:solidFill>
                <a:latin typeface="仿宋" panose="02010609060101010101" charset="-122"/>
                <a:ea typeface="仿宋" panose="02010609060101010101" charset="-122"/>
                <a:cs typeface="仿宋" panose="02010609060101010101" charset="-122"/>
              </a:rPr>
              <a:t>模式的特点</a:t>
            </a:r>
            <a:endParaRPr sz="3100" dirty="0">
              <a:latin typeface="仿宋" panose="02010609060101010101" charset="-122"/>
              <a:ea typeface="仿宋" panose="02010609060101010101" charset="-122"/>
              <a:cs typeface="仿宋" panose="02010609060101010101" charset="-122"/>
            </a:endParaRPr>
          </a:p>
        </p:txBody>
      </p:sp>
      <p:sp>
        <p:nvSpPr>
          <p:cNvPr id="166" name="path 16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68" name="picture 168"/>
          <p:cNvPicPr>
            <a:picLocks noChangeAspect="1"/>
          </p:cNvPicPr>
          <p:nvPr/>
        </p:nvPicPr>
        <p:blipFill>
          <a:blip r:embed="rId1"/>
          <a:stretch>
            <a:fillRect/>
          </a:stretch>
        </p:blipFill>
        <p:spPr>
          <a:xfrm rot="21600000">
            <a:off x="822960" y="408431"/>
            <a:ext cx="420623" cy="655320"/>
          </a:xfrm>
          <a:prstGeom prst="rect">
            <a:avLst/>
          </a:prstGeom>
        </p:spPr>
      </p:pic>
      <p:sp>
        <p:nvSpPr>
          <p:cNvPr id="170" name="path 17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extbox 172"/>
          <p:cNvSpPr/>
          <p:nvPr/>
        </p:nvSpPr>
        <p:spPr>
          <a:xfrm>
            <a:off x="959713" y="1436666"/>
            <a:ext cx="9901555" cy="319595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目的</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lang="en-US" sz="24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检查文件在</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直接或加密</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传输和存储中是否遭到有意或无意</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的篡改</a:t>
            </a:r>
            <a:r>
              <a:rPr lang="zh-CN" sz="24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Times New Roman" panose="02020603050405020304"/>
              <a:ea typeface="Times New Roman" panose="02020603050405020304"/>
              <a:cs typeface="Times New Roman" panose="02020603050405020304"/>
            </a:endParaRPr>
          </a:p>
          <a:p>
            <a:pPr marL="12700" algn="l" rtl="0" eaLnBrk="0">
              <a:lnSpc>
                <a:spcPct val="100000"/>
              </a:lnSpc>
              <a:spcBef>
                <a:spcPts val="1805"/>
              </a:spcBef>
            </a:pP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关键技术</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541655" algn="l" rtl="0" eaLnBrk="0">
              <a:lnSpc>
                <a:spcPct val="93000"/>
              </a:lnSpc>
              <a:spcBef>
                <a:spcPts val="1545"/>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文件的制造者和检验</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者共享一个密钥</a:t>
            </a:r>
            <a:endParaRPr sz="2400" dirty="0">
              <a:latin typeface="仿宋" panose="02010609060101010101" charset="-122"/>
              <a:ea typeface="仿宋" panose="02010609060101010101" charset="-122"/>
              <a:cs typeface="仿宋" panose="02010609060101010101" charset="-122"/>
            </a:endParaRPr>
          </a:p>
          <a:p>
            <a:pPr marL="541655" algn="l" rtl="0" eaLnBrk="0">
              <a:lnSpc>
                <a:spcPct val="93000"/>
              </a:lnSpc>
              <a:spcBef>
                <a:spcPts val="1790"/>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文件的明文必须具有检验者预先知道的冗余</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度</a:t>
            </a:r>
            <a:endParaRPr sz="2400" dirty="0">
              <a:latin typeface="仿宋" panose="02010609060101010101" charset="-122"/>
              <a:ea typeface="仿宋" panose="02010609060101010101" charset="-122"/>
              <a:cs typeface="仿宋" panose="02010609060101010101" charset="-122"/>
            </a:endParaRPr>
          </a:p>
          <a:p>
            <a:pPr algn="r" rtl="0" eaLnBrk="0">
              <a:lnSpc>
                <a:spcPct val="93000"/>
              </a:lnSpc>
              <a:spcBef>
                <a:spcPts val="1790"/>
              </a:spcBef>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(3)</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文件的制造者用共享密</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钥对具有约定冗余度的明文用</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模式加密</a:t>
            </a:r>
            <a:endParaRPr sz="2400" dirty="0">
              <a:latin typeface="仿宋" panose="02010609060101010101" charset="-122"/>
              <a:ea typeface="仿宋" panose="02010609060101010101" charset="-122"/>
              <a:cs typeface="仿宋" panose="02010609060101010101" charset="-122"/>
            </a:endParaRPr>
          </a:p>
          <a:p>
            <a:pPr algn="l" rtl="0" eaLnBrk="0">
              <a:lnSpc>
                <a:spcPct val="104000"/>
              </a:lnSpc>
            </a:pPr>
            <a:endParaRPr sz="1400" dirty="0">
              <a:latin typeface="Arial" panose="020B0604020202020204" pitchFamily="34" charset="0"/>
              <a:ea typeface="Arial" panose="020B0604020202020204" pitchFamily="34" charset="0"/>
              <a:cs typeface="Arial" panose="020B0604020202020204" pitchFamily="34" charset="0"/>
            </a:endParaRPr>
          </a:p>
          <a:p>
            <a:pPr algn="l" rtl="0" eaLnBrk="0">
              <a:lnSpc>
                <a:spcPct val="13000"/>
              </a:lnSpc>
            </a:pPr>
            <a:endParaRPr sz="100" dirty="0">
              <a:latin typeface="Arial" panose="020B0604020202020204" pitchFamily="34" charset="0"/>
              <a:ea typeface="Arial" panose="020B0604020202020204" pitchFamily="34" charset="0"/>
              <a:cs typeface="Arial" panose="020B0604020202020204" pitchFamily="34" charset="0"/>
            </a:endParaRPr>
          </a:p>
          <a:p>
            <a:pPr marL="541655" algn="l" rtl="0" eaLnBrk="0">
              <a:lnSpc>
                <a:spcPct val="93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(4)</a:t>
            </a:r>
            <a:r>
              <a:rPr sz="2400" b="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文件的检验者用共享密钥对密文解密，并检验约定冗余度是否正确</a:t>
            </a:r>
            <a:endParaRPr sz="2400" dirty="0">
              <a:latin typeface="仿宋" panose="02010609060101010101" charset="-122"/>
              <a:ea typeface="仿宋" panose="02010609060101010101" charset="-122"/>
              <a:cs typeface="仿宋" panose="02010609060101010101" charset="-122"/>
            </a:endParaRPr>
          </a:p>
        </p:txBody>
      </p:sp>
      <p:sp>
        <p:nvSpPr>
          <p:cNvPr id="174" name="textbox 174"/>
          <p:cNvSpPr/>
          <p:nvPr/>
        </p:nvSpPr>
        <p:spPr>
          <a:xfrm>
            <a:off x="1570113" y="491245"/>
            <a:ext cx="632396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90" dirty="0">
                <a:solidFill>
                  <a:srgbClr val="1F4E79">
                    <a:alpha val="100000"/>
                  </a:srgbClr>
                </a:solidFill>
                <a:latin typeface="仿宋" panose="02010609060101010101" charset="-122"/>
                <a:ea typeface="仿宋" panose="02010609060101010101" charset="-122"/>
                <a:cs typeface="仿宋" panose="02010609060101010101" charset="-122"/>
              </a:rPr>
              <a:t>利用</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CBC</a:t>
            </a:r>
            <a:r>
              <a:rPr sz="3100" b="1" kern="0" spc="90" dirty="0">
                <a:solidFill>
                  <a:srgbClr val="1F4E79">
                    <a:alpha val="100000"/>
                  </a:srgbClr>
                </a:solidFill>
                <a:latin typeface="仿宋" panose="02010609060101010101" charset="-122"/>
                <a:ea typeface="仿宋" panose="02010609060101010101" charset="-122"/>
                <a:cs typeface="仿宋" panose="02010609060101010101" charset="-122"/>
              </a:rPr>
              <a:t>模式实现报文的完整性认证</a:t>
            </a:r>
            <a:endParaRPr sz="3100" dirty="0">
              <a:latin typeface="仿宋" panose="02010609060101010101" charset="-122"/>
              <a:ea typeface="仿宋" panose="02010609060101010101" charset="-122"/>
              <a:cs typeface="仿宋" panose="02010609060101010101" charset="-122"/>
            </a:endParaRPr>
          </a:p>
        </p:txBody>
      </p:sp>
      <p:sp>
        <p:nvSpPr>
          <p:cNvPr id="178" name="path 17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0" name="picture 180"/>
          <p:cNvPicPr>
            <a:picLocks noChangeAspect="1"/>
          </p:cNvPicPr>
          <p:nvPr/>
        </p:nvPicPr>
        <p:blipFill>
          <a:blip r:embed="rId1"/>
          <a:stretch>
            <a:fillRect/>
          </a:stretch>
        </p:blipFill>
        <p:spPr>
          <a:xfrm rot="21600000">
            <a:off x="822960" y="408431"/>
            <a:ext cx="420623" cy="655320"/>
          </a:xfrm>
          <a:prstGeom prst="rect">
            <a:avLst/>
          </a:prstGeom>
        </p:spPr>
      </p:pic>
      <p:sp>
        <p:nvSpPr>
          <p:cNvPr id="182" name="path 18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box 184"/>
          <p:cNvSpPr/>
          <p:nvPr/>
        </p:nvSpPr>
        <p:spPr>
          <a:xfrm>
            <a:off x="1306830" y="1491615"/>
            <a:ext cx="10267315" cy="20510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文件的制造者</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和检验者共享一个密钥；</a:t>
            </a:r>
            <a:endParaRPr sz="2400" dirty="0">
              <a:latin typeface="仿宋" panose="02010609060101010101" charset="-122"/>
              <a:ea typeface="仿宋" panose="02010609060101010101" charset="-122"/>
              <a:cs typeface="仿宋" panose="02010609060101010101" charset="-122"/>
            </a:endParaRPr>
          </a:p>
          <a:p>
            <a:pPr algn="l" rtl="0" eaLnBrk="0">
              <a:lnSpc>
                <a:spcPct val="113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720"/>
              </a:spcBef>
            </a:pP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利用文件的明文</a:t>
            </a:r>
            <a:r>
              <a:rPr lang="en-US" sz="2400" b="1"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m</a:t>
            </a:r>
            <a:r>
              <a:rPr lang="en-US" sz="2400" b="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产生一个奇偶校验码</a:t>
            </a:r>
            <a:r>
              <a:rPr lang="en-US" sz="2400" b="1"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r</a:t>
            </a:r>
            <a:r>
              <a:rPr lang="en-US" sz="2400" b="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的分组；</a:t>
            </a:r>
            <a:endParaRPr sz="2400" dirty="0">
              <a:latin typeface="仿宋" panose="02010609060101010101" charset="-122"/>
              <a:ea typeface="仿宋" panose="02010609060101010101" charset="-122"/>
              <a:cs typeface="仿宋" panose="02010609060101010101" charset="-122"/>
            </a:endParaRPr>
          </a:p>
          <a:p>
            <a:pPr algn="l" rtl="0" eaLnBrk="0">
              <a:lnSpc>
                <a:spcPct val="11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3840" indent="-231140" algn="l" rtl="0" eaLnBrk="0">
              <a:lnSpc>
                <a:spcPct val="112000"/>
              </a:lnSpc>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(3)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采用分组密码的</a:t>
            </a:r>
            <a:r>
              <a:rPr lang="en-US" sz="2400" b="1"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CBC</a:t>
            </a:r>
            <a:r>
              <a:rPr lang="en-US"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模</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式，对附带校验码的已扩充的明文</a:t>
            </a:r>
            <a:r>
              <a:rPr lang="en-US" sz="2400" b="1"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 r)</a:t>
            </a:r>
            <a:r>
              <a:rPr lang="en-US" sz="24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进行加密，得到的最后一个密文分组就是认证码</a:t>
            </a:r>
            <a:r>
              <a:rPr lang="zh-CN"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endParaRPr lang="zh-CN" sz="2400" b="1" kern="0" spc="-10" dirty="0">
              <a:solidFill>
                <a:srgbClr val="000000">
                  <a:alpha val="100000"/>
                </a:srgbClr>
              </a:solidFill>
              <a:latin typeface="仿宋" panose="02010609060101010101" charset="-122"/>
              <a:ea typeface="仿宋" panose="02010609060101010101" charset="-122"/>
              <a:cs typeface="仿宋" panose="02010609060101010101" charset="-122"/>
            </a:endParaRPr>
          </a:p>
        </p:txBody>
      </p:sp>
      <p:sp>
        <p:nvSpPr>
          <p:cNvPr id="186" name="textbox 186"/>
          <p:cNvSpPr/>
          <p:nvPr/>
        </p:nvSpPr>
        <p:spPr>
          <a:xfrm>
            <a:off x="1571329" y="491245"/>
            <a:ext cx="571182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80" dirty="0">
                <a:solidFill>
                  <a:srgbClr val="1F4E79">
                    <a:alpha val="100000"/>
                  </a:srgbClr>
                </a:solidFill>
                <a:latin typeface="仿宋" panose="02010609060101010101" charset="-122"/>
                <a:ea typeface="仿宋" panose="02010609060101010101" charset="-122"/>
                <a:cs typeface="仿宋" panose="02010609060101010101" charset="-122"/>
              </a:rPr>
              <a:t>报文完整性认证的具体实现技术</a:t>
            </a:r>
            <a:endParaRPr sz="3100" dirty="0">
              <a:latin typeface="仿宋" panose="02010609060101010101" charset="-122"/>
              <a:ea typeface="仿宋" panose="02010609060101010101" charset="-122"/>
              <a:cs typeface="仿宋" panose="02010609060101010101" charset="-122"/>
            </a:endParaRPr>
          </a:p>
        </p:txBody>
      </p:sp>
      <p:sp>
        <p:nvSpPr>
          <p:cNvPr id="190" name="path 19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92" name="picture 192"/>
          <p:cNvPicPr>
            <a:picLocks noChangeAspect="1"/>
          </p:cNvPicPr>
          <p:nvPr/>
        </p:nvPicPr>
        <p:blipFill>
          <a:blip r:embed="rId1"/>
          <a:stretch>
            <a:fillRect/>
          </a:stretch>
        </p:blipFill>
        <p:spPr>
          <a:xfrm rot="21600000">
            <a:off x="822960" y="408431"/>
            <a:ext cx="420623" cy="655320"/>
          </a:xfrm>
          <a:prstGeom prst="rect">
            <a:avLst/>
          </a:prstGeom>
        </p:spPr>
      </p:pic>
      <p:sp>
        <p:nvSpPr>
          <p:cNvPr id="194" name="path 19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196" name="textbox 196"/>
          <p:cNvSpPr/>
          <p:nvPr/>
        </p:nvSpPr>
        <p:spPr>
          <a:xfrm>
            <a:off x="11008258" y="6481064"/>
            <a:ext cx="168275" cy="1651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6000"/>
              </a:lnSpc>
            </a:pPr>
            <a:r>
              <a:rPr sz="1200" b="1" kern="0" spc="-30" dirty="0">
                <a:solidFill>
                  <a:srgbClr val="898989">
                    <a:alpha val="100000"/>
                  </a:srgbClr>
                </a:solidFill>
                <a:latin typeface="Times New Roman" panose="02020603050405020304"/>
                <a:ea typeface="Times New Roman" panose="02020603050405020304"/>
                <a:cs typeface="Times New Roman" panose="02020603050405020304"/>
              </a:rPr>
              <a:t>13</a:t>
            </a:r>
            <a:endParaRPr sz="12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extbox 198"/>
          <p:cNvSpPr/>
          <p:nvPr/>
        </p:nvSpPr>
        <p:spPr>
          <a:xfrm>
            <a:off x="683768" y="5117027"/>
            <a:ext cx="10804525" cy="1176019"/>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558800" indent="-6350" algn="l" rtl="0" eaLnBrk="0">
              <a:lnSpc>
                <a:spcPct val="114000"/>
              </a:lnSpc>
            </a:pPr>
            <a:r>
              <a:rPr sz="2100" b="1" kern="0" spc="40" dirty="0">
                <a:solidFill>
                  <a:srgbClr val="1C1C1C">
                    <a:alpha val="100000"/>
                  </a:srgbClr>
                </a:solidFill>
                <a:latin typeface="Times New Roman" panose="02020603050405020304"/>
                <a:ea typeface="Times New Roman" panose="02020603050405020304"/>
                <a:cs typeface="Times New Roman" panose="02020603050405020304"/>
              </a:rPr>
              <a:t>(1)</a:t>
            </a:r>
            <a:r>
              <a:rPr sz="2100" b="1" kern="0" spc="16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40" dirty="0">
                <a:solidFill>
                  <a:srgbClr val="1C1C1C">
                    <a:alpha val="100000"/>
                  </a:srgbClr>
                </a:solidFill>
                <a:latin typeface="仿宋" panose="02010609060101010101" charset="-122"/>
                <a:ea typeface="仿宋" panose="02010609060101010101" charset="-122"/>
                <a:cs typeface="仿宋" panose="02010609060101010101" charset="-122"/>
              </a:rPr>
              <a:t>仅需对明文认证</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而不需加密时</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传送明文</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m</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和认证码</a:t>
            </a:r>
            <a:r>
              <a:rPr sz="2100" b="1" i="1" kern="0" spc="0" dirty="0">
                <a:solidFill>
                  <a:srgbClr val="1C1C1C">
                    <a:alpha val="100000"/>
                  </a:srgbClr>
                </a:solidFill>
                <a:latin typeface="Times New Roman" panose="02020603050405020304"/>
                <a:ea typeface="Times New Roman" panose="02020603050405020304"/>
                <a:cs typeface="Times New Roman" panose="02020603050405020304"/>
              </a:rPr>
              <a:t>C</a:t>
            </a:r>
            <a:r>
              <a:rPr sz="2200" b="1" i="1" kern="0" spc="0" baseline="-24000" dirty="0">
                <a:solidFill>
                  <a:srgbClr val="1C1C1C">
                    <a:alpha val="100000"/>
                  </a:srgbClr>
                </a:solidFill>
                <a:latin typeface="Times New Roman" panose="02020603050405020304"/>
                <a:ea typeface="Times New Roman" panose="02020603050405020304"/>
                <a:cs typeface="Times New Roman" panose="02020603050405020304"/>
              </a:rPr>
              <a:t>n</a:t>
            </a:r>
            <a:r>
              <a:rPr sz="2200" b="1" i="1" kern="0" spc="30" baseline="-24000" dirty="0">
                <a:solidFill>
                  <a:srgbClr val="1C1C1C">
                    <a:alpha val="100000"/>
                  </a:srgbClr>
                </a:solidFill>
                <a:latin typeface="Times New Roman" panose="02020603050405020304"/>
                <a:ea typeface="Times New Roman" panose="02020603050405020304"/>
                <a:cs typeface="Times New Roman" panose="02020603050405020304"/>
              </a:rPr>
              <a:t>+1</a:t>
            </a:r>
            <a:r>
              <a:rPr sz="1400" b="1" i="1" kern="0" spc="-200" dirty="0">
                <a:solidFill>
                  <a:srgbClr val="1C1C1C">
                    <a:alpha val="100000"/>
                  </a:srgbClr>
                </a:solidFill>
                <a:latin typeface="Times New Roman" panose="02020603050405020304"/>
                <a:ea typeface="Times New Roman" panose="02020603050405020304"/>
                <a:cs typeface="Times New Roman" panose="02020603050405020304"/>
              </a:rPr>
              <a:t> </a:t>
            </a:r>
            <a:r>
              <a:rPr sz="2300" b="1" i="1" kern="0" spc="30" baseline="-23000" dirty="0">
                <a:solidFill>
                  <a:srgbClr val="1C1C1C">
                    <a:alpha val="100000"/>
                  </a:srgbClr>
                </a:solidFill>
                <a:latin typeface="仿宋" panose="02010609060101010101" charset="-122"/>
                <a:ea typeface="仿宋" panose="02010609060101010101" charset="-122"/>
                <a:cs typeface="仿宋" panose="02010609060101010101" charset="-122"/>
              </a:rPr>
              <a:t>，</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此时也可仅保留</a:t>
            </a:r>
            <a:r>
              <a:rPr sz="2100" kern="0" spc="0" dirty="0">
                <a:solidFill>
                  <a:srgbClr val="1C1C1C">
                    <a:alpha val="100000"/>
                  </a:srgbClr>
                </a:solidFill>
                <a:latin typeface="仿宋" panose="02010609060101010101" charset="-122"/>
                <a:ea typeface="仿宋" panose="02010609060101010101" charset="-122"/>
                <a:cs typeface="仿宋" panose="02010609060101010101" charset="-122"/>
              </a:rPr>
              <a:t>         </a:t>
            </a:r>
            <a:r>
              <a:rPr sz="2100" b="1" i="1" kern="0" spc="-30" dirty="0">
                <a:solidFill>
                  <a:srgbClr val="1C1C1C">
                    <a:alpha val="100000"/>
                  </a:srgbClr>
                </a:solidFill>
                <a:latin typeface="Times New Roman" panose="02020603050405020304"/>
                <a:ea typeface="Times New Roman" panose="02020603050405020304"/>
                <a:cs typeface="Times New Roman" panose="02020603050405020304"/>
              </a:rPr>
              <a:t>C</a:t>
            </a:r>
            <a:r>
              <a:rPr sz="2200" b="1" i="1" kern="0" spc="-30" baseline="-24000" dirty="0">
                <a:solidFill>
                  <a:srgbClr val="1C1C1C">
                    <a:alpha val="100000"/>
                  </a:srgbClr>
                </a:solidFill>
                <a:latin typeface="Times New Roman" panose="02020603050405020304"/>
                <a:ea typeface="Times New Roman" panose="02020603050405020304"/>
                <a:cs typeface="Times New Roman" panose="02020603050405020304"/>
              </a:rPr>
              <a:t>n+1</a:t>
            </a:r>
            <a:r>
              <a:rPr sz="1400" b="1" i="1" kern="0" spc="-3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的</a:t>
            </a:r>
            <a:r>
              <a:rPr sz="2100" kern="0" spc="-450" dirty="0">
                <a:solidFill>
                  <a:srgbClr val="1C1C1C">
                    <a:alpha val="100000"/>
                  </a:srgbClr>
                </a:solidFill>
                <a:latin typeface="仿宋" panose="02010609060101010101" charset="-122"/>
                <a:ea typeface="仿宋" panose="02010609060101010101" charset="-122"/>
                <a:cs typeface="仿宋" panose="02010609060101010101" charset="-122"/>
              </a:rPr>
              <a:t> </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t</a:t>
            </a:r>
            <a:r>
              <a:rPr sz="2100" b="1" kern="0" spc="18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个比特作为认证码；</a:t>
            </a:r>
            <a:endParaRPr sz="2100" dirty="0">
              <a:latin typeface="仿宋" panose="02010609060101010101" charset="-122"/>
              <a:ea typeface="仿宋" panose="02010609060101010101" charset="-122"/>
              <a:cs typeface="仿宋" panose="02010609060101010101" charset="-122"/>
            </a:endParaRPr>
          </a:p>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6000"/>
              </a:lnSpc>
              <a:tabLst>
                <a:tab pos="552450" algn="l"/>
                <a:tab pos="10791825" algn="l"/>
              </a:tabLst>
            </a:pPr>
            <a:r>
              <a:rPr sz="2100" u="sng" kern="0" spc="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(2)</a:t>
            </a:r>
            <a:r>
              <a:rPr sz="2100" b="1" u="sng" kern="0" spc="4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既需对明文认证</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又需要加密时</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传送密文</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C</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和认证码</a:t>
            </a:r>
            <a:r>
              <a:rPr sz="3300" b="1" i="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C</a:t>
            </a:r>
            <a:r>
              <a:rPr sz="1400" b="1" i="1" u="sng" kern="0" spc="-1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n+1</a:t>
            </a:r>
            <a:r>
              <a:rPr sz="1400" b="1" i="1" u="sng" kern="0" spc="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	</a:t>
            </a:r>
            <a:endParaRPr sz="1400" dirty="0">
              <a:latin typeface="Times New Roman" panose="02020603050405020304"/>
              <a:ea typeface="Times New Roman" panose="02020603050405020304"/>
              <a:cs typeface="Times New Roman" panose="02020603050405020304"/>
            </a:endParaRPr>
          </a:p>
        </p:txBody>
      </p:sp>
      <p:sp>
        <p:nvSpPr>
          <p:cNvPr id="200" name="textbox 200"/>
          <p:cNvSpPr/>
          <p:nvPr/>
        </p:nvSpPr>
        <p:spPr>
          <a:xfrm>
            <a:off x="1924755" y="1105112"/>
            <a:ext cx="5656579" cy="1226819"/>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802765" indent="-1177925" algn="l" rtl="0" eaLnBrk="0">
              <a:lnSpc>
                <a:spcPct val="103000"/>
              </a:lnSpc>
            </a:pPr>
            <a:r>
              <a:rPr sz="2100" b="1" i="1" kern="0" spc="0" dirty="0">
                <a:solidFill>
                  <a:srgbClr val="1C1C1C">
                    <a:alpha val="100000"/>
                  </a:srgbClr>
                </a:solidFill>
                <a:latin typeface="Times New Roman" panose="02020603050405020304"/>
                <a:ea typeface="Times New Roman" panose="02020603050405020304"/>
                <a:cs typeface="Times New Roman" panose="02020603050405020304"/>
              </a:rPr>
              <a:t>n</a:t>
            </a:r>
            <a:r>
              <a:rPr sz="2100" b="1" kern="0" spc="0" dirty="0">
                <a:solidFill>
                  <a:srgbClr val="1C1C1C">
                    <a:alpha val="100000"/>
                  </a:srgbClr>
                </a:solidFill>
                <a:latin typeface="仿宋" panose="02010609060101010101" charset="-122"/>
                <a:ea typeface="仿宋" panose="02010609060101010101" charset="-122"/>
                <a:cs typeface="仿宋" panose="02010609060101010101" charset="-122"/>
              </a:rPr>
              <a:t>个分组明文</a:t>
            </a:r>
            <a:r>
              <a:rPr sz="2100" kern="0" spc="-600" dirty="0">
                <a:solidFill>
                  <a:srgbClr val="1C1C1C">
                    <a:alpha val="100000"/>
                  </a:srgbClr>
                </a:solidFill>
                <a:latin typeface="仿宋" panose="02010609060101010101" charset="-122"/>
                <a:ea typeface="仿宋" panose="02010609060101010101" charset="-122"/>
                <a:cs typeface="仿宋" panose="02010609060101010101" charset="-122"/>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m </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6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2100" b="1" kern="0" spc="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0" dirty="0">
                <a:solidFill>
                  <a:srgbClr val="1C1C1C">
                    <a:alpha val="100000"/>
                  </a:srgbClr>
                </a:solidFill>
                <a:latin typeface="仿宋" panose="02010609060101010101" charset="-122"/>
                <a:ea typeface="仿宋" panose="02010609060101010101" charset="-122"/>
                <a:cs typeface="仿宋" panose="02010609060101010101" charset="-122"/>
              </a:rPr>
              <a:t>校验码为</a:t>
            </a:r>
            <a:r>
              <a:rPr sz="2100" kern="0" spc="0" dirty="0">
                <a:solidFill>
                  <a:srgbClr val="1C1C1C">
                    <a:alpha val="100000"/>
                  </a:srgbClr>
                </a:solidFill>
                <a:latin typeface="仿宋" panose="02010609060101010101" charset="-122"/>
                <a:ea typeface="仿宋" panose="02010609060101010101" charset="-122"/>
                <a:cs typeface="仿宋" panose="02010609060101010101" charset="-122"/>
              </a:rPr>
              <a:t> </a:t>
            </a:r>
            <a:r>
              <a:rPr sz="2500" i="1" kern="0" spc="-40" dirty="0">
                <a:solidFill>
                  <a:srgbClr val="000000">
                    <a:alpha val="100000"/>
                  </a:srgbClr>
                </a:solidFill>
                <a:latin typeface="Times New Roman" panose="02020603050405020304"/>
                <a:ea typeface="Times New Roman" panose="02020603050405020304"/>
                <a:cs typeface="Times New Roman" panose="02020603050405020304"/>
              </a:rPr>
              <a:t>r </a:t>
            </a:r>
            <a:r>
              <a:rPr sz="2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5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i="1" kern="0" spc="-40" dirty="0">
                <a:solidFill>
                  <a:srgbClr val="000000">
                    <a:alpha val="100000"/>
                  </a:srgbClr>
                </a:solidFill>
                <a:latin typeface="Times New Roman" panose="02020603050405020304"/>
                <a:ea typeface="Times New Roman" panose="02020603050405020304"/>
                <a:cs typeface="Times New Roman" panose="02020603050405020304"/>
              </a:rPr>
              <a:t>m</a:t>
            </a:r>
            <a:r>
              <a:rPr sz="2200" i="1" kern="0" spc="-40" baseline="-24000" dirty="0">
                <a:solidFill>
                  <a:srgbClr val="000000">
                    <a:alpha val="100000"/>
                  </a:srgbClr>
                </a:solidFill>
                <a:latin typeface="Times New Roman" panose="02020603050405020304"/>
                <a:ea typeface="Times New Roman" panose="02020603050405020304"/>
                <a:cs typeface="Times New Roman" panose="02020603050405020304"/>
              </a:rPr>
              <a:t>n</a:t>
            </a:r>
            <a:r>
              <a:rPr sz="2200" kern="0" spc="-40" baseline="-24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200" kern="0" spc="-4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5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i="1" kern="0" spc="-130" dirty="0">
                <a:solidFill>
                  <a:srgbClr val="000000">
                    <a:alpha val="100000"/>
                  </a:srgbClr>
                </a:solidFill>
                <a:latin typeface="Times New Roman" panose="02020603050405020304"/>
                <a:ea typeface="Times New Roman" panose="02020603050405020304"/>
                <a:cs typeface="Times New Roman" panose="02020603050405020304"/>
              </a:rPr>
              <a:t>m</a:t>
            </a:r>
            <a:r>
              <a:rPr sz="2200" kern="0" spc="-13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5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i="1" kern="0" spc="-250" dirty="0">
                <a:solidFill>
                  <a:srgbClr val="000000">
                    <a:alpha val="100000"/>
                  </a:srgbClr>
                </a:solidFill>
                <a:latin typeface="Times New Roman" panose="02020603050405020304"/>
                <a:ea typeface="Times New Roman" panose="02020603050405020304"/>
                <a:cs typeface="Times New Roman" panose="02020603050405020304"/>
              </a:rPr>
              <a:t>m</a:t>
            </a:r>
            <a:r>
              <a:rPr sz="2200" i="1" kern="0" spc="50" baseline="-24000" dirty="0">
                <a:solidFill>
                  <a:srgbClr val="000000">
                    <a:alpha val="100000"/>
                  </a:srgbClr>
                </a:solidFill>
                <a:latin typeface="Times New Roman" panose="02020603050405020304"/>
                <a:ea typeface="Times New Roman" panose="02020603050405020304"/>
                <a:cs typeface="Times New Roman" panose="02020603050405020304"/>
              </a:rPr>
              <a:t>n</a:t>
            </a:r>
            <a:endParaRPr sz="2200" baseline="-24000" dirty="0">
              <a:latin typeface="Times New Roman" panose="02020603050405020304"/>
              <a:ea typeface="Times New Roman" panose="02020603050405020304"/>
              <a:cs typeface="Times New Roman" panose="02020603050405020304"/>
            </a:endParaRPr>
          </a:p>
          <a:p>
            <a:pPr marL="12700" algn="l" rtl="0" eaLnBrk="0">
              <a:lnSpc>
                <a:spcPts val="2685"/>
              </a:lnSpc>
              <a:spcBef>
                <a:spcPts val="465"/>
              </a:spcBef>
            </a:pPr>
            <a:r>
              <a:rPr sz="2100" b="1" i="1" kern="0" spc="-130" dirty="0">
                <a:solidFill>
                  <a:srgbClr val="1C1C1C">
                    <a:alpha val="100000"/>
                  </a:srgbClr>
                </a:solidFill>
                <a:latin typeface="Times New Roman" panose="02020603050405020304"/>
                <a:ea typeface="Times New Roman" panose="02020603050405020304"/>
                <a:cs typeface="Times New Roman" panose="02020603050405020304"/>
              </a:rPr>
              <a:t>C</a:t>
            </a:r>
            <a:r>
              <a:rPr sz="2200" b="1" i="1" kern="0" spc="-130" baseline="-19000" dirty="0">
                <a:solidFill>
                  <a:srgbClr val="1C1C1C">
                    <a:alpha val="100000"/>
                  </a:srgbClr>
                </a:solidFill>
                <a:latin typeface="Times New Roman" panose="02020603050405020304"/>
                <a:ea typeface="Times New Roman" panose="02020603050405020304"/>
                <a:cs typeface="Times New Roman" panose="02020603050405020304"/>
              </a:rPr>
              <a:t>n+1</a:t>
            </a:r>
            <a:r>
              <a:rPr sz="1400" b="1" i="1" kern="0" spc="-10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130" dirty="0">
                <a:solidFill>
                  <a:srgbClr val="1C1C1C">
                    <a:alpha val="100000"/>
                  </a:srgbClr>
                </a:solidFill>
                <a:latin typeface="仿宋" panose="02010609060101010101" charset="-122"/>
                <a:ea typeface="仿宋" panose="02010609060101010101" charset="-122"/>
                <a:cs typeface="仿宋" panose="02010609060101010101" charset="-122"/>
              </a:rPr>
              <a:t>为认证码。</a:t>
            </a:r>
            <a:endParaRPr sz="2100" dirty="0">
              <a:latin typeface="仿宋" panose="02010609060101010101" charset="-122"/>
              <a:ea typeface="仿宋" panose="02010609060101010101" charset="-122"/>
              <a:cs typeface="仿宋" panose="02010609060101010101" charset="-122"/>
            </a:endParaRPr>
          </a:p>
        </p:txBody>
      </p:sp>
      <p:pic>
        <p:nvPicPr>
          <p:cNvPr id="202" name="picture 202"/>
          <p:cNvPicPr>
            <a:picLocks noChangeAspect="1"/>
          </p:cNvPicPr>
          <p:nvPr/>
        </p:nvPicPr>
        <p:blipFill>
          <a:blip r:embed="rId1"/>
          <a:stretch>
            <a:fillRect/>
          </a:stretch>
        </p:blipFill>
        <p:spPr>
          <a:xfrm rot="21600000">
            <a:off x="5833106" y="1638111"/>
            <a:ext cx="288551" cy="49079"/>
          </a:xfrm>
          <a:prstGeom prst="rect">
            <a:avLst/>
          </a:prstGeom>
        </p:spPr>
      </p:pic>
      <p:pic>
        <p:nvPicPr>
          <p:cNvPr id="204" name="picture 204"/>
          <p:cNvPicPr>
            <a:picLocks noChangeAspect="1"/>
          </p:cNvPicPr>
          <p:nvPr/>
        </p:nvPicPr>
        <p:blipFill>
          <a:blip r:embed="rId2"/>
          <a:stretch>
            <a:fillRect/>
          </a:stretch>
        </p:blipFill>
        <p:spPr>
          <a:xfrm rot="21600000">
            <a:off x="5321186" y="1231719"/>
            <a:ext cx="290216" cy="50370"/>
          </a:xfrm>
          <a:prstGeom prst="rect">
            <a:avLst/>
          </a:prstGeom>
        </p:spPr>
      </p:pic>
      <p:sp>
        <p:nvSpPr>
          <p:cNvPr id="206" name="path 206"/>
          <p:cNvSpPr/>
          <p:nvPr/>
        </p:nvSpPr>
        <p:spPr>
          <a:xfrm>
            <a:off x="3221735" y="3319272"/>
            <a:ext cx="2133600" cy="624839"/>
          </a:xfrm>
          <a:custGeom>
            <a:avLst/>
            <a:gdLst/>
            <a:ahLst/>
            <a:cxnLst/>
            <a:rect l="0" t="0" r="0" b="0"/>
            <a:pathLst>
              <a:path w="3360" h="983">
                <a:moveTo>
                  <a:pt x="2056" y="976"/>
                </a:moveTo>
                <a:lnTo>
                  <a:pt x="3352" y="976"/>
                </a:lnTo>
                <a:lnTo>
                  <a:pt x="3352" y="7"/>
                </a:lnTo>
                <a:lnTo>
                  <a:pt x="2056" y="7"/>
                </a:lnTo>
                <a:lnTo>
                  <a:pt x="2056" y="976"/>
                </a:lnTo>
                <a:close/>
                <a:moveTo>
                  <a:pt x="7" y="976"/>
                </a:moveTo>
                <a:lnTo>
                  <a:pt x="1303" y="976"/>
                </a:lnTo>
                <a:lnTo>
                  <a:pt x="1303" y="7"/>
                </a:lnTo>
                <a:lnTo>
                  <a:pt x="7" y="7"/>
                </a:lnTo>
                <a:lnTo>
                  <a:pt x="7" y="976"/>
                </a:lnTo>
                <a:close/>
              </a:path>
            </a:pathLst>
          </a:custGeom>
          <a:noFill/>
          <a:ln w="9143" cap="flat">
            <a:solidFill>
              <a:srgbClr val="000000"/>
            </a:solidFill>
            <a:prstDash val="solid"/>
            <a:miter lim="1000000"/>
          </a:ln>
        </p:spPr>
        <p:txBody>
          <a:bodyPr rtlCol="0"/>
          <a:lstStyle/>
          <a:p>
            <a:pPr algn="ctr"/>
            <a:endParaRPr lang="zh-CN" altLang="en-US"/>
          </a:p>
        </p:txBody>
      </p:sp>
      <p:pic>
        <p:nvPicPr>
          <p:cNvPr id="208" name="picture 208"/>
          <p:cNvPicPr>
            <a:picLocks noChangeAspect="1"/>
          </p:cNvPicPr>
          <p:nvPr/>
        </p:nvPicPr>
        <p:blipFill>
          <a:blip r:embed="rId3"/>
          <a:stretch>
            <a:fillRect/>
          </a:stretch>
        </p:blipFill>
        <p:spPr>
          <a:xfrm rot="21600000">
            <a:off x="3599688" y="2775204"/>
            <a:ext cx="76200" cy="548639"/>
          </a:xfrm>
          <a:prstGeom prst="rect">
            <a:avLst/>
          </a:prstGeom>
        </p:spPr>
      </p:pic>
      <p:pic>
        <p:nvPicPr>
          <p:cNvPr id="210" name="picture 210"/>
          <p:cNvPicPr>
            <a:picLocks noChangeAspect="1"/>
          </p:cNvPicPr>
          <p:nvPr/>
        </p:nvPicPr>
        <p:blipFill>
          <a:blip r:embed="rId4"/>
          <a:stretch>
            <a:fillRect/>
          </a:stretch>
        </p:blipFill>
        <p:spPr>
          <a:xfrm rot="21600000">
            <a:off x="4901183" y="2775204"/>
            <a:ext cx="76200" cy="548639"/>
          </a:xfrm>
          <a:prstGeom prst="rect">
            <a:avLst/>
          </a:prstGeom>
        </p:spPr>
      </p:pic>
      <p:grpSp>
        <p:nvGrpSpPr>
          <p:cNvPr id="14" name="group 14"/>
          <p:cNvGrpSpPr/>
          <p:nvPr/>
        </p:nvGrpSpPr>
        <p:grpSpPr>
          <a:xfrm rot="21600000">
            <a:off x="3496056" y="2868168"/>
            <a:ext cx="1584959" cy="310895"/>
            <a:chOff x="0" y="0"/>
            <a:chExt cx="1584959" cy="310895"/>
          </a:xfrm>
        </p:grpSpPr>
        <p:sp>
          <p:nvSpPr>
            <p:cNvPr id="212" name="path 212"/>
            <p:cNvSpPr/>
            <p:nvPr/>
          </p:nvSpPr>
          <p:spPr>
            <a:xfrm>
              <a:off x="4571" y="4571"/>
              <a:ext cx="289559" cy="289559"/>
            </a:xfrm>
            <a:custGeom>
              <a:avLst/>
              <a:gdLst/>
              <a:ahLst/>
              <a:cxnLst/>
              <a:rect l="0" t="0" r="0" b="0"/>
              <a:pathLst>
                <a:path w="455" h="455">
                  <a:moveTo>
                    <a:pt x="0" y="227"/>
                  </a:moveTo>
                  <a:cubicBezTo>
                    <a:pt x="0" y="101"/>
                    <a:pt x="102" y="0"/>
                    <a:pt x="227" y="0"/>
                  </a:cubicBezTo>
                  <a:cubicBezTo>
                    <a:pt x="353" y="0"/>
                    <a:pt x="455" y="101"/>
                    <a:pt x="455" y="227"/>
                  </a:cubicBezTo>
                  <a:cubicBezTo>
                    <a:pt x="455" y="353"/>
                    <a:pt x="353" y="455"/>
                    <a:pt x="227" y="455"/>
                  </a:cubicBezTo>
                  <a:cubicBezTo>
                    <a:pt x="102" y="455"/>
                    <a:pt x="0" y="353"/>
                    <a:pt x="0" y="227"/>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14" name="path 214"/>
            <p:cNvSpPr/>
            <p:nvPr/>
          </p:nvSpPr>
          <p:spPr>
            <a:xfrm>
              <a:off x="0" y="0"/>
              <a:ext cx="298703" cy="298703"/>
            </a:xfrm>
            <a:custGeom>
              <a:avLst/>
              <a:gdLst/>
              <a:ahLst/>
              <a:cxnLst/>
              <a:rect l="0" t="0" r="0" b="0"/>
              <a:pathLst>
                <a:path w="470" h="470">
                  <a:moveTo>
                    <a:pt x="235" y="7"/>
                  </a:moveTo>
                  <a:lnTo>
                    <a:pt x="235" y="463"/>
                  </a:lnTo>
                  <a:moveTo>
                    <a:pt x="7" y="235"/>
                  </a:moveTo>
                  <a:cubicBezTo>
                    <a:pt x="7" y="109"/>
                    <a:pt x="109" y="7"/>
                    <a:pt x="235" y="7"/>
                  </a:cubicBezTo>
                  <a:cubicBezTo>
                    <a:pt x="361" y="7"/>
                    <a:pt x="463" y="109"/>
                    <a:pt x="463" y="235"/>
                  </a:cubicBezTo>
                  <a:cubicBezTo>
                    <a:pt x="463" y="361"/>
                    <a:pt x="361" y="463"/>
                    <a:pt x="235" y="463"/>
                  </a:cubicBezTo>
                  <a:cubicBezTo>
                    <a:pt x="109" y="463"/>
                    <a:pt x="7" y="361"/>
                    <a:pt x="7" y="235"/>
                  </a:cubicBezTo>
                </a:path>
              </a:pathLst>
            </a:custGeom>
            <a:noFill/>
            <a:ln w="9143" cap="flat">
              <a:solidFill>
                <a:srgbClr val="FF00FF"/>
              </a:solidFill>
              <a:prstDash val="solid"/>
              <a:round/>
            </a:ln>
          </p:spPr>
          <p:txBody>
            <a:bodyPr rtlCol="0"/>
            <a:lstStyle/>
            <a:p>
              <a:pPr algn="ctr"/>
              <a:endParaRPr lang="zh-CN" altLang="en-US"/>
            </a:p>
          </p:txBody>
        </p:sp>
        <p:sp>
          <p:nvSpPr>
            <p:cNvPr id="216" name="path 216"/>
            <p:cNvSpPr/>
            <p:nvPr/>
          </p:nvSpPr>
          <p:spPr>
            <a:xfrm>
              <a:off x="1293875" y="19811"/>
              <a:ext cx="286511" cy="286511"/>
            </a:xfrm>
            <a:custGeom>
              <a:avLst/>
              <a:gdLst/>
              <a:ahLst/>
              <a:cxnLst/>
              <a:rect l="0" t="0" r="0" b="0"/>
              <a:pathLst>
                <a:path w="451" h="451">
                  <a:moveTo>
                    <a:pt x="0" y="225"/>
                  </a:moveTo>
                  <a:cubicBezTo>
                    <a:pt x="0" y="101"/>
                    <a:pt x="101" y="0"/>
                    <a:pt x="225" y="0"/>
                  </a:cubicBezTo>
                  <a:cubicBezTo>
                    <a:pt x="350" y="0"/>
                    <a:pt x="451" y="101"/>
                    <a:pt x="451" y="225"/>
                  </a:cubicBezTo>
                  <a:cubicBezTo>
                    <a:pt x="451" y="350"/>
                    <a:pt x="350" y="451"/>
                    <a:pt x="225" y="451"/>
                  </a:cubicBezTo>
                  <a:cubicBezTo>
                    <a:pt x="101"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18" name="path 218"/>
            <p:cNvSpPr/>
            <p:nvPr/>
          </p:nvSpPr>
          <p:spPr>
            <a:xfrm>
              <a:off x="1289303" y="15239"/>
              <a:ext cx="295655" cy="295655"/>
            </a:xfrm>
            <a:custGeom>
              <a:avLst/>
              <a:gdLst/>
              <a:ahLst/>
              <a:cxnLst/>
              <a:rect l="0" t="0" r="0" b="0"/>
              <a:pathLst>
                <a:path w="465" h="465">
                  <a:moveTo>
                    <a:pt x="232" y="7"/>
                  </a:moveTo>
                  <a:lnTo>
                    <a:pt x="232" y="458"/>
                  </a:lnTo>
                  <a:moveTo>
                    <a:pt x="7" y="232"/>
                  </a:moveTo>
                  <a:cubicBezTo>
                    <a:pt x="7" y="108"/>
                    <a:pt x="108" y="7"/>
                    <a:pt x="232" y="7"/>
                  </a:cubicBezTo>
                  <a:cubicBezTo>
                    <a:pt x="357" y="7"/>
                    <a:pt x="458" y="108"/>
                    <a:pt x="458" y="232"/>
                  </a:cubicBezTo>
                  <a:cubicBezTo>
                    <a:pt x="458" y="357"/>
                    <a:pt x="357" y="458"/>
                    <a:pt x="232" y="458"/>
                  </a:cubicBezTo>
                  <a:cubicBezTo>
                    <a:pt x="108" y="458"/>
                    <a:pt x="7" y="357"/>
                    <a:pt x="7" y="232"/>
                  </a:cubicBezTo>
                </a:path>
              </a:pathLst>
            </a:custGeom>
            <a:noFill/>
            <a:ln w="9143" cap="flat">
              <a:solidFill>
                <a:srgbClr val="FF00FF"/>
              </a:solidFill>
              <a:prstDash val="solid"/>
              <a:round/>
            </a:ln>
          </p:spPr>
          <p:txBody>
            <a:bodyPr rtlCol="0"/>
            <a:lstStyle/>
            <a:p>
              <a:pPr algn="ctr"/>
              <a:endParaRPr lang="zh-CN" altLang="en-US"/>
            </a:p>
          </p:txBody>
        </p:sp>
      </p:grpSp>
      <p:pic>
        <p:nvPicPr>
          <p:cNvPr id="220" name="picture 220"/>
          <p:cNvPicPr>
            <a:picLocks noChangeAspect="1"/>
          </p:cNvPicPr>
          <p:nvPr/>
        </p:nvPicPr>
        <p:blipFill>
          <a:blip r:embed="rId5"/>
          <a:stretch>
            <a:fillRect/>
          </a:stretch>
        </p:blipFill>
        <p:spPr>
          <a:xfrm rot="21600000">
            <a:off x="4901183" y="3939540"/>
            <a:ext cx="76200" cy="548639"/>
          </a:xfrm>
          <a:prstGeom prst="rect">
            <a:avLst/>
          </a:prstGeom>
        </p:spPr>
      </p:pic>
      <p:pic>
        <p:nvPicPr>
          <p:cNvPr id="222" name="picture 222"/>
          <p:cNvPicPr>
            <a:picLocks noChangeAspect="1"/>
          </p:cNvPicPr>
          <p:nvPr/>
        </p:nvPicPr>
        <p:blipFill>
          <a:blip r:embed="rId6"/>
          <a:stretch>
            <a:fillRect/>
          </a:stretch>
        </p:blipFill>
        <p:spPr>
          <a:xfrm rot="21600000">
            <a:off x="3599688" y="3939540"/>
            <a:ext cx="76200" cy="548639"/>
          </a:xfrm>
          <a:prstGeom prst="rect">
            <a:avLst/>
          </a:prstGeom>
        </p:spPr>
      </p:pic>
      <p:sp>
        <p:nvSpPr>
          <p:cNvPr id="224" name="path 224"/>
          <p:cNvSpPr/>
          <p:nvPr/>
        </p:nvSpPr>
        <p:spPr>
          <a:xfrm>
            <a:off x="3622548" y="4130040"/>
            <a:ext cx="1950719" cy="9144"/>
          </a:xfrm>
          <a:custGeom>
            <a:avLst/>
            <a:gdLst/>
            <a:ahLst/>
            <a:cxnLst/>
            <a:rect l="0" t="0" r="0" b="0"/>
            <a:pathLst>
              <a:path w="3071" h="14">
                <a:moveTo>
                  <a:pt x="0" y="7"/>
                </a:moveTo>
                <a:lnTo>
                  <a:pt x="974" y="7"/>
                </a:lnTo>
                <a:moveTo>
                  <a:pt x="2102" y="7"/>
                </a:moveTo>
                <a:lnTo>
                  <a:pt x="3071" y="7"/>
                </a:lnTo>
              </a:path>
            </a:pathLst>
          </a:custGeom>
          <a:noFill/>
          <a:ln w="9143" cap="flat">
            <a:solidFill>
              <a:srgbClr val="FF00FF"/>
            </a:solidFill>
            <a:prstDash val="solid"/>
            <a:round/>
          </a:ln>
        </p:spPr>
        <p:txBody>
          <a:bodyPr rtlCol="0"/>
          <a:lstStyle/>
          <a:p>
            <a:pPr algn="ctr"/>
            <a:endParaRPr lang="zh-CN" altLang="en-US"/>
          </a:p>
        </p:txBody>
      </p:sp>
      <p:sp>
        <p:nvSpPr>
          <p:cNvPr id="226" name="textbox 226"/>
          <p:cNvSpPr/>
          <p:nvPr/>
        </p:nvSpPr>
        <p:spPr>
          <a:xfrm>
            <a:off x="2939287" y="2524962"/>
            <a:ext cx="2409825" cy="1622425"/>
          </a:xfrm>
          <a:prstGeom prst="rect">
            <a:avLst/>
          </a:prstGeom>
          <a:noFill/>
          <a:ln w="0" cap="flat">
            <a:noFill/>
            <a:prstDash val="solid"/>
            <a:miter lim="0"/>
          </a:ln>
        </p:spPr>
        <p:txBody>
          <a:bodyPr vert="horz" wrap="square" lIns="0" tIns="0" rIns="0" bIns="0"/>
          <a:lstStyle/>
          <a:p>
            <a:pPr algn="l" rtl="0" eaLnBrk="0">
              <a:lnSpc>
                <a:spcPct val="10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65000"/>
              </a:lnSpc>
              <a:tabLst>
                <a:tab pos="770255" algn="l"/>
              </a:tabLst>
            </a:pPr>
            <a:r>
              <a:rPr sz="2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5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50" baseline="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5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45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5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50" baseline="5000" dirty="0">
                <a:solidFill>
                  <a:srgbClr val="000000">
                    <a:alpha val="100000"/>
                  </a:srgbClr>
                </a:solidFill>
                <a:latin typeface="Times New Roman" panose="02020603050405020304"/>
                <a:ea typeface="Times New Roman" panose="02020603050405020304"/>
                <a:cs typeface="Times New Roman" panose="02020603050405020304"/>
              </a:rPr>
              <a:t>3</a:t>
            </a:r>
            <a:endParaRPr sz="2300" baseline="5000" dirty="0">
              <a:latin typeface="Times New Roman" panose="02020603050405020304"/>
              <a:ea typeface="Times New Roman" panose="02020603050405020304"/>
              <a:cs typeface="Times New Roman" panose="02020603050405020304"/>
            </a:endParaRPr>
          </a:p>
          <a:p>
            <a:pPr algn="l" rtl="0" eaLnBrk="0">
              <a:lnSpc>
                <a:spcPct val="11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5000"/>
              </a:lnSpc>
            </a:pPr>
            <a:endParaRPr sz="500" dirty="0">
              <a:latin typeface="Arial" panose="020B0604020202020204" pitchFamily="34" charset="0"/>
              <a:ea typeface="Arial" panose="020B0604020202020204" pitchFamily="34" charset="0"/>
              <a:cs typeface="Arial" panose="020B0604020202020204" pitchFamily="34" charset="0"/>
            </a:endParaRPr>
          </a:p>
          <a:p>
            <a:pPr marL="372110" algn="l" rtl="0" eaLnBrk="0">
              <a:lnSpc>
                <a:spcPct val="93000"/>
              </a:lnSpc>
              <a:spcBef>
                <a:spcPts val="5"/>
              </a:spcBef>
            </a:pPr>
            <a:r>
              <a:rPr sz="23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10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6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4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2300" dirty="0">
              <a:latin typeface="Times New Roman" panose="02020603050405020304"/>
              <a:ea typeface="Times New Roman" panose="02020603050405020304"/>
              <a:cs typeface="Times New Roman" panose="02020603050405020304"/>
            </a:endParaRPr>
          </a:p>
        </p:txBody>
      </p:sp>
      <p:sp>
        <p:nvSpPr>
          <p:cNvPr id="228" name="path 228"/>
          <p:cNvSpPr/>
          <p:nvPr/>
        </p:nvSpPr>
        <p:spPr>
          <a:xfrm>
            <a:off x="4234166" y="3056382"/>
            <a:ext cx="9143" cy="1078230"/>
          </a:xfrm>
          <a:custGeom>
            <a:avLst/>
            <a:gdLst/>
            <a:ahLst/>
            <a:cxnLst/>
            <a:rect l="0" t="0" r="0" b="0"/>
            <a:pathLst>
              <a:path w="14" h="1698">
                <a:moveTo>
                  <a:pt x="7" y="0"/>
                </a:moveTo>
                <a:lnTo>
                  <a:pt x="7" y="1698"/>
                </a:lnTo>
              </a:path>
            </a:pathLst>
          </a:custGeom>
          <a:noFill/>
          <a:ln w="8985" cap="flat">
            <a:solidFill>
              <a:srgbClr val="FF00FF"/>
            </a:solidFill>
            <a:prstDash val="solid"/>
            <a:round/>
          </a:ln>
        </p:spPr>
        <p:txBody>
          <a:bodyPr rtlCol="0"/>
          <a:lstStyle/>
          <a:p>
            <a:pPr algn="ctr"/>
            <a:endParaRPr lang="zh-CN" altLang="en-US"/>
          </a:p>
        </p:txBody>
      </p:sp>
      <p:sp>
        <p:nvSpPr>
          <p:cNvPr id="230" name="textbox 230"/>
          <p:cNvSpPr/>
          <p:nvPr/>
        </p:nvSpPr>
        <p:spPr>
          <a:xfrm>
            <a:off x="7959545" y="3024632"/>
            <a:ext cx="2175510" cy="1867535"/>
          </a:xfrm>
          <a:prstGeom prst="rect">
            <a:avLst/>
          </a:prstGeom>
          <a:noFill/>
          <a:ln w="0" cap="flat">
            <a:noFill/>
            <a:prstDash val="solid"/>
            <a:miter lim="0"/>
          </a:ln>
        </p:spPr>
        <p:txBody>
          <a:bodyPr vert="horz" wrap="square" lIns="0" tIns="0" rIns="0" bIns="0"/>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0000"/>
              </a:lnSpc>
            </a:pP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400" b="1" i="1" kern="0" spc="0" baseline="-20000" dirty="0">
                <a:solidFill>
                  <a:srgbClr val="1C1C1C">
                    <a:alpha val="100000"/>
                  </a:srgbClr>
                </a:solidFill>
                <a:latin typeface="Times New Roman" panose="02020603050405020304"/>
                <a:ea typeface="Times New Roman" panose="02020603050405020304"/>
                <a:cs typeface="Times New Roman" panose="02020603050405020304"/>
              </a:rPr>
              <a:t>k</a:t>
            </a:r>
            <a:r>
              <a:rPr sz="2400" b="1" i="1" u="sng" kern="0" spc="-23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2400" b="1" u="sng" kern="0" spc="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a:t>
            </a:r>
            <a:r>
              <a:rPr sz="2400" b="1" i="1" u="sng" kern="0" spc="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x</a:t>
            </a:r>
            <a:r>
              <a:rPr sz="2400" b="1" u="sng" kern="0" spc="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a:t>
            </a:r>
            <a:r>
              <a:rPr sz="2400" b="1" u="sng" kern="0" spc="23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2400" b="1" kern="0" spc="130" dirty="0">
                <a:solidFill>
                  <a:srgbClr val="1C1C1C">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400" b="1" i="1" kern="0" spc="0" baseline="-20000" dirty="0">
                <a:solidFill>
                  <a:srgbClr val="1C1C1C">
                    <a:alpha val="100000"/>
                  </a:srgbClr>
                </a:solidFill>
                <a:latin typeface="Times New Roman" panose="02020603050405020304"/>
                <a:ea typeface="Times New Roman" panose="02020603050405020304"/>
                <a:cs typeface="Times New Roman" panose="02020603050405020304"/>
              </a:rPr>
              <a:t>k</a:t>
            </a:r>
            <a:r>
              <a:rPr sz="1500" b="1" i="1" kern="0" spc="0" dirty="0">
                <a:solidFill>
                  <a:srgbClr val="1C1C1C">
                    <a:alpha val="100000"/>
                  </a:srgbClr>
                </a:solidFill>
                <a:latin typeface="Times New Roman" panose="02020603050405020304"/>
                <a:ea typeface="Times New Roman" panose="02020603050405020304"/>
                <a:cs typeface="Times New Roman" panose="02020603050405020304"/>
              </a:rPr>
              <a:t> </a:t>
            </a:r>
            <a:r>
              <a:rPr sz="2400" b="1" kern="0" spc="0" dirty="0">
                <a:solidFill>
                  <a:srgbClr val="1C1C1C">
                    <a:alpha val="100000"/>
                  </a:srgbClr>
                </a:solidFill>
                <a:latin typeface="Times New Roman" panose="02020603050405020304"/>
                <a:ea typeface="Times New Roman" panose="02020603050405020304"/>
                <a:cs typeface="Times New Roman" panose="02020603050405020304"/>
              </a:rPr>
              <a:t>(</a:t>
            </a: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x</a:t>
            </a:r>
            <a:r>
              <a:rPr sz="2400" b="1" kern="0" spc="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600" dirty="0">
              <a:latin typeface="Arial" panose="020B0604020202020204" pitchFamily="34" charset="0"/>
              <a:ea typeface="Arial" panose="020B0604020202020204" pitchFamily="34" charset="0"/>
              <a:cs typeface="Arial" panose="020B0604020202020204" pitchFamily="34" charset="0"/>
            </a:endParaRPr>
          </a:p>
          <a:p>
            <a:pPr algn="r" rtl="0" eaLnBrk="0">
              <a:lnSpc>
                <a:spcPts val="3435"/>
              </a:lnSpc>
              <a:spcBef>
                <a:spcPts val="5"/>
              </a:spcBef>
            </a:pPr>
            <a:r>
              <a:rPr sz="4000" i="1" kern="0" spc="-5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5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50" baseline="3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50" baseline="3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3000" dirty="0">
              <a:latin typeface="Times New Roman" panose="02020603050405020304"/>
              <a:ea typeface="Times New Roman" panose="02020603050405020304"/>
              <a:cs typeface="Times New Roman" panose="02020603050405020304"/>
            </a:endParaRPr>
          </a:p>
        </p:txBody>
      </p:sp>
      <p:sp>
        <p:nvSpPr>
          <p:cNvPr id="232" name="path 232"/>
          <p:cNvSpPr/>
          <p:nvPr/>
        </p:nvSpPr>
        <p:spPr>
          <a:xfrm>
            <a:off x="8889415" y="3037332"/>
            <a:ext cx="9143" cy="1097280"/>
          </a:xfrm>
          <a:custGeom>
            <a:avLst/>
            <a:gdLst/>
            <a:ahLst/>
            <a:cxnLst/>
            <a:rect l="0" t="0" r="0" b="0"/>
            <a:pathLst>
              <a:path w="14" h="1728">
                <a:moveTo>
                  <a:pt x="7" y="0"/>
                </a:moveTo>
                <a:lnTo>
                  <a:pt x="7" y="1728"/>
                </a:lnTo>
              </a:path>
            </a:pathLst>
          </a:custGeom>
          <a:noFill/>
          <a:ln w="9143" cap="flat">
            <a:solidFill>
              <a:srgbClr val="FF00FF"/>
            </a:solidFill>
            <a:prstDash val="solid"/>
            <a:round/>
          </a:ln>
        </p:spPr>
        <p:txBody>
          <a:bodyPr rtlCol="0"/>
          <a:lstStyle/>
          <a:p>
            <a:pPr algn="ctr"/>
            <a:endParaRPr lang="zh-CN" altLang="en-US"/>
          </a:p>
        </p:txBody>
      </p:sp>
      <p:sp>
        <p:nvSpPr>
          <p:cNvPr id="236" name="textbox 236"/>
          <p:cNvSpPr/>
          <p:nvPr/>
        </p:nvSpPr>
        <p:spPr>
          <a:xfrm>
            <a:off x="1572950" y="466861"/>
            <a:ext cx="2036445"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40" dirty="0">
                <a:solidFill>
                  <a:srgbClr val="1C1C1C">
                    <a:alpha val="100000"/>
                  </a:srgbClr>
                </a:solidFill>
                <a:latin typeface="仿宋" panose="02010609060101010101" charset="-122"/>
                <a:ea typeface="仿宋" panose="02010609060101010101" charset="-122"/>
                <a:cs typeface="仿宋" panose="02010609060101010101" charset="-122"/>
              </a:rPr>
              <a:t>认证码生成</a:t>
            </a:r>
            <a:endParaRPr sz="3100" dirty="0">
              <a:latin typeface="仿宋" panose="02010609060101010101" charset="-122"/>
              <a:ea typeface="仿宋" panose="02010609060101010101" charset="-122"/>
              <a:cs typeface="仿宋" panose="02010609060101010101" charset="-122"/>
            </a:endParaRPr>
          </a:p>
        </p:txBody>
      </p:sp>
      <p:graphicFrame>
        <p:nvGraphicFramePr>
          <p:cNvPr id="238" name="table 238"/>
          <p:cNvGraphicFramePr>
            <a:graphicFrameLocks noGrp="1"/>
          </p:cNvGraphicFramePr>
          <p:nvPr/>
        </p:nvGraphicFramePr>
        <p:xfrm>
          <a:off x="1886711" y="3319272"/>
          <a:ext cx="865504" cy="624204"/>
        </p:xfrm>
        <a:graphic>
          <a:graphicData uri="http://schemas.openxmlformats.org/drawingml/2006/table">
            <a:tbl>
              <a:tblPr/>
              <a:tblGrid>
                <a:gridCol w="865504"/>
              </a:tblGrid>
              <a:tr h="617854">
                <a:tc>
                  <a:txBody>
                    <a:bodyPr/>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82550" algn="l" rtl="0" eaLnBrk="0">
                        <a:lnSpc>
                          <a:spcPct val="93000"/>
                        </a:lnSpc>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0" name="picture 240"/>
          <p:cNvPicPr>
            <a:picLocks noChangeAspect="1"/>
          </p:cNvPicPr>
          <p:nvPr/>
        </p:nvPicPr>
        <p:blipFill>
          <a:blip r:embed="rId7"/>
          <a:stretch>
            <a:fillRect/>
          </a:stretch>
        </p:blipFill>
        <p:spPr>
          <a:xfrm rot="21600000">
            <a:off x="2298191" y="3939540"/>
            <a:ext cx="76200" cy="548639"/>
          </a:xfrm>
          <a:prstGeom prst="rect">
            <a:avLst/>
          </a:prstGeom>
        </p:spPr>
      </p:pic>
      <p:sp>
        <p:nvSpPr>
          <p:cNvPr id="242" name="path 242"/>
          <p:cNvSpPr/>
          <p:nvPr/>
        </p:nvSpPr>
        <p:spPr>
          <a:xfrm>
            <a:off x="2333244" y="3025140"/>
            <a:ext cx="623315" cy="1101851"/>
          </a:xfrm>
          <a:custGeom>
            <a:avLst/>
            <a:gdLst/>
            <a:ahLst/>
            <a:cxnLst/>
            <a:rect l="0" t="0" r="0" b="0"/>
            <a:pathLst>
              <a:path w="981" h="1735">
                <a:moveTo>
                  <a:pt x="0" y="1727"/>
                </a:moveTo>
                <a:lnTo>
                  <a:pt x="974" y="1727"/>
                </a:lnTo>
                <a:moveTo>
                  <a:pt x="974" y="0"/>
                </a:moveTo>
                <a:lnTo>
                  <a:pt x="974" y="1727"/>
                </a:lnTo>
              </a:path>
            </a:pathLst>
          </a:custGeom>
          <a:noFill/>
          <a:ln w="9143" cap="flat">
            <a:solidFill>
              <a:srgbClr val="FF00FF"/>
            </a:solidFill>
            <a:prstDash val="solid"/>
            <a:round/>
          </a:ln>
        </p:spPr>
        <p:txBody>
          <a:bodyPr rtlCol="0"/>
          <a:lstStyle/>
          <a:p>
            <a:pPr algn="ctr"/>
            <a:endParaRPr lang="zh-CN" altLang="en-US"/>
          </a:p>
        </p:txBody>
      </p:sp>
      <p:graphicFrame>
        <p:nvGraphicFramePr>
          <p:cNvPr id="244" name="table 244"/>
          <p:cNvGraphicFramePr>
            <a:graphicFrameLocks noGrp="1"/>
          </p:cNvGraphicFramePr>
          <p:nvPr/>
        </p:nvGraphicFramePr>
        <p:xfrm>
          <a:off x="5858256" y="3319272"/>
          <a:ext cx="835025" cy="624204"/>
        </p:xfrm>
        <a:graphic>
          <a:graphicData uri="http://schemas.openxmlformats.org/drawingml/2006/table">
            <a:tbl>
              <a:tblPr/>
              <a:tblGrid>
                <a:gridCol w="835025"/>
              </a:tblGrid>
              <a:tr h="617854">
                <a:tc>
                  <a:txBody>
                    <a:bodyPr/>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6675" algn="l" rtl="0" eaLnBrk="0">
                        <a:lnSpc>
                          <a:spcPct val="93000"/>
                        </a:lnSpc>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6" name="picture 246"/>
          <p:cNvPicPr>
            <a:picLocks noChangeAspect="1"/>
          </p:cNvPicPr>
          <p:nvPr/>
        </p:nvPicPr>
        <p:blipFill>
          <a:blip r:embed="rId8"/>
          <a:stretch>
            <a:fillRect/>
          </a:stretch>
        </p:blipFill>
        <p:spPr>
          <a:xfrm rot="21600000">
            <a:off x="6239255" y="3939540"/>
            <a:ext cx="76200" cy="548639"/>
          </a:xfrm>
          <a:prstGeom prst="rect">
            <a:avLst/>
          </a:prstGeom>
        </p:spPr>
      </p:pic>
      <p:sp>
        <p:nvSpPr>
          <p:cNvPr id="248" name="path 248"/>
          <p:cNvSpPr/>
          <p:nvPr/>
        </p:nvSpPr>
        <p:spPr>
          <a:xfrm>
            <a:off x="6228588" y="3025140"/>
            <a:ext cx="623315" cy="1101851"/>
          </a:xfrm>
          <a:custGeom>
            <a:avLst/>
            <a:gdLst/>
            <a:ahLst/>
            <a:cxnLst/>
            <a:rect l="0" t="0" r="0" b="0"/>
            <a:pathLst>
              <a:path w="981" h="1735">
                <a:moveTo>
                  <a:pt x="0" y="1727"/>
                </a:moveTo>
                <a:lnTo>
                  <a:pt x="974" y="1727"/>
                </a:lnTo>
                <a:moveTo>
                  <a:pt x="974" y="0"/>
                </a:moveTo>
                <a:lnTo>
                  <a:pt x="974" y="1727"/>
                </a:lnTo>
              </a:path>
            </a:pathLst>
          </a:custGeom>
          <a:noFill/>
          <a:ln w="9143" cap="flat">
            <a:solidFill>
              <a:srgbClr val="FF00FF"/>
            </a:solidFill>
            <a:prstDash val="solid"/>
            <a:round/>
          </a:ln>
        </p:spPr>
        <p:txBody>
          <a:bodyPr rtlCol="0"/>
          <a:lstStyle/>
          <a:p>
            <a:pPr algn="ctr"/>
            <a:endParaRPr lang="zh-CN" altLang="en-US"/>
          </a:p>
        </p:txBody>
      </p:sp>
      <p:sp>
        <p:nvSpPr>
          <p:cNvPr id="250" name="textbox 250"/>
          <p:cNvSpPr/>
          <p:nvPr/>
        </p:nvSpPr>
        <p:spPr>
          <a:xfrm>
            <a:off x="8397568" y="2524962"/>
            <a:ext cx="1861820" cy="46164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435"/>
              </a:lnSpc>
            </a:pPr>
            <a:r>
              <a:rPr sz="4000" i="1" kern="0" spc="-10" baseline="19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4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9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20" baseline="3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20" baseline="3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3000" dirty="0">
              <a:latin typeface="Times New Roman" panose="02020603050405020304"/>
              <a:ea typeface="Times New Roman" panose="02020603050405020304"/>
              <a:cs typeface="Times New Roman" panose="02020603050405020304"/>
            </a:endParaRPr>
          </a:p>
        </p:txBody>
      </p:sp>
      <p:sp>
        <p:nvSpPr>
          <p:cNvPr id="252" name="path 252"/>
          <p:cNvSpPr/>
          <p:nvPr/>
        </p:nvSpPr>
        <p:spPr>
          <a:xfrm>
            <a:off x="7879080" y="3319272"/>
            <a:ext cx="920495" cy="627887"/>
          </a:xfrm>
          <a:custGeom>
            <a:avLst/>
            <a:gdLst/>
            <a:ahLst/>
            <a:cxnLst/>
            <a:rect l="0" t="0" r="0" b="0"/>
            <a:pathLst>
              <a:path w="1449" h="988">
                <a:moveTo>
                  <a:pt x="7" y="981"/>
                </a:moveTo>
                <a:lnTo>
                  <a:pt x="1442" y="981"/>
                </a:lnTo>
                <a:lnTo>
                  <a:pt x="1442" y="7"/>
                </a:lnTo>
                <a:lnTo>
                  <a:pt x="7" y="7"/>
                </a:lnTo>
                <a:lnTo>
                  <a:pt x="7" y="981"/>
                </a:lnTo>
                <a:close/>
              </a:path>
            </a:pathLst>
          </a:custGeom>
          <a:noFill/>
          <a:ln w="9143" cap="flat">
            <a:solidFill>
              <a:srgbClr val="000000"/>
            </a:solidFill>
            <a:prstDash val="solid"/>
            <a:miter lim="800000"/>
          </a:ln>
        </p:spPr>
        <p:txBody>
          <a:bodyPr rtlCol="0"/>
          <a:lstStyle/>
          <a:p>
            <a:pPr algn="ctr"/>
            <a:endParaRPr lang="zh-CN" altLang="en-US"/>
          </a:p>
        </p:txBody>
      </p:sp>
      <p:pic>
        <p:nvPicPr>
          <p:cNvPr id="254" name="picture 254"/>
          <p:cNvPicPr>
            <a:picLocks noChangeAspect="1"/>
          </p:cNvPicPr>
          <p:nvPr/>
        </p:nvPicPr>
        <p:blipFill>
          <a:blip r:embed="rId9"/>
          <a:stretch>
            <a:fillRect/>
          </a:stretch>
        </p:blipFill>
        <p:spPr>
          <a:xfrm rot="21600000">
            <a:off x="822960" y="408431"/>
            <a:ext cx="420623" cy="655320"/>
          </a:xfrm>
          <a:prstGeom prst="rect">
            <a:avLst/>
          </a:prstGeom>
        </p:spPr>
      </p:pic>
      <p:sp>
        <p:nvSpPr>
          <p:cNvPr id="256" name="path 25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258" name="textbox 258"/>
          <p:cNvSpPr/>
          <p:nvPr/>
        </p:nvSpPr>
        <p:spPr>
          <a:xfrm>
            <a:off x="6109208" y="2524962"/>
            <a:ext cx="619759" cy="344804"/>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80000"/>
              </a:lnSpc>
              <a:tabLst>
                <a:tab pos="276225" algn="l"/>
              </a:tabLst>
            </a:pPr>
            <a:r>
              <a:rPr sz="2600" u="sng" kern="0" spc="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2600" i="1" kern="0" spc="-2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25000" dirty="0">
                <a:solidFill>
                  <a:srgbClr val="000000">
                    <a:alpha val="100000"/>
                  </a:srgbClr>
                </a:solidFill>
                <a:latin typeface="Times New Roman" panose="02020603050405020304"/>
                <a:ea typeface="Times New Roman" panose="02020603050405020304"/>
                <a:cs typeface="Times New Roman" panose="02020603050405020304"/>
              </a:rPr>
              <a:t>4</a:t>
            </a:r>
            <a:endParaRPr sz="2300" baseline="-25000" dirty="0">
              <a:latin typeface="Times New Roman" panose="02020603050405020304"/>
              <a:ea typeface="Times New Roman" panose="02020603050405020304"/>
              <a:cs typeface="Times New Roman" panose="02020603050405020304"/>
            </a:endParaRPr>
          </a:p>
        </p:txBody>
      </p:sp>
      <p:sp>
        <p:nvSpPr>
          <p:cNvPr id="260" name="textbox 260"/>
          <p:cNvSpPr/>
          <p:nvPr/>
        </p:nvSpPr>
        <p:spPr>
          <a:xfrm>
            <a:off x="10329605" y="2524962"/>
            <a:ext cx="423544" cy="40449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980"/>
              </a:lnSpc>
            </a:pP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i="1" kern="0" spc="-70" dirty="0">
                <a:solidFill>
                  <a:srgbClr val="000000">
                    <a:alpha val="100000"/>
                  </a:srgbClr>
                </a:solidFill>
                <a:latin typeface="Times New Roman" panose="02020603050405020304"/>
                <a:ea typeface="Times New Roman" panose="02020603050405020304"/>
                <a:cs typeface="Times New Roman" panose="02020603050405020304"/>
              </a:rPr>
              <a:t>r</a:t>
            </a:r>
            <a:endParaRPr sz="2400" dirty="0">
              <a:latin typeface="Times New Roman" panose="02020603050405020304"/>
              <a:ea typeface="Times New Roman" panose="02020603050405020304"/>
              <a:cs typeface="Times New Roman" panose="02020603050405020304"/>
            </a:endParaRPr>
          </a:p>
        </p:txBody>
      </p:sp>
      <p:sp>
        <p:nvSpPr>
          <p:cNvPr id="262" name="textbox 262"/>
          <p:cNvSpPr/>
          <p:nvPr/>
        </p:nvSpPr>
        <p:spPr>
          <a:xfrm>
            <a:off x="2426459" y="2524962"/>
            <a:ext cx="339725" cy="419734"/>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100000"/>
              </a:lnSpc>
            </a:pPr>
            <a:r>
              <a:rPr sz="2600" i="1" kern="0" spc="-9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90" baseline="-25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25000" dirty="0">
              <a:latin typeface="Times New Roman" panose="02020603050405020304"/>
              <a:ea typeface="Times New Roman" panose="02020603050405020304"/>
              <a:cs typeface="Times New Roman" panose="02020603050405020304"/>
            </a:endParaRPr>
          </a:p>
        </p:txBody>
      </p:sp>
      <p:pic>
        <p:nvPicPr>
          <p:cNvPr id="264" name="picture 264"/>
          <p:cNvPicPr>
            <a:picLocks noChangeAspect="1"/>
          </p:cNvPicPr>
          <p:nvPr/>
        </p:nvPicPr>
        <p:blipFill>
          <a:blip r:embed="rId10"/>
          <a:stretch>
            <a:fillRect/>
          </a:stretch>
        </p:blipFill>
        <p:spPr>
          <a:xfrm rot="21600000">
            <a:off x="9540240" y="2775204"/>
            <a:ext cx="76200" cy="548639"/>
          </a:xfrm>
          <a:prstGeom prst="rect">
            <a:avLst/>
          </a:prstGeom>
        </p:spPr>
      </p:pic>
      <p:pic>
        <p:nvPicPr>
          <p:cNvPr id="266" name="picture 266"/>
          <p:cNvPicPr>
            <a:picLocks noChangeAspect="1"/>
          </p:cNvPicPr>
          <p:nvPr/>
        </p:nvPicPr>
        <p:blipFill>
          <a:blip r:embed="rId11"/>
          <a:stretch>
            <a:fillRect/>
          </a:stretch>
        </p:blipFill>
        <p:spPr>
          <a:xfrm rot="21600000">
            <a:off x="8889492" y="2999232"/>
            <a:ext cx="838200" cy="76200"/>
          </a:xfrm>
          <a:prstGeom prst="rect">
            <a:avLst/>
          </a:prstGeom>
        </p:spPr>
      </p:pic>
      <p:grpSp>
        <p:nvGrpSpPr>
          <p:cNvPr id="16" name="group 16"/>
          <p:cNvGrpSpPr/>
          <p:nvPr/>
        </p:nvGrpSpPr>
        <p:grpSpPr>
          <a:xfrm rot="21600000">
            <a:off x="9433559" y="2883408"/>
            <a:ext cx="298704" cy="295655"/>
            <a:chOff x="0" y="0"/>
            <a:chExt cx="298704" cy="295655"/>
          </a:xfrm>
        </p:grpSpPr>
        <p:sp>
          <p:nvSpPr>
            <p:cNvPr id="268" name="path 268"/>
            <p:cNvSpPr/>
            <p:nvPr/>
          </p:nvSpPr>
          <p:spPr>
            <a:xfrm>
              <a:off x="4571" y="4571"/>
              <a:ext cx="289560" cy="286511"/>
            </a:xfrm>
            <a:custGeom>
              <a:avLst/>
              <a:gdLst/>
              <a:ahLst/>
              <a:cxnLst/>
              <a:rect l="0" t="0" r="0" b="0"/>
              <a:pathLst>
                <a:path w="456" h="451">
                  <a:moveTo>
                    <a:pt x="0" y="225"/>
                  </a:moveTo>
                  <a:cubicBezTo>
                    <a:pt x="0" y="101"/>
                    <a:pt x="102" y="0"/>
                    <a:pt x="228" y="0"/>
                  </a:cubicBezTo>
                  <a:cubicBezTo>
                    <a:pt x="354" y="0"/>
                    <a:pt x="456" y="101"/>
                    <a:pt x="456" y="225"/>
                  </a:cubicBezTo>
                  <a:cubicBezTo>
                    <a:pt x="456" y="350"/>
                    <a:pt x="354" y="451"/>
                    <a:pt x="228" y="451"/>
                  </a:cubicBezTo>
                  <a:cubicBezTo>
                    <a:pt x="102"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70" name="path 270"/>
            <p:cNvSpPr/>
            <p:nvPr/>
          </p:nvSpPr>
          <p:spPr>
            <a:xfrm>
              <a:off x="0" y="0"/>
              <a:ext cx="298704"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pic>
        <p:nvPicPr>
          <p:cNvPr id="272" name="picture 272"/>
          <p:cNvPicPr>
            <a:picLocks noChangeAspect="1"/>
          </p:cNvPicPr>
          <p:nvPr/>
        </p:nvPicPr>
        <p:blipFill>
          <a:blip r:embed="rId12"/>
          <a:stretch>
            <a:fillRect/>
          </a:stretch>
        </p:blipFill>
        <p:spPr>
          <a:xfrm rot="21600000">
            <a:off x="6239255" y="2775204"/>
            <a:ext cx="76200" cy="548639"/>
          </a:xfrm>
          <a:prstGeom prst="rect">
            <a:avLst/>
          </a:prstGeom>
        </p:spPr>
      </p:pic>
      <p:grpSp>
        <p:nvGrpSpPr>
          <p:cNvPr id="18" name="group 18"/>
          <p:cNvGrpSpPr/>
          <p:nvPr/>
        </p:nvGrpSpPr>
        <p:grpSpPr>
          <a:xfrm rot="21600000">
            <a:off x="6117336" y="2883408"/>
            <a:ext cx="298703" cy="295655"/>
            <a:chOff x="0" y="0"/>
            <a:chExt cx="298703" cy="295655"/>
          </a:xfrm>
        </p:grpSpPr>
        <p:sp>
          <p:nvSpPr>
            <p:cNvPr id="274" name="path 274"/>
            <p:cNvSpPr/>
            <p:nvPr/>
          </p:nvSpPr>
          <p:spPr>
            <a:xfrm>
              <a:off x="4571" y="4571"/>
              <a:ext cx="289559" cy="286511"/>
            </a:xfrm>
            <a:custGeom>
              <a:avLst/>
              <a:gdLst/>
              <a:ahLst/>
              <a:cxnLst/>
              <a:rect l="0" t="0" r="0" b="0"/>
              <a:pathLst>
                <a:path w="455" h="451">
                  <a:moveTo>
                    <a:pt x="0" y="225"/>
                  </a:moveTo>
                  <a:cubicBezTo>
                    <a:pt x="0" y="101"/>
                    <a:pt x="102" y="0"/>
                    <a:pt x="227" y="0"/>
                  </a:cubicBezTo>
                  <a:cubicBezTo>
                    <a:pt x="354" y="0"/>
                    <a:pt x="455" y="101"/>
                    <a:pt x="455" y="225"/>
                  </a:cubicBezTo>
                  <a:cubicBezTo>
                    <a:pt x="455" y="350"/>
                    <a:pt x="354" y="451"/>
                    <a:pt x="227" y="451"/>
                  </a:cubicBezTo>
                  <a:cubicBezTo>
                    <a:pt x="102"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76" name="path 276"/>
            <p:cNvSpPr/>
            <p:nvPr/>
          </p:nvSpPr>
          <p:spPr>
            <a:xfrm>
              <a:off x="0" y="0"/>
              <a:ext cx="298703"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sp>
        <p:nvSpPr>
          <p:cNvPr id="278" name="textbox 278"/>
          <p:cNvSpPr/>
          <p:nvPr/>
        </p:nvSpPr>
        <p:spPr>
          <a:xfrm>
            <a:off x="6349570" y="4429962"/>
            <a:ext cx="259079" cy="344804"/>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0000"/>
              </a:lnSpc>
            </a:pPr>
            <a:r>
              <a:rPr sz="2600" i="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40" baseline="-25000" dirty="0">
                <a:solidFill>
                  <a:srgbClr val="000000">
                    <a:alpha val="100000"/>
                  </a:srgbClr>
                </a:solidFill>
                <a:latin typeface="Times New Roman" panose="02020603050405020304"/>
                <a:ea typeface="Times New Roman" panose="02020603050405020304"/>
                <a:cs typeface="Times New Roman" panose="02020603050405020304"/>
              </a:rPr>
              <a:t>4</a:t>
            </a:r>
            <a:endParaRPr sz="2300" baseline="-25000" dirty="0">
              <a:latin typeface="Times New Roman" panose="02020603050405020304"/>
              <a:ea typeface="Times New Roman" panose="02020603050405020304"/>
              <a:cs typeface="Times New Roman" panose="02020603050405020304"/>
            </a:endParaRPr>
          </a:p>
        </p:txBody>
      </p:sp>
      <p:sp>
        <p:nvSpPr>
          <p:cNvPr id="280" name="textbox 280"/>
          <p:cNvSpPr/>
          <p:nvPr/>
        </p:nvSpPr>
        <p:spPr>
          <a:xfrm>
            <a:off x="3682570" y="4429962"/>
            <a:ext cx="259079" cy="419734"/>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600" i="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40" baseline="-25000" dirty="0">
                <a:solidFill>
                  <a:srgbClr val="000000">
                    <a:alpha val="100000"/>
                  </a:srgbClr>
                </a:solidFill>
                <a:latin typeface="Times New Roman" panose="02020603050405020304"/>
                <a:ea typeface="Times New Roman" panose="02020603050405020304"/>
                <a:cs typeface="Times New Roman" panose="02020603050405020304"/>
              </a:rPr>
              <a:t>2</a:t>
            </a:r>
            <a:endParaRPr sz="2300" baseline="-25000" dirty="0">
              <a:latin typeface="Times New Roman" panose="02020603050405020304"/>
              <a:ea typeface="Times New Roman" panose="02020603050405020304"/>
              <a:cs typeface="Times New Roman" panose="02020603050405020304"/>
            </a:endParaRPr>
          </a:p>
        </p:txBody>
      </p:sp>
      <p:sp>
        <p:nvSpPr>
          <p:cNvPr id="282" name="textbox 282"/>
          <p:cNvSpPr/>
          <p:nvPr/>
        </p:nvSpPr>
        <p:spPr>
          <a:xfrm>
            <a:off x="5029784" y="4429962"/>
            <a:ext cx="254634" cy="4222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600" i="1" kern="0" spc="-5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50" baseline="-25000" dirty="0">
                <a:solidFill>
                  <a:srgbClr val="000000">
                    <a:alpha val="100000"/>
                  </a:srgbClr>
                </a:solidFill>
                <a:latin typeface="Times New Roman" panose="02020603050405020304"/>
                <a:ea typeface="Times New Roman" panose="02020603050405020304"/>
                <a:cs typeface="Times New Roman" panose="02020603050405020304"/>
              </a:rPr>
              <a:t>3</a:t>
            </a:r>
            <a:endParaRPr sz="2300" baseline="-25000" dirty="0">
              <a:latin typeface="Times New Roman" panose="02020603050405020304"/>
              <a:ea typeface="Times New Roman" panose="02020603050405020304"/>
              <a:cs typeface="Times New Roman" panose="02020603050405020304"/>
            </a:endParaRPr>
          </a:p>
        </p:txBody>
      </p:sp>
      <p:sp>
        <p:nvSpPr>
          <p:cNvPr id="284" name="textbox 284"/>
          <p:cNvSpPr/>
          <p:nvPr/>
        </p:nvSpPr>
        <p:spPr>
          <a:xfrm>
            <a:off x="2432888" y="4429962"/>
            <a:ext cx="241300" cy="41719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ts val="3080"/>
              </a:lnSpc>
            </a:pPr>
            <a:r>
              <a:rPr sz="2500" i="1" kern="0" spc="-80" dirty="0">
                <a:solidFill>
                  <a:srgbClr val="000000">
                    <a:alpha val="100000"/>
                  </a:srgbClr>
                </a:solidFill>
                <a:latin typeface="Times New Roman" panose="02020603050405020304"/>
                <a:ea typeface="Times New Roman" panose="02020603050405020304"/>
                <a:cs typeface="Times New Roman" panose="02020603050405020304"/>
              </a:rPr>
              <a:t>c</a:t>
            </a:r>
            <a:r>
              <a:rPr sz="2200" kern="0" spc="-80" baseline="-8000" dirty="0">
                <a:solidFill>
                  <a:srgbClr val="000000">
                    <a:alpha val="100000"/>
                  </a:srgbClr>
                </a:solidFill>
                <a:latin typeface="Times New Roman" panose="02020603050405020304"/>
                <a:ea typeface="Times New Roman" panose="02020603050405020304"/>
                <a:cs typeface="Times New Roman" panose="02020603050405020304"/>
              </a:rPr>
              <a:t>1</a:t>
            </a:r>
            <a:endParaRPr sz="2200" baseline="-8000" dirty="0">
              <a:latin typeface="Times New Roman" panose="02020603050405020304"/>
              <a:ea typeface="Times New Roman" panose="02020603050405020304"/>
              <a:cs typeface="Times New Roman" panose="02020603050405020304"/>
            </a:endParaRPr>
          </a:p>
        </p:txBody>
      </p:sp>
      <p:sp>
        <p:nvSpPr>
          <p:cNvPr id="286" name="textbox 286"/>
          <p:cNvSpPr/>
          <p:nvPr/>
        </p:nvSpPr>
        <p:spPr>
          <a:xfrm>
            <a:off x="7328865" y="3553038"/>
            <a:ext cx="276859" cy="33147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5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288" name="textbox 288"/>
          <p:cNvSpPr/>
          <p:nvPr/>
        </p:nvSpPr>
        <p:spPr>
          <a:xfrm>
            <a:off x="7328865" y="4631395"/>
            <a:ext cx="276859" cy="33147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5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290" name="textbox 290"/>
          <p:cNvSpPr/>
          <p:nvPr/>
        </p:nvSpPr>
        <p:spPr>
          <a:xfrm>
            <a:off x="7297115" y="2401529"/>
            <a:ext cx="276859" cy="270509"/>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77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292" name="path 292"/>
          <p:cNvSpPr/>
          <p:nvPr/>
        </p:nvSpPr>
        <p:spPr>
          <a:xfrm>
            <a:off x="5568696" y="3037332"/>
            <a:ext cx="9143" cy="1097280"/>
          </a:xfrm>
          <a:custGeom>
            <a:avLst/>
            <a:gdLst/>
            <a:ahLst/>
            <a:cxnLst/>
            <a:rect l="0" t="0" r="0" b="0"/>
            <a:pathLst>
              <a:path w="14" h="1728">
                <a:moveTo>
                  <a:pt x="7" y="0"/>
                </a:moveTo>
                <a:lnTo>
                  <a:pt x="7" y="1728"/>
                </a:lnTo>
              </a:path>
            </a:pathLst>
          </a:custGeom>
          <a:noFill/>
          <a:ln w="9143" cap="flat">
            <a:solidFill>
              <a:srgbClr val="FF00FF"/>
            </a:solidFill>
            <a:prstDash val="solid"/>
            <a:round/>
          </a:ln>
        </p:spPr>
        <p:txBody>
          <a:bodyPr rtlCol="0"/>
          <a:lstStyle/>
          <a:p>
            <a:pPr algn="ctr"/>
            <a:endParaRPr lang="zh-CN" altLang="en-US"/>
          </a:p>
        </p:txBody>
      </p:sp>
      <p:pic>
        <p:nvPicPr>
          <p:cNvPr id="294" name="picture 294"/>
          <p:cNvPicPr>
            <a:picLocks noChangeAspect="1"/>
          </p:cNvPicPr>
          <p:nvPr/>
        </p:nvPicPr>
        <p:blipFill>
          <a:blip r:embed="rId13"/>
          <a:stretch>
            <a:fillRect/>
          </a:stretch>
        </p:blipFill>
        <p:spPr>
          <a:xfrm rot="21600000">
            <a:off x="5573267" y="2999232"/>
            <a:ext cx="548640" cy="76200"/>
          </a:xfrm>
          <a:prstGeom prst="rect">
            <a:avLst/>
          </a:prstGeom>
        </p:spPr>
      </p:pic>
      <p:pic>
        <p:nvPicPr>
          <p:cNvPr id="296" name="picture 296"/>
          <p:cNvPicPr>
            <a:picLocks noChangeAspect="1"/>
          </p:cNvPicPr>
          <p:nvPr/>
        </p:nvPicPr>
        <p:blipFill>
          <a:blip r:embed="rId14"/>
          <a:stretch>
            <a:fillRect/>
          </a:stretch>
        </p:blipFill>
        <p:spPr>
          <a:xfrm rot="21600000">
            <a:off x="6847331" y="2987040"/>
            <a:ext cx="548640" cy="76200"/>
          </a:xfrm>
          <a:prstGeom prst="rect">
            <a:avLst/>
          </a:prstGeom>
        </p:spPr>
      </p:pic>
      <p:pic>
        <p:nvPicPr>
          <p:cNvPr id="298" name="picture 298"/>
          <p:cNvPicPr>
            <a:picLocks noChangeAspect="1"/>
          </p:cNvPicPr>
          <p:nvPr/>
        </p:nvPicPr>
        <p:blipFill>
          <a:blip r:embed="rId15"/>
          <a:stretch>
            <a:fillRect/>
          </a:stretch>
        </p:blipFill>
        <p:spPr>
          <a:xfrm rot="21600000">
            <a:off x="8257031" y="3942588"/>
            <a:ext cx="76200" cy="548639"/>
          </a:xfrm>
          <a:prstGeom prst="rect">
            <a:avLst/>
          </a:prstGeom>
        </p:spPr>
      </p:pic>
      <p:pic>
        <p:nvPicPr>
          <p:cNvPr id="300" name="picture 300"/>
          <p:cNvPicPr>
            <a:picLocks noChangeAspect="1"/>
          </p:cNvPicPr>
          <p:nvPr/>
        </p:nvPicPr>
        <p:blipFill>
          <a:blip r:embed="rId16"/>
          <a:stretch>
            <a:fillRect/>
          </a:stretch>
        </p:blipFill>
        <p:spPr>
          <a:xfrm rot="21600000">
            <a:off x="9540240" y="3942588"/>
            <a:ext cx="76200" cy="548639"/>
          </a:xfrm>
          <a:prstGeom prst="rect">
            <a:avLst/>
          </a:prstGeom>
        </p:spPr>
      </p:pic>
      <p:pic>
        <p:nvPicPr>
          <p:cNvPr id="302" name="picture 302"/>
          <p:cNvPicPr>
            <a:picLocks noChangeAspect="1"/>
          </p:cNvPicPr>
          <p:nvPr/>
        </p:nvPicPr>
        <p:blipFill>
          <a:blip r:embed="rId17"/>
          <a:stretch>
            <a:fillRect/>
          </a:stretch>
        </p:blipFill>
        <p:spPr>
          <a:xfrm rot="21600000">
            <a:off x="2298191" y="2775204"/>
            <a:ext cx="76200" cy="548639"/>
          </a:xfrm>
          <a:prstGeom prst="rect">
            <a:avLst/>
          </a:prstGeom>
        </p:spPr>
      </p:pic>
      <p:pic>
        <p:nvPicPr>
          <p:cNvPr id="304" name="picture 304"/>
          <p:cNvPicPr>
            <a:picLocks noChangeAspect="1"/>
          </p:cNvPicPr>
          <p:nvPr/>
        </p:nvPicPr>
        <p:blipFill>
          <a:blip r:embed="rId18"/>
          <a:stretch>
            <a:fillRect/>
          </a:stretch>
        </p:blipFill>
        <p:spPr>
          <a:xfrm rot="21600000">
            <a:off x="8257031" y="2775204"/>
            <a:ext cx="76200" cy="548639"/>
          </a:xfrm>
          <a:prstGeom prst="rect">
            <a:avLst/>
          </a:prstGeom>
        </p:spPr>
      </p:pic>
      <p:pic>
        <p:nvPicPr>
          <p:cNvPr id="2" name="图片 1"/>
          <p:cNvPicPr>
            <a:picLocks noChangeAspect="1"/>
          </p:cNvPicPr>
          <p:nvPr/>
        </p:nvPicPr>
        <p:blipFill>
          <a:blip r:embed="rId19"/>
          <a:stretch>
            <a:fillRect/>
          </a:stretch>
        </p:blipFill>
        <p:spPr>
          <a:xfrm>
            <a:off x="923290" y="1231900"/>
            <a:ext cx="10733405" cy="37312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table 306"/>
          <p:cNvGraphicFramePr>
            <a:graphicFrameLocks noGrp="1"/>
          </p:cNvGraphicFramePr>
          <p:nvPr/>
        </p:nvGraphicFramePr>
        <p:xfrm>
          <a:off x="2904744" y="4760976"/>
          <a:ext cx="831850" cy="624839"/>
        </p:xfrm>
        <a:graphic>
          <a:graphicData uri="http://schemas.openxmlformats.org/drawingml/2006/table">
            <a:tbl>
              <a:tblPr/>
              <a:tblGrid>
                <a:gridCol w="831850"/>
              </a:tblGrid>
              <a:tr h="618489">
                <a:tc>
                  <a:txBody>
                    <a:bodyPr/>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89535" algn="l" rtl="0" eaLnBrk="0">
                        <a:lnSpc>
                          <a:spcPct val="92000"/>
                        </a:lnSpc>
                        <a:spcBef>
                          <a:spcPts val="5"/>
                        </a:spcBef>
                      </a:pP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10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8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8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8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08" name="picture 308"/>
          <p:cNvPicPr>
            <a:picLocks noChangeAspect="1"/>
          </p:cNvPicPr>
          <p:nvPr/>
        </p:nvPicPr>
        <p:blipFill>
          <a:blip r:embed="rId1"/>
          <a:stretch>
            <a:fillRect/>
          </a:stretch>
        </p:blipFill>
        <p:spPr>
          <a:xfrm rot="21600000">
            <a:off x="3282695" y="5381244"/>
            <a:ext cx="76200" cy="548639"/>
          </a:xfrm>
          <a:prstGeom prst="rect">
            <a:avLst/>
          </a:prstGeom>
        </p:spPr>
      </p:pic>
      <p:sp>
        <p:nvSpPr>
          <p:cNvPr id="310" name="path 310"/>
          <p:cNvSpPr/>
          <p:nvPr/>
        </p:nvSpPr>
        <p:spPr>
          <a:xfrm>
            <a:off x="3305555" y="5571744"/>
            <a:ext cx="618744"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graphicFrame>
        <p:nvGraphicFramePr>
          <p:cNvPr id="312" name="table 312"/>
          <p:cNvGraphicFramePr>
            <a:graphicFrameLocks noGrp="1"/>
          </p:cNvGraphicFramePr>
          <p:nvPr/>
        </p:nvGraphicFramePr>
        <p:xfrm>
          <a:off x="1569719" y="4760976"/>
          <a:ext cx="862330" cy="624839"/>
        </p:xfrm>
        <a:graphic>
          <a:graphicData uri="http://schemas.openxmlformats.org/drawingml/2006/table">
            <a:tbl>
              <a:tblPr/>
              <a:tblGrid>
                <a:gridCol w="862330"/>
              </a:tblGrid>
              <a:tr h="618489">
                <a:tc>
                  <a:txBody>
                    <a:bodyPr/>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81915" algn="l" rtl="0" eaLnBrk="0">
                        <a:lnSpc>
                          <a:spcPct val="92000"/>
                        </a:lnSpc>
                        <a:spcBef>
                          <a:spcPts val="5"/>
                        </a:spcBef>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14" name="picture 314"/>
          <p:cNvPicPr>
            <a:picLocks noChangeAspect="1"/>
          </p:cNvPicPr>
          <p:nvPr/>
        </p:nvPicPr>
        <p:blipFill>
          <a:blip r:embed="rId2"/>
          <a:stretch>
            <a:fillRect/>
          </a:stretch>
        </p:blipFill>
        <p:spPr>
          <a:xfrm rot="21600000">
            <a:off x="1978151" y="5381244"/>
            <a:ext cx="76200" cy="548639"/>
          </a:xfrm>
          <a:prstGeom prst="rect">
            <a:avLst/>
          </a:prstGeom>
        </p:spPr>
      </p:pic>
      <p:sp>
        <p:nvSpPr>
          <p:cNvPr id="316" name="path 316"/>
          <p:cNvSpPr/>
          <p:nvPr/>
        </p:nvSpPr>
        <p:spPr>
          <a:xfrm>
            <a:off x="2016251" y="5559552"/>
            <a:ext cx="618744"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graphicFrame>
        <p:nvGraphicFramePr>
          <p:cNvPr id="318" name="table 318"/>
          <p:cNvGraphicFramePr>
            <a:graphicFrameLocks noGrp="1"/>
          </p:cNvGraphicFramePr>
          <p:nvPr/>
        </p:nvGraphicFramePr>
        <p:xfrm>
          <a:off x="4206240" y="4760976"/>
          <a:ext cx="831850" cy="624839"/>
        </p:xfrm>
        <a:graphic>
          <a:graphicData uri="http://schemas.openxmlformats.org/drawingml/2006/table">
            <a:tbl>
              <a:tblPr/>
              <a:tblGrid>
                <a:gridCol w="831850"/>
              </a:tblGrid>
              <a:tr h="618489">
                <a:tc>
                  <a:txBody>
                    <a:bodyPr/>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
                        </a:lnSpc>
                      </a:pPr>
                      <a:endParaRPr sz="100" dirty="0">
                        <a:latin typeface="Arial" panose="020B0604020202020204" pitchFamily="34" charset="0"/>
                        <a:ea typeface="Arial" panose="020B0604020202020204" pitchFamily="34" charset="0"/>
                        <a:cs typeface="Arial" panose="020B0604020202020204" pitchFamily="34" charset="0"/>
                      </a:endParaRPr>
                    </a:p>
                    <a:p>
                      <a:pPr marL="94615" algn="l" rtl="0" eaLnBrk="0">
                        <a:lnSpc>
                          <a:spcPct val="96000"/>
                        </a:lnSpc>
                      </a:pPr>
                      <a:r>
                        <a:rPr sz="2300" i="1" kern="0" spc="-7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70" baseline="-29000" dirty="0">
                          <a:solidFill>
                            <a:srgbClr val="000000">
                              <a:alpha val="100000"/>
                            </a:srgbClr>
                          </a:solidFill>
                          <a:latin typeface="Times New Roman" panose="02020603050405020304"/>
                          <a:ea typeface="Times New Roman" panose="02020603050405020304"/>
                          <a:cs typeface="Times New Roman" panose="02020603050405020304"/>
                        </a:rPr>
                        <a:t>k</a:t>
                      </a:r>
                      <a:r>
                        <a:rPr sz="12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5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5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23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20" name="picture 320"/>
          <p:cNvPicPr>
            <a:picLocks noChangeAspect="1"/>
          </p:cNvPicPr>
          <p:nvPr/>
        </p:nvPicPr>
        <p:blipFill>
          <a:blip r:embed="rId3"/>
          <a:stretch>
            <a:fillRect/>
          </a:stretch>
        </p:blipFill>
        <p:spPr>
          <a:xfrm rot="21600000">
            <a:off x="4584191" y="5381244"/>
            <a:ext cx="76200" cy="548639"/>
          </a:xfrm>
          <a:prstGeom prst="rect">
            <a:avLst/>
          </a:prstGeom>
        </p:spPr>
      </p:pic>
      <p:sp>
        <p:nvSpPr>
          <p:cNvPr id="322" name="path 322"/>
          <p:cNvSpPr/>
          <p:nvPr/>
        </p:nvSpPr>
        <p:spPr>
          <a:xfrm>
            <a:off x="4637532" y="5571744"/>
            <a:ext cx="618743"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graphicFrame>
        <p:nvGraphicFramePr>
          <p:cNvPr id="324" name="table 324"/>
          <p:cNvGraphicFramePr>
            <a:graphicFrameLocks noGrp="1"/>
          </p:cNvGraphicFramePr>
          <p:nvPr/>
        </p:nvGraphicFramePr>
        <p:xfrm>
          <a:off x="5541264" y="4760976"/>
          <a:ext cx="835025" cy="624839"/>
        </p:xfrm>
        <a:graphic>
          <a:graphicData uri="http://schemas.openxmlformats.org/drawingml/2006/table">
            <a:tbl>
              <a:tblPr/>
              <a:tblGrid>
                <a:gridCol w="835025"/>
              </a:tblGrid>
              <a:tr h="618489">
                <a:tc>
                  <a:txBody>
                    <a:bodyPr/>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64135" algn="l" rtl="0" eaLnBrk="0">
                        <a:lnSpc>
                          <a:spcPct val="92000"/>
                        </a:lnSpc>
                        <a:spcBef>
                          <a:spcPts val="5"/>
                        </a:spcBef>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26" name="picture 326"/>
          <p:cNvPicPr>
            <a:picLocks noChangeAspect="1"/>
          </p:cNvPicPr>
          <p:nvPr/>
        </p:nvPicPr>
        <p:blipFill>
          <a:blip r:embed="rId4"/>
          <a:stretch>
            <a:fillRect/>
          </a:stretch>
        </p:blipFill>
        <p:spPr>
          <a:xfrm rot="21600000">
            <a:off x="5922263" y="5381244"/>
            <a:ext cx="76200" cy="548639"/>
          </a:xfrm>
          <a:prstGeom prst="rect">
            <a:avLst/>
          </a:prstGeom>
        </p:spPr>
      </p:pic>
      <p:sp>
        <p:nvSpPr>
          <p:cNvPr id="328" name="path 328"/>
          <p:cNvSpPr/>
          <p:nvPr/>
        </p:nvSpPr>
        <p:spPr>
          <a:xfrm>
            <a:off x="5911595" y="5559552"/>
            <a:ext cx="618744"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sp>
        <p:nvSpPr>
          <p:cNvPr id="330" name="path 330"/>
          <p:cNvSpPr/>
          <p:nvPr/>
        </p:nvSpPr>
        <p:spPr>
          <a:xfrm>
            <a:off x="7956804" y="5571744"/>
            <a:ext cx="615695" cy="9144"/>
          </a:xfrm>
          <a:custGeom>
            <a:avLst/>
            <a:gdLst/>
            <a:ahLst/>
            <a:cxnLst/>
            <a:rect l="0" t="0" r="0" b="0"/>
            <a:pathLst>
              <a:path w="969" h="14">
                <a:moveTo>
                  <a:pt x="0" y="7"/>
                </a:moveTo>
                <a:lnTo>
                  <a:pt x="969" y="7"/>
                </a:lnTo>
              </a:path>
            </a:pathLst>
          </a:custGeom>
          <a:noFill/>
          <a:ln w="9143" cap="flat">
            <a:solidFill>
              <a:srgbClr val="FF00FF"/>
            </a:solidFill>
            <a:prstDash val="solid"/>
            <a:round/>
          </a:ln>
        </p:spPr>
        <p:txBody>
          <a:bodyPr rtlCol="0"/>
          <a:lstStyle/>
          <a:p>
            <a:pPr algn="ctr"/>
            <a:endParaRPr lang="zh-CN" altLang="en-US"/>
          </a:p>
        </p:txBody>
      </p:sp>
      <p:grpSp>
        <p:nvGrpSpPr>
          <p:cNvPr id="20" name="group 20"/>
          <p:cNvGrpSpPr/>
          <p:nvPr/>
        </p:nvGrpSpPr>
        <p:grpSpPr>
          <a:xfrm rot="21600000">
            <a:off x="2630423" y="4466844"/>
            <a:ext cx="5946647" cy="1109472"/>
            <a:chOff x="0" y="0"/>
            <a:chExt cx="5946647" cy="1109472"/>
          </a:xfrm>
        </p:grpSpPr>
        <p:sp>
          <p:nvSpPr>
            <p:cNvPr id="332" name="path 332"/>
            <p:cNvSpPr/>
            <p:nvPr/>
          </p:nvSpPr>
          <p:spPr>
            <a:xfrm>
              <a:off x="0" y="0"/>
              <a:ext cx="3904488" cy="1109472"/>
            </a:xfrm>
            <a:custGeom>
              <a:avLst/>
              <a:gdLst/>
              <a:ahLst/>
              <a:cxnLst/>
              <a:rect l="0" t="0" r="0" b="0"/>
              <a:pathLst>
                <a:path w="6148" h="1747">
                  <a:moveTo>
                    <a:pt x="7" y="0"/>
                  </a:moveTo>
                  <a:lnTo>
                    <a:pt x="7" y="1727"/>
                  </a:lnTo>
                  <a:moveTo>
                    <a:pt x="2037" y="19"/>
                  </a:moveTo>
                  <a:lnTo>
                    <a:pt x="2037" y="1747"/>
                  </a:lnTo>
                  <a:moveTo>
                    <a:pt x="4135" y="19"/>
                  </a:moveTo>
                  <a:lnTo>
                    <a:pt x="4135" y="1747"/>
                  </a:lnTo>
                  <a:moveTo>
                    <a:pt x="6141" y="0"/>
                  </a:moveTo>
                  <a:lnTo>
                    <a:pt x="6141" y="1727"/>
                  </a:lnTo>
                </a:path>
              </a:pathLst>
            </a:custGeom>
            <a:noFill/>
            <a:ln w="9143" cap="flat">
              <a:solidFill>
                <a:srgbClr val="FF00FF"/>
              </a:solidFill>
              <a:prstDash val="solid"/>
              <a:round/>
            </a:ln>
          </p:spPr>
          <p:txBody>
            <a:bodyPr rtlCol="0"/>
            <a:lstStyle/>
            <a:p>
              <a:pPr algn="ctr"/>
              <a:endParaRPr lang="zh-CN" altLang="en-US"/>
            </a:p>
          </p:txBody>
        </p:sp>
        <p:sp>
          <p:nvSpPr>
            <p:cNvPr id="334" name="path 334"/>
            <p:cNvSpPr/>
            <p:nvPr/>
          </p:nvSpPr>
          <p:spPr>
            <a:xfrm>
              <a:off x="5937504" y="12191"/>
              <a:ext cx="9143" cy="1097280"/>
            </a:xfrm>
            <a:custGeom>
              <a:avLst/>
              <a:gdLst/>
              <a:ahLst/>
              <a:cxnLst/>
              <a:rect l="0" t="0" r="0" b="0"/>
              <a:pathLst>
                <a:path w="14" h="1728">
                  <a:moveTo>
                    <a:pt x="7" y="0"/>
                  </a:moveTo>
                  <a:lnTo>
                    <a:pt x="7" y="1728"/>
                  </a:lnTo>
                </a:path>
              </a:pathLst>
            </a:custGeom>
            <a:noFill/>
            <a:ln w="9143" cap="flat">
              <a:solidFill>
                <a:srgbClr val="FF00FF"/>
              </a:solidFill>
              <a:prstDash val="solid"/>
              <a:round/>
            </a:ln>
          </p:spPr>
          <p:txBody>
            <a:bodyPr rtlCol="0"/>
            <a:lstStyle/>
            <a:p>
              <a:pPr algn="ctr"/>
              <a:endParaRPr lang="zh-CN" altLang="en-US"/>
            </a:p>
          </p:txBody>
        </p:sp>
      </p:grpSp>
      <p:pic>
        <p:nvPicPr>
          <p:cNvPr id="336" name="picture 336"/>
          <p:cNvPicPr>
            <a:picLocks noChangeAspect="1"/>
          </p:cNvPicPr>
          <p:nvPr/>
        </p:nvPicPr>
        <p:blipFill>
          <a:blip r:embed="rId5"/>
          <a:stretch>
            <a:fillRect/>
          </a:stretch>
        </p:blipFill>
        <p:spPr>
          <a:xfrm rot="21600000">
            <a:off x="3282695" y="4216908"/>
            <a:ext cx="76200" cy="548639"/>
          </a:xfrm>
          <a:prstGeom prst="rect">
            <a:avLst/>
          </a:prstGeom>
        </p:spPr>
      </p:pic>
      <p:pic>
        <p:nvPicPr>
          <p:cNvPr id="338" name="picture 338"/>
          <p:cNvPicPr>
            <a:picLocks noChangeAspect="1"/>
          </p:cNvPicPr>
          <p:nvPr/>
        </p:nvPicPr>
        <p:blipFill>
          <a:blip r:embed="rId6"/>
          <a:stretch>
            <a:fillRect/>
          </a:stretch>
        </p:blipFill>
        <p:spPr>
          <a:xfrm rot="21600000">
            <a:off x="4584191" y="4216908"/>
            <a:ext cx="76200" cy="548639"/>
          </a:xfrm>
          <a:prstGeom prst="rect">
            <a:avLst/>
          </a:prstGeom>
        </p:spPr>
      </p:pic>
      <p:grpSp>
        <p:nvGrpSpPr>
          <p:cNvPr id="22" name="group 22"/>
          <p:cNvGrpSpPr/>
          <p:nvPr/>
        </p:nvGrpSpPr>
        <p:grpSpPr>
          <a:xfrm rot="21600000">
            <a:off x="3179064" y="4309871"/>
            <a:ext cx="295655" cy="298704"/>
            <a:chOff x="0" y="0"/>
            <a:chExt cx="295655" cy="298704"/>
          </a:xfrm>
        </p:grpSpPr>
        <p:sp>
          <p:nvSpPr>
            <p:cNvPr id="340" name="path 340"/>
            <p:cNvSpPr/>
            <p:nvPr/>
          </p:nvSpPr>
          <p:spPr>
            <a:xfrm>
              <a:off x="4572" y="4572"/>
              <a:ext cx="286512" cy="289560"/>
            </a:xfrm>
            <a:custGeom>
              <a:avLst/>
              <a:gdLst/>
              <a:ahLst/>
              <a:cxnLst/>
              <a:rect l="0" t="0" r="0" b="0"/>
              <a:pathLst>
                <a:path w="451" h="456">
                  <a:moveTo>
                    <a:pt x="0" y="227"/>
                  </a:moveTo>
                  <a:cubicBezTo>
                    <a:pt x="0" y="101"/>
                    <a:pt x="100" y="0"/>
                    <a:pt x="225" y="0"/>
                  </a:cubicBezTo>
                  <a:cubicBezTo>
                    <a:pt x="350" y="0"/>
                    <a:pt x="451" y="101"/>
                    <a:pt x="451" y="227"/>
                  </a:cubicBezTo>
                  <a:cubicBezTo>
                    <a:pt x="451" y="353"/>
                    <a:pt x="350" y="456"/>
                    <a:pt x="225" y="456"/>
                  </a:cubicBezTo>
                  <a:cubicBezTo>
                    <a:pt x="100" y="456"/>
                    <a:pt x="0" y="353"/>
                    <a:pt x="0" y="227"/>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2" name="path 342"/>
            <p:cNvSpPr/>
            <p:nvPr/>
          </p:nvSpPr>
          <p:spPr>
            <a:xfrm>
              <a:off x="0" y="0"/>
              <a:ext cx="295655" cy="298704"/>
            </a:xfrm>
            <a:custGeom>
              <a:avLst/>
              <a:gdLst/>
              <a:ahLst/>
              <a:cxnLst/>
              <a:rect l="0" t="0" r="0" b="0"/>
              <a:pathLst>
                <a:path w="465" h="470">
                  <a:moveTo>
                    <a:pt x="232" y="7"/>
                  </a:moveTo>
                  <a:lnTo>
                    <a:pt x="232" y="463"/>
                  </a:lnTo>
                  <a:moveTo>
                    <a:pt x="7" y="235"/>
                  </a:moveTo>
                  <a:cubicBezTo>
                    <a:pt x="7" y="109"/>
                    <a:pt x="108" y="7"/>
                    <a:pt x="232" y="7"/>
                  </a:cubicBezTo>
                  <a:cubicBezTo>
                    <a:pt x="357" y="7"/>
                    <a:pt x="458" y="109"/>
                    <a:pt x="458" y="235"/>
                  </a:cubicBezTo>
                  <a:cubicBezTo>
                    <a:pt x="458" y="361"/>
                    <a:pt x="357" y="463"/>
                    <a:pt x="232" y="463"/>
                  </a:cubicBezTo>
                  <a:cubicBezTo>
                    <a:pt x="108" y="463"/>
                    <a:pt x="7" y="361"/>
                    <a:pt x="7" y="235"/>
                  </a:cubicBezTo>
                </a:path>
              </a:pathLst>
            </a:custGeom>
            <a:noFill/>
            <a:ln w="9143" cap="flat">
              <a:solidFill>
                <a:srgbClr val="FF00FF"/>
              </a:solidFill>
              <a:prstDash val="solid"/>
              <a:round/>
            </a:ln>
          </p:spPr>
          <p:txBody>
            <a:bodyPr rtlCol="0"/>
            <a:lstStyle/>
            <a:p>
              <a:pPr algn="ctr"/>
              <a:endParaRPr lang="zh-CN" altLang="en-US"/>
            </a:p>
          </p:txBody>
        </p:sp>
      </p:grpSp>
      <p:pic>
        <p:nvPicPr>
          <p:cNvPr id="344" name="picture 344"/>
          <p:cNvPicPr>
            <a:picLocks noChangeAspect="1"/>
          </p:cNvPicPr>
          <p:nvPr/>
        </p:nvPicPr>
        <p:blipFill>
          <a:blip r:embed="rId7"/>
          <a:stretch>
            <a:fillRect/>
          </a:stretch>
        </p:blipFill>
        <p:spPr>
          <a:xfrm rot="21600000">
            <a:off x="5922263" y="4216908"/>
            <a:ext cx="76200" cy="548639"/>
          </a:xfrm>
          <a:prstGeom prst="rect">
            <a:avLst/>
          </a:prstGeom>
        </p:spPr>
      </p:pic>
      <p:grpSp>
        <p:nvGrpSpPr>
          <p:cNvPr id="24" name="group 24"/>
          <p:cNvGrpSpPr/>
          <p:nvPr/>
        </p:nvGrpSpPr>
        <p:grpSpPr>
          <a:xfrm rot="21600000">
            <a:off x="4468368" y="4325111"/>
            <a:ext cx="295655" cy="295655"/>
            <a:chOff x="0" y="0"/>
            <a:chExt cx="295655" cy="295655"/>
          </a:xfrm>
        </p:grpSpPr>
        <p:sp>
          <p:nvSpPr>
            <p:cNvPr id="346" name="path 346"/>
            <p:cNvSpPr/>
            <p:nvPr/>
          </p:nvSpPr>
          <p:spPr>
            <a:xfrm>
              <a:off x="4571" y="4572"/>
              <a:ext cx="286511" cy="286511"/>
            </a:xfrm>
            <a:custGeom>
              <a:avLst/>
              <a:gdLst/>
              <a:ahLst/>
              <a:cxnLst/>
              <a:rect l="0" t="0" r="0" b="0"/>
              <a:pathLst>
                <a:path w="451" h="451">
                  <a:moveTo>
                    <a:pt x="0" y="225"/>
                  </a:moveTo>
                  <a:cubicBezTo>
                    <a:pt x="0" y="101"/>
                    <a:pt x="100" y="0"/>
                    <a:pt x="225" y="0"/>
                  </a:cubicBezTo>
                  <a:cubicBezTo>
                    <a:pt x="350" y="0"/>
                    <a:pt x="451" y="101"/>
                    <a:pt x="451" y="225"/>
                  </a:cubicBezTo>
                  <a:cubicBezTo>
                    <a:pt x="451" y="350"/>
                    <a:pt x="350" y="451"/>
                    <a:pt x="225" y="451"/>
                  </a:cubicBezTo>
                  <a:cubicBezTo>
                    <a:pt x="100"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8" name="path 348"/>
            <p:cNvSpPr/>
            <p:nvPr/>
          </p:nvSpPr>
          <p:spPr>
            <a:xfrm>
              <a:off x="0" y="0"/>
              <a:ext cx="295655" cy="295655"/>
            </a:xfrm>
            <a:custGeom>
              <a:avLst/>
              <a:gdLst/>
              <a:ahLst/>
              <a:cxnLst/>
              <a:rect l="0" t="0" r="0" b="0"/>
              <a:pathLst>
                <a:path w="465" h="465">
                  <a:moveTo>
                    <a:pt x="232" y="7"/>
                  </a:moveTo>
                  <a:lnTo>
                    <a:pt x="232" y="458"/>
                  </a:lnTo>
                  <a:moveTo>
                    <a:pt x="7" y="232"/>
                  </a:moveTo>
                  <a:cubicBezTo>
                    <a:pt x="7" y="108"/>
                    <a:pt x="108" y="7"/>
                    <a:pt x="232" y="7"/>
                  </a:cubicBezTo>
                  <a:cubicBezTo>
                    <a:pt x="357" y="7"/>
                    <a:pt x="458" y="108"/>
                    <a:pt x="458" y="232"/>
                  </a:cubicBezTo>
                  <a:cubicBezTo>
                    <a:pt x="458" y="357"/>
                    <a:pt x="357" y="458"/>
                    <a:pt x="232" y="458"/>
                  </a:cubicBezTo>
                  <a:cubicBezTo>
                    <a:pt x="108" y="458"/>
                    <a:pt x="7" y="357"/>
                    <a:pt x="7" y="232"/>
                  </a:cubicBezTo>
                </a:path>
              </a:pathLst>
            </a:custGeom>
            <a:noFill/>
            <a:ln w="9143" cap="flat">
              <a:solidFill>
                <a:srgbClr val="FF00FF"/>
              </a:solidFill>
              <a:prstDash val="solid"/>
              <a:round/>
            </a:ln>
          </p:spPr>
          <p:txBody>
            <a:bodyPr rtlCol="0"/>
            <a:lstStyle/>
            <a:p>
              <a:pPr algn="ctr"/>
              <a:endParaRPr lang="zh-CN" altLang="en-US"/>
            </a:p>
          </p:txBody>
        </p:sp>
      </p:grpSp>
      <p:grpSp>
        <p:nvGrpSpPr>
          <p:cNvPr id="26" name="group 26"/>
          <p:cNvGrpSpPr/>
          <p:nvPr/>
        </p:nvGrpSpPr>
        <p:grpSpPr>
          <a:xfrm rot="21600000">
            <a:off x="5800344" y="4325111"/>
            <a:ext cx="298703" cy="295655"/>
            <a:chOff x="0" y="0"/>
            <a:chExt cx="298703" cy="295655"/>
          </a:xfrm>
        </p:grpSpPr>
        <p:sp>
          <p:nvSpPr>
            <p:cNvPr id="350" name="path 350"/>
            <p:cNvSpPr/>
            <p:nvPr/>
          </p:nvSpPr>
          <p:spPr>
            <a:xfrm>
              <a:off x="4571" y="4572"/>
              <a:ext cx="289559" cy="286511"/>
            </a:xfrm>
            <a:custGeom>
              <a:avLst/>
              <a:gdLst/>
              <a:ahLst/>
              <a:cxnLst/>
              <a:rect l="0" t="0" r="0" b="0"/>
              <a:pathLst>
                <a:path w="455" h="451">
                  <a:moveTo>
                    <a:pt x="0" y="225"/>
                  </a:moveTo>
                  <a:cubicBezTo>
                    <a:pt x="0" y="101"/>
                    <a:pt x="102" y="0"/>
                    <a:pt x="227" y="0"/>
                  </a:cubicBezTo>
                  <a:cubicBezTo>
                    <a:pt x="354" y="0"/>
                    <a:pt x="455" y="101"/>
                    <a:pt x="455" y="225"/>
                  </a:cubicBezTo>
                  <a:cubicBezTo>
                    <a:pt x="455" y="350"/>
                    <a:pt x="354" y="451"/>
                    <a:pt x="227" y="451"/>
                  </a:cubicBezTo>
                  <a:cubicBezTo>
                    <a:pt x="102"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52" name="path 352"/>
            <p:cNvSpPr/>
            <p:nvPr/>
          </p:nvSpPr>
          <p:spPr>
            <a:xfrm>
              <a:off x="0" y="0"/>
              <a:ext cx="298703"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graphicFrame>
        <p:nvGraphicFramePr>
          <p:cNvPr id="354" name="table 354"/>
          <p:cNvGraphicFramePr>
            <a:graphicFrameLocks noGrp="1"/>
          </p:cNvGraphicFramePr>
          <p:nvPr/>
        </p:nvGraphicFramePr>
        <p:xfrm>
          <a:off x="8845295" y="4760976"/>
          <a:ext cx="916940" cy="627380"/>
        </p:xfrm>
        <a:graphic>
          <a:graphicData uri="http://schemas.openxmlformats.org/drawingml/2006/table">
            <a:tbl>
              <a:tblPr/>
              <a:tblGrid>
                <a:gridCol w="916940"/>
              </a:tblGrid>
              <a:tr h="621030">
                <a:tc>
                  <a:txBody>
                    <a:bodyPr/>
                    <a:lstStyle/>
                    <a:p>
                      <a:pPr algn="l" rtl="0" eaLnBrk="0">
                        <a:lnSpc>
                          <a:spcPct val="12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92075" algn="l" rtl="0" eaLnBrk="0">
                        <a:lnSpc>
                          <a:spcPct val="90000"/>
                        </a:lnSpc>
                      </a:pP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200" b="1" i="1" kern="0" spc="0" baseline="-24000" dirty="0">
                          <a:solidFill>
                            <a:srgbClr val="1C1C1C">
                              <a:alpha val="100000"/>
                            </a:srgbClr>
                          </a:solidFill>
                          <a:latin typeface="Times New Roman" panose="02020603050405020304"/>
                          <a:ea typeface="Times New Roman" panose="02020603050405020304"/>
                          <a:cs typeface="Times New Roman" panose="02020603050405020304"/>
                        </a:rPr>
                        <a:t>k</a:t>
                      </a:r>
                      <a:r>
                        <a:rPr sz="1400" b="1" i="1" kern="0" spc="30" dirty="0">
                          <a:solidFill>
                            <a:srgbClr val="1C1C1C">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400" b="1" i="1" kern="0" spc="30" dirty="0">
                          <a:solidFill>
                            <a:srgbClr val="1C1C1C">
                              <a:alpha val="100000"/>
                            </a:srgbClr>
                          </a:solidFill>
                          <a:latin typeface="Times New Roman" panose="02020603050405020304"/>
                          <a:ea typeface="Times New Roman" panose="02020603050405020304"/>
                          <a:cs typeface="Times New Roman" panose="02020603050405020304"/>
                        </a:rPr>
                        <a:t>x</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56" name="picture 356"/>
          <p:cNvPicPr>
            <a:picLocks noChangeAspect="1"/>
          </p:cNvPicPr>
          <p:nvPr/>
        </p:nvPicPr>
        <p:blipFill>
          <a:blip r:embed="rId8"/>
          <a:stretch>
            <a:fillRect/>
          </a:stretch>
        </p:blipFill>
        <p:spPr>
          <a:xfrm rot="21600000">
            <a:off x="9223247" y="4216908"/>
            <a:ext cx="76200" cy="548639"/>
          </a:xfrm>
          <a:prstGeom prst="rect">
            <a:avLst/>
          </a:prstGeom>
        </p:spPr>
      </p:pic>
      <p:grpSp>
        <p:nvGrpSpPr>
          <p:cNvPr id="28" name="group 28"/>
          <p:cNvGrpSpPr/>
          <p:nvPr/>
        </p:nvGrpSpPr>
        <p:grpSpPr>
          <a:xfrm rot="21600000">
            <a:off x="9116568" y="4325111"/>
            <a:ext cx="298703" cy="295655"/>
            <a:chOff x="0" y="0"/>
            <a:chExt cx="298703" cy="295655"/>
          </a:xfrm>
        </p:grpSpPr>
        <p:sp>
          <p:nvSpPr>
            <p:cNvPr id="358" name="path 358"/>
            <p:cNvSpPr/>
            <p:nvPr/>
          </p:nvSpPr>
          <p:spPr>
            <a:xfrm>
              <a:off x="4571" y="4572"/>
              <a:ext cx="289559" cy="286511"/>
            </a:xfrm>
            <a:custGeom>
              <a:avLst/>
              <a:gdLst/>
              <a:ahLst/>
              <a:cxnLst/>
              <a:rect l="0" t="0" r="0" b="0"/>
              <a:pathLst>
                <a:path w="455" h="451">
                  <a:moveTo>
                    <a:pt x="0" y="225"/>
                  </a:moveTo>
                  <a:cubicBezTo>
                    <a:pt x="0" y="101"/>
                    <a:pt x="101" y="0"/>
                    <a:pt x="227" y="0"/>
                  </a:cubicBezTo>
                  <a:cubicBezTo>
                    <a:pt x="354" y="0"/>
                    <a:pt x="455" y="101"/>
                    <a:pt x="455" y="225"/>
                  </a:cubicBezTo>
                  <a:cubicBezTo>
                    <a:pt x="455" y="350"/>
                    <a:pt x="354" y="451"/>
                    <a:pt x="227" y="451"/>
                  </a:cubicBezTo>
                  <a:cubicBezTo>
                    <a:pt x="101"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60" name="path 360"/>
            <p:cNvSpPr/>
            <p:nvPr/>
          </p:nvSpPr>
          <p:spPr>
            <a:xfrm>
              <a:off x="0" y="0"/>
              <a:ext cx="298703"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sp>
        <p:nvSpPr>
          <p:cNvPr id="362" name="textbox 362"/>
          <p:cNvSpPr/>
          <p:nvPr/>
        </p:nvSpPr>
        <p:spPr>
          <a:xfrm>
            <a:off x="831596" y="1210741"/>
            <a:ext cx="10580369" cy="331914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107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2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）仅需对明文认证而不需加密时</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此时验证者仅收到明文</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和认证码</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2400" b="1" i="1" kern="0" spc="-10" baseline="-24000" dirty="0">
                <a:solidFill>
                  <a:srgbClr val="000000">
                    <a:alpha val="100000"/>
                  </a:srgbClr>
                </a:solidFill>
                <a:latin typeface="Times New Roman" panose="02020603050405020304"/>
                <a:ea typeface="Times New Roman" panose="02020603050405020304"/>
                <a:cs typeface="Times New Roman" panose="02020603050405020304"/>
              </a:rPr>
              <a:t>n+1</a:t>
            </a:r>
            <a:r>
              <a:rPr sz="1500" b="1"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他需要：</a:t>
            </a:r>
            <a:endParaRPr sz="2400" dirty="0">
              <a:latin typeface="仿宋" panose="02010609060101010101" charset="-122"/>
              <a:ea typeface="仿宋" panose="02010609060101010101" charset="-122"/>
              <a:cs typeface="仿宋" panose="02010609060101010101" charset="-122"/>
            </a:endParaRPr>
          </a:p>
          <a:p>
            <a:pPr marL="12700" algn="l" rtl="0" eaLnBrk="0">
              <a:lnSpc>
                <a:spcPct val="95000"/>
              </a:lnSpc>
              <a:spcBef>
                <a:spcPts val="159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Step1</a:t>
            </a:r>
            <a:r>
              <a:rPr sz="2400" b="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产生明文</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m</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的校验码</a:t>
            </a:r>
            <a:r>
              <a:rPr sz="2400" kern="0" spc="280" dirty="0">
                <a:solidFill>
                  <a:srgbClr val="000000">
                    <a:alpha val="100000"/>
                  </a:srgbClr>
                </a:solidFill>
                <a:latin typeface="仿宋" panose="02010609060101010101" charset="-122"/>
                <a:ea typeface="仿宋" panose="02010609060101010101" charset="-122"/>
                <a:cs typeface="仿宋" panose="02010609060101010101" charset="-122"/>
              </a:rPr>
              <a:t> </a:t>
            </a:r>
            <a:r>
              <a:rPr sz="4000" i="1" kern="0" spc="-60" baseline="7000" dirty="0">
                <a:solidFill>
                  <a:srgbClr val="000000">
                    <a:alpha val="100000"/>
                  </a:srgbClr>
                </a:solidFill>
                <a:latin typeface="Times New Roman" panose="02020603050405020304"/>
                <a:ea typeface="Times New Roman" panose="02020603050405020304"/>
                <a:cs typeface="Times New Roman" panose="02020603050405020304"/>
              </a:rPr>
              <a:t>r</a:t>
            </a:r>
            <a:r>
              <a:rPr sz="26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6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60" baseline="7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60" baseline="-16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60" baseline="-16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6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6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60" baseline="7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6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6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kern="0" spc="-23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600"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230" baseline="7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10" baseline="-16000" dirty="0">
                <a:solidFill>
                  <a:srgbClr val="000000">
                    <a:alpha val="100000"/>
                  </a:srgbClr>
                </a:solidFill>
                <a:latin typeface="Times New Roman" panose="02020603050405020304"/>
                <a:ea typeface="Times New Roman" panose="02020603050405020304"/>
                <a:cs typeface="Times New Roman" panose="02020603050405020304"/>
              </a:rPr>
              <a:t>n</a:t>
            </a:r>
            <a:endParaRPr sz="2300" baseline="-16000" dirty="0">
              <a:latin typeface="Times New Roman" panose="02020603050405020304"/>
              <a:ea typeface="Times New Roman" panose="02020603050405020304"/>
              <a:cs typeface="Times New Roman" panose="02020603050405020304"/>
            </a:endParaRPr>
          </a:p>
          <a:p>
            <a:pPr marL="257175" indent="-244475" algn="l" rtl="0" eaLnBrk="0">
              <a:lnSpc>
                <a:spcPct val="111000"/>
              </a:lnSpc>
              <a:spcBef>
                <a:spcPts val="1655"/>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Step2</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利用共享密钥使用</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模式对</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(m,r)</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加密，将得到的最后一个密文分组</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与接收到的认证码</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2400" b="1" i="1" kern="0" spc="-10" baseline="-24000" dirty="0">
                <a:solidFill>
                  <a:srgbClr val="000000">
                    <a:alpha val="100000"/>
                  </a:srgbClr>
                </a:solidFill>
                <a:latin typeface="Times New Roman" panose="02020603050405020304"/>
                <a:ea typeface="Times New Roman" panose="02020603050405020304"/>
                <a:cs typeface="Times New Roman" panose="02020603050405020304"/>
              </a:rPr>
              <a:t>n+1</a:t>
            </a:r>
            <a:r>
              <a:rPr sz="1500" b="1"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比较，二者一</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致时判定接收的明文无错；二者不一致时</a:t>
            </a:r>
            <a:endParaRPr sz="2400" dirty="0">
              <a:latin typeface="仿宋" panose="02010609060101010101" charset="-122"/>
              <a:ea typeface="仿宋" panose="02010609060101010101" charset="-122"/>
              <a:cs typeface="仿宋" panose="02010609060101010101" charset="-122"/>
            </a:endParaRPr>
          </a:p>
          <a:p>
            <a:pPr marL="250190" algn="l" rtl="0" eaLnBrk="0">
              <a:lnSpc>
                <a:spcPct val="83000"/>
              </a:lnSpc>
              <a:spcBef>
                <a:spcPts val="520"/>
              </a:spcBef>
            </a:pP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判定明文出错。</a:t>
            </a:r>
            <a:endParaRPr sz="2400" dirty="0">
              <a:latin typeface="仿宋" panose="02010609060101010101" charset="-122"/>
              <a:ea typeface="仿宋" panose="02010609060101010101" charset="-122"/>
              <a:cs typeface="仿宋" panose="02010609060101010101" charset="-122"/>
            </a:endParaRPr>
          </a:p>
          <a:p>
            <a:pPr marL="1289685" algn="l" rtl="0" eaLnBrk="0">
              <a:lnSpc>
                <a:spcPct val="68000"/>
              </a:lnSpc>
              <a:spcBef>
                <a:spcPts val="10"/>
              </a:spcBef>
            </a:pPr>
            <a:r>
              <a:rPr sz="40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42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42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4000" u="sng" kern="0" spc="900" dirty="0">
                <a:solidFill>
                  <a:srgbClr val="FF00FF">
                    <a:alpha val="100000"/>
                  </a:srgbClr>
                </a:solidFill>
                <a:latin typeface="微软雅黑" panose="020B0503020204020204" charset="-122"/>
                <a:ea typeface="微软雅黑" panose="020B0503020204020204" charset="-122"/>
                <a:cs typeface="微软雅黑" panose="020B0503020204020204" charset="-122"/>
              </a:rPr>
              <a:t> </a:t>
            </a:r>
            <a:r>
              <a:rPr sz="40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4</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4000" kern="0" spc="140" dirty="0">
                <a:solidFill>
                  <a:srgbClr val="FF00FF">
                    <a:alpha val="100000"/>
                  </a:srgbClr>
                </a:solidFill>
                <a:latin typeface="微软雅黑" panose="020B0503020204020204" charset="-122"/>
                <a:ea typeface="微软雅黑" panose="020B0503020204020204" charset="-122"/>
                <a:cs typeface="微软雅黑" panose="020B0503020204020204" charset="-122"/>
              </a:rPr>
              <a:t>      </a:t>
            </a:r>
            <a:r>
              <a:rPr sz="4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15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5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76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15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500" kern="0" spc="20" dirty="0">
                <a:solidFill>
                  <a:srgbClr val="000000">
                    <a:alpha val="100000"/>
                  </a:srgbClr>
                </a:solidFill>
                <a:latin typeface="Times New Roman" panose="02020603050405020304"/>
                <a:ea typeface="Times New Roman" panose="02020603050405020304"/>
                <a:cs typeface="Times New Roman" panose="02020603050405020304"/>
              </a:rPr>
              <a:t>1  </a:t>
            </a:r>
            <a:r>
              <a:rPr sz="4000" kern="0" spc="2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r</a:t>
            </a:r>
            <a:endParaRPr sz="4000" baseline="23000" dirty="0">
              <a:latin typeface="Times New Roman" panose="02020603050405020304"/>
              <a:ea typeface="Times New Roman" panose="02020603050405020304"/>
              <a:cs typeface="Times New Roman" panose="02020603050405020304"/>
            </a:endParaRPr>
          </a:p>
        </p:txBody>
      </p:sp>
      <p:pic>
        <p:nvPicPr>
          <p:cNvPr id="364" name="picture 364"/>
          <p:cNvPicPr>
            <a:picLocks noChangeAspect="1"/>
          </p:cNvPicPr>
          <p:nvPr/>
        </p:nvPicPr>
        <p:blipFill>
          <a:blip r:embed="rId9"/>
          <a:stretch>
            <a:fillRect/>
          </a:stretch>
        </p:blipFill>
        <p:spPr>
          <a:xfrm rot="21600000">
            <a:off x="6871246" y="2324183"/>
            <a:ext cx="288829" cy="50692"/>
          </a:xfrm>
          <a:prstGeom prst="rect">
            <a:avLst/>
          </a:prstGeom>
        </p:spPr>
      </p:pic>
      <p:pic>
        <p:nvPicPr>
          <p:cNvPr id="366" name="picture 366"/>
          <p:cNvPicPr>
            <a:picLocks noChangeAspect="1"/>
          </p:cNvPicPr>
          <p:nvPr/>
        </p:nvPicPr>
        <p:blipFill>
          <a:blip r:embed="rId10"/>
          <a:stretch>
            <a:fillRect/>
          </a:stretch>
        </p:blipFill>
        <p:spPr>
          <a:xfrm rot="21600000">
            <a:off x="696468" y="6233135"/>
            <a:ext cx="10779125" cy="48993"/>
          </a:xfrm>
          <a:prstGeom prst="rect">
            <a:avLst/>
          </a:prstGeom>
        </p:spPr>
      </p:pic>
      <p:sp>
        <p:nvSpPr>
          <p:cNvPr id="368" name="textbox 368"/>
          <p:cNvSpPr/>
          <p:nvPr/>
        </p:nvSpPr>
        <p:spPr>
          <a:xfrm>
            <a:off x="2115897" y="5871666"/>
            <a:ext cx="7702550" cy="46164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435"/>
              </a:lnSpc>
            </a:pP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4</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3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30" baseline="-1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3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30" baseline="-1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30" baseline="-1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30" baseline="-1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1000" dirty="0">
              <a:latin typeface="Times New Roman" panose="02020603050405020304"/>
              <a:ea typeface="Times New Roman" panose="02020603050405020304"/>
              <a:cs typeface="Times New Roman" panose="02020603050405020304"/>
            </a:endParaRPr>
          </a:p>
        </p:txBody>
      </p:sp>
      <p:sp>
        <p:nvSpPr>
          <p:cNvPr id="372" name="textbox 372"/>
          <p:cNvSpPr/>
          <p:nvPr/>
        </p:nvSpPr>
        <p:spPr>
          <a:xfrm>
            <a:off x="1572950" y="491245"/>
            <a:ext cx="20364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40" dirty="0">
                <a:solidFill>
                  <a:srgbClr val="1F4E79">
                    <a:alpha val="100000"/>
                  </a:srgbClr>
                </a:solidFill>
                <a:latin typeface="仿宋" panose="02010609060101010101" charset="-122"/>
                <a:ea typeface="仿宋" panose="02010609060101010101" charset="-122"/>
                <a:cs typeface="仿宋" panose="02010609060101010101" charset="-122"/>
              </a:rPr>
              <a:t>认证码检验</a:t>
            </a:r>
            <a:endParaRPr sz="3100" dirty="0">
              <a:latin typeface="仿宋" panose="02010609060101010101" charset="-122"/>
              <a:ea typeface="仿宋" panose="02010609060101010101" charset="-122"/>
              <a:cs typeface="仿宋" panose="02010609060101010101" charset="-122"/>
            </a:endParaRPr>
          </a:p>
        </p:txBody>
      </p:sp>
      <p:graphicFrame>
        <p:nvGraphicFramePr>
          <p:cNvPr id="374" name="table 374"/>
          <p:cNvGraphicFramePr>
            <a:graphicFrameLocks noGrp="1"/>
          </p:cNvGraphicFramePr>
          <p:nvPr/>
        </p:nvGraphicFramePr>
        <p:xfrm>
          <a:off x="7562088" y="4760976"/>
          <a:ext cx="920115" cy="627380"/>
        </p:xfrm>
        <a:graphic>
          <a:graphicData uri="http://schemas.openxmlformats.org/drawingml/2006/table">
            <a:tbl>
              <a:tblPr/>
              <a:tblGrid>
                <a:gridCol w="920115"/>
              </a:tblGrid>
              <a:tr h="621030">
                <a:tc>
                  <a:txBody>
                    <a:bodyPr/>
                    <a:lstStyle/>
                    <a:p>
                      <a:pPr algn="l" rtl="0" eaLnBrk="0">
                        <a:lnSpc>
                          <a:spcPct val="12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92075" algn="l" rtl="0" eaLnBrk="0">
                        <a:lnSpc>
                          <a:spcPct val="90000"/>
                        </a:lnSpc>
                      </a:pP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200" b="1" i="1" kern="0" spc="0" baseline="-24000" dirty="0">
                          <a:solidFill>
                            <a:srgbClr val="1C1C1C">
                              <a:alpha val="100000"/>
                            </a:srgbClr>
                          </a:solidFill>
                          <a:latin typeface="Times New Roman" panose="02020603050405020304"/>
                          <a:ea typeface="Times New Roman" panose="02020603050405020304"/>
                          <a:cs typeface="Times New Roman" panose="02020603050405020304"/>
                        </a:rPr>
                        <a:t>k</a:t>
                      </a:r>
                      <a:r>
                        <a:rPr sz="1400" b="1" i="1" kern="0" spc="30" dirty="0">
                          <a:solidFill>
                            <a:srgbClr val="1C1C1C">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400" b="1" i="1" kern="0" spc="30" dirty="0">
                          <a:solidFill>
                            <a:srgbClr val="1C1C1C">
                              <a:alpha val="100000"/>
                            </a:srgbClr>
                          </a:solidFill>
                          <a:latin typeface="Times New Roman" panose="02020603050405020304"/>
                          <a:ea typeface="Times New Roman" panose="02020603050405020304"/>
                          <a:cs typeface="Times New Roman" panose="02020603050405020304"/>
                        </a:rPr>
                        <a:t>x</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76" name="picture 376"/>
          <p:cNvPicPr>
            <a:picLocks noChangeAspect="1"/>
          </p:cNvPicPr>
          <p:nvPr/>
        </p:nvPicPr>
        <p:blipFill>
          <a:blip r:embed="rId11"/>
          <a:stretch>
            <a:fillRect/>
          </a:stretch>
        </p:blipFill>
        <p:spPr>
          <a:xfrm rot="21600000">
            <a:off x="822960" y="408431"/>
            <a:ext cx="420623" cy="655320"/>
          </a:xfrm>
          <a:prstGeom prst="rect">
            <a:avLst/>
          </a:prstGeom>
        </p:spPr>
      </p:pic>
      <p:sp>
        <p:nvSpPr>
          <p:cNvPr id="378" name="path 37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380" name="textbox 380"/>
          <p:cNvSpPr/>
          <p:nvPr/>
        </p:nvSpPr>
        <p:spPr>
          <a:xfrm>
            <a:off x="6979640" y="3843280"/>
            <a:ext cx="276859" cy="271145"/>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77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382" name="textbox 382"/>
          <p:cNvSpPr/>
          <p:nvPr/>
        </p:nvSpPr>
        <p:spPr>
          <a:xfrm>
            <a:off x="7011238" y="4995123"/>
            <a:ext cx="276859" cy="33147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5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pic>
        <p:nvPicPr>
          <p:cNvPr id="384" name="picture 384"/>
          <p:cNvPicPr>
            <a:picLocks noChangeAspect="1"/>
          </p:cNvPicPr>
          <p:nvPr/>
        </p:nvPicPr>
        <p:blipFill>
          <a:blip r:embed="rId12"/>
          <a:stretch>
            <a:fillRect/>
          </a:stretch>
        </p:blipFill>
        <p:spPr>
          <a:xfrm rot="21600000">
            <a:off x="7940040" y="4216908"/>
            <a:ext cx="76200" cy="548639"/>
          </a:xfrm>
          <a:prstGeom prst="rect">
            <a:avLst/>
          </a:prstGeom>
        </p:spPr>
      </p:pic>
      <p:pic>
        <p:nvPicPr>
          <p:cNvPr id="386" name="picture 386"/>
          <p:cNvPicPr>
            <a:picLocks noChangeAspect="1"/>
          </p:cNvPicPr>
          <p:nvPr/>
        </p:nvPicPr>
        <p:blipFill>
          <a:blip r:embed="rId13"/>
          <a:stretch>
            <a:fillRect/>
          </a:stretch>
        </p:blipFill>
        <p:spPr>
          <a:xfrm rot="21600000">
            <a:off x="7940040" y="5384291"/>
            <a:ext cx="76200" cy="548639"/>
          </a:xfrm>
          <a:prstGeom prst="rect">
            <a:avLst/>
          </a:prstGeom>
        </p:spPr>
      </p:pic>
      <p:pic>
        <p:nvPicPr>
          <p:cNvPr id="388" name="picture 388"/>
          <p:cNvPicPr>
            <a:picLocks noChangeAspect="1"/>
          </p:cNvPicPr>
          <p:nvPr/>
        </p:nvPicPr>
        <p:blipFill>
          <a:blip r:embed="rId14"/>
          <a:stretch>
            <a:fillRect/>
          </a:stretch>
        </p:blipFill>
        <p:spPr>
          <a:xfrm rot="21600000">
            <a:off x="9223247" y="5384291"/>
            <a:ext cx="76200" cy="548639"/>
          </a:xfrm>
          <a:prstGeom prst="rect">
            <a:avLst/>
          </a:prstGeom>
        </p:spPr>
      </p:pic>
      <p:pic>
        <p:nvPicPr>
          <p:cNvPr id="390" name="picture 390"/>
          <p:cNvPicPr>
            <a:picLocks noChangeAspect="1"/>
          </p:cNvPicPr>
          <p:nvPr/>
        </p:nvPicPr>
        <p:blipFill>
          <a:blip r:embed="rId15"/>
          <a:stretch>
            <a:fillRect/>
          </a:stretch>
        </p:blipFill>
        <p:spPr>
          <a:xfrm rot="21600000">
            <a:off x="1978151" y="4216908"/>
            <a:ext cx="76200" cy="548639"/>
          </a:xfrm>
          <a:prstGeom prst="rect">
            <a:avLst/>
          </a:prstGeom>
        </p:spPr>
      </p:pic>
      <p:pic>
        <p:nvPicPr>
          <p:cNvPr id="2" name="图片 1"/>
          <p:cNvPicPr>
            <a:picLocks noChangeAspect="1"/>
          </p:cNvPicPr>
          <p:nvPr/>
        </p:nvPicPr>
        <p:blipFill>
          <a:blip r:embed="rId16"/>
          <a:stretch>
            <a:fillRect/>
          </a:stretch>
        </p:blipFill>
        <p:spPr>
          <a:xfrm>
            <a:off x="514985" y="1078230"/>
            <a:ext cx="11595100" cy="5203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a:t>
              </a:r>
              <a:r>
                <a:rPr lang="zh-CN" sz="2400" b="1" kern="0" spc="-30" dirty="0">
                  <a:solidFill>
                    <a:srgbClr val="FFFFFF">
                      <a:alpha val="100000"/>
                    </a:srgbClr>
                  </a:solidFill>
                  <a:latin typeface="仿宋" panose="02010609060101010101" charset="-122"/>
                  <a:ea typeface="仿宋" panose="02010609060101010101" charset="-122"/>
                  <a:cs typeface="仿宋" panose="02010609060101010101" charset="-122"/>
                </a:rPr>
                <a:t>文</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922655" y="1332865"/>
            <a:ext cx="10216515" cy="3331210"/>
          </a:xfrm>
          <a:prstGeom prst="rect">
            <a:avLst/>
          </a:prstGeom>
          <a:noFill/>
          <a:ln w="0" cap="flat">
            <a:noFill/>
            <a:prstDash val="solid"/>
            <a:miter lim="0"/>
          </a:ln>
        </p:spPr>
        <p:txBody>
          <a:bodyPr vert="horz" wrap="square" lIns="0" tIns="0" rIns="0" bIns="0"/>
          <a:lstStyle/>
          <a:p>
            <a:pPr algn="l" rtl="0" eaLnBrk="0">
              <a:lnSpc>
                <a:spcPct val="108000"/>
              </a:lnSpc>
            </a:pPr>
            <a:endParaRPr sz="100" dirty="0">
              <a:latin typeface="Arial" panose="020B0604020202020204" pitchFamily="34" charset="0"/>
              <a:ea typeface="Arial" panose="020B0604020202020204" pitchFamily="34" charset="0"/>
              <a:cs typeface="Arial" panose="020B0604020202020204" pitchFamily="34" charset="0"/>
            </a:endParaRPr>
          </a:p>
          <a:p>
            <a:pPr marL="250190" indent="-237490" algn="l" rtl="0" eaLnBrk="0">
              <a:lnSpc>
                <a:spcPct val="112000"/>
              </a:lnSpc>
              <a:spcBef>
                <a:spcPts val="0"/>
              </a:spcBef>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若待加密消息需按字符、字节或比特处理时，可采用</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CFB</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并称待加密消息按</a:t>
            </a:r>
            <a:r>
              <a:rPr sz="28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i="1" kern="0" spc="-10" dirty="0">
                <a:solidFill>
                  <a:srgbClr val="000000">
                    <a:alpha val="100000"/>
                  </a:srgbClr>
                </a:solidFill>
                <a:latin typeface="Times New Roman" panose="02020603050405020304"/>
                <a:ea typeface="Times New Roman" panose="02020603050405020304"/>
                <a:cs typeface="Times New Roman" panose="02020603050405020304"/>
              </a:rPr>
              <a:t>r</a:t>
            </a:r>
            <a:r>
              <a:rPr sz="2800" b="1" i="1" kern="0" spc="47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比特处理</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的</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CFB</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模式为</a:t>
            </a:r>
            <a:r>
              <a:rPr sz="2800" b="1" i="1" kern="0" spc="-20" dirty="0">
                <a:solidFill>
                  <a:srgbClr val="000000">
                    <a:alpha val="100000"/>
                  </a:srgbClr>
                </a:solidFill>
                <a:latin typeface="Times New Roman" panose="02020603050405020304"/>
                <a:ea typeface="Times New Roman" panose="02020603050405020304"/>
                <a:cs typeface="Times New Roman" panose="02020603050405020304"/>
              </a:rPr>
              <a:t>r</a:t>
            </a:r>
            <a:r>
              <a:rPr sz="2800" b="1" i="1" kern="0" spc="46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比特</a:t>
            </a:r>
            <a:r>
              <a:rPr sz="28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CFB</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800" dirty="0">
              <a:latin typeface="仿宋" panose="02010609060101010101" charset="-122"/>
              <a:ea typeface="仿宋" panose="02010609060101010101" charset="-122"/>
              <a:cs typeface="仿宋" panose="02010609060101010101" charset="-122"/>
            </a:endParaRPr>
          </a:p>
          <a:p>
            <a:pPr marL="12700" algn="l" rtl="0" eaLnBrk="0">
              <a:lnSpc>
                <a:spcPts val="3395"/>
              </a:lnSpc>
              <a:spcBef>
                <a:spcPts val="85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适用范围</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800" dirty="0">
              <a:latin typeface="Times New Roman" panose="02020603050405020304"/>
              <a:ea typeface="Times New Roman" panose="02020603050405020304"/>
              <a:cs typeface="Times New Roman" panose="02020603050405020304"/>
            </a:endParaRPr>
          </a:p>
          <a:p>
            <a:pPr marL="697865" indent="-231140" algn="l" rtl="0" eaLnBrk="0">
              <a:lnSpc>
                <a:spcPct val="110000"/>
              </a:lnSpc>
              <a:spcBef>
                <a:spcPts val="705"/>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适用于每次处理</a:t>
            </a:r>
            <a:r>
              <a:rPr sz="2400" kern="0" spc="-6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r</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比特明</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文块的特定需求的加密情形</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能灵活适应数据各</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格式的需要</a:t>
            </a:r>
            <a:endParaRPr sz="2400" dirty="0">
              <a:latin typeface="仿宋" panose="02010609060101010101" charset="-122"/>
              <a:ea typeface="仿宋" panose="02010609060101010101" charset="-122"/>
              <a:cs typeface="仿宋" panose="02010609060101010101" charset="-122"/>
            </a:endParaRPr>
          </a:p>
          <a:p>
            <a:pPr algn="l" rtl="0" eaLnBrk="0">
              <a:lnSpc>
                <a:spcPct val="108000"/>
              </a:lnSpc>
            </a:pPr>
            <a:endParaRPr sz="700" dirty="0">
              <a:latin typeface="Arial" panose="020B0604020202020204" pitchFamily="34" charset="0"/>
              <a:ea typeface="Arial" panose="020B0604020202020204" pitchFamily="34" charset="0"/>
              <a:cs typeface="Arial" panose="020B0604020202020204" pitchFamily="34" charset="0"/>
            </a:endParaRPr>
          </a:p>
          <a:p>
            <a:pPr marL="710565" indent="-243840" algn="l" rtl="0" eaLnBrk="0">
              <a:lnSpc>
                <a:spcPct val="109000"/>
              </a:lnSpc>
              <a:spcBef>
                <a:spcPts val="0"/>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例如</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数据库加密要</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求加密时不能改变明文的字节长度</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这时就要以明文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字节为单位进行加密</a:t>
            </a:r>
            <a:endParaRPr sz="2400" dirty="0">
              <a:latin typeface="仿宋" panose="02010609060101010101" charset="-122"/>
              <a:ea typeface="仿宋" panose="02010609060101010101" charset="-122"/>
              <a:cs typeface="仿宋" panose="02010609060101010101" charset="-122"/>
            </a:endParaRPr>
          </a:p>
        </p:txBody>
      </p:sp>
      <p:sp>
        <p:nvSpPr>
          <p:cNvPr id="48" name="textbox 48"/>
          <p:cNvSpPr/>
          <p:nvPr/>
        </p:nvSpPr>
        <p:spPr>
          <a:xfrm>
            <a:off x="1591945" y="491490"/>
            <a:ext cx="7586345" cy="4699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pP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密</a:t>
            </a:r>
            <a:r>
              <a:rPr lang="zh-CN"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文</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反馈</a:t>
            </a:r>
            <a:r>
              <a:rPr lang="en-US" sz="3100" b="1"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CFB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Cipher</a:t>
            </a:r>
            <a:r>
              <a:rPr sz="3100"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Feedback</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）模式</a:t>
            </a:r>
            <a:endParaRPr sz="3100" dirty="0">
              <a:latin typeface="仿宋" panose="02010609060101010101" charset="-122"/>
              <a:ea typeface="仿宋" panose="02010609060101010101" charset="-122"/>
              <a:cs typeface="仿宋" panose="02010609060101010101" charset="-122"/>
            </a:endParaRPr>
          </a:p>
        </p:txBody>
      </p:sp>
      <p:sp>
        <p:nvSpPr>
          <p:cNvPr id="52" name="path 5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54" name="picture 54"/>
          <p:cNvPicPr>
            <a:picLocks noChangeAspect="1"/>
          </p:cNvPicPr>
          <p:nvPr/>
        </p:nvPicPr>
        <p:blipFill>
          <a:blip r:embed="rId1"/>
          <a:stretch>
            <a:fillRect/>
          </a:stretch>
        </p:blipFill>
        <p:spPr>
          <a:xfrm rot="21600000">
            <a:off x="822960" y="408431"/>
            <a:ext cx="420623" cy="655320"/>
          </a:xfrm>
          <a:prstGeom prst="rect">
            <a:avLst/>
          </a:prstGeom>
        </p:spPr>
      </p:pic>
      <p:sp>
        <p:nvSpPr>
          <p:cNvPr id="56" name="path 5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8"/>
          <p:cNvPicPr>
            <a:picLocks noChangeAspect="1"/>
          </p:cNvPicPr>
          <p:nvPr/>
        </p:nvPicPr>
        <p:blipFill>
          <a:blip r:embed="rId1"/>
          <a:stretch>
            <a:fillRect/>
          </a:stretch>
        </p:blipFill>
        <p:spPr>
          <a:xfrm rot="21600000">
            <a:off x="2816351" y="1581912"/>
            <a:ext cx="7065264" cy="4322063"/>
          </a:xfrm>
          <a:prstGeom prst="rect">
            <a:avLst/>
          </a:prstGeom>
        </p:spPr>
      </p:pic>
      <p:pic>
        <p:nvPicPr>
          <p:cNvPr id="62" name="picture 62"/>
          <p:cNvPicPr>
            <a:picLocks noChangeAspect="1"/>
          </p:cNvPicPr>
          <p:nvPr/>
        </p:nvPicPr>
        <p:blipFill>
          <a:blip r:embed="rId2"/>
          <a:stretch>
            <a:fillRect/>
          </a:stretch>
        </p:blipFill>
        <p:spPr>
          <a:xfrm rot="21600000">
            <a:off x="10576054" y="1319026"/>
            <a:ext cx="238460" cy="37718"/>
          </a:xfrm>
          <a:prstGeom prst="rect">
            <a:avLst/>
          </a:prstGeom>
        </p:spPr>
      </p:pic>
      <p:sp>
        <p:nvSpPr>
          <p:cNvPr id="64" name="textbox 64"/>
          <p:cNvSpPr/>
          <p:nvPr/>
        </p:nvSpPr>
        <p:spPr>
          <a:xfrm>
            <a:off x="4083202" y="5836411"/>
            <a:ext cx="4251325" cy="406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000"/>
              </a:lnSpc>
            </a:pP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加密</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解密</a:t>
            </a:r>
            <a:endParaRPr sz="2400" dirty="0">
              <a:latin typeface="仿宋" panose="02010609060101010101" charset="-122"/>
              <a:ea typeface="仿宋" panose="02010609060101010101" charset="-122"/>
              <a:cs typeface="仿宋" panose="02010609060101010101" charset="-122"/>
            </a:endParaRPr>
          </a:p>
        </p:txBody>
      </p:sp>
      <p:sp>
        <p:nvSpPr>
          <p:cNvPr id="66" name="textbox 66"/>
          <p:cNvSpPr/>
          <p:nvPr/>
        </p:nvSpPr>
        <p:spPr>
          <a:xfrm>
            <a:off x="1555750" y="491490"/>
            <a:ext cx="3751580"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CFB</a:t>
            </a:r>
            <a:r>
              <a:rPr lang="en-US" sz="3100" b="1"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的加密解密</a:t>
            </a:r>
            <a:endParaRPr sz="3100" dirty="0">
              <a:latin typeface="仿宋" panose="02010609060101010101" charset="-122"/>
              <a:ea typeface="仿宋" panose="02010609060101010101" charset="-122"/>
              <a:cs typeface="仿宋" panose="02010609060101010101" charset="-122"/>
            </a:endParaRPr>
          </a:p>
        </p:txBody>
      </p:sp>
      <p:sp>
        <p:nvSpPr>
          <p:cNvPr id="70" name="path 7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2" name="picture 72"/>
          <p:cNvPicPr>
            <a:picLocks noChangeAspect="1"/>
          </p:cNvPicPr>
          <p:nvPr/>
        </p:nvPicPr>
        <p:blipFill>
          <a:blip r:embed="rId3"/>
          <a:stretch>
            <a:fillRect/>
          </a:stretch>
        </p:blipFill>
        <p:spPr>
          <a:xfrm rot="21600000">
            <a:off x="822960" y="408431"/>
            <a:ext cx="420623" cy="655320"/>
          </a:xfrm>
          <a:prstGeom prst="rect">
            <a:avLst/>
          </a:prstGeom>
        </p:spPr>
      </p:pic>
      <p:sp>
        <p:nvSpPr>
          <p:cNvPr id="74" name="path 7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4"/>
          <a:srcRect r="7789"/>
          <a:stretch>
            <a:fillRect/>
          </a:stretch>
        </p:blipFill>
        <p:spPr>
          <a:xfrm>
            <a:off x="1406525" y="1076960"/>
            <a:ext cx="9885045" cy="51339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78"/>
          <p:cNvSpPr/>
          <p:nvPr/>
        </p:nvSpPr>
        <p:spPr>
          <a:xfrm>
            <a:off x="1555519" y="491245"/>
            <a:ext cx="2669539" cy="48386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CFB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模式的特点</a:t>
            </a:r>
            <a:endParaRPr sz="3100" dirty="0">
              <a:latin typeface="仿宋" panose="02010609060101010101" charset="-122"/>
              <a:ea typeface="仿宋" panose="02010609060101010101" charset="-122"/>
              <a:cs typeface="仿宋" panose="02010609060101010101" charset="-122"/>
            </a:endParaRPr>
          </a:p>
        </p:txBody>
      </p:sp>
      <p:sp>
        <p:nvSpPr>
          <p:cNvPr id="82" name="path 8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84" name="picture 84"/>
          <p:cNvPicPr>
            <a:picLocks noChangeAspect="1"/>
          </p:cNvPicPr>
          <p:nvPr/>
        </p:nvPicPr>
        <p:blipFill>
          <a:blip r:embed="rId1"/>
          <a:stretch>
            <a:fillRect/>
          </a:stretch>
        </p:blipFill>
        <p:spPr>
          <a:xfrm rot="21600000">
            <a:off x="822960" y="408431"/>
            <a:ext cx="420623" cy="655320"/>
          </a:xfrm>
          <a:prstGeom prst="rect">
            <a:avLst/>
          </a:prstGeom>
        </p:spPr>
      </p:pic>
      <p:sp>
        <p:nvSpPr>
          <p:cNvPr id="86" name="path 8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210310" y="1358900"/>
            <a:ext cx="9772015" cy="43668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1467729" y="496960"/>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a:t>
              </a:r>
              <a:r>
                <a:rPr lang="zh-CN" sz="2400" b="1" kern="0" spc="-30" dirty="0">
                  <a:solidFill>
                    <a:srgbClr val="FFFFFF">
                      <a:alpha val="100000"/>
                    </a:srgbClr>
                  </a:solidFill>
                  <a:latin typeface="仿宋" panose="02010609060101010101" charset="-122"/>
                  <a:ea typeface="仿宋" panose="02010609060101010101" charset="-122"/>
                  <a:cs typeface="仿宋" panose="02010609060101010101" charset="-122"/>
                </a:rPr>
                <a:t>文</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1574572" y="491245"/>
            <a:ext cx="6537959" cy="468630"/>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pP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输出反馈</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OFB</a:t>
            </a: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Output</a:t>
            </a:r>
            <a:r>
              <a:rPr sz="3100" kern="0" spc="14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Feedback</a:t>
            </a: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)模式</a:t>
            </a:r>
            <a:endParaRPr sz="3100" dirty="0">
              <a:latin typeface="仿宋" panose="02010609060101010101" charset="-122"/>
              <a:ea typeface="仿宋" panose="02010609060101010101" charset="-122"/>
              <a:cs typeface="仿宋" panose="02010609060101010101" charset="-122"/>
            </a:endParaRPr>
          </a:p>
        </p:txBody>
      </p:sp>
      <p:sp>
        <p:nvSpPr>
          <p:cNvPr id="134" name="path 13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6" name="picture 136"/>
          <p:cNvPicPr>
            <a:picLocks noChangeAspect="1"/>
          </p:cNvPicPr>
          <p:nvPr/>
        </p:nvPicPr>
        <p:blipFill>
          <a:blip r:embed="rId1"/>
          <a:stretch>
            <a:fillRect/>
          </a:stretch>
        </p:blipFill>
        <p:spPr>
          <a:xfrm rot="21600000">
            <a:off x="822960" y="408431"/>
            <a:ext cx="420623" cy="655320"/>
          </a:xfrm>
          <a:prstGeom prst="rect">
            <a:avLst/>
          </a:prstGeom>
        </p:spPr>
      </p:pic>
      <p:sp>
        <p:nvSpPr>
          <p:cNvPr id="138" name="path 13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822960" y="1109345"/>
            <a:ext cx="9919970" cy="50520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box 140"/>
          <p:cNvSpPr/>
          <p:nvPr/>
        </p:nvSpPr>
        <p:spPr>
          <a:xfrm>
            <a:off x="1467688" y="1296974"/>
            <a:ext cx="9184640" cy="426465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107000"/>
              </a:lnSpc>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相同明文：和</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及</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CF</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一样，改变</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IV</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同样会导致相同的明文输入</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得到不同的加密输出。</a:t>
            </a:r>
            <a:endParaRPr sz="24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75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链接依赖性：密钥流是独立于明文的。</a:t>
            </a:r>
            <a:endParaRPr sz="2400" dirty="0">
              <a:latin typeface="仿宋" panose="02010609060101010101" charset="-122"/>
              <a:ea typeface="仿宋" panose="02010609060101010101" charset="-122"/>
              <a:cs typeface="仿宋" panose="02010609060101010101" charset="-122"/>
            </a:endParaRPr>
          </a:p>
          <a:p>
            <a:pPr marL="254635" indent="-241935" algn="l" rtl="0" eaLnBrk="0">
              <a:lnSpc>
                <a:spcPct val="112000"/>
              </a:lnSpc>
              <a:spcBef>
                <a:spcPts val="1550"/>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错误传播：有一个或多个比特错误</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的任一密文字符仅会影响该字符</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的解密，</a:t>
            </a:r>
            <a:r>
              <a:rPr sz="2400" kern="0" spc="4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密文字符的某比特位置出</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错将致使还原明文的相应位置</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也出错。</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400" dirty="0">
              <a:latin typeface="Arial" panose="020B0604020202020204" pitchFamily="34" charset="0"/>
              <a:ea typeface="Arial" panose="020B0604020202020204" pitchFamily="34" charset="0"/>
              <a:cs typeface="Arial" panose="020B0604020202020204" pitchFamily="34" charset="0"/>
            </a:endParaRPr>
          </a:p>
          <a:p>
            <a:pPr marL="262890" indent="-250190" algn="l" rtl="0" eaLnBrk="0">
              <a:lnSpc>
                <a:spcPct val="111000"/>
              </a:lnSpc>
              <a:spcBef>
                <a:spcPts val="5"/>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错误恢复：</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OFB</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模式能从密文比特错误中得以恢复，但在丢失密文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比特后就无法实现自同步</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了，这是因为丢失密文比特会破坏密钥流</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80" dirty="0">
                <a:solidFill>
                  <a:srgbClr val="000000">
                    <a:alpha val="100000"/>
                  </a:srgbClr>
                </a:solidFill>
                <a:latin typeface="仿宋" panose="02010609060101010101" charset="-122"/>
                <a:ea typeface="仿宋" panose="02010609060101010101" charset="-122"/>
                <a:cs typeface="仿宋" panose="02010609060101010101" charset="-122"/>
              </a:rPr>
              <a:t>的编排。</a:t>
            </a:r>
            <a:endParaRPr sz="2400" dirty="0">
              <a:latin typeface="仿宋" panose="02010609060101010101" charset="-122"/>
              <a:ea typeface="仿宋" panose="02010609060101010101" charset="-122"/>
              <a:cs typeface="仿宋" panose="02010609060101010101" charset="-122"/>
            </a:endParaRPr>
          </a:p>
        </p:txBody>
      </p:sp>
      <p:sp>
        <p:nvSpPr>
          <p:cNvPr id="142" name="textbox 142"/>
          <p:cNvSpPr/>
          <p:nvPr/>
        </p:nvSpPr>
        <p:spPr>
          <a:xfrm>
            <a:off x="1557140" y="491245"/>
            <a:ext cx="3480434"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OFB</a:t>
            </a:r>
            <a:r>
              <a:rPr sz="3100" b="1" kern="0" spc="90" dirty="0">
                <a:solidFill>
                  <a:srgbClr val="1F4E79">
                    <a:alpha val="100000"/>
                  </a:srgbClr>
                </a:solidFill>
                <a:latin typeface="仿宋" panose="02010609060101010101" charset="-122"/>
                <a:ea typeface="仿宋" panose="02010609060101010101" charset="-122"/>
                <a:cs typeface="仿宋" panose="02010609060101010101" charset="-122"/>
              </a:rPr>
              <a:t>工作模式的特点</a:t>
            </a:r>
            <a:endParaRPr sz="3100" dirty="0">
              <a:latin typeface="仿宋" panose="02010609060101010101" charset="-122"/>
              <a:ea typeface="仿宋" panose="02010609060101010101" charset="-122"/>
              <a:cs typeface="仿宋" panose="02010609060101010101" charset="-122"/>
            </a:endParaRPr>
          </a:p>
        </p:txBody>
      </p:sp>
      <p:sp>
        <p:nvSpPr>
          <p:cNvPr id="146" name="path 14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48" name="picture 148"/>
          <p:cNvPicPr>
            <a:picLocks noChangeAspect="1"/>
          </p:cNvPicPr>
          <p:nvPr/>
        </p:nvPicPr>
        <p:blipFill>
          <a:blip r:embed="rId1"/>
          <a:stretch>
            <a:fillRect/>
          </a:stretch>
        </p:blipFill>
        <p:spPr>
          <a:xfrm rot="21600000">
            <a:off x="822960" y="408431"/>
            <a:ext cx="420623" cy="655320"/>
          </a:xfrm>
          <a:prstGeom prst="rect">
            <a:avLst/>
          </a:prstGeom>
        </p:spPr>
      </p:pic>
      <p:sp>
        <p:nvSpPr>
          <p:cNvPr id="150" name="path 15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696595" y="1339215"/>
            <a:ext cx="11052810" cy="45307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box 152"/>
          <p:cNvSpPr/>
          <p:nvPr/>
        </p:nvSpPr>
        <p:spPr>
          <a:xfrm>
            <a:off x="1332230" y="1360805"/>
            <a:ext cx="10006965" cy="441071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pitchFamily="34" charset="0"/>
              <a:ea typeface="Arial" panose="020B0604020202020204" pitchFamily="34" charset="0"/>
              <a:cs typeface="Arial" panose="020B0604020202020204" pitchFamily="34" charset="0"/>
            </a:endParaRPr>
          </a:p>
          <a:p>
            <a:pPr marL="190500" algn="l" rtl="0" eaLnBrk="0">
              <a:lnSpc>
                <a:spcPct val="94000"/>
              </a:lnSpc>
            </a:pP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00" dirty="0">
                <a:solidFill>
                  <a:srgbClr val="000000">
                    <a:alpha val="100000"/>
                  </a:srgbClr>
                </a:solidFill>
                <a:latin typeface="Times New Roman" panose="02020603050405020304"/>
                <a:ea typeface="Times New Roman" panose="02020603050405020304"/>
                <a:cs typeface="Times New Roman" panose="02020603050405020304"/>
              </a:rPr>
              <a:t>ECB</a:t>
            </a:r>
            <a:r>
              <a:rPr lang="en-US" sz="2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模式简</a:t>
            </a:r>
            <a:r>
              <a:rPr sz="2800" b="1" kern="0" spc="-110" dirty="0">
                <a:solidFill>
                  <a:srgbClr val="000000">
                    <a:alpha val="100000"/>
                  </a:srgbClr>
                </a:solidFill>
                <a:latin typeface="仿宋" panose="02010609060101010101" charset="-122"/>
                <a:ea typeface="仿宋" panose="02010609060101010101" charset="-122"/>
                <a:cs typeface="仿宋" panose="02010609060101010101" charset="-122"/>
              </a:rPr>
              <a:t>单、高速，但最弱，易受重放和替换攻击，</a:t>
            </a:r>
            <a:endParaRPr sz="2800" dirty="0">
              <a:latin typeface="仿宋" panose="02010609060101010101" charset="-122"/>
              <a:ea typeface="仿宋" panose="02010609060101010101" charset="-122"/>
              <a:cs typeface="仿宋" panose="02010609060101010101" charset="-122"/>
            </a:endParaRPr>
          </a:p>
          <a:p>
            <a:pPr marL="17780" algn="l" rtl="0" eaLnBrk="0">
              <a:lnSpc>
                <a:spcPct val="94000"/>
              </a:lnSpc>
              <a:spcBef>
                <a:spcPts val="890"/>
              </a:spcBef>
            </a:pP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一般用于加密长度小于等于分组长度的消息。</a:t>
            </a:r>
            <a:endParaRPr sz="2800" dirty="0">
              <a:latin typeface="仿宋" panose="02010609060101010101" charset="-122"/>
              <a:ea typeface="仿宋" panose="02010609060101010101" charset="-122"/>
              <a:cs typeface="仿宋" panose="02010609060101010101" charset="-122"/>
            </a:endParaRPr>
          </a:p>
          <a:p>
            <a:pPr marL="190500" algn="l" rtl="0" eaLnBrk="0">
              <a:lnSpc>
                <a:spcPct val="94000"/>
              </a:lnSpc>
              <a:spcBef>
                <a:spcPts val="1885"/>
              </a:spcBef>
            </a:pP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CBC</a:t>
            </a:r>
            <a:r>
              <a:rPr sz="2800" b="1"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CFB</a:t>
            </a:r>
            <a:r>
              <a:rPr sz="2800" b="1"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OFB</a:t>
            </a:r>
            <a:r>
              <a:rPr lang="en-US" sz="28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模式的选用取决于实际的特殊需求。</a:t>
            </a:r>
            <a:endParaRPr sz="2800" dirty="0">
              <a:latin typeface="仿宋" panose="02010609060101010101" charset="-122"/>
              <a:ea typeface="仿宋" panose="02010609060101010101" charset="-122"/>
              <a:cs typeface="仿宋" panose="02010609060101010101" charset="-122"/>
            </a:endParaRPr>
          </a:p>
          <a:p>
            <a:pPr marL="914400" indent="-458470" algn="l" rtl="0" eaLnBrk="0">
              <a:lnSpc>
                <a:spcPct val="107000"/>
              </a:lnSpc>
              <a:spcBef>
                <a:spcPts val="1270"/>
              </a:spcBef>
            </a:pP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①</a:t>
            </a:r>
            <a:r>
              <a:rPr sz="2400" kern="0" spc="30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明文不易丢信号，</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对明文的格式没有特殊要求的环境可选用</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模式。需要完整性认证功能时也可选用该模式。</a:t>
            </a:r>
            <a:endParaRPr sz="2400" dirty="0">
              <a:latin typeface="仿宋" panose="02010609060101010101" charset="-122"/>
              <a:ea typeface="仿宋" panose="02010609060101010101" charset="-122"/>
              <a:cs typeface="仿宋" panose="02010609060101010101" charset="-122"/>
            </a:endParaRPr>
          </a:p>
          <a:p>
            <a:pPr marL="915035" indent="-459740" algn="l" rtl="0" eaLnBrk="0">
              <a:lnSpc>
                <a:spcPct val="107000"/>
              </a:lnSpc>
              <a:spcBef>
                <a:spcPts val="1270"/>
              </a:spcBef>
            </a:pP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②</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容易丢信号的环境，或对明文格</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式有特殊要求的环境，可选用</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CFB</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915035" indent="-459740" algn="l" rtl="0" eaLnBrk="0">
              <a:lnSpc>
                <a:spcPct val="107000"/>
              </a:lnSpc>
            </a:pP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③</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不易丢信号，但信号特别容易错</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，且明文冗余特别多，可选用</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OFB</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sp>
        <p:nvSpPr>
          <p:cNvPr id="154" name="textbox 154"/>
          <p:cNvSpPr/>
          <p:nvPr/>
        </p:nvSpPr>
        <p:spPr>
          <a:xfrm>
            <a:off x="1619164" y="491245"/>
            <a:ext cx="4436109"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40" dirty="0">
                <a:solidFill>
                  <a:srgbClr val="1F4E79">
                    <a:alpha val="100000"/>
                  </a:srgbClr>
                </a:solidFill>
                <a:latin typeface="仿宋" panose="02010609060101010101" charset="-122"/>
                <a:ea typeface="仿宋" panose="02010609060101010101" charset="-122"/>
                <a:cs typeface="仿宋" panose="02010609060101010101" charset="-122"/>
              </a:rPr>
              <a:t>四类工作模式比较和选用</a:t>
            </a:r>
            <a:endParaRPr sz="3100" dirty="0">
              <a:latin typeface="仿宋" panose="02010609060101010101" charset="-122"/>
              <a:ea typeface="仿宋" panose="02010609060101010101" charset="-122"/>
              <a:cs typeface="仿宋" panose="02010609060101010101" charset="-122"/>
            </a:endParaRPr>
          </a:p>
        </p:txBody>
      </p:sp>
      <p:sp>
        <p:nvSpPr>
          <p:cNvPr id="158" name="path 15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60" name="picture 160"/>
          <p:cNvPicPr>
            <a:picLocks noChangeAspect="1"/>
          </p:cNvPicPr>
          <p:nvPr/>
        </p:nvPicPr>
        <p:blipFill>
          <a:blip r:embed="rId1"/>
          <a:stretch>
            <a:fillRect/>
          </a:stretch>
        </p:blipFill>
        <p:spPr>
          <a:xfrm rot="21600000">
            <a:off x="822960" y="408431"/>
            <a:ext cx="420623" cy="655320"/>
          </a:xfrm>
          <a:prstGeom prst="rect">
            <a:avLst/>
          </a:prstGeom>
        </p:spPr>
      </p:pic>
      <p:sp>
        <p:nvSpPr>
          <p:cNvPr id="162" name="path 16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密码反馈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box 200"/>
          <p:cNvSpPr/>
          <p:nvPr/>
        </p:nvSpPr>
        <p:spPr>
          <a:xfrm>
            <a:off x="959485" y="1581150"/>
            <a:ext cx="10303510" cy="186436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marL="249555" indent="-236855" algn="l" rtl="0" eaLnBrk="0">
              <a:lnSpc>
                <a:spcPct val="109000"/>
              </a:lnSpc>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利用固定密钥</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对自然数序列</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1,2,3,…,n,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加密，将得到的密文分组序列看</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作密钥流序列，按加</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法密码的方式与明文分组逐位异或的一种方式</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500" dirty="0">
              <a:latin typeface="Arial" panose="020B0604020202020204" pitchFamily="34" charset="0"/>
              <a:ea typeface="Arial" panose="020B0604020202020204" pitchFamily="34" charset="0"/>
              <a:cs typeface="Arial" panose="020B0604020202020204" pitchFamily="34" charset="0"/>
            </a:endParaRPr>
          </a:p>
          <a:p>
            <a:pPr marL="243840" indent="-231140" algn="l" rtl="0" eaLnBrk="0">
              <a:lnSpc>
                <a:spcPct val="109000"/>
              </a:lnSpc>
              <a:spcBef>
                <a:spcPts val="0"/>
              </a:spcBef>
            </a:pP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利用这种方式可以产生伪随机数序列</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其伪随机特性远比计算机产生的随机</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数的性质好</a:t>
            </a:r>
            <a:endParaRPr sz="2400" dirty="0">
              <a:latin typeface="仿宋" panose="02010609060101010101" charset="-122"/>
              <a:ea typeface="仿宋" panose="02010609060101010101" charset="-122"/>
              <a:cs typeface="仿宋" panose="02010609060101010101" charset="-122"/>
            </a:endParaRPr>
          </a:p>
        </p:txBody>
      </p:sp>
      <p:sp>
        <p:nvSpPr>
          <p:cNvPr id="204" name="textbox 204"/>
          <p:cNvSpPr/>
          <p:nvPr/>
        </p:nvSpPr>
        <p:spPr>
          <a:xfrm>
            <a:off x="1571329" y="491245"/>
            <a:ext cx="2038350"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50" dirty="0">
                <a:solidFill>
                  <a:srgbClr val="1F4E79">
                    <a:alpha val="100000"/>
                  </a:srgbClr>
                </a:solidFill>
                <a:latin typeface="仿宋" panose="02010609060101010101" charset="-122"/>
                <a:ea typeface="仿宋" panose="02010609060101010101" charset="-122"/>
                <a:cs typeface="仿宋" panose="02010609060101010101" charset="-122"/>
              </a:rPr>
              <a:t>计数器模式</a:t>
            </a:r>
            <a:endParaRPr sz="3100" dirty="0">
              <a:latin typeface="仿宋" panose="02010609060101010101" charset="-122"/>
              <a:ea typeface="仿宋" panose="02010609060101010101" charset="-122"/>
              <a:cs typeface="仿宋" panose="02010609060101010101" charset="-122"/>
            </a:endParaRPr>
          </a:p>
        </p:txBody>
      </p:sp>
      <p:sp>
        <p:nvSpPr>
          <p:cNvPr id="206" name="path 20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08" name="picture 208"/>
          <p:cNvPicPr>
            <a:picLocks noChangeAspect="1"/>
          </p:cNvPicPr>
          <p:nvPr/>
        </p:nvPicPr>
        <p:blipFill>
          <a:blip r:embed="rId1"/>
          <a:stretch>
            <a:fillRect/>
          </a:stretch>
        </p:blipFill>
        <p:spPr>
          <a:xfrm rot="21600000">
            <a:off x="822960" y="408431"/>
            <a:ext cx="420623" cy="655320"/>
          </a:xfrm>
          <a:prstGeom prst="rect">
            <a:avLst/>
          </a:prstGeom>
        </p:spPr>
      </p:pic>
      <p:sp>
        <p:nvSpPr>
          <p:cNvPr id="210" name="path 21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ath 212"/>
          <p:cNvSpPr/>
          <p:nvPr/>
        </p:nvSpPr>
        <p:spPr>
          <a:xfrm>
            <a:off x="696468" y="1021080"/>
            <a:ext cx="10779125" cy="5245607"/>
          </a:xfrm>
          <a:custGeom>
            <a:avLst/>
            <a:gdLst/>
            <a:ahLst/>
            <a:cxnLst/>
            <a:rect l="0" t="0" r="0" b="0"/>
            <a:pathLst>
              <a:path w="16975" h="8260">
                <a:moveTo>
                  <a:pt x="1214" y="21"/>
                </a:moveTo>
                <a:lnTo>
                  <a:pt x="15446" y="21"/>
                </a:lnTo>
                <a:moveTo>
                  <a:pt x="0" y="8239"/>
                </a:moveTo>
                <a:lnTo>
                  <a:pt x="16975" y="8239"/>
                </a:lnTo>
              </a:path>
            </a:pathLst>
          </a:custGeom>
          <a:noFill/>
          <a:ln w="27431" cap="flat">
            <a:solidFill>
              <a:srgbClr val="5B9BD5"/>
            </a:solidFill>
            <a:prstDash val="solid"/>
            <a:miter lim="1000000"/>
          </a:ln>
        </p:spPr>
        <p:txBody>
          <a:bodyPr rtlCol="0"/>
          <a:lstStyle/>
          <a:p>
            <a:pPr algn="ctr"/>
            <a:endParaRPr lang="zh-CN" altLang="en-US"/>
          </a:p>
        </p:txBody>
      </p:sp>
      <p:pic>
        <p:nvPicPr>
          <p:cNvPr id="214" name="picture 214"/>
          <p:cNvPicPr>
            <a:picLocks noChangeAspect="1"/>
          </p:cNvPicPr>
          <p:nvPr/>
        </p:nvPicPr>
        <p:blipFill>
          <a:blip r:embed="rId1"/>
          <a:stretch>
            <a:fillRect/>
          </a:stretch>
        </p:blipFill>
        <p:spPr>
          <a:xfrm rot="21600000">
            <a:off x="2103755" y="1125855"/>
            <a:ext cx="7964805" cy="5036185"/>
          </a:xfrm>
          <a:prstGeom prst="rect">
            <a:avLst/>
          </a:prstGeom>
        </p:spPr>
      </p:pic>
      <p:sp>
        <p:nvSpPr>
          <p:cNvPr id="216" name="textbox 216"/>
          <p:cNvSpPr/>
          <p:nvPr/>
        </p:nvSpPr>
        <p:spPr>
          <a:xfrm>
            <a:off x="810260" y="395731"/>
            <a:ext cx="4020820" cy="732155"/>
          </a:xfrm>
          <a:prstGeom prst="rect">
            <a:avLst/>
          </a:prstGeom>
          <a:noFill/>
          <a:ln w="0" cap="flat">
            <a:noFill/>
            <a:prstDash val="solid"/>
            <a:miter lim="0"/>
          </a:ln>
        </p:spPr>
        <p:txBody>
          <a:bodyPr vert="horz" wrap="square" lIns="0" tIns="0" rIns="0" bIns="0"/>
          <a:lstStyle/>
          <a:p>
            <a:pPr algn="l" rtl="0" eaLnBrk="0">
              <a:lnSpc>
                <a:spcPct val="100000"/>
              </a:lnSpc>
            </a:pPr>
            <a:endParaRPr sz="700" dirty="0">
              <a:latin typeface="Arial" panose="020B0604020202020204" pitchFamily="34" charset="0"/>
              <a:ea typeface="Arial" panose="020B0604020202020204" pitchFamily="34" charset="0"/>
              <a:cs typeface="Arial" panose="020B0604020202020204" pitchFamily="34" charset="0"/>
            </a:endParaRPr>
          </a:p>
          <a:p>
            <a:pPr marL="433070" algn="l" defTabSz="0" rtl="0" eaLnBrk="0">
              <a:lnSpc>
                <a:spcPct val="97000"/>
              </a:lnSpc>
              <a:spcBef>
                <a:spcPts val="0"/>
              </a:spcBef>
              <a:tabLst>
                <a:tab pos="773430" algn="l"/>
              </a:tabLst>
            </a:pPr>
            <a:r>
              <a:rPr sz="31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60" dirty="0">
                <a:solidFill>
                  <a:srgbClr val="1F4E79">
                    <a:alpha val="100000"/>
                  </a:srgbClr>
                </a:solidFill>
                <a:latin typeface="仿宋" panose="02010609060101010101" charset="-122"/>
                <a:ea typeface="仿宋" panose="02010609060101010101" charset="-122"/>
                <a:cs typeface="仿宋" panose="02010609060101010101" charset="-122"/>
              </a:rPr>
              <a:t>计数器模式的结构</a:t>
            </a:r>
            <a:endParaRPr sz="3100" dirty="0">
              <a:latin typeface="仿宋" panose="02010609060101010101" charset="-122"/>
              <a:ea typeface="仿宋" panose="02010609060101010101" charset="-122"/>
              <a:cs typeface="仿宋" panose="02010609060101010101" charset="-122"/>
            </a:endParaRPr>
          </a:p>
        </p:txBody>
      </p:sp>
      <p:pic>
        <p:nvPicPr>
          <p:cNvPr id="218" name="picture 218"/>
          <p:cNvPicPr>
            <a:picLocks noChangeAspect="1"/>
          </p:cNvPicPr>
          <p:nvPr/>
        </p:nvPicPr>
        <p:blipFill>
          <a:blip r:embed="rId2"/>
          <a:stretch>
            <a:fillRect/>
          </a:stretch>
        </p:blipFill>
        <p:spPr>
          <a:xfrm rot="21600000">
            <a:off x="822960" y="408431"/>
            <a:ext cx="420623" cy="6553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textbox 222"/>
          <p:cNvSpPr/>
          <p:nvPr/>
        </p:nvSpPr>
        <p:spPr>
          <a:xfrm>
            <a:off x="1467335" y="1360668"/>
            <a:ext cx="5287009" cy="38766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380"/>
              </a:lnSpc>
            </a:pPr>
            <a:r>
              <a:rPr sz="2800" kern="0" spc="-1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效率</a:t>
            </a:r>
            <a:endParaRPr sz="2800" dirty="0">
              <a:latin typeface="仿宋" panose="02010609060101010101" charset="-122"/>
              <a:ea typeface="仿宋" panose="02010609060101010101" charset="-122"/>
              <a:cs typeface="仿宋" panose="02010609060101010101" charset="-122"/>
            </a:endParaRPr>
          </a:p>
          <a:p>
            <a:pPr marL="466725" algn="l" rtl="0" eaLnBrk="0">
              <a:lnSpc>
                <a:spcPct val="119000"/>
              </a:lnSpc>
              <a:spcBef>
                <a:spcPts val="109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可并行加密</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预处理</a:t>
            </a:r>
            <a:endParaRPr sz="2400" dirty="0">
              <a:latin typeface="仿宋" panose="02010609060101010101" charset="-122"/>
              <a:ea typeface="仿宋" panose="02010609060101010101" charset="-122"/>
              <a:cs typeface="仿宋" panose="02010609060101010101" charset="-122"/>
            </a:endParaRPr>
          </a:p>
          <a:p>
            <a:pPr algn="r" rtl="0" eaLnBrk="0">
              <a:lnSpc>
                <a:spcPct val="99000"/>
              </a:lnSpc>
              <a:spcBef>
                <a:spcPts val="105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吞吐量仅受可使用并行数量的</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限制</a:t>
            </a:r>
            <a:endParaRPr sz="2400" dirty="0">
              <a:latin typeface="仿宋" panose="02010609060101010101" charset="-122"/>
              <a:ea typeface="仿宋" panose="02010609060101010101" charset="-122"/>
              <a:cs typeface="仿宋" panose="02010609060101010101" charset="-122"/>
            </a:endParaRPr>
          </a:p>
          <a:p>
            <a:pPr marL="12700" algn="l" rtl="0" eaLnBrk="0">
              <a:lnSpc>
                <a:spcPct val="100000"/>
              </a:lnSpc>
              <a:spcBef>
                <a:spcPts val="1680"/>
              </a:spcBef>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加密数据块的随机访</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问</a:t>
            </a:r>
            <a:endParaRPr sz="2800" dirty="0">
              <a:latin typeface="仿宋" panose="02010609060101010101" charset="-122"/>
              <a:ea typeface="仿宋" panose="02010609060101010101" charset="-122"/>
              <a:cs typeface="仿宋" panose="02010609060101010101" charset="-122"/>
            </a:endParaRPr>
          </a:p>
          <a:p>
            <a:pPr marL="12700" algn="l" rtl="0" eaLnBrk="0">
              <a:lnSpc>
                <a:spcPts val="3380"/>
              </a:lnSpc>
              <a:spcBef>
                <a:spcPts val="1675"/>
              </a:spcBef>
            </a:pPr>
            <a:r>
              <a:rPr sz="28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可证明安全</a:t>
            </a:r>
            <a:endParaRPr sz="2800" dirty="0">
              <a:latin typeface="仿宋" panose="02010609060101010101" charset="-122"/>
              <a:ea typeface="仿宋" panose="02010609060101010101" charset="-122"/>
              <a:cs typeface="仿宋" panose="02010609060101010101" charset="-122"/>
            </a:endParaRPr>
          </a:p>
          <a:p>
            <a:pPr algn="l" rtl="0" eaLnBrk="0">
              <a:lnSpc>
                <a:spcPct val="107000"/>
              </a:lnSpc>
            </a:pPr>
            <a:endParaRPr sz="13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spcBef>
                <a:spcPts val="5"/>
              </a:spcBef>
            </a:pPr>
            <a:r>
              <a:rPr sz="2800" kern="0" spc="-1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10" dirty="0">
                <a:solidFill>
                  <a:srgbClr val="000000">
                    <a:alpha val="100000"/>
                  </a:srgbClr>
                </a:solidFill>
                <a:latin typeface="仿宋" panose="02010609060101010101" charset="-122"/>
                <a:ea typeface="仿宋" panose="02010609060101010101" charset="-122"/>
                <a:cs typeface="仿宋" panose="02010609060101010101" charset="-122"/>
              </a:rPr>
              <a:t>简单性（只要求实</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现加密算法）</a:t>
            </a:r>
            <a:endParaRPr sz="2800" dirty="0">
              <a:latin typeface="仿宋" panose="02010609060101010101" charset="-122"/>
              <a:ea typeface="仿宋" panose="02010609060101010101" charset="-122"/>
              <a:cs typeface="仿宋" panose="02010609060101010101" charset="-122"/>
            </a:endParaRPr>
          </a:p>
        </p:txBody>
      </p:sp>
      <p:sp>
        <p:nvSpPr>
          <p:cNvPr id="226" name="textbox 226"/>
          <p:cNvSpPr/>
          <p:nvPr/>
        </p:nvSpPr>
        <p:spPr>
          <a:xfrm>
            <a:off x="1555519" y="491245"/>
            <a:ext cx="1852929"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CTR</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的优点</a:t>
            </a:r>
            <a:endParaRPr sz="3100" dirty="0">
              <a:latin typeface="仿宋" panose="02010609060101010101" charset="-122"/>
              <a:ea typeface="仿宋" panose="02010609060101010101" charset="-122"/>
              <a:cs typeface="仿宋" panose="02010609060101010101" charset="-122"/>
            </a:endParaRPr>
          </a:p>
        </p:txBody>
      </p:sp>
      <p:sp>
        <p:nvSpPr>
          <p:cNvPr id="228" name="path 22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30" name="picture 230"/>
          <p:cNvPicPr>
            <a:picLocks noChangeAspect="1"/>
          </p:cNvPicPr>
          <p:nvPr/>
        </p:nvPicPr>
        <p:blipFill>
          <a:blip r:embed="rId1"/>
          <a:stretch>
            <a:fillRect/>
          </a:stretch>
        </p:blipFill>
        <p:spPr>
          <a:xfrm rot="21600000">
            <a:off x="822960" y="408431"/>
            <a:ext cx="420623" cy="655320"/>
          </a:xfrm>
          <a:prstGeom prst="rect">
            <a:avLst/>
          </a:prstGeom>
        </p:spPr>
      </p:pic>
      <p:sp>
        <p:nvSpPr>
          <p:cNvPr id="232" name="path 23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rPr>
              <a:t>流（</a:t>
            </a:r>
            <a:r>
              <a:rPr lang="zh-CN" sz="3600" dirty="0">
                <a:latin typeface="仿宋" panose="02010609060101010101" charset="-122"/>
                <a:ea typeface="仿宋" panose="02010609060101010101" charset="-122"/>
                <a:cs typeface="仿宋" panose="02010609060101010101" charset="-122"/>
              </a:rPr>
              <a:t>序列）密码基本概念</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1"/>
          <a:srcRect t="3764"/>
          <a:stretch>
            <a:fillRect/>
          </a:stretch>
        </p:blipFill>
        <p:spPr>
          <a:xfrm>
            <a:off x="1630680" y="1014730"/>
            <a:ext cx="8931275" cy="5224780"/>
          </a:xfrm>
          <a:prstGeom prst="rect">
            <a:avLst/>
          </a:prstGeom>
        </p:spPr>
      </p:pic>
      <p:sp>
        <p:nvSpPr>
          <p:cNvPr id="5" name="矩形 4"/>
          <p:cNvSpPr/>
          <p:nvPr/>
        </p:nvSpPr>
        <p:spPr>
          <a:xfrm>
            <a:off x="1445260" y="5580380"/>
            <a:ext cx="2915920" cy="65849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6" name="矩形 5"/>
          <p:cNvSpPr/>
          <p:nvPr/>
        </p:nvSpPr>
        <p:spPr>
          <a:xfrm>
            <a:off x="8133080" y="5596890"/>
            <a:ext cx="2915920" cy="51689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08248" y="2028443"/>
            <a:ext cx="5864351" cy="813816"/>
            <a:chOff x="0" y="0"/>
            <a:chExt cx="5864351" cy="813816"/>
          </a:xfrm>
        </p:grpSpPr>
        <p:pic>
          <p:nvPicPr>
            <p:cNvPr id="10" name="picture 10"/>
            <p:cNvPicPr>
              <a:picLocks noChangeAspect="1"/>
            </p:cNvPicPr>
            <p:nvPr/>
          </p:nvPicPr>
          <p:blipFill>
            <a:blip r:embed="rId1"/>
            <a:stretch>
              <a:fillRect/>
            </a:stretch>
          </p:blipFill>
          <p:spPr>
            <a:xfrm rot="21600000">
              <a:off x="0" y="0"/>
              <a:ext cx="5864351" cy="813816"/>
            </a:xfrm>
            <a:prstGeom prst="rect">
              <a:avLst/>
            </a:prstGeom>
          </p:spPr>
        </p:pic>
        <p:sp>
          <p:nvSpPr>
            <p:cNvPr id="12" name="textbox 12"/>
            <p:cNvSpPr/>
            <p:nvPr/>
          </p:nvSpPr>
          <p:spPr>
            <a:xfrm>
              <a:off x="-12700" y="-12700"/>
              <a:ext cx="5890259" cy="880744"/>
            </a:xfrm>
            <a:prstGeom prst="rect">
              <a:avLst/>
            </a:prstGeom>
            <a:noFill/>
            <a:ln w="0" cap="flat">
              <a:noFill/>
              <a:prstDash val="solid"/>
              <a:miter lim="0"/>
            </a:ln>
          </p:spPr>
          <p:txBody>
            <a:bodyPr vert="horz" wrap="square" lIns="0" tIns="0" rIns="0" bIns="0"/>
            <a:lstStyle/>
            <a:p>
              <a:pPr algn="l" rtl="0" eaLnBrk="0">
                <a:lnSpc>
                  <a:spcPct val="166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683260" algn="l" rtl="0" eaLnBrk="0">
                <a:lnSpc>
                  <a:spcPct val="95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一次一密</a:t>
              </a:r>
              <a:endParaRPr sz="2400" dirty="0">
                <a:latin typeface="仿宋" panose="02010609060101010101" charset="-122"/>
                <a:ea typeface="仿宋" panose="02010609060101010101" charset="-122"/>
                <a:cs typeface="仿宋" panose="02010609060101010101" charset="-122"/>
              </a:endParaRPr>
            </a:p>
          </p:txBody>
        </p:sp>
      </p:grpSp>
      <p:grpSp>
        <p:nvGrpSpPr>
          <p:cNvPr id="4" name="group 4"/>
          <p:cNvGrpSpPr/>
          <p:nvPr/>
        </p:nvGrpSpPr>
        <p:grpSpPr>
          <a:xfrm rot="21600000">
            <a:off x="3831335" y="4288535"/>
            <a:ext cx="5541264" cy="812292"/>
            <a:chOff x="0" y="0"/>
            <a:chExt cx="5541264" cy="812292"/>
          </a:xfrm>
        </p:grpSpPr>
        <p:pic>
          <p:nvPicPr>
            <p:cNvPr id="14" name="picture 14"/>
            <p:cNvPicPr>
              <a:picLocks noChangeAspect="1"/>
            </p:cNvPicPr>
            <p:nvPr/>
          </p:nvPicPr>
          <p:blipFill>
            <a:blip r:embed="rId2"/>
            <a:stretch>
              <a:fillRect/>
            </a:stretch>
          </p:blipFill>
          <p:spPr>
            <a:xfrm rot="21600000">
              <a:off x="0" y="0"/>
              <a:ext cx="5541264" cy="812292"/>
            </a:xfrm>
            <a:prstGeom prst="rect">
              <a:avLst/>
            </a:prstGeom>
          </p:spPr>
        </p:pic>
        <p:sp>
          <p:nvSpPr>
            <p:cNvPr id="16" name="textbox 16"/>
            <p:cNvSpPr/>
            <p:nvPr/>
          </p:nvSpPr>
          <p:spPr>
            <a:xfrm>
              <a:off x="-12700" y="-12700"/>
              <a:ext cx="5567045" cy="880110"/>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a:ea typeface="Arial" panose="020B0604020202020204"/>
                <a:cs typeface="Arial" panose="020B0604020202020204"/>
              </a:endParaRPr>
            </a:p>
            <a:p>
              <a:pPr marL="713105" algn="l" rtl="0" eaLnBrk="0">
                <a:lnSpc>
                  <a:spcPct val="95000"/>
                </a:lnSpc>
                <a:spcBef>
                  <a:spcPts val="5"/>
                </a:spcBef>
              </a:pPr>
              <a:r>
                <a:rPr sz="2400" b="1" kern="0" spc="-80" dirty="0">
                  <a:solidFill>
                    <a:srgbClr val="FFFFFF">
                      <a:alpha val="100000"/>
                    </a:srgbClr>
                  </a:solidFill>
                  <a:latin typeface="仿宋" panose="02010609060101010101" charset="-122"/>
                  <a:ea typeface="仿宋" panose="02010609060101010101" charset="-122"/>
                  <a:cs typeface="仿宋" panose="02010609060101010101" charset="-122"/>
                </a:rPr>
                <a:t>同步流密码</a:t>
              </a:r>
              <a:endParaRPr sz="2400" dirty="0">
                <a:latin typeface="仿宋" panose="02010609060101010101" charset="-122"/>
                <a:ea typeface="仿宋" panose="02010609060101010101" charset="-122"/>
                <a:cs typeface="仿宋" panose="02010609060101010101" charset="-122"/>
              </a:endParaRPr>
            </a:p>
          </p:txBody>
        </p:sp>
      </p:grpSp>
      <p:grpSp>
        <p:nvGrpSpPr>
          <p:cNvPr id="6" name="group 6"/>
          <p:cNvGrpSpPr/>
          <p:nvPr/>
        </p:nvGrpSpPr>
        <p:grpSpPr>
          <a:xfrm rot="21600000">
            <a:off x="3878579" y="3197352"/>
            <a:ext cx="5507735" cy="812291"/>
            <a:chOff x="0" y="0"/>
            <a:chExt cx="5507735" cy="812291"/>
          </a:xfrm>
        </p:grpSpPr>
        <p:pic>
          <p:nvPicPr>
            <p:cNvPr id="18" name="picture 18"/>
            <p:cNvPicPr>
              <a:picLocks noChangeAspect="1"/>
            </p:cNvPicPr>
            <p:nvPr/>
          </p:nvPicPr>
          <p:blipFill>
            <a:blip r:embed="rId3"/>
            <a:stretch>
              <a:fillRect/>
            </a:stretch>
          </p:blipFill>
          <p:spPr>
            <a:xfrm rot="21600000">
              <a:off x="0" y="0"/>
              <a:ext cx="5507735" cy="812291"/>
            </a:xfrm>
            <a:prstGeom prst="rect">
              <a:avLst/>
            </a:prstGeom>
          </p:spPr>
        </p:pic>
        <p:sp>
          <p:nvSpPr>
            <p:cNvPr id="20" name="textbox 20"/>
            <p:cNvSpPr/>
            <p:nvPr/>
          </p:nvSpPr>
          <p:spPr>
            <a:xfrm>
              <a:off x="-12700" y="-12700"/>
              <a:ext cx="5533390" cy="881380"/>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a:ea typeface="Arial" panose="020B0604020202020204"/>
                <a:cs typeface="Arial" panose="020B0604020202020204"/>
              </a:endParaRPr>
            </a:p>
            <a:p>
              <a:pPr marL="678180" algn="l" rtl="0" eaLnBrk="0">
                <a:lnSpc>
                  <a:spcPct val="95000"/>
                </a:lnSpc>
                <a:spcBef>
                  <a:spcPts val="0"/>
                </a:spcBef>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流密码的定义</a:t>
              </a:r>
              <a:endParaRPr sz="2400" dirty="0">
                <a:latin typeface="仿宋" panose="02010609060101010101" charset="-122"/>
                <a:ea typeface="仿宋" panose="02010609060101010101" charset="-122"/>
                <a:cs typeface="仿宋" panose="02010609060101010101" charset="-122"/>
              </a:endParaRPr>
            </a:p>
          </p:txBody>
        </p:sp>
      </p:grpSp>
      <p:grpSp>
        <p:nvGrpSpPr>
          <p:cNvPr id="8" name="group 8"/>
          <p:cNvGrpSpPr/>
          <p:nvPr/>
        </p:nvGrpSpPr>
        <p:grpSpPr>
          <a:xfrm rot="21600000">
            <a:off x="2765043" y="1789049"/>
            <a:ext cx="1624075" cy="3842625"/>
            <a:chOff x="0" y="0"/>
            <a:chExt cx="1624075" cy="3842625"/>
          </a:xfrm>
        </p:grpSpPr>
        <p:sp>
          <p:nvSpPr>
            <p:cNvPr id="22" name="path 22"/>
            <p:cNvSpPr/>
            <p:nvPr/>
          </p:nvSpPr>
          <p:spPr>
            <a:xfrm>
              <a:off x="0" y="0"/>
              <a:ext cx="1082692" cy="3842625"/>
            </a:xfrm>
            <a:custGeom>
              <a:avLst/>
              <a:gdLst/>
              <a:ahLst/>
              <a:cxnLst/>
              <a:rect l="0" t="0" r="0" b="0"/>
              <a:pathLst>
                <a:path w="1705" h="6051">
                  <a:moveTo>
                    <a:pt x="4" y="4"/>
                  </a:moveTo>
                  <a:cubicBezTo>
                    <a:pt x="1897" y="1448"/>
                    <a:pt x="2261" y="4153"/>
                    <a:pt x="818" y="6046"/>
                  </a:cubicBezTo>
                  <a:cubicBezTo>
                    <a:pt x="818" y="6046"/>
                    <a:pt x="817" y="6046"/>
                    <a:pt x="817" y="6046"/>
                  </a:cubicBezTo>
                  <a:lnTo>
                    <a:pt x="817" y="6046"/>
                  </a:lnTo>
                  <a:cubicBezTo>
                    <a:pt x="2261" y="4153"/>
                    <a:pt x="1897" y="1448"/>
                    <a:pt x="5" y="5"/>
                  </a:cubicBezTo>
                  <a:cubicBezTo>
                    <a:pt x="5" y="5"/>
                    <a:pt x="5" y="5"/>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24" name="path 24"/>
            <p:cNvSpPr/>
            <p:nvPr/>
          </p:nvSpPr>
          <p:spPr>
            <a:xfrm>
              <a:off x="235712" y="138810"/>
              <a:ext cx="1014984"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6" name="path 26"/>
            <p:cNvSpPr/>
            <p:nvPr/>
          </p:nvSpPr>
          <p:spPr>
            <a:xfrm>
              <a:off x="232664" y="135762"/>
              <a:ext cx="1021080" cy="1021079"/>
            </a:xfrm>
            <a:custGeom>
              <a:avLst/>
              <a:gdLst/>
              <a:ahLst/>
              <a:cxnLst/>
              <a:rect l="0" t="0" r="0" b="0"/>
              <a:pathLst>
                <a:path w="1608" h="1607">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8" name="path 28"/>
            <p:cNvSpPr/>
            <p:nvPr/>
          </p:nvSpPr>
          <p:spPr>
            <a:xfrm>
              <a:off x="557276" y="2429382"/>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0" name="path 30"/>
            <p:cNvSpPr/>
            <p:nvPr/>
          </p:nvSpPr>
          <p:spPr>
            <a:xfrm>
              <a:off x="554228" y="2426334"/>
              <a:ext cx="1022603" cy="1021080"/>
            </a:xfrm>
            <a:custGeom>
              <a:avLst/>
              <a:gdLst/>
              <a:ahLst/>
              <a:cxnLst/>
              <a:rect l="0" t="0" r="0" b="0"/>
              <a:pathLst>
                <a:path w="1610" h="1608">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32" name="path 32"/>
            <p:cNvSpPr/>
            <p:nvPr/>
          </p:nvSpPr>
          <p:spPr>
            <a:xfrm>
              <a:off x="604519" y="1306194"/>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 name="path 34"/>
            <p:cNvSpPr/>
            <p:nvPr/>
          </p:nvSpPr>
          <p:spPr>
            <a:xfrm>
              <a:off x="601472" y="1303146"/>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solidFill>
              <a:prstDash val="solid"/>
              <a:miter lim="1000000"/>
            </a:ln>
          </p:spPr>
          <p:txBody>
            <a:bodyPr rtlCol="0"/>
            <a:lstStyle/>
            <a:p>
              <a:pPr algn="ctr"/>
              <a:endParaRPr lang="zh-CN" altLang="en-US"/>
            </a:p>
          </p:txBody>
        </p:sp>
      </p:grpSp>
      <p:sp>
        <p:nvSpPr>
          <p:cNvPr id="36" name="textbox 36"/>
          <p:cNvSpPr/>
          <p:nvPr/>
        </p:nvSpPr>
        <p:spPr>
          <a:xfrm>
            <a:off x="2745896" y="488157"/>
            <a:ext cx="467105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第七讲</a:t>
            </a:r>
            <a:r>
              <a:rPr sz="3200" kern="0" spc="-40" dirty="0">
                <a:solidFill>
                  <a:srgbClr val="1F4E79">
                    <a:alpha val="100000"/>
                  </a:srgbClr>
                </a:solidFill>
                <a:latin typeface="仿宋" panose="02010609060101010101" charset="-122"/>
                <a:ea typeface="仿宋" panose="02010609060101010101" charset="-122"/>
                <a:cs typeface="仿宋" panose="02010609060101010101" charset="-122"/>
              </a:rPr>
              <a:t> </a:t>
            </a: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流密码的基本概念</a:t>
            </a:r>
            <a:endParaRPr sz="3200" dirty="0">
              <a:latin typeface="仿宋" panose="02010609060101010101" charset="-122"/>
              <a:ea typeface="仿宋" panose="02010609060101010101" charset="-122"/>
              <a:cs typeface="仿宋" panose="02010609060101010101" charset="-122"/>
            </a:endParaRPr>
          </a:p>
        </p:txBody>
      </p:sp>
      <p:sp>
        <p:nvSpPr>
          <p:cNvPr id="40" name="path 40"/>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42" name="picture 42"/>
          <p:cNvPicPr>
            <a:picLocks noChangeAspect="1"/>
          </p:cNvPicPr>
          <p:nvPr/>
        </p:nvPicPr>
        <p:blipFill>
          <a:blip r:embed="rId4"/>
          <a:stretch>
            <a:fillRect/>
          </a:stretch>
        </p:blipFill>
        <p:spPr>
          <a:xfrm rot="21600000">
            <a:off x="824483" y="408431"/>
            <a:ext cx="419100" cy="655320"/>
          </a:xfrm>
          <a:prstGeom prst="rect">
            <a:avLst/>
          </a:prstGeom>
        </p:spPr>
      </p:pic>
      <p:sp>
        <p:nvSpPr>
          <p:cNvPr id="44" name="path 44"/>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1243126" y="1459788"/>
            <a:ext cx="9569450" cy="4210050"/>
          </a:xfrm>
          <a:prstGeom prst="rect">
            <a:avLst/>
          </a:prstGeom>
          <a:noFill/>
          <a:ln w="0" cap="flat">
            <a:noFill/>
            <a:prstDash val="solid"/>
            <a:miter lim="0"/>
          </a:ln>
        </p:spPr>
        <p:txBody>
          <a:bodyPr vert="horz" wrap="square" lIns="0" tIns="0" rIns="0" bIns="0"/>
          <a:lstStyle/>
          <a:p>
            <a:pPr algn="l" rtl="0" eaLnBrk="0">
              <a:lnSpc>
                <a:spcPct val="66000"/>
              </a:lnSpc>
            </a:pPr>
            <a:endParaRPr sz="100" dirty="0">
              <a:latin typeface="Arial" panose="020B0604020202020204"/>
              <a:ea typeface="Arial" panose="020B0604020202020204"/>
              <a:cs typeface="Arial" panose="020B0604020202020204"/>
            </a:endParaRPr>
          </a:p>
          <a:p>
            <a:pPr marL="287020" indent="-274320" algn="l" rtl="0" eaLnBrk="0">
              <a:lnSpc>
                <a:spcPct val="112000"/>
              </a:lnSpc>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一种理想的加密方案，叫做一次一密密码（</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one-time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pad</a:t>
            </a:r>
            <a:r>
              <a:rPr sz="2400" b="1" kern="0" spc="-13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由</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Major</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Joseph Mauborgne</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和</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AT&amp;T</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公司的</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Gilbert Vernam1</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917</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年发明的</a:t>
            </a:r>
            <a:endParaRPr sz="2400" dirty="0">
              <a:latin typeface="仿宋" panose="02010609060101010101" charset="-122"/>
              <a:ea typeface="仿宋" panose="02010609060101010101" charset="-122"/>
              <a:cs typeface="仿宋" panose="02010609060101010101" charset="-122"/>
            </a:endParaRPr>
          </a:p>
          <a:p>
            <a:pPr marL="12700" algn="l" rtl="0" eaLnBrk="0">
              <a:lnSpc>
                <a:spcPts val="3005"/>
              </a:lnSpc>
              <a:spcBef>
                <a:spcPts val="1740"/>
              </a:spcBef>
            </a:pP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明文：</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x=x</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0</a:t>
            </a:r>
            <a:r>
              <a:rPr sz="1500" b="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1500" b="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12700" algn="l" rtl="0" eaLnBrk="0">
              <a:lnSpc>
                <a:spcPts val="2995"/>
              </a:lnSpc>
              <a:spcBef>
                <a:spcPts val="1380"/>
              </a:spcBef>
            </a:pP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密钥：</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0</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5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12700" algn="l" rtl="0" eaLnBrk="0">
              <a:lnSpc>
                <a:spcPct val="95000"/>
              </a:lnSpc>
              <a:spcBef>
                <a:spcPts val="1365"/>
              </a:spcBef>
            </a:pP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密文：</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400" b="1" kern="0" spc="-20" baseline="-22000" dirty="0">
                <a:solidFill>
                  <a:srgbClr val="000000">
                    <a:alpha val="100000"/>
                  </a:srgbClr>
                </a:solidFill>
                <a:latin typeface="Times New Roman" panose="02020603050405020304"/>
                <a:ea typeface="Times New Roman" panose="02020603050405020304"/>
                <a:cs typeface="Times New Roman" panose="02020603050405020304"/>
              </a:rPr>
              <a:t>0</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400" b="1" kern="0" spc="-2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400" b="1" kern="0" spc="-2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500" b="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12700" algn="l" rtl="0" eaLnBrk="0">
              <a:lnSpc>
                <a:spcPts val="2995"/>
              </a:lnSpc>
              <a:spcBef>
                <a:spcPts val="1655"/>
              </a:spcBef>
            </a:pP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加密函数：</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400" b="1" kern="0" spc="-10" baseline="-17000" dirty="0">
                <a:solidFill>
                  <a:srgbClr val="000000">
                    <a:alpha val="100000"/>
                  </a:srgbClr>
                </a:solidFill>
                <a:latin typeface="Times New Roman" panose="02020603050405020304"/>
                <a:ea typeface="Times New Roman" panose="02020603050405020304"/>
                <a:cs typeface="Times New Roman" panose="02020603050405020304"/>
              </a:rPr>
              <a:t>i</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400" b="1" kern="0" spc="-10" baseline="-17000" dirty="0">
                <a:solidFill>
                  <a:srgbClr val="000000">
                    <a:alpha val="100000"/>
                  </a:srgbClr>
                </a:solidFill>
                <a:latin typeface="Times New Roman" panose="02020603050405020304"/>
                <a:ea typeface="Times New Roman" panose="02020603050405020304"/>
                <a:cs typeface="Times New Roman" panose="02020603050405020304"/>
              </a:rPr>
              <a:t>i</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17000" dirty="0">
                <a:solidFill>
                  <a:srgbClr val="000000">
                    <a:alpha val="100000"/>
                  </a:srgbClr>
                </a:solidFill>
                <a:latin typeface="Times New Roman" panose="02020603050405020304"/>
                <a:ea typeface="Times New Roman" panose="02020603050405020304"/>
                <a:cs typeface="Times New Roman" panose="02020603050405020304"/>
              </a:rPr>
              <a:t>i</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(mod26)</a:t>
            </a:r>
            <a:endParaRPr sz="2400" dirty="0">
              <a:latin typeface="Times New Roman" panose="02020603050405020304"/>
              <a:ea typeface="Times New Roman" panose="02020603050405020304"/>
              <a:cs typeface="Times New Roman" panose="02020603050405020304"/>
            </a:endParaRPr>
          </a:p>
          <a:p>
            <a:pPr marL="12700" algn="l" rtl="0" eaLnBrk="0">
              <a:lnSpc>
                <a:spcPts val="2995"/>
              </a:lnSpc>
              <a:spcBef>
                <a:spcPts val="1385"/>
              </a:spcBef>
            </a:pP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解密函数：</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400" b="1" kern="0" spc="-10" baseline="-14000" dirty="0">
                <a:solidFill>
                  <a:srgbClr val="000000">
                    <a:alpha val="100000"/>
                  </a:srgbClr>
                </a:solidFill>
                <a:latin typeface="Times New Roman" panose="02020603050405020304"/>
                <a:ea typeface="Times New Roman" panose="02020603050405020304"/>
                <a:cs typeface="Times New Roman" panose="02020603050405020304"/>
              </a:rPr>
              <a:t>i</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400" b="1" kern="0" spc="-10" baseline="-14000" dirty="0">
                <a:solidFill>
                  <a:srgbClr val="000000">
                    <a:alpha val="100000"/>
                  </a:srgbClr>
                </a:solidFill>
                <a:latin typeface="Times New Roman" panose="02020603050405020304"/>
                <a:ea typeface="Times New Roman" panose="02020603050405020304"/>
                <a:cs typeface="Times New Roman" panose="02020603050405020304"/>
              </a:rPr>
              <a:t>i</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4000" dirty="0">
                <a:solidFill>
                  <a:srgbClr val="000000">
                    <a:alpha val="100000"/>
                  </a:srgbClr>
                </a:solidFill>
                <a:latin typeface="Times New Roman" panose="02020603050405020304"/>
                <a:ea typeface="Times New Roman" panose="02020603050405020304"/>
                <a:cs typeface="Times New Roman" panose="02020603050405020304"/>
              </a:rPr>
              <a:t>i</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(mod26)</a:t>
            </a:r>
            <a:endParaRPr sz="2400" dirty="0">
              <a:latin typeface="Times New Roman" panose="02020603050405020304"/>
              <a:ea typeface="Times New Roman" panose="02020603050405020304"/>
              <a:cs typeface="Times New Roman" panose="02020603050405020304"/>
            </a:endParaRPr>
          </a:p>
          <a:p>
            <a:pPr algn="l" rtl="0" eaLnBrk="0">
              <a:lnSpc>
                <a:spcPct val="105000"/>
              </a:lnSpc>
            </a:pPr>
            <a:endParaRPr sz="1100" dirty="0">
              <a:latin typeface="Arial" panose="020B0604020202020204"/>
              <a:ea typeface="Arial" panose="020B0604020202020204"/>
              <a:cs typeface="Arial" panose="020B0604020202020204"/>
            </a:endParaRPr>
          </a:p>
          <a:p>
            <a:pPr marL="12700" algn="l" rtl="0" eaLnBrk="0">
              <a:lnSpc>
                <a:spcPct val="100000"/>
              </a:lnSpc>
              <a:spcBef>
                <a:spcPts val="5"/>
              </a:spcBef>
            </a:pP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注：密钥为随机产生的，而且只使用一</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次</a:t>
            </a:r>
            <a:endParaRPr sz="2400" dirty="0">
              <a:latin typeface="仿宋" panose="02010609060101010101" charset="-122"/>
              <a:ea typeface="仿宋" panose="02010609060101010101" charset="-122"/>
              <a:cs typeface="仿宋" panose="02010609060101010101" charset="-122"/>
            </a:endParaRPr>
          </a:p>
        </p:txBody>
      </p:sp>
      <p:sp>
        <p:nvSpPr>
          <p:cNvPr id="48" name="textbox 48"/>
          <p:cNvSpPr/>
          <p:nvPr/>
        </p:nvSpPr>
        <p:spPr>
          <a:xfrm>
            <a:off x="1566572" y="466821"/>
            <a:ext cx="2452370" cy="4889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5000"/>
              </a:lnSpc>
            </a:pPr>
            <a:r>
              <a:rPr sz="3200" b="1" kern="0" spc="-40" dirty="0">
                <a:solidFill>
                  <a:srgbClr val="800000">
                    <a:alpha val="100000"/>
                  </a:srgbClr>
                </a:solidFill>
                <a:latin typeface="宋体" panose="02010600030101010101" pitchFamily="2" charset="-122"/>
                <a:ea typeface="宋体" panose="02010600030101010101" pitchFamily="2" charset="-122"/>
                <a:cs typeface="宋体" panose="02010600030101010101" pitchFamily="2" charset="-122"/>
              </a:rPr>
              <a:t>一次一密密码</a:t>
            </a:r>
            <a:endParaRPr sz="3200" dirty="0">
              <a:latin typeface="宋体" panose="02010600030101010101" pitchFamily="2" charset="-122"/>
              <a:ea typeface="宋体" panose="02010600030101010101" pitchFamily="2" charset="-122"/>
              <a:cs typeface="宋体" panose="02010600030101010101" pitchFamily="2" charset="-122"/>
            </a:endParaRPr>
          </a:p>
        </p:txBody>
      </p:sp>
      <p:pic>
        <p:nvPicPr>
          <p:cNvPr id="52" name="picture 52"/>
          <p:cNvPicPr>
            <a:picLocks noChangeAspect="1"/>
          </p:cNvPicPr>
          <p:nvPr/>
        </p:nvPicPr>
        <p:blipFill>
          <a:blip r:embed="rId1"/>
          <a:stretch>
            <a:fillRect/>
          </a:stretch>
        </p:blipFill>
        <p:spPr>
          <a:xfrm rot="21600000">
            <a:off x="824483" y="408431"/>
            <a:ext cx="419100" cy="655320"/>
          </a:xfrm>
          <a:prstGeom prst="rect">
            <a:avLst/>
          </a:prstGeom>
        </p:spPr>
      </p:pic>
      <p:sp>
        <p:nvSpPr>
          <p:cNvPr id="54" name="path 54"/>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1"/>
          <a:stretch>
            <a:fillRect/>
          </a:stretch>
        </p:blipFill>
        <p:spPr>
          <a:xfrm rot="21600000">
            <a:off x="1807464" y="3304032"/>
            <a:ext cx="4158995" cy="2357627"/>
          </a:xfrm>
          <a:prstGeom prst="rect">
            <a:avLst/>
          </a:prstGeom>
        </p:spPr>
      </p:pic>
      <p:graphicFrame>
        <p:nvGraphicFramePr>
          <p:cNvPr id="58" name="table 58"/>
          <p:cNvGraphicFramePr>
            <a:graphicFrameLocks noGrp="1"/>
          </p:cNvGraphicFramePr>
          <p:nvPr/>
        </p:nvGraphicFramePr>
        <p:xfrm>
          <a:off x="1732788" y="3229355"/>
          <a:ext cx="4155440" cy="2353945"/>
        </p:xfrm>
        <a:graphic>
          <a:graphicData uri="http://schemas.openxmlformats.org/drawingml/2006/table">
            <a:tbl>
              <a:tblPr>
                <a:solidFill>
                  <a:srgbClr val="A3FBB8"/>
                </a:solidFill>
              </a:tblPr>
              <a:tblGrid>
                <a:gridCol w="4155440"/>
              </a:tblGrid>
              <a:tr h="2344420">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107440" algn="l" rtl="0" eaLnBrk="0">
                        <a:lnSpc>
                          <a:spcPct val="81000"/>
                        </a:lnSpc>
                      </a:pPr>
                      <a:r>
                        <a:rPr sz="2400" kern="0" spc="-40" dirty="0">
                          <a:solidFill>
                            <a:srgbClr val="000000">
                              <a:alpha val="100000"/>
                            </a:srgbClr>
                          </a:solidFill>
                          <a:latin typeface="Arial" panose="020B0604020202020204"/>
                          <a:ea typeface="Arial" panose="020B0604020202020204"/>
                          <a:cs typeface="Arial" panose="020B0604020202020204"/>
                        </a:rPr>
                        <a:t>One-Time</a:t>
                      </a:r>
                      <a:r>
                        <a:rPr sz="2400" kern="0" spc="200" dirty="0">
                          <a:solidFill>
                            <a:srgbClr val="000000">
                              <a:alpha val="100000"/>
                            </a:srgbClr>
                          </a:solidFill>
                          <a:latin typeface="Arial" panose="020B0604020202020204"/>
                          <a:ea typeface="Arial" panose="020B0604020202020204"/>
                          <a:cs typeface="Arial" panose="020B0604020202020204"/>
                        </a:rPr>
                        <a:t> </a:t>
                      </a:r>
                      <a:r>
                        <a:rPr sz="2400" kern="0" spc="-40" dirty="0">
                          <a:solidFill>
                            <a:srgbClr val="000000">
                              <a:alpha val="100000"/>
                            </a:srgbClr>
                          </a:solidFill>
                          <a:latin typeface="Arial" panose="020B0604020202020204"/>
                          <a:ea typeface="Arial" panose="020B0604020202020204"/>
                          <a:cs typeface="Arial" panose="020B0604020202020204"/>
                        </a:rPr>
                        <a:t>Pad</a:t>
                      </a:r>
                      <a:endParaRPr sz="2400" dirty="0">
                        <a:latin typeface="Arial" panose="020B0604020202020204"/>
                        <a:ea typeface="Arial" panose="020B0604020202020204"/>
                        <a:cs typeface="Arial" panose="020B0604020202020204"/>
                      </a:endParaRPr>
                    </a:p>
                    <a:p>
                      <a:pPr marL="572770" algn="l" rtl="0" eaLnBrk="0">
                        <a:lnSpc>
                          <a:spcPct val="81000"/>
                        </a:lnSpc>
                        <a:spcBef>
                          <a:spcPts val="480"/>
                        </a:spcBef>
                      </a:pPr>
                      <a:r>
                        <a:rPr sz="2400" kern="0" spc="-30" dirty="0">
                          <a:solidFill>
                            <a:srgbClr val="000000">
                              <a:alpha val="100000"/>
                            </a:srgbClr>
                          </a:solidFill>
                          <a:latin typeface="Arial" panose="020B0604020202020204"/>
                          <a:ea typeface="Arial" panose="020B0604020202020204"/>
                          <a:cs typeface="Arial" panose="020B0604020202020204"/>
                        </a:rPr>
                        <a:t>k</a:t>
                      </a:r>
                      <a:r>
                        <a:rPr sz="2400" kern="0" spc="150" dirty="0">
                          <a:solidFill>
                            <a:srgbClr val="000000">
                              <a:alpha val="100000"/>
                            </a:srgbClr>
                          </a:solidFill>
                          <a:latin typeface="Arial" panose="020B0604020202020204"/>
                          <a:ea typeface="Arial" panose="020B0604020202020204"/>
                          <a:cs typeface="Arial" panose="020B0604020202020204"/>
                        </a:rPr>
                        <a:t> </a:t>
                      </a:r>
                      <a:r>
                        <a:rPr sz="2400" kern="0" spc="-30" dirty="0">
                          <a:solidFill>
                            <a:srgbClr val="000000">
                              <a:alpha val="100000"/>
                            </a:srgbClr>
                          </a:solidFill>
                          <a:latin typeface="Arial" panose="020B0604020202020204"/>
                          <a:ea typeface="Arial" panose="020B0604020202020204"/>
                          <a:cs typeface="Arial" panose="020B0604020202020204"/>
                        </a:rPr>
                        <a:t>bits of</a:t>
                      </a:r>
                      <a:r>
                        <a:rPr sz="2400" kern="0" spc="80" dirty="0">
                          <a:solidFill>
                            <a:srgbClr val="000000">
                              <a:alpha val="100000"/>
                            </a:srgbClr>
                          </a:solidFill>
                          <a:latin typeface="Arial" panose="020B0604020202020204"/>
                          <a:ea typeface="Arial" panose="020B0604020202020204"/>
                          <a:cs typeface="Arial" panose="020B0604020202020204"/>
                        </a:rPr>
                        <a:t> </a:t>
                      </a:r>
                      <a:r>
                        <a:rPr sz="2400" kern="0" spc="-30" dirty="0">
                          <a:solidFill>
                            <a:srgbClr val="000000">
                              <a:alpha val="100000"/>
                            </a:srgbClr>
                          </a:solidFill>
                          <a:latin typeface="Arial" panose="020B0604020202020204"/>
                          <a:ea typeface="Arial" panose="020B0604020202020204"/>
                          <a:cs typeface="Arial" panose="020B0604020202020204"/>
                        </a:rPr>
                        <a:t>random</a:t>
                      </a:r>
                      <a:r>
                        <a:rPr sz="2400" kern="0" spc="160" dirty="0">
                          <a:solidFill>
                            <a:srgbClr val="000000">
                              <a:alpha val="100000"/>
                            </a:srgbClr>
                          </a:solidFill>
                          <a:latin typeface="Arial" panose="020B0604020202020204"/>
                          <a:ea typeface="Arial" panose="020B0604020202020204"/>
                          <a:cs typeface="Arial" panose="020B0604020202020204"/>
                        </a:rPr>
                        <a:t> </a:t>
                      </a:r>
                      <a:r>
                        <a:rPr sz="2400" kern="0" spc="-30" dirty="0">
                          <a:solidFill>
                            <a:srgbClr val="000000">
                              <a:alpha val="100000"/>
                            </a:srgbClr>
                          </a:solidFill>
                          <a:latin typeface="Arial" panose="020B0604020202020204"/>
                          <a:ea typeface="Arial" panose="020B0604020202020204"/>
                          <a:cs typeface="Arial" panose="020B0604020202020204"/>
                        </a:rPr>
                        <a:t>ke</a:t>
                      </a:r>
                      <a:r>
                        <a:rPr sz="2400" kern="0" spc="-40" dirty="0">
                          <a:solidFill>
                            <a:srgbClr val="000000">
                              <a:alpha val="100000"/>
                            </a:srgbClr>
                          </a:solidFill>
                          <a:latin typeface="Arial" panose="020B0604020202020204"/>
                          <a:ea typeface="Arial" panose="020B0604020202020204"/>
                          <a:cs typeface="Arial" panose="020B0604020202020204"/>
                        </a:rPr>
                        <a:t>y</a:t>
                      </a:r>
                      <a:r>
                        <a:rPr sz="2400" kern="0" spc="30" dirty="0">
                          <a:solidFill>
                            <a:srgbClr val="000000">
                              <a:alpha val="100000"/>
                            </a:srgbClr>
                          </a:solidFill>
                          <a:latin typeface="Arial" panose="020B0604020202020204"/>
                          <a:ea typeface="Arial" panose="020B0604020202020204"/>
                          <a:cs typeface="Arial" panose="020B0604020202020204"/>
                        </a:rPr>
                        <a:t>  </a:t>
                      </a:r>
                      <a:r>
                        <a:rPr sz="2000" kern="0" spc="-40" dirty="0">
                          <a:solidFill>
                            <a:srgbClr val="000000">
                              <a:alpha val="100000"/>
                            </a:srgbClr>
                          </a:solidFill>
                          <a:latin typeface="Courier New" panose="02070309020205020404"/>
                          <a:ea typeface="Courier New" panose="02070309020205020404"/>
                          <a:cs typeface="Courier New" panose="02070309020205020404"/>
                        </a:rPr>
                        <a:t>K</a:t>
                      </a:r>
                      <a:endParaRPr sz="2000" dirty="0">
                        <a:latin typeface="Courier New" panose="02070309020205020404"/>
                        <a:ea typeface="Courier New" panose="02070309020205020404"/>
                        <a:cs typeface="Courier New" panose="02070309020205020404"/>
                      </a:endParaRPr>
                    </a:p>
                    <a:p>
                      <a:pPr marL="207645" algn="l" rtl="0" eaLnBrk="0">
                        <a:lnSpc>
                          <a:spcPct val="80000"/>
                        </a:lnSpc>
                        <a:spcBef>
                          <a:spcPts val="1265"/>
                        </a:spcBef>
                        <a:tabLst>
                          <a:tab pos="377825" algn="l"/>
                          <a:tab pos="3947795" algn="l"/>
                        </a:tabLst>
                      </a:pPr>
                      <a:r>
                        <a:rPr sz="2100" strike="sngStrike" kern="0" spc="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0</a:t>
                      </a:r>
                      <a:r>
                        <a:rPr sz="2100" strike="sngStrike" kern="0" spc="44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45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44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42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0</a:t>
                      </a:r>
                      <a:r>
                        <a:rPr sz="2100" strike="sngStrike" kern="0" spc="45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44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45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0</a:t>
                      </a:r>
                      <a:r>
                        <a:rPr sz="2100" strike="sngStrike" kern="0" spc="42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9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440" dirty="0">
                          <a:solidFill>
                            <a:srgbClr val="000000">
                              <a:alpha val="100000"/>
                            </a:srgbClr>
                          </a:solidFill>
                          <a:latin typeface="Courier New" panose="02070309020205020404"/>
                          <a:ea typeface="Courier New" panose="02070309020205020404"/>
                          <a:cs typeface="Courier New" panose="02070309020205020404"/>
                        </a:rPr>
                        <a:t> </a:t>
                      </a:r>
                      <a:r>
                        <a:rPr sz="2100" strike="sngStrike" kern="0" spc="-100" dirty="0">
                          <a:solidFill>
                            <a:srgbClr val="000000">
                              <a:alpha val="100000"/>
                            </a:srgbClr>
                          </a:solidFill>
                          <a:latin typeface="Courier New" panose="02070309020205020404"/>
                          <a:ea typeface="Courier New" panose="02070309020205020404"/>
                          <a:cs typeface="Courier New" panose="02070309020205020404"/>
                        </a:rPr>
                        <a:t>1</a:t>
                      </a:r>
                      <a:r>
                        <a:rPr sz="2100" strike="sngStrike" kern="0" spc="0" dirty="0">
                          <a:solidFill>
                            <a:srgbClr val="000000">
                              <a:alpha val="100000"/>
                            </a:srgbClr>
                          </a:solidFill>
                          <a:latin typeface="Courier New" panose="02070309020205020404"/>
                          <a:ea typeface="Courier New" panose="02070309020205020404"/>
                          <a:cs typeface="Courier New" panose="02070309020205020404"/>
                        </a:rPr>
                        <a:t>	</a:t>
                      </a:r>
                      <a:endParaRPr sz="2100" dirty="0">
                        <a:latin typeface="Courier New" panose="02070309020205020404"/>
                        <a:ea typeface="Courier New" panose="02070309020205020404"/>
                        <a:cs typeface="Courier New" panose="020703090202050204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377825" algn="l" rtl="0" eaLnBrk="0">
                        <a:lnSpc>
                          <a:spcPct val="80000"/>
                        </a:lnSpc>
                        <a:spcBef>
                          <a:spcPts val="5"/>
                        </a:spcBef>
                      </a:pP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9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4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2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4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2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4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endParaRPr sz="2100" dirty="0">
                        <a:latin typeface="Courier New" panose="02070309020205020404"/>
                        <a:ea typeface="Courier New" panose="02070309020205020404"/>
                        <a:cs typeface="Courier New" panose="02070309020205020404"/>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3FBB8"/>
                    </a:solidFill>
                  </a:tcPr>
                </a:tc>
              </a:tr>
            </a:tbl>
          </a:graphicData>
        </a:graphic>
      </p:graphicFrame>
      <p:sp>
        <p:nvSpPr>
          <p:cNvPr id="60" name="textbox 60"/>
          <p:cNvSpPr/>
          <p:nvPr/>
        </p:nvSpPr>
        <p:spPr>
          <a:xfrm>
            <a:off x="7087260" y="3406571"/>
            <a:ext cx="2453639" cy="1756410"/>
          </a:xfrm>
          <a:prstGeom prst="rect">
            <a:avLst/>
          </a:prstGeom>
          <a:noFill/>
          <a:ln w="0" cap="flat">
            <a:noFill/>
            <a:prstDash val="solid"/>
            <a:miter lim="0"/>
          </a:ln>
        </p:spPr>
        <p:txBody>
          <a:bodyPr vert="horz" wrap="square" lIns="0" tIns="0" rIns="0" bIns="0"/>
          <a:lstStyle/>
          <a:p>
            <a:pPr algn="l" rtl="0" eaLnBrk="0">
              <a:lnSpc>
                <a:spcPct val="104000"/>
              </a:lnSpc>
            </a:pPr>
            <a:endParaRPr sz="100" dirty="0">
              <a:latin typeface="Arial" panose="020B0604020202020204"/>
              <a:ea typeface="Arial" panose="020B0604020202020204"/>
              <a:cs typeface="Arial" panose="020B0604020202020204"/>
            </a:endParaRPr>
          </a:p>
          <a:p>
            <a:pPr marL="18415" indent="-5715" algn="l" rtl="0" eaLnBrk="0">
              <a:lnSpc>
                <a:spcPct val="97000"/>
              </a:lnSpc>
              <a:spcBef>
                <a:spcPts val="0"/>
              </a:spcBef>
            </a:pPr>
            <a:r>
              <a:rPr sz="2400"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使用随机数序列，</a:t>
            </a:r>
            <a:r>
              <a:rPr sz="2400" kern="0" spc="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2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并且只能使用一次</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918210" algn="l" rtl="0" eaLnBrk="0">
              <a:lnSpc>
                <a:spcPct val="104000"/>
              </a:lnSpc>
            </a:pP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0</a:t>
            </a:r>
            <a:r>
              <a:rPr sz="2400" b="1"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0 =</a:t>
            </a:r>
            <a:r>
              <a:rPr sz="24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0</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0</a:t>
            </a:r>
            <a:r>
              <a:rPr sz="2400" b="1"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1 =</a:t>
            </a:r>
            <a:r>
              <a:rPr sz="2400" b="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1</a:t>
            </a:r>
            <a:endParaRPr sz="2400" dirty="0">
              <a:latin typeface="Times New Roman" panose="02020603050405020304"/>
              <a:ea typeface="Times New Roman" panose="02020603050405020304"/>
              <a:cs typeface="Times New Roman" panose="02020603050405020304"/>
            </a:endParaRPr>
          </a:p>
        </p:txBody>
      </p:sp>
      <p:pic>
        <p:nvPicPr>
          <p:cNvPr id="62" name="picture 62"/>
          <p:cNvPicPr>
            <a:picLocks noChangeAspect="1"/>
          </p:cNvPicPr>
          <p:nvPr/>
        </p:nvPicPr>
        <p:blipFill>
          <a:blip r:embed="rId2"/>
          <a:stretch>
            <a:fillRect/>
          </a:stretch>
        </p:blipFill>
        <p:spPr>
          <a:xfrm rot="21600000">
            <a:off x="2025395" y="2017776"/>
            <a:ext cx="3942588" cy="926591"/>
          </a:xfrm>
          <a:prstGeom prst="rect">
            <a:avLst/>
          </a:prstGeom>
        </p:spPr>
      </p:pic>
      <p:graphicFrame>
        <p:nvGraphicFramePr>
          <p:cNvPr id="64" name="table 64"/>
          <p:cNvGraphicFramePr>
            <a:graphicFrameLocks noGrp="1"/>
          </p:cNvGraphicFramePr>
          <p:nvPr/>
        </p:nvGraphicFramePr>
        <p:xfrm>
          <a:off x="2019300" y="2011679"/>
          <a:ext cx="3870959" cy="854709"/>
        </p:xfrm>
        <a:graphic>
          <a:graphicData uri="http://schemas.openxmlformats.org/drawingml/2006/table">
            <a:tbl>
              <a:tblPr/>
              <a:tblGrid>
                <a:gridCol w="3870959"/>
              </a:tblGrid>
              <a:tr h="845184">
                <a:tc>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869440" algn="l" rtl="0" eaLnBrk="0">
                        <a:lnSpc>
                          <a:spcPct val="98000"/>
                        </a:lnSpc>
                      </a:pPr>
                      <a:r>
                        <a:rPr sz="2400" kern="0" spc="-20" dirty="0">
                          <a:solidFill>
                            <a:srgbClr val="000000">
                              <a:alpha val="100000"/>
                            </a:srgbClr>
                          </a:solidFill>
                          <a:latin typeface="Arial" panose="020B0604020202020204"/>
                          <a:ea typeface="Arial" panose="020B0604020202020204"/>
                          <a:cs typeface="Arial" panose="020B0604020202020204"/>
                        </a:rPr>
                        <a:t>m</a:t>
                      </a:r>
                      <a:endParaRPr sz="2400" dirty="0">
                        <a:latin typeface="Arial" panose="020B0604020202020204"/>
                        <a:ea typeface="Arial" panose="020B0604020202020204"/>
                        <a:cs typeface="Arial" panose="020B0604020202020204"/>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66" name="picture 66"/>
          <p:cNvPicPr>
            <a:picLocks noChangeAspect="1"/>
          </p:cNvPicPr>
          <p:nvPr/>
        </p:nvPicPr>
        <p:blipFill>
          <a:blip r:embed="rId3"/>
          <a:stretch>
            <a:fillRect/>
          </a:stretch>
        </p:blipFill>
        <p:spPr>
          <a:xfrm rot="21600000">
            <a:off x="7702296" y="2017776"/>
            <a:ext cx="2406395" cy="926591"/>
          </a:xfrm>
          <a:prstGeom prst="rect">
            <a:avLst/>
          </a:prstGeom>
        </p:spPr>
      </p:pic>
      <p:graphicFrame>
        <p:nvGraphicFramePr>
          <p:cNvPr id="68" name="table 68"/>
          <p:cNvGraphicFramePr>
            <a:graphicFrameLocks noGrp="1"/>
          </p:cNvGraphicFramePr>
          <p:nvPr/>
        </p:nvGraphicFramePr>
        <p:xfrm>
          <a:off x="7696200" y="2011679"/>
          <a:ext cx="2334259" cy="854709"/>
        </p:xfrm>
        <a:graphic>
          <a:graphicData uri="http://schemas.openxmlformats.org/drawingml/2006/table">
            <a:tbl>
              <a:tblPr/>
              <a:tblGrid>
                <a:gridCol w="2334259"/>
              </a:tblGrid>
              <a:tr h="845184">
                <a:tc>
                  <a:txBody>
                    <a:bodyPr/>
                    <a:lstStyle/>
                    <a:p>
                      <a:pPr algn="l" rtl="0" eaLnBrk="0">
                        <a:lnSpc>
                          <a:spcPct val="179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715010" algn="l" rtl="0" eaLnBrk="0">
                        <a:lnSpc>
                          <a:spcPct val="96000"/>
                        </a:lnSpc>
                      </a:pPr>
                      <a:r>
                        <a:rPr sz="24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密文</a:t>
                      </a:r>
                      <a:r>
                        <a:rPr sz="2400" kern="0" spc="2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000" kern="0" spc="-40" dirty="0">
                          <a:solidFill>
                            <a:srgbClr val="000000">
                              <a:alpha val="100000"/>
                            </a:srgbClr>
                          </a:solidFill>
                          <a:latin typeface="Courier New" panose="02070309020205020404"/>
                          <a:ea typeface="Courier New" panose="02070309020205020404"/>
                          <a:cs typeface="Courier New" panose="02070309020205020404"/>
                        </a:rPr>
                        <a:t>C</a:t>
                      </a:r>
                      <a:endParaRPr sz="2000" dirty="0">
                        <a:latin typeface="Courier New" panose="02070309020205020404"/>
                        <a:ea typeface="Courier New" panose="02070309020205020404"/>
                        <a:cs typeface="Courier New" panose="02070309020205020404"/>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70" name="table 70"/>
          <p:cNvGraphicFramePr>
            <a:graphicFrameLocks noGrp="1"/>
          </p:cNvGraphicFramePr>
          <p:nvPr/>
        </p:nvGraphicFramePr>
        <p:xfrm>
          <a:off x="1921764" y="4527803"/>
          <a:ext cx="3777615" cy="473710"/>
        </p:xfrm>
        <a:graphic>
          <a:graphicData uri="http://schemas.openxmlformats.org/drawingml/2006/table">
            <a:tbl>
              <a:tblPr/>
              <a:tblGrid>
                <a:gridCol w="3777615"/>
              </a:tblGrid>
              <a:tr h="435610">
                <a:tc>
                  <a:txBody>
                    <a:bodyPr/>
                    <a:lstStyle/>
                    <a:p>
                      <a:pPr algn="l" rtl="0" eaLnBrk="0">
                        <a:lnSpc>
                          <a:spcPct val="100000"/>
                        </a:lnSpc>
                      </a:pPr>
                      <a:endParaRPr sz="900" dirty="0">
                        <a:latin typeface="Arial" panose="020B0604020202020204"/>
                        <a:ea typeface="Arial" panose="020B0604020202020204"/>
                        <a:cs typeface="Arial" panose="020B0604020202020204"/>
                      </a:endParaRPr>
                    </a:p>
                    <a:p>
                      <a:pPr marL="188595" algn="l" rtl="0" eaLnBrk="0">
                        <a:lnSpc>
                          <a:spcPct val="80000"/>
                        </a:lnSpc>
                        <a:spcBef>
                          <a:spcPts val="5"/>
                        </a:spcBef>
                      </a:pP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9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4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2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4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r>
                        <a:rPr sz="2100" kern="0" spc="42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1</a:t>
                      </a:r>
                      <a:r>
                        <a:rPr sz="2100" kern="0" spc="450" dirty="0">
                          <a:solidFill>
                            <a:srgbClr val="000000">
                              <a:alpha val="100000"/>
                            </a:srgbClr>
                          </a:solidFill>
                          <a:latin typeface="Courier New" panose="02070309020205020404"/>
                          <a:ea typeface="Courier New" panose="02070309020205020404"/>
                          <a:cs typeface="Courier New" panose="02070309020205020404"/>
                        </a:rPr>
                        <a:t> </a:t>
                      </a:r>
                      <a:r>
                        <a:rPr sz="2100" kern="0" spc="-70" dirty="0">
                          <a:solidFill>
                            <a:srgbClr val="000000">
                              <a:alpha val="100000"/>
                            </a:srgbClr>
                          </a:solidFill>
                          <a:latin typeface="Courier New" panose="02070309020205020404"/>
                          <a:ea typeface="Courier New" panose="02070309020205020404"/>
                          <a:cs typeface="Courier New" panose="02070309020205020404"/>
                        </a:rPr>
                        <a:t>0</a:t>
                      </a:r>
                      <a:endParaRPr sz="2100" dirty="0">
                        <a:latin typeface="Courier New" panose="02070309020205020404"/>
                        <a:ea typeface="Courier New" panose="02070309020205020404"/>
                        <a:cs typeface="Courier New" panose="02070309020205020404"/>
                      </a:endParaRPr>
                    </a:p>
                  </a:txBody>
                  <a:tcPr marL="0" marR="0" marT="0" marB="0" vert="horz">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pic>
        <p:nvPicPr>
          <p:cNvPr id="72" name="picture 72"/>
          <p:cNvPicPr>
            <a:picLocks noChangeAspect="1"/>
          </p:cNvPicPr>
          <p:nvPr/>
        </p:nvPicPr>
        <p:blipFill>
          <a:blip r:embed="rId4"/>
          <a:stretch>
            <a:fillRect/>
          </a:stretch>
        </p:blipFill>
        <p:spPr>
          <a:xfrm rot="21600000">
            <a:off x="5883402" y="2153411"/>
            <a:ext cx="1819655" cy="669035"/>
          </a:xfrm>
          <a:prstGeom prst="rect">
            <a:avLst/>
          </a:prstGeom>
        </p:spPr>
      </p:pic>
      <p:sp>
        <p:nvSpPr>
          <p:cNvPr id="74" name="textbox 74"/>
          <p:cNvSpPr/>
          <p:nvPr/>
        </p:nvSpPr>
        <p:spPr>
          <a:xfrm>
            <a:off x="1566572" y="466821"/>
            <a:ext cx="2452370" cy="4889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5000"/>
              </a:lnSpc>
            </a:pPr>
            <a:r>
              <a:rPr sz="3200" b="1" kern="0" spc="-40" dirty="0">
                <a:solidFill>
                  <a:srgbClr val="800000">
                    <a:alpha val="100000"/>
                  </a:srgbClr>
                </a:solidFill>
                <a:latin typeface="宋体" panose="02010600030101010101" pitchFamily="2" charset="-122"/>
                <a:ea typeface="宋体" panose="02010600030101010101" pitchFamily="2" charset="-122"/>
                <a:cs typeface="宋体" panose="02010600030101010101" pitchFamily="2" charset="-122"/>
              </a:rPr>
              <a:t>一次一密密码</a:t>
            </a:r>
            <a:endParaRPr sz="3200" dirty="0">
              <a:latin typeface="宋体" panose="02010600030101010101" pitchFamily="2" charset="-122"/>
              <a:ea typeface="宋体" panose="02010600030101010101" pitchFamily="2" charset="-122"/>
              <a:cs typeface="宋体" panose="02010600030101010101" pitchFamily="2" charset="-122"/>
            </a:endParaRPr>
          </a:p>
        </p:txBody>
      </p:sp>
      <p:sp>
        <p:nvSpPr>
          <p:cNvPr id="78" name="textbox 78"/>
          <p:cNvSpPr/>
          <p:nvPr/>
        </p:nvSpPr>
        <p:spPr>
          <a:xfrm>
            <a:off x="8002320" y="5106466"/>
            <a:ext cx="1095375" cy="785494"/>
          </a:xfrm>
          <a:prstGeom prst="rect">
            <a:avLst/>
          </a:prstGeom>
          <a:noFill/>
          <a:ln w="0" cap="flat">
            <a:noFill/>
            <a:prstDash val="solid"/>
            <a:miter lim="0"/>
          </a:ln>
        </p:spPr>
        <p:txBody>
          <a:bodyPr vert="horz" wrap="square" lIns="0" tIns="0" rIns="0" bIns="0"/>
          <a:lstStyle/>
          <a:p>
            <a:pPr algn="l" rtl="0" eaLnBrk="0">
              <a:lnSpc>
                <a:spcPct val="99000"/>
              </a:lnSpc>
            </a:pPr>
            <a:endParaRPr sz="100" dirty="0">
              <a:latin typeface="Arial" panose="020B0604020202020204"/>
              <a:ea typeface="Arial" panose="020B0604020202020204"/>
              <a:cs typeface="Arial" panose="020B0604020202020204"/>
            </a:endParaRPr>
          </a:p>
          <a:p>
            <a:pPr marL="12700" algn="l" rtl="0" eaLnBrk="0">
              <a:lnSpc>
                <a:spcPct val="108000"/>
              </a:lnSpc>
            </a:pPr>
            <a:r>
              <a:rPr sz="2300" b="1" kern="0" spc="-110" dirty="0">
                <a:solidFill>
                  <a:srgbClr val="000000">
                    <a:alpha val="100000"/>
                  </a:srgbClr>
                </a:solidFill>
                <a:latin typeface="Times New Roman" panose="02020603050405020304"/>
                <a:ea typeface="Times New Roman" panose="02020603050405020304"/>
                <a:cs typeface="Times New Roman" panose="02020603050405020304"/>
              </a:rPr>
              <a:t>1 </a:t>
            </a:r>
            <a:r>
              <a:rPr sz="2300" b="1"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300" b="1" kern="0" spc="-110" dirty="0">
                <a:solidFill>
                  <a:srgbClr val="000000">
                    <a:alpha val="100000"/>
                  </a:srgbClr>
                </a:solidFill>
                <a:latin typeface="Times New Roman" panose="02020603050405020304"/>
                <a:ea typeface="Times New Roman" panose="02020603050405020304"/>
                <a:cs typeface="Times New Roman" panose="02020603050405020304"/>
              </a:rPr>
              <a:t>0</a:t>
            </a:r>
            <a:r>
              <a:rPr sz="2300" b="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300" b="1"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300" b="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300" b="1" kern="0" spc="-110" dirty="0">
                <a:solidFill>
                  <a:srgbClr val="000000">
                    <a:alpha val="100000"/>
                  </a:srgbClr>
                </a:solidFill>
                <a:latin typeface="Times New Roman" panose="02020603050405020304"/>
                <a:ea typeface="Times New Roman" panose="02020603050405020304"/>
                <a:cs typeface="Times New Roman" panose="02020603050405020304"/>
              </a:rPr>
              <a:t>1</a:t>
            </a:r>
            <a:r>
              <a:rPr sz="23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300" b="1"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2300" b="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300" b="1" kern="0"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300" b="1"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2300" b="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300" b="1"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3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300" b="1" kern="0" spc="-100" dirty="0">
                <a:solidFill>
                  <a:srgbClr val="000000">
                    <a:alpha val="100000"/>
                  </a:srgbClr>
                </a:solidFill>
                <a:latin typeface="Times New Roman" panose="02020603050405020304"/>
                <a:ea typeface="Times New Roman" panose="02020603050405020304"/>
                <a:cs typeface="Times New Roman" panose="02020603050405020304"/>
              </a:rPr>
              <a:t>0</a:t>
            </a:r>
            <a:endParaRPr sz="2300" dirty="0">
              <a:latin typeface="Times New Roman" panose="02020603050405020304"/>
              <a:ea typeface="Times New Roman" panose="02020603050405020304"/>
              <a:cs typeface="Times New Roman" panose="02020603050405020304"/>
            </a:endParaRPr>
          </a:p>
        </p:txBody>
      </p:sp>
      <p:sp>
        <p:nvSpPr>
          <p:cNvPr id="80" name="path 80"/>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82" name="picture 82"/>
          <p:cNvPicPr>
            <a:picLocks noChangeAspect="1"/>
          </p:cNvPicPr>
          <p:nvPr/>
        </p:nvPicPr>
        <p:blipFill>
          <a:blip r:embed="rId5"/>
          <a:stretch>
            <a:fillRect/>
          </a:stretch>
        </p:blipFill>
        <p:spPr>
          <a:xfrm rot="21600000">
            <a:off x="824483" y="408431"/>
            <a:ext cx="419100" cy="655320"/>
          </a:xfrm>
          <a:prstGeom prst="rect">
            <a:avLst/>
          </a:prstGeom>
        </p:spPr>
      </p:pic>
      <p:sp>
        <p:nvSpPr>
          <p:cNvPr id="84" name="path 84"/>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86" name="path 86"/>
          <p:cNvSpPr/>
          <p:nvPr/>
        </p:nvSpPr>
        <p:spPr>
          <a:xfrm>
            <a:off x="5680709" y="4713732"/>
            <a:ext cx="1213104" cy="38100"/>
          </a:xfrm>
          <a:custGeom>
            <a:avLst/>
            <a:gdLst/>
            <a:ahLst/>
            <a:cxnLst/>
            <a:rect l="0" t="0" r="0" b="0"/>
            <a:pathLst>
              <a:path w="1910" h="60">
                <a:moveTo>
                  <a:pt x="0" y="30"/>
                </a:moveTo>
                <a:lnTo>
                  <a:pt x="1910" y="30"/>
                </a:lnTo>
              </a:path>
            </a:pathLst>
          </a:custGeom>
          <a:noFill/>
          <a:ln w="38100" cap="flat">
            <a:solidFill>
              <a:srgbClr val="FF0000"/>
            </a:solidFill>
            <a:prstDash val="solid"/>
            <a:round/>
          </a:ln>
        </p:spPr>
        <p:txBody>
          <a:bodyPr rtlCol="0"/>
          <a:lstStyle/>
          <a:p>
            <a:pPr algn="ctr"/>
            <a:endParaRPr lang="zh-CN" altLang="en-US"/>
          </a:p>
        </p:txBody>
      </p:sp>
      <p:pic>
        <p:nvPicPr>
          <p:cNvPr id="88" name="picture 88"/>
          <p:cNvPicPr>
            <a:picLocks noChangeAspect="1"/>
          </p:cNvPicPr>
          <p:nvPr/>
        </p:nvPicPr>
        <p:blipFill>
          <a:blip r:embed="rId6"/>
          <a:stretch>
            <a:fillRect/>
          </a:stretch>
        </p:blipFill>
        <p:spPr>
          <a:xfrm rot="21600000">
            <a:off x="6836664" y="2673858"/>
            <a:ext cx="114300" cy="2058923"/>
          </a:xfrm>
          <a:prstGeom prst="rect">
            <a:avLst/>
          </a:prstGeom>
        </p:spPr>
      </p:pic>
      <p:sp>
        <p:nvSpPr>
          <p:cNvPr id="90" name="textbox 90"/>
          <p:cNvSpPr/>
          <p:nvPr/>
        </p:nvSpPr>
        <p:spPr>
          <a:xfrm>
            <a:off x="6483162" y="1713145"/>
            <a:ext cx="619759" cy="37274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24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异或</a:t>
            </a:r>
            <a:endParaRPr sz="2400" dirty="0">
              <a:latin typeface="宋体" panose="02010600030101010101" pitchFamily="2" charset="-122"/>
              <a:ea typeface="宋体" panose="02010600030101010101" pitchFamily="2" charset="-122"/>
              <a:cs typeface="宋体" panose="02010600030101010101" pitchFamily="2" charset="-122"/>
            </a:endParaRPr>
          </a:p>
        </p:txBody>
      </p:sp>
      <p:sp>
        <p:nvSpPr>
          <p:cNvPr id="92" name="textbox 92"/>
          <p:cNvSpPr/>
          <p:nvPr/>
        </p:nvSpPr>
        <p:spPr>
          <a:xfrm>
            <a:off x="6395170" y="3415055"/>
            <a:ext cx="189229" cy="4864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3625"/>
              </a:lnSpc>
            </a:pPr>
            <a:r>
              <a:rPr sz="2600" kern="0" spc="-130" dirty="0">
                <a:solidFill>
                  <a:srgbClr val="FF3300">
                    <a:alpha val="100000"/>
                  </a:srgbClr>
                </a:solidFill>
                <a:latin typeface="Comic Sans MS" panose="030F0702030302020204"/>
                <a:ea typeface="Comic Sans MS" panose="030F0702030302020204"/>
                <a:cs typeface="Comic Sans MS" panose="030F0702030302020204"/>
              </a:rPr>
              <a:t>k</a:t>
            </a:r>
            <a:endParaRPr sz="2600" dirty="0">
              <a:latin typeface="Comic Sans MS" panose="030F0702030302020204"/>
              <a:ea typeface="Comic Sans MS" panose="030F0702030302020204"/>
              <a:cs typeface="Comic Sans MS" panose="030F07020303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box 94"/>
          <p:cNvSpPr/>
          <p:nvPr/>
        </p:nvSpPr>
        <p:spPr>
          <a:xfrm>
            <a:off x="1465298" y="1371756"/>
            <a:ext cx="8655684" cy="328802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3340"/>
              </a:lnSpc>
            </a:pPr>
            <a:r>
              <a:rPr sz="2700" kern="0" spc="-40" dirty="0">
                <a:solidFill>
                  <a:srgbClr val="000000">
                    <a:alpha val="100000"/>
                  </a:srgbClr>
                </a:solidFill>
                <a:latin typeface="Arial" panose="020B0604020202020204"/>
                <a:ea typeface="Arial" panose="020B0604020202020204"/>
                <a:cs typeface="Arial" panose="020B0604020202020204"/>
              </a:rPr>
              <a:t>•</a:t>
            </a:r>
            <a:r>
              <a:rPr sz="2700" kern="0" spc="260" dirty="0">
                <a:solidFill>
                  <a:srgbClr val="000000">
                    <a:alpha val="100000"/>
                  </a:srgbClr>
                </a:solidFill>
                <a:latin typeface="Arial" panose="020B0604020202020204"/>
                <a:ea typeface="Arial" panose="020B0604020202020204"/>
                <a:cs typeface="Arial" panose="020B0604020202020204"/>
              </a:rPr>
              <a:t> </a:t>
            </a:r>
            <a:r>
              <a:rPr sz="2700" b="1" kern="0" spc="-40" dirty="0">
                <a:solidFill>
                  <a:srgbClr val="000000">
                    <a:alpha val="100000"/>
                  </a:srgbClr>
                </a:solidFill>
                <a:latin typeface="仿宋" panose="02010609060101010101" charset="-122"/>
                <a:ea typeface="仿宋" panose="02010609060101010101" charset="-122"/>
                <a:cs typeface="仿宋" panose="02010609060101010101" charset="-122"/>
              </a:rPr>
              <a:t>优点：</a:t>
            </a:r>
            <a:endParaRPr sz="2700" dirty="0">
              <a:latin typeface="仿宋" panose="02010609060101010101" charset="-122"/>
              <a:ea typeface="仿宋" panose="02010609060101010101" charset="-122"/>
              <a:cs typeface="仿宋" panose="02010609060101010101" charset="-122"/>
            </a:endParaRPr>
          </a:p>
          <a:p>
            <a:pPr marL="466725" algn="l" rtl="0" eaLnBrk="0">
              <a:lnSpc>
                <a:spcPct val="100000"/>
              </a:lnSpc>
              <a:spcBef>
                <a:spcPts val="1400"/>
              </a:spcBef>
            </a:pPr>
            <a:r>
              <a:rPr sz="2400" kern="0" spc="-40" dirty="0">
                <a:solidFill>
                  <a:srgbClr val="000000">
                    <a:alpha val="100000"/>
                  </a:srgbClr>
                </a:solidFill>
                <a:latin typeface="Arial" panose="020B0604020202020204"/>
                <a:ea typeface="Arial" panose="020B0604020202020204"/>
                <a:cs typeface="Arial" panose="020B0604020202020204"/>
              </a:rPr>
              <a:t>•</a:t>
            </a:r>
            <a:r>
              <a:rPr sz="2400" kern="0" spc="650" dirty="0">
                <a:solidFill>
                  <a:srgbClr val="000000">
                    <a:alpha val="100000"/>
                  </a:srgbClr>
                </a:solidFill>
                <a:latin typeface="Arial" panose="020B0604020202020204"/>
                <a:ea typeface="Arial" panose="020B0604020202020204"/>
                <a:cs typeface="Arial" panose="020B06040202020202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密钥随机产生，仅使用一次</a:t>
            </a:r>
            <a:endParaRPr sz="2400" dirty="0">
              <a:latin typeface="仿宋" panose="02010609060101010101" charset="-122"/>
              <a:ea typeface="仿宋" panose="02010609060101010101" charset="-122"/>
              <a:cs typeface="仿宋" panose="02010609060101010101" charset="-122"/>
            </a:endParaRPr>
          </a:p>
          <a:p>
            <a:pPr marL="466725" algn="l" rtl="0" eaLnBrk="0">
              <a:lnSpc>
                <a:spcPct val="100000"/>
              </a:lnSpc>
              <a:spcBef>
                <a:spcPts val="1360"/>
              </a:spcBef>
            </a:pPr>
            <a:r>
              <a:rPr sz="2400" kern="0" spc="-6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无条件安全</a:t>
            </a:r>
            <a:endParaRPr sz="2400" dirty="0">
              <a:latin typeface="仿宋" panose="02010609060101010101" charset="-122"/>
              <a:ea typeface="仿宋" panose="02010609060101010101" charset="-122"/>
              <a:cs typeface="仿宋" panose="02010609060101010101" charset="-122"/>
            </a:endParaRPr>
          </a:p>
          <a:p>
            <a:pPr marL="12700" indent="454025" algn="l" rtl="0" eaLnBrk="0">
              <a:lnSpc>
                <a:spcPct val="135000"/>
              </a:lnSpc>
              <a:spcBef>
                <a:spcPts val="1340"/>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450" dirty="0">
                <a:solidFill>
                  <a:srgbClr val="000000">
                    <a:alpha val="100000"/>
                  </a:srgbClr>
                </a:solidFill>
                <a:latin typeface="Arial" panose="020B0604020202020204"/>
                <a:ea typeface="Arial" panose="020B0604020202020204"/>
                <a:cs typeface="Arial" panose="020B06040202020202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加密和解密为加法运算，效率较高</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40" dirty="0">
                <a:solidFill>
                  <a:srgbClr val="000000">
                    <a:alpha val="100000"/>
                  </a:srgbClr>
                </a:solidFill>
                <a:latin typeface="Arial" panose="020B0604020202020204"/>
                <a:ea typeface="Arial" panose="020B0604020202020204"/>
                <a:cs typeface="Arial" panose="020B0604020202020204"/>
              </a:rPr>
              <a:t>•</a:t>
            </a:r>
            <a:r>
              <a:rPr sz="2700" kern="0" spc="260" dirty="0">
                <a:solidFill>
                  <a:srgbClr val="000000">
                    <a:alpha val="100000"/>
                  </a:srgbClr>
                </a:solidFill>
                <a:latin typeface="Arial" panose="020B0604020202020204"/>
                <a:ea typeface="Arial" panose="020B0604020202020204"/>
                <a:cs typeface="Arial" panose="020B0604020202020204"/>
              </a:rPr>
              <a:t> </a:t>
            </a:r>
            <a:r>
              <a:rPr sz="2700" b="1" kern="0" spc="-40" dirty="0">
                <a:solidFill>
                  <a:srgbClr val="000000">
                    <a:alpha val="100000"/>
                  </a:srgbClr>
                </a:solidFill>
                <a:latin typeface="仿宋" panose="02010609060101010101" charset="-122"/>
                <a:ea typeface="仿宋" panose="02010609060101010101" charset="-122"/>
                <a:cs typeface="仿宋" panose="02010609060101010101" charset="-122"/>
              </a:rPr>
              <a:t>缺点：</a:t>
            </a:r>
            <a:endParaRPr sz="2700" dirty="0">
              <a:latin typeface="仿宋" panose="02010609060101010101" charset="-122"/>
              <a:ea typeface="仿宋" panose="02010609060101010101" charset="-122"/>
              <a:cs typeface="仿宋" panose="02010609060101010101" charset="-122"/>
            </a:endParaRPr>
          </a:p>
          <a:p>
            <a:pPr algn="l" rtl="0" eaLnBrk="0">
              <a:lnSpc>
                <a:spcPct val="103000"/>
              </a:lnSpc>
            </a:pPr>
            <a:endParaRPr sz="1100" dirty="0">
              <a:latin typeface="Arial" panose="020B0604020202020204"/>
              <a:ea typeface="Arial" panose="020B0604020202020204"/>
              <a:cs typeface="Arial" panose="020B0604020202020204"/>
            </a:endParaRPr>
          </a:p>
          <a:p>
            <a:pPr algn="l" rtl="0" eaLnBrk="0">
              <a:lnSpc>
                <a:spcPct val="11000"/>
              </a:lnSpc>
            </a:pPr>
            <a:endParaRPr sz="100" dirty="0">
              <a:latin typeface="Arial" panose="020B0604020202020204"/>
              <a:ea typeface="Arial" panose="020B0604020202020204"/>
              <a:cs typeface="Arial" panose="020B0604020202020204"/>
            </a:endParaRPr>
          </a:p>
          <a:p>
            <a:pPr algn="r" rtl="0" eaLnBrk="0">
              <a:lnSpc>
                <a:spcPct val="99000"/>
              </a:lnSpc>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570" dirty="0">
                <a:solidFill>
                  <a:srgbClr val="000000">
                    <a:alpha val="100000"/>
                  </a:srgbClr>
                </a:solidFill>
                <a:latin typeface="Arial" panose="020B0604020202020204"/>
                <a:ea typeface="Arial" panose="020B0604020202020204"/>
                <a:cs typeface="Arial" panose="020B06040202020202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密钥长度至少与明</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文长度一样长，密钥共享困难，不太实用</a:t>
            </a:r>
            <a:endParaRPr sz="2400" dirty="0">
              <a:latin typeface="仿宋" panose="02010609060101010101" charset="-122"/>
              <a:ea typeface="仿宋" panose="02010609060101010101" charset="-122"/>
              <a:cs typeface="仿宋" panose="02010609060101010101" charset="-122"/>
            </a:endParaRPr>
          </a:p>
        </p:txBody>
      </p:sp>
      <p:sp>
        <p:nvSpPr>
          <p:cNvPr id="96" name="textbox 96"/>
          <p:cNvSpPr/>
          <p:nvPr/>
        </p:nvSpPr>
        <p:spPr>
          <a:xfrm>
            <a:off x="1577559" y="488157"/>
            <a:ext cx="3662679" cy="487044"/>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一次一密密码的特点</a:t>
            </a:r>
            <a:endParaRPr sz="3200" dirty="0">
              <a:latin typeface="仿宋" panose="02010609060101010101" charset="-122"/>
              <a:ea typeface="仿宋" panose="02010609060101010101" charset="-122"/>
              <a:cs typeface="仿宋" panose="02010609060101010101" charset="-122"/>
            </a:endParaRPr>
          </a:p>
        </p:txBody>
      </p:sp>
      <p:sp>
        <p:nvSpPr>
          <p:cNvPr id="100" name="path 100"/>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02" name="picture 102"/>
          <p:cNvPicPr>
            <a:picLocks noChangeAspect="1"/>
          </p:cNvPicPr>
          <p:nvPr/>
        </p:nvPicPr>
        <p:blipFill>
          <a:blip r:embed="rId1"/>
          <a:stretch>
            <a:fillRect/>
          </a:stretch>
        </p:blipFill>
        <p:spPr>
          <a:xfrm rot="21600000">
            <a:off x="824483" y="408431"/>
            <a:ext cx="419100" cy="655320"/>
          </a:xfrm>
          <a:prstGeom prst="rect">
            <a:avLst/>
          </a:prstGeom>
        </p:spPr>
      </p:pic>
      <p:sp>
        <p:nvSpPr>
          <p:cNvPr id="104" name="path 104"/>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rot="21600000">
            <a:off x="2873248" y="1926843"/>
            <a:ext cx="5864351" cy="813816"/>
            <a:chOff x="0" y="0"/>
            <a:chExt cx="5864351" cy="813816"/>
          </a:xfrm>
        </p:grpSpPr>
        <p:pic>
          <p:nvPicPr>
            <p:cNvPr id="106" name="picture 106"/>
            <p:cNvPicPr>
              <a:picLocks noChangeAspect="1"/>
            </p:cNvPicPr>
            <p:nvPr/>
          </p:nvPicPr>
          <p:blipFill>
            <a:blip r:embed="rId1"/>
            <a:stretch>
              <a:fillRect/>
            </a:stretch>
          </p:blipFill>
          <p:spPr>
            <a:xfrm rot="21600000">
              <a:off x="0" y="0"/>
              <a:ext cx="5864351" cy="813816"/>
            </a:xfrm>
            <a:prstGeom prst="rect">
              <a:avLst/>
            </a:prstGeom>
          </p:spPr>
        </p:pic>
        <p:sp>
          <p:nvSpPr>
            <p:cNvPr id="108" name="textbox 108"/>
            <p:cNvSpPr/>
            <p:nvPr/>
          </p:nvSpPr>
          <p:spPr>
            <a:xfrm>
              <a:off x="-12700" y="-12700"/>
              <a:ext cx="5890259" cy="880744"/>
            </a:xfrm>
            <a:prstGeom prst="rect">
              <a:avLst/>
            </a:prstGeom>
            <a:noFill/>
            <a:ln w="0" cap="flat">
              <a:noFill/>
              <a:prstDash val="solid"/>
              <a:miter lim="0"/>
            </a:ln>
          </p:spPr>
          <p:txBody>
            <a:bodyPr vert="horz" wrap="square" lIns="0" tIns="0" rIns="0" bIns="0"/>
            <a:lstStyle/>
            <a:p>
              <a:pPr algn="l" rtl="0" eaLnBrk="0">
                <a:lnSpc>
                  <a:spcPct val="166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683260" algn="l" rtl="0" eaLnBrk="0">
                <a:lnSpc>
                  <a:spcPct val="95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一次一密</a:t>
              </a:r>
              <a:endParaRPr sz="2400" dirty="0">
                <a:latin typeface="仿宋" panose="02010609060101010101" charset="-122"/>
                <a:ea typeface="仿宋" panose="02010609060101010101" charset="-122"/>
                <a:cs typeface="仿宋" panose="02010609060101010101" charset="-122"/>
              </a:endParaRPr>
            </a:p>
          </p:txBody>
        </p:sp>
      </p:grpSp>
      <p:grpSp>
        <p:nvGrpSpPr>
          <p:cNvPr id="12" name="group 12"/>
          <p:cNvGrpSpPr/>
          <p:nvPr/>
        </p:nvGrpSpPr>
        <p:grpSpPr>
          <a:xfrm rot="21600000">
            <a:off x="3243579" y="3095752"/>
            <a:ext cx="5507735" cy="812291"/>
            <a:chOff x="0" y="0"/>
            <a:chExt cx="5507735" cy="812291"/>
          </a:xfrm>
        </p:grpSpPr>
        <p:pic>
          <p:nvPicPr>
            <p:cNvPr id="110" name="picture 110"/>
            <p:cNvPicPr>
              <a:picLocks noChangeAspect="1"/>
            </p:cNvPicPr>
            <p:nvPr/>
          </p:nvPicPr>
          <p:blipFill>
            <a:blip r:embed="rId2"/>
            <a:stretch>
              <a:fillRect/>
            </a:stretch>
          </p:blipFill>
          <p:spPr>
            <a:xfrm rot="21600000">
              <a:off x="0" y="0"/>
              <a:ext cx="5507735" cy="812291"/>
            </a:xfrm>
            <a:prstGeom prst="rect">
              <a:avLst/>
            </a:prstGeom>
          </p:spPr>
        </p:pic>
        <p:sp>
          <p:nvSpPr>
            <p:cNvPr id="112" name="textbox 112"/>
            <p:cNvSpPr/>
            <p:nvPr/>
          </p:nvSpPr>
          <p:spPr>
            <a:xfrm>
              <a:off x="-12700" y="-12700"/>
              <a:ext cx="5533390" cy="881380"/>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a:ea typeface="Arial" panose="020B0604020202020204"/>
                <a:cs typeface="Arial" panose="020B0604020202020204"/>
              </a:endParaRPr>
            </a:p>
            <a:p>
              <a:pPr marL="678180" algn="l" rtl="0" eaLnBrk="0">
                <a:lnSpc>
                  <a:spcPct val="95000"/>
                </a:lnSpc>
                <a:spcBef>
                  <a:spcPts val="0"/>
                </a:spcBef>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流密码的定义</a:t>
              </a:r>
              <a:endParaRPr sz="2400" dirty="0">
                <a:latin typeface="仿宋" panose="02010609060101010101" charset="-122"/>
                <a:ea typeface="仿宋" panose="02010609060101010101" charset="-122"/>
                <a:cs typeface="仿宋" panose="02010609060101010101" charset="-122"/>
              </a:endParaRPr>
            </a:p>
          </p:txBody>
        </p:sp>
      </p:grpSp>
      <p:grpSp>
        <p:nvGrpSpPr>
          <p:cNvPr id="14" name="group 14"/>
          <p:cNvGrpSpPr/>
          <p:nvPr/>
        </p:nvGrpSpPr>
        <p:grpSpPr>
          <a:xfrm rot="21600000">
            <a:off x="3196335" y="4186935"/>
            <a:ext cx="5541264" cy="812292"/>
            <a:chOff x="0" y="0"/>
            <a:chExt cx="5541264" cy="812292"/>
          </a:xfrm>
        </p:grpSpPr>
        <p:pic>
          <p:nvPicPr>
            <p:cNvPr id="114" name="picture 114"/>
            <p:cNvPicPr>
              <a:picLocks noChangeAspect="1"/>
            </p:cNvPicPr>
            <p:nvPr/>
          </p:nvPicPr>
          <p:blipFill>
            <a:blip r:embed="rId3"/>
            <a:stretch>
              <a:fillRect/>
            </a:stretch>
          </p:blipFill>
          <p:spPr>
            <a:xfrm rot="21600000">
              <a:off x="0" y="0"/>
              <a:ext cx="5541264" cy="812292"/>
            </a:xfrm>
            <a:prstGeom prst="rect">
              <a:avLst/>
            </a:prstGeom>
          </p:spPr>
        </p:pic>
        <p:sp>
          <p:nvSpPr>
            <p:cNvPr id="116" name="textbox 116"/>
            <p:cNvSpPr/>
            <p:nvPr/>
          </p:nvSpPr>
          <p:spPr>
            <a:xfrm>
              <a:off x="-12700" y="-12700"/>
              <a:ext cx="5567045" cy="880110"/>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a:ea typeface="Arial" panose="020B0604020202020204"/>
                <a:cs typeface="Arial" panose="020B0604020202020204"/>
              </a:endParaRPr>
            </a:p>
            <a:p>
              <a:pPr marL="713105" algn="l" rtl="0" eaLnBrk="0">
                <a:lnSpc>
                  <a:spcPct val="95000"/>
                </a:lnSpc>
                <a:spcBef>
                  <a:spcPts val="5"/>
                </a:spcBef>
              </a:pPr>
              <a:r>
                <a:rPr sz="2400" b="1" kern="0" spc="-80" dirty="0">
                  <a:solidFill>
                    <a:srgbClr val="FFFFFF">
                      <a:alpha val="100000"/>
                    </a:srgbClr>
                  </a:solidFill>
                  <a:latin typeface="仿宋" panose="02010609060101010101" charset="-122"/>
                  <a:ea typeface="仿宋" panose="02010609060101010101" charset="-122"/>
                  <a:cs typeface="仿宋" panose="02010609060101010101" charset="-122"/>
                </a:rPr>
                <a:t>同步流密码</a:t>
              </a:r>
              <a:endParaRPr sz="2400" dirty="0">
                <a:latin typeface="仿宋" panose="02010609060101010101" charset="-122"/>
                <a:ea typeface="仿宋" panose="02010609060101010101" charset="-122"/>
                <a:cs typeface="仿宋" panose="02010609060101010101" charset="-122"/>
              </a:endParaRPr>
            </a:p>
          </p:txBody>
        </p:sp>
      </p:grpSp>
      <p:grpSp>
        <p:nvGrpSpPr>
          <p:cNvPr id="16" name="group 16"/>
          <p:cNvGrpSpPr/>
          <p:nvPr/>
        </p:nvGrpSpPr>
        <p:grpSpPr>
          <a:xfrm rot="21600000">
            <a:off x="2130043" y="1687449"/>
            <a:ext cx="1624075" cy="3842625"/>
            <a:chOff x="0" y="0"/>
            <a:chExt cx="1624075" cy="3842625"/>
          </a:xfrm>
        </p:grpSpPr>
        <p:sp>
          <p:nvSpPr>
            <p:cNvPr id="118" name="path 118"/>
            <p:cNvSpPr/>
            <p:nvPr/>
          </p:nvSpPr>
          <p:spPr>
            <a:xfrm>
              <a:off x="0" y="0"/>
              <a:ext cx="1082692" cy="3842625"/>
            </a:xfrm>
            <a:custGeom>
              <a:avLst/>
              <a:gdLst/>
              <a:ahLst/>
              <a:cxnLst/>
              <a:rect l="0" t="0" r="0" b="0"/>
              <a:pathLst>
                <a:path w="1705" h="6051">
                  <a:moveTo>
                    <a:pt x="4" y="4"/>
                  </a:moveTo>
                  <a:cubicBezTo>
                    <a:pt x="1897" y="1448"/>
                    <a:pt x="2261" y="4153"/>
                    <a:pt x="818" y="6046"/>
                  </a:cubicBezTo>
                  <a:cubicBezTo>
                    <a:pt x="818" y="6046"/>
                    <a:pt x="817" y="6046"/>
                    <a:pt x="817" y="6046"/>
                  </a:cubicBezTo>
                  <a:lnTo>
                    <a:pt x="817" y="6046"/>
                  </a:lnTo>
                  <a:cubicBezTo>
                    <a:pt x="2261" y="4153"/>
                    <a:pt x="1897" y="1448"/>
                    <a:pt x="5" y="5"/>
                  </a:cubicBezTo>
                  <a:cubicBezTo>
                    <a:pt x="5" y="5"/>
                    <a:pt x="5" y="5"/>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120" name="path 120"/>
            <p:cNvSpPr/>
            <p:nvPr/>
          </p:nvSpPr>
          <p:spPr>
            <a:xfrm>
              <a:off x="235712" y="138810"/>
              <a:ext cx="1014984"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122" name="path 122"/>
            <p:cNvSpPr/>
            <p:nvPr/>
          </p:nvSpPr>
          <p:spPr>
            <a:xfrm>
              <a:off x="232664" y="135762"/>
              <a:ext cx="1021080" cy="1021079"/>
            </a:xfrm>
            <a:custGeom>
              <a:avLst/>
              <a:gdLst/>
              <a:ahLst/>
              <a:cxnLst/>
              <a:rect l="0" t="0" r="0" b="0"/>
              <a:pathLst>
                <a:path w="1608" h="1607">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124" name="path 124"/>
            <p:cNvSpPr/>
            <p:nvPr/>
          </p:nvSpPr>
          <p:spPr>
            <a:xfrm>
              <a:off x="557276" y="2429382"/>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126" name="path 126"/>
            <p:cNvSpPr/>
            <p:nvPr/>
          </p:nvSpPr>
          <p:spPr>
            <a:xfrm>
              <a:off x="554228" y="2426334"/>
              <a:ext cx="1022603" cy="1021080"/>
            </a:xfrm>
            <a:custGeom>
              <a:avLst/>
              <a:gdLst/>
              <a:ahLst/>
              <a:cxnLst/>
              <a:rect l="0" t="0" r="0" b="0"/>
              <a:pathLst>
                <a:path w="1610" h="1608">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128" name="path 128"/>
            <p:cNvSpPr/>
            <p:nvPr/>
          </p:nvSpPr>
          <p:spPr>
            <a:xfrm>
              <a:off x="604519" y="1306194"/>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130" name="path 130"/>
            <p:cNvSpPr/>
            <p:nvPr/>
          </p:nvSpPr>
          <p:spPr>
            <a:xfrm>
              <a:off x="601472" y="1303146"/>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solidFill>
              <a:prstDash val="solid"/>
              <a:miter lim="1000000"/>
            </a:ln>
          </p:spPr>
          <p:txBody>
            <a:bodyPr rtlCol="0"/>
            <a:lstStyle/>
            <a:p>
              <a:pPr algn="ctr"/>
              <a:endParaRPr lang="zh-CN" altLang="en-US"/>
            </a:p>
          </p:txBody>
        </p:sp>
      </p:grpSp>
      <p:sp>
        <p:nvSpPr>
          <p:cNvPr id="132" name="textbox 132"/>
          <p:cNvSpPr/>
          <p:nvPr/>
        </p:nvSpPr>
        <p:spPr>
          <a:xfrm>
            <a:off x="2745896" y="488157"/>
            <a:ext cx="467105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第七讲</a:t>
            </a:r>
            <a:r>
              <a:rPr sz="3200" kern="0" spc="-40" dirty="0">
                <a:solidFill>
                  <a:srgbClr val="1F4E79">
                    <a:alpha val="100000"/>
                  </a:srgbClr>
                </a:solidFill>
                <a:latin typeface="仿宋" panose="02010609060101010101" charset="-122"/>
                <a:ea typeface="仿宋" panose="02010609060101010101" charset="-122"/>
                <a:cs typeface="仿宋" panose="02010609060101010101" charset="-122"/>
              </a:rPr>
              <a:t> </a:t>
            </a: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流密码的基本概念</a:t>
            </a:r>
            <a:endParaRPr sz="3200" dirty="0">
              <a:latin typeface="仿宋" panose="02010609060101010101" charset="-122"/>
              <a:ea typeface="仿宋" panose="02010609060101010101" charset="-122"/>
              <a:cs typeface="仿宋" panose="02010609060101010101" charset="-122"/>
            </a:endParaRPr>
          </a:p>
        </p:txBody>
      </p:sp>
      <p:sp>
        <p:nvSpPr>
          <p:cNvPr id="136" name="path 136"/>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38" name="picture 138"/>
          <p:cNvPicPr>
            <a:picLocks noChangeAspect="1"/>
          </p:cNvPicPr>
          <p:nvPr/>
        </p:nvPicPr>
        <p:blipFill>
          <a:blip r:embed="rId4"/>
          <a:stretch>
            <a:fillRect/>
          </a:stretch>
        </p:blipFill>
        <p:spPr>
          <a:xfrm rot="21600000">
            <a:off x="824483" y="408431"/>
            <a:ext cx="419100" cy="655320"/>
          </a:xfrm>
          <a:prstGeom prst="rect">
            <a:avLst/>
          </a:prstGeom>
        </p:spPr>
      </p:pic>
      <p:sp>
        <p:nvSpPr>
          <p:cNvPr id="140" name="path 140"/>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box 142"/>
          <p:cNvSpPr/>
          <p:nvPr/>
        </p:nvSpPr>
        <p:spPr>
          <a:xfrm>
            <a:off x="1926613" y="1439440"/>
            <a:ext cx="8043544" cy="3768725"/>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kern="0" spc="100" dirty="0">
                <a:solidFill>
                  <a:srgbClr val="000000">
                    <a:alpha val="100000"/>
                  </a:srgbClr>
                </a:solidFill>
                <a:latin typeface="Arial" panose="020B0604020202020204"/>
                <a:ea typeface="Arial" panose="020B0604020202020204"/>
                <a:cs typeface="Arial" panose="020B0604020202020204"/>
              </a:rPr>
              <a:t>•</a:t>
            </a:r>
            <a:r>
              <a:rPr sz="2700" kern="0" spc="250" dirty="0">
                <a:solidFill>
                  <a:srgbClr val="000000">
                    <a:alpha val="100000"/>
                  </a:srgbClr>
                </a:solidFill>
                <a:latin typeface="Arial" panose="020B0604020202020204"/>
                <a:ea typeface="Arial" panose="020B0604020202020204"/>
                <a:cs typeface="Arial" panose="020B0604020202020204"/>
              </a:rPr>
              <a:t> </a:t>
            </a:r>
            <a:r>
              <a:rPr sz="2700" b="1" kern="0" spc="100" dirty="0">
                <a:solidFill>
                  <a:srgbClr val="000000">
                    <a:alpha val="100000"/>
                  </a:srgbClr>
                </a:solidFill>
                <a:latin typeface="仿宋" panose="02010609060101010101" charset="-122"/>
                <a:ea typeface="仿宋" panose="02010609060101010101" charset="-122"/>
                <a:cs typeface="仿宋" panose="02010609060101010101" charset="-122"/>
              </a:rPr>
              <a:t>流密码(</a:t>
            </a:r>
            <a:r>
              <a:rPr sz="2700" b="1" kern="0" spc="0" dirty="0">
                <a:solidFill>
                  <a:srgbClr val="000000">
                    <a:alpha val="100000"/>
                  </a:srgbClr>
                </a:solidFill>
                <a:latin typeface="仿宋" panose="02010609060101010101" charset="-122"/>
                <a:ea typeface="仿宋" panose="02010609060101010101" charset="-122"/>
                <a:cs typeface="仿宋" panose="02010609060101010101" charset="-122"/>
              </a:rPr>
              <a:t>stream</a:t>
            </a:r>
            <a:r>
              <a:rPr sz="2700" kern="0" spc="100" dirty="0">
                <a:solidFill>
                  <a:srgbClr val="000000">
                    <a:alpha val="100000"/>
                  </a:srgbClr>
                </a:solidFill>
                <a:latin typeface="仿宋" panose="02010609060101010101" charset="-122"/>
                <a:ea typeface="仿宋" panose="02010609060101010101" charset="-122"/>
                <a:cs typeface="仿宋" panose="02010609060101010101" charset="-122"/>
              </a:rPr>
              <a:t> </a:t>
            </a:r>
            <a:r>
              <a:rPr sz="2700" b="1" kern="0" spc="0" dirty="0">
                <a:solidFill>
                  <a:srgbClr val="000000">
                    <a:alpha val="100000"/>
                  </a:srgbClr>
                </a:solidFill>
                <a:latin typeface="仿宋" panose="02010609060101010101" charset="-122"/>
                <a:ea typeface="仿宋" panose="02010609060101010101" charset="-122"/>
                <a:cs typeface="仿宋" panose="02010609060101010101" charset="-122"/>
              </a:rPr>
              <a:t>cipher</a:t>
            </a:r>
            <a:r>
              <a:rPr sz="2700" b="1" kern="0" spc="100" dirty="0">
                <a:solidFill>
                  <a:srgbClr val="000000">
                    <a:alpha val="100000"/>
                  </a:srgbClr>
                </a:solidFill>
                <a:latin typeface="仿宋" panose="02010609060101010101" charset="-122"/>
                <a:ea typeface="仿宋" panose="02010609060101010101" charset="-122"/>
                <a:cs typeface="仿宋" panose="02010609060101010101" charset="-122"/>
              </a:rPr>
              <a:t>)是一种</a:t>
            </a:r>
            <a:r>
              <a:rPr sz="2700" b="1" kern="0" spc="90" dirty="0">
                <a:solidFill>
                  <a:srgbClr val="000000">
                    <a:alpha val="100000"/>
                  </a:srgbClr>
                </a:solidFill>
                <a:latin typeface="仿宋" panose="02010609060101010101" charset="-122"/>
                <a:ea typeface="仿宋" panose="02010609060101010101" charset="-122"/>
                <a:cs typeface="仿宋" panose="02010609060101010101" charset="-122"/>
              </a:rPr>
              <a:t>重要的密码体制</a:t>
            </a:r>
            <a:endParaRPr sz="27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510"/>
              </a:spcBef>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600" dirty="0">
                <a:solidFill>
                  <a:srgbClr val="000000">
                    <a:alpha val="100000"/>
                  </a:srgbClr>
                </a:solidFill>
                <a:latin typeface="Arial" panose="020B0604020202020204"/>
                <a:ea typeface="Arial" panose="020B0604020202020204"/>
                <a:cs typeface="Arial" panose="020B06040202020202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明文消息按字符或比特逐位加</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密</a:t>
            </a:r>
            <a:endParaRPr sz="2400" dirty="0">
              <a:latin typeface="仿宋" panose="02010609060101010101" charset="-122"/>
              <a:ea typeface="仿宋" panose="02010609060101010101" charset="-122"/>
              <a:cs typeface="仿宋" panose="02010609060101010101" charset="-122"/>
            </a:endParaRPr>
          </a:p>
          <a:p>
            <a:pPr marL="466725" algn="l" rtl="0" eaLnBrk="0">
              <a:lnSpc>
                <a:spcPct val="97000"/>
              </a:lnSpc>
              <a:spcBef>
                <a:spcPts val="138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60" dirty="0">
                <a:solidFill>
                  <a:srgbClr val="000000">
                    <a:alpha val="100000"/>
                  </a:srgbClr>
                </a:solidFill>
                <a:latin typeface="Arial" panose="020B0604020202020204"/>
                <a:ea typeface="Arial" panose="020B0604020202020204"/>
                <a:cs typeface="Arial" panose="020B06040202020202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流密码也称为序列密码(Sequence</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Cipher)</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marL="12700" algn="l" rtl="0" eaLnBrk="0">
              <a:lnSpc>
                <a:spcPts val="3300"/>
              </a:lnSpc>
              <a:spcBef>
                <a:spcPts val="815"/>
              </a:spcBef>
            </a:pPr>
            <a:r>
              <a:rPr sz="2700" kern="0" spc="6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b="1" kern="0" spc="60" dirty="0">
                <a:solidFill>
                  <a:srgbClr val="000000">
                    <a:alpha val="100000"/>
                  </a:srgbClr>
                </a:solidFill>
                <a:latin typeface="仿宋" panose="02010609060101010101" charset="-122"/>
                <a:ea typeface="仿宋" panose="02010609060101010101" charset="-122"/>
                <a:cs typeface="仿宋" panose="02010609060101010101" charset="-122"/>
              </a:rPr>
              <a:t>流密码在20世纪50年代得到飞跃式发展</a:t>
            </a:r>
            <a:endParaRPr sz="2700" dirty="0">
              <a:latin typeface="仿宋" panose="02010609060101010101" charset="-122"/>
              <a:ea typeface="仿宋" panose="02010609060101010101" charset="-122"/>
              <a:cs typeface="仿宋" panose="02010609060101010101" charset="-122"/>
            </a:endParaRPr>
          </a:p>
          <a:p>
            <a:pPr marL="708660" indent="-241935" algn="l" rtl="0" eaLnBrk="0">
              <a:lnSpc>
                <a:spcPct val="112000"/>
              </a:lnSpc>
              <a:spcBef>
                <a:spcPts val="1405"/>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630" dirty="0">
                <a:solidFill>
                  <a:srgbClr val="000000">
                    <a:alpha val="100000"/>
                  </a:srgbClr>
                </a:solidFill>
                <a:latin typeface="Arial" panose="020B0604020202020204"/>
                <a:ea typeface="Arial" panose="020B0604020202020204"/>
                <a:cs typeface="Arial" panose="020B06040202020202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密钥流可以用移位寄存器电路来产生，也促进了线性和</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非线性移位寄存器发展</a:t>
            </a:r>
            <a:endParaRPr sz="2400" dirty="0">
              <a:latin typeface="仿宋" panose="02010609060101010101" charset="-122"/>
              <a:ea typeface="仿宋" panose="02010609060101010101" charset="-122"/>
              <a:cs typeface="仿宋" panose="02010609060101010101" charset="-122"/>
            </a:endParaRPr>
          </a:p>
          <a:p>
            <a:pPr algn="l" rtl="0" eaLnBrk="0">
              <a:lnSpc>
                <a:spcPct val="100000"/>
              </a:lnSpc>
            </a:pPr>
            <a:endParaRPr sz="13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466725" algn="l" rtl="0" eaLnBrk="0">
              <a:lnSpc>
                <a:spcPct val="100000"/>
              </a:lnSpc>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流密码主要是基于硬件实现</a:t>
            </a:r>
            <a:endParaRPr sz="2400" dirty="0">
              <a:latin typeface="仿宋" panose="02010609060101010101" charset="-122"/>
              <a:ea typeface="仿宋" panose="02010609060101010101" charset="-122"/>
              <a:cs typeface="仿宋" panose="02010609060101010101" charset="-122"/>
            </a:endParaRPr>
          </a:p>
        </p:txBody>
      </p:sp>
      <p:sp>
        <p:nvSpPr>
          <p:cNvPr id="146" name="textbox 146"/>
          <p:cNvSpPr/>
          <p:nvPr/>
        </p:nvSpPr>
        <p:spPr>
          <a:xfrm>
            <a:off x="1553649" y="384271"/>
            <a:ext cx="203707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50" dirty="0">
                <a:solidFill>
                  <a:srgbClr val="1F4E79">
                    <a:alpha val="100000"/>
                  </a:srgbClr>
                </a:solidFill>
                <a:latin typeface="仿宋" panose="02010609060101010101" charset="-122"/>
                <a:ea typeface="仿宋" panose="02010609060101010101" charset="-122"/>
                <a:cs typeface="仿宋" panose="02010609060101010101" charset="-122"/>
              </a:rPr>
              <a:t>流密码概况</a:t>
            </a:r>
            <a:endParaRPr sz="3200" dirty="0">
              <a:latin typeface="仿宋" panose="02010609060101010101" charset="-122"/>
              <a:ea typeface="仿宋" panose="02010609060101010101"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box 142"/>
          <p:cNvSpPr/>
          <p:nvPr/>
        </p:nvSpPr>
        <p:spPr>
          <a:xfrm>
            <a:off x="1926613" y="1439440"/>
            <a:ext cx="8043544" cy="3768725"/>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kern="0" spc="100" dirty="0">
                <a:solidFill>
                  <a:srgbClr val="000000">
                    <a:alpha val="100000"/>
                  </a:srgbClr>
                </a:solidFill>
                <a:latin typeface="Arial" panose="020B0604020202020204"/>
                <a:ea typeface="Arial" panose="020B0604020202020204"/>
                <a:cs typeface="Arial" panose="020B0604020202020204"/>
              </a:rPr>
              <a:t>•</a:t>
            </a:r>
            <a:r>
              <a:rPr sz="2700" kern="0" spc="250" dirty="0">
                <a:solidFill>
                  <a:srgbClr val="000000">
                    <a:alpha val="100000"/>
                  </a:srgbClr>
                </a:solidFill>
                <a:latin typeface="Arial" panose="020B0604020202020204"/>
                <a:ea typeface="Arial" panose="020B0604020202020204"/>
                <a:cs typeface="Arial" panose="020B0604020202020204"/>
              </a:rPr>
              <a:t> </a:t>
            </a:r>
            <a:r>
              <a:rPr sz="2700" b="1" kern="0" spc="100" dirty="0">
                <a:solidFill>
                  <a:srgbClr val="000000">
                    <a:alpha val="100000"/>
                  </a:srgbClr>
                </a:solidFill>
                <a:latin typeface="仿宋" panose="02010609060101010101" charset="-122"/>
                <a:ea typeface="仿宋" panose="02010609060101010101" charset="-122"/>
                <a:cs typeface="仿宋" panose="02010609060101010101" charset="-122"/>
              </a:rPr>
              <a:t>流密码(</a:t>
            </a:r>
            <a:r>
              <a:rPr sz="2700" b="1" kern="0" spc="0" dirty="0">
                <a:solidFill>
                  <a:srgbClr val="000000">
                    <a:alpha val="100000"/>
                  </a:srgbClr>
                </a:solidFill>
                <a:latin typeface="仿宋" panose="02010609060101010101" charset="-122"/>
                <a:ea typeface="仿宋" panose="02010609060101010101" charset="-122"/>
                <a:cs typeface="仿宋" panose="02010609060101010101" charset="-122"/>
              </a:rPr>
              <a:t>stream</a:t>
            </a:r>
            <a:r>
              <a:rPr sz="2700" kern="0" spc="100" dirty="0">
                <a:solidFill>
                  <a:srgbClr val="000000">
                    <a:alpha val="100000"/>
                  </a:srgbClr>
                </a:solidFill>
                <a:latin typeface="仿宋" panose="02010609060101010101" charset="-122"/>
                <a:ea typeface="仿宋" panose="02010609060101010101" charset="-122"/>
                <a:cs typeface="仿宋" panose="02010609060101010101" charset="-122"/>
              </a:rPr>
              <a:t> </a:t>
            </a:r>
            <a:r>
              <a:rPr sz="2700" b="1" kern="0" spc="0" dirty="0">
                <a:solidFill>
                  <a:srgbClr val="000000">
                    <a:alpha val="100000"/>
                  </a:srgbClr>
                </a:solidFill>
                <a:latin typeface="仿宋" panose="02010609060101010101" charset="-122"/>
                <a:ea typeface="仿宋" panose="02010609060101010101" charset="-122"/>
                <a:cs typeface="仿宋" panose="02010609060101010101" charset="-122"/>
              </a:rPr>
              <a:t>cipher</a:t>
            </a:r>
            <a:r>
              <a:rPr sz="2700" b="1" kern="0" spc="100" dirty="0">
                <a:solidFill>
                  <a:srgbClr val="000000">
                    <a:alpha val="100000"/>
                  </a:srgbClr>
                </a:solidFill>
                <a:latin typeface="仿宋" panose="02010609060101010101" charset="-122"/>
                <a:ea typeface="仿宋" panose="02010609060101010101" charset="-122"/>
                <a:cs typeface="仿宋" panose="02010609060101010101" charset="-122"/>
              </a:rPr>
              <a:t>)是一种</a:t>
            </a:r>
            <a:r>
              <a:rPr sz="2700" b="1" kern="0" spc="90" dirty="0">
                <a:solidFill>
                  <a:srgbClr val="000000">
                    <a:alpha val="100000"/>
                  </a:srgbClr>
                </a:solidFill>
                <a:latin typeface="仿宋" panose="02010609060101010101" charset="-122"/>
                <a:ea typeface="仿宋" panose="02010609060101010101" charset="-122"/>
                <a:cs typeface="仿宋" panose="02010609060101010101" charset="-122"/>
              </a:rPr>
              <a:t>重要的密码体制</a:t>
            </a:r>
            <a:endParaRPr sz="27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510"/>
              </a:spcBef>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600" dirty="0">
                <a:solidFill>
                  <a:srgbClr val="000000">
                    <a:alpha val="100000"/>
                  </a:srgbClr>
                </a:solidFill>
                <a:latin typeface="Arial" panose="020B0604020202020204"/>
                <a:ea typeface="Arial" panose="020B0604020202020204"/>
                <a:cs typeface="Arial" panose="020B06040202020202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明文消息按字符或比特逐位加</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密</a:t>
            </a:r>
            <a:endParaRPr sz="2400" dirty="0">
              <a:latin typeface="仿宋" panose="02010609060101010101" charset="-122"/>
              <a:ea typeface="仿宋" panose="02010609060101010101" charset="-122"/>
              <a:cs typeface="仿宋" panose="02010609060101010101" charset="-122"/>
            </a:endParaRPr>
          </a:p>
          <a:p>
            <a:pPr marL="466725" algn="l" rtl="0" eaLnBrk="0">
              <a:lnSpc>
                <a:spcPct val="97000"/>
              </a:lnSpc>
              <a:spcBef>
                <a:spcPts val="138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60" dirty="0">
                <a:solidFill>
                  <a:srgbClr val="000000">
                    <a:alpha val="100000"/>
                  </a:srgbClr>
                </a:solidFill>
                <a:latin typeface="Arial" panose="020B0604020202020204"/>
                <a:ea typeface="Arial" panose="020B0604020202020204"/>
                <a:cs typeface="Arial" panose="020B06040202020202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流密码也称为序列密码(Sequence</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Cipher)</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marL="12700" algn="l" rtl="0" eaLnBrk="0">
              <a:lnSpc>
                <a:spcPts val="3300"/>
              </a:lnSpc>
              <a:spcBef>
                <a:spcPts val="815"/>
              </a:spcBef>
            </a:pPr>
            <a:r>
              <a:rPr sz="2700" kern="0" spc="6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b="1" kern="0" spc="60" dirty="0">
                <a:solidFill>
                  <a:srgbClr val="000000">
                    <a:alpha val="100000"/>
                  </a:srgbClr>
                </a:solidFill>
                <a:latin typeface="仿宋" panose="02010609060101010101" charset="-122"/>
                <a:ea typeface="仿宋" panose="02010609060101010101" charset="-122"/>
                <a:cs typeface="仿宋" panose="02010609060101010101" charset="-122"/>
              </a:rPr>
              <a:t>流密码在20世纪50年代得到飞跃式发展</a:t>
            </a:r>
            <a:endParaRPr sz="2700" dirty="0">
              <a:latin typeface="仿宋" panose="02010609060101010101" charset="-122"/>
              <a:ea typeface="仿宋" panose="02010609060101010101" charset="-122"/>
              <a:cs typeface="仿宋" panose="02010609060101010101" charset="-122"/>
            </a:endParaRPr>
          </a:p>
          <a:p>
            <a:pPr marL="708660" indent="-241935" algn="l" rtl="0" eaLnBrk="0">
              <a:lnSpc>
                <a:spcPct val="112000"/>
              </a:lnSpc>
              <a:spcBef>
                <a:spcPts val="1405"/>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630" dirty="0">
                <a:solidFill>
                  <a:srgbClr val="000000">
                    <a:alpha val="100000"/>
                  </a:srgbClr>
                </a:solidFill>
                <a:latin typeface="Arial" panose="020B0604020202020204"/>
                <a:ea typeface="Arial" panose="020B0604020202020204"/>
                <a:cs typeface="Arial" panose="020B06040202020202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密钥流可以用移位寄存器电路来产生，也促进了线性和</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非线性移位寄存器发展</a:t>
            </a:r>
            <a:endParaRPr sz="2400" dirty="0">
              <a:latin typeface="仿宋" panose="02010609060101010101" charset="-122"/>
              <a:ea typeface="仿宋" panose="02010609060101010101" charset="-122"/>
              <a:cs typeface="仿宋" panose="02010609060101010101" charset="-122"/>
            </a:endParaRPr>
          </a:p>
          <a:p>
            <a:pPr algn="l" rtl="0" eaLnBrk="0">
              <a:lnSpc>
                <a:spcPct val="100000"/>
              </a:lnSpc>
            </a:pPr>
            <a:endParaRPr sz="13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466725" algn="l" rtl="0" eaLnBrk="0">
              <a:lnSpc>
                <a:spcPct val="100000"/>
              </a:lnSpc>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流密码主要是基于硬件实现</a:t>
            </a:r>
            <a:endParaRPr sz="2400" dirty="0">
              <a:latin typeface="仿宋" panose="02010609060101010101" charset="-122"/>
              <a:ea typeface="仿宋" panose="02010609060101010101" charset="-122"/>
              <a:cs typeface="仿宋" panose="02010609060101010101" charset="-122"/>
            </a:endParaRPr>
          </a:p>
        </p:txBody>
      </p:sp>
      <p:sp>
        <p:nvSpPr>
          <p:cNvPr id="146" name="textbox 146"/>
          <p:cNvSpPr/>
          <p:nvPr/>
        </p:nvSpPr>
        <p:spPr>
          <a:xfrm>
            <a:off x="1553649" y="384271"/>
            <a:ext cx="203707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50" dirty="0">
                <a:solidFill>
                  <a:srgbClr val="1F4E79">
                    <a:alpha val="100000"/>
                  </a:srgbClr>
                </a:solidFill>
                <a:latin typeface="仿宋" panose="02010609060101010101" charset="-122"/>
                <a:ea typeface="仿宋" panose="02010609060101010101" charset="-122"/>
                <a:cs typeface="仿宋" panose="02010609060101010101" charset="-122"/>
              </a:rPr>
              <a:t>流密码概况</a:t>
            </a:r>
            <a:endParaRPr sz="3200" dirty="0">
              <a:latin typeface="仿宋" panose="02010609060101010101" charset="-122"/>
              <a:ea typeface="仿宋" panose="02010609060101010101"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799590" y="1083945"/>
            <a:ext cx="8567420" cy="5116830"/>
          </a:xfrm>
          <a:prstGeom prst="rect">
            <a:avLst/>
          </a:prstGeom>
        </p:spPr>
      </p:pic>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box 146"/>
          <p:cNvSpPr/>
          <p:nvPr/>
        </p:nvSpPr>
        <p:spPr>
          <a:xfrm>
            <a:off x="1553649" y="384271"/>
            <a:ext cx="203707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50" dirty="0">
                <a:solidFill>
                  <a:srgbClr val="1F4E79">
                    <a:alpha val="100000"/>
                  </a:srgbClr>
                </a:solidFill>
                <a:latin typeface="仿宋" panose="02010609060101010101" charset="-122"/>
                <a:ea typeface="仿宋" panose="02010609060101010101" charset="-122"/>
                <a:cs typeface="仿宋" panose="02010609060101010101" charset="-122"/>
              </a:rPr>
              <a:t>流密码概况</a:t>
            </a:r>
            <a:endParaRPr sz="3200" dirty="0">
              <a:latin typeface="仿宋" panose="02010609060101010101" charset="-122"/>
              <a:ea typeface="仿宋" panose="02010609060101010101"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nvPicPr>
        <p:blipFill>
          <a:blip r:embed="rId2"/>
          <a:stretch>
            <a:fillRect/>
          </a:stretch>
        </p:blipFill>
        <p:spPr>
          <a:xfrm>
            <a:off x="1553845" y="1264285"/>
            <a:ext cx="8849360" cy="44196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2"/>
          <p:cNvGrpSpPr/>
          <p:nvPr/>
        </p:nvGrpSpPr>
        <p:grpSpPr>
          <a:xfrm rot="21600000">
            <a:off x="3508248" y="2028443"/>
            <a:ext cx="5864351" cy="813816"/>
            <a:chOff x="0" y="0"/>
            <a:chExt cx="5864351" cy="813816"/>
          </a:xfrm>
        </p:grpSpPr>
        <p:pic>
          <p:nvPicPr>
            <p:cNvPr id="264" name="picture 264"/>
            <p:cNvPicPr>
              <a:picLocks noChangeAspect="1"/>
            </p:cNvPicPr>
            <p:nvPr/>
          </p:nvPicPr>
          <p:blipFill>
            <a:blip r:embed="rId1"/>
            <a:stretch>
              <a:fillRect/>
            </a:stretch>
          </p:blipFill>
          <p:spPr>
            <a:xfrm rot="21600000">
              <a:off x="0" y="0"/>
              <a:ext cx="5864351" cy="813816"/>
            </a:xfrm>
            <a:prstGeom prst="rect">
              <a:avLst/>
            </a:prstGeom>
          </p:spPr>
        </p:pic>
        <p:sp>
          <p:nvSpPr>
            <p:cNvPr id="266" name="textbox 266"/>
            <p:cNvSpPr/>
            <p:nvPr/>
          </p:nvSpPr>
          <p:spPr>
            <a:xfrm>
              <a:off x="-12700" y="-12700"/>
              <a:ext cx="5890259" cy="880744"/>
            </a:xfrm>
            <a:prstGeom prst="rect">
              <a:avLst/>
            </a:prstGeom>
            <a:noFill/>
            <a:ln w="0" cap="flat">
              <a:noFill/>
              <a:prstDash val="solid"/>
              <a:miter lim="0"/>
            </a:ln>
          </p:spPr>
          <p:txBody>
            <a:bodyPr vert="horz" wrap="square" lIns="0" tIns="0" rIns="0" bIns="0"/>
            <a:lstStyle/>
            <a:p>
              <a:pPr algn="l" rtl="0" eaLnBrk="0">
                <a:lnSpc>
                  <a:spcPct val="166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683260" algn="l" rtl="0" eaLnBrk="0">
                <a:lnSpc>
                  <a:spcPct val="95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一次一密</a:t>
              </a:r>
              <a:endParaRPr sz="2400" dirty="0">
                <a:latin typeface="仿宋" panose="02010609060101010101" charset="-122"/>
                <a:ea typeface="仿宋" panose="02010609060101010101" charset="-122"/>
                <a:cs typeface="仿宋" panose="02010609060101010101" charset="-122"/>
              </a:endParaRPr>
            </a:p>
          </p:txBody>
        </p:sp>
      </p:grpSp>
      <p:grpSp>
        <p:nvGrpSpPr>
          <p:cNvPr id="44" name="group 44"/>
          <p:cNvGrpSpPr/>
          <p:nvPr/>
        </p:nvGrpSpPr>
        <p:grpSpPr>
          <a:xfrm rot="21600000">
            <a:off x="3831335" y="4288535"/>
            <a:ext cx="5541264" cy="812292"/>
            <a:chOff x="0" y="0"/>
            <a:chExt cx="5541264" cy="812292"/>
          </a:xfrm>
        </p:grpSpPr>
        <p:pic>
          <p:nvPicPr>
            <p:cNvPr id="268" name="picture 268"/>
            <p:cNvPicPr>
              <a:picLocks noChangeAspect="1"/>
            </p:cNvPicPr>
            <p:nvPr/>
          </p:nvPicPr>
          <p:blipFill>
            <a:blip r:embed="rId2"/>
            <a:stretch>
              <a:fillRect/>
            </a:stretch>
          </p:blipFill>
          <p:spPr>
            <a:xfrm rot="21600000">
              <a:off x="0" y="0"/>
              <a:ext cx="5541264" cy="812292"/>
            </a:xfrm>
            <a:prstGeom prst="rect">
              <a:avLst/>
            </a:prstGeom>
          </p:spPr>
        </p:pic>
        <p:sp>
          <p:nvSpPr>
            <p:cNvPr id="270" name="textbox 270"/>
            <p:cNvSpPr/>
            <p:nvPr/>
          </p:nvSpPr>
          <p:spPr>
            <a:xfrm>
              <a:off x="-12700" y="-12700"/>
              <a:ext cx="5567045" cy="880110"/>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a:ea typeface="Arial" panose="020B0604020202020204"/>
                <a:cs typeface="Arial" panose="020B0604020202020204"/>
              </a:endParaRPr>
            </a:p>
            <a:p>
              <a:pPr marL="713105" algn="l" rtl="0" eaLnBrk="0">
                <a:lnSpc>
                  <a:spcPct val="95000"/>
                </a:lnSpc>
                <a:spcBef>
                  <a:spcPts val="5"/>
                </a:spcBef>
              </a:pPr>
              <a:r>
                <a:rPr sz="2400" b="1" kern="0" spc="-80" dirty="0">
                  <a:solidFill>
                    <a:srgbClr val="FFFFFF">
                      <a:alpha val="100000"/>
                    </a:srgbClr>
                  </a:solidFill>
                  <a:latin typeface="仿宋" panose="02010609060101010101" charset="-122"/>
                  <a:ea typeface="仿宋" panose="02010609060101010101" charset="-122"/>
                  <a:cs typeface="仿宋" panose="02010609060101010101" charset="-122"/>
                </a:rPr>
                <a:t>同步流密码</a:t>
              </a:r>
              <a:endParaRPr sz="2400" dirty="0">
                <a:latin typeface="仿宋" panose="02010609060101010101" charset="-122"/>
                <a:ea typeface="仿宋" panose="02010609060101010101" charset="-122"/>
                <a:cs typeface="仿宋" panose="02010609060101010101" charset="-122"/>
              </a:endParaRPr>
            </a:p>
          </p:txBody>
        </p:sp>
      </p:grpSp>
      <p:grpSp>
        <p:nvGrpSpPr>
          <p:cNvPr id="46" name="group 46"/>
          <p:cNvGrpSpPr/>
          <p:nvPr/>
        </p:nvGrpSpPr>
        <p:grpSpPr>
          <a:xfrm rot="21600000">
            <a:off x="3878579" y="3197352"/>
            <a:ext cx="5507735" cy="812291"/>
            <a:chOff x="0" y="0"/>
            <a:chExt cx="5507735" cy="812291"/>
          </a:xfrm>
        </p:grpSpPr>
        <p:pic>
          <p:nvPicPr>
            <p:cNvPr id="272" name="picture 272"/>
            <p:cNvPicPr>
              <a:picLocks noChangeAspect="1"/>
            </p:cNvPicPr>
            <p:nvPr/>
          </p:nvPicPr>
          <p:blipFill>
            <a:blip r:embed="rId3"/>
            <a:stretch>
              <a:fillRect/>
            </a:stretch>
          </p:blipFill>
          <p:spPr>
            <a:xfrm rot="21600000">
              <a:off x="0" y="0"/>
              <a:ext cx="5507735" cy="812291"/>
            </a:xfrm>
            <a:prstGeom prst="rect">
              <a:avLst/>
            </a:prstGeom>
          </p:spPr>
        </p:pic>
        <p:sp>
          <p:nvSpPr>
            <p:cNvPr id="274" name="textbox 274"/>
            <p:cNvSpPr/>
            <p:nvPr/>
          </p:nvSpPr>
          <p:spPr>
            <a:xfrm>
              <a:off x="-12700" y="-12700"/>
              <a:ext cx="5533390" cy="881380"/>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a:ea typeface="Arial" panose="020B0604020202020204"/>
                <a:cs typeface="Arial" panose="020B0604020202020204"/>
              </a:endParaRPr>
            </a:p>
            <a:p>
              <a:pPr marL="678180" algn="l" rtl="0" eaLnBrk="0">
                <a:lnSpc>
                  <a:spcPct val="95000"/>
                </a:lnSpc>
                <a:spcBef>
                  <a:spcPts val="0"/>
                </a:spcBef>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流密码的定义</a:t>
              </a:r>
              <a:endParaRPr sz="2400" dirty="0">
                <a:latin typeface="仿宋" panose="02010609060101010101" charset="-122"/>
                <a:ea typeface="仿宋" panose="02010609060101010101" charset="-122"/>
                <a:cs typeface="仿宋" panose="02010609060101010101" charset="-122"/>
              </a:endParaRPr>
            </a:p>
          </p:txBody>
        </p:sp>
      </p:grpSp>
      <p:grpSp>
        <p:nvGrpSpPr>
          <p:cNvPr id="48" name="group 48"/>
          <p:cNvGrpSpPr/>
          <p:nvPr/>
        </p:nvGrpSpPr>
        <p:grpSpPr>
          <a:xfrm rot="21600000">
            <a:off x="2765043" y="1789049"/>
            <a:ext cx="1624075" cy="3842625"/>
            <a:chOff x="0" y="0"/>
            <a:chExt cx="1624075" cy="3842625"/>
          </a:xfrm>
        </p:grpSpPr>
        <p:sp>
          <p:nvSpPr>
            <p:cNvPr id="276" name="path 276"/>
            <p:cNvSpPr/>
            <p:nvPr/>
          </p:nvSpPr>
          <p:spPr>
            <a:xfrm>
              <a:off x="0" y="0"/>
              <a:ext cx="1082692" cy="3842625"/>
            </a:xfrm>
            <a:custGeom>
              <a:avLst/>
              <a:gdLst/>
              <a:ahLst/>
              <a:cxnLst/>
              <a:rect l="0" t="0" r="0" b="0"/>
              <a:pathLst>
                <a:path w="1705" h="6051">
                  <a:moveTo>
                    <a:pt x="4" y="4"/>
                  </a:moveTo>
                  <a:cubicBezTo>
                    <a:pt x="1897" y="1448"/>
                    <a:pt x="2261" y="4153"/>
                    <a:pt x="818" y="6046"/>
                  </a:cubicBezTo>
                  <a:cubicBezTo>
                    <a:pt x="818" y="6046"/>
                    <a:pt x="817" y="6046"/>
                    <a:pt x="817" y="6046"/>
                  </a:cubicBezTo>
                  <a:lnTo>
                    <a:pt x="817" y="6046"/>
                  </a:lnTo>
                  <a:cubicBezTo>
                    <a:pt x="2261" y="4153"/>
                    <a:pt x="1897" y="1448"/>
                    <a:pt x="5" y="5"/>
                  </a:cubicBezTo>
                  <a:cubicBezTo>
                    <a:pt x="5" y="5"/>
                    <a:pt x="5" y="5"/>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278" name="path 278"/>
            <p:cNvSpPr/>
            <p:nvPr/>
          </p:nvSpPr>
          <p:spPr>
            <a:xfrm>
              <a:off x="235712" y="138810"/>
              <a:ext cx="1014984"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80" name="path 280"/>
            <p:cNvSpPr/>
            <p:nvPr/>
          </p:nvSpPr>
          <p:spPr>
            <a:xfrm>
              <a:off x="232664" y="135762"/>
              <a:ext cx="1021080" cy="1021079"/>
            </a:xfrm>
            <a:custGeom>
              <a:avLst/>
              <a:gdLst/>
              <a:ahLst/>
              <a:cxnLst/>
              <a:rect l="0" t="0" r="0" b="0"/>
              <a:pathLst>
                <a:path w="1608" h="1607">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82" name="path 282"/>
            <p:cNvSpPr/>
            <p:nvPr/>
          </p:nvSpPr>
          <p:spPr>
            <a:xfrm>
              <a:off x="557276" y="2429382"/>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84" name="path 284"/>
            <p:cNvSpPr/>
            <p:nvPr/>
          </p:nvSpPr>
          <p:spPr>
            <a:xfrm>
              <a:off x="554228" y="2426334"/>
              <a:ext cx="1022603" cy="1021080"/>
            </a:xfrm>
            <a:custGeom>
              <a:avLst/>
              <a:gdLst/>
              <a:ahLst/>
              <a:cxnLst/>
              <a:rect l="0" t="0" r="0" b="0"/>
              <a:pathLst>
                <a:path w="1610" h="1608">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86" name="path 286"/>
            <p:cNvSpPr/>
            <p:nvPr/>
          </p:nvSpPr>
          <p:spPr>
            <a:xfrm>
              <a:off x="604519" y="1306194"/>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88" name="path 288"/>
            <p:cNvSpPr/>
            <p:nvPr/>
          </p:nvSpPr>
          <p:spPr>
            <a:xfrm>
              <a:off x="601472" y="1303146"/>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solidFill>
              <a:prstDash val="solid"/>
              <a:miter lim="1000000"/>
            </a:ln>
          </p:spPr>
          <p:txBody>
            <a:bodyPr rtlCol="0"/>
            <a:lstStyle/>
            <a:p>
              <a:pPr algn="ctr"/>
              <a:endParaRPr lang="zh-CN" altLang="en-US"/>
            </a:p>
          </p:txBody>
        </p:sp>
      </p:grpSp>
      <p:sp>
        <p:nvSpPr>
          <p:cNvPr id="290" name="textbox 290"/>
          <p:cNvSpPr/>
          <p:nvPr/>
        </p:nvSpPr>
        <p:spPr>
          <a:xfrm>
            <a:off x="2745896" y="488157"/>
            <a:ext cx="467105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第七讲</a:t>
            </a:r>
            <a:r>
              <a:rPr sz="3200" kern="0" spc="-40" dirty="0">
                <a:solidFill>
                  <a:srgbClr val="1F4E79">
                    <a:alpha val="100000"/>
                  </a:srgbClr>
                </a:solidFill>
                <a:latin typeface="仿宋" panose="02010609060101010101" charset="-122"/>
                <a:ea typeface="仿宋" panose="02010609060101010101" charset="-122"/>
                <a:cs typeface="仿宋" panose="02010609060101010101" charset="-122"/>
              </a:rPr>
              <a:t> </a:t>
            </a:r>
            <a:r>
              <a:rPr sz="3200" b="1" kern="0" spc="-40" dirty="0">
                <a:solidFill>
                  <a:srgbClr val="1F4E79">
                    <a:alpha val="100000"/>
                  </a:srgbClr>
                </a:solidFill>
                <a:latin typeface="仿宋" panose="02010609060101010101" charset="-122"/>
                <a:ea typeface="仿宋" panose="02010609060101010101" charset="-122"/>
                <a:cs typeface="仿宋" panose="02010609060101010101" charset="-122"/>
              </a:rPr>
              <a:t>流密码的基本概念</a:t>
            </a:r>
            <a:endParaRPr sz="3200" dirty="0">
              <a:latin typeface="仿宋" panose="02010609060101010101" charset="-122"/>
              <a:ea typeface="仿宋" panose="02010609060101010101" charset="-122"/>
              <a:cs typeface="仿宋" panose="02010609060101010101" charset="-122"/>
            </a:endParaRPr>
          </a:p>
        </p:txBody>
      </p:sp>
      <p:sp>
        <p:nvSpPr>
          <p:cNvPr id="294" name="path 294"/>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296" name="picture 296"/>
          <p:cNvPicPr>
            <a:picLocks noChangeAspect="1"/>
          </p:cNvPicPr>
          <p:nvPr/>
        </p:nvPicPr>
        <p:blipFill>
          <a:blip r:embed="rId4"/>
          <a:stretch>
            <a:fillRect/>
          </a:stretch>
        </p:blipFill>
        <p:spPr>
          <a:xfrm rot="21600000">
            <a:off x="824483" y="408431"/>
            <a:ext cx="419100" cy="655320"/>
          </a:xfrm>
          <a:prstGeom prst="rect">
            <a:avLst/>
          </a:prstGeom>
        </p:spPr>
      </p:pic>
      <p:sp>
        <p:nvSpPr>
          <p:cNvPr id="298" name="path 298"/>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box 146"/>
          <p:cNvSpPr/>
          <p:nvPr/>
        </p:nvSpPr>
        <p:spPr>
          <a:xfrm>
            <a:off x="1553649" y="384271"/>
            <a:ext cx="2037079"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94000"/>
              </a:lnSpc>
            </a:pPr>
            <a:r>
              <a:rPr sz="3200" b="1" kern="0" spc="-50" dirty="0">
                <a:solidFill>
                  <a:srgbClr val="1F4E79">
                    <a:alpha val="100000"/>
                  </a:srgbClr>
                </a:solidFill>
                <a:latin typeface="仿宋" panose="02010609060101010101" charset="-122"/>
                <a:ea typeface="仿宋" panose="02010609060101010101" charset="-122"/>
                <a:cs typeface="仿宋" panose="02010609060101010101" charset="-122"/>
              </a:rPr>
              <a:t>流密码</a:t>
            </a:r>
            <a:r>
              <a:rPr lang="zh-CN" sz="3200" b="1" kern="0" spc="-50" dirty="0">
                <a:solidFill>
                  <a:srgbClr val="1F4E79">
                    <a:alpha val="100000"/>
                  </a:srgbClr>
                </a:solidFill>
                <a:latin typeface="仿宋" panose="02010609060101010101" charset="-122"/>
                <a:ea typeface="仿宋" panose="02010609060101010101" charset="-122"/>
                <a:cs typeface="仿宋" panose="02010609060101010101" charset="-122"/>
              </a:rPr>
              <a:t>分类</a:t>
            </a:r>
            <a:endParaRPr lang="zh-CN" sz="3200" b="1" kern="0" spc="-50" dirty="0">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2" name="textbox 82"/>
          <p:cNvSpPr/>
          <p:nvPr/>
        </p:nvSpPr>
        <p:spPr>
          <a:xfrm>
            <a:off x="1465580" y="1198245"/>
            <a:ext cx="9036685" cy="4547870"/>
          </a:xfrm>
          <a:prstGeom prst="rect">
            <a:avLst/>
          </a:prstGeom>
          <a:noFill/>
          <a:ln w="0" cap="flat">
            <a:noFill/>
            <a:prstDash val="solid"/>
            <a:miter lim="0"/>
          </a:ln>
        </p:spPr>
        <p:txBody>
          <a:bodyPr vert="horz" wrap="square" lIns="0" tIns="0" rIns="0" bIns="0"/>
          <a:p>
            <a:pPr algn="l" rtl="0" eaLnBrk="0">
              <a:lnSpc>
                <a:spcPct val="81000"/>
              </a:lnSpc>
            </a:pPr>
            <a:endParaRPr sz="100" dirty="0">
              <a:latin typeface="Arial" panose="020B0604020202020204"/>
              <a:ea typeface="Arial" panose="020B0604020202020204"/>
              <a:cs typeface="Arial" panose="020B0604020202020204"/>
            </a:endParaRPr>
          </a:p>
          <a:p>
            <a:pPr marL="26670" algn="l" rtl="0" eaLnBrk="0">
              <a:lnSpc>
                <a:spcPts val="3745"/>
              </a:lnSpc>
              <a:spcBef>
                <a:spcPts val="1635"/>
              </a:spcBef>
            </a:pPr>
            <a:r>
              <a:rPr lang="zh-CN" sz="31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流</a:t>
            </a:r>
            <a:r>
              <a:rPr sz="31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密码的分类</a:t>
            </a:r>
            <a:endParaRPr sz="3100" dirty="0">
              <a:latin typeface="宋体" panose="02010600030101010101" pitchFamily="2" charset="-122"/>
              <a:ea typeface="宋体" panose="02010600030101010101" pitchFamily="2" charset="-122"/>
              <a:cs typeface="宋体" panose="02010600030101010101" pitchFamily="2" charset="-122"/>
            </a:endParaRPr>
          </a:p>
          <a:p>
            <a:pPr marL="12700" algn="l" rtl="0" eaLnBrk="0">
              <a:lnSpc>
                <a:spcPct val="91000"/>
              </a:lnSpc>
              <a:spcBef>
                <a:spcPts val="790"/>
              </a:spcBef>
            </a:pP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①同步</a:t>
            </a:r>
            <a:r>
              <a:rPr lang="zh-CN"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流</a:t>
            </a: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a:t>
            </a:r>
            <a:r>
              <a:rPr sz="24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Synchronous</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 Stream Cipher</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400" dirty="0">
              <a:latin typeface="宋体" panose="02010600030101010101" pitchFamily="2" charset="-122"/>
              <a:ea typeface="宋体" panose="02010600030101010101" pitchFamily="2" charset="-122"/>
              <a:cs typeface="宋体" panose="02010600030101010101" pitchFamily="2" charset="-122"/>
            </a:endParaRPr>
          </a:p>
          <a:p>
            <a:pPr marL="359410" indent="-326390" algn="l" rtl="0" eaLnBrk="0">
              <a:lnSpc>
                <a:spcPct val="100000"/>
              </a:lnSpc>
              <a:spcBef>
                <a:spcPts val="670"/>
              </a:spcBef>
            </a:pPr>
            <a:r>
              <a:rPr sz="3100" kern="0" spc="0" dirty="0">
                <a:solidFill>
                  <a:srgbClr val="000000">
                    <a:alpha val="100000"/>
                  </a:srgbClr>
                </a:solidFill>
                <a:latin typeface="Wingdings" panose="05000000000000000000"/>
                <a:ea typeface="Wingdings" panose="05000000000000000000"/>
                <a:cs typeface="Wingdings" panose="05000000000000000000"/>
              </a:rPr>
              <a:t>l</a:t>
            </a: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a:t>
            </a:r>
            <a:r>
              <a:rPr lang="zh-CN"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流</a:t>
            </a: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产生算法与明文（密文）无关，所产生的</a:t>
            </a:r>
            <a:r>
              <a:rPr sz="28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密钥序列也与明文（密文</a:t>
            </a:r>
            <a:r>
              <a:rPr sz="28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）无关。</a:t>
            </a:r>
            <a:endParaRPr sz="2800" dirty="0">
              <a:latin typeface="宋体" panose="02010600030101010101" pitchFamily="2" charset="-122"/>
              <a:ea typeface="宋体" panose="02010600030101010101" pitchFamily="2" charset="-122"/>
              <a:cs typeface="宋体" panose="02010600030101010101" pitchFamily="2" charset="-122"/>
            </a:endParaRPr>
          </a:p>
          <a:p>
            <a:pPr marL="359410" indent="-326390" algn="l" rtl="0" eaLnBrk="0">
              <a:lnSpc>
                <a:spcPct val="100000"/>
              </a:lnSpc>
              <a:spcBef>
                <a:spcPts val="325"/>
              </a:spcBef>
            </a:pPr>
            <a:r>
              <a:rPr sz="3100" kern="0" spc="0" dirty="0">
                <a:solidFill>
                  <a:srgbClr val="000000">
                    <a:alpha val="100000"/>
                  </a:srgbClr>
                </a:solidFill>
                <a:latin typeface="Wingdings" panose="05000000000000000000"/>
                <a:ea typeface="Wingdings" panose="05000000000000000000"/>
                <a:cs typeface="Wingdings" panose="05000000000000000000"/>
              </a:rPr>
              <a:t>l</a:t>
            </a:r>
            <a:r>
              <a:rPr sz="28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在通信过程中，通信的双方必须保持精确的同步，</a:t>
            </a:r>
            <a:r>
              <a:rPr sz="2800" kern="0" spc="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8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收方才能正确解密，如果失步收方将不能正确解密。例如，如果通信中丢失或增加了一个密文字符，则收方的解密将</a:t>
            </a:r>
            <a:r>
              <a:rPr sz="2800" b="1" kern="0" spc="-2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一直错误。</a:t>
            </a:r>
            <a:endParaRPr sz="28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sz="3600" b="1" u="sng" kern="0" spc="-1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同步流密码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310" name="path 310"/>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312" name="picture 312"/>
          <p:cNvPicPr>
            <a:picLocks noChangeAspect="1"/>
          </p:cNvPicPr>
          <p:nvPr/>
        </p:nvPicPr>
        <p:blipFill>
          <a:blip r:embed="rId1"/>
          <a:stretch>
            <a:fillRect/>
          </a:stretch>
        </p:blipFill>
        <p:spPr>
          <a:xfrm rot="21600000">
            <a:off x="824483" y="408431"/>
            <a:ext cx="419100" cy="655320"/>
          </a:xfrm>
          <a:prstGeom prst="rect">
            <a:avLst/>
          </a:prstGeom>
        </p:spPr>
      </p:pic>
      <p:pic>
        <p:nvPicPr>
          <p:cNvPr id="2" name="图片 1"/>
          <p:cNvPicPr>
            <a:picLocks noChangeAspect="1"/>
          </p:cNvPicPr>
          <p:nvPr/>
        </p:nvPicPr>
        <p:blipFill>
          <a:blip r:embed="rId2"/>
          <a:stretch>
            <a:fillRect/>
          </a:stretch>
        </p:blipFill>
        <p:spPr>
          <a:xfrm>
            <a:off x="1628140" y="1161415"/>
            <a:ext cx="9235440" cy="4972050"/>
          </a:xfrm>
          <a:prstGeom prst="rect">
            <a:avLst/>
          </a:prstGeom>
        </p:spPr>
      </p:pic>
      <p:pic>
        <p:nvPicPr>
          <p:cNvPr id="4" name="图片 3"/>
          <p:cNvPicPr>
            <a:picLocks noChangeAspect="1"/>
          </p:cNvPicPr>
          <p:nvPr/>
        </p:nvPicPr>
        <p:blipFill>
          <a:blip r:embed="rId3"/>
          <a:srcRect t="21965"/>
          <a:stretch>
            <a:fillRect/>
          </a:stretch>
        </p:blipFill>
        <p:spPr>
          <a:xfrm>
            <a:off x="1748155" y="1161415"/>
            <a:ext cx="3453765" cy="7061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536700" y="1265555"/>
            <a:ext cx="9567545" cy="4970780"/>
          </a:xfrm>
          <a:prstGeom prst="rect">
            <a:avLst/>
          </a:prstGeom>
        </p:spPr>
      </p:pic>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sz="3600" b="1" u="sng" kern="0" spc="-1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同步流密码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310" name="path 310"/>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312" name="picture 312"/>
          <p:cNvPicPr>
            <a:picLocks noChangeAspect="1"/>
          </p:cNvPicPr>
          <p:nvPr/>
        </p:nvPicPr>
        <p:blipFill>
          <a:blip r:embed="rId2"/>
          <a:stretch>
            <a:fillRect/>
          </a:stretch>
        </p:blipFill>
        <p:spPr>
          <a:xfrm rot="21600000">
            <a:off x="824483" y="408431"/>
            <a:ext cx="419100" cy="655320"/>
          </a:xfrm>
          <a:prstGeom prst="rect">
            <a:avLst/>
          </a:prstGeom>
        </p:spPr>
      </p:pic>
      <p:pic>
        <p:nvPicPr>
          <p:cNvPr id="4" name="图片 3"/>
          <p:cNvPicPr>
            <a:picLocks noChangeAspect="1"/>
          </p:cNvPicPr>
          <p:nvPr/>
        </p:nvPicPr>
        <p:blipFill>
          <a:blip r:embed="rId3"/>
          <a:srcRect t="21965"/>
          <a:stretch>
            <a:fillRect/>
          </a:stretch>
        </p:blipFill>
        <p:spPr>
          <a:xfrm>
            <a:off x="1748155" y="1161415"/>
            <a:ext cx="3453765" cy="70612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2" name="textbox 162"/>
          <p:cNvSpPr/>
          <p:nvPr/>
        </p:nvSpPr>
        <p:spPr>
          <a:xfrm>
            <a:off x="1521460" y="1449705"/>
            <a:ext cx="8982075" cy="5086985"/>
          </a:xfrm>
          <a:prstGeom prst="rect">
            <a:avLst/>
          </a:prstGeom>
          <a:noFill/>
          <a:ln w="0" cap="flat">
            <a:noFill/>
            <a:prstDash val="solid"/>
            <a:miter lim="0"/>
          </a:ln>
        </p:spPr>
        <p:txBody>
          <a:bodyPr vert="horz" wrap="square" lIns="0" tIns="0" rIns="0" bIns="0"/>
          <a:lstStyle/>
          <a:p>
            <a:pPr algn="l" rtl="0" eaLnBrk="0">
              <a:lnSpc>
                <a:spcPct val="81000"/>
              </a:lnSpc>
            </a:pPr>
            <a:r>
              <a:rPr sz="31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②</a:t>
            </a:r>
            <a:r>
              <a:rPr sz="3100" kern="0" spc="-8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31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自同步</a:t>
            </a:r>
            <a:r>
              <a:rPr lang="zh-CN" sz="31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流</a:t>
            </a:r>
            <a:r>
              <a:rPr sz="31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a:t>
            </a:r>
            <a:r>
              <a:rPr sz="2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b="1" kern="0" spc="-10" dirty="0">
                <a:solidFill>
                  <a:srgbClr val="000000">
                    <a:alpha val="100000"/>
                  </a:srgbClr>
                </a:solidFill>
                <a:latin typeface="Times New Roman" panose="02020603050405020304"/>
                <a:ea typeface="Times New Roman" panose="02020603050405020304"/>
                <a:cs typeface="Times New Roman" panose="02020603050405020304"/>
              </a:rPr>
              <a:t>Self- </a:t>
            </a:r>
            <a:r>
              <a:rPr sz="2200" b="1" kern="0" spc="-20" dirty="0">
                <a:solidFill>
                  <a:srgbClr val="000000">
                    <a:alpha val="100000"/>
                  </a:srgbClr>
                </a:solidFill>
                <a:latin typeface="Times New Roman" panose="02020603050405020304"/>
                <a:ea typeface="Times New Roman" panose="02020603050405020304"/>
                <a:cs typeface="Times New Roman" panose="02020603050405020304"/>
              </a:rPr>
              <a:t>Synchronous Stream Cipher</a:t>
            </a:r>
            <a:r>
              <a:rPr sz="2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200" dirty="0">
              <a:latin typeface="宋体" panose="02010600030101010101" pitchFamily="2" charset="-122"/>
              <a:ea typeface="宋体" panose="02010600030101010101" pitchFamily="2" charset="-122"/>
              <a:cs typeface="宋体" panose="02010600030101010101" pitchFamily="2" charset="-122"/>
            </a:endParaRPr>
          </a:p>
          <a:p>
            <a:pPr marL="385445" indent="-352425" algn="l" rtl="0" eaLnBrk="0">
              <a:lnSpc>
                <a:spcPct val="100000"/>
              </a:lnSpc>
              <a:spcBef>
                <a:spcPts val="455"/>
              </a:spcBef>
            </a:pPr>
            <a:r>
              <a:rPr sz="3100" kern="0" spc="0" dirty="0">
                <a:solidFill>
                  <a:srgbClr val="000000">
                    <a:alpha val="100000"/>
                  </a:srgbClr>
                </a:solidFill>
                <a:latin typeface="Wingdings" panose="05000000000000000000"/>
                <a:ea typeface="Wingdings" panose="05000000000000000000"/>
                <a:cs typeface="Wingdings" panose="05000000000000000000"/>
              </a:rPr>
              <a:t>l</a:t>
            </a: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a:t>
            </a:r>
            <a:r>
              <a:rPr lang="zh-CN"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流</a:t>
            </a: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产生算法与明文（密文）相关，则所产生</a:t>
            </a:r>
            <a:r>
              <a:rPr sz="28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的密钥序列与明文（密文）相关。</a:t>
            </a:r>
            <a:endParaRPr sz="2800" dirty="0">
              <a:latin typeface="宋体" panose="02010600030101010101" pitchFamily="2" charset="-122"/>
              <a:ea typeface="宋体" panose="02010600030101010101" pitchFamily="2" charset="-122"/>
              <a:cs typeface="宋体" panose="02010600030101010101" pitchFamily="2" charset="-122"/>
            </a:endParaRPr>
          </a:p>
          <a:p>
            <a:pPr marL="358775" indent="-325755" algn="l" rtl="0" eaLnBrk="0">
              <a:lnSpc>
                <a:spcPct val="101000"/>
              </a:lnSpc>
              <a:spcBef>
                <a:spcPts val="230"/>
              </a:spcBef>
            </a:pPr>
            <a:r>
              <a:rPr sz="3100" kern="0" spc="0" dirty="0">
                <a:solidFill>
                  <a:srgbClr val="000000">
                    <a:alpha val="100000"/>
                  </a:srgbClr>
                </a:solidFill>
                <a:latin typeface="Wingdings" panose="05000000000000000000"/>
                <a:ea typeface="Wingdings" panose="05000000000000000000"/>
                <a:cs typeface="Wingdings" panose="05000000000000000000"/>
              </a:rPr>
              <a:t>l</a:t>
            </a:r>
            <a:r>
              <a:rPr sz="28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设密钥</a:t>
            </a:r>
            <a:r>
              <a:rPr lang="zh-CN" sz="28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流</a:t>
            </a:r>
            <a:r>
              <a:rPr sz="28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产生器具有</a:t>
            </a:r>
            <a:r>
              <a:rPr sz="2800" kern="0" spc="-63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800" b="1" i="1" kern="0" spc="0" dirty="0">
                <a:solidFill>
                  <a:srgbClr val="FF0000">
                    <a:alpha val="100000"/>
                  </a:srgbClr>
                </a:solidFill>
                <a:latin typeface="Times New Roman" panose="02020603050405020304"/>
                <a:ea typeface="Times New Roman" panose="02020603050405020304"/>
                <a:cs typeface="Times New Roman" panose="02020603050405020304"/>
              </a:rPr>
              <a:t>n</a:t>
            </a:r>
            <a:r>
              <a:rPr sz="28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位存储，则加密时一位密</a:t>
            </a:r>
            <a:r>
              <a:rPr sz="28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文错误将影响后面连续</a:t>
            </a:r>
            <a:r>
              <a:rPr sz="2800" kern="0" spc="-6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800" b="1" i="1" kern="0" spc="-10" dirty="0">
                <a:solidFill>
                  <a:srgbClr val="FF0000">
                    <a:alpha val="100000"/>
                  </a:srgbClr>
                </a:solidFill>
                <a:latin typeface="Times New Roman" panose="02020603050405020304"/>
                <a:ea typeface="Times New Roman" panose="02020603050405020304"/>
                <a:cs typeface="Times New Roman" panose="02020603050405020304"/>
              </a:rPr>
              <a:t>n</a:t>
            </a:r>
            <a:r>
              <a:rPr sz="28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个密文错误。在此之后</a:t>
            </a:r>
            <a:r>
              <a:rPr sz="2800" b="1" kern="0" spc="-2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恢</a:t>
            </a:r>
            <a:r>
              <a:rPr sz="2800" b="1" kern="0" spc="-5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复正确。</a:t>
            </a:r>
            <a:endParaRPr sz="2800" dirty="0">
              <a:latin typeface="宋体" panose="02010600030101010101" pitchFamily="2" charset="-122"/>
              <a:ea typeface="宋体" panose="02010600030101010101" pitchFamily="2" charset="-122"/>
              <a:cs typeface="宋体" panose="02010600030101010101" pitchFamily="2" charset="-122"/>
            </a:endParaRPr>
          </a:p>
          <a:p>
            <a:pPr marL="354965" indent="-321945" algn="l" rtl="0" eaLnBrk="0">
              <a:lnSpc>
                <a:spcPct val="102000"/>
              </a:lnSpc>
              <a:spcBef>
                <a:spcPts val="180"/>
              </a:spcBef>
            </a:pPr>
            <a:r>
              <a:rPr sz="3100" kern="0" spc="0" dirty="0">
                <a:solidFill>
                  <a:srgbClr val="000000">
                    <a:alpha val="100000"/>
                  </a:srgbClr>
                </a:solidFill>
                <a:latin typeface="Wingdings" panose="05000000000000000000"/>
                <a:ea typeface="Wingdings" panose="05000000000000000000"/>
                <a:cs typeface="Wingdings" panose="05000000000000000000"/>
              </a:rPr>
              <a:t>l</a:t>
            </a:r>
            <a:r>
              <a:rPr sz="2800" b="1" kern="0" spc="0" dirty="0">
                <a:solidFill>
                  <a:srgbClr val="3333CC">
                    <a:alpha val="100000"/>
                  </a:srgbClr>
                </a:solidFill>
                <a:latin typeface="宋体" panose="02010600030101010101" pitchFamily="2" charset="-122"/>
                <a:ea typeface="宋体" panose="02010600030101010101" pitchFamily="2" charset="-122"/>
                <a:cs typeface="宋体" panose="02010600030101010101" pitchFamily="2" charset="-122"/>
              </a:rPr>
              <a:t>解密时一位密文错误也将影响后面连续</a:t>
            </a:r>
            <a:r>
              <a:rPr sz="2800" kern="0" spc="-630" dirty="0">
                <a:solidFill>
                  <a:srgbClr val="3333CC">
                    <a:alpha val="100000"/>
                  </a:srgbClr>
                </a:solidFill>
                <a:latin typeface="宋体" panose="02010600030101010101" pitchFamily="2" charset="-122"/>
                <a:ea typeface="宋体" panose="02010600030101010101" pitchFamily="2" charset="-122"/>
                <a:cs typeface="宋体" panose="02010600030101010101" pitchFamily="2" charset="-122"/>
              </a:rPr>
              <a:t> </a:t>
            </a:r>
            <a:r>
              <a:rPr sz="2800" b="1" i="1" kern="0" spc="0" dirty="0">
                <a:solidFill>
                  <a:srgbClr val="3333CC">
                    <a:alpha val="100000"/>
                  </a:srgbClr>
                </a:solidFill>
                <a:latin typeface="Times New Roman" panose="02020603050405020304"/>
                <a:ea typeface="Times New Roman" panose="02020603050405020304"/>
                <a:cs typeface="Times New Roman" panose="02020603050405020304"/>
              </a:rPr>
              <a:t>n</a:t>
            </a:r>
            <a:r>
              <a:rPr sz="2800" b="1" kern="0" spc="0" dirty="0">
                <a:solidFill>
                  <a:srgbClr val="3333CC">
                    <a:alpha val="100000"/>
                  </a:srgbClr>
                </a:solidFill>
                <a:latin typeface="宋体" panose="02010600030101010101" pitchFamily="2" charset="-122"/>
                <a:ea typeface="宋体" panose="02010600030101010101" pitchFamily="2" charset="-122"/>
                <a:cs typeface="宋体" panose="02010600030101010101" pitchFamily="2" charset="-122"/>
              </a:rPr>
              <a:t>个明文</a:t>
            </a:r>
            <a:r>
              <a:rPr sz="2800" b="1" kern="0" spc="-20" dirty="0">
                <a:solidFill>
                  <a:srgbClr val="3333CC">
                    <a:alpha val="100000"/>
                  </a:srgbClr>
                </a:solidFill>
                <a:latin typeface="宋体" panose="02010600030101010101" pitchFamily="2" charset="-122"/>
                <a:ea typeface="宋体" panose="02010600030101010101" pitchFamily="2" charset="-122"/>
                <a:cs typeface="宋体" panose="02010600030101010101" pitchFamily="2" charset="-122"/>
              </a:rPr>
              <a:t>错。在此之后恢复正确。</a:t>
            </a:r>
            <a:endParaRPr sz="2800" dirty="0">
              <a:latin typeface="宋体" panose="02010600030101010101" pitchFamily="2" charset="-122"/>
              <a:ea typeface="宋体" panose="02010600030101010101" pitchFamily="2" charset="-122"/>
              <a:cs typeface="宋体" panose="02010600030101010101" pitchFamily="2" charset="-122"/>
            </a:endParaRPr>
          </a:p>
          <a:p>
            <a:pPr marL="33020" algn="l" rtl="0" eaLnBrk="0">
              <a:lnSpc>
                <a:spcPts val="3890"/>
              </a:lnSpc>
              <a:spcBef>
                <a:spcPts val="340"/>
              </a:spcBef>
            </a:pPr>
            <a:r>
              <a:rPr sz="3100" kern="0" spc="0" dirty="0">
                <a:solidFill>
                  <a:srgbClr val="000000">
                    <a:alpha val="100000"/>
                  </a:srgbClr>
                </a:solidFill>
                <a:latin typeface="Wingdings" panose="05000000000000000000"/>
                <a:ea typeface="Wingdings" panose="05000000000000000000"/>
                <a:cs typeface="Wingdings" panose="05000000000000000000"/>
              </a:rPr>
              <a:t>l</a:t>
            </a:r>
            <a:r>
              <a:rPr sz="28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加解密会造成错误传播。但错误传播有界，在错误</a:t>
            </a:r>
            <a:r>
              <a:rPr sz="2800" b="1" kern="0" spc="-2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过去</a:t>
            </a:r>
            <a:r>
              <a:rPr lang="en-US" sz="2800" b="1" kern="0" spc="-2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endParaRPr lang="en-US" sz="2800" b="1" kern="0" spc="-2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33020" algn="l" rtl="0" eaLnBrk="0">
              <a:lnSpc>
                <a:spcPts val="3890"/>
              </a:lnSpc>
              <a:spcBef>
                <a:spcPts val="340"/>
              </a:spcBef>
            </a:pPr>
            <a:r>
              <a:rPr lang="en-US" sz="2800" b="1" kern="0" spc="-2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2800" b="1" kern="0" spc="-2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之后恢复正确。</a:t>
            </a:r>
            <a:endParaRPr sz="2800" dirty="0">
              <a:latin typeface="宋体" panose="02010600030101010101" pitchFamily="2" charset="-122"/>
              <a:ea typeface="宋体" panose="02010600030101010101" pitchFamily="2" charset="-122"/>
              <a:cs typeface="宋体" panose="02010600030101010101" pitchFamily="2" charset="-122"/>
            </a:endParaRPr>
          </a:p>
          <a:p>
            <a:pPr marL="33020" algn="l" rtl="0" eaLnBrk="0">
              <a:lnSpc>
                <a:spcPts val="3890"/>
              </a:lnSpc>
              <a:spcBef>
                <a:spcPts val="340"/>
              </a:spcBef>
            </a:pPr>
            <a:endParaRPr sz="2800" dirty="0">
              <a:latin typeface="宋体" panose="02010600030101010101" pitchFamily="2" charset="-122"/>
              <a:ea typeface="宋体" panose="02010600030101010101" pitchFamily="2" charset="-122"/>
              <a:cs typeface="宋体" panose="02010600030101010101" pitchFamily="2" charset="-122"/>
            </a:endParaRPr>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b="1" u="sng" kern="0" spc="-1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自</a:t>
            </a:r>
            <a:r>
              <a:rPr sz="3600" b="1" u="sng" kern="0" spc="-1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同步流密码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141095"/>
            <a:ext cx="9037320" cy="4823460"/>
          </a:xfrm>
          <a:prstGeom prst="rect">
            <a:avLst/>
          </a:prstGeom>
        </p:spPr>
      </p:pic>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b="1" u="sng" kern="0" spc="-1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自</a:t>
            </a:r>
            <a:r>
              <a:rPr sz="3600" b="1" u="sng" kern="0" spc="-1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同步流密码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流密码</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a:t>
            </a: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线性反馈移位寄存</a:t>
            </a:r>
            <a:r>
              <a:rPr sz="3600" b="1" kern="0" spc="-40" dirty="0">
                <a:solidFill>
                  <a:srgbClr val="000000">
                    <a:alpha val="100000"/>
                  </a:srgbClr>
                </a:solidFill>
                <a:latin typeface="仿宋" panose="02010609060101010101" charset="-122"/>
                <a:ea typeface="仿宋" panose="02010609060101010101" charset="-122"/>
                <a:cs typeface="仿宋" panose="02010609060101010101" charset="-122"/>
                <a:sym typeface="+mn-ea"/>
              </a:rPr>
              <a:t>器</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224915" y="384810"/>
            <a:ext cx="9114155" cy="4518660"/>
          </a:xfrm>
          <a:prstGeom prst="rect">
            <a:avLst/>
          </a:prstGeom>
        </p:spPr>
      </p:pic>
      <p:pic>
        <p:nvPicPr>
          <p:cNvPr id="3" name="图片 2"/>
          <p:cNvPicPr>
            <a:picLocks noChangeAspect="1"/>
          </p:cNvPicPr>
          <p:nvPr/>
        </p:nvPicPr>
        <p:blipFill>
          <a:blip r:embed="rId3"/>
          <a:stretch>
            <a:fillRect/>
          </a:stretch>
        </p:blipFill>
        <p:spPr>
          <a:xfrm>
            <a:off x="1224915" y="4903470"/>
            <a:ext cx="9114155" cy="165481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140460" y="444500"/>
            <a:ext cx="9646920" cy="579310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628140" y="1167765"/>
            <a:ext cx="8703310" cy="495998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242695" y="1176655"/>
            <a:ext cx="9259570" cy="429704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465580" y="1219200"/>
            <a:ext cx="9065895" cy="43751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6" name="图片 5"/>
          <p:cNvPicPr>
            <a:picLocks noChangeAspect="1"/>
          </p:cNvPicPr>
          <p:nvPr/>
        </p:nvPicPr>
        <p:blipFill>
          <a:blip r:embed="rId2"/>
          <a:stretch>
            <a:fillRect/>
          </a:stretch>
        </p:blipFill>
        <p:spPr>
          <a:xfrm>
            <a:off x="1331595" y="1205230"/>
            <a:ext cx="9048115" cy="488378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372870" y="1203325"/>
            <a:ext cx="9400540" cy="474916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300480" y="1256665"/>
            <a:ext cx="9512300" cy="465264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396365" y="1252855"/>
            <a:ext cx="9852660" cy="431482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364615" y="1063625"/>
            <a:ext cx="9238615" cy="490791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465580" y="1176020"/>
            <a:ext cx="9385935" cy="494220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521460" y="1063625"/>
            <a:ext cx="9037320" cy="5344160"/>
          </a:xfrm>
          <a:prstGeom prst="rect">
            <a:avLst/>
          </a:prstGeom>
        </p:spPr>
      </p:pic>
      <p:sp>
        <p:nvSpPr>
          <p:cNvPr id="6" name="矩形 5"/>
          <p:cNvSpPr/>
          <p:nvPr/>
        </p:nvSpPr>
        <p:spPr>
          <a:xfrm>
            <a:off x="694055" y="5801360"/>
            <a:ext cx="3766185"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9565005" y="5801360"/>
            <a:ext cx="238379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线性移位寄存器流密码的密码学性质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521460" y="1255395"/>
            <a:ext cx="8994140" cy="45669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线性移位寄存器流密码的密码学性质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465580" y="1199515"/>
            <a:ext cx="8559165" cy="439928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线性移位寄存器流密码的密码学性质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465580" y="1109345"/>
            <a:ext cx="9246870" cy="489204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线性移位寄存器流密码的密码学性质</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520825" y="1133475"/>
            <a:ext cx="9354185" cy="469328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线性移位寄存器流密码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160780" y="1198880"/>
            <a:ext cx="8273415" cy="3156585"/>
          </a:xfrm>
          <a:prstGeom prst="rect">
            <a:avLst/>
          </a:prstGeom>
        </p:spPr>
      </p:pic>
      <p:pic>
        <p:nvPicPr>
          <p:cNvPr id="6" name="图片 5"/>
          <p:cNvPicPr>
            <a:picLocks noChangeAspect="1"/>
          </p:cNvPicPr>
          <p:nvPr/>
        </p:nvPicPr>
        <p:blipFill>
          <a:blip r:embed="rId3"/>
          <a:stretch>
            <a:fillRect/>
          </a:stretch>
        </p:blipFill>
        <p:spPr>
          <a:xfrm>
            <a:off x="1419860" y="3825240"/>
            <a:ext cx="9095740" cy="12128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流密码</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a:t>
            </a:r>
            <a:r>
              <a:rPr lang="zh-CN" altLang="en-US"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非</a:t>
            </a: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线性移位寄存</a:t>
            </a:r>
            <a:r>
              <a:rPr sz="3600" b="1" kern="0" spc="-40" dirty="0">
                <a:solidFill>
                  <a:srgbClr val="000000">
                    <a:alpha val="100000"/>
                  </a:srgbClr>
                </a:solidFill>
                <a:latin typeface="仿宋" panose="02010609060101010101" charset="-122"/>
                <a:ea typeface="仿宋" panose="02010609060101010101" charset="-122"/>
                <a:cs typeface="仿宋" panose="02010609060101010101" charset="-122"/>
                <a:sym typeface="+mn-ea"/>
              </a:rPr>
              <a:t>器</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376680" y="1258570"/>
            <a:ext cx="8888095" cy="477710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358900" y="1107440"/>
            <a:ext cx="9229090" cy="479234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465580" y="1249680"/>
            <a:ext cx="9050020" cy="377126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640205" y="1063625"/>
            <a:ext cx="8875395" cy="482092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628140" y="1171575"/>
            <a:ext cx="8993505" cy="480441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465580" y="1193165"/>
            <a:ext cx="9029700" cy="41529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465580" y="1245235"/>
            <a:ext cx="8870950" cy="451993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非线性寄存器流密码</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734185" y="1202055"/>
            <a:ext cx="8102600" cy="439674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流密码</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—RC4</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6" name="图片 5"/>
          <p:cNvPicPr>
            <a:picLocks noChangeAspect="1"/>
          </p:cNvPicPr>
          <p:nvPr/>
        </p:nvPicPr>
        <p:blipFill>
          <a:blip r:embed="rId2"/>
          <a:stretch>
            <a:fillRect/>
          </a:stretch>
        </p:blipFill>
        <p:spPr>
          <a:xfrm>
            <a:off x="1448435" y="1219200"/>
            <a:ext cx="9227820" cy="466407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7" name="图片 6"/>
          <p:cNvPicPr>
            <a:picLocks noChangeAspect="1"/>
          </p:cNvPicPr>
          <p:nvPr/>
        </p:nvPicPr>
        <p:blipFill>
          <a:blip r:embed="rId2"/>
          <a:stretch>
            <a:fillRect/>
          </a:stretch>
        </p:blipFill>
        <p:spPr>
          <a:xfrm>
            <a:off x="1416050" y="1280160"/>
            <a:ext cx="9086850" cy="284734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470025" y="1220470"/>
            <a:ext cx="9045575" cy="441769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tretch>
            <a:fillRect/>
          </a:stretch>
        </p:blipFill>
        <p:spPr>
          <a:xfrm>
            <a:off x="1628140" y="1223645"/>
            <a:ext cx="8422640" cy="455485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2" name="文本框 1"/>
          <p:cNvSpPr txBox="1"/>
          <p:nvPr/>
        </p:nvSpPr>
        <p:spPr>
          <a:xfrm>
            <a:off x="1521460" y="1261110"/>
            <a:ext cx="9951720" cy="4030980"/>
          </a:xfrm>
          <a:prstGeom prst="rect">
            <a:avLst/>
          </a:prstGeom>
          <a:noFill/>
        </p:spPr>
        <p:txBody>
          <a:bodyPr wrap="square" rtlCol="0" anchor="t">
            <a:spAutoFit/>
          </a:bodyPr>
          <a:p>
            <a:r>
              <a:rPr lang="zh-CN" altLang="en-US" sz="3200"/>
              <a:t>一、初始化S表</a:t>
            </a:r>
            <a:endParaRPr lang="zh-CN" altLang="en-US" sz="3200"/>
          </a:p>
          <a:p>
            <a:pPr marL="457200" indent="-457200">
              <a:buFont typeface="Arial" panose="020B0604020202020204" pitchFamily="34" charset="0"/>
              <a:buChar char="•"/>
            </a:pPr>
            <a:r>
              <a:rPr lang="zh-CN" altLang="en-US" sz="3200"/>
              <a:t>Step1:对</a:t>
            </a:r>
            <a:r>
              <a:rPr lang="zh-CN" altLang="en-US" sz="3200">
                <a:solidFill>
                  <a:srgbClr val="FF0000"/>
                </a:solidFill>
              </a:rPr>
              <a:t>S表</a:t>
            </a:r>
            <a:r>
              <a:rPr lang="zh-CN" altLang="en-US" sz="3200"/>
              <a:t>进行线性填充，</a:t>
            </a:r>
            <a:r>
              <a:rPr lang="zh-CN" altLang="en-US" sz="3200">
                <a:sym typeface="+mn-ea"/>
              </a:rPr>
              <a:t>一般为256个字节;</a:t>
            </a:r>
            <a:endParaRPr lang="zh-CN" altLang="en-US" sz="3200">
              <a:sym typeface="+mn-ea"/>
            </a:endParaRPr>
          </a:p>
          <a:p>
            <a:pPr marL="457200" indent="-457200">
              <a:buFont typeface="Arial" panose="020B0604020202020204" pitchFamily="34" charset="0"/>
              <a:buChar char="•"/>
            </a:pPr>
            <a:r>
              <a:rPr lang="zh-CN" altLang="en-US" sz="3200"/>
              <a:t>Step2:用</a:t>
            </a:r>
            <a:r>
              <a:rPr lang="zh-CN" altLang="en-US" sz="3200">
                <a:solidFill>
                  <a:srgbClr val="FF0000"/>
                </a:solidFill>
              </a:rPr>
              <a:t>种子密钥</a:t>
            </a:r>
            <a:r>
              <a:rPr lang="zh-CN" altLang="en-US" sz="3200"/>
              <a:t>填充另一个256字节的</a:t>
            </a:r>
            <a:r>
              <a:rPr lang="zh-CN" altLang="en-US" sz="3200">
                <a:solidFill>
                  <a:srgbClr val="FF0000"/>
                </a:solidFill>
              </a:rPr>
              <a:t>K</a:t>
            </a:r>
            <a:r>
              <a:rPr lang="zh-CN" altLang="en-US" sz="3200"/>
              <a:t>表;</a:t>
            </a:r>
            <a:endParaRPr lang="zh-CN" altLang="en-US" sz="3200"/>
          </a:p>
          <a:p>
            <a:pPr marL="457200" indent="-457200">
              <a:buFont typeface="Arial" panose="020B0604020202020204" pitchFamily="34" charset="0"/>
              <a:buChar char="•"/>
            </a:pPr>
            <a:r>
              <a:rPr lang="zh-CN" altLang="en-US" sz="3200"/>
              <a:t>Step3:用</a:t>
            </a:r>
            <a:r>
              <a:rPr lang="zh-CN" altLang="en-US" sz="3200">
                <a:solidFill>
                  <a:srgbClr val="FF0000"/>
                </a:solidFill>
              </a:rPr>
              <a:t>K表</a:t>
            </a:r>
            <a:r>
              <a:rPr lang="zh-CN" altLang="en-US" sz="3200"/>
              <a:t>对</a:t>
            </a:r>
            <a:r>
              <a:rPr lang="zh-CN" altLang="en-US" sz="3200">
                <a:solidFill>
                  <a:srgbClr val="FF0000"/>
                </a:solidFill>
              </a:rPr>
              <a:t>S表</a:t>
            </a:r>
            <a:r>
              <a:rPr lang="zh-CN" altLang="en-US" sz="3200"/>
              <a:t>进行</a:t>
            </a:r>
            <a:r>
              <a:rPr lang="zh-CN" altLang="en-US" sz="3200">
                <a:solidFill>
                  <a:srgbClr val="FF0000"/>
                </a:solidFill>
              </a:rPr>
              <a:t>初始置换</a:t>
            </a:r>
            <a:r>
              <a:rPr lang="zh-CN" altLang="en-US" sz="3200"/>
              <a:t>。</a:t>
            </a:r>
            <a:endParaRPr lang="zh-CN" altLang="en-US" sz="3200"/>
          </a:p>
          <a:p>
            <a:pPr marL="457200" indent="-457200"/>
            <a:r>
              <a:rPr lang="zh-CN" altLang="en-US" sz="3200"/>
              <a:t>二、密钥流的生成(为每个待加密的字节生成一个伪随机数，用来异或)</a:t>
            </a:r>
            <a:endParaRPr lang="zh-CN" altLang="en-US" sz="3200"/>
          </a:p>
          <a:p>
            <a:pPr marL="457200" indent="-457200"/>
            <a:r>
              <a:rPr lang="zh-CN" altLang="en-US" sz="3200"/>
              <a:t>注:表S一旦完成初始化，种子密钥就不再被使用。</a:t>
            </a:r>
            <a:endParaRPr lang="zh-CN" altLang="en-US" sz="3200"/>
          </a:p>
          <a:p>
            <a:endParaRPr lang="zh-CN" altLang="en-US" sz="32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7" name="图片 6"/>
          <p:cNvPicPr>
            <a:picLocks noChangeAspect="1"/>
          </p:cNvPicPr>
          <p:nvPr/>
        </p:nvPicPr>
        <p:blipFill>
          <a:blip r:embed="rId2"/>
          <a:stretch>
            <a:fillRect/>
          </a:stretch>
        </p:blipFill>
        <p:spPr>
          <a:xfrm>
            <a:off x="1386205" y="1242695"/>
            <a:ext cx="8803005" cy="473138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5" name="图片 4"/>
          <p:cNvPicPr>
            <a:picLocks noChangeAspect="1"/>
          </p:cNvPicPr>
          <p:nvPr/>
        </p:nvPicPr>
        <p:blipFill>
          <a:blip r:embed="rId2"/>
          <a:srcRect l="1444" t="32" r="3824" b="15418"/>
          <a:stretch>
            <a:fillRect/>
          </a:stretch>
        </p:blipFill>
        <p:spPr>
          <a:xfrm>
            <a:off x="369570" y="1191260"/>
            <a:ext cx="11453495" cy="5073650"/>
          </a:xfrm>
          <a:prstGeom prst="rect">
            <a:avLst/>
          </a:prstGeom>
        </p:spPr>
      </p:pic>
      <p:sp>
        <p:nvSpPr>
          <p:cNvPr id="7" name="矩形 6"/>
          <p:cNvSpPr/>
          <p:nvPr/>
        </p:nvSpPr>
        <p:spPr>
          <a:xfrm>
            <a:off x="8959850" y="1336040"/>
            <a:ext cx="2392680" cy="4787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rcRect l="4897" r="4794"/>
          <a:stretch>
            <a:fillRect/>
          </a:stretch>
        </p:blipFill>
        <p:spPr>
          <a:xfrm>
            <a:off x="253365" y="408305"/>
            <a:ext cx="11698605" cy="6000750"/>
          </a:xfrm>
          <a:prstGeom prst="rect">
            <a:avLst/>
          </a:prstGeom>
        </p:spPr>
      </p:pic>
      <p:sp>
        <p:nvSpPr>
          <p:cNvPr id="7" name="矩形 6"/>
          <p:cNvSpPr/>
          <p:nvPr/>
        </p:nvSpPr>
        <p:spPr>
          <a:xfrm>
            <a:off x="4460240" y="5498465"/>
            <a:ext cx="3128645" cy="73787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
        <p:nvSpPr>
          <p:cNvPr id="8" name="矩形 7"/>
          <p:cNvSpPr/>
          <p:nvPr/>
        </p:nvSpPr>
        <p:spPr>
          <a:xfrm>
            <a:off x="8959215" y="650875"/>
            <a:ext cx="2392680" cy="6223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
        <p:nvSpPr>
          <p:cNvPr id="9" name="矩形 8"/>
          <p:cNvSpPr/>
          <p:nvPr/>
        </p:nvSpPr>
        <p:spPr>
          <a:xfrm>
            <a:off x="10502900" y="5120005"/>
            <a:ext cx="575310" cy="88265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3" name="矩形 2"/>
          <p:cNvSpPr/>
          <p:nvPr/>
        </p:nvSpPr>
        <p:spPr>
          <a:xfrm>
            <a:off x="1521460" y="559879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413115" y="5498465"/>
            <a:ext cx="2938780" cy="6064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流密码</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——RC4</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8" name="图片 7"/>
          <p:cNvPicPr>
            <a:picLocks noChangeAspect="1"/>
          </p:cNvPicPr>
          <p:nvPr/>
        </p:nvPicPr>
        <p:blipFill>
          <a:blip r:embed="rId2"/>
          <a:srcRect b="21177"/>
          <a:stretch>
            <a:fillRect/>
          </a:stretch>
        </p:blipFill>
        <p:spPr>
          <a:xfrm>
            <a:off x="1395730" y="1246505"/>
            <a:ext cx="9352280" cy="3282950"/>
          </a:xfrm>
          <a:prstGeom prst="rect">
            <a:avLst/>
          </a:prstGeom>
        </p:spPr>
      </p:pic>
    </p:spTree>
  </p:cSld>
  <p:clrMapOvr>
    <a:masterClrMapping/>
  </p:clrMapOvr>
</p:sld>
</file>

<file path=ppt/tags/tag1.xml><?xml version="1.0" encoding="utf-8"?>
<p:tagLst xmlns:p="http://schemas.openxmlformats.org/presentationml/2006/main">
  <p:tag name="KSO_WM_UNIT_PLACING_PICTURE_USER_VIEWPORT" val="{&quot;height&quot;:11049,&quot;width&quot;:10078}"/>
</p:tagLst>
</file>

<file path=ppt/tags/tag2.xml><?xml version="1.0" encoding="utf-8"?>
<p:tagLst xmlns:p="http://schemas.openxmlformats.org/presentationml/2006/main">
  <p:tag name="KSO_WM_UNIT_PLACING_PICTURE_USER_VIEWPORT" val="{&quot;height&quot;:5708,&quot;width&quot;:11513}"/>
</p:tagLst>
</file>

<file path=ppt/tags/tag3.xml><?xml version="1.0" encoding="utf-8"?>
<p:tagLst xmlns:p="http://schemas.openxmlformats.org/presentationml/2006/main">
  <p:tag name="commondata" val="eyJoZGlkIjoiYTZjMDVlOGU3NzYyNzY0OTFhOTY2NDMyZDQ3MGI5MmUifQ=="/>
  <p:tag name="KSO_WPP_MARK_KEY" val="61f1a902-c4a5-4fa1-9c5a-b4aeac1a8533"/>
  <p:tag name="COMMONDATA" val="eyJoZGlkIjoiMzEwNTM5NzYwMDRjMzkwZTVkZjY2ODkwMGIxNGU0OTU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5411</Words>
  <Application>WPS 演示</Application>
  <PresentationFormat>宽屏</PresentationFormat>
  <Paragraphs>750</Paragraphs>
  <Slides>84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84</vt:i4>
      </vt:variant>
    </vt:vector>
  </HeadingPairs>
  <TitlesOfParts>
    <vt:vector size="97" baseType="lpstr">
      <vt:lpstr>Arial</vt:lpstr>
      <vt:lpstr>宋体</vt:lpstr>
      <vt:lpstr>Wingdings</vt:lpstr>
      <vt:lpstr>仿宋</vt:lpstr>
      <vt:lpstr>Times New Roman</vt:lpstr>
      <vt:lpstr>Calibri</vt:lpstr>
      <vt:lpstr>微软雅黑</vt:lpstr>
      <vt:lpstr>Arial Unicode MS</vt:lpstr>
      <vt:lpstr>Arial</vt:lpstr>
      <vt:lpstr>Courier New</vt:lpstr>
      <vt:lpstr>Comic Sans MS</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11</cp:revision>
  <dcterms:created xsi:type="dcterms:W3CDTF">2023-08-09T12:44:00Z</dcterms:created>
  <dcterms:modified xsi:type="dcterms:W3CDTF">2025-03-25T11:54:24Z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2052-11.1.0.12375</vt:lpwstr>
  </property>
</Properties>
</file>