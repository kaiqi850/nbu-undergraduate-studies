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5.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35" r:id="rId3"/>
    <p:sldId id="787" r:id="rId4"/>
    <p:sldId id="724" r:id="rId6"/>
    <p:sldId id="794" r:id="rId7"/>
    <p:sldId id="800" r:id="rId8"/>
    <p:sldId id="803" r:id="rId9"/>
    <p:sldId id="804" r:id="rId10"/>
    <p:sldId id="805" r:id="rId11"/>
    <p:sldId id="809" r:id="rId12"/>
    <p:sldId id="810" r:id="rId13"/>
    <p:sldId id="815" r:id="rId14"/>
    <p:sldId id="818" r:id="rId15"/>
    <p:sldId id="819" r:id="rId16"/>
    <p:sldId id="841" r:id="rId17"/>
    <p:sldId id="842" r:id="rId18"/>
    <p:sldId id="843" r:id="rId19"/>
    <p:sldId id="844" r:id="rId20"/>
    <p:sldId id="845" r:id="rId21"/>
    <p:sldId id="846" r:id="rId22"/>
    <p:sldId id="847" r:id="rId23"/>
    <p:sldId id="848" r:id="rId24"/>
    <p:sldId id="849" r:id="rId25"/>
    <p:sldId id="850" r:id="rId26"/>
    <p:sldId id="851" r:id="rId27"/>
    <p:sldId id="852" r:id="rId28"/>
    <p:sldId id="853" r:id="rId29"/>
    <p:sldId id="854" r:id="rId30"/>
    <p:sldId id="855" r:id="rId31"/>
    <p:sldId id="856" r:id="rId32"/>
    <p:sldId id="857" r:id="rId33"/>
    <p:sldId id="858" r:id="rId34"/>
    <p:sldId id="859" r:id="rId35"/>
    <p:sldId id="860" r:id="rId36"/>
    <p:sldId id="861" r:id="rId37"/>
    <p:sldId id="862" r:id="rId38"/>
    <p:sldId id="899" r:id="rId39"/>
    <p:sldId id="863" r:id="rId40"/>
    <p:sldId id="864" r:id="rId41"/>
    <p:sldId id="865" r:id="rId42"/>
    <p:sldId id="866" r:id="rId43"/>
    <p:sldId id="867" r:id="rId44"/>
    <p:sldId id="868" r:id="rId45"/>
    <p:sldId id="869" r:id="rId46"/>
    <p:sldId id="870" r:id="rId47"/>
    <p:sldId id="871" r:id="rId48"/>
    <p:sldId id="873" r:id="rId49"/>
    <p:sldId id="874" r:id="rId50"/>
    <p:sldId id="875" r:id="rId51"/>
    <p:sldId id="876" r:id="rId52"/>
    <p:sldId id="877" r:id="rId53"/>
    <p:sldId id="878" r:id="rId54"/>
    <p:sldId id="900" r:id="rId55"/>
    <p:sldId id="901" r:id="rId56"/>
    <p:sldId id="902" r:id="rId57"/>
    <p:sldId id="903" r:id="rId58"/>
    <p:sldId id="904" r:id="rId59"/>
    <p:sldId id="879" r:id="rId60"/>
    <p:sldId id="880" r:id="rId61"/>
    <p:sldId id="881" r:id="rId62"/>
    <p:sldId id="882" r:id="rId63"/>
    <p:sldId id="905" r:id="rId64"/>
    <p:sldId id="883" r:id="rId65"/>
    <p:sldId id="884" r:id="rId66"/>
    <p:sldId id="885" r:id="rId67"/>
    <p:sldId id="886" r:id="rId68"/>
    <p:sldId id="887" r:id="rId69"/>
    <p:sldId id="888" r:id="rId70"/>
    <p:sldId id="889" r:id="rId71"/>
    <p:sldId id="890" r:id="rId72"/>
    <p:sldId id="891" r:id="rId73"/>
    <p:sldId id="892" r:id="rId74"/>
    <p:sldId id="893" r:id="rId75"/>
    <p:sldId id="894" r:id="rId76"/>
    <p:sldId id="895" r:id="rId77"/>
    <p:sldId id="896" r:id="rId78"/>
    <p:sldId id="897" r:id="rId79"/>
    <p:sldId id="898" r:id="rId80"/>
  </p:sldIdLst>
  <p:sldSz cx="12192000" cy="6858000" type="screen4x3"/>
  <p:notesSz cx="6858000" cy="9144000"/>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7"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97"/>
        <p:guide pos="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1.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数字签名和传统签名的区别在载体上有一些区别。一个签名有消息和载体两个部分。</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数字签名和传统签名的区别在载体上有一些区别。一个签名有消息和载体两个部分。</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数字签名和传统签名的区别在载体上有一些区别。一个签名有消息和载体两个部分。</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数字签名和传统签名的区别在载体上有一些区别。一个签名有消息和载体两个部分。</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数字签名和传统签名的区别在载体上有一些区别。一个签名有消息和载体两个部分。</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图13.2对用 DSA产生数字签名和用RSA 产生数字签名这两种方法进行了对比。在RSA 方法 中，Hash函数的输入是要签名的消息，输出是定长的Hash 码，用发送方的私钥将该 Hash码加密形 成签名，然后发送消息及其签名。接收方收到消息，计算 Hash 码。接收方用发送方的公钥对签名 解密，如果计算出的 Hash 码与解密出的结果相同，则认为签名是有效的。因为只有发送方拥有私 钥，所以只有发送方能够产生有效的签名。</a:t>
            </a:r>
            <a:endParaRPr lang="zh-CN" altLang="en-US"/>
          </a:p>
          <a:p>
            <a:endParaRPr lang="zh-CN" altLang="en-US"/>
          </a:p>
          <a:p>
            <a:r>
              <a:rPr lang="zh-CN" altLang="en-US"/>
              <a:t>DSA方法也使用Hash 函数，它产生的Hash 码和为此次签名而产生的随机数k 作为签名函数的 输 入 ，</a:t>
            </a:r>
            <a:r>
              <a:rPr lang="zh-CN" altLang="en-US" b="1"/>
              <a:t> 签 名 函 数 依 赖 于 发 送 方 的 私 钥 (PR₄)</a:t>
            </a:r>
            <a:r>
              <a:rPr lang="zh-CN" altLang="en-US"/>
              <a:t> 和 一 组 参 数 ， 这 些 参 数 为 一 组 通 信 伙 伴 所 共 有 ， 我 们可以认为这组参数构成</a:t>
            </a:r>
            <a:r>
              <a:rPr lang="zh-CN" altLang="en-US" b="1"/>
              <a:t>全局公钥 (PUg)° </a:t>
            </a:r>
            <a:r>
              <a:rPr lang="zh-CN" altLang="en-US"/>
              <a:t>。   签名由两部分组成，标记为s 和 r。</a:t>
            </a:r>
            <a:endParaRPr lang="zh-CN" altLang="en-US"/>
          </a:p>
          <a:p>
            <a:r>
              <a:rPr lang="zh-CN" altLang="en-US"/>
              <a:t>接收方对接收到的消息产生 Hash 码，这个 Hash 码和签名一起作为验证函数的输入，验证函数 </a:t>
            </a:r>
            <a:r>
              <a:rPr lang="zh-CN" altLang="en-US" b="1"/>
              <a:t>  依赖于全局公钥和发送方公钥 (PU₄)</a:t>
            </a:r>
            <a:r>
              <a:rPr lang="zh-CN" altLang="en-US"/>
              <a:t>,     该发送方公钥同发送方的私钥组成密钥对。若验证函数的输  出等于签名中的r 成分，则签名是有效的。签名函数保证只有拥有私钥的发送方才能产生有效签名。</a:t>
            </a:r>
            <a:endParaRPr lang="zh-CN" altLang="en-US"/>
          </a:p>
          <a:p>
            <a:r>
              <a:rPr lang="zh-CN" altLang="en-US"/>
              <a:t>下面我们详细讨论数字签名算法。</a:t>
            </a:r>
            <a:endParaRPr lang="zh-CN" altLang="en-US"/>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数字签名和传统签名的区别在载体上有一些区别。一个签名有消息和载体两个部分。</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问题一：如果攻击者获得一个密钥，那么之后的密钥都会被 泄露那么所有的密钥就面临重新分发的问题</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其中第(1)项和第(2)项需要手动交付一个密钥，对于链接加密来说是必需的，因为每个链接加密设备都只能与链接终端的用户交换数据。</a:t>
            </a:r>
            <a:endParaRPr lang="zh-CN" altLang="en-US"/>
          </a:p>
          <a:p>
            <a:r>
              <a:rPr lang="zh-CN" altLang="en-US"/>
              <a:t>然而，手动交付对于网络中的端到端加密是不实用的。</a:t>
            </a:r>
            <a:endParaRPr lang="zh-CN" altLang="en-US"/>
          </a:p>
          <a:p>
            <a:r>
              <a:rPr lang="zh-CN" altLang="en-US"/>
              <a:t>在分布式系统中，任何给定的主机或者终端可能需要同时与很多其他主机或终端交换数据，因此每个设备都需要动态提供大量的密钥。这个问题在大范围的分布式系统中更加明显。</a:t>
            </a:r>
            <a:endParaRPr lang="zh-CN" altLang="en-US"/>
          </a:p>
          <a:p>
            <a:r>
              <a:rPr lang="zh-CN" altLang="en-US"/>
              <a:t>这个问题的规模依赖于需支持的通信对的数目。如果端到端加密在网络中或者IP层执行，那么网络中每一对想要通信的主机都需要一个密钥，即若有N台主机则需要的密钥数目为</a:t>
            </a:r>
            <a:endParaRPr lang="zh-CN" altLang="en-US"/>
          </a:p>
          <a:p>
            <a:r>
              <a:rPr lang="zh-CN" altLang="en-US"/>
              <a:t>[N(N-1)]/2。</a:t>
            </a:r>
            <a:endParaRPr lang="zh-CN" altLang="en-US"/>
          </a:p>
          <a:p>
            <a:r>
              <a:rPr lang="zh-CN" altLang="en-US"/>
              <a:t>如果加密在应用层执行的话，每一对需要通信的用户或者进程都需要一个密钥，然而一个网络可能有上百台主机，但却有上千个用户和进程。</a:t>
            </a:r>
            <a:endParaRPr lang="zh-CN" altLang="en-US"/>
          </a:p>
          <a:p>
            <a:r>
              <a:rPr lang="zh-CN" altLang="en-US"/>
              <a:t>图14.1中举例说明了端到端加密的密钥分发任务的量级。</a:t>
            </a:r>
            <a:endParaRPr lang="zh-CN" altLang="en-US"/>
          </a:p>
          <a:p>
            <a:r>
              <a:rPr lang="zh-CN" altLang="en-US"/>
              <a:t>一个基于节点的网络有1000个节点就需要分发大概50万个密钥，如果相同的网络支持10000个应用，则在应用层加密就需要5000万个密钥。</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在进行容钥分发的过程中会使用到2种类型的key：</a:t>
            </a:r>
            <a:endParaRPr lang="zh-CN" altLang="en-US"/>
          </a:p>
          <a:p>
            <a:r>
              <a:rPr lang="zh-CN" altLang="en-US"/>
              <a:t>一个是用户与KDC共有的唯一的主密钥；</a:t>
            </a:r>
            <a:endParaRPr lang="zh-CN" altLang="en-US"/>
          </a:p>
          <a:p>
            <a:r>
              <a:rPr lang="zh-CN" altLang="en-US"/>
              <a:t>还有一</a:t>
            </a:r>
            <a:r>
              <a:rPr lang="zh-CN" altLang="en-US"/>
              <a:t>个类型就是每次通信使用的会话密钥</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KDC是基于密钥层次体系的最少需要2个密钥层</a:t>
            </a:r>
            <a:r>
              <a:rPr lang="zh-CN" altLang="en-US"/>
              <a:t>＇两个终端系统之间使用临时key 通常是指会话key</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密钥分发可以用不同的方式实现， 一种典型的方案如图14.3所示。该方案假设每个用户 和密钥分发中心 (KDC)   共享唯一的密钥。</a:t>
            </a:r>
            <a:endParaRPr lang="zh-CN" altLang="en-US"/>
          </a:p>
          <a:p>
            <a:r>
              <a:rPr lang="zh-CN" altLang="en-US"/>
              <a:t>假设用户A 想要和B 建立以逻辑连接，并且要求一次性的会话密钥来保护连接上传输的数据。 A有主密钥K 。(只有它自己和KDC 知道),B 有主密钥K 。( 和KDC 共享),步骤如下：</a:t>
            </a:r>
            <a:endParaRPr lang="zh-CN" altLang="en-US"/>
          </a:p>
          <a:p>
            <a:r>
              <a:rPr lang="en-US" altLang="zh-CN"/>
              <a:t>(1) IDA</a:t>
            </a:r>
            <a:r>
              <a:rPr lang="zh-CN" altLang="en-US"/>
              <a:t>和</a:t>
            </a:r>
            <a:r>
              <a:rPr lang="en-US" altLang="zh-CN"/>
              <a:t>IDB</a:t>
            </a:r>
            <a:r>
              <a:rPr lang="zh-CN" altLang="en-US"/>
              <a:t>是</a:t>
            </a:r>
            <a:r>
              <a:rPr lang="en-US" altLang="zh-CN"/>
              <a:t>A</a:t>
            </a:r>
            <a:r>
              <a:rPr lang="zh-CN" altLang="en-US"/>
              <a:t>和</a:t>
            </a:r>
            <a:r>
              <a:rPr lang="en-US" altLang="zh-CN"/>
              <a:t>B</a:t>
            </a:r>
            <a:r>
              <a:rPr lang="zh-CN" altLang="en-US"/>
              <a:t>的身份表示，</a:t>
            </a:r>
            <a:r>
              <a:rPr lang="en-US" altLang="zh-CN"/>
              <a:t>N1</a:t>
            </a:r>
            <a:r>
              <a:rPr lang="zh-CN" altLang="en-US"/>
              <a:t>是这次通信的唯一标识（</a:t>
            </a:r>
            <a:r>
              <a:rPr lang="en-US" altLang="zh-CN"/>
              <a:t>nonce</a:t>
            </a:r>
            <a:r>
              <a:rPr lang="zh-CN" altLang="en-US"/>
              <a:t>）。可以是随机数、时间戳或者计数器。防止伪造和重放</a:t>
            </a:r>
            <a:r>
              <a:rPr lang="zh-CN" altLang="en-US"/>
              <a:t>会话。</a:t>
            </a:r>
            <a:endParaRPr lang="zh-CN" altLang="en-US"/>
          </a:p>
          <a:p>
            <a:endParaRPr lang="zh-CN" altLang="en-US"/>
          </a:p>
          <a:p>
            <a:endParaRPr lang="zh-CN" altLang="en-US"/>
          </a:p>
          <a:p>
            <a:endParaRPr lang="zh-CN" altLang="en-US"/>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对于单个的KDC 没有必要限制其密钥分发功能，但是，对大型网络来说这样做是不实用的。 为了改变这种状况，出现了KDC 的层次体系，例如有本地KDC,  每一个本地 KDC负责其所在  的整个内部网络的一个域，如一个局域网 (LAN)    或者一栋建筑物。由于同一个本地域中的各  个实体要相互通信，故由本地KDC 负责密钥分发。如果两个实体在不同的域，则需要一个共享  密钥，此共享密钥由两个相对应的本地KDC 通过全局KDC 协商产生，这种情况下，这三个KDC   中的任意一个都可以选择密钥。层次的概念可以依据用户的规模以及内部网络的地理范围扩展  到三个或者更多的层。</a:t>
            </a:r>
            <a:endParaRPr lang="zh-CN" altLang="en-US"/>
          </a:p>
          <a:p>
            <a:r>
              <a:rPr lang="zh-CN" altLang="en-US"/>
              <a:t>层次策略使得主密钥分发的开销最小化，因为大部分的主密钥是由本地 KDC 及其实体所共享 的，而且，该策略将有缺陷的或者被破坏的KDC的危害限制在本地域中</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会话密钥交换得越频繁就越安全，因为对于任何给定的会话密钥，攻击者拥有的密文会比较少。</a:t>
            </a:r>
            <a:endParaRPr lang="zh-CN" altLang="en-US"/>
          </a:p>
          <a:p>
            <a:r>
              <a:rPr lang="zh-CN" altLang="en-US"/>
              <a:t> 另一方面，会话密钥分发会延迟交换的开始时间，增加网络负担。安全管理者在决定特定会话密钥的生命周期时，必须平衡这些竞争代价。</a:t>
            </a:r>
            <a:endParaRPr lang="zh-CN" altLang="en-US"/>
          </a:p>
          <a:p>
            <a:endParaRPr lang="zh-CN" altLang="en-US"/>
          </a:p>
          <a:p>
            <a:r>
              <a:rPr lang="zh-CN" altLang="en-US"/>
              <a:t>对于面向连接的协议比如</a:t>
            </a:r>
            <a:r>
              <a:rPr lang="en-US" altLang="zh-CN"/>
              <a:t>TCP</a:t>
            </a:r>
            <a:r>
              <a:rPr lang="zh-CN" altLang="en-US"/>
              <a:t>，在会话的整个生命周期中使用同一个会话密钥，为每一次新的会话使用新的会话密钥。</a:t>
            </a:r>
            <a:endParaRPr lang="zh-CN" altLang="en-US"/>
          </a:p>
          <a:p>
            <a:r>
              <a:rPr lang="zh-CN" altLang="en-US"/>
              <a:t>如果一个逻辑连接的生命周期很长，则它需要周期性的改变会话密钥，协议数据单元 (PDU)   的序列号随之重置。</a:t>
            </a:r>
            <a:endParaRPr lang="zh-CN" altLang="en-US"/>
          </a:p>
          <a:p>
            <a:r>
              <a:rPr lang="zh-CN" altLang="en-US"/>
              <a:t>对一个无连接协议，如面向事务 (transaction)   的协议</a:t>
            </a:r>
            <a:r>
              <a:rPr lang="en-US" altLang="zh-CN"/>
              <a:t>UDP</a:t>
            </a:r>
            <a:r>
              <a:rPr lang="zh-CN" altLang="en-US"/>
              <a:t>，没有明确的连接初始和终止，因此不知道需要多长时间来更换一次密钥，最安全的方法是每次都使用新的会话密钥。然而，这也否定了无连接协议最主要的一个优点，即最小化每次执行的开销和延时。 一个比较好的策略是为特定时期或者特定数量的事务分配不同的会话密钥</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上一个图中给出的密钥管理</a:t>
            </a:r>
            <a:r>
              <a:rPr lang="zh-CN" altLang="en-US"/>
              <a:t>方案提出的方法有很多变体，这里将会描述其中一种(参见图14.4),这种策略以一种对终端用户透明的方式，对网络或者传输层提供端到端的加密。</a:t>
            </a:r>
            <a:endParaRPr lang="zh-CN" altLang="en-US"/>
          </a:p>
          <a:p>
            <a:r>
              <a:rPr lang="zh-CN" altLang="en-US"/>
              <a:t>该方法假定通信使用面向连接的端到端的协议如 TCP,  该方法设定会话安全单元(SSM),SSM包含协议层，执行端到端加密的功能以及 代表主机、终端获取会话密钥的功能。</a:t>
            </a:r>
            <a:endParaRPr lang="zh-CN" altLang="en-US"/>
          </a:p>
          <a:p>
            <a:endParaRPr lang="zh-CN" altLang="en-US"/>
          </a:p>
          <a:p>
            <a:r>
              <a:rPr lang="zh-CN" altLang="en-US"/>
              <a:t>建立连接的步骤如图14.4所示，当一台主机想要与另一台主机建立连接时，会发送一个连接建 立请求包(步骤1); </a:t>
            </a:r>
            <a:endParaRPr lang="zh-CN" altLang="en-US"/>
          </a:p>
          <a:p>
            <a:r>
              <a:rPr lang="zh-CN" altLang="en-US"/>
              <a:t>SSM 缓冲请求包后向KDC 申请建立连接(步骤2),其中 SSM 和 KDC 之 间的通信是由两者共享的主密钥加密的；</a:t>
            </a:r>
            <a:endParaRPr lang="zh-CN" altLang="en-US"/>
          </a:p>
          <a:p>
            <a:r>
              <a:rPr lang="zh-CN" altLang="en-US"/>
              <a:t>如果KDC同意建立连接，则产生会话密钥并分发给SSM,  分发的过程中使用SSM 的主密钥加密(步骤3);</a:t>
            </a:r>
            <a:endParaRPr lang="zh-CN" altLang="en-US"/>
          </a:p>
          <a:p>
            <a:r>
              <a:rPr lang="zh-CN" altLang="en-US"/>
              <a:t> SSM 传输缓冲的请求包，连接将会在两个终端 系统之间建立(步骤4)。</a:t>
            </a:r>
            <a:endParaRPr lang="zh-CN" altLang="en-US"/>
          </a:p>
          <a:p>
            <a:r>
              <a:rPr lang="zh-CN" altLang="en-US"/>
              <a:t>两个终端系统间所有用户数据的交互都需要各自的 SSM 使用会话密钥 加密。</a:t>
            </a:r>
            <a:endParaRPr lang="zh-CN" altLang="en-US"/>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密钥分发中心必须是可信的，而且是防破坏的，但如果密钥是完全分布式则无此要求。虽然对只使用对称加密的大型网络，完全分布式是不实用的，但是在局部环境下还是很有用的。</a:t>
            </a:r>
            <a:endParaRPr lang="zh-CN" altLang="en-US"/>
          </a:p>
          <a:p>
            <a:r>
              <a:rPr lang="zh-CN" altLang="en-US"/>
              <a:t>为了进行会话密钥的分发，分布式方法要求每个终端系统都能够以</a:t>
            </a:r>
            <a:r>
              <a:rPr lang="zh-CN" altLang="en-US" b="1"/>
              <a:t>安全的方式</a:t>
            </a:r>
            <a:r>
              <a:rPr lang="zh-CN" altLang="en-US"/>
              <a:t>与所有潜在的同伴或系统进行通信，</a:t>
            </a:r>
            <a:endParaRPr lang="zh-CN" altLang="en-US"/>
          </a:p>
          <a:p>
            <a:r>
              <a:rPr lang="zh-CN" altLang="en-US"/>
              <a:t>因此，配置n 个终端的分布式密钥分发中心需要大概[n(n-1)]/2    个主密钥。</a:t>
            </a:r>
            <a:endParaRPr lang="zh-CN" altLang="en-US"/>
          </a:p>
          <a:p>
            <a:r>
              <a:rPr lang="zh-CN" altLang="en-US"/>
              <a:t>设置一个会话密钥大致需要以下几步(参见图14.5):</a:t>
            </a:r>
            <a:endParaRPr lang="zh-CN" altLang="en-US"/>
          </a:p>
          <a:p>
            <a:r>
              <a:rPr lang="zh-CN" altLang="en-US"/>
              <a:t>(1)A发送会话密钥请求给 B,   包括一个临时交互号N₁。</a:t>
            </a:r>
            <a:endParaRPr lang="zh-CN" altLang="en-US"/>
          </a:p>
          <a:p>
            <a:r>
              <a:rPr lang="zh-CN" altLang="en-US"/>
              <a:t>(2)B用共享主密钥加密信息并回复给 A,   该信息中包含 B 选择的会话密钥、B 的标识符、 值f(N) 、 临时交互号N₂。</a:t>
            </a:r>
            <a:endParaRPr lang="zh-CN" altLang="en-US"/>
          </a:p>
          <a:p>
            <a:r>
              <a:rPr lang="zh-CN" altLang="en-US"/>
              <a:t>(3)使用新的会话密钥，A 返回信息f(N₂)   给B。</a:t>
            </a:r>
            <a:endParaRPr lang="zh-CN" altLang="en-US"/>
          </a:p>
          <a:p>
            <a:r>
              <a:rPr lang="zh-CN" altLang="en-US"/>
              <a:t>每个节点至多拥有 (n-1) 个主密钥，和所需要的会话密钥一样多。信息传递使用主密钥的时间很短，因此密钥分析很困难。与之前一样，会话密钥用于在有限的时间内保护消息。</a:t>
            </a:r>
            <a:endParaRPr lang="zh-CN" altLang="en-US"/>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密钥层次体系的概念和自动密钥分发技术的使用大大减少了必须手动管理和分发的密钥数量， 而且满足自动密钥分发使用方式上强加控制的要求。如除了划分主密钥和会话密钥外，还要定义基 于不同用途的各种会话密钥，如</a:t>
            </a:r>
            <a:endParaRPr lang="zh-CN" altLang="en-US"/>
          </a:p>
          <a:p>
            <a:r>
              <a:rPr lang="zh-CN" altLang="en-US"/>
              <a:t>●数据加密密钥，用于网络中的通用通信</a:t>
            </a:r>
            <a:endParaRPr lang="zh-CN" altLang="en-US"/>
          </a:p>
          <a:p>
            <a:r>
              <a:rPr lang="zh-CN" altLang="en-US"/>
              <a:t>● PIN 加密密钥，用于电子资金过户和销售点应用的个人识别码(PIN)</a:t>
            </a:r>
            <a:endParaRPr lang="zh-CN" altLang="en-US"/>
          </a:p>
          <a:p>
            <a:r>
              <a:rPr lang="zh-CN" altLang="en-US"/>
              <a:t>●文件加密密钥，用于存储公开可访问的加密文件</a:t>
            </a:r>
            <a:endParaRPr lang="zh-CN" altLang="en-US"/>
          </a:p>
          <a:p>
            <a:r>
              <a:rPr lang="zh-CN" altLang="en-US"/>
              <a:t>另外还需要考虑一个主密钥被作为数据加密密钥的风险。通常，主密钥在 KDC 和终端系统的  硬件中是物理安全的，所以该主密钥加密的会话密钥是安全的。然而，如果主密钥曾作为会话密钥， 则非授权的应用可能会获得以后通信中用该主密钥加密的会话密钥。</a:t>
            </a:r>
            <a:endParaRPr lang="zh-CN" altLang="en-US"/>
          </a:p>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基于密钥关联的特征，在限制密钥使用方式的系统中添加控制是可行的。 </a:t>
            </a:r>
            <a:endParaRPr lang="zh-CN" altLang="en-US"/>
          </a:p>
          <a:p>
            <a:r>
              <a:rPr lang="zh-CN" altLang="en-US"/>
              <a:t>一个简单的设计 是为每一个密钥关联一个标签UONE⁸2]·[DAV189], 这里提出的技术用于 DES,  使用每个64位 DES 中的8个非密钥位[8个非密钥 (non-key)   位通常预留为奇偶校验]以形成密钥标签。其中这些位有以下解释：</a:t>
            </a:r>
            <a:endParaRPr lang="zh-CN" altLang="en-US"/>
          </a:p>
          <a:p>
            <a:endParaRPr lang="zh-CN" altLang="en-US"/>
          </a:p>
          <a:p>
            <a:endParaRPr lang="zh-CN" altLang="en-US"/>
          </a:p>
          <a:p>
            <a:r>
              <a:rPr lang="zh-CN" altLang="en-US"/>
              <a:t>因为标签嵌入在密钥中，密钥分发时标签也一起被加密。这种方案的缺陷是</a:t>
            </a:r>
            <a:endParaRPr lang="zh-CN" altLang="en-US"/>
          </a:p>
          <a:p>
            <a:r>
              <a:rPr lang="zh-CN" altLang="en-US"/>
              <a:t>(1)标签的长度被限制为8位，限制了它的灵活性。</a:t>
            </a:r>
            <a:endParaRPr lang="zh-CN" altLang="en-US"/>
          </a:p>
          <a:p>
            <a:r>
              <a:rPr lang="zh-CN" altLang="en-US"/>
              <a:t>(2)标签不能以清晰的格式传播，所以只能解密后使用，限制了对密钥使用方式的控制。</a:t>
            </a:r>
            <a:endParaRPr lang="zh-CN" altLang="en-US"/>
          </a:p>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一个更加灵活的策略是控制向量。</a:t>
            </a:r>
            <a:endParaRPr lang="zh-CN" altLang="en-US"/>
          </a:p>
          <a:p>
            <a:r>
              <a:rPr lang="zh-CN" altLang="en-US"/>
              <a:t>在这种策略中， 每个会话密钥有一个关联控制向量，该向量包含很多域，详细说明了会话密钥的用法和限制。控制向量的长度各不相同</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会话密钥在 KDC中产生时，控制向量和密钥一起被加密，耦合和去耦进程如图14.6所示。</a:t>
            </a:r>
            <a:endParaRPr lang="zh-CN" altLang="en-US">
              <a:sym typeface="+mn-ea"/>
            </a:endParaRPr>
          </a:p>
          <a:p>
            <a:r>
              <a:rPr lang="zh-CN" altLang="en-US">
                <a:sym typeface="+mn-ea"/>
              </a:rPr>
              <a:t>第 一步，控制向量通过Hash传递。</a:t>
            </a:r>
            <a:endParaRPr lang="zh-CN" altLang="en-US">
              <a:sym typeface="+mn-ea"/>
            </a:endParaRPr>
          </a:p>
          <a:p>
            <a:r>
              <a:rPr lang="zh-CN" altLang="en-US">
                <a:sym typeface="+mn-ea"/>
              </a:rPr>
              <a:t>大体上， Hash 函数用一种合理的方式将数值从大范围映射到小范围中，例如，范围是1~ 100的数字被映射到1～10之间的数字，大约10%的原值被映射到一个目标值。</a:t>
            </a:r>
            <a:endParaRPr lang="zh-CN" altLang="en-US"/>
          </a:p>
          <a:p>
            <a:r>
              <a:rPr lang="zh-CN" altLang="en-US">
                <a:sym typeface="+mn-ea"/>
              </a:rPr>
              <a:t>然后将Hash 值和主密钥异或得到一个输出，该输出作为输入密钥来加密会话密钥，即</a:t>
            </a:r>
            <a:endParaRPr lang="zh-CN" altLang="en-US"/>
          </a:p>
          <a:p>
            <a:pPr marL="1625600" lvl="2" indent="-824230">
              <a:lnSpc>
                <a:spcPct val="110000"/>
              </a:lnSpc>
              <a:buNone/>
            </a:pPr>
            <a:r>
              <a:rPr lang="zh-CN" altLang="en-US" b="1" dirty="0">
                <a:latin typeface="Times New Roman" panose="02020603050405020304" pitchFamily="18" charset="0"/>
                <a:cs typeface="Times New Roman" panose="02020603050405020304" pitchFamily="18" charset="0"/>
                <a:sym typeface="+mn-ea"/>
              </a:rPr>
              <a:t>加密：</a:t>
            </a:r>
            <a:r>
              <a:rPr lang="en-US" altLang="zh-CN" b="1" dirty="0">
                <a:latin typeface="Times New Roman" panose="02020603050405020304" pitchFamily="18" charset="0"/>
                <a:cs typeface="Times New Roman" panose="02020603050405020304" pitchFamily="18" charset="0"/>
                <a:sym typeface="+mn-ea"/>
              </a:rPr>
              <a:t>H=h(CV)</a:t>
            </a:r>
            <a:r>
              <a:rPr lang="zh-CN" altLang="en-US" b="1" dirty="0">
                <a:latin typeface="Times New Roman" panose="02020603050405020304" pitchFamily="18" charset="0"/>
                <a:cs typeface="Times New Roman" panose="02020603050405020304" pitchFamily="18" charset="0"/>
                <a:sym typeface="+mn-ea"/>
              </a:rPr>
              <a:t>，</a:t>
            </a:r>
            <a:r>
              <a:rPr lang="en-US" altLang="zh-CN" b="1" dirty="0">
                <a:latin typeface="Times New Roman" panose="02020603050405020304" pitchFamily="18" charset="0"/>
                <a:cs typeface="Times New Roman" panose="02020603050405020304" pitchFamily="18" charset="0"/>
                <a:sym typeface="+mn-ea"/>
              </a:rPr>
              <a:t>Kc=Ek</a:t>
            </a:r>
            <a:r>
              <a:rPr lang="en-US" altLang="zh-CN" b="1" baseline="-25000" dirty="0">
                <a:latin typeface="Times New Roman" panose="02020603050405020304" pitchFamily="18" charset="0"/>
                <a:cs typeface="Times New Roman" panose="02020603050405020304" pitchFamily="18" charset="0"/>
                <a:sym typeface="+mn-ea"/>
              </a:rPr>
              <a:t>m⊕H</a:t>
            </a:r>
            <a:r>
              <a:rPr lang="en-US" altLang="zh-CN" b="1" dirty="0">
                <a:latin typeface="Times New Roman" panose="02020603050405020304" pitchFamily="18" charset="0"/>
                <a:cs typeface="Times New Roman" panose="02020603050405020304" pitchFamily="18" charset="0"/>
                <a:sym typeface="+mn-ea"/>
              </a:rPr>
              <a:t>[Ks]</a:t>
            </a:r>
            <a:endParaRPr lang="en-US" altLang="zh-CN" b="1" dirty="0">
              <a:latin typeface="Times New Roman" panose="02020603050405020304" pitchFamily="18" charset="0"/>
              <a:cs typeface="Times New Roman" panose="02020603050405020304" pitchFamily="18" charset="0"/>
            </a:endParaRPr>
          </a:p>
          <a:p>
            <a:pPr marL="1625600" lvl="2" indent="-824230">
              <a:lnSpc>
                <a:spcPct val="110000"/>
              </a:lnSpc>
              <a:buNone/>
            </a:pPr>
            <a:r>
              <a:rPr lang="zh-CN" altLang="en-US" b="1" dirty="0">
                <a:latin typeface="Times New Roman" panose="02020603050405020304" pitchFamily="18" charset="0"/>
                <a:cs typeface="Times New Roman" panose="02020603050405020304" pitchFamily="18" charset="0"/>
                <a:sym typeface="+mn-ea"/>
              </a:rPr>
              <a:t>解密：</a:t>
            </a:r>
            <a:r>
              <a:rPr lang="en-US" altLang="zh-CN" b="1" dirty="0">
                <a:latin typeface="Times New Roman" panose="02020603050405020304" pitchFamily="18" charset="0"/>
                <a:cs typeface="Times New Roman" panose="02020603050405020304" pitchFamily="18" charset="0"/>
                <a:sym typeface="+mn-ea"/>
              </a:rPr>
              <a:t>H=h(CV)</a:t>
            </a:r>
            <a:r>
              <a:rPr lang="zh-CN" altLang="en-US" b="1"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Ks=Dk</a:t>
            </a:r>
            <a:r>
              <a:rPr lang="en-US" altLang="zh-CN" b="1" baseline="-25000" dirty="0">
                <a:latin typeface="Times New Roman" panose="02020603050405020304" pitchFamily="18" charset="0"/>
                <a:cs typeface="Times New Roman" panose="02020603050405020304" pitchFamily="18" charset="0"/>
                <a:sym typeface="+mn-ea"/>
              </a:rPr>
              <a:t>m⊕H</a:t>
            </a:r>
            <a:r>
              <a:rPr lang="en-US" altLang="zh-CN" b="1" dirty="0">
                <a:latin typeface="Times New Roman" panose="02020603050405020304" pitchFamily="18" charset="0"/>
                <a:cs typeface="Times New Roman" panose="02020603050405020304" pitchFamily="18" charset="0"/>
                <a:sym typeface="+mn-ea"/>
              </a:rPr>
              <a:t>[Kc]</a:t>
            </a:r>
            <a:endParaRPr lang="en-US" altLang="zh-CN" b="1" dirty="0">
              <a:latin typeface="Times New Roman" panose="02020603050405020304" pitchFamily="18" charset="0"/>
              <a:cs typeface="Times New Roman" panose="02020603050405020304" pitchFamily="18" charset="0"/>
            </a:endParaRPr>
          </a:p>
          <a:p>
            <a:endParaRPr lang="zh-CN" altLang="en-US"/>
          </a:p>
          <a:p>
            <a:r>
              <a:rPr lang="zh-CN" altLang="en-US">
                <a:sym typeface="+mn-ea"/>
              </a:rPr>
              <a:t>KDC 将会话密钥传递给用户时，伴随着一个明文形式的控制向量。恢复会话密钥必须同时使用 用 户 与KDC  共享的主密钥以及控制向量，即会话密钥与其控制向量之间的链接是被保持的。</a:t>
            </a:r>
            <a:endParaRPr lang="zh-CN" altLang="en-US"/>
          </a:p>
          <a:p>
            <a:r>
              <a:rPr lang="zh-CN" altLang="en-US">
                <a:sym typeface="+mn-ea"/>
              </a:rPr>
              <a:t>相比于8位标签，使用控制向量有以下两个优点：第 一 ，控制向量的长度没有限制，可以给密 钥的使用添加任意复杂的控制；第二，在所有的操作层面上，明文形式的控制向量都是有效的，即 密钥应用的控制可以在多个位置使用。</a:t>
            </a:r>
            <a:endParaRPr lang="zh-CN" altLang="en-US"/>
          </a:p>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因为公钥加密系统的效率比较低，所以几乎不会用于大数据块的直接加密，而是经常用于小块 数据的加密。公钥密码系统最重要的应用之一是用于密钥的加密分发，在第五部分将会介绍很多例 子。这里，我们讨论通用的原则和典型的方</a:t>
            </a:r>
            <a:r>
              <a:rPr lang="zh-CN" altLang="en-US"/>
              <a:t>法。</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当有敌手截获消息然后再转发消息或者替换为其他消息[参见图1.3(c)]  时，图14.7描述的协 议是不安全的，这样的攻击称为中间人攻击IRVE⁸H。这种类型的攻击在第10章已经出现过(参见图 10.2)。这种情况下，如果敌手 D  已经控制了中间的通信信道，则可以通过以下方式在不被觉察的 情况下控制通信(参见图14.8)</a:t>
            </a:r>
            <a:endParaRPr lang="zh-CN" altLang="en-US"/>
          </a:p>
          <a:p>
            <a:endParaRPr lang="zh-CN" altLang="en-US"/>
          </a:p>
          <a:p>
            <a:r>
              <a:rPr lang="zh-CN" altLang="en-US"/>
              <a:t>结果就是 A 、B知道了密钥K, 但没有意识到D 也已经获得了密钥K, 。 此时，若A 和 B 使 用K,  交换信息， D  不再需要主动的干扰通信信道，而只需要简单的窃听，因为知道K,,    所 以 D 可以解 密所有的信息。因此，该协议存在中间人攻击的威胁。</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sym typeface="+mn-ea"/>
              </a:rPr>
              <a:t> A </a:t>
            </a:r>
            <a:r>
              <a:rPr lang="zh-CN" altLang="en-US" b="1" dirty="0">
                <a:latin typeface="Times New Roman" panose="02020603050405020304" pitchFamily="18" charset="0"/>
                <a:sym typeface="+mn-ea"/>
              </a:rPr>
              <a:t>产生一个新的临时用的公钥对</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sym typeface="+mn-ea"/>
              </a:rPr>
              <a:t> A </a:t>
            </a:r>
            <a:r>
              <a:rPr lang="zh-CN" altLang="en-US" b="1" dirty="0">
                <a:latin typeface="Times New Roman" panose="02020603050405020304" pitchFamily="18" charset="0"/>
                <a:sym typeface="+mn-ea"/>
              </a:rPr>
              <a:t>发送自己的标识和公钥给 </a:t>
            </a:r>
            <a:r>
              <a:rPr lang="en-US" altLang="zh-CN" b="1" dirty="0">
                <a:latin typeface="Times New Roman" panose="02020603050405020304" pitchFamily="18" charset="0"/>
                <a:sym typeface="+mn-ea"/>
              </a:rPr>
              <a:t>B</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sym typeface="+mn-ea"/>
              </a:rPr>
              <a:t> B </a:t>
            </a:r>
            <a:r>
              <a:rPr lang="zh-CN" altLang="en-US" b="1" dirty="0">
                <a:latin typeface="Times New Roman" panose="02020603050405020304" pitchFamily="18" charset="0"/>
                <a:sym typeface="+mn-ea"/>
              </a:rPr>
              <a:t>产生一个会话密钥，并用 </a:t>
            </a:r>
            <a:r>
              <a:rPr lang="en-US" altLang="zh-CN" b="1" dirty="0">
                <a:latin typeface="Times New Roman" panose="02020603050405020304" pitchFamily="18" charset="0"/>
                <a:sym typeface="+mn-ea"/>
              </a:rPr>
              <a:t>A </a:t>
            </a:r>
            <a:r>
              <a:rPr lang="zh-CN" altLang="en-US" b="1" dirty="0">
                <a:latin typeface="Times New Roman" panose="02020603050405020304" pitchFamily="18" charset="0"/>
                <a:sym typeface="+mn-ea"/>
              </a:rPr>
              <a:t>的公钥加密后发送给 </a:t>
            </a:r>
            <a:r>
              <a:rPr lang="en-US" altLang="zh-CN" b="1" dirty="0">
                <a:latin typeface="Times New Roman" panose="02020603050405020304" pitchFamily="18" charset="0"/>
                <a:sym typeface="+mn-ea"/>
              </a:rPr>
              <a:t>A</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sym typeface="+mn-ea"/>
              </a:rPr>
              <a:t> A </a:t>
            </a:r>
            <a:r>
              <a:rPr lang="zh-CN" altLang="en-US" b="1" dirty="0">
                <a:latin typeface="Times New Roman" panose="02020603050405020304" pitchFamily="18" charset="0"/>
                <a:sym typeface="+mn-ea"/>
              </a:rPr>
              <a:t>解密会话密钥</a:t>
            </a:r>
            <a:endParaRPr lang="zh-CN" altLang="en-US" b="1" dirty="0">
              <a:latin typeface="Times New Roman" panose="02020603050405020304" pitchFamily="18" charset="0"/>
              <a:sym typeface="+mn-ea"/>
            </a:endParaRPr>
          </a:p>
          <a:p>
            <a:pPr lvl="1" algn="just" eaLnBrk="1" hangingPunct="1">
              <a:lnSpc>
                <a:spcPct val="110000"/>
              </a:lnSpc>
              <a:buSzPct val="80000"/>
              <a:buFont typeface="Arial" panose="020B0604020202020204" pitchFamily="34" charset="0"/>
              <a:buChar char="•"/>
            </a:pPr>
            <a:r>
              <a:rPr lang="zh-CN" altLang="en-US">
                <a:sym typeface="+mn-ea"/>
              </a:rPr>
              <a:t>当有敌手截获消息然后再转发消息或者替换为其他消息[参见图1.3(c)]  时，图14.7描述的协 议是不安全的，这样的攻击称为中间人攻击IRVE⁸H。这种类型的攻击在第10章已经出现过(参见图 10.2)。这种情况下，如果敌手 D  已经控制了中间的通信信道，则可以通过以下方式在不被觉察的 情况下控制通信(参见图14.8)</a:t>
            </a:r>
            <a:endParaRPr lang="zh-CN" altLang="en-US"/>
          </a:p>
          <a:p>
            <a:pPr lvl="1" algn="just" eaLnBrk="1" hangingPunct="1">
              <a:lnSpc>
                <a:spcPct val="110000"/>
              </a:lnSpc>
              <a:buSzPct val="80000"/>
              <a:buFont typeface="Arial" panose="020B0604020202020204" pitchFamily="34" charset="0"/>
              <a:buChar char="•"/>
            </a:pPr>
            <a:endParaRPr lang="en-US" altLang="zh-CN" b="1" dirty="0">
              <a:latin typeface="Times New Roman" panose="02020603050405020304" pitchFamily="18" charset="0"/>
            </a:endParaRPr>
          </a:p>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当有敌手截获消息然后再转发消息或者替换为其他消息[参见图1.3(c)]  时，图14.7描述的协 议是不安全的，这样的攻击称为中间人攻击IRVE⁸H。这种类型的攻击在第10章已经出现过(参见图 10.2)。这种情况下，如果敌手 D  已经控制了中间的通信信道，则可以通过以下方式在不被觉察的 情况下控制通信(参见图14.8):</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(1)A    产生一个公私钥对{PUa,PRa},后发送包含PU</a:t>
            </a:r>
            <a:r>
              <a:rPr lang="en-US" altLang="zh-CN" b="1" dirty="0">
                <a:latin typeface="Times New Roman" panose="02020603050405020304" pitchFamily="18" charset="0"/>
              </a:rPr>
              <a:t>a和 A 的标识符IDa 的消息给B。</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(2)D  截获信息后，创建自己的公私钥对{PUd,PRd},  发送PUd,IDa   给B。</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(3)B     产生一个密钥K,   发送E(PUd,Ks)。</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(4)D     截获信息后计算 D(PRd,E(PUd,Ks)),   获取Ks。</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(5)D     发送E(PUa,Ks)给A。</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结果就是 A 、B知道了密钥K, 但没有意识到D 也已经获得了密钥K, 。 此时，若A 和 B 使 用K,  交换信息， D  不再需要主动的干扰通信信道，而只需要简单的窃听，因为知道K,,    所 以 D 可以解 密所有的信息。因此，该协议存在中间人攻击的威胁。</a:t>
            </a:r>
            <a:endParaRPr lang="en-US" altLang="zh-CN" b="1" dirty="0">
              <a:latin typeface="Times New Roman" panose="02020603050405020304" pitchFamily="18" charset="0"/>
            </a:endParaRPr>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如图14.9所示，基于在文献中提出的方法，可以防止主动的和被动的攻击。我们假 定 A 和 B 已经通过本章随后要介绍的方案中的一种来交换公钥，以下是接下来的步骤：</a:t>
            </a:r>
            <a:endParaRPr lang="zh-CN" altLang="en-US"/>
          </a:p>
          <a:p>
            <a:r>
              <a:rPr lang="zh-CN" altLang="en-US"/>
              <a:t>(1)A    用 B  的公钥去加密包含A 的标识符ID。和一个临时交互号 N₁ 的消息并发给 B,  其中临 时交互号被用来唯一的标识该次消息传递。</a:t>
            </a:r>
            <a:endParaRPr lang="zh-CN" altLang="en-US"/>
          </a:p>
          <a:p>
            <a:r>
              <a:rPr lang="zh-CN" altLang="en-US"/>
              <a:t>(2)B    用 PU。加密包含A 的临时交互号N₁ 及 B 产生的新的临时交互号N₂ 的消息发送给A。</a:t>
            </a:r>
            <a:endParaRPr lang="zh-CN" altLang="en-US"/>
          </a:p>
          <a:p>
            <a:r>
              <a:rPr lang="zh-CN" altLang="en-US"/>
              <a:t>因为只有B 可以解密消息(1),故N₁ 在消息(2)中出现可以使A 确定该消息来自于B。</a:t>
            </a:r>
            <a:endParaRPr lang="zh-CN" altLang="en-US"/>
          </a:p>
          <a:p>
            <a:r>
              <a:rPr lang="zh-CN" altLang="en-US"/>
              <a:t> (3)A   使用的B 的公钥加密后返回N₂,    使 B 确定消息来自于A。</a:t>
            </a:r>
            <a:endParaRPr lang="zh-CN" altLang="en-US"/>
          </a:p>
          <a:p>
            <a:r>
              <a:rPr lang="zh-CN" altLang="en-US"/>
              <a:t>(4)A     选择密钥K, 后发送M=E(PU</a:t>
            </a:r>
            <a:r>
              <a:rPr lang="en-US" altLang="zh-CN"/>
              <a:t>b, </a:t>
            </a:r>
            <a:r>
              <a:rPr lang="zh-CN" altLang="en-US"/>
              <a:t>E(PR</a:t>
            </a:r>
            <a:r>
              <a:rPr lang="en-US" altLang="zh-CN"/>
              <a:t>a</a:t>
            </a:r>
            <a:r>
              <a:rPr lang="zh-CN" altLang="en-US"/>
              <a:t>,K</a:t>
            </a:r>
            <a:r>
              <a:rPr lang="en-US" altLang="zh-CN"/>
              <a:t>s</a:t>
            </a:r>
            <a:r>
              <a:rPr lang="zh-CN" altLang="en-US"/>
              <a:t>))       给 B 。用 B  的公钥加密确保只有 B 可以读</a:t>
            </a:r>
            <a:endParaRPr lang="zh-CN" altLang="en-US"/>
          </a:p>
          <a:p>
            <a:r>
              <a:rPr lang="zh-CN" altLang="en-US"/>
              <a:t>取该消息，用A 的私钥加密保证只有A 可以发送该消息。</a:t>
            </a:r>
            <a:endParaRPr lang="zh-CN" altLang="en-US"/>
          </a:p>
          <a:p>
            <a:r>
              <a:rPr lang="zh-CN" altLang="en-US"/>
              <a:t>(5)B     计 算D(PU</a:t>
            </a:r>
            <a:r>
              <a:rPr lang="en-US" altLang="zh-CN"/>
              <a:t>a </a:t>
            </a:r>
            <a:r>
              <a:rPr lang="zh-CN" altLang="en-US"/>
              <a:t>,D(PR</a:t>
            </a:r>
            <a:r>
              <a:rPr lang="en-US" altLang="zh-CN"/>
              <a:t>b</a:t>
            </a:r>
            <a:r>
              <a:rPr lang="zh-CN" altLang="en-US"/>
              <a:t>,M)) 从而恢复密钥K</a:t>
            </a:r>
            <a:r>
              <a:rPr lang="en-US" altLang="zh-CN"/>
              <a:t>s</a:t>
            </a:r>
            <a:r>
              <a:rPr lang="zh-CN" altLang="en-US"/>
              <a:t>。</a:t>
            </a:r>
            <a:endParaRPr lang="zh-CN" altLang="en-US"/>
          </a:p>
          <a:p>
            <a:r>
              <a:rPr lang="zh-CN" altLang="en-US"/>
              <a:t>该方案可以保证交换密钥过程中的保密性和身份验证</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另一种使用公钥加密来分发密钥的方法是在IBM 大型机LE93中使用的混合方法。该方案仍会用 到密钥分发中心 KDC,KDC      和每个用户共享一个主密钥，用主密钥加密要分发的会话密钥，公钥 方案被用于分发主密钥。以下是使用这个三层方案的理由：</a:t>
            </a:r>
            <a:endParaRPr lang="zh-CN" altLang="en-US"/>
          </a:p>
          <a:p>
            <a:r>
              <a:rPr lang="zh-CN" altLang="en-US"/>
              <a:t>● 性能  应用广泛，尤其是在会话密钥变动频繁的面向事务的应用中。用公钥加密的会话密钥 分发会降低整个系统的性能，因为公钥加密和解密需要相对较高的计算负荷。对一个三层体 系，公钥加密只用于偶尔更新用户和 KDC 之间的主密钥。</a:t>
            </a:r>
            <a:endParaRPr lang="zh-CN" altLang="en-US"/>
          </a:p>
          <a:p>
            <a:r>
              <a:rPr lang="zh-CN" altLang="en-US"/>
              <a:t>● 后向兼容性 混合方案可以仅用最小的破坏或者软件的更改覆盖已存在的KDC  模式。</a:t>
            </a:r>
            <a:endParaRPr lang="zh-CN" altLang="en-US"/>
          </a:p>
          <a:p>
            <a:r>
              <a:rPr lang="zh-CN" altLang="en-US"/>
              <a:t>公钥层的加入可以提供一个安全有效的分发主密钥的方式，这在一个单个的 KDC  要为一个庞 大的用户集分发密钥的机构中是一个优势。</a:t>
            </a:r>
            <a:endParaRPr lang="zh-CN" altLang="en-US"/>
          </a:p>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人们已经提出了集中公钥分配方法，所有这些方法本质上都可以归结为以下几种方法：</a:t>
            </a:r>
            <a:endParaRPr lang="zh-CN" altLang="en-US"/>
          </a:p>
          <a:p>
            <a:r>
              <a:rPr lang="zh-CN" altLang="en-US"/>
              <a:t>●公开发布</a:t>
            </a:r>
            <a:endParaRPr lang="zh-CN" altLang="en-US"/>
          </a:p>
          <a:p>
            <a:r>
              <a:rPr lang="zh-CN" altLang="en-US"/>
              <a:t>●公开可访问目录</a:t>
            </a:r>
            <a:endParaRPr lang="zh-CN" altLang="en-US"/>
          </a:p>
          <a:p>
            <a:r>
              <a:rPr lang="zh-CN" altLang="en-US"/>
              <a:t>●公钥授权</a:t>
            </a:r>
            <a:endParaRPr lang="zh-CN" altLang="en-US"/>
          </a:p>
          <a:p>
            <a:r>
              <a:rPr lang="zh-CN" altLang="en-US"/>
              <a:t>●公钥证书</a:t>
            </a:r>
            <a:endParaRPr lang="zh-CN" altLang="en-US"/>
          </a:p>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表面上看，公钥密码的特点是公钥可以公开，因此如果有像 RSA 这样的为人们广泛接受的公钥算法，那么任一通信方可以将他的公钥发送给另一个 通信方或广播给通信各方(参见图14.10)。</a:t>
            </a:r>
            <a:endParaRPr lang="zh-CN" altLang="en-US"/>
          </a:p>
          <a:p>
            <a:r>
              <a:rPr lang="zh-CN" altLang="en-US"/>
              <a:t>例如， 越来越被人们广泛使用的 PGP(Pretty    Good  Privacy, 将在第19章讨论)中使用了RSA算法， 所以很多 PGP 用户在给诸如 USENET 新闻组和  Intermet  邮件列表这样的一些公开论坛发送消息 时，都将其公钥附加在要发送消息之后。</a:t>
            </a:r>
            <a:endParaRPr lang="zh-CN" altLang="en-US"/>
          </a:p>
          <a:p>
            <a:endParaRPr lang="zh-CN" altLang="en-US" b="1"/>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sym typeface="+mn-ea"/>
              </a:rPr>
              <a:t>虽然这种发送比较简便，但是有一个较大的缺点，任何人都可以伪造这种公钥并公开发布， 也就是说，某个用户可以假冒用户 A 并将一个公钥发送给通信的另一方或广播该公钥。在用户A 发现这种假冒并通知其他用户之前，该假冒者可 以读取本应发送给 A的加密后的消息，并且可以用伪造的密钥进行认证(参见图9.3)</a:t>
            </a:r>
            <a:endParaRPr lang="zh-CN" altLang="en-US" b="1"/>
          </a:p>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维护一个动态可访问的公钥目录可以获得更大程度的安全性。某可信的实体或组织负责这个公 开目录的维护和分配(参见图14.11),这种方法包含下面几方面的内容：</a:t>
            </a:r>
            <a:endParaRPr lang="zh-CN" altLang="en-US"/>
          </a:p>
          <a:p>
            <a:r>
              <a:rPr lang="zh-CN" altLang="en-US"/>
              <a:t>(1)管理员通过为每一个通信方建立一个目录项{姓名，公钥}来维护该目录。</a:t>
            </a:r>
            <a:endParaRPr lang="zh-CN" altLang="en-US"/>
          </a:p>
          <a:p>
            <a:r>
              <a:rPr lang="zh-CN" altLang="en-US"/>
              <a:t>(2)每个通信方通过目录管理员来注册一个公钥。注册必须亲自或通过安全的认证通信来进行。 (3)通信方在任何时刻可以用新的密钥替代当前密钥。用户希望更换公钥，可能是因为公钥</a:t>
            </a:r>
            <a:endParaRPr lang="zh-CN" altLang="en-US"/>
          </a:p>
          <a:p>
            <a:r>
              <a:rPr lang="zh-CN" altLang="en-US"/>
              <a:t>已用于大量的数据，也可能是因为相应的私钥已经泄露。</a:t>
            </a:r>
            <a:endParaRPr lang="zh-CN" altLang="en-US"/>
          </a:p>
          <a:p>
            <a:r>
              <a:rPr lang="zh-CN" altLang="en-US"/>
              <a:t>(4)通信方也可以访问该目录，为实现这一目标，必须有从管理员到通信方安全的认证通信</a:t>
            </a:r>
            <a:endParaRPr lang="zh-CN" altLang="en-US"/>
          </a:p>
          <a:p>
            <a:r>
              <a:rPr lang="zh-CN" altLang="en-US"/>
              <a:t>这种方法显然比由个人公开发布公钥要安全，但是它也存在缺点。 一旦攻击者获得或计算出目 录管理员的私钥，则他可以假冒任何通信方，以窃取发送给该通信方的消息。另外，攻击者也可以 通过修改目录管理员保存的记录来达到这一目的。</a:t>
            </a:r>
            <a:endParaRPr lang="zh-CN" altLang="en-US"/>
          </a:p>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维护一个动态可访问的公钥目录可以获得更大程度的安全性。某可信的实体或组织负责这个公 开目录的维护和分配</a:t>
            </a:r>
            <a:r>
              <a:rPr lang="en-US" altLang="zh-CN">
                <a:sym typeface="+mn-ea"/>
              </a:rPr>
              <a:t>.</a:t>
            </a:r>
            <a:endParaRPr lang="en-US" altLang="zh-CN">
              <a:sym typeface="+mn-ea"/>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最早由 Kohnfelder 提出了使用证书的方法在文献[KOHN78]中。通信双方使用证书来交换密钥 而不是通过公钥管理员。</a:t>
            </a:r>
            <a:endParaRPr lang="zh-CN" altLang="en-US"/>
          </a:p>
          <a:p>
            <a:r>
              <a:rPr lang="zh-CN" altLang="en-US"/>
              <a:t>在某种意义上，这种方案与直接从公钥管理员处获得密钥的可靠性相同。  证书包含公钥和公钥拥有者的标识，整个数据块由可信的第三方进行签名。</a:t>
            </a:r>
            <a:endParaRPr lang="zh-CN" altLang="en-US"/>
          </a:p>
          <a:p>
            <a:r>
              <a:rPr lang="zh-CN" altLang="en-US"/>
              <a:t>通常，第三方是证书管  理员，如政府机构或者金融机构，为用户群所信任。 一个用户以一种安全的方式将他的公钥交给管 理员，从而获得一个证书，接着用户就可以公开证书。任何需要该用户公钥的人都可以获得该证书， 并通过查看附带的可信签名来验证证书的有效性。通信的一方也可以通过传递证书的方式将他的密  钥信息传达给另一方。其他通信各方可以验证该证书确实是由证书管理员生成的。这种方法应满足  下列要求：</a:t>
            </a:r>
            <a:endParaRPr lang="zh-CN" altLang="en-US"/>
          </a:p>
          <a:p>
            <a:r>
              <a:rPr lang="zh-CN" altLang="en-US"/>
              <a:t>(1)任何通信方可以读取证书并确定证书拥有者的姓名和公钥。</a:t>
            </a:r>
            <a:endParaRPr lang="zh-CN" altLang="en-US"/>
          </a:p>
          <a:p>
            <a:r>
              <a:rPr lang="zh-CN" altLang="en-US"/>
              <a:t>(2)任何通信方可以验证该证书出自证书管理员，而不是伪造的。</a:t>
            </a:r>
            <a:endParaRPr lang="zh-CN" altLang="en-US"/>
          </a:p>
          <a:p>
            <a:r>
              <a:rPr lang="zh-CN" altLang="en-US"/>
              <a:t>(3)只有证书管理员可以产生并更新证书。</a:t>
            </a:r>
            <a:endParaRPr lang="zh-CN" altLang="en-US"/>
          </a:p>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图14.13举例说明了证书的使用方法。通信方向证书管理员提供一个公钥并请求证书。申 请必须是当事人亲自或通过某种安全的认证通信提出，对于申请者A,  管理员提供如下形式的 证书：</a:t>
            </a:r>
            <a:endParaRPr lang="zh-CN" altLang="en-US"/>
          </a:p>
          <a:p>
            <a:r>
              <a:rPr lang="zh-CN" altLang="en-US"/>
              <a:t>C₄=E(PRauh,[T||ID₄||PU 。])</a:t>
            </a:r>
            <a:endParaRPr lang="zh-CN" altLang="en-US"/>
          </a:p>
          <a:p>
            <a:r>
              <a:rPr lang="zh-CN" altLang="en-US"/>
              <a:t>其中，PR    是证书管理员私钥， T 为时间戳。A 可以把该证书传递给任何其他参与者，后者通过 以下方式读取和验证证书：</a:t>
            </a:r>
            <a:endParaRPr lang="zh-CN" altLang="en-US"/>
          </a:p>
          <a:p>
            <a:r>
              <a:rPr lang="zh-CN" altLang="en-US"/>
              <a:t>D(PUth,C₄)=D(PUth,E(PRnh,[T||ID₄I|PU 。J))=(T||ID₄||PU 。)</a:t>
            </a:r>
            <a:endParaRPr lang="zh-CN" altLang="en-US"/>
          </a:p>
          <a:p>
            <a:r>
              <a:rPr lang="zh-CN" altLang="en-US"/>
              <a:t>接受方使用证书管理员的公钥PUmn, 对证书解密，因为证书只有使用管理员的公钥才能读取证 书，因此接收方可验证证书确实是来自于证书管理员的。 ID₄ 和PU。向接收方提供证书持有者的名 字和公钥，时间戳T验证证书的时效性。时间戳可以在攻击者已知A 的私钥的情况下抗攻击，假设 A产生新的公私钥对并向公钥管理员申请新的证书，同时，攻击者重放A 的旧的证书给 B,  若 B 用 旧公钥加密数据的话，则攻击者就可以读取信息。</a:t>
            </a:r>
            <a:endParaRPr lang="zh-CN" altLang="en-US"/>
          </a:p>
          <a:p>
            <a:r>
              <a:rPr lang="zh-CN" altLang="en-US"/>
              <a:t>在这种情况下，私钥的泄密就如同信用卡的丢失一样，卡的持有者会注销信用卡号，但只有在 所有可能的通信方均已知旧的信用卡过时的时候，才能保证卡的持有者的安全，因此，时间戳有一 些像截止日期。若一个证书超时，会被认为证书已失效。</a:t>
            </a:r>
            <a:endParaRPr lang="zh-CN" altLang="en-US"/>
          </a:p>
          <a:p>
            <a:r>
              <a:rPr lang="zh-CN" altLang="en-US"/>
              <a:t>X.509 标准是一个广为接受的方案，用来规范公钥证书的格式。X.509 证书在大部分网络安全 应用里都有使用，包括IP 安全、传输层安全(TLS)  和 S/MIME, 所有这些都在第五部分讨论。X.509 将在下一节进行详细介绍。</a:t>
            </a:r>
            <a:endParaRPr lang="zh-CN" altLang="en-US"/>
          </a:p>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ITU-T建议书中的 X.509 是X.500系列中定义目录服务的一部分。实际上，目录是指管理用户 信息数据库的服务器，用户信息包括用户名到网络地址的映射和用户的其他属性等。</a:t>
            </a:r>
            <a:endParaRPr lang="zh-CN" altLang="en-US"/>
          </a:p>
          <a:p>
            <a:r>
              <a:rPr lang="zh-CN" altLang="en-US"/>
              <a:t>X.509定义了X.500 用户目录的一个认证服务框架，这个目录可以作为在14.3节中讨论的公钥 证书类型的存取库。每个证书包含该用户的公钥并由一个可信的签证机构用私钥签名。另外， X.509 还定义了基于公钥证书的一个认证协议。</a:t>
            </a:r>
            <a:endParaRPr lang="zh-CN" altLang="en-US"/>
          </a:p>
          <a:p>
            <a:r>
              <a:rPr lang="zh-CN" altLang="en-US"/>
              <a:t>X.509 是关于证书结构和认证协议的一种重要标准，并被广泛使用。例如，X.509 证书格式被 用于S/MIME (参见第19章)、IP 安全(参见第20章)和SSL/TLS (参见第17章)。</a:t>
            </a:r>
            <a:endParaRPr lang="zh-CN" altLang="en-US"/>
          </a:p>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X.509于1988年首次发布，随后为了解决文献[IANS90]和[MITC90]中提及的安全问题对其进行 了修订，修订稿于1993年发布。标准的当前版本是第7版，于2012年发布。</a:t>
            </a:r>
            <a:endParaRPr lang="zh-CN" altLang="en-US"/>
          </a:p>
          <a:p>
            <a:r>
              <a:rPr lang="zh-CN" altLang="en-US"/>
              <a:t>X.509 是基于公钥密码体制和数字签名的标准。标准中并未规定使用某个特定的数字签名算法 或某个特定的 Hash函数。</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图14.14描述了X.509方案中一个公钥证书的产生过程。公钥的证书包括 Bob唯一的身份标识、公钥、CA 的鉴别信息，以及一些其他信息。通过计算这些信息的Hash 值， 使用CA 的私钥对 Hash 值生成数字签名，完成对这些信息的签名过程。X.509 表明签名是对 Hash 值进行加密而形成的，在13.6节提到的一种RSA 方案被推荐使用。然而，目前版本的 X.509并没 有指明特定的数据签名算法。如果使用NISTDSA (参见13.4节)或者 ECDSA(参见13.5节),则 Hash 值不会被加密，而是作为数字签名生成算法的输入。</a:t>
            </a:r>
            <a:endParaRPr lang="zh-CN" altLang="en-US"/>
          </a:p>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X.509的核心是与每个用户相关的公钥证书。这些用户证书由一些可信的签证机构(CA)   创建 并被CA 或用户放入目录服务器中。目录服务器本身不创建公钥和证书，仅仅为用户获得证书提供 一种简单的存取方式。</a:t>
            </a:r>
            <a:endParaRPr lang="zh-CN" altLang="en-US"/>
          </a:p>
          <a:p>
            <a:r>
              <a:rPr lang="zh-CN" altLang="en-US"/>
              <a:t>图14.15(a)表明证书常用格式包含以下要素：</a:t>
            </a:r>
            <a:endParaRPr lang="zh-CN" altLang="en-US"/>
          </a:p>
          <a:p>
            <a:r>
              <a:rPr lang="zh-CN" altLang="en-US"/>
              <a:t>● 版本号 (Version)  区分证书的不同版本，默认设置为1。如果存在发行商唯一标识或主 体唯一标识，则版本号为2,如果存在一个或多个扩展，则版本号为3。虽然X.509标准现 在最新版本为7,但是自版本3之后证书的此域就没有做过修改。</a:t>
            </a:r>
            <a:endParaRPr lang="zh-CN" altLang="en-US"/>
          </a:p>
          <a:p>
            <a:r>
              <a:rPr lang="zh-CN" altLang="en-US"/>
              <a:t>● 序列号 (Serial number)  一个整数，在CA 中唯一标识证书。</a:t>
            </a:r>
            <a:endParaRPr lang="zh-CN" altLang="en-US"/>
          </a:p>
          <a:p>
            <a:r>
              <a:rPr lang="zh-CN" altLang="en-US"/>
              <a:t>●签名算法标识 (Signature algorithm identifier)  带参数的、用于给证书签名的算法，由于 此信息在证书尾部的域 Signature 中还会出现，这里很少含有信息。</a:t>
            </a:r>
            <a:endParaRPr lang="zh-CN" altLang="en-US"/>
          </a:p>
          <a:p>
            <a:r>
              <a:rPr lang="zh-CN" altLang="en-US"/>
              <a:t>●发行商名字 (Issuer name)  X.500 中创建、签名证书的签证机构 CA 的名字。</a:t>
            </a:r>
            <a:endParaRPr lang="zh-CN" altLang="en-US"/>
          </a:p>
          <a:p>
            <a:r>
              <a:rPr lang="zh-CN" altLang="en-US"/>
              <a:t>● 有效期 (Period of validity)  包含两个日期，即证书的生效日期和终止日期。</a:t>
            </a:r>
            <a:endParaRPr lang="zh-CN" altLang="en-US"/>
          </a:p>
          <a:p>
            <a:r>
              <a:rPr lang="zh-CN" altLang="en-US"/>
              <a:t>●证书主体名(Subject  name)  获得证书的用户名，证明拥有相应私钥的主体是公钥的所 有者。</a:t>
            </a:r>
            <a:endParaRPr lang="zh-CN" altLang="en-US"/>
          </a:p>
          <a:p>
            <a:r>
              <a:rPr lang="zh-CN" altLang="en-US"/>
              <a:t>●发行商唯一标识(Issuer unique identifier)  由于X.500的名字被许多不同实体引用，因此</a:t>
            </a:r>
            <a:endParaRPr lang="zh-CN" altLang="en-US"/>
          </a:p>
          <a:p>
            <a:r>
              <a:rPr lang="zh-CN" altLang="en-US"/>
              <a:t>用可选位串唯一标识签证机构。</a:t>
            </a:r>
            <a:endParaRPr lang="zh-CN" altLang="en-US"/>
          </a:p>
          <a:p>
            <a:r>
              <a:rPr lang="zh-CN" altLang="en-US"/>
              <a:t>●证书主体唯一标识 (Subject unique identifier)  由于X.500 的名字被许多不同实体引用，</a:t>
            </a:r>
            <a:endParaRPr lang="zh-CN" altLang="en-US"/>
          </a:p>
          <a:p>
            <a:r>
              <a:rPr lang="zh-CN" altLang="en-US"/>
              <a:t>因此用可选位域唯一标识证书主体。</a:t>
            </a:r>
            <a:endParaRPr lang="zh-CN" altLang="en-US"/>
          </a:p>
          <a:p>
            <a:r>
              <a:rPr lang="zh-CN" altLang="en-US"/>
              <a:t>● 扩展 (Extensions )  一个或多个扩展域集，扩展域是在版本3中增加的，将在以后讨论。</a:t>
            </a:r>
            <a:endParaRPr lang="zh-CN" altLang="en-US"/>
          </a:p>
          <a:p>
            <a:r>
              <a:rPr lang="zh-CN" altLang="en-US"/>
              <a:t>● 签名 (Signature)  用 CA 私钥对证书的所有域及对这些域的Hash 值一起加密。</a:t>
            </a:r>
            <a:endParaRPr lang="zh-CN" altLang="en-US"/>
          </a:p>
          <a:p>
            <a:r>
              <a:rPr lang="zh-CN" altLang="en-US"/>
              <a:t>唯一标识域是在版本2中加入的，在证书主体或发行商名字出现重名时使用， 一般很少使用。</a:t>
            </a:r>
            <a:endParaRPr lang="zh-CN" altLang="en-US"/>
          </a:p>
          <a:p>
            <a:r>
              <a:rPr lang="zh-CN" altLang="en-US"/>
              <a:t>该标准使用如下标注定义证书：</a:t>
            </a:r>
            <a:endParaRPr lang="zh-CN" altLang="en-US"/>
          </a:p>
          <a:p>
            <a:r>
              <a:rPr lang="zh-CN" altLang="en-US"/>
              <a:t>CA&lt;&lt;A&gt;&gt;=CA{V,SN,AI,CA,UCA,A,UA,Ap,T^}</a:t>
            </a:r>
            <a:endParaRPr lang="zh-CN" altLang="en-US"/>
          </a:p>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所有版本获得一个用户证书  CA 生成的用户证书具有以下特点：</a:t>
            </a:r>
            <a:endParaRPr lang="zh-CN" altLang="en-US"/>
          </a:p>
          <a:p>
            <a:r>
              <a:rPr lang="zh-CN" altLang="en-US"/>
              <a:t>●任何可以访问CA 公钥的用户均可获得证书中的用户公钥。</a:t>
            </a:r>
            <a:endParaRPr lang="zh-CN" altLang="en-US"/>
          </a:p>
          <a:p>
            <a:r>
              <a:rPr lang="zh-CN" altLang="en-US"/>
              <a:t>● 只有CA 可以修改证书。</a:t>
            </a:r>
            <a:endParaRPr lang="zh-CN" altLang="en-US"/>
          </a:p>
          <a:p>
            <a:r>
              <a:rPr lang="zh-CN" altLang="en-US"/>
              <a:t>由于证书不可伪造，因此证书可以存放在目录中而不需要对目录进行特别保护。</a:t>
            </a:r>
            <a:endParaRPr lang="zh-CN" altLang="en-US"/>
          </a:p>
          <a:p>
            <a:r>
              <a:rPr lang="zh-CN" altLang="en-US"/>
              <a:t>如果所有用户都属于同一个CA,  则说明用户普遍信任CA,  所有用户的证书均被存放于同一个 目录中，所有用户都可以进行存取。另外，用户也可以直接将其证书传给其他用户。 一旦B 拥有了 A 的证书，B 即可确信用A 的公钥加密的消息是安全的、不可能被窃取，同时，用A 的私钥签名的 消息也不可能仿造。</a:t>
            </a:r>
            <a:endParaRPr lang="zh-CN" altLang="en-US"/>
          </a:p>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如果用户数量很多，不可能期望所有用户从同 一 个 CA  获 得 证 书 ， 由 于 证 书 是 由CA  签 发 的 ，</a:t>
            </a:r>
            <a:endParaRPr lang="zh-CN" altLang="en-US"/>
          </a:p>
          <a:p>
            <a:r>
              <a:rPr lang="zh-CN" altLang="en-US"/>
              <a:t>每一个用户都需要拥有一个CA 的公钥来验证签名，该公钥必须用一种绝对安全的方式提供给每个 用户，使用户可以信任该证书。</a:t>
            </a:r>
            <a:endParaRPr lang="zh-CN" altLang="en-US"/>
          </a:p>
          <a:p>
            <a:r>
              <a:rPr lang="zh-CN" altLang="en-US"/>
              <a:t>现在，假设A 获得了签证机构X₁的证书，而B 获得了签证机构 X₂的证书，如果A 无法安全地获 得X₂的公钥，则由X₂ 发放的B 的证书对A 而言就无法使用，A 只能读取 B的证书，但无法验证其签 名，然而，如果两个CA 之间能安全地交换它们的公钥，则A 可以通过下述过程获得B 的公钥：</a:t>
            </a:r>
            <a:endParaRPr lang="zh-CN" altLang="en-US"/>
          </a:p>
          <a:p>
            <a:r>
              <a:rPr lang="zh-CN" altLang="en-US"/>
              <a:t>(1)A    从目录中获得由X₁ 签名的X₂ 的证书，由于A 知道X₁ 的公钥， A  可从证书中获得 X₂ 的公钥，并用X₁ 的签名来验证证书。</a:t>
            </a:r>
            <a:endParaRPr lang="zh-CN" altLang="en-US"/>
          </a:p>
          <a:p>
            <a:r>
              <a:rPr lang="zh-CN" altLang="en-US"/>
              <a:t>(2)A    再到目录中获取由X₂颁发的B 的证书，由于A 已经得到了 X₂的公钥， A 即可利用它 验证签名，从而安全地获得B 的公钥。</a:t>
            </a:r>
            <a:endParaRPr lang="zh-CN" altLang="en-US"/>
          </a:p>
          <a:p>
            <a:r>
              <a:rPr lang="zh-CN" altLang="en-US"/>
              <a:t>A使用了一个证书链来获得B 的公钥，在X.509中，该链表示如下：</a:t>
            </a:r>
            <a:endParaRPr lang="zh-CN" altLang="en-US"/>
          </a:p>
          <a:p>
            <a:r>
              <a:rPr lang="zh-CN" altLang="en-US"/>
              <a:t>X₁&lt;&lt;X₂&gt;&gt;X₂&lt;&lt;B&gt;&gt;</a:t>
            </a:r>
            <a:endParaRPr lang="zh-CN" altLang="en-US"/>
          </a:p>
          <a:p>
            <a:r>
              <a:rPr lang="zh-CN" altLang="en-US"/>
              <a:t>同样， B 可以逆向地获得A 的公钥：</a:t>
            </a:r>
            <a:endParaRPr lang="zh-CN" altLang="en-US"/>
          </a:p>
          <a:p>
            <a:r>
              <a:rPr lang="zh-CN" altLang="en-US"/>
              <a:t>X₂&lt;&lt;X₁&gt;&gt;X₁&lt;&lt;A&gt;&gt;</a:t>
            </a:r>
            <a:endParaRPr lang="zh-CN" altLang="en-US"/>
          </a:p>
          <a:p>
            <a:r>
              <a:rPr lang="zh-CN" altLang="en-US"/>
              <a:t>上述模式并不仅仅限于两个证书，对长度为N 的 CA 链的认证过程可表示如下：</a:t>
            </a:r>
            <a:endParaRPr lang="zh-CN" altLang="en-US"/>
          </a:p>
          <a:p>
            <a:r>
              <a:rPr lang="zh-CN" altLang="en-US"/>
              <a:t>X₁&lt;&lt;X₂&gt;&gt;X₂&lt;&lt;X₃&gt;&gt;…Xv&lt;&lt;B&gt;&gt;</a:t>
            </a:r>
            <a:endParaRPr lang="zh-CN" altLang="en-US"/>
          </a:p>
          <a:p>
            <a:r>
              <a:rPr lang="zh-CN" altLang="en-US"/>
              <a:t>在这种情况中，链中的每对CA(Xj,X₁)         必须互相发放证书。</a:t>
            </a:r>
            <a:endParaRPr lang="zh-CN" altLang="en-US"/>
          </a:p>
          <a:p>
            <a:r>
              <a:rPr lang="zh-CN" altLang="en-US"/>
              <a:t>所有由CA 发放给 CA 的证书必须放在一个目录中，用户必须知道如何找到一条路径来获得其 他用户的公钥证书，在X.509 中，推荐采用层次结构放置CA 证书，以利于建立强大的导航机制。</a:t>
            </a:r>
            <a:endParaRPr lang="zh-CN" altLang="en-US"/>
          </a:p>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图14.16描述了 X.509 中推荐的层次结构，相连的圆圈表示 CA 间的层次结构，相连的方框表 示每个CA 发放的证书所在的目录，每个CA 目录入口中包含两种证书：</a:t>
            </a:r>
            <a:endParaRPr lang="zh-CN" altLang="en-US"/>
          </a:p>
          <a:p>
            <a:r>
              <a:rPr lang="zh-CN" altLang="en-US"/>
              <a:t>● 前向证书  由其他CA 发给X 的证书。</a:t>
            </a:r>
            <a:endParaRPr lang="zh-CN" altLang="en-US"/>
          </a:p>
          <a:p>
            <a:r>
              <a:rPr lang="zh-CN" altLang="en-US"/>
              <a:t>● 后向证书 X 发给其他CA 的证书。</a:t>
            </a:r>
            <a:endParaRPr lang="zh-CN" altLang="en-US"/>
          </a:p>
          <a:p>
            <a:r>
              <a:rPr lang="zh-CN" altLang="en-US"/>
              <a:t>例如，用户A 可以通过创建一条到 B的路径获得相关证书</a:t>
            </a:r>
            <a:endParaRPr lang="zh-CN" altLang="en-US"/>
          </a:p>
          <a:p>
            <a:r>
              <a:rPr lang="zh-CN" altLang="en-US"/>
              <a:t>X&lt;&lt;W&gt;&gt;W&lt;&lt;V&gt;&gt;V&lt;&lt;Y&gt;&gt;Y&lt;&lt;Z&gt;&gt;Z&lt;&lt;B&gt;&gt;</a:t>
            </a:r>
            <a:endParaRPr lang="zh-CN" altLang="en-US"/>
          </a:p>
          <a:p>
            <a:r>
              <a:rPr lang="zh-CN" altLang="en-US"/>
              <a:t>、当A 获得相关证书后，可以通过顺序展开证书路径来获得B 的公钥，用该公钥， A 可将加密消 息送往 B,  如果A 想得到B 返回的加密消息或对发往B 的消息签名，则B 需要按照下述证书路径 来获得 A 的公钥</a:t>
            </a:r>
            <a:endParaRPr lang="zh-CN" altLang="en-US"/>
          </a:p>
          <a:p>
            <a:r>
              <a:rPr lang="zh-CN" altLang="en-US"/>
              <a:t>Z&lt;&lt;Y&gt;&gt;Y&lt;&lt;V&gt;&gt;V&lt;&lt;W&gt;&gt;W&lt;&lt;X&gt;&gt;X&lt;&lt;A&gt;&gt;</a:t>
            </a:r>
            <a:endParaRPr lang="zh-CN" altLang="en-US"/>
          </a:p>
          <a:p>
            <a:r>
              <a:rPr lang="zh-CN" altLang="en-US"/>
              <a:t>B 可以获得目录中的证书集，或A 可在它发给B 的初始消息中将其包含进去</a:t>
            </a:r>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图14.16描述了 X.509 中推荐的层次结构，相连的圆圈表示 CA 间的层次结构，相连的方框表 示每个CA 发放的证书所在的目录，每个CA 目录入口中包含两种证书：</a:t>
            </a:r>
            <a:endParaRPr lang="zh-CN" altLang="en-US"/>
          </a:p>
          <a:p>
            <a:r>
              <a:rPr lang="zh-CN" altLang="en-US"/>
              <a:t>● 前向证书  由其他CA 发给X 的证书。</a:t>
            </a:r>
            <a:endParaRPr lang="zh-CN" altLang="en-US"/>
          </a:p>
          <a:p>
            <a:r>
              <a:rPr lang="zh-CN" altLang="en-US"/>
              <a:t>● 后向证书 X 发给其他CA 的证书。</a:t>
            </a:r>
            <a:endParaRPr lang="zh-CN" altLang="en-US"/>
          </a:p>
          <a:p>
            <a:r>
              <a:rPr lang="zh-CN" altLang="en-US"/>
              <a:t>例如，用户A 可以通过创建一条到 B的路径获得相关证书</a:t>
            </a:r>
            <a:endParaRPr lang="zh-CN" altLang="en-US"/>
          </a:p>
          <a:p>
            <a:r>
              <a:rPr lang="zh-CN" altLang="en-US"/>
              <a:t>X&lt;&lt;W&gt;&gt;W&lt;&lt;V&gt;&gt;V&lt;&lt;Y&gt;&gt;Y&lt;&lt;Z&gt;&gt;Z&lt;&lt;B&gt;&gt;</a:t>
            </a:r>
            <a:endParaRPr lang="zh-CN" altLang="en-US"/>
          </a:p>
          <a:p>
            <a:r>
              <a:rPr lang="zh-CN" altLang="en-US"/>
              <a:t>、当A 获得相关证书后，可以通过顺序展开证书路径来获得B 的公钥，用该公钥， A 可将加密消 息送往 B,  如果A 想得到B 返回的加密消息或对发往B 的消息签名，则B 需要按照下述证书路径 来获得 A 的公钥</a:t>
            </a:r>
            <a:endParaRPr lang="zh-CN" altLang="en-US"/>
          </a:p>
          <a:p>
            <a:r>
              <a:rPr lang="zh-CN" altLang="en-US"/>
              <a:t>Z&lt;&lt;Y&gt;&gt;Y&lt;&lt;V&gt;&gt;V&lt;&lt;W&gt;&gt;W&lt;&lt;X&gt;&gt;X&lt;&lt;A&gt;&gt;</a:t>
            </a:r>
            <a:endParaRPr lang="zh-CN" altLang="en-US"/>
          </a:p>
          <a:p>
            <a:r>
              <a:rPr lang="zh-CN" altLang="en-US"/>
              <a:t>B 可以获得目录中的证书集，或A 可在它发给B 的初始消息中将其包含进去</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证书撤销  回顾图14.15,每一个证书都有一个有效期，这与信用卡相似。通常，新的证书会 在旧证书失效前发放，另外，还可能由于以下原因提前撤回证书：</a:t>
            </a:r>
            <a:endParaRPr lang="zh-CN" altLang="en-US"/>
          </a:p>
          <a:p>
            <a:r>
              <a:rPr lang="zh-CN" altLang="en-US"/>
              <a:t>(1)用户私钥被认为不安全。</a:t>
            </a:r>
            <a:endParaRPr lang="zh-CN" altLang="en-US"/>
          </a:p>
          <a:p>
            <a:r>
              <a:rPr lang="zh-CN" altLang="en-US"/>
              <a:t>(2)用户不再信任该CA。原因包括主体名已改变、证书已被废弃或者证书没有按照CA 的规 则发行。</a:t>
            </a:r>
            <a:endParaRPr lang="zh-CN" altLang="en-US"/>
          </a:p>
          <a:p>
            <a:r>
              <a:rPr lang="zh-CN" altLang="en-US"/>
              <a:t>(3)CA   证书被认为不安全。</a:t>
            </a:r>
            <a:endParaRPr lang="zh-CN" altLang="en-US"/>
          </a:p>
          <a:p>
            <a:r>
              <a:rPr lang="zh-CN" altLang="en-US"/>
              <a:t>每个CA 必须保留一张表，其中包含所有被CA 撤销且还未到期的证书，包括发给用户和其他 CA的证书，这张表也应被放在目录中。</a:t>
            </a:r>
            <a:endParaRPr lang="zh-CN" altLang="en-US"/>
          </a:p>
          <a:p>
            <a:r>
              <a:rPr lang="zh-CN" altLang="en-US"/>
              <a:t>每个放在目录中的证书撤销表(CRL)   均被其发行商签名，并包含发行商的名字、表创建的时 间、下一张 CRL 表发放的时间以及每个撤销证书的入口[参见图14.15(b)] 。每个入口中包含该证 书的序列号和撤销时间。由于一个CA 中的序列号是唯一的，因此序列号足以表示一张证书。</a:t>
            </a:r>
            <a:endParaRPr lang="zh-CN" altLang="en-US"/>
          </a:p>
          <a:p>
            <a:r>
              <a:rPr lang="zh-CN" altLang="en-US"/>
              <a:t>当一个用户在一个消息中接收了一个证书，用户必须确定该证书是否已被撤销。用户可以在接 到证书时检查目录，为了避免目录搜索时的延迟(和可能的其他开销),用户可以维护一个本地的 证书及CRL 的缓存。</a:t>
            </a:r>
            <a:endParaRPr lang="zh-CN" altLang="en-US"/>
          </a:p>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单向认证：</a:t>
            </a:r>
            <a:endParaRPr lang="zh-CN" altLang="en-US"/>
          </a:p>
          <a:p>
            <a:r>
              <a:rPr lang="zh-CN" altLang="en-US"/>
              <a:t>单向认证是指在通信过程中，只有一方（通常是客户端）需要向另一方（服务器）提供证书，以证明其身份。服务器验证客户端的证书，但客户端不需要验证服务器的证书。这种方式可以防止中间人攻击，但仅限于客户端到服务器的方向。</a:t>
            </a:r>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双向认证：</a:t>
            </a:r>
            <a:endParaRPr lang="zh-CN" altLang="en-US"/>
          </a:p>
          <a:p>
            <a:r>
              <a:rPr lang="zh-CN" altLang="en-US"/>
              <a:t>双向认证，也称为相互认证，是指在通信过程中，客户端和服务器双方都需要提供证书，以相互验证对方的身份。服务器验证客户端的证书，客户端也验证服务器的证书。这种方式可以防止中间人攻击，因为它确保了通信双方的身份都是经过验证的。</a:t>
            </a:r>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X.509的版本2中没有将设计和实践当中所需要的所用信息均包含进去。文献[FORD95]列出了 版本2中未满足的需求：</a:t>
            </a:r>
            <a:endParaRPr lang="zh-CN" altLang="en-US"/>
          </a:p>
          <a:p>
            <a:r>
              <a:rPr lang="zh-CN" altLang="en-US"/>
              <a:t>(1)证书主体域不足以将密钥所有者转换为公钥用户。X.509中的名字相对较短，不能满足用 户需要知道标识细节的要求。</a:t>
            </a:r>
            <a:endParaRPr lang="zh-CN" altLang="en-US"/>
          </a:p>
          <a:p>
            <a:r>
              <a:rPr lang="zh-CN" altLang="en-US"/>
              <a:t>(2)证书主体域在许多应用中不足以满足需要，通常需要互联网邮件地址、URL 和其他与互 联网相关的标识。</a:t>
            </a:r>
            <a:endParaRPr lang="zh-CN" altLang="en-US"/>
          </a:p>
          <a:p>
            <a:r>
              <a:rPr lang="zh-CN" altLang="en-US"/>
              <a:t>(3)需要标明安全策略信息。这可以将安全应用或安全功能，如IPSec 等，与X.509联系，将 策略应用于证书。</a:t>
            </a:r>
            <a:endParaRPr lang="zh-CN" altLang="en-US"/>
          </a:p>
          <a:p>
            <a:r>
              <a:rPr lang="zh-CN" altLang="en-US"/>
              <a:t>(4)需要对证书的使用范围进行限定，以缩小CA 失误或恶意破坏造成的影响。</a:t>
            </a:r>
            <a:endParaRPr lang="zh-CN" altLang="en-US"/>
          </a:p>
          <a:p>
            <a:r>
              <a:rPr lang="zh-CN" altLang="en-US"/>
              <a:t>(5)能区分同一个用户在不同时刻使用不同密钥是非常重要的。这一特性支持密钥的生命期 管理，特别是在一般或特殊情况下更新用户和CA 密钥对的能力。</a:t>
            </a:r>
            <a:endParaRPr lang="zh-CN" altLang="en-US"/>
          </a:p>
          <a:p>
            <a:r>
              <a:rPr lang="zh-CN" altLang="en-US"/>
              <a:t>相比于向固定格式中继续增加字段，标准的开发者认为需要一种更方便的方法。于是，版本3 的格式增加了一些可选的扩展项。每一个扩展项有一个扩展标识、 一个危险指示和一个扩展值。危 险指示用于指出该扩展项是否能安全地被忽略，如果值为TRUE 且实现时未处理它，则其证书将会 被当成非法的证书。</a:t>
            </a:r>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密钥和策略信息 此类扩展项传递的是与证书主体和发行商密钥相关的附加信息，以及证书 策略的指示信息。 一个证书策略是一个已命名的规则集，在普通安全级别上描述特定团体或应 用类型证书的使用范围。例如，某个策略可用于电子数据交换(EDI)   在一定价格范围内的贸易 认证。</a:t>
            </a:r>
            <a:endParaRPr lang="zh-CN" altLang="en-US"/>
          </a:p>
          <a:p>
            <a:r>
              <a:rPr lang="zh-CN" altLang="en-US"/>
              <a:t>这个范围包括：</a:t>
            </a:r>
            <a:endParaRPr lang="zh-CN" altLang="en-US"/>
          </a:p>
          <a:p>
            <a:r>
              <a:rPr lang="zh-CN" altLang="en-US"/>
              <a:t>● 授权密钥标识符 用于验证证书或CRL 上的签名的公钥。同一个CA 的不同密钥得以区分， 该字段的一个用法是用于更新CA 密钥对。</a:t>
            </a:r>
            <a:endParaRPr lang="zh-CN" altLang="en-US"/>
          </a:p>
          <a:p>
            <a:r>
              <a:rPr lang="zh-CN" altLang="en-US"/>
              <a:t>● 主体密钥标识符 标识被证实了的公钥，用于更新主体的密钥对。同样， 一个主体对不同目 的的不同证书可以拥有许多密钥对(如数字签名和加密密钥协议)。</a:t>
            </a:r>
            <a:endParaRPr lang="zh-CN" altLang="en-US"/>
          </a:p>
          <a:p>
            <a:r>
              <a:rPr lang="zh-CN" altLang="en-US"/>
              <a:t>● 密钥使用  说明被证实的公钥的使用范围和使用策略。可以包含以下内容：数字签名  非抵赖、密钥加密、数据加密、密钥一致性、CA 证书的签名验证和 CA 的 CRL 签名 验证。</a:t>
            </a:r>
            <a:endParaRPr lang="zh-CN" altLang="en-US"/>
          </a:p>
          <a:p>
            <a:r>
              <a:rPr lang="zh-CN" altLang="en-US"/>
              <a:t>● 私钥使用期 表明与公钥相匹配的私钥的使用期。通常，私钥的使用期与公钥不同，例如， 在数字签名密钥中，私钥的使用期一般比公钥短。</a:t>
            </a:r>
            <a:endParaRPr lang="zh-CN" altLang="en-US"/>
          </a:p>
          <a:p>
            <a:r>
              <a:rPr lang="zh-CN" altLang="en-US"/>
              <a:t>● 证书策略 证书可以在应用多种策略的各种环境中使用。该扩展项中列出了证书所支持的策 略集，包括可选的限定信息。</a:t>
            </a:r>
            <a:endParaRPr lang="zh-CN" altLang="en-US"/>
          </a:p>
          <a:p>
            <a:r>
              <a:rPr lang="zh-CN" altLang="en-US"/>
              <a:t>● 策略映射 仅用于其他CA 发给CA 的证书中。策略映射允许发行CA 将其一个或多个策略 等同于主体CA 域中的某个策略。</a:t>
            </a:r>
            <a:endParaRPr lang="zh-CN" altLang="en-US"/>
          </a:p>
          <a:p>
            <a:endParaRPr lang="zh-CN" altLang="en-US"/>
          </a:p>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RFC4949 (互联网安全术语)定义了PKI 系统是由硬件、软件、人、策略和程序构成的一整套 体系。这些程序是用来创建、管理、存储、分发和撤销建立在非对称密码算法之上的数字证书。创 建PKI 的主要目的就是用来安全、便捷、高效地获得公钥。的 PKIX(Public    Key    Infrastructure    X.509)工作组在 X.509 的基础上建立了一个可以用来构建网络认</a:t>
            </a:r>
            <a:endParaRPr lang="zh-CN" altLang="en-US"/>
          </a:p>
          <a:p>
            <a:r>
              <a:rPr lang="zh-CN" altLang="en-US"/>
              <a:t>证体系的基本模型。本节就简单介绍一下 PKIX 模型。</a:t>
            </a:r>
            <a:endParaRPr lang="zh-CN" altLang="en-US"/>
          </a:p>
          <a:p>
            <a:endParaRPr lang="zh-CN" altLang="en-US"/>
          </a:p>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图14.17描述了在 PKIX 模型中各个关键元素之间的相互关系。这些元素是</a:t>
            </a:r>
            <a:endParaRPr lang="zh-CN" altLang="en-US"/>
          </a:p>
          <a:p>
            <a:r>
              <a:rPr lang="zh-CN" altLang="en-US"/>
              <a:t>● 端实体 是必备的元素，它可以是一个终端用户、设备(如应用服务器、路由器等), 或是其他可以在一个公钥数字证书作用范围中被认证的实体。终端实体支持 PKI相关的 设备。</a:t>
            </a:r>
            <a:endParaRPr lang="zh-CN" altLang="en-US"/>
          </a:p>
          <a:p>
            <a:r>
              <a:rPr lang="zh-CN" altLang="en-US"/>
              <a:t>● 签 证 机 构 (CA )  是证书和证书撤销列表(CRL)的发行人，常常在其上运行着一个或多</a:t>
            </a:r>
            <a:endParaRPr lang="zh-CN" altLang="en-US"/>
          </a:p>
          <a:p>
            <a:r>
              <a:rPr lang="zh-CN" altLang="en-US"/>
              <a:t>个注册机构 (RA),   同时它还承担一些管理任务。</a:t>
            </a:r>
            <a:endParaRPr lang="zh-CN" altLang="en-US"/>
          </a:p>
          <a:p>
            <a:r>
              <a:rPr lang="zh-CN" altLang="en-US"/>
              <a:t>● 注 册 机 构(RA )  是可选的元素，可以承担一些签证机构(CA)  的管理任务。 一般来说都</a:t>
            </a:r>
            <a:endParaRPr lang="zh-CN" altLang="en-US"/>
          </a:p>
          <a:p>
            <a:r>
              <a:rPr lang="zh-CN" altLang="en-US"/>
              <a:t>是和端实体的注册进程相关的任务，也可以支持一些其他的管理任务。</a:t>
            </a:r>
            <a:endParaRPr lang="zh-CN" altLang="en-US"/>
          </a:p>
          <a:p>
            <a:r>
              <a:rPr lang="zh-CN" altLang="en-US"/>
              <a:t>●证书撤销列表 (CRL) 发布点 是可选的元素，签证机构可以通过它来发布证书撤销列表 (CRL)。</a:t>
            </a:r>
            <a:endParaRPr lang="zh-CN" altLang="en-US"/>
          </a:p>
          <a:p>
            <a:r>
              <a:rPr lang="zh-CN" altLang="en-US"/>
              <a:t>● 证书存取库 是必备的元素，它提供了存取数字证书和证书撤销列表(CRL)  的方法，可以</a:t>
            </a:r>
            <a:endParaRPr lang="zh-CN" altLang="en-US"/>
          </a:p>
          <a:p>
            <a:r>
              <a:rPr lang="zh-CN" altLang="en-US"/>
              <a:t>被终端用户检索。</a:t>
            </a:r>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PKIX 体系中定义了一系列的管理任务，它们是在管理协议的支持下进行工作的。图14.17中描 述了这些管理任务：</a:t>
            </a:r>
            <a:endParaRPr lang="zh-CN" altLang="en-US"/>
          </a:p>
          <a:p>
            <a:r>
              <a:rPr lang="zh-CN" altLang="en-US"/>
              <a:t>● 用户注册 这是用户第一次进行认证之前进行的活动，它先于CA 为用户颁布一个或多个证 书。在 PKI  中注册从登记进程开始，注册通常包括一系列的在线和离线的交互认证，代表 性地，端实体会在后续认证中发布一个或者多个共享密钥。</a:t>
            </a:r>
            <a:endParaRPr lang="zh-CN" altLang="en-US"/>
          </a:p>
          <a:p>
            <a:r>
              <a:rPr lang="zh-CN" altLang="en-US"/>
              <a:t>● 初始化  在一个客户系统安全操作之前，有必要将和密钥存储相关的关键材料安装在基础设</a:t>
            </a:r>
            <a:endParaRPr lang="zh-CN" altLang="en-US"/>
          </a:p>
          <a:p>
            <a:r>
              <a:rPr lang="zh-CN" altLang="en-US"/>
              <a:t>施的别处，例如，客户需要用公钥和其他一些来自可信CA 的确认信息安全的初始化，用于 确认证书路径。</a:t>
            </a:r>
            <a:endParaRPr lang="zh-CN" altLang="en-US"/>
          </a:p>
          <a:p>
            <a:r>
              <a:rPr lang="zh-CN" altLang="en-US"/>
              <a:t>● 认证书 这个进程中，签证机构通过用户的公钥向用户发放一个证书，返回证书给用户客户 系统，并在证书存取库中进行保存。</a:t>
            </a:r>
            <a:endParaRPr lang="zh-CN" altLang="en-US"/>
          </a:p>
          <a:p>
            <a:r>
              <a:rPr lang="zh-CN" altLang="en-US"/>
              <a:t>●密钥对的恢复 密钥对可以用于数字签名的创建、验证和数据加解密。而对于数据加解密来 说，当解密钥丢失时，必须提供机制来恢复解密密钥，这对恢复加密数据来说非常重要。 密钥的丢失通常是由密钥遗忘、磁盘驱动崩溃、硬件令牌毁坏等原因造成的。密钥对的恢 复使得终端实体重新存储源于授权的密钥反馈机制(如发布终端实体证书的CA)   的加解密 密钥。</a:t>
            </a:r>
            <a:endParaRPr lang="zh-CN" altLang="en-US"/>
          </a:p>
          <a:p>
            <a:r>
              <a:rPr lang="zh-CN" altLang="en-US"/>
              <a:t>● 密钥对更新  所有的密钥都需要定期更新(即替换为新的密钥对),及发布相应的证书。当 证书的生命周期终止或者证书撤销时，需要更新。</a:t>
            </a:r>
            <a:endParaRPr lang="zh-CN" altLang="en-US"/>
          </a:p>
          <a:p>
            <a:r>
              <a:rPr lang="zh-CN" altLang="en-US"/>
              <a:t>● 证书撤销请求  一个授权用户可以向签证机构提出要求撤销证书。当发生密钥泄露、从属关 系变更或更名等时，需要提交这种请求。</a:t>
            </a:r>
            <a:endParaRPr lang="zh-CN" altLang="en-US"/>
          </a:p>
          <a:p>
            <a:r>
              <a:rPr lang="zh-CN" altLang="en-US"/>
              <a:t>● 交叉认证  如果两个签证机构之间要交换数据，则可以通过交叉认证来建立信任关系。 一个交叉认证证书是一个签证机构发布给另一个签证机构的，包含用来发布证书的数 字签名</a:t>
            </a:r>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 PKIX 实体间，PKIX 工作组定义了两种可选的管理协议来完成在上节描述的管理任务。RFC 2510定义了证书管理协议 (CMP),    在 CMP  中，每个管理任务都通过特定协议交换来明确识别。 另外，CMP 是一种柔性协议，能适应技术、操作和商务模型的多样性。</a:t>
            </a:r>
            <a:endParaRPr lang="zh-CN" altLang="en-US"/>
          </a:p>
          <a:p>
            <a:r>
              <a:rPr lang="zh-CN" altLang="en-US"/>
              <a:t>RFC2797 定义了采用CMS(CMC)     来进行认证管理消息封装的方法，其中CMS 在 RFC2630  中被描述， CMC 则在更早些的RFC 文档中被描述，它们的设计使现有的技术发挥出更高的效能。 另外，虽然支持所有的 PKIX 管理任务，但各项管理任务并没有和特定的协议交互一一对应。</a:t>
            </a:r>
            <a:endParaRPr lang="zh-CN" altLang="en-US"/>
          </a:p>
          <a:p>
            <a:endParaRPr lang="zh-CN" altLang="en-US"/>
          </a:p>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7.wmf"/><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8.wmf"/><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2.xml"/><Relationship Id="rId2" Type="http://schemas.openxmlformats.org/officeDocument/2006/relationships/image" Target="../media/image14.wmf"/><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5.pdf"/><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1.jpeg"/><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18.wmf"/><Relationship Id="rId1"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19.wmf"/><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2.xml"/><Relationship Id="rId2" Type="http://schemas.openxmlformats.org/officeDocument/2006/relationships/image" Target="../media/image21.wmf"/><Relationship Id="rId1" Type="http://schemas.openxmlformats.org/officeDocument/2006/relationships/image" Target="../media/image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2.xml"/><Relationship Id="rId2" Type="http://schemas.openxmlformats.org/officeDocument/2006/relationships/image" Target="../media/image22.wmf"/><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2.xml"/><Relationship Id="rId2" Type="http://schemas.openxmlformats.org/officeDocument/2006/relationships/image" Target="../media/image23.png"/><Relationship Id="rId1" Type="http://schemas.openxmlformats.org/officeDocument/2006/relationships/image" Target="../media/image1.jpe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1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jpe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1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1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1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2.xml"/><Relationship Id="rId2" Type="http://schemas.openxmlformats.org/officeDocument/2006/relationships/image" Target="../media/image29.png"/><Relationship Id="rId1" Type="http://schemas.openxmlformats.org/officeDocument/2006/relationships/image" Target="../media/image1.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1.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2.xml"/><Relationship Id="rId2" Type="http://schemas.openxmlformats.org/officeDocument/2006/relationships/image" Target="../media/image30.png"/><Relationship Id="rId1" Type="http://schemas.openxmlformats.org/officeDocument/2006/relationships/image" Target="../media/image1.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1.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2.xml"/><Relationship Id="rId2" Type="http://schemas.openxmlformats.org/officeDocument/2006/relationships/image" Target="../media/image32.png"/><Relationship Id="rId1" Type="http://schemas.openxmlformats.org/officeDocument/2006/relationships/image" Target="../media/image1.jpe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2.xml"/><Relationship Id="rId2" Type="http://schemas.openxmlformats.org/officeDocument/2006/relationships/image" Target="../media/image33.png"/><Relationship Id="rId1" Type="http://schemas.openxmlformats.org/officeDocument/2006/relationships/image" Target="../media/image1.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3489325" y="1966595"/>
            <a:ext cx="5193665"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上节回顾</a:t>
            </a:r>
            <a:r>
              <a:rPr lang="en-US" altLang="zh-CN"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a:t>
            </a:r>
            <a:r>
              <a:rPr lang="zh-CN" altLang="en-US"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rgbClr val="FF0000"/>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latin typeface="Calibri" panose="020F0502020204030204" charset="0"/>
                <a:ea typeface="微软雅黑" panose="020B0503020204020204" charset="-122"/>
                <a:cs typeface="仿宋" panose="02010609060101010101" charset="-122"/>
                <a:sym typeface="+mn-ea"/>
              </a:rPr>
              <a:t>Schnorr</a:t>
            </a:r>
            <a:r>
              <a:rPr lang="zh-CN" altLang="en-US" sz="3600" dirty="0">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latin typeface="Calibri" panose="020F0502020204030204" charset="0"/>
                <a:ea typeface="微软雅黑" panose="020B0503020204020204" charset="-122"/>
                <a:cs typeface="仿宋" panose="02010609060101010101" charset="-122"/>
                <a:sym typeface="+mn-ea"/>
              </a:rPr>
              <a:t>NIST</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4991735"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数字签名的一般模型</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消息的秘密性不需要保证，但Bob想要Alice确认该消息确实是由Bob发出的</a:t>
            </a: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Bob使用安全Hash函数，Hash值同Bob的私钥一起作为数字签名产生算法的输入，算法的输出短块则作为数字签名。</a:t>
            </a: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Alice收到消息以及签名：计算该消息的Hash值，使用验证算法，输入Hash值以及Bob的公钥。</a:t>
            </a: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800100" lvl="1" indent="-342900"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en-US" altLang="zh-CN" sz="166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5" name="Picture 4" descr="f01.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019800" y="-346710"/>
            <a:ext cx="6172200" cy="7987552"/>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数字签名的构成</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一个数字签名方案包括如下3个算法：</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密钥生成</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产生用户的公私钥</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签名算法</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产生消息的签名</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验证算法</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验收消息的签名是否是合法</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algn="l" fontAlgn="auto">
              <a:lnSpc>
                <a:spcPct val="110000"/>
              </a:lnSpc>
              <a:spcBef>
                <a:spcPts val="600"/>
              </a:spcBef>
              <a:spcAft>
                <a:spcPts val="600"/>
              </a:spcAft>
              <a:buClrTx/>
              <a:buSzTx/>
              <a:buFont typeface="Wingdings" panose="05000000000000000000" pitchFamily="2" charset="2"/>
              <a:buChar char="Ø"/>
            </a:pP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latin typeface="Calibri" panose="020F0502020204030204" charset="0"/>
                <a:ea typeface="微软雅黑" panose="020B0503020204020204" charset="-122"/>
                <a:cs typeface="仿宋" panose="02010609060101010101" charset="-122"/>
                <a:sym typeface="+mn-ea"/>
              </a:rPr>
              <a:t>Schnorr</a:t>
            </a:r>
            <a:r>
              <a:rPr lang="zh-CN" altLang="en-US" sz="3600" dirty="0">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latin typeface="Calibri" panose="020F0502020204030204" charset="0"/>
                <a:ea typeface="微软雅黑" panose="020B0503020204020204" charset="-122"/>
                <a:cs typeface="仿宋" panose="02010609060101010101" charset="-122"/>
                <a:sym typeface="+mn-ea"/>
              </a:rPr>
              <a:t>NIST</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密钥生成过程</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Chooses a secret key (number): 1 &lt; x</a:t>
            </a:r>
            <a:r>
              <a:rPr lang="zh-CN" altLang="en-US" sz="2000" baseline="-25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&lt; q-1 </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Compute their public key: </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Y</a:t>
            </a:r>
            <a:r>
              <a:rPr lang="zh-CN" altLang="en-US" sz="2000" baseline="-25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a:t>
            </a:r>
            <a:r>
              <a:rPr lang="zh-CN" altLang="en-US"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xA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mod q</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生成用户</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的公私对（</a:t>
            </a:r>
            <a:r>
              <a:rPr lang="zh-CN" altLang="en-US" dirty="0" smtClean="0">
                <a:uFillTx/>
                <a:latin typeface="Calibri" panose="020F0502020204030204" charset="0"/>
                <a:ea typeface="微软雅黑" panose="020B0503020204020204" charset="-122"/>
                <a:cs typeface="微软雅黑" panose="020B0503020204020204" charset="-122"/>
                <a:sym typeface="+mn-ea"/>
              </a:rPr>
              <a:t>x</a:t>
            </a:r>
            <a:r>
              <a:rPr lang="zh-CN" altLang="en-US" baseline="-25000" dirty="0" smtClean="0">
                <a:uFillTx/>
                <a:latin typeface="Calibri" panose="020F0502020204030204" charset="0"/>
                <a:ea typeface="微软雅黑" panose="020B0503020204020204" charset="-122"/>
                <a:cs typeface="微软雅黑" panose="020B0503020204020204" charset="-122"/>
                <a:sym typeface="+mn-ea"/>
              </a:rPr>
              <a:t>A，</a:t>
            </a:r>
            <a:r>
              <a:rPr lang="en-US" altLang="zh-CN" dirty="0" smtClean="0">
                <a:uFillTx/>
                <a:latin typeface="Calibri" panose="020F0502020204030204" charset="0"/>
                <a:ea typeface="微软雅黑" panose="020B0503020204020204" charset="-122"/>
                <a:cs typeface="微软雅黑" panose="020B0503020204020204" charset="-122"/>
                <a:sym typeface="+mn-ea"/>
              </a:rPr>
              <a:t>Y</a:t>
            </a:r>
            <a:r>
              <a:rPr lang="zh-CN" altLang="en-US" baseline="-25000" dirty="0" smtClean="0">
                <a:uFillTx/>
                <a:latin typeface="Calibri" panose="020F0502020204030204" charset="0"/>
                <a:ea typeface="微软雅黑" panose="020B0503020204020204" charset="-122"/>
                <a:cs typeface="微软雅黑" panose="020B0503020204020204" charset="-122"/>
                <a:sym typeface="+mn-ea"/>
              </a:rPr>
              <a:t>A</a:t>
            </a:r>
            <a:r>
              <a:rPr lang="zh-CN" altLang="en-US"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签名算法</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为了对消息</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进行签名，用户</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首先计算哈希值：</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m=H(M)</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之后数字签名步骤：</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随机选择一个随机整数</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K</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，使</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1</a:t>
            </a:r>
            <a:r>
              <a:rPr lang="en-US" altLang="zh-CN" sz="2000" dirty="0" smtClean="0">
                <a:solidFill>
                  <a:schemeClr val="tx1"/>
                </a:solidFill>
                <a:uFillTx/>
                <a:latin typeface="Calibri" panose="020F0502020204030204" charset="0"/>
                <a:ea typeface="微软雅黑" panose="020B0503020204020204" charset="-122"/>
                <a:cs typeface="Arial" panose="020B0604020202020204" pitchFamily="34" charset="0"/>
                <a:sym typeface="+mn-ea"/>
              </a:rPr>
              <a:t>≤K</a:t>
            </a:r>
            <a:r>
              <a:rPr lang="en-US" altLang="zh-CN" dirty="0" smtClean="0">
                <a:uFillTx/>
                <a:latin typeface="Calibri" panose="020F0502020204030204" charset="0"/>
                <a:ea typeface="微软雅黑" panose="020B0503020204020204" charset="-122"/>
                <a:cs typeface="Arial" panose="020B0604020202020204" pitchFamily="34" charset="0"/>
                <a:sym typeface="+mn-ea"/>
              </a:rPr>
              <a:t>≤q-1</a:t>
            </a:r>
            <a:r>
              <a:rPr lang="zh-CN" altLang="en-US" dirty="0" smtClean="0">
                <a:uFillTx/>
                <a:latin typeface="Calibri" panose="020F0502020204030204" charset="0"/>
                <a:ea typeface="微软雅黑" panose="020B0503020204020204" charset="-122"/>
                <a:cs typeface="Arial" panose="020B0604020202020204" pitchFamily="34" charset="0"/>
                <a:sym typeface="+mn-ea"/>
              </a:rPr>
              <a:t>且</a:t>
            </a:r>
            <a:r>
              <a:rPr lang="en-US" altLang="zh-CN" dirty="0" smtClean="0">
                <a:uFillTx/>
                <a:latin typeface="Calibri" panose="020F0502020204030204" charset="0"/>
                <a:ea typeface="微软雅黑" panose="020B0503020204020204" charset="-122"/>
                <a:cs typeface="Arial" panose="020B0604020202020204" pitchFamily="34" charset="0"/>
                <a:sym typeface="+mn-ea"/>
              </a:rPr>
              <a:t>gcd(K,q-1)=1</a:t>
            </a:r>
            <a:r>
              <a:rPr lang="zh-CN" altLang="en-US" dirty="0" smtClean="0">
                <a:uFillTx/>
                <a:latin typeface="Calibri" panose="020F0502020204030204" charset="0"/>
                <a:ea typeface="微软雅黑" panose="020B0503020204020204" charset="-122"/>
                <a:cs typeface="Arial" panose="020B0604020202020204" pitchFamily="34" charset="0"/>
                <a:sym typeface="+mn-ea"/>
              </a:rPr>
              <a:t>，即</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zh-CN" altLang="en-US" dirty="0" smtClean="0">
                <a:uFillTx/>
                <a:latin typeface="Calibri" panose="020F0502020204030204" charset="0"/>
                <a:ea typeface="微软雅黑" panose="020B0503020204020204" charset="-122"/>
                <a:cs typeface="Arial" panose="020B0604020202020204" pitchFamily="34" charset="0"/>
                <a:sym typeface="+mn-ea"/>
              </a:rPr>
              <a:t>和</a:t>
            </a:r>
            <a:r>
              <a:rPr lang="en-US" altLang="zh-CN" dirty="0" smtClean="0">
                <a:uFillTx/>
                <a:latin typeface="Calibri" panose="020F0502020204030204" charset="0"/>
                <a:ea typeface="微软雅黑" panose="020B0503020204020204" charset="-122"/>
                <a:cs typeface="Arial" panose="020B0604020202020204" pitchFamily="34" charset="0"/>
                <a:sym typeface="+mn-ea"/>
              </a:rPr>
              <a:t>q-1</a:t>
            </a:r>
            <a:r>
              <a:rPr lang="zh-CN" altLang="en-US" dirty="0" smtClean="0">
                <a:uFillTx/>
                <a:latin typeface="Calibri" panose="020F0502020204030204" charset="0"/>
                <a:ea typeface="微软雅黑" panose="020B0503020204020204" charset="-122"/>
                <a:cs typeface="Arial" panose="020B0604020202020204" pitchFamily="34" charset="0"/>
                <a:sym typeface="+mn-ea"/>
              </a:rPr>
              <a:t>互素。</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K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。（与加密算法中</a:t>
            </a:r>
            <a:r>
              <a:rPr lang="en-US" altLang="zh-CN" dirty="0" smtClean="0">
                <a:uFillTx/>
                <a:latin typeface="Calibri" panose="020F0502020204030204" charset="0"/>
                <a:ea typeface="微软雅黑" panose="020B0503020204020204" charset="-122"/>
                <a:cs typeface="Arial" panose="020B0604020202020204" pitchFamily="34" charset="0"/>
                <a:sym typeface="+mn-ea"/>
              </a:rPr>
              <a:t>C1</a:t>
            </a:r>
            <a:r>
              <a:rPr lang="zh-CN" altLang="en-US" dirty="0" smtClean="0">
                <a:uFillTx/>
                <a:latin typeface="Calibri" panose="020F0502020204030204" charset="0"/>
                <a:ea typeface="微软雅黑" panose="020B0503020204020204" charset="-122"/>
                <a:cs typeface="Arial" panose="020B0604020202020204" pitchFamily="34" charset="0"/>
                <a:sym typeface="+mn-ea"/>
              </a:rPr>
              <a:t>的计算相同）</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-1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(q-1)</a:t>
            </a:r>
            <a:r>
              <a:rPr lang="zh-CN" altLang="en-US" dirty="0" smtClean="0">
                <a:uFillTx/>
                <a:latin typeface="Calibri" panose="020F0502020204030204" charset="0"/>
                <a:ea typeface="微软雅黑" panose="020B0503020204020204" charset="-122"/>
                <a:cs typeface="Arial" panose="020B0604020202020204" pitchFamily="34" charset="0"/>
                <a:sym typeface="+mn-ea"/>
              </a:rPr>
              <a:t>，即计算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zh-CN" altLang="en-US" dirty="0" smtClean="0">
                <a:uFillTx/>
                <a:latin typeface="Calibri" panose="020F0502020204030204" charset="0"/>
                <a:ea typeface="微软雅黑" panose="020B0503020204020204" charset="-122"/>
                <a:cs typeface="Arial" panose="020B0604020202020204" pitchFamily="34" charset="0"/>
                <a:sym typeface="+mn-ea"/>
              </a:rPr>
              <a:t>模</a:t>
            </a:r>
            <a:r>
              <a:rPr lang="en-US" altLang="zh-CN" dirty="0" smtClean="0">
                <a:uFillTx/>
                <a:latin typeface="Calibri" panose="020F0502020204030204" charset="0"/>
                <a:ea typeface="微软雅黑" panose="020B0503020204020204" charset="-122"/>
                <a:cs typeface="Arial" panose="020B0604020202020204" pitchFamily="34" charset="0"/>
                <a:sym typeface="+mn-ea"/>
              </a:rPr>
              <a:t>q-1</a:t>
            </a:r>
            <a:r>
              <a:rPr lang="zh-CN" altLang="en-US" dirty="0" smtClean="0">
                <a:uFillTx/>
                <a:latin typeface="Calibri" panose="020F0502020204030204" charset="0"/>
                <a:ea typeface="微软雅黑" panose="020B0503020204020204" charset="-122"/>
                <a:cs typeface="Arial" panose="020B0604020202020204" pitchFamily="34" charset="0"/>
                <a:sym typeface="+mn-ea"/>
              </a:rPr>
              <a:t>的逆。</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(m-X</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A</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 mod (q-1)</a:t>
            </a:r>
            <a:r>
              <a:rPr lang="zh-CN" altLang="en-US" dirty="0" smtClean="0">
                <a:uFillTx/>
                <a:latin typeface="Calibri" panose="020F0502020204030204" charset="0"/>
                <a:ea typeface="微软雅黑" panose="020B0503020204020204" charset="-122"/>
                <a:cs typeface="Arial" panose="020B0604020202020204" pitchFamily="34" charset="0"/>
                <a:sym typeface="+mn-ea"/>
              </a:rPr>
              <a:t>。</a:t>
            </a:r>
            <a:endParaRPr lang="en-US" altLang="zh-CN"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签名由</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组成。</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签名验证算法</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任意用户</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B</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都可以按照以下步骤验证签名</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V</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m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V</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=(Y</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A</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S1 </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S2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a:t>
            </a:r>
            <a:endParaRPr lang="en-US" altLang="zh-CN"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签名由</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组成。</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Schnorr</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latin typeface="Calibri" panose="020F0502020204030204" charset="0"/>
                <a:ea typeface="微软雅黑" panose="020B0503020204020204" charset="-122"/>
                <a:cs typeface="仿宋" panose="02010609060101010101" charset="-122"/>
                <a:sym typeface="+mn-ea"/>
              </a:rPr>
              <a:t>NIST</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Schnorr</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Schnorr数字签名方案也是基于离散对数的</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生成签名的主要工作不依赖于消息，可以在处理器空闲时执行。</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生成签名过程与消息相关的部分需要进行2n位长度的整数与n 位长度的整数相乘。</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Schnorr</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NIST</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——DSA</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02.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19091" b="23636"/>
              <a:stretch>
                <a:fillRect/>
              </a:stretch>
            </p:blipFill>
          </mc:Choice>
          <mc:Fallback>
            <p:blipFill>
              <a:blip r:embed="rId3"/>
              <a:srcRect t="19091" b="23636"/>
              <a:stretch>
                <a:fillRect/>
              </a:stretch>
            </p:blipFill>
          </mc:Fallback>
        </mc:AlternateContent>
        <p:spPr>
          <a:xfrm>
            <a:off x="1756410" y="757555"/>
            <a:ext cx="8230870" cy="610044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——DSA</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nvSpPr>
        <p:spPr>
          <a:xfrm>
            <a:off x="1243330" y="1102995"/>
            <a:ext cx="4446270" cy="24809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全局公钥组成</a:t>
            </a:r>
            <a:endParaRPr lang="zh-CN" altLang="en-US" sz="2000"/>
          </a:p>
          <a:p>
            <a:pPr algn="l"/>
            <a:r>
              <a:rPr lang="zh-CN" altLang="en-US"/>
              <a:t>p 为素数，其中2</a:t>
            </a:r>
            <a:r>
              <a:rPr lang="zh-CN" altLang="en-US" baseline="30000"/>
              <a:t>L-1</a:t>
            </a:r>
            <a:r>
              <a:rPr lang="zh-CN" altLang="en-US"/>
              <a:t>&lt;p&lt;2</a:t>
            </a:r>
            <a:r>
              <a:rPr lang="en-US" altLang="zh-CN" baseline="30000"/>
              <a:t>L</a:t>
            </a:r>
            <a:r>
              <a:rPr lang="zh-CN" altLang="en-US"/>
              <a:t>，512≤L≤1024  且L是64的倍数，即L的位长在512～1024之间 并且其增量为64位</a:t>
            </a:r>
            <a:endParaRPr lang="zh-CN" altLang="en-US"/>
          </a:p>
          <a:p>
            <a:pPr algn="l"/>
            <a:r>
              <a:rPr lang="zh-CN" altLang="en-US"/>
              <a:t>q 为(p-1) 的素因子，其中2</a:t>
            </a:r>
            <a:r>
              <a:rPr lang="zh-CN" altLang="en-US" baseline="30000"/>
              <a:t>N-</a:t>
            </a:r>
            <a:r>
              <a:rPr lang="en-US" altLang="zh-CN" baseline="30000"/>
              <a:t>1</a:t>
            </a:r>
            <a:r>
              <a:rPr lang="zh-CN" altLang="en-US"/>
              <a:t>&lt;q&lt;2</a:t>
            </a:r>
            <a:r>
              <a:rPr lang="en-US" altLang="zh-CN" baseline="30000"/>
              <a:t>N</a:t>
            </a:r>
            <a:r>
              <a:rPr lang="zh-CN" altLang="en-US"/>
              <a:t>，即位</a:t>
            </a:r>
            <a:endParaRPr lang="zh-CN" altLang="en-US"/>
          </a:p>
          <a:p>
            <a:pPr algn="l"/>
            <a:r>
              <a:rPr lang="zh-CN" altLang="en-US"/>
              <a:t>长为</a:t>
            </a:r>
            <a:r>
              <a:rPr lang="en-US" altLang="zh-CN"/>
              <a:t> </a:t>
            </a:r>
            <a:r>
              <a:rPr lang="zh-CN" altLang="en-US"/>
              <a:t>N 位</a:t>
            </a:r>
            <a:endParaRPr lang="zh-CN" altLang="en-US"/>
          </a:p>
          <a:p>
            <a:pPr algn="l"/>
            <a:r>
              <a:rPr lang="zh-CN" altLang="en-US"/>
              <a:t>g=h(p-1</a:t>
            </a:r>
            <a:r>
              <a:rPr lang="en-US" altLang="zh-CN"/>
              <a:t>)/</a:t>
            </a:r>
            <a:r>
              <a:rPr lang="zh-CN" altLang="en-US"/>
              <a:t>q</a:t>
            </a:r>
            <a:r>
              <a:rPr lang="en-US" altLang="zh-CN"/>
              <a:t> </a:t>
            </a:r>
            <a:r>
              <a:rPr lang="zh-CN" altLang="en-US"/>
              <a:t>mod p，其中h是满足1&lt;h&lt;(p-1) 并且h</a:t>
            </a:r>
            <a:r>
              <a:rPr lang="en-US" altLang="zh-CN" baseline="30000"/>
              <a:t>(p-1)/q </a:t>
            </a:r>
            <a:r>
              <a:rPr lang="zh-CN" altLang="en-US"/>
              <a:t>mod p&gt;1的任何整数</a:t>
            </a:r>
            <a:endParaRPr lang="zh-CN" altLang="en-US"/>
          </a:p>
        </p:txBody>
      </p:sp>
      <p:sp>
        <p:nvSpPr>
          <p:cNvPr id="3" name="矩形 2"/>
          <p:cNvSpPr/>
          <p:nvPr/>
        </p:nvSpPr>
        <p:spPr>
          <a:xfrm>
            <a:off x="1243330" y="3644265"/>
            <a:ext cx="4446270" cy="819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用户的私钥</a:t>
            </a:r>
            <a:endParaRPr lang="zh-CN" altLang="en-US" sz="2000"/>
          </a:p>
          <a:p>
            <a:pPr algn="l">
              <a:buClrTx/>
              <a:buSzTx/>
              <a:buFontTx/>
            </a:pPr>
            <a:r>
              <a:rPr lang="zh-CN" altLang="en-US" sz="1800"/>
              <a:t>为随机或伪随机整数且0&lt;x&lt;q</a:t>
            </a:r>
            <a:endParaRPr lang="zh-CN" altLang="en-US" sz="1800"/>
          </a:p>
          <a:p>
            <a:pPr algn="l"/>
            <a:endParaRPr lang="zh-CN" altLang="en-US"/>
          </a:p>
        </p:txBody>
      </p:sp>
      <p:sp>
        <p:nvSpPr>
          <p:cNvPr id="5" name="矩形 4"/>
          <p:cNvSpPr/>
          <p:nvPr/>
        </p:nvSpPr>
        <p:spPr>
          <a:xfrm>
            <a:off x="1243330" y="4507865"/>
            <a:ext cx="4446270" cy="7696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用户的公钥</a:t>
            </a:r>
            <a:endParaRPr lang="zh-CN" altLang="en-US" sz="2000"/>
          </a:p>
          <a:p>
            <a:pPr algn="l">
              <a:buClrTx/>
              <a:buSzTx/>
              <a:buFontTx/>
            </a:pPr>
            <a:r>
              <a:rPr lang="en-US" altLang="zh-CN" sz="1800"/>
              <a:t>y = g</a:t>
            </a:r>
            <a:r>
              <a:rPr lang="en-US" altLang="zh-CN" sz="1800" baseline="30000"/>
              <a:t>x</a:t>
            </a:r>
            <a:r>
              <a:rPr lang="en-US" altLang="zh-CN" sz="1800"/>
              <a:t> mod p</a:t>
            </a:r>
            <a:endParaRPr lang="zh-CN" altLang="en-US" sz="1800"/>
          </a:p>
          <a:p>
            <a:pPr algn="l"/>
            <a:endParaRPr lang="zh-CN" altLang="en-US"/>
          </a:p>
        </p:txBody>
      </p:sp>
      <p:sp>
        <p:nvSpPr>
          <p:cNvPr id="7" name="矩形 6"/>
          <p:cNvSpPr/>
          <p:nvPr/>
        </p:nvSpPr>
        <p:spPr>
          <a:xfrm>
            <a:off x="1254760" y="5325110"/>
            <a:ext cx="4446270" cy="7696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与用户每条消息相关的秘密值</a:t>
            </a:r>
            <a:endParaRPr lang="zh-CN" altLang="en-US" sz="2000"/>
          </a:p>
          <a:p>
            <a:pPr algn="l">
              <a:buClrTx/>
              <a:buSzTx/>
              <a:buFontTx/>
            </a:pPr>
            <a:r>
              <a:rPr lang="en-US" altLang="zh-CN" sz="1800"/>
              <a:t>k </a:t>
            </a:r>
            <a:r>
              <a:rPr lang="zh-CN" altLang="en-US" sz="1800"/>
              <a:t>为随机或者伪随机整数且</a:t>
            </a:r>
            <a:r>
              <a:rPr lang="en-US" altLang="zh-CN" sz="1800"/>
              <a:t>0&lt;k&lt;q</a:t>
            </a:r>
            <a:endParaRPr lang="zh-CN" altLang="en-US" sz="1800"/>
          </a:p>
          <a:p>
            <a:pPr algn="l"/>
            <a:endParaRPr lang="zh-CN" altLang="en-US"/>
          </a:p>
        </p:txBody>
      </p:sp>
      <p:sp>
        <p:nvSpPr>
          <p:cNvPr id="8" name="矩形 7"/>
          <p:cNvSpPr/>
          <p:nvPr/>
        </p:nvSpPr>
        <p:spPr>
          <a:xfrm>
            <a:off x="6325870" y="1163320"/>
            <a:ext cx="4446270" cy="19208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签名</a:t>
            </a:r>
            <a:endParaRPr lang="zh-CN" altLang="en-US" sz="2000"/>
          </a:p>
          <a:p>
            <a:pPr algn="l"/>
            <a:r>
              <a:rPr lang="en-US" altLang="zh-CN"/>
              <a:t> r </a:t>
            </a:r>
            <a:r>
              <a:rPr lang="zh-CN" altLang="en-US"/>
              <a:t>=(g</a:t>
            </a:r>
            <a:r>
              <a:rPr lang="en-US" altLang="zh-CN" baseline="30000"/>
              <a:t>k </a:t>
            </a:r>
            <a:r>
              <a:rPr lang="zh-CN" altLang="en-US"/>
              <a:t>mod p)</a:t>
            </a:r>
            <a:r>
              <a:rPr lang="en-US" altLang="zh-CN"/>
              <a:t> </a:t>
            </a:r>
            <a:r>
              <a:rPr lang="zh-CN" altLang="en-US"/>
              <a:t>mod q</a:t>
            </a:r>
            <a:endParaRPr lang="zh-CN" altLang="en-US"/>
          </a:p>
          <a:p>
            <a:pPr algn="l"/>
            <a:r>
              <a:rPr lang="zh-CN" altLang="en-US"/>
              <a:t>s=[k-¹</a:t>
            </a:r>
            <a:r>
              <a:rPr lang="en-US" altLang="zh-CN"/>
              <a:t> </a:t>
            </a:r>
            <a:r>
              <a:rPr lang="zh-CN" altLang="en-US"/>
              <a:t>(H(M)</a:t>
            </a:r>
            <a:r>
              <a:rPr lang="en-US" altLang="zh-CN"/>
              <a:t> </a:t>
            </a:r>
            <a:r>
              <a:rPr lang="zh-CN" altLang="en-US"/>
              <a:t>+</a:t>
            </a:r>
            <a:r>
              <a:rPr lang="en-US" altLang="zh-CN"/>
              <a:t> </a:t>
            </a:r>
            <a:r>
              <a:rPr lang="zh-CN" altLang="en-US"/>
              <a:t>xr)]mod </a:t>
            </a:r>
            <a:endParaRPr lang="zh-CN" altLang="en-US"/>
          </a:p>
          <a:p>
            <a:pPr algn="l"/>
            <a:r>
              <a:rPr lang="zh-CN" altLang="en-US"/>
              <a:t>签名=(r.s)</a:t>
            </a:r>
            <a:endParaRPr lang="zh-CN" altLang="en-US"/>
          </a:p>
        </p:txBody>
      </p:sp>
      <p:sp>
        <p:nvSpPr>
          <p:cNvPr id="9" name="矩形 8"/>
          <p:cNvSpPr/>
          <p:nvPr/>
        </p:nvSpPr>
        <p:spPr>
          <a:xfrm>
            <a:off x="6325870" y="3188970"/>
            <a:ext cx="4446270" cy="19208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验证</a:t>
            </a:r>
            <a:endParaRPr lang="zh-CN" altLang="en-US" sz="2000"/>
          </a:p>
          <a:p>
            <a:pPr algn="l"/>
            <a:r>
              <a:rPr lang="zh-CN" altLang="en-US"/>
              <a:t>w=(s')</a:t>
            </a:r>
            <a:r>
              <a:rPr lang="zh-CN" altLang="en-US" baseline="30000"/>
              <a:t>-</a:t>
            </a:r>
            <a:r>
              <a:rPr lang="en-US" altLang="zh-CN" baseline="30000"/>
              <a:t>1</a:t>
            </a:r>
            <a:r>
              <a:rPr lang="en-US" altLang="zh-CN"/>
              <a:t> </a:t>
            </a:r>
            <a:r>
              <a:rPr lang="zh-CN" altLang="en-US"/>
              <a:t>mod q</a:t>
            </a:r>
            <a:endParaRPr lang="zh-CN" altLang="en-US"/>
          </a:p>
          <a:p>
            <a:pPr algn="l"/>
            <a:r>
              <a:rPr lang="en-US" altLang="zh-CN"/>
              <a:t>u1</a:t>
            </a:r>
            <a:r>
              <a:rPr lang="zh-CN" altLang="en-US"/>
              <a:t>=[H(M')w]mod q</a:t>
            </a:r>
            <a:endParaRPr lang="zh-CN" altLang="en-US"/>
          </a:p>
          <a:p>
            <a:pPr algn="l"/>
            <a:r>
              <a:rPr lang="zh-CN" altLang="en-US"/>
              <a:t>u</a:t>
            </a:r>
            <a:r>
              <a:rPr lang="en-US" altLang="zh-CN"/>
              <a:t>2</a:t>
            </a:r>
            <a:r>
              <a:rPr lang="zh-CN" altLang="en-US"/>
              <a:t>=(r')w  mod  q</a:t>
            </a:r>
            <a:endParaRPr lang="zh-CN" altLang="en-US"/>
          </a:p>
          <a:p>
            <a:pPr algn="l"/>
            <a:r>
              <a:rPr lang="zh-CN" altLang="en-US"/>
              <a:t>v=[(g</a:t>
            </a:r>
            <a:r>
              <a:rPr lang="en-US" altLang="zh-CN" baseline="30000"/>
              <a:t>u1</a:t>
            </a:r>
            <a:r>
              <a:rPr lang="en-US" altLang="zh-CN"/>
              <a:t> y</a:t>
            </a:r>
            <a:r>
              <a:rPr lang="en-US" altLang="zh-CN" baseline="30000"/>
              <a:t>u2</a:t>
            </a:r>
            <a:r>
              <a:rPr lang="zh-CN" altLang="en-US"/>
              <a:t>)mod p]</a:t>
            </a:r>
            <a:r>
              <a:rPr lang="en-US" altLang="zh-CN"/>
              <a:t> </a:t>
            </a:r>
            <a:r>
              <a:rPr lang="zh-CN" altLang="en-US"/>
              <a:t>mod q</a:t>
            </a:r>
            <a:endParaRPr lang="zh-CN" altLang="en-US"/>
          </a:p>
          <a:p>
            <a:pPr algn="l"/>
            <a:r>
              <a:rPr lang="zh-CN" altLang="en-US"/>
              <a:t>检验：v</a:t>
            </a:r>
            <a:r>
              <a:rPr lang="en-US" altLang="zh-CN"/>
              <a:t> </a:t>
            </a:r>
            <a:r>
              <a:rPr lang="zh-CN" altLang="en-US"/>
              <a:t>=</a:t>
            </a:r>
            <a:r>
              <a:rPr lang="en-US" altLang="zh-CN"/>
              <a:t> </a:t>
            </a:r>
            <a:r>
              <a:rPr lang="zh-CN" altLang="en-US"/>
              <a:t>r</a:t>
            </a:r>
            <a:r>
              <a:rPr lang="en-US" altLang="zh-CN"/>
              <a:t>’</a:t>
            </a:r>
            <a:endParaRPr lang="en-US" altLang="zh-CN"/>
          </a:p>
        </p:txBody>
      </p:sp>
      <p:sp>
        <p:nvSpPr>
          <p:cNvPr id="10" name="文本框 9"/>
          <p:cNvSpPr txBox="1"/>
          <p:nvPr/>
        </p:nvSpPr>
        <p:spPr>
          <a:xfrm>
            <a:off x="6325870" y="5212080"/>
            <a:ext cx="4587875" cy="922020"/>
          </a:xfrm>
          <a:prstGeom prst="rect">
            <a:avLst/>
          </a:prstGeom>
          <a:noFill/>
        </p:spPr>
        <p:txBody>
          <a:bodyPr wrap="square" rtlCol="0">
            <a:spAutoFit/>
          </a:bodyPr>
          <a:p>
            <a:r>
              <a:rPr lang="zh-CN" altLang="en-US"/>
              <a:t>M为要签名的消息</a:t>
            </a:r>
            <a:endParaRPr lang="zh-CN" altLang="en-US"/>
          </a:p>
          <a:p>
            <a:r>
              <a:rPr lang="zh-CN" altLang="en-US"/>
              <a:t>H(M)为使用SHA-1求得的M的Hash码</a:t>
            </a:r>
            <a:endParaRPr lang="zh-CN" altLang="en-US"/>
          </a:p>
          <a:p>
            <a:r>
              <a:rPr lang="zh-CN" altLang="en-US"/>
              <a:t>M',r',s'为接收到的 M,r,s</a:t>
            </a:r>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15</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密钥管理和分发</a:t>
            </a:r>
            <a:endParaRPr lang="en-US" altLang="en-US" sz="3600" dirty="0">
              <a:latin typeface="Calibri" panose="020F0502020204030204" charset="0"/>
              <a:ea typeface="微软雅黑" panose="020B0503020204020204" charset="-122"/>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15</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密钥管理和分发</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2678430" y="1671320"/>
            <a:ext cx="6465570" cy="341249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 对称加密的对称密钥分发</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非对称加密的对称密钥分发</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公钥分发</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X.509</a:t>
            </a:r>
            <a:r>
              <a:rPr lang="zh-CN" altLang="en-US" sz="3600" b="1" dirty="0">
                <a:latin typeface="Times New Roman" panose="02020603050405020304" pitchFamily="18" charset="0"/>
                <a:cs typeface="Times New Roman" panose="02020603050405020304" pitchFamily="18" charset="0"/>
                <a:sym typeface="+mn-ea"/>
              </a:rPr>
              <a:t>认证服务</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公钥基础设施</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对称加密的密钥分发</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65580" y="1379220"/>
            <a:ext cx="9036685" cy="3672205"/>
          </a:xfrm>
        </p:spPr>
        <p:txBody>
          <a:bodyPr vert="horz" wrap="square" lIns="91440" tIns="45720" rIns="91440" bIns="45720" anchor="t" anchorCtr="0"/>
          <a:p>
            <a:pPr>
              <a:lnSpc>
                <a:spcPct val="120000"/>
              </a:lnSpc>
              <a:buFont typeface="Wingdings" panose="05000000000000000000" pitchFamily="2" charset="2"/>
              <a:buChar char="Ø"/>
            </a:pPr>
            <a:r>
              <a:rPr lang="en-US" altLang="zh-CN" b="1" dirty="0"/>
              <a:t> </a:t>
            </a:r>
            <a:r>
              <a:rPr lang="zh-CN" altLang="en-US" b="1" dirty="0"/>
              <a:t>任何密码系统的强度都与密钥分配方法有关。</a:t>
            </a:r>
            <a:endParaRPr lang="zh-CN" altLang="en-US" b="1" dirty="0"/>
          </a:p>
          <a:p>
            <a:pPr>
              <a:lnSpc>
                <a:spcPct val="120000"/>
              </a:lnSpc>
              <a:buFont typeface="Wingdings" panose="05000000000000000000" pitchFamily="2" charset="2"/>
              <a:buChar char="Ø"/>
            </a:pPr>
            <a:r>
              <a:rPr lang="en-US" altLang="zh-CN" b="1" dirty="0"/>
              <a:t> </a:t>
            </a:r>
            <a:r>
              <a:rPr lang="zh-CN" altLang="en-US" b="1" dirty="0"/>
              <a:t>密钥分配方法</a:t>
            </a:r>
            <a:endParaRPr lang="zh-CN" altLang="en-US" b="1" dirty="0"/>
          </a:p>
          <a:p>
            <a:pPr marL="1168400" lvl="1" indent="-824230">
              <a:lnSpc>
                <a:spcPct val="120000"/>
              </a:lnSpc>
              <a:buFont typeface="Wingdings" panose="05000000000000000000" pitchFamily="2" charset="2"/>
              <a:buChar char="l"/>
            </a:pPr>
            <a:r>
              <a:rPr lang="zh-CN" altLang="en-US" b="1" dirty="0"/>
              <a:t>指将密钥发放给希望交换数据的双方而不让别人知道的方法。</a:t>
            </a:r>
            <a:endParaRPr lang="zh-CN" altLang="en-US" b="1"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65580" y="1379220"/>
            <a:ext cx="9036685" cy="3672205"/>
          </a:xfrm>
        </p:spPr>
        <p:txBody>
          <a:bodyPr vert="horz" wrap="square" lIns="91440" tIns="45720" rIns="91440" bIns="45720" anchor="t" anchorCtr="0"/>
          <a:p>
            <a:pPr>
              <a:lnSpc>
                <a:spcPct val="120000"/>
              </a:lnSpc>
              <a:buFont typeface="Wingdings" panose="05000000000000000000" pitchFamily="2" charset="2"/>
              <a:buChar char="Ø"/>
            </a:pPr>
            <a:r>
              <a:rPr lang="zh-CN" altLang="en-US" b="1" dirty="0"/>
              <a:t>分配方法：A、B双方通信</a:t>
            </a:r>
            <a:endParaRPr lang="zh-CN" altLang="en-US" b="1" dirty="0"/>
          </a:p>
          <a:p>
            <a:pPr lvl="1">
              <a:lnSpc>
                <a:spcPct val="120000"/>
              </a:lnSpc>
              <a:buFont typeface="Arial" panose="020B0604020202020204" pitchFamily="34" charset="0"/>
              <a:buChar char="•"/>
            </a:pPr>
            <a:r>
              <a:rPr lang="zh-CN" altLang="en-US" b="1" dirty="0"/>
              <a:t>方法</a:t>
            </a:r>
            <a:r>
              <a:rPr lang="zh-CN" altLang="en-US" b="1" dirty="0"/>
              <a:t>一：密钥由A选择，亲自交与B；</a:t>
            </a:r>
            <a:endParaRPr lang="zh-CN" altLang="en-US" b="1" dirty="0"/>
          </a:p>
          <a:p>
            <a:pPr lvl="1">
              <a:lnSpc>
                <a:spcPct val="120000"/>
              </a:lnSpc>
              <a:buFont typeface="Arial" panose="020B0604020202020204" pitchFamily="34" charset="0"/>
              <a:buChar char="•"/>
            </a:pPr>
            <a:r>
              <a:rPr lang="zh-CN" altLang="en-US" b="1" dirty="0"/>
              <a:t>方法</a:t>
            </a:r>
            <a:r>
              <a:rPr lang="zh-CN" altLang="en-US" b="1" dirty="0"/>
              <a:t>二：第三方选择密钥后亲自交与A和B；</a:t>
            </a:r>
            <a:endParaRPr lang="zh-CN" altLang="en-US" b="1" dirty="0"/>
          </a:p>
          <a:p>
            <a:pPr lvl="1">
              <a:lnSpc>
                <a:spcPct val="120000"/>
              </a:lnSpc>
              <a:buFont typeface="Arial" panose="020B0604020202020204" pitchFamily="34" charset="0"/>
              <a:buChar char="•"/>
            </a:pPr>
            <a:r>
              <a:rPr lang="zh-CN" altLang="en-US" b="1" dirty="0"/>
              <a:t>方法</a:t>
            </a:r>
            <a:r>
              <a:rPr lang="zh-CN" altLang="en-US" b="1" dirty="0"/>
              <a:t>三：一方用双方已有的密钥加密一个新密钥后发给另一方；</a:t>
            </a:r>
            <a:endParaRPr lang="zh-CN" altLang="en-US" b="1" dirty="0"/>
          </a:p>
          <a:p>
            <a:pPr lvl="1">
              <a:lnSpc>
                <a:spcPct val="120000"/>
              </a:lnSpc>
              <a:buFont typeface="Arial" panose="020B0604020202020204" pitchFamily="34" charset="0"/>
              <a:buChar char="•"/>
            </a:pPr>
            <a:r>
              <a:rPr lang="zh-CN" altLang="en-US" b="1" dirty="0"/>
              <a:t>方法</a:t>
            </a:r>
            <a:r>
              <a:rPr lang="zh-CN" altLang="en-US" b="1" dirty="0"/>
              <a:t>四：A和B与第三方C均有秘密通道，则C可以将密钥分别发送给A和B。</a:t>
            </a:r>
            <a:endParaRPr lang="zh-CN" altLang="en-US" b="1"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65580" y="1379220"/>
            <a:ext cx="9036685" cy="3672205"/>
          </a:xfrm>
        </p:spPr>
        <p:txBody>
          <a:bodyPr vert="horz" wrap="square" lIns="91440" tIns="45720" rIns="91440" bIns="45720" anchor="t" anchorCtr="0">
            <a:noAutofit/>
          </a:bodyPr>
          <a:p>
            <a:pPr>
              <a:lnSpc>
                <a:spcPct val="120000"/>
              </a:lnSpc>
              <a:buFont typeface="Wingdings" panose="05000000000000000000" pitchFamily="2" charset="2"/>
              <a:buChar char="Ø"/>
            </a:pPr>
            <a:r>
              <a:rPr lang="zh-CN" altLang="en-US" b="1" dirty="0"/>
              <a:t>对分配方法的分析</a:t>
            </a:r>
            <a:endParaRPr lang="zh-CN" altLang="en-US" b="1" dirty="0"/>
          </a:p>
          <a:p>
            <a:pPr lvl="1">
              <a:lnSpc>
                <a:spcPct val="120000"/>
              </a:lnSpc>
              <a:buFont typeface="Arial" panose="020B0604020202020204" pitchFamily="34" charset="0"/>
              <a:buChar char="•"/>
            </a:pPr>
            <a:r>
              <a:rPr lang="zh-CN" altLang="en-US" b="1" dirty="0"/>
              <a:t>方法1和2需要人工传送密钥，对链路加密要求不过分，对端到端加密则有些笨拙。</a:t>
            </a:r>
            <a:endParaRPr lang="zh-CN" altLang="en-US" b="1" dirty="0"/>
          </a:p>
          <a:p>
            <a:pPr lvl="1">
              <a:lnSpc>
                <a:spcPct val="120000"/>
              </a:lnSpc>
              <a:buFont typeface="Arial" panose="020B0604020202020204" pitchFamily="34" charset="0"/>
              <a:buChar char="•"/>
            </a:pPr>
            <a:r>
              <a:rPr lang="zh-CN" altLang="en-US" b="1" dirty="0"/>
              <a:t>方法3可用于链路加密和端到端加密。问题：</a:t>
            </a:r>
            <a:endParaRPr lang="zh-CN" altLang="en-US" b="1" dirty="0"/>
          </a:p>
          <a:p>
            <a:pPr marL="914400" lvl="2" indent="0">
              <a:lnSpc>
                <a:spcPct val="120000"/>
              </a:lnSpc>
              <a:buNone/>
            </a:pPr>
            <a:r>
              <a:rPr lang="zh-CN" altLang="en-US" b="1" dirty="0"/>
              <a:t>①攻击者若已成功获取一个密钥；</a:t>
            </a:r>
            <a:endParaRPr lang="zh-CN" altLang="en-US" b="1" dirty="0"/>
          </a:p>
          <a:p>
            <a:pPr marL="914400" lvl="2" indent="0">
              <a:lnSpc>
                <a:spcPct val="120000"/>
              </a:lnSpc>
              <a:buNone/>
            </a:pPr>
            <a:r>
              <a:rPr lang="zh-CN" altLang="en-US" b="1" dirty="0"/>
              <a:t>②初始密钥的分配。</a:t>
            </a:r>
            <a:endParaRPr lang="zh-CN" altLang="en-US" b="1" dirty="0"/>
          </a:p>
          <a:p>
            <a:pPr lvl="1">
              <a:lnSpc>
                <a:spcPct val="120000"/>
              </a:lnSpc>
              <a:buFont typeface="Arial" panose="020B0604020202020204" pitchFamily="34" charset="0"/>
              <a:buChar char="•"/>
            </a:pPr>
            <a:r>
              <a:rPr lang="zh-CN" altLang="en-US" b="1" dirty="0"/>
              <a:t>对于端到端加密，方法4稍做变动即可应用。需要一个密钥分配中心（KDC）参与分配。</a:t>
            </a:r>
            <a:endParaRPr lang="zh-CN" altLang="en-US" b="1"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245" name="Picture 4"/>
          <p:cNvPicPr>
            <a:picLocks noChangeAspect="1"/>
          </p:cNvPicPr>
          <p:nvPr/>
        </p:nvPicPr>
        <p:blipFill>
          <a:blip r:embed="rId2"/>
          <a:stretch>
            <a:fillRect/>
          </a:stretch>
        </p:blipFill>
        <p:spPr>
          <a:xfrm>
            <a:off x="2486660" y="1063625"/>
            <a:ext cx="6013450" cy="4876165"/>
          </a:xfrm>
          <a:prstGeom prst="rect">
            <a:avLst/>
          </a:prstGeom>
          <a:noFill/>
          <a:ln w="9525">
            <a:noFill/>
          </a:ln>
        </p:spPr>
      </p:pic>
      <p:sp>
        <p:nvSpPr>
          <p:cNvPr id="10246" name="Text Box 5"/>
          <p:cNvSpPr txBox="1"/>
          <p:nvPr/>
        </p:nvSpPr>
        <p:spPr>
          <a:xfrm>
            <a:off x="3862388" y="5897880"/>
            <a:ext cx="4069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t>用于支持任意端点间通信所需的密钥数</a:t>
            </a:r>
            <a:endParaRPr lang="en-US" altLang="zh-CN" sz="1800" b="1"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b="1" dirty="0"/>
              <a:t> </a:t>
            </a:r>
            <a:r>
              <a:rPr lang="zh-CN" altLang="en-US" b="1" dirty="0"/>
              <a:t>密钥分类</a:t>
            </a:r>
            <a:endParaRPr lang="zh-CN" altLang="en-US" b="1" dirty="0"/>
          </a:p>
          <a:p>
            <a:pPr lvl="1">
              <a:lnSpc>
                <a:spcPct val="130000"/>
              </a:lnSpc>
              <a:buFont typeface="Arial" panose="020B0604020202020204" pitchFamily="34" charset="0"/>
              <a:buChar char="•"/>
            </a:pPr>
            <a:r>
              <a:rPr lang="zh-CN" altLang="en-US" b="1" dirty="0"/>
              <a:t>会话密钥（ks）</a:t>
            </a:r>
            <a:endParaRPr lang="zh-CN" altLang="en-US" b="1" dirty="0"/>
          </a:p>
          <a:p>
            <a:pPr marL="914400" lvl="2" indent="0">
              <a:lnSpc>
                <a:spcPct val="130000"/>
              </a:lnSpc>
              <a:buNone/>
            </a:pPr>
            <a:r>
              <a:rPr lang="zh-CN" altLang="en-US" b="1" dirty="0"/>
              <a:t> 末端通信时使用的临时加密密钥</a:t>
            </a:r>
            <a:endParaRPr lang="zh-CN" altLang="en-US" b="1" dirty="0"/>
          </a:p>
          <a:p>
            <a:pPr lvl="1">
              <a:lnSpc>
                <a:spcPct val="130000"/>
              </a:lnSpc>
              <a:buFont typeface="Arial" panose="020B0604020202020204" pitchFamily="34" charset="0"/>
              <a:buChar char="•"/>
            </a:pPr>
            <a:r>
              <a:rPr lang="zh-CN" altLang="en-US" b="1" dirty="0"/>
              <a:t>主密钥（km）</a:t>
            </a:r>
            <a:endParaRPr lang="zh-CN" altLang="en-US" b="1" dirty="0"/>
          </a:p>
          <a:p>
            <a:pPr marL="914400" lvl="2" indent="0">
              <a:lnSpc>
                <a:spcPct val="130000"/>
              </a:lnSpc>
              <a:buNone/>
            </a:pPr>
            <a:r>
              <a:rPr lang="zh-CN" altLang="en-US" b="1" dirty="0"/>
              <a:t> 加密ks的密钥</a:t>
            </a:r>
            <a:endParaRPr lang="zh-CN" altLang="en-US" b="1"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293" name="Picture 4"/>
          <p:cNvPicPr>
            <a:picLocks noChangeAspect="1"/>
          </p:cNvPicPr>
          <p:nvPr/>
        </p:nvPicPr>
        <p:blipFill>
          <a:blip r:embed="rId2"/>
          <a:stretch>
            <a:fillRect/>
          </a:stretch>
        </p:blipFill>
        <p:spPr>
          <a:xfrm>
            <a:off x="3403600" y="1019810"/>
            <a:ext cx="5384800" cy="4650740"/>
          </a:xfrm>
          <a:prstGeom prst="rect">
            <a:avLst/>
          </a:prstGeom>
          <a:noFill/>
          <a:ln w="9525">
            <a:noFill/>
          </a:ln>
        </p:spPr>
      </p:pic>
      <p:sp>
        <p:nvSpPr>
          <p:cNvPr id="12294" name="Text Box 5"/>
          <p:cNvSpPr txBox="1"/>
          <p:nvPr/>
        </p:nvSpPr>
        <p:spPr>
          <a:xfrm>
            <a:off x="5073650" y="5726113"/>
            <a:ext cx="1820863"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t>层次式密钥</a:t>
            </a:r>
            <a:endParaRPr lang="zh-CN" altLang="en-US" sz="2000" b="1"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一种透明的密钥控制方案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318" name="Picture 4"/>
          <p:cNvPicPr>
            <a:picLocks noChangeAspect="1"/>
          </p:cNvPicPr>
          <p:nvPr/>
        </p:nvPicPr>
        <p:blipFill>
          <a:blip r:embed="rId2"/>
          <a:srcRect l="2386" t="8473" r="8101" b="22655"/>
          <a:stretch>
            <a:fillRect/>
          </a:stretch>
        </p:blipFill>
        <p:spPr>
          <a:xfrm>
            <a:off x="1836103" y="1129030"/>
            <a:ext cx="8027987" cy="4756150"/>
          </a:xfrm>
          <a:prstGeom prst="rect">
            <a:avLst/>
          </a:prstGeom>
          <a:noFill/>
          <a:ln w="9525">
            <a:noFill/>
          </a:ln>
        </p:spPr>
      </p:pic>
      <p:sp>
        <p:nvSpPr>
          <p:cNvPr id="13319" name="TextBox 6"/>
          <p:cNvSpPr txBox="1"/>
          <p:nvPr/>
        </p:nvSpPr>
        <p:spPr>
          <a:xfrm>
            <a:off x="5216208" y="5732463"/>
            <a:ext cx="1733550"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t>密钥分发方案</a:t>
            </a:r>
            <a:endParaRPr lang="zh-CN" altLang="en-US" sz="2000" b="1"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密钥分配模式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4342" name="Picture 6"/>
          <p:cNvPicPr>
            <a:picLocks noChangeAspect="1"/>
          </p:cNvPicPr>
          <p:nvPr/>
        </p:nvPicPr>
        <p:blipFill>
          <a:blip r:embed="rId2"/>
          <a:stretch>
            <a:fillRect/>
          </a:stretch>
        </p:blipFill>
        <p:spPr>
          <a:xfrm>
            <a:off x="1465263" y="1334770"/>
            <a:ext cx="7956550" cy="3489325"/>
          </a:xfrm>
          <a:prstGeom prst="rect">
            <a:avLst/>
          </a:prstGeom>
          <a:noFill/>
          <a:ln w="9525">
            <a:noFill/>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层次式密钥控制</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1537970" y="1334770"/>
            <a:ext cx="7051675" cy="1461770"/>
          </a:xfrm>
          <a:prstGeom prst="rect">
            <a:avLst/>
          </a:prstGeom>
          <a:noFill/>
        </p:spPr>
        <p:txBody>
          <a:bodyPr wrap="square" rtlCol="0" anchor="t">
            <a:noAutofit/>
          </a:bodyPr>
          <a:p>
            <a:pPr marL="228600" indent="-228600" algn="l">
              <a:lnSpc>
                <a:spcPct val="130000"/>
              </a:lnSpc>
              <a:spcBef>
                <a:spcPts val="1000"/>
              </a:spcBef>
              <a:buClrTx/>
              <a:buSzTx/>
              <a:buFont typeface="Wingdings" panose="05000000000000000000" pitchFamily="2" charset="2"/>
              <a:buChar char="Ø"/>
            </a:pPr>
            <a:r>
              <a:rPr lang="zh-CN" altLang="en-US" sz="2800" b="1" dirty="0">
                <a:sym typeface="+mn-ea"/>
              </a:rPr>
              <a:t> 单个KDC在网络规模很大时不实际</a:t>
            </a:r>
            <a:endParaRPr lang="zh-CN" altLang="en-US" sz="2800" b="1" dirty="0"/>
          </a:p>
          <a:p>
            <a:pPr marL="228600" indent="-228600" algn="l">
              <a:lnSpc>
                <a:spcPct val="130000"/>
              </a:lnSpc>
              <a:spcBef>
                <a:spcPts val="1000"/>
              </a:spcBef>
              <a:buClrTx/>
              <a:buSzTx/>
              <a:buFont typeface="Wingdings" panose="05000000000000000000" pitchFamily="2" charset="2"/>
              <a:buChar char="Ø"/>
            </a:pPr>
            <a:r>
              <a:rPr lang="zh-CN" altLang="en-US" sz="2800" b="1" dirty="0">
                <a:sym typeface="+mn-ea"/>
              </a:rPr>
              <a:t> 层次式可提高效率并降低风险</a:t>
            </a:r>
            <a:endParaRPr lang="zh-CN" altLang="en-US" sz="2800" b="1" dirty="0">
              <a:sym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会话密钥的生命期</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1537970" y="1334770"/>
            <a:ext cx="9641205" cy="1461770"/>
          </a:xfrm>
          <a:prstGeom prst="rect">
            <a:avLst/>
          </a:prstGeom>
          <a:noFill/>
        </p:spPr>
        <p:txBody>
          <a:bodyPr wrap="square" rtlCol="0" anchor="t">
            <a:noAutofit/>
          </a:bodyPr>
          <a:p>
            <a:pPr marL="228600" indent="-228600" algn="l">
              <a:lnSpc>
                <a:spcPct val="130000"/>
              </a:lnSpc>
              <a:spcBef>
                <a:spcPts val="1000"/>
              </a:spcBef>
              <a:buClrTx/>
              <a:buSzTx/>
              <a:buFont typeface="Wingdings" panose="05000000000000000000" pitchFamily="2" charset="2"/>
              <a:buChar char="Ø"/>
            </a:pPr>
            <a:r>
              <a:rPr lang="zh-CN" altLang="en-US" sz="2800" b="1" dirty="0">
                <a:sym typeface="+mn-ea"/>
              </a:rPr>
              <a:t>在安全性与通信时间之间折衷考虑</a:t>
            </a:r>
            <a:endParaRPr lang="zh-CN" altLang="en-US" sz="2800" b="1" dirty="0">
              <a:sym typeface="+mn-ea"/>
            </a:endParaRPr>
          </a:p>
          <a:p>
            <a:pPr marL="228600" indent="-228600" algn="l">
              <a:lnSpc>
                <a:spcPct val="130000"/>
              </a:lnSpc>
              <a:spcBef>
                <a:spcPts val="1000"/>
              </a:spcBef>
              <a:buClrTx/>
              <a:buSzTx/>
              <a:buFont typeface="Wingdings" panose="05000000000000000000" pitchFamily="2" charset="2"/>
              <a:buChar char="Ø"/>
            </a:pPr>
            <a:r>
              <a:rPr lang="zh-CN" altLang="en-US" sz="2800" b="1" dirty="0">
                <a:sym typeface="+mn-ea"/>
              </a:rPr>
              <a:t>对面向连接的协议，改变连接时，改用新的会话密钥（</a:t>
            </a:r>
            <a:r>
              <a:rPr lang="en-US" altLang="zh-CN" sz="2800" b="1" dirty="0">
                <a:sym typeface="+mn-ea"/>
              </a:rPr>
              <a:t>Ks</a:t>
            </a:r>
            <a:r>
              <a:rPr lang="zh-CN" altLang="en-US" sz="2800" b="1" dirty="0">
                <a:sym typeface="+mn-ea"/>
              </a:rPr>
              <a:t>）</a:t>
            </a:r>
            <a:endParaRPr lang="zh-CN" altLang="en-US" sz="2800" b="1" dirty="0">
              <a:sym typeface="+mn-ea"/>
            </a:endParaRPr>
          </a:p>
          <a:p>
            <a:pPr marL="228600" indent="-228600" algn="l">
              <a:lnSpc>
                <a:spcPct val="130000"/>
              </a:lnSpc>
              <a:spcBef>
                <a:spcPts val="1000"/>
              </a:spcBef>
              <a:buClrTx/>
              <a:buSzTx/>
              <a:buFont typeface="Wingdings" panose="05000000000000000000" pitchFamily="2" charset="2"/>
              <a:buChar char="Ø"/>
            </a:pPr>
            <a:r>
              <a:rPr lang="zh-CN" altLang="en-US" sz="2800" b="1" dirty="0">
                <a:sym typeface="+mn-ea"/>
              </a:rPr>
              <a:t>对非面向连接的协议，定期更改。</a:t>
            </a:r>
            <a:endParaRPr lang="zh-CN" altLang="en-US" sz="2800" b="1" dirty="0">
              <a:sym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透明的密钥控制策略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413" name="Picture 5"/>
          <p:cNvPicPr>
            <a:picLocks noChangeAspect="1"/>
          </p:cNvPicPr>
          <p:nvPr/>
        </p:nvPicPr>
        <p:blipFill>
          <a:blip r:embed="rId2"/>
          <a:stretch>
            <a:fillRect/>
          </a:stretch>
        </p:blipFill>
        <p:spPr>
          <a:xfrm>
            <a:off x="2024698" y="1063308"/>
            <a:ext cx="7918450" cy="4752975"/>
          </a:xfrm>
          <a:prstGeom prst="rect">
            <a:avLst/>
          </a:prstGeom>
          <a:noFill/>
          <a:ln w="9525">
            <a:noFill/>
          </a:ln>
        </p:spPr>
      </p:pic>
      <p:sp>
        <p:nvSpPr>
          <p:cNvPr id="17414" name="Text Box 6"/>
          <p:cNvSpPr txBox="1"/>
          <p:nvPr/>
        </p:nvSpPr>
        <p:spPr>
          <a:xfrm>
            <a:off x="4315778" y="5816600"/>
            <a:ext cx="4052887"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t>面向连接的密钥自动分发协议</a:t>
            </a:r>
            <a:endParaRPr lang="en-US" altLang="zh-CN" sz="1800" b="1"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分布</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式密钥控制</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438" name="Rectangle 6"/>
          <p:cNvSpPr/>
          <p:nvPr>
            <p:ph idx="1"/>
          </p:nvPr>
        </p:nvSpPr>
        <p:spPr>
          <a:xfrm>
            <a:off x="1465580" y="1381760"/>
            <a:ext cx="9050020" cy="4530725"/>
          </a:xfrm>
        </p:spPr>
        <p:txBody>
          <a:bodyPr vert="horz" wrap="square" lIns="91440" tIns="45720" rIns="91440" bIns="45720" anchor="t" anchorCtr="0"/>
          <a:p>
            <a:r>
              <a:rPr lang="zh-CN" altLang="en-US" b="1" dirty="0"/>
              <a:t>会话密钥生成步骤：</a:t>
            </a:r>
            <a:endParaRPr lang="en-US" altLang="zh-CN" b="1" dirty="0"/>
          </a:p>
        </p:txBody>
      </p:sp>
      <p:grpSp>
        <p:nvGrpSpPr>
          <p:cNvPr id="18439" name="Group 8"/>
          <p:cNvGrpSpPr/>
          <p:nvPr/>
        </p:nvGrpSpPr>
        <p:grpSpPr>
          <a:xfrm>
            <a:off x="2435543" y="2060575"/>
            <a:ext cx="7272337" cy="3744913"/>
            <a:chOff x="204" y="1389"/>
            <a:chExt cx="5556" cy="2466"/>
          </a:xfrm>
        </p:grpSpPr>
        <p:pic>
          <p:nvPicPr>
            <p:cNvPr id="18440" name="Picture 4"/>
            <p:cNvPicPr>
              <a:picLocks noChangeAspect="1"/>
            </p:cNvPicPr>
            <p:nvPr/>
          </p:nvPicPr>
          <p:blipFill>
            <a:blip r:embed="rId2"/>
            <a:stretch>
              <a:fillRect/>
            </a:stretch>
          </p:blipFill>
          <p:spPr>
            <a:xfrm>
              <a:off x="204" y="1389"/>
              <a:ext cx="5556" cy="1057"/>
            </a:xfrm>
            <a:prstGeom prst="rect">
              <a:avLst/>
            </a:prstGeom>
            <a:noFill/>
            <a:ln w="9525">
              <a:noFill/>
            </a:ln>
          </p:spPr>
        </p:pic>
        <p:pic>
          <p:nvPicPr>
            <p:cNvPr id="18441" name="Picture 7"/>
            <p:cNvPicPr>
              <a:picLocks noChangeAspect="1"/>
            </p:cNvPicPr>
            <p:nvPr/>
          </p:nvPicPr>
          <p:blipFill>
            <a:blip r:embed="rId3"/>
            <a:stretch>
              <a:fillRect/>
            </a:stretch>
          </p:blipFill>
          <p:spPr>
            <a:xfrm>
              <a:off x="204" y="2432"/>
              <a:ext cx="5556" cy="1423"/>
            </a:xfrm>
            <a:prstGeom prst="rect">
              <a:avLst/>
            </a:prstGeom>
            <a:noFill/>
            <a:ln w="9525">
              <a:noFill/>
            </a:ln>
          </p:spPr>
        </p:pic>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密钥的使用方法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438" name="Rectangle 6"/>
          <p:cNvSpPr/>
          <p:nvPr>
            <p:ph idx="1"/>
          </p:nvPr>
        </p:nvSpPr>
        <p:spPr>
          <a:xfrm>
            <a:off x="1465580" y="1251585"/>
            <a:ext cx="9050020" cy="4530725"/>
          </a:xfrm>
        </p:spPr>
        <p:txBody>
          <a:bodyPr vert="horz" wrap="square" lIns="91440" tIns="45720" rIns="91440" bIns="45720" anchor="t" anchorCtr="0"/>
          <a:p>
            <a:pPr>
              <a:lnSpc>
                <a:spcPct val="110000"/>
              </a:lnSpc>
              <a:buFont typeface="Wingdings" panose="05000000000000000000" pitchFamily="2" charset="2"/>
              <a:buChar char="Ø"/>
            </a:pPr>
            <a:r>
              <a:rPr lang="en-US" altLang="zh-CN" b="1" dirty="0"/>
              <a:t>会话密钥的类型</a:t>
            </a:r>
            <a:endParaRPr lang="en-US" altLang="zh-CN" b="1" dirty="0"/>
          </a:p>
          <a:p>
            <a:pPr lvl="1">
              <a:lnSpc>
                <a:spcPct val="110000"/>
              </a:lnSpc>
            </a:pPr>
            <a:r>
              <a:rPr lang="en-US" altLang="zh-CN" b="1" dirty="0"/>
              <a:t>数据加密密钥，用于网络中的通用通信</a:t>
            </a:r>
            <a:endParaRPr lang="en-US" altLang="zh-CN" b="1" dirty="0"/>
          </a:p>
          <a:p>
            <a:pPr lvl="1">
              <a:lnSpc>
                <a:spcPct val="110000"/>
              </a:lnSpc>
            </a:pPr>
            <a:r>
              <a:rPr lang="en-US" altLang="zh-CN" b="1" dirty="0"/>
              <a:t>PIN加密密钥，用于电子资金转账和销售点应用的个人识别码（PIN）</a:t>
            </a:r>
            <a:endParaRPr lang="en-US" altLang="zh-CN" b="1" dirty="0"/>
          </a:p>
          <a:p>
            <a:pPr lvl="1">
              <a:lnSpc>
                <a:spcPct val="110000"/>
              </a:lnSpc>
            </a:pPr>
            <a:r>
              <a:rPr lang="en-US" altLang="zh-CN" b="1" dirty="0"/>
              <a:t>文件加密密钥，用于可公开访问的加密文件</a:t>
            </a:r>
            <a:endParaRPr lang="en-US" altLang="zh-CN" b="1"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密钥的使用方法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438" name="Rectangle 6"/>
          <p:cNvSpPr/>
          <p:nvPr>
            <p:ph idx="1"/>
          </p:nvPr>
        </p:nvSpPr>
        <p:spPr>
          <a:xfrm>
            <a:off x="1452880" y="1163955"/>
            <a:ext cx="9050020" cy="4530725"/>
          </a:xfrm>
        </p:spPr>
        <p:txBody>
          <a:bodyPr vert="horz" wrap="square" lIns="91440" tIns="45720" rIns="91440" bIns="45720" anchor="t" anchorCtr="0">
            <a:noAutofit/>
          </a:bodyPr>
          <a:p>
            <a:pPr>
              <a:lnSpc>
                <a:spcPct val="110000"/>
              </a:lnSpc>
              <a:buFont typeface="Wingdings" panose="05000000000000000000" pitchFamily="2" charset="2"/>
              <a:buChar char="Ø"/>
            </a:pPr>
            <a:r>
              <a:rPr lang="en-US" altLang="zh-CN" sz="2400" b="1" dirty="0"/>
              <a:t>会话密钥的类型</a:t>
            </a:r>
            <a:endParaRPr lang="en-US" altLang="zh-CN" sz="2400" b="1" dirty="0"/>
          </a:p>
          <a:p>
            <a:pPr>
              <a:lnSpc>
                <a:spcPct val="110000"/>
              </a:lnSpc>
              <a:buFont typeface="Wingdings" panose="05000000000000000000" pitchFamily="2" charset="2"/>
              <a:buChar char="Ø"/>
            </a:pPr>
            <a:r>
              <a:rPr lang="en-US" altLang="zh-CN" sz="2400" b="1" dirty="0"/>
              <a:t>密钥标志(以DES为例)</a:t>
            </a:r>
            <a:endParaRPr lang="en-US" altLang="zh-CN" sz="2400" b="1" dirty="0"/>
          </a:p>
          <a:p>
            <a:pPr lvl="1">
              <a:lnSpc>
                <a:spcPct val="110000"/>
              </a:lnSpc>
            </a:pPr>
            <a:r>
              <a:rPr lang="en-US" altLang="zh-CN" sz="2055" b="1" dirty="0"/>
              <a:t>一位表示主密钥或会话密钥</a:t>
            </a:r>
            <a:endParaRPr lang="en-US" altLang="zh-CN" sz="2055" b="1" dirty="0"/>
          </a:p>
          <a:p>
            <a:pPr lvl="1">
              <a:lnSpc>
                <a:spcPct val="110000"/>
              </a:lnSpc>
            </a:pPr>
            <a:r>
              <a:rPr lang="en-US" altLang="zh-CN" sz="2055" b="1" dirty="0"/>
              <a:t>一位表示密钥可否用于加密</a:t>
            </a:r>
            <a:endParaRPr lang="en-US" altLang="zh-CN" sz="2055" b="1" dirty="0"/>
          </a:p>
          <a:p>
            <a:pPr lvl="1">
              <a:lnSpc>
                <a:spcPct val="110000"/>
              </a:lnSpc>
            </a:pPr>
            <a:r>
              <a:rPr lang="en-US" altLang="zh-CN" sz="2055" b="1" dirty="0"/>
              <a:t>一位表示密钥可否用于解密</a:t>
            </a:r>
            <a:endParaRPr lang="en-US" altLang="zh-CN" sz="2055" b="1" dirty="0"/>
          </a:p>
          <a:p>
            <a:pPr lvl="1">
              <a:lnSpc>
                <a:spcPct val="110000"/>
              </a:lnSpc>
            </a:pPr>
            <a:r>
              <a:rPr lang="en-US" altLang="zh-CN" sz="2055" b="1" dirty="0"/>
              <a:t>其余位未用</a:t>
            </a:r>
            <a:endParaRPr lang="en-US" altLang="zh-CN" sz="2055" b="1" dirty="0"/>
          </a:p>
          <a:p>
            <a:pPr lvl="1">
              <a:lnSpc>
                <a:spcPct val="110000"/>
              </a:lnSpc>
              <a:buFont typeface="Wingdings" panose="05000000000000000000" pitchFamily="2" charset="2"/>
              <a:buChar char="Ø"/>
            </a:pPr>
            <a:r>
              <a:rPr lang="en-US" altLang="zh-CN" sz="2055" b="1" dirty="0"/>
              <a:t>特点</a:t>
            </a:r>
            <a:endParaRPr lang="en-US" altLang="zh-CN" sz="2055" b="1" dirty="0"/>
          </a:p>
          <a:p>
            <a:pPr lvl="2">
              <a:lnSpc>
                <a:spcPct val="110000"/>
              </a:lnSpc>
              <a:buFont typeface="Wingdings" panose="05000000000000000000" pitchFamily="2" charset="2"/>
              <a:buChar char="Ø"/>
            </a:pPr>
            <a:r>
              <a:rPr lang="en-US" altLang="zh-CN" sz="1710" b="1" dirty="0"/>
              <a:t>标志含在密钥中，密钥分配时就被加密</a:t>
            </a:r>
            <a:endParaRPr lang="en-US" altLang="zh-CN" sz="1710" b="1" dirty="0"/>
          </a:p>
          <a:p>
            <a:pPr lvl="1">
              <a:lnSpc>
                <a:spcPct val="110000"/>
              </a:lnSpc>
              <a:buFont typeface="Wingdings" panose="05000000000000000000" pitchFamily="2" charset="2"/>
              <a:buChar char="Ø"/>
            </a:pPr>
            <a:r>
              <a:rPr lang="en-US" altLang="zh-CN" sz="2055" b="1" dirty="0"/>
              <a:t>缺点</a:t>
            </a:r>
            <a:endParaRPr lang="en-US" altLang="zh-CN" sz="2055" b="1" dirty="0"/>
          </a:p>
          <a:p>
            <a:pPr marL="914400" lvl="2" indent="0">
              <a:lnSpc>
                <a:spcPct val="110000"/>
              </a:lnSpc>
              <a:buNone/>
            </a:pPr>
            <a:r>
              <a:rPr lang="en-US" altLang="zh-CN" sz="1710" b="1" dirty="0"/>
              <a:t>①位数少，限制了其灵活性和功能；</a:t>
            </a:r>
            <a:endParaRPr lang="en-US" altLang="zh-CN" sz="1710" b="1" dirty="0"/>
          </a:p>
          <a:p>
            <a:pPr marL="914400" lvl="2" indent="0">
              <a:lnSpc>
                <a:spcPct val="110000"/>
              </a:lnSpc>
              <a:buNone/>
            </a:pPr>
            <a:r>
              <a:rPr lang="en-US" altLang="zh-CN" sz="1710" b="1" dirty="0"/>
              <a:t>②标志不能以明文传输，解密后才能使用，限制了对密钥的管理</a:t>
            </a:r>
            <a:endParaRPr lang="en-US" altLang="zh-CN" sz="1710" b="1" dirty="0"/>
          </a:p>
          <a:p>
            <a:pPr marL="914400" lvl="2" indent="0">
              <a:lnSpc>
                <a:spcPct val="110000"/>
              </a:lnSpc>
              <a:buNone/>
            </a:pPr>
            <a:r>
              <a:rPr lang="en-US" altLang="zh-CN" sz="1710" b="1" dirty="0"/>
              <a:t>控制矢量方法</a:t>
            </a:r>
            <a:endParaRPr lang="en-US" altLang="zh-CN" sz="1710" b="1"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密钥的使用方法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438" name="Rectangle 6"/>
          <p:cNvSpPr/>
          <p:nvPr>
            <p:ph idx="1"/>
          </p:nvPr>
        </p:nvSpPr>
        <p:spPr>
          <a:xfrm>
            <a:off x="1452880" y="1163955"/>
            <a:ext cx="9050020" cy="4530725"/>
          </a:xfrm>
        </p:spPr>
        <p:txBody>
          <a:bodyPr vert="horz" wrap="square" lIns="91440" tIns="45720" rIns="91440" bIns="45720" anchor="t" anchorCtr="0">
            <a:noAutofit/>
          </a:bodyPr>
          <a:p>
            <a:pPr>
              <a:lnSpc>
                <a:spcPct val="110000"/>
              </a:lnSpc>
              <a:buFont typeface="Wingdings" panose="05000000000000000000" pitchFamily="2" charset="2"/>
              <a:buChar char="Ø"/>
            </a:pPr>
            <a:r>
              <a:rPr lang="en-US" altLang="zh-CN" sz="2400" b="1" dirty="0"/>
              <a:t>会话密钥的类型</a:t>
            </a:r>
            <a:endParaRPr lang="en-US" altLang="zh-CN" sz="2400" b="1" dirty="0"/>
          </a:p>
          <a:p>
            <a:pPr>
              <a:lnSpc>
                <a:spcPct val="110000"/>
              </a:lnSpc>
              <a:buFont typeface="Wingdings" panose="05000000000000000000" pitchFamily="2" charset="2"/>
              <a:buChar char="Ø"/>
            </a:pPr>
            <a:r>
              <a:rPr lang="en-US" altLang="zh-CN" sz="2400" b="1" dirty="0"/>
              <a:t>密钥标志(以DES为例)</a:t>
            </a:r>
            <a:endParaRPr lang="en-US" altLang="zh-CN" sz="2400" b="1" dirty="0"/>
          </a:p>
          <a:p>
            <a:pPr>
              <a:lnSpc>
                <a:spcPct val="110000"/>
              </a:lnSpc>
              <a:buFont typeface="Wingdings" panose="05000000000000000000" pitchFamily="2" charset="2"/>
              <a:buChar char="Ø"/>
            </a:pPr>
            <a:r>
              <a:rPr lang="zh-CN" altLang="en-US" sz="2400" b="1" dirty="0">
                <a:latin typeface="Times New Roman" panose="02020603050405020304" pitchFamily="18" charset="0"/>
                <a:cs typeface="Times New Roman" panose="02020603050405020304" pitchFamily="18" charset="0"/>
                <a:sym typeface="+mn-ea"/>
              </a:rPr>
              <a:t>控制矢量方法</a:t>
            </a:r>
            <a:endParaRPr lang="zh-CN" altLang="en-US" sz="2400" b="1" dirty="0">
              <a:latin typeface="Times New Roman" panose="02020603050405020304" pitchFamily="18" charset="0"/>
              <a:cs typeface="Times New Roman" panose="02020603050405020304" pitchFamily="18" charset="0"/>
            </a:endParaRPr>
          </a:p>
          <a:p>
            <a:pPr marL="1144270" lvl="2" indent="-342900">
              <a:lnSpc>
                <a:spcPct val="110000"/>
              </a:lnSpc>
            </a:pPr>
            <a:r>
              <a:rPr lang="zh-CN" altLang="en-US" sz="2000" b="1" dirty="0">
                <a:latin typeface="Times New Roman" panose="02020603050405020304" pitchFamily="18" charset="0"/>
                <a:cs typeface="Times New Roman" panose="02020603050405020304" pitchFamily="18" charset="0"/>
                <a:sym typeface="+mn-ea"/>
              </a:rPr>
              <a:t>思路</a:t>
            </a:r>
            <a:endParaRPr lang="zh-CN" altLang="en-US" sz="2000" b="1" dirty="0">
              <a:latin typeface="Times New Roman" panose="02020603050405020304" pitchFamily="18" charset="0"/>
              <a:cs typeface="Times New Roman" panose="02020603050405020304" pitchFamily="18" charset="0"/>
            </a:endParaRPr>
          </a:p>
          <a:p>
            <a:pPr marL="1625600" lvl="2" indent="-824230">
              <a:lnSpc>
                <a:spcPct val="110000"/>
              </a:lnSpc>
              <a:buNone/>
            </a:pPr>
            <a:r>
              <a:rPr lang="zh-CN" altLang="en-US" sz="2000" b="1" dirty="0">
                <a:latin typeface="Times New Roman" panose="02020603050405020304" pitchFamily="18" charset="0"/>
                <a:cs typeface="Times New Roman" panose="02020603050405020304" pitchFamily="18" charset="0"/>
                <a:sym typeface="+mn-ea"/>
              </a:rPr>
              <a:t>会话密钥的加密</a:t>
            </a:r>
            <a:endParaRPr lang="zh-CN" altLang="en-US" sz="2000" b="1" dirty="0">
              <a:latin typeface="Times New Roman" panose="02020603050405020304" pitchFamily="18" charset="0"/>
              <a:cs typeface="Times New Roman" panose="02020603050405020304" pitchFamily="18" charset="0"/>
            </a:endParaRPr>
          </a:p>
          <a:p>
            <a:pPr marL="1625600" lvl="2" indent="-824230">
              <a:lnSpc>
                <a:spcPct val="110000"/>
              </a:lnSpc>
              <a:buNone/>
            </a:pPr>
            <a:r>
              <a:rPr lang="zh-CN" altLang="en-US" sz="2000" b="1" dirty="0">
                <a:latin typeface="Times New Roman" panose="02020603050405020304" pitchFamily="18" charset="0"/>
                <a:cs typeface="Times New Roman" panose="02020603050405020304" pitchFamily="18" charset="0"/>
                <a:sym typeface="+mn-ea"/>
              </a:rPr>
              <a:t>加密：</a:t>
            </a:r>
            <a:r>
              <a:rPr lang="en-US" altLang="zh-CN" sz="2000" b="1" dirty="0">
                <a:latin typeface="Times New Roman" panose="02020603050405020304" pitchFamily="18" charset="0"/>
                <a:cs typeface="Times New Roman" panose="02020603050405020304" pitchFamily="18" charset="0"/>
                <a:sym typeface="+mn-ea"/>
              </a:rPr>
              <a:t>H=h(CV)</a:t>
            </a:r>
            <a:r>
              <a:rPr lang="zh-CN" altLang="en-US" sz="2000" b="1" dirty="0">
                <a:latin typeface="Times New Roman" panose="02020603050405020304" pitchFamily="18" charset="0"/>
                <a:cs typeface="Times New Roman" panose="02020603050405020304" pitchFamily="18" charset="0"/>
                <a:sym typeface="+mn-ea"/>
              </a:rPr>
              <a:t>，</a:t>
            </a:r>
            <a:r>
              <a:rPr lang="en-US" altLang="zh-CN" sz="2000" b="1" dirty="0">
                <a:latin typeface="Times New Roman" panose="02020603050405020304" pitchFamily="18" charset="0"/>
                <a:cs typeface="Times New Roman" panose="02020603050405020304" pitchFamily="18" charset="0"/>
                <a:sym typeface="+mn-ea"/>
              </a:rPr>
              <a:t>Kc=Ek</a:t>
            </a:r>
            <a:r>
              <a:rPr lang="en-US" altLang="zh-CN" sz="2000" b="1" baseline="-25000" dirty="0">
                <a:latin typeface="Times New Roman" panose="02020603050405020304" pitchFamily="18" charset="0"/>
                <a:cs typeface="Times New Roman" panose="02020603050405020304" pitchFamily="18" charset="0"/>
                <a:sym typeface="+mn-ea"/>
              </a:rPr>
              <a:t>m⊕H</a:t>
            </a:r>
            <a:r>
              <a:rPr lang="en-US" altLang="zh-CN" sz="2000" b="1" dirty="0">
                <a:latin typeface="Times New Roman" panose="02020603050405020304" pitchFamily="18" charset="0"/>
                <a:cs typeface="Times New Roman" panose="02020603050405020304" pitchFamily="18" charset="0"/>
                <a:sym typeface="+mn-ea"/>
              </a:rPr>
              <a:t>[Ks]</a:t>
            </a:r>
            <a:endParaRPr lang="en-US" altLang="zh-CN" sz="2000" b="1" dirty="0">
              <a:latin typeface="Times New Roman" panose="02020603050405020304" pitchFamily="18" charset="0"/>
              <a:cs typeface="Times New Roman" panose="02020603050405020304" pitchFamily="18" charset="0"/>
            </a:endParaRPr>
          </a:p>
          <a:p>
            <a:pPr marL="1625600" lvl="2" indent="-824230">
              <a:lnSpc>
                <a:spcPct val="110000"/>
              </a:lnSpc>
              <a:buNone/>
            </a:pPr>
            <a:r>
              <a:rPr lang="zh-CN" altLang="en-US" sz="2000" b="1" dirty="0">
                <a:latin typeface="Times New Roman" panose="02020603050405020304" pitchFamily="18" charset="0"/>
                <a:cs typeface="Times New Roman" panose="02020603050405020304" pitchFamily="18" charset="0"/>
                <a:sym typeface="+mn-ea"/>
              </a:rPr>
              <a:t>解密：</a:t>
            </a:r>
            <a:r>
              <a:rPr lang="en-US" altLang="zh-CN" sz="2000" b="1" dirty="0">
                <a:latin typeface="Times New Roman" panose="02020603050405020304" pitchFamily="18" charset="0"/>
                <a:cs typeface="Times New Roman" panose="02020603050405020304" pitchFamily="18" charset="0"/>
                <a:sym typeface="+mn-ea"/>
              </a:rPr>
              <a:t>H=h(CV)</a:t>
            </a:r>
            <a:r>
              <a:rPr lang="zh-CN" altLang="en-US" sz="2000" b="1" dirty="0">
                <a:latin typeface="Times New Roman" panose="02020603050405020304" pitchFamily="18" charset="0"/>
                <a:cs typeface="Times New Roman" panose="02020603050405020304" pitchFamily="18" charset="0"/>
                <a:sym typeface="+mn-ea"/>
              </a:rPr>
              <a:t>， </a:t>
            </a:r>
            <a:r>
              <a:rPr lang="en-US" altLang="zh-CN" sz="2000" b="1" dirty="0">
                <a:latin typeface="Times New Roman" panose="02020603050405020304" pitchFamily="18" charset="0"/>
                <a:cs typeface="Times New Roman" panose="02020603050405020304" pitchFamily="18" charset="0"/>
                <a:sym typeface="+mn-ea"/>
              </a:rPr>
              <a:t>Ks=Dk</a:t>
            </a:r>
            <a:r>
              <a:rPr lang="en-US" altLang="zh-CN" sz="2000" b="1" baseline="-25000" dirty="0">
                <a:latin typeface="Times New Roman" panose="02020603050405020304" pitchFamily="18" charset="0"/>
                <a:cs typeface="Times New Roman" panose="02020603050405020304" pitchFamily="18" charset="0"/>
                <a:sym typeface="+mn-ea"/>
              </a:rPr>
              <a:t>m⊕H</a:t>
            </a:r>
            <a:r>
              <a:rPr lang="en-US" altLang="zh-CN" sz="2000" b="1" dirty="0">
                <a:latin typeface="Times New Roman" panose="02020603050405020304" pitchFamily="18" charset="0"/>
                <a:cs typeface="Times New Roman" panose="02020603050405020304" pitchFamily="18" charset="0"/>
                <a:sym typeface="+mn-ea"/>
              </a:rPr>
              <a:t>[Kc]</a:t>
            </a:r>
            <a:endParaRPr lang="en-US" altLang="zh-CN" sz="2000" b="1" dirty="0">
              <a:latin typeface="Times New Roman" panose="02020603050405020304" pitchFamily="18" charset="0"/>
              <a:cs typeface="Times New Roman" panose="02020603050405020304" pitchFamily="18" charset="0"/>
            </a:endParaRPr>
          </a:p>
          <a:p>
            <a:pPr marL="1144270" lvl="2" indent="-342900">
              <a:lnSpc>
                <a:spcPct val="11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sym typeface="+mn-ea"/>
              </a:rPr>
              <a:t>优点</a:t>
            </a:r>
            <a:endParaRPr lang="zh-CN" altLang="en-US" sz="2000" b="1" dirty="0">
              <a:latin typeface="Times New Roman" panose="02020603050405020304" pitchFamily="18" charset="0"/>
              <a:cs typeface="Times New Roman" panose="02020603050405020304" pitchFamily="18" charset="0"/>
            </a:endParaRPr>
          </a:p>
          <a:p>
            <a:pPr marL="1928495" lvl="4" indent="-342900">
              <a:lnSpc>
                <a:spcPct val="110000"/>
              </a:lnSpc>
              <a:buFont typeface="Arial" panose="020B0604020202020204" pitchFamily="34" charset="0"/>
              <a:buChar char="•"/>
            </a:pPr>
            <a:r>
              <a:rPr lang="zh-CN" altLang="en-US" sz="2160" b="1" dirty="0">
                <a:latin typeface="Times New Roman" panose="02020603050405020304" pitchFamily="18" charset="0"/>
                <a:cs typeface="Times New Roman" panose="02020603050405020304" pitchFamily="18" charset="0"/>
                <a:sym typeface="+mn-ea"/>
              </a:rPr>
              <a:t>控制矢量长度不限</a:t>
            </a:r>
            <a:endParaRPr lang="zh-CN" altLang="en-US" sz="2160" b="1" dirty="0">
              <a:latin typeface="Times New Roman" panose="02020603050405020304" pitchFamily="18" charset="0"/>
              <a:cs typeface="Times New Roman" panose="02020603050405020304" pitchFamily="18" charset="0"/>
            </a:endParaRPr>
          </a:p>
          <a:p>
            <a:pPr marL="1928495" lvl="4" indent="-342900">
              <a:lnSpc>
                <a:spcPct val="110000"/>
              </a:lnSpc>
              <a:buFont typeface="Arial" panose="020B0604020202020204" pitchFamily="34" charset="0"/>
              <a:buChar char="•"/>
            </a:pPr>
            <a:r>
              <a:rPr lang="zh-CN" altLang="en-US" sz="2160" b="1" dirty="0">
                <a:latin typeface="Times New Roman" panose="02020603050405020304" pitchFamily="18" charset="0"/>
                <a:cs typeface="Times New Roman" panose="02020603050405020304" pitchFamily="18" charset="0"/>
                <a:sym typeface="+mn-ea"/>
              </a:rPr>
              <a:t>控制矢量以明文传输，可多次运用对密钥的控制要求</a:t>
            </a:r>
            <a:endParaRPr lang="en-US" altLang="zh-CN" sz="2160" b="1" dirty="0"/>
          </a:p>
          <a:p>
            <a:pPr lvl="1">
              <a:lnSpc>
                <a:spcPct val="110000"/>
              </a:lnSpc>
            </a:pPr>
            <a:endParaRPr lang="en-US" altLang="zh-CN" sz="1710" b="1"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密钥的使用方法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533" name="Picture 4"/>
          <p:cNvPicPr>
            <a:picLocks noChangeAspect="1"/>
          </p:cNvPicPr>
          <p:nvPr/>
        </p:nvPicPr>
        <p:blipFill>
          <a:blip r:embed="rId2"/>
          <a:stretch>
            <a:fillRect/>
          </a:stretch>
        </p:blipFill>
        <p:spPr>
          <a:xfrm>
            <a:off x="2538095" y="1063625"/>
            <a:ext cx="6630670" cy="4444365"/>
          </a:xfrm>
          <a:prstGeom prst="rect">
            <a:avLst/>
          </a:prstGeom>
          <a:noFill/>
          <a:ln w="9525">
            <a:noFill/>
          </a:ln>
        </p:spPr>
      </p:pic>
      <p:sp>
        <p:nvSpPr>
          <p:cNvPr id="22536" name="Text Box 7"/>
          <p:cNvSpPr txBox="1"/>
          <p:nvPr/>
        </p:nvSpPr>
        <p:spPr>
          <a:xfrm>
            <a:off x="4749165" y="5667375"/>
            <a:ext cx="2470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dirty="0"/>
              <a:t>控制矢量的加密和解密</a:t>
            </a:r>
            <a:endParaRPr lang="zh-CN" altLang="en-US" sz="18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非对称加密的对称密钥分发</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558" name="Rectangle 7"/>
          <p:cNvSpPr/>
          <p:nvPr/>
        </p:nvSpPr>
        <p:spPr>
          <a:xfrm>
            <a:off x="2279650" y="1944053"/>
            <a:ext cx="7632700" cy="26638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eaLnBrk="1" hangingPunct="1">
              <a:lnSpc>
                <a:spcPct val="110000"/>
              </a:lnSpc>
              <a:buSzPct val="80000"/>
            </a:pPr>
            <a:r>
              <a:rPr lang="zh-CN" altLang="en-US" b="1" dirty="0"/>
              <a:t>公钥的分配</a:t>
            </a:r>
            <a:endParaRPr lang="zh-CN" altLang="en-US" b="1" dirty="0"/>
          </a:p>
          <a:p>
            <a:pPr eaLnBrk="1" hangingPunct="1">
              <a:lnSpc>
                <a:spcPct val="110000"/>
              </a:lnSpc>
              <a:buSzPct val="80000"/>
            </a:pPr>
            <a:r>
              <a:rPr lang="zh-CN" altLang="en-US" b="1" dirty="0"/>
              <a:t>公钥密码用于传统密码体制的密钥分配</a:t>
            </a:r>
            <a:endParaRPr lang="en-US" altLang="zh-CN" b="1"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非对称加密的对称密钥分发</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581" name="Rectangle 3"/>
          <p:cNvSpPr/>
          <p:nvPr>
            <p:ph idx="1"/>
          </p:nvPr>
        </p:nvSpPr>
        <p:spPr>
          <a:xfrm>
            <a:off x="1465580" y="1440180"/>
            <a:ext cx="7581900" cy="3673475"/>
          </a:xfrm>
        </p:spPr>
        <p:txBody>
          <a:bodyPr vert="horz" wrap="square" lIns="91440" tIns="45720" rIns="91440" bIns="45720" anchor="t" anchorCtr="0"/>
          <a:p>
            <a:pPr eaLnBrk="1" hangingPunct="1">
              <a:lnSpc>
                <a:spcPct val="110000"/>
              </a:lnSpc>
              <a:buSzPct val="80000"/>
            </a:pPr>
            <a:r>
              <a:rPr lang="zh-CN" altLang="en-US" sz="2800" b="1" dirty="0"/>
              <a:t>采用前面的方法获得公钥</a:t>
            </a:r>
            <a:endParaRPr lang="en-US" altLang="zh-CN" sz="2800" b="1" dirty="0"/>
          </a:p>
          <a:p>
            <a:pPr eaLnBrk="1" hangingPunct="1">
              <a:lnSpc>
                <a:spcPct val="110000"/>
              </a:lnSpc>
              <a:buSzPct val="80000"/>
            </a:pPr>
            <a:r>
              <a:rPr lang="zh-CN" altLang="en-US" sz="2800" b="1" dirty="0"/>
              <a:t>可以提供保密和认证</a:t>
            </a:r>
            <a:endParaRPr lang="en-US" altLang="zh-CN" sz="2800" b="1" dirty="0"/>
          </a:p>
          <a:p>
            <a:pPr eaLnBrk="1" hangingPunct="1">
              <a:lnSpc>
                <a:spcPct val="110000"/>
              </a:lnSpc>
              <a:buSzPct val="80000"/>
            </a:pPr>
            <a:r>
              <a:rPr lang="zh-CN" altLang="en-US" sz="2800" b="1" dirty="0"/>
              <a:t>但公钥算法常常很慢</a:t>
            </a:r>
            <a:endParaRPr lang="en-US" altLang="zh-CN" sz="2800" b="1" dirty="0"/>
          </a:p>
          <a:p>
            <a:pPr eaLnBrk="1" hangingPunct="1">
              <a:lnSpc>
                <a:spcPct val="110000"/>
              </a:lnSpc>
              <a:buSzPct val="80000"/>
            </a:pPr>
            <a:r>
              <a:rPr lang="zh-CN" altLang="en-US" sz="2800" b="1" dirty="0"/>
              <a:t>用私钥加密可以保护信息内容</a:t>
            </a:r>
            <a:endParaRPr lang="en-US" altLang="zh-CN" sz="2800" b="1" dirty="0"/>
          </a:p>
          <a:p>
            <a:pPr eaLnBrk="1" hangingPunct="1">
              <a:lnSpc>
                <a:spcPct val="110000"/>
              </a:lnSpc>
              <a:buSzPct val="80000"/>
            </a:pPr>
            <a:r>
              <a:rPr lang="zh-CN" altLang="en-US" sz="2800" b="1" dirty="0"/>
              <a:t>因此，需要会话密钥</a:t>
            </a:r>
            <a:endParaRPr lang="en-US" altLang="zh-CN" sz="2800" b="1" dirty="0"/>
          </a:p>
          <a:p>
            <a:pPr eaLnBrk="1" hangingPunct="1">
              <a:lnSpc>
                <a:spcPct val="110000"/>
              </a:lnSpc>
              <a:buSzPct val="80000"/>
            </a:pPr>
            <a:r>
              <a:rPr lang="zh-CN" altLang="en-US" sz="2800" b="1" dirty="0"/>
              <a:t>许多可选的方案用于协商合适的会话密钥</a:t>
            </a:r>
            <a:endParaRPr lang="zh-CN" altLang="en-US" sz="2800" b="1"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简单的秘密钥分配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606" name="Rectangle 3"/>
          <p:cNvSpPr/>
          <p:nvPr>
            <p:ph idx="1"/>
          </p:nvPr>
        </p:nvSpPr>
        <p:spPr>
          <a:xfrm>
            <a:off x="1465580" y="1279525"/>
            <a:ext cx="9037955" cy="4526280"/>
          </a:xfrm>
        </p:spPr>
        <p:txBody>
          <a:bodyPr vert="horz" wrap="square" lIns="91440" tIns="45720" rIns="91440" bIns="45720" anchor="t" anchorCtr="0"/>
          <a:p>
            <a:pPr algn="just" eaLnBrk="1" hangingPunct="1">
              <a:lnSpc>
                <a:spcPct val="110000"/>
              </a:lnSpc>
              <a:buSzPct val="80000"/>
              <a:buFont typeface="Wingdings" panose="05000000000000000000" pitchFamily="2" charset="2"/>
              <a:buChar char="Ø"/>
            </a:pPr>
            <a:r>
              <a:rPr lang="en-US" altLang="zh-CN" b="1" dirty="0">
                <a:latin typeface="Times New Roman" panose="02020603050405020304" pitchFamily="18" charset="0"/>
              </a:rPr>
              <a:t>1979</a:t>
            </a:r>
            <a:r>
              <a:rPr lang="zh-CN" altLang="en-US" b="1" dirty="0">
                <a:latin typeface="Times New Roman" panose="02020603050405020304" pitchFamily="18" charset="0"/>
              </a:rPr>
              <a:t>由</a:t>
            </a:r>
            <a:r>
              <a:rPr lang="en-US" altLang="zh-CN" b="1" dirty="0">
                <a:latin typeface="Times New Roman" panose="02020603050405020304" pitchFamily="18" charset="0"/>
              </a:rPr>
              <a:t>Merkle</a:t>
            </a:r>
            <a:r>
              <a:rPr lang="zh-CN" altLang="en-US" b="1" dirty="0">
                <a:latin typeface="Times New Roman" panose="02020603050405020304" pitchFamily="18" charset="0"/>
              </a:rPr>
              <a:t>提出</a:t>
            </a:r>
            <a:endParaRPr lang="zh-CN" altLang="en-US"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 A </a:t>
            </a:r>
            <a:r>
              <a:rPr lang="zh-CN" altLang="en-US" b="1" dirty="0">
                <a:latin typeface="Times New Roman" panose="02020603050405020304" pitchFamily="18" charset="0"/>
              </a:rPr>
              <a:t>产生一个新的临时用的公钥对</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 A </a:t>
            </a:r>
            <a:r>
              <a:rPr lang="zh-CN" altLang="en-US" b="1" dirty="0">
                <a:latin typeface="Times New Roman" panose="02020603050405020304" pitchFamily="18" charset="0"/>
              </a:rPr>
              <a:t>发送自己的标识和公钥给 </a:t>
            </a:r>
            <a:r>
              <a:rPr lang="en-US" altLang="zh-CN" b="1" dirty="0">
                <a:latin typeface="Times New Roman" panose="02020603050405020304" pitchFamily="18" charset="0"/>
              </a:rPr>
              <a:t>B</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 B </a:t>
            </a:r>
            <a:r>
              <a:rPr lang="zh-CN" altLang="en-US" b="1" dirty="0">
                <a:latin typeface="Times New Roman" panose="02020603050405020304" pitchFamily="18" charset="0"/>
              </a:rPr>
              <a:t>产生一个会话密钥，并用 </a:t>
            </a:r>
            <a:r>
              <a:rPr lang="en-US" altLang="zh-CN" b="1" dirty="0">
                <a:latin typeface="Times New Roman" panose="02020603050405020304" pitchFamily="18" charset="0"/>
              </a:rPr>
              <a:t>A </a:t>
            </a:r>
            <a:r>
              <a:rPr lang="zh-CN" altLang="en-US" b="1" dirty="0">
                <a:latin typeface="Times New Roman" panose="02020603050405020304" pitchFamily="18" charset="0"/>
              </a:rPr>
              <a:t>的公钥加密后发送给 </a:t>
            </a:r>
            <a:r>
              <a:rPr lang="en-US" altLang="zh-CN" b="1" dirty="0">
                <a:latin typeface="Times New Roman" panose="02020603050405020304" pitchFamily="18" charset="0"/>
              </a:rPr>
              <a:t>A</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en-US" altLang="zh-CN" b="1" dirty="0">
                <a:latin typeface="Times New Roman" panose="02020603050405020304" pitchFamily="18" charset="0"/>
              </a:rPr>
              <a:t> A </a:t>
            </a:r>
            <a:r>
              <a:rPr lang="zh-CN" altLang="en-US" b="1" dirty="0">
                <a:latin typeface="Times New Roman" panose="02020603050405020304" pitchFamily="18" charset="0"/>
              </a:rPr>
              <a:t>解密会话密钥</a:t>
            </a:r>
            <a:endParaRPr lang="en-US" altLang="zh-CN" b="1" dirty="0">
              <a:latin typeface="Times New Roman" panose="02020603050405020304" pitchFamily="18" charset="0"/>
            </a:endParaRPr>
          </a:p>
          <a:p>
            <a:pPr algn="just" eaLnBrk="1" hangingPunct="1">
              <a:lnSpc>
                <a:spcPct val="110000"/>
              </a:lnSpc>
              <a:buSzPct val="80000"/>
              <a:buFont typeface="Wingdings" panose="05000000000000000000" pitchFamily="2" charset="2"/>
              <a:buChar char="Ø"/>
            </a:pPr>
            <a:r>
              <a:rPr lang="zh-CN" altLang="en-US" b="1" dirty="0">
                <a:latin typeface="Times New Roman" panose="02020603050405020304" pitchFamily="18" charset="0"/>
              </a:rPr>
              <a:t>问题是容易受到主动攻击，而通信双方却毫无察觉。</a:t>
            </a:r>
            <a:endParaRPr lang="en-AU" altLang="zh-CN" b="1" dirty="0">
              <a:latin typeface="Times New Roman" panose="02020603050405020304"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简单的秘密钥分配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629" name="Picture 4"/>
          <p:cNvPicPr>
            <a:picLocks noChangeAspect="1"/>
          </p:cNvPicPr>
          <p:nvPr/>
        </p:nvPicPr>
        <p:blipFill>
          <a:blip r:embed="rId2"/>
          <a:srcRect b="23686"/>
          <a:stretch>
            <a:fillRect/>
          </a:stretch>
        </p:blipFill>
        <p:spPr>
          <a:xfrm>
            <a:off x="2335848" y="1565275"/>
            <a:ext cx="7519987" cy="2736850"/>
          </a:xfrm>
          <a:prstGeom prst="rect">
            <a:avLst/>
          </a:prstGeom>
          <a:noFill/>
          <a:ln w="9525">
            <a:noFill/>
          </a:ln>
        </p:spPr>
      </p:pic>
      <p:sp>
        <p:nvSpPr>
          <p:cNvPr id="26630" name="TextBox 5"/>
          <p:cNvSpPr txBox="1"/>
          <p:nvPr/>
        </p:nvSpPr>
        <p:spPr>
          <a:xfrm>
            <a:off x="4682490" y="4010343"/>
            <a:ext cx="32623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t>利用公钥加密建立会话密钥</a:t>
            </a:r>
            <a:endParaRPr lang="zh-CN" altLang="en-US" sz="2000" b="1"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Picture 6" descr="f8.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939415" y="0"/>
            <a:ext cx="5715000" cy="7395882"/>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3" name="Picture 4"/>
          <p:cNvPicPr>
            <a:picLocks noChangeAspect="1"/>
          </p:cNvPicPr>
          <p:nvPr/>
        </p:nvPicPr>
        <p:blipFill>
          <a:blip r:embed="rId1"/>
          <a:srcRect t="9265" b="27794"/>
          <a:stretch>
            <a:fillRect/>
          </a:stretch>
        </p:blipFill>
        <p:spPr>
          <a:xfrm>
            <a:off x="1937385" y="1128078"/>
            <a:ext cx="8316913" cy="4044950"/>
          </a:xfrm>
          <a:prstGeom prst="rect">
            <a:avLst/>
          </a:prstGeom>
          <a:noFill/>
          <a:ln w="9525">
            <a:noFill/>
          </a:ln>
        </p:spPr>
      </p:pic>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2"/>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具有保密性和真实性的密钥分配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655" name="Rectangle 3"/>
          <p:cNvSpPr/>
          <p:nvPr>
            <p:ph idx="1"/>
          </p:nvPr>
        </p:nvSpPr>
        <p:spPr>
          <a:xfrm>
            <a:off x="1465263" y="1383983"/>
            <a:ext cx="8229600" cy="4525962"/>
          </a:xfrm>
        </p:spPr>
        <p:txBody>
          <a:bodyPr vert="horz" wrap="square" lIns="91440" tIns="45720" rIns="91440" bIns="45720" anchor="t" anchorCtr="0"/>
          <a:p>
            <a:pPr eaLnBrk="1" hangingPunct="1"/>
            <a:r>
              <a:rPr lang="zh-CN" altLang="en-US" sz="2800" b="1" dirty="0"/>
              <a:t>假设双发已安全交换了各自的公钥</a:t>
            </a:r>
            <a:r>
              <a:rPr lang="en-US" altLang="zh-CN" sz="2800" b="1" dirty="0"/>
              <a:t>:</a:t>
            </a:r>
            <a:endParaRPr lang="en-AU" altLang="zh-CN" sz="2800" b="1" dirty="0"/>
          </a:p>
        </p:txBody>
      </p:sp>
      <p:sp>
        <p:nvSpPr>
          <p:cNvPr id="27656" name="TextBox 7"/>
          <p:cNvSpPr txBox="1"/>
          <p:nvPr/>
        </p:nvSpPr>
        <p:spPr>
          <a:xfrm>
            <a:off x="4971733" y="4884738"/>
            <a:ext cx="250825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t>公钥加密的密钥分发</a:t>
            </a:r>
            <a:endParaRPr lang="zh-CN" altLang="en-US" sz="2000" b="1"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混合方式</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的密钥分配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678" name="Rectangle 3"/>
          <p:cNvSpPr/>
          <p:nvPr>
            <p:ph idx="1"/>
          </p:nvPr>
        </p:nvSpPr>
        <p:spPr>
          <a:xfrm>
            <a:off x="1465580" y="1196975"/>
            <a:ext cx="6645275" cy="5183188"/>
          </a:xfrm>
        </p:spPr>
        <p:txBody>
          <a:bodyPr vert="horz" wrap="square" lIns="91440" tIns="45720" rIns="91440" bIns="45720" anchor="t" anchorCtr="0"/>
          <a:p>
            <a:pPr eaLnBrk="1" hangingPunct="1">
              <a:lnSpc>
                <a:spcPct val="110000"/>
              </a:lnSpc>
              <a:buSzPct val="80000"/>
              <a:buFont typeface="Wingdings" panose="05000000000000000000" pitchFamily="2" charset="2"/>
              <a:buChar char="Ø"/>
            </a:pPr>
            <a:r>
              <a:rPr lang="zh-CN" altLang="en-AU" sz="2600" b="1" dirty="0">
                <a:latin typeface="Times New Roman" panose="02020603050405020304" pitchFamily="18" charset="0"/>
              </a:rPr>
              <a:t>保留私钥配发中心</a:t>
            </a:r>
            <a:r>
              <a:rPr lang="en-AU" altLang="zh-CN" sz="2600" b="1" dirty="0">
                <a:latin typeface="Times New Roman" panose="02020603050405020304" pitchFamily="18" charset="0"/>
              </a:rPr>
              <a:t>( KDC )</a:t>
            </a:r>
            <a:endParaRPr lang="en-AU" altLang="zh-CN" sz="2600"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AU" sz="2600" b="1" dirty="0">
                <a:latin typeface="Times New Roman" panose="02020603050405020304" pitchFamily="18" charset="0"/>
              </a:rPr>
              <a:t>每用户与</a:t>
            </a:r>
            <a:r>
              <a:rPr lang="en-AU" altLang="zh-CN" sz="2600" b="1" dirty="0">
                <a:latin typeface="Times New Roman" panose="02020603050405020304" pitchFamily="18" charset="0"/>
              </a:rPr>
              <a:t>KDC</a:t>
            </a:r>
            <a:r>
              <a:rPr lang="zh-CN" altLang="en-AU" sz="2600" b="1" dirty="0">
                <a:latin typeface="Times New Roman" panose="02020603050405020304" pitchFamily="18" charset="0"/>
              </a:rPr>
              <a:t>共享一个主密钥</a:t>
            </a:r>
            <a:endParaRPr lang="zh-CN" altLang="en-AU" sz="2600"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AU" sz="2600" b="1" dirty="0">
                <a:latin typeface="Times New Roman" panose="02020603050405020304" pitchFamily="18" charset="0"/>
              </a:rPr>
              <a:t>用主密钥分配会话密钥</a:t>
            </a:r>
            <a:endParaRPr lang="zh-CN" altLang="en-AU" sz="2600"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AU" sz="2600" b="1" dirty="0">
                <a:latin typeface="Times New Roman" panose="02020603050405020304" pitchFamily="18" charset="0"/>
              </a:rPr>
              <a:t>公钥用于分配主密钥</a:t>
            </a:r>
            <a:endParaRPr lang="en-AU" altLang="zh-CN" sz="2600" b="1" dirty="0">
              <a:latin typeface="Times New Roman" panose="02020603050405020304" pitchFamily="18" charset="0"/>
            </a:endParaRPr>
          </a:p>
          <a:p>
            <a:pPr lvl="1" eaLnBrk="1" hangingPunct="1">
              <a:lnSpc>
                <a:spcPct val="110000"/>
              </a:lnSpc>
              <a:buSzPct val="80000"/>
              <a:buFont typeface="Arial" panose="020B0604020202020204" pitchFamily="34" charset="0"/>
              <a:buChar char="•"/>
            </a:pPr>
            <a:r>
              <a:rPr lang="zh-CN" altLang="en-AU" sz="2400" b="1" dirty="0">
                <a:latin typeface="Times New Roman" panose="02020603050405020304" pitchFamily="18" charset="0"/>
              </a:rPr>
              <a:t>在大范围分散用户的情况下尤其有用</a:t>
            </a:r>
            <a:endParaRPr lang="zh-CN" altLang="en-AU" sz="2400"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AU" sz="2600" b="1" dirty="0">
                <a:latin typeface="Times New Roman" panose="02020603050405020304" pitchFamily="18" charset="0"/>
              </a:rPr>
              <a:t>三层结构</a:t>
            </a:r>
            <a:endParaRPr lang="zh-CN" altLang="en-AU" sz="2600"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AU" sz="2600" b="1" dirty="0">
                <a:latin typeface="Times New Roman" panose="02020603050405020304" pitchFamily="18" charset="0"/>
              </a:rPr>
              <a:t>基本依据</a:t>
            </a:r>
            <a:endParaRPr lang="zh-CN" altLang="en-AU" sz="2600" b="1" dirty="0">
              <a:latin typeface="Times New Roman" panose="02020603050405020304" pitchFamily="18" charset="0"/>
            </a:endParaRPr>
          </a:p>
          <a:p>
            <a:pPr lvl="1" eaLnBrk="1" hangingPunct="1">
              <a:lnSpc>
                <a:spcPct val="110000"/>
              </a:lnSpc>
              <a:buSzPct val="80000"/>
              <a:buFont typeface="Arial" panose="020B0604020202020204" pitchFamily="34" charset="0"/>
              <a:buChar char="•"/>
            </a:pPr>
            <a:r>
              <a:rPr lang="zh-CN" altLang="en-AU" sz="2400" b="1" dirty="0">
                <a:latin typeface="Times New Roman" panose="02020603050405020304" pitchFamily="18" charset="0"/>
              </a:rPr>
              <a:t>性能</a:t>
            </a:r>
            <a:endParaRPr lang="en-AU" altLang="zh-CN" sz="2400" b="1" dirty="0">
              <a:latin typeface="Times New Roman" panose="02020603050405020304" pitchFamily="18" charset="0"/>
            </a:endParaRPr>
          </a:p>
          <a:p>
            <a:pPr lvl="1" eaLnBrk="1" hangingPunct="1">
              <a:lnSpc>
                <a:spcPct val="110000"/>
              </a:lnSpc>
              <a:buSzPct val="80000"/>
              <a:buFont typeface="Arial" panose="020B0604020202020204" pitchFamily="34" charset="0"/>
              <a:buChar char="•"/>
            </a:pPr>
            <a:r>
              <a:rPr lang="zh-CN" altLang="en-AU" sz="2400" b="1" dirty="0">
                <a:latin typeface="Times New Roman" panose="02020603050405020304" pitchFamily="18" charset="0"/>
              </a:rPr>
              <a:t>向后兼容性</a:t>
            </a:r>
            <a:endParaRPr lang="en-AU" altLang="zh-CN" sz="2400" b="1" dirty="0">
              <a:latin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公钥分发</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702" name="Rectangle 7"/>
          <p:cNvSpPr/>
          <p:nvPr>
            <p:ph idx="1"/>
          </p:nvPr>
        </p:nvSpPr>
        <p:spPr>
          <a:xfrm>
            <a:off x="2167890" y="1938973"/>
            <a:ext cx="7632700" cy="2663825"/>
          </a:xfrm>
        </p:spPr>
        <p:txBody>
          <a:bodyPr vert="horz" wrap="square" lIns="91440" tIns="45720" rIns="91440" bIns="45720" anchor="t" anchorCtr="0"/>
          <a:p>
            <a:pPr eaLnBrk="1" hangingPunct="1">
              <a:lnSpc>
                <a:spcPct val="110000"/>
              </a:lnSpc>
              <a:buSzPct val="80000"/>
              <a:buFont typeface="Wingdings" panose="05000000000000000000" pitchFamily="2" charset="2"/>
              <a:buChar char="n"/>
            </a:pPr>
            <a:r>
              <a:rPr lang="zh-CN" altLang="en-US" b="1" dirty="0"/>
              <a:t>公钥的分配</a:t>
            </a:r>
            <a:endParaRPr lang="zh-CN" altLang="en-US" b="1" dirty="0"/>
          </a:p>
          <a:p>
            <a:pPr eaLnBrk="1" hangingPunct="1">
              <a:lnSpc>
                <a:spcPct val="110000"/>
              </a:lnSpc>
              <a:buSzPct val="80000"/>
              <a:buFont typeface="Wingdings" panose="05000000000000000000" pitchFamily="2" charset="2"/>
              <a:buChar char="n"/>
            </a:pPr>
            <a:r>
              <a:rPr lang="zh-CN" altLang="en-US" b="1" dirty="0"/>
              <a:t>公钥密码用于传统密码体制的密钥分配</a:t>
            </a:r>
            <a:endParaRPr lang="en-US" altLang="zh-CN" b="1"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公钥分发</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726" name="Rectangle 3"/>
          <p:cNvSpPr/>
          <p:nvPr>
            <p:ph idx="1"/>
          </p:nvPr>
        </p:nvSpPr>
        <p:spPr>
          <a:xfrm>
            <a:off x="1465580" y="1370965"/>
            <a:ext cx="6213475" cy="3268663"/>
          </a:xfrm>
        </p:spPr>
        <p:txBody>
          <a:bodyPr vert="horz" wrap="square" lIns="91440" tIns="45720" rIns="91440" bIns="45720" anchor="t" anchorCtr="0"/>
          <a:p>
            <a:pPr eaLnBrk="1" hangingPunct="1">
              <a:lnSpc>
                <a:spcPct val="120000"/>
              </a:lnSpc>
              <a:buSzPct val="80000"/>
              <a:buFont typeface="Wingdings" panose="05000000000000000000" pitchFamily="2" charset="2"/>
              <a:buChar char="Ø"/>
            </a:pPr>
            <a:r>
              <a:rPr lang="zh-CN" altLang="en-US" b="1" dirty="0"/>
              <a:t>公钥分配方法</a:t>
            </a:r>
            <a:endParaRPr lang="en-US" altLang="zh-CN" b="1" dirty="0"/>
          </a:p>
          <a:p>
            <a:pPr lvl="1" eaLnBrk="1" hangingPunct="1">
              <a:lnSpc>
                <a:spcPct val="120000"/>
              </a:lnSpc>
              <a:buSzPct val="80000"/>
              <a:buFont typeface="Arial" panose="020B0604020202020204" pitchFamily="34" charset="0"/>
              <a:buChar char="•"/>
            </a:pPr>
            <a:r>
              <a:rPr lang="zh-CN" altLang="en-AU" b="1" dirty="0"/>
              <a:t>公开发布</a:t>
            </a:r>
            <a:endParaRPr lang="en-AU" altLang="zh-CN" b="1" dirty="0"/>
          </a:p>
          <a:p>
            <a:pPr lvl="1" eaLnBrk="1" hangingPunct="1">
              <a:lnSpc>
                <a:spcPct val="120000"/>
              </a:lnSpc>
              <a:buSzPct val="80000"/>
              <a:buFont typeface="Arial" panose="020B0604020202020204" pitchFamily="34" charset="0"/>
              <a:buChar char="•"/>
            </a:pPr>
            <a:r>
              <a:rPr lang="zh-CN" altLang="en-AU" b="1" dirty="0"/>
              <a:t>公开可访问目录</a:t>
            </a:r>
            <a:endParaRPr lang="en-AU" altLang="zh-CN" b="1" dirty="0"/>
          </a:p>
          <a:p>
            <a:pPr lvl="1" eaLnBrk="1" hangingPunct="1">
              <a:lnSpc>
                <a:spcPct val="120000"/>
              </a:lnSpc>
              <a:buSzPct val="80000"/>
              <a:buFont typeface="Arial" panose="020B0604020202020204" pitchFamily="34" charset="0"/>
              <a:buChar char="•"/>
            </a:pPr>
            <a:r>
              <a:rPr lang="zh-CN" altLang="en-AU" b="1" dirty="0"/>
              <a:t>公钥授权</a:t>
            </a:r>
            <a:endParaRPr lang="en-AU" altLang="zh-CN" b="1" dirty="0"/>
          </a:p>
          <a:p>
            <a:pPr lvl="1" eaLnBrk="1" hangingPunct="1">
              <a:lnSpc>
                <a:spcPct val="120000"/>
              </a:lnSpc>
              <a:buSzPct val="80000"/>
              <a:buFont typeface="Arial" panose="020B0604020202020204" pitchFamily="34" charset="0"/>
              <a:buChar char="•"/>
            </a:pPr>
            <a:r>
              <a:rPr lang="zh-CN" altLang="en-AU" b="1" dirty="0"/>
              <a:t>公钥证书</a:t>
            </a:r>
            <a:endParaRPr lang="en-AU" altLang="zh-CN" b="1" dirty="0"/>
          </a:p>
          <a:p>
            <a:pPr eaLnBrk="1" hangingPunct="1">
              <a:lnSpc>
                <a:spcPct val="120000"/>
              </a:lnSpc>
              <a:buSzPct val="80000"/>
              <a:buFont typeface="Arial" panose="020B0604020202020204" pitchFamily="34" charset="0"/>
              <a:buChar char="•"/>
            </a:pPr>
            <a:endParaRPr lang="zh-CN" altLang="en-AU" b="1"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公钥的公开发布</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750" name="Rectangle 3"/>
          <p:cNvSpPr/>
          <p:nvPr>
            <p:ph idx="1"/>
          </p:nvPr>
        </p:nvSpPr>
        <p:spPr>
          <a:xfrm>
            <a:off x="1465580" y="1272540"/>
            <a:ext cx="9037320" cy="4525645"/>
          </a:xfrm>
        </p:spPr>
        <p:txBody>
          <a:bodyPr vert="horz" wrap="square" lIns="91440" tIns="45720" rIns="91440" bIns="45720" anchor="t" anchorCtr="0"/>
          <a:p>
            <a:pPr algn="just" eaLnBrk="1" hangingPunct="1">
              <a:lnSpc>
                <a:spcPct val="110000"/>
              </a:lnSpc>
              <a:buSzPct val="80000"/>
              <a:buFont typeface="Wingdings" panose="05000000000000000000" pitchFamily="2" charset="2"/>
              <a:buChar char="Ø"/>
            </a:pPr>
            <a:r>
              <a:rPr lang="zh-CN" altLang="en-US" b="1" dirty="0">
                <a:latin typeface="Times New Roman" panose="02020603050405020304" pitchFamily="18" charset="0"/>
              </a:rPr>
              <a:t>用户分发自己的公钥给接收者或广播给通信各方</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zh-CN" altLang="en-US" b="1" dirty="0">
                <a:latin typeface="Times New Roman" panose="02020603050405020304" pitchFamily="18" charset="0"/>
              </a:rPr>
              <a:t>例如：把</a:t>
            </a:r>
            <a:r>
              <a:rPr lang="en-US" altLang="zh-CN" b="1" dirty="0">
                <a:latin typeface="Times New Roman" panose="02020603050405020304" pitchFamily="18" charset="0"/>
              </a:rPr>
              <a:t>PGP</a:t>
            </a:r>
            <a:r>
              <a:rPr lang="zh-CN" altLang="en-US" b="1" dirty="0">
                <a:latin typeface="Times New Roman" panose="02020603050405020304" pitchFamily="18" charset="0"/>
              </a:rPr>
              <a:t>的公钥放到消息的最后，发布到新闻组或邮件列表中</a:t>
            </a:r>
            <a:endParaRPr lang="en-US" altLang="zh-CN" b="1" dirty="0">
              <a:latin typeface="Times New Roman" panose="02020603050405020304" pitchFamily="18" charset="0"/>
            </a:endParaRPr>
          </a:p>
          <a:p>
            <a:pPr algn="just" eaLnBrk="1" hangingPunct="1">
              <a:lnSpc>
                <a:spcPct val="110000"/>
              </a:lnSpc>
              <a:buSzPct val="80000"/>
              <a:buFont typeface="Wingdings" panose="05000000000000000000" pitchFamily="2" charset="2"/>
              <a:buChar char="Ø"/>
            </a:pPr>
            <a:r>
              <a:rPr lang="zh-CN" altLang="en-US" b="1" dirty="0">
                <a:latin typeface="Times New Roman" panose="02020603050405020304" pitchFamily="18" charset="0"/>
              </a:rPr>
              <a:t>缺点：伪造</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zh-CN" altLang="en-US" b="1" dirty="0">
                <a:latin typeface="Times New Roman" panose="02020603050405020304" pitchFamily="18" charset="0"/>
              </a:rPr>
              <a:t>任何人都可以产生一个冒充真实发信者的公钥来进行欺骗</a:t>
            </a:r>
            <a:endParaRPr lang="en-US" altLang="zh-CN" b="1" dirty="0">
              <a:latin typeface="Times New Roman" panose="02020603050405020304" pitchFamily="18" charset="0"/>
            </a:endParaRPr>
          </a:p>
          <a:p>
            <a:pPr lvl="1" algn="just" eaLnBrk="1" hangingPunct="1">
              <a:lnSpc>
                <a:spcPct val="110000"/>
              </a:lnSpc>
              <a:buSzPct val="80000"/>
              <a:buFont typeface="Arial" panose="020B0604020202020204" pitchFamily="34" charset="0"/>
              <a:buChar char="•"/>
            </a:pPr>
            <a:r>
              <a:rPr lang="zh-CN" altLang="en-US" b="1" dirty="0">
                <a:latin typeface="Times New Roman" panose="02020603050405020304" pitchFamily="18" charset="0"/>
              </a:rPr>
              <a:t>直到伪造被发现，欺骗已经形成</a:t>
            </a:r>
            <a:endParaRPr lang="en-AU" altLang="zh-CN" b="1" dirty="0">
              <a:latin typeface="Times New Roman" panose="02020603050405020304" pitchFamily="18"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公钥的公开发布</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773" name="Picture 4"/>
          <p:cNvPicPr>
            <a:picLocks noChangeAspect="1"/>
          </p:cNvPicPr>
          <p:nvPr/>
        </p:nvPicPr>
        <p:blipFill>
          <a:blip r:embed="rId2"/>
          <a:srcRect b="28323"/>
          <a:stretch>
            <a:fillRect/>
          </a:stretch>
        </p:blipFill>
        <p:spPr>
          <a:xfrm>
            <a:off x="2269490" y="1465580"/>
            <a:ext cx="7429500" cy="2951163"/>
          </a:xfrm>
          <a:prstGeom prst="rect">
            <a:avLst/>
          </a:prstGeom>
          <a:noFill/>
          <a:ln w="9525">
            <a:noFill/>
          </a:ln>
        </p:spPr>
      </p:pic>
      <p:sp>
        <p:nvSpPr>
          <p:cNvPr id="32774" name="TextBox 5"/>
          <p:cNvSpPr txBox="1"/>
          <p:nvPr/>
        </p:nvSpPr>
        <p:spPr>
          <a:xfrm>
            <a:off x="4748530" y="4665345"/>
            <a:ext cx="2646363"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t>无控制的公钥分发</a:t>
            </a:r>
            <a:endParaRPr lang="zh-CN" altLang="en-US" sz="2400" b="1"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公开可访问的目录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798" name="Rectangle 3"/>
          <p:cNvSpPr/>
          <p:nvPr>
            <p:ph idx="1"/>
          </p:nvPr>
        </p:nvSpPr>
        <p:spPr>
          <a:xfrm>
            <a:off x="1465580" y="1151890"/>
            <a:ext cx="9050020" cy="5113020"/>
          </a:xfrm>
        </p:spPr>
        <p:txBody>
          <a:bodyPr vert="horz" wrap="square" lIns="91440" tIns="45720" rIns="91440" bIns="45720" anchor="t" anchorCtr="0"/>
          <a:p>
            <a:pPr eaLnBrk="1" hangingPunct="1">
              <a:lnSpc>
                <a:spcPct val="110000"/>
              </a:lnSpc>
              <a:buSzPct val="80000"/>
              <a:buFont typeface="Wingdings" panose="05000000000000000000" pitchFamily="2" charset="2"/>
              <a:buChar char="Ø"/>
            </a:pPr>
            <a:r>
              <a:rPr lang="zh-CN" altLang="en-US" b="1" dirty="0">
                <a:latin typeface="Times New Roman" panose="02020603050405020304" pitchFamily="18" charset="0"/>
              </a:rPr>
              <a:t>通过使用一个公共的公钥目录可以获得更大程度的安全性</a:t>
            </a:r>
            <a:endParaRPr lang="en-US" altLang="zh-CN"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US" b="1" dirty="0">
                <a:latin typeface="Times New Roman" panose="02020603050405020304" pitchFamily="18" charset="0"/>
              </a:rPr>
              <a:t>目录应该是可信的，特点如下：</a:t>
            </a:r>
            <a:endParaRPr lang="en-US" altLang="zh-CN" b="1" dirty="0">
              <a:latin typeface="Times New Roman" panose="02020603050405020304" pitchFamily="18" charset="0"/>
            </a:endParaRPr>
          </a:p>
          <a:p>
            <a:pPr lvl="1" eaLnBrk="1" hangingPunct="1">
              <a:lnSpc>
                <a:spcPct val="110000"/>
              </a:lnSpc>
              <a:buSzPct val="80000"/>
            </a:pPr>
            <a:r>
              <a:rPr lang="zh-CN" altLang="en-US" b="1" dirty="0">
                <a:latin typeface="Times New Roman" panose="02020603050405020304" pitchFamily="18" charset="0"/>
              </a:rPr>
              <a:t> 包含</a:t>
            </a:r>
            <a:r>
              <a:rPr lang="en-US" altLang="zh-CN" b="1" dirty="0">
                <a:latin typeface="Times New Roman" panose="02020603050405020304" pitchFamily="18" charset="0"/>
              </a:rPr>
              <a:t> {</a:t>
            </a:r>
            <a:r>
              <a:rPr lang="zh-CN" altLang="en-US" b="1" dirty="0">
                <a:latin typeface="Times New Roman" panose="02020603050405020304" pitchFamily="18" charset="0"/>
              </a:rPr>
              <a:t>姓名，公钥</a:t>
            </a:r>
            <a:r>
              <a:rPr lang="en-US" altLang="zh-CN" b="1" dirty="0">
                <a:latin typeface="Times New Roman" panose="02020603050405020304" pitchFamily="18" charset="0"/>
              </a:rPr>
              <a:t>} </a:t>
            </a:r>
            <a:r>
              <a:rPr lang="zh-CN" altLang="en-US" b="1" dirty="0">
                <a:latin typeface="Times New Roman" panose="02020603050405020304" pitchFamily="18" charset="0"/>
              </a:rPr>
              <a:t>目录项</a:t>
            </a:r>
            <a:endParaRPr lang="en-US" altLang="zh-CN" b="1" dirty="0">
              <a:latin typeface="Times New Roman" panose="02020603050405020304" pitchFamily="18" charset="0"/>
            </a:endParaRPr>
          </a:p>
          <a:p>
            <a:pPr lvl="1" eaLnBrk="1" hangingPunct="1">
              <a:lnSpc>
                <a:spcPct val="110000"/>
              </a:lnSpc>
              <a:buSzPct val="80000"/>
            </a:pPr>
            <a:r>
              <a:rPr lang="zh-CN" altLang="en-US" b="1" dirty="0">
                <a:latin typeface="Times New Roman" panose="02020603050405020304" pitchFamily="18" charset="0"/>
              </a:rPr>
              <a:t> 通信方只能安全的注册到目录中</a:t>
            </a:r>
            <a:endParaRPr lang="en-US" altLang="zh-CN" b="1" dirty="0">
              <a:latin typeface="Times New Roman" panose="02020603050405020304" pitchFamily="18" charset="0"/>
            </a:endParaRPr>
          </a:p>
          <a:p>
            <a:pPr lvl="1" eaLnBrk="1" hangingPunct="1">
              <a:lnSpc>
                <a:spcPct val="110000"/>
              </a:lnSpc>
              <a:buSzPct val="80000"/>
            </a:pPr>
            <a:r>
              <a:rPr lang="zh-CN" altLang="en-US" b="1" dirty="0">
                <a:latin typeface="Times New Roman" panose="02020603050405020304" pitchFamily="18" charset="0"/>
              </a:rPr>
              <a:t> 通信方可在任何时刻进行密钥更替</a:t>
            </a:r>
            <a:endParaRPr lang="en-US" altLang="zh-CN" b="1" dirty="0">
              <a:latin typeface="Times New Roman" panose="02020603050405020304" pitchFamily="18" charset="0"/>
            </a:endParaRPr>
          </a:p>
          <a:p>
            <a:pPr lvl="1" eaLnBrk="1" hangingPunct="1">
              <a:lnSpc>
                <a:spcPct val="110000"/>
              </a:lnSpc>
              <a:buSzPct val="80000"/>
            </a:pPr>
            <a:r>
              <a:rPr lang="zh-CN" altLang="en-US" b="1" dirty="0">
                <a:latin typeface="Times New Roman" panose="02020603050405020304" pitchFamily="18" charset="0"/>
              </a:rPr>
              <a:t> 目录定期发布或更新</a:t>
            </a:r>
            <a:endParaRPr lang="zh-CN" altLang="en-US" b="1" dirty="0">
              <a:latin typeface="Times New Roman" panose="02020603050405020304" pitchFamily="18" charset="0"/>
            </a:endParaRPr>
          </a:p>
          <a:p>
            <a:pPr lvl="1" eaLnBrk="1" hangingPunct="1">
              <a:lnSpc>
                <a:spcPct val="110000"/>
              </a:lnSpc>
              <a:buSzPct val="80000"/>
            </a:pPr>
            <a:r>
              <a:rPr lang="zh-CN" altLang="en-US" b="1" dirty="0">
                <a:latin typeface="Times New Roman" panose="02020603050405020304" pitchFamily="18" charset="0"/>
              </a:rPr>
              <a:t> 目录可被电子化地访问</a:t>
            </a:r>
            <a:endParaRPr lang="en-US" altLang="zh-CN" b="1" dirty="0">
              <a:latin typeface="Times New Roman" panose="02020603050405020304" pitchFamily="18" charset="0"/>
            </a:endParaRPr>
          </a:p>
          <a:p>
            <a:pPr eaLnBrk="1" hangingPunct="1">
              <a:lnSpc>
                <a:spcPct val="110000"/>
              </a:lnSpc>
              <a:buSzPct val="80000"/>
              <a:buFont typeface="Wingdings" panose="05000000000000000000" pitchFamily="2" charset="2"/>
              <a:buChar char="Ø"/>
            </a:pPr>
            <a:r>
              <a:rPr lang="zh-CN" altLang="en-US" b="1" dirty="0">
                <a:latin typeface="Times New Roman" panose="02020603050405020304" pitchFamily="18" charset="0"/>
              </a:rPr>
              <a:t>缺点：仍存在被篡改伪造的风险</a:t>
            </a:r>
            <a:endParaRPr lang="en-AU" altLang="zh-CN" b="1" dirty="0">
              <a:latin typeface="Times New Roman" panose="02020603050405020304" pitchFamily="18"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公开可访问的目录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821" name="Picture 4"/>
          <p:cNvPicPr>
            <a:picLocks noChangeAspect="1"/>
          </p:cNvPicPr>
          <p:nvPr/>
        </p:nvPicPr>
        <p:blipFill>
          <a:blip r:embed="rId2"/>
          <a:srcRect b="17281"/>
          <a:stretch>
            <a:fillRect/>
          </a:stretch>
        </p:blipFill>
        <p:spPr>
          <a:xfrm>
            <a:off x="2423160" y="1731010"/>
            <a:ext cx="7345363" cy="3932238"/>
          </a:xfrm>
          <a:prstGeom prst="rect">
            <a:avLst/>
          </a:prstGeom>
          <a:noFill/>
          <a:ln w="9525">
            <a:noFill/>
          </a:ln>
        </p:spPr>
      </p:pic>
      <p:sp>
        <p:nvSpPr>
          <p:cNvPr id="34822" name="TextBox 5"/>
          <p:cNvSpPr txBox="1"/>
          <p:nvPr/>
        </p:nvSpPr>
        <p:spPr>
          <a:xfrm>
            <a:off x="4926648" y="5494655"/>
            <a:ext cx="2338387"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t>公开的公钥发布</a:t>
            </a:r>
            <a:endParaRPr lang="zh-CN" altLang="en-US" sz="2400" b="1"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894" name="Rectangle 3"/>
          <p:cNvSpPr/>
          <p:nvPr>
            <p:ph idx="1"/>
          </p:nvPr>
        </p:nvSpPr>
        <p:spPr>
          <a:xfrm>
            <a:off x="1465580" y="1196975"/>
            <a:ext cx="9049385" cy="4526280"/>
          </a:xfrm>
        </p:spPr>
        <p:txBody>
          <a:bodyPr vert="horz" wrap="square" lIns="91440" tIns="45720" rIns="91440" bIns="45720" anchor="t" anchorCtr="0"/>
          <a:p>
            <a:pPr algn="just" eaLnBrk="1" hangingPunct="1">
              <a:lnSpc>
                <a:spcPct val="120000"/>
              </a:lnSpc>
              <a:buSzPct val="80000"/>
              <a:buFont typeface="Wingdings" panose="05000000000000000000" pitchFamily="2" charset="2"/>
              <a:buChar char="Ø"/>
            </a:pPr>
            <a:r>
              <a:rPr lang="zh-CN" altLang="en-US" sz="2600" b="1" dirty="0">
                <a:latin typeface="Times New Roman" panose="02020603050405020304" pitchFamily="18" charset="0"/>
              </a:rPr>
              <a:t>用证书进行密钥交换，可以避免对公钥目录的实时授权访问</a:t>
            </a:r>
            <a:endParaRPr lang="en-AU" altLang="zh-CN" sz="2600" b="1" dirty="0">
              <a:latin typeface="Times New Roman" panose="02020603050405020304" pitchFamily="18" charset="0"/>
            </a:endParaRPr>
          </a:p>
          <a:p>
            <a:pPr algn="just" eaLnBrk="1" hangingPunct="1">
              <a:lnSpc>
                <a:spcPct val="120000"/>
              </a:lnSpc>
              <a:buSzPct val="80000"/>
              <a:buFont typeface="Wingdings" panose="05000000000000000000" pitchFamily="2" charset="2"/>
              <a:buChar char="Ø"/>
            </a:pPr>
            <a:r>
              <a:rPr lang="zh-CN" altLang="en-US" sz="2600" b="1" dirty="0">
                <a:latin typeface="Times New Roman" panose="02020603050405020304" pitchFamily="18" charset="0"/>
              </a:rPr>
              <a:t>证书包含标识和公钥等信息</a:t>
            </a:r>
            <a:r>
              <a:rPr lang="en-AU" altLang="zh-CN" sz="2600" b="1" dirty="0">
                <a:latin typeface="Times New Roman" panose="02020603050405020304" pitchFamily="18" charset="0"/>
              </a:rPr>
              <a:t> </a:t>
            </a:r>
            <a:endParaRPr lang="en-AU" altLang="zh-CN" sz="2600" b="1" dirty="0">
              <a:latin typeface="Times New Roman" panose="02020603050405020304" pitchFamily="18" charset="0"/>
            </a:endParaRPr>
          </a:p>
          <a:p>
            <a:pPr lvl="1" algn="just" eaLnBrk="1" hangingPunct="1">
              <a:lnSpc>
                <a:spcPct val="120000"/>
              </a:lnSpc>
              <a:buSzPct val="80000"/>
            </a:pPr>
            <a:r>
              <a:rPr lang="zh-CN" altLang="en-AU" sz="2400" b="1" dirty="0">
                <a:latin typeface="Times New Roman" panose="02020603050405020304" pitchFamily="18" charset="0"/>
              </a:rPr>
              <a:t>通常还包含有效期，使用权限等其它信息</a:t>
            </a:r>
            <a:endParaRPr lang="en-AU" altLang="zh-CN" sz="2400" b="1" dirty="0">
              <a:latin typeface="Times New Roman" panose="02020603050405020304" pitchFamily="18" charset="0"/>
            </a:endParaRPr>
          </a:p>
          <a:p>
            <a:pPr algn="just" eaLnBrk="1" hangingPunct="1">
              <a:lnSpc>
                <a:spcPct val="120000"/>
              </a:lnSpc>
              <a:buSzPct val="80000"/>
              <a:buFont typeface="Wingdings" panose="05000000000000000000" pitchFamily="2" charset="2"/>
              <a:buChar char="Ø"/>
            </a:pPr>
            <a:r>
              <a:rPr lang="zh-CN" altLang="en-AU" sz="2600" b="1" dirty="0">
                <a:latin typeface="Times New Roman" panose="02020603050405020304" pitchFamily="18" charset="0"/>
              </a:rPr>
              <a:t>含有可信公钥或证书授权方</a:t>
            </a:r>
            <a:r>
              <a:rPr lang="en-AU" altLang="zh-CN" sz="2600" b="1" dirty="0">
                <a:latin typeface="Times New Roman" panose="02020603050405020304" pitchFamily="18" charset="0"/>
              </a:rPr>
              <a:t>(CA)</a:t>
            </a:r>
            <a:r>
              <a:rPr lang="zh-CN" altLang="en-AU" sz="2600" b="1" dirty="0">
                <a:latin typeface="Times New Roman" panose="02020603050405020304" pitchFamily="18" charset="0"/>
              </a:rPr>
              <a:t>的签名</a:t>
            </a:r>
            <a:endParaRPr lang="zh-CN" altLang="en-AU" sz="2600" b="1" dirty="0">
              <a:latin typeface="Times New Roman" panose="02020603050405020304" pitchFamily="18" charset="0"/>
            </a:endParaRPr>
          </a:p>
          <a:p>
            <a:pPr algn="just" eaLnBrk="1" hangingPunct="1">
              <a:lnSpc>
                <a:spcPct val="120000"/>
              </a:lnSpc>
              <a:buSzPct val="80000"/>
              <a:buFont typeface="Wingdings" panose="05000000000000000000" pitchFamily="2" charset="2"/>
              <a:buChar char="Ø"/>
            </a:pPr>
            <a:r>
              <a:rPr lang="zh-CN" altLang="en-AU" sz="2600" b="1" dirty="0">
                <a:latin typeface="Times New Roman" panose="02020603050405020304" pitchFamily="18" charset="0"/>
              </a:rPr>
              <a:t>知道公钥或证书授权方的公钥的所有人员都可以进行验证</a:t>
            </a:r>
            <a:endParaRPr lang="zh-CN" altLang="en-AU" sz="2600" b="1" dirty="0">
              <a:latin typeface="Times New Roman" panose="02020603050405020304" pitchFamily="18" charset="0"/>
            </a:endParaRPr>
          </a:p>
          <a:p>
            <a:pPr algn="just" eaLnBrk="1" hangingPunct="1">
              <a:lnSpc>
                <a:spcPct val="120000"/>
              </a:lnSpc>
              <a:buSzPct val="80000"/>
              <a:buFont typeface="Wingdings" panose="05000000000000000000" pitchFamily="2" charset="2"/>
              <a:buChar char="Ø"/>
            </a:pPr>
            <a:r>
              <a:rPr lang="zh-CN" altLang="en-AU" sz="2600" b="1" dirty="0">
                <a:latin typeface="Times New Roman" panose="02020603050405020304" pitchFamily="18" charset="0"/>
              </a:rPr>
              <a:t>例如：</a:t>
            </a:r>
            <a:r>
              <a:rPr lang="en-AU" altLang="zh-CN" sz="2600" b="1" dirty="0">
                <a:latin typeface="Times New Roman" panose="02020603050405020304" pitchFamily="18" charset="0"/>
              </a:rPr>
              <a:t>X.509</a:t>
            </a:r>
            <a:r>
              <a:rPr lang="zh-CN" altLang="en-AU" sz="2600" b="1" dirty="0">
                <a:latin typeface="Times New Roman" panose="02020603050405020304" pitchFamily="18" charset="0"/>
              </a:rPr>
              <a:t>标准</a:t>
            </a:r>
            <a:endParaRPr lang="zh-CN" altLang="en-AU" sz="2600" b="1" dirty="0">
              <a:latin typeface="Times New Roman" panose="02020603050405020304"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8918" name="Picture 3"/>
          <p:cNvPicPr>
            <a:picLocks noChangeAspect="1"/>
          </p:cNvPicPr>
          <p:nvPr/>
        </p:nvPicPr>
        <p:blipFill>
          <a:blip r:embed="rId2"/>
          <a:srcRect t="4633" b="18529"/>
          <a:stretch>
            <a:fillRect/>
          </a:stretch>
        </p:blipFill>
        <p:spPr>
          <a:xfrm>
            <a:off x="2275840" y="1090613"/>
            <a:ext cx="7416800" cy="4403725"/>
          </a:xfrm>
          <a:prstGeom prst="rect">
            <a:avLst/>
          </a:prstGeom>
          <a:noFill/>
          <a:ln w="9525">
            <a:noFill/>
          </a:ln>
        </p:spPr>
      </p:pic>
      <p:sp>
        <p:nvSpPr>
          <p:cNvPr id="38919" name="TextBox 6"/>
          <p:cNvSpPr txBox="1"/>
          <p:nvPr/>
        </p:nvSpPr>
        <p:spPr>
          <a:xfrm>
            <a:off x="5204778" y="5216525"/>
            <a:ext cx="173355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t>公钥证书交换</a:t>
            </a:r>
            <a:endParaRPr lang="zh-CN" altLang="en-US" sz="2000" b="1"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认证服务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942" name="Rectangle 3"/>
          <p:cNvSpPr/>
          <p:nvPr>
            <p:ph idx="1"/>
          </p:nvPr>
        </p:nvSpPr>
        <p:spPr>
          <a:xfrm>
            <a:off x="1465580" y="1207770"/>
            <a:ext cx="9036685" cy="4824730"/>
          </a:xfrm>
        </p:spPr>
        <p:txBody>
          <a:bodyPr vert="horz" wrap="square" lIns="91440" tIns="45720" rIns="91440" bIns="45720" anchor="t" anchorCtr="0"/>
          <a:p>
            <a:pPr>
              <a:lnSpc>
                <a:spcPct val="110000"/>
              </a:lnSpc>
              <a:buSzPct val="80000"/>
              <a:buFont typeface="Wingdings" panose="05000000000000000000" pitchFamily="2" charset="2"/>
              <a:buChar char="Ø"/>
            </a:pPr>
            <a:r>
              <a:rPr lang="en-AU" altLang="zh-CN" sz="2600" b="1" dirty="0">
                <a:latin typeface="Times New Roman" panose="02020603050405020304" pitchFamily="18" charset="0"/>
              </a:rPr>
              <a:t>CCITT X.500 </a:t>
            </a:r>
            <a:r>
              <a:rPr lang="zh-CN" altLang="en-AU" sz="2600" b="1" dirty="0">
                <a:latin typeface="Times New Roman" panose="02020603050405020304" pitchFamily="18" charset="0"/>
              </a:rPr>
              <a:t>目录服务的一部分</a:t>
            </a:r>
            <a:endParaRPr lang="en-AU" altLang="zh-CN" sz="2600" b="1" dirty="0">
              <a:latin typeface="Times New Roman" panose="02020603050405020304" pitchFamily="18" charset="0"/>
            </a:endParaRPr>
          </a:p>
          <a:p>
            <a:pPr lvl="1">
              <a:lnSpc>
                <a:spcPct val="110000"/>
              </a:lnSpc>
              <a:buSzPct val="80000"/>
            </a:pPr>
            <a:r>
              <a:rPr lang="zh-CN" altLang="en-US" sz="2200" b="1" dirty="0">
                <a:latin typeface="Times New Roman" panose="02020603050405020304" pitchFamily="18" charset="0"/>
              </a:rPr>
              <a:t>维护用户信息数据库的分布式服务器</a:t>
            </a:r>
            <a:endParaRPr lang="en-AU" altLang="zh-CN" sz="22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定义了认证服务的框架</a:t>
            </a:r>
            <a:endParaRPr lang="en-AU" altLang="zh-CN" sz="2600" b="1" dirty="0">
              <a:latin typeface="Times New Roman" panose="02020603050405020304" pitchFamily="18" charset="0"/>
            </a:endParaRPr>
          </a:p>
          <a:p>
            <a:pPr lvl="1">
              <a:lnSpc>
                <a:spcPct val="110000"/>
              </a:lnSpc>
              <a:buSzPct val="80000"/>
            </a:pPr>
            <a:r>
              <a:rPr lang="zh-CN" altLang="en-AU" sz="2200" b="1" dirty="0">
                <a:latin typeface="Times New Roman" panose="02020603050405020304" pitchFamily="18" charset="0"/>
              </a:rPr>
              <a:t>目录可存储公钥证书</a:t>
            </a:r>
            <a:endParaRPr lang="en-AU" altLang="zh-CN" sz="2200" b="1" dirty="0">
              <a:latin typeface="Times New Roman" panose="02020603050405020304" pitchFamily="18" charset="0"/>
            </a:endParaRPr>
          </a:p>
          <a:p>
            <a:pPr lvl="1">
              <a:lnSpc>
                <a:spcPct val="110000"/>
              </a:lnSpc>
              <a:buSzPct val="80000"/>
            </a:pPr>
            <a:r>
              <a:rPr lang="zh-CN" altLang="en-AU" sz="2200" b="1" dirty="0">
                <a:latin typeface="Times New Roman" panose="02020603050405020304" pitchFamily="18" charset="0"/>
              </a:rPr>
              <a:t>由认证中心签名的用户的公钥</a:t>
            </a:r>
            <a:endParaRPr lang="en-AU" altLang="zh-CN" sz="22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定义了认证协议</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使用了公钥密码和数字签名技术</a:t>
            </a:r>
            <a:endParaRPr lang="en-AU" altLang="zh-CN" sz="2600" b="1" dirty="0">
              <a:latin typeface="Times New Roman" panose="02020603050405020304" pitchFamily="18" charset="0"/>
            </a:endParaRPr>
          </a:p>
          <a:p>
            <a:pPr lvl="1">
              <a:lnSpc>
                <a:spcPct val="110000"/>
              </a:lnSpc>
              <a:buSzPct val="80000"/>
            </a:pPr>
            <a:r>
              <a:rPr lang="zh-CN" altLang="en-AU" sz="2200" b="1" dirty="0">
                <a:latin typeface="Times New Roman" panose="02020603050405020304" pitchFamily="18" charset="0"/>
              </a:rPr>
              <a:t>未作算法规定，但推荐使用</a:t>
            </a:r>
            <a:r>
              <a:rPr lang="en-AU" altLang="zh-CN" sz="2200" b="1" dirty="0">
                <a:latin typeface="Times New Roman" panose="02020603050405020304" pitchFamily="18" charset="0"/>
              </a:rPr>
              <a:t>RSA</a:t>
            </a:r>
            <a:endParaRPr lang="en-AU" altLang="zh-CN" sz="22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X.509 证书已得到了广泛地使用</a:t>
            </a:r>
            <a:endParaRPr lang="en-AU" altLang="zh-CN" sz="2600" b="1" dirty="0">
              <a:latin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认证服务的应用</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966" name="Rectangle 6"/>
          <p:cNvSpPr/>
          <p:nvPr>
            <p:ph idx="1"/>
          </p:nvPr>
        </p:nvSpPr>
        <p:spPr>
          <a:xfrm>
            <a:off x="1465580" y="1063625"/>
            <a:ext cx="9037955" cy="5400675"/>
          </a:xfrm>
        </p:spPr>
        <p:txBody>
          <a:bodyPr vert="horz" wrap="square" lIns="91440" tIns="45720" rIns="91440" bIns="45720" anchor="t" anchorCtr="0">
            <a:normAutofit lnSpcReduction="10000"/>
          </a:bodyPr>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X.509建议最早在1988年发布，1993年和1995年又分别发布了它的第二和第三个修订版。X.509目前已经是一个非常重要的标准，因为X.509定义的认证证书结构和认证协议已经被广泛应用于诸多应用过程。</a:t>
            </a:r>
            <a:endParaRPr lang="en-AU" altLang="zh-CN" sz="2600" b="1" dirty="0">
              <a:latin typeface="Times New Roman" panose="02020603050405020304" pitchFamily="18" charset="0"/>
            </a:endParaRPr>
          </a:p>
          <a:p>
            <a:pPr lvl="1" algn="just">
              <a:lnSpc>
                <a:spcPct val="120000"/>
              </a:lnSpc>
              <a:buSzPct val="80000"/>
            </a:pPr>
            <a:r>
              <a:rPr lang="en-US" altLang="zh-CN" sz="2200" b="1" dirty="0">
                <a:latin typeface="Times New Roman" panose="02020603050405020304" pitchFamily="18" charset="0"/>
              </a:rPr>
              <a:t>IPSec(</a:t>
            </a:r>
            <a:r>
              <a:rPr lang="zh-CN" altLang="en-US" sz="2200" b="1" dirty="0">
                <a:latin typeface="Times New Roman" panose="02020603050405020304" pitchFamily="18" charset="0"/>
              </a:rPr>
              <a:t>提供了一种网络层的安全性</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lvl="1" algn="just">
              <a:lnSpc>
                <a:spcPct val="120000"/>
              </a:lnSpc>
              <a:buSzPct val="80000"/>
            </a:pPr>
            <a:r>
              <a:rPr lang="en-US" altLang="zh-CN" sz="2200" b="1" dirty="0">
                <a:latin typeface="Times New Roman" panose="02020603050405020304" pitchFamily="18" charset="0"/>
              </a:rPr>
              <a:t>SSL/TLS(security socket layer/transport layer security</a:t>
            </a:r>
            <a:r>
              <a:rPr lang="zh-CN" altLang="en-US" sz="2200" b="1" dirty="0">
                <a:latin typeface="Times New Roman" panose="02020603050405020304" pitchFamily="18" charset="0"/>
              </a:rPr>
              <a:t>，安全套接层，可用来解决传输层的安全性问题</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lvl="1" algn="just">
              <a:lnSpc>
                <a:spcPct val="120000"/>
              </a:lnSpc>
              <a:buSzPct val="80000"/>
            </a:pPr>
            <a:r>
              <a:rPr lang="en-US" altLang="zh-CN" sz="2200" b="1" dirty="0">
                <a:latin typeface="Times New Roman" panose="02020603050405020304" pitchFamily="18" charset="0"/>
              </a:rPr>
              <a:t>SET (</a:t>
            </a:r>
            <a:r>
              <a:rPr lang="zh-CN" altLang="en-US" sz="2200" b="1" dirty="0">
                <a:latin typeface="Times New Roman" panose="02020603050405020304" pitchFamily="18" charset="0"/>
              </a:rPr>
              <a:t>电子商务交易，</a:t>
            </a:r>
            <a:r>
              <a:rPr lang="en-US" altLang="zh-CN" sz="2200" b="1" dirty="0">
                <a:latin typeface="Times New Roman" panose="02020603050405020304" pitchFamily="18" charset="0"/>
              </a:rPr>
              <a:t>SET</a:t>
            </a:r>
            <a:r>
              <a:rPr lang="zh-CN" altLang="en-US" sz="2200" b="1" dirty="0">
                <a:latin typeface="Times New Roman" panose="02020603050405020304" pitchFamily="18" charset="0"/>
              </a:rPr>
              <a:t>是一种开放的加密安全规范，用于保护</a:t>
            </a:r>
            <a:r>
              <a:rPr lang="en-US" altLang="zh-CN" sz="2200" b="1" dirty="0">
                <a:latin typeface="Times New Roman" panose="02020603050405020304" pitchFamily="18" charset="0"/>
              </a:rPr>
              <a:t>Internet</a:t>
            </a:r>
            <a:r>
              <a:rPr lang="zh-CN" altLang="en-US" sz="2200" b="1" dirty="0">
                <a:latin typeface="Times New Roman" panose="02020603050405020304" pitchFamily="18" charset="0"/>
              </a:rPr>
              <a:t>上的信用卡交易</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lvl="1" algn="just">
              <a:lnSpc>
                <a:spcPct val="120000"/>
              </a:lnSpc>
              <a:buSzPct val="80000"/>
            </a:pPr>
            <a:r>
              <a:rPr lang="en-US" altLang="zh-CN" sz="2200" b="1" dirty="0">
                <a:latin typeface="Times New Roman" panose="02020603050405020304" pitchFamily="18" charset="0"/>
              </a:rPr>
              <a:t>S/MIME(</a:t>
            </a:r>
            <a:r>
              <a:rPr lang="zh-CN" altLang="en-US" sz="2200" b="1" dirty="0">
                <a:latin typeface="Times New Roman" panose="02020603050405020304" pitchFamily="18" charset="0"/>
              </a:rPr>
              <a:t>保证电子邮件安全，侧重于作为商业和团体使用的标准，而</a:t>
            </a:r>
            <a:r>
              <a:rPr lang="en-US" altLang="zh-CN" sz="2200" b="1" dirty="0">
                <a:latin typeface="Times New Roman" panose="02020603050405020304" pitchFamily="18" charset="0"/>
              </a:rPr>
              <a:t>PGP</a:t>
            </a:r>
            <a:r>
              <a:rPr lang="zh-CN" altLang="en-US" sz="2200" b="1" dirty="0">
                <a:latin typeface="Times New Roman" panose="02020603050405020304" pitchFamily="18" charset="0"/>
              </a:rPr>
              <a:t>则倾向于为许多用户提供个人电子邮件的安全性</a:t>
            </a:r>
            <a:r>
              <a:rPr lang="en-US" altLang="zh-CN" sz="2200" b="1" dirty="0">
                <a:latin typeface="Times New Roman" panose="02020603050405020304" pitchFamily="18" charset="0"/>
              </a:rPr>
              <a:t>)</a:t>
            </a:r>
            <a:endParaRPr lang="zh-CN" altLang="en-US" sz="2200" b="1" dirty="0">
              <a:latin typeface="Times New Roman" panose="02020603050405020304" pitchFamily="18"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认证服务的应用</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1989" name="Picture 4"/>
          <p:cNvPicPr>
            <a:picLocks noChangeAspect="1"/>
          </p:cNvPicPr>
          <p:nvPr/>
        </p:nvPicPr>
        <p:blipFill>
          <a:blip r:embed="rId2"/>
          <a:stretch>
            <a:fillRect/>
          </a:stretch>
        </p:blipFill>
        <p:spPr>
          <a:xfrm>
            <a:off x="3090863" y="0"/>
            <a:ext cx="7129462" cy="6678613"/>
          </a:xfrm>
          <a:prstGeom prst="rect">
            <a:avLst/>
          </a:prstGeom>
          <a:noFill/>
          <a:ln w="9525">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认证服务的应用</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014" name="Rectangle 3"/>
          <p:cNvSpPr/>
          <p:nvPr>
            <p:ph idx="1"/>
          </p:nvPr>
        </p:nvSpPr>
        <p:spPr>
          <a:xfrm>
            <a:off x="1465263" y="1122680"/>
            <a:ext cx="7921625" cy="5113338"/>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由认证中心发放(CA), 包括: </a:t>
            </a:r>
            <a:endParaRPr lang="en-AU" altLang="zh-CN" sz="26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version (1, 2, or 3)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serial number (unique within CA) identifying certificate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signature algorithm identifier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issuer X.500 name (CA)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period of validity (from - to dates)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subject X.500 name (name of owner)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subject public-key info (algorithm, parameters, key)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issuer unique identifier (v2+)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subject unique identifier (v2+)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extension fields (v3) </a:t>
            </a:r>
            <a:endParaRPr lang="en-AU" altLang="zh-CN" sz="2200" b="1" dirty="0">
              <a:latin typeface="Times New Roman" panose="02020603050405020304" pitchFamily="18" charset="0"/>
            </a:endParaRPr>
          </a:p>
          <a:p>
            <a:pPr lvl="1">
              <a:lnSpc>
                <a:spcPct val="90000"/>
              </a:lnSpc>
              <a:buSzPct val="80000"/>
            </a:pPr>
            <a:r>
              <a:rPr lang="en-AU" altLang="zh-CN" sz="2200" b="1" dirty="0">
                <a:latin typeface="Times New Roman" panose="02020603050405020304" pitchFamily="18" charset="0"/>
              </a:rPr>
              <a:t>signature (of hash of all fields in certificate) </a:t>
            </a:r>
            <a:endParaRPr lang="en-AU" altLang="zh-CN" sz="22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符号 CA&lt;&lt;A&gt;&gt; 表示 由CA签名的A的证书</a:t>
            </a:r>
            <a:endParaRPr lang="en-AU" altLang="zh-CN" sz="2600" b="1" dirty="0">
              <a:latin typeface="Times New Roman" panose="02020603050405020304" pitchFamily="18"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4038" name="Picture 4"/>
          <p:cNvPicPr>
            <a:picLocks noChangeAspect="1"/>
          </p:cNvPicPr>
          <p:nvPr/>
        </p:nvPicPr>
        <p:blipFill>
          <a:blip r:embed="rId2"/>
          <a:stretch>
            <a:fillRect/>
          </a:stretch>
        </p:blipFill>
        <p:spPr>
          <a:xfrm>
            <a:off x="1465580" y="1019810"/>
            <a:ext cx="8783955" cy="5679440"/>
          </a:xfrm>
          <a:prstGeom prst="rect">
            <a:avLst/>
          </a:prstGeom>
          <a:noFill/>
          <a:ln w="9525">
            <a:no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975360" y="1988820"/>
            <a:ext cx="10241280" cy="2880360"/>
          </a:xfrm>
          <a:prstGeom prst="rect">
            <a:avLst/>
          </a:prstGeom>
        </p:spPr>
      </p:pic>
      <p:sp>
        <p:nvSpPr>
          <p:cNvPr id="3" name="矩形 2"/>
          <p:cNvSpPr/>
          <p:nvPr/>
        </p:nvSpPr>
        <p:spPr>
          <a:xfrm>
            <a:off x="1025525" y="1663065"/>
            <a:ext cx="2108835" cy="10801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975360" y="1988820"/>
            <a:ext cx="10241280" cy="2880360"/>
          </a:xfrm>
          <a:prstGeom prst="rect">
            <a:avLst/>
          </a:prstGeom>
        </p:spPr>
      </p:pic>
      <p:sp>
        <p:nvSpPr>
          <p:cNvPr id="3" name="矩形 2"/>
          <p:cNvSpPr/>
          <p:nvPr/>
        </p:nvSpPr>
        <p:spPr>
          <a:xfrm>
            <a:off x="1025525" y="1663065"/>
            <a:ext cx="2108835" cy="10801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3"/>
          <a:stretch>
            <a:fillRect/>
          </a:stretch>
        </p:blipFill>
        <p:spPr>
          <a:xfrm>
            <a:off x="1465580" y="3347720"/>
            <a:ext cx="3870960" cy="2514600"/>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975360" y="1988820"/>
            <a:ext cx="10241280" cy="2880360"/>
          </a:xfrm>
          <a:prstGeom prst="rect">
            <a:avLst/>
          </a:prstGeom>
        </p:spPr>
      </p:pic>
      <p:sp>
        <p:nvSpPr>
          <p:cNvPr id="3" name="矩形 2"/>
          <p:cNvSpPr/>
          <p:nvPr/>
        </p:nvSpPr>
        <p:spPr>
          <a:xfrm>
            <a:off x="1025525" y="1663065"/>
            <a:ext cx="2108835" cy="10801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3"/>
          <a:stretch>
            <a:fillRect/>
          </a:stretch>
        </p:blipFill>
        <p:spPr>
          <a:xfrm>
            <a:off x="1465580" y="3347720"/>
            <a:ext cx="3870960" cy="2514600"/>
          </a:xfrm>
          <a:prstGeom prst="rect">
            <a:avLst/>
          </a:prstGeom>
        </p:spPr>
      </p:pic>
      <p:pic>
        <p:nvPicPr>
          <p:cNvPr id="7" name="图片 6"/>
          <p:cNvPicPr>
            <a:picLocks noChangeAspect="1"/>
          </p:cNvPicPr>
          <p:nvPr/>
        </p:nvPicPr>
        <p:blipFill>
          <a:blip r:embed="rId4"/>
          <a:stretch>
            <a:fillRect/>
          </a:stretch>
        </p:blipFill>
        <p:spPr>
          <a:xfrm>
            <a:off x="6337935" y="213360"/>
            <a:ext cx="5311140" cy="6431280"/>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a:picLocks noChangeAspect="1"/>
          </p:cNvPicPr>
          <p:nvPr/>
        </p:nvPicPr>
        <p:blipFill>
          <a:blip r:embed="rId2"/>
          <a:stretch>
            <a:fillRect/>
          </a:stretch>
        </p:blipFill>
        <p:spPr>
          <a:xfrm>
            <a:off x="530860" y="189865"/>
            <a:ext cx="5506085" cy="6668135"/>
          </a:xfrm>
          <a:prstGeom prst="rect">
            <a:avLst/>
          </a:prstGeom>
        </p:spPr>
      </p:pic>
      <p:pic>
        <p:nvPicPr>
          <p:cNvPr id="8" name="图片 7"/>
          <p:cNvPicPr>
            <a:picLocks noChangeAspect="1"/>
          </p:cNvPicPr>
          <p:nvPr/>
        </p:nvPicPr>
        <p:blipFill>
          <a:blip r:embed="rId3"/>
          <a:stretch>
            <a:fillRect/>
          </a:stretch>
        </p:blipFill>
        <p:spPr>
          <a:xfrm>
            <a:off x="6184900" y="189865"/>
            <a:ext cx="5288280" cy="6408420"/>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694055" y="97155"/>
            <a:ext cx="5242560" cy="6423660"/>
          </a:xfrm>
          <a:prstGeom prst="rect">
            <a:avLst/>
          </a:prstGeom>
        </p:spPr>
      </p:pic>
      <p:pic>
        <p:nvPicPr>
          <p:cNvPr id="3" name="图片 2"/>
          <p:cNvPicPr>
            <a:picLocks noChangeAspect="1"/>
          </p:cNvPicPr>
          <p:nvPr/>
        </p:nvPicPr>
        <p:blipFill>
          <a:blip r:embed="rId3"/>
          <a:stretch>
            <a:fillRect/>
          </a:stretch>
        </p:blipFill>
        <p:spPr>
          <a:xfrm>
            <a:off x="6398895" y="97155"/>
            <a:ext cx="5196840" cy="6423660"/>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061" name="Rectangle 6"/>
          <p:cNvSpPr/>
          <p:nvPr>
            <p:ph idx="1"/>
          </p:nvPr>
        </p:nvSpPr>
        <p:spPr>
          <a:xfrm>
            <a:off x="1465580" y="1163955"/>
            <a:ext cx="9050020" cy="4530725"/>
          </a:xfrm>
        </p:spPr>
        <p:txBody>
          <a:bodyPr vert="horz" wrap="square" lIns="91440" tIns="45720" rIns="91440" bIns="45720" anchor="t" anchorCtr="0"/>
          <a:p>
            <a:pPr algn="just">
              <a:lnSpc>
                <a:spcPct val="130000"/>
              </a:lnSpc>
              <a:buSzPct val="80000"/>
              <a:buFont typeface="Wingdings" panose="05000000000000000000" pitchFamily="2" charset="2"/>
              <a:buChar char="Ø"/>
            </a:pPr>
            <a:r>
              <a:rPr lang="zh-CN" altLang="en-US" sz="2600" b="1" dirty="0">
                <a:latin typeface="Times New Roman" panose="02020603050405020304" pitchFamily="18" charset="0"/>
              </a:rPr>
              <a:t>在</a:t>
            </a:r>
            <a:r>
              <a:rPr lang="en-US" altLang="zh-CN" sz="2600" b="1" dirty="0">
                <a:latin typeface="Times New Roman" panose="02020603050405020304" pitchFamily="18" charset="0"/>
              </a:rPr>
              <a:t>X.509</a:t>
            </a:r>
            <a:r>
              <a:rPr lang="zh-CN" altLang="en-US" sz="2600" b="1" dirty="0">
                <a:latin typeface="Times New Roman" panose="02020603050405020304" pitchFamily="18" charset="0"/>
              </a:rPr>
              <a:t>中，证书机构</a:t>
            </a:r>
            <a:r>
              <a:rPr lang="en-US" altLang="zh-CN" sz="2600" b="1" dirty="0">
                <a:latin typeface="Times New Roman" panose="02020603050405020304" pitchFamily="18" charset="0"/>
              </a:rPr>
              <a:t>Y </a:t>
            </a:r>
            <a:r>
              <a:rPr lang="zh-CN" altLang="en-US" sz="2600" b="1" dirty="0">
                <a:latin typeface="Times New Roman" panose="02020603050405020304" pitchFamily="18" charset="0"/>
              </a:rPr>
              <a:t>颁发给用户</a:t>
            </a:r>
            <a:r>
              <a:rPr lang="en-US" altLang="zh-CN" sz="2600" b="1" dirty="0">
                <a:latin typeface="Times New Roman" panose="02020603050405020304" pitchFamily="18" charset="0"/>
              </a:rPr>
              <a:t>X</a:t>
            </a:r>
            <a:r>
              <a:rPr lang="zh-CN" altLang="en-US" sz="2600" b="1" dirty="0">
                <a:latin typeface="Times New Roman" panose="02020603050405020304" pitchFamily="18" charset="0"/>
              </a:rPr>
              <a:t>的证书表示为：</a:t>
            </a:r>
            <a:r>
              <a:rPr lang="en-US" altLang="zh-CN" sz="2600" b="1" dirty="0">
                <a:latin typeface="Times New Roman" panose="02020603050405020304" pitchFamily="18" charset="0"/>
              </a:rPr>
              <a:t>Y&lt;&lt;X&gt;&gt;</a:t>
            </a:r>
            <a:r>
              <a:rPr lang="zh-CN" altLang="en-US" sz="2600" b="1" dirty="0">
                <a:latin typeface="Times New Roman" panose="02020603050405020304" pitchFamily="18" charset="0"/>
              </a:rPr>
              <a:t>；</a:t>
            </a:r>
            <a:r>
              <a:rPr lang="en-US" altLang="zh-CN" sz="2600" b="1" dirty="0">
                <a:latin typeface="Times New Roman" panose="02020603050405020304" pitchFamily="18" charset="0"/>
              </a:rPr>
              <a:t>Y</a:t>
            </a:r>
            <a:r>
              <a:rPr lang="zh-CN" altLang="en-US" sz="2600" b="1" dirty="0">
                <a:latin typeface="Times New Roman" panose="02020603050405020304" pitchFamily="18" charset="0"/>
              </a:rPr>
              <a:t>对信息</a:t>
            </a:r>
            <a:r>
              <a:rPr lang="en-US" altLang="zh-CN" sz="2600" b="1" dirty="0">
                <a:latin typeface="Times New Roman" panose="02020603050405020304" pitchFamily="18" charset="0"/>
              </a:rPr>
              <a:t>I</a:t>
            </a:r>
            <a:r>
              <a:rPr lang="zh-CN" altLang="en-US" sz="2600" b="1" dirty="0">
                <a:latin typeface="Times New Roman" panose="02020603050405020304" pitchFamily="18" charset="0"/>
              </a:rPr>
              <a:t>进行的签名表示为</a:t>
            </a:r>
            <a:r>
              <a:rPr lang="en-US" altLang="zh-CN" sz="2600" b="1" dirty="0">
                <a:latin typeface="Times New Roman" panose="02020603050405020304" pitchFamily="18" charset="0"/>
              </a:rPr>
              <a:t>Y{ I }</a:t>
            </a:r>
            <a:r>
              <a:rPr lang="zh-CN" altLang="en-US" sz="2600" b="1" dirty="0">
                <a:latin typeface="Times New Roman" panose="02020603050405020304" pitchFamily="18" charset="0"/>
              </a:rPr>
              <a:t>。</a:t>
            </a:r>
            <a:endParaRPr lang="zh-CN" altLang="en-US" sz="2600" b="1" dirty="0">
              <a:latin typeface="Times New Roman" panose="02020603050405020304" pitchFamily="18" charset="0"/>
            </a:endParaRPr>
          </a:p>
          <a:p>
            <a:pPr lvl="1" algn="just">
              <a:lnSpc>
                <a:spcPct val="130000"/>
              </a:lnSpc>
              <a:buSzPct val="80000"/>
              <a:buNone/>
            </a:pPr>
            <a:r>
              <a:rPr lang="zh-CN" altLang="en-US" b="1" dirty="0">
                <a:latin typeface="Times New Roman" panose="02020603050405020304" pitchFamily="18" charset="0"/>
              </a:rPr>
              <a:t>这样一个</a:t>
            </a:r>
            <a:r>
              <a:rPr lang="en-US" altLang="zh-CN" b="1" dirty="0">
                <a:latin typeface="Times New Roman" panose="02020603050405020304" pitchFamily="18" charset="0"/>
              </a:rPr>
              <a:t>CA</a:t>
            </a:r>
            <a:r>
              <a:rPr lang="zh-CN" altLang="en-US" b="1" dirty="0">
                <a:latin typeface="Times New Roman" panose="02020603050405020304" pitchFamily="18" charset="0"/>
              </a:rPr>
              <a:t>颁发给用户</a:t>
            </a:r>
            <a:r>
              <a:rPr lang="en-US" altLang="zh-CN" b="1" dirty="0">
                <a:latin typeface="Times New Roman" panose="02020603050405020304" pitchFamily="18" charset="0"/>
              </a:rPr>
              <a:t>A</a:t>
            </a:r>
            <a:r>
              <a:rPr lang="zh-CN" altLang="en-US" b="1" dirty="0">
                <a:latin typeface="Times New Roman" panose="02020603050405020304" pitchFamily="18" charset="0"/>
              </a:rPr>
              <a:t>的</a:t>
            </a:r>
            <a:r>
              <a:rPr lang="en-US" altLang="zh-CN" b="1" dirty="0">
                <a:latin typeface="Times New Roman" panose="02020603050405020304" pitchFamily="18" charset="0"/>
              </a:rPr>
              <a:t>X.509</a:t>
            </a:r>
            <a:r>
              <a:rPr lang="zh-CN" altLang="en-US" b="1" dirty="0">
                <a:latin typeface="Times New Roman" panose="02020603050405020304" pitchFamily="18" charset="0"/>
              </a:rPr>
              <a:t>证书可以表示为：</a:t>
            </a:r>
            <a:endParaRPr lang="zh-CN" altLang="en-US" b="1" dirty="0">
              <a:latin typeface="Times New Roman" panose="02020603050405020304" pitchFamily="18" charset="0"/>
            </a:endParaRPr>
          </a:p>
          <a:p>
            <a:pPr lvl="1" algn="just">
              <a:lnSpc>
                <a:spcPct val="130000"/>
              </a:lnSpc>
              <a:buSzPct val="80000"/>
              <a:buNone/>
            </a:pPr>
            <a:r>
              <a:rPr lang="en-US" altLang="zh-CN" b="1" dirty="0">
                <a:latin typeface="Times New Roman" panose="02020603050405020304" pitchFamily="18" charset="0"/>
              </a:rPr>
              <a:t>            CA&lt;&lt;A&gt;&gt; = CA{ V, SN, AI, CA, T</a:t>
            </a:r>
            <a:r>
              <a:rPr lang="en-US" altLang="zh-CN" b="1" baseline="-25000" dirty="0">
                <a:latin typeface="Times New Roman" panose="02020603050405020304" pitchFamily="18" charset="0"/>
              </a:rPr>
              <a:t>A</a:t>
            </a:r>
            <a:r>
              <a:rPr lang="en-US" altLang="zh-CN" b="1" dirty="0">
                <a:latin typeface="Times New Roman" panose="02020603050405020304" pitchFamily="18" charset="0"/>
              </a:rPr>
              <a:t>, A, A</a:t>
            </a:r>
            <a:r>
              <a:rPr lang="en-US" altLang="zh-CN" b="1" baseline="-25000" dirty="0">
                <a:latin typeface="Times New Roman" panose="02020603050405020304" pitchFamily="18" charset="0"/>
              </a:rPr>
              <a:t>p </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lvl="1" algn="just">
              <a:lnSpc>
                <a:spcPct val="130000"/>
              </a:lnSpc>
              <a:buSzPct val="80000"/>
              <a:buNone/>
            </a:pPr>
            <a:r>
              <a:rPr lang="en-US" altLang="zh-CN" b="1" dirty="0">
                <a:latin typeface="Times New Roman" panose="02020603050405020304" pitchFamily="18" charset="0"/>
              </a:rPr>
              <a:t>V:  </a:t>
            </a:r>
            <a:r>
              <a:rPr lang="zh-CN" altLang="en-US" b="1" dirty="0">
                <a:latin typeface="Times New Roman" panose="02020603050405020304" pitchFamily="18" charset="0"/>
              </a:rPr>
              <a:t>版本号，  </a:t>
            </a:r>
            <a:r>
              <a:rPr lang="en-US" altLang="zh-CN" b="1" dirty="0">
                <a:latin typeface="Times New Roman" panose="02020603050405020304" pitchFamily="18" charset="0"/>
              </a:rPr>
              <a:t>SN</a:t>
            </a:r>
            <a:r>
              <a:rPr lang="zh-CN" altLang="en-US" b="1" dirty="0">
                <a:latin typeface="Times New Roman" panose="02020603050405020304" pitchFamily="18" charset="0"/>
              </a:rPr>
              <a:t>：证书序列号， </a:t>
            </a:r>
            <a:r>
              <a:rPr lang="en-US" altLang="zh-CN" b="1" dirty="0">
                <a:latin typeface="Times New Roman" panose="02020603050405020304" pitchFamily="18" charset="0"/>
              </a:rPr>
              <a:t>AI</a:t>
            </a:r>
            <a:r>
              <a:rPr lang="zh-CN" altLang="en-US" b="1" dirty="0">
                <a:latin typeface="Times New Roman" panose="02020603050405020304" pitchFamily="18" charset="0"/>
              </a:rPr>
              <a:t>：算法标识，</a:t>
            </a:r>
            <a:endParaRPr lang="zh-CN" altLang="en-US" b="1" dirty="0">
              <a:latin typeface="Times New Roman" panose="02020603050405020304" pitchFamily="18" charset="0"/>
            </a:endParaRPr>
          </a:p>
          <a:p>
            <a:pPr lvl="1" algn="just">
              <a:lnSpc>
                <a:spcPct val="130000"/>
              </a:lnSpc>
              <a:buSzPct val="80000"/>
              <a:buNone/>
            </a:pPr>
            <a:r>
              <a:rPr lang="en-US" altLang="zh-CN" b="1" dirty="0">
                <a:latin typeface="Times New Roman" panose="02020603050405020304" pitchFamily="18" charset="0"/>
              </a:rPr>
              <a:t>T</a:t>
            </a:r>
            <a:r>
              <a:rPr lang="en-US" altLang="zh-CN" b="1" baseline="-25000" dirty="0">
                <a:latin typeface="Times New Roman" panose="02020603050405020304" pitchFamily="18" charset="0"/>
              </a:rPr>
              <a:t>A</a:t>
            </a:r>
            <a:r>
              <a:rPr lang="zh-CN" altLang="en-US" b="1" dirty="0">
                <a:latin typeface="Times New Roman" panose="02020603050405020304" pitchFamily="18" charset="0"/>
              </a:rPr>
              <a:t>：有效期</a:t>
            </a:r>
            <a:r>
              <a:rPr lang="en-US" altLang="zh-CN" b="1" dirty="0">
                <a:latin typeface="Times New Roman" panose="02020603050405020304" pitchFamily="18" charset="0"/>
              </a:rPr>
              <a:t>,   A</a:t>
            </a:r>
            <a:r>
              <a:rPr lang="en-US" altLang="zh-CN" b="1" baseline="-25000" dirty="0">
                <a:latin typeface="Times New Roman" panose="02020603050405020304" pitchFamily="18" charset="0"/>
              </a:rPr>
              <a:t>p </a:t>
            </a:r>
            <a:r>
              <a:rPr lang="zh-CN" altLang="en-US" b="1" dirty="0">
                <a:latin typeface="Times New Roman" panose="02020603050405020304" pitchFamily="18" charset="0"/>
              </a:rPr>
              <a:t>：</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A</a:t>
            </a:r>
            <a:r>
              <a:rPr lang="zh-CN" altLang="en-US" b="1" dirty="0">
                <a:latin typeface="Times New Roman" panose="02020603050405020304" pitchFamily="18" charset="0"/>
              </a:rPr>
              <a:t>的公开密钥信息。</a:t>
            </a:r>
            <a:endParaRPr lang="zh-CN" altLang="en-US" b="1" dirty="0">
              <a:latin typeface="Times New Roman" panose="02020603050405020304" pitchFamily="18" charset="0"/>
            </a:endParaRPr>
          </a:p>
          <a:p>
            <a:pPr algn="just">
              <a:lnSpc>
                <a:spcPct val="130000"/>
              </a:lnSpc>
              <a:buSzPct val="80000"/>
            </a:pPr>
            <a:endParaRPr lang="zh-CN" altLang="en-US" sz="2600" b="1" dirty="0">
              <a:latin typeface="Times New Roman" panose="020206030504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获得一个用户证书</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086" name="Rectangle 3"/>
          <p:cNvSpPr/>
          <p:nvPr>
            <p:ph idx="1"/>
          </p:nvPr>
        </p:nvSpPr>
        <p:spPr>
          <a:xfrm>
            <a:off x="1465580" y="1235710"/>
            <a:ext cx="9050020" cy="38449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任何可以访问CA的用户都可以得到一个证书</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只有CA可以修改证书</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由于证书不能伪造，所以证书可以放到一个公共目录中</a:t>
            </a:r>
            <a:endParaRPr lang="en-AU" altLang="zh-CN" sz="2600" b="1" dirty="0">
              <a:latin typeface="Times New Roman" panose="02020603050405020304"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CA</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层次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110" name="Rectangle 3"/>
          <p:cNvSpPr/>
          <p:nvPr>
            <p:ph idx="1"/>
          </p:nvPr>
        </p:nvSpPr>
        <p:spPr>
          <a:xfrm>
            <a:off x="1465580" y="1268730"/>
            <a:ext cx="9037320" cy="45307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如果两个用户共享同一个CA,则两者知道彼此的公钥</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否则，CA就要形成层次</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用证书将层次中的各CA链接</a:t>
            </a:r>
            <a:endParaRPr lang="en-AU" altLang="zh-CN" sz="2600" b="1" dirty="0">
              <a:latin typeface="Times New Roman" panose="02020603050405020304" pitchFamily="18" charset="0"/>
            </a:endParaRPr>
          </a:p>
          <a:p>
            <a:pPr lvl="1">
              <a:lnSpc>
                <a:spcPct val="120000"/>
              </a:lnSpc>
              <a:buSzPct val="80000"/>
            </a:pPr>
            <a:r>
              <a:rPr lang="zh-CN" altLang="en-AU" sz="2000" b="1" dirty="0">
                <a:latin typeface="Times New Roman" panose="02020603050405020304" pitchFamily="18" charset="0"/>
              </a:rPr>
              <a:t>每个</a:t>
            </a:r>
            <a:r>
              <a:rPr lang="en-AU" altLang="zh-CN" sz="2000" b="1" dirty="0">
                <a:latin typeface="Times New Roman" panose="02020603050405020304" pitchFamily="18" charset="0"/>
              </a:rPr>
              <a:t>CA </a:t>
            </a:r>
            <a:r>
              <a:rPr lang="zh-CN" altLang="en-AU" sz="2000" b="1" dirty="0">
                <a:latin typeface="Times New Roman" panose="02020603050405020304" pitchFamily="18" charset="0"/>
              </a:rPr>
              <a:t>有对客户的证书</a:t>
            </a:r>
            <a:r>
              <a:rPr lang="en-AU" altLang="zh-CN" sz="2000" b="1" dirty="0">
                <a:latin typeface="Times New Roman" panose="02020603050405020304" pitchFamily="18" charset="0"/>
              </a:rPr>
              <a:t>(</a:t>
            </a:r>
            <a:r>
              <a:rPr lang="zh-CN" altLang="en-AU" sz="2000" b="1" dirty="0">
                <a:latin typeface="Times New Roman" panose="02020603050405020304" pitchFamily="18" charset="0"/>
              </a:rPr>
              <a:t>前向</a:t>
            </a:r>
            <a:r>
              <a:rPr lang="en-AU" altLang="zh-CN" sz="2000" b="1" dirty="0">
                <a:latin typeface="Times New Roman" panose="02020603050405020304" pitchFamily="18" charset="0"/>
              </a:rPr>
              <a:t>)</a:t>
            </a:r>
            <a:r>
              <a:rPr lang="zh-CN" altLang="en-AU" sz="2000" b="1" dirty="0">
                <a:latin typeface="Times New Roman" panose="02020603050405020304" pitchFamily="18" charset="0"/>
              </a:rPr>
              <a:t>和对父</a:t>
            </a:r>
            <a:r>
              <a:rPr lang="en-AU" altLang="zh-CN" sz="2000" b="1" dirty="0">
                <a:latin typeface="Times New Roman" panose="02020603050405020304" pitchFamily="18" charset="0"/>
              </a:rPr>
              <a:t>CA</a:t>
            </a:r>
            <a:r>
              <a:rPr lang="zh-CN" altLang="en-AU" sz="2000" b="1" dirty="0">
                <a:latin typeface="Times New Roman" panose="02020603050405020304" pitchFamily="18" charset="0"/>
              </a:rPr>
              <a:t>的证书</a:t>
            </a:r>
            <a:r>
              <a:rPr lang="en-AU" altLang="zh-CN" sz="2000" b="1" dirty="0">
                <a:latin typeface="Times New Roman" panose="02020603050405020304" pitchFamily="18" charset="0"/>
              </a:rPr>
              <a:t> (</a:t>
            </a:r>
            <a:r>
              <a:rPr lang="zh-CN" altLang="en-AU" sz="2000" b="1" dirty="0">
                <a:latin typeface="Times New Roman" panose="02020603050405020304" pitchFamily="18" charset="0"/>
              </a:rPr>
              <a:t>后向</a:t>
            </a:r>
            <a:r>
              <a:rPr lang="en-AU" altLang="zh-CN" sz="2000" b="1" dirty="0">
                <a:latin typeface="Times New Roman" panose="02020603050405020304" pitchFamily="18" charset="0"/>
              </a:rPr>
              <a:t>)</a:t>
            </a:r>
            <a:r>
              <a:rPr lang="en-AU" altLang="zh-CN" sz="2400" b="1" dirty="0">
                <a:latin typeface="Times New Roman" panose="02020603050405020304" pitchFamily="18" charset="0"/>
              </a:rPr>
              <a:t> </a:t>
            </a:r>
            <a:endParaRPr lang="en-AU" altLang="zh-CN" sz="24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每一个客户信任所有父证书</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层次中的所有其它CA的用户，可以验证从一个CA获得的任何证书</a:t>
            </a:r>
            <a:endParaRPr lang="en-AU" altLang="zh-CN" sz="2600" b="1" dirty="0">
              <a:latin typeface="Times New Roman" panose="02020603050405020304" pitchFamily="18"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CA</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层次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8134" name="Picture 3"/>
          <p:cNvPicPr>
            <a:picLocks noChangeAspect="1"/>
          </p:cNvPicPr>
          <p:nvPr/>
        </p:nvPicPr>
        <p:blipFill>
          <a:blip r:embed="rId2"/>
          <a:srcRect t="8949" b="21477"/>
          <a:stretch>
            <a:fillRect/>
          </a:stretch>
        </p:blipFill>
        <p:spPr>
          <a:xfrm>
            <a:off x="2798763" y="1048385"/>
            <a:ext cx="6932612" cy="5740400"/>
          </a:xfrm>
          <a:prstGeom prst="rect">
            <a:avLst/>
          </a:prstGeom>
          <a:noFill/>
          <a:ln w="9525">
            <a:noFill/>
          </a:ln>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CA</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层次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nvPicPr>
        <p:blipFill>
          <a:blip r:embed="rId2"/>
          <a:stretch>
            <a:fillRect/>
          </a:stretch>
        </p:blipFill>
        <p:spPr>
          <a:xfrm>
            <a:off x="3928110" y="1063625"/>
            <a:ext cx="5288280" cy="6408420"/>
          </a:xfrm>
          <a:prstGeom prst="rect">
            <a:avLst/>
          </a:prstGeom>
        </p:spPr>
      </p:pic>
      <p:sp>
        <p:nvSpPr>
          <p:cNvPr id="3" name="矩形 2"/>
          <p:cNvSpPr/>
          <p:nvPr/>
        </p:nvSpPr>
        <p:spPr>
          <a:xfrm>
            <a:off x="3987165" y="1854835"/>
            <a:ext cx="5099685" cy="157480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证书的撤销</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158" name="Rectangle 3"/>
          <p:cNvSpPr/>
          <p:nvPr>
            <p:ph idx="1"/>
          </p:nvPr>
        </p:nvSpPr>
        <p:spPr>
          <a:xfrm>
            <a:off x="1465580" y="1268730"/>
            <a:ext cx="9037320" cy="45307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证书有效期</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过期前撤销，例如:</a:t>
            </a:r>
            <a:endParaRPr lang="en-AU" altLang="zh-CN" sz="2600" b="1" dirty="0">
              <a:latin typeface="Times New Roman" panose="02020603050405020304" pitchFamily="18" charset="0"/>
            </a:endParaRPr>
          </a:p>
          <a:p>
            <a:pPr marL="687070" lvl="1" indent="-342900">
              <a:lnSpc>
                <a:spcPct val="110000"/>
              </a:lnSpc>
              <a:buSzPct val="80000"/>
              <a:buFont typeface="Arial" panose="020B0604020202020204" pitchFamily="34" charset="0"/>
              <a:buChar char="•"/>
            </a:pPr>
            <a:r>
              <a:rPr lang="zh-CN" altLang="en-AU" sz="2200" b="1" dirty="0">
                <a:latin typeface="Times New Roman" panose="02020603050405020304" pitchFamily="18" charset="0"/>
              </a:rPr>
              <a:t>用户的密钥被认为不安全了</a:t>
            </a:r>
            <a:endParaRPr lang="en-AU" altLang="zh-CN" sz="2200" b="1" dirty="0">
              <a:latin typeface="Times New Roman" panose="02020603050405020304" pitchFamily="18" charset="0"/>
            </a:endParaRPr>
          </a:p>
          <a:p>
            <a:pPr marL="687070" lvl="1" indent="-342900">
              <a:lnSpc>
                <a:spcPct val="110000"/>
              </a:lnSpc>
              <a:buSzPct val="80000"/>
              <a:buFont typeface="Arial" panose="020B0604020202020204" pitchFamily="34" charset="0"/>
              <a:buChar char="•"/>
            </a:pPr>
            <a:r>
              <a:rPr lang="zh-CN" altLang="en-AU" sz="2200" b="1" dirty="0">
                <a:latin typeface="Times New Roman" panose="02020603050405020304" pitchFamily="18" charset="0"/>
              </a:rPr>
              <a:t>用户不再信任该</a:t>
            </a:r>
            <a:r>
              <a:rPr lang="en-AU" altLang="zh-CN" sz="2200" b="1" dirty="0">
                <a:latin typeface="Times New Roman" panose="02020603050405020304" pitchFamily="18" charset="0"/>
              </a:rPr>
              <a:t>CA</a:t>
            </a:r>
            <a:endParaRPr lang="en-AU" altLang="zh-CN" sz="2200" b="1" dirty="0">
              <a:latin typeface="Times New Roman" panose="02020603050405020304" pitchFamily="18" charset="0"/>
            </a:endParaRPr>
          </a:p>
          <a:p>
            <a:pPr marL="687070" lvl="1" indent="-342900">
              <a:lnSpc>
                <a:spcPct val="110000"/>
              </a:lnSpc>
              <a:buSzPct val="80000"/>
              <a:buFont typeface="Arial" panose="020B0604020202020204" pitchFamily="34" charset="0"/>
              <a:buChar char="•"/>
            </a:pPr>
            <a:r>
              <a:rPr lang="en-AU" altLang="zh-CN" sz="2200" b="1" dirty="0">
                <a:latin typeface="Times New Roman" panose="02020603050405020304" pitchFamily="18" charset="0"/>
              </a:rPr>
              <a:t>CA</a:t>
            </a:r>
            <a:r>
              <a:rPr lang="zh-CN" altLang="en-AU" sz="2200" b="1" dirty="0">
                <a:latin typeface="Times New Roman" panose="02020603050405020304" pitchFamily="18" charset="0"/>
              </a:rPr>
              <a:t>证书被认为不安全了</a:t>
            </a:r>
            <a:endParaRPr lang="en-AU" altLang="zh-CN" sz="22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CA维护一个证书撤销列表</a:t>
            </a:r>
            <a:endParaRPr lang="en-AU" altLang="zh-CN" sz="2600" b="1" dirty="0">
              <a:latin typeface="Times New Roman" panose="02020603050405020304" pitchFamily="18" charset="0"/>
            </a:endParaRPr>
          </a:p>
          <a:p>
            <a:pPr marL="990600" lvl="1" indent="-646430">
              <a:lnSpc>
                <a:spcPct val="110000"/>
              </a:lnSpc>
              <a:buSzPct val="80000"/>
            </a:pPr>
            <a:r>
              <a:rPr lang="zh-CN" altLang="en-US" sz="2200" b="1" dirty="0">
                <a:latin typeface="Times New Roman" panose="02020603050405020304" pitchFamily="18" charset="0"/>
              </a:rPr>
              <a:t>证书撤销列表，</a:t>
            </a:r>
            <a:r>
              <a:rPr lang="en-US" altLang="zh-CN" sz="2200" b="1" dirty="0">
                <a:latin typeface="Times New Roman" panose="02020603050405020304" pitchFamily="18" charset="0"/>
              </a:rPr>
              <a:t>the Certificate Revocation List (CRL)</a:t>
            </a:r>
            <a:endParaRPr lang="en-US" altLang="zh-CN" sz="22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用户应该检查CA的CRL</a:t>
            </a:r>
            <a:endParaRPr lang="en-AU" altLang="zh-CN" sz="2600" b="1" dirty="0">
              <a:latin typeface="Times New Roman" panose="02020603050405020304" pitchFamily="18" charset="0"/>
            </a:endParaRPr>
          </a:p>
          <a:p>
            <a:pPr marL="990600" lvl="1" indent="-646430">
              <a:lnSpc>
                <a:spcPct val="110000"/>
              </a:lnSpc>
              <a:buSzPct val="80000"/>
            </a:pPr>
            <a:endParaRPr lang="zh-CN" altLang="en-AU" b="1" dirty="0">
              <a:latin typeface="Times New Roman" panose="02020603050405020304" pitchFamily="18"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认证过程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182" name="Rectangle 3"/>
          <p:cNvSpPr/>
          <p:nvPr>
            <p:ph idx="1"/>
          </p:nvPr>
        </p:nvSpPr>
        <p:spPr>
          <a:xfrm>
            <a:off x="1465580" y="1332865"/>
            <a:ext cx="9037320" cy="3887470"/>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X.509 包括三种可选的认证过程 </a:t>
            </a:r>
            <a:endParaRPr lang="en-AU" altLang="zh-CN" sz="2600" b="1" dirty="0">
              <a:latin typeface="Times New Roman" panose="02020603050405020304" pitchFamily="18" charset="0"/>
            </a:endParaRPr>
          </a:p>
          <a:p>
            <a:pPr lvl="1">
              <a:lnSpc>
                <a:spcPct val="110000"/>
              </a:lnSpc>
            </a:pPr>
            <a:r>
              <a:rPr lang="zh-CN" altLang="en-AU" sz="2400" b="1" dirty="0">
                <a:latin typeface="Times New Roman" panose="02020603050405020304" pitchFamily="18" charset="0"/>
              </a:rPr>
              <a:t>单向认证</a:t>
            </a:r>
            <a:endParaRPr lang="en-AU" altLang="zh-CN" sz="2400" b="1" dirty="0">
              <a:latin typeface="Times New Roman" panose="02020603050405020304" pitchFamily="18" charset="0"/>
            </a:endParaRPr>
          </a:p>
          <a:p>
            <a:pPr lvl="1">
              <a:lnSpc>
                <a:spcPct val="110000"/>
              </a:lnSpc>
            </a:pPr>
            <a:r>
              <a:rPr lang="zh-CN" altLang="en-AU" sz="2400" b="1" dirty="0">
                <a:latin typeface="Times New Roman" panose="02020603050405020304" pitchFamily="18" charset="0"/>
              </a:rPr>
              <a:t>双向认证</a:t>
            </a:r>
            <a:endParaRPr lang="en-AU" altLang="zh-CN" sz="2400" b="1" dirty="0">
              <a:latin typeface="Times New Roman" panose="02020603050405020304" pitchFamily="18" charset="0"/>
            </a:endParaRPr>
          </a:p>
          <a:p>
            <a:pPr lvl="1">
              <a:lnSpc>
                <a:spcPct val="110000"/>
              </a:lnSpc>
            </a:pPr>
            <a:r>
              <a:rPr lang="zh-CN" altLang="en-AU" sz="2400" b="1" dirty="0">
                <a:latin typeface="Times New Roman" panose="02020603050405020304" pitchFamily="18" charset="0"/>
              </a:rPr>
              <a:t>三向认证</a:t>
            </a:r>
            <a:endParaRPr lang="en-AU" altLang="zh-CN" sz="24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三种方法都采用公钥签名</a:t>
            </a:r>
            <a:endParaRPr lang="en-AU" altLang="zh-CN" sz="2600" b="1" dirty="0">
              <a:latin typeface="Times New Roman" panose="02020603050405020304" pitchFamily="18"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单向认证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206" name="Rectangle 3"/>
          <p:cNvSpPr/>
          <p:nvPr>
            <p:ph idx="1"/>
          </p:nvPr>
        </p:nvSpPr>
        <p:spPr>
          <a:xfrm>
            <a:off x="1465580" y="1196975"/>
            <a:ext cx="9050020" cy="4530725"/>
          </a:xfrm>
        </p:spPr>
        <p:txBody>
          <a:bodyPr vert="horz" wrap="square" lIns="91440" tIns="45720" rIns="91440" bIns="45720" anchor="t" anchorCtr="0"/>
          <a:p>
            <a:pPr algn="l">
              <a:lnSpc>
                <a:spcPct val="120000"/>
              </a:lnSpc>
              <a:buClrTx/>
              <a:buSzPct val="80000"/>
              <a:buFont typeface="Wingdings" panose="05000000000000000000" pitchFamily="2" charset="2"/>
              <a:buChar char="Ø"/>
            </a:pPr>
            <a:r>
              <a:rPr lang="en-AU" altLang="zh-CN" sz="2600" b="1" dirty="0">
                <a:latin typeface="Times New Roman" panose="02020603050405020304" pitchFamily="18" charset="0"/>
              </a:rPr>
              <a:t>1 消息 ( A-&gt;B) 完成单向认证 </a:t>
            </a:r>
            <a:endParaRPr lang="en-AU" altLang="zh-CN" sz="2600" b="1" dirty="0">
              <a:latin typeface="Times New Roman" panose="02020603050405020304" pitchFamily="18" charset="0"/>
            </a:endParaRPr>
          </a:p>
          <a:p>
            <a:pPr lvl="1">
              <a:lnSpc>
                <a:spcPct val="120000"/>
              </a:lnSpc>
              <a:buSzPct val="80000"/>
            </a:pPr>
            <a:r>
              <a:rPr lang="en-AU" altLang="zh-CN" sz="2400" b="1" dirty="0">
                <a:latin typeface="Times New Roman" panose="02020603050405020304" pitchFamily="18" charset="0"/>
              </a:rPr>
              <a:t>A</a:t>
            </a:r>
            <a:r>
              <a:rPr lang="zh-CN" altLang="en-AU" sz="2400" b="1" dirty="0">
                <a:latin typeface="Times New Roman" panose="02020603050405020304" pitchFamily="18" charset="0"/>
              </a:rPr>
              <a:t>的标识和</a:t>
            </a:r>
            <a:r>
              <a:rPr lang="en-AU" altLang="zh-CN" sz="2400" b="1" dirty="0">
                <a:latin typeface="Times New Roman" panose="02020603050405020304" pitchFamily="18" charset="0"/>
              </a:rPr>
              <a:t>A</a:t>
            </a:r>
            <a:r>
              <a:rPr lang="zh-CN" altLang="en-AU" sz="2400" b="1" dirty="0">
                <a:latin typeface="Times New Roman" panose="02020603050405020304" pitchFamily="18" charset="0"/>
              </a:rPr>
              <a:t>创建的消息</a:t>
            </a:r>
            <a:endParaRPr lang="en-AU" altLang="zh-CN" sz="2400" b="1" dirty="0">
              <a:latin typeface="Times New Roman" panose="02020603050405020304" pitchFamily="18" charset="0"/>
            </a:endParaRPr>
          </a:p>
          <a:p>
            <a:pPr lvl="1">
              <a:lnSpc>
                <a:spcPct val="120000"/>
              </a:lnSpc>
              <a:buSzPct val="80000"/>
            </a:pPr>
            <a:r>
              <a:rPr lang="en-AU" altLang="zh-CN" sz="2400" b="1" dirty="0">
                <a:latin typeface="Times New Roman" panose="02020603050405020304" pitchFamily="18" charset="0"/>
              </a:rPr>
              <a:t>B</a:t>
            </a:r>
            <a:r>
              <a:rPr lang="zh-CN" altLang="en-AU" sz="2400" b="1" dirty="0">
                <a:latin typeface="Times New Roman" panose="02020603050405020304" pitchFamily="18" charset="0"/>
              </a:rPr>
              <a:t>所需要的消息</a:t>
            </a:r>
            <a:endParaRPr lang="en-AU" altLang="zh-CN" sz="2400" b="1" dirty="0">
              <a:latin typeface="Times New Roman" panose="02020603050405020304" pitchFamily="18" charset="0"/>
            </a:endParaRPr>
          </a:p>
          <a:p>
            <a:pPr lvl="1">
              <a:lnSpc>
                <a:spcPct val="120000"/>
              </a:lnSpc>
              <a:buSzPct val="80000"/>
            </a:pPr>
            <a:r>
              <a:rPr lang="zh-CN" altLang="en-AU" sz="2400" b="1" dirty="0">
                <a:latin typeface="Times New Roman" panose="02020603050405020304" pitchFamily="18" charset="0"/>
              </a:rPr>
              <a:t>消息的完整性和原创性（不能多次发送）</a:t>
            </a:r>
            <a:endParaRPr lang="en-AU" altLang="zh-CN" sz="2400" b="1" dirty="0">
              <a:latin typeface="Times New Roman" panose="02020603050405020304" pitchFamily="18" charset="0"/>
            </a:endParaRPr>
          </a:p>
          <a:p>
            <a:pPr algn="l">
              <a:lnSpc>
                <a:spcPct val="120000"/>
              </a:lnSpc>
              <a:buClrTx/>
              <a:buSzPct val="80000"/>
              <a:buFont typeface="Wingdings" panose="05000000000000000000" pitchFamily="2" charset="2"/>
              <a:buChar char="Ø"/>
            </a:pPr>
            <a:r>
              <a:rPr lang="en-AU" altLang="zh-CN" sz="2600" b="1" dirty="0">
                <a:latin typeface="Times New Roman" panose="02020603050405020304" pitchFamily="18" charset="0"/>
              </a:rPr>
              <a:t>消息必须含有时间戳，临时交互号和B的标识，并由A签名</a:t>
            </a:r>
            <a:endParaRPr lang="en-AU" altLang="zh-CN" sz="2600" b="1" dirty="0">
              <a:latin typeface="Times New Roman" panose="02020603050405020304" pitchFamily="18" charset="0"/>
            </a:endParaRPr>
          </a:p>
          <a:p>
            <a:pPr algn="l">
              <a:lnSpc>
                <a:spcPct val="120000"/>
              </a:lnSpc>
              <a:buClrTx/>
              <a:buSzPct val="80000"/>
              <a:buFont typeface="Wingdings" panose="05000000000000000000" pitchFamily="2" charset="2"/>
              <a:buChar char="Ø"/>
            </a:pPr>
            <a:r>
              <a:rPr lang="en-AU" altLang="zh-CN" sz="2600" b="1" dirty="0">
                <a:latin typeface="Times New Roman" panose="02020603050405020304" pitchFamily="18" charset="0"/>
              </a:rPr>
              <a:t>也可以包含B所需要的其它信息</a:t>
            </a:r>
            <a:endParaRPr lang="en-AU" altLang="zh-CN" sz="2600" b="1" dirty="0">
              <a:latin typeface="Times New Roman" panose="02020603050405020304" pitchFamily="18" charset="0"/>
            </a:endParaRPr>
          </a:p>
          <a:p>
            <a:pPr lvl="1">
              <a:lnSpc>
                <a:spcPct val="120000"/>
              </a:lnSpc>
              <a:buSzPct val="80000"/>
            </a:pPr>
            <a:r>
              <a:rPr lang="zh-CN" altLang="en-AU" sz="2400" b="1" dirty="0">
                <a:latin typeface="Times New Roman" panose="02020603050405020304" pitchFamily="18" charset="0"/>
              </a:rPr>
              <a:t>例如，会话密钥</a:t>
            </a:r>
            <a:r>
              <a:rPr lang="en-AU" altLang="zh-CN" b="1" dirty="0">
                <a:latin typeface="Times New Roman" panose="02020603050405020304" pitchFamily="18" charset="0"/>
              </a:rPr>
              <a:t> </a:t>
            </a:r>
            <a:endParaRPr lang="en-AU" altLang="zh-CN" b="1" dirty="0">
              <a:latin typeface="Times New Roman" panose="02020603050405020304" pitchFamily="18"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单向认证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2229" name="Picture 4"/>
          <p:cNvPicPr>
            <a:picLocks noChangeAspect="1"/>
          </p:cNvPicPr>
          <p:nvPr/>
        </p:nvPicPr>
        <p:blipFill>
          <a:blip r:embed="rId2"/>
          <a:stretch>
            <a:fillRect/>
          </a:stretch>
        </p:blipFill>
        <p:spPr>
          <a:xfrm>
            <a:off x="2231390" y="1578928"/>
            <a:ext cx="7729538" cy="3022600"/>
          </a:xfrm>
          <a:prstGeom prst="rect">
            <a:avLst/>
          </a:prstGeom>
          <a:noFill/>
          <a:ln w="9525">
            <a:noFill/>
          </a:ln>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双向认证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254" name="Rectangle 3"/>
          <p:cNvSpPr/>
          <p:nvPr>
            <p:ph idx="1"/>
          </p:nvPr>
        </p:nvSpPr>
        <p:spPr>
          <a:xfrm>
            <a:off x="1465580" y="1196975"/>
            <a:ext cx="9037320" cy="45307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2 消息如上建立外 (A-&gt;B, B-&gt;A)，还需:</a:t>
            </a:r>
            <a:endParaRPr lang="en-AU" altLang="zh-CN" sz="2600" b="1" dirty="0">
              <a:latin typeface="Times New Roman" panose="02020603050405020304" pitchFamily="18" charset="0"/>
            </a:endParaRPr>
          </a:p>
          <a:p>
            <a:pPr lvl="1" algn="just">
              <a:lnSpc>
                <a:spcPct val="110000"/>
              </a:lnSpc>
              <a:buSzPct val="80000"/>
            </a:pPr>
            <a:r>
              <a:rPr lang="en-AU" altLang="zh-CN" sz="2400" b="1" dirty="0">
                <a:latin typeface="Times New Roman" panose="02020603050405020304" pitchFamily="18" charset="0"/>
              </a:rPr>
              <a:t>B</a:t>
            </a:r>
            <a:r>
              <a:rPr lang="zh-CN" altLang="en-AU" sz="2400" b="1" dirty="0">
                <a:latin typeface="Times New Roman" panose="02020603050405020304" pitchFamily="18" charset="0"/>
              </a:rPr>
              <a:t>的标识和</a:t>
            </a:r>
            <a:r>
              <a:rPr lang="en-AU" altLang="zh-CN" sz="2400" b="1" dirty="0">
                <a:latin typeface="Times New Roman" panose="02020603050405020304" pitchFamily="18" charset="0"/>
              </a:rPr>
              <a:t>B</a:t>
            </a:r>
            <a:r>
              <a:rPr lang="zh-CN" altLang="en-AU" sz="2400" b="1" dirty="0">
                <a:latin typeface="Times New Roman" panose="02020603050405020304" pitchFamily="18" charset="0"/>
              </a:rPr>
              <a:t>生成的应答消息</a:t>
            </a:r>
            <a:endParaRPr lang="en-AU" altLang="zh-CN" sz="2400" b="1" dirty="0">
              <a:latin typeface="Times New Roman" panose="02020603050405020304" pitchFamily="18" charset="0"/>
            </a:endParaRPr>
          </a:p>
          <a:p>
            <a:pPr lvl="1" algn="just">
              <a:lnSpc>
                <a:spcPct val="110000"/>
              </a:lnSpc>
              <a:buSzPct val="80000"/>
            </a:pPr>
            <a:r>
              <a:rPr lang="en-AU" altLang="zh-CN" sz="2400" b="1" dirty="0">
                <a:latin typeface="Times New Roman" panose="02020603050405020304" pitchFamily="18" charset="0"/>
              </a:rPr>
              <a:t>A</a:t>
            </a:r>
            <a:r>
              <a:rPr lang="zh-CN" altLang="en-AU" sz="2400" b="1" dirty="0">
                <a:latin typeface="Times New Roman" panose="02020603050405020304" pitchFamily="18" charset="0"/>
              </a:rPr>
              <a:t>需要的消息</a:t>
            </a:r>
            <a:endParaRPr lang="en-AU" altLang="zh-CN" sz="2400" b="1" dirty="0">
              <a:latin typeface="Times New Roman" panose="02020603050405020304" pitchFamily="18" charset="0"/>
            </a:endParaRPr>
          </a:p>
          <a:p>
            <a:pPr lvl="1" algn="just">
              <a:lnSpc>
                <a:spcPct val="110000"/>
              </a:lnSpc>
              <a:buSzPct val="80000"/>
            </a:pPr>
            <a:r>
              <a:rPr lang="zh-CN" altLang="en-AU" sz="2400" b="1" dirty="0">
                <a:latin typeface="Times New Roman" panose="02020603050405020304" pitchFamily="18" charset="0"/>
              </a:rPr>
              <a:t>应答的完成性和真实性</a:t>
            </a:r>
            <a:r>
              <a:rPr lang="en-AU" altLang="zh-CN" sz="2400" b="1" dirty="0">
                <a:latin typeface="Times New Roman" panose="02020603050405020304" pitchFamily="18" charset="0"/>
              </a:rPr>
              <a:t> </a:t>
            </a:r>
            <a:endParaRPr lang="en-AU" altLang="zh-CN" sz="24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应答包括从A产生的临时交互号，也有由B产生的时戳和临时交互号</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还可以包括其它A需要的附加信息</a:t>
            </a:r>
            <a:endParaRPr lang="en-AU" altLang="zh-CN" sz="2600" b="1" dirty="0">
              <a:latin typeface="Times New Roman" panose="02020603050405020304" pitchFamily="18" charset="0"/>
            </a:endParaRPr>
          </a:p>
          <a:p>
            <a:pPr algn="just">
              <a:lnSpc>
                <a:spcPct val="110000"/>
              </a:lnSpc>
              <a:buSzPct val="80000"/>
            </a:pPr>
            <a:endParaRPr lang="en-AU" altLang="zh-CN" b="1" dirty="0">
              <a:latin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双向认证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4277" name="Picture 4"/>
          <p:cNvPicPr>
            <a:picLocks noChangeAspect="1"/>
          </p:cNvPicPr>
          <p:nvPr/>
        </p:nvPicPr>
        <p:blipFill>
          <a:blip r:embed="rId2"/>
          <a:stretch>
            <a:fillRect/>
          </a:stretch>
        </p:blipFill>
        <p:spPr>
          <a:xfrm>
            <a:off x="1863725" y="1196658"/>
            <a:ext cx="8639175" cy="3543300"/>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三向认证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302" name="Rectangle 3"/>
          <p:cNvSpPr/>
          <p:nvPr>
            <p:ph idx="1"/>
          </p:nvPr>
        </p:nvSpPr>
        <p:spPr>
          <a:xfrm>
            <a:off x="1465580" y="1313180"/>
            <a:ext cx="9036685" cy="36290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3 在没有同步时钟情况下，消息 (A-&gt;B, B-&gt;A, A-&gt;B) 可以完成认证</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从A回到B的相应包含B产生的临时交互号</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时戳不必检查了</a:t>
            </a:r>
            <a:endParaRPr lang="en-AU" altLang="zh-CN" sz="2600" b="1" dirty="0">
              <a:latin typeface="Times New Roman" panose="02020603050405020304" pitchFamily="18"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三向认证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6325" name="Picture 4"/>
          <p:cNvPicPr>
            <a:picLocks noChangeAspect="1"/>
          </p:cNvPicPr>
          <p:nvPr/>
        </p:nvPicPr>
        <p:blipFill>
          <a:blip r:embed="rId2"/>
          <a:stretch>
            <a:fillRect/>
          </a:stretch>
        </p:blipFill>
        <p:spPr>
          <a:xfrm>
            <a:off x="1851025" y="1153478"/>
            <a:ext cx="8489950" cy="3783012"/>
          </a:xfrm>
          <a:prstGeom prst="rect">
            <a:avLst/>
          </a:prstGeom>
          <a:noFill/>
          <a:ln w="9525">
            <a:noFill/>
          </a:ln>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X.509 Version 3</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350" name="Rectangle 3"/>
          <p:cNvSpPr/>
          <p:nvPr>
            <p:ph idx="1"/>
          </p:nvPr>
        </p:nvSpPr>
        <p:spPr>
          <a:xfrm>
            <a:off x="1465580" y="1196975"/>
            <a:ext cx="9037955" cy="45307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已经认识到证书中附加信息的重要性</a:t>
            </a:r>
            <a:endParaRPr lang="en-AU" altLang="zh-CN" sz="2600" b="1" dirty="0">
              <a:latin typeface="Times New Roman" panose="02020603050405020304" pitchFamily="18" charset="0"/>
            </a:endParaRPr>
          </a:p>
          <a:p>
            <a:pPr lvl="1" algn="just">
              <a:lnSpc>
                <a:spcPct val="110000"/>
              </a:lnSpc>
              <a:buSzPct val="80000"/>
            </a:pPr>
            <a:r>
              <a:rPr lang="en-AU" altLang="zh-CN" b="1" dirty="0">
                <a:latin typeface="Times New Roman" panose="02020603050405020304" pitchFamily="18" charset="0"/>
              </a:rPr>
              <a:t>email/URL, </a:t>
            </a:r>
            <a:r>
              <a:rPr lang="zh-CN" altLang="en-AU" b="1" dirty="0">
                <a:latin typeface="Times New Roman" panose="02020603050405020304" pitchFamily="18" charset="0"/>
              </a:rPr>
              <a:t>策略细节</a:t>
            </a:r>
            <a:r>
              <a:rPr lang="en-AU" altLang="zh-CN" b="1" dirty="0">
                <a:latin typeface="Times New Roman" panose="02020603050405020304" pitchFamily="18" charset="0"/>
              </a:rPr>
              <a:t>, </a:t>
            </a:r>
            <a:r>
              <a:rPr lang="zh-CN" altLang="en-AU" b="1" dirty="0">
                <a:latin typeface="Times New Roman" panose="02020603050405020304" pitchFamily="18" charset="0"/>
              </a:rPr>
              <a:t>使用限制</a:t>
            </a:r>
            <a:endParaRPr lang="en-AU" altLang="zh-CN"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增加了一些可选的扩展项</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证书每一个扩展项都包括:</a:t>
            </a:r>
            <a:endParaRPr lang="en-AU" altLang="zh-CN" sz="2600" b="1" dirty="0">
              <a:latin typeface="Times New Roman" panose="02020603050405020304" pitchFamily="18" charset="0"/>
            </a:endParaRPr>
          </a:p>
          <a:p>
            <a:pPr lvl="1" algn="just">
              <a:lnSpc>
                <a:spcPct val="110000"/>
              </a:lnSpc>
              <a:buSzPct val="80000"/>
            </a:pPr>
            <a:r>
              <a:rPr lang="zh-CN" altLang="en-US" b="1" dirty="0">
                <a:latin typeface="Times New Roman" panose="02020603050405020304" pitchFamily="18" charset="0"/>
              </a:rPr>
              <a:t>扩展标识</a:t>
            </a:r>
            <a:endParaRPr lang="en-US" altLang="zh-CN" b="1" dirty="0">
              <a:latin typeface="Times New Roman" panose="02020603050405020304" pitchFamily="18" charset="0"/>
            </a:endParaRPr>
          </a:p>
          <a:p>
            <a:pPr lvl="1" algn="just">
              <a:lnSpc>
                <a:spcPct val="110000"/>
              </a:lnSpc>
              <a:buSzPct val="80000"/>
            </a:pPr>
            <a:r>
              <a:rPr lang="zh-CN" altLang="en-US" b="1" dirty="0">
                <a:latin typeface="Times New Roman" panose="02020603050405020304" pitchFamily="18" charset="0"/>
              </a:rPr>
              <a:t>危险指示（</a:t>
            </a:r>
            <a:r>
              <a:rPr lang="en-US" altLang="zh-CN" b="1" dirty="0">
                <a:latin typeface="Times New Roman" panose="02020603050405020304" pitchFamily="18" charset="0"/>
              </a:rPr>
              <a:t>T/F</a:t>
            </a:r>
            <a:r>
              <a:rPr lang="zh-CN" altLang="en-US" b="1" dirty="0">
                <a:latin typeface="Times New Roman" panose="02020603050405020304" pitchFamily="18" charset="0"/>
              </a:rPr>
              <a:t>）</a:t>
            </a:r>
            <a:endParaRPr lang="zh-CN" altLang="en-US" b="1" dirty="0">
              <a:latin typeface="Times New Roman" panose="02020603050405020304" pitchFamily="18" charset="0"/>
            </a:endParaRPr>
          </a:p>
          <a:p>
            <a:pPr lvl="1" algn="just">
              <a:lnSpc>
                <a:spcPct val="110000"/>
              </a:lnSpc>
              <a:buSzPct val="80000"/>
            </a:pPr>
            <a:r>
              <a:rPr lang="zh-CN" altLang="en-US" b="1" dirty="0">
                <a:latin typeface="Times New Roman" panose="02020603050405020304" pitchFamily="18" charset="0"/>
              </a:rPr>
              <a:t>扩展值</a:t>
            </a:r>
            <a:endParaRPr lang="en-AU" altLang="zh-CN" b="1" dirty="0">
              <a:latin typeface="Times New Roman" panose="02020603050405020304" pitchFamily="18"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15.4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证书扩展项</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374" name="Rectangle 3"/>
          <p:cNvSpPr/>
          <p:nvPr>
            <p:ph idx="1"/>
          </p:nvPr>
        </p:nvSpPr>
        <p:spPr>
          <a:xfrm>
            <a:off x="1555115" y="1130300"/>
            <a:ext cx="8947785" cy="453072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密钥和策略信息</a:t>
            </a:r>
            <a:endParaRPr lang="en-AU" altLang="zh-CN" sz="2600" b="1" dirty="0">
              <a:latin typeface="Times New Roman" panose="02020603050405020304" pitchFamily="18" charset="0"/>
            </a:endParaRPr>
          </a:p>
          <a:p>
            <a:pPr lvl="1">
              <a:lnSpc>
                <a:spcPct val="110000"/>
              </a:lnSpc>
              <a:buSzPct val="80000"/>
            </a:pPr>
            <a:r>
              <a:rPr lang="zh-CN" altLang="en-US" b="1" dirty="0"/>
              <a:t>传达证书主体和发行商密钥相关的附加信息，以及证书策略的指示信息，如密钥用途</a:t>
            </a:r>
            <a:endParaRPr lang="zh-CN" altLang="en-US" b="1" dirty="0"/>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证书主体和发行商属性</a:t>
            </a:r>
            <a:endParaRPr lang="en-AU" altLang="zh-CN" sz="2600" b="1" dirty="0">
              <a:latin typeface="Times New Roman" panose="02020603050405020304" pitchFamily="18" charset="0"/>
            </a:endParaRPr>
          </a:p>
          <a:p>
            <a:pPr lvl="1">
              <a:lnSpc>
                <a:spcPct val="110000"/>
              </a:lnSpc>
              <a:buSzPct val="80000"/>
            </a:pPr>
            <a:r>
              <a:rPr lang="zh-CN" altLang="en-US" b="1" dirty="0"/>
              <a:t>支持可变的名字，以可变的形式表示证书主体或发行商的某些属性，如公司位置，图片等。</a:t>
            </a:r>
            <a:endParaRPr lang="en-US" altLang="zh-CN" b="1" dirty="0"/>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证书路径约束</a:t>
            </a:r>
            <a:endParaRPr lang="en-AU" altLang="zh-CN" sz="2600" b="1" dirty="0">
              <a:latin typeface="Times New Roman" panose="02020603050405020304" pitchFamily="18" charset="0"/>
            </a:endParaRPr>
          </a:p>
          <a:p>
            <a:pPr lvl="1">
              <a:lnSpc>
                <a:spcPct val="110000"/>
              </a:lnSpc>
              <a:buSzPct val="80000"/>
            </a:pPr>
            <a:r>
              <a:rPr lang="zh-CN" altLang="en-US" b="1" dirty="0"/>
              <a:t>允许限制由其它</a:t>
            </a:r>
            <a:r>
              <a:rPr lang="en-US" altLang="zh-CN" b="1" dirty="0"/>
              <a:t>CA</a:t>
            </a:r>
            <a:r>
              <a:rPr lang="zh-CN" altLang="en-US" b="1" dirty="0"/>
              <a:t>发行的证书的使用</a:t>
            </a:r>
            <a:endParaRPr lang="en-AU" altLang="zh-CN" b="1"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15.5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公钥基础设施</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398" name="Rectangle 3"/>
          <p:cNvSpPr/>
          <p:nvPr>
            <p:ph idx="1"/>
          </p:nvPr>
        </p:nvSpPr>
        <p:spPr>
          <a:xfrm>
            <a:off x="1465580" y="1196975"/>
            <a:ext cx="9037320" cy="3672205"/>
          </a:xfrm>
        </p:spPr>
        <p:txBody>
          <a:bodyPr vert="horz" wrap="square" lIns="91440" tIns="45720" rIns="91440" bIns="45720" anchor="t" anchorCtr="0"/>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PKI系统是有硬件、软件、人、策略和程序构成的一整套体系（RFC 2822） </a:t>
            </a:r>
            <a:endParaRPr lang="en-AU" altLang="zh-CN" sz="2600" b="1" dirty="0">
              <a:latin typeface="Times New Roman" panose="02020603050405020304" pitchFamily="18" charset="0"/>
            </a:endParaRPr>
          </a:p>
          <a:p>
            <a:pPr algn="l">
              <a:lnSpc>
                <a:spcPct val="110000"/>
              </a:lnSpc>
              <a:buClrTx/>
              <a:buSzPct val="80000"/>
              <a:buFont typeface="Wingdings" panose="05000000000000000000" pitchFamily="2" charset="2"/>
              <a:buChar char="Ø"/>
            </a:pPr>
            <a:r>
              <a:rPr lang="en-AU" altLang="zh-CN" sz="2600" b="1" dirty="0">
                <a:latin typeface="Times New Roman" panose="02020603050405020304" pitchFamily="18" charset="0"/>
              </a:rPr>
              <a:t> IETF的PKIX工作组在X.509的基础上，建立一个可以构建网络认证的基本模型。</a:t>
            </a:r>
            <a:endParaRPr lang="en-AU" altLang="zh-CN" sz="2600" b="1" dirty="0">
              <a:latin typeface="Times New Roman" panose="02020603050405020304" pitchFamily="18" charset="0"/>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15.5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公钥基础设施</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0422" name="Picture 3"/>
          <p:cNvPicPr>
            <a:picLocks noChangeAspect="1"/>
          </p:cNvPicPr>
          <p:nvPr/>
        </p:nvPicPr>
        <p:blipFill>
          <a:blip r:embed="rId2"/>
          <a:srcRect t="25056" b="25056"/>
          <a:stretch>
            <a:fillRect/>
          </a:stretch>
        </p:blipFill>
        <p:spPr>
          <a:xfrm>
            <a:off x="2123758" y="1091565"/>
            <a:ext cx="7920037" cy="5111750"/>
          </a:xfrm>
          <a:prstGeom prst="rect">
            <a:avLst/>
          </a:prstGeom>
          <a:noFill/>
          <a:ln w="9525">
            <a:noFill/>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15.5 Public Key Infrastructure PKI</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Rectangle 3"/>
          <p:cNvSpPr txBox="1"/>
          <p:nvPr/>
        </p:nvSpPr>
        <p:spPr bwMode="auto">
          <a:xfrm>
            <a:off x="1465263" y="1132205"/>
            <a:ext cx="6610350" cy="4824413"/>
          </a:xfrm>
          <a:prstGeom prst="rect">
            <a:avLst/>
          </a:prstGeom>
          <a:noFill/>
          <a:ln w="9525">
            <a:noFill/>
            <a:miter lim="800000"/>
          </a:ln>
        </p:spPr>
        <p:txBody>
          <a:bodyPr/>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端实体</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签证机构</a:t>
            </a:r>
            <a:r>
              <a:rPr kumimoji="0" lang="en-US" altLang="zh-CN" sz="2600" b="1" kern="0" cap="none" spc="0" normalizeH="0" baseline="0" noProof="0" dirty="0">
                <a:latin typeface="Times New Roman" panose="02020603050405020304" pitchFamily="18" charset="0"/>
                <a:ea typeface="+mn-ea"/>
                <a:cs typeface="+mn-cs"/>
              </a:rPr>
              <a:t>CA</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注册机构</a:t>
            </a:r>
            <a:r>
              <a:rPr kumimoji="0" lang="en-US" altLang="zh-CN" sz="2600" b="1" kern="0" cap="none" spc="0" normalizeH="0" baseline="0" noProof="0" dirty="0">
                <a:latin typeface="Times New Roman" panose="02020603050405020304" pitchFamily="18" charset="0"/>
                <a:ea typeface="+mn-ea"/>
                <a:cs typeface="+mn-cs"/>
              </a:rPr>
              <a:t>RA</a:t>
            </a:r>
            <a:r>
              <a:rPr kumimoji="0" lang="en-AU" altLang="zh-CN" sz="2600" b="1" kern="0" cap="none" spc="0" normalizeH="0" baseline="0" noProof="0" dirty="0">
                <a:latin typeface="Times New Roman" panose="02020603050405020304" pitchFamily="18" charset="0"/>
                <a:ea typeface="+mn-ea"/>
                <a:cs typeface="+mn-cs"/>
              </a:rPr>
              <a:t> </a:t>
            </a:r>
            <a:endParaRPr kumimoji="0" lang="en-AU"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证书撤销列表发布</a:t>
            </a:r>
            <a:r>
              <a:rPr kumimoji="0" lang="en-US" altLang="zh-CN" sz="2600" b="1" kern="0" cap="none" spc="0" normalizeH="0" baseline="0" noProof="0" dirty="0">
                <a:latin typeface="Times New Roman" panose="02020603050405020304" pitchFamily="18" charset="0"/>
                <a:ea typeface="+mn-ea"/>
                <a:cs typeface="+mn-cs"/>
              </a:rPr>
              <a:t>CRL</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证书存储库</a:t>
            </a:r>
            <a:r>
              <a:rPr kumimoji="0" lang="en-US" altLang="zh-CN" sz="2600" b="1" kern="0" cap="none" spc="0" normalizeH="0" baseline="0" noProof="0" dirty="0">
                <a:latin typeface="Times New Roman" panose="02020603050405020304" pitchFamily="18" charset="0"/>
                <a:ea typeface="+mn-ea"/>
                <a:cs typeface="+mn-cs"/>
              </a:rPr>
              <a:t> </a:t>
            </a:r>
            <a:endParaRPr kumimoji="0" lang="en-AU" altLang="zh-CN" sz="2600" b="1" kern="0" cap="none" spc="0" normalizeH="0" baseline="0" noProof="0" dirty="0">
              <a:latin typeface="Times New Roman" panose="02020603050405020304" pitchFamily="18" charset="0"/>
              <a:ea typeface="+mn-ea"/>
              <a:cs typeface="+mn-cs"/>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15.5 PKIX</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管理任务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Rectangle 3"/>
          <p:cNvSpPr txBox="1"/>
          <p:nvPr/>
        </p:nvSpPr>
        <p:spPr bwMode="auto">
          <a:xfrm>
            <a:off x="1465263" y="1196975"/>
            <a:ext cx="6610350" cy="4824413"/>
          </a:xfrm>
          <a:prstGeom prst="rect">
            <a:avLst/>
          </a:prstGeom>
          <a:noFill/>
          <a:ln w="9525">
            <a:noFill/>
            <a:miter lim="800000"/>
          </a:ln>
        </p:spPr>
        <p:txBody>
          <a:bodyPr/>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用户注册</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初始化</a:t>
            </a:r>
            <a:endParaRPr kumimoji="0" lang="en-AU"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认证</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en-US" altLang="zh-CN" sz="2600" b="1" kern="0" cap="none" spc="0" normalizeH="0" baseline="0" noProof="0" dirty="0">
                <a:latin typeface="Times New Roman" panose="02020603050405020304" pitchFamily="18" charset="0"/>
                <a:ea typeface="+mn-ea"/>
                <a:cs typeface="+mn-cs"/>
              </a:rPr>
              <a:t> </a:t>
            </a:r>
            <a:r>
              <a:rPr kumimoji="0" lang="zh-CN" altLang="en-US" sz="2600" b="1" kern="0" cap="none" spc="0" normalizeH="0" baseline="0" noProof="0" dirty="0">
                <a:latin typeface="Times New Roman" panose="02020603050405020304" pitchFamily="18" charset="0"/>
                <a:ea typeface="+mn-ea"/>
                <a:cs typeface="+mn-cs"/>
              </a:rPr>
              <a:t>密钥对的恢复</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en-US" altLang="zh-CN" sz="2600" b="1" kern="0" cap="none" spc="0" normalizeH="0" baseline="0" noProof="0" dirty="0">
                <a:latin typeface="Times New Roman" panose="02020603050405020304" pitchFamily="18" charset="0"/>
                <a:ea typeface="+mn-ea"/>
                <a:cs typeface="+mn-cs"/>
              </a:rPr>
              <a:t> </a:t>
            </a:r>
            <a:r>
              <a:rPr kumimoji="0" lang="zh-CN" altLang="en-US" sz="2600" b="1" kern="0" cap="none" spc="0" normalizeH="0" baseline="0" noProof="0" dirty="0">
                <a:latin typeface="Times New Roman" panose="02020603050405020304" pitchFamily="18" charset="0"/>
                <a:ea typeface="+mn-ea"/>
                <a:cs typeface="+mn-cs"/>
              </a:rPr>
              <a:t>密钥对更新</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zh-CN" altLang="en-US" sz="2600" b="1" kern="0" cap="none" spc="0" normalizeH="0" baseline="0" noProof="0" dirty="0">
                <a:latin typeface="Times New Roman" panose="02020603050405020304" pitchFamily="18" charset="0"/>
                <a:ea typeface="+mn-ea"/>
                <a:cs typeface="+mn-cs"/>
              </a:rPr>
              <a:t>证书撤销请求</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en-US" altLang="zh-CN" sz="2600" b="1" kern="0" cap="none" spc="0" normalizeH="0" baseline="0" noProof="0" dirty="0">
                <a:latin typeface="Times New Roman" panose="02020603050405020304" pitchFamily="18" charset="0"/>
                <a:ea typeface="+mn-ea"/>
                <a:cs typeface="+mn-cs"/>
              </a:rPr>
              <a:t> </a:t>
            </a:r>
            <a:r>
              <a:rPr kumimoji="0" lang="zh-CN" altLang="en-US" sz="2600" b="1" kern="0" cap="none" spc="0" normalizeH="0" baseline="0" noProof="0" dirty="0">
                <a:latin typeface="Times New Roman" panose="02020603050405020304" pitchFamily="18" charset="0"/>
                <a:ea typeface="+mn-ea"/>
                <a:cs typeface="+mn-cs"/>
              </a:rPr>
              <a:t>交叉认证</a:t>
            </a:r>
            <a:endParaRPr kumimoji="0" lang="en-AU" altLang="zh-CN" sz="2600" b="1" kern="0" cap="none" spc="0" normalizeH="0" baseline="0" noProof="0" dirty="0">
              <a:latin typeface="Times New Roman" panose="02020603050405020304" pitchFamily="18" charset="0"/>
              <a:ea typeface="+mn-ea"/>
              <a:cs typeface="+mn-cs"/>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15.5 PKIX</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管理任务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Rectangle 3"/>
          <p:cNvSpPr txBox="1"/>
          <p:nvPr/>
        </p:nvSpPr>
        <p:spPr bwMode="auto">
          <a:xfrm>
            <a:off x="1517968" y="1412875"/>
            <a:ext cx="6610350" cy="2016125"/>
          </a:xfrm>
          <a:prstGeom prst="rect">
            <a:avLst/>
          </a:prstGeom>
          <a:noFill/>
          <a:ln w="9525">
            <a:noFill/>
            <a:miter lim="800000"/>
          </a:ln>
        </p:spPr>
        <p:txBody>
          <a:bodyPr/>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en-AU" altLang="zh-CN" sz="2600" b="1" kern="0" cap="none" spc="0" normalizeH="0" baseline="0" noProof="0" dirty="0">
                <a:latin typeface="Times New Roman" panose="02020603050405020304" pitchFamily="18" charset="0"/>
                <a:ea typeface="+mn-ea"/>
                <a:cs typeface="+mn-cs"/>
              </a:rPr>
              <a:t> </a:t>
            </a:r>
            <a:r>
              <a:rPr kumimoji="0" lang="en-US" altLang="zh-CN" sz="2600" b="1" kern="0" cap="none" spc="0" normalizeH="0" baseline="0" noProof="0" dirty="0">
                <a:latin typeface="Times New Roman" panose="02020603050405020304" pitchFamily="18" charset="0"/>
                <a:ea typeface="+mn-ea"/>
                <a:cs typeface="+mn-cs"/>
              </a:rPr>
              <a:t>RFC 2510</a:t>
            </a:r>
            <a:r>
              <a:rPr kumimoji="0" lang="zh-CN" altLang="en-US" sz="2600" b="1" kern="0" cap="none" spc="0" normalizeH="0" baseline="0" noProof="0" dirty="0">
                <a:latin typeface="Times New Roman" panose="02020603050405020304" pitchFamily="18" charset="0"/>
                <a:ea typeface="+mn-ea"/>
                <a:cs typeface="+mn-cs"/>
              </a:rPr>
              <a:t>  证书管理协议</a:t>
            </a:r>
            <a:r>
              <a:rPr kumimoji="0" lang="en-US" altLang="zh-CN" sz="2600" b="1" kern="0" cap="none" spc="0" normalizeH="0" baseline="0" noProof="0" dirty="0">
                <a:latin typeface="Times New Roman" panose="02020603050405020304" pitchFamily="18" charset="0"/>
                <a:ea typeface="+mn-ea"/>
                <a:cs typeface="+mn-cs"/>
              </a:rPr>
              <a:t>CMP</a:t>
            </a:r>
            <a:endParaRPr kumimoji="0" lang="en-US" altLang="zh-CN" sz="2600" b="1" kern="0" cap="none" spc="0" normalizeH="0" baseline="0" noProof="0" dirty="0">
              <a:latin typeface="Times New Roman" panose="02020603050405020304" pitchFamily="18" charset="0"/>
              <a:ea typeface="+mn-ea"/>
              <a:cs typeface="+mn-cs"/>
            </a:endParaRPr>
          </a:p>
          <a:p>
            <a:pPr marL="342900" marR="0" indent="-342900" defTabSz="914400" eaLnBrk="0" hangingPunct="0">
              <a:lnSpc>
                <a:spcPct val="110000"/>
              </a:lnSpc>
              <a:spcBef>
                <a:spcPct val="20000"/>
              </a:spcBef>
              <a:buClr>
                <a:schemeClr val="accent1"/>
              </a:buClr>
              <a:buSzPct val="80000"/>
              <a:buFont typeface="Wingdings" panose="05000000000000000000" pitchFamily="2" charset="2"/>
              <a:buChar char="n"/>
              <a:defRPr/>
            </a:pPr>
            <a:r>
              <a:rPr kumimoji="0" lang="en-US" altLang="zh-CN" sz="2600" b="1" kern="0" cap="none" spc="0" normalizeH="0" baseline="0" noProof="0" dirty="0">
                <a:latin typeface="Times New Roman" panose="02020603050405020304" pitchFamily="18" charset="0"/>
                <a:ea typeface="+mn-ea"/>
                <a:cs typeface="+mn-cs"/>
              </a:rPr>
              <a:t> RFC 2797  </a:t>
            </a:r>
            <a:r>
              <a:rPr kumimoji="0" lang="zh-CN" altLang="en-US" sz="2600" b="1" kern="0" cap="none" spc="0" normalizeH="0" baseline="0" noProof="0" dirty="0">
                <a:latin typeface="Times New Roman" panose="02020603050405020304" pitchFamily="18" charset="0"/>
                <a:ea typeface="+mn-ea"/>
                <a:cs typeface="+mn-cs"/>
              </a:rPr>
              <a:t>认证消息封装 </a:t>
            </a:r>
            <a:r>
              <a:rPr kumimoji="0" lang="en-US" altLang="zh-CN" sz="2600" b="1" kern="0" cap="none" spc="0" normalizeH="0" baseline="0" noProof="0" dirty="0">
                <a:latin typeface="Times New Roman" panose="02020603050405020304" pitchFamily="18" charset="0"/>
                <a:ea typeface="+mn-ea"/>
                <a:cs typeface="+mn-cs"/>
              </a:rPr>
              <a:t>CMS</a:t>
            </a:r>
            <a:r>
              <a:rPr kumimoji="0" lang="zh-CN" altLang="en-US" sz="2600" b="1" kern="0" cap="none" spc="0" normalizeH="0" baseline="0" noProof="0" dirty="0">
                <a:latin typeface="Times New Roman" panose="02020603050405020304" pitchFamily="18" charset="0"/>
                <a:ea typeface="+mn-ea"/>
                <a:cs typeface="+mn-cs"/>
              </a:rPr>
              <a:t>（</a:t>
            </a:r>
            <a:r>
              <a:rPr kumimoji="0" lang="en-US" altLang="zh-CN" sz="2600" b="1" kern="0" cap="none" spc="0" normalizeH="0" baseline="0" noProof="0" dirty="0">
                <a:latin typeface="Times New Roman" panose="02020603050405020304" pitchFamily="18" charset="0"/>
                <a:ea typeface="+mn-ea"/>
                <a:cs typeface="+mn-cs"/>
              </a:rPr>
              <a:t>CMC</a:t>
            </a:r>
            <a:r>
              <a:rPr kumimoji="0" lang="zh-CN" altLang="en-US" sz="2600" b="1" kern="0" cap="none" spc="0" normalizeH="0" baseline="0" noProof="0" dirty="0">
                <a:latin typeface="Times New Roman" panose="02020603050405020304" pitchFamily="18" charset="0"/>
                <a:ea typeface="+mn-ea"/>
                <a:cs typeface="+mn-cs"/>
              </a:rPr>
              <a:t>）</a:t>
            </a:r>
            <a:endParaRPr kumimoji="0" lang="en-AU" altLang="zh-CN" sz="2600" b="1" kern="0" cap="none" spc="0" normalizeH="0" baseline="0" noProof="0" dirty="0">
              <a:latin typeface="Times New Roman" panose="02020603050405020304" pitchFamily="18" charset="0"/>
              <a:ea typeface="+mn-ea"/>
              <a:cs typeface="+mn-cs"/>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小结</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Rectangle 3"/>
          <p:cNvSpPr txBox="1"/>
          <p:nvPr/>
        </p:nvSpPr>
        <p:spPr bwMode="auto">
          <a:xfrm>
            <a:off x="1465580" y="1347470"/>
            <a:ext cx="6213475" cy="3268663"/>
          </a:xfrm>
          <a:prstGeom prst="rect">
            <a:avLst/>
          </a:prstGeom>
          <a:noFill/>
          <a:ln w="9525">
            <a:noFill/>
            <a:miter lim="800000"/>
          </a:ln>
        </p:spPr>
        <p:txBody>
          <a:bodyPr/>
          <a:p>
            <a:pPr marL="342900" marR="0" indent="-342900" defTabSz="914400">
              <a:lnSpc>
                <a:spcPct val="120000"/>
              </a:lnSpc>
              <a:spcBef>
                <a:spcPct val="20000"/>
              </a:spcBef>
              <a:buClr>
                <a:schemeClr val="accent1"/>
              </a:buClr>
              <a:buSzPct val="80000"/>
              <a:buFont typeface="Wingdings" panose="05000000000000000000" pitchFamily="2" charset="2"/>
              <a:buChar char="n"/>
              <a:defRPr/>
            </a:pPr>
            <a:r>
              <a:rPr kumimoji="0" lang="zh-CN" altLang="en-US" sz="3000" b="1" kern="0" cap="none" spc="0" normalizeH="0" baseline="0" noProof="0" dirty="0">
                <a:latin typeface="Times New Roman" panose="02020603050405020304" pitchFamily="18" charset="0"/>
                <a:ea typeface="+mn-ea"/>
                <a:cs typeface="Times New Roman" panose="02020603050405020304" pitchFamily="18" charset="0"/>
              </a:rPr>
              <a:t>对称加密的对称密钥分发</a:t>
            </a:r>
            <a:endPar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914400">
              <a:lnSpc>
                <a:spcPct val="120000"/>
              </a:lnSpc>
              <a:spcBef>
                <a:spcPct val="20000"/>
              </a:spcBef>
              <a:buClr>
                <a:schemeClr val="accent1"/>
              </a:buClr>
              <a:buSzPct val="80000"/>
              <a:buFont typeface="Wingdings" panose="05000000000000000000" pitchFamily="2" charset="2"/>
              <a:buChar char="n"/>
              <a:defRPr/>
            </a:pPr>
            <a:r>
              <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rPr>
              <a:t> </a:t>
            </a:r>
            <a:r>
              <a:rPr kumimoji="0" lang="zh-CN" altLang="en-US" sz="3000" b="1" kern="0" cap="none" spc="0" normalizeH="0" baseline="0" noProof="0" dirty="0">
                <a:latin typeface="Times New Roman" panose="02020603050405020304" pitchFamily="18" charset="0"/>
                <a:ea typeface="+mn-ea"/>
                <a:cs typeface="Times New Roman" panose="02020603050405020304" pitchFamily="18" charset="0"/>
              </a:rPr>
              <a:t>非对称加密的对称密钥分发</a:t>
            </a:r>
            <a:endPar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914400">
              <a:lnSpc>
                <a:spcPct val="120000"/>
              </a:lnSpc>
              <a:spcBef>
                <a:spcPct val="20000"/>
              </a:spcBef>
              <a:buClr>
                <a:schemeClr val="accent1"/>
              </a:buClr>
              <a:buSzPct val="80000"/>
              <a:buFont typeface="Wingdings" panose="05000000000000000000" pitchFamily="2" charset="2"/>
              <a:buChar char="n"/>
              <a:defRPr/>
            </a:pPr>
            <a:r>
              <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rPr>
              <a:t> </a:t>
            </a:r>
            <a:r>
              <a:rPr kumimoji="0" lang="zh-CN" altLang="en-US" sz="3000" b="1" kern="0" cap="none" spc="0" normalizeH="0" baseline="0" noProof="0" dirty="0">
                <a:latin typeface="Times New Roman" panose="02020603050405020304" pitchFamily="18" charset="0"/>
                <a:ea typeface="+mn-ea"/>
                <a:cs typeface="Times New Roman" panose="02020603050405020304" pitchFamily="18" charset="0"/>
              </a:rPr>
              <a:t>公钥分发</a:t>
            </a:r>
            <a:endPar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914400">
              <a:lnSpc>
                <a:spcPct val="120000"/>
              </a:lnSpc>
              <a:spcBef>
                <a:spcPct val="20000"/>
              </a:spcBef>
              <a:buClr>
                <a:schemeClr val="accent1"/>
              </a:buClr>
              <a:buSzPct val="80000"/>
              <a:buFont typeface="Wingdings" panose="05000000000000000000" pitchFamily="2" charset="2"/>
              <a:buChar char="n"/>
              <a:defRPr/>
            </a:pPr>
            <a:r>
              <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rPr>
              <a:t> X.509</a:t>
            </a:r>
            <a:r>
              <a:rPr kumimoji="0" lang="zh-CN" altLang="en-US" sz="3000" b="1" kern="0" cap="none" spc="0" normalizeH="0" baseline="0" noProof="0" dirty="0">
                <a:latin typeface="Times New Roman" panose="02020603050405020304" pitchFamily="18" charset="0"/>
                <a:ea typeface="+mn-ea"/>
                <a:cs typeface="Times New Roman" panose="02020603050405020304" pitchFamily="18" charset="0"/>
              </a:rPr>
              <a:t>认证服务</a:t>
            </a:r>
            <a:endPar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endParaRPr>
          </a:p>
          <a:p>
            <a:pPr marL="342900" marR="0" indent="-342900" defTabSz="914400">
              <a:lnSpc>
                <a:spcPct val="120000"/>
              </a:lnSpc>
              <a:spcBef>
                <a:spcPct val="20000"/>
              </a:spcBef>
              <a:buClr>
                <a:schemeClr val="accent1"/>
              </a:buClr>
              <a:buSzPct val="80000"/>
              <a:buFont typeface="Wingdings" panose="05000000000000000000" pitchFamily="2" charset="2"/>
              <a:buChar char="n"/>
              <a:defRPr/>
            </a:pPr>
            <a:r>
              <a:rPr kumimoji="0" lang="en-US" altLang="zh-CN" sz="3000" b="1" kern="0" cap="none" spc="0" normalizeH="0" baseline="0" noProof="0" dirty="0">
                <a:latin typeface="Times New Roman" panose="02020603050405020304" pitchFamily="18" charset="0"/>
                <a:ea typeface="+mn-ea"/>
                <a:cs typeface="Times New Roman" panose="02020603050405020304" pitchFamily="18" charset="0"/>
              </a:rPr>
              <a:t> </a:t>
            </a:r>
            <a:r>
              <a:rPr kumimoji="0" lang="zh-CN" altLang="en-US" sz="3000" b="1" kern="0" cap="none" spc="0" normalizeH="0" baseline="0" noProof="0" dirty="0">
                <a:latin typeface="Times New Roman" panose="02020603050405020304" pitchFamily="18" charset="0"/>
                <a:ea typeface="+mn-ea"/>
                <a:cs typeface="Times New Roman" panose="02020603050405020304" pitchFamily="18" charset="0"/>
              </a:rPr>
              <a:t>公钥基础设施</a:t>
            </a:r>
            <a:endParaRPr kumimoji="0" lang="zh-CN" altLang="en-AU" sz="3000" b="1" kern="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transition/>
</p:sld>
</file>

<file path=ppt/tags/tag1.xml><?xml version="1.0" encoding="utf-8"?>
<p:tagLst xmlns:p="http://schemas.openxmlformats.org/presentationml/2006/main">
  <p:tag name="commondata" val="eyJoZGlkIjoiZTcwZjg3OGM5MWVhNmI0ZmM4OGQ1YjQxNGU4NWYzMj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6089</Words>
  <Application>WPS 演示</Application>
  <PresentationFormat>宽屏</PresentationFormat>
  <Paragraphs>553</Paragraphs>
  <Slides>77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77</vt:i4>
      </vt:variant>
    </vt:vector>
  </HeadingPairs>
  <TitlesOfParts>
    <vt:vector size="86" baseType="lpstr">
      <vt:lpstr>Arial</vt:lpstr>
      <vt:lpstr>宋体</vt:lpstr>
      <vt:lpstr>Wingdings</vt:lpstr>
      <vt:lpstr>Calibri</vt:lpstr>
      <vt:lpstr>微软雅黑</vt:lpstr>
      <vt:lpstr>仿宋</vt:lpstr>
      <vt:lpstr>Arial Unicode MS</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55</cp:revision>
  <dcterms:created xsi:type="dcterms:W3CDTF">1900-01-01T00:00:00Z</dcterms:created>
  <dcterms:modified xsi:type="dcterms:W3CDTF">2025-05-12T14:18:20Z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2052-12.1.0.20784</vt:lpwstr>
  </property>
</Properties>
</file>