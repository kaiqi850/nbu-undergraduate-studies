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841" r:id="rId3"/>
    <p:sldId id="842" r:id="rId4"/>
    <p:sldId id="1091" r:id="rId6"/>
    <p:sldId id="1092" r:id="rId7"/>
    <p:sldId id="1093" r:id="rId8"/>
    <p:sldId id="1094" r:id="rId9"/>
    <p:sldId id="1095" r:id="rId10"/>
    <p:sldId id="1096" r:id="rId11"/>
    <p:sldId id="1097" r:id="rId12"/>
    <p:sldId id="1098" r:id="rId13"/>
  </p:sldIdLst>
  <p:sldSz cx="12192000" cy="6858000" type="screen4x3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9" userDrawn="1">
          <p15:clr>
            <a:srgbClr val="A4A3A4"/>
          </p15:clr>
        </p15:guide>
        <p15:guide id="2" pos="37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qx" initials="w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249"/>
        <p:guide pos="37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2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/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/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/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/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/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1. </a:t>
            </a:r>
            <a:r>
              <a:rPr lang="zh-CN" altLang="en-US"/>
              <a:t>第</a:t>
            </a:r>
            <a:r>
              <a:rPr lang="en-US" altLang="zh-CN"/>
              <a:t> 40 </a:t>
            </a:r>
            <a:r>
              <a:rPr lang="zh-CN" altLang="en-US"/>
              <a:t>位，第</a:t>
            </a:r>
            <a:r>
              <a:rPr lang="en-US" altLang="zh-CN"/>
              <a:t>39</a:t>
            </a:r>
            <a:r>
              <a:rPr lang="zh-CN" altLang="en-US"/>
              <a:t>位，第</a:t>
            </a:r>
            <a:r>
              <a:rPr lang="en-US" altLang="zh-CN"/>
              <a:t>38</a:t>
            </a:r>
            <a:r>
              <a:rPr lang="zh-CN" altLang="en-US"/>
              <a:t>位，第</a:t>
            </a:r>
            <a:r>
              <a:rPr lang="en-US" altLang="zh-CN"/>
              <a:t>59</a:t>
            </a:r>
            <a:r>
              <a:rPr lang="zh-CN" altLang="en-US"/>
              <a:t>位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第</a:t>
            </a:r>
            <a:r>
              <a:rPr lang="en-US" altLang="zh-CN"/>
              <a:t>1bit</a:t>
            </a:r>
            <a:r>
              <a:rPr lang="zh-CN" altLang="en-US"/>
              <a:t>扩展后位置位</a:t>
            </a:r>
            <a:r>
              <a:rPr lang="en-US" altLang="zh-CN"/>
              <a:t>41</a:t>
            </a:r>
            <a:r>
              <a:rPr lang="zh-CN" altLang="en-US"/>
              <a:t>位和</a:t>
            </a:r>
            <a:r>
              <a:rPr lang="en-US" altLang="zh-CN"/>
              <a:t>64</a:t>
            </a:r>
            <a:r>
              <a:rPr lang="zh-CN" altLang="en-US"/>
              <a:t>位</a:t>
            </a:r>
            <a:endParaRPr lang="zh-CN" altLang="en-US"/>
          </a:p>
          <a:p>
            <a:r>
              <a:rPr lang="zh-CN" altLang="en-US"/>
              <a:t>第</a:t>
            </a:r>
            <a:r>
              <a:rPr lang="en-US" altLang="zh-CN"/>
              <a:t>28bit</a:t>
            </a:r>
            <a:r>
              <a:rPr lang="zh-CN" altLang="en-US"/>
              <a:t>扩展后是</a:t>
            </a:r>
            <a:r>
              <a:rPr lang="en-US" altLang="zh-CN"/>
              <a:t>41</a:t>
            </a:r>
            <a:r>
              <a:rPr lang="zh-CN" altLang="en-US"/>
              <a:t>位和</a:t>
            </a:r>
            <a:r>
              <a:rPr lang="en-US" altLang="zh-CN"/>
              <a:t>43</a:t>
            </a:r>
            <a:r>
              <a:rPr lang="zh-CN" altLang="en-US"/>
              <a:t>位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行第</a:t>
            </a:r>
            <a:r>
              <a:rPr lang="en-US" altLang="zh-CN"/>
              <a:t>5</a:t>
            </a:r>
            <a:r>
              <a:rPr lang="zh-CN" altLang="en-US"/>
              <a:t>列：</a:t>
            </a:r>
            <a:r>
              <a:rPr lang="en-US" altLang="zh-CN"/>
              <a:t>9  1001</a:t>
            </a:r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b="1" kern="0" spc="10" dirty="0">
                <a:solidFill>
                  <a:srgbClr val="1F4E79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输入8a，输出7e，即7e=S（8a）</a:t>
            </a:r>
            <a:endParaRPr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b="1" kern="0" spc="10" dirty="0">
                <a:solidFill>
                  <a:srgbClr val="1F4E79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输入8a，输出7e，即7e=S（8a）</a:t>
            </a:r>
            <a:endParaRPr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b="1" kern="0" spc="10" dirty="0">
                <a:solidFill>
                  <a:srgbClr val="1F4E79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输入8a，输出7e，即7e=S（8a）</a:t>
            </a:r>
            <a:endParaRPr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/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/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/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/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/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/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/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/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/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/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/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/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/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/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/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/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/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/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/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/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/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/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/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/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/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/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/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/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/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/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/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/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/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/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/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/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B-1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548680"/>
            <a:ext cx="10478955" cy="648072"/>
          </a:xfrm>
        </p:spPr>
        <p:txBody>
          <a:bodyPr/>
          <a:lstStyle>
            <a:lvl1pPr algn="l">
              <a:defRPr sz="4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925144"/>
          </a:xfrm>
        </p:spPr>
        <p:txBody>
          <a:bodyPr/>
          <a:lstStyle>
            <a:lvl1pPr marL="342900" indent="-342900">
              <a:lnSpc>
                <a:spcPts val="3200"/>
              </a:lnSpc>
              <a:buClrTx/>
              <a:buSzPct val="85000"/>
              <a:buFont typeface="Wingdings" panose="05000000000000000000" pitchFamily="2" charset="2"/>
              <a:buChar char="p"/>
              <a:defRPr sz="2400"/>
            </a:lvl1pPr>
            <a:lvl2pPr marL="914400" indent="-457200">
              <a:lnSpc>
                <a:spcPts val="3200"/>
              </a:lnSpc>
              <a:buClrTx/>
              <a:buSzPct val="85000"/>
              <a:buFont typeface="Wingdings" panose="05000000000000000000" pitchFamily="2" charset="2"/>
              <a:buChar char="n"/>
              <a:defRPr sz="2000"/>
            </a:lvl2pPr>
            <a:lvl3pPr marL="1371600" indent="-457200">
              <a:lnSpc>
                <a:spcPts val="3200"/>
              </a:lnSpc>
              <a:buClrTx/>
              <a:buSzPct val="85000"/>
              <a:buFont typeface="Wingdings" panose="05000000000000000000" pitchFamily="2" charset="2"/>
              <a:buChar char="u"/>
              <a:defRPr sz="1800"/>
            </a:lvl3pPr>
            <a:lvl4pPr>
              <a:lnSpc>
                <a:spcPts val="3200"/>
              </a:lnSpc>
              <a:defRPr sz="1600"/>
            </a:lvl4pPr>
            <a:lvl5pPr>
              <a:lnSpc>
                <a:spcPts val="3200"/>
              </a:lnSpc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443382" y="6525344"/>
            <a:ext cx="1142325" cy="332656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2B4293-9377-4872-955B-7EAEC82CC678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/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/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2690198" y="1997482"/>
            <a:ext cx="6863080" cy="3321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100" dirty="0">
              <a:latin typeface="Calibri" panose="020F050202020403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2043430" algn="l" rtl="0" eaLnBrk="0">
              <a:lnSpc>
                <a:spcPct val="96000"/>
              </a:lnSpc>
            </a:pPr>
            <a:endParaRPr sz="4300" dirty="0">
              <a:latin typeface="Calibri" panose="020F0502020204030204" charset="0"/>
              <a:ea typeface="微软雅黑" panose="020B0503020204020204" charset="-122"/>
              <a:cs typeface="仿宋" panose="02010609060101010101" charset="-122"/>
            </a:endParaRPr>
          </a:p>
          <a:p>
            <a:pPr algn="l" rtl="0" eaLnBrk="0">
              <a:lnSpc>
                <a:spcPct val="146000"/>
              </a:lnSpc>
            </a:pPr>
            <a:endParaRPr sz="1000" dirty="0">
              <a:latin typeface="Calibri" panose="020F050202020403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algn="l" rtl="0" eaLnBrk="0">
              <a:lnSpc>
                <a:spcPct val="146000"/>
              </a:lnSpc>
            </a:pPr>
            <a:endParaRPr sz="1000" dirty="0">
              <a:latin typeface="Calibri" panose="020F050202020403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algn="l" rtl="0" eaLnBrk="0">
              <a:lnSpc>
                <a:spcPct val="106000"/>
              </a:lnSpc>
            </a:pPr>
            <a:r>
              <a:rPr lang="zh-CN" altLang="en-US" sz="3600" dirty="0">
                <a:latin typeface="Calibri" panose="020F0502020204030204" charset="0"/>
                <a:ea typeface="微软雅黑" panose="020B0503020204020204" charset="-122"/>
              </a:rPr>
              <a:t>信息安全技术</a:t>
            </a:r>
            <a:r>
              <a:rPr lang="en-US" altLang="zh-CN" sz="3600" dirty="0">
                <a:latin typeface="Calibri" panose="020F0502020204030204" charset="0"/>
                <a:ea typeface="微软雅黑" panose="020B0503020204020204" charset="-122"/>
              </a:rPr>
              <a:t>——</a:t>
            </a:r>
            <a:r>
              <a:rPr lang="zh-CN" altLang="en-US" sz="3600" dirty="0">
                <a:latin typeface="Calibri" panose="020F0502020204030204" charset="0"/>
                <a:ea typeface="微软雅黑" panose="020B0503020204020204" charset="-122"/>
              </a:rPr>
              <a:t>复习</a:t>
            </a:r>
            <a:endParaRPr lang="en-US" altLang="en-US" sz="3600" dirty="0">
              <a:latin typeface="Calibri" panose="020F0502020204030204" charset="0"/>
              <a:ea typeface="微软雅黑" panose="020B0503020204020204" charset="-122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Calibri" panose="020F050202020403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Calibri" panose="020F050202020403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Calibri" panose="020F050202020403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Calibri" panose="020F050202020403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Calibri" panose="020F050202020403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Calibri" panose="020F050202020403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Calibri" panose="020F050202020403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algn="l" rtl="0" eaLnBrk="0">
              <a:lnSpc>
                <a:spcPct val="100000"/>
              </a:lnSpc>
            </a:pPr>
            <a:endParaRPr sz="600" dirty="0">
              <a:latin typeface="Calibri" panose="020F050202020403020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marL="2055495" algn="l" rtl="0" eaLnBrk="0">
              <a:lnSpc>
                <a:spcPct val="94000"/>
              </a:lnSpc>
              <a:spcBef>
                <a:spcPts val="5"/>
              </a:spcBef>
            </a:pPr>
            <a:endParaRPr sz="2400" dirty="0">
              <a:latin typeface="Calibri" panose="020F0502020204030204" charset="0"/>
              <a:ea typeface="微软雅黑" panose="020B0503020204020204" charset="-122"/>
              <a:cs typeface="仿宋" panose="02010609060101010101" charset="-122"/>
            </a:endParaRPr>
          </a:p>
        </p:txBody>
      </p:sp>
      <p:sp>
        <p:nvSpPr>
          <p:cNvPr id="4" name="rect 4"/>
          <p:cNvSpPr/>
          <p:nvPr/>
        </p:nvSpPr>
        <p:spPr>
          <a:xfrm>
            <a:off x="588263" y="408432"/>
            <a:ext cx="10460735" cy="606552"/>
          </a:xfrm>
          <a:prstGeom prst="rect">
            <a:avLst/>
          </a:prstGeom>
          <a:solidFill>
            <a:srgbClr val="C7DD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" name="path 8"/>
          <p:cNvSpPr/>
          <p:nvPr/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4"/>
          <p:cNvSpPr/>
          <p:nvPr/>
        </p:nvSpPr>
        <p:spPr>
          <a:xfrm>
            <a:off x="588263" y="408432"/>
            <a:ext cx="10460735" cy="606552"/>
          </a:xfrm>
          <a:prstGeom prst="rect">
            <a:avLst/>
          </a:prstGeom>
          <a:solidFill>
            <a:srgbClr val="C7DD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l" rtl="0" eaLnBrk="0">
              <a:lnSpc>
                <a:spcPct val="106000"/>
              </a:lnSpc>
            </a:pPr>
            <a:r>
              <a:rPr lang="zh-CN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复习</a:t>
            </a:r>
            <a:r>
              <a:rPr lang="en-US" altLang="zh-CN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——</a:t>
            </a:r>
            <a:r>
              <a:rPr lang="zh-CN" altLang="en-US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古典密码</a:t>
            </a:r>
            <a:r>
              <a:rPr lang="zh-CN" altLang="en-US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算法</a:t>
            </a:r>
            <a:endParaRPr lang="zh-CN" altLang="en-US" sz="3600" kern="0" spc="-40" dirty="0">
              <a:solidFill>
                <a:srgbClr val="1F4E79">
                  <a:alpha val="100000"/>
                </a:srgbClr>
              </a:solidFill>
              <a:latin typeface="Calibri" panose="020F0502020204030204" charset="0"/>
              <a:ea typeface="微软雅黑" panose="020B0503020204020204" charset="-122"/>
              <a:cs typeface="仿宋" panose="02010609060101010101" charset="-122"/>
              <a:sym typeface="+mn-ea"/>
            </a:endParaRPr>
          </a:p>
        </p:txBody>
      </p:sp>
      <p:sp>
        <p:nvSpPr>
          <p:cNvPr id="8" name="path 8"/>
          <p:cNvSpPr/>
          <p:nvPr/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97915" y="1657985"/>
            <a:ext cx="9636760" cy="31064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（</a:t>
            </a:r>
            <a:r>
              <a:rPr lang="en-US" altLang="zh-CN" sz="2800"/>
              <a:t>1</a:t>
            </a:r>
            <a:r>
              <a:rPr lang="zh-CN" altLang="en-US" sz="2800"/>
              <a:t>）请使用凯撒密码算法执行一下步骤：</a:t>
            </a:r>
            <a:endParaRPr lang="zh-CN" altLang="en-US" sz="2800"/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/>
              <a:t>明文为</a:t>
            </a:r>
            <a:r>
              <a:rPr lang="en-US" altLang="zh-CN" sz="2800"/>
              <a:t> HELLOWORLD</a:t>
            </a:r>
            <a:r>
              <a:rPr lang="zh-CN" altLang="en-US" sz="2800"/>
              <a:t>，密钥</a:t>
            </a:r>
            <a:r>
              <a:rPr lang="en-US" altLang="zh-CN" sz="2800"/>
              <a:t> k=5</a:t>
            </a:r>
            <a:r>
              <a:rPr lang="zh-CN" altLang="en-US" sz="2800"/>
              <a:t>，求密文。</a:t>
            </a:r>
            <a:endParaRPr lang="zh-CN" altLang="en-US" sz="2800"/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/>
              <a:t>已知密文</a:t>
            </a:r>
            <a:r>
              <a:rPr lang="en-US" altLang="zh-CN" sz="2800"/>
              <a:t> ZXCVBNM </a:t>
            </a:r>
            <a:r>
              <a:rPr lang="zh-CN" altLang="en-US" sz="2800"/>
              <a:t>是凯撒密码加密后的结果，密钥</a:t>
            </a:r>
            <a:r>
              <a:rPr lang="en-US" altLang="zh-CN" sz="2800"/>
              <a:t> k=-2</a:t>
            </a:r>
            <a:r>
              <a:rPr lang="zh-CN" altLang="en-US" sz="2800"/>
              <a:t>（即向左移动</a:t>
            </a:r>
            <a:r>
              <a:rPr lang="en-US" altLang="zh-CN" sz="2800"/>
              <a:t> 2 </a:t>
            </a:r>
            <a:r>
              <a:rPr lang="zh-CN" altLang="en-US" sz="2800"/>
              <a:t>位），求明文。</a:t>
            </a:r>
            <a:endParaRPr lang="zh-CN" altLang="en-US" sz="2800"/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/>
              <a:t>密文：</a:t>
            </a:r>
            <a:r>
              <a:rPr lang="en-US" altLang="zh-CN" sz="2800"/>
              <a:t>MJQQTBTWQI</a:t>
            </a:r>
            <a:endParaRPr lang="en-US" altLang="zh-CN" sz="2800"/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/>
              <a:t>明文：</a:t>
            </a:r>
            <a:r>
              <a:rPr lang="en-US" altLang="zh-CN" sz="2800"/>
              <a:t>B</a:t>
            </a:r>
            <a:r>
              <a:rPr lang="en-US" altLang="zh-CN" sz="2800"/>
              <a:t>ZEXDPO</a:t>
            </a:r>
            <a:endParaRPr lang="en-US" altLang="zh-CN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4"/>
          <p:cNvSpPr/>
          <p:nvPr/>
        </p:nvSpPr>
        <p:spPr>
          <a:xfrm>
            <a:off x="588263" y="408432"/>
            <a:ext cx="10460735" cy="606552"/>
          </a:xfrm>
          <a:prstGeom prst="rect">
            <a:avLst/>
          </a:prstGeom>
          <a:solidFill>
            <a:srgbClr val="C7DD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l" rtl="0" eaLnBrk="0">
              <a:lnSpc>
                <a:spcPct val="106000"/>
              </a:lnSpc>
            </a:pPr>
            <a:r>
              <a:rPr lang="zh-CN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复习</a:t>
            </a:r>
            <a:r>
              <a:rPr lang="en-US" altLang="zh-CN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——</a:t>
            </a:r>
            <a:r>
              <a:rPr lang="zh-CN" altLang="en-US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古典密码</a:t>
            </a:r>
            <a:r>
              <a:rPr lang="zh-CN" altLang="en-US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算法</a:t>
            </a:r>
            <a:endParaRPr lang="zh-CN" altLang="en-US" sz="3600" kern="0" spc="-40" dirty="0">
              <a:solidFill>
                <a:srgbClr val="1F4E79">
                  <a:alpha val="100000"/>
                </a:srgbClr>
              </a:solidFill>
              <a:latin typeface="Calibri" panose="020F0502020204030204" charset="0"/>
              <a:ea typeface="微软雅黑" panose="020B0503020204020204" charset="-122"/>
              <a:cs typeface="仿宋" panose="02010609060101010101" charset="-122"/>
              <a:sym typeface="+mn-ea"/>
            </a:endParaRPr>
          </a:p>
        </p:txBody>
      </p:sp>
      <p:sp>
        <p:nvSpPr>
          <p:cNvPr id="8" name="path 8"/>
          <p:cNvSpPr/>
          <p:nvPr/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97915" y="1657985"/>
            <a:ext cx="10483215" cy="4139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请使用</a:t>
            </a:r>
            <a:r>
              <a:rPr lang="en-US" altLang="zh-CN" sz="2800"/>
              <a:t>Playfair </a:t>
            </a:r>
            <a:r>
              <a:rPr lang="zh-CN" altLang="en-US" sz="2800"/>
              <a:t>密码</a:t>
            </a:r>
            <a:r>
              <a:rPr lang="zh-CN" altLang="en-US" sz="2800"/>
              <a:t>算法执行一下步骤：</a:t>
            </a:r>
            <a:endParaRPr lang="zh-CN" altLang="en-US" sz="2800"/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/>
              <a:t>密钥为</a:t>
            </a:r>
            <a:r>
              <a:rPr lang="en-US" altLang="zh-CN" sz="2800"/>
              <a:t> SECURITY</a:t>
            </a:r>
            <a:r>
              <a:rPr lang="zh-CN" altLang="en-US" sz="2800"/>
              <a:t>，明文为</a:t>
            </a:r>
            <a:r>
              <a:rPr lang="en-US" altLang="zh-CN" sz="2800"/>
              <a:t> HELLOCLASS</a:t>
            </a:r>
            <a:r>
              <a:rPr lang="zh-CN" altLang="en-US" sz="2800"/>
              <a:t>。</a:t>
            </a:r>
            <a:endParaRPr lang="zh-CN" altLang="en-US" sz="2800"/>
          </a:p>
          <a:p>
            <a:pPr lvl="1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2800"/>
              <a:t>（</a:t>
            </a:r>
            <a:r>
              <a:rPr lang="en-US" altLang="zh-CN" sz="2800"/>
              <a:t>1</a:t>
            </a:r>
            <a:r>
              <a:rPr lang="zh-CN" altLang="en-US" sz="2800"/>
              <a:t>）画出</a:t>
            </a:r>
            <a:r>
              <a:rPr lang="en-US" altLang="zh-CN" sz="2800"/>
              <a:t> 5</a:t>
            </a:r>
            <a:r>
              <a:rPr lang="en-US" altLang="en-US" sz="2800"/>
              <a:t>×</a:t>
            </a:r>
            <a:r>
              <a:rPr lang="en-US" altLang="zh-CN" sz="2800"/>
              <a:t>5 </a:t>
            </a:r>
            <a:r>
              <a:rPr lang="zh-CN" altLang="en-US" sz="2800"/>
              <a:t>矩阵。</a:t>
            </a:r>
            <a:endParaRPr lang="zh-CN" altLang="en-US" sz="2800"/>
          </a:p>
          <a:p>
            <a:pPr lvl="1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2800"/>
              <a:t>（</a:t>
            </a:r>
            <a:r>
              <a:rPr lang="en-US" altLang="zh-CN" sz="2800"/>
              <a:t>2</a:t>
            </a:r>
            <a:r>
              <a:rPr lang="zh-CN" altLang="en-US" sz="2800"/>
              <a:t>）处理明文（插入</a:t>
            </a:r>
            <a:r>
              <a:rPr lang="en-US" altLang="zh-CN" sz="2800"/>
              <a:t> X </a:t>
            </a:r>
            <a:r>
              <a:rPr lang="zh-CN" altLang="en-US" sz="2800"/>
              <a:t>分隔重复字母，填充至偶数长度）。</a:t>
            </a:r>
            <a:endParaRPr lang="zh-CN" altLang="en-US" sz="2800"/>
          </a:p>
          <a:p>
            <a:pPr lvl="1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2800"/>
              <a:t>（</a:t>
            </a:r>
            <a:r>
              <a:rPr lang="en-US" altLang="zh-CN" sz="2800"/>
              <a:t>3</a:t>
            </a:r>
            <a:r>
              <a:rPr lang="zh-CN" altLang="en-US" sz="2800"/>
              <a:t>）写出加密后的密文。</a:t>
            </a:r>
            <a:r>
              <a:rPr lang="zh-CN" altLang="en-US" sz="2800"/>
              <a:t>密文：</a:t>
            </a:r>
            <a:r>
              <a:rPr lang="en-US" altLang="zh-CN" sz="2800"/>
              <a:t>MJQQTBTWQI</a:t>
            </a:r>
            <a:endParaRPr lang="en-US" altLang="zh-CN" sz="2800"/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/>
              <a:t>矩阵：</a:t>
            </a:r>
            <a:r>
              <a:rPr lang="en-US" altLang="zh-CN" sz="2800"/>
              <a:t>S E C U R </a:t>
            </a:r>
            <a:r>
              <a:rPr lang="zh-CN" altLang="en-US" sz="2800"/>
              <a:t>、</a:t>
            </a:r>
            <a:r>
              <a:rPr lang="en-US" altLang="zh-CN" sz="2800"/>
              <a:t> I/j T Y A B </a:t>
            </a:r>
            <a:r>
              <a:rPr lang="zh-CN" altLang="en-US" sz="2800"/>
              <a:t>、</a:t>
            </a:r>
            <a:r>
              <a:rPr lang="en-US" altLang="zh-CN" sz="2800"/>
              <a:t>D F G H  K</a:t>
            </a:r>
            <a:r>
              <a:rPr lang="zh-CN" altLang="en-US" sz="2800"/>
              <a:t>、</a:t>
            </a:r>
            <a:r>
              <a:rPr lang="en-US" altLang="zh-CN" sz="2800"/>
              <a:t> L M N O  P</a:t>
            </a:r>
            <a:r>
              <a:rPr lang="zh-CN" altLang="en-US" sz="2800"/>
              <a:t>、</a:t>
            </a:r>
            <a:r>
              <a:rPr lang="en-US" altLang="zh-CN" sz="2800"/>
              <a:t> Q V W X </a:t>
            </a:r>
            <a:r>
              <a:rPr lang="en-US" altLang="zh-CN" sz="2800"/>
              <a:t>z</a:t>
            </a:r>
            <a:endParaRPr lang="en-US" altLang="zh-CN" sz="2800"/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/>
              <a:t>明文处理：</a:t>
            </a:r>
            <a:r>
              <a:rPr lang="en-US" altLang="zh-CN" sz="2800"/>
              <a:t> </a:t>
            </a:r>
            <a:r>
              <a:rPr lang="en-US" altLang="en-US" sz="2800"/>
              <a:t>→</a:t>
            </a:r>
            <a:r>
              <a:rPr lang="en-US" altLang="zh-CN" sz="2800"/>
              <a:t> </a:t>
            </a:r>
            <a:r>
              <a:rPr lang="zh-CN" altLang="en-US" sz="2800"/>
              <a:t>密文：</a:t>
            </a:r>
            <a:r>
              <a:rPr lang="en-US" altLang="zh-CN" sz="2800"/>
              <a:t>FU </a:t>
            </a:r>
            <a:r>
              <a:rPr lang="en-US" altLang="zh-CN" sz="2800"/>
              <a:t>OQ MP SN IU </a:t>
            </a:r>
            <a:r>
              <a:rPr lang="en-US" altLang="zh-CN" sz="2800"/>
              <a:t>RQ</a:t>
            </a:r>
            <a:endParaRPr lang="en-US" altLang="zh-CN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4"/>
          <p:cNvSpPr/>
          <p:nvPr/>
        </p:nvSpPr>
        <p:spPr>
          <a:xfrm>
            <a:off x="588263" y="408432"/>
            <a:ext cx="10460735" cy="606552"/>
          </a:xfrm>
          <a:prstGeom prst="rect">
            <a:avLst/>
          </a:prstGeom>
          <a:solidFill>
            <a:srgbClr val="C7DD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l" rtl="0" eaLnBrk="0">
              <a:lnSpc>
                <a:spcPct val="106000"/>
              </a:lnSpc>
            </a:pPr>
            <a:r>
              <a:rPr lang="zh-CN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复习</a:t>
            </a:r>
            <a:r>
              <a:rPr lang="en-US" altLang="zh-CN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——</a:t>
            </a:r>
            <a:r>
              <a:rPr lang="zh-CN" altLang="en-US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分组密码</a:t>
            </a:r>
            <a:r>
              <a:rPr lang="zh-CN" altLang="en-US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算法</a:t>
            </a:r>
            <a:endParaRPr lang="zh-CN" altLang="en-US" sz="3600" kern="0" spc="-40" dirty="0">
              <a:solidFill>
                <a:srgbClr val="1F4E79">
                  <a:alpha val="100000"/>
                </a:srgbClr>
              </a:solidFill>
              <a:latin typeface="Calibri" panose="020F0502020204030204" charset="0"/>
              <a:ea typeface="微软雅黑" panose="020B0503020204020204" charset="-122"/>
              <a:cs typeface="仿宋" panose="02010609060101010101" charset="-122"/>
              <a:sym typeface="+mn-ea"/>
            </a:endParaRPr>
          </a:p>
        </p:txBody>
      </p:sp>
      <p:sp>
        <p:nvSpPr>
          <p:cNvPr id="8" name="path 8"/>
          <p:cNvSpPr/>
          <p:nvPr/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770" y="1305560"/>
            <a:ext cx="10287635" cy="152209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165" y="2897505"/>
            <a:ext cx="3570605" cy="28511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520" y="2827655"/>
            <a:ext cx="3479165" cy="30295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4"/>
          <p:cNvSpPr/>
          <p:nvPr/>
        </p:nvSpPr>
        <p:spPr>
          <a:xfrm>
            <a:off x="588263" y="408432"/>
            <a:ext cx="10460735" cy="606552"/>
          </a:xfrm>
          <a:prstGeom prst="rect">
            <a:avLst/>
          </a:prstGeom>
          <a:solidFill>
            <a:srgbClr val="C7DD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l" rtl="0" eaLnBrk="0">
              <a:lnSpc>
                <a:spcPct val="106000"/>
              </a:lnSpc>
            </a:pPr>
            <a:r>
              <a:rPr lang="zh-CN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复习</a:t>
            </a:r>
            <a:r>
              <a:rPr lang="en-US" altLang="zh-CN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——</a:t>
            </a:r>
            <a:r>
              <a:rPr lang="zh-CN" altLang="en-US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分组密码</a:t>
            </a:r>
            <a:r>
              <a:rPr lang="zh-CN" altLang="en-US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算法</a:t>
            </a:r>
            <a:endParaRPr lang="zh-CN" altLang="en-US" sz="3600" kern="0" spc="-40" dirty="0">
              <a:solidFill>
                <a:srgbClr val="1F4E79">
                  <a:alpha val="100000"/>
                </a:srgbClr>
              </a:solidFill>
              <a:latin typeface="Calibri" panose="020F0502020204030204" charset="0"/>
              <a:ea typeface="微软雅黑" panose="020B0503020204020204" charset="-122"/>
              <a:cs typeface="仿宋" panose="02010609060101010101" charset="-122"/>
              <a:sym typeface="+mn-ea"/>
            </a:endParaRPr>
          </a:p>
        </p:txBody>
      </p:sp>
      <p:sp>
        <p:nvSpPr>
          <p:cNvPr id="8" name="path 8"/>
          <p:cNvSpPr/>
          <p:nvPr/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165" y="1431290"/>
            <a:ext cx="10833100" cy="32988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4"/>
          <p:cNvSpPr/>
          <p:nvPr/>
        </p:nvSpPr>
        <p:spPr>
          <a:xfrm>
            <a:off x="588263" y="408432"/>
            <a:ext cx="10460735" cy="606552"/>
          </a:xfrm>
          <a:prstGeom prst="rect">
            <a:avLst/>
          </a:prstGeom>
          <a:solidFill>
            <a:srgbClr val="C7DD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l" rtl="0" eaLnBrk="0">
              <a:lnSpc>
                <a:spcPct val="106000"/>
              </a:lnSpc>
            </a:pPr>
            <a:r>
              <a:rPr lang="zh-CN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复习</a:t>
            </a:r>
            <a:r>
              <a:rPr lang="en-US" altLang="zh-CN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——</a:t>
            </a:r>
            <a:r>
              <a:rPr lang="zh-CN" altLang="en-US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分组密码</a:t>
            </a:r>
            <a:r>
              <a:rPr lang="zh-CN" altLang="en-US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算法</a:t>
            </a:r>
            <a:endParaRPr lang="zh-CN" altLang="en-US" sz="3600" kern="0" spc="-40" dirty="0">
              <a:solidFill>
                <a:srgbClr val="1F4E79">
                  <a:alpha val="100000"/>
                </a:srgbClr>
              </a:solidFill>
              <a:latin typeface="Calibri" panose="020F0502020204030204" charset="0"/>
              <a:ea typeface="微软雅黑" panose="020B0503020204020204" charset="-122"/>
              <a:cs typeface="仿宋" panose="02010609060101010101" charset="-122"/>
              <a:sym typeface="+mn-ea"/>
            </a:endParaRPr>
          </a:p>
        </p:txBody>
      </p:sp>
      <p:sp>
        <p:nvSpPr>
          <p:cNvPr id="8" name="path 8"/>
          <p:cNvSpPr/>
          <p:nvPr/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28" name="table 12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156970" y="1515745"/>
          <a:ext cx="9656445" cy="4646930"/>
        </p:xfrm>
        <a:graphic>
          <a:graphicData uri="http://schemas.openxmlformats.org/drawingml/2006/table">
            <a:tbl>
              <a:tblPr/>
              <a:tblGrid>
                <a:gridCol w="539750"/>
                <a:gridCol w="535940"/>
                <a:gridCol w="534035"/>
                <a:gridCol w="533400"/>
                <a:gridCol w="535940"/>
                <a:gridCol w="534035"/>
                <a:gridCol w="535940"/>
                <a:gridCol w="534035"/>
                <a:gridCol w="534670"/>
                <a:gridCol w="535305"/>
                <a:gridCol w="535940"/>
                <a:gridCol w="537845"/>
                <a:gridCol w="537210"/>
                <a:gridCol w="537845"/>
                <a:gridCol w="537845"/>
                <a:gridCol w="535940"/>
                <a:gridCol w="537210"/>
                <a:gridCol w="543560"/>
              </a:tblGrid>
              <a:tr h="234950">
                <a:tc rowSpan="2" gridSpan="2"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6">
                  <a:txBody>
                    <a:bodyPr/>
                    <a:p>
                      <a:pPr algn="l" rtl="0" eaLnBrk="0">
                        <a:lnSpc>
                          <a:spcPct val="105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463740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y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620">
                <a:tc vMerge="1" gridSpan="2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8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57810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8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6225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8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5590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8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55270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8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5654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58445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8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58445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57175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7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8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57810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8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8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60350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9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7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63525" algn="l" rtl="0" eaLnBrk="0">
                        <a:lnSpc>
                          <a:spcPct val="94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8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54000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8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66065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8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57175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8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66700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6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74955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12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715">
                <a:tc rowSpan="16"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62255" algn="l" rtl="0" eaLnBrk="0">
                        <a:lnSpc>
                          <a:spcPct val="94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x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5717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8440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63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1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3520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7c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1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0980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77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1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5265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7b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3304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f2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590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6b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3431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6f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1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4790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c5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8440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30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161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01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225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67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780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2b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40665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fe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1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7170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d7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1615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ab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352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76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985"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6162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4790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ca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780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82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479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c9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1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5265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7d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8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33045" algn="l" rtl="0" eaLnBrk="0">
                        <a:lnSpc>
                          <a:spcPct val="94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fa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844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59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717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47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3304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f0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6535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ad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907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d4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3520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a2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8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39395" algn="l" rtl="0" eaLnBrk="0">
                        <a:lnSpc>
                          <a:spcPct val="94000"/>
                        </a:lnSpc>
                        <a:spcBef>
                          <a:spcPts val="0"/>
                        </a:spcBef>
                      </a:pPr>
                      <a:r>
                        <a:rPr sz="12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af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860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9c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4155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a4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288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72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987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c0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715"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5527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1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2725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b7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6695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fd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0345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93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653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26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8440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36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31140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3f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3368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f7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30505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cc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8440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34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1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2885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a5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1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8600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e5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7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37490" algn="l" rtl="0" eaLnBrk="0">
                        <a:lnSpc>
                          <a:spcPct val="77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f1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288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71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717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d8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0345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31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860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15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350"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5400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844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04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1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4155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c7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971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23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479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c3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606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18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844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96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907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05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034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9a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098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07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6060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12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161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80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923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e2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3520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eb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098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27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780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b2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1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3520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75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9870"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55270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844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09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780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83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225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2c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352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1a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971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1b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542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6e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1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8440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5a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225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a0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098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52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590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3b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907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d6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717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b3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098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29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669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e3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36855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2f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352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84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350"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1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56540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780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53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526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d1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161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00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9075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ed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971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20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36855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fc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336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b1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1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4630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5b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161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6a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2250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cb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9710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be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971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39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098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4a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415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4c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288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58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42570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12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cf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620"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57175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5265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d0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36855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12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ef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2885" algn="l" rtl="0" eaLnBrk="0">
                        <a:lnSpc>
                          <a:spcPct val="94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aa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7330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fb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9710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43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3995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4d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5900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33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0980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85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9710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45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36220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f9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2250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02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37490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7f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2885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50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2885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3c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38125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9f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4790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a8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525"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2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56540" algn="l" rtl="0" eaLnBrk="0">
                        <a:lnSpc>
                          <a:spcPct val="75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7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7805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51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9075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a3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9710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40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33680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8f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0345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92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5265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9d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5900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38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33045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f5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9075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bc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6535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b6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9075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da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098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21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7330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10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49555" algn="l" rtl="0" eaLnBrk="0">
                        <a:lnSpc>
                          <a:spcPct val="94000"/>
                        </a:lnSpc>
                        <a:spcBef>
                          <a:spcPts val="5"/>
                        </a:spcBef>
                      </a:pPr>
                      <a:r>
                        <a:rPr sz="12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ff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38125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f3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0980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d2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985"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57175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8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8440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cd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4155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0c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6060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13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7965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ec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33045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5f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8440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97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717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44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6060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17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4790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c4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2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2885" algn="l" rtl="0" eaLnBrk="0">
                        <a:lnSpc>
                          <a:spcPct val="75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a7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2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7965" algn="l" rtl="0" eaLnBrk="0">
                        <a:lnSpc>
                          <a:spcPct val="75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7e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6535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3d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2885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64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2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6535" algn="l" rtl="0" eaLnBrk="0">
                        <a:lnSpc>
                          <a:spcPct val="75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5d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7965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19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3520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73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985"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56540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9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8440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60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7805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81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8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31775" algn="l" rtl="0" eaLnBrk="0">
                        <a:lnSpc>
                          <a:spcPct val="77000"/>
                        </a:lnSpc>
                      </a:pPr>
                      <a:r>
                        <a:rPr sz="12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4f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9075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dc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971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22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7170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2a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7805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90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0980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88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9710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46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31140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ee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6535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b8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733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14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3520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de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2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5425" algn="l" rtl="0" eaLnBrk="0">
                        <a:lnSpc>
                          <a:spcPct val="75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5e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0345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0b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5265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db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255"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58445" algn="l" rtl="0" eaLnBrk="0">
                        <a:lnSpc>
                          <a:spcPct val="94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479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e0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526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32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844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3a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844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0a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971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49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907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06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717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24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2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4155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5c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479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c2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907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d3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9235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ac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288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62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225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91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225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95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987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e4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352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79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620"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52095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2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4790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e7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415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c8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844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37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590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6d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526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8d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2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6535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d5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288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4e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225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a9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415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6c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161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56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3685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f4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9235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ea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288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65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2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2885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7a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30505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ae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352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08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620"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63525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2725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ba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780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78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971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25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288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2e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923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1c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034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a6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336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b4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479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c6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479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e8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2725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dd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161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74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8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42570" algn="l" rtl="0" eaLnBrk="0">
                        <a:lnSpc>
                          <a:spcPct val="77000"/>
                        </a:lnSpc>
                        <a:spcBef>
                          <a:spcPts val="0"/>
                        </a:spcBef>
                      </a:pPr>
                      <a:r>
                        <a:rPr sz="12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1f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844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4b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1455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bd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034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8b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352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8a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620"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54635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780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70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098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3e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2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03835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B5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907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66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971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48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907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03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3368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f6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415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0e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161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61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844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35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2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1615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57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717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b9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288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86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606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c1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479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1d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923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9e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620"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63525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479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e1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3241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f8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034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98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1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9235" algn="l" rtl="0" eaLnBrk="0">
                        <a:lnSpc>
                          <a:spcPct val="76000"/>
                        </a:lnSpc>
                      </a:pPr>
                      <a:r>
                        <a:rPr sz="12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11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161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69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653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d9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479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8e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034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94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463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9b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3241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1e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161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87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923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e9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32410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ce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2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2885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55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161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28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33045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12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df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525"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8000"/>
                        </a:lnSpc>
                      </a:pPr>
                      <a:endParaRPr sz="5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71780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12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415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8c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971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a1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098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89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590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0d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7965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12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bf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542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e6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1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7170" algn="l" rtl="0" eaLnBrk="0">
                        <a:lnSpc>
                          <a:spcPct val="76000"/>
                        </a:lnSpc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42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161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68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1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9710" algn="l" rtl="0" eaLnBrk="0">
                        <a:lnSpc>
                          <a:spcPct val="76000"/>
                        </a:lnSpc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41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098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99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717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2d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3812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0f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0828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B0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2885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54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12090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bb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2860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16</a:t>
                      </a:r>
                      <a:endParaRPr sz="12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156970" y="947420"/>
            <a:ext cx="9565005" cy="568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100" b="1" kern="0" spc="10" dirty="0">
                <a:solidFill>
                  <a:srgbClr val="1F4E79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AES</a:t>
            </a:r>
            <a:r>
              <a:rPr lang="zh-CN" altLang="en-US" sz="3100" b="1" kern="0" spc="10" dirty="0">
                <a:solidFill>
                  <a:srgbClr val="1F4E79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密码算法</a:t>
            </a:r>
            <a:r>
              <a:rPr lang="en-US" altLang="zh-CN" sz="3100" b="1" kern="0" spc="10" dirty="0">
                <a:solidFill>
                  <a:srgbClr val="1F4E79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S</a:t>
            </a:r>
            <a:r>
              <a:rPr lang="zh-CN" altLang="en-US" sz="3100" b="1" kern="0" spc="10" dirty="0">
                <a:solidFill>
                  <a:srgbClr val="1F4E79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盒中：</a:t>
            </a:r>
            <a:r>
              <a:rPr sz="3100" b="1" kern="0" spc="10" dirty="0">
                <a:solidFill>
                  <a:srgbClr val="1F4E79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输入8a</a:t>
            </a:r>
            <a:r>
              <a:rPr lang="zh-CN" sz="3100" b="1" kern="0" spc="10" dirty="0">
                <a:solidFill>
                  <a:srgbClr val="1F4E79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，输出</a:t>
            </a:r>
            <a:r>
              <a:rPr lang="zh-CN" sz="3100" b="1" kern="0" spc="10" dirty="0">
                <a:solidFill>
                  <a:srgbClr val="1F4E79">
                    <a:alpha val="100000"/>
                  </a:srgbClr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是多少？</a:t>
            </a:r>
            <a:endParaRPr lang="zh-CN" sz="3100" b="1" kern="0" spc="10" dirty="0">
              <a:solidFill>
                <a:srgbClr val="1F4E79">
                  <a:alpha val="100000"/>
                </a:srgbClr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4"/>
          <p:cNvSpPr/>
          <p:nvPr/>
        </p:nvSpPr>
        <p:spPr>
          <a:xfrm>
            <a:off x="588263" y="408432"/>
            <a:ext cx="10460735" cy="606552"/>
          </a:xfrm>
          <a:prstGeom prst="rect">
            <a:avLst/>
          </a:prstGeom>
          <a:solidFill>
            <a:srgbClr val="C7DD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l" rtl="0" eaLnBrk="0">
              <a:lnSpc>
                <a:spcPct val="106000"/>
              </a:lnSpc>
            </a:pPr>
            <a:r>
              <a:rPr lang="zh-CN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复习</a:t>
            </a:r>
            <a:r>
              <a:rPr lang="en-US" altLang="zh-CN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——</a:t>
            </a:r>
            <a:r>
              <a:rPr lang="zh-CN" altLang="en-US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非对称密码</a:t>
            </a:r>
            <a:r>
              <a:rPr lang="zh-CN" altLang="en-US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算法</a:t>
            </a:r>
            <a:endParaRPr lang="zh-CN" altLang="en-US" sz="3600" kern="0" spc="-40" dirty="0">
              <a:solidFill>
                <a:srgbClr val="1F4E79">
                  <a:alpha val="100000"/>
                </a:srgbClr>
              </a:solidFill>
              <a:latin typeface="Calibri" panose="020F0502020204030204" charset="0"/>
              <a:ea typeface="微软雅黑" panose="020B0503020204020204" charset="-122"/>
              <a:cs typeface="仿宋" panose="02010609060101010101" charset="-122"/>
              <a:sym typeface="+mn-ea"/>
            </a:endParaRPr>
          </a:p>
        </p:txBody>
      </p:sp>
      <p:sp>
        <p:nvSpPr>
          <p:cNvPr id="8" name="path 8"/>
          <p:cNvSpPr/>
          <p:nvPr/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726440" y="1067435"/>
            <a:ext cx="10184130" cy="396303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l">
              <a:lnSpc>
                <a:spcPct val="130000"/>
              </a:lnSpc>
              <a:spcBef>
                <a:spcPts val="1000"/>
              </a:spcBef>
              <a:buClrTx/>
              <a:buSzTx/>
              <a:buNone/>
            </a:pPr>
            <a:r>
              <a:rPr lang="zh-CN" altLang="en-US" sz="2800" b="0" i="0" dirty="0"/>
              <a:t>针对</a:t>
            </a:r>
            <a:r>
              <a:rPr lang="en-US" altLang="zh-CN" sz="2800" b="0" i="0" dirty="0"/>
              <a:t>RSA</a:t>
            </a:r>
            <a:r>
              <a:rPr lang="zh-CN" altLang="en-US" sz="2800" b="0" i="0" dirty="0"/>
              <a:t>密码算法，</a:t>
            </a:r>
            <a:r>
              <a:rPr lang="en-US" altLang="zh-CN" sz="2800" b="0" i="0" dirty="0"/>
              <a:t>素数 p=5，q=11，公钥 e=3，明文M=9</a:t>
            </a:r>
            <a:r>
              <a:rPr lang="zh-CN" altLang="en-US" sz="2800" b="0" i="0" dirty="0"/>
              <a:t>，进行以下</a:t>
            </a:r>
            <a:r>
              <a:rPr lang="zh-CN" altLang="en-US" sz="2800" b="0" i="0" dirty="0"/>
              <a:t>计算：</a:t>
            </a:r>
            <a:endParaRPr lang="zh-CN" altLang="en-US" sz="2800" b="0" i="0" dirty="0"/>
          </a:p>
          <a:p>
            <a:pPr marL="514350" indent="-514350" algn="l">
              <a:lnSpc>
                <a:spcPct val="130000"/>
              </a:lnSpc>
              <a:spcBef>
                <a:spcPts val="1000"/>
              </a:spcBef>
              <a:buClrTx/>
              <a:buSzTx/>
              <a:buAutoNum type="arabicPeriod"/>
            </a:pPr>
            <a:r>
              <a:rPr lang="zh-CN" altLang="en-US" sz="2800" b="0" i="0" dirty="0"/>
              <a:t>计算私钥</a:t>
            </a:r>
            <a:r>
              <a:rPr lang="en-US" altLang="zh-CN" sz="2800" b="0" i="0" dirty="0"/>
              <a:t>d</a:t>
            </a:r>
            <a:endParaRPr lang="en-US" altLang="zh-CN" sz="2800" b="0" i="0" dirty="0"/>
          </a:p>
          <a:p>
            <a:pPr marL="514350" indent="-514350" algn="l">
              <a:lnSpc>
                <a:spcPct val="130000"/>
              </a:lnSpc>
              <a:spcBef>
                <a:spcPts val="1000"/>
              </a:spcBef>
              <a:buClrTx/>
              <a:buSzTx/>
              <a:buAutoNum type="arabicPeriod"/>
            </a:pPr>
            <a:r>
              <a:rPr lang="zh-CN" altLang="en-US" sz="2800" b="0" i="0" dirty="0"/>
              <a:t>计算密文</a:t>
            </a:r>
            <a:r>
              <a:rPr lang="en-US" altLang="zh-CN" sz="2800" b="0" i="0" dirty="0"/>
              <a:t>C</a:t>
            </a:r>
            <a:endParaRPr lang="en-US" altLang="zh-CN" sz="2800" b="0" i="0" dirty="0"/>
          </a:p>
          <a:p>
            <a:pPr marL="514350" indent="-514350" algn="l">
              <a:lnSpc>
                <a:spcPct val="130000"/>
              </a:lnSpc>
              <a:spcBef>
                <a:spcPts val="1000"/>
              </a:spcBef>
              <a:buClrTx/>
              <a:buSzTx/>
              <a:buAutoNum type="arabicPeriod"/>
            </a:pPr>
            <a:r>
              <a:rPr lang="zh-CN" altLang="en-US" sz="2800" b="0" i="0" dirty="0"/>
              <a:t>验证解密</a:t>
            </a:r>
            <a:r>
              <a:rPr lang="zh-CN" altLang="en-US" sz="2800" b="0" i="0" dirty="0"/>
              <a:t>结果</a:t>
            </a:r>
            <a:endParaRPr lang="zh-CN" altLang="en-US" sz="2800" b="0" i="0" dirty="0"/>
          </a:p>
          <a:p>
            <a:pPr indent="0" algn="l">
              <a:lnSpc>
                <a:spcPct val="130000"/>
              </a:lnSpc>
              <a:spcBef>
                <a:spcPts val="1000"/>
              </a:spcBef>
              <a:buClrTx/>
              <a:buSzTx/>
              <a:buNone/>
            </a:pPr>
            <a:endParaRPr lang="zh-CN" altLang="en-US" sz="2800" b="0" i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4"/>
          <p:cNvSpPr/>
          <p:nvPr/>
        </p:nvSpPr>
        <p:spPr>
          <a:xfrm>
            <a:off x="588263" y="408432"/>
            <a:ext cx="10460735" cy="606552"/>
          </a:xfrm>
          <a:prstGeom prst="rect">
            <a:avLst/>
          </a:prstGeom>
          <a:solidFill>
            <a:srgbClr val="C7DD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l" rtl="0" eaLnBrk="0">
              <a:lnSpc>
                <a:spcPct val="106000"/>
              </a:lnSpc>
            </a:pPr>
            <a:r>
              <a:rPr lang="zh-CN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复习</a:t>
            </a:r>
            <a:r>
              <a:rPr lang="en-US" altLang="zh-CN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——</a:t>
            </a:r>
            <a:r>
              <a:rPr lang="zh-CN" altLang="en-US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非对称密码</a:t>
            </a:r>
            <a:r>
              <a:rPr lang="zh-CN" altLang="en-US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算法</a:t>
            </a:r>
            <a:endParaRPr lang="zh-CN" altLang="en-US" sz="3600" kern="0" spc="-40" dirty="0">
              <a:solidFill>
                <a:srgbClr val="1F4E79">
                  <a:alpha val="100000"/>
                </a:srgbClr>
              </a:solidFill>
              <a:latin typeface="Calibri" panose="020F0502020204030204" charset="0"/>
              <a:ea typeface="微软雅黑" panose="020B0503020204020204" charset="-122"/>
              <a:cs typeface="仿宋" panose="02010609060101010101" charset="-122"/>
              <a:sym typeface="+mn-ea"/>
            </a:endParaRPr>
          </a:p>
        </p:txBody>
      </p:sp>
      <p:sp>
        <p:nvSpPr>
          <p:cNvPr id="8" name="path 8"/>
          <p:cNvSpPr/>
          <p:nvPr/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726440" y="1067435"/>
            <a:ext cx="10184130" cy="396303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l">
              <a:lnSpc>
                <a:spcPct val="130000"/>
              </a:lnSpc>
              <a:spcBef>
                <a:spcPts val="1000"/>
              </a:spcBef>
              <a:buClrTx/>
              <a:buSzTx/>
              <a:buNone/>
            </a:pPr>
            <a:r>
              <a:rPr lang="zh-CN" altLang="en-US" sz="2800" b="0" i="0" dirty="0"/>
              <a:t>针对</a:t>
            </a:r>
            <a:r>
              <a:rPr lang="en-US" altLang="zh-CN" sz="2800" b="0" i="0" dirty="0"/>
              <a:t>RSA</a:t>
            </a:r>
            <a:r>
              <a:rPr lang="zh-CN" altLang="en-US" sz="2800" b="0" i="0" dirty="0"/>
              <a:t>密码算法，</a:t>
            </a:r>
            <a:r>
              <a:rPr lang="en-US" altLang="zh-CN" sz="2800" b="0" i="0" dirty="0"/>
              <a:t>素数 p=5，q=11，公钥 e=3，明文M=9</a:t>
            </a:r>
            <a:r>
              <a:rPr lang="zh-CN" altLang="en-US" sz="2800" b="0" i="0" dirty="0"/>
              <a:t>，进行以下</a:t>
            </a:r>
            <a:r>
              <a:rPr lang="zh-CN" altLang="en-US" sz="2800" b="0" i="0" dirty="0"/>
              <a:t>计算：</a:t>
            </a:r>
            <a:endParaRPr lang="zh-CN" altLang="en-US" sz="2800" b="0" i="0" dirty="0"/>
          </a:p>
          <a:p>
            <a:pPr marL="514350" indent="-514350" algn="l">
              <a:lnSpc>
                <a:spcPct val="130000"/>
              </a:lnSpc>
              <a:spcBef>
                <a:spcPts val="1000"/>
              </a:spcBef>
              <a:buClrTx/>
              <a:buSzTx/>
              <a:buAutoNum type="arabicPeriod"/>
            </a:pPr>
            <a:r>
              <a:rPr lang="zh-CN" altLang="en-US" sz="2800" b="0" i="0" dirty="0"/>
              <a:t>计算私钥</a:t>
            </a:r>
            <a:r>
              <a:rPr lang="en-US" altLang="zh-CN" sz="2800" b="0" i="0" dirty="0"/>
              <a:t>d</a:t>
            </a:r>
            <a:endParaRPr lang="en-US" altLang="zh-CN" sz="2800" b="0" i="0" dirty="0"/>
          </a:p>
          <a:p>
            <a:pPr marL="514350" indent="-514350" algn="l">
              <a:lnSpc>
                <a:spcPct val="130000"/>
              </a:lnSpc>
              <a:spcBef>
                <a:spcPts val="1000"/>
              </a:spcBef>
              <a:buClrTx/>
              <a:buSzTx/>
              <a:buAutoNum type="arabicPeriod"/>
            </a:pPr>
            <a:r>
              <a:rPr lang="zh-CN" altLang="en-US" sz="2800" b="0" i="0" dirty="0"/>
              <a:t>计算密文</a:t>
            </a:r>
            <a:r>
              <a:rPr lang="en-US" altLang="zh-CN" sz="2800" b="0" i="0" dirty="0"/>
              <a:t>C</a:t>
            </a:r>
            <a:endParaRPr lang="en-US" altLang="zh-CN" sz="2800" b="0" i="0" dirty="0"/>
          </a:p>
          <a:p>
            <a:pPr marL="514350" indent="-514350" algn="l">
              <a:lnSpc>
                <a:spcPct val="130000"/>
              </a:lnSpc>
              <a:spcBef>
                <a:spcPts val="1000"/>
              </a:spcBef>
              <a:buClrTx/>
              <a:buSzTx/>
              <a:buAutoNum type="arabicPeriod"/>
            </a:pPr>
            <a:r>
              <a:rPr lang="zh-CN" altLang="en-US" sz="2800" b="0" i="0" dirty="0"/>
              <a:t>验证解密</a:t>
            </a:r>
            <a:r>
              <a:rPr lang="zh-CN" altLang="en-US" sz="2800" b="0" i="0" dirty="0"/>
              <a:t>结果</a:t>
            </a:r>
            <a:endParaRPr lang="zh-CN" altLang="en-US" sz="2800" b="0" i="0" dirty="0"/>
          </a:p>
          <a:p>
            <a:pPr indent="0" algn="l">
              <a:lnSpc>
                <a:spcPct val="130000"/>
              </a:lnSpc>
              <a:spcBef>
                <a:spcPts val="1000"/>
              </a:spcBef>
              <a:buClrTx/>
              <a:buSzTx/>
              <a:buNone/>
            </a:pPr>
            <a:endParaRPr lang="zh-CN" altLang="en-US" sz="2800" b="0" i="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230" y="2374900"/>
            <a:ext cx="11732895" cy="35839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4"/>
          <p:cNvSpPr/>
          <p:nvPr/>
        </p:nvSpPr>
        <p:spPr>
          <a:xfrm>
            <a:off x="588263" y="408432"/>
            <a:ext cx="10460735" cy="606552"/>
          </a:xfrm>
          <a:prstGeom prst="rect">
            <a:avLst/>
          </a:prstGeom>
          <a:solidFill>
            <a:srgbClr val="C7DD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l" rtl="0" eaLnBrk="0">
              <a:lnSpc>
                <a:spcPct val="106000"/>
              </a:lnSpc>
            </a:pPr>
            <a:r>
              <a:rPr lang="zh-CN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复习</a:t>
            </a:r>
            <a:r>
              <a:rPr lang="en-US" altLang="zh-CN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——</a:t>
            </a:r>
            <a:r>
              <a:rPr lang="zh-CN" altLang="en-US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非对称密码</a:t>
            </a:r>
            <a:r>
              <a:rPr lang="zh-CN" altLang="en-US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算法</a:t>
            </a:r>
            <a:endParaRPr lang="zh-CN" altLang="en-US" sz="3600" kern="0" spc="-40" dirty="0">
              <a:solidFill>
                <a:srgbClr val="1F4E79">
                  <a:alpha val="100000"/>
                </a:srgbClr>
              </a:solidFill>
              <a:latin typeface="Calibri" panose="020F0502020204030204" charset="0"/>
              <a:ea typeface="微软雅黑" panose="020B0503020204020204" charset="-122"/>
              <a:cs typeface="仿宋" panose="02010609060101010101" charset="-122"/>
              <a:sym typeface="+mn-ea"/>
            </a:endParaRPr>
          </a:p>
        </p:txBody>
      </p:sp>
      <p:sp>
        <p:nvSpPr>
          <p:cNvPr id="8" name="path 8"/>
          <p:cNvSpPr/>
          <p:nvPr/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26440" y="1067435"/>
            <a:ext cx="10184130" cy="327469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l">
              <a:lnSpc>
                <a:spcPct val="130000"/>
              </a:lnSpc>
              <a:spcBef>
                <a:spcPts val="1000"/>
              </a:spcBef>
              <a:buClrTx/>
              <a:buSzTx/>
              <a:buNone/>
            </a:pPr>
            <a:r>
              <a:rPr lang="zh-CN" altLang="en-US" sz="2800" b="0" i="0" dirty="0"/>
              <a:t>针对</a:t>
            </a:r>
            <a:r>
              <a:rPr lang="en-US" altLang="zh-CN" sz="2800" b="0" i="0" dirty="0"/>
              <a:t>DH</a:t>
            </a:r>
            <a:r>
              <a:rPr lang="zh-CN" altLang="en-US" sz="2800" b="0" i="0" dirty="0"/>
              <a:t>密钥交换算法，已知</a:t>
            </a:r>
            <a:r>
              <a:rPr lang="en-US" altLang="zh-CN" sz="2800" b="0" i="0" dirty="0"/>
              <a:t>p = 11</a:t>
            </a:r>
            <a:r>
              <a:rPr lang="zh-CN" altLang="en-US" sz="2800" b="0" i="0" dirty="0"/>
              <a:t>，</a:t>
            </a:r>
            <a:r>
              <a:rPr lang="en-US" altLang="zh-CN" sz="2800" b="0" i="0" dirty="0"/>
              <a:t>g = 2</a:t>
            </a:r>
            <a:r>
              <a:rPr lang="zh-CN" altLang="en-US" sz="2800" b="0" i="0" dirty="0"/>
              <a:t>，</a:t>
            </a:r>
            <a:r>
              <a:rPr lang="en-US" altLang="zh-CN" sz="2800" b="0" i="0" dirty="0"/>
              <a:t>Alice</a:t>
            </a:r>
            <a:r>
              <a:rPr lang="zh-CN" altLang="en-US" sz="2800" b="0" i="0" dirty="0"/>
              <a:t>的私钥</a:t>
            </a:r>
            <a:r>
              <a:rPr lang="en-US" altLang="zh-CN" sz="2800" b="0" i="0" dirty="0"/>
              <a:t>a=3</a:t>
            </a:r>
            <a:r>
              <a:rPr lang="zh-CN" altLang="en-US" sz="2800" b="0" i="0" dirty="0"/>
              <a:t>，</a:t>
            </a:r>
            <a:r>
              <a:rPr lang="en-US" altLang="zh-CN" sz="2800" b="0" i="0" dirty="0"/>
              <a:t>Bob</a:t>
            </a:r>
            <a:r>
              <a:rPr lang="zh-CN" altLang="en-US" sz="2800" b="0" i="0" dirty="0"/>
              <a:t>的私钥</a:t>
            </a:r>
            <a:r>
              <a:rPr lang="en-US" altLang="zh-CN" sz="2800" b="0" i="0" dirty="0"/>
              <a:t>b=4</a:t>
            </a:r>
            <a:r>
              <a:rPr lang="zh-CN" altLang="en-US" sz="2800" b="0" i="0" dirty="0"/>
              <a:t>，进行以下</a:t>
            </a:r>
            <a:r>
              <a:rPr lang="zh-CN" altLang="en-US" sz="2800" b="0" i="0" dirty="0"/>
              <a:t>计算：</a:t>
            </a:r>
            <a:endParaRPr lang="zh-CN" altLang="en-US" sz="2800" b="0" i="0" dirty="0"/>
          </a:p>
          <a:p>
            <a:pPr marL="514350" indent="-514350" algn="l">
              <a:lnSpc>
                <a:spcPct val="130000"/>
              </a:lnSpc>
              <a:spcBef>
                <a:spcPts val="1000"/>
              </a:spcBef>
              <a:buClrTx/>
              <a:buSzTx/>
              <a:buAutoNum type="arabicPeriod"/>
            </a:pPr>
            <a:r>
              <a:rPr lang="zh-CN" altLang="en-US" sz="2800" b="0" i="0" dirty="0"/>
              <a:t>计算</a:t>
            </a:r>
            <a:r>
              <a:rPr lang="en-US" altLang="zh-CN" sz="2800" b="0" i="0" dirty="0"/>
              <a:t>Alice</a:t>
            </a:r>
            <a:r>
              <a:rPr lang="zh-CN" altLang="en-US" sz="2800" b="0" i="0" dirty="0"/>
              <a:t>的公钥</a:t>
            </a:r>
            <a:r>
              <a:rPr lang="en-US" altLang="zh-CN" sz="2800" b="0" i="0" dirty="0"/>
              <a:t>A</a:t>
            </a:r>
            <a:r>
              <a:rPr lang="zh-CN" altLang="en-US" sz="2800" b="0" i="0" dirty="0"/>
              <a:t>和</a:t>
            </a:r>
            <a:r>
              <a:rPr lang="en-US" altLang="zh-CN" sz="2800" b="0" i="0" dirty="0"/>
              <a:t>Bob</a:t>
            </a:r>
            <a:r>
              <a:rPr lang="zh-CN" altLang="en-US" sz="2800" b="0" i="0" dirty="0"/>
              <a:t>的公钥</a:t>
            </a:r>
            <a:r>
              <a:rPr lang="en-US" altLang="zh-CN" sz="2800" b="0" i="0" dirty="0"/>
              <a:t>B</a:t>
            </a:r>
            <a:endParaRPr lang="en-US" altLang="zh-CN" sz="2800" b="0" i="0" dirty="0"/>
          </a:p>
          <a:p>
            <a:pPr marL="514350" indent="-514350" algn="l">
              <a:lnSpc>
                <a:spcPct val="130000"/>
              </a:lnSpc>
              <a:spcBef>
                <a:spcPts val="1000"/>
              </a:spcBef>
              <a:buClrTx/>
              <a:buSzTx/>
              <a:buAutoNum type="arabicPeriod"/>
            </a:pPr>
            <a:r>
              <a:rPr lang="zh-CN" altLang="en-US" sz="2800" b="0" i="0" dirty="0"/>
              <a:t>计算出共享密钥</a:t>
            </a:r>
            <a:r>
              <a:rPr lang="en-US" altLang="zh-CN" sz="2800" b="0" i="0" dirty="0"/>
              <a:t>K</a:t>
            </a:r>
            <a:endParaRPr lang="en-US" altLang="zh-CN" sz="2800" b="0" i="0" dirty="0"/>
          </a:p>
          <a:p>
            <a:pPr indent="0" algn="l">
              <a:lnSpc>
                <a:spcPct val="130000"/>
              </a:lnSpc>
              <a:spcBef>
                <a:spcPts val="1000"/>
              </a:spcBef>
              <a:buClrTx/>
              <a:buSzTx/>
              <a:buNone/>
            </a:pPr>
            <a:endParaRPr lang="zh-CN" altLang="en-US" sz="2800" b="0" i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4"/>
          <p:cNvSpPr/>
          <p:nvPr/>
        </p:nvSpPr>
        <p:spPr>
          <a:xfrm>
            <a:off x="588263" y="408432"/>
            <a:ext cx="10460735" cy="606552"/>
          </a:xfrm>
          <a:prstGeom prst="rect">
            <a:avLst/>
          </a:prstGeom>
          <a:solidFill>
            <a:srgbClr val="C7DD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l" rtl="0" eaLnBrk="0">
              <a:lnSpc>
                <a:spcPct val="106000"/>
              </a:lnSpc>
            </a:pPr>
            <a:r>
              <a:rPr lang="zh-CN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复习</a:t>
            </a:r>
            <a:r>
              <a:rPr lang="en-US" altLang="zh-CN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——</a:t>
            </a:r>
            <a:r>
              <a:rPr lang="zh-CN" altLang="en-US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非对称密码</a:t>
            </a:r>
            <a:r>
              <a:rPr lang="zh-CN" altLang="en-US" sz="3600" kern="0" spc="-40" dirty="0">
                <a:solidFill>
                  <a:srgbClr val="1F4E79">
                    <a:alpha val="100000"/>
                  </a:srgbClr>
                </a:solidFill>
                <a:latin typeface="Calibri" panose="020F0502020204030204" charset="0"/>
                <a:ea typeface="微软雅黑" panose="020B0503020204020204" charset="-122"/>
                <a:cs typeface="仿宋" panose="02010609060101010101" charset="-122"/>
                <a:sym typeface="+mn-ea"/>
              </a:rPr>
              <a:t>算法</a:t>
            </a:r>
            <a:endParaRPr lang="zh-CN" altLang="en-US" sz="3600" kern="0" spc="-40" dirty="0">
              <a:solidFill>
                <a:srgbClr val="1F4E79">
                  <a:alpha val="100000"/>
                </a:srgbClr>
              </a:solidFill>
              <a:latin typeface="Calibri" panose="020F0502020204030204" charset="0"/>
              <a:ea typeface="微软雅黑" panose="020B0503020204020204" charset="-122"/>
              <a:cs typeface="仿宋" panose="02010609060101010101" charset="-122"/>
              <a:sym typeface="+mn-ea"/>
            </a:endParaRPr>
          </a:p>
        </p:txBody>
      </p:sp>
      <p:sp>
        <p:nvSpPr>
          <p:cNvPr id="8" name="path 8"/>
          <p:cNvSpPr/>
          <p:nvPr/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26440" y="1067435"/>
            <a:ext cx="10184130" cy="327469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l">
              <a:lnSpc>
                <a:spcPct val="130000"/>
              </a:lnSpc>
              <a:spcBef>
                <a:spcPts val="1000"/>
              </a:spcBef>
              <a:buClrTx/>
              <a:buSzTx/>
              <a:buNone/>
            </a:pPr>
            <a:r>
              <a:rPr lang="zh-CN" altLang="en-US" sz="2800" b="0" i="0" dirty="0"/>
              <a:t>针对</a:t>
            </a:r>
            <a:r>
              <a:rPr lang="en-US" altLang="zh-CN" sz="2800" b="0" i="0" dirty="0"/>
              <a:t>DH</a:t>
            </a:r>
            <a:r>
              <a:rPr lang="zh-CN" altLang="en-US" sz="2800" b="0" i="0" dirty="0"/>
              <a:t>密钥交换算法，已知</a:t>
            </a:r>
            <a:r>
              <a:rPr lang="en-US" altLang="zh-CN" sz="2800" b="0" i="0" dirty="0"/>
              <a:t>p = 11</a:t>
            </a:r>
            <a:r>
              <a:rPr lang="zh-CN" altLang="en-US" sz="2800" b="0" i="0" dirty="0"/>
              <a:t>，</a:t>
            </a:r>
            <a:r>
              <a:rPr lang="en-US" altLang="zh-CN" sz="2800" b="0" i="0" dirty="0"/>
              <a:t>g = 2</a:t>
            </a:r>
            <a:r>
              <a:rPr lang="zh-CN" altLang="en-US" sz="2800" b="0" i="0" dirty="0"/>
              <a:t>，</a:t>
            </a:r>
            <a:r>
              <a:rPr lang="en-US" altLang="zh-CN" sz="2800" b="0" i="0" dirty="0"/>
              <a:t>Alice</a:t>
            </a:r>
            <a:r>
              <a:rPr lang="zh-CN" altLang="en-US" sz="2800" b="0" i="0" dirty="0"/>
              <a:t>的私钥</a:t>
            </a:r>
            <a:r>
              <a:rPr lang="en-US" altLang="zh-CN" sz="2800" b="0" i="0" dirty="0"/>
              <a:t>a=3</a:t>
            </a:r>
            <a:r>
              <a:rPr lang="zh-CN" altLang="en-US" sz="2800" b="0" i="0" dirty="0"/>
              <a:t>，</a:t>
            </a:r>
            <a:r>
              <a:rPr lang="en-US" altLang="zh-CN" sz="2800" b="0" i="0" dirty="0"/>
              <a:t>Bob</a:t>
            </a:r>
            <a:r>
              <a:rPr lang="zh-CN" altLang="en-US" sz="2800" b="0" i="0" dirty="0"/>
              <a:t>的私钥</a:t>
            </a:r>
            <a:r>
              <a:rPr lang="en-US" altLang="zh-CN" sz="2800" b="0" i="0" dirty="0"/>
              <a:t>b=4</a:t>
            </a:r>
            <a:r>
              <a:rPr lang="zh-CN" altLang="en-US" sz="2800" b="0" i="0" dirty="0"/>
              <a:t>，进行以下</a:t>
            </a:r>
            <a:r>
              <a:rPr lang="zh-CN" altLang="en-US" sz="2800" b="0" i="0" dirty="0"/>
              <a:t>计算：</a:t>
            </a:r>
            <a:endParaRPr lang="zh-CN" altLang="en-US" sz="2800" b="0" i="0" dirty="0"/>
          </a:p>
          <a:p>
            <a:pPr marL="514350" indent="-514350" algn="l">
              <a:lnSpc>
                <a:spcPct val="130000"/>
              </a:lnSpc>
              <a:spcBef>
                <a:spcPts val="1000"/>
              </a:spcBef>
              <a:buClrTx/>
              <a:buSzTx/>
              <a:buAutoNum type="arabicPeriod"/>
            </a:pPr>
            <a:r>
              <a:rPr lang="zh-CN" altLang="en-US" sz="2800" b="0" i="0" dirty="0"/>
              <a:t>计算</a:t>
            </a:r>
            <a:r>
              <a:rPr lang="en-US" altLang="zh-CN" sz="2800" b="0" i="0" dirty="0"/>
              <a:t>Alice</a:t>
            </a:r>
            <a:r>
              <a:rPr lang="zh-CN" altLang="en-US" sz="2800" b="0" i="0" dirty="0"/>
              <a:t>的公钥</a:t>
            </a:r>
            <a:r>
              <a:rPr lang="en-US" altLang="zh-CN" sz="2800" b="0" i="0" dirty="0"/>
              <a:t>A</a:t>
            </a:r>
            <a:r>
              <a:rPr lang="zh-CN" altLang="en-US" sz="2800" b="0" i="0" dirty="0"/>
              <a:t>和</a:t>
            </a:r>
            <a:r>
              <a:rPr lang="en-US" altLang="zh-CN" sz="2800" b="0" i="0" dirty="0"/>
              <a:t>Bob</a:t>
            </a:r>
            <a:r>
              <a:rPr lang="zh-CN" altLang="en-US" sz="2800" b="0" i="0" dirty="0"/>
              <a:t>的公钥</a:t>
            </a:r>
            <a:r>
              <a:rPr lang="en-US" altLang="zh-CN" sz="2800" b="0" i="0" dirty="0"/>
              <a:t>B</a:t>
            </a:r>
            <a:endParaRPr lang="en-US" altLang="zh-CN" sz="2800" b="0" i="0" dirty="0"/>
          </a:p>
          <a:p>
            <a:pPr marL="514350" indent="-514350" algn="l">
              <a:lnSpc>
                <a:spcPct val="130000"/>
              </a:lnSpc>
              <a:spcBef>
                <a:spcPts val="1000"/>
              </a:spcBef>
              <a:buClrTx/>
              <a:buSzTx/>
              <a:buAutoNum type="arabicPeriod"/>
            </a:pPr>
            <a:r>
              <a:rPr lang="zh-CN" altLang="en-US" sz="2800" b="0" i="0" dirty="0"/>
              <a:t>计算出共享密钥</a:t>
            </a:r>
            <a:r>
              <a:rPr lang="en-US" altLang="zh-CN" sz="2800" b="0" i="0" dirty="0"/>
              <a:t>K</a:t>
            </a:r>
            <a:endParaRPr lang="en-US" altLang="zh-CN" sz="2800" b="0" i="0" dirty="0"/>
          </a:p>
          <a:p>
            <a:pPr indent="0" algn="l">
              <a:lnSpc>
                <a:spcPct val="130000"/>
              </a:lnSpc>
              <a:spcBef>
                <a:spcPts val="1000"/>
              </a:spcBef>
              <a:buClrTx/>
              <a:buSzTx/>
              <a:buNone/>
            </a:pPr>
            <a:endParaRPr lang="zh-CN" altLang="en-US" sz="2800" b="0" i="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060" y="1245235"/>
            <a:ext cx="10048875" cy="48380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ABLE_ENDDRAG_ORIGIN_RECT" val="760*318"/>
  <p:tag name="TABLE_ENDDRAG_RECT" val="65*167*760*318"/>
</p:tagLst>
</file>

<file path=ppt/tags/tag2.xml><?xml version="1.0" encoding="utf-8"?>
<p:tagLst xmlns:p="http://schemas.openxmlformats.org/presentationml/2006/main">
  <p:tag name="commondata" val="eyJoZGlkIjoiZTcwZjg3OGM5MWVhNmI0ZmM4OGQ1YjQxNGU4NWYzMjg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1626</Words>
  <Application>WPS 演示</Application>
  <PresentationFormat>宽屏</PresentationFormat>
  <Paragraphs>918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Calibri</vt:lpstr>
      <vt:lpstr>微软雅黑</vt:lpstr>
      <vt:lpstr>仿宋</vt:lpstr>
      <vt:lpstr>Times New Roman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surface</dc:creator>
  <cp:lastModifiedBy>BWX</cp:lastModifiedBy>
  <cp:revision>69</cp:revision>
  <dcterms:created xsi:type="dcterms:W3CDTF">1900-01-01T00:00:00Z</dcterms:created>
  <dcterms:modified xsi:type="dcterms:W3CDTF">2025-06-17T07:13:40Z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2052-12.1.0.21541</vt:lpwstr>
  </property>
</Properties>
</file>