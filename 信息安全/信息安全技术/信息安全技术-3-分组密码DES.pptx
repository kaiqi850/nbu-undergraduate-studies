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3.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643" r:id="rId3"/>
    <p:sldId id="644" r:id="rId4"/>
    <p:sldId id="645" r:id="rId6"/>
    <p:sldId id="646" r:id="rId7"/>
    <p:sldId id="647" r:id="rId8"/>
    <p:sldId id="648" r:id="rId9"/>
    <p:sldId id="649" r:id="rId10"/>
    <p:sldId id="650" r:id="rId11"/>
    <p:sldId id="651" r:id="rId12"/>
    <p:sldId id="652" r:id="rId13"/>
    <p:sldId id="653" r:id="rId14"/>
    <p:sldId id="654" r:id="rId15"/>
    <p:sldId id="655" r:id="rId16"/>
    <p:sldId id="656" r:id="rId17"/>
    <p:sldId id="657" r:id="rId18"/>
    <p:sldId id="658" r:id="rId19"/>
    <p:sldId id="659" r:id="rId20"/>
    <p:sldId id="660" r:id="rId21"/>
    <p:sldId id="661" r:id="rId22"/>
    <p:sldId id="662" r:id="rId23"/>
    <p:sldId id="663" r:id="rId24"/>
    <p:sldId id="664" r:id="rId25"/>
    <p:sldId id="665" r:id="rId26"/>
    <p:sldId id="666" r:id="rId27"/>
    <p:sldId id="667" r:id="rId28"/>
    <p:sldId id="668" r:id="rId29"/>
    <p:sldId id="669" r:id="rId30"/>
    <p:sldId id="670" r:id="rId31"/>
    <p:sldId id="671" r:id="rId32"/>
    <p:sldId id="672" r:id="rId33"/>
    <p:sldId id="673" r:id="rId34"/>
    <p:sldId id="674" r:id="rId35"/>
    <p:sldId id="675" r:id="rId36"/>
    <p:sldId id="676" r:id="rId37"/>
    <p:sldId id="677" r:id="rId38"/>
    <p:sldId id="678" r:id="rId39"/>
    <p:sldId id="679" r:id="rId40"/>
    <p:sldId id="680" r:id="rId41"/>
    <p:sldId id="681" r:id="rId42"/>
    <p:sldId id="682" r:id="rId43"/>
    <p:sldId id="683" r:id="rId44"/>
    <p:sldId id="684" r:id="rId45"/>
    <p:sldId id="685" r:id="rId46"/>
    <p:sldId id="686" r:id="rId47"/>
    <p:sldId id="687" r:id="rId48"/>
    <p:sldId id="688" r:id="rId49"/>
    <p:sldId id="689" r:id="rId50"/>
    <p:sldId id="690" r:id="rId51"/>
    <p:sldId id="691" r:id="rId52"/>
    <p:sldId id="692" r:id="rId53"/>
    <p:sldId id="693" r:id="rId54"/>
    <p:sldId id="694" r:id="rId55"/>
    <p:sldId id="695" r:id="rId56"/>
    <p:sldId id="696" r:id="rId57"/>
    <p:sldId id="697" r:id="rId58"/>
    <p:sldId id="698" r:id="rId59"/>
    <p:sldId id="699" r:id="rId60"/>
    <p:sldId id="700" r:id="rId61"/>
    <p:sldId id="701" r:id="rId62"/>
    <p:sldId id="702" r:id="rId63"/>
    <p:sldId id="703" r:id="rId64"/>
    <p:sldId id="704" r:id="rId65"/>
    <p:sldId id="705" r:id="rId66"/>
    <p:sldId id="706" r:id="rId67"/>
    <p:sldId id="707" r:id="rId68"/>
    <p:sldId id="708" r:id="rId69"/>
    <p:sldId id="709" r:id="rId70"/>
    <p:sldId id="710" r:id="rId71"/>
    <p:sldId id="711" r:id="rId72"/>
    <p:sldId id="712" r:id="rId73"/>
    <p:sldId id="713" r:id="rId74"/>
    <p:sldId id="714" r:id="rId75"/>
    <p:sldId id="715" r:id="rId76"/>
    <p:sldId id="716" r:id="rId77"/>
    <p:sldId id="717" r:id="rId78"/>
    <p:sldId id="718" r:id="rId79"/>
    <p:sldId id="719" r:id="rId80"/>
    <p:sldId id="720" r:id="rId81"/>
    <p:sldId id="721" r:id="rId82"/>
    <p:sldId id="722" r:id="rId83"/>
    <p:sldId id="723" r:id="rId84"/>
    <p:sldId id="724" r:id="rId85"/>
    <p:sldId id="725" r:id="rId86"/>
    <p:sldId id="726" r:id="rId87"/>
    <p:sldId id="727" r:id="rId88"/>
    <p:sldId id="728" r:id="rId89"/>
    <p:sldId id="729" r:id="rId90"/>
    <p:sldId id="730" r:id="rId91"/>
  </p:sldIdLst>
  <p:sldSz cx="12192000" cy="6858000" type="screen16x9"/>
  <p:notesSz cx="6858000" cy="9144000"/>
  <p:custDataLst>
    <p:tags r:id="rId9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2" userDrawn="1">
          <p15:clr>
            <a:srgbClr val="A4A3A4"/>
          </p15:clr>
        </p15:guide>
        <p15:guide id="2" pos="37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4" d="100"/>
          <a:sy n="114" d="100"/>
        </p:scale>
        <p:origin x="414" y="108"/>
      </p:cViewPr>
      <p:guideLst>
        <p:guide orient="horz" pos="2242"/>
        <p:guide pos="37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gs" Target="tags/tag9.xml"/><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34" name=""/>
        <p:cNvGrpSpPr/>
        <p:nvPr/>
      </p:nvGrpSpPr>
      <p:grpSpPr>
        <a:xfrm>
          <a:off x="0" y="0"/>
          <a:ext cx="0" cy="0"/>
          <a:chOff x="0" y="0"/>
          <a:chExt cx="0" cy="0"/>
        </a:xfrm>
      </p:grpSpPr>
      <p:sp>
        <p:nvSpPr>
          <p:cNvPr id="1049503"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504"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9505"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9506" name="备注占位符 4"/>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507"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508"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p:sp>
        <p:nvSpPr>
          <p:cNvPr id="1048849" name="幻灯片图像占位符 1"/>
          <p:cNvSpPr/>
          <p:nvPr>
            <p:ph type="sldImg" idx="2"/>
          </p:nvPr>
        </p:nvSpPr>
        <p:spPr/>
      </p:sp>
      <p:sp>
        <p:nvSpPr>
          <p:cNvPr id="1048850"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p:sp>
        <p:nvSpPr>
          <p:cNvPr id="1048858" name="幻灯片图像占位符 1"/>
          <p:cNvSpPr/>
          <p:nvPr>
            <p:ph type="sldImg" idx="2"/>
          </p:nvPr>
        </p:nvSpPr>
        <p:spPr/>
      </p:sp>
      <p:sp>
        <p:nvSpPr>
          <p:cNvPr id="1048859" name="文本占位符 2"/>
          <p:cNvSpPr/>
          <p:nvPr>
            <p:ph type="body" idx="3"/>
          </p:nvPr>
        </p:nvSpPr>
        <p:spPr/>
        <p:txBody>
          <a:bodyPr/>
          <a:p>
            <a:r>
              <a:rPr lang="zh-CN" altLang="en-US"/>
              <a:t>首先我们先回顾一下</a:t>
            </a:r>
            <a:r>
              <a:rPr lang="zh-CN" altLang="en-US"/>
              <a:t>对称密码算法的基本概念。</a:t>
            </a:r>
            <a:endParaRPr lang="zh-CN" altLang="en-US"/>
          </a:p>
          <a:p>
            <a:r>
              <a:rPr lang="zh-CN" altLang="en-US"/>
              <a:t>回顾一下前面介绍的密码算法的基本分类，回顾一下什么是对称算法，</a:t>
            </a:r>
            <a:endParaRPr lang="zh-CN" altLang="en-US"/>
          </a:p>
          <a:p>
            <a:r>
              <a:rPr lang="zh-CN" altLang="en-US"/>
              <a:t>我们知道在一个加密的信道上进行一个密码体制的搭建，那么需要一个发送方和接收方对明文进行加密，然后对它们进行一个解密还原得到明文。</a:t>
            </a:r>
            <a:endParaRPr lang="zh-CN" altLang="en-US"/>
          </a:p>
          <a:p>
            <a:r>
              <a:rPr lang="zh-CN" altLang="en-US"/>
              <a:t>在这个过程中，不管是加密还是解密，他们有一个控制单元，就是要使家里的钥匙来控制这个加密算法的操作解密的钥匙控制解密算法的基本操作，对于对称密码算法，他有一个基本的特点，就是加密时候使用的钥匙和解密时候使用的钥匙两个是相等的，或者说是使用的同一把钥匙。</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p:sp>
        <p:nvSpPr>
          <p:cNvPr id="1048858" name="幻灯片图像占位符 1"/>
          <p:cNvSpPr/>
          <p:nvPr>
            <p:ph type="sldImg" idx="2"/>
          </p:nvPr>
        </p:nvSpPr>
        <p:spPr/>
      </p:sp>
      <p:sp>
        <p:nvSpPr>
          <p:cNvPr id="1048859" name="文本占位符 2"/>
          <p:cNvSpPr/>
          <p:nvPr>
            <p:ph type="body" idx="3"/>
          </p:nvPr>
        </p:nvSpPr>
        <p:spPr/>
        <p:txBody>
          <a:bodyPr/>
          <a:p>
            <a:r>
              <a:rPr lang="zh-CN" altLang="en-US"/>
              <a:t>因此呢，我们可以看到这个加密还有解密从数据的输入角度来看，明文输入的到密文，密文输入得到</a:t>
            </a:r>
            <a:r>
              <a:rPr lang="zh-CN" altLang="en-US"/>
              <a:t>明文</a:t>
            </a:r>
            <a:endParaRPr lang="zh-CN" altLang="en-US"/>
          </a:p>
          <a:p>
            <a:r>
              <a:rPr lang="zh-CN" altLang="en-US"/>
              <a:t>他们中间使用的钥匙呢，不管是加密算法还是简便算法都是用的是相同的密钥，所以呢，就像照镜子一样是对称的，我们称之为对称加密体制。</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p:sp>
        <p:nvSpPr>
          <p:cNvPr id="1048858" name="幻灯片图像占位符 1"/>
          <p:cNvSpPr/>
          <p:nvPr>
            <p:ph type="sldImg" idx="2"/>
          </p:nvPr>
        </p:nvSpPr>
        <p:spPr/>
      </p:sp>
      <p:sp>
        <p:nvSpPr>
          <p:cNvPr id="1048859" name="文本占位符 2"/>
          <p:cNvSpPr/>
          <p:nvPr>
            <p:ph type="body" idx="3"/>
          </p:nvPr>
        </p:nvSpPr>
        <p:spPr/>
        <p:txBody>
          <a:bodyPr/>
          <a:p>
            <a:r>
              <a:rPr lang="zh-CN" altLang="en-US">
                <a:sym typeface="+mn-ea"/>
              </a:rPr>
              <a:t>对称密码算法，我们如果细分的话又可以分为我们上下这两类。</a:t>
            </a:r>
            <a:endParaRPr lang="zh-CN" altLang="en-US"/>
          </a:p>
          <a:p>
            <a:r>
              <a:rPr lang="zh-CN" altLang="en-US">
                <a:sym typeface="+mn-ea"/>
              </a:rPr>
              <a:t>上面这个图，那我们管它叫做流密码，对于流密码来说，如果我们遮住上面这些密钥流产生算法，我们把它忽略掉，把它遮住的话，单看下面就是一个简单的异或运算。</a:t>
            </a:r>
            <a:endParaRPr lang="zh-CN" altLang="en-US"/>
          </a:p>
          <a:p>
            <a:endParaRPr lang="zh-CN" altLang="en-US"/>
          </a:p>
          <a:p>
            <a:r>
              <a:rPr lang="zh-CN" altLang="en-US">
                <a:sym typeface="+mn-ea"/>
              </a:rPr>
              <a:t>在流密码中，不管我们把一个比特作为一个单位还是把一个字节作为一个单位，他都是和密钥进行一个主比特的异或运算。</a:t>
            </a:r>
            <a:endParaRPr lang="zh-CN" altLang="en-US"/>
          </a:p>
          <a:p>
            <a:r>
              <a:rPr lang="zh-CN" altLang="en-US">
                <a:sym typeface="+mn-ea"/>
              </a:rPr>
              <a:t>在解密的过程中，同样也是将秘文和我们的密钥进行一个异或运算。</a:t>
            </a:r>
            <a:endParaRPr lang="zh-CN" altLang="en-US"/>
          </a:p>
          <a:p>
            <a:endParaRPr lang="zh-CN" altLang="en-US"/>
          </a:p>
          <a:p>
            <a:r>
              <a:rPr lang="zh-CN" altLang="en-US">
                <a:sym typeface="+mn-ea"/>
              </a:rPr>
              <a:t>在这种运算中，不管是我们去处理明文还是处理密文，他这个处理过程就像是水流一样，一比特一比特的进行处理，或者是按照字节一个自己一个字节的进行处理，逐个字节或者是逐个比特的去进行一会操作，所以我们称之为流密码。</a:t>
            </a:r>
            <a:endParaRPr lang="zh-CN" altLang="en-US"/>
          </a:p>
          <a:p>
            <a:endParaRPr lang="zh-CN" altLang="en-US"/>
          </a:p>
          <a:p>
            <a:r>
              <a:rPr lang="zh-CN" altLang="en-US">
                <a:sym typeface="+mn-ea"/>
              </a:rPr>
              <a:t>我们在看第二类，也就是这节课，我们会重点给大家介绍的分组密码，它的特点和流密码不太一样，他对数据的要求就会比流密码更加严格一些，或者说呢，就是有一个固定的要求，就是输入的</a:t>
            </a:r>
            <a:r>
              <a:rPr lang="zh-CN" altLang="en-US">
                <a:sym typeface="+mn-ea"/>
              </a:rPr>
              <a:t>明文，必须得满足他的固定分组长度的要求。</a:t>
            </a:r>
            <a:endParaRPr lang="zh-CN" altLang="en-US"/>
          </a:p>
          <a:p>
            <a:r>
              <a:rPr lang="zh-CN" altLang="en-US">
                <a:sym typeface="+mn-ea"/>
              </a:rPr>
              <a:t>顾名思义分组密码算法呢，他就是把一个输入的明文分成等长的多个分组， 随后再去进行加密。</a:t>
            </a:r>
            <a:endParaRPr lang="zh-CN" altLang="en-US"/>
          </a:p>
          <a:p>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p:sp>
        <p:nvSpPr>
          <p:cNvPr id="1048858" name="幻灯片图像占位符 1"/>
          <p:cNvSpPr/>
          <p:nvPr>
            <p:ph type="sldImg" idx="2"/>
          </p:nvPr>
        </p:nvSpPr>
        <p:spPr/>
      </p:sp>
      <p:sp>
        <p:nvSpPr>
          <p:cNvPr id="1048859" name="文本占位符 2"/>
          <p:cNvSpPr/>
          <p:nvPr>
            <p:ph type="body" idx="3"/>
          </p:nvPr>
        </p:nvSpPr>
        <p:spPr/>
        <p:txBody>
          <a:bodyPr/>
          <a:p>
            <a:r>
              <a:rPr lang="zh-CN" altLang="en-US"/>
              <a:t>所以说，分组密码和流密码，虽然都可以去对数据进行加解密，然后呢，也都为对称密码算法，但是他们有一些不同点：</a:t>
            </a:r>
            <a:endParaRPr lang="zh-CN" altLang="en-US"/>
          </a:p>
          <a:p>
            <a:r>
              <a:rPr lang="en-US" altLang="zh-CN"/>
              <a:t>1 </a:t>
            </a:r>
            <a:r>
              <a:rPr lang="zh-CN" altLang="en-US"/>
              <a:t>分组密码呢，需要对数据采取分段处理，流密码可以处理无结构的数据流。这个特性也就导致了，他们在应用领域中的应用场景就会不同，分组加密用于处理一些长度固定的信息，例如计算机的文件等；二流密码就是常用于处理一些向实施通讯，或者其他领域的一些长度不固定的信息；比如我们打电话的时候不知道语音会持续多久，或者不知道数据量是多大长度，这时候就适合使用流密码来进行加密。</a:t>
            </a:r>
            <a:endParaRPr lang="zh-CN" altLang="en-US"/>
          </a:p>
          <a:p>
            <a:r>
              <a:rPr lang="en-US" altLang="zh-CN"/>
              <a:t>2  相关性</a:t>
            </a:r>
            <a:endParaRPr lang="en-US" altLang="zh-CN"/>
          </a:p>
          <a:p>
            <a:r>
              <a:rPr lang="en-US" altLang="zh-CN"/>
              <a:t>3 实现环境 软件</a:t>
            </a:r>
            <a:r>
              <a:rPr lang="zh-CN" altLang="en-US"/>
              <a:t>和硬件，分组密码往往更多的在软件环境中实现；而流密码，因为用的最基本的逻辑电路来设计的很适合用于硬件实现，比如说异或运算，或者是一些简单的与、或运算等。（异或运算就是两个只不相同的话，异或结果是真）。</a:t>
            </a:r>
            <a:endParaRPr lang="zh-CN" altLang="en-US"/>
          </a:p>
          <a:p>
            <a:r>
              <a:rPr lang="en-US" altLang="zh-CN"/>
              <a:t>4 运</a:t>
            </a:r>
            <a:r>
              <a:rPr lang="zh-CN" altLang="en-US"/>
              <a:t>用领域</a:t>
            </a:r>
            <a:endParaRPr lang="zh-CN" altLang="en-US"/>
          </a:p>
          <a:p>
            <a:r>
              <a:rPr lang="en-US" altLang="zh-CN"/>
              <a:t>5 设计理念差异</a:t>
            </a:r>
            <a:endParaRPr lang="en-US" altLang="zh-CN"/>
          </a:p>
          <a:p>
            <a:r>
              <a:rPr lang="en-US" altLang="zh-CN"/>
              <a:t>对于分组密码往往是在钥匙的控制下对明文进行替代，或者是移位这些操作通过反复迭代来实现保密，而对于</a:t>
            </a:r>
            <a:r>
              <a:rPr lang="zh-CN" altLang="en-US"/>
              <a:t>流</a:t>
            </a:r>
            <a:r>
              <a:rPr lang="en-US" altLang="zh-CN"/>
              <a:t>密码往往用一个序列</a:t>
            </a:r>
            <a:r>
              <a:rPr lang="zh-CN" altLang="en-US"/>
              <a:t>流</a:t>
            </a:r>
            <a:r>
              <a:rPr lang="en-US" altLang="zh-CN"/>
              <a:t>发生器或者密钥流产生</a:t>
            </a:r>
            <a:r>
              <a:rPr lang="zh-CN" altLang="en-US"/>
              <a:t>器</a:t>
            </a:r>
            <a:r>
              <a:rPr lang="en-US" altLang="zh-CN"/>
              <a:t>来产生随机数，然后把明文和这些随机数进行</a:t>
            </a:r>
            <a:r>
              <a:rPr lang="zh-CN" altLang="en-US"/>
              <a:t>异</a:t>
            </a:r>
            <a:r>
              <a:rPr lang="en-US" altLang="zh-CN"/>
              <a:t>或来进行保密操作</a:t>
            </a:r>
            <a:endParaRPr lang="en-US" altLang="zh-CN"/>
          </a:p>
          <a:p>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p:sp>
        <p:nvSpPr>
          <p:cNvPr id="1048858" name="幻灯片图像占位符 1"/>
          <p:cNvSpPr/>
          <p:nvPr>
            <p:ph type="sldImg" idx="2"/>
          </p:nvPr>
        </p:nvSpPr>
        <p:spPr/>
      </p:sp>
      <p:sp>
        <p:nvSpPr>
          <p:cNvPr id="1048859" name="文本占位符 2"/>
          <p:cNvSpPr/>
          <p:nvPr>
            <p:ph type="body" idx="3"/>
          </p:nvPr>
        </p:nvSpPr>
        <p:spPr/>
        <p:txBody>
          <a:bodyPr/>
          <a:p>
            <a:r>
              <a:rPr lang="zh-CN" altLang="en-US"/>
              <a:t>那我们先看一下分组密码分组密码，有一个很典型的要求，就是他输出快中的每一位是由输入框中的每一位和密钥中的每一位共同决定的。</a:t>
            </a:r>
            <a:endParaRPr lang="zh-CN" altLang="en-US"/>
          </a:p>
          <a:p>
            <a:r>
              <a:rPr lang="zh-CN" altLang="en-US"/>
              <a:t>这个要求其实尚是非常苛刻的。也就是他要求每一个比特的输入都要和我们的输出彼此纠葛。这种情况下呢，我们就需要使用一些方法来满足我们这个目的。</a:t>
            </a:r>
            <a:endParaRPr lang="zh-CN" altLang="en-US"/>
          </a:p>
          <a:p>
            <a:endParaRPr lang="zh-CN" altLang="en-US"/>
          </a:p>
          <a:p>
            <a:r>
              <a:rPr lang="zh-CN" altLang="en-US"/>
              <a:t>这时我们就会用到我们之前介绍古典密码学时，反复提到的代替和置换等加密操作。</a:t>
            </a:r>
            <a:endParaRPr lang="zh-CN" altLang="en-US"/>
          </a:p>
          <a:p>
            <a:endParaRPr lang="zh-CN" altLang="en-US"/>
          </a:p>
          <a:p>
            <a:r>
              <a:rPr lang="zh-CN" altLang="en-US"/>
              <a:t>当然，这时候就需要提到我们著名的一个密码学家香农在上世纪1949年发现的一个隐藏信息的，或者说实现加密方案的非常典型的两个技术混淆和扩散。</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对于混淆，他就是改变数据快让输出为和数位之间没有明显的统计关系。</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而另外一个香浓的基本方法就是扩散，扩散的思想就是把一个密钥位，或者是其他的一些输入位转移到秘</a:t>
            </a:r>
            <a:r>
              <a:rPr lang="zh-CN" altLang="en-US"/>
              <a:t>文的其他位上。</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接下来我们简单地用一些稍微数学一点的表示，方法对我们的分组密码算法进行一个概述。</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刚才我们对分组密码算法进行了一个简单的介绍，接下来我们将介绍分组密码算法的两个主要结构SP网络和feistal结构。首先介绍S P网络。S P网络中的S指的是Substitution代替；P指的是permutation置换。这个刚才我们也提到过古典密码的主要思想。</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ltLang="zh-CN"/>
              <a:t>S P网络是</a:t>
            </a:r>
            <a:r>
              <a:rPr lang="zh-CN" altLang="en-US"/>
              <a:t>由香农</a:t>
            </a:r>
            <a:r>
              <a:rPr lang="en-US" altLang="zh-CN"/>
              <a:t>提出的一种结构，他也被称为代换网络</a:t>
            </a:r>
            <a:endParaRPr lang="en-US" altLang="zh-CN"/>
          </a:p>
          <a:p>
            <a:r>
              <a:rPr lang="en-US" altLang="zh-CN"/>
              <a:t>他的定义</a:t>
            </a:r>
            <a:r>
              <a:rPr lang="zh-CN" altLang="en-US"/>
              <a:t>为；</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这个图表是一个</a:t>
            </a:r>
            <a:r>
              <a:rPr lang="en-US" altLang="zh-CN"/>
              <a:t>n</a:t>
            </a:r>
            <a:r>
              <a:rPr lang="zh-CN" altLang="en-US"/>
              <a:t>等于4的代换密码的结构。</a:t>
            </a:r>
            <a:endParaRPr lang="zh-CN" altLang="en-US"/>
          </a:p>
          <a:p>
            <a:r>
              <a:rPr lang="zh-CN" altLang="en-US"/>
              <a:t>我们可以看到四比特的输入产生了16个可能的输入状态中的一个代换结构。</a:t>
            </a:r>
            <a:endParaRPr lang="zh-CN" altLang="en-US"/>
          </a:p>
          <a:p>
            <a:r>
              <a:rPr lang="zh-CN" altLang="en-US"/>
              <a:t>将这一个状态应设为16个可能输出状态中的一个每一个输出状态，也是由四个密文比特表示。</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刚才结构中的有什么关系，我们也可以使用代换表来表示，明文到密文的一个映射。</a:t>
            </a:r>
            <a:endParaRPr lang="zh-CN" altLang="en-US"/>
          </a:p>
          <a:p>
            <a:r>
              <a:rPr lang="zh-CN" altLang="en-US"/>
              <a:t>这种定义法是分组密码中最常用的形式，可以用来定义铭文到秘闻之间的任何的可能的可逆映射。</a:t>
            </a:r>
            <a:endParaRPr lang="zh-CN" altLang="en-US"/>
          </a:p>
          <a:p>
            <a:endParaRPr lang="zh-CN" altLang="en-US"/>
          </a:p>
          <a:p>
            <a:r>
              <a:rPr lang="zh-CN" altLang="en-US"/>
              <a:t>不过也很显而易见，如果我们的分组长度嗯太长的话用这种表示方法就不合适了。</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但是如果我们的分组长度太小，例如</a:t>
            </a:r>
            <a:r>
              <a:rPr lang="en-US" altLang="zh-CN"/>
              <a:t>n</a:t>
            </a:r>
            <a:r>
              <a:rPr lang="zh-CN" altLang="en-US"/>
              <a:t>等于4；系统就等价于古典的代换密码，特别容易通过对明文的统计分析而被攻破。</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我们用密码学的术语来重新解释一下代换。</a:t>
            </a:r>
            <a:endParaRPr lang="zh-CN" altLang="en-US"/>
          </a:p>
          <a:p>
            <a:r>
              <a:rPr lang="zh-CN" altLang="en-US"/>
              <a:t>代换就是在密钥控制下，从输入集A到输出A </a:t>
            </a:r>
            <a:r>
              <a:rPr lang="en-US" altLang="zh-CN"/>
              <a:t>‘</a:t>
            </a:r>
            <a:r>
              <a:rPr lang="zh-CN" altLang="en-US"/>
              <a:t>上的一个一一映射F A。这个F K又被称为代换网络。如果网络可以实现所有可能的二的N次方的阶乘个代换，则称为全代换网络当然，代换网络的密钥个数大小，必须满足</a:t>
            </a:r>
            <a:r>
              <a:rPr lang="en-US" altLang="zh-CN"/>
              <a:t>≥</a:t>
            </a:r>
            <a:r>
              <a:rPr lang="zh-CN" altLang="en-US"/>
              <a:t>二的N次方的阶乘个。</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这个代换盒也就是我们后面要介绍的分组密码算法中的S盒。图中这就是des密码的</a:t>
            </a:r>
            <a:r>
              <a:rPr lang="en-US" altLang="zh-CN"/>
              <a:t>s</a:t>
            </a:r>
            <a:r>
              <a:rPr lang="zh-CN" altLang="en-US"/>
              <a:t>盒，他的输入6比特输出</a:t>
            </a:r>
            <a:r>
              <a:rPr lang="en-US" altLang="zh-CN"/>
              <a:t>4</a:t>
            </a:r>
            <a:r>
              <a:rPr lang="zh-CN" altLang="en-US"/>
              <a:t>比特</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ltLang="zh-CN"/>
              <a:t>de</a:t>
            </a:r>
            <a:r>
              <a:rPr lang="zh-CN" altLang="en-US"/>
              <a:t>S是最早采用S和的分组密码算法。</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亦或</a:t>
            </a:r>
            <a:r>
              <a:rPr lang="en-US" altLang="zh-CN"/>
              <a:t>XOR</a:t>
            </a:r>
            <a:r>
              <a:rPr lang="zh-CN" altLang="en-US"/>
              <a:t>，</a:t>
            </a:r>
            <a:r>
              <a:rPr lang="en-US" altLang="zh-CN"/>
              <a:t>F</a:t>
            </a:r>
            <a:r>
              <a:rPr lang="zh-CN" altLang="en-US"/>
              <a:t>是轮</a:t>
            </a:r>
            <a:r>
              <a:rPr lang="zh-CN" altLang="en-US"/>
              <a:t>函数</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在上个世纪，美国国家标准局简称NB S在1973年5月公布了一个征求意见。</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实际上</a:t>
            </a:r>
            <a:r>
              <a:rPr lang="en-US" altLang="zh-CN"/>
              <a:t>DE</a:t>
            </a:r>
            <a:r>
              <a:rPr lang="zh-CN" altLang="en-US"/>
              <a:t>S算法的每一个轮都是由Feistal密码结构去进行处理的。des密码设计的关键是这个轮函数F的处理。</a:t>
            </a:r>
            <a:endParaRPr lang="zh-CN" altLang="en-US"/>
          </a:p>
          <a:p>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我们首先先来看一下des的初始置换IP和逆初始置换。</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这是初始置换的置换表，可以看到他是将明文分组当中的每一个比特进行换位而不改变明文比特的值。</a:t>
            </a:r>
            <a:endParaRPr lang="zh-CN" altLang="en-US"/>
          </a:p>
          <a:p>
            <a:r>
              <a:rPr lang="zh-CN" altLang="en-US"/>
              <a:t>例如</a:t>
            </a:r>
            <a:r>
              <a:rPr lang="en-US" altLang="zh-CN"/>
              <a:t> </a:t>
            </a:r>
            <a:r>
              <a:rPr lang="zh-CN" altLang="en-US"/>
              <a:t>明文</a:t>
            </a:r>
            <a:r>
              <a:rPr lang="en-US" altLang="zh-CN"/>
              <a:t>m=m1.m2.m3....m64</a:t>
            </a:r>
            <a:endParaRPr lang="en-US" altLang="zh-CN"/>
          </a:p>
          <a:p>
            <a:r>
              <a:rPr lang="zh-CN" altLang="en-US"/>
              <a:t>那么初始置换就是将</a:t>
            </a:r>
            <a:r>
              <a:rPr lang="en-US" altLang="zh-CN"/>
              <a:t>m1</a:t>
            </a:r>
            <a:r>
              <a:rPr lang="zh-CN" altLang="en-US"/>
              <a:t>和</a:t>
            </a:r>
            <a:r>
              <a:rPr lang="en-US" altLang="zh-CN"/>
              <a:t>m58</a:t>
            </a:r>
            <a:r>
              <a:rPr lang="zh-CN" altLang="en-US"/>
              <a:t>位置的值进行置换，</a:t>
            </a:r>
            <a:r>
              <a:rPr lang="en-US" altLang="zh-CN"/>
              <a:t>m1’=m58</a:t>
            </a:r>
            <a:endParaRPr lang="en-US" altLang="zh-CN"/>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逆初始置换也是一样的，也是对分组当中的位置进行变换而不改变它的值。</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我们可以看一下一个例子，我们最开始的输入可以用左边的表格来表示，分别为1234567到64；而经过初始变换，第一位就被放到了右边的一所在的位置，就是第12345行最后一列。</a:t>
            </a:r>
            <a:endParaRPr lang="zh-CN" altLang="en-US"/>
          </a:p>
          <a:p>
            <a:endParaRPr lang="zh-CN" altLang="en-US"/>
          </a:p>
          <a:p>
            <a:r>
              <a:rPr lang="zh-CN" altLang="en-US"/>
              <a:t>而逆初始置换，我们就需要把他的位置再换回来。</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刚才我们介绍到deS的每一轮，其实都跟我们上面介绍的Feistal结构是一样的，那么这一节，那我们就开始详细介绍D</a:t>
            </a:r>
            <a:r>
              <a:rPr lang="en-US" altLang="zh-CN"/>
              <a:t>e</a:t>
            </a:r>
            <a:r>
              <a:rPr lang="zh-CN" altLang="en-US"/>
              <a:t>S的每一轮都是如何去处理的。</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首先我们先介绍一下deS的轮函数的结构。</a:t>
            </a:r>
            <a:endParaRPr lang="zh-CN" altLang="en-US"/>
          </a:p>
          <a:p>
            <a:r>
              <a:rPr lang="zh-CN" altLang="en-US"/>
              <a:t>它的结构如图所示；</a:t>
            </a:r>
            <a:endParaRPr lang="zh-CN" altLang="en-US"/>
          </a:p>
          <a:p>
            <a:r>
              <a:rPr lang="zh-CN" altLang="en-US"/>
              <a:t>他的输入是X和Y</a:t>
            </a:r>
            <a:endParaRPr lang="zh-CN" altLang="en-US"/>
          </a:p>
          <a:p>
            <a:r>
              <a:rPr lang="zh-CN" altLang="en-US"/>
              <a:t>他的输出是</a:t>
            </a:r>
            <a:r>
              <a:rPr lang="en-US" altLang="zh-CN"/>
              <a:t>y</a:t>
            </a:r>
            <a:r>
              <a:rPr lang="zh-CN" altLang="en-US"/>
              <a:t>， x异或</a:t>
            </a:r>
            <a:r>
              <a:rPr lang="en-US" altLang="zh-CN"/>
              <a:t>fk y</a:t>
            </a:r>
            <a:endParaRPr lang="en-US" altLang="zh-CN"/>
          </a:p>
          <a:p>
            <a:endParaRPr lang="en-US" altLang="zh-CN"/>
          </a:p>
          <a:p>
            <a:r>
              <a:rPr lang="en-US" altLang="zh-CN"/>
              <a:t>他实际上是一个对和变</a:t>
            </a:r>
            <a:r>
              <a:rPr lang="zh-CN" altLang="en-US"/>
              <a:t>换，所谓对合变换他的意思就是他连续变换两次之后就会回到原来的值。</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置换过程：输入</a:t>
            </a:r>
            <a:r>
              <a:rPr lang="en-US" altLang="zh-CN"/>
              <a:t>R=r1,r2,r3,r4......r32, </a:t>
            </a:r>
            <a:r>
              <a:rPr lang="zh-CN" altLang="en-US"/>
              <a:t>第一行第一列的数字</a:t>
            </a:r>
            <a:r>
              <a:rPr lang="en-US" altLang="zh-CN"/>
              <a:t>32</a:t>
            </a:r>
            <a:r>
              <a:rPr lang="zh-CN" altLang="en-US"/>
              <a:t>表示输出的第</a:t>
            </a:r>
            <a:r>
              <a:rPr lang="en-US" altLang="zh-CN"/>
              <a:t>1</a:t>
            </a:r>
            <a:r>
              <a:rPr lang="zh-CN" altLang="en-US"/>
              <a:t>位是输入的第</a:t>
            </a:r>
            <a:r>
              <a:rPr lang="en-US" altLang="zh-CN"/>
              <a:t>32</a:t>
            </a:r>
            <a:r>
              <a:rPr lang="zh-CN" altLang="en-US"/>
              <a:t>位，输出的第</a:t>
            </a:r>
            <a:r>
              <a:rPr lang="en-US" altLang="zh-CN"/>
              <a:t>2</a:t>
            </a:r>
            <a:r>
              <a:rPr lang="zh-CN" altLang="en-US"/>
              <a:t>位是输入的第</a:t>
            </a:r>
            <a:r>
              <a:rPr lang="en-US" altLang="zh-CN"/>
              <a:t>1</a:t>
            </a:r>
            <a:r>
              <a:rPr lang="zh-CN" altLang="en-US"/>
              <a:t>位。</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gn="l" rtl="0" eaLnBrk="0">
              <a:lnSpc>
                <a:spcPct val="87000"/>
              </a:lnSpc>
            </a:pPr>
            <a:r>
              <a:rPr lang="zh-CN" altLang="en-US"/>
              <a:t>输入</a:t>
            </a:r>
            <a:r>
              <a:rPr b="1" i="1" kern="0" spc="6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a:t>
            </a:r>
            <a:r>
              <a:rPr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5</a:t>
            </a:r>
            <a:r>
              <a:rPr b="1" kern="0" spc="13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i="1" kern="0" spc="6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a:t>
            </a:r>
            <a:r>
              <a:rPr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4</a:t>
            </a:r>
            <a:r>
              <a:rPr b="1" kern="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i="1" kern="0" spc="6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a:t>
            </a:r>
            <a:r>
              <a:rPr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3</a:t>
            </a:r>
            <a:r>
              <a:rPr b="1" kern="0" spc="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i="1" kern="0" spc="6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a:t>
            </a:r>
            <a:r>
              <a:rPr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2</a:t>
            </a:r>
            <a:r>
              <a:rPr b="1" kern="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i="1" kern="0" spc="6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a:t>
            </a:r>
            <a:r>
              <a:rPr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1</a:t>
            </a:r>
            <a:r>
              <a:rPr b="1" kern="0" spc="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i="1" kern="0" spc="6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a:t>
            </a:r>
            <a:r>
              <a:rPr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0</a:t>
            </a:r>
            <a:endParaRPr lang="en-US" altLang="en-US" baseline="-20000" dirty="0">
              <a:latin typeface="Arial" panose="020B0604020202020204" pitchFamily="34" charset="0"/>
              <a:ea typeface="黑体" panose="02010609060101010101" charset="-122"/>
            </a:endParaRPr>
          </a:p>
          <a:p>
            <a:pPr marL="12700" algn="l" rtl="0" eaLnBrk="0">
              <a:lnSpc>
                <a:spcPts val="3010"/>
              </a:lnSpc>
            </a:pPr>
            <a:r>
              <a:rPr lang="en-US"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1</a:t>
            </a:r>
            <a:r>
              <a:rPr b="1" kern="0" spc="2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0</a:t>
            </a:r>
            <a:r>
              <a:rPr b="1" kern="0" spc="3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1</a:t>
            </a:r>
            <a:r>
              <a:rPr b="1" kern="0" spc="4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1</a:t>
            </a:r>
            <a:r>
              <a:rPr b="1" kern="0" spc="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0</a:t>
            </a:r>
            <a:r>
              <a:rPr b="1" kern="0" spc="2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     </a:t>
            </a:r>
            <a:r>
              <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0</a:t>
            </a:r>
            <a:endParaRPr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endParaRPr>
          </a:p>
          <a:p>
            <a:pPr marL="12700" algn="l" rtl="0" eaLnBrk="0">
              <a:lnSpc>
                <a:spcPts val="3010"/>
              </a:lnSpc>
            </a:pPr>
            <a:r>
              <a:rPr lang="zh-CN"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取</a:t>
            </a:r>
            <a:r>
              <a:rPr lang="en-US" altLang="zh-CN"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x5 and x0 </a:t>
            </a:r>
            <a:r>
              <a:rPr lang="zh-CN" altLang="en-US" b="1" kern="0" spc="-110" dirty="0">
                <a:solidFill>
                  <a:srgbClr val="000000">
                    <a:alpha val="100000"/>
                  </a:srgbClr>
                </a:solidFill>
                <a:latin typeface="Arial" panose="020B0604020202020204" pitchFamily="34" charset="0"/>
                <a:ea typeface="黑体" panose="02010609060101010101" charset="-122"/>
                <a:cs typeface="Times New Roman" panose="02020603050405020304"/>
                <a:sym typeface="+mn-ea"/>
              </a:rPr>
              <a:t>组成两位二进制用来查行号，中间四位用来查列号，找到的值就是输出。</a:t>
            </a:r>
            <a:endParaRPr lang="en-US" altLang="en-US" dirty="0">
              <a:latin typeface="Arial" panose="020B0604020202020204" pitchFamily="34" charset="0"/>
              <a:ea typeface="黑体" panose="02010609060101010101" charset="-122"/>
            </a:endParaRPr>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又是一个</a:t>
            </a:r>
            <a:r>
              <a:rPr lang="zh-CN" altLang="en-US"/>
              <a:t>置换</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作者：知乎用户</a:t>
            </a:r>
            <a:endParaRPr lang="zh-CN" altLang="en-US"/>
          </a:p>
          <a:p>
            <a:r>
              <a:rPr lang="zh-CN" altLang="en-US"/>
              <a:t>链接：https://www.zhihu.com/question/316659292/answer/629557531</a:t>
            </a:r>
            <a:endParaRPr lang="zh-CN" altLang="en-US"/>
          </a:p>
          <a:p>
            <a:r>
              <a:rPr lang="zh-CN" altLang="en-US"/>
              <a:t>来</a:t>
            </a:r>
            <a:endParaRPr lang="zh-CN" altLang="en-US"/>
          </a:p>
          <a:p>
            <a:r>
              <a:rPr lang="zh-CN" altLang="en-US"/>
              <a:t>在密钥编排算法中，存在着一些极为特殊的密钥，即弱密钥（Weak keys）和半弱密钥（Semi-weak keys）。如果不考虑校验位，弱密钥共有8组：0x01010101010101010xFEFEFEFEFEFEFEFE0xE0E0E0E0F1F1F1F10x1F1F1F1F0E0E0E0E0x00000000000000000xFFFFFFFFFFFFFFFF0xE1E1E1E1F0F0F0F00x1E1E1E1E0F0F0F0F这8组弱密钥经过 PC1PC1 变换的运算将得到全0、全1或01交替的 C_0D_0C_0D_0 ，这种特性使得后续的密钥编排算法恰好得到16个完全一样的子密钥，我们即将看到，这会带来特殊的安全问题。前面没有提及DES算法的解密。事实上，DES算法的加密和解密在算法上是对称的，区别只是密钥的使用顺序。只要将密文 cc 作为输入，并逆序使用16组子密钥 K_{15}, ..., K_0K_{15}, ..., K_0 ，就可以恢复明文 mm 。如果使用由弱密钥生成的子密钥，那实际将面临的状况是 K_0=K_{15}, K_1=K_{14}, ..., K_7=K_8.K_0=K_{15}, K_1=K_{14}, ..., K_7=K_8. 这意味着 E_k(E_k(m))=mE_k(E_k(m))=m ，即攻击者只需要将看似很坚固的密文再次输入同一个加密算法（比如攻击者向消息发送方发送一个加密请求），就可以恢复出原始的明文。这就是弱密钥。半弱密钥基于类似的原理。倘若两个密钥 k_0, k_1k_0, k_1 生成的子密钥是恰好对称的，那么由一个密钥加密的信息可以通过用另一个密钥再次加密来解密，即 E_{k_1}(E_{k_0}(m))=mE_{k_1}(E_{k_0}(m))=m ，同样具有安全风险。半弱密钥共有6组，即0x011F011F010E010E 和 0x1F011F010E010E010x01E001E001F101F1 和 0xE001E001F101F1010x01FE01FE01FE01FE 和 0xFE01FE01FE01FE010x1FE01FE00EF10EF1 和 0xE01FE01FF10EF10E0x1FFE1FFE0EFE0EFE 和 0xFE1FFE1FFE0EFE0E0xE0FEE0FEF1FEF1FE 和 0xFEE0FEE0FEF1FEF1</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在密钥编排算法中，存在着一些极为特殊的密钥，即弱密钥（Weak keys）和半弱密钥（Semi-weak keys）。</a:t>
            </a:r>
            <a:endParaRPr lang="zh-CN" altLang="en-US">
              <a:sym typeface="+mn-ea"/>
            </a:endParaRPr>
          </a:p>
          <a:p>
            <a:r>
              <a:rPr lang="zh-CN" altLang="en-US">
                <a:sym typeface="+mn-ea"/>
              </a:rPr>
              <a:t>如果不考虑校验位，弱密钥共有8组：</a:t>
            </a:r>
            <a:endParaRPr lang="zh-CN" altLang="en-US">
              <a:sym typeface="+mn-ea"/>
            </a:endParaRPr>
          </a:p>
          <a:p>
            <a:r>
              <a:rPr lang="zh-CN" altLang="en-US">
                <a:sym typeface="+mn-ea"/>
              </a:rPr>
              <a:t>0x0101010101010101</a:t>
            </a:r>
            <a:endParaRPr lang="zh-CN" altLang="en-US">
              <a:sym typeface="+mn-ea"/>
            </a:endParaRPr>
          </a:p>
          <a:p>
            <a:r>
              <a:rPr lang="zh-CN" altLang="en-US">
                <a:sym typeface="+mn-ea"/>
              </a:rPr>
              <a:t>0xFEFEFEFEFEFEFEFE</a:t>
            </a:r>
            <a:endParaRPr lang="zh-CN" altLang="en-US">
              <a:sym typeface="+mn-ea"/>
            </a:endParaRPr>
          </a:p>
          <a:p>
            <a:r>
              <a:rPr lang="zh-CN" altLang="en-US">
                <a:sym typeface="+mn-ea"/>
              </a:rPr>
              <a:t>0xE0E0E0E0F1F1F1F1</a:t>
            </a:r>
            <a:endParaRPr lang="zh-CN" altLang="en-US">
              <a:sym typeface="+mn-ea"/>
            </a:endParaRPr>
          </a:p>
          <a:p>
            <a:r>
              <a:rPr lang="zh-CN" altLang="en-US">
                <a:sym typeface="+mn-ea"/>
              </a:rPr>
              <a:t>0x1F1F1F1F0E0E0E0E</a:t>
            </a:r>
            <a:endParaRPr lang="zh-CN" altLang="en-US">
              <a:sym typeface="+mn-ea"/>
            </a:endParaRPr>
          </a:p>
          <a:p>
            <a:r>
              <a:rPr lang="zh-CN" altLang="en-US">
                <a:sym typeface="+mn-ea"/>
              </a:rPr>
              <a:t>0x0000000000000000</a:t>
            </a:r>
            <a:endParaRPr lang="zh-CN" altLang="en-US">
              <a:sym typeface="+mn-ea"/>
            </a:endParaRPr>
          </a:p>
          <a:p>
            <a:r>
              <a:rPr lang="zh-CN" altLang="en-US">
                <a:sym typeface="+mn-ea"/>
              </a:rPr>
              <a:t>0xFFFFFFFFFFFFFFFF</a:t>
            </a:r>
            <a:endParaRPr lang="zh-CN" altLang="en-US">
              <a:sym typeface="+mn-ea"/>
            </a:endParaRPr>
          </a:p>
          <a:p>
            <a:r>
              <a:rPr lang="zh-CN" altLang="en-US">
                <a:sym typeface="+mn-ea"/>
              </a:rPr>
              <a:t>0xE1E1E1E1F0F0F0F0</a:t>
            </a:r>
            <a:endParaRPr lang="zh-CN" altLang="en-US">
              <a:sym typeface="+mn-ea"/>
            </a:endParaRPr>
          </a:p>
          <a:p>
            <a:r>
              <a:rPr lang="zh-CN" altLang="en-US">
                <a:sym typeface="+mn-ea"/>
              </a:rPr>
              <a:t>0x1E1E1E1E0F0F0F0F</a:t>
            </a:r>
            <a:endParaRPr lang="zh-CN" altLang="en-US">
              <a:sym typeface="+mn-ea"/>
            </a:endParaRPr>
          </a:p>
          <a:p>
            <a:r>
              <a:rPr lang="zh-CN" altLang="en-US">
                <a:sym typeface="+mn-ea"/>
              </a:rPr>
              <a:t>这8组弱密钥经过 PC1变换的运算将得到全0、全1或01交替的 C</a:t>
            </a:r>
            <a:r>
              <a:rPr lang="zh-CN" altLang="en-US" baseline="-25000">
                <a:sym typeface="+mn-ea"/>
              </a:rPr>
              <a:t>_0</a:t>
            </a:r>
            <a:r>
              <a:rPr lang="zh-CN" altLang="en-US">
                <a:sym typeface="+mn-ea"/>
              </a:rPr>
              <a:t>D</a:t>
            </a:r>
            <a:r>
              <a:rPr lang="zh-CN" altLang="en-US" baseline="-25000">
                <a:sym typeface="+mn-ea"/>
              </a:rPr>
              <a:t>_0</a:t>
            </a:r>
            <a:endParaRPr lang="zh-CN" altLang="en-US">
              <a:sym typeface="+mn-ea"/>
            </a:endParaRPr>
          </a:p>
          <a:p>
            <a:r>
              <a:rPr lang="zh-CN" altLang="en-US">
                <a:sym typeface="+mn-ea"/>
              </a:rPr>
              <a:t>这种特性使得后续的密钥编排算法恰好得到16个完全一样的子密钥，</a:t>
            </a:r>
            <a:endParaRPr lang="zh-CN" altLang="en-US">
              <a:sym typeface="+mn-ea"/>
            </a:endParaRPr>
          </a:p>
          <a:p>
            <a:r>
              <a:rPr lang="zh-CN" altLang="en-US">
                <a:sym typeface="+mn-ea"/>
              </a:rPr>
              <a:t>我们即将看到，这会带来特殊的安全问题。前面没有提及DES算法的解密。</a:t>
            </a:r>
            <a:endParaRPr lang="zh-CN" altLang="en-US">
              <a:sym typeface="+mn-ea"/>
            </a:endParaRPr>
          </a:p>
          <a:p>
            <a:r>
              <a:rPr lang="zh-CN" altLang="en-US">
                <a:sym typeface="+mn-ea"/>
              </a:rPr>
              <a:t>事实上，DES算法的加密和解密在算法上是对称的，区别只是密钥的使用顺序。</a:t>
            </a:r>
            <a:endParaRPr lang="zh-CN" altLang="en-US">
              <a:sym typeface="+mn-ea"/>
            </a:endParaRPr>
          </a:p>
          <a:p>
            <a:r>
              <a:rPr lang="zh-CN" altLang="en-US">
                <a:sym typeface="+mn-ea"/>
              </a:rPr>
              <a:t>只要将密文 c作为输入，并逆序使用16组子密钥 K</a:t>
            </a:r>
            <a:r>
              <a:rPr lang="zh-CN" altLang="en-US" baseline="-25000">
                <a:sym typeface="+mn-ea"/>
              </a:rPr>
              <a:t>_{15}</a:t>
            </a:r>
            <a:r>
              <a:rPr lang="zh-CN" altLang="en-US">
                <a:sym typeface="+mn-ea"/>
              </a:rPr>
              <a:t>, ..., K</a:t>
            </a:r>
            <a:r>
              <a:rPr lang="zh-CN" altLang="en-US" baseline="-25000">
                <a:sym typeface="+mn-ea"/>
              </a:rPr>
              <a:t>_0</a:t>
            </a:r>
            <a:r>
              <a:rPr lang="zh-CN" altLang="en-US">
                <a:sym typeface="+mn-ea"/>
              </a:rPr>
              <a:t>，就可以恢复明文 m。</a:t>
            </a:r>
            <a:endParaRPr lang="zh-CN" altLang="en-US">
              <a:sym typeface="+mn-ea"/>
            </a:endParaRPr>
          </a:p>
          <a:p>
            <a:r>
              <a:rPr lang="zh-CN" altLang="en-US">
                <a:sym typeface="+mn-ea"/>
              </a:rPr>
              <a:t>如果使用由弱密钥生成的子密钥，</a:t>
            </a:r>
            <a:endParaRPr lang="zh-CN" altLang="en-US">
              <a:sym typeface="+mn-ea"/>
            </a:endParaRPr>
          </a:p>
          <a:p>
            <a:r>
              <a:rPr lang="zh-CN" altLang="en-US">
                <a:sym typeface="+mn-ea"/>
              </a:rPr>
              <a:t>那实际将面临的状况是 K</a:t>
            </a:r>
            <a:r>
              <a:rPr lang="zh-CN" altLang="en-US" baseline="-25000">
                <a:sym typeface="+mn-ea"/>
              </a:rPr>
              <a:t>_0</a:t>
            </a:r>
            <a:r>
              <a:rPr lang="zh-CN" altLang="en-US">
                <a:sym typeface="+mn-ea"/>
              </a:rPr>
              <a:t>=K</a:t>
            </a:r>
            <a:r>
              <a:rPr lang="zh-CN" altLang="en-US" baseline="-25000">
                <a:sym typeface="+mn-ea"/>
              </a:rPr>
              <a:t>_{15}</a:t>
            </a:r>
            <a:r>
              <a:rPr lang="zh-CN" altLang="en-US">
                <a:sym typeface="+mn-ea"/>
              </a:rPr>
              <a:t>, K</a:t>
            </a:r>
            <a:r>
              <a:rPr lang="zh-CN" altLang="en-US" baseline="-25000">
                <a:sym typeface="+mn-ea"/>
              </a:rPr>
              <a:t>_1</a:t>
            </a:r>
            <a:r>
              <a:rPr lang="zh-CN" altLang="en-US">
                <a:sym typeface="+mn-ea"/>
              </a:rPr>
              <a:t>=K</a:t>
            </a:r>
            <a:r>
              <a:rPr lang="zh-CN" altLang="en-US" baseline="-25000">
                <a:sym typeface="+mn-ea"/>
              </a:rPr>
              <a:t>_{14</a:t>
            </a:r>
            <a:r>
              <a:rPr lang="zh-CN" altLang="en-US">
                <a:sym typeface="+mn-ea"/>
              </a:rPr>
              <a:t>}, ..., K</a:t>
            </a:r>
            <a:r>
              <a:rPr lang="zh-CN" altLang="en-US" baseline="-25000">
                <a:sym typeface="+mn-ea"/>
              </a:rPr>
              <a:t>_7</a:t>
            </a:r>
            <a:r>
              <a:rPr lang="zh-CN" altLang="en-US">
                <a:sym typeface="+mn-ea"/>
              </a:rPr>
              <a:t>=K</a:t>
            </a:r>
            <a:r>
              <a:rPr lang="zh-CN" altLang="en-US" baseline="-25000">
                <a:sym typeface="+mn-ea"/>
              </a:rPr>
              <a:t>_8</a:t>
            </a:r>
            <a:r>
              <a:rPr lang="zh-CN" altLang="en-US">
                <a:sym typeface="+mn-ea"/>
              </a:rPr>
              <a:t>.</a:t>
            </a:r>
            <a:endParaRPr lang="zh-CN" altLang="en-US">
              <a:sym typeface="+mn-ea"/>
            </a:endParaRPr>
          </a:p>
          <a:p>
            <a:r>
              <a:rPr lang="zh-CN" altLang="en-US">
                <a:sym typeface="+mn-ea"/>
              </a:rPr>
              <a:t>这意味着 E_k(E_k(m))=m ，即攻击者只需要将看似很坚固的密文再次输入同一个加密算法（比如攻击者向消息发送方发送一个加密请求），就可以恢复出原始的明文。这就是弱密钥。</a:t>
            </a:r>
            <a:endParaRPr lang="zh-CN" altLang="en-US">
              <a:sym typeface="+mn-ea"/>
            </a:endParaRPr>
          </a:p>
          <a:p>
            <a:r>
              <a:rPr lang="zh-CN" altLang="en-US">
                <a:sym typeface="+mn-ea"/>
              </a:rPr>
              <a:t>半弱密钥基于类似的原理。倘若两个密钥 k_0, k_1k_0, k_1 生成的子密钥是恰好对称的，那么由一个密钥加密的信息可以通过用另一个密钥再次加密来解密，即 E_{k_1}(E_{k_0}(m))=mE_{k_1}(E_{k_0}(m))=m ，同样具有安全风险。半弱密钥共有6组，即0x011F011F010E010E 和 0x1F011F010E010E010x01E001E001F101F1 和 0xE001E001F101F1010x01FE01FE01FE01FE 和 0xFE01FE01FE01FE010x1FE01FE00EF10EF1 和 0xE01FE01FF10EF10E0x1FFE1FFE0EFE0EFE 和 0xFE1FFE1FFE0EFE0E0xE0FEE0FEF1FEF1FE 和 0xFEE0FEE0FEF1FEF1</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Screen Image">
    <p:bg>
      <p:bgPr>
        <a:solidFill>
          <a:schemeClr val="bg1"/>
        </a:solidFill>
        <a:effectLst/>
      </p:bgPr>
    </p:bg>
    <p:spTree>
      <p:nvGrpSpPr>
        <p:cNvPr id="1" name=""/>
        <p:cNvGrpSpPr/>
        <p:nvPr/>
      </p:nvGrpSpPr>
      <p:grpSpPr>
        <a:xfrm>
          <a:off x="0" y="0"/>
          <a:ext cx="0" cy="0"/>
          <a:chOff x="0" y="0"/>
          <a:chExt cx="0" cy="0"/>
        </a:xfrm>
      </p:grpSpPr>
      <p:pic>
        <p:nvPicPr>
          <p:cNvPr id="4098" name="图片 6"/>
          <p:cNvPicPr>
            <a:picLocks noChangeAspect="1"/>
          </p:cNvPicPr>
          <p:nvPr userDrawn="1"/>
        </p:nvPicPr>
        <p:blipFill>
          <a:blip r:embed="rId2"/>
          <a:stretch>
            <a:fillRect/>
          </a:stretch>
        </p:blipFill>
        <p:spPr>
          <a:xfrm>
            <a:off x="8633884" y="6186488"/>
            <a:ext cx="3558116" cy="579437"/>
          </a:xfrm>
          <a:prstGeom prst="rect">
            <a:avLst/>
          </a:prstGeom>
          <a:noFill/>
          <a:ln w="9525">
            <a:noFill/>
          </a:ln>
        </p:spPr>
      </p:pic>
      <p:sp>
        <p:nvSpPr>
          <p:cNvPr id="8" name="Text Box 15"/>
          <p:cNvSpPr txBox="1"/>
          <p:nvPr/>
        </p:nvSpPr>
        <p:spPr bwMode="auto">
          <a:xfrm>
            <a:off x="46567" y="85725"/>
            <a:ext cx="4099984" cy="368300"/>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rgbClr val="990000"/>
                </a:solidFill>
                <a:effectLst/>
                <a:uLnTx/>
                <a:uFillTx/>
                <a:latin typeface="黑体" panose="02010609060101010101" charset="-122"/>
                <a:ea typeface="黑体" panose="02010609060101010101" charset="-122"/>
                <a:cs typeface="+mn-cs"/>
              </a:rPr>
              <a:t>现代密码学（第五版）</a:t>
            </a:r>
            <a:endParaRPr kumimoji="0" lang="zh-CN" altLang="en-US" sz="1800" b="1" i="0" u="none" strike="noStrike" kern="1200" cap="none" spc="0" normalizeH="0" baseline="0" noProof="0" dirty="0">
              <a:ln>
                <a:noFill/>
              </a:ln>
              <a:solidFill>
                <a:srgbClr val="990000"/>
              </a:solidFill>
              <a:effectLst/>
              <a:uLnTx/>
              <a:uFillTx/>
              <a:latin typeface="黑体" panose="02010609060101010101" charset="-122"/>
              <a:ea typeface="黑体" panose="02010609060101010101" charset="-122"/>
              <a:cs typeface="+mn-cs"/>
            </a:endParaRPr>
          </a:p>
        </p:txBody>
      </p:sp>
      <p:cxnSp>
        <p:nvCxnSpPr>
          <p:cNvPr id="9" name="直接连接符 8"/>
          <p:cNvCxnSpPr/>
          <p:nvPr/>
        </p:nvCxnSpPr>
        <p:spPr>
          <a:xfrm flipV="1">
            <a:off x="47413" y="6525895"/>
            <a:ext cx="8641080" cy="2095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cxnSp>
        <p:nvCxnSpPr>
          <p:cNvPr id="10" name="直接连接符 9"/>
          <p:cNvCxnSpPr/>
          <p:nvPr/>
        </p:nvCxnSpPr>
        <p:spPr>
          <a:xfrm flipV="1">
            <a:off x="1487589" y="593722"/>
            <a:ext cx="10704407" cy="2730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sp>
        <p:nvSpPr>
          <p:cNvPr id="2" name="日期占位符 1"/>
          <p:cNvSpPr/>
          <p:nvPr>
            <p:ph type="dt" sz="half" idx="10"/>
          </p:nvPr>
        </p:nvSpPr>
        <p:spPr>
          <a:xfrm>
            <a:off x="609600" y="6245225"/>
            <a:ext cx="2844800" cy="476250"/>
          </a:xfrm>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p:nvPr>
            <p:ph type="ftr" sz="quarter" idx="11"/>
          </p:nvPr>
        </p:nvSpPr>
        <p:spPr>
          <a:xfrm>
            <a:off x="4165600" y="6245225"/>
            <a:ext cx="3860800" cy="476250"/>
          </a:xfrm>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p:nvPr>
            <p:ph type="sldNum" sz="quarter" idx="12"/>
          </p:nvPr>
        </p:nvSpPr>
        <p:spPr>
          <a:xfrm>
            <a:off x="8737600" y="6245225"/>
            <a:ext cx="2844800" cy="476250"/>
          </a:xfrm>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2318CB-51F9-4AE7-8C04-F83B55FA4C79}" type="slidenum">
              <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5000">
    <p:random/>
  </p:transition>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89"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image" Target="../media/image13.wmf"/><Relationship Id="rId7" Type="http://schemas.openxmlformats.org/officeDocument/2006/relationships/oleObject" Target="../embeddings/oleObject3.bin"/><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 Id="rId3" Type="http://schemas.openxmlformats.org/officeDocument/2006/relationships/oleObject" Target="../embeddings/oleObject1.bin"/><Relationship Id="rId2" Type="http://schemas.openxmlformats.org/officeDocument/2006/relationships/image" Target="../media/image6.jpeg"/><Relationship Id="rId15" Type="http://schemas.openxmlformats.org/officeDocument/2006/relationships/notesSlide" Target="../notesSlides/notesSlide9.xml"/><Relationship Id="rId14" Type="http://schemas.openxmlformats.org/officeDocument/2006/relationships/vmlDrawing" Target="../drawings/vmlDrawing1.vml"/><Relationship Id="rId13" Type="http://schemas.openxmlformats.org/officeDocument/2006/relationships/slideLayout" Target="../slideLayouts/slideLayout1.xml"/><Relationship Id="rId12" Type="http://schemas.openxmlformats.org/officeDocument/2006/relationships/image" Target="../media/image15.wmf"/><Relationship Id="rId11" Type="http://schemas.openxmlformats.org/officeDocument/2006/relationships/oleObject" Target="../embeddings/oleObject5.bin"/><Relationship Id="rId10" Type="http://schemas.openxmlformats.org/officeDocument/2006/relationships/image" Target="../media/image14.wmf"/><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6.jpeg"/><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21.png"/><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6.jpeg"/><Relationship Id="rId13" Type="http://schemas.openxmlformats.org/officeDocument/2006/relationships/notesSlide" Target="../notesSlides/notesSlide17.xml"/><Relationship Id="rId12" Type="http://schemas.openxmlformats.org/officeDocument/2006/relationships/slideLayout" Target="../slideLayouts/slideLayout1.xml"/><Relationship Id="rId11" Type="http://schemas.openxmlformats.org/officeDocument/2006/relationships/image" Target="../media/image31.png"/><Relationship Id="rId10" Type="http://schemas.openxmlformats.org/officeDocument/2006/relationships/image" Target="../media/image30.png"/><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34.png"/><Relationship Id="rId3" Type="http://schemas.openxmlformats.org/officeDocument/2006/relationships/image" Target="../media/image33.pdf"/><Relationship Id="rId2" Type="http://schemas.openxmlformats.org/officeDocument/2006/relationships/tags" Target="../tags/tag2.xml"/><Relationship Id="rId1" Type="http://schemas.openxmlformats.org/officeDocument/2006/relationships/image" Target="../media/image6.jpe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xml"/><Relationship Id="rId4" Type="http://schemas.openxmlformats.org/officeDocument/2006/relationships/image" Target="../media/image37.png"/><Relationship Id="rId3" Type="http://schemas.openxmlformats.org/officeDocument/2006/relationships/image" Target="../media/image6.jpeg"/><Relationship Id="rId2" Type="http://schemas.openxmlformats.org/officeDocument/2006/relationships/image" Target="../media/image36.png"/><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6.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39.jpeg"/></Relationships>
</file>

<file path=ppt/slides/_rels/slide47.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6.jpe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5" Type="http://schemas.openxmlformats.org/officeDocument/2006/relationships/notesSlide" Target="../notesSlides/notesSlide26.xml"/><Relationship Id="rId34" Type="http://schemas.openxmlformats.org/officeDocument/2006/relationships/slideLayout" Target="../slideLayouts/slideLayout1.xml"/><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image" Target="../media/image69.png"/><Relationship Id="rId30" Type="http://schemas.openxmlformats.org/officeDocument/2006/relationships/image" Target="../media/image68.png"/><Relationship Id="rId3" Type="http://schemas.openxmlformats.org/officeDocument/2006/relationships/image" Target="../media/image42.png"/><Relationship Id="rId29" Type="http://schemas.openxmlformats.org/officeDocument/2006/relationships/image" Target="../media/image67.png"/><Relationship Id="rId28" Type="http://schemas.openxmlformats.org/officeDocument/2006/relationships/image" Target="../media/image66.png"/><Relationship Id="rId27" Type="http://schemas.openxmlformats.org/officeDocument/2006/relationships/image" Target="../media/image65.png"/><Relationship Id="rId26" Type="http://schemas.openxmlformats.org/officeDocument/2006/relationships/image" Target="../media/image64.png"/><Relationship Id="rId25" Type="http://schemas.openxmlformats.org/officeDocument/2006/relationships/image" Target="../media/image63.png"/><Relationship Id="rId24" Type="http://schemas.openxmlformats.org/officeDocument/2006/relationships/image" Target="../media/image62.png"/><Relationship Id="rId23" Type="http://schemas.openxmlformats.org/officeDocument/2006/relationships/image" Target="../media/image61.png"/><Relationship Id="rId22" Type="http://schemas.openxmlformats.org/officeDocument/2006/relationships/image" Target="../media/image60.png"/><Relationship Id="rId21" Type="http://schemas.openxmlformats.org/officeDocument/2006/relationships/image" Target="../media/image59.png"/><Relationship Id="rId20" Type="http://schemas.openxmlformats.org/officeDocument/2006/relationships/image" Target="../media/image58.png"/><Relationship Id="rId2" Type="http://schemas.openxmlformats.org/officeDocument/2006/relationships/image" Target="../media/image41.png"/><Relationship Id="rId19" Type="http://schemas.openxmlformats.org/officeDocument/2006/relationships/image" Target="../media/image57.png"/><Relationship Id="rId18" Type="http://schemas.openxmlformats.org/officeDocument/2006/relationships/image" Target="../media/image56.png"/><Relationship Id="rId17" Type="http://schemas.openxmlformats.org/officeDocument/2006/relationships/image" Target="../media/image55.png"/><Relationship Id="rId16" Type="http://schemas.openxmlformats.org/officeDocument/2006/relationships/image" Target="../media/image54.png"/><Relationship Id="rId15" Type="http://schemas.openxmlformats.org/officeDocument/2006/relationships/image" Target="../media/image53.png"/><Relationship Id="rId14" Type="http://schemas.openxmlformats.org/officeDocument/2006/relationships/image" Target="../media/image52.png"/><Relationship Id="rId13" Type="http://schemas.openxmlformats.org/officeDocument/2006/relationships/image" Target="../media/image51.png"/><Relationship Id="rId12" Type="http://schemas.openxmlformats.org/officeDocument/2006/relationships/image" Target="../media/image50.png"/><Relationship Id="rId11" Type="http://schemas.openxmlformats.org/officeDocument/2006/relationships/image" Target="../media/image49.png"/><Relationship Id="rId10" Type="http://schemas.openxmlformats.org/officeDocument/2006/relationships/image" Target="../media/image48.png"/><Relationship Id="rId1" Type="http://schemas.openxmlformats.org/officeDocument/2006/relationships/image" Target="../media/image40.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72.jpe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73.jpeg"/></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jpeg"/><Relationship Id="rId7" Type="http://schemas.openxmlformats.org/officeDocument/2006/relationships/image" Target="../media/image80.png"/><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jpeg"/><Relationship Id="rId3" Type="http://schemas.openxmlformats.org/officeDocument/2006/relationships/image" Target="../media/image76.png"/><Relationship Id="rId2" Type="http://schemas.openxmlformats.org/officeDocument/2006/relationships/image" Target="../media/image75.png"/><Relationship Id="rId10" Type="http://schemas.openxmlformats.org/officeDocument/2006/relationships/notesSlide" Target="../notesSlides/notesSlide30.xml"/><Relationship Id="rId1" Type="http://schemas.openxmlformats.org/officeDocument/2006/relationships/image" Target="../media/image7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image" Target="../media/image17.png"/></Relationships>
</file>

<file path=ppt/slides/_rels/slide54.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82.png"/><Relationship Id="rId13" Type="http://schemas.openxmlformats.org/officeDocument/2006/relationships/notesSlide" Target="../notesSlides/notesSlide32.xml"/><Relationship Id="rId12" Type="http://schemas.openxmlformats.org/officeDocument/2006/relationships/slideLayout" Target="../slideLayouts/slideLayout1.xml"/><Relationship Id="rId11" Type="http://schemas.openxmlformats.org/officeDocument/2006/relationships/image" Target="../media/image6.jpeg"/><Relationship Id="rId10" Type="http://schemas.openxmlformats.org/officeDocument/2006/relationships/image" Target="../media/image90.png"/><Relationship Id="rId1" Type="http://schemas.openxmlformats.org/officeDocument/2006/relationships/image" Target="../media/image8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1.png"/><Relationship Id="rId1" Type="http://schemas.openxmlformats.org/officeDocument/2006/relationships/image" Target="../media/image6.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92.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93.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tags" Target="../tags/tag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tags" Target="../tags/tag4.xml"/></Relationships>
</file>

<file path=ppt/slides/_rels/slide61.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 Id="rId3" Type="http://schemas.openxmlformats.org/officeDocument/2006/relationships/image" Target="../media/image6.jpeg"/><Relationship Id="rId2" Type="http://schemas.openxmlformats.org/officeDocument/2006/relationships/tags" Target="../tags/tag5.xml"/><Relationship Id="rId1" Type="http://schemas.openxmlformats.org/officeDocument/2006/relationships/image" Target="../media/image94.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tags" Target="../tags/tag6.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65.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6.jpeg"/><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00.jpeg"/><Relationship Id="rId23" Type="http://schemas.openxmlformats.org/officeDocument/2006/relationships/notesSlide" Target="../notesSlides/notesSlide37.xml"/><Relationship Id="rId22" Type="http://schemas.openxmlformats.org/officeDocument/2006/relationships/slideLayout" Target="../slideLayouts/slideLayout1.xml"/><Relationship Id="rId21" Type="http://schemas.openxmlformats.org/officeDocument/2006/relationships/image" Target="../media/image117.png"/><Relationship Id="rId20" Type="http://schemas.openxmlformats.org/officeDocument/2006/relationships/image" Target="../media/image116.png"/><Relationship Id="rId2" Type="http://schemas.openxmlformats.org/officeDocument/2006/relationships/image" Target="../media/image99.png"/><Relationship Id="rId19" Type="http://schemas.openxmlformats.org/officeDocument/2006/relationships/image" Target="../media/image115.png"/><Relationship Id="rId18" Type="http://schemas.openxmlformats.org/officeDocument/2006/relationships/image" Target="../media/image114.png"/><Relationship Id="rId17" Type="http://schemas.openxmlformats.org/officeDocument/2006/relationships/image" Target="../media/image113.png"/><Relationship Id="rId16" Type="http://schemas.openxmlformats.org/officeDocument/2006/relationships/image" Target="../media/image112.png"/><Relationship Id="rId15" Type="http://schemas.openxmlformats.org/officeDocument/2006/relationships/image" Target="../media/image111.png"/><Relationship Id="rId14" Type="http://schemas.openxmlformats.org/officeDocument/2006/relationships/image" Target="../media/image110.png"/><Relationship Id="rId13" Type="http://schemas.openxmlformats.org/officeDocument/2006/relationships/image" Target="../media/image109.png"/><Relationship Id="rId12" Type="http://schemas.openxmlformats.org/officeDocument/2006/relationships/image" Target="../media/image108.png"/><Relationship Id="rId11" Type="http://schemas.openxmlformats.org/officeDocument/2006/relationships/image" Target="../media/image107.png"/><Relationship Id="rId10" Type="http://schemas.openxmlformats.org/officeDocument/2006/relationships/image" Target="../media/image106.png"/><Relationship Id="rId1" Type="http://schemas.openxmlformats.org/officeDocument/2006/relationships/image" Target="../media/image98.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tags" Target="../tags/tag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image" Target="../media/image16.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0.xml.rels><?xml version="1.0" encoding="UTF-8" standalone="yes"?>
<Relationships xmlns="http://schemas.openxmlformats.org/package/2006/relationships"><Relationship Id="rId9" Type="http://schemas.openxmlformats.org/officeDocument/2006/relationships/notesSlide" Target="../notesSlides/notesSlide39.xml"/><Relationship Id="rId8" Type="http://schemas.openxmlformats.org/officeDocument/2006/relationships/slideLayout" Target="../slideLayouts/slideLayout1.xml"/><Relationship Id="rId7" Type="http://schemas.openxmlformats.org/officeDocument/2006/relationships/image" Target="../media/image6.jpeg"/><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tags" Target="../tags/tag8.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image" Target="../media/image17.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image" Target="../media/image17.png"/></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5.png"/><Relationship Id="rId3" Type="http://schemas.openxmlformats.org/officeDocument/2006/relationships/image" Target="../media/image6.jpeg"/><Relationship Id="rId2" Type="http://schemas.openxmlformats.org/officeDocument/2006/relationships/image" Target="../media/image124.png"/><Relationship Id="rId1" Type="http://schemas.openxmlformats.org/officeDocument/2006/relationships/image" Target="../media/image123.png"/></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8.png"/><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image" Target="../media/image6.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5.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image" Target="../media/image17.png"/></Relationships>
</file>

<file path=ppt/slides/_rels/slide86.xml.rels><?xml version="1.0" encoding="UTF-8" standalone="yes"?>
<Relationships xmlns="http://schemas.openxmlformats.org/package/2006/relationships"><Relationship Id="rId9" Type="http://schemas.openxmlformats.org/officeDocument/2006/relationships/image" Target="../media/image135.png"/><Relationship Id="rId8" Type="http://schemas.openxmlformats.org/officeDocument/2006/relationships/image" Target="../media/image134.png"/><Relationship Id="rId7" Type="http://schemas.openxmlformats.org/officeDocument/2006/relationships/image" Target="../media/image133.png"/><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 Id="rId3" Type="http://schemas.openxmlformats.org/officeDocument/2006/relationships/image" Target="../media/image6.jpeg"/><Relationship Id="rId2" Type="http://schemas.openxmlformats.org/officeDocument/2006/relationships/image" Target="../media/image129.png"/><Relationship Id="rId10" Type="http://schemas.openxmlformats.org/officeDocument/2006/relationships/slideLayout" Target="../slideLayouts/slideLayout1.xml"/><Relationship Id="rId1" Type="http://schemas.openxmlformats.org/officeDocument/2006/relationships/slide" Target="slide3.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36.jpe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829"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8830" name="textbox 4"/>
          <p:cNvSpPr/>
          <p:nvPr/>
        </p:nvSpPr>
        <p:spPr>
          <a:xfrm>
            <a:off x="3494837" y="3207969"/>
            <a:ext cx="5252720" cy="542925"/>
          </a:xfrm>
          <a:prstGeom prst="rect">
            <a:avLst/>
          </a:prstGeom>
        </p:spPr>
        <p:txBody>
          <a:bodyPr vert="horz" wrap="square" lIns="0" tIns="0" rIns="0" bIns="0"/>
          <a:p>
            <a:pPr algn="l" rtl="0" eaLnBrk="0">
              <a:lnSpc>
                <a:spcPct val="91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3600" kern="0" spc="-60" dirty="0">
                <a:ln w="13063"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第</a:t>
            </a:r>
            <a:r>
              <a:rPr lang="zh-CN" sz="3600" kern="0" spc="-60" dirty="0">
                <a:ln w="13063"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三</a:t>
            </a:r>
            <a:r>
              <a:rPr sz="3600" kern="0" spc="-60" dirty="0">
                <a:ln w="13063"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讲</a:t>
            </a:r>
            <a:r>
              <a:rPr sz="3600" kern="0" spc="4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3600" kern="0" spc="-60" dirty="0">
                <a:ln w="13063"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分组密码算法</a:t>
            </a:r>
            <a:endParaRPr sz="3600" kern="0" spc="-60" dirty="0">
              <a:ln w="13063"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endParaRPr>
          </a:p>
        </p:txBody>
      </p:sp>
      <p:sp>
        <p:nvSpPr>
          <p:cNvPr id="1048831" name="textbox 6"/>
          <p:cNvSpPr/>
          <p:nvPr/>
        </p:nvSpPr>
        <p:spPr>
          <a:xfrm>
            <a:off x="3075305" y="2057400"/>
            <a:ext cx="6092190" cy="660400"/>
          </a:xfrm>
          <a:prstGeom prst="rect">
            <a:avLst/>
          </a:prstGeom>
        </p:spPr>
        <p:txBody>
          <a:bodyPr vert="horz" wrap="square" lIns="0" tIns="0" rIns="0" bIns="0"/>
          <a:p>
            <a:pPr algn="l" rtl="0" eaLnBrk="0">
              <a:lnSpc>
                <a:spcPct val="69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lang="zh-CN" altLang="en-US" sz="4400" dirty="0">
                <a:latin typeface="Arial" panose="020B0604020202020204" pitchFamily="34" charset="0"/>
                <a:ea typeface="黑体" panose="02010609060101010101" charset="-122"/>
              </a:rPr>
              <a:t>密码编程学与网络安全</a:t>
            </a:r>
            <a:endParaRPr lang="zh-CN" altLang="en-US" sz="4400" dirty="0">
              <a:latin typeface="Arial" panose="020B0604020202020204" pitchFamily="34" charset="0"/>
              <a:ea typeface="黑体" panose="02010609060101010101" charset="-122"/>
            </a:endParaRPr>
          </a:p>
        </p:txBody>
      </p:sp>
      <p:sp>
        <p:nvSpPr>
          <p:cNvPr id="1048832" name="textbox 10"/>
          <p:cNvSpPr/>
          <p:nvPr/>
        </p:nvSpPr>
        <p:spPr>
          <a:xfrm>
            <a:off x="4731582" y="4947963"/>
            <a:ext cx="2748914" cy="369570"/>
          </a:xfrm>
          <a:prstGeom prst="rect">
            <a:avLst/>
          </a:prstGeom>
        </p:spPr>
        <p:txBody>
          <a:bodyPr vert="horz" wrap="square" lIns="0" tIns="0" rIns="0" bIns="0"/>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24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信息</a:t>
            </a:r>
            <a:r>
              <a:rPr lang="zh-CN" sz="24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科学</a:t>
            </a:r>
            <a:r>
              <a:rPr sz="24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与工程学院</a:t>
            </a:r>
            <a:endParaRPr lang="en-US" altLang="en-US" sz="2400" dirty="0">
              <a:latin typeface="Arial" panose="020B0604020202020204" pitchFamily="34" charset="0"/>
              <a:ea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grpSp>
        <p:nvGrpSpPr>
          <p:cNvPr id="98" name="group 2"/>
          <p:cNvGrpSpPr/>
          <p:nvPr/>
        </p:nvGrpSpPr>
        <p:grpSpPr>
          <a:xfrm rot="21600000">
            <a:off x="3878579" y="2758440"/>
            <a:ext cx="5507735" cy="813815"/>
            <a:chOff x="0" y="0"/>
            <a:chExt cx="5507735" cy="813815"/>
          </a:xfrm>
        </p:grpSpPr>
        <p:pic>
          <p:nvPicPr>
            <p:cNvPr id="2097173" name="picture 12"/>
            <p:cNvPicPr>
              <a:picLocks noChangeAspect="1"/>
            </p:cNvPicPr>
            <p:nvPr/>
          </p:nvPicPr>
          <p:blipFill>
            <a:blip r:embed="rId1"/>
            <a:stretch>
              <a:fillRect/>
            </a:stretch>
          </p:blipFill>
          <p:spPr>
            <a:xfrm rot="21600000">
              <a:off x="0" y="0"/>
              <a:ext cx="5507735" cy="813815"/>
            </a:xfrm>
            <a:prstGeom prst="rect">
              <a:avLst/>
            </a:prstGeom>
          </p:spPr>
        </p:pic>
        <p:sp>
          <p:nvSpPr>
            <p:cNvPr id="1048833" name="textbox 14"/>
            <p:cNvSpPr/>
            <p:nvPr/>
          </p:nvSpPr>
          <p:spPr>
            <a:xfrm>
              <a:off x="-12700" y="-12700"/>
              <a:ext cx="5533390" cy="879475"/>
            </a:xfrm>
            <a:prstGeom prst="rect">
              <a:avLst/>
            </a:prstGeom>
          </p:spPr>
          <p:txBody>
            <a:bodyPr vert="horz" wrap="square" lIns="0" tIns="0" rIns="0" bIns="0"/>
            <a:p>
              <a:pPr algn="l" rtl="0" eaLnBrk="0">
                <a:lnSpc>
                  <a:spcPct val="168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680720" algn="l" rtl="0" eaLnBrk="0">
                <a:lnSpc>
                  <a:spcPct val="94000"/>
                </a:lnSpc>
              </a:pPr>
              <a:r>
                <a:rPr lang="en-US" altLang="zh-CN" sz="2400" kern="0" spc="-2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SP</a:t>
              </a:r>
              <a:r>
                <a:rPr lang="zh-CN" altLang="en-US" sz="2400" kern="0" spc="-2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网络</a:t>
              </a:r>
              <a:endParaRPr lang="zh-CN" altLang="en-US" sz="2400" kern="0" spc="-2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endParaRPr>
            </a:p>
          </p:txBody>
        </p:sp>
      </p:grpSp>
      <p:grpSp>
        <p:nvGrpSpPr>
          <p:cNvPr id="99" name="group 4"/>
          <p:cNvGrpSpPr/>
          <p:nvPr/>
        </p:nvGrpSpPr>
        <p:grpSpPr>
          <a:xfrm rot="21600000">
            <a:off x="3508248" y="1591055"/>
            <a:ext cx="5864351" cy="812291"/>
            <a:chOff x="0" y="0"/>
            <a:chExt cx="5864351" cy="812291"/>
          </a:xfrm>
        </p:grpSpPr>
        <p:pic>
          <p:nvPicPr>
            <p:cNvPr id="2097174" name="picture 16"/>
            <p:cNvPicPr>
              <a:picLocks noChangeAspect="1"/>
            </p:cNvPicPr>
            <p:nvPr/>
          </p:nvPicPr>
          <p:blipFill>
            <a:blip r:embed="rId2"/>
            <a:stretch>
              <a:fillRect/>
            </a:stretch>
          </p:blipFill>
          <p:spPr>
            <a:xfrm rot="21600000">
              <a:off x="0" y="0"/>
              <a:ext cx="5864351" cy="812291"/>
            </a:xfrm>
            <a:prstGeom prst="rect">
              <a:avLst/>
            </a:prstGeom>
          </p:spPr>
        </p:pic>
        <p:sp>
          <p:nvSpPr>
            <p:cNvPr id="1048834" name="textbox 18"/>
            <p:cNvSpPr/>
            <p:nvPr/>
          </p:nvSpPr>
          <p:spPr>
            <a:xfrm>
              <a:off x="-12700" y="-12700"/>
              <a:ext cx="5890259" cy="874394"/>
            </a:xfrm>
            <a:prstGeom prst="rect">
              <a:avLst/>
            </a:prstGeom>
          </p:spPr>
          <p:txBody>
            <a:bodyPr vert="horz" wrap="square" lIns="0" tIns="0" rIns="0" bIns="0"/>
            <a:p>
              <a:pPr algn="l" rtl="0" eaLnBrk="0">
                <a:lnSpc>
                  <a:spcPct val="167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678180" algn="l" rtl="0" eaLnBrk="0">
                <a:lnSpc>
                  <a:spcPct val="93000"/>
                </a:lnSpc>
              </a:pPr>
              <a:r>
                <a:rPr lang="zh-CN"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分组密码与流密码</a:t>
              </a:r>
              <a:endParaRPr lang="zh-CN"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endParaRPr>
            </a:p>
          </p:txBody>
        </p:sp>
      </p:grpSp>
      <p:grpSp>
        <p:nvGrpSpPr>
          <p:cNvPr id="100" name="group 6"/>
          <p:cNvGrpSpPr/>
          <p:nvPr/>
        </p:nvGrpSpPr>
        <p:grpSpPr>
          <a:xfrm rot="21600000">
            <a:off x="3831335" y="3849623"/>
            <a:ext cx="5541264" cy="812292"/>
            <a:chOff x="0" y="0"/>
            <a:chExt cx="5541264" cy="812292"/>
          </a:xfrm>
        </p:grpSpPr>
        <p:pic>
          <p:nvPicPr>
            <p:cNvPr id="2097175" name="picture 20"/>
            <p:cNvPicPr>
              <a:picLocks noChangeAspect="1"/>
            </p:cNvPicPr>
            <p:nvPr/>
          </p:nvPicPr>
          <p:blipFill>
            <a:blip r:embed="rId3"/>
            <a:stretch>
              <a:fillRect/>
            </a:stretch>
          </p:blipFill>
          <p:spPr>
            <a:xfrm rot="21600000">
              <a:off x="0" y="0"/>
              <a:ext cx="5541264" cy="812292"/>
            </a:xfrm>
            <a:prstGeom prst="rect">
              <a:avLst/>
            </a:prstGeom>
          </p:spPr>
        </p:pic>
        <p:sp>
          <p:nvSpPr>
            <p:cNvPr id="1048835" name="textbox 22"/>
            <p:cNvSpPr/>
            <p:nvPr/>
          </p:nvSpPr>
          <p:spPr>
            <a:xfrm>
              <a:off x="-12700" y="-12700"/>
              <a:ext cx="5567045" cy="876935"/>
            </a:xfrm>
            <a:prstGeom prst="rect">
              <a:avLst/>
            </a:prstGeom>
          </p:spPr>
          <p:txBody>
            <a:bodyPr vert="horz" wrap="square" lIns="0" tIns="0" rIns="0" bIns="0"/>
            <a:p>
              <a:pPr algn="l" rtl="0" eaLnBrk="0">
                <a:lnSpc>
                  <a:spcPct val="167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692785" algn="l" rtl="0" eaLnBrk="0">
                <a:lnSpc>
                  <a:spcPct val="94000"/>
                </a:lnSpc>
              </a:pPr>
              <a:r>
                <a:rPr lang="en-US" altLang="zh-CN"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Feistal</a:t>
              </a:r>
              <a:r>
                <a:rPr lang="zh-CN" altLang="en-US"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密码</a:t>
              </a:r>
              <a:endParaRPr lang="zh-CN" altLang="en-US"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endParaRPr>
            </a:p>
          </p:txBody>
        </p:sp>
      </p:grpSp>
      <p:grpSp>
        <p:nvGrpSpPr>
          <p:cNvPr id="101" name="group 8"/>
          <p:cNvGrpSpPr/>
          <p:nvPr/>
        </p:nvGrpSpPr>
        <p:grpSpPr>
          <a:xfrm rot="21600000">
            <a:off x="3508248" y="4972811"/>
            <a:ext cx="5864351" cy="812291"/>
            <a:chOff x="0" y="0"/>
            <a:chExt cx="5864351" cy="812291"/>
          </a:xfrm>
        </p:grpSpPr>
        <p:pic>
          <p:nvPicPr>
            <p:cNvPr id="2097176" name="picture 24"/>
            <p:cNvPicPr>
              <a:picLocks noChangeAspect="1"/>
            </p:cNvPicPr>
            <p:nvPr/>
          </p:nvPicPr>
          <p:blipFill>
            <a:blip r:embed="rId4"/>
            <a:stretch>
              <a:fillRect/>
            </a:stretch>
          </p:blipFill>
          <p:spPr>
            <a:xfrm rot="21600000">
              <a:off x="0" y="0"/>
              <a:ext cx="5864351" cy="812291"/>
            </a:xfrm>
            <a:prstGeom prst="rect">
              <a:avLst/>
            </a:prstGeom>
          </p:spPr>
        </p:pic>
        <p:sp>
          <p:nvSpPr>
            <p:cNvPr id="1048836" name="textbox 26"/>
            <p:cNvSpPr/>
            <p:nvPr/>
          </p:nvSpPr>
          <p:spPr>
            <a:xfrm>
              <a:off x="-12700" y="-12700"/>
              <a:ext cx="5890259" cy="874394"/>
            </a:xfrm>
            <a:prstGeom prst="rect">
              <a:avLst/>
            </a:prstGeom>
          </p:spPr>
          <p:txBody>
            <a:bodyPr vert="horz" wrap="square" lIns="0" tIns="0" rIns="0" bIns="0"/>
            <a:p>
              <a:pPr algn="l" rtl="0" eaLnBrk="0">
                <a:lnSpc>
                  <a:spcPct val="168000"/>
                </a:lnSpc>
              </a:pPr>
              <a:endParaRPr lang="en-US" altLang="en-US" sz="1000" dirty="0">
                <a:latin typeface="Arial" panose="020B0604020202020204" pitchFamily="34" charset="0"/>
                <a:ea typeface="黑体" panose="02010609060101010101" charset="-122"/>
              </a:endParaRPr>
            </a:p>
            <a:p>
              <a:pPr marL="694055" algn="l" rtl="0" eaLnBrk="0">
                <a:lnSpc>
                  <a:spcPct val="93000"/>
                </a:lnSpc>
                <a:spcBef>
                  <a:spcPts val="0"/>
                </a:spcBef>
              </a:pPr>
              <a:r>
                <a:rPr lang="en-US" altLang="zh-CN"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DES</a:t>
              </a:r>
              <a:r>
                <a:rPr lang="zh-CN"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密码算法设计原理</a:t>
              </a:r>
              <a:endParaRPr lang="zh-CN"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endParaRPr>
            </a:p>
          </p:txBody>
        </p:sp>
      </p:grpSp>
      <p:grpSp>
        <p:nvGrpSpPr>
          <p:cNvPr id="102" name="group 10"/>
          <p:cNvGrpSpPr/>
          <p:nvPr/>
        </p:nvGrpSpPr>
        <p:grpSpPr>
          <a:xfrm rot="21600000">
            <a:off x="2564257" y="1351661"/>
            <a:ext cx="1824862" cy="4514214"/>
            <a:chOff x="0" y="0"/>
            <a:chExt cx="1824862" cy="4514214"/>
          </a:xfrm>
        </p:grpSpPr>
        <p:sp>
          <p:nvSpPr>
            <p:cNvPr id="1048837"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8838" name="path"/>
            <p:cNvSpPr/>
            <p:nvPr/>
          </p:nvSpPr>
          <p:spPr>
            <a:xfrm>
              <a:off x="436498" y="137286"/>
              <a:ext cx="1014984"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39" name="path"/>
            <p:cNvSpPr/>
            <p:nvPr/>
          </p:nvSpPr>
          <p:spPr>
            <a:xfrm>
              <a:off x="433450" y="134238"/>
              <a:ext cx="1021080" cy="1022603"/>
            </a:xfrm>
            <a:custGeom>
              <a:avLst/>
              <a:gdLst/>
              <a:ahLst/>
              <a:cxnLst/>
              <a:rect l="0" t="0" r="0" b="0"/>
              <a:pathLst>
                <a:path w="1608" h="1610">
                  <a:moveTo>
                    <a:pt x="4" y="805"/>
                  </a:moveTo>
                  <a:cubicBezTo>
                    <a:pt x="4" y="363"/>
                    <a:pt x="362" y="4"/>
                    <a:pt x="804" y="4"/>
                  </a:cubicBezTo>
                  <a:cubicBezTo>
                    <a:pt x="1245" y="4"/>
                    <a:pt x="1603" y="363"/>
                    <a:pt x="1603" y="805"/>
                  </a:cubicBezTo>
                  <a:cubicBezTo>
                    <a:pt x="1603" y="1247"/>
                    <a:pt x="1245" y="1605"/>
                    <a:pt x="804"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0" name="path"/>
            <p:cNvSpPr/>
            <p:nvPr/>
          </p:nvSpPr>
          <p:spPr>
            <a:xfrm>
              <a:off x="758063" y="242785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1" name="path"/>
            <p:cNvSpPr/>
            <p:nvPr/>
          </p:nvSpPr>
          <p:spPr>
            <a:xfrm>
              <a:off x="755015" y="242481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2" name="path"/>
            <p:cNvSpPr/>
            <p:nvPr/>
          </p:nvSpPr>
          <p:spPr>
            <a:xfrm>
              <a:off x="805306" y="1306194"/>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3" name="path"/>
            <p:cNvSpPr/>
            <p:nvPr/>
          </p:nvSpPr>
          <p:spPr>
            <a:xfrm>
              <a:off x="802258" y="1303146"/>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4" name="path"/>
            <p:cNvSpPr/>
            <p:nvPr/>
          </p:nvSpPr>
          <p:spPr>
            <a:xfrm>
              <a:off x="250570" y="3494658"/>
              <a:ext cx="1016507"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5" name="path"/>
            <p:cNvSpPr/>
            <p:nvPr/>
          </p:nvSpPr>
          <p:spPr>
            <a:xfrm>
              <a:off x="247522" y="3491610"/>
              <a:ext cx="1022603"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8846" name="textbox 46"/>
          <p:cNvSpPr/>
          <p:nvPr/>
        </p:nvSpPr>
        <p:spPr>
          <a:xfrm>
            <a:off x="2745896" y="488157"/>
            <a:ext cx="4671059" cy="485775"/>
          </a:xfrm>
          <a:prstGeom prst="rect">
            <a:avLst/>
          </a:prstGeom>
        </p:spPr>
        <p:txBody>
          <a:bodyPr vert="horz" wrap="square" lIns="0" tIns="0" rIns="0" bIns="0"/>
          <a:p>
            <a:pPr algn="l" rtl="0" eaLnBrk="0">
              <a:lnSpc>
                <a:spcPct val="94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第</a:t>
            </a:r>
            <a:r>
              <a:rPr lang="zh-CN" sz="3200" kern="0" spc="-6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三</a:t>
            </a:r>
            <a:r>
              <a:rPr sz="3200" kern="0" spc="-6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讲</a:t>
            </a:r>
            <a:r>
              <a:rPr sz="3200" kern="0" spc="42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分组密码算法</a:t>
            </a:r>
            <a:endParaRPr lang="zh-CN" sz="3200" kern="0" spc="42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104884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77" name="picture 52"/>
          <p:cNvPicPr>
            <a:picLocks noChangeAspect="1"/>
          </p:cNvPicPr>
          <p:nvPr/>
        </p:nvPicPr>
        <p:blipFill>
          <a:blip r:embed="rId5"/>
          <a:stretch>
            <a:fillRect/>
          </a:stretch>
        </p:blipFill>
        <p:spPr>
          <a:xfrm rot="21600000">
            <a:off x="824483" y="408431"/>
            <a:ext cx="419100" cy="655320"/>
          </a:xfrm>
          <a:prstGeom prst="rect">
            <a:avLst/>
          </a:prstGeom>
        </p:spPr>
      </p:pic>
      <p:sp>
        <p:nvSpPr>
          <p:cNvPr id="104884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6" name="textbox 84"/>
          <p:cNvSpPr/>
          <p:nvPr/>
        </p:nvSpPr>
        <p:spPr>
          <a:xfrm>
            <a:off x="1571048" y="488157"/>
            <a:ext cx="3668395" cy="480694"/>
          </a:xfrm>
          <a:prstGeom prst="rect">
            <a:avLst/>
          </a:prstGeom>
        </p:spPr>
        <p:txBody>
          <a:bodyPr vert="horz" wrap="square" lIns="0" tIns="0" rIns="0" bIns="0"/>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引言</a:t>
            </a:r>
            <a:endPar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2097181" name="picture 88"/>
          <p:cNvPicPr>
            <a:picLocks noChangeAspect="1"/>
          </p:cNvPicPr>
          <p:nvPr/>
        </p:nvPicPr>
        <p:blipFill>
          <a:blip r:embed="rId1"/>
          <a:stretch>
            <a:fillRect/>
          </a:stretch>
        </p:blipFill>
        <p:spPr>
          <a:xfrm rot="21600000">
            <a:off x="824483" y="408431"/>
            <a:ext cx="419100" cy="655320"/>
          </a:xfrm>
          <a:prstGeom prst="rect">
            <a:avLst/>
          </a:prstGeom>
        </p:spPr>
      </p:pic>
      <p:sp>
        <p:nvSpPr>
          <p:cNvPr id="10488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4" name="文本框 3"/>
          <p:cNvSpPr txBox="1"/>
          <p:nvPr/>
        </p:nvSpPr>
        <p:spPr>
          <a:xfrm>
            <a:off x="1483360" y="1305560"/>
            <a:ext cx="9007475" cy="1630045"/>
          </a:xfrm>
          <a:prstGeom prst="rect">
            <a:avLst/>
          </a:prstGeom>
          <a:noFill/>
        </p:spPr>
        <p:txBody>
          <a:bodyPr wrap="square" rtlCol="0">
            <a:spAutoFit/>
          </a:bodyPr>
          <a:p>
            <a:pPr marL="285750" indent="-285750">
              <a:buFont typeface="Arial" panose="020B0604020202020204" pitchFamily="34" charset="0"/>
              <a:buChar char="•"/>
            </a:pPr>
            <a:r>
              <a:rPr lang="zh-CN" altLang="en-US" sz="2800" b="1">
                <a:latin typeface="Arial" panose="020B0604020202020204" pitchFamily="34" charset="0"/>
                <a:ea typeface="黑体" panose="02010609060101010101" charset="-122"/>
              </a:rPr>
              <a:t>概念</a:t>
            </a:r>
            <a:endParaRPr lang="zh-CN" altLang="en-US" sz="2800" b="1">
              <a:latin typeface="Arial" panose="020B0604020202020204" pitchFamily="34" charset="0"/>
              <a:ea typeface="黑体" panose="02010609060101010101" charset="-122"/>
            </a:endParaRPr>
          </a:p>
          <a:p>
            <a:pPr marL="742950" lvl="1" indent="-285750">
              <a:buFont typeface="Arial" panose="020B0604020202020204" pitchFamily="34" charset="0"/>
              <a:buChar char="•"/>
            </a:pPr>
            <a:r>
              <a:rPr lang="zh-CN" altLang="en-US" sz="2400" b="1">
                <a:latin typeface="Arial" panose="020B0604020202020204" pitchFamily="34" charset="0"/>
                <a:ea typeface="黑体" panose="02010609060101010101" charset="-122"/>
              </a:rPr>
              <a:t>对称密码</a:t>
            </a:r>
            <a:endParaRPr lang="zh-CN" altLang="en-US" sz="2400" b="1">
              <a:latin typeface="Arial" panose="020B0604020202020204" pitchFamily="34" charset="0"/>
              <a:ea typeface="黑体" panose="02010609060101010101" charset="-122"/>
            </a:endParaRPr>
          </a:p>
          <a:p>
            <a:pPr marL="742950" lvl="1" indent="-285750">
              <a:buFont typeface="Arial" panose="020B0604020202020204" pitchFamily="34" charset="0"/>
              <a:buChar char="•"/>
            </a:pPr>
            <a:r>
              <a:rPr lang="zh-CN" altLang="en-US" sz="2400" b="1">
                <a:latin typeface="Arial" panose="020B0604020202020204" pitchFamily="34" charset="0"/>
                <a:ea typeface="黑体" panose="02010609060101010101" charset="-122"/>
              </a:rPr>
              <a:t>分组密码</a:t>
            </a:r>
            <a:endParaRPr lang="zh-CN" altLang="en-US" sz="2400" b="1">
              <a:latin typeface="Arial" panose="020B0604020202020204" pitchFamily="34" charset="0"/>
              <a:ea typeface="黑体" panose="02010609060101010101" charset="-122"/>
            </a:endParaRPr>
          </a:p>
          <a:p>
            <a:pPr marL="742950" lvl="1" indent="-285750">
              <a:buFont typeface="Arial" panose="020B0604020202020204" pitchFamily="34" charset="0"/>
              <a:buChar char="•"/>
            </a:pPr>
            <a:r>
              <a:rPr lang="zh-CN" altLang="en-US" sz="2400" b="1">
                <a:latin typeface="Arial" panose="020B0604020202020204" pitchFamily="34" charset="0"/>
                <a:ea typeface="黑体" panose="02010609060101010101" charset="-122"/>
              </a:rPr>
              <a:t>对称分组密码</a:t>
            </a:r>
            <a:endParaRPr lang="zh-CN" altLang="en-US" sz="2400" b="1">
              <a:latin typeface="Arial" panose="020B0604020202020204" pitchFamily="34" charset="0"/>
              <a:ea typeface="黑体" panose="02010609060101010101" charset="-122"/>
            </a:endParaRPr>
          </a:p>
        </p:txBody>
      </p:sp>
      <p:grpSp>
        <p:nvGrpSpPr>
          <p:cNvPr id="19" name="组合 18"/>
          <p:cNvGrpSpPr/>
          <p:nvPr/>
        </p:nvGrpSpPr>
        <p:grpSpPr>
          <a:xfrm>
            <a:off x="4464050" y="2874645"/>
            <a:ext cx="6966037" cy="3765025"/>
            <a:chOff x="8356" y="5400"/>
            <a:chExt cx="9644" cy="5056"/>
          </a:xfrm>
        </p:grpSpPr>
        <p:sp>
          <p:nvSpPr>
            <p:cNvPr id="2" name="矩形 1"/>
            <p:cNvSpPr/>
            <p:nvPr/>
          </p:nvSpPr>
          <p:spPr>
            <a:xfrm>
              <a:off x="10027" y="7404"/>
              <a:ext cx="962" cy="207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latin typeface="Arial" panose="020B0604020202020204" pitchFamily="34" charset="0"/>
                  <a:ea typeface="黑体" panose="02010609060101010101" charset="-122"/>
                </a:rPr>
                <a:t>加密</a:t>
              </a:r>
              <a:endParaRPr lang="zh-CN" altLang="en-US" sz="2000">
                <a:latin typeface="Arial" panose="020B0604020202020204" pitchFamily="34" charset="0"/>
                <a:ea typeface="黑体" panose="02010609060101010101" charset="-122"/>
              </a:endParaRPr>
            </a:p>
          </p:txBody>
        </p:sp>
        <p:cxnSp>
          <p:nvCxnSpPr>
            <p:cNvPr id="3" name="直接箭头连接符 2"/>
            <p:cNvCxnSpPr>
              <a:endCxn id="2" idx="1"/>
            </p:cNvCxnSpPr>
            <p:nvPr/>
          </p:nvCxnSpPr>
          <p:spPr>
            <a:xfrm flipV="1">
              <a:off x="8356" y="8440"/>
              <a:ext cx="1671" cy="1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8692" y="7895"/>
              <a:ext cx="1160"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明文</a:t>
              </a:r>
              <a:endParaRPr lang="zh-CN" altLang="en-US" sz="2000">
                <a:latin typeface="Arial" panose="020B0604020202020204" pitchFamily="34" charset="0"/>
                <a:ea typeface="黑体" panose="02010609060101010101" charset="-122"/>
              </a:endParaRPr>
            </a:p>
          </p:txBody>
        </p:sp>
        <p:cxnSp>
          <p:nvCxnSpPr>
            <p:cNvPr id="7" name="直接箭头连接符 6"/>
            <p:cNvCxnSpPr/>
            <p:nvPr/>
          </p:nvCxnSpPr>
          <p:spPr>
            <a:xfrm>
              <a:off x="10989" y="8456"/>
              <a:ext cx="4714"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1753" y="7895"/>
              <a:ext cx="1160"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密文</a:t>
              </a:r>
              <a:endParaRPr lang="zh-CN" altLang="en-US" sz="2000">
                <a:latin typeface="Arial" panose="020B0604020202020204" pitchFamily="34" charset="0"/>
                <a:ea typeface="黑体" panose="02010609060101010101" charset="-122"/>
              </a:endParaRPr>
            </a:p>
          </p:txBody>
        </p:sp>
        <p:sp>
          <p:nvSpPr>
            <p:cNvPr id="9" name="矩形 8"/>
            <p:cNvSpPr/>
            <p:nvPr/>
          </p:nvSpPr>
          <p:spPr>
            <a:xfrm>
              <a:off x="13329" y="6231"/>
              <a:ext cx="1514" cy="4225"/>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10" name="文本框 9"/>
            <p:cNvSpPr txBox="1"/>
            <p:nvPr/>
          </p:nvSpPr>
          <p:spPr>
            <a:xfrm>
              <a:off x="13385" y="5745"/>
              <a:ext cx="1309"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信道</a:t>
              </a:r>
              <a:endParaRPr lang="zh-CN" altLang="en-US" sz="2000">
                <a:latin typeface="Arial" panose="020B0604020202020204" pitchFamily="34" charset="0"/>
                <a:ea typeface="黑体" panose="02010609060101010101" charset="-122"/>
              </a:endParaRPr>
            </a:p>
          </p:txBody>
        </p:sp>
        <p:sp>
          <p:nvSpPr>
            <p:cNvPr id="11" name="矩形 10"/>
            <p:cNvSpPr/>
            <p:nvPr/>
          </p:nvSpPr>
          <p:spPr>
            <a:xfrm>
              <a:off x="15703" y="7404"/>
              <a:ext cx="962" cy="207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latin typeface="Arial" panose="020B0604020202020204" pitchFamily="34" charset="0"/>
                  <a:ea typeface="黑体" panose="02010609060101010101" charset="-122"/>
                </a:rPr>
                <a:t>解密</a:t>
              </a:r>
              <a:endParaRPr lang="zh-CN" altLang="en-US" sz="2000">
                <a:latin typeface="Arial" panose="020B0604020202020204" pitchFamily="34" charset="0"/>
                <a:ea typeface="黑体" panose="02010609060101010101" charset="-122"/>
              </a:endParaRPr>
            </a:p>
          </p:txBody>
        </p:sp>
        <p:cxnSp>
          <p:nvCxnSpPr>
            <p:cNvPr id="12" name="直接箭头连接符 11"/>
            <p:cNvCxnSpPr/>
            <p:nvPr/>
          </p:nvCxnSpPr>
          <p:spPr>
            <a:xfrm flipV="1">
              <a:off x="16329" y="8405"/>
              <a:ext cx="1671" cy="1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6665" y="7860"/>
              <a:ext cx="1160"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明文</a:t>
              </a:r>
              <a:endParaRPr lang="zh-CN" altLang="en-US" sz="2000">
                <a:latin typeface="Arial" panose="020B0604020202020204" pitchFamily="34" charset="0"/>
                <a:ea typeface="黑体" panose="02010609060101010101" charset="-122"/>
              </a:endParaRPr>
            </a:p>
          </p:txBody>
        </p:sp>
        <p:cxnSp>
          <p:nvCxnSpPr>
            <p:cNvPr id="14" name="直接箭头连接符 13"/>
            <p:cNvCxnSpPr>
              <a:endCxn id="2" idx="0"/>
            </p:cNvCxnSpPr>
            <p:nvPr/>
          </p:nvCxnSpPr>
          <p:spPr>
            <a:xfrm flipH="1">
              <a:off x="10508" y="6007"/>
              <a:ext cx="17" cy="1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9722" y="5400"/>
              <a:ext cx="2031"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加密密钥</a:t>
              </a:r>
              <a:endParaRPr lang="zh-CN" altLang="en-US" sz="2000">
                <a:latin typeface="Arial" panose="020B0604020202020204" pitchFamily="34" charset="0"/>
                <a:ea typeface="黑体" panose="02010609060101010101" charset="-122"/>
              </a:endParaRPr>
            </a:p>
          </p:txBody>
        </p:sp>
        <p:cxnSp>
          <p:nvCxnSpPr>
            <p:cNvPr id="16" name="直接箭头连接符 15"/>
            <p:cNvCxnSpPr/>
            <p:nvPr/>
          </p:nvCxnSpPr>
          <p:spPr>
            <a:xfrm flipH="1">
              <a:off x="16092" y="6034"/>
              <a:ext cx="17" cy="1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5306" y="5427"/>
              <a:ext cx="2031"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解密密钥</a:t>
              </a:r>
              <a:endParaRPr lang="zh-CN" altLang="en-US" sz="2000">
                <a:latin typeface="Arial" panose="020B0604020202020204" pitchFamily="34" charset="0"/>
                <a:ea typeface="黑体" panose="02010609060101010101"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6" name="textbox 84"/>
          <p:cNvSpPr/>
          <p:nvPr/>
        </p:nvSpPr>
        <p:spPr>
          <a:xfrm>
            <a:off x="1571048" y="488157"/>
            <a:ext cx="3668395" cy="480694"/>
          </a:xfrm>
          <a:prstGeom prst="rect">
            <a:avLst/>
          </a:prstGeom>
        </p:spPr>
        <p:txBody>
          <a:bodyPr vert="horz" wrap="square" lIns="0" tIns="0" rIns="0" bIns="0"/>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引言</a:t>
            </a:r>
            <a:endPar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2097181" name="picture 88"/>
          <p:cNvPicPr>
            <a:picLocks noChangeAspect="1"/>
          </p:cNvPicPr>
          <p:nvPr/>
        </p:nvPicPr>
        <p:blipFill>
          <a:blip r:embed="rId1"/>
          <a:stretch>
            <a:fillRect/>
          </a:stretch>
        </p:blipFill>
        <p:spPr>
          <a:xfrm rot="21600000">
            <a:off x="824483" y="408431"/>
            <a:ext cx="419100" cy="655320"/>
          </a:xfrm>
          <a:prstGeom prst="rect">
            <a:avLst/>
          </a:prstGeom>
        </p:spPr>
      </p:pic>
      <p:sp>
        <p:nvSpPr>
          <p:cNvPr id="10488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grpSp>
        <p:nvGrpSpPr>
          <p:cNvPr id="19" name="组合 18"/>
          <p:cNvGrpSpPr/>
          <p:nvPr/>
        </p:nvGrpSpPr>
        <p:grpSpPr>
          <a:xfrm>
            <a:off x="2076450" y="2411730"/>
            <a:ext cx="6966037" cy="3034509"/>
            <a:chOff x="8356" y="5400"/>
            <a:chExt cx="9644" cy="4075"/>
          </a:xfrm>
        </p:grpSpPr>
        <p:sp>
          <p:nvSpPr>
            <p:cNvPr id="2" name="矩形 1"/>
            <p:cNvSpPr/>
            <p:nvPr/>
          </p:nvSpPr>
          <p:spPr>
            <a:xfrm>
              <a:off x="10027" y="7404"/>
              <a:ext cx="962" cy="207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latin typeface="Arial" panose="020B0604020202020204" pitchFamily="34" charset="0"/>
                  <a:ea typeface="黑体" panose="02010609060101010101" charset="-122"/>
                </a:rPr>
                <a:t>加密</a:t>
              </a:r>
              <a:endParaRPr lang="zh-CN" altLang="en-US" sz="2000">
                <a:latin typeface="Arial" panose="020B0604020202020204" pitchFamily="34" charset="0"/>
                <a:ea typeface="黑体" panose="02010609060101010101" charset="-122"/>
              </a:endParaRPr>
            </a:p>
          </p:txBody>
        </p:sp>
        <p:cxnSp>
          <p:nvCxnSpPr>
            <p:cNvPr id="3" name="直接箭头连接符 2"/>
            <p:cNvCxnSpPr>
              <a:endCxn id="2" idx="1"/>
            </p:cNvCxnSpPr>
            <p:nvPr/>
          </p:nvCxnSpPr>
          <p:spPr>
            <a:xfrm flipV="1">
              <a:off x="8356" y="8440"/>
              <a:ext cx="1671" cy="1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8692" y="7895"/>
              <a:ext cx="1160"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明文</a:t>
              </a:r>
              <a:endParaRPr lang="zh-CN" altLang="en-US" sz="2000">
                <a:latin typeface="Arial" panose="020B0604020202020204" pitchFamily="34" charset="0"/>
                <a:ea typeface="黑体" panose="02010609060101010101" charset="-122"/>
              </a:endParaRPr>
            </a:p>
          </p:txBody>
        </p:sp>
        <p:cxnSp>
          <p:nvCxnSpPr>
            <p:cNvPr id="7" name="直接箭头连接符 6"/>
            <p:cNvCxnSpPr/>
            <p:nvPr/>
          </p:nvCxnSpPr>
          <p:spPr>
            <a:xfrm>
              <a:off x="10989" y="8456"/>
              <a:ext cx="4714"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2511" y="7895"/>
              <a:ext cx="1160"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密文</a:t>
              </a:r>
              <a:endParaRPr lang="zh-CN" altLang="en-US" sz="2000">
                <a:latin typeface="Arial" panose="020B0604020202020204" pitchFamily="34" charset="0"/>
                <a:ea typeface="黑体" panose="02010609060101010101" charset="-122"/>
              </a:endParaRPr>
            </a:p>
          </p:txBody>
        </p:sp>
        <p:sp>
          <p:nvSpPr>
            <p:cNvPr id="11" name="矩形 10"/>
            <p:cNvSpPr/>
            <p:nvPr/>
          </p:nvSpPr>
          <p:spPr>
            <a:xfrm>
              <a:off x="15703" y="7404"/>
              <a:ext cx="962" cy="2071"/>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latin typeface="Arial" panose="020B0604020202020204" pitchFamily="34" charset="0"/>
                  <a:ea typeface="黑体" panose="02010609060101010101" charset="-122"/>
                </a:rPr>
                <a:t>解密</a:t>
              </a:r>
              <a:endParaRPr lang="zh-CN" altLang="en-US" sz="2000">
                <a:latin typeface="Arial" panose="020B0604020202020204" pitchFamily="34" charset="0"/>
                <a:ea typeface="黑体" panose="02010609060101010101" charset="-122"/>
              </a:endParaRPr>
            </a:p>
          </p:txBody>
        </p:sp>
        <p:cxnSp>
          <p:nvCxnSpPr>
            <p:cNvPr id="12" name="直接箭头连接符 11"/>
            <p:cNvCxnSpPr/>
            <p:nvPr/>
          </p:nvCxnSpPr>
          <p:spPr>
            <a:xfrm flipV="1">
              <a:off x="16329" y="8405"/>
              <a:ext cx="1671" cy="1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6665" y="7860"/>
              <a:ext cx="1160"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明文</a:t>
              </a:r>
              <a:endParaRPr lang="zh-CN" altLang="en-US" sz="2000">
                <a:latin typeface="Arial" panose="020B0604020202020204" pitchFamily="34" charset="0"/>
                <a:ea typeface="黑体" panose="02010609060101010101" charset="-122"/>
              </a:endParaRPr>
            </a:p>
          </p:txBody>
        </p:sp>
        <p:cxnSp>
          <p:nvCxnSpPr>
            <p:cNvPr id="14" name="直接箭头连接符 13"/>
            <p:cNvCxnSpPr>
              <a:endCxn id="2" idx="0"/>
            </p:cNvCxnSpPr>
            <p:nvPr/>
          </p:nvCxnSpPr>
          <p:spPr>
            <a:xfrm flipH="1">
              <a:off x="10508" y="6007"/>
              <a:ext cx="17" cy="1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9722" y="5400"/>
              <a:ext cx="2031"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加密密钥</a:t>
              </a:r>
              <a:endParaRPr lang="zh-CN" altLang="en-US" sz="2000">
                <a:latin typeface="Arial" panose="020B0604020202020204" pitchFamily="34" charset="0"/>
                <a:ea typeface="黑体" panose="02010609060101010101" charset="-122"/>
              </a:endParaRPr>
            </a:p>
          </p:txBody>
        </p:sp>
        <p:cxnSp>
          <p:nvCxnSpPr>
            <p:cNvPr id="16" name="直接箭头连接符 15"/>
            <p:cNvCxnSpPr/>
            <p:nvPr/>
          </p:nvCxnSpPr>
          <p:spPr>
            <a:xfrm flipH="1">
              <a:off x="16092" y="6034"/>
              <a:ext cx="17" cy="13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5306" y="5427"/>
              <a:ext cx="2031" cy="536"/>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解密密钥</a:t>
              </a:r>
              <a:endParaRPr lang="zh-CN" altLang="en-US" sz="2000">
                <a:latin typeface="Arial" panose="020B0604020202020204" pitchFamily="34" charset="0"/>
                <a:ea typeface="黑体" panose="02010609060101010101" charset="-122"/>
              </a:endParaRPr>
            </a:p>
          </p:txBody>
        </p:sp>
      </p:grpSp>
      <p:sp>
        <p:nvSpPr>
          <p:cNvPr id="4" name="左大括号 3"/>
          <p:cNvSpPr/>
          <p:nvPr/>
        </p:nvSpPr>
        <p:spPr>
          <a:xfrm rot="5400000">
            <a:off x="5579110" y="26670"/>
            <a:ext cx="284480" cy="422719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5077357" y="1450340"/>
            <a:ext cx="1467028" cy="398780"/>
          </a:xfrm>
          <a:prstGeom prst="rect">
            <a:avLst/>
          </a:prstGeom>
          <a:noFill/>
        </p:spPr>
        <p:txBody>
          <a:bodyPr wrap="square" rtlCol="0">
            <a:spAutoFit/>
          </a:bodyPr>
          <a:p>
            <a:r>
              <a:rPr lang="zh-CN" altLang="en-US" sz="2000">
                <a:latin typeface="Arial" panose="020B0604020202020204" pitchFamily="34" charset="0"/>
                <a:ea typeface="黑体" panose="02010609060101010101" charset="-122"/>
              </a:rPr>
              <a:t>对称密钥</a:t>
            </a:r>
            <a:endParaRPr lang="zh-CN" altLang="en-US" sz="2000">
              <a:latin typeface="Arial" panose="020B0604020202020204" pitchFamily="34" charset="0"/>
              <a:ea typeface="黑体" panose="02010609060101010101" charset="-122"/>
            </a:endParaRPr>
          </a:p>
        </p:txBody>
      </p:sp>
      <p:sp>
        <p:nvSpPr>
          <p:cNvPr id="18" name="文本框 17"/>
          <p:cNvSpPr txBox="1"/>
          <p:nvPr/>
        </p:nvSpPr>
        <p:spPr>
          <a:xfrm>
            <a:off x="3630930" y="5759450"/>
            <a:ext cx="4226560" cy="521970"/>
          </a:xfrm>
          <a:prstGeom prst="rect">
            <a:avLst/>
          </a:prstGeom>
          <a:noFill/>
        </p:spPr>
        <p:txBody>
          <a:bodyPr wrap="square" rtlCol="0">
            <a:spAutoFit/>
          </a:bodyPr>
          <a:p>
            <a:pPr algn="ctr"/>
            <a:r>
              <a:rPr lang="zh-CN" altLang="en-US" sz="2800" b="1">
                <a:solidFill>
                  <a:srgbClr val="FF0000"/>
                </a:solidFill>
                <a:latin typeface="Arial" panose="020B0604020202020204" pitchFamily="34" charset="0"/>
                <a:ea typeface="黑体" panose="02010609060101010101" charset="-122"/>
              </a:rPr>
              <a:t>对称加密体制模型</a:t>
            </a:r>
            <a:endParaRPr lang="zh-CN" altLang="en-US" sz="2800" b="1">
              <a:solidFill>
                <a:srgbClr val="FF0000"/>
              </a:solidFill>
              <a:latin typeface="Arial" panose="020B0604020202020204" pitchFamily="34" charset="0"/>
              <a:ea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6" name="textbox 84"/>
          <p:cNvSpPr/>
          <p:nvPr/>
        </p:nvSpPr>
        <p:spPr>
          <a:xfrm>
            <a:off x="1571048" y="488157"/>
            <a:ext cx="3668395" cy="480694"/>
          </a:xfrm>
          <a:prstGeom prst="rect">
            <a:avLst/>
          </a:prstGeom>
        </p:spPr>
        <p:txBody>
          <a:bodyPr vert="horz" wrap="square" lIns="0" tIns="0" rIns="0" bIns="0"/>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分组密码与流密码</a:t>
            </a:r>
            <a:endPar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2097181" name="picture 88"/>
          <p:cNvPicPr>
            <a:picLocks noChangeAspect="1"/>
          </p:cNvPicPr>
          <p:nvPr/>
        </p:nvPicPr>
        <p:blipFill>
          <a:blip r:embed="rId1"/>
          <a:stretch>
            <a:fillRect/>
          </a:stretch>
        </p:blipFill>
        <p:spPr>
          <a:xfrm rot="21600000">
            <a:off x="824483" y="408431"/>
            <a:ext cx="419100" cy="655320"/>
          </a:xfrm>
          <a:prstGeom prst="rect">
            <a:avLst/>
          </a:prstGeom>
        </p:spPr>
      </p:pic>
      <p:sp>
        <p:nvSpPr>
          <p:cNvPr id="10488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4" name="图片 3"/>
          <p:cNvPicPr>
            <a:picLocks noChangeAspect="1"/>
          </p:cNvPicPr>
          <p:nvPr/>
        </p:nvPicPr>
        <p:blipFill>
          <a:blip r:embed="rId2"/>
          <a:stretch>
            <a:fillRect/>
          </a:stretch>
        </p:blipFill>
        <p:spPr>
          <a:xfrm>
            <a:off x="1142365" y="1177925"/>
            <a:ext cx="9495155" cy="2331085"/>
          </a:xfrm>
          <a:prstGeom prst="rect">
            <a:avLst/>
          </a:prstGeom>
        </p:spPr>
      </p:pic>
      <p:sp>
        <p:nvSpPr>
          <p:cNvPr id="64" name="path 64"/>
          <p:cNvSpPr/>
          <p:nvPr/>
        </p:nvSpPr>
        <p:spPr>
          <a:xfrm>
            <a:off x="3581400" y="5315711"/>
            <a:ext cx="4916423" cy="591311"/>
          </a:xfrm>
          <a:custGeom>
            <a:avLst/>
            <a:gdLst/>
            <a:ahLst/>
            <a:cxnLst/>
            <a:rect l="0" t="0" r="0" b="0"/>
            <a:pathLst>
              <a:path w="7742" h="931">
                <a:moveTo>
                  <a:pt x="5191" y="900"/>
                </a:moveTo>
                <a:lnTo>
                  <a:pt x="7711" y="900"/>
                </a:lnTo>
                <a:lnTo>
                  <a:pt x="7711" y="60"/>
                </a:lnTo>
                <a:lnTo>
                  <a:pt x="5191" y="60"/>
                </a:lnTo>
                <a:lnTo>
                  <a:pt x="5191" y="900"/>
                </a:lnTo>
                <a:close/>
                <a:moveTo>
                  <a:pt x="31" y="871"/>
                </a:moveTo>
                <a:lnTo>
                  <a:pt x="2551" y="871"/>
                </a:lnTo>
                <a:lnTo>
                  <a:pt x="2551" y="31"/>
                </a:lnTo>
                <a:lnTo>
                  <a:pt x="31" y="31"/>
                </a:lnTo>
                <a:lnTo>
                  <a:pt x="31" y="871"/>
                </a:lnTo>
                <a:close/>
              </a:path>
            </a:pathLst>
          </a:custGeom>
          <a:noFill/>
          <a:ln w="39623" cap="flat">
            <a:solidFill>
              <a:srgbClr val="000000"/>
            </a:solidFill>
            <a:prstDash val="solid"/>
            <a:miter lim="1000000"/>
          </a:ln>
        </p:spPr>
        <p:txBody>
          <a:bodyPr rtlCol="0"/>
          <a:p>
            <a:pPr algn="ctr"/>
            <a:endParaRPr lang="zh-CN" altLang="en-US"/>
          </a:p>
        </p:txBody>
      </p:sp>
      <p:sp>
        <p:nvSpPr>
          <p:cNvPr id="66" name="textbox 66"/>
          <p:cNvSpPr/>
          <p:nvPr/>
        </p:nvSpPr>
        <p:spPr>
          <a:xfrm>
            <a:off x="1981861" y="4480052"/>
            <a:ext cx="8171815" cy="1358264"/>
          </a:xfrm>
          <a:prstGeom prst="rect">
            <a:avLst/>
          </a:prstGeom>
          <a:noFill/>
          <a:ln w="0" cap="flat">
            <a:noFill/>
            <a:prstDash val="solid"/>
            <a:miter lim="0"/>
          </a:ln>
        </p:spPr>
        <p:txBody>
          <a:bodyPr vert="horz" wrap="square" lIns="0" tIns="0" rIns="0" bIns="0"/>
          <a:p>
            <a:pPr algn="l" rtl="0" eaLnBrk="0">
              <a:lnSpc>
                <a:spcPct val="111000"/>
              </a:lnSpc>
            </a:pPr>
            <a:endParaRPr sz="800" dirty="0">
              <a:latin typeface="Arial" panose="020B0604020202020204" pitchFamily="34" charset="0"/>
              <a:ea typeface="黑体" panose="02010609060101010101" charset="-122"/>
              <a:cs typeface="Arial" panose="020B0604020202020204" pitchFamily="34" charset="0"/>
            </a:endParaRPr>
          </a:p>
          <a:p>
            <a:pPr algn="l" rtl="0" eaLnBrk="0">
              <a:lnSpc>
                <a:spcPct val="7000"/>
              </a:lnSpc>
            </a:pPr>
            <a:endParaRPr sz="100" dirty="0">
              <a:latin typeface="Arial" panose="020B0604020202020204" pitchFamily="34" charset="0"/>
              <a:ea typeface="黑体" panose="02010609060101010101" charset="-122"/>
              <a:cs typeface="Arial" panose="020B0604020202020204" pitchFamily="34" charset="0"/>
            </a:endParaRPr>
          </a:p>
          <a:p>
            <a:pPr marL="12700" algn="l" rtl="0" eaLnBrk="0">
              <a:lnSpc>
                <a:spcPts val="4310"/>
              </a:lnSpc>
            </a:pPr>
            <a:r>
              <a:rPr sz="2600" b="1" i="1" kern="0" spc="-4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2400" b="1" kern="0" spc="-4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2600" b="1" i="1" kern="0" spc="-4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1600" b="1" kern="0" spc="-40" baseline="-2000" dirty="0">
                <a:solidFill>
                  <a:srgbClr val="000000">
                    <a:alpha val="100000"/>
                  </a:srgbClr>
                </a:solidFill>
                <a:latin typeface="Arial" panose="020B0604020202020204" pitchFamily="34" charset="0"/>
                <a:ea typeface="黑体" panose="02010609060101010101" charset="-122"/>
                <a:cs typeface="仿宋" panose="02010609060101010101" charset="-122"/>
              </a:rPr>
              <a:t>0</a:t>
            </a:r>
            <a:r>
              <a:rPr sz="1000" kern="0" spc="-2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4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4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54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4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54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1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600" b="1" i="1" kern="0" spc="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1600" b="1" kern="0" spc="0" baseline="-2000" dirty="0">
                <a:solidFill>
                  <a:srgbClr val="000000">
                    <a:alpha val="100000"/>
                  </a:srgbClr>
                </a:solidFill>
                <a:latin typeface="Arial" panose="020B0604020202020204" pitchFamily="34" charset="0"/>
                <a:ea typeface="黑体" panose="02010609060101010101" charset="-122"/>
                <a:cs typeface="仿宋" panose="02010609060101010101" charset="-122"/>
              </a:rPr>
              <a:t>n</a:t>
            </a:r>
            <a:r>
              <a:rPr sz="1000" b="1" kern="0" spc="20" dirty="0">
                <a:solidFill>
                  <a:srgbClr val="000000">
                    <a:alpha val="100000"/>
                  </a:srgbClr>
                </a:solidFill>
                <a:latin typeface="Arial" panose="020B0604020202020204" pitchFamily="34" charset="0"/>
                <a:ea typeface="黑体" panose="02010609060101010101" charset="-122"/>
                <a:cs typeface="仿宋" panose="02010609060101010101" charset="-122"/>
              </a:rPr>
              <a:t>-1</a:t>
            </a:r>
            <a:r>
              <a:rPr sz="2400" b="1" kern="0" spc="2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600" b="1" i="1" kern="0" spc="2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y</a:t>
            </a:r>
            <a:r>
              <a:rPr sz="2400" b="1" kern="0" spc="2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2600" b="1" i="1" kern="0" spc="2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y</a:t>
            </a:r>
            <a:r>
              <a:rPr sz="1600" b="1" kern="0" spc="20" baseline="-2000" dirty="0">
                <a:solidFill>
                  <a:srgbClr val="000000">
                    <a:alpha val="100000"/>
                  </a:srgbClr>
                </a:solidFill>
                <a:latin typeface="Arial" panose="020B0604020202020204" pitchFamily="34" charset="0"/>
                <a:ea typeface="黑体" panose="02010609060101010101" charset="-122"/>
                <a:cs typeface="仿宋" panose="02010609060101010101" charset="-122"/>
              </a:rPr>
              <a:t>0</a:t>
            </a:r>
            <a:r>
              <a:rPr sz="1000" kern="0" spc="-2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2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1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27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4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27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1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600" b="1" i="1" kern="0" spc="-27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y</a:t>
            </a:r>
            <a:r>
              <a:rPr sz="1000" b="1" kern="0" spc="-10" dirty="0">
                <a:solidFill>
                  <a:srgbClr val="000000">
                    <a:alpha val="100000"/>
                  </a:srgbClr>
                </a:solidFill>
                <a:latin typeface="Arial" panose="020B0604020202020204" pitchFamily="34" charset="0"/>
                <a:ea typeface="黑体" panose="02010609060101010101" charset="-122"/>
                <a:cs typeface="仿宋" panose="02010609060101010101" charset="-122"/>
              </a:rPr>
              <a:t>m-1</a:t>
            </a:r>
            <a:r>
              <a:rPr sz="2400" b="1" kern="0" spc="-1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600" b="1" i="1" kern="0" spc="-1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2400" b="1" kern="0" spc="-1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2600" b="1" i="1" kern="0" spc="-1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1600" b="1" kern="0" spc="-10" baseline="-2000" dirty="0">
                <a:solidFill>
                  <a:srgbClr val="000000">
                    <a:alpha val="100000"/>
                  </a:srgbClr>
                </a:solidFill>
                <a:latin typeface="Arial" panose="020B0604020202020204" pitchFamily="34" charset="0"/>
                <a:ea typeface="黑体" panose="02010609060101010101" charset="-122"/>
                <a:cs typeface="仿宋" panose="02010609060101010101" charset="-122"/>
              </a:rPr>
              <a:t>0</a:t>
            </a:r>
            <a:r>
              <a:rPr sz="1000" kern="0" spc="-18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1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1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56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4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56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500" kern="0" spc="1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600" b="1" i="1" kern="0" spc="0" baseline="1700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1600" b="1" kern="0" spc="0" baseline="-2000" dirty="0">
                <a:solidFill>
                  <a:srgbClr val="000000">
                    <a:alpha val="100000"/>
                  </a:srgbClr>
                </a:solidFill>
                <a:latin typeface="Arial" panose="020B0604020202020204" pitchFamily="34" charset="0"/>
                <a:ea typeface="黑体" panose="02010609060101010101" charset="-122"/>
                <a:cs typeface="仿宋" panose="02010609060101010101" charset="-122"/>
              </a:rPr>
              <a:t>n</a:t>
            </a:r>
            <a:r>
              <a:rPr sz="1000" b="1" kern="0" spc="150" dirty="0">
                <a:solidFill>
                  <a:srgbClr val="000000">
                    <a:alpha val="100000"/>
                  </a:srgbClr>
                </a:solidFill>
                <a:latin typeface="Arial" panose="020B0604020202020204" pitchFamily="34" charset="0"/>
                <a:ea typeface="黑体" panose="02010609060101010101" charset="-122"/>
                <a:cs typeface="仿宋" panose="02010609060101010101" charset="-122"/>
              </a:rPr>
              <a:t>-1</a:t>
            </a:r>
            <a:r>
              <a:rPr sz="2400" b="1" kern="0" spc="150" baseline="19000" dirty="0">
                <a:solidFill>
                  <a:srgbClr val="000000">
                    <a:alpha val="100000"/>
                  </a:srgbClr>
                </a:solidFill>
                <a:latin typeface="Arial" panose="020B0604020202020204" pitchFamily="34" charset="0"/>
                <a:ea typeface="黑体" panose="02010609060101010101" charset="-122"/>
                <a:cs typeface="仿宋" panose="02010609060101010101" charset="-122"/>
              </a:rPr>
              <a:t>)</a:t>
            </a:r>
            <a:endParaRPr sz="2400" baseline="19000" dirty="0">
              <a:latin typeface="Arial" panose="020B0604020202020204" pitchFamily="34" charset="0"/>
              <a:ea typeface="黑体" panose="02010609060101010101" charset="-122"/>
              <a:cs typeface="仿宋" panose="02010609060101010101" charset="-122"/>
            </a:endParaRPr>
          </a:p>
          <a:p>
            <a:pPr algn="l" rtl="0" eaLnBrk="0">
              <a:lnSpc>
                <a:spcPct val="178000"/>
              </a:lnSpc>
            </a:pPr>
            <a:endParaRPr sz="1000" dirty="0">
              <a:latin typeface="Arial" panose="020B0604020202020204" pitchFamily="34" charset="0"/>
              <a:ea typeface="黑体" panose="02010609060101010101" charset="-122"/>
              <a:cs typeface="Arial" panose="020B0604020202020204" pitchFamily="34" charset="0"/>
            </a:endParaRPr>
          </a:p>
          <a:p>
            <a:pPr algn="l" rtl="0" eaLnBrk="0">
              <a:lnSpc>
                <a:spcPct val="113000"/>
              </a:lnSpc>
            </a:pPr>
            <a:endParaRPr sz="400" dirty="0">
              <a:latin typeface="Arial" panose="020B0604020202020204" pitchFamily="34" charset="0"/>
              <a:ea typeface="黑体" panose="02010609060101010101" charset="-122"/>
              <a:cs typeface="Arial" panose="020B0604020202020204" pitchFamily="34" charset="0"/>
            </a:endParaRPr>
          </a:p>
          <a:p>
            <a:pPr marL="1622425" algn="l" defTabSz="0" rtl="0" eaLnBrk="0">
              <a:lnSpc>
                <a:spcPts val="2175"/>
              </a:lnSpc>
              <a:spcBef>
                <a:spcPts val="5"/>
              </a:spcBef>
              <a:tabLst>
                <a:tab pos="1970405" algn="l"/>
              </a:tabLst>
            </a:pPr>
            <a:r>
              <a:rPr sz="1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30" dirty="0">
                <a:solidFill>
                  <a:srgbClr val="000000">
                    <a:alpha val="100000"/>
                  </a:srgbClr>
                </a:solidFill>
                <a:latin typeface="Arial" panose="020B0604020202020204" pitchFamily="34" charset="0"/>
                <a:ea typeface="黑体" panose="02010609060101010101" charset="-122"/>
                <a:cs typeface="仿宋" panose="02010609060101010101" charset="-122"/>
              </a:rPr>
              <a:t>加密算法</a:t>
            </a:r>
            <a:r>
              <a:rPr sz="18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30" dirty="0">
                <a:solidFill>
                  <a:srgbClr val="000000">
                    <a:alpha val="100000"/>
                  </a:srgbClr>
                </a:solidFill>
                <a:latin typeface="Arial" panose="020B0604020202020204" pitchFamily="34" charset="0"/>
                <a:ea typeface="黑体" panose="02010609060101010101" charset="-122"/>
                <a:cs typeface="仿宋" panose="02010609060101010101" charset="-122"/>
              </a:rPr>
              <a:t>解密算法</a:t>
            </a:r>
            <a:r>
              <a:rPr sz="18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endParaRPr sz="1800" dirty="0">
              <a:latin typeface="Arial" panose="020B0604020202020204" pitchFamily="34" charset="0"/>
              <a:ea typeface="黑体" panose="02010609060101010101" charset="-122"/>
              <a:cs typeface="仿宋" panose="02010609060101010101" charset="-122"/>
            </a:endParaRPr>
          </a:p>
        </p:txBody>
      </p:sp>
      <p:grpSp>
        <p:nvGrpSpPr>
          <p:cNvPr id="8" name="group 8"/>
          <p:cNvGrpSpPr/>
          <p:nvPr/>
        </p:nvGrpSpPr>
        <p:grpSpPr>
          <a:xfrm rot="21600000">
            <a:off x="8462764" y="5408340"/>
            <a:ext cx="845847" cy="387766"/>
            <a:chOff x="0" y="0"/>
            <a:chExt cx="845847" cy="387766"/>
          </a:xfrm>
        </p:grpSpPr>
        <p:sp>
          <p:nvSpPr>
            <p:cNvPr id="68" name="path 68"/>
            <p:cNvSpPr/>
            <p:nvPr/>
          </p:nvSpPr>
          <p:spPr>
            <a:xfrm>
              <a:off x="4571" y="3383"/>
              <a:ext cx="838200" cy="381000"/>
            </a:xfrm>
            <a:custGeom>
              <a:avLst/>
              <a:gdLst/>
              <a:ahLst/>
              <a:cxnLst/>
              <a:rect l="0" t="0" r="0" b="0"/>
              <a:pathLst>
                <a:path w="1320" h="600">
                  <a:moveTo>
                    <a:pt x="0" y="150"/>
                  </a:moveTo>
                  <a:lnTo>
                    <a:pt x="990" y="150"/>
                  </a:lnTo>
                  <a:lnTo>
                    <a:pt x="990" y="0"/>
                  </a:lnTo>
                  <a:lnTo>
                    <a:pt x="1320" y="300"/>
                  </a:lnTo>
                  <a:lnTo>
                    <a:pt x="990" y="600"/>
                  </a:lnTo>
                  <a:lnTo>
                    <a:pt x="990" y="450"/>
                  </a:lnTo>
                  <a:lnTo>
                    <a:pt x="0" y="450"/>
                  </a:lnTo>
                  <a:lnTo>
                    <a:pt x="0" y="150"/>
                  </a:lnTo>
                  <a:close/>
                </a:path>
              </a:pathLst>
            </a:custGeom>
            <a:solidFill>
              <a:srgbClr val="5B9BD5">
                <a:alpha val="100000"/>
              </a:srgbClr>
            </a:solidFill>
            <a:ln w="0" cap="flat">
              <a:noFill/>
              <a:prstDash val="solid"/>
              <a:miter lim="0"/>
            </a:ln>
          </p:spPr>
          <p:txBody>
            <a:bodyPr rtlCol="0"/>
            <a:p>
              <a:pPr algn="ctr"/>
              <a:endParaRPr lang="zh-CN" altLang="en-US"/>
            </a:p>
          </p:txBody>
        </p:sp>
        <p:sp>
          <p:nvSpPr>
            <p:cNvPr id="70" name="path 70"/>
            <p:cNvSpPr/>
            <p:nvPr/>
          </p:nvSpPr>
          <p:spPr>
            <a:xfrm>
              <a:off x="0" y="0"/>
              <a:ext cx="845847" cy="387766"/>
            </a:xfrm>
            <a:custGeom>
              <a:avLst/>
              <a:gdLst/>
              <a:ahLst/>
              <a:cxnLst/>
              <a:rect l="0" t="0" r="0" b="0"/>
              <a:pathLst>
                <a:path w="1332" h="610">
                  <a:moveTo>
                    <a:pt x="7" y="155"/>
                  </a:moveTo>
                  <a:lnTo>
                    <a:pt x="997" y="155"/>
                  </a:lnTo>
                  <a:lnTo>
                    <a:pt x="997" y="5"/>
                  </a:lnTo>
                  <a:lnTo>
                    <a:pt x="1327" y="305"/>
                  </a:lnTo>
                  <a:lnTo>
                    <a:pt x="997" y="605"/>
                  </a:lnTo>
                  <a:lnTo>
                    <a:pt x="997" y="455"/>
                  </a:lnTo>
                  <a:lnTo>
                    <a:pt x="7" y="455"/>
                  </a:lnTo>
                  <a:lnTo>
                    <a:pt x="7" y="155"/>
                  </a:lnTo>
                  <a:close/>
                </a:path>
              </a:pathLst>
            </a:custGeom>
            <a:noFill/>
            <a:ln w="9143" cap="flat">
              <a:solidFill>
                <a:srgbClr val="000000"/>
              </a:solidFill>
              <a:prstDash val="solid"/>
              <a:miter lim="1000000"/>
            </a:ln>
          </p:spPr>
          <p:txBody>
            <a:bodyPr rtlCol="0"/>
            <a:p>
              <a:pPr algn="ctr"/>
              <a:endParaRPr lang="zh-CN" altLang="en-US"/>
            </a:p>
          </p:txBody>
        </p:sp>
      </p:grpSp>
      <p:grpSp>
        <p:nvGrpSpPr>
          <p:cNvPr id="10" name="group 10"/>
          <p:cNvGrpSpPr/>
          <p:nvPr/>
        </p:nvGrpSpPr>
        <p:grpSpPr>
          <a:xfrm rot="21600000">
            <a:off x="5190110" y="5483539"/>
            <a:ext cx="1682267" cy="255657"/>
            <a:chOff x="0" y="0"/>
            <a:chExt cx="1682267" cy="255657"/>
          </a:xfrm>
        </p:grpSpPr>
        <p:sp>
          <p:nvSpPr>
            <p:cNvPr id="72" name="path 72"/>
            <p:cNvSpPr/>
            <p:nvPr/>
          </p:nvSpPr>
          <p:spPr>
            <a:xfrm>
              <a:off x="4571" y="4384"/>
              <a:ext cx="1676400" cy="246888"/>
            </a:xfrm>
            <a:custGeom>
              <a:avLst/>
              <a:gdLst/>
              <a:ahLst/>
              <a:cxnLst/>
              <a:rect l="0" t="0" r="0" b="0"/>
              <a:pathLst>
                <a:path w="2640" h="388">
                  <a:moveTo>
                    <a:pt x="0" y="97"/>
                  </a:moveTo>
                  <a:lnTo>
                    <a:pt x="1982" y="97"/>
                  </a:lnTo>
                  <a:lnTo>
                    <a:pt x="1982" y="0"/>
                  </a:lnTo>
                  <a:lnTo>
                    <a:pt x="2640" y="194"/>
                  </a:lnTo>
                  <a:lnTo>
                    <a:pt x="1982" y="388"/>
                  </a:lnTo>
                  <a:lnTo>
                    <a:pt x="1982" y="291"/>
                  </a:lnTo>
                  <a:lnTo>
                    <a:pt x="0" y="291"/>
                  </a:lnTo>
                  <a:lnTo>
                    <a:pt x="0" y="97"/>
                  </a:lnTo>
                  <a:close/>
                </a:path>
              </a:pathLst>
            </a:custGeom>
            <a:solidFill>
              <a:srgbClr val="5B9BD5">
                <a:alpha val="100000"/>
              </a:srgbClr>
            </a:solidFill>
            <a:ln w="0" cap="flat">
              <a:noFill/>
              <a:prstDash val="solid"/>
              <a:miter lim="0"/>
            </a:ln>
          </p:spPr>
          <p:txBody>
            <a:bodyPr rtlCol="0"/>
            <a:p>
              <a:pPr algn="ctr"/>
              <a:endParaRPr lang="zh-CN" altLang="en-US"/>
            </a:p>
          </p:txBody>
        </p:sp>
        <p:sp>
          <p:nvSpPr>
            <p:cNvPr id="74" name="path 74"/>
            <p:cNvSpPr/>
            <p:nvPr/>
          </p:nvSpPr>
          <p:spPr>
            <a:xfrm>
              <a:off x="0" y="0"/>
              <a:ext cx="1682267" cy="255657"/>
            </a:xfrm>
            <a:custGeom>
              <a:avLst/>
              <a:gdLst/>
              <a:ahLst/>
              <a:cxnLst/>
              <a:rect l="0" t="0" r="0" b="0"/>
              <a:pathLst>
                <a:path w="2649" h="402">
                  <a:moveTo>
                    <a:pt x="7" y="104"/>
                  </a:moveTo>
                  <a:lnTo>
                    <a:pt x="1989" y="104"/>
                  </a:lnTo>
                  <a:lnTo>
                    <a:pt x="1989" y="6"/>
                  </a:lnTo>
                  <a:lnTo>
                    <a:pt x="2647" y="201"/>
                  </a:lnTo>
                  <a:lnTo>
                    <a:pt x="1989" y="395"/>
                  </a:lnTo>
                  <a:lnTo>
                    <a:pt x="1989" y="298"/>
                  </a:lnTo>
                  <a:lnTo>
                    <a:pt x="7" y="298"/>
                  </a:lnTo>
                  <a:lnTo>
                    <a:pt x="7" y="104"/>
                  </a:lnTo>
                  <a:close/>
                </a:path>
              </a:pathLst>
            </a:custGeom>
            <a:noFill/>
            <a:ln w="9143" cap="flat">
              <a:solidFill>
                <a:srgbClr val="000000"/>
              </a:solidFill>
              <a:prstDash val="solid"/>
              <a:miter lim="1000000"/>
            </a:ln>
          </p:spPr>
          <p:txBody>
            <a:bodyPr rtlCol="0"/>
            <a:p>
              <a:pPr algn="ctr"/>
              <a:endParaRPr lang="zh-CN" altLang="en-US"/>
            </a:p>
          </p:txBody>
        </p:sp>
      </p:grpSp>
      <p:grpSp>
        <p:nvGrpSpPr>
          <p:cNvPr id="12" name="group 12"/>
          <p:cNvGrpSpPr/>
          <p:nvPr/>
        </p:nvGrpSpPr>
        <p:grpSpPr>
          <a:xfrm rot="21600000">
            <a:off x="2758439" y="5408340"/>
            <a:ext cx="845847" cy="387766"/>
            <a:chOff x="0" y="0"/>
            <a:chExt cx="845847" cy="387766"/>
          </a:xfrm>
        </p:grpSpPr>
        <p:sp>
          <p:nvSpPr>
            <p:cNvPr id="76" name="path 76"/>
            <p:cNvSpPr/>
            <p:nvPr/>
          </p:nvSpPr>
          <p:spPr>
            <a:xfrm>
              <a:off x="4572" y="3383"/>
              <a:ext cx="838200" cy="381000"/>
            </a:xfrm>
            <a:custGeom>
              <a:avLst/>
              <a:gdLst/>
              <a:ahLst/>
              <a:cxnLst/>
              <a:rect l="0" t="0" r="0" b="0"/>
              <a:pathLst>
                <a:path w="1320" h="600">
                  <a:moveTo>
                    <a:pt x="0" y="150"/>
                  </a:moveTo>
                  <a:lnTo>
                    <a:pt x="990" y="150"/>
                  </a:lnTo>
                  <a:lnTo>
                    <a:pt x="990" y="0"/>
                  </a:lnTo>
                  <a:lnTo>
                    <a:pt x="1320" y="300"/>
                  </a:lnTo>
                  <a:lnTo>
                    <a:pt x="990" y="600"/>
                  </a:lnTo>
                  <a:lnTo>
                    <a:pt x="990" y="450"/>
                  </a:lnTo>
                  <a:lnTo>
                    <a:pt x="0" y="450"/>
                  </a:lnTo>
                  <a:lnTo>
                    <a:pt x="0" y="150"/>
                  </a:lnTo>
                  <a:close/>
                </a:path>
              </a:pathLst>
            </a:custGeom>
            <a:solidFill>
              <a:srgbClr val="5B9BD5">
                <a:alpha val="100000"/>
              </a:srgbClr>
            </a:solidFill>
            <a:ln w="0" cap="flat">
              <a:noFill/>
              <a:prstDash val="solid"/>
              <a:miter lim="0"/>
            </a:ln>
          </p:spPr>
          <p:txBody>
            <a:bodyPr rtlCol="0"/>
            <a:p>
              <a:pPr algn="ctr"/>
              <a:endParaRPr lang="zh-CN" altLang="en-US"/>
            </a:p>
          </p:txBody>
        </p:sp>
        <p:sp>
          <p:nvSpPr>
            <p:cNvPr id="78" name="path 78"/>
            <p:cNvSpPr/>
            <p:nvPr/>
          </p:nvSpPr>
          <p:spPr>
            <a:xfrm>
              <a:off x="0" y="0"/>
              <a:ext cx="845847" cy="387766"/>
            </a:xfrm>
            <a:custGeom>
              <a:avLst/>
              <a:gdLst/>
              <a:ahLst/>
              <a:cxnLst/>
              <a:rect l="0" t="0" r="0" b="0"/>
              <a:pathLst>
                <a:path w="1332" h="610">
                  <a:moveTo>
                    <a:pt x="7" y="155"/>
                  </a:moveTo>
                  <a:lnTo>
                    <a:pt x="997" y="155"/>
                  </a:lnTo>
                  <a:lnTo>
                    <a:pt x="997" y="5"/>
                  </a:lnTo>
                  <a:lnTo>
                    <a:pt x="1327" y="305"/>
                  </a:lnTo>
                  <a:lnTo>
                    <a:pt x="997" y="605"/>
                  </a:lnTo>
                  <a:lnTo>
                    <a:pt x="997" y="455"/>
                  </a:lnTo>
                  <a:lnTo>
                    <a:pt x="7" y="455"/>
                  </a:lnTo>
                  <a:lnTo>
                    <a:pt x="7" y="155"/>
                  </a:lnTo>
                  <a:close/>
                </a:path>
              </a:pathLst>
            </a:custGeom>
            <a:noFill/>
            <a:ln w="9143" cap="flat">
              <a:solidFill>
                <a:srgbClr val="000000"/>
              </a:solidFill>
              <a:prstDash val="solid"/>
              <a:miter lim="1000000"/>
            </a:ln>
          </p:spPr>
          <p:txBody>
            <a:bodyPr rtlCol="0"/>
            <a:p>
              <a:pPr algn="ctr"/>
              <a:endParaRPr lang="zh-CN" altLang="en-US"/>
            </a:p>
          </p:txBody>
        </p:sp>
      </p:grpSp>
      <p:sp>
        <p:nvSpPr>
          <p:cNvPr id="80" name="textbox 80"/>
          <p:cNvSpPr/>
          <p:nvPr/>
        </p:nvSpPr>
        <p:spPr>
          <a:xfrm>
            <a:off x="8390027" y="4749774"/>
            <a:ext cx="221615" cy="332104"/>
          </a:xfrm>
          <a:prstGeom prst="rect">
            <a:avLst/>
          </a:prstGeom>
          <a:noFill/>
          <a:ln w="0" cap="flat">
            <a:noFill/>
            <a:prstDash val="solid"/>
            <a:miter lim="0"/>
          </a:ln>
        </p:spPr>
        <p:txBody>
          <a:bodyPr vert="horz" wrap="square" lIns="0" tIns="0" rIns="0" bIns="0"/>
          <a:p>
            <a:pPr algn="l" rtl="0" eaLnBrk="0">
              <a:lnSpc>
                <a:spcPct val="76000"/>
              </a:lnSpc>
            </a:pPr>
            <a:endParaRPr sz="100" dirty="0">
              <a:latin typeface="Arial" panose="020B0604020202020204" pitchFamily="34" charset="0"/>
              <a:ea typeface="黑体" panose="02010609060101010101" charset="-122"/>
              <a:cs typeface="Arial" panose="020B0604020202020204" pitchFamily="34" charset="0"/>
            </a:endParaRPr>
          </a:p>
          <a:p>
            <a:pPr marL="12700" algn="l" rtl="0" eaLnBrk="0">
              <a:lnSpc>
                <a:spcPct val="112000"/>
              </a:lnSpc>
            </a:pPr>
            <a:r>
              <a:rPr sz="1800" b="1" i="1" kern="0" spc="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1200" b="1" kern="0" spc="0" dirty="0">
                <a:solidFill>
                  <a:srgbClr val="000000">
                    <a:alpha val="100000"/>
                  </a:srgbClr>
                </a:solidFill>
                <a:latin typeface="Arial" panose="020B0604020202020204" pitchFamily="34" charset="0"/>
                <a:ea typeface="黑体" panose="02010609060101010101" charset="-122"/>
                <a:cs typeface="仿宋" panose="02010609060101010101" charset="-122"/>
              </a:rPr>
              <a:t>1</a:t>
            </a:r>
            <a:endParaRPr sz="1200" dirty="0">
              <a:latin typeface="Arial" panose="020B0604020202020204" pitchFamily="34" charset="0"/>
              <a:ea typeface="黑体" panose="02010609060101010101" charset="-122"/>
              <a:cs typeface="仿宋" panose="02010609060101010101" charset="-122"/>
            </a:endParaRPr>
          </a:p>
        </p:txBody>
      </p:sp>
      <p:sp>
        <p:nvSpPr>
          <p:cNvPr id="82" name="textbox 82"/>
          <p:cNvSpPr/>
          <p:nvPr/>
        </p:nvSpPr>
        <p:spPr>
          <a:xfrm>
            <a:off x="8738870" y="4511675"/>
            <a:ext cx="410845" cy="284480"/>
          </a:xfrm>
          <a:prstGeom prst="rect">
            <a:avLst/>
          </a:prstGeom>
          <a:noFill/>
          <a:ln w="0" cap="flat">
            <a:noFill/>
            <a:prstDash val="solid"/>
            <a:miter lim="0"/>
          </a:ln>
        </p:spPr>
        <p:txBody>
          <a:bodyPr vert="horz" wrap="square" lIns="0" tIns="0" rIns="0" bIns="0"/>
          <a:p>
            <a:pPr algn="l" rtl="0" eaLnBrk="0">
              <a:lnSpc>
                <a:spcPct val="82000"/>
              </a:lnSpc>
            </a:pPr>
            <a:endParaRPr sz="100" dirty="0">
              <a:latin typeface="Arial" panose="020B0604020202020204" pitchFamily="34" charset="0"/>
              <a:ea typeface="黑体" panose="02010609060101010101" charset="-122"/>
              <a:cs typeface="Arial" panose="020B0604020202020204" pitchFamily="34" charset="0"/>
            </a:endParaRPr>
          </a:p>
          <a:p>
            <a:pPr algn="r" rtl="0" eaLnBrk="0">
              <a:lnSpc>
                <a:spcPct val="100000"/>
              </a:lnSpc>
            </a:pPr>
            <a:r>
              <a:rPr sz="1700" b="1"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明</a:t>
            </a:r>
            <a:r>
              <a:rPr lang="zh-CN" sz="1700" b="1"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文</a:t>
            </a:r>
            <a:endParaRPr lang="zh-CN" sz="1700" b="1" kern="0" spc="-160" dirty="0">
              <a:solidFill>
                <a:srgbClr val="000000">
                  <a:alpha val="100000"/>
                </a:srgbClr>
              </a:solidFill>
              <a:latin typeface="Arial" panose="020B0604020202020204" pitchFamily="34" charset="0"/>
              <a:ea typeface="黑体" panose="02010609060101010101" charset="-122"/>
              <a:cs typeface="仿宋" panose="02010609060101010101" charset="-122"/>
            </a:endParaRPr>
          </a:p>
        </p:txBody>
      </p:sp>
      <p:pic>
        <p:nvPicPr>
          <p:cNvPr id="84" name="picture 84"/>
          <p:cNvPicPr>
            <a:picLocks noChangeAspect="1"/>
          </p:cNvPicPr>
          <p:nvPr/>
        </p:nvPicPr>
        <p:blipFill>
          <a:blip r:embed="rId3"/>
          <a:stretch>
            <a:fillRect/>
          </a:stretch>
        </p:blipFill>
        <p:spPr>
          <a:xfrm rot="21600000">
            <a:off x="7459373" y="4511040"/>
            <a:ext cx="390143" cy="847343"/>
          </a:xfrm>
          <a:prstGeom prst="rect">
            <a:avLst/>
          </a:prstGeom>
        </p:spPr>
      </p:pic>
      <p:sp>
        <p:nvSpPr>
          <p:cNvPr id="86" name="textbox 86"/>
          <p:cNvSpPr/>
          <p:nvPr/>
        </p:nvSpPr>
        <p:spPr>
          <a:xfrm>
            <a:off x="5478527" y="4878400"/>
            <a:ext cx="219709" cy="201929"/>
          </a:xfrm>
          <a:prstGeom prst="rect">
            <a:avLst/>
          </a:prstGeom>
          <a:noFill/>
          <a:ln w="0" cap="flat">
            <a:noFill/>
            <a:prstDash val="solid"/>
            <a:miter lim="0"/>
          </a:ln>
        </p:spPr>
        <p:txBody>
          <a:bodyPr vert="horz" wrap="square" lIns="0" tIns="0" rIns="0" bIns="0"/>
          <a:p>
            <a:pPr algn="l" rtl="0" eaLnBrk="0">
              <a:lnSpc>
                <a:spcPct val="86000"/>
              </a:lnSpc>
            </a:pPr>
            <a:endParaRPr sz="100" dirty="0">
              <a:latin typeface="Arial" panose="020B0604020202020204" pitchFamily="34" charset="0"/>
              <a:ea typeface="黑体" panose="02010609060101010101" charset="-122"/>
              <a:cs typeface="Arial" panose="020B0604020202020204" pitchFamily="34" charset="0"/>
            </a:endParaRPr>
          </a:p>
          <a:p>
            <a:pPr marL="12700" algn="l" rtl="0" eaLnBrk="0">
              <a:lnSpc>
                <a:spcPct val="64000"/>
              </a:lnSpc>
            </a:pPr>
            <a:r>
              <a:rPr sz="1800" b="1" i="1" kern="0" spc="0" dirty="0">
                <a:solidFill>
                  <a:srgbClr val="000000">
                    <a:alpha val="100000"/>
                  </a:srgbClr>
                </a:solidFill>
                <a:latin typeface="Arial" panose="020B0604020202020204" pitchFamily="34" charset="0"/>
                <a:ea typeface="黑体" panose="02010609060101010101" charset="-122"/>
                <a:cs typeface="仿宋" panose="02010609060101010101" charset="-122"/>
              </a:rPr>
              <a:t>y</a:t>
            </a:r>
            <a:r>
              <a:rPr sz="1200" b="1" kern="0" spc="0" dirty="0">
                <a:solidFill>
                  <a:srgbClr val="000000">
                    <a:alpha val="100000"/>
                  </a:srgbClr>
                </a:solidFill>
                <a:latin typeface="Arial" panose="020B0604020202020204" pitchFamily="34" charset="0"/>
                <a:ea typeface="黑体" panose="02010609060101010101" charset="-122"/>
                <a:cs typeface="仿宋" panose="02010609060101010101" charset="-122"/>
              </a:rPr>
              <a:t>1</a:t>
            </a:r>
            <a:endParaRPr sz="1200" dirty="0">
              <a:latin typeface="Arial" panose="020B0604020202020204" pitchFamily="34" charset="0"/>
              <a:ea typeface="黑体" panose="02010609060101010101" charset="-122"/>
              <a:cs typeface="仿宋" panose="02010609060101010101" charset="-122"/>
            </a:endParaRPr>
          </a:p>
        </p:txBody>
      </p:sp>
      <p:sp>
        <p:nvSpPr>
          <p:cNvPr id="88" name="textbox 88"/>
          <p:cNvSpPr/>
          <p:nvPr/>
        </p:nvSpPr>
        <p:spPr>
          <a:xfrm>
            <a:off x="5768975" y="4511040"/>
            <a:ext cx="524510" cy="285115"/>
          </a:xfrm>
          <a:prstGeom prst="rect">
            <a:avLst/>
          </a:prstGeom>
          <a:noFill/>
          <a:ln w="0" cap="flat">
            <a:noFill/>
            <a:prstDash val="solid"/>
            <a:miter lim="0"/>
          </a:ln>
        </p:spPr>
        <p:txBody>
          <a:bodyPr vert="horz" wrap="square" lIns="0" tIns="0" rIns="0" bIns="0"/>
          <a:p>
            <a:pPr algn="l" rtl="0" eaLnBrk="0">
              <a:lnSpc>
                <a:spcPct val="87000"/>
              </a:lnSpc>
            </a:pPr>
            <a:endParaRPr sz="100" dirty="0">
              <a:latin typeface="Arial" panose="020B0604020202020204" pitchFamily="34" charset="0"/>
              <a:ea typeface="黑体" panose="02010609060101010101" charset="-122"/>
              <a:cs typeface="Arial" panose="020B0604020202020204" pitchFamily="34" charset="0"/>
            </a:endParaRPr>
          </a:p>
          <a:p>
            <a:pPr algn="r" rtl="0" eaLnBrk="0">
              <a:lnSpc>
                <a:spcPct val="100000"/>
              </a:lnSpc>
            </a:pPr>
            <a:r>
              <a:rPr sz="1700" b="1" kern="0" spc="-140" dirty="0">
                <a:solidFill>
                  <a:srgbClr val="000000">
                    <a:alpha val="100000"/>
                  </a:srgbClr>
                </a:solidFill>
                <a:latin typeface="Arial" panose="020B0604020202020204" pitchFamily="34" charset="0"/>
                <a:ea typeface="黑体" panose="02010609060101010101" charset="-122"/>
                <a:cs typeface="仿宋" panose="02010609060101010101" charset="-122"/>
              </a:rPr>
              <a:t>密</a:t>
            </a:r>
            <a:r>
              <a:rPr lang="zh-CN" sz="1700" b="1" kern="0" spc="-140" dirty="0">
                <a:solidFill>
                  <a:srgbClr val="000000">
                    <a:alpha val="100000"/>
                  </a:srgbClr>
                </a:solidFill>
                <a:latin typeface="Arial" panose="020B0604020202020204" pitchFamily="34" charset="0"/>
                <a:ea typeface="黑体" panose="02010609060101010101" charset="-122"/>
                <a:cs typeface="仿宋" panose="02010609060101010101" charset="-122"/>
              </a:rPr>
              <a:t>文</a:t>
            </a:r>
            <a:endParaRPr lang="zh-CN" sz="1700" b="1" kern="0" spc="-140" dirty="0">
              <a:solidFill>
                <a:srgbClr val="000000">
                  <a:alpha val="100000"/>
                </a:srgbClr>
              </a:solidFill>
              <a:latin typeface="Arial" panose="020B0604020202020204" pitchFamily="34" charset="0"/>
              <a:ea typeface="黑体" panose="02010609060101010101" charset="-122"/>
              <a:cs typeface="仿宋" panose="02010609060101010101" charset="-122"/>
            </a:endParaRPr>
          </a:p>
        </p:txBody>
      </p:sp>
      <p:pic>
        <p:nvPicPr>
          <p:cNvPr id="90" name="picture 90"/>
          <p:cNvPicPr>
            <a:picLocks noChangeAspect="1"/>
          </p:cNvPicPr>
          <p:nvPr/>
        </p:nvPicPr>
        <p:blipFill>
          <a:blip r:embed="rId4"/>
          <a:stretch>
            <a:fillRect/>
          </a:stretch>
        </p:blipFill>
        <p:spPr>
          <a:xfrm rot="21600000">
            <a:off x="4098616" y="4492752"/>
            <a:ext cx="387766" cy="845847"/>
          </a:xfrm>
          <a:prstGeom prst="rect">
            <a:avLst/>
          </a:prstGeom>
        </p:spPr>
      </p:pic>
      <p:sp>
        <p:nvSpPr>
          <p:cNvPr id="92" name="textbox 92"/>
          <p:cNvSpPr/>
          <p:nvPr/>
        </p:nvSpPr>
        <p:spPr>
          <a:xfrm>
            <a:off x="2687346" y="4768824"/>
            <a:ext cx="221615" cy="332104"/>
          </a:xfrm>
          <a:prstGeom prst="rect">
            <a:avLst/>
          </a:prstGeom>
          <a:noFill/>
          <a:ln w="0" cap="flat">
            <a:noFill/>
            <a:prstDash val="solid"/>
            <a:miter lim="0"/>
          </a:ln>
        </p:spPr>
        <p:txBody>
          <a:bodyPr vert="horz" wrap="square" lIns="0" tIns="0" rIns="0" bIns="0"/>
          <a:p>
            <a:pPr algn="l" rtl="0" eaLnBrk="0">
              <a:lnSpc>
                <a:spcPct val="76000"/>
              </a:lnSpc>
            </a:pPr>
            <a:endParaRPr sz="100" dirty="0">
              <a:latin typeface="Arial" panose="020B0604020202020204" pitchFamily="34" charset="0"/>
              <a:ea typeface="黑体" panose="02010609060101010101" charset="-122"/>
              <a:cs typeface="Arial" panose="020B0604020202020204" pitchFamily="34" charset="0"/>
            </a:endParaRPr>
          </a:p>
          <a:p>
            <a:pPr marL="12700" algn="l" rtl="0" eaLnBrk="0">
              <a:lnSpc>
                <a:spcPct val="112000"/>
              </a:lnSpc>
            </a:pPr>
            <a:r>
              <a:rPr sz="1800" b="1" i="1" kern="0" spc="0" dirty="0">
                <a:solidFill>
                  <a:srgbClr val="000000">
                    <a:alpha val="100000"/>
                  </a:srgbClr>
                </a:solidFill>
                <a:latin typeface="Arial" panose="020B0604020202020204" pitchFamily="34" charset="0"/>
                <a:ea typeface="黑体" panose="02010609060101010101" charset="-122"/>
                <a:cs typeface="仿宋" panose="02010609060101010101" charset="-122"/>
              </a:rPr>
              <a:t>x</a:t>
            </a:r>
            <a:r>
              <a:rPr sz="1200" b="1" kern="0" spc="0" dirty="0">
                <a:solidFill>
                  <a:srgbClr val="000000">
                    <a:alpha val="100000"/>
                  </a:srgbClr>
                </a:solidFill>
                <a:latin typeface="Arial" panose="020B0604020202020204" pitchFamily="34" charset="0"/>
                <a:ea typeface="黑体" panose="02010609060101010101" charset="-122"/>
                <a:cs typeface="仿宋" panose="02010609060101010101" charset="-122"/>
              </a:rPr>
              <a:t>1</a:t>
            </a:r>
            <a:endParaRPr sz="1200" dirty="0">
              <a:latin typeface="Arial" panose="020B0604020202020204" pitchFamily="34" charset="0"/>
              <a:ea typeface="黑体" panose="02010609060101010101" charset="-122"/>
              <a:cs typeface="仿宋" panose="02010609060101010101" charset="-122"/>
            </a:endParaRPr>
          </a:p>
        </p:txBody>
      </p:sp>
      <p:sp>
        <p:nvSpPr>
          <p:cNvPr id="94" name="textbox 94"/>
          <p:cNvSpPr/>
          <p:nvPr/>
        </p:nvSpPr>
        <p:spPr>
          <a:xfrm>
            <a:off x="2700020" y="4511675"/>
            <a:ext cx="406400" cy="284480"/>
          </a:xfrm>
          <a:prstGeom prst="rect">
            <a:avLst/>
          </a:prstGeom>
          <a:noFill/>
          <a:ln w="0" cap="flat">
            <a:noFill/>
            <a:prstDash val="solid"/>
            <a:miter lim="0"/>
          </a:ln>
        </p:spPr>
        <p:txBody>
          <a:bodyPr vert="horz" wrap="square" lIns="0" tIns="0" rIns="0" bIns="0"/>
          <a:p>
            <a:pPr algn="l" rtl="0" eaLnBrk="0">
              <a:lnSpc>
                <a:spcPct val="82000"/>
              </a:lnSpc>
            </a:pPr>
            <a:endParaRPr sz="100" dirty="0">
              <a:latin typeface="Arial" panose="020B0604020202020204" pitchFamily="34" charset="0"/>
              <a:ea typeface="黑体" panose="02010609060101010101" charset="-122"/>
              <a:cs typeface="Arial" panose="020B0604020202020204" pitchFamily="34" charset="0"/>
            </a:endParaRPr>
          </a:p>
          <a:p>
            <a:pPr algn="r" rtl="0" eaLnBrk="0">
              <a:lnSpc>
                <a:spcPct val="100000"/>
              </a:lnSpc>
            </a:pPr>
            <a:r>
              <a:rPr sz="1700" b="1"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明</a:t>
            </a:r>
            <a:r>
              <a:rPr lang="zh-CN" sz="1700" b="1"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文</a:t>
            </a:r>
            <a:endParaRPr lang="zh-CN" sz="1700" b="1" kern="0" spc="-160" dirty="0">
              <a:solidFill>
                <a:srgbClr val="000000">
                  <a:alpha val="100000"/>
                </a:srgbClr>
              </a:solidFill>
              <a:latin typeface="Arial" panose="020B0604020202020204" pitchFamily="34" charset="0"/>
              <a:ea typeface="黑体" panose="02010609060101010101" charset="-122"/>
              <a:cs typeface="仿宋" panose="02010609060101010101" charset="-122"/>
            </a:endParaRPr>
          </a:p>
        </p:txBody>
      </p:sp>
      <p:graphicFrame>
        <p:nvGraphicFramePr>
          <p:cNvPr id="96" name="table 96"/>
          <p:cNvGraphicFramePr>
            <a:graphicFrameLocks noGrp="1"/>
          </p:cNvGraphicFramePr>
          <p:nvPr/>
        </p:nvGraphicFramePr>
        <p:xfrm>
          <a:off x="2968752" y="3730752"/>
          <a:ext cx="2630170" cy="657860"/>
        </p:xfrm>
        <a:graphic>
          <a:graphicData uri="http://schemas.openxmlformats.org/drawingml/2006/table">
            <a:tbl>
              <a:tblPr/>
              <a:tblGrid>
                <a:gridCol w="2630170"/>
              </a:tblGrid>
              <a:tr h="651510">
                <a:tc>
                  <a:txBody>
                    <a:bodyPr/>
                    <a:p>
                      <a:pPr algn="l" rtl="0" eaLnBrk="0">
                        <a:lnSpc>
                          <a:spcPct val="150000"/>
                        </a:lnSpc>
                      </a:pPr>
                      <a:endParaRPr sz="1000" dirty="0">
                        <a:latin typeface="Arial" panose="020B0604020202020204" pitchFamily="34" charset="0"/>
                        <a:ea typeface="黑体" panose="02010609060101010101" charset="-122"/>
                        <a:cs typeface="Arial" panose="020B0604020202020204" pitchFamily="34" charset="0"/>
                      </a:endParaRPr>
                    </a:p>
                    <a:p>
                      <a:pPr algn="l" rtl="0" eaLnBrk="0">
                        <a:lnSpc>
                          <a:spcPct val="10000"/>
                        </a:lnSpc>
                      </a:pPr>
                      <a:endParaRPr sz="100" dirty="0">
                        <a:latin typeface="Arial" panose="020B0604020202020204" pitchFamily="34" charset="0"/>
                        <a:ea typeface="黑体" panose="02010609060101010101" charset="-122"/>
                        <a:cs typeface="Arial" panose="020B0604020202020204" pitchFamily="34" charset="0"/>
                      </a:endParaRPr>
                    </a:p>
                    <a:p>
                      <a:pPr marL="52070" algn="l" rtl="0" eaLnBrk="0">
                        <a:lnSpc>
                          <a:spcPts val="2390"/>
                        </a:lnSpc>
                      </a:pPr>
                      <a:r>
                        <a:rPr sz="1800" b="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密钥</a:t>
                      </a:r>
                      <a:r>
                        <a:rPr sz="1800" b="1" i="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800" b="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b="1" i="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800" b="1" kern="0" spc="-40" baseline="-16000" dirty="0">
                          <a:solidFill>
                            <a:srgbClr val="000000">
                              <a:alpha val="100000"/>
                            </a:srgbClr>
                          </a:solidFill>
                          <a:latin typeface="Arial" panose="020B0604020202020204" pitchFamily="34" charset="0"/>
                          <a:ea typeface="黑体" panose="02010609060101010101" charset="-122"/>
                          <a:cs typeface="仿宋" panose="02010609060101010101" charset="-122"/>
                        </a:rPr>
                        <a:t>0</a:t>
                      </a:r>
                      <a:r>
                        <a:rPr sz="1100" kern="0" spc="-2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i="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800" b="1" kern="0" spc="-40" baseline="-16000" dirty="0">
                          <a:solidFill>
                            <a:srgbClr val="000000">
                              <a:alpha val="100000"/>
                            </a:srgbClr>
                          </a:solidFill>
                          <a:latin typeface="Arial" panose="020B0604020202020204" pitchFamily="34" charset="0"/>
                          <a:ea typeface="黑体" panose="02010609060101010101" charset="-122"/>
                          <a:cs typeface="仿宋" panose="02010609060101010101" charset="-122"/>
                        </a:rPr>
                        <a:t>1</a:t>
                      </a:r>
                      <a:r>
                        <a:rPr sz="1100" kern="0" spc="-2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7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6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i="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2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t-1</a:t>
                      </a:r>
                      <a:r>
                        <a:rPr sz="1200" kern="0" spc="3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endParaRPr sz="1800" dirty="0">
                        <a:latin typeface="Arial" panose="020B0604020202020204" pitchFamily="34" charset="0"/>
                        <a:ea typeface="黑体" panose="02010609060101010101" charset="-122"/>
                        <a:cs typeface="仿宋"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98" name="table 98"/>
          <p:cNvGraphicFramePr>
            <a:graphicFrameLocks noGrp="1"/>
          </p:cNvGraphicFramePr>
          <p:nvPr/>
        </p:nvGraphicFramePr>
        <p:xfrm>
          <a:off x="6525768" y="3730752"/>
          <a:ext cx="2623819" cy="657860"/>
        </p:xfrm>
        <a:graphic>
          <a:graphicData uri="http://schemas.openxmlformats.org/drawingml/2006/table">
            <a:tbl>
              <a:tblPr/>
              <a:tblGrid>
                <a:gridCol w="2623819"/>
              </a:tblGrid>
              <a:tr h="651510">
                <a:tc>
                  <a:txBody>
                    <a:bodyPr/>
                    <a:p>
                      <a:pPr algn="l" rtl="0" eaLnBrk="0">
                        <a:lnSpc>
                          <a:spcPct val="150000"/>
                        </a:lnSpc>
                      </a:pPr>
                      <a:endParaRPr sz="1000" dirty="0">
                        <a:latin typeface="Arial" panose="020B0604020202020204" pitchFamily="34" charset="0"/>
                        <a:ea typeface="黑体" panose="02010609060101010101" charset="-122"/>
                        <a:cs typeface="Arial" panose="020B0604020202020204" pitchFamily="34" charset="0"/>
                      </a:endParaRPr>
                    </a:p>
                    <a:p>
                      <a:pPr algn="l" rtl="0" eaLnBrk="0">
                        <a:lnSpc>
                          <a:spcPct val="10000"/>
                        </a:lnSpc>
                      </a:pPr>
                      <a:endParaRPr sz="100" dirty="0">
                        <a:latin typeface="Arial" panose="020B0604020202020204" pitchFamily="34" charset="0"/>
                        <a:ea typeface="黑体" panose="02010609060101010101" charset="-122"/>
                        <a:cs typeface="Arial" panose="020B0604020202020204" pitchFamily="34" charset="0"/>
                      </a:endParaRPr>
                    </a:p>
                    <a:p>
                      <a:pPr marL="50800" algn="l" rtl="0" eaLnBrk="0">
                        <a:lnSpc>
                          <a:spcPts val="2390"/>
                        </a:lnSpc>
                      </a:pPr>
                      <a:r>
                        <a:rPr sz="1800" b="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密钥</a:t>
                      </a:r>
                      <a:r>
                        <a:rPr sz="1800" b="1" i="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800" b="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b="1" i="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800" b="1" kern="0" spc="-40" baseline="-16000" dirty="0">
                          <a:solidFill>
                            <a:srgbClr val="000000">
                              <a:alpha val="100000"/>
                            </a:srgbClr>
                          </a:solidFill>
                          <a:latin typeface="Arial" panose="020B0604020202020204" pitchFamily="34" charset="0"/>
                          <a:ea typeface="黑体" panose="02010609060101010101" charset="-122"/>
                          <a:cs typeface="仿宋" panose="02010609060101010101" charset="-122"/>
                        </a:rPr>
                        <a:t>0</a:t>
                      </a:r>
                      <a:r>
                        <a:rPr sz="1100" kern="0" spc="-2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i="1" kern="0" spc="-4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800" b="1" kern="0" spc="-40" baseline="-16000" dirty="0">
                          <a:solidFill>
                            <a:srgbClr val="000000">
                              <a:alpha val="100000"/>
                            </a:srgbClr>
                          </a:solidFill>
                          <a:latin typeface="Arial" panose="020B0604020202020204" pitchFamily="34" charset="0"/>
                          <a:ea typeface="黑体" panose="02010609060101010101" charset="-122"/>
                          <a:cs typeface="仿宋" panose="02010609060101010101" charset="-122"/>
                        </a:rPr>
                        <a:t>1</a:t>
                      </a:r>
                      <a:r>
                        <a:rPr sz="1100" kern="0" spc="-2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7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6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r>
                        <a:rPr sz="1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i="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k</a:t>
                      </a:r>
                      <a:r>
                        <a:rPr sz="12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t-1</a:t>
                      </a:r>
                      <a:r>
                        <a:rPr sz="1200" kern="0" spc="3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1800" b="1"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a:t>
                      </a:r>
                      <a:endParaRPr sz="1800" dirty="0">
                        <a:latin typeface="Arial" panose="020B0604020202020204" pitchFamily="34" charset="0"/>
                        <a:ea typeface="黑体" panose="02010609060101010101" charset="-122"/>
                        <a:cs typeface="仿宋"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 name="文本框 1"/>
          <p:cNvSpPr txBox="1"/>
          <p:nvPr/>
        </p:nvSpPr>
        <p:spPr>
          <a:xfrm>
            <a:off x="5189855" y="3140710"/>
            <a:ext cx="2333625" cy="368300"/>
          </a:xfrm>
          <a:prstGeom prst="rect">
            <a:avLst/>
          </a:prstGeom>
          <a:noFill/>
        </p:spPr>
        <p:txBody>
          <a:bodyPr wrap="square" rtlCol="0">
            <a:spAutoFit/>
          </a:bodyPr>
          <a:p>
            <a:r>
              <a:rPr lang="zh-CN" altLang="en-US" b="1">
                <a:latin typeface="Arial" panose="020B0604020202020204" pitchFamily="34" charset="0"/>
                <a:ea typeface="黑体" panose="02010609060101010101" charset="-122"/>
              </a:rPr>
              <a:t>流密码模型</a:t>
            </a:r>
            <a:endParaRPr lang="zh-CN" altLang="en-US" b="1">
              <a:latin typeface="Arial" panose="020B0604020202020204" pitchFamily="34" charset="0"/>
              <a:ea typeface="黑体" panose="02010609060101010101" charset="-122"/>
            </a:endParaRPr>
          </a:p>
        </p:txBody>
      </p:sp>
      <p:sp>
        <p:nvSpPr>
          <p:cNvPr id="3" name="文本框 2"/>
          <p:cNvSpPr txBox="1"/>
          <p:nvPr/>
        </p:nvSpPr>
        <p:spPr>
          <a:xfrm>
            <a:off x="5263515" y="5935980"/>
            <a:ext cx="1898650" cy="368300"/>
          </a:xfrm>
          <a:prstGeom prst="rect">
            <a:avLst/>
          </a:prstGeom>
          <a:noFill/>
        </p:spPr>
        <p:txBody>
          <a:bodyPr wrap="square" rtlCol="0">
            <a:spAutoFit/>
          </a:bodyPr>
          <a:p>
            <a:r>
              <a:rPr lang="zh-CN" altLang="en-US" b="1">
                <a:latin typeface="Arial" panose="020B0604020202020204" pitchFamily="34" charset="0"/>
                <a:ea typeface="黑体" panose="02010609060101010101" charset="-122"/>
              </a:rPr>
              <a:t>分组密码模型</a:t>
            </a:r>
            <a:endParaRPr lang="zh-CN" altLang="en-US" b="1">
              <a:latin typeface="Arial" panose="020B0604020202020204" pitchFamily="34" charset="0"/>
              <a:ea typeface="黑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6" name="textbox 84"/>
          <p:cNvSpPr/>
          <p:nvPr/>
        </p:nvSpPr>
        <p:spPr>
          <a:xfrm>
            <a:off x="1571048" y="488157"/>
            <a:ext cx="3668395" cy="480694"/>
          </a:xfrm>
          <a:prstGeom prst="rect">
            <a:avLst/>
          </a:prstGeom>
        </p:spPr>
        <p:txBody>
          <a:bodyPr vert="horz" wrap="square" lIns="0" tIns="0" rIns="0" bIns="0"/>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分组密码与流密码</a:t>
            </a:r>
            <a:endPar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2097181" name="picture 88"/>
          <p:cNvPicPr>
            <a:picLocks noChangeAspect="1"/>
          </p:cNvPicPr>
          <p:nvPr/>
        </p:nvPicPr>
        <p:blipFill>
          <a:blip r:embed="rId1"/>
          <a:stretch>
            <a:fillRect/>
          </a:stretch>
        </p:blipFill>
        <p:spPr>
          <a:xfrm rot="21600000">
            <a:off x="824483" y="408431"/>
            <a:ext cx="419100" cy="655320"/>
          </a:xfrm>
          <a:prstGeom prst="rect">
            <a:avLst/>
          </a:prstGeom>
        </p:spPr>
      </p:pic>
      <p:sp>
        <p:nvSpPr>
          <p:cNvPr id="10488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graphicFrame>
        <p:nvGraphicFramePr>
          <p:cNvPr id="2" name="表格 1"/>
          <p:cNvGraphicFramePr/>
          <p:nvPr>
            <p:custDataLst>
              <p:tags r:id="rId2"/>
            </p:custDataLst>
          </p:nvPr>
        </p:nvGraphicFramePr>
        <p:xfrm>
          <a:off x="1837690" y="1476375"/>
          <a:ext cx="8779510" cy="4724400"/>
        </p:xfrm>
        <a:graphic>
          <a:graphicData uri="http://schemas.openxmlformats.org/drawingml/2006/table">
            <a:tbl>
              <a:tblPr/>
              <a:tblGrid>
                <a:gridCol w="581660"/>
                <a:gridCol w="4090670"/>
                <a:gridCol w="4107180"/>
              </a:tblGrid>
              <a:tr h="346075">
                <a:tc>
                  <a:txBody>
                    <a:bodyPr/>
                    <a:p>
                      <a:pPr indent="0">
                        <a:buNone/>
                      </a:pPr>
                      <a:endParaRPr lang="en-US" altLang="en-US" sz="2400" b="0">
                        <a:solidFill>
                          <a:srgbClr val="000000"/>
                        </a:solidFill>
                        <a:latin typeface="Arial" panose="020B0604020202020204" pitchFamily="34" charset="0"/>
                        <a:ea typeface="黑体" panose="02010609060101010101" charset="-122"/>
                        <a:cs typeface="Arial" panose="020B0604020202020204" pitchFamily="34" charset="0"/>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对称分组密码</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zh-CN" altLang="en-US" sz="2400" b="0">
                          <a:solidFill>
                            <a:srgbClr val="000000"/>
                          </a:solidFill>
                          <a:latin typeface="Arial" panose="020B0604020202020204" pitchFamily="34" charset="0"/>
                          <a:ea typeface="黑体" panose="02010609060101010101" charset="-122"/>
                          <a:cs typeface="宋体" panose="02010600030101010101" pitchFamily="2" charset="-122"/>
                        </a:rPr>
                        <a:t>流</a:t>
                      </a:r>
                      <a:r>
                        <a:rPr lang="en-US" sz="2400" b="0">
                          <a:solidFill>
                            <a:srgbClr val="000000"/>
                          </a:solidFill>
                          <a:latin typeface="Arial" panose="020B0604020202020204" pitchFamily="34" charset="0"/>
                          <a:ea typeface="黑体" panose="02010609060101010101" charset="-122"/>
                          <a:cs typeface="宋体" panose="02010600030101010101" pitchFamily="2" charset="-122"/>
                        </a:rPr>
                        <a:t>密码</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2105">
                <a:tc rowSpan="4">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相同点</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gridSpan="2">
                  <a:txBody>
                    <a:bodyPr/>
                    <a:p>
                      <a:pPr indent="0">
                        <a:buNone/>
                      </a:pPr>
                      <a:r>
                        <a:rPr lang="en-US" sz="2400" b="0">
                          <a:solidFill>
                            <a:srgbClr val="000000"/>
                          </a:solidFill>
                          <a:latin typeface="Arial" panose="020B0604020202020204" pitchFamily="34" charset="0"/>
                          <a:ea typeface="黑体" panose="02010609060101010101" charset="-122"/>
                          <a:cs typeface="仿宋" panose="02010609060101010101" charset="-122"/>
                        </a:rPr>
                        <a:t>可以进行加密/解密</a:t>
                      </a:r>
                      <a:endParaRPr lang="en-US" altLang="en-US" sz="2400" b="0">
                        <a:solidFill>
                          <a:srgbClr val="000000"/>
                        </a:solidFill>
                        <a:latin typeface="Arial" panose="020B0604020202020204" pitchFamily="34" charset="0"/>
                        <a:ea typeface="黑体" panose="02010609060101010101" charset="-122"/>
                        <a:cs typeface="仿宋" panose="02010609060101010101"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hMerge="1">
                  <a:tcPr>
                    <a:lnR w="12700">
                      <a:solidFill>
                        <a:schemeClr val="tx1"/>
                      </a:solidFill>
                      <a:prstDash val="solid"/>
                    </a:lnR>
                    <a:lnT w="12700">
                      <a:solidFill>
                        <a:schemeClr val="tx1"/>
                      </a:solidFill>
                      <a:prstDash val="solid"/>
                    </a:lnT>
                    <a:lnB w="12700">
                      <a:solidFill>
                        <a:schemeClr val="tx1"/>
                      </a:solidFill>
                      <a:prstDash val="solid"/>
                    </a:lnB>
                  </a:tcPr>
                </a:tc>
              </a:tr>
              <a:tr h="332740">
                <a:tc vMerge="1">
                  <a:tcPr>
                    <a:lnL w="12700">
                      <a:solidFill>
                        <a:schemeClr val="tx1"/>
                      </a:solidFill>
                      <a:prstDash val="solid"/>
                    </a:lnL>
                    <a:lnR w="12700">
                      <a:solidFill>
                        <a:schemeClr val="tx1"/>
                      </a:solidFill>
                      <a:prstDash val="solid"/>
                    </a:lnR>
                  </a:tcPr>
                </a:tc>
                <a:tc gridSpan="2">
                  <a:txBody>
                    <a:bodyPr/>
                    <a:p>
                      <a:pPr indent="0">
                        <a:buNone/>
                      </a:pPr>
                      <a:r>
                        <a:rPr lang="en-US" sz="2400" b="0">
                          <a:solidFill>
                            <a:srgbClr val="000000"/>
                          </a:solidFill>
                          <a:latin typeface="Arial" panose="020B0604020202020204" pitchFamily="34" charset="0"/>
                          <a:ea typeface="黑体" panose="02010609060101010101" charset="-122"/>
                          <a:cs typeface="仿宋" panose="02010609060101010101" charset="-122"/>
                        </a:rPr>
                        <a:t>加密/解密时通常都使用相同的密钥</a:t>
                      </a:r>
                      <a:endParaRPr lang="en-US" altLang="en-US" sz="2400" b="0">
                        <a:solidFill>
                          <a:srgbClr val="000000"/>
                        </a:solidFill>
                        <a:latin typeface="Arial" panose="020B0604020202020204" pitchFamily="34" charset="0"/>
                        <a:ea typeface="黑体" panose="02010609060101010101" charset="-122"/>
                        <a:cs typeface="仿宋" panose="02010609060101010101"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hMerge="1">
                  <a:tcPr>
                    <a:lnR w="12700">
                      <a:solidFill>
                        <a:schemeClr val="tx1"/>
                      </a:solidFill>
                      <a:prstDash val="solid"/>
                    </a:lnR>
                    <a:lnT w="12700">
                      <a:solidFill>
                        <a:schemeClr val="tx1"/>
                      </a:solidFill>
                      <a:prstDash val="solid"/>
                    </a:lnT>
                    <a:lnB w="12700">
                      <a:solidFill>
                        <a:schemeClr val="tx1"/>
                      </a:solidFill>
                      <a:prstDash val="solid"/>
                    </a:lnB>
                  </a:tcPr>
                </a:tc>
              </a:tr>
              <a:tr h="360045">
                <a:tc vMerge="1">
                  <a:tcPr>
                    <a:lnL w="12700">
                      <a:solidFill>
                        <a:schemeClr val="tx1"/>
                      </a:solidFill>
                      <a:prstDash val="solid"/>
                    </a:lnL>
                    <a:lnR w="12700">
                      <a:solidFill>
                        <a:schemeClr val="tx1"/>
                      </a:solidFill>
                      <a:prstDash val="solid"/>
                    </a:lnR>
                  </a:tcPr>
                </a:tc>
                <a:tc gridSpan="2">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明文与密文一样长</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hMerge="1">
                  <a:tcPr>
                    <a:lnR w="12700">
                      <a:solidFill>
                        <a:schemeClr val="tx1"/>
                      </a:solidFill>
                      <a:prstDash val="solid"/>
                    </a:lnR>
                    <a:lnT w="12700">
                      <a:solidFill>
                        <a:schemeClr val="tx1"/>
                      </a:solidFill>
                      <a:prstDash val="solid"/>
                    </a:lnT>
                    <a:lnB w="12700">
                      <a:solidFill>
                        <a:schemeClr val="tx1"/>
                      </a:solidFill>
                      <a:prstDash val="solid"/>
                    </a:lnB>
                  </a:tcPr>
                </a:tc>
              </a:tr>
              <a:tr h="265430">
                <a:tc vMerge="1">
                  <a:tcPr>
                    <a:lnL w="12700">
                      <a:solidFill>
                        <a:schemeClr val="tx1"/>
                      </a:solidFill>
                      <a:prstDash val="solid"/>
                    </a:lnL>
                    <a:lnR w="12700">
                      <a:solidFill>
                        <a:schemeClr val="tx1"/>
                      </a:solidFill>
                      <a:prstDash val="solid"/>
                    </a:lnR>
                    <a:lnB w="12700">
                      <a:solidFill>
                        <a:schemeClr val="tx1"/>
                      </a:solidFill>
                      <a:prstDash val="solid"/>
                    </a:lnB>
                  </a:tcPr>
                </a:tc>
                <a:tc gridSpan="2">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速度快</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hMerge="1">
                  <a:tcPr>
                    <a:lnR w="12700">
                      <a:solidFill>
                        <a:schemeClr val="tx1"/>
                      </a:solidFill>
                      <a:prstDash val="solid"/>
                    </a:lnR>
                    <a:lnT w="12700">
                      <a:solidFill>
                        <a:schemeClr val="tx1"/>
                      </a:solidFill>
                      <a:prstDash val="solid"/>
                    </a:lnT>
                    <a:lnB w="12700">
                      <a:solidFill>
                        <a:schemeClr val="tx1"/>
                      </a:solidFill>
                      <a:prstDash val="solid"/>
                    </a:lnB>
                  </a:tcPr>
                </a:tc>
              </a:tr>
              <a:tr h="1356995">
                <a:tc rowSpan="5">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不同点</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对数据采取分段处理</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能处理无结构的数据流</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6075">
                <a:tc vMerge="1">
                  <a:tcPr>
                    <a:lnL w="12700">
                      <a:solidFill>
                        <a:schemeClr val="tx1"/>
                      </a:solidFill>
                      <a:prstDash val="solid"/>
                    </a:lnL>
                    <a:lnR w="12700">
                      <a:solidFill>
                        <a:schemeClr val="tx1"/>
                      </a:solidFill>
                      <a:prstDash val="solid"/>
                    </a:lnR>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被处理数据之间存在着相关性</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被处理数据之间不存在相关性</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32740">
                <a:tc vMerge="1">
                  <a:tcPr>
                    <a:lnL w="12700">
                      <a:solidFill>
                        <a:schemeClr val="tx1"/>
                      </a:solidFill>
                      <a:prstDash val="solid"/>
                    </a:lnL>
                    <a:lnR w="12700">
                      <a:solidFill>
                        <a:schemeClr val="tx1"/>
                      </a:solidFill>
                      <a:prstDash val="solid"/>
                    </a:lnR>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能在软件环境中高速实现</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较适合于硬件电路实现</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60045">
                <a:tc vMerge="1">
                  <a:tcPr>
                    <a:lnL w="12700">
                      <a:solidFill>
                        <a:schemeClr val="tx1"/>
                      </a:solidFill>
                      <a:prstDash val="solid"/>
                    </a:lnL>
                    <a:lnR w="12700">
                      <a:solidFill>
                        <a:schemeClr val="tx1"/>
                      </a:solidFill>
                      <a:prstDash val="solid"/>
                    </a:lnR>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通常应用于商业领域</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通常应用于军事领域</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6921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通过在密钥的控制下对明文进行替代和换位来保密</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indent="0">
                        <a:buNone/>
                      </a:pPr>
                      <a:r>
                        <a:rPr lang="en-US" sz="2400" b="0">
                          <a:solidFill>
                            <a:srgbClr val="000000"/>
                          </a:solidFill>
                          <a:latin typeface="Arial" panose="020B0604020202020204" pitchFamily="34" charset="0"/>
                          <a:ea typeface="黑体" panose="02010609060101010101" charset="-122"/>
                          <a:cs typeface="宋体" panose="02010600030101010101" pitchFamily="2" charset="-122"/>
                        </a:rPr>
                        <a:t>通过将明文与密钥产生的密钥流叠加来保密</a:t>
                      </a:r>
                      <a:endParaRPr lang="en-US" altLang="en-US" sz="2400" b="0">
                        <a:solidFill>
                          <a:srgbClr val="000000"/>
                        </a:solidFill>
                        <a:latin typeface="Arial" panose="020B0604020202020204" pitchFamily="34" charset="0"/>
                        <a:ea typeface="黑体" panose="02010609060101010101" charset="-122"/>
                        <a:cs typeface="宋体" panose="02010600030101010101" pitchFamily="2" charset="-122"/>
                      </a:endParaRPr>
                    </a:p>
                  </a:txBody>
                  <a:tcPr marL="0" marR="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6" name="textbox 84"/>
          <p:cNvSpPr/>
          <p:nvPr/>
        </p:nvSpPr>
        <p:spPr>
          <a:xfrm>
            <a:off x="1571048" y="488157"/>
            <a:ext cx="3668395" cy="480694"/>
          </a:xfrm>
          <a:prstGeom prst="rect">
            <a:avLst/>
          </a:prstGeom>
        </p:spPr>
        <p:txBody>
          <a:bodyPr vert="horz" wrap="square" lIns="0" tIns="0" rIns="0" bIns="0"/>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分组密码</a:t>
            </a:r>
            <a:endParaRPr lang="zh-CN" sz="3200" kern="0" spc="-20" dirty="0">
              <a:ln w="11625"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2097181" name="picture 88"/>
          <p:cNvPicPr>
            <a:picLocks noChangeAspect="1"/>
          </p:cNvPicPr>
          <p:nvPr/>
        </p:nvPicPr>
        <p:blipFill>
          <a:blip r:embed="rId1"/>
          <a:stretch>
            <a:fillRect/>
          </a:stretch>
        </p:blipFill>
        <p:spPr>
          <a:xfrm rot="21600000">
            <a:off x="824483" y="408431"/>
            <a:ext cx="419100" cy="655320"/>
          </a:xfrm>
          <a:prstGeom prst="rect">
            <a:avLst/>
          </a:prstGeom>
        </p:spPr>
      </p:pic>
      <p:sp>
        <p:nvSpPr>
          <p:cNvPr id="10488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364615" y="1380490"/>
            <a:ext cx="9081770" cy="2676525"/>
          </a:xfrm>
          <a:prstGeom prst="rect">
            <a:avLst/>
          </a:prstGeom>
          <a:noFill/>
        </p:spPr>
        <p:txBody>
          <a:bodyPr wrap="square" rtlCol="0">
            <a:spAutoFit/>
          </a:bodyPr>
          <a:p>
            <a:pPr marL="285750" indent="-285750">
              <a:buFont typeface="Arial" panose="020B0604020202020204" pitchFamily="34" charset="0"/>
              <a:buChar char="•"/>
            </a:pPr>
            <a:r>
              <a:rPr lang="zh-CN" altLang="en-US" sz="2400" b="1">
                <a:latin typeface="Arial" panose="020B0604020202020204" pitchFamily="34" charset="0"/>
                <a:ea typeface="黑体" panose="02010609060101010101" charset="-122"/>
              </a:rPr>
              <a:t>分组密码的加解密运算是：输出块的每一位是由输入块的每一位和密钥的每一位共同决定的。</a:t>
            </a:r>
            <a:endParaRPr lang="zh-CN" altLang="en-US" sz="2400" b="1">
              <a:latin typeface="Arial" panose="020B0604020202020204" pitchFamily="34" charset="0"/>
              <a:ea typeface="黑体" panose="02010609060101010101" charset="-122"/>
            </a:endParaRPr>
          </a:p>
          <a:p>
            <a:pPr marL="285750" indent="-285750">
              <a:buFont typeface="Arial" panose="020B0604020202020204" pitchFamily="34" charset="0"/>
              <a:buChar char="•"/>
            </a:pPr>
            <a:r>
              <a:rPr lang="zh-CN" altLang="en-US" sz="2400" b="1">
                <a:latin typeface="Arial" panose="020B0604020202020204" pitchFamily="34" charset="0"/>
                <a:ea typeface="黑体" panose="02010609060101010101" charset="-122"/>
              </a:rPr>
              <a:t>加密算法中重复地使用代替和置换两种基本的加密变换。</a:t>
            </a:r>
            <a:endParaRPr lang="zh-CN" altLang="en-US" sz="2400" b="1">
              <a:latin typeface="Arial" panose="020B0604020202020204" pitchFamily="34" charset="0"/>
              <a:ea typeface="黑体" panose="02010609060101010101" charset="-122"/>
            </a:endParaRPr>
          </a:p>
          <a:p>
            <a:pPr marL="285750" indent="-285750">
              <a:buFont typeface="Arial" panose="020B0604020202020204" pitchFamily="34" charset="0"/>
              <a:buChar char="•"/>
            </a:pPr>
            <a:endParaRPr lang="en-US" altLang="zh-CN" sz="2400" b="1">
              <a:latin typeface="Arial" panose="020B0604020202020204" pitchFamily="34" charset="0"/>
              <a:ea typeface="黑体" panose="02010609060101010101" charset="-122"/>
            </a:endParaRPr>
          </a:p>
          <a:p>
            <a:pPr marL="285750" indent="-285750">
              <a:buFont typeface="Arial" panose="020B0604020202020204" pitchFamily="34" charset="0"/>
              <a:buChar char="•"/>
            </a:pPr>
            <a:r>
              <a:rPr lang="en-US" altLang="zh-CN" sz="2400" b="1">
                <a:latin typeface="Arial" panose="020B0604020202020204" pitchFamily="34" charset="0"/>
                <a:ea typeface="黑体" panose="02010609060101010101" charset="-122"/>
              </a:rPr>
              <a:t>分组密码的设计问题在于找到一种算法，能在密钥控制下从一个足够大且足够好的置换子集中，简单而迅速地选出一个置换，用来对当前输入的明文的数字组进行加密变换。</a:t>
            </a:r>
            <a:endParaRPr lang="en-US" altLang="zh-CN" sz="2400" b="1">
              <a:latin typeface="Arial" panose="020B0604020202020204" pitchFamily="34" charset="0"/>
              <a:ea typeface="黑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picture 170"/>
          <p:cNvPicPr>
            <a:picLocks noChangeAspect="1"/>
          </p:cNvPicPr>
          <p:nvPr/>
        </p:nvPicPr>
        <p:blipFill>
          <a:blip r:embed="rId1"/>
          <a:stretch>
            <a:fillRect/>
          </a:stretch>
        </p:blipFill>
        <p:spPr>
          <a:xfrm rot="21600000">
            <a:off x="940771" y="1777603"/>
            <a:ext cx="112113" cy="113912"/>
          </a:xfrm>
          <a:prstGeom prst="rect">
            <a:avLst/>
          </a:prstGeom>
        </p:spPr>
      </p:pic>
      <p:sp>
        <p:nvSpPr>
          <p:cNvPr id="172" name="textbox 172"/>
          <p:cNvSpPr/>
          <p:nvPr/>
        </p:nvSpPr>
        <p:spPr>
          <a:xfrm>
            <a:off x="941298" y="1194164"/>
            <a:ext cx="10215880" cy="4469765"/>
          </a:xfrm>
          <a:prstGeom prst="rect">
            <a:avLst/>
          </a:prstGeom>
        </p:spPr>
        <p:txBody>
          <a:bodyPr vert="horz" wrap="square" lIns="0" tIns="0" rIns="0" bIns="0"/>
          <a:lstStyle/>
          <a:p>
            <a:pPr algn="l" rtl="0" eaLnBrk="0">
              <a:lnSpc>
                <a:spcPct val="90000"/>
              </a:lnSpc>
            </a:pPr>
            <a:endParaRPr lang="en-US" altLang="en-US" sz="100" dirty="0">
              <a:solidFill>
                <a:schemeClr val="tx1"/>
              </a:solidFill>
              <a:latin typeface="Arial" panose="020B0604020202020204" pitchFamily="34" charset="0"/>
              <a:ea typeface="黑体" panose="02010609060101010101" charset="-122"/>
            </a:endParaRPr>
          </a:p>
          <a:p>
            <a:pPr marL="15240" algn="l" rtl="0" eaLnBrk="0">
              <a:lnSpc>
                <a:spcPct val="93000"/>
              </a:lnSpc>
            </a:pPr>
            <a:r>
              <a:rPr sz="2400" kern="0" spc="-3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a:t>
            </a:r>
            <a:r>
              <a:rPr sz="2400" kern="0" spc="30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400" b="1" kern="0" spc="-30" dirty="0">
                <a:solidFill>
                  <a:schemeClr val="tx1">
                    <a:alpha val="100000"/>
                  </a:schemeClr>
                </a:solidFill>
                <a:latin typeface="Arial" panose="020B0604020202020204" pitchFamily="34" charset="0"/>
                <a:ea typeface="黑体" panose="02010609060101010101" charset="-122"/>
                <a:cs typeface="Times New Roman" panose="02020603050405020304"/>
              </a:rPr>
              <a:t>1.</a:t>
            </a:r>
            <a:r>
              <a:rPr sz="2400" b="1" kern="0" spc="220" dirty="0">
                <a:solidFill>
                  <a:schemeClr val="tx1">
                    <a:alpha val="100000"/>
                  </a:schemeClr>
                </a:solidFill>
                <a:latin typeface="Arial" panose="020B0604020202020204" pitchFamily="34" charset="0"/>
                <a:ea typeface="黑体" panose="02010609060101010101" charset="-122"/>
                <a:cs typeface="Times New Roman" panose="02020603050405020304"/>
              </a:rPr>
              <a:t> </a:t>
            </a:r>
            <a:r>
              <a:rPr sz="2400" kern="0" spc="-30" dirty="0">
                <a:ln w="10197" cap="flat" cmpd="sng">
                  <a:solidFill>
                    <a:srgbClr val="3333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混淆原则</a:t>
            </a:r>
            <a:r>
              <a:rPr sz="2400" b="1" kern="0" spc="-30" dirty="0">
                <a:solidFill>
                  <a:schemeClr val="tx1">
                    <a:alpha val="100000"/>
                  </a:schemeClr>
                </a:solidFill>
                <a:latin typeface="Arial" panose="020B0604020202020204" pitchFamily="34" charset="0"/>
                <a:ea typeface="黑体" panose="02010609060101010101" charset="-122"/>
                <a:cs typeface="Times New Roman" panose="02020603050405020304"/>
              </a:rPr>
              <a:t>(Confusion)</a:t>
            </a:r>
            <a:endParaRPr lang="en-US" altLang="en-US" sz="2400" dirty="0">
              <a:solidFill>
                <a:schemeClr val="tx1"/>
              </a:solidFill>
              <a:latin typeface="Arial" panose="020B0604020202020204" pitchFamily="34" charset="0"/>
              <a:ea typeface="黑体" panose="02010609060101010101" charset="-122"/>
            </a:endParaRPr>
          </a:p>
          <a:p>
            <a:pPr marL="245110" indent="-232410" algn="l" rtl="0" eaLnBrk="0">
              <a:lnSpc>
                <a:spcPct val="111000"/>
              </a:lnSpc>
              <a:spcBef>
                <a:spcPts val="720"/>
              </a:spcBef>
            </a:pPr>
            <a:r>
              <a:rPr sz="2400" kern="0" spc="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400" kern="0" spc="0" dirty="0">
                <a:ln w="8717" cap="flat" cmpd="sng">
                  <a:solidFill>
                    <a:srgbClr val="000000">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混淆原则</a:t>
            </a:r>
            <a:r>
              <a:rPr sz="2400" kern="0" spc="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就是将</a:t>
            </a:r>
            <a:r>
              <a:rPr sz="2400" kern="0" spc="0" dirty="0">
                <a:ln w="8717" cap="flat" cmpd="sng">
                  <a:solidFill>
                    <a:srgbClr val="CC0066">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密文、明文、密钥三者之间</a:t>
            </a:r>
            <a:r>
              <a:rPr sz="2400" kern="0" spc="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的统计关系和代数</a:t>
            </a:r>
            <a:r>
              <a:rPr sz="2400" kern="0" spc="0" dirty="0">
                <a:ln w="8717" cap="flat" cmpd="sng">
                  <a:solidFill>
                    <a:srgbClr val="CC0066">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关系</a:t>
            </a:r>
            <a:r>
              <a:rPr sz="2400" kern="0" spc="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变</a:t>
            </a:r>
            <a:r>
              <a:rPr sz="2400" kern="0" spc="1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得尽可能复杂，使得敌手即使获得了密</a:t>
            </a:r>
            <a:r>
              <a:rPr sz="2400" kern="0" spc="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文和明文，也无法求出密钥的任何</a:t>
            </a:r>
            <a:r>
              <a:rPr sz="2400" kern="0" spc="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信息；即使获得了密文和明文的统</a:t>
            </a:r>
            <a:r>
              <a:rPr sz="2400" kern="0" spc="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计规律，也无法求出明文的新的信息。</a:t>
            </a:r>
            <a:endParaRPr lang="en-US" altLang="en-US" sz="2400" dirty="0">
              <a:solidFill>
                <a:schemeClr val="tx1"/>
              </a:solidFill>
              <a:latin typeface="Arial" panose="020B0604020202020204" pitchFamily="34" charset="0"/>
              <a:ea typeface="黑体" panose="02010609060101010101" charset="-122"/>
            </a:endParaRPr>
          </a:p>
          <a:p>
            <a:pPr marL="12700" algn="l" rtl="0" eaLnBrk="0">
              <a:lnSpc>
                <a:spcPct val="100000"/>
              </a:lnSpc>
              <a:spcBef>
                <a:spcPts val="1735"/>
              </a:spcBef>
            </a:pPr>
            <a:r>
              <a:rPr sz="2400" kern="0" spc="-13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a:t>
            </a:r>
            <a:r>
              <a:rPr sz="2400" kern="0" spc="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400" kern="0" spc="-130" dirty="0">
                <a:ln w="8717" cap="flat" cmpd="sng">
                  <a:solidFill>
                    <a:srgbClr val="CC0066">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可进一步理解为：</a:t>
            </a:r>
            <a:endParaRPr lang="en-US" altLang="en-US" sz="2400" dirty="0">
              <a:solidFill>
                <a:schemeClr val="tx1"/>
              </a:solidFill>
              <a:latin typeface="Arial" panose="020B0604020202020204" pitchFamily="34" charset="0"/>
              <a:ea typeface="黑体" panose="02010609060101010101" charset="-122"/>
            </a:endParaRPr>
          </a:p>
          <a:p>
            <a:pPr marL="246380" indent="-233680" algn="l" rtl="0" eaLnBrk="0">
              <a:lnSpc>
                <a:spcPct val="107000"/>
              </a:lnSpc>
              <a:spcBef>
                <a:spcPts val="1585"/>
              </a:spcBef>
            </a:pPr>
            <a:r>
              <a:rPr sz="2400" kern="0" spc="-1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a:t>
            </a:r>
            <a:r>
              <a:rPr sz="2400" kern="0" spc="-1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a:t>
            </a:r>
            <a:r>
              <a:rPr sz="2400" b="1" kern="0" spc="-10" dirty="0">
                <a:solidFill>
                  <a:schemeClr val="tx1">
                    <a:alpha val="100000"/>
                  </a:schemeClr>
                </a:solidFill>
                <a:latin typeface="Arial" panose="020B0604020202020204" pitchFamily="34" charset="0"/>
                <a:ea typeface="黑体" panose="02010609060101010101" charset="-122"/>
                <a:cs typeface="Times New Roman" panose="02020603050405020304"/>
              </a:rPr>
              <a:t>1</a:t>
            </a:r>
            <a:r>
              <a:rPr sz="2400" kern="0" spc="-1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）明文</a:t>
            </a:r>
            <a:r>
              <a:rPr sz="2400" kern="0" spc="-2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不能由已知的明文，</a:t>
            </a:r>
            <a:r>
              <a:rPr sz="2400" kern="0" spc="-2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2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密文及少许密钥比特代数地或统计地表</a:t>
            </a:r>
            <a:r>
              <a:rPr sz="2400" kern="0" spc="-8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示出来。</a:t>
            </a:r>
            <a:endParaRPr lang="en-US" altLang="en-US" sz="2400" dirty="0">
              <a:solidFill>
                <a:schemeClr val="tx1"/>
              </a:solidFill>
              <a:latin typeface="Arial" panose="020B0604020202020204" pitchFamily="34" charset="0"/>
              <a:ea typeface="黑体" panose="02010609060101010101" charset="-122"/>
            </a:endParaRPr>
          </a:p>
          <a:p>
            <a:pPr algn="l" rtl="0" eaLnBrk="0">
              <a:lnSpc>
                <a:spcPct val="104000"/>
              </a:lnSpc>
            </a:pPr>
            <a:endParaRPr lang="en-US" altLang="en-US" sz="2400" dirty="0">
              <a:solidFill>
                <a:schemeClr val="tx1"/>
              </a:solidFill>
              <a:latin typeface="Arial" panose="020B0604020202020204" pitchFamily="34" charset="0"/>
              <a:ea typeface="黑体" panose="02010609060101010101" charset="-122"/>
            </a:endParaRPr>
          </a:p>
          <a:p>
            <a:pPr algn="l" rtl="0" eaLnBrk="0">
              <a:lnSpc>
                <a:spcPct val="11000"/>
              </a:lnSpc>
            </a:pPr>
            <a:endParaRPr lang="en-US" altLang="en-US" sz="2400" dirty="0">
              <a:solidFill>
                <a:schemeClr val="tx1"/>
              </a:solidFill>
              <a:latin typeface="Arial" panose="020B0604020202020204" pitchFamily="34" charset="0"/>
              <a:ea typeface="黑体" panose="02010609060101010101" charset="-122"/>
            </a:endParaRPr>
          </a:p>
          <a:p>
            <a:pPr marL="245745" indent="-233680" algn="l" rtl="0" eaLnBrk="0">
              <a:lnSpc>
                <a:spcPct val="107000"/>
              </a:lnSpc>
            </a:pPr>
            <a:r>
              <a:rPr sz="2400" kern="0" spc="-1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a:t>
            </a:r>
            <a:r>
              <a:rPr sz="2400" b="1" kern="0" spc="-1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2</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）密钥不能由已知的明文，</a:t>
            </a:r>
            <a:r>
              <a:rPr sz="2400" kern="0" spc="-1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密文及少许密钥比特代</a:t>
            </a:r>
            <a:r>
              <a:rPr sz="2400" kern="0" spc="-2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数地或统计地表</a:t>
            </a:r>
            <a:r>
              <a:rPr sz="2400" kern="0" spc="-4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示出来。</a:t>
            </a:r>
            <a:endParaRPr lang="en-US" altLang="en-US" sz="2400" kern="0" spc="-4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endParaRPr>
          </a:p>
        </p:txBody>
      </p:sp>
      <p:sp>
        <p:nvSpPr>
          <p:cNvPr id="174" name="textbox 174"/>
          <p:cNvSpPr/>
          <p:nvPr/>
        </p:nvSpPr>
        <p:spPr>
          <a:xfrm>
            <a:off x="810260" y="-12700"/>
            <a:ext cx="11395075" cy="1148714"/>
          </a:xfrm>
          <a:prstGeom prst="rect">
            <a:avLst/>
          </a:prstGeom>
        </p:spPr>
        <p:txBody>
          <a:bodyPr vert="horz" wrap="square" lIns="0" tIns="0" rIns="0" bIns="0"/>
          <a:lstStyle/>
          <a:p>
            <a:pPr algn="l" rtl="0" eaLnBrk="0">
              <a:lnSpc>
                <a:spcPct val="112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56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7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安全性设计原则</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78" name="picture 178"/>
          <p:cNvPicPr>
            <a:picLocks noChangeAspect="1"/>
          </p:cNvPicPr>
          <p:nvPr/>
        </p:nvPicPr>
        <p:blipFill>
          <a:blip r:embed="rId2"/>
          <a:stretch>
            <a:fillRect/>
          </a:stretch>
        </p:blipFill>
        <p:spPr>
          <a:xfrm rot="21600000">
            <a:off x="822960" y="408431"/>
            <a:ext cx="420623" cy="655320"/>
          </a:xfrm>
          <a:prstGeom prst="rect">
            <a:avLst/>
          </a:prstGeom>
        </p:spPr>
      </p:pic>
      <p:sp>
        <p:nvSpPr>
          <p:cNvPr id="18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 name="picture 182"/>
          <p:cNvPicPr>
            <a:picLocks noChangeAspect="1"/>
          </p:cNvPicPr>
          <p:nvPr/>
        </p:nvPicPr>
        <p:blipFill>
          <a:blip r:embed="rId1"/>
          <a:stretch>
            <a:fillRect/>
          </a:stretch>
        </p:blipFill>
        <p:spPr>
          <a:xfrm rot="21600000">
            <a:off x="940771" y="1728835"/>
            <a:ext cx="112113" cy="113912"/>
          </a:xfrm>
          <a:prstGeom prst="rect">
            <a:avLst/>
          </a:prstGeom>
        </p:spPr>
      </p:pic>
      <p:sp>
        <p:nvSpPr>
          <p:cNvPr id="184" name="textbox 184"/>
          <p:cNvSpPr/>
          <p:nvPr/>
        </p:nvSpPr>
        <p:spPr>
          <a:xfrm>
            <a:off x="944473" y="1095231"/>
            <a:ext cx="10282555" cy="3913504"/>
          </a:xfrm>
          <a:prstGeom prst="rect">
            <a:avLst/>
          </a:prstGeom>
        </p:spPr>
        <p:txBody>
          <a:bodyPr vert="horz" wrap="square" lIns="0" tIns="0" rIns="0" bIns="0"/>
          <a:lstStyle/>
          <a:p>
            <a:pPr algn="l" rtl="0" eaLnBrk="0">
              <a:lnSpc>
                <a:spcPct val="90000"/>
              </a:lnSpc>
            </a:pPr>
            <a:endParaRPr lang="en-US" altLang="en-US" sz="100" dirty="0">
              <a:solidFill>
                <a:schemeClr val="tx1"/>
              </a:solidFill>
              <a:latin typeface="Arial" panose="020B0604020202020204" pitchFamily="34" charset="0"/>
              <a:ea typeface="黑体" panose="02010609060101010101" charset="-122"/>
            </a:endParaRPr>
          </a:p>
          <a:p>
            <a:pPr marL="15240" algn="l" rtl="0" eaLnBrk="0">
              <a:lnSpc>
                <a:spcPct val="93000"/>
              </a:lnSpc>
            </a:pPr>
            <a:r>
              <a:rPr sz="2800" kern="0" spc="-1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800" b="1" kern="0" spc="-10" dirty="0">
                <a:solidFill>
                  <a:schemeClr val="tx1">
                    <a:alpha val="100000"/>
                  </a:schemeClr>
                </a:solidFill>
                <a:latin typeface="Arial" panose="020B0604020202020204" pitchFamily="34" charset="0"/>
                <a:ea typeface="黑体" panose="02010609060101010101" charset="-122"/>
                <a:cs typeface="Times New Roman" panose="02020603050405020304"/>
              </a:rPr>
              <a:t>2.</a:t>
            </a:r>
            <a:r>
              <a:rPr sz="2800" b="1" kern="0" spc="170" dirty="0">
                <a:solidFill>
                  <a:schemeClr val="tx1">
                    <a:alpha val="100000"/>
                  </a:schemeClr>
                </a:solidFill>
                <a:latin typeface="Arial" panose="020B0604020202020204" pitchFamily="34" charset="0"/>
                <a:ea typeface="黑体" panose="02010609060101010101" charset="-122"/>
                <a:cs typeface="Times New Roman" panose="02020603050405020304"/>
              </a:rPr>
              <a:t> </a:t>
            </a:r>
            <a:r>
              <a:rPr sz="2800" kern="0" spc="-10" dirty="0">
                <a:ln w="10197" cap="flat" cmpd="sng">
                  <a:solidFill>
                    <a:srgbClr val="FF0066">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扩散原则</a:t>
            </a:r>
            <a:r>
              <a:rPr sz="2800" b="1" kern="0" spc="-10" dirty="0">
                <a:solidFill>
                  <a:schemeClr val="tx1">
                    <a:alpha val="100000"/>
                  </a:schemeClr>
                </a:solidFill>
                <a:latin typeface="Arial" panose="020B0604020202020204" pitchFamily="34" charset="0"/>
                <a:ea typeface="黑体" panose="02010609060101010101" charset="-122"/>
                <a:cs typeface="Times New Roman" panose="02020603050405020304"/>
              </a:rPr>
              <a:t>(Diffusion</a:t>
            </a:r>
            <a:r>
              <a:rPr sz="2800" b="1" kern="0" spc="-20" dirty="0">
                <a:solidFill>
                  <a:schemeClr val="tx1">
                    <a:alpha val="100000"/>
                  </a:schemeClr>
                </a:solidFill>
                <a:latin typeface="Arial" panose="020B0604020202020204" pitchFamily="34" charset="0"/>
                <a:ea typeface="黑体" panose="02010609060101010101" charset="-122"/>
                <a:cs typeface="Times New Roman" panose="02020603050405020304"/>
              </a:rPr>
              <a:t>)</a:t>
            </a:r>
            <a:endParaRPr lang="en-US" altLang="en-US" sz="2800" dirty="0">
              <a:solidFill>
                <a:schemeClr val="tx1"/>
              </a:solidFill>
              <a:latin typeface="Arial" panose="020B0604020202020204" pitchFamily="34" charset="0"/>
              <a:ea typeface="黑体" panose="02010609060101010101" charset="-122"/>
            </a:endParaRPr>
          </a:p>
          <a:p>
            <a:pPr marL="284480" indent="-271780" algn="l" rtl="0" eaLnBrk="0">
              <a:lnSpc>
                <a:spcPct val="107000"/>
              </a:lnSpc>
              <a:spcBef>
                <a:spcPts val="1800"/>
              </a:spcBef>
            </a:pPr>
            <a:r>
              <a:rPr sz="2400" kern="0" spc="1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扩散原则就是应将明文</a:t>
            </a:r>
            <a:r>
              <a:rPr sz="2400" kern="0" spc="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的统计规律和结构规律散射到相当长的一段统计</a:t>
            </a:r>
            <a:r>
              <a:rPr sz="2400" kern="0" spc="-1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2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中去</a:t>
            </a:r>
            <a:r>
              <a:rPr sz="2400" b="1" kern="0" spc="-20" dirty="0">
                <a:solidFill>
                  <a:schemeClr val="tx1">
                    <a:alpha val="100000"/>
                  </a:schemeClr>
                </a:solidFill>
                <a:latin typeface="Arial" panose="020B0604020202020204" pitchFamily="34" charset="0"/>
                <a:ea typeface="黑体" panose="02010609060101010101" charset="-122"/>
                <a:cs typeface="Times New Roman" panose="02020603050405020304"/>
              </a:rPr>
              <a:t>(Shannon</a:t>
            </a:r>
            <a:r>
              <a:rPr sz="2400" kern="0" spc="-20" dirty="0">
                <a:ln w="8708" cap="flat" cmpd="sng">
                  <a:solidFill>
                    <a:srgbClr val="000000">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的原</a:t>
            </a:r>
            <a:r>
              <a:rPr sz="2400" kern="0" spc="-30" dirty="0">
                <a:ln w="8708" cap="flat" cmpd="sng">
                  <a:solidFill>
                    <a:srgbClr val="000000">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话</a:t>
            </a:r>
            <a:r>
              <a:rPr sz="2400" b="1" kern="0" spc="-30" dirty="0">
                <a:solidFill>
                  <a:schemeClr val="tx1">
                    <a:alpha val="100000"/>
                  </a:schemeClr>
                </a:solidFill>
                <a:latin typeface="Arial" panose="020B0604020202020204" pitchFamily="34" charset="0"/>
                <a:ea typeface="黑体" panose="02010609060101010101" charset="-122"/>
                <a:cs typeface="Times New Roman" panose="02020603050405020304"/>
              </a:rPr>
              <a:t>)</a:t>
            </a:r>
            <a:r>
              <a:rPr sz="2400" kern="0" spc="-3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a:t>
            </a:r>
            <a:endParaRPr lang="en-US" altLang="en-US" sz="2400" dirty="0">
              <a:solidFill>
                <a:schemeClr val="tx1"/>
              </a:solidFill>
              <a:latin typeface="Arial" panose="020B0604020202020204" pitchFamily="34" charset="0"/>
              <a:ea typeface="黑体" panose="02010609060101010101" charset="-122"/>
            </a:endParaRPr>
          </a:p>
          <a:p>
            <a:pPr marL="244475" indent="-232410" algn="l" rtl="0" eaLnBrk="0">
              <a:lnSpc>
                <a:spcPct val="107000"/>
              </a:lnSpc>
              <a:spcBef>
                <a:spcPts val="1765"/>
              </a:spcBef>
            </a:pPr>
            <a:r>
              <a:rPr sz="2400" kern="0" spc="-3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400" kern="0" spc="-3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也就是说让明文中的每一位影响密文</a:t>
            </a:r>
            <a:r>
              <a:rPr sz="2400" kern="0" spc="-4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中的尽可能多的位，</a:t>
            </a:r>
            <a:r>
              <a:rPr sz="2400" kern="0" spc="-4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或者说让密</a:t>
            </a:r>
            <a:r>
              <a:rPr sz="2400" kern="0" spc="-4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文中的每一位都受到明文中的尽可能多位的影响。</a:t>
            </a:r>
            <a:endParaRPr lang="en-US" altLang="en-US" sz="2400" dirty="0">
              <a:solidFill>
                <a:schemeClr val="tx1"/>
              </a:solidFill>
              <a:latin typeface="Arial" panose="020B0604020202020204" pitchFamily="34" charset="0"/>
              <a:ea typeface="黑体" panose="02010609060101010101" charset="-122"/>
            </a:endParaRPr>
          </a:p>
          <a:p>
            <a:pPr algn="l" rtl="0" eaLnBrk="0">
              <a:lnSpc>
                <a:spcPct val="103000"/>
              </a:lnSpc>
            </a:pPr>
            <a:endParaRPr lang="en-US" altLang="en-US" sz="1400" dirty="0">
              <a:solidFill>
                <a:schemeClr val="tx1"/>
              </a:solidFill>
              <a:latin typeface="Arial" panose="020B0604020202020204" pitchFamily="34" charset="0"/>
              <a:ea typeface="黑体" panose="02010609060101010101" charset="-122"/>
            </a:endParaRPr>
          </a:p>
          <a:p>
            <a:pPr algn="l" rtl="0" eaLnBrk="0">
              <a:lnSpc>
                <a:spcPct val="9000"/>
              </a:lnSpc>
            </a:pPr>
            <a:endParaRPr lang="en-US" altLang="en-US" sz="100" dirty="0">
              <a:solidFill>
                <a:schemeClr val="tx1"/>
              </a:solidFill>
              <a:latin typeface="Arial" panose="020B0604020202020204" pitchFamily="34" charset="0"/>
              <a:ea typeface="黑体" panose="02010609060101010101" charset="-122"/>
            </a:endParaRPr>
          </a:p>
          <a:p>
            <a:pPr marL="243840" indent="-231140" algn="l" rtl="0" eaLnBrk="0">
              <a:lnSpc>
                <a:spcPct val="114000"/>
              </a:lnSpc>
            </a:pPr>
            <a:r>
              <a:rPr sz="2400" kern="0" spc="20" dirty="0">
                <a:solidFill>
                  <a:schemeClr val="tx1">
                    <a:alpha val="100000"/>
                  </a:schemeClr>
                </a:solidFill>
                <a:latin typeface="Arial" panose="020B0604020202020204" pitchFamily="34" charset="0"/>
                <a:ea typeface="黑体" panose="02010609060101010101" charset="-122"/>
                <a:cs typeface="Arial" panose="020B0604020202020204" pitchFamily="34" charset="0"/>
              </a:rPr>
              <a:t>•        </a:t>
            </a:r>
            <a:r>
              <a:rPr sz="2400" kern="0" spc="2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如果当明文变化一个比特时</a:t>
            </a:r>
            <a:r>
              <a:rPr sz="2400" b="1" kern="0" spc="20" dirty="0">
                <a:solidFill>
                  <a:schemeClr val="tx1">
                    <a:alpha val="100000"/>
                  </a:schemeClr>
                </a:solidFill>
                <a:latin typeface="Arial" panose="020B0604020202020204" pitchFamily="34" charset="0"/>
                <a:ea typeface="黑体" panose="02010609060101010101" charset="-122"/>
                <a:cs typeface="Times New Roman" panose="02020603050405020304"/>
              </a:rPr>
              <a:t>,</a:t>
            </a:r>
            <a:r>
              <a:rPr sz="2400" kern="0" spc="2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密文有某些比特不可能发生</a:t>
            </a:r>
            <a:r>
              <a:rPr sz="2400" kern="0" spc="1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变化</a:t>
            </a:r>
            <a:r>
              <a:rPr sz="2400" b="1" kern="0" spc="10" dirty="0">
                <a:solidFill>
                  <a:schemeClr val="tx1">
                    <a:alpha val="100000"/>
                  </a:schemeClr>
                </a:solidFill>
                <a:latin typeface="Arial" panose="020B0604020202020204" pitchFamily="34" charset="0"/>
                <a:ea typeface="黑体" panose="02010609060101010101" charset="-122"/>
                <a:cs typeface="Times New Roman" panose="02020603050405020304"/>
              </a:rPr>
              <a:t>,</a:t>
            </a:r>
            <a:r>
              <a:rPr sz="2400" kern="0" spc="1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则这个明</a:t>
            </a:r>
            <a:r>
              <a:rPr sz="2400" kern="0" spc="-1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文就与那些密文无关</a:t>
            </a:r>
            <a:r>
              <a:rPr sz="2400" b="1" kern="0" spc="10" dirty="0">
                <a:solidFill>
                  <a:schemeClr val="tx1">
                    <a:alpha val="100000"/>
                  </a:schemeClr>
                </a:solidFill>
                <a:latin typeface="Arial" panose="020B0604020202020204" pitchFamily="34" charset="0"/>
                <a:ea typeface="黑体" panose="02010609060101010101" charset="-122"/>
                <a:cs typeface="Times New Roman" panose="02020603050405020304"/>
              </a:rPr>
              <a:t>,</a:t>
            </a:r>
            <a:r>
              <a:rPr sz="2400" kern="0" spc="1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因而在攻击这个明文比比特时就可不利用那些密文</a:t>
            </a:r>
            <a:r>
              <a:rPr sz="2400" kern="0" spc="0" dirty="0">
                <a:ln w="8708"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比</a:t>
            </a:r>
            <a:r>
              <a:rPr sz="2400" kern="0" spc="-10" dirty="0">
                <a:solidFill>
                  <a:schemeClr val="tx1">
                    <a:alpha val="100000"/>
                  </a:schemeClr>
                </a:solidFill>
                <a:latin typeface="Arial" panose="020B0604020202020204" pitchFamily="34" charset="0"/>
                <a:ea typeface="黑体" panose="02010609060101010101" charset="-122"/>
                <a:cs typeface="仿宋" panose="02010609060101010101" charset="-122"/>
              </a:rPr>
              <a:t>  </a:t>
            </a:r>
            <a:r>
              <a:rPr sz="2400" kern="0" spc="-70" dirty="0">
                <a:ln w="8717" cap="flat" cmpd="sng">
                  <a:solidFill>
                    <a:srgbClr val="0000FF">
                      <a:alpha val="100000"/>
                    </a:srgbClr>
                  </a:solidFill>
                  <a:prstDash val="solid"/>
                  <a:miter lim="10"/>
                </a:ln>
                <a:solidFill>
                  <a:schemeClr val="tx1">
                    <a:alpha val="100000"/>
                  </a:schemeClr>
                </a:solidFill>
                <a:latin typeface="Arial" panose="020B0604020202020204" pitchFamily="34" charset="0"/>
                <a:ea typeface="黑体" panose="02010609060101010101" charset="-122"/>
                <a:cs typeface="仿宋" panose="02010609060101010101" charset="-122"/>
              </a:rPr>
              <a:t>特</a:t>
            </a:r>
            <a:r>
              <a:rPr sz="2400" b="1" kern="0" spc="-70" dirty="0">
                <a:solidFill>
                  <a:schemeClr val="tx1">
                    <a:alpha val="100000"/>
                  </a:schemeClr>
                </a:solidFill>
                <a:latin typeface="Arial" panose="020B0604020202020204" pitchFamily="34" charset="0"/>
                <a:ea typeface="黑体" panose="02010609060101010101" charset="-122"/>
                <a:cs typeface="Times New Roman" panose="02020603050405020304"/>
              </a:rPr>
              <a:t>.</a:t>
            </a:r>
            <a:endParaRPr lang="en-US" altLang="en-US" sz="2400" b="1" kern="0" spc="-70" dirty="0">
              <a:solidFill>
                <a:schemeClr val="tx1">
                  <a:alpha val="100000"/>
                </a:schemeClr>
              </a:solidFill>
              <a:latin typeface="Arial" panose="020B0604020202020204" pitchFamily="34" charset="0"/>
              <a:ea typeface="黑体" panose="02010609060101010101" charset="-122"/>
              <a:cs typeface="Times New Roman" panose="02020603050405020304"/>
            </a:endParaRPr>
          </a:p>
        </p:txBody>
      </p:sp>
      <p:sp>
        <p:nvSpPr>
          <p:cNvPr id="186" name="textbox 186"/>
          <p:cNvSpPr/>
          <p:nvPr/>
        </p:nvSpPr>
        <p:spPr>
          <a:xfrm>
            <a:off x="810260" y="-12700"/>
            <a:ext cx="11395075" cy="1148714"/>
          </a:xfrm>
          <a:prstGeom prst="rect">
            <a:avLst/>
          </a:prstGeom>
        </p:spPr>
        <p:txBody>
          <a:bodyPr vert="horz" wrap="square" lIns="0" tIns="0" rIns="0" bIns="0"/>
          <a:lstStyle/>
          <a:p>
            <a:pPr algn="l" rtl="0" eaLnBrk="0">
              <a:lnSpc>
                <a:spcPct val="149000"/>
              </a:lnSpc>
            </a:pPr>
            <a:endParaRPr lang="en-US" altLang="en-US" sz="1000" dirty="0">
              <a:latin typeface="Arial" panose="020B0604020202020204" pitchFamily="34" charset="0"/>
              <a:ea typeface="黑体" panose="02010609060101010101" charset="-122"/>
            </a:endParaRPr>
          </a:p>
          <a:p>
            <a:pPr algn="l" rtl="0" eaLnBrk="0">
              <a:lnSpc>
                <a:spcPct val="149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5"/>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69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7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安全性设计原则</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90" name="picture 190"/>
          <p:cNvPicPr>
            <a:picLocks noChangeAspect="1"/>
          </p:cNvPicPr>
          <p:nvPr/>
        </p:nvPicPr>
        <p:blipFill>
          <a:blip r:embed="rId2"/>
          <a:stretch>
            <a:fillRect/>
          </a:stretch>
        </p:blipFill>
        <p:spPr>
          <a:xfrm rot="21600000">
            <a:off x="822960" y="408431"/>
            <a:ext cx="420623" cy="655320"/>
          </a:xfrm>
          <a:prstGeom prst="rect">
            <a:avLst/>
          </a:prstGeom>
        </p:spPr>
      </p:pic>
      <p:sp>
        <p:nvSpPr>
          <p:cNvPr id="19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 name="picture 182"/>
          <p:cNvPicPr>
            <a:picLocks noChangeAspect="1"/>
          </p:cNvPicPr>
          <p:nvPr/>
        </p:nvPicPr>
        <p:blipFill>
          <a:blip r:embed="rId1"/>
          <a:stretch>
            <a:fillRect/>
          </a:stretch>
        </p:blipFill>
        <p:spPr>
          <a:xfrm rot="21600000">
            <a:off x="940771" y="1728835"/>
            <a:ext cx="112113" cy="113912"/>
          </a:xfrm>
          <a:prstGeom prst="rect">
            <a:avLst/>
          </a:prstGeom>
        </p:spPr>
      </p:pic>
      <p:sp>
        <p:nvSpPr>
          <p:cNvPr id="186" name="textbox 186"/>
          <p:cNvSpPr/>
          <p:nvPr/>
        </p:nvSpPr>
        <p:spPr>
          <a:xfrm>
            <a:off x="810260" y="-12700"/>
            <a:ext cx="11395075" cy="1148714"/>
          </a:xfrm>
          <a:prstGeom prst="rect">
            <a:avLst/>
          </a:prstGeom>
        </p:spPr>
        <p:txBody>
          <a:bodyPr vert="horz" wrap="square" lIns="0" tIns="0" rIns="0" bIns="0"/>
          <a:lstStyle/>
          <a:p>
            <a:pPr algn="l" rtl="0" eaLnBrk="0">
              <a:lnSpc>
                <a:spcPct val="149000"/>
              </a:lnSpc>
            </a:pPr>
            <a:endParaRPr lang="en-US" altLang="en-US" sz="1000" dirty="0">
              <a:latin typeface="Arial" panose="020B0604020202020204" pitchFamily="34" charset="0"/>
              <a:ea typeface="黑体" panose="02010609060101010101" charset="-122"/>
            </a:endParaRPr>
          </a:p>
          <a:p>
            <a:pPr algn="l" rtl="0" eaLnBrk="0">
              <a:lnSpc>
                <a:spcPct val="149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5"/>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69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lang="zh-CN" sz="3100" u="sng" kern="0" spc="7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分组密码概述</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90" name="picture 190"/>
          <p:cNvPicPr>
            <a:picLocks noChangeAspect="1"/>
          </p:cNvPicPr>
          <p:nvPr/>
        </p:nvPicPr>
        <p:blipFill>
          <a:blip r:embed="rId2"/>
          <a:stretch>
            <a:fillRect/>
          </a:stretch>
        </p:blipFill>
        <p:spPr>
          <a:xfrm rot="21600000">
            <a:off x="822960" y="408431"/>
            <a:ext cx="420623" cy="655320"/>
          </a:xfrm>
          <a:prstGeom prst="rect">
            <a:avLst/>
          </a:prstGeom>
        </p:spPr>
      </p:pic>
      <p:sp>
        <p:nvSpPr>
          <p:cNvPr id="19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3" name="文本框 2"/>
          <p:cNvSpPr txBox="1"/>
          <p:nvPr/>
        </p:nvSpPr>
        <p:spPr>
          <a:xfrm>
            <a:off x="1420495" y="1136015"/>
            <a:ext cx="9552305" cy="1938020"/>
          </a:xfrm>
          <a:prstGeom prst="rect">
            <a:avLst/>
          </a:prstGeom>
          <a:noFill/>
        </p:spPr>
        <p:txBody>
          <a:bodyPr wrap="square">
            <a:spAutoFit/>
          </a:bodyPr>
          <a:lstStyle/>
          <a:p>
            <a:pPr marR="0" defTabSz="914400">
              <a:buClrTx/>
              <a:buSzTx/>
              <a:buFontTx/>
              <a:buNone/>
              <a:defRPr/>
            </a:pPr>
            <a:r>
              <a:rPr kumimoji="0" lang="zh-CN" altLang="en-US" sz="2400" kern="1200" cap="none" spc="0" normalizeH="0" baseline="0" noProof="0" dirty="0">
                <a:latin typeface="Arial" panose="020B0604020202020204" pitchFamily="34" charset="0"/>
                <a:ea typeface="黑体" panose="02010609060101010101" charset="-122"/>
                <a:cs typeface="+mn-cs"/>
              </a:rPr>
              <a:t> 分组密码是将明文消息编码表示后的数字序列</a:t>
            </a:r>
            <a:endParaRPr kumimoji="0" lang="en-US" altLang="zh-CN" sz="2400" kern="1200" cap="none" spc="0" normalizeH="0" baseline="0" noProof="0" dirty="0">
              <a:latin typeface="Arial" panose="020B0604020202020204" pitchFamily="34" charset="0"/>
              <a:ea typeface="黑体" panose="02010609060101010101" charset="-122"/>
              <a:cs typeface="+mn-cs"/>
            </a:endParaRPr>
          </a:p>
          <a:p>
            <a:pPr marR="0" defTabSz="914400">
              <a:buClrTx/>
              <a:buSzTx/>
              <a:buFontTx/>
              <a:buNone/>
              <a:defRPr/>
            </a:pP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划分成长为</a:t>
            </a:r>
            <a:r>
              <a:rPr kumimoji="0" lang="en-US" altLang="zh-CN" sz="2400" kern="1200" cap="none" spc="0" normalizeH="0" baseline="0" noProof="0" dirty="0">
                <a:latin typeface="Arial" panose="020B0604020202020204" pitchFamily="34" charset="0"/>
                <a:ea typeface="黑体" panose="02010609060101010101" charset="-122"/>
                <a:cs typeface="+mn-cs"/>
              </a:rPr>
              <a:t>n</a:t>
            </a:r>
            <a:r>
              <a:rPr kumimoji="0" lang="zh-CN" altLang="en-US" sz="2400" kern="1200" cap="none" spc="0" normalizeH="0" baseline="0" noProof="0" dirty="0">
                <a:latin typeface="Arial" panose="020B0604020202020204" pitchFamily="34" charset="0"/>
                <a:ea typeface="黑体" panose="02010609060101010101" charset="-122"/>
                <a:cs typeface="+mn-cs"/>
              </a:rPr>
              <a:t>的组</a:t>
            </a: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          </a:t>
            </a: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 </a:t>
            </a: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，各组</a:t>
            </a:r>
            <a:r>
              <a:rPr kumimoji="0" lang="en-US" altLang="zh-CN" sz="2400" kern="1200" cap="none" spc="0" normalizeH="0" baseline="0" noProof="0" dirty="0">
                <a:latin typeface="Arial" panose="020B0604020202020204" pitchFamily="34" charset="0"/>
                <a:ea typeface="黑体" panose="02010609060101010101" charset="-122"/>
                <a:cs typeface="+mn-cs"/>
              </a:rPr>
              <a:t>(</a:t>
            </a:r>
            <a:r>
              <a:rPr kumimoji="0" lang="zh-CN" altLang="en-US" sz="2400" kern="1200" cap="none" spc="0" normalizeH="0" baseline="0" noProof="0" dirty="0">
                <a:latin typeface="Arial" panose="020B0604020202020204" pitchFamily="34" charset="0"/>
                <a:ea typeface="黑体" panose="02010609060101010101" charset="-122"/>
                <a:cs typeface="+mn-cs"/>
              </a:rPr>
              <a:t>长为</a:t>
            </a:r>
            <a:r>
              <a:rPr kumimoji="0" lang="en-US" altLang="zh-CN" sz="2400" i="1" kern="1200" cap="none" spc="0" normalizeH="0" baseline="0" noProof="0" dirty="0">
                <a:latin typeface="Arial" panose="020B0604020202020204" pitchFamily="34" charset="0"/>
                <a:ea typeface="黑体" panose="02010609060101010101" charset="-122"/>
                <a:cs typeface="+mn-cs"/>
              </a:rPr>
              <a:t>n</a:t>
            </a:r>
            <a:r>
              <a:rPr kumimoji="0" lang="zh-CN" altLang="en-US" sz="2400" kern="1200" cap="none" spc="0" normalizeH="0" baseline="0" noProof="0" dirty="0">
                <a:latin typeface="Arial" panose="020B0604020202020204" pitchFamily="34" charset="0"/>
                <a:ea typeface="黑体" panose="02010609060101010101" charset="-122"/>
                <a:cs typeface="+mn-cs"/>
              </a:rPr>
              <a:t>的矢量</a:t>
            </a:r>
            <a:r>
              <a:rPr kumimoji="0" lang="en-US" altLang="zh-CN" sz="2400" kern="1200" cap="none" spc="0" normalizeH="0" baseline="0" noProof="0" dirty="0">
                <a:latin typeface="Arial" panose="020B0604020202020204" pitchFamily="34" charset="0"/>
                <a:ea typeface="黑体" panose="02010609060101010101" charset="-122"/>
                <a:cs typeface="+mn-cs"/>
              </a:rPr>
              <a:t>)</a:t>
            </a:r>
            <a:r>
              <a:rPr kumimoji="0" lang="zh-CN" altLang="en-US" sz="2400" kern="1200" cap="none" spc="0" normalizeH="0" baseline="0" noProof="0" dirty="0">
                <a:latin typeface="Arial" panose="020B0604020202020204" pitchFamily="34" charset="0"/>
                <a:ea typeface="黑体" panose="02010609060101010101" charset="-122"/>
                <a:cs typeface="+mn-cs"/>
              </a:rPr>
              <a:t>分别在密钥</a:t>
            </a:r>
            <a:r>
              <a:rPr kumimoji="0" lang="en-US" altLang="zh-CN" sz="2400" kern="1200" cap="none" spc="0" normalizeH="0" baseline="0" noProof="0" dirty="0">
                <a:latin typeface="Arial" panose="020B0604020202020204" pitchFamily="34" charset="0"/>
                <a:ea typeface="黑体" panose="02010609060101010101" charset="-122"/>
                <a:cs typeface="+mn-cs"/>
              </a:rPr>
              <a:t>    </a:t>
            </a:r>
            <a:endParaRPr kumimoji="0" lang="en-US" altLang="zh-CN" sz="2400" kern="1200" cap="none" spc="0" normalizeH="0" baseline="0" noProof="0" dirty="0">
              <a:latin typeface="Arial" panose="020B0604020202020204" pitchFamily="34" charset="0"/>
              <a:ea typeface="黑体" panose="02010609060101010101" charset="-122"/>
              <a:cs typeface="+mn-cs"/>
            </a:endParaRPr>
          </a:p>
          <a:p>
            <a:pPr marR="0" defTabSz="914400">
              <a:buClrTx/>
              <a:buSzTx/>
              <a:buFontTx/>
              <a:buNone/>
              <a:defRPr/>
            </a:pP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   </a:t>
            </a: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控制下变换成等长的输出数字序列           </a:t>
            </a: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 </a:t>
            </a:r>
            <a:r>
              <a:rPr kumimoji="0" lang="en-US" altLang="zh-CN" sz="2400" kern="1200" cap="none" spc="0" normalizeH="0" baseline="0" noProof="0" dirty="0">
                <a:latin typeface="Arial" panose="020B0604020202020204" pitchFamily="34" charset="0"/>
                <a:ea typeface="黑体" panose="02010609060101010101" charset="-122"/>
                <a:cs typeface="+mn-cs"/>
              </a:rPr>
              <a:t>       (</a:t>
            </a:r>
            <a:r>
              <a:rPr kumimoji="0" lang="zh-CN" altLang="en-US" sz="2400" kern="1200" cap="none" spc="0" normalizeH="0" baseline="0" noProof="0" dirty="0">
                <a:latin typeface="Arial" panose="020B0604020202020204" pitchFamily="34" charset="0"/>
                <a:ea typeface="黑体" panose="02010609060101010101" charset="-122"/>
                <a:cs typeface="+mn-cs"/>
              </a:rPr>
              <a:t>长为</a:t>
            </a:r>
            <a:r>
              <a:rPr kumimoji="0" lang="en-US" altLang="zh-CN" sz="2400" i="1" kern="1200" cap="none" spc="0" normalizeH="0" baseline="0" noProof="0" dirty="0">
                <a:latin typeface="Arial" panose="020B0604020202020204" pitchFamily="34" charset="0"/>
                <a:ea typeface="黑体" panose="02010609060101010101" charset="-122"/>
                <a:cs typeface="+mn-cs"/>
              </a:rPr>
              <a:t>m</a:t>
            </a:r>
            <a:r>
              <a:rPr kumimoji="0" lang="zh-CN" altLang="en-US" sz="2400" kern="1200" cap="none" spc="0" normalizeH="0" baseline="0" noProof="0" dirty="0">
                <a:latin typeface="Arial" panose="020B0604020202020204" pitchFamily="34" charset="0"/>
                <a:ea typeface="黑体" panose="02010609060101010101" charset="-122"/>
                <a:cs typeface="+mn-cs"/>
              </a:rPr>
              <a:t>的矢量</a:t>
            </a:r>
            <a:r>
              <a:rPr kumimoji="0" lang="en-US" altLang="zh-CN" sz="2400" kern="1200" cap="none" spc="0" normalizeH="0" baseline="0" noProof="0" dirty="0">
                <a:latin typeface="Arial" panose="020B0604020202020204" pitchFamily="34" charset="0"/>
                <a:ea typeface="黑体" panose="02010609060101010101" charset="-122"/>
                <a:cs typeface="+mn-cs"/>
              </a:rPr>
              <a:t>)</a:t>
            </a:r>
            <a:r>
              <a:rPr kumimoji="0" lang="zh-CN" altLang="en-US" sz="2400" kern="1200" cap="none" spc="0" normalizeH="0" baseline="0" noProof="0" dirty="0">
                <a:latin typeface="Arial" panose="020B0604020202020204" pitchFamily="34" charset="0"/>
                <a:ea typeface="黑体" panose="02010609060101010101" charset="-122"/>
                <a:cs typeface="+mn-cs"/>
              </a:rPr>
              <a:t>，其加密函数</a:t>
            </a:r>
            <a:r>
              <a:rPr kumimoji="0" sz="2400" i="1" kern="1200" cap="none" spc="0" normalizeH="0" baseline="0" noProof="0">
                <a:latin typeface="Arial" panose="020B0604020202020204" pitchFamily="34" charset="0"/>
                <a:ea typeface="黑体" panose="02010609060101010101" charset="-122"/>
                <a:cs typeface="+mn-cs"/>
              </a:rPr>
              <a:t>E: Vn×K</a:t>
            </a:r>
            <a:r>
              <a:rPr kumimoji="0" lang="en-US" sz="2400" i="1" kern="1200" cap="none" spc="0" normalizeH="0" baseline="0" noProof="0">
                <a:latin typeface="Arial" panose="020B0604020202020204" pitchFamily="34" charset="0"/>
                <a:ea typeface="黑体" panose="02010609060101010101" charset="-122"/>
                <a:cs typeface="+mn-cs"/>
              </a:rPr>
              <a:t>→</a:t>
            </a:r>
            <a:r>
              <a:rPr kumimoji="0" sz="2400" i="1" kern="1200" cap="none" spc="0" normalizeH="0" baseline="0" noProof="0">
                <a:latin typeface="Arial" panose="020B0604020202020204" pitchFamily="34" charset="0"/>
                <a:ea typeface="黑体" panose="02010609060101010101" charset="-122"/>
                <a:cs typeface="+mn-cs"/>
              </a:rPr>
              <a:t>Vm</a:t>
            </a:r>
            <a:r>
              <a:rPr kumimoji="0" lang="zh-CN" altLang="en-US" sz="2400" kern="1200" cap="none" spc="0" normalizeH="0" baseline="0" noProof="0" dirty="0">
                <a:latin typeface="Arial" panose="020B0604020202020204" pitchFamily="34" charset="0"/>
                <a:ea typeface="黑体" panose="02010609060101010101" charset="-122"/>
                <a:cs typeface="+mn-cs"/>
              </a:rPr>
              <a:t>，</a:t>
            </a:r>
            <a:r>
              <a:rPr kumimoji="0" lang="en-US" altLang="zh-CN" sz="2400" i="1" kern="1200" cap="none" spc="0" normalizeH="0" baseline="0" noProof="0" dirty="0" err="1">
                <a:latin typeface="Arial" panose="020B0604020202020204" pitchFamily="34" charset="0"/>
                <a:ea typeface="黑体" panose="02010609060101010101" charset="-122"/>
                <a:cs typeface="+mn-cs"/>
              </a:rPr>
              <a:t>Vn</a:t>
            </a:r>
            <a:r>
              <a:rPr kumimoji="0" lang="zh-CN" altLang="en-US" sz="2400" kern="1200" cap="none" spc="0" normalizeH="0" baseline="0" noProof="0" dirty="0">
                <a:latin typeface="Arial" panose="020B0604020202020204" pitchFamily="34" charset="0"/>
                <a:ea typeface="黑体" panose="02010609060101010101" charset="-122"/>
                <a:cs typeface="+mn-cs"/>
              </a:rPr>
              <a:t>和</a:t>
            </a:r>
            <a:r>
              <a:rPr kumimoji="0" lang="en-US" altLang="zh-CN" sz="2400" i="1" kern="1200" cap="none" spc="0" normalizeH="0" baseline="0" noProof="0" dirty="0" err="1">
                <a:latin typeface="Arial" panose="020B0604020202020204" pitchFamily="34" charset="0"/>
                <a:ea typeface="黑体" panose="02010609060101010101" charset="-122"/>
                <a:cs typeface="+mn-cs"/>
              </a:rPr>
              <a:t>Vm</a:t>
            </a:r>
            <a:r>
              <a:rPr kumimoji="0" lang="zh-CN" altLang="en-US" sz="2400" kern="1200" cap="none" spc="0" normalizeH="0" baseline="0" noProof="0" dirty="0">
                <a:latin typeface="Arial" panose="020B0604020202020204" pitchFamily="34" charset="0"/>
                <a:ea typeface="黑体" panose="02010609060101010101" charset="-122"/>
                <a:cs typeface="+mn-cs"/>
              </a:rPr>
              <a:t>分别是</a:t>
            </a:r>
            <a:r>
              <a:rPr kumimoji="0" lang="en-US" altLang="zh-CN" sz="2400" i="1" kern="1200" cap="none" spc="0" normalizeH="0" baseline="0" noProof="0" dirty="0">
                <a:latin typeface="Arial" panose="020B0604020202020204" pitchFamily="34" charset="0"/>
                <a:ea typeface="黑体" panose="02010609060101010101" charset="-122"/>
                <a:cs typeface="+mn-cs"/>
              </a:rPr>
              <a:t>n</a:t>
            </a:r>
            <a:r>
              <a:rPr kumimoji="0" lang="zh-CN" altLang="en-US" sz="2400" kern="1200" cap="none" spc="0" normalizeH="0" baseline="0" noProof="0" dirty="0">
                <a:latin typeface="Arial" panose="020B0604020202020204" pitchFamily="34" charset="0"/>
                <a:ea typeface="黑体" panose="02010609060101010101" charset="-122"/>
                <a:cs typeface="+mn-cs"/>
              </a:rPr>
              <a:t>维和</a:t>
            </a:r>
            <a:r>
              <a:rPr kumimoji="0" lang="en-US" altLang="zh-CN" sz="2400" i="1" kern="1200" cap="none" spc="0" normalizeH="0" baseline="0" noProof="0" dirty="0">
                <a:latin typeface="Arial" panose="020B0604020202020204" pitchFamily="34" charset="0"/>
                <a:ea typeface="黑体" panose="02010609060101010101" charset="-122"/>
                <a:cs typeface="+mn-cs"/>
              </a:rPr>
              <a:t>m </a:t>
            </a:r>
            <a:r>
              <a:rPr kumimoji="0" lang="zh-CN" altLang="en-US" sz="2400" kern="1200" cap="none" spc="0" normalizeH="0" baseline="0" noProof="0" dirty="0">
                <a:latin typeface="Arial" panose="020B0604020202020204" pitchFamily="34" charset="0"/>
                <a:ea typeface="黑体" panose="02010609060101010101" charset="-122"/>
                <a:cs typeface="+mn-cs"/>
              </a:rPr>
              <a:t>维矢量空间，</a:t>
            </a:r>
            <a:r>
              <a:rPr kumimoji="0" lang="en-US" altLang="zh-CN" sz="2400" i="1" kern="1200" cap="none" spc="0" normalizeH="0" baseline="0" noProof="0" dirty="0">
                <a:latin typeface="Arial" panose="020B0604020202020204" pitchFamily="34" charset="0"/>
                <a:ea typeface="黑体" panose="02010609060101010101" charset="-122"/>
                <a:cs typeface="+mn-cs"/>
              </a:rPr>
              <a:t>K</a:t>
            </a:r>
            <a:r>
              <a:rPr kumimoji="0" lang="zh-CN" altLang="en-US" sz="2400" kern="1200" cap="none" spc="0" normalizeH="0" baseline="0" noProof="0" dirty="0">
                <a:latin typeface="Arial" panose="020B0604020202020204" pitchFamily="34" charset="0"/>
                <a:ea typeface="黑体" panose="02010609060101010101" charset="-122"/>
                <a:cs typeface="+mn-cs"/>
              </a:rPr>
              <a:t>为密钥空间，参看图</a:t>
            </a:r>
            <a:r>
              <a:rPr kumimoji="0" lang="en-US" altLang="zh-CN" sz="2400" kern="1200" cap="none" spc="0" normalizeH="0" baseline="0" noProof="0" dirty="0">
                <a:latin typeface="Arial" panose="020B0604020202020204" pitchFamily="34" charset="0"/>
                <a:ea typeface="黑体" panose="02010609060101010101" charset="-122"/>
                <a:cs typeface="+mn-cs"/>
              </a:rPr>
              <a:t>3-1</a:t>
            </a:r>
            <a:r>
              <a:rPr kumimoji="0" lang="zh-CN" altLang="en-US" sz="2400" kern="1200" cap="none" spc="0" normalizeH="0" baseline="0" noProof="0" dirty="0">
                <a:latin typeface="Arial" panose="020B0604020202020204" pitchFamily="34" charset="0"/>
                <a:ea typeface="黑体" panose="02010609060101010101" charset="-122"/>
                <a:cs typeface="+mn-cs"/>
              </a:rPr>
              <a:t>所示。</a:t>
            </a:r>
            <a:endParaRPr kumimoji="0" lang="zh-CN" altLang="en-US" sz="2400" kern="1200" cap="none" spc="0" normalizeH="0" baseline="0" noProof="0" dirty="0">
              <a:latin typeface="Arial" panose="020B0604020202020204" pitchFamily="34" charset="0"/>
              <a:ea typeface="黑体" panose="02010609060101010101" charset="-122"/>
              <a:cs typeface="+mn-cs"/>
            </a:endParaRPr>
          </a:p>
        </p:txBody>
      </p:sp>
      <p:graphicFrame>
        <p:nvGraphicFramePr>
          <p:cNvPr id="9222" name="对象 6"/>
          <p:cNvGraphicFramePr>
            <a:graphicFrameLocks noChangeAspect="1"/>
          </p:cNvGraphicFramePr>
          <p:nvPr/>
        </p:nvGraphicFramePr>
        <p:xfrm>
          <a:off x="7796213" y="1179830"/>
          <a:ext cx="1512887" cy="347663"/>
        </p:xfrm>
        <a:graphic>
          <a:graphicData uri="http://schemas.openxmlformats.org/presentationml/2006/ole">
            <mc:AlternateContent xmlns:mc="http://schemas.openxmlformats.org/markup-compatibility/2006">
              <mc:Choice xmlns:v="urn:schemas-microsoft-com:vml" Requires="v">
                <p:oleObj spid="_x0000_s3079" name="" r:id="rId3" imgW="902335" imgH="228600" progId="Equation.DSMT4">
                  <p:embed/>
                </p:oleObj>
              </mc:Choice>
              <mc:Fallback>
                <p:oleObj name="" r:id="rId3" imgW="902335" imgH="228600" progId="Equation.DSMT4">
                  <p:embed/>
                  <p:pic>
                    <p:nvPicPr>
                      <p:cNvPr id="0" name="图片 3078"/>
                      <p:cNvPicPr/>
                      <p:nvPr/>
                    </p:nvPicPr>
                    <p:blipFill>
                      <a:blip r:embed="rId4"/>
                      <a:stretch>
                        <a:fillRect/>
                      </a:stretch>
                    </p:blipFill>
                    <p:spPr>
                      <a:xfrm>
                        <a:off x="7796213" y="1179830"/>
                        <a:ext cx="1512887" cy="347663"/>
                      </a:xfrm>
                      <a:prstGeom prst="rect">
                        <a:avLst/>
                      </a:prstGeom>
                      <a:noFill/>
                      <a:ln w="38100">
                        <a:noFill/>
                        <a:miter/>
                      </a:ln>
                    </p:spPr>
                  </p:pic>
                </p:oleObj>
              </mc:Fallback>
            </mc:AlternateContent>
          </a:graphicData>
        </a:graphic>
      </p:graphicFrame>
      <p:graphicFrame>
        <p:nvGraphicFramePr>
          <p:cNvPr id="9224" name="对象 8"/>
          <p:cNvGraphicFramePr>
            <a:graphicFrameLocks noChangeAspect="1"/>
          </p:cNvGraphicFramePr>
          <p:nvPr/>
        </p:nvGraphicFramePr>
        <p:xfrm>
          <a:off x="3900170" y="1575435"/>
          <a:ext cx="1511300" cy="322263"/>
        </p:xfrm>
        <a:graphic>
          <a:graphicData uri="http://schemas.openxmlformats.org/presentationml/2006/ole">
            <mc:AlternateContent xmlns:mc="http://schemas.openxmlformats.org/markup-compatibility/2006">
              <mc:Choice xmlns:v="urn:schemas-microsoft-com:vml" Requires="v">
                <p:oleObj spid="_x0000_s3080" name="" r:id="rId5" imgW="1181100" imgH="254000" progId="Equation.DSMT4">
                  <p:embed/>
                </p:oleObj>
              </mc:Choice>
              <mc:Fallback>
                <p:oleObj name="" r:id="rId5" imgW="1181100" imgH="254000" progId="Equation.DSMT4">
                  <p:embed/>
                  <p:pic>
                    <p:nvPicPr>
                      <p:cNvPr id="0" name="图片 3079"/>
                      <p:cNvPicPr/>
                      <p:nvPr/>
                    </p:nvPicPr>
                    <p:blipFill>
                      <a:blip r:embed="rId6"/>
                      <a:stretch>
                        <a:fillRect/>
                      </a:stretch>
                    </p:blipFill>
                    <p:spPr>
                      <a:xfrm>
                        <a:off x="3900170" y="1575435"/>
                        <a:ext cx="1511300" cy="322263"/>
                      </a:xfrm>
                      <a:prstGeom prst="rect">
                        <a:avLst/>
                      </a:prstGeom>
                      <a:noFill/>
                      <a:ln w="38100">
                        <a:noFill/>
                        <a:miter/>
                      </a:ln>
                    </p:spPr>
                  </p:pic>
                </p:oleObj>
              </mc:Fallback>
            </mc:AlternateContent>
          </a:graphicData>
        </a:graphic>
      </p:graphicFrame>
      <p:graphicFrame>
        <p:nvGraphicFramePr>
          <p:cNvPr id="9226" name="对象 10"/>
          <p:cNvGraphicFramePr>
            <a:graphicFrameLocks noChangeAspect="1"/>
          </p:cNvGraphicFramePr>
          <p:nvPr/>
        </p:nvGraphicFramePr>
        <p:xfrm>
          <a:off x="1683068" y="1898015"/>
          <a:ext cx="1908175" cy="414338"/>
        </p:xfrm>
        <a:graphic>
          <a:graphicData uri="http://schemas.openxmlformats.org/presentationml/2006/ole">
            <mc:AlternateContent xmlns:mc="http://schemas.openxmlformats.org/markup-compatibility/2006">
              <mc:Choice xmlns:v="urn:schemas-microsoft-com:vml" Requires="v">
                <p:oleObj spid="_x0000_s3078" name="" r:id="rId7" imgW="1155700" imgH="254000" progId="Equation.DSMT4">
                  <p:embed/>
                </p:oleObj>
              </mc:Choice>
              <mc:Fallback>
                <p:oleObj name="" r:id="rId7" imgW="1155700" imgH="254000" progId="Equation.DSMT4">
                  <p:embed/>
                  <p:pic>
                    <p:nvPicPr>
                      <p:cNvPr id="0" name="图片 3077"/>
                      <p:cNvPicPr/>
                      <p:nvPr/>
                    </p:nvPicPr>
                    <p:blipFill>
                      <a:blip r:embed="rId8"/>
                      <a:stretch>
                        <a:fillRect/>
                      </a:stretch>
                    </p:blipFill>
                    <p:spPr>
                      <a:xfrm>
                        <a:off x="1683068" y="1898015"/>
                        <a:ext cx="1908175" cy="414338"/>
                      </a:xfrm>
                      <a:prstGeom prst="rect">
                        <a:avLst/>
                      </a:prstGeom>
                      <a:noFill/>
                      <a:ln w="38100">
                        <a:noFill/>
                        <a:miter/>
                      </a:ln>
                    </p:spPr>
                  </p:pic>
                </p:oleObj>
              </mc:Fallback>
            </mc:AlternateContent>
          </a:graphicData>
        </a:graphic>
      </p:graphicFrame>
      <p:graphicFrame>
        <p:nvGraphicFramePr>
          <p:cNvPr id="9228" name="对象 12"/>
          <p:cNvGraphicFramePr>
            <a:graphicFrameLocks noChangeAspect="1"/>
          </p:cNvGraphicFramePr>
          <p:nvPr/>
        </p:nvGraphicFramePr>
        <p:xfrm>
          <a:off x="8305800" y="1927860"/>
          <a:ext cx="1746250" cy="355600"/>
        </p:xfrm>
        <a:graphic>
          <a:graphicData uri="http://schemas.openxmlformats.org/presentationml/2006/ole">
            <mc:AlternateContent xmlns:mc="http://schemas.openxmlformats.org/markup-compatibility/2006">
              <mc:Choice xmlns:v="urn:schemas-microsoft-com:vml" Requires="v">
                <p:oleObj spid="_x0000_s3084" name="" r:id="rId9" imgW="1231900" imgH="254000" progId="Equation.DSMT4">
                  <p:embed/>
                </p:oleObj>
              </mc:Choice>
              <mc:Fallback>
                <p:oleObj name="" r:id="rId9" imgW="1231900" imgH="254000" progId="Equation.DSMT4">
                  <p:embed/>
                  <p:pic>
                    <p:nvPicPr>
                      <p:cNvPr id="0" name="图片 3083"/>
                      <p:cNvPicPr/>
                      <p:nvPr/>
                    </p:nvPicPr>
                    <p:blipFill>
                      <a:blip r:embed="rId10"/>
                      <a:stretch>
                        <a:fillRect/>
                      </a:stretch>
                    </p:blipFill>
                    <p:spPr>
                      <a:xfrm>
                        <a:off x="8305800" y="1927860"/>
                        <a:ext cx="1746250" cy="355600"/>
                      </a:xfrm>
                      <a:prstGeom prst="rect">
                        <a:avLst/>
                      </a:prstGeom>
                      <a:noFill/>
                      <a:ln w="38100">
                        <a:noFill/>
                        <a:miter/>
                      </a:ln>
                    </p:spPr>
                  </p:pic>
                </p:oleObj>
              </mc:Fallback>
            </mc:AlternateContent>
          </a:graphicData>
        </a:graphic>
      </p:graphicFrame>
      <p:graphicFrame>
        <p:nvGraphicFramePr>
          <p:cNvPr id="9230" name="对象 14"/>
          <p:cNvGraphicFramePr>
            <a:graphicFrameLocks noChangeAspect="1"/>
          </p:cNvGraphicFramePr>
          <p:nvPr/>
        </p:nvGraphicFramePr>
        <p:xfrm>
          <a:off x="1871980" y="3504883"/>
          <a:ext cx="8448675" cy="2355850"/>
        </p:xfrm>
        <a:graphic>
          <a:graphicData uri="http://schemas.openxmlformats.org/presentationml/2006/ole">
            <mc:AlternateContent xmlns:mc="http://schemas.openxmlformats.org/markup-compatibility/2006">
              <mc:Choice xmlns:v="urn:schemas-microsoft-com:vml" Requires="v">
                <p:oleObj spid="_x0000_s3085" name="" r:id="rId11" imgW="4660265" imgH="1027430" progId="Visio.Drawing.11">
                  <p:embed/>
                </p:oleObj>
              </mc:Choice>
              <mc:Fallback>
                <p:oleObj name="" r:id="rId11" imgW="4660265" imgH="1027430" progId="Visio.Drawing.11">
                  <p:embed/>
                  <p:pic>
                    <p:nvPicPr>
                      <p:cNvPr id="0" name="图片 3084"/>
                      <p:cNvPicPr/>
                      <p:nvPr/>
                    </p:nvPicPr>
                    <p:blipFill>
                      <a:blip r:embed="rId12"/>
                      <a:stretch>
                        <a:fillRect/>
                      </a:stretch>
                    </p:blipFill>
                    <p:spPr>
                      <a:xfrm>
                        <a:off x="1871980" y="3504883"/>
                        <a:ext cx="8448675" cy="2355850"/>
                      </a:xfrm>
                      <a:prstGeom prst="rect">
                        <a:avLst/>
                      </a:prstGeom>
                      <a:noFill/>
                      <a:ln w="38100">
                        <a:noFill/>
                        <a:miter/>
                      </a:ln>
                    </p:spPr>
                  </p:pic>
                </p:oleObj>
              </mc:Fallback>
            </mc:AlternateContent>
          </a:graphicData>
        </a:graphic>
      </p:graphicFrame>
      <p:sp>
        <p:nvSpPr>
          <p:cNvPr id="9231" name="文本框 15"/>
          <p:cNvSpPr txBox="1"/>
          <p:nvPr/>
        </p:nvSpPr>
        <p:spPr>
          <a:xfrm>
            <a:off x="5044123" y="5870893"/>
            <a:ext cx="2303462"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1800" dirty="0">
                <a:latin typeface="Arial" panose="020B0604020202020204" pitchFamily="34" charset="0"/>
                <a:ea typeface="黑体" panose="02010609060101010101" charset="-122"/>
              </a:rPr>
              <a:t>图</a:t>
            </a:r>
            <a:r>
              <a:rPr lang="en-US" altLang="zh-CN" sz="1800" dirty="0">
                <a:latin typeface="Arial" panose="020B0604020202020204" pitchFamily="34" charset="0"/>
                <a:ea typeface="黑体" panose="02010609060101010101" charset="-122"/>
              </a:rPr>
              <a:t>  </a:t>
            </a:r>
            <a:r>
              <a:rPr lang="zh-CN" altLang="en-US" sz="1800" dirty="0">
                <a:latin typeface="Arial" panose="020B0604020202020204" pitchFamily="34" charset="0"/>
                <a:ea typeface="黑体" panose="02010609060101010101" charset="-122"/>
              </a:rPr>
              <a:t>分组密码框图</a:t>
            </a:r>
            <a:endParaRPr lang="zh-CN" altLang="en-US" sz="1800" dirty="0">
              <a:latin typeface="Arial" panose="020B0604020202020204" pitchFamily="34" charset="0"/>
              <a:ea typeface="黑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box 194"/>
          <p:cNvSpPr/>
          <p:nvPr/>
        </p:nvSpPr>
        <p:spPr>
          <a:xfrm>
            <a:off x="871035" y="1210166"/>
            <a:ext cx="10650855" cy="4263390"/>
          </a:xfrm>
          <a:prstGeom prst="rect">
            <a:avLst/>
          </a:prstGeom>
        </p:spPr>
        <p:txBody>
          <a:bodyPr vert="horz" wrap="square" lIns="0" tIns="0" rIns="0" bIns="0"/>
          <a:lstStyle/>
          <a:p>
            <a:pPr algn="l" rtl="0" eaLnBrk="0">
              <a:lnSpc>
                <a:spcPct val="79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2800" kern="0" spc="-1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分组长度</a:t>
            </a:r>
            <a:r>
              <a:rPr sz="2900" i="1" kern="0" spc="-1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n</a:t>
            </a:r>
            <a:r>
              <a:rPr sz="2800" kern="0" spc="-1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要足够</a:t>
            </a:r>
            <a:r>
              <a:rPr sz="2800" kern="0" spc="-17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大：</a:t>
            </a:r>
            <a:endParaRPr lang="en-US" altLang="en-US" sz="28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marL="1268730" algn="l" rtl="0" eaLnBrk="0">
              <a:lnSpc>
                <a:spcPct val="94000"/>
              </a:lnSpc>
              <a:spcBef>
                <a:spcPts val="725"/>
              </a:spcBef>
            </a:pP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防止明文穷举攻击法奏效。</a:t>
            </a:r>
            <a:endParaRPr lang="en-US" altLang="en-US" sz="2400" dirty="0">
              <a:latin typeface="Arial" panose="020B0604020202020204" pitchFamily="34" charset="0"/>
              <a:ea typeface="黑体" panose="02010609060101010101" charset="-122"/>
            </a:endParaRPr>
          </a:p>
          <a:p>
            <a:pPr algn="l" rtl="0" eaLnBrk="0">
              <a:lnSpc>
                <a:spcPct val="130000"/>
              </a:lnSpc>
            </a:pPr>
            <a:endParaRPr lang="en-US" altLang="en-US" sz="1000" dirty="0">
              <a:latin typeface="Arial" panose="020B0604020202020204" pitchFamily="34" charset="0"/>
              <a:ea typeface="黑体" panose="02010609060101010101" charset="-122"/>
            </a:endParaRPr>
          </a:p>
          <a:p>
            <a:pPr marL="12700" algn="l" rtl="0" eaLnBrk="0">
              <a:lnSpc>
                <a:spcPts val="3380"/>
              </a:lnSpc>
              <a:spcBef>
                <a:spcPts val="850"/>
              </a:spcBef>
            </a:pPr>
            <a:r>
              <a:rPr sz="2800" kern="0" spc="-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1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密钥量要足够大：</a:t>
            </a:r>
            <a:endParaRPr lang="en-US" altLang="en-US" sz="2800" dirty="0">
              <a:latin typeface="Arial" panose="020B0604020202020204" pitchFamily="34" charset="0"/>
              <a:ea typeface="黑体" panose="02010609060101010101" charset="-122"/>
            </a:endParaRPr>
          </a:p>
          <a:p>
            <a:pPr algn="l" rtl="0" eaLnBrk="0">
              <a:lnSpc>
                <a:spcPct val="147000"/>
              </a:lnSpc>
            </a:pPr>
            <a:endParaRPr lang="en-US" altLang="en-US" sz="1000" dirty="0">
              <a:latin typeface="Arial" panose="020B0604020202020204" pitchFamily="34" charset="0"/>
              <a:ea typeface="黑体" panose="02010609060101010101" charset="-122"/>
            </a:endParaRPr>
          </a:p>
          <a:p>
            <a:pPr algn="r" rtl="0" eaLnBrk="0">
              <a:lnSpc>
                <a:spcPct val="83000"/>
              </a:lnSpc>
              <a:spcBef>
                <a:spcPts val="845"/>
              </a:spcBef>
            </a:pP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尽可能消除弱密钥并使所有密钥同等地好</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，以防止密钥穷举攻击奏效</a:t>
            </a:r>
            <a:r>
              <a:rPr sz="2800" kern="0" spc="-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algn="l" rtl="0" eaLnBrk="0">
              <a:lnSpc>
                <a:spcPct val="139000"/>
              </a:lnSpc>
            </a:pPr>
            <a:endParaRPr lang="en-US" altLang="en-US" sz="1000" dirty="0">
              <a:latin typeface="Arial" panose="020B0604020202020204" pitchFamily="34" charset="0"/>
              <a:ea typeface="黑体" panose="02010609060101010101" charset="-122"/>
            </a:endParaRPr>
          </a:p>
          <a:p>
            <a:pPr marL="12700" algn="l" rtl="0" eaLnBrk="0">
              <a:lnSpc>
                <a:spcPct val="100000"/>
              </a:lnSpc>
              <a:spcBef>
                <a:spcPts val="840"/>
              </a:spcBef>
            </a:pPr>
            <a:r>
              <a:rPr sz="28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1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由密钥确定置换的算法要足够复杂：</a:t>
            </a:r>
            <a:endParaRPr lang="en-US" altLang="en-US" sz="2800" dirty="0">
              <a:latin typeface="Arial" panose="020B0604020202020204" pitchFamily="34" charset="0"/>
              <a:ea typeface="黑体" panose="02010609060101010101" charset="-122"/>
            </a:endParaRPr>
          </a:p>
          <a:p>
            <a:pPr algn="l" rtl="0" eaLnBrk="0">
              <a:lnSpc>
                <a:spcPct val="122000"/>
              </a:lnSpc>
            </a:pPr>
            <a:endParaRPr lang="en-US" altLang="en-US" sz="1000" dirty="0">
              <a:latin typeface="Arial" panose="020B0604020202020204" pitchFamily="34" charset="0"/>
              <a:ea typeface="黑体" panose="02010609060101010101" charset="-122"/>
            </a:endParaRPr>
          </a:p>
          <a:p>
            <a:pPr marL="1094105" algn="l" rtl="0" eaLnBrk="0">
              <a:lnSpc>
                <a:spcPct val="83000"/>
              </a:lnSpc>
              <a:spcBef>
                <a:spcPts val="725"/>
              </a:spcBef>
            </a:pP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充分实现明文与密钥的扩散和混淆，没有简单的关系可循，要能抗击</a:t>
            </a:r>
            <a:endParaRPr lang="en-US" altLang="en-US" sz="2400" dirty="0">
              <a:latin typeface="Arial" panose="020B0604020202020204" pitchFamily="34" charset="0"/>
              <a:ea typeface="黑体" panose="02010609060101010101" charset="-122"/>
            </a:endParaRPr>
          </a:p>
          <a:p>
            <a:pPr marL="548005" algn="l" rtl="0" eaLnBrk="0">
              <a:lnSpc>
                <a:spcPts val="3460"/>
              </a:lnSpc>
            </a:pP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各种已知的攻击。</a:t>
            </a:r>
            <a:endParaRPr lang="en-US" altLang="en-US" sz="2400" dirty="0">
              <a:latin typeface="Arial" panose="020B0604020202020204" pitchFamily="34" charset="0"/>
              <a:ea typeface="黑体" panose="02010609060101010101" charset="-122"/>
            </a:endParaRPr>
          </a:p>
        </p:txBody>
      </p:sp>
      <p:sp>
        <p:nvSpPr>
          <p:cNvPr id="196" name="textbox 196"/>
          <p:cNvSpPr/>
          <p:nvPr/>
        </p:nvSpPr>
        <p:spPr>
          <a:xfrm>
            <a:off x="810260" y="-12700"/>
            <a:ext cx="11395075" cy="115188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0563C1">
                    <a:alpha val="100000"/>
                  </a:srgbClr>
                </a:solidFill>
                <a:latin typeface="Arial" panose="020B0604020202020204" pitchFamily="34" charset="0"/>
                <a:ea typeface="黑体" panose="02010609060101010101" charset="-122"/>
                <a:cs typeface="仿宋" panose="02010609060101010101" charset="-122"/>
              </a:rPr>
              <a:t>	</a:t>
            </a:r>
            <a:r>
              <a:rPr sz="3100" u="sng" kern="0" spc="-600" dirty="0">
                <a:solidFill>
                  <a:srgbClr val="0563C1">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90" dirty="0">
                <a:ln w="11582" cap="flat" cmpd="sng">
                  <a:solidFill>
                    <a:srgbClr val="0563C1">
                      <a:alpha val="100000"/>
                    </a:srgbClr>
                  </a:solidFill>
                  <a:prstDash val="solid"/>
                  <a:miter lim="10"/>
                </a:ln>
                <a:solidFill>
                  <a:srgbClr val="0563C1">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分组密码算法应满足的</a:t>
            </a:r>
            <a:r>
              <a:rPr sz="3100" u="sng" kern="0" spc="80" dirty="0">
                <a:ln w="11582" cap="flat" cmpd="sng">
                  <a:solidFill>
                    <a:srgbClr val="0563C1">
                      <a:alpha val="100000"/>
                    </a:srgbClr>
                  </a:solidFill>
                  <a:prstDash val="solid"/>
                  <a:miter lim="10"/>
                </a:ln>
                <a:solidFill>
                  <a:srgbClr val="0563C1">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要求</a:t>
            </a:r>
            <a:r>
              <a:rPr sz="3100" u="sng" kern="0" spc="0" dirty="0">
                <a:solidFill>
                  <a:srgbClr val="0563C1">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0563C1">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200" name="picture 200"/>
          <p:cNvPicPr>
            <a:picLocks noChangeAspect="1"/>
          </p:cNvPicPr>
          <p:nvPr/>
        </p:nvPicPr>
        <p:blipFill>
          <a:blip r:embed="rId1"/>
          <a:stretch>
            <a:fillRect/>
          </a:stretch>
        </p:blipFill>
        <p:spPr>
          <a:xfrm rot="21600000">
            <a:off x="822960" y="408431"/>
            <a:ext cx="420623" cy="655320"/>
          </a:xfrm>
          <a:prstGeom prst="rect">
            <a:avLst/>
          </a:prstGeom>
        </p:spPr>
      </p:pic>
      <p:sp>
        <p:nvSpPr>
          <p:cNvPr id="20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extbox 204"/>
          <p:cNvSpPr/>
          <p:nvPr/>
        </p:nvSpPr>
        <p:spPr>
          <a:xfrm>
            <a:off x="893260" y="1252711"/>
            <a:ext cx="10606405" cy="372872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8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加密和解密运算简单</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25000"/>
              </a:lnSpc>
            </a:pPr>
            <a:endParaRPr lang="en-US" altLang="en-US" sz="1000" dirty="0">
              <a:latin typeface="Arial" panose="020B0604020202020204" pitchFamily="34" charset="0"/>
              <a:ea typeface="黑体" panose="02010609060101010101" charset="-122"/>
            </a:endParaRPr>
          </a:p>
          <a:p>
            <a:pPr marL="794385" algn="l" rtl="0" eaLnBrk="0">
              <a:lnSpc>
                <a:spcPct val="94000"/>
              </a:lnSpc>
              <a:spcBef>
                <a:spcPts val="720"/>
              </a:spcBef>
            </a:pP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易于软件和硬件高速实现。</a:t>
            </a:r>
            <a:endParaRPr lang="en-US" altLang="en-US" sz="2400" dirty="0">
              <a:latin typeface="Arial" panose="020B0604020202020204" pitchFamily="34" charset="0"/>
              <a:ea typeface="黑体" panose="02010609060101010101" charset="-122"/>
            </a:endParaRPr>
          </a:p>
          <a:p>
            <a:pPr algn="l" rtl="0" eaLnBrk="0">
              <a:lnSpc>
                <a:spcPct val="133000"/>
              </a:lnSpc>
            </a:pPr>
            <a:endParaRPr lang="en-US" altLang="en-US" sz="1000" dirty="0">
              <a:latin typeface="Arial" panose="020B0604020202020204" pitchFamily="34" charset="0"/>
              <a:ea typeface="黑体" panose="02010609060101010101" charset="-122"/>
            </a:endParaRPr>
          </a:p>
          <a:p>
            <a:pPr marL="12700" algn="l" rtl="0" eaLnBrk="0">
              <a:lnSpc>
                <a:spcPts val="3365"/>
              </a:lnSpc>
              <a:spcBef>
                <a:spcPts val="815"/>
              </a:spcBef>
            </a:pPr>
            <a:r>
              <a:rPr sz="2700" kern="0" spc="-1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700" kern="0" spc="2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700" kern="0" spc="-19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数据扩展：</a:t>
            </a:r>
            <a:endParaRPr lang="en-US" altLang="en-US" sz="2700" dirty="0">
              <a:latin typeface="Arial" panose="020B0604020202020204" pitchFamily="34" charset="0"/>
              <a:ea typeface="黑体" panose="02010609060101010101" charset="-122"/>
            </a:endParaRPr>
          </a:p>
          <a:p>
            <a:pPr algn="l" rtl="0" eaLnBrk="0">
              <a:lnSpc>
                <a:spcPct val="122000"/>
              </a:lnSpc>
            </a:pPr>
            <a:endParaRPr lang="en-US" altLang="en-US" sz="1000" dirty="0">
              <a:latin typeface="Arial" panose="020B0604020202020204" pitchFamily="34" charset="0"/>
              <a:ea typeface="黑体" panose="02010609060101010101" charset="-122"/>
            </a:endParaRPr>
          </a:p>
          <a:p>
            <a:pPr algn="r" rtl="0" eaLnBrk="0">
              <a:lnSpc>
                <a:spcPct val="93000"/>
              </a:lnSpc>
              <a:spcBef>
                <a:spcPts val="730"/>
              </a:spcBef>
            </a:pP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一般无数据扩展，在采用同态置</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换和随机化加密技术时可引入数据扩展。</a:t>
            </a:r>
            <a:endParaRPr lang="en-US" altLang="en-US" sz="2400" dirty="0">
              <a:latin typeface="Arial" panose="020B0604020202020204" pitchFamily="34" charset="0"/>
              <a:ea typeface="黑体" panose="02010609060101010101" charset="-122"/>
            </a:endParaRPr>
          </a:p>
          <a:p>
            <a:pPr algn="l" rtl="0" eaLnBrk="0">
              <a:lnSpc>
                <a:spcPct val="135000"/>
              </a:lnSpc>
            </a:pPr>
            <a:endParaRPr lang="en-US" altLang="en-US" sz="1000" dirty="0">
              <a:latin typeface="Arial" panose="020B0604020202020204" pitchFamily="34" charset="0"/>
              <a:ea typeface="黑体" panose="02010609060101010101" charset="-122"/>
            </a:endParaRPr>
          </a:p>
          <a:p>
            <a:pPr marL="12700" algn="l" rtl="0" eaLnBrk="0">
              <a:lnSpc>
                <a:spcPct val="100000"/>
              </a:lnSpc>
              <a:spcBef>
                <a:spcPts val="850"/>
              </a:spcBef>
            </a:pPr>
            <a:r>
              <a:rPr sz="28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差错传播尽可能地小</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01000"/>
              </a:lnSpc>
            </a:pPr>
            <a:endParaRPr lang="en-US" altLang="en-US" sz="1400" dirty="0">
              <a:latin typeface="Arial" panose="020B0604020202020204" pitchFamily="34" charset="0"/>
              <a:ea typeface="黑体" panose="02010609060101010101" charset="-122"/>
            </a:endParaRPr>
          </a:p>
          <a:p>
            <a:pPr marL="475615" algn="l" rtl="0" eaLnBrk="0">
              <a:lnSpc>
                <a:spcPct val="94000"/>
              </a:lnSpc>
            </a:pP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一个密文分组的错误尽可能少的影响其他密文分组的解密</a:t>
            </a:r>
            <a:endParaRPr lang="en-US" altLang="en-US" sz="2400" dirty="0">
              <a:latin typeface="Arial" panose="020B0604020202020204" pitchFamily="34" charset="0"/>
              <a:ea typeface="黑体" panose="02010609060101010101" charset="-122"/>
            </a:endParaRPr>
          </a:p>
        </p:txBody>
      </p:sp>
      <p:sp>
        <p:nvSpPr>
          <p:cNvPr id="206" name="textbox 206"/>
          <p:cNvSpPr/>
          <p:nvPr/>
        </p:nvSpPr>
        <p:spPr>
          <a:xfrm>
            <a:off x="810260" y="-12700"/>
            <a:ext cx="11395075" cy="115188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60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9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分组密码算法应满足的</a:t>
            </a:r>
            <a:r>
              <a:rPr sz="3100" u="sng" kern="0" spc="8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要求</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210" name="picture 210"/>
          <p:cNvPicPr>
            <a:picLocks noChangeAspect="1"/>
          </p:cNvPicPr>
          <p:nvPr/>
        </p:nvPicPr>
        <p:blipFill>
          <a:blip r:embed="rId1"/>
          <a:stretch>
            <a:fillRect/>
          </a:stretch>
        </p:blipFill>
        <p:spPr>
          <a:xfrm rot="21600000">
            <a:off x="822960" y="408431"/>
            <a:ext cx="420623" cy="655320"/>
          </a:xfrm>
          <a:prstGeom prst="rect">
            <a:avLst/>
          </a:prstGeom>
        </p:spPr>
      </p:pic>
      <p:sp>
        <p:nvSpPr>
          <p:cNvPr id="2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extbox 214"/>
          <p:cNvSpPr/>
          <p:nvPr/>
        </p:nvSpPr>
        <p:spPr>
          <a:xfrm>
            <a:off x="928169" y="1205086"/>
            <a:ext cx="10335259" cy="3298190"/>
          </a:xfrm>
          <a:prstGeom prst="rect">
            <a:avLst/>
          </a:prstGeom>
        </p:spPr>
        <p:txBody>
          <a:bodyPr vert="horz" wrap="square" lIns="0" tIns="0" rIns="0" bIns="0"/>
          <a:lstStyle/>
          <a:p>
            <a:pPr algn="l" rtl="0" eaLnBrk="0">
              <a:lnSpc>
                <a:spcPct val="92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800" kern="0" spc="-40" dirty="0">
                <a:solidFill>
                  <a:srgbClr val="0563C1">
                    <a:alpha val="100000"/>
                  </a:srgbClr>
                </a:solidFill>
                <a:latin typeface="Arial" panose="020B0604020202020204" pitchFamily="34" charset="0"/>
                <a:ea typeface="黑体" panose="02010609060101010101" charset="-122"/>
                <a:cs typeface="Arial" panose="020B0604020202020204" pitchFamily="34" charset="0"/>
              </a:rPr>
              <a:t>•</a:t>
            </a:r>
            <a:r>
              <a:rPr sz="2800" kern="0" spc="310" dirty="0">
                <a:solidFill>
                  <a:srgbClr val="0563C1">
                    <a:alpha val="100000"/>
                  </a:srgbClr>
                </a:solidFill>
                <a:latin typeface="Arial" panose="020B0604020202020204" pitchFamily="34" charset="0"/>
                <a:ea typeface="黑体" panose="02010609060101010101" charset="-122"/>
                <a:cs typeface="Arial" panose="020B0604020202020204" pitchFamily="34" charset="0"/>
              </a:rPr>
              <a:t> </a:t>
            </a:r>
            <a:r>
              <a:rPr sz="2800" kern="0" spc="-40" dirty="0">
                <a:ln w="10197"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软件实现的原则</a:t>
            </a:r>
            <a:r>
              <a:rPr sz="2800" kern="0" spc="-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marL="701675" indent="-234950" algn="l" rtl="0" eaLnBrk="0">
              <a:lnSpc>
                <a:spcPct val="109000"/>
              </a:lnSpc>
              <a:spcBef>
                <a:spcPts val="890"/>
              </a:spcBef>
            </a:pPr>
            <a:r>
              <a:rPr sz="24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使用子块和简单的运算。如将分组</a:t>
            </a:r>
            <a:r>
              <a:rPr sz="2500" i="1"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n</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化分为子段</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，每段长为</a:t>
            </a:r>
            <a:r>
              <a:rPr sz="2400" kern="0" spc="30" dirty="0">
                <a:ln w="8708"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8、16</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或</a:t>
            </a:r>
            <a:r>
              <a:rPr sz="2400" kern="0" spc="30" dirty="0">
                <a:ln w="8708"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32</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在以软件实现时，应选用简单的运算，使作用于子段上的密码运算易于</a:t>
            </a:r>
            <a:r>
              <a:rPr sz="2400" kern="0" spc="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以标准处理器的基本运</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算，如</a:t>
            </a:r>
            <a:r>
              <a:rPr sz="2400" kern="0" spc="40" dirty="0">
                <a:ln w="8717"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加、乘、移位</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等实现，避免用以软件难于</a:t>
            </a:r>
            <a:r>
              <a:rPr sz="24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实现的逐比特置换。</a:t>
            </a:r>
            <a:endParaRPr lang="en-US" altLang="en-US" sz="2400" dirty="0">
              <a:latin typeface="Arial" panose="020B0604020202020204" pitchFamily="34" charset="0"/>
              <a:ea typeface="黑体" panose="02010609060101010101" charset="-122"/>
            </a:endParaRPr>
          </a:p>
          <a:p>
            <a:pPr marL="12700" algn="l" rtl="0" eaLnBrk="0">
              <a:lnSpc>
                <a:spcPct val="100000"/>
              </a:lnSpc>
              <a:spcBef>
                <a:spcPts val="1675"/>
              </a:spcBef>
            </a:pPr>
            <a:r>
              <a:rPr sz="2800" kern="0" spc="-30" dirty="0">
                <a:solidFill>
                  <a:srgbClr val="0563C1">
                    <a:alpha val="100000"/>
                  </a:srgbClr>
                </a:solidFill>
                <a:latin typeface="Arial" panose="020B0604020202020204" pitchFamily="34" charset="0"/>
                <a:ea typeface="黑体" panose="02010609060101010101" charset="-122"/>
                <a:cs typeface="Arial" panose="020B0604020202020204" pitchFamily="34" charset="0"/>
              </a:rPr>
              <a:t>•</a:t>
            </a:r>
            <a:r>
              <a:rPr sz="2800" kern="0" spc="220" dirty="0">
                <a:solidFill>
                  <a:srgbClr val="0563C1">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89"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硬件实现的原则</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algn="l" rtl="0" eaLnBrk="0">
              <a:lnSpc>
                <a:spcPct val="111000"/>
              </a:lnSpc>
            </a:pPr>
            <a:endParaRPr lang="en-US" altLang="en-US" sz="700" dirty="0">
              <a:latin typeface="Arial" panose="020B0604020202020204" pitchFamily="34" charset="0"/>
              <a:ea typeface="黑体" panose="02010609060101010101" charset="-122"/>
            </a:endParaRPr>
          </a:p>
          <a:p>
            <a:pPr marL="466725" algn="l" rtl="0" eaLnBrk="0">
              <a:lnSpc>
                <a:spcPct val="99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加密解密可用同样的器件来实现。</a:t>
            </a:r>
            <a:endParaRPr lang="en-US" altLang="en-US" sz="2400" dirty="0">
              <a:latin typeface="Arial" panose="020B0604020202020204" pitchFamily="34" charset="0"/>
              <a:ea typeface="黑体" panose="02010609060101010101" charset="-122"/>
            </a:endParaRPr>
          </a:p>
        </p:txBody>
      </p:sp>
      <p:sp>
        <p:nvSpPr>
          <p:cNvPr id="216" name="textbox 216"/>
          <p:cNvSpPr/>
          <p:nvPr/>
        </p:nvSpPr>
        <p:spPr>
          <a:xfrm>
            <a:off x="810260" y="-12700"/>
            <a:ext cx="11395075" cy="1153794"/>
          </a:xfrm>
          <a:prstGeom prst="rect">
            <a:avLst/>
          </a:prstGeom>
        </p:spPr>
        <p:txBody>
          <a:bodyPr vert="horz" wrap="square" lIns="0" tIns="0" rIns="0" bIns="0"/>
          <a:lstStyle/>
          <a:p>
            <a:pPr algn="l" rtl="0" eaLnBrk="0">
              <a:lnSpc>
                <a:spcPct val="149000"/>
              </a:lnSpc>
            </a:pPr>
            <a:endParaRPr lang="en-US" altLang="en-US" sz="1000" dirty="0">
              <a:latin typeface="Arial" panose="020B0604020202020204" pitchFamily="34" charset="0"/>
              <a:ea typeface="黑体" panose="02010609060101010101" charset="-122"/>
            </a:endParaRPr>
          </a:p>
          <a:p>
            <a:pPr algn="l" rtl="0" eaLnBrk="0">
              <a:lnSpc>
                <a:spcPct val="149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5"/>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134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8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分组密码的实现原则</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220" name="picture 220"/>
          <p:cNvPicPr>
            <a:picLocks noChangeAspect="1"/>
          </p:cNvPicPr>
          <p:nvPr/>
        </p:nvPicPr>
        <p:blipFill>
          <a:blip r:embed="rId1"/>
          <a:stretch>
            <a:fillRect/>
          </a:stretch>
        </p:blipFill>
        <p:spPr>
          <a:xfrm rot="21600000">
            <a:off x="822960" y="408431"/>
            <a:ext cx="420623" cy="655320"/>
          </a:xfrm>
          <a:prstGeom prst="rect">
            <a:avLst/>
          </a:prstGeom>
        </p:spPr>
      </p:pic>
      <p:sp>
        <p:nvSpPr>
          <p:cNvPr id="22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57015" y="2057400"/>
            <a:ext cx="5708903" cy="813816"/>
            <a:chOff x="0" y="0"/>
            <a:chExt cx="5708903" cy="813816"/>
          </a:xfrm>
        </p:grpSpPr>
        <p:pic>
          <p:nvPicPr>
            <p:cNvPr id="14" name="picture 14"/>
            <p:cNvPicPr>
              <a:picLocks noChangeAspect="1"/>
            </p:cNvPicPr>
            <p:nvPr/>
          </p:nvPicPr>
          <p:blipFill>
            <a:blip r:embed="rId1"/>
            <a:stretch>
              <a:fillRect/>
            </a:stretch>
          </p:blipFill>
          <p:spPr>
            <a:xfrm rot="21600000">
              <a:off x="0" y="0"/>
              <a:ext cx="5708903" cy="813816"/>
            </a:xfrm>
            <a:prstGeom prst="rect">
              <a:avLst/>
            </a:prstGeom>
          </p:spPr>
        </p:pic>
        <p:sp>
          <p:nvSpPr>
            <p:cNvPr id="16" name="textbox 16"/>
            <p:cNvSpPr/>
            <p:nvPr/>
          </p:nvSpPr>
          <p:spPr>
            <a:xfrm>
              <a:off x="-12700" y="-12700"/>
              <a:ext cx="5734684" cy="879475"/>
            </a:xfrm>
            <a:prstGeom prst="rect">
              <a:avLst/>
            </a:prstGeom>
          </p:spPr>
          <p:txBody>
            <a:bodyPr vert="horz" wrap="square" lIns="0" tIns="0" rIns="0" bIns="0"/>
            <a:lstStyle/>
            <a:p>
              <a:pPr algn="l" rtl="0" eaLnBrk="0">
                <a:lnSpc>
                  <a:spcPct val="168000"/>
                </a:lnSpc>
              </a:pPr>
              <a:endParaRPr lang="en-US" altLang="en-US" sz="1000" dirty="0">
                <a:latin typeface="Arial" panose="020B0604020202020204" pitchFamily="34" charset="0"/>
                <a:ea typeface="黑体" panose="02010609060101010101" charset="-122"/>
              </a:endParaRPr>
            </a:p>
            <a:p>
              <a:pPr marL="683895" algn="l" rtl="0" eaLnBrk="0">
                <a:lnSpc>
                  <a:spcPct val="94000"/>
                </a:lnSpc>
                <a:spcBef>
                  <a:spcPts val="5"/>
                </a:spcBef>
              </a:pPr>
              <a:r>
                <a:rPr sz="2400" kern="0" spc="-5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代换概述</a:t>
              </a:r>
              <a:endParaRPr lang="en-US" altLang="en-US" sz="2400" dirty="0">
                <a:latin typeface="Arial" panose="020B0604020202020204" pitchFamily="34" charset="0"/>
                <a:ea typeface="黑体" panose="02010609060101010101" charset="-122"/>
              </a:endParaRPr>
            </a:p>
          </p:txBody>
        </p:sp>
      </p:grpSp>
      <p:grpSp>
        <p:nvGrpSpPr>
          <p:cNvPr id="4" name="group 4"/>
          <p:cNvGrpSpPr/>
          <p:nvPr/>
        </p:nvGrpSpPr>
        <p:grpSpPr>
          <a:xfrm rot="21600000">
            <a:off x="3709415" y="3886200"/>
            <a:ext cx="5507736" cy="813816"/>
            <a:chOff x="0" y="0"/>
            <a:chExt cx="5507736" cy="813816"/>
          </a:xfrm>
        </p:grpSpPr>
        <p:pic>
          <p:nvPicPr>
            <p:cNvPr id="18" name="picture 18"/>
            <p:cNvPicPr>
              <a:picLocks noChangeAspect="1"/>
            </p:cNvPicPr>
            <p:nvPr/>
          </p:nvPicPr>
          <p:blipFill>
            <a:blip r:embed="rId2"/>
            <a:stretch>
              <a:fillRect/>
            </a:stretch>
          </p:blipFill>
          <p:spPr>
            <a:xfrm rot="21600000">
              <a:off x="0" y="0"/>
              <a:ext cx="5507736" cy="813816"/>
            </a:xfrm>
            <a:prstGeom prst="rect">
              <a:avLst/>
            </a:prstGeom>
          </p:spPr>
        </p:pic>
        <p:sp>
          <p:nvSpPr>
            <p:cNvPr id="20" name="textbox 20"/>
            <p:cNvSpPr/>
            <p:nvPr/>
          </p:nvSpPr>
          <p:spPr>
            <a:xfrm>
              <a:off x="-12700" y="-12700"/>
              <a:ext cx="5533390" cy="878205"/>
            </a:xfrm>
            <a:prstGeom prst="rect">
              <a:avLst/>
            </a:prstGeom>
          </p:spPr>
          <p:txBody>
            <a:bodyPr vert="horz" wrap="square" lIns="0" tIns="0" rIns="0" bIns="0"/>
            <a:lstStyle/>
            <a:p>
              <a:pPr algn="l" rtl="0" eaLnBrk="0">
                <a:lnSpc>
                  <a:spcPct val="168000"/>
                </a:lnSpc>
              </a:pPr>
              <a:endParaRPr lang="en-US" altLang="en-US" sz="1000" dirty="0">
                <a:latin typeface="Arial" panose="020B0604020202020204" pitchFamily="34" charset="0"/>
                <a:ea typeface="黑体" panose="02010609060101010101" charset="-122"/>
              </a:endParaRPr>
            </a:p>
            <a:p>
              <a:pPr marL="673735" algn="l" rtl="0" eaLnBrk="0">
                <a:lnSpc>
                  <a:spcPct val="94000"/>
                </a:lnSpc>
                <a:spcBef>
                  <a:spcPts val="5"/>
                </a:spcBef>
              </a:pPr>
              <a:r>
                <a:rPr sz="2400" b="1" kern="0" spc="-40" dirty="0">
                  <a:solidFill>
                    <a:srgbClr val="FFFFFF">
                      <a:alpha val="100000"/>
                    </a:srgbClr>
                  </a:solidFill>
                  <a:latin typeface="Arial" panose="020B0604020202020204" pitchFamily="34" charset="0"/>
                  <a:ea typeface="黑体" panose="02010609060101010101" charset="-122"/>
                  <a:cs typeface="Times New Roman" panose="02020603050405020304"/>
                </a:rPr>
                <a:t>SP</a:t>
              </a:r>
              <a:r>
                <a:rPr sz="2400" kern="0" spc="-4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网络</a:t>
              </a:r>
              <a:endParaRPr lang="en-US" altLang="en-US" sz="2400" dirty="0">
                <a:latin typeface="Arial" panose="020B0604020202020204" pitchFamily="34" charset="0"/>
                <a:ea typeface="黑体"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2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2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2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32" name="textbox 32"/>
          <p:cNvSpPr/>
          <p:nvPr/>
        </p:nvSpPr>
        <p:spPr>
          <a:xfrm>
            <a:off x="2745984" y="491245"/>
            <a:ext cx="3030220" cy="480694"/>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lang="en-US"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Feistal-</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SP</a:t>
            </a:r>
            <a:r>
              <a:rPr sz="3100" kern="0" spc="50" dirty="0">
                <a:solidFill>
                  <a:srgbClr val="1F4E79">
                    <a:alpha val="100000"/>
                  </a:srgbClr>
                </a:solidFill>
                <a:latin typeface="Arial" panose="020B0604020202020204" pitchFamily="34" charset="0"/>
                <a:ea typeface="黑体" panose="02010609060101010101" charset="-122"/>
                <a:cs typeface="仿宋" panose="02010609060101010101" charset="-122"/>
              </a:rPr>
              <a:t>网络</a:t>
            </a:r>
            <a:endParaRPr lang="en-US" altLang="en-US" sz="3100" dirty="0">
              <a:latin typeface="Arial" panose="020B0604020202020204" pitchFamily="34" charset="0"/>
              <a:ea typeface="黑体" panose="02010609060101010101" charset="-122"/>
            </a:endParaRPr>
          </a:p>
        </p:txBody>
      </p:sp>
      <p:pic>
        <p:nvPicPr>
          <p:cNvPr id="34" name="picture 34"/>
          <p:cNvPicPr>
            <a:picLocks noChangeAspect="1"/>
          </p:cNvPicPr>
          <p:nvPr/>
        </p:nvPicPr>
        <p:blipFill>
          <a:blip r:embed="rId3"/>
          <a:stretch>
            <a:fillRect/>
          </a:stretch>
        </p:blipFill>
        <p:spPr>
          <a:xfrm rot="21600000">
            <a:off x="11237976" y="24383"/>
            <a:ext cx="920495" cy="908304"/>
          </a:xfrm>
          <a:prstGeom prst="rect">
            <a:avLst/>
          </a:prstGeom>
        </p:spPr>
      </p:pic>
      <p:sp>
        <p:nvSpPr>
          <p:cNvPr id="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8" name="picture 38"/>
          <p:cNvPicPr>
            <a:picLocks noChangeAspect="1"/>
          </p:cNvPicPr>
          <p:nvPr/>
        </p:nvPicPr>
        <p:blipFill>
          <a:blip r:embed="rId4"/>
          <a:stretch>
            <a:fillRect/>
          </a:stretch>
        </p:blipFill>
        <p:spPr>
          <a:xfrm rot="21600000">
            <a:off x="822960" y="408431"/>
            <a:ext cx="420623" cy="655320"/>
          </a:xfrm>
          <a:prstGeom prst="rect">
            <a:avLst/>
          </a:prstGeom>
        </p:spPr>
      </p:pic>
      <p:sp>
        <p:nvSpPr>
          <p:cNvPr id="4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2"/>
          <p:cNvSpPr/>
          <p:nvPr/>
        </p:nvSpPr>
        <p:spPr>
          <a:xfrm>
            <a:off x="1243082" y="1262236"/>
            <a:ext cx="10022205" cy="3270250"/>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marL="473710" indent="-457200" algn="l" rtl="0" eaLnBrk="0" fontAlgn="auto">
              <a:lnSpc>
                <a:spcPct val="100000"/>
              </a:lnSpc>
              <a:spcBef>
                <a:spcPts val="600"/>
              </a:spcBef>
              <a:spcAft>
                <a:spcPts val="600"/>
              </a:spcAft>
              <a:buFont typeface="Arial" panose="020B0604020202020204" pitchFamily="34" charset="0"/>
              <a:buChar char="•"/>
            </a:pPr>
            <a:r>
              <a:rPr sz="2800" kern="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如果明文和密文的分组长都为</a:t>
            </a:r>
            <a:r>
              <a:rPr sz="2800" b="1" kern="0" dirty="0">
                <a:solidFill>
                  <a:srgbClr val="000000">
                    <a:alpha val="100000"/>
                  </a:srgbClr>
                </a:solidFill>
                <a:latin typeface="Arial" panose="020B0604020202020204" pitchFamily="34" charset="0"/>
                <a:ea typeface="黑体" panose="02010609060101010101" charset="-122"/>
                <a:cs typeface="黑体" panose="02010609060101010101" charset="-122"/>
              </a:rPr>
              <a:t>n</a:t>
            </a:r>
            <a:r>
              <a:rPr sz="2800" kern="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比特，则明文的每一个分组都有</a:t>
            </a:r>
            <a:r>
              <a:rPr sz="2800" b="1" kern="0" dirty="0">
                <a:solidFill>
                  <a:srgbClr val="000000">
                    <a:alpha val="100000"/>
                  </a:srgbClr>
                </a:solidFill>
                <a:latin typeface="Arial" panose="020B0604020202020204" pitchFamily="34" charset="0"/>
                <a:ea typeface="黑体" panose="02010609060101010101" charset="-122"/>
                <a:cs typeface="黑体" panose="02010609060101010101" charset="-122"/>
              </a:rPr>
              <a:t>2</a:t>
            </a:r>
            <a:r>
              <a:rPr sz="2800" b="1" kern="0" baseline="30000" dirty="0">
                <a:solidFill>
                  <a:srgbClr val="000000">
                    <a:alpha val="100000"/>
                  </a:srgbClr>
                </a:solidFill>
                <a:latin typeface="Arial" panose="020B0604020202020204" pitchFamily="34" charset="0"/>
                <a:ea typeface="黑体" panose="02010609060101010101" charset="-122"/>
                <a:cs typeface="黑体" panose="02010609060101010101" charset="-122"/>
              </a:rPr>
              <a:t>n</a:t>
            </a:r>
            <a:r>
              <a:rPr sz="1800" b="1" kern="0" dirty="0">
                <a:solidFill>
                  <a:srgbClr val="000000">
                    <a:alpha val="100000"/>
                  </a:srgbClr>
                </a:solidFill>
                <a:latin typeface="Arial" panose="020B0604020202020204" pitchFamily="34" charset="0"/>
                <a:ea typeface="黑体" panose="02010609060101010101" charset="-122"/>
                <a:cs typeface="黑体" panose="02010609060101010101" charset="-122"/>
              </a:rPr>
              <a:t> </a:t>
            </a:r>
            <a:r>
              <a:rPr sz="2800" kern="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个可能的取值。为使加密运算可逆（使解密运算可行），明文</a:t>
            </a:r>
            <a:r>
              <a:rPr sz="2800" kern="0" dirty="0">
                <a:solidFill>
                  <a:srgbClr val="000000">
                    <a:alpha val="100000"/>
                  </a:srgbClr>
                </a:solidFill>
                <a:latin typeface="Arial" panose="020B0604020202020204" pitchFamily="34" charset="0"/>
                <a:ea typeface="黑体" panose="02010609060101010101" charset="-122"/>
                <a:cs typeface="黑体" panose="02010609060101010101" charset="-122"/>
              </a:rPr>
              <a:t> </a:t>
            </a:r>
            <a:r>
              <a:rPr sz="2800" kern="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的每一个分组都应产生惟一的一个密文分组，这样的变换是可逆</a:t>
            </a:r>
            <a:r>
              <a:rPr sz="2800" kern="0" dirty="0">
                <a:solidFill>
                  <a:srgbClr val="000000">
                    <a:alpha val="100000"/>
                  </a:srgbClr>
                </a:solidFill>
                <a:latin typeface="Arial" panose="020B0604020202020204" pitchFamily="34" charset="0"/>
                <a:ea typeface="黑体" panose="02010609060101010101" charset="-122"/>
                <a:cs typeface="黑体" panose="02010609060101010101" charset="-122"/>
              </a:rPr>
              <a:t> </a:t>
            </a:r>
            <a:r>
              <a:rPr sz="2800" kern="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的，</a:t>
            </a:r>
            <a:r>
              <a:rPr sz="2800" kern="0" dirty="0">
                <a:solidFill>
                  <a:srgbClr val="000000">
                    <a:alpha val="100000"/>
                  </a:srgbClr>
                </a:solidFill>
                <a:latin typeface="Arial" panose="020B0604020202020204" pitchFamily="34" charset="0"/>
                <a:ea typeface="黑体" panose="02010609060101010101" charset="-122"/>
                <a:cs typeface="黑体" panose="02010609060101010101" charset="-122"/>
              </a:rPr>
              <a:t> </a:t>
            </a:r>
            <a:r>
              <a:rPr sz="2800" kern="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称明文分组到密文分组的</a:t>
            </a:r>
            <a:r>
              <a:rPr sz="2800" kern="0" dirty="0">
                <a:ln w="10189"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黑体" panose="02010609060101010101" charset="-122"/>
              </a:rPr>
              <a:t>可逆变换</a:t>
            </a:r>
            <a:r>
              <a:rPr sz="2800" kern="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为</a:t>
            </a:r>
            <a:r>
              <a:rPr sz="2800" kern="0" dirty="0">
                <a:ln w="10189"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黑体" panose="02010609060101010101" charset="-122"/>
              </a:rPr>
              <a:t>代换</a:t>
            </a:r>
            <a:r>
              <a:rPr sz="2800" kern="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a:t>
            </a:r>
            <a:endParaRPr sz="2800" kern="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endParaRPr>
          </a:p>
          <a:p>
            <a:pPr marL="473710" indent="-457200" algn="l" rtl="0" eaLnBrk="0" fontAlgn="auto">
              <a:lnSpc>
                <a:spcPct val="100000"/>
              </a:lnSpc>
              <a:spcBef>
                <a:spcPts val="600"/>
              </a:spcBef>
              <a:spcAft>
                <a:spcPts val="600"/>
              </a:spcAft>
              <a:buFont typeface="Arial" panose="020B0604020202020204" pitchFamily="34" charset="0"/>
              <a:buChar char="•"/>
            </a:pPr>
            <a:r>
              <a:rPr sz="2800" kern="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rPr>
              <a:t>可逆变换也被称为非奇异变换</a:t>
            </a:r>
            <a:endParaRPr sz="2800" kern="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黑体" panose="02010609060101010101" charset="-122"/>
            </a:endParaRPr>
          </a:p>
          <a:p>
            <a:pPr marL="473710" indent="-457200" algn="l" rtl="0" eaLnBrk="0" fontAlgn="auto">
              <a:lnSpc>
                <a:spcPct val="100000"/>
              </a:lnSpc>
              <a:spcBef>
                <a:spcPts val="600"/>
              </a:spcBef>
              <a:spcAft>
                <a:spcPts val="600"/>
              </a:spcAft>
              <a:buFont typeface="Arial" panose="020B0604020202020204" pitchFamily="34" charset="0"/>
              <a:buChar char="•"/>
            </a:pP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不同可逆变换的个数有</a:t>
            </a:r>
            <a:r>
              <a:rPr sz="2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800" b="1" kern="0" spc="-5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p:txBody>
      </p:sp>
      <p:sp>
        <p:nvSpPr>
          <p:cNvPr id="44" name="textbox 44"/>
          <p:cNvSpPr/>
          <p:nvPr/>
        </p:nvSpPr>
        <p:spPr>
          <a:xfrm>
            <a:off x="810260" y="-12700"/>
            <a:ext cx="11395075" cy="1155064"/>
          </a:xfrm>
          <a:prstGeom prst="rect">
            <a:avLst/>
          </a:prstGeom>
        </p:spPr>
        <p:txBody>
          <a:bodyPr vert="horz" wrap="square" lIns="0" tIns="0" rIns="0" bIns="0"/>
          <a:lstStyle/>
          <a:p>
            <a:pPr algn="l" rtl="0" eaLnBrk="0">
              <a:lnSpc>
                <a:spcPct val="119000"/>
              </a:lnSpc>
            </a:pPr>
            <a:endParaRPr lang="en-US" altLang="en-US" sz="10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56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5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代换的定义</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48" name="picture 48"/>
          <p:cNvPicPr>
            <a:picLocks noChangeAspect="1"/>
          </p:cNvPicPr>
          <p:nvPr/>
        </p:nvPicPr>
        <p:blipFill>
          <a:blip r:embed="rId1"/>
          <a:stretch>
            <a:fillRect/>
          </a:stretch>
        </p:blipFill>
        <p:spPr>
          <a:xfrm rot="21600000">
            <a:off x="822960" y="408431"/>
            <a:ext cx="420623" cy="655320"/>
          </a:xfrm>
          <a:prstGeom prst="rect">
            <a:avLst/>
          </a:prstGeom>
        </p:spPr>
      </p:pic>
      <p:sp>
        <p:nvSpPr>
          <p:cNvPr id="5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2"/>
          <p:cNvPicPr>
            <a:picLocks noChangeAspect="1"/>
          </p:cNvPicPr>
          <p:nvPr/>
        </p:nvPicPr>
        <p:blipFill>
          <a:blip r:embed="rId1"/>
          <a:stretch>
            <a:fillRect/>
          </a:stretch>
        </p:blipFill>
        <p:spPr>
          <a:xfrm rot="21600000">
            <a:off x="2386583" y="1466088"/>
            <a:ext cx="7391400" cy="4337303"/>
          </a:xfrm>
          <a:prstGeom prst="rect">
            <a:avLst/>
          </a:prstGeom>
        </p:spPr>
      </p:pic>
      <p:sp>
        <p:nvSpPr>
          <p:cNvPr id="56" name="textbox 56"/>
          <p:cNvSpPr/>
          <p:nvPr/>
        </p:nvSpPr>
        <p:spPr>
          <a:xfrm>
            <a:off x="1583893" y="501599"/>
            <a:ext cx="1820545" cy="544194"/>
          </a:xfrm>
          <a:prstGeom prst="rect">
            <a:avLst/>
          </a:prstGeom>
        </p:spPr>
        <p:txBody>
          <a:bodyPr vert="horz" wrap="square" lIns="0" tIns="0" rIns="0" bIns="0"/>
          <a:lstStyle/>
          <a:p>
            <a:pPr algn="l" rtl="0" eaLnBrk="0">
              <a:lnSpc>
                <a:spcPct val="67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3600" kern="0" spc="-70" dirty="0">
                <a:ln w="13063"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代换结构</a:t>
            </a:r>
            <a:endParaRPr lang="en-US" altLang="en-US" sz="3600" dirty="0">
              <a:latin typeface="Arial" panose="020B0604020202020204" pitchFamily="34" charset="0"/>
              <a:ea typeface="黑体" panose="02010609060101010101" charset="-122"/>
            </a:endParaRPr>
          </a:p>
        </p:txBody>
      </p:sp>
      <p:sp>
        <p:nvSpPr>
          <p:cNvPr id="5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60" name="picture 60"/>
          <p:cNvPicPr>
            <a:picLocks noChangeAspect="1"/>
          </p:cNvPicPr>
          <p:nvPr/>
        </p:nvPicPr>
        <p:blipFill>
          <a:blip r:embed="rId2"/>
          <a:stretch>
            <a:fillRect/>
          </a:stretch>
        </p:blipFill>
        <p:spPr>
          <a:xfrm rot="21600000">
            <a:off x="822960" y="408431"/>
            <a:ext cx="420623" cy="655320"/>
          </a:xfrm>
          <a:prstGeom prst="rect">
            <a:avLst/>
          </a:prstGeom>
        </p:spPr>
      </p:pic>
      <p:sp>
        <p:nvSpPr>
          <p:cNvPr id="62"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 name="table 64"/>
          <p:cNvGraphicFramePr>
            <a:graphicFrameLocks noGrp="1"/>
          </p:cNvGraphicFramePr>
          <p:nvPr/>
        </p:nvGraphicFramePr>
        <p:xfrm>
          <a:off x="1738312" y="1204912"/>
          <a:ext cx="4295775" cy="4922520"/>
        </p:xfrm>
        <a:graphic>
          <a:graphicData uri="http://schemas.openxmlformats.org/drawingml/2006/table">
            <a:tbl>
              <a:tblPr/>
              <a:tblGrid>
                <a:gridCol w="1079500"/>
                <a:gridCol w="1188720"/>
                <a:gridCol w="997585"/>
                <a:gridCol w="1029970"/>
              </a:tblGrid>
              <a:tr h="501650">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146050" algn="l" rtl="0" eaLnBrk="0">
                        <a:lnSpc>
                          <a:spcPct val="95000"/>
                        </a:lnSpc>
                        <a:spcBef>
                          <a:spcPts val="5"/>
                        </a:spcBef>
                      </a:pPr>
                      <a:r>
                        <a:rPr sz="24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明文</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316865" algn="l" rtl="0" eaLnBrk="0">
                        <a:lnSpc>
                          <a:spcPct val="96000"/>
                        </a:lnSpc>
                        <a:spcBef>
                          <a:spcPts val="5"/>
                        </a:spcBef>
                      </a:pP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密文</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133350" algn="l" rtl="0" eaLnBrk="0">
                        <a:lnSpc>
                          <a:spcPct val="95000"/>
                        </a:lnSpc>
                        <a:spcBef>
                          <a:spcPts val="5"/>
                        </a:spcBef>
                      </a:pPr>
                      <a:r>
                        <a:rPr sz="24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明文</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290830" algn="l" rtl="0" eaLnBrk="0">
                        <a:lnSpc>
                          <a:spcPct val="96000"/>
                        </a:lnSpc>
                        <a:spcBef>
                          <a:spcPts val="5"/>
                        </a:spcBef>
                      </a:pP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密文</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6565">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marL="11811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marL="39560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marL="125730"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marL="26987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439419">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37465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5730"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987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375285"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5730"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987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1011</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37465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0110</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5730"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987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9419">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39560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5730"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0111</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01000"/>
                        </a:lnSpc>
                      </a:pPr>
                      <a:endParaRPr lang="en-US" altLang="en-US" sz="700" dirty="0">
                        <a:latin typeface="Arial" panose="020B0604020202020204" pitchFamily="34" charset="0"/>
                        <a:ea typeface="黑体" panose="02010609060101010101" charset="-122"/>
                      </a:endParaRPr>
                    </a:p>
                    <a:p>
                      <a:pPr marL="396240" algn="l" rtl="0" eaLnBrk="0">
                        <a:lnSpc>
                          <a:spcPct val="81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5730"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37465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0010</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5730"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987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1330325">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11811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37465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700" dirty="0">
                        <a:latin typeface="Arial" panose="020B0604020202020204" pitchFamily="34" charset="0"/>
                        <a:ea typeface="黑体" panose="02010609060101010101" charset="-122"/>
                      </a:endParaRPr>
                    </a:p>
                    <a:p>
                      <a:pPr marL="125730" algn="l" rtl="0" eaLnBrk="0">
                        <a:lnSpc>
                          <a:spcPct val="81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r>
            </a:tbl>
          </a:graphicData>
        </a:graphic>
      </p:graphicFrame>
      <p:graphicFrame>
        <p:nvGraphicFramePr>
          <p:cNvPr id="66" name="table 66"/>
          <p:cNvGraphicFramePr>
            <a:graphicFrameLocks noGrp="1"/>
          </p:cNvGraphicFramePr>
          <p:nvPr/>
        </p:nvGraphicFramePr>
        <p:xfrm>
          <a:off x="6157912" y="1204912"/>
          <a:ext cx="4143375" cy="4904740"/>
        </p:xfrm>
        <a:graphic>
          <a:graphicData uri="http://schemas.openxmlformats.org/drawingml/2006/table">
            <a:tbl>
              <a:tblPr/>
              <a:tblGrid>
                <a:gridCol w="1012190"/>
                <a:gridCol w="1059815"/>
                <a:gridCol w="984250"/>
                <a:gridCol w="1087119"/>
              </a:tblGrid>
              <a:tr h="590550">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120015" algn="l" rtl="0" eaLnBrk="0">
                        <a:lnSpc>
                          <a:spcPct val="96000"/>
                        </a:lnSpc>
                        <a:spcBef>
                          <a:spcPts val="5"/>
                        </a:spcBef>
                      </a:pP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密文</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318135" algn="l" rtl="0" eaLnBrk="0">
                        <a:lnSpc>
                          <a:spcPct val="95000"/>
                        </a:lnSpc>
                        <a:spcBef>
                          <a:spcPts val="5"/>
                        </a:spcBef>
                      </a:pPr>
                      <a:r>
                        <a:rPr sz="24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明文</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106045" algn="l" rtl="0" eaLnBrk="0">
                        <a:lnSpc>
                          <a:spcPct val="96000"/>
                        </a:lnSpc>
                        <a:spcBef>
                          <a:spcPts val="5"/>
                        </a:spcBef>
                      </a:pP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密文</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600" dirty="0">
                        <a:latin typeface="Arial" panose="020B0604020202020204" pitchFamily="34" charset="0"/>
                        <a:ea typeface="黑体" panose="02010609060101010101" charset="-122"/>
                      </a:endParaRPr>
                    </a:p>
                    <a:p>
                      <a:pPr marL="234950" algn="l" rtl="0" eaLnBrk="0">
                        <a:lnSpc>
                          <a:spcPct val="95000"/>
                        </a:lnSpc>
                        <a:spcBef>
                          <a:spcPts val="5"/>
                        </a:spcBef>
                      </a:pPr>
                      <a:r>
                        <a:rPr sz="24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明文</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119380" algn="l" rtl="0" eaLnBrk="0">
                        <a:lnSpc>
                          <a:spcPct val="82000"/>
                        </a:lnSpc>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02000"/>
                        </a:lnSpc>
                      </a:pPr>
                      <a:endParaRPr lang="en-US" altLang="en-US" sz="8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269875" algn="l" rtl="0" eaLnBrk="0">
                        <a:lnSpc>
                          <a:spcPct val="81000"/>
                        </a:lnSpc>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126365" algn="l" rtl="0" eaLnBrk="0">
                        <a:lnSpc>
                          <a:spcPct val="82000"/>
                        </a:lnSpc>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3000"/>
                        </a:lnSpc>
                      </a:pPr>
                      <a:endParaRPr lang="en-US" altLang="en-US" sz="7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283845" algn="l" rtl="0" eaLnBrk="0">
                        <a:lnSpc>
                          <a:spcPct val="82000"/>
                        </a:lnSpc>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1001</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0010</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636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289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0110</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636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8384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9419">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636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8384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987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636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8384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8784">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2636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289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0000</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439419">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0110</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248920" algn="l" rtl="0" eaLnBrk="0">
                        <a:lnSpc>
                          <a:spcPct val="82000"/>
                        </a:lnSpc>
                        <a:spcBef>
                          <a:spcPts val="0"/>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0011</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12636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4000"/>
                        </a:lnSpc>
                      </a:pPr>
                      <a:endParaRPr lang="en-US" altLang="en-US" sz="600" dirty="0">
                        <a:latin typeface="Arial" panose="020B0604020202020204" pitchFamily="34" charset="0"/>
                        <a:ea typeface="黑体" panose="02010609060101010101" charset="-122"/>
                      </a:endParaRPr>
                    </a:p>
                    <a:p>
                      <a:pPr marL="283845" algn="l" rtl="0" eaLnBrk="0">
                        <a:lnSpc>
                          <a:spcPct val="82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1011</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a:noFill/>
                    </a:lnB>
                  </a:tcPr>
                </a:tc>
              </a:tr>
              <a:tr h="1223010">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11938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0111</a:t>
                      </a:r>
                      <a:endParaRPr lang="en-US" altLang="en-US" sz="2400" dirty="0">
                        <a:latin typeface="Arial" panose="020B0604020202020204" pitchFamily="34" charset="0"/>
                        <a:ea typeface="黑体" panose="02010609060101010101" charset="-122"/>
                      </a:endParaRPr>
                    </a:p>
                  </a:txBody>
                  <a:tcPr marL="0" marR="0" marT="0" marB="0" vert="horz">
                    <a:lnL w="28575"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9875" algn="l" rtl="0" eaLnBrk="0">
                        <a:lnSpc>
                          <a:spcPct val="82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1100</a:t>
                      </a:r>
                      <a:endParaRPr lang="en-US" altLang="en-US" sz="2400" dirty="0">
                        <a:latin typeface="Arial" panose="020B0604020202020204" pitchFamily="34" charset="0"/>
                        <a:ea typeface="黑体" panose="02010609060101010101" charset="-122"/>
                      </a:endParaRPr>
                    </a:p>
                  </a:txBody>
                  <a:tcPr marL="0" marR="0" marT="0" marB="0" vert="horz">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700" dirty="0">
                        <a:latin typeface="Arial" panose="020B0604020202020204" pitchFamily="34" charset="0"/>
                        <a:ea typeface="黑体" panose="02010609060101010101" charset="-122"/>
                      </a:endParaRPr>
                    </a:p>
                    <a:p>
                      <a:pPr marL="126365" algn="l" rtl="0" eaLnBrk="0">
                        <a:lnSpc>
                          <a:spcPct val="81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ahoma" panose="020B0604030504040204"/>
                        </a:rPr>
                        <a:t>1111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l" rtl="0" eaLnBrk="0">
                        <a:lnSpc>
                          <a:spcPct val="113000"/>
                        </a:lnSpc>
                      </a:pPr>
                      <a:endParaRPr lang="en-US" altLang="en-US" sz="600" dirty="0">
                        <a:latin typeface="Arial" panose="020B0604020202020204" pitchFamily="34" charset="0"/>
                        <a:ea typeface="黑体" panose="02010609060101010101" charset="-122"/>
                      </a:endParaRPr>
                    </a:p>
                    <a:p>
                      <a:pPr marL="262890" algn="l" rtl="0" eaLnBrk="0">
                        <a:lnSpc>
                          <a:spcPct val="820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Tahoma" panose="020B0604030504040204"/>
                        </a:rPr>
                        <a:t>0101</a:t>
                      </a:r>
                      <a:endParaRPr lang="en-US" altLang="en-US" sz="2400" dirty="0">
                        <a:latin typeface="Arial" panose="020B0604020202020204" pitchFamily="34" charset="0"/>
                        <a:ea typeface="黑体" panose="02010609060101010101" charset="-122"/>
                      </a:endParaRPr>
                    </a:p>
                  </a:txBody>
                  <a:tcPr marL="0" marR="0" marT="0" marB="0" vert="horz">
                    <a:lnL>
                      <a:noFill/>
                    </a:lnL>
                    <a:lnR w="28575"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r>
            </a:tbl>
          </a:graphicData>
        </a:graphic>
      </p:graphicFrame>
      <p:sp>
        <p:nvSpPr>
          <p:cNvPr id="68" name="textbox 68"/>
          <p:cNvSpPr/>
          <p:nvPr/>
        </p:nvSpPr>
        <p:spPr>
          <a:xfrm>
            <a:off x="810260" y="395731"/>
            <a:ext cx="1982470" cy="734059"/>
          </a:xfrm>
          <a:prstGeom prst="rect">
            <a:avLst/>
          </a:prstGeom>
        </p:spPr>
        <p:txBody>
          <a:bodyPr vert="horz" wrap="square" lIns="0" tIns="0" rIns="0" bIns="0"/>
          <a:lstStyle/>
          <a:p>
            <a:pPr algn="l" rtl="0" eaLnBrk="0">
              <a:lnSpc>
                <a:spcPct val="101000"/>
              </a:lnSpc>
            </a:pPr>
            <a:endParaRPr lang="en-US" altLang="en-US" sz="700" dirty="0">
              <a:latin typeface="Arial" panose="020B0604020202020204" pitchFamily="34" charset="0"/>
              <a:ea typeface="黑体" panose="02010609060101010101" charset="-122"/>
            </a:endParaRPr>
          </a:p>
          <a:p>
            <a:pPr marL="433070" algn="l" defTabSz="0" rtl="0" eaLnBrk="0">
              <a:lnSpc>
                <a:spcPct val="97000"/>
              </a:lnSpc>
              <a:spcBef>
                <a:spcPts val="5"/>
              </a:spcBef>
              <a:tabLst>
                <a:tab pos="78105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1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代换表</a:t>
            </a:r>
            <a:endParaRPr lang="en-US" altLang="en-US" sz="3100" dirty="0">
              <a:latin typeface="Arial" panose="020B0604020202020204" pitchFamily="34" charset="0"/>
              <a:ea typeface="黑体" panose="02010609060101010101" charset="-122"/>
            </a:endParaRPr>
          </a:p>
        </p:txBody>
      </p:sp>
      <p:pic>
        <p:nvPicPr>
          <p:cNvPr id="70" name="picture 70"/>
          <p:cNvPicPr>
            <a:picLocks noChangeAspect="1"/>
          </p:cNvPicPr>
          <p:nvPr/>
        </p:nvPicPr>
        <p:blipFill>
          <a:blip r:embed="rId1"/>
          <a:stretch>
            <a:fillRect/>
          </a:stretch>
        </p:blipFill>
        <p:spPr>
          <a:xfrm rot="21600000">
            <a:off x="822960" y="408431"/>
            <a:ext cx="420623" cy="655320"/>
          </a:xfrm>
          <a:prstGeom prst="rect">
            <a:avLst/>
          </a:prstGeom>
        </p:spPr>
      </p:pic>
      <p:sp>
        <p:nvSpPr>
          <p:cNvPr id="74" name="textbox 74"/>
          <p:cNvSpPr/>
          <p:nvPr/>
        </p:nvSpPr>
        <p:spPr>
          <a:xfrm>
            <a:off x="7850289" y="6397287"/>
            <a:ext cx="1241425" cy="372745"/>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2400" kern="0" spc="-1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宋体" panose="02010600030101010101" pitchFamily="2" charset="-122"/>
              </a:rPr>
              <a:t>反向代换</a:t>
            </a:r>
            <a:endParaRPr lang="en-US" altLang="en-US" sz="2400" dirty="0">
              <a:latin typeface="Arial" panose="020B0604020202020204" pitchFamily="34" charset="0"/>
              <a:ea typeface="黑体" panose="02010609060101010101" charset="-122"/>
            </a:endParaRPr>
          </a:p>
        </p:txBody>
      </p:sp>
      <p:sp>
        <p:nvSpPr>
          <p:cNvPr id="76" name="textbox 76"/>
          <p:cNvSpPr/>
          <p:nvPr/>
        </p:nvSpPr>
        <p:spPr>
          <a:xfrm>
            <a:off x="3358355" y="6397287"/>
            <a:ext cx="1236344" cy="372745"/>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2400" kern="0" spc="-2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宋体" panose="02010600030101010101" pitchFamily="2" charset="-122"/>
              </a:rPr>
              <a:t>正向代换</a:t>
            </a:r>
            <a:endParaRPr lang="en-US" altLang="en-US" sz="2400" dirty="0">
              <a:latin typeface="Arial" panose="020B0604020202020204" pitchFamily="34" charset="0"/>
              <a:ea typeface="黑体" panose="02010609060101010101" charset="-122"/>
            </a:endParaRPr>
          </a:p>
        </p:txBody>
      </p:sp>
      <p:sp>
        <p:nvSpPr>
          <p:cNvPr id="78"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sp>
        <p:nvSpPr>
          <p:cNvPr id="80"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2"/>
          <p:cNvSpPr/>
          <p:nvPr/>
        </p:nvSpPr>
        <p:spPr>
          <a:xfrm>
            <a:off x="1204836" y="1589533"/>
            <a:ext cx="10100309" cy="2735579"/>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469900" indent="-457200" algn="l" rtl="0" eaLnBrk="0">
              <a:lnSpc>
                <a:spcPct val="110000"/>
              </a:lnSpc>
              <a:buFont typeface="Arial" panose="020B0604020202020204" pitchFamily="34" charset="0"/>
              <a:buChar char="•"/>
            </a:pPr>
            <a:r>
              <a:rPr sz="3100" kern="0" spc="90" dirty="0">
                <a:ln w="1159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如果分组长度太小，如n</a:t>
            </a:r>
            <a:r>
              <a:rPr sz="3100" kern="0" spc="80" dirty="0">
                <a:ln w="1159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=4，系统则等价于古典的代换密</a:t>
            </a:r>
            <a:r>
              <a:rPr sz="3100" kern="0" spc="100" dirty="0">
                <a:ln w="1159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码，容易通过对明文的统计分析</a:t>
            </a:r>
            <a:r>
              <a:rPr sz="3100" kern="0" spc="90" dirty="0">
                <a:ln w="1159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而被攻破</a:t>
            </a:r>
            <a:endParaRPr sz="3100" kern="0" spc="90" dirty="0">
              <a:ln w="1159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endParaRPr>
          </a:p>
          <a:p>
            <a:pPr marL="927100" lvl="1" indent="-457200" algn="l" rtl="0" eaLnBrk="0">
              <a:lnSpc>
                <a:spcPct val="110000"/>
              </a:lnSpc>
              <a:buFont typeface="Arial" panose="020B0604020202020204" pitchFamily="34" charset="0"/>
              <a:buChar char="•"/>
            </a:pP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这个弱点不是代换结构固有的，</a:t>
            </a:r>
            <a:r>
              <a:rPr sz="28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只是因为分组长度太小</a:t>
            </a:r>
            <a:endPar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endParaRPr>
          </a:p>
          <a:p>
            <a:pPr marL="927100" lvl="1" indent="-457200" algn="l" rtl="0" eaLnBrk="0">
              <a:lnSpc>
                <a:spcPct val="110000"/>
              </a:lnSpc>
              <a:buFont typeface="Arial" panose="020B0604020202020204" pitchFamily="34" charset="0"/>
              <a:buChar char="•"/>
            </a:pP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如果分组长度n足够大，</a:t>
            </a:r>
            <a:r>
              <a:rPr sz="2800" kern="0" spc="3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6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而且从明文到密文可有任意可逆的代</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换，</a:t>
            </a:r>
            <a:r>
              <a:rPr sz="2800" kern="0" spc="-2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那么明文的统计特性</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将被隐藏而使以上的攻击不能奏效。</a:t>
            </a:r>
            <a:endParaRPr lang="en-US" altLang="en-US" sz="2800" dirty="0">
              <a:latin typeface="Arial" panose="020B0604020202020204" pitchFamily="34" charset="0"/>
              <a:ea typeface="黑体" panose="02010609060101010101" charset="-122"/>
            </a:endParaRPr>
          </a:p>
        </p:txBody>
      </p:sp>
      <p:sp>
        <p:nvSpPr>
          <p:cNvPr id="84" name="textbox 84"/>
          <p:cNvSpPr/>
          <p:nvPr/>
        </p:nvSpPr>
        <p:spPr>
          <a:xfrm>
            <a:off x="810260" y="-12700"/>
            <a:ext cx="11395075" cy="1155064"/>
          </a:xfrm>
          <a:prstGeom prst="rect">
            <a:avLst/>
          </a:prstGeom>
        </p:spPr>
        <p:txBody>
          <a:bodyPr vert="horz" wrap="square" lIns="0" tIns="0" rIns="0" bIns="0"/>
          <a:lstStyle/>
          <a:p>
            <a:pPr algn="l" rtl="0" eaLnBrk="0">
              <a:lnSpc>
                <a:spcPct val="119000"/>
              </a:lnSpc>
            </a:pPr>
            <a:endParaRPr lang="en-US" altLang="en-US" sz="10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56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5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代换的弱点</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88" name="picture 88"/>
          <p:cNvPicPr>
            <a:picLocks noChangeAspect="1"/>
          </p:cNvPicPr>
          <p:nvPr/>
        </p:nvPicPr>
        <p:blipFill>
          <a:blip r:embed="rId1"/>
          <a:stretch>
            <a:fillRect/>
          </a:stretch>
        </p:blipFill>
        <p:spPr>
          <a:xfrm rot="21600000">
            <a:off x="822960" y="408431"/>
            <a:ext cx="420623" cy="655320"/>
          </a:xfrm>
          <a:prstGeom prst="rect">
            <a:avLst/>
          </a:prstGeom>
        </p:spPr>
      </p:pic>
      <p:sp>
        <p:nvSpPr>
          <p:cNvPr id="9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92"/>
          <p:cNvSpPr/>
          <p:nvPr/>
        </p:nvSpPr>
        <p:spPr>
          <a:xfrm>
            <a:off x="1058446" y="1187313"/>
            <a:ext cx="10053319" cy="4483734"/>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8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从实现的角度来看</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lang="zh-CN"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采用</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分组长度很大的可逆代换结构</a:t>
            </a:r>
            <a:r>
              <a:rPr lang="zh-CN"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（即理想分组密码）</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是不实际的</a:t>
            </a:r>
            <a:endParaRPr lang="en-US" altLang="en-US" sz="2800" dirty="0">
              <a:latin typeface="Arial" panose="020B0604020202020204" pitchFamily="34" charset="0"/>
              <a:ea typeface="黑体" panose="02010609060101010101" charset="-122"/>
            </a:endParaRPr>
          </a:p>
          <a:p>
            <a:pPr marL="821055" indent="-354330" algn="l" rtl="0" eaLnBrk="0">
              <a:lnSpc>
                <a:spcPct val="112000"/>
              </a:lnSpc>
              <a:spcBef>
                <a:spcPts val="1060"/>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仍以4比特的代换表</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为例，该表定义了n=4时从明文到密文的一个可逆</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映射，其中第2列是每个明</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文分组对应的密文分组的值，可用来定义</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这个可逆映射。</a:t>
            </a:r>
            <a:endParaRPr lang="en-US" altLang="en-US" sz="2400" dirty="0">
              <a:latin typeface="Arial" panose="020B0604020202020204" pitchFamily="34" charset="0"/>
              <a:ea typeface="黑体" panose="02010609060101010101" charset="-122"/>
            </a:endParaRPr>
          </a:p>
          <a:p>
            <a:pPr marL="466725" algn="l" rtl="0" eaLnBrk="0">
              <a:lnSpc>
                <a:spcPct val="100000"/>
              </a:lnSpc>
              <a:spcBef>
                <a:spcPts val="1230"/>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从本质上来说，第2列是从所有可能映射中决定某一特定</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映射的密钥</a:t>
            </a:r>
            <a:endParaRPr lang="en-US" altLang="en-US" sz="2400" dirty="0">
              <a:latin typeface="Arial" panose="020B0604020202020204" pitchFamily="34" charset="0"/>
              <a:ea typeface="黑体" panose="02010609060101010101" charset="-122"/>
            </a:endParaRPr>
          </a:p>
          <a:p>
            <a:pPr marL="466725" algn="l" rtl="0" eaLnBrk="0">
              <a:lnSpc>
                <a:spcPct val="100000"/>
              </a:lnSpc>
              <a:spcBef>
                <a:spcPts val="1090"/>
              </a:spcBef>
            </a:pPr>
            <a:r>
              <a:rPr sz="24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1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密钥需要64比特</a:t>
            </a:r>
            <a:endParaRPr lang="en-US" altLang="en-US" sz="2400" dirty="0">
              <a:latin typeface="Arial" panose="020B0604020202020204" pitchFamily="34" charset="0"/>
              <a:ea typeface="黑体" panose="02010609060101010101" charset="-122"/>
            </a:endParaRPr>
          </a:p>
          <a:p>
            <a:pPr algn="l" rtl="0" eaLnBrk="0">
              <a:lnSpc>
                <a:spcPct val="105000"/>
              </a:lnSpc>
            </a:pPr>
            <a:endParaRPr lang="en-US" altLang="en-US" sz="1300" dirty="0">
              <a:latin typeface="Arial" panose="020B0604020202020204" pitchFamily="34" charset="0"/>
              <a:ea typeface="黑体" panose="02010609060101010101" charset="-122"/>
            </a:endParaRPr>
          </a:p>
          <a:p>
            <a:pPr marL="466090" indent="-453390" algn="l" rtl="0" eaLnBrk="0">
              <a:lnSpc>
                <a:spcPct val="112000"/>
              </a:lnSpc>
              <a:spcBef>
                <a:spcPts val="5"/>
              </a:spcBef>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一般地，对n比特的代换结构，密钥的大小是n×2</a:t>
            </a:r>
            <a:r>
              <a:rPr sz="2800" kern="0" spc="0" baseline="30000" dirty="0">
                <a:ln w="679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n</a:t>
            </a:r>
            <a:r>
              <a:rPr sz="1800" kern="0" spc="-3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比特。如对</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64比特的分组，密钥大小应是64×2</a:t>
            </a:r>
            <a:r>
              <a:rPr sz="2800" kern="0" spc="-20" baseline="28000" dirty="0">
                <a:ln w="679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64</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=2</a:t>
            </a:r>
            <a:r>
              <a:rPr sz="2800" kern="0" spc="-20" baseline="28000" dirty="0">
                <a:ln w="679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70</a:t>
            </a:r>
            <a:r>
              <a:rPr sz="1800" kern="0" spc="-5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≈10</a:t>
            </a:r>
            <a:r>
              <a:rPr sz="2800" kern="0" spc="-20" baseline="28000" dirty="0">
                <a:ln w="679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21</a:t>
            </a:r>
            <a:r>
              <a:rPr sz="1800" kern="0" spc="-4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比特，因此难</a:t>
            </a:r>
            <a:r>
              <a:rPr sz="2800" kern="0" spc="-8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以处理。</a:t>
            </a:r>
            <a:endParaRPr lang="en-US" altLang="en-US" sz="2800" dirty="0">
              <a:latin typeface="Arial" panose="020B0604020202020204" pitchFamily="34" charset="0"/>
              <a:ea typeface="黑体" panose="02010609060101010101" charset="-122"/>
            </a:endParaRPr>
          </a:p>
        </p:txBody>
      </p:sp>
      <p:sp>
        <p:nvSpPr>
          <p:cNvPr id="94" name="textbox 94"/>
          <p:cNvSpPr/>
          <p:nvPr/>
        </p:nvSpPr>
        <p:spPr>
          <a:xfrm>
            <a:off x="810260" y="-12700"/>
            <a:ext cx="11395075" cy="1155064"/>
          </a:xfrm>
          <a:prstGeom prst="rect">
            <a:avLst/>
          </a:prstGeom>
        </p:spPr>
        <p:txBody>
          <a:bodyPr vert="horz" wrap="square" lIns="0" tIns="0" rIns="0" bIns="0"/>
          <a:lstStyle/>
          <a:p>
            <a:pPr algn="l" rtl="0" eaLnBrk="0">
              <a:lnSpc>
                <a:spcPct val="119000"/>
              </a:lnSpc>
            </a:pPr>
            <a:endParaRPr lang="en-US" altLang="en-US" sz="10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algn="l" rtl="0" eaLnBrk="0">
              <a:lnSpc>
                <a:spcPct val="120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52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16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代换的弱点（续）</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98" name="picture 98"/>
          <p:cNvPicPr>
            <a:picLocks noChangeAspect="1"/>
          </p:cNvPicPr>
          <p:nvPr/>
        </p:nvPicPr>
        <p:blipFill>
          <a:blip r:embed="rId1"/>
          <a:stretch>
            <a:fillRect/>
          </a:stretch>
        </p:blipFill>
        <p:spPr>
          <a:xfrm rot="21600000">
            <a:off x="822960" y="408431"/>
            <a:ext cx="420623" cy="655320"/>
          </a:xfrm>
          <a:prstGeom prst="rect">
            <a:avLst/>
          </a:prstGeom>
        </p:spPr>
      </p:pic>
      <p:sp>
        <p:nvSpPr>
          <p:cNvPr id="10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box 130"/>
          <p:cNvSpPr/>
          <p:nvPr/>
        </p:nvSpPr>
        <p:spPr>
          <a:xfrm>
            <a:off x="940869" y="1319386"/>
            <a:ext cx="10607675" cy="3107054"/>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ct val="99000"/>
              </a:lnSpc>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在Shannon</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1949</a:t>
            </a:r>
            <a:r>
              <a:rPr sz="2800" kern="0" spc="38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的文章中，介绍了替代-置换网络的思想即SP网络</a:t>
            </a:r>
            <a:endParaRPr lang="en-US" altLang="en-US" sz="2800" dirty="0">
              <a:latin typeface="Arial" panose="020B0604020202020204" pitchFamily="34" charset="0"/>
              <a:ea typeface="黑体" panose="02010609060101010101" charset="-122"/>
            </a:endParaRPr>
          </a:p>
          <a:p>
            <a:pPr marL="466725" algn="l" rtl="0" eaLnBrk="0">
              <a:lnSpc>
                <a:spcPct val="99000"/>
              </a:lnSpc>
              <a:spcBef>
                <a:spcPts val="1140"/>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这种思想形成了现代密码的</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基础</a:t>
            </a:r>
            <a:endParaRPr lang="en-US" altLang="en-US" sz="2400" dirty="0">
              <a:latin typeface="Arial" panose="020B0604020202020204" pitchFamily="34" charset="0"/>
              <a:ea typeface="黑体" panose="02010609060101010101" charset="-122"/>
            </a:endParaRPr>
          </a:p>
          <a:p>
            <a:pPr marL="466725" algn="l" rtl="0" eaLnBrk="0">
              <a:lnSpc>
                <a:spcPct val="100000"/>
              </a:lnSpc>
              <a:spcBef>
                <a:spcPts val="109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SP网络是替代-置换乘积密码的现代形式</a:t>
            </a:r>
            <a:endParaRPr lang="en-US" altLang="en-US" sz="2400" dirty="0">
              <a:latin typeface="Arial" panose="020B0604020202020204" pitchFamily="34" charset="0"/>
              <a:ea typeface="黑体" panose="02010609060101010101" charset="-122"/>
            </a:endParaRPr>
          </a:p>
          <a:p>
            <a:pPr marL="12700" algn="l" rtl="0" eaLnBrk="0">
              <a:lnSpc>
                <a:spcPct val="100000"/>
              </a:lnSpc>
              <a:spcBef>
                <a:spcPts val="1640"/>
              </a:spcBef>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SP</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网络是基于下列两种最基</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本的密码运算：</a:t>
            </a:r>
            <a:endParaRPr lang="en-US" altLang="en-US" sz="2800" dirty="0">
              <a:latin typeface="Arial" panose="020B0604020202020204" pitchFamily="34" charset="0"/>
              <a:ea typeface="黑体" panose="02010609060101010101" charset="-122"/>
            </a:endParaRPr>
          </a:p>
          <a:p>
            <a:pPr marL="466725" algn="l" rtl="0" eaLnBrk="0">
              <a:lnSpc>
                <a:spcPct val="100000"/>
              </a:lnSpc>
              <a:spcBef>
                <a:spcPts val="1120"/>
              </a:spcBef>
            </a:pPr>
            <a:r>
              <a:rPr sz="24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代</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sym typeface="+mn-ea"/>
              </a:rPr>
              <a:t>替</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4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Substitution</a:t>
            </a:r>
            <a:r>
              <a:rPr sz="24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11000"/>
              </a:lnSpc>
            </a:pPr>
            <a:endParaRPr lang="en-US" altLang="en-US" sz="800" dirty="0">
              <a:latin typeface="Arial" panose="020B0604020202020204" pitchFamily="34" charset="0"/>
              <a:ea typeface="黑体" panose="02010609060101010101" charset="-122"/>
            </a:endParaRPr>
          </a:p>
          <a:p>
            <a:pPr marL="466725" algn="l" rtl="0" eaLnBrk="0">
              <a:lnSpc>
                <a:spcPts val="2900"/>
              </a:lnSpc>
              <a:spcBef>
                <a:spcPts val="5"/>
              </a:spcBef>
            </a:pPr>
            <a:r>
              <a:rPr sz="24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置换（</a:t>
            </a:r>
            <a:r>
              <a:rPr sz="2400" kern="0" spc="4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Permutation</a:t>
            </a:r>
            <a:r>
              <a:rPr sz="24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p:txBody>
      </p:sp>
      <p:sp>
        <p:nvSpPr>
          <p:cNvPr id="132" name="textbox 132"/>
          <p:cNvSpPr/>
          <p:nvPr/>
        </p:nvSpPr>
        <p:spPr>
          <a:xfrm>
            <a:off x="1560383" y="521725"/>
            <a:ext cx="8957944" cy="493394"/>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defTabSz="0" rtl="0" eaLnBrk="0">
              <a:lnSpc>
                <a:spcPct val="96000"/>
              </a:lnSpc>
              <a:tabLst>
                <a:tab pos="8943975" algn="l"/>
              </a:tabLst>
            </a:pPr>
            <a:r>
              <a:rPr lang="en-US" sz="3100" u="sng" kern="0" spc="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Feistel</a:t>
            </a:r>
            <a:r>
              <a:rPr lang="zh-CN" altLang="en-US" sz="3100" u="sng" kern="0" spc="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密码</a:t>
            </a:r>
            <a:r>
              <a:rPr lang="en-US" altLang="zh-CN" sz="3100" u="sng" kern="0" spc="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a:t>
            </a:r>
            <a:r>
              <a:rPr sz="3100" u="sng" kern="0" spc="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SP</a:t>
            </a:r>
            <a:r>
              <a:rPr sz="3100" u="sng" kern="0" spc="9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网络</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sp>
        <p:nvSpPr>
          <p:cNvPr id="1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38" name="picture 138"/>
          <p:cNvPicPr>
            <a:picLocks noChangeAspect="1"/>
          </p:cNvPicPr>
          <p:nvPr/>
        </p:nvPicPr>
        <p:blipFill>
          <a:blip r:embed="rId1"/>
          <a:stretch>
            <a:fillRect/>
          </a:stretch>
        </p:blipFill>
        <p:spPr>
          <a:xfrm rot="21600000">
            <a:off x="822960" y="408431"/>
            <a:ext cx="420623" cy="6553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box 140"/>
          <p:cNvSpPr/>
          <p:nvPr/>
        </p:nvSpPr>
        <p:spPr>
          <a:xfrm>
            <a:off x="1164745" y="1312909"/>
            <a:ext cx="9961880" cy="4401184"/>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89000"/>
              </a:lnSpc>
            </a:pPr>
            <a:r>
              <a:rPr sz="2800" kern="0" spc="-20" dirty="0">
                <a:solidFill>
                  <a:srgbClr val="FF3300">
                    <a:alpha val="100000"/>
                  </a:srgbClr>
                </a:solidFill>
                <a:latin typeface="Arial" panose="020B0604020202020204" pitchFamily="34" charset="0"/>
                <a:ea typeface="黑体" panose="02010609060101010101" charset="-122"/>
                <a:cs typeface="Arial" panose="020B0604020202020204" pitchFamily="34" charset="0"/>
              </a:rPr>
              <a:t>•</a:t>
            </a:r>
            <a:r>
              <a:rPr sz="2800" kern="0" spc="310" dirty="0">
                <a:solidFill>
                  <a:srgbClr val="FF33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97" cap="flat" cmpd="sng">
                  <a:solidFill>
                    <a:srgbClr val="FF3300">
                      <a:alpha val="100000"/>
                    </a:srgbClr>
                  </a:solidFill>
                  <a:prstDash val="solid"/>
                  <a:miter lim="10"/>
                </a:ln>
                <a:solidFill>
                  <a:srgbClr val="FF3300">
                    <a:alpha val="100000"/>
                  </a:srgbClr>
                </a:solidFill>
                <a:latin typeface="Arial" panose="020B0604020202020204" pitchFamily="34" charset="0"/>
                <a:ea typeface="黑体" panose="02010609060101010101" charset="-122"/>
                <a:cs typeface="仿宋" panose="02010609060101010101" charset="-122"/>
              </a:rPr>
              <a:t>代换</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是输入集</a:t>
            </a:r>
            <a:r>
              <a:rPr sz="28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到输出</a:t>
            </a:r>
            <a:r>
              <a:rPr sz="28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上的双射变换：</a:t>
            </a:r>
            <a:endParaRPr lang="en-US" altLang="en-US" sz="2800" dirty="0">
              <a:latin typeface="Arial" panose="020B0604020202020204" pitchFamily="34" charset="0"/>
              <a:ea typeface="黑体" panose="02010609060101010101" charset="-122"/>
            </a:endParaRPr>
          </a:p>
          <a:p>
            <a:pPr marL="1894205" algn="l" rtl="0" eaLnBrk="0">
              <a:lnSpc>
                <a:spcPts val="5120"/>
              </a:lnSpc>
            </a:pP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800" b="1" kern="0" spc="0" baseline="-25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kern="0" spc="3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2800" b="1"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2800" b="1" i="1" kern="0" spc="5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3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marL="25400" algn="l" rtl="0" eaLnBrk="0">
              <a:lnSpc>
                <a:spcPct val="100000"/>
              </a:lnSpc>
              <a:spcBef>
                <a:spcPts val="1125"/>
              </a:spcBef>
            </a:pPr>
            <a:r>
              <a:rPr sz="2800" kern="0" spc="-1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式中，</a:t>
            </a:r>
            <a:r>
              <a:rPr sz="2800" b="1"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kern="0" spc="-1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是控制输入变</a:t>
            </a:r>
            <a:r>
              <a:rPr sz="2800" kern="0" spc="-1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量，</a:t>
            </a:r>
            <a:r>
              <a:rPr sz="2800" kern="0" spc="2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在密码学中则为密钥。</a:t>
            </a:r>
            <a:endParaRPr lang="en-US" altLang="en-US" sz="2800" dirty="0">
              <a:latin typeface="Arial" panose="020B0604020202020204" pitchFamily="34" charset="0"/>
              <a:ea typeface="黑体" panose="02010609060101010101" charset="-122"/>
            </a:endParaRPr>
          </a:p>
          <a:p>
            <a:pPr marL="12700" algn="l" rtl="0" eaLnBrk="0">
              <a:lnSpc>
                <a:spcPts val="3490"/>
              </a:lnSpc>
              <a:spcBef>
                <a:spcPts val="1295"/>
              </a:spcBef>
            </a:pPr>
            <a:r>
              <a:rPr sz="28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实现代换</a:t>
            </a:r>
            <a:r>
              <a:rPr sz="2800" b="1" i="1" kern="0" spc="-3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800" b="1" kern="0" spc="-3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800" b="1"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的网络称作</a:t>
            </a:r>
            <a:r>
              <a:rPr sz="2800" kern="0" spc="-30" dirty="0">
                <a:ln w="10189"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仿宋" panose="02010609060101010101" charset="-122"/>
              </a:rPr>
              <a:t>代换网络</a:t>
            </a:r>
            <a:endParaRPr lang="en-US" altLang="en-US" sz="2800" dirty="0">
              <a:latin typeface="Arial" panose="020B0604020202020204" pitchFamily="34" charset="0"/>
              <a:ea typeface="黑体" panose="02010609060101010101" charset="-122"/>
            </a:endParaRPr>
          </a:p>
          <a:p>
            <a:pPr marL="466725" algn="l" rtl="0" eaLnBrk="0">
              <a:lnSpc>
                <a:spcPct val="99000"/>
              </a:lnSpc>
              <a:spcBef>
                <a:spcPts val="1070"/>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双射条件保证在给定</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下可从密文惟一地恢复出原明文</a:t>
            </a:r>
            <a:endParaRPr lang="en-US" altLang="en-US" sz="2400" dirty="0">
              <a:latin typeface="Arial" panose="020B0604020202020204" pitchFamily="34" charset="0"/>
              <a:ea typeface="黑体" panose="02010609060101010101" charset="-122"/>
            </a:endParaRPr>
          </a:p>
          <a:p>
            <a:pPr marL="12700" algn="l" rtl="0" eaLnBrk="0">
              <a:lnSpc>
                <a:spcPts val="3490"/>
              </a:lnSpc>
              <a:spcBef>
                <a:spcPts val="1285"/>
              </a:spcBef>
            </a:pPr>
            <a:r>
              <a:rPr sz="2800" kern="0" spc="-1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代换</a:t>
            </a:r>
            <a:r>
              <a:rPr sz="2800" b="1" i="1" kern="0" spc="-15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800" b="1" kern="0" spc="-15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800" b="1"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的集合：</a:t>
            </a:r>
            <a:r>
              <a:rPr sz="2800" kern="0" spc="2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b="1" i="1" kern="0" spc="-15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800" b="1" kern="0" spc="-1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800" b="1" i="1" kern="0" spc="-15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800" b="1" kern="0" spc="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800" b="1"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kern="0" spc="27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Symbol" panose="05050102010706020507"/>
              </a:rPr>
              <a:t>=</a:t>
            </a:r>
            <a:r>
              <a:rPr sz="2800" b="1" i="1" kern="0" spc="27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kern="0" spc="27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800" dirty="0">
              <a:latin typeface="Arial" panose="020B0604020202020204" pitchFamily="34" charset="0"/>
              <a:ea typeface="黑体" panose="02010609060101010101" charset="-122"/>
            </a:endParaRPr>
          </a:p>
          <a:p>
            <a:pPr marL="12700" algn="l" rtl="0" eaLnBrk="0">
              <a:lnSpc>
                <a:spcPct val="100000"/>
              </a:lnSpc>
              <a:spcBef>
                <a:spcPts val="1145"/>
              </a:spcBef>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如果网络可以实现所有可能的</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800" b="1" kern="0" spc="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个代换，则称其为</a:t>
            </a:r>
            <a:r>
              <a:rPr sz="2800" kern="0" spc="0" dirty="0">
                <a:ln w="10197"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仿宋" panose="02010609060101010101" charset="-122"/>
              </a:rPr>
              <a:t>全代换网络</a:t>
            </a:r>
            <a:endParaRPr lang="en-US" altLang="en-US" sz="2800" dirty="0">
              <a:latin typeface="Arial" panose="020B0604020202020204" pitchFamily="34" charset="0"/>
              <a:ea typeface="黑体" panose="02010609060101010101" charset="-122"/>
            </a:endParaRPr>
          </a:p>
          <a:p>
            <a:pPr algn="l" rtl="0" eaLnBrk="0">
              <a:lnSpc>
                <a:spcPct val="109000"/>
              </a:lnSpc>
            </a:pPr>
            <a:endParaRPr lang="en-US" altLang="en-US" sz="900" dirty="0">
              <a:latin typeface="Arial" panose="020B0604020202020204" pitchFamily="34" charset="0"/>
              <a:ea typeface="黑体" panose="02010609060101010101" charset="-122"/>
            </a:endParaRPr>
          </a:p>
          <a:p>
            <a:pPr marL="466725" algn="l" rtl="0" eaLnBrk="0">
              <a:lnSpc>
                <a:spcPct val="93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全代换网络密钥个数必须满足条件</a:t>
            </a:r>
            <a:r>
              <a:rPr sz="2400" kern="0" spc="-2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3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2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lang="en-US"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2</a:t>
            </a:r>
            <a:r>
              <a:rPr sz="2400" b="1" kern="0" spc="-2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400" dirty="0">
              <a:latin typeface="Arial" panose="020B0604020202020204" pitchFamily="34" charset="0"/>
              <a:ea typeface="黑体" panose="02010609060101010101" charset="-122"/>
            </a:endParaRPr>
          </a:p>
        </p:txBody>
      </p:sp>
      <p:pic>
        <p:nvPicPr>
          <p:cNvPr id="142" name="picture 142"/>
          <p:cNvPicPr>
            <a:picLocks noChangeAspect="1"/>
          </p:cNvPicPr>
          <p:nvPr/>
        </p:nvPicPr>
        <p:blipFill>
          <a:blip r:embed="rId1"/>
          <a:stretch>
            <a:fillRect/>
          </a:stretch>
        </p:blipFill>
        <p:spPr>
          <a:xfrm rot="21600000">
            <a:off x="7493437" y="5837876"/>
            <a:ext cx="150110" cy="277340"/>
          </a:xfrm>
          <a:prstGeom prst="rect">
            <a:avLst/>
          </a:prstGeom>
        </p:spPr>
      </p:pic>
      <p:pic>
        <p:nvPicPr>
          <p:cNvPr id="144" name="picture 144"/>
          <p:cNvPicPr>
            <a:picLocks noChangeAspect="1"/>
          </p:cNvPicPr>
          <p:nvPr/>
        </p:nvPicPr>
        <p:blipFill>
          <a:blip r:embed="rId2"/>
          <a:stretch>
            <a:fillRect/>
          </a:stretch>
        </p:blipFill>
        <p:spPr>
          <a:xfrm rot="21600000">
            <a:off x="3952188" y="1973375"/>
            <a:ext cx="325868" cy="324441"/>
          </a:xfrm>
          <a:prstGeom prst="rect">
            <a:avLst/>
          </a:prstGeom>
        </p:spPr>
      </p:pic>
      <p:sp>
        <p:nvSpPr>
          <p:cNvPr id="146" name="textbox 146"/>
          <p:cNvSpPr/>
          <p:nvPr/>
        </p:nvSpPr>
        <p:spPr>
          <a:xfrm>
            <a:off x="810260" y="-12700"/>
            <a:ext cx="11395075" cy="1151889"/>
          </a:xfrm>
          <a:prstGeom prst="rect">
            <a:avLst/>
          </a:prstGeom>
        </p:spPr>
        <p:txBody>
          <a:bodyPr vert="horz" wrap="square" lIns="0" tIns="0" rIns="0" bIns="0"/>
          <a:lstStyle/>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54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3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代换</a:t>
            </a:r>
            <a:r>
              <a:rPr lang="en-US" sz="3100" u="sng" kern="0" spc="3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SP</a:t>
            </a:r>
            <a:r>
              <a:rPr sz="3100" u="sng" kern="0" spc="3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网络</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50" name="picture 150"/>
          <p:cNvPicPr>
            <a:picLocks noChangeAspect="1"/>
          </p:cNvPicPr>
          <p:nvPr/>
        </p:nvPicPr>
        <p:blipFill>
          <a:blip r:embed="rId3"/>
          <a:stretch>
            <a:fillRect/>
          </a:stretch>
        </p:blipFill>
        <p:spPr>
          <a:xfrm rot="21600000">
            <a:off x="822960" y="408431"/>
            <a:ext cx="420623" cy="655320"/>
          </a:xfrm>
          <a:prstGeom prst="rect">
            <a:avLst/>
          </a:prstGeom>
        </p:spPr>
      </p:pic>
      <p:sp>
        <p:nvSpPr>
          <p:cNvPr id="152"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extbox 154"/>
          <p:cNvSpPr/>
          <p:nvPr/>
        </p:nvSpPr>
        <p:spPr>
          <a:xfrm>
            <a:off x="914834" y="1405111"/>
            <a:ext cx="10342244" cy="3421379"/>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251460" indent="-238760" algn="l" rtl="0" eaLnBrk="0">
              <a:lnSpc>
                <a:spcPct val="114000"/>
              </a:lnSpc>
            </a:pPr>
            <a:r>
              <a:rPr sz="2800" kern="0" spc="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密码设计中需要先定义代换</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集</a:t>
            </a:r>
            <a:r>
              <a:rPr sz="28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800" b="1" i="1" kern="0" spc="-3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，而后还需定义解密变换集，即</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逆代换网络</a:t>
            </a:r>
            <a:r>
              <a:rPr sz="28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800" b="1" kern="0" spc="6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，它以密文</a:t>
            </a:r>
            <a:r>
              <a:rPr sz="28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作为输入矢量</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，其输出为恢复的明文</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矢量</a:t>
            </a:r>
            <a:r>
              <a:rPr sz="28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algn="l" rtl="0" eaLnBrk="0">
              <a:lnSpc>
                <a:spcPct val="116000"/>
              </a:lnSpc>
            </a:pPr>
            <a:endParaRPr lang="en-US" altLang="en-US" sz="1000" dirty="0">
              <a:latin typeface="Arial" panose="020B0604020202020204" pitchFamily="34" charset="0"/>
              <a:ea typeface="黑体" panose="02010609060101010101" charset="-122"/>
            </a:endParaRPr>
          </a:p>
          <a:p>
            <a:pPr marL="247015" indent="-234315" algn="l" rtl="0" eaLnBrk="0">
              <a:lnSpc>
                <a:spcPct val="107000"/>
              </a:lnSpc>
              <a:spcBef>
                <a:spcPts val="840"/>
              </a:spcBef>
            </a:pPr>
            <a:r>
              <a:rPr sz="28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要实现全代换网络并不容易</a:t>
            </a:r>
            <a:r>
              <a:rPr sz="2800" kern="0" spc="2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。因此实用中常常利用一些简单的基</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本代换，通过组合实现较复杂的、</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元素个数较多的代换集。</a:t>
            </a:r>
            <a:endParaRPr lang="en-US" altLang="en-US" sz="2800" dirty="0">
              <a:latin typeface="Arial" panose="020B0604020202020204" pitchFamily="34" charset="0"/>
              <a:ea typeface="黑体" panose="02010609060101010101" charset="-122"/>
            </a:endParaRPr>
          </a:p>
          <a:p>
            <a:pPr algn="l" rtl="0" eaLnBrk="0">
              <a:lnSpc>
                <a:spcPct val="135000"/>
              </a:lnSpc>
            </a:pPr>
            <a:endParaRPr lang="en-US" altLang="en-US" sz="1000" dirty="0">
              <a:latin typeface="Arial" panose="020B0604020202020204" pitchFamily="34" charset="0"/>
              <a:ea typeface="黑体" panose="02010609060101010101" charset="-122"/>
            </a:endParaRPr>
          </a:p>
          <a:p>
            <a:pPr algn="l" rtl="0" eaLnBrk="0">
              <a:lnSpc>
                <a:spcPct val="101000"/>
              </a:lnSpc>
            </a:pPr>
            <a:endParaRPr lang="en-US" altLang="en-US" sz="700" dirty="0">
              <a:latin typeface="Arial" panose="020B0604020202020204" pitchFamily="34" charset="0"/>
              <a:ea typeface="黑体" panose="02010609060101010101" charset="-122"/>
            </a:endParaRPr>
          </a:p>
          <a:p>
            <a:pPr marL="12700" algn="l" rtl="0" eaLnBrk="0">
              <a:lnSpc>
                <a:spcPct val="100000"/>
              </a:lnSpc>
              <a:spcBef>
                <a:spcPts val="0"/>
              </a:spcBef>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实用密码体制的集合</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中的元素个数都远</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小于</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800" b="1" kern="0" spc="-1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p:txBody>
      </p:sp>
      <p:sp>
        <p:nvSpPr>
          <p:cNvPr id="156" name="textbox 156"/>
          <p:cNvSpPr/>
          <p:nvPr/>
        </p:nvSpPr>
        <p:spPr>
          <a:xfrm>
            <a:off x="810260" y="-12700"/>
            <a:ext cx="11395075" cy="115188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54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3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代换网络</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60" name="picture 160"/>
          <p:cNvPicPr>
            <a:picLocks noChangeAspect="1"/>
          </p:cNvPicPr>
          <p:nvPr/>
        </p:nvPicPr>
        <p:blipFill>
          <a:blip r:embed="rId1"/>
          <a:stretch>
            <a:fillRect/>
          </a:stretch>
        </p:blipFill>
        <p:spPr>
          <a:xfrm rot="21600000">
            <a:off x="822960" y="408431"/>
            <a:ext cx="420623" cy="655320"/>
          </a:xfrm>
          <a:prstGeom prst="rect">
            <a:avLst/>
          </a:prstGeom>
        </p:spPr>
      </p:pic>
      <p:sp>
        <p:nvSpPr>
          <p:cNvPr id="16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box 164"/>
          <p:cNvSpPr/>
          <p:nvPr/>
        </p:nvSpPr>
        <p:spPr>
          <a:xfrm>
            <a:off x="1092094" y="1257410"/>
            <a:ext cx="10490200" cy="1203325"/>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67310" indent="-54610" algn="l" rtl="0" eaLnBrk="0">
              <a:lnSpc>
                <a:spcPct val="92000"/>
              </a:lnSpc>
            </a:pP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在密码设计中，可选</a:t>
            </a:r>
            <a:r>
              <a:rPr sz="28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8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Symbol" panose="05050102010706020507"/>
              </a:rPr>
              <a:t>.</a:t>
            </a:r>
            <a:r>
              <a:rPr sz="28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6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，其中</a:t>
            </a:r>
            <a:r>
              <a:rPr sz="28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8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5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1800" b="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都为正整数，将设计</a:t>
            </a:r>
            <a:r>
              <a:rPr sz="28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个变</a:t>
            </a:r>
            <a:r>
              <a:rPr sz="2800" kern="0" spc="8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量的代换网络化为设计</a:t>
            </a:r>
            <a:r>
              <a:rPr sz="28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2800" kern="0" spc="8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个较小的子代换网络，而每</a:t>
            </a:r>
            <a:r>
              <a:rPr sz="2800" kern="0" spc="7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个子代换网络</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只有</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1800" b="1" kern="0" spc="-2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个输入变量。称每个子代换网络为代换盒</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(Substi</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tution Box)</a:t>
            </a:r>
            <a:endParaRPr lang="en-US" altLang="en-US" sz="2800" dirty="0">
              <a:latin typeface="Arial" panose="020B0604020202020204" pitchFamily="34" charset="0"/>
              <a:ea typeface="黑体" panose="02010609060101010101" charset="-122"/>
            </a:endParaRPr>
          </a:p>
        </p:txBody>
      </p:sp>
      <p:graphicFrame>
        <p:nvGraphicFramePr>
          <p:cNvPr id="166" name="table 166"/>
          <p:cNvGraphicFramePr>
            <a:graphicFrameLocks noGrp="1"/>
          </p:cNvGraphicFramePr>
          <p:nvPr/>
        </p:nvGraphicFramePr>
        <p:xfrm>
          <a:off x="4047744" y="4443983"/>
          <a:ext cx="3519804" cy="642620"/>
        </p:xfrm>
        <a:graphic>
          <a:graphicData uri="http://schemas.openxmlformats.org/drawingml/2006/table">
            <a:tbl>
              <a:tblPr/>
              <a:tblGrid>
                <a:gridCol w="3519804"/>
              </a:tblGrid>
              <a:tr h="604520">
                <a:tc>
                  <a:txBody>
                    <a:bodyPr/>
                    <a:lstStyle/>
                    <a:p>
                      <a:pPr algn="l" rtl="0" eaLnBrk="0">
                        <a:lnSpc>
                          <a:spcPct val="102000"/>
                        </a:lnSpc>
                      </a:pPr>
                      <a:endParaRPr lang="en-US" altLang="en-US" sz="700" dirty="0">
                        <a:latin typeface="Arial" panose="020B0604020202020204" pitchFamily="34" charset="0"/>
                        <a:ea typeface="黑体" panose="02010609060101010101" charset="-122"/>
                      </a:endParaRPr>
                    </a:p>
                    <a:p>
                      <a:pPr marL="1513205" algn="l" rtl="0" eaLnBrk="0">
                        <a:lnSpc>
                          <a:spcPct val="97000"/>
                        </a:lnSpc>
                      </a:pPr>
                      <a:r>
                        <a:rPr sz="2400" b="1" kern="0" spc="-70" dirty="0">
                          <a:solidFill>
                            <a:srgbClr val="000000">
                              <a:alpha val="100000"/>
                            </a:srgbClr>
                          </a:solidFill>
                          <a:latin typeface="Arial" panose="020B0604020202020204" pitchFamily="34" charset="0"/>
                          <a:ea typeface="黑体" panose="02010609060101010101" charset="-122"/>
                          <a:cs typeface="Verdana" panose="020B0604030504040204"/>
                        </a:rPr>
                        <a:t>S</a:t>
                      </a:r>
                      <a:r>
                        <a:rPr sz="2400" kern="0" spc="-7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盒</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r>
            </a:tbl>
          </a:graphicData>
        </a:graphic>
      </p:graphicFrame>
      <p:grpSp>
        <p:nvGrpSpPr>
          <p:cNvPr id="14" name="group 14"/>
          <p:cNvGrpSpPr/>
          <p:nvPr/>
        </p:nvGrpSpPr>
        <p:grpSpPr>
          <a:xfrm rot="21600000">
            <a:off x="7079869" y="3273552"/>
            <a:ext cx="2746882" cy="1444370"/>
            <a:chOff x="0" y="0"/>
            <a:chExt cx="2746882" cy="1444370"/>
          </a:xfrm>
        </p:grpSpPr>
        <p:grpSp>
          <p:nvGrpSpPr>
            <p:cNvPr id="16" name="group 16"/>
            <p:cNvGrpSpPr/>
            <p:nvPr/>
          </p:nvGrpSpPr>
          <p:grpSpPr>
            <a:xfrm rot="21600000">
              <a:off x="0" y="0"/>
              <a:ext cx="2746882" cy="1444370"/>
              <a:chOff x="0" y="0"/>
              <a:chExt cx="2746882" cy="1444370"/>
            </a:xfrm>
          </p:grpSpPr>
          <p:sp>
            <p:nvSpPr>
              <p:cNvPr id="168" name="path"/>
              <p:cNvSpPr/>
              <p:nvPr/>
            </p:nvSpPr>
            <p:spPr>
              <a:xfrm>
                <a:off x="4571" y="4571"/>
                <a:ext cx="2737739" cy="1435226"/>
              </a:xfrm>
              <a:custGeom>
                <a:avLst/>
                <a:gdLst/>
                <a:ahLst/>
                <a:cxnLst/>
                <a:rect l="0" t="0" r="0" b="0"/>
                <a:pathLst>
                  <a:path w="4311" h="2260">
                    <a:moveTo>
                      <a:pt x="2045" y="113"/>
                    </a:moveTo>
                    <a:cubicBezTo>
                      <a:pt x="2045" y="50"/>
                      <a:pt x="2096" y="0"/>
                      <a:pt x="2159" y="0"/>
                    </a:cubicBezTo>
                    <a:lnTo>
                      <a:pt x="2423" y="0"/>
                    </a:lnTo>
                    <a:lnTo>
                      <a:pt x="2423" y="0"/>
                    </a:lnTo>
                    <a:lnTo>
                      <a:pt x="2989" y="0"/>
                    </a:lnTo>
                    <a:lnTo>
                      <a:pt x="4197" y="0"/>
                    </a:lnTo>
                    <a:cubicBezTo>
                      <a:pt x="4260" y="0"/>
                      <a:pt x="4311" y="50"/>
                      <a:pt x="4311" y="113"/>
                    </a:cubicBezTo>
                    <a:lnTo>
                      <a:pt x="4311" y="397"/>
                    </a:lnTo>
                    <a:lnTo>
                      <a:pt x="4311" y="397"/>
                    </a:lnTo>
                    <a:lnTo>
                      <a:pt x="4311" y="567"/>
                    </a:lnTo>
                    <a:lnTo>
                      <a:pt x="4311" y="567"/>
                    </a:lnTo>
                    <a:cubicBezTo>
                      <a:pt x="4311" y="630"/>
                      <a:pt x="4260" y="681"/>
                      <a:pt x="4197" y="681"/>
                    </a:cubicBezTo>
                    <a:lnTo>
                      <a:pt x="2989" y="681"/>
                    </a:lnTo>
                    <a:lnTo>
                      <a:pt x="0" y="2260"/>
                    </a:lnTo>
                    <a:lnTo>
                      <a:pt x="2423" y="681"/>
                    </a:lnTo>
                    <a:lnTo>
                      <a:pt x="2159" y="681"/>
                    </a:lnTo>
                    <a:cubicBezTo>
                      <a:pt x="2096" y="681"/>
                      <a:pt x="2045" y="630"/>
                      <a:pt x="2045" y="567"/>
                    </a:cubicBezTo>
                    <a:lnTo>
                      <a:pt x="2045" y="567"/>
                    </a:lnTo>
                    <a:lnTo>
                      <a:pt x="2045" y="397"/>
                    </a:lnTo>
                    <a:lnTo>
                      <a:pt x="2045" y="397"/>
                    </a:lnTo>
                    <a:lnTo>
                      <a:pt x="2045" y="113"/>
                    </a:lnTo>
                    <a:close/>
                  </a:path>
                </a:pathLst>
              </a:custGeom>
              <a:solidFill>
                <a:srgbClr val="5B9BD5">
                  <a:alpha val="100000"/>
                </a:srgbClr>
              </a:solidFill>
              <a:ln cap="flat">
                <a:noFill/>
                <a:prstDash val="solid"/>
                <a:miter lim="0"/>
              </a:ln>
            </p:spPr>
            <p:txBody>
              <a:bodyPr rtlCol="0"/>
              <a:lstStyle/>
              <a:p>
                <a:pPr algn="ctr"/>
                <a:endParaRPr lang="zh-CN" altLang="en-US"/>
              </a:p>
            </p:txBody>
          </p:sp>
          <p:sp>
            <p:nvSpPr>
              <p:cNvPr id="170" name="path"/>
              <p:cNvSpPr/>
              <p:nvPr/>
            </p:nvSpPr>
            <p:spPr>
              <a:xfrm>
                <a:off x="0" y="0"/>
                <a:ext cx="2746882" cy="1444370"/>
              </a:xfrm>
              <a:custGeom>
                <a:avLst/>
                <a:gdLst/>
                <a:ahLst/>
                <a:cxnLst/>
                <a:rect l="0" t="0" r="0" b="0"/>
                <a:pathLst>
                  <a:path w="4325" h="2274">
                    <a:moveTo>
                      <a:pt x="2052" y="120"/>
                    </a:moveTo>
                    <a:cubicBezTo>
                      <a:pt x="2052" y="57"/>
                      <a:pt x="2103" y="7"/>
                      <a:pt x="2166" y="7"/>
                    </a:cubicBezTo>
                    <a:lnTo>
                      <a:pt x="2430" y="7"/>
                    </a:lnTo>
                    <a:lnTo>
                      <a:pt x="2430" y="7"/>
                    </a:lnTo>
                    <a:lnTo>
                      <a:pt x="2996" y="7"/>
                    </a:lnTo>
                    <a:lnTo>
                      <a:pt x="4205" y="7"/>
                    </a:lnTo>
                    <a:cubicBezTo>
                      <a:pt x="4267" y="7"/>
                      <a:pt x="4318" y="57"/>
                      <a:pt x="4318" y="120"/>
                    </a:cubicBezTo>
                    <a:lnTo>
                      <a:pt x="4318" y="404"/>
                    </a:lnTo>
                    <a:lnTo>
                      <a:pt x="4318" y="404"/>
                    </a:lnTo>
                    <a:lnTo>
                      <a:pt x="4318" y="575"/>
                    </a:lnTo>
                    <a:lnTo>
                      <a:pt x="4318" y="575"/>
                    </a:lnTo>
                    <a:cubicBezTo>
                      <a:pt x="4318" y="637"/>
                      <a:pt x="4267" y="688"/>
                      <a:pt x="4205" y="688"/>
                    </a:cubicBezTo>
                    <a:lnTo>
                      <a:pt x="2996" y="688"/>
                    </a:lnTo>
                    <a:lnTo>
                      <a:pt x="7" y="2267"/>
                    </a:lnTo>
                    <a:lnTo>
                      <a:pt x="2430" y="688"/>
                    </a:lnTo>
                    <a:lnTo>
                      <a:pt x="2166" y="688"/>
                    </a:lnTo>
                    <a:cubicBezTo>
                      <a:pt x="2103" y="688"/>
                      <a:pt x="2052" y="637"/>
                      <a:pt x="2052" y="575"/>
                    </a:cubicBezTo>
                    <a:lnTo>
                      <a:pt x="2052" y="575"/>
                    </a:lnTo>
                    <a:lnTo>
                      <a:pt x="2052" y="404"/>
                    </a:lnTo>
                    <a:lnTo>
                      <a:pt x="2052" y="404"/>
                    </a:lnTo>
                    <a:lnTo>
                      <a:pt x="2052" y="120"/>
                    </a:lnTo>
                    <a:close/>
                  </a:path>
                </a:pathLst>
              </a:custGeom>
              <a:noFill/>
              <a:ln w="9143" cap="flat">
                <a:solidFill>
                  <a:srgbClr val="000000">
                    <a:alpha val="100000"/>
                  </a:srgbClr>
                </a:solidFill>
                <a:prstDash val="solid"/>
                <a:miter lim="1000000"/>
              </a:ln>
            </p:spPr>
            <p:txBody>
              <a:bodyPr rtlCol="0"/>
              <a:lstStyle/>
              <a:p>
                <a:pPr algn="ctr"/>
                <a:endParaRPr lang="zh-CN" altLang="en-US"/>
              </a:p>
            </p:txBody>
          </p:sp>
        </p:grpSp>
        <p:sp>
          <p:nvSpPr>
            <p:cNvPr id="172" name="textbox 172"/>
            <p:cNvSpPr/>
            <p:nvPr/>
          </p:nvSpPr>
          <p:spPr>
            <a:xfrm>
              <a:off x="-12700" y="-12700"/>
              <a:ext cx="2772410" cy="1522094"/>
            </a:xfrm>
            <a:prstGeom prst="rect">
              <a:avLst/>
            </a:prstGeom>
          </p:spPr>
          <p:txBody>
            <a:bodyPr vert="horz" wrap="square" lIns="0" tIns="0" rIns="0" bIns="0"/>
            <a:lstStyle/>
            <a:p>
              <a:pPr algn="l" rtl="0" eaLnBrk="0">
                <a:lnSpc>
                  <a:spcPct val="149000"/>
                </a:lnSpc>
              </a:pPr>
              <a:endParaRPr lang="en-US" altLang="en-US" sz="200" dirty="0">
                <a:latin typeface="Arial" panose="020B0604020202020204" pitchFamily="34" charset="0"/>
                <a:ea typeface="黑体" panose="02010609060101010101" charset="-122"/>
              </a:endParaRPr>
            </a:p>
            <a:p>
              <a:pPr marL="32385" algn="l" rtl="0" eaLnBrk="0">
                <a:lnSpc>
                  <a:spcPct val="96000"/>
                </a:lnSpc>
                <a:spcBef>
                  <a:spcPts val="0"/>
                </a:spcBef>
              </a:pPr>
              <a:r>
                <a:rPr sz="18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18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1800" baseline="-17000" dirty="0">
                <a:latin typeface="Arial" panose="020B0604020202020204" pitchFamily="34" charset="0"/>
                <a:ea typeface="黑体" panose="02010609060101010101" charset="-122"/>
              </a:endParaRPr>
            </a:p>
          </p:txBody>
        </p:sp>
        <p:pic>
          <p:nvPicPr>
            <p:cNvPr id="174" name="picture 174"/>
            <p:cNvPicPr>
              <a:picLocks noChangeAspect="1"/>
            </p:cNvPicPr>
            <p:nvPr/>
          </p:nvPicPr>
          <p:blipFill>
            <a:blip r:embed="rId1"/>
            <a:stretch>
              <a:fillRect/>
            </a:stretch>
          </p:blipFill>
          <p:spPr>
            <a:xfrm rot="21600000">
              <a:off x="114680" y="330580"/>
              <a:ext cx="79247" cy="856615"/>
            </a:xfrm>
            <a:prstGeom prst="rect">
              <a:avLst/>
            </a:prstGeom>
          </p:spPr>
        </p:pic>
      </p:grpSp>
      <p:grpSp>
        <p:nvGrpSpPr>
          <p:cNvPr id="18" name="group 18"/>
          <p:cNvGrpSpPr/>
          <p:nvPr/>
        </p:nvGrpSpPr>
        <p:grpSpPr>
          <a:xfrm rot="21600000">
            <a:off x="7079869" y="3273552"/>
            <a:ext cx="2746882" cy="1444370"/>
            <a:chOff x="0" y="0"/>
            <a:chExt cx="2746882" cy="1444370"/>
          </a:xfrm>
        </p:grpSpPr>
        <p:sp>
          <p:nvSpPr>
            <p:cNvPr id="176" name="textbox 176"/>
            <p:cNvSpPr/>
            <p:nvPr/>
          </p:nvSpPr>
          <p:spPr>
            <a:xfrm>
              <a:off x="-12700" y="-12700"/>
              <a:ext cx="2772410" cy="1505585"/>
            </a:xfrm>
            <a:prstGeom prst="rect">
              <a:avLst/>
            </a:prstGeom>
          </p:spPr>
          <p:txBody>
            <a:bodyPr vert="horz" wrap="square" lIns="0" tIns="0" rIns="0" bIns="0"/>
            <a:lstStyle/>
            <a:p>
              <a:pPr algn="l" rtl="0" eaLnBrk="0">
                <a:lnSpc>
                  <a:spcPct val="109000"/>
                </a:lnSpc>
              </a:pPr>
              <a:endParaRPr lang="en-US" altLang="en-US" sz="700" dirty="0">
                <a:latin typeface="Arial" panose="020B0604020202020204" pitchFamily="34" charset="0"/>
                <a:ea typeface="黑体" panose="02010609060101010101" charset="-122"/>
              </a:endParaRPr>
            </a:p>
            <a:p>
              <a:pPr marL="1512570" algn="l" rtl="0" eaLnBrk="0">
                <a:lnSpc>
                  <a:spcPct val="96000"/>
                </a:lnSpc>
                <a:spcBef>
                  <a:spcPts val="5"/>
                </a:spcBef>
              </a:pPr>
              <a:r>
                <a:rPr sz="1800" kern="0" spc="-40" dirty="0">
                  <a:solidFill>
                    <a:srgbClr val="000000">
                      <a:alpha val="100000"/>
                    </a:srgbClr>
                  </a:solidFill>
                  <a:latin typeface="Arial" panose="020B0604020202020204" pitchFamily="34" charset="0"/>
                  <a:ea typeface="黑体" panose="02010609060101010101" charset="-122"/>
                  <a:cs typeface="Verdana" panose="020B0604030504040204"/>
                </a:rPr>
                <a:t>DES</a:t>
              </a:r>
              <a:r>
                <a:rPr sz="18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的</a:t>
              </a:r>
              <a:r>
                <a:rPr sz="1800" kern="0" spc="-40" dirty="0">
                  <a:solidFill>
                    <a:srgbClr val="000000">
                      <a:alpha val="100000"/>
                    </a:srgbClr>
                  </a:solidFill>
                  <a:latin typeface="Arial" panose="020B0604020202020204" pitchFamily="34" charset="0"/>
                  <a:ea typeface="黑体" panose="02010609060101010101" charset="-122"/>
                  <a:cs typeface="Verdana" panose="020B0604030504040204"/>
                </a:rPr>
                <a:t>S</a:t>
              </a:r>
              <a:r>
                <a:rPr sz="18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盒</a:t>
              </a:r>
              <a:endParaRPr lang="en-US" altLang="en-US" sz="1800" dirty="0">
                <a:latin typeface="Arial" panose="020B0604020202020204" pitchFamily="34" charset="0"/>
                <a:ea typeface="黑体" panose="02010609060101010101" charset="-122"/>
              </a:endParaRPr>
            </a:p>
          </p:txBody>
        </p:sp>
      </p:grpSp>
      <p:sp>
        <p:nvSpPr>
          <p:cNvPr id="178" name="textbox 178"/>
          <p:cNvSpPr/>
          <p:nvPr/>
        </p:nvSpPr>
        <p:spPr>
          <a:xfrm>
            <a:off x="1579436" y="491245"/>
            <a:ext cx="2235835" cy="483869"/>
          </a:xfrm>
          <a:prstGeom prst="rect">
            <a:avLst/>
          </a:prstGeom>
        </p:spPr>
        <p:txBody>
          <a:bodyPr vert="horz" wrap="square" lIns="0" tIns="0" rIns="0" bIns="0"/>
          <a:lstStyle/>
          <a:p>
            <a:pPr algn="l" rtl="0" eaLnBrk="0">
              <a:lnSpc>
                <a:spcPct val="8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4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代换盒</a:t>
            </a:r>
            <a:r>
              <a:rPr sz="3100" kern="0" spc="4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黑体" panose="02010609060101010101" charset="-122"/>
              </a:rPr>
              <a:t>(S</a:t>
            </a:r>
            <a:r>
              <a:rPr sz="3100" kern="0" spc="4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盒</a:t>
            </a:r>
            <a:r>
              <a:rPr sz="3100" kern="0" spc="4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黑体" panose="02010609060101010101" charset="-122"/>
              </a:rPr>
              <a:t>)</a:t>
            </a:r>
            <a:endParaRPr lang="en-US" altLang="en-US" sz="3100" dirty="0">
              <a:latin typeface="Arial" panose="020B0604020202020204" pitchFamily="34" charset="0"/>
              <a:ea typeface="黑体" panose="02010609060101010101" charset="-122"/>
            </a:endParaRPr>
          </a:p>
        </p:txBody>
      </p:sp>
      <p:sp>
        <p:nvSpPr>
          <p:cNvPr id="18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84" name="picture 184"/>
          <p:cNvPicPr>
            <a:picLocks noChangeAspect="1"/>
          </p:cNvPicPr>
          <p:nvPr/>
        </p:nvPicPr>
        <p:blipFill>
          <a:blip r:embed="rId2"/>
          <a:stretch>
            <a:fillRect/>
          </a:stretch>
        </p:blipFill>
        <p:spPr>
          <a:xfrm rot="21600000">
            <a:off x="822960" y="408431"/>
            <a:ext cx="420623" cy="655320"/>
          </a:xfrm>
          <a:prstGeom prst="rect">
            <a:avLst/>
          </a:prstGeom>
        </p:spPr>
      </p:pic>
      <p:sp>
        <p:nvSpPr>
          <p:cNvPr id="18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188" name="picture 188"/>
          <p:cNvPicPr>
            <a:picLocks noChangeAspect="1"/>
          </p:cNvPicPr>
          <p:nvPr/>
        </p:nvPicPr>
        <p:blipFill>
          <a:blip r:embed="rId3"/>
          <a:stretch>
            <a:fillRect/>
          </a:stretch>
        </p:blipFill>
        <p:spPr>
          <a:xfrm rot="21600000">
            <a:off x="5359653" y="5067172"/>
            <a:ext cx="79248" cy="856614"/>
          </a:xfrm>
          <a:prstGeom prst="rect">
            <a:avLst/>
          </a:prstGeom>
        </p:spPr>
      </p:pic>
      <p:pic>
        <p:nvPicPr>
          <p:cNvPr id="190" name="picture 190"/>
          <p:cNvPicPr>
            <a:picLocks noChangeAspect="1"/>
          </p:cNvPicPr>
          <p:nvPr/>
        </p:nvPicPr>
        <p:blipFill>
          <a:blip r:embed="rId4"/>
          <a:stretch>
            <a:fillRect/>
          </a:stretch>
        </p:blipFill>
        <p:spPr>
          <a:xfrm rot="21600000">
            <a:off x="6033515" y="3604259"/>
            <a:ext cx="79247" cy="856488"/>
          </a:xfrm>
          <a:prstGeom prst="rect">
            <a:avLst/>
          </a:prstGeom>
        </p:spPr>
      </p:pic>
      <p:pic>
        <p:nvPicPr>
          <p:cNvPr id="192" name="picture 192"/>
          <p:cNvPicPr>
            <a:picLocks noChangeAspect="1"/>
          </p:cNvPicPr>
          <p:nvPr/>
        </p:nvPicPr>
        <p:blipFill>
          <a:blip r:embed="rId5"/>
          <a:stretch>
            <a:fillRect/>
          </a:stretch>
        </p:blipFill>
        <p:spPr>
          <a:xfrm rot="21600000">
            <a:off x="4582667" y="5067300"/>
            <a:ext cx="79247" cy="856488"/>
          </a:xfrm>
          <a:prstGeom prst="rect">
            <a:avLst/>
          </a:prstGeom>
        </p:spPr>
      </p:pic>
      <p:pic>
        <p:nvPicPr>
          <p:cNvPr id="194" name="picture 194"/>
          <p:cNvPicPr>
            <a:picLocks noChangeAspect="1"/>
          </p:cNvPicPr>
          <p:nvPr/>
        </p:nvPicPr>
        <p:blipFill>
          <a:blip r:embed="rId6"/>
          <a:stretch>
            <a:fillRect/>
          </a:stretch>
        </p:blipFill>
        <p:spPr>
          <a:xfrm rot="21600000">
            <a:off x="5451348" y="3604259"/>
            <a:ext cx="79247" cy="856488"/>
          </a:xfrm>
          <a:prstGeom prst="rect">
            <a:avLst/>
          </a:prstGeom>
        </p:spPr>
      </p:pic>
      <p:pic>
        <p:nvPicPr>
          <p:cNvPr id="196" name="picture 196"/>
          <p:cNvPicPr>
            <a:picLocks noChangeAspect="1"/>
          </p:cNvPicPr>
          <p:nvPr/>
        </p:nvPicPr>
        <p:blipFill>
          <a:blip r:embed="rId7"/>
          <a:stretch>
            <a:fillRect/>
          </a:stretch>
        </p:blipFill>
        <p:spPr>
          <a:xfrm rot="21600000">
            <a:off x="4292853" y="3604132"/>
            <a:ext cx="79248" cy="853567"/>
          </a:xfrm>
          <a:prstGeom prst="rect">
            <a:avLst/>
          </a:prstGeom>
        </p:spPr>
      </p:pic>
      <p:pic>
        <p:nvPicPr>
          <p:cNvPr id="198" name="picture 198"/>
          <p:cNvPicPr>
            <a:picLocks noChangeAspect="1"/>
          </p:cNvPicPr>
          <p:nvPr/>
        </p:nvPicPr>
        <p:blipFill>
          <a:blip r:embed="rId8"/>
          <a:stretch>
            <a:fillRect/>
          </a:stretch>
        </p:blipFill>
        <p:spPr>
          <a:xfrm rot="21600000">
            <a:off x="6133845" y="5070220"/>
            <a:ext cx="79248" cy="853567"/>
          </a:xfrm>
          <a:prstGeom prst="rect">
            <a:avLst/>
          </a:prstGeom>
        </p:spPr>
      </p:pic>
      <p:pic>
        <p:nvPicPr>
          <p:cNvPr id="200" name="picture 200"/>
          <p:cNvPicPr>
            <a:picLocks noChangeAspect="1"/>
          </p:cNvPicPr>
          <p:nvPr/>
        </p:nvPicPr>
        <p:blipFill>
          <a:blip r:embed="rId9"/>
          <a:stretch>
            <a:fillRect/>
          </a:stretch>
        </p:blipFill>
        <p:spPr>
          <a:xfrm rot="21600000">
            <a:off x="4871973" y="3604132"/>
            <a:ext cx="79247" cy="853567"/>
          </a:xfrm>
          <a:prstGeom prst="rect">
            <a:avLst/>
          </a:prstGeom>
        </p:spPr>
      </p:pic>
      <p:pic>
        <p:nvPicPr>
          <p:cNvPr id="202" name="picture 202"/>
          <p:cNvPicPr>
            <a:picLocks noChangeAspect="1"/>
          </p:cNvPicPr>
          <p:nvPr/>
        </p:nvPicPr>
        <p:blipFill>
          <a:blip r:embed="rId10"/>
          <a:stretch>
            <a:fillRect/>
          </a:stretch>
        </p:blipFill>
        <p:spPr>
          <a:xfrm rot="21600000">
            <a:off x="6908038" y="5070220"/>
            <a:ext cx="79247" cy="853567"/>
          </a:xfrm>
          <a:prstGeom prst="rect">
            <a:avLst/>
          </a:prstGeom>
        </p:spPr>
      </p:pic>
      <p:pic>
        <p:nvPicPr>
          <p:cNvPr id="204" name="picture 204"/>
          <p:cNvPicPr>
            <a:picLocks noChangeAspect="1"/>
          </p:cNvPicPr>
          <p:nvPr/>
        </p:nvPicPr>
        <p:blipFill>
          <a:blip r:embed="rId11"/>
          <a:stretch>
            <a:fillRect/>
          </a:stretch>
        </p:blipFill>
        <p:spPr>
          <a:xfrm rot="21600000">
            <a:off x="6615430" y="3604132"/>
            <a:ext cx="79247" cy="853567"/>
          </a:xfrm>
          <a:prstGeom prst="rect">
            <a:avLst/>
          </a:prstGeom>
        </p:spPr>
      </p:pic>
      <p:sp>
        <p:nvSpPr>
          <p:cNvPr id="206" name="textbox 206"/>
          <p:cNvSpPr/>
          <p:nvPr/>
        </p:nvSpPr>
        <p:spPr>
          <a:xfrm>
            <a:off x="4245317" y="3293589"/>
            <a:ext cx="228600" cy="289559"/>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18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18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1800" baseline="-17000" dirty="0">
              <a:latin typeface="Arial" panose="020B0604020202020204" pitchFamily="34" charset="0"/>
              <a:ea typeface="黑体" panose="02010609060101010101" charset="-122"/>
            </a:endParaRPr>
          </a:p>
        </p:txBody>
      </p:sp>
      <p:sp>
        <p:nvSpPr>
          <p:cNvPr id="208" name="textbox 208"/>
          <p:cNvSpPr/>
          <p:nvPr/>
        </p:nvSpPr>
        <p:spPr>
          <a:xfrm>
            <a:off x="5428322" y="3293589"/>
            <a:ext cx="227965" cy="289559"/>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18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18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1800" baseline="-17000" dirty="0">
              <a:latin typeface="Arial" panose="020B0604020202020204" pitchFamily="34" charset="0"/>
              <a:ea typeface="黑体" panose="02010609060101010101" charset="-122"/>
            </a:endParaRPr>
          </a:p>
        </p:txBody>
      </p:sp>
      <p:sp>
        <p:nvSpPr>
          <p:cNvPr id="210" name="textbox 210"/>
          <p:cNvSpPr/>
          <p:nvPr/>
        </p:nvSpPr>
        <p:spPr>
          <a:xfrm>
            <a:off x="6553288" y="3293589"/>
            <a:ext cx="227965" cy="287020"/>
          </a:xfrm>
          <a:prstGeom prst="rect">
            <a:avLst/>
          </a:prstGeom>
        </p:spPr>
        <p:txBody>
          <a:bodyPr vert="horz" wrap="square" lIns="0" tIns="0" rIns="0" bIns="0"/>
          <a:lstStyle/>
          <a:p>
            <a:pPr algn="l" rtl="0" eaLnBrk="0">
              <a:lnSpc>
                <a:spcPct val="90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1800" b="1"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1800" b="1" kern="0" spc="7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800" baseline="-17000" dirty="0">
              <a:latin typeface="Arial" panose="020B0604020202020204" pitchFamily="34" charset="0"/>
              <a:ea typeface="黑体" panose="02010609060101010101" charset="-122"/>
            </a:endParaRPr>
          </a:p>
        </p:txBody>
      </p:sp>
      <p:sp>
        <p:nvSpPr>
          <p:cNvPr id="212" name="textbox 212"/>
          <p:cNvSpPr/>
          <p:nvPr/>
        </p:nvSpPr>
        <p:spPr>
          <a:xfrm>
            <a:off x="4837010" y="3293589"/>
            <a:ext cx="227965" cy="287020"/>
          </a:xfrm>
          <a:prstGeom prst="rect">
            <a:avLst/>
          </a:prstGeom>
        </p:spPr>
        <p:txBody>
          <a:bodyPr vert="horz" wrap="square" lIns="0" tIns="0" rIns="0" bIns="0"/>
          <a:lstStyle/>
          <a:p>
            <a:pPr algn="l" rtl="0" eaLnBrk="0">
              <a:lnSpc>
                <a:spcPct val="90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18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18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1800" baseline="-17000" dirty="0">
              <a:latin typeface="Arial" panose="020B0604020202020204" pitchFamily="34" charset="0"/>
              <a:ea typeface="黑体" panose="02010609060101010101" charset="-122"/>
            </a:endParaRPr>
          </a:p>
        </p:txBody>
      </p:sp>
      <p:sp>
        <p:nvSpPr>
          <p:cNvPr id="214" name="textbox 214"/>
          <p:cNvSpPr/>
          <p:nvPr/>
        </p:nvSpPr>
        <p:spPr>
          <a:xfrm>
            <a:off x="6019887" y="3293589"/>
            <a:ext cx="227965" cy="287020"/>
          </a:xfrm>
          <a:prstGeom prst="rect">
            <a:avLst/>
          </a:prstGeom>
        </p:spPr>
        <p:txBody>
          <a:bodyPr vert="horz" wrap="square" lIns="0" tIns="0" rIns="0" bIns="0"/>
          <a:lstStyle/>
          <a:p>
            <a:pPr algn="l" rtl="0" eaLnBrk="0">
              <a:lnSpc>
                <a:spcPct val="90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18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18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800" baseline="-17000" dirty="0">
              <a:latin typeface="Arial" panose="020B0604020202020204" pitchFamily="34" charset="0"/>
              <a:ea typeface="黑体" panose="02010609060101010101" charset="-122"/>
            </a:endParaRPr>
          </a:p>
        </p:txBody>
      </p:sp>
      <p:sp>
        <p:nvSpPr>
          <p:cNvPr id="216" name="textbox 216"/>
          <p:cNvSpPr/>
          <p:nvPr/>
        </p:nvSpPr>
        <p:spPr>
          <a:xfrm>
            <a:off x="6665290" y="5489625"/>
            <a:ext cx="223520" cy="242570"/>
          </a:xfrm>
          <a:prstGeom prst="rect">
            <a:avLst/>
          </a:prstGeom>
        </p:spPr>
        <p:txBody>
          <a:bodyPr vert="horz" wrap="square" lIns="0" tIns="0" rIns="0" bIns="0"/>
          <a:lstStyle/>
          <a:p>
            <a:pPr algn="l" rtl="0" eaLnBrk="0">
              <a:lnSpc>
                <a:spcPct val="86000"/>
              </a:lnSpc>
            </a:pPr>
            <a:endParaRPr lang="en-US" altLang="en-US" sz="100" dirty="0">
              <a:latin typeface="Arial" panose="020B0604020202020204" pitchFamily="34" charset="0"/>
              <a:ea typeface="黑体" panose="02010609060101010101" charset="-122"/>
            </a:endParaRPr>
          </a:p>
          <a:p>
            <a:pPr marL="12700" algn="l" rtl="0" eaLnBrk="0">
              <a:lnSpc>
                <a:spcPct val="79000"/>
              </a:lnSpc>
            </a:pPr>
            <a:r>
              <a:rPr sz="1800" b="1"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1800" b="1" kern="0" spc="8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1800" baseline="-17000" dirty="0">
              <a:latin typeface="Arial" panose="020B0604020202020204" pitchFamily="34" charset="0"/>
              <a:ea typeface="黑体" panose="02010609060101010101" charset="-122"/>
            </a:endParaRPr>
          </a:p>
        </p:txBody>
      </p:sp>
      <p:sp>
        <p:nvSpPr>
          <p:cNvPr id="218" name="textbox 218"/>
          <p:cNvSpPr/>
          <p:nvPr/>
        </p:nvSpPr>
        <p:spPr>
          <a:xfrm>
            <a:off x="4244542" y="5489625"/>
            <a:ext cx="223520" cy="242570"/>
          </a:xfrm>
          <a:prstGeom prst="rect">
            <a:avLst/>
          </a:prstGeom>
        </p:spPr>
        <p:txBody>
          <a:bodyPr vert="horz" wrap="square" lIns="0" tIns="0" rIns="0" bIns="0"/>
          <a:lstStyle/>
          <a:p>
            <a:pPr algn="l" rtl="0" eaLnBrk="0">
              <a:lnSpc>
                <a:spcPct val="86000"/>
              </a:lnSpc>
            </a:pPr>
            <a:endParaRPr lang="en-US" altLang="en-US" sz="100" dirty="0">
              <a:latin typeface="Arial" panose="020B0604020202020204" pitchFamily="34" charset="0"/>
              <a:ea typeface="黑体" panose="02010609060101010101" charset="-122"/>
            </a:endParaRPr>
          </a:p>
          <a:p>
            <a:pPr marL="12700" algn="l" rtl="0" eaLnBrk="0">
              <a:lnSpc>
                <a:spcPct val="79000"/>
              </a:lnSpc>
            </a:pPr>
            <a:r>
              <a:rPr sz="1800" b="1"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1800" b="1" kern="0" spc="8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1800" baseline="-17000" dirty="0">
              <a:latin typeface="Arial" panose="020B0604020202020204" pitchFamily="34" charset="0"/>
              <a:ea typeface="黑体" panose="02010609060101010101" charset="-122"/>
            </a:endParaRPr>
          </a:p>
        </p:txBody>
      </p:sp>
      <p:sp>
        <p:nvSpPr>
          <p:cNvPr id="220" name="textbox 220"/>
          <p:cNvSpPr/>
          <p:nvPr/>
        </p:nvSpPr>
        <p:spPr>
          <a:xfrm>
            <a:off x="5049215" y="5489625"/>
            <a:ext cx="224154" cy="240665"/>
          </a:xfrm>
          <a:prstGeom prst="rect">
            <a:avLst/>
          </a:prstGeom>
        </p:spPr>
        <p:txBody>
          <a:bodyPr vert="horz" wrap="square" lIns="0" tIns="0" rIns="0" bIns="0"/>
          <a:lstStyle/>
          <a:p>
            <a:pPr algn="l" rtl="0" eaLnBrk="0">
              <a:lnSpc>
                <a:spcPct val="91000"/>
              </a:lnSpc>
            </a:pPr>
            <a:endParaRPr lang="en-US" altLang="en-US" sz="100" dirty="0">
              <a:latin typeface="Arial" panose="020B0604020202020204" pitchFamily="34" charset="0"/>
              <a:ea typeface="黑体" panose="02010609060101010101" charset="-122"/>
            </a:endParaRPr>
          </a:p>
          <a:p>
            <a:pPr marL="12700" algn="l" rtl="0" eaLnBrk="0">
              <a:lnSpc>
                <a:spcPct val="78000"/>
              </a:lnSpc>
            </a:pPr>
            <a:r>
              <a:rPr sz="1800" b="1"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1800" b="1" kern="0" spc="8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800" baseline="-17000" dirty="0">
              <a:latin typeface="Arial" panose="020B0604020202020204" pitchFamily="34" charset="0"/>
              <a:ea typeface="黑体" panose="02010609060101010101" charset="-122"/>
            </a:endParaRPr>
          </a:p>
        </p:txBody>
      </p:sp>
      <p:sp>
        <p:nvSpPr>
          <p:cNvPr id="222" name="textbox 222"/>
          <p:cNvSpPr/>
          <p:nvPr/>
        </p:nvSpPr>
        <p:spPr>
          <a:xfrm>
            <a:off x="5857188" y="5489625"/>
            <a:ext cx="223520" cy="240665"/>
          </a:xfrm>
          <a:prstGeom prst="rect">
            <a:avLst/>
          </a:prstGeom>
        </p:spPr>
        <p:txBody>
          <a:bodyPr vert="horz" wrap="square" lIns="0" tIns="0" rIns="0" bIns="0"/>
          <a:lstStyle/>
          <a:p>
            <a:pPr algn="l" rtl="0" eaLnBrk="0">
              <a:lnSpc>
                <a:spcPct val="91000"/>
              </a:lnSpc>
            </a:pPr>
            <a:endParaRPr lang="en-US" altLang="en-US" sz="100" dirty="0">
              <a:latin typeface="Arial" panose="020B0604020202020204" pitchFamily="34" charset="0"/>
              <a:ea typeface="黑体" panose="02010609060101010101" charset="-122"/>
            </a:endParaRPr>
          </a:p>
          <a:p>
            <a:pPr marL="12700" algn="l" rtl="0" eaLnBrk="0">
              <a:lnSpc>
                <a:spcPct val="78000"/>
              </a:lnSpc>
            </a:pPr>
            <a:r>
              <a:rPr sz="1800" b="1"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1800" b="1" kern="0" spc="8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800" baseline="-17000" dirty="0">
              <a:latin typeface="Arial" panose="020B0604020202020204" pitchFamily="34" charset="0"/>
              <a:ea typeface="黑体" panose="0201060906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textbox 224"/>
          <p:cNvSpPr/>
          <p:nvPr/>
        </p:nvSpPr>
        <p:spPr>
          <a:xfrm>
            <a:off x="924788" y="1333161"/>
            <a:ext cx="10343515" cy="4257675"/>
          </a:xfrm>
          <a:prstGeom prst="rect">
            <a:avLst/>
          </a:prstGeom>
        </p:spPr>
        <p:txBody>
          <a:bodyPr vert="horz" wrap="square" lIns="0" tIns="0" rIns="0" bIns="0"/>
          <a:lstStyle/>
          <a:p>
            <a:pPr algn="l" rtl="0" eaLnBrk="0">
              <a:lnSpc>
                <a:spcPct val="94000"/>
              </a:lnSpc>
            </a:pPr>
            <a:endParaRPr lang="en-US" altLang="en-US" sz="100" dirty="0">
              <a:latin typeface="Arial" panose="020B0604020202020204" pitchFamily="34" charset="0"/>
              <a:ea typeface="黑体" panose="02010609060101010101" charset="-122"/>
            </a:endParaRPr>
          </a:p>
          <a:p>
            <a:pPr algn="r" rtl="0" eaLnBrk="0">
              <a:lnSpc>
                <a:spcPct val="83000"/>
              </a:lnSpc>
            </a:pP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迄今为止，有关方面未曾完全公开有关</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盒的设计准则。</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Branstead</a:t>
            </a:r>
            <a:endParaRPr lang="en-US" altLang="en-US" sz="2400" dirty="0">
              <a:latin typeface="Arial" panose="020B0604020202020204" pitchFamily="34" charset="0"/>
              <a:ea typeface="黑体" panose="02010609060101010101" charset="-122"/>
            </a:endParaRPr>
          </a:p>
          <a:p>
            <a:pPr marL="255905" algn="l" rtl="0" eaLnBrk="0">
              <a:lnSpc>
                <a:spcPts val="3455"/>
              </a:lnSpc>
            </a:pPr>
            <a:r>
              <a:rPr sz="2400" kern="0" spc="-1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等曾披露过下述准则：</a:t>
            </a:r>
            <a:endParaRPr lang="en-US" altLang="en-US" sz="2400" dirty="0">
              <a:latin typeface="Arial" panose="020B0604020202020204" pitchFamily="34" charset="0"/>
              <a:ea typeface="黑体" panose="02010609060101010101" charset="-122"/>
            </a:endParaRPr>
          </a:p>
          <a:p>
            <a:pPr algn="l" rtl="0" eaLnBrk="0">
              <a:lnSpc>
                <a:spcPct val="162000"/>
              </a:lnSpc>
            </a:pPr>
            <a:endParaRPr lang="en-US" altLang="en-US" sz="1000" dirty="0">
              <a:latin typeface="Arial" panose="020B0604020202020204" pitchFamily="34" charset="0"/>
              <a:ea typeface="黑体" panose="02010609060101010101" charset="-122"/>
            </a:endParaRPr>
          </a:p>
          <a:p>
            <a:pPr marL="12700" algn="l" rtl="0" eaLnBrk="0">
              <a:lnSpc>
                <a:spcPct val="99000"/>
              </a:lnSpc>
              <a:spcBef>
                <a:spcPts val="72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P1  S</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盒的输出都不是其输入的线性或仿射函数。</a:t>
            </a:r>
            <a:endParaRPr lang="en-US" altLang="en-US" sz="2400" dirty="0">
              <a:latin typeface="Arial" panose="020B0604020202020204" pitchFamily="34" charset="0"/>
              <a:ea typeface="黑体" panose="02010609060101010101" charset="-122"/>
            </a:endParaRPr>
          </a:p>
          <a:p>
            <a:pPr algn="l" rtl="0" eaLnBrk="0">
              <a:lnSpc>
                <a:spcPct val="123000"/>
              </a:lnSpc>
            </a:pPr>
            <a:endParaRPr lang="en-US" altLang="en-US" sz="1000" dirty="0">
              <a:latin typeface="Arial" panose="020B0604020202020204" pitchFamily="34" charset="0"/>
              <a:ea typeface="黑体" panose="02010609060101010101" charset="-122"/>
            </a:endParaRPr>
          </a:p>
          <a:p>
            <a:pPr marL="254000" indent="-241935" algn="l" rtl="0" eaLnBrk="0">
              <a:lnSpc>
                <a:spcPct val="107000"/>
              </a:lnSpc>
              <a:spcBef>
                <a:spcPts val="720"/>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P2</a:t>
            </a:r>
            <a:r>
              <a:rPr sz="2400" b="1" kern="0" spc="4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改变</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盒的一个输入比特，其输出至少有两比特产生</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变化，即近一半产生</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8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变化。</a:t>
            </a:r>
            <a:endParaRPr lang="en-US" altLang="en-US" sz="2400" dirty="0">
              <a:latin typeface="Arial" panose="020B0604020202020204" pitchFamily="34" charset="0"/>
              <a:ea typeface="黑体" panose="02010609060101010101" charset="-122"/>
            </a:endParaRPr>
          </a:p>
          <a:p>
            <a:pPr algn="l" rtl="0" eaLnBrk="0">
              <a:lnSpc>
                <a:spcPct val="136000"/>
              </a:lnSpc>
            </a:pPr>
            <a:endParaRPr lang="en-US" altLang="en-US" sz="1000" dirty="0">
              <a:latin typeface="Arial" panose="020B0604020202020204" pitchFamily="34" charset="0"/>
              <a:ea typeface="黑体" panose="02010609060101010101" charset="-122"/>
            </a:endParaRPr>
          </a:p>
          <a:p>
            <a:pPr marL="247650" indent="-234950" algn="l" rtl="0" eaLnBrk="0">
              <a:lnSpc>
                <a:spcPct val="107000"/>
              </a:lnSpc>
              <a:spcBef>
                <a:spcPts val="720"/>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P3</a:t>
            </a:r>
            <a:r>
              <a:rPr sz="2400" b="1" kern="0" spc="1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当</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盒的任一输入位保持不变，其它</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位输入变</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化时</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共有</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2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种情况</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2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输出数字中的</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的总数近于相等。</a:t>
            </a:r>
            <a:endParaRPr lang="en-US" altLang="en-US" sz="2400" dirty="0">
              <a:latin typeface="Arial" panose="020B0604020202020204" pitchFamily="34" charset="0"/>
              <a:ea typeface="黑体" panose="02010609060101010101" charset="-122"/>
            </a:endParaRPr>
          </a:p>
          <a:p>
            <a:pPr algn="l" rtl="0" eaLnBrk="0">
              <a:lnSpc>
                <a:spcPct val="136000"/>
              </a:lnSpc>
            </a:pPr>
            <a:endParaRPr lang="en-US" altLang="en-US" sz="1000" dirty="0">
              <a:latin typeface="Arial" panose="020B0604020202020204" pitchFamily="34" charset="0"/>
              <a:ea typeface="黑体" panose="02010609060101010101" charset="-122"/>
            </a:endParaRPr>
          </a:p>
          <a:p>
            <a:pPr algn="l" rtl="0" eaLnBrk="0">
              <a:lnSpc>
                <a:spcPct val="101000"/>
              </a:lnSpc>
            </a:pPr>
            <a:endParaRPr lang="en-US" altLang="en-US" sz="600" dirty="0">
              <a:latin typeface="Arial" panose="020B0604020202020204" pitchFamily="34" charset="0"/>
              <a:ea typeface="黑体" panose="02010609060101010101" charset="-122"/>
            </a:endParaRPr>
          </a:p>
          <a:p>
            <a:pPr marL="784225" algn="l" rtl="0" eaLnBrk="0">
              <a:lnSpc>
                <a:spcPct val="94000"/>
              </a:lnSpc>
            </a:pP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这三点使</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盒能够实现较好的混淆。</a:t>
            </a:r>
            <a:endParaRPr lang="en-US" altLang="en-US" sz="2400" dirty="0">
              <a:latin typeface="Arial" panose="020B0604020202020204" pitchFamily="34" charset="0"/>
              <a:ea typeface="黑体" panose="02010609060101010101" charset="-122"/>
            </a:endParaRPr>
          </a:p>
        </p:txBody>
      </p:sp>
      <p:sp>
        <p:nvSpPr>
          <p:cNvPr id="226" name="textbox 226"/>
          <p:cNvSpPr/>
          <p:nvPr/>
        </p:nvSpPr>
        <p:spPr>
          <a:xfrm>
            <a:off x="1558925" y="491490"/>
            <a:ext cx="3368040"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8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黑体" panose="02010609060101010101" charset="-122"/>
              </a:rPr>
              <a:t>S</a:t>
            </a:r>
            <a:r>
              <a:rPr sz="3100" kern="0" spc="8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盒的设计准则</a:t>
            </a:r>
            <a:endParaRPr lang="en-US" altLang="en-US" sz="3100" dirty="0">
              <a:latin typeface="Arial" panose="020B0604020202020204" pitchFamily="34" charset="0"/>
              <a:ea typeface="黑体" panose="02010609060101010101" charset="-122"/>
            </a:endParaRPr>
          </a:p>
        </p:txBody>
      </p:sp>
      <p:sp>
        <p:nvSpPr>
          <p:cNvPr id="230"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232" name="picture 232"/>
          <p:cNvPicPr>
            <a:picLocks noChangeAspect="1"/>
          </p:cNvPicPr>
          <p:nvPr/>
        </p:nvPicPr>
        <p:blipFill>
          <a:blip r:embed="rId1"/>
          <a:stretch>
            <a:fillRect/>
          </a:stretch>
        </p:blipFill>
        <p:spPr>
          <a:xfrm rot="21600000">
            <a:off x="822960" y="408431"/>
            <a:ext cx="420623" cy="655320"/>
          </a:xfrm>
          <a:prstGeom prst="rect">
            <a:avLst/>
          </a:prstGeom>
        </p:spPr>
      </p:pic>
      <p:sp>
        <p:nvSpPr>
          <p:cNvPr id="23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
        <p:nvSpPr>
          <p:cNvPr id="236" name="textbox 236"/>
          <p:cNvSpPr/>
          <p:nvPr/>
        </p:nvSpPr>
        <p:spPr>
          <a:xfrm>
            <a:off x="11008258" y="6481064"/>
            <a:ext cx="168275" cy="165100"/>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76000"/>
              </a:lnSpc>
            </a:pPr>
            <a:r>
              <a:rPr sz="1200" b="1" kern="0" spc="-30" dirty="0">
                <a:solidFill>
                  <a:srgbClr val="898989">
                    <a:alpha val="100000"/>
                  </a:srgbClr>
                </a:solidFill>
                <a:latin typeface="Times New Roman" panose="02020603050405020304"/>
                <a:ea typeface="Times New Roman" panose="02020603050405020304"/>
                <a:cs typeface="Times New Roman" panose="02020603050405020304"/>
              </a:rPr>
              <a:t>13</a:t>
            </a:r>
            <a:endParaRPr lang="en-US" alt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p:cNvSpPr/>
          <p:nvPr/>
        </p:nvSpPr>
        <p:spPr>
          <a:xfrm>
            <a:off x="588263" y="408432"/>
            <a:ext cx="10460735" cy="606552"/>
          </a:xfrm>
          <a:prstGeom prst="rect">
            <a:avLst/>
          </a:prstGeom>
          <a:solidFill>
            <a:srgbClr val="C7DDF0">
              <a:alpha val="100000"/>
            </a:srgbClr>
          </a:solidFill>
          <a:ln cap="flat">
            <a:noFill/>
            <a:prstDash val="solid"/>
            <a:miter lim="0"/>
          </a:ln>
        </p:spPr>
        <p:txBody>
          <a:bodyPr rtlCol="0"/>
          <a:lstStyle/>
          <a:p>
            <a:pPr algn="ctr"/>
            <a:endParaRPr lang="zh-CN" altLang="en-US"/>
          </a:p>
        </p:txBody>
      </p:sp>
      <p:sp>
        <p:nvSpPr>
          <p:cNvPr id="4" name="textbox 4"/>
          <p:cNvSpPr/>
          <p:nvPr/>
        </p:nvSpPr>
        <p:spPr>
          <a:xfrm>
            <a:off x="3376251" y="3209866"/>
            <a:ext cx="5489575" cy="542925"/>
          </a:xfrm>
          <a:prstGeom prst="rect">
            <a:avLst/>
          </a:prstGeom>
        </p:spPr>
        <p:txBody>
          <a:bodyPr vert="horz" wrap="square" lIns="0" tIns="0" rIns="0" bIns="0"/>
          <a:lstStyle/>
          <a:p>
            <a:pPr algn="l" rtl="0" eaLnBrk="0">
              <a:lnSpc>
                <a:spcPct val="93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3600" kern="0" spc="-1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Feistel密</a:t>
            </a:r>
            <a:r>
              <a:rPr sz="3600" kern="0" spc="-2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码结构</a:t>
            </a:r>
            <a:endParaRPr lang="en-US" altLang="en-US" sz="3600" dirty="0">
              <a:latin typeface="Arial" panose="020B0604020202020204" pitchFamily="34" charset="0"/>
              <a:ea typeface="黑体" panose="02010609060101010101" charset="-122"/>
            </a:endParaRPr>
          </a:p>
        </p:txBody>
      </p:sp>
      <p:sp>
        <p:nvSpPr>
          <p:cNvPr id="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57015" y="2057400"/>
            <a:ext cx="5708903" cy="813816"/>
            <a:chOff x="0" y="0"/>
            <a:chExt cx="5708903" cy="813816"/>
          </a:xfrm>
        </p:grpSpPr>
        <p:pic>
          <p:nvPicPr>
            <p:cNvPr id="14" name="picture 14"/>
            <p:cNvPicPr>
              <a:picLocks noChangeAspect="1"/>
            </p:cNvPicPr>
            <p:nvPr/>
          </p:nvPicPr>
          <p:blipFill>
            <a:blip r:embed="rId1"/>
            <a:stretch>
              <a:fillRect/>
            </a:stretch>
          </p:blipFill>
          <p:spPr>
            <a:xfrm rot="21600000">
              <a:off x="0" y="0"/>
              <a:ext cx="5708903" cy="813816"/>
            </a:xfrm>
            <a:prstGeom prst="rect">
              <a:avLst/>
            </a:prstGeom>
          </p:spPr>
        </p:pic>
        <p:sp>
          <p:nvSpPr>
            <p:cNvPr id="16" name="textbox 16"/>
            <p:cNvSpPr/>
            <p:nvPr/>
          </p:nvSpPr>
          <p:spPr>
            <a:xfrm>
              <a:off x="-12700" y="-12700"/>
              <a:ext cx="5734684" cy="879475"/>
            </a:xfrm>
            <a:prstGeom prst="rect">
              <a:avLst/>
            </a:prstGeom>
          </p:spPr>
          <p:txBody>
            <a:bodyPr vert="horz" wrap="square" lIns="0" tIns="0" rIns="0" bIns="0"/>
            <a:lstStyle/>
            <a:p>
              <a:pPr algn="l" rtl="0" eaLnBrk="0">
                <a:lnSpc>
                  <a:spcPct val="168000"/>
                </a:lnSpc>
              </a:pPr>
              <a:endParaRPr lang="en-US" altLang="en-US" sz="1000" dirty="0">
                <a:latin typeface="Arial" panose="020B0604020202020204" pitchFamily="34" charset="0"/>
                <a:ea typeface="黑体" panose="02010609060101010101" charset="-122"/>
              </a:endParaRPr>
            </a:p>
            <a:p>
              <a:pPr marL="664210" algn="l" rtl="0" eaLnBrk="0">
                <a:lnSpc>
                  <a:spcPct val="94000"/>
                </a:lnSpc>
                <a:spcBef>
                  <a:spcPts val="5"/>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Feistel</a:t>
              </a:r>
              <a:r>
                <a:rPr sz="2400" kern="0" spc="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密码设计思想</a:t>
              </a:r>
              <a:endParaRPr lang="en-US" altLang="en-US" sz="2400" dirty="0">
                <a:latin typeface="Arial" panose="020B0604020202020204" pitchFamily="34" charset="0"/>
                <a:ea typeface="黑体" panose="02010609060101010101" charset="-122"/>
              </a:endParaRPr>
            </a:p>
          </p:txBody>
        </p:sp>
      </p:grpSp>
      <p:grpSp>
        <p:nvGrpSpPr>
          <p:cNvPr id="4" name="group 4"/>
          <p:cNvGrpSpPr/>
          <p:nvPr/>
        </p:nvGrpSpPr>
        <p:grpSpPr>
          <a:xfrm rot="21600000">
            <a:off x="3709415" y="3886200"/>
            <a:ext cx="5507736" cy="813816"/>
            <a:chOff x="0" y="0"/>
            <a:chExt cx="5507736" cy="813816"/>
          </a:xfrm>
        </p:grpSpPr>
        <p:pic>
          <p:nvPicPr>
            <p:cNvPr id="18" name="picture 18"/>
            <p:cNvPicPr>
              <a:picLocks noChangeAspect="1"/>
            </p:cNvPicPr>
            <p:nvPr/>
          </p:nvPicPr>
          <p:blipFill>
            <a:blip r:embed="rId2"/>
            <a:stretch>
              <a:fillRect/>
            </a:stretch>
          </p:blipFill>
          <p:spPr>
            <a:xfrm rot="21600000">
              <a:off x="0" y="0"/>
              <a:ext cx="5507736" cy="813816"/>
            </a:xfrm>
            <a:prstGeom prst="rect">
              <a:avLst/>
            </a:prstGeom>
          </p:spPr>
        </p:pic>
        <p:sp>
          <p:nvSpPr>
            <p:cNvPr id="20" name="textbox 20"/>
            <p:cNvSpPr/>
            <p:nvPr/>
          </p:nvSpPr>
          <p:spPr>
            <a:xfrm>
              <a:off x="-12700" y="-12700"/>
              <a:ext cx="5533390" cy="879475"/>
            </a:xfrm>
            <a:prstGeom prst="rect">
              <a:avLst/>
            </a:prstGeom>
          </p:spPr>
          <p:txBody>
            <a:bodyPr vert="horz" wrap="square" lIns="0" tIns="0" rIns="0" bIns="0"/>
            <a:lstStyle/>
            <a:p>
              <a:pPr algn="l" rtl="0" eaLnBrk="0">
                <a:lnSpc>
                  <a:spcPct val="169000"/>
                </a:lnSpc>
              </a:pPr>
              <a:endParaRPr lang="en-US" altLang="en-US" sz="1000" dirty="0">
                <a:latin typeface="Arial" panose="020B0604020202020204" pitchFamily="34" charset="0"/>
                <a:ea typeface="黑体" panose="02010609060101010101" charset="-122"/>
              </a:endParaRPr>
            </a:p>
            <a:p>
              <a:pPr marL="664210" algn="l" rtl="0" eaLnBrk="0">
                <a:lnSpc>
                  <a:spcPct val="94000"/>
                </a:lnSpc>
                <a:spcBef>
                  <a:spcPts val="0"/>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Feistel</a:t>
              </a:r>
              <a:r>
                <a:rPr sz="2400" kern="0" spc="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密码加解密结构</a:t>
              </a:r>
              <a:endParaRPr lang="en-US" altLang="en-US" sz="2400" dirty="0">
                <a:latin typeface="Arial" panose="020B0604020202020204" pitchFamily="34" charset="0"/>
                <a:ea typeface="黑体"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2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2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2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32" name="textbox 32"/>
          <p:cNvSpPr/>
          <p:nvPr/>
        </p:nvSpPr>
        <p:spPr>
          <a:xfrm>
            <a:off x="1519555" y="491490"/>
            <a:ext cx="5271770"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Feistel</a:t>
            </a:r>
            <a:r>
              <a:rPr sz="3100" kern="0" spc="90" dirty="0">
                <a:solidFill>
                  <a:srgbClr val="1F4E79">
                    <a:alpha val="100000"/>
                  </a:srgbClr>
                </a:solidFill>
                <a:latin typeface="Arial" panose="020B0604020202020204" pitchFamily="34" charset="0"/>
                <a:ea typeface="黑体" panose="02010609060101010101" charset="-122"/>
                <a:cs typeface="仿宋" panose="02010609060101010101" charset="-122"/>
              </a:rPr>
              <a:t>结构</a:t>
            </a:r>
            <a:endParaRPr lang="en-US" altLang="en-US" sz="3100" dirty="0">
              <a:latin typeface="Arial" panose="020B0604020202020204" pitchFamily="34" charset="0"/>
              <a:ea typeface="黑体" panose="02010609060101010101" charset="-122"/>
            </a:endParaRPr>
          </a:p>
        </p:txBody>
      </p:sp>
      <p:sp>
        <p:nvSpPr>
          <p:cNvPr id="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8" name="picture 38"/>
          <p:cNvPicPr>
            <a:picLocks noChangeAspect="1"/>
          </p:cNvPicPr>
          <p:nvPr/>
        </p:nvPicPr>
        <p:blipFill>
          <a:blip r:embed="rId3"/>
          <a:stretch>
            <a:fillRect/>
          </a:stretch>
        </p:blipFill>
        <p:spPr>
          <a:xfrm rot="21600000">
            <a:off x="822960" y="408431"/>
            <a:ext cx="420623" cy="655320"/>
          </a:xfrm>
          <a:prstGeom prst="rect">
            <a:avLst/>
          </a:prstGeom>
        </p:spPr>
      </p:pic>
      <p:sp>
        <p:nvSpPr>
          <p:cNvPr id="4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2"/>
          <p:cNvSpPr/>
          <p:nvPr/>
        </p:nvSpPr>
        <p:spPr>
          <a:xfrm>
            <a:off x="928547" y="1648502"/>
            <a:ext cx="10335259" cy="2105660"/>
          </a:xfrm>
          <a:prstGeom prst="rect">
            <a:avLst/>
          </a:prstGeom>
        </p:spPr>
        <p:txBody>
          <a:bodyPr vert="horz" wrap="square" lIns="0" tIns="0" rIns="0" bIns="0"/>
          <a:lstStyle/>
          <a:p>
            <a:pPr algn="l" rtl="0" eaLnBrk="0">
              <a:lnSpc>
                <a:spcPct val="94000"/>
              </a:lnSpc>
            </a:pPr>
            <a:endParaRPr lang="en-US" altLang="en-US" sz="100" dirty="0">
              <a:latin typeface="Arial" panose="020B0604020202020204" pitchFamily="34" charset="0"/>
              <a:ea typeface="黑体" panose="02010609060101010101" charset="-122"/>
            </a:endParaRPr>
          </a:p>
          <a:p>
            <a:pPr marL="12700" algn="l" rtl="0" eaLnBrk="0">
              <a:lnSpc>
                <a:spcPct val="83000"/>
              </a:lnSpc>
            </a:pPr>
            <a:r>
              <a:rPr sz="2400" kern="0" spc="70" dirty="0">
                <a:solidFill>
                  <a:srgbClr val="FF0000">
                    <a:alpha val="100000"/>
                  </a:srgbClr>
                </a:solidFill>
                <a:latin typeface="Arial" panose="020B0604020202020204" pitchFamily="34" charset="0"/>
                <a:ea typeface="黑体" panose="02010609060101010101" charset="-122"/>
                <a:cs typeface="Wingdings" panose="05000000000000000000" pitchFamily="2" charset="2"/>
              </a:rPr>
              <a:t>&gt;</a:t>
            </a:r>
            <a:r>
              <a:rPr sz="2400" kern="0" spc="70" dirty="0">
                <a:ln w="8717"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新宋体" panose="02010609030101010101" charset="-122"/>
              </a:rPr>
              <a:t>乘积密码</a:t>
            </a:r>
            <a:r>
              <a:rPr sz="2400" kern="0" spc="7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指顺序地执行两个或多个基本密码系统，使</a:t>
            </a: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得最后结果的密码强</a:t>
            </a:r>
            <a:endParaRPr lang="en-US" altLang="en-US" sz="2400" dirty="0">
              <a:latin typeface="Arial" panose="020B0604020202020204" pitchFamily="34" charset="0"/>
              <a:ea typeface="黑体" panose="02010609060101010101" charset="-122"/>
            </a:endParaRPr>
          </a:p>
          <a:p>
            <a:pPr marL="226060" algn="l" rtl="0" eaLnBrk="0">
              <a:lnSpc>
                <a:spcPts val="4320"/>
              </a:lnSpc>
            </a:pP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度高于每个基本密码系统</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产生的结果.</a:t>
            </a:r>
            <a:endParaRPr lang="en-US" altLang="en-US" sz="2400" dirty="0">
              <a:latin typeface="Arial" panose="020B0604020202020204" pitchFamily="34" charset="0"/>
              <a:ea typeface="黑体" panose="02010609060101010101" charset="-122"/>
            </a:endParaRPr>
          </a:p>
          <a:p>
            <a:pPr algn="l" rtl="0" eaLnBrk="0">
              <a:lnSpc>
                <a:spcPct val="185000"/>
              </a:lnSpc>
            </a:pPr>
            <a:endParaRPr lang="en-US" altLang="en-US" sz="1000" dirty="0">
              <a:latin typeface="Arial" panose="020B0604020202020204" pitchFamily="34" charset="0"/>
              <a:ea typeface="黑体" panose="02010609060101010101" charset="-122"/>
            </a:endParaRPr>
          </a:p>
          <a:p>
            <a:pPr marL="12700" algn="l" rtl="0" eaLnBrk="0">
              <a:lnSpc>
                <a:spcPct val="133000"/>
              </a:lnSpc>
              <a:spcBef>
                <a:spcPts val="720"/>
              </a:spcBef>
            </a:pPr>
            <a:r>
              <a:rPr sz="2400" kern="0" spc="30" dirty="0">
                <a:solidFill>
                  <a:srgbClr val="000000">
                    <a:alpha val="100000"/>
                  </a:srgbClr>
                </a:solidFill>
                <a:latin typeface="Arial" panose="020B0604020202020204" pitchFamily="34" charset="0"/>
                <a:ea typeface="黑体" panose="02010609060101010101" charset="-122"/>
                <a:cs typeface="Wingdings" panose="05000000000000000000" pitchFamily="2" charset="2"/>
              </a:rPr>
              <a:t>&gt;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Feistel</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还提出了实现代换和置换的方法。其思想实际上是</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Shannon</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提出的</a:t>
            </a:r>
            <a:r>
              <a:rPr sz="2400" kern="0" spc="30" dirty="0">
                <a:ln w="8717"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新宋体" panose="02010609030101010101" charset="-122"/>
              </a:rPr>
              <a:t>利</a:t>
            </a:r>
            <a:r>
              <a:rPr sz="2400" kern="0" spc="10" dirty="0">
                <a:ln w="8708"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新宋体" panose="02010609030101010101" charset="-122"/>
              </a:rPr>
              <a:t>用乘积密码实现混淆和扩散</a:t>
            </a:r>
            <a:r>
              <a:rPr sz="2400" kern="0" spc="0" dirty="0">
                <a:ln w="8708"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新宋体" panose="02010609030101010101" charset="-122"/>
              </a:rPr>
              <a:t>思想</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的具体应用。</a:t>
            </a:r>
            <a:endParaRPr lang="en-US" altLang="en-US" sz="2400" dirty="0">
              <a:latin typeface="Arial" panose="020B0604020202020204" pitchFamily="34" charset="0"/>
              <a:ea typeface="黑体" panose="02010609060101010101" charset="-122"/>
            </a:endParaRPr>
          </a:p>
        </p:txBody>
      </p:sp>
      <p:sp>
        <p:nvSpPr>
          <p:cNvPr id="44" name="textbox 44"/>
          <p:cNvSpPr/>
          <p:nvPr/>
        </p:nvSpPr>
        <p:spPr>
          <a:xfrm>
            <a:off x="1553210" y="466725"/>
            <a:ext cx="3874770" cy="487045"/>
          </a:xfrm>
          <a:prstGeom prst="rect">
            <a:avLst/>
          </a:prstGeom>
        </p:spPr>
        <p:txBody>
          <a:bodyPr vert="horz" wrap="square" lIns="0" tIns="0" rIns="0" bIns="0"/>
          <a:lstStyle/>
          <a:p>
            <a:pPr algn="l" rtl="0" eaLnBrk="0">
              <a:lnSpc>
                <a:spcPct val="73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Feistel</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密码的思想</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4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50" name="picture 50"/>
          <p:cNvPicPr>
            <a:picLocks noChangeAspect="1"/>
          </p:cNvPicPr>
          <p:nvPr/>
        </p:nvPicPr>
        <p:blipFill>
          <a:blip r:embed="rId1"/>
          <a:stretch>
            <a:fillRect/>
          </a:stretch>
        </p:blipFill>
        <p:spPr>
          <a:xfrm rot="21600000">
            <a:off x="822960" y="408431"/>
            <a:ext cx="420623" cy="655320"/>
          </a:xfrm>
          <a:prstGeom prst="rect">
            <a:avLst/>
          </a:prstGeom>
        </p:spPr>
      </p:pic>
      <p:sp>
        <p:nvSpPr>
          <p:cNvPr id="52"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1000156" y="1348528"/>
            <a:ext cx="10168890" cy="3634740"/>
          </a:xfrm>
          <a:prstGeom prst="rect">
            <a:avLst/>
          </a:prstGeom>
        </p:spPr>
        <p:txBody>
          <a:bodyPr vert="horz" wrap="square" lIns="0" tIns="0" rIns="0" bIns="0"/>
          <a:lstStyle/>
          <a:p>
            <a:pPr algn="l" rtl="0" eaLnBrk="0">
              <a:lnSpc>
                <a:spcPct val="91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Feistel</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网络的实现与以下参数和特性有关：</a:t>
            </a:r>
            <a:endParaRPr lang="en-US" altLang="en-US" sz="2400" dirty="0">
              <a:latin typeface="Arial" panose="020B0604020202020204" pitchFamily="34" charset="0"/>
              <a:ea typeface="黑体" panose="02010609060101010101" charset="-122"/>
            </a:endParaRPr>
          </a:p>
          <a:p>
            <a:pPr marL="16510" algn="l" rtl="0" eaLnBrk="0">
              <a:lnSpc>
                <a:spcPct val="100000"/>
              </a:lnSpc>
              <a:spcBef>
                <a:spcPts val="1765"/>
              </a:spcBef>
            </a:pP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①</a:t>
            </a:r>
            <a:r>
              <a:rPr sz="2400" kern="0" spc="-4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20" dirty="0">
                <a:ln w="8717" cap="flat" cmpd="sng">
                  <a:solidFill>
                    <a:srgbClr val="954F72">
                      <a:alpha val="100000"/>
                    </a:srgbClr>
                  </a:solidFill>
                  <a:prstDash val="solid"/>
                  <a:miter lim="10"/>
                </a:ln>
                <a:solidFill>
                  <a:srgbClr val="954F72">
                    <a:alpha val="100000"/>
                  </a:srgbClr>
                </a:solidFill>
                <a:latin typeface="Arial" panose="020B0604020202020204" pitchFamily="34" charset="0"/>
                <a:ea typeface="黑体" panose="02010609060101010101" charset="-122"/>
                <a:cs typeface="仿宋" panose="02010609060101010101" charset="-122"/>
              </a:rPr>
              <a:t>分组大小</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分组越大</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则安全性越高，但加密速度就越慢。</a:t>
            </a:r>
            <a:endParaRPr lang="en-US" altLang="en-US" sz="2400" dirty="0">
              <a:latin typeface="Arial" panose="020B0604020202020204" pitchFamily="34" charset="0"/>
              <a:ea typeface="黑体" panose="02010609060101010101" charset="-122"/>
            </a:endParaRPr>
          </a:p>
          <a:p>
            <a:pPr marL="15240" algn="l" rtl="0" eaLnBrk="0">
              <a:lnSpc>
                <a:spcPct val="93000"/>
              </a:lnSpc>
              <a:spcBef>
                <a:spcPts val="1585"/>
              </a:spcBef>
            </a:pP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②</a:t>
            </a:r>
            <a:r>
              <a:rPr sz="2400" kern="0" spc="-3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954F72">
                      <a:alpha val="100000"/>
                    </a:srgbClr>
                  </a:solidFill>
                  <a:prstDash val="solid"/>
                  <a:miter lim="10"/>
                </a:ln>
                <a:solidFill>
                  <a:srgbClr val="954F72">
                    <a:alpha val="100000"/>
                  </a:srgbClr>
                </a:solidFill>
                <a:latin typeface="Arial" panose="020B0604020202020204" pitchFamily="34" charset="0"/>
                <a:ea typeface="黑体" panose="02010609060101010101" charset="-122"/>
                <a:cs typeface="仿宋" panose="02010609060101010101" charset="-122"/>
              </a:rPr>
              <a:t>密钥大小</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：密钥越长则安</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全性越高，</a:t>
            </a:r>
            <a:r>
              <a:rPr sz="24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但加密速度就越慢。</a:t>
            </a:r>
            <a:endPar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endParaRPr>
          </a:p>
          <a:p>
            <a:pPr marL="15240" algn="l" rtl="0" eaLnBrk="0">
              <a:lnSpc>
                <a:spcPct val="93000"/>
              </a:lnSpc>
              <a:spcBef>
                <a:spcPts val="1585"/>
              </a:spcBef>
            </a:pP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③</a:t>
            </a:r>
            <a:r>
              <a:rPr sz="2400" kern="0" spc="-4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954F72">
                      <a:alpha val="100000"/>
                    </a:srgbClr>
                  </a:solidFill>
                  <a:prstDash val="solid"/>
                  <a:miter lim="10"/>
                </a:ln>
                <a:solidFill>
                  <a:srgbClr val="954F72">
                    <a:alpha val="100000"/>
                  </a:srgbClr>
                </a:solidFill>
                <a:latin typeface="Arial" panose="020B0604020202020204" pitchFamily="34" charset="0"/>
                <a:ea typeface="黑体" panose="02010609060101010101" charset="-122"/>
                <a:cs typeface="仿宋" panose="02010609060101010101" charset="-122"/>
              </a:rPr>
              <a:t>轮数</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：单轮结构远不足以保证安全性，但多轮结构可提供足够的安全</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性。</a:t>
            </a:r>
            <a:endParaRPr lang="en-US" altLang="en-US" sz="2400" dirty="0">
              <a:latin typeface="Arial" panose="020B0604020202020204" pitchFamily="34" charset="0"/>
              <a:ea typeface="黑体" panose="02010609060101010101" charset="-122"/>
            </a:endParaRPr>
          </a:p>
          <a:p>
            <a:pPr marL="259080" algn="l" rtl="0" eaLnBrk="0">
              <a:lnSpc>
                <a:spcPts val="3455"/>
              </a:lnSpc>
            </a:pP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典型地，轮数取为</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12000"/>
              </a:lnSpc>
            </a:pPr>
            <a:endParaRPr lang="en-US" altLang="en-US" sz="1000" dirty="0">
              <a:latin typeface="Arial" panose="020B0604020202020204" pitchFamily="34" charset="0"/>
              <a:ea typeface="黑体" panose="02010609060101010101" charset="-122"/>
            </a:endParaRPr>
          </a:p>
          <a:p>
            <a:pPr marL="15240" algn="l" rtl="0" eaLnBrk="0">
              <a:lnSpc>
                <a:spcPct val="93000"/>
              </a:lnSpc>
              <a:spcBef>
                <a:spcPts val="730"/>
              </a:spcBef>
            </a:pP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④</a:t>
            </a:r>
            <a:r>
              <a:rPr sz="2400" kern="0" spc="-2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60" dirty="0">
                <a:ln w="8717" cap="flat" cmpd="sng">
                  <a:solidFill>
                    <a:srgbClr val="954F72">
                      <a:alpha val="100000"/>
                    </a:srgbClr>
                  </a:solidFill>
                  <a:prstDash val="solid"/>
                  <a:miter lim="10"/>
                </a:ln>
                <a:solidFill>
                  <a:srgbClr val="954F72">
                    <a:alpha val="100000"/>
                  </a:srgbClr>
                </a:solidFill>
                <a:latin typeface="Arial" panose="020B0604020202020204" pitchFamily="34" charset="0"/>
                <a:ea typeface="黑体" panose="02010609060101010101" charset="-122"/>
                <a:cs typeface="仿宋" panose="02010609060101010101" charset="-122"/>
              </a:rPr>
              <a:t>子密钥产生算法</a:t>
            </a: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：该算法的复杂性越大，</a:t>
            </a:r>
            <a:r>
              <a:rPr sz="2400" kern="0" spc="-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6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则密码分析的困难性就越大。</a:t>
            </a:r>
            <a:endParaRPr lang="en-US" altLang="en-US" sz="2400" dirty="0">
              <a:latin typeface="Arial" panose="020B0604020202020204" pitchFamily="34" charset="0"/>
              <a:ea typeface="黑体" panose="02010609060101010101" charset="-122"/>
            </a:endParaRPr>
          </a:p>
          <a:p>
            <a:pPr algn="l" rtl="0" eaLnBrk="0">
              <a:lnSpc>
                <a:spcPct val="104000"/>
              </a:lnSpc>
            </a:pPr>
            <a:endParaRPr lang="en-US" altLang="en-US" sz="14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15240" algn="l" rtl="0" eaLnBrk="0">
              <a:lnSpc>
                <a:spcPct val="93000"/>
              </a:lnSpc>
            </a:pP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⑤</a:t>
            </a:r>
            <a:r>
              <a:rPr sz="2400" kern="0" spc="-4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17" cap="flat" cmpd="sng">
                  <a:solidFill>
                    <a:srgbClr val="954F72">
                      <a:alpha val="100000"/>
                    </a:srgbClr>
                  </a:solidFill>
                  <a:prstDash val="solid"/>
                  <a:miter lim="10"/>
                </a:ln>
                <a:solidFill>
                  <a:srgbClr val="954F72">
                    <a:alpha val="100000"/>
                  </a:srgbClr>
                </a:solidFill>
                <a:latin typeface="Arial" panose="020B0604020202020204" pitchFamily="34" charset="0"/>
                <a:ea typeface="黑体" panose="02010609060101010101" charset="-122"/>
                <a:cs typeface="仿宋" panose="02010609060101010101" charset="-122"/>
              </a:rPr>
              <a:t>轮函数</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：轮函数的复杂性越大，</a:t>
            </a:r>
            <a:r>
              <a:rPr sz="24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密码分析的困难性也越大。</a:t>
            </a:r>
            <a:endParaRPr lang="en-US" altLang="en-US" sz="2400" dirty="0">
              <a:latin typeface="Arial" panose="020B0604020202020204" pitchFamily="34" charset="0"/>
              <a:ea typeface="黑体" panose="02010609060101010101" charset="-122"/>
            </a:endParaRPr>
          </a:p>
        </p:txBody>
      </p:sp>
      <p:sp>
        <p:nvSpPr>
          <p:cNvPr id="56" name="textbox 56"/>
          <p:cNvSpPr/>
          <p:nvPr/>
        </p:nvSpPr>
        <p:spPr>
          <a:xfrm>
            <a:off x="1552681" y="491245"/>
            <a:ext cx="4306570"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Feistel</a:t>
            </a:r>
            <a:r>
              <a:rPr sz="3100" kern="0" spc="16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密码实现的参数</a:t>
            </a:r>
            <a:endParaRPr lang="en-US" altLang="en-US" sz="3100" dirty="0">
              <a:latin typeface="Arial" panose="020B0604020202020204" pitchFamily="34" charset="0"/>
              <a:ea typeface="黑体" panose="02010609060101010101" charset="-122"/>
            </a:endParaRPr>
          </a:p>
        </p:txBody>
      </p:sp>
      <p:sp>
        <p:nvSpPr>
          <p:cNvPr id="60"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62" name="picture 62"/>
          <p:cNvPicPr>
            <a:picLocks noChangeAspect="1"/>
          </p:cNvPicPr>
          <p:nvPr/>
        </p:nvPicPr>
        <p:blipFill>
          <a:blip r:embed="rId1"/>
          <a:stretch>
            <a:fillRect/>
          </a:stretch>
        </p:blipFill>
        <p:spPr>
          <a:xfrm rot="21600000">
            <a:off x="822960" y="408431"/>
            <a:ext cx="420623" cy="655320"/>
          </a:xfrm>
          <a:prstGeom prst="rect">
            <a:avLst/>
          </a:prstGeom>
        </p:spPr>
      </p:pic>
      <p:sp>
        <p:nvSpPr>
          <p:cNvPr id="6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66"/>
          <p:cNvSpPr/>
          <p:nvPr/>
        </p:nvSpPr>
        <p:spPr>
          <a:xfrm>
            <a:off x="815441" y="1384477"/>
            <a:ext cx="10351134" cy="2266950"/>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25400" algn="l" rtl="0" eaLnBrk="0">
              <a:lnSpc>
                <a:spcPct val="93000"/>
              </a:lnSpc>
            </a:pP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在设计</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Feistel</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网络时，还有以</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下两个方面需要考虑：</a:t>
            </a:r>
            <a:endParaRPr lang="en-US" altLang="en-US" sz="2400" dirty="0">
              <a:latin typeface="Arial" panose="020B0604020202020204" pitchFamily="34" charset="0"/>
              <a:ea typeface="黑体" panose="02010609060101010101" charset="-122"/>
            </a:endParaRPr>
          </a:p>
          <a:p>
            <a:pPr marL="13335" algn="l" rtl="0" eaLnBrk="0">
              <a:lnSpc>
                <a:spcPct val="83000"/>
              </a:lnSpc>
              <a:spcBef>
                <a:spcPts val="1630"/>
              </a:spcBef>
            </a:pP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①</a:t>
            </a:r>
            <a:r>
              <a:rPr sz="24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30" dirty="0">
                <a:ln w="8717"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快速的软件实现</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：在很多情况中，算法是</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被镶嵌在应用程序中，因而无法</a:t>
            </a:r>
            <a:endParaRPr lang="en-US" altLang="en-US" sz="2400" dirty="0">
              <a:latin typeface="Arial" panose="020B0604020202020204" pitchFamily="34" charset="0"/>
              <a:ea typeface="黑体" panose="02010609060101010101" charset="-122"/>
            </a:endParaRPr>
          </a:p>
          <a:p>
            <a:pPr marL="251460" algn="l" rtl="0" eaLnBrk="0">
              <a:lnSpc>
                <a:spcPts val="3315"/>
              </a:lnSpc>
            </a:pP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用硬件实现。此时算法的执行速度是考虑的关键。</a:t>
            </a:r>
            <a:endParaRPr lang="en-US" altLang="en-US" sz="2400" dirty="0">
              <a:latin typeface="Arial" panose="020B0604020202020204" pitchFamily="34" charset="0"/>
              <a:ea typeface="黑体" panose="02010609060101010101" charset="-122"/>
            </a:endParaRPr>
          </a:p>
          <a:p>
            <a:pPr algn="l" rtl="0" eaLnBrk="0">
              <a:lnSpc>
                <a:spcPct val="101000"/>
              </a:lnSpc>
            </a:pPr>
            <a:endParaRPr lang="en-US" altLang="en-US" sz="1000" dirty="0">
              <a:latin typeface="Arial" panose="020B0604020202020204" pitchFamily="34" charset="0"/>
              <a:ea typeface="黑体" panose="02010609060101010101" charset="-122"/>
            </a:endParaRPr>
          </a:p>
          <a:p>
            <a:pPr marL="12700" algn="l" rtl="0" eaLnBrk="0">
              <a:lnSpc>
                <a:spcPct val="83000"/>
              </a:lnSpc>
              <a:spcBef>
                <a:spcPts val="720"/>
              </a:spcBef>
            </a:pP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②</a:t>
            </a:r>
            <a:r>
              <a:rPr sz="24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30" dirty="0">
                <a:ln w="8708"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算法容易分析</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：如果算法能被无疑义</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地解释清楚，就可容易地分析算法抵</a:t>
            </a:r>
            <a:endParaRPr lang="en-US" altLang="en-US" sz="2400" dirty="0">
              <a:latin typeface="Arial" panose="020B0604020202020204" pitchFamily="34" charset="0"/>
              <a:ea typeface="黑体" panose="02010609060101010101" charset="-122"/>
            </a:endParaRPr>
          </a:p>
          <a:p>
            <a:pPr marL="251460" algn="l" rtl="0" eaLnBrk="0">
              <a:lnSpc>
                <a:spcPts val="3310"/>
              </a:lnSpc>
            </a:pP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抗攻击的能力，有助于设计高强度的算法。</a:t>
            </a:r>
            <a:endParaRPr lang="en-US" altLang="en-US" sz="2400" dirty="0">
              <a:latin typeface="Arial" panose="020B0604020202020204" pitchFamily="34" charset="0"/>
              <a:ea typeface="黑体" panose="02010609060101010101" charset="-122"/>
            </a:endParaRPr>
          </a:p>
        </p:txBody>
      </p:sp>
      <p:sp>
        <p:nvSpPr>
          <p:cNvPr id="68" name="textbox 68"/>
          <p:cNvSpPr/>
          <p:nvPr/>
        </p:nvSpPr>
        <p:spPr>
          <a:xfrm>
            <a:off x="1570113" y="491245"/>
            <a:ext cx="5107940"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13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设计</a:t>
            </a:r>
            <a:r>
              <a:rPr sz="3100" kern="0" spc="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Feistel</a:t>
            </a:r>
            <a:r>
              <a:rPr sz="3100" kern="0" spc="13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密码的两个要求</a:t>
            </a:r>
            <a:endParaRPr lang="en-US" altLang="en-US" sz="3100" dirty="0">
              <a:latin typeface="Arial" panose="020B0604020202020204" pitchFamily="34" charset="0"/>
              <a:ea typeface="黑体" panose="02010609060101010101" charset="-122"/>
            </a:endParaRPr>
          </a:p>
        </p:txBody>
      </p:sp>
      <p:sp>
        <p:nvSpPr>
          <p:cNvPr id="7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74" name="picture 74"/>
          <p:cNvPicPr>
            <a:picLocks noChangeAspect="1"/>
          </p:cNvPicPr>
          <p:nvPr/>
        </p:nvPicPr>
        <p:blipFill>
          <a:blip r:embed="rId1"/>
          <a:stretch>
            <a:fillRect/>
          </a:stretch>
        </p:blipFill>
        <p:spPr>
          <a:xfrm rot="21600000">
            <a:off x="822960" y="408431"/>
            <a:ext cx="420623" cy="655320"/>
          </a:xfrm>
          <a:prstGeom prst="rect">
            <a:avLst/>
          </a:prstGeom>
        </p:spPr>
      </p:pic>
      <p:sp>
        <p:nvSpPr>
          <p:cNvPr id="7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3557015" y="2057400"/>
            <a:ext cx="5708903" cy="813816"/>
            <a:chOff x="0" y="0"/>
            <a:chExt cx="5708903" cy="813816"/>
          </a:xfrm>
        </p:grpSpPr>
        <p:pic>
          <p:nvPicPr>
            <p:cNvPr id="78" name="picture 78"/>
            <p:cNvPicPr>
              <a:picLocks noChangeAspect="1"/>
            </p:cNvPicPr>
            <p:nvPr/>
          </p:nvPicPr>
          <p:blipFill>
            <a:blip r:embed="rId1"/>
            <a:stretch>
              <a:fillRect/>
            </a:stretch>
          </p:blipFill>
          <p:spPr>
            <a:xfrm rot="21600000">
              <a:off x="0" y="0"/>
              <a:ext cx="5708903" cy="813816"/>
            </a:xfrm>
            <a:prstGeom prst="rect">
              <a:avLst/>
            </a:prstGeom>
          </p:spPr>
        </p:pic>
        <p:sp>
          <p:nvSpPr>
            <p:cNvPr id="80" name="textbox 80"/>
            <p:cNvSpPr/>
            <p:nvPr/>
          </p:nvSpPr>
          <p:spPr>
            <a:xfrm>
              <a:off x="-12700" y="-12700"/>
              <a:ext cx="5734684" cy="879475"/>
            </a:xfrm>
            <a:prstGeom prst="rect">
              <a:avLst/>
            </a:prstGeom>
          </p:spPr>
          <p:txBody>
            <a:bodyPr vert="horz" wrap="square" lIns="0" tIns="0" rIns="0" bIns="0"/>
            <a:lstStyle/>
            <a:p>
              <a:pPr algn="l" rtl="0" eaLnBrk="0">
                <a:lnSpc>
                  <a:spcPct val="168000"/>
                </a:lnSpc>
              </a:pPr>
              <a:endParaRPr lang="en-US" altLang="en-US" sz="1000" dirty="0">
                <a:latin typeface="Arial" panose="020B0604020202020204" pitchFamily="34" charset="0"/>
                <a:ea typeface="黑体" panose="02010609060101010101" charset="-122"/>
              </a:endParaRPr>
            </a:p>
            <a:p>
              <a:pPr marL="664210" algn="l" rtl="0" eaLnBrk="0">
                <a:lnSpc>
                  <a:spcPct val="94000"/>
                </a:lnSpc>
                <a:spcBef>
                  <a:spcPts val="5"/>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Feistel</a:t>
              </a:r>
              <a:r>
                <a:rPr sz="2400" kern="0" spc="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密码设计思想</a:t>
              </a:r>
              <a:endParaRPr lang="en-US" altLang="en-US" sz="2400" dirty="0">
                <a:latin typeface="Arial" panose="020B0604020202020204" pitchFamily="34" charset="0"/>
                <a:ea typeface="黑体" panose="02010609060101010101" charset="-122"/>
              </a:endParaRPr>
            </a:p>
          </p:txBody>
        </p:sp>
      </p:grpSp>
      <p:grpSp>
        <p:nvGrpSpPr>
          <p:cNvPr id="10" name="group 10"/>
          <p:cNvGrpSpPr/>
          <p:nvPr/>
        </p:nvGrpSpPr>
        <p:grpSpPr>
          <a:xfrm rot="21600000">
            <a:off x="3709415" y="3886200"/>
            <a:ext cx="5507736" cy="813816"/>
            <a:chOff x="0" y="0"/>
            <a:chExt cx="5507736" cy="813816"/>
          </a:xfrm>
        </p:grpSpPr>
        <p:pic>
          <p:nvPicPr>
            <p:cNvPr id="82" name="picture 82"/>
            <p:cNvPicPr>
              <a:picLocks noChangeAspect="1"/>
            </p:cNvPicPr>
            <p:nvPr/>
          </p:nvPicPr>
          <p:blipFill>
            <a:blip r:embed="rId2"/>
            <a:stretch>
              <a:fillRect/>
            </a:stretch>
          </p:blipFill>
          <p:spPr>
            <a:xfrm rot="21600000">
              <a:off x="0" y="0"/>
              <a:ext cx="5507736" cy="813816"/>
            </a:xfrm>
            <a:prstGeom prst="rect">
              <a:avLst/>
            </a:prstGeom>
          </p:spPr>
        </p:pic>
        <p:sp>
          <p:nvSpPr>
            <p:cNvPr id="84" name="textbox 84"/>
            <p:cNvSpPr/>
            <p:nvPr/>
          </p:nvSpPr>
          <p:spPr>
            <a:xfrm>
              <a:off x="-12700" y="-12700"/>
              <a:ext cx="5533390" cy="879475"/>
            </a:xfrm>
            <a:prstGeom prst="rect">
              <a:avLst/>
            </a:prstGeom>
          </p:spPr>
          <p:txBody>
            <a:bodyPr vert="horz" wrap="square" lIns="0" tIns="0" rIns="0" bIns="0"/>
            <a:lstStyle/>
            <a:p>
              <a:pPr algn="l" rtl="0" eaLnBrk="0">
                <a:lnSpc>
                  <a:spcPct val="169000"/>
                </a:lnSpc>
              </a:pPr>
              <a:endParaRPr lang="en-US" altLang="en-US" sz="1000" dirty="0">
                <a:latin typeface="Arial" panose="020B0604020202020204" pitchFamily="34" charset="0"/>
                <a:ea typeface="黑体" panose="02010609060101010101" charset="-122"/>
              </a:endParaRPr>
            </a:p>
            <a:p>
              <a:pPr marL="664210" algn="l" rtl="0" eaLnBrk="0">
                <a:lnSpc>
                  <a:spcPct val="94000"/>
                </a:lnSpc>
                <a:spcBef>
                  <a:spcPts val="0"/>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Feistel</a:t>
              </a:r>
              <a:r>
                <a:rPr sz="2400" kern="0" spc="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密码加解密结构</a:t>
              </a:r>
              <a:endParaRPr lang="en-US" altLang="en-US" sz="2400" dirty="0">
                <a:latin typeface="Arial" panose="020B0604020202020204" pitchFamily="34" charset="0"/>
                <a:ea typeface="黑体" panose="02010609060101010101" charset="-122"/>
              </a:endParaRPr>
            </a:p>
          </p:txBody>
        </p:sp>
      </p:grpSp>
      <p:grpSp>
        <p:nvGrpSpPr>
          <p:cNvPr id="12" name="group 12"/>
          <p:cNvGrpSpPr/>
          <p:nvPr/>
        </p:nvGrpSpPr>
        <p:grpSpPr>
          <a:xfrm rot="21600000">
            <a:off x="2969132" y="1523492"/>
            <a:ext cx="1249298" cy="3784726"/>
            <a:chOff x="0" y="0"/>
            <a:chExt cx="1249298" cy="3784726"/>
          </a:xfrm>
        </p:grpSpPr>
        <p:sp>
          <p:nvSpPr>
            <p:cNvPr id="86"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88"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90"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92"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94"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96" name="textbox 96"/>
          <p:cNvSpPr/>
          <p:nvPr/>
        </p:nvSpPr>
        <p:spPr>
          <a:xfrm>
            <a:off x="2745984" y="491245"/>
            <a:ext cx="4067175"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Feistel</a:t>
            </a:r>
            <a:r>
              <a:rPr sz="3100" kern="0" spc="11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结构</a:t>
            </a:r>
            <a:endParaRPr lang="en-US" altLang="en-US" sz="3100" dirty="0">
              <a:latin typeface="Arial" panose="020B0604020202020204" pitchFamily="34" charset="0"/>
              <a:ea typeface="黑体" panose="02010609060101010101" charset="-122"/>
            </a:endParaRPr>
          </a:p>
        </p:txBody>
      </p:sp>
      <p:sp>
        <p:nvSpPr>
          <p:cNvPr id="10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02" name="picture 102"/>
          <p:cNvPicPr>
            <a:picLocks noChangeAspect="1"/>
          </p:cNvPicPr>
          <p:nvPr/>
        </p:nvPicPr>
        <p:blipFill>
          <a:blip r:embed="rId3"/>
          <a:stretch>
            <a:fillRect/>
          </a:stretch>
        </p:blipFill>
        <p:spPr>
          <a:xfrm rot="21600000">
            <a:off x="822960" y="408431"/>
            <a:ext cx="420623" cy="655320"/>
          </a:xfrm>
          <a:prstGeom prst="rect">
            <a:avLst/>
          </a:prstGeom>
        </p:spPr>
      </p:pic>
      <p:sp>
        <p:nvSpPr>
          <p:cNvPr id="10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box 106"/>
          <p:cNvSpPr/>
          <p:nvPr/>
        </p:nvSpPr>
        <p:spPr>
          <a:xfrm>
            <a:off x="1596532" y="1428994"/>
            <a:ext cx="9488169" cy="4051934"/>
          </a:xfrm>
          <a:prstGeom prst="rect">
            <a:avLst/>
          </a:prstGeom>
        </p:spPr>
        <p:txBody>
          <a:bodyPr vert="horz" wrap="square" lIns="0" tIns="0" rIns="0" bIns="0"/>
          <a:lstStyle/>
          <a:p>
            <a:pPr algn="l" rtl="0" eaLnBrk="0">
              <a:lnSpc>
                <a:spcPct val="42000"/>
              </a:lnSpc>
            </a:pPr>
            <a:endParaRPr lang="en-US" altLang="en-US" sz="100" dirty="0">
              <a:latin typeface="Arial" panose="020B0604020202020204" pitchFamily="34" charset="0"/>
              <a:ea typeface="黑体" panose="02010609060101010101" charset="-122"/>
            </a:endParaRPr>
          </a:p>
          <a:p>
            <a:pPr marL="23495" indent="-11430" algn="l" rtl="0" eaLnBrk="0">
              <a:lnSpc>
                <a:spcPct val="107000"/>
              </a:lnSpc>
            </a:pPr>
            <a:r>
              <a:rPr sz="1600" kern="0" spc="10" dirty="0">
                <a:solidFill>
                  <a:srgbClr val="954F72">
                    <a:alpha val="100000"/>
                  </a:srgbClr>
                </a:solidFill>
                <a:latin typeface="Arial" panose="020B0604020202020204" pitchFamily="34" charset="0"/>
                <a:ea typeface="黑体" panose="02010609060101010101" charset="-122"/>
                <a:cs typeface="Wingdings" panose="05000000000000000000" pitchFamily="2" charset="2"/>
              </a:rPr>
              <a:t>&gt;</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输入是分组长为</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8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w</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的明文和</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一个密钥</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。将每组明文分成左</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右两半</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2800" b="1" i="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2800" b="1" i="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1800" b="1"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，在进行完</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轮迭</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代后，左右两半再合并到一起</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以产生密文分组。第</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迭代的输入为前一轮输出的函数：</a:t>
            </a:r>
            <a:endParaRPr lang="en-US" altLang="en-US" sz="2800" dirty="0">
              <a:latin typeface="Arial" panose="020B0604020202020204" pitchFamily="34" charset="0"/>
              <a:ea typeface="黑体" panose="02010609060101010101" charset="-122"/>
            </a:endParaRPr>
          </a:p>
          <a:p>
            <a:pPr algn="l" rtl="0" eaLnBrk="0">
              <a:lnSpc>
                <a:spcPct val="138000"/>
              </a:lnSpc>
            </a:pPr>
            <a:endParaRPr lang="en-US" altLang="en-US" sz="1000" dirty="0">
              <a:latin typeface="Arial" panose="020B0604020202020204" pitchFamily="34" charset="0"/>
              <a:ea typeface="黑体" panose="02010609060101010101" charset="-122"/>
            </a:endParaRPr>
          </a:p>
          <a:p>
            <a:pPr algn="l" rtl="0" eaLnBrk="0">
              <a:lnSpc>
                <a:spcPct val="139000"/>
              </a:lnSpc>
            </a:pPr>
            <a:endParaRPr lang="en-US" altLang="en-US" sz="1000" dirty="0">
              <a:latin typeface="Arial" panose="020B0604020202020204" pitchFamily="34" charset="0"/>
              <a:ea typeface="黑体" panose="02010609060101010101" charset="-122"/>
            </a:endParaRPr>
          </a:p>
          <a:p>
            <a:pPr marL="2662555" algn="l" rtl="0" eaLnBrk="0">
              <a:lnSpc>
                <a:spcPct val="99000"/>
              </a:lnSpc>
              <a:spcBef>
                <a:spcPts val="550"/>
              </a:spcBef>
            </a:pPr>
            <a:r>
              <a:rPr sz="1800" i="1" kern="0" spc="-3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1800" i="1" kern="0" spc="3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1800" i="1" kern="0" spc="-30" dirty="0">
                <a:solidFill>
                  <a:srgbClr val="FF0000">
                    <a:alpha val="100000"/>
                  </a:srgbClr>
                </a:solidFill>
                <a:latin typeface="Arial" panose="020B0604020202020204" pitchFamily="34" charset="0"/>
                <a:ea typeface="黑体" panose="02010609060101010101" charset="-122"/>
                <a:cs typeface="Times New Roman" panose="02020603050405020304"/>
              </a:rPr>
              <a:t>i   </a:t>
            </a:r>
            <a:r>
              <a:rPr sz="1800" kern="0" spc="-30" dirty="0">
                <a:solidFill>
                  <a:srgbClr val="FF0000">
                    <a:alpha val="100000"/>
                  </a:srgbClr>
                </a:solidFill>
                <a:latin typeface="Arial" panose="020B0604020202020204" pitchFamily="34" charset="0"/>
                <a:ea typeface="黑体" panose="02010609060101010101" charset="-122"/>
                <a:cs typeface="Times New Roman" panose="02020603050405020304"/>
              </a:rPr>
              <a:t>1</a:t>
            </a:r>
            <a:endParaRPr lang="en-US" altLang="en-US" sz="1800" dirty="0">
              <a:latin typeface="Arial" panose="020B0604020202020204" pitchFamily="34" charset="0"/>
              <a:ea typeface="黑体" panose="02010609060101010101" charset="-122"/>
            </a:endParaRPr>
          </a:p>
          <a:p>
            <a:pPr marL="2435225" algn="l" rtl="0" eaLnBrk="0">
              <a:lnSpc>
                <a:spcPct val="84000"/>
              </a:lnSpc>
              <a:spcBef>
                <a:spcPts val="845"/>
              </a:spcBef>
            </a:pPr>
            <a:r>
              <a:rPr sz="5000" i="1" kern="0" spc="-40" baseline="5000" dirty="0">
                <a:solidFill>
                  <a:srgbClr val="FF0000">
                    <a:alpha val="100000"/>
                  </a:srgbClr>
                </a:solidFill>
                <a:latin typeface="Arial" panose="020B0604020202020204" pitchFamily="34" charset="0"/>
                <a:ea typeface="黑体" panose="02010609060101010101" charset="-122"/>
                <a:cs typeface="Times New Roman" panose="02020603050405020304"/>
              </a:rPr>
              <a:t>R</a:t>
            </a:r>
            <a:r>
              <a:rPr sz="2900" i="1" kern="0" spc="-4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1800" i="1" kern="0" spc="15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kern="0" spc="-80" baseline="5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3200" kern="0" spc="-230" dirty="0">
                <a:solidFill>
                  <a:srgbClr val="FF0000">
                    <a:alpha val="100000"/>
                  </a:srgbClr>
                </a:solidFill>
                <a:latin typeface="Arial" panose="020B0604020202020204" pitchFamily="34" charset="0"/>
                <a:ea typeface="黑体" panose="02010609060101010101" charset="-122"/>
                <a:cs typeface="微软雅黑" panose="020B0503020204020204" charset="-122"/>
              </a:rPr>
              <a:t> </a:t>
            </a:r>
            <a:r>
              <a:rPr sz="5000" i="1" kern="0" spc="-80" baseline="5000" dirty="0">
                <a:solidFill>
                  <a:srgbClr val="FF0000">
                    <a:alpha val="100000"/>
                  </a:srgbClr>
                </a:solidFill>
                <a:latin typeface="Arial" panose="020B0604020202020204" pitchFamily="34" charset="0"/>
                <a:ea typeface="黑体" panose="02010609060101010101" charset="-122"/>
                <a:cs typeface="Times New Roman" panose="02020603050405020304"/>
              </a:rPr>
              <a:t>L</a:t>
            </a:r>
            <a:r>
              <a:rPr sz="2900" i="1" kern="0" spc="-8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2900" kern="0" spc="-80" baseline="-20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2900" kern="0" spc="-8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1</a:t>
            </a:r>
            <a:r>
              <a:rPr sz="1800" kern="0" spc="35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kern="0" spc="-30" baseline="5000" dirty="0">
                <a:solidFill>
                  <a:srgbClr val="FF0000">
                    <a:alpha val="100000"/>
                  </a:srgbClr>
                </a:solidFill>
                <a:latin typeface="Arial" panose="020B0604020202020204" pitchFamily="34" charset="0"/>
                <a:ea typeface="黑体" panose="02010609060101010101" charset="-122"/>
                <a:cs typeface="微软雅黑" panose="020B0503020204020204" charset="-122"/>
              </a:rPr>
              <a:t>①</a:t>
            </a:r>
            <a:r>
              <a:rPr sz="3200" kern="0" spc="-430" dirty="0">
                <a:solidFill>
                  <a:srgbClr val="FF0000">
                    <a:alpha val="100000"/>
                  </a:srgbClr>
                </a:solidFill>
                <a:latin typeface="Arial" panose="020B0604020202020204" pitchFamily="34" charset="0"/>
                <a:ea typeface="黑体" panose="02010609060101010101" charset="-122"/>
                <a:cs typeface="微软雅黑" panose="020B0503020204020204" charset="-122"/>
              </a:rPr>
              <a:t> </a:t>
            </a:r>
            <a:r>
              <a:rPr sz="5000" i="1" kern="0" spc="-30" baseline="5000" dirty="0">
                <a:solidFill>
                  <a:srgbClr val="FF0000">
                    <a:alpha val="100000"/>
                  </a:srgbClr>
                </a:solidFill>
                <a:latin typeface="Arial" panose="020B0604020202020204" pitchFamily="34" charset="0"/>
                <a:ea typeface="黑体" panose="02010609060101010101" charset="-122"/>
                <a:cs typeface="Times New Roman" panose="02020603050405020304"/>
              </a:rPr>
              <a:t>F</a:t>
            </a:r>
            <a:r>
              <a:rPr sz="3200" i="1" kern="0" spc="-23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4300" kern="0" spc="-3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5000" i="1" kern="0" spc="-30" baseline="5000" dirty="0">
                <a:solidFill>
                  <a:srgbClr val="FF0000">
                    <a:alpha val="100000"/>
                  </a:srgbClr>
                </a:solidFill>
                <a:latin typeface="Arial" panose="020B0604020202020204" pitchFamily="34" charset="0"/>
                <a:ea typeface="黑体" panose="02010609060101010101" charset="-122"/>
                <a:cs typeface="Times New Roman" panose="02020603050405020304"/>
              </a:rPr>
              <a:t>R</a:t>
            </a:r>
            <a:r>
              <a:rPr sz="2900" i="1" kern="0" spc="-3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2900" kern="0" spc="-30" baseline="-20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2900" kern="0" spc="-3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1</a:t>
            </a:r>
            <a:r>
              <a:rPr sz="1800" kern="0" spc="-11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kern="0" spc="-30" baseline="5000" dirty="0">
                <a:solidFill>
                  <a:srgbClr val="FF0000">
                    <a:alpha val="100000"/>
                  </a:srgbClr>
                </a:solidFill>
                <a:latin typeface="Arial" panose="020B0604020202020204" pitchFamily="34" charset="0"/>
                <a:ea typeface="黑体" panose="02010609060101010101" charset="-122"/>
                <a:cs typeface="Times New Roman" panose="02020603050405020304"/>
              </a:rPr>
              <a:t>,</a:t>
            </a:r>
            <a:r>
              <a:rPr sz="3200" kern="0" spc="62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i="1" kern="0" spc="-30" baseline="5000" dirty="0">
                <a:solidFill>
                  <a:srgbClr val="FF0000">
                    <a:alpha val="100000"/>
                  </a:srgbClr>
                </a:solidFill>
                <a:latin typeface="Arial" panose="020B0604020202020204" pitchFamily="34" charset="0"/>
                <a:ea typeface="黑体" panose="02010609060101010101" charset="-122"/>
                <a:cs typeface="Times New Roman" panose="02020603050405020304"/>
              </a:rPr>
              <a:t>K</a:t>
            </a:r>
            <a:r>
              <a:rPr sz="2900" i="1" kern="0" spc="-3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1800" i="1" kern="0" spc="22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4300" kern="0" spc="-4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endParaRPr lang="en-US" altLang="en-US" sz="4300" dirty="0">
              <a:latin typeface="Arial" panose="020B0604020202020204" pitchFamily="34" charset="0"/>
              <a:ea typeface="黑体" panose="02010609060101010101" charset="-122"/>
            </a:endParaRPr>
          </a:p>
          <a:p>
            <a:pPr algn="l" rtl="0" eaLnBrk="0">
              <a:lnSpc>
                <a:spcPct val="173000"/>
              </a:lnSpc>
            </a:pP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7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22860" indent="-10160" algn="l" rtl="0" eaLnBrk="0">
              <a:lnSpc>
                <a:spcPct val="102000"/>
              </a:lnSpc>
            </a:pPr>
            <a:r>
              <a:rPr sz="1600" kern="0" spc="-110" dirty="0">
                <a:solidFill>
                  <a:srgbClr val="954F72">
                    <a:alpha val="100000"/>
                  </a:srgbClr>
                </a:solidFill>
                <a:latin typeface="Arial" panose="020B0604020202020204" pitchFamily="34" charset="0"/>
                <a:ea typeface="黑体" panose="02010609060101010101" charset="-122"/>
                <a:cs typeface="Wingdings" panose="05000000000000000000" pitchFamily="2" charset="2"/>
              </a:rPr>
              <a:t>&gt;</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其中</a:t>
            </a:r>
            <a:r>
              <a:rPr sz="2800" b="1"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i="1" kern="0" spc="-1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是第</a:t>
            </a:r>
            <a:r>
              <a:rPr sz="2800" b="1"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轮用的子密钥，</a:t>
            </a:r>
            <a:r>
              <a:rPr sz="2800" kern="0" spc="6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由加密密钥</a:t>
            </a:r>
            <a:r>
              <a:rPr sz="2800" b="1"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得到。</a:t>
            </a:r>
            <a:r>
              <a:rPr sz="2800" kern="0" spc="-1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一般地，各</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轮子密钥彼此不同而且与</a:t>
            </a:r>
            <a:r>
              <a:rPr sz="28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也不同。</a:t>
            </a:r>
            <a:endParaRPr lang="en-US" altLang="en-US" sz="2800" dirty="0">
              <a:latin typeface="Arial" panose="020B0604020202020204" pitchFamily="34" charset="0"/>
              <a:ea typeface="黑体" panose="02010609060101010101" charset="-122"/>
            </a:endParaRPr>
          </a:p>
        </p:txBody>
      </p:sp>
      <p:sp>
        <p:nvSpPr>
          <p:cNvPr id="108" name="textbox 108"/>
          <p:cNvSpPr/>
          <p:nvPr/>
        </p:nvSpPr>
        <p:spPr>
          <a:xfrm>
            <a:off x="1553210" y="466725"/>
            <a:ext cx="3790950" cy="483870"/>
          </a:xfrm>
          <a:prstGeom prst="rect">
            <a:avLst/>
          </a:prstGeom>
        </p:spPr>
        <p:txBody>
          <a:bodyPr vert="horz" wrap="square" lIns="0" tIns="0" rIns="0" bIns="0"/>
          <a:lstStyle/>
          <a:p>
            <a:pPr algn="l" rtl="0" eaLnBrk="0">
              <a:lnSpc>
                <a:spcPct val="8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b="1" kern="0" spc="0" dirty="0">
                <a:solidFill>
                  <a:srgbClr val="0563C1">
                    <a:alpha val="100000"/>
                  </a:srgbClr>
                </a:solidFill>
                <a:latin typeface="Arial" panose="020B0604020202020204" pitchFamily="34" charset="0"/>
                <a:ea typeface="黑体" panose="02010609060101010101" charset="-122"/>
                <a:cs typeface="Times New Roman" panose="02020603050405020304"/>
              </a:rPr>
              <a:t>Feistel</a:t>
            </a:r>
            <a:r>
              <a:rPr sz="3100" kern="0" spc="16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加密结构</a:t>
            </a:r>
            <a:endParaRPr lang="en-US" altLang="en-US" sz="3100" dirty="0">
              <a:latin typeface="Arial" panose="020B0604020202020204" pitchFamily="34" charset="0"/>
              <a:ea typeface="黑体" panose="02010609060101010101" charset="-122"/>
            </a:endParaRPr>
          </a:p>
        </p:txBody>
      </p:sp>
      <p:sp>
        <p:nvSpPr>
          <p:cNvPr id="112" name="textbox 112"/>
          <p:cNvSpPr/>
          <p:nvPr/>
        </p:nvSpPr>
        <p:spPr>
          <a:xfrm>
            <a:off x="4015424" y="3067420"/>
            <a:ext cx="1253489" cy="353695"/>
          </a:xfrm>
          <a:prstGeom prst="rect">
            <a:avLst/>
          </a:prstGeom>
        </p:spPr>
        <p:txBody>
          <a:bodyPr vert="horz" wrap="square" lIns="0" tIns="0" rIns="0" bIns="0"/>
          <a:lstStyle/>
          <a:p>
            <a:pPr algn="l" rtl="0" eaLnBrk="0">
              <a:lnSpc>
                <a:spcPct val="93000"/>
              </a:lnSpc>
            </a:pPr>
            <a:endParaRPr lang="en-US" altLang="en-US" sz="100" dirty="0">
              <a:latin typeface="Arial" panose="020B0604020202020204" pitchFamily="34" charset="0"/>
              <a:ea typeface="黑体" panose="02010609060101010101" charset="-122"/>
            </a:endParaRPr>
          </a:p>
          <a:p>
            <a:pPr marL="12700" algn="l" rtl="0" eaLnBrk="0">
              <a:lnSpc>
                <a:spcPct val="67000"/>
              </a:lnSpc>
            </a:pPr>
            <a:r>
              <a:rPr sz="3200" i="1" kern="0" spc="-10" dirty="0">
                <a:solidFill>
                  <a:srgbClr val="FF0000">
                    <a:alpha val="100000"/>
                  </a:srgbClr>
                </a:solidFill>
                <a:latin typeface="Arial" panose="020B0604020202020204" pitchFamily="34" charset="0"/>
                <a:ea typeface="黑体" panose="02010609060101010101" charset="-122"/>
                <a:cs typeface="Times New Roman" panose="02020603050405020304"/>
              </a:rPr>
              <a:t>L</a:t>
            </a:r>
            <a:r>
              <a:rPr sz="3200" i="1" kern="0" spc="70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3200" kern="0" spc="-1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3200" kern="0" spc="-190" dirty="0">
                <a:solidFill>
                  <a:srgbClr val="FF0000">
                    <a:alpha val="100000"/>
                  </a:srgbClr>
                </a:solidFill>
                <a:latin typeface="Arial" panose="020B0604020202020204" pitchFamily="34" charset="0"/>
                <a:ea typeface="黑体" panose="02010609060101010101" charset="-122"/>
                <a:cs typeface="微软雅黑" panose="020B0503020204020204" charset="-122"/>
              </a:rPr>
              <a:t> </a:t>
            </a:r>
            <a:r>
              <a:rPr sz="3200" i="1" kern="0" spc="-10" dirty="0">
                <a:solidFill>
                  <a:srgbClr val="FF0000">
                    <a:alpha val="100000"/>
                  </a:srgbClr>
                </a:solidFill>
                <a:latin typeface="Arial" panose="020B0604020202020204" pitchFamily="34" charset="0"/>
                <a:ea typeface="黑体" panose="02010609060101010101" charset="-122"/>
                <a:cs typeface="Times New Roman" panose="02020603050405020304"/>
              </a:rPr>
              <a:t>R</a:t>
            </a:r>
            <a:r>
              <a:rPr sz="3200" i="1" kern="0" spc="-30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2900" kern="0" spc="-10" baseline="-29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endParaRPr lang="en-US" altLang="en-US" sz="2900" baseline="-29000" dirty="0">
              <a:latin typeface="Arial" panose="020B0604020202020204" pitchFamily="34" charset="0"/>
              <a:ea typeface="黑体" panose="02010609060101010101" charset="-122"/>
            </a:endParaRPr>
          </a:p>
        </p:txBody>
      </p:sp>
      <p:sp>
        <p:nvSpPr>
          <p:cNvPr id="11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16" name="picture 116"/>
          <p:cNvPicPr>
            <a:picLocks noChangeAspect="1"/>
          </p:cNvPicPr>
          <p:nvPr/>
        </p:nvPicPr>
        <p:blipFill>
          <a:blip r:embed="rId1"/>
          <a:stretch>
            <a:fillRect/>
          </a:stretch>
        </p:blipFill>
        <p:spPr>
          <a:xfrm rot="21600000">
            <a:off x="822960" y="408431"/>
            <a:ext cx="420623" cy="655320"/>
          </a:xfrm>
          <a:prstGeom prst="rect">
            <a:avLst/>
          </a:prstGeom>
        </p:spPr>
      </p:pic>
      <p:sp>
        <p:nvSpPr>
          <p:cNvPr id="118"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3573780" y="2881630"/>
            <a:ext cx="4732020" cy="1577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box 120"/>
          <p:cNvSpPr/>
          <p:nvPr/>
        </p:nvSpPr>
        <p:spPr>
          <a:xfrm>
            <a:off x="1243965" y="1652905"/>
            <a:ext cx="9837420" cy="2605405"/>
          </a:xfrm>
          <a:prstGeom prst="rect">
            <a:avLst/>
          </a:prstGeom>
        </p:spPr>
        <p:txBody>
          <a:bodyPr vert="horz" wrap="square" lIns="0" tIns="0" rIns="0" bIns="0"/>
          <a:lstStyle/>
          <a:p>
            <a:pPr algn="l" rtl="0" eaLnBrk="0">
              <a:lnSpc>
                <a:spcPct val="63000"/>
              </a:lnSpc>
            </a:pPr>
            <a:endParaRPr lang="en-US" altLang="en-US" sz="100" dirty="0">
              <a:latin typeface="Arial" panose="020B0604020202020204" pitchFamily="34" charset="0"/>
              <a:ea typeface="黑体" panose="02010609060101010101" charset="-122"/>
            </a:endParaRPr>
          </a:p>
          <a:p>
            <a:pPr marL="247650" indent="-234950" algn="l" rtl="0" eaLnBrk="0">
              <a:lnSpc>
                <a:spcPct val="108000"/>
              </a:lnSpc>
            </a:pPr>
            <a:r>
              <a:rPr sz="2800" kern="0" spc="0" dirty="0">
                <a:solidFill>
                  <a:srgbClr val="000000">
                    <a:alpha val="100000"/>
                  </a:srgbClr>
                </a:solidFill>
                <a:latin typeface="Arial" panose="020B0604020202020204" pitchFamily="34" charset="0"/>
                <a:ea typeface="黑体" panose="02010609060101010101" charset="-122"/>
                <a:cs typeface="Wingdings" panose="05000000000000000000" pitchFamily="2" charset="2"/>
              </a:rPr>
              <a:t>&gt;</a:t>
            </a:r>
            <a:r>
              <a:rPr sz="2800" kern="0" spc="-1350" dirty="0">
                <a:solidFill>
                  <a:srgbClr val="000000">
                    <a:alpha val="100000"/>
                  </a:srgbClr>
                </a:solidFill>
                <a:latin typeface="Arial" panose="020B0604020202020204" pitchFamily="34" charset="0"/>
                <a:ea typeface="黑体" panose="02010609060101010101" charset="-122"/>
                <a:cs typeface="Wingdings" panose="05000000000000000000" pitchFamily="2" charset="2"/>
              </a:rPr>
              <a:t> </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Feistel</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解密过程本质</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上和加密过程是一样的，算法使用密文作</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9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为输入</a:t>
            </a:r>
            <a:endParaRPr lang="en-US" altLang="en-US" sz="2800" dirty="0">
              <a:latin typeface="Arial" panose="020B0604020202020204" pitchFamily="34" charset="0"/>
              <a:ea typeface="黑体" panose="02010609060101010101" charset="-122"/>
            </a:endParaRPr>
          </a:p>
          <a:p>
            <a:pPr algn="l" rtl="0" eaLnBrk="0">
              <a:lnSpc>
                <a:spcPct val="105000"/>
              </a:lnSpc>
            </a:pPr>
            <a:endParaRPr lang="en-US" altLang="en-US" sz="1500" dirty="0">
              <a:latin typeface="Arial" panose="020B0604020202020204" pitchFamily="34" charset="0"/>
              <a:ea typeface="黑体" panose="02010609060101010101" charset="-122"/>
            </a:endParaRPr>
          </a:p>
          <a:p>
            <a:pPr marL="236220" indent="-223520" algn="l" rtl="0" eaLnBrk="0">
              <a:lnSpc>
                <a:spcPct val="111000"/>
              </a:lnSpc>
              <a:spcBef>
                <a:spcPts val="0"/>
              </a:spcBef>
            </a:pPr>
            <a:r>
              <a:rPr sz="2800" kern="0" spc="-20" dirty="0">
                <a:solidFill>
                  <a:srgbClr val="000000">
                    <a:alpha val="100000"/>
                  </a:srgbClr>
                </a:solidFill>
                <a:latin typeface="Arial" panose="020B0604020202020204" pitchFamily="34" charset="0"/>
                <a:ea typeface="黑体" panose="02010609060101010101" charset="-122"/>
                <a:cs typeface="Wingdings" panose="05000000000000000000" pitchFamily="2" charset="2"/>
              </a:rPr>
              <a:t>&gt;</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但使用子密钥</a:t>
            </a:r>
            <a:r>
              <a:rPr sz="28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i="1" kern="0" spc="-2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1800" b="1" i="1"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的次序与加密过程相反，即</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第</a:t>
            </a:r>
            <a:r>
              <a:rPr sz="2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轮使用</a:t>
            </a:r>
            <a:r>
              <a:rPr sz="2800" b="1" i="1" kern="0" spc="-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i="1" kern="0" spc="-3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1800" b="1"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，第</a:t>
            </a:r>
            <a:r>
              <a:rPr sz="2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使用</a:t>
            </a:r>
            <a:r>
              <a:rPr sz="2800" b="1" i="1" kern="0" spc="-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i="1" kern="0" spc="-3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n</a:t>
            </a:r>
            <a:r>
              <a:rPr sz="2800" b="1" kern="0" spc="-3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800" b="1" kern="0" spc="1270" dirty="0">
                <a:solidFill>
                  <a:srgbClr val="000000">
                    <a:alpha val="100000"/>
                  </a:srgbClr>
                </a:solidFill>
                <a:latin typeface="Arial" panose="020B0604020202020204" pitchFamily="34" charset="0"/>
                <a:ea typeface="黑体" panose="02010609060101010101" charset="-122"/>
                <a:cs typeface="Times New Roman" panose="02020603050405020304"/>
              </a:rPr>
              <a:t>ⅆⅆ</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800" kern="0" spc="9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最后一轮使用</a:t>
            </a:r>
            <a:r>
              <a:rPr sz="2800" b="1" i="1" kern="0" spc="-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i="1" kern="0" spc="-3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。这一特性保证了解密和加密</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可采用同一算法。</a:t>
            </a:r>
            <a:endParaRPr lang="en-US" altLang="en-US" sz="2800" dirty="0">
              <a:latin typeface="Arial" panose="020B0604020202020204" pitchFamily="34" charset="0"/>
              <a:ea typeface="黑体" panose="02010609060101010101" charset="-122"/>
            </a:endParaRPr>
          </a:p>
        </p:txBody>
      </p:sp>
      <p:sp>
        <p:nvSpPr>
          <p:cNvPr id="122" name="textbox 122"/>
          <p:cNvSpPr/>
          <p:nvPr/>
        </p:nvSpPr>
        <p:spPr>
          <a:xfrm>
            <a:off x="1553210" y="466725"/>
            <a:ext cx="3619500"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b="1" kern="0" spc="0" dirty="0">
                <a:solidFill>
                  <a:srgbClr val="0563C1">
                    <a:alpha val="100000"/>
                  </a:srgbClr>
                </a:solidFill>
                <a:latin typeface="Arial" panose="020B0604020202020204" pitchFamily="34" charset="0"/>
                <a:ea typeface="黑体" panose="02010609060101010101" charset="-122"/>
                <a:cs typeface="Times New Roman" panose="02020603050405020304"/>
              </a:rPr>
              <a:t>Feistel</a:t>
            </a:r>
            <a:r>
              <a:rPr sz="3100" kern="0" spc="16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解密结构</a:t>
            </a:r>
            <a:endParaRPr lang="en-US" altLang="en-US" sz="3100" dirty="0">
              <a:latin typeface="Arial" panose="020B0604020202020204" pitchFamily="34" charset="0"/>
              <a:ea typeface="黑体" panose="02010609060101010101" charset="-122"/>
            </a:endParaRPr>
          </a:p>
        </p:txBody>
      </p:sp>
      <p:sp>
        <p:nvSpPr>
          <p:cNvPr id="12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28" name="picture 128"/>
          <p:cNvPicPr>
            <a:picLocks noChangeAspect="1"/>
          </p:cNvPicPr>
          <p:nvPr/>
        </p:nvPicPr>
        <p:blipFill>
          <a:blip r:embed="rId1"/>
          <a:stretch>
            <a:fillRect/>
          </a:stretch>
        </p:blipFill>
        <p:spPr>
          <a:xfrm rot="21600000">
            <a:off x="822960" y="408431"/>
            <a:ext cx="420623" cy="655320"/>
          </a:xfrm>
          <a:prstGeom prst="rect">
            <a:avLst/>
          </a:prstGeom>
        </p:spPr>
      </p:pic>
      <p:sp>
        <p:nvSpPr>
          <p:cNvPr id="13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box 138"/>
          <p:cNvSpPr/>
          <p:nvPr/>
        </p:nvSpPr>
        <p:spPr>
          <a:xfrm>
            <a:off x="9702723" y="5855055"/>
            <a:ext cx="1988820" cy="287020"/>
          </a:xfrm>
          <a:prstGeom prst="rect">
            <a:avLst/>
          </a:prstGeom>
        </p:spPr>
        <p:txBody>
          <a:bodyPr vert="horz" wrap="square" lIns="0" tIns="0" rIns="0" bIns="0"/>
          <a:lstStyle/>
          <a:p>
            <a:pPr algn="l" rtl="0" eaLnBrk="0">
              <a:lnSpc>
                <a:spcPct val="87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1800" kern="0" spc="0" dirty="0">
                <a:ln w="653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Feistel</a:t>
            </a:r>
            <a:r>
              <a:rPr sz="1800" kern="0" spc="20" dirty="0">
                <a:ln w="6531"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加解密过程</a:t>
            </a:r>
            <a:endParaRPr lang="en-US" altLang="en-US" sz="1800" dirty="0">
              <a:latin typeface="Arial" panose="020B0604020202020204" pitchFamily="34" charset="0"/>
              <a:ea typeface="黑体" panose="02010609060101010101" charset="-122"/>
            </a:endParaRPr>
          </a:p>
        </p:txBody>
      </p:sp>
      <p:pic>
        <p:nvPicPr>
          <p:cNvPr id="142" name="picture 142"/>
          <p:cNvPicPr>
            <a:picLocks noChangeAspect="1"/>
          </p:cNvPicPr>
          <p:nvPr/>
        </p:nvPicPr>
        <p:blipFill>
          <a:blip r:embed="rId1"/>
          <a:stretch>
            <a:fillRect/>
          </a:stretch>
        </p:blipFill>
        <p:spPr>
          <a:xfrm rot="21600000">
            <a:off x="822960" y="408431"/>
            <a:ext cx="420623" cy="655320"/>
          </a:xfrm>
          <a:prstGeom prst="rect">
            <a:avLst/>
          </a:prstGeom>
        </p:spPr>
      </p:pic>
      <p:pic>
        <p:nvPicPr>
          <p:cNvPr id="5" name="Picture 4" descr="f03.pdf"/>
          <p:cNvPicPr>
            <a:picLocks noChangeAspect="1"/>
          </p:cNvPicPr>
          <p:nvPr>
            <p:custDataLst>
              <p:tags r:id="rId2"/>
            </p:custDataLst>
          </p:nvPr>
        </p:nvPicPr>
        <mc:AlternateContent xmlns:mc="http://schemas.openxmlformats.org/markup-compatibility/2006">
          <mc:Choice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336165" y="-88900"/>
            <a:ext cx="7300595" cy="71983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picture 146"/>
          <p:cNvPicPr>
            <a:picLocks noChangeAspect="1"/>
          </p:cNvPicPr>
          <p:nvPr/>
        </p:nvPicPr>
        <p:blipFill>
          <a:blip r:embed="rId1"/>
          <a:stretch>
            <a:fillRect/>
          </a:stretch>
        </p:blipFill>
        <p:spPr>
          <a:xfrm rot="21600000">
            <a:off x="6410662" y="4030136"/>
            <a:ext cx="126302" cy="461850"/>
          </a:xfrm>
          <a:prstGeom prst="rect">
            <a:avLst/>
          </a:prstGeom>
        </p:spPr>
      </p:pic>
      <p:pic>
        <p:nvPicPr>
          <p:cNvPr id="148" name="picture 148"/>
          <p:cNvPicPr>
            <a:picLocks noChangeAspect="1"/>
          </p:cNvPicPr>
          <p:nvPr/>
        </p:nvPicPr>
        <p:blipFill>
          <a:blip r:embed="rId2"/>
          <a:stretch>
            <a:fillRect/>
          </a:stretch>
        </p:blipFill>
        <p:spPr>
          <a:xfrm rot="21600000">
            <a:off x="3398768" y="4030136"/>
            <a:ext cx="132152" cy="461850"/>
          </a:xfrm>
          <a:prstGeom prst="rect">
            <a:avLst/>
          </a:prstGeom>
        </p:spPr>
      </p:pic>
      <p:sp>
        <p:nvSpPr>
          <p:cNvPr id="150" name="textbox 150"/>
          <p:cNvSpPr/>
          <p:nvPr/>
        </p:nvSpPr>
        <p:spPr>
          <a:xfrm>
            <a:off x="693928" y="4869239"/>
            <a:ext cx="10804525" cy="95123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855980" algn="l" rtl="0" eaLnBrk="0">
              <a:lnSpc>
                <a:spcPts val="3430"/>
              </a:lnSpc>
            </a:pP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所以解密过程第</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轮的输出为</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LE</a:t>
            </a:r>
            <a:r>
              <a:rPr sz="2800" b="1" kern="0" spc="-1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1800" b="1" kern="0" spc="-2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‖RE</a:t>
            </a:r>
            <a:r>
              <a:rPr sz="2800" b="1" kern="0" spc="-1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18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，等于加密过程第</a:t>
            </a: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a:t>
            </a:r>
            <a:endParaRPr lang="en-US" altLang="en-US" sz="2800" dirty="0">
              <a:latin typeface="Arial" panose="020B0604020202020204" pitchFamily="34" charset="0"/>
              <a:ea typeface="黑体" panose="02010609060101010101" charset="-122"/>
            </a:endParaRPr>
          </a:p>
          <a:p>
            <a:pPr marL="12700" algn="l" defTabSz="0" rtl="0" eaLnBrk="0">
              <a:lnSpc>
                <a:spcPct val="94000"/>
              </a:lnSpc>
              <a:spcBef>
                <a:spcPts val="600"/>
              </a:spcBef>
              <a:tabLst>
                <a:tab pos="863600" algn="l"/>
                <a:tab pos="10791825" algn="l"/>
              </a:tabLst>
            </a:pPr>
            <a:r>
              <a:rPr sz="2800" u="sng" kern="0" spc="0" dirty="0">
                <a:solidFill>
                  <a:srgbClr val="0000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2800" u="sng" kern="0" spc="-140" dirty="0">
                <a:ln w="10197" cap="flat" cmpd="sng">
                  <a:solidFill>
                    <a:srgbClr val="000000">
                      <a:alpha val="100000"/>
                    </a:srgbClr>
                  </a:solidFill>
                  <a:prstDash val="solid"/>
                  <a:miter lim="10"/>
                </a:ln>
                <a:solidFill>
                  <a:srgbClr val="0000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输入左右两半交换后的结果。</a:t>
            </a:r>
            <a:r>
              <a:rPr sz="2800" u="sng" kern="0" spc="0" dirty="0">
                <a:solidFill>
                  <a:srgbClr val="0000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endParaRPr lang="en-US" altLang="en-US" sz="2800" dirty="0">
              <a:latin typeface="Arial" panose="020B0604020202020204" pitchFamily="34" charset="0"/>
              <a:ea typeface="黑体" panose="02010609060101010101" charset="-122"/>
            </a:endParaRPr>
          </a:p>
        </p:txBody>
      </p:sp>
      <p:sp>
        <p:nvSpPr>
          <p:cNvPr id="152" name="textbox 152"/>
          <p:cNvSpPr/>
          <p:nvPr/>
        </p:nvSpPr>
        <p:spPr>
          <a:xfrm>
            <a:off x="1528799" y="1144895"/>
            <a:ext cx="2419350" cy="1618614"/>
          </a:xfrm>
          <a:prstGeom prst="rect">
            <a:avLst/>
          </a:prstGeom>
        </p:spPr>
        <p:txBody>
          <a:bodyPr vert="horz" wrap="square" lIns="0" tIns="0" rIns="0" bIns="0"/>
          <a:lstStyle/>
          <a:p>
            <a:pPr algn="l" rtl="0" eaLnBrk="0">
              <a:lnSpc>
                <a:spcPct val="90000"/>
              </a:lnSpc>
            </a:pPr>
            <a:endParaRPr lang="en-US" altLang="en-US" sz="100" dirty="0">
              <a:latin typeface="Arial" panose="020B0604020202020204" pitchFamily="34" charset="0"/>
              <a:ea typeface="黑体" panose="02010609060101010101" charset="-122"/>
            </a:endParaRPr>
          </a:p>
          <a:p>
            <a:pPr algn="r" rtl="0" eaLnBrk="0">
              <a:lnSpc>
                <a:spcPct val="96000"/>
              </a:lnSpc>
            </a:pPr>
            <a:r>
              <a:rPr sz="2700" kern="0" spc="-2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在加密过程中：</a:t>
            </a:r>
            <a:endParaRPr lang="en-US" altLang="en-US" sz="27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700" dirty="0">
              <a:latin typeface="Arial" panose="020B0604020202020204" pitchFamily="34" charset="0"/>
              <a:ea typeface="黑体" panose="02010609060101010101" charset="-122"/>
            </a:endParaRPr>
          </a:p>
          <a:p>
            <a:pPr marL="12700" algn="l" rtl="0" eaLnBrk="0">
              <a:lnSpc>
                <a:spcPct val="93000"/>
              </a:lnSpc>
              <a:spcBef>
                <a:spcPts val="0"/>
              </a:spcBef>
            </a:pP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在解密过程中</a:t>
            </a:r>
            <a:endParaRPr lang="en-US" altLang="en-US" sz="2800" dirty="0">
              <a:latin typeface="Arial" panose="020B0604020202020204" pitchFamily="34" charset="0"/>
              <a:ea typeface="黑体" panose="02010609060101010101" charset="-122"/>
            </a:endParaRPr>
          </a:p>
        </p:txBody>
      </p:sp>
      <p:sp>
        <p:nvSpPr>
          <p:cNvPr id="154" name="textbox 154"/>
          <p:cNvSpPr/>
          <p:nvPr/>
        </p:nvSpPr>
        <p:spPr>
          <a:xfrm>
            <a:off x="4263178" y="1470040"/>
            <a:ext cx="3888740" cy="770890"/>
          </a:xfrm>
          <a:prstGeom prst="rect">
            <a:avLst/>
          </a:prstGeom>
        </p:spPr>
        <p:txBody>
          <a:bodyPr vert="horz" wrap="square" lIns="0" tIns="0" rIns="0" bIns="0"/>
          <a:lstStyle/>
          <a:p>
            <a:pPr algn="l" rtl="0" eaLnBrk="0">
              <a:lnSpc>
                <a:spcPct val="88000"/>
              </a:lnSpc>
            </a:pPr>
            <a:endParaRPr lang="en-US" altLang="en-US" sz="100" dirty="0">
              <a:latin typeface="Arial" panose="020B0604020202020204" pitchFamily="34" charset="0"/>
              <a:ea typeface="黑体" panose="02010609060101010101" charset="-122"/>
            </a:endParaRPr>
          </a:p>
          <a:p>
            <a:pPr marL="421640" algn="l" rtl="0" eaLnBrk="0">
              <a:lnSpc>
                <a:spcPct val="78000"/>
              </a:lnSpc>
            </a:pPr>
            <a:r>
              <a:rPr sz="1500" kern="0" spc="-60" dirty="0">
                <a:solidFill>
                  <a:srgbClr val="0000FF">
                    <a:alpha val="100000"/>
                  </a:srgbClr>
                </a:solidFill>
                <a:latin typeface="Arial" panose="020B0604020202020204" pitchFamily="34" charset="0"/>
                <a:ea typeface="黑体" panose="02010609060101010101" charset="-122"/>
                <a:cs typeface="Times New Roman" panose="02020603050405020304"/>
              </a:rPr>
              <a:t>16</a:t>
            </a:r>
            <a:r>
              <a:rPr sz="1500" kern="0" spc="2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1500" kern="0" spc="-60" dirty="0">
                <a:solidFill>
                  <a:srgbClr val="0000FF">
                    <a:alpha val="100000"/>
                  </a:srgbClr>
                </a:solidFill>
                <a:latin typeface="Arial" panose="020B0604020202020204" pitchFamily="34" charset="0"/>
                <a:ea typeface="黑体" panose="02010609060101010101" charset="-122"/>
                <a:cs typeface="Times New Roman" panose="02020603050405020304"/>
              </a:rPr>
              <a:t>15</a:t>
            </a:r>
            <a:endParaRPr lang="en-US" altLang="en-US" sz="1500" dirty="0">
              <a:latin typeface="Arial" panose="020B0604020202020204" pitchFamily="34" charset="0"/>
              <a:ea typeface="黑体" panose="02010609060101010101" charset="-122"/>
            </a:endParaRPr>
          </a:p>
          <a:p>
            <a:pPr algn="r" rtl="0" eaLnBrk="0">
              <a:lnSpc>
                <a:spcPct val="83000"/>
              </a:lnSpc>
              <a:spcBef>
                <a:spcPts val="970"/>
              </a:spcBef>
            </a:pPr>
            <a:r>
              <a:rPr sz="4100" i="1" kern="0" spc="-10" baseline="4000" dirty="0">
                <a:solidFill>
                  <a:srgbClr val="0000FF">
                    <a:alpha val="100000"/>
                  </a:srgbClr>
                </a:solidFill>
                <a:latin typeface="Arial" panose="020B0604020202020204" pitchFamily="34" charset="0"/>
                <a:ea typeface="黑体" panose="02010609060101010101" charset="-122"/>
                <a:cs typeface="Times New Roman" panose="02020603050405020304"/>
              </a:rPr>
              <a:t>RE</a:t>
            </a:r>
            <a:r>
              <a:rPr sz="2300" kern="0" spc="-10" baseline="-23000" dirty="0">
                <a:solidFill>
                  <a:srgbClr val="0000FF">
                    <a:alpha val="100000"/>
                  </a:srgbClr>
                </a:solidFill>
                <a:latin typeface="Arial" panose="020B0604020202020204" pitchFamily="34" charset="0"/>
                <a:ea typeface="黑体" panose="02010609060101010101" charset="-122"/>
                <a:cs typeface="Times New Roman" panose="02020603050405020304"/>
              </a:rPr>
              <a:t>16</a:t>
            </a:r>
            <a:r>
              <a:rPr sz="1400" kern="0" spc="11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100" kern="0" spc="-100" baseline="400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600" kern="0" spc="-19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100" i="1" kern="0" spc="-100" baseline="4000" dirty="0">
                <a:solidFill>
                  <a:srgbClr val="0000FF">
                    <a:alpha val="100000"/>
                  </a:srgbClr>
                </a:solidFill>
                <a:latin typeface="Arial" panose="020B0604020202020204" pitchFamily="34" charset="0"/>
                <a:ea typeface="黑体" panose="02010609060101010101" charset="-122"/>
                <a:cs typeface="Times New Roman" panose="02020603050405020304"/>
              </a:rPr>
              <a:t>LE</a:t>
            </a:r>
            <a:r>
              <a:rPr sz="2300" kern="0" spc="-100" baseline="-23000" dirty="0">
                <a:solidFill>
                  <a:srgbClr val="0000FF">
                    <a:alpha val="100000"/>
                  </a:srgbClr>
                </a:solidFill>
                <a:latin typeface="Arial" panose="020B0604020202020204" pitchFamily="34" charset="0"/>
                <a:ea typeface="黑体" panose="02010609060101010101" charset="-122"/>
                <a:cs typeface="Times New Roman" panose="02020603050405020304"/>
              </a:rPr>
              <a:t>15</a:t>
            </a:r>
            <a:r>
              <a:rPr sz="1400" kern="0" spc="2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100" kern="0" spc="-30" baseline="4000" dirty="0">
                <a:solidFill>
                  <a:srgbClr val="0000FF">
                    <a:alpha val="100000"/>
                  </a:srgbClr>
                </a:solidFill>
                <a:latin typeface="Arial" panose="020B0604020202020204" pitchFamily="34" charset="0"/>
                <a:ea typeface="黑体" panose="02010609060101010101" charset="-122"/>
                <a:cs typeface="微软雅黑" panose="020B0503020204020204" charset="-122"/>
              </a:rPr>
              <a:t>④</a:t>
            </a:r>
            <a:r>
              <a:rPr sz="2600" kern="0" spc="-35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100" i="1" kern="0" spc="-30" baseline="4000" dirty="0">
                <a:solidFill>
                  <a:srgbClr val="0000FF">
                    <a:alpha val="100000"/>
                  </a:srgbClr>
                </a:solidFill>
                <a:latin typeface="Arial" panose="020B0604020202020204" pitchFamily="34" charset="0"/>
                <a:ea typeface="黑体" panose="02010609060101010101" charset="-122"/>
                <a:cs typeface="Times New Roman" panose="02020603050405020304"/>
              </a:rPr>
              <a:t>F</a:t>
            </a:r>
            <a:r>
              <a:rPr sz="3500" kern="0" spc="-3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4100" i="1" kern="0" spc="-30" baseline="4000" dirty="0">
                <a:solidFill>
                  <a:srgbClr val="0000FF">
                    <a:alpha val="100000"/>
                  </a:srgbClr>
                </a:solidFill>
                <a:latin typeface="Arial" panose="020B0604020202020204" pitchFamily="34" charset="0"/>
                <a:ea typeface="黑体" panose="02010609060101010101" charset="-122"/>
                <a:cs typeface="Times New Roman" panose="02020603050405020304"/>
              </a:rPr>
              <a:t>RE</a:t>
            </a:r>
            <a:r>
              <a:rPr sz="2300" kern="0" spc="-30" baseline="-23000" dirty="0">
                <a:solidFill>
                  <a:srgbClr val="0000FF">
                    <a:alpha val="100000"/>
                  </a:srgbClr>
                </a:solidFill>
                <a:latin typeface="Arial" panose="020B0604020202020204" pitchFamily="34" charset="0"/>
                <a:ea typeface="黑体" panose="02010609060101010101" charset="-122"/>
                <a:cs typeface="Times New Roman" panose="02020603050405020304"/>
              </a:rPr>
              <a:t>15</a:t>
            </a:r>
            <a:r>
              <a:rPr sz="1400" kern="0" spc="-3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100" kern="0" spc="-30" baseline="4000" dirty="0">
                <a:solidFill>
                  <a:srgbClr val="0000FF">
                    <a:alpha val="100000"/>
                  </a:srgbClr>
                </a:solidFill>
                <a:latin typeface="Arial" panose="020B0604020202020204" pitchFamily="34" charset="0"/>
                <a:ea typeface="黑体" panose="02010609060101010101" charset="-122"/>
                <a:cs typeface="Times New Roman" panose="02020603050405020304"/>
              </a:rPr>
              <a:t>,</a:t>
            </a:r>
            <a:r>
              <a:rPr sz="2600" kern="0" spc="52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100" i="1" kern="0" spc="-40" baseline="4000" dirty="0">
                <a:solidFill>
                  <a:srgbClr val="0000FF">
                    <a:alpha val="100000"/>
                  </a:srgbClr>
                </a:solidFill>
                <a:latin typeface="Arial" panose="020B0604020202020204" pitchFamily="34" charset="0"/>
                <a:ea typeface="黑体" panose="02010609060101010101" charset="-122"/>
                <a:cs typeface="Times New Roman" panose="02020603050405020304"/>
              </a:rPr>
              <a:t>K</a:t>
            </a:r>
            <a:r>
              <a:rPr sz="2300" kern="0" spc="-40" baseline="-23000" dirty="0">
                <a:solidFill>
                  <a:srgbClr val="0000FF">
                    <a:alpha val="100000"/>
                  </a:srgbClr>
                </a:solidFill>
                <a:latin typeface="Arial" panose="020B0604020202020204" pitchFamily="34" charset="0"/>
                <a:ea typeface="黑体" panose="02010609060101010101" charset="-122"/>
                <a:cs typeface="Times New Roman" panose="02020603050405020304"/>
              </a:rPr>
              <a:t>16</a:t>
            </a:r>
            <a:r>
              <a:rPr sz="1400" kern="0" spc="13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3500" kern="0" spc="-4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endParaRPr lang="en-US" altLang="en-US" sz="3500" dirty="0">
              <a:latin typeface="Arial" panose="020B0604020202020204" pitchFamily="34" charset="0"/>
              <a:ea typeface="黑体" panose="02010609060101010101" charset="-122"/>
            </a:endParaRPr>
          </a:p>
        </p:txBody>
      </p:sp>
      <p:sp>
        <p:nvSpPr>
          <p:cNvPr id="156" name="textbox 156"/>
          <p:cNvSpPr/>
          <p:nvPr/>
        </p:nvSpPr>
        <p:spPr>
          <a:xfrm>
            <a:off x="1552681" y="491245"/>
            <a:ext cx="4714875" cy="478155"/>
          </a:xfrm>
          <a:prstGeom prst="rect">
            <a:avLst/>
          </a:prstGeom>
        </p:spPr>
        <p:txBody>
          <a:bodyPr vert="horz" wrap="square" lIns="0" tIns="0" rIns="0" bIns="0"/>
          <a:lstStyle/>
          <a:p>
            <a:pPr algn="l" rtl="0" eaLnBrk="0">
              <a:lnSpc>
                <a:spcPct val="7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Feistel</a:t>
            </a:r>
            <a:r>
              <a:rPr sz="3100" kern="0" spc="15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密码解密的正确性</a:t>
            </a:r>
            <a:endParaRPr lang="en-US" altLang="en-US" sz="3100" dirty="0">
              <a:latin typeface="Arial" panose="020B0604020202020204" pitchFamily="34" charset="0"/>
              <a:ea typeface="黑体" panose="02010609060101010101" charset="-122"/>
            </a:endParaRPr>
          </a:p>
        </p:txBody>
      </p:sp>
      <p:sp>
        <p:nvSpPr>
          <p:cNvPr id="160" name="textbox 160"/>
          <p:cNvSpPr/>
          <p:nvPr/>
        </p:nvSpPr>
        <p:spPr>
          <a:xfrm>
            <a:off x="3010621" y="2962164"/>
            <a:ext cx="3226435" cy="250825"/>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1775"/>
              </a:lnSpc>
            </a:pPr>
            <a:r>
              <a:rPr sz="2600" i="1" kern="0" spc="-60" dirty="0">
                <a:solidFill>
                  <a:srgbClr val="0000FF">
                    <a:alpha val="100000"/>
                  </a:srgbClr>
                </a:solidFill>
                <a:latin typeface="Arial" panose="020B0604020202020204" pitchFamily="34" charset="0"/>
                <a:ea typeface="黑体" panose="02010609060101010101" charset="-122"/>
                <a:cs typeface="Times New Roman" panose="02020603050405020304"/>
              </a:rPr>
              <a:t>L</a:t>
            </a:r>
            <a:r>
              <a:rPr sz="2600" i="1" kern="0" spc="-50" dirty="0">
                <a:solidFill>
                  <a:srgbClr val="0000FF">
                    <a:alpha val="100000"/>
                  </a:srgbClr>
                </a:solidFill>
                <a:latin typeface="Arial" panose="020B0604020202020204" pitchFamily="34" charset="0"/>
                <a:ea typeface="黑体" panose="02010609060101010101" charset="-122"/>
                <a:cs typeface="Times New Roman" panose="02020603050405020304"/>
              </a:rPr>
              <a:t>D  </a:t>
            </a:r>
            <a:r>
              <a:rPr sz="2600" kern="0" spc="-5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2600" i="1" kern="0" spc="-50" dirty="0">
                <a:solidFill>
                  <a:srgbClr val="0000FF">
                    <a:alpha val="100000"/>
                  </a:srgbClr>
                </a:solidFill>
                <a:latin typeface="Arial" panose="020B0604020202020204" pitchFamily="34" charset="0"/>
                <a:ea typeface="黑体" panose="02010609060101010101" charset="-122"/>
                <a:cs typeface="Times New Roman" panose="02020603050405020304"/>
              </a:rPr>
              <a:t>RD</a:t>
            </a:r>
            <a:r>
              <a:rPr sz="2600" i="1" kern="0" spc="13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2600" kern="0" spc="-5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600" kern="0" spc="-16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2600" i="1" kern="0" spc="-50" dirty="0">
                <a:solidFill>
                  <a:srgbClr val="0000FF">
                    <a:alpha val="100000"/>
                  </a:srgbClr>
                </a:solidFill>
                <a:latin typeface="Arial" panose="020B0604020202020204" pitchFamily="34" charset="0"/>
                <a:ea typeface="黑体" panose="02010609060101010101" charset="-122"/>
                <a:cs typeface="Times New Roman" panose="02020603050405020304"/>
              </a:rPr>
              <a:t>L</a:t>
            </a:r>
            <a:r>
              <a:rPr sz="2600" i="1" kern="0" spc="-60" dirty="0">
                <a:solidFill>
                  <a:srgbClr val="0000FF">
                    <a:alpha val="100000"/>
                  </a:srgbClr>
                </a:solidFill>
                <a:latin typeface="Arial" panose="020B0604020202020204" pitchFamily="34" charset="0"/>
                <a:ea typeface="黑体" panose="02010609060101010101" charset="-122"/>
                <a:cs typeface="Times New Roman" panose="02020603050405020304"/>
              </a:rPr>
              <a:t>E</a:t>
            </a:r>
            <a:r>
              <a:rPr sz="2600" i="1" kern="0" spc="9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2600" kern="0" spc="-6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600" kern="0" spc="-13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2600" i="1" kern="0" spc="-60" dirty="0">
                <a:solidFill>
                  <a:srgbClr val="0000FF">
                    <a:alpha val="100000"/>
                  </a:srgbClr>
                </a:solidFill>
                <a:latin typeface="Arial" panose="020B0604020202020204" pitchFamily="34" charset="0"/>
                <a:ea typeface="黑体" panose="02010609060101010101" charset="-122"/>
                <a:cs typeface="Times New Roman" panose="02020603050405020304"/>
              </a:rPr>
              <a:t>R</a:t>
            </a:r>
            <a:r>
              <a:rPr sz="2600" i="1" kern="0" spc="-50" dirty="0">
                <a:solidFill>
                  <a:srgbClr val="0000FF">
                    <a:alpha val="100000"/>
                  </a:srgbClr>
                </a:solidFill>
                <a:latin typeface="Arial" panose="020B0604020202020204" pitchFamily="34" charset="0"/>
                <a:ea typeface="黑体" panose="02010609060101010101" charset="-122"/>
                <a:cs typeface="Times New Roman" panose="02020603050405020304"/>
              </a:rPr>
              <a:t>E</a:t>
            </a:r>
            <a:endParaRPr lang="en-US" altLang="en-US" sz="2600" dirty="0">
              <a:latin typeface="Arial" panose="020B0604020202020204" pitchFamily="34" charset="0"/>
              <a:ea typeface="黑体" panose="02010609060101010101" charset="-122"/>
            </a:endParaRPr>
          </a:p>
        </p:txBody>
      </p:sp>
      <p:sp>
        <p:nvSpPr>
          <p:cNvPr id="162" name="textbox 162"/>
          <p:cNvSpPr/>
          <p:nvPr/>
        </p:nvSpPr>
        <p:spPr>
          <a:xfrm>
            <a:off x="4260042" y="1289257"/>
            <a:ext cx="1429385" cy="251459"/>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1775"/>
              </a:lnSpc>
            </a:pPr>
            <a:r>
              <a:rPr sz="2600" i="1" kern="0" spc="0" dirty="0">
                <a:solidFill>
                  <a:srgbClr val="0000FF">
                    <a:alpha val="100000"/>
                  </a:srgbClr>
                </a:solidFill>
                <a:latin typeface="Arial" panose="020B0604020202020204" pitchFamily="34" charset="0"/>
                <a:ea typeface="黑体" panose="02010609060101010101" charset="-122"/>
                <a:cs typeface="Times New Roman" panose="02020603050405020304"/>
              </a:rPr>
              <a:t>LE</a:t>
            </a:r>
            <a:r>
              <a:rPr sz="2600" i="1" kern="0" spc="9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2600" kern="0" spc="5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600" kern="0" spc="-16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2600" i="1" kern="0" spc="0" dirty="0">
                <a:solidFill>
                  <a:srgbClr val="0000FF">
                    <a:alpha val="100000"/>
                  </a:srgbClr>
                </a:solidFill>
                <a:latin typeface="Arial" panose="020B0604020202020204" pitchFamily="34" charset="0"/>
                <a:ea typeface="黑体" panose="02010609060101010101" charset="-122"/>
                <a:cs typeface="Times New Roman" panose="02020603050405020304"/>
              </a:rPr>
              <a:t>RE</a:t>
            </a:r>
            <a:endParaRPr lang="en-US" altLang="en-US" sz="2600" dirty="0">
              <a:latin typeface="Arial" panose="020B0604020202020204" pitchFamily="34" charset="0"/>
              <a:ea typeface="黑体" panose="02010609060101010101" charset="-122"/>
            </a:endParaRPr>
          </a:p>
        </p:txBody>
      </p:sp>
      <p:pic>
        <p:nvPicPr>
          <p:cNvPr id="164" name="picture 164"/>
          <p:cNvPicPr>
            <a:picLocks noChangeAspect="1"/>
          </p:cNvPicPr>
          <p:nvPr/>
        </p:nvPicPr>
        <p:blipFill>
          <a:blip r:embed="rId3"/>
          <a:stretch>
            <a:fillRect/>
          </a:stretch>
        </p:blipFill>
        <p:spPr>
          <a:xfrm rot="21600000">
            <a:off x="822960" y="408431"/>
            <a:ext cx="420623" cy="655320"/>
          </a:xfrm>
          <a:prstGeom prst="rect">
            <a:avLst/>
          </a:prstGeom>
        </p:spPr>
      </p:pic>
      <p:sp>
        <p:nvSpPr>
          <p:cNvPr id="16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1090295" y="1063625"/>
            <a:ext cx="9479280" cy="391985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box 168"/>
          <p:cNvSpPr/>
          <p:nvPr/>
        </p:nvSpPr>
        <p:spPr>
          <a:xfrm>
            <a:off x="796925" y="0"/>
            <a:ext cx="11395075" cy="3921759"/>
          </a:xfrm>
          <a:prstGeom prst="rect">
            <a:avLst/>
          </a:prstGeom>
        </p:spPr>
        <p:txBody>
          <a:bodyPr vert="horz" wrap="square" lIns="0" tIns="0" rIns="0" bIns="0"/>
          <a:lstStyle/>
          <a:p>
            <a:pPr algn="l" rtl="0" eaLnBrk="0">
              <a:lnSpc>
                <a:spcPct val="112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78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1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Feistel密码解密的正确性（续</a:t>
            </a:r>
            <a:r>
              <a:rPr sz="3100" u="sng" kern="0" spc="-2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a:p>
            <a:pPr algn="l" rtl="0" eaLnBrk="0">
              <a:lnSpc>
                <a:spcPct val="193000"/>
              </a:lnSpc>
            </a:pPr>
            <a:endParaRPr lang="en-US" altLang="en-US" sz="1000" dirty="0">
              <a:latin typeface="Arial" panose="020B0604020202020204" pitchFamily="34" charset="0"/>
              <a:ea typeface="黑体" panose="02010609060101010101" charset="-122"/>
            </a:endParaRPr>
          </a:p>
          <a:p>
            <a:pPr marL="741680" indent="-21590" algn="l" rtl="0" eaLnBrk="0">
              <a:lnSpc>
                <a:spcPct val="101000"/>
              </a:lnSpc>
              <a:spcBef>
                <a:spcPts val="725"/>
              </a:spcBef>
            </a:pPr>
            <a:r>
              <a:rPr sz="1400" kern="0" spc="0" dirty="0">
                <a:solidFill>
                  <a:srgbClr val="954F72">
                    <a:alpha val="100000"/>
                  </a:srgbClr>
                </a:solidFill>
                <a:latin typeface="Arial" panose="020B0604020202020204" pitchFamily="34" charset="0"/>
                <a:ea typeface="黑体" panose="02010609060101010101" charset="-122"/>
                <a:cs typeface="Wingdings" panose="05000000000000000000" pitchFamily="2" charset="2"/>
              </a:rPr>
              <a:t>&gt;</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容易证明这种对应关系在16轮中每轮都成</a:t>
            </a: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600" dirty="0">
              <a:latin typeface="Arial" panose="020B0604020202020204" pitchFamily="34" charset="0"/>
              <a:ea typeface="黑体" panose="02010609060101010101" charset="-122"/>
            </a:endParaRPr>
          </a:p>
          <a:p>
            <a:pPr marL="755650" algn="l" rtl="0" eaLnBrk="0">
              <a:lnSpc>
                <a:spcPct val="96000"/>
              </a:lnSpc>
              <a:spcBef>
                <a:spcPts val="0"/>
              </a:spcBef>
            </a:pPr>
            <a:r>
              <a:rPr sz="2400" kern="0" spc="-10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因此</a:t>
            </a:r>
            <a:endParaRPr lang="en-US" altLang="en-US" sz="2400" dirty="0">
              <a:latin typeface="Arial" panose="020B0604020202020204" pitchFamily="34" charset="0"/>
              <a:ea typeface="黑体" panose="02010609060101010101" charset="-122"/>
            </a:endParaRPr>
          </a:p>
        </p:txBody>
      </p:sp>
      <p:pic>
        <p:nvPicPr>
          <p:cNvPr id="172" name="picture 172"/>
          <p:cNvPicPr>
            <a:picLocks noChangeAspect="1"/>
          </p:cNvPicPr>
          <p:nvPr/>
        </p:nvPicPr>
        <p:blipFill>
          <a:blip r:embed="rId1"/>
          <a:stretch>
            <a:fillRect/>
          </a:stretch>
        </p:blipFill>
        <p:spPr>
          <a:xfrm rot="21600000">
            <a:off x="822960" y="408431"/>
            <a:ext cx="420623" cy="655320"/>
          </a:xfrm>
          <a:prstGeom prst="rect">
            <a:avLst/>
          </a:prstGeom>
        </p:spPr>
      </p:pic>
      <p:sp>
        <p:nvSpPr>
          <p:cNvPr id="174" name="textbox 174"/>
          <p:cNvSpPr/>
          <p:nvPr/>
        </p:nvSpPr>
        <p:spPr>
          <a:xfrm>
            <a:off x="2401862" y="4412569"/>
            <a:ext cx="6784340" cy="98933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448310" algn="l" rtl="0" eaLnBrk="0">
              <a:lnSpc>
                <a:spcPts val="2145"/>
              </a:lnSpc>
            </a:pPr>
            <a:r>
              <a:rPr sz="1500" i="1" kern="0" spc="-10" dirty="0">
                <a:solidFill>
                  <a:srgbClr val="0000FF">
                    <a:alpha val="100000"/>
                  </a:srgbClr>
                </a:solidFill>
                <a:latin typeface="Arial" panose="020B0604020202020204" pitchFamily="34" charset="0"/>
                <a:ea typeface="黑体" panose="02010609060101010101" charset="-122"/>
                <a:cs typeface="Times New Roman" panose="02020603050405020304"/>
              </a:rPr>
              <a:t>i   </a:t>
            </a:r>
            <a:r>
              <a:rPr sz="1500" kern="0" spc="-10" dirty="0">
                <a:solidFill>
                  <a:srgbClr val="0000FF">
                    <a:alpha val="100000"/>
                  </a:srgbClr>
                </a:solidFill>
                <a:latin typeface="Arial" panose="020B0604020202020204" pitchFamily="34" charset="0"/>
                <a:ea typeface="黑体" panose="02010609060101010101" charset="-122"/>
                <a:cs typeface="Times New Roman" panose="02020603050405020304"/>
              </a:rPr>
              <a:t>1              </a:t>
            </a:r>
            <a:r>
              <a:rPr sz="1500" kern="0" spc="-2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1500" i="1" kern="0" spc="-20" dirty="0">
                <a:solidFill>
                  <a:srgbClr val="0000FF">
                    <a:alpha val="100000"/>
                  </a:srgbClr>
                </a:solidFill>
                <a:latin typeface="Arial" panose="020B0604020202020204" pitchFamily="34" charset="0"/>
                <a:ea typeface="黑体" panose="02010609060101010101" charset="-122"/>
                <a:cs typeface="Times New Roman" panose="02020603050405020304"/>
              </a:rPr>
              <a:t>i</a:t>
            </a:r>
            <a:endParaRPr lang="en-US" altLang="en-US" sz="1500" dirty="0">
              <a:latin typeface="Arial" panose="020B0604020202020204" pitchFamily="34" charset="0"/>
              <a:ea typeface="黑体" panose="02010609060101010101" charset="-122"/>
            </a:endParaRPr>
          </a:p>
          <a:p>
            <a:pPr algn="r" rtl="0" eaLnBrk="0">
              <a:lnSpc>
                <a:spcPct val="98000"/>
              </a:lnSpc>
              <a:spcBef>
                <a:spcPts val="975"/>
              </a:spcBef>
            </a:pPr>
            <a:r>
              <a:rPr sz="4400" i="1" kern="0" spc="0" baseline="5000" dirty="0">
                <a:solidFill>
                  <a:srgbClr val="0000FF">
                    <a:alpha val="100000"/>
                  </a:srgbClr>
                </a:solidFill>
                <a:latin typeface="Arial" panose="020B0604020202020204" pitchFamily="34" charset="0"/>
                <a:ea typeface="黑体" panose="02010609060101010101" charset="-122"/>
                <a:cs typeface="Times New Roman" panose="02020603050405020304"/>
              </a:rPr>
              <a:t>LE</a:t>
            </a:r>
            <a:r>
              <a:rPr sz="2500" i="1" kern="0" spc="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2500" kern="0" spc="30" baseline="-2700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500" kern="0" spc="3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1</a:t>
            </a:r>
            <a:r>
              <a:rPr sz="1600" kern="0" spc="2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kern="0" spc="-110" baseline="500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800" kern="0" spc="-20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400" i="1" kern="0" spc="-110" baseline="5000" dirty="0">
                <a:solidFill>
                  <a:srgbClr val="0000FF">
                    <a:alpha val="100000"/>
                  </a:srgbClr>
                </a:solidFill>
                <a:latin typeface="Arial" panose="020B0604020202020204" pitchFamily="34" charset="0"/>
                <a:ea typeface="黑体" panose="02010609060101010101" charset="-122"/>
                <a:cs typeface="Times New Roman" panose="02020603050405020304"/>
              </a:rPr>
              <a:t>RE</a:t>
            </a:r>
            <a:r>
              <a:rPr sz="2500" i="1" kern="0" spc="-11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1600" i="1" kern="0" spc="-11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kern="0" spc="-110" baseline="5000" dirty="0">
                <a:solidFill>
                  <a:srgbClr val="0000FF">
                    <a:alpha val="100000"/>
                  </a:srgbClr>
                </a:solidFill>
                <a:latin typeface="Arial" panose="020B0604020202020204" pitchFamily="34" charset="0"/>
                <a:ea typeface="黑体" panose="02010609060101010101" charset="-122"/>
                <a:cs typeface="微软雅黑" panose="020B0503020204020204" charset="-122"/>
              </a:rPr>
              <a:t>①</a:t>
            </a:r>
            <a:r>
              <a:rPr sz="2800" kern="0" spc="-40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400" i="1" kern="0" spc="-110" baseline="5000" dirty="0">
                <a:solidFill>
                  <a:srgbClr val="0000FF">
                    <a:alpha val="100000"/>
                  </a:srgbClr>
                </a:solidFill>
                <a:latin typeface="Arial" panose="020B0604020202020204" pitchFamily="34" charset="0"/>
                <a:ea typeface="黑体" panose="02010609060101010101" charset="-122"/>
                <a:cs typeface="Times New Roman" panose="02020603050405020304"/>
              </a:rPr>
              <a:t>F</a:t>
            </a:r>
            <a:r>
              <a:rPr sz="3800" kern="0" spc="-11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4400" i="1" kern="0" spc="-110" baseline="5000" dirty="0">
                <a:solidFill>
                  <a:srgbClr val="0000FF">
                    <a:alpha val="100000"/>
                  </a:srgbClr>
                </a:solidFill>
                <a:latin typeface="Arial" panose="020B0604020202020204" pitchFamily="34" charset="0"/>
                <a:ea typeface="黑体" panose="02010609060101010101" charset="-122"/>
                <a:cs typeface="Times New Roman" panose="02020603050405020304"/>
              </a:rPr>
              <a:t>RE</a:t>
            </a:r>
            <a:r>
              <a:rPr sz="2500" i="1" kern="0" spc="-11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2500" kern="0" spc="30" baseline="-2700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500" kern="0" spc="3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1</a:t>
            </a:r>
            <a:r>
              <a:rPr sz="1600" kern="0" spc="-12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kern="0" spc="30" baseline="5000" dirty="0">
                <a:solidFill>
                  <a:srgbClr val="0000FF">
                    <a:alpha val="100000"/>
                  </a:srgbClr>
                </a:solidFill>
                <a:latin typeface="Arial" panose="020B0604020202020204" pitchFamily="34" charset="0"/>
                <a:ea typeface="黑体" panose="02010609060101010101" charset="-122"/>
                <a:cs typeface="Times New Roman" panose="02020603050405020304"/>
              </a:rPr>
              <a:t>,</a:t>
            </a:r>
            <a:r>
              <a:rPr sz="2800" kern="0" spc="49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i="1" kern="0" spc="0" baseline="5000" dirty="0">
                <a:solidFill>
                  <a:srgbClr val="0000FF">
                    <a:alpha val="100000"/>
                  </a:srgbClr>
                </a:solidFill>
                <a:latin typeface="Arial" panose="020B0604020202020204" pitchFamily="34" charset="0"/>
                <a:ea typeface="黑体" panose="02010609060101010101" charset="-122"/>
                <a:cs typeface="Times New Roman" panose="02020603050405020304"/>
              </a:rPr>
              <a:t>K</a:t>
            </a:r>
            <a:r>
              <a:rPr sz="2500" i="1" kern="0" spc="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1600" i="1" kern="0" spc="16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3800" kern="0" spc="-13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3800" kern="0" spc="-50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400" kern="0" spc="-130" baseline="500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2800" kern="0" spc="-21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400" i="1" kern="0" spc="-130" baseline="5000" dirty="0">
                <a:solidFill>
                  <a:srgbClr val="0000FF">
                    <a:alpha val="100000"/>
                  </a:srgbClr>
                </a:solidFill>
                <a:latin typeface="Arial" panose="020B0604020202020204" pitchFamily="34" charset="0"/>
                <a:ea typeface="黑体" panose="02010609060101010101" charset="-122"/>
                <a:cs typeface="Times New Roman" panose="02020603050405020304"/>
              </a:rPr>
              <a:t>RE</a:t>
            </a:r>
            <a:r>
              <a:rPr sz="2500" i="1" kern="0" spc="-13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1600" i="1" kern="0" spc="-13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kern="0" spc="-130" baseline="5000" dirty="0">
                <a:solidFill>
                  <a:srgbClr val="0000FF">
                    <a:alpha val="100000"/>
                  </a:srgbClr>
                </a:solidFill>
                <a:latin typeface="Arial" panose="020B0604020202020204" pitchFamily="34" charset="0"/>
                <a:ea typeface="黑体" panose="02010609060101010101" charset="-122"/>
                <a:cs typeface="微软雅黑" panose="020B0503020204020204" charset="-122"/>
              </a:rPr>
              <a:t>①</a:t>
            </a:r>
            <a:r>
              <a:rPr sz="2800" kern="0" spc="-39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4400" i="1" kern="0" spc="-130" baseline="5000" dirty="0">
                <a:solidFill>
                  <a:srgbClr val="0000FF">
                    <a:alpha val="100000"/>
                  </a:srgbClr>
                </a:solidFill>
                <a:latin typeface="Arial" panose="020B0604020202020204" pitchFamily="34" charset="0"/>
                <a:ea typeface="黑体" panose="02010609060101010101" charset="-122"/>
                <a:cs typeface="Times New Roman" panose="02020603050405020304"/>
              </a:rPr>
              <a:t>F</a:t>
            </a:r>
            <a:r>
              <a:rPr sz="3800" kern="0" spc="-13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4400" i="1" kern="0" spc="-130" baseline="5000" dirty="0">
                <a:solidFill>
                  <a:srgbClr val="0000FF">
                    <a:alpha val="100000"/>
                  </a:srgbClr>
                </a:solidFill>
                <a:latin typeface="Arial" panose="020B0604020202020204" pitchFamily="34" charset="0"/>
                <a:ea typeface="黑体" panose="02010609060101010101" charset="-122"/>
                <a:cs typeface="Times New Roman" panose="02020603050405020304"/>
              </a:rPr>
              <a:t>LE</a:t>
            </a:r>
            <a:r>
              <a:rPr sz="2500" i="1" kern="0" spc="-13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1600" i="1" kern="0" spc="6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kern="0" spc="-130" baseline="5000" dirty="0">
                <a:solidFill>
                  <a:srgbClr val="0000FF">
                    <a:alpha val="100000"/>
                  </a:srgbClr>
                </a:solidFill>
                <a:latin typeface="Arial" panose="020B0604020202020204" pitchFamily="34" charset="0"/>
                <a:ea typeface="黑体" panose="02010609060101010101" charset="-122"/>
                <a:cs typeface="Times New Roman" panose="02020603050405020304"/>
              </a:rPr>
              <a:t>,</a:t>
            </a:r>
            <a:r>
              <a:rPr sz="2800" kern="0" spc="-13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4400" i="1" kern="0" spc="-130" baseline="5000" dirty="0">
                <a:solidFill>
                  <a:srgbClr val="0000FF">
                    <a:alpha val="100000"/>
                  </a:srgbClr>
                </a:solidFill>
                <a:latin typeface="Arial" panose="020B0604020202020204" pitchFamily="34" charset="0"/>
                <a:ea typeface="黑体" panose="02010609060101010101" charset="-122"/>
                <a:cs typeface="Times New Roman" panose="02020603050405020304"/>
              </a:rPr>
              <a:t>K</a:t>
            </a:r>
            <a:r>
              <a:rPr sz="2500" i="1" kern="0" spc="-130" baseline="-27000" dirty="0">
                <a:solidFill>
                  <a:srgbClr val="0000FF">
                    <a:alpha val="100000"/>
                  </a:srgbClr>
                </a:solidFill>
                <a:latin typeface="Arial" panose="020B0604020202020204" pitchFamily="34" charset="0"/>
                <a:ea typeface="黑体" panose="02010609060101010101" charset="-122"/>
                <a:cs typeface="Times New Roman" panose="02020603050405020304"/>
              </a:rPr>
              <a:t>i</a:t>
            </a:r>
            <a:r>
              <a:rPr sz="1600" i="1" kern="0" spc="16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3800" kern="0" spc="-13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endParaRPr lang="en-US" altLang="en-US" sz="3800" dirty="0">
              <a:latin typeface="Arial" panose="020B0604020202020204" pitchFamily="34" charset="0"/>
              <a:ea typeface="黑体" panose="02010609060101010101" charset="-122"/>
            </a:endParaRPr>
          </a:p>
        </p:txBody>
      </p:sp>
      <p:sp>
        <p:nvSpPr>
          <p:cNvPr id="176" name="textbox 176"/>
          <p:cNvSpPr/>
          <p:nvPr/>
        </p:nvSpPr>
        <p:spPr>
          <a:xfrm>
            <a:off x="2405065" y="4186046"/>
            <a:ext cx="1524000" cy="368300"/>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algn="r" rtl="0" eaLnBrk="0">
              <a:lnSpc>
                <a:spcPct val="75000"/>
              </a:lnSpc>
            </a:pPr>
            <a:r>
              <a:rPr sz="3000" i="1" kern="0" spc="-20" dirty="0">
                <a:solidFill>
                  <a:srgbClr val="0000FF">
                    <a:alpha val="100000"/>
                  </a:srgbClr>
                </a:solidFill>
                <a:latin typeface="Arial" panose="020B0604020202020204" pitchFamily="34" charset="0"/>
                <a:ea typeface="黑体" panose="02010609060101010101" charset="-122"/>
                <a:cs typeface="Times New Roman" panose="02020603050405020304"/>
              </a:rPr>
              <a:t>RE</a:t>
            </a:r>
            <a:r>
              <a:rPr sz="3000" i="1" kern="0" spc="-300" dirty="0">
                <a:solidFill>
                  <a:srgbClr val="0000FF">
                    <a:alpha val="100000"/>
                  </a:srgbClr>
                </a:solidFill>
                <a:latin typeface="Arial" panose="020B0604020202020204" pitchFamily="34" charset="0"/>
                <a:ea typeface="黑体" panose="02010609060101010101" charset="-122"/>
                <a:cs typeface="Times New Roman" panose="02020603050405020304"/>
              </a:rPr>
              <a:t> </a:t>
            </a:r>
            <a:r>
              <a:rPr sz="2600" kern="0" spc="-20" baseline="-3400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1600" kern="0" spc="3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3000" kern="0" spc="-470" dirty="0">
                <a:solidFill>
                  <a:srgbClr val="0000FF">
                    <a:alpha val="100000"/>
                  </a:srgbClr>
                </a:solidFill>
                <a:latin typeface="Arial" panose="020B0604020202020204" pitchFamily="34" charset="0"/>
                <a:ea typeface="黑体" panose="02010609060101010101" charset="-122"/>
                <a:cs typeface="微软雅黑" panose="020B0503020204020204" charset="-122"/>
              </a:rPr>
              <a:t>=</a:t>
            </a:r>
            <a:r>
              <a:rPr sz="3000" kern="0" spc="-290" dirty="0">
                <a:solidFill>
                  <a:srgbClr val="0000FF">
                    <a:alpha val="100000"/>
                  </a:srgbClr>
                </a:solidFill>
                <a:latin typeface="Arial" panose="020B0604020202020204" pitchFamily="34" charset="0"/>
                <a:ea typeface="黑体" panose="02010609060101010101" charset="-122"/>
                <a:cs typeface="微软雅黑" panose="020B0503020204020204" charset="-122"/>
              </a:rPr>
              <a:t> </a:t>
            </a:r>
            <a:r>
              <a:rPr sz="3000" i="1" kern="0" spc="-460" dirty="0">
                <a:solidFill>
                  <a:srgbClr val="0000FF">
                    <a:alpha val="100000"/>
                  </a:srgbClr>
                </a:solidFill>
                <a:latin typeface="Arial" panose="020B0604020202020204" pitchFamily="34" charset="0"/>
                <a:ea typeface="黑体" panose="02010609060101010101" charset="-122"/>
                <a:cs typeface="Times New Roman" panose="02020603050405020304"/>
              </a:rPr>
              <a:t>L</a:t>
            </a:r>
            <a:r>
              <a:rPr sz="3000" i="1" kern="0" spc="60" dirty="0">
                <a:solidFill>
                  <a:srgbClr val="0000FF">
                    <a:alpha val="100000"/>
                  </a:srgbClr>
                </a:solidFill>
                <a:latin typeface="Arial" panose="020B0604020202020204" pitchFamily="34" charset="0"/>
                <a:ea typeface="黑体" panose="02010609060101010101" charset="-122"/>
                <a:cs typeface="Times New Roman" panose="02020603050405020304"/>
              </a:rPr>
              <a:t>E</a:t>
            </a:r>
            <a:endParaRPr lang="en-US" altLang="en-US" sz="3000" dirty="0">
              <a:latin typeface="Arial" panose="020B0604020202020204" pitchFamily="34" charset="0"/>
              <a:ea typeface="黑体" panose="02010609060101010101" charset="-122"/>
            </a:endParaRPr>
          </a:p>
        </p:txBody>
      </p:sp>
      <p:sp>
        <p:nvSpPr>
          <p:cNvPr id="17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139190" y="1085850"/>
            <a:ext cx="9913620" cy="46863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p:cNvSpPr/>
          <p:nvPr/>
        </p:nvSpPr>
        <p:spPr>
          <a:xfrm>
            <a:off x="588263" y="408432"/>
            <a:ext cx="10460735" cy="606552"/>
          </a:xfrm>
          <a:prstGeom prst="rect">
            <a:avLst/>
          </a:prstGeom>
          <a:solidFill>
            <a:srgbClr val="C7DDF0">
              <a:alpha val="100000"/>
            </a:srgbClr>
          </a:solidFill>
          <a:ln cap="flat">
            <a:noFill/>
            <a:prstDash val="solid"/>
            <a:miter lim="0"/>
          </a:ln>
        </p:spPr>
        <p:txBody>
          <a:bodyPr rtlCol="0"/>
          <a:lstStyle/>
          <a:p>
            <a:pPr algn="ctr"/>
            <a:endParaRPr lang="zh-CN" altLang="en-US"/>
          </a:p>
        </p:txBody>
      </p:sp>
      <p:sp>
        <p:nvSpPr>
          <p:cNvPr id="4" name="textbox 4"/>
          <p:cNvSpPr/>
          <p:nvPr/>
        </p:nvSpPr>
        <p:spPr>
          <a:xfrm>
            <a:off x="3839547" y="3209866"/>
            <a:ext cx="4567554" cy="539115"/>
          </a:xfrm>
          <a:prstGeom prst="rect">
            <a:avLst/>
          </a:prstGeom>
        </p:spPr>
        <p:txBody>
          <a:bodyPr vert="horz" wrap="square" lIns="0" tIns="0" rIns="0" bIns="0"/>
          <a:lstStyle/>
          <a:p>
            <a:pPr algn="l" rtl="0" eaLnBrk="0">
              <a:lnSpc>
                <a:spcPct val="70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36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3600" kern="0" spc="-2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DES算法简</a:t>
            </a:r>
            <a:r>
              <a:rPr sz="3600" kern="0" spc="-3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介</a:t>
            </a:r>
            <a:endParaRPr lang="en-US" altLang="en-US" sz="3600" dirty="0">
              <a:latin typeface="Arial" panose="020B0604020202020204" pitchFamily="34" charset="0"/>
              <a:ea typeface="黑体" panose="02010609060101010101" charset="-122"/>
            </a:endParaRPr>
          </a:p>
        </p:txBody>
      </p:sp>
      <p:sp>
        <p:nvSpPr>
          <p:cNvPr id="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57015" y="2057400"/>
            <a:ext cx="5708903" cy="813816"/>
            <a:chOff x="0" y="0"/>
            <a:chExt cx="5708903" cy="813816"/>
          </a:xfrm>
        </p:grpSpPr>
        <p:pic>
          <p:nvPicPr>
            <p:cNvPr id="14" name="picture 14"/>
            <p:cNvPicPr>
              <a:picLocks noChangeAspect="1"/>
            </p:cNvPicPr>
            <p:nvPr/>
          </p:nvPicPr>
          <p:blipFill>
            <a:blip r:embed="rId1"/>
            <a:stretch>
              <a:fillRect/>
            </a:stretch>
          </p:blipFill>
          <p:spPr>
            <a:xfrm rot="21600000">
              <a:off x="0" y="0"/>
              <a:ext cx="5708903" cy="813816"/>
            </a:xfrm>
            <a:prstGeom prst="rect">
              <a:avLst/>
            </a:prstGeom>
          </p:spPr>
        </p:pic>
        <p:sp>
          <p:nvSpPr>
            <p:cNvPr id="16" name="textbox 16"/>
            <p:cNvSpPr/>
            <p:nvPr/>
          </p:nvSpPr>
          <p:spPr>
            <a:xfrm>
              <a:off x="-12700" y="-12700"/>
              <a:ext cx="5734684" cy="876935"/>
            </a:xfrm>
            <a:prstGeom prst="rect">
              <a:avLst/>
            </a:prstGeom>
          </p:spPr>
          <p:txBody>
            <a:bodyPr vert="horz" wrap="square" lIns="0" tIns="0" rIns="0" bIns="0"/>
            <a:lstStyle/>
            <a:p>
              <a:pPr algn="l" rtl="0" eaLnBrk="0">
                <a:lnSpc>
                  <a:spcPct val="166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682625" algn="l" rtl="0" eaLnBrk="0">
                <a:lnSpc>
                  <a:spcPct val="94000"/>
                </a:lnSpc>
              </a:pPr>
              <a:r>
                <a:rPr sz="2400" kern="0" spc="-1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美国制定数据加密标准简况</a:t>
              </a:r>
              <a:endParaRPr lang="en-US" altLang="en-US" sz="2400" dirty="0">
                <a:latin typeface="Arial" panose="020B0604020202020204" pitchFamily="34" charset="0"/>
                <a:ea typeface="黑体" panose="02010609060101010101" charset="-122"/>
              </a:endParaRPr>
            </a:p>
          </p:txBody>
        </p:sp>
      </p:grpSp>
      <p:grpSp>
        <p:nvGrpSpPr>
          <p:cNvPr id="4" name="group 4"/>
          <p:cNvGrpSpPr/>
          <p:nvPr/>
        </p:nvGrpSpPr>
        <p:grpSpPr>
          <a:xfrm rot="21600000">
            <a:off x="3709415" y="3886200"/>
            <a:ext cx="5507736" cy="813816"/>
            <a:chOff x="0" y="0"/>
            <a:chExt cx="5507736" cy="813816"/>
          </a:xfrm>
        </p:grpSpPr>
        <p:pic>
          <p:nvPicPr>
            <p:cNvPr id="18" name="picture 18"/>
            <p:cNvPicPr>
              <a:picLocks noChangeAspect="1"/>
            </p:cNvPicPr>
            <p:nvPr/>
          </p:nvPicPr>
          <p:blipFill>
            <a:blip r:embed="rId2"/>
            <a:stretch>
              <a:fillRect/>
            </a:stretch>
          </p:blipFill>
          <p:spPr>
            <a:xfrm rot="21600000">
              <a:off x="0" y="0"/>
              <a:ext cx="5507736" cy="813816"/>
            </a:xfrm>
            <a:prstGeom prst="rect">
              <a:avLst/>
            </a:prstGeom>
          </p:spPr>
        </p:pic>
        <p:sp>
          <p:nvSpPr>
            <p:cNvPr id="20" name="textbox 20"/>
            <p:cNvSpPr/>
            <p:nvPr/>
          </p:nvSpPr>
          <p:spPr>
            <a:xfrm>
              <a:off x="-12700" y="-12700"/>
              <a:ext cx="5533390" cy="876935"/>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marL="661670" algn="l" rtl="0" eaLnBrk="0">
                <a:lnSpc>
                  <a:spcPct val="94000"/>
                </a:lnSpc>
                <a:spcBef>
                  <a:spcPts val="5"/>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的框架和主要参数</a:t>
              </a:r>
              <a:endParaRPr lang="en-US" altLang="en-US" sz="2400" dirty="0">
                <a:latin typeface="Arial" panose="020B0604020202020204" pitchFamily="34" charset="0"/>
                <a:ea typeface="黑体"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2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2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2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32" name="textbox 32"/>
          <p:cNvSpPr/>
          <p:nvPr/>
        </p:nvSpPr>
        <p:spPr>
          <a:xfrm>
            <a:off x="1532499" y="495690"/>
            <a:ext cx="4045584" cy="479425"/>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70" dirty="0">
                <a:solidFill>
                  <a:srgbClr val="1F4E79">
                    <a:alpha val="100000"/>
                  </a:srgbClr>
                </a:solidFill>
                <a:latin typeface="Arial" panose="020B0604020202020204" pitchFamily="34" charset="0"/>
                <a:ea typeface="黑体" panose="02010609060101010101" charset="-122"/>
                <a:cs typeface="仿宋" panose="02010609060101010101" charset="-122"/>
              </a:rPr>
              <a:t>算法简介</a:t>
            </a:r>
            <a:endParaRPr lang="en-US" altLang="en-US" sz="3100" dirty="0">
              <a:latin typeface="Arial" panose="020B0604020202020204" pitchFamily="34" charset="0"/>
              <a:ea typeface="黑体" panose="02010609060101010101" charset="-122"/>
            </a:endParaRPr>
          </a:p>
        </p:txBody>
      </p:sp>
      <p:sp>
        <p:nvSpPr>
          <p:cNvPr id="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8" name="picture 38"/>
          <p:cNvPicPr>
            <a:picLocks noChangeAspect="1"/>
          </p:cNvPicPr>
          <p:nvPr/>
        </p:nvPicPr>
        <p:blipFill>
          <a:blip r:embed="rId3"/>
          <a:stretch>
            <a:fillRect/>
          </a:stretch>
        </p:blipFill>
        <p:spPr>
          <a:xfrm rot="21600000">
            <a:off x="822960" y="408431"/>
            <a:ext cx="420623" cy="655320"/>
          </a:xfrm>
          <a:prstGeom prst="rect">
            <a:avLst/>
          </a:prstGeom>
        </p:spPr>
      </p:pic>
      <p:sp>
        <p:nvSpPr>
          <p:cNvPr id="4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2"/>
          <p:cNvSpPr/>
          <p:nvPr/>
        </p:nvSpPr>
        <p:spPr>
          <a:xfrm>
            <a:off x="921835" y="1515601"/>
            <a:ext cx="10242550" cy="2554604"/>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3425"/>
              </a:lnSpc>
            </a:pPr>
            <a:r>
              <a:rPr sz="2800" kern="0" spc="-1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目的</a:t>
            </a:r>
            <a:endParaRPr lang="en-US" altLang="en-US" sz="2800" dirty="0">
              <a:latin typeface="Arial" panose="020B0604020202020204" pitchFamily="34" charset="0"/>
              <a:ea typeface="黑体" panose="02010609060101010101" charset="-122"/>
            </a:endParaRPr>
          </a:p>
          <a:p>
            <a:pPr lvl="1" algn="l" rtl="0" eaLnBrk="0">
              <a:lnSpc>
                <a:spcPct val="111000"/>
              </a:lnSpc>
            </a:pP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通信与计算机相结合是人类步入信息社会的一个阶梯，</a:t>
            </a:r>
            <a:r>
              <a:rPr sz="28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它始于六十年代末，完成于90年代初。计</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算机通信网的形成与发</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展，</a:t>
            </a:r>
            <a:r>
              <a:rPr sz="28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要求信息作业标准化，安全保密亦不例外</a:t>
            </a:r>
            <a:r>
              <a:rPr sz="2800" kern="0" spc="-6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。只有标准化，才</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能真正实现网的安全，</a:t>
            </a:r>
            <a:r>
              <a:rPr sz="28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才能推广使用加密手段，以便于训练、</a:t>
            </a:r>
            <a:r>
              <a:rPr sz="2800" kern="0" spc="-6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生</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产和降低成本。</a:t>
            </a:r>
            <a:endParaRPr lang="en-US" altLang="en-US" sz="2800" dirty="0">
              <a:latin typeface="Arial" panose="020B0604020202020204" pitchFamily="34" charset="0"/>
              <a:ea typeface="黑体" panose="02010609060101010101" charset="-122"/>
            </a:endParaRPr>
          </a:p>
        </p:txBody>
      </p:sp>
      <p:sp>
        <p:nvSpPr>
          <p:cNvPr id="44" name="textbox 44"/>
          <p:cNvSpPr/>
          <p:nvPr/>
        </p:nvSpPr>
        <p:spPr>
          <a:xfrm>
            <a:off x="810260" y="-12700"/>
            <a:ext cx="11395075" cy="115061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FF3300">
                    <a:alpha val="100000"/>
                  </a:srgbClr>
                </a:solidFill>
                <a:latin typeface="Arial" panose="020B0604020202020204" pitchFamily="34" charset="0"/>
                <a:ea typeface="黑体" panose="02010609060101010101" charset="-122"/>
                <a:cs typeface="仿宋" panose="02010609060101010101" charset="-122"/>
              </a:rPr>
              <a:t>	</a:t>
            </a:r>
            <a:r>
              <a:rPr sz="3100" u="sng" kern="0" spc="-59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dirty="0">
                <a:solidFill>
                  <a:srgbClr val="1F4E79">
                    <a:alpha val="100000"/>
                  </a:srgbClr>
                </a:solidFill>
                <a:latin typeface="Arial" panose="020B0604020202020204" pitchFamily="34" charset="0"/>
                <a:ea typeface="黑体" panose="02010609060101010101" charset="-122"/>
                <a:cs typeface="仿宋" panose="02010609060101010101" charset="-122"/>
              </a:rPr>
              <a:t>美国制定数据加密标准简况</a:t>
            </a:r>
            <a:r>
              <a:rPr sz="3100" u="sng" kern="0" spc="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FF3300">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48" name="picture 48"/>
          <p:cNvPicPr>
            <a:picLocks noChangeAspect="1"/>
          </p:cNvPicPr>
          <p:nvPr/>
        </p:nvPicPr>
        <p:blipFill>
          <a:blip r:embed="rId1"/>
          <a:stretch>
            <a:fillRect/>
          </a:stretch>
        </p:blipFill>
        <p:spPr>
          <a:xfrm rot="21600000">
            <a:off x="822960" y="408431"/>
            <a:ext cx="420623" cy="655320"/>
          </a:xfrm>
          <a:prstGeom prst="rect">
            <a:avLst/>
          </a:prstGeom>
        </p:spPr>
      </p:pic>
      <p:sp>
        <p:nvSpPr>
          <p:cNvPr id="5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2"/>
          <p:cNvSpPr/>
          <p:nvPr/>
        </p:nvSpPr>
        <p:spPr>
          <a:xfrm>
            <a:off x="1055335" y="1108244"/>
            <a:ext cx="10061575" cy="4804409"/>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美国NBS在1973年5月15公布了征求建议。</a:t>
            </a:r>
            <a:r>
              <a:rPr sz="2400" kern="0" spc="-20" dirty="0">
                <a:solidFill>
                  <a:srgbClr val="000000">
                    <a:alpha val="100000"/>
                  </a:srgbClr>
                </a:solidFill>
                <a:latin typeface="Arial" panose="020B0604020202020204" pitchFamily="34" charset="0"/>
                <a:ea typeface="黑体" panose="02010609060101010101" charset="-122"/>
                <a:cs typeface="新宋体" panose="02010609030101010101" charset="-122"/>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1974年8月27日NBS再次出公</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告征</a:t>
            </a:r>
            <a:r>
              <a:rPr sz="2400" kern="0" spc="-1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求建议，</a:t>
            </a:r>
            <a:r>
              <a:rPr sz="2400" kern="0" spc="-120" dirty="0">
                <a:solidFill>
                  <a:srgbClr val="000000">
                    <a:alpha val="100000"/>
                  </a:srgbClr>
                </a:solidFill>
                <a:latin typeface="Arial" panose="020B0604020202020204" pitchFamily="34" charset="0"/>
                <a:ea typeface="黑体" panose="02010609060101010101" charset="-122"/>
                <a:cs typeface="新宋体" panose="02010609030101010101" charset="-122"/>
              </a:rPr>
              <a:t> </a:t>
            </a:r>
            <a:r>
              <a:rPr sz="2400" kern="0" spc="-1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对建议方案提出如下要求：</a:t>
            </a:r>
            <a:endParaRPr lang="en-US" altLang="en-US" sz="2400" dirty="0">
              <a:latin typeface="Arial" panose="020B0604020202020204" pitchFamily="34" charset="0"/>
              <a:ea typeface="黑体" panose="02010609060101010101" charset="-122"/>
            </a:endParaRPr>
          </a:p>
          <a:p>
            <a:pPr marL="61595" algn="l" rtl="0" eaLnBrk="0">
              <a:lnSpc>
                <a:spcPct val="95000"/>
              </a:lnSpc>
              <a:spcBef>
                <a:spcPts val="1255"/>
              </a:spcBef>
            </a:pP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(1)算法必须提供高</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度的安全性</a:t>
            </a:r>
            <a:endParaRPr lang="en-US" altLang="en-US" sz="2400" dirty="0">
              <a:latin typeface="Arial" panose="020B0604020202020204" pitchFamily="34" charset="0"/>
              <a:ea typeface="黑体" panose="02010609060101010101" charset="-122"/>
            </a:endParaRPr>
          </a:p>
          <a:p>
            <a:pPr marL="61595" algn="l" rtl="0" eaLnBrk="0">
              <a:lnSpc>
                <a:spcPct val="94000"/>
              </a:lnSpc>
              <a:spcBef>
                <a:spcPts val="1300"/>
              </a:spcBef>
            </a:pP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(2)算法必须有详</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细的说明,并易于理解</a:t>
            </a:r>
            <a:endParaRPr lang="en-US" altLang="en-US" sz="2400" dirty="0">
              <a:latin typeface="Arial" panose="020B0604020202020204" pitchFamily="34" charset="0"/>
              <a:ea typeface="黑体" panose="02010609060101010101" charset="-122"/>
            </a:endParaRPr>
          </a:p>
          <a:p>
            <a:pPr marL="61595" algn="l" rtl="0" eaLnBrk="0">
              <a:lnSpc>
                <a:spcPct val="83000"/>
              </a:lnSpc>
              <a:spcBef>
                <a:spcPts val="1345"/>
              </a:spcBef>
            </a:pP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(3)算法的安全性取决于密钥,不</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依赖于算法</a:t>
            </a:r>
            <a:endParaRPr lang="en-US" altLang="en-US" sz="2400" dirty="0">
              <a:latin typeface="Arial" panose="020B0604020202020204" pitchFamily="34" charset="0"/>
              <a:ea typeface="黑体" panose="02010609060101010101" charset="-122"/>
            </a:endParaRPr>
          </a:p>
          <a:p>
            <a:pPr marL="61595" algn="l" rtl="0" eaLnBrk="0">
              <a:lnSpc>
                <a:spcPts val="4010"/>
              </a:lnSpc>
            </a:pP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(4)算法适用于所</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有用户</a:t>
            </a:r>
            <a:endParaRPr lang="en-US" altLang="en-US" sz="2400" dirty="0">
              <a:latin typeface="Arial" panose="020B0604020202020204" pitchFamily="34" charset="0"/>
              <a:ea typeface="黑体" panose="02010609060101010101" charset="-122"/>
            </a:endParaRPr>
          </a:p>
          <a:p>
            <a:pPr marL="61595" algn="l" rtl="0" eaLnBrk="0">
              <a:lnSpc>
                <a:spcPct val="83000"/>
              </a:lnSpc>
              <a:spcBef>
                <a:spcPts val="1645"/>
              </a:spcBef>
            </a:pP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(5)算法适用于不同应用场合</a:t>
            </a:r>
            <a:endParaRPr lang="en-US" altLang="en-US" sz="2400" dirty="0">
              <a:latin typeface="Arial" panose="020B0604020202020204" pitchFamily="34" charset="0"/>
              <a:ea typeface="黑体" panose="02010609060101010101" charset="-122"/>
            </a:endParaRPr>
          </a:p>
          <a:p>
            <a:pPr marL="61595" algn="l" rtl="0" eaLnBrk="0">
              <a:lnSpc>
                <a:spcPts val="4035"/>
              </a:lnSpc>
            </a:pP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(6)算法必须高效、经济</a:t>
            </a:r>
            <a:endParaRPr lang="en-US" altLang="en-US" sz="2400" dirty="0">
              <a:latin typeface="Arial" panose="020B0604020202020204" pitchFamily="34" charset="0"/>
              <a:ea typeface="黑体" panose="02010609060101010101" charset="-122"/>
            </a:endParaRPr>
          </a:p>
          <a:p>
            <a:pPr marL="61595" algn="l" rtl="0" eaLnBrk="0">
              <a:lnSpc>
                <a:spcPct val="83000"/>
              </a:lnSpc>
              <a:spcBef>
                <a:spcPts val="1620"/>
              </a:spcBef>
            </a:pP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(7)算法必须能被证实有效</a:t>
            </a:r>
            <a:endParaRPr lang="en-US" altLang="en-US" sz="2400" dirty="0">
              <a:latin typeface="Arial" panose="020B0604020202020204" pitchFamily="34" charset="0"/>
              <a:ea typeface="黑体" panose="02010609060101010101" charset="-122"/>
            </a:endParaRPr>
          </a:p>
          <a:p>
            <a:pPr marL="61595" algn="l" rtl="0" eaLnBrk="0">
              <a:lnSpc>
                <a:spcPts val="4035"/>
              </a:lnSpc>
            </a:pP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(8)算法必须是可</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出口的</a:t>
            </a:r>
            <a:endParaRPr lang="en-US" altLang="en-US" sz="2400" dirty="0">
              <a:latin typeface="Arial" panose="020B0604020202020204" pitchFamily="34" charset="0"/>
              <a:ea typeface="黑体" panose="02010609060101010101" charset="-122"/>
            </a:endParaRPr>
          </a:p>
        </p:txBody>
      </p:sp>
      <p:sp>
        <p:nvSpPr>
          <p:cNvPr id="54" name="textbox 54"/>
          <p:cNvSpPr/>
          <p:nvPr/>
        </p:nvSpPr>
        <p:spPr>
          <a:xfrm>
            <a:off x="810260" y="-12700"/>
            <a:ext cx="11395075" cy="115061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FF3300">
                    <a:alpha val="100000"/>
                  </a:srgbClr>
                </a:solidFill>
                <a:latin typeface="Arial" panose="020B0604020202020204" pitchFamily="34" charset="0"/>
                <a:ea typeface="黑体" panose="02010609060101010101" charset="-122"/>
                <a:cs typeface="仿宋" panose="02010609060101010101" charset="-122"/>
              </a:rPr>
              <a:t>	</a:t>
            </a:r>
            <a:r>
              <a:rPr sz="3100" u="sng" kern="0" spc="-59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dirty="0">
                <a:solidFill>
                  <a:srgbClr val="1F4E79">
                    <a:alpha val="100000"/>
                  </a:srgbClr>
                </a:solidFill>
                <a:latin typeface="Arial" panose="020B0604020202020204" pitchFamily="34" charset="0"/>
                <a:ea typeface="黑体" panose="02010609060101010101" charset="-122"/>
                <a:cs typeface="仿宋" panose="02010609060101010101" charset="-122"/>
              </a:rPr>
              <a:t>美国制定数据加密标准简况</a:t>
            </a:r>
            <a:r>
              <a:rPr sz="3100" u="sng" kern="0" spc="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FF3300">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58" name="picture 58"/>
          <p:cNvPicPr>
            <a:picLocks noChangeAspect="1"/>
          </p:cNvPicPr>
          <p:nvPr/>
        </p:nvPicPr>
        <p:blipFill>
          <a:blip r:embed="rId1"/>
          <a:stretch>
            <a:fillRect/>
          </a:stretch>
        </p:blipFill>
        <p:spPr>
          <a:xfrm rot="21600000">
            <a:off x="822960" y="408431"/>
            <a:ext cx="420623" cy="655320"/>
          </a:xfrm>
          <a:prstGeom prst="rect">
            <a:avLst/>
          </a:prstGeom>
        </p:spPr>
      </p:pic>
      <p:sp>
        <p:nvSpPr>
          <p:cNvPr id="60"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2"/>
          <p:cNvSpPr/>
          <p:nvPr/>
        </p:nvSpPr>
        <p:spPr>
          <a:xfrm>
            <a:off x="919073" y="1499413"/>
            <a:ext cx="10605769" cy="3152775"/>
          </a:xfrm>
          <a:prstGeom prst="rect">
            <a:avLst/>
          </a:prstGeom>
        </p:spPr>
        <p:txBody>
          <a:bodyPr vert="horz" wrap="square" lIns="0" tIns="0" rIns="0" bIns="0"/>
          <a:lstStyle/>
          <a:p>
            <a:pPr algn="l" rtl="0" eaLnBrk="0">
              <a:lnSpc>
                <a:spcPct val="106000"/>
              </a:lnSpc>
            </a:pPr>
            <a:endParaRPr lang="en-US" altLang="en-US" sz="100" dirty="0">
              <a:latin typeface="Arial" panose="020B0604020202020204" pitchFamily="34" charset="0"/>
              <a:ea typeface="黑体" panose="02010609060101010101" charset="-122"/>
            </a:endParaRPr>
          </a:p>
          <a:p>
            <a:pPr marL="247650" indent="-234950" algn="l" rtl="0" eaLnBrk="0">
              <a:lnSpc>
                <a:spcPct val="91000"/>
              </a:lnSpc>
              <a:spcBef>
                <a:spcPts val="0"/>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IBM</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公司在</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1971</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年完成的</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LUCI</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FER</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密码</a:t>
            </a:r>
            <a:r>
              <a:rPr sz="2400" kern="0" spc="-2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(64</a:t>
            </a:r>
            <a:r>
              <a:rPr sz="2400" b="1" kern="0" spc="2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bit</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分组，代换</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置换，</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128</a:t>
            </a:r>
            <a:r>
              <a:rPr sz="2400" b="1" kern="0" spc="2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bit</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a:t>
            </a:r>
            <a:r>
              <a:rPr sz="24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钥</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的基础上，改进成为建议的</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体制</a:t>
            </a:r>
            <a:endParaRPr lang="en-US" altLang="en-US" sz="2400" dirty="0">
              <a:latin typeface="Arial" panose="020B0604020202020204" pitchFamily="34" charset="0"/>
              <a:ea typeface="黑体" panose="02010609060101010101" charset="-122"/>
            </a:endParaRPr>
          </a:p>
          <a:p>
            <a:pPr marL="246380" indent="-233680" algn="l" rtl="0" eaLnBrk="0">
              <a:lnSpc>
                <a:spcPct val="92000"/>
              </a:lnSpc>
              <a:spcBef>
                <a:spcPts val="1510"/>
              </a:spcBef>
            </a:pPr>
            <a:r>
              <a:rPr sz="24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1975</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月</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17</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日</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NBS</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公布了这个算法，并说明要以它作为联邦信息处理标准，</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征求各方意见。</a:t>
            </a:r>
            <a:endParaRPr lang="en-US" altLang="en-US" sz="2400" dirty="0">
              <a:latin typeface="Arial" panose="020B0604020202020204" pitchFamily="34" charset="0"/>
              <a:ea typeface="黑体" panose="02010609060101010101" charset="-122"/>
            </a:endParaRPr>
          </a:p>
          <a:p>
            <a:pPr algn="r" rtl="0" eaLnBrk="0">
              <a:lnSpc>
                <a:spcPct val="94000"/>
              </a:lnSpc>
              <a:spcBef>
                <a:spcPts val="1500"/>
              </a:spcBef>
            </a:pPr>
            <a:r>
              <a:rPr sz="24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1977</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月</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日建议被批准为</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联邦标准</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[FIPS</a:t>
            </a:r>
            <a:r>
              <a:rPr sz="2400" b="1" kern="0" spc="3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PUB</a:t>
            </a:r>
            <a:r>
              <a:rPr sz="2400" b="1" kern="0" spc="3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46]</a:t>
            </a:r>
            <a:r>
              <a:rPr sz="2400" b="1" kern="0" spc="-2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，并设计推出</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芯片。</a:t>
            </a:r>
            <a:endParaRPr lang="en-US" altLang="en-US" sz="2400" dirty="0">
              <a:latin typeface="Arial" panose="020B0604020202020204" pitchFamily="34" charset="0"/>
              <a:ea typeface="黑体" panose="02010609060101010101" charset="-122"/>
            </a:endParaRPr>
          </a:p>
          <a:p>
            <a:pPr marL="12700" algn="l" rtl="0" eaLnBrk="0">
              <a:lnSpc>
                <a:spcPct val="94000"/>
              </a:lnSpc>
              <a:spcBef>
                <a:spcPts val="149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1981</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年美国</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NSI</a:t>
            </a:r>
            <a:r>
              <a:rPr sz="2400" b="1"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将其作为标准，称之为</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DEA[ANSI X3.92]</a:t>
            </a:r>
            <a:endParaRPr lang="en-US" altLang="en-US" sz="2400" dirty="0">
              <a:latin typeface="Arial" panose="020B0604020202020204" pitchFamily="34" charset="0"/>
              <a:ea typeface="黑体" panose="02010609060101010101" charset="-122"/>
            </a:endParaRPr>
          </a:p>
          <a:p>
            <a:pPr algn="l" rtl="0" eaLnBrk="0">
              <a:lnSpc>
                <a:spcPct val="101000"/>
              </a:lnSpc>
            </a:pPr>
            <a:endParaRPr lang="en-US" altLang="en-US" sz="1200" dirty="0">
              <a:latin typeface="Arial" panose="020B0604020202020204" pitchFamily="34" charset="0"/>
              <a:ea typeface="黑体" panose="02010609060101010101" charset="-122"/>
            </a:endParaRPr>
          </a:p>
          <a:p>
            <a:pPr marL="12700" algn="l" rtl="0" eaLnBrk="0">
              <a:lnSpc>
                <a:spcPct val="93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1983</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年国际标准化组织</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ISO)</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采用它作为标准，称作</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DEA-1</a:t>
            </a:r>
            <a:endParaRPr lang="en-US" altLang="en-US" sz="2400" dirty="0">
              <a:latin typeface="Arial" panose="020B0604020202020204" pitchFamily="34" charset="0"/>
              <a:ea typeface="黑体" panose="02010609060101010101" charset="-122"/>
            </a:endParaRPr>
          </a:p>
        </p:txBody>
      </p:sp>
      <p:sp>
        <p:nvSpPr>
          <p:cNvPr id="64" name="textbox 64"/>
          <p:cNvSpPr/>
          <p:nvPr/>
        </p:nvSpPr>
        <p:spPr>
          <a:xfrm>
            <a:off x="810260" y="-12700"/>
            <a:ext cx="11395075" cy="115061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FF3300">
                    <a:alpha val="100000"/>
                  </a:srgbClr>
                </a:solidFill>
                <a:latin typeface="Arial" panose="020B0604020202020204" pitchFamily="34" charset="0"/>
                <a:ea typeface="黑体" panose="02010609060101010101" charset="-122"/>
                <a:cs typeface="仿宋" panose="02010609060101010101" charset="-122"/>
              </a:rPr>
              <a:t>	</a:t>
            </a:r>
            <a:r>
              <a:rPr sz="3100" u="sng" kern="0" spc="-59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dirty="0">
                <a:solidFill>
                  <a:srgbClr val="1F4E79">
                    <a:alpha val="100000"/>
                  </a:srgbClr>
                </a:solidFill>
                <a:latin typeface="Arial" panose="020B0604020202020204" pitchFamily="34" charset="0"/>
                <a:ea typeface="黑体" panose="02010609060101010101" charset="-122"/>
                <a:cs typeface="仿宋" panose="02010609060101010101" charset="-122"/>
              </a:rPr>
              <a:t>美国制定数据加密标准简况</a:t>
            </a:r>
            <a:r>
              <a:rPr sz="3100" u="sng" kern="0" spc="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FF3300">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68" name="picture 68"/>
          <p:cNvPicPr>
            <a:picLocks noChangeAspect="1"/>
          </p:cNvPicPr>
          <p:nvPr/>
        </p:nvPicPr>
        <p:blipFill>
          <a:blip r:embed="rId1"/>
          <a:stretch>
            <a:fillRect/>
          </a:stretch>
        </p:blipFill>
        <p:spPr>
          <a:xfrm rot="21600000">
            <a:off x="822960" y="408431"/>
            <a:ext cx="420623" cy="655320"/>
          </a:xfrm>
          <a:prstGeom prst="rect">
            <a:avLst/>
          </a:prstGeom>
        </p:spPr>
      </p:pic>
      <p:sp>
        <p:nvSpPr>
          <p:cNvPr id="7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2"/>
          <p:cNvSpPr/>
          <p:nvPr/>
        </p:nvSpPr>
        <p:spPr>
          <a:xfrm>
            <a:off x="919073" y="1566206"/>
            <a:ext cx="10346055" cy="3413125"/>
          </a:xfrm>
          <a:prstGeom prst="rect">
            <a:avLst/>
          </a:prstGeom>
        </p:spPr>
        <p:txBody>
          <a:bodyPr vert="horz" wrap="square" lIns="0" tIns="0" rIns="0" bIns="0"/>
          <a:lstStyle/>
          <a:p>
            <a:pPr algn="l" rtl="0" eaLnBrk="0">
              <a:lnSpc>
                <a:spcPct val="92000"/>
              </a:lnSpc>
            </a:pPr>
            <a:endParaRPr lang="en-US" altLang="en-US" sz="100" dirty="0">
              <a:latin typeface="Arial" panose="020B0604020202020204" pitchFamily="34" charset="0"/>
              <a:ea typeface="黑体" panose="02010609060101010101" charset="-122"/>
            </a:endParaRPr>
          </a:p>
          <a:p>
            <a:pPr marL="245110" indent="-232410" algn="l" rtl="0" eaLnBrk="0">
              <a:lnSpc>
                <a:spcPct val="107000"/>
              </a:lnSpc>
            </a:pPr>
            <a:r>
              <a:rPr sz="2400" kern="0" spc="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NSA</a:t>
            </a:r>
            <a:r>
              <a:rPr sz="2400" kern="0" spc="9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宣布每隔</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kern="0" spc="9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年重新审议</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9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是否继续作为联邦标准，</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19</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88</a:t>
            </a:r>
            <a:r>
              <a:rPr sz="2400" kern="0" spc="8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FIPS</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46-</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1</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1993</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FIPS46-2</a:t>
            </a:r>
            <a:r>
              <a:rPr sz="2400" kern="0" spc="10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1998</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年不再重新批准</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为联邦标准。</a:t>
            </a:r>
            <a:endParaRPr lang="en-US" altLang="en-US" sz="2400" dirty="0">
              <a:latin typeface="Arial" panose="020B0604020202020204" pitchFamily="34" charset="0"/>
              <a:ea typeface="黑体" panose="02010609060101010101" charset="-122"/>
            </a:endParaRPr>
          </a:p>
          <a:p>
            <a:pPr algn="l" rtl="0" eaLnBrk="0">
              <a:lnSpc>
                <a:spcPct val="134000"/>
              </a:lnSpc>
            </a:pPr>
            <a:endParaRPr lang="en-US" altLang="en-US" sz="1000" dirty="0">
              <a:latin typeface="Arial" panose="020B0604020202020204" pitchFamily="34" charset="0"/>
              <a:ea typeface="黑体" panose="02010609060101010101" charset="-122"/>
            </a:endParaRPr>
          </a:p>
          <a:p>
            <a:pPr marL="262890" indent="-250190" algn="l" rtl="0" eaLnBrk="0">
              <a:lnSpc>
                <a:spcPct val="107000"/>
              </a:lnSpc>
              <a:spcBef>
                <a:spcPts val="72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虽然</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已有替代的数据加密标</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准算法，但它仍是迄今为止得到最广泛应用</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的一种算法，也是一种最有代表性的分</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组加密体制。</a:t>
            </a:r>
            <a:endParaRPr lang="en-US" altLang="en-US" sz="2400" dirty="0">
              <a:latin typeface="Arial" panose="020B0604020202020204" pitchFamily="34" charset="0"/>
              <a:ea typeface="黑体" panose="02010609060101010101" charset="-122"/>
            </a:endParaRPr>
          </a:p>
          <a:p>
            <a:pPr algn="l" rtl="0" eaLnBrk="0">
              <a:lnSpc>
                <a:spcPct val="134000"/>
              </a:lnSpc>
            </a:pP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600" dirty="0">
              <a:latin typeface="Arial" panose="020B0604020202020204" pitchFamily="34" charset="0"/>
              <a:ea typeface="黑体" panose="02010609060101010101" charset="-122"/>
            </a:endParaRPr>
          </a:p>
          <a:p>
            <a:pPr marL="260350" indent="-247650" algn="l" rtl="0" eaLnBrk="0">
              <a:lnSpc>
                <a:spcPct val="112000"/>
              </a:lnSpc>
              <a:spcBef>
                <a:spcPts val="0"/>
              </a:spcBef>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1993</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月，</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Clinton</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政府公布了一项建议的加密技术标准，称作密钥托管加</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密技术标准</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EES(Escrowed Encryption</a:t>
            </a:r>
            <a:r>
              <a:rPr sz="24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Standard)</a:t>
            </a:r>
            <a:r>
              <a:rPr sz="2400" b="1" kern="0" spc="-2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算法属美国政府</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SECRET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9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密级。</a:t>
            </a:r>
            <a:endParaRPr lang="en-US" altLang="en-US" sz="2400" dirty="0">
              <a:latin typeface="Arial" panose="020B0604020202020204" pitchFamily="34" charset="0"/>
              <a:ea typeface="黑体" panose="02010609060101010101" charset="-122"/>
            </a:endParaRPr>
          </a:p>
        </p:txBody>
      </p:sp>
      <p:sp>
        <p:nvSpPr>
          <p:cNvPr id="74" name="textbox 74"/>
          <p:cNvSpPr/>
          <p:nvPr/>
        </p:nvSpPr>
        <p:spPr>
          <a:xfrm>
            <a:off x="810260" y="-12700"/>
            <a:ext cx="11395075" cy="115061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FF3300">
                    <a:alpha val="100000"/>
                  </a:srgbClr>
                </a:solidFill>
                <a:latin typeface="Arial" panose="020B0604020202020204" pitchFamily="34" charset="0"/>
                <a:ea typeface="黑体" panose="02010609060101010101" charset="-122"/>
                <a:cs typeface="仿宋" panose="02010609060101010101" charset="-122"/>
              </a:rPr>
              <a:t>	</a:t>
            </a:r>
            <a:r>
              <a:rPr sz="3100" u="sng" kern="0" spc="-59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dirty="0">
                <a:solidFill>
                  <a:srgbClr val="1F4E79">
                    <a:alpha val="100000"/>
                  </a:srgbClr>
                </a:solidFill>
                <a:latin typeface="Arial" panose="020B0604020202020204" pitchFamily="34" charset="0"/>
                <a:ea typeface="黑体" panose="02010609060101010101" charset="-122"/>
                <a:cs typeface="仿宋" panose="02010609060101010101" charset="-122"/>
              </a:rPr>
              <a:t>美国制定数据加密标准简况</a:t>
            </a:r>
            <a:r>
              <a:rPr sz="3100" u="sng" kern="0" spc="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FF3300">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78" name="picture 78"/>
          <p:cNvPicPr>
            <a:picLocks noChangeAspect="1"/>
          </p:cNvPicPr>
          <p:nvPr/>
        </p:nvPicPr>
        <p:blipFill>
          <a:blip r:embed="rId1"/>
          <a:stretch>
            <a:fillRect/>
          </a:stretch>
        </p:blipFill>
        <p:spPr>
          <a:xfrm rot="21600000">
            <a:off x="822960" y="408431"/>
            <a:ext cx="420623" cy="655320"/>
          </a:xfrm>
          <a:prstGeom prst="rect">
            <a:avLst/>
          </a:prstGeom>
        </p:spPr>
      </p:pic>
      <p:sp>
        <p:nvSpPr>
          <p:cNvPr id="8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2"/>
          <p:cNvSpPr/>
          <p:nvPr/>
        </p:nvSpPr>
        <p:spPr>
          <a:xfrm>
            <a:off x="919073" y="1566206"/>
            <a:ext cx="10605769" cy="3401695"/>
          </a:xfrm>
          <a:prstGeom prst="rect">
            <a:avLst/>
          </a:prstGeom>
        </p:spPr>
        <p:txBody>
          <a:bodyPr vert="horz" wrap="square" lIns="0" tIns="0" rIns="0" bIns="0"/>
          <a:lstStyle/>
          <a:p>
            <a:pPr algn="l" rtl="0" eaLnBrk="0">
              <a:lnSpc>
                <a:spcPct val="69000"/>
              </a:lnSpc>
            </a:pPr>
            <a:endParaRPr lang="en-US" altLang="en-US" sz="100" dirty="0">
              <a:latin typeface="Arial" panose="020B0604020202020204" pitchFamily="34" charset="0"/>
              <a:ea typeface="黑体" panose="02010609060101010101" charset="-122"/>
            </a:endParaRPr>
          </a:p>
          <a:p>
            <a:pPr marL="250825" indent="-238125" algn="l" rtl="0" eaLnBrk="0">
              <a:lnSpc>
                <a:spcPct val="107000"/>
              </a:lnSpc>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发展史确定了发展公用标准算法模式，而</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EES</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的制定路线与</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的背道</a:t>
            </a:r>
            <a:r>
              <a:rPr sz="24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而驰。人们怀疑有陷门和政府部门肆意侵犯</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公民权利</a:t>
            </a:r>
            <a:r>
              <a:rPr sz="2400" kern="0" spc="-7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。此举遭到广为反对。</a:t>
            </a:r>
            <a:endParaRPr lang="en-US" altLang="en-US" sz="2400" dirty="0">
              <a:latin typeface="Arial" panose="020B0604020202020204" pitchFamily="34" charset="0"/>
              <a:ea typeface="黑体" panose="02010609060101010101" charset="-122"/>
            </a:endParaRPr>
          </a:p>
          <a:p>
            <a:pPr algn="l" rtl="0" eaLnBrk="0">
              <a:lnSpc>
                <a:spcPct val="139000"/>
              </a:lnSpc>
            </a:pPr>
            <a:endParaRPr lang="en-US" altLang="en-US" sz="1000" dirty="0">
              <a:latin typeface="Arial" panose="020B0604020202020204" pitchFamily="34" charset="0"/>
              <a:ea typeface="黑体" panose="02010609060101010101" charset="-122"/>
            </a:endParaRPr>
          </a:p>
          <a:p>
            <a:pPr marL="240665" indent="-227965" algn="l" rtl="0" eaLnBrk="0">
              <a:lnSpc>
                <a:spcPct val="111000"/>
              </a:lnSpc>
              <a:spcBef>
                <a:spcPts val="725"/>
              </a:spcBef>
            </a:pPr>
            <a:r>
              <a:rPr sz="24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1995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5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月</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AT&amp;T</a:t>
            </a:r>
            <a:r>
              <a:rPr sz="2400" b="1" kern="0" spc="1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Bel</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2400" b="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Lab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M.</a:t>
            </a:r>
            <a:r>
              <a:rPr sz="2400" b="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Blaze</a:t>
            </a:r>
            <a:r>
              <a:rPr sz="2400" b="1"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博</a:t>
            </a:r>
            <a:r>
              <a:rPr sz="2400" kern="0" spc="-6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士</a:t>
            </a:r>
            <a:r>
              <a:rPr sz="2400" kern="0" spc="-6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PC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机</a:t>
            </a:r>
            <a:r>
              <a:rPr sz="2400" kern="0" spc="-6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上</a:t>
            </a:r>
            <a:r>
              <a:rPr sz="2400" kern="0" spc="-7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用</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45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分</a:t>
            </a:r>
            <a:r>
              <a:rPr sz="2400" kern="0" spc="-6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钟</a:t>
            </a:r>
            <a:r>
              <a:rPr sz="2400" kern="0" spc="-5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时</a:t>
            </a:r>
            <a:r>
              <a:rPr sz="2400" kern="0" spc="-4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间</a:t>
            </a:r>
            <a:r>
              <a:rPr sz="2400" kern="0" spc="-7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使</a:t>
            </a:r>
            <a:r>
              <a:rPr sz="24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SKIPJACK</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4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LEAF</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协议失败，伪造</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ID</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码获得成功。</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1995</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7</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月美国政府宣</a:t>
            </a:r>
            <a:r>
              <a:rPr sz="24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布放弃用</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EES</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来加密数据，只将它用于</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语音通信。</a:t>
            </a:r>
            <a:endParaRPr lang="en-US" altLang="en-US" sz="2400" dirty="0">
              <a:latin typeface="Arial" panose="020B0604020202020204" pitchFamily="34" charset="0"/>
              <a:ea typeface="黑体" panose="02010609060101010101" charset="-122"/>
            </a:endParaRPr>
          </a:p>
          <a:p>
            <a:pPr algn="l" rtl="0" eaLnBrk="0">
              <a:lnSpc>
                <a:spcPct val="135000"/>
              </a:lnSpc>
            </a:pPr>
            <a:endParaRPr lang="en-US" altLang="en-US" sz="1000" dirty="0">
              <a:latin typeface="Arial" panose="020B0604020202020204" pitchFamily="34" charset="0"/>
              <a:ea typeface="黑体" panose="02010609060101010101" charset="-122"/>
            </a:endParaRPr>
          </a:p>
          <a:p>
            <a:pPr algn="l" rtl="0" eaLnBrk="0">
              <a:lnSpc>
                <a:spcPct val="101000"/>
              </a:lnSpc>
            </a:pPr>
            <a:endParaRPr lang="en-US" altLang="en-US" sz="600" dirty="0">
              <a:latin typeface="Arial" panose="020B0604020202020204" pitchFamily="34" charset="0"/>
              <a:ea typeface="黑体" panose="02010609060101010101" charset="-122"/>
            </a:endParaRPr>
          </a:p>
          <a:p>
            <a:pPr marL="261620" indent="-248920" algn="l" rtl="0" eaLnBrk="0">
              <a:lnSpc>
                <a:spcPct val="106000"/>
              </a:lnSpc>
              <a:spcBef>
                <a:spcPts val="0"/>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1997</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月美国</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NIST</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着手进行</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AES</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Advanced</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Encryption</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Standard</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研</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究，成立了标准工作室。</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2001</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年</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Rijndael</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被批准为</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AES</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标</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准。</a:t>
            </a:r>
            <a:endParaRPr lang="en-US" altLang="en-US" sz="2400" dirty="0">
              <a:latin typeface="Arial" panose="020B0604020202020204" pitchFamily="34" charset="0"/>
              <a:ea typeface="黑体" panose="02010609060101010101" charset="-122"/>
            </a:endParaRPr>
          </a:p>
        </p:txBody>
      </p:sp>
      <p:sp>
        <p:nvSpPr>
          <p:cNvPr id="84" name="textbox 84"/>
          <p:cNvSpPr/>
          <p:nvPr/>
        </p:nvSpPr>
        <p:spPr>
          <a:xfrm>
            <a:off x="810260" y="-12700"/>
            <a:ext cx="11395075" cy="115061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FF3300">
                    <a:alpha val="100000"/>
                  </a:srgbClr>
                </a:solidFill>
                <a:latin typeface="Arial" panose="020B0604020202020204" pitchFamily="34" charset="0"/>
                <a:ea typeface="黑体" panose="02010609060101010101" charset="-122"/>
                <a:cs typeface="仿宋" panose="02010609060101010101" charset="-122"/>
              </a:rPr>
              <a:t>	</a:t>
            </a:r>
            <a:r>
              <a:rPr sz="3100" u="sng" kern="0" spc="-59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dirty="0">
                <a:solidFill>
                  <a:srgbClr val="1F4E79">
                    <a:alpha val="100000"/>
                  </a:srgbClr>
                </a:solidFill>
                <a:latin typeface="Arial" panose="020B0604020202020204" pitchFamily="34" charset="0"/>
                <a:ea typeface="黑体" panose="02010609060101010101" charset="-122"/>
                <a:cs typeface="仿宋" panose="02010609060101010101" charset="-122"/>
              </a:rPr>
              <a:t>美国制定数据加密标准简况</a:t>
            </a:r>
            <a:r>
              <a:rPr sz="3100" u="sng" kern="0" spc="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FF3300">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88" name="picture 88"/>
          <p:cNvPicPr>
            <a:picLocks noChangeAspect="1"/>
          </p:cNvPicPr>
          <p:nvPr/>
        </p:nvPicPr>
        <p:blipFill>
          <a:blip r:embed="rId1"/>
          <a:stretch>
            <a:fillRect/>
          </a:stretch>
        </p:blipFill>
        <p:spPr>
          <a:xfrm rot="21600000">
            <a:off x="822960" y="408431"/>
            <a:ext cx="420623" cy="655320"/>
          </a:xfrm>
          <a:prstGeom prst="rect">
            <a:avLst/>
          </a:prstGeom>
        </p:spPr>
      </p:pic>
      <p:sp>
        <p:nvSpPr>
          <p:cNvPr id="9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92"/>
          <p:cNvSpPr/>
          <p:nvPr/>
        </p:nvSpPr>
        <p:spPr>
          <a:xfrm>
            <a:off x="919073" y="1566206"/>
            <a:ext cx="10370819" cy="1394460"/>
          </a:xfrm>
          <a:prstGeom prst="rect">
            <a:avLst/>
          </a:prstGeom>
        </p:spPr>
        <p:txBody>
          <a:bodyPr vert="horz" wrap="square" lIns="0" tIns="0" rIns="0" bIns="0"/>
          <a:lstStyle/>
          <a:p>
            <a:pPr algn="l" rtl="0" eaLnBrk="0">
              <a:lnSpc>
                <a:spcPct val="77000"/>
              </a:lnSpc>
            </a:pPr>
            <a:endParaRPr lang="en-US" altLang="en-US" sz="100" dirty="0">
              <a:latin typeface="Arial" panose="020B0604020202020204" pitchFamily="34" charset="0"/>
              <a:ea typeface="黑体" panose="02010609060101010101" charset="-122"/>
            </a:endParaRPr>
          </a:p>
          <a:p>
            <a:pPr marL="246380" indent="-233680" algn="l" rtl="0" eaLnBrk="0">
              <a:lnSpc>
                <a:spcPct val="107000"/>
              </a:lnSpc>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Data Encryption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Standard</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）算法于1977年得到美国政府的正式许可，</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是一种用56位密钥来加密64位数据的方法。这是IBM的研究成果。</a:t>
            </a:r>
            <a:endParaRPr lang="en-US" altLang="en-US" sz="2400" dirty="0">
              <a:latin typeface="Arial" panose="020B0604020202020204" pitchFamily="34" charset="0"/>
              <a:ea typeface="黑体" panose="02010609060101010101" charset="-122"/>
            </a:endParaRPr>
          </a:p>
          <a:p>
            <a:pPr algn="l" rtl="0" eaLnBrk="0">
              <a:lnSpc>
                <a:spcPct val="105000"/>
              </a:lnSpc>
            </a:pPr>
            <a:endParaRPr lang="en-US" altLang="en-US" sz="14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12700" algn="l" rtl="0" eaLnBrk="0">
              <a:lnSpc>
                <a:spcPct val="99000"/>
              </a:lnSpc>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是第一代公开的、完全说明细节的商业级现代算法</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，并被世界公认。</a:t>
            </a:r>
            <a:endParaRPr lang="en-US" altLang="en-US" sz="2400" dirty="0">
              <a:latin typeface="Arial" panose="020B0604020202020204" pitchFamily="34" charset="0"/>
              <a:ea typeface="黑体" panose="02010609060101010101" charset="-122"/>
            </a:endParaRPr>
          </a:p>
        </p:txBody>
      </p:sp>
      <p:sp>
        <p:nvSpPr>
          <p:cNvPr id="94" name="textbox 94"/>
          <p:cNvSpPr/>
          <p:nvPr/>
        </p:nvSpPr>
        <p:spPr>
          <a:xfrm>
            <a:off x="1577815" y="491245"/>
            <a:ext cx="4888229" cy="479425"/>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美国制定数据加密标准简况</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9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00" name="picture 100"/>
          <p:cNvPicPr>
            <a:picLocks noChangeAspect="1"/>
          </p:cNvPicPr>
          <p:nvPr/>
        </p:nvPicPr>
        <p:blipFill>
          <a:blip r:embed="rId1"/>
          <a:stretch>
            <a:fillRect/>
          </a:stretch>
        </p:blipFill>
        <p:spPr>
          <a:xfrm rot="21600000">
            <a:off x="822960" y="408431"/>
            <a:ext cx="420623" cy="655320"/>
          </a:xfrm>
          <a:prstGeom prst="rect">
            <a:avLst/>
          </a:prstGeom>
        </p:spPr>
      </p:pic>
      <p:sp>
        <p:nvSpPr>
          <p:cNvPr id="102"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3557015" y="2057400"/>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76935"/>
            </a:xfrm>
            <a:prstGeom prst="rect">
              <a:avLst/>
            </a:prstGeom>
          </p:spPr>
          <p:txBody>
            <a:bodyPr vert="horz" wrap="square" lIns="0" tIns="0" rIns="0" bIns="0"/>
            <a:lstStyle/>
            <a:p>
              <a:pPr algn="l" rtl="0" eaLnBrk="0">
                <a:lnSpc>
                  <a:spcPct val="166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682625" algn="l" rtl="0" eaLnBrk="0">
                <a:lnSpc>
                  <a:spcPct val="94000"/>
                </a:lnSpc>
              </a:pPr>
              <a:r>
                <a:rPr sz="2400" kern="0" spc="-1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美国制定数据加密标准简况</a:t>
              </a:r>
              <a:endParaRPr lang="en-US" altLang="en-US" sz="2400" dirty="0">
                <a:latin typeface="Arial" panose="020B0604020202020204" pitchFamily="34" charset="0"/>
                <a:ea typeface="黑体" panose="02010609060101010101" charset="-122"/>
              </a:endParaRPr>
            </a:p>
          </p:txBody>
        </p:sp>
      </p:grpSp>
      <p:grpSp>
        <p:nvGrpSpPr>
          <p:cNvPr id="10" name="group 10"/>
          <p:cNvGrpSpPr/>
          <p:nvPr/>
        </p:nvGrpSpPr>
        <p:grpSpPr>
          <a:xfrm rot="21600000">
            <a:off x="3709415" y="3886200"/>
            <a:ext cx="5507736" cy="813816"/>
            <a:chOff x="0" y="0"/>
            <a:chExt cx="5507736" cy="813816"/>
          </a:xfrm>
        </p:grpSpPr>
        <p:pic>
          <p:nvPicPr>
            <p:cNvPr id="108" name="picture 108"/>
            <p:cNvPicPr>
              <a:picLocks noChangeAspect="1"/>
            </p:cNvPicPr>
            <p:nvPr/>
          </p:nvPicPr>
          <p:blipFill>
            <a:blip r:embed="rId2"/>
            <a:stretch>
              <a:fillRect/>
            </a:stretch>
          </p:blipFill>
          <p:spPr>
            <a:xfrm rot="21600000">
              <a:off x="0" y="0"/>
              <a:ext cx="5507736" cy="813816"/>
            </a:xfrm>
            <a:prstGeom prst="rect">
              <a:avLst/>
            </a:prstGeom>
          </p:spPr>
        </p:pic>
        <p:sp>
          <p:nvSpPr>
            <p:cNvPr id="110" name="textbox 110"/>
            <p:cNvSpPr/>
            <p:nvPr/>
          </p:nvSpPr>
          <p:spPr>
            <a:xfrm>
              <a:off x="-12700" y="-12700"/>
              <a:ext cx="5533390" cy="876935"/>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marL="661670" algn="l" rtl="0" eaLnBrk="0">
                <a:lnSpc>
                  <a:spcPct val="94000"/>
                </a:lnSpc>
                <a:spcBef>
                  <a:spcPts val="5"/>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的框架和主要参数</a:t>
              </a:r>
              <a:endParaRPr lang="en-US" altLang="en-US" sz="2400" dirty="0">
                <a:latin typeface="Arial" panose="020B0604020202020204" pitchFamily="34" charset="0"/>
                <a:ea typeface="黑体" panose="02010609060101010101" charset="-122"/>
              </a:endParaRPr>
            </a:p>
          </p:txBody>
        </p:sp>
      </p:grpSp>
      <p:grpSp>
        <p:nvGrpSpPr>
          <p:cNvPr id="12" name="group 12"/>
          <p:cNvGrpSpPr/>
          <p:nvPr/>
        </p:nvGrpSpPr>
        <p:grpSpPr>
          <a:xfrm rot="21600000">
            <a:off x="2969132" y="1523492"/>
            <a:ext cx="1249298" cy="3784726"/>
            <a:chOff x="0" y="0"/>
            <a:chExt cx="1249298" cy="3784726"/>
          </a:xfrm>
        </p:grpSpPr>
        <p:sp>
          <p:nvSpPr>
            <p:cNvPr id="11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11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1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11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2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122" name="textbox 122"/>
          <p:cNvSpPr/>
          <p:nvPr/>
        </p:nvSpPr>
        <p:spPr>
          <a:xfrm>
            <a:off x="1598295" y="496570"/>
            <a:ext cx="4898390" cy="479425"/>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8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第二十讲</a:t>
            </a:r>
            <a:r>
              <a:rPr sz="3100" kern="0" spc="8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8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算法简介</a:t>
            </a:r>
            <a:endParaRPr lang="en-US" altLang="en-US" sz="3100" dirty="0">
              <a:latin typeface="Arial" panose="020B0604020202020204" pitchFamily="34" charset="0"/>
              <a:ea typeface="黑体" panose="02010609060101010101" charset="-122"/>
            </a:endParaRPr>
          </a:p>
        </p:txBody>
      </p:sp>
      <p:sp>
        <p:nvSpPr>
          <p:cNvPr id="12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box 132"/>
          <p:cNvSpPr/>
          <p:nvPr/>
        </p:nvSpPr>
        <p:spPr>
          <a:xfrm>
            <a:off x="1132020" y="1544811"/>
            <a:ext cx="10343515" cy="3089910"/>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12700" algn="l" rtl="0" eaLnBrk="0">
              <a:lnSpc>
                <a:spcPct val="92000"/>
              </a:lnSpc>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0" dirty="0">
                <a:ln w="10197" cap="flat" cmpd="sng">
                  <a:solidFill>
                    <a:srgbClr val="00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仿宋" panose="02010609060101010101" charset="-122"/>
              </a:rPr>
              <a:t>分组长度为</a:t>
            </a:r>
            <a:r>
              <a:rPr sz="2800" b="1" kern="0" spc="-10" dirty="0">
                <a:solidFill>
                  <a:srgbClr val="FF0000">
                    <a:alpha val="100000"/>
                  </a:srgbClr>
                </a:solidFill>
                <a:latin typeface="Arial" panose="020B0604020202020204" pitchFamily="34" charset="0"/>
                <a:ea typeface="黑体" panose="02010609060101010101" charset="-122"/>
                <a:cs typeface="Times New Roman" panose="02020603050405020304"/>
              </a:rPr>
              <a:t>64 bits (8</a:t>
            </a:r>
            <a:r>
              <a:rPr sz="2800" b="1" kern="0" spc="-20" dirty="0">
                <a:solidFill>
                  <a:srgbClr val="FF0000">
                    <a:alpha val="100000"/>
                  </a:srgbClr>
                </a:solidFill>
                <a:latin typeface="Arial" panose="020B0604020202020204" pitchFamily="34" charset="0"/>
                <a:ea typeface="黑体" panose="02010609060101010101" charset="-122"/>
                <a:cs typeface="Times New Roman" panose="02020603050405020304"/>
              </a:rPr>
              <a:t> bytes)</a:t>
            </a:r>
            <a:endParaRPr lang="en-US" altLang="en-US" sz="2800" dirty="0">
              <a:latin typeface="Arial" panose="020B0604020202020204" pitchFamily="34" charset="0"/>
              <a:ea typeface="黑体" panose="02010609060101010101" charset="-122"/>
            </a:endParaRPr>
          </a:p>
          <a:p>
            <a:pPr algn="l" rtl="0" eaLnBrk="0">
              <a:lnSpc>
                <a:spcPct val="142000"/>
              </a:lnSpc>
            </a:pPr>
            <a:endParaRPr lang="en-US" altLang="en-US" sz="1000" dirty="0">
              <a:latin typeface="Arial" panose="020B0604020202020204" pitchFamily="34" charset="0"/>
              <a:ea typeface="黑体" panose="02010609060101010101" charset="-122"/>
            </a:endParaRPr>
          </a:p>
          <a:p>
            <a:pPr marL="12700" algn="l" rtl="0" eaLnBrk="0">
              <a:lnSpc>
                <a:spcPts val="3395"/>
              </a:lnSpc>
              <a:spcBef>
                <a:spcPts val="850"/>
              </a:spcBef>
            </a:pPr>
            <a:r>
              <a:rPr sz="28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密文分组长度也是</a:t>
            </a: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64 </a:t>
            </a:r>
            <a:r>
              <a:rPr sz="2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bits</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algn="l" rtl="0" eaLnBrk="0">
              <a:lnSpc>
                <a:spcPct val="116000"/>
              </a:lnSpc>
            </a:pPr>
            <a:endParaRPr lang="en-US" altLang="en-US" sz="1000" dirty="0">
              <a:latin typeface="Arial" panose="020B0604020202020204" pitchFamily="34" charset="0"/>
              <a:ea typeface="黑体" panose="02010609060101010101" charset="-122"/>
            </a:endParaRPr>
          </a:p>
          <a:p>
            <a:pPr marL="12700" algn="l" rtl="0" eaLnBrk="0">
              <a:lnSpc>
                <a:spcPct val="100000"/>
              </a:lnSpc>
              <a:spcBef>
                <a:spcPts val="845"/>
              </a:spcBef>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密钥长度为</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64 bits</a:t>
            </a:r>
            <a:r>
              <a:rPr sz="2800" b="1" kern="0" spc="-2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，有</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bits</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奇偶校验，</a:t>
            </a:r>
            <a:r>
              <a:rPr sz="2800" kern="0" spc="-20" dirty="0">
                <a:ln w="10197" cap="flat" cmpd="sng">
                  <a:solidFill>
                    <a:srgbClr val="000000">
                      <a:alpha val="100000"/>
                    </a:srgbClr>
                  </a:solidFill>
                  <a:prstDash val="solid"/>
                  <a:miter lim="10"/>
                </a:ln>
                <a:solidFill>
                  <a:srgbClr val="000000">
                    <a:alpha val="100000"/>
                  </a:srgbClr>
                </a:solidFill>
                <a:highlight>
                  <a:srgbClr val="FFFF00"/>
                </a:highlight>
                <a:latin typeface="Arial" panose="020B0604020202020204" pitchFamily="34" charset="0"/>
                <a:ea typeface="黑体" panose="02010609060101010101" charset="-122"/>
                <a:cs typeface="仿宋" panose="02010609060101010101" charset="-122"/>
              </a:rPr>
              <a:t>有效密钥长度为</a:t>
            </a:r>
            <a:r>
              <a:rPr sz="2800" b="1" kern="0" spc="-20" dirty="0">
                <a:solidFill>
                  <a:srgbClr val="000000">
                    <a:alpha val="100000"/>
                  </a:srgbClr>
                </a:solidFill>
                <a:highlight>
                  <a:srgbClr val="FFFF00"/>
                </a:highlight>
                <a:latin typeface="Arial" panose="020B0604020202020204" pitchFamily="34" charset="0"/>
                <a:ea typeface="黑体" panose="02010609060101010101" charset="-122"/>
                <a:cs typeface="Times New Roman" panose="02020603050405020304"/>
              </a:rPr>
              <a:t>56 bits</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algn="l" rtl="0" eaLnBrk="0">
              <a:lnSpc>
                <a:spcPct val="121000"/>
              </a:lnSpc>
            </a:pP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700" dirty="0">
              <a:latin typeface="Arial" panose="020B0604020202020204" pitchFamily="34" charset="0"/>
              <a:ea typeface="黑体" panose="02010609060101010101" charset="-122"/>
            </a:endParaRPr>
          </a:p>
          <a:p>
            <a:pPr marL="209550" indent="-197485" algn="l" rtl="0" eaLnBrk="0">
              <a:lnSpc>
                <a:spcPct val="107000"/>
              </a:lnSpc>
              <a:spcBef>
                <a:spcPts val="5"/>
              </a:spcBef>
            </a:pPr>
            <a:r>
              <a:rPr sz="28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算法主要包括：初始置换</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IP</a:t>
            </a:r>
            <a:r>
              <a:rPr sz="2800" b="1" i="1" kern="0" spc="-4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轮迭代的乘积变换、逆初</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始置换</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IP</a:t>
            </a:r>
            <a:r>
              <a:rPr sz="2800" b="1" kern="0" spc="-1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以及</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个子密钥产生器。</a:t>
            </a:r>
            <a:endParaRPr lang="en-US" altLang="en-US" sz="2800" dirty="0">
              <a:latin typeface="Arial" panose="020B0604020202020204" pitchFamily="34" charset="0"/>
              <a:ea typeface="黑体" panose="02010609060101010101" charset="-122"/>
            </a:endParaRPr>
          </a:p>
        </p:txBody>
      </p:sp>
      <p:sp>
        <p:nvSpPr>
          <p:cNvPr id="136" name="textbox 136"/>
          <p:cNvSpPr/>
          <p:nvPr/>
        </p:nvSpPr>
        <p:spPr>
          <a:xfrm>
            <a:off x="1551305" y="491490"/>
            <a:ext cx="2891155" cy="480695"/>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 算法</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13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40" name="picture 140"/>
          <p:cNvPicPr>
            <a:picLocks noChangeAspect="1"/>
          </p:cNvPicPr>
          <p:nvPr/>
        </p:nvPicPr>
        <p:blipFill>
          <a:blip r:embed="rId1"/>
          <a:stretch>
            <a:fillRect/>
          </a:stretch>
        </p:blipFill>
        <p:spPr>
          <a:xfrm rot="21600000">
            <a:off x="822960" y="408431"/>
            <a:ext cx="420623" cy="655320"/>
          </a:xfrm>
          <a:prstGeom prst="rect">
            <a:avLst/>
          </a:prstGeom>
        </p:spPr>
      </p:pic>
      <p:sp>
        <p:nvSpPr>
          <p:cNvPr id="142"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46" name="picture 146"/>
          <p:cNvPicPr>
            <a:picLocks noChangeAspect="1"/>
          </p:cNvPicPr>
          <p:nvPr/>
        </p:nvPicPr>
        <p:blipFill>
          <a:blip r:embed="rId1"/>
          <a:stretch>
            <a:fillRect/>
          </a:stretch>
        </p:blipFill>
        <p:spPr>
          <a:xfrm rot="21600000">
            <a:off x="2362200" y="1142998"/>
            <a:ext cx="7345680" cy="5638800"/>
          </a:xfrm>
          <a:prstGeom prst="rect">
            <a:avLst/>
          </a:prstGeom>
        </p:spPr>
      </p:pic>
      <p:sp>
        <p:nvSpPr>
          <p:cNvPr id="150" name="textbox 150"/>
          <p:cNvSpPr/>
          <p:nvPr/>
        </p:nvSpPr>
        <p:spPr>
          <a:xfrm>
            <a:off x="1518285" y="537845"/>
            <a:ext cx="5323205" cy="367665"/>
          </a:xfrm>
          <a:prstGeom prst="rect">
            <a:avLst/>
          </a:prstGeom>
        </p:spPr>
        <p:txBody>
          <a:bodyPr vert="horz" wrap="square" lIns="0" tIns="0" rIns="0" bIns="0"/>
          <a:lstStyle/>
          <a:p>
            <a:pPr algn="l" rtl="0" eaLnBrk="0">
              <a:lnSpc>
                <a:spcPct val="73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算法框图</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152" name="picture 152"/>
          <p:cNvPicPr>
            <a:picLocks noChangeAspect="1"/>
          </p:cNvPicPr>
          <p:nvPr/>
        </p:nvPicPr>
        <p:blipFill>
          <a:blip r:embed="rId2"/>
          <a:stretch>
            <a:fillRect/>
          </a:stretch>
        </p:blipFill>
        <p:spPr>
          <a:xfrm rot="21600000">
            <a:off x="822960" y="408431"/>
            <a:ext cx="420623" cy="655320"/>
          </a:xfrm>
          <a:prstGeom prst="rect">
            <a:avLst/>
          </a:prstGeom>
        </p:spPr>
      </p:pic>
      <p:sp>
        <p:nvSpPr>
          <p:cNvPr id="15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
        <p:nvSpPr>
          <p:cNvPr id="2" name="文本框 1"/>
          <p:cNvSpPr txBox="1"/>
          <p:nvPr/>
        </p:nvSpPr>
        <p:spPr>
          <a:xfrm>
            <a:off x="9496425" y="1143000"/>
            <a:ext cx="2101215" cy="368300"/>
          </a:xfrm>
          <a:prstGeom prst="rect">
            <a:avLst/>
          </a:prstGeom>
          <a:noFill/>
        </p:spPr>
        <p:txBody>
          <a:bodyPr wrap="square" rtlCol="0">
            <a:spAutoFit/>
          </a:bodyPr>
          <a:p>
            <a:r>
              <a:rPr lang="en-US" altLang="zh-CN"/>
              <a:t>+8</a:t>
            </a:r>
            <a:r>
              <a:rPr lang="zh-CN" altLang="en-US"/>
              <a:t>比特奇偶校验</a:t>
            </a:r>
            <a:r>
              <a:rPr lang="zh-CN" altLang="en-US"/>
              <a:t>位</a:t>
            </a: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 name="picture 156"/>
          <p:cNvPicPr>
            <a:picLocks noChangeAspect="1"/>
          </p:cNvPicPr>
          <p:nvPr/>
        </p:nvPicPr>
        <p:blipFill>
          <a:blip r:embed="rId1"/>
          <a:stretch>
            <a:fillRect/>
          </a:stretch>
        </p:blipFill>
        <p:spPr>
          <a:xfrm rot="21600000">
            <a:off x="6958330" y="2742184"/>
            <a:ext cx="4119626" cy="72643"/>
          </a:xfrm>
          <a:prstGeom prst="rect">
            <a:avLst/>
          </a:prstGeom>
        </p:spPr>
      </p:pic>
      <p:graphicFrame>
        <p:nvGraphicFramePr>
          <p:cNvPr id="158" name="table 158"/>
          <p:cNvGraphicFramePr>
            <a:graphicFrameLocks noGrp="1"/>
          </p:cNvGraphicFramePr>
          <p:nvPr/>
        </p:nvGraphicFramePr>
        <p:xfrm>
          <a:off x="1574579" y="1455420"/>
          <a:ext cx="9502775" cy="1729739"/>
        </p:xfrm>
        <a:graphic>
          <a:graphicData uri="http://schemas.openxmlformats.org/drawingml/2006/table">
            <a:tbl>
              <a:tblPr/>
              <a:tblGrid>
                <a:gridCol w="2635885"/>
                <a:gridCol w="6866890"/>
              </a:tblGrid>
              <a:tr h="1729739">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ts val="1950"/>
                        </a:lnSpc>
                        <a:spcBef>
                          <a:spcPts val="5"/>
                        </a:spcBef>
                      </a:pPr>
                      <a:r>
                        <a:rPr sz="3100" kern="0" spc="-15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3100" kern="0" spc="-170" dirty="0">
                          <a:solidFill>
                            <a:srgbClr val="FF0000">
                              <a:alpha val="100000"/>
                            </a:srgbClr>
                          </a:solidFill>
                          <a:latin typeface="Arial" panose="020B0604020202020204" pitchFamily="34" charset="0"/>
                          <a:ea typeface="黑体" panose="02010609060101010101" charset="-122"/>
                          <a:cs typeface="微软雅黑" panose="020B0503020204020204" charset="-122"/>
                        </a:rPr>
                        <a:t> </a:t>
                      </a:r>
                      <a:r>
                        <a:rPr sz="3100" i="1" kern="0" spc="-150" dirty="0">
                          <a:solidFill>
                            <a:srgbClr val="FF0000">
                              <a:alpha val="100000"/>
                            </a:srgbClr>
                          </a:solidFill>
                          <a:latin typeface="Arial" panose="020B0604020202020204" pitchFamily="34" charset="0"/>
                          <a:ea typeface="黑体" panose="02010609060101010101" charset="-122"/>
                          <a:cs typeface="Times New Roman" panose="02020603050405020304"/>
                        </a:rPr>
                        <a:t>R</a:t>
                      </a:r>
                      <a:endParaRPr lang="en-US" altLang="en-US" sz="3100" dirty="0">
                        <a:latin typeface="Arial" panose="020B0604020202020204" pitchFamily="34" charset="0"/>
                        <a:ea typeface="黑体" panose="02010609060101010101" charset="-122"/>
                      </a:endParaRPr>
                    </a:p>
                    <a:p>
                      <a:pPr marL="575945" algn="l" rtl="0" eaLnBrk="0">
                        <a:lnSpc>
                          <a:spcPts val="1440"/>
                        </a:lnSpc>
                      </a:pPr>
                      <a:r>
                        <a:rPr sz="1900" i="1" kern="0" spc="13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1900" kern="0" spc="13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1900" kern="0" spc="130" dirty="0">
                          <a:solidFill>
                            <a:srgbClr val="FF0000">
                              <a:alpha val="100000"/>
                            </a:srgbClr>
                          </a:solidFill>
                          <a:latin typeface="Arial" panose="020B0604020202020204" pitchFamily="34" charset="0"/>
                          <a:ea typeface="黑体" panose="02010609060101010101" charset="-122"/>
                          <a:cs typeface="Times New Roman" panose="02020603050405020304"/>
                        </a:rPr>
                        <a:t>1</a:t>
                      </a:r>
                      <a:endParaRPr lang="en-US" altLang="en-US" sz="19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3000"/>
                        </a:lnSpc>
                      </a:pPr>
                      <a:endParaRPr lang="en-US" altLang="en-US" sz="1000" dirty="0">
                        <a:latin typeface="Arial" panose="020B0604020202020204" pitchFamily="34" charset="0"/>
                        <a:ea typeface="黑体" panose="02010609060101010101" charset="-122"/>
                      </a:endParaRPr>
                    </a:p>
                    <a:p>
                      <a:pPr marL="5885180" algn="l" rtl="0" eaLnBrk="0">
                        <a:lnSpc>
                          <a:spcPct val="78000"/>
                        </a:lnSpc>
                        <a:spcBef>
                          <a:spcPts val="5"/>
                        </a:spcBef>
                      </a:pPr>
                      <a:r>
                        <a:rPr sz="13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200" kern="0" spc="6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200" baseline="-22000" dirty="0">
                        <a:latin typeface="Arial" panose="020B0604020202020204" pitchFamily="34" charset="0"/>
                        <a:ea typeface="黑体" panose="02010609060101010101" charset="-122"/>
                      </a:endParaRPr>
                    </a:p>
                    <a:p>
                      <a:pPr marL="2695575" algn="l" rtl="0" eaLnBrk="0">
                        <a:lnSpc>
                          <a:spcPts val="1035"/>
                        </a:lnSpc>
                      </a:pPr>
                      <a:r>
                        <a:rPr sz="1400" kern="0" spc="-10" dirty="0">
                          <a:solidFill>
                            <a:srgbClr val="000000">
                              <a:alpha val="100000"/>
                            </a:srgbClr>
                          </a:solidFill>
                          <a:latin typeface="Arial" panose="020B0604020202020204" pitchFamily="34" charset="0"/>
                          <a:ea typeface="黑体" panose="02010609060101010101" charset="-122"/>
                          <a:cs typeface="微软雅黑" panose="020B0503020204020204" charset="-122"/>
                        </a:rPr>
                        <a:t>①</a:t>
                      </a:r>
                      <a:endParaRPr lang="en-US" altLang="en-US" sz="1400" dirty="0">
                        <a:latin typeface="Arial" panose="020B0604020202020204" pitchFamily="34" charset="0"/>
                        <a:ea typeface="黑体" panose="02010609060101010101" charset="-122"/>
                      </a:endParaRPr>
                    </a:p>
                    <a:p>
                      <a:pPr algn="l" rtl="0" eaLnBrk="0">
                        <a:lnSpc>
                          <a:spcPct val="128000"/>
                        </a:lnSpc>
                      </a:pPr>
                      <a:endParaRPr lang="en-US" altLang="en-US" sz="1000" dirty="0">
                        <a:latin typeface="Arial" panose="020B0604020202020204" pitchFamily="34" charset="0"/>
                        <a:ea typeface="黑体" panose="02010609060101010101" charset="-122"/>
                      </a:endParaRPr>
                    </a:p>
                    <a:p>
                      <a:pPr marL="6617970" algn="l" rtl="0" eaLnBrk="0">
                        <a:lnSpc>
                          <a:spcPts val="800"/>
                        </a:lnSpc>
                        <a:spcBef>
                          <a:spcPts val="340"/>
                        </a:spcBef>
                      </a:pPr>
                      <a:r>
                        <a:rPr sz="11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一</a:t>
                      </a:r>
                      <a:endParaRPr lang="en-US" altLang="en-US" sz="1100" dirty="0">
                        <a:latin typeface="Arial" panose="020B0604020202020204" pitchFamily="34" charset="0"/>
                        <a:ea typeface="黑体" panose="02010609060101010101" charset="-122"/>
                      </a:endParaRPr>
                    </a:p>
                    <a:p>
                      <a:pPr marL="6619875" algn="l" rtl="0" eaLnBrk="0">
                        <a:lnSpc>
                          <a:spcPct val="100000"/>
                        </a:lnSpc>
                        <a:spcBef>
                          <a:spcPts val="570"/>
                        </a:spcBef>
                      </a:pPr>
                      <a:r>
                        <a:rPr sz="1100" kern="0" spc="11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轮</a:t>
                      </a:r>
                      <a:endParaRPr lang="en-US" altLang="en-US" sz="1100" dirty="0">
                        <a:latin typeface="Arial" panose="020B0604020202020204" pitchFamily="34" charset="0"/>
                        <a:ea typeface="黑体" panose="02010609060101010101" charset="-122"/>
                      </a:endParaRPr>
                    </a:p>
                    <a:p>
                      <a:pPr marL="2539365" algn="l" rtl="0" eaLnBrk="0">
                        <a:lnSpc>
                          <a:spcPct val="83000"/>
                        </a:lnSpc>
                        <a:spcBef>
                          <a:spcPts val="60"/>
                        </a:spcBef>
                      </a:pPr>
                      <a:r>
                        <a:rPr sz="1700" i="1" kern="0" spc="110" baseline="300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1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6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700" kern="0" spc="110" baseline="300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1100" kern="0" spc="-9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700" i="1" kern="0" spc="110" baseline="30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1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6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6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10" baseline="-26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6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1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1100" kern="0" spc="-10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10" baseline="-26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6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10" dirty="0">
                          <a:solidFill>
                            <a:srgbClr val="000000">
                              <a:alpha val="100000"/>
                            </a:srgbClr>
                          </a:solidFill>
                          <a:latin typeface="Arial" panose="020B0604020202020204" pitchFamily="34" charset="0"/>
                          <a:ea typeface="黑体" panose="02010609060101010101" charset="-122"/>
                          <a:cs typeface="微软雅黑" panose="020B0503020204020204" charset="-122"/>
                        </a:rPr>
                        <a:t>①</a:t>
                      </a:r>
                      <a:r>
                        <a:rPr sz="1100" kern="0" spc="-17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f </a:t>
                      </a:r>
                      <a:r>
                        <a:rPr sz="11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00" baseline="-26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6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000" kern="0" spc="100" baseline="-26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6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endParaRPr lang="en-US" altLang="en-US" sz="1100" dirty="0">
                        <a:latin typeface="Arial" panose="020B0604020202020204" pitchFamily="34" charset="0"/>
                        <a:ea typeface="黑体" panose="02010609060101010101" charset="-122"/>
                      </a:endParaRPr>
                    </a:p>
                    <a:p>
                      <a:pPr algn="l" rtl="0" eaLnBrk="0">
                        <a:lnSpc>
                          <a:spcPct val="107000"/>
                        </a:lnSpc>
                      </a:pPr>
                      <a:endParaRPr lang="en-US" altLang="en-US" sz="1000" dirty="0">
                        <a:latin typeface="Arial" panose="020B0604020202020204" pitchFamily="34" charset="0"/>
                        <a:ea typeface="黑体" panose="02010609060101010101" charset="-122"/>
                      </a:endParaRPr>
                    </a:p>
                    <a:p>
                      <a:pPr algn="l" rtl="0" eaLnBrk="0">
                        <a:lnSpc>
                          <a:spcPct val="107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200" dirty="0">
                        <a:latin typeface="Arial" panose="020B0604020202020204" pitchFamily="34" charset="0"/>
                        <a:ea typeface="黑体" panose="02010609060101010101" charset="-122"/>
                      </a:endParaRPr>
                    </a:p>
                    <a:p>
                      <a:pPr marL="2757170" algn="l" rtl="0" eaLnBrk="0">
                        <a:lnSpc>
                          <a:spcPts val="1475"/>
                        </a:lnSpc>
                        <a:spcBef>
                          <a:spcPts val="0"/>
                        </a:spcBef>
                      </a:pPr>
                      <a:r>
                        <a:rPr sz="900" kern="0" spc="-40" dirty="0">
                          <a:solidFill>
                            <a:srgbClr val="000000">
                              <a:alpha val="100000"/>
                            </a:srgbClr>
                          </a:solidFill>
                          <a:latin typeface="Arial" panose="020B0604020202020204" pitchFamily="34" charset="0"/>
                          <a:ea typeface="黑体" panose="02010609060101010101" charset="-122"/>
                          <a:cs typeface="MT Extra" panose="05050102010205020202"/>
                        </a:rPr>
                        <a:t>:</a:t>
                      </a:r>
                      <a:r>
                        <a:rPr sz="900" kern="0" spc="10" dirty="0">
                          <a:solidFill>
                            <a:srgbClr val="000000">
                              <a:alpha val="100000"/>
                            </a:srgbClr>
                          </a:solidFill>
                          <a:latin typeface="Arial" panose="020B0604020202020204" pitchFamily="34" charset="0"/>
                          <a:ea typeface="黑体" panose="02010609060101010101" charset="-122"/>
                          <a:cs typeface="MT Extra" panose="05050102010205020202"/>
                        </a:rPr>
                        <a:t>                     </a:t>
                      </a:r>
                      <a:r>
                        <a:rPr sz="900" kern="0" spc="0" dirty="0">
                          <a:solidFill>
                            <a:srgbClr val="000000">
                              <a:alpha val="100000"/>
                            </a:srgbClr>
                          </a:solidFill>
                          <a:latin typeface="Arial" panose="020B0604020202020204" pitchFamily="34" charset="0"/>
                          <a:ea typeface="黑体" panose="02010609060101010101" charset="-122"/>
                          <a:cs typeface="MT Extra" panose="05050102010205020202"/>
                        </a:rPr>
                        <a:t>                                             </a:t>
                      </a:r>
                      <a:r>
                        <a:rPr sz="900" kern="0" spc="-40" dirty="0">
                          <a:solidFill>
                            <a:srgbClr val="000000">
                              <a:alpha val="100000"/>
                            </a:srgbClr>
                          </a:solidFill>
                          <a:latin typeface="Arial" panose="020B0604020202020204" pitchFamily="34" charset="0"/>
                          <a:ea typeface="黑体" panose="02010609060101010101" charset="-122"/>
                          <a:cs typeface="MT Extra" panose="05050102010205020202"/>
                        </a:rPr>
                        <a:t>:</a:t>
                      </a:r>
                      <a:endParaRPr lang="en-US" altLang="en-US" sz="9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r>
            </a:tbl>
          </a:graphicData>
        </a:graphic>
      </p:graphicFrame>
      <p:pic>
        <p:nvPicPr>
          <p:cNvPr id="160" name="picture 160"/>
          <p:cNvPicPr>
            <a:picLocks noChangeAspect="1"/>
          </p:cNvPicPr>
          <p:nvPr/>
        </p:nvPicPr>
        <p:blipFill>
          <a:blip r:embed="rId2"/>
          <a:stretch>
            <a:fillRect/>
          </a:stretch>
        </p:blipFill>
        <p:spPr>
          <a:xfrm rot="21600000">
            <a:off x="10867525" y="2546604"/>
            <a:ext cx="50800" cy="234695"/>
          </a:xfrm>
          <a:prstGeom prst="rect">
            <a:avLst/>
          </a:prstGeom>
        </p:spPr>
      </p:pic>
      <p:sp>
        <p:nvSpPr>
          <p:cNvPr id="162" name="path"/>
          <p:cNvSpPr/>
          <p:nvPr/>
        </p:nvSpPr>
        <p:spPr>
          <a:xfrm>
            <a:off x="6989491" y="1894366"/>
            <a:ext cx="9143" cy="67021"/>
          </a:xfrm>
          <a:custGeom>
            <a:avLst/>
            <a:gdLst/>
            <a:ahLst/>
            <a:cxnLst/>
            <a:rect l="0" t="0" r="0" b="0"/>
            <a:pathLst>
              <a:path w="14" h="105">
                <a:moveTo>
                  <a:pt x="7" y="0"/>
                </a:moveTo>
                <a:lnTo>
                  <a:pt x="7" y="105"/>
                </a:lnTo>
              </a:path>
            </a:pathLst>
          </a:custGeom>
          <a:noFill/>
          <a:ln w="8741" cap="flat">
            <a:solidFill>
              <a:srgbClr val="000000">
                <a:alpha val="100000"/>
              </a:srgbClr>
            </a:solidFill>
            <a:prstDash val="solid"/>
            <a:round/>
          </a:ln>
        </p:spPr>
        <p:txBody>
          <a:bodyPr rtlCol="0"/>
          <a:lstStyle/>
          <a:p>
            <a:pPr algn="ctr"/>
            <a:endParaRPr lang="zh-CN" altLang="en-US"/>
          </a:p>
        </p:txBody>
      </p:sp>
      <p:sp>
        <p:nvSpPr>
          <p:cNvPr id="164" name="textbox 164"/>
          <p:cNvSpPr/>
          <p:nvPr/>
        </p:nvSpPr>
        <p:spPr>
          <a:xfrm>
            <a:off x="1608267" y="217412"/>
            <a:ext cx="6975475" cy="749300"/>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marL="6184900" algn="l" defTabSz="0" rtl="0" eaLnBrk="0">
              <a:lnSpc>
                <a:spcPct val="99000"/>
              </a:lnSpc>
              <a:tabLst>
                <a:tab pos="6354445" algn="l"/>
              </a:tabLst>
            </a:pPr>
            <a:r>
              <a:rPr sz="12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200" kern="0" spc="1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明</a:t>
            </a:r>
            <a:r>
              <a:rPr sz="1200" kern="0" spc="3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200" kern="0" spc="1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文</a:t>
            </a:r>
            <a:r>
              <a:rPr sz="12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endParaRPr lang="en-US" altLang="en-US" sz="1200" dirty="0">
              <a:latin typeface="Arial" panose="020B0604020202020204" pitchFamily="34" charset="0"/>
              <a:ea typeface="黑体" panose="02010609060101010101" charset="-122"/>
            </a:endParaRPr>
          </a:p>
          <a:p>
            <a:pPr algn="l" rtl="0" eaLnBrk="0">
              <a:lnSpc>
                <a:spcPct val="112000"/>
              </a:lnSpc>
            </a:pPr>
            <a:endParaRPr lang="en-US" altLang="en-US" sz="800" dirty="0">
              <a:latin typeface="Arial" panose="020B0604020202020204" pitchFamily="34" charset="0"/>
              <a:ea typeface="黑体" panose="02010609060101010101" charset="-122"/>
            </a:endParaRPr>
          </a:p>
          <a:p>
            <a:pPr marL="12700" algn="l" rtl="0" eaLnBrk="0">
              <a:lnSpc>
                <a:spcPct val="86000"/>
              </a:lnSpc>
              <a:spcBef>
                <a:spcPts val="0"/>
              </a:spcBef>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算法流程</a:t>
            </a:r>
            <a:r>
              <a:rPr sz="3100" kern="0" spc="40" dirty="0">
                <a:solidFill>
                  <a:srgbClr val="0563C1">
                    <a:alpha val="100000"/>
                  </a:srgbClr>
                </a:solidFill>
                <a:latin typeface="Arial" panose="020B0604020202020204" pitchFamily="34" charset="0"/>
                <a:ea typeface="黑体" panose="02010609060101010101" charset="-122"/>
                <a:cs typeface="仿宋" panose="02010609060101010101" charset="-122"/>
              </a:rPr>
              <a:t>                 </a:t>
            </a:r>
            <a:r>
              <a:rPr sz="3100" kern="0" spc="30" dirty="0">
                <a:solidFill>
                  <a:srgbClr val="0563C1">
                    <a:alpha val="100000"/>
                  </a:srgbClr>
                </a:solidFill>
                <a:latin typeface="Arial" panose="020B0604020202020204" pitchFamily="34" charset="0"/>
                <a:ea typeface="黑体" panose="02010609060101010101" charset="-122"/>
                <a:cs typeface="仿宋" panose="02010609060101010101" charset="-122"/>
              </a:rPr>
              <a:t>   </a:t>
            </a:r>
            <a:r>
              <a:rPr sz="1700" i="1" kern="0" spc="0" baseline="49000" dirty="0">
                <a:solidFill>
                  <a:srgbClr val="000000">
                    <a:alpha val="100000"/>
                  </a:srgbClr>
                </a:solidFill>
                <a:latin typeface="Arial" panose="020B0604020202020204" pitchFamily="34" charset="0"/>
                <a:ea typeface="黑体" panose="02010609060101010101" charset="-122"/>
                <a:cs typeface="Times New Roman" panose="02020603050405020304"/>
              </a:rPr>
              <a:t>IP</a:t>
            </a:r>
            <a:endParaRPr lang="en-US" altLang="en-US" sz="1700" baseline="49000" dirty="0">
              <a:latin typeface="Arial" panose="020B0604020202020204" pitchFamily="34" charset="0"/>
              <a:ea typeface="黑体" panose="02010609060101010101" charset="-122"/>
            </a:endParaRPr>
          </a:p>
        </p:txBody>
      </p:sp>
      <p:sp>
        <p:nvSpPr>
          <p:cNvPr id="166" name="path"/>
          <p:cNvSpPr/>
          <p:nvPr/>
        </p:nvSpPr>
        <p:spPr>
          <a:xfrm>
            <a:off x="8156680" y="870204"/>
            <a:ext cx="9143" cy="60959"/>
          </a:xfrm>
          <a:custGeom>
            <a:avLst/>
            <a:gdLst/>
            <a:ahLst/>
            <a:cxnLst/>
            <a:rect l="0" t="0" r="0" b="0"/>
            <a:pathLst>
              <a:path w="14" h="95">
                <a:moveTo>
                  <a:pt x="7" y="0"/>
                </a:moveTo>
                <a:lnTo>
                  <a:pt x="7" y="95"/>
                </a:lnTo>
              </a:path>
            </a:pathLst>
          </a:custGeom>
          <a:noFill/>
          <a:ln w="9143" cap="flat">
            <a:solidFill>
              <a:srgbClr val="000000">
                <a:alpha val="100000"/>
              </a:srgbClr>
            </a:solidFill>
            <a:prstDash val="solid"/>
            <a:round/>
          </a:ln>
        </p:spPr>
        <p:txBody>
          <a:bodyPr rtlCol="0"/>
          <a:lstStyle/>
          <a:p>
            <a:pPr algn="ctr"/>
            <a:endParaRPr lang="zh-CN" altLang="en-US"/>
          </a:p>
        </p:txBody>
      </p:sp>
      <p:sp>
        <p:nvSpPr>
          <p:cNvPr id="168" name="textbox 168"/>
          <p:cNvSpPr/>
          <p:nvPr/>
        </p:nvSpPr>
        <p:spPr>
          <a:xfrm>
            <a:off x="1123708" y="3331210"/>
            <a:ext cx="3831590" cy="578484"/>
          </a:xfrm>
          <a:prstGeom prst="rect">
            <a:avLst/>
          </a:prstGeom>
        </p:spPr>
        <p:txBody>
          <a:bodyPr vert="horz" wrap="square" lIns="0" tIns="0" rIns="0" bIns="0"/>
          <a:lstStyle/>
          <a:p>
            <a:pPr algn="l" rtl="0" eaLnBrk="0">
              <a:lnSpc>
                <a:spcPct val="100000"/>
              </a:lnSpc>
            </a:pPr>
            <a:endParaRPr lang="en-US" altLang="en-US" sz="100" dirty="0">
              <a:latin typeface="Arial" panose="020B0604020202020204" pitchFamily="34" charset="0"/>
              <a:ea typeface="黑体" panose="02010609060101010101" charset="-122"/>
            </a:endParaRPr>
          </a:p>
          <a:p>
            <a:pPr algn="r" rtl="0" eaLnBrk="0">
              <a:lnSpc>
                <a:spcPct val="84000"/>
              </a:lnSpc>
            </a:pPr>
            <a:r>
              <a:rPr sz="5000" i="1" kern="0" spc="-40" baseline="5000" dirty="0">
                <a:solidFill>
                  <a:srgbClr val="FF0000">
                    <a:alpha val="100000"/>
                  </a:srgbClr>
                </a:solidFill>
                <a:latin typeface="Arial" panose="020B0604020202020204" pitchFamily="34" charset="0"/>
                <a:ea typeface="黑体" panose="02010609060101010101" charset="-122"/>
                <a:cs typeface="Times New Roman" panose="02020603050405020304"/>
              </a:rPr>
              <a:t>R</a:t>
            </a:r>
            <a:r>
              <a:rPr sz="2900" i="1" kern="0" spc="-4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1800" i="1" kern="0" spc="17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kern="0" spc="-80" baseline="5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3200" kern="0" spc="-230" dirty="0">
                <a:solidFill>
                  <a:srgbClr val="FF0000">
                    <a:alpha val="100000"/>
                  </a:srgbClr>
                </a:solidFill>
                <a:latin typeface="Arial" panose="020B0604020202020204" pitchFamily="34" charset="0"/>
                <a:ea typeface="黑体" panose="02010609060101010101" charset="-122"/>
                <a:cs typeface="微软雅黑" panose="020B0503020204020204" charset="-122"/>
              </a:rPr>
              <a:t> </a:t>
            </a:r>
            <a:r>
              <a:rPr sz="5000" i="1" kern="0" spc="-80" baseline="5000" dirty="0">
                <a:solidFill>
                  <a:srgbClr val="FF0000">
                    <a:alpha val="100000"/>
                  </a:srgbClr>
                </a:solidFill>
                <a:latin typeface="Arial" panose="020B0604020202020204" pitchFamily="34" charset="0"/>
                <a:ea typeface="黑体" panose="02010609060101010101" charset="-122"/>
                <a:cs typeface="Times New Roman" panose="02020603050405020304"/>
              </a:rPr>
              <a:t>L</a:t>
            </a:r>
            <a:r>
              <a:rPr sz="2900" i="1" kern="0" spc="-8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2900" kern="0" spc="-80" baseline="-20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2900" kern="0" spc="-8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1</a:t>
            </a:r>
            <a:r>
              <a:rPr sz="1800" kern="0" spc="35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3200" kern="0" spc="-420" dirty="0">
                <a:solidFill>
                  <a:srgbClr val="FF0000">
                    <a:alpha val="100000"/>
                  </a:srgbClr>
                </a:solidFill>
                <a:latin typeface="Arial" panose="020B0604020202020204" pitchFamily="34" charset="0"/>
                <a:ea typeface="黑体" panose="02010609060101010101" charset="-122"/>
                <a:cs typeface="微软雅黑" panose="020B0503020204020204" charset="-122"/>
              </a:rPr>
              <a:t> </a:t>
            </a:r>
            <a:r>
              <a:rPr sz="5000" i="1" kern="0" spc="-70" baseline="5000" dirty="0">
                <a:solidFill>
                  <a:srgbClr val="FF0000">
                    <a:alpha val="100000"/>
                  </a:srgbClr>
                </a:solidFill>
                <a:latin typeface="Arial" panose="020B0604020202020204" pitchFamily="34" charset="0"/>
                <a:ea typeface="黑体" panose="02010609060101010101" charset="-122"/>
                <a:cs typeface="Times New Roman" panose="02020603050405020304"/>
              </a:rPr>
              <a:t>F</a:t>
            </a:r>
            <a:r>
              <a:rPr sz="3200" i="1" kern="0" spc="-23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4300" kern="0" spc="-7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5000" i="1" kern="0" spc="-70" baseline="5000" dirty="0">
                <a:solidFill>
                  <a:srgbClr val="FF0000">
                    <a:alpha val="100000"/>
                  </a:srgbClr>
                </a:solidFill>
                <a:latin typeface="Arial" panose="020B0604020202020204" pitchFamily="34" charset="0"/>
                <a:ea typeface="黑体" panose="02010609060101010101" charset="-122"/>
                <a:cs typeface="Times New Roman" panose="02020603050405020304"/>
              </a:rPr>
              <a:t>R</a:t>
            </a:r>
            <a:r>
              <a:rPr sz="2900" i="1" kern="0" spc="-7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2900" kern="0" spc="-70" baseline="-2000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r>
              <a:rPr sz="2900" kern="0" spc="-7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1</a:t>
            </a:r>
            <a:r>
              <a:rPr sz="1800" kern="0" spc="-12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kern="0" spc="-70" baseline="5000" dirty="0">
                <a:solidFill>
                  <a:srgbClr val="FF0000">
                    <a:alpha val="100000"/>
                  </a:srgbClr>
                </a:solidFill>
                <a:latin typeface="Arial" panose="020B0604020202020204" pitchFamily="34" charset="0"/>
                <a:ea typeface="黑体" panose="02010609060101010101" charset="-122"/>
                <a:cs typeface="Times New Roman" panose="02020603050405020304"/>
              </a:rPr>
              <a:t>,</a:t>
            </a:r>
            <a:r>
              <a:rPr sz="3200" kern="0" spc="62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5000" i="1" kern="0" spc="-70" baseline="5000" dirty="0">
                <a:solidFill>
                  <a:srgbClr val="FF0000">
                    <a:alpha val="100000"/>
                  </a:srgbClr>
                </a:solidFill>
                <a:latin typeface="Arial" panose="020B0604020202020204" pitchFamily="34" charset="0"/>
                <a:ea typeface="黑体" panose="02010609060101010101" charset="-122"/>
                <a:cs typeface="Times New Roman" panose="02020603050405020304"/>
              </a:rPr>
              <a:t>K</a:t>
            </a:r>
            <a:r>
              <a:rPr sz="2900" i="1" kern="0" spc="-70" baseline="-20000" dirty="0">
                <a:solidFill>
                  <a:srgbClr val="FF0000">
                    <a:alpha val="100000"/>
                  </a:srgbClr>
                </a:solidFill>
                <a:latin typeface="Arial" panose="020B0604020202020204" pitchFamily="34" charset="0"/>
                <a:ea typeface="黑体" panose="02010609060101010101" charset="-122"/>
                <a:cs typeface="Times New Roman" panose="02020603050405020304"/>
              </a:rPr>
              <a:t>i</a:t>
            </a:r>
            <a:r>
              <a:rPr sz="1800" i="1" kern="0" spc="220" dirty="0">
                <a:solidFill>
                  <a:srgbClr val="FF0000">
                    <a:alpha val="100000"/>
                  </a:srgbClr>
                </a:solidFill>
                <a:latin typeface="Arial" panose="020B0604020202020204" pitchFamily="34" charset="0"/>
                <a:ea typeface="黑体" panose="02010609060101010101" charset="-122"/>
                <a:cs typeface="Times New Roman" panose="02020603050405020304"/>
              </a:rPr>
              <a:t> </a:t>
            </a:r>
            <a:r>
              <a:rPr sz="4300" kern="0" spc="-70" dirty="0">
                <a:solidFill>
                  <a:srgbClr val="FF0000">
                    <a:alpha val="100000"/>
                  </a:srgbClr>
                </a:solidFill>
                <a:latin typeface="Arial" panose="020B0604020202020204" pitchFamily="34" charset="0"/>
                <a:ea typeface="黑体" panose="02010609060101010101" charset="-122"/>
                <a:cs typeface="微软雅黑" panose="020B0503020204020204" charset="-122"/>
              </a:rPr>
              <a:t>)</a:t>
            </a:r>
            <a:endParaRPr lang="en-US" altLang="en-US" sz="4300" dirty="0">
              <a:latin typeface="Arial" panose="020B0604020202020204" pitchFamily="34" charset="0"/>
              <a:ea typeface="黑体" panose="02010609060101010101" charset="-122"/>
            </a:endParaRPr>
          </a:p>
        </p:txBody>
      </p:sp>
      <p:graphicFrame>
        <p:nvGraphicFramePr>
          <p:cNvPr id="170" name="table 170"/>
          <p:cNvGraphicFramePr>
            <a:graphicFrameLocks noGrp="1"/>
          </p:cNvGraphicFramePr>
          <p:nvPr/>
        </p:nvGraphicFramePr>
        <p:xfrm>
          <a:off x="5940552" y="1112520"/>
          <a:ext cx="2057400" cy="340995"/>
        </p:xfrm>
        <a:graphic>
          <a:graphicData uri="http://schemas.openxmlformats.org/drawingml/2006/table">
            <a:tbl>
              <a:tblPr/>
              <a:tblGrid>
                <a:gridCol w="2057400"/>
              </a:tblGrid>
              <a:tr h="334645">
                <a:tc>
                  <a:txBody>
                    <a:bodyPr/>
                    <a:lstStyle/>
                    <a:p>
                      <a:pPr algn="l" rtl="0" eaLnBrk="0">
                        <a:lnSpc>
                          <a:spcPct val="108000"/>
                        </a:lnSpc>
                      </a:pPr>
                      <a:endParaRPr lang="en-US" altLang="en-US" sz="700" dirty="0">
                        <a:latin typeface="Arial" panose="020B0604020202020204" pitchFamily="34" charset="0"/>
                        <a:ea typeface="黑体" panose="02010609060101010101" charset="-122"/>
                      </a:endParaRPr>
                    </a:p>
                    <a:p>
                      <a:pPr marL="970915" algn="l" rtl="0" eaLnBrk="0">
                        <a:lnSpc>
                          <a:spcPct val="97000"/>
                        </a:lnSpc>
                        <a:spcBef>
                          <a:spcPts val="5"/>
                        </a:spcBef>
                      </a:pPr>
                      <a:r>
                        <a:rPr sz="1700" i="1" kern="0" spc="1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6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1000" baseline="-21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72" name="table 172"/>
          <p:cNvGraphicFramePr>
            <a:graphicFrameLocks noGrp="1"/>
          </p:cNvGraphicFramePr>
          <p:nvPr/>
        </p:nvGraphicFramePr>
        <p:xfrm>
          <a:off x="8342376" y="1112520"/>
          <a:ext cx="2057400" cy="340995"/>
        </p:xfrm>
        <a:graphic>
          <a:graphicData uri="http://schemas.openxmlformats.org/drawingml/2006/table">
            <a:tbl>
              <a:tblPr/>
              <a:tblGrid>
                <a:gridCol w="2057400"/>
              </a:tblGrid>
              <a:tr h="334645">
                <a:tc>
                  <a:txBody>
                    <a:bodyPr/>
                    <a:lstStyle/>
                    <a:p>
                      <a:pPr algn="l" rtl="0" eaLnBrk="0">
                        <a:lnSpc>
                          <a:spcPct val="108000"/>
                        </a:lnSpc>
                      </a:pPr>
                      <a:endParaRPr lang="en-US" altLang="en-US" sz="700" dirty="0">
                        <a:latin typeface="Arial" panose="020B0604020202020204" pitchFamily="34" charset="0"/>
                        <a:ea typeface="黑体" panose="02010609060101010101" charset="-122"/>
                      </a:endParaRPr>
                    </a:p>
                    <a:p>
                      <a:pPr marL="960755" algn="l" rtl="0" eaLnBrk="0">
                        <a:lnSpc>
                          <a:spcPct val="97000"/>
                        </a:lnSpc>
                        <a:spcBef>
                          <a:spcPts val="0"/>
                        </a:spcBef>
                      </a:pPr>
                      <a:r>
                        <a:rPr sz="1700" i="1" kern="0" spc="180" baseline="30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8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1000" baseline="-21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74" name="picture 174"/>
          <p:cNvPicPr>
            <a:picLocks noChangeAspect="1"/>
          </p:cNvPicPr>
          <p:nvPr/>
        </p:nvPicPr>
        <p:blipFill>
          <a:blip r:embed="rId3"/>
          <a:stretch>
            <a:fillRect/>
          </a:stretch>
        </p:blipFill>
        <p:spPr>
          <a:xfrm rot="21600000">
            <a:off x="1467611" y="932688"/>
            <a:ext cx="9037573" cy="187452"/>
          </a:xfrm>
          <a:prstGeom prst="rect">
            <a:avLst/>
          </a:prstGeom>
        </p:spPr>
      </p:pic>
      <p:sp>
        <p:nvSpPr>
          <p:cNvPr id="176" name="textbox 176"/>
          <p:cNvSpPr/>
          <p:nvPr/>
        </p:nvSpPr>
        <p:spPr>
          <a:xfrm>
            <a:off x="7890764" y="6030454"/>
            <a:ext cx="546734" cy="159385"/>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defTabSz="0" rtl="0" eaLnBrk="0">
              <a:lnSpc>
                <a:spcPct val="71000"/>
              </a:lnSpc>
              <a:tabLst>
                <a:tab pos="140970" algn="l"/>
              </a:tabLst>
            </a:pPr>
            <a:r>
              <a:rPr sz="12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900" i="1" kern="0" spc="90" baseline="-3000" dirty="0">
                <a:solidFill>
                  <a:srgbClr val="000000">
                    <a:alpha val="100000"/>
                  </a:srgbClr>
                </a:solidFill>
                <a:latin typeface="Arial" panose="020B0604020202020204" pitchFamily="34" charset="0"/>
                <a:ea typeface="黑体" panose="02010609060101010101" charset="-122"/>
                <a:cs typeface="Times New Roman" panose="02020603050405020304"/>
              </a:rPr>
              <a:t>IP</a:t>
            </a:r>
            <a:r>
              <a:rPr sz="1100" kern="0" spc="90" baseline="4300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700" kern="0" spc="-12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kern="0" spc="90" baseline="43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700"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endParaRPr lang="en-US" altLang="en-US" sz="700" dirty="0">
              <a:latin typeface="Arial" panose="020B0604020202020204" pitchFamily="34" charset="0"/>
              <a:ea typeface="黑体" panose="02010609060101010101" charset="-122"/>
            </a:endParaRPr>
          </a:p>
        </p:txBody>
      </p:sp>
      <p:sp>
        <p:nvSpPr>
          <p:cNvPr id="178" name="textbox 178"/>
          <p:cNvSpPr/>
          <p:nvPr/>
        </p:nvSpPr>
        <p:spPr>
          <a:xfrm>
            <a:off x="683768" y="6115191"/>
            <a:ext cx="10804525" cy="179070"/>
          </a:xfrm>
          <a:prstGeom prst="rect">
            <a:avLst/>
          </a:prstGeom>
        </p:spPr>
        <p:txBody>
          <a:bodyPr vert="horz" wrap="square" lIns="0" tIns="0" rIns="0" bIns="0"/>
          <a:lstStyle/>
          <a:p>
            <a:pPr algn="l" rtl="0" eaLnBrk="0">
              <a:lnSpc>
                <a:spcPct val="83000"/>
              </a:lnSpc>
            </a:pPr>
            <a:endParaRPr lang="en-US" altLang="en-US" sz="100" dirty="0"/>
          </a:p>
          <a:p>
            <a:pPr marL="12700" algn="l" defTabSz="0" rtl="0" eaLnBrk="0">
              <a:lnSpc>
                <a:spcPts val="1205"/>
              </a:lnSpc>
              <a:tabLst>
                <a:tab pos="10791825" algn="l"/>
              </a:tabLst>
            </a:pPr>
            <a:r>
              <a:rPr sz="1000" u="sng"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lang="en-US" altLang="en-US" sz="1000" dirty="0"/>
          </a:p>
        </p:txBody>
      </p:sp>
      <p:grpSp>
        <p:nvGrpSpPr>
          <p:cNvPr id="14" name="group 14"/>
          <p:cNvGrpSpPr/>
          <p:nvPr/>
        </p:nvGrpSpPr>
        <p:grpSpPr>
          <a:xfrm rot="21600000">
            <a:off x="8001000" y="1652016"/>
            <a:ext cx="350519" cy="341375"/>
            <a:chOff x="0" y="0"/>
            <a:chExt cx="350519" cy="341375"/>
          </a:xfrm>
        </p:grpSpPr>
        <p:sp>
          <p:nvSpPr>
            <p:cNvPr id="180" name="path"/>
            <p:cNvSpPr/>
            <p:nvPr/>
          </p:nvSpPr>
          <p:spPr>
            <a:xfrm>
              <a:off x="4571" y="4571"/>
              <a:ext cx="341376" cy="332232"/>
            </a:xfrm>
            <a:custGeom>
              <a:avLst/>
              <a:gdLst/>
              <a:ahLst/>
              <a:cxnLst/>
              <a:rect l="0" t="0" r="0" b="0"/>
              <a:pathLst>
                <a:path w="537" h="523">
                  <a:moveTo>
                    <a:pt x="0" y="261"/>
                  </a:moveTo>
                  <a:cubicBezTo>
                    <a:pt x="0" y="117"/>
                    <a:pt x="120" y="0"/>
                    <a:pt x="268" y="0"/>
                  </a:cubicBezTo>
                  <a:cubicBezTo>
                    <a:pt x="417" y="0"/>
                    <a:pt x="537" y="117"/>
                    <a:pt x="537" y="261"/>
                  </a:cubicBezTo>
                  <a:cubicBezTo>
                    <a:pt x="537" y="405"/>
                    <a:pt x="417" y="523"/>
                    <a:pt x="268" y="523"/>
                  </a:cubicBezTo>
                  <a:cubicBezTo>
                    <a:pt x="120" y="523"/>
                    <a:pt x="0" y="405"/>
                    <a:pt x="0" y="261"/>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82" name="path"/>
            <p:cNvSpPr/>
            <p:nvPr/>
          </p:nvSpPr>
          <p:spPr>
            <a:xfrm>
              <a:off x="0" y="0"/>
              <a:ext cx="350519" cy="341375"/>
            </a:xfrm>
            <a:custGeom>
              <a:avLst/>
              <a:gdLst/>
              <a:ahLst/>
              <a:cxnLst/>
              <a:rect l="0" t="0" r="0" b="0"/>
              <a:pathLst>
                <a:path w="551" h="537">
                  <a:moveTo>
                    <a:pt x="7" y="268"/>
                  </a:moveTo>
                  <a:cubicBezTo>
                    <a:pt x="7" y="124"/>
                    <a:pt x="127" y="7"/>
                    <a:pt x="275" y="7"/>
                  </a:cubicBezTo>
                  <a:cubicBezTo>
                    <a:pt x="424" y="7"/>
                    <a:pt x="544" y="124"/>
                    <a:pt x="544" y="268"/>
                  </a:cubicBezTo>
                  <a:cubicBezTo>
                    <a:pt x="544" y="413"/>
                    <a:pt x="424" y="530"/>
                    <a:pt x="275" y="530"/>
                  </a:cubicBezTo>
                  <a:cubicBezTo>
                    <a:pt x="127" y="530"/>
                    <a:pt x="7" y="413"/>
                    <a:pt x="7" y="268"/>
                  </a:cubicBezTo>
                </a:path>
              </a:pathLst>
            </a:custGeom>
            <a:noFill/>
            <a:ln w="9143" cap="flat">
              <a:solidFill>
                <a:srgbClr val="000000">
                  <a:alpha val="100000"/>
                </a:srgbClr>
              </a:solidFill>
              <a:prstDash val="solid"/>
              <a:round/>
            </a:ln>
          </p:spPr>
          <p:txBody>
            <a:bodyPr rtlCol="0"/>
            <a:lstStyle/>
            <a:p>
              <a:pPr algn="ctr"/>
              <a:endParaRPr lang="zh-CN" altLang="en-US"/>
            </a:p>
          </p:txBody>
        </p:sp>
      </p:grpSp>
      <p:pic>
        <p:nvPicPr>
          <p:cNvPr id="184" name="picture 184"/>
          <p:cNvPicPr>
            <a:picLocks noChangeAspect="1"/>
          </p:cNvPicPr>
          <p:nvPr/>
        </p:nvPicPr>
        <p:blipFill>
          <a:blip r:embed="rId4"/>
          <a:stretch>
            <a:fillRect/>
          </a:stretch>
        </p:blipFill>
        <p:spPr>
          <a:xfrm rot="21600000">
            <a:off x="6952996" y="1953787"/>
            <a:ext cx="2431288" cy="419080"/>
          </a:xfrm>
          <a:prstGeom prst="rect">
            <a:avLst/>
          </a:prstGeom>
        </p:spPr>
      </p:pic>
      <p:sp>
        <p:nvSpPr>
          <p:cNvPr id="186" name="path"/>
          <p:cNvSpPr/>
          <p:nvPr/>
        </p:nvSpPr>
        <p:spPr>
          <a:xfrm>
            <a:off x="5952744" y="2346960"/>
            <a:ext cx="4434840" cy="341375"/>
          </a:xfrm>
          <a:custGeom>
            <a:avLst/>
            <a:gdLst/>
            <a:ahLst/>
            <a:cxnLst/>
            <a:rect l="0" t="0" r="0" b="0"/>
            <a:pathLst>
              <a:path w="6984" h="537">
                <a:moveTo>
                  <a:pt x="7" y="530"/>
                </a:moveTo>
                <a:lnTo>
                  <a:pt x="3232" y="530"/>
                </a:lnTo>
                <a:lnTo>
                  <a:pt x="3232" y="7"/>
                </a:lnTo>
                <a:lnTo>
                  <a:pt x="7" y="7"/>
                </a:lnTo>
                <a:lnTo>
                  <a:pt x="7" y="530"/>
                </a:lnTo>
                <a:close/>
                <a:moveTo>
                  <a:pt x="3751" y="530"/>
                </a:moveTo>
                <a:lnTo>
                  <a:pt x="6976" y="530"/>
                </a:lnTo>
                <a:lnTo>
                  <a:pt x="6976" y="7"/>
                </a:lnTo>
                <a:lnTo>
                  <a:pt x="3751" y="7"/>
                </a:lnTo>
                <a:lnTo>
                  <a:pt x="3751" y="530"/>
                </a:lnTo>
                <a:close/>
              </a:path>
            </a:pathLst>
          </a:custGeom>
          <a:noFill/>
          <a:ln w="9143" cap="flat">
            <a:solidFill>
              <a:srgbClr val="000000">
                <a:alpha val="100000"/>
              </a:srgbClr>
            </a:solidFill>
            <a:prstDash val="solid"/>
            <a:miter lim="800000"/>
          </a:ln>
        </p:spPr>
        <p:txBody>
          <a:bodyPr rtlCol="0"/>
          <a:lstStyle/>
          <a:p>
            <a:pPr algn="ctr"/>
            <a:endParaRPr lang="zh-CN" altLang="en-US"/>
          </a:p>
        </p:txBody>
      </p:sp>
      <p:pic>
        <p:nvPicPr>
          <p:cNvPr id="188" name="picture 188"/>
          <p:cNvPicPr>
            <a:picLocks noChangeAspect="1"/>
          </p:cNvPicPr>
          <p:nvPr/>
        </p:nvPicPr>
        <p:blipFill>
          <a:blip r:embed="rId5"/>
          <a:stretch>
            <a:fillRect/>
          </a:stretch>
        </p:blipFill>
        <p:spPr>
          <a:xfrm rot="21600000">
            <a:off x="10869676" y="5597652"/>
            <a:ext cx="50800" cy="152400"/>
          </a:xfrm>
          <a:prstGeom prst="rect">
            <a:avLst/>
          </a:prstGeom>
        </p:spPr>
      </p:pic>
      <p:pic>
        <p:nvPicPr>
          <p:cNvPr id="190" name="picture 190"/>
          <p:cNvPicPr>
            <a:picLocks noChangeAspect="1"/>
          </p:cNvPicPr>
          <p:nvPr/>
        </p:nvPicPr>
        <p:blipFill>
          <a:blip r:embed="rId6"/>
          <a:stretch>
            <a:fillRect/>
          </a:stretch>
        </p:blipFill>
        <p:spPr>
          <a:xfrm rot="21600000">
            <a:off x="8150859" y="5835396"/>
            <a:ext cx="50800" cy="152400"/>
          </a:xfrm>
          <a:prstGeom prst="rect">
            <a:avLst/>
          </a:prstGeom>
        </p:spPr>
      </p:pic>
      <p:pic>
        <p:nvPicPr>
          <p:cNvPr id="192" name="picture 192"/>
          <p:cNvPicPr>
            <a:picLocks noChangeAspect="1"/>
          </p:cNvPicPr>
          <p:nvPr/>
        </p:nvPicPr>
        <p:blipFill>
          <a:blip r:embed="rId7"/>
          <a:stretch>
            <a:fillRect/>
          </a:stretch>
        </p:blipFill>
        <p:spPr>
          <a:xfrm rot="21600000">
            <a:off x="6943852" y="5646420"/>
            <a:ext cx="4134104" cy="204216"/>
          </a:xfrm>
          <a:prstGeom prst="rect">
            <a:avLst/>
          </a:prstGeom>
        </p:spPr>
      </p:pic>
      <p:graphicFrame>
        <p:nvGraphicFramePr>
          <p:cNvPr id="196" name="table 196"/>
          <p:cNvGraphicFramePr>
            <a:graphicFrameLocks noGrp="1"/>
          </p:cNvGraphicFramePr>
          <p:nvPr/>
        </p:nvGraphicFramePr>
        <p:xfrm>
          <a:off x="5940552" y="5306567"/>
          <a:ext cx="2057400" cy="344169"/>
        </p:xfrm>
        <a:graphic>
          <a:graphicData uri="http://schemas.openxmlformats.org/drawingml/2006/table">
            <a:tbl>
              <a:tblPr/>
              <a:tblGrid>
                <a:gridCol w="2057400"/>
              </a:tblGrid>
              <a:tr h="337819">
                <a:tc>
                  <a:txBody>
                    <a:bodyPr/>
                    <a:lstStyle/>
                    <a:p>
                      <a:pPr algn="l" rtl="0" eaLnBrk="0">
                        <a:lnSpc>
                          <a:spcPct val="109000"/>
                        </a:lnSpc>
                      </a:pPr>
                      <a:endParaRPr lang="en-US" altLang="en-US" sz="700" dirty="0">
                        <a:latin typeface="Arial" panose="020B0604020202020204" pitchFamily="34" charset="0"/>
                        <a:ea typeface="黑体" panose="02010609060101010101" charset="-122"/>
                      </a:endParaRPr>
                    </a:p>
                    <a:p>
                      <a:pPr marL="239395" algn="l" rtl="0" eaLnBrk="0">
                        <a:lnSpc>
                          <a:spcPct val="83000"/>
                        </a:lnSpc>
                      </a:pP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3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6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3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1100" kern="0" spc="-10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3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600" kern="0" spc="1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30" dirty="0">
                          <a:solidFill>
                            <a:srgbClr val="000000">
                              <a:alpha val="100000"/>
                            </a:srgbClr>
                          </a:solidFill>
                          <a:latin typeface="Arial" panose="020B0604020202020204" pitchFamily="34" charset="0"/>
                          <a:ea typeface="黑体" panose="02010609060101010101" charset="-122"/>
                          <a:cs typeface="微软雅黑" panose="020B0503020204020204" charset="-122"/>
                        </a:rPr>
                        <a:t>①</a:t>
                      </a:r>
                      <a:r>
                        <a:rPr sz="1100" kern="0" spc="-17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f </a:t>
                      </a:r>
                      <a:r>
                        <a:rPr sz="11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3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600"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000" kern="0" spc="13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000" kern="0" spc="12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6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11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98" name="table 198"/>
          <p:cNvGraphicFramePr>
            <a:graphicFrameLocks noGrp="1"/>
          </p:cNvGraphicFramePr>
          <p:nvPr/>
        </p:nvGraphicFramePr>
        <p:xfrm>
          <a:off x="8342376" y="5306567"/>
          <a:ext cx="2057400" cy="344169"/>
        </p:xfrm>
        <a:graphic>
          <a:graphicData uri="http://schemas.openxmlformats.org/drawingml/2006/table">
            <a:tbl>
              <a:tblPr/>
              <a:tblGrid>
                <a:gridCol w="2057400"/>
              </a:tblGrid>
              <a:tr h="337819">
                <a:tc>
                  <a:txBody>
                    <a:bodyPr/>
                    <a:lstStyle/>
                    <a:p>
                      <a:pPr algn="l" rtl="0" eaLnBrk="0">
                        <a:lnSpc>
                          <a:spcPct val="105000"/>
                        </a:lnSpc>
                      </a:pPr>
                      <a:endParaRPr lang="en-US" altLang="en-US" sz="700" dirty="0">
                        <a:latin typeface="Arial" panose="020B0604020202020204" pitchFamily="34" charset="0"/>
                        <a:ea typeface="黑体" panose="02010609060101010101" charset="-122"/>
                      </a:endParaRPr>
                    </a:p>
                    <a:p>
                      <a:pPr marL="725805" algn="l" rtl="0" eaLnBrk="0">
                        <a:lnSpc>
                          <a:spcPct val="97000"/>
                        </a:lnSpc>
                        <a:spcBef>
                          <a:spcPts val="5"/>
                        </a:spcBef>
                      </a:pPr>
                      <a:r>
                        <a:rPr sz="1700" i="1" kern="0" spc="110" baseline="600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1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600"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700" kern="0" spc="110" baseline="600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1100" kern="0" spc="-8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700" i="1" kern="0" spc="110" baseline="60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1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1000" baseline="-16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00" name="table 200"/>
          <p:cNvGraphicFramePr>
            <a:graphicFrameLocks noGrp="1"/>
          </p:cNvGraphicFramePr>
          <p:nvPr/>
        </p:nvGraphicFramePr>
        <p:xfrm>
          <a:off x="5940552" y="4142232"/>
          <a:ext cx="2057400" cy="344170"/>
        </p:xfrm>
        <a:graphic>
          <a:graphicData uri="http://schemas.openxmlformats.org/drawingml/2006/table">
            <a:tbl>
              <a:tblPr/>
              <a:tblGrid>
                <a:gridCol w="2057400"/>
              </a:tblGrid>
              <a:tr h="337820">
                <a:tc>
                  <a:txBody>
                    <a:bodyPr/>
                    <a:lstStyle/>
                    <a:p>
                      <a:pPr algn="l" rtl="0" eaLnBrk="0">
                        <a:lnSpc>
                          <a:spcPct val="109000"/>
                        </a:lnSpc>
                      </a:pPr>
                      <a:endParaRPr lang="en-US" altLang="en-US" sz="8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725805" algn="l" rtl="0" eaLnBrk="0">
                        <a:lnSpc>
                          <a:spcPct val="97000"/>
                        </a:lnSpc>
                      </a:pPr>
                      <a:r>
                        <a:rPr sz="1700" i="1" kern="0" spc="100" baseline="600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0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6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700" kern="0" spc="100" baseline="600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1100" kern="0" spc="-9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700" i="1" kern="0" spc="100" baseline="60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0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1000" baseline="-16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02" name="table 202"/>
          <p:cNvGraphicFramePr>
            <a:graphicFrameLocks noGrp="1"/>
          </p:cNvGraphicFramePr>
          <p:nvPr/>
        </p:nvGraphicFramePr>
        <p:xfrm>
          <a:off x="8317992" y="4154423"/>
          <a:ext cx="2056765" cy="340995"/>
        </p:xfrm>
        <a:graphic>
          <a:graphicData uri="http://schemas.openxmlformats.org/drawingml/2006/table">
            <a:tbl>
              <a:tblPr/>
              <a:tblGrid>
                <a:gridCol w="2056765"/>
              </a:tblGrid>
              <a:tr h="334645">
                <a:tc>
                  <a:txBody>
                    <a:bodyPr/>
                    <a:lstStyle/>
                    <a:p>
                      <a:pPr algn="l" rtl="0" eaLnBrk="0">
                        <a:lnSpc>
                          <a:spcPct val="109000"/>
                        </a:lnSpc>
                      </a:pPr>
                      <a:endParaRPr lang="en-US" altLang="en-US" sz="700" dirty="0">
                        <a:latin typeface="Arial" panose="020B0604020202020204" pitchFamily="34" charset="0"/>
                        <a:ea typeface="黑体" panose="02010609060101010101" charset="-122"/>
                      </a:endParaRPr>
                    </a:p>
                    <a:p>
                      <a:pPr marL="252095" algn="l" rtl="0" eaLnBrk="0">
                        <a:lnSpc>
                          <a:spcPct val="83000"/>
                        </a:lnSpc>
                      </a:pPr>
                      <a:r>
                        <a:rPr sz="1100" i="1" kern="0" spc="14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4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6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4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1100" kern="0" spc="-11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i="1" kern="0" spc="14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1000" kern="0" spc="14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6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40" dirty="0">
                          <a:solidFill>
                            <a:srgbClr val="000000">
                              <a:alpha val="100000"/>
                            </a:srgbClr>
                          </a:solidFill>
                          <a:latin typeface="Arial" panose="020B0604020202020204" pitchFamily="34" charset="0"/>
                          <a:ea typeface="黑体" panose="02010609060101010101" charset="-122"/>
                          <a:cs typeface="微软雅黑" panose="020B0503020204020204" charset="-122"/>
                        </a:rPr>
                        <a:t>①</a:t>
                      </a:r>
                      <a:r>
                        <a:rPr sz="1100" kern="0" spc="-15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1100" i="1" kern="0" spc="140" dirty="0">
                          <a:solidFill>
                            <a:srgbClr val="000000">
                              <a:alpha val="100000"/>
                            </a:srgbClr>
                          </a:solidFill>
                          <a:latin typeface="Arial" panose="020B0604020202020204" pitchFamily="34" charset="0"/>
                          <a:ea typeface="黑体" panose="02010609060101010101" charset="-122"/>
                          <a:cs typeface="Times New Roman" panose="02020603050405020304"/>
                        </a:rPr>
                        <a:t>f </a:t>
                      </a:r>
                      <a:r>
                        <a:rPr sz="11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1000" kern="0" spc="13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6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1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000" kern="0" spc="13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6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1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11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16" name="group 16"/>
          <p:cNvGrpSpPr/>
          <p:nvPr/>
        </p:nvGrpSpPr>
        <p:grpSpPr>
          <a:xfrm rot="21600000">
            <a:off x="7988808" y="3435096"/>
            <a:ext cx="350519" cy="341375"/>
            <a:chOff x="0" y="0"/>
            <a:chExt cx="350519" cy="341375"/>
          </a:xfrm>
        </p:grpSpPr>
        <p:grpSp>
          <p:nvGrpSpPr>
            <p:cNvPr id="18" name="group 18"/>
            <p:cNvGrpSpPr/>
            <p:nvPr/>
          </p:nvGrpSpPr>
          <p:grpSpPr>
            <a:xfrm rot="21600000">
              <a:off x="0" y="0"/>
              <a:ext cx="350519" cy="341375"/>
              <a:chOff x="0" y="0"/>
              <a:chExt cx="350519" cy="341375"/>
            </a:xfrm>
          </p:grpSpPr>
          <p:sp>
            <p:nvSpPr>
              <p:cNvPr id="204" name="path"/>
              <p:cNvSpPr/>
              <p:nvPr/>
            </p:nvSpPr>
            <p:spPr>
              <a:xfrm>
                <a:off x="4571" y="4571"/>
                <a:ext cx="341376" cy="332232"/>
              </a:xfrm>
              <a:custGeom>
                <a:avLst/>
                <a:gdLst/>
                <a:ahLst/>
                <a:cxnLst/>
                <a:rect l="0" t="0" r="0" b="0"/>
                <a:pathLst>
                  <a:path w="537" h="523">
                    <a:moveTo>
                      <a:pt x="0" y="261"/>
                    </a:moveTo>
                    <a:cubicBezTo>
                      <a:pt x="0" y="117"/>
                      <a:pt x="120" y="0"/>
                      <a:pt x="268" y="0"/>
                    </a:cubicBezTo>
                    <a:cubicBezTo>
                      <a:pt x="417" y="0"/>
                      <a:pt x="537" y="117"/>
                      <a:pt x="537" y="261"/>
                    </a:cubicBezTo>
                    <a:cubicBezTo>
                      <a:pt x="537" y="406"/>
                      <a:pt x="417" y="523"/>
                      <a:pt x="268" y="523"/>
                    </a:cubicBezTo>
                    <a:cubicBezTo>
                      <a:pt x="120" y="523"/>
                      <a:pt x="0" y="406"/>
                      <a:pt x="0" y="261"/>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06" name="path"/>
              <p:cNvSpPr/>
              <p:nvPr/>
            </p:nvSpPr>
            <p:spPr>
              <a:xfrm>
                <a:off x="0" y="0"/>
                <a:ext cx="350519" cy="341375"/>
              </a:xfrm>
              <a:custGeom>
                <a:avLst/>
                <a:gdLst/>
                <a:ahLst/>
                <a:cxnLst/>
                <a:rect l="0" t="0" r="0" b="0"/>
                <a:pathLst>
                  <a:path w="551" h="537">
                    <a:moveTo>
                      <a:pt x="7" y="268"/>
                    </a:moveTo>
                    <a:cubicBezTo>
                      <a:pt x="7" y="124"/>
                      <a:pt x="127" y="7"/>
                      <a:pt x="275" y="7"/>
                    </a:cubicBezTo>
                    <a:cubicBezTo>
                      <a:pt x="424" y="7"/>
                      <a:pt x="544" y="124"/>
                      <a:pt x="544" y="268"/>
                    </a:cubicBezTo>
                    <a:cubicBezTo>
                      <a:pt x="544" y="413"/>
                      <a:pt x="424" y="530"/>
                      <a:pt x="275" y="530"/>
                    </a:cubicBezTo>
                    <a:cubicBezTo>
                      <a:pt x="127" y="530"/>
                      <a:pt x="7" y="413"/>
                      <a:pt x="7" y="268"/>
                    </a:cubicBezTo>
                  </a:path>
                </a:pathLst>
              </a:custGeom>
              <a:noFill/>
              <a:ln w="9143" cap="flat">
                <a:solidFill>
                  <a:srgbClr val="000000">
                    <a:alpha val="100000"/>
                  </a:srgbClr>
                </a:solidFill>
                <a:prstDash val="solid"/>
                <a:round/>
              </a:ln>
            </p:spPr>
            <p:txBody>
              <a:bodyPr rtlCol="0"/>
              <a:lstStyle/>
              <a:p>
                <a:pPr algn="ctr"/>
                <a:endParaRPr lang="zh-CN" altLang="en-US"/>
              </a:p>
            </p:txBody>
          </p:sp>
        </p:grpSp>
        <p:sp>
          <p:nvSpPr>
            <p:cNvPr id="208" name="textbox 208"/>
            <p:cNvSpPr/>
            <p:nvPr/>
          </p:nvSpPr>
          <p:spPr>
            <a:xfrm>
              <a:off x="-12700" y="-12700"/>
              <a:ext cx="375920" cy="370840"/>
            </a:xfrm>
            <a:prstGeom prst="rect">
              <a:avLst/>
            </a:prstGeom>
          </p:spPr>
          <p:txBody>
            <a:bodyPr vert="horz" wrap="square" lIns="0" tIns="0" rIns="0" bIns="0"/>
            <a:lstStyle/>
            <a:p>
              <a:pPr algn="l" rtl="0" eaLnBrk="0">
                <a:lnSpc>
                  <a:spcPct val="106000"/>
                </a:lnSpc>
              </a:pPr>
              <a:endParaRPr lang="en-US" altLang="en-US" sz="800" dirty="0">
                <a:latin typeface="Arial" panose="020B0604020202020204" pitchFamily="34" charset="0"/>
                <a:ea typeface="黑体" panose="02010609060101010101" charset="-122"/>
              </a:endParaRPr>
            </a:p>
            <a:p>
              <a:pPr marL="133350" algn="l" rtl="0" eaLnBrk="0">
                <a:lnSpc>
                  <a:spcPct val="80000"/>
                </a:lnSpc>
                <a:spcBef>
                  <a:spcPts val="5"/>
                </a:spcBef>
              </a:pPr>
              <a:r>
                <a:rPr sz="1300" i="1" kern="0" spc="300" dirty="0">
                  <a:solidFill>
                    <a:srgbClr val="000000">
                      <a:alpha val="100000"/>
                    </a:srgbClr>
                  </a:solidFill>
                  <a:latin typeface="Arial" panose="020B0604020202020204" pitchFamily="34" charset="0"/>
                  <a:ea typeface="黑体" panose="02010609060101010101" charset="-122"/>
                  <a:cs typeface="Times New Roman" panose="02020603050405020304"/>
                </a:rPr>
                <a:t>f</a:t>
              </a:r>
              <a:endParaRPr lang="en-US" altLang="en-US" sz="1300" dirty="0">
                <a:latin typeface="Arial" panose="020B0604020202020204" pitchFamily="34" charset="0"/>
                <a:ea typeface="黑体" panose="02010609060101010101" charset="-122"/>
              </a:endParaRPr>
            </a:p>
          </p:txBody>
        </p:sp>
      </p:grpSp>
      <p:sp>
        <p:nvSpPr>
          <p:cNvPr id="210" name="path"/>
          <p:cNvSpPr/>
          <p:nvPr/>
        </p:nvSpPr>
        <p:spPr>
          <a:xfrm>
            <a:off x="6968828" y="3733819"/>
            <a:ext cx="2393526" cy="243800"/>
          </a:xfrm>
          <a:custGeom>
            <a:avLst/>
            <a:gdLst/>
            <a:ahLst/>
            <a:cxnLst/>
            <a:rect l="0" t="0" r="0" b="0"/>
            <a:pathLst>
              <a:path w="3769" h="383">
                <a:moveTo>
                  <a:pt x="0" y="26"/>
                </a:moveTo>
                <a:lnTo>
                  <a:pt x="3763" y="376"/>
                </a:lnTo>
                <a:moveTo>
                  <a:pt x="3768" y="7"/>
                </a:moveTo>
                <a:lnTo>
                  <a:pt x="0" y="357"/>
                </a:lnTo>
              </a:path>
            </a:pathLst>
          </a:custGeom>
          <a:noFill/>
          <a:ln w="9143" cap="flat">
            <a:solidFill>
              <a:srgbClr val="000000">
                <a:alpha val="100000"/>
              </a:srgbClr>
            </a:solidFill>
            <a:prstDash val="solid"/>
            <a:round/>
          </a:ln>
        </p:spPr>
        <p:txBody>
          <a:bodyPr rtlCol="0"/>
          <a:lstStyle/>
          <a:p>
            <a:pPr algn="ctr"/>
            <a:endParaRPr lang="zh-CN" altLang="en-US"/>
          </a:p>
        </p:txBody>
      </p:sp>
      <p:pic>
        <p:nvPicPr>
          <p:cNvPr id="212" name="picture 212"/>
          <p:cNvPicPr>
            <a:picLocks noChangeAspect="1"/>
          </p:cNvPicPr>
          <p:nvPr/>
        </p:nvPicPr>
        <p:blipFill>
          <a:blip r:embed="rId8"/>
          <a:stretch>
            <a:fillRect/>
          </a:stretch>
        </p:blipFill>
        <p:spPr>
          <a:xfrm rot="21600000">
            <a:off x="822960" y="408431"/>
            <a:ext cx="420623" cy="655320"/>
          </a:xfrm>
          <a:prstGeom prst="rect">
            <a:avLst/>
          </a:prstGeom>
        </p:spPr>
      </p:pic>
      <p:graphicFrame>
        <p:nvGraphicFramePr>
          <p:cNvPr id="214" name="table 214"/>
          <p:cNvGraphicFramePr>
            <a:graphicFrameLocks noGrp="1"/>
          </p:cNvGraphicFramePr>
          <p:nvPr/>
        </p:nvGraphicFramePr>
        <p:xfrm>
          <a:off x="7769352" y="6397752"/>
          <a:ext cx="776605" cy="292100"/>
        </p:xfrm>
        <a:graphic>
          <a:graphicData uri="http://schemas.openxmlformats.org/drawingml/2006/table">
            <a:tbl>
              <a:tblPr/>
              <a:tblGrid>
                <a:gridCol w="776605"/>
              </a:tblGrid>
              <a:tr h="285750">
                <a:tc>
                  <a:txBody>
                    <a:bodyPr/>
                    <a:lstStyle/>
                    <a:p>
                      <a:pPr algn="l" rtl="0" eaLnBrk="0">
                        <a:lnSpc>
                          <a:spcPct val="113000"/>
                        </a:lnSpc>
                      </a:pPr>
                      <a:endParaRPr lang="en-US" altLang="en-US" sz="400" dirty="0">
                        <a:latin typeface="Arial" panose="020B0604020202020204" pitchFamily="34" charset="0"/>
                        <a:ea typeface="黑体" panose="02010609060101010101" charset="-122"/>
                      </a:endParaRPr>
                    </a:p>
                    <a:p>
                      <a:pPr marL="166370" algn="l" rtl="0" eaLnBrk="0">
                        <a:lnSpc>
                          <a:spcPts val="1450"/>
                        </a:lnSpc>
                      </a:pPr>
                      <a:r>
                        <a:rPr sz="1200" kern="0" spc="1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a:t>
                      </a:r>
                      <a:r>
                        <a:rPr sz="1200" kern="0" spc="41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200" kern="0" spc="1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文</a:t>
                      </a:r>
                      <a:endParaRPr lang="en-US" altLang="en-US" sz="12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16" name="textbox 216"/>
          <p:cNvSpPr/>
          <p:nvPr/>
        </p:nvSpPr>
        <p:spPr>
          <a:xfrm>
            <a:off x="10796330" y="4181774"/>
            <a:ext cx="201929" cy="1388744"/>
          </a:xfrm>
          <a:prstGeom prst="rect">
            <a:avLst/>
          </a:prstGeom>
        </p:spPr>
        <p:txBody>
          <a:bodyPr vert="eaVert"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12700" algn="l" rtl="0" eaLnBrk="0">
              <a:lnSpc>
                <a:spcPts val="1390"/>
              </a:lnSpc>
            </a:pP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轮</a:t>
            </a:r>
            <a:r>
              <a:rPr sz="1100" kern="0" spc="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第</a:t>
            </a:r>
            <a:r>
              <a:rPr sz="1100" kern="0" spc="1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十</a:t>
            </a:r>
            <a:r>
              <a:rPr sz="1100" kern="0" spc="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六</a:t>
            </a:r>
            <a:r>
              <a:rPr sz="1100" kern="0" spc="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轮</a:t>
            </a:r>
            <a:endParaRPr lang="en-US" altLang="en-US" sz="1100" dirty="0">
              <a:latin typeface="Arial" panose="020B0604020202020204" pitchFamily="34" charset="0"/>
              <a:ea typeface="黑体" panose="02010609060101010101" charset="-122"/>
            </a:endParaRPr>
          </a:p>
        </p:txBody>
      </p:sp>
      <p:pic>
        <p:nvPicPr>
          <p:cNvPr id="218" name="picture 218"/>
          <p:cNvPicPr>
            <a:picLocks noChangeAspect="1"/>
          </p:cNvPicPr>
          <p:nvPr/>
        </p:nvPicPr>
        <p:blipFill>
          <a:blip r:embed="rId9"/>
          <a:stretch>
            <a:fillRect/>
          </a:stretch>
        </p:blipFill>
        <p:spPr>
          <a:xfrm rot="21600000">
            <a:off x="6952488" y="3578859"/>
            <a:ext cx="1031747" cy="174752"/>
          </a:xfrm>
          <a:prstGeom prst="rect">
            <a:avLst/>
          </a:prstGeom>
        </p:spPr>
      </p:pic>
      <p:pic>
        <p:nvPicPr>
          <p:cNvPr id="220" name="picture 220"/>
          <p:cNvPicPr>
            <a:picLocks noChangeAspect="1"/>
          </p:cNvPicPr>
          <p:nvPr/>
        </p:nvPicPr>
        <p:blipFill>
          <a:blip r:embed="rId10"/>
          <a:stretch>
            <a:fillRect/>
          </a:stretch>
        </p:blipFill>
        <p:spPr>
          <a:xfrm rot="21600000">
            <a:off x="8150859" y="428244"/>
            <a:ext cx="50800" cy="164592"/>
          </a:xfrm>
          <a:prstGeom prst="rect">
            <a:avLst/>
          </a:prstGeom>
        </p:spPr>
      </p:pic>
      <p:sp>
        <p:nvSpPr>
          <p:cNvPr id="222" name="path"/>
          <p:cNvSpPr/>
          <p:nvPr/>
        </p:nvSpPr>
        <p:spPr>
          <a:xfrm>
            <a:off x="7915655" y="576072"/>
            <a:ext cx="521207" cy="292607"/>
          </a:xfrm>
          <a:custGeom>
            <a:avLst/>
            <a:gdLst/>
            <a:ahLst/>
            <a:cxnLst/>
            <a:rect l="0" t="0" r="0" b="0"/>
            <a:pathLst>
              <a:path w="820" h="460">
                <a:moveTo>
                  <a:pt x="7" y="453"/>
                </a:moveTo>
                <a:lnTo>
                  <a:pt x="813" y="453"/>
                </a:lnTo>
                <a:lnTo>
                  <a:pt x="813" y="7"/>
                </a:lnTo>
                <a:lnTo>
                  <a:pt x="7" y="7"/>
                </a:lnTo>
                <a:lnTo>
                  <a:pt x="7" y="453"/>
                </a:lnTo>
                <a:close/>
              </a:path>
            </a:pathLst>
          </a:custGeom>
          <a:noFill/>
          <a:ln w="9143" cap="flat">
            <a:solidFill>
              <a:srgbClr val="000000">
                <a:alpha val="100000"/>
              </a:srgbClr>
            </a:solidFill>
            <a:prstDash val="solid"/>
            <a:miter lim="800000"/>
          </a:ln>
        </p:spPr>
        <p:txBody>
          <a:bodyPr rtlCol="0"/>
          <a:lstStyle/>
          <a:p>
            <a:pPr algn="ctr"/>
            <a:endParaRPr lang="zh-CN" altLang="en-US"/>
          </a:p>
        </p:txBody>
      </p:sp>
      <p:sp>
        <p:nvSpPr>
          <p:cNvPr id="224" name="textbox 224"/>
          <p:cNvSpPr/>
          <p:nvPr/>
        </p:nvSpPr>
        <p:spPr>
          <a:xfrm>
            <a:off x="1119872" y="2735536"/>
            <a:ext cx="314959" cy="518159"/>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1950"/>
              </a:lnSpc>
            </a:pPr>
            <a:r>
              <a:rPr sz="3200" i="1" kern="0" spc="180" dirty="0">
                <a:solidFill>
                  <a:srgbClr val="FF0000">
                    <a:alpha val="100000"/>
                  </a:srgbClr>
                </a:solidFill>
                <a:latin typeface="Arial" panose="020B0604020202020204" pitchFamily="34" charset="0"/>
                <a:ea typeface="黑体" panose="02010609060101010101" charset="-122"/>
                <a:cs typeface="Times New Roman" panose="02020603050405020304"/>
              </a:rPr>
              <a:t>L</a:t>
            </a:r>
            <a:endParaRPr lang="en-US" altLang="en-US" sz="3200" dirty="0">
              <a:latin typeface="Arial" panose="020B0604020202020204" pitchFamily="34" charset="0"/>
              <a:ea typeface="黑体" panose="02010609060101010101" charset="-122"/>
            </a:endParaRPr>
          </a:p>
          <a:p>
            <a:pPr algn="r" rtl="0" eaLnBrk="0">
              <a:lnSpc>
                <a:spcPct val="84000"/>
              </a:lnSpc>
              <a:spcBef>
                <a:spcPts val="15"/>
              </a:spcBef>
            </a:pPr>
            <a:r>
              <a:rPr sz="1900" i="1" kern="0" spc="-20" dirty="0">
                <a:solidFill>
                  <a:srgbClr val="FF0000">
                    <a:alpha val="100000"/>
                  </a:srgbClr>
                </a:solidFill>
                <a:latin typeface="Arial" panose="020B0604020202020204" pitchFamily="34" charset="0"/>
                <a:ea typeface="黑体" panose="02010609060101010101" charset="-122"/>
                <a:cs typeface="Times New Roman" panose="02020603050405020304"/>
              </a:rPr>
              <a:t>i</a:t>
            </a:r>
            <a:endParaRPr lang="en-US" altLang="en-US" sz="1900" dirty="0">
              <a:latin typeface="Arial" panose="020B0604020202020204" pitchFamily="34" charset="0"/>
              <a:ea typeface="黑体" panose="02010609060101010101" charset="-122"/>
            </a:endParaRPr>
          </a:p>
        </p:txBody>
      </p:sp>
      <p:grpSp>
        <p:nvGrpSpPr>
          <p:cNvPr id="20" name="group 20"/>
          <p:cNvGrpSpPr/>
          <p:nvPr/>
        </p:nvGrpSpPr>
        <p:grpSpPr>
          <a:xfrm rot="21600000">
            <a:off x="7988808" y="4684776"/>
            <a:ext cx="350519" cy="341375"/>
            <a:chOff x="0" y="0"/>
            <a:chExt cx="350519" cy="341375"/>
          </a:xfrm>
        </p:grpSpPr>
        <p:grpSp>
          <p:nvGrpSpPr>
            <p:cNvPr id="22" name="group 22"/>
            <p:cNvGrpSpPr/>
            <p:nvPr/>
          </p:nvGrpSpPr>
          <p:grpSpPr>
            <a:xfrm rot="21600000">
              <a:off x="0" y="0"/>
              <a:ext cx="350519" cy="341375"/>
              <a:chOff x="0" y="0"/>
              <a:chExt cx="350519" cy="341375"/>
            </a:xfrm>
          </p:grpSpPr>
          <p:sp>
            <p:nvSpPr>
              <p:cNvPr id="226" name="path"/>
              <p:cNvSpPr/>
              <p:nvPr/>
            </p:nvSpPr>
            <p:spPr>
              <a:xfrm>
                <a:off x="4571" y="4572"/>
                <a:ext cx="341376" cy="332231"/>
              </a:xfrm>
              <a:custGeom>
                <a:avLst/>
                <a:gdLst/>
                <a:ahLst/>
                <a:cxnLst/>
                <a:rect l="0" t="0" r="0" b="0"/>
                <a:pathLst>
                  <a:path w="537" h="523">
                    <a:moveTo>
                      <a:pt x="0" y="261"/>
                    </a:moveTo>
                    <a:cubicBezTo>
                      <a:pt x="0" y="117"/>
                      <a:pt x="120" y="0"/>
                      <a:pt x="268" y="0"/>
                    </a:cubicBezTo>
                    <a:cubicBezTo>
                      <a:pt x="417" y="0"/>
                      <a:pt x="537" y="117"/>
                      <a:pt x="537" y="261"/>
                    </a:cubicBezTo>
                    <a:cubicBezTo>
                      <a:pt x="537" y="406"/>
                      <a:pt x="417" y="523"/>
                      <a:pt x="268" y="523"/>
                    </a:cubicBezTo>
                    <a:cubicBezTo>
                      <a:pt x="120" y="523"/>
                      <a:pt x="0" y="406"/>
                      <a:pt x="0" y="261"/>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28" name="path"/>
              <p:cNvSpPr/>
              <p:nvPr/>
            </p:nvSpPr>
            <p:spPr>
              <a:xfrm>
                <a:off x="0" y="0"/>
                <a:ext cx="350519" cy="341375"/>
              </a:xfrm>
              <a:custGeom>
                <a:avLst/>
                <a:gdLst/>
                <a:ahLst/>
                <a:cxnLst/>
                <a:rect l="0" t="0" r="0" b="0"/>
                <a:pathLst>
                  <a:path w="551" h="537">
                    <a:moveTo>
                      <a:pt x="7" y="268"/>
                    </a:moveTo>
                    <a:cubicBezTo>
                      <a:pt x="7" y="124"/>
                      <a:pt x="127" y="7"/>
                      <a:pt x="275" y="7"/>
                    </a:cubicBezTo>
                    <a:cubicBezTo>
                      <a:pt x="424" y="7"/>
                      <a:pt x="544" y="124"/>
                      <a:pt x="544" y="268"/>
                    </a:cubicBezTo>
                    <a:cubicBezTo>
                      <a:pt x="544" y="413"/>
                      <a:pt x="424" y="530"/>
                      <a:pt x="275" y="530"/>
                    </a:cubicBezTo>
                    <a:cubicBezTo>
                      <a:pt x="127" y="530"/>
                      <a:pt x="7" y="413"/>
                      <a:pt x="7" y="268"/>
                    </a:cubicBezTo>
                  </a:path>
                </a:pathLst>
              </a:custGeom>
              <a:noFill/>
              <a:ln w="9143" cap="flat">
                <a:solidFill>
                  <a:srgbClr val="000000">
                    <a:alpha val="100000"/>
                  </a:srgbClr>
                </a:solidFill>
                <a:prstDash val="solid"/>
                <a:round/>
              </a:ln>
            </p:spPr>
            <p:txBody>
              <a:bodyPr rtlCol="0"/>
              <a:lstStyle/>
              <a:p>
                <a:pPr algn="ctr"/>
                <a:endParaRPr lang="zh-CN" altLang="en-US"/>
              </a:p>
            </p:txBody>
          </p:sp>
        </p:grpSp>
        <p:sp>
          <p:nvSpPr>
            <p:cNvPr id="230" name="textbox 230"/>
            <p:cNvSpPr/>
            <p:nvPr/>
          </p:nvSpPr>
          <p:spPr>
            <a:xfrm>
              <a:off x="-12700" y="-12700"/>
              <a:ext cx="375920" cy="370840"/>
            </a:xfrm>
            <a:prstGeom prst="rect">
              <a:avLst/>
            </a:prstGeom>
          </p:spPr>
          <p:txBody>
            <a:bodyPr vert="horz" wrap="square" lIns="0" tIns="0" rIns="0" bIns="0"/>
            <a:lstStyle/>
            <a:p>
              <a:pPr algn="l" rtl="0" eaLnBrk="0">
                <a:lnSpc>
                  <a:spcPct val="101000"/>
                </a:lnSpc>
              </a:pPr>
              <a:endParaRPr lang="en-US" altLang="en-US" sz="800" dirty="0">
                <a:latin typeface="Arial" panose="020B0604020202020204" pitchFamily="34" charset="0"/>
                <a:ea typeface="黑体" panose="02010609060101010101" charset="-122"/>
              </a:endParaRPr>
            </a:p>
            <a:p>
              <a:pPr marL="133350" algn="l" rtl="0" eaLnBrk="0">
                <a:lnSpc>
                  <a:spcPct val="80000"/>
                </a:lnSpc>
                <a:spcBef>
                  <a:spcPts val="5"/>
                </a:spcBef>
              </a:pPr>
              <a:r>
                <a:rPr sz="1300" i="1" kern="0" spc="300" dirty="0">
                  <a:solidFill>
                    <a:srgbClr val="000000">
                      <a:alpha val="100000"/>
                    </a:srgbClr>
                  </a:solidFill>
                  <a:latin typeface="Arial" panose="020B0604020202020204" pitchFamily="34" charset="0"/>
                  <a:ea typeface="黑体" panose="02010609060101010101" charset="-122"/>
                  <a:cs typeface="Times New Roman" panose="02020603050405020304"/>
                </a:rPr>
                <a:t>f</a:t>
              </a:r>
              <a:endParaRPr lang="en-US" altLang="en-US" sz="1300" dirty="0">
                <a:latin typeface="Arial" panose="020B0604020202020204" pitchFamily="34" charset="0"/>
                <a:ea typeface="黑体" panose="02010609060101010101" charset="-122"/>
              </a:endParaRPr>
            </a:p>
          </p:txBody>
        </p:sp>
      </p:grpSp>
      <p:sp>
        <p:nvSpPr>
          <p:cNvPr id="232" name="rect"/>
          <p:cNvSpPr/>
          <p:nvPr/>
        </p:nvSpPr>
        <p:spPr>
          <a:xfrm>
            <a:off x="9366504" y="1455420"/>
            <a:ext cx="9143" cy="505967"/>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234" name="picture 234"/>
          <p:cNvPicPr>
            <a:picLocks noChangeAspect="1"/>
          </p:cNvPicPr>
          <p:nvPr/>
        </p:nvPicPr>
        <p:blipFill>
          <a:blip r:embed="rId11"/>
          <a:stretch>
            <a:fillRect/>
          </a:stretch>
        </p:blipFill>
        <p:spPr>
          <a:xfrm rot="21600000">
            <a:off x="7066788" y="1786636"/>
            <a:ext cx="2304288" cy="50800"/>
          </a:xfrm>
          <a:prstGeom prst="rect">
            <a:avLst/>
          </a:prstGeom>
        </p:spPr>
      </p:pic>
      <p:sp>
        <p:nvSpPr>
          <p:cNvPr id="236" name="textbox 236"/>
          <p:cNvSpPr/>
          <p:nvPr/>
        </p:nvSpPr>
        <p:spPr>
          <a:xfrm>
            <a:off x="10795947" y="3515351"/>
            <a:ext cx="202564" cy="612140"/>
          </a:xfrm>
          <a:prstGeom prst="rect">
            <a:avLst/>
          </a:prstGeom>
        </p:spPr>
        <p:txBody>
          <a:bodyPr vert="eaVert"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12700" algn="l" rtl="0" eaLnBrk="0">
              <a:lnSpc>
                <a:spcPts val="1390"/>
              </a:lnSpc>
            </a:pP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第</a:t>
            </a:r>
            <a:r>
              <a:rPr sz="1100" kern="0" spc="8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1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十 五</a:t>
            </a:r>
            <a:endParaRPr lang="en-US" altLang="en-US" sz="1100" dirty="0">
              <a:latin typeface="Arial" panose="020B0604020202020204" pitchFamily="34" charset="0"/>
              <a:ea typeface="黑体" panose="02010609060101010101" charset="-122"/>
            </a:endParaRPr>
          </a:p>
        </p:txBody>
      </p:sp>
      <p:pic>
        <p:nvPicPr>
          <p:cNvPr id="238" name="picture 238"/>
          <p:cNvPicPr>
            <a:picLocks noChangeAspect="1"/>
          </p:cNvPicPr>
          <p:nvPr/>
        </p:nvPicPr>
        <p:blipFill>
          <a:blip r:embed="rId12"/>
          <a:stretch>
            <a:fillRect/>
          </a:stretch>
        </p:blipFill>
        <p:spPr>
          <a:xfrm rot="21600000">
            <a:off x="6958330" y="2716784"/>
            <a:ext cx="2423667" cy="21843"/>
          </a:xfrm>
          <a:prstGeom prst="rect">
            <a:avLst/>
          </a:prstGeom>
        </p:spPr>
      </p:pic>
      <p:pic>
        <p:nvPicPr>
          <p:cNvPr id="240" name="picture 240"/>
          <p:cNvPicPr>
            <a:picLocks noChangeAspect="1"/>
          </p:cNvPicPr>
          <p:nvPr/>
        </p:nvPicPr>
        <p:blipFill>
          <a:blip r:embed="rId13"/>
          <a:stretch>
            <a:fillRect/>
          </a:stretch>
        </p:blipFill>
        <p:spPr>
          <a:xfrm rot="21600000">
            <a:off x="6958330" y="2818384"/>
            <a:ext cx="2423667" cy="21843"/>
          </a:xfrm>
          <a:prstGeom prst="rect">
            <a:avLst/>
          </a:prstGeom>
        </p:spPr>
      </p:pic>
      <p:sp>
        <p:nvSpPr>
          <p:cNvPr id="242" name="rect"/>
          <p:cNvSpPr/>
          <p:nvPr/>
        </p:nvSpPr>
        <p:spPr>
          <a:xfrm>
            <a:off x="8334756" y="3578859"/>
            <a:ext cx="1024128" cy="50800"/>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244" name="picture 244"/>
          <p:cNvPicPr>
            <a:picLocks noChangeAspect="1"/>
          </p:cNvPicPr>
          <p:nvPr/>
        </p:nvPicPr>
        <p:blipFill>
          <a:blip r:embed="rId14"/>
          <a:stretch>
            <a:fillRect/>
          </a:stretch>
        </p:blipFill>
        <p:spPr>
          <a:xfrm rot="21600000">
            <a:off x="8334756" y="4828540"/>
            <a:ext cx="1024128" cy="50800"/>
          </a:xfrm>
          <a:prstGeom prst="rect">
            <a:avLst/>
          </a:prstGeom>
        </p:spPr>
      </p:pic>
      <p:sp>
        <p:nvSpPr>
          <p:cNvPr id="246" name="rect"/>
          <p:cNvSpPr/>
          <p:nvPr/>
        </p:nvSpPr>
        <p:spPr>
          <a:xfrm>
            <a:off x="7054596" y="4828540"/>
            <a:ext cx="929639" cy="50800"/>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248" name="picture 248"/>
          <p:cNvPicPr>
            <a:picLocks noChangeAspect="1"/>
          </p:cNvPicPr>
          <p:nvPr/>
        </p:nvPicPr>
        <p:blipFill>
          <a:blip r:embed="rId15"/>
          <a:stretch>
            <a:fillRect/>
          </a:stretch>
        </p:blipFill>
        <p:spPr>
          <a:xfrm rot="21600000">
            <a:off x="10869676" y="4390644"/>
            <a:ext cx="50800" cy="307848"/>
          </a:xfrm>
          <a:prstGeom prst="rect">
            <a:avLst/>
          </a:prstGeom>
        </p:spPr>
      </p:pic>
      <p:sp>
        <p:nvSpPr>
          <p:cNvPr id="250" name="rect"/>
          <p:cNvSpPr/>
          <p:nvPr/>
        </p:nvSpPr>
        <p:spPr>
          <a:xfrm>
            <a:off x="6969252" y="4544567"/>
            <a:ext cx="4096511" cy="9144"/>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252" name="picture 252"/>
          <p:cNvPicPr>
            <a:picLocks noChangeAspect="1"/>
          </p:cNvPicPr>
          <p:nvPr/>
        </p:nvPicPr>
        <p:blipFill>
          <a:blip r:embed="rId16"/>
          <a:stretch>
            <a:fillRect/>
          </a:stretch>
        </p:blipFill>
        <p:spPr>
          <a:xfrm rot="21600000">
            <a:off x="9345676" y="4485132"/>
            <a:ext cx="50800" cy="835151"/>
          </a:xfrm>
          <a:prstGeom prst="rect">
            <a:avLst/>
          </a:prstGeom>
        </p:spPr>
      </p:pic>
      <p:pic>
        <p:nvPicPr>
          <p:cNvPr id="254" name="picture 254"/>
          <p:cNvPicPr>
            <a:picLocks noChangeAspect="1"/>
          </p:cNvPicPr>
          <p:nvPr/>
        </p:nvPicPr>
        <p:blipFill>
          <a:blip r:embed="rId17"/>
          <a:stretch>
            <a:fillRect/>
          </a:stretch>
        </p:blipFill>
        <p:spPr>
          <a:xfrm rot="21600000">
            <a:off x="6958330" y="2695955"/>
            <a:ext cx="2423667" cy="17271"/>
          </a:xfrm>
          <a:prstGeom prst="rect">
            <a:avLst/>
          </a:prstGeom>
        </p:spPr>
      </p:pic>
      <p:sp>
        <p:nvSpPr>
          <p:cNvPr id="256" name="rect"/>
          <p:cNvSpPr/>
          <p:nvPr/>
        </p:nvSpPr>
        <p:spPr>
          <a:xfrm>
            <a:off x="9366504" y="3235451"/>
            <a:ext cx="9143" cy="518160"/>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258" name="picture 258"/>
          <p:cNvPicPr>
            <a:picLocks noChangeAspect="1"/>
          </p:cNvPicPr>
          <p:nvPr/>
        </p:nvPicPr>
        <p:blipFill>
          <a:blip r:embed="rId18"/>
          <a:stretch>
            <a:fillRect/>
          </a:stretch>
        </p:blipFill>
        <p:spPr>
          <a:xfrm rot="21600000">
            <a:off x="6943852" y="3232404"/>
            <a:ext cx="50800" cy="301751"/>
          </a:xfrm>
          <a:prstGeom prst="rect">
            <a:avLst/>
          </a:prstGeom>
        </p:spPr>
      </p:pic>
      <p:sp>
        <p:nvSpPr>
          <p:cNvPr id="260" name="rect"/>
          <p:cNvSpPr/>
          <p:nvPr/>
        </p:nvSpPr>
        <p:spPr>
          <a:xfrm>
            <a:off x="6969252" y="3307079"/>
            <a:ext cx="4096511" cy="9143"/>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262" name="rect"/>
          <p:cNvSpPr/>
          <p:nvPr/>
        </p:nvSpPr>
        <p:spPr>
          <a:xfrm>
            <a:off x="6981444" y="1542288"/>
            <a:ext cx="4096511" cy="9143"/>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264" name="textbox 264"/>
          <p:cNvSpPr/>
          <p:nvPr/>
        </p:nvSpPr>
        <p:spPr>
          <a:xfrm>
            <a:off x="10059035" y="4633595"/>
            <a:ext cx="386080" cy="22606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1575"/>
              </a:lnSpc>
            </a:pPr>
            <a:r>
              <a:rPr sz="2000" i="1" kern="0" spc="70" baseline="4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200" kern="0" spc="7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16</a:t>
            </a:r>
            <a:endParaRPr lang="en-US" altLang="en-US" sz="1200" baseline="-15000" dirty="0">
              <a:latin typeface="Arial" panose="020B0604020202020204" pitchFamily="34" charset="0"/>
              <a:ea typeface="黑体" panose="02010609060101010101" charset="-122"/>
            </a:endParaRPr>
          </a:p>
        </p:txBody>
      </p:sp>
      <p:sp>
        <p:nvSpPr>
          <p:cNvPr id="266" name="textbox 266"/>
          <p:cNvSpPr/>
          <p:nvPr/>
        </p:nvSpPr>
        <p:spPr>
          <a:xfrm>
            <a:off x="10059035" y="3377565"/>
            <a:ext cx="386715" cy="22606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1575"/>
              </a:lnSpc>
            </a:pPr>
            <a:r>
              <a:rPr sz="2000" i="1" kern="0" spc="70" baseline="4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200" kern="0" spc="7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1200" baseline="-15000" dirty="0">
              <a:latin typeface="Arial" panose="020B0604020202020204" pitchFamily="34" charset="0"/>
              <a:ea typeface="黑体" panose="02010609060101010101" charset="-122"/>
            </a:endParaRPr>
          </a:p>
        </p:txBody>
      </p:sp>
      <p:sp>
        <p:nvSpPr>
          <p:cNvPr id="268" name="textbox 268"/>
          <p:cNvSpPr/>
          <p:nvPr/>
        </p:nvSpPr>
        <p:spPr>
          <a:xfrm>
            <a:off x="10817642" y="1846389"/>
            <a:ext cx="181610" cy="192404"/>
          </a:xfrm>
          <a:prstGeom prst="rect">
            <a:avLst/>
          </a:prstGeom>
        </p:spPr>
        <p:txBody>
          <a:bodyPr vert="horz" wrap="square" lIns="0" tIns="0" rIns="0" bIns="0"/>
          <a:lstStyle/>
          <a:p>
            <a:pPr algn="l" rtl="0" eaLnBrk="0">
              <a:lnSpc>
                <a:spcPct val="79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1100" kern="0" spc="11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第</a:t>
            </a:r>
            <a:endParaRPr lang="en-US" altLang="en-US" sz="1100" dirty="0">
              <a:latin typeface="Arial" panose="020B0604020202020204" pitchFamily="34" charset="0"/>
              <a:ea typeface="黑体" panose="02010609060101010101" charset="-122"/>
            </a:endParaRPr>
          </a:p>
        </p:txBody>
      </p:sp>
      <p:pic>
        <p:nvPicPr>
          <p:cNvPr id="270" name="picture 270"/>
          <p:cNvPicPr>
            <a:picLocks noChangeAspect="1"/>
          </p:cNvPicPr>
          <p:nvPr/>
        </p:nvPicPr>
        <p:blipFill>
          <a:blip r:embed="rId19"/>
          <a:stretch>
            <a:fillRect/>
          </a:stretch>
        </p:blipFill>
        <p:spPr>
          <a:xfrm rot="21600000">
            <a:off x="6940804" y="4902708"/>
            <a:ext cx="50800" cy="420623"/>
          </a:xfrm>
          <a:prstGeom prst="rect">
            <a:avLst/>
          </a:prstGeom>
        </p:spPr>
      </p:pic>
      <mc:AlternateContent xmlns:mc="http://schemas.openxmlformats.org/markup-compatibility/2006">
        <mc:Choice xmlns:a14="http://schemas.microsoft.com/office/drawing/2010/main" Requires="a14">
          <p:sp>
            <p:nvSpPr>
              <p:cNvPr id="272" name="textbox 272"/>
              <p:cNvSpPr/>
              <p:nvPr/>
            </p:nvSpPr>
            <p:spPr>
              <a:xfrm>
                <a:off x="6881390" y="3531890"/>
                <a:ext cx="177164" cy="161925"/>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algn="r" rtl="0" eaLnBrk="0">
                  <a:lnSpc>
                    <a:spcPct val="69000"/>
                  </a:lnSpc>
                </a:pPr>
                <a14:m>
                  <m:oMathPara xmlns:m="http://schemas.openxmlformats.org/officeDocument/2006/math">
                    <m:oMathParaPr>
                      <m:jc m:val="centerGroup"/>
                    </m:oMathParaPr>
                    <m:oMath xmlns:m="http://schemas.openxmlformats.org/officeDocument/2006/math">
                      <m:r>
                        <a:rPr lang="en-US" altLang="zh-CN" sz="1300" i="1">
                          <a:latin typeface="Cambria Math" panose="02040503050406030204" charset="0"/>
                          <a:ea typeface="MS Mincho" charset="0"/>
                          <a:cs typeface="Cambria Math" panose="02040503050406030204" charset="0"/>
                        </a:rPr>
                        <m:t>⊕</m:t>
                      </m:r>
                    </m:oMath>
                  </m:oMathPara>
                </a14:m>
                <a:endParaRPr lang="en-US" altLang="zh-CN" sz="1300" i="1">
                  <a:latin typeface="Cambria Math" panose="02040503050406030204" charset="0"/>
                  <a:ea typeface="MS Mincho" charset="0"/>
                  <a:cs typeface="Cambria Math" panose="02040503050406030204" charset="0"/>
                </a:endParaRPr>
              </a:p>
              <a:p>
                <a:pPr algn="r" rtl="0" eaLnBrk="0">
                  <a:lnSpc>
                    <a:spcPct val="69000"/>
                  </a:lnSpc>
                </a:pPr>
                <a:endParaRPr lang="en-US" altLang="en-US" sz="1300" dirty="0">
                  <a:latin typeface="Arial" panose="020B0604020202020204" pitchFamily="34" charset="0"/>
                  <a:ea typeface="黑体" panose="02010609060101010101" charset="-122"/>
                </a:endParaRPr>
              </a:p>
            </p:txBody>
          </p:sp>
        </mc:Choice>
        <mc:Fallback>
          <p:sp>
            <p:nvSpPr>
              <p:cNvPr id="272" name="textbox 272"/>
              <p:cNvSpPr>
                <a:spLocks noRot="1" noChangeAspect="1" noMove="1" noResize="1" noEditPoints="1" noAdjustHandles="1" noChangeArrowheads="1" noChangeShapeType="1" noTextEdit="1"/>
              </p:cNvSpPr>
              <p:nvPr/>
            </p:nvSpPr>
            <p:spPr>
              <a:xfrm>
                <a:off x="6881390" y="3531890"/>
                <a:ext cx="177164" cy="161925"/>
              </a:xfrm>
              <a:prstGeom prst="rect">
                <a:avLst/>
              </a:prstGeom>
              <a:blipFill rotWithShape="1">
                <a:blip r:embed="rId20"/>
                <a:stretch>
                  <a:fillRect l="-299" t="-13738" r="299" b="-760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4" name="textbox 274"/>
              <p:cNvSpPr/>
              <p:nvPr/>
            </p:nvSpPr>
            <p:spPr>
              <a:xfrm>
                <a:off x="6893583" y="4775474"/>
                <a:ext cx="177164" cy="161925"/>
              </a:xfrm>
              <a:prstGeom prst="rect">
                <a:avLst/>
              </a:prstGeom>
            </p:spPr>
            <p:txBody>
              <a:bodyPr vert="horz" wrap="square" lIns="0" tIns="0" rIns="0" bIns="0"/>
              <a:lstStyle/>
              <a:p>
                <a:pPr algn="l" rtl="0" eaLnBrk="0">
                  <a:lnSpc>
                    <a:spcPct val="81000"/>
                  </a:lnSpc>
                </a:pPr>
                <a14:m>
                  <m:oMathPara xmlns:m="http://schemas.openxmlformats.org/officeDocument/2006/math">
                    <m:oMathParaPr>
                      <m:jc m:val="centerGroup"/>
                    </m:oMathParaPr>
                    <m:oMath xmlns:m="http://schemas.openxmlformats.org/officeDocument/2006/math">
                      <m:r>
                        <a:rPr lang="en-US" altLang="zh-CN" sz="1300" i="1">
                          <a:latin typeface="Cambria Math" panose="02040503050406030204" charset="0"/>
                          <a:ea typeface="MS Mincho" charset="0"/>
                          <a:cs typeface="Cambria Math" panose="02040503050406030204" charset="0"/>
                        </a:rPr>
                        <m:t>⊕</m:t>
                      </m:r>
                    </m:oMath>
                  </m:oMathPara>
                </a14:m>
                <a:endParaRPr lang="en-US" altLang="zh-CN" sz="1300" i="1">
                  <a:latin typeface="Cambria Math" panose="02040503050406030204" charset="0"/>
                  <a:ea typeface="MS Mincho" charset="0"/>
                  <a:cs typeface="Cambria Math" panose="02040503050406030204" charset="0"/>
                </a:endParaRPr>
              </a:p>
              <a:p>
                <a:pPr algn="l" rtl="0" eaLnBrk="0">
                  <a:lnSpc>
                    <a:spcPct val="81000"/>
                  </a:lnSpc>
                </a:pPr>
                <a:endParaRPr lang="en-US" altLang="en-US" sz="1300" dirty="0">
                  <a:latin typeface="Arial" panose="020B0604020202020204" pitchFamily="34" charset="0"/>
                  <a:ea typeface="黑体" panose="02010609060101010101" charset="-122"/>
                </a:endParaRPr>
              </a:p>
            </p:txBody>
          </p:sp>
        </mc:Choice>
        <mc:Fallback>
          <p:sp>
            <p:nvSpPr>
              <p:cNvPr id="274" name="textbox 274"/>
              <p:cNvSpPr>
                <a:spLocks noRot="1" noChangeAspect="1" noMove="1" noResize="1" noEditPoints="1" noAdjustHandles="1" noChangeArrowheads="1" noChangeShapeType="1" noTextEdit="1"/>
              </p:cNvSpPr>
              <p:nvPr/>
            </p:nvSpPr>
            <p:spPr>
              <a:xfrm>
                <a:off x="6893583" y="4775474"/>
                <a:ext cx="177164" cy="161925"/>
              </a:xfrm>
              <a:prstGeom prst="rect">
                <a:avLst/>
              </a:prstGeom>
              <a:blipFill rotWithShape="1">
                <a:blip r:embed="rId21"/>
                <a:stretch>
                  <a:fillRect l="-13" t="-9189" r="12" b="-97478"/>
                </a:stretch>
              </a:blipFill>
            </p:spPr>
            <p:txBody>
              <a:bodyPr/>
              <a:lstStyle/>
              <a:p>
                <a:r>
                  <a:rPr lang="zh-CN" altLang="en-US">
                    <a:noFill/>
                  </a:rPr>
                  <a:t> </a:t>
                </a:r>
              </a:p>
            </p:txBody>
          </p:sp>
        </mc:Fallback>
      </mc:AlternateContent>
      <p:pic>
        <p:nvPicPr>
          <p:cNvPr id="276" name="picture 276"/>
          <p:cNvPicPr>
            <a:picLocks noChangeAspect="1"/>
          </p:cNvPicPr>
          <p:nvPr/>
        </p:nvPicPr>
        <p:blipFill>
          <a:blip r:embed="rId22"/>
          <a:stretch>
            <a:fillRect/>
          </a:stretch>
        </p:blipFill>
        <p:spPr>
          <a:xfrm rot="21600000">
            <a:off x="6943852" y="4491228"/>
            <a:ext cx="50800" cy="295655"/>
          </a:xfrm>
          <a:prstGeom prst="rect">
            <a:avLst/>
          </a:prstGeom>
        </p:spPr>
      </p:pic>
      <p:sp>
        <p:nvSpPr>
          <p:cNvPr id="278" name="path"/>
          <p:cNvSpPr/>
          <p:nvPr/>
        </p:nvSpPr>
        <p:spPr>
          <a:xfrm>
            <a:off x="8432292" y="4693920"/>
            <a:ext cx="1621535" cy="9144"/>
          </a:xfrm>
          <a:custGeom>
            <a:avLst/>
            <a:gdLst/>
            <a:ahLst/>
            <a:cxnLst/>
            <a:rect l="0" t="0" r="0" b="0"/>
            <a:pathLst>
              <a:path w="2553" h="14">
                <a:moveTo>
                  <a:pt x="0" y="7"/>
                </a:moveTo>
                <a:lnTo>
                  <a:pt x="2553" y="7"/>
                </a:lnTo>
              </a:path>
            </a:pathLst>
          </a:custGeom>
          <a:noFill/>
          <a:ln w="9143" cap="flat">
            <a:solidFill>
              <a:srgbClr val="000000">
                <a:alpha val="100000"/>
              </a:srgbClr>
            </a:solidFill>
            <a:prstDash val="solid"/>
            <a:round/>
          </a:ln>
        </p:spPr>
        <p:txBody>
          <a:bodyPr rtlCol="0"/>
          <a:lstStyle/>
          <a:p>
            <a:pPr algn="ctr"/>
            <a:endParaRPr lang="zh-CN" altLang="en-US"/>
          </a:p>
        </p:txBody>
      </p:sp>
      <p:sp>
        <p:nvSpPr>
          <p:cNvPr id="280" name="rect"/>
          <p:cNvSpPr/>
          <p:nvPr/>
        </p:nvSpPr>
        <p:spPr>
          <a:xfrm>
            <a:off x="8432292" y="3444240"/>
            <a:ext cx="1621535" cy="9143"/>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282" name="rect"/>
          <p:cNvSpPr/>
          <p:nvPr/>
        </p:nvSpPr>
        <p:spPr>
          <a:xfrm>
            <a:off x="8444484" y="1664208"/>
            <a:ext cx="1621535" cy="9143"/>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284" name="picture 284"/>
          <p:cNvPicPr>
            <a:picLocks noChangeAspect="1"/>
          </p:cNvPicPr>
          <p:nvPr/>
        </p:nvPicPr>
        <p:blipFill>
          <a:blip r:embed="rId23"/>
          <a:stretch>
            <a:fillRect/>
          </a:stretch>
        </p:blipFill>
        <p:spPr>
          <a:xfrm rot="21600000">
            <a:off x="6943852" y="1461516"/>
            <a:ext cx="50800" cy="286511"/>
          </a:xfrm>
          <a:prstGeom prst="rect">
            <a:avLst/>
          </a:prstGeom>
        </p:spPr>
      </p:pic>
      <p:pic>
        <p:nvPicPr>
          <p:cNvPr id="286" name="picture 286"/>
          <p:cNvPicPr>
            <a:picLocks noChangeAspect="1"/>
          </p:cNvPicPr>
          <p:nvPr/>
        </p:nvPicPr>
        <p:blipFill>
          <a:blip r:embed="rId24"/>
          <a:stretch>
            <a:fillRect/>
          </a:stretch>
        </p:blipFill>
        <p:spPr>
          <a:xfrm rot="21600000">
            <a:off x="8346947" y="4695444"/>
            <a:ext cx="90932" cy="155448"/>
          </a:xfrm>
          <a:prstGeom prst="rect">
            <a:avLst/>
          </a:prstGeom>
        </p:spPr>
      </p:pic>
      <p:pic>
        <p:nvPicPr>
          <p:cNvPr id="288" name="picture 288"/>
          <p:cNvPicPr>
            <a:picLocks noChangeAspect="1"/>
          </p:cNvPicPr>
          <p:nvPr/>
        </p:nvPicPr>
        <p:blipFill>
          <a:blip r:embed="rId25"/>
          <a:stretch>
            <a:fillRect/>
          </a:stretch>
        </p:blipFill>
        <p:spPr>
          <a:xfrm rot="21600000">
            <a:off x="8346947" y="3445764"/>
            <a:ext cx="90932" cy="155447"/>
          </a:xfrm>
          <a:prstGeom prst="rect">
            <a:avLst/>
          </a:prstGeom>
        </p:spPr>
      </p:pic>
      <p:pic>
        <p:nvPicPr>
          <p:cNvPr id="290" name="picture 290"/>
          <p:cNvPicPr>
            <a:picLocks noChangeAspect="1"/>
          </p:cNvPicPr>
          <p:nvPr/>
        </p:nvPicPr>
        <p:blipFill>
          <a:blip r:embed="rId26"/>
          <a:stretch>
            <a:fillRect/>
          </a:stretch>
        </p:blipFill>
        <p:spPr>
          <a:xfrm rot="21600000">
            <a:off x="8359140" y="1665732"/>
            <a:ext cx="90931" cy="155447"/>
          </a:xfrm>
          <a:prstGeom prst="rect">
            <a:avLst/>
          </a:prstGeom>
        </p:spPr>
      </p:pic>
      <p:sp>
        <p:nvSpPr>
          <p:cNvPr id="292" name="textbox 292"/>
          <p:cNvSpPr/>
          <p:nvPr/>
        </p:nvSpPr>
        <p:spPr>
          <a:xfrm>
            <a:off x="8097294" y="1744868"/>
            <a:ext cx="112395" cy="186054"/>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12700" algn="l" rtl="0" eaLnBrk="0">
              <a:lnSpc>
                <a:spcPct val="81000"/>
              </a:lnSpc>
            </a:pPr>
            <a:r>
              <a:rPr sz="1300" i="1" kern="0" spc="300" dirty="0">
                <a:solidFill>
                  <a:srgbClr val="000000">
                    <a:alpha val="100000"/>
                  </a:srgbClr>
                </a:solidFill>
                <a:latin typeface="Arial" panose="020B0604020202020204" pitchFamily="34" charset="0"/>
                <a:ea typeface="黑体" panose="02010609060101010101" charset="-122"/>
                <a:cs typeface="Times New Roman" panose="02020603050405020304"/>
              </a:rPr>
              <a:t>f</a:t>
            </a:r>
            <a:endParaRPr lang="en-US" altLang="en-US" sz="1300" dirty="0">
              <a:latin typeface="Arial" panose="020B0604020202020204" pitchFamily="34" charset="0"/>
              <a:ea typeface="黑体" panose="02010609060101010101" charset="-122"/>
            </a:endParaRPr>
          </a:p>
        </p:txBody>
      </p:sp>
      <p:pic>
        <p:nvPicPr>
          <p:cNvPr id="294" name="picture 294"/>
          <p:cNvPicPr>
            <a:picLocks noChangeAspect="1"/>
          </p:cNvPicPr>
          <p:nvPr/>
        </p:nvPicPr>
        <p:blipFill>
          <a:blip r:embed="rId27"/>
          <a:stretch>
            <a:fillRect/>
          </a:stretch>
        </p:blipFill>
        <p:spPr>
          <a:xfrm rot="21600000">
            <a:off x="10869676" y="1546859"/>
            <a:ext cx="50800" cy="234696"/>
          </a:xfrm>
          <a:prstGeom prst="rect">
            <a:avLst/>
          </a:prstGeom>
        </p:spPr>
      </p:pic>
      <p:pic>
        <p:nvPicPr>
          <p:cNvPr id="296" name="picture 296"/>
          <p:cNvPicPr>
            <a:picLocks noChangeAspect="1"/>
          </p:cNvPicPr>
          <p:nvPr/>
        </p:nvPicPr>
        <p:blipFill>
          <a:blip r:embed="rId28"/>
          <a:stretch>
            <a:fillRect/>
          </a:stretch>
        </p:blipFill>
        <p:spPr>
          <a:xfrm rot="21600000">
            <a:off x="6943852" y="3960876"/>
            <a:ext cx="50800" cy="185928"/>
          </a:xfrm>
          <a:prstGeom prst="rect">
            <a:avLst/>
          </a:prstGeom>
        </p:spPr>
      </p:pic>
      <p:pic>
        <p:nvPicPr>
          <p:cNvPr id="298" name="picture 298"/>
          <p:cNvPicPr>
            <a:picLocks noChangeAspect="1"/>
          </p:cNvPicPr>
          <p:nvPr/>
        </p:nvPicPr>
        <p:blipFill>
          <a:blip r:embed="rId29"/>
          <a:stretch>
            <a:fillRect/>
          </a:stretch>
        </p:blipFill>
        <p:spPr>
          <a:xfrm rot="21600000">
            <a:off x="9333484" y="3973067"/>
            <a:ext cx="50800" cy="185927"/>
          </a:xfrm>
          <a:prstGeom prst="rect">
            <a:avLst/>
          </a:prstGeom>
        </p:spPr>
      </p:pic>
      <p:pic>
        <p:nvPicPr>
          <p:cNvPr id="300" name="picture 300"/>
          <p:cNvPicPr>
            <a:picLocks noChangeAspect="1"/>
          </p:cNvPicPr>
          <p:nvPr/>
        </p:nvPicPr>
        <p:blipFill>
          <a:blip r:embed="rId30"/>
          <a:stretch>
            <a:fillRect/>
          </a:stretch>
        </p:blipFill>
        <p:spPr>
          <a:xfrm rot="21600000">
            <a:off x="10869676" y="3311651"/>
            <a:ext cx="50800" cy="161544"/>
          </a:xfrm>
          <a:prstGeom prst="rect">
            <a:avLst/>
          </a:prstGeom>
        </p:spPr>
      </p:pic>
      <p:pic>
        <p:nvPicPr>
          <p:cNvPr id="302" name="picture 302"/>
          <p:cNvPicPr>
            <a:picLocks noChangeAspect="1"/>
          </p:cNvPicPr>
          <p:nvPr/>
        </p:nvPicPr>
        <p:blipFill>
          <a:blip r:embed="rId31"/>
          <a:stretch>
            <a:fillRect/>
          </a:stretch>
        </p:blipFill>
        <p:spPr>
          <a:xfrm rot="21600000">
            <a:off x="8138667" y="6262115"/>
            <a:ext cx="50800" cy="155448"/>
          </a:xfrm>
          <a:prstGeom prst="rect">
            <a:avLst/>
          </a:prstGeom>
        </p:spPr>
      </p:pic>
      <p:pic>
        <p:nvPicPr>
          <p:cNvPr id="2" name="图片 1"/>
          <p:cNvPicPr>
            <a:picLocks noChangeAspect="1"/>
          </p:cNvPicPr>
          <p:nvPr/>
        </p:nvPicPr>
        <p:blipFill>
          <a:blip r:embed="rId32"/>
          <a:stretch>
            <a:fillRect/>
          </a:stretch>
        </p:blipFill>
        <p:spPr>
          <a:xfrm>
            <a:off x="941070" y="2413635"/>
            <a:ext cx="4575175" cy="179578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6809105" y="1682115"/>
                <a:ext cx="370205" cy="306705"/>
              </a:xfrm>
              <a:prstGeom prst="rect">
                <a:avLst/>
              </a:prstGeom>
              <a:solidFill>
                <a:schemeClr val="bg1"/>
              </a:solid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1400" i="1">
                          <a:latin typeface="Cambria Math" panose="02040503050406030204" charset="0"/>
                          <a:ea typeface="MS Mincho" charset="0"/>
                          <a:cs typeface="Cambria Math" panose="02040503050406030204" charset="0"/>
                        </a:rPr>
                        <m:t>⊕</m:t>
                      </m:r>
                    </m:oMath>
                  </m:oMathPara>
                </a14:m>
                <a:endParaRPr lang="en-US" altLang="zh-CN" sz="1400" i="1">
                  <a:latin typeface="Cambria Math" panose="02040503050406030204" charset="0"/>
                  <a:ea typeface="MS Mincho"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6809105" y="1682115"/>
                <a:ext cx="370205" cy="306705"/>
              </a:xfrm>
              <a:prstGeom prst="rect">
                <a:avLst/>
              </a:prstGeom>
              <a:blipFill rotWithShape="1">
                <a:blip r:embed="rId33"/>
                <a:stretch>
                  <a:fillRect/>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extbox 304"/>
          <p:cNvSpPr/>
          <p:nvPr/>
        </p:nvSpPr>
        <p:spPr>
          <a:xfrm>
            <a:off x="1323571" y="1483223"/>
            <a:ext cx="9344025" cy="3345179"/>
          </a:xfrm>
          <a:prstGeom prst="rect">
            <a:avLst/>
          </a:prstGeom>
        </p:spPr>
        <p:txBody>
          <a:bodyPr vert="horz" wrap="square" lIns="0" tIns="0" rIns="0" bIns="0"/>
          <a:lstStyle/>
          <a:p>
            <a:pPr algn="l" rtl="0" eaLnBrk="0">
              <a:lnSpc>
                <a:spcPct val="69000"/>
              </a:lnSpc>
            </a:pPr>
            <a:endParaRPr lang="en-US" altLang="en-US" sz="100" dirty="0">
              <a:latin typeface="Arial" panose="020B0604020202020204" pitchFamily="34" charset="0"/>
              <a:ea typeface="黑体" panose="02010609060101010101" charset="-122"/>
            </a:endParaRPr>
          </a:p>
          <a:p>
            <a:pPr marL="234950" indent="-222885" algn="l" rtl="0" eaLnBrk="0">
              <a:lnSpc>
                <a:spcPct val="111000"/>
              </a:lnSpc>
            </a:pPr>
            <a:r>
              <a:rPr sz="28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初始置换是将</a:t>
            </a:r>
            <a:r>
              <a:rPr sz="28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64 bit</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明文的位</a:t>
            </a: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置进行置换，</a:t>
            </a:r>
            <a:r>
              <a:rPr sz="28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得到一个乱序的</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64bit</a:t>
            </a:r>
            <a:r>
              <a:rPr sz="2800" kern="0" spc="-2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明文组</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800" dirty="0">
              <a:latin typeface="Arial" panose="020B0604020202020204" pitchFamily="34" charset="0"/>
              <a:ea typeface="黑体" panose="02010609060101010101" charset="-122"/>
            </a:endParaRPr>
          </a:p>
          <a:p>
            <a:pPr marL="247015" indent="-234315" algn="l" rtl="0" eaLnBrk="0">
              <a:lnSpc>
                <a:spcPct val="107000"/>
              </a:lnSpc>
              <a:spcBef>
                <a:spcPts val="1630"/>
              </a:spcBef>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逆初始置换</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IP</a:t>
            </a:r>
            <a:r>
              <a:rPr sz="2800" b="1" kern="0" spc="1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。将</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轮迭代后给出的</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64 </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bit</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组进</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行置换，</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得到输出的密文组。输</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出为阵中元素按行读得的结果。</a:t>
            </a:r>
            <a:endParaRPr lang="en-US" altLang="en-US" sz="2800" dirty="0">
              <a:latin typeface="Arial" panose="020B0604020202020204" pitchFamily="34" charset="0"/>
              <a:ea typeface="黑体" panose="02010609060101010101" charset="-122"/>
            </a:endParaRPr>
          </a:p>
          <a:p>
            <a:pPr algn="l" rtl="0" eaLnBrk="0">
              <a:lnSpc>
                <a:spcPct val="136000"/>
              </a:lnSpc>
            </a:pPr>
            <a:endParaRPr lang="en-US" altLang="en-US" sz="1000" dirty="0">
              <a:latin typeface="Arial" panose="020B0604020202020204" pitchFamily="34" charset="0"/>
              <a:ea typeface="黑体" panose="02010609060101010101" charset="-122"/>
            </a:endParaRPr>
          </a:p>
          <a:p>
            <a:pPr algn="l" rtl="0" eaLnBrk="0">
              <a:lnSpc>
                <a:spcPct val="101000"/>
              </a:lnSpc>
            </a:pPr>
            <a:endParaRPr lang="en-US" altLang="en-US" sz="700" dirty="0">
              <a:latin typeface="Arial" panose="020B0604020202020204" pitchFamily="34" charset="0"/>
              <a:ea typeface="黑体" panose="02010609060101010101" charset="-122"/>
            </a:endParaRPr>
          </a:p>
          <a:p>
            <a:pPr marL="247015" indent="-234315" algn="l" rtl="0" eaLnBrk="0">
              <a:lnSpc>
                <a:spcPct val="110000"/>
              </a:lnSpc>
              <a:spcBef>
                <a:spcPts val="5"/>
              </a:spcBef>
            </a:pPr>
            <a:r>
              <a:rPr sz="2800" kern="0" spc="1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IP</a:t>
            </a:r>
            <a:r>
              <a:rPr sz="2800" kern="0" spc="10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IP</a:t>
            </a:r>
            <a:r>
              <a:rPr sz="2800" b="1" kern="0" spc="10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在密码意义上作用不大，它们的作用在于</a:t>
            </a:r>
            <a:r>
              <a:rPr sz="2800" kern="0" spc="9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打乱原</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来输入</a:t>
            </a:r>
            <a:r>
              <a:rPr sz="28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ASCII</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码字划分的关系。</a:t>
            </a:r>
            <a:endParaRPr lang="en-US" altLang="en-US" sz="2800" dirty="0">
              <a:latin typeface="Arial" panose="020B0604020202020204" pitchFamily="34" charset="0"/>
              <a:ea typeface="黑体" panose="02010609060101010101" charset="-122"/>
            </a:endParaRPr>
          </a:p>
        </p:txBody>
      </p:sp>
      <p:sp>
        <p:nvSpPr>
          <p:cNvPr id="306" name="textbox 306"/>
          <p:cNvSpPr/>
          <p:nvPr/>
        </p:nvSpPr>
        <p:spPr>
          <a:xfrm>
            <a:off x="810260" y="395731"/>
            <a:ext cx="5255895" cy="739775"/>
          </a:xfrm>
          <a:prstGeom prst="rect">
            <a:avLst/>
          </a:prstGeom>
        </p:spPr>
        <p:txBody>
          <a:bodyPr vert="horz" wrap="square" lIns="0" tIns="0" rIns="0" bIns="0"/>
          <a:lstStyle/>
          <a:p>
            <a:pPr algn="l" rtl="0" eaLnBrk="0">
              <a:lnSpc>
                <a:spcPct val="112000"/>
              </a:lnSpc>
            </a:pPr>
            <a:endParaRPr lang="en-US" altLang="en-US" sz="500" dirty="0">
              <a:latin typeface="Arial" panose="020B0604020202020204" pitchFamily="34" charset="0"/>
              <a:ea typeface="黑体" panose="02010609060101010101" charset="-122"/>
            </a:endParaRPr>
          </a:p>
          <a:p>
            <a:pPr marL="12700" algn="l" defTabSz="914400" rtl="0" eaLnBrk="0">
              <a:lnSpc>
                <a:spcPct val="94000"/>
              </a:lnSpc>
              <a:spcBef>
                <a:spcPts val="0"/>
              </a:spcBef>
              <a:buClrTx/>
              <a:buSzTx/>
              <a:buFontTx/>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初始置换</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IP</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与逆初始置换</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pic>
        <p:nvPicPr>
          <p:cNvPr id="308" name="picture 308"/>
          <p:cNvPicPr>
            <a:picLocks noChangeAspect="1"/>
          </p:cNvPicPr>
          <p:nvPr/>
        </p:nvPicPr>
        <p:blipFill>
          <a:blip r:embed="rId1"/>
          <a:stretch>
            <a:fillRect/>
          </a:stretch>
        </p:blipFill>
        <p:spPr>
          <a:xfrm rot="21600000">
            <a:off x="822960" y="408431"/>
            <a:ext cx="420623" cy="655320"/>
          </a:xfrm>
          <a:prstGeom prst="rect">
            <a:avLst/>
          </a:prstGeom>
        </p:spPr>
      </p:pic>
      <p:sp>
        <p:nvSpPr>
          <p:cNvPr id="3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314"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6" name="picture 316"/>
          <p:cNvPicPr>
            <a:picLocks noChangeAspect="1"/>
          </p:cNvPicPr>
          <p:nvPr/>
        </p:nvPicPr>
        <p:blipFill>
          <a:blip r:embed="rId1"/>
          <a:stretch>
            <a:fillRect/>
          </a:stretch>
        </p:blipFill>
        <p:spPr>
          <a:xfrm rot="21600000">
            <a:off x="2667000" y="1438655"/>
            <a:ext cx="5943600" cy="4285488"/>
          </a:xfrm>
          <a:prstGeom prst="rect">
            <a:avLst/>
          </a:prstGeom>
        </p:spPr>
      </p:pic>
      <p:sp>
        <p:nvSpPr>
          <p:cNvPr id="320" name="textbox 320"/>
          <p:cNvSpPr/>
          <p:nvPr/>
        </p:nvSpPr>
        <p:spPr>
          <a:xfrm>
            <a:off x="1571329" y="491245"/>
            <a:ext cx="2039620" cy="483869"/>
          </a:xfrm>
          <a:prstGeom prst="rect">
            <a:avLst/>
          </a:prstGeom>
        </p:spPr>
        <p:txBody>
          <a:bodyPr vert="horz" wrap="square" lIns="0" tIns="0" rIns="0" bIns="0"/>
          <a:lstStyle/>
          <a:p>
            <a:pPr algn="l" rtl="0" eaLnBrk="0">
              <a:lnSpc>
                <a:spcPct val="84000"/>
              </a:lnSpc>
            </a:pPr>
            <a:endParaRPr lang="en-US" altLang="en-US" sz="100" dirty="0">
              <a:latin typeface="Arial" panose="020B0604020202020204" pitchFamily="34" charset="0"/>
              <a:ea typeface="黑体" panose="02010609060101010101" charset="-122"/>
            </a:endParaRPr>
          </a:p>
          <a:p>
            <a:pPr marL="12700" algn="l" rtl="0" eaLnBrk="0">
              <a:lnSpc>
                <a:spcPct val="94000"/>
              </a:lnSpc>
              <a:buClrTx/>
              <a:buSzTx/>
              <a:buFontTx/>
            </a:pP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初值置换</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IP</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32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24" name="picture 324"/>
          <p:cNvPicPr>
            <a:picLocks noChangeAspect="1"/>
          </p:cNvPicPr>
          <p:nvPr/>
        </p:nvPicPr>
        <p:blipFill>
          <a:blip r:embed="rId2"/>
          <a:stretch>
            <a:fillRect/>
          </a:stretch>
        </p:blipFill>
        <p:spPr>
          <a:xfrm rot="21600000">
            <a:off x="822960" y="408431"/>
            <a:ext cx="420623" cy="655320"/>
          </a:xfrm>
          <a:prstGeom prst="rect">
            <a:avLst/>
          </a:prstGeom>
        </p:spPr>
      </p:pic>
      <p:sp>
        <p:nvSpPr>
          <p:cNvPr id="32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8" name="picture 328"/>
          <p:cNvPicPr>
            <a:picLocks noChangeAspect="1"/>
          </p:cNvPicPr>
          <p:nvPr/>
        </p:nvPicPr>
        <p:blipFill>
          <a:blip r:embed="rId1"/>
          <a:stretch>
            <a:fillRect/>
          </a:stretch>
        </p:blipFill>
        <p:spPr>
          <a:xfrm rot="21600000">
            <a:off x="2971800" y="1219200"/>
            <a:ext cx="5044440" cy="4099559"/>
          </a:xfrm>
          <a:prstGeom prst="rect">
            <a:avLst/>
          </a:prstGeom>
        </p:spPr>
      </p:pic>
      <p:sp>
        <p:nvSpPr>
          <p:cNvPr id="330" name="textbox 330"/>
          <p:cNvSpPr/>
          <p:nvPr/>
        </p:nvSpPr>
        <p:spPr>
          <a:xfrm>
            <a:off x="1577815" y="491245"/>
            <a:ext cx="2716529" cy="483869"/>
          </a:xfrm>
          <a:prstGeom prst="rect">
            <a:avLst/>
          </a:prstGeom>
        </p:spPr>
        <p:txBody>
          <a:bodyPr vert="horz" wrap="square" lIns="0" tIns="0" rIns="0" bIns="0"/>
          <a:lstStyle/>
          <a:p>
            <a:pPr algn="l" rtl="0" eaLnBrk="0">
              <a:lnSpc>
                <a:spcPct val="84000"/>
              </a:lnSpc>
            </a:pPr>
            <a:endParaRPr lang="en-US" altLang="en-US" sz="100" dirty="0">
              <a:latin typeface="Arial" panose="020B0604020202020204" pitchFamily="34" charset="0"/>
              <a:ea typeface="黑体" panose="02010609060101010101" charset="-122"/>
            </a:endParaRPr>
          </a:p>
          <a:p>
            <a:pPr marL="12700" algn="l" rtl="0" eaLnBrk="0">
              <a:lnSpc>
                <a:spcPct val="94000"/>
              </a:lnSpc>
              <a:buClrTx/>
              <a:buSzTx/>
              <a:buFontTx/>
            </a:pP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逆初值置换</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IP</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-1</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33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36" name="picture 336"/>
          <p:cNvPicPr>
            <a:picLocks noChangeAspect="1"/>
          </p:cNvPicPr>
          <p:nvPr/>
        </p:nvPicPr>
        <p:blipFill>
          <a:blip r:embed="rId2"/>
          <a:stretch>
            <a:fillRect/>
          </a:stretch>
        </p:blipFill>
        <p:spPr>
          <a:xfrm rot="21600000">
            <a:off x="822960" y="408431"/>
            <a:ext cx="420623" cy="655320"/>
          </a:xfrm>
          <a:prstGeom prst="rect">
            <a:avLst/>
          </a:prstGeom>
        </p:spPr>
      </p:pic>
      <p:sp>
        <p:nvSpPr>
          <p:cNvPr id="338"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0" name="picture 340"/>
          <p:cNvPicPr>
            <a:picLocks noChangeAspect="1"/>
          </p:cNvPicPr>
          <p:nvPr/>
        </p:nvPicPr>
        <p:blipFill>
          <a:blip r:embed="rId1"/>
          <a:stretch>
            <a:fillRect/>
          </a:stretch>
        </p:blipFill>
        <p:spPr>
          <a:xfrm rot="21600000">
            <a:off x="2023872" y="1219200"/>
            <a:ext cx="2569463" cy="2337816"/>
          </a:xfrm>
          <a:prstGeom prst="rect">
            <a:avLst/>
          </a:prstGeom>
        </p:spPr>
      </p:pic>
      <p:pic>
        <p:nvPicPr>
          <p:cNvPr id="342" name="picture 342"/>
          <p:cNvPicPr>
            <a:picLocks noChangeAspect="1"/>
          </p:cNvPicPr>
          <p:nvPr/>
        </p:nvPicPr>
        <p:blipFill>
          <a:blip r:embed="rId2"/>
          <a:stretch>
            <a:fillRect/>
          </a:stretch>
        </p:blipFill>
        <p:spPr>
          <a:xfrm rot="21600000">
            <a:off x="3255898" y="1402080"/>
            <a:ext cx="4860925" cy="1825751"/>
          </a:xfrm>
          <a:prstGeom prst="rect">
            <a:avLst/>
          </a:prstGeom>
        </p:spPr>
      </p:pic>
      <p:sp>
        <p:nvSpPr>
          <p:cNvPr id="344" name="path"/>
          <p:cNvSpPr/>
          <p:nvPr/>
        </p:nvSpPr>
        <p:spPr>
          <a:xfrm>
            <a:off x="7257288" y="1575816"/>
            <a:ext cx="310896" cy="310895"/>
          </a:xfrm>
          <a:custGeom>
            <a:avLst/>
            <a:gdLst/>
            <a:ahLst/>
            <a:cxnLst/>
            <a:rect l="0" t="0" r="0" b="0"/>
            <a:pathLst>
              <a:path w="489" h="489">
                <a:moveTo>
                  <a:pt x="21" y="467"/>
                </a:moveTo>
                <a:lnTo>
                  <a:pt x="468" y="467"/>
                </a:lnTo>
                <a:lnTo>
                  <a:pt x="468" y="21"/>
                </a:lnTo>
                <a:lnTo>
                  <a:pt x="21" y="21"/>
                </a:lnTo>
                <a:lnTo>
                  <a:pt x="21" y="467"/>
                </a:lnTo>
                <a:close/>
              </a:path>
            </a:pathLst>
          </a:custGeom>
          <a:noFill/>
          <a:ln w="27431" cap="flat">
            <a:solidFill>
              <a:srgbClr val="0000FF">
                <a:alpha val="100000"/>
              </a:srgbClr>
            </a:solidFill>
            <a:prstDash val="solid"/>
            <a:miter lim="1000000"/>
          </a:ln>
        </p:spPr>
        <p:txBody>
          <a:bodyPr rtlCol="0"/>
          <a:lstStyle/>
          <a:p>
            <a:pPr algn="ctr"/>
            <a:endParaRPr lang="zh-CN" altLang="en-US"/>
          </a:p>
        </p:txBody>
      </p:sp>
      <p:grpSp>
        <p:nvGrpSpPr>
          <p:cNvPr id="24" name="group 24"/>
          <p:cNvGrpSpPr/>
          <p:nvPr/>
        </p:nvGrpSpPr>
        <p:grpSpPr>
          <a:xfrm rot="21600000">
            <a:off x="4719828" y="2174549"/>
            <a:ext cx="993819" cy="497220"/>
            <a:chOff x="0" y="0"/>
            <a:chExt cx="993819" cy="497220"/>
          </a:xfrm>
        </p:grpSpPr>
        <p:sp>
          <p:nvSpPr>
            <p:cNvPr id="346" name="path"/>
            <p:cNvSpPr/>
            <p:nvPr/>
          </p:nvSpPr>
          <p:spPr>
            <a:xfrm>
              <a:off x="0" y="3246"/>
              <a:ext cx="990600" cy="490728"/>
            </a:xfrm>
            <a:custGeom>
              <a:avLst/>
              <a:gdLst/>
              <a:ahLst/>
              <a:cxnLst/>
              <a:rect l="0" t="0" r="0" b="0"/>
              <a:pathLst>
                <a:path w="1560" h="772">
                  <a:moveTo>
                    <a:pt x="0" y="193"/>
                  </a:moveTo>
                  <a:lnTo>
                    <a:pt x="1170" y="193"/>
                  </a:lnTo>
                  <a:lnTo>
                    <a:pt x="1170" y="0"/>
                  </a:lnTo>
                  <a:lnTo>
                    <a:pt x="1560" y="386"/>
                  </a:lnTo>
                  <a:lnTo>
                    <a:pt x="1170" y="772"/>
                  </a:lnTo>
                  <a:lnTo>
                    <a:pt x="1170" y="579"/>
                  </a:lnTo>
                  <a:lnTo>
                    <a:pt x="0" y="579"/>
                  </a:lnTo>
                  <a:lnTo>
                    <a:pt x="0" y="193"/>
                  </a:lnTo>
                  <a:close/>
                </a:path>
              </a:pathLst>
            </a:custGeom>
            <a:solidFill>
              <a:srgbClr val="5B9BD5">
                <a:alpha val="100000"/>
              </a:srgbClr>
            </a:solidFill>
            <a:ln cap="flat">
              <a:noFill/>
              <a:prstDash val="solid"/>
              <a:miter lim="0"/>
            </a:ln>
          </p:spPr>
          <p:txBody>
            <a:bodyPr rtlCol="0"/>
            <a:lstStyle/>
            <a:p>
              <a:pPr algn="ctr"/>
              <a:endParaRPr lang="zh-CN" altLang="en-US"/>
            </a:p>
          </p:txBody>
        </p:sp>
        <p:sp>
          <p:nvSpPr>
            <p:cNvPr id="348" name="path"/>
            <p:cNvSpPr/>
            <p:nvPr/>
          </p:nvSpPr>
          <p:spPr>
            <a:xfrm>
              <a:off x="739984" y="0"/>
              <a:ext cx="253835" cy="497220"/>
            </a:xfrm>
            <a:custGeom>
              <a:avLst/>
              <a:gdLst/>
              <a:ahLst/>
              <a:cxnLst/>
              <a:rect l="0" t="0" r="0" b="0"/>
              <a:pathLst>
                <a:path w="399" h="783">
                  <a:moveTo>
                    <a:pt x="5" y="5"/>
                  </a:moveTo>
                  <a:lnTo>
                    <a:pt x="394" y="391"/>
                  </a:lnTo>
                  <a:lnTo>
                    <a:pt x="5" y="777"/>
                  </a:lnTo>
                </a:path>
              </a:pathLst>
            </a:custGeom>
            <a:noFill/>
            <a:ln w="9143" cap="flat">
              <a:solidFill>
                <a:srgbClr val="000000">
                  <a:alpha val="100000"/>
                </a:srgbClr>
              </a:solidFill>
              <a:prstDash val="solid"/>
              <a:miter lim="1000000"/>
            </a:ln>
          </p:spPr>
          <p:txBody>
            <a:bodyPr rtlCol="0"/>
            <a:lstStyle/>
            <a:p>
              <a:pPr algn="ctr"/>
              <a:endParaRPr lang="zh-CN" altLang="en-US"/>
            </a:p>
          </p:txBody>
        </p:sp>
      </p:grpSp>
      <p:grpSp>
        <p:nvGrpSpPr>
          <p:cNvPr id="26" name="group 26"/>
          <p:cNvGrpSpPr/>
          <p:nvPr/>
        </p:nvGrpSpPr>
        <p:grpSpPr>
          <a:xfrm rot="21600000">
            <a:off x="4792979" y="4137462"/>
            <a:ext cx="993819" cy="500268"/>
            <a:chOff x="0" y="0"/>
            <a:chExt cx="993819" cy="500268"/>
          </a:xfrm>
        </p:grpSpPr>
        <p:sp>
          <p:nvSpPr>
            <p:cNvPr id="350" name="path"/>
            <p:cNvSpPr/>
            <p:nvPr/>
          </p:nvSpPr>
          <p:spPr>
            <a:xfrm>
              <a:off x="0" y="3246"/>
              <a:ext cx="990600" cy="493775"/>
            </a:xfrm>
            <a:custGeom>
              <a:avLst/>
              <a:gdLst/>
              <a:ahLst/>
              <a:cxnLst/>
              <a:rect l="0" t="0" r="0" b="0"/>
              <a:pathLst>
                <a:path w="1560" h="777">
                  <a:moveTo>
                    <a:pt x="0" y="194"/>
                  </a:moveTo>
                  <a:lnTo>
                    <a:pt x="1167" y="194"/>
                  </a:lnTo>
                  <a:lnTo>
                    <a:pt x="1167" y="0"/>
                  </a:lnTo>
                  <a:lnTo>
                    <a:pt x="1560" y="388"/>
                  </a:lnTo>
                  <a:lnTo>
                    <a:pt x="1167" y="777"/>
                  </a:lnTo>
                  <a:lnTo>
                    <a:pt x="1167" y="583"/>
                  </a:lnTo>
                  <a:lnTo>
                    <a:pt x="0" y="583"/>
                  </a:lnTo>
                  <a:lnTo>
                    <a:pt x="0" y="194"/>
                  </a:lnTo>
                  <a:close/>
                </a:path>
              </a:pathLst>
            </a:custGeom>
            <a:solidFill>
              <a:srgbClr val="5B9BD5">
                <a:alpha val="100000"/>
              </a:srgbClr>
            </a:solidFill>
            <a:ln cap="flat">
              <a:noFill/>
              <a:prstDash val="solid"/>
              <a:miter lim="0"/>
            </a:ln>
          </p:spPr>
          <p:txBody>
            <a:bodyPr rtlCol="0"/>
            <a:lstStyle/>
            <a:p>
              <a:pPr algn="ctr"/>
              <a:endParaRPr lang="zh-CN" altLang="en-US"/>
            </a:p>
          </p:txBody>
        </p:sp>
        <p:sp>
          <p:nvSpPr>
            <p:cNvPr id="352" name="path"/>
            <p:cNvSpPr/>
            <p:nvPr/>
          </p:nvSpPr>
          <p:spPr>
            <a:xfrm>
              <a:off x="738460" y="0"/>
              <a:ext cx="255359" cy="500268"/>
            </a:xfrm>
            <a:custGeom>
              <a:avLst/>
              <a:gdLst/>
              <a:ahLst/>
              <a:cxnLst/>
              <a:rect l="0" t="0" r="0" b="0"/>
              <a:pathLst>
                <a:path w="402" h="787">
                  <a:moveTo>
                    <a:pt x="5" y="5"/>
                  </a:moveTo>
                  <a:lnTo>
                    <a:pt x="397" y="393"/>
                  </a:lnTo>
                  <a:lnTo>
                    <a:pt x="5" y="782"/>
                  </a:lnTo>
                </a:path>
              </a:pathLst>
            </a:custGeom>
            <a:noFill/>
            <a:ln w="9143" cap="flat">
              <a:solidFill>
                <a:srgbClr val="000000">
                  <a:alpha val="100000"/>
                </a:srgbClr>
              </a:solidFill>
              <a:prstDash val="solid"/>
              <a:miter lim="1000000"/>
            </a:ln>
          </p:spPr>
          <p:txBody>
            <a:bodyPr rtlCol="0"/>
            <a:lstStyle/>
            <a:p>
              <a:pPr algn="ctr"/>
              <a:endParaRPr lang="zh-CN" altLang="en-US"/>
            </a:p>
          </p:txBody>
        </p:sp>
      </p:grpSp>
      <p:sp>
        <p:nvSpPr>
          <p:cNvPr id="354" name="rect"/>
          <p:cNvSpPr/>
          <p:nvPr/>
        </p:nvSpPr>
        <p:spPr>
          <a:xfrm>
            <a:off x="5530088" y="4140708"/>
            <a:ext cx="9143" cy="123444"/>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356" name="picture 356"/>
          <p:cNvPicPr>
            <a:picLocks noChangeAspect="1"/>
          </p:cNvPicPr>
          <p:nvPr/>
        </p:nvPicPr>
        <p:blipFill>
          <a:blip r:embed="rId3"/>
          <a:stretch>
            <a:fillRect/>
          </a:stretch>
        </p:blipFill>
        <p:spPr>
          <a:xfrm rot="21600000">
            <a:off x="2023872" y="3627119"/>
            <a:ext cx="2651760" cy="2407920"/>
          </a:xfrm>
          <a:prstGeom prst="rect">
            <a:avLst/>
          </a:prstGeom>
        </p:spPr>
      </p:pic>
      <p:sp>
        <p:nvSpPr>
          <p:cNvPr id="358" name="rect"/>
          <p:cNvSpPr/>
          <p:nvPr/>
        </p:nvSpPr>
        <p:spPr>
          <a:xfrm>
            <a:off x="5458460" y="2177796"/>
            <a:ext cx="9143" cy="122682"/>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360" name="rect"/>
          <p:cNvSpPr/>
          <p:nvPr/>
        </p:nvSpPr>
        <p:spPr>
          <a:xfrm>
            <a:off x="5458460" y="2545841"/>
            <a:ext cx="9143" cy="122682"/>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362" name="picture 362"/>
          <p:cNvPicPr>
            <a:picLocks noChangeAspect="1"/>
          </p:cNvPicPr>
          <p:nvPr/>
        </p:nvPicPr>
        <p:blipFill>
          <a:blip r:embed="rId4"/>
          <a:stretch>
            <a:fillRect/>
          </a:stretch>
        </p:blipFill>
        <p:spPr>
          <a:xfrm rot="21600000">
            <a:off x="5782055" y="3438144"/>
            <a:ext cx="2270760" cy="1929383"/>
          </a:xfrm>
          <a:prstGeom prst="rect">
            <a:avLst/>
          </a:prstGeom>
        </p:spPr>
      </p:pic>
      <p:sp>
        <p:nvSpPr>
          <p:cNvPr id="364" name="path"/>
          <p:cNvSpPr/>
          <p:nvPr/>
        </p:nvSpPr>
        <p:spPr>
          <a:xfrm>
            <a:off x="6592823" y="3916680"/>
            <a:ext cx="310896" cy="307848"/>
          </a:xfrm>
          <a:custGeom>
            <a:avLst/>
            <a:gdLst/>
            <a:ahLst/>
            <a:cxnLst/>
            <a:rect l="0" t="0" r="0" b="0"/>
            <a:pathLst>
              <a:path w="489" h="484">
                <a:moveTo>
                  <a:pt x="21" y="463"/>
                </a:moveTo>
                <a:lnTo>
                  <a:pt x="468" y="463"/>
                </a:lnTo>
                <a:lnTo>
                  <a:pt x="468" y="21"/>
                </a:lnTo>
                <a:lnTo>
                  <a:pt x="21" y="21"/>
                </a:lnTo>
                <a:lnTo>
                  <a:pt x="21" y="463"/>
                </a:lnTo>
                <a:close/>
              </a:path>
            </a:pathLst>
          </a:custGeom>
          <a:noFill/>
          <a:ln w="27431" cap="flat">
            <a:solidFill>
              <a:srgbClr val="FF0000">
                <a:alpha val="100000"/>
              </a:srgbClr>
            </a:solidFill>
            <a:prstDash val="solid"/>
            <a:miter lim="1000000"/>
          </a:ln>
        </p:spPr>
        <p:txBody>
          <a:bodyPr rtlCol="0"/>
          <a:lstStyle/>
          <a:p>
            <a:pPr algn="ctr"/>
            <a:endParaRPr lang="zh-CN" altLang="en-US"/>
          </a:p>
        </p:txBody>
      </p:sp>
      <p:pic>
        <p:nvPicPr>
          <p:cNvPr id="366" name="picture 366"/>
          <p:cNvPicPr>
            <a:picLocks noChangeAspect="1"/>
          </p:cNvPicPr>
          <p:nvPr/>
        </p:nvPicPr>
        <p:blipFill>
          <a:blip r:embed="rId5"/>
          <a:stretch>
            <a:fillRect/>
          </a:stretch>
        </p:blipFill>
        <p:spPr>
          <a:xfrm rot="21600000">
            <a:off x="3194430" y="1812670"/>
            <a:ext cx="4080890" cy="2631186"/>
          </a:xfrm>
          <a:prstGeom prst="rect">
            <a:avLst/>
          </a:prstGeom>
        </p:spPr>
      </p:pic>
      <p:sp>
        <p:nvSpPr>
          <p:cNvPr id="370" name="textbox 370"/>
          <p:cNvSpPr/>
          <p:nvPr/>
        </p:nvSpPr>
        <p:spPr>
          <a:xfrm>
            <a:off x="1581150" y="491490"/>
            <a:ext cx="2200910" cy="48895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ct val="94000"/>
              </a:lnSpc>
              <a:buClrTx/>
              <a:buSzTx/>
              <a:buFontTx/>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IP</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与</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IP</a:t>
            </a:r>
            <a:r>
              <a:rPr sz="3100" kern="0" baseline="30000" dirty="0">
                <a:solidFill>
                  <a:srgbClr val="1F4E79">
                    <a:alpha val="100000"/>
                  </a:srgbClr>
                </a:solidFill>
                <a:latin typeface="Arial" panose="020B0604020202020204" pitchFamily="34" charset="0"/>
                <a:ea typeface="黑体" panose="02010609060101010101" charset="-122"/>
                <a:cs typeface="仿宋" panose="02010609060101010101" charset="-122"/>
              </a:rPr>
              <a:t>-1</a:t>
            </a:r>
            <a:endParaRPr sz="3100" kern="0" baseline="3000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372" name="textbox 372"/>
          <p:cNvSpPr/>
          <p:nvPr/>
        </p:nvSpPr>
        <p:spPr>
          <a:xfrm>
            <a:off x="8437245" y="1910080"/>
            <a:ext cx="2138045" cy="409575"/>
          </a:xfrm>
          <a:prstGeom prst="rect">
            <a:avLst/>
          </a:prstGeom>
        </p:spPr>
        <p:txBody>
          <a:bodyPr vert="horz" wrap="square" lIns="0" tIns="0" rIns="0" bIns="0"/>
          <a:lstStyle/>
          <a:p>
            <a:pPr algn="l" rtl="0" eaLnBrk="0">
              <a:lnSpc>
                <a:spcPct val="91000"/>
              </a:lnSpc>
            </a:pPr>
            <a:endParaRPr lang="en-US" altLang="en-US" sz="100" dirty="0">
              <a:latin typeface="Arial" panose="020B0604020202020204" pitchFamily="34" charset="0"/>
              <a:ea typeface="黑体" panose="02010609060101010101" charset="-122"/>
            </a:endParaRPr>
          </a:p>
          <a:p>
            <a:pPr marL="12700" algn="l" rtl="0" eaLnBrk="0">
              <a:lnSpc>
                <a:spcPct val="99000"/>
              </a:lnSpc>
            </a:pPr>
            <a:r>
              <a:rPr sz="3900" i="1" kern="0" spc="100" baseline="4000" dirty="0">
                <a:solidFill>
                  <a:srgbClr val="000000">
                    <a:alpha val="100000"/>
                  </a:srgbClr>
                </a:solidFill>
                <a:latin typeface="Arial" panose="020B0604020202020204" pitchFamily="34" charset="0"/>
                <a:ea typeface="黑体" panose="02010609060101010101" charset="-122"/>
                <a:cs typeface="Times New Roman" panose="02020603050405020304"/>
              </a:rPr>
              <a:t>M</a:t>
            </a:r>
            <a:r>
              <a:rPr sz="2200" kern="0" spc="10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20</a:t>
            </a:r>
            <a:r>
              <a:rPr sz="14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900" i="1" kern="0" spc="100" baseline="4000" dirty="0">
                <a:solidFill>
                  <a:srgbClr val="000000">
                    <a:alpha val="100000"/>
                  </a:srgbClr>
                </a:solidFill>
                <a:latin typeface="Arial" panose="020B0604020202020204" pitchFamily="34" charset="0"/>
                <a:ea typeface="黑体" panose="02010609060101010101" charset="-122"/>
                <a:cs typeface="Times New Roman" panose="02020603050405020304"/>
              </a:rPr>
              <a:t>M</a:t>
            </a:r>
            <a:r>
              <a:rPr sz="2500" i="1" kern="0" spc="-2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900" kern="0" spc="100" baseline="40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200" kern="0" spc="10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2200" baseline="-21000" dirty="0">
              <a:latin typeface="Arial" panose="020B0604020202020204" pitchFamily="34" charset="0"/>
              <a:ea typeface="黑体" panose="02010609060101010101" charset="-122"/>
            </a:endParaRPr>
          </a:p>
        </p:txBody>
      </p:sp>
      <p:pic>
        <p:nvPicPr>
          <p:cNvPr id="374" name="picture 374"/>
          <p:cNvPicPr>
            <a:picLocks noChangeAspect="1"/>
          </p:cNvPicPr>
          <p:nvPr/>
        </p:nvPicPr>
        <p:blipFill>
          <a:blip r:embed="rId6"/>
          <a:stretch>
            <a:fillRect/>
          </a:stretch>
        </p:blipFill>
        <p:spPr>
          <a:xfrm rot="21600000">
            <a:off x="9039840" y="1922486"/>
            <a:ext cx="307533" cy="293185"/>
          </a:xfrm>
          <a:prstGeom prst="rect">
            <a:avLst/>
          </a:prstGeom>
        </p:spPr>
      </p:pic>
      <p:sp>
        <p:nvSpPr>
          <p:cNvPr id="376" name="textbox 376"/>
          <p:cNvSpPr/>
          <p:nvPr/>
        </p:nvSpPr>
        <p:spPr>
          <a:xfrm>
            <a:off x="8434070" y="3949700"/>
            <a:ext cx="1847215" cy="40386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algn="r" rtl="0" eaLnBrk="0">
              <a:lnSpc>
                <a:spcPts val="2975"/>
              </a:lnSpc>
            </a:pPr>
            <a:r>
              <a:rPr sz="3500" i="1" kern="0" spc="-30" baseline="8000" dirty="0">
                <a:solidFill>
                  <a:srgbClr val="000000">
                    <a:alpha val="100000"/>
                  </a:srgbClr>
                </a:solidFill>
                <a:latin typeface="Arial" panose="020B0604020202020204" pitchFamily="34" charset="0"/>
                <a:ea typeface="黑体" panose="02010609060101010101" charset="-122"/>
                <a:cs typeface="Times New Roman" panose="02020603050405020304"/>
              </a:rPr>
              <a:t>M</a:t>
            </a:r>
            <a:r>
              <a:rPr sz="2200" i="1" kern="0" spc="-2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500" kern="0" spc="-30" baseline="80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900" kern="0" spc="-30" baseline="-1800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12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500" i="1" kern="0" spc="-40" baseline="8000" dirty="0">
                <a:solidFill>
                  <a:srgbClr val="000000">
                    <a:alpha val="100000"/>
                  </a:srgbClr>
                </a:solidFill>
                <a:latin typeface="Arial" panose="020B0604020202020204" pitchFamily="34" charset="0"/>
                <a:ea typeface="黑体" panose="02010609060101010101" charset="-122"/>
                <a:cs typeface="Times New Roman" panose="02020603050405020304"/>
              </a:rPr>
              <a:t>M</a:t>
            </a:r>
            <a:r>
              <a:rPr sz="2200" i="1" kern="0" spc="-2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500" kern="0" spc="-110" baseline="80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1900" kern="0" spc="-40" baseline="-18000" dirty="0">
                <a:solidFill>
                  <a:srgbClr val="000000">
                    <a:alpha val="100000"/>
                  </a:srgbClr>
                </a:solidFill>
                <a:latin typeface="Arial" panose="020B0604020202020204" pitchFamily="34" charset="0"/>
                <a:ea typeface="黑体" panose="02010609060101010101" charset="-122"/>
                <a:cs typeface="Times New Roman" panose="02020603050405020304"/>
              </a:rPr>
              <a:t>20</a:t>
            </a:r>
            <a:endParaRPr lang="en-US" altLang="en-US" sz="1900" baseline="-18000" dirty="0">
              <a:latin typeface="Arial" panose="020B0604020202020204" pitchFamily="34" charset="0"/>
              <a:ea typeface="黑体" panose="02010609060101010101" charset="-122"/>
            </a:endParaRPr>
          </a:p>
        </p:txBody>
      </p:sp>
      <p:pic>
        <p:nvPicPr>
          <p:cNvPr id="378" name="picture 378"/>
          <p:cNvPicPr>
            <a:picLocks noChangeAspect="1"/>
          </p:cNvPicPr>
          <p:nvPr/>
        </p:nvPicPr>
        <p:blipFill>
          <a:blip r:embed="rId7"/>
          <a:stretch>
            <a:fillRect/>
          </a:stretch>
        </p:blipFill>
        <p:spPr>
          <a:xfrm rot="21600000">
            <a:off x="9415145" y="3964305"/>
            <a:ext cx="319405" cy="295275"/>
          </a:xfrm>
          <a:prstGeom prst="rect">
            <a:avLst/>
          </a:prstGeom>
        </p:spPr>
      </p:pic>
      <p:sp>
        <p:nvSpPr>
          <p:cNvPr id="38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82" name="picture 382"/>
          <p:cNvPicPr>
            <a:picLocks noChangeAspect="1"/>
          </p:cNvPicPr>
          <p:nvPr/>
        </p:nvPicPr>
        <p:blipFill>
          <a:blip r:embed="rId8"/>
          <a:stretch>
            <a:fillRect/>
          </a:stretch>
        </p:blipFill>
        <p:spPr>
          <a:xfrm rot="21600000">
            <a:off x="822960" y="408431"/>
            <a:ext cx="420623" cy="655320"/>
          </a:xfrm>
          <a:prstGeom prst="rect">
            <a:avLst/>
          </a:prstGeom>
        </p:spPr>
      </p:pic>
      <p:sp>
        <p:nvSpPr>
          <p:cNvPr id="38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graphicFrame>
        <p:nvGraphicFramePr>
          <p:cNvPr id="386" name="table 386"/>
          <p:cNvGraphicFramePr>
            <a:graphicFrameLocks noGrp="1"/>
          </p:cNvGraphicFramePr>
          <p:nvPr/>
        </p:nvGraphicFramePr>
        <p:xfrm>
          <a:off x="4788408" y="4259580"/>
          <a:ext cx="746125" cy="255904"/>
        </p:xfrm>
        <a:graphic>
          <a:graphicData uri="http://schemas.openxmlformats.org/drawingml/2006/table">
            <a:tbl>
              <a:tblPr/>
              <a:tblGrid>
                <a:gridCol w="746125"/>
              </a:tblGrid>
              <a:tr h="249554">
                <a:tc>
                  <a:txBody>
                    <a:bodyPr/>
                    <a:lstStyle/>
                    <a:p>
                      <a:pPr algn="l" rtl="0" eaLnBrk="0">
                        <a:lnSpc>
                          <a:spcPct val="192000"/>
                        </a:lnSpc>
                      </a:pPr>
                      <a:endParaRPr lang="en-US" altLang="en-US" sz="100" dirty="0">
                        <a:latin typeface="Arial" panose="020B0604020202020204" pitchFamily="34" charset="0"/>
                        <a:ea typeface="黑体" panose="02010609060101010101" charset="-122"/>
                      </a:endParaRPr>
                    </a:p>
                    <a:p>
                      <a:pPr marL="231775" algn="l" rtl="0" eaLnBrk="0">
                        <a:lnSpc>
                          <a:spcPct val="85000"/>
                        </a:lnSpc>
                        <a:spcBef>
                          <a:spcPts val="0"/>
                        </a:spcBef>
                      </a:pPr>
                      <a:r>
                        <a:rPr sz="1700" kern="0" spc="-10" dirty="0">
                          <a:solidFill>
                            <a:srgbClr val="000000">
                              <a:alpha val="100000"/>
                            </a:srgbClr>
                          </a:solidFill>
                          <a:latin typeface="Arial" panose="020B0604020202020204" pitchFamily="34" charset="0"/>
                          <a:ea typeface="黑体" panose="02010609060101010101" charset="-122"/>
                          <a:cs typeface="Comic Sans MS" panose="030F0702030302020204"/>
                        </a:rPr>
                        <a:t>IP</a:t>
                      </a:r>
                      <a:r>
                        <a:rPr sz="1700" kern="0" spc="-10" baseline="25000" dirty="0">
                          <a:solidFill>
                            <a:srgbClr val="000000">
                              <a:alpha val="100000"/>
                            </a:srgbClr>
                          </a:solidFill>
                          <a:latin typeface="Arial" panose="020B0604020202020204" pitchFamily="34" charset="0"/>
                          <a:ea typeface="黑体" panose="02010609060101010101" charset="-122"/>
                          <a:cs typeface="Comic Sans MS" panose="030F0702030302020204"/>
                        </a:rPr>
                        <a:t>—</a:t>
                      </a:r>
                      <a:r>
                        <a:rPr sz="1100" kern="0" spc="-250" dirty="0">
                          <a:solidFill>
                            <a:srgbClr val="000000">
                              <a:alpha val="100000"/>
                            </a:srgbClr>
                          </a:solidFill>
                          <a:latin typeface="Arial" panose="020B0604020202020204" pitchFamily="34" charset="0"/>
                          <a:ea typeface="黑体" panose="02010609060101010101" charset="-122"/>
                          <a:cs typeface="Comic Sans MS" panose="030F0702030302020204"/>
                        </a:rPr>
                        <a:t> </a:t>
                      </a:r>
                      <a:r>
                        <a:rPr sz="1700" kern="0" spc="-10" baseline="25000" dirty="0">
                          <a:solidFill>
                            <a:srgbClr val="000000">
                              <a:alpha val="100000"/>
                            </a:srgbClr>
                          </a:solidFill>
                          <a:latin typeface="Arial" panose="020B0604020202020204" pitchFamily="34" charset="0"/>
                          <a:ea typeface="黑体" panose="02010609060101010101" charset="-122"/>
                          <a:cs typeface="Comic Sans MS" panose="030F0702030302020204"/>
                        </a:rPr>
                        <a:t>1</a:t>
                      </a:r>
                      <a:endParaRPr lang="en-US" altLang="en-US" sz="1700" baseline="25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88" name="table 388"/>
          <p:cNvGraphicFramePr>
            <a:graphicFrameLocks noGrp="1"/>
          </p:cNvGraphicFramePr>
          <p:nvPr/>
        </p:nvGraphicFramePr>
        <p:xfrm>
          <a:off x="4715256" y="2295906"/>
          <a:ext cx="747395" cy="254000"/>
        </p:xfrm>
        <a:graphic>
          <a:graphicData uri="http://schemas.openxmlformats.org/drawingml/2006/table">
            <a:tbl>
              <a:tblPr/>
              <a:tblGrid>
                <a:gridCol w="747395"/>
              </a:tblGrid>
              <a:tr h="247650">
                <a:tc>
                  <a:txBody>
                    <a:bodyPr/>
                    <a:lstStyle/>
                    <a:p>
                      <a:pPr algn="l" rtl="0" eaLnBrk="0">
                        <a:lnSpc>
                          <a:spcPct val="122000"/>
                        </a:lnSpc>
                      </a:pPr>
                      <a:endParaRPr lang="en-US" altLang="en-US" sz="200" dirty="0">
                        <a:latin typeface="Arial" panose="020B0604020202020204" pitchFamily="34" charset="0"/>
                        <a:ea typeface="黑体" panose="02010609060101010101" charset="-122"/>
                      </a:endParaRPr>
                    </a:p>
                    <a:p>
                      <a:pPr marL="321945" algn="l" rtl="0" eaLnBrk="0">
                        <a:lnSpc>
                          <a:spcPct val="69000"/>
                        </a:lnSpc>
                        <a:spcBef>
                          <a:spcPts val="0"/>
                        </a:spcBef>
                      </a:pPr>
                      <a:r>
                        <a:rPr sz="2000" kern="0" spc="-20" dirty="0">
                          <a:solidFill>
                            <a:srgbClr val="000000">
                              <a:alpha val="100000"/>
                            </a:srgbClr>
                          </a:solidFill>
                          <a:latin typeface="Arial" panose="020B0604020202020204" pitchFamily="34" charset="0"/>
                          <a:ea typeface="黑体" panose="02010609060101010101" charset="-122"/>
                          <a:cs typeface="Verdana" panose="020B0604030504040204"/>
                        </a:rPr>
                        <a:t>IP</a:t>
                      </a:r>
                      <a:endParaRPr lang="en-US" altLang="en-US" sz="2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90" name="rect"/>
          <p:cNvSpPr/>
          <p:nvPr/>
        </p:nvSpPr>
        <p:spPr>
          <a:xfrm>
            <a:off x="5530088" y="4511040"/>
            <a:ext cx="9143" cy="123444"/>
          </a:xfrm>
          <a:prstGeom prst="rect">
            <a:avLst/>
          </a:prstGeom>
          <a:solidFill>
            <a:srgbClr val="000000">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p:cNvSpPr/>
          <p:nvPr/>
        </p:nvSpPr>
        <p:spPr>
          <a:xfrm>
            <a:off x="588263" y="408432"/>
            <a:ext cx="10460735" cy="606552"/>
          </a:xfrm>
          <a:prstGeom prst="rect">
            <a:avLst/>
          </a:prstGeom>
          <a:solidFill>
            <a:srgbClr val="C7DDF0">
              <a:alpha val="100000"/>
            </a:srgbClr>
          </a:solidFill>
          <a:ln cap="flat">
            <a:noFill/>
            <a:prstDash val="solid"/>
            <a:miter lim="0"/>
          </a:ln>
        </p:spPr>
        <p:txBody>
          <a:bodyPr rtlCol="0"/>
          <a:lstStyle/>
          <a:p>
            <a:pPr algn="ctr"/>
            <a:endParaRPr lang="zh-CN" altLang="en-US"/>
          </a:p>
        </p:txBody>
      </p:sp>
      <p:sp>
        <p:nvSpPr>
          <p:cNvPr id="4" name="textbox 4"/>
          <p:cNvSpPr/>
          <p:nvPr/>
        </p:nvSpPr>
        <p:spPr>
          <a:xfrm>
            <a:off x="2461598" y="3209866"/>
            <a:ext cx="7320280" cy="53594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sz="36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3600" kern="0" spc="-1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DES的轮函数及密钥编排</a:t>
            </a:r>
            <a:endParaRPr lang="en-US" altLang="en-US" sz="3600" dirty="0">
              <a:latin typeface="Arial" panose="020B0604020202020204" pitchFamily="34" charset="0"/>
              <a:ea typeface="黑体" panose="02010609060101010101" charset="-122"/>
            </a:endParaRPr>
          </a:p>
        </p:txBody>
      </p:sp>
      <p:sp>
        <p:nvSpPr>
          <p:cNvPr id="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709415" y="3886200"/>
            <a:ext cx="5507736" cy="813816"/>
            <a:chOff x="0" y="0"/>
            <a:chExt cx="5507736" cy="813816"/>
          </a:xfrm>
        </p:grpSpPr>
        <p:pic>
          <p:nvPicPr>
            <p:cNvPr id="14" name="picture 14"/>
            <p:cNvPicPr>
              <a:picLocks noChangeAspect="1"/>
            </p:cNvPicPr>
            <p:nvPr/>
          </p:nvPicPr>
          <p:blipFill>
            <a:blip r:embed="rId1"/>
            <a:stretch>
              <a:fillRect/>
            </a:stretch>
          </p:blipFill>
          <p:spPr>
            <a:xfrm rot="21600000">
              <a:off x="0" y="0"/>
              <a:ext cx="5507736" cy="813816"/>
            </a:xfrm>
            <a:prstGeom prst="rect">
              <a:avLst/>
            </a:prstGeom>
          </p:spPr>
        </p:pic>
        <p:sp>
          <p:nvSpPr>
            <p:cNvPr id="16" name="textbox 16"/>
            <p:cNvSpPr/>
            <p:nvPr/>
          </p:nvSpPr>
          <p:spPr>
            <a:xfrm>
              <a:off x="-12700" y="-12700"/>
              <a:ext cx="5533390" cy="879475"/>
            </a:xfrm>
            <a:prstGeom prst="rect">
              <a:avLst/>
            </a:prstGeom>
          </p:spPr>
          <p:txBody>
            <a:bodyPr vert="horz" wrap="square" lIns="0" tIns="0" rIns="0" bIns="0"/>
            <a:lstStyle/>
            <a:p>
              <a:pPr algn="l" rtl="0" eaLnBrk="0">
                <a:lnSpc>
                  <a:spcPct val="169000"/>
                </a:lnSpc>
              </a:pPr>
              <a:endParaRPr lang="en-US" altLang="en-US" sz="1000" dirty="0">
                <a:latin typeface="Arial" panose="020B0604020202020204" pitchFamily="34" charset="0"/>
                <a:ea typeface="黑体" panose="02010609060101010101" charset="-122"/>
              </a:endParaRPr>
            </a:p>
            <a:p>
              <a:pPr marL="661670" algn="l" rtl="0" eaLnBrk="0">
                <a:lnSpc>
                  <a:spcPct val="94000"/>
                </a:lnSpc>
                <a:spcBef>
                  <a:spcPts val="0"/>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的密钥编排</a:t>
              </a:r>
              <a:endParaRPr lang="en-US" altLang="en-US" sz="2400" dirty="0">
                <a:latin typeface="Arial" panose="020B0604020202020204" pitchFamily="34" charset="0"/>
                <a:ea typeface="黑体" panose="02010609060101010101" charset="-122"/>
              </a:endParaRPr>
            </a:p>
          </p:txBody>
        </p:sp>
      </p:grpSp>
      <p:grpSp>
        <p:nvGrpSpPr>
          <p:cNvPr id="4" name="group 4"/>
          <p:cNvGrpSpPr/>
          <p:nvPr/>
        </p:nvGrpSpPr>
        <p:grpSpPr>
          <a:xfrm rot="21600000">
            <a:off x="3557015" y="2057400"/>
            <a:ext cx="5708903" cy="813816"/>
            <a:chOff x="0" y="0"/>
            <a:chExt cx="5708903" cy="813816"/>
          </a:xfrm>
        </p:grpSpPr>
        <p:pic>
          <p:nvPicPr>
            <p:cNvPr id="18" name="picture 18"/>
            <p:cNvPicPr>
              <a:picLocks noChangeAspect="1"/>
            </p:cNvPicPr>
            <p:nvPr/>
          </p:nvPicPr>
          <p:blipFill>
            <a:blip r:embed="rId2"/>
            <a:stretch>
              <a:fillRect/>
            </a:stretch>
          </p:blipFill>
          <p:spPr>
            <a:xfrm rot="21600000">
              <a:off x="0" y="0"/>
              <a:ext cx="5708903" cy="813816"/>
            </a:xfrm>
            <a:prstGeom prst="rect">
              <a:avLst/>
            </a:prstGeom>
          </p:spPr>
        </p:pic>
        <p:sp>
          <p:nvSpPr>
            <p:cNvPr id="20" name="textbox 20"/>
            <p:cNvSpPr/>
            <p:nvPr/>
          </p:nvSpPr>
          <p:spPr>
            <a:xfrm>
              <a:off x="-12700" y="-12700"/>
              <a:ext cx="5734684" cy="874394"/>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661670" algn="l" rtl="0" eaLnBrk="0">
                <a:lnSpc>
                  <a:spcPct val="93000"/>
                </a:lnSpc>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的轮函数</a:t>
              </a:r>
              <a:endParaRPr lang="en-US" altLang="en-US" sz="2400" dirty="0">
                <a:latin typeface="Arial" panose="020B0604020202020204" pitchFamily="34" charset="0"/>
                <a:ea typeface="黑体"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2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2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2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32" name="textbox 32"/>
          <p:cNvSpPr/>
          <p:nvPr/>
        </p:nvSpPr>
        <p:spPr>
          <a:xfrm>
            <a:off x="1467485" y="491490"/>
            <a:ext cx="7761605" cy="476250"/>
          </a:xfrm>
          <a:prstGeom prst="rect">
            <a:avLst/>
          </a:prstGeom>
        </p:spPr>
        <p:txBody>
          <a:bodyPr vert="horz" wrap="square" lIns="0" tIns="0" rIns="0" bIns="0"/>
          <a:lstStyle/>
          <a:p>
            <a:pPr algn="l" rtl="0" eaLnBrk="0">
              <a:lnSpc>
                <a:spcPct val="96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3100" kern="0" spc="8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80" dirty="0">
                <a:solidFill>
                  <a:srgbClr val="1F4E79">
                    <a:alpha val="100000"/>
                  </a:srgbClr>
                </a:solidFill>
                <a:latin typeface="Arial" panose="020B0604020202020204" pitchFamily="34" charset="0"/>
                <a:ea typeface="黑体" panose="02010609060101010101" charset="-122"/>
                <a:cs typeface="仿宋" panose="02010609060101010101" charset="-122"/>
              </a:rPr>
              <a:t>的轮函数及密钥编排</a:t>
            </a:r>
            <a:endParaRPr lang="en-US" altLang="en-US" sz="3100" dirty="0">
              <a:latin typeface="Arial" panose="020B0604020202020204" pitchFamily="34" charset="0"/>
              <a:ea typeface="黑体" panose="02010609060101010101" charset="-122"/>
            </a:endParaRPr>
          </a:p>
        </p:txBody>
      </p:sp>
      <p:sp>
        <p:nvSpPr>
          <p:cNvPr id="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8" name="picture 38"/>
          <p:cNvPicPr>
            <a:picLocks noChangeAspect="1"/>
          </p:cNvPicPr>
          <p:nvPr/>
        </p:nvPicPr>
        <p:blipFill>
          <a:blip r:embed="rId3"/>
          <a:stretch>
            <a:fillRect/>
          </a:stretch>
        </p:blipFill>
        <p:spPr>
          <a:xfrm rot="21600000">
            <a:off x="822960" y="408431"/>
            <a:ext cx="420623" cy="655320"/>
          </a:xfrm>
          <a:prstGeom prst="rect">
            <a:avLst/>
          </a:prstGeom>
        </p:spPr>
      </p:pic>
      <p:sp>
        <p:nvSpPr>
          <p:cNvPr id="4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ath"/>
          <p:cNvSpPr/>
          <p:nvPr/>
        </p:nvSpPr>
        <p:spPr>
          <a:xfrm>
            <a:off x="5495544" y="4166616"/>
            <a:ext cx="5254751" cy="377951"/>
          </a:xfrm>
          <a:custGeom>
            <a:avLst/>
            <a:gdLst/>
            <a:ahLst/>
            <a:cxnLst/>
            <a:rect l="0" t="0" r="0" b="0"/>
            <a:pathLst>
              <a:path w="8275" h="595">
                <a:moveTo>
                  <a:pt x="7" y="587"/>
                </a:moveTo>
                <a:lnTo>
                  <a:pt x="3410" y="587"/>
                </a:lnTo>
                <a:lnTo>
                  <a:pt x="3410" y="7"/>
                </a:lnTo>
                <a:lnTo>
                  <a:pt x="7" y="7"/>
                </a:lnTo>
                <a:lnTo>
                  <a:pt x="7" y="587"/>
                </a:lnTo>
                <a:close/>
                <a:moveTo>
                  <a:pt x="4864" y="587"/>
                </a:moveTo>
                <a:lnTo>
                  <a:pt x="8267" y="587"/>
                </a:lnTo>
                <a:lnTo>
                  <a:pt x="8267" y="7"/>
                </a:lnTo>
                <a:lnTo>
                  <a:pt x="4864" y="7"/>
                </a:lnTo>
                <a:lnTo>
                  <a:pt x="4864" y="587"/>
                </a:lnTo>
                <a:close/>
              </a:path>
            </a:pathLst>
          </a:custGeom>
          <a:noFill/>
          <a:ln w="9143" cap="flat">
            <a:solidFill>
              <a:srgbClr val="000000">
                <a:alpha val="100000"/>
              </a:srgbClr>
            </a:solidFill>
            <a:prstDash val="solid"/>
            <a:miter lim="800000"/>
          </a:ln>
        </p:spPr>
        <p:txBody>
          <a:bodyPr rtlCol="0"/>
          <a:lstStyle/>
          <a:p>
            <a:pPr algn="ctr"/>
            <a:endParaRPr lang="zh-CN" altLang="en-US"/>
          </a:p>
        </p:txBody>
      </p:sp>
      <p:sp>
        <p:nvSpPr>
          <p:cNvPr id="44" name="textbox 44"/>
          <p:cNvSpPr/>
          <p:nvPr/>
        </p:nvSpPr>
        <p:spPr>
          <a:xfrm>
            <a:off x="992505" y="1612900"/>
            <a:ext cx="10483215" cy="3629025"/>
          </a:xfrm>
          <a:prstGeom prst="rect">
            <a:avLst/>
          </a:prstGeom>
        </p:spPr>
        <p:txBody>
          <a:bodyPr vert="horz" wrap="square" lIns="0" tIns="0" rIns="0" bIns="0"/>
          <a:lstStyle/>
          <a:p>
            <a:pPr algn="l" rtl="0" eaLnBrk="0">
              <a:lnSpc>
                <a:spcPct val="76000"/>
              </a:lnSpc>
            </a:pPr>
            <a:endParaRPr lang="en-US" altLang="en-US" sz="100" dirty="0">
              <a:latin typeface="Arial" panose="020B0604020202020204" pitchFamily="34" charset="0"/>
              <a:ea typeface="黑体" panose="02010609060101010101" charset="-122"/>
            </a:endParaRPr>
          </a:p>
          <a:p>
            <a:pPr marL="415925" algn="l" rtl="0" eaLnBrk="0">
              <a:lnSpc>
                <a:spcPct val="92000"/>
              </a:lnSpc>
            </a:pPr>
            <a:r>
              <a:rPr sz="2400" kern="0" spc="2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仿宋" panose="02010609060101010101" charset="-122"/>
              </a:rPr>
              <a:t>设输入为（</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2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kern="0" spc="2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marL="347345" algn="l" rtl="0" eaLnBrk="0">
              <a:lnSpc>
                <a:spcPct val="98000"/>
              </a:lnSpc>
              <a:spcBef>
                <a:spcPts val="1455"/>
              </a:spcBef>
            </a:pPr>
            <a:r>
              <a:rPr sz="3600" kern="0" spc="-30" baseline="-900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仿宋" panose="02010609060101010101" charset="-122"/>
              </a:rPr>
              <a:t>则</a:t>
            </a:r>
            <a:r>
              <a:rPr sz="3600" b="1" kern="0" spc="-30" baseline="-900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3600" kern="0" spc="-30" baseline="-900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仿宋" panose="02010609060101010101" charset="-122"/>
              </a:rPr>
              <a:t>的轮函数输出</a:t>
            </a:r>
            <a:r>
              <a:rPr sz="3600" kern="0" spc="-40" baseline="-900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仿宋" panose="02010609060101010101" charset="-122"/>
              </a:rPr>
              <a:t>为：</a:t>
            </a:r>
            <a:r>
              <a:rPr sz="2300" kern="0" spc="1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3800" kern="0" spc="-40" baseline="1000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2500" kern="0" spc="-40" baseline="-8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16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kern="0" spc="-40" baseline="-8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3800" kern="0" spc="-40" baseline="10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3800" kern="0" spc="-40" baseline="1000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3800" kern="0" spc="-40" baseline="10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24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3800" kern="0" spc="-40" baseline="100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2500" kern="0" spc="-40" baseline="-8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1600"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kern="0" spc="-40" baseline="-8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3800" kern="0" spc="-40" baseline="10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3800" kern="0" spc="-40" baseline="1000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3800" kern="0" spc="-40" baseline="10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24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endParaRPr lang="en-US" altLang="en-US" sz="2400" dirty="0">
              <a:latin typeface="Arial" panose="020B0604020202020204" pitchFamily="34" charset="0"/>
              <a:ea typeface="黑体" panose="02010609060101010101" charset="-122"/>
            </a:endParaRPr>
          </a:p>
          <a:p>
            <a:pPr marL="5517515" algn="l" defTabSz="0" rtl="0" eaLnBrk="0">
              <a:lnSpc>
                <a:spcPct val="91000"/>
              </a:lnSpc>
              <a:spcBef>
                <a:spcPts val="35"/>
              </a:spcBef>
              <a:tabLst>
                <a:tab pos="7137400" algn="l"/>
              </a:tabLst>
            </a:pPr>
            <a:r>
              <a:rPr sz="2900" kern="0" spc="0" dirty="0">
                <a:solidFill>
                  <a:srgbClr val="000000">
                    <a:alpha val="100000"/>
                  </a:srgbClr>
                </a:solidFill>
                <a:latin typeface="Arial" panose="020B0604020202020204" pitchFamily="34" charset="0"/>
                <a:ea typeface="黑体" panose="02010609060101010101" charset="-122"/>
                <a:cs typeface="Verdana" panose="020B0604030504040204"/>
              </a:rPr>
              <a:t>	</a:t>
            </a:r>
            <a:r>
              <a:rPr sz="2900" kern="0" spc="-310" dirty="0">
                <a:solidFill>
                  <a:srgbClr val="000000">
                    <a:alpha val="100000"/>
                  </a:srgbClr>
                </a:solidFill>
                <a:latin typeface="Arial" panose="020B0604020202020204" pitchFamily="34" charset="0"/>
                <a:ea typeface="黑体" panose="02010609060101010101" charset="-122"/>
                <a:cs typeface="Verdana" panose="020B0604030504040204"/>
              </a:rPr>
              <a:t> </a:t>
            </a:r>
            <a:r>
              <a:rPr sz="2900" strike="sngStrike" kern="0" spc="10" dirty="0">
                <a:solidFill>
                  <a:srgbClr val="000000">
                    <a:alpha val="100000"/>
                  </a:srgbClr>
                </a:solidFill>
                <a:latin typeface="Arial" panose="020B0604020202020204" pitchFamily="34" charset="0"/>
                <a:ea typeface="黑体" panose="02010609060101010101" charset="-122"/>
                <a:cs typeface="Verdana" panose="020B0604030504040204"/>
              </a:rPr>
              <a:t>      </a:t>
            </a:r>
            <a:r>
              <a:rPr lang="en-US" sz="2900" strike="sngStrike" kern="0" spc="10" dirty="0">
                <a:solidFill>
                  <a:srgbClr val="000000">
                    <a:alpha val="100000"/>
                  </a:srgbClr>
                </a:solidFill>
                <a:latin typeface="Arial" panose="020B0604020202020204" pitchFamily="34" charset="0"/>
                <a:ea typeface="黑体" panose="02010609060101010101" charset="-122"/>
                <a:cs typeface="Verdana" panose="020B0604030504040204"/>
              </a:rPr>
              <a:t>   </a:t>
            </a:r>
            <a:r>
              <a:rPr sz="2900" strike="sngStrike" kern="0" spc="10" dirty="0">
                <a:solidFill>
                  <a:srgbClr val="000000">
                    <a:alpha val="100000"/>
                  </a:srgbClr>
                </a:solidFill>
                <a:latin typeface="Arial" panose="020B0604020202020204" pitchFamily="34" charset="0"/>
                <a:ea typeface="黑体" panose="02010609060101010101" charset="-122"/>
                <a:cs typeface="Verdana" panose="020B0604030504040204"/>
              </a:rPr>
              <a:t>     </a:t>
            </a:r>
            <a:r>
              <a:rPr sz="2900" kern="0" spc="-900" dirty="0">
                <a:solidFill>
                  <a:srgbClr val="000000">
                    <a:alpha val="100000"/>
                  </a:srgbClr>
                </a:solidFill>
                <a:latin typeface="Arial" panose="020B0604020202020204" pitchFamily="34" charset="0"/>
                <a:ea typeface="黑体" panose="02010609060101010101" charset="-122"/>
                <a:cs typeface="Verdana" panose="020B0604030504040204"/>
              </a:rPr>
              <a:t> </a:t>
            </a:r>
            <a:r>
              <a:rPr sz="2900" strike="sngStrike" kern="0" spc="350" dirty="0">
                <a:solidFill>
                  <a:srgbClr val="000000">
                    <a:alpha val="100000"/>
                  </a:srgbClr>
                </a:solidFill>
                <a:latin typeface="Arial" panose="020B0604020202020204" pitchFamily="34" charset="0"/>
                <a:ea typeface="黑体" panose="02010609060101010101" charset="-122"/>
                <a:cs typeface="Verdana" panose="020B0604030504040204"/>
              </a:rPr>
              <a:t>  </a:t>
            </a:r>
            <a:r>
              <a:rPr sz="2900" kern="0" spc="-410" dirty="0">
                <a:solidFill>
                  <a:srgbClr val="000000">
                    <a:alpha val="100000"/>
                  </a:srgbClr>
                </a:solidFill>
                <a:latin typeface="Arial" panose="020B0604020202020204" pitchFamily="34" charset="0"/>
                <a:ea typeface="黑体" panose="02010609060101010101" charset="-122"/>
                <a:cs typeface="Verdana" panose="020B0604030504040204"/>
              </a:rPr>
              <a:t> </a:t>
            </a:r>
            <a:r>
              <a:rPr sz="4600" kern="0" spc="-250" baseline="7000" dirty="0">
                <a:solidFill>
                  <a:srgbClr val="000000">
                    <a:alpha val="100000"/>
                  </a:srgbClr>
                </a:solidFill>
                <a:latin typeface="Arial" panose="020B0604020202020204" pitchFamily="34" charset="0"/>
                <a:ea typeface="黑体" panose="02010609060101010101" charset="-122"/>
                <a:cs typeface="Verdana" panose="020B0604030504040204"/>
              </a:rPr>
              <a:t>K</a:t>
            </a:r>
            <a:r>
              <a:rPr sz="3000" kern="0" spc="10" baseline="-14000" dirty="0">
                <a:solidFill>
                  <a:srgbClr val="000000">
                    <a:alpha val="100000"/>
                  </a:srgbClr>
                </a:solidFill>
                <a:latin typeface="Arial" panose="020B0604020202020204" pitchFamily="34" charset="0"/>
                <a:ea typeface="黑体" panose="02010609060101010101" charset="-122"/>
                <a:cs typeface="Verdana" panose="020B0604030504040204"/>
              </a:rPr>
              <a:t>i</a:t>
            </a:r>
            <a:endParaRPr lang="en-US" altLang="en-US" sz="3000" baseline="-14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9000"/>
              </a:lnSpc>
            </a:pPr>
            <a:endParaRPr lang="en-US" altLang="en-US" sz="1000" dirty="0">
              <a:latin typeface="Arial" panose="020B0604020202020204" pitchFamily="34" charset="0"/>
              <a:ea typeface="黑体" panose="02010609060101010101" charset="-122"/>
            </a:endParaRPr>
          </a:p>
          <a:p>
            <a:pPr marL="12700" algn="l" rtl="0" eaLnBrk="0">
              <a:lnSpc>
                <a:spcPts val="3100"/>
              </a:lnSpc>
              <a:spcBef>
                <a:spcPts val="745"/>
              </a:spcBef>
            </a:pPr>
            <a:r>
              <a:rPr sz="2400" kern="0" spc="-30" dirty="0">
                <a:ln w="8717" cap="flat" cmpd="sng">
                  <a:solidFill>
                    <a:srgbClr val="000000">
                      <a:alpha val="100000"/>
                    </a:srgbClr>
                  </a:solidFill>
                  <a:prstDash val="solid"/>
                  <a:round/>
                </a:ln>
                <a:solidFill>
                  <a:srgbClr val="000000">
                    <a:alpha val="100000"/>
                  </a:srgbClr>
                </a:solidFill>
                <a:latin typeface="Arial" panose="020B0604020202020204" pitchFamily="34" charset="0"/>
                <a:ea typeface="黑体" panose="02010609060101010101" charset="-122"/>
                <a:cs typeface="仿宋" panose="02010609060101010101" charset="-122"/>
              </a:rPr>
              <a:t>它等价于两个对合变换的复合</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800" kern="0" spc="-30" baseline="6000" dirty="0">
                <a:solidFill>
                  <a:srgbClr val="000000">
                    <a:alpha val="100000"/>
                  </a:srgbClr>
                </a:solidFill>
                <a:latin typeface="Arial" panose="020B0604020202020204" pitchFamily="34" charset="0"/>
                <a:ea typeface="黑体" panose="02010609060101010101" charset="-122"/>
                <a:cs typeface="Times New Roman" panose="02020603050405020304"/>
              </a:rPr>
              <a:t>L</a:t>
            </a:r>
            <a:r>
              <a:rPr sz="2500" kern="0" spc="-3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3800" kern="0" spc="-30" baseline="6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3800" kern="0" spc="-30" baseline="600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3800" kern="0" spc="-30" baseline="6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2400" kern="0" spc="11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3800" kern="0" spc="-30" baseline="6000" dirty="0">
                <a:solidFill>
                  <a:srgbClr val="000000">
                    <a:alpha val="100000"/>
                  </a:srgbClr>
                </a:solidFill>
                <a:latin typeface="Arial" panose="020B0604020202020204" pitchFamily="34" charset="0"/>
                <a:ea typeface="黑体" panose="02010609060101010101" charset="-122"/>
                <a:cs typeface="Times New Roman" panose="02020603050405020304"/>
              </a:rPr>
              <a:t>R</a:t>
            </a:r>
            <a:r>
              <a:rPr sz="2500" kern="0" spc="-3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3800" kern="0" spc="-30" baseline="6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3800" kern="0" spc="-30" baseline="600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3800" kern="0" spc="-30" baseline="6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3800" baseline="6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07000"/>
              </a:lnSpc>
            </a:pPr>
            <a:endParaRPr lang="en-US" altLang="en-US" sz="7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839470" algn="l" rtl="0" eaLnBrk="0">
              <a:lnSpc>
                <a:spcPct val="80000"/>
              </a:lnSpc>
            </a:pPr>
            <a:r>
              <a:rPr sz="3000" kern="0" spc="2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3000" kern="0" spc="2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3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3000" kern="0" spc="2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3000"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3000"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kern="0" spc="2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3000" kern="0" spc="2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3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3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3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3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30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3000" dirty="0">
              <a:latin typeface="Arial" panose="020B0604020202020204" pitchFamily="34" charset="0"/>
              <a:ea typeface="黑体" panose="02010609060101010101" charset="-122"/>
            </a:endParaRPr>
          </a:p>
        </p:txBody>
      </p:sp>
      <p:pic>
        <p:nvPicPr>
          <p:cNvPr id="46" name="picture 46"/>
          <p:cNvPicPr>
            <a:picLocks noChangeAspect="1"/>
          </p:cNvPicPr>
          <p:nvPr/>
        </p:nvPicPr>
        <p:blipFill>
          <a:blip r:embed="rId1"/>
          <a:stretch>
            <a:fillRect/>
          </a:stretch>
        </p:blipFill>
        <p:spPr>
          <a:xfrm rot="21600000">
            <a:off x="7479001" y="4887770"/>
            <a:ext cx="287418" cy="355189"/>
          </a:xfrm>
          <a:prstGeom prst="rect">
            <a:avLst/>
          </a:prstGeom>
        </p:spPr>
      </p:pic>
      <p:pic>
        <p:nvPicPr>
          <p:cNvPr id="48" name="picture 48"/>
          <p:cNvPicPr>
            <a:picLocks noChangeAspect="1"/>
          </p:cNvPicPr>
          <p:nvPr/>
        </p:nvPicPr>
        <p:blipFill>
          <a:blip r:embed="rId2"/>
          <a:stretch>
            <a:fillRect/>
          </a:stretch>
        </p:blipFill>
        <p:spPr>
          <a:xfrm rot="21600000">
            <a:off x="6077188" y="4947260"/>
            <a:ext cx="387932" cy="207877"/>
          </a:xfrm>
          <a:prstGeom prst="rect">
            <a:avLst/>
          </a:prstGeom>
        </p:spPr>
      </p:pic>
      <p:pic>
        <p:nvPicPr>
          <p:cNvPr id="50" name="picture 50"/>
          <p:cNvPicPr>
            <a:picLocks noChangeAspect="1"/>
          </p:cNvPicPr>
          <p:nvPr/>
        </p:nvPicPr>
        <p:blipFill>
          <a:blip r:embed="rId3"/>
          <a:stretch>
            <a:fillRect/>
          </a:stretch>
        </p:blipFill>
        <p:spPr>
          <a:xfrm rot="21600000">
            <a:off x="3912834" y="4859830"/>
            <a:ext cx="288008" cy="355189"/>
          </a:xfrm>
          <a:prstGeom prst="rect">
            <a:avLst/>
          </a:prstGeom>
        </p:spPr>
      </p:pic>
      <p:pic>
        <p:nvPicPr>
          <p:cNvPr id="52" name="picture 52"/>
          <p:cNvPicPr>
            <a:picLocks noChangeAspect="1"/>
          </p:cNvPicPr>
          <p:nvPr/>
        </p:nvPicPr>
        <p:blipFill>
          <a:blip r:embed="rId4"/>
          <a:stretch>
            <a:fillRect/>
          </a:stretch>
        </p:blipFill>
        <p:spPr>
          <a:xfrm rot="21600000">
            <a:off x="2748873" y="4933290"/>
            <a:ext cx="388728" cy="207877"/>
          </a:xfrm>
          <a:prstGeom prst="rect">
            <a:avLst/>
          </a:prstGeom>
        </p:spPr>
      </p:pic>
      <p:sp>
        <p:nvSpPr>
          <p:cNvPr id="54" name="path"/>
          <p:cNvSpPr/>
          <p:nvPr/>
        </p:nvSpPr>
        <p:spPr>
          <a:xfrm>
            <a:off x="9628632" y="2532825"/>
            <a:ext cx="9143" cy="772730"/>
          </a:xfrm>
          <a:custGeom>
            <a:avLst/>
            <a:gdLst/>
            <a:ahLst/>
            <a:cxnLst/>
            <a:rect l="0" t="0" r="0" b="0"/>
            <a:pathLst>
              <a:path w="14" h="1216">
                <a:moveTo>
                  <a:pt x="7" y="0"/>
                </a:moveTo>
                <a:lnTo>
                  <a:pt x="7" y="1216"/>
                </a:lnTo>
              </a:path>
            </a:pathLst>
          </a:custGeom>
          <a:noFill/>
          <a:ln w="8814" cap="flat">
            <a:solidFill>
              <a:srgbClr val="000000">
                <a:alpha val="100000"/>
              </a:srgbClr>
            </a:solidFill>
            <a:prstDash val="solid"/>
            <a:round/>
          </a:ln>
        </p:spPr>
        <p:txBody>
          <a:bodyPr rtlCol="0"/>
          <a:lstStyle/>
          <a:p>
            <a:pPr algn="ctr"/>
            <a:endParaRPr lang="zh-CN" altLang="en-US"/>
          </a:p>
        </p:txBody>
      </p:sp>
      <p:pic>
        <p:nvPicPr>
          <p:cNvPr id="56" name="picture 56"/>
          <p:cNvPicPr>
            <a:picLocks noChangeAspect="1"/>
          </p:cNvPicPr>
          <p:nvPr/>
        </p:nvPicPr>
        <p:blipFill>
          <a:blip r:embed="rId5"/>
          <a:stretch>
            <a:fillRect/>
          </a:stretch>
        </p:blipFill>
        <p:spPr>
          <a:xfrm rot="21600000">
            <a:off x="8085708" y="2768366"/>
            <a:ext cx="90297" cy="181674"/>
          </a:xfrm>
          <a:prstGeom prst="rect">
            <a:avLst/>
          </a:prstGeom>
        </p:spPr>
      </p:pic>
      <p:pic>
        <p:nvPicPr>
          <p:cNvPr id="58" name="picture 58"/>
          <p:cNvPicPr>
            <a:picLocks noChangeAspect="1"/>
          </p:cNvPicPr>
          <p:nvPr/>
        </p:nvPicPr>
        <p:blipFill>
          <a:blip r:embed="rId6"/>
          <a:stretch>
            <a:fillRect/>
          </a:stretch>
        </p:blipFill>
        <p:spPr>
          <a:xfrm rot="21600000">
            <a:off x="6388608" y="2532825"/>
            <a:ext cx="76200" cy="296752"/>
          </a:xfrm>
          <a:prstGeom prst="rect">
            <a:avLst/>
          </a:prstGeom>
        </p:spPr>
      </p:pic>
      <p:sp>
        <p:nvSpPr>
          <p:cNvPr id="60" name="textbox 60"/>
          <p:cNvSpPr/>
          <p:nvPr/>
        </p:nvSpPr>
        <p:spPr>
          <a:xfrm>
            <a:off x="1923442" y="2800731"/>
            <a:ext cx="7705090" cy="489584"/>
          </a:xfrm>
          <a:prstGeom prst="rect">
            <a:avLst/>
          </a:prstGeom>
        </p:spPr>
        <p:txBody>
          <a:bodyPr vert="horz" wrap="square" lIns="0" tIns="0" rIns="0" bIns="0"/>
          <a:lstStyle/>
          <a:p>
            <a:pPr algn="l" rtl="0" eaLnBrk="0">
              <a:lnSpc>
                <a:spcPct val="91000"/>
              </a:lnSpc>
            </a:pPr>
            <a:endParaRPr lang="en-US" altLang="en-US" sz="100" dirty="0">
              <a:latin typeface="Arial" panose="020B0604020202020204" pitchFamily="34" charset="0"/>
              <a:ea typeface="黑体" panose="02010609060101010101" charset="-122"/>
            </a:endParaRPr>
          </a:p>
          <a:p>
            <a:pPr marL="12700" algn="l" defTabSz="0" rtl="0" eaLnBrk="0">
              <a:lnSpc>
                <a:spcPct val="92000"/>
              </a:lnSpc>
              <a:tabLst>
                <a:tab pos="7691755" algn="l"/>
              </a:tabLst>
            </a:pPr>
            <a:r>
              <a:rPr sz="3300" kern="0" spc="40" dirty="0">
                <a:solidFill>
                  <a:srgbClr val="3333FF">
                    <a:alpha val="100000"/>
                  </a:srgbClr>
                </a:solidFill>
                <a:latin typeface="Arial" panose="020B0604020202020204" pitchFamily="34" charset="0"/>
                <a:ea typeface="黑体" panose="02010609060101010101" charset="-122"/>
                <a:cs typeface="Times New Roman" panose="02020603050405020304"/>
              </a:rPr>
              <a:t>(</a:t>
            </a:r>
            <a:r>
              <a:rPr sz="3300" i="1" kern="0" spc="40" dirty="0">
                <a:solidFill>
                  <a:srgbClr val="3333FF">
                    <a:alpha val="100000"/>
                  </a:srgbClr>
                </a:solidFill>
                <a:latin typeface="Arial" panose="020B0604020202020204" pitchFamily="34" charset="0"/>
                <a:ea typeface="黑体" panose="02010609060101010101" charset="-122"/>
                <a:cs typeface="Times New Roman" panose="02020603050405020304"/>
              </a:rPr>
              <a:t>y</a:t>
            </a:r>
            <a:r>
              <a:rPr sz="3300" kern="0" spc="40" dirty="0">
                <a:solidFill>
                  <a:srgbClr val="3333FF">
                    <a:alpha val="100000"/>
                  </a:srgbClr>
                </a:solidFill>
                <a:latin typeface="Arial" panose="020B0604020202020204" pitchFamily="34" charset="0"/>
                <a:ea typeface="黑体" panose="02010609060101010101" charset="-122"/>
                <a:cs typeface="Times New Roman" panose="02020603050405020304"/>
              </a:rPr>
              <a:t>,</a:t>
            </a:r>
            <a:r>
              <a:rPr sz="3300" kern="0" spc="-39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sz="3300" i="1" kern="0" spc="0" dirty="0">
                <a:solidFill>
                  <a:srgbClr val="3333FF">
                    <a:alpha val="100000"/>
                  </a:srgbClr>
                </a:solidFill>
                <a:latin typeface="Arial" panose="020B0604020202020204" pitchFamily="34" charset="0"/>
                <a:ea typeface="黑体" panose="02010609060101010101" charset="-122"/>
                <a:cs typeface="Times New Roman" panose="02020603050405020304"/>
              </a:rPr>
              <a:t>x</a:t>
            </a:r>
            <a:r>
              <a:rPr sz="3300" i="1" kern="0" spc="1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sz="3300" i="1" kern="0" spc="0" dirty="0">
                <a:solidFill>
                  <a:srgbClr val="3333FF">
                    <a:alpha val="100000"/>
                  </a:srgbClr>
                </a:solidFill>
                <a:latin typeface="Arial" panose="020B0604020202020204" pitchFamily="34" charset="0"/>
                <a:ea typeface="黑体" panose="02010609060101010101" charset="-122"/>
                <a:cs typeface="Times New Roman" panose="02020603050405020304"/>
              </a:rPr>
              <a:t>f</a:t>
            </a:r>
            <a:r>
              <a:rPr sz="2900" i="1" kern="0" spc="0" baseline="-29000" dirty="0">
                <a:solidFill>
                  <a:srgbClr val="3333FF">
                    <a:alpha val="100000"/>
                  </a:srgbClr>
                </a:solidFill>
                <a:latin typeface="Arial" panose="020B0604020202020204" pitchFamily="34" charset="0"/>
                <a:ea typeface="黑体" panose="02010609060101010101" charset="-122"/>
                <a:cs typeface="Times New Roman" panose="02020603050405020304"/>
              </a:rPr>
              <a:t>k</a:t>
            </a:r>
            <a:r>
              <a:rPr sz="1800" i="1" kern="0" spc="4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sz="3300" kern="0" spc="40" dirty="0">
                <a:solidFill>
                  <a:srgbClr val="3333FF">
                    <a:alpha val="100000"/>
                  </a:srgbClr>
                </a:solidFill>
                <a:latin typeface="Arial" panose="020B0604020202020204" pitchFamily="34" charset="0"/>
                <a:ea typeface="黑体" panose="02010609060101010101" charset="-122"/>
                <a:cs typeface="Times New Roman" panose="02020603050405020304"/>
              </a:rPr>
              <a:t>(</a:t>
            </a:r>
            <a:r>
              <a:rPr sz="3300" i="1" kern="0" spc="40" dirty="0">
                <a:solidFill>
                  <a:srgbClr val="3333FF">
                    <a:alpha val="100000"/>
                  </a:srgbClr>
                </a:solidFill>
                <a:latin typeface="Arial" panose="020B0604020202020204" pitchFamily="34" charset="0"/>
                <a:ea typeface="黑体" panose="02010609060101010101" charset="-122"/>
                <a:cs typeface="Times New Roman" panose="02020603050405020304"/>
              </a:rPr>
              <a:t>y</a:t>
            </a:r>
            <a:r>
              <a:rPr sz="3300" kern="0" spc="40" dirty="0">
                <a:solidFill>
                  <a:srgbClr val="3333FF">
                    <a:alpha val="100000"/>
                  </a:srgbClr>
                </a:solidFill>
                <a:latin typeface="Arial" panose="020B0604020202020204" pitchFamily="34" charset="0"/>
                <a:ea typeface="黑体" panose="02010609060101010101" charset="-122"/>
                <a:cs typeface="Times New Roman" panose="02020603050405020304"/>
              </a:rPr>
              <a:t>))</a:t>
            </a:r>
            <a:r>
              <a:rPr sz="3300" kern="0" spc="2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lang="en-US" sz="3300" kern="0" spc="2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sz="3300" strike="sngStrike" kern="0" spc="5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sz="3300" kern="0" spc="-140" dirty="0">
                <a:solidFill>
                  <a:srgbClr val="3333FF">
                    <a:alpha val="100000"/>
                  </a:srgbClr>
                </a:solidFill>
                <a:latin typeface="Arial" panose="020B0604020202020204" pitchFamily="34" charset="0"/>
                <a:ea typeface="黑体" panose="02010609060101010101" charset="-122"/>
                <a:cs typeface="Times New Roman" panose="02020603050405020304"/>
              </a:rPr>
              <a:t> </a:t>
            </a:r>
            <a:r>
              <a:rPr sz="3800" i="1" kern="0" spc="4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i="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strike="sngStrike"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endParaRPr lang="en-US" altLang="en-US" sz="2400" dirty="0">
              <a:latin typeface="Arial" panose="020B0604020202020204" pitchFamily="34" charset="0"/>
              <a:ea typeface="黑体" panose="02010609060101010101" charset="-122"/>
            </a:endParaRPr>
          </a:p>
        </p:txBody>
      </p:sp>
      <p:pic>
        <p:nvPicPr>
          <p:cNvPr id="62" name="picture 62"/>
          <p:cNvPicPr>
            <a:picLocks noChangeAspect="1"/>
          </p:cNvPicPr>
          <p:nvPr/>
        </p:nvPicPr>
        <p:blipFill>
          <a:blip r:embed="rId7"/>
          <a:stretch>
            <a:fillRect/>
          </a:stretch>
        </p:blipFill>
        <p:spPr>
          <a:xfrm rot="21600000">
            <a:off x="2823181" y="2967364"/>
            <a:ext cx="240682" cy="381058"/>
          </a:xfrm>
          <a:prstGeom prst="rect">
            <a:avLst/>
          </a:prstGeom>
        </p:spPr>
      </p:pic>
      <p:grpSp>
        <p:nvGrpSpPr>
          <p:cNvPr id="8" name="group 8"/>
          <p:cNvGrpSpPr/>
          <p:nvPr/>
        </p:nvGrpSpPr>
        <p:grpSpPr>
          <a:xfrm rot="21600000">
            <a:off x="6315166" y="2871216"/>
            <a:ext cx="316991" cy="434339"/>
            <a:chOff x="0" y="0"/>
            <a:chExt cx="316991" cy="434339"/>
          </a:xfrm>
        </p:grpSpPr>
        <p:sp>
          <p:nvSpPr>
            <p:cNvPr id="64" name="path"/>
            <p:cNvSpPr/>
            <p:nvPr/>
          </p:nvSpPr>
          <p:spPr>
            <a:xfrm>
              <a:off x="155448" y="248411"/>
              <a:ext cx="9143" cy="185927"/>
            </a:xfrm>
            <a:custGeom>
              <a:avLst/>
              <a:gdLst/>
              <a:ahLst/>
              <a:cxnLst/>
              <a:rect l="0" t="0" r="0" b="0"/>
              <a:pathLst>
                <a:path w="14" h="292">
                  <a:moveTo>
                    <a:pt x="7" y="0"/>
                  </a:moveTo>
                  <a:lnTo>
                    <a:pt x="7" y="292"/>
                  </a:lnTo>
                </a:path>
              </a:pathLst>
            </a:custGeom>
            <a:noFill/>
            <a:ln w="9143" cap="flat">
              <a:solidFill>
                <a:srgbClr val="000000">
                  <a:alpha val="100000"/>
                </a:srgbClr>
              </a:solidFill>
              <a:prstDash val="solid"/>
              <a:round/>
            </a:ln>
          </p:spPr>
          <p:txBody>
            <a:bodyPr rtlCol="0"/>
            <a:lstStyle/>
            <a:p>
              <a:pPr algn="ctr"/>
              <a:endParaRPr lang="zh-CN" altLang="en-US"/>
            </a:p>
          </p:txBody>
        </p:sp>
        <p:sp>
          <p:nvSpPr>
            <p:cNvPr id="66" name="path"/>
            <p:cNvSpPr/>
            <p:nvPr/>
          </p:nvSpPr>
          <p:spPr>
            <a:xfrm>
              <a:off x="0" y="0"/>
              <a:ext cx="316991" cy="252983"/>
            </a:xfrm>
            <a:custGeom>
              <a:avLst/>
              <a:gdLst/>
              <a:ahLst/>
              <a:cxnLst/>
              <a:rect l="0" t="0" r="0" b="0"/>
              <a:pathLst>
                <a:path w="499" h="398">
                  <a:moveTo>
                    <a:pt x="249" y="7"/>
                  </a:moveTo>
                  <a:lnTo>
                    <a:pt x="249" y="391"/>
                  </a:lnTo>
                  <a:moveTo>
                    <a:pt x="7" y="199"/>
                  </a:moveTo>
                  <a:lnTo>
                    <a:pt x="491" y="199"/>
                  </a:lnTo>
                  <a:moveTo>
                    <a:pt x="7" y="199"/>
                  </a:moveTo>
                  <a:cubicBezTo>
                    <a:pt x="7" y="93"/>
                    <a:pt x="115" y="7"/>
                    <a:pt x="249" y="7"/>
                  </a:cubicBezTo>
                  <a:cubicBezTo>
                    <a:pt x="383" y="7"/>
                    <a:pt x="491" y="93"/>
                    <a:pt x="491" y="199"/>
                  </a:cubicBezTo>
                  <a:cubicBezTo>
                    <a:pt x="491" y="305"/>
                    <a:pt x="383" y="391"/>
                    <a:pt x="249" y="391"/>
                  </a:cubicBezTo>
                  <a:cubicBezTo>
                    <a:pt x="115" y="391"/>
                    <a:pt x="7" y="305"/>
                    <a:pt x="7" y="199"/>
                  </a:cubicBezTo>
                </a:path>
              </a:pathLst>
            </a:custGeom>
            <a:noFill/>
            <a:ln w="9143" cap="flat">
              <a:solidFill>
                <a:srgbClr val="000000">
                  <a:alpha val="100000"/>
                </a:srgbClr>
              </a:solidFill>
              <a:prstDash val="solid"/>
              <a:round/>
            </a:ln>
          </p:spPr>
          <p:txBody>
            <a:bodyPr rtlCol="0"/>
            <a:lstStyle/>
            <a:p>
              <a:pPr algn="ctr"/>
              <a:endParaRPr lang="zh-CN" altLang="en-US"/>
            </a:p>
          </p:txBody>
        </p:sp>
      </p:grpSp>
      <p:grpSp>
        <p:nvGrpSpPr>
          <p:cNvPr id="10" name="group 10"/>
          <p:cNvGrpSpPr/>
          <p:nvPr/>
        </p:nvGrpSpPr>
        <p:grpSpPr>
          <a:xfrm rot="21600000">
            <a:off x="1540993" y="69597"/>
            <a:ext cx="4382135" cy="859449"/>
            <a:chOff x="2576" y="-444500"/>
            <a:chExt cx="4382135" cy="859449"/>
          </a:xfrm>
        </p:grpSpPr>
        <p:pic>
          <p:nvPicPr>
            <p:cNvPr id="68" name="picture 68"/>
            <p:cNvPicPr>
              <a:picLocks noChangeAspect="1"/>
            </p:cNvPicPr>
            <p:nvPr/>
          </p:nvPicPr>
          <p:blipFill>
            <a:blip r:embed="rId8"/>
            <a:stretch>
              <a:fillRect/>
            </a:stretch>
          </p:blipFill>
          <p:spPr>
            <a:xfrm rot="21600000">
              <a:off x="2576" y="23874"/>
              <a:ext cx="3631801" cy="391075"/>
            </a:xfrm>
            <a:prstGeom prst="rect">
              <a:avLst/>
            </a:prstGeom>
          </p:spPr>
        </p:pic>
        <p:sp>
          <p:nvSpPr>
            <p:cNvPr id="70" name="textbox 70"/>
            <p:cNvSpPr/>
            <p:nvPr/>
          </p:nvSpPr>
          <p:spPr>
            <a:xfrm>
              <a:off x="18451" y="-444500"/>
              <a:ext cx="4366260" cy="485775"/>
            </a:xfrm>
            <a:prstGeom prst="rect">
              <a:avLst/>
            </a:prstGeom>
          </p:spPr>
          <p:txBody>
            <a:bodyPr vert="horz" wrap="square" lIns="0" tIns="0" rIns="0" bIns="0"/>
            <a:lstStyle/>
            <a:p>
              <a:pPr marL="12700" algn="l" rtl="0" eaLnBrk="0">
                <a:lnSpc>
                  <a:spcPct val="94000"/>
                </a:lnSpc>
                <a:buClrTx/>
                <a:buSzTx/>
                <a:buFontTx/>
              </a:pP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a:p>
              <a:pPr marL="12700" algn="l" rtl="0" eaLnBrk="0">
                <a:lnSpc>
                  <a:spcPct val="94000"/>
                </a:lnSpc>
                <a:buClrTx/>
                <a:buSzTx/>
                <a:buFontTx/>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的轮函数的结构</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grpSp>
      <p:pic>
        <p:nvPicPr>
          <p:cNvPr id="72" name="picture 72"/>
          <p:cNvPicPr>
            <a:picLocks noChangeAspect="1"/>
          </p:cNvPicPr>
          <p:nvPr/>
        </p:nvPicPr>
        <p:blipFill>
          <a:blip r:embed="rId9"/>
          <a:stretch>
            <a:fillRect/>
          </a:stretch>
        </p:blipFill>
        <p:spPr>
          <a:xfrm rot="21600000">
            <a:off x="6388608" y="3680459"/>
            <a:ext cx="3282696" cy="426719"/>
          </a:xfrm>
          <a:prstGeom prst="rect">
            <a:avLst/>
          </a:prstGeom>
        </p:spPr>
      </p:pic>
      <p:sp>
        <p:nvSpPr>
          <p:cNvPr id="74" name="path"/>
          <p:cNvSpPr/>
          <p:nvPr/>
        </p:nvSpPr>
        <p:spPr>
          <a:xfrm>
            <a:off x="6426181" y="3301014"/>
            <a:ext cx="3207549" cy="380939"/>
          </a:xfrm>
          <a:custGeom>
            <a:avLst/>
            <a:gdLst/>
            <a:ahLst/>
            <a:cxnLst/>
            <a:rect l="0" t="0" r="0" b="0"/>
            <a:pathLst>
              <a:path w="5051" h="599">
                <a:moveTo>
                  <a:pt x="5050" y="7"/>
                </a:moveTo>
                <a:lnTo>
                  <a:pt x="0" y="592"/>
                </a:lnTo>
                <a:moveTo>
                  <a:pt x="0" y="7"/>
                </a:moveTo>
                <a:lnTo>
                  <a:pt x="5050" y="592"/>
                </a:lnTo>
              </a:path>
            </a:pathLst>
          </a:custGeom>
          <a:noFill/>
          <a:ln w="9143" cap="flat">
            <a:solidFill>
              <a:srgbClr val="000000">
                <a:alpha val="100000"/>
              </a:srgbClr>
            </a:solidFill>
            <a:prstDash val="solid"/>
            <a:round/>
          </a:ln>
        </p:spPr>
        <p:txBody>
          <a:bodyPr rtlCol="0"/>
          <a:lstStyle/>
          <a:p>
            <a:pPr algn="ctr"/>
            <a:endParaRPr lang="zh-CN" altLang="en-US"/>
          </a:p>
        </p:txBody>
      </p:sp>
      <p:sp>
        <p:nvSpPr>
          <p:cNvPr id="76" name="textbox 76"/>
          <p:cNvSpPr/>
          <p:nvPr/>
        </p:nvSpPr>
        <p:spPr>
          <a:xfrm>
            <a:off x="4809490" y="5452745"/>
            <a:ext cx="3069590" cy="521335"/>
          </a:xfrm>
          <a:prstGeom prst="rect">
            <a:avLst/>
          </a:prstGeom>
          <a:solidFill>
            <a:srgbClr val="FF99CC"/>
          </a:solidFill>
        </p:spPr>
        <p:txBody>
          <a:bodyPr vert="horz" wrap="square" lIns="0" tIns="0" rIns="0" bIns="0"/>
          <a:lstStyle/>
          <a:p>
            <a:pPr algn="l" rtl="0" eaLnBrk="0">
              <a:lnSpc>
                <a:spcPct val="115000"/>
              </a:lnSpc>
            </a:pPr>
            <a:endParaRPr lang="en-US" altLang="en-US" sz="500" dirty="0">
              <a:latin typeface="Arial" panose="020B0604020202020204" pitchFamily="34" charset="0"/>
              <a:ea typeface="黑体" panose="02010609060101010101" charset="-122"/>
            </a:endParaRPr>
          </a:p>
          <a:p>
            <a:pPr marL="69850" algn="l" rtl="0" eaLnBrk="0">
              <a:lnSpc>
                <a:spcPct val="80000"/>
              </a:lnSpc>
              <a:spcBef>
                <a:spcPts val="5"/>
              </a:spcBef>
            </a:pPr>
            <a:r>
              <a:rPr sz="3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3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4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b</a:t>
            </a:r>
            <a:r>
              <a:rPr sz="3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b</a:t>
            </a:r>
            <a:r>
              <a:rPr sz="3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3000" kern="0" spc="-2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0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a</a:t>
            </a:r>
            <a:r>
              <a:rPr sz="3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3000" dirty="0">
              <a:latin typeface="Arial" panose="020B0604020202020204" pitchFamily="34" charset="0"/>
              <a:ea typeface="黑体" panose="02010609060101010101" charset="-122"/>
            </a:endParaRPr>
          </a:p>
        </p:txBody>
      </p:sp>
      <p:pic>
        <p:nvPicPr>
          <p:cNvPr id="78" name="picture 78"/>
          <p:cNvPicPr>
            <a:picLocks noChangeAspect="1"/>
          </p:cNvPicPr>
          <p:nvPr/>
        </p:nvPicPr>
        <p:blipFill>
          <a:blip r:embed="rId10"/>
          <a:stretch>
            <a:fillRect/>
          </a:stretch>
        </p:blipFill>
        <p:spPr>
          <a:xfrm rot="21600000">
            <a:off x="5892779" y="5636616"/>
            <a:ext cx="386746" cy="207877"/>
          </a:xfrm>
          <a:prstGeom prst="rect">
            <a:avLst/>
          </a:prstGeom>
        </p:spPr>
      </p:pic>
      <p:sp>
        <p:nvSpPr>
          <p:cNvPr id="8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84" name="picture 84"/>
          <p:cNvPicPr>
            <a:picLocks noChangeAspect="1"/>
          </p:cNvPicPr>
          <p:nvPr/>
        </p:nvPicPr>
        <p:blipFill>
          <a:blip r:embed="rId11"/>
          <a:stretch>
            <a:fillRect/>
          </a:stretch>
        </p:blipFill>
        <p:spPr>
          <a:xfrm rot="21600000">
            <a:off x="822960" y="408431"/>
            <a:ext cx="420623" cy="655320"/>
          </a:xfrm>
          <a:prstGeom prst="rect">
            <a:avLst/>
          </a:prstGeom>
        </p:spPr>
      </p:pic>
      <p:sp>
        <p:nvSpPr>
          <p:cNvPr id="86"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8"/>
          <p:cNvSpPr/>
          <p:nvPr/>
        </p:nvSpPr>
        <p:spPr>
          <a:xfrm>
            <a:off x="924259" y="1518999"/>
            <a:ext cx="9660255" cy="2732404"/>
          </a:xfrm>
          <a:prstGeom prst="rect">
            <a:avLst/>
          </a:prstGeom>
        </p:spPr>
        <p:txBody>
          <a:bodyPr vert="horz" wrap="square" lIns="0" tIns="0" rIns="0" bIns="0"/>
          <a:lstStyle/>
          <a:p>
            <a:pPr algn="l" rtl="0" eaLnBrk="0">
              <a:lnSpc>
                <a:spcPct val="87000"/>
              </a:lnSpc>
            </a:pPr>
            <a:endParaRPr lang="en-US" altLang="en-US" sz="100" dirty="0">
              <a:latin typeface="Arial" panose="020B0604020202020204" pitchFamily="34" charset="0"/>
              <a:ea typeface="黑体" panose="02010609060101010101" charset="-122"/>
            </a:endParaRPr>
          </a:p>
          <a:p>
            <a:pPr marL="12700" algn="l" rtl="0" eaLnBrk="0">
              <a:lnSpc>
                <a:spcPct val="91000"/>
              </a:lnSpc>
            </a:pPr>
            <a:r>
              <a:rPr sz="31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3100" kern="0" spc="20" dirty="0">
                <a:ln w="11504"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无论f函数如何选取，</a:t>
            </a:r>
            <a:r>
              <a:rPr sz="3100" kern="0" spc="0" dirty="0">
                <a:ln w="11504"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3100" kern="0" spc="20" dirty="0">
                <a:ln w="11504"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的轮函数是一个对合变换。</a:t>
            </a:r>
            <a:endParaRPr lang="en-US" altLang="en-US" sz="3100" dirty="0">
              <a:latin typeface="Arial" panose="020B0604020202020204" pitchFamily="34" charset="0"/>
              <a:ea typeface="黑体" panose="02010609060101010101" charset="-122"/>
            </a:endParaRPr>
          </a:p>
          <a:p>
            <a:pPr marL="2860675" algn="l" rtl="0" eaLnBrk="0">
              <a:lnSpc>
                <a:spcPts val="8475"/>
              </a:lnSpc>
            </a:pP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5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5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500" kern="0" spc="-3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5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kern="0" spc="100" dirty="0">
                <a:solidFill>
                  <a:srgbClr val="000000">
                    <a:alpha val="100000"/>
                  </a:srgbClr>
                </a:solidFill>
                <a:latin typeface="Arial" panose="020B0604020202020204" pitchFamily="34" charset="0"/>
                <a:ea typeface="黑体" panose="02010609060101010101" charset="-122"/>
                <a:cs typeface="微软雅黑" panose="020B0503020204020204" charset="-122"/>
              </a:rPr>
              <a:t>=</a:t>
            </a:r>
            <a:r>
              <a:rPr sz="2500" kern="0" spc="-7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25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5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kern="0" spc="100" dirty="0">
                <a:solidFill>
                  <a:srgbClr val="000000">
                    <a:alpha val="100000"/>
                  </a:srgbClr>
                </a:solidFill>
                <a:latin typeface="Arial" panose="020B0604020202020204" pitchFamily="34" charset="0"/>
                <a:ea typeface="黑体" panose="02010609060101010101" charset="-122"/>
                <a:cs typeface="微软雅黑" panose="020B0503020204020204" charset="-122"/>
              </a:rPr>
              <a:t>④</a:t>
            </a:r>
            <a:r>
              <a:rPr sz="2500" kern="0" spc="-330" dirty="0">
                <a:solidFill>
                  <a:srgbClr val="000000">
                    <a:alpha val="100000"/>
                  </a:srgbClr>
                </a:solidFill>
                <a:latin typeface="Arial" panose="020B0604020202020204" pitchFamily="34" charset="0"/>
                <a:ea typeface="黑体" panose="02010609060101010101" charset="-122"/>
                <a:cs typeface="微软雅黑" panose="020B0503020204020204" charset="-122"/>
              </a:rPr>
              <a:t> </a:t>
            </a: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f </a:t>
            </a:r>
            <a:r>
              <a:rPr sz="25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5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500" kern="0" spc="-3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500" kern="0" spc="9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500" kern="0" spc="-3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5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500" kern="0" spc="9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500" dirty="0">
              <a:latin typeface="Arial" panose="020B0604020202020204" pitchFamily="34" charset="0"/>
              <a:ea typeface="黑体" panose="02010609060101010101" charset="-122"/>
            </a:endParaRPr>
          </a:p>
          <a:p>
            <a:pPr algn="l" rtl="0" eaLnBrk="0">
              <a:lnSpc>
                <a:spcPct val="104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600" dirty="0">
              <a:latin typeface="Arial" panose="020B0604020202020204" pitchFamily="34" charset="0"/>
              <a:ea typeface="黑体" panose="02010609060101010101" charset="-122"/>
            </a:endParaRPr>
          </a:p>
          <a:p>
            <a:pPr algn="r" rtl="0" eaLnBrk="0">
              <a:lnSpc>
                <a:spcPct val="80000"/>
              </a:lnSpc>
              <a:spcBef>
                <a:spcPts val="5"/>
              </a:spcBef>
            </a:pPr>
            <a:endParaRPr lang="en-US" altLang="en-US" sz="2500" dirty="0">
              <a:latin typeface="Arial" panose="020B0604020202020204" pitchFamily="34" charset="0"/>
              <a:ea typeface="黑体" panose="02010609060101010101" charset="-122"/>
            </a:endParaRPr>
          </a:p>
        </p:txBody>
      </p:sp>
      <p:sp>
        <p:nvSpPr>
          <p:cNvPr id="90" name="textbox 90"/>
          <p:cNvSpPr/>
          <p:nvPr/>
        </p:nvSpPr>
        <p:spPr>
          <a:xfrm>
            <a:off x="810260" y="395731"/>
            <a:ext cx="9707880" cy="764540"/>
          </a:xfrm>
          <a:prstGeom prst="rect">
            <a:avLst/>
          </a:prstGeom>
        </p:spPr>
        <p:txBody>
          <a:bodyPr vert="horz" wrap="square" lIns="0" tIns="0" rIns="0" bIns="0"/>
          <a:lstStyle/>
          <a:p>
            <a:pPr algn="l" rtl="0" eaLnBrk="0">
              <a:lnSpc>
                <a:spcPct val="126000"/>
              </a:lnSpc>
            </a:pPr>
            <a:endParaRPr lang="en-US" altLang="en-US" sz="300" dirty="0">
              <a:latin typeface="Arial" panose="020B0604020202020204" pitchFamily="34" charset="0"/>
              <a:ea typeface="黑体" panose="02010609060101010101" charset="-122"/>
            </a:endParaRPr>
          </a:p>
          <a:p>
            <a:pPr marL="433070" algn="l" defTabSz="0" rtl="0" eaLnBrk="0">
              <a:lnSpc>
                <a:spcPct val="96000"/>
              </a:lnSpc>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dirty="0">
                <a:solidFill>
                  <a:srgbClr val="1F4E79">
                    <a:alpha val="100000"/>
                  </a:srgbClr>
                </a:solidFill>
                <a:latin typeface="Arial" panose="020B0604020202020204" pitchFamily="34" charset="0"/>
                <a:ea typeface="黑体" panose="02010609060101010101" charset="-122"/>
                <a:cs typeface="仿宋" panose="02010609060101010101" charset="-122"/>
              </a:rPr>
              <a:t>注意</a:t>
            </a:r>
            <a:r>
              <a:rPr sz="3900" u="sng" kern="0" spc="0" dirty="0">
                <a:solidFill>
                  <a:srgbClr val="FF3300">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endParaRPr lang="en-US" altLang="en-US" sz="3900" dirty="0">
              <a:latin typeface="Arial" panose="020B0604020202020204" pitchFamily="34" charset="0"/>
              <a:ea typeface="黑体" panose="02010609060101010101" charset="-122"/>
            </a:endParaRPr>
          </a:p>
        </p:txBody>
      </p:sp>
      <p:pic>
        <p:nvPicPr>
          <p:cNvPr id="92" name="picture 92"/>
          <p:cNvPicPr>
            <a:picLocks noChangeAspect="1"/>
          </p:cNvPicPr>
          <p:nvPr/>
        </p:nvPicPr>
        <p:blipFill>
          <a:blip r:embed="rId1"/>
          <a:stretch>
            <a:fillRect/>
          </a:stretch>
        </p:blipFill>
        <p:spPr>
          <a:xfrm rot="21600000">
            <a:off x="822960" y="408431"/>
            <a:ext cx="420623" cy="655320"/>
          </a:xfrm>
          <a:prstGeom prst="rect">
            <a:avLst/>
          </a:prstGeom>
        </p:spPr>
      </p:pic>
      <p:sp>
        <p:nvSpPr>
          <p:cNvPr id="9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2376170" y="2400300"/>
            <a:ext cx="7665720" cy="286512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ath"/>
          <p:cNvSpPr/>
          <p:nvPr/>
        </p:nvSpPr>
        <p:spPr>
          <a:xfrm>
            <a:off x="696468" y="1021080"/>
            <a:ext cx="10779125" cy="5245607"/>
          </a:xfrm>
          <a:custGeom>
            <a:avLst/>
            <a:gdLst/>
            <a:ahLst/>
            <a:cxnLst/>
            <a:rect l="0" t="0" r="0" b="0"/>
            <a:pathLst>
              <a:path w="16975" h="8260">
                <a:moveTo>
                  <a:pt x="1214" y="21"/>
                </a:moveTo>
                <a:lnTo>
                  <a:pt x="15446" y="21"/>
                </a:lnTo>
                <a:moveTo>
                  <a:pt x="0" y="8239"/>
                </a:moveTo>
                <a:lnTo>
                  <a:pt x="16975" y="8239"/>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100" name="picture 100"/>
          <p:cNvPicPr>
            <a:picLocks noChangeAspect="1"/>
          </p:cNvPicPr>
          <p:nvPr/>
        </p:nvPicPr>
        <p:blipFill>
          <a:blip r:embed="rId1"/>
          <a:stretch>
            <a:fillRect/>
          </a:stretch>
        </p:blipFill>
        <p:spPr>
          <a:xfrm rot="21600000">
            <a:off x="1642872" y="1155191"/>
            <a:ext cx="8644127" cy="5675375"/>
          </a:xfrm>
          <a:prstGeom prst="rect">
            <a:avLst/>
          </a:prstGeom>
        </p:spPr>
      </p:pic>
      <p:sp>
        <p:nvSpPr>
          <p:cNvPr id="102" name="textbox 102"/>
          <p:cNvSpPr/>
          <p:nvPr/>
        </p:nvSpPr>
        <p:spPr>
          <a:xfrm>
            <a:off x="810260" y="395605"/>
            <a:ext cx="4085590" cy="726440"/>
          </a:xfrm>
          <a:prstGeom prst="rect">
            <a:avLst/>
          </a:prstGeom>
        </p:spPr>
        <p:txBody>
          <a:bodyPr vert="horz" wrap="square" lIns="0" tIns="0" rIns="0" bIns="0"/>
          <a:lstStyle/>
          <a:p>
            <a:pPr algn="l" rtl="0" eaLnBrk="0">
              <a:lnSpc>
                <a:spcPct val="103000"/>
              </a:lnSpc>
            </a:pPr>
            <a:endParaRPr lang="en-US" altLang="en-US" sz="700" dirty="0">
              <a:latin typeface="Arial" panose="020B0604020202020204" pitchFamily="34" charset="0"/>
              <a:ea typeface="黑体" panose="02010609060101010101" charset="-122"/>
            </a:endParaRPr>
          </a:p>
          <a:p>
            <a:pPr marL="433070" algn="l" defTabSz="0" rtl="0" eaLnBrk="0">
              <a:lnSpc>
                <a:spcPct val="95000"/>
              </a:lnSpc>
              <a:spcBef>
                <a:spcPts val="0"/>
              </a:spcBef>
              <a:tabLst>
                <a:tab pos="752475" algn="l"/>
              </a:tabLst>
            </a:pPr>
            <a:r>
              <a:rPr sz="3100" kern="0" spc="0" dirty="0">
                <a:solidFill>
                  <a:srgbClr val="0563C1">
                    <a:alpha val="100000"/>
                  </a:srgbClr>
                </a:solidFill>
                <a:latin typeface="Arial" panose="020B0604020202020204" pitchFamily="34" charset="0"/>
                <a:ea typeface="黑体" panose="02010609060101010101" charset="-122"/>
                <a:cs typeface="仿宋" panose="02010609060101010101" charset="-122"/>
              </a:rPr>
              <a:t>	</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算法轮结构</a:t>
            </a:r>
            <a:endParaRPr lang="en-US" altLang="en-US" sz="3100" dirty="0">
              <a:latin typeface="Arial" panose="020B0604020202020204" pitchFamily="34" charset="0"/>
              <a:ea typeface="黑体" panose="02010609060101010101" charset="-122"/>
            </a:endParaRPr>
          </a:p>
        </p:txBody>
      </p:sp>
      <p:pic>
        <p:nvPicPr>
          <p:cNvPr id="104" name="picture 104"/>
          <p:cNvPicPr>
            <a:picLocks noChangeAspect="1"/>
          </p:cNvPicPr>
          <p:nvPr/>
        </p:nvPicPr>
        <p:blipFill>
          <a:blip r:embed="rId2"/>
          <a:stretch>
            <a:fillRect/>
          </a:stretch>
        </p:blipFill>
        <p:spPr>
          <a:xfrm rot="21600000">
            <a:off x="822960" y="408431"/>
            <a:ext cx="420623" cy="65532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108"/>
          <p:cNvPicPr>
            <a:picLocks noChangeAspect="1"/>
          </p:cNvPicPr>
          <p:nvPr/>
        </p:nvPicPr>
        <p:blipFill>
          <a:blip r:embed="rId1"/>
          <a:stretch>
            <a:fillRect/>
          </a:stretch>
        </p:blipFill>
        <p:spPr>
          <a:xfrm rot="21600000">
            <a:off x="2057400" y="1188719"/>
            <a:ext cx="7924800" cy="4754880"/>
          </a:xfrm>
          <a:prstGeom prst="rect">
            <a:avLst/>
          </a:prstGeom>
        </p:spPr>
      </p:pic>
      <p:sp>
        <p:nvSpPr>
          <p:cNvPr id="110" name="textbox 110"/>
          <p:cNvSpPr/>
          <p:nvPr/>
        </p:nvSpPr>
        <p:spPr>
          <a:xfrm>
            <a:off x="1607813" y="491245"/>
            <a:ext cx="4047490" cy="480694"/>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4000"/>
              </a:lnSpc>
              <a:buClrTx/>
              <a:buSzTx/>
              <a:buFontTx/>
            </a:pP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函数f(R,K)的计算过程</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11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16" name="picture 116"/>
          <p:cNvPicPr>
            <a:picLocks noChangeAspect="1"/>
          </p:cNvPicPr>
          <p:nvPr/>
        </p:nvPicPr>
        <p:blipFill>
          <a:blip r:embed="rId2"/>
          <a:stretch>
            <a:fillRect/>
          </a:stretch>
        </p:blipFill>
        <p:spPr>
          <a:xfrm rot="21600000">
            <a:off x="822960" y="408431"/>
            <a:ext cx="420623" cy="655320"/>
          </a:xfrm>
          <a:prstGeom prst="rect">
            <a:avLst/>
          </a:prstGeom>
        </p:spPr>
      </p:pic>
      <p:sp>
        <p:nvSpPr>
          <p:cNvPr id="118"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 name="table 120"/>
          <p:cNvGraphicFramePr>
            <a:graphicFrameLocks noGrp="1"/>
          </p:cNvGraphicFramePr>
          <p:nvPr>
            <p:custDataLst>
              <p:tags r:id="rId1"/>
            </p:custDataLst>
          </p:nvPr>
        </p:nvGraphicFramePr>
        <p:xfrm>
          <a:off x="1822450" y="1441450"/>
          <a:ext cx="8148319" cy="4157345"/>
        </p:xfrm>
        <a:graphic>
          <a:graphicData uri="http://schemas.openxmlformats.org/drawingml/2006/table">
            <a:tbl>
              <a:tblPr/>
              <a:tblGrid>
                <a:gridCol w="1364614"/>
                <a:gridCol w="1358900"/>
                <a:gridCol w="1358900"/>
                <a:gridCol w="1358900"/>
                <a:gridCol w="1350644"/>
                <a:gridCol w="1356360"/>
              </a:tblGrid>
              <a:tr h="524509">
                <a:tc>
                  <a:txBody>
                    <a:bodyPr/>
                    <a:lstStyle/>
                    <a:p>
                      <a:pPr algn="l" rtl="0" eaLnBrk="0">
                        <a:lnSpc>
                          <a:spcPct val="103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09905" algn="l" rtl="0" eaLnBrk="0">
                        <a:lnSpc>
                          <a:spcPct val="76000"/>
                        </a:lnSpc>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32</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640715"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602615"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605790"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592455"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596265" algn="l" rtl="0" eaLnBrk="0">
                        <a:lnSpc>
                          <a:spcPct val="75000"/>
                        </a:lnSpc>
                      </a:pP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07000"/>
                        </a:lnSpc>
                      </a:pPr>
                      <a:endParaRPr lang="en-US" altLang="en-US" sz="9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601345" algn="l" rtl="0" eaLnBrk="0">
                        <a:lnSpc>
                          <a:spcPct val="77000"/>
                        </a:lnSpc>
                      </a:pP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1000" dirty="0">
                        <a:latin typeface="Arial" panose="020B0604020202020204" pitchFamily="34" charset="0"/>
                        <a:ea typeface="黑体" panose="02010609060101010101" charset="-122"/>
                      </a:endParaRPr>
                    </a:p>
                    <a:p>
                      <a:pPr marL="615950" algn="l" rtl="0" eaLnBrk="0">
                        <a:lnSpc>
                          <a:spcPct val="75000"/>
                        </a:lnSpc>
                        <a:spcBef>
                          <a:spcPts val="5"/>
                        </a:spcBef>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9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610235"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6</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1000" dirty="0">
                        <a:latin typeface="Arial" panose="020B0604020202020204" pitchFamily="34" charset="0"/>
                        <a:ea typeface="黑体" panose="02010609060101010101" charset="-122"/>
                      </a:endParaRPr>
                    </a:p>
                    <a:p>
                      <a:pPr marL="603885" algn="l" rtl="0" eaLnBrk="0">
                        <a:lnSpc>
                          <a:spcPct val="75000"/>
                        </a:lnSpc>
                        <a:spcBef>
                          <a:spcPts val="5"/>
                        </a:spcBef>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7</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9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608965"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9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94995" algn="l" rtl="0" eaLnBrk="0">
                        <a:lnSpc>
                          <a:spcPct val="76000"/>
                        </a:lnSpc>
                      </a:pP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9</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7525">
                <a:tc>
                  <a:txBody>
                    <a:bodyPr/>
                    <a:lstStyle/>
                    <a:p>
                      <a:pPr algn="l" rtl="0" eaLnBrk="0">
                        <a:lnSpc>
                          <a:spcPct val="111000"/>
                        </a:lnSpc>
                      </a:pPr>
                      <a:endParaRPr lang="en-US" altLang="en-US" sz="900" dirty="0">
                        <a:latin typeface="Arial" panose="020B0604020202020204" pitchFamily="34" charset="0"/>
                        <a:ea typeface="黑体" panose="02010609060101010101" charset="-122"/>
                      </a:endParaRPr>
                    </a:p>
                    <a:p>
                      <a:pPr marL="605155" algn="l" rtl="0" eaLnBrk="0">
                        <a:lnSpc>
                          <a:spcPct val="76000"/>
                        </a:lnSpc>
                      </a:pP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lang="en-US" altLang="en-US" sz="900" dirty="0">
                        <a:latin typeface="Arial" panose="020B0604020202020204" pitchFamily="34" charset="0"/>
                        <a:ea typeface="黑体" panose="02010609060101010101" charset="-122"/>
                      </a:endParaRPr>
                    </a:p>
                    <a:p>
                      <a:pPr marL="613410" algn="l" rtl="0" eaLnBrk="0">
                        <a:lnSpc>
                          <a:spcPct val="76000"/>
                        </a:lnSpc>
                      </a:pPr>
                      <a:r>
                        <a:rPr sz="2800" kern="0" spc="-10" dirty="0">
                          <a:solidFill>
                            <a:srgbClr val="000000">
                              <a:alpha val="100000"/>
                            </a:srgbClr>
                          </a:solidFill>
                          <a:latin typeface="Arial" panose="020B0604020202020204" pitchFamily="34" charset="0"/>
                          <a:ea typeface="黑体" panose="02010609060101010101" charset="-122"/>
                          <a:cs typeface="Times New Roman" panose="02020603050405020304"/>
                        </a:rPr>
                        <a:t>9</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9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548640" algn="l" rtl="0" eaLnBrk="0">
                        <a:lnSpc>
                          <a:spcPct val="76000"/>
                        </a:lnSpc>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10</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900" dirty="0">
                        <a:latin typeface="Arial" panose="020B0604020202020204" pitchFamily="34" charset="0"/>
                        <a:ea typeface="黑体" panose="02010609060101010101" charset="-122"/>
                      </a:endParaRPr>
                    </a:p>
                    <a:p>
                      <a:pPr marL="550545" algn="l" rtl="0" eaLnBrk="0">
                        <a:lnSpc>
                          <a:spcPct val="77000"/>
                        </a:lnSpc>
                        <a:spcBef>
                          <a:spcPts val="0"/>
                        </a:spcBef>
                      </a:pPr>
                      <a:r>
                        <a:rPr sz="28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11</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900" dirty="0">
                        <a:latin typeface="Arial" panose="020B0604020202020204" pitchFamily="34" charset="0"/>
                        <a:ea typeface="黑体" panose="02010609060101010101" charset="-122"/>
                      </a:endParaRPr>
                    </a:p>
                    <a:p>
                      <a:pPr marL="540385" algn="l" rtl="0" eaLnBrk="0">
                        <a:lnSpc>
                          <a:spcPct val="77000"/>
                        </a:lnSpc>
                        <a:spcBef>
                          <a:spcPts val="0"/>
                        </a:spcBef>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12</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9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518795" algn="l" rtl="0" eaLnBrk="0">
                        <a:lnSpc>
                          <a:spcPct val="76000"/>
                        </a:lnSpc>
                      </a:pPr>
                      <a:r>
                        <a:rPr sz="2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13</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527685" algn="l" rtl="0" eaLnBrk="0">
                        <a:lnSpc>
                          <a:spcPct val="76000"/>
                        </a:lnSpc>
                      </a:pPr>
                      <a:r>
                        <a:rPr sz="2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12</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marL="552450" algn="l" rtl="0" eaLnBrk="0">
                        <a:lnSpc>
                          <a:spcPct val="76000"/>
                        </a:lnSpc>
                        <a:spcBef>
                          <a:spcPts val="5"/>
                        </a:spcBef>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13</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548640" algn="l" rtl="0" eaLnBrk="0">
                        <a:lnSpc>
                          <a:spcPct val="76000"/>
                        </a:lnSpc>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marL="544195" algn="l" rtl="0" eaLnBrk="0">
                        <a:lnSpc>
                          <a:spcPct val="76000"/>
                        </a:lnSpc>
                        <a:spcBef>
                          <a:spcPts val="5"/>
                        </a:spcBef>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marL="540385" algn="l" rtl="0" eaLnBrk="0">
                        <a:lnSpc>
                          <a:spcPct val="76000"/>
                        </a:lnSpc>
                        <a:spcBef>
                          <a:spcPts val="5"/>
                        </a:spcBef>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16</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marL="518795" algn="l" rtl="0" eaLnBrk="0">
                        <a:lnSpc>
                          <a:spcPct val="76000"/>
                        </a:lnSpc>
                        <a:spcBef>
                          <a:spcPts val="5"/>
                        </a:spcBef>
                      </a:pPr>
                      <a:r>
                        <a:rPr sz="2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17</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27685" algn="l" rtl="0" eaLnBrk="0">
                        <a:lnSpc>
                          <a:spcPct val="76000"/>
                        </a:lnSpc>
                      </a:pPr>
                      <a:r>
                        <a:rPr sz="2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16</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52450" algn="l" rtl="0" eaLnBrk="0">
                        <a:lnSpc>
                          <a:spcPct val="76000"/>
                        </a:lnSpc>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17</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548640" algn="l" rtl="0" eaLnBrk="0">
                        <a:lnSpc>
                          <a:spcPct val="76000"/>
                        </a:lnSpc>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18</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44195" algn="l" rtl="0" eaLnBrk="0">
                        <a:lnSpc>
                          <a:spcPct val="76000"/>
                        </a:lnSpc>
                      </a:pPr>
                      <a:r>
                        <a:rPr sz="28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19</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506095" algn="l" rtl="0" eaLnBrk="0">
                        <a:lnSpc>
                          <a:spcPct val="76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20</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504190" algn="l" rtl="0" eaLnBrk="0">
                        <a:lnSpc>
                          <a:spcPct val="76000"/>
                        </a:lnSpc>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21</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12445" algn="l" rtl="0" eaLnBrk="0">
                        <a:lnSpc>
                          <a:spcPct val="76000"/>
                        </a:lnSpc>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20</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9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518160" algn="l" rtl="0" eaLnBrk="0">
                        <a:lnSpc>
                          <a:spcPct val="77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21</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9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514350" algn="l" rtl="0" eaLnBrk="0">
                        <a:lnSpc>
                          <a:spcPct val="77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22</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509905" algn="l" rtl="0" eaLnBrk="0">
                        <a:lnSpc>
                          <a:spcPct val="76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23</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9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506095" algn="l" rtl="0" eaLnBrk="0">
                        <a:lnSpc>
                          <a:spcPct val="77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24</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504190" algn="l" rtl="0" eaLnBrk="0">
                        <a:lnSpc>
                          <a:spcPct val="76000"/>
                        </a:lnSpc>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25</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09000"/>
                        </a:lnSpc>
                      </a:pPr>
                      <a:endParaRPr lang="en-US" altLang="en-US" sz="900" dirty="0">
                        <a:latin typeface="Arial" panose="020B0604020202020204" pitchFamily="34" charset="0"/>
                        <a:ea typeface="黑体" panose="02010609060101010101" charset="-122"/>
                      </a:endParaRPr>
                    </a:p>
                    <a:p>
                      <a:pPr marL="512445" algn="l" rtl="0" eaLnBrk="0">
                        <a:lnSpc>
                          <a:spcPct val="77000"/>
                        </a:lnSpc>
                        <a:spcBef>
                          <a:spcPts val="0"/>
                        </a:spcBef>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24</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518160" algn="l" rtl="0" eaLnBrk="0">
                        <a:lnSpc>
                          <a:spcPct val="76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25</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514350" algn="l" rtl="0" eaLnBrk="0">
                        <a:lnSpc>
                          <a:spcPct val="76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26</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509905" algn="l" rtl="0" eaLnBrk="0">
                        <a:lnSpc>
                          <a:spcPct val="76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27</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506095" algn="l" rtl="0" eaLnBrk="0">
                        <a:lnSpc>
                          <a:spcPct val="76000"/>
                        </a:lnSpc>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28</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504190" algn="l" rtl="0" eaLnBrk="0">
                        <a:lnSpc>
                          <a:spcPct val="76000"/>
                        </a:lnSpc>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29</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4509">
                <a:tc>
                  <a:txBody>
                    <a:bodyPr/>
                    <a:lstStyle/>
                    <a:p>
                      <a:pPr algn="l" rtl="0" eaLnBrk="0">
                        <a:lnSpc>
                          <a:spcPct val="101000"/>
                        </a:lnSpc>
                      </a:pPr>
                      <a:endParaRPr lang="en-US" altLang="en-US" sz="1000" dirty="0">
                        <a:latin typeface="Arial" panose="020B0604020202020204" pitchFamily="34" charset="0"/>
                        <a:ea typeface="黑体" panose="02010609060101010101" charset="-122"/>
                      </a:endParaRPr>
                    </a:p>
                    <a:p>
                      <a:pPr marL="512445" algn="l" rtl="0" eaLnBrk="0">
                        <a:lnSpc>
                          <a:spcPct val="76000"/>
                        </a:lnSpc>
                        <a:spcBef>
                          <a:spcPts val="0"/>
                        </a:spcBef>
                      </a:pP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28</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1000" dirty="0">
                        <a:latin typeface="Arial" panose="020B0604020202020204" pitchFamily="34" charset="0"/>
                        <a:ea typeface="黑体" panose="02010609060101010101" charset="-122"/>
                      </a:endParaRPr>
                    </a:p>
                    <a:p>
                      <a:pPr marL="518160" algn="l" rtl="0" eaLnBrk="0">
                        <a:lnSpc>
                          <a:spcPct val="76000"/>
                        </a:lnSpc>
                        <a:spcBef>
                          <a:spcPts val="0"/>
                        </a:spcBef>
                      </a:pPr>
                      <a:r>
                        <a:rPr sz="28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29</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1000" dirty="0">
                        <a:latin typeface="Arial" panose="020B0604020202020204" pitchFamily="34" charset="0"/>
                        <a:ea typeface="黑体" panose="02010609060101010101" charset="-122"/>
                      </a:endParaRPr>
                    </a:p>
                    <a:p>
                      <a:pPr marL="521335" algn="l" rtl="0" eaLnBrk="0">
                        <a:lnSpc>
                          <a:spcPct val="76000"/>
                        </a:lnSpc>
                        <a:spcBef>
                          <a:spcPts val="0"/>
                        </a:spcBef>
                      </a:pPr>
                      <a:r>
                        <a:rPr sz="2800" kern="0" spc="-30" dirty="0">
                          <a:solidFill>
                            <a:srgbClr val="000000">
                              <a:alpha val="100000"/>
                            </a:srgbClr>
                          </a:solidFill>
                          <a:latin typeface="Arial" panose="020B0604020202020204" pitchFamily="34" charset="0"/>
                          <a:ea typeface="黑体" panose="02010609060101010101" charset="-122"/>
                          <a:cs typeface="Times New Roman" panose="02020603050405020304"/>
                        </a:rPr>
                        <a:t>30</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1000" dirty="0">
                        <a:latin typeface="Arial" panose="020B0604020202020204" pitchFamily="34" charset="0"/>
                        <a:ea typeface="黑体" panose="02010609060101010101" charset="-122"/>
                      </a:endParaRPr>
                    </a:p>
                    <a:p>
                      <a:pPr marL="517525" algn="l" rtl="0" eaLnBrk="0">
                        <a:lnSpc>
                          <a:spcPct val="76000"/>
                        </a:lnSpc>
                        <a:spcBef>
                          <a:spcPts val="0"/>
                        </a:spcBef>
                      </a:pPr>
                      <a:r>
                        <a:rPr sz="2800" kern="0" spc="-30" dirty="0">
                          <a:solidFill>
                            <a:srgbClr val="000000">
                              <a:alpha val="100000"/>
                            </a:srgbClr>
                          </a:solidFill>
                          <a:latin typeface="Arial" panose="020B0604020202020204" pitchFamily="34" charset="0"/>
                          <a:ea typeface="黑体" panose="02010609060101010101" charset="-122"/>
                          <a:cs typeface="Times New Roman" panose="02020603050405020304"/>
                        </a:rPr>
                        <a:t>31</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1000" dirty="0">
                        <a:latin typeface="Arial" panose="020B0604020202020204" pitchFamily="34" charset="0"/>
                        <a:ea typeface="黑体" panose="02010609060101010101" charset="-122"/>
                      </a:endParaRPr>
                    </a:p>
                    <a:p>
                      <a:pPr marL="513080" algn="l" rtl="0" eaLnBrk="0">
                        <a:lnSpc>
                          <a:spcPct val="76000"/>
                        </a:lnSpc>
                        <a:spcBef>
                          <a:spcPts val="0"/>
                        </a:spcBef>
                      </a:pPr>
                      <a:r>
                        <a:rPr sz="2800" kern="0" spc="-30" dirty="0">
                          <a:solidFill>
                            <a:srgbClr val="000000">
                              <a:alpha val="100000"/>
                            </a:srgbClr>
                          </a:solidFill>
                          <a:latin typeface="Arial" panose="020B0604020202020204" pitchFamily="34" charset="0"/>
                          <a:ea typeface="黑体" panose="02010609060101010101" charset="-122"/>
                          <a:cs typeface="Times New Roman" panose="02020603050405020304"/>
                        </a:rPr>
                        <a:t>32</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1000" dirty="0">
                        <a:latin typeface="Arial" panose="020B0604020202020204" pitchFamily="34" charset="0"/>
                        <a:ea typeface="黑体" panose="02010609060101010101" charset="-122"/>
                      </a:endParaRPr>
                    </a:p>
                    <a:p>
                      <a:pPr marL="607695" algn="l" rtl="0" eaLnBrk="0">
                        <a:lnSpc>
                          <a:spcPct val="76000"/>
                        </a:lnSpc>
                        <a:spcBef>
                          <a:spcPts val="5"/>
                        </a:spcBef>
                      </a:pP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2" name="textbox 122"/>
          <p:cNvSpPr/>
          <p:nvPr/>
        </p:nvSpPr>
        <p:spPr>
          <a:xfrm>
            <a:off x="1576070" y="491490"/>
            <a:ext cx="3486150" cy="478155"/>
          </a:xfrm>
          <a:prstGeom prst="rect">
            <a:avLst/>
          </a:prstGeom>
        </p:spPr>
        <p:txBody>
          <a:bodyPr vert="horz" wrap="square" lIns="0" tIns="0" rIns="0" bIns="0"/>
          <a:lstStyle/>
          <a:p>
            <a:pPr marL="12700" algn="l" rtl="0" eaLnBrk="0">
              <a:lnSpc>
                <a:spcPct val="94000"/>
              </a:lnSpc>
              <a:buClrTx/>
              <a:buSzTx/>
              <a:buFontTx/>
            </a:pP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选择扩展运算E</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12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28" name="picture 128"/>
          <p:cNvPicPr>
            <a:picLocks noChangeAspect="1"/>
          </p:cNvPicPr>
          <p:nvPr/>
        </p:nvPicPr>
        <p:blipFill>
          <a:blip r:embed="rId2"/>
          <a:stretch>
            <a:fillRect/>
          </a:stretch>
        </p:blipFill>
        <p:spPr>
          <a:xfrm rot="21600000">
            <a:off x="822960" y="408431"/>
            <a:ext cx="420623" cy="655320"/>
          </a:xfrm>
          <a:prstGeom prst="rect">
            <a:avLst/>
          </a:prstGeom>
        </p:spPr>
      </p:pic>
      <p:sp>
        <p:nvSpPr>
          <p:cNvPr id="13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2"/>
          <p:cNvGrpSpPr/>
          <p:nvPr/>
        </p:nvGrpSpPr>
        <p:grpSpPr>
          <a:xfrm rot="21600000">
            <a:off x="3582416" y="2897124"/>
            <a:ext cx="113790" cy="463465"/>
            <a:chOff x="0" y="0"/>
            <a:chExt cx="113790" cy="463465"/>
          </a:xfrm>
        </p:grpSpPr>
        <p:sp>
          <p:nvSpPr>
            <p:cNvPr id="132" name="path"/>
            <p:cNvSpPr/>
            <p:nvPr/>
          </p:nvSpPr>
          <p:spPr>
            <a:xfrm>
              <a:off x="18795"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134" name="path"/>
            <p:cNvSpPr/>
            <p:nvPr/>
          </p:nvSpPr>
          <p:spPr>
            <a:xfrm>
              <a:off x="0" y="0"/>
              <a:ext cx="113790"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14" name="group 14"/>
          <p:cNvGrpSpPr/>
          <p:nvPr/>
        </p:nvGrpSpPr>
        <p:grpSpPr>
          <a:xfrm rot="21600000">
            <a:off x="4231640" y="2897124"/>
            <a:ext cx="113790" cy="463465"/>
            <a:chOff x="0" y="0"/>
            <a:chExt cx="113790" cy="463465"/>
          </a:xfrm>
        </p:grpSpPr>
        <p:sp>
          <p:nvSpPr>
            <p:cNvPr id="136" name="path"/>
            <p:cNvSpPr/>
            <p:nvPr/>
          </p:nvSpPr>
          <p:spPr>
            <a:xfrm>
              <a:off x="18795"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138" name="path"/>
            <p:cNvSpPr/>
            <p:nvPr/>
          </p:nvSpPr>
          <p:spPr>
            <a:xfrm>
              <a:off x="0" y="0"/>
              <a:ext cx="113790"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16" name="group 16"/>
          <p:cNvGrpSpPr/>
          <p:nvPr/>
        </p:nvGrpSpPr>
        <p:grpSpPr>
          <a:xfrm rot="21600000">
            <a:off x="4883912" y="2897124"/>
            <a:ext cx="113790" cy="463465"/>
            <a:chOff x="0" y="0"/>
            <a:chExt cx="113790" cy="463465"/>
          </a:xfrm>
        </p:grpSpPr>
        <p:sp>
          <p:nvSpPr>
            <p:cNvPr id="140" name="path"/>
            <p:cNvSpPr/>
            <p:nvPr/>
          </p:nvSpPr>
          <p:spPr>
            <a:xfrm>
              <a:off x="18795"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142" name="path"/>
            <p:cNvSpPr/>
            <p:nvPr/>
          </p:nvSpPr>
          <p:spPr>
            <a:xfrm>
              <a:off x="0" y="0"/>
              <a:ext cx="113790"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18" name="group 18"/>
          <p:cNvGrpSpPr/>
          <p:nvPr/>
        </p:nvGrpSpPr>
        <p:grpSpPr>
          <a:xfrm rot="21600000">
            <a:off x="8312912" y="2897124"/>
            <a:ext cx="113789" cy="463465"/>
            <a:chOff x="0" y="0"/>
            <a:chExt cx="113789" cy="463465"/>
          </a:xfrm>
        </p:grpSpPr>
        <p:sp>
          <p:nvSpPr>
            <p:cNvPr id="144" name="path"/>
            <p:cNvSpPr/>
            <p:nvPr/>
          </p:nvSpPr>
          <p:spPr>
            <a:xfrm>
              <a:off x="18794"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146" name="path"/>
            <p:cNvSpPr/>
            <p:nvPr/>
          </p:nvSpPr>
          <p:spPr>
            <a:xfrm>
              <a:off x="0" y="0"/>
              <a:ext cx="113789"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20" name="group 20"/>
          <p:cNvGrpSpPr/>
          <p:nvPr/>
        </p:nvGrpSpPr>
        <p:grpSpPr>
          <a:xfrm rot="21600000">
            <a:off x="6941312" y="2897124"/>
            <a:ext cx="113789" cy="463465"/>
            <a:chOff x="0" y="0"/>
            <a:chExt cx="113789" cy="463465"/>
          </a:xfrm>
        </p:grpSpPr>
        <p:sp>
          <p:nvSpPr>
            <p:cNvPr id="148" name="path"/>
            <p:cNvSpPr/>
            <p:nvPr/>
          </p:nvSpPr>
          <p:spPr>
            <a:xfrm>
              <a:off x="18794"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150" name="path"/>
            <p:cNvSpPr/>
            <p:nvPr/>
          </p:nvSpPr>
          <p:spPr>
            <a:xfrm>
              <a:off x="0" y="0"/>
              <a:ext cx="113789"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22" name="group 22"/>
          <p:cNvGrpSpPr/>
          <p:nvPr/>
        </p:nvGrpSpPr>
        <p:grpSpPr>
          <a:xfrm rot="21600000">
            <a:off x="7627112" y="2897124"/>
            <a:ext cx="113789" cy="463465"/>
            <a:chOff x="0" y="0"/>
            <a:chExt cx="113789" cy="463465"/>
          </a:xfrm>
        </p:grpSpPr>
        <p:sp>
          <p:nvSpPr>
            <p:cNvPr id="152" name="path"/>
            <p:cNvSpPr/>
            <p:nvPr/>
          </p:nvSpPr>
          <p:spPr>
            <a:xfrm>
              <a:off x="18794"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154" name="path"/>
            <p:cNvSpPr/>
            <p:nvPr/>
          </p:nvSpPr>
          <p:spPr>
            <a:xfrm>
              <a:off x="0" y="0"/>
              <a:ext cx="113789"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24" name="group 24"/>
          <p:cNvGrpSpPr/>
          <p:nvPr/>
        </p:nvGrpSpPr>
        <p:grpSpPr>
          <a:xfrm rot="21600000">
            <a:off x="3334511" y="2496312"/>
            <a:ext cx="5373623" cy="420623"/>
            <a:chOff x="0" y="0"/>
            <a:chExt cx="5373623" cy="420623"/>
          </a:xfrm>
        </p:grpSpPr>
        <p:sp>
          <p:nvSpPr>
            <p:cNvPr id="156" name="rect"/>
            <p:cNvSpPr/>
            <p:nvPr/>
          </p:nvSpPr>
          <p:spPr>
            <a:xfrm>
              <a:off x="19811" y="19811"/>
              <a:ext cx="5334000" cy="381000"/>
            </a:xfrm>
            <a:prstGeom prst="rect">
              <a:avLst/>
            </a:prstGeom>
            <a:solidFill>
              <a:srgbClr val="66FFFF">
                <a:alpha val="100000"/>
              </a:srgbClr>
            </a:solidFill>
            <a:ln cap="flat">
              <a:noFill/>
              <a:prstDash val="solid"/>
              <a:miter lim="0"/>
            </a:ln>
          </p:spPr>
          <p:txBody>
            <a:bodyPr rtlCol="0"/>
            <a:lstStyle/>
            <a:p>
              <a:pPr algn="ctr"/>
              <a:endParaRPr lang="zh-CN" altLang="en-US"/>
            </a:p>
          </p:txBody>
        </p:sp>
        <p:sp>
          <p:nvSpPr>
            <p:cNvPr id="158" name="textbox 158"/>
            <p:cNvSpPr/>
            <p:nvPr/>
          </p:nvSpPr>
          <p:spPr>
            <a:xfrm>
              <a:off x="-12700" y="51096"/>
              <a:ext cx="5399404" cy="423544"/>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defTabSz="0" rtl="0" eaLnBrk="0">
                <a:lnSpc>
                  <a:spcPts val="3135"/>
                </a:lnSpc>
                <a:tabLst>
                  <a:tab pos="298450" algn="l"/>
                </a:tabLst>
              </a:pPr>
              <a:r>
                <a:rPr sz="900" kern="0" spc="0" dirty="0">
                  <a:solidFill>
                    <a:srgbClr val="CC3300">
                      <a:alpha val="100000"/>
                    </a:srgbClr>
                  </a:solidFill>
                  <a:latin typeface="Arial" panose="020B0604020202020204" pitchFamily="34" charset="0"/>
                  <a:ea typeface="黑体" panose="02010609060101010101" charset="-122"/>
                  <a:cs typeface="Arial" panose="020B0604020202020204" pitchFamily="34" charset="0"/>
                </a:rPr>
                <a:t>	</a:t>
              </a:r>
              <a:r>
                <a:rPr sz="900" kern="0" spc="10" dirty="0">
                  <a:solidFill>
                    <a:srgbClr val="CC3300">
                      <a:alpha val="100000"/>
                    </a:srgbClr>
                  </a:solidFill>
                  <a:latin typeface="Arial" panose="020B0604020202020204" pitchFamily="34" charset="0"/>
                  <a:ea typeface="黑体" panose="02010609060101010101" charset="-122"/>
                  <a:cs typeface="Arial" panose="020B0604020202020204" pitchFamily="34" charset="0"/>
                </a:rPr>
                <a:t>·                </a:t>
              </a:r>
              <a:r>
                <a:rPr sz="900" kern="0" spc="0" dirty="0">
                  <a:solidFill>
                    <a:srgbClr val="CC3300">
                      <a:alpha val="100000"/>
                    </a:srgbClr>
                  </a:solidFill>
                  <a:latin typeface="Arial" panose="020B0604020202020204" pitchFamily="34" charset="0"/>
                  <a:ea typeface="黑体" panose="02010609060101010101" charset="-122"/>
                  <a:cs typeface="Arial" panose="020B0604020202020204" pitchFamily="34" charset="0"/>
                </a:rPr>
                <a:t>                       ·       </a:t>
              </a:r>
              <a:r>
                <a:rPr sz="3600" kern="0" spc="0" baseline="13000" dirty="0">
                  <a:solidFill>
                    <a:srgbClr val="000000">
                      <a:alpha val="100000"/>
                    </a:srgbClr>
                  </a:solidFill>
                  <a:latin typeface="Arial" panose="020B0604020202020204" pitchFamily="34" charset="0"/>
                  <a:ea typeface="黑体" panose="02010609060101010101" charset="-122"/>
                  <a:cs typeface="Times New Roman" panose="02020603050405020304"/>
                </a:rPr>
                <a:t>48</a:t>
              </a:r>
              <a:r>
                <a:rPr sz="23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600" kern="0" spc="0" baseline="13000" dirty="0">
                  <a:solidFill>
                    <a:srgbClr val="000000">
                      <a:alpha val="100000"/>
                    </a:srgbClr>
                  </a:solidFill>
                  <a:latin typeface="Arial" panose="020B0604020202020204" pitchFamily="34" charset="0"/>
                  <a:ea typeface="黑体" panose="02010609060101010101" charset="-122"/>
                  <a:cs typeface="Times New Roman" panose="02020603050405020304"/>
                </a:rPr>
                <a:t>bit</a:t>
              </a:r>
              <a:r>
                <a:rPr sz="2300"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600" kern="0" spc="0" baseline="13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寄存器</a:t>
              </a:r>
              <a:r>
                <a:rPr sz="2300" kern="0" spc="1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900" kern="0" spc="0" dirty="0">
                  <a:solidFill>
                    <a:srgbClr val="CC3300">
                      <a:alpha val="100000"/>
                    </a:srgbClr>
                  </a:solidFill>
                  <a:latin typeface="Arial" panose="020B0604020202020204" pitchFamily="34" charset="0"/>
                  <a:ea typeface="黑体" panose="02010609060101010101" charset="-122"/>
                  <a:cs typeface="Arial" panose="020B0604020202020204" pitchFamily="34" charset="0"/>
                </a:rPr>
                <a:t>·                    ·           </a:t>
              </a:r>
              <a:endParaRPr lang="en-US" altLang="en-US" sz="900" dirty="0">
                <a:latin typeface="Arial" panose="020B0604020202020204" pitchFamily="34" charset="0"/>
                <a:ea typeface="黑体" panose="02010609060101010101" charset="-122"/>
              </a:endParaRPr>
            </a:p>
          </p:txBody>
        </p:sp>
        <p:sp>
          <p:nvSpPr>
            <p:cNvPr id="160" name="path"/>
            <p:cNvSpPr/>
            <p:nvPr/>
          </p:nvSpPr>
          <p:spPr>
            <a:xfrm>
              <a:off x="3627324" y="381000"/>
              <a:ext cx="38100" cy="39623"/>
            </a:xfrm>
            <a:custGeom>
              <a:avLst/>
              <a:gdLst/>
              <a:ahLst/>
              <a:cxnLst/>
              <a:rect l="0" t="0" r="0" b="0"/>
              <a:pathLst>
                <a:path w="60" h="62">
                  <a:moveTo>
                    <a:pt x="0" y="31"/>
                  </a:moveTo>
                  <a:lnTo>
                    <a:pt x="60" y="31"/>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162" name="path"/>
            <p:cNvSpPr/>
            <p:nvPr/>
          </p:nvSpPr>
          <p:spPr>
            <a:xfrm>
              <a:off x="936244" y="381000"/>
              <a:ext cx="38100" cy="39623"/>
            </a:xfrm>
            <a:custGeom>
              <a:avLst/>
              <a:gdLst/>
              <a:ahLst/>
              <a:cxnLst/>
              <a:rect l="0" t="0" r="0" b="0"/>
              <a:pathLst>
                <a:path w="60" h="62">
                  <a:moveTo>
                    <a:pt x="0" y="31"/>
                  </a:moveTo>
                  <a:lnTo>
                    <a:pt x="60" y="31"/>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164" name="rect"/>
            <p:cNvSpPr/>
            <p:nvPr/>
          </p:nvSpPr>
          <p:spPr>
            <a:xfrm>
              <a:off x="19811" y="0"/>
              <a:ext cx="5334000" cy="39623"/>
            </a:xfrm>
            <a:prstGeom prst="rect">
              <a:avLst/>
            </a:prstGeom>
            <a:solidFill>
              <a:srgbClr val="CC3300">
                <a:alpha val="100000"/>
              </a:srgbClr>
            </a:solidFill>
            <a:ln cap="flat">
              <a:noFill/>
              <a:prstDash val="solid"/>
              <a:miter lim="0"/>
            </a:ln>
          </p:spPr>
          <p:txBody>
            <a:bodyPr rtlCol="0"/>
            <a:lstStyle/>
            <a:p>
              <a:pPr algn="ctr"/>
              <a:endParaRPr lang="zh-CN" altLang="en-US"/>
            </a:p>
          </p:txBody>
        </p:sp>
      </p:grpSp>
      <p:sp>
        <p:nvSpPr>
          <p:cNvPr id="166" name="textbox 166"/>
          <p:cNvSpPr/>
          <p:nvPr/>
        </p:nvSpPr>
        <p:spPr>
          <a:xfrm>
            <a:off x="3410711" y="4802123"/>
            <a:ext cx="5374004" cy="401320"/>
          </a:xfrm>
          <a:prstGeom prst="rect">
            <a:avLst/>
          </a:prstGeom>
          <a:solidFill>
            <a:srgbClr val="66FFFF"/>
          </a:solidFill>
        </p:spPr>
        <p:txBody>
          <a:bodyPr vert="horz" wrap="square" lIns="0" tIns="0" rIns="0" bIns="0"/>
          <a:lstStyle/>
          <a:p>
            <a:pPr algn="l" rtl="0" eaLnBrk="0">
              <a:lnSpc>
                <a:spcPct val="100000"/>
              </a:lnSpc>
            </a:pPr>
            <a:endParaRPr lang="en-US" altLang="en-US" sz="300" dirty="0">
              <a:latin typeface="Arial" panose="020B0604020202020204" pitchFamily="34" charset="0"/>
              <a:ea typeface="黑体" panose="02010609060101010101" charset="-122"/>
            </a:endParaRPr>
          </a:p>
          <a:p>
            <a:pPr algn="l" defTabSz="0" rtl="0" eaLnBrk="0">
              <a:lnSpc>
                <a:spcPct val="101000"/>
              </a:lnSpc>
              <a:spcBef>
                <a:spcPts val="0"/>
              </a:spcBef>
              <a:tabLst>
                <a:tab pos="1851660" algn="l"/>
              </a:tabLst>
            </a:pPr>
            <a:r>
              <a:rPr sz="24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solidFill>
                  <a:srgbClr val="000000">
                    <a:alpha val="100000"/>
                  </a:srgbClr>
                </a:solidFill>
                <a:latin typeface="Arial" panose="020B0604020202020204" pitchFamily="34" charset="0"/>
                <a:ea typeface="黑体" panose="02010609060101010101" charset="-122"/>
                <a:cs typeface="Times New Roman" panose="02020603050405020304"/>
              </a:rPr>
              <a:t>32 b</a:t>
            </a:r>
            <a:r>
              <a:rPr sz="2400" u="sng" kern="0" spc="-30" dirty="0">
                <a:solidFill>
                  <a:srgbClr val="000000">
                    <a:alpha val="100000"/>
                  </a:srgbClr>
                </a:solidFill>
                <a:uFill>
                  <a:solidFill>
                    <a:srgbClr val="CC3300"/>
                  </a:solidFill>
                </a:uFill>
                <a:latin typeface="Arial" panose="020B0604020202020204" pitchFamily="34" charset="0"/>
                <a:ea typeface="黑体" panose="02010609060101010101" charset="-122"/>
                <a:cs typeface="Times New Roman" panose="02020603050405020304"/>
              </a:rPr>
              <a:t>it</a:t>
            </a:r>
            <a:r>
              <a:rPr sz="2400" u="sng" kern="0" spc="150" dirty="0">
                <a:solidFill>
                  <a:srgbClr val="000000">
                    <a:alpha val="100000"/>
                  </a:srgbClr>
                </a:solidFill>
                <a:uFill>
                  <a:solidFill>
                    <a:srgbClr val="CC3300"/>
                  </a:solidFill>
                </a:uFill>
                <a:latin typeface="Arial" panose="020B0604020202020204" pitchFamily="34" charset="0"/>
                <a:ea typeface="黑体" panose="02010609060101010101" charset="-122"/>
                <a:cs typeface="Times New Roman" panose="02020603050405020304"/>
              </a:rPr>
              <a:t> </a:t>
            </a:r>
            <a:r>
              <a:rPr sz="24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寄存器</a:t>
            </a:r>
            <a:r>
              <a:rPr sz="24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endParaRPr lang="en-US" altLang="en-US" sz="2400" dirty="0">
              <a:latin typeface="Arial" panose="020B0604020202020204" pitchFamily="34" charset="0"/>
              <a:ea typeface="黑体" panose="02010609060101010101" charset="-122"/>
            </a:endParaRPr>
          </a:p>
        </p:txBody>
      </p:sp>
      <p:sp>
        <p:nvSpPr>
          <p:cNvPr id="168" name="textbox 168"/>
          <p:cNvSpPr/>
          <p:nvPr/>
        </p:nvSpPr>
        <p:spPr>
          <a:xfrm>
            <a:off x="1576070" y="466725"/>
            <a:ext cx="3307715" cy="478155"/>
          </a:xfrm>
          <a:prstGeom prst="rect">
            <a:avLst/>
          </a:prstGeom>
        </p:spPr>
        <p:txBody>
          <a:bodyPr vert="horz" wrap="square" lIns="0" tIns="0" rIns="0" bIns="0"/>
          <a:lstStyle/>
          <a:p>
            <a:pPr algn="l" rtl="0" eaLnBrk="0">
              <a:lnSpc>
                <a:spcPct val="75000"/>
              </a:lnSpc>
            </a:pPr>
            <a:endParaRPr lang="en-US" altLang="en-US" sz="100" dirty="0">
              <a:latin typeface="Arial" panose="020B0604020202020204" pitchFamily="34" charset="0"/>
              <a:ea typeface="黑体" panose="02010609060101010101" charset="-122"/>
            </a:endParaRPr>
          </a:p>
          <a:p>
            <a:pPr marL="12700" algn="l" rtl="0" eaLnBrk="0">
              <a:lnSpc>
                <a:spcPct val="94000"/>
              </a:lnSpc>
              <a:buClrTx/>
              <a:buSzTx/>
              <a:buFontTx/>
            </a:pP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选择压缩运算S</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grpSp>
        <p:nvGrpSpPr>
          <p:cNvPr id="26" name="group 26"/>
          <p:cNvGrpSpPr/>
          <p:nvPr/>
        </p:nvGrpSpPr>
        <p:grpSpPr>
          <a:xfrm rot="21600000">
            <a:off x="7525511" y="3392423"/>
            <a:ext cx="344423" cy="877823"/>
            <a:chOff x="0" y="0"/>
            <a:chExt cx="344423" cy="877823"/>
          </a:xfrm>
        </p:grpSpPr>
        <p:sp>
          <p:nvSpPr>
            <p:cNvPr id="172"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174" name="textbox 174"/>
            <p:cNvSpPr/>
            <p:nvPr/>
          </p:nvSpPr>
          <p:spPr>
            <a:xfrm>
              <a:off x="42443" y="333908"/>
              <a:ext cx="279400" cy="374650"/>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3600" kern="0" spc="-5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5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7</a:t>
              </a:r>
              <a:endParaRPr lang="en-US" altLang="en-US" sz="2400" baseline="-17000" dirty="0">
                <a:latin typeface="Arial" panose="020B0604020202020204" pitchFamily="34" charset="0"/>
                <a:ea typeface="黑体" panose="02010609060101010101" charset="-122"/>
              </a:endParaRPr>
            </a:p>
          </p:txBody>
        </p:sp>
        <p:sp>
          <p:nvSpPr>
            <p:cNvPr id="176"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178"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180"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182"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28" name="group 28"/>
          <p:cNvGrpSpPr/>
          <p:nvPr/>
        </p:nvGrpSpPr>
        <p:grpSpPr>
          <a:xfrm rot="21600000">
            <a:off x="3480816" y="3392423"/>
            <a:ext cx="344423" cy="877823"/>
            <a:chOff x="0" y="0"/>
            <a:chExt cx="344423" cy="877823"/>
          </a:xfrm>
        </p:grpSpPr>
        <p:sp>
          <p:nvSpPr>
            <p:cNvPr id="184"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186" name="textbox 186"/>
            <p:cNvSpPr/>
            <p:nvPr/>
          </p:nvSpPr>
          <p:spPr>
            <a:xfrm>
              <a:off x="41299" y="333908"/>
              <a:ext cx="279400" cy="372109"/>
            </a:xfrm>
            <a:prstGeom prst="rect">
              <a:avLst/>
            </a:prstGeom>
          </p:spPr>
          <p:txBody>
            <a:bodyPr vert="horz" wrap="square" lIns="0" tIns="0" rIns="0" bIns="0"/>
            <a:lstStyle/>
            <a:p>
              <a:pPr algn="l" rtl="0" eaLnBrk="0">
                <a:lnSpc>
                  <a:spcPct val="86000"/>
                </a:lnSpc>
              </a:pPr>
              <a:endParaRPr lang="en-US" altLang="en-US" sz="100" dirty="0">
                <a:latin typeface="Arial" panose="020B0604020202020204" pitchFamily="34" charset="0"/>
                <a:ea typeface="黑体" panose="02010609060101010101" charset="-122"/>
              </a:endParaRPr>
            </a:p>
            <a:p>
              <a:pPr algn="r" rtl="0" eaLnBrk="0">
                <a:lnSpc>
                  <a:spcPct val="97000"/>
                </a:lnSpc>
              </a:pPr>
              <a:r>
                <a:rPr sz="3600" kern="0" spc="-5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5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baseline="-17000" dirty="0">
                <a:latin typeface="Arial" panose="020B0604020202020204" pitchFamily="34" charset="0"/>
                <a:ea typeface="黑体" panose="02010609060101010101" charset="-122"/>
              </a:endParaRPr>
            </a:p>
          </p:txBody>
        </p:sp>
        <p:sp>
          <p:nvSpPr>
            <p:cNvPr id="188"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190"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192"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194"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30" name="group 30"/>
          <p:cNvGrpSpPr/>
          <p:nvPr/>
        </p:nvGrpSpPr>
        <p:grpSpPr>
          <a:xfrm rot="21600000">
            <a:off x="6153911" y="3392423"/>
            <a:ext cx="344423" cy="877823"/>
            <a:chOff x="0" y="0"/>
            <a:chExt cx="344423" cy="877823"/>
          </a:xfrm>
        </p:grpSpPr>
        <p:sp>
          <p:nvSpPr>
            <p:cNvPr id="196"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198" name="textbox 198"/>
            <p:cNvSpPr/>
            <p:nvPr/>
          </p:nvSpPr>
          <p:spPr>
            <a:xfrm>
              <a:off x="42189" y="333908"/>
              <a:ext cx="279400" cy="374015"/>
            </a:xfrm>
            <a:prstGeom prst="rect">
              <a:avLst/>
            </a:prstGeom>
          </p:spPr>
          <p:txBody>
            <a:bodyPr vert="horz" wrap="square" lIns="0" tIns="0" rIns="0" bIns="0"/>
            <a:lstStyle/>
            <a:p>
              <a:pPr algn="l" rtl="0" eaLnBrk="0">
                <a:lnSpc>
                  <a:spcPct val="78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3600" kern="0" spc="-3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3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2400" baseline="-17000" dirty="0">
                <a:latin typeface="Arial" panose="020B0604020202020204" pitchFamily="34" charset="0"/>
                <a:ea typeface="黑体" panose="02010609060101010101" charset="-122"/>
              </a:endParaRPr>
            </a:p>
          </p:txBody>
        </p:sp>
        <p:sp>
          <p:nvSpPr>
            <p:cNvPr id="200"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02"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04"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206"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32" name="group 32"/>
          <p:cNvGrpSpPr/>
          <p:nvPr/>
        </p:nvGrpSpPr>
        <p:grpSpPr>
          <a:xfrm rot="21600000">
            <a:off x="4130040" y="3392423"/>
            <a:ext cx="344423" cy="877823"/>
            <a:chOff x="0" y="0"/>
            <a:chExt cx="344423" cy="877823"/>
          </a:xfrm>
        </p:grpSpPr>
        <p:sp>
          <p:nvSpPr>
            <p:cNvPr id="208"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210"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12" name="textbox 212"/>
            <p:cNvSpPr/>
            <p:nvPr/>
          </p:nvSpPr>
          <p:spPr>
            <a:xfrm>
              <a:off x="43077" y="333908"/>
              <a:ext cx="279400" cy="372109"/>
            </a:xfrm>
            <a:prstGeom prst="rect">
              <a:avLst/>
            </a:prstGeom>
          </p:spPr>
          <p:txBody>
            <a:bodyPr vert="horz" wrap="square" lIns="0" tIns="0" rIns="0" bIns="0"/>
            <a:lstStyle/>
            <a:p>
              <a:pPr algn="l" rtl="0" eaLnBrk="0">
                <a:lnSpc>
                  <a:spcPct val="86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600" kern="0" spc="-5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5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baseline="-17000" dirty="0">
                <a:latin typeface="Arial" panose="020B0604020202020204" pitchFamily="34" charset="0"/>
                <a:ea typeface="黑体" panose="02010609060101010101" charset="-122"/>
              </a:endParaRPr>
            </a:p>
          </p:txBody>
        </p:sp>
        <p:sp>
          <p:nvSpPr>
            <p:cNvPr id="214"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16"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218"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34" name="group 34"/>
          <p:cNvGrpSpPr/>
          <p:nvPr/>
        </p:nvGrpSpPr>
        <p:grpSpPr>
          <a:xfrm rot="21600000">
            <a:off x="8211311" y="3392423"/>
            <a:ext cx="344423" cy="877823"/>
            <a:chOff x="0" y="0"/>
            <a:chExt cx="344423" cy="877823"/>
          </a:xfrm>
        </p:grpSpPr>
        <p:sp>
          <p:nvSpPr>
            <p:cNvPr id="220"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222" name="textbox 222"/>
            <p:cNvSpPr/>
            <p:nvPr/>
          </p:nvSpPr>
          <p:spPr>
            <a:xfrm>
              <a:off x="42825" y="333908"/>
              <a:ext cx="279400" cy="374015"/>
            </a:xfrm>
            <a:prstGeom prst="rect">
              <a:avLst/>
            </a:prstGeom>
          </p:spPr>
          <p:txBody>
            <a:bodyPr vert="horz" wrap="square" lIns="0" tIns="0" rIns="0" bIns="0"/>
            <a:lstStyle/>
            <a:p>
              <a:pPr algn="l" rtl="0" eaLnBrk="0">
                <a:lnSpc>
                  <a:spcPct val="78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3600" kern="0" spc="-1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1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400" baseline="-15000" dirty="0">
                <a:latin typeface="Arial" panose="020B0604020202020204" pitchFamily="34" charset="0"/>
                <a:ea typeface="黑体" panose="02010609060101010101" charset="-122"/>
              </a:endParaRPr>
            </a:p>
          </p:txBody>
        </p:sp>
        <p:sp>
          <p:nvSpPr>
            <p:cNvPr id="224"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26"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28"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230"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36" name="group 36"/>
          <p:cNvGrpSpPr/>
          <p:nvPr/>
        </p:nvGrpSpPr>
        <p:grpSpPr>
          <a:xfrm rot="21600000">
            <a:off x="4782311" y="3392423"/>
            <a:ext cx="344423" cy="877823"/>
            <a:chOff x="0" y="0"/>
            <a:chExt cx="344423" cy="877823"/>
          </a:xfrm>
        </p:grpSpPr>
        <p:sp>
          <p:nvSpPr>
            <p:cNvPr id="232"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234" name="textbox 234"/>
            <p:cNvSpPr/>
            <p:nvPr/>
          </p:nvSpPr>
          <p:spPr>
            <a:xfrm>
              <a:off x="41808" y="333908"/>
              <a:ext cx="279400" cy="374015"/>
            </a:xfrm>
            <a:prstGeom prst="rect">
              <a:avLst/>
            </a:prstGeom>
          </p:spPr>
          <p:txBody>
            <a:bodyPr vert="horz" wrap="square" lIns="0" tIns="0" rIns="0" bIns="0"/>
            <a:lstStyle/>
            <a:p>
              <a:pPr algn="l" rtl="0" eaLnBrk="0">
                <a:lnSpc>
                  <a:spcPct val="78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3600" kern="0" spc="-3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3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baseline="-15000" dirty="0">
                <a:latin typeface="Arial" panose="020B0604020202020204" pitchFamily="34" charset="0"/>
                <a:ea typeface="黑体" panose="02010609060101010101" charset="-122"/>
              </a:endParaRPr>
            </a:p>
          </p:txBody>
        </p:sp>
        <p:sp>
          <p:nvSpPr>
            <p:cNvPr id="236"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38"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40"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242"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38" name="group 38"/>
          <p:cNvGrpSpPr/>
          <p:nvPr/>
        </p:nvGrpSpPr>
        <p:grpSpPr>
          <a:xfrm rot="21600000">
            <a:off x="6839711" y="3392423"/>
            <a:ext cx="344423" cy="877823"/>
            <a:chOff x="0" y="0"/>
            <a:chExt cx="344423" cy="877823"/>
          </a:xfrm>
        </p:grpSpPr>
        <p:sp>
          <p:nvSpPr>
            <p:cNvPr id="244"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246" name="textbox 246"/>
            <p:cNvSpPr/>
            <p:nvPr/>
          </p:nvSpPr>
          <p:spPr>
            <a:xfrm>
              <a:off x="42189" y="333908"/>
              <a:ext cx="279400" cy="374015"/>
            </a:xfrm>
            <a:prstGeom prst="rect">
              <a:avLst/>
            </a:prstGeom>
          </p:spPr>
          <p:txBody>
            <a:bodyPr vert="horz" wrap="square" lIns="0" tIns="0" rIns="0" bIns="0"/>
            <a:lstStyle/>
            <a:p>
              <a:pPr algn="l" rtl="0" eaLnBrk="0">
                <a:lnSpc>
                  <a:spcPct val="78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3600" kern="0" spc="-3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3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6</a:t>
              </a:r>
              <a:endParaRPr lang="en-US" altLang="en-US" sz="2400" baseline="-15000" dirty="0">
                <a:latin typeface="Arial" panose="020B0604020202020204" pitchFamily="34" charset="0"/>
                <a:ea typeface="黑体" panose="02010609060101010101" charset="-122"/>
              </a:endParaRPr>
            </a:p>
          </p:txBody>
        </p:sp>
        <p:sp>
          <p:nvSpPr>
            <p:cNvPr id="248"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50"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52"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254"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grpSp>
        <p:nvGrpSpPr>
          <p:cNvPr id="40" name="group 40"/>
          <p:cNvGrpSpPr/>
          <p:nvPr/>
        </p:nvGrpSpPr>
        <p:grpSpPr>
          <a:xfrm rot="21600000">
            <a:off x="5468111" y="3392423"/>
            <a:ext cx="344423" cy="877823"/>
            <a:chOff x="0" y="0"/>
            <a:chExt cx="344423" cy="877823"/>
          </a:xfrm>
        </p:grpSpPr>
        <p:sp>
          <p:nvSpPr>
            <p:cNvPr id="256" name="rect"/>
            <p:cNvSpPr/>
            <p:nvPr/>
          </p:nvSpPr>
          <p:spPr>
            <a:xfrm>
              <a:off x="19811" y="19811"/>
              <a:ext cx="304800" cy="838200"/>
            </a:xfrm>
            <a:prstGeom prst="rect">
              <a:avLst/>
            </a:prstGeom>
            <a:solidFill>
              <a:srgbClr val="ED7D31">
                <a:alpha val="100000"/>
              </a:srgbClr>
            </a:solidFill>
            <a:ln cap="flat">
              <a:noFill/>
              <a:prstDash val="solid"/>
              <a:miter lim="0"/>
            </a:ln>
          </p:spPr>
          <p:txBody>
            <a:bodyPr rtlCol="0"/>
            <a:lstStyle/>
            <a:p>
              <a:pPr algn="ctr"/>
              <a:endParaRPr lang="zh-CN" altLang="en-US"/>
            </a:p>
          </p:txBody>
        </p:sp>
        <p:sp>
          <p:nvSpPr>
            <p:cNvPr id="258" name="textbox 258"/>
            <p:cNvSpPr/>
            <p:nvPr/>
          </p:nvSpPr>
          <p:spPr>
            <a:xfrm>
              <a:off x="41808" y="333908"/>
              <a:ext cx="279400" cy="372109"/>
            </a:xfrm>
            <a:prstGeom prst="rect">
              <a:avLst/>
            </a:prstGeom>
          </p:spPr>
          <p:txBody>
            <a:bodyPr vert="horz" wrap="square" lIns="0" tIns="0" rIns="0" bIns="0"/>
            <a:lstStyle/>
            <a:p>
              <a:pPr algn="l" rtl="0" eaLnBrk="0">
                <a:lnSpc>
                  <a:spcPct val="86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600" kern="0" spc="-5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5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baseline="-17000" dirty="0">
                <a:latin typeface="Arial" panose="020B0604020202020204" pitchFamily="34" charset="0"/>
                <a:ea typeface="黑体" panose="02010609060101010101" charset="-122"/>
              </a:endParaRPr>
            </a:p>
          </p:txBody>
        </p:sp>
        <p:sp>
          <p:nvSpPr>
            <p:cNvPr id="260" name="rect"/>
            <p:cNvSpPr/>
            <p:nvPr/>
          </p:nvSpPr>
          <p:spPr>
            <a:xfrm>
              <a:off x="30480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62" name="rect"/>
            <p:cNvSpPr/>
            <p:nvPr/>
          </p:nvSpPr>
          <p:spPr>
            <a:xfrm>
              <a:off x="0" y="19811"/>
              <a:ext cx="39623" cy="838200"/>
            </a:xfrm>
            <a:prstGeom prst="rect">
              <a:avLst/>
            </a:prstGeom>
            <a:solidFill>
              <a:srgbClr val="FF3300">
                <a:alpha val="100000"/>
              </a:srgbClr>
            </a:solidFill>
            <a:ln cap="flat">
              <a:noFill/>
              <a:prstDash val="solid"/>
              <a:miter lim="0"/>
            </a:ln>
          </p:spPr>
          <p:txBody>
            <a:bodyPr rtlCol="0"/>
            <a:lstStyle/>
            <a:p>
              <a:pPr algn="ctr"/>
              <a:endParaRPr lang="zh-CN" altLang="en-US"/>
            </a:p>
          </p:txBody>
        </p:sp>
        <p:sp>
          <p:nvSpPr>
            <p:cNvPr id="264" name="path"/>
            <p:cNvSpPr/>
            <p:nvPr/>
          </p:nvSpPr>
          <p:spPr>
            <a:xfrm>
              <a:off x="19811" y="0"/>
              <a:ext cx="304800" cy="39623"/>
            </a:xfrm>
            <a:custGeom>
              <a:avLst/>
              <a:gdLst/>
              <a:ahLst/>
              <a:cxnLst/>
              <a:rect l="0" t="0" r="0" b="0"/>
              <a:pathLst>
                <a:path w="480" h="62">
                  <a:moveTo>
                    <a:pt x="480" y="31"/>
                  </a:moveTo>
                  <a:lnTo>
                    <a:pt x="0" y="31"/>
                  </a:lnTo>
                </a:path>
              </a:pathLst>
            </a:custGeom>
            <a:noFill/>
            <a:ln w="39623" cap="flat">
              <a:solidFill>
                <a:srgbClr val="FF3300">
                  <a:alpha val="100000"/>
                </a:srgbClr>
              </a:solidFill>
              <a:prstDash val="solid"/>
              <a:miter lim="1000000"/>
            </a:ln>
          </p:spPr>
          <p:txBody>
            <a:bodyPr rtlCol="0"/>
            <a:lstStyle/>
            <a:p>
              <a:pPr algn="ctr"/>
              <a:endParaRPr lang="zh-CN" altLang="en-US"/>
            </a:p>
          </p:txBody>
        </p:sp>
        <p:sp>
          <p:nvSpPr>
            <p:cNvPr id="266" name="path"/>
            <p:cNvSpPr/>
            <p:nvPr/>
          </p:nvSpPr>
          <p:spPr>
            <a:xfrm>
              <a:off x="19811" y="838200"/>
              <a:ext cx="304800" cy="39623"/>
            </a:xfrm>
            <a:custGeom>
              <a:avLst/>
              <a:gdLst/>
              <a:ahLst/>
              <a:cxnLst/>
              <a:rect l="0" t="0" r="0" b="0"/>
              <a:pathLst>
                <a:path w="480" h="62">
                  <a:moveTo>
                    <a:pt x="0" y="31"/>
                  </a:moveTo>
                  <a:lnTo>
                    <a:pt x="480" y="31"/>
                  </a:lnTo>
                </a:path>
              </a:pathLst>
            </a:custGeom>
            <a:noFill/>
            <a:ln w="39623" cap="flat">
              <a:solidFill>
                <a:srgbClr val="FF3300">
                  <a:alpha val="100000"/>
                </a:srgbClr>
              </a:solidFill>
              <a:prstDash val="solid"/>
              <a:miter lim="1000000"/>
            </a:ln>
          </p:spPr>
          <p:txBody>
            <a:bodyPr rtlCol="0"/>
            <a:lstStyle/>
            <a:p>
              <a:pPr algn="ctr"/>
              <a:endParaRPr lang="zh-CN" altLang="en-US"/>
            </a:p>
          </p:txBody>
        </p:sp>
      </p:grpSp>
      <p:sp>
        <p:nvSpPr>
          <p:cNvPr id="26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270" name="picture 270"/>
          <p:cNvPicPr>
            <a:picLocks noChangeAspect="1"/>
          </p:cNvPicPr>
          <p:nvPr/>
        </p:nvPicPr>
        <p:blipFill>
          <a:blip r:embed="rId1"/>
          <a:stretch>
            <a:fillRect/>
          </a:stretch>
        </p:blipFill>
        <p:spPr>
          <a:xfrm rot="21600000">
            <a:off x="822960" y="408431"/>
            <a:ext cx="420623" cy="655320"/>
          </a:xfrm>
          <a:prstGeom prst="rect">
            <a:avLst/>
          </a:prstGeom>
        </p:spPr>
      </p:pic>
      <p:sp>
        <p:nvSpPr>
          <p:cNvPr id="272"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grpSp>
        <p:nvGrpSpPr>
          <p:cNvPr id="42" name="group 42"/>
          <p:cNvGrpSpPr/>
          <p:nvPr/>
        </p:nvGrpSpPr>
        <p:grpSpPr>
          <a:xfrm rot="21600000">
            <a:off x="5714479" y="2054352"/>
            <a:ext cx="461289" cy="465861"/>
            <a:chOff x="0" y="0"/>
            <a:chExt cx="461289" cy="465861"/>
          </a:xfrm>
        </p:grpSpPr>
        <p:sp>
          <p:nvSpPr>
            <p:cNvPr id="274" name="path"/>
            <p:cNvSpPr/>
            <p:nvPr/>
          </p:nvSpPr>
          <p:spPr>
            <a:xfrm>
              <a:off x="2044" y="4571"/>
              <a:ext cx="457200" cy="457200"/>
            </a:xfrm>
            <a:custGeom>
              <a:avLst/>
              <a:gdLst/>
              <a:ahLst/>
              <a:cxnLst/>
              <a:rect l="0" t="0" r="0" b="0"/>
              <a:pathLst>
                <a:path w="720" h="720">
                  <a:moveTo>
                    <a:pt x="0" y="540"/>
                  </a:moveTo>
                  <a:lnTo>
                    <a:pt x="180" y="540"/>
                  </a:lnTo>
                  <a:lnTo>
                    <a:pt x="180" y="0"/>
                  </a:lnTo>
                  <a:lnTo>
                    <a:pt x="540" y="0"/>
                  </a:lnTo>
                  <a:lnTo>
                    <a:pt x="540" y="540"/>
                  </a:lnTo>
                  <a:lnTo>
                    <a:pt x="720" y="540"/>
                  </a:lnTo>
                  <a:lnTo>
                    <a:pt x="3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276" name="path"/>
            <p:cNvSpPr/>
            <p:nvPr/>
          </p:nvSpPr>
          <p:spPr>
            <a:xfrm>
              <a:off x="0" y="0"/>
              <a:ext cx="461289" cy="465861"/>
            </a:xfrm>
            <a:custGeom>
              <a:avLst/>
              <a:gdLst/>
              <a:ahLst/>
              <a:cxnLst/>
              <a:rect l="0" t="0" r="0" b="0"/>
              <a:pathLst>
                <a:path w="726" h="733">
                  <a:moveTo>
                    <a:pt x="3" y="547"/>
                  </a:moveTo>
                  <a:lnTo>
                    <a:pt x="183" y="547"/>
                  </a:lnTo>
                  <a:lnTo>
                    <a:pt x="183" y="7"/>
                  </a:lnTo>
                  <a:lnTo>
                    <a:pt x="543" y="7"/>
                  </a:lnTo>
                  <a:lnTo>
                    <a:pt x="543" y="547"/>
                  </a:lnTo>
                  <a:lnTo>
                    <a:pt x="723" y="547"/>
                  </a:lnTo>
                  <a:lnTo>
                    <a:pt x="363" y="727"/>
                  </a:lnTo>
                  <a:lnTo>
                    <a:pt x="3" y="547"/>
                  </a:lnTo>
                  <a:close/>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44" name="group 44"/>
          <p:cNvGrpSpPr/>
          <p:nvPr/>
        </p:nvGrpSpPr>
        <p:grpSpPr>
          <a:xfrm rot="21600000">
            <a:off x="5714479" y="5183123"/>
            <a:ext cx="461289" cy="461289"/>
            <a:chOff x="0" y="0"/>
            <a:chExt cx="461289" cy="461289"/>
          </a:xfrm>
        </p:grpSpPr>
        <p:sp>
          <p:nvSpPr>
            <p:cNvPr id="278" name="path"/>
            <p:cNvSpPr/>
            <p:nvPr/>
          </p:nvSpPr>
          <p:spPr>
            <a:xfrm>
              <a:off x="2044" y="0"/>
              <a:ext cx="457200" cy="457200"/>
            </a:xfrm>
            <a:custGeom>
              <a:avLst/>
              <a:gdLst/>
              <a:ahLst/>
              <a:cxnLst/>
              <a:rect l="0" t="0" r="0" b="0"/>
              <a:pathLst>
                <a:path w="720" h="720">
                  <a:moveTo>
                    <a:pt x="0" y="540"/>
                  </a:moveTo>
                  <a:lnTo>
                    <a:pt x="180" y="540"/>
                  </a:lnTo>
                  <a:lnTo>
                    <a:pt x="180" y="0"/>
                  </a:lnTo>
                  <a:lnTo>
                    <a:pt x="540" y="0"/>
                  </a:lnTo>
                  <a:lnTo>
                    <a:pt x="540" y="540"/>
                  </a:lnTo>
                  <a:lnTo>
                    <a:pt x="720" y="540"/>
                  </a:lnTo>
                  <a:lnTo>
                    <a:pt x="3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280" name="path"/>
            <p:cNvSpPr/>
            <p:nvPr/>
          </p:nvSpPr>
          <p:spPr>
            <a:xfrm>
              <a:off x="0" y="0"/>
              <a:ext cx="461289" cy="461289"/>
            </a:xfrm>
            <a:custGeom>
              <a:avLst/>
              <a:gdLst/>
              <a:ahLst/>
              <a:cxnLst/>
              <a:rect l="0" t="0" r="0" b="0"/>
              <a:pathLst>
                <a:path w="726" h="726">
                  <a:moveTo>
                    <a:pt x="3" y="540"/>
                  </a:moveTo>
                  <a:lnTo>
                    <a:pt x="183" y="540"/>
                  </a:lnTo>
                  <a:lnTo>
                    <a:pt x="183" y="0"/>
                  </a:lnTo>
                  <a:moveTo>
                    <a:pt x="543" y="0"/>
                  </a:moveTo>
                  <a:lnTo>
                    <a:pt x="543" y="540"/>
                  </a:lnTo>
                  <a:lnTo>
                    <a:pt x="723" y="540"/>
                  </a:lnTo>
                  <a:lnTo>
                    <a:pt x="363" y="720"/>
                  </a:lnTo>
                  <a:lnTo>
                    <a:pt x="3" y="540"/>
                  </a:lnTo>
                </a:path>
              </a:pathLst>
            </a:custGeom>
            <a:noFill/>
            <a:ln w="9143" cap="flat">
              <a:solidFill>
                <a:srgbClr val="CC3300">
                  <a:alpha val="100000"/>
                </a:srgbClr>
              </a:solidFill>
              <a:prstDash val="solid"/>
              <a:miter lim="1000000"/>
            </a:ln>
          </p:spPr>
          <p:txBody>
            <a:bodyPr rtlCol="0"/>
            <a:lstStyle/>
            <a:p>
              <a:pPr algn="ctr"/>
              <a:endParaRPr lang="zh-CN" altLang="en-US"/>
            </a:p>
          </p:txBody>
        </p:sp>
      </p:grpSp>
      <p:sp>
        <p:nvSpPr>
          <p:cNvPr id="282" name="rect"/>
          <p:cNvSpPr/>
          <p:nvPr/>
        </p:nvSpPr>
        <p:spPr>
          <a:xfrm>
            <a:off x="3430523" y="4782311"/>
            <a:ext cx="5334000" cy="39623"/>
          </a:xfrm>
          <a:prstGeom prst="rect">
            <a:avLst/>
          </a:prstGeom>
          <a:solidFill>
            <a:srgbClr val="CC3300">
              <a:alpha val="100000"/>
            </a:srgbClr>
          </a:solidFill>
          <a:ln cap="flat">
            <a:noFill/>
            <a:prstDash val="solid"/>
            <a:miter lim="0"/>
          </a:ln>
        </p:spPr>
        <p:txBody>
          <a:bodyPr rtlCol="0"/>
          <a:lstStyle/>
          <a:p>
            <a:pPr algn="ctr"/>
            <a:endParaRPr lang="zh-CN" altLang="en-US"/>
          </a:p>
        </p:txBody>
      </p:sp>
      <p:grpSp>
        <p:nvGrpSpPr>
          <p:cNvPr id="46" name="group 46"/>
          <p:cNvGrpSpPr/>
          <p:nvPr/>
        </p:nvGrpSpPr>
        <p:grpSpPr>
          <a:xfrm rot="21600000">
            <a:off x="3597656" y="4248911"/>
            <a:ext cx="113790" cy="483277"/>
            <a:chOff x="0" y="0"/>
            <a:chExt cx="113790" cy="483277"/>
          </a:xfrm>
        </p:grpSpPr>
        <p:sp>
          <p:nvSpPr>
            <p:cNvPr id="284" name="path"/>
            <p:cNvSpPr/>
            <p:nvPr/>
          </p:nvSpPr>
          <p:spPr>
            <a:xfrm>
              <a:off x="18795"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286" name="path"/>
            <p:cNvSpPr/>
            <p:nvPr/>
          </p:nvSpPr>
          <p:spPr>
            <a:xfrm>
              <a:off x="0" y="0"/>
              <a:ext cx="113790"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48" name="group 48"/>
          <p:cNvGrpSpPr/>
          <p:nvPr/>
        </p:nvGrpSpPr>
        <p:grpSpPr>
          <a:xfrm rot="21600000">
            <a:off x="4249928" y="4248911"/>
            <a:ext cx="113790" cy="483277"/>
            <a:chOff x="0" y="0"/>
            <a:chExt cx="113790" cy="483277"/>
          </a:xfrm>
        </p:grpSpPr>
        <p:sp>
          <p:nvSpPr>
            <p:cNvPr id="288" name="path"/>
            <p:cNvSpPr/>
            <p:nvPr/>
          </p:nvSpPr>
          <p:spPr>
            <a:xfrm>
              <a:off x="18795"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290" name="path"/>
            <p:cNvSpPr/>
            <p:nvPr/>
          </p:nvSpPr>
          <p:spPr>
            <a:xfrm>
              <a:off x="0" y="0"/>
              <a:ext cx="113790"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50" name="group 50"/>
          <p:cNvGrpSpPr/>
          <p:nvPr/>
        </p:nvGrpSpPr>
        <p:grpSpPr>
          <a:xfrm rot="21600000">
            <a:off x="4902200" y="4248911"/>
            <a:ext cx="113790" cy="483277"/>
            <a:chOff x="0" y="0"/>
            <a:chExt cx="113790" cy="483277"/>
          </a:xfrm>
        </p:grpSpPr>
        <p:sp>
          <p:nvSpPr>
            <p:cNvPr id="292" name="path"/>
            <p:cNvSpPr/>
            <p:nvPr/>
          </p:nvSpPr>
          <p:spPr>
            <a:xfrm>
              <a:off x="18795"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294" name="path"/>
            <p:cNvSpPr/>
            <p:nvPr/>
          </p:nvSpPr>
          <p:spPr>
            <a:xfrm>
              <a:off x="0" y="0"/>
              <a:ext cx="113790"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52" name="group 52"/>
          <p:cNvGrpSpPr/>
          <p:nvPr/>
        </p:nvGrpSpPr>
        <p:grpSpPr>
          <a:xfrm rot="21600000">
            <a:off x="5588000" y="4248911"/>
            <a:ext cx="113790" cy="483277"/>
            <a:chOff x="0" y="0"/>
            <a:chExt cx="113790" cy="483277"/>
          </a:xfrm>
        </p:grpSpPr>
        <p:sp>
          <p:nvSpPr>
            <p:cNvPr id="296" name="path"/>
            <p:cNvSpPr/>
            <p:nvPr/>
          </p:nvSpPr>
          <p:spPr>
            <a:xfrm>
              <a:off x="18795"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298" name="path"/>
            <p:cNvSpPr/>
            <p:nvPr/>
          </p:nvSpPr>
          <p:spPr>
            <a:xfrm>
              <a:off x="0" y="0"/>
              <a:ext cx="113790"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54" name="group 54"/>
          <p:cNvGrpSpPr/>
          <p:nvPr/>
        </p:nvGrpSpPr>
        <p:grpSpPr>
          <a:xfrm rot="21600000">
            <a:off x="6273800" y="4248911"/>
            <a:ext cx="113790" cy="483277"/>
            <a:chOff x="0" y="0"/>
            <a:chExt cx="113790" cy="483277"/>
          </a:xfrm>
        </p:grpSpPr>
        <p:sp>
          <p:nvSpPr>
            <p:cNvPr id="300" name="path"/>
            <p:cNvSpPr/>
            <p:nvPr/>
          </p:nvSpPr>
          <p:spPr>
            <a:xfrm>
              <a:off x="18795"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302" name="path"/>
            <p:cNvSpPr/>
            <p:nvPr/>
          </p:nvSpPr>
          <p:spPr>
            <a:xfrm>
              <a:off x="0" y="0"/>
              <a:ext cx="113790"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56" name="group 56"/>
          <p:cNvGrpSpPr/>
          <p:nvPr/>
        </p:nvGrpSpPr>
        <p:grpSpPr>
          <a:xfrm rot="21600000">
            <a:off x="8331201" y="4248911"/>
            <a:ext cx="113789" cy="483277"/>
            <a:chOff x="0" y="0"/>
            <a:chExt cx="113789" cy="483277"/>
          </a:xfrm>
        </p:grpSpPr>
        <p:sp>
          <p:nvSpPr>
            <p:cNvPr id="304" name="path"/>
            <p:cNvSpPr/>
            <p:nvPr/>
          </p:nvSpPr>
          <p:spPr>
            <a:xfrm>
              <a:off x="18794"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306" name="path"/>
            <p:cNvSpPr/>
            <p:nvPr/>
          </p:nvSpPr>
          <p:spPr>
            <a:xfrm>
              <a:off x="0" y="0"/>
              <a:ext cx="113789"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58" name="group 58"/>
          <p:cNvGrpSpPr/>
          <p:nvPr/>
        </p:nvGrpSpPr>
        <p:grpSpPr>
          <a:xfrm rot="21600000">
            <a:off x="7645401" y="4248911"/>
            <a:ext cx="113789" cy="483277"/>
            <a:chOff x="0" y="0"/>
            <a:chExt cx="113789" cy="483277"/>
          </a:xfrm>
        </p:grpSpPr>
        <p:sp>
          <p:nvSpPr>
            <p:cNvPr id="308" name="path"/>
            <p:cNvSpPr/>
            <p:nvPr/>
          </p:nvSpPr>
          <p:spPr>
            <a:xfrm>
              <a:off x="18794"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310" name="path"/>
            <p:cNvSpPr/>
            <p:nvPr/>
          </p:nvSpPr>
          <p:spPr>
            <a:xfrm>
              <a:off x="0" y="0"/>
              <a:ext cx="113789"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60" name="group 60"/>
          <p:cNvGrpSpPr/>
          <p:nvPr/>
        </p:nvGrpSpPr>
        <p:grpSpPr>
          <a:xfrm rot="21600000">
            <a:off x="6959601" y="4248911"/>
            <a:ext cx="113789" cy="483277"/>
            <a:chOff x="0" y="0"/>
            <a:chExt cx="113789" cy="483277"/>
          </a:xfrm>
        </p:grpSpPr>
        <p:sp>
          <p:nvSpPr>
            <p:cNvPr id="312" name="path"/>
            <p:cNvSpPr/>
            <p:nvPr/>
          </p:nvSpPr>
          <p:spPr>
            <a:xfrm>
              <a:off x="18794" y="19811"/>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314" name="path"/>
            <p:cNvSpPr/>
            <p:nvPr/>
          </p:nvSpPr>
          <p:spPr>
            <a:xfrm>
              <a:off x="0" y="0"/>
              <a:ext cx="113789" cy="483277"/>
            </a:xfrm>
            <a:custGeom>
              <a:avLst/>
              <a:gdLst/>
              <a:ahLst/>
              <a:cxnLst/>
              <a:rect l="0" t="0" r="0" b="0"/>
              <a:pathLst>
                <a:path w="179" h="761">
                  <a:moveTo>
                    <a:pt x="29" y="571"/>
                  </a:moveTo>
                  <a:lnTo>
                    <a:pt x="59" y="571"/>
                  </a:lnTo>
                  <a:lnTo>
                    <a:pt x="59" y="31"/>
                  </a:lnTo>
                  <a:lnTo>
                    <a:pt x="119" y="31"/>
                  </a:lnTo>
                  <a:lnTo>
                    <a:pt x="119" y="571"/>
                  </a:lnTo>
                  <a:lnTo>
                    <a:pt x="149" y="571"/>
                  </a:lnTo>
                  <a:lnTo>
                    <a:pt x="89" y="751"/>
                  </a:lnTo>
                  <a:lnTo>
                    <a:pt x="29" y="571"/>
                  </a:lnTo>
                  <a:close/>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62" name="group 62"/>
          <p:cNvGrpSpPr/>
          <p:nvPr/>
        </p:nvGrpSpPr>
        <p:grpSpPr>
          <a:xfrm rot="21600000">
            <a:off x="5569712" y="2897124"/>
            <a:ext cx="113790" cy="463465"/>
            <a:chOff x="0" y="0"/>
            <a:chExt cx="113790" cy="463465"/>
          </a:xfrm>
        </p:grpSpPr>
        <p:sp>
          <p:nvSpPr>
            <p:cNvPr id="316" name="path"/>
            <p:cNvSpPr/>
            <p:nvPr/>
          </p:nvSpPr>
          <p:spPr>
            <a:xfrm>
              <a:off x="18795"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318" name="path"/>
            <p:cNvSpPr/>
            <p:nvPr/>
          </p:nvSpPr>
          <p:spPr>
            <a:xfrm>
              <a:off x="0" y="0"/>
              <a:ext cx="113790"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64" name="group 64"/>
          <p:cNvGrpSpPr/>
          <p:nvPr/>
        </p:nvGrpSpPr>
        <p:grpSpPr>
          <a:xfrm rot="21600000">
            <a:off x="6255512" y="2897124"/>
            <a:ext cx="113790" cy="463465"/>
            <a:chOff x="0" y="0"/>
            <a:chExt cx="113790" cy="463465"/>
          </a:xfrm>
        </p:grpSpPr>
        <p:sp>
          <p:nvSpPr>
            <p:cNvPr id="320" name="path"/>
            <p:cNvSpPr/>
            <p:nvPr/>
          </p:nvSpPr>
          <p:spPr>
            <a:xfrm>
              <a:off x="18795" y="0"/>
              <a:ext cx="76200" cy="457200"/>
            </a:xfrm>
            <a:custGeom>
              <a:avLst/>
              <a:gdLst/>
              <a:ahLst/>
              <a:cxnLst/>
              <a:rect l="0" t="0" r="0" b="0"/>
              <a:pathLst>
                <a:path w="120" h="720">
                  <a:moveTo>
                    <a:pt x="0" y="540"/>
                  </a:moveTo>
                  <a:lnTo>
                    <a:pt x="30" y="540"/>
                  </a:lnTo>
                  <a:lnTo>
                    <a:pt x="30" y="0"/>
                  </a:lnTo>
                  <a:lnTo>
                    <a:pt x="90" y="0"/>
                  </a:lnTo>
                  <a:lnTo>
                    <a:pt x="90" y="540"/>
                  </a:lnTo>
                  <a:lnTo>
                    <a:pt x="120" y="540"/>
                  </a:lnTo>
                  <a:lnTo>
                    <a:pt x="60" y="720"/>
                  </a:lnTo>
                  <a:lnTo>
                    <a:pt x="0" y="54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322" name="path"/>
            <p:cNvSpPr/>
            <p:nvPr/>
          </p:nvSpPr>
          <p:spPr>
            <a:xfrm>
              <a:off x="0" y="0"/>
              <a:ext cx="113790" cy="463465"/>
            </a:xfrm>
            <a:custGeom>
              <a:avLst/>
              <a:gdLst/>
              <a:ahLst/>
              <a:cxnLst/>
              <a:rect l="0" t="0" r="0" b="0"/>
              <a:pathLst>
                <a:path w="179" h="729">
                  <a:moveTo>
                    <a:pt x="29" y="540"/>
                  </a:moveTo>
                  <a:lnTo>
                    <a:pt x="59" y="540"/>
                  </a:lnTo>
                  <a:lnTo>
                    <a:pt x="59" y="0"/>
                  </a:lnTo>
                  <a:moveTo>
                    <a:pt x="119" y="0"/>
                  </a:moveTo>
                  <a:lnTo>
                    <a:pt x="119" y="540"/>
                  </a:lnTo>
                  <a:lnTo>
                    <a:pt x="149" y="540"/>
                  </a:lnTo>
                  <a:lnTo>
                    <a:pt x="89" y="720"/>
                  </a:lnTo>
                  <a:lnTo>
                    <a:pt x="29" y="54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4" name="table 324"/>
          <p:cNvGraphicFramePr>
            <a:graphicFrameLocks noGrp="1"/>
          </p:cNvGraphicFramePr>
          <p:nvPr>
            <p:custDataLst>
              <p:tags r:id="rId1"/>
            </p:custDataLst>
          </p:nvPr>
        </p:nvGraphicFramePr>
        <p:xfrm>
          <a:off x="838835" y="941070"/>
          <a:ext cx="10295255" cy="5297805"/>
        </p:xfrm>
        <a:graphic>
          <a:graphicData uri="http://schemas.openxmlformats.org/drawingml/2006/table">
            <a:tbl>
              <a:tblPr/>
              <a:tblGrid>
                <a:gridCol w="571500"/>
                <a:gridCol w="9120505"/>
                <a:gridCol w="603250"/>
              </a:tblGrid>
              <a:tr h="466090">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600" dirty="0">
                        <a:latin typeface="Arial" panose="020B0604020202020204" pitchFamily="34" charset="0"/>
                        <a:ea typeface="黑体" panose="02010609060101010101" charset="-122"/>
                      </a:endParaRPr>
                    </a:p>
                    <a:p>
                      <a:pPr marL="156210" algn="l" rtl="0" eaLnBrk="0">
                        <a:lnSpc>
                          <a:spcPct val="79000"/>
                        </a:lnSpc>
                        <a:spcBef>
                          <a:spcPts val="5"/>
                        </a:spcBef>
                      </a:pP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0     1     2</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3     4</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7</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9    10  </a:t>
                      </a:r>
                      <a:r>
                        <a:rPr sz="2300" kern="0" spc="-60" dirty="0">
                          <a:solidFill>
                            <a:srgbClr val="000000">
                              <a:alpha val="100000"/>
                            </a:srgbClr>
                          </a:solidFill>
                          <a:latin typeface="Arial" panose="020B0604020202020204" pitchFamily="34" charset="0"/>
                          <a:ea typeface="黑体" panose="02010609060101010101" charset="-122"/>
                          <a:cs typeface="Times New Roman" panose="02020603050405020304"/>
                        </a:rPr>
                        <a:t>  11</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13</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38605">
                <a:tc>
                  <a:txBody>
                    <a:bodyPr/>
                    <a:lstStyle/>
                    <a:p>
                      <a:pPr algn="l" rtl="0" eaLnBrk="0">
                        <a:lnSpc>
                          <a:spcPct val="100000"/>
                        </a:lnSpc>
                      </a:pPr>
                      <a:endParaRPr lang="en-US" altLang="en-US" sz="600" dirty="0">
                        <a:latin typeface="Arial" panose="020B0604020202020204" pitchFamily="34" charset="0"/>
                        <a:ea typeface="黑体" panose="02010609060101010101" charset="-122"/>
                      </a:endParaRPr>
                    </a:p>
                    <a:p>
                      <a:pPr marL="86360" algn="l" rtl="0" eaLnBrk="0">
                        <a:lnSpc>
                          <a:spcPct val="76000"/>
                        </a:lnSpc>
                        <a:spcBef>
                          <a:spcPts val="0"/>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p>
                      <a:pPr marL="111125" algn="l" rtl="0" eaLnBrk="0">
                        <a:lnSpc>
                          <a:spcPct val="76000"/>
                        </a:lnSpc>
                        <a:spcBef>
                          <a:spcPts val="69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p>
                      <a:pPr marL="81280" algn="l" rtl="0" eaLnBrk="0">
                        <a:lnSpc>
                          <a:spcPct val="76000"/>
                        </a:lnSpc>
                        <a:spcBef>
                          <a:spcPts val="69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p>
                      <a:pPr marL="87630" algn="l" rtl="0" eaLnBrk="0">
                        <a:lnSpc>
                          <a:spcPct val="73000"/>
                        </a:lnSpc>
                        <a:spcBef>
                          <a:spcPts val="69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lang="en-US" altLang="en-US" sz="500" dirty="0">
                        <a:latin typeface="Arial" panose="020B0604020202020204" pitchFamily="34" charset="0"/>
                        <a:ea typeface="黑体" panose="02010609060101010101" charset="-122"/>
                      </a:endParaRPr>
                    </a:p>
                    <a:p>
                      <a:pPr marL="104140" algn="l" rtl="0" eaLnBrk="0">
                        <a:lnSpc>
                          <a:spcPct val="79000"/>
                        </a:lnSpc>
                        <a:spcBef>
                          <a:spcPts val="5"/>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14     4</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13     1     2    15    11     8     3    10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6    12     5     9     0     7</a:t>
                      </a:r>
                      <a:endParaRPr lang="en-US" altLang="en-US" sz="2300" dirty="0">
                        <a:latin typeface="Arial" panose="020B0604020202020204" pitchFamily="34" charset="0"/>
                        <a:ea typeface="黑体" panose="02010609060101010101" charset="-122"/>
                      </a:endParaRPr>
                    </a:p>
                    <a:p>
                      <a:pPr marL="156210" algn="l" rtl="0" eaLnBrk="0">
                        <a:lnSpc>
                          <a:spcPct val="79000"/>
                        </a:lnSpc>
                        <a:spcBef>
                          <a:spcPts val="700"/>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3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15     7     4</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14     2    13     1    10     6    12    11     9     5</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3     8</a:t>
                      </a:r>
                      <a:endParaRPr lang="en-US" altLang="en-US" sz="2300" dirty="0">
                        <a:latin typeface="Arial" panose="020B0604020202020204" pitchFamily="34" charset="0"/>
                        <a:ea typeface="黑体" panose="02010609060101010101" charset="-122"/>
                      </a:endParaRPr>
                    </a:p>
                    <a:p>
                      <a:pPr marL="149860" algn="l" rtl="0" eaLnBrk="0">
                        <a:lnSpc>
                          <a:spcPct val="79000"/>
                        </a:lnSpc>
                        <a:spcBef>
                          <a:spcPts val="705"/>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23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14     8    13     6     2    11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15</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12     9     7     3    10     5     0</a:t>
                      </a:r>
                      <a:endParaRPr lang="en-US" altLang="en-US" sz="2300" dirty="0">
                        <a:latin typeface="Arial" panose="020B0604020202020204" pitchFamily="34" charset="0"/>
                        <a:ea typeface="黑体" panose="02010609060101010101" charset="-122"/>
                      </a:endParaRPr>
                    </a:p>
                    <a:p>
                      <a:pPr algn="l" rtl="0" eaLnBrk="0">
                        <a:lnSpc>
                          <a:spcPct val="115000"/>
                        </a:lnSpc>
                      </a:pPr>
                      <a:endParaRPr lang="en-US" altLang="en-US" sz="500" dirty="0">
                        <a:latin typeface="Arial" panose="020B0604020202020204" pitchFamily="34" charset="0"/>
                        <a:ea typeface="黑体" panose="02010609060101010101" charset="-122"/>
                      </a:endParaRPr>
                    </a:p>
                    <a:p>
                      <a:pPr marL="104140" algn="l" rtl="0" eaLnBrk="0">
                        <a:lnSpc>
                          <a:spcPct val="77000"/>
                        </a:lnSpc>
                        <a:spcBef>
                          <a:spcPts val="5"/>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12     8     2     4     9</a:t>
                      </a:r>
                      <a:r>
                        <a:rPr sz="23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7     5    11     3    14    10     0     6    13</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145415" algn="l" rtl="0" eaLnBrk="0">
                        <a:lnSpc>
                          <a:spcPct val="97000"/>
                        </a:lnSpc>
                      </a:pPr>
                      <a:r>
                        <a:rPr sz="3600" kern="0" spc="3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3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baseline="-170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20190">
                <a:tc>
                  <a:txBody>
                    <a:bodyPr/>
                    <a:lstStyle/>
                    <a:p>
                      <a:pPr algn="l" rtl="0" eaLnBrk="0">
                        <a:lnSpc>
                          <a:spcPct val="100000"/>
                        </a:lnSpc>
                      </a:pPr>
                      <a:endParaRPr lang="en-US" altLang="en-US" sz="600" dirty="0">
                        <a:latin typeface="Arial" panose="020B0604020202020204" pitchFamily="34" charset="0"/>
                        <a:ea typeface="黑体" panose="02010609060101010101" charset="-122"/>
                      </a:endParaRPr>
                    </a:p>
                    <a:p>
                      <a:pPr marL="86360" algn="l" rtl="0" eaLnBrk="0">
                        <a:lnSpc>
                          <a:spcPct val="76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p>
                      <a:pPr marL="110490" algn="l" rtl="0" eaLnBrk="0">
                        <a:lnSpc>
                          <a:spcPct val="76000"/>
                        </a:lnSpc>
                        <a:spcBef>
                          <a:spcPts val="69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p>
                      <a:pPr marL="81280" algn="l" rtl="0" eaLnBrk="0">
                        <a:lnSpc>
                          <a:spcPct val="76000"/>
                        </a:lnSpc>
                        <a:spcBef>
                          <a:spcPts val="690"/>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p>
                      <a:pPr marL="87630" algn="l" rtl="0" eaLnBrk="0">
                        <a:lnSpc>
                          <a:spcPct val="76000"/>
                        </a:lnSpc>
                        <a:spcBef>
                          <a:spcPts val="69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lang="en-US" altLang="en-US" sz="500" dirty="0">
                        <a:latin typeface="Arial" panose="020B0604020202020204" pitchFamily="34" charset="0"/>
                        <a:ea typeface="黑体" panose="02010609060101010101" charset="-122"/>
                      </a:endParaRPr>
                    </a:p>
                    <a:p>
                      <a:pPr marL="104775" algn="l" rtl="0" eaLnBrk="0">
                        <a:lnSpc>
                          <a:spcPct val="79000"/>
                        </a:lnSpc>
                        <a:spcBef>
                          <a:spcPts val="5"/>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23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1     8    14     6</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11     3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4     9     7     2    13</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12     0     5    10</a:t>
                      </a:r>
                      <a:endParaRPr lang="en-US" altLang="en-US" sz="2300" dirty="0">
                        <a:latin typeface="Arial" panose="020B0604020202020204" pitchFamily="34" charset="0"/>
                        <a:ea typeface="黑体" panose="02010609060101010101" charset="-122"/>
                      </a:endParaRPr>
                    </a:p>
                    <a:p>
                      <a:pPr marL="157480" algn="l" rtl="0" eaLnBrk="0">
                        <a:lnSpc>
                          <a:spcPct val="79000"/>
                        </a:lnSpc>
                        <a:spcBef>
                          <a:spcPts val="700"/>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23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13     4     7</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15     2     8    14    12     0     1</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10     6</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9    11     5</a:t>
                      </a:r>
                      <a:endParaRPr lang="en-US" altLang="en-US" sz="2300" dirty="0">
                        <a:latin typeface="Arial" panose="020B0604020202020204" pitchFamily="34" charset="0"/>
                        <a:ea typeface="黑体" panose="02010609060101010101" charset="-122"/>
                      </a:endParaRPr>
                    </a:p>
                    <a:p>
                      <a:pPr marL="156210" algn="l" rtl="0" eaLnBrk="0">
                        <a:lnSpc>
                          <a:spcPct val="79000"/>
                        </a:lnSpc>
                        <a:spcBef>
                          <a:spcPts val="700"/>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14     7</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10     4    13     1     5</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8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12     6     9</a:t>
                      </a:r>
                      <a:r>
                        <a:rPr sz="2300"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3     2    15</a:t>
                      </a:r>
                      <a:endParaRPr lang="en-US" altLang="en-US" sz="2300" dirty="0">
                        <a:latin typeface="Arial" panose="020B0604020202020204" pitchFamily="34" charset="0"/>
                        <a:ea typeface="黑体" panose="02010609060101010101" charset="-122"/>
                      </a:endParaRPr>
                    </a:p>
                    <a:p>
                      <a:pPr algn="l" rtl="0" eaLnBrk="0">
                        <a:lnSpc>
                          <a:spcPct val="117000"/>
                        </a:lnSpc>
                      </a:pPr>
                      <a:endParaRPr lang="en-US" altLang="en-US" sz="500" dirty="0">
                        <a:latin typeface="Arial" panose="020B0604020202020204" pitchFamily="34" charset="0"/>
                        <a:ea typeface="黑体" panose="02010609060101010101" charset="-122"/>
                      </a:endParaRPr>
                    </a:p>
                    <a:p>
                      <a:pPr marL="104140" algn="l" rtl="0" eaLnBrk="0">
                        <a:lnSpc>
                          <a:spcPct val="79000"/>
                        </a:lnSpc>
                        <a:spcBef>
                          <a:spcPts val="0"/>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13     8    10     1</a:t>
                      </a:r>
                      <a:r>
                        <a:rPr sz="23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3    15     4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2    11     6     7    12     0     5    14     9</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1000" dirty="0">
                        <a:latin typeface="Arial" panose="020B0604020202020204" pitchFamily="34" charset="0"/>
                        <a:ea typeface="黑体" panose="02010609060101010101" charset="-122"/>
                      </a:endParaRPr>
                    </a:p>
                    <a:p>
                      <a:pPr algn="l" rtl="0" eaLnBrk="0">
                        <a:lnSpc>
                          <a:spcPct val="109000"/>
                        </a:lnSpc>
                      </a:pPr>
                      <a:endParaRPr lang="en-US" altLang="en-US" sz="1000" dirty="0">
                        <a:latin typeface="Arial" panose="020B0604020202020204" pitchFamily="34" charset="0"/>
                        <a:ea typeface="黑体" panose="02010609060101010101" charset="-122"/>
                      </a:endParaRPr>
                    </a:p>
                    <a:p>
                      <a:pPr algn="l" rtl="0" eaLnBrk="0">
                        <a:lnSpc>
                          <a:spcPct val="109000"/>
                        </a:lnSpc>
                      </a:pPr>
                      <a:endParaRPr lang="en-US" altLang="en-US" sz="1000" dirty="0">
                        <a:latin typeface="Arial" panose="020B0604020202020204" pitchFamily="34" charset="0"/>
                        <a:ea typeface="黑体" panose="02010609060101010101" charset="-122"/>
                      </a:endParaRPr>
                    </a:p>
                    <a:p>
                      <a:pPr algn="l" rtl="0" eaLnBrk="0">
                        <a:lnSpc>
                          <a:spcPct val="109000"/>
                        </a:lnSpc>
                      </a:pPr>
                      <a:endParaRPr lang="en-US" altLang="en-US" sz="1000" dirty="0">
                        <a:latin typeface="Arial" panose="020B0604020202020204" pitchFamily="34" charset="0"/>
                        <a:ea typeface="黑体" panose="02010609060101010101" charset="-122"/>
                      </a:endParaRPr>
                    </a:p>
                    <a:p>
                      <a:pPr marL="145415" algn="l" rtl="0" eaLnBrk="0">
                        <a:lnSpc>
                          <a:spcPct val="97000"/>
                        </a:lnSpc>
                        <a:spcBef>
                          <a:spcPts val="0"/>
                        </a:spcBef>
                      </a:pPr>
                      <a:r>
                        <a:rPr sz="3600" kern="0" spc="-5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5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baseline="-170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280">
                <a:tc>
                  <a:txBody>
                    <a:bodyPr/>
                    <a:lstStyle/>
                    <a:p>
                      <a:pPr algn="l" rtl="0" eaLnBrk="0">
                        <a:lnSpc>
                          <a:spcPct val="101000"/>
                        </a:lnSpc>
                      </a:pPr>
                      <a:endParaRPr lang="en-US" altLang="en-US" sz="600" dirty="0">
                        <a:latin typeface="Arial" panose="020B0604020202020204" pitchFamily="34" charset="0"/>
                        <a:ea typeface="黑体" panose="02010609060101010101" charset="-122"/>
                      </a:endParaRPr>
                    </a:p>
                    <a:p>
                      <a:pPr marL="86360" algn="l" rtl="0" eaLnBrk="0">
                        <a:lnSpc>
                          <a:spcPct val="76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rtl="0" eaLnBrk="0">
                        <a:lnSpc>
                          <a:spcPct val="119000"/>
                        </a:lnSpc>
                      </a:pPr>
                      <a:endParaRPr lang="en-US" altLang="en-US" sz="500" dirty="0">
                        <a:latin typeface="Arial" panose="020B0604020202020204" pitchFamily="34" charset="0"/>
                        <a:ea typeface="黑体" panose="02010609060101010101" charset="-122"/>
                      </a:endParaRPr>
                    </a:p>
                    <a:p>
                      <a:pPr marL="104775" algn="l" rtl="0" eaLnBrk="0">
                        <a:lnSpc>
                          <a:spcPct val="79000"/>
                        </a:lnSpc>
                        <a:spcBef>
                          <a:spcPts val="5"/>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10     0     9    14     6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3</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15     5</a:t>
                      </a:r>
                      <a:r>
                        <a:rPr sz="23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1    13    12     7   11     4     2      8</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l" rtl="0" eaLnBrk="0">
                        <a:lnSpc>
                          <a:spcPct val="100000"/>
                        </a:lnSpc>
                      </a:pPr>
                      <a:endParaRPr lang="en-US" altLang="en-US" sz="1000" dirty="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350520">
                <a:tc>
                  <a:txBody>
                    <a:bodyPr/>
                    <a:lstStyle/>
                    <a:p>
                      <a:pPr algn="l" rtl="0" eaLnBrk="0">
                        <a:lnSpc>
                          <a:spcPct val="102000"/>
                        </a:lnSpc>
                      </a:pPr>
                      <a:endParaRPr lang="en-US" altLang="en-US" sz="500" dirty="0">
                        <a:latin typeface="Arial" panose="020B0604020202020204" pitchFamily="34" charset="0"/>
                        <a:ea typeface="黑体" panose="02010609060101010101" charset="-122"/>
                      </a:endParaRPr>
                    </a:p>
                    <a:p>
                      <a:pPr marL="110490" algn="l" rtl="0" eaLnBrk="0">
                        <a:lnSpc>
                          <a:spcPts val="1615"/>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2000"/>
                        </a:lnSpc>
                      </a:pPr>
                      <a:endParaRPr lang="en-US" altLang="en-US" sz="500" dirty="0">
                        <a:latin typeface="Arial" panose="020B0604020202020204" pitchFamily="34" charset="0"/>
                        <a:ea typeface="黑体" panose="02010609060101010101" charset="-122"/>
                      </a:endParaRPr>
                    </a:p>
                    <a:p>
                      <a:pPr marL="104140" algn="l" rtl="0" eaLnBrk="0">
                        <a:lnSpc>
                          <a:spcPts val="1615"/>
                        </a:lnSpc>
                        <a:spcBef>
                          <a:spcPts val="5"/>
                        </a:spcBef>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13     7     0     9     3     4     6    10     2     8     5    14    12</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5     1</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lang="en-US" altLang="en-US" sz="1000" dirty="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507365">
                <a:tc>
                  <a:txBody>
                    <a:bodyPr/>
                    <a:lstStyle/>
                    <a:p>
                      <a:pPr algn="l" rtl="0" eaLnBrk="0">
                        <a:lnSpc>
                          <a:spcPct val="102000"/>
                        </a:lnSpc>
                      </a:pPr>
                      <a:endParaRPr lang="en-US" altLang="en-US" sz="1000" dirty="0">
                        <a:latin typeface="Arial" panose="020B0604020202020204" pitchFamily="34" charset="0"/>
                        <a:ea typeface="黑体" panose="02010609060101010101" charset="-122"/>
                      </a:endParaRPr>
                    </a:p>
                    <a:p>
                      <a:pPr marL="81280" algn="l" rtl="0" eaLnBrk="0">
                        <a:lnSpc>
                          <a:spcPct val="76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104140" algn="l" rtl="0" eaLnBrk="0">
                        <a:lnSpc>
                          <a:spcPct val="79000"/>
                        </a:lnSpc>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13     6     4     9     8    15     3     0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11     1     2    12     5    10    14     7</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145415" algn="l" rtl="0" eaLnBrk="0">
                        <a:lnSpc>
                          <a:spcPct val="98000"/>
                        </a:lnSpc>
                        <a:spcBef>
                          <a:spcPts val="5"/>
                        </a:spcBef>
                      </a:pPr>
                      <a:r>
                        <a:rPr sz="3600" kern="0" spc="-50" baseline="400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5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baseline="-15000" dirty="0">
                        <a:latin typeface="Arial" panose="020B0604020202020204" pitchFamily="34" charset="0"/>
                        <a:ea typeface="黑体" panose="02010609060101010101" charset="-122"/>
                      </a:endParaRPr>
                    </a:p>
                  </a:txBody>
                  <a:tcPr marL="0" marR="0" marT="668"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52755">
                <a:tc>
                  <a:txBody>
                    <a:bodyPr/>
                    <a:lstStyle/>
                    <a:p>
                      <a:pPr algn="l" rtl="0" eaLnBrk="0">
                        <a:lnSpc>
                          <a:spcPct val="103000"/>
                        </a:lnSpc>
                      </a:pPr>
                      <a:endParaRPr lang="en-US" altLang="en-US" sz="500" dirty="0">
                        <a:latin typeface="Arial" panose="020B0604020202020204" pitchFamily="34" charset="0"/>
                        <a:ea typeface="黑体" panose="02010609060101010101" charset="-122"/>
                      </a:endParaRPr>
                    </a:p>
                    <a:p>
                      <a:pPr marL="87630" algn="l" rtl="0" eaLnBrk="0">
                        <a:lnSpc>
                          <a:spcPct val="76000"/>
                        </a:lnSpc>
                        <a:spcBef>
                          <a:spcPts val="0"/>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500" dirty="0">
                        <a:latin typeface="Arial" panose="020B0604020202020204" pitchFamily="34" charset="0"/>
                        <a:ea typeface="黑体" panose="02010609060101010101" charset="-122"/>
                      </a:endParaRPr>
                    </a:p>
                    <a:p>
                      <a:pPr marL="180340" algn="l" rtl="0" eaLnBrk="0">
                        <a:lnSpc>
                          <a:spcPct val="79000"/>
                        </a:lnSpc>
                      </a:pP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3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13     0     6     9</a:t>
                      </a:r>
                      <a:r>
                        <a:rPr sz="23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8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7     4    15    14     3    11     5     2    12</a:t>
                      </a:r>
                      <a:endParaRPr lang="en-US" altLang="en-US" sz="23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
        <p:nvSpPr>
          <p:cNvPr id="328" name="textbox 328"/>
          <p:cNvSpPr/>
          <p:nvPr/>
        </p:nvSpPr>
        <p:spPr>
          <a:xfrm>
            <a:off x="1551305" y="491490"/>
            <a:ext cx="2566670" cy="491490"/>
          </a:xfrm>
          <a:prstGeom prst="rect">
            <a:avLst/>
          </a:prstGeom>
        </p:spPr>
        <p:txBody>
          <a:bodyPr vert="horz" wrap="square" lIns="0" tIns="0" rIns="0" bIns="0"/>
          <a:lstStyle/>
          <a:p>
            <a:pPr algn="l" rtl="0" eaLnBrk="0">
              <a:lnSpc>
                <a:spcPct val="73000"/>
              </a:lnSpc>
            </a:pPr>
            <a:endParaRPr lang="en-US" altLang="en-US" sz="100" dirty="0">
              <a:latin typeface="Arial" panose="020B0604020202020204" pitchFamily="34" charset="0"/>
              <a:ea typeface="黑体" panose="02010609060101010101" charset="-122"/>
            </a:endParaRPr>
          </a:p>
          <a:p>
            <a:pPr marL="12700" algn="l" rtl="0" eaLnBrk="0">
              <a:lnSpc>
                <a:spcPct val="99000"/>
              </a:lnSpc>
              <a:buClrTx/>
              <a:buSzTx/>
              <a:buFontTx/>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的S盒</a:t>
            </a:r>
            <a:endParaRPr sz="3100" kern="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330"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332" name="picture 332"/>
          <p:cNvPicPr>
            <a:picLocks noChangeAspect="1"/>
          </p:cNvPicPr>
          <p:nvPr/>
        </p:nvPicPr>
        <p:blipFill>
          <a:blip r:embed="rId2"/>
          <a:stretch>
            <a:fillRect/>
          </a:stretch>
        </p:blipFill>
        <p:spPr>
          <a:xfrm rot="21600000">
            <a:off x="822960" y="408431"/>
            <a:ext cx="420623" cy="655320"/>
          </a:xfrm>
          <a:prstGeom prst="rect">
            <a:avLst/>
          </a:prstGeom>
        </p:spPr>
      </p:pic>
      <p:sp>
        <p:nvSpPr>
          <p:cNvPr id="334" name="path"/>
          <p:cNvSpPr/>
          <p:nvPr/>
        </p:nvSpPr>
        <p:spPr>
          <a:xfrm flipV="1">
            <a:off x="1467485" y="1048385"/>
            <a:ext cx="9037320" cy="76835"/>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6" name="picture 336"/>
          <p:cNvPicPr>
            <a:picLocks noChangeAspect="1"/>
          </p:cNvPicPr>
          <p:nvPr/>
        </p:nvPicPr>
        <p:blipFill>
          <a:blip r:embed="rId1"/>
          <a:stretch>
            <a:fillRect/>
          </a:stretch>
        </p:blipFill>
        <p:spPr>
          <a:xfrm rot="21600000">
            <a:off x="4970779" y="2131441"/>
            <a:ext cx="1944624" cy="268223"/>
          </a:xfrm>
          <a:prstGeom prst="rect">
            <a:avLst/>
          </a:prstGeom>
        </p:spPr>
      </p:pic>
      <p:sp>
        <p:nvSpPr>
          <p:cNvPr id="338" name="path"/>
          <p:cNvSpPr/>
          <p:nvPr/>
        </p:nvSpPr>
        <p:spPr>
          <a:xfrm>
            <a:off x="6023610" y="2075815"/>
            <a:ext cx="1861820" cy="3313430"/>
          </a:xfrm>
          <a:custGeom>
            <a:avLst/>
            <a:gdLst/>
            <a:ahLst/>
            <a:cxnLst/>
            <a:rect l="0" t="0" r="0" b="0"/>
            <a:pathLst>
              <a:path w="3002" h="4586">
                <a:moveTo>
                  <a:pt x="2996" y="3"/>
                </a:moveTo>
                <a:lnTo>
                  <a:pt x="6" y="4582"/>
                </a:lnTo>
              </a:path>
            </a:pathLst>
          </a:custGeom>
          <a:noFill/>
          <a:ln w="9143" cap="flat">
            <a:solidFill>
              <a:srgbClr val="800000">
                <a:alpha val="100000"/>
              </a:srgbClr>
            </a:solidFill>
            <a:prstDash val="solid"/>
            <a:miter lim="800000"/>
          </a:ln>
        </p:spPr>
        <p:txBody>
          <a:bodyPr rtlCol="0"/>
          <a:lstStyle/>
          <a:p>
            <a:pPr algn="ctr"/>
            <a:endParaRPr lang="zh-CN" altLang="en-US"/>
          </a:p>
        </p:txBody>
      </p:sp>
      <p:graphicFrame>
        <p:nvGraphicFramePr>
          <p:cNvPr id="340" name="table 340"/>
          <p:cNvGraphicFramePr>
            <a:graphicFrameLocks noGrp="1"/>
          </p:cNvGraphicFramePr>
          <p:nvPr>
            <p:custDataLst>
              <p:tags r:id="rId2"/>
            </p:custDataLst>
          </p:nvPr>
        </p:nvGraphicFramePr>
        <p:xfrm>
          <a:off x="1681480" y="2693670"/>
          <a:ext cx="8829040" cy="3966210"/>
        </p:xfrm>
        <a:graphic>
          <a:graphicData uri="http://schemas.openxmlformats.org/drawingml/2006/table">
            <a:tbl>
              <a:tblPr/>
              <a:tblGrid>
                <a:gridCol w="1299210"/>
                <a:gridCol w="550545"/>
                <a:gridCol w="456565"/>
                <a:gridCol w="492760"/>
                <a:gridCol w="340995"/>
                <a:gridCol w="496570"/>
                <a:gridCol w="4483735"/>
                <a:gridCol w="708660"/>
              </a:tblGrid>
              <a:tr h="996950">
                <a:tc>
                  <a:txBody>
                    <a:bodyPr/>
                    <a:lstStyle/>
                    <a:p>
                      <a:pPr algn="l" rtl="0" eaLnBrk="0">
                        <a:lnSpc>
                          <a:spcPct val="122000"/>
                        </a:lnSpc>
                      </a:pPr>
                      <a:endParaRPr lang="en-US" altLang="en-US" sz="1000" dirty="0">
                        <a:latin typeface="Arial" panose="020B0604020202020204" pitchFamily="34" charset="0"/>
                        <a:ea typeface="黑体" panose="02010609060101010101" charset="-122"/>
                      </a:endParaRPr>
                    </a:p>
                    <a:p>
                      <a:pPr algn="r" rtl="0" eaLnBrk="0">
                        <a:lnSpc>
                          <a:spcPct val="81000"/>
                        </a:lnSpc>
                        <a:spcBef>
                          <a:spcPts val="5"/>
                        </a:spcBef>
                      </a:pPr>
                      <a:r>
                        <a:rPr sz="2400" kern="0" spc="-1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列号</a:t>
                      </a:r>
                      <a:endParaRPr lang="en-US" altLang="en-US" sz="2400" dirty="0">
                        <a:latin typeface="Arial" panose="020B0604020202020204" pitchFamily="34" charset="0"/>
                        <a:ea typeface="黑体" panose="02010609060101010101" charset="-122"/>
                      </a:endParaRPr>
                    </a:p>
                    <a:p>
                      <a:pPr marL="144780" algn="l" rtl="0" eaLnBrk="0">
                        <a:lnSpc>
                          <a:spcPts val="4055"/>
                        </a:lnSpc>
                      </a:pP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行号</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lnTlToBr w="38100" cap="flat" cmpd="sng" algn="ctr">
                      <a:solidFill>
                        <a:srgbClr val="CC3300"/>
                      </a:solidFill>
                      <a:prstDash val="solid"/>
                      <a:round/>
                      <a:headEnd type="none" w="med" len="med"/>
                      <a:tailEnd type="none" w="med" len="med"/>
                    </a:lnTlToBr>
                  </a:tcPr>
                </a:tc>
                <a:tc>
                  <a:txBody>
                    <a:bodyPr/>
                    <a:lstStyle/>
                    <a:p>
                      <a:pPr algn="l" rtl="0" eaLnBrk="0">
                        <a:lnSpc>
                          <a:spcPct val="159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320675" algn="l" rtl="0" eaLnBrk="0">
                        <a:lnSpc>
                          <a:spcPct val="76000"/>
                        </a:lnSpc>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c>
                  <a:txBody>
                    <a:bodyPr/>
                    <a:lstStyle/>
                    <a:p>
                      <a:pPr algn="l" rtl="0" eaLnBrk="0">
                        <a:lnSpc>
                          <a:spcPct val="160000"/>
                        </a:lnSpc>
                      </a:pPr>
                      <a:endParaRPr lang="en-US" altLang="en-US" sz="1000" dirty="0">
                        <a:latin typeface="Arial" panose="020B0604020202020204" pitchFamily="34" charset="0"/>
                        <a:ea typeface="黑体" panose="02010609060101010101" charset="-122"/>
                      </a:endParaRPr>
                    </a:p>
                    <a:p>
                      <a:pPr marL="207645"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c>
                  <a:txBody>
                    <a:bodyPr/>
                    <a:lstStyle/>
                    <a:p>
                      <a:pPr algn="l" rtl="0" eaLnBrk="0">
                        <a:lnSpc>
                          <a:spcPct val="160000"/>
                        </a:lnSpc>
                      </a:pPr>
                      <a:endParaRPr lang="en-US" altLang="en-US" sz="1000" dirty="0">
                        <a:latin typeface="Arial" panose="020B0604020202020204" pitchFamily="34" charset="0"/>
                        <a:ea typeface="黑体" panose="02010609060101010101" charset="-122"/>
                      </a:endParaRPr>
                    </a:p>
                    <a:p>
                      <a:pPr marL="158750"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c>
                  <a:txBody>
                    <a:bodyPr/>
                    <a:lstStyle/>
                    <a:p>
                      <a:pPr algn="l" rtl="0" eaLnBrk="0">
                        <a:lnSpc>
                          <a:spcPct val="159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86360" algn="l" rtl="0" eaLnBrk="0">
                        <a:lnSpc>
                          <a:spcPct val="76000"/>
                        </a:lnSpc>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c>
                  <a:txBody>
                    <a:bodyPr/>
                    <a:lstStyle/>
                    <a:p>
                      <a:pPr algn="l" rtl="0" eaLnBrk="0">
                        <a:lnSpc>
                          <a:spcPct val="160000"/>
                        </a:lnSpc>
                      </a:pPr>
                      <a:endParaRPr lang="en-US" altLang="en-US" sz="1000" dirty="0">
                        <a:latin typeface="Arial" panose="020B0604020202020204" pitchFamily="34" charset="0"/>
                        <a:ea typeface="黑体" panose="02010609060101010101" charset="-122"/>
                      </a:endParaRPr>
                    </a:p>
                    <a:p>
                      <a:pPr marL="158115"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c>
                  <a:txBody>
                    <a:bodyPr/>
                    <a:lstStyle/>
                    <a:p>
                      <a:pPr algn="l" rtl="0" eaLnBrk="0">
                        <a:lnSpc>
                          <a:spcPct val="159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88900" algn="l" rtl="0" eaLnBrk="0">
                        <a:lnSpc>
                          <a:spcPct val="76000"/>
                        </a:lnSpc>
                      </a:pP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7</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9</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13</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c>
                  <a:txBody>
                    <a:bodyPr/>
                    <a:lstStyle/>
                    <a:p>
                      <a:pPr algn="l" rtl="0" eaLnBrk="0">
                        <a:lnSpc>
                          <a:spcPct val="159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100330" algn="l" rtl="0" eaLnBrk="0">
                        <a:lnSpc>
                          <a:spcPct val="76000"/>
                        </a:lnSpc>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2400" dirty="0">
                        <a:latin typeface="Arial" panose="020B0604020202020204" pitchFamily="34" charset="0"/>
                        <a:ea typeface="黑体" panose="02010609060101010101" charset="-122"/>
                      </a:endParaRPr>
                    </a:p>
                  </a:txBody>
                  <a:tcPr marL="0" marR="0" marT="0" marB="0" vert="horz">
                    <a:lnL>
                      <a:noFill/>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r>
              <a:tr h="844550">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marL="361950"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173990" algn="l" rtl="0" eaLnBrk="0">
                        <a:lnSpc>
                          <a:spcPct val="76000"/>
                        </a:lnSpc>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115570" algn="l" rtl="0" eaLnBrk="0">
                        <a:lnSpc>
                          <a:spcPct val="76000"/>
                        </a:lnSpc>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marL="92075" algn="l" rtl="0" eaLnBrk="0">
                        <a:lnSpc>
                          <a:spcPct val="76000"/>
                        </a:lnSpc>
                        <a:spcBef>
                          <a:spcPts val="5"/>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13</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99060" algn="l" rtl="0" eaLnBrk="0">
                        <a:lnSpc>
                          <a:spcPct val="76000"/>
                        </a:lnSpc>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155575" algn="l" rtl="0" eaLnBrk="0">
                        <a:lnSpc>
                          <a:spcPct val="76000"/>
                        </a:lnSpc>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7000"/>
                        </a:lnSpc>
                      </a:pPr>
                      <a:endParaRPr lang="en-US" altLang="en-US" sz="1000" dirty="0">
                        <a:latin typeface="Arial" panose="020B0604020202020204" pitchFamily="34" charset="0"/>
                        <a:ea typeface="黑体" panose="02010609060101010101" charset="-122"/>
                      </a:endParaRPr>
                    </a:p>
                    <a:p>
                      <a:pPr marL="95885" algn="l" rtl="0" eaLnBrk="0">
                        <a:lnSpc>
                          <a:spcPct val="76000"/>
                        </a:lnSpc>
                        <a:spcBef>
                          <a:spcPts val="5"/>
                        </a:spcBef>
                      </a:pP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8   3</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9</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w="38100" cap="flat" cmpd="sng" algn="ctr">
                      <a:solidFill>
                        <a:srgbClr val="CC3300"/>
                      </a:solidFill>
                      <a:prstDash val="solid"/>
                      <a:round/>
                      <a:headEnd type="none" w="med" len="med"/>
                      <a:tailEnd type="none" w="med" len="med"/>
                    </a:lnT>
                    <a:lnB>
                      <a:noFill/>
                    </a:lnB>
                  </a:tcPr>
                </a:tc>
                <a:tc>
                  <a:txBody>
                    <a:bodyPr/>
                    <a:lstStyle/>
                    <a:p>
                      <a:pPr algn="l" rtl="0" eaLnBrk="0">
                        <a:lnSpc>
                          <a:spcPct val="199000"/>
                        </a:lnSpc>
                      </a:pPr>
                      <a:endParaRPr lang="en-US" altLang="en-US" sz="1000" dirty="0">
                        <a:latin typeface="Arial" panose="020B0604020202020204" pitchFamily="34" charset="0"/>
                        <a:ea typeface="黑体" panose="02010609060101010101" charset="-122"/>
                      </a:endParaRPr>
                    </a:p>
                    <a:p>
                      <a:pPr algn="l" rtl="0" eaLnBrk="0">
                        <a:lnSpc>
                          <a:spcPct val="10000"/>
                        </a:lnSpc>
                      </a:pPr>
                      <a:endParaRPr lang="en-US" altLang="en-US" sz="100" dirty="0">
                        <a:latin typeface="Arial" panose="020B0604020202020204" pitchFamily="34" charset="0"/>
                        <a:ea typeface="黑体" panose="02010609060101010101" charset="-122"/>
                      </a:endParaRPr>
                    </a:p>
                    <a:p>
                      <a:pPr marL="85725" algn="l" rtl="0" eaLnBrk="0">
                        <a:lnSpc>
                          <a:spcPct val="75000"/>
                        </a:lnSpc>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7</a:t>
                      </a:r>
                      <a:endParaRPr lang="en-US" altLang="en-US" sz="2400" dirty="0">
                        <a:latin typeface="Arial" panose="020B0604020202020204" pitchFamily="34" charset="0"/>
                        <a:ea typeface="黑体" panose="02010609060101010101" charset="-122"/>
                      </a:endParaRPr>
                    </a:p>
                  </a:txBody>
                  <a:tcPr marL="0" marR="0" marT="0" marB="0" vert="horz">
                    <a:lnL>
                      <a:noFill/>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a:noFill/>
                    </a:lnB>
                  </a:tcPr>
                </a:tc>
              </a:tr>
              <a:tr h="708660">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370840"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a:noFill/>
                    </a:lnT>
                    <a:lnB>
                      <a:noFill/>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240030"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a:noFill/>
                    </a:lnT>
                    <a:lnB>
                      <a:noFill/>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51435" algn="l" rtl="0" eaLnBrk="0">
                        <a:lnSpc>
                          <a:spcPct val="76000"/>
                        </a:lnSpc>
                        <a:spcBef>
                          <a:spcPts val="0"/>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9000"/>
                        </a:lnSpc>
                      </a:pPr>
                      <a:endParaRPr lang="en-US" altLang="en-US" sz="1000" dirty="0">
                        <a:latin typeface="Arial" panose="020B0604020202020204" pitchFamily="34" charset="0"/>
                        <a:ea typeface="黑体" panose="02010609060101010101" charset="-122"/>
                      </a:endParaRPr>
                    </a:p>
                    <a:p>
                      <a:pPr marL="158115" algn="l" rtl="0" eaLnBrk="0">
                        <a:lnSpc>
                          <a:spcPct val="75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7</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85725"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91440" algn="l" rtl="0" eaLnBrk="0">
                        <a:lnSpc>
                          <a:spcPct val="76000"/>
                        </a:lnSpc>
                        <a:spcBef>
                          <a:spcPts val="5"/>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158115" algn="l" rtl="0" eaLnBrk="0">
                        <a:lnSpc>
                          <a:spcPct val="76000"/>
                        </a:lnSpc>
                        <a:spcBef>
                          <a:spcPts val="0"/>
                        </a:spcBef>
                      </a:pP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13</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9</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83820"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400" dirty="0">
                        <a:latin typeface="Arial" panose="020B0604020202020204" pitchFamily="34" charset="0"/>
                        <a:ea typeface="黑体" panose="02010609060101010101" charset="-122"/>
                      </a:endParaRPr>
                    </a:p>
                  </a:txBody>
                  <a:tcPr marL="0" marR="0" marT="0" marB="0" vert="horz">
                    <a:lnL>
                      <a:noFill/>
                    </a:lnL>
                    <a:lnR w="38100" cap="flat" cmpd="sng" algn="ctr">
                      <a:solidFill>
                        <a:srgbClr val="CC3300"/>
                      </a:solidFill>
                      <a:prstDash val="solid"/>
                      <a:round/>
                      <a:headEnd type="none" w="med" len="med"/>
                      <a:tailEnd type="none" w="med" len="med"/>
                    </a:lnR>
                    <a:lnT>
                      <a:noFill/>
                    </a:lnT>
                    <a:lnB>
                      <a:noFill/>
                    </a:lnB>
                  </a:tcPr>
                </a:tc>
              </a:tr>
              <a:tr h="707390">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358140"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236855"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127635"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91440" algn="l" rtl="0" eaLnBrk="0">
                        <a:lnSpc>
                          <a:spcPct val="76000"/>
                        </a:lnSpc>
                        <a:spcBef>
                          <a:spcPts val="5"/>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88900"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91440" algn="l" rtl="0" eaLnBrk="0">
                        <a:lnSpc>
                          <a:spcPct val="76000"/>
                        </a:lnSpc>
                        <a:spcBef>
                          <a:spcPts val="0"/>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13</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161925" algn="l" rtl="0" eaLnBrk="0">
                        <a:lnSpc>
                          <a:spcPct val="76000"/>
                        </a:lnSpc>
                        <a:spcBef>
                          <a:spcPts val="0"/>
                        </a:spcBef>
                      </a:pP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9</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7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  3</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6000"/>
                        </a:lnSpc>
                      </a:pPr>
                      <a:endParaRPr lang="en-US" altLang="en-US" sz="1000" dirty="0">
                        <a:latin typeface="Arial" panose="020B0604020202020204" pitchFamily="34" charset="0"/>
                        <a:ea typeface="黑体" panose="02010609060101010101" charset="-122"/>
                      </a:endParaRPr>
                    </a:p>
                    <a:p>
                      <a:pPr marL="160655"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a:txBody>
                  <a:tcPr marL="0" marR="0" marT="0" marB="0" vert="horz">
                    <a:lnL>
                      <a:noFill/>
                    </a:lnL>
                    <a:lnR w="38100" cap="flat" cmpd="sng" algn="ctr">
                      <a:solidFill>
                        <a:srgbClr val="CC3300"/>
                      </a:solidFill>
                      <a:prstDash val="solid"/>
                      <a:round/>
                      <a:headEnd type="none" w="med" len="med"/>
                      <a:tailEnd type="none" w="med" len="med"/>
                    </a:lnR>
                    <a:lnT>
                      <a:noFill/>
                    </a:lnT>
                    <a:lnB>
                      <a:noFill/>
                    </a:lnB>
                  </a:tcPr>
                </a:tc>
              </a:tr>
              <a:tr h="708660">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355600"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173355" algn="l" rtl="0" eaLnBrk="0">
                        <a:lnSpc>
                          <a:spcPct val="76000"/>
                        </a:lnSpc>
                        <a:spcBef>
                          <a:spcPts val="0"/>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51435" algn="l" rtl="0" eaLnBrk="0">
                        <a:lnSpc>
                          <a:spcPct val="76000"/>
                        </a:lnSpc>
                        <a:spcBef>
                          <a:spcPts val="5"/>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12</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158115" algn="l" rtl="0" eaLnBrk="0">
                        <a:lnSpc>
                          <a:spcPct val="76000"/>
                        </a:lnSpc>
                        <a:spcBef>
                          <a:spcPts val="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85725"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231140" algn="l" rtl="0" eaLnBrk="0">
                        <a:lnSpc>
                          <a:spcPct val="76000"/>
                        </a:lnSpc>
                        <a:spcBef>
                          <a:spcPts val="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160020" algn="l" rtl="0" eaLnBrk="0">
                        <a:lnSpc>
                          <a:spcPct val="76000"/>
                        </a:lnSpc>
                        <a:spcBef>
                          <a:spcPts val="0"/>
                        </a:spcBef>
                      </a:pP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9</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7</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2400" b="1"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6</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w="38100" cap="flat" cmpd="sng" algn="ctr">
                      <a:solidFill>
                        <a:srgbClr val="CC3300"/>
                      </a:solidFill>
                      <a:prstDash val="solid"/>
                      <a:round/>
                      <a:headEnd type="none" w="med" len="med"/>
                      <a:tailEnd type="none" w="med" len="med"/>
                    </a:lnB>
                  </a:tcPr>
                </a:tc>
                <a:tc>
                  <a:txBody>
                    <a:bodyPr/>
                    <a:lstStyle/>
                    <a:p>
                      <a:pPr algn="l" rtl="0" eaLnBrk="0">
                        <a:lnSpc>
                          <a:spcPct val="107000"/>
                        </a:lnSpc>
                      </a:pPr>
                      <a:endParaRPr lang="en-US" altLang="en-US" sz="1000" dirty="0">
                        <a:latin typeface="Arial" panose="020B0604020202020204" pitchFamily="34" charset="0"/>
                        <a:ea typeface="黑体" panose="02010609060101010101" charset="-122"/>
                      </a:endParaRPr>
                    </a:p>
                    <a:p>
                      <a:pPr marL="93980" algn="l" rtl="0" eaLnBrk="0">
                        <a:lnSpc>
                          <a:spcPct val="76000"/>
                        </a:lnSpc>
                        <a:spcBef>
                          <a:spcPts val="0"/>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13</a:t>
                      </a:r>
                      <a:endParaRPr lang="en-US" altLang="en-US" sz="2400" dirty="0">
                        <a:latin typeface="Arial" panose="020B0604020202020204" pitchFamily="34" charset="0"/>
                        <a:ea typeface="黑体" panose="02010609060101010101" charset="-122"/>
                      </a:endParaRPr>
                    </a:p>
                  </a:txBody>
                  <a:tcPr marL="0" marR="0" marT="0" marB="0" vert="horz">
                    <a:lnL>
                      <a:noFill/>
                    </a:lnL>
                    <a:lnR w="38100" cap="flat" cmpd="sng" algn="ctr">
                      <a:solidFill>
                        <a:srgbClr val="CC3300"/>
                      </a:solidFill>
                      <a:prstDash val="solid"/>
                      <a:round/>
                      <a:headEnd type="none" w="med" len="med"/>
                      <a:tailEnd type="none" w="med" len="med"/>
                    </a:lnR>
                    <a:lnT>
                      <a:noFill/>
                    </a:lnT>
                    <a:lnB w="38100" cap="flat" cmpd="sng" algn="ctr">
                      <a:solidFill>
                        <a:srgbClr val="CC3300"/>
                      </a:solidFill>
                      <a:prstDash val="solid"/>
                      <a:round/>
                      <a:headEnd type="none" w="med" len="med"/>
                      <a:tailEnd type="none" w="med" len="med"/>
                    </a:lnB>
                  </a:tcPr>
                </a:tc>
              </a:tr>
            </a:tbl>
          </a:graphicData>
        </a:graphic>
      </p:graphicFrame>
      <p:sp>
        <p:nvSpPr>
          <p:cNvPr id="342" name="textbox 342"/>
          <p:cNvSpPr/>
          <p:nvPr/>
        </p:nvSpPr>
        <p:spPr>
          <a:xfrm>
            <a:off x="1549843" y="466861"/>
            <a:ext cx="5255259" cy="483869"/>
          </a:xfrm>
          <a:prstGeom prst="rect">
            <a:avLst/>
          </a:prstGeom>
        </p:spPr>
        <p:txBody>
          <a:bodyPr vert="horz" wrap="square" lIns="0" tIns="0" rIns="0" bIns="0"/>
          <a:lstStyle/>
          <a:p>
            <a:pPr algn="l" rtl="0" eaLnBrk="0">
              <a:lnSpc>
                <a:spcPct val="84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的S-盒的输入和输出关系</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sp>
        <p:nvSpPr>
          <p:cNvPr id="344" name="textbox 344"/>
          <p:cNvSpPr/>
          <p:nvPr/>
        </p:nvSpPr>
        <p:spPr>
          <a:xfrm>
            <a:off x="4453255" y="1416050"/>
            <a:ext cx="3432175" cy="690245"/>
          </a:xfrm>
          <a:prstGeom prst="rect">
            <a:avLst/>
          </a:prstGeom>
        </p:spPr>
        <p:txBody>
          <a:bodyPr vert="horz" wrap="square" lIns="0" tIns="0" rIns="0" bIns="0"/>
          <a:lstStyle/>
          <a:p>
            <a:pPr algn="l" rtl="0" eaLnBrk="0">
              <a:lnSpc>
                <a:spcPct val="87000"/>
              </a:lnSpc>
            </a:pP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1500" b="1"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15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15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baseline="-20000" dirty="0">
              <a:latin typeface="Arial" panose="020B0604020202020204" pitchFamily="34" charset="0"/>
              <a:ea typeface="黑体" panose="02010609060101010101" charset="-122"/>
            </a:endParaRPr>
          </a:p>
          <a:p>
            <a:pPr marL="12700" algn="l" rtl="0" eaLnBrk="0">
              <a:lnSpc>
                <a:spcPts val="3010"/>
              </a:lnSpc>
            </a:pP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p:txBody>
      </p:sp>
      <p:graphicFrame>
        <p:nvGraphicFramePr>
          <p:cNvPr id="346" name="table 346"/>
          <p:cNvGraphicFramePr>
            <a:graphicFrameLocks noGrp="1"/>
          </p:cNvGraphicFramePr>
          <p:nvPr/>
        </p:nvGraphicFramePr>
        <p:xfrm>
          <a:off x="7885430" y="1602740"/>
          <a:ext cx="4294505" cy="728980"/>
        </p:xfrm>
        <a:graphic>
          <a:graphicData uri="http://schemas.openxmlformats.org/drawingml/2006/table">
            <a:tbl>
              <a:tblPr/>
              <a:tblGrid>
                <a:gridCol w="4294505"/>
              </a:tblGrid>
              <a:tr h="728980">
                <a:tc>
                  <a:txBody>
                    <a:bodyPr/>
                    <a:lstStyle/>
                    <a:p>
                      <a:pPr algn="l" rtl="0" eaLnBrk="0">
                        <a:lnSpc>
                          <a:spcPct val="111000"/>
                        </a:lnSpc>
                      </a:pPr>
                      <a:endParaRPr lang="en-US" altLang="en-US" sz="8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84455" indent="121920" algn="l" rtl="0" eaLnBrk="0">
                        <a:lnSpc>
                          <a:spcPct val="90000"/>
                        </a:lnSpc>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5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1500" b="1" kern="0" spc="1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5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5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)=(0,0,1,0</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400" dirty="0">
                        <a:latin typeface="Arial" panose="020B0604020202020204" pitchFamily="34" charset="0"/>
                        <a:ea typeface="黑体" panose="02010609060101010101" charset="-122"/>
                      </a:endParaRPr>
                    </a:p>
                  </a:txBody>
                  <a:tcPr marL="0" marR="0" marT="0" marB="0" vert="horz">
                    <a:lnL w="6350" cap="flat" cmpd="sng" algn="ctr">
                      <a:solidFill>
                        <a:srgbClr val="800000"/>
                      </a:solidFill>
                      <a:prstDash val="solid"/>
                      <a:round/>
                      <a:headEnd type="none" w="med" len="med"/>
                      <a:tailEnd type="none" w="med" len="med"/>
                    </a:lnL>
                    <a:lnR w="6350" cap="flat" cmpd="sng" algn="ctr">
                      <a:solidFill>
                        <a:srgbClr val="800000"/>
                      </a:solidFill>
                      <a:prstDash val="solid"/>
                      <a:round/>
                      <a:headEnd type="none" w="med" len="med"/>
                      <a:tailEnd type="none" w="med" len="med"/>
                    </a:lnR>
                    <a:lnT w="6350" cap="flat" cmpd="sng" algn="ctr">
                      <a:solidFill>
                        <a:srgbClr val="800000"/>
                      </a:solidFill>
                      <a:prstDash val="solid"/>
                      <a:round/>
                      <a:headEnd type="none" w="med" len="med"/>
                      <a:tailEnd type="none" w="med" len="med"/>
                    </a:lnT>
                    <a:lnB w="6350" cap="flat" cmpd="sng" algn="ctr">
                      <a:solidFill>
                        <a:srgbClr val="800000"/>
                      </a:solidFill>
                      <a:prstDash val="solid"/>
                      <a:round/>
                      <a:headEnd type="none" w="med" len="med"/>
                      <a:tailEnd type="none" w="med" len="med"/>
                    </a:lnB>
                  </a:tcPr>
                </a:tc>
              </a:tr>
            </a:tbl>
          </a:graphicData>
        </a:graphic>
      </p:graphicFrame>
      <p:sp>
        <p:nvSpPr>
          <p:cNvPr id="350" name="textbox 350"/>
          <p:cNvSpPr/>
          <p:nvPr/>
        </p:nvSpPr>
        <p:spPr>
          <a:xfrm>
            <a:off x="1938655" y="1310005"/>
            <a:ext cx="1219835" cy="690245"/>
          </a:xfrm>
          <a:prstGeom prst="rect">
            <a:avLst/>
          </a:prstGeom>
        </p:spPr>
        <p:txBody>
          <a:bodyPr vert="horz" wrap="square" lIns="0" tIns="0" rIns="0" bIns="0"/>
          <a:lstStyle/>
          <a:p>
            <a:pPr algn="l" rtl="0" eaLnBrk="0">
              <a:lnSpc>
                <a:spcPct val="87000"/>
              </a:lnSpc>
            </a:pPr>
            <a:endParaRPr lang="en-US" altLang="en-US" sz="100" dirty="0">
              <a:latin typeface="Arial" panose="020B0604020202020204" pitchFamily="34" charset="0"/>
              <a:ea typeface="黑体" panose="02010609060101010101" charset="-122"/>
            </a:endParaRPr>
          </a:p>
          <a:p>
            <a:pPr marL="12700" algn="l" rtl="0" eaLnBrk="0">
              <a:lnSpc>
                <a:spcPct val="77000"/>
              </a:lnSpc>
            </a:pP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15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6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baseline="-20000" dirty="0">
              <a:latin typeface="Arial" panose="020B0604020202020204" pitchFamily="34" charset="0"/>
              <a:ea typeface="黑体" panose="02010609060101010101" charset="-122"/>
            </a:endParaRPr>
          </a:p>
          <a:p>
            <a:pPr marL="45720" algn="l" rtl="0" eaLnBrk="0">
              <a:lnSpc>
                <a:spcPts val="3010"/>
              </a:lnSpc>
            </a:pP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0</a:t>
            </a:r>
            <a:endParaRPr lang="en-US" altLang="en-US" sz="2400" dirty="0">
              <a:latin typeface="Arial" panose="020B0604020202020204" pitchFamily="34" charset="0"/>
              <a:ea typeface="黑体" panose="02010609060101010101" charset="-122"/>
            </a:endParaRPr>
          </a:p>
        </p:txBody>
      </p:sp>
      <p:sp>
        <p:nvSpPr>
          <p:cNvPr id="35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54" name="picture 354"/>
          <p:cNvPicPr>
            <a:picLocks noChangeAspect="1"/>
          </p:cNvPicPr>
          <p:nvPr/>
        </p:nvPicPr>
        <p:blipFill>
          <a:blip r:embed="rId3"/>
          <a:stretch>
            <a:fillRect/>
          </a:stretch>
        </p:blipFill>
        <p:spPr>
          <a:xfrm rot="21600000">
            <a:off x="822960" y="408431"/>
            <a:ext cx="420623" cy="655320"/>
          </a:xfrm>
          <a:prstGeom prst="rect">
            <a:avLst/>
          </a:prstGeom>
        </p:spPr>
      </p:pic>
      <p:sp>
        <p:nvSpPr>
          <p:cNvPr id="35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358" name="picture 358"/>
          <p:cNvPicPr>
            <a:picLocks noChangeAspect="1"/>
          </p:cNvPicPr>
          <p:nvPr/>
        </p:nvPicPr>
        <p:blipFill>
          <a:blip r:embed="rId4"/>
          <a:stretch>
            <a:fillRect/>
          </a:stretch>
        </p:blipFill>
        <p:spPr>
          <a:xfrm rot="21600000">
            <a:off x="1938527" y="2076196"/>
            <a:ext cx="725423" cy="115823"/>
          </a:xfrm>
          <a:prstGeom prst="rect">
            <a:avLst/>
          </a:prstGeom>
        </p:spPr>
      </p:pic>
      <p:pic>
        <p:nvPicPr>
          <p:cNvPr id="360" name="picture 360"/>
          <p:cNvPicPr>
            <a:picLocks noChangeAspect="1"/>
          </p:cNvPicPr>
          <p:nvPr/>
        </p:nvPicPr>
        <p:blipFill>
          <a:blip r:embed="rId5"/>
          <a:stretch>
            <a:fillRect/>
          </a:stretch>
        </p:blipFill>
        <p:spPr>
          <a:xfrm rot="21600000">
            <a:off x="2259965" y="2124710"/>
            <a:ext cx="100330" cy="3263900"/>
          </a:xfrm>
          <a:prstGeom prst="rect">
            <a:avLst/>
          </a:prstGeom>
        </p:spPr>
      </p:pic>
      <p:pic>
        <p:nvPicPr>
          <p:cNvPr id="362" name="picture 362"/>
          <p:cNvPicPr>
            <a:picLocks noChangeAspect="1"/>
          </p:cNvPicPr>
          <p:nvPr/>
        </p:nvPicPr>
        <p:blipFill>
          <a:blip r:embed="rId6"/>
          <a:stretch>
            <a:fillRect/>
          </a:stretch>
        </p:blipFill>
        <p:spPr>
          <a:xfrm rot="21600000">
            <a:off x="5900165" y="2474086"/>
            <a:ext cx="85725" cy="43141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textbox 364"/>
          <p:cNvSpPr/>
          <p:nvPr/>
        </p:nvSpPr>
        <p:spPr>
          <a:xfrm>
            <a:off x="919073" y="2005634"/>
            <a:ext cx="8402955" cy="2587625"/>
          </a:xfrm>
          <a:prstGeom prst="rect">
            <a:avLst/>
          </a:prstGeom>
        </p:spPr>
        <p:txBody>
          <a:bodyPr vert="horz" wrap="square" lIns="0" tIns="0" rIns="0" bIns="0"/>
          <a:lstStyle/>
          <a:p>
            <a:pPr algn="l" rtl="0" eaLnBrk="0">
              <a:lnSpc>
                <a:spcPct val="72000"/>
              </a:lnSpc>
            </a:pPr>
            <a:endParaRPr lang="en-US" altLang="en-US" sz="100" dirty="0">
              <a:latin typeface="Arial" panose="020B0604020202020204" pitchFamily="34" charset="0"/>
              <a:ea typeface="黑体" panose="02010609060101010101" charset="-122"/>
            </a:endParaRPr>
          </a:p>
          <a:p>
            <a:pPr marL="262890" algn="l" rtl="0" eaLnBrk="0">
              <a:lnSpc>
                <a:spcPct val="99000"/>
              </a:lnSpc>
            </a:pPr>
            <a:r>
              <a:rPr sz="2300" kern="0" spc="-16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的输出。</a:t>
            </a:r>
            <a:endParaRPr lang="en-US" altLang="en-US" sz="2300" dirty="0">
              <a:latin typeface="Arial" panose="020B0604020202020204" pitchFamily="34" charset="0"/>
              <a:ea typeface="黑体" panose="02010609060101010101" charset="-122"/>
            </a:endParaRPr>
          </a:p>
          <a:p>
            <a:pPr marL="12700" algn="l" rtl="0" eaLnBrk="0">
              <a:lnSpc>
                <a:spcPts val="2865"/>
              </a:lnSpc>
              <a:spcBef>
                <a:spcPts val="1630"/>
              </a:spcBef>
            </a:pPr>
            <a:r>
              <a:rPr sz="2300" kern="0" spc="-1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300" kern="0" spc="5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300" kern="0" spc="-18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基本特点：</a:t>
            </a:r>
            <a:endParaRPr lang="en-US" altLang="en-US" sz="2300" dirty="0">
              <a:latin typeface="Arial" panose="020B0604020202020204" pitchFamily="34" charset="0"/>
              <a:ea typeface="黑体" panose="02010609060101010101" charset="-122"/>
            </a:endParaRPr>
          </a:p>
          <a:p>
            <a:pPr marL="12700" algn="l" rtl="0" eaLnBrk="0">
              <a:lnSpc>
                <a:spcPct val="100000"/>
              </a:lnSpc>
              <a:spcBef>
                <a:spcPts val="144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2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P</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盒的各输出块的</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个比特都</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来自不同的输入块；</a:t>
            </a:r>
            <a:endParaRPr lang="en-US" altLang="en-US" sz="2400" dirty="0">
              <a:latin typeface="Arial" panose="020B0604020202020204" pitchFamily="34" charset="0"/>
              <a:ea typeface="黑体" panose="02010609060101010101" charset="-122"/>
            </a:endParaRPr>
          </a:p>
          <a:p>
            <a:pPr marL="12700" algn="l" rtl="0" eaLnBrk="0">
              <a:lnSpc>
                <a:spcPct val="100000"/>
              </a:lnSpc>
              <a:spcBef>
                <a:spcPts val="1440"/>
              </a:spcBef>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2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5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P</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盒的各输入块的</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比特都分配到不同的输出块之中；</a:t>
            </a:r>
            <a:endParaRPr lang="en-US" altLang="en-US" sz="2400" dirty="0">
              <a:latin typeface="Arial" panose="020B0604020202020204" pitchFamily="34" charset="0"/>
              <a:ea typeface="黑体" panose="02010609060101010101" charset="-122"/>
            </a:endParaRPr>
          </a:p>
          <a:p>
            <a:pPr algn="l" rtl="0" eaLnBrk="0">
              <a:lnSpc>
                <a:spcPct val="108000"/>
              </a:lnSpc>
            </a:pPr>
            <a:endParaRPr lang="en-US" altLang="en-US" sz="11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2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5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P</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盒的第</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t</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输出块的</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个比特</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都不来自第</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t</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输入块。</a:t>
            </a:r>
            <a:endParaRPr lang="en-US" altLang="en-US" sz="2400" dirty="0">
              <a:latin typeface="Arial" panose="020B0604020202020204" pitchFamily="34" charset="0"/>
              <a:ea typeface="黑体" panose="02010609060101010101" charset="-122"/>
            </a:endParaRPr>
          </a:p>
        </p:txBody>
      </p:sp>
      <p:graphicFrame>
        <p:nvGraphicFramePr>
          <p:cNvPr id="366" name="table 366"/>
          <p:cNvGraphicFramePr>
            <a:graphicFrameLocks noGrp="1"/>
          </p:cNvGraphicFramePr>
          <p:nvPr>
            <p:custDataLst>
              <p:tags r:id="rId1"/>
            </p:custDataLst>
          </p:nvPr>
        </p:nvGraphicFramePr>
        <p:xfrm>
          <a:off x="9361805" y="2301240"/>
          <a:ext cx="2770505" cy="3808730"/>
        </p:xfrm>
        <a:graphic>
          <a:graphicData uri="http://schemas.openxmlformats.org/drawingml/2006/table">
            <a:tbl>
              <a:tblPr/>
              <a:tblGrid>
                <a:gridCol w="2770505"/>
              </a:tblGrid>
              <a:tr h="300355">
                <a:tc>
                  <a:txBody>
                    <a:bodyPr/>
                    <a:lstStyle/>
                    <a:p>
                      <a:pPr algn="l" rtl="0" eaLnBrk="0">
                        <a:lnSpc>
                          <a:spcPct val="136000"/>
                        </a:lnSpc>
                      </a:pPr>
                      <a:endParaRPr lang="en-US" altLang="en-US" sz="200" dirty="0">
                        <a:latin typeface="Arial" panose="020B0604020202020204" pitchFamily="34" charset="0"/>
                        <a:ea typeface="黑体" panose="02010609060101010101" charset="-122"/>
                      </a:endParaRPr>
                    </a:p>
                    <a:p>
                      <a:pPr marL="1159510" algn="l" rtl="0" eaLnBrk="0">
                        <a:lnSpc>
                          <a:spcPct val="92000"/>
                        </a:lnSpc>
                        <a:spcBef>
                          <a:spcPts val="0"/>
                        </a:spcBef>
                      </a:pPr>
                      <a:r>
                        <a:rPr sz="1800" i="1" kern="0" spc="290" dirty="0">
                          <a:solidFill>
                            <a:srgbClr val="000000">
                              <a:alpha val="100000"/>
                            </a:srgbClr>
                          </a:solidFill>
                          <a:latin typeface="Arial" panose="020B0604020202020204" pitchFamily="34" charset="0"/>
                          <a:ea typeface="黑体" panose="02010609060101010101" charset="-122"/>
                          <a:cs typeface="Times New Roman" panose="02020603050405020304"/>
                        </a:rPr>
                        <a:t>r</a:t>
                      </a:r>
                      <a:endParaRPr lang="en-US" altLang="en-US" sz="18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15875" cap="flat" cmpd="sng" algn="ctr">
                      <a:solidFill>
                        <a:srgbClr val="000000"/>
                      </a:solidFill>
                      <a:prstDash val="solid"/>
                      <a:round/>
                      <a:headEnd type="none" w="med" len="med"/>
                      <a:tailEnd type="none" w="med" len="med"/>
                    </a:lnB>
                  </a:tcPr>
                </a:tc>
              </a:tr>
              <a:tr h="443230">
                <a:tc>
                  <a:txBody>
                    <a:bodyPr/>
                    <a:lstStyle/>
                    <a:p>
                      <a:pPr algn="l" rtl="0" eaLnBrk="0">
                        <a:lnSpc>
                          <a:spcPct val="120000"/>
                        </a:lnSpc>
                      </a:pPr>
                      <a:endParaRPr lang="en-US" altLang="en-US" sz="300" dirty="0">
                        <a:latin typeface="Arial" panose="020B0604020202020204" pitchFamily="34" charset="0"/>
                        <a:ea typeface="黑体" panose="02010609060101010101" charset="-122"/>
                      </a:endParaRPr>
                    </a:p>
                    <a:p>
                      <a:pPr marL="116205" algn="l" rtl="0" eaLnBrk="0">
                        <a:lnSpc>
                          <a:spcPct val="85000"/>
                        </a:lnSpc>
                        <a:spcBef>
                          <a:spcPts val="5"/>
                        </a:spcBef>
                      </a:pP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7</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20</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21</a:t>
                      </a:r>
                      <a:endParaRPr lang="en-US" altLang="en-US" sz="15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5875" cap="flat" cmpd="sng" algn="ctr">
                      <a:solidFill>
                        <a:srgbClr val="000000"/>
                      </a:solidFill>
                      <a:prstDash val="solid"/>
                      <a:round/>
                      <a:headEnd type="none" w="med" len="med"/>
                      <a:tailEnd type="none" w="med" len="med"/>
                    </a:lnT>
                    <a:lnB>
                      <a:noFill/>
                    </a:lnB>
                  </a:tcPr>
                </a:tc>
              </a:tr>
              <a:tr h="437515">
                <a:tc>
                  <a:txBody>
                    <a:bodyPr/>
                    <a:lstStyle/>
                    <a:p>
                      <a:pPr algn="l" rtl="0" eaLnBrk="0">
                        <a:lnSpc>
                          <a:spcPct val="107000"/>
                        </a:lnSpc>
                      </a:pPr>
                      <a:endParaRPr lang="en-US" altLang="en-US" sz="300" dirty="0">
                        <a:latin typeface="Arial" panose="020B0604020202020204" pitchFamily="34" charset="0"/>
                        <a:ea typeface="黑体" panose="02010609060101010101" charset="-122"/>
                      </a:endParaRPr>
                    </a:p>
                    <a:p>
                      <a:pPr marL="97790" algn="l" rtl="0" eaLnBrk="0">
                        <a:lnSpc>
                          <a:spcPct val="85000"/>
                        </a:lnSpc>
                        <a:spcBef>
                          <a:spcPts val="0"/>
                        </a:spcBef>
                      </a:pP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29</a:t>
                      </a:r>
                      <a:r>
                        <a:rPr sz="15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5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17</a:t>
                      </a:r>
                      <a:endParaRPr lang="en-US" altLang="en-US" sz="15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34340">
                <a:tc>
                  <a:txBody>
                    <a:bodyPr/>
                    <a:lstStyle/>
                    <a:p>
                      <a:pPr algn="l" rtl="0" eaLnBrk="0">
                        <a:lnSpc>
                          <a:spcPct val="113000"/>
                        </a:lnSpc>
                      </a:pPr>
                      <a:endParaRPr lang="en-US" altLang="en-US" sz="300" dirty="0">
                        <a:latin typeface="Arial" panose="020B0604020202020204" pitchFamily="34" charset="0"/>
                        <a:ea typeface="黑体" panose="02010609060101010101" charset="-122"/>
                      </a:endParaRPr>
                    </a:p>
                    <a:p>
                      <a:pPr marL="116205" algn="l" rtl="0" eaLnBrk="0">
                        <a:lnSpc>
                          <a:spcPct val="84000"/>
                        </a:lnSpc>
                        <a:spcBef>
                          <a:spcPts val="0"/>
                        </a:spcBef>
                      </a:pP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1             15</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26</a:t>
                      </a:r>
                      <a:endParaRPr lang="en-US" altLang="en-US" sz="15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38150">
                <a:tc>
                  <a:txBody>
                    <a:bodyPr/>
                    <a:lstStyle/>
                    <a:p>
                      <a:pPr algn="l" rtl="0" eaLnBrk="0">
                        <a:lnSpc>
                          <a:spcPct val="108000"/>
                        </a:lnSpc>
                      </a:pPr>
                      <a:endParaRPr lang="en-US" altLang="en-US" sz="300" dirty="0">
                        <a:latin typeface="Arial" panose="020B0604020202020204" pitchFamily="34" charset="0"/>
                        <a:ea typeface="黑体" panose="02010609060101010101" charset="-122"/>
                      </a:endParaRPr>
                    </a:p>
                    <a:p>
                      <a:pPr marL="102870" algn="l" rtl="0" eaLnBrk="0">
                        <a:lnSpc>
                          <a:spcPct val="85000"/>
                        </a:lnSpc>
                        <a:spcBef>
                          <a:spcPts val="5"/>
                        </a:spcBef>
                      </a:pP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5             18</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31             10</a:t>
                      </a:r>
                      <a:endParaRPr lang="en-US" altLang="en-US" sz="15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35610">
                <a:tc>
                  <a:txBody>
                    <a:bodyPr/>
                    <a:lstStyle/>
                    <a:p>
                      <a:pPr algn="l" rtl="0" eaLnBrk="0">
                        <a:lnSpc>
                          <a:spcPct val="114000"/>
                        </a:lnSpc>
                      </a:pPr>
                      <a:endParaRPr lang="en-US" altLang="en-US" sz="300" dirty="0">
                        <a:latin typeface="Arial" panose="020B0604020202020204" pitchFamily="34" charset="0"/>
                        <a:ea typeface="黑体" panose="02010609060101010101" charset="-122"/>
                      </a:endParaRPr>
                    </a:p>
                    <a:p>
                      <a:pPr marL="59055" algn="l" rtl="0" eaLnBrk="0">
                        <a:lnSpc>
                          <a:spcPct val="84000"/>
                        </a:lnSpc>
                        <a:spcBef>
                          <a:spcPts val="5"/>
                        </a:spcBef>
                      </a:pP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15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24</a:t>
                      </a:r>
                      <a:r>
                        <a:rPr sz="15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15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38785">
                <a:tc>
                  <a:txBody>
                    <a:bodyPr/>
                    <a:lstStyle/>
                    <a:p>
                      <a:pPr algn="l" rtl="0" eaLnBrk="0">
                        <a:lnSpc>
                          <a:spcPct val="108000"/>
                        </a:lnSpc>
                      </a:pPr>
                      <a:endParaRPr lang="en-US" altLang="en-US" sz="300" dirty="0">
                        <a:latin typeface="Arial" panose="020B0604020202020204" pitchFamily="34" charset="0"/>
                        <a:ea typeface="黑体" panose="02010609060101010101" charset="-122"/>
                      </a:endParaRPr>
                    </a:p>
                    <a:p>
                      <a:pPr marL="62865" algn="l" rtl="0" eaLnBrk="0">
                        <a:lnSpc>
                          <a:spcPct val="80000"/>
                        </a:lnSpc>
                      </a:pPr>
                      <a:r>
                        <a:rPr sz="1600" kern="0" spc="-4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16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6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27        </a:t>
                      </a:r>
                      <a:r>
                        <a:rPr sz="16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3</a:t>
                      </a:r>
                      <a:r>
                        <a:rPr sz="16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600" kern="0" spc="-50" dirty="0">
                          <a:solidFill>
                            <a:srgbClr val="000000">
                              <a:alpha val="100000"/>
                            </a:srgbClr>
                          </a:solidFill>
                          <a:latin typeface="Arial" panose="020B0604020202020204" pitchFamily="34" charset="0"/>
                          <a:ea typeface="黑体" panose="02010609060101010101" charset="-122"/>
                          <a:cs typeface="Times New Roman" panose="02020603050405020304"/>
                        </a:rPr>
                        <a:t>9</a:t>
                      </a:r>
                      <a:endParaRPr lang="en-US" altLang="en-US" sz="16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38150">
                <a:tc>
                  <a:txBody>
                    <a:bodyPr/>
                    <a:lstStyle/>
                    <a:p>
                      <a:pPr algn="l" rtl="0" eaLnBrk="0">
                        <a:lnSpc>
                          <a:spcPct val="111000"/>
                        </a:lnSpc>
                      </a:pPr>
                      <a:endParaRPr lang="en-US" altLang="en-US" sz="300" dirty="0">
                        <a:latin typeface="Arial" panose="020B0604020202020204" pitchFamily="34" charset="0"/>
                        <a:ea typeface="黑体" panose="02010609060101010101" charset="-122"/>
                      </a:endParaRPr>
                    </a:p>
                    <a:p>
                      <a:pPr marL="77470" algn="l" rtl="0" eaLnBrk="0">
                        <a:lnSpc>
                          <a:spcPct val="85000"/>
                        </a:lnSpc>
                        <a:spcBef>
                          <a:spcPts val="0"/>
                        </a:spcBef>
                      </a:pP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19</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13          30</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40" dirty="0">
                          <a:solidFill>
                            <a:srgbClr val="000000">
                              <a:alpha val="100000"/>
                            </a:srgbClr>
                          </a:solidFill>
                          <a:latin typeface="Arial" panose="020B0604020202020204" pitchFamily="34" charset="0"/>
                          <a:ea typeface="黑体" panose="02010609060101010101" charset="-122"/>
                          <a:cs typeface="Times New Roman" panose="02020603050405020304"/>
                        </a:rPr>
                        <a:t>6</a:t>
                      </a:r>
                      <a:endParaRPr lang="en-US" altLang="en-US" sz="15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442595">
                <a:tc>
                  <a:txBody>
                    <a:bodyPr/>
                    <a:lstStyle/>
                    <a:p>
                      <a:pPr algn="l" rtl="0" eaLnBrk="0">
                        <a:lnSpc>
                          <a:spcPct val="118000"/>
                        </a:lnSpc>
                      </a:pPr>
                      <a:endParaRPr lang="en-US" altLang="en-US" sz="300" dirty="0">
                        <a:latin typeface="Arial" panose="020B0604020202020204" pitchFamily="34" charset="0"/>
                        <a:ea typeface="黑体" panose="02010609060101010101" charset="-122"/>
                      </a:endParaRPr>
                    </a:p>
                    <a:p>
                      <a:pPr marL="59055" algn="l" rtl="0" eaLnBrk="0">
                        <a:lnSpc>
                          <a:spcPct val="85000"/>
                        </a:lnSpc>
                        <a:spcBef>
                          <a:spcPts val="5"/>
                        </a:spcBef>
                      </a:pPr>
                      <a:r>
                        <a:rPr sz="1500" kern="0" spc="-20" dirty="0">
                          <a:solidFill>
                            <a:srgbClr val="000000">
                              <a:alpha val="100000"/>
                            </a:srgbClr>
                          </a:solidFill>
                          <a:latin typeface="Arial" panose="020B0604020202020204" pitchFamily="34" charset="0"/>
                          <a:ea typeface="黑体" panose="02010609060101010101" charset="-122"/>
                          <a:cs typeface="Times New Roman" panose="02020603050405020304"/>
                        </a:rPr>
                        <a:t>22</a:t>
                      </a:r>
                      <a:r>
                        <a:rPr sz="1500"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2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20" dirty="0">
                          <a:solidFill>
                            <a:srgbClr val="000000">
                              <a:alpha val="100000"/>
                            </a:srgbClr>
                          </a:solidFill>
                          <a:latin typeface="Arial" panose="020B0604020202020204" pitchFamily="34" charset="0"/>
                          <a:ea typeface="黑体" panose="02010609060101010101" charset="-122"/>
                          <a:cs typeface="Times New Roman" panose="02020603050405020304"/>
                        </a:rPr>
                        <a:t>4        </a:t>
                      </a:r>
                      <a:r>
                        <a:rPr sz="15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25</a:t>
                      </a:r>
                      <a:endParaRPr lang="en-US" altLang="en-US" sz="1500" dirty="0">
                        <a:latin typeface="Arial" panose="020B0604020202020204" pitchFamily="34" charset="0"/>
                        <a:ea typeface="黑体" panose="02010609060101010101"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a:noFill/>
                    </a:lnT>
                    <a:lnB w="3175" cap="flat" cmpd="sng" algn="ctr">
                      <a:solidFill>
                        <a:srgbClr val="000000"/>
                      </a:solidFill>
                      <a:prstDash val="solid"/>
                      <a:round/>
                      <a:headEnd type="none" w="med" len="med"/>
                      <a:tailEnd type="none" w="med" len="med"/>
                    </a:lnB>
                  </a:tcPr>
                </a:tc>
              </a:tr>
            </a:tbl>
          </a:graphicData>
        </a:graphic>
      </p:graphicFrame>
      <p:sp>
        <p:nvSpPr>
          <p:cNvPr id="368" name="textbox 368"/>
          <p:cNvSpPr/>
          <p:nvPr/>
        </p:nvSpPr>
        <p:spPr>
          <a:xfrm>
            <a:off x="924560" y="1565910"/>
            <a:ext cx="10551160" cy="361315"/>
          </a:xfrm>
          <a:prstGeom prst="rect">
            <a:avLst/>
          </a:prstGeom>
        </p:spPr>
        <p:txBody>
          <a:bodyPr vert="horz" wrap="square" lIns="0" tIns="0" rIns="0" bIns="0"/>
          <a:lstStyle/>
          <a:p>
            <a:pPr algn="l" rtl="0" eaLnBrk="0">
              <a:lnSpc>
                <a:spcPct val="76000"/>
              </a:lnSpc>
            </a:pPr>
            <a:endParaRPr lang="en-US" altLang="en-US" sz="100" dirty="0">
              <a:latin typeface="Arial" panose="020B0604020202020204" pitchFamily="34" charset="0"/>
              <a:ea typeface="黑体" panose="02010609060101010101" charset="-122"/>
            </a:endParaRPr>
          </a:p>
          <a:p>
            <a:pPr algn="r" rtl="0" eaLnBrk="0">
              <a:lnSpc>
                <a:spcPct val="92000"/>
              </a:lnSpc>
            </a:pP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将</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S-</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盒变换后的</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比特数据再进行</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P</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盒置换，</a:t>
            </a:r>
            <a:r>
              <a:rPr sz="2400" kern="0" spc="-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置换后得到的</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32</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比特即为</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b="1" i="1" kern="0" spc="3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函数</a:t>
            </a:r>
            <a:endParaRPr lang="en-US" altLang="en-US" sz="2400" dirty="0">
              <a:latin typeface="Arial" panose="020B0604020202020204" pitchFamily="34" charset="0"/>
              <a:ea typeface="黑体" panose="02010609060101010101" charset="-122"/>
            </a:endParaRPr>
          </a:p>
        </p:txBody>
      </p:sp>
      <p:sp>
        <p:nvSpPr>
          <p:cNvPr id="370" name="textbox 370"/>
          <p:cNvSpPr/>
          <p:nvPr/>
        </p:nvSpPr>
        <p:spPr>
          <a:xfrm>
            <a:off x="1929681" y="5556191"/>
            <a:ext cx="6141720" cy="384809"/>
          </a:xfrm>
          <a:prstGeom prst="rect">
            <a:avLst/>
          </a:prstGeom>
        </p:spPr>
        <p:txBody>
          <a:bodyPr vert="horz" wrap="square" lIns="0" tIns="0" rIns="0" bIns="0"/>
          <a:lstStyle/>
          <a:p>
            <a:pPr algn="l" rtl="0" eaLnBrk="0">
              <a:lnSpc>
                <a:spcPct val="88000"/>
              </a:lnSpc>
            </a:pPr>
            <a:endParaRPr lang="en-US" altLang="en-US" sz="100" dirty="0">
              <a:latin typeface="Arial" panose="020B0604020202020204" pitchFamily="34" charset="0"/>
              <a:ea typeface="黑体" panose="02010609060101010101" charset="-122"/>
            </a:endParaRPr>
          </a:p>
          <a:p>
            <a:pPr marL="12700" algn="l" rtl="0" eaLnBrk="0">
              <a:lnSpc>
                <a:spcPct val="98000"/>
              </a:lnSpc>
            </a:pPr>
            <a:r>
              <a:rPr sz="2400" kern="0" spc="40" dirty="0">
                <a:ln w="9056"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含义</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:P</a:t>
            </a:r>
            <a:r>
              <a:rPr sz="2400" kern="0" spc="40" dirty="0">
                <a:ln w="9056"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盒输出的第</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40" dirty="0">
                <a:ln w="9056"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个元是输入的第</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400" kern="0" spc="40" dirty="0">
                <a:ln w="9056"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个元。</a:t>
            </a:r>
            <a:endParaRPr lang="en-US" altLang="en-US" sz="2400" dirty="0">
              <a:latin typeface="Arial" panose="020B0604020202020204" pitchFamily="34" charset="0"/>
              <a:ea typeface="黑体" panose="02010609060101010101" charset="-122"/>
            </a:endParaRPr>
          </a:p>
        </p:txBody>
      </p:sp>
      <p:sp>
        <p:nvSpPr>
          <p:cNvPr id="374" name="textbox 374"/>
          <p:cNvSpPr/>
          <p:nvPr/>
        </p:nvSpPr>
        <p:spPr>
          <a:xfrm>
            <a:off x="1552575" y="491490"/>
            <a:ext cx="2313940" cy="485775"/>
          </a:xfrm>
          <a:prstGeom prst="rect">
            <a:avLst/>
          </a:prstGeom>
        </p:spPr>
        <p:txBody>
          <a:bodyPr vert="horz" wrap="square" lIns="0" tIns="0" rIns="0" bIns="0"/>
          <a:lstStyle/>
          <a:p>
            <a:pPr algn="l" rtl="0" eaLnBrk="0">
              <a:lnSpc>
                <a:spcPct val="9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7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P盒置换</a:t>
            </a:r>
            <a:endParaRPr lang="en-US" altLang="en-US" sz="3100" dirty="0">
              <a:latin typeface="Arial" panose="020B0604020202020204" pitchFamily="34" charset="0"/>
              <a:ea typeface="黑体" panose="02010609060101010101" charset="-122"/>
            </a:endParaRPr>
          </a:p>
        </p:txBody>
      </p:sp>
      <p:sp>
        <p:nvSpPr>
          <p:cNvPr id="376"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378" name="picture 378"/>
          <p:cNvPicPr>
            <a:picLocks noChangeAspect="1"/>
          </p:cNvPicPr>
          <p:nvPr/>
        </p:nvPicPr>
        <p:blipFill>
          <a:blip r:embed="rId2"/>
          <a:stretch>
            <a:fillRect/>
          </a:stretch>
        </p:blipFill>
        <p:spPr>
          <a:xfrm rot="21600000">
            <a:off x="822960" y="408431"/>
            <a:ext cx="420623" cy="655320"/>
          </a:xfrm>
          <a:prstGeom prst="rect">
            <a:avLst/>
          </a:prstGeom>
        </p:spPr>
      </p:pic>
      <p:sp>
        <p:nvSpPr>
          <p:cNvPr id="38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
        <p:nvSpPr>
          <p:cNvPr id="382" name="textbox 382"/>
          <p:cNvSpPr/>
          <p:nvPr/>
        </p:nvSpPr>
        <p:spPr>
          <a:xfrm>
            <a:off x="11017402" y="6481064"/>
            <a:ext cx="159385" cy="165100"/>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76000"/>
              </a:lnSpc>
            </a:pPr>
            <a:r>
              <a:rPr sz="1200" b="1" kern="0" spc="-50" dirty="0">
                <a:solidFill>
                  <a:srgbClr val="898989">
                    <a:alpha val="100000"/>
                  </a:srgbClr>
                </a:solidFill>
                <a:latin typeface="Times New Roman" panose="02020603050405020304"/>
                <a:ea typeface="Times New Roman" panose="02020603050405020304"/>
                <a:cs typeface="Times New Roman" panose="02020603050405020304"/>
              </a:rPr>
              <a:t>11</a:t>
            </a:r>
            <a:endParaRPr lang="en-US" alt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6"/>
          <p:cNvGrpSpPr/>
          <p:nvPr/>
        </p:nvGrpSpPr>
        <p:grpSpPr>
          <a:xfrm rot="21600000">
            <a:off x="3709415" y="3886200"/>
            <a:ext cx="5507736" cy="813816"/>
            <a:chOff x="0" y="0"/>
            <a:chExt cx="5507736" cy="813816"/>
          </a:xfrm>
        </p:grpSpPr>
        <p:pic>
          <p:nvPicPr>
            <p:cNvPr id="384" name="picture 384"/>
            <p:cNvPicPr>
              <a:picLocks noChangeAspect="1"/>
            </p:cNvPicPr>
            <p:nvPr/>
          </p:nvPicPr>
          <p:blipFill>
            <a:blip r:embed="rId1"/>
            <a:stretch>
              <a:fillRect/>
            </a:stretch>
          </p:blipFill>
          <p:spPr>
            <a:xfrm rot="21600000">
              <a:off x="0" y="0"/>
              <a:ext cx="5507736" cy="813816"/>
            </a:xfrm>
            <a:prstGeom prst="rect">
              <a:avLst/>
            </a:prstGeom>
          </p:spPr>
        </p:pic>
        <p:sp>
          <p:nvSpPr>
            <p:cNvPr id="386" name="textbox 386"/>
            <p:cNvSpPr/>
            <p:nvPr/>
          </p:nvSpPr>
          <p:spPr>
            <a:xfrm>
              <a:off x="-12700" y="-12700"/>
              <a:ext cx="5533390" cy="879475"/>
            </a:xfrm>
            <a:prstGeom prst="rect">
              <a:avLst/>
            </a:prstGeom>
          </p:spPr>
          <p:txBody>
            <a:bodyPr vert="horz" wrap="square" lIns="0" tIns="0" rIns="0" bIns="0"/>
            <a:lstStyle/>
            <a:p>
              <a:pPr algn="l" rtl="0" eaLnBrk="0">
                <a:lnSpc>
                  <a:spcPct val="169000"/>
                </a:lnSpc>
              </a:pPr>
              <a:endParaRPr lang="en-US" altLang="en-US" sz="1000" dirty="0">
                <a:latin typeface="Arial" panose="020B0604020202020204" pitchFamily="34" charset="0"/>
                <a:ea typeface="黑体" panose="02010609060101010101" charset="-122"/>
              </a:endParaRPr>
            </a:p>
            <a:p>
              <a:pPr marL="661670" algn="l" rtl="0" eaLnBrk="0">
                <a:lnSpc>
                  <a:spcPct val="94000"/>
                </a:lnSpc>
                <a:spcBef>
                  <a:spcPts val="0"/>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的密钥编排</a:t>
              </a:r>
              <a:endParaRPr lang="en-US" altLang="en-US" sz="2400" dirty="0">
                <a:latin typeface="Arial" panose="020B0604020202020204" pitchFamily="34" charset="0"/>
                <a:ea typeface="黑体" panose="02010609060101010101" charset="-122"/>
              </a:endParaRPr>
            </a:p>
          </p:txBody>
        </p:sp>
      </p:grpSp>
      <p:grpSp>
        <p:nvGrpSpPr>
          <p:cNvPr id="68" name="group 68"/>
          <p:cNvGrpSpPr/>
          <p:nvPr/>
        </p:nvGrpSpPr>
        <p:grpSpPr>
          <a:xfrm rot="21600000">
            <a:off x="3557015" y="2057400"/>
            <a:ext cx="5708903" cy="813816"/>
            <a:chOff x="0" y="0"/>
            <a:chExt cx="5708903" cy="813816"/>
          </a:xfrm>
        </p:grpSpPr>
        <p:pic>
          <p:nvPicPr>
            <p:cNvPr id="388" name="picture 388"/>
            <p:cNvPicPr>
              <a:picLocks noChangeAspect="1"/>
            </p:cNvPicPr>
            <p:nvPr/>
          </p:nvPicPr>
          <p:blipFill>
            <a:blip r:embed="rId2"/>
            <a:stretch>
              <a:fillRect/>
            </a:stretch>
          </p:blipFill>
          <p:spPr>
            <a:xfrm rot="21600000">
              <a:off x="0" y="0"/>
              <a:ext cx="5708903" cy="813816"/>
            </a:xfrm>
            <a:prstGeom prst="rect">
              <a:avLst/>
            </a:prstGeom>
          </p:spPr>
        </p:pic>
        <p:sp>
          <p:nvSpPr>
            <p:cNvPr id="390" name="textbox 390"/>
            <p:cNvSpPr/>
            <p:nvPr/>
          </p:nvSpPr>
          <p:spPr>
            <a:xfrm>
              <a:off x="-12700" y="-12700"/>
              <a:ext cx="5734684" cy="874394"/>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661670" algn="l" rtl="0" eaLnBrk="0">
                <a:lnSpc>
                  <a:spcPct val="93000"/>
                </a:lnSpc>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的轮函数</a:t>
              </a:r>
              <a:endParaRPr lang="en-US" altLang="en-US" sz="2400" dirty="0">
                <a:latin typeface="Arial" panose="020B0604020202020204" pitchFamily="34" charset="0"/>
                <a:ea typeface="黑体" panose="02010609060101010101" charset="-122"/>
              </a:endParaRPr>
            </a:p>
          </p:txBody>
        </p:sp>
      </p:grpSp>
      <p:grpSp>
        <p:nvGrpSpPr>
          <p:cNvPr id="70" name="group 70"/>
          <p:cNvGrpSpPr/>
          <p:nvPr/>
        </p:nvGrpSpPr>
        <p:grpSpPr>
          <a:xfrm rot="21600000">
            <a:off x="2969132" y="1523492"/>
            <a:ext cx="1249298" cy="3784726"/>
            <a:chOff x="0" y="0"/>
            <a:chExt cx="1249298" cy="3784726"/>
          </a:xfrm>
        </p:grpSpPr>
        <p:sp>
          <p:nvSpPr>
            <p:cNvPr id="39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39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9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39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40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402" name="textbox 402"/>
          <p:cNvSpPr/>
          <p:nvPr/>
        </p:nvSpPr>
        <p:spPr>
          <a:xfrm>
            <a:off x="1540510" y="491490"/>
            <a:ext cx="7716520" cy="476250"/>
          </a:xfrm>
          <a:prstGeom prst="rect">
            <a:avLst/>
          </a:prstGeom>
        </p:spPr>
        <p:txBody>
          <a:bodyPr vert="horz" wrap="square" lIns="0" tIns="0" rIns="0" bIns="0"/>
          <a:lstStyle/>
          <a:p>
            <a:pPr algn="l" rtl="0" eaLnBrk="0">
              <a:lnSpc>
                <a:spcPct val="96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10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的轮函数</a:t>
            </a:r>
            <a:r>
              <a:rPr sz="3100" kern="0" spc="9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及密钥编排</a:t>
            </a:r>
            <a:endParaRPr lang="en-US" altLang="en-US" sz="3100" dirty="0">
              <a:latin typeface="Arial" panose="020B0604020202020204" pitchFamily="34" charset="0"/>
              <a:ea typeface="黑体" panose="02010609060101010101" charset="-122"/>
            </a:endParaRPr>
          </a:p>
        </p:txBody>
      </p:sp>
      <p:sp>
        <p:nvSpPr>
          <p:cNvPr id="40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408" name="picture 408"/>
          <p:cNvPicPr>
            <a:picLocks noChangeAspect="1"/>
          </p:cNvPicPr>
          <p:nvPr/>
        </p:nvPicPr>
        <p:blipFill>
          <a:blip r:embed="rId3"/>
          <a:stretch>
            <a:fillRect/>
          </a:stretch>
        </p:blipFill>
        <p:spPr>
          <a:xfrm rot="21600000">
            <a:off x="822960" y="408431"/>
            <a:ext cx="420623" cy="655320"/>
          </a:xfrm>
          <a:prstGeom prst="rect">
            <a:avLst/>
          </a:prstGeom>
        </p:spPr>
      </p:pic>
      <p:sp>
        <p:nvSpPr>
          <p:cNvPr id="41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2" name="table 412"/>
          <p:cNvGraphicFramePr>
            <a:graphicFrameLocks noGrp="1"/>
          </p:cNvGraphicFramePr>
          <p:nvPr/>
        </p:nvGraphicFramePr>
        <p:xfrm>
          <a:off x="3715511" y="1767839"/>
          <a:ext cx="4230369" cy="476884"/>
        </p:xfrm>
        <a:graphic>
          <a:graphicData uri="http://schemas.openxmlformats.org/drawingml/2006/table">
            <a:tbl>
              <a:tblPr>
                <a:solidFill>
                  <a:srgbClr val="5B9BD5"/>
                </a:solidFill>
              </a:tblPr>
              <a:tblGrid>
                <a:gridCol w="4230369"/>
              </a:tblGrid>
              <a:tr h="438784">
                <a:tc>
                  <a:txBody>
                    <a:bodyPr/>
                    <a:lstStyle/>
                    <a:p>
                      <a:pPr algn="l" rtl="0" eaLnBrk="0">
                        <a:lnSpc>
                          <a:spcPct val="111000"/>
                        </a:lnSpc>
                      </a:pPr>
                      <a:endParaRPr lang="en-US" altLang="en-US" sz="400" dirty="0">
                        <a:latin typeface="Arial" panose="020B0604020202020204" pitchFamily="34" charset="0"/>
                        <a:ea typeface="黑体" panose="02010609060101010101" charset="-122"/>
                      </a:endParaRPr>
                    </a:p>
                    <a:p>
                      <a:pPr marL="1174750" algn="l" rtl="0" eaLnBrk="0">
                        <a:lnSpc>
                          <a:spcPts val="295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密钥（</a:t>
                      </a: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64 bit </a:t>
                      </a:r>
                      <a:r>
                        <a:rPr sz="2400" kern="0" spc="-2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a:noFill/>
                    </a:lnB>
                    <a:solidFill>
                      <a:srgbClr val="5B9BD5"/>
                    </a:solidFill>
                  </a:tcPr>
                </a:tc>
              </a:tr>
            </a:tbl>
          </a:graphicData>
        </a:graphic>
      </p:graphicFrame>
      <p:grpSp>
        <p:nvGrpSpPr>
          <p:cNvPr id="72" name="group 72"/>
          <p:cNvGrpSpPr/>
          <p:nvPr/>
        </p:nvGrpSpPr>
        <p:grpSpPr>
          <a:xfrm rot="21600000">
            <a:off x="3715511" y="2625851"/>
            <a:ext cx="4230623" cy="381000"/>
            <a:chOff x="0" y="0"/>
            <a:chExt cx="4230623" cy="381000"/>
          </a:xfrm>
        </p:grpSpPr>
        <p:sp>
          <p:nvSpPr>
            <p:cNvPr id="414" name="rect"/>
            <p:cNvSpPr/>
            <p:nvPr/>
          </p:nvSpPr>
          <p:spPr>
            <a:xfrm>
              <a:off x="19811" y="0"/>
              <a:ext cx="4191000" cy="381000"/>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416" name="textbox 416"/>
            <p:cNvSpPr/>
            <p:nvPr/>
          </p:nvSpPr>
          <p:spPr>
            <a:xfrm>
              <a:off x="853881" y="35857"/>
              <a:ext cx="2219325" cy="374015"/>
            </a:xfrm>
            <a:prstGeom prst="rect">
              <a:avLst/>
            </a:prstGeom>
          </p:spPr>
          <p:txBody>
            <a:bodyPr vert="horz" wrap="square" lIns="0" tIns="0" rIns="0" bIns="0"/>
            <a:lstStyle/>
            <a:p>
              <a:pPr algn="l" rtl="0" eaLnBrk="0">
                <a:lnSpc>
                  <a:spcPct val="90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置换选择</a:t>
              </a:r>
              <a:r>
                <a:rPr sz="2400" kern="0" spc="-4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3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2400" kern="0" spc="-40" dirty="0">
                  <a:solidFill>
                    <a:srgbClr val="000000">
                      <a:alpha val="100000"/>
                    </a:srgbClr>
                  </a:solidFill>
                  <a:latin typeface="Arial" panose="020B0604020202020204" pitchFamily="34" charset="0"/>
                  <a:ea typeface="黑体" panose="02010609060101010101" charset="-122"/>
                  <a:cs typeface="Times New Roman" panose="02020603050405020304"/>
                </a:rPr>
                <a:t>PC1</a:t>
              </a:r>
              <a:endParaRPr lang="en-US" altLang="en-US" sz="2400" dirty="0">
                <a:latin typeface="Arial" panose="020B0604020202020204" pitchFamily="34" charset="0"/>
                <a:ea typeface="黑体" panose="02010609060101010101" charset="-122"/>
              </a:endParaRPr>
            </a:p>
          </p:txBody>
        </p:sp>
        <p:sp>
          <p:nvSpPr>
            <p:cNvPr id="418" name="path"/>
            <p:cNvSpPr/>
            <p:nvPr/>
          </p:nvSpPr>
          <p:spPr>
            <a:xfrm>
              <a:off x="0" y="63500"/>
              <a:ext cx="39623" cy="254000"/>
            </a:xfrm>
            <a:custGeom>
              <a:avLst/>
              <a:gdLst/>
              <a:ahLst/>
              <a:cxnLst/>
              <a:rect l="0" t="0" r="0" b="0"/>
              <a:pathLst>
                <a:path w="62" h="400">
                  <a:moveTo>
                    <a:pt x="31" y="400"/>
                  </a:moveTo>
                  <a:lnTo>
                    <a:pt x="31" y="0"/>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20" name="path"/>
            <p:cNvSpPr/>
            <p:nvPr/>
          </p:nvSpPr>
          <p:spPr>
            <a:xfrm>
              <a:off x="4191000" y="63500"/>
              <a:ext cx="39623" cy="254000"/>
            </a:xfrm>
            <a:custGeom>
              <a:avLst/>
              <a:gdLst/>
              <a:ahLst/>
              <a:cxnLst/>
              <a:rect l="0" t="0" r="0" b="0"/>
              <a:pathLst>
                <a:path w="62" h="400">
                  <a:moveTo>
                    <a:pt x="31" y="0"/>
                  </a:moveTo>
                  <a:lnTo>
                    <a:pt x="31" y="40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74" name="group 74"/>
          <p:cNvGrpSpPr/>
          <p:nvPr/>
        </p:nvGrpSpPr>
        <p:grpSpPr>
          <a:xfrm rot="21600000">
            <a:off x="3779520" y="5177028"/>
            <a:ext cx="4230623" cy="381000"/>
            <a:chOff x="0" y="0"/>
            <a:chExt cx="4230623" cy="381000"/>
          </a:xfrm>
        </p:grpSpPr>
        <p:sp>
          <p:nvSpPr>
            <p:cNvPr id="422" name="rect"/>
            <p:cNvSpPr/>
            <p:nvPr/>
          </p:nvSpPr>
          <p:spPr>
            <a:xfrm>
              <a:off x="19811" y="0"/>
              <a:ext cx="4190999" cy="381000"/>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424" name="textbox 424"/>
            <p:cNvSpPr/>
            <p:nvPr/>
          </p:nvSpPr>
          <p:spPr>
            <a:xfrm>
              <a:off x="866063" y="35737"/>
              <a:ext cx="2219325" cy="374015"/>
            </a:xfrm>
            <a:prstGeom prst="rect">
              <a:avLst/>
            </a:prstGeom>
          </p:spPr>
          <p:txBody>
            <a:bodyPr vert="horz" wrap="square" lIns="0" tIns="0" rIns="0" bIns="0"/>
            <a:lstStyle/>
            <a:p>
              <a:pPr algn="l" rtl="0" eaLnBrk="0">
                <a:lnSpc>
                  <a:spcPct val="88000"/>
                </a:lnSpc>
              </a:pPr>
              <a:endParaRPr lang="en-US" altLang="en-US" sz="100" dirty="0">
                <a:latin typeface="Arial" panose="020B0604020202020204" pitchFamily="34" charset="0"/>
                <a:ea typeface="黑体" panose="02010609060101010101" charset="-122"/>
              </a:endParaRPr>
            </a:p>
            <a:p>
              <a:pPr marL="12700" algn="l" rtl="0" eaLnBrk="0">
                <a:lnSpc>
                  <a:spcPct val="95000"/>
                </a:lnSpc>
              </a:pP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置换选择</a:t>
              </a:r>
              <a:r>
                <a:rPr sz="2400" kern="0" spc="-4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kern="0" spc="-3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2400" kern="0" spc="-40" dirty="0">
                  <a:solidFill>
                    <a:srgbClr val="000000">
                      <a:alpha val="100000"/>
                    </a:srgbClr>
                  </a:solidFill>
                  <a:latin typeface="Arial" panose="020B0604020202020204" pitchFamily="34" charset="0"/>
                  <a:ea typeface="黑体" panose="02010609060101010101" charset="-122"/>
                  <a:cs typeface="Times New Roman" panose="02020603050405020304"/>
                </a:rPr>
                <a:t>PC2</a:t>
              </a:r>
              <a:endParaRPr lang="en-US" altLang="en-US" sz="2400" dirty="0">
                <a:latin typeface="Arial" panose="020B0604020202020204" pitchFamily="34" charset="0"/>
                <a:ea typeface="黑体" panose="02010609060101010101" charset="-122"/>
              </a:endParaRPr>
            </a:p>
          </p:txBody>
        </p:sp>
        <p:sp>
          <p:nvSpPr>
            <p:cNvPr id="426" name="path"/>
            <p:cNvSpPr/>
            <p:nvPr/>
          </p:nvSpPr>
          <p:spPr>
            <a:xfrm>
              <a:off x="0" y="63500"/>
              <a:ext cx="39623" cy="254000"/>
            </a:xfrm>
            <a:custGeom>
              <a:avLst/>
              <a:gdLst/>
              <a:ahLst/>
              <a:cxnLst/>
              <a:rect l="0" t="0" r="0" b="0"/>
              <a:pathLst>
                <a:path w="62" h="400">
                  <a:moveTo>
                    <a:pt x="31" y="400"/>
                  </a:moveTo>
                  <a:lnTo>
                    <a:pt x="31" y="0"/>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28" name="path"/>
            <p:cNvSpPr/>
            <p:nvPr/>
          </p:nvSpPr>
          <p:spPr>
            <a:xfrm>
              <a:off x="4190999" y="63500"/>
              <a:ext cx="39623" cy="254000"/>
            </a:xfrm>
            <a:custGeom>
              <a:avLst/>
              <a:gdLst/>
              <a:ahLst/>
              <a:cxnLst/>
              <a:rect l="0" t="0" r="0" b="0"/>
              <a:pathLst>
                <a:path w="62" h="400">
                  <a:moveTo>
                    <a:pt x="31" y="0"/>
                  </a:moveTo>
                  <a:lnTo>
                    <a:pt x="31" y="40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sp>
        <p:nvSpPr>
          <p:cNvPr id="430" name="path"/>
          <p:cNvSpPr/>
          <p:nvPr/>
        </p:nvSpPr>
        <p:spPr>
          <a:xfrm>
            <a:off x="3715511" y="2606039"/>
            <a:ext cx="4230623" cy="103123"/>
          </a:xfrm>
          <a:custGeom>
            <a:avLst/>
            <a:gdLst/>
            <a:ahLst/>
            <a:cxnLst/>
            <a:rect l="0" t="0" r="0" b="0"/>
            <a:pathLst>
              <a:path w="6662" h="162">
                <a:moveTo>
                  <a:pt x="31" y="131"/>
                </a:moveTo>
                <a:cubicBezTo>
                  <a:pt x="31" y="76"/>
                  <a:pt x="75" y="31"/>
                  <a:pt x="131" y="31"/>
                </a:cubicBezTo>
                <a:lnTo>
                  <a:pt x="6531" y="31"/>
                </a:lnTo>
                <a:cubicBezTo>
                  <a:pt x="6586" y="31"/>
                  <a:pt x="6631" y="76"/>
                  <a:pt x="6631" y="1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grpSp>
        <p:nvGrpSpPr>
          <p:cNvPr id="76" name="group 76"/>
          <p:cNvGrpSpPr/>
          <p:nvPr/>
        </p:nvGrpSpPr>
        <p:grpSpPr>
          <a:xfrm rot="21600000">
            <a:off x="3735323" y="2225039"/>
            <a:ext cx="4191000" cy="39623"/>
            <a:chOff x="0" y="0"/>
            <a:chExt cx="4191000" cy="39623"/>
          </a:xfrm>
        </p:grpSpPr>
        <p:sp>
          <p:nvSpPr>
            <p:cNvPr id="432" name="path"/>
            <p:cNvSpPr/>
            <p:nvPr/>
          </p:nvSpPr>
          <p:spPr>
            <a:xfrm>
              <a:off x="0" y="0"/>
              <a:ext cx="4191000" cy="39623"/>
            </a:xfrm>
            <a:custGeom>
              <a:avLst/>
              <a:gdLst/>
              <a:ahLst/>
              <a:cxnLst/>
              <a:rect l="0" t="0" r="0" b="0"/>
              <a:pathLst>
                <a:path w="6600" h="62">
                  <a:moveTo>
                    <a:pt x="0" y="31"/>
                  </a:moveTo>
                  <a:lnTo>
                    <a:pt x="6600" y="31"/>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34" name="path"/>
            <p:cNvSpPr/>
            <p:nvPr/>
          </p:nvSpPr>
          <p:spPr>
            <a:xfrm>
              <a:off x="1905000" y="0"/>
              <a:ext cx="152400" cy="9143"/>
            </a:xfrm>
            <a:custGeom>
              <a:avLst/>
              <a:gdLst/>
              <a:ahLst/>
              <a:cxnLst/>
              <a:rect l="0" t="0" r="0" b="0"/>
              <a:pathLst>
                <a:path w="240" h="14">
                  <a:moveTo>
                    <a:pt x="0" y="7"/>
                  </a:moveTo>
                  <a:lnTo>
                    <a:pt x="240" y="7"/>
                  </a:lnTo>
                </a:path>
              </a:pathLst>
            </a:custGeom>
            <a:noFill/>
            <a:ln w="9143" cap="flat">
              <a:solidFill>
                <a:srgbClr val="CC3300">
                  <a:alpha val="100000"/>
                </a:srgbClr>
              </a:solidFill>
              <a:prstDash val="solid"/>
              <a:miter lim="1000000"/>
            </a:ln>
          </p:spPr>
          <p:txBody>
            <a:bodyPr rtlCol="0"/>
            <a:lstStyle/>
            <a:p>
              <a:pPr algn="ctr"/>
              <a:endParaRPr lang="zh-CN" altLang="en-US"/>
            </a:p>
          </p:txBody>
        </p:sp>
      </p:grpSp>
      <p:sp>
        <p:nvSpPr>
          <p:cNvPr id="436" name="textbox 436"/>
          <p:cNvSpPr/>
          <p:nvPr/>
        </p:nvSpPr>
        <p:spPr>
          <a:xfrm>
            <a:off x="5549265" y="2216785"/>
            <a:ext cx="4597400" cy="417195"/>
          </a:xfrm>
          <a:prstGeom prst="rect">
            <a:avLst/>
          </a:prstGeom>
        </p:spPr>
        <p:txBody>
          <a:bodyPr vert="horz" wrap="square" lIns="0" tIns="0" rIns="0" bIns="0"/>
          <a:lstStyle/>
          <a:p>
            <a:pPr algn="l" rtl="0" eaLnBrk="0">
              <a:lnSpc>
                <a:spcPct val="119000"/>
              </a:lnSpc>
            </a:pPr>
            <a:endParaRPr lang="en-US" altLang="en-US" sz="500" dirty="0">
              <a:latin typeface="Arial" panose="020B0604020202020204" pitchFamily="34" charset="0"/>
              <a:ea typeface="黑体" panose="02010609060101010101" charset="-122"/>
            </a:endParaRPr>
          </a:p>
          <a:p>
            <a:pPr marL="321945" algn="l" defTabSz="0" rtl="0" eaLnBrk="0">
              <a:lnSpc>
                <a:spcPct val="96000"/>
              </a:lnSpc>
              <a:spcBef>
                <a:spcPts val="5"/>
              </a:spcBef>
              <a:tabLst>
                <a:tab pos="419100" algn="l"/>
              </a:tabLst>
            </a:pPr>
            <a:r>
              <a:rPr sz="19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9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除去第</a:t>
            </a:r>
            <a:r>
              <a:rPr sz="1900" kern="0" spc="40" dirty="0">
                <a:solidFill>
                  <a:srgbClr val="000000">
                    <a:alpha val="100000"/>
                  </a:srgbClr>
                </a:solidFill>
                <a:latin typeface="Arial" panose="020B0604020202020204" pitchFamily="34" charset="0"/>
                <a:ea typeface="黑体" panose="02010609060101010101" charset="-122"/>
                <a:cs typeface="Times New Roman" panose="02020603050405020304"/>
              </a:rPr>
              <a:t>8,16,</a:t>
            </a:r>
            <a:r>
              <a:rPr sz="1900" kern="0" spc="3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9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1900" kern="0" spc="40" dirty="0">
                <a:solidFill>
                  <a:srgbClr val="000000">
                    <a:alpha val="100000"/>
                  </a:srgbClr>
                </a:solidFill>
                <a:latin typeface="Arial" panose="020B0604020202020204" pitchFamily="34" charset="0"/>
                <a:ea typeface="黑体" panose="02010609060101010101" charset="-122"/>
                <a:cs typeface="Times New Roman" panose="02020603050405020304"/>
              </a:rPr>
              <a:t>,64</a:t>
            </a:r>
            <a:r>
              <a:rPr sz="19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1900" kern="0" spc="4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19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个校验位</a:t>
            </a:r>
            <a:r>
              <a:rPr sz="19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1900" dirty="0">
              <a:latin typeface="Arial" panose="020B0604020202020204" pitchFamily="34" charset="0"/>
              <a:ea typeface="黑体" panose="02010609060101010101" charset="-122"/>
            </a:endParaRPr>
          </a:p>
        </p:txBody>
      </p:sp>
      <p:grpSp>
        <p:nvGrpSpPr>
          <p:cNvPr id="78" name="group 78"/>
          <p:cNvGrpSpPr/>
          <p:nvPr/>
        </p:nvGrpSpPr>
        <p:grpSpPr>
          <a:xfrm rot="21600000">
            <a:off x="5561700" y="2229611"/>
            <a:ext cx="309646" cy="384876"/>
            <a:chOff x="0" y="0"/>
            <a:chExt cx="309646" cy="384876"/>
          </a:xfrm>
        </p:grpSpPr>
        <p:sp>
          <p:nvSpPr>
            <p:cNvPr id="438" name="path"/>
            <p:cNvSpPr/>
            <p:nvPr/>
          </p:nvSpPr>
          <p:spPr>
            <a:xfrm>
              <a:off x="2423" y="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440" name="path"/>
            <p:cNvSpPr/>
            <p:nvPr/>
          </p:nvSpPr>
          <p:spPr>
            <a:xfrm>
              <a:off x="0" y="0"/>
              <a:ext cx="309646" cy="384876"/>
            </a:xfrm>
            <a:custGeom>
              <a:avLst/>
              <a:gdLst/>
              <a:ahLst/>
              <a:cxnLst/>
              <a:rect l="0" t="0" r="0" b="0"/>
              <a:pathLst>
                <a:path w="487" h="606">
                  <a:moveTo>
                    <a:pt x="3" y="450"/>
                  </a:moveTo>
                  <a:lnTo>
                    <a:pt x="123" y="450"/>
                  </a:lnTo>
                  <a:lnTo>
                    <a:pt x="123" y="0"/>
                  </a:lnTo>
                  <a:moveTo>
                    <a:pt x="363" y="0"/>
                  </a:moveTo>
                  <a:lnTo>
                    <a:pt x="363" y="450"/>
                  </a:lnTo>
                  <a:lnTo>
                    <a:pt x="483" y="450"/>
                  </a:lnTo>
                  <a:lnTo>
                    <a:pt x="243" y="600"/>
                  </a:lnTo>
                  <a:lnTo>
                    <a:pt x="3" y="450"/>
                  </a:lnTo>
                </a:path>
              </a:pathLst>
            </a:custGeom>
            <a:noFill/>
            <a:ln w="9143" cap="flat">
              <a:solidFill>
                <a:srgbClr val="CC3300">
                  <a:alpha val="100000"/>
                </a:srgbClr>
              </a:solidFill>
              <a:prstDash val="solid"/>
              <a:miter lim="1000000"/>
            </a:ln>
          </p:spPr>
          <p:txBody>
            <a:bodyPr rtlCol="0"/>
            <a:lstStyle/>
            <a:p>
              <a:pPr algn="ctr"/>
              <a:endParaRPr lang="zh-CN" altLang="en-US"/>
            </a:p>
          </p:txBody>
        </p:sp>
      </p:grpSp>
      <p:sp>
        <p:nvSpPr>
          <p:cNvPr id="442" name="textbox 442"/>
          <p:cNvSpPr/>
          <p:nvPr/>
        </p:nvSpPr>
        <p:spPr>
          <a:xfrm>
            <a:off x="1549843" y="466861"/>
            <a:ext cx="2450464"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dirty="0">
                <a:solidFill>
                  <a:srgbClr val="1F4E79">
                    <a:alpha val="100000"/>
                  </a:srgbClr>
                </a:solidFill>
                <a:latin typeface="Arial" panose="020B0604020202020204" pitchFamily="34" charset="0"/>
                <a:ea typeface="黑体" panose="02010609060101010101" charset="-122"/>
                <a:cs typeface="仿宋" panose="02010609060101010101" charset="-122"/>
              </a:rPr>
              <a:t>密钥编排</a:t>
            </a:r>
            <a:endParaRPr sz="3100" kern="0" dirty="0">
              <a:solidFill>
                <a:srgbClr val="1F4E79">
                  <a:alpha val="100000"/>
                </a:srgbClr>
              </a:solidFill>
              <a:latin typeface="Arial" panose="020B0604020202020204" pitchFamily="34" charset="0"/>
              <a:ea typeface="黑体" panose="02010609060101010101" charset="-122"/>
              <a:cs typeface="仿宋" panose="02010609060101010101" charset="-122"/>
            </a:endParaRPr>
          </a:p>
        </p:txBody>
      </p:sp>
      <p:graphicFrame>
        <p:nvGraphicFramePr>
          <p:cNvPr id="444" name="table 444"/>
          <p:cNvGraphicFramePr>
            <a:graphicFrameLocks noGrp="1"/>
          </p:cNvGraphicFramePr>
          <p:nvPr/>
        </p:nvGraphicFramePr>
        <p:xfrm>
          <a:off x="6025896" y="3392423"/>
          <a:ext cx="1868170" cy="476885"/>
        </p:xfrm>
        <a:graphic>
          <a:graphicData uri="http://schemas.openxmlformats.org/drawingml/2006/table">
            <a:tbl>
              <a:tblPr>
                <a:solidFill>
                  <a:srgbClr val="5B9BD5"/>
                </a:solidFill>
              </a:tblPr>
              <a:tblGrid>
                <a:gridCol w="1868170"/>
              </a:tblGrid>
              <a:tr h="438785">
                <a:tc>
                  <a:txBody>
                    <a:bodyPr/>
                    <a:lstStyle/>
                    <a:p>
                      <a:pPr algn="l" rtl="0" eaLnBrk="0">
                        <a:lnSpc>
                          <a:spcPct val="104000"/>
                        </a:lnSpc>
                      </a:pPr>
                      <a:endParaRPr lang="en-US" altLang="en-US" sz="800" dirty="0">
                        <a:latin typeface="Arial" panose="020B0604020202020204" pitchFamily="34" charset="0"/>
                        <a:ea typeface="黑体" panose="02010609060101010101" charset="-122"/>
                      </a:endParaRPr>
                    </a:p>
                    <a:p>
                      <a:pPr marL="304165" algn="l" rtl="0" eaLnBrk="0">
                        <a:lnSpc>
                          <a:spcPct val="92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2400"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(28 bit)</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w="38100" cap="flat" cmpd="sng" algn="ctr">
                      <a:solidFill>
                        <a:srgbClr val="CC3300"/>
                      </a:solidFill>
                      <a:prstDash val="solid"/>
                      <a:round/>
                      <a:headEnd type="none" w="med" len="med"/>
                      <a:tailEnd type="none" w="med" len="med"/>
                    </a:lnT>
                    <a:lnB>
                      <a:noFill/>
                    </a:lnB>
                    <a:solidFill>
                      <a:srgbClr val="5B9BD5"/>
                    </a:solidFill>
                  </a:tcPr>
                </a:tc>
              </a:tr>
            </a:tbl>
          </a:graphicData>
        </a:graphic>
      </p:graphicFrame>
      <p:graphicFrame>
        <p:nvGraphicFramePr>
          <p:cNvPr id="446" name="table 446"/>
          <p:cNvGraphicFramePr>
            <a:graphicFrameLocks noGrp="1"/>
          </p:cNvGraphicFramePr>
          <p:nvPr/>
        </p:nvGraphicFramePr>
        <p:xfrm>
          <a:off x="3758183" y="3392423"/>
          <a:ext cx="1868170" cy="476885"/>
        </p:xfrm>
        <a:graphic>
          <a:graphicData uri="http://schemas.openxmlformats.org/drawingml/2006/table">
            <a:tbl>
              <a:tblPr>
                <a:solidFill>
                  <a:srgbClr val="5B9BD5"/>
                </a:solidFill>
              </a:tblPr>
              <a:tblGrid>
                <a:gridCol w="1868170"/>
              </a:tblGrid>
              <a:tr h="438785">
                <a:tc>
                  <a:txBody>
                    <a:bodyPr/>
                    <a:lstStyle/>
                    <a:p>
                      <a:pPr algn="l" rtl="0" eaLnBrk="0">
                        <a:lnSpc>
                          <a:spcPct val="104000"/>
                        </a:lnSpc>
                      </a:pPr>
                      <a:endParaRPr lang="en-US" altLang="en-US" sz="800" dirty="0">
                        <a:latin typeface="Arial" panose="020B0604020202020204" pitchFamily="34" charset="0"/>
                        <a:ea typeface="黑体" panose="02010609060101010101" charset="-122"/>
                      </a:endParaRPr>
                    </a:p>
                    <a:p>
                      <a:pPr marL="367665" algn="l" rtl="0" eaLnBrk="0">
                        <a:lnSpc>
                          <a:spcPct val="92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C</a:t>
                      </a:r>
                      <a:r>
                        <a:rPr sz="2400"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(28 bit)</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a:noFill/>
                    </a:lnR>
                    <a:lnT w="38100" cap="flat" cmpd="sng" algn="ctr">
                      <a:solidFill>
                        <a:srgbClr val="CC3300"/>
                      </a:solidFill>
                      <a:prstDash val="solid"/>
                      <a:round/>
                      <a:headEnd type="none" w="med" len="med"/>
                      <a:tailEnd type="none" w="med" len="med"/>
                    </a:lnT>
                    <a:lnB>
                      <a:noFill/>
                    </a:lnB>
                    <a:solidFill>
                      <a:srgbClr val="5B9BD5"/>
                    </a:solidFill>
                  </a:tcPr>
                </a:tc>
              </a:tr>
            </a:tbl>
          </a:graphicData>
        </a:graphic>
      </p:graphicFrame>
      <p:grpSp>
        <p:nvGrpSpPr>
          <p:cNvPr id="80" name="group 80"/>
          <p:cNvGrpSpPr/>
          <p:nvPr/>
        </p:nvGrpSpPr>
        <p:grpSpPr>
          <a:xfrm rot="21600000">
            <a:off x="3739896" y="4274820"/>
            <a:ext cx="1868423" cy="457200"/>
            <a:chOff x="0" y="0"/>
            <a:chExt cx="1868423" cy="457200"/>
          </a:xfrm>
        </p:grpSpPr>
        <p:sp>
          <p:nvSpPr>
            <p:cNvPr id="448" name="rect"/>
            <p:cNvSpPr/>
            <p:nvPr/>
          </p:nvSpPr>
          <p:spPr>
            <a:xfrm>
              <a:off x="19811" y="0"/>
              <a:ext cx="1828800" cy="457200"/>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450" name="textbox 450"/>
            <p:cNvSpPr/>
            <p:nvPr/>
          </p:nvSpPr>
          <p:spPr>
            <a:xfrm>
              <a:off x="135215" y="122284"/>
              <a:ext cx="1595755" cy="337184"/>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2455"/>
                </a:lnSpc>
              </a:pPr>
              <a:r>
                <a:rPr sz="19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r>
                <a:rPr sz="1900" kern="0" spc="0" dirty="0">
                  <a:solidFill>
                    <a:srgbClr val="000000">
                      <a:alpha val="100000"/>
                    </a:srgbClr>
                  </a:solidFill>
                  <a:latin typeface="Arial" panose="020B0604020202020204" pitchFamily="34" charset="0"/>
                  <a:ea typeface="黑体" panose="02010609060101010101" charset="-122"/>
                  <a:cs typeface="Times New Roman" panose="02020603050405020304"/>
                </a:rPr>
                <a:t>t</a:t>
              </a:r>
              <a:r>
                <a:rPr sz="2000" kern="0" spc="0" baseline="-18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000" kern="0" spc="70" baseline="-18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900" kern="0" spc="0" dirty="0">
                  <a:solidFill>
                    <a:srgbClr val="000000">
                      <a:alpha val="100000"/>
                    </a:srgbClr>
                  </a:solidFill>
                  <a:latin typeface="Arial" panose="020B0604020202020204" pitchFamily="34" charset="0"/>
                  <a:ea typeface="黑体" panose="02010609060101010101" charset="-122"/>
                  <a:cs typeface="Times New Roman" panose="02020603050405020304"/>
                </a:rPr>
                <a:t>bit</a:t>
              </a:r>
              <a:endParaRPr lang="en-US" altLang="en-US" sz="1900" dirty="0">
                <a:latin typeface="Arial" panose="020B0604020202020204" pitchFamily="34" charset="0"/>
                <a:ea typeface="黑体" panose="02010609060101010101" charset="-122"/>
              </a:endParaRPr>
            </a:p>
          </p:txBody>
        </p:sp>
        <p:sp>
          <p:nvSpPr>
            <p:cNvPr id="452" name="path"/>
            <p:cNvSpPr/>
            <p:nvPr/>
          </p:nvSpPr>
          <p:spPr>
            <a:xfrm>
              <a:off x="0" y="76200"/>
              <a:ext cx="39623" cy="304800"/>
            </a:xfrm>
            <a:custGeom>
              <a:avLst/>
              <a:gdLst/>
              <a:ahLst/>
              <a:cxnLst/>
              <a:rect l="0" t="0" r="0" b="0"/>
              <a:pathLst>
                <a:path w="62" h="480">
                  <a:moveTo>
                    <a:pt x="31" y="480"/>
                  </a:moveTo>
                  <a:lnTo>
                    <a:pt x="31" y="0"/>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54" name="path"/>
            <p:cNvSpPr/>
            <p:nvPr/>
          </p:nvSpPr>
          <p:spPr>
            <a:xfrm>
              <a:off x="1828800" y="76200"/>
              <a:ext cx="39623" cy="304800"/>
            </a:xfrm>
            <a:custGeom>
              <a:avLst/>
              <a:gdLst/>
              <a:ahLst/>
              <a:cxnLst/>
              <a:rect l="0" t="0" r="0" b="0"/>
              <a:pathLst>
                <a:path w="62" h="480">
                  <a:moveTo>
                    <a:pt x="31" y="0"/>
                  </a:moveTo>
                  <a:lnTo>
                    <a:pt x="31" y="48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grpSp>
        <p:nvGrpSpPr>
          <p:cNvPr id="82" name="group 82"/>
          <p:cNvGrpSpPr/>
          <p:nvPr/>
        </p:nvGrpSpPr>
        <p:grpSpPr>
          <a:xfrm rot="21600000">
            <a:off x="6025896" y="4274820"/>
            <a:ext cx="1868423" cy="457200"/>
            <a:chOff x="0" y="0"/>
            <a:chExt cx="1868423" cy="457200"/>
          </a:xfrm>
        </p:grpSpPr>
        <p:sp>
          <p:nvSpPr>
            <p:cNvPr id="456" name="rect"/>
            <p:cNvSpPr/>
            <p:nvPr/>
          </p:nvSpPr>
          <p:spPr>
            <a:xfrm>
              <a:off x="19811" y="0"/>
              <a:ext cx="1828799" cy="457200"/>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458" name="textbox 458"/>
            <p:cNvSpPr/>
            <p:nvPr/>
          </p:nvSpPr>
          <p:spPr>
            <a:xfrm>
              <a:off x="132179" y="118720"/>
              <a:ext cx="1595755" cy="33782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2455"/>
                </a:lnSpc>
              </a:pPr>
              <a:r>
                <a:rPr sz="19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r>
                <a:rPr sz="1900" kern="0" spc="0" dirty="0">
                  <a:solidFill>
                    <a:srgbClr val="000000">
                      <a:alpha val="100000"/>
                    </a:srgbClr>
                  </a:solidFill>
                  <a:latin typeface="Arial" panose="020B0604020202020204" pitchFamily="34" charset="0"/>
                  <a:ea typeface="黑体" panose="02010609060101010101" charset="-122"/>
                  <a:cs typeface="Times New Roman" panose="02020603050405020304"/>
                </a:rPr>
                <a:t>t</a:t>
              </a:r>
              <a:r>
                <a:rPr sz="2000" kern="0" spc="0" baseline="-18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000" kern="0" spc="70" baseline="-18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900" kern="0" spc="0" dirty="0">
                  <a:solidFill>
                    <a:srgbClr val="000000">
                      <a:alpha val="100000"/>
                    </a:srgbClr>
                  </a:solidFill>
                  <a:latin typeface="Arial" panose="020B0604020202020204" pitchFamily="34" charset="0"/>
                  <a:ea typeface="黑体" panose="02010609060101010101" charset="-122"/>
                  <a:cs typeface="Times New Roman" panose="02020603050405020304"/>
                </a:rPr>
                <a:t>bit</a:t>
              </a:r>
              <a:endParaRPr lang="en-US" altLang="en-US" sz="1900" dirty="0">
                <a:latin typeface="Arial" panose="020B0604020202020204" pitchFamily="34" charset="0"/>
                <a:ea typeface="黑体" panose="02010609060101010101" charset="-122"/>
              </a:endParaRPr>
            </a:p>
          </p:txBody>
        </p:sp>
        <p:sp>
          <p:nvSpPr>
            <p:cNvPr id="460" name="path"/>
            <p:cNvSpPr/>
            <p:nvPr/>
          </p:nvSpPr>
          <p:spPr>
            <a:xfrm>
              <a:off x="0" y="76200"/>
              <a:ext cx="39623" cy="304800"/>
            </a:xfrm>
            <a:custGeom>
              <a:avLst/>
              <a:gdLst/>
              <a:ahLst/>
              <a:cxnLst/>
              <a:rect l="0" t="0" r="0" b="0"/>
              <a:pathLst>
                <a:path w="62" h="480">
                  <a:moveTo>
                    <a:pt x="31" y="480"/>
                  </a:moveTo>
                  <a:lnTo>
                    <a:pt x="31" y="0"/>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62" name="path"/>
            <p:cNvSpPr/>
            <p:nvPr/>
          </p:nvSpPr>
          <p:spPr>
            <a:xfrm>
              <a:off x="1828799" y="76200"/>
              <a:ext cx="39623" cy="304800"/>
            </a:xfrm>
            <a:custGeom>
              <a:avLst/>
              <a:gdLst/>
              <a:ahLst/>
              <a:cxnLst/>
              <a:rect l="0" t="0" r="0" b="0"/>
              <a:pathLst>
                <a:path w="62" h="480">
                  <a:moveTo>
                    <a:pt x="31" y="0"/>
                  </a:moveTo>
                  <a:lnTo>
                    <a:pt x="31" y="480"/>
                  </a:lnTo>
                </a:path>
              </a:pathLst>
            </a:custGeom>
            <a:noFill/>
            <a:ln w="39623" cap="flat">
              <a:solidFill>
                <a:srgbClr val="CC3300">
                  <a:alpha val="100000"/>
                </a:srgbClr>
              </a:solidFill>
              <a:prstDash val="solid"/>
              <a:miter lim="1000000"/>
            </a:ln>
          </p:spPr>
          <p:txBody>
            <a:bodyPr rtlCol="0"/>
            <a:lstStyle/>
            <a:p>
              <a:pPr algn="ctr"/>
              <a:endParaRPr lang="zh-CN" altLang="en-US"/>
            </a:p>
          </p:txBody>
        </p:sp>
      </p:grpSp>
      <p:sp>
        <p:nvSpPr>
          <p:cNvPr id="466" name="path"/>
          <p:cNvSpPr/>
          <p:nvPr/>
        </p:nvSpPr>
        <p:spPr>
          <a:xfrm>
            <a:off x="3739896" y="4255008"/>
            <a:ext cx="4154423" cy="115823"/>
          </a:xfrm>
          <a:custGeom>
            <a:avLst/>
            <a:gdLst/>
            <a:ahLst/>
            <a:cxnLst/>
            <a:rect l="0" t="0" r="0" b="0"/>
            <a:pathLst>
              <a:path w="6542" h="182">
                <a:moveTo>
                  <a:pt x="31" y="151"/>
                </a:moveTo>
                <a:cubicBezTo>
                  <a:pt x="31" y="85"/>
                  <a:pt x="85" y="31"/>
                  <a:pt x="151" y="31"/>
                </a:cubicBezTo>
                <a:lnTo>
                  <a:pt x="2791" y="31"/>
                </a:lnTo>
                <a:cubicBezTo>
                  <a:pt x="2857" y="31"/>
                  <a:pt x="2911" y="85"/>
                  <a:pt x="2911" y="151"/>
                </a:cubicBezTo>
                <a:moveTo>
                  <a:pt x="3631" y="151"/>
                </a:moveTo>
                <a:cubicBezTo>
                  <a:pt x="3631" y="85"/>
                  <a:pt x="3685" y="31"/>
                  <a:pt x="3751" y="31"/>
                </a:cubicBezTo>
                <a:lnTo>
                  <a:pt x="6391" y="31"/>
                </a:lnTo>
                <a:cubicBezTo>
                  <a:pt x="6457" y="31"/>
                  <a:pt x="6511" y="85"/>
                  <a:pt x="6511" y="151"/>
                </a:cubicBezTo>
              </a:path>
            </a:pathLst>
          </a:custGeom>
          <a:noFill/>
          <a:ln w="39623" cap="flat">
            <a:solidFill>
              <a:srgbClr val="CC3300">
                <a:alpha val="100000"/>
              </a:srgbClr>
            </a:solidFill>
            <a:prstDash val="solid"/>
            <a:miter lim="1000000"/>
          </a:ln>
        </p:spPr>
        <p:txBody>
          <a:bodyPr rtlCol="0"/>
          <a:lstStyle/>
          <a:p>
            <a:pPr algn="ctr"/>
            <a:endParaRPr lang="zh-CN" altLang="en-US"/>
          </a:p>
        </p:txBody>
      </p:sp>
      <p:grpSp>
        <p:nvGrpSpPr>
          <p:cNvPr id="84" name="group 84"/>
          <p:cNvGrpSpPr/>
          <p:nvPr/>
        </p:nvGrpSpPr>
        <p:grpSpPr>
          <a:xfrm rot="21600000">
            <a:off x="5738485" y="5576316"/>
            <a:ext cx="309646" cy="384877"/>
            <a:chOff x="0" y="0"/>
            <a:chExt cx="309646" cy="384877"/>
          </a:xfrm>
        </p:grpSpPr>
        <p:sp>
          <p:nvSpPr>
            <p:cNvPr id="468" name="path"/>
            <p:cNvSpPr/>
            <p:nvPr/>
          </p:nvSpPr>
          <p:spPr>
            <a:xfrm>
              <a:off x="2423" y="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470" name="path"/>
            <p:cNvSpPr/>
            <p:nvPr/>
          </p:nvSpPr>
          <p:spPr>
            <a:xfrm>
              <a:off x="0" y="281177"/>
              <a:ext cx="309646" cy="103699"/>
            </a:xfrm>
            <a:custGeom>
              <a:avLst/>
              <a:gdLst/>
              <a:ahLst/>
              <a:cxnLst/>
              <a:rect l="0" t="0" r="0" b="0"/>
              <a:pathLst>
                <a:path w="487" h="163">
                  <a:moveTo>
                    <a:pt x="3" y="7"/>
                  </a:moveTo>
                  <a:lnTo>
                    <a:pt x="123" y="7"/>
                  </a:lnTo>
                  <a:moveTo>
                    <a:pt x="363" y="7"/>
                  </a:moveTo>
                  <a:lnTo>
                    <a:pt x="483" y="7"/>
                  </a:lnTo>
                  <a:lnTo>
                    <a:pt x="243" y="157"/>
                  </a:lnTo>
                  <a:lnTo>
                    <a:pt x="3" y="7"/>
                  </a:lnTo>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86" name="group 86"/>
          <p:cNvGrpSpPr/>
          <p:nvPr/>
        </p:nvGrpSpPr>
        <p:grpSpPr>
          <a:xfrm rot="21600000">
            <a:off x="3779520" y="5474716"/>
            <a:ext cx="4230623" cy="106172"/>
            <a:chOff x="0" y="0"/>
            <a:chExt cx="4230623" cy="106172"/>
          </a:xfrm>
        </p:grpSpPr>
        <p:sp>
          <p:nvSpPr>
            <p:cNvPr id="472" name="path"/>
            <p:cNvSpPr/>
            <p:nvPr/>
          </p:nvSpPr>
          <p:spPr>
            <a:xfrm>
              <a:off x="0" y="0"/>
              <a:ext cx="4230623" cy="103123"/>
            </a:xfrm>
            <a:custGeom>
              <a:avLst/>
              <a:gdLst/>
              <a:ahLst/>
              <a:cxnLst/>
              <a:rect l="0" t="0" r="0" b="0"/>
              <a:pathLst>
                <a:path w="6662" h="162">
                  <a:moveTo>
                    <a:pt x="6631" y="31"/>
                  </a:moveTo>
                  <a:cubicBezTo>
                    <a:pt x="6631" y="86"/>
                    <a:pt x="6586" y="131"/>
                    <a:pt x="6531" y="131"/>
                  </a:cubicBezTo>
                  <a:lnTo>
                    <a:pt x="131" y="131"/>
                  </a:lnTo>
                  <a:cubicBezTo>
                    <a:pt x="75" y="131"/>
                    <a:pt x="31" y="86"/>
                    <a:pt x="31" y="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74" name="path"/>
            <p:cNvSpPr/>
            <p:nvPr/>
          </p:nvSpPr>
          <p:spPr>
            <a:xfrm>
              <a:off x="2037588" y="97027"/>
              <a:ext cx="152400" cy="9144"/>
            </a:xfrm>
            <a:custGeom>
              <a:avLst/>
              <a:gdLst/>
              <a:ahLst/>
              <a:cxnLst/>
              <a:rect l="0" t="0" r="0" b="0"/>
              <a:pathLst>
                <a:path w="240" h="14">
                  <a:moveTo>
                    <a:pt x="0" y="7"/>
                  </a:moveTo>
                  <a:lnTo>
                    <a:pt x="240" y="7"/>
                  </a:lnTo>
                </a:path>
              </a:pathLst>
            </a:custGeom>
            <a:noFill/>
            <a:ln w="9143" cap="flat">
              <a:solidFill>
                <a:srgbClr val="CC3300">
                  <a:alpha val="100000"/>
                </a:srgbClr>
              </a:solidFill>
              <a:prstDash val="solid"/>
              <a:miter lim="1000000"/>
            </a:ln>
          </p:spPr>
          <p:txBody>
            <a:bodyPr rtlCol="0"/>
            <a:lstStyle/>
            <a:p>
              <a:pPr algn="ctr"/>
              <a:endParaRPr lang="zh-CN" altLang="en-US"/>
            </a:p>
          </p:txBody>
        </p:sp>
      </p:grpSp>
      <p:sp>
        <p:nvSpPr>
          <p:cNvPr id="476" name="path"/>
          <p:cNvSpPr/>
          <p:nvPr/>
        </p:nvSpPr>
        <p:spPr>
          <a:xfrm>
            <a:off x="3779520" y="5157216"/>
            <a:ext cx="4230623" cy="103123"/>
          </a:xfrm>
          <a:custGeom>
            <a:avLst/>
            <a:gdLst/>
            <a:ahLst/>
            <a:cxnLst/>
            <a:rect l="0" t="0" r="0" b="0"/>
            <a:pathLst>
              <a:path w="6662" h="162">
                <a:moveTo>
                  <a:pt x="31" y="131"/>
                </a:moveTo>
                <a:cubicBezTo>
                  <a:pt x="31" y="75"/>
                  <a:pt x="75" y="31"/>
                  <a:pt x="131" y="31"/>
                </a:cubicBezTo>
                <a:lnTo>
                  <a:pt x="6531" y="31"/>
                </a:lnTo>
                <a:cubicBezTo>
                  <a:pt x="6586" y="31"/>
                  <a:pt x="6631" y="75"/>
                  <a:pt x="6631" y="1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78" name="path"/>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480" name="picture 480"/>
          <p:cNvPicPr>
            <a:picLocks noChangeAspect="1"/>
          </p:cNvPicPr>
          <p:nvPr/>
        </p:nvPicPr>
        <p:blipFill>
          <a:blip r:embed="rId1"/>
          <a:stretch>
            <a:fillRect/>
          </a:stretch>
        </p:blipFill>
        <p:spPr>
          <a:xfrm rot="21600000">
            <a:off x="822960" y="408431"/>
            <a:ext cx="420623" cy="655320"/>
          </a:xfrm>
          <a:prstGeom prst="rect">
            <a:avLst/>
          </a:prstGeom>
        </p:spPr>
      </p:pic>
      <p:sp>
        <p:nvSpPr>
          <p:cNvPr id="482"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
        <p:nvSpPr>
          <p:cNvPr id="484" name="path"/>
          <p:cNvSpPr/>
          <p:nvPr/>
        </p:nvSpPr>
        <p:spPr>
          <a:xfrm>
            <a:off x="6025896" y="4636008"/>
            <a:ext cx="1868423" cy="115823"/>
          </a:xfrm>
          <a:custGeom>
            <a:avLst/>
            <a:gdLst/>
            <a:ahLst/>
            <a:cxnLst/>
            <a:rect l="0" t="0" r="0" b="0"/>
            <a:pathLst>
              <a:path w="2942" h="182">
                <a:moveTo>
                  <a:pt x="2911" y="31"/>
                </a:moveTo>
                <a:cubicBezTo>
                  <a:pt x="2911" y="97"/>
                  <a:pt x="2857" y="151"/>
                  <a:pt x="2791" y="151"/>
                </a:cubicBezTo>
                <a:lnTo>
                  <a:pt x="151" y="151"/>
                </a:lnTo>
                <a:cubicBezTo>
                  <a:pt x="85" y="151"/>
                  <a:pt x="31" y="97"/>
                  <a:pt x="31" y="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86" name="path"/>
          <p:cNvSpPr/>
          <p:nvPr/>
        </p:nvSpPr>
        <p:spPr>
          <a:xfrm>
            <a:off x="3798823" y="2987039"/>
            <a:ext cx="4064000" cy="39623"/>
          </a:xfrm>
          <a:custGeom>
            <a:avLst/>
            <a:gdLst/>
            <a:ahLst/>
            <a:cxnLst/>
            <a:rect l="0" t="0" r="0" b="0"/>
            <a:pathLst>
              <a:path w="6400" h="62">
                <a:moveTo>
                  <a:pt x="6400" y="31"/>
                </a:moveTo>
                <a:lnTo>
                  <a:pt x="0" y="31"/>
                </a:lnTo>
              </a:path>
            </a:pathLst>
          </a:custGeom>
          <a:noFill/>
          <a:ln w="39623" cap="flat">
            <a:solidFill>
              <a:srgbClr val="CC3300">
                <a:alpha val="100000"/>
              </a:srgbClr>
            </a:solidFill>
            <a:prstDash val="solid"/>
            <a:miter lim="1000000"/>
          </a:ln>
        </p:spPr>
        <p:txBody>
          <a:bodyPr rtlCol="0"/>
          <a:lstStyle/>
          <a:p>
            <a:pPr algn="ctr"/>
            <a:endParaRPr lang="zh-CN" altLang="en-US"/>
          </a:p>
        </p:txBody>
      </p:sp>
      <p:grpSp>
        <p:nvGrpSpPr>
          <p:cNvPr id="88" name="group 88"/>
          <p:cNvGrpSpPr/>
          <p:nvPr/>
        </p:nvGrpSpPr>
        <p:grpSpPr>
          <a:xfrm rot="21600000">
            <a:off x="6823573" y="4791455"/>
            <a:ext cx="309646" cy="389449"/>
            <a:chOff x="0" y="0"/>
            <a:chExt cx="309646" cy="389449"/>
          </a:xfrm>
        </p:grpSpPr>
        <p:sp>
          <p:nvSpPr>
            <p:cNvPr id="488" name="path"/>
            <p:cNvSpPr/>
            <p:nvPr/>
          </p:nvSpPr>
          <p:spPr>
            <a:xfrm>
              <a:off x="2423" y="4572"/>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490" name="path"/>
            <p:cNvSpPr/>
            <p:nvPr/>
          </p:nvSpPr>
          <p:spPr>
            <a:xfrm>
              <a:off x="0" y="0"/>
              <a:ext cx="309646" cy="389449"/>
            </a:xfrm>
            <a:custGeom>
              <a:avLst/>
              <a:gdLst/>
              <a:ahLst/>
              <a:cxnLst/>
              <a:rect l="0" t="0" r="0" b="0"/>
              <a:pathLst>
                <a:path w="487" h="613">
                  <a:moveTo>
                    <a:pt x="3" y="457"/>
                  </a:moveTo>
                  <a:lnTo>
                    <a:pt x="123" y="457"/>
                  </a:lnTo>
                  <a:lnTo>
                    <a:pt x="123" y="7"/>
                  </a:lnTo>
                  <a:lnTo>
                    <a:pt x="363" y="7"/>
                  </a:lnTo>
                  <a:lnTo>
                    <a:pt x="363" y="457"/>
                  </a:lnTo>
                  <a:lnTo>
                    <a:pt x="483" y="457"/>
                  </a:lnTo>
                  <a:lnTo>
                    <a:pt x="243" y="607"/>
                  </a:lnTo>
                  <a:lnTo>
                    <a:pt x="3" y="457"/>
                  </a:lnTo>
                  <a:close/>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90" name="group 90"/>
          <p:cNvGrpSpPr/>
          <p:nvPr/>
        </p:nvGrpSpPr>
        <p:grpSpPr>
          <a:xfrm rot="21600000">
            <a:off x="4513188" y="4753355"/>
            <a:ext cx="309646" cy="384877"/>
            <a:chOff x="0" y="0"/>
            <a:chExt cx="309646" cy="384877"/>
          </a:xfrm>
        </p:grpSpPr>
        <p:sp>
          <p:nvSpPr>
            <p:cNvPr id="492" name="path"/>
            <p:cNvSpPr/>
            <p:nvPr/>
          </p:nvSpPr>
          <p:spPr>
            <a:xfrm>
              <a:off x="2423" y="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494" name="path"/>
            <p:cNvSpPr/>
            <p:nvPr/>
          </p:nvSpPr>
          <p:spPr>
            <a:xfrm>
              <a:off x="0" y="281872"/>
              <a:ext cx="309646" cy="103004"/>
            </a:xfrm>
            <a:custGeom>
              <a:avLst/>
              <a:gdLst/>
              <a:ahLst/>
              <a:cxnLst/>
              <a:rect l="0" t="0" r="0" b="0"/>
              <a:pathLst>
                <a:path w="487" h="162">
                  <a:moveTo>
                    <a:pt x="483" y="6"/>
                  </a:moveTo>
                  <a:lnTo>
                    <a:pt x="243" y="156"/>
                  </a:lnTo>
                  <a:lnTo>
                    <a:pt x="3" y="6"/>
                  </a:lnTo>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92" name="group 92"/>
          <p:cNvGrpSpPr/>
          <p:nvPr/>
        </p:nvGrpSpPr>
        <p:grpSpPr>
          <a:xfrm rot="21600000">
            <a:off x="3777995" y="3849623"/>
            <a:ext cx="1828800" cy="39623"/>
            <a:chOff x="0" y="0"/>
            <a:chExt cx="1828800" cy="39623"/>
          </a:xfrm>
        </p:grpSpPr>
        <p:sp>
          <p:nvSpPr>
            <p:cNvPr id="496" name="path"/>
            <p:cNvSpPr/>
            <p:nvPr/>
          </p:nvSpPr>
          <p:spPr>
            <a:xfrm>
              <a:off x="0" y="0"/>
              <a:ext cx="1828800" cy="39623"/>
            </a:xfrm>
            <a:custGeom>
              <a:avLst/>
              <a:gdLst/>
              <a:ahLst/>
              <a:cxnLst/>
              <a:rect l="0" t="0" r="0" b="0"/>
              <a:pathLst>
                <a:path w="2880" h="62">
                  <a:moveTo>
                    <a:pt x="0" y="31"/>
                  </a:moveTo>
                  <a:lnTo>
                    <a:pt x="2880" y="31"/>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498" name="path"/>
            <p:cNvSpPr/>
            <p:nvPr/>
          </p:nvSpPr>
          <p:spPr>
            <a:xfrm>
              <a:off x="813816" y="9144"/>
              <a:ext cx="152400" cy="9144"/>
            </a:xfrm>
            <a:custGeom>
              <a:avLst/>
              <a:gdLst/>
              <a:ahLst/>
              <a:cxnLst/>
              <a:rect l="0" t="0" r="0" b="0"/>
              <a:pathLst>
                <a:path w="240" h="14">
                  <a:moveTo>
                    <a:pt x="0" y="7"/>
                  </a:moveTo>
                  <a:lnTo>
                    <a:pt x="240" y="7"/>
                  </a:lnTo>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94" name="group 94"/>
          <p:cNvGrpSpPr/>
          <p:nvPr/>
        </p:nvGrpSpPr>
        <p:grpSpPr>
          <a:xfrm rot="21600000">
            <a:off x="4513188" y="3863340"/>
            <a:ext cx="309646" cy="384877"/>
            <a:chOff x="0" y="0"/>
            <a:chExt cx="309646" cy="384877"/>
          </a:xfrm>
        </p:grpSpPr>
        <p:sp>
          <p:nvSpPr>
            <p:cNvPr id="500" name="path"/>
            <p:cNvSpPr/>
            <p:nvPr/>
          </p:nvSpPr>
          <p:spPr>
            <a:xfrm>
              <a:off x="2423" y="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502" name="path"/>
            <p:cNvSpPr/>
            <p:nvPr/>
          </p:nvSpPr>
          <p:spPr>
            <a:xfrm>
              <a:off x="0" y="0"/>
              <a:ext cx="309646" cy="384877"/>
            </a:xfrm>
            <a:custGeom>
              <a:avLst/>
              <a:gdLst/>
              <a:ahLst/>
              <a:cxnLst/>
              <a:rect l="0" t="0" r="0" b="0"/>
              <a:pathLst>
                <a:path w="487" h="606">
                  <a:moveTo>
                    <a:pt x="3" y="450"/>
                  </a:moveTo>
                  <a:lnTo>
                    <a:pt x="123" y="450"/>
                  </a:lnTo>
                  <a:lnTo>
                    <a:pt x="123" y="0"/>
                  </a:lnTo>
                  <a:moveTo>
                    <a:pt x="363" y="0"/>
                  </a:moveTo>
                  <a:lnTo>
                    <a:pt x="363" y="450"/>
                  </a:lnTo>
                  <a:lnTo>
                    <a:pt x="483" y="450"/>
                  </a:lnTo>
                  <a:lnTo>
                    <a:pt x="243" y="600"/>
                  </a:lnTo>
                  <a:lnTo>
                    <a:pt x="3" y="450"/>
                  </a:lnTo>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96" name="group 96"/>
          <p:cNvGrpSpPr/>
          <p:nvPr/>
        </p:nvGrpSpPr>
        <p:grpSpPr>
          <a:xfrm rot="21600000">
            <a:off x="6799188" y="3887723"/>
            <a:ext cx="309646" cy="384877"/>
            <a:chOff x="0" y="0"/>
            <a:chExt cx="309646" cy="384877"/>
          </a:xfrm>
        </p:grpSpPr>
        <p:sp>
          <p:nvSpPr>
            <p:cNvPr id="504" name="path"/>
            <p:cNvSpPr/>
            <p:nvPr/>
          </p:nvSpPr>
          <p:spPr>
            <a:xfrm>
              <a:off x="2423" y="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506" name="path"/>
            <p:cNvSpPr/>
            <p:nvPr/>
          </p:nvSpPr>
          <p:spPr>
            <a:xfrm>
              <a:off x="0" y="0"/>
              <a:ext cx="309646" cy="384877"/>
            </a:xfrm>
            <a:custGeom>
              <a:avLst/>
              <a:gdLst/>
              <a:ahLst/>
              <a:cxnLst/>
              <a:rect l="0" t="0" r="0" b="0"/>
              <a:pathLst>
                <a:path w="487" h="606">
                  <a:moveTo>
                    <a:pt x="3" y="450"/>
                  </a:moveTo>
                  <a:lnTo>
                    <a:pt x="123" y="450"/>
                  </a:lnTo>
                  <a:lnTo>
                    <a:pt x="123" y="0"/>
                  </a:lnTo>
                  <a:moveTo>
                    <a:pt x="363" y="0"/>
                  </a:moveTo>
                  <a:lnTo>
                    <a:pt x="363" y="450"/>
                  </a:lnTo>
                  <a:lnTo>
                    <a:pt x="483" y="450"/>
                  </a:lnTo>
                  <a:lnTo>
                    <a:pt x="243" y="600"/>
                  </a:lnTo>
                  <a:lnTo>
                    <a:pt x="3" y="450"/>
                  </a:lnTo>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98" name="group 98"/>
          <p:cNvGrpSpPr/>
          <p:nvPr/>
        </p:nvGrpSpPr>
        <p:grpSpPr>
          <a:xfrm rot="21600000">
            <a:off x="6783948" y="3025140"/>
            <a:ext cx="309646" cy="384876"/>
            <a:chOff x="0" y="0"/>
            <a:chExt cx="309646" cy="384876"/>
          </a:xfrm>
        </p:grpSpPr>
        <p:sp>
          <p:nvSpPr>
            <p:cNvPr id="508" name="path"/>
            <p:cNvSpPr/>
            <p:nvPr/>
          </p:nvSpPr>
          <p:spPr>
            <a:xfrm>
              <a:off x="2423" y="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510" name="path"/>
            <p:cNvSpPr/>
            <p:nvPr/>
          </p:nvSpPr>
          <p:spPr>
            <a:xfrm>
              <a:off x="0" y="281873"/>
              <a:ext cx="309646" cy="103003"/>
            </a:xfrm>
            <a:custGeom>
              <a:avLst/>
              <a:gdLst/>
              <a:ahLst/>
              <a:cxnLst/>
              <a:rect l="0" t="0" r="0" b="0"/>
              <a:pathLst>
                <a:path w="487" h="162">
                  <a:moveTo>
                    <a:pt x="483" y="6"/>
                  </a:moveTo>
                  <a:lnTo>
                    <a:pt x="243" y="156"/>
                  </a:lnTo>
                  <a:lnTo>
                    <a:pt x="3" y="6"/>
                  </a:lnTo>
                </a:path>
              </a:pathLst>
            </a:custGeom>
            <a:noFill/>
            <a:ln w="9143" cap="flat">
              <a:solidFill>
                <a:srgbClr val="CC3300">
                  <a:alpha val="100000"/>
                </a:srgbClr>
              </a:solidFill>
              <a:prstDash val="solid"/>
              <a:miter lim="1000000"/>
            </a:ln>
          </p:spPr>
          <p:txBody>
            <a:bodyPr rtlCol="0"/>
            <a:lstStyle/>
            <a:p>
              <a:pPr algn="ctr"/>
              <a:endParaRPr lang="zh-CN" altLang="en-US"/>
            </a:p>
          </p:txBody>
        </p:sp>
      </p:grpSp>
      <p:grpSp>
        <p:nvGrpSpPr>
          <p:cNvPr id="100" name="group 100"/>
          <p:cNvGrpSpPr/>
          <p:nvPr/>
        </p:nvGrpSpPr>
        <p:grpSpPr>
          <a:xfrm rot="21600000">
            <a:off x="4287012" y="3010916"/>
            <a:ext cx="551063" cy="405196"/>
            <a:chOff x="-241417" y="-20320"/>
            <a:chExt cx="551063" cy="405196"/>
          </a:xfrm>
        </p:grpSpPr>
        <p:sp>
          <p:nvSpPr>
            <p:cNvPr id="512" name="path"/>
            <p:cNvSpPr/>
            <p:nvPr/>
          </p:nvSpPr>
          <p:spPr>
            <a:xfrm>
              <a:off x="-241417" y="-20320"/>
              <a:ext cx="304800" cy="381000"/>
            </a:xfrm>
            <a:custGeom>
              <a:avLst/>
              <a:gdLst/>
              <a:ahLst/>
              <a:cxnLst/>
              <a:rect l="0" t="0" r="0" b="0"/>
              <a:pathLst>
                <a:path w="480" h="600">
                  <a:moveTo>
                    <a:pt x="0" y="450"/>
                  </a:moveTo>
                  <a:lnTo>
                    <a:pt x="120" y="450"/>
                  </a:lnTo>
                  <a:lnTo>
                    <a:pt x="120" y="0"/>
                  </a:lnTo>
                  <a:lnTo>
                    <a:pt x="360" y="0"/>
                  </a:lnTo>
                  <a:lnTo>
                    <a:pt x="360" y="450"/>
                  </a:lnTo>
                  <a:lnTo>
                    <a:pt x="480" y="450"/>
                  </a:lnTo>
                  <a:lnTo>
                    <a:pt x="240" y="600"/>
                  </a:lnTo>
                  <a:lnTo>
                    <a:pt x="0" y="450"/>
                  </a:lnTo>
                  <a:close/>
                </a:path>
              </a:pathLst>
            </a:custGeom>
            <a:solidFill>
              <a:srgbClr val="CC3300">
                <a:alpha val="100000"/>
              </a:srgbClr>
            </a:solidFill>
            <a:ln cap="flat">
              <a:noFill/>
              <a:prstDash val="solid"/>
              <a:miter lim="0"/>
            </a:ln>
          </p:spPr>
          <p:txBody>
            <a:bodyPr rtlCol="0"/>
            <a:lstStyle/>
            <a:p>
              <a:pPr algn="ctr"/>
              <a:endParaRPr lang="zh-CN" altLang="en-US"/>
            </a:p>
          </p:txBody>
        </p:sp>
        <p:sp>
          <p:nvSpPr>
            <p:cNvPr id="514" name="path"/>
            <p:cNvSpPr/>
            <p:nvPr/>
          </p:nvSpPr>
          <p:spPr>
            <a:xfrm>
              <a:off x="0" y="281873"/>
              <a:ext cx="309646" cy="103003"/>
            </a:xfrm>
            <a:custGeom>
              <a:avLst/>
              <a:gdLst/>
              <a:ahLst/>
              <a:cxnLst/>
              <a:rect l="0" t="0" r="0" b="0"/>
              <a:pathLst>
                <a:path w="487" h="162">
                  <a:moveTo>
                    <a:pt x="483" y="6"/>
                  </a:moveTo>
                  <a:lnTo>
                    <a:pt x="243" y="156"/>
                  </a:lnTo>
                  <a:lnTo>
                    <a:pt x="3" y="6"/>
                  </a:lnTo>
                </a:path>
              </a:pathLst>
            </a:custGeom>
            <a:noFill/>
            <a:ln w="9143" cap="flat">
              <a:solidFill>
                <a:srgbClr val="CC3300">
                  <a:alpha val="100000"/>
                </a:srgbClr>
              </a:solidFill>
              <a:prstDash val="solid"/>
              <a:miter lim="1000000"/>
            </a:ln>
          </p:spPr>
          <p:txBody>
            <a:bodyPr rtlCol="0"/>
            <a:lstStyle/>
            <a:p>
              <a:pPr algn="ctr"/>
              <a:endParaRPr lang="zh-CN" altLang="en-US"/>
            </a:p>
          </p:txBody>
        </p:sp>
      </p:grpSp>
      <p:sp>
        <p:nvSpPr>
          <p:cNvPr id="516" name="path"/>
          <p:cNvSpPr/>
          <p:nvPr/>
        </p:nvSpPr>
        <p:spPr>
          <a:xfrm>
            <a:off x="3835908" y="4712208"/>
            <a:ext cx="1676400" cy="39623"/>
          </a:xfrm>
          <a:custGeom>
            <a:avLst/>
            <a:gdLst/>
            <a:ahLst/>
            <a:cxnLst/>
            <a:rect l="0" t="0" r="0" b="0"/>
            <a:pathLst>
              <a:path w="2640" h="62">
                <a:moveTo>
                  <a:pt x="2640" y="31"/>
                </a:moveTo>
                <a:lnTo>
                  <a:pt x="0" y="31"/>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518" name="path"/>
          <p:cNvSpPr/>
          <p:nvPr/>
        </p:nvSpPr>
        <p:spPr>
          <a:xfrm>
            <a:off x="4515611" y="4748783"/>
            <a:ext cx="304800" cy="294894"/>
          </a:xfrm>
          <a:custGeom>
            <a:avLst/>
            <a:gdLst/>
            <a:ahLst/>
            <a:cxnLst/>
            <a:rect l="0" t="0" r="0" b="0"/>
            <a:pathLst>
              <a:path w="480" h="464">
                <a:moveTo>
                  <a:pt x="0" y="457"/>
                </a:moveTo>
                <a:lnTo>
                  <a:pt x="120" y="457"/>
                </a:lnTo>
                <a:lnTo>
                  <a:pt x="120" y="7"/>
                </a:lnTo>
                <a:lnTo>
                  <a:pt x="360" y="7"/>
                </a:lnTo>
                <a:lnTo>
                  <a:pt x="360" y="457"/>
                </a:lnTo>
                <a:lnTo>
                  <a:pt x="480" y="457"/>
                </a:lnTo>
              </a:path>
            </a:pathLst>
          </a:custGeom>
          <a:noFill/>
          <a:ln w="9143" cap="flat">
            <a:solidFill>
              <a:srgbClr val="CC3300">
                <a:alpha val="100000"/>
              </a:srgbClr>
            </a:solidFill>
            <a:prstDash val="solid"/>
            <a:miter lim="1000000"/>
          </a:ln>
        </p:spPr>
        <p:txBody>
          <a:bodyPr rtlCol="0"/>
          <a:lstStyle/>
          <a:p>
            <a:pPr algn="ctr"/>
            <a:endParaRPr lang="zh-CN" altLang="en-US"/>
          </a:p>
        </p:txBody>
      </p:sp>
      <p:sp>
        <p:nvSpPr>
          <p:cNvPr id="522" name="path"/>
          <p:cNvSpPr/>
          <p:nvPr/>
        </p:nvSpPr>
        <p:spPr>
          <a:xfrm>
            <a:off x="6786371" y="3020568"/>
            <a:ext cx="304800" cy="294893"/>
          </a:xfrm>
          <a:custGeom>
            <a:avLst/>
            <a:gdLst/>
            <a:ahLst/>
            <a:cxnLst/>
            <a:rect l="0" t="0" r="0" b="0"/>
            <a:pathLst>
              <a:path w="480" h="464">
                <a:moveTo>
                  <a:pt x="0" y="457"/>
                </a:moveTo>
                <a:lnTo>
                  <a:pt x="120" y="457"/>
                </a:lnTo>
                <a:lnTo>
                  <a:pt x="120" y="7"/>
                </a:lnTo>
                <a:lnTo>
                  <a:pt x="360" y="7"/>
                </a:lnTo>
                <a:lnTo>
                  <a:pt x="360" y="457"/>
                </a:lnTo>
                <a:lnTo>
                  <a:pt x="480" y="457"/>
                </a:lnTo>
              </a:path>
            </a:pathLst>
          </a:custGeom>
          <a:noFill/>
          <a:ln w="9143" cap="flat">
            <a:solidFill>
              <a:srgbClr val="CC3300">
                <a:alpha val="100000"/>
              </a:srgbClr>
            </a:solidFill>
            <a:prstDash val="solid"/>
            <a:miter lim="1000000"/>
          </a:ln>
        </p:spPr>
        <p:txBody>
          <a:bodyPr rtlCol="0"/>
          <a:lstStyle/>
          <a:p>
            <a:pPr algn="ctr"/>
            <a:endParaRPr lang="zh-CN" altLang="en-US"/>
          </a:p>
        </p:txBody>
      </p:sp>
      <p:grpSp>
        <p:nvGrpSpPr>
          <p:cNvPr id="102" name="group 102"/>
          <p:cNvGrpSpPr/>
          <p:nvPr/>
        </p:nvGrpSpPr>
        <p:grpSpPr>
          <a:xfrm rot="21600000">
            <a:off x="6045708" y="3849623"/>
            <a:ext cx="1828800" cy="42672"/>
            <a:chOff x="0" y="0"/>
            <a:chExt cx="1828800" cy="42672"/>
          </a:xfrm>
        </p:grpSpPr>
        <p:sp>
          <p:nvSpPr>
            <p:cNvPr id="524" name="path"/>
            <p:cNvSpPr/>
            <p:nvPr/>
          </p:nvSpPr>
          <p:spPr>
            <a:xfrm>
              <a:off x="0" y="0"/>
              <a:ext cx="1828800" cy="39623"/>
            </a:xfrm>
            <a:custGeom>
              <a:avLst/>
              <a:gdLst/>
              <a:ahLst/>
              <a:cxnLst/>
              <a:rect l="0" t="0" r="0" b="0"/>
              <a:pathLst>
                <a:path w="2880" h="62">
                  <a:moveTo>
                    <a:pt x="0" y="31"/>
                  </a:moveTo>
                  <a:lnTo>
                    <a:pt x="2880" y="31"/>
                  </a:ln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526" name="path"/>
            <p:cNvSpPr/>
            <p:nvPr/>
          </p:nvSpPr>
          <p:spPr>
            <a:xfrm>
              <a:off x="832103" y="33527"/>
              <a:ext cx="152400" cy="9144"/>
            </a:xfrm>
            <a:custGeom>
              <a:avLst/>
              <a:gdLst/>
              <a:ahLst/>
              <a:cxnLst/>
              <a:rect l="0" t="0" r="0" b="0"/>
              <a:pathLst>
                <a:path w="240" h="14">
                  <a:moveTo>
                    <a:pt x="0" y="7"/>
                  </a:moveTo>
                  <a:lnTo>
                    <a:pt x="240" y="7"/>
                  </a:lnTo>
                </a:path>
              </a:pathLst>
            </a:custGeom>
            <a:noFill/>
            <a:ln w="9143" cap="flat">
              <a:solidFill>
                <a:srgbClr val="CC3300">
                  <a:alpha val="100000"/>
                </a:srgbClr>
              </a:solidFill>
              <a:prstDash val="solid"/>
              <a:miter lim="1000000"/>
            </a:ln>
          </p:spPr>
          <p:txBody>
            <a:bodyPr rtlCol="0"/>
            <a:lstStyle/>
            <a:p>
              <a:pPr algn="ctr"/>
              <a:endParaRPr lang="zh-CN" altLang="en-US"/>
            </a:p>
          </p:txBody>
        </p:sp>
      </p:grpSp>
      <p:sp>
        <p:nvSpPr>
          <p:cNvPr id="528" name="textbox 528"/>
          <p:cNvSpPr/>
          <p:nvPr/>
        </p:nvSpPr>
        <p:spPr>
          <a:xfrm>
            <a:off x="6086019" y="5763663"/>
            <a:ext cx="233045" cy="41910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3095"/>
              </a:lnSpc>
            </a:pPr>
            <a:r>
              <a:rPr sz="3600" b="1" i="1" kern="0" spc="10" baseline="9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10" baseline="-9000" dirty="0">
                <a:solidFill>
                  <a:srgbClr val="000000">
                    <a:alpha val="100000"/>
                  </a:srgbClr>
                </a:solidFill>
                <a:latin typeface="Arial" panose="020B0604020202020204" pitchFamily="34" charset="0"/>
                <a:ea typeface="黑体" panose="02010609060101010101" charset="-122"/>
                <a:cs typeface="Times New Roman" panose="02020603050405020304"/>
              </a:rPr>
              <a:t>i</a:t>
            </a:r>
            <a:endParaRPr lang="en-US" altLang="en-US" sz="2400" baseline="-9000" dirty="0">
              <a:latin typeface="Arial" panose="020B0604020202020204" pitchFamily="34" charset="0"/>
              <a:ea typeface="黑体" panose="02010609060101010101" charset="-122"/>
            </a:endParaRPr>
          </a:p>
        </p:txBody>
      </p:sp>
      <p:sp>
        <p:nvSpPr>
          <p:cNvPr id="530" name="path"/>
          <p:cNvSpPr/>
          <p:nvPr/>
        </p:nvSpPr>
        <p:spPr>
          <a:xfrm>
            <a:off x="5812536" y="5576316"/>
            <a:ext cx="161543" cy="285750"/>
          </a:xfrm>
          <a:custGeom>
            <a:avLst/>
            <a:gdLst/>
            <a:ahLst/>
            <a:cxnLst/>
            <a:rect l="0" t="0" r="0" b="0"/>
            <a:pathLst>
              <a:path w="254" h="450">
                <a:moveTo>
                  <a:pt x="7" y="450"/>
                </a:moveTo>
                <a:lnTo>
                  <a:pt x="7" y="0"/>
                </a:lnTo>
                <a:moveTo>
                  <a:pt x="247" y="0"/>
                </a:moveTo>
                <a:lnTo>
                  <a:pt x="247" y="450"/>
                </a:lnTo>
              </a:path>
            </a:pathLst>
          </a:custGeom>
          <a:noFill/>
          <a:ln w="9143" cap="flat">
            <a:solidFill>
              <a:srgbClr val="CC3300">
                <a:alpha val="100000"/>
              </a:srgbClr>
            </a:solidFill>
            <a:prstDash val="solid"/>
            <a:miter lim="1000000"/>
          </a:ln>
        </p:spPr>
        <p:txBody>
          <a:bodyPr rtlCol="0"/>
          <a:lstStyle/>
          <a:p>
            <a:pPr algn="ctr"/>
            <a:endParaRPr lang="zh-CN" altLang="en-US"/>
          </a:p>
        </p:txBody>
      </p:sp>
      <p:sp>
        <p:nvSpPr>
          <p:cNvPr id="532" name="rect"/>
          <p:cNvSpPr/>
          <p:nvPr/>
        </p:nvSpPr>
        <p:spPr>
          <a:xfrm>
            <a:off x="7854696" y="3412235"/>
            <a:ext cx="39623" cy="457200"/>
          </a:xfrm>
          <a:prstGeom prst="rect">
            <a:avLst/>
          </a:prstGeom>
          <a:solidFill>
            <a:srgbClr val="CC3300">
              <a:alpha val="100000"/>
            </a:srgbClr>
          </a:solidFill>
          <a:ln cap="flat">
            <a:noFill/>
            <a:prstDash val="solid"/>
            <a:miter lim="0"/>
          </a:ln>
        </p:spPr>
        <p:txBody>
          <a:bodyPr rtlCol="0"/>
          <a:lstStyle/>
          <a:p>
            <a:pPr algn="ctr"/>
            <a:endParaRPr lang="zh-CN" altLang="en-US"/>
          </a:p>
        </p:txBody>
      </p:sp>
      <p:sp>
        <p:nvSpPr>
          <p:cNvPr id="534" name="rect"/>
          <p:cNvSpPr/>
          <p:nvPr/>
        </p:nvSpPr>
        <p:spPr>
          <a:xfrm>
            <a:off x="5586983" y="3412235"/>
            <a:ext cx="39623" cy="457200"/>
          </a:xfrm>
          <a:prstGeom prst="rect">
            <a:avLst/>
          </a:prstGeom>
          <a:solidFill>
            <a:srgbClr val="CC3300">
              <a:alpha val="100000"/>
            </a:srgbClr>
          </a:solidFill>
          <a:ln cap="flat">
            <a:noFill/>
            <a:prstDash val="solid"/>
            <a:miter lim="0"/>
          </a:ln>
        </p:spPr>
        <p:txBody>
          <a:bodyPr rtlCol="0"/>
          <a:lstStyle/>
          <a:p>
            <a:pPr algn="ctr"/>
            <a:endParaRPr lang="zh-CN" altLang="en-US"/>
          </a:p>
        </p:txBody>
      </p:sp>
      <p:sp>
        <p:nvSpPr>
          <p:cNvPr id="536" name="path"/>
          <p:cNvSpPr/>
          <p:nvPr/>
        </p:nvSpPr>
        <p:spPr>
          <a:xfrm>
            <a:off x="3739896" y="4636008"/>
            <a:ext cx="115823" cy="115823"/>
          </a:xfrm>
          <a:custGeom>
            <a:avLst/>
            <a:gdLst/>
            <a:ahLst/>
            <a:cxnLst/>
            <a:rect l="0" t="0" r="0" b="0"/>
            <a:pathLst>
              <a:path w="182" h="182">
                <a:moveTo>
                  <a:pt x="151" y="151"/>
                </a:moveTo>
                <a:cubicBezTo>
                  <a:pt x="85" y="151"/>
                  <a:pt x="31" y="97"/>
                  <a:pt x="31" y="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538" name="path"/>
          <p:cNvSpPr/>
          <p:nvPr/>
        </p:nvSpPr>
        <p:spPr>
          <a:xfrm>
            <a:off x="5492496" y="4636008"/>
            <a:ext cx="115823" cy="115823"/>
          </a:xfrm>
          <a:custGeom>
            <a:avLst/>
            <a:gdLst/>
            <a:ahLst/>
            <a:cxnLst/>
            <a:rect l="0" t="0" r="0" b="0"/>
            <a:pathLst>
              <a:path w="182" h="182">
                <a:moveTo>
                  <a:pt x="151" y="31"/>
                </a:moveTo>
                <a:cubicBezTo>
                  <a:pt x="151" y="97"/>
                  <a:pt x="97" y="151"/>
                  <a:pt x="31" y="15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540" name="path"/>
          <p:cNvSpPr/>
          <p:nvPr/>
        </p:nvSpPr>
        <p:spPr>
          <a:xfrm>
            <a:off x="3715511" y="2923539"/>
            <a:ext cx="103123" cy="103123"/>
          </a:xfrm>
          <a:custGeom>
            <a:avLst/>
            <a:gdLst/>
            <a:ahLst/>
            <a:cxnLst/>
            <a:rect l="0" t="0" r="0" b="0"/>
            <a:pathLst>
              <a:path w="162" h="162">
                <a:moveTo>
                  <a:pt x="131" y="131"/>
                </a:moveTo>
                <a:cubicBezTo>
                  <a:pt x="75" y="131"/>
                  <a:pt x="31" y="86"/>
                  <a:pt x="31" y="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
        <p:nvSpPr>
          <p:cNvPr id="542" name="path"/>
          <p:cNvSpPr/>
          <p:nvPr/>
        </p:nvSpPr>
        <p:spPr>
          <a:xfrm>
            <a:off x="7843011" y="2923539"/>
            <a:ext cx="103123" cy="103123"/>
          </a:xfrm>
          <a:custGeom>
            <a:avLst/>
            <a:gdLst/>
            <a:ahLst/>
            <a:cxnLst/>
            <a:rect l="0" t="0" r="0" b="0"/>
            <a:pathLst>
              <a:path w="162" h="162">
                <a:moveTo>
                  <a:pt x="131" y="31"/>
                </a:moveTo>
                <a:cubicBezTo>
                  <a:pt x="131" y="86"/>
                  <a:pt x="86" y="131"/>
                  <a:pt x="31" y="131"/>
                </a:cubicBezTo>
              </a:path>
            </a:pathLst>
          </a:custGeom>
          <a:noFill/>
          <a:ln w="39623" cap="flat">
            <a:solidFill>
              <a:srgbClr val="CC3300">
                <a:alpha val="100000"/>
              </a:srgbClr>
            </a:solidFill>
            <a:prstDash val="solid"/>
            <a:miter lim="1000000"/>
          </a:ln>
        </p:spPr>
        <p:txBody>
          <a:bodyPr rtlCol="0"/>
          <a:lstStyle/>
          <a:p>
            <a:pPr algn="ct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rect"/>
          <p:cNvSpPr/>
          <p:nvPr/>
        </p:nvSpPr>
        <p:spPr>
          <a:xfrm>
            <a:off x="6479268" y="5542370"/>
            <a:ext cx="1025979" cy="307886"/>
          </a:xfrm>
          <a:prstGeom prst="rect">
            <a:avLst/>
          </a:prstGeom>
          <a:solidFill>
            <a:srgbClr val="808080">
              <a:alpha val="100000"/>
            </a:srgbClr>
          </a:solidFill>
          <a:ln cap="flat">
            <a:noFill/>
            <a:prstDash val="solid"/>
            <a:miter lim="0"/>
          </a:ln>
        </p:spPr>
        <p:txBody>
          <a:bodyPr rtlCol="0"/>
          <a:lstStyle/>
          <a:p>
            <a:pPr algn="ctr"/>
            <a:endParaRPr lang="zh-CN" altLang="en-US"/>
          </a:p>
        </p:txBody>
      </p:sp>
      <p:sp>
        <p:nvSpPr>
          <p:cNvPr id="546" name="rect"/>
          <p:cNvSpPr/>
          <p:nvPr/>
        </p:nvSpPr>
        <p:spPr>
          <a:xfrm>
            <a:off x="6448087" y="5516961"/>
            <a:ext cx="1025979" cy="307886"/>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548" name="rect"/>
          <p:cNvSpPr/>
          <p:nvPr/>
        </p:nvSpPr>
        <p:spPr>
          <a:xfrm>
            <a:off x="6442205" y="5512188"/>
            <a:ext cx="1037744" cy="317433"/>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550" name="textbox 550"/>
          <p:cNvSpPr/>
          <p:nvPr/>
        </p:nvSpPr>
        <p:spPr>
          <a:xfrm>
            <a:off x="3198632" y="5121655"/>
            <a:ext cx="5012054" cy="805180"/>
          </a:xfrm>
          <a:prstGeom prst="rect">
            <a:avLst/>
          </a:prstGeom>
        </p:spPr>
        <p:txBody>
          <a:bodyPr vert="horz" wrap="square" lIns="0" tIns="0" rIns="0" bIns="0"/>
          <a:lstStyle/>
          <a:p>
            <a:pPr algn="l" rtl="0" eaLnBrk="0">
              <a:lnSpc>
                <a:spcPct val="106000"/>
              </a:lnSpc>
            </a:pPr>
            <a:endParaRPr lang="en-US" altLang="en-US" sz="900" dirty="0">
              <a:latin typeface="Arial" panose="020B0604020202020204" pitchFamily="34" charset="0"/>
              <a:ea typeface="黑体" panose="02010609060101010101" charset="-122"/>
            </a:endParaRPr>
          </a:p>
          <a:p>
            <a:pPr marL="12700" algn="l" defTabSz="0" rtl="0" eaLnBrk="0">
              <a:lnSpc>
                <a:spcPct val="86000"/>
              </a:lnSpc>
              <a:spcBef>
                <a:spcPts val="5"/>
              </a:spcBef>
              <a:tabLst>
                <a:tab pos="191770" algn="l"/>
              </a:tabLst>
            </a:pPr>
            <a:r>
              <a:rPr sz="12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C</a:t>
            </a:r>
            <a:r>
              <a:rPr sz="1200" i="1" kern="0" spc="0" baseline="-4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7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6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200" kern="0" spc="6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2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6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12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2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1200" i="1" kern="0" spc="0" baseline="-4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7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6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200" kern="0" spc="6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200"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6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                  </a:t>
            </a:r>
            <a:r>
              <a:rPr sz="1200" kern="0" spc="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endParaRPr lang="en-US" altLang="en-US" sz="1200" dirty="0">
              <a:latin typeface="Arial" panose="020B0604020202020204" pitchFamily="34" charset="0"/>
              <a:ea typeface="黑体" panose="02010609060101010101" charset="-122"/>
            </a:endParaRPr>
          </a:p>
          <a:p>
            <a:pPr marL="3259455" algn="l" defTabSz="0" rtl="0" eaLnBrk="0">
              <a:lnSpc>
                <a:spcPct val="74000"/>
              </a:lnSpc>
              <a:spcBef>
                <a:spcPts val="1330"/>
              </a:spcBef>
              <a:tabLst>
                <a:tab pos="3328670" algn="l"/>
              </a:tabLst>
            </a:pPr>
            <a:r>
              <a:rPr sz="10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600" kern="0" spc="120" baseline="-30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置换选择</a:t>
            </a:r>
            <a:r>
              <a:rPr sz="1000" kern="0" spc="-1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600" kern="0" spc="120" baseline="-3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0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0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900" i="1" kern="0" spc="120" baseline="11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200" i="1" kern="0" spc="120" baseline="9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700" i="1"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700"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endParaRPr lang="en-US" altLang="en-US" sz="700" dirty="0">
              <a:latin typeface="Arial" panose="020B0604020202020204" pitchFamily="34" charset="0"/>
              <a:ea typeface="黑体" panose="02010609060101010101" charset="-122"/>
            </a:endParaRPr>
          </a:p>
          <a:p>
            <a:pPr marL="2629535" algn="l" rtl="0" eaLnBrk="0">
              <a:lnSpc>
                <a:spcPct val="99000"/>
              </a:lnSpc>
              <a:spcBef>
                <a:spcPts val="235"/>
              </a:spcBef>
            </a:pPr>
            <a:r>
              <a:rPr sz="10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1000"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0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1000" kern="0" spc="-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0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000" kern="0" spc="-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48</a:t>
            </a:r>
            <a:r>
              <a:rPr sz="1000" kern="0" spc="2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000" kern="0" spc="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1000" dirty="0">
              <a:latin typeface="Arial" panose="020B0604020202020204" pitchFamily="34" charset="0"/>
              <a:ea typeface="黑体" panose="02010609060101010101" charset="-122"/>
            </a:endParaRPr>
          </a:p>
        </p:txBody>
      </p:sp>
      <p:pic>
        <p:nvPicPr>
          <p:cNvPr id="552" name="picture 552"/>
          <p:cNvPicPr>
            <a:picLocks noChangeAspect="1"/>
          </p:cNvPicPr>
          <p:nvPr/>
        </p:nvPicPr>
        <p:blipFill>
          <a:blip r:embed="rId1"/>
          <a:stretch>
            <a:fillRect/>
          </a:stretch>
        </p:blipFill>
        <p:spPr>
          <a:xfrm rot="21600000">
            <a:off x="3644001" y="5554265"/>
            <a:ext cx="2814234" cy="208627"/>
          </a:xfrm>
          <a:prstGeom prst="rect">
            <a:avLst/>
          </a:prstGeom>
        </p:spPr>
      </p:pic>
      <p:pic>
        <p:nvPicPr>
          <p:cNvPr id="554" name="picture 554"/>
          <p:cNvPicPr>
            <a:picLocks noChangeAspect="1"/>
          </p:cNvPicPr>
          <p:nvPr/>
        </p:nvPicPr>
        <p:blipFill>
          <a:blip r:embed="rId2"/>
          <a:stretch>
            <a:fillRect/>
          </a:stretch>
        </p:blipFill>
        <p:spPr>
          <a:xfrm rot="21600000">
            <a:off x="7399604" y="5134355"/>
            <a:ext cx="755904" cy="419909"/>
          </a:xfrm>
          <a:prstGeom prst="rect">
            <a:avLst/>
          </a:prstGeom>
        </p:spPr>
      </p:pic>
      <p:sp>
        <p:nvSpPr>
          <p:cNvPr id="556" name="path"/>
          <p:cNvSpPr/>
          <p:nvPr/>
        </p:nvSpPr>
        <p:spPr>
          <a:xfrm>
            <a:off x="7790688" y="2182368"/>
            <a:ext cx="152400" cy="1661159"/>
          </a:xfrm>
          <a:custGeom>
            <a:avLst/>
            <a:gdLst/>
            <a:ahLst/>
            <a:cxnLst/>
            <a:rect l="0" t="0" r="0" b="0"/>
            <a:pathLst>
              <a:path w="240" h="2615">
                <a:moveTo>
                  <a:pt x="21" y="2594"/>
                </a:moveTo>
                <a:lnTo>
                  <a:pt x="218" y="2594"/>
                </a:lnTo>
                <a:lnTo>
                  <a:pt x="218" y="21"/>
                </a:lnTo>
                <a:lnTo>
                  <a:pt x="21" y="21"/>
                </a:lnTo>
                <a:lnTo>
                  <a:pt x="21" y="2594"/>
                </a:lnTo>
                <a:close/>
              </a:path>
            </a:pathLst>
          </a:custGeom>
          <a:noFill/>
          <a:ln w="27431" cap="flat">
            <a:solidFill>
              <a:srgbClr val="FF0000">
                <a:alpha val="100000"/>
              </a:srgbClr>
            </a:solidFill>
            <a:prstDash val="solid"/>
            <a:miter lim="1000000"/>
          </a:ln>
        </p:spPr>
        <p:txBody>
          <a:bodyPr rtlCol="0"/>
          <a:lstStyle/>
          <a:p>
            <a:pPr algn="ctr"/>
            <a:endParaRPr lang="zh-CN" altLang="en-US"/>
          </a:p>
        </p:txBody>
      </p:sp>
      <p:graphicFrame>
        <p:nvGraphicFramePr>
          <p:cNvPr id="558" name="table 558"/>
          <p:cNvGraphicFramePr>
            <a:graphicFrameLocks noGrp="1"/>
          </p:cNvGraphicFramePr>
          <p:nvPr/>
        </p:nvGraphicFramePr>
        <p:xfrm>
          <a:off x="6587068" y="1899396"/>
          <a:ext cx="1628775" cy="1971039"/>
        </p:xfrm>
        <a:graphic>
          <a:graphicData uri="http://schemas.openxmlformats.org/drawingml/2006/table">
            <a:tbl>
              <a:tblPr/>
              <a:tblGrid>
                <a:gridCol w="1096644"/>
                <a:gridCol w="532129"/>
              </a:tblGrid>
              <a:tr h="1971039">
                <a:tc>
                  <a:txBody>
                    <a:bodyPr/>
                    <a:lstStyle/>
                    <a:p>
                      <a:pPr algn="l" rtl="0" eaLnBrk="0">
                        <a:lnSpc>
                          <a:spcPct val="119000"/>
                        </a:lnSpc>
                      </a:pPr>
                      <a:endParaRPr lang="en-US" altLang="en-US" sz="500" dirty="0">
                        <a:latin typeface="Arial" panose="020B0604020202020204" pitchFamily="34" charset="0"/>
                        <a:ea typeface="黑体" panose="02010609060101010101" charset="-122"/>
                      </a:endParaRPr>
                    </a:p>
                    <a:p>
                      <a:pPr marL="137795" algn="l" rtl="0" eaLnBrk="0">
                        <a:lnSpc>
                          <a:spcPts val="1235"/>
                        </a:lnSpc>
                        <a:spcBef>
                          <a:spcPts val="5"/>
                        </a:spcBef>
                      </a:pPr>
                      <a:r>
                        <a:rPr sz="1000" kern="0" spc="1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endParaRPr lang="en-US" altLang="en-US" sz="1000" dirty="0">
                        <a:latin typeface="Arial" panose="020B0604020202020204" pitchFamily="34" charset="0"/>
                        <a:ea typeface="黑体" panose="02010609060101010101" charset="-122"/>
                      </a:endParaRPr>
                    </a:p>
                    <a:p>
                      <a:pPr marL="824865" algn="l" rtl="0" eaLnBrk="0">
                        <a:lnSpc>
                          <a:spcPct val="82000"/>
                        </a:lnSpc>
                        <a:spcBef>
                          <a:spcPts val="590"/>
                        </a:spcBef>
                      </a:pPr>
                      <a:r>
                        <a:rPr sz="10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9</a:t>
                      </a:r>
                      <a:endParaRPr lang="en-US" altLang="en-US" sz="1000" dirty="0">
                        <a:latin typeface="Arial" panose="020B0604020202020204" pitchFamily="34" charset="0"/>
                        <a:ea typeface="黑体" panose="02010609060101010101" charset="-122"/>
                      </a:endParaRPr>
                    </a:p>
                    <a:p>
                      <a:pPr marL="837565" algn="l" rtl="0" eaLnBrk="0">
                        <a:lnSpc>
                          <a:spcPct val="82000"/>
                        </a:lnSpc>
                        <a:spcBef>
                          <a:spcPts val="645"/>
                        </a:spcBef>
                      </a:pPr>
                      <a:r>
                        <a:rPr sz="10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10</a:t>
                      </a:r>
                      <a:endParaRPr lang="en-US" altLang="en-US" sz="1000" dirty="0">
                        <a:latin typeface="Arial" panose="020B0604020202020204" pitchFamily="34" charset="0"/>
                        <a:ea typeface="黑体" panose="02010609060101010101" charset="-122"/>
                      </a:endParaRPr>
                    </a:p>
                    <a:p>
                      <a:pPr marL="837565" algn="l" rtl="0" eaLnBrk="0">
                        <a:lnSpc>
                          <a:spcPct val="82000"/>
                        </a:lnSpc>
                        <a:spcBef>
                          <a:spcPts val="640"/>
                        </a:spcBef>
                      </a:pPr>
                      <a:r>
                        <a:rPr sz="10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11</a:t>
                      </a:r>
                      <a:endParaRPr lang="en-US" altLang="en-US" sz="1000" dirty="0">
                        <a:latin typeface="Arial" panose="020B0604020202020204" pitchFamily="34" charset="0"/>
                        <a:ea typeface="黑体" panose="02010609060101010101" charset="-122"/>
                      </a:endParaRPr>
                    </a:p>
                    <a:p>
                      <a:pPr marL="837565" algn="l" rtl="0" eaLnBrk="0">
                        <a:lnSpc>
                          <a:spcPct val="82000"/>
                        </a:lnSpc>
                        <a:spcBef>
                          <a:spcPts val="640"/>
                        </a:spcBef>
                      </a:pPr>
                      <a:r>
                        <a:rPr sz="10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12</a:t>
                      </a:r>
                      <a:endParaRPr lang="en-US" altLang="en-US" sz="1000" dirty="0">
                        <a:latin typeface="Arial" panose="020B0604020202020204" pitchFamily="34" charset="0"/>
                        <a:ea typeface="黑体" panose="02010609060101010101" charset="-122"/>
                      </a:endParaRPr>
                    </a:p>
                    <a:p>
                      <a:pPr marL="837565" algn="l" rtl="0" eaLnBrk="0">
                        <a:lnSpc>
                          <a:spcPct val="82000"/>
                        </a:lnSpc>
                        <a:spcBef>
                          <a:spcPts val="645"/>
                        </a:spcBef>
                      </a:pPr>
                      <a:r>
                        <a:rPr sz="10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13</a:t>
                      </a:r>
                      <a:endParaRPr lang="en-US" altLang="en-US" sz="1000" dirty="0">
                        <a:latin typeface="Arial" panose="020B0604020202020204" pitchFamily="34" charset="0"/>
                        <a:ea typeface="黑体" panose="02010609060101010101" charset="-122"/>
                      </a:endParaRPr>
                    </a:p>
                    <a:p>
                      <a:pPr marL="837565" algn="l" rtl="0" eaLnBrk="0">
                        <a:lnSpc>
                          <a:spcPct val="82000"/>
                        </a:lnSpc>
                        <a:spcBef>
                          <a:spcPts val="640"/>
                        </a:spcBef>
                      </a:pPr>
                      <a:r>
                        <a:rPr sz="10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14</a:t>
                      </a:r>
                      <a:endParaRPr lang="en-US" altLang="en-US" sz="1000" dirty="0">
                        <a:latin typeface="Arial" panose="020B0604020202020204" pitchFamily="34" charset="0"/>
                        <a:ea typeface="黑体" panose="02010609060101010101" charset="-122"/>
                      </a:endParaRPr>
                    </a:p>
                    <a:p>
                      <a:pPr marL="837565" algn="l" rtl="0" eaLnBrk="0">
                        <a:lnSpc>
                          <a:spcPct val="82000"/>
                        </a:lnSpc>
                        <a:spcBef>
                          <a:spcPts val="640"/>
                        </a:spcBef>
                      </a:pPr>
                      <a:r>
                        <a:rPr sz="10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1000" dirty="0">
                        <a:latin typeface="Arial" panose="020B0604020202020204" pitchFamily="34" charset="0"/>
                        <a:ea typeface="黑体" panose="02010609060101010101" charset="-122"/>
                      </a:endParaRPr>
                    </a:p>
                    <a:p>
                      <a:pPr algn="l" rtl="0" eaLnBrk="0">
                        <a:lnSpc>
                          <a:spcPct val="107000"/>
                        </a:lnSpc>
                      </a:pPr>
                      <a:endParaRPr lang="en-US" altLang="en-US" sz="500" dirty="0">
                        <a:latin typeface="Arial" panose="020B0604020202020204" pitchFamily="34" charset="0"/>
                        <a:ea typeface="黑体" panose="02010609060101010101" charset="-122"/>
                      </a:endParaRPr>
                    </a:p>
                    <a:p>
                      <a:pPr marL="838835" algn="l" rtl="0" eaLnBrk="0">
                        <a:lnSpc>
                          <a:spcPct val="82000"/>
                        </a:lnSpc>
                        <a:spcBef>
                          <a:spcPts val="0"/>
                        </a:spcBef>
                      </a:pPr>
                      <a:r>
                        <a:rPr sz="10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16</a:t>
                      </a: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167005" algn="l" rtl="0" eaLnBrk="0">
                        <a:lnSpc>
                          <a:spcPct val="82000"/>
                        </a:lnSpc>
                      </a:pPr>
                      <a:r>
                        <a:rPr sz="1000"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000" dirty="0">
                        <a:latin typeface="Arial" panose="020B0604020202020204" pitchFamily="34" charset="0"/>
                        <a:ea typeface="黑体" panose="02010609060101010101" charset="-122"/>
                      </a:endParaRPr>
                    </a:p>
                    <a:p>
                      <a:pPr marL="150495" algn="l" rtl="0" eaLnBrk="0">
                        <a:lnSpc>
                          <a:spcPct val="82000"/>
                        </a:lnSpc>
                        <a:spcBef>
                          <a:spcPts val="645"/>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46050"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50495"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50495"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50495"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50495"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algn="l" rtl="0" eaLnBrk="0">
                        <a:lnSpc>
                          <a:spcPct val="107000"/>
                        </a:lnSpc>
                      </a:pPr>
                      <a:endParaRPr lang="en-US" altLang="en-US" sz="500" dirty="0">
                        <a:latin typeface="Arial" panose="020B0604020202020204" pitchFamily="34" charset="0"/>
                        <a:ea typeface="黑体" panose="02010609060101010101" charset="-122"/>
                      </a:endParaRPr>
                    </a:p>
                    <a:p>
                      <a:pPr marL="168275" algn="l" rtl="0" eaLnBrk="0">
                        <a:lnSpc>
                          <a:spcPct val="82000"/>
                        </a:lnSpc>
                        <a:spcBef>
                          <a:spcPts val="0"/>
                        </a:spcBef>
                      </a:pPr>
                      <a:r>
                        <a:rPr sz="1000"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000" dirty="0">
                        <a:latin typeface="Arial" panose="020B0604020202020204" pitchFamily="34" charset="0"/>
                        <a:ea typeface="黑体" panose="02010609060101010101" charset="-122"/>
                      </a:endParaRPr>
                    </a:p>
                  </a:txBody>
                  <a:tcPr marL="0" marR="0" marT="0" marB="0" vert="horz">
                    <a:lnL>
                      <a:noFill/>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560" name="picture 560"/>
          <p:cNvPicPr>
            <a:picLocks noChangeAspect="1"/>
          </p:cNvPicPr>
          <p:nvPr/>
        </p:nvPicPr>
        <p:blipFill>
          <a:blip r:embed="rId3"/>
          <a:stretch>
            <a:fillRect/>
          </a:stretch>
        </p:blipFill>
        <p:spPr>
          <a:xfrm rot="21600000">
            <a:off x="1709927" y="1149096"/>
            <a:ext cx="1697736" cy="1435608"/>
          </a:xfrm>
          <a:prstGeom prst="rect">
            <a:avLst/>
          </a:prstGeom>
        </p:spPr>
      </p:pic>
      <p:pic>
        <p:nvPicPr>
          <p:cNvPr id="562" name="picture 562"/>
          <p:cNvPicPr>
            <a:picLocks noChangeAspect="1"/>
          </p:cNvPicPr>
          <p:nvPr/>
        </p:nvPicPr>
        <p:blipFill>
          <a:blip r:embed="rId4"/>
          <a:stretch>
            <a:fillRect/>
          </a:stretch>
        </p:blipFill>
        <p:spPr>
          <a:xfrm rot="21600000">
            <a:off x="8232648" y="4285488"/>
            <a:ext cx="1588006" cy="1499615"/>
          </a:xfrm>
          <a:prstGeom prst="rect">
            <a:avLst/>
          </a:prstGeom>
        </p:spPr>
      </p:pic>
      <p:sp>
        <p:nvSpPr>
          <p:cNvPr id="564" name="textbox 564"/>
          <p:cNvSpPr/>
          <p:nvPr/>
        </p:nvSpPr>
        <p:spPr>
          <a:xfrm>
            <a:off x="1549843" y="466861"/>
            <a:ext cx="4081145"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b="1" kern="0" spc="0" dirty="0">
                <a:solidFill>
                  <a:srgbClr val="44546A">
                    <a:alpha val="100000"/>
                  </a:srgbClr>
                </a:solidFill>
                <a:latin typeface="Arial" panose="020B0604020202020204" pitchFamily="34" charset="0"/>
                <a:ea typeface="黑体" panose="02010609060101010101" charset="-122"/>
                <a:cs typeface="Times New Roman" panose="02020603050405020304"/>
              </a:rPr>
              <a:t>DES</a:t>
            </a:r>
            <a:r>
              <a:rPr sz="3100" kern="0" spc="130" dirty="0">
                <a:ln w="11582" cap="flat" cmpd="sng">
                  <a:solidFill>
                    <a:srgbClr val="44546A">
                      <a:alpha val="100000"/>
                    </a:srgbClr>
                  </a:solidFill>
                  <a:prstDash val="solid"/>
                  <a:miter lim="10"/>
                </a:ln>
                <a:solidFill>
                  <a:srgbClr val="44546A">
                    <a:alpha val="100000"/>
                  </a:srgbClr>
                </a:solidFill>
                <a:latin typeface="Arial" panose="020B0604020202020204" pitchFamily="34" charset="0"/>
                <a:ea typeface="黑体" panose="02010609060101010101" charset="-122"/>
                <a:cs typeface="仿宋" panose="02010609060101010101" charset="-122"/>
              </a:rPr>
              <a:t>中的子密钥的生成</a:t>
            </a:r>
            <a:endParaRPr lang="en-US" altLang="en-US" sz="3100" dirty="0">
              <a:latin typeface="Arial" panose="020B0604020202020204" pitchFamily="34" charset="0"/>
              <a:ea typeface="黑体" panose="02010609060101010101" charset="-122"/>
            </a:endParaRPr>
          </a:p>
        </p:txBody>
      </p:sp>
      <p:graphicFrame>
        <p:nvGraphicFramePr>
          <p:cNvPr id="566" name="table 566"/>
          <p:cNvGraphicFramePr>
            <a:graphicFrameLocks noGrp="1"/>
          </p:cNvGraphicFramePr>
          <p:nvPr/>
        </p:nvGraphicFramePr>
        <p:xfrm>
          <a:off x="3211332" y="3756676"/>
          <a:ext cx="1186180" cy="320675"/>
        </p:xfrm>
        <a:graphic>
          <a:graphicData uri="http://schemas.openxmlformats.org/drawingml/2006/table">
            <a:tbl>
              <a:tblPr/>
              <a:tblGrid>
                <a:gridCol w="1186180"/>
              </a:tblGrid>
              <a:tr h="311150">
                <a:tc>
                  <a:txBody>
                    <a:bodyPr/>
                    <a:lstStyle/>
                    <a:p>
                      <a:pPr algn="l" rtl="0" eaLnBrk="0">
                        <a:lnSpc>
                          <a:spcPct val="102000"/>
                        </a:lnSpc>
                      </a:pPr>
                      <a:endParaRPr lang="en-US" altLang="en-US" sz="500" dirty="0">
                        <a:latin typeface="Arial" panose="020B0604020202020204" pitchFamily="34" charset="0"/>
                        <a:ea typeface="黑体" panose="02010609060101010101" charset="-122"/>
                      </a:endParaRPr>
                    </a:p>
                    <a:p>
                      <a:pPr marL="179070" algn="l" rtl="0" eaLnBrk="0">
                        <a:lnSpc>
                          <a:spcPct val="99000"/>
                        </a:lnSpc>
                        <a:spcBef>
                          <a:spcPts val="0"/>
                        </a:spcBef>
                      </a:pPr>
                      <a:r>
                        <a:rPr sz="1200"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C</a:t>
                      </a:r>
                      <a:r>
                        <a:rPr sz="1200" kern="0" spc="70" baseline="-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700"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200" kern="0" spc="7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200" kern="0" spc="1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12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568" name="table 568"/>
          <p:cNvGraphicFramePr>
            <a:graphicFrameLocks noGrp="1"/>
          </p:cNvGraphicFramePr>
          <p:nvPr/>
        </p:nvGraphicFramePr>
        <p:xfrm>
          <a:off x="4824673" y="3756676"/>
          <a:ext cx="1186179" cy="320675"/>
        </p:xfrm>
        <a:graphic>
          <a:graphicData uri="http://schemas.openxmlformats.org/drawingml/2006/table">
            <a:tbl>
              <a:tblPr/>
              <a:tblGrid>
                <a:gridCol w="1186179"/>
              </a:tblGrid>
              <a:tr h="311150">
                <a:tc>
                  <a:txBody>
                    <a:bodyPr/>
                    <a:lstStyle/>
                    <a:p>
                      <a:pPr algn="l" rtl="0" eaLnBrk="0">
                        <a:lnSpc>
                          <a:spcPct val="102000"/>
                        </a:lnSpc>
                      </a:pPr>
                      <a:endParaRPr lang="en-US" altLang="en-US" sz="500" dirty="0">
                        <a:latin typeface="Arial" panose="020B0604020202020204" pitchFamily="34" charset="0"/>
                        <a:ea typeface="黑体" panose="02010609060101010101" charset="-122"/>
                      </a:endParaRPr>
                    </a:p>
                    <a:p>
                      <a:pPr marL="164465" algn="l" rtl="0" eaLnBrk="0">
                        <a:lnSpc>
                          <a:spcPct val="99000"/>
                        </a:lnSpc>
                        <a:spcBef>
                          <a:spcPts val="0"/>
                        </a:spcBef>
                      </a:pPr>
                      <a:r>
                        <a:rPr sz="12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1200" kern="0" spc="90" baseline="-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700"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200" kern="0" spc="9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200" kern="0" spc="1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12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570" name="table 570"/>
          <p:cNvGraphicFramePr>
            <a:graphicFrameLocks noGrp="1"/>
          </p:cNvGraphicFramePr>
          <p:nvPr/>
        </p:nvGraphicFramePr>
        <p:xfrm>
          <a:off x="3792876" y="4072630"/>
          <a:ext cx="2598420" cy="420370"/>
        </p:xfrm>
        <a:graphic>
          <a:graphicData uri="http://schemas.openxmlformats.org/drawingml/2006/table">
            <a:tbl>
              <a:tblPr/>
              <a:tblGrid>
                <a:gridCol w="1630045"/>
                <a:gridCol w="968375"/>
              </a:tblGrid>
              <a:tr h="213994">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txBody>
                  <a:tcPr marL="0" marR="0" marT="0" marB="0" vert="horz">
                    <a:lnL w="22225" cap="flat" cmpd="sng" algn="ctr">
                      <a:solidFill>
                        <a:srgbClr val="000000"/>
                      </a:solidFill>
                      <a:prstDash val="solid"/>
                      <a:round/>
                      <a:headEnd type="none" w="med" len="med"/>
                      <a:tailEnd type="none" w="med" len="med"/>
                    </a:lnL>
                    <a:lnR w="22225" cap="flat" cmpd="sng" algn="ctr">
                      <a:solidFill>
                        <a:srgbClr val="000000"/>
                      </a:solidFill>
                      <a:prstDash val="solid"/>
                      <a:round/>
                      <a:headEnd type="none" w="med" len="med"/>
                      <a:tailEnd type="none" w="med" len="med"/>
                    </a:lnR>
                    <a:lnT>
                      <a:noFill/>
                    </a:lnT>
                    <a:lnB w="3175"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ea typeface="黑体" panose="02010609060101010101" charset="-122"/>
                      </a:endParaRPr>
                    </a:p>
                  </a:txBody>
                  <a:tcPr marL="0" marR="0" marT="0" marB="0" vert="horz">
                    <a:lnL w="22225" cap="flat" cmpd="sng" algn="ctr">
                      <a:solidFill>
                        <a:srgbClr val="000000"/>
                      </a:solidFill>
                      <a:prstDash val="solid"/>
                      <a:round/>
                      <a:headEnd type="none" w="med" len="med"/>
                      <a:tailEnd type="none" w="med" len="med"/>
                    </a:lnL>
                    <a:lnR>
                      <a:noFill/>
                    </a:lnR>
                    <a:lnT>
                      <a:noFill/>
                    </a:lnT>
                    <a:lnB w="3175" cap="flat" cmpd="sng" algn="ctr">
                      <a:solidFill>
                        <a:srgbClr val="000000"/>
                      </a:solidFill>
                      <a:prstDash val="solid"/>
                      <a:round/>
                      <a:headEnd type="none" w="med" len="med"/>
                      <a:tailEnd type="none" w="med" len="med"/>
                    </a:lnB>
                  </a:tcPr>
                </a:tc>
              </a:tr>
              <a:tr h="206375">
                <a:tc>
                  <a:txBody>
                    <a:bodyPr/>
                    <a:lstStyle/>
                    <a:p>
                      <a:pPr algn="l" rtl="0" eaLnBrk="0">
                        <a:lnSpc>
                          <a:spcPct val="100000"/>
                        </a:lnSpc>
                      </a:pPr>
                      <a:endParaRPr lang="en-US" altLang="en-US" sz="1000" dirty="0">
                        <a:ea typeface="黑体" panose="02010609060101010101" charset="-122"/>
                      </a:endParaRPr>
                    </a:p>
                  </a:txBody>
                  <a:tcPr marL="0" marR="0" marT="0" marB="0" vert="horz">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a:noFill/>
                    </a:lnB>
                  </a:tcPr>
                </a:tc>
                <a:tc>
                  <a:txBody>
                    <a:bodyPr/>
                    <a:lstStyle/>
                    <a:p>
                      <a:pPr algn="l" rtl="0" eaLnBrk="0">
                        <a:lnSpc>
                          <a:spcPct val="164000"/>
                        </a:lnSpc>
                      </a:pPr>
                      <a:endParaRPr lang="en-US" altLang="en-US" sz="100" dirty="0">
                        <a:latin typeface="Arial" panose="020B0604020202020204" pitchFamily="34" charset="0"/>
                        <a:ea typeface="黑体" panose="02010609060101010101" charset="-122"/>
                      </a:endParaRPr>
                    </a:p>
                    <a:p>
                      <a:pPr marL="401320" algn="l" rtl="0" eaLnBrk="0">
                        <a:lnSpc>
                          <a:spcPts val="1240"/>
                        </a:lnSpc>
                        <a:spcBef>
                          <a:spcPts val="0"/>
                        </a:spcBef>
                      </a:pPr>
                      <a:r>
                        <a:rPr sz="10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000" kern="0" spc="-7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1000"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0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1000" dirty="0">
                        <a:latin typeface="Arial" panose="020B0604020202020204" pitchFamily="34" charset="0"/>
                        <a:ea typeface="黑体" panose="02010609060101010101" charset="-122"/>
                      </a:endParaRPr>
                    </a:p>
                  </a:txBody>
                  <a:tcPr marL="0" marR="0" marT="0" marB="0" vert="horz">
                    <a:lnL w="25400" cap="flat" cmpd="sng" algn="ctr">
                      <a:solidFill>
                        <a:srgbClr val="000000"/>
                      </a:solidFill>
                      <a:prstDash val="solid"/>
                      <a:round/>
                      <a:headEnd type="none" w="med" len="med"/>
                      <a:tailEnd type="none" w="med" len="med"/>
                    </a:lnL>
                    <a:lnR>
                      <a:noFill/>
                    </a:lnR>
                    <a:lnT w="3175" cap="flat" cmpd="sng" algn="ctr">
                      <a:solidFill>
                        <a:srgbClr val="000000"/>
                      </a:solidFill>
                      <a:prstDash val="solid"/>
                      <a:round/>
                      <a:headEnd type="none" w="med" len="med"/>
                      <a:tailEnd type="none" w="med" len="med"/>
                    </a:lnT>
                    <a:lnB>
                      <a:noFill/>
                    </a:lnB>
                  </a:tcPr>
                </a:tc>
              </a:tr>
            </a:tbl>
          </a:graphicData>
        </a:graphic>
      </p:graphicFrame>
      <p:graphicFrame>
        <p:nvGraphicFramePr>
          <p:cNvPr id="574" name="table 574"/>
          <p:cNvGraphicFramePr>
            <a:graphicFrameLocks noGrp="1"/>
          </p:cNvGraphicFramePr>
          <p:nvPr/>
        </p:nvGraphicFramePr>
        <p:xfrm>
          <a:off x="4824673" y="2724766"/>
          <a:ext cx="1186179" cy="320675"/>
        </p:xfrm>
        <a:graphic>
          <a:graphicData uri="http://schemas.openxmlformats.org/drawingml/2006/table">
            <a:tbl>
              <a:tblPr/>
              <a:tblGrid>
                <a:gridCol w="1186179"/>
              </a:tblGrid>
              <a:tr h="311150">
                <a:tc>
                  <a:txBody>
                    <a:bodyPr/>
                    <a:lstStyle/>
                    <a:p>
                      <a:pPr algn="l" rtl="0" eaLnBrk="0">
                        <a:lnSpc>
                          <a:spcPct val="102000"/>
                        </a:lnSpc>
                      </a:pPr>
                      <a:endParaRPr lang="en-US" altLang="en-US" sz="500" dirty="0">
                        <a:latin typeface="Arial" panose="020B0604020202020204" pitchFamily="34" charset="0"/>
                        <a:ea typeface="黑体" panose="02010609060101010101" charset="-122"/>
                      </a:endParaRPr>
                    </a:p>
                    <a:p>
                      <a:pPr marL="164465" algn="l" rtl="0" eaLnBrk="0">
                        <a:lnSpc>
                          <a:spcPct val="99000"/>
                        </a:lnSpc>
                        <a:spcBef>
                          <a:spcPts val="0"/>
                        </a:spcBef>
                      </a:pPr>
                      <a:r>
                        <a:rPr sz="12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1200" kern="0" spc="90" baseline="-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700"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200" kern="0" spc="9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200" kern="0" spc="1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9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12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576" name="picture 576"/>
          <p:cNvPicPr>
            <a:picLocks noChangeAspect="1"/>
          </p:cNvPicPr>
          <p:nvPr/>
        </p:nvPicPr>
        <p:blipFill>
          <a:blip r:embed="rId5"/>
          <a:stretch>
            <a:fillRect/>
          </a:stretch>
        </p:blipFill>
        <p:spPr>
          <a:xfrm rot="21600000">
            <a:off x="5920740" y="2327147"/>
            <a:ext cx="688847" cy="1045464"/>
          </a:xfrm>
          <a:prstGeom prst="rect">
            <a:avLst/>
          </a:prstGeom>
        </p:spPr>
      </p:pic>
      <p:graphicFrame>
        <p:nvGraphicFramePr>
          <p:cNvPr id="578" name="table 578"/>
          <p:cNvGraphicFramePr>
            <a:graphicFrameLocks noGrp="1"/>
          </p:cNvGraphicFramePr>
          <p:nvPr/>
        </p:nvGraphicFramePr>
        <p:xfrm>
          <a:off x="3798758" y="1591180"/>
          <a:ext cx="1624965" cy="317500"/>
        </p:xfrm>
        <a:graphic>
          <a:graphicData uri="http://schemas.openxmlformats.org/drawingml/2006/table">
            <a:tbl>
              <a:tblPr/>
              <a:tblGrid>
                <a:gridCol w="1624965"/>
              </a:tblGrid>
              <a:tr h="307975">
                <a:tc>
                  <a:txBody>
                    <a:bodyPr/>
                    <a:lstStyle/>
                    <a:p>
                      <a:pPr algn="l" rtl="0" eaLnBrk="0">
                        <a:lnSpc>
                          <a:spcPct val="100000"/>
                        </a:lnSpc>
                      </a:pPr>
                      <a:endParaRPr lang="en-US" altLang="en-US" sz="600" dirty="0">
                        <a:latin typeface="Arial" panose="020B0604020202020204" pitchFamily="34" charset="0"/>
                        <a:ea typeface="黑体" panose="02010609060101010101" charset="-122"/>
                      </a:endParaRPr>
                    </a:p>
                    <a:p>
                      <a:pPr marL="483235" algn="l" rtl="0" eaLnBrk="0">
                        <a:lnSpc>
                          <a:spcPts val="1240"/>
                        </a:lnSpc>
                        <a:spcBef>
                          <a:spcPts val="5"/>
                        </a:spcBef>
                      </a:pPr>
                      <a:r>
                        <a:rPr sz="1000" kern="0" spc="250" dirty="0">
                          <a:solidFill>
                            <a:srgbClr val="000000">
                              <a:alpha val="100000"/>
                            </a:srgbClr>
                          </a:solidFill>
                          <a:latin typeface="Arial" panose="020B0604020202020204" pitchFamily="34" charset="0"/>
                          <a:ea typeface="黑体" panose="02010609060101010101" charset="-122"/>
                          <a:cs typeface="Times New Roman" panose="02020603050405020304"/>
                        </a:rPr>
                        <a:t>64</a:t>
                      </a:r>
                      <a:r>
                        <a:rPr sz="1000" kern="0" spc="1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000" kern="0" spc="2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位密钥</a:t>
                      </a: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580" name="table 580"/>
          <p:cNvGraphicFramePr>
            <a:graphicFrameLocks noGrp="1"/>
          </p:cNvGraphicFramePr>
          <p:nvPr/>
        </p:nvGraphicFramePr>
        <p:xfrm>
          <a:off x="3211332" y="2724766"/>
          <a:ext cx="1186180" cy="320675"/>
        </p:xfrm>
        <a:graphic>
          <a:graphicData uri="http://schemas.openxmlformats.org/drawingml/2006/table">
            <a:tbl>
              <a:tblPr/>
              <a:tblGrid>
                <a:gridCol w="1186180"/>
              </a:tblGrid>
              <a:tr h="311150">
                <a:tc>
                  <a:txBody>
                    <a:bodyPr/>
                    <a:lstStyle/>
                    <a:p>
                      <a:pPr algn="l" rtl="0" eaLnBrk="0">
                        <a:lnSpc>
                          <a:spcPct val="102000"/>
                        </a:lnSpc>
                      </a:pPr>
                      <a:endParaRPr lang="en-US" altLang="en-US" sz="500" dirty="0">
                        <a:latin typeface="Arial" panose="020B0604020202020204" pitchFamily="34" charset="0"/>
                        <a:ea typeface="黑体" panose="02010609060101010101" charset="-122"/>
                      </a:endParaRPr>
                    </a:p>
                    <a:p>
                      <a:pPr marL="179070" algn="l" rtl="0" eaLnBrk="0">
                        <a:lnSpc>
                          <a:spcPct val="99000"/>
                        </a:lnSpc>
                        <a:spcBef>
                          <a:spcPts val="0"/>
                        </a:spcBef>
                      </a:pPr>
                      <a:r>
                        <a:rPr sz="1200"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C</a:t>
                      </a:r>
                      <a:r>
                        <a:rPr sz="1200" kern="0" spc="70" baseline="-400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700"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a:t>
                      </a:r>
                      <a:r>
                        <a:rPr sz="1200" kern="0" spc="70" dirty="0">
                          <a:solidFill>
                            <a:srgbClr val="000000">
                              <a:alpha val="100000"/>
                            </a:srgbClr>
                          </a:solidFill>
                          <a:latin typeface="Arial" panose="020B0604020202020204" pitchFamily="34" charset="0"/>
                          <a:ea typeface="黑体" panose="02010609060101010101" charset="-122"/>
                          <a:cs typeface="Times New Roman" panose="02020603050405020304"/>
                        </a:rPr>
                        <a:t>28</a:t>
                      </a:r>
                      <a:r>
                        <a:rPr sz="1200" kern="0" spc="1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200" kern="0" spc="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endParaRPr lang="en-US" altLang="en-US" sz="12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pSp>
        <p:nvGrpSpPr>
          <p:cNvPr id="104" name="group 104"/>
          <p:cNvGrpSpPr/>
          <p:nvPr/>
        </p:nvGrpSpPr>
        <p:grpSpPr>
          <a:xfrm rot="21600000">
            <a:off x="4098363" y="2110525"/>
            <a:ext cx="1057225" cy="336484"/>
            <a:chOff x="0" y="0"/>
            <a:chExt cx="1057225" cy="336484"/>
          </a:xfrm>
        </p:grpSpPr>
        <p:sp>
          <p:nvSpPr>
            <p:cNvPr id="582" name="path"/>
            <p:cNvSpPr/>
            <p:nvPr/>
          </p:nvSpPr>
          <p:spPr>
            <a:xfrm>
              <a:off x="31246" y="25303"/>
              <a:ext cx="1025979" cy="311180"/>
            </a:xfrm>
            <a:custGeom>
              <a:avLst/>
              <a:gdLst/>
              <a:ahLst/>
              <a:cxnLst/>
              <a:rect l="0" t="0" r="0" b="0"/>
              <a:pathLst>
                <a:path w="1615" h="490">
                  <a:moveTo>
                    <a:pt x="0" y="490"/>
                  </a:moveTo>
                  <a:lnTo>
                    <a:pt x="1615" y="490"/>
                  </a:lnTo>
                  <a:lnTo>
                    <a:pt x="1615" y="0"/>
                  </a:lnTo>
                  <a:lnTo>
                    <a:pt x="0" y="0"/>
                  </a:lnTo>
                  <a:lnTo>
                    <a:pt x="0" y="490"/>
                  </a:lnTo>
                  <a:close/>
                </a:path>
              </a:pathLst>
            </a:custGeom>
            <a:solidFill>
              <a:srgbClr val="808080">
                <a:alpha val="100000"/>
              </a:srgbClr>
            </a:solidFill>
            <a:ln cap="flat">
              <a:noFill/>
              <a:prstDash val="solid"/>
              <a:miter lim="0"/>
            </a:ln>
          </p:spPr>
          <p:txBody>
            <a:bodyPr rtlCol="0"/>
            <a:lstStyle/>
            <a:p>
              <a:pPr algn="ctr"/>
              <a:endParaRPr lang="zh-CN" altLang="en-US"/>
            </a:p>
          </p:txBody>
        </p:sp>
        <p:sp>
          <p:nvSpPr>
            <p:cNvPr id="584" name="path"/>
            <p:cNvSpPr/>
            <p:nvPr/>
          </p:nvSpPr>
          <p:spPr>
            <a:xfrm>
              <a:off x="0" y="0"/>
              <a:ext cx="1025979" cy="311181"/>
            </a:xfrm>
            <a:custGeom>
              <a:avLst/>
              <a:gdLst/>
              <a:ahLst/>
              <a:cxnLst/>
              <a:rect l="0" t="0" r="0" b="0"/>
              <a:pathLst>
                <a:path w="1615" h="490">
                  <a:moveTo>
                    <a:pt x="0" y="490"/>
                  </a:moveTo>
                  <a:lnTo>
                    <a:pt x="1615" y="490"/>
                  </a:lnTo>
                  <a:lnTo>
                    <a:pt x="1615" y="0"/>
                  </a:lnTo>
                  <a:lnTo>
                    <a:pt x="0" y="0"/>
                  </a:lnTo>
                  <a:lnTo>
                    <a:pt x="0" y="490"/>
                  </a:lnTo>
                  <a:close/>
                </a:path>
              </a:pathLst>
            </a:custGeom>
            <a:solidFill>
              <a:srgbClr val="FFFFFF">
                <a:alpha val="100000"/>
              </a:srgbClr>
            </a:solidFill>
            <a:ln cap="flat">
              <a:noFill/>
              <a:prstDash val="solid"/>
              <a:miter lim="0"/>
            </a:ln>
          </p:spPr>
          <p:txBody>
            <a:bodyPr rtlCol="0"/>
            <a:lstStyle/>
            <a:p>
              <a:pPr algn="ctr"/>
              <a:endParaRPr lang="zh-CN" altLang="en-US"/>
            </a:p>
          </p:txBody>
        </p:sp>
      </p:grpSp>
      <p:graphicFrame>
        <p:nvGraphicFramePr>
          <p:cNvPr id="586" name="table 586"/>
          <p:cNvGraphicFramePr>
            <a:graphicFrameLocks noGrp="1"/>
          </p:cNvGraphicFramePr>
          <p:nvPr/>
        </p:nvGraphicFramePr>
        <p:xfrm>
          <a:off x="4092480" y="2105751"/>
          <a:ext cx="1037590" cy="320675"/>
        </p:xfrm>
        <a:graphic>
          <a:graphicData uri="http://schemas.openxmlformats.org/drawingml/2006/table">
            <a:tbl>
              <a:tblPr/>
              <a:tblGrid>
                <a:gridCol w="1037590"/>
              </a:tblGrid>
              <a:tr h="311150">
                <a:tc>
                  <a:txBody>
                    <a:bodyPr/>
                    <a:lstStyle/>
                    <a:p>
                      <a:pPr algn="l" rtl="0" eaLnBrk="0">
                        <a:lnSpc>
                          <a:spcPct val="107000"/>
                        </a:lnSpc>
                      </a:pPr>
                      <a:endParaRPr lang="en-US" altLang="en-US" sz="500" dirty="0">
                        <a:latin typeface="Arial" panose="020B0604020202020204" pitchFamily="34" charset="0"/>
                        <a:ea typeface="黑体" panose="02010609060101010101" charset="-122"/>
                      </a:endParaRPr>
                    </a:p>
                    <a:p>
                      <a:pPr marL="85725" algn="l" rtl="0" eaLnBrk="0">
                        <a:lnSpc>
                          <a:spcPts val="1240"/>
                        </a:lnSpc>
                        <a:spcBef>
                          <a:spcPts val="0"/>
                        </a:spcBef>
                      </a:pPr>
                      <a:r>
                        <a:rPr sz="1000" kern="0" spc="27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置换选择</a:t>
                      </a:r>
                      <a:r>
                        <a:rPr sz="1000" kern="0" spc="3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000" kern="0" spc="27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588" name="table 588"/>
          <p:cNvGraphicFramePr>
            <a:graphicFrameLocks noGrp="1"/>
          </p:cNvGraphicFramePr>
          <p:nvPr/>
        </p:nvGraphicFramePr>
        <p:xfrm>
          <a:off x="6442205" y="4169505"/>
          <a:ext cx="1037590" cy="320039"/>
        </p:xfrm>
        <a:graphic>
          <a:graphicData uri="http://schemas.openxmlformats.org/drawingml/2006/table">
            <a:tbl>
              <a:tblPr>
                <a:solidFill>
                  <a:srgbClr val="808080"/>
                </a:solidFill>
              </a:tblPr>
              <a:tblGrid>
                <a:gridCol w="1037590"/>
              </a:tblGrid>
              <a:tr h="310514">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808080"/>
                    </a:solidFill>
                  </a:tcPr>
                </a:tc>
              </a:tr>
            </a:tbl>
          </a:graphicData>
        </a:graphic>
      </p:graphicFrame>
      <p:sp>
        <p:nvSpPr>
          <p:cNvPr id="590" name="textbox 590"/>
          <p:cNvSpPr/>
          <p:nvPr/>
        </p:nvSpPr>
        <p:spPr>
          <a:xfrm>
            <a:off x="6448087" y="4174279"/>
            <a:ext cx="1026160" cy="311150"/>
          </a:xfrm>
          <a:prstGeom prst="rect">
            <a:avLst/>
          </a:prstGeom>
          <a:solidFill>
            <a:srgbClr val="FFFFFF"/>
          </a:solidFill>
        </p:spPr>
        <p:txBody>
          <a:bodyPr vert="horz" wrap="square" lIns="0" tIns="0" rIns="0" bIns="0"/>
          <a:lstStyle/>
          <a:p>
            <a:pPr algn="l" rtl="0" eaLnBrk="0">
              <a:lnSpc>
                <a:spcPct val="101000"/>
              </a:lnSpc>
            </a:pPr>
            <a:endParaRPr lang="en-US" altLang="en-US" sz="500" dirty="0">
              <a:latin typeface="Arial" panose="020B0604020202020204" pitchFamily="34" charset="0"/>
              <a:ea typeface="黑体" panose="02010609060101010101" charset="-122"/>
            </a:endParaRPr>
          </a:p>
          <a:p>
            <a:pPr marL="79375" algn="l" rtl="0" eaLnBrk="0">
              <a:lnSpc>
                <a:spcPts val="1240"/>
              </a:lnSpc>
            </a:pPr>
            <a:r>
              <a:rPr sz="1000" kern="0" spc="30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置换选择</a:t>
            </a:r>
            <a:r>
              <a:rPr sz="1000" kern="0" spc="-12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r>
              <a:rPr sz="1000" kern="0" spc="3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p:txBody>
      </p:sp>
      <p:grpSp>
        <p:nvGrpSpPr>
          <p:cNvPr id="106" name="group 106"/>
          <p:cNvGrpSpPr/>
          <p:nvPr/>
        </p:nvGrpSpPr>
        <p:grpSpPr>
          <a:xfrm rot="21600000">
            <a:off x="3362045" y="3246944"/>
            <a:ext cx="912784" cy="333321"/>
            <a:chOff x="0" y="0"/>
            <a:chExt cx="912784" cy="333321"/>
          </a:xfrm>
        </p:grpSpPr>
        <p:sp>
          <p:nvSpPr>
            <p:cNvPr id="592" name="path"/>
            <p:cNvSpPr/>
            <p:nvPr/>
          </p:nvSpPr>
          <p:spPr>
            <a:xfrm>
              <a:off x="31636" y="25435"/>
              <a:ext cx="881148" cy="307886"/>
            </a:xfrm>
            <a:custGeom>
              <a:avLst/>
              <a:gdLst/>
              <a:ahLst/>
              <a:cxnLst/>
              <a:rect l="0" t="0" r="0" b="0"/>
              <a:pathLst>
                <a:path w="1387" h="484">
                  <a:moveTo>
                    <a:pt x="0" y="484"/>
                  </a:moveTo>
                  <a:lnTo>
                    <a:pt x="1387" y="484"/>
                  </a:lnTo>
                  <a:lnTo>
                    <a:pt x="1387" y="0"/>
                  </a:lnTo>
                  <a:lnTo>
                    <a:pt x="0" y="0"/>
                  </a:lnTo>
                  <a:lnTo>
                    <a:pt x="0" y="484"/>
                  </a:lnTo>
                  <a:close/>
                </a:path>
              </a:pathLst>
            </a:custGeom>
            <a:solidFill>
              <a:srgbClr val="808080">
                <a:alpha val="100000"/>
              </a:srgbClr>
            </a:solidFill>
            <a:ln cap="flat">
              <a:noFill/>
              <a:prstDash val="solid"/>
              <a:miter lim="0"/>
            </a:ln>
          </p:spPr>
          <p:txBody>
            <a:bodyPr rtlCol="0"/>
            <a:lstStyle/>
            <a:p>
              <a:pPr algn="ctr"/>
              <a:endParaRPr lang="zh-CN" altLang="en-US"/>
            </a:p>
          </p:txBody>
        </p:sp>
        <p:sp>
          <p:nvSpPr>
            <p:cNvPr id="594" name="path"/>
            <p:cNvSpPr/>
            <p:nvPr/>
          </p:nvSpPr>
          <p:spPr>
            <a:xfrm>
              <a:off x="0" y="0"/>
              <a:ext cx="881148" cy="307885"/>
            </a:xfrm>
            <a:custGeom>
              <a:avLst/>
              <a:gdLst/>
              <a:ahLst/>
              <a:cxnLst/>
              <a:rect l="0" t="0" r="0" b="0"/>
              <a:pathLst>
                <a:path w="1387" h="484">
                  <a:moveTo>
                    <a:pt x="0" y="484"/>
                  </a:moveTo>
                  <a:lnTo>
                    <a:pt x="1387" y="484"/>
                  </a:lnTo>
                  <a:lnTo>
                    <a:pt x="1387" y="0"/>
                  </a:lnTo>
                  <a:lnTo>
                    <a:pt x="0" y="0"/>
                  </a:lnTo>
                  <a:lnTo>
                    <a:pt x="0" y="484"/>
                  </a:lnTo>
                  <a:close/>
                </a:path>
              </a:pathLst>
            </a:custGeom>
            <a:solidFill>
              <a:srgbClr val="FFFFFF">
                <a:alpha val="100000"/>
              </a:srgbClr>
            </a:solidFill>
            <a:ln cap="flat">
              <a:noFill/>
              <a:prstDash val="solid"/>
              <a:miter lim="0"/>
            </a:ln>
          </p:spPr>
          <p:txBody>
            <a:bodyPr rtlCol="0"/>
            <a:lstStyle/>
            <a:p>
              <a:pPr algn="ctr"/>
              <a:endParaRPr lang="zh-CN" altLang="en-US"/>
            </a:p>
          </p:txBody>
        </p:sp>
      </p:grpSp>
      <p:grpSp>
        <p:nvGrpSpPr>
          <p:cNvPr id="108" name="group 108"/>
          <p:cNvGrpSpPr/>
          <p:nvPr/>
        </p:nvGrpSpPr>
        <p:grpSpPr>
          <a:xfrm rot="21600000">
            <a:off x="4979479" y="3246944"/>
            <a:ext cx="912492" cy="333321"/>
            <a:chOff x="0" y="0"/>
            <a:chExt cx="912492" cy="333321"/>
          </a:xfrm>
        </p:grpSpPr>
        <p:sp>
          <p:nvSpPr>
            <p:cNvPr id="596" name="path"/>
            <p:cNvSpPr/>
            <p:nvPr/>
          </p:nvSpPr>
          <p:spPr>
            <a:xfrm>
              <a:off x="31343" y="25435"/>
              <a:ext cx="881148" cy="307886"/>
            </a:xfrm>
            <a:custGeom>
              <a:avLst/>
              <a:gdLst/>
              <a:ahLst/>
              <a:cxnLst/>
              <a:rect l="0" t="0" r="0" b="0"/>
              <a:pathLst>
                <a:path w="1387" h="484">
                  <a:moveTo>
                    <a:pt x="0" y="484"/>
                  </a:moveTo>
                  <a:lnTo>
                    <a:pt x="1387" y="484"/>
                  </a:lnTo>
                  <a:lnTo>
                    <a:pt x="1387" y="0"/>
                  </a:lnTo>
                  <a:lnTo>
                    <a:pt x="0" y="0"/>
                  </a:lnTo>
                  <a:lnTo>
                    <a:pt x="0" y="484"/>
                  </a:lnTo>
                  <a:close/>
                </a:path>
              </a:pathLst>
            </a:custGeom>
            <a:solidFill>
              <a:srgbClr val="808080">
                <a:alpha val="100000"/>
              </a:srgbClr>
            </a:solidFill>
            <a:ln cap="flat">
              <a:noFill/>
              <a:prstDash val="solid"/>
              <a:miter lim="0"/>
            </a:ln>
          </p:spPr>
          <p:txBody>
            <a:bodyPr rtlCol="0"/>
            <a:lstStyle/>
            <a:p>
              <a:pPr algn="ctr"/>
              <a:endParaRPr lang="zh-CN" altLang="en-US"/>
            </a:p>
          </p:txBody>
        </p:sp>
        <p:sp>
          <p:nvSpPr>
            <p:cNvPr id="598" name="path"/>
            <p:cNvSpPr/>
            <p:nvPr/>
          </p:nvSpPr>
          <p:spPr>
            <a:xfrm>
              <a:off x="0" y="0"/>
              <a:ext cx="881148" cy="307885"/>
            </a:xfrm>
            <a:custGeom>
              <a:avLst/>
              <a:gdLst/>
              <a:ahLst/>
              <a:cxnLst/>
              <a:rect l="0" t="0" r="0" b="0"/>
              <a:pathLst>
                <a:path w="1387" h="484">
                  <a:moveTo>
                    <a:pt x="0" y="484"/>
                  </a:moveTo>
                  <a:lnTo>
                    <a:pt x="1387" y="484"/>
                  </a:lnTo>
                  <a:lnTo>
                    <a:pt x="1387" y="0"/>
                  </a:lnTo>
                  <a:lnTo>
                    <a:pt x="0" y="0"/>
                  </a:lnTo>
                  <a:lnTo>
                    <a:pt x="0" y="484"/>
                  </a:lnTo>
                  <a:close/>
                </a:path>
              </a:pathLst>
            </a:custGeom>
            <a:solidFill>
              <a:srgbClr val="FFFFFF">
                <a:alpha val="100000"/>
              </a:srgbClr>
            </a:solidFill>
            <a:ln cap="flat">
              <a:noFill/>
              <a:prstDash val="solid"/>
              <a:miter lim="0"/>
            </a:ln>
          </p:spPr>
          <p:txBody>
            <a:bodyPr rtlCol="0"/>
            <a:lstStyle/>
            <a:p>
              <a:pPr algn="ctr"/>
              <a:endParaRPr lang="zh-CN" altLang="en-US"/>
            </a:p>
          </p:txBody>
        </p:sp>
      </p:grpSp>
      <p:sp>
        <p:nvSpPr>
          <p:cNvPr id="60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graphicFrame>
        <p:nvGraphicFramePr>
          <p:cNvPr id="602" name="table 602"/>
          <p:cNvGraphicFramePr>
            <a:graphicFrameLocks noGrp="1"/>
          </p:cNvGraphicFramePr>
          <p:nvPr/>
        </p:nvGraphicFramePr>
        <p:xfrm>
          <a:off x="4973596" y="3242170"/>
          <a:ext cx="892809" cy="316865"/>
        </p:xfrm>
        <a:graphic>
          <a:graphicData uri="http://schemas.openxmlformats.org/drawingml/2006/table">
            <a:tbl>
              <a:tblPr/>
              <a:tblGrid>
                <a:gridCol w="892809"/>
              </a:tblGrid>
              <a:tr h="307340">
                <a:tc>
                  <a:txBody>
                    <a:bodyPr/>
                    <a:lstStyle/>
                    <a:p>
                      <a:pPr algn="l" rtl="0" eaLnBrk="0">
                        <a:lnSpc>
                          <a:spcPct val="107000"/>
                        </a:lnSpc>
                      </a:pPr>
                      <a:endParaRPr lang="en-US" altLang="en-US" sz="500" dirty="0">
                        <a:latin typeface="Arial" panose="020B0604020202020204" pitchFamily="34" charset="0"/>
                        <a:ea typeface="黑体" panose="02010609060101010101" charset="-122"/>
                      </a:endParaRPr>
                    </a:p>
                    <a:p>
                      <a:pPr marL="86360" algn="l" rtl="0" eaLnBrk="0">
                        <a:lnSpc>
                          <a:spcPts val="1235"/>
                        </a:lnSpc>
                        <a:spcBef>
                          <a:spcPts val="5"/>
                        </a:spcBef>
                      </a:pPr>
                      <a:r>
                        <a:rPr sz="1000" kern="0" spc="3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604" name="table 604"/>
          <p:cNvGraphicFramePr>
            <a:graphicFrameLocks noGrp="1"/>
          </p:cNvGraphicFramePr>
          <p:nvPr/>
        </p:nvGraphicFramePr>
        <p:xfrm>
          <a:off x="3356162" y="3242170"/>
          <a:ext cx="892809" cy="316865"/>
        </p:xfrm>
        <a:graphic>
          <a:graphicData uri="http://schemas.openxmlformats.org/drawingml/2006/table">
            <a:tbl>
              <a:tblPr/>
              <a:tblGrid>
                <a:gridCol w="892809"/>
              </a:tblGrid>
              <a:tr h="307340">
                <a:tc>
                  <a:txBody>
                    <a:bodyPr/>
                    <a:lstStyle/>
                    <a:p>
                      <a:pPr algn="l" rtl="0" eaLnBrk="0">
                        <a:lnSpc>
                          <a:spcPct val="107000"/>
                        </a:lnSpc>
                      </a:pPr>
                      <a:endParaRPr lang="en-US" altLang="en-US" sz="500" dirty="0">
                        <a:latin typeface="Arial" panose="020B0604020202020204" pitchFamily="34" charset="0"/>
                        <a:ea typeface="黑体" panose="02010609060101010101" charset="-122"/>
                      </a:endParaRPr>
                    </a:p>
                    <a:p>
                      <a:pPr marL="125730" algn="l" rtl="0" eaLnBrk="0">
                        <a:lnSpc>
                          <a:spcPts val="1235"/>
                        </a:lnSpc>
                        <a:spcBef>
                          <a:spcPts val="5"/>
                        </a:spcBef>
                      </a:pPr>
                      <a:r>
                        <a:rPr sz="1000" kern="0" spc="3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606" name="table 606"/>
          <p:cNvGraphicFramePr>
            <a:graphicFrameLocks noGrp="1"/>
          </p:cNvGraphicFramePr>
          <p:nvPr/>
        </p:nvGraphicFramePr>
        <p:xfrm>
          <a:off x="3356162" y="4686884"/>
          <a:ext cx="892809" cy="316864"/>
        </p:xfrm>
        <a:graphic>
          <a:graphicData uri="http://schemas.openxmlformats.org/drawingml/2006/table">
            <a:tbl>
              <a:tblPr>
                <a:solidFill>
                  <a:srgbClr val="808080"/>
                </a:solidFill>
              </a:tblPr>
              <a:tblGrid>
                <a:gridCol w="892809"/>
              </a:tblGrid>
              <a:tr h="307339">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808080"/>
                    </a:solidFill>
                  </a:tcPr>
                </a:tc>
              </a:tr>
            </a:tbl>
          </a:graphicData>
        </a:graphic>
      </p:graphicFrame>
      <p:graphicFrame>
        <p:nvGraphicFramePr>
          <p:cNvPr id="608" name="table 608"/>
          <p:cNvGraphicFramePr>
            <a:graphicFrameLocks noGrp="1"/>
          </p:cNvGraphicFramePr>
          <p:nvPr/>
        </p:nvGraphicFramePr>
        <p:xfrm>
          <a:off x="4973597" y="4686884"/>
          <a:ext cx="892809" cy="316864"/>
        </p:xfrm>
        <a:graphic>
          <a:graphicData uri="http://schemas.openxmlformats.org/drawingml/2006/table">
            <a:tbl>
              <a:tblPr>
                <a:solidFill>
                  <a:srgbClr val="808080"/>
                </a:solidFill>
              </a:tblPr>
              <a:tblGrid>
                <a:gridCol w="892809"/>
              </a:tblGrid>
              <a:tr h="307339">
                <a:tc>
                  <a:txBody>
                    <a:bodyPr/>
                    <a:lstStyle/>
                    <a:p>
                      <a:pPr algn="l" rtl="0" eaLnBrk="0">
                        <a:lnSpc>
                          <a:spcPct val="100000"/>
                        </a:lnSpc>
                      </a:pPr>
                      <a:endParaRPr lang="en-US" altLang="en-US" sz="1000" dirty="0">
                        <a:latin typeface="Arial" panose="020B0604020202020204" pitchFamily="34" charset="0"/>
                        <a:ea typeface="黑体" panose="02010609060101010101"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808080"/>
                    </a:solidFill>
                  </a:tcPr>
                </a:tc>
              </a:tr>
            </a:tbl>
          </a:graphicData>
        </a:graphic>
      </p:graphicFrame>
      <p:pic>
        <p:nvPicPr>
          <p:cNvPr id="610" name="picture 610"/>
          <p:cNvPicPr>
            <a:picLocks noChangeAspect="1"/>
          </p:cNvPicPr>
          <p:nvPr/>
        </p:nvPicPr>
        <p:blipFill>
          <a:blip r:embed="rId6"/>
          <a:stretch>
            <a:fillRect/>
          </a:stretch>
        </p:blipFill>
        <p:spPr>
          <a:xfrm rot="21600000">
            <a:off x="822960" y="408431"/>
            <a:ext cx="420623" cy="655320"/>
          </a:xfrm>
          <a:prstGeom prst="rect">
            <a:avLst/>
          </a:prstGeom>
        </p:spPr>
      </p:pic>
      <p:sp>
        <p:nvSpPr>
          <p:cNvPr id="612" name="textbox 612"/>
          <p:cNvSpPr/>
          <p:nvPr/>
        </p:nvSpPr>
        <p:spPr>
          <a:xfrm>
            <a:off x="3362045" y="4691657"/>
            <a:ext cx="881380" cy="307975"/>
          </a:xfrm>
          <a:prstGeom prst="rect">
            <a:avLst/>
          </a:prstGeom>
          <a:solidFill>
            <a:srgbClr val="FFFFFF"/>
          </a:solidFill>
        </p:spPr>
        <p:txBody>
          <a:bodyPr vert="horz" wrap="square" lIns="0" tIns="0" rIns="0" bIns="0"/>
          <a:lstStyle/>
          <a:p>
            <a:pPr algn="l" rtl="0" eaLnBrk="0">
              <a:lnSpc>
                <a:spcPct val="101000"/>
              </a:lnSpc>
            </a:pPr>
            <a:endParaRPr lang="en-US" altLang="en-US" sz="500" dirty="0">
              <a:latin typeface="Arial" panose="020B0604020202020204" pitchFamily="34" charset="0"/>
              <a:ea typeface="黑体" panose="02010609060101010101" charset="-122"/>
            </a:endParaRPr>
          </a:p>
          <a:p>
            <a:pPr marL="123825" algn="l" rtl="0" eaLnBrk="0">
              <a:lnSpc>
                <a:spcPts val="1235"/>
              </a:lnSpc>
              <a:spcBef>
                <a:spcPts val="0"/>
              </a:spcBef>
            </a:pPr>
            <a:r>
              <a:rPr sz="1000" kern="0" spc="3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endParaRPr lang="en-US" altLang="en-US" sz="1000" dirty="0">
              <a:latin typeface="Arial" panose="020B0604020202020204" pitchFamily="34" charset="0"/>
              <a:ea typeface="黑体" panose="02010609060101010101" charset="-122"/>
            </a:endParaRPr>
          </a:p>
        </p:txBody>
      </p:sp>
      <p:sp>
        <p:nvSpPr>
          <p:cNvPr id="614" name="textbox 614"/>
          <p:cNvSpPr/>
          <p:nvPr/>
        </p:nvSpPr>
        <p:spPr>
          <a:xfrm>
            <a:off x="4979479" y="4691657"/>
            <a:ext cx="881380" cy="307975"/>
          </a:xfrm>
          <a:prstGeom prst="rect">
            <a:avLst/>
          </a:prstGeom>
          <a:solidFill>
            <a:srgbClr val="FFFFFF"/>
          </a:solidFill>
        </p:spPr>
        <p:txBody>
          <a:bodyPr vert="horz" wrap="square" lIns="0" tIns="0" rIns="0" bIns="0"/>
          <a:lstStyle/>
          <a:p>
            <a:pPr algn="l" rtl="0" eaLnBrk="0">
              <a:lnSpc>
                <a:spcPct val="101000"/>
              </a:lnSpc>
            </a:pPr>
            <a:endParaRPr lang="en-US" altLang="en-US" sz="500" dirty="0">
              <a:latin typeface="Arial" panose="020B0604020202020204" pitchFamily="34" charset="0"/>
              <a:ea typeface="黑体" panose="02010609060101010101" charset="-122"/>
            </a:endParaRPr>
          </a:p>
          <a:p>
            <a:pPr marL="80645" algn="l" rtl="0" eaLnBrk="0">
              <a:lnSpc>
                <a:spcPts val="1235"/>
              </a:lnSpc>
              <a:spcBef>
                <a:spcPts val="0"/>
              </a:spcBef>
            </a:pPr>
            <a:r>
              <a:rPr sz="1000" kern="0" spc="3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a:t>
            </a:r>
            <a:endParaRPr lang="en-US" altLang="en-US" sz="1000" dirty="0">
              <a:latin typeface="Arial" panose="020B0604020202020204" pitchFamily="34" charset="0"/>
              <a:ea typeface="黑体" panose="02010609060101010101" charset="-122"/>
            </a:endParaRPr>
          </a:p>
        </p:txBody>
      </p:sp>
      <p:pic>
        <p:nvPicPr>
          <p:cNvPr id="616" name="picture 616"/>
          <p:cNvPicPr>
            <a:picLocks noChangeAspect="1"/>
          </p:cNvPicPr>
          <p:nvPr/>
        </p:nvPicPr>
        <p:blipFill>
          <a:blip r:embed="rId7"/>
          <a:stretch>
            <a:fillRect/>
          </a:stretch>
        </p:blipFill>
        <p:spPr>
          <a:xfrm rot="21600000">
            <a:off x="7441692" y="4474590"/>
            <a:ext cx="755904" cy="341122"/>
          </a:xfrm>
          <a:prstGeom prst="rect">
            <a:avLst/>
          </a:prstGeom>
        </p:spPr>
      </p:pic>
      <p:sp>
        <p:nvSpPr>
          <p:cNvPr id="618" name="path"/>
          <p:cNvSpPr/>
          <p:nvPr/>
        </p:nvSpPr>
        <p:spPr>
          <a:xfrm>
            <a:off x="7037831" y="2196084"/>
            <a:ext cx="152400" cy="1647444"/>
          </a:xfrm>
          <a:custGeom>
            <a:avLst/>
            <a:gdLst/>
            <a:ahLst/>
            <a:cxnLst/>
            <a:rect l="0" t="0" r="0" b="0"/>
            <a:pathLst>
              <a:path w="240" h="2594">
                <a:moveTo>
                  <a:pt x="21" y="2572"/>
                </a:moveTo>
                <a:lnTo>
                  <a:pt x="218" y="2572"/>
                </a:lnTo>
                <a:lnTo>
                  <a:pt x="218" y="0"/>
                </a:lnTo>
                <a:moveTo>
                  <a:pt x="21" y="0"/>
                </a:moveTo>
                <a:lnTo>
                  <a:pt x="21" y="2572"/>
                </a:lnTo>
              </a:path>
            </a:pathLst>
          </a:custGeom>
          <a:noFill/>
          <a:ln w="27431" cap="flat">
            <a:solidFill>
              <a:srgbClr val="FF0000">
                <a:alpha val="100000"/>
              </a:srgbClr>
            </a:solidFill>
            <a:prstDash val="solid"/>
            <a:miter lim="1000000"/>
          </a:ln>
        </p:spPr>
        <p:txBody>
          <a:bodyPr rtlCol="0"/>
          <a:lstStyle/>
          <a:p>
            <a:pPr algn="ctr"/>
            <a:endParaRPr lang="zh-CN" altLang="en-US"/>
          </a:p>
        </p:txBody>
      </p:sp>
      <p:sp>
        <p:nvSpPr>
          <p:cNvPr id="62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pic>
        <p:nvPicPr>
          <p:cNvPr id="622" name="picture 622"/>
          <p:cNvPicPr>
            <a:picLocks noChangeAspect="1"/>
          </p:cNvPicPr>
          <p:nvPr/>
        </p:nvPicPr>
        <p:blipFill>
          <a:blip r:embed="rId8"/>
          <a:stretch>
            <a:fillRect/>
          </a:stretch>
        </p:blipFill>
        <p:spPr>
          <a:xfrm rot="21600000">
            <a:off x="3810733" y="4242574"/>
            <a:ext cx="2647502" cy="82497"/>
          </a:xfrm>
          <a:prstGeom prst="rect">
            <a:avLst/>
          </a:prstGeom>
        </p:spPr>
      </p:pic>
      <p:sp>
        <p:nvSpPr>
          <p:cNvPr id="624" name="textbox 624"/>
          <p:cNvSpPr/>
          <p:nvPr/>
        </p:nvSpPr>
        <p:spPr>
          <a:xfrm>
            <a:off x="6611178" y="1628984"/>
            <a:ext cx="1391919" cy="182245"/>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1235"/>
              </a:lnSpc>
            </a:pPr>
            <a:r>
              <a:rPr sz="1000" kern="0" spc="34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密钥表的计算逻辑</a:t>
            </a:r>
            <a:endParaRPr lang="en-US" altLang="en-US" sz="1000" dirty="0">
              <a:latin typeface="Arial" panose="020B0604020202020204" pitchFamily="34" charset="0"/>
              <a:ea typeface="黑体" panose="02010609060101010101" charset="-122"/>
            </a:endParaRPr>
          </a:p>
        </p:txBody>
      </p:sp>
      <p:sp>
        <p:nvSpPr>
          <p:cNvPr id="626" name="textbox 626"/>
          <p:cNvSpPr/>
          <p:nvPr/>
        </p:nvSpPr>
        <p:spPr>
          <a:xfrm>
            <a:off x="7652648" y="4108704"/>
            <a:ext cx="518159" cy="368934"/>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marL="50165" algn="l" rtl="0" eaLnBrk="0">
              <a:lnSpc>
                <a:spcPct val="98000"/>
              </a:lnSpc>
            </a:pPr>
            <a:r>
              <a:rPr sz="1200" i="1" kern="0" spc="1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200" kern="0" spc="110" baseline="-4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200" baseline="-4000" dirty="0">
              <a:latin typeface="Arial" panose="020B0604020202020204" pitchFamily="34" charset="0"/>
              <a:ea typeface="黑体" panose="02010609060101010101" charset="-122"/>
            </a:endParaRPr>
          </a:p>
          <a:p>
            <a:pPr marL="12700" algn="l" rtl="0" eaLnBrk="0">
              <a:lnSpc>
                <a:spcPct val="100000"/>
              </a:lnSpc>
              <a:spcBef>
                <a:spcPts val="95"/>
              </a:spcBef>
            </a:pPr>
            <a:r>
              <a:rPr sz="1000" kern="0" spc="150" dirty="0">
                <a:solidFill>
                  <a:srgbClr val="000000">
                    <a:alpha val="100000"/>
                  </a:srgbClr>
                </a:solidFill>
                <a:latin typeface="Arial" panose="020B0604020202020204" pitchFamily="34" charset="0"/>
                <a:ea typeface="黑体" panose="02010609060101010101" charset="-122"/>
                <a:cs typeface="Times New Roman" panose="02020603050405020304"/>
              </a:rPr>
              <a:t>(48</a:t>
            </a:r>
            <a:r>
              <a:rPr sz="1000" kern="0" spc="1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000" kern="0" spc="15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位</a:t>
            </a:r>
            <a:r>
              <a:rPr sz="1000" kern="0" spc="15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1000" dirty="0">
              <a:latin typeface="Arial" panose="020B0604020202020204" pitchFamily="34" charset="0"/>
              <a:ea typeface="黑体" panose="02010609060101010101" charset="-122"/>
            </a:endParaRPr>
          </a:p>
        </p:txBody>
      </p:sp>
      <p:sp>
        <p:nvSpPr>
          <p:cNvPr id="628" name="textbox 628"/>
          <p:cNvSpPr/>
          <p:nvPr/>
        </p:nvSpPr>
        <p:spPr>
          <a:xfrm>
            <a:off x="7052623" y="2209829"/>
            <a:ext cx="109220" cy="1595119"/>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marL="28575" algn="l" rtl="0" eaLnBrk="0">
              <a:lnSpc>
                <a:spcPct val="82000"/>
              </a:lnSpc>
            </a:pPr>
            <a:r>
              <a:rPr sz="1000"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000" dirty="0">
              <a:latin typeface="Arial" panose="020B0604020202020204" pitchFamily="34" charset="0"/>
              <a:ea typeface="黑体" panose="02010609060101010101" charset="-122"/>
            </a:endParaRPr>
          </a:p>
          <a:p>
            <a:pPr marL="28575" algn="l" rtl="0" eaLnBrk="0">
              <a:lnSpc>
                <a:spcPct val="82000"/>
              </a:lnSpc>
              <a:spcBef>
                <a:spcPts val="645"/>
              </a:spcBef>
            </a:pPr>
            <a:r>
              <a:rPr sz="1000"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000" dirty="0">
              <a:latin typeface="Arial" panose="020B0604020202020204" pitchFamily="34" charset="0"/>
              <a:ea typeface="黑体" panose="02010609060101010101" charset="-122"/>
            </a:endParaRPr>
          </a:p>
          <a:p>
            <a:pPr marL="12700"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2700"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2700"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2700"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2700" algn="l" rtl="0" eaLnBrk="0">
              <a:lnSpc>
                <a:spcPct val="82000"/>
              </a:lnSpc>
              <a:spcBef>
                <a:spcPts val="64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algn="l" rtl="0" eaLnBrk="0">
              <a:lnSpc>
                <a:spcPct val="107000"/>
              </a:lnSpc>
            </a:pPr>
            <a:endParaRPr lang="en-US" altLang="en-US" sz="500" dirty="0">
              <a:latin typeface="Arial" panose="020B0604020202020204" pitchFamily="34" charset="0"/>
              <a:ea typeface="黑体" panose="02010609060101010101" charset="-122"/>
            </a:endParaRPr>
          </a:p>
          <a:p>
            <a:pPr marL="13335" algn="l" rtl="0" eaLnBrk="0">
              <a:lnSpc>
                <a:spcPct val="82000"/>
              </a:lnSpc>
              <a:spcBef>
                <a:spcPts val="0"/>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p:txBody>
      </p:sp>
      <p:sp>
        <p:nvSpPr>
          <p:cNvPr id="630" name="textbox 630"/>
          <p:cNvSpPr/>
          <p:nvPr/>
        </p:nvSpPr>
        <p:spPr>
          <a:xfrm>
            <a:off x="6708371" y="2209829"/>
            <a:ext cx="108585" cy="1595119"/>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marL="29845" algn="l" rtl="0" eaLnBrk="0">
              <a:lnSpc>
                <a:spcPct val="82000"/>
              </a:lnSpc>
            </a:pPr>
            <a:r>
              <a:rPr sz="1000"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000" dirty="0">
              <a:latin typeface="Arial" panose="020B0604020202020204" pitchFamily="34" charset="0"/>
              <a:ea typeface="黑体" panose="02010609060101010101" charset="-122"/>
            </a:endParaRPr>
          </a:p>
          <a:p>
            <a:pPr marL="13335" algn="l" rtl="0" eaLnBrk="0">
              <a:lnSpc>
                <a:spcPct val="82000"/>
              </a:lnSpc>
              <a:spcBef>
                <a:spcPts val="645"/>
              </a:spcBef>
            </a:pPr>
            <a:r>
              <a:rPr sz="10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1000" dirty="0">
              <a:latin typeface="Arial" panose="020B0604020202020204" pitchFamily="34" charset="0"/>
              <a:ea typeface="黑体" panose="02010609060101010101" charset="-122"/>
            </a:endParaRPr>
          </a:p>
          <a:p>
            <a:pPr marL="16510" algn="l" rtl="0" eaLnBrk="0">
              <a:lnSpc>
                <a:spcPct val="82000"/>
              </a:lnSpc>
              <a:spcBef>
                <a:spcPts val="640"/>
              </a:spcBef>
            </a:pPr>
            <a:r>
              <a:rPr sz="10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1000" dirty="0">
              <a:latin typeface="Arial" panose="020B0604020202020204" pitchFamily="34" charset="0"/>
              <a:ea typeface="黑体" panose="02010609060101010101" charset="-122"/>
            </a:endParaRPr>
          </a:p>
          <a:p>
            <a:pPr marL="12700" algn="l" rtl="0" eaLnBrk="0">
              <a:lnSpc>
                <a:spcPct val="82000"/>
              </a:lnSpc>
              <a:spcBef>
                <a:spcPts val="640"/>
              </a:spcBef>
            </a:pPr>
            <a:r>
              <a:rPr sz="1000" kern="0" spc="14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1000" dirty="0">
              <a:latin typeface="Arial" panose="020B0604020202020204" pitchFamily="34" charset="0"/>
              <a:ea typeface="黑体" panose="02010609060101010101" charset="-122"/>
            </a:endParaRPr>
          </a:p>
          <a:p>
            <a:pPr marL="17780" algn="l" rtl="0" eaLnBrk="0">
              <a:lnSpc>
                <a:spcPct val="81000"/>
              </a:lnSpc>
              <a:spcBef>
                <a:spcPts val="655"/>
              </a:spcBef>
            </a:pPr>
            <a:r>
              <a:rPr sz="10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1000" dirty="0">
              <a:latin typeface="Arial" panose="020B0604020202020204" pitchFamily="34" charset="0"/>
              <a:ea typeface="黑体" panose="02010609060101010101" charset="-122"/>
            </a:endParaRPr>
          </a:p>
          <a:p>
            <a:pPr marL="17145" algn="l" rtl="0" eaLnBrk="0">
              <a:lnSpc>
                <a:spcPct val="82000"/>
              </a:lnSpc>
              <a:spcBef>
                <a:spcPts val="640"/>
              </a:spcBef>
            </a:pPr>
            <a:r>
              <a:rPr sz="1000" kern="0" spc="100" dirty="0">
                <a:solidFill>
                  <a:srgbClr val="000000">
                    <a:alpha val="100000"/>
                  </a:srgbClr>
                </a:solidFill>
                <a:latin typeface="Arial" panose="020B0604020202020204" pitchFamily="34" charset="0"/>
                <a:ea typeface="黑体" panose="02010609060101010101" charset="-122"/>
                <a:cs typeface="Times New Roman" panose="02020603050405020304"/>
              </a:rPr>
              <a:t>6</a:t>
            </a:r>
            <a:endParaRPr lang="en-US" altLang="en-US" sz="1000" dirty="0">
              <a:latin typeface="Arial" panose="020B0604020202020204" pitchFamily="34" charset="0"/>
              <a:ea typeface="黑体" panose="02010609060101010101" charset="-122"/>
            </a:endParaRPr>
          </a:p>
          <a:p>
            <a:pPr marL="15875" algn="l" rtl="0" eaLnBrk="0">
              <a:lnSpc>
                <a:spcPct val="81000"/>
              </a:lnSpc>
              <a:spcBef>
                <a:spcPts val="650"/>
              </a:spcBef>
            </a:pPr>
            <a:r>
              <a:rPr sz="1000" kern="0" spc="110" dirty="0">
                <a:solidFill>
                  <a:srgbClr val="000000">
                    <a:alpha val="100000"/>
                  </a:srgbClr>
                </a:solidFill>
                <a:latin typeface="Arial" panose="020B0604020202020204" pitchFamily="34" charset="0"/>
                <a:ea typeface="黑体" panose="02010609060101010101" charset="-122"/>
                <a:cs typeface="Times New Roman" panose="02020603050405020304"/>
              </a:rPr>
              <a:t>7</a:t>
            </a:r>
            <a:endParaRPr lang="en-US" altLang="en-US" sz="1000" dirty="0">
              <a:latin typeface="Arial" panose="020B0604020202020204" pitchFamily="34" charset="0"/>
              <a:ea typeface="黑体" panose="02010609060101010101" charset="-122"/>
            </a:endParaRPr>
          </a:p>
          <a:p>
            <a:pPr algn="l" rtl="0" eaLnBrk="0">
              <a:lnSpc>
                <a:spcPct val="107000"/>
              </a:lnSpc>
            </a:pPr>
            <a:endParaRPr lang="en-US" altLang="en-US" sz="500" dirty="0">
              <a:latin typeface="Arial" panose="020B0604020202020204" pitchFamily="34" charset="0"/>
              <a:ea typeface="黑体" panose="02010609060101010101" charset="-122"/>
            </a:endParaRPr>
          </a:p>
          <a:p>
            <a:pPr marL="20320" algn="l" rtl="0" eaLnBrk="0">
              <a:lnSpc>
                <a:spcPct val="82000"/>
              </a:lnSpc>
              <a:spcBef>
                <a:spcPts val="0"/>
              </a:spcBef>
            </a:pPr>
            <a:r>
              <a:rPr sz="1000" kern="0" spc="8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1000" dirty="0">
              <a:latin typeface="Arial" panose="020B0604020202020204" pitchFamily="34" charset="0"/>
              <a:ea typeface="黑体" panose="02010609060101010101" charset="-122"/>
            </a:endParaRPr>
          </a:p>
        </p:txBody>
      </p:sp>
      <p:sp>
        <p:nvSpPr>
          <p:cNvPr id="632" name="rect"/>
          <p:cNvSpPr/>
          <p:nvPr/>
        </p:nvSpPr>
        <p:spPr>
          <a:xfrm>
            <a:off x="3398519" y="1182624"/>
            <a:ext cx="18288" cy="1371600"/>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634" name="picture 634"/>
          <p:cNvPicPr>
            <a:picLocks noChangeAspect="1"/>
          </p:cNvPicPr>
          <p:nvPr/>
        </p:nvPicPr>
        <p:blipFill>
          <a:blip r:embed="rId9"/>
          <a:stretch>
            <a:fillRect/>
          </a:stretch>
        </p:blipFill>
        <p:spPr>
          <a:xfrm rot="21600000">
            <a:off x="3409188" y="2203704"/>
            <a:ext cx="688847" cy="118871"/>
          </a:xfrm>
          <a:prstGeom prst="rect">
            <a:avLst/>
          </a:prstGeom>
        </p:spPr>
      </p:pic>
      <p:pic>
        <p:nvPicPr>
          <p:cNvPr id="636" name="picture 636"/>
          <p:cNvPicPr>
            <a:picLocks noChangeAspect="1"/>
          </p:cNvPicPr>
          <p:nvPr/>
        </p:nvPicPr>
        <p:blipFill>
          <a:blip r:embed="rId10"/>
          <a:stretch>
            <a:fillRect/>
          </a:stretch>
        </p:blipFill>
        <p:spPr>
          <a:xfrm rot="21600000">
            <a:off x="7480239" y="4242574"/>
            <a:ext cx="591468" cy="82497"/>
          </a:xfrm>
          <a:prstGeom prst="rect">
            <a:avLst/>
          </a:prstGeom>
        </p:spPr>
      </p:pic>
      <p:sp>
        <p:nvSpPr>
          <p:cNvPr id="638" name="rect"/>
          <p:cNvSpPr/>
          <p:nvPr/>
        </p:nvSpPr>
        <p:spPr>
          <a:xfrm>
            <a:off x="4525150" y="2421706"/>
            <a:ext cx="23530" cy="101609"/>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640" name="rect"/>
          <p:cNvSpPr/>
          <p:nvPr/>
        </p:nvSpPr>
        <p:spPr>
          <a:xfrm>
            <a:off x="3804641" y="2513768"/>
            <a:ext cx="1613487" cy="19094"/>
          </a:xfrm>
          <a:prstGeom prst="rect">
            <a:avLst/>
          </a:prstGeom>
          <a:solidFill>
            <a:srgbClr val="000000">
              <a:alpha val="100000"/>
            </a:srgbClr>
          </a:solidFill>
          <a:ln cap="flat">
            <a:noFill/>
            <a:prstDash val="solid"/>
            <a:miter lim="0"/>
          </a:ln>
        </p:spPr>
        <p:txBody>
          <a:bodyPr rtlCol="0"/>
          <a:lstStyle/>
          <a:p>
            <a:pPr algn="ctr"/>
            <a:endParaRPr lang="zh-CN" altLang="en-US"/>
          </a:p>
        </p:txBody>
      </p:sp>
      <p:pic>
        <p:nvPicPr>
          <p:cNvPr id="642" name="picture 642"/>
          <p:cNvPicPr>
            <a:picLocks noChangeAspect="1"/>
          </p:cNvPicPr>
          <p:nvPr/>
        </p:nvPicPr>
        <p:blipFill>
          <a:blip r:embed="rId11"/>
          <a:stretch>
            <a:fillRect/>
          </a:stretch>
        </p:blipFill>
        <p:spPr>
          <a:xfrm rot="21600000">
            <a:off x="5377124" y="3559773"/>
            <a:ext cx="102148" cy="209937"/>
          </a:xfrm>
          <a:prstGeom prst="rect">
            <a:avLst/>
          </a:prstGeom>
        </p:spPr>
      </p:pic>
      <p:pic>
        <p:nvPicPr>
          <p:cNvPr id="644" name="picture 644"/>
          <p:cNvPicPr>
            <a:picLocks noChangeAspect="1"/>
          </p:cNvPicPr>
          <p:nvPr/>
        </p:nvPicPr>
        <p:blipFill>
          <a:blip r:embed="rId12"/>
          <a:stretch>
            <a:fillRect/>
          </a:stretch>
        </p:blipFill>
        <p:spPr>
          <a:xfrm rot="21600000">
            <a:off x="5377124" y="2531158"/>
            <a:ext cx="102148" cy="209937"/>
          </a:xfrm>
          <a:prstGeom prst="rect">
            <a:avLst/>
          </a:prstGeom>
        </p:spPr>
      </p:pic>
      <p:pic>
        <p:nvPicPr>
          <p:cNvPr id="646" name="picture 646"/>
          <p:cNvPicPr>
            <a:picLocks noChangeAspect="1"/>
          </p:cNvPicPr>
          <p:nvPr/>
        </p:nvPicPr>
        <p:blipFill>
          <a:blip r:embed="rId13"/>
          <a:stretch>
            <a:fillRect/>
          </a:stretch>
        </p:blipFill>
        <p:spPr>
          <a:xfrm rot="21600000">
            <a:off x="5377124" y="4490073"/>
            <a:ext cx="102148" cy="209805"/>
          </a:xfrm>
          <a:prstGeom prst="rect">
            <a:avLst/>
          </a:prstGeom>
        </p:spPr>
      </p:pic>
      <p:pic>
        <p:nvPicPr>
          <p:cNvPr id="648" name="picture 648"/>
          <p:cNvPicPr>
            <a:picLocks noChangeAspect="1"/>
          </p:cNvPicPr>
          <p:nvPr/>
        </p:nvPicPr>
        <p:blipFill>
          <a:blip r:embed="rId14"/>
          <a:stretch>
            <a:fillRect/>
          </a:stretch>
        </p:blipFill>
        <p:spPr>
          <a:xfrm rot="21600000">
            <a:off x="4495943" y="1909113"/>
            <a:ext cx="102229" cy="209542"/>
          </a:xfrm>
          <a:prstGeom prst="rect">
            <a:avLst/>
          </a:prstGeom>
        </p:spPr>
      </p:pic>
      <p:pic>
        <p:nvPicPr>
          <p:cNvPr id="650" name="picture 650"/>
          <p:cNvPicPr>
            <a:picLocks noChangeAspect="1"/>
          </p:cNvPicPr>
          <p:nvPr/>
        </p:nvPicPr>
        <p:blipFill>
          <a:blip r:embed="rId15"/>
          <a:stretch>
            <a:fillRect/>
          </a:stretch>
        </p:blipFill>
        <p:spPr>
          <a:xfrm rot="21600000">
            <a:off x="5377124" y="3045664"/>
            <a:ext cx="102148" cy="209541"/>
          </a:xfrm>
          <a:prstGeom prst="rect">
            <a:avLst/>
          </a:prstGeom>
        </p:spPr>
      </p:pic>
      <p:pic>
        <p:nvPicPr>
          <p:cNvPr id="652" name="picture 652"/>
          <p:cNvPicPr>
            <a:picLocks noChangeAspect="1"/>
          </p:cNvPicPr>
          <p:nvPr/>
        </p:nvPicPr>
        <p:blipFill>
          <a:blip r:embed="rId16"/>
          <a:stretch>
            <a:fillRect/>
          </a:stretch>
        </p:blipFill>
        <p:spPr>
          <a:xfrm rot="21600000">
            <a:off x="5377124" y="5004500"/>
            <a:ext cx="102148" cy="209529"/>
          </a:xfrm>
          <a:prstGeom prst="rect">
            <a:avLst/>
          </a:prstGeom>
        </p:spPr>
      </p:pic>
      <p:pic>
        <p:nvPicPr>
          <p:cNvPr id="654" name="picture 654"/>
          <p:cNvPicPr>
            <a:picLocks noChangeAspect="1"/>
          </p:cNvPicPr>
          <p:nvPr/>
        </p:nvPicPr>
        <p:blipFill>
          <a:blip r:embed="rId17"/>
          <a:stretch>
            <a:fillRect/>
          </a:stretch>
        </p:blipFill>
        <p:spPr>
          <a:xfrm rot="21600000">
            <a:off x="3760030" y="2531158"/>
            <a:ext cx="101823" cy="209937"/>
          </a:xfrm>
          <a:prstGeom prst="rect">
            <a:avLst/>
          </a:prstGeom>
        </p:spPr>
      </p:pic>
      <p:pic>
        <p:nvPicPr>
          <p:cNvPr id="656" name="picture 656"/>
          <p:cNvPicPr>
            <a:picLocks noChangeAspect="1"/>
          </p:cNvPicPr>
          <p:nvPr/>
        </p:nvPicPr>
        <p:blipFill>
          <a:blip r:embed="rId18"/>
          <a:stretch>
            <a:fillRect/>
          </a:stretch>
        </p:blipFill>
        <p:spPr>
          <a:xfrm rot="21600000">
            <a:off x="3760031" y="3559773"/>
            <a:ext cx="101823" cy="209937"/>
          </a:xfrm>
          <a:prstGeom prst="rect">
            <a:avLst/>
          </a:prstGeom>
        </p:spPr>
      </p:pic>
      <p:pic>
        <p:nvPicPr>
          <p:cNvPr id="658" name="picture 658"/>
          <p:cNvPicPr>
            <a:picLocks noChangeAspect="1"/>
          </p:cNvPicPr>
          <p:nvPr/>
        </p:nvPicPr>
        <p:blipFill>
          <a:blip r:embed="rId19"/>
          <a:stretch>
            <a:fillRect/>
          </a:stretch>
        </p:blipFill>
        <p:spPr>
          <a:xfrm rot="21600000">
            <a:off x="3760031" y="4490073"/>
            <a:ext cx="101823" cy="209805"/>
          </a:xfrm>
          <a:prstGeom prst="rect">
            <a:avLst/>
          </a:prstGeom>
        </p:spPr>
      </p:pic>
      <p:pic>
        <p:nvPicPr>
          <p:cNvPr id="660" name="picture 660"/>
          <p:cNvPicPr>
            <a:picLocks noChangeAspect="1"/>
          </p:cNvPicPr>
          <p:nvPr/>
        </p:nvPicPr>
        <p:blipFill>
          <a:blip r:embed="rId20"/>
          <a:stretch>
            <a:fillRect/>
          </a:stretch>
        </p:blipFill>
        <p:spPr>
          <a:xfrm rot="21600000">
            <a:off x="3760031" y="3045664"/>
            <a:ext cx="101823" cy="209541"/>
          </a:xfrm>
          <a:prstGeom prst="rect">
            <a:avLst/>
          </a:prstGeom>
        </p:spPr>
      </p:pic>
      <p:pic>
        <p:nvPicPr>
          <p:cNvPr id="662" name="picture 662"/>
          <p:cNvPicPr>
            <a:picLocks noChangeAspect="1"/>
          </p:cNvPicPr>
          <p:nvPr/>
        </p:nvPicPr>
        <p:blipFill>
          <a:blip r:embed="rId21"/>
          <a:stretch>
            <a:fillRect/>
          </a:stretch>
        </p:blipFill>
        <p:spPr>
          <a:xfrm rot="21600000">
            <a:off x="3760031" y="5004500"/>
            <a:ext cx="101823" cy="20952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4" name="table 664"/>
          <p:cNvGraphicFramePr>
            <a:graphicFrameLocks noGrp="1"/>
          </p:cNvGraphicFramePr>
          <p:nvPr>
            <p:custDataLst>
              <p:tags r:id="rId1"/>
            </p:custDataLst>
          </p:nvPr>
        </p:nvGraphicFramePr>
        <p:xfrm>
          <a:off x="1467485" y="1144905"/>
          <a:ext cx="3733800" cy="3304540"/>
        </p:xfrm>
        <a:graphic>
          <a:graphicData uri="http://schemas.openxmlformats.org/drawingml/2006/table">
            <a:tbl>
              <a:tblPr/>
              <a:tblGrid>
                <a:gridCol w="3733800"/>
              </a:tblGrid>
              <a:tr h="372109">
                <a:tc>
                  <a:txBody>
                    <a:bodyPr/>
                    <a:lstStyle/>
                    <a:p>
                      <a:pPr algn="l" rtl="0" eaLnBrk="0">
                        <a:lnSpc>
                          <a:spcPct val="104000"/>
                        </a:lnSpc>
                      </a:pPr>
                      <a:endParaRPr lang="en-US" altLang="en-US" sz="600" dirty="0">
                        <a:latin typeface="Arial" panose="020B0604020202020204" pitchFamily="34" charset="0"/>
                        <a:ea typeface="黑体" panose="02010609060101010101" charset="-122"/>
                      </a:endParaRPr>
                    </a:p>
                    <a:p>
                      <a:pPr marL="1305560" algn="l" rtl="0" eaLnBrk="0">
                        <a:lnSpc>
                          <a:spcPct val="74000"/>
                        </a:lnSpc>
                      </a:pP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PC</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32429">
                <a:tc>
                  <a:txBody>
                    <a:bodyPr/>
                    <a:lstStyle/>
                    <a:p>
                      <a:pPr algn="l" rtl="0" eaLnBrk="0">
                        <a:lnSpc>
                          <a:spcPct val="119000"/>
                        </a:lnSpc>
                      </a:pPr>
                      <a:endParaRPr lang="en-US" altLang="en-US" sz="500" dirty="0">
                        <a:latin typeface="Arial" panose="020B0604020202020204" pitchFamily="34" charset="0"/>
                        <a:ea typeface="黑体" panose="02010609060101010101" charset="-122"/>
                      </a:endParaRPr>
                    </a:p>
                    <a:p>
                      <a:pPr marL="85090" algn="l" rtl="0" eaLnBrk="0">
                        <a:lnSpc>
                          <a:spcPct val="76000"/>
                        </a:lnSpc>
                        <a:spcBef>
                          <a:spcPts val="5"/>
                        </a:spcBef>
                      </a:pP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57  49</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41</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33</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25</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17</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9</a:t>
                      </a:r>
                      <a:endParaRPr lang="en-US" altLang="en-US" sz="2400" dirty="0">
                        <a:latin typeface="Arial" panose="020B0604020202020204" pitchFamily="34" charset="0"/>
                        <a:ea typeface="黑体" panose="02010609060101010101" charset="-122"/>
                      </a:endParaRPr>
                    </a:p>
                    <a:p>
                      <a:pPr marL="171450" algn="l" rtl="0" eaLnBrk="0">
                        <a:lnSpc>
                          <a:spcPct val="76000"/>
                        </a:lnSpc>
                        <a:spcBef>
                          <a:spcPts val="695"/>
                        </a:spcBef>
                      </a:pP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1  58</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50</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42</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34</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26</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18</a:t>
                      </a:r>
                      <a:endParaRPr lang="en-US" altLang="en-US" sz="2400" dirty="0">
                        <a:latin typeface="Arial" panose="020B0604020202020204" pitchFamily="34" charset="0"/>
                        <a:ea typeface="黑体" panose="02010609060101010101" charset="-122"/>
                      </a:endParaRPr>
                    </a:p>
                    <a:p>
                      <a:pPr marL="95250" algn="l" rtl="0" eaLnBrk="0">
                        <a:lnSpc>
                          <a:spcPct val="76000"/>
                        </a:lnSpc>
                        <a:spcBef>
                          <a:spcPts val="690"/>
                        </a:spcBef>
                      </a:pP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10   2</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59</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51</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43</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35</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27</a:t>
                      </a:r>
                      <a:endParaRPr lang="en-US" altLang="en-US" sz="2400" dirty="0">
                        <a:latin typeface="Arial" panose="020B0604020202020204" pitchFamily="34" charset="0"/>
                        <a:ea typeface="黑体" panose="02010609060101010101" charset="-122"/>
                      </a:endParaRPr>
                    </a:p>
                    <a:p>
                      <a:pPr marL="95250" algn="l" rtl="0" eaLnBrk="0">
                        <a:lnSpc>
                          <a:spcPct val="76000"/>
                        </a:lnSpc>
                        <a:spcBef>
                          <a:spcPts val="695"/>
                        </a:spcBef>
                      </a:pP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19</a:t>
                      </a:r>
                      <a:r>
                        <a:rPr sz="2400" b="1" kern="0" spc="1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11   3</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60</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52</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44</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36</a:t>
                      </a:r>
                      <a:endParaRPr lang="en-US" altLang="en-US" sz="2400" dirty="0">
                        <a:latin typeface="Arial" panose="020B0604020202020204" pitchFamily="34" charset="0"/>
                        <a:ea typeface="黑体" panose="02010609060101010101" charset="-122"/>
                      </a:endParaRPr>
                    </a:p>
                    <a:p>
                      <a:pPr marL="86360" algn="l" rtl="0" eaLnBrk="0">
                        <a:lnSpc>
                          <a:spcPct val="76000"/>
                        </a:lnSpc>
                        <a:spcBef>
                          <a:spcPts val="690"/>
                        </a:spcBef>
                      </a:pP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63  55</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47</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39</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23</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15</a:t>
                      </a:r>
                      <a:endParaRPr lang="en-US" altLang="en-US" sz="2400" dirty="0">
                        <a:latin typeface="Arial" panose="020B0604020202020204" pitchFamily="34" charset="0"/>
                        <a:ea typeface="黑体" panose="02010609060101010101" charset="-122"/>
                      </a:endParaRPr>
                    </a:p>
                    <a:p>
                      <a:pPr marL="161290" algn="l" rtl="0" eaLnBrk="0">
                        <a:lnSpc>
                          <a:spcPct val="76000"/>
                        </a:lnSpc>
                        <a:spcBef>
                          <a:spcPts val="695"/>
                        </a:spcBef>
                      </a:pP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7  62</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54</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46</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38</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30</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22</a:t>
                      </a:r>
                      <a:endParaRPr lang="en-US" altLang="en-US" sz="2400" dirty="0">
                        <a:latin typeface="Arial" panose="020B0604020202020204" pitchFamily="34" charset="0"/>
                        <a:ea typeface="黑体" panose="02010609060101010101" charset="-122"/>
                      </a:endParaRPr>
                    </a:p>
                    <a:p>
                      <a:pPr marL="95250" algn="l" rtl="0" eaLnBrk="0">
                        <a:lnSpc>
                          <a:spcPct val="76000"/>
                        </a:lnSpc>
                        <a:spcBef>
                          <a:spcPts val="690"/>
                        </a:spcBef>
                      </a:pP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14   6</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61</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53</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45</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37</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29</a:t>
                      </a:r>
                      <a:endParaRPr lang="en-US" altLang="en-US" sz="2400" dirty="0">
                        <a:latin typeface="Arial" panose="020B0604020202020204" pitchFamily="34" charset="0"/>
                        <a:ea typeface="黑体" panose="02010609060101010101" charset="-122"/>
                      </a:endParaRPr>
                    </a:p>
                    <a:p>
                      <a:pPr marL="82550" algn="l" rtl="0" eaLnBrk="0">
                        <a:lnSpc>
                          <a:spcPct val="75000"/>
                        </a:lnSpc>
                        <a:spcBef>
                          <a:spcPts val="685"/>
                        </a:spcBef>
                      </a:pP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21</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13</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5  28</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20</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4</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66" name="table 666"/>
          <p:cNvGraphicFramePr>
            <a:graphicFrameLocks noGrp="1"/>
          </p:cNvGraphicFramePr>
          <p:nvPr/>
        </p:nvGraphicFramePr>
        <p:xfrm>
          <a:off x="6819900" y="1144905"/>
          <a:ext cx="4122420" cy="3304540"/>
        </p:xfrm>
        <a:graphic>
          <a:graphicData uri="http://schemas.openxmlformats.org/drawingml/2006/table">
            <a:tbl>
              <a:tblPr/>
              <a:tblGrid>
                <a:gridCol w="4122420"/>
              </a:tblGrid>
              <a:tr h="372110">
                <a:tc>
                  <a:txBody>
                    <a:bodyPr/>
                    <a:lstStyle/>
                    <a:p>
                      <a:pPr algn="l" rtl="0" eaLnBrk="0">
                        <a:lnSpc>
                          <a:spcPct val="104000"/>
                        </a:lnSpc>
                      </a:pPr>
                      <a:endParaRPr lang="en-US" altLang="en-US" sz="600" dirty="0">
                        <a:latin typeface="Arial" panose="020B0604020202020204" pitchFamily="34" charset="0"/>
                        <a:ea typeface="黑体" panose="02010609060101010101" charset="-122"/>
                      </a:endParaRPr>
                    </a:p>
                    <a:p>
                      <a:pPr marL="1111885" algn="l" rtl="0" eaLnBrk="0">
                        <a:lnSpc>
                          <a:spcPct val="74000"/>
                        </a:lnSpc>
                      </a:pP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PC-2</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32429">
                <a:tc>
                  <a:txBody>
                    <a:bodyPr/>
                    <a:lstStyle/>
                    <a:p>
                      <a:pPr algn="l" rtl="0" eaLnBrk="0">
                        <a:lnSpc>
                          <a:spcPct val="100000"/>
                        </a:lnSpc>
                      </a:pPr>
                      <a:endParaRPr lang="en-US" altLang="en-US" sz="600" dirty="0">
                        <a:latin typeface="Arial" panose="020B0604020202020204" pitchFamily="34" charset="0"/>
                        <a:ea typeface="黑体" panose="02010609060101010101" charset="-122"/>
                      </a:endParaRPr>
                    </a:p>
                    <a:p>
                      <a:pPr marL="96520" algn="l" rtl="0" eaLnBrk="0">
                        <a:lnSpc>
                          <a:spcPct val="76000"/>
                        </a:lnSpc>
                        <a:spcBef>
                          <a:spcPts val="0"/>
                        </a:spcBef>
                      </a:pP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2400" b="1"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17</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24</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5</a:t>
                      </a:r>
                      <a:endParaRPr lang="en-US" altLang="en-US" sz="2400" dirty="0">
                        <a:latin typeface="Arial" panose="020B0604020202020204" pitchFamily="34" charset="0"/>
                        <a:ea typeface="黑体" panose="02010609060101010101" charset="-122"/>
                      </a:endParaRPr>
                    </a:p>
                    <a:p>
                      <a:pPr marL="157480" algn="l" rtl="0" eaLnBrk="0">
                        <a:lnSpc>
                          <a:spcPct val="76000"/>
                        </a:lnSpc>
                        <a:spcBef>
                          <a:spcPts val="690"/>
                        </a:spcBef>
                      </a:pP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3  28</a:t>
                      </a:r>
                      <a:r>
                        <a:rPr sz="2400" b="1"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21</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10</a:t>
                      </a:r>
                      <a:endParaRPr lang="en-US" altLang="en-US" sz="2400" dirty="0">
                        <a:latin typeface="Arial" panose="020B0604020202020204" pitchFamily="34" charset="0"/>
                        <a:ea typeface="黑体" panose="02010609060101010101" charset="-122"/>
                      </a:endParaRPr>
                    </a:p>
                    <a:p>
                      <a:pPr marL="83820" algn="l" rtl="0" eaLnBrk="0">
                        <a:lnSpc>
                          <a:spcPct val="76000"/>
                        </a:lnSpc>
                        <a:spcBef>
                          <a:spcPts val="690"/>
                        </a:spcBef>
                      </a:pP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23</a:t>
                      </a:r>
                      <a:r>
                        <a:rPr sz="24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19</a:t>
                      </a:r>
                      <a:r>
                        <a:rPr sz="2400" b="1" kern="0" spc="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4  26</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8</a:t>
                      </a:r>
                      <a:endParaRPr lang="en-US" altLang="en-US" sz="2400" dirty="0">
                        <a:latin typeface="Arial" panose="020B0604020202020204" pitchFamily="34" charset="0"/>
                        <a:ea typeface="黑体" panose="02010609060101010101" charset="-122"/>
                      </a:endParaRPr>
                    </a:p>
                    <a:p>
                      <a:pPr marL="96520" algn="l" rtl="0" eaLnBrk="0">
                        <a:lnSpc>
                          <a:spcPct val="76000"/>
                        </a:lnSpc>
                        <a:spcBef>
                          <a:spcPts val="695"/>
                        </a:spcBef>
                      </a:pP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7  27</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20</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13</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dirty="0">
                        <a:latin typeface="Arial" panose="020B0604020202020204" pitchFamily="34" charset="0"/>
                        <a:ea typeface="黑体" panose="02010609060101010101" charset="-122"/>
                      </a:endParaRPr>
                    </a:p>
                    <a:p>
                      <a:pPr marL="84455" algn="l" rtl="0" eaLnBrk="0">
                        <a:lnSpc>
                          <a:spcPct val="76000"/>
                        </a:lnSpc>
                        <a:spcBef>
                          <a:spcPts val="690"/>
                        </a:spcBef>
                      </a:pP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41  52</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31</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37</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47</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55</a:t>
                      </a:r>
                      <a:endParaRPr lang="en-US" altLang="en-US" sz="2400" dirty="0">
                        <a:latin typeface="Arial" panose="020B0604020202020204" pitchFamily="34" charset="0"/>
                        <a:ea typeface="黑体" panose="02010609060101010101" charset="-122"/>
                      </a:endParaRPr>
                    </a:p>
                    <a:p>
                      <a:pPr marL="81280" algn="l" rtl="0" eaLnBrk="0">
                        <a:lnSpc>
                          <a:spcPct val="76000"/>
                        </a:lnSpc>
                        <a:spcBef>
                          <a:spcPts val="69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30  40</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51</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45</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33</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48</a:t>
                      </a:r>
                      <a:endParaRPr lang="en-US" altLang="en-US" sz="2400" dirty="0">
                        <a:latin typeface="Arial" panose="020B0604020202020204" pitchFamily="34" charset="0"/>
                        <a:ea typeface="黑体" panose="02010609060101010101" charset="-122"/>
                      </a:endParaRPr>
                    </a:p>
                    <a:p>
                      <a:pPr marL="84455" algn="l" rtl="0" eaLnBrk="0">
                        <a:lnSpc>
                          <a:spcPct val="76000"/>
                        </a:lnSpc>
                        <a:spcBef>
                          <a:spcPts val="69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44  49  3</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9</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34</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53</a:t>
                      </a:r>
                      <a:endParaRPr lang="en-US" altLang="en-US" sz="2400" dirty="0">
                        <a:latin typeface="Arial" panose="020B0604020202020204" pitchFamily="34" charset="0"/>
                        <a:ea typeface="黑体" panose="02010609060101010101" charset="-122"/>
                      </a:endParaRPr>
                    </a:p>
                    <a:p>
                      <a:pPr marL="83820" algn="l" rtl="0" eaLnBrk="0">
                        <a:lnSpc>
                          <a:spcPct val="75000"/>
                        </a:lnSpc>
                        <a:spcBef>
                          <a:spcPts val="685"/>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46  42</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50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36</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29</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32</a:t>
                      </a:r>
                      <a:endParaRPr lang="en-US" altLang="en-US" sz="2400" dirty="0">
                        <a:latin typeface="Arial" panose="020B0604020202020204" pitchFamily="34" charset="0"/>
                        <a:ea typeface="黑体" panose="02010609060101010101" charset="-122"/>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68" name="table 668"/>
          <p:cNvGraphicFramePr>
            <a:graphicFrameLocks noGrp="1"/>
          </p:cNvGraphicFramePr>
          <p:nvPr/>
        </p:nvGraphicFramePr>
        <p:xfrm>
          <a:off x="2587752" y="4764023"/>
          <a:ext cx="6943090" cy="1087755"/>
        </p:xfrm>
        <a:graphic>
          <a:graphicData uri="http://schemas.openxmlformats.org/drawingml/2006/table">
            <a:tbl>
              <a:tblPr/>
              <a:tblGrid>
                <a:gridCol w="2030095"/>
                <a:gridCol w="4912995"/>
              </a:tblGrid>
              <a:tr h="1087755">
                <a:tc>
                  <a:txBody>
                    <a:bodyPr/>
                    <a:lstStyle/>
                    <a:p>
                      <a:pPr algn="l" rtl="0" eaLnBrk="0">
                        <a:lnSpc>
                          <a:spcPct val="140000"/>
                        </a:lnSpc>
                      </a:pPr>
                      <a:endParaRPr lang="en-US" altLang="en-US" sz="1000" dirty="0">
                        <a:latin typeface="Arial" panose="020B0604020202020204" pitchFamily="34" charset="0"/>
                        <a:ea typeface="黑体" panose="02010609060101010101" charset="-122"/>
                      </a:endParaRPr>
                    </a:p>
                    <a:p>
                      <a:pPr algn="l" rtl="0" eaLnBrk="0">
                        <a:lnSpc>
                          <a:spcPct val="141000"/>
                        </a:lnSpc>
                      </a:pPr>
                      <a:endParaRPr lang="en-US" altLang="en-US" sz="1000" dirty="0">
                        <a:latin typeface="Arial" panose="020B0604020202020204" pitchFamily="34" charset="0"/>
                        <a:ea typeface="黑体" panose="02010609060101010101" charset="-122"/>
                      </a:endParaRPr>
                    </a:p>
                    <a:p>
                      <a:pPr marL="561340" algn="l" rtl="0" eaLnBrk="0">
                        <a:lnSpc>
                          <a:spcPts val="2185"/>
                        </a:lnSpc>
                      </a:pPr>
                      <a:r>
                        <a:rPr sz="1800" kern="0" spc="-10" dirty="0">
                          <a:ln w="6531" cap="flat" cmpd="sng">
                            <a:solidFill>
                              <a:srgbClr val="000000">
                                <a:alpha val="100000"/>
                              </a:srgbClr>
                            </a:solidFill>
                            <a:prstDash val="solid"/>
                            <a:miter lim="8"/>
                          </a:ln>
                          <a:solidFill>
                            <a:srgbClr val="000000">
                              <a:alpha val="100000"/>
                            </a:srgbClr>
                          </a:solidFill>
                          <a:latin typeface="Arial" panose="020B0604020202020204" pitchFamily="34" charset="0"/>
                          <a:ea typeface="黑体" panose="02010609060101010101" charset="-122"/>
                          <a:cs typeface="宋体" panose="02010600030101010101" pitchFamily="2" charset="-122"/>
                        </a:rPr>
                        <a:t>第</a:t>
                      </a:r>
                      <a:r>
                        <a:rPr sz="18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1800" kern="0" spc="-10" dirty="0">
                          <a:ln w="6531" cap="flat" cmpd="sng">
                            <a:solidFill>
                              <a:srgbClr val="000000">
                                <a:alpha val="100000"/>
                              </a:srgbClr>
                            </a:solidFill>
                            <a:prstDash val="solid"/>
                            <a:miter lim="8"/>
                          </a:ln>
                          <a:solidFill>
                            <a:srgbClr val="000000">
                              <a:alpha val="100000"/>
                            </a:srgbClr>
                          </a:solidFill>
                          <a:latin typeface="Arial" panose="020B0604020202020204" pitchFamily="34" charset="0"/>
                          <a:ea typeface="黑体" panose="02010609060101010101" charset="-122"/>
                          <a:cs typeface="宋体" panose="02010600030101010101" pitchFamily="2" charset="-122"/>
                        </a:rPr>
                        <a:t>次迭代</a:t>
                      </a:r>
                      <a:endParaRPr lang="en-US" altLang="en-US" sz="1800" dirty="0">
                        <a:latin typeface="Arial" panose="020B0604020202020204" pitchFamily="34" charset="0"/>
                        <a:ea typeface="黑体" panose="02010609060101010101" charset="-122"/>
                      </a:endParaRPr>
                    </a:p>
                    <a:p>
                      <a:pPr algn="l" rtl="0" eaLnBrk="0">
                        <a:lnSpc>
                          <a:spcPct val="119000"/>
                        </a:lnSpc>
                      </a:pPr>
                      <a:endParaRPr lang="en-US" altLang="en-US" sz="400" dirty="0">
                        <a:latin typeface="Arial" panose="020B0604020202020204" pitchFamily="34" charset="0"/>
                        <a:ea typeface="黑体" panose="02010609060101010101" charset="-122"/>
                      </a:endParaRPr>
                    </a:p>
                    <a:p>
                      <a:pPr marL="502920" algn="l" rtl="0" eaLnBrk="0">
                        <a:lnSpc>
                          <a:spcPct val="95000"/>
                        </a:lnSpc>
                        <a:spcBef>
                          <a:spcPts val="0"/>
                        </a:spcBef>
                      </a:pPr>
                      <a:r>
                        <a:rPr sz="1800" kern="0" spc="0" dirty="0">
                          <a:ln w="6540" cap="flat" cmpd="sng">
                            <a:solidFill>
                              <a:srgbClr val="000000">
                                <a:alpha val="100000"/>
                              </a:srgbClr>
                            </a:solidFill>
                            <a:prstDash val="solid"/>
                            <a:miter lim="8"/>
                          </a:ln>
                          <a:solidFill>
                            <a:srgbClr val="000000">
                              <a:alpha val="100000"/>
                            </a:srgbClr>
                          </a:solidFill>
                          <a:latin typeface="Arial" panose="020B0604020202020204" pitchFamily="34" charset="0"/>
                          <a:ea typeface="黑体" panose="02010609060101010101" charset="-122"/>
                          <a:cs typeface="宋体" panose="02010600030101010101" pitchFamily="2" charset="-122"/>
                        </a:rPr>
                        <a:t>循环左移次数</a:t>
                      </a:r>
                      <a:endParaRPr lang="en-US" altLang="en-US" sz="18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500" dirty="0">
                        <a:latin typeface="Arial" panose="020B0604020202020204" pitchFamily="34" charset="0"/>
                        <a:ea typeface="黑体" panose="02010609060101010101" charset="-122"/>
                      </a:endParaRPr>
                    </a:p>
                    <a:p>
                      <a:pPr marL="989330" algn="l" rtl="0" eaLnBrk="0">
                        <a:lnSpc>
                          <a:spcPct val="95000"/>
                        </a:lnSpc>
                        <a:spcBef>
                          <a:spcPts val="0"/>
                        </a:spcBef>
                      </a:pPr>
                      <a:r>
                        <a:rPr sz="1800" kern="0" spc="0" dirty="0">
                          <a:ln w="6540" cap="flat" cmpd="sng">
                            <a:solidFill>
                              <a:srgbClr val="000000">
                                <a:alpha val="100000"/>
                              </a:srgbClr>
                            </a:solidFill>
                            <a:prstDash val="solid"/>
                            <a:miter lim="8"/>
                          </a:ln>
                          <a:solidFill>
                            <a:srgbClr val="000000">
                              <a:alpha val="100000"/>
                            </a:srgbClr>
                          </a:solidFill>
                          <a:latin typeface="Arial" panose="020B0604020202020204" pitchFamily="34" charset="0"/>
                          <a:ea typeface="黑体" panose="02010609060101010101" charset="-122"/>
                          <a:cs typeface="宋体" panose="02010600030101010101" pitchFamily="2" charset="-122"/>
                        </a:rPr>
                        <a:t>移位次数表</a:t>
                      </a:r>
                      <a:endParaRPr lang="en-US" altLang="en-US" sz="1800" dirty="0">
                        <a:latin typeface="Arial" panose="020B0604020202020204" pitchFamily="34" charset="0"/>
                        <a:ea typeface="黑体" panose="02010609060101010101" charset="-122"/>
                      </a:endParaRPr>
                    </a:p>
                    <a:p>
                      <a:pPr marL="149860" algn="l" rtl="0" eaLnBrk="0">
                        <a:lnSpc>
                          <a:spcPct val="76000"/>
                        </a:lnSpc>
                        <a:spcBef>
                          <a:spcPts val="1050"/>
                        </a:spcBef>
                      </a:pP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1  2  3</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1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1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6</a:t>
                      </a:r>
                      <a:r>
                        <a:rPr sz="1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7</a:t>
                      </a:r>
                      <a:r>
                        <a:rPr sz="1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18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9</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11</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12</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13</a:t>
                      </a:r>
                      <a:r>
                        <a:rPr sz="18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14</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15</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16</a:t>
                      </a:r>
                      <a:endParaRPr lang="en-US" altLang="en-US" sz="1800" dirty="0">
                        <a:latin typeface="Arial" panose="020B0604020202020204" pitchFamily="34" charset="0"/>
                        <a:ea typeface="黑体" panose="02010609060101010101" charset="-122"/>
                      </a:endParaRPr>
                    </a:p>
                    <a:p>
                      <a:pPr algn="l" rtl="0" eaLnBrk="0">
                        <a:lnSpc>
                          <a:spcPct val="103000"/>
                        </a:lnSpc>
                      </a:pPr>
                      <a:endParaRPr lang="en-US" altLang="en-US" sz="9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146685" algn="l" rtl="0" eaLnBrk="0">
                        <a:lnSpc>
                          <a:spcPct val="76000"/>
                        </a:lnSpc>
                      </a:pP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1  2</a:t>
                      </a:r>
                      <a:r>
                        <a:rPr sz="1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8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1800" dirty="0">
                        <a:latin typeface="Arial" panose="020B0604020202020204" pitchFamily="34" charset="0"/>
                        <a:ea typeface="黑体" panose="02010609060101010101" charset="-122"/>
                      </a:endParaRPr>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70" name="textbox 670"/>
          <p:cNvSpPr/>
          <p:nvPr/>
        </p:nvSpPr>
        <p:spPr>
          <a:xfrm>
            <a:off x="1551305" y="491490"/>
            <a:ext cx="6194425" cy="480695"/>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DES</a:t>
            </a:r>
            <a:r>
              <a:rPr sz="3100" kern="0" spc="120" dirty="0">
                <a:ln w="11582" cap="flat" cmpd="sng">
                  <a:solidFill>
                    <a:srgbClr val="0563C1">
                      <a:alpha val="100000"/>
                    </a:srgbClr>
                  </a:solidFill>
                  <a:prstDash val="solid"/>
                  <a:miter lim="10"/>
                </a:ln>
                <a:solidFill>
                  <a:srgbClr val="0563C1">
                    <a:alpha val="100000"/>
                  </a:srgbClr>
                </a:solidFill>
                <a:latin typeface="Arial" panose="020B0604020202020204" pitchFamily="34" charset="0"/>
                <a:ea typeface="黑体" panose="02010609060101010101" charset="-122"/>
                <a:cs typeface="仿宋" panose="02010609060101010101" charset="-122"/>
              </a:rPr>
              <a:t>算法密钥编排中使用的表</a:t>
            </a:r>
            <a:endParaRPr lang="en-US" altLang="en-US" sz="3100" dirty="0">
              <a:latin typeface="Arial" panose="020B0604020202020204" pitchFamily="34" charset="0"/>
              <a:ea typeface="黑体" panose="02010609060101010101" charset="-122"/>
            </a:endParaRPr>
          </a:p>
        </p:txBody>
      </p:sp>
      <p:sp>
        <p:nvSpPr>
          <p:cNvPr id="67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676" name="picture 676"/>
          <p:cNvPicPr>
            <a:picLocks noChangeAspect="1"/>
          </p:cNvPicPr>
          <p:nvPr/>
        </p:nvPicPr>
        <p:blipFill>
          <a:blip r:embed="rId2"/>
          <a:stretch>
            <a:fillRect/>
          </a:stretch>
        </p:blipFill>
        <p:spPr>
          <a:xfrm rot="21600000">
            <a:off x="822960" y="408431"/>
            <a:ext cx="420623" cy="655320"/>
          </a:xfrm>
          <a:prstGeom prst="rect">
            <a:avLst/>
          </a:prstGeom>
        </p:spPr>
      </p:pic>
      <p:sp>
        <p:nvSpPr>
          <p:cNvPr id="678"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p:cNvSpPr/>
          <p:nvPr/>
        </p:nvSpPr>
        <p:spPr>
          <a:xfrm>
            <a:off x="588263" y="408432"/>
            <a:ext cx="10460735" cy="606552"/>
          </a:xfrm>
          <a:prstGeom prst="rect">
            <a:avLst/>
          </a:prstGeom>
          <a:solidFill>
            <a:srgbClr val="C7DDF0">
              <a:alpha val="100000"/>
            </a:srgbClr>
          </a:solidFill>
          <a:ln cap="flat">
            <a:noFill/>
            <a:prstDash val="solid"/>
            <a:miter lim="0"/>
          </a:ln>
        </p:spPr>
        <p:txBody>
          <a:bodyPr rtlCol="0"/>
          <a:lstStyle/>
          <a:p>
            <a:pPr algn="ctr"/>
            <a:endParaRPr lang="zh-CN" altLang="en-US"/>
          </a:p>
        </p:txBody>
      </p:sp>
      <p:sp>
        <p:nvSpPr>
          <p:cNvPr id="4" name="textbox 4"/>
          <p:cNvSpPr/>
          <p:nvPr/>
        </p:nvSpPr>
        <p:spPr>
          <a:xfrm>
            <a:off x="3607899" y="3209866"/>
            <a:ext cx="5026659" cy="537844"/>
          </a:xfrm>
          <a:prstGeom prst="rect">
            <a:avLst/>
          </a:prstGeom>
        </p:spPr>
        <p:txBody>
          <a:bodyPr vert="horz" wrap="square" lIns="0" tIns="0" rIns="0" bIns="0"/>
          <a:lstStyle/>
          <a:p>
            <a:pPr algn="l" rtl="0" eaLnBrk="0">
              <a:lnSpc>
                <a:spcPct val="94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sz="3600" kern="0" spc="-2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DES的安全性</a:t>
            </a:r>
            <a:endParaRPr lang="en-US" altLang="en-US" sz="3600" dirty="0">
              <a:latin typeface="Arial" panose="020B0604020202020204" pitchFamily="34" charset="0"/>
              <a:ea typeface="黑体" panose="02010609060101010101" charset="-122"/>
            </a:endParaRPr>
          </a:p>
        </p:txBody>
      </p:sp>
      <p:sp>
        <p:nvSpPr>
          <p:cNvPr id="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57015" y="2057400"/>
            <a:ext cx="5708903" cy="813816"/>
            <a:chOff x="0" y="0"/>
            <a:chExt cx="5708903" cy="813816"/>
          </a:xfrm>
        </p:grpSpPr>
        <p:pic>
          <p:nvPicPr>
            <p:cNvPr id="14" name="picture 14"/>
            <p:cNvPicPr>
              <a:picLocks noChangeAspect="1"/>
            </p:cNvPicPr>
            <p:nvPr/>
          </p:nvPicPr>
          <p:blipFill>
            <a:blip r:embed="rId1"/>
            <a:stretch>
              <a:fillRect/>
            </a:stretch>
          </p:blipFill>
          <p:spPr>
            <a:xfrm rot="21600000">
              <a:off x="0" y="0"/>
              <a:ext cx="5708903" cy="813816"/>
            </a:xfrm>
            <a:prstGeom prst="rect">
              <a:avLst/>
            </a:prstGeom>
          </p:spPr>
        </p:pic>
        <p:sp>
          <p:nvSpPr>
            <p:cNvPr id="16" name="textbox 16"/>
            <p:cNvSpPr/>
            <p:nvPr/>
          </p:nvSpPr>
          <p:spPr>
            <a:xfrm>
              <a:off x="-12700" y="-12700"/>
              <a:ext cx="5734684" cy="880744"/>
            </a:xfrm>
            <a:prstGeom prst="rect">
              <a:avLst/>
            </a:prstGeom>
          </p:spPr>
          <p:txBody>
            <a:bodyPr vert="horz" wrap="square" lIns="0" tIns="0" rIns="0" bIns="0"/>
            <a:lstStyle/>
            <a:p>
              <a:pPr algn="l" rtl="0" eaLnBrk="0">
                <a:lnSpc>
                  <a:spcPct val="166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661670" algn="l" rtl="0" eaLnBrk="0">
                <a:lnSpc>
                  <a:spcPct val="95000"/>
                </a:lnSpc>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的弱密钥</a:t>
              </a:r>
              <a:endParaRPr lang="en-US" altLang="en-US" sz="2400" dirty="0">
                <a:latin typeface="Arial" panose="020B0604020202020204" pitchFamily="34" charset="0"/>
                <a:ea typeface="黑体" panose="02010609060101010101" charset="-122"/>
              </a:endParaRPr>
            </a:p>
          </p:txBody>
        </p:sp>
      </p:grpSp>
      <p:grpSp>
        <p:nvGrpSpPr>
          <p:cNvPr id="4" name="group 4"/>
          <p:cNvGrpSpPr/>
          <p:nvPr/>
        </p:nvGrpSpPr>
        <p:grpSpPr>
          <a:xfrm rot="21600000">
            <a:off x="3709415" y="3886200"/>
            <a:ext cx="5507736" cy="813816"/>
            <a:chOff x="0" y="0"/>
            <a:chExt cx="5507736" cy="813816"/>
          </a:xfrm>
        </p:grpSpPr>
        <p:pic>
          <p:nvPicPr>
            <p:cNvPr id="18" name="picture 18"/>
            <p:cNvPicPr>
              <a:picLocks noChangeAspect="1"/>
            </p:cNvPicPr>
            <p:nvPr/>
          </p:nvPicPr>
          <p:blipFill>
            <a:blip r:embed="rId2"/>
            <a:stretch>
              <a:fillRect/>
            </a:stretch>
          </p:blipFill>
          <p:spPr>
            <a:xfrm rot="21600000">
              <a:off x="0" y="0"/>
              <a:ext cx="5507736" cy="813816"/>
            </a:xfrm>
            <a:prstGeom prst="rect">
              <a:avLst/>
            </a:prstGeom>
          </p:spPr>
        </p:pic>
        <p:sp>
          <p:nvSpPr>
            <p:cNvPr id="20" name="textbox 20"/>
            <p:cNvSpPr/>
            <p:nvPr/>
          </p:nvSpPr>
          <p:spPr>
            <a:xfrm>
              <a:off x="-12700" y="-12700"/>
              <a:ext cx="5533390" cy="880744"/>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marL="661670" algn="l" rtl="0" eaLnBrk="0">
                <a:lnSpc>
                  <a:spcPct val="95000"/>
                </a:lnSpc>
                <a:spcBef>
                  <a:spcPts val="5"/>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的密钥长度的争论</a:t>
              </a:r>
              <a:endParaRPr lang="en-US" altLang="en-US" sz="2400" dirty="0">
                <a:latin typeface="Arial" panose="020B0604020202020204" pitchFamily="34" charset="0"/>
                <a:ea typeface="黑体"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22"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24"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6"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28"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0"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32" name="textbox 32"/>
          <p:cNvSpPr/>
          <p:nvPr/>
        </p:nvSpPr>
        <p:spPr>
          <a:xfrm>
            <a:off x="2745984" y="491245"/>
            <a:ext cx="4450715" cy="478155"/>
          </a:xfrm>
          <a:prstGeom prst="rect">
            <a:avLst/>
          </a:prstGeom>
        </p:spPr>
        <p:txBody>
          <a:bodyPr vert="horz" wrap="square" lIns="0" tIns="0" rIns="0" bIns="0"/>
          <a:lstStyle/>
          <a:p>
            <a:pPr algn="l" rtl="0" eaLnBrk="0">
              <a:lnSpc>
                <a:spcPct val="75000"/>
              </a:lnSpc>
            </a:pPr>
            <a:r>
              <a:rPr sz="3100" kern="0" spc="7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70" dirty="0">
                <a:solidFill>
                  <a:srgbClr val="1F4E79">
                    <a:alpha val="100000"/>
                  </a:srgbClr>
                </a:solidFill>
                <a:latin typeface="Arial" panose="020B0604020202020204" pitchFamily="34" charset="0"/>
                <a:ea typeface="黑体" panose="02010609060101010101" charset="-122"/>
                <a:cs typeface="仿宋" panose="02010609060101010101" charset="-122"/>
              </a:rPr>
              <a:t>的安全性</a:t>
            </a:r>
            <a:endParaRPr lang="en-US" altLang="en-US" sz="3100" dirty="0">
              <a:latin typeface="Arial" panose="020B0604020202020204" pitchFamily="34" charset="0"/>
              <a:ea typeface="黑体" panose="02010609060101010101" charset="-122"/>
            </a:endParaRPr>
          </a:p>
        </p:txBody>
      </p:sp>
      <p:sp>
        <p:nvSpPr>
          <p:cNvPr id="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38" name="picture 38"/>
          <p:cNvPicPr>
            <a:picLocks noChangeAspect="1"/>
          </p:cNvPicPr>
          <p:nvPr/>
        </p:nvPicPr>
        <p:blipFill>
          <a:blip r:embed="rId3"/>
          <a:stretch>
            <a:fillRect/>
          </a:stretch>
        </p:blipFill>
        <p:spPr>
          <a:xfrm rot="21600000">
            <a:off x="822960" y="408431"/>
            <a:ext cx="420623" cy="655320"/>
          </a:xfrm>
          <a:prstGeom prst="rect">
            <a:avLst/>
          </a:prstGeom>
        </p:spPr>
      </p:pic>
      <p:sp>
        <p:nvSpPr>
          <p:cNvPr id="4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 name="path"/>
          <p:cNvSpPr/>
          <p:nvPr/>
        </p:nvSpPr>
        <p:spPr>
          <a:xfrm>
            <a:off x="6050476" y="1924962"/>
            <a:ext cx="116208" cy="10482"/>
          </a:xfrm>
          <a:custGeom>
            <a:avLst/>
            <a:gdLst/>
            <a:ahLst/>
            <a:cxnLst/>
            <a:rect l="0" t="0" r="0" b="0"/>
            <a:pathLst>
              <a:path w="183" h="16">
                <a:moveTo>
                  <a:pt x="0" y="8"/>
                </a:moveTo>
                <a:lnTo>
                  <a:pt x="183" y="8"/>
                </a:lnTo>
              </a:path>
            </a:pathLst>
          </a:custGeom>
          <a:noFill/>
          <a:ln w="10697" cap="flat">
            <a:solidFill>
              <a:srgbClr val="000000">
                <a:alpha val="100000"/>
              </a:srgbClr>
            </a:solidFill>
            <a:prstDash val="solid"/>
            <a:round/>
          </a:ln>
        </p:spPr>
        <p:txBody>
          <a:bodyPr rtlCol="0"/>
          <a:lstStyle/>
          <a:p>
            <a:pPr algn="ctr"/>
            <a:endParaRPr lang="zh-CN" altLang="en-US"/>
          </a:p>
        </p:txBody>
      </p:sp>
      <p:sp>
        <p:nvSpPr>
          <p:cNvPr id="44" name="path"/>
          <p:cNvSpPr/>
          <p:nvPr/>
        </p:nvSpPr>
        <p:spPr>
          <a:xfrm>
            <a:off x="4870431" y="1924962"/>
            <a:ext cx="116203" cy="10483"/>
          </a:xfrm>
          <a:custGeom>
            <a:avLst/>
            <a:gdLst/>
            <a:ahLst/>
            <a:cxnLst/>
            <a:rect l="0" t="0" r="0" b="0"/>
            <a:pathLst>
              <a:path w="182" h="16">
                <a:moveTo>
                  <a:pt x="0" y="8"/>
                </a:moveTo>
                <a:lnTo>
                  <a:pt x="182" y="8"/>
                </a:lnTo>
              </a:path>
            </a:pathLst>
          </a:custGeom>
          <a:noFill/>
          <a:ln w="10697" cap="flat">
            <a:solidFill>
              <a:srgbClr val="000000">
                <a:alpha val="100000"/>
              </a:srgbClr>
            </a:solidFill>
            <a:prstDash val="solid"/>
            <a:round/>
          </a:ln>
        </p:spPr>
        <p:txBody>
          <a:bodyPr rtlCol="0"/>
          <a:lstStyle/>
          <a:p>
            <a:pPr algn="ctr"/>
            <a:endParaRPr lang="zh-CN" altLang="en-US"/>
          </a:p>
        </p:txBody>
      </p:sp>
      <p:sp>
        <p:nvSpPr>
          <p:cNvPr id="46" name="textbox 46"/>
          <p:cNvSpPr/>
          <p:nvPr/>
        </p:nvSpPr>
        <p:spPr>
          <a:xfrm>
            <a:off x="1167765" y="1396365"/>
            <a:ext cx="10989310" cy="394335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0000"/>
              </a:lnSpc>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互补性</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算法具有下述性质</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。若明文组</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逐位取补，密钥</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逐位取</a:t>
            </a:r>
            <a:endParaRPr lang="en-US" altLang="en-US" sz="2400" dirty="0">
              <a:latin typeface="Arial" panose="020B0604020202020204" pitchFamily="34" charset="0"/>
              <a:ea typeface="黑体" panose="02010609060101010101" charset="-122"/>
            </a:endParaRPr>
          </a:p>
          <a:p>
            <a:pPr marL="249555" algn="l" rtl="0" eaLnBrk="0">
              <a:lnSpc>
                <a:spcPts val="3860"/>
              </a:lnSpc>
            </a:pPr>
            <a:r>
              <a:rPr sz="2400" kern="0" spc="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补，即</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2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则有</a:t>
            </a:r>
            <a:r>
              <a:rPr sz="2400" kern="0" spc="3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0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y </a:t>
            </a:r>
            <a:r>
              <a:rPr sz="2000" kern="0" spc="40" dirty="0">
                <a:solidFill>
                  <a:srgbClr val="000000">
                    <a:alpha val="100000"/>
                  </a:srgbClr>
                </a:solidFill>
                <a:latin typeface="Arial" panose="020B0604020202020204" pitchFamily="34" charset="0"/>
                <a:ea typeface="黑体" panose="02010609060101010101" charset="-122"/>
                <a:cs typeface="Symbol" panose="05050102010706020507"/>
              </a:rPr>
              <a:t>= </a:t>
            </a:r>
            <a:r>
              <a:rPr sz="20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1800" i="1" kern="0" spc="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100" i="1"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0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000"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631825" algn="l" rtl="0" eaLnBrk="0">
              <a:lnSpc>
                <a:spcPct val="93000"/>
              </a:lnSpc>
              <a:spcBef>
                <a:spcPts val="725"/>
              </a:spcBef>
            </a:pP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这种互补性会使</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在选择明</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文破译下所需的工作量减半。</a:t>
            </a:r>
            <a:endParaRPr lang="en-US" altLang="en-US" sz="2400" dirty="0">
              <a:latin typeface="Arial" panose="020B0604020202020204" pitchFamily="34" charset="0"/>
              <a:ea typeface="黑体" panose="02010609060101010101" charset="-122"/>
            </a:endParaRPr>
          </a:p>
          <a:p>
            <a:pPr marL="12700" algn="l" rtl="0" eaLnBrk="0">
              <a:lnSpc>
                <a:spcPts val="2905"/>
              </a:lnSpc>
              <a:spcBef>
                <a:spcPts val="1765"/>
              </a:spcBef>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新宋体" panose="02010609030101010101" charset="-122"/>
              </a:rPr>
              <a:t>弱密钥和半弱密钥</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marL="469265" algn="l" rtl="0" eaLnBrk="0">
              <a:lnSpc>
                <a:spcPts val="2795"/>
              </a:lnSpc>
              <a:spcBef>
                <a:spcPts val="1115"/>
              </a:spcBef>
            </a:pPr>
            <a:r>
              <a:rPr sz="23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300" kern="0" spc="10" dirty="0">
                <a:ln w="8360"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弱密钥</a:t>
            </a:r>
            <a:r>
              <a:rPr sz="23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b="1" kern="0" spc="0" dirty="0">
                <a:solidFill>
                  <a:srgbClr val="000066">
                    <a:alpha val="100000"/>
                  </a:srgbClr>
                </a:solidFill>
                <a:latin typeface="Arial" panose="020B0604020202020204" pitchFamily="34" charset="0"/>
                <a:ea typeface="黑体" panose="02010609060101010101" charset="-122"/>
                <a:cs typeface="Times New Roman" panose="02020603050405020304"/>
              </a:rPr>
              <a:t>E</a:t>
            </a:r>
            <a:r>
              <a:rPr sz="2300" b="1" kern="0" spc="0" baseline="-21000" dirty="0">
                <a:solidFill>
                  <a:srgbClr val="000066">
                    <a:alpha val="100000"/>
                  </a:srgbClr>
                </a:solidFill>
                <a:latin typeface="Arial" panose="020B0604020202020204" pitchFamily="34" charset="0"/>
                <a:ea typeface="黑体" panose="02010609060101010101" charset="-122"/>
                <a:cs typeface="Times New Roman" panose="02020603050405020304"/>
              </a:rPr>
              <a:t>K</a:t>
            </a:r>
            <a:r>
              <a:rPr sz="2300" kern="0" spc="10" dirty="0">
                <a:ln w="8360" cap="flat" cmpd="sng">
                  <a:solidFill>
                    <a:srgbClr val="000066">
                      <a:alpha val="100000"/>
                    </a:srgbClr>
                  </a:solidFill>
                  <a:prstDash val="solid"/>
                  <a:miter lim="10"/>
                </a:ln>
                <a:solidFill>
                  <a:srgbClr val="000066">
                    <a:alpha val="100000"/>
                  </a:srgbClr>
                </a:solidFill>
                <a:latin typeface="Arial" panose="020B0604020202020204" pitchFamily="34" charset="0"/>
                <a:ea typeface="黑体" panose="02010609060101010101" charset="-122"/>
                <a:cs typeface="Symbol" panose="05050102010706020507"/>
              </a:rPr>
              <a:t>.</a:t>
            </a:r>
            <a:r>
              <a:rPr sz="2300" b="1" kern="0" spc="0" dirty="0">
                <a:solidFill>
                  <a:srgbClr val="000066">
                    <a:alpha val="100000"/>
                  </a:srgbClr>
                </a:solidFill>
                <a:latin typeface="Arial" panose="020B0604020202020204" pitchFamily="34" charset="0"/>
                <a:ea typeface="黑体" panose="02010609060101010101" charset="-122"/>
                <a:cs typeface="Times New Roman" panose="02020603050405020304"/>
              </a:rPr>
              <a:t>E</a:t>
            </a:r>
            <a:r>
              <a:rPr sz="2300" b="1" kern="0" spc="0" baseline="-21000" dirty="0">
                <a:solidFill>
                  <a:srgbClr val="000066">
                    <a:alpha val="100000"/>
                  </a:srgbClr>
                </a:solidFill>
                <a:latin typeface="Arial" panose="020B0604020202020204" pitchFamily="34" charset="0"/>
                <a:ea typeface="黑体" panose="02010609060101010101" charset="-122"/>
                <a:cs typeface="Times New Roman" panose="02020603050405020304"/>
              </a:rPr>
              <a:t>K</a:t>
            </a:r>
            <a:r>
              <a:rPr sz="1400" b="1" kern="0" spc="10" dirty="0">
                <a:solidFill>
                  <a:srgbClr val="000066">
                    <a:alpha val="100000"/>
                  </a:srgbClr>
                </a:solidFill>
                <a:latin typeface="Arial" panose="020B0604020202020204" pitchFamily="34" charset="0"/>
                <a:ea typeface="黑体" panose="02010609060101010101" charset="-122"/>
                <a:cs typeface="Times New Roman" panose="02020603050405020304"/>
              </a:rPr>
              <a:t> </a:t>
            </a:r>
            <a:r>
              <a:rPr sz="2300" b="1" kern="0" spc="10" dirty="0">
                <a:solidFill>
                  <a:srgbClr val="000066">
                    <a:alpha val="100000"/>
                  </a:srgbClr>
                </a:solidFill>
                <a:latin typeface="Arial" panose="020B0604020202020204" pitchFamily="34" charset="0"/>
                <a:ea typeface="黑体" panose="02010609060101010101" charset="-122"/>
                <a:cs typeface="Times New Roman" panose="02020603050405020304"/>
              </a:rPr>
              <a:t>= I</a:t>
            </a:r>
            <a:r>
              <a:rPr sz="2300" b="1" kern="0" spc="310" dirty="0">
                <a:solidFill>
                  <a:srgbClr val="000066">
                    <a:alpha val="100000"/>
                  </a:srgbClr>
                </a:solidFill>
                <a:latin typeface="Arial" panose="020B0604020202020204" pitchFamily="34" charset="0"/>
                <a:ea typeface="黑体" panose="02010609060101010101" charset="-122"/>
                <a:cs typeface="Times New Roman" panose="02020603050405020304"/>
              </a:rPr>
              <a:t> </a:t>
            </a:r>
            <a:r>
              <a:rPr sz="2300" kern="0" spc="10" dirty="0">
                <a:ln w="8360"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3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300" kern="0" spc="10" dirty="0">
                <a:ln w="8360"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存在</a:t>
            </a:r>
            <a:r>
              <a:rPr sz="23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4</a:t>
            </a:r>
            <a:r>
              <a:rPr sz="2300" kern="0" spc="10" dirty="0">
                <a:ln w="8360"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个弱密</a:t>
            </a:r>
            <a:r>
              <a:rPr sz="2300" kern="0" spc="0" dirty="0">
                <a:ln w="8360"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钥</a:t>
            </a:r>
            <a:endParaRPr lang="en-US" altLang="en-US" sz="2300" dirty="0">
              <a:latin typeface="Arial" panose="020B0604020202020204" pitchFamily="34" charset="0"/>
              <a:ea typeface="黑体" panose="02010609060101010101" charset="-122"/>
            </a:endParaRPr>
          </a:p>
          <a:p>
            <a:pPr marL="3393440" algn="l" rtl="0" eaLnBrk="0">
              <a:lnSpc>
                <a:spcPct val="92000"/>
              </a:lnSpc>
              <a:spcBef>
                <a:spcPts val="1350"/>
              </a:spcBef>
            </a:pP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x</a:t>
            </a:r>
            <a:endParaRPr lang="en-US" altLang="en-US" sz="2400" dirty="0">
              <a:latin typeface="Arial" panose="020B0604020202020204" pitchFamily="34" charset="0"/>
              <a:ea typeface="黑体" panose="02010609060101010101" charset="-122"/>
            </a:endParaRPr>
          </a:p>
          <a:p>
            <a:pPr marL="469265" algn="l" rtl="0" eaLnBrk="0">
              <a:lnSpc>
                <a:spcPct val="92000"/>
              </a:lnSpc>
              <a:spcBef>
                <a:spcPts val="115"/>
              </a:spcBef>
            </a:pPr>
            <a:r>
              <a:rPr sz="23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300" kern="0" spc="0" dirty="0">
                <a:ln w="836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半弱密钥</a:t>
            </a:r>
            <a:r>
              <a:rPr sz="23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b="1" kern="0" spc="0" dirty="0">
                <a:solidFill>
                  <a:srgbClr val="000066">
                    <a:alpha val="100000"/>
                  </a:srgbClr>
                </a:solidFill>
                <a:latin typeface="Arial" panose="020B0604020202020204" pitchFamily="34" charset="0"/>
                <a:ea typeface="黑体" panose="02010609060101010101" charset="-122"/>
                <a:cs typeface="Times New Roman" panose="02020603050405020304"/>
              </a:rPr>
              <a:t>E</a:t>
            </a:r>
            <a:r>
              <a:rPr sz="2300" b="1" kern="0" spc="0" baseline="-23000" dirty="0">
                <a:solidFill>
                  <a:srgbClr val="000066">
                    <a:alpha val="100000"/>
                  </a:srgbClr>
                </a:solidFill>
                <a:latin typeface="Arial" panose="020B0604020202020204" pitchFamily="34" charset="0"/>
                <a:ea typeface="黑体" panose="02010609060101010101" charset="-122"/>
                <a:cs typeface="Times New Roman" panose="02020603050405020304"/>
              </a:rPr>
              <a:t>K1</a:t>
            </a:r>
            <a:r>
              <a:rPr sz="1400" b="1" kern="0" spc="240" dirty="0">
                <a:solidFill>
                  <a:srgbClr val="000066">
                    <a:alpha val="100000"/>
                  </a:srgbClr>
                </a:solidFill>
                <a:latin typeface="Arial" panose="020B0604020202020204" pitchFamily="34" charset="0"/>
                <a:ea typeface="黑体" panose="02010609060101010101" charset="-122"/>
                <a:cs typeface="Times New Roman" panose="02020603050405020304"/>
              </a:rPr>
              <a:t> </a:t>
            </a:r>
            <a:r>
              <a:rPr sz="2300" b="1" kern="0" spc="0" dirty="0">
                <a:solidFill>
                  <a:srgbClr val="000066">
                    <a:alpha val="100000"/>
                  </a:srgbClr>
                </a:solidFill>
                <a:latin typeface="Arial" panose="020B0604020202020204" pitchFamily="34" charset="0"/>
                <a:ea typeface="黑体" panose="02010609060101010101" charset="-122"/>
                <a:cs typeface="Times New Roman" panose="02020603050405020304"/>
              </a:rPr>
              <a:t>= E</a:t>
            </a:r>
            <a:r>
              <a:rPr sz="2300" b="1" kern="0" spc="0" baseline="-23000" dirty="0">
                <a:solidFill>
                  <a:srgbClr val="000066">
                    <a:alpha val="100000"/>
                  </a:srgbClr>
                </a:solidFill>
                <a:latin typeface="Arial" panose="020B0604020202020204" pitchFamily="34" charset="0"/>
                <a:ea typeface="黑体" panose="02010609060101010101" charset="-122"/>
                <a:cs typeface="Times New Roman" panose="02020603050405020304"/>
              </a:rPr>
              <a:t>K2</a:t>
            </a:r>
            <a:r>
              <a:rPr sz="1400" b="1" kern="0" spc="0" dirty="0">
                <a:solidFill>
                  <a:srgbClr val="000066">
                    <a:alpha val="100000"/>
                  </a:srgbClr>
                </a:solidFill>
                <a:latin typeface="Arial" panose="020B0604020202020204" pitchFamily="34" charset="0"/>
                <a:ea typeface="黑体" panose="02010609060101010101" charset="-122"/>
                <a:cs typeface="Times New Roman" panose="02020603050405020304"/>
              </a:rPr>
              <a:t>  </a:t>
            </a:r>
            <a:r>
              <a:rPr sz="2300" kern="0" spc="0" dirty="0">
                <a:ln w="836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，至少有</a:t>
            </a:r>
            <a:r>
              <a:rPr sz="23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300" kern="0" spc="-10" dirty="0">
                <a:ln w="836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个半弱密钥</a:t>
            </a:r>
            <a:endParaRPr lang="en-US" altLang="en-US" sz="2300" dirty="0">
              <a:latin typeface="Arial" panose="020B0604020202020204" pitchFamily="34" charset="0"/>
              <a:ea typeface="黑体" panose="02010609060101010101" charset="-122"/>
            </a:endParaRPr>
          </a:p>
          <a:p>
            <a:pPr marL="3140075" algn="l" rtl="0" eaLnBrk="0">
              <a:lnSpc>
                <a:spcPts val="4415"/>
              </a:lnSpc>
            </a:pPr>
            <a:r>
              <a:rPr sz="21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y </a:t>
            </a:r>
            <a:r>
              <a:rPr sz="2100" kern="0" spc="-20" dirty="0">
                <a:solidFill>
                  <a:srgbClr val="000000">
                    <a:alpha val="100000"/>
                  </a:srgbClr>
                </a:solidFill>
                <a:latin typeface="Arial" panose="020B0604020202020204" pitchFamily="34" charset="0"/>
                <a:ea typeface="黑体" panose="02010609060101010101" charset="-122"/>
                <a:cs typeface="Symbol" panose="05050102010706020507"/>
              </a:rPr>
              <a:t>=</a:t>
            </a:r>
            <a:r>
              <a:rPr sz="2100" kern="0" spc="-60" dirty="0">
                <a:solidFill>
                  <a:srgbClr val="000000">
                    <a:alpha val="100000"/>
                  </a:srgbClr>
                </a:solidFill>
                <a:latin typeface="Arial" panose="020B0604020202020204" pitchFamily="34" charset="0"/>
                <a:ea typeface="黑体" panose="02010609060101010101" charset="-122"/>
                <a:cs typeface="Symbol" panose="05050102010706020507"/>
              </a:rPr>
              <a:t> </a:t>
            </a:r>
            <a:r>
              <a:rPr sz="21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1800" i="1" kern="0" spc="-20" baseline="-40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800" kern="0" spc="-20" baseline="-40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100"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1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100"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100" kern="0" spc="-20" dirty="0">
                <a:solidFill>
                  <a:srgbClr val="000000">
                    <a:alpha val="100000"/>
                  </a:srgbClr>
                </a:solidFill>
                <a:latin typeface="Arial" panose="020B0604020202020204" pitchFamily="34" charset="0"/>
                <a:ea typeface="黑体" panose="02010609060101010101" charset="-122"/>
                <a:cs typeface="Symbol" panose="05050102010706020507"/>
              </a:rPr>
              <a:t>=</a:t>
            </a:r>
            <a:r>
              <a:rPr sz="2100" kern="0" spc="-110" dirty="0">
                <a:solidFill>
                  <a:srgbClr val="000000">
                    <a:alpha val="100000"/>
                  </a:srgbClr>
                </a:solidFill>
                <a:latin typeface="Arial" panose="020B0604020202020204" pitchFamily="34" charset="0"/>
                <a:ea typeface="黑体" panose="02010609060101010101" charset="-122"/>
                <a:cs typeface="Symbol" panose="05050102010706020507"/>
              </a:rPr>
              <a:t> </a:t>
            </a:r>
            <a:r>
              <a:rPr sz="21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1800" i="1" kern="0" spc="-20" baseline="-40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1800" kern="0" spc="-20" baseline="-40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100"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1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100"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100" dirty="0">
              <a:latin typeface="Arial" panose="020B0604020202020204" pitchFamily="34" charset="0"/>
              <a:ea typeface="黑体" panose="02010609060101010101" charset="-122"/>
            </a:endParaRPr>
          </a:p>
        </p:txBody>
      </p:sp>
      <p:sp>
        <p:nvSpPr>
          <p:cNvPr id="48" name="textbox 48"/>
          <p:cNvSpPr/>
          <p:nvPr/>
        </p:nvSpPr>
        <p:spPr>
          <a:xfrm>
            <a:off x="810260" y="395605"/>
            <a:ext cx="4241165" cy="734060"/>
          </a:xfrm>
          <a:prstGeom prst="rect">
            <a:avLst/>
          </a:prstGeom>
        </p:spPr>
        <p:txBody>
          <a:bodyPr vert="horz" wrap="square" lIns="0" tIns="0" rIns="0" bIns="0"/>
          <a:lstStyle/>
          <a:p>
            <a:pPr algn="l" rtl="0" eaLnBrk="0">
              <a:lnSpc>
                <a:spcPct val="101000"/>
              </a:lnSpc>
            </a:pPr>
            <a:endParaRPr lang="en-US" altLang="en-US" sz="700" dirty="0">
              <a:latin typeface="Arial" panose="020B0604020202020204" pitchFamily="34" charset="0"/>
              <a:ea typeface="黑体" panose="02010609060101010101" charset="-122"/>
            </a:endParaRPr>
          </a:p>
          <a:p>
            <a:pPr marL="433070" algn="l" defTabSz="0" rtl="0" eaLnBrk="0">
              <a:lnSpc>
                <a:spcPct val="97000"/>
              </a:lnSpc>
              <a:spcBef>
                <a:spcPts val="5"/>
              </a:spcBef>
              <a:tabLst>
                <a:tab pos="784225"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7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关于</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7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密钥</a:t>
            </a:r>
            <a:endParaRPr lang="en-US" altLang="en-US" sz="3100" dirty="0">
              <a:latin typeface="Arial" panose="020B0604020202020204" pitchFamily="34" charset="0"/>
              <a:ea typeface="黑体" panose="02010609060101010101" charset="-122"/>
            </a:endParaRPr>
          </a:p>
        </p:txBody>
      </p:sp>
      <p:pic>
        <p:nvPicPr>
          <p:cNvPr id="50" name="picture 50"/>
          <p:cNvPicPr>
            <a:picLocks noChangeAspect="1"/>
          </p:cNvPicPr>
          <p:nvPr/>
        </p:nvPicPr>
        <p:blipFill>
          <a:blip r:embed="rId1"/>
          <a:stretch>
            <a:fillRect/>
          </a:stretch>
        </p:blipFill>
        <p:spPr>
          <a:xfrm rot="21600000">
            <a:off x="822960" y="408431"/>
            <a:ext cx="420623" cy="655320"/>
          </a:xfrm>
          <a:prstGeom prst="rect">
            <a:avLst/>
          </a:prstGeom>
        </p:spPr>
      </p:pic>
      <p:sp>
        <p:nvSpPr>
          <p:cNvPr id="5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56"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58" name="path"/>
          <p:cNvSpPr/>
          <p:nvPr/>
        </p:nvSpPr>
        <p:spPr>
          <a:xfrm>
            <a:off x="5792420" y="2043424"/>
            <a:ext cx="103650" cy="5765"/>
          </a:xfrm>
          <a:custGeom>
            <a:avLst/>
            <a:gdLst/>
            <a:ahLst/>
            <a:cxnLst/>
            <a:rect l="0" t="0" r="0" b="0"/>
            <a:pathLst>
              <a:path w="163" h="9">
                <a:moveTo>
                  <a:pt x="0" y="4"/>
                </a:moveTo>
                <a:lnTo>
                  <a:pt x="163" y="4"/>
                </a:lnTo>
              </a:path>
            </a:pathLst>
          </a:custGeom>
          <a:noFill/>
          <a:ln w="5883" cap="flat">
            <a:solidFill>
              <a:srgbClr val="000000">
                <a:alpha val="100000"/>
              </a:srgbClr>
            </a:solidFill>
            <a:prstDash val="solid"/>
            <a:round/>
          </a:ln>
        </p:spPr>
        <p:txBody>
          <a:bodyPr rtlCol="0"/>
          <a:lstStyle/>
          <a:p>
            <a:pPr algn="ctr"/>
            <a:endParaRPr lang="zh-CN" alt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table 60"/>
          <p:cNvGraphicFramePr>
            <a:graphicFrameLocks noGrp="1"/>
          </p:cNvGraphicFramePr>
          <p:nvPr>
            <p:custDataLst>
              <p:tags r:id="rId1"/>
            </p:custDataLst>
          </p:nvPr>
        </p:nvGraphicFramePr>
        <p:xfrm>
          <a:off x="931545" y="2736850"/>
          <a:ext cx="10422255" cy="3324860"/>
        </p:xfrm>
        <a:graphic>
          <a:graphicData uri="http://schemas.openxmlformats.org/drawingml/2006/table">
            <a:tbl>
              <a:tblPr/>
              <a:tblGrid>
                <a:gridCol w="5517515"/>
                <a:gridCol w="4904740"/>
              </a:tblGrid>
              <a:tr h="922655">
                <a:tc>
                  <a:txBody>
                    <a:bodyPr/>
                    <a:lstStyle/>
                    <a:p>
                      <a:pPr algn="l" rtl="0" eaLnBrk="0">
                        <a:lnSpc>
                          <a:spcPct val="7000"/>
                        </a:lnSpc>
                      </a:pPr>
                      <a:endParaRPr lang="en-US" altLang="en-US" sz="100" dirty="0">
                        <a:latin typeface="Arial" panose="020B0604020202020204" pitchFamily="34" charset="0"/>
                        <a:ea typeface="黑体" panose="02010609060101010101" charset="-122"/>
                      </a:endParaRPr>
                    </a:p>
                    <a:p>
                      <a:pPr algn="l" rtl="0" eaLnBrk="0">
                        <a:lnSpc>
                          <a:spcPct val="100000"/>
                        </a:lnSpc>
                      </a:pPr>
                      <a:r>
                        <a:rPr sz="2400" kern="0" spc="-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原始密钥</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marL="525780" algn="l" rtl="0" eaLnBrk="0">
                        <a:lnSpc>
                          <a:spcPct val="93000"/>
                        </a:lnSpc>
                        <a:spcBef>
                          <a:spcPts val="5"/>
                        </a:spcBef>
                      </a:pP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置换选择</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后的密钥</a:t>
                      </a:r>
                      <a:endParaRPr lang="en-US" altLang="en-US" sz="2400" dirty="0">
                        <a:latin typeface="Arial" panose="020B0604020202020204" pitchFamily="34" charset="0"/>
                        <a:ea typeface="黑体" panose="02010609060101010101" charset="-122"/>
                      </a:endParaRPr>
                    </a:p>
                    <a:p>
                      <a:pPr algn="l" rtl="0" eaLnBrk="0">
                        <a:lnSpc>
                          <a:spcPct val="106000"/>
                        </a:lnSpc>
                      </a:pPr>
                      <a:endParaRPr lang="en-US" altLang="en-US" sz="1000" dirty="0">
                        <a:latin typeface="Arial" panose="020B0604020202020204" pitchFamily="34" charset="0"/>
                        <a:ea typeface="黑体" panose="02010609060101010101" charset="-122"/>
                      </a:endParaRPr>
                    </a:p>
                    <a:p>
                      <a:pPr algn="l" rtl="0" eaLnBrk="0">
                        <a:lnSpc>
                          <a:spcPct val="101000"/>
                        </a:lnSpc>
                      </a:pPr>
                      <a:endParaRPr lang="en-US" altLang="en-US" sz="600" dirty="0">
                        <a:latin typeface="Arial" panose="020B0604020202020204" pitchFamily="34" charset="0"/>
                        <a:ea typeface="黑体" panose="02010609060101010101" charset="-122"/>
                      </a:endParaRPr>
                    </a:p>
                    <a:p>
                      <a:pPr marL="622300" algn="l" rtl="0" eaLnBrk="0">
                        <a:lnSpc>
                          <a:spcPct val="78000"/>
                        </a:lnSpc>
                        <a:spcBef>
                          <a:spcPts val="5"/>
                        </a:spcBef>
                      </a:pPr>
                      <a:r>
                        <a:rPr sz="24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C</a:t>
                      </a:r>
                      <a:r>
                        <a:rPr sz="2400" i="1" kern="0" spc="2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130" dirty="0">
                          <a:solidFill>
                            <a:srgbClr val="000000">
                              <a:alpha val="100000"/>
                            </a:srgbClr>
                          </a:solidFill>
                          <a:latin typeface="Arial" panose="020B0604020202020204" pitchFamily="34" charset="0"/>
                          <a:ea typeface="黑体" panose="02010609060101010101" charset="-122"/>
                          <a:cs typeface="Times New Roman" panose="02020603050405020304"/>
                        </a:rPr>
                        <a:t>D</a:t>
                      </a:r>
                      <a:endParaRPr lang="en-US" altLang="en-US" sz="2400" dirty="0">
                        <a:latin typeface="Arial" panose="020B0604020202020204" pitchFamily="34" charset="0"/>
                        <a:ea typeface="黑体" panose="02010609060101010101" charset="-122"/>
                      </a:endParaRPr>
                    </a:p>
                  </a:txBody>
                  <a:tcPr marL="0" marR="0" marT="911" marB="0" vert="horz">
                    <a:lnL>
                      <a:noFill/>
                    </a:lnL>
                    <a:lnR>
                      <a:noFill/>
                    </a:lnR>
                    <a:lnT>
                      <a:noFill/>
                    </a:lnT>
                    <a:lnB>
                      <a:noFill/>
                    </a:lnB>
                  </a:tcPr>
                </a:tc>
              </a:tr>
              <a:tr h="695325">
                <a:tc>
                  <a:txBody>
                    <a:bodyPr/>
                    <a:lstStyle/>
                    <a:p>
                      <a:pPr algn="l" rtl="0" eaLnBrk="0">
                        <a:lnSpc>
                          <a:spcPct val="104000"/>
                        </a:lnSpc>
                      </a:pPr>
                      <a:endParaRPr lang="en-US" altLang="en-US" sz="9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251460" algn="l" rtl="0" eaLnBrk="0">
                        <a:lnSpc>
                          <a:spcPct val="88000"/>
                        </a:lnSpc>
                      </a:pPr>
                      <a:r>
                        <a:rPr sz="2200" kern="0" spc="-40" dirty="0">
                          <a:solidFill>
                            <a:srgbClr val="000000">
                              <a:alpha val="100000"/>
                            </a:srgbClr>
                          </a:solidFill>
                          <a:latin typeface="Arial" panose="020B0604020202020204" pitchFamily="34" charset="0"/>
                          <a:ea typeface="黑体" panose="02010609060101010101" charset="-122"/>
                          <a:cs typeface="Times New Roman" panose="02020603050405020304"/>
                        </a:rPr>
                        <a:t>(0,  0)</a:t>
                      </a:r>
                      <a:r>
                        <a:rPr sz="22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40" dirty="0">
                          <a:solidFill>
                            <a:srgbClr val="000000">
                              <a:alpha val="100000"/>
                            </a:srgbClr>
                          </a:solidFill>
                          <a:latin typeface="Arial" panose="020B0604020202020204" pitchFamily="34" charset="0"/>
                          <a:ea typeface="黑体" panose="02010609060101010101" charset="-122"/>
                          <a:cs typeface="Times New Roman" panose="02020603050405020304"/>
                        </a:rPr>
                        <a:t>01  01</a:t>
                      </a:r>
                      <a:r>
                        <a:rPr sz="22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01</a:t>
                      </a:r>
                      <a:r>
                        <a:rPr sz="22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01</a:t>
                      </a:r>
                      <a:r>
                        <a:rPr sz="2200" kern="0" spc="1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01</a:t>
                      </a:r>
                      <a:r>
                        <a:rPr sz="22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01</a:t>
                      </a:r>
                      <a:r>
                        <a:rPr sz="2200" kern="0" spc="1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01</a:t>
                      </a:r>
                      <a:r>
                        <a:rPr sz="22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01</a:t>
                      </a:r>
                      <a:endParaRPr lang="en-US" altLang="en-US" sz="22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1000"/>
                        </a:lnSpc>
                      </a:pPr>
                      <a:endParaRPr lang="en-US" altLang="en-US" sz="8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618490" algn="l" rtl="0" eaLnBrk="0">
                        <a:lnSpc>
                          <a:spcPct val="87000"/>
                        </a:lnSpc>
                      </a:pP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(0,  0)</a:t>
                      </a:r>
                      <a:r>
                        <a:rPr sz="22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00</a:t>
                      </a:r>
                      <a:r>
                        <a:rPr sz="2200"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00  00  00</a:t>
                      </a:r>
                      <a:r>
                        <a:rPr sz="2200" kern="0" spc="5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00</a:t>
                      </a:r>
                      <a:r>
                        <a:rPr sz="2200" kern="0" spc="5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00</a:t>
                      </a:r>
                      <a:r>
                        <a:rPr sz="2200" kern="0" spc="5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200" kern="0" spc="-50" dirty="0">
                          <a:solidFill>
                            <a:srgbClr val="000000">
                              <a:alpha val="100000"/>
                            </a:srgbClr>
                          </a:solidFill>
                          <a:latin typeface="Arial" panose="020B0604020202020204" pitchFamily="34" charset="0"/>
                          <a:ea typeface="黑体" panose="02010609060101010101" charset="-122"/>
                          <a:cs typeface="Times New Roman" panose="02020603050405020304"/>
                        </a:rPr>
                        <a:t>00</a:t>
                      </a:r>
                      <a:endParaRPr lang="en-US" altLang="en-US" sz="22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r>
              <a:tr h="664210">
                <a:tc>
                  <a:txBody>
                    <a:bodyPr/>
                    <a:lstStyle/>
                    <a:p>
                      <a:pPr algn="l" rtl="0" eaLnBrk="0">
                        <a:lnSpc>
                          <a:spcPct val="116000"/>
                        </a:lnSpc>
                      </a:pPr>
                      <a:endParaRPr lang="en-US" altLang="en-US" sz="600" dirty="0">
                        <a:latin typeface="Arial" panose="020B0604020202020204" pitchFamily="34" charset="0"/>
                        <a:ea typeface="黑体" panose="02010609060101010101" charset="-122"/>
                      </a:endParaRPr>
                    </a:p>
                    <a:p>
                      <a:pPr marL="251460" algn="l" rtl="0" eaLnBrk="0">
                        <a:lnSpc>
                          <a:spcPct val="84000"/>
                        </a:lnSpc>
                        <a:spcBef>
                          <a:spcPts val="0"/>
                        </a:spcBef>
                      </a:pPr>
                      <a:r>
                        <a:rPr sz="2300" kern="0" spc="-80" dirty="0">
                          <a:solidFill>
                            <a:srgbClr val="000000">
                              <a:alpha val="100000"/>
                            </a:srgbClr>
                          </a:solidFill>
                          <a:latin typeface="Arial" panose="020B0604020202020204" pitchFamily="34" charset="0"/>
                          <a:ea typeface="黑体" panose="02010609060101010101" charset="-122"/>
                          <a:cs typeface="Times New Roman" panose="02020603050405020304"/>
                        </a:rPr>
                        <a:t>(0,15)</a:t>
                      </a:r>
                      <a:r>
                        <a:rPr sz="2300"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8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F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300"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300"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F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E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E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300" i="1" kern="0" spc="2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9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300" i="1" kern="0" spc="-90" dirty="0">
                          <a:solidFill>
                            <a:srgbClr val="000000">
                              <a:alpha val="100000"/>
                            </a:srgbClr>
                          </a:solidFill>
                          <a:latin typeface="Arial" panose="020B0604020202020204" pitchFamily="34" charset="0"/>
                          <a:ea typeface="黑体" panose="02010609060101010101" charset="-122"/>
                          <a:cs typeface="Times New Roman" panose="02020603050405020304"/>
                        </a:rPr>
                        <a:t>E</a:t>
                      </a:r>
                      <a:endParaRPr lang="en-US" altLang="en-US" sz="23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8000"/>
                        </a:lnSpc>
                      </a:pPr>
                      <a:r>
                        <a:rPr lang="en-US"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(0,15)</a:t>
                      </a:r>
                      <a:r>
                        <a:rPr sz="23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kern="0" spc="-40" dirty="0">
                          <a:solidFill>
                            <a:srgbClr val="000000">
                              <a:alpha val="100000"/>
                            </a:srgbClr>
                          </a:solidFill>
                          <a:latin typeface="Arial" panose="020B0604020202020204" pitchFamily="34" charset="0"/>
                          <a:ea typeface="黑体" panose="02010609060101010101" charset="-122"/>
                          <a:cs typeface="Times New Roman" panose="02020603050405020304"/>
                        </a:rPr>
                        <a:t>00   00  00 </a:t>
                      </a:r>
                      <a:r>
                        <a:rPr sz="2300" kern="0" spc="-50" dirty="0">
                          <a:solidFill>
                            <a:srgbClr val="000000">
                              <a:alpha val="100000"/>
                            </a:srgbClr>
                          </a:solidFill>
                          <a:latin typeface="Arial" panose="020B0604020202020204" pitchFamily="34" charset="0"/>
                          <a:ea typeface="黑体" panose="02010609060101010101" charset="-122"/>
                          <a:cs typeface="Times New Roman" panose="02020603050405020304"/>
                        </a:rPr>
                        <a:t> 0</a:t>
                      </a:r>
                      <a:r>
                        <a:rPr sz="2300"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F FF FF FF</a:t>
                      </a:r>
                      <a:endParaRPr lang="en-US" altLang="en-US" sz="23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r>
              <a:tr h="652780">
                <a:tc>
                  <a:txBody>
                    <a:bodyPr/>
                    <a:lstStyle/>
                    <a:p>
                      <a:pPr algn="l" rtl="0" eaLnBrk="0">
                        <a:lnSpc>
                          <a:spcPct val="100000"/>
                        </a:lnSpc>
                      </a:pPr>
                      <a:endParaRPr lang="en-US" altLang="en-US" sz="700" dirty="0">
                        <a:latin typeface="Arial" panose="020B0604020202020204" pitchFamily="34" charset="0"/>
                        <a:ea typeface="黑体" panose="02010609060101010101" charset="-122"/>
                      </a:endParaRPr>
                    </a:p>
                    <a:p>
                      <a:pPr marL="251460" algn="l" rtl="0" eaLnBrk="0">
                        <a:lnSpc>
                          <a:spcPct val="81000"/>
                        </a:lnSpc>
                        <a:spcBef>
                          <a:spcPts val="5"/>
                        </a:spcBef>
                      </a:pP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(0,15)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kern="0" spc="3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kern="0" spc="2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0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0</a:t>
                      </a:r>
                      <a:r>
                        <a:rPr sz="2400" kern="0" spc="2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3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3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1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03000"/>
                        </a:lnSpc>
                      </a:pPr>
                      <a:endParaRPr lang="en-US" altLang="en-US" sz="500" dirty="0">
                        <a:latin typeface="Arial" panose="020B0604020202020204" pitchFamily="34" charset="0"/>
                        <a:ea typeface="黑体" panose="02010609060101010101" charset="-122"/>
                      </a:endParaRPr>
                    </a:p>
                    <a:p>
                      <a:pPr marL="618490" algn="l" rtl="0" eaLnBrk="0">
                        <a:lnSpc>
                          <a:spcPct val="80000"/>
                        </a:lnSpc>
                        <a:spcBef>
                          <a:spcPts val="5"/>
                        </a:spcBef>
                      </a:pPr>
                      <a:r>
                        <a:rPr sz="2400" kern="0" spc="-70" dirty="0">
                          <a:solidFill>
                            <a:srgbClr val="000000">
                              <a:alpha val="100000"/>
                            </a:srgbClr>
                          </a:solidFill>
                          <a:latin typeface="Arial" panose="020B0604020202020204" pitchFamily="34" charset="0"/>
                          <a:ea typeface="黑体" panose="02010609060101010101" charset="-122"/>
                          <a:cs typeface="Times New Roman" panose="02020603050405020304"/>
                        </a:rPr>
                        <a:t>(0,15)</a:t>
                      </a:r>
                      <a:r>
                        <a:rPr sz="24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FF FF FF F</a:t>
                      </a:r>
                      <a:r>
                        <a:rPr sz="2400" kern="0" spc="-70" dirty="0">
                          <a:solidFill>
                            <a:srgbClr val="000000">
                              <a:alpha val="100000"/>
                            </a:srgbClr>
                          </a:solidFill>
                          <a:latin typeface="Arial" panose="020B0604020202020204" pitchFamily="34" charset="0"/>
                          <a:ea typeface="黑体" panose="02010609060101010101" charset="-122"/>
                          <a:cs typeface="Times New Roman" panose="02020603050405020304"/>
                        </a:rPr>
                        <a:t>0  00  00  00</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r>
              <a:tr h="389890">
                <a:tc>
                  <a:txBody>
                    <a:bodyPr/>
                    <a:lstStyle/>
                    <a:p>
                      <a:pPr algn="l" rtl="0" eaLnBrk="0">
                        <a:lnSpc>
                          <a:spcPct val="102000"/>
                        </a:lnSpc>
                      </a:pPr>
                      <a:endParaRPr lang="en-US" altLang="en-US" sz="700" dirty="0">
                        <a:latin typeface="Arial" panose="020B0604020202020204" pitchFamily="34" charset="0"/>
                        <a:ea typeface="黑体" panose="02010609060101010101" charset="-122"/>
                      </a:endParaRPr>
                    </a:p>
                    <a:p>
                      <a:pPr marL="251460" algn="l" rtl="0" eaLnBrk="0">
                        <a:lnSpc>
                          <a:spcPct val="77000"/>
                        </a:lnSpc>
                        <a:spcBef>
                          <a:spcPts val="0"/>
                        </a:spcBef>
                      </a:pPr>
                      <a:r>
                        <a:rPr sz="2400" kern="0" spc="-70" dirty="0">
                          <a:solidFill>
                            <a:srgbClr val="000000">
                              <a:alpha val="100000"/>
                            </a:srgbClr>
                          </a:solidFill>
                          <a:latin typeface="Arial" panose="020B0604020202020204" pitchFamily="34" charset="0"/>
                          <a:ea typeface="黑体" panose="02010609060101010101" charset="-122"/>
                          <a:cs typeface="Times New Roman" panose="02020603050405020304"/>
                        </a:rPr>
                        <a:t>(0,15)      </a:t>
                      </a:r>
                      <a:r>
                        <a:rPr sz="2400"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FE FE FE</a:t>
                      </a:r>
                      <a:r>
                        <a:rPr sz="24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FE</a:t>
                      </a:r>
                      <a:r>
                        <a:rPr sz="2400" i="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FE</a:t>
                      </a:r>
                      <a:r>
                        <a:rPr sz="2400"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FE</a:t>
                      </a:r>
                      <a:r>
                        <a:rPr sz="2400"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FE</a:t>
                      </a:r>
                      <a:r>
                        <a:rPr sz="2400"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i="1" kern="0" spc="-80" dirty="0">
                          <a:solidFill>
                            <a:srgbClr val="000000">
                              <a:alpha val="100000"/>
                            </a:srgbClr>
                          </a:solidFill>
                          <a:latin typeface="Arial" panose="020B0604020202020204" pitchFamily="34" charset="0"/>
                          <a:ea typeface="黑体" panose="02010609060101010101" charset="-122"/>
                          <a:cs typeface="Times New Roman" panose="02020603050405020304"/>
                        </a:rPr>
                        <a:t>FE</a:t>
                      </a:r>
                      <a:endParaRPr lang="en-US" altLang="en-US" sz="24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c>
                  <a:txBody>
                    <a:bodyPr/>
                    <a:lstStyle/>
                    <a:p>
                      <a:pPr algn="l" rtl="0" eaLnBrk="0">
                        <a:lnSpc>
                          <a:spcPct val="124000"/>
                        </a:lnSpc>
                      </a:pPr>
                      <a:r>
                        <a:rPr lang="en-US" sz="3700"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(0,15)</a:t>
                      </a:r>
                      <a:r>
                        <a:rPr sz="2400" kern="0" spc="-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3700" i="1" kern="0" spc="-7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2400"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7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FF</a:t>
                      </a:r>
                      <a:r>
                        <a:rPr sz="2400"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7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FF</a:t>
                      </a:r>
                      <a:r>
                        <a:rPr sz="2400"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FF</a:t>
                      </a:r>
                      <a:r>
                        <a:rPr sz="2400"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FF</a:t>
                      </a:r>
                      <a:r>
                        <a:rPr sz="2400"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FF</a:t>
                      </a:r>
                      <a:r>
                        <a:rPr sz="2400"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700" i="1" kern="0" spc="-6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a:t>
                      </a:r>
                      <a:r>
                        <a:rPr sz="3700" i="1" kern="0" spc="130" baseline="3000" dirty="0">
                          <a:solidFill>
                            <a:srgbClr val="000000">
                              <a:alpha val="100000"/>
                            </a:srgbClr>
                          </a:solidFill>
                          <a:latin typeface="Arial" panose="020B0604020202020204" pitchFamily="34" charset="0"/>
                          <a:ea typeface="黑体" panose="02010609060101010101" charset="-122"/>
                          <a:cs typeface="Times New Roman" panose="02020603050405020304"/>
                        </a:rPr>
                        <a:t>F</a:t>
                      </a:r>
                      <a:endParaRPr lang="en-US" altLang="en-US" sz="3700" baseline="3000" dirty="0">
                        <a:latin typeface="Arial" panose="020B0604020202020204" pitchFamily="34" charset="0"/>
                        <a:ea typeface="黑体" panose="02010609060101010101" charset="-122"/>
                      </a:endParaRPr>
                    </a:p>
                  </a:txBody>
                  <a:tcPr marL="0" marR="0" marT="0" marB="0" vert="horz">
                    <a:lnL>
                      <a:noFill/>
                    </a:lnL>
                    <a:lnR>
                      <a:noFill/>
                    </a:lnR>
                    <a:lnT>
                      <a:noFill/>
                    </a:lnT>
                    <a:lnB>
                      <a:noFill/>
                    </a:lnB>
                  </a:tcPr>
                </a:tc>
              </a:tr>
            </a:tbl>
          </a:graphicData>
        </a:graphic>
      </p:graphicFrame>
      <p:pic>
        <p:nvPicPr>
          <p:cNvPr id="62" name="picture 62"/>
          <p:cNvPicPr>
            <a:picLocks noChangeAspect="1"/>
          </p:cNvPicPr>
          <p:nvPr/>
        </p:nvPicPr>
        <p:blipFill>
          <a:blip r:embed="rId2"/>
          <a:stretch>
            <a:fillRect/>
          </a:stretch>
        </p:blipFill>
        <p:spPr>
          <a:xfrm rot="21600000">
            <a:off x="7962431" y="5758443"/>
            <a:ext cx="326190" cy="231826"/>
          </a:xfrm>
          <a:prstGeom prst="rect">
            <a:avLst/>
          </a:prstGeom>
        </p:spPr>
      </p:pic>
      <p:pic>
        <p:nvPicPr>
          <p:cNvPr id="64" name="picture 64"/>
          <p:cNvPicPr>
            <a:picLocks noChangeAspect="1"/>
          </p:cNvPicPr>
          <p:nvPr/>
        </p:nvPicPr>
        <p:blipFill>
          <a:blip r:embed="rId3"/>
          <a:stretch>
            <a:fillRect/>
          </a:stretch>
        </p:blipFill>
        <p:spPr>
          <a:xfrm rot="21600000">
            <a:off x="2011749" y="5758283"/>
            <a:ext cx="325028" cy="240584"/>
          </a:xfrm>
          <a:prstGeom prst="rect">
            <a:avLst/>
          </a:prstGeom>
        </p:spPr>
      </p:pic>
      <p:pic>
        <p:nvPicPr>
          <p:cNvPr id="66" name="picture 66"/>
          <p:cNvPicPr>
            <a:picLocks noChangeAspect="1"/>
          </p:cNvPicPr>
          <p:nvPr/>
        </p:nvPicPr>
        <p:blipFill>
          <a:blip r:embed="rId4"/>
          <a:stretch>
            <a:fillRect/>
          </a:stretch>
        </p:blipFill>
        <p:spPr>
          <a:xfrm rot="21600000">
            <a:off x="7872217" y="5078306"/>
            <a:ext cx="326211" cy="232750"/>
          </a:xfrm>
          <a:prstGeom prst="rect">
            <a:avLst/>
          </a:prstGeom>
        </p:spPr>
      </p:pic>
      <p:pic>
        <p:nvPicPr>
          <p:cNvPr id="68" name="picture 68"/>
          <p:cNvPicPr>
            <a:picLocks noChangeAspect="1"/>
          </p:cNvPicPr>
          <p:nvPr/>
        </p:nvPicPr>
        <p:blipFill>
          <a:blip r:embed="rId5"/>
          <a:stretch>
            <a:fillRect/>
          </a:stretch>
        </p:blipFill>
        <p:spPr>
          <a:xfrm rot="21600000">
            <a:off x="2011748" y="5137857"/>
            <a:ext cx="325028" cy="240517"/>
          </a:xfrm>
          <a:prstGeom prst="rect">
            <a:avLst/>
          </a:prstGeom>
        </p:spPr>
      </p:pic>
      <p:pic>
        <p:nvPicPr>
          <p:cNvPr id="70" name="picture 70"/>
          <p:cNvPicPr>
            <a:picLocks noChangeAspect="1"/>
          </p:cNvPicPr>
          <p:nvPr/>
        </p:nvPicPr>
        <p:blipFill>
          <a:blip r:embed="rId4"/>
          <a:stretch>
            <a:fillRect/>
          </a:stretch>
        </p:blipFill>
        <p:spPr>
          <a:xfrm rot="21600000">
            <a:off x="7871785" y="4437492"/>
            <a:ext cx="326211" cy="232750"/>
          </a:xfrm>
          <a:prstGeom prst="rect">
            <a:avLst/>
          </a:prstGeom>
        </p:spPr>
      </p:pic>
      <p:pic>
        <p:nvPicPr>
          <p:cNvPr id="72" name="picture 72"/>
          <p:cNvPicPr>
            <a:picLocks noChangeAspect="1"/>
          </p:cNvPicPr>
          <p:nvPr/>
        </p:nvPicPr>
        <p:blipFill>
          <a:blip r:embed="rId6"/>
          <a:stretch>
            <a:fillRect/>
          </a:stretch>
        </p:blipFill>
        <p:spPr>
          <a:xfrm rot="21600000">
            <a:off x="2011400" y="4510235"/>
            <a:ext cx="325028" cy="247421"/>
          </a:xfrm>
          <a:prstGeom prst="rect">
            <a:avLst/>
          </a:prstGeom>
        </p:spPr>
      </p:pic>
      <p:pic>
        <p:nvPicPr>
          <p:cNvPr id="74" name="picture 74"/>
          <p:cNvPicPr>
            <a:picLocks noChangeAspect="1"/>
          </p:cNvPicPr>
          <p:nvPr/>
        </p:nvPicPr>
        <p:blipFill>
          <a:blip r:embed="rId4"/>
          <a:stretch>
            <a:fillRect/>
          </a:stretch>
        </p:blipFill>
        <p:spPr>
          <a:xfrm rot="21600000">
            <a:off x="7872114" y="3796696"/>
            <a:ext cx="326211" cy="232750"/>
          </a:xfrm>
          <a:prstGeom prst="rect">
            <a:avLst/>
          </a:prstGeom>
        </p:spPr>
      </p:pic>
      <p:pic>
        <p:nvPicPr>
          <p:cNvPr id="76" name="picture 76"/>
          <p:cNvPicPr>
            <a:picLocks noChangeAspect="1"/>
          </p:cNvPicPr>
          <p:nvPr/>
        </p:nvPicPr>
        <p:blipFill>
          <a:blip r:embed="rId6"/>
          <a:stretch>
            <a:fillRect/>
          </a:stretch>
        </p:blipFill>
        <p:spPr>
          <a:xfrm rot="21600000">
            <a:off x="2011009" y="3882583"/>
            <a:ext cx="325028" cy="247421"/>
          </a:xfrm>
          <a:prstGeom prst="rect">
            <a:avLst/>
          </a:prstGeom>
        </p:spPr>
      </p:pic>
      <p:sp>
        <p:nvSpPr>
          <p:cNvPr id="78" name="textbox 78"/>
          <p:cNvSpPr/>
          <p:nvPr/>
        </p:nvSpPr>
        <p:spPr>
          <a:xfrm>
            <a:off x="919073" y="1499413"/>
            <a:ext cx="10347959" cy="1019175"/>
          </a:xfrm>
          <a:prstGeom prst="rect">
            <a:avLst/>
          </a:prstGeom>
        </p:spPr>
        <p:txBody>
          <a:bodyPr vert="horz" wrap="square" lIns="0" tIns="0" rIns="0" bIns="0"/>
          <a:lstStyle/>
          <a:p>
            <a:pPr algn="l" rtl="0" eaLnBrk="0">
              <a:lnSpc>
                <a:spcPct val="52000"/>
              </a:lnSpc>
            </a:pPr>
            <a:endParaRPr lang="en-US" altLang="en-US" sz="100" dirty="0">
              <a:latin typeface="Arial" panose="020B0604020202020204" pitchFamily="34" charset="0"/>
              <a:ea typeface="黑体" panose="02010609060101010101" charset="-122"/>
            </a:endParaRPr>
          </a:p>
          <a:p>
            <a:pPr marL="234950" indent="-222250" algn="l" rtl="0" eaLnBrk="0">
              <a:lnSpc>
                <a:spcPct val="91000"/>
              </a:lnSpc>
            </a:pPr>
            <a:r>
              <a:rPr sz="24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算法在每次迭代时都有一个子密钥供加密用。如果给定</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初始密钥</a:t>
            </a:r>
            <a:r>
              <a:rPr sz="2400" b="1" i="1" kern="0" spc="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i="1" kern="0" spc="-2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，各</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轮的子密钥都相同，即有</a:t>
            </a:r>
            <a:r>
              <a:rPr sz="2400" b="1"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7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7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  …  =</a:t>
            </a:r>
            <a:r>
              <a:rPr sz="2400" b="1" i="1" kern="0" spc="7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7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15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6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就称给定密钥</a:t>
            </a: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6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为弱密钥</a:t>
            </a:r>
            <a:r>
              <a:rPr sz="2400" b="1" kern="0" spc="6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Weak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key)</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p:txBody>
      </p:sp>
      <p:sp>
        <p:nvSpPr>
          <p:cNvPr id="80" name="textbox 80"/>
          <p:cNvSpPr/>
          <p:nvPr/>
        </p:nvSpPr>
        <p:spPr>
          <a:xfrm>
            <a:off x="1551305" y="491490"/>
            <a:ext cx="3744595" cy="483870"/>
          </a:xfrm>
          <a:prstGeom prst="rect">
            <a:avLst/>
          </a:prstGeom>
        </p:spPr>
        <p:txBody>
          <a:bodyPr vert="horz" wrap="square" lIns="0" tIns="0" rIns="0" bIns="0"/>
          <a:lstStyle/>
          <a:p>
            <a:pPr algn="l" rtl="0" eaLnBrk="0">
              <a:lnSpc>
                <a:spcPct val="8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14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的弱密钥</a:t>
            </a:r>
            <a:endParaRPr lang="en-US" altLang="en-US" sz="3100" dirty="0">
              <a:latin typeface="Arial" panose="020B0604020202020204" pitchFamily="34" charset="0"/>
              <a:ea typeface="黑体" panose="02010609060101010101" charset="-122"/>
            </a:endParaRPr>
          </a:p>
        </p:txBody>
      </p:sp>
      <p:sp>
        <p:nvSpPr>
          <p:cNvPr id="8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86" name="picture 86"/>
          <p:cNvPicPr>
            <a:picLocks noChangeAspect="1"/>
          </p:cNvPicPr>
          <p:nvPr/>
        </p:nvPicPr>
        <p:blipFill>
          <a:blip r:embed="rId7"/>
          <a:stretch>
            <a:fillRect/>
          </a:stretch>
        </p:blipFill>
        <p:spPr>
          <a:xfrm rot="21600000">
            <a:off x="822960" y="408431"/>
            <a:ext cx="420623" cy="655320"/>
          </a:xfrm>
          <a:prstGeom prst="rect">
            <a:avLst/>
          </a:prstGeom>
        </p:spPr>
      </p:pic>
      <p:sp>
        <p:nvSpPr>
          <p:cNvPr id="88"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3709415" y="3886200"/>
            <a:ext cx="5507736" cy="813816"/>
            <a:chOff x="0" y="0"/>
            <a:chExt cx="5507736" cy="813816"/>
          </a:xfrm>
        </p:grpSpPr>
        <p:pic>
          <p:nvPicPr>
            <p:cNvPr id="90" name="picture 90"/>
            <p:cNvPicPr>
              <a:picLocks noChangeAspect="1"/>
            </p:cNvPicPr>
            <p:nvPr/>
          </p:nvPicPr>
          <p:blipFill>
            <a:blip r:embed="rId1"/>
            <a:stretch>
              <a:fillRect/>
            </a:stretch>
          </p:blipFill>
          <p:spPr>
            <a:xfrm rot="21600000">
              <a:off x="0" y="0"/>
              <a:ext cx="5507736" cy="813816"/>
            </a:xfrm>
            <a:prstGeom prst="rect">
              <a:avLst/>
            </a:prstGeom>
          </p:spPr>
        </p:pic>
        <p:sp>
          <p:nvSpPr>
            <p:cNvPr id="92" name="textbox 92"/>
            <p:cNvSpPr/>
            <p:nvPr/>
          </p:nvSpPr>
          <p:spPr>
            <a:xfrm>
              <a:off x="-12700" y="-12700"/>
              <a:ext cx="5533390" cy="880744"/>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marL="661670" algn="l" rtl="0" eaLnBrk="0">
                <a:lnSpc>
                  <a:spcPct val="95000"/>
                </a:lnSpc>
                <a:spcBef>
                  <a:spcPts val="5"/>
                </a:spcBef>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的密钥长度的争论</a:t>
              </a:r>
              <a:endParaRPr lang="en-US" altLang="en-US" sz="2400" dirty="0">
                <a:latin typeface="Arial" panose="020B0604020202020204" pitchFamily="34" charset="0"/>
                <a:ea typeface="黑体" panose="02010609060101010101" charset="-122"/>
              </a:endParaRPr>
            </a:p>
          </p:txBody>
        </p:sp>
      </p:grpSp>
      <p:grpSp>
        <p:nvGrpSpPr>
          <p:cNvPr id="10" name="group 10"/>
          <p:cNvGrpSpPr/>
          <p:nvPr/>
        </p:nvGrpSpPr>
        <p:grpSpPr>
          <a:xfrm rot="21600000">
            <a:off x="3557015" y="2057400"/>
            <a:ext cx="5708903" cy="813816"/>
            <a:chOff x="0" y="0"/>
            <a:chExt cx="5708903" cy="813816"/>
          </a:xfrm>
        </p:grpSpPr>
        <p:pic>
          <p:nvPicPr>
            <p:cNvPr id="94" name="picture 94"/>
            <p:cNvPicPr>
              <a:picLocks noChangeAspect="1"/>
            </p:cNvPicPr>
            <p:nvPr/>
          </p:nvPicPr>
          <p:blipFill>
            <a:blip r:embed="rId2"/>
            <a:stretch>
              <a:fillRect/>
            </a:stretch>
          </p:blipFill>
          <p:spPr>
            <a:xfrm rot="21600000">
              <a:off x="0" y="0"/>
              <a:ext cx="5708903" cy="813816"/>
            </a:xfrm>
            <a:prstGeom prst="rect">
              <a:avLst/>
            </a:prstGeom>
          </p:spPr>
        </p:pic>
        <p:sp>
          <p:nvSpPr>
            <p:cNvPr id="96" name="textbox 96"/>
            <p:cNvSpPr/>
            <p:nvPr/>
          </p:nvSpPr>
          <p:spPr>
            <a:xfrm>
              <a:off x="-12700" y="-12700"/>
              <a:ext cx="5734684" cy="880744"/>
            </a:xfrm>
            <a:prstGeom prst="rect">
              <a:avLst/>
            </a:prstGeom>
          </p:spPr>
          <p:txBody>
            <a:bodyPr vert="horz" wrap="square" lIns="0" tIns="0" rIns="0" bIns="0"/>
            <a:lstStyle/>
            <a:p>
              <a:pPr algn="l" rtl="0" eaLnBrk="0">
                <a:lnSpc>
                  <a:spcPct val="166000"/>
                </a:lnSpc>
              </a:pPr>
              <a:endParaRPr lang="en-US" altLang="en-US" sz="10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661670" algn="l" rtl="0" eaLnBrk="0">
                <a:lnSpc>
                  <a:spcPct val="95000"/>
                </a:lnSpc>
              </a:pPr>
              <a:r>
                <a:rPr sz="2400" b="1" kern="0" spc="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的弱密钥</a:t>
              </a:r>
              <a:endParaRPr lang="en-US" altLang="en-US" sz="2400" dirty="0">
                <a:latin typeface="Arial" panose="020B0604020202020204" pitchFamily="34" charset="0"/>
                <a:ea typeface="黑体" panose="02010609060101010101" charset="-122"/>
              </a:endParaRPr>
            </a:p>
          </p:txBody>
        </p:sp>
      </p:grpSp>
      <p:grpSp>
        <p:nvGrpSpPr>
          <p:cNvPr id="12" name="group 12"/>
          <p:cNvGrpSpPr/>
          <p:nvPr/>
        </p:nvGrpSpPr>
        <p:grpSpPr>
          <a:xfrm rot="21600000">
            <a:off x="2969132" y="1523492"/>
            <a:ext cx="1249298" cy="3784726"/>
            <a:chOff x="0" y="0"/>
            <a:chExt cx="1249298" cy="3784726"/>
          </a:xfrm>
        </p:grpSpPr>
        <p:sp>
          <p:nvSpPr>
            <p:cNvPr id="98"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100"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2"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104"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6"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108" name="textbox 108"/>
          <p:cNvSpPr/>
          <p:nvPr/>
        </p:nvSpPr>
        <p:spPr>
          <a:xfrm>
            <a:off x="2745984" y="491245"/>
            <a:ext cx="4472304" cy="478155"/>
          </a:xfrm>
          <a:prstGeom prst="rect">
            <a:avLst/>
          </a:prstGeom>
        </p:spPr>
        <p:txBody>
          <a:bodyPr vert="horz" wrap="square" lIns="0" tIns="0" rIns="0" bIns="0"/>
          <a:lstStyle/>
          <a:p>
            <a:pPr algn="l" rtl="0" eaLnBrk="0">
              <a:lnSpc>
                <a:spcPct val="7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9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的安全性</a:t>
            </a:r>
            <a:endParaRPr lang="en-US" altLang="en-US" sz="3100" dirty="0">
              <a:latin typeface="Arial" panose="020B0604020202020204" pitchFamily="34" charset="0"/>
              <a:ea typeface="黑体" panose="02010609060101010101" charset="-122"/>
            </a:endParaRPr>
          </a:p>
        </p:txBody>
      </p:sp>
      <p:sp>
        <p:nvSpPr>
          <p:cNvPr id="1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14" name="picture 114"/>
          <p:cNvPicPr>
            <a:picLocks noChangeAspect="1"/>
          </p:cNvPicPr>
          <p:nvPr/>
        </p:nvPicPr>
        <p:blipFill>
          <a:blip r:embed="rId3"/>
          <a:stretch>
            <a:fillRect/>
          </a:stretch>
        </p:blipFill>
        <p:spPr>
          <a:xfrm rot="21600000">
            <a:off x="822960" y="408431"/>
            <a:ext cx="420623" cy="655320"/>
          </a:xfrm>
          <a:prstGeom prst="rect">
            <a:avLst/>
          </a:prstGeom>
        </p:spPr>
      </p:pic>
      <p:sp>
        <p:nvSpPr>
          <p:cNvPr id="11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box 118"/>
          <p:cNvSpPr/>
          <p:nvPr/>
        </p:nvSpPr>
        <p:spPr>
          <a:xfrm>
            <a:off x="919073" y="1566206"/>
            <a:ext cx="10605769" cy="3820795"/>
          </a:xfrm>
          <a:prstGeom prst="rect">
            <a:avLst/>
          </a:prstGeom>
        </p:spPr>
        <p:txBody>
          <a:bodyPr vert="horz" wrap="square" lIns="0" tIns="0" rIns="0" bIns="0"/>
          <a:lstStyle/>
          <a:p>
            <a:pPr algn="l" rtl="0" eaLnBrk="0">
              <a:lnSpc>
                <a:spcPct val="77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3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算法正式公开发表以后，引</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起了一场激烈的争论</a:t>
            </a:r>
            <a:endParaRPr lang="en-US" altLang="en-US" sz="2400" dirty="0">
              <a:latin typeface="Arial" panose="020B0604020202020204" pitchFamily="34" charset="0"/>
              <a:ea typeface="黑体" panose="02010609060101010101" charset="-122"/>
            </a:endParaRPr>
          </a:p>
          <a:p>
            <a:pPr marL="225425" indent="-213360" algn="l" rtl="0" eaLnBrk="0">
              <a:lnSpc>
                <a:spcPct val="111000"/>
              </a:lnSpc>
              <a:spcBef>
                <a:spcPts val="1625"/>
              </a:spcBef>
            </a:pPr>
            <a:r>
              <a:rPr sz="2400" kern="0" spc="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对</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安全性批评意见中，较为一致的看法是</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的密钥短了些。</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IBM</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最初向</a:t>
            </a:r>
            <a:r>
              <a:rPr sz="24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NBS</a:t>
            </a:r>
            <a:r>
              <a:rPr sz="2400" kern="0" spc="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提交的建议方案采用11</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2</a:t>
            </a:r>
            <a:r>
              <a:rPr sz="24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bits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密钥，但公布的</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标准采用64</a:t>
            </a:r>
            <a:r>
              <a:rPr sz="24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bits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有人认为</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NSA</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故意限制</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的密钥长度。</a:t>
            </a:r>
            <a:endParaRPr lang="en-US" altLang="en-US" sz="2400" dirty="0">
              <a:latin typeface="Arial" panose="020B0604020202020204" pitchFamily="34" charset="0"/>
              <a:ea typeface="黑体" panose="02010609060101010101" charset="-122"/>
            </a:endParaRPr>
          </a:p>
          <a:p>
            <a:pPr marL="12700" algn="l" rtl="0" eaLnBrk="0">
              <a:lnSpc>
                <a:spcPct val="100000"/>
              </a:lnSpc>
              <a:spcBef>
                <a:spcPts val="173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采用穷搜索已经对</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DES构成了威胁。</a:t>
            </a:r>
            <a:endParaRPr lang="en-US" altLang="en-US" sz="2400" dirty="0">
              <a:latin typeface="Arial" panose="020B0604020202020204" pitchFamily="34" charset="0"/>
              <a:ea typeface="黑体" panose="02010609060101010101" charset="-122"/>
            </a:endParaRPr>
          </a:p>
          <a:p>
            <a:pPr algn="l" rtl="0" eaLnBrk="0">
              <a:lnSpc>
                <a:spcPct val="101000"/>
              </a:lnSpc>
            </a:pPr>
            <a:endParaRPr lang="en-US" altLang="en-US" sz="1300" dirty="0">
              <a:latin typeface="Arial" panose="020B0604020202020204" pitchFamily="34" charset="0"/>
              <a:ea typeface="黑体" panose="02010609060101010101" charset="-122"/>
            </a:endParaRPr>
          </a:p>
          <a:p>
            <a:pPr algn="l" rtl="0" eaLnBrk="0">
              <a:lnSpc>
                <a:spcPct val="11000"/>
              </a:lnSpc>
            </a:pPr>
            <a:endParaRPr lang="en-US" altLang="en-US" sz="100" dirty="0">
              <a:latin typeface="Arial" panose="020B0604020202020204" pitchFamily="34" charset="0"/>
              <a:ea typeface="黑体" panose="02010609060101010101" charset="-122"/>
            </a:endParaRPr>
          </a:p>
          <a:p>
            <a:pPr marL="245745" indent="-233680" algn="l" rtl="0" eaLnBrk="0">
              <a:lnSpc>
                <a:spcPct val="111000"/>
              </a:lnSpc>
            </a:pPr>
            <a:r>
              <a:rPr sz="2400" kern="0" spc="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1977年</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Diffie</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Hellman</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提出了制造一个每秒能测试106个密钥的大规模芯</a:t>
            </a:r>
            <a:r>
              <a:rPr sz="2400" kern="0" spc="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片，这种芯片的机器大约一天就可以搜索</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算法的整个密钥空</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间，制造这</a:t>
            </a:r>
            <a:r>
              <a:rPr sz="24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样的机器需要两千万美元。</a:t>
            </a:r>
            <a:endParaRPr lang="en-US" altLang="en-US" sz="2400" dirty="0">
              <a:latin typeface="Arial" panose="020B0604020202020204" pitchFamily="34" charset="0"/>
              <a:ea typeface="黑体" panose="02010609060101010101" charset="-122"/>
            </a:endParaRPr>
          </a:p>
        </p:txBody>
      </p:sp>
      <p:sp>
        <p:nvSpPr>
          <p:cNvPr id="120" name="textbox 120"/>
          <p:cNvSpPr/>
          <p:nvPr/>
        </p:nvSpPr>
        <p:spPr>
          <a:xfrm>
            <a:off x="810260" y="-12700"/>
            <a:ext cx="11395075" cy="1155064"/>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43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5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密钥长度的争论</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24" name="picture 124"/>
          <p:cNvPicPr>
            <a:picLocks noChangeAspect="1"/>
          </p:cNvPicPr>
          <p:nvPr/>
        </p:nvPicPr>
        <p:blipFill>
          <a:blip r:embed="rId1"/>
          <a:stretch>
            <a:fillRect/>
          </a:stretch>
        </p:blipFill>
        <p:spPr>
          <a:xfrm rot="21600000">
            <a:off x="822960" y="408431"/>
            <a:ext cx="420623" cy="655320"/>
          </a:xfrm>
          <a:prstGeom prst="rect">
            <a:avLst/>
          </a:prstGeom>
        </p:spPr>
      </p:pic>
      <p:sp>
        <p:nvSpPr>
          <p:cNvPr id="12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921819" y="1576561"/>
            <a:ext cx="10246359" cy="3885565"/>
          </a:xfrm>
          <a:prstGeom prst="rect">
            <a:avLst/>
          </a:prstGeom>
        </p:spPr>
        <p:txBody>
          <a:bodyPr vert="horz" wrap="square" lIns="0" tIns="0" rIns="0" bIns="0"/>
          <a:lstStyle/>
          <a:p>
            <a:pPr algn="l" rtl="0" eaLnBrk="0">
              <a:lnSpc>
                <a:spcPct val="100000"/>
              </a:lnSpc>
            </a:pPr>
            <a:endParaRPr lang="en-US" altLang="en-US" sz="100" dirty="0">
              <a:latin typeface="Arial" panose="020B0604020202020204" pitchFamily="34" charset="0"/>
              <a:ea typeface="黑体" panose="02010609060101010101" charset="-122"/>
            </a:endParaRPr>
          </a:p>
          <a:p>
            <a:pPr marL="245745" indent="-233045" algn="l" rtl="0" eaLnBrk="0">
              <a:lnSpc>
                <a:spcPct val="107000"/>
              </a:lnSpc>
            </a:pPr>
            <a:r>
              <a:rPr sz="28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1993年，</a:t>
            </a:r>
            <a:r>
              <a:rPr sz="2800" kern="0" spc="-29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R.S</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ession和M.Wiener给出了一个非常详细的密钥搜索</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机器的设计方案</a:t>
            </a:r>
            <a:endParaRPr lang="en-US" altLang="en-US" sz="2800" dirty="0">
              <a:latin typeface="Arial" panose="020B0604020202020204" pitchFamily="34" charset="0"/>
              <a:ea typeface="黑体" panose="02010609060101010101" charset="-122"/>
            </a:endParaRPr>
          </a:p>
          <a:p>
            <a:pPr marL="12700" algn="l" rtl="0" eaLnBrk="0">
              <a:lnSpc>
                <a:spcPct val="99000"/>
              </a:lnSpc>
              <a:spcBef>
                <a:spcPts val="1880"/>
              </a:spcBef>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基于并行的密钥搜索芯片，此芯片每秒测试5×107个密钥</a:t>
            </a:r>
            <a:endParaRPr lang="en-US" altLang="en-US" sz="2800" dirty="0">
              <a:latin typeface="Arial" panose="020B0604020202020204" pitchFamily="34" charset="0"/>
              <a:ea typeface="黑体" panose="02010609060101010101" charset="-122"/>
            </a:endParaRPr>
          </a:p>
          <a:p>
            <a:pPr marL="259715" indent="-247015" algn="l" rtl="0" eaLnBrk="0">
              <a:lnSpc>
                <a:spcPct val="107000"/>
              </a:lnSpc>
              <a:spcBef>
                <a:spcPts val="1700"/>
              </a:spcBef>
            </a:pPr>
            <a:r>
              <a:rPr sz="2800" kern="0" spc="-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6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当时这种芯片的造价是10.5美元，</a:t>
            </a:r>
            <a:r>
              <a:rPr sz="2800" kern="0" spc="-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5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5760个这样的芯片组成的系统</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需要10万美元，这一系统平均1.5天即可找到密钥</a:t>
            </a:r>
            <a:endParaRPr lang="en-US" altLang="en-US" sz="2800" dirty="0">
              <a:latin typeface="Arial" panose="020B0604020202020204" pitchFamily="34" charset="0"/>
              <a:ea typeface="黑体" panose="02010609060101010101" charset="-122"/>
            </a:endParaRPr>
          </a:p>
          <a:p>
            <a:pPr algn="l" rtl="0" eaLnBrk="0">
              <a:lnSpc>
                <a:spcPct val="105000"/>
              </a:lnSpc>
            </a:pPr>
            <a:endParaRPr lang="en-US" altLang="en-US" sz="1500" dirty="0">
              <a:latin typeface="Arial" panose="020B0604020202020204" pitchFamily="34" charset="0"/>
              <a:ea typeface="黑体" panose="02010609060101010101" charset="-122"/>
            </a:endParaRPr>
          </a:p>
          <a:p>
            <a:pPr marL="263525" indent="-250825" algn="l" rtl="0" eaLnBrk="0">
              <a:lnSpc>
                <a:spcPct val="107000"/>
              </a:lnSpc>
              <a:spcBef>
                <a:spcPts val="5"/>
              </a:spcBef>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如果利用10个这样的系统，费用是100万美元，但搜索时间可以</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降到2.5小时。</a:t>
            </a:r>
            <a:endParaRPr lang="en-US" altLang="en-US" sz="2800" dirty="0">
              <a:latin typeface="Arial" panose="020B0604020202020204" pitchFamily="34" charset="0"/>
              <a:ea typeface="黑体" panose="02010609060101010101" charset="-122"/>
            </a:endParaRPr>
          </a:p>
        </p:txBody>
      </p:sp>
      <p:sp>
        <p:nvSpPr>
          <p:cNvPr id="130" name="textbox 130"/>
          <p:cNvSpPr/>
          <p:nvPr/>
        </p:nvSpPr>
        <p:spPr>
          <a:xfrm>
            <a:off x="810260" y="-12700"/>
            <a:ext cx="11395075" cy="1155064"/>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46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1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密钥搜索</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34" name="picture 134"/>
          <p:cNvPicPr>
            <a:picLocks noChangeAspect="1"/>
          </p:cNvPicPr>
          <p:nvPr/>
        </p:nvPicPr>
        <p:blipFill>
          <a:blip r:embed="rId1"/>
          <a:stretch>
            <a:fillRect/>
          </a:stretch>
        </p:blipFill>
        <p:spPr>
          <a:xfrm rot="21600000">
            <a:off x="822960" y="408431"/>
            <a:ext cx="420623" cy="655320"/>
          </a:xfrm>
          <a:prstGeom prst="rect">
            <a:avLst/>
          </a:prstGeom>
        </p:spPr>
      </p:pic>
      <p:sp>
        <p:nvSpPr>
          <p:cNvPr id="13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box 138"/>
          <p:cNvSpPr/>
          <p:nvPr/>
        </p:nvSpPr>
        <p:spPr>
          <a:xfrm>
            <a:off x="921819" y="1576561"/>
            <a:ext cx="10250805" cy="2610485"/>
          </a:xfrm>
          <a:prstGeom prst="rect">
            <a:avLst/>
          </a:prstGeom>
        </p:spPr>
        <p:txBody>
          <a:bodyPr vert="horz" wrap="square" lIns="0" tIns="0" rIns="0" bIns="0"/>
          <a:lstStyle/>
          <a:p>
            <a:pPr algn="l" rtl="0" eaLnBrk="0">
              <a:lnSpc>
                <a:spcPct val="91000"/>
              </a:lnSpc>
            </a:pPr>
            <a:endParaRPr lang="en-US" altLang="en-US" sz="100" dirty="0">
              <a:latin typeface="Arial" panose="020B0604020202020204" pitchFamily="34" charset="0"/>
              <a:ea typeface="黑体" panose="02010609060101010101" charset="-122"/>
            </a:endParaRPr>
          </a:p>
          <a:p>
            <a:pPr marL="241935" indent="-229235" algn="l" rtl="0" eaLnBrk="0">
              <a:lnSpc>
                <a:spcPct val="107000"/>
              </a:lnSpc>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的56位短密钥面临的另外一个严峻而现实的问题是：国</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际互</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联网Internet的超级</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计算能力。</a:t>
            </a:r>
            <a:endParaRPr lang="en-US" altLang="en-US" sz="2800" dirty="0">
              <a:latin typeface="Arial" panose="020B0604020202020204" pitchFamily="34" charset="0"/>
              <a:ea typeface="黑体" panose="02010609060101010101" charset="-122"/>
            </a:endParaRPr>
          </a:p>
          <a:p>
            <a:pPr algn="l" rtl="0" eaLnBrk="0">
              <a:lnSpc>
                <a:spcPct val="103000"/>
              </a:lnSpc>
            </a:pPr>
            <a:endParaRPr lang="en-US" altLang="en-US" sz="1500" dirty="0">
              <a:latin typeface="Arial" panose="020B0604020202020204" pitchFamily="34" charset="0"/>
              <a:ea typeface="黑体" panose="02010609060101010101" charset="-122"/>
            </a:endParaRPr>
          </a:p>
          <a:p>
            <a:pPr algn="l" rtl="0" eaLnBrk="0">
              <a:lnSpc>
                <a:spcPct val="9000"/>
              </a:lnSpc>
            </a:pPr>
            <a:endParaRPr lang="en-US" altLang="en-US" sz="100" dirty="0">
              <a:latin typeface="Arial" panose="020B0604020202020204" pitchFamily="34" charset="0"/>
              <a:ea typeface="黑体" panose="02010609060101010101" charset="-122"/>
            </a:endParaRPr>
          </a:p>
          <a:p>
            <a:pPr marL="244475" indent="-231775" algn="l" rtl="0" eaLnBrk="0">
              <a:lnSpc>
                <a:spcPct val="112000"/>
              </a:lnSpc>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1997年1月28日，美国的RSA数据安全公司在互联网上开展了一</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项</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名为“密钥挑战</a:t>
            </a:r>
            <a:r>
              <a:rPr sz="2800" kern="0" spc="-9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”的竞赛，悬赏一万美元，破解一段用56位密钥</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加密的DES密文。</a:t>
            </a:r>
            <a:endParaRPr lang="en-US" altLang="en-US" sz="2800" dirty="0">
              <a:latin typeface="Arial" panose="020B0604020202020204" pitchFamily="34" charset="0"/>
              <a:ea typeface="黑体" panose="02010609060101010101" charset="-122"/>
            </a:endParaRPr>
          </a:p>
        </p:txBody>
      </p:sp>
      <p:sp>
        <p:nvSpPr>
          <p:cNvPr id="140" name="textbox 140"/>
          <p:cNvSpPr/>
          <p:nvPr/>
        </p:nvSpPr>
        <p:spPr>
          <a:xfrm>
            <a:off x="810260" y="-12700"/>
            <a:ext cx="11395075" cy="115188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42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6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密钥搜索与超级计算</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44" name="picture 144"/>
          <p:cNvPicPr>
            <a:picLocks noChangeAspect="1"/>
          </p:cNvPicPr>
          <p:nvPr/>
        </p:nvPicPr>
        <p:blipFill>
          <a:blip r:embed="rId1"/>
          <a:stretch>
            <a:fillRect/>
          </a:stretch>
        </p:blipFill>
        <p:spPr>
          <a:xfrm rot="21600000">
            <a:off x="822960" y="408431"/>
            <a:ext cx="420623" cy="655320"/>
          </a:xfrm>
          <a:prstGeom prst="rect">
            <a:avLst/>
          </a:prstGeom>
        </p:spPr>
      </p:pic>
      <p:sp>
        <p:nvSpPr>
          <p:cNvPr id="14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box 148"/>
          <p:cNvSpPr/>
          <p:nvPr/>
        </p:nvSpPr>
        <p:spPr>
          <a:xfrm>
            <a:off x="921819" y="1576561"/>
            <a:ext cx="10253980" cy="4254500"/>
          </a:xfrm>
          <a:prstGeom prst="rect">
            <a:avLst/>
          </a:prstGeom>
        </p:spPr>
        <p:txBody>
          <a:bodyPr vert="horz" wrap="square" lIns="0" tIns="0" rIns="0" bIns="0"/>
          <a:lstStyle/>
          <a:p>
            <a:pPr algn="l" rtl="0" eaLnBrk="0">
              <a:lnSpc>
                <a:spcPct val="112000"/>
              </a:lnSpc>
            </a:pPr>
            <a:endParaRPr lang="en-US" altLang="en-US" sz="100" dirty="0">
              <a:latin typeface="Arial" panose="020B0604020202020204" pitchFamily="34" charset="0"/>
              <a:ea typeface="黑体" panose="02010609060101010101" charset="-122"/>
            </a:endParaRPr>
          </a:p>
          <a:p>
            <a:pPr marL="248285" indent="-235585" algn="l" rtl="0" eaLnBrk="0">
              <a:lnSpc>
                <a:spcPct val="111000"/>
              </a:lnSpc>
              <a:spcBef>
                <a:spcPts val="0"/>
              </a:spcBef>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一位名叫Rocke</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Verser的程序员设计了一个可以通过互联网分段</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运行的密钥穷举搜索程序，组织实施了一个称为</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DESHALL</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搜索</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行动，成千上万的志愿者加入到计划中</a:t>
            </a:r>
            <a:endParaRPr lang="en-US" altLang="en-US" sz="2800" dirty="0">
              <a:latin typeface="Arial" panose="020B0604020202020204" pitchFamily="34" charset="0"/>
              <a:ea typeface="黑体" panose="02010609060101010101" charset="-122"/>
            </a:endParaRPr>
          </a:p>
          <a:p>
            <a:pPr marL="250825" indent="-238760" algn="l" rtl="0" eaLnBrk="0">
              <a:lnSpc>
                <a:spcPct val="112000"/>
              </a:lnSpc>
              <a:spcBef>
                <a:spcPts val="1855"/>
              </a:spcBef>
            </a:pPr>
            <a:r>
              <a:rPr sz="28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计划实施的第96天，即挑战赛计划</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公布的第140天，</a:t>
            </a:r>
            <a:r>
              <a:rPr sz="28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4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1997年6月17</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日晚上10点39分，美国盐湖城</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Inetz</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公司的职员</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Michael</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Sanders</a:t>
            </a:r>
            <a:r>
              <a:rPr sz="2800" kern="0" spc="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成功地找到了密钥</a:t>
            </a:r>
            <a:endParaRPr lang="en-US" altLang="en-US" sz="2800" dirty="0">
              <a:latin typeface="Arial" panose="020B0604020202020204" pitchFamily="34" charset="0"/>
              <a:ea typeface="黑体" panose="02010609060101010101" charset="-122"/>
            </a:endParaRPr>
          </a:p>
          <a:p>
            <a:pPr algn="l" rtl="0" eaLnBrk="0">
              <a:lnSpc>
                <a:spcPct val="100000"/>
              </a:lnSpc>
            </a:pPr>
            <a:endParaRPr lang="en-US" altLang="en-US" sz="15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241935" indent="-229235" algn="l" rtl="0" eaLnBrk="0">
              <a:lnSpc>
                <a:spcPct val="106000"/>
              </a:lnSpc>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在计算机上显示了明文：“</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The</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unknown</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message</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is</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8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Strong</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cryptography</a:t>
            </a:r>
            <a:r>
              <a:rPr sz="28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makes</a:t>
            </a:r>
            <a:r>
              <a:rPr sz="28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the</a:t>
            </a:r>
            <a:r>
              <a:rPr sz="28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world</a:t>
            </a:r>
            <a:r>
              <a:rPr sz="28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a:t>
            </a:r>
            <a:r>
              <a:rPr sz="28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safer</a:t>
            </a:r>
            <a:r>
              <a:rPr sz="28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place</a:t>
            </a:r>
            <a:r>
              <a:rPr sz="2800" b="1" kern="0" spc="16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endParaRPr lang="en-US" altLang="en-US" sz="2800" dirty="0">
              <a:latin typeface="Arial" panose="020B0604020202020204" pitchFamily="34" charset="0"/>
              <a:ea typeface="黑体" panose="02010609060101010101" charset="-122"/>
            </a:endParaRPr>
          </a:p>
        </p:txBody>
      </p:sp>
      <p:sp>
        <p:nvSpPr>
          <p:cNvPr id="150" name="textbox 150"/>
          <p:cNvSpPr/>
          <p:nvPr/>
        </p:nvSpPr>
        <p:spPr>
          <a:xfrm>
            <a:off x="810260" y="-12700"/>
            <a:ext cx="11395075" cy="1155064"/>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marL="433070" algn="l" defTabSz="0" rtl="0" eaLnBrk="0">
              <a:lnSpc>
                <a:spcPct val="97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46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1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密钥挑战</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54" name="picture 154"/>
          <p:cNvPicPr>
            <a:picLocks noChangeAspect="1"/>
          </p:cNvPicPr>
          <p:nvPr/>
        </p:nvPicPr>
        <p:blipFill>
          <a:blip r:embed="rId1"/>
          <a:stretch>
            <a:fillRect/>
          </a:stretch>
        </p:blipFill>
        <p:spPr>
          <a:xfrm rot="21600000">
            <a:off x="822960" y="408431"/>
            <a:ext cx="420623" cy="655320"/>
          </a:xfrm>
          <a:prstGeom prst="rect">
            <a:avLst/>
          </a:prstGeom>
        </p:spPr>
      </p:pic>
      <p:sp>
        <p:nvSpPr>
          <p:cNvPr id="15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921819" y="1576561"/>
            <a:ext cx="10250805" cy="2094229"/>
          </a:xfrm>
          <a:prstGeom prst="rect">
            <a:avLst/>
          </a:prstGeom>
        </p:spPr>
        <p:txBody>
          <a:bodyPr vert="horz" wrap="square" lIns="0" tIns="0" rIns="0" bIns="0"/>
          <a:lstStyle/>
          <a:p>
            <a:pPr algn="l" rtl="0" eaLnBrk="0">
              <a:lnSpc>
                <a:spcPct val="100000"/>
              </a:lnSpc>
            </a:pPr>
            <a:endParaRPr lang="en-US" altLang="en-US" sz="100" dirty="0">
              <a:latin typeface="Arial" panose="020B0604020202020204" pitchFamily="34" charset="0"/>
              <a:ea typeface="黑体" panose="02010609060101010101" charset="-122"/>
            </a:endParaRPr>
          </a:p>
          <a:p>
            <a:pPr marL="245745" indent="-233045" algn="l" rtl="0" eaLnBrk="0">
              <a:lnSpc>
                <a:spcPct val="107000"/>
              </a:lnSpc>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1998年7月电子前沿基金会（EFF）使用一台25万美圆的电脑在</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56</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小时内破译了56比特密钥的DES。</a:t>
            </a:r>
            <a:endParaRPr lang="en-US" altLang="en-US" sz="2800" dirty="0">
              <a:latin typeface="Arial" panose="020B0604020202020204" pitchFamily="34" charset="0"/>
              <a:ea typeface="黑体" panose="02010609060101010101" charset="-122"/>
            </a:endParaRPr>
          </a:p>
          <a:p>
            <a:pPr algn="l" rtl="0" eaLnBrk="0">
              <a:lnSpc>
                <a:spcPct val="104000"/>
              </a:lnSpc>
            </a:pPr>
            <a:endParaRPr lang="en-US" altLang="en-US" sz="1500" dirty="0">
              <a:latin typeface="Arial" panose="020B0604020202020204" pitchFamily="34" charset="0"/>
              <a:ea typeface="黑体" panose="02010609060101010101" charset="-122"/>
            </a:endParaRPr>
          </a:p>
          <a:p>
            <a:pPr algn="l" rtl="0" eaLnBrk="0">
              <a:lnSpc>
                <a:spcPct val="13000"/>
              </a:lnSpc>
            </a:pPr>
            <a:endParaRPr lang="en-US" altLang="en-US" sz="100" dirty="0">
              <a:latin typeface="Arial" panose="020B0604020202020204" pitchFamily="34" charset="0"/>
              <a:ea typeface="黑体" panose="02010609060101010101" charset="-122"/>
            </a:endParaRPr>
          </a:p>
          <a:p>
            <a:pPr marL="244475" indent="-231775" algn="l" rtl="0" eaLnBrk="0">
              <a:lnSpc>
                <a:spcPct val="107000"/>
              </a:lnSpc>
            </a:pPr>
            <a:r>
              <a:rPr sz="2800" kern="0" spc="-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7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1999年1月RSA数据安全会议期间，</a:t>
            </a:r>
            <a:r>
              <a:rPr sz="2800" kern="0" spc="110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7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电子前沿基金会用2</a:t>
            </a:r>
            <a:r>
              <a:rPr sz="2800" kern="0" spc="-8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2小时15分</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钟就宣告破解了一个DES的密钥。</a:t>
            </a:r>
            <a:endParaRPr lang="en-US" altLang="en-US" sz="2800" dirty="0">
              <a:latin typeface="Arial" panose="020B0604020202020204" pitchFamily="34" charset="0"/>
              <a:ea typeface="黑体" panose="02010609060101010101" charset="-122"/>
            </a:endParaRPr>
          </a:p>
        </p:txBody>
      </p:sp>
      <p:sp>
        <p:nvSpPr>
          <p:cNvPr id="162" name="textbox 162"/>
          <p:cNvSpPr/>
          <p:nvPr/>
        </p:nvSpPr>
        <p:spPr>
          <a:xfrm>
            <a:off x="1551305" y="491490"/>
            <a:ext cx="2962275"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15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的破解</a:t>
            </a:r>
            <a:endParaRPr lang="en-US" altLang="en-US" sz="3100" dirty="0">
              <a:latin typeface="Arial" panose="020B0604020202020204" pitchFamily="34" charset="0"/>
              <a:ea typeface="黑体" panose="02010609060101010101" charset="-122"/>
            </a:endParaRPr>
          </a:p>
        </p:txBody>
      </p:sp>
      <p:sp>
        <p:nvSpPr>
          <p:cNvPr id="164"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66" name="picture 166"/>
          <p:cNvPicPr>
            <a:picLocks noChangeAspect="1"/>
          </p:cNvPicPr>
          <p:nvPr/>
        </p:nvPicPr>
        <p:blipFill>
          <a:blip r:embed="rId1"/>
          <a:stretch>
            <a:fillRect/>
          </a:stretch>
        </p:blipFill>
        <p:spPr>
          <a:xfrm rot="21600000">
            <a:off x="822960" y="408431"/>
            <a:ext cx="420623" cy="655320"/>
          </a:xfrm>
          <a:prstGeom prst="rect">
            <a:avLst/>
          </a:prstGeom>
        </p:spPr>
      </p:pic>
      <p:sp>
        <p:nvSpPr>
          <p:cNvPr id="168"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textbox 170"/>
          <p:cNvSpPr/>
          <p:nvPr/>
        </p:nvSpPr>
        <p:spPr>
          <a:xfrm>
            <a:off x="921211" y="1319953"/>
            <a:ext cx="10661650" cy="3785870"/>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marL="21590" algn="l" rtl="0" eaLnBrk="0">
              <a:lnSpc>
                <a:spcPct val="95000"/>
              </a:lnSpc>
            </a:pPr>
            <a:r>
              <a:rPr sz="2400" kern="0" spc="0" dirty="0">
                <a:ln w="8717"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新宋体" panose="02010609030101010101" charset="-122"/>
              </a:rPr>
              <a:t>密文与明文、密文与密钥的相关性</a:t>
            </a:r>
            <a:endParaRPr lang="en-US" altLang="en-US" sz="2400" dirty="0">
              <a:latin typeface="Arial" panose="020B0604020202020204" pitchFamily="34" charset="0"/>
              <a:ea typeface="黑体" panose="02010609060101010101" charset="-122"/>
            </a:endParaRPr>
          </a:p>
          <a:p>
            <a:pPr marL="319405" algn="l" rtl="0" eaLnBrk="0">
              <a:lnSpc>
                <a:spcPct val="90000"/>
              </a:lnSpc>
              <a:spcBef>
                <a:spcPts val="1720"/>
              </a:spcBef>
            </a:pP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Meyer</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[1978]</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详细研究了</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的输入明文</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与密文及密钥与密文之间的相关性。</a:t>
            </a:r>
            <a:endParaRPr lang="en-US" altLang="en-US" sz="2400" dirty="0">
              <a:latin typeface="Arial" panose="020B0604020202020204" pitchFamily="34" charset="0"/>
              <a:ea typeface="黑体" panose="02010609060101010101" charset="-122"/>
            </a:endParaRPr>
          </a:p>
          <a:p>
            <a:pPr marL="257175" indent="1905" algn="l" rtl="0" eaLnBrk="0">
              <a:lnSpc>
                <a:spcPct val="121000"/>
              </a:lnSpc>
              <a:spcBef>
                <a:spcPts val="45"/>
              </a:spcBef>
            </a:pPr>
            <a:r>
              <a:rPr sz="2400" kern="0" spc="6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表明每个密文比特都是所有明文比特和所有密钥比特的复合函数</a:t>
            </a:r>
            <a:r>
              <a:rPr sz="2400" kern="0" spc="-63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6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，并且指出</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达到这一要求所需的迭代次数至少为</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400" b="1" kern="0" spc="-2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Konheim</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[1981]</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用</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Symbol" panose="05050102010706020507"/>
              </a:rPr>
              <a:t>x</a:t>
            </a:r>
            <a:r>
              <a:rPr sz="2400" b="1" kern="0" spc="3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检验</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证明，迭代</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8</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次后输出和输入就可认为是不相关的了。</a:t>
            </a:r>
            <a:endParaRPr lang="en-US" altLang="en-US" sz="2400" dirty="0">
              <a:latin typeface="Arial" panose="020B0604020202020204" pitchFamily="34" charset="0"/>
              <a:ea typeface="黑体" panose="02010609060101010101" charset="-122"/>
            </a:endParaRPr>
          </a:p>
          <a:p>
            <a:pPr marL="12700" algn="l" rtl="0" eaLnBrk="0">
              <a:lnSpc>
                <a:spcPct val="94000"/>
              </a:lnSpc>
              <a:spcBef>
                <a:spcPts val="1735"/>
              </a:spcBef>
            </a:pPr>
            <a:r>
              <a:rPr sz="2400" b="1" kern="0" spc="0" dirty="0">
                <a:solidFill>
                  <a:srgbClr val="FF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17" cap="flat" cmpd="sng">
                  <a:solidFill>
                    <a:srgbClr val="FF0000">
                      <a:alpha val="100000"/>
                    </a:srgbClr>
                  </a:solidFill>
                  <a:prstDash val="solid"/>
                  <a:miter lim="10"/>
                </a:ln>
                <a:solidFill>
                  <a:srgbClr val="FF0000">
                    <a:alpha val="100000"/>
                  </a:srgbClr>
                </a:solidFill>
                <a:latin typeface="Arial" panose="020B0604020202020204" pitchFamily="34" charset="0"/>
                <a:ea typeface="黑体" panose="02010609060101010101" charset="-122"/>
                <a:cs typeface="仿宋" panose="02010609060101010101" charset="-122"/>
              </a:rPr>
              <a:t>的其他攻击方法</a:t>
            </a:r>
            <a:endParaRPr lang="en-US" altLang="en-US" sz="2400" dirty="0">
              <a:latin typeface="Arial" panose="020B0604020202020204" pitchFamily="34" charset="0"/>
              <a:ea typeface="黑体" panose="02010609060101010101" charset="-122"/>
            </a:endParaRPr>
          </a:p>
          <a:p>
            <a:pPr marL="310515" algn="l" rtl="0" eaLnBrk="0">
              <a:lnSpc>
                <a:spcPct val="83000"/>
              </a:lnSpc>
              <a:spcBef>
                <a:spcPts val="1770"/>
              </a:spcBef>
            </a:pP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目前攻击</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的主要方法有时间</a:t>
            </a:r>
            <a:r>
              <a:rPr sz="2400" b="1" kern="0" spc="4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2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空间权衡攻击</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、差分攻击、线性攻击和相关</a:t>
            </a:r>
            <a:endParaRPr lang="en-US" altLang="en-US" sz="2400" dirty="0">
              <a:latin typeface="Arial" panose="020B0604020202020204" pitchFamily="34" charset="0"/>
              <a:ea typeface="黑体" panose="02010609060101010101" charset="-122"/>
            </a:endParaRPr>
          </a:p>
          <a:p>
            <a:pPr marL="272415" algn="l" rtl="0" eaLnBrk="0">
              <a:lnSpc>
                <a:spcPts val="3455"/>
              </a:lnSpc>
            </a:pP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密钥攻击等方法，在这些攻击方法中，线性攻击方法是最有效的一种方法。</a:t>
            </a:r>
            <a:endParaRPr lang="en-US" altLang="en-US" sz="2400" dirty="0">
              <a:latin typeface="Arial" panose="020B0604020202020204" pitchFamily="34" charset="0"/>
              <a:ea typeface="黑体" panose="02010609060101010101" charset="-122"/>
            </a:endParaRPr>
          </a:p>
        </p:txBody>
      </p:sp>
      <p:sp>
        <p:nvSpPr>
          <p:cNvPr id="172" name="textbox 172"/>
          <p:cNvSpPr/>
          <p:nvPr/>
        </p:nvSpPr>
        <p:spPr>
          <a:xfrm>
            <a:off x="1551305" y="491490"/>
            <a:ext cx="5052695" cy="478155"/>
          </a:xfrm>
          <a:prstGeom prst="rect">
            <a:avLst/>
          </a:prstGeom>
        </p:spPr>
        <p:txBody>
          <a:bodyPr vert="horz" wrap="square" lIns="0" tIns="0" rIns="0" bIns="0"/>
          <a:lstStyle/>
          <a:p>
            <a:pPr algn="l" rtl="0" eaLnBrk="0">
              <a:lnSpc>
                <a:spcPct val="7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12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的安全性的其他方面</a:t>
            </a:r>
            <a:endParaRPr lang="en-US" altLang="en-US" sz="3100" dirty="0">
              <a:latin typeface="Arial" panose="020B0604020202020204" pitchFamily="34" charset="0"/>
              <a:ea typeface="黑体" panose="02010609060101010101" charset="-122"/>
            </a:endParaRPr>
          </a:p>
        </p:txBody>
      </p:sp>
      <p:sp>
        <p:nvSpPr>
          <p:cNvPr id="17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78" name="picture 178"/>
          <p:cNvPicPr>
            <a:picLocks noChangeAspect="1"/>
          </p:cNvPicPr>
          <p:nvPr/>
        </p:nvPicPr>
        <p:blipFill>
          <a:blip r:embed="rId1"/>
          <a:stretch>
            <a:fillRect/>
          </a:stretch>
        </p:blipFill>
        <p:spPr>
          <a:xfrm rot="21600000">
            <a:off x="822960" y="408431"/>
            <a:ext cx="420623" cy="655320"/>
          </a:xfrm>
          <a:prstGeom prst="rect">
            <a:avLst/>
          </a:prstGeom>
        </p:spPr>
      </p:pic>
      <p:sp>
        <p:nvSpPr>
          <p:cNvPr id="180"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
          <p:cNvSpPr/>
          <p:nvPr/>
        </p:nvSpPr>
        <p:spPr>
          <a:xfrm>
            <a:off x="588263" y="408432"/>
            <a:ext cx="10460735" cy="606552"/>
          </a:xfrm>
          <a:prstGeom prst="rect">
            <a:avLst/>
          </a:prstGeom>
          <a:solidFill>
            <a:srgbClr val="C7DDF0">
              <a:alpha val="100000"/>
            </a:srgbClr>
          </a:solidFill>
          <a:ln cap="flat">
            <a:noFill/>
            <a:prstDash val="solid"/>
            <a:miter lim="0"/>
          </a:ln>
        </p:spPr>
        <p:txBody>
          <a:bodyPr rtlCol="0"/>
          <a:lstStyle/>
          <a:p>
            <a:pPr algn="ctr"/>
            <a:endParaRPr lang="zh-CN" altLang="en-US"/>
          </a:p>
        </p:txBody>
      </p:sp>
      <p:sp>
        <p:nvSpPr>
          <p:cNvPr id="4" name="textbox 4"/>
          <p:cNvSpPr/>
          <p:nvPr/>
        </p:nvSpPr>
        <p:spPr>
          <a:xfrm>
            <a:off x="4412825" y="3209866"/>
            <a:ext cx="3420745" cy="542925"/>
          </a:xfrm>
          <a:prstGeom prst="rect">
            <a:avLst/>
          </a:prstGeom>
        </p:spPr>
        <p:txBody>
          <a:bodyPr vert="horz" wrap="square" lIns="0" tIns="0" rIns="0" bIns="0"/>
          <a:lstStyle/>
          <a:p>
            <a:pPr algn="l" rtl="0" eaLnBrk="0">
              <a:lnSpc>
                <a:spcPct val="93000"/>
              </a:lnSpc>
            </a:pPr>
            <a:endParaRPr lang="en-US" altLang="en-US" sz="100" dirty="0">
              <a:latin typeface="Arial" panose="020B0604020202020204" pitchFamily="34" charset="0"/>
              <a:ea typeface="黑体" panose="02010609060101010101" charset="-122"/>
            </a:endParaRPr>
          </a:p>
          <a:p>
            <a:pPr marL="12700" algn="l" rtl="0" eaLnBrk="0">
              <a:lnSpc>
                <a:spcPct val="94000"/>
              </a:lnSpc>
            </a:pPr>
            <a:r>
              <a:rPr sz="3600" kern="0" spc="25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3600" kern="0" spc="-60" dirty="0">
                <a:ln w="13072"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3DES</a:t>
            </a:r>
            <a:endParaRPr lang="en-US" altLang="en-US" sz="3600" dirty="0">
              <a:latin typeface="Arial" panose="020B0604020202020204" pitchFamily="34" charset="0"/>
              <a:ea typeface="黑体" panose="02010609060101010101" charset="-122"/>
            </a:endParaRPr>
          </a:p>
        </p:txBody>
      </p:sp>
      <p:sp>
        <p:nvSpPr>
          <p:cNvPr id="1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extbox 14"/>
          <p:cNvSpPr/>
          <p:nvPr/>
        </p:nvSpPr>
        <p:spPr>
          <a:xfrm>
            <a:off x="919073" y="1566206"/>
            <a:ext cx="10207625" cy="2818129"/>
          </a:xfrm>
          <a:prstGeom prst="rect">
            <a:avLst/>
          </a:prstGeom>
        </p:spPr>
        <p:txBody>
          <a:bodyPr vert="horz" wrap="square" lIns="0" tIns="0" rIns="0" bIns="0"/>
          <a:lstStyle/>
          <a:p>
            <a:pPr algn="l" rtl="0" eaLnBrk="0">
              <a:lnSpc>
                <a:spcPct val="69000"/>
              </a:lnSpc>
            </a:pPr>
            <a:endParaRPr lang="en-US" altLang="en-US" sz="100" dirty="0">
              <a:latin typeface="Arial" panose="020B0604020202020204" pitchFamily="34" charset="0"/>
              <a:ea typeface="黑体" panose="02010609060101010101" charset="-122"/>
            </a:endParaRPr>
          </a:p>
          <a:p>
            <a:pPr marL="241300" indent="-228600" algn="l" rtl="0" eaLnBrk="0">
              <a:lnSpc>
                <a:spcPct val="107000"/>
              </a:lnSpc>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如果一个分组密码易受到穷举密钥搜索攻击，那么对同一消息加密多次就</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有可能增强安全性</a:t>
            </a:r>
            <a:endParaRPr lang="en-US" altLang="en-US" sz="2400" dirty="0">
              <a:latin typeface="Arial" panose="020B0604020202020204" pitchFamily="34" charset="0"/>
              <a:ea typeface="黑体" panose="02010609060101010101" charset="-122"/>
            </a:endParaRPr>
          </a:p>
          <a:p>
            <a:pPr marL="244475" indent="-232410" algn="l" rtl="0" eaLnBrk="0">
              <a:lnSpc>
                <a:spcPct val="107000"/>
              </a:lnSpc>
              <a:spcBef>
                <a:spcPts val="1780"/>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6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多重DES就是使用多个密钥利用DES对明文进行多次加密。使用多重DES可以</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增加密钥量，</a:t>
            </a:r>
            <a:r>
              <a:rPr sz="2400" kern="0" spc="-4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从而大大提高抵抗穷举密钥搜索</a:t>
            </a:r>
            <a:r>
              <a:rPr sz="2400" kern="0" spc="-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攻击的能力</a:t>
            </a:r>
            <a:endParaRPr lang="en-US" altLang="en-US" sz="2400" dirty="0">
              <a:latin typeface="Arial" panose="020B0604020202020204" pitchFamily="34" charset="0"/>
              <a:ea typeface="黑体" panose="02010609060101010101" charset="-122"/>
            </a:endParaRPr>
          </a:p>
          <a:p>
            <a:pPr algn="l" rtl="0" eaLnBrk="0">
              <a:lnSpc>
                <a:spcPct val="103000"/>
              </a:lnSpc>
            </a:pPr>
            <a:endParaRPr lang="en-US" altLang="en-US" sz="1400" dirty="0">
              <a:latin typeface="Arial" panose="020B0604020202020204" pitchFamily="34" charset="0"/>
              <a:ea typeface="黑体" panose="02010609060101010101" charset="-122"/>
            </a:endParaRPr>
          </a:p>
          <a:p>
            <a:pPr algn="l" rtl="0" eaLnBrk="0">
              <a:lnSpc>
                <a:spcPct val="7000"/>
              </a:lnSpc>
            </a:pPr>
            <a:endParaRPr lang="en-US" altLang="en-US" sz="100" dirty="0">
              <a:latin typeface="Arial" panose="020B0604020202020204" pitchFamily="34" charset="0"/>
              <a:ea typeface="黑体" panose="02010609060101010101" charset="-122"/>
            </a:endParaRPr>
          </a:p>
          <a:p>
            <a:pPr marL="255905" indent="-243205" algn="l" rtl="0" eaLnBrk="0">
              <a:lnSpc>
                <a:spcPct val="107000"/>
              </a:lnSpc>
            </a:pPr>
            <a:r>
              <a:rPr sz="2400" kern="0" spc="-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7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多重加密类似于一个有着多个相同密码的级联，</a:t>
            </a:r>
            <a:r>
              <a:rPr sz="2400" kern="0" spc="-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7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但各级密码无需独</a:t>
            </a:r>
            <a:r>
              <a:rPr sz="2400" kern="0" spc="-8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立，</a:t>
            </a:r>
            <a:r>
              <a:rPr sz="2400" kern="0" spc="-8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8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且</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每级密码既可以是一个分组密码加密函数，也可是相应的解密函数</a:t>
            </a:r>
            <a:endParaRPr lang="en-US" altLang="en-US" sz="2400" dirty="0">
              <a:latin typeface="Arial" panose="020B0604020202020204" pitchFamily="34" charset="0"/>
              <a:ea typeface="黑体" panose="02010609060101010101" charset="-122"/>
            </a:endParaRPr>
          </a:p>
        </p:txBody>
      </p:sp>
      <p:sp>
        <p:nvSpPr>
          <p:cNvPr id="18" name="textbox 18"/>
          <p:cNvSpPr/>
          <p:nvPr/>
        </p:nvSpPr>
        <p:spPr>
          <a:xfrm>
            <a:off x="1595246" y="491245"/>
            <a:ext cx="1403350" cy="483869"/>
          </a:xfrm>
          <a:prstGeom prst="rect">
            <a:avLst/>
          </a:prstGeom>
        </p:spPr>
        <p:txBody>
          <a:bodyPr vert="horz" wrap="square" lIns="0" tIns="0" rIns="0" bIns="0"/>
          <a:lstStyle/>
          <a:p>
            <a:pPr algn="l" rtl="0" eaLnBrk="0">
              <a:lnSpc>
                <a:spcPct val="8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1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多重DES</a:t>
            </a:r>
            <a:endParaRPr lang="en-US" altLang="en-US" sz="3100" dirty="0">
              <a:latin typeface="Arial" panose="020B0604020202020204" pitchFamily="34" charset="0"/>
              <a:ea typeface="黑体" panose="02010609060101010101" charset="-122"/>
            </a:endParaRPr>
          </a:p>
        </p:txBody>
      </p:sp>
      <p:sp>
        <p:nvSpPr>
          <p:cNvPr id="2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22" name="picture 22"/>
          <p:cNvPicPr>
            <a:picLocks noChangeAspect="1"/>
          </p:cNvPicPr>
          <p:nvPr/>
        </p:nvPicPr>
        <p:blipFill>
          <a:blip r:embed="rId1"/>
          <a:stretch>
            <a:fillRect/>
          </a:stretch>
        </p:blipFill>
        <p:spPr>
          <a:xfrm rot="21600000">
            <a:off x="822960" y="408431"/>
            <a:ext cx="420623" cy="655320"/>
          </a:xfrm>
          <a:prstGeom prst="rect">
            <a:avLst/>
          </a:prstGeom>
        </p:spPr>
      </p:pic>
      <p:sp>
        <p:nvSpPr>
          <p:cNvPr id="2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rot="21600000">
            <a:off x="3709415" y="3886200"/>
            <a:ext cx="5507736" cy="813816"/>
            <a:chOff x="0" y="0"/>
            <a:chExt cx="5507736" cy="813816"/>
          </a:xfrm>
        </p:grpSpPr>
        <p:pic>
          <p:nvPicPr>
            <p:cNvPr id="26" name="picture 26"/>
            <p:cNvPicPr>
              <a:picLocks noChangeAspect="1"/>
            </p:cNvPicPr>
            <p:nvPr/>
          </p:nvPicPr>
          <p:blipFill>
            <a:blip r:embed="rId1"/>
            <a:stretch>
              <a:fillRect/>
            </a:stretch>
          </p:blipFill>
          <p:spPr>
            <a:xfrm rot="21600000">
              <a:off x="0" y="0"/>
              <a:ext cx="5507736" cy="813816"/>
            </a:xfrm>
            <a:prstGeom prst="rect">
              <a:avLst/>
            </a:prstGeom>
          </p:spPr>
        </p:pic>
        <p:sp>
          <p:nvSpPr>
            <p:cNvPr id="28" name="textbox 28"/>
            <p:cNvSpPr/>
            <p:nvPr/>
          </p:nvSpPr>
          <p:spPr>
            <a:xfrm>
              <a:off x="-12700" y="-12700"/>
              <a:ext cx="5533390" cy="878205"/>
            </a:xfrm>
            <a:prstGeom prst="rect">
              <a:avLst/>
            </a:prstGeom>
          </p:spPr>
          <p:txBody>
            <a:bodyPr vert="horz" wrap="square" lIns="0" tIns="0" rIns="0" bIns="0"/>
            <a:lstStyle/>
            <a:p>
              <a:pPr algn="l" rtl="0" eaLnBrk="0">
                <a:lnSpc>
                  <a:spcPct val="168000"/>
                </a:lnSpc>
              </a:pPr>
              <a:endParaRPr lang="en-US" altLang="en-US" sz="1000" dirty="0">
                <a:latin typeface="Arial" panose="020B0604020202020204" pitchFamily="34" charset="0"/>
                <a:ea typeface="黑体" panose="02010609060101010101" charset="-122"/>
              </a:endParaRPr>
            </a:p>
            <a:p>
              <a:pPr marL="686435" algn="l" rtl="0" eaLnBrk="0">
                <a:lnSpc>
                  <a:spcPct val="94000"/>
                </a:lnSpc>
                <a:spcBef>
                  <a:spcPts val="5"/>
                </a:spcBef>
              </a:pPr>
              <a:r>
                <a:rPr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三重</a:t>
              </a:r>
              <a:r>
                <a:rPr sz="2400" b="1" kern="0" spc="-3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算法</a:t>
              </a:r>
              <a:endParaRPr lang="en-US" altLang="en-US" sz="2400" dirty="0">
                <a:latin typeface="Arial" panose="020B0604020202020204" pitchFamily="34" charset="0"/>
                <a:ea typeface="黑体" panose="02010609060101010101" charset="-122"/>
              </a:endParaRPr>
            </a:p>
          </p:txBody>
        </p:sp>
      </p:grpSp>
      <p:grpSp>
        <p:nvGrpSpPr>
          <p:cNvPr id="4" name="group 4"/>
          <p:cNvGrpSpPr/>
          <p:nvPr/>
        </p:nvGrpSpPr>
        <p:grpSpPr>
          <a:xfrm rot="21600000">
            <a:off x="3557015" y="2057400"/>
            <a:ext cx="5708903" cy="813816"/>
            <a:chOff x="0" y="0"/>
            <a:chExt cx="5708903" cy="813816"/>
          </a:xfrm>
        </p:grpSpPr>
        <p:pic>
          <p:nvPicPr>
            <p:cNvPr id="30" name="picture 30"/>
            <p:cNvPicPr>
              <a:picLocks noChangeAspect="1"/>
            </p:cNvPicPr>
            <p:nvPr/>
          </p:nvPicPr>
          <p:blipFill>
            <a:blip r:embed="rId2"/>
            <a:stretch>
              <a:fillRect/>
            </a:stretch>
          </p:blipFill>
          <p:spPr>
            <a:xfrm rot="21600000">
              <a:off x="0" y="0"/>
              <a:ext cx="5708903" cy="813816"/>
            </a:xfrm>
            <a:prstGeom prst="rect">
              <a:avLst/>
            </a:prstGeom>
          </p:spPr>
        </p:pic>
        <p:sp>
          <p:nvSpPr>
            <p:cNvPr id="32" name="textbox 32"/>
            <p:cNvSpPr/>
            <p:nvPr/>
          </p:nvSpPr>
          <p:spPr>
            <a:xfrm>
              <a:off x="-12700" y="-12700"/>
              <a:ext cx="5734684" cy="878205"/>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676910" algn="l" rtl="0" eaLnBrk="0">
                <a:lnSpc>
                  <a:spcPct val="94000"/>
                </a:lnSpc>
              </a:pPr>
              <a:r>
                <a:rPr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双重</a:t>
              </a:r>
              <a:r>
                <a:rPr sz="2400" b="1" kern="0" spc="-2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算法</a:t>
              </a:r>
              <a:endParaRPr lang="en-US" altLang="en-US" sz="2400" dirty="0">
                <a:latin typeface="Arial" panose="020B0604020202020204" pitchFamily="34" charset="0"/>
                <a:ea typeface="黑体"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34"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36"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38"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40"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42"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44" name="textbox 44"/>
          <p:cNvSpPr/>
          <p:nvPr/>
        </p:nvSpPr>
        <p:spPr>
          <a:xfrm>
            <a:off x="2745984" y="491245"/>
            <a:ext cx="3030854"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20" dirty="0">
                <a:solidFill>
                  <a:srgbClr val="1F4E79">
                    <a:alpha val="100000"/>
                  </a:srgbClr>
                </a:solidFill>
                <a:latin typeface="Arial" panose="020B0604020202020204" pitchFamily="34" charset="0"/>
                <a:ea typeface="黑体" panose="02010609060101010101" charset="-122"/>
                <a:cs typeface="仿宋" panose="02010609060101010101" charset="-122"/>
              </a:rPr>
              <a:t>3</a:t>
            </a: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DES</a:t>
            </a:r>
            <a:endParaRPr lang="en-US" altLang="en-US" sz="3100" dirty="0">
              <a:latin typeface="Arial" panose="020B0604020202020204" pitchFamily="34" charset="0"/>
              <a:ea typeface="黑体" panose="02010609060101010101" charset="-122"/>
            </a:endParaRPr>
          </a:p>
        </p:txBody>
      </p:sp>
      <p:sp>
        <p:nvSpPr>
          <p:cNvPr id="48"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50" name="picture 50"/>
          <p:cNvPicPr>
            <a:picLocks noChangeAspect="1"/>
          </p:cNvPicPr>
          <p:nvPr/>
        </p:nvPicPr>
        <p:blipFill>
          <a:blip r:embed="rId3"/>
          <a:stretch>
            <a:fillRect/>
          </a:stretch>
        </p:blipFill>
        <p:spPr>
          <a:xfrm rot="21600000">
            <a:off x="822960" y="408431"/>
            <a:ext cx="420623" cy="655320"/>
          </a:xfrm>
          <a:prstGeom prst="rect">
            <a:avLst/>
          </a:prstGeom>
        </p:spPr>
      </p:pic>
      <p:sp>
        <p:nvSpPr>
          <p:cNvPr id="52"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 name="textbox 54"/>
          <p:cNvSpPr/>
          <p:nvPr/>
        </p:nvSpPr>
        <p:spPr>
          <a:xfrm>
            <a:off x="919073" y="1499413"/>
            <a:ext cx="8054975" cy="865505"/>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2985"/>
              </a:lnSpc>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简单的对消息</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1500" b="1" kern="0" spc="-2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利用两个不同的密钥进行两</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次加密</a:t>
            </a:r>
            <a:endParaRPr lang="en-US" altLang="en-US" sz="2400" dirty="0">
              <a:latin typeface="Arial" panose="020B0604020202020204" pitchFamily="34" charset="0"/>
              <a:ea typeface="黑体" panose="02010609060101010101" charset="-122"/>
            </a:endParaRPr>
          </a:p>
          <a:p>
            <a:pPr algn="l" rtl="0" eaLnBrk="0">
              <a:lnSpc>
                <a:spcPct val="103000"/>
              </a:lnSpc>
            </a:pPr>
            <a:endParaRPr lang="en-US" altLang="en-US" sz="600" dirty="0">
              <a:latin typeface="Arial" panose="020B0604020202020204" pitchFamily="34" charset="0"/>
              <a:ea typeface="黑体" panose="02010609060101010101" charset="-122"/>
            </a:endParaRPr>
          </a:p>
          <a:p>
            <a:pPr marL="12700" algn="l" rtl="0" eaLnBrk="0">
              <a:lnSpc>
                <a:spcPct val="100000"/>
              </a:lnSpc>
              <a:spcBef>
                <a:spcPts val="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目的是为了抵抗穷搜索攻</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击，期望密钥长度扩展为112比特</a:t>
            </a:r>
            <a:endParaRPr lang="en-US" altLang="en-US" sz="2400" dirty="0">
              <a:latin typeface="Arial" panose="020B0604020202020204" pitchFamily="34" charset="0"/>
              <a:ea typeface="黑体" panose="02010609060101010101" charset="-122"/>
            </a:endParaRPr>
          </a:p>
        </p:txBody>
      </p:sp>
      <p:sp>
        <p:nvSpPr>
          <p:cNvPr id="56" name="path"/>
          <p:cNvSpPr/>
          <p:nvPr/>
        </p:nvSpPr>
        <p:spPr>
          <a:xfrm>
            <a:off x="4389120" y="4364735"/>
            <a:ext cx="1200911" cy="536448"/>
          </a:xfrm>
          <a:custGeom>
            <a:avLst/>
            <a:gdLst/>
            <a:ahLst/>
            <a:cxnLst/>
            <a:rect l="0" t="0" r="0" b="0"/>
            <a:pathLst>
              <a:path w="1891" h="844">
                <a:moveTo>
                  <a:pt x="7" y="837"/>
                </a:moveTo>
                <a:lnTo>
                  <a:pt x="1883" y="837"/>
                </a:lnTo>
                <a:lnTo>
                  <a:pt x="1883" y="7"/>
                </a:lnTo>
                <a:lnTo>
                  <a:pt x="7" y="7"/>
                </a:lnTo>
                <a:lnTo>
                  <a:pt x="7" y="837"/>
                </a:lnTo>
                <a:close/>
              </a:path>
            </a:pathLst>
          </a:custGeom>
          <a:noFill/>
          <a:ln w="9143" cap="flat">
            <a:solidFill>
              <a:srgbClr val="000000">
                <a:alpha val="100000"/>
              </a:srgbClr>
            </a:solidFill>
            <a:prstDash val="solid"/>
            <a:miter lim="1000000"/>
          </a:ln>
        </p:spPr>
        <p:txBody>
          <a:bodyPr rtlCol="0"/>
          <a:lstStyle/>
          <a:p>
            <a:pPr algn="ctr"/>
            <a:endParaRPr lang="zh-CN" altLang="en-US"/>
          </a:p>
        </p:txBody>
      </p:sp>
      <p:sp>
        <p:nvSpPr>
          <p:cNvPr id="58" name="textbox 58"/>
          <p:cNvSpPr/>
          <p:nvPr/>
        </p:nvSpPr>
        <p:spPr>
          <a:xfrm>
            <a:off x="3411728" y="3737864"/>
            <a:ext cx="4367529" cy="1023619"/>
          </a:xfrm>
          <a:prstGeom prst="rect">
            <a:avLst/>
          </a:prstGeom>
        </p:spPr>
        <p:txBody>
          <a:bodyPr vert="horz" wrap="square" lIns="0" tIns="0" rIns="0" bIns="0"/>
          <a:lstStyle/>
          <a:p>
            <a:pPr algn="l" rtl="0" eaLnBrk="0">
              <a:lnSpc>
                <a:spcPct val="146000"/>
              </a:lnSpc>
            </a:pPr>
            <a:endParaRPr lang="en-US" altLang="en-US" sz="1000" dirty="0">
              <a:latin typeface="Arial" panose="020B0604020202020204" pitchFamily="34" charset="0"/>
              <a:ea typeface="黑体" panose="02010609060101010101" charset="-122"/>
            </a:endParaRPr>
          </a:p>
          <a:p>
            <a:pPr algn="l" rtl="0" eaLnBrk="0">
              <a:lnSpc>
                <a:spcPct val="147000"/>
              </a:lnSpc>
            </a:pPr>
            <a:endParaRPr lang="en-US" altLang="en-US" sz="1000" dirty="0">
              <a:latin typeface="Arial" panose="020B0604020202020204" pitchFamily="34" charset="0"/>
              <a:ea typeface="黑体" panose="02010609060101010101" charset="-122"/>
            </a:endParaRPr>
          </a:p>
          <a:p>
            <a:pPr marL="31115" algn="l" rtl="0" eaLnBrk="0">
              <a:lnSpc>
                <a:spcPct val="83000"/>
              </a:lnSpc>
              <a:spcBef>
                <a:spcPts val="0"/>
              </a:spcBef>
            </a:pPr>
            <a:r>
              <a:rPr sz="2400" kern="0" spc="-16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明文</a:t>
            </a:r>
            <a:r>
              <a:rPr sz="2400" kern="0" spc="0" dirty="0">
                <a:solidFill>
                  <a:srgbClr val="000000">
                    <a:alpha val="100000"/>
                  </a:srgbClr>
                </a:solidFill>
                <a:latin typeface="Arial" panose="020B0604020202020204" pitchFamily="34" charset="0"/>
                <a:ea typeface="黑体" panose="02010609060101010101" charset="-122"/>
                <a:cs typeface="宋体" panose="02010600030101010101" pitchFamily="2" charset="-122"/>
              </a:rPr>
              <a:t>                     </a:t>
            </a:r>
            <a:endParaRPr lang="en-US" altLang="en-US" sz="2400" dirty="0">
              <a:latin typeface="Arial" panose="020B0604020202020204" pitchFamily="34" charset="0"/>
              <a:ea typeface="黑体" panose="02010609060101010101" charset="-122"/>
            </a:endParaRPr>
          </a:p>
          <a:p>
            <a:pPr marL="12700" algn="l" defTabSz="0" rtl="0" eaLnBrk="0">
              <a:lnSpc>
                <a:spcPct val="72000"/>
              </a:lnSpc>
              <a:spcBef>
                <a:spcPts val="25"/>
              </a:spcBef>
              <a:tabLst>
                <a:tab pos="962660" algn="l"/>
              </a:tabLst>
            </a:pPr>
            <a:r>
              <a:rPr sz="2300" strike="sngStrike"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300" b="1" kern="0" spc="2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600" b="1" kern="0" spc="0" baseline="-900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2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b="1" strike="sngStrike"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600" b="1" kern="0" spc="0" baseline="-900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2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endParaRPr lang="en-US" altLang="en-US" sz="1500" dirty="0">
              <a:latin typeface="Arial" panose="020B0604020202020204" pitchFamily="34" charset="0"/>
              <a:ea typeface="黑体" panose="02010609060101010101" charset="-122"/>
            </a:endParaRPr>
          </a:p>
        </p:txBody>
      </p:sp>
      <p:pic>
        <p:nvPicPr>
          <p:cNvPr id="60" name="picture 60"/>
          <p:cNvPicPr>
            <a:picLocks noChangeAspect="1"/>
          </p:cNvPicPr>
          <p:nvPr/>
        </p:nvPicPr>
        <p:blipFill>
          <a:blip r:embed="rId1"/>
          <a:stretch>
            <a:fillRect/>
          </a:stretch>
        </p:blipFill>
        <p:spPr>
          <a:xfrm rot="21600000">
            <a:off x="7116977" y="3750564"/>
            <a:ext cx="76200" cy="613880"/>
          </a:xfrm>
          <a:prstGeom prst="rect">
            <a:avLst/>
          </a:prstGeom>
        </p:spPr>
      </p:pic>
      <p:pic>
        <p:nvPicPr>
          <p:cNvPr id="62" name="picture 62"/>
          <p:cNvPicPr>
            <a:picLocks noChangeAspect="1"/>
          </p:cNvPicPr>
          <p:nvPr/>
        </p:nvPicPr>
        <p:blipFill>
          <a:blip r:embed="rId2"/>
          <a:stretch>
            <a:fillRect/>
          </a:stretch>
        </p:blipFill>
        <p:spPr>
          <a:xfrm rot="21600000">
            <a:off x="4733442" y="3750564"/>
            <a:ext cx="76200" cy="613880"/>
          </a:xfrm>
          <a:prstGeom prst="rect">
            <a:avLst/>
          </a:prstGeom>
        </p:spPr>
      </p:pic>
      <p:sp>
        <p:nvSpPr>
          <p:cNvPr id="64" name="textbox 64"/>
          <p:cNvSpPr/>
          <p:nvPr/>
        </p:nvSpPr>
        <p:spPr>
          <a:xfrm>
            <a:off x="810260" y="395731"/>
            <a:ext cx="2188210" cy="741680"/>
          </a:xfrm>
          <a:prstGeom prst="rect">
            <a:avLst/>
          </a:prstGeom>
        </p:spPr>
        <p:txBody>
          <a:bodyPr vert="horz" wrap="square" lIns="0" tIns="0" rIns="0" bIns="0"/>
          <a:lstStyle/>
          <a:p>
            <a:pPr algn="l" rtl="0" eaLnBrk="0">
              <a:lnSpc>
                <a:spcPct val="116000"/>
              </a:lnSpc>
            </a:pPr>
            <a:endParaRPr lang="en-US" altLang="en-US" sz="600" dirty="0">
              <a:latin typeface="Arial" panose="020B0604020202020204" pitchFamily="34" charset="0"/>
              <a:ea typeface="黑体" panose="02010609060101010101" charset="-122"/>
            </a:endParaRPr>
          </a:p>
          <a:p>
            <a:pPr marL="433070" algn="l" defTabSz="0" rtl="0" eaLnBrk="0">
              <a:lnSpc>
                <a:spcPct val="99000"/>
              </a:lnSpc>
              <a:spcBef>
                <a:spcPts val="5"/>
              </a:spcBef>
              <a:tabLst>
                <a:tab pos="771525"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9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双重</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endParaRPr lang="en-US" altLang="en-US" sz="3100" dirty="0">
              <a:latin typeface="Arial" panose="020B0604020202020204" pitchFamily="34" charset="0"/>
              <a:ea typeface="黑体" panose="02010609060101010101" charset="-122"/>
            </a:endParaRPr>
          </a:p>
        </p:txBody>
      </p:sp>
      <p:pic>
        <p:nvPicPr>
          <p:cNvPr id="66" name="picture 66"/>
          <p:cNvPicPr>
            <a:picLocks noChangeAspect="1"/>
          </p:cNvPicPr>
          <p:nvPr/>
        </p:nvPicPr>
        <p:blipFill>
          <a:blip r:embed="rId3"/>
          <a:stretch>
            <a:fillRect/>
          </a:stretch>
        </p:blipFill>
        <p:spPr>
          <a:xfrm rot="21600000">
            <a:off x="822960" y="408431"/>
            <a:ext cx="420623" cy="655320"/>
          </a:xfrm>
          <a:prstGeom prst="rect">
            <a:avLst/>
          </a:prstGeom>
        </p:spPr>
      </p:pic>
      <p:sp>
        <p:nvSpPr>
          <p:cNvPr id="70" name="textbox 70"/>
          <p:cNvSpPr/>
          <p:nvPr/>
        </p:nvSpPr>
        <p:spPr>
          <a:xfrm>
            <a:off x="4536111" y="3347158"/>
            <a:ext cx="2614929" cy="391795"/>
          </a:xfrm>
          <a:prstGeom prst="rect">
            <a:avLst/>
          </a:prstGeom>
        </p:spPr>
        <p:txBody>
          <a:bodyPr vert="horz" wrap="square" lIns="0" tIns="0" rIns="0" bIns="0"/>
          <a:lstStyle/>
          <a:p>
            <a:pPr algn="l" rtl="0" eaLnBrk="0">
              <a:lnSpc>
                <a:spcPct val="85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baseline="-24000" dirty="0">
              <a:latin typeface="Arial" panose="020B0604020202020204" pitchFamily="34" charset="0"/>
              <a:ea typeface="黑体" panose="02010609060101010101" charset="-122"/>
            </a:endParaRPr>
          </a:p>
        </p:txBody>
      </p:sp>
      <p:sp>
        <p:nvSpPr>
          <p:cNvPr id="7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74"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76" name="textbox 76"/>
          <p:cNvSpPr/>
          <p:nvPr/>
        </p:nvSpPr>
        <p:spPr>
          <a:xfrm>
            <a:off x="7837702" y="4271822"/>
            <a:ext cx="625475" cy="376554"/>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密文</a:t>
            </a:r>
            <a:endParaRPr lang="en-US" altLang="en-US" sz="2400" dirty="0">
              <a:latin typeface="Arial" panose="020B0604020202020204" pitchFamily="34" charset="0"/>
              <a:ea typeface="黑体" panose="02010609060101010101" charset="-122"/>
            </a:endParaRPr>
          </a:p>
        </p:txBody>
      </p:sp>
      <p:pic>
        <p:nvPicPr>
          <p:cNvPr id="78" name="picture 78"/>
          <p:cNvPicPr>
            <a:picLocks noChangeAspect="1"/>
          </p:cNvPicPr>
          <p:nvPr/>
        </p:nvPicPr>
        <p:blipFill>
          <a:blip r:embed="rId4"/>
          <a:stretch>
            <a:fillRect/>
          </a:stretch>
        </p:blipFill>
        <p:spPr>
          <a:xfrm rot="21600000">
            <a:off x="7792211" y="4635754"/>
            <a:ext cx="954023" cy="76200"/>
          </a:xfrm>
          <a:prstGeom prst="rect">
            <a:avLst/>
          </a:prstGeom>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0" name="textbox 80"/>
          <p:cNvSpPr/>
          <p:nvPr/>
        </p:nvSpPr>
        <p:spPr>
          <a:xfrm>
            <a:off x="923035" y="1499413"/>
            <a:ext cx="9370059" cy="2002789"/>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algn="r" rtl="0" eaLnBrk="0">
              <a:lnSpc>
                <a:spcPct val="90000"/>
              </a:lnSpc>
            </a:pP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由</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Diffie</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b="1" kern="0" spc="-70" dirty="0">
                <a:solidFill>
                  <a:srgbClr val="000000">
                    <a:alpha val="100000"/>
                  </a:srgbClr>
                </a:solidFill>
                <a:latin typeface="Arial" panose="020B0604020202020204" pitchFamily="34" charset="0"/>
                <a:ea typeface="黑体" panose="02010609060101010101" charset="-122"/>
                <a:cs typeface="Times New Roman" panose="02020603050405020304"/>
              </a:rPr>
              <a:t>Hellman[1977]</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最早提出，</a:t>
            </a:r>
            <a:r>
              <a:rPr sz="2400" kern="0" spc="-7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可以降低搜索量，基本想法如下。</a:t>
            </a:r>
            <a:endParaRPr lang="en-US" altLang="en-US" sz="2400" dirty="0">
              <a:latin typeface="Arial" panose="020B0604020202020204" pitchFamily="34" charset="0"/>
              <a:ea typeface="黑体" panose="02010609060101010101" charset="-122"/>
            </a:endParaRPr>
          </a:p>
          <a:p>
            <a:pPr marL="12700" algn="l" rtl="0" eaLnBrk="0">
              <a:lnSpc>
                <a:spcPts val="4580"/>
              </a:lnSpc>
            </a:pP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若有明文</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密文对</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0" baseline="-29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0" baseline="-29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满足</a:t>
            </a:r>
            <a:endParaRPr lang="en-US" altLang="en-US" sz="2400" dirty="0">
              <a:latin typeface="Arial" panose="020B0604020202020204" pitchFamily="34" charset="0"/>
              <a:ea typeface="黑体" panose="02010609060101010101" charset="-122"/>
            </a:endParaRPr>
          </a:p>
          <a:p>
            <a:pPr marL="2555240" algn="l" rtl="0" eaLnBrk="0">
              <a:lnSpc>
                <a:spcPct val="90000"/>
              </a:lnSpc>
              <a:spcBef>
                <a:spcPts val="1645"/>
              </a:spcBef>
            </a:pP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2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kern="0" spc="-2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k2</a:t>
            </a:r>
            <a:r>
              <a:rPr sz="1500" b="1" kern="0" spc="-5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kern="0" spc="-2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k1</a:t>
            </a:r>
            <a:r>
              <a:rPr sz="1500" b="1"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2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400" dirty="0">
              <a:latin typeface="Arial" panose="020B0604020202020204" pitchFamily="34" charset="0"/>
              <a:ea typeface="黑体" panose="02010609060101010101" charset="-122"/>
            </a:endParaRPr>
          </a:p>
          <a:p>
            <a:pPr algn="l" rtl="0" eaLnBrk="0">
              <a:lnSpc>
                <a:spcPct val="109000"/>
              </a:lnSpc>
            </a:pPr>
            <a:endParaRPr lang="en-US" altLang="en-US" sz="900" dirty="0">
              <a:latin typeface="Arial" panose="020B0604020202020204" pitchFamily="34" charset="0"/>
              <a:ea typeface="黑体" panose="02010609060101010101" charset="-122"/>
            </a:endParaRPr>
          </a:p>
          <a:p>
            <a:pPr marL="244475" algn="l" rtl="0" eaLnBrk="0">
              <a:lnSpc>
                <a:spcPts val="2990"/>
              </a:lnSpc>
              <a:spcBef>
                <a:spcPts val="0"/>
              </a:spcBef>
            </a:pP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则可得</a:t>
            </a:r>
            <a:r>
              <a:rPr sz="2400" kern="0" spc="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z</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kern="0" spc="0" baseline="-12000" dirty="0">
                <a:solidFill>
                  <a:srgbClr val="000000">
                    <a:alpha val="100000"/>
                  </a:srgbClr>
                </a:solidFill>
                <a:latin typeface="Arial" panose="020B0604020202020204" pitchFamily="34" charset="0"/>
                <a:ea typeface="黑体" panose="02010609060101010101" charset="-122"/>
                <a:cs typeface="Times New Roman" panose="02020603050405020304"/>
              </a:rPr>
              <a:t>k1</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0" baseline="-12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2400" b="1" kern="0" spc="0" baseline="-12000" dirty="0">
                <a:solidFill>
                  <a:srgbClr val="000000">
                    <a:alpha val="100000"/>
                  </a:srgbClr>
                </a:solidFill>
                <a:latin typeface="Arial" panose="020B0604020202020204" pitchFamily="34" charset="0"/>
                <a:ea typeface="黑体" panose="02010609060101010101" charset="-122"/>
                <a:cs typeface="Times New Roman" panose="02020603050405020304"/>
              </a:rPr>
              <a:t>k2</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10" baseline="-12000" dirty="0">
                <a:solidFill>
                  <a:srgbClr val="000000">
                    <a:alpha val="100000"/>
                  </a:srgbClr>
                </a:solidFill>
                <a:latin typeface="Arial" panose="020B0604020202020204" pitchFamily="34" charset="0"/>
                <a:ea typeface="黑体" panose="02010609060101010101" charset="-122"/>
                <a:cs typeface="Times New Roman" panose="02020603050405020304"/>
              </a:rPr>
              <a:t>i</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400" dirty="0">
              <a:latin typeface="Arial" panose="020B0604020202020204" pitchFamily="34" charset="0"/>
              <a:ea typeface="黑体" panose="02010609060101010101" charset="-122"/>
            </a:endParaRPr>
          </a:p>
        </p:txBody>
      </p:sp>
      <p:sp>
        <p:nvSpPr>
          <p:cNvPr id="82" name="textbox 82"/>
          <p:cNvSpPr/>
          <p:nvPr/>
        </p:nvSpPr>
        <p:spPr>
          <a:xfrm>
            <a:off x="810260" y="395731"/>
            <a:ext cx="3207385" cy="730884"/>
          </a:xfrm>
          <a:prstGeom prst="rect">
            <a:avLst/>
          </a:prstGeom>
        </p:spPr>
        <p:txBody>
          <a:bodyPr vert="horz" wrap="square" lIns="0" tIns="0" rIns="0" bIns="0"/>
          <a:lstStyle/>
          <a:p>
            <a:pPr algn="l" rtl="0" eaLnBrk="0">
              <a:lnSpc>
                <a:spcPct val="103000"/>
              </a:lnSpc>
            </a:pPr>
            <a:endParaRPr lang="en-US" altLang="en-US" sz="700" dirty="0">
              <a:latin typeface="Arial" panose="020B0604020202020204" pitchFamily="34" charset="0"/>
              <a:ea typeface="黑体" panose="02010609060101010101" charset="-122"/>
            </a:endParaRPr>
          </a:p>
          <a:p>
            <a:pPr marL="433070" algn="l" defTabSz="0" rtl="0" eaLnBrk="0">
              <a:lnSpc>
                <a:spcPct val="96000"/>
              </a:lnSpc>
              <a:spcBef>
                <a:spcPts val="0"/>
              </a:spcBef>
              <a:tabLst>
                <a:tab pos="82550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中间相遇攻击</a:t>
            </a:r>
            <a:endParaRPr lang="en-US" altLang="en-US" sz="3100" dirty="0">
              <a:latin typeface="Arial" panose="020B0604020202020204" pitchFamily="34" charset="0"/>
              <a:ea typeface="黑体" panose="02010609060101010101" charset="-122"/>
            </a:endParaRPr>
          </a:p>
        </p:txBody>
      </p:sp>
      <p:pic>
        <p:nvPicPr>
          <p:cNvPr id="84" name="picture 84"/>
          <p:cNvPicPr>
            <a:picLocks noChangeAspect="1"/>
          </p:cNvPicPr>
          <p:nvPr/>
        </p:nvPicPr>
        <p:blipFill>
          <a:blip r:embed="rId1"/>
          <a:stretch>
            <a:fillRect/>
          </a:stretch>
        </p:blipFill>
        <p:spPr>
          <a:xfrm rot="21600000">
            <a:off x="822960" y="408431"/>
            <a:ext cx="420623" cy="655320"/>
          </a:xfrm>
          <a:prstGeom prst="rect">
            <a:avLst/>
          </a:prstGeom>
        </p:spPr>
      </p:pic>
      <p:sp>
        <p:nvSpPr>
          <p:cNvPr id="88" name="textbox 88"/>
          <p:cNvSpPr/>
          <p:nvPr/>
        </p:nvSpPr>
        <p:spPr>
          <a:xfrm>
            <a:off x="4403851" y="4851980"/>
            <a:ext cx="1014094" cy="668655"/>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5065"/>
              </a:lnSpc>
            </a:pPr>
            <a:r>
              <a:rPr sz="3900" kern="0" spc="250" dirty="0">
                <a:solidFill>
                  <a:srgbClr val="CC3300">
                    <a:alpha val="100000"/>
                  </a:srgbClr>
                </a:solidFill>
                <a:latin typeface="Arial" panose="020B0604020202020204" pitchFamily="34" charset="0"/>
                <a:ea typeface="黑体" panose="02010609060101010101" charset="-122"/>
                <a:cs typeface="微软雅黑" panose="020B0503020204020204" charset="-122"/>
              </a:rPr>
              <a:t>口</a:t>
            </a:r>
            <a:r>
              <a:rPr sz="3900" kern="0" spc="980" dirty="0">
                <a:solidFill>
                  <a:srgbClr val="CC3300">
                    <a:alpha val="100000"/>
                  </a:srgbClr>
                </a:solidFill>
                <a:latin typeface="Arial" panose="020B0604020202020204" pitchFamily="34" charset="0"/>
                <a:ea typeface="黑体" panose="02010609060101010101" charset="-122"/>
                <a:cs typeface="微软雅黑" panose="020B0503020204020204" charset="-122"/>
              </a:rPr>
              <a:t> </a:t>
            </a:r>
            <a:r>
              <a:rPr sz="3600" b="1" i="1" kern="0" spc="0" baseline="5200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kern="0" spc="0" baseline="45000" dirty="0">
                <a:solidFill>
                  <a:srgbClr val="000000">
                    <a:alpha val="100000"/>
                  </a:srgbClr>
                </a:solidFill>
                <a:latin typeface="Arial" panose="020B0604020202020204" pitchFamily="34" charset="0"/>
                <a:ea typeface="黑体" panose="02010609060101010101" charset="-122"/>
                <a:cs typeface="Times New Roman" panose="02020603050405020304"/>
              </a:rPr>
              <a:t>i</a:t>
            </a:r>
            <a:endParaRPr lang="en-US" altLang="en-US" sz="2400" baseline="45000" dirty="0">
              <a:latin typeface="Arial" panose="020B0604020202020204" pitchFamily="34" charset="0"/>
              <a:ea typeface="黑体" panose="02010609060101010101" charset="-122"/>
            </a:endParaRPr>
          </a:p>
        </p:txBody>
      </p:sp>
      <p:sp>
        <p:nvSpPr>
          <p:cNvPr id="90" name="textbox 90"/>
          <p:cNvSpPr/>
          <p:nvPr/>
        </p:nvSpPr>
        <p:spPr>
          <a:xfrm>
            <a:off x="6727367" y="4163085"/>
            <a:ext cx="1403350" cy="376554"/>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algn="r" rtl="0" eaLnBrk="0">
              <a:lnSpc>
                <a:spcPct val="96000"/>
              </a:lnSpc>
            </a:pP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1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baseline="-20000" dirty="0">
              <a:latin typeface="Arial" panose="020B0604020202020204" pitchFamily="34" charset="0"/>
              <a:ea typeface="黑体" panose="02010609060101010101" charset="-122"/>
            </a:endParaRPr>
          </a:p>
        </p:txBody>
      </p:sp>
      <p:sp>
        <p:nvSpPr>
          <p:cNvPr id="9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graphicFrame>
        <p:nvGraphicFramePr>
          <p:cNvPr id="94" name="table 94"/>
          <p:cNvGraphicFramePr>
            <a:graphicFrameLocks noGrp="1"/>
          </p:cNvGraphicFramePr>
          <p:nvPr/>
        </p:nvGraphicFramePr>
        <p:xfrm>
          <a:off x="3273551" y="4934711"/>
          <a:ext cx="496570" cy="572769"/>
        </p:xfrm>
        <a:graphic>
          <a:graphicData uri="http://schemas.openxmlformats.org/drawingml/2006/table">
            <a:tbl>
              <a:tblPr/>
              <a:tblGrid>
                <a:gridCol w="496570"/>
              </a:tblGrid>
              <a:tr h="534669">
                <a:tc>
                  <a:txBody>
                    <a:bodyPr/>
                    <a:lstStyle/>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100330" algn="l" rtl="0" eaLnBrk="0">
                        <a:lnSpc>
                          <a:spcPct val="75000"/>
                        </a:lnSpc>
                      </a:pPr>
                      <a:r>
                        <a:rPr sz="2400" b="1"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E</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r>
            </a:tbl>
          </a:graphicData>
        </a:graphic>
      </p:graphicFrame>
      <p:graphicFrame>
        <p:nvGraphicFramePr>
          <p:cNvPr id="96" name="table 96"/>
          <p:cNvGraphicFramePr>
            <a:graphicFrameLocks noGrp="1"/>
          </p:cNvGraphicFramePr>
          <p:nvPr/>
        </p:nvGraphicFramePr>
        <p:xfrm>
          <a:off x="6626352" y="4934711"/>
          <a:ext cx="496569" cy="572769"/>
        </p:xfrm>
        <a:graphic>
          <a:graphicData uri="http://schemas.openxmlformats.org/drawingml/2006/table">
            <a:tbl>
              <a:tblPr/>
              <a:tblGrid>
                <a:gridCol w="496569"/>
              </a:tblGrid>
              <a:tr h="534669">
                <a:tc>
                  <a:txBody>
                    <a:bodyPr/>
                    <a:lstStyle/>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100965" algn="l" rtl="0" eaLnBrk="0">
                        <a:lnSpc>
                          <a:spcPct val="75000"/>
                        </a:lnSpc>
                      </a:pP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D</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r>
            </a:tbl>
          </a:graphicData>
        </a:graphic>
      </p:graphicFrame>
      <p:graphicFrame>
        <p:nvGraphicFramePr>
          <p:cNvPr id="98" name="table 98"/>
          <p:cNvGraphicFramePr>
            <a:graphicFrameLocks noGrp="1"/>
          </p:cNvGraphicFramePr>
          <p:nvPr/>
        </p:nvGraphicFramePr>
        <p:xfrm>
          <a:off x="7769352" y="4934711"/>
          <a:ext cx="496569" cy="572769"/>
        </p:xfrm>
        <a:graphic>
          <a:graphicData uri="http://schemas.openxmlformats.org/drawingml/2006/table">
            <a:tbl>
              <a:tblPr/>
              <a:tblGrid>
                <a:gridCol w="496569"/>
              </a:tblGrid>
              <a:tr h="534669">
                <a:tc>
                  <a:txBody>
                    <a:bodyPr/>
                    <a:lstStyle/>
                    <a:p>
                      <a:pPr algn="l" rtl="0" eaLnBrk="0">
                        <a:lnSpc>
                          <a:spcPct val="105000"/>
                        </a:lnSpc>
                      </a:pPr>
                      <a:endParaRPr lang="en-US" altLang="en-US" sz="1000" dirty="0">
                        <a:latin typeface="Arial" panose="020B0604020202020204" pitchFamily="34" charset="0"/>
                        <a:ea typeface="黑体" panose="02010609060101010101" charset="-122"/>
                      </a:endParaRPr>
                    </a:p>
                    <a:p>
                      <a:pPr algn="l" rtl="0" eaLnBrk="0">
                        <a:lnSpc>
                          <a:spcPct val="6000"/>
                        </a:lnSpc>
                      </a:pPr>
                      <a:endParaRPr lang="en-US" altLang="en-US" sz="100" dirty="0">
                        <a:latin typeface="Arial" panose="020B0604020202020204" pitchFamily="34" charset="0"/>
                        <a:ea typeface="黑体" panose="02010609060101010101" charset="-122"/>
                      </a:endParaRPr>
                    </a:p>
                    <a:p>
                      <a:pPr marL="100965" algn="l" rtl="0" eaLnBrk="0">
                        <a:lnSpc>
                          <a:spcPct val="75000"/>
                        </a:lnSpc>
                      </a:pPr>
                      <a:r>
                        <a:rPr sz="2400" b="1" i="1" kern="0" spc="60" dirty="0">
                          <a:solidFill>
                            <a:srgbClr val="000000">
                              <a:alpha val="100000"/>
                            </a:srgbClr>
                          </a:solidFill>
                          <a:latin typeface="Arial" panose="020B0604020202020204" pitchFamily="34" charset="0"/>
                          <a:ea typeface="黑体" panose="02010609060101010101" charset="-122"/>
                          <a:cs typeface="Times New Roman" panose="02020603050405020304"/>
                        </a:rPr>
                        <a:t>D</a:t>
                      </a:r>
                      <a:endParaRPr lang="en-US" altLang="en-US" sz="2400" dirty="0">
                        <a:latin typeface="Arial" panose="020B0604020202020204" pitchFamily="34" charset="0"/>
                        <a:ea typeface="黑体" panose="02010609060101010101" charset="-122"/>
                      </a:endParaRPr>
                    </a:p>
                  </a:txBody>
                  <a:tcPr marL="0" marR="0" marT="0" marB="0" vert="horz">
                    <a:lnL w="38100" cap="flat" cmpd="sng" algn="ctr">
                      <a:solidFill>
                        <a:srgbClr val="CC3300"/>
                      </a:solidFill>
                      <a:prstDash val="solid"/>
                      <a:round/>
                      <a:headEnd type="none" w="med" len="med"/>
                      <a:tailEnd type="none" w="med" len="med"/>
                    </a:lnL>
                    <a:lnR w="38100" cap="flat" cmpd="sng" algn="ctr">
                      <a:solidFill>
                        <a:srgbClr val="CC3300"/>
                      </a:solidFill>
                      <a:prstDash val="solid"/>
                      <a:round/>
                      <a:headEnd type="none" w="med" len="med"/>
                      <a:tailEnd type="none" w="med" len="med"/>
                    </a:lnR>
                    <a:lnT w="38100" cap="flat" cmpd="sng" algn="ctr">
                      <a:solidFill>
                        <a:srgbClr val="CC3300"/>
                      </a:solidFill>
                      <a:prstDash val="solid"/>
                      <a:round/>
                      <a:headEnd type="none" w="med" len="med"/>
                      <a:tailEnd type="none" w="med" len="med"/>
                    </a:lnT>
                    <a:lnB w="38100" cap="flat" cmpd="sng" algn="ctr">
                      <a:solidFill>
                        <a:srgbClr val="CC3300"/>
                      </a:solidFill>
                      <a:prstDash val="solid"/>
                      <a:round/>
                      <a:headEnd type="none" w="med" len="med"/>
                      <a:tailEnd type="none" w="med" len="med"/>
                    </a:lnB>
                  </a:tcPr>
                </a:tc>
              </a:tr>
            </a:tbl>
          </a:graphicData>
        </a:graphic>
      </p:graphicFrame>
      <p:sp>
        <p:nvSpPr>
          <p:cNvPr id="100"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102" name="textbox 102"/>
          <p:cNvSpPr/>
          <p:nvPr/>
        </p:nvSpPr>
        <p:spPr>
          <a:xfrm>
            <a:off x="4504994" y="5082311"/>
            <a:ext cx="1010919" cy="300354"/>
          </a:xfrm>
          <a:prstGeom prst="rect">
            <a:avLst/>
          </a:prstGeom>
        </p:spPr>
        <p:txBody>
          <a:bodyPr vert="horz" wrap="square" lIns="0" tIns="0" rIns="0" bIns="0"/>
          <a:lstStyle/>
          <a:p>
            <a:pPr algn="l" rtl="0" eaLnBrk="0">
              <a:lnSpc>
                <a:spcPct val="87000"/>
              </a:lnSpc>
            </a:pPr>
            <a:endParaRPr lang="en-US" altLang="en-US" sz="100" dirty="0">
              <a:latin typeface="Arial" panose="020B0604020202020204" pitchFamily="34" charset="0"/>
              <a:ea typeface="黑体" panose="02010609060101010101" charset="-122"/>
            </a:endParaRPr>
          </a:p>
          <a:p>
            <a:pPr marL="12700" algn="l" rtl="0" eaLnBrk="0">
              <a:lnSpc>
                <a:spcPct val="75000"/>
              </a:lnSpc>
            </a:pPr>
            <a:r>
              <a:rPr sz="2400" b="1" i="1" kern="0" spc="10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endParaRPr lang="en-US" altLang="en-US" sz="2400" dirty="0">
              <a:latin typeface="Arial" panose="020B0604020202020204" pitchFamily="34" charset="0"/>
              <a:ea typeface="黑体" panose="02010609060101010101" charset="-122"/>
            </a:endParaRPr>
          </a:p>
        </p:txBody>
      </p:sp>
      <p:pic>
        <p:nvPicPr>
          <p:cNvPr id="104" name="picture 104"/>
          <p:cNvPicPr>
            <a:picLocks noChangeAspect="1"/>
          </p:cNvPicPr>
          <p:nvPr/>
        </p:nvPicPr>
        <p:blipFill>
          <a:blip r:embed="rId2"/>
          <a:stretch>
            <a:fillRect/>
          </a:stretch>
        </p:blipFill>
        <p:spPr>
          <a:xfrm rot="21600000">
            <a:off x="4891836" y="5141976"/>
            <a:ext cx="609600" cy="118872"/>
          </a:xfrm>
          <a:prstGeom prst="rect">
            <a:avLst/>
          </a:prstGeom>
        </p:spPr>
      </p:pic>
      <p:pic>
        <p:nvPicPr>
          <p:cNvPr id="106" name="picture 106"/>
          <p:cNvPicPr>
            <a:picLocks noChangeAspect="1"/>
          </p:cNvPicPr>
          <p:nvPr/>
        </p:nvPicPr>
        <p:blipFill>
          <a:blip r:embed="rId3"/>
          <a:stretch>
            <a:fillRect/>
          </a:stretch>
        </p:blipFill>
        <p:spPr>
          <a:xfrm rot="21600000">
            <a:off x="5960363" y="5166359"/>
            <a:ext cx="685800" cy="118871"/>
          </a:xfrm>
          <a:prstGeom prst="rect">
            <a:avLst/>
          </a:prstGeom>
        </p:spPr>
      </p:pic>
      <p:pic>
        <p:nvPicPr>
          <p:cNvPr id="108" name="picture 108"/>
          <p:cNvPicPr>
            <a:picLocks noChangeAspect="1"/>
          </p:cNvPicPr>
          <p:nvPr/>
        </p:nvPicPr>
        <p:blipFill>
          <a:blip r:embed="rId3"/>
          <a:stretch>
            <a:fillRect/>
          </a:stretch>
        </p:blipFill>
        <p:spPr>
          <a:xfrm rot="21600000">
            <a:off x="3750563" y="5166359"/>
            <a:ext cx="685800" cy="118871"/>
          </a:xfrm>
          <a:prstGeom prst="rect">
            <a:avLst/>
          </a:prstGeom>
        </p:spPr>
      </p:pic>
      <p:pic>
        <p:nvPicPr>
          <p:cNvPr id="110" name="picture 110"/>
          <p:cNvPicPr>
            <a:picLocks noChangeAspect="1"/>
          </p:cNvPicPr>
          <p:nvPr/>
        </p:nvPicPr>
        <p:blipFill>
          <a:blip r:embed="rId3"/>
          <a:stretch>
            <a:fillRect/>
          </a:stretch>
        </p:blipFill>
        <p:spPr>
          <a:xfrm rot="21600000">
            <a:off x="7103364" y="5166359"/>
            <a:ext cx="685800" cy="118871"/>
          </a:xfrm>
          <a:prstGeom prst="rect">
            <a:avLst/>
          </a:prstGeom>
        </p:spPr>
      </p:pic>
      <p:pic>
        <p:nvPicPr>
          <p:cNvPr id="112" name="picture 112"/>
          <p:cNvPicPr>
            <a:picLocks noChangeAspect="1"/>
          </p:cNvPicPr>
          <p:nvPr/>
        </p:nvPicPr>
        <p:blipFill>
          <a:blip r:embed="rId3"/>
          <a:stretch>
            <a:fillRect/>
          </a:stretch>
        </p:blipFill>
        <p:spPr>
          <a:xfrm rot="21600000">
            <a:off x="2607564" y="5166359"/>
            <a:ext cx="685799" cy="118871"/>
          </a:xfrm>
          <a:prstGeom prst="rect">
            <a:avLst/>
          </a:prstGeom>
        </p:spPr>
      </p:pic>
      <p:pic>
        <p:nvPicPr>
          <p:cNvPr id="114" name="picture 114"/>
          <p:cNvPicPr>
            <a:picLocks noChangeAspect="1"/>
          </p:cNvPicPr>
          <p:nvPr/>
        </p:nvPicPr>
        <p:blipFill>
          <a:blip r:embed="rId2"/>
          <a:stretch>
            <a:fillRect/>
          </a:stretch>
        </p:blipFill>
        <p:spPr>
          <a:xfrm rot="21600000">
            <a:off x="8246364" y="5141976"/>
            <a:ext cx="609600" cy="118872"/>
          </a:xfrm>
          <a:prstGeom prst="rect">
            <a:avLst/>
          </a:prstGeom>
        </p:spPr>
      </p:pic>
      <p:sp>
        <p:nvSpPr>
          <p:cNvPr id="116" name="textbox 116"/>
          <p:cNvSpPr/>
          <p:nvPr/>
        </p:nvSpPr>
        <p:spPr>
          <a:xfrm>
            <a:off x="2351950" y="5042481"/>
            <a:ext cx="248284" cy="417194"/>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3080"/>
              </a:lnSpc>
            </a:pPr>
            <a:r>
              <a:rPr sz="3600" b="1" i="1" kern="0" spc="6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kern="0" spc="60" baseline="2000" dirty="0">
                <a:solidFill>
                  <a:srgbClr val="000000">
                    <a:alpha val="100000"/>
                  </a:srgbClr>
                </a:solidFill>
                <a:latin typeface="Arial" panose="020B0604020202020204" pitchFamily="34" charset="0"/>
                <a:ea typeface="黑体" panose="02010609060101010101" charset="-122"/>
                <a:cs typeface="Times New Roman" panose="02020603050405020304"/>
              </a:rPr>
              <a:t>i</a:t>
            </a:r>
            <a:endParaRPr lang="en-US" altLang="en-US" sz="2400" baseline="2000" dirty="0">
              <a:latin typeface="Arial" panose="020B0604020202020204" pitchFamily="34" charset="0"/>
              <a:ea typeface="黑体" panose="02010609060101010101" charset="-122"/>
            </a:endParaRPr>
          </a:p>
        </p:txBody>
      </p:sp>
      <p:sp>
        <p:nvSpPr>
          <p:cNvPr id="118" name="textbox 118"/>
          <p:cNvSpPr/>
          <p:nvPr/>
        </p:nvSpPr>
        <p:spPr>
          <a:xfrm>
            <a:off x="9151162" y="5077739"/>
            <a:ext cx="248284" cy="416559"/>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2700" algn="l" rtl="0" eaLnBrk="0">
              <a:lnSpc>
                <a:spcPts val="3075"/>
              </a:lnSpc>
            </a:pPr>
            <a:r>
              <a:rPr sz="3600" b="1" i="1" kern="0" spc="60" baseline="1600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kern="0" spc="60" baseline="2000" dirty="0">
                <a:solidFill>
                  <a:srgbClr val="000000">
                    <a:alpha val="100000"/>
                  </a:srgbClr>
                </a:solidFill>
                <a:latin typeface="Arial" panose="020B0604020202020204" pitchFamily="34" charset="0"/>
                <a:ea typeface="黑体" panose="02010609060101010101" charset="-122"/>
                <a:cs typeface="Times New Roman" panose="02020603050405020304"/>
              </a:rPr>
              <a:t>i</a:t>
            </a:r>
            <a:endParaRPr lang="en-US" altLang="en-US" sz="2400" baseline="2000" dirty="0">
              <a:latin typeface="Arial" panose="020B0604020202020204" pitchFamily="34" charset="0"/>
              <a:ea typeface="黑体" panose="02010609060101010101" charset="-122"/>
            </a:endParaRPr>
          </a:p>
        </p:txBody>
      </p:sp>
      <p:sp>
        <p:nvSpPr>
          <p:cNvPr id="120" name="textbox 120"/>
          <p:cNvSpPr/>
          <p:nvPr/>
        </p:nvSpPr>
        <p:spPr>
          <a:xfrm>
            <a:off x="6087592" y="4849139"/>
            <a:ext cx="245109" cy="356234"/>
          </a:xfrm>
          <a:prstGeom prst="rect">
            <a:avLst/>
          </a:prstGeom>
        </p:spPr>
        <p:txBody>
          <a:bodyPr vert="horz" wrap="square" lIns="0" tIns="0" rIns="0" bIns="0"/>
          <a:lstStyle/>
          <a:p>
            <a:pPr algn="l" rtl="0" eaLnBrk="0">
              <a:lnSpc>
                <a:spcPct val="78000"/>
              </a:lnSpc>
            </a:pPr>
            <a:endParaRPr lang="en-US" altLang="en-US" sz="100" dirty="0">
              <a:latin typeface="Arial" panose="020B0604020202020204" pitchFamily="34" charset="0"/>
              <a:ea typeface="黑体" panose="02010609060101010101" charset="-122"/>
            </a:endParaRPr>
          </a:p>
          <a:p>
            <a:pPr marL="12700" algn="l" rtl="0" eaLnBrk="0">
              <a:lnSpc>
                <a:spcPct val="93000"/>
              </a:lnSpc>
            </a:pPr>
            <a:r>
              <a:rPr sz="3600" b="1" i="1" kern="0" spc="110" baseline="400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kern="0" spc="110" baseline="-15000" dirty="0">
                <a:solidFill>
                  <a:srgbClr val="000000">
                    <a:alpha val="100000"/>
                  </a:srgbClr>
                </a:solidFill>
                <a:latin typeface="Arial" panose="020B0604020202020204" pitchFamily="34" charset="0"/>
                <a:ea typeface="黑体" panose="02010609060101010101" charset="-122"/>
                <a:cs typeface="Times New Roman" panose="02020603050405020304"/>
              </a:rPr>
              <a:t>i</a:t>
            </a:r>
            <a:endParaRPr lang="en-US" altLang="en-US" sz="2400" baseline="-15000" dirty="0">
              <a:latin typeface="Arial" panose="020B0604020202020204" pitchFamily="34" charset="0"/>
              <a:ea typeface="黑体" panose="02010609060101010101" charset="-122"/>
            </a:endParaRPr>
          </a:p>
        </p:txBody>
      </p:sp>
      <p:sp>
        <p:nvSpPr>
          <p:cNvPr id="122" name="textbox 122"/>
          <p:cNvSpPr/>
          <p:nvPr/>
        </p:nvSpPr>
        <p:spPr>
          <a:xfrm>
            <a:off x="3492171" y="4204027"/>
            <a:ext cx="278765" cy="376554"/>
          </a:xfrm>
          <a:prstGeom prst="rect">
            <a:avLst/>
          </a:prstGeom>
        </p:spPr>
        <p:txBody>
          <a:bodyPr vert="horz" wrap="square" lIns="0" tIns="0" rIns="0" bIns="0"/>
          <a:lstStyle/>
          <a:p>
            <a:pPr algn="l" rtl="0" eaLnBrk="0">
              <a:lnSpc>
                <a:spcPct val="81000"/>
              </a:lnSpc>
            </a:pPr>
            <a:endParaRPr lang="en-US" altLang="en-US" sz="100" dirty="0">
              <a:latin typeface="Arial" panose="020B0604020202020204" pitchFamily="34" charset="0"/>
              <a:ea typeface="黑体" panose="02010609060101010101" charset="-122"/>
            </a:endParaRPr>
          </a:p>
          <a:p>
            <a:pPr algn="r" rtl="0" eaLnBrk="0">
              <a:lnSpc>
                <a:spcPct val="96000"/>
              </a:lnSpc>
            </a:pP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baseline="-20000" dirty="0">
              <a:latin typeface="Arial" panose="020B0604020202020204" pitchFamily="34" charset="0"/>
              <a:ea typeface="黑体" panose="02010609060101010101" charset="-122"/>
            </a:endParaRPr>
          </a:p>
        </p:txBody>
      </p:sp>
      <p:sp>
        <p:nvSpPr>
          <p:cNvPr id="124" name="textbox 124"/>
          <p:cNvSpPr/>
          <p:nvPr/>
        </p:nvSpPr>
        <p:spPr>
          <a:xfrm>
            <a:off x="4517187" y="4163085"/>
            <a:ext cx="278129" cy="376554"/>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kern="0" spc="0" baseline="-20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baseline="-20000" dirty="0">
              <a:latin typeface="Arial" panose="020B0604020202020204" pitchFamily="34" charset="0"/>
              <a:ea typeface="黑体" panose="02010609060101010101" charset="-122"/>
            </a:endParaRPr>
          </a:p>
        </p:txBody>
      </p:sp>
      <p:pic>
        <p:nvPicPr>
          <p:cNvPr id="126" name="picture 126"/>
          <p:cNvPicPr>
            <a:picLocks noChangeAspect="1"/>
          </p:cNvPicPr>
          <p:nvPr/>
        </p:nvPicPr>
        <p:blipFill>
          <a:blip r:embed="rId4"/>
          <a:stretch>
            <a:fillRect/>
          </a:stretch>
        </p:blipFill>
        <p:spPr>
          <a:xfrm rot="21600000">
            <a:off x="6815327" y="4497323"/>
            <a:ext cx="118872" cy="457200"/>
          </a:xfrm>
          <a:prstGeom prst="rect">
            <a:avLst/>
          </a:prstGeom>
        </p:spPr>
      </p:pic>
      <p:pic>
        <p:nvPicPr>
          <p:cNvPr id="128" name="picture 128"/>
          <p:cNvPicPr>
            <a:picLocks noChangeAspect="1"/>
          </p:cNvPicPr>
          <p:nvPr/>
        </p:nvPicPr>
        <p:blipFill>
          <a:blip r:embed="rId4"/>
          <a:stretch>
            <a:fillRect/>
          </a:stretch>
        </p:blipFill>
        <p:spPr>
          <a:xfrm rot="21600000">
            <a:off x="7958327" y="4497323"/>
            <a:ext cx="118872" cy="457200"/>
          </a:xfrm>
          <a:prstGeom prst="rect">
            <a:avLst/>
          </a:prstGeom>
        </p:spPr>
      </p:pic>
      <p:pic>
        <p:nvPicPr>
          <p:cNvPr id="130" name="picture 130"/>
          <p:cNvPicPr>
            <a:picLocks noChangeAspect="1"/>
          </p:cNvPicPr>
          <p:nvPr/>
        </p:nvPicPr>
        <p:blipFill>
          <a:blip r:embed="rId4"/>
          <a:stretch>
            <a:fillRect/>
          </a:stretch>
        </p:blipFill>
        <p:spPr>
          <a:xfrm rot="21600000">
            <a:off x="3462528" y="4497323"/>
            <a:ext cx="118871" cy="457200"/>
          </a:xfrm>
          <a:prstGeom prst="rect">
            <a:avLst/>
          </a:prstGeom>
        </p:spPr>
      </p:pic>
      <p:pic>
        <p:nvPicPr>
          <p:cNvPr id="132" name="picture 132"/>
          <p:cNvPicPr>
            <a:picLocks noChangeAspect="1"/>
          </p:cNvPicPr>
          <p:nvPr/>
        </p:nvPicPr>
        <p:blipFill>
          <a:blip r:embed="rId4"/>
          <a:stretch>
            <a:fillRect/>
          </a:stretch>
        </p:blipFill>
        <p:spPr>
          <a:xfrm rot="21600000">
            <a:off x="4605528" y="4497323"/>
            <a:ext cx="118871" cy="457200"/>
          </a:xfrm>
          <a:prstGeom prst="rect">
            <a:avLst/>
          </a:prstGeom>
        </p:spPr>
      </p:pic>
      <p:sp>
        <p:nvSpPr>
          <p:cNvPr id="134" name="textbox 134"/>
          <p:cNvSpPr/>
          <p:nvPr/>
        </p:nvSpPr>
        <p:spPr>
          <a:xfrm>
            <a:off x="3978957" y="4851980"/>
            <a:ext cx="149860" cy="345440"/>
          </a:xfrm>
          <a:prstGeom prst="rect">
            <a:avLst/>
          </a:prstGeom>
        </p:spPr>
        <p:txBody>
          <a:bodyPr vert="horz" wrap="square" lIns="0" tIns="0" rIns="0" bIns="0"/>
          <a:lstStyle/>
          <a:p>
            <a:pPr algn="l" rtl="0" eaLnBrk="0">
              <a:lnSpc>
                <a:spcPct val="93000"/>
              </a:lnSpc>
            </a:pPr>
            <a:endParaRPr lang="en-US" altLang="en-US" sz="100" dirty="0">
              <a:latin typeface="Arial" panose="020B0604020202020204" pitchFamily="34" charset="0"/>
              <a:ea typeface="黑体" panose="02010609060101010101" charset="-122"/>
            </a:endParaRPr>
          </a:p>
          <a:p>
            <a:pPr marL="12700" algn="l" rtl="0" eaLnBrk="0">
              <a:lnSpc>
                <a:spcPct val="87000"/>
              </a:lnSpc>
            </a:pP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z</a:t>
            </a:r>
            <a:endParaRPr lang="en-US" altLang="en-US" sz="2400" dirty="0">
              <a:latin typeface="Arial" panose="020B0604020202020204" pitchFamily="34" charset="0"/>
              <a:ea typeface="黑体" panose="02010609060101010101" charset="-122"/>
            </a:endParaRPr>
          </a:p>
        </p:txBody>
      </p:sp>
      <p:sp>
        <p:nvSpPr>
          <p:cNvPr id="136" name="textbox 136"/>
          <p:cNvSpPr/>
          <p:nvPr/>
        </p:nvSpPr>
        <p:spPr>
          <a:xfrm>
            <a:off x="7332650" y="4849139"/>
            <a:ext cx="149225" cy="345440"/>
          </a:xfrm>
          <a:prstGeom prst="rect">
            <a:avLst/>
          </a:prstGeom>
        </p:spPr>
        <p:txBody>
          <a:bodyPr vert="horz" wrap="square" lIns="0" tIns="0" rIns="0" bIns="0"/>
          <a:lstStyle/>
          <a:p>
            <a:pPr algn="l" rtl="0" eaLnBrk="0">
              <a:lnSpc>
                <a:spcPct val="92000"/>
              </a:lnSpc>
            </a:pPr>
            <a:endParaRPr lang="en-US" altLang="en-US" sz="100" dirty="0">
              <a:latin typeface="Arial" panose="020B0604020202020204" pitchFamily="34" charset="0"/>
              <a:ea typeface="黑体" panose="02010609060101010101" charset="-122"/>
            </a:endParaRPr>
          </a:p>
          <a:p>
            <a:pPr marL="12700" algn="l" rtl="0" eaLnBrk="0">
              <a:lnSpc>
                <a:spcPct val="87000"/>
              </a:lnSpc>
            </a:pP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z</a:t>
            </a:r>
            <a:endParaRPr lang="en-US" altLang="en-US" sz="2400" dirty="0">
              <a:latin typeface="Arial" panose="020B0604020202020204" pitchFamily="34" charset="0"/>
              <a:ea typeface="黑体" panose="02010609060101010101"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8" name="textbox 138"/>
          <p:cNvSpPr/>
          <p:nvPr/>
        </p:nvSpPr>
        <p:spPr>
          <a:xfrm>
            <a:off x="919073" y="1566206"/>
            <a:ext cx="10344784" cy="4051934"/>
          </a:xfrm>
          <a:prstGeom prst="rect">
            <a:avLst/>
          </a:prstGeom>
        </p:spPr>
        <p:txBody>
          <a:bodyPr vert="horz" wrap="square" lIns="0" tIns="0" rIns="0" bIns="0"/>
          <a:lstStyle/>
          <a:p>
            <a:pPr algn="l" rtl="0" eaLnBrk="0">
              <a:lnSpc>
                <a:spcPct val="76000"/>
              </a:lnSpc>
            </a:pPr>
            <a:endParaRPr lang="en-US" altLang="en-US" sz="100" dirty="0">
              <a:latin typeface="Arial" panose="020B0604020202020204" pitchFamily="34" charset="0"/>
              <a:ea typeface="黑体" panose="02010609060101010101" charset="-122"/>
            </a:endParaRPr>
          </a:p>
          <a:p>
            <a:pPr marL="19050" algn="l" rtl="0" eaLnBrk="0">
              <a:lnSpc>
                <a:spcPct val="94000"/>
              </a:lnSpc>
            </a:pP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给定一已知明密文对</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2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，可按下述方法攻击。</a:t>
            </a:r>
            <a:endParaRPr lang="en-US" altLang="en-US" sz="2400" dirty="0">
              <a:latin typeface="Arial" panose="020B0604020202020204" pitchFamily="34" charset="0"/>
              <a:ea typeface="黑体" panose="02010609060101010101" charset="-122"/>
            </a:endParaRPr>
          </a:p>
          <a:p>
            <a:pPr algn="l" rtl="0" eaLnBrk="0">
              <a:lnSpc>
                <a:spcPct val="138000"/>
              </a:lnSpc>
            </a:pPr>
            <a:endParaRPr lang="en-US" altLang="en-US" sz="1000" dirty="0">
              <a:latin typeface="Arial" panose="020B0604020202020204" pitchFamily="34" charset="0"/>
              <a:ea typeface="黑体" panose="02010609060101010101" charset="-122"/>
            </a:endParaRPr>
          </a:p>
          <a:p>
            <a:pPr marL="284480" indent="-271780" algn="l" rtl="0" eaLnBrk="0">
              <a:lnSpc>
                <a:spcPct val="109000"/>
              </a:lnSpc>
              <a:spcBef>
                <a:spcPts val="725"/>
              </a:spcBef>
            </a:pPr>
            <a:r>
              <a:rPr sz="24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以密钥</a:t>
            </a:r>
            <a:r>
              <a:rPr sz="2400" b="1" i="1" kern="0" spc="3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3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的所有</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3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15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3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个可能</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的取值对此明文</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2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加密，并将密文</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z</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存储在一个表</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300" kern="0" spc="-15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中；</a:t>
            </a:r>
            <a:endParaRPr lang="en-US" altLang="en-US" sz="2300" dirty="0">
              <a:latin typeface="Arial" panose="020B0604020202020204" pitchFamily="34" charset="0"/>
              <a:ea typeface="黑体" panose="02010609060101010101" charset="-122"/>
            </a:endParaRPr>
          </a:p>
          <a:p>
            <a:pPr algn="l" rtl="0" eaLnBrk="0">
              <a:lnSpc>
                <a:spcPct val="136000"/>
              </a:lnSpc>
            </a:pPr>
            <a:endParaRPr lang="en-US" altLang="en-US" sz="1000" dirty="0">
              <a:latin typeface="Arial" panose="020B0604020202020204" pitchFamily="34" charset="0"/>
              <a:ea typeface="黑体" panose="02010609060101010101" charset="-122"/>
            </a:endParaRPr>
          </a:p>
          <a:p>
            <a:pPr marL="247650" indent="-234950" algn="l" rtl="0" eaLnBrk="0">
              <a:lnSpc>
                <a:spcPct val="114000"/>
              </a:lnSpc>
              <a:spcBef>
                <a:spcPts val="72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4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从所有可能的</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1500" b="1" kern="0" spc="-1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个密钥</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1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中依任意次序</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选出一个对给定的密文</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解密，并将</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每次解密结果</a:t>
            </a:r>
            <a:r>
              <a:rPr sz="2400" b="1" i="1" kern="0" spc="50" dirty="0">
                <a:solidFill>
                  <a:srgbClr val="000000">
                    <a:alpha val="100000"/>
                  </a:srgbClr>
                </a:solidFill>
                <a:latin typeface="Arial" panose="020B0604020202020204" pitchFamily="34" charset="0"/>
                <a:ea typeface="黑体" panose="02010609060101010101" charset="-122"/>
                <a:cs typeface="Times New Roman" panose="02020603050405020304"/>
              </a:rPr>
              <a:t>z</a:t>
            </a:r>
            <a:r>
              <a:rPr sz="2400" kern="0" spc="5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在上述表中查找相匹配的值。一旦找到，则可确定</a:t>
            </a:r>
            <a:r>
              <a:rPr sz="2400" kern="0" spc="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出两个密</a:t>
            </a:r>
            <a:r>
              <a:rPr sz="2400" kern="0" spc="-1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钥</a:t>
            </a:r>
            <a:r>
              <a:rPr sz="24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4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8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b="1" i="1" kern="0" spc="-4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4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15000"/>
              </a:lnSpc>
            </a:pP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600" dirty="0">
              <a:latin typeface="Arial" panose="020B0604020202020204" pitchFamily="34" charset="0"/>
              <a:ea typeface="黑体" panose="02010609060101010101" charset="-122"/>
            </a:endParaRPr>
          </a:p>
          <a:p>
            <a:pPr marL="262890" indent="-250190" algn="l" rtl="0" eaLnBrk="0">
              <a:lnSpc>
                <a:spcPct val="107000"/>
              </a:lnSpc>
              <a:spcBef>
                <a:spcPts val="5"/>
              </a:spcBef>
            </a:pPr>
            <a:r>
              <a:rPr sz="24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以此对密钥</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2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2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对另一已知明文密文对</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kern="0" spc="4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中的明文</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进行加密，如果</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能得出相应的密文</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2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就可确定</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10" baseline="-24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2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是所要找的密钥</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p:txBody>
      </p:sp>
      <p:sp>
        <p:nvSpPr>
          <p:cNvPr id="140" name="textbox 140"/>
          <p:cNvSpPr/>
          <p:nvPr/>
        </p:nvSpPr>
        <p:spPr>
          <a:xfrm>
            <a:off x="810260" y="-12700"/>
            <a:ext cx="11395075" cy="1147444"/>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marL="433070" algn="l" defTabSz="0" rtl="0" eaLnBrk="0">
              <a:lnSpc>
                <a:spcPct val="95000"/>
              </a:lnSpc>
              <a:spcBef>
                <a:spcPts val="5"/>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15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3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中间相遇攻击的步骤</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44" name="picture 144"/>
          <p:cNvPicPr>
            <a:picLocks noChangeAspect="1"/>
          </p:cNvPicPr>
          <p:nvPr/>
        </p:nvPicPr>
        <p:blipFill>
          <a:blip r:embed="rId1"/>
          <a:stretch>
            <a:fillRect/>
          </a:stretch>
        </p:blipFill>
        <p:spPr>
          <a:xfrm rot="21600000">
            <a:off x="822960" y="408431"/>
            <a:ext cx="420623" cy="655320"/>
          </a:xfrm>
          <a:prstGeom prst="rect">
            <a:avLst/>
          </a:prstGeom>
        </p:spPr>
      </p:pic>
      <p:sp>
        <p:nvSpPr>
          <p:cNvPr id="14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textbox 148"/>
          <p:cNvSpPr/>
          <p:nvPr/>
        </p:nvSpPr>
        <p:spPr>
          <a:xfrm>
            <a:off x="919073" y="1566206"/>
            <a:ext cx="10340340" cy="2947670"/>
          </a:xfrm>
          <a:prstGeom prst="rect">
            <a:avLst/>
          </a:prstGeom>
        </p:spPr>
        <p:txBody>
          <a:bodyPr vert="horz" wrap="square" lIns="0" tIns="0" rIns="0" bIns="0"/>
          <a:lstStyle/>
          <a:p>
            <a:pPr algn="l" rtl="0" eaLnBrk="0">
              <a:lnSpc>
                <a:spcPct val="89000"/>
              </a:lnSpc>
            </a:pPr>
            <a:endParaRPr lang="en-US" altLang="en-US" sz="100" dirty="0">
              <a:latin typeface="Arial" panose="020B0604020202020204" pitchFamily="34" charset="0"/>
              <a:ea typeface="黑体" panose="02010609060101010101" charset="-122"/>
            </a:endParaRPr>
          </a:p>
          <a:p>
            <a:pPr marL="12700" algn="l" rtl="0" eaLnBrk="0">
              <a:lnSpc>
                <a:spcPct val="100000"/>
              </a:lnSpc>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对于给定明文</a:t>
            </a:r>
            <a:r>
              <a:rPr sz="2400" b="1" i="1" kern="0" spc="-1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i="1" kern="0" spc="-2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，以两重</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ES</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加密将有</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2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64</a:t>
            </a:r>
            <a:r>
              <a:rPr sz="1500" b="1" kern="0" spc="-20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个可能的密文。</a:t>
            </a:r>
            <a:endParaRPr lang="en-US" altLang="en-US" sz="2400" dirty="0">
              <a:latin typeface="Arial" panose="020B0604020202020204" pitchFamily="34" charset="0"/>
              <a:ea typeface="黑体" panose="02010609060101010101" charset="-122"/>
            </a:endParaRPr>
          </a:p>
          <a:p>
            <a:pPr marL="262890" indent="-250190" algn="l" rtl="0" eaLnBrk="0">
              <a:lnSpc>
                <a:spcPct val="108000"/>
              </a:lnSpc>
              <a:spcBef>
                <a:spcPts val="1560"/>
              </a:spcBef>
            </a:pPr>
            <a:r>
              <a:rPr sz="24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可能的密钥数为</a:t>
            </a:r>
            <a:r>
              <a:rPr sz="2400" b="1" kern="0" spc="3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2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112</a:t>
            </a:r>
            <a:r>
              <a:rPr sz="1500" b="1" kern="0" spc="-1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个。所以，在给定明文下，将有</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2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112</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2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64</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2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48</a:t>
            </a:r>
            <a:r>
              <a:rPr sz="1500" b="1" kern="0" spc="-17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个密钥能产</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生给定的密文。</a:t>
            </a:r>
            <a:endParaRPr lang="en-US" altLang="en-US" sz="2400" dirty="0">
              <a:latin typeface="Arial" panose="020B0604020202020204" pitchFamily="34" charset="0"/>
              <a:ea typeface="黑体" panose="02010609060101010101" charset="-122"/>
            </a:endParaRPr>
          </a:p>
          <a:p>
            <a:pPr marL="12700" algn="l" rtl="0" eaLnBrk="0">
              <a:lnSpc>
                <a:spcPct val="100000"/>
              </a:lnSpc>
              <a:spcBef>
                <a:spcPts val="168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用另一对</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64</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比特明文</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密文对进行检验，就使</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虚报率降为</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48-64</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-16</a:t>
            </a:r>
            <a:r>
              <a:rPr sz="2400" kern="0" spc="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03000"/>
              </a:lnSpc>
            </a:pPr>
            <a:endParaRPr lang="en-US" altLang="en-US" sz="1300" dirty="0">
              <a:latin typeface="Arial" panose="020B0604020202020204" pitchFamily="34" charset="0"/>
              <a:ea typeface="黑体" panose="02010609060101010101" charset="-122"/>
            </a:endParaRPr>
          </a:p>
          <a:p>
            <a:pPr marL="250825" indent="-238125" algn="l" rtl="0" eaLnBrk="0">
              <a:lnSpc>
                <a:spcPct val="107000"/>
              </a:lnSpc>
              <a:spcBef>
                <a:spcPts val="5"/>
              </a:spcBef>
            </a:pPr>
            <a:r>
              <a:rPr sz="24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50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这一攻击法所需的存储量为</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1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15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8  Byte</a:t>
            </a:r>
            <a:r>
              <a:rPr sz="2400" b="1" kern="0" spc="-29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，最大试验的加密次数</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kern="0" spc="-1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1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56</a:t>
            </a:r>
            <a:r>
              <a:rPr sz="15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1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57</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2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4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这说明破译双重</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的难度为</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400" b="1" kern="0" spc="-1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57</a:t>
            </a:r>
            <a:r>
              <a:rPr sz="1500" b="1" kern="0" spc="-1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量级。</a:t>
            </a:r>
            <a:endParaRPr lang="en-US" altLang="en-US" sz="2400" dirty="0">
              <a:latin typeface="Arial" panose="020B0604020202020204" pitchFamily="34" charset="0"/>
              <a:ea typeface="黑体" panose="02010609060101010101" charset="-122"/>
            </a:endParaRPr>
          </a:p>
        </p:txBody>
      </p:sp>
      <p:sp>
        <p:nvSpPr>
          <p:cNvPr id="150" name="textbox 150"/>
          <p:cNvSpPr/>
          <p:nvPr/>
        </p:nvSpPr>
        <p:spPr>
          <a:xfrm>
            <a:off x="810260" y="-12700"/>
            <a:ext cx="11395075" cy="1151889"/>
          </a:xfrm>
          <a:prstGeom prst="rect">
            <a:avLst/>
          </a:prstGeom>
        </p:spPr>
        <p:txBody>
          <a:bodyPr vert="horz" wrap="square" lIns="0" tIns="0" rIns="0" bIns="0"/>
          <a:lstStyle/>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3000"/>
              </a:lnSpc>
            </a:pPr>
            <a:endParaRPr lang="en-US" altLang="en-US" sz="1000" dirty="0">
              <a:latin typeface="Arial" panose="020B0604020202020204" pitchFamily="34" charset="0"/>
              <a:ea typeface="黑体" panose="02010609060101010101" charset="-122"/>
            </a:endParaRPr>
          </a:p>
          <a:p>
            <a:pPr algn="l" rtl="0" eaLnBrk="0">
              <a:lnSpc>
                <a:spcPct val="114000"/>
              </a:lnSpc>
            </a:pPr>
            <a:endParaRPr lang="en-US" altLang="en-US" sz="1000" dirty="0">
              <a:latin typeface="Arial" panose="020B0604020202020204" pitchFamily="34" charset="0"/>
              <a:ea typeface="黑体" panose="02010609060101010101" charset="-122"/>
            </a:endParaRPr>
          </a:p>
          <a:p>
            <a:pPr marL="433070" algn="l" defTabSz="0" rtl="0" eaLnBrk="0">
              <a:lnSpc>
                <a:spcPct val="96000"/>
              </a:lnSpc>
              <a:spcBef>
                <a:spcPts val="0"/>
              </a:spcBef>
              <a:tabLst>
                <a:tab pos="657225" algn="l"/>
                <a:tab pos="9693910"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u="sng" kern="0" spc="-16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u="sng" kern="0" spc="40" dirty="0">
                <a:ln w="11582" cap="flat" cmpd="sng">
                  <a:solidFill>
                    <a:srgbClr val="1F4E79">
                      <a:alpha val="100000"/>
                    </a:srgbClr>
                  </a:solidFill>
                  <a:prstDash val="solid"/>
                  <a:miter lim="10"/>
                </a:ln>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中间相遇攻击的复杂度</a:t>
            </a:r>
            <a:r>
              <a:rPr sz="3100" u="sng" kern="0" spc="0" dirty="0">
                <a:solidFill>
                  <a:srgbClr val="1F4E79">
                    <a:alpha val="100000"/>
                  </a:srgbClr>
                </a:solidFill>
                <a:uFill>
                  <a:solidFill>
                    <a:srgbClr val="5B9BD5"/>
                  </a:solidFill>
                </a:uFill>
                <a:latin typeface="Arial" panose="020B0604020202020204" pitchFamily="34" charset="0"/>
                <a:ea typeface="黑体" panose="02010609060101010101" charset="-122"/>
                <a:cs typeface="仿宋" panose="02010609060101010101" charset="-122"/>
              </a:rPr>
              <a:t>	</a:t>
            </a:r>
            <a:r>
              <a:rPr sz="3100" kern="0" spc="-10" dirty="0">
                <a:solidFill>
                  <a:srgbClr val="1F4E79">
                    <a:alpha val="100000"/>
                  </a:srgbClr>
                </a:solidFill>
                <a:latin typeface="Arial" panose="020B0604020202020204" pitchFamily="34" charset="0"/>
                <a:ea typeface="黑体" panose="02010609060101010101" charset="-122"/>
                <a:cs typeface="仿宋" panose="02010609060101010101" charset="-122"/>
              </a:rPr>
              <a:t>    </a:t>
            </a:r>
            <a:endParaRPr lang="en-US" altLang="en-US" sz="3100" dirty="0">
              <a:latin typeface="Arial" panose="020B0604020202020204" pitchFamily="34" charset="0"/>
              <a:ea typeface="黑体" panose="02010609060101010101" charset="-122"/>
            </a:endParaRPr>
          </a:p>
        </p:txBody>
      </p:sp>
      <p:pic>
        <p:nvPicPr>
          <p:cNvPr id="154" name="picture 154"/>
          <p:cNvPicPr>
            <a:picLocks noChangeAspect="1"/>
          </p:cNvPicPr>
          <p:nvPr/>
        </p:nvPicPr>
        <p:blipFill>
          <a:blip r:embed="rId1"/>
          <a:stretch>
            <a:fillRect/>
          </a:stretch>
        </p:blipFill>
        <p:spPr>
          <a:xfrm rot="21600000">
            <a:off x="822960" y="408431"/>
            <a:ext cx="420623" cy="655320"/>
          </a:xfrm>
          <a:prstGeom prst="rect">
            <a:avLst/>
          </a:prstGeom>
        </p:spPr>
      </p:pic>
      <p:sp>
        <p:nvSpPr>
          <p:cNvPr id="15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oup 8"/>
          <p:cNvGrpSpPr/>
          <p:nvPr/>
        </p:nvGrpSpPr>
        <p:grpSpPr>
          <a:xfrm rot="21600000">
            <a:off x="3709415" y="3886200"/>
            <a:ext cx="5507736" cy="813816"/>
            <a:chOff x="0" y="0"/>
            <a:chExt cx="5507736" cy="813816"/>
          </a:xfrm>
        </p:grpSpPr>
        <p:pic>
          <p:nvPicPr>
            <p:cNvPr id="158" name="picture 158"/>
            <p:cNvPicPr>
              <a:picLocks noChangeAspect="1"/>
            </p:cNvPicPr>
            <p:nvPr/>
          </p:nvPicPr>
          <p:blipFill>
            <a:blip r:embed="rId1"/>
            <a:stretch>
              <a:fillRect/>
            </a:stretch>
          </p:blipFill>
          <p:spPr>
            <a:xfrm rot="21600000">
              <a:off x="0" y="0"/>
              <a:ext cx="5507736" cy="813816"/>
            </a:xfrm>
            <a:prstGeom prst="rect">
              <a:avLst/>
            </a:prstGeom>
          </p:spPr>
        </p:pic>
        <p:sp>
          <p:nvSpPr>
            <p:cNvPr id="160" name="textbox 160"/>
            <p:cNvSpPr/>
            <p:nvPr/>
          </p:nvSpPr>
          <p:spPr>
            <a:xfrm>
              <a:off x="-12700" y="-12700"/>
              <a:ext cx="5533390" cy="878205"/>
            </a:xfrm>
            <a:prstGeom prst="rect">
              <a:avLst/>
            </a:prstGeom>
          </p:spPr>
          <p:txBody>
            <a:bodyPr vert="horz" wrap="square" lIns="0" tIns="0" rIns="0" bIns="0"/>
            <a:lstStyle/>
            <a:p>
              <a:pPr algn="l" rtl="0" eaLnBrk="0">
                <a:lnSpc>
                  <a:spcPct val="168000"/>
                </a:lnSpc>
              </a:pPr>
              <a:endParaRPr lang="en-US" altLang="en-US" sz="1000" dirty="0">
                <a:latin typeface="Arial" panose="020B0604020202020204" pitchFamily="34" charset="0"/>
                <a:ea typeface="黑体" panose="02010609060101010101" charset="-122"/>
              </a:endParaRPr>
            </a:p>
            <a:p>
              <a:pPr marL="686435" algn="l" rtl="0" eaLnBrk="0">
                <a:lnSpc>
                  <a:spcPct val="94000"/>
                </a:lnSpc>
                <a:spcBef>
                  <a:spcPts val="5"/>
                </a:spcBef>
              </a:pPr>
              <a:r>
                <a:rPr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三重</a:t>
              </a:r>
              <a:r>
                <a:rPr sz="2400" b="1" kern="0" spc="-3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30" dirty="0">
                  <a:ln w="8708"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算法</a:t>
              </a:r>
              <a:endParaRPr lang="en-US" altLang="en-US" sz="2400" dirty="0">
                <a:latin typeface="Arial" panose="020B0604020202020204" pitchFamily="34" charset="0"/>
                <a:ea typeface="黑体" panose="02010609060101010101" charset="-122"/>
              </a:endParaRPr>
            </a:p>
          </p:txBody>
        </p:sp>
      </p:grpSp>
      <p:grpSp>
        <p:nvGrpSpPr>
          <p:cNvPr id="10" name="group 10"/>
          <p:cNvGrpSpPr/>
          <p:nvPr/>
        </p:nvGrpSpPr>
        <p:grpSpPr>
          <a:xfrm rot="21600000">
            <a:off x="3557015" y="2057400"/>
            <a:ext cx="5708903" cy="813816"/>
            <a:chOff x="0" y="0"/>
            <a:chExt cx="5708903" cy="813816"/>
          </a:xfrm>
        </p:grpSpPr>
        <p:pic>
          <p:nvPicPr>
            <p:cNvPr id="162" name="picture 162"/>
            <p:cNvPicPr>
              <a:picLocks noChangeAspect="1"/>
            </p:cNvPicPr>
            <p:nvPr/>
          </p:nvPicPr>
          <p:blipFill>
            <a:blip r:embed="rId2"/>
            <a:stretch>
              <a:fillRect/>
            </a:stretch>
          </p:blipFill>
          <p:spPr>
            <a:xfrm rot="21600000">
              <a:off x="0" y="0"/>
              <a:ext cx="5708903" cy="813816"/>
            </a:xfrm>
            <a:prstGeom prst="rect">
              <a:avLst/>
            </a:prstGeom>
          </p:spPr>
        </p:pic>
        <p:sp>
          <p:nvSpPr>
            <p:cNvPr id="164" name="textbox 164"/>
            <p:cNvSpPr/>
            <p:nvPr/>
          </p:nvSpPr>
          <p:spPr>
            <a:xfrm>
              <a:off x="-12700" y="-12700"/>
              <a:ext cx="5734684" cy="878205"/>
            </a:xfrm>
            <a:prstGeom prst="rect">
              <a:avLst/>
            </a:prstGeom>
          </p:spPr>
          <p:txBody>
            <a:bodyPr vert="horz" wrap="square" lIns="0" tIns="0" rIns="0" bIns="0"/>
            <a:lstStyle/>
            <a:p>
              <a:pPr algn="l" rtl="0" eaLnBrk="0">
                <a:lnSpc>
                  <a:spcPct val="167000"/>
                </a:lnSpc>
              </a:pPr>
              <a:endParaRPr lang="en-US" altLang="en-US" sz="1000" dirty="0">
                <a:latin typeface="Arial" panose="020B0604020202020204" pitchFamily="34" charset="0"/>
                <a:ea typeface="黑体" panose="02010609060101010101" charset="-122"/>
              </a:endParaRPr>
            </a:p>
            <a:p>
              <a:pPr algn="l" rtl="0" eaLnBrk="0">
                <a:lnSpc>
                  <a:spcPct val="8000"/>
                </a:lnSpc>
              </a:pPr>
              <a:endParaRPr lang="en-US" altLang="en-US" sz="100" dirty="0">
                <a:latin typeface="Arial" panose="020B0604020202020204" pitchFamily="34" charset="0"/>
                <a:ea typeface="黑体" panose="02010609060101010101" charset="-122"/>
              </a:endParaRPr>
            </a:p>
            <a:p>
              <a:pPr marL="676910" algn="l" rtl="0" eaLnBrk="0">
                <a:lnSpc>
                  <a:spcPct val="94000"/>
                </a:lnSpc>
              </a:pPr>
              <a:r>
                <a:rPr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双重</a:t>
              </a:r>
              <a:r>
                <a:rPr sz="2400" b="1" kern="0" spc="-20" dirty="0">
                  <a:solidFill>
                    <a:srgbClr val="FFFFFF">
                      <a:alpha val="100000"/>
                    </a:srgbClr>
                  </a:solidFill>
                  <a:latin typeface="Arial" panose="020B0604020202020204" pitchFamily="34" charset="0"/>
                  <a:ea typeface="黑体" panose="02010609060101010101" charset="-122"/>
                  <a:cs typeface="Times New Roman" panose="02020603050405020304"/>
                </a:rPr>
                <a:t>DES</a:t>
              </a:r>
              <a:r>
                <a:rPr sz="2400" kern="0" spc="-20" dirty="0">
                  <a:ln w="8717" cap="flat" cmpd="sng">
                    <a:solidFill>
                      <a:srgbClr val="FFFFFF">
                        <a:alpha val="100000"/>
                      </a:srgbClr>
                    </a:solidFill>
                    <a:prstDash val="solid"/>
                    <a:miter lim="10"/>
                  </a:ln>
                  <a:solidFill>
                    <a:srgbClr val="FFFFFF">
                      <a:alpha val="100000"/>
                    </a:srgbClr>
                  </a:solidFill>
                  <a:latin typeface="Arial" panose="020B0604020202020204" pitchFamily="34" charset="0"/>
                  <a:ea typeface="黑体" panose="02010609060101010101" charset="-122"/>
                  <a:cs typeface="仿宋" panose="02010609060101010101" charset="-122"/>
                </a:rPr>
                <a:t>算法</a:t>
              </a:r>
              <a:endParaRPr lang="en-US" altLang="en-US" sz="2400" dirty="0">
                <a:latin typeface="Arial" panose="020B0604020202020204" pitchFamily="34" charset="0"/>
                <a:ea typeface="黑体" panose="02010609060101010101" charset="-122"/>
              </a:endParaRPr>
            </a:p>
          </p:txBody>
        </p:sp>
      </p:grpSp>
      <p:grpSp>
        <p:nvGrpSpPr>
          <p:cNvPr id="12" name="group 12"/>
          <p:cNvGrpSpPr/>
          <p:nvPr/>
        </p:nvGrpSpPr>
        <p:grpSpPr>
          <a:xfrm rot="21600000">
            <a:off x="2969132" y="1523492"/>
            <a:ext cx="1249298" cy="3784726"/>
            <a:chOff x="0" y="0"/>
            <a:chExt cx="1249298" cy="3784726"/>
          </a:xfrm>
        </p:grpSpPr>
        <p:sp>
          <p:nvSpPr>
            <p:cNvPr id="166" name="path"/>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alpha val="100000"/>
                </a:srgbClr>
              </a:solidFill>
              <a:prstDash val="solid"/>
              <a:miter lim="1000000"/>
            </a:ln>
          </p:spPr>
          <p:txBody>
            <a:bodyPr rtlCol="0"/>
            <a:lstStyle/>
            <a:p>
              <a:pPr algn="ctr"/>
              <a:endParaRPr lang="zh-CN" altLang="en-US"/>
            </a:p>
          </p:txBody>
        </p:sp>
        <p:sp>
          <p:nvSpPr>
            <p:cNvPr id="168" name="path"/>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70" name="path"/>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alpha val="100000"/>
                </a:srgbClr>
              </a:solidFill>
              <a:prstDash val="solid"/>
              <a:miter lim="1000000"/>
            </a:ln>
          </p:spPr>
          <p:txBody>
            <a:bodyPr rtlCol="0"/>
            <a:lstStyle/>
            <a:p>
              <a:pPr algn="ctr"/>
              <a:endParaRPr lang="zh-CN" altLang="en-US"/>
            </a:p>
          </p:txBody>
        </p:sp>
        <p:sp>
          <p:nvSpPr>
            <p:cNvPr id="172" name="path"/>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74" name="path"/>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alpha val="100000"/>
                </a:srgbClr>
              </a:solidFill>
              <a:prstDash val="solid"/>
              <a:miter lim="1000000"/>
            </a:ln>
          </p:spPr>
          <p:txBody>
            <a:bodyPr rtlCol="0"/>
            <a:lstStyle/>
            <a:p>
              <a:pPr algn="ctr"/>
              <a:endParaRPr lang="zh-CN" altLang="en-US"/>
            </a:p>
          </p:txBody>
        </p:sp>
      </p:grpSp>
      <p:sp>
        <p:nvSpPr>
          <p:cNvPr id="176" name="textbox 176"/>
          <p:cNvSpPr/>
          <p:nvPr/>
        </p:nvSpPr>
        <p:spPr>
          <a:xfrm>
            <a:off x="2745984" y="491245"/>
            <a:ext cx="3044189" cy="482600"/>
          </a:xfrm>
          <a:prstGeom prst="rect">
            <a:avLst/>
          </a:prstGeom>
        </p:spPr>
        <p:txBody>
          <a:bodyPr vert="horz" wrap="square" lIns="0" tIns="0" rIns="0" bIns="0"/>
          <a:lstStyle/>
          <a:p>
            <a:pPr algn="l" rtl="0" eaLnBrk="0">
              <a:lnSpc>
                <a:spcPct val="74000"/>
              </a:lnSpc>
            </a:pPr>
            <a:endParaRPr lang="en-US" altLang="en-US" sz="100" dirty="0">
              <a:latin typeface="Arial" panose="020B0604020202020204" pitchFamily="34" charset="0"/>
              <a:ea typeface="黑体" panose="02010609060101010101" charset="-122"/>
            </a:endParaRPr>
          </a:p>
          <a:p>
            <a:pPr marL="12700" algn="l" rtl="0" eaLnBrk="0">
              <a:lnSpc>
                <a:spcPct val="97000"/>
              </a:lnSpc>
            </a:pPr>
            <a:r>
              <a:rPr sz="3100" kern="0" spc="4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3</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endParaRPr lang="en-US" altLang="en-US" sz="3100" dirty="0">
              <a:latin typeface="Arial" panose="020B0604020202020204" pitchFamily="34" charset="0"/>
              <a:ea typeface="黑体" panose="02010609060101010101" charset="-122"/>
            </a:endParaRPr>
          </a:p>
        </p:txBody>
      </p:sp>
      <p:sp>
        <p:nvSpPr>
          <p:cNvPr id="18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182" name="picture 182"/>
          <p:cNvPicPr>
            <a:picLocks noChangeAspect="1"/>
          </p:cNvPicPr>
          <p:nvPr/>
        </p:nvPicPr>
        <p:blipFill>
          <a:blip r:embed="rId3"/>
          <a:stretch>
            <a:fillRect/>
          </a:stretch>
        </p:blipFill>
        <p:spPr>
          <a:xfrm rot="21600000">
            <a:off x="822960" y="408431"/>
            <a:ext cx="420623" cy="655320"/>
          </a:xfrm>
          <a:prstGeom prst="rect">
            <a:avLst/>
          </a:prstGeom>
        </p:spPr>
      </p:pic>
      <p:sp>
        <p:nvSpPr>
          <p:cNvPr id="18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6" name="textbox 186"/>
          <p:cNvSpPr/>
          <p:nvPr/>
        </p:nvSpPr>
        <p:spPr>
          <a:xfrm>
            <a:off x="921819" y="1576561"/>
            <a:ext cx="10341609" cy="2253614"/>
          </a:xfrm>
          <a:prstGeom prst="rect">
            <a:avLst/>
          </a:prstGeom>
        </p:spPr>
        <p:txBody>
          <a:bodyPr vert="horz" wrap="square" lIns="0" tIns="0" rIns="0" bIns="0"/>
          <a:lstStyle/>
          <a:p>
            <a:pPr algn="l" rtl="0" eaLnBrk="0">
              <a:lnSpc>
                <a:spcPct val="100000"/>
              </a:lnSpc>
            </a:pPr>
            <a:endParaRPr lang="en-US" altLang="en-US" sz="100" dirty="0">
              <a:latin typeface="Arial" panose="020B0604020202020204" pitchFamily="34" charset="0"/>
              <a:ea typeface="黑体" panose="02010609060101010101" charset="-122"/>
            </a:endParaRPr>
          </a:p>
          <a:p>
            <a:pPr marL="248285" indent="-235585" algn="l" rtl="0" eaLnBrk="0">
              <a:lnSpc>
                <a:spcPct val="107000"/>
              </a:lnSpc>
            </a:pPr>
            <a:r>
              <a:rPr sz="2800" kern="0" spc="3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38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三重</a:t>
            </a:r>
            <a:r>
              <a:rPr sz="28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800" kern="0" spc="3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中三个密码组件既可以是一个加密函数，也可以是一个</a:t>
            </a:r>
            <a:r>
              <a:rPr sz="2800" kern="0" spc="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800" kern="0" spc="-4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解密函数。</a:t>
            </a:r>
            <a:endParaRPr lang="en-US" altLang="en-US" sz="2800" dirty="0">
              <a:latin typeface="Arial" panose="020B0604020202020204" pitchFamily="34" charset="0"/>
              <a:ea typeface="黑体" panose="02010609060101010101" charset="-122"/>
            </a:endParaRPr>
          </a:p>
          <a:p>
            <a:pPr marL="12700" algn="l" rtl="0" eaLnBrk="0">
              <a:lnSpc>
                <a:spcPts val="3450"/>
              </a:lnSpc>
              <a:spcBef>
                <a:spcPts val="1870"/>
              </a:spcBef>
            </a:pPr>
            <a:r>
              <a:rPr sz="2800" kern="0" spc="-19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5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9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当</a:t>
            </a:r>
            <a:r>
              <a:rPr sz="2800" b="1" kern="0" spc="-19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800" b="1" kern="0" spc="-10" baseline="-22000" dirty="0">
                <a:solidFill>
                  <a:srgbClr val="000000">
                    <a:alpha val="100000"/>
                  </a:srgbClr>
                </a:solidFill>
                <a:latin typeface="Arial" panose="020B0604020202020204" pitchFamily="34" charset="0"/>
                <a:ea typeface="黑体" panose="02010609060101010101" charset="-122"/>
                <a:cs typeface="Times New Roman" panose="02020603050405020304"/>
              </a:rPr>
              <a:t>3</a:t>
            </a:r>
            <a:r>
              <a:rPr sz="1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时，则称</a:t>
            </a:r>
            <a:r>
              <a:rPr sz="2800" kern="0" spc="-20" dirty="0">
                <a:ln w="10189"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为双密钥三重</a:t>
            </a:r>
            <a:r>
              <a:rPr sz="28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DES</a:t>
            </a:r>
            <a:endParaRPr lang="en-US" altLang="en-US" sz="2800" dirty="0">
              <a:latin typeface="Arial" panose="020B0604020202020204" pitchFamily="34" charset="0"/>
              <a:ea typeface="黑体" panose="02010609060101010101" charset="-122"/>
            </a:endParaRPr>
          </a:p>
          <a:p>
            <a:pPr algn="l" rtl="0" eaLnBrk="0">
              <a:lnSpc>
                <a:spcPct val="101000"/>
              </a:lnSpc>
            </a:pPr>
            <a:endParaRPr lang="en-US" altLang="en-US" sz="1000" dirty="0">
              <a:latin typeface="Arial" panose="020B0604020202020204" pitchFamily="34" charset="0"/>
              <a:ea typeface="黑体" panose="02010609060101010101" charset="-122"/>
            </a:endParaRPr>
          </a:p>
          <a:p>
            <a:pPr algn="l" rtl="0" eaLnBrk="0">
              <a:lnSpc>
                <a:spcPct val="101000"/>
              </a:lnSpc>
            </a:pPr>
            <a:endParaRPr lang="en-US" altLang="en-US" sz="600" dirty="0">
              <a:latin typeface="Arial" panose="020B0604020202020204" pitchFamily="34" charset="0"/>
              <a:ea typeface="黑体" panose="02010609060101010101" charset="-122"/>
            </a:endParaRPr>
          </a:p>
          <a:p>
            <a:pPr marL="3004185" algn="l" rtl="0" eaLnBrk="0">
              <a:lnSpc>
                <a:spcPts val="3065"/>
              </a:lnSpc>
              <a:spcBef>
                <a:spcPts val="5"/>
              </a:spcBef>
            </a:pP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0" baseline="-21000" dirty="0">
                <a:solidFill>
                  <a:srgbClr val="000000">
                    <a:alpha val="100000"/>
                  </a:srgbClr>
                </a:solidFill>
                <a:latin typeface="Arial" panose="020B0604020202020204" pitchFamily="34" charset="0"/>
                <a:ea typeface="黑体" panose="02010609060101010101" charset="-122"/>
                <a:cs typeface="Times New Roman" panose="02020603050405020304"/>
              </a:rPr>
              <a:t>1</a:t>
            </a:r>
            <a:r>
              <a:rPr sz="15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15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0" baseline="-1900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15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3600" b="1" i="1" kern="0" spc="0" baseline="9000" dirty="0">
                <a:solidFill>
                  <a:srgbClr val="000000">
                    <a:alpha val="100000"/>
                  </a:srgbClr>
                </a:solidFill>
                <a:latin typeface="Arial" panose="020B0604020202020204" pitchFamily="34" charset="0"/>
                <a:ea typeface="黑体" panose="02010609060101010101" charset="-122"/>
                <a:cs typeface="Times New Roman" panose="02020603050405020304"/>
              </a:rPr>
              <a:t>k</a:t>
            </a:r>
            <a:r>
              <a:rPr sz="2400" b="1" kern="0" spc="0" baseline="-12000" dirty="0">
                <a:solidFill>
                  <a:srgbClr val="000000">
                    <a:alpha val="100000"/>
                  </a:srgbClr>
                </a:solidFill>
                <a:latin typeface="Arial" panose="020B0604020202020204" pitchFamily="34" charset="0"/>
                <a:ea typeface="黑体" panose="02010609060101010101" charset="-122"/>
                <a:cs typeface="Times New Roman" panose="02020603050405020304"/>
                <a:hlinkClick r:id="rId1" action="ppaction://hlinksldjump"/>
              </a:rPr>
              <a:t>3</a:t>
            </a:r>
            <a:endParaRPr lang="en-US" altLang="en-US" sz="2400" baseline="-12000" dirty="0">
              <a:latin typeface="Arial" panose="020B0604020202020204" pitchFamily="34" charset="0"/>
              <a:ea typeface="黑体" panose="02010609060101010101" charset="-122"/>
            </a:endParaRPr>
          </a:p>
        </p:txBody>
      </p:sp>
      <p:sp>
        <p:nvSpPr>
          <p:cNvPr id="188" name="textbox 188"/>
          <p:cNvSpPr/>
          <p:nvPr/>
        </p:nvSpPr>
        <p:spPr>
          <a:xfrm>
            <a:off x="1582680" y="491245"/>
            <a:ext cx="2231389" cy="480694"/>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7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三重</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7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算法</a:t>
            </a:r>
            <a:endParaRPr lang="en-US" altLang="en-US" sz="3100" dirty="0">
              <a:latin typeface="Arial" panose="020B0604020202020204" pitchFamily="34" charset="0"/>
              <a:ea typeface="黑体" panose="02010609060101010101" charset="-122"/>
            </a:endParaRPr>
          </a:p>
        </p:txBody>
      </p:sp>
      <p:graphicFrame>
        <p:nvGraphicFramePr>
          <p:cNvPr id="192" name="table 192"/>
          <p:cNvGraphicFramePr>
            <a:graphicFrameLocks noGrp="1"/>
          </p:cNvGraphicFramePr>
          <p:nvPr/>
        </p:nvGraphicFramePr>
        <p:xfrm>
          <a:off x="5751576" y="4495800"/>
          <a:ext cx="1209674" cy="554354"/>
        </p:xfrm>
        <a:graphic>
          <a:graphicData uri="http://schemas.openxmlformats.org/drawingml/2006/table">
            <a:tbl>
              <a:tblPr/>
              <a:tblGrid>
                <a:gridCol w="1209674"/>
              </a:tblGrid>
              <a:tr h="548004">
                <a:tc>
                  <a:txBody>
                    <a:bodyPr/>
                    <a:lstStyle/>
                    <a:p>
                      <a:pPr algn="l" rtl="0" eaLnBrk="0">
                        <a:lnSpc>
                          <a:spcPct val="108000"/>
                        </a:lnSpc>
                      </a:pPr>
                      <a:endParaRPr lang="en-US" altLang="en-US" sz="700" dirty="0">
                        <a:latin typeface="Arial" panose="020B0604020202020204" pitchFamily="34" charset="0"/>
                        <a:ea typeface="黑体" panose="02010609060101010101" charset="-122"/>
                      </a:endParaRPr>
                    </a:p>
                    <a:p>
                      <a:pPr marL="191135" algn="l" rtl="0" eaLnBrk="0">
                        <a:lnSpc>
                          <a:spcPct val="75000"/>
                        </a:lnSpc>
                        <a:spcBef>
                          <a:spcPts val="5"/>
                        </a:spcBef>
                      </a:pPr>
                      <a:r>
                        <a:rPr sz="3600" b="1" kern="0" spc="0" baseline="-900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(2)</a:t>
                      </a:r>
                      <a:endParaRPr lang="en-US" altLang="en-US" sz="2400" baseline="17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94" name="picture 194"/>
          <p:cNvPicPr>
            <a:picLocks noChangeAspect="1"/>
          </p:cNvPicPr>
          <p:nvPr/>
        </p:nvPicPr>
        <p:blipFill>
          <a:blip r:embed="rId2"/>
          <a:stretch>
            <a:fillRect/>
          </a:stretch>
        </p:blipFill>
        <p:spPr>
          <a:xfrm rot="21600000">
            <a:off x="6957059" y="4754498"/>
            <a:ext cx="722376" cy="76200"/>
          </a:xfrm>
          <a:prstGeom prst="rect">
            <a:avLst/>
          </a:prstGeom>
        </p:spPr>
      </p:pic>
      <p:graphicFrame>
        <p:nvGraphicFramePr>
          <p:cNvPr id="196" name="table 196"/>
          <p:cNvGraphicFramePr>
            <a:graphicFrameLocks noGrp="1"/>
          </p:cNvGraphicFramePr>
          <p:nvPr/>
        </p:nvGraphicFramePr>
        <p:xfrm>
          <a:off x="7674864" y="4495800"/>
          <a:ext cx="1209675" cy="554354"/>
        </p:xfrm>
        <a:graphic>
          <a:graphicData uri="http://schemas.openxmlformats.org/drawingml/2006/table">
            <a:tbl>
              <a:tblPr/>
              <a:tblGrid>
                <a:gridCol w="1209675"/>
              </a:tblGrid>
              <a:tr h="548004">
                <a:tc>
                  <a:txBody>
                    <a:bodyPr/>
                    <a:lstStyle/>
                    <a:p>
                      <a:pPr algn="l" rtl="0" eaLnBrk="0">
                        <a:lnSpc>
                          <a:spcPct val="108000"/>
                        </a:lnSpc>
                      </a:pPr>
                      <a:endParaRPr lang="en-US" altLang="en-US" sz="700" dirty="0">
                        <a:latin typeface="Arial" panose="020B0604020202020204" pitchFamily="34" charset="0"/>
                        <a:ea typeface="黑体" panose="02010609060101010101" charset="-122"/>
                      </a:endParaRPr>
                    </a:p>
                    <a:p>
                      <a:pPr marL="192405" algn="l" rtl="0" eaLnBrk="0">
                        <a:lnSpc>
                          <a:spcPct val="75000"/>
                        </a:lnSpc>
                        <a:spcBef>
                          <a:spcPts val="5"/>
                        </a:spcBef>
                      </a:pPr>
                      <a:r>
                        <a:rPr sz="3600" b="1" kern="0" spc="0" baseline="-900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(3)</a:t>
                      </a:r>
                      <a:endParaRPr lang="en-US" altLang="en-US" sz="2400" baseline="17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98" name="table 198"/>
          <p:cNvGraphicFramePr>
            <a:graphicFrameLocks noGrp="1"/>
          </p:cNvGraphicFramePr>
          <p:nvPr/>
        </p:nvGraphicFramePr>
        <p:xfrm>
          <a:off x="3587496" y="4498847"/>
          <a:ext cx="1212850" cy="551179"/>
        </p:xfrm>
        <a:graphic>
          <a:graphicData uri="http://schemas.openxmlformats.org/drawingml/2006/table">
            <a:tbl>
              <a:tblPr/>
              <a:tblGrid>
                <a:gridCol w="1212850"/>
              </a:tblGrid>
              <a:tr h="544829">
                <a:tc>
                  <a:txBody>
                    <a:bodyPr/>
                    <a:lstStyle/>
                    <a:p>
                      <a:pPr algn="l" rtl="0" eaLnBrk="0">
                        <a:lnSpc>
                          <a:spcPct val="108000"/>
                        </a:lnSpc>
                      </a:pPr>
                      <a:endParaRPr lang="en-US" altLang="en-US" sz="700" dirty="0">
                        <a:latin typeface="Arial" panose="020B0604020202020204" pitchFamily="34" charset="0"/>
                        <a:ea typeface="黑体" panose="02010609060101010101" charset="-122"/>
                      </a:endParaRPr>
                    </a:p>
                    <a:p>
                      <a:pPr marL="191770" algn="l" rtl="0" eaLnBrk="0">
                        <a:lnSpc>
                          <a:spcPct val="75000"/>
                        </a:lnSpc>
                        <a:spcBef>
                          <a:spcPts val="5"/>
                        </a:spcBef>
                      </a:pPr>
                      <a:r>
                        <a:rPr sz="3600" b="1" kern="0" spc="0" baseline="-9000" dirty="0">
                          <a:solidFill>
                            <a:srgbClr val="000000">
                              <a:alpha val="100000"/>
                            </a:srgbClr>
                          </a:solidFill>
                          <a:latin typeface="Arial" panose="020B0604020202020204" pitchFamily="34" charset="0"/>
                          <a:ea typeface="黑体" panose="02010609060101010101" charset="-122"/>
                          <a:cs typeface="Times New Roman" panose="02020603050405020304"/>
                        </a:rPr>
                        <a:t>DES</a:t>
                      </a:r>
                      <a:r>
                        <a:rPr sz="2400" b="1" kern="0" spc="40" baseline="17000" dirty="0">
                          <a:solidFill>
                            <a:srgbClr val="000000">
                              <a:alpha val="100000"/>
                            </a:srgbClr>
                          </a:solidFill>
                          <a:latin typeface="Arial" panose="020B0604020202020204" pitchFamily="34" charset="0"/>
                          <a:ea typeface="黑体" panose="02010609060101010101" charset="-122"/>
                          <a:cs typeface="Times New Roman" panose="02020603050405020304"/>
                        </a:rPr>
                        <a:t>(1)</a:t>
                      </a:r>
                      <a:endParaRPr lang="en-US" altLang="en-US" sz="2400" baseline="17000" dirty="0">
                        <a:latin typeface="Arial" panose="020B0604020202020204" pitchFamily="34" charset="0"/>
                        <a:ea typeface="黑体" panose="02010609060101010101"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00"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202" name="picture 202"/>
          <p:cNvPicPr>
            <a:picLocks noChangeAspect="1"/>
          </p:cNvPicPr>
          <p:nvPr/>
        </p:nvPicPr>
        <p:blipFill>
          <a:blip r:embed="rId3"/>
          <a:stretch>
            <a:fillRect/>
          </a:stretch>
        </p:blipFill>
        <p:spPr>
          <a:xfrm rot="21600000">
            <a:off x="822960" y="408431"/>
            <a:ext cx="420623" cy="655320"/>
          </a:xfrm>
          <a:prstGeom prst="rect">
            <a:avLst/>
          </a:prstGeom>
        </p:spPr>
      </p:pic>
      <p:sp>
        <p:nvSpPr>
          <p:cNvPr id="204"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
        <p:nvSpPr>
          <p:cNvPr id="206" name="textbox 206"/>
          <p:cNvSpPr/>
          <p:nvPr/>
        </p:nvSpPr>
        <p:spPr>
          <a:xfrm>
            <a:off x="8924696" y="4369358"/>
            <a:ext cx="625475" cy="376554"/>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2400" kern="0" spc="-3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密文</a:t>
            </a:r>
            <a:endParaRPr lang="en-US" altLang="en-US" sz="2400" dirty="0">
              <a:latin typeface="Arial" panose="020B0604020202020204" pitchFamily="34" charset="0"/>
              <a:ea typeface="黑体" panose="02010609060101010101" charset="-122"/>
            </a:endParaRPr>
          </a:p>
        </p:txBody>
      </p:sp>
      <p:sp>
        <p:nvSpPr>
          <p:cNvPr id="208" name="textbox 208"/>
          <p:cNvSpPr/>
          <p:nvPr/>
        </p:nvSpPr>
        <p:spPr>
          <a:xfrm>
            <a:off x="2653984" y="4322233"/>
            <a:ext cx="598169" cy="372745"/>
          </a:xfrm>
          <a:prstGeom prst="rect">
            <a:avLst/>
          </a:prstGeom>
        </p:spPr>
        <p:txBody>
          <a:bodyPr vert="horz" wrap="square" lIns="0" tIns="0" rIns="0" bIns="0"/>
          <a:lstStyle/>
          <a:p>
            <a:pPr algn="l" rtl="0" eaLnBrk="0">
              <a:lnSpc>
                <a:spcPct val="82000"/>
              </a:lnSpc>
            </a:pPr>
            <a:endParaRPr lang="en-US" altLang="en-US" sz="100" dirty="0">
              <a:latin typeface="Arial" panose="020B0604020202020204" pitchFamily="34" charset="0"/>
              <a:ea typeface="黑体" panose="02010609060101010101" charset="-122"/>
            </a:endParaRPr>
          </a:p>
          <a:p>
            <a:pPr algn="r" rtl="0" eaLnBrk="0">
              <a:lnSpc>
                <a:spcPct val="95000"/>
              </a:lnSpc>
            </a:pPr>
            <a:r>
              <a:rPr sz="2400" kern="0" spc="-18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明</a:t>
            </a:r>
            <a:r>
              <a:rPr sz="2400" kern="0" spc="-14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宋体" panose="02010600030101010101" pitchFamily="2" charset="-122"/>
              </a:rPr>
              <a:t>文</a:t>
            </a:r>
            <a:endParaRPr lang="en-US" altLang="en-US" sz="2400" dirty="0">
              <a:latin typeface="Arial" panose="020B0604020202020204" pitchFamily="34" charset="0"/>
              <a:ea typeface="黑体" panose="02010609060101010101" charset="-122"/>
            </a:endParaRPr>
          </a:p>
        </p:txBody>
      </p:sp>
      <p:pic>
        <p:nvPicPr>
          <p:cNvPr id="210" name="picture 210"/>
          <p:cNvPicPr>
            <a:picLocks noChangeAspect="1"/>
          </p:cNvPicPr>
          <p:nvPr/>
        </p:nvPicPr>
        <p:blipFill>
          <a:blip r:embed="rId4"/>
          <a:stretch>
            <a:fillRect/>
          </a:stretch>
        </p:blipFill>
        <p:spPr>
          <a:xfrm rot="21600000">
            <a:off x="4796028" y="4736592"/>
            <a:ext cx="960120" cy="76200"/>
          </a:xfrm>
          <a:prstGeom prst="rect">
            <a:avLst/>
          </a:prstGeom>
        </p:spPr>
      </p:pic>
      <p:pic>
        <p:nvPicPr>
          <p:cNvPr id="212" name="picture 212"/>
          <p:cNvPicPr>
            <a:picLocks noChangeAspect="1"/>
          </p:cNvPicPr>
          <p:nvPr/>
        </p:nvPicPr>
        <p:blipFill>
          <a:blip r:embed="rId5"/>
          <a:stretch>
            <a:fillRect/>
          </a:stretch>
        </p:blipFill>
        <p:spPr>
          <a:xfrm rot="21600000">
            <a:off x="2631947" y="4754879"/>
            <a:ext cx="960120" cy="76200"/>
          </a:xfrm>
          <a:prstGeom prst="rect">
            <a:avLst/>
          </a:prstGeom>
        </p:spPr>
      </p:pic>
      <p:pic>
        <p:nvPicPr>
          <p:cNvPr id="214" name="picture 214"/>
          <p:cNvPicPr>
            <a:picLocks noChangeAspect="1"/>
          </p:cNvPicPr>
          <p:nvPr/>
        </p:nvPicPr>
        <p:blipFill>
          <a:blip r:embed="rId6"/>
          <a:stretch>
            <a:fillRect/>
          </a:stretch>
        </p:blipFill>
        <p:spPr>
          <a:xfrm rot="21600000">
            <a:off x="8880347" y="4779009"/>
            <a:ext cx="960119" cy="76200"/>
          </a:xfrm>
          <a:prstGeom prst="rect">
            <a:avLst/>
          </a:prstGeom>
        </p:spPr>
      </p:pic>
      <p:pic>
        <p:nvPicPr>
          <p:cNvPr id="216" name="picture 216"/>
          <p:cNvPicPr>
            <a:picLocks noChangeAspect="1"/>
          </p:cNvPicPr>
          <p:nvPr/>
        </p:nvPicPr>
        <p:blipFill>
          <a:blip r:embed="rId7"/>
          <a:stretch>
            <a:fillRect/>
          </a:stretch>
        </p:blipFill>
        <p:spPr>
          <a:xfrm rot="21600000">
            <a:off x="8235315" y="3835908"/>
            <a:ext cx="76200" cy="627887"/>
          </a:xfrm>
          <a:prstGeom prst="rect">
            <a:avLst/>
          </a:prstGeom>
        </p:spPr>
      </p:pic>
      <p:pic>
        <p:nvPicPr>
          <p:cNvPr id="218" name="picture 218"/>
          <p:cNvPicPr>
            <a:picLocks noChangeAspect="1"/>
          </p:cNvPicPr>
          <p:nvPr/>
        </p:nvPicPr>
        <p:blipFill>
          <a:blip r:embed="rId8"/>
          <a:stretch>
            <a:fillRect/>
          </a:stretch>
        </p:blipFill>
        <p:spPr>
          <a:xfrm rot="21600000">
            <a:off x="4148328" y="3869435"/>
            <a:ext cx="76200" cy="624839"/>
          </a:xfrm>
          <a:prstGeom prst="rect">
            <a:avLst/>
          </a:prstGeom>
        </p:spPr>
      </p:pic>
      <p:pic>
        <p:nvPicPr>
          <p:cNvPr id="220" name="picture 220"/>
          <p:cNvPicPr>
            <a:picLocks noChangeAspect="1"/>
          </p:cNvPicPr>
          <p:nvPr/>
        </p:nvPicPr>
        <p:blipFill>
          <a:blip r:embed="rId9"/>
          <a:stretch>
            <a:fillRect/>
          </a:stretch>
        </p:blipFill>
        <p:spPr>
          <a:xfrm rot="21600000">
            <a:off x="6278879" y="3854195"/>
            <a:ext cx="76200" cy="624839"/>
          </a:xfrm>
          <a:prstGeom prst="rect">
            <a:avLst/>
          </a:prstGeom>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2"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pic>
        <p:nvPicPr>
          <p:cNvPr id="224" name="picture 224"/>
          <p:cNvPicPr>
            <a:picLocks noChangeAspect="1"/>
          </p:cNvPicPr>
          <p:nvPr/>
        </p:nvPicPr>
        <p:blipFill>
          <a:blip r:embed="rId1"/>
          <a:stretch>
            <a:fillRect/>
          </a:stretch>
        </p:blipFill>
        <p:spPr>
          <a:xfrm rot="21600000">
            <a:off x="4495800" y="3477767"/>
            <a:ext cx="6879335" cy="3227832"/>
          </a:xfrm>
          <a:prstGeom prst="rect">
            <a:avLst/>
          </a:prstGeom>
        </p:spPr>
      </p:pic>
      <p:sp>
        <p:nvSpPr>
          <p:cNvPr id="226" name="textbox 226"/>
          <p:cNvSpPr/>
          <p:nvPr/>
        </p:nvSpPr>
        <p:spPr>
          <a:xfrm>
            <a:off x="933399" y="1243753"/>
            <a:ext cx="10338434" cy="2140585"/>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marL="15240" algn="l" rtl="0" eaLnBrk="0">
              <a:lnSpc>
                <a:spcPts val="2985"/>
              </a:lnSpc>
            </a:pPr>
            <a:r>
              <a:rPr sz="2400" kern="0" spc="-17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a:t>
            </a:r>
            <a:r>
              <a:rPr sz="2400" kern="0" spc="-22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i="1" kern="0" spc="-17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17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17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kern="0" spc="-2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k1</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2400" b="1" kern="0" spc="-2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k2</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kern="0" spc="-2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k1</a:t>
            </a:r>
            <a:r>
              <a:rPr sz="15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2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400" dirty="0">
              <a:latin typeface="Arial" panose="020B0604020202020204" pitchFamily="34" charset="0"/>
              <a:ea typeface="黑体" panose="02010609060101010101" charset="-122"/>
            </a:endParaRPr>
          </a:p>
          <a:p>
            <a:pPr marL="19050" algn="l" rtl="0" eaLnBrk="0">
              <a:lnSpc>
                <a:spcPts val="2985"/>
              </a:lnSpc>
              <a:spcBef>
                <a:spcPts val="1480"/>
              </a:spcBef>
            </a:pPr>
            <a:r>
              <a:rPr sz="2400" kern="0" spc="-200" dirty="0">
                <a:ln w="871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解密：</a:t>
            </a:r>
            <a:r>
              <a:rPr sz="2400" kern="0" spc="-160" dirty="0">
                <a:solidFill>
                  <a:srgbClr val="000000">
                    <a:alpha val="100000"/>
                  </a:srgbClr>
                </a:solidFill>
                <a:latin typeface="Arial" panose="020B0604020202020204" pitchFamily="34" charset="0"/>
                <a:ea typeface="黑体" panose="02010609060101010101" charset="-122"/>
                <a:cs typeface="仿宋" panose="02010609060101010101" charset="-122"/>
              </a:rPr>
              <a:t> </a:t>
            </a:r>
            <a:r>
              <a:rPr sz="2400" b="1"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x</a:t>
            </a:r>
            <a:r>
              <a:rPr sz="2400" b="1" kern="0" spc="-20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20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2400" b="1" kern="0" spc="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k1</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E</a:t>
            </a:r>
            <a:r>
              <a:rPr sz="2400" b="1" kern="0" spc="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k2</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D</a:t>
            </a:r>
            <a:r>
              <a:rPr sz="2400" b="1" kern="0" spc="0" baseline="-14000" dirty="0">
                <a:solidFill>
                  <a:srgbClr val="000000">
                    <a:alpha val="100000"/>
                  </a:srgbClr>
                </a:solidFill>
                <a:latin typeface="Arial" panose="020B0604020202020204" pitchFamily="34" charset="0"/>
                <a:ea typeface="黑体" panose="02010609060101010101" charset="-122"/>
                <a:cs typeface="Times New Roman" panose="02020603050405020304"/>
              </a:rPr>
              <a:t>k1</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b="1" i="1" kern="0" spc="0" dirty="0">
                <a:solidFill>
                  <a:srgbClr val="000000">
                    <a:alpha val="100000"/>
                  </a:srgbClr>
                </a:solidFill>
                <a:latin typeface="Arial" panose="020B0604020202020204" pitchFamily="34" charset="0"/>
                <a:ea typeface="黑体" panose="02010609060101010101" charset="-122"/>
                <a:cs typeface="Times New Roman" panose="02020603050405020304"/>
              </a:rPr>
              <a:t>y</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endParaRPr lang="en-US" altLang="en-US" sz="2400" dirty="0">
              <a:latin typeface="Arial" panose="020B0604020202020204" pitchFamily="34" charset="0"/>
              <a:ea typeface="黑体" panose="02010609060101010101" charset="-122"/>
            </a:endParaRPr>
          </a:p>
          <a:p>
            <a:pPr marL="12700" algn="l" rtl="0" eaLnBrk="0">
              <a:lnSpc>
                <a:spcPct val="92000"/>
              </a:lnSpc>
              <a:spcBef>
                <a:spcPts val="1445"/>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称其为加密</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解密</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加密方案，简记为</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EDE(encrypt-decry</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pt-encrypt)</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endParaRPr lang="en-US" altLang="en-US" sz="2400" dirty="0">
              <a:latin typeface="Arial" panose="020B0604020202020204" pitchFamily="34" charset="0"/>
              <a:ea typeface="黑体" panose="02010609060101010101" charset="-122"/>
            </a:endParaRPr>
          </a:p>
          <a:p>
            <a:pPr algn="l" rtl="0" eaLnBrk="0">
              <a:lnSpc>
                <a:spcPct val="142000"/>
              </a:lnSpc>
            </a:pPr>
            <a:endParaRPr lang="en-US" altLang="en-US" sz="1000" dirty="0">
              <a:latin typeface="Arial" panose="020B0604020202020204" pitchFamily="34" charset="0"/>
              <a:ea typeface="黑体" panose="02010609060101010101" charset="-122"/>
            </a:endParaRPr>
          </a:p>
          <a:p>
            <a:pPr algn="l" rtl="0" eaLnBrk="0">
              <a:lnSpc>
                <a:spcPct val="100000"/>
              </a:lnSpc>
            </a:pPr>
            <a:endParaRPr lang="en-US" altLang="en-US" sz="600" dirty="0">
              <a:latin typeface="Arial" panose="020B0604020202020204" pitchFamily="34" charset="0"/>
              <a:ea typeface="黑体" panose="02010609060101010101" charset="-122"/>
            </a:endParaRPr>
          </a:p>
          <a:p>
            <a:pPr marL="12700" algn="l" rtl="0" eaLnBrk="0">
              <a:lnSpc>
                <a:spcPct val="93000"/>
              </a:lnSpc>
              <a:spcBef>
                <a:spcPts val="0"/>
              </a:spcBef>
            </a:pPr>
            <a:r>
              <a:rPr sz="24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400" kern="0" spc="4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此方案已在</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ANSI X9.17</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和</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ISO</a:t>
            </a:r>
            <a:r>
              <a:rPr sz="2400" b="1" kern="0" spc="16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400" b="1" kern="0" spc="0" dirty="0">
                <a:solidFill>
                  <a:srgbClr val="000000">
                    <a:alpha val="100000"/>
                  </a:srgbClr>
                </a:solidFill>
                <a:latin typeface="Arial" panose="020B0604020202020204" pitchFamily="34" charset="0"/>
                <a:ea typeface="黑体" panose="02010609060101010101" charset="-122"/>
                <a:cs typeface="Times New Roman" panose="02020603050405020304"/>
              </a:rPr>
              <a:t>8732</a:t>
            </a:r>
            <a:r>
              <a:rPr sz="2400" kern="0" spc="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标准中采用，并在保</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密增强邮件</a:t>
            </a:r>
            <a:r>
              <a:rPr sz="24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(PEM)</a:t>
            </a:r>
            <a:r>
              <a:rPr sz="2400" kern="0" spc="-1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系</a:t>
            </a:r>
            <a:endParaRPr lang="en-US" altLang="en-US" sz="2400" dirty="0">
              <a:latin typeface="Arial" panose="020B0604020202020204" pitchFamily="34" charset="0"/>
              <a:ea typeface="黑体" panose="02010609060101010101" charset="-122"/>
            </a:endParaRPr>
          </a:p>
        </p:txBody>
      </p:sp>
      <p:sp>
        <p:nvSpPr>
          <p:cNvPr id="228" name="textbox 228"/>
          <p:cNvSpPr/>
          <p:nvPr/>
        </p:nvSpPr>
        <p:spPr>
          <a:xfrm>
            <a:off x="1570113" y="491245"/>
            <a:ext cx="3469004" cy="480694"/>
          </a:xfrm>
          <a:prstGeom prst="rect">
            <a:avLst/>
          </a:prstGeom>
        </p:spPr>
        <p:txBody>
          <a:bodyPr vert="horz" wrap="square" lIns="0" tIns="0" rIns="0" bIns="0"/>
          <a:lstStyle/>
          <a:p>
            <a:pPr algn="l" rtl="0" eaLnBrk="0">
              <a:lnSpc>
                <a:spcPct val="95000"/>
              </a:lnSpc>
            </a:pPr>
            <a:endParaRPr lang="en-US" altLang="en-US" sz="100" dirty="0">
              <a:latin typeface="Arial" panose="020B0604020202020204" pitchFamily="34" charset="0"/>
              <a:ea typeface="黑体" panose="02010609060101010101" charset="-122"/>
            </a:endParaRPr>
          </a:p>
          <a:p>
            <a:pPr marL="12700" algn="l" rtl="0" eaLnBrk="0">
              <a:lnSpc>
                <a:spcPct val="96000"/>
              </a:lnSpc>
            </a:pPr>
            <a:r>
              <a:rPr sz="3100" kern="0" spc="10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双密钥三重</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10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算法</a:t>
            </a:r>
            <a:endParaRPr lang="en-US" altLang="en-US" sz="3100" dirty="0">
              <a:latin typeface="Arial" panose="020B0604020202020204" pitchFamily="34" charset="0"/>
              <a:ea typeface="黑体" panose="02010609060101010101" charset="-122"/>
            </a:endParaRPr>
          </a:p>
        </p:txBody>
      </p:sp>
      <p:sp>
        <p:nvSpPr>
          <p:cNvPr id="232" name="textbox 232"/>
          <p:cNvSpPr/>
          <p:nvPr/>
        </p:nvSpPr>
        <p:spPr>
          <a:xfrm>
            <a:off x="1172057" y="3458006"/>
            <a:ext cx="2105025" cy="368934"/>
          </a:xfrm>
          <a:prstGeom prst="rect">
            <a:avLst/>
          </a:prstGeom>
        </p:spPr>
        <p:txBody>
          <a:bodyPr vert="horz" wrap="square" lIns="0" tIns="0" rIns="0" bIns="0"/>
          <a:lstStyle/>
          <a:p>
            <a:pPr algn="l" rtl="0" eaLnBrk="0">
              <a:lnSpc>
                <a:spcPct val="80000"/>
              </a:lnSpc>
            </a:pPr>
            <a:endParaRPr lang="en-US" altLang="en-US" sz="100" dirty="0">
              <a:latin typeface="Arial" panose="020B0604020202020204" pitchFamily="34" charset="0"/>
              <a:ea typeface="黑体" panose="02010609060101010101" charset="-122"/>
            </a:endParaRPr>
          </a:p>
          <a:p>
            <a:pPr algn="r" rtl="0" eaLnBrk="0">
              <a:lnSpc>
                <a:spcPct val="98000"/>
              </a:lnSpc>
            </a:pPr>
            <a:r>
              <a:rPr sz="2300" kern="0" spc="-140" dirty="0">
                <a:ln w="8708"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统中得到利用。</a:t>
            </a:r>
            <a:endParaRPr lang="en-US" altLang="en-US" sz="2300" dirty="0">
              <a:latin typeface="Arial" panose="020B0604020202020204" pitchFamily="34" charset="0"/>
              <a:ea typeface="黑体" panose="02010609060101010101" charset="-122"/>
            </a:endParaRPr>
          </a:p>
        </p:txBody>
      </p:sp>
      <p:pic>
        <p:nvPicPr>
          <p:cNvPr id="234" name="picture 234"/>
          <p:cNvPicPr>
            <a:picLocks noChangeAspect="1"/>
          </p:cNvPicPr>
          <p:nvPr/>
        </p:nvPicPr>
        <p:blipFill>
          <a:blip r:embed="rId2"/>
          <a:stretch>
            <a:fillRect/>
          </a:stretch>
        </p:blipFill>
        <p:spPr>
          <a:xfrm rot="21600000">
            <a:off x="822960" y="408431"/>
            <a:ext cx="420623" cy="655320"/>
          </a:xfrm>
          <a:prstGeom prst="rect">
            <a:avLst/>
          </a:prstGeom>
        </p:spPr>
      </p:pic>
      <p:sp>
        <p:nvSpPr>
          <p:cNvPr id="236" name="path"/>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alpha val="100000"/>
              </a:srgbClr>
            </a:solidFill>
            <a:prstDash val="solid"/>
            <a:miter lim="1000000"/>
          </a:ln>
        </p:spPr>
        <p:txBody>
          <a:bodyPr rtlCol="0"/>
          <a:lstStyle/>
          <a:p>
            <a:pPr algn="ctr"/>
            <a:endParaRPr lang="zh-CN" altLang="en-US"/>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8" name="textbox 238"/>
          <p:cNvSpPr/>
          <p:nvPr/>
        </p:nvSpPr>
        <p:spPr>
          <a:xfrm>
            <a:off x="921835" y="1576561"/>
            <a:ext cx="7092315" cy="1727200"/>
          </a:xfrm>
          <a:prstGeom prst="rect">
            <a:avLst/>
          </a:prstGeom>
        </p:spPr>
        <p:txBody>
          <a:bodyPr vert="horz" wrap="square" lIns="0" tIns="0" rIns="0" bIns="0"/>
          <a:lstStyle/>
          <a:p>
            <a:pPr algn="l" rtl="0" eaLnBrk="0">
              <a:lnSpc>
                <a:spcPct val="83000"/>
              </a:lnSpc>
            </a:pPr>
            <a:endParaRPr lang="en-US" altLang="en-US" sz="100" dirty="0">
              <a:latin typeface="Arial" panose="020B0604020202020204" pitchFamily="34" charset="0"/>
              <a:ea typeface="黑体" panose="02010609060101010101" charset="-122"/>
            </a:endParaRPr>
          </a:p>
          <a:p>
            <a:pPr algn="r" rtl="0" eaLnBrk="0">
              <a:lnSpc>
                <a:spcPts val="3385"/>
              </a:lnSpc>
            </a:pPr>
            <a:r>
              <a:rPr sz="2800" kern="0" spc="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破译它的穷举密钥搜</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索量为</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2</a:t>
            </a:r>
            <a:r>
              <a:rPr sz="2800" b="1" kern="0" spc="-1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112</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Symbol" panose="05050102010706020507"/>
              </a:rPr>
              <a:t>~</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5</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800" b="1" kern="0" spc="-10" baseline="28000" dirty="0">
                <a:solidFill>
                  <a:srgbClr val="000000">
                    <a:alpha val="100000"/>
                  </a:srgbClr>
                </a:solidFill>
                <a:latin typeface="Arial" panose="020B0604020202020204" pitchFamily="34" charset="0"/>
                <a:ea typeface="黑体" panose="02010609060101010101" charset="-122"/>
                <a:cs typeface="Times New Roman" panose="02020603050405020304"/>
              </a:rPr>
              <a:t>35</a:t>
            </a:r>
            <a:r>
              <a:rPr sz="1800" b="1" kern="0" spc="-2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量级</a:t>
            </a:r>
            <a:endParaRPr lang="en-US" altLang="en-US" sz="2800" dirty="0">
              <a:latin typeface="Arial" panose="020B0604020202020204" pitchFamily="34" charset="0"/>
              <a:ea typeface="黑体" panose="02010609060101010101" charset="-122"/>
            </a:endParaRPr>
          </a:p>
          <a:p>
            <a:pPr marL="12700" algn="l" rtl="0" eaLnBrk="0">
              <a:lnSpc>
                <a:spcPct val="100000"/>
              </a:lnSpc>
              <a:spcBef>
                <a:spcPts val="1655"/>
              </a:spcBef>
            </a:pPr>
            <a:r>
              <a:rPr sz="2800" kern="0" spc="-1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5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1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差分分析破译也要超过</a:t>
            </a:r>
            <a:r>
              <a:rPr sz="2800" b="1" kern="0" spc="-10" dirty="0">
                <a:solidFill>
                  <a:srgbClr val="000000">
                    <a:alpha val="100000"/>
                  </a:srgbClr>
                </a:solidFill>
                <a:latin typeface="Arial" panose="020B0604020202020204" pitchFamily="34" charset="0"/>
                <a:ea typeface="黑体" panose="02010609060101010101" charset="-122"/>
                <a:cs typeface="Times New Roman" panose="02020603050405020304"/>
              </a:rPr>
              <a:t>10</a:t>
            </a:r>
            <a:r>
              <a:rPr sz="2800" b="1" kern="0" spc="-20" baseline="30000" dirty="0">
                <a:solidFill>
                  <a:srgbClr val="000000">
                    <a:alpha val="100000"/>
                  </a:srgbClr>
                </a:solidFill>
                <a:latin typeface="Arial" panose="020B0604020202020204" pitchFamily="34" charset="0"/>
                <a:ea typeface="黑体" panose="02010609060101010101" charset="-122"/>
                <a:cs typeface="Times New Roman" panose="02020603050405020304"/>
              </a:rPr>
              <a:t>52</a:t>
            </a:r>
            <a:r>
              <a:rPr sz="1800" b="1" kern="0" spc="-240" dirty="0">
                <a:solidFill>
                  <a:srgbClr val="000000">
                    <a:alpha val="100000"/>
                  </a:srgbClr>
                </a:solidFill>
                <a:latin typeface="Arial" panose="020B0604020202020204" pitchFamily="34" charset="0"/>
                <a:ea typeface="黑体" panose="02010609060101010101" charset="-122"/>
                <a:cs typeface="Times New Roman" panose="02020603050405020304"/>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量级</a:t>
            </a:r>
            <a:endParaRPr lang="en-US" altLang="en-US" sz="2800" dirty="0">
              <a:latin typeface="Arial" panose="020B0604020202020204" pitchFamily="34" charset="0"/>
              <a:ea typeface="黑体" panose="02010609060101010101" charset="-122"/>
            </a:endParaRPr>
          </a:p>
          <a:p>
            <a:pPr algn="l" rtl="0" eaLnBrk="0">
              <a:lnSpc>
                <a:spcPct val="107000"/>
              </a:lnSpc>
            </a:pPr>
            <a:endParaRPr lang="en-US" altLang="en-US" sz="1300" dirty="0">
              <a:latin typeface="Arial" panose="020B0604020202020204" pitchFamily="34" charset="0"/>
              <a:ea typeface="黑体" panose="02010609060101010101" charset="-122"/>
            </a:endParaRPr>
          </a:p>
          <a:p>
            <a:pPr marL="12700" algn="l" rtl="0" eaLnBrk="0">
              <a:lnSpc>
                <a:spcPct val="99000"/>
              </a:lnSpc>
              <a:spcBef>
                <a:spcPts val="0"/>
              </a:spcBef>
            </a:pPr>
            <a:r>
              <a:rPr sz="2800" kern="0" spc="-20" dirty="0">
                <a:solidFill>
                  <a:srgbClr val="000000">
                    <a:alpha val="100000"/>
                  </a:srgbClr>
                </a:solidFill>
                <a:latin typeface="Arial" panose="020B0604020202020204" pitchFamily="34" charset="0"/>
                <a:ea typeface="黑体" panose="02010609060101010101" charset="-122"/>
                <a:cs typeface="Arial" panose="020B0604020202020204" pitchFamily="34" charset="0"/>
              </a:rPr>
              <a:t>•</a:t>
            </a:r>
            <a:r>
              <a:rPr sz="2800" kern="0" spc="270" dirty="0">
                <a:solidFill>
                  <a:srgbClr val="000000">
                    <a:alpha val="100000"/>
                  </a:srgbClr>
                </a:solidFill>
                <a:latin typeface="Arial" panose="020B0604020202020204" pitchFamily="34" charset="0"/>
                <a:ea typeface="黑体" panose="02010609060101010101" charset="-122"/>
                <a:cs typeface="Arial" panose="020B0604020202020204" pitchFamily="34" charset="0"/>
              </a:rPr>
              <a:t> </a:t>
            </a:r>
            <a:r>
              <a:rPr sz="2800" kern="0" spc="-20" dirty="0">
                <a:ln w="10197" cap="flat" cmpd="sng">
                  <a:solidFill>
                    <a:srgbClr val="000000">
                      <a:alpha val="100000"/>
                    </a:srgbClr>
                  </a:solidFill>
                  <a:prstDash val="solid"/>
                  <a:miter lim="10"/>
                </a:ln>
                <a:solidFill>
                  <a:srgbClr val="000000">
                    <a:alpha val="100000"/>
                  </a:srgbClr>
                </a:solidFill>
                <a:latin typeface="Arial" panose="020B0604020202020204" pitchFamily="34" charset="0"/>
                <a:ea typeface="黑体" panose="02010609060101010101" charset="-122"/>
                <a:cs typeface="仿宋" panose="02010609060101010101" charset="-122"/>
              </a:rPr>
              <a:t>此方案仍有足够的安全性</a:t>
            </a:r>
            <a:endParaRPr lang="en-US" altLang="en-US" sz="2800" dirty="0">
              <a:latin typeface="Arial" panose="020B0604020202020204" pitchFamily="34" charset="0"/>
              <a:ea typeface="黑体" panose="02010609060101010101" charset="-122"/>
            </a:endParaRPr>
          </a:p>
        </p:txBody>
      </p:sp>
      <p:sp>
        <p:nvSpPr>
          <p:cNvPr id="240" name="textbox 240"/>
          <p:cNvSpPr/>
          <p:nvPr/>
        </p:nvSpPr>
        <p:spPr>
          <a:xfrm>
            <a:off x="810260" y="395731"/>
            <a:ext cx="5862954" cy="727709"/>
          </a:xfrm>
          <a:prstGeom prst="rect">
            <a:avLst/>
          </a:prstGeom>
        </p:spPr>
        <p:txBody>
          <a:bodyPr vert="horz" wrap="square" lIns="0" tIns="0" rIns="0" bIns="0"/>
          <a:lstStyle/>
          <a:p>
            <a:pPr algn="l" rtl="0" eaLnBrk="0">
              <a:lnSpc>
                <a:spcPct val="100000"/>
              </a:lnSpc>
            </a:pPr>
            <a:endParaRPr lang="en-US" altLang="en-US" sz="700" dirty="0">
              <a:latin typeface="Arial" panose="020B0604020202020204" pitchFamily="34" charset="0"/>
              <a:ea typeface="黑体" panose="02010609060101010101" charset="-122"/>
            </a:endParaRPr>
          </a:p>
          <a:p>
            <a:pPr marL="433070" algn="l" defTabSz="0" rtl="0" eaLnBrk="0">
              <a:lnSpc>
                <a:spcPct val="96000"/>
              </a:lnSpc>
              <a:spcBef>
                <a:spcPts val="0"/>
              </a:spcBef>
              <a:tabLst>
                <a:tab pos="771525" algn="l"/>
              </a:tabLst>
            </a:pPr>
            <a:r>
              <a:rPr sz="3100" kern="0" spc="0" dirty="0">
                <a:solidFill>
                  <a:srgbClr val="1F4E79">
                    <a:alpha val="100000"/>
                  </a:srgbClr>
                </a:solidFill>
                <a:latin typeface="Arial" panose="020B0604020202020204" pitchFamily="34" charset="0"/>
                <a:ea typeface="黑体" panose="02010609060101010101" charset="-122"/>
                <a:cs typeface="仿宋" panose="02010609060101010101" charset="-122"/>
              </a:rPr>
              <a:t>	</a:t>
            </a:r>
            <a:r>
              <a:rPr sz="3100" kern="0" spc="11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双密钥三重</a:t>
            </a:r>
            <a:r>
              <a:rPr sz="3100" kern="0" spc="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DES</a:t>
            </a:r>
            <a:r>
              <a:rPr sz="3100" kern="0" spc="110" dirty="0">
                <a:ln w="11582" cap="flat" cmpd="sng">
                  <a:solidFill>
                    <a:srgbClr val="1F4E79">
                      <a:alpha val="100000"/>
                    </a:srgbClr>
                  </a:solidFill>
                  <a:prstDash val="solid"/>
                  <a:miter lim="10"/>
                </a:ln>
                <a:solidFill>
                  <a:srgbClr val="1F4E79">
                    <a:alpha val="100000"/>
                  </a:srgbClr>
                </a:solidFill>
                <a:latin typeface="Arial" panose="020B0604020202020204" pitchFamily="34" charset="0"/>
                <a:ea typeface="黑体" panose="02010609060101010101" charset="-122"/>
                <a:cs typeface="仿宋" panose="02010609060101010101" charset="-122"/>
              </a:rPr>
              <a:t>算法的安全性</a:t>
            </a:r>
            <a:endParaRPr lang="en-US" altLang="en-US" sz="3100" dirty="0">
              <a:latin typeface="Arial" panose="020B0604020202020204" pitchFamily="34" charset="0"/>
              <a:ea typeface="黑体" panose="02010609060101010101" charset="-122"/>
            </a:endParaRPr>
          </a:p>
        </p:txBody>
      </p:sp>
      <p:pic>
        <p:nvPicPr>
          <p:cNvPr id="242" name="picture 242"/>
          <p:cNvPicPr>
            <a:picLocks noChangeAspect="1"/>
          </p:cNvPicPr>
          <p:nvPr/>
        </p:nvPicPr>
        <p:blipFill>
          <a:blip r:embed="rId1"/>
          <a:stretch>
            <a:fillRect/>
          </a:stretch>
        </p:blipFill>
        <p:spPr>
          <a:xfrm rot="21600000">
            <a:off x="822960" y="408431"/>
            <a:ext cx="420623" cy="655320"/>
          </a:xfrm>
          <a:prstGeom prst="rect">
            <a:avLst/>
          </a:prstGeom>
        </p:spPr>
      </p:pic>
      <p:sp>
        <p:nvSpPr>
          <p:cNvPr id="246" name="rect"/>
          <p:cNvSpPr/>
          <p:nvPr/>
        </p:nvSpPr>
        <p:spPr>
          <a:xfrm>
            <a:off x="696468" y="6239255"/>
            <a:ext cx="10779125" cy="27432"/>
          </a:xfrm>
          <a:prstGeom prst="rect">
            <a:avLst/>
          </a:prstGeom>
          <a:solidFill>
            <a:srgbClr val="5B9BD5">
              <a:alpha val="100000"/>
            </a:srgbClr>
          </a:solidFill>
          <a:ln cap="flat">
            <a:noFill/>
            <a:prstDash val="solid"/>
            <a:miter lim="0"/>
          </a:ln>
        </p:spPr>
        <p:txBody>
          <a:bodyPr rtlCol="0"/>
          <a:lstStyle/>
          <a:p>
            <a:pPr algn="ctr"/>
            <a:endParaRPr lang="zh-CN" altLang="en-US"/>
          </a:p>
        </p:txBody>
      </p:sp>
      <p:sp>
        <p:nvSpPr>
          <p:cNvPr id="248" name="rect"/>
          <p:cNvSpPr/>
          <p:nvPr/>
        </p:nvSpPr>
        <p:spPr>
          <a:xfrm>
            <a:off x="1467611" y="1021080"/>
            <a:ext cx="9037573" cy="27431"/>
          </a:xfrm>
          <a:prstGeom prst="rect">
            <a:avLst/>
          </a:prstGeom>
          <a:solidFill>
            <a:srgbClr val="5B9BD5">
              <a:alpha val="100000"/>
            </a:srgbClr>
          </a:solidFill>
          <a:ln cap="flat">
            <a:noFill/>
            <a:prstDash val="solid"/>
            <a:miter lim="0"/>
          </a:ln>
        </p:spPr>
        <p:txBody>
          <a:bodyPr rtlCol="0"/>
          <a:lstStyle/>
          <a:p>
            <a:pPr algn="ctr"/>
            <a:endParaRPr lang="zh-CN" altLang="en-US"/>
          </a:p>
        </p:txBody>
      </p:sp>
    </p:spTree>
  </p:cSld>
  <p:clrMapOvr>
    <a:masterClrMapping/>
  </p:clrMapOvr>
  <p:transition/>
</p:sld>
</file>

<file path=ppt/tags/tag1.xml><?xml version="1.0" encoding="utf-8"?>
<p:tagLst xmlns:p="http://schemas.openxmlformats.org/presentationml/2006/main">
  <p:tag name="TABLE_ENDDRAG_ORIGIN_RECT" val="691*372"/>
  <p:tag name="TABLE_ENDDRAG_RECT" val="144*116*691*372"/>
  <p:tag name="KSO_WM_UNIT_TABLE_BEAUTIFY" val="smartTable{0941fad8-5da6-4228-adc3-0e009c1dd9d5}"/>
</p:tagLst>
</file>

<file path=ppt/tags/tag2.xml><?xml version="1.0" encoding="utf-8"?>
<p:tagLst xmlns:p="http://schemas.openxmlformats.org/presentationml/2006/main">
  <p:tag name="KSO_WM_UNIT_PLACING_PICTURE_USER_VIEWPORT" val="{&quot;height&quot;:11336.469291338582,&quot;width&quot;:8760}"/>
</p:tagLst>
</file>

<file path=ppt/tags/tag3.xml><?xml version="1.0" encoding="utf-8"?>
<p:tagLst xmlns:p="http://schemas.openxmlformats.org/presentationml/2006/main">
  <p:tag name="KSO_WM_UNIT_TABLE_BEAUTIFY" val="smartTable{fad52576-dd50-4148-a2c9-59a3e95e65b8}"/>
</p:tagLst>
</file>

<file path=ppt/tags/tag4.xml><?xml version="1.0" encoding="utf-8"?>
<p:tagLst xmlns:p="http://schemas.openxmlformats.org/presentationml/2006/main">
  <p:tag name="KSO_WM_UNIT_TABLE_BEAUTIFY" val="smartTable{852a69fa-afd0-4bae-8d6a-2b080b20718f}"/>
  <p:tag name="TABLE_ENDDRAG_ORIGIN_RECT" val="810*561"/>
  <p:tag name="TABLE_ENDDRAG_RECT" val="85*183*810*561"/>
</p:tagLst>
</file>

<file path=ppt/tags/tag5.xml><?xml version="1.0" encoding="utf-8"?>
<p:tagLst xmlns:p="http://schemas.openxmlformats.org/presentationml/2006/main">
  <p:tag name="TABLE_ENDDRAG_ORIGIN_RECT" val="389*55"/>
  <p:tag name="TABLE_ENDDRAG_RECT" val="620*126*389*55"/>
  <p:tag name="KSO_WM_UNIT_TABLE_BEAUTIFY" val="smartTable{78830191-cbc6-495f-82a4-3af7bffe3832}"/>
</p:tagLst>
</file>

<file path=ppt/tags/tag6.xml><?xml version="1.0" encoding="utf-8"?>
<p:tagLst xmlns:p="http://schemas.openxmlformats.org/presentationml/2006/main">
  <p:tag name="TABLE_ENDDRAG_ORIGIN_RECT" val="218*299"/>
  <p:tag name="TABLE_ENDDRAG_RECT" val="737*181*218*299"/>
</p:tagLst>
</file>

<file path=ppt/tags/tag7.xml><?xml version="1.0" encoding="utf-8"?>
<p:tagLst xmlns:p="http://schemas.openxmlformats.org/presentationml/2006/main">
  <p:tag name="TABLE_ENDDRAG_ORIGIN_RECT" val="294*433"/>
  <p:tag name="TABLE_ENDDRAG_RECT" val="104*90*294*433"/>
</p:tagLst>
</file>

<file path=ppt/tags/tag8.xml><?xml version="1.0" encoding="utf-8"?>
<p:tagLst xmlns:p="http://schemas.openxmlformats.org/presentationml/2006/main">
  <p:tag name="KSO_WM_UNIT_TABLE_BEAUTIFY" val="smartTable{dbced0da-cc3f-4b4e-bc18-86bd5c3a497d}"/>
  <p:tag name="TABLE_ENDDRAG_ORIGIN_RECT" val="820*260"/>
  <p:tag name="TABLE_ENDDRAG_RECT" val="73*216*820*260"/>
</p:tagLst>
</file>

<file path=ppt/tags/tag9.xml><?xml version="1.0" encoding="utf-8"?>
<p:tagLst xmlns:p="http://schemas.openxmlformats.org/presentationml/2006/main">
  <p:tag name="commondata" val="eyJoZGlkIjoiZTcwZjg3OGM5MWVhNmI0ZmM4OGQ1YjQxNGU4NWYzMjgifQ=="/>
  <p:tag name="KSO_WPP_MARK_KEY" val="907a329c-feb7-4769-b17b-84106b3dec12"/>
  <p:tag name="COMMONDATA" val="eyJoZGlkIjoiMzEwNTM5NzYwMDRjMzkwZTVkZjY2ODkwMGIxNGU0OTUifQ=="/>
  <p:tag name="FULLTEXTBEAUTIFYED" val="1"/>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14277</Words>
  <Application>WPS 演示</Application>
  <PresentationFormat/>
  <Paragraphs>1561</Paragraphs>
  <Slides>88</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5</vt:i4>
      </vt:variant>
      <vt:variant>
        <vt:lpstr>幻灯片标题</vt:lpstr>
      </vt:variant>
      <vt:variant>
        <vt:i4>88</vt:i4>
      </vt:variant>
    </vt:vector>
  </HeadingPairs>
  <TitlesOfParts>
    <vt:vector size="112" baseType="lpstr">
      <vt:lpstr>Arial</vt:lpstr>
      <vt:lpstr>宋体</vt:lpstr>
      <vt:lpstr>Wingdings</vt:lpstr>
      <vt:lpstr>黑体</vt:lpstr>
      <vt:lpstr>仿宋</vt:lpstr>
      <vt:lpstr>Times New Roman</vt:lpstr>
      <vt:lpstr>微软雅黑</vt:lpstr>
      <vt:lpstr>Arial Unicode MS</vt:lpstr>
      <vt:lpstr>Calibri</vt:lpstr>
      <vt:lpstr>Tahoma</vt:lpstr>
      <vt:lpstr>Symbol</vt:lpstr>
      <vt:lpstr>Verdana</vt:lpstr>
      <vt:lpstr>新宋体</vt:lpstr>
      <vt:lpstr>MT Extra</vt:lpstr>
      <vt:lpstr>Cambria Math</vt:lpstr>
      <vt:lpstr>MS Mincho</vt:lpstr>
      <vt:lpstr>Comic Sans MS</vt:lpstr>
      <vt:lpstr>Segoe Print</vt:lpstr>
      <vt:lpstr>Office theme</vt:lpstr>
      <vt:lpstr>Equation.DSMT4</vt:lpstr>
      <vt:lpstr>Equation.DSMT4</vt:lpstr>
      <vt:lpstr>Equation.DSMT4</vt:lpstr>
      <vt:lpstr>Equation.DSMT4</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BWX</cp:lastModifiedBy>
  <cp:revision>20</cp:revision>
  <dcterms:created xsi:type="dcterms:W3CDTF">1900-01-01T00:00:00Z</dcterms:created>
  <dcterms:modified xsi:type="dcterms:W3CDTF">2025-06-17T02:09:18Z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wqlLaW5nc29mdCBQREYgdG8gV1BTIDkw</vt:lpwstr>
  </property>
  <property fmtid="{D5CDD505-2E9C-101B-9397-08002B2CF9AE}" pid="3" name="Created">
    <vt:filetime>1900-01-02T16:00:00Z</vt:filetime>
  </property>
  <property fmtid="{D5CDD505-2E9C-101B-9397-08002B2CF9AE}" pid="4" name="ICV">
    <vt:lpwstr>77E7690274934EDEA85421A338D11E35</vt:lpwstr>
  </property>
  <property fmtid="{D5CDD505-2E9C-101B-9397-08002B2CF9AE}" pid="5" name="KSOProductBuildVer">
    <vt:lpwstr>2052-12.1.0.21541</vt:lpwstr>
  </property>
</Properties>
</file>