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8.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335" r:id="rId3"/>
    <p:sldId id="444" r:id="rId4"/>
    <p:sldId id="445" r:id="rId5"/>
    <p:sldId id="446" r:id="rId7"/>
    <p:sldId id="447" r:id="rId8"/>
    <p:sldId id="448" r:id="rId9"/>
    <p:sldId id="441" r:id="rId10"/>
    <p:sldId id="334" r:id="rId11"/>
    <p:sldId id="336" r:id="rId12"/>
    <p:sldId id="337" r:id="rId13"/>
    <p:sldId id="338" r:id="rId14"/>
    <p:sldId id="339" r:id="rId15"/>
    <p:sldId id="342" r:id="rId16"/>
    <p:sldId id="344" r:id="rId17"/>
    <p:sldId id="343" r:id="rId18"/>
    <p:sldId id="346" r:id="rId19"/>
    <p:sldId id="347" r:id="rId20"/>
    <p:sldId id="348" r:id="rId21"/>
    <p:sldId id="349" r:id="rId22"/>
    <p:sldId id="345" r:id="rId23"/>
    <p:sldId id="351" r:id="rId24"/>
    <p:sldId id="350" r:id="rId25"/>
    <p:sldId id="352" r:id="rId26"/>
    <p:sldId id="353" r:id="rId27"/>
    <p:sldId id="355" r:id="rId28"/>
    <p:sldId id="356" r:id="rId29"/>
    <p:sldId id="357" r:id="rId30"/>
    <p:sldId id="358" r:id="rId31"/>
    <p:sldId id="359" r:id="rId32"/>
    <p:sldId id="360" r:id="rId33"/>
    <p:sldId id="361" r:id="rId34"/>
    <p:sldId id="362" r:id="rId35"/>
    <p:sldId id="363" r:id="rId36"/>
    <p:sldId id="365" r:id="rId37"/>
    <p:sldId id="366" r:id="rId38"/>
    <p:sldId id="367" r:id="rId39"/>
    <p:sldId id="368" r:id="rId40"/>
    <p:sldId id="402" r:id="rId41"/>
    <p:sldId id="401" r:id="rId42"/>
    <p:sldId id="403" r:id="rId43"/>
    <p:sldId id="404" r:id="rId44"/>
    <p:sldId id="405" r:id="rId45"/>
    <p:sldId id="406" r:id="rId46"/>
    <p:sldId id="407" r:id="rId47"/>
    <p:sldId id="408" r:id="rId48"/>
    <p:sldId id="409" r:id="rId49"/>
    <p:sldId id="410" r:id="rId50"/>
    <p:sldId id="449" r:id="rId51"/>
    <p:sldId id="450" r:id="rId52"/>
    <p:sldId id="372" r:id="rId53"/>
    <p:sldId id="373" r:id="rId54"/>
    <p:sldId id="374" r:id="rId55"/>
    <p:sldId id="375" r:id="rId56"/>
    <p:sldId id="376" r:id="rId57"/>
    <p:sldId id="377" r:id="rId58"/>
    <p:sldId id="378" r:id="rId59"/>
    <p:sldId id="379" r:id="rId60"/>
    <p:sldId id="380" r:id="rId61"/>
    <p:sldId id="381" r:id="rId62"/>
    <p:sldId id="382" r:id="rId63"/>
    <p:sldId id="383" r:id="rId64"/>
    <p:sldId id="384" r:id="rId65"/>
    <p:sldId id="385" r:id="rId66"/>
    <p:sldId id="386" r:id="rId67"/>
    <p:sldId id="387" r:id="rId68"/>
    <p:sldId id="388" r:id="rId69"/>
    <p:sldId id="389" r:id="rId70"/>
    <p:sldId id="390" r:id="rId71"/>
    <p:sldId id="391" r:id="rId72"/>
    <p:sldId id="392" r:id="rId73"/>
    <p:sldId id="393" r:id="rId74"/>
    <p:sldId id="394" r:id="rId75"/>
    <p:sldId id="395" r:id="rId76"/>
    <p:sldId id="396" r:id="rId77"/>
    <p:sldId id="397" r:id="rId78"/>
    <p:sldId id="398" r:id="rId79"/>
    <p:sldId id="399" r:id="rId80"/>
    <p:sldId id="400" r:id="rId81"/>
  </p:sldIdLst>
  <p:sldSz cx="12192000" cy="6858000" type="screen4x3"/>
  <p:notesSz cx="6858000" cy="9144000"/>
  <p:custDataLst>
    <p:tags r:id="rId8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tags" Target="tags/tag1.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这时我们就可以把它转换成一个装置。</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这时我们就可以把它转换成一个装置。</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是基于查表的一个流密码。</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RC4</a:t>
            </a:r>
            <a:r>
              <a:rPr lang="zh-CN" altLang="en-US"/>
              <a:t>的处理单位为字节。</a:t>
            </a:r>
            <a:endParaRPr lang="zh-CN" altLang="en-US"/>
          </a:p>
          <a:p>
            <a:r>
              <a:rPr lang="zh-CN" altLang="en-US"/>
              <a:t>有限状态自动机是具有离散输入和输出（输入集和输出集均有</a:t>
            </a:r>
            <a:endParaRPr lang="zh-CN" altLang="en-US"/>
          </a:p>
          <a:p>
            <a:r>
              <a:rPr lang="zh-CN" altLang="en-US"/>
              <a:t>限）的一种数学模型，由以下3部分组成：</a:t>
            </a:r>
            <a:endParaRPr lang="zh-CN" altLang="en-US"/>
          </a:p>
          <a:p>
            <a:r>
              <a:rPr lang="zh-CN" altLang="en-US"/>
              <a:t>① 有限状态集S={ si</a:t>
            </a:r>
            <a:r>
              <a:rPr lang="en-US" altLang="zh-CN"/>
              <a:t> </a:t>
            </a:r>
            <a:r>
              <a:rPr lang="zh-CN" altLang="en-US"/>
              <a:t>| i=1,2,…,l }。</a:t>
            </a:r>
            <a:endParaRPr lang="zh-CN" altLang="en-US"/>
          </a:p>
          <a:p>
            <a:r>
              <a:rPr lang="zh-CN" altLang="en-US"/>
              <a:t>② 有限输入字符集A1={ A(1)</a:t>
            </a:r>
            <a:r>
              <a:rPr lang="en-US" altLang="zh-CN"/>
              <a:t> </a:t>
            </a:r>
            <a:r>
              <a:rPr lang="zh-CN" altLang="en-US"/>
              <a:t>j</a:t>
            </a:r>
            <a:r>
              <a:rPr lang="en-US" altLang="zh-CN"/>
              <a:t> </a:t>
            </a:r>
            <a:r>
              <a:rPr lang="zh-CN" altLang="en-US"/>
              <a:t>| j=1,2,…,m}和有限输出字符集A2={A(2)k |k=1,2,…,n}。</a:t>
            </a:r>
            <a:endParaRPr lang="zh-CN" altLang="en-US"/>
          </a:p>
          <a:p>
            <a:r>
              <a:rPr lang="zh-CN" altLang="en-US"/>
              <a:t>③ 转移函数A(2)k=f1(si, A(1)j )，sh=f2(si, A(1)j)</a:t>
            </a:r>
            <a:endParaRPr lang="zh-CN" altLang="en-US"/>
          </a:p>
          <a:p>
            <a:r>
              <a:rPr lang="zh-CN" altLang="en-US"/>
              <a:t>即在状态为si，输入为A(1)j时，输出为A(2)k，而状态转移为sh。</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利用</a:t>
            </a:r>
            <a:r>
              <a:rPr lang="en-US" altLang="zh-CN"/>
              <a:t>R</a:t>
            </a:r>
            <a:r>
              <a:rPr lang="zh-CN" altLang="en-US"/>
              <a:t>表随机化</a:t>
            </a:r>
            <a:r>
              <a:rPr lang="en-US" altLang="zh-CN"/>
              <a:t>S</a:t>
            </a:r>
            <a:r>
              <a:rPr lang="zh-CN" altLang="en-US"/>
              <a:t>表。</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我们总结一下传统密码的优缺点。</a:t>
            </a:r>
            <a:endParaRPr lang="zh-CN" altLang="en-US"/>
          </a:p>
          <a:p>
            <a:r>
              <a:rPr lang="zh-CN" altLang="en-US"/>
              <a:t>对称密码的理论和实践都很成熟，安全容易把握。</a:t>
            </a:r>
            <a:endParaRPr lang="zh-CN" altLang="en-US"/>
          </a:p>
          <a:p>
            <a:r>
              <a:rPr lang="zh-CN" altLang="en-US"/>
              <a:t>我们可以回顾一下我们介绍</a:t>
            </a:r>
            <a:r>
              <a:rPr lang="en-US" altLang="zh-CN"/>
              <a:t>AES</a:t>
            </a:r>
            <a:r>
              <a:rPr lang="zh-CN" altLang="en-US"/>
              <a:t>算法时候说的。</a:t>
            </a:r>
            <a:endParaRPr lang="zh-CN" altLang="en-US"/>
          </a:p>
          <a:p>
            <a:r>
              <a:rPr lang="en-US" altLang="zh-CN"/>
              <a:t>AES</a:t>
            </a:r>
            <a:r>
              <a:rPr lang="zh-CN" altLang="en-US"/>
              <a:t>算法是在</a:t>
            </a:r>
            <a:r>
              <a:rPr lang="en-US" altLang="zh-CN"/>
              <a:t>DES</a:t>
            </a:r>
            <a:r>
              <a:rPr lang="zh-CN" altLang="en-US"/>
              <a:t>算法不够安全后，美国国家标准机构公开征集的高级加密算法，当时征集到了</a:t>
            </a:r>
            <a:r>
              <a:rPr lang="en-US" altLang="zh-CN"/>
              <a:t>21</a:t>
            </a:r>
            <a:r>
              <a:rPr lang="zh-CN" altLang="en-US"/>
              <a:t>个算法，然后经过第一轮评审还剩下</a:t>
            </a:r>
            <a:r>
              <a:rPr lang="en-US" altLang="zh-CN"/>
              <a:t>15</a:t>
            </a:r>
            <a:r>
              <a:rPr lang="zh-CN" altLang="en-US"/>
              <a:t>个算法，之后又经过第二轮评审淘汰后剩下了五个算法，经过第三轮评审最终选择了</a:t>
            </a:r>
            <a:r>
              <a:rPr lang="en-US" altLang="zh-CN"/>
              <a:t>AES</a:t>
            </a:r>
            <a:r>
              <a:rPr lang="zh-CN" altLang="en-US"/>
              <a:t>算法。</a:t>
            </a:r>
            <a:endParaRPr lang="zh-CN" altLang="en-US"/>
          </a:p>
          <a:p>
            <a:r>
              <a:rPr lang="zh-CN" altLang="en-US"/>
              <a:t>虽然这次公开征集算法最后选出了</a:t>
            </a:r>
            <a:r>
              <a:rPr lang="en-US" altLang="zh-CN"/>
              <a:t>AES</a:t>
            </a:r>
            <a:r>
              <a:rPr lang="zh-CN" altLang="en-US"/>
              <a:t>算法做为新的加密算法标准，但是并不能说明其他加密算法不够优秀，实际上经过第二轮淘汰后剩下的算法就都是很优秀的算法了。</a:t>
            </a:r>
            <a:endParaRPr lang="zh-CN" altLang="en-US"/>
          </a:p>
          <a:p>
            <a:r>
              <a:rPr lang="zh-CN" altLang="en-US"/>
              <a:t>这说明，现在密码专家是有很大的把握设计安全并且优秀的对称密码算法的。</a:t>
            </a:r>
            <a:endParaRPr lang="zh-CN" altLang="en-US"/>
          </a:p>
          <a:p>
            <a:r>
              <a:rPr lang="zh-CN" altLang="en-US"/>
              <a:t>此外我们也很容易理解各种分组密码和流密码加解密过程并不复杂，处理速度也很快。</a:t>
            </a:r>
            <a:endParaRPr lang="zh-CN" altLang="en-US"/>
          </a:p>
          <a:p>
            <a:endParaRPr lang="zh-CN" altLang="en-US"/>
          </a:p>
          <a:p>
            <a:r>
              <a:rPr lang="zh-CN" altLang="en-US"/>
              <a:t>收发双方持有相同密钥实际上是非常难实现的。</a:t>
            </a:r>
            <a:endParaRPr lang="zh-CN" altLang="en-US"/>
          </a:p>
          <a:p>
            <a:r>
              <a:rPr lang="zh-CN" altLang="en-US"/>
              <a:t>第二是数字签名不容易，什么叫数字签名呢？就是跟我们现实中签名是一样的，我们新买一本书，新申请一个信用卡，我们一般都会在上面签一个名字，证明这个东西是属于我们的。我们发送一个文件，也一般需要签名保证这个文件是由我们同意之后发出的。</a:t>
            </a:r>
            <a:endParaRPr lang="zh-CN" altLang="en-US"/>
          </a:p>
          <a:p>
            <a:r>
              <a:rPr lang="zh-CN" altLang="en-US"/>
              <a:t>所以数字签名就是在网络环境中对信息的一个签名，保证信息的真实性。就是保证这个信息是由我发出去的，并且没有被人篡改过。</a:t>
            </a:r>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这里的计算就是指以我们现有的计算能力，使用所有的计算机去进行计算。</a:t>
            </a:r>
            <a:endParaRPr lang="zh-CN" altLang="en-US"/>
          </a:p>
          <a:p>
            <a:r>
              <a:rPr lang="en-US" altLang="zh-CN"/>
              <a:t>Ke</a:t>
            </a:r>
            <a:r>
              <a:rPr lang="zh-CN" altLang="en-US"/>
              <a:t>不可以计算出</a:t>
            </a:r>
            <a:r>
              <a:rPr lang="en-US" altLang="zh-CN"/>
              <a:t>Kd</a:t>
            </a:r>
            <a:r>
              <a:rPr lang="zh-CN" altLang="en-US"/>
              <a:t>，因此</a:t>
            </a:r>
            <a:r>
              <a:rPr lang="en-US" altLang="zh-CN"/>
              <a:t>Ke</a:t>
            </a:r>
            <a:r>
              <a:rPr lang="zh-CN" altLang="en-US"/>
              <a:t>就可以公开。这时就不需要进行密钥分配了。此时解密的钥匙</a:t>
            </a:r>
            <a:r>
              <a:rPr lang="en-US" altLang="zh-CN"/>
              <a:t>Kd</a:t>
            </a:r>
            <a:r>
              <a:rPr lang="zh-CN" altLang="en-US"/>
              <a:t>就就具有了唯一性。这时这个</a:t>
            </a:r>
            <a:r>
              <a:rPr lang="en-US" altLang="zh-CN"/>
              <a:t>Kd</a:t>
            </a:r>
            <a:r>
              <a:rPr lang="zh-CN" altLang="en-US"/>
              <a:t>就可以被看作是用户的指纹，因此就可以用户数字签名。</a:t>
            </a:r>
            <a:endParaRPr lang="zh-CN" altLang="en-US"/>
          </a:p>
          <a:p>
            <a:r>
              <a:rPr lang="zh-CN" altLang="en-US"/>
              <a:t>由于加密的钥匙是可以公开的，因此就可以被称为公钥密码。</a:t>
            </a:r>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正变换非常容易，逆变换非常难，大家可以思考一下，包括我们日常生活中或者我们之前学过的其他知识里面有什么具有单向性的现象呢？</a:t>
            </a:r>
            <a:endParaRPr lang="zh-CN" altLang="en-US"/>
          </a:p>
          <a:p>
            <a:r>
              <a:rPr lang="zh-CN" altLang="en-US"/>
              <a:t>不知道大家还记不记得可能初中高中学过的电路，我们的二极管，正向电流可以通过，反向电流通过不了。</a:t>
            </a:r>
            <a:endParaRPr lang="zh-CN" altLang="en-US"/>
          </a:p>
          <a:p>
            <a:r>
              <a:rPr lang="zh-CN" altLang="en-US"/>
              <a:t>还有我们日常生活中就会有更多的例子：例如回家吃饭，把面粉和沙子进行混合，是正变换；然后如果让你把沙子和面粉再分开，逆变换是不是就很难？</a:t>
            </a:r>
            <a:endParaRPr lang="zh-CN" altLang="en-US"/>
          </a:p>
          <a:p>
            <a:r>
              <a:rPr lang="zh-CN" altLang="en-US"/>
              <a:t>或者是我们生活中，经常会使用镜子，那把镜子打碎很容易，收回来就很难。</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我们对单向函数进行改进，在单向函数上增加一个陷门，就是增加一个窍门。</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第一个问题：</a:t>
            </a:r>
            <a:r>
              <a:rPr lang="en-US" altLang="zh-CN"/>
              <a:t>3*5=15</a:t>
            </a:r>
            <a:r>
              <a:rPr lang="zh-CN" altLang="en-US"/>
              <a:t>是正变换，那</a:t>
            </a:r>
            <a:r>
              <a:rPr lang="en-US" altLang="zh-CN"/>
              <a:t>15</a:t>
            </a:r>
            <a:r>
              <a:rPr lang="zh-CN" altLang="en-US"/>
              <a:t>等于</a:t>
            </a:r>
            <a:r>
              <a:rPr lang="en-US" altLang="zh-CN"/>
              <a:t>3*5</a:t>
            </a:r>
            <a:r>
              <a:rPr lang="zh-CN" altLang="en-US"/>
              <a:t>就是因式分解。这个</a:t>
            </a:r>
            <a:r>
              <a:rPr lang="en-US" altLang="zh-CN"/>
              <a:t>15</a:t>
            </a:r>
            <a:r>
              <a:rPr lang="zh-CN" altLang="en-US"/>
              <a:t>数字比较小的时候，我们还是可以分解出来的，但是当这个数字一旦变大就很难再分解出来了。比如我们给定一个大于</a:t>
            </a:r>
            <a:r>
              <a:rPr lang="en-US" altLang="zh-CN"/>
              <a:t>200</a:t>
            </a:r>
            <a:r>
              <a:rPr lang="zh-CN" altLang="en-US"/>
              <a:t>的数，让大家计算因式分解，就比较难算。</a:t>
            </a:r>
            <a:endParaRPr lang="zh-CN" altLang="en-US"/>
          </a:p>
          <a:p>
            <a:r>
              <a:rPr lang="en-US" altLang="zh-CN"/>
              <a:t>p</a:t>
            </a:r>
            <a:r>
              <a:rPr lang="zh-CN" altLang="en-US"/>
              <a:t>，</a:t>
            </a:r>
            <a:r>
              <a:rPr lang="en-US" altLang="zh-CN"/>
              <a:t>q</a:t>
            </a:r>
            <a:r>
              <a:rPr lang="zh-CN" altLang="en-US"/>
              <a:t>大于</a:t>
            </a:r>
            <a:r>
              <a:rPr lang="en-US" altLang="zh-CN"/>
              <a:t>2048bit</a:t>
            </a:r>
            <a:r>
              <a:rPr lang="zh-CN" altLang="en-US"/>
              <a:t>，计算乘积。</a:t>
            </a:r>
            <a:endParaRPr lang="zh-CN" altLang="en-US"/>
          </a:p>
          <a:p>
            <a:r>
              <a:rPr lang="zh-CN" altLang="en-US"/>
              <a:t>第二个问题：有限域上的离散对数问题，对数大家初高中都学过，做连乘容易，但是算对数就比较困难，之前上中学的时候除了几个特殊值可能能算出来，剩下的就是通过查对数表得到结果。现在的话可能会使用泰勒级数来计算对数，但是也需要满足许多条件才可以计算。而且我们这个难题还限定到了有限域上，也就是我们还要在幂乘运算后进行模运算，所以更加困难。（离散对数乘法群）</a:t>
            </a:r>
            <a:endParaRPr lang="zh-CN" altLang="en-US"/>
          </a:p>
          <a:p>
            <a:r>
              <a:rPr lang="zh-CN" altLang="en-US"/>
              <a:t>第三个问题：就是在椭圆曲线上进行连加，多个</a:t>
            </a:r>
            <a:r>
              <a:rPr lang="en-US" altLang="zh-CN"/>
              <a:t>G</a:t>
            </a:r>
            <a:r>
              <a:rPr lang="zh-CN" altLang="en-US"/>
              <a:t>加起来是容易的，根据结果求出</a:t>
            </a:r>
            <a:r>
              <a:rPr lang="en-US" altLang="zh-CN"/>
              <a:t>d</a:t>
            </a:r>
            <a:r>
              <a:rPr lang="zh-CN" altLang="en-US"/>
              <a:t>是困难的。（离散对数加法群）。</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互素就是两个整数之间最大公因子是</a:t>
            </a:r>
            <a:r>
              <a:rPr lang="en-US" altLang="zh-CN"/>
              <a:t>1</a:t>
            </a:r>
            <a:endParaRPr lang="en-US" altLang="zh-CN"/>
          </a:p>
          <a:p>
            <a:r>
              <a:rPr lang="zh-CN" altLang="en-US"/>
              <a:t>素数就是一个整数的因子最大为</a:t>
            </a:r>
            <a:r>
              <a:rPr lang="en-US" altLang="zh-CN"/>
              <a:t>1</a:t>
            </a:r>
            <a:endParaRPr lang="en-US" altLang="zh-CN"/>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快速幂计算</a:t>
            </a:r>
            <a:r>
              <a:rPr lang="en-US" altLang="zh-CN"/>
              <a:t> 3^100 mod 7 = 3^4mod 7 = 4</a:t>
            </a:r>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证明 若n是素数，根据φ(n)=(n-1)和费马定理，式(2.12)成立，但实际上该式对任意整数n都成立。请注意φ(n)是指小于n且与n互素的正整数的个数，考虑这些整数所组成的集合</a:t>
            </a:r>
            <a:endParaRPr lang="zh-CN" altLang="en-US"/>
          </a:p>
          <a:p>
            <a:r>
              <a:rPr lang="zh-CN" altLang="en-US"/>
              <a:t>R={xj,x₂,…,xφ(n)}</a:t>
            </a:r>
            <a:endParaRPr lang="zh-CN" altLang="en-US"/>
          </a:p>
          <a:p>
            <a:r>
              <a:rPr lang="zh-CN" altLang="en-US"/>
              <a:t>即每个元素都有gcd(xj,n)=1。将a与R中的每个元素相乘，然后模n</a:t>
            </a:r>
            <a:endParaRPr lang="zh-CN" altLang="en-US"/>
          </a:p>
          <a:p>
            <a:r>
              <a:rPr lang="zh-CN" altLang="en-US"/>
              <a:t>S={(axj mod n),(ax₂mod n),…,(axq(n)mod n)}</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证明 若n是素数，根据φ(n)=(n-1)和费马定理，式(2.12)成立，但实际上该式对任意整数n都成立。请注意φ(n)是指小于n且与n互素的正整数的个数，考虑这些整数所组成的集合</a:t>
            </a:r>
            <a:endParaRPr lang="zh-CN" altLang="en-US"/>
          </a:p>
          <a:p>
            <a:r>
              <a:rPr lang="zh-CN" altLang="en-US"/>
              <a:t>R={xj,x₂,…,xφ(n)}</a:t>
            </a:r>
            <a:endParaRPr lang="zh-CN" altLang="en-US"/>
          </a:p>
          <a:p>
            <a:r>
              <a:rPr lang="zh-CN" altLang="en-US"/>
              <a:t>即每个元素都有gcd(xj,n)=1。将a与R中的每个元素相乘，然后模n</a:t>
            </a:r>
            <a:endParaRPr lang="zh-CN" altLang="en-US"/>
          </a:p>
          <a:p>
            <a:r>
              <a:rPr lang="zh-CN" altLang="en-US"/>
              <a:t>S={(axj mod n),(ax₂mod n),…,(axq(n)mod n)}</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刚才我们介绍了公钥密码的基本概念。</a:t>
            </a:r>
            <a:endParaRPr lang="zh-CN" altLang="en-US"/>
          </a:p>
          <a:p>
            <a:r>
              <a:rPr lang="zh-CN" altLang="en-US"/>
              <a:t>大家可能会有一个疑问就是，公钥密码虽然有很好的性质，但是也有很高的要求，例如需要设计足够安全的单向陷门函数，那我们能设计安全的公钥密码算法吗。</a:t>
            </a:r>
            <a:endParaRPr lang="zh-CN" altLang="en-US"/>
          </a:p>
          <a:p>
            <a:r>
              <a:rPr lang="zh-CN" altLang="en-US"/>
              <a:t>其实在公钥密码在我们的生活中早就应用的非常广泛，我们的身份证、校园卡中都使用了公钥密码算法提供安全性。</a:t>
            </a:r>
            <a:endParaRPr lang="zh-CN" altLang="en-US"/>
          </a:p>
          <a:p>
            <a:r>
              <a:rPr lang="zh-CN" altLang="en-US"/>
              <a:t>公钥密码的思想最开始是由斯坦福大学的一个博士diffie和他的导师hellman提出的。他们提出了公钥密码算法的思想，但是很遗憾没有给出具体的算法。不过他们的这篇论文依旧开创了密码学的新时代，因此这个论文也被评为这个期刊的最佳论文，他们两人也因此在</a:t>
            </a:r>
            <a:r>
              <a:rPr lang="en-US" altLang="zh-CN"/>
              <a:t>15</a:t>
            </a:r>
            <a:r>
              <a:rPr lang="zh-CN" altLang="en-US"/>
              <a:t>年获得了图灵奖。</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dh有关公钥密码思想的论文发表于1976</a:t>
            </a:r>
            <a:r>
              <a:rPr lang="zh-CN" altLang="en-US"/>
              <a:t>年，在</a:t>
            </a:r>
            <a:r>
              <a:rPr lang="en-US" altLang="zh-CN"/>
              <a:t>77</a:t>
            </a:r>
            <a:r>
              <a:rPr lang="zh-CN" altLang="en-US"/>
              <a:t>年就有三个公钥密码方案被提出，由于论文发表需要一定的时间，</a:t>
            </a:r>
            <a:r>
              <a:rPr lang="en-US" altLang="zh-CN"/>
              <a:t>1978</a:t>
            </a:r>
            <a:r>
              <a:rPr lang="zh-CN" altLang="en-US"/>
              <a:t>年著名的rsa算法相关的论文被正式刊登出来。</a:t>
            </a:r>
            <a:endParaRPr lang="zh-CN" altLang="en-US"/>
          </a:p>
          <a:p>
            <a:r>
              <a:rPr lang="zh-CN" altLang="en-US"/>
              <a:t>他们提出了一种基于数论中大整数因式分解困难的数学难题设计的公钥密码方案，这个密码方案由三位设计者的名字首字母命名。</a:t>
            </a:r>
            <a:endParaRPr lang="zh-CN" altLang="en-US"/>
          </a:p>
          <a:p>
            <a:endParaRPr lang="zh-CN" altLang="en-US"/>
          </a:p>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计算欧拉函数fai</a:t>
            </a:r>
            <a:r>
              <a:rPr lang="en-US" altLang="zh-CN"/>
              <a:t>n</a:t>
            </a:r>
            <a:r>
              <a:rPr lang="zh-CN" altLang="en-US"/>
              <a:t>，由于</a:t>
            </a:r>
            <a:r>
              <a:rPr lang="en-US" altLang="zh-CN"/>
              <a:t>p</a:t>
            </a:r>
            <a:r>
              <a:rPr lang="zh-CN" altLang="en-US"/>
              <a:t>和</a:t>
            </a:r>
            <a:r>
              <a:rPr lang="en-US" altLang="zh-CN"/>
              <a:t>q</a:t>
            </a:r>
            <a:r>
              <a:rPr lang="zh-CN" altLang="en-US"/>
              <a:t>是素数，所以计算欧拉函数也非常简单。</a:t>
            </a:r>
            <a:endParaRPr lang="zh-CN" altLang="en-US"/>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我们刚才介绍公钥加密算法时，提到要设计能够保证既保证信息的机密性（保密）又能保证信息的真实性（保真），需要保证的四个基本条件，分别是：</a:t>
            </a:r>
            <a:r>
              <a:rPr lang="en-US" altLang="zh-CN"/>
              <a:t>1. </a:t>
            </a:r>
            <a:r>
              <a:rPr lang="zh-CN" altLang="en-US"/>
              <a:t>加密算法和解密算法时可逆的。</a:t>
            </a:r>
            <a:r>
              <a:rPr lang="en-US" altLang="zh-CN"/>
              <a:t>2</a:t>
            </a:r>
            <a:r>
              <a:rPr lang="zh-CN" altLang="en-US"/>
              <a:t>：根据加密密钥不能计算出解密的密钥；</a:t>
            </a:r>
            <a:r>
              <a:rPr lang="en-US" altLang="zh-CN"/>
              <a:t>3</a:t>
            </a:r>
            <a:r>
              <a:rPr lang="zh-CN" altLang="en-US"/>
              <a:t>：加密算法和解密算法实现起来都必须是高效的；</a:t>
            </a:r>
            <a:r>
              <a:rPr lang="en-US" altLang="zh-CN"/>
              <a:t>4</a:t>
            </a:r>
            <a:r>
              <a:rPr lang="zh-CN" altLang="en-US"/>
              <a:t>：</a:t>
            </a:r>
            <a:r>
              <a:rPr lang="en-US" altLang="zh-CN"/>
              <a:t>E(D(M))=M </a:t>
            </a:r>
            <a:r>
              <a:rPr lang="zh-CN" altLang="en-US"/>
              <a:t>就能保证真实性。满足前三个能保密，满足后三个能保真，全部满足的话既能保密又能保真。</a:t>
            </a:r>
            <a:endParaRPr lang="zh-CN" altLang="en-US"/>
          </a:p>
          <a:p>
            <a:r>
              <a:rPr lang="zh-CN" altLang="en-US"/>
              <a:t>而我们的</a:t>
            </a:r>
            <a:r>
              <a:rPr lang="en-US" altLang="zh-CN"/>
              <a:t>RSA</a:t>
            </a:r>
            <a:r>
              <a:rPr lang="zh-CN" altLang="en-US"/>
              <a:t>算法就是能满足上述所有的条件。接下来我们要逐步进行证明。</a:t>
            </a:r>
            <a:endParaRPr lang="zh-CN" altLang="en-US"/>
          </a:p>
          <a:p>
            <a:r>
              <a:rPr lang="zh-CN" altLang="en-US"/>
              <a:t>首先证明加密算法和解密算法的可逆性。</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剩下一个问题就让</a:t>
            </a:r>
            <a:r>
              <a:rPr lang="en-US" altLang="zh-CN"/>
              <a:t>RSA</a:t>
            </a:r>
            <a:r>
              <a:rPr lang="zh-CN" altLang="en-US"/>
              <a:t>走向应用，就必须实现。</a:t>
            </a:r>
            <a:endParaRPr lang="zh-CN" altLang="en-US"/>
          </a:p>
          <a:p>
            <a:r>
              <a:rPr lang="zh-CN" altLang="en-US"/>
              <a:t>注意实现公钥密码比实现我们前面给大家介绍的</a:t>
            </a:r>
            <a:r>
              <a:rPr lang="en-US" altLang="zh-CN"/>
              <a:t>AES</a:t>
            </a:r>
            <a:r>
              <a:rPr lang="zh-CN" altLang="en-US"/>
              <a:t>、</a:t>
            </a:r>
            <a:r>
              <a:rPr lang="en-US" altLang="zh-CN"/>
              <a:t>DES</a:t>
            </a:r>
            <a:r>
              <a:rPr lang="zh-CN" altLang="en-US"/>
              <a:t>等对称密码要困难得多。需要考虑很多安全</a:t>
            </a:r>
            <a:r>
              <a:rPr lang="zh-CN" altLang="en-US"/>
              <a:t>因素：</a:t>
            </a:r>
            <a:endParaRPr lang="zh-CN" altLang="en-US"/>
          </a:p>
          <a:p>
            <a:r>
              <a:rPr lang="en-US" altLang="zh-CN"/>
              <a:t>1. </a:t>
            </a:r>
            <a:r>
              <a:rPr lang="zh-CN" altLang="en-US"/>
              <a:t>第一个首先就是参数选择：</a:t>
            </a:r>
            <a:endParaRPr lang="zh-CN" altLang="en-US"/>
          </a:p>
          <a:p>
            <a:r>
              <a:rPr lang="zh-CN" altLang="en-US"/>
              <a:t>因为公钥密码的密钥它都是数学参数，这些参数选择合适不合适。直接影响到密码的安全性。</a:t>
            </a:r>
            <a:endParaRPr lang="zh-CN" altLang="en-US"/>
          </a:p>
          <a:p>
            <a:r>
              <a:rPr lang="en-US" altLang="zh-CN"/>
              <a:t>(1) </a:t>
            </a:r>
            <a:r>
              <a:rPr lang="zh-CN" altLang="en-US"/>
              <a:t>首先这个p、q两个大素数大要足够大，大是一个模糊数学的概念，对于一般的应用，pk可以选到</a:t>
            </a:r>
            <a:r>
              <a:rPr lang="en-US" altLang="zh-CN"/>
              <a:t>1024</a:t>
            </a:r>
            <a:r>
              <a:rPr lang="zh-CN" altLang="en-US"/>
              <a:t>比特这么大小那么这样的n就是</a:t>
            </a:r>
            <a:r>
              <a:rPr lang="en-US" altLang="zh-CN"/>
              <a:t>2048.</a:t>
            </a:r>
            <a:endParaRPr lang="zh-CN" altLang="en-US"/>
          </a:p>
          <a:p>
            <a:r>
              <a:rPr lang="zh-CN" altLang="en-US"/>
              <a:t>那么这一大了之后就带来了一个</a:t>
            </a:r>
            <a:r>
              <a:rPr lang="zh-CN" altLang="en-US"/>
              <a:t>问题。</a:t>
            </a:r>
            <a:endParaRPr lang="zh-CN" altLang="en-US"/>
          </a:p>
          <a:p>
            <a:r>
              <a:rPr lang="zh-CN" altLang="en-US"/>
              <a:t>同学们，要讲r</a:t>
            </a:r>
            <a:r>
              <a:rPr lang="en-US" altLang="zh-CN"/>
              <a:t>sa</a:t>
            </a:r>
            <a:r>
              <a:rPr lang="zh-CN" altLang="en-US"/>
              <a:t>密码，初中生都能十分钟听懂原理，但是但是一个大学生甚至一个博士研究生，你如果不认真研究这个软件。你也编不出来。我们思考一下</a:t>
            </a:r>
            <a:r>
              <a:rPr lang="en-US" altLang="zh-CN"/>
              <a:t>2048</a:t>
            </a:r>
            <a:r>
              <a:rPr lang="zh-CN" altLang="en-US"/>
              <a:t>位的数取模。软件直接实现计算的话还是比较</a:t>
            </a:r>
            <a:r>
              <a:rPr lang="zh-CN" altLang="en-US"/>
              <a:t>困难的。</a:t>
            </a:r>
            <a:endParaRPr lang="zh-CN" altLang="en-US"/>
          </a:p>
          <a:p>
            <a:r>
              <a:rPr lang="en-US" altLang="zh-CN"/>
              <a:t>(2) </a:t>
            </a:r>
            <a:r>
              <a:rPr lang="zh-CN" altLang="en-US"/>
              <a:t>另外一个，p和</a:t>
            </a:r>
            <a:r>
              <a:rPr lang="en-US" altLang="zh-CN"/>
              <a:t>q</a:t>
            </a:r>
            <a:r>
              <a:rPr lang="zh-CN" altLang="en-US"/>
              <a:t>应当是强素数，但是至少目前研究的话说呢，因为p和q是素数（p</a:t>
            </a:r>
            <a:r>
              <a:rPr lang="en-US" altLang="zh-CN"/>
              <a:t>-</a:t>
            </a:r>
            <a:r>
              <a:rPr lang="zh-CN" altLang="en-US"/>
              <a:t>1）、（q</a:t>
            </a:r>
            <a:r>
              <a:rPr lang="en-US" altLang="zh-CN"/>
              <a:t>-1</a:t>
            </a:r>
            <a:r>
              <a:rPr lang="zh-CN" altLang="en-US"/>
              <a:t>）一定是合数。因为素数当中除了2是偶数之外，其他素数都是奇数，因此</a:t>
            </a:r>
            <a:r>
              <a:rPr lang="zh-CN" altLang="en-US">
                <a:sym typeface="+mn-ea"/>
              </a:rPr>
              <a:t>（p</a:t>
            </a:r>
            <a:r>
              <a:rPr lang="en-US" altLang="zh-CN">
                <a:sym typeface="+mn-ea"/>
              </a:rPr>
              <a:t>-</a:t>
            </a:r>
            <a:r>
              <a:rPr lang="zh-CN" altLang="en-US">
                <a:sym typeface="+mn-ea"/>
              </a:rPr>
              <a:t>1）、（q</a:t>
            </a:r>
            <a:r>
              <a:rPr lang="en-US" altLang="zh-CN">
                <a:sym typeface="+mn-ea"/>
              </a:rPr>
              <a:t>-1</a:t>
            </a:r>
            <a:r>
              <a:rPr lang="zh-CN" altLang="en-US">
                <a:sym typeface="+mn-ea"/>
              </a:rPr>
              <a:t>）、</a:t>
            </a:r>
            <a:r>
              <a:rPr lang="zh-CN" altLang="en-US">
                <a:sym typeface="+mn-ea"/>
              </a:rPr>
              <a:t>（p</a:t>
            </a:r>
            <a:r>
              <a:rPr lang="en-US" altLang="zh-CN">
                <a:sym typeface="+mn-ea"/>
              </a:rPr>
              <a:t>+</a:t>
            </a:r>
            <a:r>
              <a:rPr lang="zh-CN" altLang="en-US">
                <a:sym typeface="+mn-ea"/>
              </a:rPr>
              <a:t>1）、（q</a:t>
            </a:r>
            <a:r>
              <a:rPr lang="en-US" altLang="zh-CN">
                <a:sym typeface="+mn-ea"/>
              </a:rPr>
              <a:t>+1</a:t>
            </a:r>
            <a:r>
              <a:rPr lang="zh-CN" altLang="en-US">
                <a:sym typeface="+mn-ea"/>
              </a:rPr>
              <a:t>）</a:t>
            </a:r>
            <a:r>
              <a:rPr lang="zh-CN" altLang="en-US"/>
              <a:t>都是合数、都有因子。</a:t>
            </a:r>
            <a:endParaRPr lang="zh-CN" altLang="en-US"/>
          </a:p>
          <a:p>
            <a:r>
              <a:rPr lang="zh-CN" altLang="en-US"/>
              <a:t>如果它的因子全是小素数因子就不安全、这种情况下因子分解就比较容易。</a:t>
            </a:r>
            <a:endParaRPr lang="zh-CN" altLang="en-US"/>
          </a:p>
          <a:p>
            <a:r>
              <a:rPr lang="en-US" altLang="zh-CN"/>
              <a:t>(3) p</a:t>
            </a:r>
            <a:r>
              <a:rPr lang="zh-CN" altLang="en-US"/>
              <a:t>和</a:t>
            </a:r>
            <a:r>
              <a:rPr lang="en-US" altLang="zh-CN"/>
              <a:t>q</a:t>
            </a:r>
            <a:r>
              <a:rPr lang="zh-CN" altLang="en-US"/>
              <a:t>差要</a:t>
            </a:r>
            <a:r>
              <a:rPr lang="zh-CN" altLang="en-US"/>
              <a:t>大，不能两个数大小差不多啊、两个之差要足够大</a:t>
            </a:r>
            <a:endParaRPr lang="zh-CN" altLang="en-US"/>
          </a:p>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a:t>
            </a:r>
            <a:r>
              <a:rPr lang="en-US" altLang="zh-CN">
                <a:sym typeface="+mn-ea"/>
              </a:rPr>
              <a:t>4</a:t>
            </a:r>
            <a:r>
              <a:rPr lang="zh-CN" altLang="en-US">
                <a:sym typeface="+mn-ea"/>
              </a:rPr>
              <a:t>）另外（p</a:t>
            </a:r>
            <a:r>
              <a:rPr lang="en-US" altLang="zh-CN">
                <a:sym typeface="+mn-ea"/>
              </a:rPr>
              <a:t>-</a:t>
            </a:r>
            <a:r>
              <a:rPr lang="zh-CN" altLang="en-US">
                <a:sym typeface="+mn-ea"/>
              </a:rPr>
              <a:t>1）、（q</a:t>
            </a:r>
            <a:r>
              <a:rPr lang="en-US" altLang="zh-CN">
                <a:sym typeface="+mn-ea"/>
              </a:rPr>
              <a:t>-1</a:t>
            </a:r>
            <a:r>
              <a:rPr lang="zh-CN" altLang="en-US">
                <a:sym typeface="+mn-ea"/>
              </a:rPr>
              <a:t>）的最大公因子要小，如果</a:t>
            </a:r>
            <a:r>
              <a:rPr lang="zh-CN" altLang="en-US">
                <a:sym typeface="+mn-ea"/>
              </a:rPr>
              <a:t>最大公因子</a:t>
            </a:r>
            <a:r>
              <a:rPr lang="zh-CN" altLang="en-US">
                <a:sym typeface="+mn-ea"/>
              </a:rPr>
              <a:t>大的话</a:t>
            </a:r>
            <a:endParaRPr lang="zh-CN" altLang="en-US"/>
          </a:p>
          <a:p>
            <a:r>
              <a:rPr lang="zh-CN" altLang="en-US">
                <a:sym typeface="+mn-ea"/>
              </a:rPr>
              <a:t>就就会受到一种迭代加密的攻击。</a:t>
            </a:r>
            <a:endParaRPr lang="zh-CN" altLang="en-US"/>
          </a:p>
          <a:p>
            <a:endParaRPr lang="zh-CN" altLang="en-US"/>
          </a:p>
          <a:p>
            <a:r>
              <a:rPr lang="zh-CN" altLang="en-US"/>
              <a:t>课后题</a:t>
            </a:r>
            <a:r>
              <a:rPr lang="en-US" altLang="zh-CN"/>
              <a:t> 9.2</a:t>
            </a:r>
            <a:r>
              <a:rPr lang="zh-CN" altLang="en-US"/>
              <a:t>和</a:t>
            </a:r>
            <a:r>
              <a:rPr lang="en-US" altLang="zh-CN"/>
              <a:t>9.3 </a:t>
            </a:r>
            <a:endParaRPr lang="en-US" altLang="zh-CN"/>
          </a:p>
          <a:p>
            <a:r>
              <a:rPr lang="en-US" altLang="zh-CN"/>
              <a:t>9.2 a. n = 33; φ(n) = 20; d = 3; C = 14.</a:t>
            </a:r>
            <a:endParaRPr lang="en-US" altLang="zh-CN"/>
          </a:p>
          <a:p>
            <a:r>
              <a:rPr lang="en-US" altLang="zh-CN"/>
              <a:t>b. n = 55; φ(n) = 40; d = 27; C = 14.</a:t>
            </a:r>
            <a:endParaRPr lang="en-US" altLang="zh-CN"/>
          </a:p>
          <a:p>
            <a:r>
              <a:rPr lang="en-US" altLang="zh-CN"/>
              <a:t>c. n = 77; φ(n) = 60; d = 53; C = 57.</a:t>
            </a:r>
            <a:endParaRPr lang="en-US" altLang="zh-CN"/>
          </a:p>
          <a:p>
            <a:r>
              <a:rPr lang="en-US" altLang="zh-CN"/>
              <a:t>d. n = 143; φ(n) = 120; d = 11; C = 106.</a:t>
            </a:r>
            <a:endParaRPr lang="en-US" altLang="zh-CN"/>
          </a:p>
          <a:p>
            <a:r>
              <a:rPr lang="en-US" altLang="zh-CN"/>
              <a:t>e. n = 527; φ(n) = 480; d = 343; C = 128. For decryption, we have</a:t>
            </a:r>
            <a:endParaRPr lang="en-US" altLang="zh-CN"/>
          </a:p>
          <a:p>
            <a:r>
              <a:rPr lang="en-US" altLang="zh-CN"/>
              <a:t>128343 mod 527 = 128256 × 12864 × 12816 × 1284 × 1282 × 1281 mod 527</a:t>
            </a:r>
            <a:endParaRPr lang="en-US" altLang="zh-CN"/>
          </a:p>
          <a:p>
            <a:r>
              <a:rPr lang="en-US" altLang="zh-CN"/>
              <a:t>= 35 × 256 × 35 × 101 × 47 × 128 = 2 mod 527</a:t>
            </a:r>
            <a:endParaRPr lang="en-US" altLang="zh-CN"/>
          </a:p>
          <a:p>
            <a:r>
              <a:rPr lang="en-US" altLang="zh-CN"/>
              <a:t>= 2 mod 257</a:t>
            </a:r>
            <a:endParaRPr lang="en-US" altLang="zh-CN"/>
          </a:p>
          <a:p>
            <a:r>
              <a:rPr lang="en-US" altLang="zh-CN"/>
              <a:t>9.3 5</a:t>
            </a:r>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25.pn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2.xml"/><Relationship Id="rId2" Type="http://schemas.openxmlformats.org/officeDocument/2006/relationships/image" Target="../media/image27.png"/><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2.xml"/><Relationship Id="rId3" Type="http://schemas.openxmlformats.org/officeDocument/2006/relationships/image" Target="../media/image29.png"/><Relationship Id="rId2" Type="http://schemas.openxmlformats.org/officeDocument/2006/relationships/image" Target="../media/image28.pdf"/><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2.xml"/><Relationship Id="rId2" Type="http://schemas.openxmlformats.org/officeDocument/2006/relationships/image" Target="../media/image30.png"/><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2.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2.xml"/><Relationship Id="rId2" Type="http://schemas.openxmlformats.org/officeDocument/2006/relationships/image" Target="../media/image34.png"/><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2.xml"/><Relationship Id="rId2" Type="http://schemas.openxmlformats.org/officeDocument/2006/relationships/image" Target="../media/image35.png"/><Relationship Id="rId1" Type="http://schemas.openxmlformats.org/officeDocument/2006/relationships/image" Target="../media/image1.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2.xml"/><Relationship Id="rId2" Type="http://schemas.openxmlformats.org/officeDocument/2006/relationships/image" Target="../media/image36.png"/><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2.xml"/><Relationship Id="rId2" Type="http://schemas.openxmlformats.org/officeDocument/2006/relationships/image" Target="../media/image37.png"/><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2.xml"/><Relationship Id="rId2" Type="http://schemas.openxmlformats.org/officeDocument/2006/relationships/image" Target="../media/image38.png"/><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2.xml"/><Relationship Id="rId2" Type="http://schemas.openxmlformats.org/officeDocument/2006/relationships/image" Target="../media/image39.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40.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image" Target="../media/image1.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42.png"/><Relationship Id="rId1" Type="http://schemas.openxmlformats.org/officeDocument/2006/relationships/image" Target="../media/image1.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2.xml"/><Relationship Id="rId2" Type="http://schemas.openxmlformats.org/officeDocument/2006/relationships/image" Target="../media/image43.png"/><Relationship Id="rId1" Type="http://schemas.openxmlformats.org/officeDocument/2006/relationships/image" Target="../media/image1.jpe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2.xml"/><Relationship Id="rId2" Type="http://schemas.openxmlformats.org/officeDocument/2006/relationships/image" Target="../media/image44.png"/><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1.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2.xml"/><Relationship Id="rId2" Type="http://schemas.openxmlformats.org/officeDocument/2006/relationships/image" Target="../media/image47.png"/><Relationship Id="rId1" Type="http://schemas.openxmlformats.org/officeDocument/2006/relationships/image" Target="../media/image1.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2.xml"/><Relationship Id="rId2" Type="http://schemas.openxmlformats.org/officeDocument/2006/relationships/image" Target="../media/image48.png"/><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2.xml"/><Relationship Id="rId2" Type="http://schemas.openxmlformats.org/officeDocument/2006/relationships/image" Target="../media/image49.png"/><Relationship Id="rId1" Type="http://schemas.openxmlformats.org/officeDocument/2006/relationships/image" Target="../media/image1.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2.xml"/><Relationship Id="rId2" Type="http://schemas.openxmlformats.org/officeDocument/2006/relationships/image" Target="../media/image50.png"/><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12.xml"/><Relationship Id="rId2" Type="http://schemas.openxmlformats.org/officeDocument/2006/relationships/image" Target="../media/image51.png"/><Relationship Id="rId1" Type="http://schemas.openxmlformats.org/officeDocument/2006/relationships/image" Target="../media/image1.jpe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2.xml"/><Relationship Id="rId2" Type="http://schemas.openxmlformats.org/officeDocument/2006/relationships/image" Target="../media/image52.png"/><Relationship Id="rId1" Type="http://schemas.openxmlformats.org/officeDocument/2006/relationships/image" Target="../media/image1.jpe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2.xml"/><Relationship Id="rId2" Type="http://schemas.openxmlformats.org/officeDocument/2006/relationships/image" Target="../media/image53.png"/><Relationship Id="rId1" Type="http://schemas.openxmlformats.org/officeDocument/2006/relationships/image" Target="../media/image1.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54.png"/><Relationship Id="rId1" Type="http://schemas.openxmlformats.org/officeDocument/2006/relationships/image" Target="../media/image1.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2.xml"/><Relationship Id="rId2" Type="http://schemas.openxmlformats.org/officeDocument/2006/relationships/image" Target="../media/image55.png"/><Relationship Id="rId1" Type="http://schemas.openxmlformats.org/officeDocument/2006/relationships/image" Target="../media/image1.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2.xml"/><Relationship Id="rId2" Type="http://schemas.openxmlformats.org/officeDocument/2006/relationships/image" Target="../media/image56.png"/><Relationship Id="rId1" Type="http://schemas.openxmlformats.org/officeDocument/2006/relationships/image" Target="../media/image1.jpe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12.xml"/><Relationship Id="rId2" Type="http://schemas.openxmlformats.org/officeDocument/2006/relationships/image" Target="../media/image57.png"/><Relationship Id="rId1" Type="http://schemas.openxmlformats.org/officeDocument/2006/relationships/image" Target="../media/image1.jpe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2.xml"/><Relationship Id="rId2" Type="http://schemas.openxmlformats.org/officeDocument/2006/relationships/image" Target="../media/image58.png"/><Relationship Id="rId1" Type="http://schemas.openxmlformats.org/officeDocument/2006/relationships/image" Target="../media/image1.jpe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2.xml"/><Relationship Id="rId2" Type="http://schemas.openxmlformats.org/officeDocument/2006/relationships/image" Target="../media/image59.png"/><Relationship Id="rId1" Type="http://schemas.openxmlformats.org/officeDocument/2006/relationships/image" Target="../media/image1.jpe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2.xml"/><Relationship Id="rId2" Type="http://schemas.openxmlformats.org/officeDocument/2006/relationships/image" Target="../media/image60.png"/><Relationship Id="rId1" Type="http://schemas.openxmlformats.org/officeDocument/2006/relationships/image" Target="../media/image1.jpe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2.xml"/><Relationship Id="rId2" Type="http://schemas.openxmlformats.org/officeDocument/2006/relationships/image" Target="../media/image61.png"/><Relationship Id="rId1" Type="http://schemas.openxmlformats.org/officeDocument/2006/relationships/image" Target="../media/image1.jpe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12.xml"/><Relationship Id="rId2" Type="http://schemas.openxmlformats.org/officeDocument/2006/relationships/image" Target="../media/image62.png"/><Relationship Id="rId1" Type="http://schemas.openxmlformats.org/officeDocument/2006/relationships/image" Target="../media/image1.jpe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12.xml"/><Relationship Id="rId2" Type="http://schemas.openxmlformats.org/officeDocument/2006/relationships/image" Target="../media/image6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上节回顾</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流密码</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2" name="textbox 142"/>
          <p:cNvSpPr/>
          <p:nvPr/>
        </p:nvSpPr>
        <p:spPr>
          <a:xfrm>
            <a:off x="1926613" y="1439440"/>
            <a:ext cx="8043544" cy="376872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kern="0" spc="100" dirty="0">
                <a:solidFill>
                  <a:srgbClr val="000000">
                    <a:alpha val="100000"/>
                  </a:srgbClr>
                </a:solidFill>
                <a:latin typeface="Arial" panose="020B0604020202020204"/>
                <a:ea typeface="Arial" panose="020B0604020202020204"/>
                <a:cs typeface="Arial" panose="020B0604020202020204"/>
              </a:rPr>
              <a:t>•</a:t>
            </a:r>
            <a:r>
              <a:rPr sz="2700" kern="0" spc="250" dirty="0">
                <a:solidFill>
                  <a:srgbClr val="000000">
                    <a:alpha val="100000"/>
                  </a:srgbClr>
                </a:solidFill>
                <a:latin typeface="Arial" panose="020B0604020202020204"/>
                <a:ea typeface="Arial" panose="020B0604020202020204"/>
                <a:cs typeface="Arial" panose="020B0604020202020204"/>
              </a:rPr>
              <a:t> </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流密码(</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stream</a:t>
            </a:r>
            <a:r>
              <a:rPr sz="2700" kern="0" spc="100" dirty="0">
                <a:solidFill>
                  <a:srgbClr val="000000">
                    <a:alpha val="100000"/>
                  </a:srgbClr>
                </a:solidFill>
                <a:latin typeface="仿宋" panose="02010609060101010101" charset="-122"/>
                <a:ea typeface="仿宋" panose="02010609060101010101" charset="-122"/>
                <a:cs typeface="仿宋" panose="02010609060101010101" charset="-122"/>
              </a:rPr>
              <a:t> </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cipher</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)是一种</a:t>
            </a:r>
            <a:r>
              <a:rPr sz="2700" b="1" kern="0" spc="90" dirty="0">
                <a:solidFill>
                  <a:srgbClr val="000000">
                    <a:alpha val="100000"/>
                  </a:srgbClr>
                </a:solidFill>
                <a:latin typeface="仿宋" panose="02010609060101010101" charset="-122"/>
                <a:ea typeface="仿宋" panose="02010609060101010101" charset="-122"/>
                <a:cs typeface="仿宋" panose="02010609060101010101" charset="-122"/>
              </a:rPr>
              <a:t>重要的密码体制</a:t>
            </a:r>
            <a:endParaRPr sz="27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510"/>
              </a:spcBef>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60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明文消息按字符或比特逐位加</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a:t>
            </a:r>
            <a:endParaRPr sz="2400" dirty="0">
              <a:latin typeface="仿宋" panose="02010609060101010101" charset="-122"/>
              <a:ea typeface="仿宋" panose="02010609060101010101" charset="-122"/>
              <a:cs typeface="仿宋" panose="02010609060101010101" charset="-122"/>
            </a:endParaRPr>
          </a:p>
          <a:p>
            <a:pPr marL="466725" algn="l" rtl="0" eaLnBrk="0">
              <a:lnSpc>
                <a:spcPct val="97000"/>
              </a:lnSpc>
              <a:spcBef>
                <a:spcPts val="138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流密码也称为序列密码(Sequence</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Cipher)</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12700" algn="l" rtl="0" eaLnBrk="0">
              <a:lnSpc>
                <a:spcPts val="3300"/>
              </a:lnSpc>
              <a:spcBef>
                <a:spcPts val="815"/>
              </a:spcBef>
            </a:pPr>
            <a:r>
              <a:rPr sz="2700" kern="0" spc="6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b="1" kern="0" spc="60" dirty="0">
                <a:solidFill>
                  <a:srgbClr val="000000">
                    <a:alpha val="100000"/>
                  </a:srgbClr>
                </a:solidFill>
                <a:latin typeface="仿宋" panose="02010609060101010101" charset="-122"/>
                <a:ea typeface="仿宋" panose="02010609060101010101" charset="-122"/>
                <a:cs typeface="仿宋" panose="02010609060101010101" charset="-122"/>
              </a:rPr>
              <a:t>流密码在20世纪50年代得到飞跃式发展</a:t>
            </a:r>
            <a:endParaRPr sz="2700" dirty="0">
              <a:latin typeface="仿宋" panose="02010609060101010101" charset="-122"/>
              <a:ea typeface="仿宋" panose="02010609060101010101" charset="-122"/>
              <a:cs typeface="仿宋" panose="02010609060101010101" charset="-122"/>
            </a:endParaRPr>
          </a:p>
          <a:p>
            <a:pPr marL="708660" indent="-241935" algn="l" rtl="0" eaLnBrk="0">
              <a:lnSpc>
                <a:spcPct val="112000"/>
              </a:lnSpc>
              <a:spcBef>
                <a:spcPts val="1405"/>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630" dirty="0">
                <a:solidFill>
                  <a:srgbClr val="000000">
                    <a:alpha val="100000"/>
                  </a:srgbClr>
                </a:solidFill>
                <a:latin typeface="Arial" panose="020B0604020202020204"/>
                <a:ea typeface="Arial" panose="020B0604020202020204"/>
                <a:cs typeface="Arial" panose="020B06040202020202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密钥流可以用移位寄存器电路来产生，也促进了线性和</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非线性移位寄存器发展</a:t>
            </a:r>
            <a:endParaRPr sz="2400" dirty="0">
              <a:latin typeface="仿宋" panose="02010609060101010101" charset="-122"/>
              <a:ea typeface="仿宋" panose="02010609060101010101" charset="-122"/>
              <a:cs typeface="仿宋" panose="02010609060101010101" charset="-122"/>
            </a:endParaRPr>
          </a:p>
          <a:p>
            <a:pPr algn="l" rtl="0" eaLnBrk="0">
              <a:lnSpc>
                <a:spcPct val="100000"/>
              </a:lnSpc>
            </a:pPr>
            <a:endParaRPr sz="13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466725" algn="l" rtl="0" eaLnBrk="0">
              <a:lnSpc>
                <a:spcPct val="100000"/>
              </a:lnSpc>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流密码主要是基于硬件实现</a:t>
            </a:r>
            <a:endParaRPr sz="2400" dirty="0">
              <a:latin typeface="仿宋" panose="02010609060101010101" charset="-122"/>
              <a:ea typeface="仿宋" panose="02010609060101010101" charset="-122"/>
              <a:cs typeface="仿宋" panose="02010609060101010101" charset="-122"/>
            </a:endParaRPr>
          </a:p>
        </p:txBody>
      </p:sp>
      <p:sp>
        <p:nvSpPr>
          <p:cNvPr id="146" name="textbox 146"/>
          <p:cNvSpPr/>
          <p:nvPr/>
        </p:nvSpPr>
        <p:spPr>
          <a:xfrm>
            <a:off x="1553649" y="384271"/>
            <a:ext cx="203707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50" dirty="0">
                <a:solidFill>
                  <a:srgbClr val="1F4E79">
                    <a:alpha val="100000"/>
                  </a:srgbClr>
                </a:solidFill>
                <a:latin typeface="仿宋" panose="02010609060101010101" charset="-122"/>
                <a:ea typeface="仿宋" panose="02010609060101010101" charset="-122"/>
                <a:cs typeface="仿宋" panose="02010609060101010101" charset="-122"/>
              </a:rPr>
              <a:t>流密码概况</a:t>
            </a:r>
            <a:endParaRPr sz="3200" dirty="0">
              <a:latin typeface="仿宋" panose="02010609060101010101" charset="-122"/>
              <a:ea typeface="仿宋" panose="02010609060101010101"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799590" y="1083945"/>
            <a:ext cx="8567420" cy="5116830"/>
          </a:xfrm>
          <a:prstGeom prst="rect">
            <a:avLst/>
          </a:prstGeom>
        </p:spPr>
      </p:pic>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628140" y="1167765"/>
            <a:ext cx="8703310" cy="495998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242695" y="1176655"/>
            <a:ext cx="9259570" cy="429704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396365" y="1252855"/>
            <a:ext cx="9852660" cy="431482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396365" y="1252855"/>
            <a:ext cx="9852660" cy="431482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流密码</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—RC4</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6" name="图片 5"/>
          <p:cNvPicPr>
            <a:picLocks noChangeAspect="1"/>
          </p:cNvPicPr>
          <p:nvPr/>
        </p:nvPicPr>
        <p:blipFill>
          <a:blip r:embed="rId2"/>
          <a:stretch>
            <a:fillRect/>
          </a:stretch>
        </p:blipFill>
        <p:spPr>
          <a:xfrm>
            <a:off x="1448435" y="1219200"/>
            <a:ext cx="9227820" cy="466407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7" name="图片 6"/>
          <p:cNvPicPr>
            <a:picLocks noChangeAspect="1"/>
          </p:cNvPicPr>
          <p:nvPr/>
        </p:nvPicPr>
        <p:blipFill>
          <a:blip r:embed="rId2"/>
          <a:stretch>
            <a:fillRect/>
          </a:stretch>
        </p:blipFill>
        <p:spPr>
          <a:xfrm>
            <a:off x="1416050" y="1280160"/>
            <a:ext cx="9086850" cy="284734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70025" y="1220470"/>
            <a:ext cx="9045575" cy="441769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628140" y="1223645"/>
            <a:ext cx="8422640" cy="455485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7" name="图片 6"/>
          <p:cNvPicPr>
            <a:picLocks noChangeAspect="1"/>
          </p:cNvPicPr>
          <p:nvPr/>
        </p:nvPicPr>
        <p:blipFill>
          <a:blip r:embed="rId2"/>
          <a:stretch>
            <a:fillRect/>
          </a:stretch>
        </p:blipFill>
        <p:spPr>
          <a:xfrm>
            <a:off x="1386205" y="1242695"/>
            <a:ext cx="8803005" cy="473138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8" name="图片 7"/>
          <p:cNvPicPr>
            <a:picLocks noChangeAspect="1"/>
          </p:cNvPicPr>
          <p:nvPr/>
        </p:nvPicPr>
        <p:blipFill>
          <a:blip r:embed="rId2"/>
          <a:stretch>
            <a:fillRect/>
          </a:stretch>
        </p:blipFill>
        <p:spPr>
          <a:xfrm>
            <a:off x="1395730" y="1202055"/>
            <a:ext cx="9352280" cy="416496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p:nvPr/>
        </p:nvSpPr>
        <p:spPr>
          <a:xfrm>
            <a:off x="3183057" y="1970831"/>
            <a:ext cx="5465445" cy="715644"/>
          </a:xfrm>
          <a:prstGeom prst="rect">
            <a:avLst/>
          </a:prstGeom>
        </p:spPr>
        <p:txBody>
          <a:bodyPr vert="horz" wrap="square" lIns="0" tIns="0" rIns="0" bIns="0"/>
          <a:lstStyle/>
          <a:p>
            <a:pPr algn="l" rtl="0" eaLnBrk="0">
              <a:lnSpc>
                <a:spcPct val="100000"/>
              </a:lnSpc>
            </a:pPr>
            <a:endParaRPr lang="en-US" altLang="en-US" sz="100" dirty="0"/>
          </a:p>
          <a:p>
            <a:pPr marL="12700" algn="l" rtl="0" eaLnBrk="0">
              <a:lnSpc>
                <a:spcPct val="94000"/>
              </a:lnSpc>
              <a:spcBef>
                <a:spcPts val="0"/>
              </a:spcBef>
            </a:pPr>
            <a:r>
              <a:rPr sz="4800" kern="0" spc="-40" dirty="0">
                <a:solidFill>
                  <a:srgbClr val="1F4E79">
                    <a:alpha val="100000"/>
                  </a:srgbClr>
                </a:solidFill>
                <a:latin typeface="仿宋" panose="02010609060101010101" charset="-122"/>
                <a:ea typeface="仿宋" panose="02010609060101010101" charset="-122"/>
                <a:cs typeface="仿宋" panose="02010609060101010101" charset="-122"/>
              </a:rPr>
              <a:t>公钥密码学基本概念</a:t>
            </a:r>
            <a:endParaRPr lang="en-US" altLang="en-US" sz="4800" dirty="0"/>
          </a:p>
        </p:txBody>
      </p:sp>
      <p:sp>
        <p:nvSpPr>
          <p:cNvPr id="8" name="rect"/>
          <p:cNvSpPr/>
          <p:nvPr/>
        </p:nvSpPr>
        <p:spPr>
          <a:xfrm>
            <a:off x="1962103" y="5972175"/>
            <a:ext cx="7845518" cy="57149"/>
          </a:xfrm>
          <a:prstGeom prst="rect">
            <a:avLst/>
          </a:prstGeom>
          <a:solidFill>
            <a:srgbClr val="9DC3E6">
              <a:alpha val="100000"/>
            </a:srgbClr>
          </a:solidFill>
          <a:ln cap="flat">
            <a:noFill/>
            <a:prstDash val="solid"/>
            <a:miter lim="0"/>
          </a:ln>
        </p:spPr>
        <p:txBody>
          <a:bodyPr rtlCol="0"/>
          <a:lstStyle/>
          <a:p>
            <a:pPr algn="ctr"/>
            <a:endParaRPr lang="zh-CN" altLang="en-US"/>
          </a:p>
        </p:txBody>
      </p:sp>
      <p:sp>
        <p:nvSpPr>
          <p:cNvPr id="3"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dirty="0">
                <a:latin typeface="仿宋" panose="02010609060101010101" charset="-122"/>
                <a:ea typeface="仿宋" panose="02010609060101010101" charset="-122"/>
                <a:cs typeface="仿宋" panose="02010609060101010101" charset="-122"/>
              </a:rPr>
              <a:t>一、公钥密码学的基本概念</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rPr>
              <a:t>二、公钥密码学的基本思想</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altLang="en-US" sz="3600" dirty="0">
                <a:latin typeface="仿宋" panose="02010609060101010101" charset="-122"/>
                <a:ea typeface="仿宋" panose="02010609060101010101" charset="-122"/>
                <a:cs typeface="仿宋" panose="02010609060101010101" charset="-122"/>
              </a:rPr>
              <a:t>三、</a:t>
            </a:r>
            <a:r>
              <a:rPr lang="en-US" altLang="zh-CN" sz="3600" dirty="0">
                <a:latin typeface="仿宋" panose="02010609060101010101" charset="-122"/>
                <a:ea typeface="仿宋" panose="02010609060101010101" charset="-122"/>
                <a:cs typeface="仿宋" panose="02010609060101010101" charset="-122"/>
              </a:rPr>
              <a:t>RSA</a:t>
            </a:r>
            <a:r>
              <a:rPr lang="zh-CN" altLang="en-US" sz="3600" dirty="0">
                <a:latin typeface="仿宋" panose="02010609060101010101" charset="-122"/>
                <a:ea typeface="仿宋" panose="02010609060101010101" charset="-122"/>
                <a:cs typeface="仿宋" panose="02010609060101010101" charset="-122"/>
              </a:rPr>
              <a:t>公钥密码</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521460" y="1150620"/>
            <a:ext cx="8883015" cy="4993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50" name="textbox 50"/>
          <p:cNvSpPr/>
          <p:nvPr/>
        </p:nvSpPr>
        <p:spPr>
          <a:xfrm>
            <a:off x="1946910" y="1745615"/>
            <a:ext cx="8874760" cy="1286510"/>
          </a:xfrm>
          <a:prstGeom prst="rect">
            <a:avLst/>
          </a:prstGeom>
        </p:spPr>
        <p:txBody>
          <a:bodyPr vert="horz" wrap="square" lIns="0" tIns="0" rIns="0" bIns="0"/>
          <a:p>
            <a:pPr algn="l" rtl="0" eaLnBrk="0">
              <a:lnSpc>
                <a:spcPct val="65000"/>
              </a:lnSpc>
            </a:pPr>
            <a:endParaRPr lang="en-US" altLang="en-US" sz="100" b="1" dirty="0">
              <a:latin typeface="宋体" panose="02010600030101010101" pitchFamily="2" charset="-122"/>
              <a:ea typeface="宋体" panose="02010600030101010101" pitchFamily="2" charset="-122"/>
              <a:cs typeface="宋体" panose="02010600030101010101" pitchFamily="2" charset="-122"/>
            </a:endParaRPr>
          </a:p>
          <a:p>
            <a:pPr marL="252095" indent="-240030" algn="l" rtl="0" eaLnBrk="0">
              <a:lnSpc>
                <a:spcPct val="93000"/>
              </a:lnSpc>
            </a:pP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5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对称密码体制(例如</a:t>
            </a:r>
            <a:r>
              <a:rPr lang="zh-CN"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DES,</a:t>
            </a:r>
            <a:r>
              <a:rPr sz="24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AES)</a:t>
            </a:r>
            <a:r>
              <a:rPr sz="2400" b="1" kern="0" spc="3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允许两个用户利用提前共</a:t>
            </a:r>
            <a:r>
              <a:rPr sz="2400" b="1"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享的秘密来建立“安</a:t>
            </a:r>
            <a:r>
              <a:rPr sz="2400" b="1"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全信道”</a:t>
            </a: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5000"/>
              </a:lnSpc>
            </a:pP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0000"/>
              </a:lnSpc>
            </a:pPr>
            <a:endParaRPr lang="en-US" altLang="en-US" sz="600" b="1" dirty="0">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99000"/>
              </a:lnSpc>
              <a:spcBef>
                <a:spcPts val="5"/>
              </a:spcBef>
            </a:pP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5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通信双方共享秘密并</a:t>
            </a: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不容易</a:t>
            </a:r>
            <a:r>
              <a:rPr sz="2400" b="1" kern="0" spc="-9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p:txBody>
      </p:sp>
      <p:sp>
        <p:nvSpPr>
          <p:cNvPr id="8" name="文本框 7"/>
          <p:cNvSpPr txBox="1"/>
          <p:nvPr/>
        </p:nvSpPr>
        <p:spPr>
          <a:xfrm>
            <a:off x="1656080" y="1177290"/>
            <a:ext cx="5062220" cy="460375"/>
          </a:xfrm>
          <a:prstGeom prst="rect">
            <a:avLst/>
          </a:prstGeom>
          <a:noFill/>
        </p:spPr>
        <p:txBody>
          <a:bodyPr wrap="square" rtlCol="0">
            <a:spAutoFit/>
          </a:bodyPr>
          <a:p>
            <a:pPr marL="342900" indent="-342900">
              <a:buFont typeface="Wingdings" panose="05000000000000000000" pitchFamily="2" charset="2"/>
              <a:buChar char="Ø"/>
            </a:pPr>
            <a:r>
              <a:rPr lang="zh-CN" altLang="en-US" sz="2400" b="1">
                <a:solidFill>
                  <a:srgbClr val="FF0000"/>
                </a:solidFill>
                <a:latin typeface="宋体" panose="02010600030101010101" pitchFamily="2" charset="-122"/>
                <a:ea typeface="宋体" panose="02010600030101010101" pitchFamily="2" charset="-122"/>
              </a:rPr>
              <a:t>对称密码</a:t>
            </a:r>
            <a:r>
              <a:rPr lang="zh-CN" altLang="en-US" sz="2400" b="1">
                <a:solidFill>
                  <a:srgbClr val="FF0000"/>
                </a:solidFill>
                <a:latin typeface="宋体" panose="02010600030101010101" pitchFamily="2" charset="-122"/>
                <a:ea typeface="宋体" panose="02010600030101010101" pitchFamily="2" charset="-122"/>
              </a:rPr>
              <a:t>体制</a:t>
            </a:r>
            <a:endParaRPr lang="zh-CN" altLang="en-US" sz="2400" b="1">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386840" y="352234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278495" y="342201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64" name="textbox 64"/>
          <p:cNvSpPr/>
          <p:nvPr/>
        </p:nvSpPr>
        <p:spPr>
          <a:xfrm>
            <a:off x="1812290" y="1631950"/>
            <a:ext cx="8874760" cy="2069465"/>
          </a:xfrm>
          <a:prstGeom prst="rect">
            <a:avLst/>
          </a:prstGeom>
        </p:spPr>
        <p:txBody>
          <a:bodyPr vert="horz" wrap="square" lIns="0" tIns="0" rIns="0" bIns="0"/>
          <a:p>
            <a:pPr algn="l" rtl="0" eaLnBrk="0">
              <a:lnSpc>
                <a:spcPct val="105000"/>
              </a:lnSpc>
            </a:pP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考虑一个具有N个用户的团体，如果用户两两之间都</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需</a:t>
            </a:r>
            <a:r>
              <a:rPr sz="2400" b="1"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要进行安</a:t>
            </a:r>
            <a:r>
              <a:rPr lang="en-US" sz="2400" b="1"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lang="zh-CN" sz="2400" b="1"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全通信</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100000"/>
              </a:lnSpc>
              <a:spcBef>
                <a:spcPts val="720"/>
              </a:spcBef>
            </a:pP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采用对称密码体制来保护用</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户之间的通信:</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69900" algn="l" rtl="0" eaLnBrk="0">
              <a:lnSpc>
                <a:spcPct val="100000"/>
              </a:lnSpc>
              <a:spcBef>
                <a:spcPts val="205"/>
              </a:spcBef>
            </a:pP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58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每个用户需要与其余的N-1个用户共享私钥</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70535" algn="l" rtl="0" eaLnBrk="0">
              <a:lnSpc>
                <a:spcPct val="92000"/>
              </a:lnSpc>
              <a:spcBef>
                <a:spcPts val="265"/>
              </a:spcBef>
            </a:pP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5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整个系统需要管理N(N-1</a:t>
            </a: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)/2个密钥</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521460" y="1063625"/>
            <a:ext cx="5062220" cy="460375"/>
          </a:xfrm>
          <a:prstGeom prst="rect">
            <a:avLst/>
          </a:prstGeom>
          <a:noFill/>
        </p:spPr>
        <p:txBody>
          <a:bodyPr wrap="square" rtlCol="0">
            <a:spAutoFit/>
          </a:bodyPr>
          <a:p>
            <a:pPr marL="342900" indent="-342900">
              <a:buFont typeface="Wingdings" panose="05000000000000000000" pitchFamily="2" charset="2"/>
              <a:buChar char="Ø"/>
            </a:pPr>
            <a:r>
              <a:rPr lang="zh-CN" altLang="en-US" sz="2400" b="1">
                <a:solidFill>
                  <a:srgbClr val="FF0000"/>
                </a:solidFill>
                <a:latin typeface="宋体" panose="02010600030101010101" pitchFamily="2" charset="-122"/>
                <a:ea typeface="宋体" panose="02010600030101010101" pitchFamily="2" charset="-122"/>
              </a:rPr>
              <a:t>对称密码体制的密钥管理问题</a:t>
            </a:r>
            <a:endParaRPr lang="zh-CN" altLang="en-US" sz="2400" b="1">
              <a:solidFill>
                <a:srgbClr val="FF0000"/>
              </a:solidFill>
              <a:latin typeface="宋体" panose="02010600030101010101" pitchFamily="2" charset="-122"/>
              <a:ea typeface="宋体" panose="02010600030101010101" pitchFamily="2" charset="-122"/>
            </a:endParaRPr>
          </a:p>
        </p:txBody>
      </p:sp>
      <p:sp>
        <p:nvSpPr>
          <p:cNvPr id="78" name="textbox 78"/>
          <p:cNvSpPr/>
          <p:nvPr/>
        </p:nvSpPr>
        <p:spPr>
          <a:xfrm>
            <a:off x="1628140" y="4141470"/>
            <a:ext cx="9059545" cy="2028825"/>
          </a:xfrm>
          <a:prstGeom prst="rect">
            <a:avLst/>
          </a:prstGeom>
        </p:spPr>
        <p:txBody>
          <a:bodyPr vert="horz" wrap="square" lIns="0" tIns="0" rIns="0" bIns="0"/>
          <a:p>
            <a:pPr algn="l" rtl="0" eaLnBrk="0">
              <a:lnSpc>
                <a:spcPct val="75000"/>
              </a:lnSpc>
            </a:pPr>
            <a:r>
              <a:rPr sz="24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3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用户之间如何在安全通信前共享秘密?</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70535" algn="l" rtl="0" eaLnBrk="0">
              <a:lnSpc>
                <a:spcPct val="100000"/>
              </a:lnSpc>
              <a:spcBef>
                <a:spcPts val="275"/>
              </a:spcBef>
            </a:pP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60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需要一个安全信道来共享密钥…</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28000"/>
              </a:lnSpc>
            </a:pP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尽管密钥分发可以采</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用如下方式解决</a:t>
            </a:r>
            <a:r>
              <a:rPr sz="2400" b="1" kern="0" spc="-9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69900" algn="l" rtl="0" eaLnBrk="0">
              <a:lnSpc>
                <a:spcPct val="95000"/>
              </a:lnSpc>
              <a:spcBef>
                <a:spcPts val="205"/>
              </a:spcBef>
            </a:pPr>
            <a:r>
              <a:rPr sz="2400" b="1" kern="0" spc="-4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5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4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例如,</a:t>
            </a:r>
            <a:r>
              <a:rPr sz="2400" b="1" kern="0" spc="16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4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物理接近,</a:t>
            </a:r>
            <a:r>
              <a:rPr sz="2400" b="1" kern="0" spc="20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4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可信“快递”</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algn="r" rtl="0" eaLnBrk="0">
              <a:lnSpc>
                <a:spcPct val="94000"/>
              </a:lnSpc>
              <a:spcBef>
                <a:spcPts val="360"/>
              </a:spcBef>
            </a:pP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ln w="7356"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注意</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20" dirty="0">
                <a:ln w="7356"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这并不意味着对称</a:t>
            </a:r>
            <a:r>
              <a:rPr sz="2400" b="1" kern="0" spc="10" dirty="0">
                <a:ln w="7356"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密码体制没有意义</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1628140" y="3573780"/>
            <a:ext cx="5062220" cy="460375"/>
          </a:xfrm>
          <a:prstGeom prst="rect">
            <a:avLst/>
          </a:prstGeom>
          <a:noFill/>
        </p:spPr>
        <p:txBody>
          <a:bodyPr wrap="square" rtlCol="0">
            <a:spAutoFit/>
          </a:bodyPr>
          <a:p>
            <a:pPr marL="342900" indent="-342900">
              <a:buFont typeface="Wingdings" panose="05000000000000000000" pitchFamily="2" charset="2"/>
              <a:buChar char="Ø"/>
            </a:pPr>
            <a:r>
              <a:rPr lang="zh-CN" altLang="en-US" sz="2400" b="1">
                <a:solidFill>
                  <a:srgbClr val="FF0000"/>
                </a:solidFill>
                <a:latin typeface="宋体" panose="02010600030101010101" pitchFamily="2" charset="-122"/>
                <a:ea typeface="宋体" panose="02010600030101010101" pitchFamily="2" charset="-122"/>
              </a:rPr>
              <a:t>密钥</a:t>
            </a:r>
            <a:r>
              <a:rPr lang="zh-CN" altLang="en-US" sz="2400" b="1">
                <a:solidFill>
                  <a:srgbClr val="FF0000"/>
                </a:solidFill>
                <a:latin typeface="宋体" panose="02010600030101010101" pitchFamily="2" charset="-122"/>
                <a:ea typeface="宋体" panose="02010600030101010101" pitchFamily="2" charset="-122"/>
              </a:rPr>
              <a:t>分发</a:t>
            </a:r>
            <a:endParaRPr lang="zh-CN" altLang="en-US" sz="2400" b="1">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8278495" y="342201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7" name="文本框 6"/>
          <p:cNvSpPr txBox="1"/>
          <p:nvPr/>
        </p:nvSpPr>
        <p:spPr>
          <a:xfrm>
            <a:off x="1521460" y="1063625"/>
            <a:ext cx="5062220" cy="460375"/>
          </a:xfrm>
          <a:prstGeom prst="rect">
            <a:avLst/>
          </a:prstGeom>
          <a:noFill/>
        </p:spPr>
        <p:txBody>
          <a:bodyPr wrap="square" rtlCol="0">
            <a:spAutoFit/>
          </a:bodyPr>
          <a:p>
            <a:pPr marL="342900" indent="-342900">
              <a:buFont typeface="Wingdings" panose="05000000000000000000" pitchFamily="2" charset="2"/>
              <a:buChar char="Ø"/>
            </a:pPr>
            <a:r>
              <a:rPr lang="zh-CN" altLang="en-US" sz="2400" b="1">
                <a:solidFill>
                  <a:srgbClr val="FF0000"/>
                </a:solidFill>
                <a:latin typeface="宋体" panose="02010600030101010101" pitchFamily="2" charset="-122"/>
                <a:ea typeface="宋体" panose="02010600030101010101" pitchFamily="2" charset="-122"/>
              </a:rPr>
              <a:t>对称密码</a:t>
            </a:r>
            <a:r>
              <a:rPr lang="zh-CN" altLang="en-US" sz="2400" b="1">
                <a:solidFill>
                  <a:srgbClr val="FF0000"/>
                </a:solidFill>
                <a:latin typeface="宋体" panose="02010600030101010101" pitchFamily="2" charset="-122"/>
                <a:ea typeface="宋体" panose="02010600030101010101" pitchFamily="2" charset="-122"/>
              </a:rPr>
              <a:t>体制不支持“开放系统”</a:t>
            </a:r>
            <a:endParaRPr lang="zh-CN" altLang="en-US" sz="2400" b="1">
              <a:solidFill>
                <a:srgbClr val="FF0000"/>
              </a:solidFill>
              <a:latin typeface="宋体" panose="02010600030101010101" pitchFamily="2" charset="-122"/>
              <a:ea typeface="宋体" panose="02010600030101010101" pitchFamily="2" charset="-122"/>
            </a:endParaRPr>
          </a:p>
        </p:txBody>
      </p:sp>
      <p:sp>
        <p:nvSpPr>
          <p:cNvPr id="90" name="textbox 90"/>
          <p:cNvSpPr/>
          <p:nvPr/>
        </p:nvSpPr>
        <p:spPr>
          <a:xfrm>
            <a:off x="2006600" y="1607185"/>
            <a:ext cx="8496300" cy="2421255"/>
          </a:xfrm>
          <a:prstGeom prst="rect">
            <a:avLst/>
          </a:prstGeom>
        </p:spPr>
        <p:txBody>
          <a:bodyPr vert="horz" wrap="square" lIns="0" tIns="0" rIns="0" bIns="0"/>
          <a:p>
            <a:pPr algn="l" rtl="0" eaLnBrk="0">
              <a:lnSpc>
                <a:spcPct val="77000"/>
              </a:lnSpc>
            </a:pPr>
            <a:r>
              <a:rPr sz="2400" b="1"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如果两个没有预先建立关</a:t>
            </a:r>
            <a:r>
              <a:rPr sz="2400" b="1"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系的用户需要建立安全通信，</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70535" algn="l" rtl="0" eaLnBrk="0">
              <a:lnSpc>
                <a:spcPct val="100000"/>
              </a:lnSpc>
              <a:spcBef>
                <a:spcPts val="275"/>
              </a:spcBef>
            </a:pPr>
            <a:r>
              <a:rPr sz="2400" b="1" kern="0" spc="-1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8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他们什么时候共享密钥呢？</a:t>
            </a:r>
            <a:endParaRPr sz="2400" b="1" kern="0" spc="-1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endParaRPr>
          </a:p>
          <a:p>
            <a:pPr marL="470535" algn="l" rtl="0" eaLnBrk="0">
              <a:lnSpc>
                <a:spcPct val="100000"/>
              </a:lnSpc>
              <a:spcBef>
                <a:spcPts val="275"/>
              </a:spcBef>
            </a:pP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100000"/>
              </a:lnSpc>
              <a:spcBef>
                <a:spcPts val="730"/>
              </a:spcBef>
            </a:pPr>
            <a:r>
              <a:rPr sz="24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5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这个场景并不遥远!</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69900" algn="l" rtl="0" eaLnBrk="0">
              <a:lnSpc>
                <a:spcPct val="100000"/>
              </a:lnSpc>
              <a:spcBef>
                <a:spcPts val="205"/>
              </a:spcBef>
            </a:pP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6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顾客发送信用卡信息给商</a:t>
            </a:r>
            <a:r>
              <a:rPr sz="2400" b="1" kern="0" spc="-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家</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469900" algn="l" rtl="0" eaLnBrk="0">
              <a:lnSpc>
                <a:spcPct val="99000"/>
              </a:lnSpc>
              <a:spcBef>
                <a:spcPts val="220"/>
              </a:spcBef>
            </a:pP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5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用户发送电子邮件给单</a:t>
            </a:r>
            <a:r>
              <a:rPr sz="2400" b="1" kern="0" spc="-2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位中的所有同事</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p:txBody>
      </p:sp>
      <p:sp>
        <p:nvSpPr>
          <p:cNvPr id="102" name="textbox 102"/>
          <p:cNvSpPr/>
          <p:nvPr/>
        </p:nvSpPr>
        <p:spPr>
          <a:xfrm>
            <a:off x="1521460" y="4422775"/>
            <a:ext cx="8994140" cy="1419225"/>
          </a:xfrm>
          <a:prstGeom prst="rect">
            <a:avLst/>
          </a:prstGeom>
        </p:spPr>
        <p:txBody>
          <a:bodyPr vert="horz" wrap="square" lIns="0" tIns="0" rIns="0" bIns="0"/>
          <a:p>
            <a:pPr algn="l" rtl="0" eaLnBrk="0">
              <a:lnSpc>
                <a:spcPct val="79000"/>
              </a:lnSpc>
            </a:pPr>
            <a:r>
              <a:rPr sz="3200" kern="0" spc="-40" dirty="0">
                <a:solidFill>
                  <a:srgbClr val="1F4E79">
                    <a:alpha val="100000"/>
                  </a:srgbClr>
                </a:solidFill>
                <a:latin typeface="黑体" panose="02010609060101010101" charset="-122"/>
                <a:ea typeface="黑体" panose="02010609060101010101" charset="-122"/>
                <a:cs typeface="黑体" panose="02010609060101010101" charset="-122"/>
              </a:rPr>
              <a:t>“</a:t>
            </a:r>
            <a:r>
              <a:rPr sz="3200" kern="0" spc="-740" dirty="0">
                <a:solidFill>
                  <a:srgbClr val="1F4E79">
                    <a:alpha val="100000"/>
                  </a:srgbClr>
                </a:solidFill>
                <a:latin typeface="黑体" panose="02010609060101010101" charset="-122"/>
                <a:ea typeface="黑体" panose="02010609060101010101" charset="-122"/>
                <a:cs typeface="黑体" panose="02010609060101010101" charset="-122"/>
              </a:rPr>
              <a:t> </a:t>
            </a:r>
            <a:r>
              <a:rPr sz="3200" kern="0" spc="-40" dirty="0">
                <a:solidFill>
                  <a:srgbClr val="1F4E79">
                    <a:alpha val="100000"/>
                  </a:srgbClr>
                </a:solidFill>
                <a:latin typeface="黑体" panose="02010609060101010101" charset="-122"/>
                <a:ea typeface="黑体" panose="02010609060101010101" charset="-122"/>
                <a:cs typeface="黑体" panose="02010609060101010101" charset="-122"/>
              </a:rPr>
              <a:t>传统的”对称密码体制无法</a:t>
            </a:r>
            <a:r>
              <a:rPr sz="3200" kern="0" spc="-50" dirty="0">
                <a:solidFill>
                  <a:srgbClr val="1F4E79">
                    <a:alpha val="100000"/>
                  </a:srgbClr>
                </a:solidFill>
                <a:latin typeface="黑体" panose="02010609060101010101" charset="-122"/>
                <a:ea typeface="黑体" panose="02010609060101010101" charset="-122"/>
                <a:cs typeface="黑体" panose="02010609060101010101" charset="-122"/>
              </a:rPr>
              <a:t>解决上述问题!</a:t>
            </a:r>
            <a:endParaRPr lang="en-US" altLang="en-US" sz="32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465580" y="1063625"/>
            <a:ext cx="8900795" cy="47809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132" name="textbox 132"/>
          <p:cNvSpPr/>
          <p:nvPr/>
        </p:nvSpPr>
        <p:spPr>
          <a:xfrm>
            <a:off x="1465580" y="1354455"/>
            <a:ext cx="9050020" cy="4076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主要思想:</a:t>
            </a:r>
            <a:endParaRPr lang="en-US"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sp>
        <p:nvSpPr>
          <p:cNvPr id="144" name="textbox 144"/>
          <p:cNvSpPr/>
          <p:nvPr/>
        </p:nvSpPr>
        <p:spPr>
          <a:xfrm>
            <a:off x="1725295" y="1762125"/>
            <a:ext cx="9008745" cy="1612900"/>
          </a:xfrm>
          <a:prstGeom prst="rect">
            <a:avLst/>
          </a:prstGeom>
        </p:spPr>
        <p:txBody>
          <a:bodyPr vert="horz" wrap="square" lIns="0" tIns="0" rIns="0" bIns="0"/>
          <a:p>
            <a:pPr algn="l" rtl="0" eaLnBrk="0">
              <a:lnSpc>
                <a:spcPct val="82000"/>
              </a:lnSpc>
            </a:pPr>
            <a:r>
              <a:rPr sz="24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3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每个用户生成一个密钥对：一个公钥</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pk</a:t>
            </a:r>
            <a:r>
              <a:rPr sz="24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和一个对应</a:t>
            </a:r>
            <a:r>
              <a:rPr lang="zh-CN" sz="24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a:t>
            </a:r>
            <a:r>
              <a:rPr sz="24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私钥</a:t>
            </a:r>
            <a:r>
              <a:rPr sz="2400" kern="0" spc="-5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sk</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a:p>
            <a:pPr marL="467995" algn="l" rtl="0" eaLnBrk="0">
              <a:lnSpc>
                <a:spcPct val="98000"/>
              </a:lnSpc>
              <a:spcBef>
                <a:spcPts val="25"/>
              </a:spcBef>
            </a:pPr>
            <a:r>
              <a:rPr sz="2400" kern="0" spc="-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5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公钥将在系统内被公开</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a:p>
            <a:pPr marL="467995" algn="l" rtl="0" eaLnBrk="0">
              <a:lnSpc>
                <a:spcPct val="99000"/>
              </a:lnSpc>
              <a:spcBef>
                <a:spcPts val="320"/>
              </a:spcBef>
            </a:pPr>
            <a:r>
              <a:rPr sz="2400" kern="0" spc="-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55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rgbClr val="385723">
                    <a:alpha val="100000"/>
                  </a:srgbClr>
                </a:solidFill>
                <a:latin typeface="宋体" panose="02010600030101010101" pitchFamily="2" charset="-122"/>
                <a:ea typeface="宋体" panose="02010600030101010101" pitchFamily="2" charset="-122"/>
                <a:cs typeface="宋体" panose="02010600030101010101" pitchFamily="2" charset="-122"/>
              </a:rPr>
              <a:t>私钥由用户本人安全保管</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142" name="textbox 142"/>
          <p:cNvSpPr/>
          <p:nvPr/>
        </p:nvSpPr>
        <p:spPr>
          <a:xfrm>
            <a:off x="1725295" y="3101340"/>
            <a:ext cx="8790305" cy="1713230"/>
          </a:xfrm>
          <a:prstGeom prst="rect">
            <a:avLst/>
          </a:prstGeom>
        </p:spPr>
        <p:txBody>
          <a:bodyPr vert="horz" wrap="square" lIns="0" tIns="0" rIns="0" bIns="0"/>
          <a:p>
            <a:pPr algn="l" rtl="0" eaLnBrk="0">
              <a:lnSpc>
                <a:spcPct val="102000"/>
              </a:lnSpc>
            </a:pP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3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私钥由用户本人使用</a:t>
            </a:r>
            <a:r>
              <a:rPr lang="zh-CN"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而公钥则由系统中其他用</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户使用</a:t>
            </a:r>
            <a:endPar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endParaRPr>
          </a:p>
          <a:p>
            <a:pPr algn="l" rtl="0" eaLnBrk="0">
              <a:lnSpc>
                <a:spcPct val="102000"/>
              </a:lnSpc>
            </a:pPr>
            <a:endParaRPr lang="en-US" altLang="en-US"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3000"/>
              </a:lnSpc>
            </a:pP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3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公钥密码体制也被称为</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非对称密码体制</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132" name="textbox 132"/>
          <p:cNvSpPr/>
          <p:nvPr/>
        </p:nvSpPr>
        <p:spPr>
          <a:xfrm>
            <a:off x="1465580" y="1354455"/>
            <a:ext cx="9050020" cy="22618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主要思想:</a:t>
            </a:r>
            <a:endParaRPr lang="en-US" altLang="en-US" sz="2400" b="1" dirty="0">
              <a:latin typeface="宋体" panose="02010600030101010101" pitchFamily="2" charset="-122"/>
              <a:ea typeface="宋体" panose="02010600030101010101" pitchFamily="2" charset="-122"/>
              <a:cs typeface="宋体" panose="02010600030101010101" pitchFamily="2" charset="-122"/>
            </a:endParaRPr>
          </a:p>
          <a:p>
            <a:pPr marL="704215" indent="-236220" algn="l" rtl="0" eaLnBrk="0">
              <a:lnSpc>
                <a:spcPct val="93000"/>
              </a:lnSpc>
              <a:spcBef>
                <a:spcPts val="90"/>
              </a:spcBef>
            </a:pPr>
            <a:r>
              <a:rPr sz="2400" kern="0" spc="-3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a:t>
            </a:r>
            <a:r>
              <a:rPr sz="2400" kern="0" spc="5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一些问题呈现出“</a:t>
            </a:r>
            <a:r>
              <a:rPr sz="2400" kern="0" spc="-3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非对称性</a:t>
            </a:r>
            <a:r>
              <a:rPr sz="2400" kern="0" spc="-8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a:t>
            </a:r>
            <a:r>
              <a:rPr sz="2400" kern="0" spc="1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从一个方向计算非常</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容易，而从另一个方向计算则很困难</a:t>
            </a: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l" rtl="0" eaLnBrk="0">
              <a:lnSpc>
                <a:spcPct val="120000"/>
              </a:lnSpc>
            </a:pP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704215" indent="-236220" algn="l" rtl="0" eaLnBrk="0">
              <a:lnSpc>
                <a:spcPct val="90000"/>
              </a:lnSpc>
              <a:spcBef>
                <a:spcPts val="0"/>
              </a:spcBef>
            </a:pP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a:t>
            </a:r>
            <a:r>
              <a:rPr sz="2400" kern="0" spc="45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例如：计算任意给定整数的乘积很容易，而计算给定</a:t>
            </a:r>
            <a:r>
              <a:rPr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大整数的因子则非常困难</a:t>
            </a:r>
            <a:endParaRPr lang="en-US"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132" name="textbox 132"/>
          <p:cNvSpPr/>
          <p:nvPr/>
        </p:nvSpPr>
        <p:spPr>
          <a:xfrm>
            <a:off x="1465580" y="1354455"/>
            <a:ext cx="9050020" cy="4076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主要思想:</a:t>
            </a:r>
            <a:endParaRPr lang="en-US"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pic>
        <p:nvPicPr>
          <p:cNvPr id="158" name="picture 158"/>
          <p:cNvPicPr>
            <a:picLocks noChangeAspect="1"/>
          </p:cNvPicPr>
          <p:nvPr/>
        </p:nvPicPr>
        <p:blipFill>
          <a:blip r:embed="rId2"/>
          <a:srcRect t="2204"/>
          <a:stretch>
            <a:fillRect/>
          </a:stretch>
        </p:blipFill>
        <p:spPr>
          <a:xfrm rot="21600000">
            <a:off x="1915795" y="1656715"/>
            <a:ext cx="8361045" cy="44805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132" name="textbox 132"/>
          <p:cNvSpPr/>
          <p:nvPr/>
        </p:nvSpPr>
        <p:spPr>
          <a:xfrm>
            <a:off x="1465580" y="1277620"/>
            <a:ext cx="9050020" cy="4076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lang="zh-CN"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公钥密码体制的</a:t>
            </a:r>
            <a:r>
              <a:rPr lang="zh-CN"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优势</a:t>
            </a:r>
            <a:endParaRPr lang="zh-CN"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sp>
        <p:nvSpPr>
          <p:cNvPr id="172" name="textbox 172"/>
          <p:cNvSpPr/>
          <p:nvPr/>
        </p:nvSpPr>
        <p:spPr>
          <a:xfrm>
            <a:off x="1711960" y="1598930"/>
            <a:ext cx="9761220" cy="4637405"/>
          </a:xfrm>
          <a:prstGeom prst="rect">
            <a:avLst/>
          </a:prstGeom>
        </p:spPr>
        <p:txBody>
          <a:bodyPr vert="horz" wrap="square" lIns="0" tIns="0" rIns="0" bIns="0"/>
          <a:p>
            <a:pPr marL="342900" indent="-342900" algn="l" rtl="0" eaLnBrk="0">
              <a:lnSpc>
                <a:spcPct val="120000"/>
              </a:lnSpc>
              <a:buFont typeface="Arial" panose="020B0604020202020204" pitchFamily="34" charset="0"/>
              <a:buChar char="•"/>
            </a:pPr>
            <a:r>
              <a:rPr sz="2400" kern="0" spc="-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密钥分发：</a:t>
            </a:r>
            <a:endParaRPr sz="2400" kern="0" spc="-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a:p>
            <a:pPr marL="800100" lvl="1" indent="-342900" algn="l" rtl="0" eaLnBrk="0">
              <a:lnSpc>
                <a:spcPct val="120000"/>
              </a:lnSpc>
              <a:buFont typeface="Arial" panose="020B0604020202020204" pitchFamily="34" charset="0"/>
              <a:buChar char="•"/>
            </a:pPr>
            <a:r>
              <a:rPr sz="2400" kern="0" spc="-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公钥能够采用公开（认证的）信道进</a:t>
            </a:r>
            <a:r>
              <a:rPr sz="2400" kern="0" spc="-10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行传输；</a:t>
            </a: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342900" indent="-342900" algn="l" rtl="0" eaLnBrk="0">
              <a:lnSpc>
                <a:spcPct val="120000"/>
              </a:lnSpc>
              <a:buFont typeface="Arial" panose="020B0604020202020204" pitchFamily="34" charset="0"/>
              <a:buChar char="•"/>
            </a:pPr>
            <a:r>
              <a:rPr sz="2400" kern="0" spc="-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密钥管理：</a:t>
            </a:r>
            <a:endParaRPr sz="2400" kern="0" spc="-8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a:p>
            <a:pPr marL="800100" lvl="1" indent="-342900" algn="l" rtl="0" eaLnBrk="0">
              <a:lnSpc>
                <a:spcPct val="120000"/>
              </a:lnSpc>
              <a:buFont typeface="Arial" panose="020B0604020202020204" pitchFamily="34" charset="0"/>
              <a:buChar char="•"/>
            </a:pP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在用户N个用户的系统中，每个用户只需安全保管自</a:t>
            </a:r>
            <a:r>
              <a:rPr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己的私钥和N-1个其他用户的公钥。整个</a:t>
            </a:r>
            <a:r>
              <a:rPr sz="2400" kern="0" spc="-3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系统仅仅需</a:t>
            </a:r>
            <a:r>
              <a:rPr sz="2400" kern="0" spc="-1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要维护</a:t>
            </a:r>
            <a:r>
              <a:rPr lang="en-US" sz="2400" kern="0" spc="-1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1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N</a:t>
            </a:r>
            <a:r>
              <a:rPr lang="en-US" sz="2400" kern="0" spc="-1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 </a:t>
            </a:r>
            <a:r>
              <a:rPr sz="2400" kern="0" spc="-19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个公钥；</a:t>
            </a: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342900" indent="-342900" algn="l" rtl="0" eaLnBrk="0">
              <a:lnSpc>
                <a:spcPct val="120000"/>
              </a:lnSpc>
              <a:buFont typeface="Arial" panose="020B0604020202020204" pitchFamily="34" charset="0"/>
              <a:buChar char="•"/>
            </a:pPr>
            <a:r>
              <a:rPr sz="2400" kern="0" spc="-2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开放系统</a:t>
            </a:r>
            <a:r>
              <a:rPr lang="zh-CN" sz="2400" kern="0" spc="-2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a:t>
            </a:r>
            <a:endParaRPr lang="zh-CN" sz="2400" kern="0" spc="-2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a:p>
            <a:pPr marL="800100" lvl="1" indent="-342900" algn="l" rtl="0" eaLnBrk="0">
              <a:lnSpc>
                <a:spcPct val="120000"/>
              </a:lnSpc>
              <a:buFont typeface="Arial" panose="020B0604020202020204" pitchFamily="34" charset="0"/>
              <a:buChar char="•"/>
            </a:pP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即使是没有预先建立关系的用户也能通过</a:t>
            </a:r>
            <a:r>
              <a:rPr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对方的公钥</a:t>
            </a:r>
            <a:r>
              <a:rPr sz="2400" kern="0" spc="-5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建立安全通信。</a:t>
            </a:r>
            <a:endParaRPr lang="en-US" altLang="en-US" sz="2400" kern="0" spc="-5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852295" y="1717675"/>
            <a:ext cx="8842375" cy="3834765"/>
          </a:xfrm>
          <a:prstGeom prst="rect">
            <a:avLst/>
          </a:prstGeom>
        </p:spPr>
      </p:pic>
      <p:sp>
        <p:nvSpPr>
          <p:cNvPr id="3" name="textbox 132"/>
          <p:cNvSpPr/>
          <p:nvPr/>
        </p:nvSpPr>
        <p:spPr>
          <a:xfrm>
            <a:off x="1452880" y="1184275"/>
            <a:ext cx="9050020" cy="4076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lang="zh-CN" sz="32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公钥密码</a:t>
            </a:r>
            <a:r>
              <a:rPr sz="32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主要思想:</a:t>
            </a:r>
            <a:endParaRPr lang="en-US" altLang="en-US" sz="32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2"/>
          <a:stretch>
            <a:fillRect/>
          </a:stretch>
        </p:blipFill>
        <p:spPr>
          <a:xfrm>
            <a:off x="1465580" y="1264285"/>
            <a:ext cx="8595995" cy="414083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547495" y="1167130"/>
            <a:ext cx="8676005" cy="46748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2"/>
          <a:stretch>
            <a:fillRect/>
          </a:stretch>
        </p:blipFill>
        <p:spPr>
          <a:xfrm>
            <a:off x="1465580" y="1114425"/>
            <a:ext cx="9190990" cy="47218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465580" y="1019810"/>
            <a:ext cx="9453880" cy="50653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2"/>
          <a:stretch>
            <a:fillRect/>
          </a:stretch>
        </p:blipFill>
        <p:spPr>
          <a:xfrm>
            <a:off x="1465580" y="1189990"/>
            <a:ext cx="9240520" cy="4949190"/>
          </a:xfrm>
          <a:prstGeom prst="rect">
            <a:avLst/>
          </a:prstGeom>
        </p:spPr>
      </p:pic>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205865"/>
            <a:ext cx="8437245" cy="46075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147445"/>
            <a:ext cx="8161655" cy="31165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628140" y="1063625"/>
            <a:ext cx="8783955" cy="46348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191500" cy="326771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rcRect t="4813"/>
          <a:stretch>
            <a:fillRect/>
          </a:stretch>
        </p:blipFill>
        <p:spPr>
          <a:xfrm>
            <a:off x="1327150" y="1165225"/>
            <a:ext cx="8288655" cy="41459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182370"/>
            <a:ext cx="7788275" cy="41884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618220" cy="31616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1536700" y="1204595"/>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整除</a:t>
            </a:r>
            <a:endParaRPr lang="zh-CN" altLang="en-US" sz="2800"/>
          </a:p>
        </p:txBody>
      </p:sp>
      <p:sp>
        <p:nvSpPr>
          <p:cNvPr id="5" name="文本框 4"/>
          <p:cNvSpPr txBox="1"/>
          <p:nvPr/>
        </p:nvSpPr>
        <p:spPr>
          <a:xfrm>
            <a:off x="1742440" y="1726565"/>
            <a:ext cx="8887460" cy="829945"/>
          </a:xfrm>
          <a:prstGeom prst="rect">
            <a:avLst/>
          </a:prstGeom>
          <a:noFill/>
        </p:spPr>
        <p:txBody>
          <a:bodyPr wrap="square" rtlCol="0">
            <a:spAutoFit/>
          </a:bodyPr>
          <a:p>
            <a:pPr marL="342900" indent="-342900">
              <a:buFont typeface="Arial" panose="020B0604020202020204" pitchFamily="34" charset="0"/>
              <a:buChar char="•"/>
            </a:pPr>
            <a:r>
              <a:rPr lang="zh-CN" altLang="en-US" sz="2400"/>
              <a:t>设</a:t>
            </a:r>
            <a:r>
              <a:rPr lang="en-US" sz="2400" smtClean="0">
                <a:sym typeface="+mn-ea"/>
              </a:rPr>
              <a:t>a, b, m</a:t>
            </a:r>
            <a:r>
              <a:rPr lang="zh-CN" altLang="en-US" sz="2400" smtClean="0">
                <a:sym typeface="+mn-ea"/>
              </a:rPr>
              <a:t>均为正数，如果存在一个</a:t>
            </a:r>
            <a:r>
              <a:rPr lang="en-US" altLang="zh-CN" sz="2400" smtClean="0">
                <a:sym typeface="+mn-ea"/>
              </a:rPr>
              <a:t>m</a:t>
            </a:r>
            <a:r>
              <a:rPr lang="zh-CN" altLang="en-US" sz="2400" smtClean="0">
                <a:sym typeface="+mn-ea"/>
              </a:rPr>
              <a:t>使得</a:t>
            </a:r>
            <a:r>
              <a:rPr lang="en-US" sz="2400" smtClean="0">
                <a:sym typeface="+mn-ea"/>
              </a:rPr>
              <a:t>a = mb</a:t>
            </a:r>
            <a:r>
              <a:rPr lang="zh-CN" altLang="en-US" sz="2400" smtClean="0">
                <a:sym typeface="+mn-ea"/>
              </a:rPr>
              <a:t>，则称非零数</a:t>
            </a:r>
            <a:r>
              <a:rPr lang="en-US" sz="2400" smtClean="0">
                <a:sym typeface="+mn-ea"/>
              </a:rPr>
              <a:t>b</a:t>
            </a:r>
            <a:r>
              <a:rPr lang="zh-CN" altLang="en-US" sz="2400" b="1" smtClean="0">
                <a:sym typeface="+mn-ea"/>
              </a:rPr>
              <a:t>整除</a:t>
            </a:r>
            <a:r>
              <a:rPr lang="en-US" altLang="zh-CN" sz="2400" smtClean="0">
                <a:sym typeface="+mn-ea"/>
              </a:rPr>
              <a:t>a</a:t>
            </a:r>
            <a:r>
              <a:rPr lang="zh-CN" altLang="en-US" sz="2400" smtClean="0">
                <a:sym typeface="+mn-ea"/>
              </a:rPr>
              <a:t>，可以表示为</a:t>
            </a:r>
            <a:r>
              <a:rPr lang="en-US" sz="2400" smtClean="0">
                <a:sym typeface="+mn-ea"/>
              </a:rPr>
              <a:t>b | a</a:t>
            </a:r>
            <a:r>
              <a:rPr lang="zh-CN" altLang="en-US" sz="2400" smtClean="0">
                <a:sym typeface="+mn-ea"/>
              </a:rPr>
              <a:t>。</a:t>
            </a:r>
            <a:endParaRPr lang="zh-CN" altLang="en-US" sz="2400" smtClean="0">
              <a:sym typeface="+mn-ea"/>
            </a:endParaRPr>
          </a:p>
        </p:txBody>
      </p:sp>
      <p:sp>
        <p:nvSpPr>
          <p:cNvPr id="8" name="TextBox 6"/>
          <p:cNvSpPr txBox="1"/>
          <p:nvPr/>
        </p:nvSpPr>
        <p:spPr>
          <a:xfrm>
            <a:off x="2833370" y="2642870"/>
            <a:ext cx="6705600" cy="984250"/>
          </a:xfrm>
          <a:prstGeom prst="rect">
            <a:avLst/>
          </a:prstGeom>
          <a:solidFill>
            <a:schemeClr val="accent4">
              <a:lumMod val="40000"/>
              <a:lumOff val="60000"/>
            </a:schemeClr>
          </a:solidFill>
          <a:ln w="31750">
            <a:solidFill>
              <a:schemeClr val="accent4">
                <a:lumMod val="75000"/>
              </a:schemeClr>
            </a:solidFill>
          </a:ln>
        </p:spPr>
        <p:txBody>
          <a:bodyPr>
            <a:spAutoFit/>
          </a:bodyPr>
          <a:p>
            <a:pPr algn="ctr">
              <a:defRPr/>
            </a:pPr>
            <a:r>
              <a:rPr lang="en-US" dirty="0">
                <a:latin typeface="Arial" panose="020B0604020202020204" pitchFamily="34" charset="0"/>
              </a:rPr>
              <a:t> </a:t>
            </a:r>
            <a:r>
              <a:rPr lang="en-US" sz="2000" dirty="0">
                <a:latin typeface="+mn-lt"/>
              </a:rPr>
              <a:t>The positive divisors of 24 are 1, 2, 3, 4, 6, 8, 12, and 24</a:t>
            </a:r>
            <a:endParaRPr lang="en-US" sz="2000" dirty="0">
              <a:latin typeface="+mn-lt"/>
            </a:endParaRPr>
          </a:p>
          <a:p>
            <a:pPr algn="ctr">
              <a:defRPr/>
            </a:pPr>
            <a:r>
              <a:rPr lang="en-US" sz="2000" dirty="0">
                <a:latin typeface="+mn-lt"/>
              </a:rPr>
              <a:t>13 | 182; - 5 | 30; 17 | 289; - 3 | 33; 17 | 0</a:t>
            </a:r>
            <a:endParaRPr lang="en-US" sz="2000" dirty="0">
              <a:latin typeface="+mn-lt"/>
            </a:endParaRPr>
          </a:p>
          <a:p>
            <a:pPr algn="ctr">
              <a:defRPr/>
            </a:pPr>
            <a:endParaRPr lang="en-US" dirty="0">
              <a:latin typeface="Arial" panose="020B0604020202020204" pitchFamily="34" charset="0"/>
            </a:endParaRPr>
          </a:p>
        </p:txBody>
      </p:sp>
      <p:sp>
        <p:nvSpPr>
          <p:cNvPr id="2" name="Content Placeholder 2"/>
          <p:cNvSpPr>
            <a:spLocks noGrp="1"/>
          </p:cNvSpPr>
          <p:nvPr>
            <p:ph idx="1"/>
          </p:nvPr>
        </p:nvSpPr>
        <p:spPr>
          <a:xfrm>
            <a:off x="1968183" y="3627120"/>
            <a:ext cx="7570787" cy="4562475"/>
          </a:xfrm>
        </p:spPr>
        <p:txBody>
          <a:bodyPr rtlCol="0">
            <a:normAutofit lnSpcReduction="10000"/>
          </a:bodyPr>
          <a:p>
            <a:pPr fontAlgn="auto">
              <a:spcAft>
                <a:spcPts val="0"/>
              </a:spcAft>
              <a:buClr>
                <a:schemeClr val="accent1">
                  <a:lumMod val="60000"/>
                  <a:lumOff val="40000"/>
                </a:schemeClr>
              </a:buClr>
              <a:buFont typeface="Candara" panose="020E0502030303020204" pitchFamily="-84" charset="0"/>
              <a:buChar char="•"/>
              <a:defRPr/>
            </a:pPr>
            <a:r>
              <a:rPr lang="en-US" dirty="0" smtClean="0">
                <a:ea typeface="+mn-ea"/>
                <a:cs typeface="+mn-cs"/>
              </a:rPr>
              <a:t> If </a:t>
            </a:r>
            <a:r>
              <a:rPr lang="en-US" i="1" dirty="0" smtClean="0">
                <a:ea typeface="+mn-ea"/>
                <a:cs typeface="+mn-cs"/>
              </a:rPr>
              <a:t>a </a:t>
            </a:r>
            <a:r>
              <a:rPr lang="en-US" dirty="0" smtClean="0">
                <a:ea typeface="+mn-ea"/>
                <a:cs typeface="+mn-cs"/>
              </a:rPr>
              <a:t>| 1, then </a:t>
            </a:r>
            <a:r>
              <a:rPr lang="en-US" i="1" dirty="0" smtClean="0">
                <a:ea typeface="+mn-ea"/>
                <a:cs typeface="+mn-cs"/>
              </a:rPr>
              <a:t>a</a:t>
            </a:r>
            <a:r>
              <a:rPr lang="en-US" dirty="0" smtClean="0">
                <a:ea typeface="+mn-ea"/>
                <a:cs typeface="+mn-cs"/>
              </a:rPr>
              <a:t> = ±1</a:t>
            </a:r>
            <a:endParaRPr lang="en-US" dirty="0" smtClean="0">
              <a:ea typeface="+mn-ea"/>
              <a:cs typeface="+mn-cs"/>
            </a:endParaRPr>
          </a:p>
          <a:p>
            <a:pPr fontAlgn="auto">
              <a:spcAft>
                <a:spcPts val="0"/>
              </a:spcAft>
              <a:buClr>
                <a:schemeClr val="accent1">
                  <a:lumMod val="60000"/>
                  <a:lumOff val="40000"/>
                </a:schemeClr>
              </a:buClr>
              <a:buFont typeface="Candara" panose="020E0502030303020204" pitchFamily="-84" charset="0"/>
              <a:buChar char="•"/>
              <a:defRPr/>
            </a:pPr>
            <a:r>
              <a:rPr lang="en-US" dirty="0" smtClean="0">
                <a:ea typeface="+mn-ea"/>
                <a:cs typeface="+mn-cs"/>
              </a:rPr>
              <a:t> If </a:t>
            </a:r>
            <a:r>
              <a:rPr lang="en-US" i="1" dirty="0" smtClean="0">
                <a:ea typeface="+mn-ea"/>
                <a:cs typeface="+mn-cs"/>
              </a:rPr>
              <a:t>a</a:t>
            </a:r>
            <a:r>
              <a:rPr lang="en-US" dirty="0" smtClean="0">
                <a:ea typeface="+mn-ea"/>
                <a:cs typeface="+mn-cs"/>
              </a:rPr>
              <a:t> | </a:t>
            </a:r>
            <a:r>
              <a:rPr lang="en-US" i="1" dirty="0" smtClean="0">
                <a:ea typeface="+mn-ea"/>
                <a:cs typeface="+mn-cs"/>
              </a:rPr>
              <a:t>b</a:t>
            </a:r>
            <a:r>
              <a:rPr lang="en-US" dirty="0" smtClean="0">
                <a:ea typeface="+mn-ea"/>
                <a:cs typeface="+mn-cs"/>
              </a:rPr>
              <a:t> and </a:t>
            </a:r>
            <a:r>
              <a:rPr lang="en-US" i="1" dirty="0" smtClean="0">
                <a:ea typeface="+mn-ea"/>
                <a:cs typeface="+mn-cs"/>
              </a:rPr>
              <a:t>b</a:t>
            </a:r>
            <a:r>
              <a:rPr lang="en-US" dirty="0" smtClean="0">
                <a:ea typeface="+mn-ea"/>
                <a:cs typeface="+mn-cs"/>
              </a:rPr>
              <a:t> | </a:t>
            </a:r>
            <a:r>
              <a:rPr lang="en-US" i="1" dirty="0" smtClean="0">
                <a:ea typeface="+mn-ea"/>
                <a:cs typeface="+mn-cs"/>
              </a:rPr>
              <a:t>a</a:t>
            </a:r>
            <a:r>
              <a:rPr lang="en-US" dirty="0" smtClean="0">
                <a:ea typeface="+mn-ea"/>
                <a:cs typeface="+mn-cs"/>
              </a:rPr>
              <a:t>, then </a:t>
            </a:r>
            <a:r>
              <a:rPr lang="en-US" i="1" dirty="0" smtClean="0">
                <a:ea typeface="+mn-ea"/>
                <a:cs typeface="+mn-cs"/>
              </a:rPr>
              <a:t>a</a:t>
            </a:r>
            <a:r>
              <a:rPr lang="en-US" dirty="0" smtClean="0">
                <a:ea typeface="+mn-ea"/>
                <a:cs typeface="+mn-cs"/>
              </a:rPr>
              <a:t> = ±</a:t>
            </a:r>
            <a:r>
              <a:rPr lang="en-US" i="1" dirty="0" smtClean="0">
                <a:ea typeface="+mn-ea"/>
                <a:cs typeface="+mn-cs"/>
              </a:rPr>
              <a:t>b</a:t>
            </a:r>
            <a:endParaRPr lang="en-US" dirty="0" smtClean="0">
              <a:ea typeface="+mn-ea"/>
              <a:cs typeface="+mn-cs"/>
            </a:endParaRPr>
          </a:p>
          <a:p>
            <a:pPr fontAlgn="auto">
              <a:spcAft>
                <a:spcPts val="0"/>
              </a:spcAft>
              <a:buClr>
                <a:schemeClr val="accent1">
                  <a:lumMod val="60000"/>
                  <a:lumOff val="40000"/>
                </a:schemeClr>
              </a:buClr>
              <a:buFont typeface="Candara" panose="020E0502030303020204" pitchFamily="-84" charset="0"/>
              <a:buChar char="•"/>
              <a:defRPr/>
            </a:pPr>
            <a:r>
              <a:rPr lang="en-US" dirty="0" smtClean="0">
                <a:ea typeface="+mn-ea"/>
                <a:cs typeface="+mn-cs"/>
              </a:rPr>
              <a:t> Any </a:t>
            </a:r>
            <a:r>
              <a:rPr lang="en-US" i="1" dirty="0" smtClean="0">
                <a:ea typeface="+mn-ea"/>
                <a:cs typeface="+mn-cs"/>
              </a:rPr>
              <a:t>b</a:t>
            </a:r>
            <a:r>
              <a:rPr lang="en-US" dirty="0" smtClean="0">
                <a:ea typeface="+mn-ea"/>
                <a:cs typeface="+mn-cs"/>
              </a:rPr>
              <a:t> ≠ 0 divides 0 </a:t>
            </a:r>
            <a:endParaRPr lang="en-US" dirty="0" smtClean="0">
              <a:ea typeface="+mn-ea"/>
              <a:cs typeface="+mn-cs"/>
            </a:endParaRPr>
          </a:p>
          <a:p>
            <a:pPr fontAlgn="auto">
              <a:spcAft>
                <a:spcPts val="0"/>
              </a:spcAft>
              <a:buClr>
                <a:schemeClr val="accent1">
                  <a:lumMod val="60000"/>
                  <a:lumOff val="40000"/>
                </a:schemeClr>
              </a:buClr>
              <a:buFont typeface="Candara" panose="020E0502030303020204" pitchFamily="-84" charset="0"/>
              <a:buChar char="•"/>
              <a:defRPr/>
            </a:pPr>
            <a:r>
              <a:rPr lang="en-US" dirty="0" smtClean="0">
                <a:ea typeface="+mn-ea"/>
                <a:cs typeface="+mn-cs"/>
              </a:rPr>
              <a:t>If </a:t>
            </a:r>
            <a:r>
              <a:rPr lang="en-US" i="1" dirty="0" smtClean="0">
                <a:ea typeface="+mn-ea"/>
                <a:cs typeface="+mn-cs"/>
              </a:rPr>
              <a:t>a</a:t>
            </a:r>
            <a:r>
              <a:rPr lang="en-US" dirty="0" smtClean="0">
                <a:ea typeface="+mn-ea"/>
                <a:cs typeface="+mn-cs"/>
              </a:rPr>
              <a:t> | </a:t>
            </a:r>
            <a:r>
              <a:rPr lang="en-US" i="1" dirty="0" smtClean="0">
                <a:ea typeface="+mn-ea"/>
                <a:cs typeface="+mn-cs"/>
              </a:rPr>
              <a:t>b</a:t>
            </a:r>
            <a:r>
              <a:rPr lang="en-US" dirty="0" smtClean="0">
                <a:ea typeface="+mn-ea"/>
                <a:cs typeface="+mn-cs"/>
              </a:rPr>
              <a:t> and </a:t>
            </a:r>
            <a:r>
              <a:rPr lang="en-US" i="1" dirty="0" smtClean="0">
                <a:ea typeface="+mn-ea"/>
                <a:cs typeface="+mn-cs"/>
              </a:rPr>
              <a:t>b</a:t>
            </a:r>
            <a:r>
              <a:rPr lang="en-US" dirty="0" smtClean="0">
                <a:ea typeface="+mn-ea"/>
                <a:cs typeface="+mn-cs"/>
              </a:rPr>
              <a:t> | </a:t>
            </a:r>
            <a:r>
              <a:rPr lang="en-US" i="1" dirty="0" smtClean="0">
                <a:ea typeface="+mn-ea"/>
                <a:cs typeface="+mn-cs"/>
              </a:rPr>
              <a:t>c</a:t>
            </a:r>
            <a:r>
              <a:rPr lang="en-US" dirty="0" smtClean="0">
                <a:ea typeface="+mn-ea"/>
                <a:cs typeface="+mn-cs"/>
              </a:rPr>
              <a:t>, then </a:t>
            </a:r>
            <a:r>
              <a:rPr lang="en-US" i="1" dirty="0" smtClean="0">
                <a:ea typeface="+mn-ea"/>
                <a:cs typeface="+mn-cs"/>
              </a:rPr>
              <a:t>a</a:t>
            </a:r>
            <a:r>
              <a:rPr lang="en-US" dirty="0" smtClean="0">
                <a:ea typeface="+mn-ea"/>
                <a:cs typeface="+mn-cs"/>
              </a:rPr>
              <a:t> | </a:t>
            </a:r>
            <a:r>
              <a:rPr lang="en-US" i="1" dirty="0" smtClean="0">
                <a:ea typeface="+mn-ea"/>
                <a:cs typeface="+mn-cs"/>
              </a:rPr>
              <a:t>c</a:t>
            </a:r>
            <a:r>
              <a:rPr lang="en-US" dirty="0" smtClean="0">
                <a:ea typeface="+mn-ea"/>
                <a:cs typeface="+mn-cs"/>
              </a:rPr>
              <a:t> </a:t>
            </a:r>
            <a:endParaRPr lang="en-US" dirty="0" smtClean="0">
              <a:ea typeface="+mn-ea"/>
              <a:cs typeface="+mn-cs"/>
            </a:endParaRPr>
          </a:p>
          <a:p>
            <a:pPr fontAlgn="auto">
              <a:spcAft>
                <a:spcPts val="0"/>
              </a:spcAft>
              <a:buClr>
                <a:schemeClr val="accent1">
                  <a:lumMod val="60000"/>
                  <a:lumOff val="40000"/>
                </a:schemeClr>
              </a:buClr>
              <a:buFont typeface="Candara" panose="020E0502030303020204" pitchFamily="-84" charset="0"/>
              <a:buChar char="•"/>
              <a:defRPr/>
            </a:pPr>
            <a:r>
              <a:rPr lang="en-US" dirty="0" smtClean="0">
                <a:ea typeface="+mn-ea"/>
                <a:cs typeface="+mn-cs"/>
              </a:rPr>
              <a:t>If </a:t>
            </a:r>
            <a:r>
              <a:rPr lang="en-US" i="1" dirty="0" smtClean="0">
                <a:ea typeface="+mn-ea"/>
                <a:cs typeface="+mn-cs"/>
              </a:rPr>
              <a:t>b </a:t>
            </a:r>
            <a:r>
              <a:rPr lang="en-US" dirty="0" smtClean="0">
                <a:ea typeface="+mn-ea"/>
                <a:cs typeface="+mn-cs"/>
              </a:rPr>
              <a:t>| </a:t>
            </a:r>
            <a:r>
              <a:rPr lang="en-US" i="1" dirty="0" smtClean="0">
                <a:ea typeface="+mn-ea"/>
                <a:cs typeface="+mn-cs"/>
              </a:rPr>
              <a:t>g</a:t>
            </a:r>
            <a:r>
              <a:rPr lang="en-US" dirty="0" smtClean="0">
                <a:ea typeface="+mn-ea"/>
                <a:cs typeface="+mn-cs"/>
              </a:rPr>
              <a:t> and </a:t>
            </a:r>
            <a:r>
              <a:rPr lang="en-US" i="1" dirty="0" smtClean="0">
                <a:ea typeface="+mn-ea"/>
                <a:cs typeface="+mn-cs"/>
              </a:rPr>
              <a:t>b </a:t>
            </a:r>
            <a:r>
              <a:rPr lang="en-US" dirty="0" smtClean="0">
                <a:ea typeface="+mn-ea"/>
                <a:cs typeface="+mn-cs"/>
              </a:rPr>
              <a:t>| </a:t>
            </a:r>
            <a:r>
              <a:rPr lang="en-US" i="1" dirty="0" smtClean="0">
                <a:ea typeface="+mn-ea"/>
                <a:cs typeface="+mn-cs"/>
              </a:rPr>
              <a:t>h</a:t>
            </a:r>
            <a:r>
              <a:rPr lang="en-US" dirty="0" smtClean="0">
                <a:ea typeface="+mn-ea"/>
                <a:cs typeface="+mn-cs"/>
              </a:rPr>
              <a:t>, then </a:t>
            </a:r>
            <a:r>
              <a:rPr lang="en-US" i="1" dirty="0" smtClean="0">
                <a:ea typeface="+mn-ea"/>
                <a:cs typeface="+mn-cs"/>
              </a:rPr>
              <a:t>b </a:t>
            </a:r>
            <a:r>
              <a:rPr lang="en-US" dirty="0" smtClean="0">
                <a:ea typeface="+mn-ea"/>
                <a:cs typeface="+mn-cs"/>
              </a:rPr>
              <a:t>| (</a:t>
            </a:r>
            <a:r>
              <a:rPr lang="en-US" i="1" dirty="0" smtClean="0">
                <a:ea typeface="+mn-ea"/>
                <a:cs typeface="+mn-cs"/>
              </a:rPr>
              <a:t>mg</a:t>
            </a:r>
            <a:r>
              <a:rPr lang="en-US" dirty="0" smtClean="0">
                <a:ea typeface="+mn-ea"/>
                <a:cs typeface="+mn-cs"/>
              </a:rPr>
              <a:t> + </a:t>
            </a:r>
            <a:r>
              <a:rPr lang="en-US" i="1" dirty="0" smtClean="0">
                <a:ea typeface="+mn-ea"/>
                <a:cs typeface="+mn-cs"/>
              </a:rPr>
              <a:t>nh</a:t>
            </a:r>
            <a:r>
              <a:rPr lang="en-US" dirty="0" smtClean="0">
                <a:ea typeface="+mn-ea"/>
                <a:cs typeface="+mn-cs"/>
              </a:rPr>
              <a:t>) for arbitrary integers </a:t>
            </a:r>
            <a:r>
              <a:rPr lang="en-US" i="1" dirty="0" smtClean="0">
                <a:ea typeface="+mn-ea"/>
                <a:cs typeface="+mn-cs"/>
              </a:rPr>
              <a:t>m</a:t>
            </a:r>
            <a:r>
              <a:rPr lang="en-US" dirty="0" smtClean="0">
                <a:ea typeface="+mn-ea"/>
                <a:cs typeface="+mn-cs"/>
              </a:rPr>
              <a:t> and </a:t>
            </a:r>
            <a:r>
              <a:rPr lang="en-US" i="1" dirty="0" smtClean="0">
                <a:ea typeface="+mn-ea"/>
                <a:cs typeface="+mn-cs"/>
              </a:rPr>
              <a:t>n</a:t>
            </a:r>
            <a:endParaRPr lang="en-US" i="1" dirty="0" smtClean="0">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带余除法</a:t>
            </a:r>
            <a:endParaRPr lang="zh-CN" altLang="en-US" sz="2800"/>
          </a:p>
        </p:txBody>
      </p:sp>
      <p:sp>
        <p:nvSpPr>
          <p:cNvPr id="9" name="文本框 8"/>
          <p:cNvSpPr txBox="1"/>
          <p:nvPr/>
        </p:nvSpPr>
        <p:spPr>
          <a:xfrm>
            <a:off x="1960880" y="1754505"/>
            <a:ext cx="8887460" cy="1198880"/>
          </a:xfrm>
          <a:prstGeom prst="rect">
            <a:avLst/>
          </a:prstGeom>
          <a:noFill/>
        </p:spPr>
        <p:txBody>
          <a:bodyPr wrap="square" rtlCol="0">
            <a:spAutoFit/>
          </a:bodyPr>
          <a:p>
            <a:pPr marL="342900" indent="-342900">
              <a:buFont typeface="Arial" panose="020B0604020202020204" pitchFamily="34" charset="0"/>
              <a:buChar char="•"/>
            </a:pPr>
            <a:r>
              <a:rPr lang="zh-CN" altLang="en-US" sz="2400" smtClean="0">
                <a:sym typeface="+mn-ea"/>
              </a:rPr>
              <a:t>对于给定的任意正整数</a:t>
            </a:r>
            <a:r>
              <a:rPr lang="en-US" altLang="zh-CN" sz="2400" smtClean="0">
                <a:sym typeface="+mn-ea"/>
              </a:rPr>
              <a:t>n</a:t>
            </a:r>
            <a:r>
              <a:rPr lang="zh-CN" altLang="en-US" sz="2400" smtClean="0">
                <a:sym typeface="+mn-ea"/>
              </a:rPr>
              <a:t>和任意非负整数</a:t>
            </a:r>
            <a:r>
              <a:rPr lang="en-US" altLang="zh-CN" sz="2400" smtClean="0">
                <a:sym typeface="+mn-ea"/>
              </a:rPr>
              <a:t>a</a:t>
            </a:r>
            <a:r>
              <a:rPr lang="zh-CN" altLang="en-US" sz="2400" smtClean="0">
                <a:sym typeface="+mn-ea"/>
              </a:rPr>
              <a:t>，若用</a:t>
            </a:r>
            <a:r>
              <a:rPr lang="en-US" altLang="zh-CN" sz="2400" smtClean="0">
                <a:sym typeface="+mn-ea"/>
              </a:rPr>
              <a:t>n</a:t>
            </a:r>
            <a:r>
              <a:rPr lang="zh-CN" altLang="en-US" sz="2400" smtClean="0">
                <a:sym typeface="+mn-ea"/>
              </a:rPr>
              <a:t>除</a:t>
            </a:r>
            <a:r>
              <a:rPr lang="en-US" altLang="zh-CN" sz="2400" smtClean="0">
                <a:sym typeface="+mn-ea"/>
              </a:rPr>
              <a:t>a</a:t>
            </a:r>
            <a:r>
              <a:rPr lang="zh-CN" altLang="en-US" sz="2400" smtClean="0">
                <a:sym typeface="+mn-ea"/>
              </a:rPr>
              <a:t>，得到整数商</a:t>
            </a:r>
            <a:r>
              <a:rPr lang="en-US" altLang="zh-CN" sz="2400" smtClean="0">
                <a:sym typeface="+mn-ea"/>
              </a:rPr>
              <a:t>q</a:t>
            </a:r>
            <a:r>
              <a:rPr lang="zh-CN" altLang="en-US" sz="2400" smtClean="0">
                <a:sym typeface="+mn-ea"/>
              </a:rPr>
              <a:t>和整数余数</a:t>
            </a:r>
            <a:r>
              <a:rPr lang="en-US" altLang="zh-CN" sz="2400" smtClean="0">
                <a:sym typeface="+mn-ea"/>
              </a:rPr>
              <a:t>r</a:t>
            </a:r>
            <a:r>
              <a:rPr lang="zh-CN" altLang="en-US" sz="2400" smtClean="0">
                <a:sym typeface="+mn-ea"/>
              </a:rPr>
              <a:t>，则满足一下关系式：</a:t>
            </a:r>
            <a:endParaRPr lang="zh-CN" altLang="en-US" sz="2400" smtClean="0">
              <a:sym typeface="+mn-ea"/>
            </a:endParaRPr>
          </a:p>
          <a:p>
            <a:pPr marL="342900" indent="-342900" algn="ctr">
              <a:buFont typeface="Arial" panose="020B0604020202020204" pitchFamily="34" charset="0"/>
              <a:buChar char="•"/>
            </a:pPr>
            <a:r>
              <a:rPr lang="en-US" sz="2400" dirty="0" smtClean="0">
                <a:sym typeface="+mn-ea"/>
              </a:rPr>
              <a:t>a = </a:t>
            </a:r>
            <a:r>
              <a:rPr lang="en-US" sz="2400" dirty="0" err="1" smtClean="0">
                <a:sym typeface="+mn-ea"/>
              </a:rPr>
              <a:t>qn</a:t>
            </a:r>
            <a:r>
              <a:rPr lang="en-US" sz="2400" dirty="0" smtClean="0">
                <a:sym typeface="+mn-ea"/>
              </a:rPr>
              <a:t> + </a:t>
            </a:r>
            <a:r>
              <a:rPr lang="en-US" sz="2400" dirty="0" err="1" smtClean="0">
                <a:sym typeface="+mn-ea"/>
              </a:rPr>
              <a:t>r</a:t>
            </a:r>
            <a:r>
              <a:rPr lang="en-US" sz="2400" dirty="0" smtClean="0">
                <a:sym typeface="+mn-ea"/>
              </a:rPr>
              <a:t>             0 ≤ </a:t>
            </a:r>
            <a:r>
              <a:rPr lang="en-US" sz="2400" dirty="0" err="1" smtClean="0">
                <a:sym typeface="+mn-ea"/>
              </a:rPr>
              <a:t>r</a:t>
            </a:r>
            <a:r>
              <a:rPr lang="en-US" sz="2400" dirty="0" smtClean="0">
                <a:sym typeface="+mn-ea"/>
              </a:rPr>
              <a:t> &lt; </a:t>
            </a:r>
            <a:r>
              <a:rPr lang="en-US" sz="2400" dirty="0" err="1" smtClean="0">
                <a:sym typeface="+mn-ea"/>
              </a:rPr>
              <a:t>n</a:t>
            </a:r>
            <a:r>
              <a:rPr lang="en-US" sz="2400" dirty="0" smtClean="0">
                <a:sym typeface="+mn-ea"/>
              </a:rPr>
              <a:t>; </a:t>
            </a:r>
            <a:r>
              <a:rPr lang="en-US" sz="2400" dirty="0" err="1" smtClean="0">
                <a:sym typeface="+mn-ea"/>
              </a:rPr>
              <a:t>q</a:t>
            </a:r>
            <a:r>
              <a:rPr lang="en-US" sz="2400" dirty="0" smtClean="0">
                <a:sym typeface="+mn-ea"/>
              </a:rPr>
              <a:t> = [a/</a:t>
            </a:r>
            <a:r>
              <a:rPr lang="en-US" sz="2400" dirty="0" err="1" smtClean="0">
                <a:sym typeface="+mn-ea"/>
              </a:rPr>
              <a:t>n</a:t>
            </a:r>
            <a:r>
              <a:rPr lang="en-US" sz="2400" dirty="0" smtClean="0">
                <a:sym typeface="+mn-ea"/>
              </a:rPr>
              <a:t>]          (</a:t>
            </a:r>
            <a:r>
              <a:rPr lang="zh-CN" altLang="en-US" sz="2400" dirty="0" smtClean="0">
                <a:sym typeface="+mn-ea"/>
              </a:rPr>
              <a:t>公式</a:t>
            </a:r>
            <a:r>
              <a:rPr lang="en-US" altLang="zh-CN" sz="2400" dirty="0" smtClean="0">
                <a:sym typeface="+mn-ea"/>
              </a:rPr>
              <a:t>2.1</a:t>
            </a:r>
            <a:r>
              <a:rPr lang="zh-CN" altLang="en-US" sz="2400" dirty="0" smtClean="0">
                <a:sym typeface="+mn-ea"/>
              </a:rPr>
              <a:t>）</a:t>
            </a:r>
            <a:endParaRPr lang="zh-CN" altLang="en-US" sz="2400" dirty="0" smtClean="0">
              <a:sym typeface="+mn-ea"/>
            </a:endParaRPr>
          </a:p>
        </p:txBody>
      </p:sp>
      <p:pic>
        <p:nvPicPr>
          <p:cNvPr id="10" name="Picture 4" descr="f0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9091" b="30909"/>
              <a:stretch>
                <a:fillRect/>
              </a:stretch>
            </p:blipFill>
          </mc:Choice>
          <mc:Fallback>
            <p:blipFill>
              <a:blip r:embed="rId3"/>
              <a:srcRect t="39531" b="30909"/>
              <a:stretch>
                <a:fillRect/>
              </a:stretch>
            </p:blipFill>
          </mc:Fallback>
        </mc:AlternateContent>
        <p:spPr>
          <a:xfrm>
            <a:off x="2902585" y="3058795"/>
            <a:ext cx="7003415" cy="267906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模</a:t>
            </a:r>
            <a:r>
              <a:rPr lang="en-US" altLang="zh-CN" sz="2800"/>
              <a:t> </a:t>
            </a:r>
            <a:r>
              <a:rPr lang="zh-CN" altLang="en-US" sz="2800"/>
              <a:t>（</a:t>
            </a:r>
            <a:r>
              <a:rPr lang="en-US" sz="2800" dirty="0" smtClean="0">
                <a:sym typeface="+mn-ea"/>
              </a:rPr>
              <a:t>The modulus</a:t>
            </a:r>
            <a:r>
              <a:rPr lang="zh-CN" altLang="en-US" sz="2800" dirty="0" smtClean="0">
                <a:sym typeface="+mn-ea"/>
              </a:rPr>
              <a:t>）</a:t>
            </a:r>
            <a:endParaRPr lang="zh-CN" altLang="en-US" sz="2800" dirty="0" smtClean="0">
              <a:sym typeface="+mn-ea"/>
            </a:endParaRPr>
          </a:p>
        </p:txBody>
      </p:sp>
      <p:sp>
        <p:nvSpPr>
          <p:cNvPr id="9" name="文本框 8"/>
          <p:cNvSpPr txBox="1"/>
          <p:nvPr/>
        </p:nvSpPr>
        <p:spPr>
          <a:xfrm>
            <a:off x="1960880" y="1754505"/>
            <a:ext cx="8887460" cy="1938020"/>
          </a:xfrm>
          <a:prstGeom prst="rect">
            <a:avLst/>
          </a:prstGeom>
          <a:noFill/>
        </p:spPr>
        <p:txBody>
          <a:bodyPr wrap="square" rtlCol="0">
            <a:spAutoFit/>
          </a:bodyPr>
          <a:p>
            <a:pPr marL="342900" indent="-342900">
              <a:buFont typeface="Arial" panose="020B0604020202020204" pitchFamily="34" charset="0"/>
              <a:buChar char="•"/>
            </a:pPr>
            <a:r>
              <a:rPr lang="zh-CN" altLang="en-US" sz="2400" dirty="0" smtClean="0">
                <a:sym typeface="+mn-ea"/>
              </a:rPr>
              <a:t>若</a:t>
            </a:r>
            <a:r>
              <a:rPr lang="en-US" altLang="zh-CN" sz="2400" dirty="0" smtClean="0">
                <a:sym typeface="+mn-ea"/>
              </a:rPr>
              <a:t>a</a:t>
            </a:r>
            <a:r>
              <a:rPr lang="zh-CN" altLang="en-US" sz="2400" dirty="0" smtClean="0">
                <a:sym typeface="+mn-ea"/>
              </a:rPr>
              <a:t>是一个整数，</a:t>
            </a:r>
            <a:r>
              <a:rPr lang="en-US" altLang="zh-CN" sz="2400" dirty="0" smtClean="0">
                <a:sym typeface="+mn-ea"/>
              </a:rPr>
              <a:t>n</a:t>
            </a:r>
            <a:r>
              <a:rPr lang="zh-CN" altLang="en-US" sz="2400" dirty="0" smtClean="0">
                <a:sym typeface="+mn-ea"/>
              </a:rPr>
              <a:t>是一个正整数，则定义</a:t>
            </a:r>
            <a:r>
              <a:rPr lang="en-US" altLang="zh-CN" sz="2400" dirty="0" smtClean="0">
                <a:sym typeface="+mn-ea"/>
              </a:rPr>
              <a:t>a</a:t>
            </a:r>
            <a:r>
              <a:rPr lang="zh-CN" altLang="en-US" sz="2400" dirty="0" smtClean="0">
                <a:sym typeface="+mn-ea"/>
              </a:rPr>
              <a:t>除以</a:t>
            </a:r>
            <a:r>
              <a:rPr lang="en-US" altLang="zh-CN" sz="2400" dirty="0" smtClean="0">
                <a:sym typeface="+mn-ea"/>
              </a:rPr>
              <a:t>n</a:t>
            </a:r>
            <a:r>
              <a:rPr lang="zh-CN" altLang="en-US" sz="2400" dirty="0" smtClean="0">
                <a:sym typeface="+mn-ea"/>
              </a:rPr>
              <a:t>所得的余数为</a:t>
            </a:r>
            <a:r>
              <a:rPr lang="en-US" altLang="zh-CN" sz="2400" dirty="0" smtClean="0">
                <a:sym typeface="+mn-ea"/>
              </a:rPr>
              <a:t>a</a:t>
            </a:r>
            <a:r>
              <a:rPr lang="zh-CN" altLang="en-US" sz="2400" dirty="0" smtClean="0">
                <a:sym typeface="+mn-ea"/>
              </a:rPr>
              <a:t>模</a:t>
            </a:r>
            <a:r>
              <a:rPr lang="en-US" altLang="zh-CN" sz="2400" dirty="0" smtClean="0">
                <a:sym typeface="+mn-ea"/>
              </a:rPr>
              <a:t>n</a:t>
            </a:r>
            <a:r>
              <a:rPr lang="zh-CN" altLang="en-US" sz="2400" dirty="0" smtClean="0">
                <a:sym typeface="+mn-ea"/>
              </a:rPr>
              <a:t>。整数</a:t>
            </a:r>
            <a:r>
              <a:rPr lang="en-US" altLang="zh-CN" sz="2400" dirty="0" smtClean="0">
                <a:sym typeface="+mn-ea"/>
              </a:rPr>
              <a:t>n</a:t>
            </a:r>
            <a:r>
              <a:rPr lang="zh-CN" altLang="en-US" sz="2400" dirty="0" smtClean="0">
                <a:sym typeface="+mn-ea"/>
              </a:rPr>
              <a:t>称为模数。因此，对于任意整数</a:t>
            </a:r>
            <a:r>
              <a:rPr lang="en-US" altLang="zh-CN" sz="2400" dirty="0" smtClean="0">
                <a:sym typeface="+mn-ea"/>
              </a:rPr>
              <a:t>a</a:t>
            </a:r>
            <a:r>
              <a:rPr lang="zh-CN" altLang="en-US" sz="2400" dirty="0" smtClean="0">
                <a:sym typeface="+mn-ea"/>
              </a:rPr>
              <a:t>，总可以把公式（</a:t>
            </a:r>
            <a:r>
              <a:rPr lang="en-US" altLang="zh-CN" sz="2400" dirty="0" smtClean="0">
                <a:sym typeface="+mn-ea"/>
              </a:rPr>
              <a:t>2.1</a:t>
            </a:r>
            <a:r>
              <a:rPr lang="zh-CN" altLang="en-US" sz="2400" dirty="0" smtClean="0">
                <a:sym typeface="+mn-ea"/>
              </a:rPr>
              <a:t>）写成</a:t>
            </a:r>
            <a:endParaRPr lang="zh-CN" altLang="en-US" sz="2400" dirty="0" smtClean="0">
              <a:sym typeface="+mn-ea"/>
            </a:endParaRPr>
          </a:p>
          <a:p>
            <a:pPr marL="342900" indent="-342900">
              <a:buFont typeface="Arial" panose="020B0604020202020204" pitchFamily="34" charset="0"/>
              <a:buChar char="•"/>
            </a:pPr>
            <a:r>
              <a:rPr lang="zh-CN" altLang="en-US" sz="2400" dirty="0" smtClean="0">
                <a:sym typeface="+mn-ea"/>
              </a:rPr>
              <a:t>		 a =  qn +  r 	0 ≤ r &lt; n;  q = [a/ n]</a:t>
            </a:r>
            <a:endParaRPr lang="zh-CN" altLang="en-US" sz="2400" dirty="0" smtClean="0">
              <a:sym typeface="+mn-ea"/>
            </a:endParaRPr>
          </a:p>
          <a:p>
            <a:pPr marL="342900" indent="-342900">
              <a:buFont typeface="Arial" panose="020B0604020202020204" pitchFamily="34" charset="0"/>
              <a:buChar char="•"/>
            </a:pPr>
            <a:r>
              <a:rPr lang="zh-CN" altLang="en-US" sz="2400" dirty="0" smtClean="0">
                <a:sym typeface="+mn-ea"/>
              </a:rPr>
              <a:t>	   </a:t>
            </a:r>
            <a:r>
              <a:rPr lang="en-US" altLang="zh-CN" sz="2400" dirty="0" smtClean="0">
                <a:sym typeface="+mn-ea"/>
              </a:rPr>
              <a:t>               </a:t>
            </a:r>
            <a:r>
              <a:rPr lang="zh-CN" altLang="en-US" sz="2400" dirty="0" smtClean="0">
                <a:sym typeface="+mn-ea"/>
              </a:rPr>
              <a:t> a = [a/ n] *  n + ( a mod n)</a:t>
            </a:r>
            <a:endParaRPr lang="zh-CN" altLang="en-US" sz="2400" dirty="0" smtClean="0">
              <a:sym typeface="+mn-ea"/>
            </a:endParaRPr>
          </a:p>
        </p:txBody>
      </p:sp>
      <p:sp>
        <p:nvSpPr>
          <p:cNvPr id="2" name="TextBox 3"/>
          <p:cNvSpPr txBox="1"/>
          <p:nvPr/>
        </p:nvSpPr>
        <p:spPr>
          <a:xfrm>
            <a:off x="4014470" y="3883025"/>
            <a:ext cx="4114800" cy="923925"/>
          </a:xfrm>
          <a:prstGeom prst="rect">
            <a:avLst/>
          </a:prstGeom>
          <a:solidFill>
            <a:schemeClr val="accent4">
              <a:lumMod val="60000"/>
              <a:lumOff val="40000"/>
            </a:schemeClr>
          </a:solidFill>
          <a:ln w="31750">
            <a:solidFill>
              <a:schemeClr val="accent4">
                <a:lumMod val="75000"/>
              </a:schemeClr>
            </a:solidFill>
          </a:ln>
        </p:spPr>
        <p:txBody>
          <a:bodyPr>
            <a:spAutoFit/>
          </a:bodyPr>
          <a:p>
            <a:pPr algn="ctr">
              <a:defRPr/>
            </a:pPr>
            <a:r>
              <a:rPr lang="en-US" dirty="0">
                <a:latin typeface="Arial" panose="020B0604020202020204" pitchFamily="34" charset="0"/>
              </a:rPr>
              <a:t> </a:t>
            </a:r>
            <a:endParaRPr lang="en-US" dirty="0">
              <a:latin typeface="Arial" panose="020B0604020202020204" pitchFamily="34" charset="0"/>
            </a:endParaRPr>
          </a:p>
          <a:p>
            <a:pPr algn="ctr">
              <a:defRPr/>
            </a:pPr>
            <a:r>
              <a:rPr lang="en-US" dirty="0">
                <a:latin typeface="Arial" panose="020B0604020202020204" pitchFamily="34" charset="0"/>
              </a:rPr>
              <a:t>11 mod 7 =  4; -</a:t>
            </a:r>
            <a:r>
              <a:rPr lang="en-US" dirty="0" smtClean="0">
                <a:latin typeface="Arial" panose="020B0604020202020204" pitchFamily="34" charset="0"/>
              </a:rPr>
              <a:t> 11 </a:t>
            </a:r>
            <a:r>
              <a:rPr lang="en-US" dirty="0">
                <a:latin typeface="Arial" panose="020B0604020202020204" pitchFamily="34" charset="0"/>
              </a:rPr>
              <a:t>mod 7 =  3</a:t>
            </a:r>
            <a:endParaRPr lang="en-US" dirty="0">
              <a:latin typeface="Arial" panose="020B0604020202020204" pitchFamily="34" charset="0"/>
            </a:endParaRPr>
          </a:p>
          <a:p>
            <a:pPr algn="ctr">
              <a:defRPr/>
            </a:pPr>
            <a:endParaRPr lang="en-US" dirty="0">
              <a:latin typeface="Arial" panose="020B0604020202020204" pitchFamily="34" charset="0"/>
            </a:endParaRPr>
          </a:p>
        </p:txBody>
      </p:sp>
      <p:sp>
        <p:nvSpPr>
          <p:cNvPr id="3" name="文本框 2"/>
          <p:cNvSpPr txBox="1"/>
          <p:nvPr/>
        </p:nvSpPr>
        <p:spPr>
          <a:xfrm>
            <a:off x="2033270" y="4997450"/>
            <a:ext cx="8481695" cy="829945"/>
          </a:xfrm>
          <a:prstGeom prst="rect">
            <a:avLst/>
          </a:prstGeom>
          <a:noFill/>
        </p:spPr>
        <p:txBody>
          <a:bodyPr wrap="square" rtlCol="0" anchor="t">
            <a:spAutoFit/>
          </a:bodyPr>
          <a:p>
            <a:pPr marL="0" lvl="1" indent="-342900">
              <a:buFont typeface="Arial" panose="020B0604020202020204" pitchFamily="34" charset="0"/>
              <a:buChar char="•"/>
            </a:pPr>
            <a:r>
              <a:rPr lang="zh-CN" altLang="en-US" sz="2400" dirty="0" smtClean="0">
                <a:sym typeface="+mn-ea"/>
              </a:rPr>
              <a:t>若</a:t>
            </a:r>
            <a:r>
              <a:rPr lang="en-US" sz="2400" smtClean="0">
                <a:sym typeface="+mn-ea"/>
              </a:rPr>
              <a:t>(</a:t>
            </a:r>
            <a:r>
              <a:rPr lang="en-US" sz="2400" i="1" smtClean="0">
                <a:sym typeface="+mn-ea"/>
              </a:rPr>
              <a:t>a </a:t>
            </a:r>
            <a:r>
              <a:rPr lang="en-US" sz="2400" smtClean="0">
                <a:sym typeface="+mn-ea"/>
              </a:rPr>
              <a:t>mod </a:t>
            </a:r>
            <a:r>
              <a:rPr lang="en-US" sz="2400" i="1" smtClean="0">
                <a:sym typeface="+mn-ea"/>
              </a:rPr>
              <a:t>n</a:t>
            </a:r>
            <a:r>
              <a:rPr lang="en-US" sz="2400" smtClean="0">
                <a:sym typeface="+mn-ea"/>
              </a:rPr>
              <a:t>) = (</a:t>
            </a:r>
            <a:r>
              <a:rPr lang="en-US" sz="2400" i="1" smtClean="0">
                <a:sym typeface="+mn-ea"/>
              </a:rPr>
              <a:t>b </a:t>
            </a:r>
            <a:r>
              <a:rPr lang="en-US" sz="2400" smtClean="0">
                <a:sym typeface="+mn-ea"/>
              </a:rPr>
              <a:t>mod </a:t>
            </a:r>
            <a:r>
              <a:rPr lang="en-US" sz="2400" i="1" smtClean="0">
                <a:sym typeface="+mn-ea"/>
              </a:rPr>
              <a:t>n</a:t>
            </a:r>
            <a:r>
              <a:rPr lang="en-US" sz="2400" smtClean="0">
                <a:sym typeface="+mn-ea"/>
              </a:rPr>
              <a:t>)</a:t>
            </a:r>
            <a:r>
              <a:rPr lang="zh-CN" altLang="en-US" sz="2400" smtClean="0">
                <a:sym typeface="+mn-ea"/>
              </a:rPr>
              <a:t>，则称整数</a:t>
            </a:r>
            <a:r>
              <a:rPr lang="en-US" altLang="zh-CN" sz="2400" smtClean="0">
                <a:sym typeface="+mn-ea"/>
              </a:rPr>
              <a:t>a</a:t>
            </a:r>
            <a:r>
              <a:rPr lang="zh-CN" altLang="en-US" sz="2400" smtClean="0">
                <a:sym typeface="+mn-ea"/>
              </a:rPr>
              <a:t>和</a:t>
            </a:r>
            <a:r>
              <a:rPr lang="en-US" altLang="zh-CN" sz="2400" smtClean="0">
                <a:sym typeface="+mn-ea"/>
              </a:rPr>
              <a:t>b</a:t>
            </a:r>
            <a:r>
              <a:rPr lang="zh-CN" altLang="en-US" sz="2400" smtClean="0">
                <a:sym typeface="+mn-ea"/>
              </a:rPr>
              <a:t>是模</a:t>
            </a:r>
            <a:r>
              <a:rPr lang="en-US" altLang="zh-CN" sz="2400" smtClean="0">
                <a:sym typeface="+mn-ea"/>
              </a:rPr>
              <a:t>n</a:t>
            </a:r>
            <a:r>
              <a:rPr lang="zh-CN" altLang="en-US" sz="2400" smtClean="0">
                <a:sym typeface="+mn-ea"/>
              </a:rPr>
              <a:t>同余的，表示为</a:t>
            </a:r>
            <a:r>
              <a:rPr lang="en-US" sz="2400" smtClean="0">
                <a:sym typeface="+mn-ea"/>
              </a:rPr>
              <a:t>a≡b(mod n)</a:t>
            </a:r>
            <a:endParaRPr lang="en-US" sz="2400" smtClean="0">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模</a:t>
            </a:r>
            <a:r>
              <a:rPr lang="en-US" altLang="zh-CN" sz="2800"/>
              <a:t> </a:t>
            </a:r>
            <a:r>
              <a:rPr lang="zh-CN" altLang="en-US" sz="2800"/>
              <a:t>（</a:t>
            </a:r>
            <a:r>
              <a:rPr lang="en-US" sz="2800" dirty="0" smtClean="0">
                <a:sym typeface="+mn-ea"/>
              </a:rPr>
              <a:t>The modulus</a:t>
            </a:r>
            <a:r>
              <a:rPr lang="zh-CN" altLang="en-US" sz="2800" dirty="0" smtClean="0">
                <a:sym typeface="+mn-ea"/>
              </a:rPr>
              <a:t>）</a:t>
            </a:r>
            <a:endParaRPr lang="zh-CN" altLang="en-US" sz="2800" dirty="0" smtClean="0">
              <a:sym typeface="+mn-ea"/>
            </a:endParaRPr>
          </a:p>
        </p:txBody>
      </p:sp>
      <p:sp>
        <p:nvSpPr>
          <p:cNvPr id="3" name="文本框 2"/>
          <p:cNvSpPr txBox="1"/>
          <p:nvPr/>
        </p:nvSpPr>
        <p:spPr>
          <a:xfrm>
            <a:off x="2033905" y="1807845"/>
            <a:ext cx="8481695" cy="1198880"/>
          </a:xfrm>
          <a:prstGeom prst="rect">
            <a:avLst/>
          </a:prstGeom>
          <a:noFill/>
        </p:spPr>
        <p:txBody>
          <a:bodyPr wrap="square" rtlCol="0" anchor="t">
            <a:spAutoFit/>
          </a:bodyPr>
          <a:p>
            <a:pPr marL="0" lvl="1" indent="-342900">
              <a:buFont typeface="Arial" panose="020B0604020202020204" pitchFamily="34" charset="0"/>
              <a:buChar char="•"/>
            </a:pPr>
            <a:r>
              <a:rPr lang="zh-CN" altLang="en-US" sz="2400" dirty="0" smtClean="0">
                <a:sym typeface="+mn-ea"/>
              </a:rPr>
              <a:t>若</a:t>
            </a:r>
            <a:r>
              <a:rPr lang="en-US" sz="2400" smtClean="0">
                <a:sym typeface="+mn-ea"/>
              </a:rPr>
              <a:t>(</a:t>
            </a:r>
            <a:r>
              <a:rPr lang="en-US" sz="2400" i="1" smtClean="0">
                <a:sym typeface="+mn-ea"/>
              </a:rPr>
              <a:t>a </a:t>
            </a:r>
            <a:r>
              <a:rPr lang="en-US" sz="2400" smtClean="0">
                <a:sym typeface="+mn-ea"/>
              </a:rPr>
              <a:t>mod </a:t>
            </a:r>
            <a:r>
              <a:rPr lang="en-US" sz="2400" i="1" smtClean="0">
                <a:sym typeface="+mn-ea"/>
              </a:rPr>
              <a:t>n</a:t>
            </a:r>
            <a:r>
              <a:rPr lang="en-US" sz="2400" smtClean="0">
                <a:sym typeface="+mn-ea"/>
              </a:rPr>
              <a:t>) = (</a:t>
            </a:r>
            <a:r>
              <a:rPr lang="en-US" sz="2400" i="1" smtClean="0">
                <a:sym typeface="+mn-ea"/>
              </a:rPr>
              <a:t>b </a:t>
            </a:r>
            <a:r>
              <a:rPr lang="en-US" sz="2400" smtClean="0">
                <a:sym typeface="+mn-ea"/>
              </a:rPr>
              <a:t>mod </a:t>
            </a:r>
            <a:r>
              <a:rPr lang="en-US" sz="2400" i="1" smtClean="0">
                <a:sym typeface="+mn-ea"/>
              </a:rPr>
              <a:t>n</a:t>
            </a:r>
            <a:r>
              <a:rPr lang="en-US" sz="2400" smtClean="0">
                <a:sym typeface="+mn-ea"/>
              </a:rPr>
              <a:t>)</a:t>
            </a:r>
            <a:r>
              <a:rPr lang="zh-CN" altLang="en-US" sz="2400" smtClean="0">
                <a:sym typeface="+mn-ea"/>
              </a:rPr>
              <a:t>，则称整数</a:t>
            </a:r>
            <a:r>
              <a:rPr lang="en-US" altLang="zh-CN" sz="2400" smtClean="0">
                <a:sym typeface="+mn-ea"/>
              </a:rPr>
              <a:t>a</a:t>
            </a:r>
            <a:r>
              <a:rPr lang="zh-CN" altLang="en-US" sz="2400" smtClean="0">
                <a:sym typeface="+mn-ea"/>
              </a:rPr>
              <a:t>和</a:t>
            </a:r>
            <a:r>
              <a:rPr lang="en-US" altLang="zh-CN" sz="2400" smtClean="0">
                <a:sym typeface="+mn-ea"/>
              </a:rPr>
              <a:t>b</a:t>
            </a:r>
            <a:r>
              <a:rPr lang="zh-CN" altLang="en-US" sz="2400" smtClean="0">
                <a:sym typeface="+mn-ea"/>
              </a:rPr>
              <a:t>是</a:t>
            </a:r>
            <a:r>
              <a:rPr lang="zh-CN" altLang="en-US" sz="2400" b="1" smtClean="0">
                <a:sym typeface="+mn-ea"/>
              </a:rPr>
              <a:t>模</a:t>
            </a:r>
            <a:r>
              <a:rPr lang="en-US" altLang="zh-CN" sz="2400" b="1" smtClean="0">
                <a:sym typeface="+mn-ea"/>
              </a:rPr>
              <a:t>n</a:t>
            </a:r>
            <a:r>
              <a:rPr lang="zh-CN" altLang="en-US" sz="2400" b="1" smtClean="0">
                <a:sym typeface="+mn-ea"/>
              </a:rPr>
              <a:t>同余</a:t>
            </a:r>
            <a:r>
              <a:rPr lang="zh-CN" altLang="en-US" sz="2400" smtClean="0">
                <a:sym typeface="+mn-ea"/>
              </a:rPr>
              <a:t>的，表示为</a:t>
            </a:r>
            <a:r>
              <a:rPr lang="en-US" sz="2400" smtClean="0">
                <a:sym typeface="+mn-ea"/>
              </a:rPr>
              <a:t>a≡b(mod n)</a:t>
            </a:r>
            <a:endParaRPr lang="en-US" sz="2400" smtClean="0">
              <a:sym typeface="+mn-ea"/>
            </a:endParaRPr>
          </a:p>
          <a:p>
            <a:pPr marL="0" lvl="1" indent="-342900">
              <a:buFont typeface="Arial" panose="020B0604020202020204" pitchFamily="34" charset="0"/>
              <a:buChar char="•"/>
            </a:pPr>
            <a:endParaRPr lang="en-US" sz="2400" smtClean="0">
              <a:sym typeface="+mn-ea"/>
            </a:endParaRPr>
          </a:p>
        </p:txBody>
      </p:sp>
      <p:sp>
        <p:nvSpPr>
          <p:cNvPr id="8" name="TextBox 5"/>
          <p:cNvSpPr txBox="1"/>
          <p:nvPr/>
        </p:nvSpPr>
        <p:spPr>
          <a:xfrm>
            <a:off x="3993515" y="2742565"/>
            <a:ext cx="3981450" cy="922020"/>
          </a:xfrm>
          <a:prstGeom prst="rect">
            <a:avLst/>
          </a:prstGeom>
          <a:solidFill>
            <a:schemeClr val="accent4">
              <a:lumMod val="60000"/>
              <a:lumOff val="40000"/>
            </a:schemeClr>
          </a:solidFill>
          <a:ln w="31750">
            <a:solidFill>
              <a:schemeClr val="accent4">
                <a:lumMod val="75000"/>
              </a:schemeClr>
            </a:solidFill>
          </a:ln>
        </p:spPr>
        <p:txBody>
          <a:bodyPr>
            <a:spAutoFit/>
          </a:bodyPr>
          <a:p>
            <a:pPr>
              <a:defRPr/>
            </a:pPr>
            <a:r>
              <a:rPr lang="en-US" dirty="0">
                <a:latin typeface="Arial" panose="020B0604020202020204" pitchFamily="34" charset="0"/>
              </a:rPr>
              <a:t> </a:t>
            </a:r>
            <a:endParaRPr lang="en-US" dirty="0">
              <a:latin typeface="Arial" panose="020B0604020202020204" pitchFamily="34" charset="0"/>
            </a:endParaRPr>
          </a:p>
          <a:p>
            <a:pPr algn="ctr">
              <a:defRPr/>
            </a:pPr>
            <a:r>
              <a:rPr lang="en-US" dirty="0">
                <a:latin typeface="Arial" panose="020B0604020202020204" pitchFamily="34" charset="0"/>
              </a:rPr>
              <a:t>73 </a:t>
            </a:r>
            <a:r>
              <a:rPr lang="en-US" smtClean="0">
                <a:sym typeface="+mn-ea"/>
              </a:rPr>
              <a:t>≡</a:t>
            </a:r>
            <a:r>
              <a:rPr lang="en-US" dirty="0">
                <a:latin typeface="Arial" panose="020B0604020202020204" pitchFamily="34" charset="0"/>
              </a:rPr>
              <a:t> 4 (mod 23);   21 </a:t>
            </a:r>
            <a:r>
              <a:rPr lang="en-US" smtClean="0">
                <a:sym typeface="+mn-ea"/>
              </a:rPr>
              <a:t>≡</a:t>
            </a:r>
            <a:r>
              <a:rPr lang="en-US" dirty="0">
                <a:latin typeface="Arial" panose="020B0604020202020204" pitchFamily="34" charset="0"/>
              </a:rPr>
              <a:t> - 9 (mod 10)</a:t>
            </a:r>
            <a:endParaRPr lang="en-US" dirty="0">
              <a:latin typeface="Arial" panose="020B0604020202020204" pitchFamily="34" charset="0"/>
            </a:endParaRPr>
          </a:p>
          <a:p>
            <a:pPr algn="ctr">
              <a:defRPr/>
            </a:pPr>
            <a:endParaRPr lang="en-US" dirty="0">
              <a:latin typeface="Arial" panose="020B0604020202020204" pitchFamily="34" charset="0"/>
            </a:endParaRPr>
          </a:p>
        </p:txBody>
      </p:sp>
      <p:sp>
        <p:nvSpPr>
          <p:cNvPr id="10" name="文本框 9"/>
          <p:cNvSpPr txBox="1"/>
          <p:nvPr/>
        </p:nvSpPr>
        <p:spPr>
          <a:xfrm>
            <a:off x="2033905" y="3766185"/>
            <a:ext cx="8549005" cy="1938020"/>
          </a:xfrm>
          <a:prstGeom prst="rect">
            <a:avLst/>
          </a:prstGeom>
          <a:noFill/>
        </p:spPr>
        <p:txBody>
          <a:bodyPr wrap="square" rtlCol="0" anchor="t">
            <a:spAutoFit/>
          </a:bodyPr>
          <a:p>
            <a:pPr marL="0" lvl="1" indent="-342900">
              <a:buFont typeface="Arial" panose="020B0604020202020204" pitchFamily="34" charset="0"/>
              <a:buChar char="•"/>
            </a:pPr>
            <a:r>
              <a:rPr lang="zh-CN" altLang="en-US" sz="2400" smtClean="0">
                <a:sym typeface="+mn-ea"/>
              </a:rPr>
              <a:t>同余的性质</a:t>
            </a:r>
            <a:endParaRPr lang="zh-CN" altLang="en-US" sz="2400" smtClean="0">
              <a:sym typeface="+mn-ea"/>
            </a:endParaRPr>
          </a:p>
          <a:p>
            <a:pPr fontAlgn="auto">
              <a:spcAft>
                <a:spcPts val="0"/>
              </a:spcAft>
              <a:buClr>
                <a:schemeClr val="accent1">
                  <a:lumMod val="60000"/>
                  <a:lumOff val="40000"/>
                </a:schemeClr>
              </a:buClr>
              <a:buFont typeface="Candara" panose="020E0502030303020204" pitchFamily="-84" charset="0"/>
              <a:buNone/>
              <a:defRPr/>
            </a:pPr>
            <a:r>
              <a:rPr lang="en-US" sz="2400" dirty="0" smtClean="0">
                <a:sym typeface="+mn-ea"/>
              </a:rPr>
              <a:t>		1. a </a:t>
            </a:r>
            <a:r>
              <a:rPr lang="en-US" sz="2400" smtClean="0">
                <a:sym typeface="+mn-ea"/>
              </a:rPr>
              <a:t>≡</a:t>
            </a:r>
            <a:r>
              <a:rPr lang="en-US" sz="2400" dirty="0" smtClean="0">
                <a:sym typeface="+mn-ea"/>
              </a:rPr>
              <a:t> b (</a:t>
            </a:r>
            <a:r>
              <a:rPr lang="en-US" sz="2400" dirty="0" smtClean="0">
                <a:sym typeface="+mn-ea"/>
              </a:rPr>
              <a:t>mod n) if n|(a – b)</a:t>
            </a:r>
            <a:endParaRPr lang="en-US" sz="2400" dirty="0" smtClean="0">
              <a:ea typeface="+mn-ea"/>
              <a:cs typeface="+mn-cs"/>
            </a:endParaRPr>
          </a:p>
          <a:p>
            <a:pPr fontAlgn="auto">
              <a:spcAft>
                <a:spcPts val="0"/>
              </a:spcAft>
              <a:buClr>
                <a:schemeClr val="accent1">
                  <a:lumMod val="60000"/>
                  <a:lumOff val="40000"/>
                </a:schemeClr>
              </a:buClr>
              <a:buFont typeface="Candara" panose="020E0502030303020204" pitchFamily="-84" charset="0"/>
              <a:buNone/>
              <a:defRPr/>
            </a:pPr>
            <a:r>
              <a:rPr lang="en-US" sz="2400" dirty="0" smtClean="0">
                <a:sym typeface="+mn-ea"/>
              </a:rPr>
              <a:t>		2. a </a:t>
            </a:r>
            <a:r>
              <a:rPr lang="en-US" sz="2400" smtClean="0">
                <a:sym typeface="+mn-ea"/>
              </a:rPr>
              <a:t>≡</a:t>
            </a:r>
            <a:r>
              <a:rPr lang="en-US" sz="2400" dirty="0" smtClean="0">
                <a:sym typeface="+mn-ea"/>
              </a:rPr>
              <a:t> b (mod n) implies b </a:t>
            </a:r>
            <a:r>
              <a:rPr lang="en-US" sz="2400" smtClean="0">
                <a:sym typeface="+mn-ea"/>
              </a:rPr>
              <a:t>≡</a:t>
            </a:r>
            <a:r>
              <a:rPr lang="en-US" sz="2400" dirty="0" smtClean="0">
                <a:sym typeface="+mn-ea"/>
              </a:rPr>
              <a:t> a (mod n)</a:t>
            </a:r>
            <a:endParaRPr lang="en-US" sz="2400" dirty="0" smtClean="0">
              <a:ea typeface="+mn-ea"/>
              <a:cs typeface="+mn-cs"/>
            </a:endParaRPr>
          </a:p>
          <a:p>
            <a:pPr fontAlgn="auto">
              <a:spcAft>
                <a:spcPts val="0"/>
              </a:spcAft>
              <a:buClr>
                <a:schemeClr val="accent1">
                  <a:lumMod val="60000"/>
                  <a:lumOff val="40000"/>
                </a:schemeClr>
              </a:buClr>
              <a:buFont typeface="Candara" panose="020E0502030303020204" pitchFamily="-84" charset="0"/>
              <a:buNone/>
              <a:defRPr/>
            </a:pPr>
            <a:r>
              <a:rPr lang="en-US" sz="2400" dirty="0" smtClean="0">
                <a:sym typeface="+mn-ea"/>
              </a:rPr>
              <a:t>		3. a </a:t>
            </a:r>
            <a:r>
              <a:rPr lang="en-US" sz="2400" smtClean="0">
                <a:sym typeface="+mn-ea"/>
              </a:rPr>
              <a:t>≡</a:t>
            </a:r>
            <a:r>
              <a:rPr lang="en-US" sz="2400" dirty="0" smtClean="0">
                <a:sym typeface="+mn-ea"/>
              </a:rPr>
              <a:t> b (mod n) and b </a:t>
            </a:r>
            <a:r>
              <a:rPr lang="en-US" sz="2400" smtClean="0">
                <a:sym typeface="+mn-ea"/>
              </a:rPr>
              <a:t>≡</a:t>
            </a:r>
            <a:r>
              <a:rPr lang="en-US" sz="2400" dirty="0" smtClean="0">
                <a:sym typeface="+mn-ea"/>
              </a:rPr>
              <a:t> c (mod n) imply a </a:t>
            </a:r>
            <a:r>
              <a:rPr lang="en-US" sz="2400" smtClean="0">
                <a:sym typeface="+mn-ea"/>
              </a:rPr>
              <a:t>≡</a:t>
            </a:r>
            <a:r>
              <a:rPr lang="en-US" sz="2400" dirty="0" smtClean="0">
                <a:sym typeface="+mn-ea"/>
              </a:rPr>
              <a:t> c (mod n)</a:t>
            </a:r>
            <a:endParaRPr lang="en-US" sz="2400" dirty="0" smtClean="0">
              <a:ea typeface="+mn-ea"/>
              <a:cs typeface="+mn-cs"/>
            </a:endParaRPr>
          </a:p>
          <a:p>
            <a:pPr marL="571500" lvl="2" indent="0">
              <a:buFont typeface="Arial" panose="020B0604020202020204" pitchFamily="34" charset="0"/>
              <a:buNone/>
            </a:pPr>
            <a:endParaRPr lang="zh-CN" altLang="en-US" sz="2400" smtClean="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模</a:t>
            </a:r>
            <a:r>
              <a:rPr lang="en-US" altLang="zh-CN" sz="2800"/>
              <a:t> </a:t>
            </a:r>
            <a:r>
              <a:rPr lang="zh-CN" altLang="en-US" sz="2800"/>
              <a:t>（</a:t>
            </a:r>
            <a:r>
              <a:rPr lang="en-US" sz="2800" dirty="0" smtClean="0">
                <a:sym typeface="+mn-ea"/>
              </a:rPr>
              <a:t>The modulus</a:t>
            </a:r>
            <a:r>
              <a:rPr lang="zh-CN" altLang="en-US" sz="2800" dirty="0" smtClean="0">
                <a:sym typeface="+mn-ea"/>
              </a:rPr>
              <a:t>）</a:t>
            </a:r>
            <a:endParaRPr lang="zh-CN" altLang="en-US" sz="2800" dirty="0" smtClean="0">
              <a:sym typeface="+mn-ea"/>
            </a:endParaRPr>
          </a:p>
        </p:txBody>
      </p:sp>
      <p:sp>
        <p:nvSpPr>
          <p:cNvPr id="3" name="文本框 2"/>
          <p:cNvSpPr txBox="1"/>
          <p:nvPr/>
        </p:nvSpPr>
        <p:spPr>
          <a:xfrm>
            <a:off x="2033905" y="1807845"/>
            <a:ext cx="8481695" cy="1743075"/>
          </a:xfrm>
          <a:prstGeom prst="rect">
            <a:avLst/>
          </a:prstGeom>
          <a:noFill/>
        </p:spPr>
        <p:txBody>
          <a:bodyPr wrap="square" rtlCol="0" anchor="t">
            <a:spAutoFit/>
          </a:bodyPr>
          <a:p>
            <a:pPr marL="0" lvl="1" indent="-342900">
              <a:lnSpc>
                <a:spcPct val="40000"/>
              </a:lnSpc>
              <a:buFont typeface="Arial" panose="020B0604020202020204" pitchFamily="34" charset="0"/>
              <a:buChar char="•"/>
            </a:pPr>
            <a:r>
              <a:rPr lang="zh-CN" altLang="en-US" sz="2400" smtClean="0">
                <a:sym typeface="+mn-ea"/>
              </a:rPr>
              <a:t>模运算</a:t>
            </a:r>
            <a:endParaRPr lang="zh-CN" altLang="en-US" sz="2400" smtClean="0">
              <a:sym typeface="+mn-ea"/>
            </a:endParaRPr>
          </a:p>
          <a:p>
            <a:pPr fontAlgn="auto">
              <a:lnSpc>
                <a:spcPct val="40000"/>
              </a:lnSpc>
              <a:spcBef>
                <a:spcPts val="1400"/>
              </a:spcBef>
              <a:spcAft>
                <a:spcPts val="0"/>
              </a:spcAft>
              <a:buClr>
                <a:schemeClr val="accent1">
                  <a:lumMod val="60000"/>
                  <a:lumOff val="40000"/>
                </a:schemeClr>
              </a:buClr>
              <a:buFont typeface="Candara" panose="020E0502030303020204" pitchFamily="-84" charset="0"/>
              <a:buNone/>
              <a:defRPr/>
            </a:pPr>
            <a:r>
              <a:rPr lang="en-US" sz="2400" dirty="0" smtClean="0">
                <a:sym typeface="+mn-ea"/>
              </a:rPr>
              <a:t>		1.  [(a</a:t>
            </a:r>
            <a:r>
              <a:rPr lang="en-US" sz="2400" dirty="0" smtClean="0">
                <a:sym typeface="+mn-ea"/>
              </a:rPr>
              <a:t> mod n) + (b</a:t>
            </a:r>
            <a:r>
              <a:rPr lang="en-US" sz="2400" dirty="0" smtClean="0">
                <a:sym typeface="+mn-ea"/>
              </a:rPr>
              <a:t> mod n)] mod n</a:t>
            </a:r>
            <a:r>
              <a:rPr lang="en-US" sz="2400" dirty="0" smtClean="0">
                <a:sym typeface="+mn-ea"/>
              </a:rPr>
              <a:t> = (a + b) mod n</a:t>
            </a:r>
            <a:endParaRPr lang="en-US" sz="2400" dirty="0" smtClean="0">
              <a:ea typeface="+mn-ea"/>
              <a:cs typeface="+mn-cs"/>
            </a:endParaRPr>
          </a:p>
          <a:p>
            <a:pPr fontAlgn="auto">
              <a:lnSpc>
                <a:spcPct val="40000"/>
              </a:lnSpc>
              <a:spcBef>
                <a:spcPts val="2000"/>
              </a:spcBef>
              <a:spcAft>
                <a:spcPts val="0"/>
              </a:spcAft>
              <a:buClr>
                <a:schemeClr val="accent1">
                  <a:lumMod val="60000"/>
                  <a:lumOff val="40000"/>
                </a:schemeClr>
              </a:buClr>
              <a:buFont typeface="Candara" panose="020E0502030303020204" pitchFamily="-84" charset="0"/>
              <a:buNone/>
              <a:defRPr/>
            </a:pPr>
            <a:r>
              <a:rPr lang="en-US" sz="2400" dirty="0" smtClean="0">
                <a:sym typeface="+mn-ea"/>
              </a:rPr>
              <a:t>		2.  [(a mod n</a:t>
            </a:r>
            <a:r>
              <a:rPr lang="en-US" sz="2400" dirty="0" smtClean="0">
                <a:sym typeface="+mn-ea"/>
              </a:rPr>
              <a:t>) - (b mod n</a:t>
            </a:r>
            <a:r>
              <a:rPr lang="en-US" sz="2400" dirty="0" smtClean="0">
                <a:sym typeface="+mn-ea"/>
              </a:rPr>
              <a:t>)] mod n = (a - b) mod n</a:t>
            </a:r>
            <a:endParaRPr lang="en-US" sz="2400" dirty="0" smtClean="0">
              <a:ea typeface="+mn-ea"/>
              <a:cs typeface="+mn-cs"/>
            </a:endParaRPr>
          </a:p>
          <a:p>
            <a:pPr fontAlgn="auto">
              <a:lnSpc>
                <a:spcPct val="40000"/>
              </a:lnSpc>
              <a:spcBef>
                <a:spcPts val="2000"/>
              </a:spcBef>
              <a:spcAft>
                <a:spcPts val="0"/>
              </a:spcAft>
              <a:buClr>
                <a:schemeClr val="accent1">
                  <a:lumMod val="60000"/>
                  <a:lumOff val="40000"/>
                </a:schemeClr>
              </a:buClr>
              <a:buFont typeface="Candara" panose="020E0502030303020204" pitchFamily="-84" charset="0"/>
              <a:buNone/>
              <a:defRPr/>
            </a:pPr>
            <a:r>
              <a:rPr lang="en-US" sz="2400" dirty="0" smtClean="0">
                <a:sym typeface="+mn-ea"/>
              </a:rPr>
              <a:t>		3.  [(a mod n</a:t>
            </a:r>
            <a:r>
              <a:rPr lang="en-US" sz="2400" dirty="0" smtClean="0">
                <a:sym typeface="+mn-ea"/>
              </a:rPr>
              <a:t>) * (b mod n</a:t>
            </a:r>
            <a:r>
              <a:rPr lang="en-US" sz="2400" dirty="0" smtClean="0">
                <a:sym typeface="+mn-ea"/>
              </a:rPr>
              <a:t>)] mod n = (a * b) mod n</a:t>
            </a:r>
            <a:endParaRPr lang="en-US" sz="2400" dirty="0" smtClean="0">
              <a:ea typeface="+mn-ea"/>
              <a:cs typeface="+mn-cs"/>
            </a:endParaRPr>
          </a:p>
          <a:p>
            <a:pPr marL="0" lvl="1" indent="-342900">
              <a:buFont typeface="Arial" panose="020B0604020202020204" pitchFamily="34" charset="0"/>
              <a:buChar char="•"/>
            </a:pPr>
            <a:endParaRPr lang="zh-CN" altLang="en-US" sz="2400" smtClean="0">
              <a:sym typeface="+mn-ea"/>
            </a:endParaRPr>
          </a:p>
        </p:txBody>
      </p:sp>
      <p:sp>
        <p:nvSpPr>
          <p:cNvPr id="2" name="TextBox 6"/>
          <p:cNvSpPr txBox="1"/>
          <p:nvPr/>
        </p:nvSpPr>
        <p:spPr>
          <a:xfrm>
            <a:off x="3181350" y="3216910"/>
            <a:ext cx="5307013" cy="2954338"/>
          </a:xfrm>
          <a:prstGeom prst="rect">
            <a:avLst/>
          </a:prstGeom>
          <a:solidFill>
            <a:schemeClr val="accent4">
              <a:lumMod val="60000"/>
              <a:lumOff val="40000"/>
            </a:schemeClr>
          </a:solidFill>
          <a:ln w="31750">
            <a:solidFill>
              <a:schemeClr val="accent4">
                <a:lumMod val="75000"/>
              </a:schemeClr>
            </a:solidFill>
          </a:ln>
        </p:spPr>
        <p:txBody>
          <a:bodyPr>
            <a:spAutoFit/>
          </a:bodyPr>
          <a:p>
            <a:pPr>
              <a:spcBef>
                <a:spcPts val="1200"/>
              </a:spcBef>
              <a:defRPr/>
            </a:pPr>
            <a:r>
              <a:rPr lang="en-US" dirty="0">
                <a:latin typeface="Arial" panose="020B0604020202020204" pitchFamily="34" charset="0"/>
              </a:rPr>
              <a:t> 11 mod 8 = 3; 15 mod 8 = 7</a:t>
            </a:r>
            <a:endParaRPr lang="en-US" dirty="0">
              <a:latin typeface="Arial" panose="020B0604020202020204" pitchFamily="34" charset="0"/>
            </a:endParaRPr>
          </a:p>
          <a:p>
            <a:pPr>
              <a:spcBef>
                <a:spcPts val="1200"/>
              </a:spcBef>
              <a:defRPr/>
            </a:pPr>
            <a:r>
              <a:rPr lang="en-US" dirty="0">
                <a:latin typeface="Arial" panose="020B0604020202020204" pitchFamily="34" charset="0"/>
              </a:rPr>
              <a:t>[(11 mod 8) + (15 mod 8)] mod 8 = 10 mod 8 = 2</a:t>
            </a:r>
            <a:endParaRPr lang="en-US" dirty="0">
              <a:latin typeface="Arial" panose="020B0604020202020204" pitchFamily="34" charset="0"/>
            </a:endParaRPr>
          </a:p>
          <a:p>
            <a:pPr>
              <a:spcBef>
                <a:spcPts val="1200"/>
              </a:spcBef>
              <a:defRPr/>
            </a:pPr>
            <a:r>
              <a:rPr lang="en-US" dirty="0">
                <a:latin typeface="Arial" panose="020B0604020202020204" pitchFamily="34" charset="0"/>
              </a:rPr>
              <a:t>(11 + 15) mod 8 =  26 mod 8 = 2</a:t>
            </a:r>
            <a:endParaRPr lang="en-US" dirty="0">
              <a:latin typeface="Arial" panose="020B0604020202020204" pitchFamily="34" charset="0"/>
            </a:endParaRPr>
          </a:p>
          <a:p>
            <a:pPr>
              <a:spcBef>
                <a:spcPts val="1200"/>
              </a:spcBef>
              <a:defRPr/>
            </a:pPr>
            <a:r>
              <a:rPr lang="en-US" dirty="0">
                <a:latin typeface="Arial" panose="020B0604020202020204" pitchFamily="34" charset="0"/>
              </a:rPr>
              <a:t>[(11 mod 8) - (15 mod 8)] mod 8 = - 4 mod 8 = 4</a:t>
            </a:r>
            <a:endParaRPr lang="en-US" dirty="0">
              <a:latin typeface="Arial" panose="020B0604020202020204" pitchFamily="34" charset="0"/>
            </a:endParaRPr>
          </a:p>
          <a:p>
            <a:pPr>
              <a:spcBef>
                <a:spcPts val="1200"/>
              </a:spcBef>
              <a:defRPr/>
            </a:pPr>
            <a:r>
              <a:rPr lang="en-US" dirty="0">
                <a:latin typeface="Arial" panose="020B0604020202020204" pitchFamily="34" charset="0"/>
              </a:rPr>
              <a:t>(11 -  15) mod 8 = - 4 mod 8 =  4</a:t>
            </a:r>
            <a:endParaRPr lang="en-US" dirty="0">
              <a:latin typeface="Arial" panose="020B0604020202020204" pitchFamily="34" charset="0"/>
            </a:endParaRPr>
          </a:p>
          <a:p>
            <a:pPr>
              <a:spcBef>
                <a:spcPts val="1200"/>
              </a:spcBef>
              <a:defRPr/>
            </a:pPr>
            <a:r>
              <a:rPr lang="en-US" dirty="0">
                <a:latin typeface="Arial" panose="020B0604020202020204" pitchFamily="34" charset="0"/>
              </a:rPr>
              <a:t>[(11 mod 8) *  (15 mod 8)] mod 8 =  21 mod 8 = 5</a:t>
            </a:r>
            <a:endParaRPr lang="en-US" dirty="0">
              <a:latin typeface="Arial" panose="020B0604020202020204" pitchFamily="34" charset="0"/>
            </a:endParaRPr>
          </a:p>
          <a:p>
            <a:pPr>
              <a:spcBef>
                <a:spcPts val="1200"/>
              </a:spcBef>
              <a:defRPr/>
            </a:pPr>
            <a:r>
              <a:rPr lang="en-US" dirty="0">
                <a:latin typeface="Arial" panose="020B0604020202020204" pitchFamily="34" charset="0"/>
              </a:rPr>
              <a:t>(11 * 15) mod 8 = 165 mod 8 =  5</a:t>
            </a:r>
            <a:endParaRPr lang="en-US" dirty="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a:t>模</a:t>
            </a:r>
            <a:r>
              <a:rPr lang="en-US" altLang="zh-CN" sz="2800"/>
              <a:t> </a:t>
            </a:r>
            <a:r>
              <a:rPr lang="zh-CN" altLang="en-US" sz="2800"/>
              <a:t>（</a:t>
            </a:r>
            <a:r>
              <a:rPr lang="en-US" sz="2800" dirty="0" smtClean="0">
                <a:sym typeface="+mn-ea"/>
              </a:rPr>
              <a:t>The modulus</a:t>
            </a:r>
            <a:r>
              <a:rPr lang="zh-CN" altLang="en-US" sz="2800" dirty="0" smtClean="0">
                <a:sym typeface="+mn-ea"/>
              </a:rPr>
              <a:t>）</a:t>
            </a:r>
            <a:endParaRPr lang="zh-CN" altLang="en-US" sz="2800" dirty="0" smtClean="0">
              <a:sym typeface="+mn-ea"/>
            </a:endParaRPr>
          </a:p>
        </p:txBody>
      </p:sp>
      <p:sp>
        <p:nvSpPr>
          <p:cNvPr id="3" name="文本框 2"/>
          <p:cNvSpPr txBox="1"/>
          <p:nvPr/>
        </p:nvSpPr>
        <p:spPr>
          <a:xfrm>
            <a:off x="2033905" y="1807845"/>
            <a:ext cx="8481695" cy="934720"/>
          </a:xfrm>
          <a:prstGeom prst="rect">
            <a:avLst/>
          </a:prstGeom>
          <a:noFill/>
        </p:spPr>
        <p:txBody>
          <a:bodyPr wrap="square" rtlCol="0" anchor="t">
            <a:spAutoFit/>
          </a:bodyPr>
          <a:p>
            <a:pPr marL="0" lvl="1" indent="-342900">
              <a:lnSpc>
                <a:spcPct val="40000"/>
              </a:lnSpc>
              <a:buFont typeface="Arial" panose="020B0604020202020204" pitchFamily="34" charset="0"/>
              <a:buChar char="•"/>
            </a:pPr>
            <a:r>
              <a:rPr lang="zh-CN" altLang="en-US" sz="2400" smtClean="0">
                <a:sym typeface="+mn-ea"/>
              </a:rPr>
              <a:t>模运算特殊性质</a:t>
            </a:r>
            <a:endParaRPr lang="zh-CN" altLang="en-US" sz="2400" smtClean="0">
              <a:sym typeface="+mn-ea"/>
            </a:endParaRPr>
          </a:p>
          <a:p>
            <a:pPr fontAlgn="auto">
              <a:lnSpc>
                <a:spcPct val="40000"/>
              </a:lnSpc>
              <a:spcBef>
                <a:spcPts val="1400"/>
              </a:spcBef>
              <a:spcAft>
                <a:spcPts val="0"/>
              </a:spcAft>
              <a:buClr>
                <a:schemeClr val="accent1">
                  <a:lumMod val="60000"/>
                  <a:lumOff val="40000"/>
                </a:schemeClr>
              </a:buClr>
              <a:buFont typeface="Candara" panose="020E0502030303020204" pitchFamily="-84" charset="0"/>
              <a:buNone/>
              <a:defRPr/>
            </a:pPr>
            <a:r>
              <a:rPr lang="en-US" sz="2400" dirty="0" smtClean="0">
                <a:sym typeface="+mn-ea"/>
              </a:rPr>
              <a:t>	</a:t>
            </a:r>
            <a:r>
              <a:rPr lang="zh-CN" altLang="en-US" sz="2400" dirty="0" smtClean="0">
                <a:sym typeface="+mn-ea"/>
              </a:rPr>
              <a:t>（</a:t>
            </a:r>
            <a:r>
              <a:rPr lang="en-US" altLang="zh-CN" sz="2400" dirty="0" smtClean="0">
                <a:sym typeface="+mn-ea"/>
              </a:rPr>
              <a:t>a+b) </a:t>
            </a:r>
            <a:r>
              <a:rPr lang="en-US" sz="2400" smtClean="0">
                <a:sym typeface="+mn-ea"/>
              </a:rPr>
              <a:t>≡ (a+c) (mod n)</a:t>
            </a:r>
            <a:r>
              <a:rPr lang="zh-CN" altLang="en-US" sz="2400" smtClean="0">
                <a:sym typeface="+mn-ea"/>
              </a:rPr>
              <a:t>，则</a:t>
            </a:r>
            <a:r>
              <a:rPr lang="en-US" altLang="zh-CN" sz="2400" smtClean="0">
                <a:sym typeface="+mn-ea"/>
              </a:rPr>
              <a:t>b</a:t>
            </a:r>
            <a:r>
              <a:rPr lang="en-US" sz="2400" smtClean="0">
                <a:sym typeface="+mn-ea"/>
              </a:rPr>
              <a:t>≡c (mod n)        </a:t>
            </a:r>
            <a:r>
              <a:rPr lang="zh-CN" altLang="en-US" sz="2400" smtClean="0">
                <a:sym typeface="+mn-ea"/>
              </a:rPr>
              <a:t>（公式</a:t>
            </a:r>
            <a:r>
              <a:rPr lang="en-US" altLang="zh-CN" sz="2400" smtClean="0">
                <a:sym typeface="+mn-ea"/>
              </a:rPr>
              <a:t>2.4</a:t>
            </a:r>
            <a:r>
              <a:rPr lang="zh-CN" altLang="en-US" sz="2400" smtClean="0">
                <a:sym typeface="+mn-ea"/>
              </a:rPr>
              <a:t>）</a:t>
            </a:r>
            <a:endParaRPr lang="en-US" sz="2400" dirty="0" smtClean="0">
              <a:ea typeface="+mn-ea"/>
              <a:cs typeface="+mn-cs"/>
            </a:endParaRPr>
          </a:p>
          <a:p>
            <a:pPr marL="0" lvl="1" indent="-342900">
              <a:buFont typeface="Arial" panose="020B0604020202020204" pitchFamily="34" charset="0"/>
              <a:buChar char="•"/>
            </a:pPr>
            <a:endParaRPr lang="zh-CN" altLang="en-US" sz="2400" smtClean="0">
              <a:sym typeface="+mn-ea"/>
            </a:endParaRPr>
          </a:p>
        </p:txBody>
      </p:sp>
      <p:sp>
        <p:nvSpPr>
          <p:cNvPr id="8" name="TextBox 5"/>
          <p:cNvSpPr txBox="1"/>
          <p:nvPr/>
        </p:nvSpPr>
        <p:spPr>
          <a:xfrm>
            <a:off x="3826510" y="2506980"/>
            <a:ext cx="3981450" cy="922020"/>
          </a:xfrm>
          <a:prstGeom prst="rect">
            <a:avLst/>
          </a:prstGeom>
          <a:solidFill>
            <a:schemeClr val="accent4">
              <a:lumMod val="60000"/>
              <a:lumOff val="40000"/>
            </a:schemeClr>
          </a:solidFill>
          <a:ln w="31750">
            <a:solidFill>
              <a:schemeClr val="accent4">
                <a:lumMod val="75000"/>
              </a:schemeClr>
            </a:solidFill>
          </a:ln>
        </p:spPr>
        <p:txBody>
          <a:bodyPr>
            <a:spAutoFit/>
          </a:bodyPr>
          <a:p>
            <a:pPr>
              <a:defRPr/>
            </a:pPr>
            <a:r>
              <a:rPr lang="en-US" dirty="0">
                <a:latin typeface="Arial" panose="020B0604020202020204" pitchFamily="34" charset="0"/>
              </a:rPr>
              <a:t> </a:t>
            </a:r>
            <a:endParaRPr lang="en-US" dirty="0">
              <a:latin typeface="Arial" panose="020B0604020202020204" pitchFamily="34" charset="0"/>
            </a:endParaRPr>
          </a:p>
          <a:p>
            <a:pPr algn="ctr">
              <a:defRPr/>
            </a:pPr>
            <a:r>
              <a:rPr lang="en-US" dirty="0">
                <a:latin typeface="Arial" panose="020B0604020202020204" pitchFamily="34" charset="0"/>
              </a:rPr>
              <a:t>(5+23) </a:t>
            </a:r>
            <a:r>
              <a:rPr lang="en-US" smtClean="0">
                <a:sym typeface="+mn-ea"/>
              </a:rPr>
              <a:t>≡</a:t>
            </a:r>
            <a:r>
              <a:rPr lang="en-US" dirty="0">
                <a:latin typeface="Arial" panose="020B0604020202020204" pitchFamily="34" charset="0"/>
              </a:rPr>
              <a:t> (5+7) (mod 8);   23</a:t>
            </a:r>
            <a:r>
              <a:rPr lang="en-US" smtClean="0">
                <a:sym typeface="+mn-ea"/>
              </a:rPr>
              <a:t>≡7(mod8)</a:t>
            </a:r>
            <a:endParaRPr lang="en-US" dirty="0">
              <a:latin typeface="Arial" panose="020B0604020202020204" pitchFamily="34" charset="0"/>
            </a:endParaRPr>
          </a:p>
          <a:p>
            <a:pPr algn="ctr">
              <a:defRPr/>
            </a:pPr>
            <a:endParaRPr lang="en-US" dirty="0">
              <a:latin typeface="Arial" panose="020B0604020202020204" pitchFamily="34" charset="0"/>
            </a:endParaRPr>
          </a:p>
        </p:txBody>
      </p:sp>
      <p:sp>
        <p:nvSpPr>
          <p:cNvPr id="9" name="文本框 8"/>
          <p:cNvSpPr txBox="1"/>
          <p:nvPr/>
        </p:nvSpPr>
        <p:spPr>
          <a:xfrm>
            <a:off x="1242695" y="3815080"/>
            <a:ext cx="9987280" cy="607695"/>
          </a:xfrm>
          <a:prstGeom prst="rect">
            <a:avLst/>
          </a:prstGeom>
          <a:noFill/>
        </p:spPr>
        <p:txBody>
          <a:bodyPr wrap="square" rtlCol="0" anchor="t">
            <a:spAutoFit/>
          </a:bodyPr>
          <a:p>
            <a:pPr fontAlgn="auto">
              <a:lnSpc>
                <a:spcPct val="40000"/>
              </a:lnSpc>
              <a:spcBef>
                <a:spcPts val="1400"/>
              </a:spcBef>
              <a:spcAft>
                <a:spcPts val="0"/>
              </a:spcAft>
              <a:buClr>
                <a:schemeClr val="accent1">
                  <a:lumMod val="60000"/>
                  <a:lumOff val="40000"/>
                </a:schemeClr>
              </a:buClr>
              <a:buFont typeface="Candara" panose="020E0502030303020204" pitchFamily="-84" charset="0"/>
              <a:buNone/>
              <a:defRPr/>
            </a:pPr>
            <a:r>
              <a:rPr lang="zh-CN" altLang="en-US" sz="2400" b="1" dirty="0" smtClean="0">
                <a:sym typeface="+mn-ea"/>
              </a:rPr>
              <a:t>（</a:t>
            </a:r>
            <a:r>
              <a:rPr lang="en-US" altLang="zh-CN" sz="2400" b="1" dirty="0" smtClean="0">
                <a:sym typeface="+mn-ea"/>
              </a:rPr>
              <a:t>a</a:t>
            </a:r>
            <a:r>
              <a:rPr lang="en-US" altLang="zh-CN" sz="2400" b="1" dirty="0" smtClean="0">
                <a:latin typeface="Arial" panose="020B0604020202020204" pitchFamily="34" charset="0"/>
                <a:sym typeface="+mn-ea"/>
              </a:rPr>
              <a:t>×</a:t>
            </a:r>
            <a:r>
              <a:rPr lang="en-US" altLang="zh-CN" sz="2400" b="1" dirty="0" smtClean="0">
                <a:sym typeface="+mn-ea"/>
              </a:rPr>
              <a:t>b) </a:t>
            </a:r>
            <a:r>
              <a:rPr lang="en-US" sz="2400" b="1" smtClean="0">
                <a:sym typeface="+mn-ea"/>
              </a:rPr>
              <a:t>≡ (a</a:t>
            </a:r>
            <a:r>
              <a:rPr lang="en-US" altLang="zh-CN" sz="2400" b="1" dirty="0" smtClean="0">
                <a:latin typeface="Arial" panose="020B0604020202020204" pitchFamily="34" charset="0"/>
                <a:sym typeface="+mn-ea"/>
              </a:rPr>
              <a:t>×</a:t>
            </a:r>
            <a:r>
              <a:rPr lang="en-US" sz="2400" b="1" smtClean="0">
                <a:sym typeface="+mn-ea"/>
              </a:rPr>
              <a:t>c) (mod n)</a:t>
            </a:r>
            <a:r>
              <a:rPr lang="zh-CN" altLang="en-US" sz="2400" b="1" smtClean="0">
                <a:sym typeface="+mn-ea"/>
              </a:rPr>
              <a:t>，则当</a:t>
            </a:r>
            <a:r>
              <a:rPr lang="en-US" altLang="zh-CN" sz="2400" b="1" smtClean="0">
                <a:sym typeface="+mn-ea"/>
              </a:rPr>
              <a:t>a</a:t>
            </a:r>
            <a:r>
              <a:rPr lang="zh-CN" altLang="en-US" sz="2400" b="1" smtClean="0">
                <a:sym typeface="+mn-ea"/>
              </a:rPr>
              <a:t>与</a:t>
            </a:r>
            <a:r>
              <a:rPr lang="en-US" altLang="zh-CN" sz="2400" b="1" smtClean="0">
                <a:sym typeface="+mn-ea"/>
              </a:rPr>
              <a:t>n</a:t>
            </a:r>
            <a:r>
              <a:rPr lang="zh-CN" altLang="en-US" sz="2400" b="1" smtClean="0">
                <a:solidFill>
                  <a:srgbClr val="FF0000"/>
                </a:solidFill>
                <a:sym typeface="+mn-ea"/>
              </a:rPr>
              <a:t>互素</a:t>
            </a:r>
            <a:r>
              <a:rPr lang="zh-CN" altLang="en-US" sz="2400" b="1" smtClean="0">
                <a:sym typeface="+mn-ea"/>
              </a:rPr>
              <a:t>时，有</a:t>
            </a:r>
            <a:r>
              <a:rPr lang="en-US" altLang="zh-CN" sz="2400" b="1" smtClean="0">
                <a:sym typeface="+mn-ea"/>
              </a:rPr>
              <a:t>b</a:t>
            </a:r>
            <a:r>
              <a:rPr lang="en-US" sz="2400" b="1" smtClean="0">
                <a:sym typeface="+mn-ea"/>
              </a:rPr>
              <a:t>≡c (mod n)       </a:t>
            </a:r>
            <a:r>
              <a:rPr lang="zh-CN" altLang="en-US" sz="2400" b="1" smtClean="0">
                <a:sym typeface="+mn-ea"/>
              </a:rPr>
              <a:t>（公式</a:t>
            </a:r>
            <a:r>
              <a:rPr lang="en-US" altLang="zh-CN" sz="2400" b="1" smtClean="0">
                <a:sym typeface="+mn-ea"/>
              </a:rPr>
              <a:t>2.5</a:t>
            </a:r>
            <a:r>
              <a:rPr lang="zh-CN" altLang="en-US" sz="2400" b="1" smtClean="0">
                <a:sym typeface="+mn-ea"/>
              </a:rPr>
              <a:t>）</a:t>
            </a:r>
            <a:endParaRPr lang="en-US" sz="2400" b="1" dirty="0" smtClean="0">
              <a:ea typeface="+mn-ea"/>
              <a:cs typeface="+mn-cs"/>
            </a:endParaRPr>
          </a:p>
          <a:p>
            <a:pPr marL="0" lvl="1" indent="-342900">
              <a:buFont typeface="Arial" panose="020B0604020202020204" pitchFamily="34" charset="0"/>
              <a:buChar char="•"/>
            </a:pPr>
            <a:endParaRPr lang="zh-CN" altLang="en-US" sz="2400" b="1" smtClean="0">
              <a:sym typeface="+mn-ea"/>
            </a:endParaRPr>
          </a:p>
        </p:txBody>
      </p:sp>
      <p:sp>
        <p:nvSpPr>
          <p:cNvPr id="10" name="TextBox 5"/>
          <p:cNvSpPr txBox="1"/>
          <p:nvPr/>
        </p:nvSpPr>
        <p:spPr>
          <a:xfrm>
            <a:off x="2343785" y="4570095"/>
            <a:ext cx="7200900" cy="922020"/>
          </a:xfrm>
          <a:prstGeom prst="rect">
            <a:avLst/>
          </a:prstGeom>
          <a:solidFill>
            <a:schemeClr val="accent4">
              <a:lumMod val="60000"/>
              <a:lumOff val="40000"/>
            </a:schemeClr>
          </a:solidFill>
          <a:ln w="31750">
            <a:solidFill>
              <a:schemeClr val="accent4">
                <a:lumMod val="75000"/>
              </a:schemeClr>
            </a:solidFill>
          </a:ln>
        </p:spPr>
        <p:txBody>
          <a:bodyPr wrap="square">
            <a:spAutoFit/>
          </a:bodyPr>
          <a:p>
            <a:pPr>
              <a:defRPr/>
            </a:pPr>
            <a:r>
              <a:rPr lang="en-US" dirty="0">
                <a:latin typeface="Arial" panose="020B0604020202020204" pitchFamily="34" charset="0"/>
              </a:rPr>
              <a:t> </a:t>
            </a:r>
            <a:r>
              <a:rPr lang="zh-CN" altLang="en-US" dirty="0">
                <a:latin typeface="Arial" panose="020B0604020202020204" pitchFamily="34" charset="0"/>
              </a:rPr>
              <a:t>例如：</a:t>
            </a:r>
            <a:r>
              <a:rPr lang="en-US" altLang="zh-CN" dirty="0">
                <a:latin typeface="Arial" panose="020B0604020202020204" pitchFamily="34" charset="0"/>
              </a:rPr>
              <a:t>6</a:t>
            </a:r>
            <a:r>
              <a:rPr lang="zh-CN" altLang="en-US" dirty="0">
                <a:latin typeface="Arial" panose="020B0604020202020204" pitchFamily="34" charset="0"/>
              </a:rPr>
              <a:t>和</a:t>
            </a:r>
            <a:r>
              <a:rPr lang="en-US" altLang="zh-CN" dirty="0">
                <a:latin typeface="Arial" panose="020B0604020202020204" pitchFamily="34" charset="0"/>
              </a:rPr>
              <a:t>8</a:t>
            </a:r>
            <a:r>
              <a:rPr lang="zh-CN" altLang="en-US" dirty="0">
                <a:latin typeface="Arial" panose="020B0604020202020204" pitchFamily="34" charset="0"/>
              </a:rPr>
              <a:t>不是互素的（因为有公因子</a:t>
            </a:r>
            <a:r>
              <a:rPr lang="en-US" altLang="zh-CN" dirty="0">
                <a:latin typeface="Arial" panose="020B0604020202020204" pitchFamily="34" charset="0"/>
              </a:rPr>
              <a:t>2</a:t>
            </a:r>
            <a:r>
              <a:rPr lang="zh-CN" altLang="en-US" dirty="0">
                <a:latin typeface="Arial" panose="020B0604020202020204" pitchFamily="34" charset="0"/>
              </a:rPr>
              <a:t>），于是有</a:t>
            </a:r>
            <a:endParaRPr lang="en-US" dirty="0">
              <a:latin typeface="Arial" panose="020B0604020202020204" pitchFamily="34" charset="0"/>
            </a:endParaRPr>
          </a:p>
          <a:p>
            <a:pPr algn="ctr">
              <a:defRPr/>
            </a:pPr>
            <a:r>
              <a:rPr lang="en-US" dirty="0">
                <a:latin typeface="Arial" panose="020B0604020202020204" pitchFamily="34" charset="0"/>
              </a:rPr>
              <a:t>(6</a:t>
            </a:r>
            <a:r>
              <a:rPr lang="en-US" altLang="zh-CN" b="1" dirty="0" smtClean="0">
                <a:latin typeface="Arial" panose="020B0604020202020204" pitchFamily="34" charset="0"/>
                <a:sym typeface="+mn-ea"/>
              </a:rPr>
              <a:t>×</a:t>
            </a:r>
            <a:r>
              <a:rPr lang="en-US" dirty="0">
                <a:latin typeface="Arial" panose="020B0604020202020204" pitchFamily="34" charset="0"/>
              </a:rPr>
              <a:t>3)=18 </a:t>
            </a:r>
            <a:r>
              <a:rPr lang="en-US" smtClean="0">
                <a:sym typeface="+mn-ea"/>
              </a:rPr>
              <a:t>≡</a:t>
            </a:r>
            <a:r>
              <a:rPr lang="en-US" dirty="0">
                <a:latin typeface="Arial" panose="020B0604020202020204" pitchFamily="34" charset="0"/>
              </a:rPr>
              <a:t> 2(mod 8)</a:t>
            </a:r>
            <a:r>
              <a:rPr lang="zh-CN" altLang="en-US" dirty="0">
                <a:latin typeface="Arial" panose="020B0604020202020204" pitchFamily="34" charset="0"/>
              </a:rPr>
              <a:t>，</a:t>
            </a:r>
            <a:r>
              <a:rPr lang="en-US" dirty="0">
                <a:latin typeface="Arial" panose="020B0604020202020204" pitchFamily="34" charset="0"/>
              </a:rPr>
              <a:t>   </a:t>
            </a:r>
            <a:r>
              <a:rPr lang="en-US" dirty="0">
                <a:latin typeface="Arial" panose="020B0604020202020204" pitchFamily="34" charset="0"/>
                <a:sym typeface="+mn-ea"/>
              </a:rPr>
              <a:t>(6</a:t>
            </a:r>
            <a:r>
              <a:rPr lang="en-US" altLang="zh-CN" b="1" dirty="0" smtClean="0">
                <a:latin typeface="Arial" panose="020B0604020202020204" pitchFamily="34" charset="0"/>
                <a:sym typeface="+mn-ea"/>
              </a:rPr>
              <a:t>×7</a:t>
            </a:r>
            <a:r>
              <a:rPr lang="en-US" dirty="0">
                <a:latin typeface="Arial" panose="020B0604020202020204" pitchFamily="34" charset="0"/>
                <a:sym typeface="+mn-ea"/>
              </a:rPr>
              <a:t>)=42</a:t>
            </a:r>
            <a:r>
              <a:rPr lang="en-US" smtClean="0">
                <a:sym typeface="+mn-ea"/>
              </a:rPr>
              <a:t>≡</a:t>
            </a:r>
            <a:r>
              <a:rPr lang="en-US" dirty="0">
                <a:latin typeface="Arial" panose="020B0604020202020204" pitchFamily="34" charset="0"/>
                <a:sym typeface="+mn-ea"/>
              </a:rPr>
              <a:t>2(mod 8)</a:t>
            </a:r>
            <a:endParaRPr lang="en-US" dirty="0">
              <a:latin typeface="Arial" panose="020B0604020202020204" pitchFamily="34" charset="0"/>
              <a:sym typeface="+mn-ea"/>
            </a:endParaRPr>
          </a:p>
          <a:p>
            <a:pPr algn="ctr">
              <a:defRPr/>
            </a:pPr>
            <a:r>
              <a:rPr lang="zh-CN" altLang="en-US" dirty="0">
                <a:latin typeface="Arial" panose="020B0604020202020204" pitchFamily="34" charset="0"/>
              </a:rPr>
              <a:t>然而</a:t>
            </a:r>
            <a:r>
              <a:rPr lang="en-US" altLang="zh-CN" dirty="0">
                <a:latin typeface="Arial" panose="020B0604020202020204" pitchFamily="34" charset="0"/>
              </a:rPr>
              <a:t>3≠7(mod 8)</a:t>
            </a:r>
            <a:endParaRPr lang="zh-CN" altLang="en-US" dirty="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dirty="0" smtClean="0">
                <a:sym typeface="+mn-ea"/>
              </a:rPr>
              <a:t>费马小定理</a:t>
            </a:r>
            <a:endParaRPr lang="zh-CN" altLang="en-US" sz="2800" dirty="0" smtClean="0">
              <a:sym typeface="+mn-ea"/>
            </a:endParaRPr>
          </a:p>
        </p:txBody>
      </p:sp>
      <p:sp>
        <p:nvSpPr>
          <p:cNvPr id="5" name="文本框 4"/>
          <p:cNvSpPr txBox="1"/>
          <p:nvPr/>
        </p:nvSpPr>
        <p:spPr>
          <a:xfrm>
            <a:off x="1742440" y="1726565"/>
            <a:ext cx="8887460" cy="829945"/>
          </a:xfrm>
          <a:prstGeom prst="rect">
            <a:avLst/>
          </a:prstGeom>
          <a:noFill/>
        </p:spPr>
        <p:txBody>
          <a:bodyPr wrap="square" rtlCol="0">
            <a:spAutoFit/>
          </a:bodyPr>
          <a:p>
            <a:pPr marL="342900" indent="-342900">
              <a:buFont typeface="Arial" panose="020B0604020202020204" pitchFamily="34" charset="0"/>
              <a:buChar char="•"/>
            </a:pPr>
            <a:r>
              <a:rPr lang="zh-CN" altLang="en-US" sz="2400" smtClean="0">
                <a:sym typeface="+mn-ea"/>
              </a:rPr>
              <a:t>定理：如果</a:t>
            </a:r>
            <a:r>
              <a:rPr lang="en-US" altLang="zh-CN" sz="2400" smtClean="0">
                <a:sym typeface="+mn-ea"/>
              </a:rPr>
              <a:t>p</a:t>
            </a:r>
            <a:r>
              <a:rPr lang="zh-CN" altLang="en-US" sz="2400" smtClean="0">
                <a:sym typeface="+mn-ea"/>
              </a:rPr>
              <a:t>是素数，</a:t>
            </a:r>
            <a:r>
              <a:rPr lang="en-US" altLang="zh-CN" sz="2400" smtClean="0">
                <a:sym typeface="+mn-ea"/>
              </a:rPr>
              <a:t>a</a:t>
            </a:r>
            <a:r>
              <a:rPr lang="zh-CN" altLang="en-US" sz="2400" smtClean="0">
                <a:sym typeface="+mn-ea"/>
              </a:rPr>
              <a:t>是正整数且不能被</a:t>
            </a:r>
            <a:r>
              <a:rPr lang="en-US" altLang="zh-CN" sz="2400" smtClean="0">
                <a:sym typeface="+mn-ea"/>
              </a:rPr>
              <a:t>p</a:t>
            </a:r>
            <a:r>
              <a:rPr lang="zh-CN" altLang="en-US" sz="2400" smtClean="0">
                <a:sym typeface="+mn-ea"/>
              </a:rPr>
              <a:t>整除，则：</a:t>
            </a:r>
            <a:endParaRPr lang="zh-CN" altLang="en-US" sz="2400" smtClean="0">
              <a:sym typeface="+mn-ea"/>
            </a:endParaRPr>
          </a:p>
          <a:p>
            <a:pPr lvl="7" indent="0">
              <a:buNone/>
            </a:pPr>
            <a:r>
              <a:rPr lang="en-AU" sz="2400" dirty="0" smtClean="0">
                <a:sym typeface="+mn-ea"/>
              </a:rPr>
              <a:t>a</a:t>
            </a:r>
            <a:r>
              <a:rPr lang="en-AU" sz="2400" baseline="30000" dirty="0" smtClean="0">
                <a:sym typeface="+mn-ea"/>
              </a:rPr>
              <a:t>p-1</a:t>
            </a:r>
            <a:r>
              <a:rPr lang="en-AU" sz="2400" dirty="0" smtClean="0">
                <a:sym typeface="+mn-ea"/>
              </a:rPr>
              <a:t> = 1 (mod </a:t>
            </a:r>
            <a:r>
              <a:rPr lang="en-AU" sz="2400" i="1" dirty="0" smtClean="0">
                <a:sym typeface="+mn-ea"/>
              </a:rPr>
              <a:t>p</a:t>
            </a:r>
            <a:r>
              <a:rPr lang="en-AU" sz="2400" dirty="0" smtClean="0">
                <a:sym typeface="+mn-ea"/>
              </a:rPr>
              <a:t>)</a:t>
            </a:r>
            <a:r>
              <a:rPr lang="en-US" altLang="en-AU" sz="2400" dirty="0" smtClean="0">
                <a:sym typeface="+mn-ea"/>
              </a:rPr>
              <a:t>                       </a:t>
            </a:r>
            <a:r>
              <a:rPr lang="zh-CN" altLang="en-US" sz="2400" dirty="0" smtClean="0">
                <a:sym typeface="+mn-ea"/>
              </a:rPr>
              <a:t>（</a:t>
            </a:r>
            <a:r>
              <a:rPr lang="en-US" altLang="zh-CN" sz="2400" dirty="0" smtClean="0">
                <a:sym typeface="+mn-ea"/>
              </a:rPr>
              <a:t>2.10</a:t>
            </a:r>
            <a:r>
              <a:rPr lang="zh-CN" altLang="en-US" sz="2400" dirty="0" smtClean="0">
                <a:sym typeface="+mn-ea"/>
              </a:rPr>
              <a:t>）</a:t>
            </a:r>
            <a:endParaRPr lang="zh-CN" altLang="en-US" sz="2400" dirty="0" smtClean="0">
              <a:sym typeface="+mn-ea"/>
            </a:endParaRPr>
          </a:p>
        </p:txBody>
      </p:sp>
      <p:sp>
        <p:nvSpPr>
          <p:cNvPr id="11" name="文本框 10"/>
          <p:cNvSpPr txBox="1"/>
          <p:nvPr/>
        </p:nvSpPr>
        <p:spPr>
          <a:xfrm>
            <a:off x="1370965" y="2811780"/>
            <a:ext cx="9562465" cy="3169285"/>
          </a:xfrm>
          <a:prstGeom prst="rect">
            <a:avLst/>
          </a:prstGeom>
          <a:noFill/>
        </p:spPr>
        <p:txBody>
          <a:bodyPr wrap="square" rtlCol="0">
            <a:spAutoFit/>
          </a:bodyPr>
          <a:p>
            <a:pPr marL="342900" indent="-342900">
              <a:buFont typeface="Arial" panose="020B0604020202020204" pitchFamily="34" charset="0"/>
              <a:buChar char="•"/>
            </a:pPr>
            <a:r>
              <a:rPr lang="zh-CN" altLang="en-US" sz="2000" smtClean="0">
                <a:sym typeface="+mn-ea"/>
              </a:rPr>
              <a:t>证明： 考虑小于p的正整数集合{1,…,p-1},用a乘以集合中的所有元素并对p取模，得到集合X={amodp,2amod p,…,(p-1)amodp}。因为p不能整除a,所以X的元素都不等于0,而且各元素互不相等。为了说明这一点，假设ja=ka(modp),其中1≤j&lt;k≤p-1,因为a和p互素②,因此可将等式[参见式(2.</a:t>
            </a:r>
            <a:r>
              <a:rPr lang="en-US" altLang="zh-CN" sz="2000" smtClean="0">
                <a:sym typeface="+mn-ea"/>
              </a:rPr>
              <a:t>5</a:t>
            </a:r>
            <a:r>
              <a:rPr lang="zh-CN" altLang="en-US" sz="2000" smtClean="0">
                <a:sym typeface="+mn-ea"/>
              </a:rPr>
              <a:t>)]两边的a消去，推出j=k(mod p)。这个最后的等式不成立，因为j和k都是小于p的正整数。因此X的p-1个元素都是正整数且互不相等。所以说X和{1,…,p-1}的构成相同，只是元素顺序不同。将两个集合的所有元素分别相乘，并对结果模p,有</a:t>
            </a:r>
            <a:endParaRPr lang="zh-CN" altLang="en-US" sz="2000" smtClean="0">
              <a:sym typeface="+mn-ea"/>
            </a:endParaRPr>
          </a:p>
          <a:p>
            <a:pPr indent="0" algn="ctr">
              <a:buFont typeface="Arial" panose="020B0604020202020204" pitchFamily="34" charset="0"/>
              <a:buNone/>
            </a:pPr>
            <a:r>
              <a:rPr lang="zh-CN" altLang="en-US" sz="2000" dirty="0" smtClean="0">
                <a:sym typeface="+mn-ea"/>
              </a:rPr>
              <a:t>a×2a×…×(p-1)a=[(1×2×…×(p-1)](mod p)</a:t>
            </a:r>
            <a:endParaRPr lang="zh-CN" altLang="en-US" sz="2000" dirty="0" smtClean="0">
              <a:sym typeface="+mn-ea"/>
            </a:endParaRPr>
          </a:p>
          <a:p>
            <a:pPr indent="0" algn="ctr">
              <a:buNone/>
            </a:pPr>
            <a:r>
              <a:rPr lang="zh-CN" altLang="en-US" sz="2000" dirty="0" smtClean="0">
                <a:sym typeface="+mn-ea"/>
              </a:rPr>
              <a:t>aP-(p-1)!=(p-1)!(mod p)</a:t>
            </a:r>
            <a:endParaRPr lang="zh-CN" altLang="en-US" sz="2000" dirty="0" smtClean="0">
              <a:sym typeface="+mn-ea"/>
            </a:endParaRPr>
          </a:p>
          <a:p>
            <a:pPr marL="342900" indent="-342900">
              <a:buFont typeface="Arial" panose="020B0604020202020204" pitchFamily="34" charset="0"/>
              <a:buChar char="•"/>
            </a:pPr>
            <a:r>
              <a:rPr lang="zh-CN" altLang="en-US" sz="2000" dirty="0" smtClean="0">
                <a:sym typeface="+mn-ea"/>
              </a:rPr>
              <a:t>因为(p-1)!和p互素，根据式(2.5),可以消去(p-1)!这一项，得到式(2.10)。证毕。</a:t>
            </a:r>
            <a:endParaRPr lang="zh-CN" altLang="en-US" sz="2000" dirty="0" smtClean="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dirty="0" smtClean="0">
                <a:sym typeface="+mn-ea"/>
              </a:rPr>
              <a:t>欧拉函数</a:t>
            </a:r>
            <a:endParaRPr lang="zh-CN" altLang="en-US" sz="2800" dirty="0" smtClean="0">
              <a:sym typeface="+mn-ea"/>
            </a:endParaRPr>
          </a:p>
        </p:txBody>
      </p:sp>
      <p:sp>
        <p:nvSpPr>
          <p:cNvPr id="5" name="文本框 4"/>
          <p:cNvSpPr txBox="1"/>
          <p:nvPr/>
        </p:nvSpPr>
        <p:spPr>
          <a:xfrm>
            <a:off x="1742440" y="1726565"/>
            <a:ext cx="8887460" cy="460375"/>
          </a:xfrm>
          <a:prstGeom prst="rect">
            <a:avLst/>
          </a:prstGeom>
          <a:noFill/>
        </p:spPr>
        <p:txBody>
          <a:bodyPr wrap="square" rtlCol="0">
            <a:spAutoFit/>
          </a:bodyPr>
          <a:p>
            <a:pPr marL="342900" indent="-342900">
              <a:buFont typeface="Arial" panose="020B0604020202020204" pitchFamily="34" charset="0"/>
              <a:buChar char="•"/>
            </a:pPr>
            <a:r>
              <a:rPr lang="zh-CN" altLang="en-US" sz="2400" dirty="0" smtClean="0">
                <a:sym typeface="+mn-ea"/>
              </a:rPr>
              <a:t>欧拉函数ø(n)，指小于</a:t>
            </a:r>
            <a:r>
              <a:rPr lang="en-US" altLang="zh-CN" sz="2400" dirty="0" smtClean="0">
                <a:sym typeface="+mn-ea"/>
              </a:rPr>
              <a:t>n</a:t>
            </a:r>
            <a:r>
              <a:rPr lang="zh-CN" altLang="en-US" sz="2400" dirty="0" smtClean="0">
                <a:sym typeface="+mn-ea"/>
              </a:rPr>
              <a:t>且与</a:t>
            </a:r>
            <a:r>
              <a:rPr lang="en-US" altLang="zh-CN" sz="2400" dirty="0" smtClean="0">
                <a:sym typeface="+mn-ea"/>
              </a:rPr>
              <a:t>n</a:t>
            </a:r>
            <a:r>
              <a:rPr lang="zh-CN" altLang="en-US" sz="2400" dirty="0" smtClean="0">
                <a:sym typeface="+mn-ea"/>
              </a:rPr>
              <a:t>互素的正整数的个数。</a:t>
            </a:r>
            <a:r>
              <a:rPr lang="zh-CN" altLang="en-US" sz="2400" dirty="0" smtClean="0">
                <a:sym typeface="+mn-ea"/>
              </a:rPr>
              <a:t>ø(</a:t>
            </a:r>
            <a:r>
              <a:rPr lang="en-US" altLang="zh-CN" sz="2400" dirty="0" smtClean="0">
                <a:sym typeface="+mn-ea"/>
              </a:rPr>
              <a:t>1</a:t>
            </a:r>
            <a:r>
              <a:rPr lang="zh-CN" altLang="en-US" sz="2400" dirty="0" smtClean="0">
                <a:sym typeface="+mn-ea"/>
              </a:rPr>
              <a:t>)</a:t>
            </a:r>
            <a:r>
              <a:rPr lang="en-US" altLang="zh-CN" sz="2400" dirty="0" smtClean="0">
                <a:sym typeface="+mn-ea"/>
              </a:rPr>
              <a:t>=1</a:t>
            </a:r>
            <a:endParaRPr lang="en-US" altLang="zh-CN" sz="2400" dirty="0" smtClean="0">
              <a:sym typeface="+mn-ea"/>
            </a:endParaRPr>
          </a:p>
        </p:txBody>
      </p:sp>
      <p:pic>
        <p:nvPicPr>
          <p:cNvPr id="41987" name="Picture 8"/>
          <p:cNvPicPr>
            <a:picLocks noChangeAspect="1"/>
          </p:cNvPicPr>
          <p:nvPr/>
        </p:nvPicPr>
        <p:blipFill>
          <a:blip r:embed="rId2"/>
          <a:srcRect l="13585" t="-2904" r="15094"/>
          <a:stretch>
            <a:fillRect/>
          </a:stretch>
        </p:blipFill>
        <p:spPr bwMode="auto">
          <a:xfrm>
            <a:off x="3110230" y="2219325"/>
            <a:ext cx="5561330" cy="41719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dirty="0" smtClean="0">
                <a:sym typeface="+mn-ea"/>
              </a:rPr>
              <a:t>欧拉定理</a:t>
            </a:r>
            <a:endParaRPr lang="zh-CN" altLang="en-US" sz="2800" dirty="0" smtClean="0">
              <a:sym typeface="+mn-ea"/>
            </a:endParaRPr>
          </a:p>
        </p:txBody>
      </p:sp>
      <p:sp>
        <p:nvSpPr>
          <p:cNvPr id="5" name="文本框 4"/>
          <p:cNvSpPr txBox="1"/>
          <p:nvPr/>
        </p:nvSpPr>
        <p:spPr>
          <a:xfrm>
            <a:off x="1742440" y="1726565"/>
            <a:ext cx="8887460" cy="829945"/>
          </a:xfrm>
          <a:prstGeom prst="rect">
            <a:avLst/>
          </a:prstGeom>
          <a:noFill/>
        </p:spPr>
        <p:txBody>
          <a:bodyPr wrap="square" rtlCol="0">
            <a:spAutoFit/>
          </a:bodyPr>
          <a:p>
            <a:pPr marL="342900" indent="-342900">
              <a:buFont typeface="Arial" panose="020B0604020202020204" pitchFamily="34" charset="0"/>
              <a:buChar char="•"/>
            </a:pPr>
            <a:r>
              <a:rPr lang="zh-CN" altLang="en-US" sz="2400" dirty="0" smtClean="0">
                <a:sym typeface="+mn-ea"/>
              </a:rPr>
              <a:t>定理：欧拉定理说明，对于任意互素的</a:t>
            </a:r>
            <a:r>
              <a:rPr lang="en-US" altLang="zh-CN" sz="2400" dirty="0" smtClean="0">
                <a:sym typeface="+mn-ea"/>
              </a:rPr>
              <a:t>a</a:t>
            </a:r>
            <a:r>
              <a:rPr lang="zh-CN" altLang="en-US" sz="2400" dirty="0" smtClean="0">
                <a:sym typeface="+mn-ea"/>
              </a:rPr>
              <a:t>和</a:t>
            </a:r>
            <a:r>
              <a:rPr lang="en-US" altLang="zh-CN" sz="2400" dirty="0" smtClean="0">
                <a:sym typeface="+mn-ea"/>
              </a:rPr>
              <a:t>n</a:t>
            </a:r>
            <a:r>
              <a:rPr lang="zh-CN" altLang="en-US" sz="2400" dirty="0" smtClean="0">
                <a:sym typeface="+mn-ea"/>
              </a:rPr>
              <a:t>，有</a:t>
            </a:r>
            <a:endParaRPr lang="zh-CN" altLang="en-US" sz="2400" dirty="0" smtClean="0">
              <a:sym typeface="+mn-ea"/>
            </a:endParaRPr>
          </a:p>
          <a:p>
            <a:pPr indent="0" algn="ctr">
              <a:buFont typeface="Arial" panose="020B0604020202020204" pitchFamily="34" charset="0"/>
              <a:buNone/>
            </a:pPr>
            <a:r>
              <a:rPr lang="en-US" sz="2400" i="1" dirty="0" smtClean="0">
                <a:sym typeface="+mn-ea"/>
              </a:rPr>
              <a:t>a</a:t>
            </a:r>
            <a:r>
              <a:rPr lang="en-AU" sz="2400" baseline="30000" dirty="0" err="1" smtClean="0">
                <a:sym typeface="+mn-ea"/>
              </a:rPr>
              <a:t>ø</a:t>
            </a:r>
            <a:r>
              <a:rPr lang="en-US" sz="2400" baseline="30000" dirty="0" smtClean="0">
                <a:sym typeface="+mn-ea"/>
              </a:rPr>
              <a:t>(</a:t>
            </a:r>
            <a:r>
              <a:rPr lang="en-US" sz="2400" baseline="30000" dirty="0" err="1" smtClean="0">
                <a:sym typeface="+mn-ea"/>
              </a:rPr>
              <a:t>n</a:t>
            </a:r>
            <a:r>
              <a:rPr lang="en-US" sz="2400" baseline="30000" dirty="0" smtClean="0">
                <a:sym typeface="+mn-ea"/>
              </a:rPr>
              <a:t>) </a:t>
            </a:r>
            <a:r>
              <a:rPr lang="en-US" sz="2400" dirty="0" smtClean="0">
                <a:sym typeface="+mn-ea"/>
              </a:rPr>
              <a:t>=  1(mod </a:t>
            </a:r>
            <a:r>
              <a:rPr lang="en-US" sz="2400" i="1" dirty="0" err="1" smtClean="0">
                <a:sym typeface="+mn-ea"/>
              </a:rPr>
              <a:t>n</a:t>
            </a:r>
            <a:r>
              <a:rPr lang="en-US" sz="2400" dirty="0" smtClean="0">
                <a:sym typeface="+mn-ea"/>
              </a:rPr>
              <a:t>)            </a:t>
            </a:r>
            <a:r>
              <a:rPr lang="zh-CN" altLang="en-US" sz="2400" smtClean="0">
                <a:sym typeface="+mn-ea"/>
              </a:rPr>
              <a:t>(2.12)</a:t>
            </a:r>
            <a:endParaRPr lang="en-US" altLang="zh-CN" sz="2400" dirty="0" smtClean="0">
              <a:sym typeface="+mn-ea"/>
            </a:endParaRPr>
          </a:p>
        </p:txBody>
      </p:sp>
      <p:sp>
        <p:nvSpPr>
          <p:cNvPr id="11" name="文本框 10"/>
          <p:cNvSpPr txBox="1"/>
          <p:nvPr/>
        </p:nvSpPr>
        <p:spPr>
          <a:xfrm>
            <a:off x="1370965" y="2560955"/>
            <a:ext cx="9562465" cy="3169285"/>
          </a:xfrm>
          <a:prstGeom prst="rect">
            <a:avLst/>
          </a:prstGeom>
          <a:noFill/>
        </p:spPr>
        <p:txBody>
          <a:bodyPr wrap="square" rtlCol="0">
            <a:spAutoFit/>
          </a:bodyPr>
          <a:p>
            <a:pPr indent="0">
              <a:buFont typeface="Arial" panose="020B0604020202020204" pitchFamily="34" charset="0"/>
              <a:buNone/>
            </a:pPr>
            <a:r>
              <a:rPr lang="zh-CN" altLang="en-US" sz="2000" smtClean="0">
                <a:sym typeface="+mn-ea"/>
              </a:rPr>
              <a:t>证明：若n是素数，根据φ(n)=(n-1)和费马</a:t>
            </a:r>
            <a:r>
              <a:rPr lang="zh-CN" altLang="en-US" sz="2000" smtClean="0">
                <a:sym typeface="+mn-ea"/>
              </a:rPr>
              <a:t>小定理，式(2.12)成立，但实际上该式对任意整数n都成立。请注意φ(n)是指小于n且与n互素的正整数的个数，考虑这些整数所组成的集合</a:t>
            </a:r>
            <a:endParaRPr lang="zh-CN" altLang="en-US" sz="2000" smtClean="0">
              <a:sym typeface="+mn-ea"/>
            </a:endParaRPr>
          </a:p>
          <a:p>
            <a:pPr indent="0" algn="ctr">
              <a:buNone/>
            </a:pPr>
            <a:r>
              <a:rPr lang="zh-CN" altLang="en-US" sz="2000" smtClean="0">
                <a:sym typeface="+mn-ea"/>
              </a:rPr>
              <a:t>R={x</a:t>
            </a:r>
            <a:r>
              <a:rPr lang="en-US" altLang="zh-CN" sz="2000" baseline="-25000" smtClean="0">
                <a:sym typeface="+mn-ea"/>
              </a:rPr>
              <a:t>1</a:t>
            </a:r>
            <a:r>
              <a:rPr lang="zh-CN" altLang="en-US" sz="2000" smtClean="0">
                <a:sym typeface="+mn-ea"/>
              </a:rPr>
              <a:t>,x₂,…,x</a:t>
            </a:r>
            <a:r>
              <a:rPr lang="zh-CN" altLang="en-US" sz="2000" baseline="-25000" smtClean="0">
                <a:sym typeface="+mn-ea"/>
              </a:rPr>
              <a:t>φ(n)</a:t>
            </a:r>
            <a:r>
              <a:rPr lang="zh-CN" altLang="en-US" sz="2000" smtClean="0">
                <a:sym typeface="+mn-ea"/>
              </a:rPr>
              <a:t>}</a:t>
            </a:r>
            <a:endParaRPr lang="zh-CN" altLang="en-US" sz="2000" smtClean="0">
              <a:sym typeface="+mn-ea"/>
            </a:endParaRPr>
          </a:p>
          <a:p>
            <a:pPr indent="0">
              <a:buFont typeface="Arial" panose="020B0604020202020204" pitchFamily="34" charset="0"/>
              <a:buNone/>
            </a:pPr>
            <a:r>
              <a:rPr lang="zh-CN" altLang="en-US" sz="2000" smtClean="0">
                <a:sym typeface="+mn-ea"/>
              </a:rPr>
              <a:t>即每个元素都有gcd(x</a:t>
            </a:r>
            <a:r>
              <a:rPr lang="en-US" altLang="zh-CN" sz="2000" baseline="-25000" smtClean="0">
                <a:sym typeface="+mn-ea"/>
              </a:rPr>
              <a:t>i</a:t>
            </a:r>
            <a:r>
              <a:rPr lang="zh-CN" altLang="en-US" sz="2000" baseline="-25000" smtClean="0">
                <a:sym typeface="+mn-ea"/>
              </a:rPr>
              <a:t>,</a:t>
            </a:r>
            <a:r>
              <a:rPr lang="zh-CN" altLang="en-US" sz="2000" smtClean="0">
                <a:sym typeface="+mn-ea"/>
              </a:rPr>
              <a:t>n)=1。将a与R中的每个元素相乘，然后模n有</a:t>
            </a:r>
            <a:endParaRPr lang="zh-CN" altLang="en-US" sz="2000" smtClean="0">
              <a:sym typeface="+mn-ea"/>
            </a:endParaRPr>
          </a:p>
          <a:p>
            <a:pPr indent="0" algn="ctr">
              <a:buNone/>
            </a:pPr>
            <a:r>
              <a:rPr lang="zh-CN" altLang="en-US" sz="2000" smtClean="0">
                <a:sym typeface="+mn-ea"/>
              </a:rPr>
              <a:t>S={(ax</a:t>
            </a:r>
            <a:r>
              <a:rPr lang="en-US" altLang="zh-CN" sz="2000" baseline="-25000" smtClean="0">
                <a:sym typeface="+mn-ea"/>
              </a:rPr>
              <a:t>1</a:t>
            </a:r>
            <a:r>
              <a:rPr lang="zh-CN" altLang="en-US" sz="2000" smtClean="0">
                <a:sym typeface="+mn-ea"/>
              </a:rPr>
              <a:t> mod n),(ax₂mod n),…,(ax</a:t>
            </a:r>
            <a:r>
              <a:rPr lang="zh-CN" altLang="en-US" sz="2000" baseline="-25000" smtClean="0">
                <a:sym typeface="+mn-ea"/>
              </a:rPr>
              <a:t>φ</a:t>
            </a:r>
            <a:r>
              <a:rPr lang="zh-CN" altLang="en-US" sz="2000" baseline="-25000" smtClean="0">
                <a:sym typeface="+mn-ea"/>
              </a:rPr>
              <a:t>(n)</a:t>
            </a:r>
            <a:r>
              <a:rPr lang="zh-CN" altLang="en-US" sz="2000" smtClean="0">
                <a:sym typeface="+mn-ea"/>
              </a:rPr>
              <a:t>mod n)} </a:t>
            </a:r>
            <a:endParaRPr lang="zh-CN" altLang="en-US" sz="2000" smtClean="0">
              <a:sym typeface="+mn-ea"/>
            </a:endParaRPr>
          </a:p>
          <a:p>
            <a:pPr indent="0" algn="l">
              <a:buNone/>
            </a:pPr>
            <a:r>
              <a:rPr lang="zh-CN" altLang="en-US" sz="2000" dirty="0" smtClean="0">
                <a:sym typeface="+mn-ea"/>
              </a:rPr>
              <a:t>S是R的一个排列,因为</a:t>
            </a:r>
            <a:endParaRPr lang="zh-CN" altLang="en-US" sz="2000" dirty="0" smtClean="0">
              <a:sym typeface="+mn-ea"/>
            </a:endParaRPr>
          </a:p>
          <a:p>
            <a:pPr indent="0" algn="l">
              <a:buNone/>
            </a:pPr>
            <a:r>
              <a:rPr lang="zh-CN" altLang="en-US" sz="2000" dirty="0" smtClean="0">
                <a:sym typeface="+mn-ea"/>
              </a:rPr>
              <a:t>(1)a与n互素，且x</a:t>
            </a:r>
            <a:r>
              <a:rPr lang="en-US" altLang="zh-CN" sz="2000" baseline="-25000" dirty="0" smtClean="0">
                <a:sym typeface="+mn-ea"/>
              </a:rPr>
              <a:t>i</a:t>
            </a:r>
            <a:r>
              <a:rPr lang="zh-CN" altLang="en-US" sz="2000" dirty="0" smtClean="0">
                <a:sym typeface="+mn-ea"/>
              </a:rPr>
              <a:t>与n互素，所以ax</a:t>
            </a:r>
            <a:r>
              <a:rPr lang="en-US" altLang="zh-CN" sz="2000" baseline="-25000" dirty="0" smtClean="0">
                <a:sym typeface="+mn-ea"/>
              </a:rPr>
              <a:t>i</a:t>
            </a:r>
            <a:r>
              <a:rPr lang="zh-CN" altLang="en-US" sz="2000" dirty="0" smtClean="0">
                <a:sym typeface="+mn-ea"/>
              </a:rPr>
              <a:t>必与n互素，这样S中所有元素均小于n且与n互素。</a:t>
            </a:r>
            <a:endParaRPr lang="zh-CN" altLang="en-US" sz="2000" dirty="0" smtClean="0">
              <a:sym typeface="+mn-ea"/>
            </a:endParaRPr>
          </a:p>
          <a:p>
            <a:pPr indent="0" algn="l">
              <a:buNone/>
            </a:pPr>
            <a:r>
              <a:rPr lang="zh-CN" altLang="en-US" sz="2000" dirty="0" smtClean="0">
                <a:sym typeface="+mn-ea"/>
              </a:rPr>
              <a:t>(2)S中没有重复元素。参见式。若ax</a:t>
            </a:r>
            <a:r>
              <a:rPr lang="en-US" altLang="zh-CN" sz="2000" baseline="-25000" dirty="0" smtClean="0">
                <a:sym typeface="+mn-ea"/>
              </a:rPr>
              <a:t>i</a:t>
            </a:r>
            <a:r>
              <a:rPr lang="zh-CN" altLang="en-US" sz="2000" dirty="0" smtClean="0">
                <a:sym typeface="+mn-ea"/>
              </a:rPr>
              <a:t>mod</a:t>
            </a:r>
            <a:r>
              <a:rPr lang="en-US" altLang="zh-CN" sz="2000" dirty="0" smtClean="0">
                <a:sym typeface="+mn-ea"/>
              </a:rPr>
              <a:t> </a:t>
            </a:r>
            <a:r>
              <a:rPr lang="zh-CN" altLang="en-US" sz="2000" dirty="0" smtClean="0">
                <a:sym typeface="+mn-ea"/>
              </a:rPr>
              <a:t>n=ax</a:t>
            </a:r>
            <a:r>
              <a:rPr lang="en-US" altLang="zh-CN" sz="2000" baseline="-25000" dirty="0" smtClean="0">
                <a:sym typeface="+mn-ea"/>
              </a:rPr>
              <a:t>j</a:t>
            </a:r>
            <a:r>
              <a:rPr lang="zh-CN" altLang="en-US" sz="2000" dirty="0" smtClean="0">
                <a:sym typeface="+mn-ea"/>
              </a:rPr>
              <a:t>mod n,则x</a:t>
            </a:r>
            <a:r>
              <a:rPr lang="en-US" altLang="zh-CN" sz="2000" baseline="-25000" dirty="0" smtClean="0">
                <a:sym typeface="+mn-ea"/>
              </a:rPr>
              <a:t>i</a:t>
            </a:r>
            <a:r>
              <a:rPr lang="zh-CN" altLang="en-US" sz="2000" dirty="0" smtClean="0">
                <a:sym typeface="+mn-ea"/>
              </a:rPr>
              <a:t>=x</a:t>
            </a:r>
            <a:r>
              <a:rPr lang="zh-CN" altLang="en-US" sz="2000" baseline="-25000" dirty="0" smtClean="0">
                <a:sym typeface="+mn-ea"/>
              </a:rPr>
              <a:t>j</a:t>
            </a:r>
            <a:r>
              <a:rPr lang="zh-CN" altLang="en-US" sz="2000" dirty="0" smtClean="0">
                <a:sym typeface="+mn-ea"/>
              </a:rPr>
              <a:t>所以集合S是R的一个置换。因此</a:t>
            </a:r>
            <a:endParaRPr lang="zh-CN" altLang="en-US" sz="2000" dirty="0" smtClean="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数学基础</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628140" y="1172210"/>
            <a:ext cx="4064000" cy="521970"/>
          </a:xfrm>
          <a:prstGeom prst="rect">
            <a:avLst/>
          </a:prstGeom>
          <a:noFill/>
        </p:spPr>
        <p:txBody>
          <a:bodyPr wrap="square" rtlCol="0">
            <a:spAutoFit/>
          </a:bodyPr>
          <a:p>
            <a:pPr marL="285750" indent="-285750">
              <a:buFont typeface="Wingdings" panose="05000000000000000000" charset="0"/>
              <a:buChar char="Ø"/>
            </a:pPr>
            <a:r>
              <a:rPr lang="zh-CN" altLang="en-US" sz="2800" dirty="0" smtClean="0">
                <a:sym typeface="+mn-ea"/>
              </a:rPr>
              <a:t>欧拉定理</a:t>
            </a:r>
            <a:endParaRPr lang="zh-CN" altLang="en-US" sz="2800" dirty="0" smtClean="0">
              <a:sym typeface="+mn-ea"/>
            </a:endParaRPr>
          </a:p>
        </p:txBody>
      </p:sp>
      <p:sp>
        <p:nvSpPr>
          <p:cNvPr id="11" name="文本框 10"/>
          <p:cNvSpPr txBox="1"/>
          <p:nvPr/>
        </p:nvSpPr>
        <p:spPr>
          <a:xfrm>
            <a:off x="1465580" y="1694180"/>
            <a:ext cx="9562465" cy="1630045"/>
          </a:xfrm>
          <a:prstGeom prst="rect">
            <a:avLst/>
          </a:prstGeom>
          <a:noFill/>
        </p:spPr>
        <p:txBody>
          <a:bodyPr wrap="square" rtlCol="0">
            <a:spAutoFit/>
          </a:bodyPr>
          <a:p>
            <a:pPr indent="0" algn="l">
              <a:buNone/>
            </a:pPr>
            <a:r>
              <a:rPr lang="zh-CN" altLang="en-US" sz="2000" dirty="0" smtClean="0">
                <a:sym typeface="+mn-ea"/>
              </a:rPr>
              <a:t>证明：（续）</a:t>
            </a:r>
            <a:endParaRPr lang="zh-CN" altLang="en-US" sz="2000" dirty="0" smtClean="0">
              <a:sym typeface="+mn-ea"/>
            </a:endParaRPr>
          </a:p>
          <a:p>
            <a:pPr indent="0" algn="l">
              <a:buNone/>
            </a:pPr>
            <a:r>
              <a:rPr lang="zh-CN" altLang="en-US" sz="2000" dirty="0" smtClean="0">
                <a:sym typeface="+mn-ea"/>
              </a:rPr>
              <a:t>S是R的一个排列,因为</a:t>
            </a:r>
            <a:endParaRPr lang="zh-CN" altLang="en-US" sz="2000" dirty="0" smtClean="0">
              <a:sym typeface="+mn-ea"/>
            </a:endParaRPr>
          </a:p>
          <a:p>
            <a:pPr indent="0" algn="l">
              <a:buNone/>
            </a:pPr>
            <a:r>
              <a:rPr lang="zh-CN" altLang="en-US" sz="2000" dirty="0" smtClean="0">
                <a:sym typeface="+mn-ea"/>
              </a:rPr>
              <a:t>(1)a与n互素，且x</a:t>
            </a:r>
            <a:r>
              <a:rPr lang="en-US" altLang="zh-CN" sz="1200" dirty="0" smtClean="0">
                <a:sym typeface="+mn-ea"/>
              </a:rPr>
              <a:t>i</a:t>
            </a:r>
            <a:r>
              <a:rPr lang="zh-CN" altLang="en-US" sz="2000" dirty="0" smtClean="0">
                <a:sym typeface="+mn-ea"/>
              </a:rPr>
              <a:t>与n互素，所以ax</a:t>
            </a:r>
            <a:r>
              <a:rPr lang="en-US" altLang="zh-CN" sz="1200" dirty="0" smtClean="0">
                <a:sym typeface="+mn-ea"/>
              </a:rPr>
              <a:t>i</a:t>
            </a:r>
            <a:r>
              <a:rPr lang="zh-CN" altLang="en-US" sz="2000" dirty="0" smtClean="0">
                <a:sym typeface="+mn-ea"/>
              </a:rPr>
              <a:t>必与n互素，这样S中所有元素均小于n且与n互素。</a:t>
            </a:r>
            <a:endParaRPr lang="zh-CN" altLang="en-US" sz="2000" dirty="0" smtClean="0">
              <a:sym typeface="+mn-ea"/>
            </a:endParaRPr>
          </a:p>
          <a:p>
            <a:pPr indent="0" algn="l">
              <a:buNone/>
            </a:pPr>
            <a:r>
              <a:rPr lang="zh-CN" altLang="en-US" sz="2000" dirty="0" smtClean="0">
                <a:sym typeface="+mn-ea"/>
              </a:rPr>
              <a:t>(2)S中没有重复元素。参见式(2.5)。若ax</a:t>
            </a:r>
            <a:r>
              <a:rPr lang="en-US" altLang="zh-CN" sz="1200" dirty="0" smtClean="0">
                <a:sym typeface="+mn-ea"/>
              </a:rPr>
              <a:t>i </a:t>
            </a:r>
            <a:r>
              <a:rPr lang="zh-CN" altLang="en-US" sz="2000" dirty="0" smtClean="0">
                <a:sym typeface="+mn-ea"/>
              </a:rPr>
              <a:t>modn=ax</a:t>
            </a:r>
            <a:r>
              <a:rPr lang="en-US" altLang="zh-CN" sz="1200" dirty="0" smtClean="0">
                <a:sym typeface="+mn-ea"/>
              </a:rPr>
              <a:t>j </a:t>
            </a:r>
            <a:r>
              <a:rPr lang="zh-CN" altLang="en-US" sz="2000" dirty="0" smtClean="0">
                <a:sym typeface="+mn-ea"/>
              </a:rPr>
              <a:t>mod n,则x</a:t>
            </a:r>
            <a:r>
              <a:rPr lang="en-US" altLang="zh-CN" sz="1200" dirty="0" smtClean="0">
                <a:sym typeface="+mn-ea"/>
              </a:rPr>
              <a:t>i</a:t>
            </a:r>
            <a:r>
              <a:rPr lang="zh-CN" altLang="en-US" sz="2000" dirty="0" smtClean="0">
                <a:sym typeface="+mn-ea"/>
              </a:rPr>
              <a:t>=x</a:t>
            </a:r>
            <a:r>
              <a:rPr lang="zh-CN" altLang="en-US" sz="1400" dirty="0" smtClean="0">
                <a:sym typeface="+mn-ea"/>
              </a:rPr>
              <a:t>j</a:t>
            </a:r>
            <a:r>
              <a:rPr lang="zh-CN" altLang="en-US" sz="2000" dirty="0" smtClean="0">
                <a:sym typeface="+mn-ea"/>
              </a:rPr>
              <a:t>所以集合S是R的一个置换。因此</a:t>
            </a:r>
            <a:endParaRPr lang="zh-CN" altLang="en-US" sz="2000" dirty="0" smtClean="0">
              <a:sym typeface="+mn-ea"/>
            </a:endParaRPr>
          </a:p>
        </p:txBody>
      </p:sp>
      <p:pic>
        <p:nvPicPr>
          <p:cNvPr id="2" name="图片 1"/>
          <p:cNvPicPr>
            <a:picLocks noChangeAspect="1"/>
          </p:cNvPicPr>
          <p:nvPr/>
        </p:nvPicPr>
        <p:blipFill>
          <a:blip r:embed="rId2"/>
          <a:stretch>
            <a:fillRect/>
          </a:stretch>
        </p:blipFill>
        <p:spPr>
          <a:xfrm>
            <a:off x="4192270" y="3119755"/>
            <a:ext cx="3756660" cy="2491105"/>
          </a:xfrm>
          <a:prstGeom prst="rect">
            <a:avLst/>
          </a:prstGeom>
        </p:spPr>
      </p:pic>
      <p:sp>
        <p:nvSpPr>
          <p:cNvPr id="3" name="文本框 2"/>
          <p:cNvSpPr txBox="1"/>
          <p:nvPr/>
        </p:nvSpPr>
        <p:spPr>
          <a:xfrm>
            <a:off x="1465580" y="5610860"/>
            <a:ext cx="9562465" cy="398780"/>
          </a:xfrm>
          <a:prstGeom prst="rect">
            <a:avLst/>
          </a:prstGeom>
          <a:noFill/>
        </p:spPr>
        <p:txBody>
          <a:bodyPr wrap="square" rtlCol="0">
            <a:spAutoFit/>
          </a:bodyPr>
          <a:p>
            <a:pPr indent="0" algn="l">
              <a:buNone/>
            </a:pPr>
            <a:r>
              <a:rPr lang="zh-CN" altLang="en-US" sz="2000" dirty="0" smtClean="0">
                <a:sym typeface="+mn-ea"/>
              </a:rPr>
              <a:t>证毕，这里使用的推理和证明费马定理时相同。</a:t>
            </a:r>
            <a:endParaRPr lang="zh-CN" altLang="en-US" sz="2000" dirty="0" smtClean="0">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6" name="picture 116"/>
          <p:cNvPicPr>
            <a:picLocks noChangeAspect="1"/>
          </p:cNvPicPr>
          <p:nvPr/>
        </p:nvPicPr>
        <p:blipFill>
          <a:blip r:embed="rId2"/>
          <a:stretch>
            <a:fillRect/>
          </a:stretch>
        </p:blipFill>
        <p:spPr>
          <a:xfrm rot="21600000">
            <a:off x="824230" y="1176655"/>
            <a:ext cx="6015990" cy="4803775"/>
          </a:xfrm>
          <a:prstGeom prst="rect">
            <a:avLst/>
          </a:prstGeom>
        </p:spPr>
      </p:pic>
      <p:pic>
        <p:nvPicPr>
          <p:cNvPr id="122" name="picture 122"/>
          <p:cNvPicPr>
            <a:picLocks noChangeAspect="1"/>
          </p:cNvPicPr>
          <p:nvPr/>
        </p:nvPicPr>
        <p:blipFill>
          <a:blip r:embed="rId3"/>
          <a:stretch>
            <a:fillRect/>
          </a:stretch>
        </p:blipFill>
        <p:spPr>
          <a:xfrm rot="21600000">
            <a:off x="7424420" y="1176655"/>
            <a:ext cx="3162300" cy="3495675"/>
          </a:xfrm>
          <a:prstGeom prst="rect">
            <a:avLst/>
          </a:prstGeom>
        </p:spPr>
      </p:pic>
      <p:sp>
        <p:nvSpPr>
          <p:cNvPr id="126" name="textbox 126"/>
          <p:cNvSpPr/>
          <p:nvPr/>
        </p:nvSpPr>
        <p:spPr>
          <a:xfrm>
            <a:off x="7155180" y="4790440"/>
            <a:ext cx="4318000" cy="859155"/>
          </a:xfrm>
          <a:prstGeom prst="rect">
            <a:avLst/>
          </a:prstGeom>
        </p:spPr>
        <p:txBody>
          <a:bodyPr vert="horz" wrap="square" lIns="0" tIns="0" rIns="0" bIns="0"/>
          <a:p>
            <a:pPr algn="l" rtl="0" eaLnBrk="0">
              <a:lnSpc>
                <a:spcPct val="69000"/>
              </a:lnSpc>
            </a:pP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91000"/>
              </a:lnSpc>
            </a:pPr>
            <a:r>
              <a:rPr sz="2400" kern="0" spc="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Diffie</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和</a:t>
            </a:r>
            <a:r>
              <a:rPr sz="2400" kern="0" spc="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Hellman</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因为提出“公钥密码”这一概念</a:t>
            </a:r>
            <a:r>
              <a:rPr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获得</a:t>
            </a:r>
            <a:r>
              <a:rPr sz="2400" kern="0" spc="-72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 </a:t>
            </a:r>
            <a:r>
              <a:rPr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2015 年ACM图灵奖	</a:t>
            </a:r>
            <a:endParaRPr lang="en-US" altLang="en-US"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350010" y="1063625"/>
            <a:ext cx="8367395" cy="449326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76960"/>
            <a:ext cx="9497060" cy="51403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158605" cy="46799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304530" cy="32594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80135"/>
            <a:ext cx="8637905" cy="43002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90930"/>
            <a:ext cx="9193530" cy="47485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113155"/>
            <a:ext cx="9135110" cy="48736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534795" y="1058545"/>
            <a:ext cx="8460740" cy="27368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088120" cy="45815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101725"/>
            <a:ext cx="9070975" cy="46545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99185"/>
            <a:ext cx="8874125" cy="466026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975725" cy="466344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541780" y="1120140"/>
            <a:ext cx="8973820" cy="43129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580515" y="1146175"/>
            <a:ext cx="8922385" cy="417639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041130" cy="49022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00175" y="1085215"/>
            <a:ext cx="8966200" cy="3945890"/>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594485" y="1063625"/>
            <a:ext cx="8908415" cy="4646295"/>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331595" y="1219835"/>
            <a:ext cx="9184005" cy="4417695"/>
          </a:xfrm>
          <a:prstGeom prst="rect">
            <a:avLst/>
          </a:prstGeom>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的实现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209405" cy="4752975"/>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190625"/>
            <a:ext cx="8856980" cy="4652010"/>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315720" y="1063625"/>
            <a:ext cx="9199245" cy="4911725"/>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512570" y="1141095"/>
            <a:ext cx="9003030" cy="4575810"/>
          </a:xfrm>
          <a:prstGeom prst="rect">
            <a:avLst/>
          </a:prstGeom>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341120" y="1079500"/>
            <a:ext cx="9174480" cy="4341495"/>
          </a:xfrm>
          <a:prstGeom prst="rect">
            <a:avLst/>
          </a:prstGeom>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06525" y="1063625"/>
            <a:ext cx="9109075" cy="4460240"/>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8924290" cy="3440430"/>
          </a:xfrm>
          <a:prstGeom prst="rect">
            <a:avLst/>
          </a:prstGeom>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374140" y="1130935"/>
            <a:ext cx="8357870" cy="4291330"/>
          </a:xfrm>
          <a:prstGeom prst="rect">
            <a:avLst/>
          </a:prstGeo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358265" y="1063625"/>
            <a:ext cx="8973820" cy="4656455"/>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9036685" cy="4726305"/>
          </a:xfrm>
          <a:prstGeom prst="rect">
            <a:avLst/>
          </a:prstGeom>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4310" y="1063625"/>
            <a:ext cx="9038590" cy="4573905"/>
          </a:xfrm>
          <a:prstGeom prst="rect">
            <a:avLst/>
          </a:prstGeom>
        </p:spPr>
      </p:pic>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334135" y="1063625"/>
            <a:ext cx="10048240" cy="5050155"/>
          </a:xfrm>
          <a:prstGeom prst="rect">
            <a:avLst/>
          </a:prstGeom>
        </p:spPr>
      </p:pic>
    </p:spTree>
  </p:cSld>
  <p:clrMapOvr>
    <a:masterClrMapping/>
  </p:clrMapOvr>
  <p:transition/>
</p:sld>
</file>

<file path=ppt/tags/tag1.xml><?xml version="1.0" encoding="utf-8"?>
<p:tagLst xmlns:p="http://schemas.openxmlformats.org/presentationml/2006/main">
  <p:tag name="commondata" val="eyJoZGlkIjoiYTZjMDVlOGU3NzYyNzY0OTFhOTY2NDMyZDQ3MGI5MmUifQ=="/>
  <p:tag name="KSO_WPP_MARK_KEY" val="0849f7b1-647c-4c32-a421-e1aa995bfe8c"/>
  <p:tag name="COMMONDATA" val="eyJoZGlkIjoiMzEwNTM5NzYwMDRjMzkwZTVkZjY2ODkwMGIxNGU0OTU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4471</Words>
  <Application>WPS 演示</Application>
  <PresentationFormat>宽屏</PresentationFormat>
  <Paragraphs>379</Paragraphs>
  <Slides>78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78</vt:i4>
      </vt:variant>
    </vt:vector>
  </HeadingPairs>
  <TitlesOfParts>
    <vt:vector size="90" baseType="lpstr">
      <vt:lpstr>Arial</vt:lpstr>
      <vt:lpstr>宋体</vt:lpstr>
      <vt:lpstr>Wingdings</vt:lpstr>
      <vt:lpstr>仿宋</vt:lpstr>
      <vt:lpstr>Arial</vt:lpstr>
      <vt:lpstr>Calibri</vt:lpstr>
      <vt:lpstr>微软雅黑</vt:lpstr>
      <vt:lpstr>Arial Unicode MS</vt:lpstr>
      <vt:lpstr>黑体</vt:lpstr>
      <vt:lpstr>Wingdings</vt:lpstr>
      <vt:lpstr>Candara</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16</cp:revision>
  <dcterms:created xsi:type="dcterms:W3CDTF">1900-01-01T00:00:00Z</dcterms:created>
  <dcterms:modified xsi:type="dcterms:W3CDTF">2025-04-01T02:50:19Z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2052-11.1.0.12375</vt:lpwstr>
  </property>
</Properties>
</file>