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pdf" ContentType="application/pd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35" r:id="rId3"/>
    <p:sldId id="562" r:id="rId4"/>
    <p:sldId id="629" r:id="rId6"/>
    <p:sldId id="638" r:id="rId7"/>
    <p:sldId id="641" r:id="rId8"/>
    <p:sldId id="738" r:id="rId9"/>
    <p:sldId id="739" r:id="rId10"/>
    <p:sldId id="737" r:id="rId11"/>
    <p:sldId id="701" r:id="rId12"/>
    <p:sldId id="703" r:id="rId13"/>
    <p:sldId id="702" r:id="rId14"/>
    <p:sldId id="705" r:id="rId15"/>
    <p:sldId id="706" r:id="rId16"/>
    <p:sldId id="704" r:id="rId17"/>
    <p:sldId id="720" r:id="rId18"/>
    <p:sldId id="707" r:id="rId19"/>
    <p:sldId id="708" r:id="rId20"/>
    <p:sldId id="710" r:id="rId21"/>
    <p:sldId id="741" r:id="rId22"/>
    <p:sldId id="742" r:id="rId23"/>
    <p:sldId id="740" r:id="rId24"/>
    <p:sldId id="711" r:id="rId25"/>
    <p:sldId id="712" r:id="rId26"/>
    <p:sldId id="713" r:id="rId27"/>
    <p:sldId id="743" r:id="rId28"/>
    <p:sldId id="721" r:id="rId29"/>
    <p:sldId id="714" r:id="rId30"/>
    <p:sldId id="715" r:id="rId31"/>
    <p:sldId id="716" r:id="rId32"/>
    <p:sldId id="717" r:id="rId33"/>
    <p:sldId id="744" r:id="rId34"/>
    <p:sldId id="722" r:id="rId35"/>
    <p:sldId id="718" r:id="rId36"/>
    <p:sldId id="719" r:id="rId37"/>
    <p:sldId id="745" r:id="rId38"/>
    <p:sldId id="746" r:id="rId39"/>
    <p:sldId id="747" r:id="rId40"/>
    <p:sldId id="748" r:id="rId41"/>
    <p:sldId id="749" r:id="rId42"/>
    <p:sldId id="750" r:id="rId43"/>
    <p:sldId id="751" r:id="rId44"/>
    <p:sldId id="758" r:id="rId45"/>
    <p:sldId id="759" r:id="rId46"/>
    <p:sldId id="752" r:id="rId47"/>
    <p:sldId id="753" r:id="rId48"/>
    <p:sldId id="754" r:id="rId49"/>
    <p:sldId id="755" r:id="rId50"/>
    <p:sldId id="756" r:id="rId51"/>
    <p:sldId id="757" r:id="rId52"/>
    <p:sldId id="761" r:id="rId53"/>
    <p:sldId id="762" r:id="rId54"/>
    <p:sldId id="763" r:id="rId55"/>
  </p:sldIdLst>
  <p:sldSz cx="12192000" cy="6858000" type="screen4x3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9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99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与 Diffie-Hellman一样 ，EIGamal 的系统用户也是共同选择一个素数q,和它的本原根a  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消息认证是用来验证消息完整性的一种机制或服务。</a:t>
            </a:r>
            <a:endParaRPr lang="zh-CN" altLang="en-US"/>
          </a:p>
          <a:p>
            <a:r>
              <a:rPr lang="zh-CN" altLang="en-US"/>
              <a:t>消息认证确保收到的数据确实和发送时的一样(即没有修改、插入、删除或重放)。此外，通常还要求消息认证机制确保发送方声称的身份是真实有效的。当Hash函数用于提供消息认证功能时，Hash函数值通常称为消息摘要①。</a:t>
            </a:r>
            <a:endParaRPr lang="zh-CN" altLang="en-US"/>
          </a:p>
          <a:p>
            <a:r>
              <a:rPr lang="zh-CN" altLang="en-US"/>
              <a:t>消息认证中使用Hash函数的本质如下：</a:t>
            </a:r>
            <a:endParaRPr lang="zh-CN" altLang="en-US"/>
          </a:p>
          <a:p>
            <a:r>
              <a:rPr lang="zh-CN" altLang="en-US"/>
              <a:t>发送者根据待发送的消息使用该函数计算一组Hash值，然后将Hash值和消息一起发送过去。接收者收到后对于消息执行同样的Hash计算，并将结果与收到的Hash值进行对比。如果不匹配，则接收者推断出消息(当然也可能是Hash值)遭受了篡改[参见图11.2(a)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Hash函数的运算结果必须通过安全的方式传输。因为Hash函数必须得到保护，使得如果攻击者篡改或替换消息的话，对于攻击者不能够轻易地同时对Hash值进行修改以蒙骗接收者。这种类</a:t>
            </a:r>
            <a:endParaRPr lang="zh-CN" altLang="en-US"/>
          </a:p>
          <a:p>
            <a:r>
              <a:rPr lang="zh-CN" altLang="en-US"/>
              <a:t>型的攻击如图11.2(b)所示。该例中，Alice传输消息时附上数据的Hash值。Darth拦截了该消息，篡改或替换其中的数据，然后重新计算Hash值并附在后面。Bob收到篡改后的数据块以及新的Hash值，未能发现消息已经被篡改。为了防止该类攻击，由Alice生成的Hash值必须得到保护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GF(P)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的有限域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下层中一定有某种产生认证符的函数：例如</a:t>
            </a:r>
            <a:r>
              <a:rPr lang="en-US" altLang="zh-CN"/>
              <a:t>Hash</a:t>
            </a:r>
            <a:r>
              <a:rPr lang="zh-CN" altLang="en-US"/>
              <a:t>函数、数字签名算法、消息加密</a:t>
            </a:r>
            <a:r>
              <a:rPr lang="zh-CN" altLang="en-US"/>
              <a:t>算法。</a:t>
            </a:r>
            <a:endParaRPr lang="zh-CN" altLang="en-US"/>
          </a:p>
          <a:p>
            <a:r>
              <a:rPr lang="zh-CN" altLang="en-US"/>
              <a:t>上层是认证相关的协议，将函数作为原语，然后接收方通过验证原语来完成消息真实性的</a:t>
            </a:r>
            <a:r>
              <a:rPr lang="zh-CN" altLang="en-US"/>
              <a:t>验证。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在这种特殊情况下，要求合法明文只是所有可能位模式的一个小子集，这样的情况下伪造的明文是很难得到我们选择的指定位模式的，因此即使不能解密出可读的合法明文，但也可以通过分析位模式完成消息</a:t>
            </a:r>
            <a:r>
              <a:rPr lang="zh-CN" altLang="en-US"/>
              <a:t>认证。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对于内部错误控制，由于攻击者很难产生密文，使得解密后其错误控制位是正确的，因此内部错误控制可以提供认证；</a:t>
            </a:r>
            <a:endParaRPr lang="zh-CN" altLang="en-US"/>
          </a:p>
          <a:p>
            <a:r>
              <a:rPr lang="zh-CN" altLang="en-US"/>
              <a:t>如果FCS是外部码，那么攻击者可以构造具有正确错误控制码的消息，虽然攻击者不知道解密后的明文是什么,但他可以造成混淆并破坏通信。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对于内部错误控制，由于攻击者很难产生密文，使得解密后其错误控制位是正确的，因此内部错误控制可以提供认证；</a:t>
            </a:r>
            <a:endParaRPr lang="zh-CN" altLang="en-US"/>
          </a:p>
          <a:p>
            <a:r>
              <a:rPr lang="zh-CN" altLang="en-US"/>
              <a:t>如果FCS是外部码，那么攻击者可以构造具有正确错误控制码的消息，虽然攻击者不知道解密后的明文是什么,但他可以造成混淆并破坏通信。</a:t>
            </a:r>
            <a:endParaRPr lang="zh-CN" altLang="en-US"/>
          </a:p>
          <a:p>
            <a:r>
              <a:rPr lang="zh-CN" altLang="en-US"/>
              <a:t>混淆的本质是破坏语义正确性，而非获取明文内容。攻击者通过以下方式实现：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模式篡改：根据协议格式（如字段位置、长度）猜测密文中的关键位（如转账接收方字段），篡改后重新计算</a:t>
            </a:r>
            <a:r>
              <a:rPr lang="en-US" altLang="zh-CN"/>
              <a:t> FCS</a:t>
            </a:r>
            <a:r>
              <a:rPr lang="zh-CN" altLang="en-US"/>
              <a:t>，使解密后的明文语义改变（如</a:t>
            </a:r>
            <a:r>
              <a:rPr lang="en-US" altLang="zh-CN"/>
              <a:t> “</a:t>
            </a:r>
            <a:r>
              <a:rPr lang="zh-CN" altLang="en-US"/>
              <a:t>允许访问</a:t>
            </a:r>
            <a:r>
              <a:rPr lang="en-US" altLang="zh-CN"/>
              <a:t>”</a:t>
            </a:r>
            <a:r>
              <a:rPr lang="en-US" altLang="en-US"/>
              <a:t>→</a:t>
            </a:r>
            <a:r>
              <a:rPr lang="en-US" altLang="zh-CN"/>
              <a:t>“</a:t>
            </a:r>
            <a:r>
              <a:rPr lang="zh-CN" altLang="en-US"/>
              <a:t>拒绝访问</a:t>
            </a:r>
            <a:r>
              <a:rPr lang="en-US" altLang="zh-CN"/>
              <a:t>”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重放攻击：捕获历史合法密文</a:t>
            </a:r>
            <a:r>
              <a:rPr lang="en-US" altLang="zh-CN"/>
              <a:t> + FCS</a:t>
            </a:r>
            <a:r>
              <a:rPr lang="zh-CN" altLang="en-US"/>
              <a:t>，重新发送以混淆当前通信（如重复执行同一转账指令）。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数据污染：向密文中插入垃圾数据并伪造</a:t>
            </a:r>
            <a:r>
              <a:rPr lang="en-US" altLang="zh-CN"/>
              <a:t> FCS</a:t>
            </a:r>
            <a:r>
              <a:rPr lang="zh-CN" altLang="en-US"/>
              <a:t>，导致解密后明文包含无效数据，干扰系统处理（如服务器解析错误）。</a:t>
            </a:r>
            <a:endParaRPr lang="zh-CN" altLang="en-US"/>
          </a:p>
          <a:p>
            <a:r>
              <a:rPr lang="zh-CN" altLang="en-US"/>
              <a:t>核心原因：外部</a:t>
            </a:r>
            <a:r>
              <a:rPr lang="en-US" altLang="zh-CN"/>
              <a:t> FCS </a:t>
            </a:r>
            <a:r>
              <a:rPr lang="zh-CN" altLang="en-US"/>
              <a:t>未将明文与认证码绑定，攻击者利用密文的结构性（如协议字段位置固定）实施定向攻击，即使不知道明文内容，也能通过位模式篡改破坏通信逻辑。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在这种特殊情况下，要求合法明文只是所有可能位模式的一个小子集，这样的情况下伪造的明文是很难得到我们选择的指定位模式的，因此即使不能解密出可读的合法明文，但也可以通过分析位模式完成消息</a:t>
            </a:r>
            <a:r>
              <a:rPr lang="zh-CN" altLang="en-US"/>
              <a:t>认证。</a:t>
            </a:r>
            <a:endParaRPr lang="zh-CN" altLang="en-US"/>
          </a:p>
          <a:p>
            <a:r>
              <a:rPr lang="zh-CN" altLang="en-US"/>
              <a:t>类似的实际应用</a:t>
            </a:r>
            <a:r>
              <a:rPr lang="zh-CN" altLang="en-US"/>
              <a:t>场景：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金融交易数据：合法明文为固定格式的交易指令（如金额字段为数字、日期字段为特定格式），非合法格式的密文解密后会因字段错误被系统拒绝。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工控系统指令：合法明文为有限的控制指令（如</a:t>
            </a:r>
            <a:r>
              <a:rPr lang="en-US" altLang="zh-CN"/>
              <a:t> “</a:t>
            </a:r>
            <a:r>
              <a:rPr lang="zh-CN" altLang="en-US"/>
              <a:t>启动</a:t>
            </a:r>
            <a:r>
              <a:rPr lang="en-US" altLang="zh-CN"/>
              <a:t>”“</a:t>
            </a:r>
            <a:r>
              <a:rPr lang="zh-CN" altLang="en-US"/>
              <a:t>停止</a:t>
            </a:r>
            <a:r>
              <a:rPr lang="en-US" altLang="zh-CN"/>
              <a:t>”“</a:t>
            </a:r>
            <a:r>
              <a:rPr lang="zh-CN" altLang="en-US"/>
              <a:t>调整参数</a:t>
            </a:r>
            <a:r>
              <a:rPr lang="en-US" altLang="zh-CN"/>
              <a:t>” </a:t>
            </a:r>
            <a:r>
              <a:rPr lang="zh-CN" altLang="en-US"/>
              <a:t>对应的编码），其他位模式的解密结果会被工控设备视为无效指令。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网络协议包头：协议包头包含固定格式的字段（如版本号、校验和、长度字段），非法包头的解密结果会因字段值异常被协议栈丢弃。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图12.1(b)：</a:t>
            </a:r>
            <a:r>
              <a:rPr lang="zh-CN" altLang="en-US"/>
              <a:t>可提供保密性，但不能提供认证。发送方A使用接收方B的公钥PU,对M加密，由于只有B拥有相应的私钥PR,,所以只有B能对消息解密。但是任何攻击者可以假冒A用B的公钥对消息加密，所以这种方法不能保证真实性。</a:t>
            </a:r>
            <a:endParaRPr lang="zh-CN" altLang="en-US"/>
          </a:p>
          <a:p>
            <a:r>
              <a:rPr lang="zh-CN" altLang="en-US">
                <a:sym typeface="+mn-ea"/>
              </a:rPr>
              <a:t>图12.1(c)：</a:t>
            </a:r>
            <a:r>
              <a:rPr lang="zh-CN" altLang="en-US"/>
              <a:t>则A用自己的私钥对消息加密，而B用A的公钥对接收的消息解密，就可以进行认证。这种方法不能提供保密性，因为任何拥有A的公钥的人都可将密文解密。</a:t>
            </a:r>
            <a:endParaRPr lang="zh-CN" altLang="en-US"/>
          </a:p>
          <a:p>
            <a:r>
              <a:rPr lang="zh-CN" altLang="en-US">
                <a:sym typeface="+mn-ea"/>
              </a:rPr>
              <a:t>图12.1(d)：</a:t>
            </a:r>
            <a:r>
              <a:rPr lang="zh-CN" altLang="en-US"/>
              <a:t>如果既要提供保密性又要提供认证，那么A可先用其私钥对M加密，这就是数字签名；然后A用B的公钥对上述结果加密，这可保证保密性。计算复杂执行了四次公钥加密或解密过程。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和MAC一起被发送给接收方。接收方对收到的消息用相同的密钥K进行相同的计算，得出新的MAC,并将接收到的MAC与其计算出的MAC进行比较如果我们假定只有收发双方知道该密钥，那么若接收到的MAC与计算得出的MAC相等，则</a:t>
            </a: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接收方可以相信消息未被修改。如果攻击者改变了消息，但他无法改变相应的MAC,所以接收方计算出的MAC将不等于接收到的MAC。因为我们已假定攻击者不知道密钥，所以他不知道应如何改变MAC才能使其与修改后的消息相一致。</a:t>
            </a: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(2)接收方可以相信消息来自真正的发送方。因为其他各方均不知道密钥，因此他们不能产生具有正确MAC的消息。</a:t>
            </a: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(3)如果消息中含有序列号(如HDLC,X.25和TCP中使用的序列号),那么接收方可以相信消息顺序是正确的，因为攻击者无法成功地修改序列号。</a:t>
            </a: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MAC函数与加密类似。其区别之一是，MAC算法不要求可逆性，而加密算法必须是可逆的。</a:t>
            </a: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将MAC直接附加于明文之后要更好一些，所以通常使用图12.4(b)中的方法。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许多应用是将同一消息广播给很多接收者。如需要通知各用户网络暂时不可使用，或一个军事控制中心要发一条警报，这种情况下，一种经济可靠的方法就是只要一个接收者负责验证消息的真实性，所以消息必须以明文加上消息认证码的形式进行广播。上述负责验证的接收者拥有密钥并执行认证过程，若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MAC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错误，则他发警报通知其他各接收者。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在信息交换中，可能有这样一种情况，即通信某一方的处理负荷很大，没有时间解密收到的所有消息，他应能随机选择消息并对其进行认证。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明文形式的计算机程序进行认证是一种很有意义的服务。运行一个计算机程序而不必每次对其解密，因为每次对其解密会浪费处理器资源。若将消息认证码附于该程序之后，则可在需要保证程序完整性的时候才检验消息认证码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此外：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一些应用并不关心消息的保密性，而关心消息认证。例如简单网络管理协议版本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3(SNMPV3)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就是如此，它将提供保密性和提供认证分离开来。对这些应用，管理系统应对其收到的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SNMP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消息进行认证，这一点非常重要，尤其是当消息中包含修改系统参数的命令时更是如此，但对这些应用不必加密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SNMP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传输。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将认证和保密性分离开来，可使层次结构更加灵活。例如，在应用层我们可能希望对消息进行认证，而在更低层上，如传输层，可能希望提供保密性。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在接收消息期间对消息实施保护是不够的，用户可能希望延长对消息的保护时间。就消息加密而言，消息被解密后就不再受任何保护，这样只是在传输中可以使消息不被修改，而不是在接收方系统中保护消息不被修改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H为嵌入的Hash函数(如MD5,SHA-1,RIPEMD-160)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IV为Hash函数输入的初始值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M为HMAC的消息输入(包括由嵌入Hash函数定义的填充位)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为M的第i个分组，O≤i≤(L-1)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L为M中的分组数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b为每一分组所含的位数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n为嵌入的Hash函数所产生的Hash码长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K为密钥；建议密钥长度≥n。若密钥长度大于b,则将密钥作为Hash函数的输入，来产生一个n位的密钥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为使K为b位长而在K左边填充0后所得的结果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ipad=00110110(十六进制数36)重复b/8次的结果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opad=01011100(十六进制数5C)重复b/8次的结果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H为嵌入的Hash函数(如MD5,SHA-1,RIPEMD-160)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IV为Hash函数输入的初始值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M为HMAC的消息输入(包括由嵌入Hash函数定义的填充位)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为M的第i个分组，O≤i≤(L-1)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L为M中的分组数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b为每一分组所含的位数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n为嵌入的Hash函数所产生的Hash码长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K为密钥；建议密钥长度≥n。若密钥长度大于b,则将密钥作为Hash函数的输入，来产生一个n位的密钥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为使K为b位长而在K左边填充0后所得的结果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ipad=00110110(十六进制数36)重复b/8次的结果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opad=01011100(十六进制数5C)重复b/8次的结果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可以归纳到生日攻击或者穷举攻击中去。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DAA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Authentication Algorithm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）算法基于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DES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运算的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Cipher Block Chaining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，密码块链接）工作模式。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模式在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算法中发挥着关键作用，其特点是将每个明文块与前一个密文块进行异或操作后再加密，这使得密文块之间具有相关性，增强了密码的安全性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算法采用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模式的工作过程：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算法中，需要认证的数据会被分成连续的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64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位分组。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如果最后一个分组不足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64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位，则在其后填充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补足。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其初始向量被设定为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，在加密过程中，每个分组会按照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模式的规则进行处理，即每个明文分组与前一个密文分组进行异或运算，然后再使用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DES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算法进行加密。最终，算法会将最后一个加密后的密文块进行截断处理，将截断后的结果作为数据认证码（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DAC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模式对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算法的意义：这种模式使得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在一定程度上具备了抵抗攻击的能力。由于每个密文块都依赖于前一个密文块，攻击者很难在不破坏整体加密结构的情况下篡改数据。如果攻击者尝试修改某个密文块，那么后续的密文块在解密时就会出现错误，从而导致认证失败。然而，随着技术的发展，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DAA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算法基于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DES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模式也被发现存在一些安全弱点。例如，给定一个消息分组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 MAC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 = MAC (K , X)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，攻击者可以得知对于两个消息分组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|| (T⊕X)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CBC MAC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码还是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。这使得攻击者在面对短消息时，能够较为容易地找到符合条件的。从而对数据的安全性构成威胁。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CMAC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CBC-MAC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，但通过以下关键措施修复漏洞，打破了原有的线性特征，无法通过简单异或构造新的消息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引入派生密钥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​​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从主密钥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派生出两个子密钥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K1 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K2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，分别用于处理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​​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完整分组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​​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​​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非完整分组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​​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的消息：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K1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用于消息长度是分组整数倍的情况（如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AES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字节对齐）。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4572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K2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用于需要填充的末尾分组（填充方式为</a:t>
            </a:r>
            <a:r>
              <a:rPr lang="en-US" altLang="zh-CN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b(t) || 10...0</a:t>
            </a:r>
            <a:r>
              <a:rPr lang="zh-CN" altLang="en-US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b="1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digital signture </a:t>
            </a:r>
            <a:endParaRPr lang="en-US" altLang="zh-CN"/>
          </a:p>
          <a:p>
            <a:r>
              <a:rPr lang="zh-CN" altLang="en-US"/>
              <a:t>数字水印是隐写进去的一个水印的内容，跟我们的数字签名有点像。</a:t>
            </a:r>
            <a:endParaRPr lang="zh-CN" altLang="en-US"/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/>
              <a:t>1. </a:t>
            </a:r>
            <a:r>
              <a:rPr lang="zh-CN" altLang="en-US"/>
              <a:t>我们提到数字签名必须保障</a:t>
            </a:r>
            <a:endParaRPr lang="zh-CN" altLang="en-US"/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/>
              <a:t>”</a:t>
            </a:r>
            <a:r>
              <a:rPr lang="zh-CN" altLang="en-US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1）接收者能够核实发送者对文档的签名；</a:t>
            </a:r>
            <a:endParaRPr lang="zh-CN" altLang="en-US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（2）发送者事后不能否认对文档的签名；</a:t>
            </a:r>
            <a:endParaRPr lang="zh-CN" altLang="en-US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（3）不能伪造对文档的签名</a:t>
            </a:r>
            <a:endParaRPr lang="zh-CN" altLang="en-US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/>
              <a:t>如果使用对称密码算法进行签名，是不是发送方的身份和接收方都可对文档进行操作，这样是不是没办法核准发送方或者接收方的身份，因为密钥不具有唯一性。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数字签名和传统签名的区别在载体上有一些区别。一个签名有消息和载体两个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数字签名和传统签名的区别在载体上有一些区别。一个签名有消息和载体两个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数字签名和传统签名的区别在载体上有一些区别。一个签名有消息和载体两个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数字签名和传统签名的区别在载体上有一些区别。一个签名有消息和载体两个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电子商务法、电子签名法都是我国颁布的有关电子签名的法案。</a:t>
            </a:r>
            <a:endParaRPr lang="zh-CN" altLang="en-US"/>
          </a:p>
          <a:p>
            <a:r>
              <a:rPr lang="zh-CN" altLang="en-US">
                <a:sym typeface="+mn-ea"/>
              </a:rPr>
              <a:t>数字签名已经得到了中国和其他的一些国家法律上的支持。</a:t>
            </a:r>
            <a:endParaRPr lang="zh-CN" altLang="en-US"/>
          </a:p>
          <a:p>
            <a:r>
              <a:rPr lang="zh-CN" altLang="en-US">
                <a:sym typeface="+mn-ea"/>
              </a:rPr>
              <a:t>我们这一章主要介绍的数字签名底层的算法，真正在应用中比如网银、网站上我们去使用数字签名去进行认证的时候，要结合其他的架构或者协议，比如电子认证、身份认证等才能完成整体系统性的安全认证。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信息加密和数字签名有时候是结合使用的。先加密再签名和先签名在加密的效果是不同的，会根据应用场景的不同进行选择。</a:t>
            </a:r>
            <a:endParaRPr lang="zh-CN" altLang="en-US"/>
          </a:p>
          <a:p>
            <a:endParaRPr lang="zh-CN" altLang="en-US"/>
          </a:p>
          <a:p>
            <a:pPr marL="0" lvl="2"/>
            <a:r>
              <a:rPr lang="zh-CN" altLang="en-US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使用对称密码算法实现数字签名存在哪些问题？</a:t>
            </a:r>
            <a:endParaRPr lang="en-US" altLang="zh-CN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/>
              <a:t>我们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如何做到，</a:t>
            </a:r>
            <a:r>
              <a:rPr lang="en-US" altLang="zh-CN"/>
              <a:t>Block</a:t>
            </a:r>
            <a:r>
              <a:rPr lang="zh-CN" altLang="en-US"/>
              <a:t>、</a:t>
            </a:r>
            <a:r>
              <a:rPr lang="en-US" altLang="zh-CN"/>
              <a:t>Hash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Block </a:t>
            </a:r>
            <a:r>
              <a:rPr lang="zh-CN" altLang="en-US"/>
              <a:t>可能会分组之间会出现碰撞。</a:t>
            </a:r>
            <a:endParaRPr lang="zh-CN" altLang="en-US"/>
          </a:p>
          <a:p>
            <a:r>
              <a:rPr lang="en-US" altLang="zh-CN"/>
              <a:t>Hash </a:t>
            </a:r>
            <a:r>
              <a:rPr lang="zh-CN" altLang="en-US"/>
              <a:t>在设计的时候就已经考虑的碰撞。</a:t>
            </a:r>
            <a:endParaRPr lang="zh-CN" altLang="en-US"/>
          </a:p>
          <a:p>
            <a:r>
              <a:rPr lang="zh-CN" altLang="en-US"/>
              <a:t>因此是最优方法。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pdf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536700" y="1966595"/>
            <a:ext cx="8747125" cy="332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043430" algn="l" rtl="0" eaLnBrk="0">
              <a:lnSpc>
                <a:spcPct val="96000"/>
              </a:lnSpc>
            </a:pPr>
            <a:endParaRPr sz="4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 rtl="0" eaLnBrk="0">
              <a:lnSpc>
                <a:spcPct val="93000"/>
              </a:lnSpc>
              <a:spcBef>
                <a:spcPts val="1085"/>
              </a:spcBef>
            </a:pPr>
            <a:r>
              <a:rPr lang="zh-CN" sz="3600" b="1" kern="0" spc="-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上节回顾</a:t>
            </a:r>
            <a:r>
              <a:rPr lang="en-US" altLang="zh-CN" sz="3600" b="1" kern="0" spc="-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——Hash</a:t>
            </a:r>
            <a:r>
              <a:rPr lang="zh-CN" altLang="en-US" sz="3600" b="1" kern="0" spc="-30" dirty="0">
                <a:solidFill>
                  <a:srgbClr val="000000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</a:t>
            </a:r>
            <a:endParaRPr lang="zh-CN" altLang="en-US" sz="3600" b="1" kern="0" spc="-30" dirty="0">
              <a:solidFill>
                <a:srgbClr val="000000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055495" algn="l" rtl="0" eaLnBrk="0">
              <a:lnSpc>
                <a:spcPct val="94000"/>
              </a:lnSpc>
              <a:spcBef>
                <a:spcPts val="5"/>
              </a:spcBef>
            </a:pPr>
            <a:endParaRPr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ElGamal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密码算法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Picture 4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l="11765" t="6364" r="10588" b="10000"/>
              <a:stretch>
                <a:fillRect/>
              </a:stretch>
            </p:blipFill>
          </mc:Choice>
          <mc:Fallback>
            <p:blipFill>
              <a:blip r:embed="rId3"/>
              <a:srcRect l="11765" t="6364" r="10588" b="10000"/>
              <a:stretch>
                <a:fillRect/>
              </a:stretch>
            </p:blipFill>
          </mc:Fallback>
        </mc:AlternateContent>
        <p:spPr>
          <a:xfrm>
            <a:off x="7552690" y="-222885"/>
            <a:ext cx="4919802" cy="6858000"/>
          </a:xfrm>
          <a:prstGeom prst="rect">
            <a:avLst/>
          </a:prstGeom>
        </p:spPr>
      </p:pic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620141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用户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生成密钥对：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用户A </a:t>
            </a:r>
            <a:r>
              <a:rPr 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生成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随机整数X</a:t>
            </a:r>
            <a:r>
              <a:rPr lang="en-US" sz="1710" baseline="-25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lang="zh-CN" altLang="en-US" sz="1710" baseline="-25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，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0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&lt;X</a:t>
            </a:r>
            <a:r>
              <a:rPr lang="en-US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&lt;q, 并计算Y</a:t>
            </a:r>
            <a:r>
              <a:rPr lang="en-US" sz="1710" baseline="-25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=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α</a:t>
            </a:r>
            <a:r>
              <a:rPr lang="en-US" sz="171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X</a:t>
            </a:r>
            <a:r>
              <a:rPr lang="en-US" sz="120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mod</a:t>
            </a:r>
            <a:r>
              <a:rPr 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 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q。 </a:t>
            </a:r>
            <a:endParaRPr sz="171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lang="zh-CN" alt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的私钥为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X</a:t>
            </a:r>
            <a:r>
              <a:rPr lang="en-US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，公钥为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{q,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α,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Y</a:t>
            </a:r>
            <a:r>
              <a:rPr lang="en-US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}</a:t>
            </a:r>
            <a:endParaRPr sz="171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用户B</a:t>
            </a:r>
            <a:r>
              <a:rPr 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通过用户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的公钥加密消息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M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，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0≤M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≤</a:t>
            </a:r>
            <a:r>
              <a:rPr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r>
              <a:rPr lang="en-US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：</a:t>
            </a:r>
            <a:endParaRPr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选择</a:t>
            </a:r>
            <a:r>
              <a:rPr 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任意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整数</a:t>
            </a:r>
            <a:r>
              <a:rPr 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k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, </a:t>
            </a:r>
            <a:r>
              <a:rPr 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1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≤k≤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；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计算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K=(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Y</a:t>
            </a:r>
            <a:r>
              <a:rPr lang="en-US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)</a:t>
            </a:r>
            <a:r>
              <a:rPr lang="en-US" sz="171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k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mod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r>
              <a:rPr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 。</a:t>
            </a:r>
            <a:endParaRPr sz="171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将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M</a:t>
            </a:r>
            <a:r>
              <a:rPr lang="zh-CN" alt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加密为整数对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(C</a:t>
            </a:r>
            <a:r>
              <a:rPr lang="en-US" altLang="zh-CN" sz="1710" baseline="-25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1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,C</a:t>
            </a:r>
            <a:r>
              <a:rPr lang="en-US" altLang="zh-CN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)</a:t>
            </a:r>
            <a:r>
              <a:rPr lang="zh-CN" alt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，其中：</a:t>
            </a:r>
            <a:endParaRPr lang="zh-CN" altLang="en-US" sz="171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1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=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(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α</a:t>
            </a:r>
            <a:r>
              <a:rPr lang="en-US" sz="171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k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)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mod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r>
              <a:rPr 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2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=KM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mod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endParaRPr sz="171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用户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A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解密过程：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恢复密钥：</a:t>
            </a:r>
            <a:r>
              <a:rPr lang="en-US" altLang="zh-CN" sz="171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K=(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1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)</a:t>
            </a:r>
            <a:r>
              <a:rPr lang="en-US" sz="171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X</a:t>
            </a:r>
            <a:r>
              <a:rPr lang="en-US" sz="120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A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mod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endParaRPr lang="zh-CN" sz="171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M=(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C</a:t>
            </a:r>
            <a:r>
              <a:rPr lang="en-US" altLang="zh-CN" sz="1710" baseline="-25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2</a:t>
            </a:r>
            <a:r>
              <a:rPr lang="en-US" altLang="zh-CN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K</a:t>
            </a:r>
            <a:r>
              <a:rPr lang="en-US" altLang="zh-CN" sz="171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-1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)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mod</a:t>
            </a:r>
            <a:r>
              <a:rPr lang="en-US"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sz="171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q</a:t>
            </a:r>
            <a:endParaRPr sz="171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 flipV="1">
            <a:off x="694055" y="6236335"/>
            <a:ext cx="5010785" cy="76200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1465580" y="982980"/>
            <a:ext cx="4344035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en-US" altLang="zh-CN" sz="3600" u="sng" kern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</a:t>
            </a:r>
            <a:r>
              <a:rPr lang="zh-CN" altLang="en-US" sz="3600" u="sng" kern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424815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Hash函数用于消息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认证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55">
                <a:sym typeface="+mn-ea"/>
              </a:rPr>
              <a:t>消息认证是用来验证消息完整性的一种机制或服务。</a:t>
            </a:r>
            <a:endParaRPr lang="zh-CN" altLang="en-US" sz="2055"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55">
                <a:sym typeface="+mn-ea"/>
              </a:rPr>
              <a:t>Hash函数的运算结果必须通过安全的方式传输</a:t>
            </a:r>
            <a:endParaRPr lang="zh-CN" altLang="en-US" sz="2055"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55"/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5599430" y="-635"/>
            <a:ext cx="5368925" cy="69481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 flipV="1">
            <a:off x="694055" y="6229350"/>
            <a:ext cx="4269105" cy="76200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1465580" y="987425"/>
            <a:ext cx="4808855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altLang="en-US" sz="3600" u="sng" kern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两个简单的Hash函数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Picture 4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t="8182" b="7273"/>
              <a:stretch>
                <a:fillRect/>
              </a:stretch>
            </p:blipFill>
          </mc:Choice>
          <mc:Fallback>
            <p:blipFill>
              <a:blip r:embed="rId3"/>
              <a:srcRect t="8182" b="7273"/>
              <a:stretch>
                <a:fillRect/>
              </a:stretch>
            </p:blipFill>
          </mc:Fallback>
        </mc:AlternateContent>
        <p:spPr>
          <a:xfrm>
            <a:off x="5119370" y="0"/>
            <a:ext cx="6096000" cy="666969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21690" y="1289050"/>
            <a:ext cx="6096000" cy="3326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最简单的Hash函数之一，是将每个分组相应位异或(XOR)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lvl="1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24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一种简单的改进方法是，每处理完一个分组后，将Hash值平移一位或循环移位一次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11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密码学</a:t>
            </a:r>
            <a:r>
              <a:rPr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Hash函数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1671320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密码学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</a:t>
            </a: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函数的应用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二、两个简单的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</a:t>
            </a: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</a:t>
            </a:r>
            <a:endParaRPr lang="zh-CN" altLang="en-US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三、</a:t>
            </a: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需求和安全性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四、安全</a:t>
            </a:r>
            <a:r>
              <a:rPr lang="en-US" alt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</a:t>
            </a:r>
            <a:r>
              <a:rPr lang="zh-CN" altLang="en-US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Hash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Hash函数的定义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①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Hash函数H将可变长度的数据块M作为输入，产生固定长度的Hash值h=H(M)。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②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Hash函数也称为哈希函数、散列函数、压缩函数、杂凑函数、指纹函数等。其函数值H(M)为哈希值、散列值、杂凑码、指纹、消息摘要等。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③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Hash函数的首要目标是保证数据完整性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密码学Hash函数</a:t>
            </a:r>
            <a:endParaRPr lang="zh-CN" altLang="en-US" sz="240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在安全应用中使用的Hash函数称为密码学Hash函数。密码学Hash函数要求如下两种情况在计算上不可行(即没有攻击方法比穷举攻击更有效)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对预先指定的Hash值找到对应的数据块(单向性)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457200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找到两个不同的数据块对应相同的Hash值(抗碰撞性)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en-US" altLang="zh-CN" sz="3600" u="sng" kern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Hash</a:t>
            </a:r>
            <a:r>
              <a:rPr lang="zh-CN" altLang="en-US" sz="3600" u="sng" kern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</a:rPr>
              <a:t>Hash函数的定义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marL="0" indent="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①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96745" y="1688465"/>
            <a:ext cx="7332980" cy="21139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060" y="2018665"/>
            <a:ext cx="5496560" cy="4203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需求和安全性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单向性</a:t>
            </a:r>
            <a:r>
              <a:rPr lang="en-US" altLang="zh-CN" sz="2400" b="1" dirty="0" smtClean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b="1" dirty="0" smtClean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对给定的Hash值h ，找到满足H(x) ＝h的x在计算上 是不可行的。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设h码为n位长，且Hash函数的输出值是等概分布的，那 么任意输入数据x产生的H(x)恰好为h的概率是1/2n 。因此穷 举攻击对于单向性求解的时间复杂度为O(2</a:t>
            </a:r>
            <a:r>
              <a:rPr lang="en-US" altLang="zh-CN" sz="2000" baseline="30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)。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sz="2400" kern="0" spc="-30" dirty="0">
                <a:ln w="6096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1"/>
                </a:ln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抗弱碰撞性</a:t>
            </a:r>
            <a:r>
              <a:rPr lang="zh-CN" altLang="en-US" sz="2400" b="1" dirty="0" smtClean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b="1" dirty="0" smtClean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对任何给定的x，找到满足y≠x且H(x)=H(y)的y 在计算上是不可行的。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否则 ，攻击者可以截获报文M及其H(M) ，并找出另一报文M′使得 H(M′)=H(M) 。这样攻击者可用M′去冒充M，而收方不能发现。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1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抗弱碰撞又称为抗求第二原像。</a:t>
            </a:r>
            <a:endParaRPr lang="en-US" altLang="zh-CN" sz="2000" dirty="0" smtClean="0">
              <a:solidFill>
                <a:srgbClr val="FF0000"/>
              </a:solidFill>
              <a:uFillTx/>
              <a:latin typeface="Calibri" panose="020F0502020204030204" charset="0"/>
              <a:ea typeface="微软雅黑" panose="020B0503020204020204" charset="-122"/>
            </a:endParaRPr>
          </a:p>
          <a:p>
            <a:pPr lvl="1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从穷举分析的角度求解弱碰撞问题的难度等价于求解单向性的难度， 时间复杂度为O(2</a:t>
            </a:r>
            <a:r>
              <a:rPr lang="en-US" altLang="zh-CN" sz="2000" baseline="30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 )。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0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sz="2400" kern="0" spc="-30" dirty="0">
                <a:ln w="6096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1"/>
                </a:ln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抗</a:t>
            </a:r>
            <a:r>
              <a:rPr lang="zh-CN" sz="2400" kern="0" spc="-30" dirty="0">
                <a:ln w="6096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1"/>
                </a:ln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强</a:t>
            </a:r>
            <a:r>
              <a:rPr sz="2400" kern="0" spc="-30" dirty="0">
                <a:ln w="6096" cap="flat" cmpd="sng">
                  <a:solidFill>
                    <a:srgbClr val="FF0000">
                      <a:alpha val="100000"/>
                    </a:srgbClr>
                  </a:solidFill>
                  <a:prstDash val="solid"/>
                  <a:miter lim="1"/>
                </a:ln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碰撞性</a:t>
            </a:r>
            <a:r>
              <a:rPr lang="zh-CN" altLang="en-US" sz="2400" b="1" dirty="0" smtClean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b="1" dirty="0" smtClean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找到任何满足H(x)=H(y)的偶对(x,y)在计算上是不可行的。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1" algn="l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. 平均需要尝试超过2</a:t>
            </a:r>
            <a:r>
              <a:rPr lang="en-US" altLang="zh-CN" sz="2000" baseline="30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n/2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个数据就能产生一个碰撞，复杂度O(2</a:t>
            </a:r>
            <a:r>
              <a:rPr lang="en-US" altLang="zh-CN" sz="2000" baseline="30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n/2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sym typeface="+mn-ea"/>
              </a:rPr>
              <a:t>)。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  <a:p>
            <a:pPr lvl="1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690198" y="1997482"/>
            <a:ext cx="6863080" cy="332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043430" algn="l" rtl="0" eaLnBrk="0">
              <a:lnSpc>
                <a:spcPct val="96000"/>
              </a:lnSpc>
            </a:pPr>
            <a:endParaRPr sz="43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12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消息认证码</a:t>
            </a:r>
            <a:endParaRPr lang="en-US" altLang="en-US" sz="3600" dirty="0"/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055495" algn="l" rtl="0" eaLnBrk="0">
              <a:lnSpc>
                <a:spcPct val="94000"/>
              </a:lnSpc>
              <a:spcBef>
                <a:spcPts val="5"/>
              </a:spcBef>
            </a:pPr>
            <a:endParaRPr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12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消息认证码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11500" y="1942465"/>
            <a:ext cx="6096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二、消息认证函数</a:t>
            </a:r>
            <a:endParaRPr 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三、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四、</a:t>
            </a:r>
            <a:r>
              <a:rPr lang="en-US" alt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基于分组密码的MAC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在网络通信环境中，可能存在的攻击：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泄漏：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消息透露给没有合法密钥的任何人或程序。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通信量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分析通信双方的通信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量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模式。在面向连接的应用中，确定连接的频率和持续时间；在面向连接或无连接的环境中，确定双方的消息数量和长度。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伪装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欺诈源向网络中插入一条消息。如攻击者产生一条消息并声称这条消息来自某合法实体，或者非消息接收方发送的关于收到或未收到消息的欺诈应答。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内容修改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对消息内容的修改，包括插入、删除、转换和修改。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在网络通信环境中，可能存在的攻击：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顺序修改：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对通信双方消息顺序的修改，包括插入、删除和重新排序。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计时修改：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对消息的延时和重播。在面向连接的应用中，整个消息序列可能是前面某合法消息序列的重播，也可能是消息序列中的一条消息被延时或重播；在面向无连接的应用中，可能是一条消息(如数据报)被延时或重播。</a:t>
            </a:r>
            <a:endParaRPr lang="zh-CN" altLang="en-US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发送方否认：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发送方否认发送过某消息。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 startAt="5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接收方否认：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接收方否认接收到某消息。</a:t>
            </a:r>
            <a:endParaRPr lang="zh-CN" altLang="en-US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5445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775460" y="1110615"/>
            <a:ext cx="9151620" cy="5073650"/>
          </a:xfr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在网络通信环境中，可能存在的攻击：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泄漏：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消息透露给没有合法密钥的任何人或程序。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通信量</a:t>
            </a:r>
            <a:r>
              <a:rPr lang="en-US" altLang="zh-CN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分析通信双方的通信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量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模式。</a:t>
            </a:r>
            <a:endParaRPr lang="en-US" altLang="zh-CN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伪装</a:t>
            </a:r>
            <a:r>
              <a:rPr lang="zh-CN" altLang="en-US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欺诈源向网络中插入一条消息。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内容修改</a:t>
            </a:r>
            <a:r>
              <a:rPr lang="zh-CN" altLang="en-US" sz="2000" b="1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对消息内容的修改，包括插入、删除、转换和修改。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顺序修改：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对通信双方消息顺序的修改，包括插入、删除和重新排序。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计时修改：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对消息的延时和重播。</a:t>
            </a:r>
            <a:endParaRPr lang="zh-CN" altLang="en-US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AutoNum type="arabicPeriod"/>
            </a:pPr>
            <a:endParaRPr lang="zh-CN" altLang="en-US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发送方否认：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发送方否认发送过某消息。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algn="l" fontAlgn="auto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接收方否认：</a:t>
            </a:r>
            <a:r>
              <a:rPr lang="zh-CN" altLang="en-US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接收方否认接收到某消息。</a:t>
            </a:r>
            <a:endParaRPr lang="zh-CN" altLang="en-US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右大括号 1"/>
          <p:cNvSpPr/>
          <p:nvPr/>
        </p:nvSpPr>
        <p:spPr>
          <a:xfrm>
            <a:off x="8580755" y="1736090"/>
            <a:ext cx="149225" cy="6400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884920" y="1886585"/>
            <a:ext cx="1663065" cy="3384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消息保密性</a:t>
            </a:r>
            <a:endParaRPr lang="zh-CN" altLang="en-US"/>
          </a:p>
        </p:txBody>
      </p:sp>
      <p:sp>
        <p:nvSpPr>
          <p:cNvPr id="5" name="右大括号 4"/>
          <p:cNvSpPr/>
          <p:nvPr/>
        </p:nvSpPr>
        <p:spPr>
          <a:xfrm rot="10800000">
            <a:off x="2138045" y="3053080"/>
            <a:ext cx="154305" cy="1449705"/>
          </a:xfrm>
          <a:prstGeom prst="rightBrace">
            <a:avLst>
              <a:gd name="adj1" fmla="val 8333"/>
              <a:gd name="adj2" fmla="val 500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82905" y="3331210"/>
            <a:ext cx="1663065" cy="8940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消息认证（数字签名可以解决部分问题）</a:t>
            </a:r>
            <a:endParaRPr lang="zh-CN" altLang="en-US"/>
          </a:p>
        </p:txBody>
      </p:sp>
      <p:sp>
        <p:nvSpPr>
          <p:cNvPr id="8" name="右大括号 7"/>
          <p:cNvSpPr/>
          <p:nvPr/>
        </p:nvSpPr>
        <p:spPr>
          <a:xfrm>
            <a:off x="7317105" y="5130165"/>
            <a:ext cx="156210" cy="2584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571740" y="5085080"/>
            <a:ext cx="1663065" cy="3384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数字签名</a:t>
            </a:r>
            <a:endParaRPr lang="zh-CN" altLang="en-US"/>
          </a:p>
        </p:txBody>
      </p:sp>
      <p:sp>
        <p:nvSpPr>
          <p:cNvPr id="11" name="右大括号 10"/>
          <p:cNvSpPr/>
          <p:nvPr/>
        </p:nvSpPr>
        <p:spPr>
          <a:xfrm>
            <a:off x="7317105" y="5595620"/>
            <a:ext cx="156210" cy="2584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571740" y="5550535"/>
            <a:ext cx="3200400" cy="33845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数字签名与安全协议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516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什么是消息认证（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Message Authentication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验证所收到的消息确实是来自真正的发送方，且是未被修改的消息，它也可验证消息的顺序和及时性。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是一种认证技术，其中的一些方法可用来抗发送方否认攻击。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12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消息认证码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255460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二、</a:t>
            </a:r>
            <a:r>
              <a:rPr lang="zh-CN" sz="36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消息认证函数</a:t>
            </a:r>
            <a:endParaRPr 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三、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四、</a:t>
            </a:r>
            <a:r>
              <a:rPr lang="en-US" alt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基于分组密码的MAC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463423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消息认证函数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Hash函数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它是将任意长的消息映射为定长的Hash值的函数，以该Hash值作为认证符。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对整个消息加密后的密文作为认证符。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消息认证码(MAC) 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它是消息和密钥的函数，它产生定长的值，以该值作为认证符。</a:t>
            </a:r>
            <a:endParaRPr lang="en-US" altLang="zh-CN" sz="20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1276"/>
          <a:stretch>
            <a:fillRect/>
          </a:stretch>
        </p:blipFill>
        <p:spPr>
          <a:xfrm>
            <a:off x="6130925" y="1736725"/>
            <a:ext cx="4922520" cy="4175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消息加密本身提供了一种认证手段。</a:t>
            </a: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对称密码和公钥密码体制中，对消息加密的分析是不相同的。</a:t>
            </a: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对称密码既可提供认证又可提供保密性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认证情况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：给定解密函数D和密钥K,接收方可接收任何输入X,并产生输出Y=D(K,X)。若X是用相应的加密函数对合法消息M加密生成的密文，则Y就是明文消息M,否则Y可能是无意义的位串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一些特殊情况：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如果消息M可以是任何的位模式，那么接收方无法确定接收到的消息是合法明文的密文。显然，若M可以是任意的位模式，那么不管X的值是什么,Y=D(K,X)都会作为真实的密文被接受。</a:t>
            </a: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55" y="1089025"/>
            <a:ext cx="6392545" cy="18516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3889375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解决这个问题的方法之一是，要求明文具有某种易于识别的结构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帧校验序列(FCS)：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在加密前对每个消息附加一个错误检测码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FCS和加密函数执行的顺序很重要。图12.2(a)为内部错误控制，</a:t>
            </a:r>
            <a:r>
              <a:rPr lang="zh-CN" altLang="en-US" sz="1665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图12.2(b)为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外部错误控制。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l="4545" t="8235" r="2727" b="8235"/>
              <a:stretch>
                <a:fillRect/>
              </a:stretch>
            </p:blipFill>
          </mc:Choice>
          <mc:Fallback>
            <p:blipFill>
              <a:blip r:embed="rId3"/>
              <a:srcRect l="4545" t="8235" r="2727" b="8235"/>
              <a:stretch>
                <a:fillRect/>
              </a:stretch>
            </p:blipFill>
          </mc:Fallback>
        </mc:AlternateContent>
        <p:spPr>
          <a:xfrm>
            <a:off x="5327015" y="1366520"/>
            <a:ext cx="6402705" cy="45618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3889375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解决这个问题的方法之一是，要求明文具有某种易于识别的结构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帧校验序列(FCS)：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在加密前对每个消息附加一个错误检测码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FCS和加密函数执行的顺序很重要。图12.2(a)为内部错误控制，</a:t>
            </a:r>
            <a:r>
              <a:rPr lang="zh-CN" altLang="en-US" sz="1665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图12.2(b)为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外部错误控制。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l="4545" t="8235" r="2727" b="8235"/>
              <a:stretch>
                <a:fillRect/>
              </a:stretch>
            </p:blipFill>
          </mc:Choice>
          <mc:Fallback>
            <p:blipFill>
              <a:blip r:embed="rId3"/>
              <a:srcRect l="4545" t="8235" r="2727" b="8235"/>
              <a:stretch>
                <a:fillRect/>
              </a:stretch>
            </p:blipFill>
          </mc:Fallback>
        </mc:AlternateContent>
        <p:spPr>
          <a:xfrm>
            <a:off x="5327015" y="1366520"/>
            <a:ext cx="6402705" cy="456184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3889375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分层协议通信体系中就是利用了类似的原理完成消息认证。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TCP/IP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协议头部格式：对除了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头部之外的消息进行加密。</a:t>
            </a: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Picture 1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l="7059" t="17273" r="9412" b="29091"/>
              <a:stretch>
                <a:fillRect/>
              </a:stretch>
            </p:blipFill>
          </mc:Choice>
          <mc:Fallback>
            <p:blipFill>
              <a:blip r:embed="rId3"/>
              <a:srcRect l="7059" t="17273" r="9412" b="29091"/>
              <a:stretch>
                <a:fillRect/>
              </a:stretch>
            </p:blipFill>
          </mc:Fallback>
        </mc:AlternateContent>
        <p:spPr>
          <a:xfrm>
            <a:off x="5368925" y="1105535"/>
            <a:ext cx="6104255" cy="50730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</a:t>
            </a:r>
            <a:r>
              <a:rPr lang="en-US" altLang="zh-CN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一些特殊情况：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如果消息M可以是任何的位模式，那么接收方无法确定接收到的消息是合法明文的密文。显然，若M可以是任意的位模式，那么不管X的值是什么,Y=D(K,X)都会作为真实的密文被接受。</a:t>
            </a: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例子：基于</a:t>
            </a:r>
            <a:r>
              <a:rPr lang="en-US" altLang="zh-CN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665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文本的对称加密认证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假设通信双方（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）约定合法明文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为：仅包含可打印的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字符（如字母、数字、标点符号，对应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码为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32~126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），共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95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种合法字符。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明文长度：固定为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10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字节（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位），即每个明文是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10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个连续的可打印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字符组成的字符串（如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"HelloWorld!"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此时，合法明文仅占所有可能位模式的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0.005%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，属于典型的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“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小子集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验证规则：检查解密后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的每个字节是否为可打印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ASCII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字符（即每个字节的数值在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32~126 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之间，且最高位为</a:t>
            </a:r>
            <a:r>
              <a:rPr lang="en-US" altLang="zh-CN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</a:t>
            </a:r>
            <a:r>
              <a:rPr lang="zh-CN" altLang="en-US" sz="166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824230" y="1113155"/>
            <a:ext cx="511683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消息加密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1" indent="-457200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000" b="1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公钥加密：</a:t>
            </a:r>
            <a:endParaRPr lang="zh-CN" altLang="en-US" sz="2000" b="1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>
                <a:sym typeface="+mn-ea"/>
              </a:rPr>
              <a:t>图12.1(b)：</a:t>
            </a:r>
            <a:r>
              <a:rPr lang="en-US" altLang="zh-CN" sz="1665">
                <a:sym typeface="+mn-ea"/>
              </a:rPr>
              <a:t>A</a:t>
            </a:r>
            <a:r>
              <a:rPr lang="zh-CN" altLang="en-US" sz="1665">
                <a:sym typeface="+mn-ea"/>
              </a:rPr>
              <a:t>用</a:t>
            </a:r>
            <a:r>
              <a:rPr lang="en-US" altLang="zh-CN" sz="1665">
                <a:sym typeface="+mn-ea"/>
              </a:rPr>
              <a:t>B</a:t>
            </a:r>
            <a:r>
              <a:rPr lang="zh-CN" altLang="en-US" sz="1665">
                <a:sym typeface="+mn-ea"/>
              </a:rPr>
              <a:t>的公钥进行</a:t>
            </a:r>
            <a:r>
              <a:rPr lang="zh-CN" altLang="en-US" sz="1665">
                <a:sym typeface="+mn-ea"/>
              </a:rPr>
              <a:t>加密，可提供保密性，但不能提供认证</a:t>
            </a:r>
            <a:endParaRPr lang="zh-CN" altLang="en-US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>
                <a:sym typeface="+mn-ea"/>
              </a:rPr>
              <a:t>图12.1(c)：则A用自己的私钥对消息加密，而B用A的公钥对接收的消息解密，就可以进行认证</a:t>
            </a:r>
            <a:endParaRPr lang="zh-CN" altLang="en-US" sz="1665"/>
          </a:p>
          <a:p>
            <a:pPr lvl="2" fontAlgn="auto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65">
                <a:sym typeface="+mn-ea"/>
              </a:rPr>
              <a:t>图12.1(d)：如果既要提供保密性又要提供认证，那么A可先用其私钥对M加密，这就是数字签名；然后A用B的公钥对上述结果加密，这可保证保密性。</a:t>
            </a:r>
            <a:endParaRPr lang="en-US" altLang="zh-CN" sz="166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05" y="1275080"/>
            <a:ext cx="6032500" cy="47453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消息认证码（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Message Authentication Code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MAC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又称密码校验和或者MAC,也是一种认证技术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它利用密钥来生成一个固定长度的短数据块，并将该数据块附加在消息之后。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在这种方法中，假定通信双方，比如A和B,共享密钥K。若A向B发送消息时，则A计算MAC,它是消息和密钥的函数，即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algn="ctr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MAC=C(K,M)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其中，M为输入消息；C为MAC函数；K为共享的密钥；MAC为消息认证码。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t="20909" b="6364"/>
              <a:stretch>
                <a:fillRect/>
              </a:stretch>
            </p:blipFill>
          </mc:Choice>
          <mc:Fallback>
            <p:blipFill>
              <a:blip r:embed="rId3"/>
              <a:srcRect t="20909" b="23943"/>
              <a:stretch>
                <a:fillRect/>
              </a:stretch>
            </p:blipFill>
          </mc:Fallback>
        </mc:AlternateContent>
        <p:spPr>
          <a:xfrm>
            <a:off x="1465580" y="1058545"/>
            <a:ext cx="7398385" cy="5280025"/>
          </a:xfrm>
          <a:prstGeom prst="rect">
            <a:avLst/>
          </a:prstGeom>
        </p:spPr>
      </p:pic>
      <p:sp>
        <p:nvSpPr>
          <p:cNvPr id="3" name="右大括号 2"/>
          <p:cNvSpPr/>
          <p:nvPr/>
        </p:nvSpPr>
        <p:spPr>
          <a:xfrm>
            <a:off x="8670925" y="1322705"/>
            <a:ext cx="192405" cy="1290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086215" y="1534160"/>
            <a:ext cx="2254250" cy="889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只能提供认证不提供机密性</a:t>
            </a:r>
            <a:endParaRPr lang="zh-CN" altLang="en-US"/>
          </a:p>
        </p:txBody>
      </p:sp>
      <p:sp>
        <p:nvSpPr>
          <p:cNvPr id="7" name="右大括号 6"/>
          <p:cNvSpPr/>
          <p:nvPr/>
        </p:nvSpPr>
        <p:spPr>
          <a:xfrm>
            <a:off x="8665845" y="3333750"/>
            <a:ext cx="172085" cy="25082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086215" y="4143375"/>
            <a:ext cx="2254250" cy="889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提供认证和机密性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517650" y="2994660"/>
            <a:ext cx="6911340" cy="1513205"/>
          </a:xfrm>
          <a:prstGeom prst="round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消息认证函数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为什么要使用消息认证码呢？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有许多应用是将同一消息广播给很多接收者。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在信息交换中，可能有这样一种情况，即通信某一方的处理负荷很大，没有时间解密收到的所有消息，他应能随机选择消息并对其进行认证。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对明文形式的计算机程序进行认证是一种很有意义的服务。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此外：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一些应用并不关心消息的保密性，而关心消息认证。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将认证和保密性分离开来，可使层次结构更加灵活。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仅在接收消息期间对消息实施保护是不够的，用户可能希望延长对消息的保护时间。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12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消息认证码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255460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二、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消息认证函数</a:t>
            </a:r>
            <a:endParaRPr 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三、</a:t>
            </a:r>
            <a:r>
              <a:rPr lang="en-US" altLang="zh-CN" sz="36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四、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基于分组密码的MAC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基于哈希函数的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基于哈希函数的MAC：HMAC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一般像MD5和SHA这样的密码学Hash函数，其软件执行速度比诸如DES这样的对称分组密码要快。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有许多共享的密码学Hash函数代码库。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SHA这样的Hash函数并不是专为MAC而设计的，由于Hash函数不依赖于秘密钥，所以它不能直接用于MAC。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目前，已经提出了许多方案将密钥加到现有的Hash函数中。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基于哈希函数的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HMAC的设计目标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不必修改而直接使用现有的Hash函数。很容易免费得到软件上执行速度较快的Hash函数及其代码。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如果找到或者需要更快或更安全的Hash函数，应能很容易地替代原来嵌入的Hash函数。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应保持Hash函数的原有性能，不能过分降低其性能。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对密钥的使用和处理应较简单。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如果已知嵌入的Hash函数的强度，则完全可以知道认证机制抗密码分析的强度。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基于哈希函数的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HMAC的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HMAC可描述如下：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HMAC(K,M)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=H[(K</a:t>
            </a:r>
            <a:r>
              <a:rPr lang="en-US" altLang="zh-CN" sz="2000" baseline="30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⊕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opad)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 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H[(K</a:t>
            </a:r>
            <a:r>
              <a:rPr lang="en-US" altLang="zh-CN" sz="2000" baseline="30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⊕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ipad)||M]]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Picture 5" descr="f05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t="8182" b="10909"/>
              <a:stretch>
                <a:fillRect/>
              </a:stretch>
            </p:blipFill>
          </mc:Choice>
          <mc:Fallback>
            <p:blipFill>
              <a:blip r:embed="rId3"/>
              <a:srcRect t="8182" b="10909"/>
              <a:stretch>
                <a:fillRect/>
              </a:stretch>
            </p:blipFill>
          </mc:Fallback>
        </mc:AlternateContent>
        <p:spPr>
          <a:xfrm>
            <a:off x="5897880" y="225"/>
            <a:ext cx="6553200" cy="68615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基于哈希函数的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694055" y="11487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HMAC的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结构：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HMAC可描述如下：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(1)在K左边填充0,得到b位的K</a:t>
            </a:r>
            <a:r>
              <a:rPr lang="en-US" altLang="zh-CN" sz="2000" baseline="30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(2)K</a:t>
            </a:r>
            <a:r>
              <a:rPr lang="en-US" altLang="zh-CN" sz="2000" baseline="30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与ipad执行异或运算(位异或)产生b位的分组S</a:t>
            </a:r>
            <a:r>
              <a:rPr lang="en-US" altLang="zh-CN" sz="2000" baseline="-25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(3)将M附于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en-US" altLang="zh-CN" sz="2000" baseline="-25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(4)将H作用于步骤(3)所得出的结果。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(5)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en-US" altLang="zh-CN" sz="2000" baseline="30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与opad执行异或运算(位异或)产生b位的分组S</a:t>
            </a:r>
            <a:r>
              <a:rPr lang="zh-CN" altLang="en-US" sz="2000" baseline="-25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(6)将步骤(4)中的Hash码附于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baseline="-25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(7)将H作用于步骤(6)所得出的结果，并输出该函数值。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Picture 5" descr="f05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t="8182" b="10909"/>
              <a:stretch>
                <a:fillRect/>
              </a:stretch>
            </p:blipFill>
          </mc:Choice>
          <mc:Fallback>
            <p:blipFill>
              <a:blip r:embed="rId3"/>
              <a:srcRect l="16696" t="8182" r="7519" b="10909"/>
              <a:stretch>
                <a:fillRect/>
              </a:stretch>
            </p:blipFill>
          </mc:Fallback>
        </mc:AlternateContent>
        <p:spPr>
          <a:xfrm>
            <a:off x="7299960" y="-3810"/>
            <a:ext cx="4966335" cy="68618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基于哈希函数的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：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HMAC的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安全性：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的安全性依赖使用的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Hash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函数的强度。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Hash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函数和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的强度之间的联系是可以证明的。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成功攻击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HMAC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的概率是等价与对嵌入的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Hash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函数进行以下攻击的：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对攻击者而言，即使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IV 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是随机的、秘密的和未知的，攻击者也能计算压缩函数的输出。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(2)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即使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IV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是随机的和秘密的，攻击者也能找到</a:t>
            </a:r>
            <a:r>
              <a:rPr lang="en-US" altLang="zh-CN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Hash 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兩数中的碰撞。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12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消息认证码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255460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二、</a:t>
            </a:r>
            <a:r>
              <a:rPr 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消息认证函数</a:t>
            </a:r>
            <a:endParaRPr 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三、</a:t>
            </a:r>
            <a:r>
              <a:rPr lang="en-US" altLang="zh-CN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HMAC</a:t>
            </a:r>
            <a:endParaRPr lang="en-US" altLang="zh-CN" sz="3600" dirty="0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四、</a:t>
            </a:r>
            <a:r>
              <a:rPr lang="zh-CN" altLang="en-US" sz="36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基于分组密码的MAC</a:t>
            </a:r>
            <a:endParaRPr lang="zh-CN" altLang="en-US" sz="36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基于分组密码的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465580" y="1137920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数据认证算法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-DAA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数据认证算法(DAA)建立在DES算法</a:t>
            </a:r>
            <a:r>
              <a:rPr lang="zh-CN" altLang="en-US" sz="2000" dirty="0" smtClean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上。</a:t>
            </a: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00" dirty="0" smtClean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rcRect l="3636" t="12941" r="3636" b="11765"/>
              <a:stretch>
                <a:fillRect/>
              </a:stretch>
            </p:blipFill>
          </mc:Choice>
          <mc:Fallback>
            <p:blipFill>
              <a:blip r:embed="rId3"/>
              <a:srcRect l="3636" t="12941" r="3636" b="26545"/>
              <a:stretch>
                <a:fillRect/>
              </a:stretch>
            </p:blipFill>
          </mc:Fallback>
        </mc:AlternateContent>
        <p:spPr>
          <a:xfrm>
            <a:off x="1465580" y="2178050"/>
            <a:ext cx="9279890" cy="46799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基于分组密码的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MAC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	</a:t>
            </a:r>
            <a:endParaRPr sz="36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465580" y="1137920"/>
            <a:ext cx="4545965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基于密码的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MAC-CMAC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40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基于AES或3DES算法，也是采用CBC模式</a:t>
            </a: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密钥扩展出两个子密钥K1和K2，这两个子密钥在最后一个消息分组加密前参与运算，增加了算法的复杂性和安全性</a:t>
            </a: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055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Picture 4" descr="f08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980940" y="1048385"/>
            <a:ext cx="7499350" cy="57950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690198" y="1997482"/>
            <a:ext cx="6863080" cy="332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043430" algn="l" rtl="0" eaLnBrk="0">
              <a:lnSpc>
                <a:spcPct val="96000"/>
              </a:lnSpc>
            </a:pPr>
            <a:endParaRPr sz="43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13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章</a:t>
            </a:r>
            <a:r>
              <a:rPr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 </a:t>
            </a: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</a:t>
            </a:r>
            <a:endParaRPr lang="en-US" altLang="en-US" sz="3600" dirty="0">
              <a:latin typeface="Calibri" panose="020F0502020204030204" charset="0"/>
              <a:ea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055495" algn="l" rtl="0" eaLnBrk="0">
              <a:lnSpc>
                <a:spcPct val="94000"/>
              </a:lnSpc>
              <a:spcBef>
                <a:spcPts val="5"/>
              </a:spcBef>
            </a:pPr>
            <a:endParaRPr sz="24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/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第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13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1671320"/>
            <a:ext cx="6096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rtl="0" eaLnBrk="0">
              <a:lnSpc>
                <a:spcPct val="100000"/>
              </a:lnSpc>
            </a:pPr>
            <a:r>
              <a:rPr lang="zh-CN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一、</a:t>
            </a:r>
            <a:r>
              <a:rPr lang="zh-CN" sz="3600" dirty="0">
                <a:solidFill>
                  <a:srgbClr val="FF0000"/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数字签名概述</a:t>
            </a:r>
            <a:endParaRPr lang="zh-CN" altLang="en-US" sz="3600" dirty="0">
              <a:solidFill>
                <a:srgbClr val="FF0000"/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sz="36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二、</a:t>
            </a:r>
            <a:r>
              <a:rPr lang="en-US" altLang="zh-CN" sz="36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Elgamal</a:t>
            </a:r>
            <a:r>
              <a:rPr lang="zh-CN" altLang="en-US" sz="36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数字签名方案</a:t>
            </a:r>
            <a:endParaRPr lang="zh-CN" altLang="en-US" sz="36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三、</a:t>
            </a:r>
            <a:r>
              <a:rPr lang="en-US" altLang="zh-CN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Schnorr</a:t>
            </a: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数字签名方案</a:t>
            </a:r>
            <a:endParaRPr lang="zh-CN" altLang="en-US" sz="3600" dirty="0">
              <a:solidFill>
                <a:srgbClr val="FF0000"/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四、</a:t>
            </a:r>
            <a:r>
              <a:rPr lang="en-US" altLang="zh-CN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NIST</a:t>
            </a: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数字签名算法</a:t>
            </a:r>
            <a:endParaRPr lang="zh-CN" altLang="en-US"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五、椭圆曲线数字签名算法</a:t>
            </a:r>
            <a:endParaRPr lang="zh-CN" altLang="en-US"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  <a:p>
            <a:pPr algn="l" rtl="0" eaLnBrk="0">
              <a:lnSpc>
                <a:spcPct val="100000"/>
              </a:lnSpc>
            </a:pP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六、</a:t>
            </a:r>
            <a:r>
              <a:rPr lang="en-US" altLang="zh-CN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RSA-PSS</a:t>
            </a: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数字签名算法</a:t>
            </a:r>
            <a:endParaRPr lang="zh-CN" altLang="en-US"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数字签名是一种类似写在纸上的传统的物理签名。它使用公钥加密技术实现，用于鉴别数字信息或者签名者身份的方法。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数字签名必须保障：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（1）接收者能够核实发送者对文档的签名；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（2）发送者事后不能否认对文档的签名；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（3）不能伪造对文档的签名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数字签名载体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一个签名有消息和载体两个部分，即签名所表示的意义和签名的 物理表现形式。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VS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手写签名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传统手写签名中签名与文件是一个物理整体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具有共同的物理载体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物理上的不可分割、不可复制的特性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签名与文件的不可分割和不能重复使用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数字签名中，签名与文件是电子形式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没有固定的物理载体，即签名及文件的物理形式和消息已经分开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 电子载体是可以任意分割、复制的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1" indent="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数字签名有可能与文件分割，被重复使用</a:t>
            </a:r>
            <a:endParaRPr lang="en-US" altLang="zh-CN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</a:t>
            </a:r>
            <a:r>
              <a:rPr lang="en-US" alt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VS</a:t>
            </a:r>
            <a:r>
              <a:rPr lang="zh-CN" altLang="en-US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手写签名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9164320" cy="5073650"/>
          </a:xfrm>
        </p:spPr>
        <p:txBody>
          <a:bodyPr>
            <a:noAutofit/>
          </a:bodyPr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传统签名的验证是通过与存档手迹对照来确定真伪的，它是主观 的、模糊的、容易伪造的，从而也是不安全的。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数字签名则是用密码，通过公开算法可以检验的，是客观的、精 确的，在计算上是安全的。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传统签名和数字签名的特点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传统签名的基本特点: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 能与被签的文件在物理上不可分割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签名者不能否认自己的签名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签名能被伪造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容易被验证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数字签名是传统签名的数字化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基本要求: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 能与所签文件“绑定”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签名者不能否认自己的签名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签名不能被伪造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• 容易被自动验证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数字签名的特征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数字签名基于密码技术，其形式是多种多样的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通用签名、仲裁签名、盲签名、群签名、门限签名，代理签名等。</a:t>
            </a:r>
            <a:endParaRPr lang="zh-CN" altLang="en-US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1994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年美国政府正式颁布了美国数字签名标准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DSS(Digital Signature Standard )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1995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年我国也制定了自己的数字签名标准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(GB15851-1995)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2004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年我国颁布了《中华人民共和国电子签名法》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数字签名和信息加密的区别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数字签名的签名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验签过程和信息加密的加密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解密过程都可以使用公钥密码体系实现。</a:t>
            </a:r>
            <a:r>
              <a:rPr lang="zh-CN" altLang="en-US" sz="24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但是实现过程正好相反，使用的密钥对也不同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数字签名使用的是发送方的密钥对，发送方用自己的私钥进行签名，接收方用发送方的公钥进行验签。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数字签名是一个</a:t>
            </a:r>
            <a:r>
              <a:rPr lang="zh-CN" altLang="en-US" sz="24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一对多的关系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：任何拥有发送方公钥的人都可以验证数字签名的正确性。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数字签名是解决数据真实性问题；信息加密是解决保密性问题。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一般情况下使用非对称密码算法实现数字签名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思考：使用对称密码算法实现数字签名存在什么问题？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351280" y="1110615"/>
            <a:ext cx="4991735" cy="5073650"/>
          </a:xfrm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数字签名的一般模型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消息的秘密性不需要保证，但Bob想要Alice确认该消息确实是由Bob发出的</a:t>
            </a: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Bob使用安全Hash函数，Hash值同Bob的私钥一起作为数字签名产生算法的输入，算法的输出短块则作为数字签名。</a:t>
            </a: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55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Alice收到消息以及签名：计算该消息的Hash值，使用验证算法，输入Hash值以及Bob的公钥。</a:t>
            </a: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205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1665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 xmlns:mc="http://schemas.openxmlformats.org/markup-compatibility/2006">
          <mc:Choice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6019800" y="-346710"/>
            <a:ext cx="6172200" cy="79875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数字签名的性质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 在收发双方不能完全信任的情况下，就需要除认证之外的其他方法来解决这些问题。数字签名是解决这个问题的最好方法。数字签名必须具有下列特征：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它必须能验证签名者、签名日期和时间。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它必须能认证被签的消息内容。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签名应能由第三方仲裁，以解决争执。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因此，数字签名具有认证功能。</a:t>
            </a: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数字签名的攻击和伪造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危害程度从高到低排列的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数字签名相关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攻击类型。这里A代表其签名方案遭受攻击的用户，C代表攻击者。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唯密钥攻击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C仅知道A的公钥。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已知消息攻击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C掌握一些消息以及对应的合法签名。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一般选择消息攻击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在攻击A的签名方案之前，C首先选择一些消息，而无须知道A的公钥。然后C对于这些选择的消息从A处获得合法签名。该攻击是一般性的，因为与A的公钥无关，同样的攻击可用于其他用户。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定向选择消息攻击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同一般选择消息攻击类似，不同的是攻击者选择消息的时间是在C掌握A的公钥之后，在签名生成之前。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适应性选择消息攻击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允许C将A作为“oracle”进行轮询。这意味着A可以被要求对于特定的消息签名，而这些消息与C之前已经获得的&lt;消息-签名&gt;对相关。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685800" lvl="2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数字签名的攻击和伪造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此外，文献还</a:t>
            </a:r>
            <a:r>
              <a:rPr lang="en-US" altLang="zh-CN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定义了何谓成功的攻击签名方案，即C能够以一定的概率进行下列攻击：</a:t>
            </a: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完全破译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C判断出A的私钥。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通用伪造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C掌握一个有效的签名算法，使得对于任意消息都能够等价地构造出合法签名。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选择伪造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C对于所选特定消息能够伪造出合法签名。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存在性伪造</a:t>
            </a:r>
            <a:r>
              <a:rPr lang="zh-CN" altLang="en-US" sz="2000" b="1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C至少可以伪造出一个消息的合法签名，但C不能控制该消息的选择。这种伪造对于A的危害最低。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数字签名的需求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 数字签名方案为了实现安全认证，需要满足如下条件：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签名必须是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依赖于正被签名消息的位模式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签名必须使用发送方某些独有的信息，以防伪造和否认。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产生数字签名比较容易。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识别和验证签名比较容易。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伪造数字签名在计算上是不可行的。无论是从给定的数字签名伪造消息，还是从给定的消息伪造数字签名，在计算上都是不可行的。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914400"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保存数字签名的副本是可行的。</a:t>
            </a: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数字签名的构成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一个数字签名方案包括如下3个算法：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密钥生成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产生用户的公私钥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签名算法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产生消息的签名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验证算法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验收消息的签名是否是合法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数字签名的构成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563" name="Rectangle 3"/>
          <p:cNvSpPr/>
          <p:nvPr>
            <p:ph idx="1"/>
          </p:nvPr>
        </p:nvSpPr>
        <p:spPr>
          <a:xfrm>
            <a:off x="1016635" y="1113155"/>
            <a:ext cx="9164320" cy="5073650"/>
          </a:xfrm>
        </p:spPr>
        <p:txBody>
          <a:bodyPr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一个数字签名方案包括如下3个算法：</a:t>
            </a: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密钥生成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产生用户的公私钥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签名算法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产生消息的签名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FF0000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验证算法</a:t>
            </a:r>
            <a:r>
              <a:rPr lang="en-US" altLang="zh-CN" sz="20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 验收消息的签名是否是合法</a:t>
            </a:r>
            <a:endParaRPr lang="en-US" altLang="zh-CN" sz="20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3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18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890" y="4175760"/>
            <a:ext cx="4808220" cy="883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0" y="2831465"/>
            <a:ext cx="2539365" cy="5975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数字签名的构成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28140" y="1393825"/>
            <a:ext cx="8874760" cy="277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签名函数必须满足以下条件，否则文件内容及签名被篡改或冒充时均无法发现</a:t>
            </a:r>
            <a:r>
              <a:rPr lang="en-US" altLang="zh-CN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zh-CN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</a:t>
            </a:r>
            <a:r>
              <a:rPr lang="en-US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要求签名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至少和被签名的数据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一样长。当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太长时，应用很不方便。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将条件</a:t>
            </a:r>
            <a:r>
              <a:rPr lang="en-US" altLang="en-US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改为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虽然当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M'≠M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时，存在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S=S’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，但对于给定的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M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，要找出相应的</a:t>
            </a:r>
            <a:r>
              <a:rPr lang="en-US" altLang="zh-CN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M’</a:t>
            </a:r>
            <a:r>
              <a:rPr lang="zh-CN" altLang="en-US" sz="2400" dirty="0" smtClean="0">
                <a:solidFill>
                  <a:schemeClr val="tx1"/>
                </a:solidFill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在计算上是不可能的。</a:t>
            </a:r>
            <a:endParaRPr lang="zh-CN" altLang="en-US" sz="2400" dirty="0" smtClean="0">
              <a:solidFill>
                <a:schemeClr val="tx1"/>
              </a:solidFill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765" y="2327275"/>
            <a:ext cx="5548630" cy="4908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/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24483" y="408431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>
            <a:off x="1465326" y="1019555"/>
            <a:ext cx="9037573" cy="28956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textbox 306"/>
          <p:cNvSpPr/>
          <p:nvPr/>
        </p:nvSpPr>
        <p:spPr>
          <a:xfrm>
            <a:off x="1628317" y="499821"/>
            <a:ext cx="8887459" cy="558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9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12700" algn="l" defTabSz="0" rtl="0" eaLnBrk="0">
              <a:lnSpc>
                <a:spcPct val="95000"/>
              </a:lnSpc>
              <a:tabLst>
                <a:tab pos="8874125" algn="l"/>
              </a:tabLst>
            </a:pPr>
            <a:r>
              <a:rPr lang="zh-CN"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数字签名的构成</a:t>
            </a:r>
            <a:r>
              <a:rPr sz="3600" u="sng" kern="0" spc="0" dirty="0">
                <a:solidFill>
                  <a:srgbClr val="1F4E79">
                    <a:alpha val="100000"/>
                  </a:srgbClr>
                </a:solidFill>
                <a:uFill>
                  <a:solidFill>
                    <a:srgbClr val="5B9BD5"/>
                  </a:solidFill>
                </a:u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</a:rPr>
              <a:t>	</a:t>
            </a:r>
            <a:endParaRPr sz="36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07135" y="1250950"/>
            <a:ext cx="8874760" cy="277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800100" lvl="1" indent="-34290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②：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签名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只能由签名者产生，否则别人便可伪造，于是签名者也就可以抵赖。</a:t>
            </a: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③：收信者可以验证签名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的真伪。这使得当签名</a:t>
            </a:r>
            <a:r>
              <a:rPr lang="en-US" altLang="zh-CN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为假时收信者不致上当。</a:t>
            </a: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800100" lvl="1" indent="-34290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uFillTx/>
                <a:latin typeface="Calibri" panose="020F0502020204030204" charset="0"/>
                <a:ea typeface="微软雅黑" panose="020B0503020204020204" charset="-122"/>
                <a:cs typeface="微软雅黑" panose="020B0503020204020204" charset="-122"/>
                <a:sym typeface="+mn-ea"/>
              </a:rPr>
              <a:t>④：签名者也应有办法鉴别收信者所出示的签名是否是自己的签名。这就给签名者以自卫的能力。</a:t>
            </a:r>
            <a:endParaRPr lang="zh-CN" altLang="en-US" sz="2000" dirty="0" smtClean="0">
              <a:uFillTx/>
              <a:latin typeface="Calibri" panose="020F050202020403020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ZTcwZjg3OGM5MWVhNmI0ZmM4OGQ1YjQxNGU4NWYzMj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7172</Words>
  <Application>WPS 演示</Application>
  <PresentationFormat>宽屏</PresentationFormat>
  <Paragraphs>511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Arial</vt:lpstr>
      <vt:lpstr>宋体</vt:lpstr>
      <vt:lpstr>Wingdings</vt:lpstr>
      <vt:lpstr>仿宋</vt:lpstr>
      <vt:lpstr>Calibri</vt:lpstr>
      <vt:lpstr>微软雅黑</vt:lpstr>
      <vt:lpstr>Arial Unicode MS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</dc:creator>
  <cp:lastModifiedBy>BWX</cp:lastModifiedBy>
  <cp:revision>39</cp:revision>
  <dcterms:created xsi:type="dcterms:W3CDTF">1900-01-01T00:00:00Z</dcterms:created>
  <dcterms:modified xsi:type="dcterms:W3CDTF">2025-04-22T05:29:28Z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