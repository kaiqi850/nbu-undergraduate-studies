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70.pdf" ContentType="application/pdf"/>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7" r:id="rId3"/>
    <p:sldId id="258" r:id="rId4"/>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47" r:id="rId60"/>
    <p:sldId id="314" r:id="rId61"/>
    <p:sldId id="315" r:id="rId62"/>
    <p:sldId id="316" r:id="rId63"/>
    <p:sldId id="346" r:id="rId64"/>
    <p:sldId id="318" r:id="rId65"/>
    <p:sldId id="319" r:id="rId66"/>
    <p:sldId id="320" r:id="rId67"/>
    <p:sldId id="321" r:id="rId68"/>
    <p:sldId id="322" r:id="rId69"/>
    <p:sldId id="323" r:id="rId70"/>
    <p:sldId id="324" r:id="rId71"/>
    <p:sldId id="325" r:id="rId72"/>
    <p:sldId id="326" r:id="rId73"/>
    <p:sldId id="348" r:id="rId74"/>
    <p:sldId id="379" r:id="rId75"/>
    <p:sldId id="332" r:id="rId76"/>
    <p:sldId id="333" r:id="rId77"/>
    <p:sldId id="385" r:id="rId78"/>
    <p:sldId id="335" r:id="rId79"/>
    <p:sldId id="386" r:id="rId80"/>
    <p:sldId id="390" r:id="rId81"/>
    <p:sldId id="388" r:id="rId82"/>
    <p:sldId id="391" r:id="rId83"/>
    <p:sldId id="336" r:id="rId84"/>
    <p:sldId id="393" r:id="rId85"/>
    <p:sldId id="394" r:id="rId86"/>
    <p:sldId id="396" r:id="rId87"/>
    <p:sldId id="397" r:id="rId88"/>
    <p:sldId id="399" r:id="rId89"/>
    <p:sldId id="400" r:id="rId90"/>
    <p:sldId id="401" r:id="rId91"/>
    <p:sldId id="398" r:id="rId92"/>
    <p:sldId id="382" r:id="rId93"/>
    <p:sldId id="383" r:id="rId94"/>
    <p:sldId id="384" r:id="rId95"/>
    <p:sldId id="403" r:id="rId96"/>
  </p:sldIdLst>
  <p:sldSz cx="12192000" cy="6858000" type="screen16x9"/>
  <p:notesSz cx="6858000" cy="9144000"/>
  <p:custDataLst>
    <p:tags r:id="rId10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14" d="100"/>
          <a:sy n="114" d="100"/>
        </p:scale>
        <p:origin x="414"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tableStyles" Target="tableStyles.xml"/><Relationship Id="rId98" Type="http://schemas.openxmlformats.org/officeDocument/2006/relationships/viewProps" Target="viewProps.xml"/><Relationship Id="rId97" Type="http://schemas.openxmlformats.org/officeDocument/2006/relationships/presProps" Target="presProps.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0" Type="http://schemas.openxmlformats.org/officeDocument/2006/relationships/tags" Target="tags/tag3.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334" name=""/>
        <p:cNvGrpSpPr/>
        <p:nvPr/>
      </p:nvGrpSpPr>
      <p:grpSpPr>
        <a:xfrm>
          <a:off x="0" y="0"/>
          <a:ext cx="0" cy="0"/>
          <a:chOff x="0" y="0"/>
          <a:chExt cx="0" cy="0"/>
        </a:xfrm>
      </p:grpSpPr>
      <p:sp>
        <p:nvSpPr>
          <p:cNvPr id="1049503"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9504"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1049505"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p>
            <a:endParaRPr lang="zh-CN" altLang="en-US"/>
          </a:p>
        </p:txBody>
      </p:sp>
      <p:sp>
        <p:nvSpPr>
          <p:cNvPr id="1049506"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049507"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9508"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04" name=""/>
        <p:cNvGrpSpPr/>
        <p:nvPr/>
      </p:nvGrpSpPr>
      <p:grpSpPr/>
      <p:sp>
        <p:nvSpPr>
          <p:cNvPr id="1048849" name="幻灯片图像占位符 1"/>
          <p:cNvSpPr>
            <a:spLocks noGrp="1"/>
          </p:cNvSpPr>
          <p:nvPr>
            <p:ph type="sldImg" idx="2"/>
          </p:nvPr>
        </p:nvSpPr>
        <p:spPr/>
      </p:sp>
      <p:sp>
        <p:nvSpPr>
          <p:cNvPr id="1048850"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07" name=""/>
        <p:cNvGrpSpPr/>
        <p:nvPr/>
      </p:nvGrpSpPr>
      <p:grpSpPr/>
      <p:sp>
        <p:nvSpPr>
          <p:cNvPr id="1048852" name="幻灯片图像占位符 1"/>
          <p:cNvSpPr>
            <a:spLocks noGrp="1"/>
          </p:cNvSpPr>
          <p:nvPr>
            <p:ph type="sldImg" idx="2"/>
          </p:nvPr>
        </p:nvSpPr>
        <p:spPr/>
      </p:sp>
      <p:sp>
        <p:nvSpPr>
          <p:cNvPr id="1048853" name="文本占位符 2"/>
          <p:cNvSpPr>
            <a:spLocks noGrp="1"/>
          </p:cNvSpPr>
          <p:nvPr>
            <p:ph type="body" idx="3"/>
          </p:nvPr>
        </p:nvSpPr>
        <p:spPr/>
        <p:txBody>
          <a:bodyPr/>
          <a:p>
            <a:r>
              <a:rPr lang="zh-CN" altLang="en-US"/>
              <a:t>要了解什么是密码学，首先要了解信息安全的</a:t>
            </a:r>
            <a:r>
              <a:rPr lang="zh-CN" altLang="en-US"/>
              <a:t>基本任务。</a:t>
            </a:r>
            <a:endParaRPr lang="zh-CN" altLang="en-US"/>
          </a:p>
          <a:p>
            <a:r>
              <a:rPr lang="zh-CN" altLang="en-US"/>
              <a:t>这是一个简单的通讯模型，假设甲乙两方要成功地实现保密通讯，有哪些安全需求是需要保证的</a:t>
            </a:r>
            <a:r>
              <a:rPr lang="zh-CN" altLang="en-US"/>
              <a:t>呢？</a:t>
            </a:r>
            <a:endParaRPr lang="zh-CN" altLang="en-US"/>
          </a:p>
          <a:p>
            <a:r>
              <a:rPr lang="zh-CN" altLang="en-US"/>
              <a:t>首先，这里假定甲乙的通信信道是公开的，对手丙可以在通信信道上进行窃听，截取信息，篡改数据，冒充合法用户</a:t>
            </a:r>
            <a:r>
              <a:rPr lang="zh-CN" altLang="en-US"/>
              <a:t>等。</a:t>
            </a:r>
            <a:endParaRPr lang="zh-CN" altLang="en-US"/>
          </a:p>
          <a:p>
            <a:r>
              <a:rPr lang="zh-CN" altLang="en-US"/>
              <a:t>这是我们可以根据上一节课讲的信息安全的一些安全目标和安全属性进行</a:t>
            </a:r>
            <a:r>
              <a:rPr lang="zh-CN" altLang="en-US"/>
              <a:t>思考。</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10" name=""/>
        <p:cNvGrpSpPr/>
        <p:nvPr/>
      </p:nvGrpSpPr>
      <p:grpSpPr/>
      <p:sp>
        <p:nvSpPr>
          <p:cNvPr id="1048858" name="幻灯片图像占位符 1"/>
          <p:cNvSpPr>
            <a:spLocks noGrp="1"/>
          </p:cNvSpPr>
          <p:nvPr>
            <p:ph type="sldImg" idx="2"/>
          </p:nvPr>
        </p:nvSpPr>
        <p:spPr/>
      </p:sp>
      <p:sp>
        <p:nvSpPr>
          <p:cNvPr id="1048859" name="文本占位符 2"/>
          <p:cNvSpPr>
            <a:spLocks noGrp="1"/>
          </p:cNvSpPr>
          <p:nvPr>
            <p:ph type="body" idx="3"/>
          </p:nvPr>
        </p:nvSpPr>
        <p:spPr/>
        <p:txBody>
          <a:bodyPr/>
          <a:p>
            <a:r>
              <a:rPr lang="zh-CN" altLang="en-US"/>
              <a:t>首先是保证机密性，保证敌手</a:t>
            </a:r>
            <a:r>
              <a:rPr lang="en-US" altLang="zh-CN"/>
              <a:t>C</a:t>
            </a:r>
            <a:r>
              <a:rPr lang="zh-CN" altLang="en-US"/>
              <a:t>看不懂或者是看不到通信信道上的信息</a:t>
            </a:r>
            <a:endParaRPr lang="zh-CN" altLang="en-US"/>
          </a:p>
          <a:p>
            <a:endParaRPr lang="en-US" altLang="zh-CN"/>
          </a:p>
          <a:p>
            <a:r>
              <a:rPr lang="zh-CN" altLang="en-US"/>
              <a:t>第二通信双方要却热彼此的身份，保证不会被敌手假冒，这就是认证</a:t>
            </a:r>
            <a:endParaRPr lang="zh-CN" altLang="en-US"/>
          </a:p>
          <a:p>
            <a:endParaRPr lang="zh-CN" altLang="en-US"/>
          </a:p>
          <a:p>
            <a:r>
              <a:rPr lang="zh-CN" altLang="en-US"/>
              <a:t>第三就是保证消息的完整性，不被敌手</a:t>
            </a:r>
            <a:r>
              <a:rPr lang="en-US" altLang="zh-CN"/>
              <a:t>C</a:t>
            </a:r>
            <a:r>
              <a:rPr lang="zh-CN" altLang="en-US"/>
              <a:t>进行篡改，也就是保证信息没有被动过。</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13" name=""/>
        <p:cNvGrpSpPr/>
        <p:nvPr/>
      </p:nvGrpSpPr>
      <p:grpSpPr/>
      <p:sp>
        <p:nvSpPr>
          <p:cNvPr id="1048864" name="幻灯片图像占位符 1"/>
          <p:cNvSpPr>
            <a:spLocks noGrp="1"/>
          </p:cNvSpPr>
          <p:nvPr>
            <p:ph type="sldImg" idx="2"/>
          </p:nvPr>
        </p:nvSpPr>
        <p:spPr/>
      </p:sp>
      <p:sp>
        <p:nvSpPr>
          <p:cNvPr id="1048865" name="文本占位符 2"/>
          <p:cNvSpPr>
            <a:spLocks noGrp="1"/>
          </p:cNvSpPr>
          <p:nvPr>
            <p:ph type="body" idx="3"/>
          </p:nvPr>
        </p:nvSpPr>
        <p:spPr/>
        <p:txBody>
          <a:bodyPr/>
          <a:p>
            <a:r>
              <a:rPr lang="zh-CN" altLang="en-US"/>
              <a:t>还有不可否认性，保证通信双方都不能抵赖自己发送过或者接受过这个信息。</a:t>
            </a:r>
            <a:endParaRPr lang="zh-CN" altLang="en-US"/>
          </a:p>
          <a:p>
            <a:r>
              <a:rPr lang="zh-CN" altLang="en-US"/>
              <a:t>以上四条信息可以基本保证通信的安全性，这些性质都可以通过密码学来保证。</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21" name=""/>
        <p:cNvGrpSpPr/>
        <p:nvPr/>
      </p:nvGrpSpPr>
      <p:grpSpPr/>
      <p:sp>
        <p:nvSpPr>
          <p:cNvPr id="1048882" name="幻灯片图像占位符 1"/>
          <p:cNvSpPr>
            <a:spLocks noGrp="1"/>
          </p:cNvSpPr>
          <p:nvPr>
            <p:ph type="sldImg" idx="2"/>
          </p:nvPr>
        </p:nvSpPr>
        <p:spPr/>
      </p:sp>
      <p:sp>
        <p:nvSpPr>
          <p:cNvPr id="1048883" name="文本占位符 2"/>
          <p:cNvSpPr>
            <a:spLocks noGrp="1"/>
          </p:cNvSpPr>
          <p:nvPr>
            <p:ph type="body" idx="3"/>
          </p:nvPr>
        </p:nvSpPr>
        <p:spPr/>
        <p:txBody>
          <a:bodyPr/>
          <a:p>
            <a:r>
              <a:rPr lang="zh-CN" altLang="en-US"/>
              <a:t>接下来介绍什么是密码学</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24" name=""/>
        <p:cNvGrpSpPr/>
        <p:nvPr/>
      </p:nvGrpSpPr>
      <p:grpSpPr/>
      <p:sp>
        <p:nvSpPr>
          <p:cNvPr id="1048888" name="幻灯片图像占位符 1"/>
          <p:cNvSpPr>
            <a:spLocks noGrp="1"/>
          </p:cNvSpPr>
          <p:nvPr>
            <p:ph type="sldImg" idx="2"/>
          </p:nvPr>
        </p:nvSpPr>
        <p:spPr/>
      </p:sp>
      <p:sp>
        <p:nvSpPr>
          <p:cNvPr id="1048889" name="文本占位符 2"/>
          <p:cNvSpPr>
            <a:spLocks noGrp="1"/>
          </p:cNvSpPr>
          <p:nvPr>
            <p:ph type="body" idx="3"/>
          </p:nvPr>
        </p:nvSpPr>
        <p:spPr/>
        <p:txBody>
          <a:bodyPr/>
          <a:p>
            <a:r>
              <a:rPr lang="zh-CN" altLang="en-US"/>
              <a:t>密码学实际上就是研究解决上述数学问题的手段，这些手段有数学方法、物理方法还有生物方法，所有这些方法都是通过算和协议实现的。</a:t>
            </a:r>
            <a:endParaRPr lang="zh-CN" altLang="en-US"/>
          </a:p>
          <a:p>
            <a:r>
              <a:rPr lang="zh-CN" altLang="en-US"/>
              <a:t>我们这门课主要研究通过数学方法来研究密码学。</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27" name=""/>
        <p:cNvGrpSpPr/>
        <p:nvPr/>
      </p:nvGrpSpPr>
      <p:grpSpPr/>
      <p:sp>
        <p:nvSpPr>
          <p:cNvPr id="1048901" name="幻灯片图像占位符 1"/>
          <p:cNvSpPr>
            <a:spLocks noGrp="1"/>
          </p:cNvSpPr>
          <p:nvPr>
            <p:ph type="sldImg" idx="2"/>
          </p:nvPr>
        </p:nvSpPr>
        <p:spPr/>
      </p:sp>
      <p:sp>
        <p:nvSpPr>
          <p:cNvPr id="1048902" name="文本占位符 2"/>
          <p:cNvSpPr>
            <a:spLocks noGrp="1"/>
          </p:cNvSpPr>
          <p:nvPr>
            <p:ph type="body" idx="3"/>
          </p:nvPr>
        </p:nvSpPr>
        <p:spPr/>
        <p:txBody>
          <a:bodyPr/>
          <a:p>
            <a:r>
              <a:rPr lang="zh-CN" altLang="en-US"/>
              <a:t>首先关注密码算法，其中包含五个基本概念</a:t>
            </a:r>
            <a:r>
              <a:rPr lang="en-US" altLang="zh-CN"/>
              <a:t>.</a:t>
            </a: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30" name=""/>
        <p:cNvGrpSpPr/>
        <p:nvPr/>
      </p:nvGrpSpPr>
      <p:grpSpPr/>
      <p:sp>
        <p:nvSpPr>
          <p:cNvPr id="1048907" name="幻灯片图像占位符 1"/>
          <p:cNvSpPr>
            <a:spLocks noGrp="1"/>
          </p:cNvSpPr>
          <p:nvPr>
            <p:ph type="sldImg" idx="2"/>
          </p:nvPr>
        </p:nvSpPr>
        <p:spPr/>
      </p:sp>
      <p:sp>
        <p:nvSpPr>
          <p:cNvPr id="1048908" name="文本占位符 2"/>
          <p:cNvSpPr>
            <a:spLocks noGrp="1"/>
          </p:cNvSpPr>
          <p:nvPr>
            <p:ph type="body" idx="3"/>
          </p:nvPr>
        </p:nvSpPr>
        <p:spPr/>
        <p:txBody>
          <a:bodyPr/>
          <a:p>
            <a:r>
              <a:rPr lang="zh-CN" altLang="en-US"/>
              <a:t>满足这两个需求的重要参数密钥。</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52" name=""/>
        <p:cNvGrpSpPr/>
        <p:nvPr/>
      </p:nvGrpSpPr>
      <p:grpSpPr/>
      <p:sp>
        <p:nvSpPr>
          <p:cNvPr id="1049019" name="幻灯片图像占位符 1"/>
          <p:cNvSpPr>
            <a:spLocks noGrp="1"/>
          </p:cNvSpPr>
          <p:nvPr>
            <p:ph type="sldImg" idx="2"/>
          </p:nvPr>
        </p:nvSpPr>
        <p:spPr/>
      </p:sp>
      <p:sp>
        <p:nvSpPr>
          <p:cNvPr id="1049020"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63" name=""/>
        <p:cNvGrpSpPr/>
        <p:nvPr/>
      </p:nvGrpSpPr>
      <p:grpSpPr/>
      <p:sp>
        <p:nvSpPr>
          <p:cNvPr id="1049047" name="幻灯片图像占位符 1"/>
          <p:cNvSpPr>
            <a:spLocks noGrp="1"/>
          </p:cNvSpPr>
          <p:nvPr>
            <p:ph type="sldImg" idx="2"/>
          </p:nvPr>
        </p:nvSpPr>
        <p:spPr/>
      </p:sp>
      <p:sp>
        <p:nvSpPr>
          <p:cNvPr id="1049048" name="文本占位符 2"/>
          <p:cNvSpPr>
            <a:spLocks noGrp="1"/>
          </p:cNvSpPr>
          <p:nvPr>
            <p:ph type="body" idx="3"/>
          </p:nvPr>
        </p:nvSpPr>
        <p:spPr/>
        <p:txBody>
          <a:bodyPr/>
          <a:p>
            <a:r>
              <a:rPr lang="zh-CN" altLang="en-US"/>
              <a:t>古人喜欢用诗传情，将自己的信息隐藏在诗中。图中就是一个会意诗，大家可以先尝试解读一下这首诗。</a:t>
            </a:r>
            <a:endParaRPr lang="zh-CN" altLang="en-US"/>
          </a:p>
          <a:p>
            <a:endParaRPr lang="zh-CN" altLang="en-US"/>
          </a:p>
          <a:p>
            <a:pPr algn="l" rtl="0" eaLnBrk="0">
              <a:lnSpc>
                <a:spcPct val="123000"/>
              </a:lnSpc>
            </a:pPr>
            <a:endParaRPr lang="en-US" altLang="en-US" dirty="0"/>
          </a:p>
          <a:p>
            <a:pPr marL="13970" indent="-1905" algn="l" rtl="0" eaLnBrk="0">
              <a:lnSpc>
                <a:spcPct val="98000"/>
              </a:lnSpc>
              <a:spcBef>
                <a:spcPts val="0"/>
              </a:spcBef>
            </a:pPr>
            <a:r>
              <a:rPr kern="0" spc="-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sym typeface="+mn-ea"/>
              </a:rPr>
              <a:t>长夜横枕意心歪,</a:t>
            </a:r>
            <a:r>
              <a:rPr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 </a:t>
            </a:r>
            <a:r>
              <a:rPr kern="0" spc="-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sym typeface="+mn-ea"/>
              </a:rPr>
              <a:t>月斜三更门半开,</a:t>
            </a:r>
            <a:r>
              <a:rPr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 </a:t>
            </a:r>
            <a:r>
              <a:rPr kern="0" spc="-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sym typeface="+mn-ea"/>
              </a:rPr>
              <a:t>短命到今无口信,</a:t>
            </a:r>
            <a:r>
              <a:rPr kern="0" spc="-30" dirty="0">
                <a:solidFill>
                  <a:srgbClr val="000000">
                    <a:alpha val="100000"/>
                  </a:srgbClr>
                </a:solidFill>
                <a:latin typeface="仿宋" panose="02010609060101010101" charset="-122"/>
                <a:ea typeface="仿宋" panose="02010609060101010101" charset="-122"/>
                <a:cs typeface="仿宋" panose="02010609060101010101" charset="-122"/>
                <a:sym typeface="+mn-ea"/>
              </a:rPr>
              <a:t> </a:t>
            </a:r>
            <a:r>
              <a:rPr kern="0" spc="-15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sym typeface="+mn-ea"/>
              </a:rPr>
              <a:t>肝肠望断无人来。</a:t>
            </a:r>
            <a:endParaRPr lang="en-US" altLang="en-US" dirty="0"/>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66" name=""/>
        <p:cNvGrpSpPr/>
        <p:nvPr/>
      </p:nvGrpSpPr>
      <p:grpSpPr/>
      <p:sp>
        <p:nvSpPr>
          <p:cNvPr id="1049055" name="幻灯片图像占位符 1"/>
          <p:cNvSpPr>
            <a:spLocks noGrp="1"/>
          </p:cNvSpPr>
          <p:nvPr>
            <p:ph type="sldImg" idx="2"/>
          </p:nvPr>
        </p:nvSpPr>
        <p:spPr/>
      </p:sp>
      <p:sp>
        <p:nvSpPr>
          <p:cNvPr id="1049056"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69" name=""/>
        <p:cNvGrpSpPr/>
        <p:nvPr/>
      </p:nvGrpSpPr>
      <p:grpSpPr/>
      <p:sp>
        <p:nvSpPr>
          <p:cNvPr id="1049061" name="幻灯片图像占位符 1"/>
          <p:cNvSpPr>
            <a:spLocks noGrp="1"/>
          </p:cNvSpPr>
          <p:nvPr>
            <p:ph type="sldImg" idx="2"/>
          </p:nvPr>
        </p:nvSpPr>
        <p:spPr/>
      </p:sp>
      <p:sp>
        <p:nvSpPr>
          <p:cNvPr id="1049062" name="文本占位符 2"/>
          <p:cNvSpPr>
            <a:spLocks noGrp="1"/>
          </p:cNvSpPr>
          <p:nvPr>
            <p:ph type="body" idx="3"/>
          </p:nvPr>
        </p:nvSpPr>
        <p:spPr/>
        <p:txBody>
          <a:bodyPr/>
          <a:p>
            <a:r>
              <a:rPr lang="zh-CN" altLang="en-US"/>
              <a:t>古人还喜欢用叠痕法来传递信息，这个思想已经有密码学的思想了。</a:t>
            </a:r>
            <a:endParaRPr lang="zh-CN" altLang="en-US"/>
          </a:p>
          <a:p>
            <a:r>
              <a:rPr lang="zh-CN" altLang="en-US"/>
              <a:t>这种情况叠的方法其实可以被看做密钥，被传递的信息就是明文。</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72" name=""/>
        <p:cNvGrpSpPr/>
        <p:nvPr/>
      </p:nvGrpSpPr>
      <p:grpSpPr/>
      <p:sp>
        <p:nvSpPr>
          <p:cNvPr id="1049068" name="幻灯片图像占位符 1"/>
          <p:cNvSpPr>
            <a:spLocks noGrp="1"/>
          </p:cNvSpPr>
          <p:nvPr>
            <p:ph type="sldImg" idx="2"/>
          </p:nvPr>
        </p:nvSpPr>
        <p:spPr/>
      </p:sp>
      <p:sp>
        <p:nvSpPr>
          <p:cNvPr id="1049069"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80" name=""/>
        <p:cNvGrpSpPr/>
        <p:nvPr/>
      </p:nvGrpSpPr>
      <p:grpSpPr/>
      <p:sp>
        <p:nvSpPr>
          <p:cNvPr id="1049094" name="幻灯片图像占位符 1"/>
          <p:cNvSpPr>
            <a:spLocks noGrp="1"/>
          </p:cNvSpPr>
          <p:nvPr>
            <p:ph type="sldImg" idx="2"/>
          </p:nvPr>
        </p:nvSpPr>
        <p:spPr/>
      </p:sp>
      <p:sp>
        <p:nvSpPr>
          <p:cNvPr id="1049095" name="文本占位符 2"/>
          <p:cNvSpPr>
            <a:spLocks noGrp="1"/>
          </p:cNvSpPr>
          <p:nvPr>
            <p:ph type="body" idx="3"/>
          </p:nvPr>
        </p:nvSpPr>
        <p:spPr/>
        <p:txBody>
          <a:bodyPr/>
          <a:p>
            <a:r>
              <a:rPr lang="zh-CN" altLang="en-US"/>
              <a:t>上面其实都是一些民间书信中用来保护信息给出的一些艺术性手段。</a:t>
            </a:r>
            <a:endParaRPr lang="zh-CN" altLang="en-US"/>
          </a:p>
          <a:p>
            <a:r>
              <a:rPr lang="zh-CN" altLang="en-US"/>
              <a:t>但其实在军事上，保密通信手段用的更多。</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83" name=""/>
        <p:cNvGrpSpPr/>
        <p:nvPr/>
      </p:nvGrpSpPr>
      <p:grpSpPr/>
      <p:sp>
        <p:nvSpPr>
          <p:cNvPr id="1049100" name="幻灯片图像占位符 1"/>
          <p:cNvSpPr>
            <a:spLocks noGrp="1"/>
          </p:cNvSpPr>
          <p:nvPr>
            <p:ph type="sldImg" idx="2"/>
          </p:nvPr>
        </p:nvSpPr>
        <p:spPr/>
      </p:sp>
      <p:sp>
        <p:nvSpPr>
          <p:cNvPr id="1049101" name="文本占位符 2"/>
          <p:cNvSpPr>
            <a:spLocks noGrp="1"/>
          </p:cNvSpPr>
          <p:nvPr>
            <p:ph type="body" idx="3"/>
          </p:nvPr>
        </p:nvSpPr>
        <p:spPr/>
        <p:txBody>
          <a:bodyPr/>
          <a:p>
            <a:r>
              <a:rPr lang="zh-CN" altLang="en-US"/>
              <a:t>六韬又称太公六韬，是中国古代先秦暑期著名的黄老道家典籍，太公的兵法部分。</a:t>
            </a:r>
            <a:endParaRPr lang="zh-CN" altLang="en-US"/>
          </a:p>
          <a:p>
            <a:r>
              <a:rPr lang="zh-CN" altLang="en-US"/>
              <a:t>相传，姜太公为武王建议，使用长短不同的音符来传递战场信息。将要传递的八种信息用八种符来代替。</a:t>
            </a:r>
            <a:endParaRPr lang="zh-CN" altLang="en-US"/>
          </a:p>
          <a:p>
            <a:r>
              <a:rPr lang="zh-CN" altLang="en-US"/>
              <a:t>这个每个符的意义是需要保密的。</a:t>
            </a:r>
            <a:endParaRPr lang="zh-CN" altLang="en-US"/>
          </a:p>
          <a:p>
            <a:r>
              <a:rPr lang="zh-CN" altLang="en-US"/>
              <a:t>这其实就是信息隐藏的一种方法。</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86" name=""/>
        <p:cNvGrpSpPr/>
        <p:nvPr/>
      </p:nvGrpSpPr>
      <p:grpSpPr/>
      <p:sp>
        <p:nvSpPr>
          <p:cNvPr id="1049104" name="幻灯片图像占位符 1"/>
          <p:cNvSpPr>
            <a:spLocks noGrp="1"/>
          </p:cNvSpPr>
          <p:nvPr>
            <p:ph type="sldImg" idx="2"/>
          </p:nvPr>
        </p:nvSpPr>
        <p:spPr/>
      </p:sp>
      <p:sp>
        <p:nvSpPr>
          <p:cNvPr id="1049105" name="文本占位符 2"/>
          <p:cNvSpPr>
            <a:spLocks noGrp="1"/>
          </p:cNvSpPr>
          <p:nvPr>
            <p:ph type="body" idx="3"/>
          </p:nvPr>
        </p:nvSpPr>
        <p:spPr/>
        <p:txBody>
          <a:bodyPr/>
          <a:p>
            <a:r>
              <a:rPr lang="zh-CN" altLang="en-US"/>
              <a:t>同样也是在六韬中，姜子牙还发明了一种名为阴书的方法。</a:t>
            </a:r>
            <a:endParaRPr lang="zh-CN" altLang="en-US"/>
          </a:p>
          <a:p>
            <a:r>
              <a:rPr lang="zh-CN" altLang="en-US"/>
              <a:t>这种方法既可以保证机密性也可以保证完整性</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89" name=""/>
        <p:cNvGrpSpPr/>
        <p:nvPr/>
      </p:nvGrpSpPr>
      <p:grpSpPr/>
      <p:sp>
        <p:nvSpPr>
          <p:cNvPr id="1049110" name="幻灯片图像占位符 1"/>
          <p:cNvSpPr>
            <a:spLocks noGrp="1"/>
          </p:cNvSpPr>
          <p:nvPr>
            <p:ph type="sldImg" idx="2"/>
          </p:nvPr>
        </p:nvSpPr>
        <p:spPr/>
      </p:sp>
      <p:sp>
        <p:nvSpPr>
          <p:cNvPr id="1049111" name="文本占位符 2"/>
          <p:cNvSpPr>
            <a:spLocks noGrp="1"/>
          </p:cNvSpPr>
          <p:nvPr>
            <p:ph type="body" idx="3"/>
          </p:nvPr>
        </p:nvSpPr>
        <p:spPr/>
        <p:txBody>
          <a:bodyPr/>
          <a:p>
            <a:r>
              <a:rPr lang="zh-CN" altLang="en-US"/>
              <a:t>在北宋有一本武经总要，这也是中国古代军事史上一部非常重要的著作。
该书的作者总结前人经验，总结出了军队中40中常用的战斗情况，研究出了中国古代已知最早的军事情报通信密码。他将军队中常用的40种战斗情况编上序号1-40，这个方法采用了类似密码学的思想 来加密要传递的信息。他是怎么做到的呢？</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92" name=""/>
        <p:cNvGrpSpPr/>
        <p:nvPr/>
      </p:nvGrpSpPr>
      <p:grpSpPr>
        <a:xfrm>
          <a:off x="0" y="0"/>
          <a:ext cx="0" cy="0"/>
          <a:chOff x="0" y="0"/>
          <a:chExt cx="0" cy="0"/>
        </a:xfrm>
      </p:grpSpPr>
      <p:sp>
        <p:nvSpPr>
          <p:cNvPr id="1049116" name="文本占位符 1049115"/>
          <p:cNvSpPr>
            <a:spLocks noGrp="1"/>
          </p:cNvSpPr>
          <p:nvPr>
            <p:ph type="body"/>
          </p:nvPr>
        </p:nvSpPr>
        <p:spPr/>
        <p:txBody>
          <a:bodyPr/>
          <a:p>
            <a:r>
              <a:rPr lang="zh-CN" altLang="en-US"/>
              <a:t>首先我们要选择并约定好一首40字的五言律诗。对这首诗有一定的要求，首先是文字不能重复，并且保密。这首诗整篇的文字都不相同。在这个方案中我们将这首诗作为密钥。</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95" name=""/>
        <p:cNvGrpSpPr/>
        <p:nvPr/>
      </p:nvGrpSpPr>
      <p:grpSpPr>
        <a:xfrm>
          <a:off x="0" y="0"/>
          <a:ext cx="0" cy="0"/>
          <a:chOff x="0" y="0"/>
          <a:chExt cx="0" cy="0"/>
        </a:xfrm>
      </p:grpSpPr>
      <p:sp>
        <p:nvSpPr>
          <p:cNvPr id="1049121" name="文本占位符 1049120"/>
          <p:cNvSpPr>
            <a:spLocks noGrp="1"/>
          </p:cNvSpPr>
          <p:nvPr>
            <p:ph type="body"/>
          </p:nvPr>
        </p:nvSpPr>
        <p:spPr/>
        <p:txBody>
          <a:bodyPr/>
          <a:p>
            <a:r>
              <a:rPr lang="zh-CN" altLang="en-US"/>
              <a:t>这个加密方法基本涵盖了密码学中的五要素：有铭文密文密钥加密方法和解密方法。而且这个密钥还是可以替换的。</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98" name=""/>
        <p:cNvGrpSpPr/>
        <p:nvPr/>
      </p:nvGrpSpPr>
      <p:grpSpPr>
        <a:xfrm>
          <a:off x="0" y="0"/>
          <a:ext cx="0" cy="0"/>
          <a:chOff x="0" y="0"/>
          <a:chExt cx="0" cy="0"/>
        </a:xfrm>
      </p:grpSpPr>
      <p:sp>
        <p:nvSpPr>
          <p:cNvPr id="1049126" name="文本占位符 1049125"/>
          <p:cNvSpPr>
            <a:spLocks noGrp="1"/>
          </p:cNvSpPr>
          <p:nvPr>
            <p:ph type="body"/>
          </p:nvPr>
        </p:nvSpPr>
        <p:spPr/>
        <p:txBody>
          <a:bodyPr/>
          <a:p>
            <a:r>
              <a:rPr lang="zh-CN" altLang="en-US"/>
              <a:t>反切法也是中国古代密码艺术中的重要方法。它的原理是使用汉字中的反切注音方法进行编码。</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205" name=""/>
        <p:cNvGrpSpPr/>
        <p:nvPr/>
      </p:nvGrpSpPr>
      <p:grpSpPr>
        <a:xfrm>
          <a:off x="0" y="0"/>
          <a:ext cx="0" cy="0"/>
          <a:chOff x="0" y="0"/>
          <a:chExt cx="0" cy="0"/>
        </a:xfrm>
      </p:grpSpPr>
      <p:sp>
        <p:nvSpPr>
          <p:cNvPr id="1049139" name="文本占位符 1049138"/>
          <p:cNvSpPr>
            <a:spLocks noGrp="1"/>
          </p:cNvSpPr>
          <p:nvPr>
            <p:ph type="body"/>
          </p:nvPr>
        </p:nvSpPr>
        <p:spPr/>
        <p:txBody>
          <a:bodyPr/>
          <a:p>
            <a:r>
              <a:rPr lang="zh-CN" altLang="en-US"/>
              <a:t>之前这些密码算法有很大的局限性，不能对任意消息进行加密。到中国近代设计了更先进的密码算法，可以对任意的消息进行加密。</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208" name=""/>
        <p:cNvGrpSpPr/>
        <p:nvPr/>
      </p:nvGrpSpPr>
      <p:grpSpPr>
        <a:xfrm>
          <a:off x="0" y="0"/>
          <a:ext cx="0" cy="0"/>
          <a:chOff x="0" y="0"/>
          <a:chExt cx="0" cy="0"/>
        </a:xfrm>
      </p:grpSpPr>
      <p:sp>
        <p:nvSpPr>
          <p:cNvPr id="1049143" name="文本占位符 1049142"/>
          <p:cNvSpPr>
            <a:spLocks noGrp="1"/>
          </p:cNvSpPr>
          <p:nvPr>
            <p:ph type="body"/>
          </p:nvPr>
        </p:nvSpPr>
        <p:spPr/>
        <p:txBody>
          <a:bodyPr/>
          <a:p>
            <a:r>
              <a:rPr lang="zh-CN" altLang="en-US"/>
              <a:t>清朝同治10年，也就是1871年。上海电报公司选出了6899个汉字。按照部首笔画为序排列以四码数字与其相匹配。文字和数字匹配好了就生成了明码本，然后在密码本的基础上重新编排。也可以用预先钉钉的字母或者数字密码组代替铭文中的数字字母音节单词，词汇短语符号等，实现明密变换。这时候加密解密过程只需将密码本和密码本一一对应起来就好。</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211" name=""/>
        <p:cNvGrpSpPr/>
        <p:nvPr/>
      </p:nvGrpSpPr>
      <p:grpSpPr>
        <a:xfrm>
          <a:off x="0" y="0"/>
          <a:ext cx="0" cy="0"/>
          <a:chOff x="0" y="0"/>
          <a:chExt cx="0" cy="0"/>
        </a:xfrm>
      </p:grpSpPr>
      <p:sp>
        <p:nvSpPr>
          <p:cNvPr id="1049148" name="文本占位符 1049147"/>
          <p:cNvSpPr>
            <a:spLocks noGrp="1"/>
          </p:cNvSpPr>
          <p:nvPr>
            <p:ph type="body"/>
          </p:nvPr>
        </p:nvSpPr>
        <p:spPr/>
        <p:txBody>
          <a:bodyPr/>
          <a:p>
            <a:r>
              <a:rPr lang="zh-CN" altLang="en-US"/>
              <a:t>还有一种加密方法被称为加乱形。这种加密方法和前面的方法有点类似它也是将文字一一进行编码。用4个数字进行表示。但是它这里面的加密过程使用了乱数。这个论述其实就可以理解成我们现在密码学中的密钥。用明码数字加上乱码数字就得到了密文数字。再将密文数字对应成汉字就生成了我们发送的密文。这也是一种加法密码。这里的论述其实就是我们现代密码学中的key也需要随机生成的。这其实就已经符合了我们现在密码学的思想。</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219" name=""/>
        <p:cNvGrpSpPr/>
        <p:nvPr/>
      </p:nvGrpSpPr>
      <p:grpSpPr>
        <a:xfrm>
          <a:off x="0" y="0"/>
          <a:ext cx="0" cy="0"/>
          <a:chOff x="0" y="0"/>
          <a:chExt cx="0" cy="0"/>
        </a:xfrm>
      </p:grpSpPr>
      <p:sp>
        <p:nvSpPr>
          <p:cNvPr id="1049169" name="文本占位符 1049168"/>
          <p:cNvSpPr>
            <a:spLocks noGrp="1"/>
          </p:cNvSpPr>
          <p:nvPr>
            <p:ph type="body"/>
          </p:nvPr>
        </p:nvSpPr>
        <p:spPr/>
        <p:txBody>
          <a:bodyPr/>
          <a:p>
            <a:r>
              <a:rPr lang="zh-CN" altLang="en-US"/>
              <a:t>密码学的第1个例子就是对标准书写符号的修改。用一些符号或者图形来代替字母。</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222" name=""/>
        <p:cNvGrpSpPr/>
        <p:nvPr/>
      </p:nvGrpSpPr>
      <p:grpSpPr>
        <a:xfrm>
          <a:off x="0" y="0"/>
          <a:ext cx="0" cy="0"/>
          <a:chOff x="0" y="0"/>
          <a:chExt cx="0" cy="0"/>
        </a:xfrm>
      </p:grpSpPr>
      <p:sp>
        <p:nvSpPr>
          <p:cNvPr id="1049175" name="文本占位符 1049174"/>
          <p:cNvSpPr>
            <a:spLocks noGrp="1"/>
          </p:cNvSpPr>
          <p:nvPr>
            <p:ph type="body"/>
          </p:nvPr>
        </p:nvSpPr>
        <p:spPr/>
        <p:txBody>
          <a:bodyPr/>
          <a:p>
            <a:r>
              <a:rPr lang="zh-CN" altLang="en-US"/>
              <a:t>公元前205年到公元前123年，古希腊人发明了一种棋盘密码。它将字母表放进5×5的矩阵当中。将字母用行号和列号表示。</a:t>
            </a:r>
            <a:endParaRPr lang="zh-CN" altLang="en-US"/>
          </a:p>
          <a:p>
            <a:r>
              <a:rPr lang="zh-CN" altLang="en-US"/>
              <a:t>后续由英国密码学家开发的</a:t>
            </a:r>
            <a:r>
              <a:rPr lang="en-US" altLang="zh-CN"/>
              <a:t>Playfair</a:t>
            </a:r>
            <a:r>
              <a:rPr lang="zh-CN" altLang="en-US"/>
              <a:t>密码，也是使用了类似的思想进行了一个多表的替换。</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225" name=""/>
        <p:cNvGrpSpPr/>
        <p:nvPr/>
      </p:nvGrpSpPr>
      <p:grpSpPr>
        <a:xfrm>
          <a:off x="0" y="0"/>
          <a:ext cx="0" cy="0"/>
          <a:chOff x="0" y="0"/>
          <a:chExt cx="0" cy="0"/>
        </a:xfrm>
      </p:grpSpPr>
      <p:sp>
        <p:nvSpPr>
          <p:cNvPr id="1049188" name="文本占位符 1049187"/>
          <p:cNvSpPr>
            <a:spLocks noGrp="1"/>
          </p:cNvSpPr>
          <p:nvPr>
            <p:ph type="body"/>
          </p:nvPr>
        </p:nvSpPr>
        <p:spPr/>
        <p:txBody>
          <a:bodyPr/>
          <a:p>
            <a:r>
              <a:rPr lang="zh-CN" altLang="en-US"/>
              <a:t>兽栏法也是一种代替密码学算法。它使用符号来替代对应的字母26种字母都有对应的符号来代替。其实这种方法更是类似于一种编码，因为他没有密钥的参与。其中替代表是需要保密的。两个点是第三个字母表，然后第一列、</a:t>
            </a:r>
            <a:r>
              <a:rPr lang="zh-CN" altLang="en-US"/>
              <a:t>第一行。</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228" name=""/>
        <p:cNvGrpSpPr/>
        <p:nvPr/>
      </p:nvGrpSpPr>
      <p:grpSpPr>
        <a:xfrm>
          <a:off x="0" y="0"/>
          <a:ext cx="0" cy="0"/>
          <a:chOff x="0" y="0"/>
          <a:chExt cx="0" cy="0"/>
        </a:xfrm>
      </p:grpSpPr>
      <p:sp>
        <p:nvSpPr>
          <p:cNvPr id="1049192" name="文本占位符 1049191"/>
          <p:cNvSpPr>
            <a:spLocks noGrp="1"/>
          </p:cNvSpPr>
          <p:nvPr>
            <p:ph type="body"/>
          </p:nvPr>
        </p:nvSpPr>
        <p:spPr/>
        <p:txBody>
          <a:bodyPr/>
          <a:p>
            <a:r>
              <a:rPr lang="zh-CN" altLang="en-US"/>
              <a:t>类似的思想，还有福尔摩斯探案里面的跳舞的小人。用小人不同的动作来代替不同的字母。</a:t>
            </a: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231" name=""/>
        <p:cNvGrpSpPr/>
        <p:nvPr/>
      </p:nvGrpSpPr>
      <p:grpSpPr>
        <a:xfrm>
          <a:off x="0" y="0"/>
          <a:ext cx="0" cy="0"/>
          <a:chOff x="0" y="0"/>
          <a:chExt cx="0" cy="0"/>
        </a:xfrm>
      </p:grpSpPr>
      <p:sp>
        <p:nvSpPr>
          <p:cNvPr id="1049196" name="文本占位符 1049195"/>
          <p:cNvSpPr>
            <a:spLocks noGrp="1"/>
          </p:cNvSpPr>
          <p:nvPr>
            <p:ph type="body"/>
          </p:nvPr>
        </p:nvSpPr>
        <p:spPr/>
        <p:txBody>
          <a:bodyPr/>
          <a:p>
            <a:r>
              <a:rPr lang="zh-CN" altLang="en-US"/>
              <a:t>还有摩斯电码。用这都是用符号来代替字母的一种方法。</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234" name=""/>
        <p:cNvGrpSpPr/>
        <p:nvPr/>
      </p:nvGrpSpPr>
      <p:grpSpPr>
        <a:xfrm>
          <a:off x="0" y="0"/>
          <a:ext cx="0" cy="0"/>
          <a:chOff x="0" y="0"/>
          <a:chExt cx="0" cy="0"/>
        </a:xfrm>
      </p:grpSpPr>
      <p:sp>
        <p:nvSpPr>
          <p:cNvPr id="1049201" name="文本占位符 1049200"/>
          <p:cNvSpPr>
            <a:spLocks noGrp="1"/>
          </p:cNvSpPr>
          <p:nvPr>
            <p:ph type="body"/>
          </p:nvPr>
        </p:nvSpPr>
        <p:spPr/>
        <p:txBody>
          <a:bodyPr/>
          <a:p>
            <a:r>
              <a:rPr lang="zh-CN" altLang="en-US"/>
              <a:t>公元前50年，古罗马的凯撒大帝建立了一种凯撒密码。他建立了一个字母替代表。用字母表中每个字母的后三位来替代该字母。其实也就是将字母表整体循环右移三位。再将现在后以后的字母表与原始字母表做一个一一对应的关系。
这其实已经有一些现代密码学的雏形了，这是字母表位移的数量其实就是密钥。这个数量其实是可以变换的。凯撒密码是单个密码进行替换的，在1593年他被推广为了维基尼亚密码分组密码算法这时密码替换是一组一组进行的。这个我们会在后续进行介绍。</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240" name=""/>
        <p:cNvGrpSpPr/>
        <p:nvPr/>
      </p:nvGrpSpPr>
      <p:grpSpPr>
        <a:xfrm>
          <a:off x="0" y="0"/>
          <a:ext cx="0" cy="0"/>
          <a:chOff x="0" y="0"/>
          <a:chExt cx="0" cy="0"/>
        </a:xfrm>
      </p:grpSpPr>
      <p:sp>
        <p:nvSpPr>
          <p:cNvPr id="1049215" name="文本占位符 1049214"/>
          <p:cNvSpPr>
            <a:spLocks noGrp="1"/>
          </p:cNvSpPr>
          <p:nvPr>
            <p:ph type="body"/>
          </p:nvPr>
        </p:nvSpPr>
        <p:spPr/>
        <p:txBody>
          <a:bodyPr/>
          <a:p>
            <a:r>
              <a:rPr lang="zh-CN" altLang="en-US"/>
              <a:t>代替密码的特点是将原始字母用符号或者其他的字母去进行替代。它实际上改变了原始字母的值。而接下来要介绍的换位密码则不同。换位密码也叫置换密码。这种密码算法并不改变铭文中字母的值，而是将它的顺序进行变动。</a:t>
            </a: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243" name=""/>
        <p:cNvGrpSpPr/>
        <p:nvPr/>
      </p:nvGrpSpPr>
      <p:grpSpPr>
        <a:xfrm>
          <a:off x="0" y="0"/>
          <a:ext cx="0" cy="0"/>
          <a:chOff x="0" y="0"/>
          <a:chExt cx="0" cy="0"/>
        </a:xfrm>
      </p:grpSpPr>
      <p:sp>
        <p:nvSpPr>
          <p:cNvPr id="1049221" name="文本占位符 1049220"/>
          <p:cNvSpPr>
            <a:spLocks noGrp="1"/>
          </p:cNvSpPr>
          <p:nvPr>
            <p:ph type="body"/>
          </p:nvPr>
        </p:nvSpPr>
        <p:spPr/>
        <p:txBody>
          <a:bodyPr/>
          <a:p>
            <a:r>
              <a:rPr lang="zh-CN" altLang="en-US"/>
              <a:t>一种简单的换位密码就是整个报文倒置。这个思想非常简单，但是呢，缺点是不安全，非常容易被识破。</a:t>
            </a: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246" name=""/>
        <p:cNvGrpSpPr/>
        <p:nvPr/>
      </p:nvGrpSpPr>
      <p:grpSpPr>
        <a:xfrm>
          <a:off x="0" y="0"/>
          <a:ext cx="0" cy="0"/>
          <a:chOff x="0" y="0"/>
          <a:chExt cx="0" cy="0"/>
        </a:xfrm>
      </p:grpSpPr>
      <p:sp>
        <p:nvSpPr>
          <p:cNvPr id="1049226" name="文本占位符 1049225"/>
          <p:cNvSpPr>
            <a:spLocks noGrp="1"/>
          </p:cNvSpPr>
          <p:nvPr>
            <p:ph type="body"/>
          </p:nvPr>
        </p:nvSpPr>
        <p:spPr/>
        <p:txBody>
          <a:bodyPr/>
          <a:p>
            <a:r>
              <a:rPr lang="zh-CN" altLang="en-US"/>
              <a:t>典型的换位密码算法的一个例子是公元前500年古斯巴达人使用的一种叫做天书的器件。这是人类历史上最早使用的密码器件。天书呢，就是用一些纸条羊皮纸条紧紧缠绕一个木棍的器件。缠绕好后，我们将要传递的信息从上到下写在羊皮纸条上。然后将羊皮纸条解开。这时羊皮纸条上的字看上去是无序的，并且没有特定含义。这时如果想要解密这个文字，就把它重新缠绕与圆木棍直径相同的木棍上就可以获得到了铭文。</a:t>
            </a:r>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249" name=""/>
        <p:cNvGrpSpPr/>
        <p:nvPr/>
      </p:nvGrpSpPr>
      <p:grpSpPr>
        <a:xfrm>
          <a:off x="0" y="0"/>
          <a:ext cx="0" cy="0"/>
          <a:chOff x="0" y="0"/>
          <a:chExt cx="0" cy="0"/>
        </a:xfrm>
      </p:grpSpPr>
      <p:sp>
        <p:nvSpPr>
          <p:cNvPr id="1049235" name="文本占位符 1049234"/>
          <p:cNvSpPr>
            <a:spLocks noGrp="1"/>
          </p:cNvSpPr>
          <p:nvPr>
            <p:ph type="body"/>
          </p:nvPr>
        </p:nvSpPr>
        <p:spPr/>
        <p:txBody>
          <a:bodyPr/>
          <a:p>
            <a:r>
              <a:rPr lang="zh-CN" altLang="en-US"/>
              <a:t>还有一种密码算法是几何图形密码这种呢？它就是横着写竖着读。</a:t>
            </a:r>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255" name=""/>
        <p:cNvGrpSpPr/>
        <p:nvPr/>
      </p:nvGrpSpPr>
      <p:grpSpPr>
        <a:xfrm>
          <a:off x="0" y="0"/>
          <a:ext cx="0" cy="0"/>
          <a:chOff x="0" y="0"/>
          <a:chExt cx="0" cy="0"/>
        </a:xfrm>
      </p:grpSpPr>
      <p:sp>
        <p:nvSpPr>
          <p:cNvPr id="1049249" name="文本占位符 1049248"/>
          <p:cNvSpPr>
            <a:spLocks noGrp="1"/>
          </p:cNvSpPr>
          <p:nvPr>
            <p:ph type="body"/>
          </p:nvPr>
        </p:nvSpPr>
        <p:spPr/>
        <p:txBody>
          <a:bodyPr/>
          <a:p>
            <a:r>
              <a:rPr lang="zh-CN" altLang="en-US"/>
              <a:t>上述的密码技术基本上都是手动密码处理的方法，这个很难处理大量需要传输的</a:t>
            </a:r>
            <a:r>
              <a:rPr lang="zh-CN" altLang="en-US"/>
              <a:t>明文，所以当后面机械化社会到来时，人们设计了各种各样的密码机械来处理大量的数据。</a:t>
            </a:r>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260" name=""/>
        <p:cNvGrpSpPr/>
        <p:nvPr/>
      </p:nvGrpSpPr>
      <p:grpSpPr>
        <a:xfrm>
          <a:off x="0" y="0"/>
          <a:ext cx="0" cy="0"/>
          <a:chOff x="0" y="0"/>
          <a:chExt cx="0" cy="0"/>
        </a:xfrm>
      </p:grpSpPr>
      <p:sp>
        <p:nvSpPr>
          <p:cNvPr id="1049260" name="文本占位符 1049259"/>
          <p:cNvSpPr>
            <a:spLocks noGrp="1"/>
          </p:cNvSpPr>
          <p:nvPr>
            <p:ph type="body"/>
          </p:nvPr>
        </p:nvSpPr>
        <p:spPr/>
        <p:txBody>
          <a:bodyPr/>
          <a:p>
            <a:r>
              <a:rPr lang="zh-CN" altLang="en-US"/>
              <a:t>随着第1次第2次世界大战的到来，各国都展开了针对密码机积极的研究应用和破解工作。</a:t>
            </a: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263" name=""/>
        <p:cNvGrpSpPr/>
        <p:nvPr/>
      </p:nvGrpSpPr>
      <p:grpSpPr>
        <a:xfrm>
          <a:off x="0" y="0"/>
          <a:ext cx="0" cy="0"/>
          <a:chOff x="0" y="0"/>
          <a:chExt cx="0" cy="0"/>
        </a:xfrm>
      </p:grpSpPr>
      <p:sp>
        <p:nvSpPr>
          <p:cNvPr id="1049266" name="文本占位符 1049265"/>
          <p:cNvSpPr>
            <a:spLocks noGrp="1"/>
          </p:cNvSpPr>
          <p:nvPr>
            <p:ph type="body"/>
          </p:nvPr>
        </p:nvSpPr>
        <p:spPr/>
        <p:txBody>
          <a:bodyPr/>
          <a:p>
            <a:r>
              <a:rPr lang="zh-CN" altLang="en-US"/>
              <a:t>其中最著名的就是德军设计并使用的英格玛密码机。他在德国二战初期胜利起到了决定性的作用。</a:t>
            </a: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艾伦·麦席森·图灵，OBE，FRS（英语：Alan Mathison Turing，又译阿兰·图灵，Turing也常翻译成涂林或者杜林，1912年6月23日—1954年6月7日），英国计算机科学家、数学家、逻辑学家、密码分析学家和理论生物学家，他被誉为计算机科学与人工智能之父。</a:t>
            </a:r>
            <a:endParaRPr lang="zh-CN" altLang="en-US"/>
          </a:p>
          <a:p>
            <a:endParaRPr lang="zh-CN" altLang="en-US"/>
          </a:p>
          <a:p>
            <a:r>
              <a:rPr lang="zh-CN" altLang="en-US"/>
              <a:t>二次世界大战期间，“Hut 8”小组，负责德国海军密码分析。 期间他设计了一些加速破译德国密码的技术，包括改进波兰战前研制的机器Bombe，一种可以找到恩尼格玛密码机设置的机电机器。 图灵在破译截获的编码信息方面发挥了关键作用，使盟军能够在包括大西洋战役在内的许多重要交战中击败轴心国海军，并因此帮助赢得了战争[3][4]。</a:t>
            </a:r>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272" name=""/>
        <p:cNvGrpSpPr/>
        <p:nvPr/>
      </p:nvGrpSpPr>
      <p:grpSpPr>
        <a:xfrm>
          <a:off x="0" y="0"/>
          <a:ext cx="0" cy="0"/>
          <a:chOff x="0" y="0"/>
          <a:chExt cx="0" cy="0"/>
        </a:xfrm>
      </p:grpSpPr>
      <p:sp>
        <p:nvSpPr>
          <p:cNvPr id="1049297" name="文本占位符 1049296"/>
          <p:cNvSpPr>
            <a:spLocks noGrp="1"/>
          </p:cNvSpPr>
          <p:nvPr>
            <p:ph type="body"/>
          </p:nvPr>
        </p:nvSpPr>
        <p:spPr/>
        <p:txBody>
          <a:bodyPr/>
          <a:p>
            <a:r>
              <a:rPr lang="zh-CN" altLang="en-US"/>
              <a:t>上几节课我们介绍了密码学设计学的思想，接下来呢，我们简单介绍一下什么是密码分析学密码分析学和密码编码学其实是密码学两个重要的分支。这两个分支既对立又统一，而且是相互促进发展的。</a:t>
            </a:r>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330" name=""/>
        <p:cNvGrpSpPr/>
        <p:nvPr/>
      </p:nvGrpSpPr>
      <p:grpSpPr>
        <a:xfrm>
          <a:off x="0" y="0"/>
          <a:ext cx="0" cy="0"/>
          <a:chOff x="0" y="0"/>
          <a:chExt cx="0" cy="0"/>
        </a:xfrm>
      </p:grpSpPr>
      <p:sp>
        <p:nvSpPr>
          <p:cNvPr id="1049472" name="文本占位符 1049471"/>
          <p:cNvSpPr>
            <a:spLocks noGrp="1"/>
          </p:cNvSpPr>
          <p:nvPr>
            <p:ph type="body"/>
          </p:nvPr>
        </p:nvSpPr>
        <p:spPr/>
        <p:txBody>
          <a:bodyPr/>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1230E297-2321-1044-B2A3-982F69E44412}" type="slidenum">
              <a:rPr lang="en-AU">
                <a:latin typeface="Arial" panose="020B0604020202020204" pitchFamily="34" charset="0"/>
              </a:rPr>
            </a:fld>
            <a:endParaRPr lang="en-AU" dirty="0">
              <a:latin typeface="Arial" panose="020B0604020202020204" pitchFamily="34" charset="0"/>
            </a:endParaRPr>
          </a:p>
        </p:txBody>
      </p:sp>
      <p:sp>
        <p:nvSpPr>
          <p:cNvPr id="44035" name="Rectangle 2"/>
          <p:cNvSpPr>
            <a:spLocks noGrp="1" noRot="1" noChangeAspect="1" noChangeArrowheads="1" noTextEdit="1"/>
          </p:cNvSpPr>
          <p:nvPr>
            <p:ph type="sldImg"/>
          </p:nvPr>
        </p:nvSpPr>
        <p:spPr/>
      </p:sp>
      <p:sp>
        <p:nvSpPr>
          <p:cNvPr id="44036" name="Rectangle 3"/>
          <p:cNvSpPr>
            <a:spLocks noGrp="1" noChangeArrowheads="1"/>
          </p:cNvSpPr>
          <p:nvPr>
            <p:ph type="body" idx="1"/>
          </p:nvPr>
        </p:nvSpPr>
        <p:spPr>
          <a:noFill/>
        </p:spPr>
        <p:txBody>
          <a:bodyPr/>
          <a:lstStyle/>
          <a:p>
            <a:r>
              <a:rPr lang="en-AU" dirty="0">
                <a:latin typeface="Arial" panose="020B0604020202020204" pitchFamily="34" charset="0"/>
                <a:ea typeface="MS PGothic" panose="020B0600070205080204" pitchFamily="-1" charset="-128"/>
                <a:cs typeface="MS PGothic" panose="020B0600070205080204" pitchFamily="-1" charset="-128"/>
              </a:rPr>
              <a:t>如果已知给定的密文是凯撒密码，那么对其进行穷举破解就很容易实现：只需尝试所有 25 个可能的密钥即可。图 3.3 展示了将此策略应用于示例密文的结果。在这种情况下，明文内容显而易见地出现在第三行。</a:t>
            </a:r>
            <a:endParaRPr lang="en-AU" dirty="0">
              <a:latin typeface="Arial" panose="020B0604020202020204" pitchFamily="34" charset="0"/>
              <a:ea typeface="MS PGothic" panose="020B0600070205080204" pitchFamily="-1" charset="-128"/>
              <a:cs typeface="MS PGothic" panose="020B0600070205080204" pitchFamily="-1" charset="-128"/>
            </a:endParaRPr>
          </a:p>
          <a:p>
            <a:endParaRPr lang="en-AU" dirty="0">
              <a:latin typeface="Arial" panose="020B0604020202020204" pitchFamily="34" charset="0"/>
              <a:ea typeface="MS PGothic" panose="020B0600070205080204" pitchFamily="-1" charset="-128"/>
              <a:cs typeface="MS PGothic" panose="020B0600070205080204" pitchFamily="-1" charset="-128"/>
            </a:endParaRPr>
          </a:p>
          <a:p>
            <a:r>
              <a:rPr lang="en-AU" dirty="0">
                <a:latin typeface="Arial" panose="020B0604020202020204" pitchFamily="34" charset="0"/>
                <a:ea typeface="MS PGothic" panose="020B0600070205080204" pitchFamily="-1" charset="-128"/>
                <a:cs typeface="MS PGothic" panose="020B0600070205080204" pitchFamily="-1" charset="-128"/>
              </a:rPr>
              <a:t>这个问题的三个重要特征使我们能够采用穷举破解法：</a:t>
            </a:r>
            <a:endParaRPr lang="en-AU" dirty="0">
              <a:latin typeface="Arial" panose="020B0604020202020204" pitchFamily="34" charset="0"/>
              <a:ea typeface="MS PGothic" panose="020B0600070205080204" pitchFamily="-1" charset="-128"/>
              <a:cs typeface="MS PGothic" panose="020B0600070205080204" pitchFamily="-1" charset="-128"/>
            </a:endParaRPr>
          </a:p>
          <a:p>
            <a:r>
              <a:rPr lang="en-AU" dirty="0">
                <a:latin typeface="Arial" panose="020B0604020202020204" pitchFamily="34" charset="0"/>
                <a:ea typeface="MS PGothic" panose="020B0600070205080204" pitchFamily="-1" charset="-128"/>
                <a:cs typeface="MS PGothic" panose="020B0600070205080204" pitchFamily="-1" charset="-128"/>
              </a:rPr>
              <a:t>（注：此句中“cryptanalysis”应为“cryptanalysis（密码分析）”）</a:t>
            </a:r>
            <a:endParaRPr lang="en-AU" dirty="0">
              <a:latin typeface="Arial" panose="020B0604020202020204" pitchFamily="34" charset="0"/>
              <a:ea typeface="MS PGothic" panose="020B0600070205080204" pitchFamily="-1" charset="-128"/>
              <a:cs typeface="MS PGothic" panose="020B0600070205080204" pitchFamily="-1" charset="-128"/>
            </a:endParaRPr>
          </a:p>
          <a:p>
            <a:endParaRPr lang="en-AU" dirty="0">
              <a:latin typeface="Arial" panose="020B0604020202020204" pitchFamily="34" charset="0"/>
              <a:ea typeface="MS PGothic" panose="020B0600070205080204" pitchFamily="-1" charset="-128"/>
              <a:cs typeface="MS PGothic" panose="020B0600070205080204" pitchFamily="-1" charset="-128"/>
            </a:endParaRPr>
          </a:p>
          <a:p>
            <a:r>
              <a:rPr lang="en-AU" dirty="0">
                <a:latin typeface="Arial" panose="020B0604020202020204" pitchFamily="34" charset="0"/>
                <a:ea typeface="MS PGothic" panose="020B0600070205080204" pitchFamily="-1" charset="-128"/>
                <a:cs typeface="MS PGothic" panose="020B0600070205080204" pitchFamily="-1" charset="-128"/>
              </a:rPr>
              <a:t>1.  加密和解密算法是众所周知的。</a:t>
            </a:r>
            <a:endParaRPr lang="en-AU" dirty="0">
              <a:latin typeface="Arial" panose="020B0604020202020204" pitchFamily="34" charset="0"/>
              <a:ea typeface="MS PGothic" panose="020B0600070205080204" pitchFamily="-1" charset="-128"/>
              <a:cs typeface="MS PGothic" panose="020B0600070205080204" pitchFamily="-1" charset="-128"/>
            </a:endParaRPr>
          </a:p>
          <a:p>
            <a:endParaRPr lang="en-AU" dirty="0">
              <a:latin typeface="Arial" panose="020B0604020202020204" pitchFamily="34" charset="0"/>
              <a:ea typeface="MS PGothic" panose="020B0600070205080204" pitchFamily="-1" charset="-128"/>
              <a:cs typeface="MS PGothic" panose="020B0600070205080204" pitchFamily="-1" charset="-128"/>
            </a:endParaRPr>
          </a:p>
          <a:p>
            <a:r>
              <a:rPr lang="en-AU" dirty="0">
                <a:latin typeface="Arial" panose="020B0604020202020204" pitchFamily="34" charset="0"/>
                <a:ea typeface="MS PGothic" panose="020B0600070205080204" pitchFamily="-1" charset="-128"/>
                <a:cs typeface="MS PGothic" panose="020B0600070205080204" pitchFamily="-1" charset="-128"/>
              </a:rPr>
              <a:t>2.  只有 25 把钥匙需要尝试开锁。</a:t>
            </a:r>
            <a:endParaRPr lang="en-AU" dirty="0">
              <a:latin typeface="Arial" panose="020B0604020202020204" pitchFamily="34" charset="0"/>
              <a:ea typeface="MS PGothic" panose="020B0600070205080204" pitchFamily="-1" charset="-128"/>
              <a:cs typeface="MS PGothic" panose="020B0600070205080204" pitchFamily="-1" charset="-128"/>
            </a:endParaRPr>
          </a:p>
          <a:p>
            <a:endParaRPr lang="en-AU" dirty="0">
              <a:latin typeface="Arial" panose="020B0604020202020204" pitchFamily="34" charset="0"/>
              <a:ea typeface="MS PGothic" panose="020B0600070205080204" pitchFamily="-1" charset="-128"/>
              <a:cs typeface="MS PGothic" panose="020B0600070205080204" pitchFamily="-1" charset="-128"/>
            </a:endParaRPr>
          </a:p>
          <a:p>
            <a:r>
              <a:rPr lang="en-AU" dirty="0">
                <a:latin typeface="Arial" panose="020B0604020202020204" pitchFamily="34" charset="0"/>
                <a:ea typeface="MS PGothic" panose="020B0600070205080204" pitchFamily="-1" charset="-128"/>
                <a:cs typeface="MS PGothic" panose="020B0600070205080204" pitchFamily="-1" charset="-128"/>
              </a:rPr>
              <a:t>3.  明文所使用的语言是已知的，并且很容易辨认出来。</a:t>
            </a:r>
            <a:endParaRPr lang="en-AU" dirty="0">
              <a:latin typeface="Arial" panose="020B0604020202020204" pitchFamily="34" charset="0"/>
              <a:ea typeface="MS PGothic" panose="020B0600070205080204" pitchFamily="-1" charset="-128"/>
              <a:cs typeface="MS PGothic" panose="020B0600070205080204" pitchFamily="-1" charset="-128"/>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代替就是把一个集合里的元素重新排列，而且每个元素只能出现一次。</a:t>
            </a:r>
            <a:endParaRPr lang="zh-CN" altLang="en-US"/>
          </a:p>
          <a:p>
            <a:r>
              <a:rPr lang="zh-CN" altLang="en-US"/>
              <a:t>在单表</a:t>
            </a:r>
            <a:r>
              <a:rPr lang="zh-CN" altLang="en-US"/>
              <a:t>代替密码里，我们用的是 26 个英文字母，把它们打乱重新排列，这一排列方式就是密钥。</a:t>
            </a:r>
            <a:endParaRPr lang="zh-CN" altLang="en-US"/>
          </a:p>
          <a:p>
            <a:r>
              <a:rPr lang="zh-CN" altLang="en-US"/>
              <a:t>大家可以想象一下，26 个字母能有多少种排列组合？答案是 26! </a:t>
            </a:r>
            <a:r>
              <a:rPr lang="zh-CN" altLang="en-US"/>
              <a:t>阶乘，这个数字非常大，比我们熟悉的 DES 算法的密钥空间还要大 10 个数量级。这种密码的特点就是，一条消息只用一个密文字母表来加密。</a:t>
            </a:r>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05929796-598E-6D45-A2E8-40C4AA531F9E}" type="slidenum">
              <a:rPr lang="en-AU">
                <a:latin typeface="Arial" panose="020B0604020202020204" pitchFamily="34" charset="0"/>
              </a:rPr>
            </a:fld>
            <a:endParaRPr lang="en-AU" dirty="0">
              <a:latin typeface="Arial" panose="020B0604020202020204" pitchFamily="34" charset="0"/>
            </a:endParaRPr>
          </a:p>
        </p:txBody>
      </p:sp>
      <p:sp>
        <p:nvSpPr>
          <p:cNvPr id="46083" name="Rectangle 2"/>
          <p:cNvSpPr>
            <a:spLocks noGrp="1" noRot="1" noChangeAspect="1" noChangeArrowheads="1" noTextEdit="1"/>
          </p:cNvSpPr>
          <p:nvPr>
            <p:ph type="sldImg"/>
          </p:nvPr>
        </p:nvSpPr>
        <p:spPr/>
      </p:sp>
      <p:sp>
        <p:nvSpPr>
          <p:cNvPr id="46084" name="Rectangle 3"/>
          <p:cNvSpPr>
            <a:spLocks noGrp="1" noChangeArrowheads="1"/>
          </p:cNvSpPr>
          <p:nvPr>
            <p:ph type="body" idx="1"/>
          </p:nvPr>
        </p:nvSpPr>
        <p:spPr>
          <a:noFill/>
        </p:spPr>
        <p:txBody>
          <a:bodyPr/>
          <a:lstStyle/>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虽然单表代换密码的密钥数量很多，但它有个很大的弱点，很容易被破解。为什么呢？因为它保留了原来字母出现的频率规律。比如说，在英文里，字母 “e” 出现的频率很高，在单表代换加密后的密文里，对应 “e” 的那个字母出现频率大概率也高。那怎么解决这个问题呢？可以给一个字母设置多个替代字母，也就是同音词。另外，大家还要知道双字母组和三字母组的概念，像英文里常见的 “th”“the”，这些在密码分析里很有用。 </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There is, however, another line of attack. If the cryptanalyst knows the nature</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of the plaintext (e.g., noncompressed English text), then the analyst can exploit the</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regularities of the language. To see how such a cryptanalysis might proceed, we give</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a partial example here that is adapted from one in [SINK09]. The ciphertext to be</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solved is</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 UZQSOVUOHXMOPVGPOZPEVSGZWSZOPFPESXUDBMETSXAIZ</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VUEPHZHMDZSHZOWSFPAPPDTSVPQUZWYMXUZUHSX</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EPYEPOPDZSZUFPOMBZWPFUPZHMDJUDTMOHMQ</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 As a first step, the relative frequency of the letters can be determined and</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compared to a standard frequency distribution for English, such as is shown in</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Figure 3.5 (based on [LEWA00]). If the message were long enough, this technique</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alone might be sufficient, but because this is a relatively short message, we cannot</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expect an exact match. In any case, the relative frequencies of the letters in the</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ciphertext (in percentages) are as follows:</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P 13.33 	H 5.83 	F 3.33 	B 1.67 	C 0.00</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Z 11.67 	D 5.00 	W 3.33 	G 1.67 	K 0.00</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S 8.33 	E 5.00 	Q 2.50 	Y 1.67 	L 0.00</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U 8.33 	V 4.17 	T 2.50 	I 0.83 	N 0.00</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O 7.50 	X 4.17 	A 1.67 	J 0.83 	R 0.00</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M 6.67</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 Comparing this breakdown with Figure 3.5, it seems likely that cipher letters P</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and Z are the equivalents of plain letters e and t, but it is not certain which is which.</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The letters S, U, O, M, and H are all of relatively high frequency and probably correspond</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to plain letters from the set {a, h, i, n, o, r, s}. The letters with the lowest</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frequencies (namely, A, B, G, Y, I, J) are likely included in the set {b, j, k, q, v, x, z}.</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There are a number of ways to proceed at this point. We could make some tentative</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assignments and start to fill in the plaintext to see if it looks like a reasonable</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“skeleton” of a message. A more systematic approach is to look for other regularities.</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For example, certain words may be known to be in the text. Or we could look for</a:t>
            </a:r>
            <a:endPar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endParaRPr>
          </a:p>
          <a:p>
            <a:r>
              <a:rPr lang="en-US" sz="1200" kern="1200" baseline="0" dirty="0" smtClean="0">
                <a:solidFill>
                  <a:schemeClr val="tx1"/>
                </a:solidFill>
                <a:latin typeface="Arial" panose="020B0604020202020204" pitchFamily="34" charset="0"/>
                <a:ea typeface="MS PGothic" panose="020B0600070205080204" pitchFamily="-1" charset="-128"/>
                <a:cs typeface="MS PGothic" panose="020B0600070205080204" pitchFamily="-1" charset="-128"/>
              </a:rPr>
              <a:t>repeating sequences of cipher letters and try to deduce their plaintext equivalents.</a:t>
            </a:r>
            <a:endParaRPr lang="en-US" dirty="0">
              <a:latin typeface="Arial" panose="020B0604020202020204" pitchFamily="34" charset="0"/>
              <a:ea typeface="Arial" panose="020B0604020202020204" pitchFamily="34" charset="0"/>
              <a:cs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320" name=""/>
        <p:cNvGrpSpPr/>
        <p:nvPr/>
      </p:nvGrpSpPr>
      <p:grpSpPr>
        <a:xfrm>
          <a:off x="0" y="0"/>
          <a:ext cx="0" cy="0"/>
          <a:chOff x="0" y="0"/>
          <a:chExt cx="0" cy="0"/>
        </a:xfrm>
      </p:grpSpPr>
      <p:sp>
        <p:nvSpPr>
          <p:cNvPr id="1049452" name="文本占位符 1049451"/>
          <p:cNvSpPr>
            <a:spLocks noGrp="1"/>
          </p:cNvSpPr>
          <p:nvPr>
            <p:ph type="body"/>
          </p:nvPr>
        </p:nvSpPr>
        <p:spPr/>
        <p:txBody>
          <a:bodyPr/>
          <a:p>
            <a:r>
              <a:rPr lang="zh-CN" altLang="en-US"/>
              <a:t>接下来我们看 Playfair 密码，它在</a:t>
            </a:r>
            <a:r>
              <a:rPr lang="zh-CN"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sym typeface="+mn-ea"/>
              </a:rPr>
              <a:t>多表</a:t>
            </a:r>
            <a:r>
              <a:rPr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sym typeface="+mn-ea"/>
              </a:rPr>
              <a:t>代替密码</a:t>
            </a:r>
            <a:r>
              <a:rPr lang="zh-CN" altLang="en-US"/>
              <a:t>里很有名。</a:t>
            </a:r>
            <a:endParaRPr lang="zh-CN" altLang="en-US"/>
          </a:p>
          <a:p>
            <a:r>
              <a:rPr lang="zh-CN" altLang="en-US"/>
              <a:t>和单表代换密码不同，它不是一个字母一个字母地加密，</a:t>
            </a:r>
            <a:endParaRPr lang="zh-CN" altLang="en-US"/>
          </a:p>
          <a:p>
            <a:r>
              <a:rPr lang="zh-CN" altLang="en-US"/>
              <a:t>而是把两个字母看成一组，一起加密。</a:t>
            </a:r>
            <a:endParaRPr lang="zh-CN" altLang="en-US"/>
          </a:p>
          <a:p>
            <a:r>
              <a:rPr lang="zh-CN" altLang="en-US"/>
              <a:t>它是通过一个 5×5 的字母矩阵来实现加密的，这个矩阵是用关键词构建的。</a:t>
            </a:r>
            <a:endParaRPr lang="zh-CN" altLang="en-US"/>
          </a:p>
          <a:p>
            <a:r>
              <a:rPr lang="zh-CN" altLang="en-US"/>
              <a:t>这个密码是 1854 年由英国科学家查尔斯・惠斯通爵士发明的，在一战和二战时期，被很多军队广泛使用。</a:t>
            </a:r>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320" name=""/>
        <p:cNvGrpSpPr/>
        <p:nvPr/>
      </p:nvGrpSpPr>
      <p:grpSpPr>
        <a:xfrm>
          <a:off x="0" y="0"/>
          <a:ext cx="0" cy="0"/>
          <a:chOff x="0" y="0"/>
          <a:chExt cx="0" cy="0"/>
        </a:xfrm>
      </p:grpSpPr>
      <p:sp>
        <p:nvSpPr>
          <p:cNvPr id="1049452" name="文本占位符 1049451"/>
          <p:cNvSpPr>
            <a:spLocks noGrp="1"/>
          </p:cNvSpPr>
          <p:nvPr>
            <p:ph type="body"/>
          </p:nvPr>
        </p:nvSpPr>
        <p:spPr/>
        <p:txBody>
          <a:bodyPr/>
          <a:p>
            <a:endParaRPr lang="zh-CN" altLang="en-US"/>
          </a:p>
          <a:p>
            <a:r>
              <a:rPr lang="en-US" dirty="0" smtClean="0">
                <a:latin typeface="黑体" panose="02010609060101010101" charset="-122"/>
                <a:ea typeface="黑体" panose="02010609060101010101" charset="-122"/>
                <a:cs typeface="黑体" panose="02010609060101010101" charset="-122"/>
                <a:sym typeface="+mn-ea"/>
              </a:rPr>
              <a:t>MONARCHY</a:t>
            </a:r>
            <a:r>
              <a:rPr lang="zh-CN" altLang="en-US"/>
              <a:t>/ˈmɒnəki/</a:t>
            </a:r>
            <a:r>
              <a:rPr lang="en-US" altLang="zh-CN"/>
              <a:t> </a:t>
            </a:r>
            <a:r>
              <a:rPr lang="zh-CN" altLang="en-US"/>
              <a:t>君主国；君主政体，君主制；皇室，王族</a:t>
            </a:r>
            <a:endParaRPr lang="zh-CN" altLang="en-US"/>
          </a:p>
          <a:p>
            <a:endParaRPr lang="zh-CN" altLang="en-US"/>
          </a:p>
          <a:p>
            <a:r>
              <a:rPr lang="zh-CN" altLang="en-US"/>
              <a:t>现在我们来看看 Playfair 密码的密钥矩阵是怎么构建的。先把关键词里的字母按顺序填到矩阵里，重复的字母只填一次。填完关键词的字母后，再按照字母表顺序把剩下的字母填进去。比如关键词是 “MONARCHY”，我们就按照规则得到这样一个矩阵。这个矩阵在加密和解密过程中非常关键。</a:t>
            </a:r>
            <a:endParaRPr lang="zh-CN" altLang="en-US"/>
          </a:p>
          <a:p>
            <a:endParaRPr lang="zh-CN" altLang="en-US"/>
          </a:p>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320" name=""/>
        <p:cNvGrpSpPr/>
        <p:nvPr/>
      </p:nvGrpSpPr>
      <p:grpSpPr>
        <a:xfrm>
          <a:off x="0" y="0"/>
          <a:ext cx="0" cy="0"/>
          <a:chOff x="0" y="0"/>
          <a:chExt cx="0" cy="0"/>
        </a:xfrm>
      </p:grpSpPr>
      <p:sp>
        <p:nvSpPr>
          <p:cNvPr id="1049452" name="文本占位符 1049451"/>
          <p:cNvSpPr>
            <a:spLocks noGrp="1"/>
          </p:cNvSpPr>
          <p:nvPr>
            <p:ph type="body"/>
          </p:nvPr>
        </p:nvSpPr>
        <p:spPr/>
        <p:txBody>
          <a:bodyPr/>
          <a:p>
            <a:endParaRPr lang="zh-CN" altLang="en-US"/>
          </a:p>
          <a:p>
            <a:r>
              <a:rPr lang="en-US" dirty="0" smtClean="0">
                <a:latin typeface="黑体" panose="02010609060101010101" charset="-122"/>
                <a:ea typeface="黑体" panose="02010609060101010101" charset="-122"/>
                <a:cs typeface="黑体" panose="02010609060101010101" charset="-122"/>
                <a:sym typeface="+mn-ea"/>
              </a:rPr>
              <a:t>MONARCHY</a:t>
            </a:r>
            <a:r>
              <a:rPr lang="zh-CN" altLang="en-US"/>
              <a:t>/ˈmɒnəki/</a:t>
            </a:r>
            <a:r>
              <a:rPr lang="en-US" altLang="zh-CN"/>
              <a:t> </a:t>
            </a:r>
            <a:r>
              <a:rPr lang="zh-CN" altLang="en-US"/>
              <a:t>君主国；君主政体，君主制；皇室，王族</a:t>
            </a:r>
            <a:endParaRPr lang="zh-CN" altLang="en-US"/>
          </a:p>
          <a:p>
            <a:endParaRPr lang="zh-CN" altLang="en-US"/>
          </a:p>
          <a:p>
            <a:r>
              <a:rPr lang="zh-CN" altLang="en-US"/>
              <a:t>现在我们来看看 Playfair 密码的密钥矩阵是怎么构建的。先把关键词里的字母按顺序填到矩阵里，重复的字母只填一次。填完关键词的字母后，再按照字母表顺序把剩下的字母填进去。比如关键词是 “MONARCHY”，我们就按照规则得到这样一个矩阵。这个矩阵在加密和解密过程中非常关键。</a:t>
            </a:r>
            <a:endParaRPr lang="zh-CN" altLang="en-US"/>
          </a:p>
          <a:p>
            <a:r>
              <a:rPr lang="zh-CN" altLang="en-US"/>
              <a:t>balloon</a:t>
            </a:r>
            <a:endParaRPr lang="zh-CN" altLang="en-US"/>
          </a:p>
          <a:p>
            <a:r>
              <a:rPr lang="zh-CN" altLang="en-US"/>
              <a:t>/bəˈluːn</a:t>
            </a:r>
            <a:endParaRPr lang="zh-CN" altLang="en-US"/>
          </a:p>
          <a:p>
            <a:endParaRPr lang="zh-CN" altLang="en-US"/>
          </a:p>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320" name=""/>
        <p:cNvGrpSpPr/>
        <p:nvPr/>
      </p:nvGrpSpPr>
      <p:grpSpPr>
        <a:xfrm>
          <a:off x="0" y="0"/>
          <a:ext cx="0" cy="0"/>
          <a:chOff x="0" y="0"/>
          <a:chExt cx="0" cy="0"/>
        </a:xfrm>
      </p:grpSpPr>
      <p:sp>
        <p:nvSpPr>
          <p:cNvPr id="1049452" name="文本占位符 1049451"/>
          <p:cNvSpPr>
            <a:spLocks noGrp="1"/>
          </p:cNvSpPr>
          <p:nvPr>
            <p:ph type="body"/>
          </p:nvPr>
        </p:nvSpPr>
        <p:spPr/>
        <p:txBody>
          <a:bodyPr/>
          <a:p>
            <a:endParaRPr lang="zh-CN" altLang="en-US"/>
          </a:p>
          <a:p>
            <a:r>
              <a:rPr lang="zh-CN" altLang="en-US"/>
              <a:t>下面介绍 Hill 密码，它是 1929 年由数学家莱斯特・希尔开发的。这个密码有个很大的优点，就是能把单个字母出现的频率隐藏起来。而且，如果用更大的矩阵，比如 3×3 的矩阵，它连双字母的频率信息都能隐藏。这使得它在面对只知道密文的攻击时，很难被破解。不过，要是攻击者知道一部分明文，那就很容易破解这个密码了。</a:t>
            </a:r>
            <a:endParaRPr lang="zh-CN" altLang="en-US"/>
          </a:p>
          <a:p>
            <a:r>
              <a:rPr lang="zh-CN" altLang="en-US"/>
              <a:t>多表代换密码</a:t>
            </a:r>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320" name=""/>
        <p:cNvGrpSpPr/>
        <p:nvPr/>
      </p:nvGrpSpPr>
      <p:grpSpPr>
        <a:xfrm>
          <a:off x="0" y="0"/>
          <a:ext cx="0" cy="0"/>
          <a:chOff x="0" y="0"/>
          <a:chExt cx="0" cy="0"/>
        </a:xfrm>
      </p:grpSpPr>
      <p:sp>
        <p:nvSpPr>
          <p:cNvPr id="1049452" name="文本占位符 1049451"/>
          <p:cNvSpPr>
            <a:spLocks noGrp="1"/>
          </p:cNvSpPr>
          <p:nvPr>
            <p:ph type="body"/>
          </p:nvPr>
        </p:nvSpPr>
        <p:spPr/>
        <p:txBody>
          <a:bodyPr/>
          <a:p>
            <a:endParaRPr lang="zh-CN" altLang="en-US"/>
          </a:p>
          <a:p>
            <a:r>
              <a:rPr lang="zh-CN" altLang="en-US"/>
              <a:t>在多表代换密码里，Vigenère 密码很有名，也比较简单。它是由 26 个凯撒密码组成的，每个凯撒密码的移位不一样，从 0 到 25 。每个密码都用一个密钥字母来表示，这个密钥字母决定了用哪个凯撒密码来加密。比如说，如果密钥字母是 “b”，那就用移位为 1 的凯撒密码来加密。</a:t>
            </a:r>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320" name=""/>
        <p:cNvGrpSpPr/>
        <p:nvPr/>
      </p:nvGrpSpPr>
      <p:grpSpPr>
        <a:xfrm>
          <a:off x="0" y="0"/>
          <a:ext cx="0" cy="0"/>
          <a:chOff x="0" y="0"/>
          <a:chExt cx="0" cy="0"/>
        </a:xfrm>
      </p:grpSpPr>
      <p:sp>
        <p:nvSpPr>
          <p:cNvPr id="1049452" name="文本占位符 1049451"/>
          <p:cNvSpPr>
            <a:spLocks noGrp="1"/>
          </p:cNvSpPr>
          <p:nvPr>
            <p:ph type="body"/>
          </p:nvPr>
        </p:nvSpPr>
        <p:spPr/>
        <p:txBody>
          <a:bodyPr/>
          <a:p>
            <a:endParaRPr lang="zh-CN" altLang="en-US"/>
          </a:p>
          <a:p>
            <a:r>
              <a:rPr lang="zh-CN" altLang="en-US"/>
              <a:t>在多表代换密码里，Vigenère 密码很有名，也比较简单。它是由 26 个凯撒密码组成的，每个凯撒密码的移位不一样，从 0 到 25 。每个密码都用一个密钥字母来表示，这个密钥字母决定了用哪个凯撒密码来加密。比如说，如果密钥字母是 “b”，那就用移位为 1 的凯撒密码来加密。</a:t>
            </a:r>
            <a:endParaRPr lang="zh-CN" altLang="en-US"/>
          </a:p>
          <a:p>
            <a:r>
              <a:rPr lang="zh-CN" altLang="en-US"/>
              <a:t>我们来看个例子，感受一下 Vigenère 密码是怎么加密的。加密的时候，需要一个和消息一样长的密钥，实际使用中，一般用重复的关键词来当密钥。这里我们以 “deceptive” 为关键词，“we are discovered save yourself” 为明文，按照 Vigenère 密码的规则加密后，得到的密文就是 “ZICVTWQNGRZGVTWAVZHCQYGLMGJ”。大家可以课后自己试着算一算。</a:t>
            </a:r>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320" name=""/>
        <p:cNvGrpSpPr/>
        <p:nvPr/>
      </p:nvGrpSpPr>
      <p:grpSpPr>
        <a:xfrm>
          <a:off x="0" y="0"/>
          <a:ext cx="0" cy="0"/>
          <a:chOff x="0" y="0"/>
          <a:chExt cx="0" cy="0"/>
        </a:xfrm>
      </p:grpSpPr>
      <p:sp>
        <p:nvSpPr>
          <p:cNvPr id="1049452" name="文本占位符 1049451"/>
          <p:cNvSpPr>
            <a:spLocks noGrp="1"/>
          </p:cNvSpPr>
          <p:nvPr>
            <p:ph type="body"/>
          </p:nvPr>
        </p:nvSpPr>
        <p:spPr/>
        <p:txBody>
          <a:bodyPr/>
          <a:p>
            <a:endParaRPr lang="zh-CN" altLang="en-US"/>
          </a:p>
          <a:p>
            <a:r>
              <a:rPr lang="zh-CN" altLang="en-US"/>
              <a:t>在多表代换密码里，Vigenère 密码很有名，也比较简单。它是由 26 个凯撒密码组成的，每个凯撒密码的移位不一样，从 0 到 25 。每个密码都用一个密钥字母来表示，这个密钥字母决定了用哪个凯撒密码来加密。比如说，如果密钥字母是 “b”，那就用移位为 1 的凯撒密码来加密。</a:t>
            </a:r>
            <a:endParaRPr lang="zh-CN" altLang="en-US"/>
          </a:p>
          <a:p>
            <a:r>
              <a:rPr lang="zh-CN" altLang="en-US"/>
              <a:t>我们来看个例子，感受一下 Vigenère 密码是怎么加密的。加密的时候，需要一个和消息一样长的密钥，实际使用中，一般用重复的关键词来当密钥。这里我们以 “deceptive” 为关键词，“we are discovered save yourself” 为明文，按照 Vigenère 密码的规则加密后，得到的密文就是 “ZICVTWQNGRZGVTWAVZHCQYGLMGJ”。大家可以课后自己试着算一算。</a:t>
            </a:r>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320" name=""/>
        <p:cNvGrpSpPr/>
        <p:nvPr/>
      </p:nvGrpSpPr>
      <p:grpSpPr>
        <a:xfrm>
          <a:off x="0" y="0"/>
          <a:ext cx="0" cy="0"/>
          <a:chOff x="0" y="0"/>
          <a:chExt cx="0" cy="0"/>
        </a:xfrm>
      </p:grpSpPr>
      <p:sp>
        <p:nvSpPr>
          <p:cNvPr id="1049452" name="文本占位符 1049451"/>
          <p:cNvSpPr>
            <a:spLocks noGrp="1"/>
          </p:cNvSpPr>
          <p:nvPr>
            <p:ph type="body"/>
          </p:nvPr>
        </p:nvSpPr>
        <p:spPr/>
        <p:txBody>
          <a:bodyPr/>
          <a:p>
            <a:endParaRPr lang="zh-CN" altLang="en-US"/>
          </a:p>
          <a:p>
            <a:r>
              <a:rPr lang="zh-CN" altLang="en-US"/>
              <a:t>接下来是 Vernam 密码和一次性密码本。一次性密码本是对 Vernam 密码的改进，它的安全性非常高。它的原理是用一个和消息一样长的随机密钥来加密，而且这个密钥只用一次，用完就扔。这样加密后的密文和明文之间没有任何规律，攻击者就算截获了密文，也没办法破解，因为密文里没有任何关于明文的线索。</a:t>
            </a:r>
            <a:endParaRPr lang="zh-CN" altLang="en-US"/>
          </a:p>
          <a:p>
            <a:r>
              <a:rPr lang="zh-CN" altLang="en-US"/>
              <a:t>虽然一次性密码本理论上非常安全，但在实际使用中会遇到一些问题。首先，生成大量的随机密钥很困难，一个常用的系统可能需要很多随机字符当密钥。其次，密钥分发也是个大问题，发送方和接收方每次都要拿到一样长的新密钥。所以，一次性密码本虽然安全性高，但实际用得不是很广泛，一般只用在对安全性要求极高、带宽又比较低的场景里。</a:t>
            </a:r>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330" name=""/>
        <p:cNvGrpSpPr/>
        <p:nvPr/>
      </p:nvGrpSpPr>
      <p:grpSpPr>
        <a:xfrm>
          <a:off x="0" y="0"/>
          <a:ext cx="0" cy="0"/>
          <a:chOff x="0" y="0"/>
          <a:chExt cx="0" cy="0"/>
        </a:xfrm>
      </p:grpSpPr>
      <p:sp>
        <p:nvSpPr>
          <p:cNvPr id="1049472" name="文本占位符 1049471"/>
          <p:cNvSpPr>
            <a:spLocks noGrp="1"/>
          </p:cNvSpPr>
          <p:nvPr>
            <p:ph type="body"/>
          </p:nvPr>
        </p:nvSpPr>
        <p:spPr/>
        <p:txBody>
          <a:bodyPr/>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attack at dawn </a:t>
            </a:r>
            <a:r>
              <a:rPr lang="zh-CN" altLang="en-US"/>
              <a:t>黎明</a:t>
            </a:r>
            <a:r>
              <a:rPr lang="zh-CN" altLang="en-US"/>
              <a:t>进攻</a:t>
            </a:r>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所以，明文 “HELLO WORLD” 加密后的密文为 “BG YE EN UT QR FC”。</a:t>
            </a:r>
            <a:endParaRPr lang="zh-CN" altLang="en-US"/>
          </a:p>
          <a:p>
            <a:r>
              <a:rPr lang="zh-CN" altLang="en-US"/>
              <a:t>所以，明文 “SECRET MESSAGE” 加密后的密文为 “UEVTEMOELU AZG”。</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9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Overlay-Blank.jpg"/>
          <p:cNvPicPr>
            <a:picLocks noChangeAspect="1"/>
          </p:cNvPicPr>
          <p:nvPr/>
        </p:nvPicPr>
        <p:blipFill>
          <a:blip r:embed="rId2"/>
          <a:stretch>
            <a:fillRect/>
          </a:stretch>
        </p:blipFill>
        <p:spPr>
          <a:xfrm>
            <a:off x="0" y="0"/>
            <a:ext cx="12192000" cy="6858000"/>
          </a:xfrm>
          <a:prstGeom prst="rect">
            <a:avLst/>
          </a:prstGeom>
        </p:spPr>
      </p:pic>
      <p:sp>
        <p:nvSpPr>
          <p:cNvPr id="2" name="Date Placeholder 1"/>
          <p:cNvSpPr>
            <a:spLocks noGrp="1"/>
          </p:cNvSpPr>
          <p:nvPr>
            <p:ph type="dt" sz="half" idx="10"/>
          </p:nvPr>
        </p:nvSpPr>
        <p:spPr>
          <a:xfrm>
            <a:off x="8869083" y="6356350"/>
            <a:ext cx="2844800" cy="365125"/>
          </a:xfrm>
        </p:spPr>
        <p:txBody>
          <a:bodyPr/>
          <a:lstStyle/>
          <a:p>
            <a:pPr>
              <a:defRPr/>
            </a:pPr>
            <a:endParaRPr lang="en-US" dirty="0"/>
          </a:p>
        </p:txBody>
      </p:sp>
      <p:sp>
        <p:nvSpPr>
          <p:cNvPr id="3" name="Footer Placeholder 2"/>
          <p:cNvSpPr>
            <a:spLocks noGrp="1"/>
          </p:cNvSpPr>
          <p:nvPr>
            <p:ph type="ftr" sz="quarter" idx="11"/>
          </p:nvPr>
        </p:nvSpPr>
        <p:spPr>
          <a:xfrm>
            <a:off x="496047" y="6356350"/>
            <a:ext cx="3860800" cy="365125"/>
          </a:xfrm>
        </p:spPr>
        <p:txBody>
          <a:bodyPr/>
          <a:lstStyle/>
          <a:p>
            <a:pPr>
              <a:defRPr/>
            </a:pPr>
            <a:r>
              <a:rPr lang="en-US" smtClean="0"/>
              <a:t>© 2017 Pearson Education, Inc., Hoboken, NJ. All rights reserved. </a:t>
            </a:r>
            <a:endParaRPr lang="en-US" dirty="0"/>
          </a:p>
        </p:txBody>
      </p:sp>
      <p:sp>
        <p:nvSpPr>
          <p:cNvPr id="4" name="Slide Number Placeholder 3"/>
          <p:cNvSpPr>
            <a:spLocks noGrp="1"/>
          </p:cNvSpPr>
          <p:nvPr>
            <p:ph type="sldNum" sz="quarter" idx="12"/>
          </p:nvPr>
        </p:nvSpPr>
        <p:spPr>
          <a:xfrm>
            <a:off x="5689600" y="6356350"/>
            <a:ext cx="812800" cy="365125"/>
          </a:xfrm>
        </p:spPr>
        <p:txBody>
          <a:bodyPr/>
          <a:lstStyle/>
          <a:p>
            <a:pPr>
              <a:defRPr/>
            </a:pPr>
            <a:fld id="{FDC14EC7-977D-1E4F-8051-25C0EB4A0039}"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4" name="Group 6"/>
          <p:cNvGrpSpPr/>
          <p:nvPr/>
        </p:nvGrpSpPr>
        <p:grpSpPr bwMode="auto">
          <a:xfrm>
            <a:off x="0" y="1373188"/>
            <a:ext cx="12192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a:xfrm>
            <a:off x="1056217" y="39688"/>
            <a:ext cx="10094383" cy="1412875"/>
          </a:xfrm>
        </p:spPr>
        <p:txBody>
          <a:bodyPr/>
          <a:lstStyle/>
          <a:p>
            <a:r>
              <a:rPr lang="en-US" smtClean="0"/>
              <a:t>Click to edit Master title style</a:t>
            </a:r>
            <a:endParaRPr lang="en-US" smtClean="0"/>
          </a:p>
        </p:txBody>
      </p:sp>
      <p:sp>
        <p:nvSpPr>
          <p:cNvPr id="3" name="Content Placeholder 2"/>
          <p:cNvSpPr>
            <a:spLocks noGrp="1"/>
          </p:cNvSpPr>
          <p:nvPr>
            <p:ph idx="1"/>
          </p:nvPr>
        </p:nvSpPr>
        <p:spPr>
          <a:xfrm>
            <a:off x="1056217" y="1762125"/>
            <a:ext cx="10094383" cy="428942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7" name="Date Placeholder 3"/>
          <p:cNvSpPr>
            <a:spLocks noGrp="1"/>
          </p:cNvSpPr>
          <p:nvPr>
            <p:ph type="dt" sz="half" idx="10"/>
          </p:nvPr>
        </p:nvSpPr>
        <p:spPr>
          <a:xfrm>
            <a:off x="8868833" y="6356350"/>
            <a:ext cx="2844800" cy="365125"/>
          </a:xfrm>
        </p:spPr>
        <p:txBody>
          <a:bodyPr/>
          <a:lstStyle>
            <a:lvl1pPr>
              <a:defRPr dirty="0"/>
            </a:lvl1pPr>
          </a:lstStyle>
          <a:p>
            <a:pPr>
              <a:defRPr/>
            </a:pPr>
            <a:endParaRPr lang="en-US" dirty="0"/>
          </a:p>
        </p:txBody>
      </p:sp>
      <p:sp>
        <p:nvSpPr>
          <p:cNvPr id="8" name="Footer Placeholder 4"/>
          <p:cNvSpPr>
            <a:spLocks noGrp="1"/>
          </p:cNvSpPr>
          <p:nvPr>
            <p:ph type="ftr" sz="quarter" idx="11"/>
          </p:nvPr>
        </p:nvSpPr>
        <p:spPr>
          <a:xfrm>
            <a:off x="495300" y="6356350"/>
            <a:ext cx="3860800" cy="365125"/>
          </a:xfrm>
        </p:spPr>
        <p:txBody>
          <a:bodyPr/>
          <a:lstStyle>
            <a:lvl1pPr>
              <a:defRPr dirty="0"/>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a:xfrm>
            <a:off x="5689600" y="6356350"/>
            <a:ext cx="812800" cy="365125"/>
          </a:xfrm>
        </p:spPr>
        <p:txBody>
          <a:bodyPr/>
          <a:lstStyle>
            <a:lvl1pPr>
              <a:defRPr/>
            </a:lvl1pPr>
          </a:lstStyle>
          <a:p>
            <a:pPr>
              <a:defRPr/>
            </a:pPr>
            <a:fld id="{3686DFBD-27E2-E046-A517-7C0202BD7FAE}" type="slidenum">
              <a:rPr lang="en-US"/>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89"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7.png"/><Relationship Id="rId7" Type="http://schemas.openxmlformats.org/officeDocument/2006/relationships/image" Target="../media/image7.jpe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jpeg"/><Relationship Id="rId10" Type="http://schemas.openxmlformats.org/officeDocument/2006/relationships/notesSlide" Target="../notesSlides/notesSlide9.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jpe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22.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7.jpeg"/><Relationship Id="rId2" Type="http://schemas.openxmlformats.org/officeDocument/2006/relationships/image" Target="../media/image24.jpeg"/><Relationship Id="rId1" Type="http://schemas.openxmlformats.org/officeDocument/2006/relationships/image" Target="../media/image23.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xml"/><Relationship Id="rId4" Type="http://schemas.openxmlformats.org/officeDocument/2006/relationships/image" Target="../media/image7.jpeg"/><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26.png"/><Relationship Id="rId1" Type="http://schemas.openxmlformats.org/officeDocument/2006/relationships/image" Target="../media/image7.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xml"/><Relationship Id="rId4" Type="http://schemas.openxmlformats.org/officeDocument/2006/relationships/image" Target="../media/image7.jpeg"/><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slide" Target="slide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jpe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30.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31.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32.jpe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33.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1.xml"/><Relationship Id="rId4" Type="http://schemas.openxmlformats.org/officeDocument/2006/relationships/image" Target="../media/image7.jpe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34.jpeg"/></Relationships>
</file>

<file path=ppt/slides/_rels/slide4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41.png"/><Relationship Id="rId7" Type="http://schemas.openxmlformats.org/officeDocument/2006/relationships/image" Target="../media/image40.png"/><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7.jpeg"/><Relationship Id="rId10" Type="http://schemas.openxmlformats.org/officeDocument/2006/relationships/notesSlide" Target="../notesSlides/notesSlide33.xml"/><Relationship Id="rId1" Type="http://schemas.openxmlformats.org/officeDocument/2006/relationships/image" Target="../media/image35.png"/></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34.xml"/><Relationship Id="rId5" Type="http://schemas.openxmlformats.org/officeDocument/2006/relationships/slideLayout" Target="../slideLayouts/slideLayout1.xml"/><Relationship Id="rId4" Type="http://schemas.openxmlformats.org/officeDocument/2006/relationships/image" Target="../media/image7.jpe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42.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43.jpeg"/></Relationships>
</file>

<file path=ppt/slides/_rels/slide49.xml.rels><?xml version="1.0" encoding="UTF-8" standalone="yes"?>
<Relationships xmlns="http://schemas.openxmlformats.org/package/2006/relationships"><Relationship Id="rId7" Type="http://schemas.openxmlformats.org/officeDocument/2006/relationships/notesSlide" Target="../notesSlides/notesSlide36.xml"/><Relationship Id="rId6"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47.jpeg"/><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image" Target="../media/image44.png"/></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1.xml"/><Relationship Id="rId3" Type="http://schemas.openxmlformats.org/officeDocument/2006/relationships/image" Target="../media/image7.jpeg"/><Relationship Id="rId2" Type="http://schemas.openxmlformats.org/officeDocument/2006/relationships/image" Target="../media/image49.jpeg"/><Relationship Id="rId1" Type="http://schemas.openxmlformats.org/officeDocument/2006/relationships/image" Target="../media/image48.jpe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50.jpeg"/></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jpeg"/></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slideLayout" Target="../slideLayouts/slideLayout1.xml"/><Relationship Id="rId3" Type="http://schemas.openxmlformats.org/officeDocument/2006/relationships/image" Target="../media/image7.jpeg"/><Relationship Id="rId2" Type="http://schemas.openxmlformats.org/officeDocument/2006/relationships/image" Target="../media/image56.png"/><Relationship Id="rId1" Type="http://schemas.openxmlformats.org/officeDocument/2006/relationships/image" Target="../media/image55.jpe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1.png"/><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slides/_rels/slide5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jpeg"/><Relationship Id="rId3" Type="http://schemas.openxmlformats.org/officeDocument/2006/relationships/image" Target="../media/image28.png"/><Relationship Id="rId2" Type="http://schemas.openxmlformats.org/officeDocument/2006/relationships/image" Target="../media/image63.png"/><Relationship Id="rId1" Type="http://schemas.openxmlformats.org/officeDocument/2006/relationships/image" Target="../media/image62.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6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jpeg"/><Relationship Id="rId3" Type="http://schemas.openxmlformats.org/officeDocument/2006/relationships/image" Target="../media/image28.png"/><Relationship Id="rId2" Type="http://schemas.openxmlformats.org/officeDocument/2006/relationships/image" Target="../media/image63.png"/><Relationship Id="rId1" Type="http://schemas.openxmlformats.org/officeDocument/2006/relationships/image" Target="../media/image62.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6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jpeg"/><Relationship Id="rId3" Type="http://schemas.openxmlformats.org/officeDocument/2006/relationships/image" Target="../media/image66.jpeg"/><Relationship Id="rId2" Type="http://schemas.openxmlformats.org/officeDocument/2006/relationships/image" Target="../media/image65.png"/><Relationship Id="rId1" Type="http://schemas.openxmlformats.org/officeDocument/2006/relationships/image" Target="../media/image64.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6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jpeg"/><Relationship Id="rId3" Type="http://schemas.openxmlformats.org/officeDocument/2006/relationships/image" Target="../media/image28.png"/><Relationship Id="rId2" Type="http://schemas.openxmlformats.org/officeDocument/2006/relationships/image" Target="../media/image63.png"/><Relationship Id="rId1" Type="http://schemas.openxmlformats.org/officeDocument/2006/relationships/image" Target="../media/image62.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slideLayout" Target="../slideLayouts/slideLayout1.xml"/><Relationship Id="rId3" Type="http://schemas.openxmlformats.org/officeDocument/2006/relationships/image" Target="../media/image7.jpeg"/><Relationship Id="rId2" Type="http://schemas.openxmlformats.org/officeDocument/2006/relationships/image" Target="../media/image68.png"/><Relationship Id="rId1" Type="http://schemas.openxmlformats.org/officeDocument/2006/relationships/image" Target="../media/image67.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79.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image" Target="../media/image70.pdf"/></Relationships>
</file>

<file path=ppt/slides/_rels/slide80.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slideLayout" Target="../slideLayouts/slideLayout1.xml"/><Relationship Id="rId4" Type="http://schemas.openxmlformats.org/officeDocument/2006/relationships/image" Target="../media/image74.wmf"/><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jpe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82.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7.jpeg"/></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image" Target="../media/image7.jpe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89.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slideLayout" Target="../slideLayouts/slideLayout1.xml"/><Relationship Id="rId3" Type="http://schemas.openxmlformats.org/officeDocument/2006/relationships/image" Target="../media/image7.jpeg"/><Relationship Id="rId2" Type="http://schemas.openxmlformats.org/officeDocument/2006/relationships/image" Target="../media/image68.png"/><Relationship Id="rId1" Type="http://schemas.openxmlformats.org/officeDocument/2006/relationships/image" Target="../media/image67.png"/></Relationships>
</file>

<file path=ppt/slides/_rels/slide90.xml.rels><?xml version="1.0" encoding="UTF-8" standalone="yes"?>
<Relationships xmlns="http://schemas.openxmlformats.org/package/2006/relationships"><Relationship Id="rId9" Type="http://schemas.openxmlformats.org/officeDocument/2006/relationships/notesSlide" Target="../notesSlides/notesSlide56.xml"/><Relationship Id="rId8" Type="http://schemas.openxmlformats.org/officeDocument/2006/relationships/slideLayout" Target="../slideLayouts/slideLayout1.xml"/><Relationship Id="rId7" Type="http://schemas.openxmlformats.org/officeDocument/2006/relationships/image" Target="../media/image7.jpeg"/><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image" Target="../media/image75.png"/></Relationships>
</file>

<file path=ppt/slides/_rels/slide91.xml.rels><?xml version="1.0" encoding="UTF-8" standalone="yes"?>
<Relationships xmlns="http://schemas.openxmlformats.org/package/2006/relationships"><Relationship Id="rId9" Type="http://schemas.openxmlformats.org/officeDocument/2006/relationships/image" Target="../media/image87.png"/><Relationship Id="rId8" Type="http://schemas.openxmlformats.org/officeDocument/2006/relationships/image" Target="../media/image86.png"/><Relationship Id="rId7" Type="http://schemas.openxmlformats.org/officeDocument/2006/relationships/image" Target="../media/image85.png"/><Relationship Id="rId6" Type="http://schemas.openxmlformats.org/officeDocument/2006/relationships/image" Target="../media/image84.png"/><Relationship Id="rId5" Type="http://schemas.openxmlformats.org/officeDocument/2006/relationships/image" Target="../media/image80.png"/><Relationship Id="rId4" Type="http://schemas.openxmlformats.org/officeDocument/2006/relationships/image" Target="../media/image83.png"/><Relationship Id="rId3" Type="http://schemas.openxmlformats.org/officeDocument/2006/relationships/image" Target="../media/image82.png"/><Relationship Id="rId2" Type="http://schemas.openxmlformats.org/officeDocument/2006/relationships/image" Target="../media/image81.png"/><Relationship Id="rId15" Type="http://schemas.openxmlformats.org/officeDocument/2006/relationships/notesSlide" Target="../notesSlides/notesSlide57.xml"/><Relationship Id="rId14" Type="http://schemas.openxmlformats.org/officeDocument/2006/relationships/slideLayout" Target="../slideLayouts/slideLayout1.xml"/><Relationship Id="rId13" Type="http://schemas.openxmlformats.org/officeDocument/2006/relationships/image" Target="../media/image7.jpeg"/><Relationship Id="rId12" Type="http://schemas.openxmlformats.org/officeDocument/2006/relationships/image" Target="../media/image90.jpeg"/><Relationship Id="rId11" Type="http://schemas.openxmlformats.org/officeDocument/2006/relationships/image" Target="../media/image89.png"/><Relationship Id="rId10" Type="http://schemas.openxmlformats.org/officeDocument/2006/relationships/image" Target="../media/image88.png"/><Relationship Id="rId1" Type="http://schemas.openxmlformats.org/officeDocument/2006/relationships/image" Target="../media/image79.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jpeg"/><Relationship Id="rId1" Type="http://schemas.openxmlformats.org/officeDocument/2006/relationships/image" Target="../media/image91.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xml"/><Relationship Id="rId1"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96" name=""/>
        <p:cNvGrpSpPr/>
        <p:nvPr/>
      </p:nvGrpSpPr>
      <p:grpSpPr>
        <a:xfrm>
          <a:off x="0" y="0"/>
          <a:ext cx="0" cy="0"/>
          <a:chOff x="0" y="0"/>
          <a:chExt cx="0" cy="0"/>
        </a:xfrm>
      </p:grpSpPr>
      <p:sp>
        <p:nvSpPr>
          <p:cNvPr id="1048829" name="rect"/>
          <p:cNvSpPr/>
          <p:nvPr/>
        </p:nvSpPr>
        <p:spPr>
          <a:xfrm>
            <a:off x="588263" y="408432"/>
            <a:ext cx="10460735" cy="608076"/>
          </a:xfrm>
          <a:prstGeom prst="rect">
            <a:avLst/>
          </a:prstGeom>
          <a:solidFill>
            <a:srgbClr val="D4E4F3">
              <a:alpha val="100000"/>
            </a:srgbClr>
          </a:solidFill>
          <a:ln cap="flat">
            <a:noFill/>
            <a:prstDash val="solid"/>
            <a:miter lim="0"/>
          </a:ln>
        </p:spPr>
        <p:txBody>
          <a:bodyPr rtlCol="0"/>
          <a:p>
            <a:pPr algn="ctr"/>
            <a:endParaRPr lang="zh-CN" altLang="en-US"/>
          </a:p>
        </p:txBody>
      </p:sp>
      <p:sp>
        <p:nvSpPr>
          <p:cNvPr id="1048830" name="textbox 4"/>
          <p:cNvSpPr/>
          <p:nvPr/>
        </p:nvSpPr>
        <p:spPr>
          <a:xfrm>
            <a:off x="3494837" y="3207969"/>
            <a:ext cx="5252720" cy="542925"/>
          </a:xfrm>
          <a:prstGeom prst="rect">
            <a:avLst/>
          </a:prstGeom>
        </p:spPr>
        <p:txBody>
          <a:bodyPr vert="horz" wrap="square" lIns="0" tIns="0" rIns="0" bIns="0"/>
          <a:p>
            <a:pPr algn="l" rtl="0" eaLnBrk="0">
              <a:lnSpc>
                <a:spcPct val="91000"/>
              </a:lnSpc>
            </a:pPr>
            <a:endParaRPr lang="en-US" altLang="en-US" sz="100" dirty="0"/>
          </a:p>
          <a:p>
            <a:pPr marL="12700" algn="l" rtl="0" eaLnBrk="0">
              <a:lnSpc>
                <a:spcPct val="94000"/>
              </a:lnSpc>
            </a:pPr>
            <a:r>
              <a:rPr sz="3600" kern="0" spc="-6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第一讲</a:t>
            </a:r>
            <a:r>
              <a:rPr sz="3600" kern="0" spc="440" dirty="0">
                <a:solidFill>
                  <a:srgbClr val="000000">
                    <a:alpha val="100000"/>
                  </a:srgbClr>
                </a:solidFill>
                <a:latin typeface="仿宋" panose="02010609060101010101" charset="-122"/>
                <a:ea typeface="仿宋" panose="02010609060101010101" charset="-122"/>
                <a:cs typeface="仿宋" panose="02010609060101010101" charset="-122"/>
              </a:rPr>
              <a:t> </a:t>
            </a:r>
            <a:r>
              <a:rPr sz="3600" kern="0" spc="-6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密码学的基本概念</a:t>
            </a:r>
            <a:endParaRPr lang="en-US" altLang="en-US" sz="3600" dirty="0"/>
          </a:p>
        </p:txBody>
      </p:sp>
      <p:sp>
        <p:nvSpPr>
          <p:cNvPr id="1048831" name="textbox 6"/>
          <p:cNvSpPr/>
          <p:nvPr/>
        </p:nvSpPr>
        <p:spPr>
          <a:xfrm>
            <a:off x="3075305" y="2057400"/>
            <a:ext cx="6092190" cy="660400"/>
          </a:xfrm>
          <a:prstGeom prst="rect">
            <a:avLst/>
          </a:prstGeom>
        </p:spPr>
        <p:txBody>
          <a:bodyPr vert="horz" wrap="square" lIns="0" tIns="0" rIns="0" bIns="0"/>
          <a:p>
            <a:pPr algn="l" rtl="0" eaLnBrk="0">
              <a:lnSpc>
                <a:spcPct val="69000"/>
              </a:lnSpc>
            </a:pPr>
            <a:endParaRPr lang="en-US" altLang="en-US" sz="100" dirty="0"/>
          </a:p>
          <a:p>
            <a:pPr marL="12700" algn="l" rtl="0" eaLnBrk="0">
              <a:lnSpc>
                <a:spcPct val="95000"/>
              </a:lnSpc>
            </a:pPr>
            <a:r>
              <a:rPr lang="zh-CN" altLang="en-US" sz="4400" dirty="0"/>
              <a:t>密码编程学与网络</a:t>
            </a:r>
            <a:r>
              <a:rPr lang="zh-CN" altLang="en-US" sz="4400" dirty="0"/>
              <a:t>安全</a:t>
            </a:r>
            <a:endParaRPr lang="zh-CN" altLang="en-US" sz="4400" dirty="0"/>
          </a:p>
        </p:txBody>
      </p:sp>
      <p:sp>
        <p:nvSpPr>
          <p:cNvPr id="1048832" name="textbox 10"/>
          <p:cNvSpPr/>
          <p:nvPr/>
        </p:nvSpPr>
        <p:spPr>
          <a:xfrm>
            <a:off x="4731582" y="4947963"/>
            <a:ext cx="2748914" cy="369570"/>
          </a:xfrm>
          <a:prstGeom prst="rect">
            <a:avLst/>
          </a:prstGeom>
        </p:spPr>
        <p:txBody>
          <a:bodyPr vert="horz" wrap="square" lIns="0" tIns="0" rIns="0" bIns="0"/>
          <a:p>
            <a:pPr algn="l" rtl="0" eaLnBrk="0">
              <a:lnSpc>
                <a:spcPct val="83000"/>
              </a:lnSpc>
            </a:pPr>
            <a:endParaRPr lang="en-US" altLang="en-US" sz="100" dirty="0"/>
          </a:p>
          <a:p>
            <a:pPr marL="12700" algn="l" rtl="0" eaLnBrk="0">
              <a:lnSpc>
                <a:spcPct val="94000"/>
              </a:lnSpc>
            </a:pPr>
            <a:r>
              <a:rPr sz="2400" kern="0" spc="-20" dirty="0">
                <a:solidFill>
                  <a:srgbClr val="000000">
                    <a:alpha val="100000"/>
                  </a:srgbClr>
                </a:solidFill>
                <a:latin typeface="仿宋" panose="02010609060101010101" charset="-122"/>
                <a:ea typeface="仿宋" panose="02010609060101010101" charset="-122"/>
                <a:cs typeface="仿宋" panose="02010609060101010101" charset="-122"/>
              </a:rPr>
              <a:t>信息</a:t>
            </a:r>
            <a:r>
              <a:rPr lang="zh-CN" sz="2400" kern="0" spc="-20" dirty="0">
                <a:solidFill>
                  <a:srgbClr val="000000">
                    <a:alpha val="100000"/>
                  </a:srgbClr>
                </a:solidFill>
                <a:latin typeface="仿宋" panose="02010609060101010101" charset="-122"/>
                <a:ea typeface="仿宋" panose="02010609060101010101" charset="-122"/>
                <a:cs typeface="仿宋" panose="02010609060101010101" charset="-122"/>
              </a:rPr>
              <a:t>科学</a:t>
            </a:r>
            <a:r>
              <a:rPr sz="2400" kern="0" spc="-20" dirty="0">
                <a:solidFill>
                  <a:srgbClr val="000000">
                    <a:alpha val="100000"/>
                  </a:srgbClr>
                </a:solidFill>
                <a:latin typeface="仿宋" panose="02010609060101010101" charset="-122"/>
                <a:ea typeface="仿宋" panose="02010609060101010101" charset="-122"/>
                <a:cs typeface="仿宋" panose="02010609060101010101" charset="-122"/>
              </a:rPr>
              <a:t>与工程学院</a:t>
            </a:r>
            <a:endParaRPr lang="en-US" alt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7" name=""/>
        <p:cNvGrpSpPr/>
        <p:nvPr/>
      </p:nvGrpSpPr>
      <p:grpSpPr>
        <a:xfrm>
          <a:off x="0" y="0"/>
          <a:ext cx="0" cy="0"/>
          <a:chOff x="0" y="0"/>
          <a:chExt cx="0" cy="0"/>
        </a:xfrm>
      </p:grpSpPr>
      <p:grpSp>
        <p:nvGrpSpPr>
          <p:cNvPr id="98" name="group 2"/>
          <p:cNvGrpSpPr/>
          <p:nvPr/>
        </p:nvGrpSpPr>
        <p:grpSpPr>
          <a:xfrm rot="21600000">
            <a:off x="3878579" y="2758440"/>
            <a:ext cx="5507735" cy="813815"/>
            <a:chOff x="0" y="0"/>
            <a:chExt cx="5507735" cy="813815"/>
          </a:xfrm>
        </p:grpSpPr>
        <p:pic>
          <p:nvPicPr>
            <p:cNvPr id="2097173" name="picture 12"/>
            <p:cNvPicPr>
              <a:picLocks noChangeAspect="1"/>
            </p:cNvPicPr>
            <p:nvPr/>
          </p:nvPicPr>
          <p:blipFill>
            <a:blip r:embed="rId1"/>
            <a:stretch>
              <a:fillRect/>
            </a:stretch>
          </p:blipFill>
          <p:spPr>
            <a:xfrm rot="21600000">
              <a:off x="0" y="0"/>
              <a:ext cx="5507735" cy="813815"/>
            </a:xfrm>
            <a:prstGeom prst="rect">
              <a:avLst/>
            </a:prstGeom>
          </p:spPr>
        </p:pic>
        <p:sp>
          <p:nvSpPr>
            <p:cNvPr id="1048833" name="textbox 14"/>
            <p:cNvSpPr/>
            <p:nvPr/>
          </p:nvSpPr>
          <p:spPr>
            <a:xfrm>
              <a:off x="-12700" y="-12700"/>
              <a:ext cx="5533390" cy="879475"/>
            </a:xfrm>
            <a:prstGeom prst="rect">
              <a:avLst/>
            </a:prstGeom>
          </p:spPr>
          <p:txBody>
            <a:bodyPr vert="horz" wrap="square" lIns="0" tIns="0" rIns="0" bIns="0"/>
            <a:p>
              <a:pPr algn="l" rtl="0" eaLnBrk="0">
                <a:lnSpc>
                  <a:spcPct val="168000"/>
                </a:lnSpc>
              </a:pPr>
              <a:endParaRPr lang="en-US" altLang="en-US" sz="1000" dirty="0"/>
            </a:p>
            <a:p>
              <a:pPr algn="l" rtl="0" eaLnBrk="0">
                <a:lnSpc>
                  <a:spcPct val="7000"/>
                </a:lnSpc>
              </a:pPr>
              <a:endParaRPr lang="en-US" altLang="en-US" sz="100" dirty="0"/>
            </a:p>
            <a:p>
              <a:pPr marL="680720" algn="l" rtl="0" eaLnBrk="0">
                <a:lnSpc>
                  <a:spcPct val="94000"/>
                </a:lnSpc>
              </a:pPr>
              <a:r>
                <a:rPr sz="2400" kern="0" spc="-2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什么是密码学</a:t>
              </a:r>
              <a:endParaRPr lang="en-US" altLang="en-US" sz="2400" dirty="0"/>
            </a:p>
          </p:txBody>
        </p:sp>
      </p:grpSp>
      <p:grpSp>
        <p:nvGrpSpPr>
          <p:cNvPr id="99" name="group 4"/>
          <p:cNvGrpSpPr/>
          <p:nvPr/>
        </p:nvGrpSpPr>
        <p:grpSpPr>
          <a:xfrm rot="21600000">
            <a:off x="3508248" y="1591055"/>
            <a:ext cx="5864351" cy="812291"/>
            <a:chOff x="0" y="0"/>
            <a:chExt cx="5864351" cy="812291"/>
          </a:xfrm>
        </p:grpSpPr>
        <p:pic>
          <p:nvPicPr>
            <p:cNvPr id="2097174" name="picture 16"/>
            <p:cNvPicPr>
              <a:picLocks noChangeAspect="1"/>
            </p:cNvPicPr>
            <p:nvPr/>
          </p:nvPicPr>
          <p:blipFill>
            <a:blip r:embed="rId2"/>
            <a:stretch>
              <a:fillRect/>
            </a:stretch>
          </p:blipFill>
          <p:spPr>
            <a:xfrm rot="21600000">
              <a:off x="0" y="0"/>
              <a:ext cx="5864351" cy="812291"/>
            </a:xfrm>
            <a:prstGeom prst="rect">
              <a:avLst/>
            </a:prstGeom>
          </p:spPr>
        </p:pic>
        <p:sp>
          <p:nvSpPr>
            <p:cNvPr id="1048834" name="textbox 18"/>
            <p:cNvSpPr/>
            <p:nvPr/>
          </p:nvSpPr>
          <p:spPr>
            <a:xfrm>
              <a:off x="-12700" y="-12700"/>
              <a:ext cx="5890259" cy="874394"/>
            </a:xfrm>
            <a:prstGeom prst="rect">
              <a:avLst/>
            </a:prstGeom>
          </p:spPr>
          <p:txBody>
            <a:bodyPr vert="horz" wrap="square" lIns="0" tIns="0" rIns="0" bIns="0"/>
            <a:p>
              <a:pPr algn="l" rtl="0" eaLnBrk="0">
                <a:lnSpc>
                  <a:spcPct val="167000"/>
                </a:lnSpc>
              </a:pPr>
              <a:endParaRPr lang="en-US" altLang="en-US" sz="1000" dirty="0"/>
            </a:p>
            <a:p>
              <a:pPr algn="l" rtl="0" eaLnBrk="0">
                <a:lnSpc>
                  <a:spcPct val="10000"/>
                </a:lnSpc>
              </a:pPr>
              <a:endParaRPr lang="en-US" altLang="en-US" sz="100" dirty="0"/>
            </a:p>
            <a:p>
              <a:pPr marL="678180" algn="l" rtl="0" eaLnBrk="0">
                <a:lnSpc>
                  <a:spcPct val="93000"/>
                </a:lnSpc>
              </a:pPr>
              <a:r>
                <a:rPr sz="2400" kern="0" spc="-1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信息安全的基本属性</a:t>
              </a:r>
              <a:endParaRPr lang="en-US" altLang="en-US" sz="2400" dirty="0"/>
            </a:p>
          </p:txBody>
        </p:sp>
      </p:grpSp>
      <p:grpSp>
        <p:nvGrpSpPr>
          <p:cNvPr id="100" name="group 6"/>
          <p:cNvGrpSpPr/>
          <p:nvPr/>
        </p:nvGrpSpPr>
        <p:grpSpPr>
          <a:xfrm rot="21600000">
            <a:off x="3831335" y="3849623"/>
            <a:ext cx="5541264" cy="812292"/>
            <a:chOff x="0" y="0"/>
            <a:chExt cx="5541264" cy="812292"/>
          </a:xfrm>
        </p:grpSpPr>
        <p:pic>
          <p:nvPicPr>
            <p:cNvPr id="2097175" name="picture 20"/>
            <p:cNvPicPr>
              <a:picLocks noChangeAspect="1"/>
            </p:cNvPicPr>
            <p:nvPr/>
          </p:nvPicPr>
          <p:blipFill>
            <a:blip r:embed="rId3"/>
            <a:stretch>
              <a:fillRect/>
            </a:stretch>
          </p:blipFill>
          <p:spPr>
            <a:xfrm rot="21600000">
              <a:off x="0" y="0"/>
              <a:ext cx="5541264" cy="812292"/>
            </a:xfrm>
            <a:prstGeom prst="rect">
              <a:avLst/>
            </a:prstGeom>
          </p:spPr>
        </p:pic>
        <p:sp>
          <p:nvSpPr>
            <p:cNvPr id="1048835" name="textbox 22"/>
            <p:cNvSpPr/>
            <p:nvPr/>
          </p:nvSpPr>
          <p:spPr>
            <a:xfrm>
              <a:off x="-12700" y="-12700"/>
              <a:ext cx="5567045" cy="876935"/>
            </a:xfrm>
            <a:prstGeom prst="rect">
              <a:avLst/>
            </a:prstGeom>
          </p:spPr>
          <p:txBody>
            <a:bodyPr vert="horz" wrap="square" lIns="0" tIns="0" rIns="0" bIns="0"/>
            <a:p>
              <a:pPr algn="l" rtl="0" eaLnBrk="0">
                <a:lnSpc>
                  <a:spcPct val="167000"/>
                </a:lnSpc>
              </a:pPr>
              <a:endParaRPr lang="en-US" altLang="en-US" sz="1000" dirty="0"/>
            </a:p>
            <a:p>
              <a:pPr algn="l" rtl="0" eaLnBrk="0">
                <a:lnSpc>
                  <a:spcPct val="7000"/>
                </a:lnSpc>
              </a:pPr>
              <a:endParaRPr lang="en-US" altLang="en-US" sz="100" dirty="0"/>
            </a:p>
            <a:p>
              <a:pPr marL="692785" algn="l" rtl="0" eaLnBrk="0">
                <a:lnSpc>
                  <a:spcPct val="94000"/>
                </a:lnSpc>
              </a:pPr>
              <a:r>
                <a:rPr sz="2400" kern="0" spc="-3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密码算法的分类</a:t>
              </a:r>
              <a:endParaRPr lang="en-US" altLang="en-US" sz="2400" dirty="0"/>
            </a:p>
          </p:txBody>
        </p:sp>
      </p:grpSp>
      <p:grpSp>
        <p:nvGrpSpPr>
          <p:cNvPr id="101" name="group 8"/>
          <p:cNvGrpSpPr/>
          <p:nvPr/>
        </p:nvGrpSpPr>
        <p:grpSpPr>
          <a:xfrm rot="21600000">
            <a:off x="3508248" y="4972811"/>
            <a:ext cx="5864351" cy="812291"/>
            <a:chOff x="0" y="0"/>
            <a:chExt cx="5864351" cy="812291"/>
          </a:xfrm>
        </p:grpSpPr>
        <p:pic>
          <p:nvPicPr>
            <p:cNvPr id="2097176" name="picture 24"/>
            <p:cNvPicPr>
              <a:picLocks noChangeAspect="1"/>
            </p:cNvPicPr>
            <p:nvPr/>
          </p:nvPicPr>
          <p:blipFill>
            <a:blip r:embed="rId4"/>
            <a:stretch>
              <a:fillRect/>
            </a:stretch>
          </p:blipFill>
          <p:spPr>
            <a:xfrm rot="21600000">
              <a:off x="0" y="0"/>
              <a:ext cx="5864351" cy="812291"/>
            </a:xfrm>
            <a:prstGeom prst="rect">
              <a:avLst/>
            </a:prstGeom>
          </p:spPr>
        </p:pic>
        <p:sp>
          <p:nvSpPr>
            <p:cNvPr id="1048836" name="textbox 26"/>
            <p:cNvSpPr/>
            <p:nvPr/>
          </p:nvSpPr>
          <p:spPr>
            <a:xfrm>
              <a:off x="-12700" y="-12700"/>
              <a:ext cx="5890259" cy="874394"/>
            </a:xfrm>
            <a:prstGeom prst="rect">
              <a:avLst/>
            </a:prstGeom>
          </p:spPr>
          <p:txBody>
            <a:bodyPr vert="horz" wrap="square" lIns="0" tIns="0" rIns="0" bIns="0"/>
            <a:p>
              <a:pPr algn="l" rtl="0" eaLnBrk="0">
                <a:lnSpc>
                  <a:spcPct val="168000"/>
                </a:lnSpc>
              </a:pPr>
              <a:endParaRPr lang="en-US" altLang="en-US" sz="1000" dirty="0"/>
            </a:p>
            <a:p>
              <a:pPr marL="694055" algn="l" rtl="0" eaLnBrk="0">
                <a:lnSpc>
                  <a:spcPct val="93000"/>
                </a:lnSpc>
                <a:spcBef>
                  <a:spcPts val="0"/>
                </a:spcBef>
              </a:pPr>
              <a:r>
                <a:rPr sz="2400" kern="0" spc="-2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密码学的作用和地位</a:t>
              </a:r>
              <a:endParaRPr lang="en-US" altLang="en-US" sz="2400" dirty="0"/>
            </a:p>
          </p:txBody>
        </p:sp>
      </p:grpSp>
      <p:grpSp>
        <p:nvGrpSpPr>
          <p:cNvPr id="102" name="group 10"/>
          <p:cNvGrpSpPr/>
          <p:nvPr/>
        </p:nvGrpSpPr>
        <p:grpSpPr>
          <a:xfrm rot="21600000">
            <a:off x="2564257" y="1351661"/>
            <a:ext cx="1824862" cy="4514214"/>
            <a:chOff x="0" y="0"/>
            <a:chExt cx="1824862" cy="4514214"/>
          </a:xfrm>
        </p:grpSpPr>
        <p:sp>
          <p:nvSpPr>
            <p:cNvPr id="1048837" name="path"/>
            <p:cNvSpPr/>
            <p:nvPr/>
          </p:nvSpPr>
          <p:spPr>
            <a:xfrm>
              <a:off x="0" y="0"/>
              <a:ext cx="1283479" cy="4498352"/>
            </a:xfrm>
            <a:custGeom>
              <a:avLst/>
              <a:gdLst/>
              <a:ahLst/>
              <a:cxnLst/>
              <a:rect l="0" t="0" r="0" b="0"/>
              <a:pathLst>
                <a:path w="2021" h="7084">
                  <a:moveTo>
                    <a:pt x="320" y="4"/>
                  </a:moveTo>
                  <a:cubicBezTo>
                    <a:pt x="2213" y="1448"/>
                    <a:pt x="2577" y="4153"/>
                    <a:pt x="1134" y="6046"/>
                  </a:cubicBezTo>
                  <a:cubicBezTo>
                    <a:pt x="822" y="6455"/>
                    <a:pt x="439" y="6805"/>
                    <a:pt x="4" y="7079"/>
                  </a:cubicBezTo>
                  <a:lnTo>
                    <a:pt x="4" y="7079"/>
                  </a:lnTo>
                  <a:cubicBezTo>
                    <a:pt x="2018" y="5810"/>
                    <a:pt x="2622" y="3148"/>
                    <a:pt x="1353" y="1134"/>
                  </a:cubicBezTo>
                  <a:cubicBezTo>
                    <a:pt x="1079" y="699"/>
                    <a:pt x="729" y="316"/>
                    <a:pt x="320" y="4"/>
                  </a:cubicBezTo>
                </a:path>
              </a:pathLst>
            </a:custGeom>
            <a:noFill/>
            <a:ln w="6096" cap="flat">
              <a:solidFill>
                <a:srgbClr val="477BA9">
                  <a:alpha val="100000"/>
                </a:srgbClr>
              </a:solidFill>
              <a:prstDash val="solid"/>
              <a:miter lim="1000000"/>
            </a:ln>
          </p:spPr>
          <p:txBody>
            <a:bodyPr rtlCol="0"/>
            <a:p>
              <a:pPr algn="ctr"/>
              <a:endParaRPr lang="zh-CN" altLang="en-US"/>
            </a:p>
          </p:txBody>
        </p:sp>
        <p:sp>
          <p:nvSpPr>
            <p:cNvPr id="1048838" name="path"/>
            <p:cNvSpPr/>
            <p:nvPr/>
          </p:nvSpPr>
          <p:spPr>
            <a:xfrm>
              <a:off x="436498" y="137286"/>
              <a:ext cx="1014984" cy="1016508"/>
            </a:xfrm>
            <a:custGeom>
              <a:avLst/>
              <a:gdLst/>
              <a:ahLst/>
              <a:cxnLst/>
              <a:rect l="0" t="0" r="0" b="0"/>
              <a:pathLst>
                <a:path w="1598" h="1600">
                  <a:moveTo>
                    <a:pt x="0" y="800"/>
                  </a:moveTo>
                  <a:cubicBezTo>
                    <a:pt x="0" y="358"/>
                    <a:pt x="357" y="0"/>
                    <a:pt x="799" y="0"/>
                  </a:cubicBezTo>
                  <a:cubicBezTo>
                    <a:pt x="1240" y="0"/>
                    <a:pt x="1598" y="358"/>
                    <a:pt x="1598" y="800"/>
                  </a:cubicBezTo>
                  <a:cubicBezTo>
                    <a:pt x="1598" y="1242"/>
                    <a:pt x="1240" y="1600"/>
                    <a:pt x="799" y="1600"/>
                  </a:cubicBezTo>
                  <a:cubicBezTo>
                    <a:pt x="357"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8839" name="path"/>
            <p:cNvSpPr/>
            <p:nvPr/>
          </p:nvSpPr>
          <p:spPr>
            <a:xfrm>
              <a:off x="433450" y="134238"/>
              <a:ext cx="1021080" cy="1022603"/>
            </a:xfrm>
            <a:custGeom>
              <a:avLst/>
              <a:gdLst/>
              <a:ahLst/>
              <a:cxnLst/>
              <a:rect l="0" t="0" r="0" b="0"/>
              <a:pathLst>
                <a:path w="1608" h="1610">
                  <a:moveTo>
                    <a:pt x="4" y="805"/>
                  </a:moveTo>
                  <a:cubicBezTo>
                    <a:pt x="4" y="363"/>
                    <a:pt x="362" y="4"/>
                    <a:pt x="804" y="4"/>
                  </a:cubicBezTo>
                  <a:cubicBezTo>
                    <a:pt x="1245" y="4"/>
                    <a:pt x="1603" y="363"/>
                    <a:pt x="1603" y="805"/>
                  </a:cubicBezTo>
                  <a:cubicBezTo>
                    <a:pt x="1603" y="1247"/>
                    <a:pt x="1245" y="1605"/>
                    <a:pt x="804" y="1605"/>
                  </a:cubicBezTo>
                  <a:cubicBezTo>
                    <a:pt x="362"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8840" name="path"/>
            <p:cNvSpPr/>
            <p:nvPr/>
          </p:nvSpPr>
          <p:spPr>
            <a:xfrm>
              <a:off x="758063" y="2427858"/>
              <a:ext cx="1016508"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8841" name="path"/>
            <p:cNvSpPr/>
            <p:nvPr/>
          </p:nvSpPr>
          <p:spPr>
            <a:xfrm>
              <a:off x="755015" y="2424810"/>
              <a:ext cx="1022603" cy="1022604"/>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8842" name="path"/>
            <p:cNvSpPr/>
            <p:nvPr/>
          </p:nvSpPr>
          <p:spPr>
            <a:xfrm>
              <a:off x="805306" y="1306194"/>
              <a:ext cx="1016508" cy="1014983"/>
            </a:xfrm>
            <a:custGeom>
              <a:avLst/>
              <a:gdLst/>
              <a:ahLst/>
              <a:cxnLst/>
              <a:rect l="0" t="0" r="0" b="0"/>
              <a:pathLst>
                <a:path w="1600" h="1598">
                  <a:moveTo>
                    <a:pt x="0" y="799"/>
                  </a:moveTo>
                  <a:cubicBezTo>
                    <a:pt x="0" y="357"/>
                    <a:pt x="358" y="0"/>
                    <a:pt x="800" y="0"/>
                  </a:cubicBezTo>
                  <a:cubicBezTo>
                    <a:pt x="1242" y="0"/>
                    <a:pt x="1600" y="357"/>
                    <a:pt x="1600" y="799"/>
                  </a:cubicBezTo>
                  <a:cubicBezTo>
                    <a:pt x="1600" y="1240"/>
                    <a:pt x="1242" y="1598"/>
                    <a:pt x="800" y="1598"/>
                  </a:cubicBezTo>
                  <a:cubicBezTo>
                    <a:pt x="358" y="1598"/>
                    <a:pt x="0" y="1240"/>
                    <a:pt x="0" y="799"/>
                  </a:cubicBezTo>
                </a:path>
              </a:pathLst>
            </a:custGeom>
            <a:solidFill>
              <a:srgbClr val="FFFFFF">
                <a:alpha val="100000"/>
              </a:srgbClr>
            </a:solidFill>
            <a:ln cap="flat">
              <a:noFill/>
              <a:prstDash val="solid"/>
              <a:miter lim="0"/>
            </a:ln>
          </p:spPr>
          <p:txBody>
            <a:bodyPr rtlCol="0"/>
            <a:p>
              <a:pPr algn="ctr"/>
              <a:endParaRPr lang="zh-CN" altLang="en-US"/>
            </a:p>
          </p:txBody>
        </p:sp>
        <p:sp>
          <p:nvSpPr>
            <p:cNvPr id="1048843" name="path"/>
            <p:cNvSpPr/>
            <p:nvPr/>
          </p:nvSpPr>
          <p:spPr>
            <a:xfrm>
              <a:off x="802258" y="1303146"/>
              <a:ext cx="1022603" cy="1021079"/>
            </a:xfrm>
            <a:custGeom>
              <a:avLst/>
              <a:gdLst/>
              <a:ahLst/>
              <a:cxnLst/>
              <a:rect l="0" t="0" r="0" b="0"/>
              <a:pathLst>
                <a:path w="1610" h="1607">
                  <a:moveTo>
                    <a:pt x="4" y="803"/>
                  </a:moveTo>
                  <a:cubicBezTo>
                    <a:pt x="4" y="362"/>
                    <a:pt x="363" y="4"/>
                    <a:pt x="805" y="4"/>
                  </a:cubicBezTo>
                  <a:cubicBezTo>
                    <a:pt x="1247" y="4"/>
                    <a:pt x="1605" y="362"/>
                    <a:pt x="1605" y="803"/>
                  </a:cubicBezTo>
                  <a:cubicBezTo>
                    <a:pt x="1605" y="1245"/>
                    <a:pt x="1247" y="1603"/>
                    <a:pt x="805" y="1603"/>
                  </a:cubicBezTo>
                  <a:cubicBezTo>
                    <a:pt x="363" y="1603"/>
                    <a:pt x="4" y="1245"/>
                    <a:pt x="4" y="803"/>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8844" name="path"/>
            <p:cNvSpPr/>
            <p:nvPr/>
          </p:nvSpPr>
          <p:spPr>
            <a:xfrm>
              <a:off x="250570" y="3494658"/>
              <a:ext cx="1016507"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8845" name="path"/>
            <p:cNvSpPr/>
            <p:nvPr/>
          </p:nvSpPr>
          <p:spPr>
            <a:xfrm>
              <a:off x="247522" y="3491610"/>
              <a:ext cx="1022603"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8846" name="textbox 46"/>
          <p:cNvSpPr/>
          <p:nvPr/>
        </p:nvSpPr>
        <p:spPr>
          <a:xfrm>
            <a:off x="2745896" y="488157"/>
            <a:ext cx="4671059" cy="485775"/>
          </a:xfrm>
          <a:prstGeom prst="rect">
            <a:avLst/>
          </a:prstGeom>
        </p:spPr>
        <p:txBody>
          <a:bodyPr vert="horz" wrap="square" lIns="0" tIns="0" rIns="0" bIns="0"/>
          <a:p>
            <a:pPr algn="l" rtl="0" eaLnBrk="0">
              <a:lnSpc>
                <a:spcPct val="94000"/>
              </a:lnSpc>
            </a:pPr>
            <a:endParaRPr lang="en-US" altLang="en-US" sz="100" dirty="0"/>
          </a:p>
          <a:p>
            <a:pPr marL="12700" algn="l" rtl="0" eaLnBrk="0">
              <a:lnSpc>
                <a:spcPct val="94000"/>
              </a:lnSpc>
            </a:pPr>
            <a:r>
              <a:rPr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第一讲</a:t>
            </a:r>
            <a:r>
              <a:rPr sz="3200" kern="0" spc="42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密码学的基本概念</a:t>
            </a:r>
            <a:endParaRPr lang="en-US" altLang="en-US" sz="3200" dirty="0"/>
          </a:p>
        </p:txBody>
      </p:sp>
      <p:sp>
        <p:nvSpPr>
          <p:cNvPr id="1048847"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177" name="picture 52"/>
          <p:cNvPicPr>
            <a:picLocks noChangeAspect="1"/>
          </p:cNvPicPr>
          <p:nvPr/>
        </p:nvPicPr>
        <p:blipFill>
          <a:blip r:embed="rId5"/>
          <a:stretch>
            <a:fillRect/>
          </a:stretch>
        </p:blipFill>
        <p:spPr>
          <a:xfrm rot="21600000">
            <a:off x="824483" y="408431"/>
            <a:ext cx="419100" cy="655320"/>
          </a:xfrm>
          <a:prstGeom prst="rect">
            <a:avLst/>
          </a:prstGeom>
        </p:spPr>
      </p:pic>
      <p:sp>
        <p:nvSpPr>
          <p:cNvPr id="1048848"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5" name=""/>
        <p:cNvGrpSpPr/>
        <p:nvPr/>
      </p:nvGrpSpPr>
      <p:grpSpPr>
        <a:xfrm>
          <a:off x="0" y="0"/>
          <a:ext cx="0" cy="0"/>
          <a:chOff x="0" y="0"/>
          <a:chExt cx="0" cy="0"/>
        </a:xfrm>
      </p:grpSpPr>
      <p:graphicFrame>
        <p:nvGraphicFramePr>
          <p:cNvPr id="4194306" name="table 56"/>
          <p:cNvGraphicFramePr>
            <a:graphicFrameLocks noGrp="1"/>
          </p:cNvGraphicFramePr>
          <p:nvPr/>
        </p:nvGraphicFramePr>
        <p:xfrm>
          <a:off x="2308860" y="1892808"/>
          <a:ext cx="1132205" cy="1826895"/>
        </p:xfrm>
        <a:graphic>
          <a:graphicData uri="http://schemas.openxmlformats.org/drawingml/2006/table">
            <a:tbl>
              <a:tblPr/>
              <a:tblGrid>
                <a:gridCol w="1132205"/>
              </a:tblGrid>
              <a:tr h="1820545">
                <a:tc>
                  <a:txBody>
                    <a:bodyPr/>
                    <a:p>
                      <a:pPr algn="l" rtl="0" eaLnBrk="0">
                        <a:lnSpc>
                          <a:spcPct val="100000"/>
                        </a:lnSpc>
                      </a:pPr>
                      <a:endParaRPr lang="en-US" altLang="en-US" sz="1000"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194307" name="table 58"/>
          <p:cNvGraphicFramePr>
            <a:graphicFrameLocks noGrp="1"/>
          </p:cNvGraphicFramePr>
          <p:nvPr/>
        </p:nvGraphicFramePr>
        <p:xfrm>
          <a:off x="8223504" y="1892808"/>
          <a:ext cx="1132205" cy="1826895"/>
        </p:xfrm>
        <a:graphic>
          <a:graphicData uri="http://schemas.openxmlformats.org/drawingml/2006/table">
            <a:tbl>
              <a:tblPr/>
              <a:tblGrid>
                <a:gridCol w="1132205"/>
              </a:tblGrid>
              <a:tr h="1820545">
                <a:tc>
                  <a:txBody>
                    <a:bodyPr/>
                    <a:p>
                      <a:pPr algn="l" rtl="0" eaLnBrk="0">
                        <a:lnSpc>
                          <a:spcPct val="100000"/>
                        </a:lnSpc>
                      </a:pPr>
                      <a:endParaRPr lang="en-US" altLang="en-US" sz="1000"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1048851" name="path"/>
          <p:cNvSpPr/>
          <p:nvPr/>
        </p:nvSpPr>
        <p:spPr>
          <a:xfrm>
            <a:off x="3432809" y="2473451"/>
            <a:ext cx="4800600" cy="1238250"/>
          </a:xfrm>
          <a:custGeom>
            <a:avLst/>
            <a:gdLst/>
            <a:ahLst/>
            <a:cxnLst/>
            <a:rect l="0" t="0" r="0" b="0"/>
            <a:pathLst>
              <a:path w="7560" h="1950">
                <a:moveTo>
                  <a:pt x="0" y="30"/>
                </a:moveTo>
                <a:lnTo>
                  <a:pt x="7560" y="30"/>
                </a:lnTo>
                <a:moveTo>
                  <a:pt x="0" y="390"/>
                </a:moveTo>
                <a:lnTo>
                  <a:pt x="7560" y="390"/>
                </a:lnTo>
                <a:moveTo>
                  <a:pt x="3720" y="30"/>
                </a:moveTo>
                <a:lnTo>
                  <a:pt x="3720" y="1950"/>
                </a:lnTo>
                <a:moveTo>
                  <a:pt x="4320" y="390"/>
                </a:moveTo>
                <a:lnTo>
                  <a:pt x="4320" y="1950"/>
                </a:lnTo>
              </a:path>
            </a:pathLst>
          </a:custGeom>
          <a:noFill/>
          <a:ln w="38100" cap="flat">
            <a:solidFill>
              <a:srgbClr val="000000">
                <a:alpha val="100000"/>
              </a:srgbClr>
            </a:solidFill>
            <a:prstDash val="solid"/>
            <a:round/>
          </a:ln>
        </p:spPr>
        <p:txBody>
          <a:bodyPr rtlCol="0"/>
          <a:p>
            <a:pPr algn="ctr"/>
            <a:endParaRPr lang="zh-CN" altLang="en-US"/>
          </a:p>
        </p:txBody>
      </p:sp>
      <p:graphicFrame>
        <p:nvGraphicFramePr>
          <p:cNvPr id="4194308" name="table 62"/>
          <p:cNvGraphicFramePr>
            <a:graphicFrameLocks noGrp="1"/>
          </p:cNvGraphicFramePr>
          <p:nvPr/>
        </p:nvGraphicFramePr>
        <p:xfrm>
          <a:off x="1350263" y="111252"/>
          <a:ext cx="4824729" cy="717550"/>
        </p:xfrm>
        <a:graphic>
          <a:graphicData uri="http://schemas.openxmlformats.org/drawingml/2006/table">
            <a:tbl>
              <a:tblPr/>
              <a:tblGrid>
                <a:gridCol w="4824729"/>
              </a:tblGrid>
              <a:tr h="711200">
                <a:tc>
                  <a:txBody>
                    <a:bodyPr/>
                    <a:p>
                      <a:pPr algn="l" rtl="0" eaLnBrk="0">
                        <a:lnSpc>
                          <a:spcPct val="106000"/>
                        </a:lnSpc>
                      </a:pPr>
                      <a:endParaRPr lang="en-US" altLang="en-US" sz="700" dirty="0"/>
                    </a:p>
                    <a:p>
                      <a:pPr marL="138430" algn="l" rtl="0" eaLnBrk="0">
                        <a:lnSpc>
                          <a:spcPct val="96000"/>
                        </a:lnSpc>
                      </a:pPr>
                      <a:r>
                        <a:rPr sz="3900" kern="0" spc="80" dirty="0">
                          <a:ln w="14499" cap="flat" cmpd="sng">
                            <a:solidFill>
                              <a:srgbClr val="0563C1">
                                <a:alpha val="100000"/>
                              </a:srgbClr>
                            </a:solidFill>
                            <a:prstDash val="solid"/>
                            <a:miter lim="10"/>
                          </a:ln>
                          <a:solidFill>
                            <a:srgbClr val="0563C1">
                              <a:alpha val="100000"/>
                            </a:srgbClr>
                          </a:solidFill>
                          <a:latin typeface="黑体" panose="02010609060101010101" charset="-122"/>
                          <a:ea typeface="黑体" panose="02010609060101010101" charset="-122"/>
                          <a:cs typeface="黑体" panose="02010609060101010101" charset="-122"/>
                        </a:rPr>
                        <a:t>信息安全的基本任务</a:t>
                      </a:r>
                      <a:endParaRPr lang="en-US" altLang="en-US" sz="3900"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194309" name="table 64"/>
          <p:cNvGraphicFramePr>
            <a:graphicFrameLocks noGrp="1"/>
          </p:cNvGraphicFramePr>
          <p:nvPr/>
        </p:nvGraphicFramePr>
        <p:xfrm>
          <a:off x="5404103" y="3721607"/>
          <a:ext cx="1132204" cy="1826895"/>
        </p:xfrm>
        <a:graphic>
          <a:graphicData uri="http://schemas.openxmlformats.org/drawingml/2006/table">
            <a:tbl>
              <a:tblPr/>
              <a:tblGrid>
                <a:gridCol w="1132204"/>
              </a:tblGrid>
              <a:tr h="1820545">
                <a:tc>
                  <a:txBody>
                    <a:bodyPr/>
                    <a:p>
                      <a:pPr algn="l" rtl="0" eaLnBrk="0">
                        <a:lnSpc>
                          <a:spcPct val="100000"/>
                        </a:lnSpc>
                      </a:pPr>
                      <a:endParaRPr lang="en-US" altLang="en-US" sz="1000"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pic>
        <p:nvPicPr>
          <p:cNvPr id="2097178" name="picture 66"/>
          <p:cNvPicPr>
            <a:picLocks noChangeAspect="1"/>
          </p:cNvPicPr>
          <p:nvPr/>
        </p:nvPicPr>
        <p:blipFill>
          <a:blip r:embed="rId1"/>
          <a:stretch>
            <a:fillRect/>
          </a:stretch>
        </p:blipFill>
        <p:spPr>
          <a:xfrm rot="21600000">
            <a:off x="5413248" y="3730752"/>
            <a:ext cx="1114044" cy="1808987"/>
          </a:xfrm>
          <a:prstGeom prst="rect">
            <a:avLst/>
          </a:prstGeom>
        </p:spPr>
      </p:pic>
      <p:pic>
        <p:nvPicPr>
          <p:cNvPr id="2097179" name="picture 68"/>
          <p:cNvPicPr>
            <a:picLocks noChangeAspect="1"/>
          </p:cNvPicPr>
          <p:nvPr/>
        </p:nvPicPr>
        <p:blipFill>
          <a:blip r:embed="rId1"/>
          <a:stretch>
            <a:fillRect/>
          </a:stretch>
        </p:blipFill>
        <p:spPr>
          <a:xfrm rot="21600000">
            <a:off x="2318004" y="1901952"/>
            <a:ext cx="1114043" cy="1808987"/>
          </a:xfrm>
          <a:prstGeom prst="rect">
            <a:avLst/>
          </a:prstGeom>
        </p:spPr>
      </p:pic>
      <p:pic>
        <p:nvPicPr>
          <p:cNvPr id="2097180" name="picture 70"/>
          <p:cNvPicPr>
            <a:picLocks noChangeAspect="1"/>
          </p:cNvPicPr>
          <p:nvPr/>
        </p:nvPicPr>
        <p:blipFill>
          <a:blip r:embed="rId1"/>
          <a:stretch>
            <a:fillRect/>
          </a:stretch>
        </p:blipFill>
        <p:spPr>
          <a:xfrm rot="21600000">
            <a:off x="8232647" y="1901952"/>
            <a:ext cx="1114043" cy="1808987"/>
          </a:xfrm>
          <a:prstGeom prst="rect">
            <a:avLst/>
          </a:prstGeom>
        </p:spPr>
      </p:pic>
      <p:graphicFrame>
        <p:nvGraphicFramePr>
          <p:cNvPr id="4194310" name="table 74"/>
          <p:cNvGraphicFramePr>
            <a:graphicFrameLocks noGrp="1"/>
          </p:cNvGraphicFramePr>
          <p:nvPr/>
        </p:nvGraphicFramePr>
        <p:xfrm>
          <a:off x="6630923" y="4835652"/>
          <a:ext cx="583565" cy="561975"/>
        </p:xfrm>
        <a:graphic>
          <a:graphicData uri="http://schemas.openxmlformats.org/drawingml/2006/table">
            <a:tbl>
              <a:tblPr/>
              <a:tblGrid>
                <a:gridCol w="583565"/>
              </a:tblGrid>
              <a:tr h="523875">
                <a:tc>
                  <a:txBody>
                    <a:bodyPr/>
                    <a:p>
                      <a:pPr algn="l" rtl="0" eaLnBrk="0">
                        <a:lnSpc>
                          <a:spcPct val="100000"/>
                        </a:lnSpc>
                      </a:pPr>
                      <a:endParaRPr lang="en-US" altLang="en-US" sz="700" dirty="0"/>
                    </a:p>
                    <a:p>
                      <a:pPr marL="135890" algn="l" rtl="0" eaLnBrk="0">
                        <a:lnSpc>
                          <a:spcPct val="99000"/>
                        </a:lnSpc>
                        <a:spcBef>
                          <a:spcPts val="5"/>
                        </a:spcBef>
                      </a:pPr>
                      <a:r>
                        <a:rPr sz="2700" kern="0" spc="-10" dirty="0">
                          <a:ln w="10154" cap="flat" cmpd="sng">
                            <a:solidFill>
                              <a:srgbClr val="000000">
                                <a:alpha val="100000"/>
                              </a:srgbClr>
                            </a:solidFill>
                            <a:prstDash val="solid"/>
                            <a:miter lim="8"/>
                          </a:ln>
                          <a:solidFill>
                            <a:srgbClr val="000000">
                              <a:alpha val="100000"/>
                            </a:srgbClr>
                          </a:solidFill>
                          <a:latin typeface="黑体" panose="02010609060101010101" charset="-122"/>
                          <a:ea typeface="黑体" panose="02010609060101010101" charset="-122"/>
                          <a:cs typeface="黑体" panose="02010609060101010101" charset="-122"/>
                        </a:rPr>
                        <a:t>丙</a:t>
                      </a:r>
                      <a:endParaRPr lang="en-US" altLang="en-US" sz="2700" dirty="0"/>
                    </a:p>
                  </a:txBody>
                  <a:tcPr marL="0" marR="0" marT="0" marB="0" vert="horz">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bl>
          </a:graphicData>
        </a:graphic>
      </p:graphicFrame>
      <p:graphicFrame>
        <p:nvGraphicFramePr>
          <p:cNvPr id="4194311" name="table 76"/>
          <p:cNvGraphicFramePr>
            <a:graphicFrameLocks noGrp="1"/>
          </p:cNvGraphicFramePr>
          <p:nvPr/>
        </p:nvGraphicFramePr>
        <p:xfrm>
          <a:off x="8584692" y="3616452"/>
          <a:ext cx="583565" cy="561975"/>
        </p:xfrm>
        <a:graphic>
          <a:graphicData uri="http://schemas.openxmlformats.org/drawingml/2006/table">
            <a:tbl>
              <a:tblPr/>
              <a:tblGrid>
                <a:gridCol w="583565"/>
              </a:tblGrid>
              <a:tr h="523875">
                <a:tc>
                  <a:txBody>
                    <a:bodyPr/>
                    <a:p>
                      <a:pPr algn="l" rtl="0" eaLnBrk="0">
                        <a:lnSpc>
                          <a:spcPct val="100000"/>
                        </a:lnSpc>
                      </a:pPr>
                      <a:endParaRPr lang="en-US" altLang="en-US" sz="700" dirty="0"/>
                    </a:p>
                    <a:p>
                      <a:pPr algn="l" rtl="0" eaLnBrk="0">
                        <a:lnSpc>
                          <a:spcPct val="7000"/>
                        </a:lnSpc>
                      </a:pPr>
                      <a:endParaRPr lang="en-US" altLang="en-US" sz="100" dirty="0"/>
                    </a:p>
                    <a:p>
                      <a:pPr marL="155575" algn="l" rtl="0" eaLnBrk="0">
                        <a:lnSpc>
                          <a:spcPts val="3350"/>
                        </a:lnSpc>
                      </a:pPr>
                      <a:r>
                        <a:rPr sz="2700" kern="0" spc="-10" dirty="0">
                          <a:ln w="10154" cap="flat" cmpd="sng">
                            <a:solidFill>
                              <a:srgbClr val="000000">
                                <a:alpha val="100000"/>
                              </a:srgbClr>
                            </a:solidFill>
                            <a:prstDash val="solid"/>
                            <a:miter lim="8"/>
                          </a:ln>
                          <a:solidFill>
                            <a:srgbClr val="000000">
                              <a:alpha val="100000"/>
                            </a:srgbClr>
                          </a:solidFill>
                          <a:latin typeface="黑体" panose="02010609060101010101" charset="-122"/>
                          <a:ea typeface="黑体" panose="02010609060101010101" charset="-122"/>
                          <a:cs typeface="黑体" panose="02010609060101010101" charset="-122"/>
                        </a:rPr>
                        <a:t>乙</a:t>
                      </a:r>
                      <a:endParaRPr lang="en-US" altLang="en-US" sz="2700" dirty="0"/>
                    </a:p>
                  </a:txBody>
                  <a:tcPr marL="0" marR="0" marT="0" marB="0" vert="horz">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bl>
          </a:graphicData>
        </a:graphic>
      </p:graphicFrame>
      <p:graphicFrame>
        <p:nvGraphicFramePr>
          <p:cNvPr id="4194312" name="table 78"/>
          <p:cNvGraphicFramePr>
            <a:graphicFrameLocks noGrp="1"/>
          </p:cNvGraphicFramePr>
          <p:nvPr/>
        </p:nvGraphicFramePr>
        <p:xfrm>
          <a:off x="2592324" y="3717035"/>
          <a:ext cx="583564" cy="561975"/>
        </p:xfrm>
        <a:graphic>
          <a:graphicData uri="http://schemas.openxmlformats.org/drawingml/2006/table">
            <a:tbl>
              <a:tblPr/>
              <a:tblGrid>
                <a:gridCol w="583564"/>
              </a:tblGrid>
              <a:tr h="523875">
                <a:tc>
                  <a:txBody>
                    <a:bodyPr/>
                    <a:p>
                      <a:pPr algn="l" rtl="0" eaLnBrk="0">
                        <a:lnSpc>
                          <a:spcPct val="101000"/>
                        </a:lnSpc>
                      </a:pPr>
                      <a:endParaRPr lang="en-US" altLang="en-US" sz="700" dirty="0"/>
                    </a:p>
                    <a:p>
                      <a:pPr marL="154305" algn="l" rtl="0" eaLnBrk="0">
                        <a:lnSpc>
                          <a:spcPct val="98000"/>
                        </a:lnSpc>
                        <a:spcBef>
                          <a:spcPts val="5"/>
                        </a:spcBef>
                      </a:pPr>
                      <a:r>
                        <a:rPr sz="2700" kern="0" spc="-10" dirty="0">
                          <a:ln w="10145" cap="flat" cmpd="sng">
                            <a:solidFill>
                              <a:srgbClr val="000000">
                                <a:alpha val="100000"/>
                              </a:srgbClr>
                            </a:solidFill>
                            <a:prstDash val="solid"/>
                            <a:miter lim="8"/>
                          </a:ln>
                          <a:solidFill>
                            <a:srgbClr val="000000">
                              <a:alpha val="100000"/>
                            </a:srgbClr>
                          </a:solidFill>
                          <a:latin typeface="黑体" panose="02010609060101010101" charset="-122"/>
                          <a:ea typeface="黑体" panose="02010609060101010101" charset="-122"/>
                          <a:cs typeface="黑体" panose="02010609060101010101" charset="-122"/>
                        </a:rPr>
                        <a:t>甲</a:t>
                      </a:r>
                      <a:endParaRPr lang="en-US" altLang="en-US" sz="2700" dirty="0"/>
                    </a:p>
                  </a:txBody>
                  <a:tcPr marL="0" marR="0" marT="0" marB="0" vert="horz">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854" name="textbox 80"/>
          <p:cNvSpPr/>
          <p:nvPr/>
        </p:nvSpPr>
        <p:spPr>
          <a:xfrm>
            <a:off x="681482" y="1597583"/>
            <a:ext cx="10804525" cy="4709159"/>
          </a:xfrm>
          <a:prstGeom prst="rect">
            <a:avLst/>
          </a:prstGeom>
        </p:spPr>
        <p:txBody>
          <a:bodyPr vert="horz" wrap="square" lIns="0" tIns="0" rIns="0" bIns="0"/>
          <a:p>
            <a:pPr algn="l" rtl="0" eaLnBrk="0">
              <a:lnSpc>
                <a:spcPct val="67000"/>
              </a:lnSpc>
            </a:pPr>
            <a:endParaRPr lang="en-US" altLang="en-US" sz="100" dirty="0"/>
          </a:p>
          <a:p>
            <a:pPr marL="1224280" algn="l" rtl="0" eaLnBrk="0">
              <a:lnSpc>
                <a:spcPct val="111000"/>
              </a:lnSpc>
            </a:pPr>
            <a:r>
              <a:rPr sz="1200" kern="0" spc="-10" dirty="0">
                <a:solidFill>
                  <a:srgbClr val="3333CC">
                    <a:alpha val="100000"/>
                  </a:srgbClr>
                </a:solidFill>
                <a:latin typeface="Wingdings" panose="05000000000000000000"/>
                <a:ea typeface="Wingdings" panose="05000000000000000000"/>
                <a:cs typeface="Wingdings" panose="05000000000000000000"/>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保证信息为授权者使用而不泄漏给未经授权者。</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1200" kern="0" spc="-20" dirty="0">
                <a:solidFill>
                  <a:srgbClr val="3333CC">
                    <a:alpha val="100000"/>
                  </a:srgbClr>
                </a:solidFill>
                <a:latin typeface="Wingdings" panose="05000000000000000000"/>
                <a:ea typeface="Wingdings" panose="05000000000000000000"/>
                <a:cs typeface="Wingdings" panose="05000000000000000000"/>
              </a:rPr>
              <a:t> </a:t>
            </a:r>
            <a:r>
              <a:rPr sz="2400" kern="0" spc="-20" dirty="0">
                <a:ln w="8708"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别人</a:t>
            </a:r>
            <a:r>
              <a:rPr sz="2400" kern="0" spc="-20" dirty="0">
                <a:solidFill>
                  <a:srgbClr val="FF0000">
                    <a:alpha val="100000"/>
                  </a:srgbClr>
                </a:solidFill>
                <a:latin typeface="仿宋" panose="02010609060101010101" charset="-122"/>
                <a:ea typeface="仿宋" panose="02010609060101010101" charset="-122"/>
                <a:cs typeface="仿宋" panose="02010609060101010101" charset="-122"/>
              </a:rPr>
              <a:t> </a:t>
            </a:r>
            <a:r>
              <a:rPr sz="2400" kern="0" spc="-20" dirty="0">
                <a:ln w="8708"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“看不到”或“看不懂”</a:t>
            </a:r>
            <a:endParaRPr lang="en-US" altLang="en-US" sz="2400" dirty="0"/>
          </a:p>
          <a:p>
            <a:pPr marL="764540" algn="l" rtl="0" eaLnBrk="0">
              <a:lnSpc>
                <a:spcPct val="99000"/>
              </a:lnSpc>
              <a:spcBef>
                <a:spcPts val="1010"/>
              </a:spcBef>
            </a:pPr>
            <a:r>
              <a:rPr sz="1500" kern="0" spc="110" dirty="0">
                <a:solidFill>
                  <a:srgbClr val="FF0000">
                    <a:alpha val="100000"/>
                  </a:srgbClr>
                </a:solidFill>
                <a:latin typeface="Arial" panose="020B0604020202020204"/>
                <a:ea typeface="Arial" panose="020B0604020202020204"/>
                <a:cs typeface="Arial" panose="020B0604020202020204"/>
              </a:rPr>
              <a:t>•   </a:t>
            </a:r>
            <a:r>
              <a:rPr sz="2700" kern="0" spc="110" dirty="0">
                <a:ln w="10154"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认证（</a:t>
            </a:r>
            <a:r>
              <a:rPr sz="2700" b="1" kern="0" spc="0" dirty="0">
                <a:solidFill>
                  <a:srgbClr val="FF0000">
                    <a:alpha val="100000"/>
                  </a:srgbClr>
                </a:solidFill>
                <a:latin typeface="Times New Roman" panose="02020603050405020304"/>
                <a:ea typeface="Times New Roman" panose="02020603050405020304"/>
                <a:cs typeface="Times New Roman" panose="02020603050405020304"/>
              </a:rPr>
              <a:t>Authentication</a:t>
            </a:r>
            <a:r>
              <a:rPr sz="2700" kern="0" spc="110" dirty="0">
                <a:ln w="10154"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a:t>
            </a:r>
            <a:endParaRPr lang="en-US" altLang="en-US" sz="2700" dirty="0"/>
          </a:p>
          <a:p>
            <a:pPr marL="1224280" algn="l" rtl="0" eaLnBrk="0">
              <a:lnSpc>
                <a:spcPct val="83000"/>
              </a:lnSpc>
              <a:spcBef>
                <a:spcPts val="955"/>
              </a:spcBef>
            </a:pPr>
            <a:r>
              <a:rPr sz="1200" kern="0" spc="-10" dirty="0">
                <a:solidFill>
                  <a:srgbClr val="3333CC">
                    <a:alpha val="100000"/>
                  </a:srgbClr>
                </a:solidFill>
                <a:latin typeface="Wingdings" panose="05000000000000000000"/>
                <a:ea typeface="Wingdings" panose="05000000000000000000"/>
                <a:cs typeface="Wingdings" panose="05000000000000000000"/>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消息认证，保证消息来源</a:t>
            </a:r>
            <a:r>
              <a:rPr sz="2400" kern="0" spc="-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的真实性</a:t>
            </a:r>
            <a:endParaRPr lang="en-US" altLang="en-US" sz="2400" dirty="0"/>
          </a:p>
          <a:p>
            <a:pPr marL="1224280" algn="l" rtl="0" eaLnBrk="0">
              <a:lnSpc>
                <a:spcPts val="3660"/>
              </a:lnSpc>
            </a:pPr>
            <a:r>
              <a:rPr sz="1200" kern="0" spc="-10" dirty="0">
                <a:solidFill>
                  <a:srgbClr val="3333CC">
                    <a:alpha val="100000"/>
                  </a:srgbClr>
                </a:solidFill>
                <a:latin typeface="Wingdings" panose="05000000000000000000"/>
                <a:ea typeface="Wingdings" panose="05000000000000000000"/>
                <a:cs typeface="Wingdings" panose="05000000000000000000"/>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身份认证，确保通</a:t>
            </a:r>
            <a:r>
              <a:rPr sz="2400" kern="0" spc="-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信实体的真实性</a:t>
            </a:r>
            <a:endParaRPr lang="en-US" altLang="en-US" sz="2400" dirty="0"/>
          </a:p>
          <a:p>
            <a:pPr marL="1224280" algn="l" rtl="0" eaLnBrk="0">
              <a:lnSpc>
                <a:spcPts val="3670"/>
              </a:lnSpc>
            </a:pPr>
            <a:r>
              <a:rPr sz="1200" kern="0" spc="-30" dirty="0">
                <a:solidFill>
                  <a:srgbClr val="3333CC">
                    <a:alpha val="100000"/>
                  </a:srgbClr>
                </a:solidFill>
                <a:latin typeface="Wingdings" panose="05000000000000000000"/>
                <a:ea typeface="Wingdings" panose="05000000000000000000"/>
                <a:cs typeface="Wingdings" panose="05000000000000000000"/>
              </a:rPr>
              <a:t> </a:t>
            </a:r>
            <a:r>
              <a:rPr sz="2400" kern="0" spc="-30" dirty="0">
                <a:ln w="8717"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证明“你就是你</a:t>
            </a:r>
            <a:r>
              <a:rPr sz="2400" kern="0" spc="-40" dirty="0">
                <a:ln w="8717"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a:t>
            </a:r>
            <a:endParaRPr lang="en-US" altLang="en-US" sz="2400" dirty="0"/>
          </a:p>
          <a:p>
            <a:pPr marL="763905" algn="l" rtl="0" eaLnBrk="0">
              <a:lnSpc>
                <a:spcPct val="95000"/>
              </a:lnSpc>
              <a:spcBef>
                <a:spcPts val="1325"/>
              </a:spcBef>
            </a:pPr>
            <a:r>
              <a:rPr sz="1400" kern="0" spc="70" dirty="0">
                <a:solidFill>
                  <a:srgbClr val="3333CC">
                    <a:alpha val="100000"/>
                  </a:srgbClr>
                </a:solidFill>
                <a:latin typeface="Arial" panose="020B0604020202020204"/>
                <a:ea typeface="Arial" panose="020B0604020202020204"/>
                <a:cs typeface="Arial" panose="020B0604020202020204"/>
              </a:rPr>
              <a:t>•</a:t>
            </a:r>
            <a:r>
              <a:rPr sz="1400" kern="0" spc="60" dirty="0">
                <a:solidFill>
                  <a:srgbClr val="3333CC">
                    <a:alpha val="100000"/>
                  </a:srgbClr>
                </a:solidFill>
                <a:latin typeface="Arial" panose="020B0604020202020204"/>
                <a:ea typeface="Arial" panose="020B0604020202020204"/>
                <a:cs typeface="Arial" panose="020B0604020202020204"/>
              </a:rPr>
              <a:t>     </a:t>
            </a:r>
            <a:r>
              <a:rPr sz="2700" kern="0" spc="70" dirty="0">
                <a:ln w="10145"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完整性</a:t>
            </a:r>
            <a:r>
              <a:rPr sz="2700" kern="0" spc="-580" dirty="0">
                <a:solidFill>
                  <a:srgbClr val="FF0000">
                    <a:alpha val="100000"/>
                  </a:srgbClr>
                </a:solidFill>
                <a:latin typeface="仿宋" panose="02010609060101010101" charset="-122"/>
                <a:ea typeface="仿宋" panose="02010609060101010101" charset="-122"/>
                <a:cs typeface="仿宋" panose="02010609060101010101" charset="-122"/>
              </a:rPr>
              <a:t> </a:t>
            </a:r>
            <a:r>
              <a:rPr sz="2700" kern="0" spc="70" dirty="0">
                <a:ln w="10145"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a:t>
            </a:r>
            <a:r>
              <a:rPr sz="2700" b="1" kern="0" spc="0" dirty="0">
                <a:solidFill>
                  <a:srgbClr val="FF0000">
                    <a:alpha val="100000"/>
                  </a:srgbClr>
                </a:solidFill>
                <a:latin typeface="Times New Roman" panose="02020603050405020304"/>
                <a:ea typeface="Times New Roman" panose="02020603050405020304"/>
                <a:cs typeface="Times New Roman" panose="02020603050405020304"/>
              </a:rPr>
              <a:t>Integrity</a:t>
            </a:r>
            <a:r>
              <a:rPr sz="2700" kern="0" spc="70" dirty="0">
                <a:ln w="10145"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a:t>
            </a:r>
            <a:endParaRPr lang="en-US" altLang="en-US" sz="2700" dirty="0"/>
          </a:p>
          <a:p>
            <a:pPr marL="1224280" algn="l" rtl="0" eaLnBrk="0">
              <a:lnSpc>
                <a:spcPct val="93000"/>
              </a:lnSpc>
              <a:spcBef>
                <a:spcPts val="1070"/>
              </a:spcBef>
            </a:pPr>
            <a:r>
              <a:rPr sz="1200" kern="0" spc="-10" dirty="0">
                <a:solidFill>
                  <a:srgbClr val="3333CC">
                    <a:alpha val="100000"/>
                  </a:srgbClr>
                </a:solidFill>
                <a:latin typeface="Wingdings" panose="05000000000000000000"/>
                <a:ea typeface="Wingdings" panose="05000000000000000000"/>
                <a:cs typeface="Wingdings" panose="05000000000000000000"/>
              </a:rPr>
              <a:t> </a:t>
            </a:r>
            <a:r>
              <a:rPr sz="2400" kern="0" spc="-1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数据完整性，未被未授权篡改或者损坏</a:t>
            </a:r>
            <a:endParaRPr lang="en-US" altLang="en-US" sz="2400" dirty="0"/>
          </a:p>
          <a:p>
            <a:pPr marL="1224280" algn="l" rtl="0" eaLnBrk="0">
              <a:lnSpc>
                <a:spcPct val="93000"/>
              </a:lnSpc>
              <a:spcBef>
                <a:spcPts val="995"/>
              </a:spcBef>
            </a:pPr>
            <a:r>
              <a:rPr sz="1200" kern="0" spc="0" dirty="0">
                <a:solidFill>
                  <a:srgbClr val="3333CC">
                    <a:alpha val="100000"/>
                  </a:srgbClr>
                </a:solidFill>
                <a:latin typeface="Wingdings" panose="05000000000000000000"/>
                <a:ea typeface="Wingdings" panose="05000000000000000000"/>
                <a:cs typeface="Wingdings" panose="05000000000000000000"/>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系统完整性，系统未被</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非授权操纵，按既定的功能运行</a:t>
            </a:r>
            <a:endParaRPr lang="en-US" altLang="en-US" sz="2400" dirty="0"/>
          </a:p>
          <a:p>
            <a:pPr algn="l" rtl="0" eaLnBrk="0">
              <a:lnSpc>
                <a:spcPct val="102000"/>
              </a:lnSpc>
            </a:pPr>
            <a:endParaRPr lang="en-US" altLang="en-US" sz="800" dirty="0"/>
          </a:p>
          <a:p>
            <a:pPr marL="12700" algn="l" rtl="0" eaLnBrk="0">
              <a:lnSpc>
                <a:spcPct val="94000"/>
              </a:lnSpc>
              <a:spcBef>
                <a:spcPts val="5"/>
              </a:spcBef>
              <a:tabLst>
                <a:tab pos="1224280" algn="l"/>
                <a:tab pos="10791825" algn="l"/>
              </a:tabLst>
            </a:pPr>
            <a:r>
              <a:rPr sz="1200" u="sng" kern="0" spc="0" dirty="0">
                <a:solidFill>
                  <a:srgbClr val="3333CC">
                    <a:alpha val="100000"/>
                  </a:srgbClr>
                </a:solidFill>
                <a:uFill>
                  <a:solidFill>
                    <a:srgbClr val="5B9BD5"/>
                  </a:solidFill>
                </a:uFill>
                <a:latin typeface="Wingdings" panose="05000000000000000000"/>
                <a:ea typeface="Wingdings" panose="05000000000000000000"/>
                <a:cs typeface="Wingdings" panose="05000000000000000000"/>
              </a:rPr>
              <a:t>	</a:t>
            </a:r>
            <a:r>
              <a:rPr sz="1200" u="sng" kern="0" spc="-30" dirty="0">
                <a:solidFill>
                  <a:srgbClr val="3333CC">
                    <a:alpha val="100000"/>
                  </a:srgbClr>
                </a:solidFill>
                <a:uFill>
                  <a:solidFill>
                    <a:srgbClr val="5B9BD5"/>
                  </a:solidFill>
                </a:uFill>
                <a:latin typeface="Wingdings" panose="05000000000000000000"/>
                <a:ea typeface="Wingdings" panose="05000000000000000000"/>
                <a:cs typeface="Wingdings" panose="05000000000000000000"/>
              </a:rPr>
              <a:t> </a:t>
            </a:r>
            <a:r>
              <a:rPr sz="2400" u="sng" kern="0" spc="-30" dirty="0">
                <a:ln w="8708" cap="flat" cmpd="sng">
                  <a:solidFill>
                    <a:srgbClr val="FF0000">
                      <a:alpha val="100000"/>
                    </a:srgbClr>
                  </a:solidFill>
                  <a:prstDash val="solid"/>
                  <a:miter lim="10"/>
                </a:ln>
                <a:solidFill>
                  <a:srgbClr val="FF0000">
                    <a:alpha val="100000"/>
                  </a:srgbClr>
                </a:solidFill>
                <a:uFill>
                  <a:solidFill>
                    <a:srgbClr val="5B9BD5"/>
                  </a:solidFill>
                </a:uFill>
                <a:latin typeface="仿宋" panose="02010609060101010101" charset="-122"/>
                <a:ea typeface="仿宋" panose="02010609060101010101" charset="-122"/>
                <a:cs typeface="仿宋" panose="02010609060101010101" charset="-122"/>
              </a:rPr>
              <a:t>信息没有被“动过”</a:t>
            </a:r>
            <a:r>
              <a:rPr sz="2400" u="sng" kern="0" spc="0" dirty="0">
                <a:solidFill>
                  <a:srgbClr val="FF0000">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lang="en-US" altLang="en-US" sz="2400" dirty="0"/>
          </a:p>
        </p:txBody>
      </p:sp>
      <p:sp>
        <p:nvSpPr>
          <p:cNvPr id="1048855" name="textbox 82"/>
          <p:cNvSpPr/>
          <p:nvPr/>
        </p:nvSpPr>
        <p:spPr>
          <a:xfrm>
            <a:off x="1433881" y="1070893"/>
            <a:ext cx="4386579" cy="415925"/>
          </a:xfrm>
          <a:prstGeom prst="rect">
            <a:avLst/>
          </a:prstGeom>
        </p:spPr>
        <p:txBody>
          <a:bodyPr vert="horz" wrap="square" lIns="0" tIns="0" rIns="0" bIns="0"/>
          <a:p>
            <a:pPr algn="l" rtl="0" eaLnBrk="0">
              <a:lnSpc>
                <a:spcPct val="78000"/>
              </a:lnSpc>
            </a:pPr>
            <a:endParaRPr lang="en-US" altLang="en-US" sz="100" dirty="0"/>
          </a:p>
          <a:p>
            <a:pPr algn="r" rtl="0" eaLnBrk="0">
              <a:lnSpc>
                <a:spcPct val="95000"/>
              </a:lnSpc>
            </a:pPr>
            <a:r>
              <a:rPr sz="1500" kern="0" spc="110" dirty="0">
                <a:solidFill>
                  <a:srgbClr val="FF0000">
                    <a:alpha val="100000"/>
                  </a:srgbClr>
                </a:solidFill>
                <a:latin typeface="Arial" panose="020B0604020202020204"/>
                <a:ea typeface="Arial" panose="020B0604020202020204"/>
                <a:cs typeface="Arial" panose="020B0604020202020204"/>
              </a:rPr>
              <a:t>•   </a:t>
            </a:r>
            <a:r>
              <a:rPr sz="2700" kern="0" spc="110" dirty="0">
                <a:ln w="10145"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机密性</a:t>
            </a:r>
            <a:r>
              <a:rPr sz="2700" kern="0" spc="-600" dirty="0">
                <a:solidFill>
                  <a:srgbClr val="FF0000">
                    <a:alpha val="100000"/>
                  </a:srgbClr>
                </a:solidFill>
                <a:latin typeface="仿宋" panose="02010609060101010101" charset="-122"/>
                <a:ea typeface="仿宋" panose="02010609060101010101" charset="-122"/>
                <a:cs typeface="仿宋" panose="02010609060101010101" charset="-122"/>
              </a:rPr>
              <a:t> </a:t>
            </a:r>
            <a:r>
              <a:rPr sz="2700" kern="0" spc="110" dirty="0">
                <a:ln w="10145"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a:t>
            </a:r>
            <a:r>
              <a:rPr sz="2700" b="1" kern="0" spc="0" dirty="0">
                <a:solidFill>
                  <a:srgbClr val="FF0000">
                    <a:alpha val="100000"/>
                  </a:srgbClr>
                </a:solidFill>
                <a:latin typeface="Times New Roman" panose="02020603050405020304"/>
                <a:ea typeface="Times New Roman" panose="02020603050405020304"/>
                <a:cs typeface="Times New Roman" panose="02020603050405020304"/>
              </a:rPr>
              <a:t>Confidentiality</a:t>
            </a:r>
            <a:r>
              <a:rPr sz="2700" kern="0" spc="110" dirty="0">
                <a:ln w="10145"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a:t>
            </a:r>
            <a:endParaRPr lang="en-US" altLang="en-US" sz="2700" dirty="0"/>
          </a:p>
        </p:txBody>
      </p:sp>
      <p:sp>
        <p:nvSpPr>
          <p:cNvPr id="1048856" name="textbox 84"/>
          <p:cNvSpPr/>
          <p:nvPr/>
        </p:nvSpPr>
        <p:spPr>
          <a:xfrm>
            <a:off x="1571048" y="488157"/>
            <a:ext cx="3668395" cy="480694"/>
          </a:xfrm>
          <a:prstGeom prst="rect">
            <a:avLst/>
          </a:prstGeom>
        </p:spPr>
        <p:txBody>
          <a:bodyPr vert="horz" wrap="square" lIns="0" tIns="0" rIns="0" bIns="0"/>
          <a:p>
            <a:pPr algn="l" rtl="0" eaLnBrk="0">
              <a:lnSpc>
                <a:spcPct val="95000"/>
              </a:lnSpc>
            </a:pPr>
            <a:endParaRPr lang="en-US" altLang="en-US" sz="100" dirty="0"/>
          </a:p>
          <a:p>
            <a:pPr marL="12700" algn="l" rtl="0" eaLnBrk="0">
              <a:lnSpc>
                <a:spcPct val="93000"/>
              </a:lnSpc>
            </a:pPr>
            <a:r>
              <a:rPr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信息安全的基本属性</a:t>
            </a:r>
            <a:endParaRPr lang="en-US" altLang="en-US" sz="3200" dirty="0"/>
          </a:p>
        </p:txBody>
      </p:sp>
      <p:pic>
        <p:nvPicPr>
          <p:cNvPr id="2097181" name="picture 88"/>
          <p:cNvPicPr>
            <a:picLocks noChangeAspect="1"/>
          </p:cNvPicPr>
          <p:nvPr/>
        </p:nvPicPr>
        <p:blipFill>
          <a:blip r:embed="rId1"/>
          <a:stretch>
            <a:fillRect/>
          </a:stretch>
        </p:blipFill>
        <p:spPr>
          <a:xfrm rot="21600000">
            <a:off x="824483" y="408431"/>
            <a:ext cx="419100" cy="655320"/>
          </a:xfrm>
          <a:prstGeom prst="rect">
            <a:avLst/>
          </a:prstGeom>
        </p:spPr>
      </p:pic>
      <p:sp>
        <p:nvSpPr>
          <p:cNvPr id="1048857"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11" name=""/>
        <p:cNvGrpSpPr/>
        <p:nvPr/>
      </p:nvGrpSpPr>
      <p:grpSpPr>
        <a:xfrm>
          <a:off x="0" y="0"/>
          <a:ext cx="0" cy="0"/>
          <a:chOff x="0" y="0"/>
          <a:chExt cx="0" cy="0"/>
        </a:xfrm>
      </p:grpSpPr>
      <p:sp>
        <p:nvSpPr>
          <p:cNvPr id="1048860" name="textbox 92"/>
          <p:cNvSpPr/>
          <p:nvPr/>
        </p:nvSpPr>
        <p:spPr>
          <a:xfrm>
            <a:off x="698678" y="1175788"/>
            <a:ext cx="10808334" cy="4781550"/>
          </a:xfrm>
          <a:prstGeom prst="rect">
            <a:avLst/>
          </a:prstGeom>
        </p:spPr>
        <p:txBody>
          <a:bodyPr vert="horz" wrap="square" lIns="0" tIns="0" rIns="0" bIns="0"/>
          <a:p>
            <a:pPr algn="l" rtl="0" eaLnBrk="0">
              <a:lnSpc>
                <a:spcPct val="84000"/>
              </a:lnSpc>
            </a:pPr>
            <a:endParaRPr lang="en-US" altLang="en-US" sz="100" dirty="0"/>
          </a:p>
          <a:p>
            <a:pPr marL="20955" algn="l" rtl="0" eaLnBrk="0">
              <a:lnSpc>
                <a:spcPct val="95000"/>
              </a:lnSpc>
            </a:pPr>
            <a:r>
              <a:rPr sz="2700" kern="0" spc="100" dirty="0">
                <a:solidFill>
                  <a:srgbClr val="FF0000">
                    <a:alpha val="100000"/>
                  </a:srgbClr>
                </a:solidFill>
                <a:latin typeface="Arial" panose="020B0604020202020204"/>
                <a:ea typeface="Arial" panose="020B0604020202020204"/>
                <a:cs typeface="Arial" panose="020B0604020202020204"/>
              </a:rPr>
              <a:t>•</a:t>
            </a:r>
            <a:r>
              <a:rPr sz="2700" kern="0" spc="340" dirty="0">
                <a:solidFill>
                  <a:srgbClr val="FF0000">
                    <a:alpha val="100000"/>
                  </a:srgbClr>
                </a:solidFill>
                <a:latin typeface="Arial" panose="020B0604020202020204"/>
                <a:ea typeface="Arial" panose="020B0604020202020204"/>
                <a:cs typeface="Arial" panose="020B0604020202020204"/>
              </a:rPr>
              <a:t> </a:t>
            </a:r>
            <a:r>
              <a:rPr sz="2700" kern="0" spc="100" dirty="0">
                <a:ln w="10154"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不可否认性（</a:t>
            </a:r>
            <a:r>
              <a:rPr sz="2700" b="1" kern="0" spc="0" dirty="0">
                <a:solidFill>
                  <a:srgbClr val="FF0000">
                    <a:alpha val="100000"/>
                  </a:srgbClr>
                </a:solidFill>
                <a:latin typeface="Times New Roman" panose="02020603050405020304"/>
                <a:ea typeface="Times New Roman" panose="02020603050405020304"/>
                <a:cs typeface="Times New Roman" panose="02020603050405020304"/>
              </a:rPr>
              <a:t>Non</a:t>
            </a:r>
            <a:r>
              <a:rPr sz="2700" b="1" kern="0" spc="100" dirty="0">
                <a:solidFill>
                  <a:srgbClr val="FF0000">
                    <a:alpha val="100000"/>
                  </a:srgbClr>
                </a:solidFill>
                <a:latin typeface="Times New Roman" panose="02020603050405020304"/>
                <a:ea typeface="Times New Roman" panose="02020603050405020304"/>
                <a:cs typeface="Times New Roman" panose="02020603050405020304"/>
              </a:rPr>
              <a:t>-</a:t>
            </a:r>
            <a:r>
              <a:rPr sz="2700" b="1" kern="0" spc="0" dirty="0">
                <a:solidFill>
                  <a:srgbClr val="FF0000">
                    <a:alpha val="100000"/>
                  </a:srgbClr>
                </a:solidFill>
                <a:latin typeface="Times New Roman" panose="02020603050405020304"/>
                <a:ea typeface="Times New Roman" panose="02020603050405020304"/>
                <a:cs typeface="Times New Roman" panose="02020603050405020304"/>
              </a:rPr>
              <a:t>repudiation</a:t>
            </a:r>
            <a:r>
              <a:rPr sz="2700" b="1" kern="0" spc="100" dirty="0">
                <a:solidFill>
                  <a:srgbClr val="FF0000">
                    <a:alpha val="100000"/>
                  </a:srgbClr>
                </a:solidFill>
                <a:latin typeface="Times New Roman" panose="02020603050405020304"/>
                <a:ea typeface="Times New Roman" panose="02020603050405020304"/>
                <a:cs typeface="Times New Roman" panose="02020603050405020304"/>
              </a:rPr>
              <a:t> </a:t>
            </a:r>
            <a:r>
              <a:rPr sz="2700" kern="0" spc="100" dirty="0">
                <a:ln w="10154"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a:t>
            </a:r>
            <a:endParaRPr lang="en-US" altLang="en-US" sz="2700" dirty="0"/>
          </a:p>
          <a:p>
            <a:pPr marL="475615" algn="l" rtl="0" eaLnBrk="0">
              <a:lnSpc>
                <a:spcPct val="99000"/>
              </a:lnSpc>
              <a:spcBef>
                <a:spcPts val="455"/>
              </a:spcBef>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490" dirty="0">
                <a:solidFill>
                  <a:srgbClr val="000000">
                    <a:alpha val="100000"/>
                  </a:srgbClr>
                </a:solidFill>
                <a:latin typeface="Arial" panose="020B0604020202020204"/>
                <a:ea typeface="Arial" panose="020B0604020202020204"/>
                <a:cs typeface="Arial" panose="020B0604020202020204"/>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要求无论发送方还是接收方都不能</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抵赖所进行的传输</a:t>
            </a:r>
            <a:endParaRPr lang="en-US" altLang="en-US" sz="2400" dirty="0"/>
          </a:p>
          <a:p>
            <a:pPr marL="20955" algn="l" rtl="0" eaLnBrk="0">
              <a:lnSpc>
                <a:spcPct val="95000"/>
              </a:lnSpc>
              <a:spcBef>
                <a:spcPts val="730"/>
              </a:spcBef>
            </a:pPr>
            <a:r>
              <a:rPr sz="2700" kern="0" spc="90" dirty="0">
                <a:solidFill>
                  <a:srgbClr val="000000">
                    <a:alpha val="100000"/>
                  </a:srgbClr>
                </a:solidFill>
                <a:latin typeface="Arial" panose="020B0604020202020204"/>
                <a:ea typeface="Arial" panose="020B0604020202020204"/>
                <a:cs typeface="Arial" panose="020B0604020202020204"/>
              </a:rPr>
              <a:t>•</a:t>
            </a:r>
            <a:r>
              <a:rPr sz="2700" kern="0" spc="310" dirty="0">
                <a:solidFill>
                  <a:srgbClr val="000000">
                    <a:alpha val="100000"/>
                  </a:srgbClr>
                </a:solidFill>
                <a:latin typeface="Arial" panose="020B0604020202020204"/>
                <a:ea typeface="Arial" panose="020B0604020202020204"/>
                <a:cs typeface="Arial" panose="020B0604020202020204"/>
              </a:rPr>
              <a:t> </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可靠性（</a:t>
            </a:r>
            <a:r>
              <a:rPr sz="2700" b="1" kern="0" spc="0" dirty="0">
                <a:solidFill>
                  <a:srgbClr val="000000">
                    <a:alpha val="100000"/>
                  </a:srgbClr>
                </a:solidFill>
                <a:latin typeface="Times New Roman" panose="02020603050405020304"/>
                <a:ea typeface="Times New Roman" panose="02020603050405020304"/>
                <a:cs typeface="Times New Roman" panose="02020603050405020304"/>
              </a:rPr>
              <a:t>Reliability</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700" dirty="0"/>
          </a:p>
          <a:p>
            <a:pPr marL="475615" algn="l" rtl="0" eaLnBrk="0">
              <a:lnSpc>
                <a:spcPct val="99000"/>
              </a:lnSpc>
              <a:spcBef>
                <a:spcPts val="450"/>
              </a:spcBef>
            </a:pPr>
            <a:r>
              <a:rPr sz="2400" kern="0" spc="-20" dirty="0">
                <a:solidFill>
                  <a:srgbClr val="000000">
                    <a:alpha val="100000"/>
                  </a:srgbClr>
                </a:solidFill>
                <a:latin typeface="Arial" panose="020B0604020202020204"/>
                <a:ea typeface="Arial" panose="020B0604020202020204"/>
                <a:cs typeface="Arial" panose="020B0604020202020204"/>
              </a:rPr>
              <a:t>•</a:t>
            </a:r>
            <a:r>
              <a:rPr sz="2400" kern="0" spc="510" dirty="0">
                <a:solidFill>
                  <a:srgbClr val="000000">
                    <a:alpha val="100000"/>
                  </a:srgbClr>
                </a:solidFill>
                <a:latin typeface="Arial" panose="020B0604020202020204"/>
                <a:ea typeface="Arial" panose="020B0604020202020204"/>
                <a:cs typeface="Arial" panose="020B0604020202020204"/>
              </a:rPr>
              <a:t> </a:t>
            </a:r>
            <a:r>
              <a:rPr sz="2400" kern="0" spc="-2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特定行为和结果的一致性</a:t>
            </a:r>
            <a:endParaRPr lang="en-US" altLang="en-US" sz="2400" dirty="0"/>
          </a:p>
          <a:p>
            <a:pPr marL="12700" algn="l" rtl="0" eaLnBrk="0">
              <a:lnSpc>
                <a:spcPct val="95000"/>
              </a:lnSpc>
              <a:spcBef>
                <a:spcPts val="740"/>
              </a:spcBef>
            </a:pPr>
            <a:r>
              <a:rPr sz="1500" kern="0" spc="70" dirty="0">
                <a:solidFill>
                  <a:srgbClr val="FF0000">
                    <a:alpha val="100000"/>
                  </a:srgbClr>
                </a:solidFill>
                <a:latin typeface="Arial" panose="020B0604020202020204"/>
                <a:ea typeface="Arial" panose="020B0604020202020204"/>
                <a:cs typeface="Arial" panose="020B0604020202020204"/>
              </a:rPr>
              <a:t>•   </a:t>
            </a:r>
            <a:r>
              <a:rPr sz="2700" kern="0" spc="7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可用性</a:t>
            </a:r>
            <a:r>
              <a:rPr sz="2700" kern="0" spc="-60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7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r>
              <a:rPr sz="2700" b="1" kern="0" spc="0" dirty="0">
                <a:solidFill>
                  <a:srgbClr val="000000">
                    <a:alpha val="100000"/>
                  </a:srgbClr>
                </a:solidFill>
                <a:latin typeface="Times New Roman" panose="02020603050405020304"/>
                <a:ea typeface="Times New Roman" panose="02020603050405020304"/>
                <a:cs typeface="Times New Roman" panose="02020603050405020304"/>
              </a:rPr>
              <a:t>Availability</a:t>
            </a:r>
            <a:r>
              <a:rPr sz="2700" kern="0" spc="7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700" dirty="0"/>
          </a:p>
          <a:p>
            <a:pPr marL="708025" indent="-239395" algn="l" rtl="0" eaLnBrk="0">
              <a:lnSpc>
                <a:spcPct val="90000"/>
              </a:lnSpc>
              <a:spcBef>
                <a:spcPts val="570"/>
              </a:spcBef>
            </a:pPr>
            <a:r>
              <a:rPr sz="1300" kern="0" spc="10" dirty="0">
                <a:solidFill>
                  <a:srgbClr val="FF0000">
                    <a:alpha val="100000"/>
                  </a:srgbClr>
                </a:solidFill>
                <a:latin typeface="Arial" panose="020B0604020202020204"/>
                <a:ea typeface="Arial" panose="020B0604020202020204"/>
                <a:cs typeface="Arial" panose="020B0604020202020204"/>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保证信息和信息系统随时为授权</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者提供服务，而不要出现非授权者滥用却对</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3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授权者拒绝服务的情况</a:t>
            </a:r>
            <a:r>
              <a:rPr sz="2400" kern="0" spc="-4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400" dirty="0"/>
          </a:p>
          <a:p>
            <a:pPr marL="20955" algn="l" rtl="0" eaLnBrk="0">
              <a:lnSpc>
                <a:spcPct val="95000"/>
              </a:lnSpc>
              <a:spcBef>
                <a:spcPts val="880"/>
              </a:spcBef>
            </a:pPr>
            <a:r>
              <a:rPr sz="2700" kern="0" spc="110" dirty="0">
                <a:solidFill>
                  <a:srgbClr val="000000">
                    <a:alpha val="100000"/>
                  </a:srgbClr>
                </a:solidFill>
                <a:latin typeface="Arial" panose="020B0604020202020204"/>
                <a:ea typeface="Arial" panose="020B0604020202020204"/>
                <a:cs typeface="Arial" panose="020B0604020202020204"/>
              </a:rPr>
              <a:t>•</a:t>
            </a:r>
            <a:r>
              <a:rPr sz="2700" kern="0" spc="330" dirty="0">
                <a:solidFill>
                  <a:srgbClr val="000000">
                    <a:alpha val="100000"/>
                  </a:srgbClr>
                </a:solidFill>
                <a:latin typeface="Arial" panose="020B0604020202020204"/>
                <a:ea typeface="Arial" panose="020B0604020202020204"/>
                <a:cs typeface="Arial" panose="020B0604020202020204"/>
              </a:rPr>
              <a:t> </a:t>
            </a:r>
            <a:r>
              <a:rPr sz="2700" kern="0" spc="11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可控性（</a:t>
            </a:r>
            <a:r>
              <a:rPr sz="2700" b="1" kern="0" spc="0" dirty="0">
                <a:solidFill>
                  <a:srgbClr val="000000">
                    <a:alpha val="100000"/>
                  </a:srgbClr>
                </a:solidFill>
                <a:latin typeface="Times New Roman" panose="02020603050405020304"/>
                <a:ea typeface="Times New Roman" panose="02020603050405020304"/>
                <a:cs typeface="Times New Roman" panose="02020603050405020304"/>
              </a:rPr>
              <a:t>Controllability</a:t>
            </a:r>
            <a:r>
              <a:rPr sz="2700" kern="0" spc="11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700" dirty="0"/>
          </a:p>
          <a:p>
            <a:pPr marL="475615" algn="l" rtl="0" eaLnBrk="0">
              <a:lnSpc>
                <a:spcPct val="99000"/>
              </a:lnSpc>
              <a:spcBef>
                <a:spcPts val="450"/>
              </a:spcBef>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450" dirty="0">
                <a:solidFill>
                  <a:srgbClr val="000000">
                    <a:alpha val="100000"/>
                  </a:srgbClr>
                </a:solidFill>
                <a:latin typeface="Arial" panose="020B0604020202020204"/>
                <a:ea typeface="Arial" panose="020B0604020202020204"/>
                <a:cs typeface="Arial" panose="020B0604020202020204"/>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授权实体可以控制信息系统和</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信息使用的特性</a:t>
            </a:r>
            <a:endParaRPr lang="en-US" altLang="en-US" sz="2400" dirty="0"/>
          </a:p>
          <a:p>
            <a:pPr marL="20955" algn="l" rtl="0" eaLnBrk="0">
              <a:lnSpc>
                <a:spcPct val="95000"/>
              </a:lnSpc>
              <a:spcBef>
                <a:spcPts val="740"/>
              </a:spcBef>
            </a:pPr>
            <a:r>
              <a:rPr sz="2700" kern="0" spc="90" dirty="0">
                <a:solidFill>
                  <a:srgbClr val="000000">
                    <a:alpha val="100000"/>
                  </a:srgbClr>
                </a:solidFill>
                <a:latin typeface="Arial" panose="020B0604020202020204"/>
                <a:ea typeface="Arial" panose="020B0604020202020204"/>
                <a:cs typeface="Arial" panose="020B0604020202020204"/>
              </a:rPr>
              <a:t>•</a:t>
            </a:r>
            <a:r>
              <a:rPr sz="2700" kern="0" spc="470" dirty="0">
                <a:solidFill>
                  <a:srgbClr val="000000">
                    <a:alpha val="100000"/>
                  </a:srgbClr>
                </a:solidFill>
                <a:latin typeface="Arial" panose="020B0604020202020204"/>
                <a:ea typeface="Arial" panose="020B0604020202020204"/>
                <a:cs typeface="Arial" panose="020B0604020202020204"/>
              </a:rPr>
              <a:t> </a:t>
            </a:r>
            <a:r>
              <a:rPr sz="2700" kern="0" spc="9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审计（</a:t>
            </a:r>
            <a:r>
              <a:rPr sz="2700" b="1" kern="0" spc="0" dirty="0">
                <a:solidFill>
                  <a:srgbClr val="000000">
                    <a:alpha val="100000"/>
                  </a:srgbClr>
                </a:solidFill>
                <a:latin typeface="Times New Roman" panose="02020603050405020304"/>
                <a:ea typeface="Times New Roman" panose="02020603050405020304"/>
                <a:cs typeface="Times New Roman" panose="02020603050405020304"/>
              </a:rPr>
              <a:t>Accountability</a:t>
            </a:r>
            <a:r>
              <a:rPr sz="2700" kern="0" spc="9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700" dirty="0"/>
          </a:p>
          <a:p>
            <a:pPr marL="475615" algn="l" rtl="0" eaLnBrk="0">
              <a:lnSpc>
                <a:spcPct val="99000"/>
              </a:lnSpc>
              <a:spcBef>
                <a:spcPts val="460"/>
              </a:spcBef>
            </a:pPr>
            <a:r>
              <a:rPr sz="2400" kern="0" spc="-20" dirty="0">
                <a:solidFill>
                  <a:srgbClr val="000000">
                    <a:alpha val="100000"/>
                  </a:srgbClr>
                </a:solidFill>
                <a:latin typeface="Arial" panose="020B0604020202020204"/>
                <a:ea typeface="Arial" panose="020B0604020202020204"/>
                <a:cs typeface="Arial" panose="020B0604020202020204"/>
              </a:rPr>
              <a:t>•</a:t>
            </a:r>
            <a:r>
              <a:rPr sz="2400" kern="0" spc="510" dirty="0">
                <a:solidFill>
                  <a:srgbClr val="000000">
                    <a:alpha val="100000"/>
                  </a:srgbClr>
                </a:solidFill>
                <a:latin typeface="Arial" panose="020B0604020202020204"/>
                <a:ea typeface="Arial" panose="020B0604020202020204"/>
                <a:cs typeface="Arial" panose="020B0604020202020204"/>
              </a:rPr>
              <a:t> </a:t>
            </a:r>
            <a:r>
              <a:rPr sz="2400" kern="0" spc="-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确保实体的活动可被跟踪</a:t>
            </a:r>
            <a:endParaRPr lang="en-US" altLang="en-US" sz="2400" dirty="0"/>
          </a:p>
        </p:txBody>
      </p:sp>
      <p:sp>
        <p:nvSpPr>
          <p:cNvPr id="1048861" name="textbox 94"/>
          <p:cNvSpPr/>
          <p:nvPr/>
        </p:nvSpPr>
        <p:spPr>
          <a:xfrm>
            <a:off x="1571048" y="488157"/>
            <a:ext cx="4864100" cy="480694"/>
          </a:xfrm>
          <a:prstGeom prst="rect">
            <a:avLst/>
          </a:prstGeom>
        </p:spPr>
        <p:txBody>
          <a:bodyPr vert="horz" wrap="square" lIns="0" tIns="0" rIns="0" bIns="0"/>
          <a:p>
            <a:pPr algn="l" rtl="0" eaLnBrk="0">
              <a:lnSpc>
                <a:spcPct val="95000"/>
              </a:lnSpc>
            </a:pPr>
            <a:endParaRPr lang="en-US" altLang="en-US" sz="100" dirty="0"/>
          </a:p>
          <a:p>
            <a:pPr algn="r" rtl="0" eaLnBrk="0">
              <a:lnSpc>
                <a:spcPct val="93000"/>
              </a:lnSpc>
            </a:pPr>
            <a:r>
              <a:rPr sz="3200" kern="0" spc="-1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信息安全的基本属性（续）</a:t>
            </a:r>
            <a:endParaRPr lang="en-US" altLang="en-US" sz="3200" dirty="0"/>
          </a:p>
        </p:txBody>
      </p:sp>
      <p:sp>
        <p:nvSpPr>
          <p:cNvPr id="1048862"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182" name="picture 100"/>
          <p:cNvPicPr>
            <a:picLocks noChangeAspect="1"/>
          </p:cNvPicPr>
          <p:nvPr/>
        </p:nvPicPr>
        <p:blipFill>
          <a:blip r:embed="rId1"/>
          <a:stretch>
            <a:fillRect/>
          </a:stretch>
        </p:blipFill>
        <p:spPr>
          <a:xfrm rot="21600000">
            <a:off x="824483" y="408431"/>
            <a:ext cx="419100" cy="655320"/>
          </a:xfrm>
          <a:prstGeom prst="rect">
            <a:avLst/>
          </a:prstGeom>
        </p:spPr>
      </p:pic>
      <p:sp>
        <p:nvSpPr>
          <p:cNvPr id="1048863"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4" name=""/>
        <p:cNvGrpSpPr/>
        <p:nvPr/>
      </p:nvGrpSpPr>
      <p:grpSpPr>
        <a:xfrm>
          <a:off x="0" y="0"/>
          <a:ext cx="0" cy="0"/>
          <a:chOff x="0" y="0"/>
          <a:chExt cx="0" cy="0"/>
        </a:xfrm>
      </p:grpSpPr>
      <p:grpSp>
        <p:nvGrpSpPr>
          <p:cNvPr id="115" name="group 2"/>
          <p:cNvGrpSpPr/>
          <p:nvPr/>
        </p:nvGrpSpPr>
        <p:grpSpPr>
          <a:xfrm rot="21600000">
            <a:off x="3878579" y="2758440"/>
            <a:ext cx="5507735" cy="813815"/>
            <a:chOff x="0" y="0"/>
            <a:chExt cx="5507735" cy="813815"/>
          </a:xfrm>
        </p:grpSpPr>
        <p:pic>
          <p:nvPicPr>
            <p:cNvPr id="2097183" name="picture 12"/>
            <p:cNvPicPr>
              <a:picLocks noChangeAspect="1"/>
            </p:cNvPicPr>
            <p:nvPr/>
          </p:nvPicPr>
          <p:blipFill>
            <a:blip r:embed="rId1"/>
            <a:stretch>
              <a:fillRect/>
            </a:stretch>
          </p:blipFill>
          <p:spPr>
            <a:xfrm rot="21600000">
              <a:off x="0" y="0"/>
              <a:ext cx="5507735" cy="813815"/>
            </a:xfrm>
            <a:prstGeom prst="rect">
              <a:avLst/>
            </a:prstGeom>
          </p:spPr>
        </p:pic>
        <p:sp>
          <p:nvSpPr>
            <p:cNvPr id="1048866" name="textbox 14"/>
            <p:cNvSpPr/>
            <p:nvPr/>
          </p:nvSpPr>
          <p:spPr>
            <a:xfrm>
              <a:off x="-12700" y="-12700"/>
              <a:ext cx="5533390" cy="879475"/>
            </a:xfrm>
            <a:prstGeom prst="rect">
              <a:avLst/>
            </a:prstGeom>
          </p:spPr>
          <p:txBody>
            <a:bodyPr vert="horz" wrap="square" lIns="0" tIns="0" rIns="0" bIns="0"/>
            <a:p>
              <a:pPr algn="l" rtl="0" eaLnBrk="0">
                <a:lnSpc>
                  <a:spcPct val="168000"/>
                </a:lnSpc>
              </a:pPr>
              <a:endParaRPr lang="en-US" altLang="en-US" sz="1000" dirty="0"/>
            </a:p>
            <a:p>
              <a:pPr algn="l" rtl="0" eaLnBrk="0">
                <a:lnSpc>
                  <a:spcPct val="7000"/>
                </a:lnSpc>
              </a:pPr>
              <a:endParaRPr lang="en-US" altLang="en-US" sz="100" dirty="0"/>
            </a:p>
            <a:p>
              <a:pPr marL="680720" algn="l" rtl="0" eaLnBrk="0">
                <a:lnSpc>
                  <a:spcPct val="94000"/>
                </a:lnSpc>
              </a:pPr>
              <a:r>
                <a:rPr sz="2400" kern="0" spc="-2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什么是密码学</a:t>
              </a:r>
              <a:endParaRPr lang="en-US" altLang="en-US" sz="2400" dirty="0"/>
            </a:p>
          </p:txBody>
        </p:sp>
      </p:grpSp>
      <p:grpSp>
        <p:nvGrpSpPr>
          <p:cNvPr id="116" name="group 4"/>
          <p:cNvGrpSpPr/>
          <p:nvPr/>
        </p:nvGrpSpPr>
        <p:grpSpPr>
          <a:xfrm rot="21600000">
            <a:off x="3508248" y="1591055"/>
            <a:ext cx="5864351" cy="812291"/>
            <a:chOff x="0" y="0"/>
            <a:chExt cx="5864351" cy="812291"/>
          </a:xfrm>
        </p:grpSpPr>
        <p:pic>
          <p:nvPicPr>
            <p:cNvPr id="2097184" name="picture 16"/>
            <p:cNvPicPr>
              <a:picLocks noChangeAspect="1"/>
            </p:cNvPicPr>
            <p:nvPr/>
          </p:nvPicPr>
          <p:blipFill>
            <a:blip r:embed="rId2"/>
            <a:stretch>
              <a:fillRect/>
            </a:stretch>
          </p:blipFill>
          <p:spPr>
            <a:xfrm rot="21600000">
              <a:off x="0" y="0"/>
              <a:ext cx="5864351" cy="812291"/>
            </a:xfrm>
            <a:prstGeom prst="rect">
              <a:avLst/>
            </a:prstGeom>
          </p:spPr>
        </p:pic>
        <p:sp>
          <p:nvSpPr>
            <p:cNvPr id="1048867" name="textbox 18"/>
            <p:cNvSpPr/>
            <p:nvPr/>
          </p:nvSpPr>
          <p:spPr>
            <a:xfrm>
              <a:off x="-12700" y="-12700"/>
              <a:ext cx="5890259" cy="874394"/>
            </a:xfrm>
            <a:prstGeom prst="rect">
              <a:avLst/>
            </a:prstGeom>
          </p:spPr>
          <p:txBody>
            <a:bodyPr vert="horz" wrap="square" lIns="0" tIns="0" rIns="0" bIns="0"/>
            <a:p>
              <a:pPr algn="l" rtl="0" eaLnBrk="0">
                <a:lnSpc>
                  <a:spcPct val="167000"/>
                </a:lnSpc>
              </a:pPr>
              <a:endParaRPr lang="en-US" altLang="en-US" sz="1000" dirty="0"/>
            </a:p>
            <a:p>
              <a:pPr algn="l" rtl="0" eaLnBrk="0">
                <a:lnSpc>
                  <a:spcPct val="10000"/>
                </a:lnSpc>
              </a:pPr>
              <a:endParaRPr lang="en-US" altLang="en-US" sz="100" dirty="0"/>
            </a:p>
            <a:p>
              <a:pPr marL="678180" algn="l" rtl="0" eaLnBrk="0">
                <a:lnSpc>
                  <a:spcPct val="93000"/>
                </a:lnSpc>
              </a:pPr>
              <a:r>
                <a:rPr sz="2400" kern="0" spc="-1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信息安全的基本属性</a:t>
              </a:r>
              <a:endParaRPr lang="en-US" altLang="en-US" sz="2400" dirty="0"/>
            </a:p>
          </p:txBody>
        </p:sp>
      </p:grpSp>
      <p:grpSp>
        <p:nvGrpSpPr>
          <p:cNvPr id="117" name="group 6"/>
          <p:cNvGrpSpPr/>
          <p:nvPr/>
        </p:nvGrpSpPr>
        <p:grpSpPr>
          <a:xfrm rot="21600000">
            <a:off x="3831335" y="3849623"/>
            <a:ext cx="5541264" cy="812292"/>
            <a:chOff x="0" y="0"/>
            <a:chExt cx="5541264" cy="812292"/>
          </a:xfrm>
        </p:grpSpPr>
        <p:pic>
          <p:nvPicPr>
            <p:cNvPr id="2097185" name="picture 20"/>
            <p:cNvPicPr>
              <a:picLocks noChangeAspect="1"/>
            </p:cNvPicPr>
            <p:nvPr/>
          </p:nvPicPr>
          <p:blipFill>
            <a:blip r:embed="rId3"/>
            <a:stretch>
              <a:fillRect/>
            </a:stretch>
          </p:blipFill>
          <p:spPr>
            <a:xfrm rot="21600000">
              <a:off x="0" y="0"/>
              <a:ext cx="5541264" cy="812292"/>
            </a:xfrm>
            <a:prstGeom prst="rect">
              <a:avLst/>
            </a:prstGeom>
          </p:spPr>
        </p:pic>
        <p:sp>
          <p:nvSpPr>
            <p:cNvPr id="1048868" name="textbox 22"/>
            <p:cNvSpPr/>
            <p:nvPr/>
          </p:nvSpPr>
          <p:spPr>
            <a:xfrm>
              <a:off x="-12700" y="-12700"/>
              <a:ext cx="5567045" cy="876935"/>
            </a:xfrm>
            <a:prstGeom prst="rect">
              <a:avLst/>
            </a:prstGeom>
          </p:spPr>
          <p:txBody>
            <a:bodyPr vert="horz" wrap="square" lIns="0" tIns="0" rIns="0" bIns="0"/>
            <a:p>
              <a:pPr algn="l" rtl="0" eaLnBrk="0">
                <a:lnSpc>
                  <a:spcPct val="167000"/>
                </a:lnSpc>
              </a:pPr>
              <a:endParaRPr lang="en-US" altLang="en-US" sz="1000" dirty="0"/>
            </a:p>
            <a:p>
              <a:pPr algn="l" rtl="0" eaLnBrk="0">
                <a:lnSpc>
                  <a:spcPct val="7000"/>
                </a:lnSpc>
              </a:pPr>
              <a:endParaRPr lang="en-US" altLang="en-US" sz="100" dirty="0"/>
            </a:p>
            <a:p>
              <a:pPr marL="692785" algn="l" rtl="0" eaLnBrk="0">
                <a:lnSpc>
                  <a:spcPct val="94000"/>
                </a:lnSpc>
              </a:pPr>
              <a:r>
                <a:rPr sz="2400" kern="0" spc="-3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密码算法的分类</a:t>
              </a:r>
              <a:endParaRPr lang="en-US" altLang="en-US" sz="2400" dirty="0"/>
            </a:p>
          </p:txBody>
        </p:sp>
      </p:grpSp>
      <p:grpSp>
        <p:nvGrpSpPr>
          <p:cNvPr id="118" name="group 8"/>
          <p:cNvGrpSpPr/>
          <p:nvPr/>
        </p:nvGrpSpPr>
        <p:grpSpPr>
          <a:xfrm rot="21600000">
            <a:off x="3508248" y="4972811"/>
            <a:ext cx="5864351" cy="812291"/>
            <a:chOff x="0" y="0"/>
            <a:chExt cx="5864351" cy="812291"/>
          </a:xfrm>
        </p:grpSpPr>
        <p:pic>
          <p:nvPicPr>
            <p:cNvPr id="2097186" name="picture 24"/>
            <p:cNvPicPr>
              <a:picLocks noChangeAspect="1"/>
            </p:cNvPicPr>
            <p:nvPr/>
          </p:nvPicPr>
          <p:blipFill>
            <a:blip r:embed="rId4"/>
            <a:stretch>
              <a:fillRect/>
            </a:stretch>
          </p:blipFill>
          <p:spPr>
            <a:xfrm rot="21600000">
              <a:off x="0" y="0"/>
              <a:ext cx="5864351" cy="812291"/>
            </a:xfrm>
            <a:prstGeom prst="rect">
              <a:avLst/>
            </a:prstGeom>
          </p:spPr>
        </p:pic>
        <p:sp>
          <p:nvSpPr>
            <p:cNvPr id="1048869" name="textbox 26"/>
            <p:cNvSpPr/>
            <p:nvPr/>
          </p:nvSpPr>
          <p:spPr>
            <a:xfrm>
              <a:off x="-12700" y="-12700"/>
              <a:ext cx="5890259" cy="874394"/>
            </a:xfrm>
            <a:prstGeom prst="rect">
              <a:avLst/>
            </a:prstGeom>
          </p:spPr>
          <p:txBody>
            <a:bodyPr vert="horz" wrap="square" lIns="0" tIns="0" rIns="0" bIns="0"/>
            <a:p>
              <a:pPr algn="l" rtl="0" eaLnBrk="0">
                <a:lnSpc>
                  <a:spcPct val="168000"/>
                </a:lnSpc>
              </a:pPr>
              <a:endParaRPr lang="en-US" altLang="en-US" sz="1000" dirty="0"/>
            </a:p>
            <a:p>
              <a:pPr marL="694055" algn="l" rtl="0" eaLnBrk="0">
                <a:lnSpc>
                  <a:spcPct val="93000"/>
                </a:lnSpc>
                <a:spcBef>
                  <a:spcPts val="0"/>
                </a:spcBef>
              </a:pPr>
              <a:r>
                <a:rPr sz="2400" kern="0" spc="-2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密码学的作用和地位</a:t>
              </a:r>
              <a:endParaRPr lang="en-US" altLang="en-US" sz="2400" dirty="0"/>
            </a:p>
          </p:txBody>
        </p:sp>
      </p:grpSp>
      <p:grpSp>
        <p:nvGrpSpPr>
          <p:cNvPr id="119" name="group 10"/>
          <p:cNvGrpSpPr/>
          <p:nvPr/>
        </p:nvGrpSpPr>
        <p:grpSpPr>
          <a:xfrm rot="21600000">
            <a:off x="2564257" y="1351661"/>
            <a:ext cx="1824862" cy="4514214"/>
            <a:chOff x="0" y="0"/>
            <a:chExt cx="1824862" cy="4514214"/>
          </a:xfrm>
        </p:grpSpPr>
        <p:sp>
          <p:nvSpPr>
            <p:cNvPr id="1048870" name="path"/>
            <p:cNvSpPr/>
            <p:nvPr/>
          </p:nvSpPr>
          <p:spPr>
            <a:xfrm>
              <a:off x="0" y="0"/>
              <a:ext cx="1283479" cy="4498352"/>
            </a:xfrm>
            <a:custGeom>
              <a:avLst/>
              <a:gdLst/>
              <a:ahLst/>
              <a:cxnLst/>
              <a:rect l="0" t="0" r="0" b="0"/>
              <a:pathLst>
                <a:path w="2021" h="7084">
                  <a:moveTo>
                    <a:pt x="320" y="4"/>
                  </a:moveTo>
                  <a:cubicBezTo>
                    <a:pt x="2213" y="1448"/>
                    <a:pt x="2577" y="4153"/>
                    <a:pt x="1134" y="6046"/>
                  </a:cubicBezTo>
                  <a:cubicBezTo>
                    <a:pt x="822" y="6455"/>
                    <a:pt x="439" y="6805"/>
                    <a:pt x="4" y="7079"/>
                  </a:cubicBezTo>
                  <a:lnTo>
                    <a:pt x="4" y="7079"/>
                  </a:lnTo>
                  <a:cubicBezTo>
                    <a:pt x="2018" y="5810"/>
                    <a:pt x="2622" y="3148"/>
                    <a:pt x="1353" y="1134"/>
                  </a:cubicBezTo>
                  <a:cubicBezTo>
                    <a:pt x="1079" y="699"/>
                    <a:pt x="729" y="316"/>
                    <a:pt x="320" y="4"/>
                  </a:cubicBezTo>
                </a:path>
              </a:pathLst>
            </a:custGeom>
            <a:noFill/>
            <a:ln w="6096" cap="flat">
              <a:solidFill>
                <a:srgbClr val="477BA9">
                  <a:alpha val="100000"/>
                </a:srgbClr>
              </a:solidFill>
              <a:prstDash val="solid"/>
              <a:miter lim="1000000"/>
            </a:ln>
          </p:spPr>
          <p:txBody>
            <a:bodyPr rtlCol="0"/>
            <a:p>
              <a:pPr algn="ctr"/>
              <a:endParaRPr lang="zh-CN" altLang="en-US"/>
            </a:p>
          </p:txBody>
        </p:sp>
        <p:sp>
          <p:nvSpPr>
            <p:cNvPr id="1048871" name="path"/>
            <p:cNvSpPr/>
            <p:nvPr/>
          </p:nvSpPr>
          <p:spPr>
            <a:xfrm>
              <a:off x="436498" y="137286"/>
              <a:ext cx="1014984" cy="1016508"/>
            </a:xfrm>
            <a:custGeom>
              <a:avLst/>
              <a:gdLst/>
              <a:ahLst/>
              <a:cxnLst/>
              <a:rect l="0" t="0" r="0" b="0"/>
              <a:pathLst>
                <a:path w="1598" h="1600">
                  <a:moveTo>
                    <a:pt x="0" y="800"/>
                  </a:moveTo>
                  <a:cubicBezTo>
                    <a:pt x="0" y="358"/>
                    <a:pt x="357" y="0"/>
                    <a:pt x="799" y="0"/>
                  </a:cubicBezTo>
                  <a:cubicBezTo>
                    <a:pt x="1240" y="0"/>
                    <a:pt x="1598" y="358"/>
                    <a:pt x="1598" y="800"/>
                  </a:cubicBezTo>
                  <a:cubicBezTo>
                    <a:pt x="1598" y="1242"/>
                    <a:pt x="1240" y="1600"/>
                    <a:pt x="799" y="1600"/>
                  </a:cubicBezTo>
                  <a:cubicBezTo>
                    <a:pt x="357"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8872" name="path"/>
            <p:cNvSpPr/>
            <p:nvPr/>
          </p:nvSpPr>
          <p:spPr>
            <a:xfrm>
              <a:off x="433450" y="134238"/>
              <a:ext cx="1021080" cy="1022603"/>
            </a:xfrm>
            <a:custGeom>
              <a:avLst/>
              <a:gdLst/>
              <a:ahLst/>
              <a:cxnLst/>
              <a:rect l="0" t="0" r="0" b="0"/>
              <a:pathLst>
                <a:path w="1608" h="1610">
                  <a:moveTo>
                    <a:pt x="4" y="805"/>
                  </a:moveTo>
                  <a:cubicBezTo>
                    <a:pt x="4" y="363"/>
                    <a:pt x="362" y="4"/>
                    <a:pt x="804" y="4"/>
                  </a:cubicBezTo>
                  <a:cubicBezTo>
                    <a:pt x="1245" y="4"/>
                    <a:pt x="1603" y="363"/>
                    <a:pt x="1603" y="805"/>
                  </a:cubicBezTo>
                  <a:cubicBezTo>
                    <a:pt x="1603" y="1247"/>
                    <a:pt x="1245" y="1605"/>
                    <a:pt x="804" y="1605"/>
                  </a:cubicBezTo>
                  <a:cubicBezTo>
                    <a:pt x="362"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8873" name="path"/>
            <p:cNvSpPr/>
            <p:nvPr/>
          </p:nvSpPr>
          <p:spPr>
            <a:xfrm>
              <a:off x="758063" y="2427858"/>
              <a:ext cx="1016508"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8874" name="path"/>
            <p:cNvSpPr/>
            <p:nvPr/>
          </p:nvSpPr>
          <p:spPr>
            <a:xfrm>
              <a:off x="755015" y="2424810"/>
              <a:ext cx="1022603" cy="1022604"/>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8875" name="path"/>
            <p:cNvSpPr/>
            <p:nvPr/>
          </p:nvSpPr>
          <p:spPr>
            <a:xfrm>
              <a:off x="805306" y="1306194"/>
              <a:ext cx="1016508" cy="1014983"/>
            </a:xfrm>
            <a:custGeom>
              <a:avLst/>
              <a:gdLst/>
              <a:ahLst/>
              <a:cxnLst/>
              <a:rect l="0" t="0" r="0" b="0"/>
              <a:pathLst>
                <a:path w="1600" h="1598">
                  <a:moveTo>
                    <a:pt x="0" y="799"/>
                  </a:moveTo>
                  <a:cubicBezTo>
                    <a:pt x="0" y="357"/>
                    <a:pt x="358" y="0"/>
                    <a:pt x="800" y="0"/>
                  </a:cubicBezTo>
                  <a:cubicBezTo>
                    <a:pt x="1242" y="0"/>
                    <a:pt x="1600" y="357"/>
                    <a:pt x="1600" y="799"/>
                  </a:cubicBezTo>
                  <a:cubicBezTo>
                    <a:pt x="1600" y="1240"/>
                    <a:pt x="1242" y="1598"/>
                    <a:pt x="800" y="1598"/>
                  </a:cubicBezTo>
                  <a:cubicBezTo>
                    <a:pt x="358" y="1598"/>
                    <a:pt x="0" y="1240"/>
                    <a:pt x="0" y="799"/>
                  </a:cubicBezTo>
                </a:path>
              </a:pathLst>
            </a:custGeom>
            <a:solidFill>
              <a:srgbClr val="FFFFFF">
                <a:alpha val="100000"/>
              </a:srgbClr>
            </a:solidFill>
            <a:ln cap="flat">
              <a:noFill/>
              <a:prstDash val="solid"/>
              <a:miter lim="0"/>
            </a:ln>
          </p:spPr>
          <p:txBody>
            <a:bodyPr rtlCol="0"/>
            <a:p>
              <a:pPr algn="ctr"/>
              <a:endParaRPr lang="zh-CN" altLang="en-US"/>
            </a:p>
          </p:txBody>
        </p:sp>
        <p:sp>
          <p:nvSpPr>
            <p:cNvPr id="1048876" name="path"/>
            <p:cNvSpPr/>
            <p:nvPr/>
          </p:nvSpPr>
          <p:spPr>
            <a:xfrm>
              <a:off x="802258" y="1303146"/>
              <a:ext cx="1022603" cy="1021079"/>
            </a:xfrm>
            <a:custGeom>
              <a:avLst/>
              <a:gdLst/>
              <a:ahLst/>
              <a:cxnLst/>
              <a:rect l="0" t="0" r="0" b="0"/>
              <a:pathLst>
                <a:path w="1610" h="1607">
                  <a:moveTo>
                    <a:pt x="4" y="803"/>
                  </a:moveTo>
                  <a:cubicBezTo>
                    <a:pt x="4" y="362"/>
                    <a:pt x="363" y="4"/>
                    <a:pt x="805" y="4"/>
                  </a:cubicBezTo>
                  <a:cubicBezTo>
                    <a:pt x="1247" y="4"/>
                    <a:pt x="1605" y="362"/>
                    <a:pt x="1605" y="803"/>
                  </a:cubicBezTo>
                  <a:cubicBezTo>
                    <a:pt x="1605" y="1245"/>
                    <a:pt x="1247" y="1603"/>
                    <a:pt x="805" y="1603"/>
                  </a:cubicBezTo>
                  <a:cubicBezTo>
                    <a:pt x="363" y="1603"/>
                    <a:pt x="4" y="1245"/>
                    <a:pt x="4" y="803"/>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8877" name="path"/>
            <p:cNvSpPr/>
            <p:nvPr/>
          </p:nvSpPr>
          <p:spPr>
            <a:xfrm>
              <a:off x="250570" y="3494658"/>
              <a:ext cx="1016507"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8878" name="path"/>
            <p:cNvSpPr/>
            <p:nvPr/>
          </p:nvSpPr>
          <p:spPr>
            <a:xfrm>
              <a:off x="247522" y="3491610"/>
              <a:ext cx="1022603"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8879" name="textbox 46"/>
          <p:cNvSpPr/>
          <p:nvPr/>
        </p:nvSpPr>
        <p:spPr>
          <a:xfrm>
            <a:off x="2745896" y="488157"/>
            <a:ext cx="4671059" cy="485775"/>
          </a:xfrm>
          <a:prstGeom prst="rect">
            <a:avLst/>
          </a:prstGeom>
        </p:spPr>
        <p:txBody>
          <a:bodyPr vert="horz" wrap="square" lIns="0" tIns="0" rIns="0" bIns="0"/>
          <a:p>
            <a:pPr algn="l" rtl="0" eaLnBrk="0">
              <a:lnSpc>
                <a:spcPct val="94000"/>
              </a:lnSpc>
            </a:pPr>
            <a:endParaRPr lang="en-US" altLang="en-US" sz="100" dirty="0"/>
          </a:p>
          <a:p>
            <a:pPr marL="12700" algn="l" rtl="0" eaLnBrk="0">
              <a:lnSpc>
                <a:spcPct val="94000"/>
              </a:lnSpc>
            </a:pPr>
            <a:r>
              <a:rPr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第一讲</a:t>
            </a:r>
            <a:r>
              <a:rPr sz="3200" kern="0" spc="42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密码学的基本概念</a:t>
            </a:r>
            <a:endParaRPr lang="en-US" altLang="en-US" sz="3200" dirty="0"/>
          </a:p>
        </p:txBody>
      </p:sp>
      <p:sp>
        <p:nvSpPr>
          <p:cNvPr id="1048880"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187" name="picture 52"/>
          <p:cNvPicPr>
            <a:picLocks noChangeAspect="1"/>
          </p:cNvPicPr>
          <p:nvPr/>
        </p:nvPicPr>
        <p:blipFill>
          <a:blip r:embed="rId5"/>
          <a:stretch>
            <a:fillRect/>
          </a:stretch>
        </p:blipFill>
        <p:spPr>
          <a:xfrm rot="21600000">
            <a:off x="824483" y="408431"/>
            <a:ext cx="419100" cy="655320"/>
          </a:xfrm>
          <a:prstGeom prst="rect">
            <a:avLst/>
          </a:prstGeom>
        </p:spPr>
      </p:pic>
      <p:sp>
        <p:nvSpPr>
          <p:cNvPr id="1048881"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22" name=""/>
        <p:cNvGrpSpPr/>
        <p:nvPr/>
      </p:nvGrpSpPr>
      <p:grpSpPr>
        <a:xfrm>
          <a:off x="0" y="0"/>
          <a:ext cx="0" cy="0"/>
          <a:chOff x="0" y="0"/>
          <a:chExt cx="0" cy="0"/>
        </a:xfrm>
      </p:grpSpPr>
      <p:sp>
        <p:nvSpPr>
          <p:cNvPr id="1048884" name="textbox 148"/>
          <p:cNvSpPr/>
          <p:nvPr/>
        </p:nvSpPr>
        <p:spPr>
          <a:xfrm>
            <a:off x="1990130" y="1314472"/>
            <a:ext cx="8349615" cy="3939540"/>
          </a:xfrm>
          <a:prstGeom prst="rect">
            <a:avLst/>
          </a:prstGeom>
        </p:spPr>
        <p:txBody>
          <a:bodyPr vert="horz" wrap="square" lIns="0" tIns="0" rIns="0" bIns="0"/>
          <a:p>
            <a:pPr algn="l" rtl="0" eaLnBrk="0">
              <a:lnSpc>
                <a:spcPct val="83000"/>
              </a:lnSpc>
            </a:pPr>
            <a:endParaRPr lang="en-US" altLang="en-US" sz="100" dirty="0"/>
          </a:p>
          <a:p>
            <a:pPr marL="12700" algn="l" rtl="0" eaLnBrk="0">
              <a:lnSpc>
                <a:spcPts val="3335"/>
              </a:lnSpc>
            </a:pPr>
            <a:r>
              <a:rPr sz="2700" kern="0" spc="30" dirty="0">
                <a:solidFill>
                  <a:srgbClr val="000000">
                    <a:alpha val="100000"/>
                  </a:srgbClr>
                </a:solidFill>
                <a:latin typeface="Arial" panose="020B0604020202020204"/>
                <a:ea typeface="Arial" panose="020B0604020202020204"/>
                <a:cs typeface="Arial" panose="020B0604020202020204"/>
              </a:rPr>
              <a:t>•</a:t>
            </a:r>
            <a:r>
              <a:rPr sz="2700" kern="0" spc="410" dirty="0">
                <a:solidFill>
                  <a:srgbClr val="000000">
                    <a:alpha val="100000"/>
                  </a:srgbClr>
                </a:solidFill>
                <a:latin typeface="Arial" panose="020B0604020202020204"/>
                <a:ea typeface="Arial" panose="020B0604020202020204"/>
                <a:cs typeface="Arial" panose="020B0604020202020204"/>
              </a:rPr>
              <a:t> </a:t>
            </a:r>
            <a:r>
              <a:rPr sz="2700" kern="0" spc="3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密码学能做什么？</a:t>
            </a:r>
            <a:endParaRPr lang="en-US" altLang="en-US" sz="2700" dirty="0"/>
          </a:p>
          <a:p>
            <a:pPr marL="466725" algn="l" rtl="0" eaLnBrk="0">
              <a:lnSpc>
                <a:spcPct val="99000"/>
              </a:lnSpc>
              <a:spcBef>
                <a:spcPts val="455"/>
              </a:spcBef>
            </a:pPr>
            <a:r>
              <a:rPr sz="2400" kern="0" spc="-50" dirty="0">
                <a:solidFill>
                  <a:srgbClr val="FF0000">
                    <a:alpha val="100000"/>
                  </a:srgbClr>
                </a:solidFill>
                <a:latin typeface="Arial" panose="020B0604020202020204"/>
                <a:ea typeface="Arial" panose="020B0604020202020204"/>
                <a:cs typeface="Arial" panose="020B0604020202020204"/>
              </a:rPr>
              <a:t>•</a:t>
            </a:r>
            <a:r>
              <a:rPr sz="2400" kern="0" spc="460" dirty="0">
                <a:solidFill>
                  <a:srgbClr val="FF0000">
                    <a:alpha val="100000"/>
                  </a:srgbClr>
                </a:solidFill>
                <a:latin typeface="Arial" panose="020B0604020202020204"/>
                <a:ea typeface="Arial" panose="020B0604020202020204"/>
                <a:cs typeface="Arial" panose="020B0604020202020204"/>
              </a:rPr>
              <a:t> </a:t>
            </a:r>
            <a:r>
              <a:rPr sz="2400" kern="0" spc="-50" dirty="0">
                <a:ln w="8708"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机密性：</a:t>
            </a:r>
            <a:r>
              <a:rPr sz="2400" kern="0" spc="-50" dirty="0">
                <a:solidFill>
                  <a:srgbClr val="FF0000">
                    <a:alpha val="100000"/>
                  </a:srgbClr>
                </a:solidFill>
                <a:latin typeface="仿宋" panose="02010609060101010101" charset="-122"/>
                <a:ea typeface="仿宋" panose="02010609060101010101" charset="-122"/>
                <a:cs typeface="仿宋" panose="02010609060101010101" charset="-122"/>
              </a:rPr>
              <a:t> </a:t>
            </a:r>
            <a:r>
              <a:rPr sz="2400" kern="0" spc="-5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如何使得某个数据自己能看懂，别人看不懂</a:t>
            </a:r>
            <a:endParaRPr lang="en-US" altLang="en-US" sz="2400" dirty="0"/>
          </a:p>
          <a:p>
            <a:pPr marL="705485" indent="-238760" algn="l" rtl="0" eaLnBrk="0">
              <a:lnSpc>
                <a:spcPct val="97000"/>
              </a:lnSpc>
              <a:spcBef>
                <a:spcPts val="510"/>
              </a:spcBef>
            </a:pPr>
            <a:r>
              <a:rPr sz="2400" kern="0" spc="-40" dirty="0">
                <a:solidFill>
                  <a:srgbClr val="FF0000">
                    <a:alpha val="100000"/>
                  </a:srgbClr>
                </a:solidFill>
                <a:latin typeface="Arial" panose="020B0604020202020204"/>
                <a:ea typeface="Arial" panose="020B0604020202020204"/>
                <a:cs typeface="Arial" panose="020B0604020202020204"/>
              </a:rPr>
              <a:t>•</a:t>
            </a:r>
            <a:r>
              <a:rPr sz="2400" kern="0" spc="460" dirty="0">
                <a:solidFill>
                  <a:srgbClr val="FF0000">
                    <a:alpha val="100000"/>
                  </a:srgbClr>
                </a:solidFill>
                <a:latin typeface="Arial" panose="020B0604020202020204"/>
                <a:ea typeface="Arial" panose="020B0604020202020204"/>
                <a:cs typeface="Arial" panose="020B0604020202020204"/>
              </a:rPr>
              <a:t> </a:t>
            </a:r>
            <a:r>
              <a:rPr sz="2400" kern="0" spc="-40" dirty="0">
                <a:ln w="8708"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认证：</a:t>
            </a:r>
            <a:r>
              <a:rPr sz="2400" kern="0" spc="-40" dirty="0">
                <a:solidFill>
                  <a:srgbClr val="FF0000">
                    <a:alpha val="100000"/>
                  </a:srgbClr>
                </a:solidFill>
                <a:latin typeface="仿宋" panose="02010609060101010101" charset="-122"/>
                <a:ea typeface="仿宋" panose="02010609060101010101" charset="-122"/>
                <a:cs typeface="仿宋" panose="02010609060101010101" charset="-122"/>
              </a:rPr>
              <a:t> </a:t>
            </a:r>
            <a:r>
              <a:rPr sz="2400" kern="0" spc="-4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如何确保数据的正</a:t>
            </a:r>
            <a:r>
              <a:rPr sz="2400" kern="0" spc="-5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确来源，如何保证通信实体的真</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6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实性</a:t>
            </a:r>
            <a:endParaRPr lang="en-US" altLang="en-US" sz="2400" dirty="0"/>
          </a:p>
          <a:p>
            <a:pPr marL="466725" algn="l" rtl="0" eaLnBrk="0">
              <a:lnSpc>
                <a:spcPct val="99000"/>
              </a:lnSpc>
              <a:spcBef>
                <a:spcPts val="680"/>
              </a:spcBef>
            </a:pPr>
            <a:r>
              <a:rPr sz="2400" kern="0" spc="-60" dirty="0">
                <a:solidFill>
                  <a:srgbClr val="FF0000">
                    <a:alpha val="100000"/>
                  </a:srgbClr>
                </a:solidFill>
                <a:latin typeface="Arial" panose="020B0604020202020204"/>
                <a:ea typeface="Arial" panose="020B0604020202020204"/>
                <a:cs typeface="Arial" panose="020B0604020202020204"/>
              </a:rPr>
              <a:t>•</a:t>
            </a:r>
            <a:r>
              <a:rPr sz="2400" kern="0" spc="570" dirty="0">
                <a:solidFill>
                  <a:srgbClr val="FF0000">
                    <a:alpha val="100000"/>
                  </a:srgbClr>
                </a:solidFill>
                <a:latin typeface="Arial" panose="020B0604020202020204"/>
                <a:ea typeface="Arial" panose="020B0604020202020204"/>
                <a:cs typeface="Arial" panose="020B0604020202020204"/>
              </a:rPr>
              <a:t> </a:t>
            </a:r>
            <a:r>
              <a:rPr sz="2400" kern="0" spc="-60" dirty="0">
                <a:ln w="8708"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完整性：</a:t>
            </a:r>
            <a:r>
              <a:rPr sz="2400" kern="0" spc="-60" dirty="0">
                <a:solidFill>
                  <a:srgbClr val="FF0000">
                    <a:alpha val="100000"/>
                  </a:srgbClr>
                </a:solidFill>
                <a:latin typeface="仿宋" panose="02010609060101010101" charset="-122"/>
                <a:ea typeface="仿宋" panose="02010609060101010101" charset="-122"/>
                <a:cs typeface="仿宋" panose="02010609060101010101" charset="-122"/>
              </a:rPr>
              <a:t> </a:t>
            </a:r>
            <a:r>
              <a:rPr sz="2400" kern="0" spc="-6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如何确保数据在传输过程中没有被删改</a:t>
            </a:r>
            <a:endParaRPr lang="en-US" altLang="en-US" sz="2400" dirty="0"/>
          </a:p>
          <a:p>
            <a:pPr marL="466725" algn="l" rtl="0" eaLnBrk="0">
              <a:lnSpc>
                <a:spcPct val="99000"/>
              </a:lnSpc>
              <a:spcBef>
                <a:spcPts val="540"/>
              </a:spcBef>
            </a:pPr>
            <a:r>
              <a:rPr sz="2400" kern="0" spc="-100" dirty="0">
                <a:solidFill>
                  <a:srgbClr val="FF0000">
                    <a:alpha val="100000"/>
                  </a:srgbClr>
                </a:solidFill>
                <a:latin typeface="Arial" panose="020B0604020202020204"/>
                <a:ea typeface="Arial" panose="020B0604020202020204"/>
                <a:cs typeface="Arial" panose="020B0604020202020204"/>
              </a:rPr>
              <a:t>•</a:t>
            </a:r>
            <a:r>
              <a:rPr sz="2400" kern="0" spc="550" dirty="0">
                <a:solidFill>
                  <a:srgbClr val="FF0000">
                    <a:alpha val="100000"/>
                  </a:srgbClr>
                </a:solidFill>
                <a:latin typeface="Arial" panose="020B0604020202020204"/>
                <a:ea typeface="Arial" panose="020B0604020202020204"/>
                <a:cs typeface="Arial" panose="020B0604020202020204"/>
              </a:rPr>
              <a:t> </a:t>
            </a:r>
            <a:r>
              <a:rPr sz="2400" kern="0" spc="-100" dirty="0">
                <a:ln w="8708"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不可否认性：</a:t>
            </a:r>
            <a:r>
              <a:rPr sz="2400" kern="0" spc="730" dirty="0">
                <a:solidFill>
                  <a:srgbClr val="FF0000">
                    <a:alpha val="100000"/>
                  </a:srgbClr>
                </a:solidFill>
                <a:latin typeface="仿宋" panose="02010609060101010101" charset="-122"/>
                <a:ea typeface="仿宋" panose="02010609060101010101" charset="-122"/>
                <a:cs typeface="仿宋" panose="02010609060101010101" charset="-122"/>
              </a:rPr>
              <a:t> </a:t>
            </a:r>
            <a:r>
              <a:rPr sz="2400" kern="0" spc="-10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如何确保用户行为的不可否认性</a:t>
            </a:r>
            <a:endParaRPr lang="en-US" altLang="en-US" sz="2400" dirty="0"/>
          </a:p>
          <a:p>
            <a:pPr marL="466725" indent="-454025" algn="l" rtl="0" eaLnBrk="0">
              <a:lnSpc>
                <a:spcPct val="109000"/>
              </a:lnSpc>
              <a:spcBef>
                <a:spcPts val="1090"/>
              </a:spcBef>
            </a:pPr>
            <a:r>
              <a:rPr sz="2700" kern="0" spc="30" dirty="0">
                <a:solidFill>
                  <a:srgbClr val="000000">
                    <a:alpha val="100000"/>
                  </a:srgbClr>
                </a:solidFill>
                <a:latin typeface="Arial" panose="020B0604020202020204"/>
                <a:ea typeface="Arial" panose="020B0604020202020204"/>
                <a:cs typeface="Arial" panose="020B0604020202020204"/>
              </a:rPr>
              <a:t>•</a:t>
            </a:r>
            <a:r>
              <a:rPr sz="2700" kern="0" spc="370" dirty="0">
                <a:solidFill>
                  <a:srgbClr val="000000">
                    <a:alpha val="100000"/>
                  </a:srgbClr>
                </a:solidFill>
                <a:latin typeface="Arial" panose="020B0604020202020204"/>
                <a:ea typeface="Arial" panose="020B0604020202020204"/>
                <a:cs typeface="Arial" panose="020B0604020202020204"/>
              </a:rPr>
              <a:t> </a:t>
            </a:r>
            <a:r>
              <a:rPr sz="2700" kern="0" spc="3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功能如何实现</a:t>
            </a:r>
            <a:r>
              <a:rPr sz="27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80" dirty="0">
                <a:solidFill>
                  <a:srgbClr val="000000">
                    <a:alpha val="100000"/>
                  </a:srgbClr>
                </a:solidFill>
                <a:latin typeface="Arial" panose="020B0604020202020204"/>
                <a:ea typeface="Arial" panose="020B0604020202020204"/>
                <a:cs typeface="Arial" panose="020B0604020202020204"/>
              </a:rPr>
              <a:t>•</a:t>
            </a:r>
            <a:r>
              <a:rPr sz="2400" kern="0" spc="470" dirty="0">
                <a:solidFill>
                  <a:srgbClr val="000000">
                    <a:alpha val="100000"/>
                  </a:srgbClr>
                </a:solidFill>
                <a:latin typeface="Arial" panose="020B0604020202020204"/>
                <a:ea typeface="Arial" panose="020B0604020202020204"/>
                <a:cs typeface="Arial" panose="020B0604020202020204"/>
              </a:rPr>
              <a:t> </a:t>
            </a:r>
            <a:r>
              <a:rPr sz="2400" kern="0" spc="-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算法</a:t>
            </a:r>
            <a:endParaRPr lang="en-US" altLang="en-US" sz="2400" dirty="0"/>
          </a:p>
          <a:p>
            <a:pPr marL="466725" algn="l" rtl="0" eaLnBrk="0">
              <a:lnSpc>
                <a:spcPct val="100000"/>
              </a:lnSpc>
              <a:spcBef>
                <a:spcPts val="515"/>
              </a:spcBef>
            </a:pPr>
            <a:r>
              <a:rPr sz="2400" kern="0" spc="-80" dirty="0">
                <a:solidFill>
                  <a:srgbClr val="000000">
                    <a:alpha val="100000"/>
                  </a:srgbClr>
                </a:solidFill>
                <a:latin typeface="Arial" panose="020B0604020202020204"/>
                <a:ea typeface="Arial" panose="020B0604020202020204"/>
                <a:cs typeface="Arial" panose="020B0604020202020204"/>
              </a:rPr>
              <a:t>•</a:t>
            </a:r>
            <a:r>
              <a:rPr sz="2400" kern="0" spc="480" dirty="0">
                <a:solidFill>
                  <a:srgbClr val="000000">
                    <a:alpha val="100000"/>
                  </a:srgbClr>
                </a:solidFill>
                <a:latin typeface="Arial" panose="020B0604020202020204"/>
                <a:ea typeface="Arial" panose="020B0604020202020204"/>
                <a:cs typeface="Arial" panose="020B0604020202020204"/>
              </a:rPr>
              <a:t> </a:t>
            </a:r>
            <a:r>
              <a:rPr sz="2400" kern="0" spc="-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协议</a:t>
            </a:r>
            <a:endParaRPr lang="en-US" altLang="en-US" sz="2400" dirty="0"/>
          </a:p>
        </p:txBody>
      </p:sp>
      <p:sp>
        <p:nvSpPr>
          <p:cNvPr id="1048885" name="textbox 150"/>
          <p:cNvSpPr/>
          <p:nvPr/>
        </p:nvSpPr>
        <p:spPr>
          <a:xfrm>
            <a:off x="1574304" y="488157"/>
            <a:ext cx="2637154" cy="485775"/>
          </a:xfrm>
          <a:prstGeom prst="rect">
            <a:avLst/>
          </a:prstGeom>
        </p:spPr>
        <p:txBody>
          <a:bodyPr vert="horz" wrap="square" lIns="0" tIns="0" rIns="0" bIns="0"/>
          <a:p>
            <a:pPr algn="l" rtl="0" eaLnBrk="0">
              <a:lnSpc>
                <a:spcPct val="94000"/>
              </a:lnSpc>
            </a:pPr>
            <a:endParaRPr lang="en-US" altLang="en-US" sz="100" dirty="0"/>
          </a:p>
          <a:p>
            <a:pPr algn="r" rtl="0" eaLnBrk="0">
              <a:lnSpc>
                <a:spcPct val="94000"/>
              </a:lnSpc>
            </a:pPr>
            <a:r>
              <a:rPr sz="3200" kern="0" spc="-27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什么是密码学？</a:t>
            </a:r>
            <a:endParaRPr lang="en-US" altLang="en-US" sz="3200" dirty="0"/>
          </a:p>
        </p:txBody>
      </p:sp>
      <p:sp>
        <p:nvSpPr>
          <p:cNvPr id="1048886"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188" name="picture 156"/>
          <p:cNvPicPr>
            <a:picLocks noChangeAspect="1"/>
          </p:cNvPicPr>
          <p:nvPr/>
        </p:nvPicPr>
        <p:blipFill>
          <a:blip r:embed="rId1"/>
          <a:stretch>
            <a:fillRect/>
          </a:stretch>
        </p:blipFill>
        <p:spPr>
          <a:xfrm rot="21600000">
            <a:off x="824483" y="408431"/>
            <a:ext cx="419100" cy="655320"/>
          </a:xfrm>
          <a:prstGeom prst="rect">
            <a:avLst/>
          </a:prstGeom>
        </p:spPr>
      </p:pic>
      <p:sp>
        <p:nvSpPr>
          <p:cNvPr id="1048887"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25" name=""/>
        <p:cNvGrpSpPr/>
        <p:nvPr/>
      </p:nvGrpSpPr>
      <p:grpSpPr>
        <a:xfrm>
          <a:off x="0" y="0"/>
          <a:ext cx="0" cy="0"/>
          <a:chOff x="0" y="0"/>
          <a:chExt cx="0" cy="0"/>
        </a:xfrm>
      </p:grpSpPr>
      <p:sp>
        <p:nvSpPr>
          <p:cNvPr id="1048890" name="textbox 160"/>
          <p:cNvSpPr/>
          <p:nvPr/>
        </p:nvSpPr>
        <p:spPr>
          <a:xfrm>
            <a:off x="2274130" y="1604040"/>
            <a:ext cx="5673725" cy="3487420"/>
          </a:xfrm>
          <a:prstGeom prst="rect">
            <a:avLst/>
          </a:prstGeom>
        </p:spPr>
        <p:txBody>
          <a:bodyPr vert="horz" wrap="square" lIns="0" tIns="0" rIns="0" bIns="0"/>
          <a:p>
            <a:pPr algn="l" rtl="0" eaLnBrk="0">
              <a:lnSpc>
                <a:spcPct val="88000"/>
              </a:lnSpc>
            </a:pPr>
            <a:endParaRPr lang="en-US" altLang="en-US" sz="100" dirty="0"/>
          </a:p>
          <a:p>
            <a:pPr marL="12700" algn="l" rtl="0" eaLnBrk="0">
              <a:lnSpc>
                <a:spcPct val="97000"/>
              </a:lnSpc>
            </a:pPr>
            <a:r>
              <a:rPr sz="2700" kern="0" spc="5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基本概念</a:t>
            </a:r>
            <a:endParaRPr lang="en-US" altLang="en-US" sz="2700" dirty="0"/>
          </a:p>
          <a:p>
            <a:pPr algn="l" rtl="0" eaLnBrk="0">
              <a:lnSpc>
                <a:spcPct val="123000"/>
              </a:lnSpc>
            </a:pPr>
            <a:endParaRPr lang="en-US" altLang="en-US" sz="1000" dirty="0"/>
          </a:p>
          <a:p>
            <a:pPr marL="462280" algn="l" rtl="0" eaLnBrk="0">
              <a:lnSpc>
                <a:spcPct val="100000"/>
              </a:lnSpc>
              <a:spcBef>
                <a:spcPts val="730"/>
              </a:spcBef>
            </a:pPr>
            <a:r>
              <a:rPr sz="2400" kern="0" spc="-50" dirty="0">
                <a:solidFill>
                  <a:srgbClr val="000000">
                    <a:alpha val="100000"/>
                  </a:srgbClr>
                </a:solidFill>
                <a:latin typeface="Arial" panose="020B0604020202020204"/>
                <a:ea typeface="Arial" panose="020B0604020202020204"/>
                <a:cs typeface="Arial" panose="020B0604020202020204"/>
              </a:rPr>
              <a:t>•</a:t>
            </a:r>
            <a:r>
              <a:rPr sz="2400" kern="0" spc="630" dirty="0">
                <a:solidFill>
                  <a:srgbClr val="000000">
                    <a:alpha val="100000"/>
                  </a:srgbClr>
                </a:solidFill>
                <a:latin typeface="Arial" panose="020B0604020202020204"/>
                <a:ea typeface="Arial" panose="020B0604020202020204"/>
                <a:cs typeface="Arial" panose="020B0604020202020204"/>
              </a:rPr>
              <a:t> </a:t>
            </a:r>
            <a:r>
              <a:rPr sz="2400" kern="0" spc="-5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明文</a:t>
            </a:r>
            <a:r>
              <a:rPr sz="2400" kern="0" spc="29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50" dirty="0">
                <a:solidFill>
                  <a:srgbClr val="000000">
                    <a:alpha val="100000"/>
                  </a:srgbClr>
                </a:solidFill>
                <a:latin typeface="Times New Roman" panose="02020603050405020304"/>
                <a:ea typeface="Times New Roman" panose="02020603050405020304"/>
                <a:cs typeface="Times New Roman" panose="02020603050405020304"/>
              </a:rPr>
              <a:t>——</a:t>
            </a:r>
            <a:r>
              <a:rPr sz="2400" b="1" kern="0" spc="-400" dirty="0">
                <a:solidFill>
                  <a:srgbClr val="000000">
                    <a:alpha val="100000"/>
                  </a:srgbClr>
                </a:solidFill>
                <a:latin typeface="Times New Roman" panose="02020603050405020304"/>
                <a:ea typeface="Times New Roman" panose="02020603050405020304"/>
                <a:cs typeface="Times New Roman" panose="02020603050405020304"/>
              </a:rPr>
              <a:t> </a:t>
            </a:r>
            <a:r>
              <a:rPr sz="2400" kern="0" spc="-5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要处理的数据</a:t>
            </a:r>
            <a:endParaRPr lang="en-US" altLang="en-US" sz="2400" dirty="0"/>
          </a:p>
          <a:p>
            <a:pPr algn="l" rtl="0" eaLnBrk="0">
              <a:lnSpc>
                <a:spcPct val="101000"/>
              </a:lnSpc>
            </a:pPr>
            <a:endParaRPr lang="en-US" altLang="en-US" sz="1000" dirty="0"/>
          </a:p>
          <a:p>
            <a:pPr marL="462280" algn="l" rtl="0" eaLnBrk="0">
              <a:lnSpc>
                <a:spcPct val="100000"/>
              </a:lnSpc>
              <a:spcBef>
                <a:spcPts val="720"/>
              </a:spcBef>
            </a:pPr>
            <a:r>
              <a:rPr sz="2400" kern="0" spc="-30" dirty="0">
                <a:solidFill>
                  <a:srgbClr val="000000">
                    <a:alpha val="100000"/>
                  </a:srgbClr>
                </a:solidFill>
                <a:latin typeface="Arial" panose="020B0604020202020204"/>
                <a:ea typeface="Arial" panose="020B0604020202020204"/>
                <a:cs typeface="Arial" panose="020B0604020202020204"/>
              </a:rPr>
              <a:t>•</a:t>
            </a:r>
            <a:r>
              <a:rPr sz="2400" kern="0" spc="640" dirty="0">
                <a:solidFill>
                  <a:srgbClr val="000000">
                    <a:alpha val="100000"/>
                  </a:srgbClr>
                </a:solidFill>
                <a:latin typeface="Arial" panose="020B0604020202020204"/>
                <a:ea typeface="Arial" panose="020B0604020202020204"/>
                <a:cs typeface="Arial" panose="020B0604020202020204"/>
              </a:rPr>
              <a:t> </a:t>
            </a:r>
            <a:r>
              <a:rPr sz="2400" kern="0" spc="-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密文</a:t>
            </a:r>
            <a:r>
              <a:rPr sz="2400" kern="0" spc="-3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处理后的数据</a:t>
            </a:r>
            <a:endParaRPr lang="en-US" altLang="en-US" sz="2400" dirty="0"/>
          </a:p>
          <a:p>
            <a:pPr algn="l" rtl="0" eaLnBrk="0">
              <a:lnSpc>
                <a:spcPct val="102000"/>
              </a:lnSpc>
            </a:pPr>
            <a:endParaRPr lang="en-US" altLang="en-US" sz="1000" dirty="0"/>
          </a:p>
          <a:p>
            <a:pPr marL="462280" algn="l" rtl="0" eaLnBrk="0">
              <a:lnSpc>
                <a:spcPct val="100000"/>
              </a:lnSpc>
              <a:spcBef>
                <a:spcPts val="720"/>
              </a:spcBef>
            </a:pPr>
            <a:r>
              <a:rPr sz="2400" kern="0" spc="-30" dirty="0">
                <a:solidFill>
                  <a:srgbClr val="000000">
                    <a:alpha val="100000"/>
                  </a:srgbClr>
                </a:solidFill>
                <a:latin typeface="Arial" panose="020B0604020202020204"/>
                <a:ea typeface="Arial" panose="020B0604020202020204"/>
                <a:cs typeface="Arial" panose="020B0604020202020204"/>
              </a:rPr>
              <a:t>•</a:t>
            </a:r>
            <a:r>
              <a:rPr sz="2400" kern="0" spc="570" dirty="0">
                <a:solidFill>
                  <a:srgbClr val="000000">
                    <a:alpha val="100000"/>
                  </a:srgbClr>
                </a:solidFill>
                <a:latin typeface="Arial" panose="020B0604020202020204"/>
                <a:ea typeface="Arial" panose="020B0604020202020204"/>
                <a:cs typeface="Arial" panose="020B0604020202020204"/>
              </a:rPr>
              <a:t> </a:t>
            </a:r>
            <a:r>
              <a:rPr sz="2400" kern="0" spc="-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密钥</a:t>
            </a:r>
            <a:r>
              <a:rPr sz="2400" kern="0" spc="-3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30" dirty="0">
                <a:solidFill>
                  <a:srgbClr val="000000">
                    <a:alpha val="100000"/>
                  </a:srgbClr>
                </a:solidFill>
                <a:latin typeface="Times New Roman" panose="02020603050405020304"/>
                <a:ea typeface="Times New Roman" panose="02020603050405020304"/>
                <a:cs typeface="Times New Roman" panose="02020603050405020304"/>
              </a:rPr>
              <a:t>——</a:t>
            </a:r>
            <a:r>
              <a:rPr sz="2400" kern="0" spc="-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秘密参数</a:t>
            </a:r>
            <a:endParaRPr lang="en-US" altLang="en-US" sz="2400" dirty="0"/>
          </a:p>
          <a:p>
            <a:pPr algn="l" rtl="0" eaLnBrk="0">
              <a:lnSpc>
                <a:spcPct val="100000"/>
              </a:lnSpc>
            </a:pPr>
            <a:endParaRPr lang="en-US" altLang="en-US" sz="1000" dirty="0"/>
          </a:p>
          <a:p>
            <a:pPr marL="462280" algn="l" rtl="0" eaLnBrk="0">
              <a:lnSpc>
                <a:spcPct val="98000"/>
              </a:lnSpc>
              <a:spcBef>
                <a:spcPts val="730"/>
              </a:spcBef>
            </a:pPr>
            <a:r>
              <a:rPr sz="2300" kern="0" spc="-30" dirty="0">
                <a:solidFill>
                  <a:srgbClr val="000000">
                    <a:alpha val="100000"/>
                  </a:srgbClr>
                </a:solidFill>
                <a:latin typeface="Arial" panose="020B0604020202020204"/>
                <a:ea typeface="Arial" panose="020B0604020202020204"/>
                <a:cs typeface="Arial" panose="020B0604020202020204"/>
              </a:rPr>
              <a:t>•</a:t>
            </a:r>
            <a:r>
              <a:rPr sz="2300" kern="0" spc="460" dirty="0">
                <a:solidFill>
                  <a:srgbClr val="000000">
                    <a:alpha val="100000"/>
                  </a:srgbClr>
                </a:solidFill>
                <a:latin typeface="Arial" panose="020B0604020202020204"/>
                <a:ea typeface="Arial" panose="020B0604020202020204"/>
                <a:cs typeface="Arial" panose="020B0604020202020204"/>
              </a:rPr>
              <a:t> </a:t>
            </a:r>
            <a:r>
              <a:rPr sz="2300" kern="0" spc="-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加密函数：</a:t>
            </a:r>
            <a:r>
              <a:rPr sz="2300" kern="0" spc="-30" dirty="0">
                <a:solidFill>
                  <a:srgbClr val="000000">
                    <a:alpha val="100000"/>
                  </a:srgbClr>
                </a:solidFill>
                <a:latin typeface="仿宋" panose="02010609060101010101" charset="-122"/>
                <a:ea typeface="仿宋" panose="02010609060101010101" charset="-122"/>
                <a:cs typeface="仿宋" panose="02010609060101010101" charset="-122"/>
              </a:rPr>
              <a:t>            </a:t>
            </a:r>
            <a:r>
              <a:rPr sz="3400" kern="0" spc="-30" baseline="500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或</a:t>
            </a:r>
            <a:r>
              <a:rPr sz="2200" kern="0" spc="-58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40" dirty="0">
                <a:solidFill>
                  <a:srgbClr val="000000">
                    <a:alpha val="100000"/>
                  </a:srgbClr>
                </a:solidFill>
                <a:latin typeface="Arial" panose="020B0604020202020204"/>
                <a:ea typeface="Arial" panose="020B0604020202020204"/>
                <a:cs typeface="Arial" panose="020B0604020202020204"/>
              </a:rPr>
              <a:t>C</a:t>
            </a:r>
            <a:r>
              <a:rPr sz="2400" kern="0" spc="130" dirty="0">
                <a:solidFill>
                  <a:srgbClr val="000000">
                    <a:alpha val="100000"/>
                  </a:srgbClr>
                </a:solidFill>
                <a:latin typeface="Arial" panose="020B0604020202020204"/>
                <a:ea typeface="Arial" panose="020B0604020202020204"/>
                <a:cs typeface="Arial" panose="020B0604020202020204"/>
              </a:rPr>
              <a:t> </a:t>
            </a:r>
            <a:r>
              <a:rPr sz="2400" kern="0" spc="-40" dirty="0">
                <a:solidFill>
                  <a:srgbClr val="000000">
                    <a:alpha val="100000"/>
                  </a:srgbClr>
                </a:solidFill>
                <a:latin typeface="Arial" panose="020B0604020202020204"/>
                <a:ea typeface="Arial" panose="020B0604020202020204"/>
                <a:cs typeface="Arial" panose="020B0604020202020204"/>
              </a:rPr>
              <a:t>=</a:t>
            </a:r>
            <a:r>
              <a:rPr sz="2400" kern="0" spc="180" dirty="0">
                <a:solidFill>
                  <a:srgbClr val="000000">
                    <a:alpha val="100000"/>
                  </a:srgbClr>
                </a:solidFill>
                <a:latin typeface="Arial" panose="020B0604020202020204"/>
                <a:ea typeface="Arial" panose="020B0604020202020204"/>
                <a:cs typeface="Arial" panose="020B0604020202020204"/>
              </a:rPr>
              <a:t> </a:t>
            </a:r>
            <a:r>
              <a:rPr sz="2400" kern="0" spc="-40" dirty="0">
                <a:solidFill>
                  <a:srgbClr val="000000">
                    <a:alpha val="100000"/>
                  </a:srgbClr>
                </a:solidFill>
                <a:latin typeface="Arial" panose="020B0604020202020204"/>
                <a:ea typeface="Arial" panose="020B0604020202020204"/>
                <a:cs typeface="Arial" panose="020B0604020202020204"/>
              </a:rPr>
              <a:t>Ek(M)</a:t>
            </a:r>
            <a:endParaRPr lang="en-US" altLang="en-US" sz="2400" dirty="0"/>
          </a:p>
          <a:p>
            <a:pPr algn="l" rtl="0" eaLnBrk="0">
              <a:lnSpc>
                <a:spcPct val="105000"/>
              </a:lnSpc>
            </a:pPr>
            <a:endParaRPr lang="en-US" altLang="en-US" sz="1000" dirty="0"/>
          </a:p>
          <a:p>
            <a:pPr algn="l" rtl="0" eaLnBrk="0">
              <a:lnSpc>
                <a:spcPct val="100000"/>
              </a:lnSpc>
            </a:pPr>
            <a:endParaRPr lang="en-US" altLang="en-US" sz="600" dirty="0"/>
          </a:p>
          <a:p>
            <a:pPr algn="r" rtl="0" eaLnBrk="0">
              <a:lnSpc>
                <a:spcPct val="92000"/>
              </a:lnSpc>
              <a:spcBef>
                <a:spcPts val="5"/>
              </a:spcBef>
            </a:pPr>
            <a:r>
              <a:rPr sz="2300" kern="0" spc="-70" dirty="0">
                <a:solidFill>
                  <a:srgbClr val="000000">
                    <a:alpha val="100000"/>
                  </a:srgbClr>
                </a:solidFill>
                <a:latin typeface="Arial" panose="020B0604020202020204"/>
                <a:ea typeface="Arial" panose="020B0604020202020204"/>
                <a:cs typeface="Arial" panose="020B0604020202020204"/>
              </a:rPr>
              <a:t>•</a:t>
            </a:r>
            <a:r>
              <a:rPr sz="2300" kern="0" spc="500" dirty="0">
                <a:solidFill>
                  <a:srgbClr val="000000">
                    <a:alpha val="100000"/>
                  </a:srgbClr>
                </a:solidFill>
                <a:latin typeface="Arial" panose="020B0604020202020204"/>
                <a:ea typeface="Arial" panose="020B0604020202020204"/>
                <a:cs typeface="Arial" panose="020B0604020202020204"/>
              </a:rPr>
              <a:t> </a:t>
            </a:r>
            <a:r>
              <a:rPr sz="23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解密函数：</a:t>
            </a:r>
            <a:r>
              <a:rPr sz="2300" kern="0" spc="90" dirty="0">
                <a:solidFill>
                  <a:srgbClr val="000000">
                    <a:alpha val="100000"/>
                  </a:srgbClr>
                </a:solidFill>
                <a:latin typeface="仿宋" panose="02010609060101010101" charset="-122"/>
                <a:ea typeface="仿宋" panose="02010609060101010101" charset="-122"/>
                <a:cs typeface="仿宋" panose="02010609060101010101" charset="-122"/>
              </a:rPr>
              <a:t>           </a:t>
            </a:r>
            <a:r>
              <a:rPr sz="23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或</a:t>
            </a:r>
            <a:r>
              <a:rPr sz="2300" kern="0" spc="-7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70" dirty="0">
                <a:solidFill>
                  <a:srgbClr val="000000">
                    <a:alpha val="100000"/>
                  </a:srgbClr>
                </a:solidFill>
                <a:latin typeface="Arial" panose="020B0604020202020204"/>
                <a:ea typeface="Arial" panose="020B0604020202020204"/>
                <a:cs typeface="Arial" panose="020B0604020202020204"/>
              </a:rPr>
              <a:t>M</a:t>
            </a:r>
            <a:r>
              <a:rPr sz="2400" kern="0" spc="230" dirty="0">
                <a:solidFill>
                  <a:srgbClr val="000000">
                    <a:alpha val="100000"/>
                  </a:srgbClr>
                </a:solidFill>
                <a:latin typeface="Arial" panose="020B0604020202020204"/>
                <a:ea typeface="Arial" panose="020B0604020202020204"/>
                <a:cs typeface="Arial" panose="020B0604020202020204"/>
              </a:rPr>
              <a:t> </a:t>
            </a:r>
            <a:r>
              <a:rPr sz="2400" kern="0" spc="-70" dirty="0">
                <a:solidFill>
                  <a:srgbClr val="000000">
                    <a:alpha val="100000"/>
                  </a:srgbClr>
                </a:solidFill>
                <a:latin typeface="Arial" panose="020B0604020202020204"/>
                <a:ea typeface="Arial" panose="020B0604020202020204"/>
                <a:cs typeface="Arial" panose="020B0604020202020204"/>
              </a:rPr>
              <a:t>=</a:t>
            </a:r>
            <a:r>
              <a:rPr sz="2400" kern="0" spc="190" dirty="0">
                <a:solidFill>
                  <a:srgbClr val="000000">
                    <a:alpha val="100000"/>
                  </a:srgbClr>
                </a:solidFill>
                <a:latin typeface="Arial" panose="020B0604020202020204"/>
                <a:ea typeface="Arial" panose="020B0604020202020204"/>
                <a:cs typeface="Arial" panose="020B0604020202020204"/>
              </a:rPr>
              <a:t> </a:t>
            </a:r>
            <a:r>
              <a:rPr sz="2400" kern="0" spc="-70" dirty="0">
                <a:solidFill>
                  <a:srgbClr val="000000">
                    <a:alpha val="100000"/>
                  </a:srgbClr>
                </a:solidFill>
                <a:latin typeface="Arial" panose="020B0604020202020204"/>
                <a:ea typeface="Arial" panose="020B0604020202020204"/>
                <a:cs typeface="Arial" panose="020B0604020202020204"/>
              </a:rPr>
              <a:t>Dk(C)</a:t>
            </a:r>
            <a:endParaRPr lang="en-US" altLang="en-US" sz="2400" dirty="0"/>
          </a:p>
        </p:txBody>
      </p:sp>
      <p:sp>
        <p:nvSpPr>
          <p:cNvPr id="1048891" name="path"/>
          <p:cNvSpPr/>
          <p:nvPr/>
        </p:nvSpPr>
        <p:spPr>
          <a:xfrm>
            <a:off x="6059316" y="4762134"/>
            <a:ext cx="70595" cy="299200"/>
          </a:xfrm>
          <a:custGeom>
            <a:avLst/>
            <a:gdLst/>
            <a:ahLst/>
            <a:cxnLst/>
            <a:rect l="0" t="0" r="0" b="0"/>
            <a:pathLst>
              <a:path w="111" h="471">
                <a:moveTo>
                  <a:pt x="0" y="471"/>
                </a:moveTo>
                <a:lnTo>
                  <a:pt x="3" y="467"/>
                </a:lnTo>
                <a:lnTo>
                  <a:pt x="19" y="451"/>
                </a:lnTo>
                <a:lnTo>
                  <a:pt x="19" y="443"/>
                </a:lnTo>
                <a:lnTo>
                  <a:pt x="23" y="443"/>
                </a:lnTo>
                <a:lnTo>
                  <a:pt x="31" y="435"/>
                </a:lnTo>
                <a:lnTo>
                  <a:pt x="31" y="427"/>
                </a:lnTo>
                <a:lnTo>
                  <a:pt x="35" y="427"/>
                </a:lnTo>
                <a:lnTo>
                  <a:pt x="43" y="419"/>
                </a:lnTo>
                <a:lnTo>
                  <a:pt x="43" y="411"/>
                </a:lnTo>
                <a:lnTo>
                  <a:pt x="47" y="411"/>
                </a:lnTo>
                <a:lnTo>
                  <a:pt x="47" y="399"/>
                </a:lnTo>
                <a:lnTo>
                  <a:pt x="51" y="399"/>
                </a:lnTo>
                <a:lnTo>
                  <a:pt x="51" y="391"/>
                </a:lnTo>
                <a:lnTo>
                  <a:pt x="55" y="391"/>
                </a:lnTo>
                <a:lnTo>
                  <a:pt x="55" y="384"/>
                </a:lnTo>
                <a:lnTo>
                  <a:pt x="59" y="384"/>
                </a:lnTo>
                <a:lnTo>
                  <a:pt x="59" y="376"/>
                </a:lnTo>
                <a:lnTo>
                  <a:pt x="63" y="376"/>
                </a:lnTo>
                <a:lnTo>
                  <a:pt x="63" y="364"/>
                </a:lnTo>
                <a:lnTo>
                  <a:pt x="67" y="364"/>
                </a:lnTo>
                <a:lnTo>
                  <a:pt x="67" y="352"/>
                </a:lnTo>
                <a:lnTo>
                  <a:pt x="71" y="352"/>
                </a:lnTo>
                <a:lnTo>
                  <a:pt x="71" y="332"/>
                </a:lnTo>
                <a:lnTo>
                  <a:pt x="75" y="332"/>
                </a:lnTo>
                <a:lnTo>
                  <a:pt x="75" y="316"/>
                </a:lnTo>
                <a:lnTo>
                  <a:pt x="79" y="316"/>
                </a:lnTo>
                <a:lnTo>
                  <a:pt x="79" y="293"/>
                </a:lnTo>
                <a:lnTo>
                  <a:pt x="83" y="293"/>
                </a:lnTo>
                <a:lnTo>
                  <a:pt x="79" y="182"/>
                </a:lnTo>
                <a:lnTo>
                  <a:pt x="75" y="154"/>
                </a:lnTo>
                <a:lnTo>
                  <a:pt x="63" y="106"/>
                </a:lnTo>
                <a:lnTo>
                  <a:pt x="55" y="91"/>
                </a:lnTo>
                <a:lnTo>
                  <a:pt x="51" y="79"/>
                </a:lnTo>
                <a:lnTo>
                  <a:pt x="39" y="55"/>
                </a:lnTo>
                <a:lnTo>
                  <a:pt x="35" y="51"/>
                </a:lnTo>
                <a:lnTo>
                  <a:pt x="31" y="43"/>
                </a:lnTo>
                <a:lnTo>
                  <a:pt x="23" y="35"/>
                </a:lnTo>
                <a:lnTo>
                  <a:pt x="19" y="27"/>
                </a:lnTo>
                <a:lnTo>
                  <a:pt x="7" y="15"/>
                </a:lnTo>
                <a:lnTo>
                  <a:pt x="3" y="7"/>
                </a:lnTo>
                <a:lnTo>
                  <a:pt x="0" y="3"/>
                </a:lnTo>
                <a:lnTo>
                  <a:pt x="15" y="0"/>
                </a:lnTo>
                <a:lnTo>
                  <a:pt x="15" y="3"/>
                </a:lnTo>
                <a:lnTo>
                  <a:pt x="43" y="31"/>
                </a:lnTo>
                <a:lnTo>
                  <a:pt x="47" y="39"/>
                </a:lnTo>
                <a:lnTo>
                  <a:pt x="55" y="47"/>
                </a:lnTo>
                <a:lnTo>
                  <a:pt x="59" y="55"/>
                </a:lnTo>
                <a:lnTo>
                  <a:pt x="63" y="59"/>
                </a:lnTo>
                <a:lnTo>
                  <a:pt x="83" y="98"/>
                </a:lnTo>
                <a:lnTo>
                  <a:pt x="87" y="110"/>
                </a:lnTo>
                <a:lnTo>
                  <a:pt x="91" y="118"/>
                </a:lnTo>
                <a:lnTo>
                  <a:pt x="95" y="130"/>
                </a:lnTo>
                <a:lnTo>
                  <a:pt x="103" y="162"/>
                </a:lnTo>
                <a:lnTo>
                  <a:pt x="107" y="190"/>
                </a:lnTo>
                <a:lnTo>
                  <a:pt x="111" y="289"/>
                </a:lnTo>
                <a:lnTo>
                  <a:pt x="107" y="289"/>
                </a:lnTo>
                <a:lnTo>
                  <a:pt x="107" y="312"/>
                </a:lnTo>
                <a:lnTo>
                  <a:pt x="103" y="312"/>
                </a:lnTo>
                <a:lnTo>
                  <a:pt x="103" y="328"/>
                </a:lnTo>
                <a:lnTo>
                  <a:pt x="99" y="328"/>
                </a:lnTo>
                <a:lnTo>
                  <a:pt x="99" y="344"/>
                </a:lnTo>
                <a:lnTo>
                  <a:pt x="95" y="344"/>
                </a:lnTo>
                <a:lnTo>
                  <a:pt x="95" y="356"/>
                </a:lnTo>
                <a:lnTo>
                  <a:pt x="91" y="356"/>
                </a:lnTo>
                <a:lnTo>
                  <a:pt x="91" y="364"/>
                </a:lnTo>
                <a:lnTo>
                  <a:pt x="87" y="364"/>
                </a:lnTo>
                <a:lnTo>
                  <a:pt x="87" y="376"/>
                </a:lnTo>
                <a:lnTo>
                  <a:pt x="83" y="376"/>
                </a:lnTo>
                <a:lnTo>
                  <a:pt x="83" y="384"/>
                </a:lnTo>
                <a:lnTo>
                  <a:pt x="79" y="384"/>
                </a:lnTo>
                <a:lnTo>
                  <a:pt x="79" y="391"/>
                </a:lnTo>
                <a:lnTo>
                  <a:pt x="75" y="391"/>
                </a:lnTo>
                <a:lnTo>
                  <a:pt x="75" y="399"/>
                </a:lnTo>
                <a:lnTo>
                  <a:pt x="71" y="399"/>
                </a:lnTo>
                <a:lnTo>
                  <a:pt x="71" y="407"/>
                </a:lnTo>
                <a:lnTo>
                  <a:pt x="67" y="411"/>
                </a:lnTo>
                <a:lnTo>
                  <a:pt x="63" y="411"/>
                </a:lnTo>
                <a:lnTo>
                  <a:pt x="63" y="419"/>
                </a:lnTo>
                <a:lnTo>
                  <a:pt x="59" y="419"/>
                </a:lnTo>
                <a:lnTo>
                  <a:pt x="59" y="427"/>
                </a:lnTo>
                <a:lnTo>
                  <a:pt x="43" y="443"/>
                </a:lnTo>
                <a:lnTo>
                  <a:pt x="39" y="443"/>
                </a:lnTo>
                <a:lnTo>
                  <a:pt x="39" y="451"/>
                </a:lnTo>
                <a:lnTo>
                  <a:pt x="31" y="459"/>
                </a:lnTo>
                <a:lnTo>
                  <a:pt x="23" y="463"/>
                </a:lnTo>
                <a:lnTo>
                  <a:pt x="15" y="471"/>
                </a:lnTo>
                <a:lnTo>
                  <a:pt x="0" y="471"/>
                </a:lnTo>
                <a:close/>
              </a:path>
            </a:pathLst>
          </a:custGeom>
          <a:solidFill>
            <a:srgbClr val="000000">
              <a:alpha val="100000"/>
            </a:srgbClr>
          </a:solidFill>
          <a:ln cap="flat">
            <a:noFill/>
            <a:prstDash val="solid"/>
            <a:miter lim="0"/>
          </a:ln>
        </p:spPr>
        <p:txBody>
          <a:bodyPr rtlCol="0"/>
          <a:p>
            <a:pPr algn="ctr"/>
            <a:endParaRPr lang="zh-CN" altLang="en-US"/>
          </a:p>
        </p:txBody>
      </p:sp>
      <p:sp>
        <p:nvSpPr>
          <p:cNvPr id="1048892" name="path"/>
          <p:cNvSpPr/>
          <p:nvPr/>
        </p:nvSpPr>
        <p:spPr>
          <a:xfrm>
            <a:off x="4448246" y="4762134"/>
            <a:ext cx="1588378" cy="299200"/>
          </a:xfrm>
          <a:custGeom>
            <a:avLst/>
            <a:gdLst/>
            <a:ahLst/>
            <a:cxnLst/>
            <a:rect l="0" t="0" r="0" b="0"/>
            <a:pathLst>
              <a:path w="2501" h="471">
                <a:moveTo>
                  <a:pt x="3" y="356"/>
                </a:moveTo>
                <a:lnTo>
                  <a:pt x="0" y="352"/>
                </a:lnTo>
                <a:lnTo>
                  <a:pt x="7" y="344"/>
                </a:lnTo>
                <a:lnTo>
                  <a:pt x="27" y="340"/>
                </a:lnTo>
                <a:lnTo>
                  <a:pt x="43" y="332"/>
                </a:lnTo>
                <a:lnTo>
                  <a:pt x="51" y="324"/>
                </a:lnTo>
                <a:lnTo>
                  <a:pt x="51" y="316"/>
                </a:lnTo>
                <a:lnTo>
                  <a:pt x="55" y="316"/>
                </a:lnTo>
                <a:lnTo>
                  <a:pt x="55" y="304"/>
                </a:lnTo>
                <a:lnTo>
                  <a:pt x="59" y="304"/>
                </a:lnTo>
                <a:lnTo>
                  <a:pt x="59" y="289"/>
                </a:lnTo>
                <a:lnTo>
                  <a:pt x="63" y="289"/>
                </a:lnTo>
                <a:lnTo>
                  <a:pt x="63" y="273"/>
                </a:lnTo>
                <a:lnTo>
                  <a:pt x="67" y="273"/>
                </a:lnTo>
                <a:lnTo>
                  <a:pt x="67" y="257"/>
                </a:lnTo>
                <a:lnTo>
                  <a:pt x="71" y="257"/>
                </a:lnTo>
                <a:lnTo>
                  <a:pt x="71" y="241"/>
                </a:lnTo>
                <a:lnTo>
                  <a:pt x="75" y="241"/>
                </a:lnTo>
                <a:lnTo>
                  <a:pt x="75" y="225"/>
                </a:lnTo>
                <a:lnTo>
                  <a:pt x="79" y="225"/>
                </a:lnTo>
                <a:lnTo>
                  <a:pt x="79" y="209"/>
                </a:lnTo>
                <a:lnTo>
                  <a:pt x="83" y="209"/>
                </a:lnTo>
                <a:lnTo>
                  <a:pt x="83" y="194"/>
                </a:lnTo>
                <a:lnTo>
                  <a:pt x="87" y="194"/>
                </a:lnTo>
                <a:lnTo>
                  <a:pt x="87" y="178"/>
                </a:lnTo>
                <a:lnTo>
                  <a:pt x="91" y="178"/>
                </a:lnTo>
                <a:lnTo>
                  <a:pt x="91" y="162"/>
                </a:lnTo>
                <a:lnTo>
                  <a:pt x="95" y="162"/>
                </a:lnTo>
                <a:lnTo>
                  <a:pt x="95" y="146"/>
                </a:lnTo>
                <a:lnTo>
                  <a:pt x="99" y="146"/>
                </a:lnTo>
                <a:lnTo>
                  <a:pt x="99" y="130"/>
                </a:lnTo>
                <a:lnTo>
                  <a:pt x="103" y="130"/>
                </a:lnTo>
                <a:lnTo>
                  <a:pt x="103" y="114"/>
                </a:lnTo>
                <a:lnTo>
                  <a:pt x="107" y="114"/>
                </a:lnTo>
                <a:lnTo>
                  <a:pt x="107" y="98"/>
                </a:lnTo>
                <a:lnTo>
                  <a:pt x="111" y="98"/>
                </a:lnTo>
                <a:lnTo>
                  <a:pt x="111" y="83"/>
                </a:lnTo>
                <a:lnTo>
                  <a:pt x="115" y="83"/>
                </a:lnTo>
                <a:lnTo>
                  <a:pt x="115" y="63"/>
                </a:lnTo>
                <a:lnTo>
                  <a:pt x="119" y="63"/>
                </a:lnTo>
                <a:lnTo>
                  <a:pt x="119" y="47"/>
                </a:lnTo>
                <a:lnTo>
                  <a:pt x="87" y="47"/>
                </a:lnTo>
                <a:lnTo>
                  <a:pt x="75" y="43"/>
                </a:lnTo>
                <a:lnTo>
                  <a:pt x="79" y="39"/>
                </a:lnTo>
                <a:lnTo>
                  <a:pt x="79" y="31"/>
                </a:lnTo>
                <a:lnTo>
                  <a:pt x="162" y="31"/>
                </a:lnTo>
                <a:lnTo>
                  <a:pt x="162" y="43"/>
                </a:lnTo>
                <a:lnTo>
                  <a:pt x="166" y="71"/>
                </a:lnTo>
                <a:lnTo>
                  <a:pt x="170" y="102"/>
                </a:lnTo>
                <a:lnTo>
                  <a:pt x="174" y="130"/>
                </a:lnTo>
                <a:lnTo>
                  <a:pt x="178" y="162"/>
                </a:lnTo>
                <a:lnTo>
                  <a:pt x="182" y="190"/>
                </a:lnTo>
                <a:lnTo>
                  <a:pt x="186" y="221"/>
                </a:lnTo>
                <a:lnTo>
                  <a:pt x="190" y="249"/>
                </a:lnTo>
                <a:lnTo>
                  <a:pt x="194" y="281"/>
                </a:lnTo>
                <a:lnTo>
                  <a:pt x="198" y="308"/>
                </a:lnTo>
                <a:lnTo>
                  <a:pt x="202" y="308"/>
                </a:lnTo>
                <a:lnTo>
                  <a:pt x="206" y="304"/>
                </a:lnTo>
                <a:lnTo>
                  <a:pt x="206" y="296"/>
                </a:lnTo>
                <a:lnTo>
                  <a:pt x="210" y="296"/>
                </a:lnTo>
                <a:lnTo>
                  <a:pt x="214" y="293"/>
                </a:lnTo>
                <a:lnTo>
                  <a:pt x="214" y="285"/>
                </a:lnTo>
                <a:lnTo>
                  <a:pt x="218" y="285"/>
                </a:lnTo>
                <a:lnTo>
                  <a:pt x="222" y="281"/>
                </a:lnTo>
                <a:lnTo>
                  <a:pt x="222" y="273"/>
                </a:lnTo>
                <a:lnTo>
                  <a:pt x="226" y="273"/>
                </a:lnTo>
                <a:lnTo>
                  <a:pt x="230" y="269"/>
                </a:lnTo>
                <a:lnTo>
                  <a:pt x="230" y="261"/>
                </a:lnTo>
                <a:lnTo>
                  <a:pt x="234" y="261"/>
                </a:lnTo>
                <a:lnTo>
                  <a:pt x="238" y="257"/>
                </a:lnTo>
                <a:lnTo>
                  <a:pt x="238" y="249"/>
                </a:lnTo>
                <a:lnTo>
                  <a:pt x="242" y="249"/>
                </a:lnTo>
                <a:lnTo>
                  <a:pt x="242" y="241"/>
                </a:lnTo>
                <a:lnTo>
                  <a:pt x="246" y="241"/>
                </a:lnTo>
                <a:lnTo>
                  <a:pt x="250" y="237"/>
                </a:lnTo>
                <a:lnTo>
                  <a:pt x="250" y="229"/>
                </a:lnTo>
                <a:lnTo>
                  <a:pt x="254" y="229"/>
                </a:lnTo>
                <a:lnTo>
                  <a:pt x="258" y="225"/>
                </a:lnTo>
                <a:lnTo>
                  <a:pt x="258" y="217"/>
                </a:lnTo>
                <a:lnTo>
                  <a:pt x="262" y="217"/>
                </a:lnTo>
                <a:lnTo>
                  <a:pt x="266" y="213"/>
                </a:lnTo>
                <a:lnTo>
                  <a:pt x="266" y="205"/>
                </a:lnTo>
                <a:lnTo>
                  <a:pt x="269" y="205"/>
                </a:lnTo>
                <a:lnTo>
                  <a:pt x="273" y="201"/>
                </a:lnTo>
                <a:lnTo>
                  <a:pt x="273" y="194"/>
                </a:lnTo>
                <a:lnTo>
                  <a:pt x="277" y="194"/>
                </a:lnTo>
                <a:lnTo>
                  <a:pt x="281" y="190"/>
                </a:lnTo>
                <a:lnTo>
                  <a:pt x="281" y="182"/>
                </a:lnTo>
                <a:lnTo>
                  <a:pt x="285" y="182"/>
                </a:lnTo>
                <a:lnTo>
                  <a:pt x="285" y="174"/>
                </a:lnTo>
                <a:lnTo>
                  <a:pt x="289" y="174"/>
                </a:lnTo>
                <a:lnTo>
                  <a:pt x="293" y="170"/>
                </a:lnTo>
                <a:lnTo>
                  <a:pt x="293" y="162"/>
                </a:lnTo>
                <a:lnTo>
                  <a:pt x="297" y="162"/>
                </a:lnTo>
                <a:lnTo>
                  <a:pt x="301" y="158"/>
                </a:lnTo>
                <a:lnTo>
                  <a:pt x="301" y="150"/>
                </a:lnTo>
                <a:lnTo>
                  <a:pt x="305" y="150"/>
                </a:lnTo>
                <a:lnTo>
                  <a:pt x="309" y="146"/>
                </a:lnTo>
                <a:lnTo>
                  <a:pt x="309" y="138"/>
                </a:lnTo>
                <a:lnTo>
                  <a:pt x="313" y="138"/>
                </a:lnTo>
                <a:lnTo>
                  <a:pt x="317" y="134"/>
                </a:lnTo>
                <a:lnTo>
                  <a:pt x="317" y="126"/>
                </a:lnTo>
                <a:lnTo>
                  <a:pt x="321" y="126"/>
                </a:lnTo>
                <a:lnTo>
                  <a:pt x="325" y="122"/>
                </a:lnTo>
                <a:lnTo>
                  <a:pt x="325" y="114"/>
                </a:lnTo>
                <a:lnTo>
                  <a:pt x="329" y="114"/>
                </a:lnTo>
                <a:lnTo>
                  <a:pt x="329" y="106"/>
                </a:lnTo>
                <a:lnTo>
                  <a:pt x="333" y="106"/>
                </a:lnTo>
                <a:lnTo>
                  <a:pt x="337" y="102"/>
                </a:lnTo>
                <a:lnTo>
                  <a:pt x="337" y="95"/>
                </a:lnTo>
                <a:lnTo>
                  <a:pt x="341" y="95"/>
                </a:lnTo>
                <a:lnTo>
                  <a:pt x="345" y="91"/>
                </a:lnTo>
                <a:lnTo>
                  <a:pt x="345" y="83"/>
                </a:lnTo>
                <a:lnTo>
                  <a:pt x="349" y="83"/>
                </a:lnTo>
                <a:lnTo>
                  <a:pt x="353" y="79"/>
                </a:lnTo>
                <a:lnTo>
                  <a:pt x="353" y="71"/>
                </a:lnTo>
                <a:lnTo>
                  <a:pt x="357" y="71"/>
                </a:lnTo>
                <a:lnTo>
                  <a:pt x="361" y="67"/>
                </a:lnTo>
                <a:lnTo>
                  <a:pt x="361" y="59"/>
                </a:lnTo>
                <a:lnTo>
                  <a:pt x="365" y="59"/>
                </a:lnTo>
                <a:lnTo>
                  <a:pt x="369" y="55"/>
                </a:lnTo>
                <a:lnTo>
                  <a:pt x="369" y="47"/>
                </a:lnTo>
                <a:lnTo>
                  <a:pt x="373" y="47"/>
                </a:lnTo>
                <a:lnTo>
                  <a:pt x="373" y="39"/>
                </a:lnTo>
                <a:lnTo>
                  <a:pt x="377" y="39"/>
                </a:lnTo>
                <a:lnTo>
                  <a:pt x="381" y="35"/>
                </a:lnTo>
                <a:lnTo>
                  <a:pt x="460" y="31"/>
                </a:lnTo>
                <a:lnTo>
                  <a:pt x="460" y="43"/>
                </a:lnTo>
                <a:lnTo>
                  <a:pt x="444" y="47"/>
                </a:lnTo>
                <a:lnTo>
                  <a:pt x="416" y="47"/>
                </a:lnTo>
                <a:lnTo>
                  <a:pt x="416" y="55"/>
                </a:lnTo>
                <a:lnTo>
                  <a:pt x="412" y="55"/>
                </a:lnTo>
                <a:lnTo>
                  <a:pt x="412" y="63"/>
                </a:lnTo>
                <a:lnTo>
                  <a:pt x="408" y="63"/>
                </a:lnTo>
                <a:lnTo>
                  <a:pt x="408" y="79"/>
                </a:lnTo>
                <a:lnTo>
                  <a:pt x="404" y="79"/>
                </a:lnTo>
                <a:lnTo>
                  <a:pt x="404" y="95"/>
                </a:lnTo>
                <a:lnTo>
                  <a:pt x="401" y="95"/>
                </a:lnTo>
                <a:lnTo>
                  <a:pt x="401" y="110"/>
                </a:lnTo>
                <a:lnTo>
                  <a:pt x="397" y="110"/>
                </a:lnTo>
                <a:lnTo>
                  <a:pt x="397" y="126"/>
                </a:lnTo>
                <a:lnTo>
                  <a:pt x="393" y="126"/>
                </a:lnTo>
                <a:lnTo>
                  <a:pt x="393" y="142"/>
                </a:lnTo>
                <a:lnTo>
                  <a:pt x="389" y="142"/>
                </a:lnTo>
                <a:lnTo>
                  <a:pt x="389" y="158"/>
                </a:lnTo>
                <a:lnTo>
                  <a:pt x="385" y="158"/>
                </a:lnTo>
                <a:lnTo>
                  <a:pt x="385" y="174"/>
                </a:lnTo>
                <a:lnTo>
                  <a:pt x="381" y="174"/>
                </a:lnTo>
                <a:lnTo>
                  <a:pt x="381" y="190"/>
                </a:lnTo>
                <a:lnTo>
                  <a:pt x="377" y="190"/>
                </a:lnTo>
                <a:lnTo>
                  <a:pt x="377" y="201"/>
                </a:lnTo>
                <a:lnTo>
                  <a:pt x="373" y="201"/>
                </a:lnTo>
                <a:lnTo>
                  <a:pt x="373" y="217"/>
                </a:lnTo>
                <a:lnTo>
                  <a:pt x="369" y="217"/>
                </a:lnTo>
                <a:lnTo>
                  <a:pt x="369" y="233"/>
                </a:lnTo>
                <a:lnTo>
                  <a:pt x="365" y="233"/>
                </a:lnTo>
                <a:lnTo>
                  <a:pt x="365" y="249"/>
                </a:lnTo>
                <a:lnTo>
                  <a:pt x="361" y="249"/>
                </a:lnTo>
                <a:lnTo>
                  <a:pt x="361" y="265"/>
                </a:lnTo>
                <a:lnTo>
                  <a:pt x="357" y="265"/>
                </a:lnTo>
                <a:lnTo>
                  <a:pt x="357" y="281"/>
                </a:lnTo>
                <a:lnTo>
                  <a:pt x="353" y="281"/>
                </a:lnTo>
                <a:lnTo>
                  <a:pt x="353" y="296"/>
                </a:lnTo>
                <a:lnTo>
                  <a:pt x="349" y="296"/>
                </a:lnTo>
                <a:lnTo>
                  <a:pt x="349" y="312"/>
                </a:lnTo>
                <a:lnTo>
                  <a:pt x="345" y="312"/>
                </a:lnTo>
                <a:lnTo>
                  <a:pt x="345" y="324"/>
                </a:lnTo>
                <a:lnTo>
                  <a:pt x="341" y="324"/>
                </a:lnTo>
                <a:lnTo>
                  <a:pt x="341" y="332"/>
                </a:lnTo>
                <a:lnTo>
                  <a:pt x="345" y="340"/>
                </a:lnTo>
                <a:lnTo>
                  <a:pt x="369" y="344"/>
                </a:lnTo>
                <a:lnTo>
                  <a:pt x="381" y="344"/>
                </a:lnTo>
                <a:lnTo>
                  <a:pt x="381" y="352"/>
                </a:lnTo>
                <a:lnTo>
                  <a:pt x="373" y="356"/>
                </a:lnTo>
                <a:lnTo>
                  <a:pt x="266" y="356"/>
                </a:lnTo>
                <a:lnTo>
                  <a:pt x="258" y="352"/>
                </a:lnTo>
                <a:lnTo>
                  <a:pt x="262" y="348"/>
                </a:lnTo>
                <a:lnTo>
                  <a:pt x="269" y="344"/>
                </a:lnTo>
                <a:lnTo>
                  <a:pt x="297" y="340"/>
                </a:lnTo>
                <a:lnTo>
                  <a:pt x="305" y="336"/>
                </a:lnTo>
                <a:lnTo>
                  <a:pt x="309" y="332"/>
                </a:lnTo>
                <a:lnTo>
                  <a:pt x="309" y="316"/>
                </a:lnTo>
                <a:lnTo>
                  <a:pt x="313" y="316"/>
                </a:lnTo>
                <a:lnTo>
                  <a:pt x="313" y="300"/>
                </a:lnTo>
                <a:lnTo>
                  <a:pt x="317" y="300"/>
                </a:lnTo>
                <a:lnTo>
                  <a:pt x="317" y="285"/>
                </a:lnTo>
                <a:lnTo>
                  <a:pt x="321" y="285"/>
                </a:lnTo>
                <a:lnTo>
                  <a:pt x="321" y="269"/>
                </a:lnTo>
                <a:lnTo>
                  <a:pt x="325" y="269"/>
                </a:lnTo>
                <a:lnTo>
                  <a:pt x="325" y="253"/>
                </a:lnTo>
                <a:lnTo>
                  <a:pt x="329" y="253"/>
                </a:lnTo>
                <a:lnTo>
                  <a:pt x="329" y="237"/>
                </a:lnTo>
                <a:lnTo>
                  <a:pt x="333" y="237"/>
                </a:lnTo>
                <a:lnTo>
                  <a:pt x="333" y="221"/>
                </a:lnTo>
                <a:lnTo>
                  <a:pt x="337" y="221"/>
                </a:lnTo>
                <a:lnTo>
                  <a:pt x="337" y="205"/>
                </a:lnTo>
                <a:lnTo>
                  <a:pt x="341" y="205"/>
                </a:lnTo>
                <a:lnTo>
                  <a:pt x="341" y="190"/>
                </a:lnTo>
                <a:lnTo>
                  <a:pt x="345" y="190"/>
                </a:lnTo>
                <a:lnTo>
                  <a:pt x="345" y="174"/>
                </a:lnTo>
                <a:lnTo>
                  <a:pt x="349" y="174"/>
                </a:lnTo>
                <a:lnTo>
                  <a:pt x="349" y="158"/>
                </a:lnTo>
                <a:lnTo>
                  <a:pt x="353" y="158"/>
                </a:lnTo>
                <a:lnTo>
                  <a:pt x="353" y="142"/>
                </a:lnTo>
                <a:lnTo>
                  <a:pt x="357" y="142"/>
                </a:lnTo>
                <a:lnTo>
                  <a:pt x="357" y="126"/>
                </a:lnTo>
                <a:lnTo>
                  <a:pt x="361" y="126"/>
                </a:lnTo>
                <a:lnTo>
                  <a:pt x="361" y="110"/>
                </a:lnTo>
                <a:lnTo>
                  <a:pt x="365" y="110"/>
                </a:lnTo>
                <a:lnTo>
                  <a:pt x="365" y="95"/>
                </a:lnTo>
                <a:lnTo>
                  <a:pt x="369" y="95"/>
                </a:lnTo>
                <a:lnTo>
                  <a:pt x="369" y="79"/>
                </a:lnTo>
                <a:lnTo>
                  <a:pt x="373" y="79"/>
                </a:lnTo>
                <a:lnTo>
                  <a:pt x="373" y="63"/>
                </a:lnTo>
                <a:lnTo>
                  <a:pt x="377" y="63"/>
                </a:lnTo>
                <a:lnTo>
                  <a:pt x="373" y="51"/>
                </a:lnTo>
                <a:lnTo>
                  <a:pt x="373" y="59"/>
                </a:lnTo>
                <a:lnTo>
                  <a:pt x="369" y="63"/>
                </a:lnTo>
                <a:lnTo>
                  <a:pt x="365" y="63"/>
                </a:lnTo>
                <a:lnTo>
                  <a:pt x="365" y="71"/>
                </a:lnTo>
                <a:lnTo>
                  <a:pt x="361" y="75"/>
                </a:lnTo>
                <a:lnTo>
                  <a:pt x="357" y="75"/>
                </a:lnTo>
                <a:lnTo>
                  <a:pt x="357" y="83"/>
                </a:lnTo>
                <a:lnTo>
                  <a:pt x="353" y="83"/>
                </a:lnTo>
                <a:lnTo>
                  <a:pt x="353" y="91"/>
                </a:lnTo>
                <a:lnTo>
                  <a:pt x="349" y="95"/>
                </a:lnTo>
                <a:lnTo>
                  <a:pt x="345" y="95"/>
                </a:lnTo>
                <a:lnTo>
                  <a:pt x="345" y="102"/>
                </a:lnTo>
                <a:lnTo>
                  <a:pt x="341" y="106"/>
                </a:lnTo>
                <a:lnTo>
                  <a:pt x="337" y="106"/>
                </a:lnTo>
                <a:lnTo>
                  <a:pt x="337" y="114"/>
                </a:lnTo>
                <a:lnTo>
                  <a:pt x="333" y="118"/>
                </a:lnTo>
                <a:lnTo>
                  <a:pt x="329" y="118"/>
                </a:lnTo>
                <a:lnTo>
                  <a:pt x="329" y="126"/>
                </a:lnTo>
                <a:lnTo>
                  <a:pt x="325" y="126"/>
                </a:lnTo>
                <a:lnTo>
                  <a:pt x="325" y="134"/>
                </a:lnTo>
                <a:lnTo>
                  <a:pt x="321" y="138"/>
                </a:lnTo>
                <a:lnTo>
                  <a:pt x="317" y="138"/>
                </a:lnTo>
                <a:lnTo>
                  <a:pt x="317" y="146"/>
                </a:lnTo>
                <a:lnTo>
                  <a:pt x="313" y="150"/>
                </a:lnTo>
                <a:lnTo>
                  <a:pt x="309" y="150"/>
                </a:lnTo>
                <a:lnTo>
                  <a:pt x="309" y="158"/>
                </a:lnTo>
                <a:lnTo>
                  <a:pt x="305" y="158"/>
                </a:lnTo>
                <a:lnTo>
                  <a:pt x="305" y="166"/>
                </a:lnTo>
                <a:lnTo>
                  <a:pt x="301" y="170"/>
                </a:lnTo>
                <a:lnTo>
                  <a:pt x="297" y="170"/>
                </a:lnTo>
                <a:lnTo>
                  <a:pt x="297" y="178"/>
                </a:lnTo>
                <a:lnTo>
                  <a:pt x="293" y="182"/>
                </a:lnTo>
                <a:lnTo>
                  <a:pt x="289" y="182"/>
                </a:lnTo>
                <a:lnTo>
                  <a:pt x="289" y="190"/>
                </a:lnTo>
                <a:lnTo>
                  <a:pt x="285" y="194"/>
                </a:lnTo>
                <a:lnTo>
                  <a:pt x="281" y="194"/>
                </a:lnTo>
                <a:lnTo>
                  <a:pt x="281" y="201"/>
                </a:lnTo>
                <a:lnTo>
                  <a:pt x="277" y="201"/>
                </a:lnTo>
                <a:lnTo>
                  <a:pt x="277" y="209"/>
                </a:lnTo>
                <a:lnTo>
                  <a:pt x="273" y="213"/>
                </a:lnTo>
                <a:lnTo>
                  <a:pt x="269" y="213"/>
                </a:lnTo>
                <a:lnTo>
                  <a:pt x="269" y="221"/>
                </a:lnTo>
                <a:lnTo>
                  <a:pt x="266" y="225"/>
                </a:lnTo>
                <a:lnTo>
                  <a:pt x="262" y="225"/>
                </a:lnTo>
                <a:lnTo>
                  <a:pt x="262" y="233"/>
                </a:lnTo>
                <a:lnTo>
                  <a:pt x="258" y="233"/>
                </a:lnTo>
                <a:lnTo>
                  <a:pt x="258" y="241"/>
                </a:lnTo>
                <a:lnTo>
                  <a:pt x="254" y="245"/>
                </a:lnTo>
                <a:lnTo>
                  <a:pt x="250" y="245"/>
                </a:lnTo>
                <a:lnTo>
                  <a:pt x="250" y="253"/>
                </a:lnTo>
                <a:lnTo>
                  <a:pt x="246" y="257"/>
                </a:lnTo>
                <a:lnTo>
                  <a:pt x="242" y="257"/>
                </a:lnTo>
                <a:lnTo>
                  <a:pt x="242" y="265"/>
                </a:lnTo>
                <a:lnTo>
                  <a:pt x="238" y="269"/>
                </a:lnTo>
                <a:lnTo>
                  <a:pt x="234" y="269"/>
                </a:lnTo>
                <a:lnTo>
                  <a:pt x="234" y="277"/>
                </a:lnTo>
                <a:lnTo>
                  <a:pt x="230" y="277"/>
                </a:lnTo>
                <a:lnTo>
                  <a:pt x="230" y="285"/>
                </a:lnTo>
                <a:lnTo>
                  <a:pt x="226" y="289"/>
                </a:lnTo>
                <a:lnTo>
                  <a:pt x="222" y="289"/>
                </a:lnTo>
                <a:lnTo>
                  <a:pt x="222" y="296"/>
                </a:lnTo>
                <a:lnTo>
                  <a:pt x="218" y="300"/>
                </a:lnTo>
                <a:lnTo>
                  <a:pt x="214" y="300"/>
                </a:lnTo>
                <a:lnTo>
                  <a:pt x="214" y="308"/>
                </a:lnTo>
                <a:lnTo>
                  <a:pt x="210" y="308"/>
                </a:lnTo>
                <a:lnTo>
                  <a:pt x="210" y="316"/>
                </a:lnTo>
                <a:lnTo>
                  <a:pt x="206" y="320"/>
                </a:lnTo>
                <a:lnTo>
                  <a:pt x="202" y="320"/>
                </a:lnTo>
                <a:lnTo>
                  <a:pt x="202" y="328"/>
                </a:lnTo>
                <a:lnTo>
                  <a:pt x="198" y="332"/>
                </a:lnTo>
                <a:lnTo>
                  <a:pt x="194" y="332"/>
                </a:lnTo>
                <a:lnTo>
                  <a:pt x="194" y="340"/>
                </a:lnTo>
                <a:lnTo>
                  <a:pt x="190" y="344"/>
                </a:lnTo>
                <a:lnTo>
                  <a:pt x="186" y="344"/>
                </a:lnTo>
                <a:lnTo>
                  <a:pt x="186" y="352"/>
                </a:lnTo>
                <a:lnTo>
                  <a:pt x="174" y="352"/>
                </a:lnTo>
                <a:lnTo>
                  <a:pt x="170" y="344"/>
                </a:lnTo>
                <a:lnTo>
                  <a:pt x="166" y="312"/>
                </a:lnTo>
                <a:lnTo>
                  <a:pt x="162" y="285"/>
                </a:lnTo>
                <a:lnTo>
                  <a:pt x="158" y="253"/>
                </a:lnTo>
                <a:lnTo>
                  <a:pt x="150" y="197"/>
                </a:lnTo>
                <a:lnTo>
                  <a:pt x="146" y="166"/>
                </a:lnTo>
                <a:lnTo>
                  <a:pt x="142" y="138"/>
                </a:lnTo>
                <a:lnTo>
                  <a:pt x="138" y="106"/>
                </a:lnTo>
                <a:lnTo>
                  <a:pt x="131" y="51"/>
                </a:lnTo>
                <a:lnTo>
                  <a:pt x="131" y="67"/>
                </a:lnTo>
                <a:lnTo>
                  <a:pt x="127" y="67"/>
                </a:lnTo>
                <a:lnTo>
                  <a:pt x="127" y="83"/>
                </a:lnTo>
                <a:lnTo>
                  <a:pt x="123" y="83"/>
                </a:lnTo>
                <a:lnTo>
                  <a:pt x="123" y="98"/>
                </a:lnTo>
                <a:lnTo>
                  <a:pt x="119" y="98"/>
                </a:lnTo>
                <a:lnTo>
                  <a:pt x="119" y="114"/>
                </a:lnTo>
                <a:lnTo>
                  <a:pt x="115" y="114"/>
                </a:lnTo>
                <a:lnTo>
                  <a:pt x="115" y="130"/>
                </a:lnTo>
                <a:lnTo>
                  <a:pt x="111" y="130"/>
                </a:lnTo>
                <a:lnTo>
                  <a:pt x="111" y="146"/>
                </a:lnTo>
                <a:lnTo>
                  <a:pt x="107" y="146"/>
                </a:lnTo>
                <a:lnTo>
                  <a:pt x="107" y="162"/>
                </a:lnTo>
                <a:lnTo>
                  <a:pt x="103" y="162"/>
                </a:lnTo>
                <a:lnTo>
                  <a:pt x="103" y="178"/>
                </a:lnTo>
                <a:lnTo>
                  <a:pt x="99" y="178"/>
                </a:lnTo>
                <a:lnTo>
                  <a:pt x="99" y="197"/>
                </a:lnTo>
                <a:lnTo>
                  <a:pt x="95" y="197"/>
                </a:lnTo>
                <a:lnTo>
                  <a:pt x="95" y="213"/>
                </a:lnTo>
                <a:lnTo>
                  <a:pt x="91" y="213"/>
                </a:lnTo>
                <a:lnTo>
                  <a:pt x="91" y="229"/>
                </a:lnTo>
                <a:lnTo>
                  <a:pt x="87" y="229"/>
                </a:lnTo>
                <a:lnTo>
                  <a:pt x="87" y="245"/>
                </a:lnTo>
                <a:lnTo>
                  <a:pt x="83" y="245"/>
                </a:lnTo>
                <a:lnTo>
                  <a:pt x="83" y="261"/>
                </a:lnTo>
                <a:lnTo>
                  <a:pt x="79" y="261"/>
                </a:lnTo>
                <a:lnTo>
                  <a:pt x="79" y="277"/>
                </a:lnTo>
                <a:lnTo>
                  <a:pt x="75" y="277"/>
                </a:lnTo>
                <a:lnTo>
                  <a:pt x="75" y="293"/>
                </a:lnTo>
                <a:lnTo>
                  <a:pt x="71" y="293"/>
                </a:lnTo>
                <a:lnTo>
                  <a:pt x="71" y="308"/>
                </a:lnTo>
                <a:lnTo>
                  <a:pt x="67" y="308"/>
                </a:lnTo>
                <a:lnTo>
                  <a:pt x="67" y="320"/>
                </a:lnTo>
                <a:lnTo>
                  <a:pt x="63" y="324"/>
                </a:lnTo>
                <a:lnTo>
                  <a:pt x="67" y="332"/>
                </a:lnTo>
                <a:lnTo>
                  <a:pt x="75" y="340"/>
                </a:lnTo>
                <a:lnTo>
                  <a:pt x="95" y="344"/>
                </a:lnTo>
                <a:lnTo>
                  <a:pt x="103" y="344"/>
                </a:lnTo>
                <a:lnTo>
                  <a:pt x="103" y="352"/>
                </a:lnTo>
                <a:lnTo>
                  <a:pt x="91" y="356"/>
                </a:lnTo>
                <a:lnTo>
                  <a:pt x="3" y="356"/>
                </a:lnTo>
                <a:close/>
              </a:path>
              <a:path w="2501" h="471">
                <a:moveTo>
                  <a:pt x="647" y="293"/>
                </a:moveTo>
                <a:lnTo>
                  <a:pt x="635" y="289"/>
                </a:lnTo>
                <a:lnTo>
                  <a:pt x="631" y="281"/>
                </a:lnTo>
                <a:lnTo>
                  <a:pt x="635" y="277"/>
                </a:lnTo>
                <a:lnTo>
                  <a:pt x="940" y="273"/>
                </a:lnTo>
                <a:lnTo>
                  <a:pt x="940" y="289"/>
                </a:lnTo>
                <a:lnTo>
                  <a:pt x="929" y="293"/>
                </a:lnTo>
                <a:lnTo>
                  <a:pt x="647" y="293"/>
                </a:lnTo>
                <a:close/>
                <a:moveTo>
                  <a:pt x="647" y="201"/>
                </a:moveTo>
                <a:lnTo>
                  <a:pt x="635" y="197"/>
                </a:lnTo>
                <a:lnTo>
                  <a:pt x="631" y="194"/>
                </a:lnTo>
                <a:lnTo>
                  <a:pt x="635" y="190"/>
                </a:lnTo>
                <a:lnTo>
                  <a:pt x="940" y="186"/>
                </a:lnTo>
                <a:lnTo>
                  <a:pt x="940" y="197"/>
                </a:lnTo>
                <a:lnTo>
                  <a:pt x="929" y="201"/>
                </a:lnTo>
                <a:lnTo>
                  <a:pt x="647" y="201"/>
                </a:lnTo>
                <a:close/>
              </a:path>
              <a:path w="2501" h="471">
                <a:moveTo>
                  <a:pt x="1135" y="356"/>
                </a:moveTo>
                <a:lnTo>
                  <a:pt x="1123" y="352"/>
                </a:lnTo>
                <a:lnTo>
                  <a:pt x="1127" y="348"/>
                </a:lnTo>
                <a:lnTo>
                  <a:pt x="1135" y="344"/>
                </a:lnTo>
                <a:lnTo>
                  <a:pt x="1163" y="340"/>
                </a:lnTo>
                <a:lnTo>
                  <a:pt x="1171" y="336"/>
                </a:lnTo>
                <a:lnTo>
                  <a:pt x="1175" y="332"/>
                </a:lnTo>
                <a:lnTo>
                  <a:pt x="1175" y="316"/>
                </a:lnTo>
                <a:lnTo>
                  <a:pt x="1179" y="316"/>
                </a:lnTo>
                <a:lnTo>
                  <a:pt x="1179" y="300"/>
                </a:lnTo>
                <a:lnTo>
                  <a:pt x="1183" y="300"/>
                </a:lnTo>
                <a:lnTo>
                  <a:pt x="1183" y="285"/>
                </a:lnTo>
                <a:lnTo>
                  <a:pt x="1187" y="285"/>
                </a:lnTo>
                <a:lnTo>
                  <a:pt x="1187" y="269"/>
                </a:lnTo>
                <a:lnTo>
                  <a:pt x="1191" y="269"/>
                </a:lnTo>
                <a:lnTo>
                  <a:pt x="1191" y="253"/>
                </a:lnTo>
                <a:lnTo>
                  <a:pt x="1195" y="253"/>
                </a:lnTo>
                <a:lnTo>
                  <a:pt x="1195" y="237"/>
                </a:lnTo>
                <a:lnTo>
                  <a:pt x="1199" y="237"/>
                </a:lnTo>
                <a:lnTo>
                  <a:pt x="1199" y="221"/>
                </a:lnTo>
                <a:lnTo>
                  <a:pt x="1203" y="221"/>
                </a:lnTo>
                <a:lnTo>
                  <a:pt x="1203" y="205"/>
                </a:lnTo>
                <a:lnTo>
                  <a:pt x="1207" y="205"/>
                </a:lnTo>
                <a:lnTo>
                  <a:pt x="1207" y="190"/>
                </a:lnTo>
                <a:lnTo>
                  <a:pt x="1210" y="190"/>
                </a:lnTo>
                <a:lnTo>
                  <a:pt x="1210" y="174"/>
                </a:lnTo>
                <a:lnTo>
                  <a:pt x="1214" y="174"/>
                </a:lnTo>
                <a:lnTo>
                  <a:pt x="1214" y="158"/>
                </a:lnTo>
                <a:lnTo>
                  <a:pt x="1218" y="158"/>
                </a:lnTo>
                <a:lnTo>
                  <a:pt x="1218" y="142"/>
                </a:lnTo>
                <a:lnTo>
                  <a:pt x="1222" y="142"/>
                </a:lnTo>
                <a:lnTo>
                  <a:pt x="1222" y="126"/>
                </a:lnTo>
                <a:lnTo>
                  <a:pt x="1226" y="126"/>
                </a:lnTo>
                <a:lnTo>
                  <a:pt x="1226" y="110"/>
                </a:lnTo>
                <a:lnTo>
                  <a:pt x="1230" y="110"/>
                </a:lnTo>
                <a:lnTo>
                  <a:pt x="1230" y="95"/>
                </a:lnTo>
                <a:lnTo>
                  <a:pt x="1234" y="95"/>
                </a:lnTo>
                <a:lnTo>
                  <a:pt x="1234" y="79"/>
                </a:lnTo>
                <a:lnTo>
                  <a:pt x="1238" y="79"/>
                </a:lnTo>
                <a:lnTo>
                  <a:pt x="1238" y="63"/>
                </a:lnTo>
                <a:lnTo>
                  <a:pt x="1242" y="63"/>
                </a:lnTo>
                <a:lnTo>
                  <a:pt x="1242" y="47"/>
                </a:lnTo>
                <a:lnTo>
                  <a:pt x="1210" y="47"/>
                </a:lnTo>
                <a:lnTo>
                  <a:pt x="1199" y="43"/>
                </a:lnTo>
                <a:lnTo>
                  <a:pt x="1203" y="39"/>
                </a:lnTo>
                <a:lnTo>
                  <a:pt x="1203" y="31"/>
                </a:lnTo>
                <a:lnTo>
                  <a:pt x="1397" y="35"/>
                </a:lnTo>
                <a:lnTo>
                  <a:pt x="1409" y="39"/>
                </a:lnTo>
                <a:lnTo>
                  <a:pt x="1433" y="51"/>
                </a:lnTo>
                <a:lnTo>
                  <a:pt x="1449" y="67"/>
                </a:lnTo>
                <a:lnTo>
                  <a:pt x="1457" y="83"/>
                </a:lnTo>
                <a:lnTo>
                  <a:pt x="1461" y="87"/>
                </a:lnTo>
                <a:lnTo>
                  <a:pt x="1469" y="102"/>
                </a:lnTo>
                <a:lnTo>
                  <a:pt x="1473" y="114"/>
                </a:lnTo>
                <a:lnTo>
                  <a:pt x="1477" y="186"/>
                </a:lnTo>
                <a:lnTo>
                  <a:pt x="1473" y="186"/>
                </a:lnTo>
                <a:lnTo>
                  <a:pt x="1473" y="197"/>
                </a:lnTo>
                <a:lnTo>
                  <a:pt x="1469" y="197"/>
                </a:lnTo>
                <a:lnTo>
                  <a:pt x="1469" y="213"/>
                </a:lnTo>
                <a:lnTo>
                  <a:pt x="1465" y="213"/>
                </a:lnTo>
                <a:lnTo>
                  <a:pt x="1465" y="225"/>
                </a:lnTo>
                <a:lnTo>
                  <a:pt x="1461" y="225"/>
                </a:lnTo>
                <a:lnTo>
                  <a:pt x="1461" y="233"/>
                </a:lnTo>
                <a:lnTo>
                  <a:pt x="1457" y="237"/>
                </a:lnTo>
                <a:lnTo>
                  <a:pt x="1453" y="237"/>
                </a:lnTo>
                <a:lnTo>
                  <a:pt x="1453" y="245"/>
                </a:lnTo>
                <a:lnTo>
                  <a:pt x="1449" y="245"/>
                </a:lnTo>
                <a:lnTo>
                  <a:pt x="1449" y="253"/>
                </a:lnTo>
                <a:lnTo>
                  <a:pt x="1445" y="253"/>
                </a:lnTo>
                <a:lnTo>
                  <a:pt x="1445" y="261"/>
                </a:lnTo>
                <a:lnTo>
                  <a:pt x="1441" y="265"/>
                </a:lnTo>
                <a:lnTo>
                  <a:pt x="1437" y="265"/>
                </a:lnTo>
                <a:lnTo>
                  <a:pt x="1437" y="273"/>
                </a:lnTo>
                <a:lnTo>
                  <a:pt x="1425" y="285"/>
                </a:lnTo>
                <a:lnTo>
                  <a:pt x="1421" y="285"/>
                </a:lnTo>
                <a:lnTo>
                  <a:pt x="1421" y="293"/>
                </a:lnTo>
                <a:lnTo>
                  <a:pt x="1417" y="296"/>
                </a:lnTo>
                <a:lnTo>
                  <a:pt x="1409" y="300"/>
                </a:lnTo>
                <a:lnTo>
                  <a:pt x="1389" y="320"/>
                </a:lnTo>
                <a:lnTo>
                  <a:pt x="1373" y="328"/>
                </a:lnTo>
                <a:lnTo>
                  <a:pt x="1369" y="332"/>
                </a:lnTo>
                <a:lnTo>
                  <a:pt x="1345" y="344"/>
                </a:lnTo>
                <a:lnTo>
                  <a:pt x="1334" y="348"/>
                </a:lnTo>
                <a:lnTo>
                  <a:pt x="1318" y="352"/>
                </a:lnTo>
                <a:lnTo>
                  <a:pt x="1286" y="356"/>
                </a:lnTo>
                <a:lnTo>
                  <a:pt x="1135" y="356"/>
                </a:lnTo>
                <a:close/>
                <a:moveTo>
                  <a:pt x="1214" y="344"/>
                </a:moveTo>
                <a:lnTo>
                  <a:pt x="1210" y="340"/>
                </a:lnTo>
                <a:lnTo>
                  <a:pt x="1207" y="336"/>
                </a:lnTo>
                <a:lnTo>
                  <a:pt x="1210" y="332"/>
                </a:lnTo>
                <a:lnTo>
                  <a:pt x="1210" y="324"/>
                </a:lnTo>
                <a:lnTo>
                  <a:pt x="1214" y="324"/>
                </a:lnTo>
                <a:lnTo>
                  <a:pt x="1214" y="308"/>
                </a:lnTo>
                <a:lnTo>
                  <a:pt x="1218" y="308"/>
                </a:lnTo>
                <a:lnTo>
                  <a:pt x="1218" y="293"/>
                </a:lnTo>
                <a:lnTo>
                  <a:pt x="1222" y="293"/>
                </a:lnTo>
                <a:lnTo>
                  <a:pt x="1222" y="277"/>
                </a:lnTo>
                <a:lnTo>
                  <a:pt x="1226" y="277"/>
                </a:lnTo>
                <a:lnTo>
                  <a:pt x="1226" y="261"/>
                </a:lnTo>
                <a:lnTo>
                  <a:pt x="1230" y="261"/>
                </a:lnTo>
                <a:lnTo>
                  <a:pt x="1230" y="245"/>
                </a:lnTo>
                <a:lnTo>
                  <a:pt x="1234" y="245"/>
                </a:lnTo>
                <a:lnTo>
                  <a:pt x="1234" y="229"/>
                </a:lnTo>
                <a:lnTo>
                  <a:pt x="1238" y="229"/>
                </a:lnTo>
                <a:lnTo>
                  <a:pt x="1238" y="213"/>
                </a:lnTo>
                <a:lnTo>
                  <a:pt x="1242" y="213"/>
                </a:lnTo>
                <a:lnTo>
                  <a:pt x="1242" y="194"/>
                </a:lnTo>
                <a:lnTo>
                  <a:pt x="1246" y="194"/>
                </a:lnTo>
                <a:lnTo>
                  <a:pt x="1246" y="178"/>
                </a:lnTo>
                <a:lnTo>
                  <a:pt x="1250" y="178"/>
                </a:lnTo>
                <a:lnTo>
                  <a:pt x="1250" y="162"/>
                </a:lnTo>
                <a:lnTo>
                  <a:pt x="1254" y="162"/>
                </a:lnTo>
                <a:lnTo>
                  <a:pt x="1254" y="146"/>
                </a:lnTo>
                <a:lnTo>
                  <a:pt x="1258" y="146"/>
                </a:lnTo>
                <a:lnTo>
                  <a:pt x="1258" y="130"/>
                </a:lnTo>
                <a:lnTo>
                  <a:pt x="1262" y="130"/>
                </a:lnTo>
                <a:lnTo>
                  <a:pt x="1262" y="114"/>
                </a:lnTo>
                <a:lnTo>
                  <a:pt x="1266" y="114"/>
                </a:lnTo>
                <a:lnTo>
                  <a:pt x="1266" y="98"/>
                </a:lnTo>
                <a:lnTo>
                  <a:pt x="1270" y="98"/>
                </a:lnTo>
                <a:lnTo>
                  <a:pt x="1270" y="83"/>
                </a:lnTo>
                <a:lnTo>
                  <a:pt x="1274" y="83"/>
                </a:lnTo>
                <a:lnTo>
                  <a:pt x="1274" y="63"/>
                </a:lnTo>
                <a:lnTo>
                  <a:pt x="1278" y="63"/>
                </a:lnTo>
                <a:lnTo>
                  <a:pt x="1278" y="51"/>
                </a:lnTo>
                <a:lnTo>
                  <a:pt x="1282" y="51"/>
                </a:lnTo>
                <a:lnTo>
                  <a:pt x="1381" y="47"/>
                </a:lnTo>
                <a:lnTo>
                  <a:pt x="1381" y="51"/>
                </a:lnTo>
                <a:lnTo>
                  <a:pt x="1393" y="55"/>
                </a:lnTo>
                <a:lnTo>
                  <a:pt x="1401" y="59"/>
                </a:lnTo>
                <a:lnTo>
                  <a:pt x="1405" y="63"/>
                </a:lnTo>
                <a:lnTo>
                  <a:pt x="1413" y="67"/>
                </a:lnTo>
                <a:lnTo>
                  <a:pt x="1417" y="75"/>
                </a:lnTo>
                <a:lnTo>
                  <a:pt x="1421" y="79"/>
                </a:lnTo>
                <a:lnTo>
                  <a:pt x="1425" y="87"/>
                </a:lnTo>
                <a:lnTo>
                  <a:pt x="1429" y="91"/>
                </a:lnTo>
                <a:lnTo>
                  <a:pt x="1433" y="106"/>
                </a:lnTo>
                <a:lnTo>
                  <a:pt x="1437" y="174"/>
                </a:lnTo>
                <a:lnTo>
                  <a:pt x="1433" y="174"/>
                </a:lnTo>
                <a:lnTo>
                  <a:pt x="1433" y="194"/>
                </a:lnTo>
                <a:lnTo>
                  <a:pt x="1429" y="194"/>
                </a:lnTo>
                <a:lnTo>
                  <a:pt x="1429" y="209"/>
                </a:lnTo>
                <a:lnTo>
                  <a:pt x="1425" y="209"/>
                </a:lnTo>
                <a:lnTo>
                  <a:pt x="1425" y="217"/>
                </a:lnTo>
                <a:lnTo>
                  <a:pt x="1421" y="217"/>
                </a:lnTo>
                <a:lnTo>
                  <a:pt x="1421" y="229"/>
                </a:lnTo>
                <a:lnTo>
                  <a:pt x="1417" y="229"/>
                </a:lnTo>
                <a:lnTo>
                  <a:pt x="1417" y="241"/>
                </a:lnTo>
                <a:lnTo>
                  <a:pt x="1413" y="241"/>
                </a:lnTo>
                <a:lnTo>
                  <a:pt x="1413" y="249"/>
                </a:lnTo>
                <a:lnTo>
                  <a:pt x="1409" y="249"/>
                </a:lnTo>
                <a:lnTo>
                  <a:pt x="1409" y="257"/>
                </a:lnTo>
                <a:lnTo>
                  <a:pt x="1405" y="261"/>
                </a:lnTo>
                <a:lnTo>
                  <a:pt x="1401" y="261"/>
                </a:lnTo>
                <a:lnTo>
                  <a:pt x="1401" y="269"/>
                </a:lnTo>
                <a:lnTo>
                  <a:pt x="1397" y="273"/>
                </a:lnTo>
                <a:lnTo>
                  <a:pt x="1393" y="273"/>
                </a:lnTo>
                <a:lnTo>
                  <a:pt x="1393" y="281"/>
                </a:lnTo>
                <a:lnTo>
                  <a:pt x="1385" y="289"/>
                </a:lnTo>
                <a:lnTo>
                  <a:pt x="1381" y="289"/>
                </a:lnTo>
                <a:lnTo>
                  <a:pt x="1381" y="296"/>
                </a:lnTo>
                <a:lnTo>
                  <a:pt x="1369" y="308"/>
                </a:lnTo>
                <a:lnTo>
                  <a:pt x="1361" y="312"/>
                </a:lnTo>
                <a:lnTo>
                  <a:pt x="1349" y="324"/>
                </a:lnTo>
                <a:lnTo>
                  <a:pt x="1338" y="328"/>
                </a:lnTo>
                <a:lnTo>
                  <a:pt x="1322" y="336"/>
                </a:lnTo>
                <a:lnTo>
                  <a:pt x="1306" y="340"/>
                </a:lnTo>
                <a:lnTo>
                  <a:pt x="1278" y="344"/>
                </a:lnTo>
                <a:lnTo>
                  <a:pt x="1214" y="344"/>
                </a:lnTo>
                <a:close/>
              </a:path>
              <a:path w="2501" h="471">
                <a:moveTo>
                  <a:pt x="1643" y="471"/>
                </a:moveTo>
                <a:lnTo>
                  <a:pt x="1639" y="467"/>
                </a:lnTo>
                <a:lnTo>
                  <a:pt x="1604" y="431"/>
                </a:lnTo>
                <a:lnTo>
                  <a:pt x="1600" y="423"/>
                </a:lnTo>
                <a:lnTo>
                  <a:pt x="1596" y="419"/>
                </a:lnTo>
                <a:lnTo>
                  <a:pt x="1588" y="403"/>
                </a:lnTo>
                <a:lnTo>
                  <a:pt x="1584" y="399"/>
                </a:lnTo>
                <a:lnTo>
                  <a:pt x="1580" y="391"/>
                </a:lnTo>
                <a:lnTo>
                  <a:pt x="1576" y="388"/>
                </a:lnTo>
                <a:lnTo>
                  <a:pt x="1568" y="364"/>
                </a:lnTo>
                <a:lnTo>
                  <a:pt x="1564" y="356"/>
                </a:lnTo>
                <a:lnTo>
                  <a:pt x="1560" y="344"/>
                </a:lnTo>
                <a:lnTo>
                  <a:pt x="1552" y="312"/>
                </a:lnTo>
                <a:lnTo>
                  <a:pt x="1548" y="285"/>
                </a:lnTo>
                <a:lnTo>
                  <a:pt x="1544" y="237"/>
                </a:lnTo>
                <a:lnTo>
                  <a:pt x="1548" y="233"/>
                </a:lnTo>
                <a:lnTo>
                  <a:pt x="1548" y="186"/>
                </a:lnTo>
                <a:lnTo>
                  <a:pt x="1552" y="186"/>
                </a:lnTo>
                <a:lnTo>
                  <a:pt x="1552" y="162"/>
                </a:lnTo>
                <a:lnTo>
                  <a:pt x="1556" y="162"/>
                </a:lnTo>
                <a:lnTo>
                  <a:pt x="1556" y="146"/>
                </a:lnTo>
                <a:lnTo>
                  <a:pt x="1560" y="146"/>
                </a:lnTo>
                <a:lnTo>
                  <a:pt x="1560" y="130"/>
                </a:lnTo>
                <a:lnTo>
                  <a:pt x="1564" y="130"/>
                </a:lnTo>
                <a:lnTo>
                  <a:pt x="1564" y="118"/>
                </a:lnTo>
                <a:lnTo>
                  <a:pt x="1568" y="118"/>
                </a:lnTo>
                <a:lnTo>
                  <a:pt x="1568" y="106"/>
                </a:lnTo>
                <a:lnTo>
                  <a:pt x="1572" y="106"/>
                </a:lnTo>
                <a:lnTo>
                  <a:pt x="1572" y="98"/>
                </a:lnTo>
                <a:lnTo>
                  <a:pt x="1576" y="98"/>
                </a:lnTo>
                <a:lnTo>
                  <a:pt x="1576" y="91"/>
                </a:lnTo>
                <a:lnTo>
                  <a:pt x="1580" y="91"/>
                </a:lnTo>
                <a:lnTo>
                  <a:pt x="1580" y="79"/>
                </a:lnTo>
                <a:lnTo>
                  <a:pt x="1584" y="79"/>
                </a:lnTo>
                <a:lnTo>
                  <a:pt x="1588" y="75"/>
                </a:lnTo>
                <a:lnTo>
                  <a:pt x="1588" y="67"/>
                </a:lnTo>
                <a:lnTo>
                  <a:pt x="1592" y="67"/>
                </a:lnTo>
                <a:lnTo>
                  <a:pt x="1596" y="63"/>
                </a:lnTo>
                <a:lnTo>
                  <a:pt x="1596" y="55"/>
                </a:lnTo>
                <a:lnTo>
                  <a:pt x="1600" y="55"/>
                </a:lnTo>
                <a:lnTo>
                  <a:pt x="1600" y="47"/>
                </a:lnTo>
                <a:lnTo>
                  <a:pt x="1604" y="47"/>
                </a:lnTo>
                <a:lnTo>
                  <a:pt x="1611" y="39"/>
                </a:lnTo>
                <a:lnTo>
                  <a:pt x="1611" y="31"/>
                </a:lnTo>
                <a:lnTo>
                  <a:pt x="1615" y="31"/>
                </a:lnTo>
                <a:lnTo>
                  <a:pt x="1643" y="3"/>
                </a:lnTo>
                <a:lnTo>
                  <a:pt x="1655" y="0"/>
                </a:lnTo>
                <a:lnTo>
                  <a:pt x="1655" y="7"/>
                </a:lnTo>
                <a:lnTo>
                  <a:pt x="1647" y="7"/>
                </a:lnTo>
                <a:lnTo>
                  <a:pt x="1647" y="15"/>
                </a:lnTo>
                <a:lnTo>
                  <a:pt x="1639" y="23"/>
                </a:lnTo>
                <a:lnTo>
                  <a:pt x="1635" y="23"/>
                </a:lnTo>
                <a:lnTo>
                  <a:pt x="1635" y="31"/>
                </a:lnTo>
                <a:lnTo>
                  <a:pt x="1627" y="39"/>
                </a:lnTo>
                <a:lnTo>
                  <a:pt x="1623" y="39"/>
                </a:lnTo>
                <a:lnTo>
                  <a:pt x="1623" y="47"/>
                </a:lnTo>
                <a:lnTo>
                  <a:pt x="1615" y="55"/>
                </a:lnTo>
                <a:lnTo>
                  <a:pt x="1611" y="55"/>
                </a:lnTo>
                <a:lnTo>
                  <a:pt x="1611" y="67"/>
                </a:lnTo>
                <a:lnTo>
                  <a:pt x="1608" y="67"/>
                </a:lnTo>
                <a:lnTo>
                  <a:pt x="1608" y="75"/>
                </a:lnTo>
                <a:lnTo>
                  <a:pt x="1604" y="75"/>
                </a:lnTo>
                <a:lnTo>
                  <a:pt x="1604" y="83"/>
                </a:lnTo>
                <a:lnTo>
                  <a:pt x="1600" y="83"/>
                </a:lnTo>
                <a:lnTo>
                  <a:pt x="1600" y="95"/>
                </a:lnTo>
                <a:lnTo>
                  <a:pt x="1596" y="95"/>
                </a:lnTo>
                <a:lnTo>
                  <a:pt x="1596" y="102"/>
                </a:lnTo>
                <a:lnTo>
                  <a:pt x="1592" y="102"/>
                </a:lnTo>
                <a:lnTo>
                  <a:pt x="1592" y="114"/>
                </a:lnTo>
                <a:lnTo>
                  <a:pt x="1588" y="114"/>
                </a:lnTo>
                <a:lnTo>
                  <a:pt x="1588" y="130"/>
                </a:lnTo>
                <a:lnTo>
                  <a:pt x="1584" y="130"/>
                </a:lnTo>
                <a:lnTo>
                  <a:pt x="1584" y="150"/>
                </a:lnTo>
                <a:lnTo>
                  <a:pt x="1580" y="150"/>
                </a:lnTo>
                <a:lnTo>
                  <a:pt x="1580" y="170"/>
                </a:lnTo>
                <a:lnTo>
                  <a:pt x="1576" y="170"/>
                </a:lnTo>
                <a:lnTo>
                  <a:pt x="1576" y="233"/>
                </a:lnTo>
                <a:lnTo>
                  <a:pt x="1572" y="237"/>
                </a:lnTo>
                <a:lnTo>
                  <a:pt x="1576" y="293"/>
                </a:lnTo>
                <a:lnTo>
                  <a:pt x="1580" y="316"/>
                </a:lnTo>
                <a:lnTo>
                  <a:pt x="1584" y="336"/>
                </a:lnTo>
                <a:lnTo>
                  <a:pt x="1592" y="368"/>
                </a:lnTo>
                <a:lnTo>
                  <a:pt x="1600" y="384"/>
                </a:lnTo>
                <a:lnTo>
                  <a:pt x="1604" y="395"/>
                </a:lnTo>
                <a:lnTo>
                  <a:pt x="1619" y="427"/>
                </a:lnTo>
                <a:lnTo>
                  <a:pt x="1623" y="431"/>
                </a:lnTo>
                <a:lnTo>
                  <a:pt x="1627" y="439"/>
                </a:lnTo>
                <a:lnTo>
                  <a:pt x="1631" y="443"/>
                </a:lnTo>
                <a:lnTo>
                  <a:pt x="1635" y="451"/>
                </a:lnTo>
                <a:lnTo>
                  <a:pt x="1639" y="455"/>
                </a:lnTo>
                <a:lnTo>
                  <a:pt x="1643" y="463"/>
                </a:lnTo>
                <a:lnTo>
                  <a:pt x="1651" y="467"/>
                </a:lnTo>
                <a:lnTo>
                  <a:pt x="1655" y="471"/>
                </a:lnTo>
                <a:lnTo>
                  <a:pt x="1643" y="471"/>
                </a:lnTo>
                <a:close/>
              </a:path>
              <a:path w="2501" h="471">
                <a:moveTo>
                  <a:pt x="1711" y="356"/>
                </a:moveTo>
                <a:lnTo>
                  <a:pt x="1707" y="348"/>
                </a:lnTo>
                <a:lnTo>
                  <a:pt x="1707" y="332"/>
                </a:lnTo>
                <a:lnTo>
                  <a:pt x="1711" y="332"/>
                </a:lnTo>
                <a:lnTo>
                  <a:pt x="1711" y="316"/>
                </a:lnTo>
                <a:lnTo>
                  <a:pt x="1715" y="316"/>
                </a:lnTo>
                <a:lnTo>
                  <a:pt x="1715" y="300"/>
                </a:lnTo>
                <a:lnTo>
                  <a:pt x="1719" y="300"/>
                </a:lnTo>
                <a:lnTo>
                  <a:pt x="1719" y="285"/>
                </a:lnTo>
                <a:lnTo>
                  <a:pt x="1723" y="285"/>
                </a:lnTo>
                <a:lnTo>
                  <a:pt x="1723" y="269"/>
                </a:lnTo>
                <a:lnTo>
                  <a:pt x="1727" y="269"/>
                </a:lnTo>
                <a:lnTo>
                  <a:pt x="1727" y="253"/>
                </a:lnTo>
                <a:lnTo>
                  <a:pt x="1731" y="253"/>
                </a:lnTo>
                <a:lnTo>
                  <a:pt x="1731" y="237"/>
                </a:lnTo>
                <a:lnTo>
                  <a:pt x="1735" y="237"/>
                </a:lnTo>
                <a:lnTo>
                  <a:pt x="1735" y="221"/>
                </a:lnTo>
                <a:lnTo>
                  <a:pt x="1739" y="221"/>
                </a:lnTo>
                <a:lnTo>
                  <a:pt x="1739" y="205"/>
                </a:lnTo>
                <a:lnTo>
                  <a:pt x="1743" y="205"/>
                </a:lnTo>
                <a:lnTo>
                  <a:pt x="1743" y="190"/>
                </a:lnTo>
                <a:lnTo>
                  <a:pt x="1746" y="190"/>
                </a:lnTo>
                <a:lnTo>
                  <a:pt x="1746" y="174"/>
                </a:lnTo>
                <a:lnTo>
                  <a:pt x="1750" y="174"/>
                </a:lnTo>
                <a:lnTo>
                  <a:pt x="1750" y="158"/>
                </a:lnTo>
                <a:lnTo>
                  <a:pt x="1754" y="158"/>
                </a:lnTo>
                <a:lnTo>
                  <a:pt x="1754" y="142"/>
                </a:lnTo>
                <a:lnTo>
                  <a:pt x="1758" y="142"/>
                </a:lnTo>
                <a:lnTo>
                  <a:pt x="1758" y="126"/>
                </a:lnTo>
                <a:lnTo>
                  <a:pt x="1762" y="126"/>
                </a:lnTo>
                <a:lnTo>
                  <a:pt x="1762" y="110"/>
                </a:lnTo>
                <a:lnTo>
                  <a:pt x="1766" y="110"/>
                </a:lnTo>
                <a:lnTo>
                  <a:pt x="1766" y="95"/>
                </a:lnTo>
                <a:lnTo>
                  <a:pt x="1770" y="95"/>
                </a:lnTo>
                <a:lnTo>
                  <a:pt x="1770" y="79"/>
                </a:lnTo>
                <a:lnTo>
                  <a:pt x="1774" y="79"/>
                </a:lnTo>
                <a:lnTo>
                  <a:pt x="1774" y="63"/>
                </a:lnTo>
                <a:lnTo>
                  <a:pt x="1778" y="63"/>
                </a:lnTo>
                <a:lnTo>
                  <a:pt x="1778" y="47"/>
                </a:lnTo>
                <a:lnTo>
                  <a:pt x="1754" y="47"/>
                </a:lnTo>
                <a:lnTo>
                  <a:pt x="1743" y="43"/>
                </a:lnTo>
                <a:lnTo>
                  <a:pt x="1746" y="39"/>
                </a:lnTo>
                <a:lnTo>
                  <a:pt x="1746" y="31"/>
                </a:lnTo>
                <a:lnTo>
                  <a:pt x="1782" y="31"/>
                </a:lnTo>
                <a:lnTo>
                  <a:pt x="1814" y="27"/>
                </a:lnTo>
                <a:lnTo>
                  <a:pt x="1814" y="51"/>
                </a:lnTo>
                <a:lnTo>
                  <a:pt x="1810" y="51"/>
                </a:lnTo>
                <a:lnTo>
                  <a:pt x="1810" y="67"/>
                </a:lnTo>
                <a:lnTo>
                  <a:pt x="1806" y="67"/>
                </a:lnTo>
                <a:lnTo>
                  <a:pt x="1806" y="83"/>
                </a:lnTo>
                <a:lnTo>
                  <a:pt x="1802" y="83"/>
                </a:lnTo>
                <a:lnTo>
                  <a:pt x="1802" y="98"/>
                </a:lnTo>
                <a:lnTo>
                  <a:pt x="1798" y="98"/>
                </a:lnTo>
                <a:lnTo>
                  <a:pt x="1798" y="110"/>
                </a:lnTo>
                <a:lnTo>
                  <a:pt x="1794" y="110"/>
                </a:lnTo>
                <a:lnTo>
                  <a:pt x="1794" y="126"/>
                </a:lnTo>
                <a:lnTo>
                  <a:pt x="1790" y="126"/>
                </a:lnTo>
                <a:lnTo>
                  <a:pt x="1790" y="142"/>
                </a:lnTo>
                <a:lnTo>
                  <a:pt x="1786" y="142"/>
                </a:lnTo>
                <a:lnTo>
                  <a:pt x="1786" y="158"/>
                </a:lnTo>
                <a:lnTo>
                  <a:pt x="1782" y="158"/>
                </a:lnTo>
                <a:lnTo>
                  <a:pt x="1782" y="170"/>
                </a:lnTo>
                <a:lnTo>
                  <a:pt x="1778" y="170"/>
                </a:lnTo>
                <a:lnTo>
                  <a:pt x="1778" y="186"/>
                </a:lnTo>
                <a:lnTo>
                  <a:pt x="1774" y="186"/>
                </a:lnTo>
                <a:lnTo>
                  <a:pt x="1774" y="201"/>
                </a:lnTo>
                <a:lnTo>
                  <a:pt x="1770" y="201"/>
                </a:lnTo>
                <a:lnTo>
                  <a:pt x="1770" y="217"/>
                </a:lnTo>
                <a:lnTo>
                  <a:pt x="1766" y="217"/>
                </a:lnTo>
                <a:lnTo>
                  <a:pt x="1766" y="229"/>
                </a:lnTo>
                <a:lnTo>
                  <a:pt x="1774" y="229"/>
                </a:lnTo>
                <a:lnTo>
                  <a:pt x="1782" y="225"/>
                </a:lnTo>
                <a:lnTo>
                  <a:pt x="1786" y="221"/>
                </a:lnTo>
                <a:lnTo>
                  <a:pt x="1794" y="217"/>
                </a:lnTo>
                <a:lnTo>
                  <a:pt x="1830" y="182"/>
                </a:lnTo>
                <a:lnTo>
                  <a:pt x="1830" y="174"/>
                </a:lnTo>
                <a:lnTo>
                  <a:pt x="1834" y="174"/>
                </a:lnTo>
                <a:lnTo>
                  <a:pt x="1842" y="170"/>
                </a:lnTo>
                <a:lnTo>
                  <a:pt x="1854" y="158"/>
                </a:lnTo>
                <a:lnTo>
                  <a:pt x="1862" y="154"/>
                </a:lnTo>
                <a:lnTo>
                  <a:pt x="1866" y="150"/>
                </a:lnTo>
                <a:lnTo>
                  <a:pt x="1901" y="146"/>
                </a:lnTo>
                <a:lnTo>
                  <a:pt x="1901" y="150"/>
                </a:lnTo>
                <a:lnTo>
                  <a:pt x="1909" y="154"/>
                </a:lnTo>
                <a:lnTo>
                  <a:pt x="1913" y="158"/>
                </a:lnTo>
                <a:lnTo>
                  <a:pt x="1917" y="186"/>
                </a:lnTo>
                <a:lnTo>
                  <a:pt x="1913" y="186"/>
                </a:lnTo>
                <a:lnTo>
                  <a:pt x="1913" y="194"/>
                </a:lnTo>
                <a:lnTo>
                  <a:pt x="1905" y="197"/>
                </a:lnTo>
                <a:lnTo>
                  <a:pt x="1885" y="197"/>
                </a:lnTo>
                <a:lnTo>
                  <a:pt x="1881" y="194"/>
                </a:lnTo>
                <a:lnTo>
                  <a:pt x="1878" y="186"/>
                </a:lnTo>
                <a:lnTo>
                  <a:pt x="1881" y="182"/>
                </a:lnTo>
                <a:lnTo>
                  <a:pt x="1881" y="174"/>
                </a:lnTo>
                <a:lnTo>
                  <a:pt x="1885" y="174"/>
                </a:lnTo>
                <a:lnTo>
                  <a:pt x="1889" y="170"/>
                </a:lnTo>
                <a:lnTo>
                  <a:pt x="1897" y="166"/>
                </a:lnTo>
                <a:lnTo>
                  <a:pt x="1901" y="162"/>
                </a:lnTo>
                <a:lnTo>
                  <a:pt x="1870" y="158"/>
                </a:lnTo>
                <a:lnTo>
                  <a:pt x="1870" y="162"/>
                </a:lnTo>
                <a:lnTo>
                  <a:pt x="1854" y="170"/>
                </a:lnTo>
                <a:lnTo>
                  <a:pt x="1826" y="197"/>
                </a:lnTo>
                <a:lnTo>
                  <a:pt x="1818" y="197"/>
                </a:lnTo>
                <a:lnTo>
                  <a:pt x="1818" y="205"/>
                </a:lnTo>
                <a:lnTo>
                  <a:pt x="1798" y="225"/>
                </a:lnTo>
                <a:lnTo>
                  <a:pt x="1790" y="229"/>
                </a:lnTo>
                <a:lnTo>
                  <a:pt x="1786" y="233"/>
                </a:lnTo>
                <a:lnTo>
                  <a:pt x="1778" y="237"/>
                </a:lnTo>
                <a:lnTo>
                  <a:pt x="1810" y="245"/>
                </a:lnTo>
                <a:lnTo>
                  <a:pt x="1826" y="253"/>
                </a:lnTo>
                <a:lnTo>
                  <a:pt x="1842" y="269"/>
                </a:lnTo>
                <a:lnTo>
                  <a:pt x="1846" y="296"/>
                </a:lnTo>
                <a:lnTo>
                  <a:pt x="1842" y="296"/>
                </a:lnTo>
                <a:lnTo>
                  <a:pt x="1842" y="324"/>
                </a:lnTo>
                <a:lnTo>
                  <a:pt x="1838" y="328"/>
                </a:lnTo>
                <a:lnTo>
                  <a:pt x="1842" y="344"/>
                </a:lnTo>
                <a:lnTo>
                  <a:pt x="1846" y="348"/>
                </a:lnTo>
                <a:lnTo>
                  <a:pt x="1870" y="348"/>
                </a:lnTo>
                <a:lnTo>
                  <a:pt x="1885" y="332"/>
                </a:lnTo>
                <a:lnTo>
                  <a:pt x="1885" y="324"/>
                </a:lnTo>
                <a:lnTo>
                  <a:pt x="1889" y="324"/>
                </a:lnTo>
                <a:lnTo>
                  <a:pt x="1889" y="316"/>
                </a:lnTo>
                <a:lnTo>
                  <a:pt x="1893" y="316"/>
                </a:lnTo>
                <a:lnTo>
                  <a:pt x="1893" y="304"/>
                </a:lnTo>
                <a:lnTo>
                  <a:pt x="1897" y="304"/>
                </a:lnTo>
                <a:lnTo>
                  <a:pt x="1897" y="289"/>
                </a:lnTo>
                <a:lnTo>
                  <a:pt x="1901" y="289"/>
                </a:lnTo>
                <a:lnTo>
                  <a:pt x="1909" y="285"/>
                </a:lnTo>
                <a:lnTo>
                  <a:pt x="1909" y="300"/>
                </a:lnTo>
                <a:lnTo>
                  <a:pt x="1905" y="300"/>
                </a:lnTo>
                <a:lnTo>
                  <a:pt x="1905" y="308"/>
                </a:lnTo>
                <a:lnTo>
                  <a:pt x="1901" y="308"/>
                </a:lnTo>
                <a:lnTo>
                  <a:pt x="1901" y="316"/>
                </a:lnTo>
                <a:lnTo>
                  <a:pt x="1897" y="316"/>
                </a:lnTo>
                <a:lnTo>
                  <a:pt x="1897" y="324"/>
                </a:lnTo>
                <a:lnTo>
                  <a:pt x="1893" y="324"/>
                </a:lnTo>
                <a:lnTo>
                  <a:pt x="1893" y="332"/>
                </a:lnTo>
                <a:lnTo>
                  <a:pt x="1889" y="332"/>
                </a:lnTo>
                <a:lnTo>
                  <a:pt x="1889" y="340"/>
                </a:lnTo>
                <a:lnTo>
                  <a:pt x="1885" y="340"/>
                </a:lnTo>
                <a:lnTo>
                  <a:pt x="1885" y="348"/>
                </a:lnTo>
                <a:lnTo>
                  <a:pt x="1878" y="352"/>
                </a:lnTo>
                <a:lnTo>
                  <a:pt x="1874" y="356"/>
                </a:lnTo>
                <a:lnTo>
                  <a:pt x="1838" y="356"/>
                </a:lnTo>
                <a:lnTo>
                  <a:pt x="1834" y="352"/>
                </a:lnTo>
                <a:lnTo>
                  <a:pt x="1826" y="348"/>
                </a:lnTo>
                <a:lnTo>
                  <a:pt x="1822" y="340"/>
                </a:lnTo>
                <a:lnTo>
                  <a:pt x="1818" y="336"/>
                </a:lnTo>
                <a:lnTo>
                  <a:pt x="1814" y="316"/>
                </a:lnTo>
                <a:lnTo>
                  <a:pt x="1810" y="269"/>
                </a:lnTo>
                <a:lnTo>
                  <a:pt x="1802" y="261"/>
                </a:lnTo>
                <a:lnTo>
                  <a:pt x="1794" y="257"/>
                </a:lnTo>
                <a:lnTo>
                  <a:pt x="1782" y="253"/>
                </a:lnTo>
                <a:lnTo>
                  <a:pt x="1762" y="249"/>
                </a:lnTo>
                <a:lnTo>
                  <a:pt x="1762" y="261"/>
                </a:lnTo>
                <a:lnTo>
                  <a:pt x="1758" y="261"/>
                </a:lnTo>
                <a:lnTo>
                  <a:pt x="1758" y="277"/>
                </a:lnTo>
                <a:lnTo>
                  <a:pt x="1754" y="277"/>
                </a:lnTo>
                <a:lnTo>
                  <a:pt x="1754" y="289"/>
                </a:lnTo>
                <a:lnTo>
                  <a:pt x="1750" y="289"/>
                </a:lnTo>
                <a:lnTo>
                  <a:pt x="1750" y="304"/>
                </a:lnTo>
                <a:lnTo>
                  <a:pt x="1746" y="304"/>
                </a:lnTo>
                <a:lnTo>
                  <a:pt x="1746" y="320"/>
                </a:lnTo>
                <a:lnTo>
                  <a:pt x="1743" y="320"/>
                </a:lnTo>
                <a:lnTo>
                  <a:pt x="1743" y="332"/>
                </a:lnTo>
                <a:lnTo>
                  <a:pt x="1739" y="332"/>
                </a:lnTo>
                <a:lnTo>
                  <a:pt x="1739" y="344"/>
                </a:lnTo>
                <a:lnTo>
                  <a:pt x="1735" y="344"/>
                </a:lnTo>
                <a:lnTo>
                  <a:pt x="1735" y="352"/>
                </a:lnTo>
                <a:lnTo>
                  <a:pt x="1731" y="356"/>
                </a:lnTo>
                <a:lnTo>
                  <a:pt x="1711" y="356"/>
                </a:lnTo>
                <a:close/>
              </a:path>
              <a:path w="2501" h="471">
                <a:moveTo>
                  <a:pt x="1985" y="443"/>
                </a:moveTo>
                <a:lnTo>
                  <a:pt x="1989" y="439"/>
                </a:lnTo>
                <a:lnTo>
                  <a:pt x="1989" y="431"/>
                </a:lnTo>
                <a:lnTo>
                  <a:pt x="1993" y="431"/>
                </a:lnTo>
                <a:lnTo>
                  <a:pt x="2001" y="423"/>
                </a:lnTo>
                <a:lnTo>
                  <a:pt x="2001" y="415"/>
                </a:lnTo>
                <a:lnTo>
                  <a:pt x="2005" y="415"/>
                </a:lnTo>
                <a:lnTo>
                  <a:pt x="2009" y="411"/>
                </a:lnTo>
                <a:lnTo>
                  <a:pt x="2009" y="403"/>
                </a:lnTo>
                <a:lnTo>
                  <a:pt x="2013" y="403"/>
                </a:lnTo>
                <a:lnTo>
                  <a:pt x="2013" y="395"/>
                </a:lnTo>
                <a:lnTo>
                  <a:pt x="2016" y="395"/>
                </a:lnTo>
                <a:lnTo>
                  <a:pt x="2016" y="384"/>
                </a:lnTo>
                <a:lnTo>
                  <a:pt x="2020" y="384"/>
                </a:lnTo>
                <a:lnTo>
                  <a:pt x="2016" y="348"/>
                </a:lnTo>
                <a:lnTo>
                  <a:pt x="2016" y="352"/>
                </a:lnTo>
                <a:lnTo>
                  <a:pt x="1989" y="352"/>
                </a:lnTo>
                <a:lnTo>
                  <a:pt x="1985" y="348"/>
                </a:lnTo>
                <a:lnTo>
                  <a:pt x="1977" y="332"/>
                </a:lnTo>
                <a:lnTo>
                  <a:pt x="1981" y="328"/>
                </a:lnTo>
                <a:lnTo>
                  <a:pt x="1981" y="320"/>
                </a:lnTo>
                <a:lnTo>
                  <a:pt x="1985" y="320"/>
                </a:lnTo>
                <a:lnTo>
                  <a:pt x="1989" y="316"/>
                </a:lnTo>
                <a:lnTo>
                  <a:pt x="2016" y="312"/>
                </a:lnTo>
                <a:lnTo>
                  <a:pt x="2016" y="316"/>
                </a:lnTo>
                <a:lnTo>
                  <a:pt x="2020" y="320"/>
                </a:lnTo>
                <a:lnTo>
                  <a:pt x="2024" y="332"/>
                </a:lnTo>
                <a:lnTo>
                  <a:pt x="2028" y="384"/>
                </a:lnTo>
                <a:lnTo>
                  <a:pt x="2024" y="384"/>
                </a:lnTo>
                <a:lnTo>
                  <a:pt x="2024" y="399"/>
                </a:lnTo>
                <a:lnTo>
                  <a:pt x="2020" y="399"/>
                </a:lnTo>
                <a:lnTo>
                  <a:pt x="2020" y="407"/>
                </a:lnTo>
                <a:lnTo>
                  <a:pt x="2016" y="407"/>
                </a:lnTo>
                <a:lnTo>
                  <a:pt x="2016" y="415"/>
                </a:lnTo>
                <a:lnTo>
                  <a:pt x="2013" y="415"/>
                </a:lnTo>
                <a:lnTo>
                  <a:pt x="2013" y="423"/>
                </a:lnTo>
                <a:lnTo>
                  <a:pt x="2009" y="427"/>
                </a:lnTo>
                <a:lnTo>
                  <a:pt x="2005" y="427"/>
                </a:lnTo>
                <a:lnTo>
                  <a:pt x="2005" y="435"/>
                </a:lnTo>
                <a:lnTo>
                  <a:pt x="1997" y="443"/>
                </a:lnTo>
                <a:lnTo>
                  <a:pt x="1985" y="443"/>
                </a:lnTo>
                <a:close/>
              </a:path>
              <a:path w="2501" h="471">
                <a:moveTo>
                  <a:pt x="2267" y="364"/>
                </a:moveTo>
                <a:lnTo>
                  <a:pt x="2251" y="360"/>
                </a:lnTo>
                <a:lnTo>
                  <a:pt x="2219" y="344"/>
                </a:lnTo>
                <a:lnTo>
                  <a:pt x="2191" y="316"/>
                </a:lnTo>
                <a:lnTo>
                  <a:pt x="2179" y="293"/>
                </a:lnTo>
                <a:lnTo>
                  <a:pt x="2171" y="269"/>
                </a:lnTo>
                <a:lnTo>
                  <a:pt x="2167" y="237"/>
                </a:lnTo>
                <a:lnTo>
                  <a:pt x="2171" y="233"/>
                </a:lnTo>
                <a:lnTo>
                  <a:pt x="2171" y="201"/>
                </a:lnTo>
                <a:lnTo>
                  <a:pt x="2175" y="201"/>
                </a:lnTo>
                <a:lnTo>
                  <a:pt x="2175" y="186"/>
                </a:lnTo>
                <a:lnTo>
                  <a:pt x="2179" y="186"/>
                </a:lnTo>
                <a:lnTo>
                  <a:pt x="2179" y="174"/>
                </a:lnTo>
                <a:lnTo>
                  <a:pt x="2183" y="174"/>
                </a:lnTo>
                <a:lnTo>
                  <a:pt x="2183" y="162"/>
                </a:lnTo>
                <a:lnTo>
                  <a:pt x="2187" y="162"/>
                </a:lnTo>
                <a:lnTo>
                  <a:pt x="2187" y="154"/>
                </a:lnTo>
                <a:lnTo>
                  <a:pt x="2191" y="154"/>
                </a:lnTo>
                <a:lnTo>
                  <a:pt x="2191" y="146"/>
                </a:lnTo>
                <a:lnTo>
                  <a:pt x="2195" y="146"/>
                </a:lnTo>
                <a:lnTo>
                  <a:pt x="2195" y="138"/>
                </a:lnTo>
                <a:lnTo>
                  <a:pt x="2199" y="138"/>
                </a:lnTo>
                <a:lnTo>
                  <a:pt x="2199" y="130"/>
                </a:lnTo>
                <a:lnTo>
                  <a:pt x="2203" y="130"/>
                </a:lnTo>
                <a:lnTo>
                  <a:pt x="2207" y="126"/>
                </a:lnTo>
                <a:lnTo>
                  <a:pt x="2207" y="118"/>
                </a:lnTo>
                <a:lnTo>
                  <a:pt x="2211" y="118"/>
                </a:lnTo>
                <a:lnTo>
                  <a:pt x="2219" y="110"/>
                </a:lnTo>
                <a:lnTo>
                  <a:pt x="2219" y="102"/>
                </a:lnTo>
                <a:lnTo>
                  <a:pt x="2223" y="102"/>
                </a:lnTo>
                <a:lnTo>
                  <a:pt x="2251" y="75"/>
                </a:lnTo>
                <a:lnTo>
                  <a:pt x="2259" y="71"/>
                </a:lnTo>
                <a:lnTo>
                  <a:pt x="2271" y="59"/>
                </a:lnTo>
                <a:lnTo>
                  <a:pt x="2294" y="47"/>
                </a:lnTo>
                <a:lnTo>
                  <a:pt x="2298" y="43"/>
                </a:lnTo>
                <a:lnTo>
                  <a:pt x="2322" y="35"/>
                </a:lnTo>
                <a:lnTo>
                  <a:pt x="2330" y="31"/>
                </a:lnTo>
                <a:lnTo>
                  <a:pt x="2346" y="27"/>
                </a:lnTo>
                <a:lnTo>
                  <a:pt x="2410" y="23"/>
                </a:lnTo>
                <a:lnTo>
                  <a:pt x="2410" y="27"/>
                </a:lnTo>
                <a:lnTo>
                  <a:pt x="2418" y="31"/>
                </a:lnTo>
                <a:lnTo>
                  <a:pt x="2429" y="35"/>
                </a:lnTo>
                <a:lnTo>
                  <a:pt x="2437" y="43"/>
                </a:lnTo>
                <a:lnTo>
                  <a:pt x="2445" y="43"/>
                </a:lnTo>
                <a:lnTo>
                  <a:pt x="2445" y="51"/>
                </a:lnTo>
                <a:lnTo>
                  <a:pt x="2457" y="63"/>
                </a:lnTo>
                <a:lnTo>
                  <a:pt x="2461" y="63"/>
                </a:lnTo>
                <a:lnTo>
                  <a:pt x="2473" y="51"/>
                </a:lnTo>
                <a:lnTo>
                  <a:pt x="2473" y="43"/>
                </a:lnTo>
                <a:lnTo>
                  <a:pt x="2477" y="43"/>
                </a:lnTo>
                <a:lnTo>
                  <a:pt x="2489" y="31"/>
                </a:lnTo>
                <a:lnTo>
                  <a:pt x="2489" y="23"/>
                </a:lnTo>
                <a:lnTo>
                  <a:pt x="2501" y="23"/>
                </a:lnTo>
                <a:lnTo>
                  <a:pt x="2501" y="39"/>
                </a:lnTo>
                <a:lnTo>
                  <a:pt x="2497" y="39"/>
                </a:lnTo>
                <a:lnTo>
                  <a:pt x="2497" y="55"/>
                </a:lnTo>
                <a:lnTo>
                  <a:pt x="2493" y="55"/>
                </a:lnTo>
                <a:lnTo>
                  <a:pt x="2493" y="71"/>
                </a:lnTo>
                <a:lnTo>
                  <a:pt x="2489" y="71"/>
                </a:lnTo>
                <a:lnTo>
                  <a:pt x="2489" y="87"/>
                </a:lnTo>
                <a:lnTo>
                  <a:pt x="2485" y="87"/>
                </a:lnTo>
                <a:lnTo>
                  <a:pt x="2485" y="102"/>
                </a:lnTo>
                <a:lnTo>
                  <a:pt x="2481" y="102"/>
                </a:lnTo>
                <a:lnTo>
                  <a:pt x="2481" y="118"/>
                </a:lnTo>
                <a:lnTo>
                  <a:pt x="2477" y="118"/>
                </a:lnTo>
                <a:lnTo>
                  <a:pt x="2477" y="134"/>
                </a:lnTo>
                <a:lnTo>
                  <a:pt x="2473" y="134"/>
                </a:lnTo>
                <a:lnTo>
                  <a:pt x="2473" y="146"/>
                </a:lnTo>
                <a:lnTo>
                  <a:pt x="2469" y="146"/>
                </a:lnTo>
                <a:lnTo>
                  <a:pt x="2469" y="154"/>
                </a:lnTo>
                <a:lnTo>
                  <a:pt x="2457" y="154"/>
                </a:lnTo>
                <a:lnTo>
                  <a:pt x="2453" y="95"/>
                </a:lnTo>
                <a:lnTo>
                  <a:pt x="2449" y="83"/>
                </a:lnTo>
                <a:lnTo>
                  <a:pt x="2437" y="59"/>
                </a:lnTo>
                <a:lnTo>
                  <a:pt x="2433" y="55"/>
                </a:lnTo>
                <a:lnTo>
                  <a:pt x="2425" y="51"/>
                </a:lnTo>
                <a:lnTo>
                  <a:pt x="2418" y="43"/>
                </a:lnTo>
                <a:lnTo>
                  <a:pt x="2406" y="39"/>
                </a:lnTo>
                <a:lnTo>
                  <a:pt x="2358" y="35"/>
                </a:lnTo>
                <a:lnTo>
                  <a:pt x="2358" y="39"/>
                </a:lnTo>
                <a:lnTo>
                  <a:pt x="2342" y="43"/>
                </a:lnTo>
                <a:lnTo>
                  <a:pt x="2310" y="59"/>
                </a:lnTo>
                <a:lnTo>
                  <a:pt x="2306" y="63"/>
                </a:lnTo>
                <a:lnTo>
                  <a:pt x="2298" y="67"/>
                </a:lnTo>
                <a:lnTo>
                  <a:pt x="2275" y="91"/>
                </a:lnTo>
                <a:lnTo>
                  <a:pt x="2267" y="91"/>
                </a:lnTo>
                <a:lnTo>
                  <a:pt x="2267" y="98"/>
                </a:lnTo>
                <a:lnTo>
                  <a:pt x="2259" y="106"/>
                </a:lnTo>
                <a:lnTo>
                  <a:pt x="2255" y="106"/>
                </a:lnTo>
                <a:lnTo>
                  <a:pt x="2255" y="114"/>
                </a:lnTo>
                <a:lnTo>
                  <a:pt x="2251" y="118"/>
                </a:lnTo>
                <a:lnTo>
                  <a:pt x="2247" y="118"/>
                </a:lnTo>
                <a:lnTo>
                  <a:pt x="2247" y="126"/>
                </a:lnTo>
                <a:lnTo>
                  <a:pt x="2243" y="130"/>
                </a:lnTo>
                <a:lnTo>
                  <a:pt x="2239" y="130"/>
                </a:lnTo>
                <a:lnTo>
                  <a:pt x="2239" y="138"/>
                </a:lnTo>
                <a:lnTo>
                  <a:pt x="2235" y="138"/>
                </a:lnTo>
                <a:lnTo>
                  <a:pt x="2235" y="150"/>
                </a:lnTo>
                <a:lnTo>
                  <a:pt x="2231" y="150"/>
                </a:lnTo>
                <a:lnTo>
                  <a:pt x="2231" y="158"/>
                </a:lnTo>
                <a:lnTo>
                  <a:pt x="2227" y="158"/>
                </a:lnTo>
                <a:lnTo>
                  <a:pt x="2227" y="170"/>
                </a:lnTo>
                <a:lnTo>
                  <a:pt x="2223" y="170"/>
                </a:lnTo>
                <a:lnTo>
                  <a:pt x="2223" y="182"/>
                </a:lnTo>
                <a:lnTo>
                  <a:pt x="2219" y="182"/>
                </a:lnTo>
                <a:lnTo>
                  <a:pt x="2219" y="194"/>
                </a:lnTo>
                <a:lnTo>
                  <a:pt x="2215" y="194"/>
                </a:lnTo>
                <a:lnTo>
                  <a:pt x="2215" y="209"/>
                </a:lnTo>
                <a:lnTo>
                  <a:pt x="2211" y="209"/>
                </a:lnTo>
                <a:lnTo>
                  <a:pt x="2211" y="249"/>
                </a:lnTo>
                <a:lnTo>
                  <a:pt x="2207" y="253"/>
                </a:lnTo>
                <a:lnTo>
                  <a:pt x="2211" y="281"/>
                </a:lnTo>
                <a:lnTo>
                  <a:pt x="2215" y="296"/>
                </a:lnTo>
                <a:lnTo>
                  <a:pt x="2219" y="300"/>
                </a:lnTo>
                <a:lnTo>
                  <a:pt x="2223" y="308"/>
                </a:lnTo>
                <a:lnTo>
                  <a:pt x="2227" y="312"/>
                </a:lnTo>
                <a:lnTo>
                  <a:pt x="2231" y="320"/>
                </a:lnTo>
                <a:lnTo>
                  <a:pt x="2243" y="332"/>
                </a:lnTo>
                <a:lnTo>
                  <a:pt x="2259" y="340"/>
                </a:lnTo>
                <a:lnTo>
                  <a:pt x="2263" y="344"/>
                </a:lnTo>
                <a:lnTo>
                  <a:pt x="2279" y="348"/>
                </a:lnTo>
                <a:lnTo>
                  <a:pt x="2326" y="348"/>
                </a:lnTo>
                <a:lnTo>
                  <a:pt x="2346" y="344"/>
                </a:lnTo>
                <a:lnTo>
                  <a:pt x="2354" y="340"/>
                </a:lnTo>
                <a:lnTo>
                  <a:pt x="2358" y="336"/>
                </a:lnTo>
                <a:lnTo>
                  <a:pt x="2382" y="324"/>
                </a:lnTo>
                <a:lnTo>
                  <a:pt x="2418" y="289"/>
                </a:lnTo>
                <a:lnTo>
                  <a:pt x="2418" y="281"/>
                </a:lnTo>
                <a:lnTo>
                  <a:pt x="2421" y="281"/>
                </a:lnTo>
                <a:lnTo>
                  <a:pt x="2421" y="273"/>
                </a:lnTo>
                <a:lnTo>
                  <a:pt x="2425" y="273"/>
                </a:lnTo>
                <a:lnTo>
                  <a:pt x="2425" y="265"/>
                </a:lnTo>
                <a:lnTo>
                  <a:pt x="2429" y="265"/>
                </a:lnTo>
                <a:lnTo>
                  <a:pt x="2429" y="257"/>
                </a:lnTo>
                <a:lnTo>
                  <a:pt x="2433" y="257"/>
                </a:lnTo>
                <a:lnTo>
                  <a:pt x="2433" y="249"/>
                </a:lnTo>
                <a:lnTo>
                  <a:pt x="2437" y="249"/>
                </a:lnTo>
                <a:lnTo>
                  <a:pt x="2437" y="241"/>
                </a:lnTo>
                <a:lnTo>
                  <a:pt x="2441" y="241"/>
                </a:lnTo>
                <a:lnTo>
                  <a:pt x="2445" y="237"/>
                </a:lnTo>
                <a:lnTo>
                  <a:pt x="2445" y="253"/>
                </a:lnTo>
                <a:lnTo>
                  <a:pt x="2441" y="253"/>
                </a:lnTo>
                <a:lnTo>
                  <a:pt x="2441" y="265"/>
                </a:lnTo>
                <a:lnTo>
                  <a:pt x="2437" y="265"/>
                </a:lnTo>
                <a:lnTo>
                  <a:pt x="2437" y="273"/>
                </a:lnTo>
                <a:lnTo>
                  <a:pt x="2433" y="273"/>
                </a:lnTo>
                <a:lnTo>
                  <a:pt x="2433" y="281"/>
                </a:lnTo>
                <a:lnTo>
                  <a:pt x="2429" y="285"/>
                </a:lnTo>
                <a:lnTo>
                  <a:pt x="2425" y="285"/>
                </a:lnTo>
                <a:lnTo>
                  <a:pt x="2425" y="293"/>
                </a:lnTo>
                <a:lnTo>
                  <a:pt x="2421" y="293"/>
                </a:lnTo>
                <a:lnTo>
                  <a:pt x="2421" y="300"/>
                </a:lnTo>
                <a:lnTo>
                  <a:pt x="2386" y="336"/>
                </a:lnTo>
                <a:lnTo>
                  <a:pt x="2378" y="340"/>
                </a:lnTo>
                <a:lnTo>
                  <a:pt x="2374" y="344"/>
                </a:lnTo>
                <a:lnTo>
                  <a:pt x="2350" y="356"/>
                </a:lnTo>
                <a:lnTo>
                  <a:pt x="2326" y="364"/>
                </a:lnTo>
                <a:lnTo>
                  <a:pt x="2267" y="364"/>
                </a:lnTo>
                <a:close/>
              </a:path>
            </a:pathLst>
          </a:custGeom>
          <a:solidFill>
            <a:srgbClr val="000000">
              <a:alpha val="100000"/>
            </a:srgbClr>
          </a:solidFill>
          <a:ln cap="flat">
            <a:noFill/>
            <a:prstDash val="solid"/>
            <a:miter lim="0"/>
          </a:ln>
        </p:spPr>
        <p:txBody>
          <a:bodyPr rtlCol="0"/>
          <a:p>
            <a:pPr algn="ctr"/>
            <a:endParaRPr lang="zh-CN" altLang="en-US"/>
          </a:p>
        </p:txBody>
      </p:sp>
      <p:sp>
        <p:nvSpPr>
          <p:cNvPr id="1048893" name="path"/>
          <p:cNvSpPr/>
          <p:nvPr/>
        </p:nvSpPr>
        <p:spPr>
          <a:xfrm>
            <a:off x="6080347" y="4181490"/>
            <a:ext cx="67984" cy="299200"/>
          </a:xfrm>
          <a:custGeom>
            <a:avLst/>
            <a:gdLst/>
            <a:ahLst/>
            <a:cxnLst/>
            <a:rect l="0" t="0" r="0" b="0"/>
            <a:pathLst>
              <a:path w="107" h="471">
                <a:moveTo>
                  <a:pt x="0" y="471"/>
                </a:moveTo>
                <a:lnTo>
                  <a:pt x="3" y="467"/>
                </a:lnTo>
                <a:lnTo>
                  <a:pt x="3" y="459"/>
                </a:lnTo>
                <a:lnTo>
                  <a:pt x="7" y="459"/>
                </a:lnTo>
                <a:lnTo>
                  <a:pt x="19" y="447"/>
                </a:lnTo>
                <a:lnTo>
                  <a:pt x="19" y="439"/>
                </a:lnTo>
                <a:lnTo>
                  <a:pt x="23" y="439"/>
                </a:lnTo>
                <a:lnTo>
                  <a:pt x="35" y="427"/>
                </a:lnTo>
                <a:lnTo>
                  <a:pt x="35" y="419"/>
                </a:lnTo>
                <a:lnTo>
                  <a:pt x="39" y="419"/>
                </a:lnTo>
                <a:lnTo>
                  <a:pt x="43" y="415"/>
                </a:lnTo>
                <a:lnTo>
                  <a:pt x="43" y="407"/>
                </a:lnTo>
                <a:lnTo>
                  <a:pt x="47" y="407"/>
                </a:lnTo>
                <a:lnTo>
                  <a:pt x="47" y="399"/>
                </a:lnTo>
                <a:lnTo>
                  <a:pt x="51" y="399"/>
                </a:lnTo>
                <a:lnTo>
                  <a:pt x="51" y="388"/>
                </a:lnTo>
                <a:lnTo>
                  <a:pt x="55" y="388"/>
                </a:lnTo>
                <a:lnTo>
                  <a:pt x="55" y="380"/>
                </a:lnTo>
                <a:lnTo>
                  <a:pt x="59" y="380"/>
                </a:lnTo>
                <a:lnTo>
                  <a:pt x="59" y="372"/>
                </a:lnTo>
                <a:lnTo>
                  <a:pt x="63" y="372"/>
                </a:lnTo>
                <a:lnTo>
                  <a:pt x="63" y="364"/>
                </a:lnTo>
                <a:lnTo>
                  <a:pt x="67" y="364"/>
                </a:lnTo>
                <a:lnTo>
                  <a:pt x="67" y="348"/>
                </a:lnTo>
                <a:lnTo>
                  <a:pt x="71" y="348"/>
                </a:lnTo>
                <a:lnTo>
                  <a:pt x="71" y="332"/>
                </a:lnTo>
                <a:lnTo>
                  <a:pt x="75" y="332"/>
                </a:lnTo>
                <a:lnTo>
                  <a:pt x="75" y="316"/>
                </a:lnTo>
                <a:lnTo>
                  <a:pt x="79" y="316"/>
                </a:lnTo>
                <a:lnTo>
                  <a:pt x="79" y="293"/>
                </a:lnTo>
                <a:lnTo>
                  <a:pt x="83" y="293"/>
                </a:lnTo>
                <a:lnTo>
                  <a:pt x="79" y="182"/>
                </a:lnTo>
                <a:lnTo>
                  <a:pt x="75" y="154"/>
                </a:lnTo>
                <a:lnTo>
                  <a:pt x="63" y="106"/>
                </a:lnTo>
                <a:lnTo>
                  <a:pt x="55" y="91"/>
                </a:lnTo>
                <a:lnTo>
                  <a:pt x="51" y="79"/>
                </a:lnTo>
                <a:lnTo>
                  <a:pt x="39" y="55"/>
                </a:lnTo>
                <a:lnTo>
                  <a:pt x="35" y="51"/>
                </a:lnTo>
                <a:lnTo>
                  <a:pt x="31" y="43"/>
                </a:lnTo>
                <a:lnTo>
                  <a:pt x="23" y="35"/>
                </a:lnTo>
                <a:lnTo>
                  <a:pt x="19" y="27"/>
                </a:lnTo>
                <a:lnTo>
                  <a:pt x="7" y="15"/>
                </a:lnTo>
                <a:lnTo>
                  <a:pt x="3" y="7"/>
                </a:lnTo>
                <a:lnTo>
                  <a:pt x="0" y="3"/>
                </a:lnTo>
                <a:lnTo>
                  <a:pt x="11" y="0"/>
                </a:lnTo>
                <a:lnTo>
                  <a:pt x="11" y="3"/>
                </a:lnTo>
                <a:lnTo>
                  <a:pt x="39" y="31"/>
                </a:lnTo>
                <a:lnTo>
                  <a:pt x="43" y="39"/>
                </a:lnTo>
                <a:lnTo>
                  <a:pt x="51" y="47"/>
                </a:lnTo>
                <a:lnTo>
                  <a:pt x="55" y="55"/>
                </a:lnTo>
                <a:lnTo>
                  <a:pt x="59" y="59"/>
                </a:lnTo>
                <a:lnTo>
                  <a:pt x="83" y="106"/>
                </a:lnTo>
                <a:lnTo>
                  <a:pt x="87" y="118"/>
                </a:lnTo>
                <a:lnTo>
                  <a:pt x="91" y="126"/>
                </a:lnTo>
                <a:lnTo>
                  <a:pt x="99" y="158"/>
                </a:lnTo>
                <a:lnTo>
                  <a:pt x="103" y="182"/>
                </a:lnTo>
                <a:lnTo>
                  <a:pt x="107" y="289"/>
                </a:lnTo>
                <a:lnTo>
                  <a:pt x="103" y="289"/>
                </a:lnTo>
                <a:lnTo>
                  <a:pt x="103" y="312"/>
                </a:lnTo>
                <a:lnTo>
                  <a:pt x="99" y="312"/>
                </a:lnTo>
                <a:lnTo>
                  <a:pt x="99" y="328"/>
                </a:lnTo>
                <a:lnTo>
                  <a:pt x="95" y="328"/>
                </a:lnTo>
                <a:lnTo>
                  <a:pt x="95" y="344"/>
                </a:lnTo>
                <a:lnTo>
                  <a:pt x="91" y="344"/>
                </a:lnTo>
                <a:lnTo>
                  <a:pt x="91" y="356"/>
                </a:lnTo>
                <a:lnTo>
                  <a:pt x="87" y="356"/>
                </a:lnTo>
                <a:lnTo>
                  <a:pt x="87" y="364"/>
                </a:lnTo>
                <a:lnTo>
                  <a:pt x="83" y="364"/>
                </a:lnTo>
                <a:lnTo>
                  <a:pt x="83" y="376"/>
                </a:lnTo>
                <a:lnTo>
                  <a:pt x="79" y="376"/>
                </a:lnTo>
                <a:lnTo>
                  <a:pt x="79" y="384"/>
                </a:lnTo>
                <a:lnTo>
                  <a:pt x="75" y="384"/>
                </a:lnTo>
                <a:lnTo>
                  <a:pt x="75" y="391"/>
                </a:lnTo>
                <a:lnTo>
                  <a:pt x="71" y="391"/>
                </a:lnTo>
                <a:lnTo>
                  <a:pt x="71" y="399"/>
                </a:lnTo>
                <a:lnTo>
                  <a:pt x="67" y="399"/>
                </a:lnTo>
                <a:lnTo>
                  <a:pt x="67" y="407"/>
                </a:lnTo>
                <a:lnTo>
                  <a:pt x="63" y="407"/>
                </a:lnTo>
                <a:lnTo>
                  <a:pt x="63" y="415"/>
                </a:lnTo>
                <a:lnTo>
                  <a:pt x="59" y="419"/>
                </a:lnTo>
                <a:lnTo>
                  <a:pt x="55" y="419"/>
                </a:lnTo>
                <a:lnTo>
                  <a:pt x="55" y="427"/>
                </a:lnTo>
                <a:lnTo>
                  <a:pt x="47" y="435"/>
                </a:lnTo>
                <a:lnTo>
                  <a:pt x="43" y="435"/>
                </a:lnTo>
                <a:lnTo>
                  <a:pt x="43" y="443"/>
                </a:lnTo>
                <a:lnTo>
                  <a:pt x="19" y="467"/>
                </a:lnTo>
                <a:lnTo>
                  <a:pt x="11" y="471"/>
                </a:lnTo>
                <a:lnTo>
                  <a:pt x="0" y="471"/>
                </a:lnTo>
                <a:close/>
              </a:path>
            </a:pathLst>
          </a:custGeom>
          <a:solidFill>
            <a:srgbClr val="000000">
              <a:alpha val="100000"/>
            </a:srgbClr>
          </a:solidFill>
          <a:ln cap="flat">
            <a:noFill/>
            <a:prstDash val="solid"/>
            <a:miter lim="0"/>
          </a:ln>
        </p:spPr>
        <p:txBody>
          <a:bodyPr rtlCol="0"/>
          <a:p>
            <a:pPr algn="ctr"/>
            <a:endParaRPr lang="zh-CN" altLang="en-US"/>
          </a:p>
        </p:txBody>
      </p:sp>
      <p:sp>
        <p:nvSpPr>
          <p:cNvPr id="1048894" name="path"/>
          <p:cNvSpPr/>
          <p:nvPr/>
        </p:nvSpPr>
        <p:spPr>
          <a:xfrm>
            <a:off x="4486476" y="4181490"/>
            <a:ext cx="1566173" cy="299200"/>
          </a:xfrm>
          <a:custGeom>
            <a:avLst/>
            <a:gdLst/>
            <a:ahLst/>
            <a:cxnLst/>
            <a:rect l="0" t="0" r="0" b="0"/>
            <a:pathLst>
              <a:path w="2466" h="471">
                <a:moveTo>
                  <a:pt x="99" y="364"/>
                </a:moveTo>
                <a:lnTo>
                  <a:pt x="83" y="360"/>
                </a:lnTo>
                <a:lnTo>
                  <a:pt x="51" y="344"/>
                </a:lnTo>
                <a:lnTo>
                  <a:pt x="23" y="316"/>
                </a:lnTo>
                <a:lnTo>
                  <a:pt x="11" y="293"/>
                </a:lnTo>
                <a:lnTo>
                  <a:pt x="3" y="269"/>
                </a:lnTo>
                <a:lnTo>
                  <a:pt x="0" y="237"/>
                </a:lnTo>
                <a:lnTo>
                  <a:pt x="3" y="233"/>
                </a:lnTo>
                <a:lnTo>
                  <a:pt x="3" y="201"/>
                </a:lnTo>
                <a:lnTo>
                  <a:pt x="7" y="201"/>
                </a:lnTo>
                <a:lnTo>
                  <a:pt x="7" y="186"/>
                </a:lnTo>
                <a:lnTo>
                  <a:pt x="11" y="186"/>
                </a:lnTo>
                <a:lnTo>
                  <a:pt x="11" y="174"/>
                </a:lnTo>
                <a:lnTo>
                  <a:pt x="15" y="174"/>
                </a:lnTo>
                <a:lnTo>
                  <a:pt x="15" y="162"/>
                </a:lnTo>
                <a:lnTo>
                  <a:pt x="19" y="162"/>
                </a:lnTo>
                <a:lnTo>
                  <a:pt x="19" y="154"/>
                </a:lnTo>
                <a:lnTo>
                  <a:pt x="23" y="154"/>
                </a:lnTo>
                <a:lnTo>
                  <a:pt x="23" y="146"/>
                </a:lnTo>
                <a:lnTo>
                  <a:pt x="27" y="146"/>
                </a:lnTo>
                <a:lnTo>
                  <a:pt x="27" y="138"/>
                </a:lnTo>
                <a:lnTo>
                  <a:pt x="31" y="138"/>
                </a:lnTo>
                <a:lnTo>
                  <a:pt x="31" y="130"/>
                </a:lnTo>
                <a:lnTo>
                  <a:pt x="35" y="130"/>
                </a:lnTo>
                <a:lnTo>
                  <a:pt x="39" y="126"/>
                </a:lnTo>
                <a:lnTo>
                  <a:pt x="39" y="118"/>
                </a:lnTo>
                <a:lnTo>
                  <a:pt x="43" y="118"/>
                </a:lnTo>
                <a:lnTo>
                  <a:pt x="51" y="110"/>
                </a:lnTo>
                <a:lnTo>
                  <a:pt x="51" y="102"/>
                </a:lnTo>
                <a:lnTo>
                  <a:pt x="55" y="102"/>
                </a:lnTo>
                <a:lnTo>
                  <a:pt x="83" y="75"/>
                </a:lnTo>
                <a:lnTo>
                  <a:pt x="91" y="71"/>
                </a:lnTo>
                <a:lnTo>
                  <a:pt x="103" y="59"/>
                </a:lnTo>
                <a:lnTo>
                  <a:pt x="126" y="47"/>
                </a:lnTo>
                <a:lnTo>
                  <a:pt x="130" y="43"/>
                </a:lnTo>
                <a:lnTo>
                  <a:pt x="154" y="35"/>
                </a:lnTo>
                <a:lnTo>
                  <a:pt x="162" y="31"/>
                </a:lnTo>
                <a:lnTo>
                  <a:pt x="178" y="27"/>
                </a:lnTo>
                <a:lnTo>
                  <a:pt x="241" y="23"/>
                </a:lnTo>
                <a:lnTo>
                  <a:pt x="241" y="27"/>
                </a:lnTo>
                <a:lnTo>
                  <a:pt x="249" y="31"/>
                </a:lnTo>
                <a:lnTo>
                  <a:pt x="261" y="35"/>
                </a:lnTo>
                <a:lnTo>
                  <a:pt x="269" y="43"/>
                </a:lnTo>
                <a:lnTo>
                  <a:pt x="277" y="43"/>
                </a:lnTo>
                <a:lnTo>
                  <a:pt x="277" y="51"/>
                </a:lnTo>
                <a:lnTo>
                  <a:pt x="289" y="63"/>
                </a:lnTo>
                <a:lnTo>
                  <a:pt x="293" y="63"/>
                </a:lnTo>
                <a:lnTo>
                  <a:pt x="305" y="51"/>
                </a:lnTo>
                <a:lnTo>
                  <a:pt x="305" y="43"/>
                </a:lnTo>
                <a:lnTo>
                  <a:pt x="309" y="43"/>
                </a:lnTo>
                <a:lnTo>
                  <a:pt x="321" y="31"/>
                </a:lnTo>
                <a:lnTo>
                  <a:pt x="321" y="23"/>
                </a:lnTo>
                <a:lnTo>
                  <a:pt x="333" y="23"/>
                </a:lnTo>
                <a:lnTo>
                  <a:pt x="333" y="39"/>
                </a:lnTo>
                <a:lnTo>
                  <a:pt x="329" y="39"/>
                </a:lnTo>
                <a:lnTo>
                  <a:pt x="329" y="55"/>
                </a:lnTo>
                <a:lnTo>
                  <a:pt x="325" y="55"/>
                </a:lnTo>
                <a:lnTo>
                  <a:pt x="325" y="71"/>
                </a:lnTo>
                <a:lnTo>
                  <a:pt x="321" y="71"/>
                </a:lnTo>
                <a:lnTo>
                  <a:pt x="321" y="87"/>
                </a:lnTo>
                <a:lnTo>
                  <a:pt x="317" y="87"/>
                </a:lnTo>
                <a:lnTo>
                  <a:pt x="317" y="102"/>
                </a:lnTo>
                <a:lnTo>
                  <a:pt x="313" y="102"/>
                </a:lnTo>
                <a:lnTo>
                  <a:pt x="313" y="118"/>
                </a:lnTo>
                <a:lnTo>
                  <a:pt x="309" y="118"/>
                </a:lnTo>
                <a:lnTo>
                  <a:pt x="309" y="134"/>
                </a:lnTo>
                <a:lnTo>
                  <a:pt x="305" y="134"/>
                </a:lnTo>
                <a:lnTo>
                  <a:pt x="305" y="146"/>
                </a:lnTo>
                <a:lnTo>
                  <a:pt x="301" y="146"/>
                </a:lnTo>
                <a:lnTo>
                  <a:pt x="301" y="154"/>
                </a:lnTo>
                <a:lnTo>
                  <a:pt x="289" y="154"/>
                </a:lnTo>
                <a:lnTo>
                  <a:pt x="285" y="95"/>
                </a:lnTo>
                <a:lnTo>
                  <a:pt x="281" y="83"/>
                </a:lnTo>
                <a:lnTo>
                  <a:pt x="269" y="59"/>
                </a:lnTo>
                <a:lnTo>
                  <a:pt x="265" y="55"/>
                </a:lnTo>
                <a:lnTo>
                  <a:pt x="257" y="51"/>
                </a:lnTo>
                <a:lnTo>
                  <a:pt x="249" y="43"/>
                </a:lnTo>
                <a:lnTo>
                  <a:pt x="237" y="39"/>
                </a:lnTo>
                <a:lnTo>
                  <a:pt x="186" y="35"/>
                </a:lnTo>
                <a:lnTo>
                  <a:pt x="186" y="39"/>
                </a:lnTo>
                <a:lnTo>
                  <a:pt x="174" y="43"/>
                </a:lnTo>
                <a:lnTo>
                  <a:pt x="166" y="47"/>
                </a:lnTo>
                <a:lnTo>
                  <a:pt x="154" y="51"/>
                </a:lnTo>
                <a:lnTo>
                  <a:pt x="146" y="55"/>
                </a:lnTo>
                <a:lnTo>
                  <a:pt x="142" y="59"/>
                </a:lnTo>
                <a:lnTo>
                  <a:pt x="134" y="63"/>
                </a:lnTo>
                <a:lnTo>
                  <a:pt x="130" y="67"/>
                </a:lnTo>
                <a:lnTo>
                  <a:pt x="122" y="71"/>
                </a:lnTo>
                <a:lnTo>
                  <a:pt x="103" y="91"/>
                </a:lnTo>
                <a:lnTo>
                  <a:pt x="99" y="91"/>
                </a:lnTo>
                <a:lnTo>
                  <a:pt x="99" y="98"/>
                </a:lnTo>
                <a:lnTo>
                  <a:pt x="91" y="106"/>
                </a:lnTo>
                <a:lnTo>
                  <a:pt x="87" y="106"/>
                </a:lnTo>
                <a:lnTo>
                  <a:pt x="87" y="114"/>
                </a:lnTo>
                <a:lnTo>
                  <a:pt x="83" y="118"/>
                </a:lnTo>
                <a:lnTo>
                  <a:pt x="79" y="118"/>
                </a:lnTo>
                <a:lnTo>
                  <a:pt x="79" y="126"/>
                </a:lnTo>
                <a:lnTo>
                  <a:pt x="75" y="130"/>
                </a:lnTo>
                <a:lnTo>
                  <a:pt x="71" y="130"/>
                </a:lnTo>
                <a:lnTo>
                  <a:pt x="71" y="138"/>
                </a:lnTo>
                <a:lnTo>
                  <a:pt x="67" y="138"/>
                </a:lnTo>
                <a:lnTo>
                  <a:pt x="67" y="150"/>
                </a:lnTo>
                <a:lnTo>
                  <a:pt x="63" y="150"/>
                </a:lnTo>
                <a:lnTo>
                  <a:pt x="63" y="158"/>
                </a:lnTo>
                <a:lnTo>
                  <a:pt x="59" y="158"/>
                </a:lnTo>
                <a:lnTo>
                  <a:pt x="59" y="170"/>
                </a:lnTo>
                <a:lnTo>
                  <a:pt x="55" y="170"/>
                </a:lnTo>
                <a:lnTo>
                  <a:pt x="55" y="182"/>
                </a:lnTo>
                <a:lnTo>
                  <a:pt x="51" y="182"/>
                </a:lnTo>
                <a:lnTo>
                  <a:pt x="51" y="194"/>
                </a:lnTo>
                <a:lnTo>
                  <a:pt x="47" y="194"/>
                </a:lnTo>
                <a:lnTo>
                  <a:pt x="47" y="209"/>
                </a:lnTo>
                <a:lnTo>
                  <a:pt x="43" y="209"/>
                </a:lnTo>
                <a:lnTo>
                  <a:pt x="43" y="249"/>
                </a:lnTo>
                <a:lnTo>
                  <a:pt x="39" y="253"/>
                </a:lnTo>
                <a:lnTo>
                  <a:pt x="43" y="281"/>
                </a:lnTo>
                <a:lnTo>
                  <a:pt x="47" y="296"/>
                </a:lnTo>
                <a:lnTo>
                  <a:pt x="51" y="300"/>
                </a:lnTo>
                <a:lnTo>
                  <a:pt x="55" y="308"/>
                </a:lnTo>
                <a:lnTo>
                  <a:pt x="59" y="312"/>
                </a:lnTo>
                <a:lnTo>
                  <a:pt x="63" y="320"/>
                </a:lnTo>
                <a:lnTo>
                  <a:pt x="75" y="332"/>
                </a:lnTo>
                <a:lnTo>
                  <a:pt x="91" y="340"/>
                </a:lnTo>
                <a:lnTo>
                  <a:pt x="95" y="344"/>
                </a:lnTo>
                <a:lnTo>
                  <a:pt x="111" y="348"/>
                </a:lnTo>
                <a:lnTo>
                  <a:pt x="158" y="348"/>
                </a:lnTo>
                <a:lnTo>
                  <a:pt x="178" y="344"/>
                </a:lnTo>
                <a:lnTo>
                  <a:pt x="182" y="340"/>
                </a:lnTo>
                <a:lnTo>
                  <a:pt x="214" y="324"/>
                </a:lnTo>
                <a:lnTo>
                  <a:pt x="245" y="293"/>
                </a:lnTo>
                <a:lnTo>
                  <a:pt x="245" y="285"/>
                </a:lnTo>
                <a:lnTo>
                  <a:pt x="249" y="285"/>
                </a:lnTo>
                <a:lnTo>
                  <a:pt x="253" y="281"/>
                </a:lnTo>
                <a:lnTo>
                  <a:pt x="253" y="273"/>
                </a:lnTo>
                <a:lnTo>
                  <a:pt x="257" y="273"/>
                </a:lnTo>
                <a:lnTo>
                  <a:pt x="257" y="265"/>
                </a:lnTo>
                <a:lnTo>
                  <a:pt x="261" y="265"/>
                </a:lnTo>
                <a:lnTo>
                  <a:pt x="261" y="253"/>
                </a:lnTo>
                <a:lnTo>
                  <a:pt x="265" y="253"/>
                </a:lnTo>
                <a:lnTo>
                  <a:pt x="265" y="241"/>
                </a:lnTo>
                <a:lnTo>
                  <a:pt x="269" y="241"/>
                </a:lnTo>
                <a:lnTo>
                  <a:pt x="277" y="237"/>
                </a:lnTo>
                <a:lnTo>
                  <a:pt x="277" y="253"/>
                </a:lnTo>
                <a:lnTo>
                  <a:pt x="273" y="253"/>
                </a:lnTo>
                <a:lnTo>
                  <a:pt x="273" y="265"/>
                </a:lnTo>
                <a:lnTo>
                  <a:pt x="269" y="265"/>
                </a:lnTo>
                <a:lnTo>
                  <a:pt x="269" y="273"/>
                </a:lnTo>
                <a:lnTo>
                  <a:pt x="265" y="273"/>
                </a:lnTo>
                <a:lnTo>
                  <a:pt x="265" y="281"/>
                </a:lnTo>
                <a:lnTo>
                  <a:pt x="261" y="285"/>
                </a:lnTo>
                <a:lnTo>
                  <a:pt x="257" y="285"/>
                </a:lnTo>
                <a:lnTo>
                  <a:pt x="257" y="293"/>
                </a:lnTo>
                <a:lnTo>
                  <a:pt x="253" y="293"/>
                </a:lnTo>
                <a:lnTo>
                  <a:pt x="253" y="300"/>
                </a:lnTo>
                <a:lnTo>
                  <a:pt x="218" y="336"/>
                </a:lnTo>
                <a:lnTo>
                  <a:pt x="210" y="340"/>
                </a:lnTo>
                <a:lnTo>
                  <a:pt x="206" y="344"/>
                </a:lnTo>
                <a:lnTo>
                  <a:pt x="182" y="356"/>
                </a:lnTo>
                <a:lnTo>
                  <a:pt x="158" y="364"/>
                </a:lnTo>
                <a:lnTo>
                  <a:pt x="99" y="364"/>
                </a:lnTo>
                <a:close/>
              </a:path>
              <a:path w="2466" h="471">
                <a:moveTo>
                  <a:pt x="515" y="293"/>
                </a:moveTo>
                <a:lnTo>
                  <a:pt x="503" y="289"/>
                </a:lnTo>
                <a:lnTo>
                  <a:pt x="499" y="281"/>
                </a:lnTo>
                <a:lnTo>
                  <a:pt x="503" y="277"/>
                </a:lnTo>
                <a:lnTo>
                  <a:pt x="808" y="273"/>
                </a:lnTo>
                <a:lnTo>
                  <a:pt x="808" y="289"/>
                </a:lnTo>
                <a:lnTo>
                  <a:pt x="797" y="293"/>
                </a:lnTo>
                <a:lnTo>
                  <a:pt x="515" y="293"/>
                </a:lnTo>
                <a:close/>
                <a:moveTo>
                  <a:pt x="515" y="201"/>
                </a:moveTo>
                <a:lnTo>
                  <a:pt x="503" y="197"/>
                </a:lnTo>
                <a:lnTo>
                  <a:pt x="499" y="194"/>
                </a:lnTo>
                <a:lnTo>
                  <a:pt x="503" y="190"/>
                </a:lnTo>
                <a:lnTo>
                  <a:pt x="808" y="186"/>
                </a:lnTo>
                <a:lnTo>
                  <a:pt x="808" y="197"/>
                </a:lnTo>
                <a:lnTo>
                  <a:pt x="797" y="201"/>
                </a:lnTo>
                <a:lnTo>
                  <a:pt x="515" y="201"/>
                </a:lnTo>
                <a:close/>
              </a:path>
              <a:path w="2466" h="471">
                <a:moveTo>
                  <a:pt x="999" y="356"/>
                </a:moveTo>
                <a:lnTo>
                  <a:pt x="991" y="352"/>
                </a:lnTo>
                <a:lnTo>
                  <a:pt x="995" y="348"/>
                </a:lnTo>
                <a:lnTo>
                  <a:pt x="1003" y="344"/>
                </a:lnTo>
                <a:lnTo>
                  <a:pt x="1030" y="340"/>
                </a:lnTo>
                <a:lnTo>
                  <a:pt x="1038" y="336"/>
                </a:lnTo>
                <a:lnTo>
                  <a:pt x="1042" y="332"/>
                </a:lnTo>
                <a:lnTo>
                  <a:pt x="1042" y="316"/>
                </a:lnTo>
                <a:lnTo>
                  <a:pt x="1046" y="316"/>
                </a:lnTo>
                <a:lnTo>
                  <a:pt x="1046" y="300"/>
                </a:lnTo>
                <a:lnTo>
                  <a:pt x="1050" y="300"/>
                </a:lnTo>
                <a:lnTo>
                  <a:pt x="1050" y="285"/>
                </a:lnTo>
                <a:lnTo>
                  <a:pt x="1054" y="285"/>
                </a:lnTo>
                <a:lnTo>
                  <a:pt x="1054" y="269"/>
                </a:lnTo>
                <a:lnTo>
                  <a:pt x="1058" y="269"/>
                </a:lnTo>
                <a:lnTo>
                  <a:pt x="1058" y="253"/>
                </a:lnTo>
                <a:lnTo>
                  <a:pt x="1062" y="253"/>
                </a:lnTo>
                <a:lnTo>
                  <a:pt x="1062" y="237"/>
                </a:lnTo>
                <a:lnTo>
                  <a:pt x="1066" y="237"/>
                </a:lnTo>
                <a:lnTo>
                  <a:pt x="1066" y="221"/>
                </a:lnTo>
                <a:lnTo>
                  <a:pt x="1070" y="221"/>
                </a:lnTo>
                <a:lnTo>
                  <a:pt x="1070" y="205"/>
                </a:lnTo>
                <a:lnTo>
                  <a:pt x="1074" y="205"/>
                </a:lnTo>
                <a:lnTo>
                  <a:pt x="1074" y="190"/>
                </a:lnTo>
                <a:lnTo>
                  <a:pt x="1078" y="190"/>
                </a:lnTo>
                <a:lnTo>
                  <a:pt x="1078" y="174"/>
                </a:lnTo>
                <a:lnTo>
                  <a:pt x="1082" y="174"/>
                </a:lnTo>
                <a:lnTo>
                  <a:pt x="1082" y="158"/>
                </a:lnTo>
                <a:lnTo>
                  <a:pt x="1086" y="158"/>
                </a:lnTo>
                <a:lnTo>
                  <a:pt x="1086" y="142"/>
                </a:lnTo>
                <a:lnTo>
                  <a:pt x="1090" y="142"/>
                </a:lnTo>
                <a:lnTo>
                  <a:pt x="1090" y="126"/>
                </a:lnTo>
                <a:lnTo>
                  <a:pt x="1094" y="126"/>
                </a:lnTo>
                <a:lnTo>
                  <a:pt x="1094" y="110"/>
                </a:lnTo>
                <a:lnTo>
                  <a:pt x="1098" y="110"/>
                </a:lnTo>
                <a:lnTo>
                  <a:pt x="1098" y="95"/>
                </a:lnTo>
                <a:lnTo>
                  <a:pt x="1102" y="95"/>
                </a:lnTo>
                <a:lnTo>
                  <a:pt x="1102" y="79"/>
                </a:lnTo>
                <a:lnTo>
                  <a:pt x="1106" y="79"/>
                </a:lnTo>
                <a:lnTo>
                  <a:pt x="1106" y="47"/>
                </a:lnTo>
                <a:lnTo>
                  <a:pt x="1078" y="47"/>
                </a:lnTo>
                <a:lnTo>
                  <a:pt x="1066" y="43"/>
                </a:lnTo>
                <a:lnTo>
                  <a:pt x="1070" y="39"/>
                </a:lnTo>
                <a:lnTo>
                  <a:pt x="1324" y="35"/>
                </a:lnTo>
                <a:lnTo>
                  <a:pt x="1324" y="71"/>
                </a:lnTo>
                <a:lnTo>
                  <a:pt x="1320" y="71"/>
                </a:lnTo>
                <a:lnTo>
                  <a:pt x="1320" y="98"/>
                </a:lnTo>
                <a:lnTo>
                  <a:pt x="1316" y="98"/>
                </a:lnTo>
                <a:lnTo>
                  <a:pt x="1316" y="126"/>
                </a:lnTo>
                <a:lnTo>
                  <a:pt x="1312" y="126"/>
                </a:lnTo>
                <a:lnTo>
                  <a:pt x="1312" y="134"/>
                </a:lnTo>
                <a:lnTo>
                  <a:pt x="1304" y="134"/>
                </a:lnTo>
                <a:lnTo>
                  <a:pt x="1300" y="71"/>
                </a:lnTo>
                <a:lnTo>
                  <a:pt x="1296" y="67"/>
                </a:lnTo>
                <a:lnTo>
                  <a:pt x="1292" y="59"/>
                </a:lnTo>
                <a:lnTo>
                  <a:pt x="1276" y="51"/>
                </a:lnTo>
                <a:lnTo>
                  <a:pt x="1149" y="47"/>
                </a:lnTo>
                <a:lnTo>
                  <a:pt x="1149" y="55"/>
                </a:lnTo>
                <a:lnTo>
                  <a:pt x="1145" y="55"/>
                </a:lnTo>
                <a:lnTo>
                  <a:pt x="1145" y="63"/>
                </a:lnTo>
                <a:lnTo>
                  <a:pt x="1142" y="63"/>
                </a:lnTo>
                <a:lnTo>
                  <a:pt x="1142" y="83"/>
                </a:lnTo>
                <a:lnTo>
                  <a:pt x="1138" y="83"/>
                </a:lnTo>
                <a:lnTo>
                  <a:pt x="1138" y="98"/>
                </a:lnTo>
                <a:lnTo>
                  <a:pt x="1134" y="98"/>
                </a:lnTo>
                <a:lnTo>
                  <a:pt x="1134" y="114"/>
                </a:lnTo>
                <a:lnTo>
                  <a:pt x="1130" y="114"/>
                </a:lnTo>
                <a:lnTo>
                  <a:pt x="1130" y="130"/>
                </a:lnTo>
                <a:lnTo>
                  <a:pt x="1126" y="130"/>
                </a:lnTo>
                <a:lnTo>
                  <a:pt x="1126" y="146"/>
                </a:lnTo>
                <a:lnTo>
                  <a:pt x="1122" y="146"/>
                </a:lnTo>
                <a:lnTo>
                  <a:pt x="1122" y="162"/>
                </a:lnTo>
                <a:lnTo>
                  <a:pt x="1118" y="162"/>
                </a:lnTo>
                <a:lnTo>
                  <a:pt x="1118" y="178"/>
                </a:lnTo>
                <a:lnTo>
                  <a:pt x="1114" y="182"/>
                </a:lnTo>
                <a:lnTo>
                  <a:pt x="1157" y="182"/>
                </a:lnTo>
                <a:lnTo>
                  <a:pt x="1189" y="178"/>
                </a:lnTo>
                <a:lnTo>
                  <a:pt x="1205" y="170"/>
                </a:lnTo>
                <a:lnTo>
                  <a:pt x="1209" y="166"/>
                </a:lnTo>
                <a:lnTo>
                  <a:pt x="1209" y="158"/>
                </a:lnTo>
                <a:lnTo>
                  <a:pt x="1213" y="158"/>
                </a:lnTo>
                <a:lnTo>
                  <a:pt x="1217" y="154"/>
                </a:lnTo>
                <a:lnTo>
                  <a:pt x="1217" y="142"/>
                </a:lnTo>
                <a:lnTo>
                  <a:pt x="1221" y="142"/>
                </a:lnTo>
                <a:lnTo>
                  <a:pt x="1221" y="130"/>
                </a:lnTo>
                <a:lnTo>
                  <a:pt x="1225" y="130"/>
                </a:lnTo>
                <a:lnTo>
                  <a:pt x="1233" y="126"/>
                </a:lnTo>
                <a:lnTo>
                  <a:pt x="1233" y="142"/>
                </a:lnTo>
                <a:lnTo>
                  <a:pt x="1229" y="142"/>
                </a:lnTo>
                <a:lnTo>
                  <a:pt x="1229" y="158"/>
                </a:lnTo>
                <a:lnTo>
                  <a:pt x="1225" y="158"/>
                </a:lnTo>
                <a:lnTo>
                  <a:pt x="1225" y="174"/>
                </a:lnTo>
                <a:lnTo>
                  <a:pt x="1221" y="174"/>
                </a:lnTo>
                <a:lnTo>
                  <a:pt x="1221" y="190"/>
                </a:lnTo>
                <a:lnTo>
                  <a:pt x="1217" y="190"/>
                </a:lnTo>
                <a:lnTo>
                  <a:pt x="1217" y="205"/>
                </a:lnTo>
                <a:lnTo>
                  <a:pt x="1213" y="205"/>
                </a:lnTo>
                <a:lnTo>
                  <a:pt x="1213" y="221"/>
                </a:lnTo>
                <a:lnTo>
                  <a:pt x="1209" y="221"/>
                </a:lnTo>
                <a:lnTo>
                  <a:pt x="1209" y="237"/>
                </a:lnTo>
                <a:lnTo>
                  <a:pt x="1205" y="237"/>
                </a:lnTo>
                <a:lnTo>
                  <a:pt x="1205" y="249"/>
                </a:lnTo>
                <a:lnTo>
                  <a:pt x="1197" y="249"/>
                </a:lnTo>
                <a:lnTo>
                  <a:pt x="1193" y="245"/>
                </a:lnTo>
                <a:lnTo>
                  <a:pt x="1193" y="237"/>
                </a:lnTo>
                <a:lnTo>
                  <a:pt x="1197" y="237"/>
                </a:lnTo>
                <a:lnTo>
                  <a:pt x="1193" y="205"/>
                </a:lnTo>
                <a:lnTo>
                  <a:pt x="1189" y="201"/>
                </a:lnTo>
                <a:lnTo>
                  <a:pt x="1110" y="197"/>
                </a:lnTo>
                <a:lnTo>
                  <a:pt x="1110" y="213"/>
                </a:lnTo>
                <a:lnTo>
                  <a:pt x="1106" y="213"/>
                </a:lnTo>
                <a:lnTo>
                  <a:pt x="1106" y="229"/>
                </a:lnTo>
                <a:lnTo>
                  <a:pt x="1102" y="229"/>
                </a:lnTo>
                <a:lnTo>
                  <a:pt x="1102" y="245"/>
                </a:lnTo>
                <a:lnTo>
                  <a:pt x="1098" y="245"/>
                </a:lnTo>
                <a:lnTo>
                  <a:pt x="1098" y="261"/>
                </a:lnTo>
                <a:lnTo>
                  <a:pt x="1094" y="261"/>
                </a:lnTo>
                <a:lnTo>
                  <a:pt x="1094" y="277"/>
                </a:lnTo>
                <a:lnTo>
                  <a:pt x="1090" y="277"/>
                </a:lnTo>
                <a:lnTo>
                  <a:pt x="1090" y="293"/>
                </a:lnTo>
                <a:lnTo>
                  <a:pt x="1086" y="293"/>
                </a:lnTo>
                <a:lnTo>
                  <a:pt x="1086" y="308"/>
                </a:lnTo>
                <a:lnTo>
                  <a:pt x="1082" y="308"/>
                </a:lnTo>
                <a:lnTo>
                  <a:pt x="1082" y="324"/>
                </a:lnTo>
                <a:lnTo>
                  <a:pt x="1078" y="324"/>
                </a:lnTo>
                <a:lnTo>
                  <a:pt x="1078" y="332"/>
                </a:lnTo>
                <a:lnTo>
                  <a:pt x="1074" y="336"/>
                </a:lnTo>
                <a:lnTo>
                  <a:pt x="1082" y="344"/>
                </a:lnTo>
                <a:lnTo>
                  <a:pt x="1161" y="344"/>
                </a:lnTo>
                <a:lnTo>
                  <a:pt x="1201" y="340"/>
                </a:lnTo>
                <a:lnTo>
                  <a:pt x="1213" y="336"/>
                </a:lnTo>
                <a:lnTo>
                  <a:pt x="1237" y="324"/>
                </a:lnTo>
                <a:lnTo>
                  <a:pt x="1257" y="304"/>
                </a:lnTo>
                <a:lnTo>
                  <a:pt x="1257" y="296"/>
                </a:lnTo>
                <a:lnTo>
                  <a:pt x="1260" y="296"/>
                </a:lnTo>
                <a:lnTo>
                  <a:pt x="1268" y="289"/>
                </a:lnTo>
                <a:lnTo>
                  <a:pt x="1268" y="281"/>
                </a:lnTo>
                <a:lnTo>
                  <a:pt x="1272" y="281"/>
                </a:lnTo>
                <a:lnTo>
                  <a:pt x="1272" y="273"/>
                </a:lnTo>
                <a:lnTo>
                  <a:pt x="1276" y="273"/>
                </a:lnTo>
                <a:lnTo>
                  <a:pt x="1276" y="265"/>
                </a:lnTo>
                <a:lnTo>
                  <a:pt x="1280" y="265"/>
                </a:lnTo>
                <a:lnTo>
                  <a:pt x="1280" y="257"/>
                </a:lnTo>
                <a:lnTo>
                  <a:pt x="1284" y="257"/>
                </a:lnTo>
                <a:lnTo>
                  <a:pt x="1284" y="245"/>
                </a:lnTo>
                <a:lnTo>
                  <a:pt x="1288" y="245"/>
                </a:lnTo>
                <a:lnTo>
                  <a:pt x="1288" y="237"/>
                </a:lnTo>
                <a:lnTo>
                  <a:pt x="1300" y="241"/>
                </a:lnTo>
                <a:lnTo>
                  <a:pt x="1296" y="241"/>
                </a:lnTo>
                <a:lnTo>
                  <a:pt x="1296" y="253"/>
                </a:lnTo>
                <a:lnTo>
                  <a:pt x="1292" y="253"/>
                </a:lnTo>
                <a:lnTo>
                  <a:pt x="1292" y="261"/>
                </a:lnTo>
                <a:lnTo>
                  <a:pt x="1288" y="261"/>
                </a:lnTo>
                <a:lnTo>
                  <a:pt x="1288" y="273"/>
                </a:lnTo>
                <a:lnTo>
                  <a:pt x="1284" y="273"/>
                </a:lnTo>
                <a:lnTo>
                  <a:pt x="1284" y="281"/>
                </a:lnTo>
                <a:lnTo>
                  <a:pt x="1280" y="281"/>
                </a:lnTo>
                <a:lnTo>
                  <a:pt x="1280" y="289"/>
                </a:lnTo>
                <a:lnTo>
                  <a:pt x="1276" y="289"/>
                </a:lnTo>
                <a:lnTo>
                  <a:pt x="1276" y="300"/>
                </a:lnTo>
                <a:lnTo>
                  <a:pt x="1272" y="300"/>
                </a:lnTo>
                <a:lnTo>
                  <a:pt x="1272" y="308"/>
                </a:lnTo>
                <a:lnTo>
                  <a:pt x="1268" y="308"/>
                </a:lnTo>
                <a:lnTo>
                  <a:pt x="1268" y="316"/>
                </a:lnTo>
                <a:lnTo>
                  <a:pt x="1264" y="316"/>
                </a:lnTo>
                <a:lnTo>
                  <a:pt x="1264" y="328"/>
                </a:lnTo>
                <a:lnTo>
                  <a:pt x="1260" y="328"/>
                </a:lnTo>
                <a:lnTo>
                  <a:pt x="1260" y="336"/>
                </a:lnTo>
                <a:lnTo>
                  <a:pt x="1257" y="336"/>
                </a:lnTo>
                <a:lnTo>
                  <a:pt x="1257" y="344"/>
                </a:lnTo>
                <a:lnTo>
                  <a:pt x="1253" y="344"/>
                </a:lnTo>
                <a:lnTo>
                  <a:pt x="1253" y="352"/>
                </a:lnTo>
                <a:lnTo>
                  <a:pt x="1241" y="356"/>
                </a:lnTo>
                <a:lnTo>
                  <a:pt x="999" y="356"/>
                </a:lnTo>
                <a:close/>
              </a:path>
              <a:path w="2466" h="471">
                <a:moveTo>
                  <a:pt x="1486" y="471"/>
                </a:moveTo>
                <a:lnTo>
                  <a:pt x="1479" y="467"/>
                </a:lnTo>
                <a:lnTo>
                  <a:pt x="1455" y="443"/>
                </a:lnTo>
                <a:lnTo>
                  <a:pt x="1451" y="435"/>
                </a:lnTo>
                <a:lnTo>
                  <a:pt x="1439" y="423"/>
                </a:lnTo>
                <a:lnTo>
                  <a:pt x="1435" y="415"/>
                </a:lnTo>
                <a:lnTo>
                  <a:pt x="1431" y="411"/>
                </a:lnTo>
                <a:lnTo>
                  <a:pt x="1427" y="403"/>
                </a:lnTo>
                <a:lnTo>
                  <a:pt x="1423" y="399"/>
                </a:lnTo>
                <a:lnTo>
                  <a:pt x="1419" y="391"/>
                </a:lnTo>
                <a:lnTo>
                  <a:pt x="1415" y="388"/>
                </a:lnTo>
                <a:lnTo>
                  <a:pt x="1399" y="340"/>
                </a:lnTo>
                <a:lnTo>
                  <a:pt x="1395" y="320"/>
                </a:lnTo>
                <a:lnTo>
                  <a:pt x="1391" y="296"/>
                </a:lnTo>
                <a:lnTo>
                  <a:pt x="1387" y="237"/>
                </a:lnTo>
                <a:lnTo>
                  <a:pt x="1391" y="233"/>
                </a:lnTo>
                <a:lnTo>
                  <a:pt x="1391" y="178"/>
                </a:lnTo>
                <a:lnTo>
                  <a:pt x="1395" y="178"/>
                </a:lnTo>
                <a:lnTo>
                  <a:pt x="1395" y="150"/>
                </a:lnTo>
                <a:lnTo>
                  <a:pt x="1399" y="150"/>
                </a:lnTo>
                <a:lnTo>
                  <a:pt x="1399" y="134"/>
                </a:lnTo>
                <a:lnTo>
                  <a:pt x="1403" y="134"/>
                </a:lnTo>
                <a:lnTo>
                  <a:pt x="1403" y="122"/>
                </a:lnTo>
                <a:lnTo>
                  <a:pt x="1407" y="122"/>
                </a:lnTo>
                <a:lnTo>
                  <a:pt x="1407" y="110"/>
                </a:lnTo>
                <a:lnTo>
                  <a:pt x="1411" y="110"/>
                </a:lnTo>
                <a:lnTo>
                  <a:pt x="1411" y="98"/>
                </a:lnTo>
                <a:lnTo>
                  <a:pt x="1415" y="98"/>
                </a:lnTo>
                <a:lnTo>
                  <a:pt x="1415" y="91"/>
                </a:lnTo>
                <a:lnTo>
                  <a:pt x="1419" y="91"/>
                </a:lnTo>
                <a:lnTo>
                  <a:pt x="1419" y="79"/>
                </a:lnTo>
                <a:lnTo>
                  <a:pt x="1423" y="79"/>
                </a:lnTo>
                <a:lnTo>
                  <a:pt x="1427" y="75"/>
                </a:lnTo>
                <a:lnTo>
                  <a:pt x="1427" y="67"/>
                </a:lnTo>
                <a:lnTo>
                  <a:pt x="1431" y="67"/>
                </a:lnTo>
                <a:lnTo>
                  <a:pt x="1435" y="63"/>
                </a:lnTo>
                <a:lnTo>
                  <a:pt x="1435" y="55"/>
                </a:lnTo>
                <a:lnTo>
                  <a:pt x="1439" y="55"/>
                </a:lnTo>
                <a:lnTo>
                  <a:pt x="1439" y="47"/>
                </a:lnTo>
                <a:lnTo>
                  <a:pt x="1443" y="47"/>
                </a:lnTo>
                <a:lnTo>
                  <a:pt x="1455" y="35"/>
                </a:lnTo>
                <a:lnTo>
                  <a:pt x="1455" y="27"/>
                </a:lnTo>
                <a:lnTo>
                  <a:pt x="1459" y="27"/>
                </a:lnTo>
                <a:lnTo>
                  <a:pt x="1479" y="7"/>
                </a:lnTo>
                <a:lnTo>
                  <a:pt x="1494" y="0"/>
                </a:lnTo>
                <a:lnTo>
                  <a:pt x="1494" y="7"/>
                </a:lnTo>
                <a:lnTo>
                  <a:pt x="1490" y="7"/>
                </a:lnTo>
                <a:lnTo>
                  <a:pt x="1490" y="15"/>
                </a:lnTo>
                <a:lnTo>
                  <a:pt x="1483" y="23"/>
                </a:lnTo>
                <a:lnTo>
                  <a:pt x="1479" y="23"/>
                </a:lnTo>
                <a:lnTo>
                  <a:pt x="1479" y="31"/>
                </a:lnTo>
                <a:lnTo>
                  <a:pt x="1467" y="43"/>
                </a:lnTo>
                <a:lnTo>
                  <a:pt x="1463" y="43"/>
                </a:lnTo>
                <a:lnTo>
                  <a:pt x="1463" y="51"/>
                </a:lnTo>
                <a:lnTo>
                  <a:pt x="1459" y="55"/>
                </a:lnTo>
                <a:lnTo>
                  <a:pt x="1455" y="55"/>
                </a:lnTo>
                <a:lnTo>
                  <a:pt x="1455" y="63"/>
                </a:lnTo>
                <a:lnTo>
                  <a:pt x="1451" y="63"/>
                </a:lnTo>
                <a:lnTo>
                  <a:pt x="1451" y="71"/>
                </a:lnTo>
                <a:lnTo>
                  <a:pt x="1447" y="71"/>
                </a:lnTo>
                <a:lnTo>
                  <a:pt x="1447" y="83"/>
                </a:lnTo>
                <a:lnTo>
                  <a:pt x="1443" y="83"/>
                </a:lnTo>
                <a:lnTo>
                  <a:pt x="1443" y="91"/>
                </a:lnTo>
                <a:lnTo>
                  <a:pt x="1439" y="91"/>
                </a:lnTo>
                <a:lnTo>
                  <a:pt x="1439" y="98"/>
                </a:lnTo>
                <a:lnTo>
                  <a:pt x="1435" y="98"/>
                </a:lnTo>
                <a:lnTo>
                  <a:pt x="1435" y="106"/>
                </a:lnTo>
                <a:lnTo>
                  <a:pt x="1431" y="106"/>
                </a:lnTo>
                <a:lnTo>
                  <a:pt x="1431" y="122"/>
                </a:lnTo>
                <a:lnTo>
                  <a:pt x="1427" y="122"/>
                </a:lnTo>
                <a:lnTo>
                  <a:pt x="1427" y="138"/>
                </a:lnTo>
                <a:lnTo>
                  <a:pt x="1423" y="138"/>
                </a:lnTo>
                <a:lnTo>
                  <a:pt x="1423" y="154"/>
                </a:lnTo>
                <a:lnTo>
                  <a:pt x="1419" y="154"/>
                </a:lnTo>
                <a:lnTo>
                  <a:pt x="1419" y="178"/>
                </a:lnTo>
                <a:lnTo>
                  <a:pt x="1415" y="178"/>
                </a:lnTo>
                <a:lnTo>
                  <a:pt x="1415" y="233"/>
                </a:lnTo>
                <a:lnTo>
                  <a:pt x="1411" y="237"/>
                </a:lnTo>
                <a:lnTo>
                  <a:pt x="1415" y="289"/>
                </a:lnTo>
                <a:lnTo>
                  <a:pt x="1419" y="316"/>
                </a:lnTo>
                <a:lnTo>
                  <a:pt x="1427" y="348"/>
                </a:lnTo>
                <a:lnTo>
                  <a:pt x="1431" y="368"/>
                </a:lnTo>
                <a:lnTo>
                  <a:pt x="1451" y="407"/>
                </a:lnTo>
                <a:lnTo>
                  <a:pt x="1455" y="419"/>
                </a:lnTo>
                <a:lnTo>
                  <a:pt x="1463" y="427"/>
                </a:lnTo>
                <a:lnTo>
                  <a:pt x="1467" y="435"/>
                </a:lnTo>
                <a:lnTo>
                  <a:pt x="1475" y="443"/>
                </a:lnTo>
                <a:lnTo>
                  <a:pt x="1479" y="451"/>
                </a:lnTo>
                <a:lnTo>
                  <a:pt x="1483" y="455"/>
                </a:lnTo>
                <a:lnTo>
                  <a:pt x="1486" y="463"/>
                </a:lnTo>
                <a:lnTo>
                  <a:pt x="1494" y="471"/>
                </a:lnTo>
                <a:lnTo>
                  <a:pt x="1486" y="471"/>
                </a:lnTo>
                <a:close/>
              </a:path>
              <a:path w="2466" h="471">
                <a:moveTo>
                  <a:pt x="1550" y="356"/>
                </a:moveTo>
                <a:lnTo>
                  <a:pt x="1546" y="348"/>
                </a:lnTo>
                <a:lnTo>
                  <a:pt x="1546" y="332"/>
                </a:lnTo>
                <a:lnTo>
                  <a:pt x="1550" y="332"/>
                </a:lnTo>
                <a:lnTo>
                  <a:pt x="1550" y="320"/>
                </a:lnTo>
                <a:lnTo>
                  <a:pt x="1554" y="320"/>
                </a:lnTo>
                <a:lnTo>
                  <a:pt x="1554" y="304"/>
                </a:lnTo>
                <a:lnTo>
                  <a:pt x="1558" y="304"/>
                </a:lnTo>
                <a:lnTo>
                  <a:pt x="1558" y="289"/>
                </a:lnTo>
                <a:lnTo>
                  <a:pt x="1562" y="289"/>
                </a:lnTo>
                <a:lnTo>
                  <a:pt x="1562" y="273"/>
                </a:lnTo>
                <a:lnTo>
                  <a:pt x="1566" y="273"/>
                </a:lnTo>
                <a:lnTo>
                  <a:pt x="1566" y="261"/>
                </a:lnTo>
                <a:lnTo>
                  <a:pt x="1570" y="261"/>
                </a:lnTo>
                <a:lnTo>
                  <a:pt x="1570" y="245"/>
                </a:lnTo>
                <a:lnTo>
                  <a:pt x="1574" y="245"/>
                </a:lnTo>
                <a:lnTo>
                  <a:pt x="1574" y="229"/>
                </a:lnTo>
                <a:lnTo>
                  <a:pt x="1578" y="229"/>
                </a:lnTo>
                <a:lnTo>
                  <a:pt x="1578" y="213"/>
                </a:lnTo>
                <a:lnTo>
                  <a:pt x="1582" y="213"/>
                </a:lnTo>
                <a:lnTo>
                  <a:pt x="1582" y="197"/>
                </a:lnTo>
                <a:lnTo>
                  <a:pt x="1586" y="197"/>
                </a:lnTo>
                <a:lnTo>
                  <a:pt x="1586" y="186"/>
                </a:lnTo>
                <a:lnTo>
                  <a:pt x="1590" y="186"/>
                </a:lnTo>
                <a:lnTo>
                  <a:pt x="1590" y="170"/>
                </a:lnTo>
                <a:lnTo>
                  <a:pt x="1594" y="170"/>
                </a:lnTo>
                <a:lnTo>
                  <a:pt x="1594" y="154"/>
                </a:lnTo>
                <a:lnTo>
                  <a:pt x="1598" y="154"/>
                </a:lnTo>
                <a:lnTo>
                  <a:pt x="1598" y="138"/>
                </a:lnTo>
                <a:lnTo>
                  <a:pt x="1601" y="138"/>
                </a:lnTo>
                <a:lnTo>
                  <a:pt x="1601" y="126"/>
                </a:lnTo>
                <a:lnTo>
                  <a:pt x="1605" y="126"/>
                </a:lnTo>
                <a:lnTo>
                  <a:pt x="1605" y="110"/>
                </a:lnTo>
                <a:lnTo>
                  <a:pt x="1609" y="110"/>
                </a:lnTo>
                <a:lnTo>
                  <a:pt x="1609" y="95"/>
                </a:lnTo>
                <a:lnTo>
                  <a:pt x="1613" y="95"/>
                </a:lnTo>
                <a:lnTo>
                  <a:pt x="1613" y="79"/>
                </a:lnTo>
                <a:lnTo>
                  <a:pt x="1617" y="79"/>
                </a:lnTo>
                <a:lnTo>
                  <a:pt x="1617" y="47"/>
                </a:lnTo>
                <a:lnTo>
                  <a:pt x="1594" y="47"/>
                </a:lnTo>
                <a:lnTo>
                  <a:pt x="1586" y="43"/>
                </a:lnTo>
                <a:lnTo>
                  <a:pt x="1590" y="39"/>
                </a:lnTo>
                <a:lnTo>
                  <a:pt x="1590" y="31"/>
                </a:lnTo>
                <a:lnTo>
                  <a:pt x="1621" y="31"/>
                </a:lnTo>
                <a:lnTo>
                  <a:pt x="1653" y="27"/>
                </a:lnTo>
                <a:lnTo>
                  <a:pt x="1653" y="55"/>
                </a:lnTo>
                <a:lnTo>
                  <a:pt x="1649" y="55"/>
                </a:lnTo>
                <a:lnTo>
                  <a:pt x="1649" y="71"/>
                </a:lnTo>
                <a:lnTo>
                  <a:pt x="1645" y="71"/>
                </a:lnTo>
                <a:lnTo>
                  <a:pt x="1645" y="87"/>
                </a:lnTo>
                <a:lnTo>
                  <a:pt x="1641" y="87"/>
                </a:lnTo>
                <a:lnTo>
                  <a:pt x="1641" y="102"/>
                </a:lnTo>
                <a:lnTo>
                  <a:pt x="1637" y="102"/>
                </a:lnTo>
                <a:lnTo>
                  <a:pt x="1637" y="118"/>
                </a:lnTo>
                <a:lnTo>
                  <a:pt x="1633" y="118"/>
                </a:lnTo>
                <a:lnTo>
                  <a:pt x="1633" y="134"/>
                </a:lnTo>
                <a:lnTo>
                  <a:pt x="1629" y="134"/>
                </a:lnTo>
                <a:lnTo>
                  <a:pt x="1629" y="150"/>
                </a:lnTo>
                <a:lnTo>
                  <a:pt x="1625" y="150"/>
                </a:lnTo>
                <a:lnTo>
                  <a:pt x="1625" y="166"/>
                </a:lnTo>
                <a:lnTo>
                  <a:pt x="1621" y="166"/>
                </a:lnTo>
                <a:lnTo>
                  <a:pt x="1621" y="182"/>
                </a:lnTo>
                <a:lnTo>
                  <a:pt x="1617" y="182"/>
                </a:lnTo>
                <a:lnTo>
                  <a:pt x="1617" y="197"/>
                </a:lnTo>
                <a:lnTo>
                  <a:pt x="1613" y="197"/>
                </a:lnTo>
                <a:lnTo>
                  <a:pt x="1613" y="213"/>
                </a:lnTo>
                <a:lnTo>
                  <a:pt x="1609" y="213"/>
                </a:lnTo>
                <a:lnTo>
                  <a:pt x="1609" y="229"/>
                </a:lnTo>
                <a:lnTo>
                  <a:pt x="1617" y="229"/>
                </a:lnTo>
                <a:lnTo>
                  <a:pt x="1625" y="225"/>
                </a:lnTo>
                <a:lnTo>
                  <a:pt x="1689" y="162"/>
                </a:lnTo>
                <a:lnTo>
                  <a:pt x="1697" y="158"/>
                </a:lnTo>
                <a:lnTo>
                  <a:pt x="1701" y="154"/>
                </a:lnTo>
                <a:lnTo>
                  <a:pt x="1709" y="150"/>
                </a:lnTo>
                <a:lnTo>
                  <a:pt x="1744" y="146"/>
                </a:lnTo>
                <a:lnTo>
                  <a:pt x="1744" y="150"/>
                </a:lnTo>
                <a:lnTo>
                  <a:pt x="1752" y="158"/>
                </a:lnTo>
                <a:lnTo>
                  <a:pt x="1756" y="186"/>
                </a:lnTo>
                <a:lnTo>
                  <a:pt x="1752" y="186"/>
                </a:lnTo>
                <a:lnTo>
                  <a:pt x="1752" y="194"/>
                </a:lnTo>
                <a:lnTo>
                  <a:pt x="1744" y="197"/>
                </a:lnTo>
                <a:lnTo>
                  <a:pt x="1724" y="197"/>
                </a:lnTo>
                <a:lnTo>
                  <a:pt x="1720" y="194"/>
                </a:lnTo>
                <a:lnTo>
                  <a:pt x="1716" y="186"/>
                </a:lnTo>
                <a:lnTo>
                  <a:pt x="1720" y="182"/>
                </a:lnTo>
                <a:lnTo>
                  <a:pt x="1720" y="174"/>
                </a:lnTo>
                <a:lnTo>
                  <a:pt x="1724" y="174"/>
                </a:lnTo>
                <a:lnTo>
                  <a:pt x="1728" y="170"/>
                </a:lnTo>
                <a:lnTo>
                  <a:pt x="1736" y="166"/>
                </a:lnTo>
                <a:lnTo>
                  <a:pt x="1740" y="162"/>
                </a:lnTo>
                <a:lnTo>
                  <a:pt x="1709" y="158"/>
                </a:lnTo>
                <a:lnTo>
                  <a:pt x="1709" y="162"/>
                </a:lnTo>
                <a:lnTo>
                  <a:pt x="1701" y="166"/>
                </a:lnTo>
                <a:lnTo>
                  <a:pt x="1697" y="170"/>
                </a:lnTo>
                <a:lnTo>
                  <a:pt x="1689" y="174"/>
                </a:lnTo>
                <a:lnTo>
                  <a:pt x="1665" y="197"/>
                </a:lnTo>
                <a:lnTo>
                  <a:pt x="1657" y="197"/>
                </a:lnTo>
                <a:lnTo>
                  <a:pt x="1657" y="205"/>
                </a:lnTo>
                <a:lnTo>
                  <a:pt x="1637" y="225"/>
                </a:lnTo>
                <a:lnTo>
                  <a:pt x="1629" y="229"/>
                </a:lnTo>
                <a:lnTo>
                  <a:pt x="1625" y="233"/>
                </a:lnTo>
                <a:lnTo>
                  <a:pt x="1617" y="237"/>
                </a:lnTo>
                <a:lnTo>
                  <a:pt x="1649" y="245"/>
                </a:lnTo>
                <a:lnTo>
                  <a:pt x="1665" y="253"/>
                </a:lnTo>
                <a:lnTo>
                  <a:pt x="1681" y="269"/>
                </a:lnTo>
                <a:lnTo>
                  <a:pt x="1685" y="324"/>
                </a:lnTo>
                <a:lnTo>
                  <a:pt x="1681" y="328"/>
                </a:lnTo>
                <a:lnTo>
                  <a:pt x="1685" y="344"/>
                </a:lnTo>
                <a:lnTo>
                  <a:pt x="1689" y="348"/>
                </a:lnTo>
                <a:lnTo>
                  <a:pt x="1709" y="348"/>
                </a:lnTo>
                <a:lnTo>
                  <a:pt x="1716" y="344"/>
                </a:lnTo>
                <a:lnTo>
                  <a:pt x="1720" y="340"/>
                </a:lnTo>
                <a:lnTo>
                  <a:pt x="1720" y="332"/>
                </a:lnTo>
                <a:lnTo>
                  <a:pt x="1724" y="332"/>
                </a:lnTo>
                <a:lnTo>
                  <a:pt x="1724" y="324"/>
                </a:lnTo>
                <a:lnTo>
                  <a:pt x="1728" y="324"/>
                </a:lnTo>
                <a:lnTo>
                  <a:pt x="1728" y="316"/>
                </a:lnTo>
                <a:lnTo>
                  <a:pt x="1732" y="316"/>
                </a:lnTo>
                <a:lnTo>
                  <a:pt x="1732" y="304"/>
                </a:lnTo>
                <a:lnTo>
                  <a:pt x="1736" y="304"/>
                </a:lnTo>
                <a:lnTo>
                  <a:pt x="1736" y="289"/>
                </a:lnTo>
                <a:lnTo>
                  <a:pt x="1740" y="289"/>
                </a:lnTo>
                <a:lnTo>
                  <a:pt x="1748" y="285"/>
                </a:lnTo>
                <a:lnTo>
                  <a:pt x="1748" y="300"/>
                </a:lnTo>
                <a:lnTo>
                  <a:pt x="1744" y="300"/>
                </a:lnTo>
                <a:lnTo>
                  <a:pt x="1744" y="312"/>
                </a:lnTo>
                <a:lnTo>
                  <a:pt x="1740" y="312"/>
                </a:lnTo>
                <a:lnTo>
                  <a:pt x="1740" y="324"/>
                </a:lnTo>
                <a:lnTo>
                  <a:pt x="1736" y="324"/>
                </a:lnTo>
                <a:lnTo>
                  <a:pt x="1736" y="332"/>
                </a:lnTo>
                <a:lnTo>
                  <a:pt x="1732" y="332"/>
                </a:lnTo>
                <a:lnTo>
                  <a:pt x="1732" y="340"/>
                </a:lnTo>
                <a:lnTo>
                  <a:pt x="1724" y="348"/>
                </a:lnTo>
                <a:lnTo>
                  <a:pt x="1716" y="352"/>
                </a:lnTo>
                <a:lnTo>
                  <a:pt x="1713" y="356"/>
                </a:lnTo>
                <a:lnTo>
                  <a:pt x="1677" y="356"/>
                </a:lnTo>
                <a:lnTo>
                  <a:pt x="1673" y="352"/>
                </a:lnTo>
                <a:lnTo>
                  <a:pt x="1665" y="348"/>
                </a:lnTo>
                <a:lnTo>
                  <a:pt x="1661" y="340"/>
                </a:lnTo>
                <a:lnTo>
                  <a:pt x="1657" y="336"/>
                </a:lnTo>
                <a:lnTo>
                  <a:pt x="1653" y="316"/>
                </a:lnTo>
                <a:lnTo>
                  <a:pt x="1653" y="296"/>
                </a:lnTo>
                <a:lnTo>
                  <a:pt x="1657" y="296"/>
                </a:lnTo>
                <a:lnTo>
                  <a:pt x="1653" y="273"/>
                </a:lnTo>
                <a:lnTo>
                  <a:pt x="1641" y="261"/>
                </a:lnTo>
                <a:lnTo>
                  <a:pt x="1633" y="257"/>
                </a:lnTo>
                <a:lnTo>
                  <a:pt x="1621" y="253"/>
                </a:lnTo>
                <a:lnTo>
                  <a:pt x="1601" y="249"/>
                </a:lnTo>
                <a:lnTo>
                  <a:pt x="1601" y="261"/>
                </a:lnTo>
                <a:lnTo>
                  <a:pt x="1598" y="261"/>
                </a:lnTo>
                <a:lnTo>
                  <a:pt x="1598" y="277"/>
                </a:lnTo>
                <a:lnTo>
                  <a:pt x="1594" y="277"/>
                </a:lnTo>
                <a:lnTo>
                  <a:pt x="1594" y="289"/>
                </a:lnTo>
                <a:lnTo>
                  <a:pt x="1590" y="289"/>
                </a:lnTo>
                <a:lnTo>
                  <a:pt x="1590" y="304"/>
                </a:lnTo>
                <a:lnTo>
                  <a:pt x="1586" y="304"/>
                </a:lnTo>
                <a:lnTo>
                  <a:pt x="1586" y="320"/>
                </a:lnTo>
                <a:lnTo>
                  <a:pt x="1582" y="320"/>
                </a:lnTo>
                <a:lnTo>
                  <a:pt x="1582" y="332"/>
                </a:lnTo>
                <a:lnTo>
                  <a:pt x="1578" y="332"/>
                </a:lnTo>
                <a:lnTo>
                  <a:pt x="1578" y="348"/>
                </a:lnTo>
                <a:lnTo>
                  <a:pt x="1574" y="348"/>
                </a:lnTo>
                <a:lnTo>
                  <a:pt x="1574" y="356"/>
                </a:lnTo>
                <a:lnTo>
                  <a:pt x="1550" y="356"/>
                </a:lnTo>
                <a:close/>
              </a:path>
              <a:path w="2466" h="471">
                <a:moveTo>
                  <a:pt x="1824" y="443"/>
                </a:moveTo>
                <a:lnTo>
                  <a:pt x="1828" y="439"/>
                </a:lnTo>
                <a:lnTo>
                  <a:pt x="1843" y="423"/>
                </a:lnTo>
                <a:lnTo>
                  <a:pt x="1843" y="415"/>
                </a:lnTo>
                <a:lnTo>
                  <a:pt x="1847" y="415"/>
                </a:lnTo>
                <a:lnTo>
                  <a:pt x="1851" y="411"/>
                </a:lnTo>
                <a:lnTo>
                  <a:pt x="1851" y="399"/>
                </a:lnTo>
                <a:lnTo>
                  <a:pt x="1855" y="399"/>
                </a:lnTo>
                <a:lnTo>
                  <a:pt x="1855" y="391"/>
                </a:lnTo>
                <a:lnTo>
                  <a:pt x="1859" y="391"/>
                </a:lnTo>
                <a:lnTo>
                  <a:pt x="1859" y="352"/>
                </a:lnTo>
                <a:lnTo>
                  <a:pt x="1831" y="352"/>
                </a:lnTo>
                <a:lnTo>
                  <a:pt x="1824" y="344"/>
                </a:lnTo>
                <a:lnTo>
                  <a:pt x="1820" y="332"/>
                </a:lnTo>
                <a:lnTo>
                  <a:pt x="1824" y="328"/>
                </a:lnTo>
                <a:lnTo>
                  <a:pt x="1824" y="320"/>
                </a:lnTo>
                <a:lnTo>
                  <a:pt x="1828" y="320"/>
                </a:lnTo>
                <a:lnTo>
                  <a:pt x="1831" y="316"/>
                </a:lnTo>
                <a:lnTo>
                  <a:pt x="1855" y="312"/>
                </a:lnTo>
                <a:lnTo>
                  <a:pt x="1855" y="316"/>
                </a:lnTo>
                <a:lnTo>
                  <a:pt x="1863" y="324"/>
                </a:lnTo>
                <a:lnTo>
                  <a:pt x="1867" y="336"/>
                </a:lnTo>
                <a:lnTo>
                  <a:pt x="1871" y="380"/>
                </a:lnTo>
                <a:lnTo>
                  <a:pt x="1867" y="380"/>
                </a:lnTo>
                <a:lnTo>
                  <a:pt x="1867" y="395"/>
                </a:lnTo>
                <a:lnTo>
                  <a:pt x="1863" y="395"/>
                </a:lnTo>
                <a:lnTo>
                  <a:pt x="1863" y="403"/>
                </a:lnTo>
                <a:lnTo>
                  <a:pt x="1859" y="403"/>
                </a:lnTo>
                <a:lnTo>
                  <a:pt x="1859" y="411"/>
                </a:lnTo>
                <a:lnTo>
                  <a:pt x="1855" y="411"/>
                </a:lnTo>
                <a:lnTo>
                  <a:pt x="1855" y="419"/>
                </a:lnTo>
                <a:lnTo>
                  <a:pt x="1851" y="423"/>
                </a:lnTo>
                <a:lnTo>
                  <a:pt x="1847" y="423"/>
                </a:lnTo>
                <a:lnTo>
                  <a:pt x="1847" y="431"/>
                </a:lnTo>
                <a:lnTo>
                  <a:pt x="1835" y="443"/>
                </a:lnTo>
                <a:lnTo>
                  <a:pt x="1824" y="443"/>
                </a:lnTo>
                <a:close/>
              </a:path>
              <a:path w="2466" h="471">
                <a:moveTo>
                  <a:pt x="2014" y="356"/>
                </a:moveTo>
                <a:lnTo>
                  <a:pt x="2010" y="352"/>
                </a:lnTo>
                <a:lnTo>
                  <a:pt x="2014" y="348"/>
                </a:lnTo>
                <a:lnTo>
                  <a:pt x="2014" y="340"/>
                </a:lnTo>
                <a:lnTo>
                  <a:pt x="2038" y="340"/>
                </a:lnTo>
                <a:lnTo>
                  <a:pt x="2054" y="332"/>
                </a:lnTo>
                <a:lnTo>
                  <a:pt x="2061" y="324"/>
                </a:lnTo>
                <a:lnTo>
                  <a:pt x="2061" y="316"/>
                </a:lnTo>
                <a:lnTo>
                  <a:pt x="2065" y="316"/>
                </a:lnTo>
                <a:lnTo>
                  <a:pt x="2065" y="304"/>
                </a:lnTo>
                <a:lnTo>
                  <a:pt x="2069" y="304"/>
                </a:lnTo>
                <a:lnTo>
                  <a:pt x="2069" y="289"/>
                </a:lnTo>
                <a:lnTo>
                  <a:pt x="2073" y="289"/>
                </a:lnTo>
                <a:lnTo>
                  <a:pt x="2073" y="273"/>
                </a:lnTo>
                <a:lnTo>
                  <a:pt x="2077" y="273"/>
                </a:lnTo>
                <a:lnTo>
                  <a:pt x="2077" y="257"/>
                </a:lnTo>
                <a:lnTo>
                  <a:pt x="2081" y="257"/>
                </a:lnTo>
                <a:lnTo>
                  <a:pt x="2081" y="241"/>
                </a:lnTo>
                <a:lnTo>
                  <a:pt x="2085" y="241"/>
                </a:lnTo>
                <a:lnTo>
                  <a:pt x="2085" y="225"/>
                </a:lnTo>
                <a:lnTo>
                  <a:pt x="2089" y="225"/>
                </a:lnTo>
                <a:lnTo>
                  <a:pt x="2089" y="209"/>
                </a:lnTo>
                <a:lnTo>
                  <a:pt x="2093" y="209"/>
                </a:lnTo>
                <a:lnTo>
                  <a:pt x="2093" y="194"/>
                </a:lnTo>
                <a:lnTo>
                  <a:pt x="2097" y="194"/>
                </a:lnTo>
                <a:lnTo>
                  <a:pt x="2097" y="178"/>
                </a:lnTo>
                <a:lnTo>
                  <a:pt x="2101" y="178"/>
                </a:lnTo>
                <a:lnTo>
                  <a:pt x="2101" y="162"/>
                </a:lnTo>
                <a:lnTo>
                  <a:pt x="2105" y="162"/>
                </a:lnTo>
                <a:lnTo>
                  <a:pt x="2105" y="146"/>
                </a:lnTo>
                <a:lnTo>
                  <a:pt x="2109" y="146"/>
                </a:lnTo>
                <a:lnTo>
                  <a:pt x="2109" y="130"/>
                </a:lnTo>
                <a:lnTo>
                  <a:pt x="2113" y="130"/>
                </a:lnTo>
                <a:lnTo>
                  <a:pt x="2113" y="114"/>
                </a:lnTo>
                <a:lnTo>
                  <a:pt x="2117" y="114"/>
                </a:lnTo>
                <a:lnTo>
                  <a:pt x="2117" y="98"/>
                </a:lnTo>
                <a:lnTo>
                  <a:pt x="2121" y="98"/>
                </a:lnTo>
                <a:lnTo>
                  <a:pt x="2121" y="83"/>
                </a:lnTo>
                <a:lnTo>
                  <a:pt x="2125" y="83"/>
                </a:lnTo>
                <a:lnTo>
                  <a:pt x="2125" y="47"/>
                </a:lnTo>
                <a:lnTo>
                  <a:pt x="2097" y="47"/>
                </a:lnTo>
                <a:lnTo>
                  <a:pt x="2085" y="43"/>
                </a:lnTo>
                <a:lnTo>
                  <a:pt x="2089" y="39"/>
                </a:lnTo>
                <a:lnTo>
                  <a:pt x="2089" y="31"/>
                </a:lnTo>
                <a:lnTo>
                  <a:pt x="2172" y="31"/>
                </a:lnTo>
                <a:lnTo>
                  <a:pt x="2172" y="43"/>
                </a:lnTo>
                <a:lnTo>
                  <a:pt x="2176" y="71"/>
                </a:lnTo>
                <a:lnTo>
                  <a:pt x="2180" y="102"/>
                </a:lnTo>
                <a:lnTo>
                  <a:pt x="2184" y="130"/>
                </a:lnTo>
                <a:lnTo>
                  <a:pt x="2188" y="162"/>
                </a:lnTo>
                <a:lnTo>
                  <a:pt x="2192" y="190"/>
                </a:lnTo>
                <a:lnTo>
                  <a:pt x="2196" y="221"/>
                </a:lnTo>
                <a:lnTo>
                  <a:pt x="2200" y="249"/>
                </a:lnTo>
                <a:lnTo>
                  <a:pt x="2204" y="281"/>
                </a:lnTo>
                <a:lnTo>
                  <a:pt x="2208" y="308"/>
                </a:lnTo>
                <a:lnTo>
                  <a:pt x="2212" y="308"/>
                </a:lnTo>
                <a:lnTo>
                  <a:pt x="2216" y="304"/>
                </a:lnTo>
                <a:lnTo>
                  <a:pt x="2216" y="296"/>
                </a:lnTo>
                <a:lnTo>
                  <a:pt x="2220" y="296"/>
                </a:lnTo>
                <a:lnTo>
                  <a:pt x="2224" y="293"/>
                </a:lnTo>
                <a:lnTo>
                  <a:pt x="2224" y="285"/>
                </a:lnTo>
                <a:lnTo>
                  <a:pt x="2228" y="285"/>
                </a:lnTo>
                <a:lnTo>
                  <a:pt x="2232" y="281"/>
                </a:lnTo>
                <a:lnTo>
                  <a:pt x="2232" y="273"/>
                </a:lnTo>
                <a:lnTo>
                  <a:pt x="2236" y="273"/>
                </a:lnTo>
                <a:lnTo>
                  <a:pt x="2236" y="265"/>
                </a:lnTo>
                <a:lnTo>
                  <a:pt x="2240" y="265"/>
                </a:lnTo>
                <a:lnTo>
                  <a:pt x="2244" y="261"/>
                </a:lnTo>
                <a:lnTo>
                  <a:pt x="2244" y="253"/>
                </a:lnTo>
                <a:lnTo>
                  <a:pt x="2248" y="253"/>
                </a:lnTo>
                <a:lnTo>
                  <a:pt x="2252" y="249"/>
                </a:lnTo>
                <a:lnTo>
                  <a:pt x="2252" y="241"/>
                </a:lnTo>
                <a:lnTo>
                  <a:pt x="2256" y="241"/>
                </a:lnTo>
                <a:lnTo>
                  <a:pt x="2260" y="237"/>
                </a:lnTo>
                <a:lnTo>
                  <a:pt x="2260" y="229"/>
                </a:lnTo>
                <a:lnTo>
                  <a:pt x="2264" y="229"/>
                </a:lnTo>
                <a:lnTo>
                  <a:pt x="2264" y="221"/>
                </a:lnTo>
                <a:lnTo>
                  <a:pt x="2268" y="221"/>
                </a:lnTo>
                <a:lnTo>
                  <a:pt x="2272" y="217"/>
                </a:lnTo>
                <a:lnTo>
                  <a:pt x="2272" y="209"/>
                </a:lnTo>
                <a:lnTo>
                  <a:pt x="2276" y="209"/>
                </a:lnTo>
                <a:lnTo>
                  <a:pt x="2280" y="205"/>
                </a:lnTo>
                <a:lnTo>
                  <a:pt x="2280" y="197"/>
                </a:lnTo>
                <a:lnTo>
                  <a:pt x="2284" y="197"/>
                </a:lnTo>
                <a:lnTo>
                  <a:pt x="2284" y="190"/>
                </a:lnTo>
                <a:lnTo>
                  <a:pt x="2287" y="190"/>
                </a:lnTo>
                <a:lnTo>
                  <a:pt x="2291" y="186"/>
                </a:lnTo>
                <a:lnTo>
                  <a:pt x="2291" y="178"/>
                </a:lnTo>
                <a:lnTo>
                  <a:pt x="2295" y="178"/>
                </a:lnTo>
                <a:lnTo>
                  <a:pt x="2299" y="174"/>
                </a:lnTo>
                <a:lnTo>
                  <a:pt x="2299" y="166"/>
                </a:lnTo>
                <a:lnTo>
                  <a:pt x="2303" y="166"/>
                </a:lnTo>
                <a:lnTo>
                  <a:pt x="2307" y="162"/>
                </a:lnTo>
                <a:lnTo>
                  <a:pt x="2307" y="154"/>
                </a:lnTo>
                <a:lnTo>
                  <a:pt x="2311" y="154"/>
                </a:lnTo>
                <a:lnTo>
                  <a:pt x="2311" y="146"/>
                </a:lnTo>
                <a:lnTo>
                  <a:pt x="2315" y="146"/>
                </a:lnTo>
                <a:lnTo>
                  <a:pt x="2319" y="142"/>
                </a:lnTo>
                <a:lnTo>
                  <a:pt x="2319" y="134"/>
                </a:lnTo>
                <a:lnTo>
                  <a:pt x="2323" y="134"/>
                </a:lnTo>
                <a:lnTo>
                  <a:pt x="2327" y="130"/>
                </a:lnTo>
                <a:lnTo>
                  <a:pt x="2327" y="122"/>
                </a:lnTo>
                <a:lnTo>
                  <a:pt x="2331" y="122"/>
                </a:lnTo>
                <a:lnTo>
                  <a:pt x="2331" y="114"/>
                </a:lnTo>
                <a:lnTo>
                  <a:pt x="2335" y="114"/>
                </a:lnTo>
                <a:lnTo>
                  <a:pt x="2339" y="110"/>
                </a:lnTo>
                <a:lnTo>
                  <a:pt x="2339" y="102"/>
                </a:lnTo>
                <a:lnTo>
                  <a:pt x="2343" y="102"/>
                </a:lnTo>
                <a:lnTo>
                  <a:pt x="2347" y="98"/>
                </a:lnTo>
                <a:lnTo>
                  <a:pt x="2347" y="91"/>
                </a:lnTo>
                <a:lnTo>
                  <a:pt x="2351" y="91"/>
                </a:lnTo>
                <a:lnTo>
                  <a:pt x="2355" y="87"/>
                </a:lnTo>
                <a:lnTo>
                  <a:pt x="2355" y="79"/>
                </a:lnTo>
                <a:lnTo>
                  <a:pt x="2359" y="79"/>
                </a:lnTo>
                <a:lnTo>
                  <a:pt x="2359" y="71"/>
                </a:lnTo>
                <a:lnTo>
                  <a:pt x="2363" y="71"/>
                </a:lnTo>
                <a:lnTo>
                  <a:pt x="2367" y="67"/>
                </a:lnTo>
                <a:lnTo>
                  <a:pt x="2367" y="59"/>
                </a:lnTo>
                <a:lnTo>
                  <a:pt x="2371" y="59"/>
                </a:lnTo>
                <a:lnTo>
                  <a:pt x="2375" y="55"/>
                </a:lnTo>
                <a:lnTo>
                  <a:pt x="2375" y="47"/>
                </a:lnTo>
                <a:lnTo>
                  <a:pt x="2379" y="47"/>
                </a:lnTo>
                <a:lnTo>
                  <a:pt x="2379" y="39"/>
                </a:lnTo>
                <a:lnTo>
                  <a:pt x="2383" y="39"/>
                </a:lnTo>
                <a:lnTo>
                  <a:pt x="2387" y="35"/>
                </a:lnTo>
                <a:lnTo>
                  <a:pt x="2466" y="31"/>
                </a:lnTo>
                <a:lnTo>
                  <a:pt x="2466" y="43"/>
                </a:lnTo>
                <a:lnTo>
                  <a:pt x="2454" y="47"/>
                </a:lnTo>
                <a:lnTo>
                  <a:pt x="2426" y="51"/>
                </a:lnTo>
                <a:lnTo>
                  <a:pt x="2422" y="55"/>
                </a:lnTo>
                <a:lnTo>
                  <a:pt x="2418" y="55"/>
                </a:lnTo>
                <a:lnTo>
                  <a:pt x="2418" y="63"/>
                </a:lnTo>
                <a:lnTo>
                  <a:pt x="2414" y="63"/>
                </a:lnTo>
                <a:lnTo>
                  <a:pt x="2414" y="83"/>
                </a:lnTo>
                <a:lnTo>
                  <a:pt x="2410" y="83"/>
                </a:lnTo>
                <a:lnTo>
                  <a:pt x="2410" y="98"/>
                </a:lnTo>
                <a:lnTo>
                  <a:pt x="2406" y="98"/>
                </a:lnTo>
                <a:lnTo>
                  <a:pt x="2406" y="114"/>
                </a:lnTo>
                <a:lnTo>
                  <a:pt x="2402" y="114"/>
                </a:lnTo>
                <a:lnTo>
                  <a:pt x="2402" y="130"/>
                </a:lnTo>
                <a:lnTo>
                  <a:pt x="2399" y="130"/>
                </a:lnTo>
                <a:lnTo>
                  <a:pt x="2399" y="146"/>
                </a:lnTo>
                <a:lnTo>
                  <a:pt x="2395" y="146"/>
                </a:lnTo>
                <a:lnTo>
                  <a:pt x="2395" y="162"/>
                </a:lnTo>
                <a:lnTo>
                  <a:pt x="2391" y="162"/>
                </a:lnTo>
                <a:lnTo>
                  <a:pt x="2391" y="178"/>
                </a:lnTo>
                <a:lnTo>
                  <a:pt x="2387" y="178"/>
                </a:lnTo>
                <a:lnTo>
                  <a:pt x="2387" y="194"/>
                </a:lnTo>
                <a:lnTo>
                  <a:pt x="2383" y="194"/>
                </a:lnTo>
                <a:lnTo>
                  <a:pt x="2383" y="213"/>
                </a:lnTo>
                <a:lnTo>
                  <a:pt x="2379" y="213"/>
                </a:lnTo>
                <a:lnTo>
                  <a:pt x="2379" y="229"/>
                </a:lnTo>
                <a:lnTo>
                  <a:pt x="2375" y="229"/>
                </a:lnTo>
                <a:lnTo>
                  <a:pt x="2375" y="245"/>
                </a:lnTo>
                <a:lnTo>
                  <a:pt x="2371" y="245"/>
                </a:lnTo>
                <a:lnTo>
                  <a:pt x="2371" y="261"/>
                </a:lnTo>
                <a:lnTo>
                  <a:pt x="2367" y="261"/>
                </a:lnTo>
                <a:lnTo>
                  <a:pt x="2367" y="277"/>
                </a:lnTo>
                <a:lnTo>
                  <a:pt x="2363" y="277"/>
                </a:lnTo>
                <a:lnTo>
                  <a:pt x="2363" y="293"/>
                </a:lnTo>
                <a:lnTo>
                  <a:pt x="2359" y="293"/>
                </a:lnTo>
                <a:lnTo>
                  <a:pt x="2359" y="308"/>
                </a:lnTo>
                <a:lnTo>
                  <a:pt x="2355" y="308"/>
                </a:lnTo>
                <a:lnTo>
                  <a:pt x="2355" y="324"/>
                </a:lnTo>
                <a:lnTo>
                  <a:pt x="2351" y="324"/>
                </a:lnTo>
                <a:lnTo>
                  <a:pt x="2351" y="332"/>
                </a:lnTo>
                <a:lnTo>
                  <a:pt x="2355" y="340"/>
                </a:lnTo>
                <a:lnTo>
                  <a:pt x="2379" y="344"/>
                </a:lnTo>
                <a:lnTo>
                  <a:pt x="2391" y="344"/>
                </a:lnTo>
                <a:lnTo>
                  <a:pt x="2391" y="352"/>
                </a:lnTo>
                <a:lnTo>
                  <a:pt x="2379" y="356"/>
                </a:lnTo>
                <a:lnTo>
                  <a:pt x="2272" y="356"/>
                </a:lnTo>
                <a:lnTo>
                  <a:pt x="2268" y="352"/>
                </a:lnTo>
                <a:lnTo>
                  <a:pt x="2272" y="348"/>
                </a:lnTo>
                <a:lnTo>
                  <a:pt x="2280" y="344"/>
                </a:lnTo>
                <a:lnTo>
                  <a:pt x="2307" y="340"/>
                </a:lnTo>
                <a:lnTo>
                  <a:pt x="2315" y="336"/>
                </a:lnTo>
                <a:lnTo>
                  <a:pt x="2315" y="328"/>
                </a:lnTo>
                <a:lnTo>
                  <a:pt x="2319" y="328"/>
                </a:lnTo>
                <a:lnTo>
                  <a:pt x="2319" y="316"/>
                </a:lnTo>
                <a:lnTo>
                  <a:pt x="2323" y="316"/>
                </a:lnTo>
                <a:lnTo>
                  <a:pt x="2323" y="300"/>
                </a:lnTo>
                <a:lnTo>
                  <a:pt x="2327" y="300"/>
                </a:lnTo>
                <a:lnTo>
                  <a:pt x="2327" y="285"/>
                </a:lnTo>
                <a:lnTo>
                  <a:pt x="2331" y="285"/>
                </a:lnTo>
                <a:lnTo>
                  <a:pt x="2331" y="269"/>
                </a:lnTo>
                <a:lnTo>
                  <a:pt x="2335" y="269"/>
                </a:lnTo>
                <a:lnTo>
                  <a:pt x="2335" y="253"/>
                </a:lnTo>
                <a:lnTo>
                  <a:pt x="2339" y="253"/>
                </a:lnTo>
                <a:lnTo>
                  <a:pt x="2339" y="237"/>
                </a:lnTo>
                <a:lnTo>
                  <a:pt x="2343" y="237"/>
                </a:lnTo>
                <a:lnTo>
                  <a:pt x="2343" y="221"/>
                </a:lnTo>
                <a:lnTo>
                  <a:pt x="2347" y="221"/>
                </a:lnTo>
                <a:lnTo>
                  <a:pt x="2347" y="205"/>
                </a:lnTo>
                <a:lnTo>
                  <a:pt x="2351" y="205"/>
                </a:lnTo>
                <a:lnTo>
                  <a:pt x="2351" y="190"/>
                </a:lnTo>
                <a:lnTo>
                  <a:pt x="2355" y="190"/>
                </a:lnTo>
                <a:lnTo>
                  <a:pt x="2355" y="174"/>
                </a:lnTo>
                <a:lnTo>
                  <a:pt x="2359" y="174"/>
                </a:lnTo>
                <a:lnTo>
                  <a:pt x="2359" y="158"/>
                </a:lnTo>
                <a:lnTo>
                  <a:pt x="2363" y="158"/>
                </a:lnTo>
                <a:lnTo>
                  <a:pt x="2363" y="142"/>
                </a:lnTo>
                <a:lnTo>
                  <a:pt x="2367" y="142"/>
                </a:lnTo>
                <a:lnTo>
                  <a:pt x="2367" y="126"/>
                </a:lnTo>
                <a:lnTo>
                  <a:pt x="2371" y="126"/>
                </a:lnTo>
                <a:lnTo>
                  <a:pt x="2371" y="110"/>
                </a:lnTo>
                <a:lnTo>
                  <a:pt x="2375" y="110"/>
                </a:lnTo>
                <a:lnTo>
                  <a:pt x="2375" y="95"/>
                </a:lnTo>
                <a:lnTo>
                  <a:pt x="2379" y="95"/>
                </a:lnTo>
                <a:lnTo>
                  <a:pt x="2379" y="79"/>
                </a:lnTo>
                <a:lnTo>
                  <a:pt x="2383" y="79"/>
                </a:lnTo>
                <a:lnTo>
                  <a:pt x="2383" y="63"/>
                </a:lnTo>
                <a:lnTo>
                  <a:pt x="2387" y="63"/>
                </a:lnTo>
                <a:lnTo>
                  <a:pt x="2383" y="51"/>
                </a:lnTo>
                <a:lnTo>
                  <a:pt x="2383" y="59"/>
                </a:lnTo>
                <a:lnTo>
                  <a:pt x="2379" y="63"/>
                </a:lnTo>
                <a:lnTo>
                  <a:pt x="2375" y="63"/>
                </a:lnTo>
                <a:lnTo>
                  <a:pt x="2375" y="71"/>
                </a:lnTo>
                <a:lnTo>
                  <a:pt x="2371" y="75"/>
                </a:lnTo>
                <a:lnTo>
                  <a:pt x="2367" y="75"/>
                </a:lnTo>
                <a:lnTo>
                  <a:pt x="2367" y="83"/>
                </a:lnTo>
                <a:lnTo>
                  <a:pt x="2363" y="83"/>
                </a:lnTo>
                <a:lnTo>
                  <a:pt x="2363" y="91"/>
                </a:lnTo>
                <a:lnTo>
                  <a:pt x="2359" y="95"/>
                </a:lnTo>
                <a:lnTo>
                  <a:pt x="2355" y="95"/>
                </a:lnTo>
                <a:lnTo>
                  <a:pt x="2355" y="102"/>
                </a:lnTo>
                <a:lnTo>
                  <a:pt x="2351" y="106"/>
                </a:lnTo>
                <a:lnTo>
                  <a:pt x="2347" y="106"/>
                </a:lnTo>
                <a:lnTo>
                  <a:pt x="2347" y="114"/>
                </a:lnTo>
                <a:lnTo>
                  <a:pt x="2343" y="118"/>
                </a:lnTo>
                <a:lnTo>
                  <a:pt x="2339" y="118"/>
                </a:lnTo>
                <a:lnTo>
                  <a:pt x="2339" y="126"/>
                </a:lnTo>
                <a:lnTo>
                  <a:pt x="2335" y="126"/>
                </a:lnTo>
                <a:lnTo>
                  <a:pt x="2335" y="134"/>
                </a:lnTo>
                <a:lnTo>
                  <a:pt x="2331" y="138"/>
                </a:lnTo>
                <a:lnTo>
                  <a:pt x="2327" y="138"/>
                </a:lnTo>
                <a:lnTo>
                  <a:pt x="2327" y="146"/>
                </a:lnTo>
                <a:lnTo>
                  <a:pt x="2323" y="150"/>
                </a:lnTo>
                <a:lnTo>
                  <a:pt x="2319" y="150"/>
                </a:lnTo>
                <a:lnTo>
                  <a:pt x="2319" y="158"/>
                </a:lnTo>
                <a:lnTo>
                  <a:pt x="2315" y="158"/>
                </a:lnTo>
                <a:lnTo>
                  <a:pt x="2315" y="166"/>
                </a:lnTo>
                <a:lnTo>
                  <a:pt x="2311" y="170"/>
                </a:lnTo>
                <a:lnTo>
                  <a:pt x="2307" y="170"/>
                </a:lnTo>
                <a:lnTo>
                  <a:pt x="2307" y="178"/>
                </a:lnTo>
                <a:lnTo>
                  <a:pt x="2303" y="182"/>
                </a:lnTo>
                <a:lnTo>
                  <a:pt x="2299" y="182"/>
                </a:lnTo>
                <a:lnTo>
                  <a:pt x="2299" y="190"/>
                </a:lnTo>
                <a:lnTo>
                  <a:pt x="2295" y="194"/>
                </a:lnTo>
                <a:lnTo>
                  <a:pt x="2291" y="194"/>
                </a:lnTo>
                <a:lnTo>
                  <a:pt x="2291" y="201"/>
                </a:lnTo>
                <a:lnTo>
                  <a:pt x="2287" y="201"/>
                </a:lnTo>
                <a:lnTo>
                  <a:pt x="2287" y="209"/>
                </a:lnTo>
                <a:lnTo>
                  <a:pt x="2284" y="213"/>
                </a:lnTo>
                <a:lnTo>
                  <a:pt x="2280" y="213"/>
                </a:lnTo>
                <a:lnTo>
                  <a:pt x="2280" y="221"/>
                </a:lnTo>
                <a:lnTo>
                  <a:pt x="2276" y="225"/>
                </a:lnTo>
                <a:lnTo>
                  <a:pt x="2272" y="225"/>
                </a:lnTo>
                <a:lnTo>
                  <a:pt x="2272" y="233"/>
                </a:lnTo>
                <a:lnTo>
                  <a:pt x="2268" y="233"/>
                </a:lnTo>
                <a:lnTo>
                  <a:pt x="2268" y="241"/>
                </a:lnTo>
                <a:lnTo>
                  <a:pt x="2264" y="245"/>
                </a:lnTo>
                <a:lnTo>
                  <a:pt x="2260" y="245"/>
                </a:lnTo>
                <a:lnTo>
                  <a:pt x="2260" y="253"/>
                </a:lnTo>
                <a:lnTo>
                  <a:pt x="2256" y="257"/>
                </a:lnTo>
                <a:lnTo>
                  <a:pt x="2252" y="257"/>
                </a:lnTo>
                <a:lnTo>
                  <a:pt x="2252" y="265"/>
                </a:lnTo>
                <a:lnTo>
                  <a:pt x="2248" y="269"/>
                </a:lnTo>
                <a:lnTo>
                  <a:pt x="2244" y="269"/>
                </a:lnTo>
                <a:lnTo>
                  <a:pt x="2244" y="277"/>
                </a:lnTo>
                <a:lnTo>
                  <a:pt x="2240" y="277"/>
                </a:lnTo>
                <a:lnTo>
                  <a:pt x="2240" y="285"/>
                </a:lnTo>
                <a:lnTo>
                  <a:pt x="2236" y="289"/>
                </a:lnTo>
                <a:lnTo>
                  <a:pt x="2232" y="289"/>
                </a:lnTo>
                <a:lnTo>
                  <a:pt x="2232" y="296"/>
                </a:lnTo>
                <a:lnTo>
                  <a:pt x="2228" y="300"/>
                </a:lnTo>
                <a:lnTo>
                  <a:pt x="2224" y="300"/>
                </a:lnTo>
                <a:lnTo>
                  <a:pt x="2224" y="308"/>
                </a:lnTo>
                <a:lnTo>
                  <a:pt x="2220" y="308"/>
                </a:lnTo>
                <a:lnTo>
                  <a:pt x="2220" y="316"/>
                </a:lnTo>
                <a:lnTo>
                  <a:pt x="2216" y="320"/>
                </a:lnTo>
                <a:lnTo>
                  <a:pt x="2212" y="320"/>
                </a:lnTo>
                <a:lnTo>
                  <a:pt x="2212" y="328"/>
                </a:lnTo>
                <a:lnTo>
                  <a:pt x="2208" y="332"/>
                </a:lnTo>
                <a:lnTo>
                  <a:pt x="2204" y="332"/>
                </a:lnTo>
                <a:lnTo>
                  <a:pt x="2204" y="340"/>
                </a:lnTo>
                <a:lnTo>
                  <a:pt x="2200" y="344"/>
                </a:lnTo>
                <a:lnTo>
                  <a:pt x="2196" y="344"/>
                </a:lnTo>
                <a:lnTo>
                  <a:pt x="2196" y="352"/>
                </a:lnTo>
                <a:lnTo>
                  <a:pt x="2184" y="352"/>
                </a:lnTo>
                <a:lnTo>
                  <a:pt x="2180" y="348"/>
                </a:lnTo>
                <a:lnTo>
                  <a:pt x="2176" y="312"/>
                </a:lnTo>
                <a:lnTo>
                  <a:pt x="2172" y="285"/>
                </a:lnTo>
                <a:lnTo>
                  <a:pt x="2169" y="253"/>
                </a:lnTo>
                <a:lnTo>
                  <a:pt x="2161" y="197"/>
                </a:lnTo>
                <a:lnTo>
                  <a:pt x="2157" y="166"/>
                </a:lnTo>
                <a:lnTo>
                  <a:pt x="2153" y="138"/>
                </a:lnTo>
                <a:lnTo>
                  <a:pt x="2149" y="106"/>
                </a:lnTo>
                <a:lnTo>
                  <a:pt x="2141" y="51"/>
                </a:lnTo>
                <a:lnTo>
                  <a:pt x="2141" y="63"/>
                </a:lnTo>
                <a:lnTo>
                  <a:pt x="2137" y="63"/>
                </a:lnTo>
                <a:lnTo>
                  <a:pt x="2137" y="79"/>
                </a:lnTo>
                <a:lnTo>
                  <a:pt x="2133" y="79"/>
                </a:lnTo>
                <a:lnTo>
                  <a:pt x="2133" y="95"/>
                </a:lnTo>
                <a:lnTo>
                  <a:pt x="2129" y="95"/>
                </a:lnTo>
                <a:lnTo>
                  <a:pt x="2129" y="110"/>
                </a:lnTo>
                <a:lnTo>
                  <a:pt x="2125" y="110"/>
                </a:lnTo>
                <a:lnTo>
                  <a:pt x="2125" y="126"/>
                </a:lnTo>
                <a:lnTo>
                  <a:pt x="2121" y="126"/>
                </a:lnTo>
                <a:lnTo>
                  <a:pt x="2121" y="142"/>
                </a:lnTo>
                <a:lnTo>
                  <a:pt x="2117" y="142"/>
                </a:lnTo>
                <a:lnTo>
                  <a:pt x="2117" y="158"/>
                </a:lnTo>
                <a:lnTo>
                  <a:pt x="2113" y="158"/>
                </a:lnTo>
                <a:lnTo>
                  <a:pt x="2113" y="174"/>
                </a:lnTo>
                <a:lnTo>
                  <a:pt x="2109" y="174"/>
                </a:lnTo>
                <a:lnTo>
                  <a:pt x="2109" y="186"/>
                </a:lnTo>
                <a:lnTo>
                  <a:pt x="2105" y="186"/>
                </a:lnTo>
                <a:lnTo>
                  <a:pt x="2105" y="201"/>
                </a:lnTo>
                <a:lnTo>
                  <a:pt x="2101" y="201"/>
                </a:lnTo>
                <a:lnTo>
                  <a:pt x="2101" y="217"/>
                </a:lnTo>
                <a:lnTo>
                  <a:pt x="2097" y="217"/>
                </a:lnTo>
                <a:lnTo>
                  <a:pt x="2097" y="233"/>
                </a:lnTo>
                <a:lnTo>
                  <a:pt x="2093" y="233"/>
                </a:lnTo>
                <a:lnTo>
                  <a:pt x="2093" y="249"/>
                </a:lnTo>
                <a:lnTo>
                  <a:pt x="2089" y="249"/>
                </a:lnTo>
                <a:lnTo>
                  <a:pt x="2089" y="265"/>
                </a:lnTo>
                <a:lnTo>
                  <a:pt x="2085" y="265"/>
                </a:lnTo>
                <a:lnTo>
                  <a:pt x="2085" y="281"/>
                </a:lnTo>
                <a:lnTo>
                  <a:pt x="2081" y="281"/>
                </a:lnTo>
                <a:lnTo>
                  <a:pt x="2081" y="296"/>
                </a:lnTo>
                <a:lnTo>
                  <a:pt x="2077" y="296"/>
                </a:lnTo>
                <a:lnTo>
                  <a:pt x="2077" y="308"/>
                </a:lnTo>
                <a:lnTo>
                  <a:pt x="2073" y="308"/>
                </a:lnTo>
                <a:lnTo>
                  <a:pt x="2073" y="324"/>
                </a:lnTo>
                <a:lnTo>
                  <a:pt x="2077" y="332"/>
                </a:lnTo>
                <a:lnTo>
                  <a:pt x="2085" y="340"/>
                </a:lnTo>
                <a:lnTo>
                  <a:pt x="2105" y="344"/>
                </a:lnTo>
                <a:lnTo>
                  <a:pt x="2109" y="352"/>
                </a:lnTo>
                <a:lnTo>
                  <a:pt x="2101" y="356"/>
                </a:lnTo>
                <a:lnTo>
                  <a:pt x="2014" y="356"/>
                </a:lnTo>
                <a:close/>
              </a:path>
            </a:pathLst>
          </a:custGeom>
          <a:solidFill>
            <a:srgbClr val="000000">
              <a:alpha val="100000"/>
            </a:srgbClr>
          </a:solidFill>
          <a:ln cap="flat">
            <a:noFill/>
            <a:prstDash val="solid"/>
            <a:miter lim="0"/>
          </a:ln>
        </p:spPr>
        <p:txBody>
          <a:bodyPr rtlCol="0"/>
          <a:p>
            <a:pPr algn="ctr"/>
            <a:endParaRPr lang="zh-CN" altLang="en-US"/>
          </a:p>
        </p:txBody>
      </p:sp>
      <p:sp>
        <p:nvSpPr>
          <p:cNvPr id="1048895" name="path"/>
          <p:cNvSpPr/>
          <p:nvPr/>
        </p:nvSpPr>
        <p:spPr>
          <a:xfrm>
            <a:off x="3619853" y="3556836"/>
            <a:ext cx="135005" cy="209851"/>
          </a:xfrm>
          <a:custGeom>
            <a:avLst/>
            <a:gdLst/>
            <a:ahLst/>
            <a:cxnLst/>
            <a:rect l="0" t="0" r="0" b="0"/>
            <a:pathLst>
              <a:path w="212" h="330">
                <a:moveTo>
                  <a:pt x="3" y="330"/>
                </a:moveTo>
                <a:lnTo>
                  <a:pt x="0" y="322"/>
                </a:lnTo>
                <a:lnTo>
                  <a:pt x="3" y="318"/>
                </a:lnTo>
                <a:lnTo>
                  <a:pt x="3" y="306"/>
                </a:lnTo>
                <a:lnTo>
                  <a:pt x="7" y="306"/>
                </a:lnTo>
                <a:lnTo>
                  <a:pt x="7" y="290"/>
                </a:lnTo>
                <a:lnTo>
                  <a:pt x="11" y="290"/>
                </a:lnTo>
                <a:lnTo>
                  <a:pt x="11" y="274"/>
                </a:lnTo>
                <a:lnTo>
                  <a:pt x="15" y="274"/>
                </a:lnTo>
                <a:lnTo>
                  <a:pt x="15" y="258"/>
                </a:lnTo>
                <a:lnTo>
                  <a:pt x="19" y="258"/>
                </a:lnTo>
                <a:lnTo>
                  <a:pt x="19" y="242"/>
                </a:lnTo>
                <a:lnTo>
                  <a:pt x="23" y="242"/>
                </a:lnTo>
                <a:lnTo>
                  <a:pt x="23" y="226"/>
                </a:lnTo>
                <a:lnTo>
                  <a:pt x="27" y="226"/>
                </a:lnTo>
                <a:lnTo>
                  <a:pt x="27" y="211"/>
                </a:lnTo>
                <a:lnTo>
                  <a:pt x="31" y="211"/>
                </a:lnTo>
                <a:lnTo>
                  <a:pt x="31" y="195"/>
                </a:lnTo>
                <a:lnTo>
                  <a:pt x="35" y="195"/>
                </a:lnTo>
                <a:lnTo>
                  <a:pt x="35" y="179"/>
                </a:lnTo>
                <a:lnTo>
                  <a:pt x="39" y="179"/>
                </a:lnTo>
                <a:lnTo>
                  <a:pt x="39" y="163"/>
                </a:lnTo>
                <a:lnTo>
                  <a:pt x="43" y="163"/>
                </a:lnTo>
                <a:lnTo>
                  <a:pt x="43" y="147"/>
                </a:lnTo>
                <a:lnTo>
                  <a:pt x="47" y="147"/>
                </a:lnTo>
                <a:lnTo>
                  <a:pt x="47" y="131"/>
                </a:lnTo>
                <a:lnTo>
                  <a:pt x="51" y="131"/>
                </a:lnTo>
                <a:lnTo>
                  <a:pt x="51" y="115"/>
                </a:lnTo>
                <a:lnTo>
                  <a:pt x="55" y="115"/>
                </a:lnTo>
                <a:lnTo>
                  <a:pt x="55" y="99"/>
                </a:lnTo>
                <a:lnTo>
                  <a:pt x="59" y="99"/>
                </a:lnTo>
                <a:lnTo>
                  <a:pt x="59" y="83"/>
                </a:lnTo>
                <a:lnTo>
                  <a:pt x="62" y="83"/>
                </a:lnTo>
                <a:lnTo>
                  <a:pt x="62" y="67"/>
                </a:lnTo>
                <a:lnTo>
                  <a:pt x="66" y="67"/>
                </a:lnTo>
                <a:lnTo>
                  <a:pt x="66" y="51"/>
                </a:lnTo>
                <a:lnTo>
                  <a:pt x="70" y="51"/>
                </a:lnTo>
                <a:lnTo>
                  <a:pt x="70" y="19"/>
                </a:lnTo>
                <a:lnTo>
                  <a:pt x="47" y="19"/>
                </a:lnTo>
                <a:lnTo>
                  <a:pt x="39" y="15"/>
                </a:lnTo>
                <a:lnTo>
                  <a:pt x="43" y="11"/>
                </a:lnTo>
                <a:lnTo>
                  <a:pt x="43" y="3"/>
                </a:lnTo>
                <a:lnTo>
                  <a:pt x="78" y="3"/>
                </a:lnTo>
                <a:lnTo>
                  <a:pt x="110" y="0"/>
                </a:lnTo>
                <a:lnTo>
                  <a:pt x="110" y="7"/>
                </a:lnTo>
                <a:lnTo>
                  <a:pt x="106" y="7"/>
                </a:lnTo>
                <a:lnTo>
                  <a:pt x="106" y="27"/>
                </a:lnTo>
                <a:lnTo>
                  <a:pt x="102" y="27"/>
                </a:lnTo>
                <a:lnTo>
                  <a:pt x="102" y="43"/>
                </a:lnTo>
                <a:lnTo>
                  <a:pt x="98" y="43"/>
                </a:lnTo>
                <a:lnTo>
                  <a:pt x="98" y="59"/>
                </a:lnTo>
                <a:lnTo>
                  <a:pt x="94" y="59"/>
                </a:lnTo>
                <a:lnTo>
                  <a:pt x="94" y="75"/>
                </a:lnTo>
                <a:lnTo>
                  <a:pt x="90" y="75"/>
                </a:lnTo>
                <a:lnTo>
                  <a:pt x="90" y="91"/>
                </a:lnTo>
                <a:lnTo>
                  <a:pt x="86" y="91"/>
                </a:lnTo>
                <a:lnTo>
                  <a:pt x="86" y="107"/>
                </a:lnTo>
                <a:lnTo>
                  <a:pt x="82" y="107"/>
                </a:lnTo>
                <a:lnTo>
                  <a:pt x="82" y="123"/>
                </a:lnTo>
                <a:lnTo>
                  <a:pt x="78" y="123"/>
                </a:lnTo>
                <a:lnTo>
                  <a:pt x="78" y="139"/>
                </a:lnTo>
                <a:lnTo>
                  <a:pt x="74" y="139"/>
                </a:lnTo>
                <a:lnTo>
                  <a:pt x="74" y="155"/>
                </a:lnTo>
                <a:lnTo>
                  <a:pt x="70" y="155"/>
                </a:lnTo>
                <a:lnTo>
                  <a:pt x="70" y="171"/>
                </a:lnTo>
                <a:lnTo>
                  <a:pt x="66" y="171"/>
                </a:lnTo>
                <a:lnTo>
                  <a:pt x="66" y="187"/>
                </a:lnTo>
                <a:lnTo>
                  <a:pt x="62" y="187"/>
                </a:lnTo>
                <a:lnTo>
                  <a:pt x="62" y="203"/>
                </a:lnTo>
                <a:lnTo>
                  <a:pt x="66" y="203"/>
                </a:lnTo>
                <a:lnTo>
                  <a:pt x="74" y="199"/>
                </a:lnTo>
                <a:lnTo>
                  <a:pt x="78" y="195"/>
                </a:lnTo>
                <a:lnTo>
                  <a:pt x="86" y="191"/>
                </a:lnTo>
                <a:lnTo>
                  <a:pt x="141" y="135"/>
                </a:lnTo>
                <a:lnTo>
                  <a:pt x="157" y="127"/>
                </a:lnTo>
                <a:lnTo>
                  <a:pt x="161" y="123"/>
                </a:lnTo>
                <a:lnTo>
                  <a:pt x="196" y="119"/>
                </a:lnTo>
                <a:lnTo>
                  <a:pt x="196" y="123"/>
                </a:lnTo>
                <a:lnTo>
                  <a:pt x="204" y="127"/>
                </a:lnTo>
                <a:lnTo>
                  <a:pt x="208" y="131"/>
                </a:lnTo>
                <a:lnTo>
                  <a:pt x="212" y="159"/>
                </a:lnTo>
                <a:lnTo>
                  <a:pt x="208" y="159"/>
                </a:lnTo>
                <a:lnTo>
                  <a:pt x="208" y="167"/>
                </a:lnTo>
                <a:lnTo>
                  <a:pt x="200" y="171"/>
                </a:lnTo>
                <a:lnTo>
                  <a:pt x="181" y="171"/>
                </a:lnTo>
                <a:lnTo>
                  <a:pt x="177" y="167"/>
                </a:lnTo>
                <a:lnTo>
                  <a:pt x="173" y="159"/>
                </a:lnTo>
                <a:lnTo>
                  <a:pt x="177" y="155"/>
                </a:lnTo>
                <a:lnTo>
                  <a:pt x="177" y="143"/>
                </a:lnTo>
                <a:lnTo>
                  <a:pt x="181" y="143"/>
                </a:lnTo>
                <a:lnTo>
                  <a:pt x="196" y="135"/>
                </a:lnTo>
                <a:lnTo>
                  <a:pt x="161" y="131"/>
                </a:lnTo>
                <a:lnTo>
                  <a:pt x="161" y="135"/>
                </a:lnTo>
                <a:lnTo>
                  <a:pt x="153" y="139"/>
                </a:lnTo>
                <a:lnTo>
                  <a:pt x="149" y="143"/>
                </a:lnTo>
                <a:lnTo>
                  <a:pt x="141" y="147"/>
                </a:lnTo>
                <a:lnTo>
                  <a:pt x="118" y="171"/>
                </a:lnTo>
                <a:lnTo>
                  <a:pt x="110" y="171"/>
                </a:lnTo>
                <a:lnTo>
                  <a:pt x="110" y="179"/>
                </a:lnTo>
                <a:lnTo>
                  <a:pt x="86" y="203"/>
                </a:lnTo>
                <a:lnTo>
                  <a:pt x="70" y="211"/>
                </a:lnTo>
                <a:lnTo>
                  <a:pt x="102" y="218"/>
                </a:lnTo>
                <a:lnTo>
                  <a:pt x="118" y="226"/>
                </a:lnTo>
                <a:lnTo>
                  <a:pt x="133" y="242"/>
                </a:lnTo>
                <a:lnTo>
                  <a:pt x="137" y="298"/>
                </a:lnTo>
                <a:lnTo>
                  <a:pt x="133" y="302"/>
                </a:lnTo>
                <a:lnTo>
                  <a:pt x="137" y="318"/>
                </a:lnTo>
                <a:lnTo>
                  <a:pt x="141" y="322"/>
                </a:lnTo>
                <a:lnTo>
                  <a:pt x="161" y="322"/>
                </a:lnTo>
                <a:lnTo>
                  <a:pt x="169" y="318"/>
                </a:lnTo>
                <a:lnTo>
                  <a:pt x="173" y="314"/>
                </a:lnTo>
                <a:lnTo>
                  <a:pt x="173" y="306"/>
                </a:lnTo>
                <a:lnTo>
                  <a:pt x="177" y="306"/>
                </a:lnTo>
                <a:lnTo>
                  <a:pt x="181" y="302"/>
                </a:lnTo>
                <a:lnTo>
                  <a:pt x="181" y="294"/>
                </a:lnTo>
                <a:lnTo>
                  <a:pt x="185" y="294"/>
                </a:lnTo>
                <a:lnTo>
                  <a:pt x="185" y="282"/>
                </a:lnTo>
                <a:lnTo>
                  <a:pt x="188" y="282"/>
                </a:lnTo>
                <a:lnTo>
                  <a:pt x="188" y="262"/>
                </a:lnTo>
                <a:lnTo>
                  <a:pt x="192" y="262"/>
                </a:lnTo>
                <a:lnTo>
                  <a:pt x="200" y="258"/>
                </a:lnTo>
                <a:lnTo>
                  <a:pt x="200" y="278"/>
                </a:lnTo>
                <a:lnTo>
                  <a:pt x="196" y="278"/>
                </a:lnTo>
                <a:lnTo>
                  <a:pt x="196" y="286"/>
                </a:lnTo>
                <a:lnTo>
                  <a:pt x="192" y="286"/>
                </a:lnTo>
                <a:lnTo>
                  <a:pt x="192" y="298"/>
                </a:lnTo>
                <a:lnTo>
                  <a:pt x="188" y="298"/>
                </a:lnTo>
                <a:lnTo>
                  <a:pt x="188" y="306"/>
                </a:lnTo>
                <a:lnTo>
                  <a:pt x="185" y="306"/>
                </a:lnTo>
                <a:lnTo>
                  <a:pt x="185" y="314"/>
                </a:lnTo>
                <a:lnTo>
                  <a:pt x="173" y="326"/>
                </a:lnTo>
                <a:lnTo>
                  <a:pt x="165" y="330"/>
                </a:lnTo>
                <a:lnTo>
                  <a:pt x="133" y="330"/>
                </a:lnTo>
                <a:lnTo>
                  <a:pt x="125" y="326"/>
                </a:lnTo>
                <a:lnTo>
                  <a:pt x="114" y="314"/>
                </a:lnTo>
                <a:lnTo>
                  <a:pt x="110" y="306"/>
                </a:lnTo>
                <a:lnTo>
                  <a:pt x="106" y="290"/>
                </a:lnTo>
                <a:lnTo>
                  <a:pt x="110" y="286"/>
                </a:lnTo>
                <a:lnTo>
                  <a:pt x="106" y="242"/>
                </a:lnTo>
                <a:lnTo>
                  <a:pt x="98" y="234"/>
                </a:lnTo>
                <a:lnTo>
                  <a:pt x="82" y="226"/>
                </a:lnTo>
                <a:lnTo>
                  <a:pt x="55" y="222"/>
                </a:lnTo>
                <a:lnTo>
                  <a:pt x="55" y="238"/>
                </a:lnTo>
                <a:lnTo>
                  <a:pt x="51" y="238"/>
                </a:lnTo>
                <a:lnTo>
                  <a:pt x="51" y="254"/>
                </a:lnTo>
                <a:lnTo>
                  <a:pt x="47" y="254"/>
                </a:lnTo>
                <a:lnTo>
                  <a:pt x="47" y="274"/>
                </a:lnTo>
                <a:lnTo>
                  <a:pt x="43" y="274"/>
                </a:lnTo>
                <a:lnTo>
                  <a:pt x="43" y="290"/>
                </a:lnTo>
                <a:lnTo>
                  <a:pt x="39" y="290"/>
                </a:lnTo>
                <a:lnTo>
                  <a:pt x="39" y="306"/>
                </a:lnTo>
                <a:lnTo>
                  <a:pt x="35" y="306"/>
                </a:lnTo>
                <a:lnTo>
                  <a:pt x="35" y="318"/>
                </a:lnTo>
                <a:lnTo>
                  <a:pt x="31" y="318"/>
                </a:lnTo>
                <a:lnTo>
                  <a:pt x="31" y="326"/>
                </a:lnTo>
                <a:lnTo>
                  <a:pt x="27" y="330"/>
                </a:lnTo>
                <a:lnTo>
                  <a:pt x="3" y="330"/>
                </a:lnTo>
                <a:close/>
              </a:path>
            </a:pathLst>
          </a:custGeom>
          <a:solidFill>
            <a:srgbClr val="000000">
              <a:alpha val="100000"/>
            </a:srgbClr>
          </a:solidFill>
          <a:ln cap="flat">
            <a:noFill/>
            <a:prstDash val="solid"/>
            <a:miter lim="0"/>
          </a:ln>
        </p:spPr>
        <p:txBody>
          <a:bodyPr rtlCol="0"/>
          <a:p>
            <a:pPr algn="ctr"/>
            <a:endParaRPr lang="zh-CN" altLang="en-US"/>
          </a:p>
        </p:txBody>
      </p:sp>
      <p:sp>
        <p:nvSpPr>
          <p:cNvPr id="1048896" name="path"/>
          <p:cNvSpPr/>
          <p:nvPr/>
        </p:nvSpPr>
        <p:spPr>
          <a:xfrm>
            <a:off x="3633479" y="2936662"/>
            <a:ext cx="210820" cy="217777"/>
          </a:xfrm>
          <a:custGeom>
            <a:avLst/>
            <a:gdLst/>
            <a:ahLst/>
            <a:cxnLst/>
            <a:rect l="0" t="0" r="0" b="0"/>
            <a:pathLst>
              <a:path w="332" h="342">
                <a:moveTo>
                  <a:pt x="96" y="342"/>
                </a:moveTo>
                <a:lnTo>
                  <a:pt x="84" y="338"/>
                </a:lnTo>
                <a:lnTo>
                  <a:pt x="72" y="334"/>
                </a:lnTo>
                <a:lnTo>
                  <a:pt x="64" y="330"/>
                </a:lnTo>
                <a:lnTo>
                  <a:pt x="60" y="327"/>
                </a:lnTo>
                <a:lnTo>
                  <a:pt x="52" y="323"/>
                </a:lnTo>
                <a:lnTo>
                  <a:pt x="24" y="295"/>
                </a:lnTo>
                <a:lnTo>
                  <a:pt x="7" y="263"/>
                </a:lnTo>
                <a:lnTo>
                  <a:pt x="4" y="247"/>
                </a:lnTo>
                <a:lnTo>
                  <a:pt x="0" y="215"/>
                </a:lnTo>
                <a:lnTo>
                  <a:pt x="4" y="211"/>
                </a:lnTo>
                <a:lnTo>
                  <a:pt x="4" y="179"/>
                </a:lnTo>
                <a:lnTo>
                  <a:pt x="7" y="179"/>
                </a:lnTo>
                <a:lnTo>
                  <a:pt x="7" y="163"/>
                </a:lnTo>
                <a:lnTo>
                  <a:pt x="12" y="163"/>
                </a:lnTo>
                <a:lnTo>
                  <a:pt x="12" y="151"/>
                </a:lnTo>
                <a:lnTo>
                  <a:pt x="15" y="151"/>
                </a:lnTo>
                <a:lnTo>
                  <a:pt x="15" y="139"/>
                </a:lnTo>
                <a:lnTo>
                  <a:pt x="20" y="139"/>
                </a:lnTo>
                <a:lnTo>
                  <a:pt x="20" y="131"/>
                </a:lnTo>
                <a:lnTo>
                  <a:pt x="24" y="131"/>
                </a:lnTo>
                <a:lnTo>
                  <a:pt x="24" y="123"/>
                </a:lnTo>
                <a:lnTo>
                  <a:pt x="28" y="123"/>
                </a:lnTo>
                <a:lnTo>
                  <a:pt x="28" y="115"/>
                </a:lnTo>
                <a:lnTo>
                  <a:pt x="32" y="115"/>
                </a:lnTo>
                <a:lnTo>
                  <a:pt x="32" y="107"/>
                </a:lnTo>
                <a:lnTo>
                  <a:pt x="36" y="107"/>
                </a:lnTo>
                <a:lnTo>
                  <a:pt x="40" y="103"/>
                </a:lnTo>
                <a:lnTo>
                  <a:pt x="40" y="95"/>
                </a:lnTo>
                <a:lnTo>
                  <a:pt x="44" y="95"/>
                </a:lnTo>
                <a:lnTo>
                  <a:pt x="52" y="87"/>
                </a:lnTo>
                <a:lnTo>
                  <a:pt x="52" y="79"/>
                </a:lnTo>
                <a:lnTo>
                  <a:pt x="56" y="79"/>
                </a:lnTo>
                <a:lnTo>
                  <a:pt x="84" y="51"/>
                </a:lnTo>
                <a:lnTo>
                  <a:pt x="92" y="47"/>
                </a:lnTo>
                <a:lnTo>
                  <a:pt x="104" y="35"/>
                </a:lnTo>
                <a:lnTo>
                  <a:pt x="128" y="23"/>
                </a:lnTo>
                <a:lnTo>
                  <a:pt x="132" y="19"/>
                </a:lnTo>
                <a:lnTo>
                  <a:pt x="156" y="11"/>
                </a:lnTo>
                <a:lnTo>
                  <a:pt x="164" y="7"/>
                </a:lnTo>
                <a:lnTo>
                  <a:pt x="180" y="3"/>
                </a:lnTo>
                <a:lnTo>
                  <a:pt x="240" y="0"/>
                </a:lnTo>
                <a:lnTo>
                  <a:pt x="240" y="3"/>
                </a:lnTo>
                <a:lnTo>
                  <a:pt x="252" y="7"/>
                </a:lnTo>
                <a:lnTo>
                  <a:pt x="260" y="11"/>
                </a:lnTo>
                <a:lnTo>
                  <a:pt x="263" y="15"/>
                </a:lnTo>
                <a:lnTo>
                  <a:pt x="271" y="19"/>
                </a:lnTo>
                <a:lnTo>
                  <a:pt x="275" y="23"/>
                </a:lnTo>
                <a:lnTo>
                  <a:pt x="280" y="31"/>
                </a:lnTo>
                <a:lnTo>
                  <a:pt x="287" y="39"/>
                </a:lnTo>
                <a:lnTo>
                  <a:pt x="291" y="39"/>
                </a:lnTo>
                <a:lnTo>
                  <a:pt x="323" y="7"/>
                </a:lnTo>
                <a:lnTo>
                  <a:pt x="323" y="0"/>
                </a:lnTo>
                <a:lnTo>
                  <a:pt x="331" y="0"/>
                </a:lnTo>
                <a:lnTo>
                  <a:pt x="331" y="19"/>
                </a:lnTo>
                <a:lnTo>
                  <a:pt x="327" y="19"/>
                </a:lnTo>
                <a:lnTo>
                  <a:pt x="327" y="35"/>
                </a:lnTo>
                <a:lnTo>
                  <a:pt x="323" y="35"/>
                </a:lnTo>
                <a:lnTo>
                  <a:pt x="323" y="51"/>
                </a:lnTo>
                <a:lnTo>
                  <a:pt x="319" y="51"/>
                </a:lnTo>
                <a:lnTo>
                  <a:pt x="319" y="71"/>
                </a:lnTo>
                <a:lnTo>
                  <a:pt x="315" y="71"/>
                </a:lnTo>
                <a:lnTo>
                  <a:pt x="315" y="87"/>
                </a:lnTo>
                <a:lnTo>
                  <a:pt x="311" y="87"/>
                </a:lnTo>
                <a:lnTo>
                  <a:pt x="311" y="103"/>
                </a:lnTo>
                <a:lnTo>
                  <a:pt x="307" y="103"/>
                </a:lnTo>
                <a:lnTo>
                  <a:pt x="307" y="119"/>
                </a:lnTo>
                <a:lnTo>
                  <a:pt x="303" y="119"/>
                </a:lnTo>
                <a:lnTo>
                  <a:pt x="303" y="131"/>
                </a:lnTo>
                <a:lnTo>
                  <a:pt x="287" y="131"/>
                </a:lnTo>
                <a:lnTo>
                  <a:pt x="291" y="127"/>
                </a:lnTo>
                <a:lnTo>
                  <a:pt x="287" y="71"/>
                </a:lnTo>
                <a:lnTo>
                  <a:pt x="283" y="59"/>
                </a:lnTo>
                <a:lnTo>
                  <a:pt x="271" y="35"/>
                </a:lnTo>
                <a:lnTo>
                  <a:pt x="267" y="31"/>
                </a:lnTo>
                <a:lnTo>
                  <a:pt x="260" y="27"/>
                </a:lnTo>
                <a:lnTo>
                  <a:pt x="252" y="19"/>
                </a:lnTo>
                <a:lnTo>
                  <a:pt x="240" y="15"/>
                </a:lnTo>
                <a:lnTo>
                  <a:pt x="188" y="11"/>
                </a:lnTo>
                <a:lnTo>
                  <a:pt x="188" y="15"/>
                </a:lnTo>
                <a:lnTo>
                  <a:pt x="164" y="23"/>
                </a:lnTo>
                <a:lnTo>
                  <a:pt x="148" y="31"/>
                </a:lnTo>
                <a:lnTo>
                  <a:pt x="144" y="35"/>
                </a:lnTo>
                <a:lnTo>
                  <a:pt x="136" y="39"/>
                </a:lnTo>
                <a:lnTo>
                  <a:pt x="132" y="43"/>
                </a:lnTo>
                <a:lnTo>
                  <a:pt x="124" y="47"/>
                </a:lnTo>
                <a:lnTo>
                  <a:pt x="104" y="67"/>
                </a:lnTo>
                <a:lnTo>
                  <a:pt x="100" y="67"/>
                </a:lnTo>
                <a:lnTo>
                  <a:pt x="100" y="75"/>
                </a:lnTo>
                <a:lnTo>
                  <a:pt x="92" y="83"/>
                </a:lnTo>
                <a:lnTo>
                  <a:pt x="88" y="83"/>
                </a:lnTo>
                <a:lnTo>
                  <a:pt x="88" y="91"/>
                </a:lnTo>
                <a:lnTo>
                  <a:pt x="84" y="95"/>
                </a:lnTo>
                <a:lnTo>
                  <a:pt x="80" y="95"/>
                </a:lnTo>
                <a:lnTo>
                  <a:pt x="80" y="103"/>
                </a:lnTo>
                <a:lnTo>
                  <a:pt x="76" y="107"/>
                </a:lnTo>
                <a:lnTo>
                  <a:pt x="72" y="107"/>
                </a:lnTo>
                <a:lnTo>
                  <a:pt x="72" y="115"/>
                </a:lnTo>
                <a:lnTo>
                  <a:pt x="68" y="115"/>
                </a:lnTo>
                <a:lnTo>
                  <a:pt x="68" y="127"/>
                </a:lnTo>
                <a:lnTo>
                  <a:pt x="64" y="127"/>
                </a:lnTo>
                <a:lnTo>
                  <a:pt x="64" y="135"/>
                </a:lnTo>
                <a:lnTo>
                  <a:pt x="60" y="135"/>
                </a:lnTo>
                <a:lnTo>
                  <a:pt x="60" y="147"/>
                </a:lnTo>
                <a:lnTo>
                  <a:pt x="56" y="147"/>
                </a:lnTo>
                <a:lnTo>
                  <a:pt x="56" y="159"/>
                </a:lnTo>
                <a:lnTo>
                  <a:pt x="52" y="159"/>
                </a:lnTo>
                <a:lnTo>
                  <a:pt x="52" y="171"/>
                </a:lnTo>
                <a:lnTo>
                  <a:pt x="48" y="171"/>
                </a:lnTo>
                <a:lnTo>
                  <a:pt x="48" y="187"/>
                </a:lnTo>
                <a:lnTo>
                  <a:pt x="44" y="187"/>
                </a:lnTo>
                <a:lnTo>
                  <a:pt x="44" y="227"/>
                </a:lnTo>
                <a:lnTo>
                  <a:pt x="40" y="231"/>
                </a:lnTo>
                <a:lnTo>
                  <a:pt x="44" y="259"/>
                </a:lnTo>
                <a:lnTo>
                  <a:pt x="48" y="275"/>
                </a:lnTo>
                <a:lnTo>
                  <a:pt x="52" y="279"/>
                </a:lnTo>
                <a:lnTo>
                  <a:pt x="56" y="287"/>
                </a:lnTo>
                <a:lnTo>
                  <a:pt x="60" y="291"/>
                </a:lnTo>
                <a:lnTo>
                  <a:pt x="64" y="299"/>
                </a:lnTo>
                <a:lnTo>
                  <a:pt x="76" y="311"/>
                </a:lnTo>
                <a:lnTo>
                  <a:pt x="84" y="315"/>
                </a:lnTo>
                <a:lnTo>
                  <a:pt x="88" y="319"/>
                </a:lnTo>
                <a:lnTo>
                  <a:pt x="96" y="323"/>
                </a:lnTo>
                <a:lnTo>
                  <a:pt x="112" y="327"/>
                </a:lnTo>
                <a:lnTo>
                  <a:pt x="156" y="327"/>
                </a:lnTo>
                <a:lnTo>
                  <a:pt x="176" y="323"/>
                </a:lnTo>
                <a:lnTo>
                  <a:pt x="200" y="311"/>
                </a:lnTo>
                <a:lnTo>
                  <a:pt x="204" y="307"/>
                </a:lnTo>
                <a:lnTo>
                  <a:pt x="212" y="303"/>
                </a:lnTo>
                <a:lnTo>
                  <a:pt x="252" y="263"/>
                </a:lnTo>
                <a:lnTo>
                  <a:pt x="252" y="255"/>
                </a:lnTo>
                <a:lnTo>
                  <a:pt x="256" y="255"/>
                </a:lnTo>
                <a:lnTo>
                  <a:pt x="256" y="247"/>
                </a:lnTo>
                <a:lnTo>
                  <a:pt x="260" y="247"/>
                </a:lnTo>
                <a:lnTo>
                  <a:pt x="260" y="239"/>
                </a:lnTo>
                <a:lnTo>
                  <a:pt x="264" y="239"/>
                </a:lnTo>
                <a:lnTo>
                  <a:pt x="264" y="227"/>
                </a:lnTo>
                <a:lnTo>
                  <a:pt x="267" y="227"/>
                </a:lnTo>
                <a:lnTo>
                  <a:pt x="267" y="215"/>
                </a:lnTo>
                <a:lnTo>
                  <a:pt x="280" y="215"/>
                </a:lnTo>
                <a:lnTo>
                  <a:pt x="280" y="231"/>
                </a:lnTo>
                <a:lnTo>
                  <a:pt x="275" y="231"/>
                </a:lnTo>
                <a:lnTo>
                  <a:pt x="275" y="239"/>
                </a:lnTo>
                <a:lnTo>
                  <a:pt x="272" y="239"/>
                </a:lnTo>
                <a:lnTo>
                  <a:pt x="272" y="251"/>
                </a:lnTo>
                <a:lnTo>
                  <a:pt x="267" y="255"/>
                </a:lnTo>
                <a:lnTo>
                  <a:pt x="264" y="255"/>
                </a:lnTo>
                <a:lnTo>
                  <a:pt x="264" y="263"/>
                </a:lnTo>
                <a:lnTo>
                  <a:pt x="260" y="267"/>
                </a:lnTo>
                <a:lnTo>
                  <a:pt x="256" y="267"/>
                </a:lnTo>
                <a:lnTo>
                  <a:pt x="256" y="275"/>
                </a:lnTo>
                <a:lnTo>
                  <a:pt x="220" y="311"/>
                </a:lnTo>
                <a:lnTo>
                  <a:pt x="212" y="315"/>
                </a:lnTo>
                <a:lnTo>
                  <a:pt x="208" y="319"/>
                </a:lnTo>
                <a:lnTo>
                  <a:pt x="192" y="327"/>
                </a:lnTo>
                <a:lnTo>
                  <a:pt x="188" y="330"/>
                </a:lnTo>
                <a:lnTo>
                  <a:pt x="180" y="334"/>
                </a:lnTo>
                <a:lnTo>
                  <a:pt x="156" y="342"/>
                </a:lnTo>
                <a:lnTo>
                  <a:pt x="96" y="342"/>
                </a:lnTo>
                <a:close/>
              </a:path>
            </a:pathLst>
          </a:custGeom>
          <a:solidFill>
            <a:srgbClr val="000000">
              <a:alpha val="100000"/>
            </a:srgbClr>
          </a:solidFill>
          <a:ln cap="flat">
            <a:noFill/>
            <a:prstDash val="solid"/>
            <a:miter lim="0"/>
          </a:ln>
        </p:spPr>
        <p:txBody>
          <a:bodyPr rtlCol="0"/>
          <a:p>
            <a:pPr algn="ctr"/>
            <a:endParaRPr lang="zh-CN" altLang="en-US"/>
          </a:p>
        </p:txBody>
      </p:sp>
      <p:sp>
        <p:nvSpPr>
          <p:cNvPr id="1048897" name="path"/>
          <p:cNvSpPr/>
          <p:nvPr/>
        </p:nvSpPr>
        <p:spPr>
          <a:xfrm>
            <a:off x="3583302" y="2330118"/>
            <a:ext cx="291861" cy="207976"/>
          </a:xfrm>
          <a:custGeom>
            <a:avLst/>
            <a:gdLst/>
            <a:ahLst/>
            <a:cxnLst/>
            <a:rect l="0" t="0" r="0" b="0"/>
            <a:pathLst>
              <a:path w="459" h="327">
                <a:moveTo>
                  <a:pt x="7" y="327"/>
                </a:moveTo>
                <a:lnTo>
                  <a:pt x="0" y="323"/>
                </a:lnTo>
                <a:lnTo>
                  <a:pt x="7" y="315"/>
                </a:lnTo>
                <a:lnTo>
                  <a:pt x="31" y="311"/>
                </a:lnTo>
                <a:lnTo>
                  <a:pt x="39" y="307"/>
                </a:lnTo>
                <a:lnTo>
                  <a:pt x="55" y="291"/>
                </a:lnTo>
                <a:lnTo>
                  <a:pt x="55" y="275"/>
                </a:lnTo>
                <a:lnTo>
                  <a:pt x="59" y="275"/>
                </a:lnTo>
                <a:lnTo>
                  <a:pt x="59" y="259"/>
                </a:lnTo>
                <a:lnTo>
                  <a:pt x="63" y="259"/>
                </a:lnTo>
                <a:lnTo>
                  <a:pt x="63" y="243"/>
                </a:lnTo>
                <a:lnTo>
                  <a:pt x="67" y="243"/>
                </a:lnTo>
                <a:lnTo>
                  <a:pt x="67" y="227"/>
                </a:lnTo>
                <a:lnTo>
                  <a:pt x="71" y="227"/>
                </a:lnTo>
                <a:lnTo>
                  <a:pt x="71" y="211"/>
                </a:lnTo>
                <a:lnTo>
                  <a:pt x="75" y="211"/>
                </a:lnTo>
                <a:lnTo>
                  <a:pt x="75" y="195"/>
                </a:lnTo>
                <a:lnTo>
                  <a:pt x="79" y="195"/>
                </a:lnTo>
                <a:lnTo>
                  <a:pt x="79" y="179"/>
                </a:lnTo>
                <a:lnTo>
                  <a:pt x="83" y="179"/>
                </a:lnTo>
                <a:lnTo>
                  <a:pt x="83" y="163"/>
                </a:lnTo>
                <a:lnTo>
                  <a:pt x="87" y="163"/>
                </a:lnTo>
                <a:lnTo>
                  <a:pt x="87" y="147"/>
                </a:lnTo>
                <a:lnTo>
                  <a:pt x="91" y="147"/>
                </a:lnTo>
                <a:lnTo>
                  <a:pt x="91" y="131"/>
                </a:lnTo>
                <a:lnTo>
                  <a:pt x="95" y="131"/>
                </a:lnTo>
                <a:lnTo>
                  <a:pt x="95" y="115"/>
                </a:lnTo>
                <a:lnTo>
                  <a:pt x="99" y="115"/>
                </a:lnTo>
                <a:lnTo>
                  <a:pt x="99" y="99"/>
                </a:lnTo>
                <a:lnTo>
                  <a:pt x="103" y="99"/>
                </a:lnTo>
                <a:lnTo>
                  <a:pt x="103" y="83"/>
                </a:lnTo>
                <a:lnTo>
                  <a:pt x="106" y="83"/>
                </a:lnTo>
                <a:lnTo>
                  <a:pt x="106" y="67"/>
                </a:lnTo>
                <a:lnTo>
                  <a:pt x="110" y="67"/>
                </a:lnTo>
                <a:lnTo>
                  <a:pt x="110" y="51"/>
                </a:lnTo>
                <a:lnTo>
                  <a:pt x="114" y="51"/>
                </a:lnTo>
                <a:lnTo>
                  <a:pt x="114" y="31"/>
                </a:lnTo>
                <a:lnTo>
                  <a:pt x="118" y="31"/>
                </a:lnTo>
                <a:lnTo>
                  <a:pt x="118" y="15"/>
                </a:lnTo>
                <a:lnTo>
                  <a:pt x="91" y="15"/>
                </a:lnTo>
                <a:lnTo>
                  <a:pt x="79" y="11"/>
                </a:lnTo>
                <a:lnTo>
                  <a:pt x="83" y="7"/>
                </a:lnTo>
                <a:lnTo>
                  <a:pt x="83" y="0"/>
                </a:lnTo>
                <a:lnTo>
                  <a:pt x="166" y="0"/>
                </a:lnTo>
                <a:lnTo>
                  <a:pt x="166" y="11"/>
                </a:lnTo>
                <a:lnTo>
                  <a:pt x="170" y="39"/>
                </a:lnTo>
                <a:lnTo>
                  <a:pt x="174" y="71"/>
                </a:lnTo>
                <a:lnTo>
                  <a:pt x="178" y="99"/>
                </a:lnTo>
                <a:lnTo>
                  <a:pt x="182" y="131"/>
                </a:lnTo>
                <a:lnTo>
                  <a:pt x="186" y="159"/>
                </a:lnTo>
                <a:lnTo>
                  <a:pt x="190" y="191"/>
                </a:lnTo>
                <a:lnTo>
                  <a:pt x="194" y="219"/>
                </a:lnTo>
                <a:lnTo>
                  <a:pt x="198" y="251"/>
                </a:lnTo>
                <a:lnTo>
                  <a:pt x="202" y="279"/>
                </a:lnTo>
                <a:lnTo>
                  <a:pt x="206" y="279"/>
                </a:lnTo>
                <a:lnTo>
                  <a:pt x="209" y="275"/>
                </a:lnTo>
                <a:lnTo>
                  <a:pt x="209" y="267"/>
                </a:lnTo>
                <a:lnTo>
                  <a:pt x="213" y="267"/>
                </a:lnTo>
                <a:lnTo>
                  <a:pt x="217" y="263"/>
                </a:lnTo>
                <a:lnTo>
                  <a:pt x="217" y="255"/>
                </a:lnTo>
                <a:lnTo>
                  <a:pt x="221" y="255"/>
                </a:lnTo>
                <a:lnTo>
                  <a:pt x="221" y="247"/>
                </a:lnTo>
                <a:lnTo>
                  <a:pt x="225" y="247"/>
                </a:lnTo>
                <a:lnTo>
                  <a:pt x="229" y="243"/>
                </a:lnTo>
                <a:lnTo>
                  <a:pt x="229" y="235"/>
                </a:lnTo>
                <a:lnTo>
                  <a:pt x="233" y="235"/>
                </a:lnTo>
                <a:lnTo>
                  <a:pt x="237" y="231"/>
                </a:lnTo>
                <a:lnTo>
                  <a:pt x="237" y="223"/>
                </a:lnTo>
                <a:lnTo>
                  <a:pt x="241" y="223"/>
                </a:lnTo>
                <a:lnTo>
                  <a:pt x="241" y="215"/>
                </a:lnTo>
                <a:lnTo>
                  <a:pt x="245" y="215"/>
                </a:lnTo>
                <a:lnTo>
                  <a:pt x="249" y="211"/>
                </a:lnTo>
                <a:lnTo>
                  <a:pt x="249" y="203"/>
                </a:lnTo>
                <a:lnTo>
                  <a:pt x="253" y="203"/>
                </a:lnTo>
                <a:lnTo>
                  <a:pt x="257" y="199"/>
                </a:lnTo>
                <a:lnTo>
                  <a:pt x="257" y="191"/>
                </a:lnTo>
                <a:lnTo>
                  <a:pt x="261" y="191"/>
                </a:lnTo>
                <a:lnTo>
                  <a:pt x="261" y="183"/>
                </a:lnTo>
                <a:lnTo>
                  <a:pt x="265" y="183"/>
                </a:lnTo>
                <a:lnTo>
                  <a:pt x="269" y="179"/>
                </a:lnTo>
                <a:lnTo>
                  <a:pt x="269" y="171"/>
                </a:lnTo>
                <a:lnTo>
                  <a:pt x="273" y="171"/>
                </a:lnTo>
                <a:lnTo>
                  <a:pt x="277" y="167"/>
                </a:lnTo>
                <a:lnTo>
                  <a:pt x="277" y="159"/>
                </a:lnTo>
                <a:lnTo>
                  <a:pt x="281" y="159"/>
                </a:lnTo>
                <a:lnTo>
                  <a:pt x="281" y="151"/>
                </a:lnTo>
                <a:lnTo>
                  <a:pt x="285" y="151"/>
                </a:lnTo>
                <a:lnTo>
                  <a:pt x="289" y="147"/>
                </a:lnTo>
                <a:lnTo>
                  <a:pt x="289" y="139"/>
                </a:lnTo>
                <a:lnTo>
                  <a:pt x="293" y="139"/>
                </a:lnTo>
                <a:lnTo>
                  <a:pt x="297" y="135"/>
                </a:lnTo>
                <a:lnTo>
                  <a:pt x="297" y="127"/>
                </a:lnTo>
                <a:lnTo>
                  <a:pt x="301" y="127"/>
                </a:lnTo>
                <a:lnTo>
                  <a:pt x="301" y="119"/>
                </a:lnTo>
                <a:lnTo>
                  <a:pt x="305" y="119"/>
                </a:lnTo>
                <a:lnTo>
                  <a:pt x="309" y="115"/>
                </a:lnTo>
                <a:lnTo>
                  <a:pt x="309" y="107"/>
                </a:lnTo>
                <a:lnTo>
                  <a:pt x="313" y="107"/>
                </a:lnTo>
                <a:lnTo>
                  <a:pt x="316" y="103"/>
                </a:lnTo>
                <a:lnTo>
                  <a:pt x="316" y="95"/>
                </a:lnTo>
                <a:lnTo>
                  <a:pt x="320" y="95"/>
                </a:lnTo>
                <a:lnTo>
                  <a:pt x="320" y="87"/>
                </a:lnTo>
                <a:lnTo>
                  <a:pt x="324" y="87"/>
                </a:lnTo>
                <a:lnTo>
                  <a:pt x="328" y="83"/>
                </a:lnTo>
                <a:lnTo>
                  <a:pt x="328" y="75"/>
                </a:lnTo>
                <a:lnTo>
                  <a:pt x="332" y="75"/>
                </a:lnTo>
                <a:lnTo>
                  <a:pt x="336" y="71"/>
                </a:lnTo>
                <a:lnTo>
                  <a:pt x="336" y="63"/>
                </a:lnTo>
                <a:lnTo>
                  <a:pt x="340" y="63"/>
                </a:lnTo>
                <a:lnTo>
                  <a:pt x="340" y="55"/>
                </a:lnTo>
                <a:lnTo>
                  <a:pt x="344" y="55"/>
                </a:lnTo>
                <a:lnTo>
                  <a:pt x="348" y="51"/>
                </a:lnTo>
                <a:lnTo>
                  <a:pt x="348" y="43"/>
                </a:lnTo>
                <a:lnTo>
                  <a:pt x="352" y="43"/>
                </a:lnTo>
                <a:lnTo>
                  <a:pt x="356" y="39"/>
                </a:lnTo>
                <a:lnTo>
                  <a:pt x="356" y="31"/>
                </a:lnTo>
                <a:lnTo>
                  <a:pt x="360" y="31"/>
                </a:lnTo>
                <a:lnTo>
                  <a:pt x="360" y="23"/>
                </a:lnTo>
                <a:lnTo>
                  <a:pt x="364" y="23"/>
                </a:lnTo>
                <a:lnTo>
                  <a:pt x="368" y="19"/>
                </a:lnTo>
                <a:lnTo>
                  <a:pt x="368" y="11"/>
                </a:lnTo>
                <a:lnTo>
                  <a:pt x="372" y="11"/>
                </a:lnTo>
                <a:lnTo>
                  <a:pt x="372" y="3"/>
                </a:lnTo>
                <a:lnTo>
                  <a:pt x="376" y="3"/>
                </a:lnTo>
                <a:lnTo>
                  <a:pt x="459" y="0"/>
                </a:lnTo>
                <a:lnTo>
                  <a:pt x="459" y="11"/>
                </a:lnTo>
                <a:lnTo>
                  <a:pt x="447" y="15"/>
                </a:lnTo>
                <a:lnTo>
                  <a:pt x="416" y="15"/>
                </a:lnTo>
                <a:lnTo>
                  <a:pt x="416" y="23"/>
                </a:lnTo>
                <a:lnTo>
                  <a:pt x="412" y="23"/>
                </a:lnTo>
                <a:lnTo>
                  <a:pt x="412" y="31"/>
                </a:lnTo>
                <a:lnTo>
                  <a:pt x="408" y="31"/>
                </a:lnTo>
                <a:lnTo>
                  <a:pt x="408" y="47"/>
                </a:lnTo>
                <a:lnTo>
                  <a:pt x="404" y="47"/>
                </a:lnTo>
                <a:lnTo>
                  <a:pt x="404" y="63"/>
                </a:lnTo>
                <a:lnTo>
                  <a:pt x="400" y="63"/>
                </a:lnTo>
                <a:lnTo>
                  <a:pt x="400" y="79"/>
                </a:lnTo>
                <a:lnTo>
                  <a:pt x="396" y="79"/>
                </a:lnTo>
                <a:lnTo>
                  <a:pt x="396" y="95"/>
                </a:lnTo>
                <a:lnTo>
                  <a:pt x="392" y="95"/>
                </a:lnTo>
                <a:lnTo>
                  <a:pt x="392" y="111"/>
                </a:lnTo>
                <a:lnTo>
                  <a:pt x="388" y="111"/>
                </a:lnTo>
                <a:lnTo>
                  <a:pt x="388" y="123"/>
                </a:lnTo>
                <a:lnTo>
                  <a:pt x="384" y="123"/>
                </a:lnTo>
                <a:lnTo>
                  <a:pt x="384" y="139"/>
                </a:lnTo>
                <a:lnTo>
                  <a:pt x="380" y="139"/>
                </a:lnTo>
                <a:lnTo>
                  <a:pt x="380" y="155"/>
                </a:lnTo>
                <a:lnTo>
                  <a:pt x="376" y="155"/>
                </a:lnTo>
                <a:lnTo>
                  <a:pt x="376" y="171"/>
                </a:lnTo>
                <a:lnTo>
                  <a:pt x="372" y="171"/>
                </a:lnTo>
                <a:lnTo>
                  <a:pt x="372" y="187"/>
                </a:lnTo>
                <a:lnTo>
                  <a:pt x="368" y="187"/>
                </a:lnTo>
                <a:lnTo>
                  <a:pt x="368" y="203"/>
                </a:lnTo>
                <a:lnTo>
                  <a:pt x="364" y="203"/>
                </a:lnTo>
                <a:lnTo>
                  <a:pt x="364" y="215"/>
                </a:lnTo>
                <a:lnTo>
                  <a:pt x="360" y="215"/>
                </a:lnTo>
                <a:lnTo>
                  <a:pt x="360" y="231"/>
                </a:lnTo>
                <a:lnTo>
                  <a:pt x="356" y="231"/>
                </a:lnTo>
                <a:lnTo>
                  <a:pt x="356" y="247"/>
                </a:lnTo>
                <a:lnTo>
                  <a:pt x="352" y="247"/>
                </a:lnTo>
                <a:lnTo>
                  <a:pt x="352" y="263"/>
                </a:lnTo>
                <a:lnTo>
                  <a:pt x="348" y="263"/>
                </a:lnTo>
                <a:lnTo>
                  <a:pt x="348" y="279"/>
                </a:lnTo>
                <a:lnTo>
                  <a:pt x="344" y="279"/>
                </a:lnTo>
                <a:lnTo>
                  <a:pt x="344" y="291"/>
                </a:lnTo>
                <a:lnTo>
                  <a:pt x="340" y="291"/>
                </a:lnTo>
                <a:lnTo>
                  <a:pt x="340" y="303"/>
                </a:lnTo>
                <a:lnTo>
                  <a:pt x="344" y="311"/>
                </a:lnTo>
                <a:lnTo>
                  <a:pt x="372" y="315"/>
                </a:lnTo>
                <a:lnTo>
                  <a:pt x="380" y="315"/>
                </a:lnTo>
                <a:lnTo>
                  <a:pt x="380" y="323"/>
                </a:lnTo>
                <a:lnTo>
                  <a:pt x="372" y="327"/>
                </a:lnTo>
                <a:lnTo>
                  <a:pt x="265" y="327"/>
                </a:lnTo>
                <a:lnTo>
                  <a:pt x="257" y="323"/>
                </a:lnTo>
                <a:lnTo>
                  <a:pt x="261" y="319"/>
                </a:lnTo>
                <a:lnTo>
                  <a:pt x="273" y="315"/>
                </a:lnTo>
                <a:lnTo>
                  <a:pt x="301" y="311"/>
                </a:lnTo>
                <a:lnTo>
                  <a:pt x="309" y="303"/>
                </a:lnTo>
                <a:lnTo>
                  <a:pt x="309" y="287"/>
                </a:lnTo>
                <a:lnTo>
                  <a:pt x="313" y="287"/>
                </a:lnTo>
                <a:lnTo>
                  <a:pt x="313" y="275"/>
                </a:lnTo>
                <a:lnTo>
                  <a:pt x="316" y="275"/>
                </a:lnTo>
                <a:lnTo>
                  <a:pt x="316" y="259"/>
                </a:lnTo>
                <a:lnTo>
                  <a:pt x="320" y="259"/>
                </a:lnTo>
                <a:lnTo>
                  <a:pt x="320" y="243"/>
                </a:lnTo>
                <a:lnTo>
                  <a:pt x="324" y="243"/>
                </a:lnTo>
                <a:lnTo>
                  <a:pt x="324" y="227"/>
                </a:lnTo>
                <a:lnTo>
                  <a:pt x="328" y="227"/>
                </a:lnTo>
                <a:lnTo>
                  <a:pt x="328" y="211"/>
                </a:lnTo>
                <a:lnTo>
                  <a:pt x="332" y="211"/>
                </a:lnTo>
                <a:lnTo>
                  <a:pt x="332" y="195"/>
                </a:lnTo>
                <a:lnTo>
                  <a:pt x="336" y="195"/>
                </a:lnTo>
                <a:lnTo>
                  <a:pt x="336" y="183"/>
                </a:lnTo>
                <a:lnTo>
                  <a:pt x="340" y="183"/>
                </a:lnTo>
                <a:lnTo>
                  <a:pt x="340" y="167"/>
                </a:lnTo>
                <a:lnTo>
                  <a:pt x="344" y="167"/>
                </a:lnTo>
                <a:lnTo>
                  <a:pt x="344" y="151"/>
                </a:lnTo>
                <a:lnTo>
                  <a:pt x="348" y="151"/>
                </a:lnTo>
                <a:lnTo>
                  <a:pt x="348" y="135"/>
                </a:lnTo>
                <a:lnTo>
                  <a:pt x="352" y="135"/>
                </a:lnTo>
                <a:lnTo>
                  <a:pt x="352" y="119"/>
                </a:lnTo>
                <a:lnTo>
                  <a:pt x="356" y="119"/>
                </a:lnTo>
                <a:lnTo>
                  <a:pt x="356" y="103"/>
                </a:lnTo>
                <a:lnTo>
                  <a:pt x="360" y="103"/>
                </a:lnTo>
                <a:lnTo>
                  <a:pt x="360" y="91"/>
                </a:lnTo>
                <a:lnTo>
                  <a:pt x="364" y="91"/>
                </a:lnTo>
                <a:lnTo>
                  <a:pt x="364" y="75"/>
                </a:lnTo>
                <a:lnTo>
                  <a:pt x="368" y="75"/>
                </a:lnTo>
                <a:lnTo>
                  <a:pt x="368" y="59"/>
                </a:lnTo>
                <a:lnTo>
                  <a:pt x="372" y="59"/>
                </a:lnTo>
                <a:lnTo>
                  <a:pt x="372" y="43"/>
                </a:lnTo>
                <a:lnTo>
                  <a:pt x="376" y="43"/>
                </a:lnTo>
                <a:lnTo>
                  <a:pt x="376" y="27"/>
                </a:lnTo>
                <a:lnTo>
                  <a:pt x="380" y="27"/>
                </a:lnTo>
                <a:lnTo>
                  <a:pt x="376" y="19"/>
                </a:lnTo>
                <a:lnTo>
                  <a:pt x="376" y="27"/>
                </a:lnTo>
                <a:lnTo>
                  <a:pt x="372" y="31"/>
                </a:lnTo>
                <a:lnTo>
                  <a:pt x="368" y="31"/>
                </a:lnTo>
                <a:lnTo>
                  <a:pt x="368" y="39"/>
                </a:lnTo>
                <a:lnTo>
                  <a:pt x="364" y="43"/>
                </a:lnTo>
                <a:lnTo>
                  <a:pt x="360" y="43"/>
                </a:lnTo>
                <a:lnTo>
                  <a:pt x="360" y="51"/>
                </a:lnTo>
                <a:lnTo>
                  <a:pt x="356" y="51"/>
                </a:lnTo>
                <a:lnTo>
                  <a:pt x="356" y="59"/>
                </a:lnTo>
                <a:lnTo>
                  <a:pt x="352" y="63"/>
                </a:lnTo>
                <a:lnTo>
                  <a:pt x="348" y="63"/>
                </a:lnTo>
                <a:lnTo>
                  <a:pt x="348" y="71"/>
                </a:lnTo>
                <a:lnTo>
                  <a:pt x="344" y="75"/>
                </a:lnTo>
                <a:lnTo>
                  <a:pt x="340" y="75"/>
                </a:lnTo>
                <a:lnTo>
                  <a:pt x="340" y="83"/>
                </a:lnTo>
                <a:lnTo>
                  <a:pt x="336" y="87"/>
                </a:lnTo>
                <a:lnTo>
                  <a:pt x="332" y="87"/>
                </a:lnTo>
                <a:lnTo>
                  <a:pt x="332" y="95"/>
                </a:lnTo>
                <a:lnTo>
                  <a:pt x="328" y="95"/>
                </a:lnTo>
                <a:lnTo>
                  <a:pt x="328" y="103"/>
                </a:lnTo>
                <a:lnTo>
                  <a:pt x="324" y="107"/>
                </a:lnTo>
                <a:lnTo>
                  <a:pt x="320" y="107"/>
                </a:lnTo>
                <a:lnTo>
                  <a:pt x="320" y="115"/>
                </a:lnTo>
                <a:lnTo>
                  <a:pt x="316" y="119"/>
                </a:lnTo>
                <a:lnTo>
                  <a:pt x="313" y="119"/>
                </a:lnTo>
                <a:lnTo>
                  <a:pt x="313" y="127"/>
                </a:lnTo>
                <a:lnTo>
                  <a:pt x="309" y="127"/>
                </a:lnTo>
                <a:lnTo>
                  <a:pt x="309" y="135"/>
                </a:lnTo>
                <a:lnTo>
                  <a:pt x="305" y="139"/>
                </a:lnTo>
                <a:lnTo>
                  <a:pt x="301" y="139"/>
                </a:lnTo>
                <a:lnTo>
                  <a:pt x="301" y="147"/>
                </a:lnTo>
                <a:lnTo>
                  <a:pt x="297" y="151"/>
                </a:lnTo>
                <a:lnTo>
                  <a:pt x="293" y="151"/>
                </a:lnTo>
                <a:lnTo>
                  <a:pt x="293" y="159"/>
                </a:lnTo>
                <a:lnTo>
                  <a:pt x="289" y="163"/>
                </a:lnTo>
                <a:lnTo>
                  <a:pt x="285" y="163"/>
                </a:lnTo>
                <a:lnTo>
                  <a:pt x="285" y="171"/>
                </a:lnTo>
                <a:lnTo>
                  <a:pt x="281" y="171"/>
                </a:lnTo>
                <a:lnTo>
                  <a:pt x="281" y="179"/>
                </a:lnTo>
                <a:lnTo>
                  <a:pt x="277" y="183"/>
                </a:lnTo>
                <a:lnTo>
                  <a:pt x="273" y="183"/>
                </a:lnTo>
                <a:lnTo>
                  <a:pt x="273" y="191"/>
                </a:lnTo>
                <a:lnTo>
                  <a:pt x="269" y="195"/>
                </a:lnTo>
                <a:lnTo>
                  <a:pt x="265" y="195"/>
                </a:lnTo>
                <a:lnTo>
                  <a:pt x="265" y="203"/>
                </a:lnTo>
                <a:lnTo>
                  <a:pt x="261" y="203"/>
                </a:lnTo>
                <a:lnTo>
                  <a:pt x="261" y="211"/>
                </a:lnTo>
                <a:lnTo>
                  <a:pt x="257" y="215"/>
                </a:lnTo>
                <a:lnTo>
                  <a:pt x="253" y="215"/>
                </a:lnTo>
                <a:lnTo>
                  <a:pt x="253" y="223"/>
                </a:lnTo>
                <a:lnTo>
                  <a:pt x="249" y="227"/>
                </a:lnTo>
                <a:lnTo>
                  <a:pt x="245" y="227"/>
                </a:lnTo>
                <a:lnTo>
                  <a:pt x="245" y="235"/>
                </a:lnTo>
                <a:lnTo>
                  <a:pt x="241" y="239"/>
                </a:lnTo>
                <a:lnTo>
                  <a:pt x="237" y="239"/>
                </a:lnTo>
                <a:lnTo>
                  <a:pt x="237" y="247"/>
                </a:lnTo>
                <a:lnTo>
                  <a:pt x="233" y="247"/>
                </a:lnTo>
                <a:lnTo>
                  <a:pt x="233" y="255"/>
                </a:lnTo>
                <a:lnTo>
                  <a:pt x="229" y="259"/>
                </a:lnTo>
                <a:lnTo>
                  <a:pt x="225" y="259"/>
                </a:lnTo>
                <a:lnTo>
                  <a:pt x="225" y="267"/>
                </a:lnTo>
                <a:lnTo>
                  <a:pt x="221" y="271"/>
                </a:lnTo>
                <a:lnTo>
                  <a:pt x="217" y="271"/>
                </a:lnTo>
                <a:lnTo>
                  <a:pt x="217" y="279"/>
                </a:lnTo>
                <a:lnTo>
                  <a:pt x="213" y="279"/>
                </a:lnTo>
                <a:lnTo>
                  <a:pt x="213" y="287"/>
                </a:lnTo>
                <a:lnTo>
                  <a:pt x="209" y="291"/>
                </a:lnTo>
                <a:lnTo>
                  <a:pt x="206" y="291"/>
                </a:lnTo>
                <a:lnTo>
                  <a:pt x="206" y="299"/>
                </a:lnTo>
                <a:lnTo>
                  <a:pt x="202" y="303"/>
                </a:lnTo>
                <a:lnTo>
                  <a:pt x="198" y="303"/>
                </a:lnTo>
                <a:lnTo>
                  <a:pt x="198" y="311"/>
                </a:lnTo>
                <a:lnTo>
                  <a:pt x="186" y="323"/>
                </a:lnTo>
                <a:lnTo>
                  <a:pt x="174" y="323"/>
                </a:lnTo>
                <a:lnTo>
                  <a:pt x="170" y="315"/>
                </a:lnTo>
                <a:lnTo>
                  <a:pt x="166" y="279"/>
                </a:lnTo>
                <a:lnTo>
                  <a:pt x="154" y="183"/>
                </a:lnTo>
                <a:lnTo>
                  <a:pt x="150" y="147"/>
                </a:lnTo>
                <a:lnTo>
                  <a:pt x="138" y="51"/>
                </a:lnTo>
                <a:lnTo>
                  <a:pt x="138" y="19"/>
                </a:lnTo>
                <a:lnTo>
                  <a:pt x="130" y="19"/>
                </a:lnTo>
                <a:lnTo>
                  <a:pt x="130" y="35"/>
                </a:lnTo>
                <a:lnTo>
                  <a:pt x="126" y="35"/>
                </a:lnTo>
                <a:lnTo>
                  <a:pt x="126" y="51"/>
                </a:lnTo>
                <a:lnTo>
                  <a:pt x="122" y="51"/>
                </a:lnTo>
                <a:lnTo>
                  <a:pt x="122" y="67"/>
                </a:lnTo>
                <a:lnTo>
                  <a:pt x="118" y="67"/>
                </a:lnTo>
                <a:lnTo>
                  <a:pt x="118" y="83"/>
                </a:lnTo>
                <a:lnTo>
                  <a:pt x="114" y="83"/>
                </a:lnTo>
                <a:lnTo>
                  <a:pt x="114" y="99"/>
                </a:lnTo>
                <a:lnTo>
                  <a:pt x="110" y="99"/>
                </a:lnTo>
                <a:lnTo>
                  <a:pt x="110" y="115"/>
                </a:lnTo>
                <a:lnTo>
                  <a:pt x="106" y="115"/>
                </a:lnTo>
                <a:lnTo>
                  <a:pt x="106" y="131"/>
                </a:lnTo>
                <a:lnTo>
                  <a:pt x="103" y="131"/>
                </a:lnTo>
                <a:lnTo>
                  <a:pt x="103" y="147"/>
                </a:lnTo>
                <a:lnTo>
                  <a:pt x="99" y="147"/>
                </a:lnTo>
                <a:lnTo>
                  <a:pt x="99" y="163"/>
                </a:lnTo>
                <a:lnTo>
                  <a:pt x="95" y="163"/>
                </a:lnTo>
                <a:lnTo>
                  <a:pt x="95" y="179"/>
                </a:lnTo>
                <a:lnTo>
                  <a:pt x="91" y="179"/>
                </a:lnTo>
                <a:lnTo>
                  <a:pt x="91" y="195"/>
                </a:lnTo>
                <a:lnTo>
                  <a:pt x="87" y="195"/>
                </a:lnTo>
                <a:lnTo>
                  <a:pt x="87" y="211"/>
                </a:lnTo>
                <a:lnTo>
                  <a:pt x="83" y="211"/>
                </a:lnTo>
                <a:lnTo>
                  <a:pt x="83" y="227"/>
                </a:lnTo>
                <a:lnTo>
                  <a:pt x="79" y="227"/>
                </a:lnTo>
                <a:lnTo>
                  <a:pt x="79" y="243"/>
                </a:lnTo>
                <a:lnTo>
                  <a:pt x="75" y="243"/>
                </a:lnTo>
                <a:lnTo>
                  <a:pt x="75" y="259"/>
                </a:lnTo>
                <a:lnTo>
                  <a:pt x="71" y="259"/>
                </a:lnTo>
                <a:lnTo>
                  <a:pt x="71" y="275"/>
                </a:lnTo>
                <a:lnTo>
                  <a:pt x="67" y="275"/>
                </a:lnTo>
                <a:lnTo>
                  <a:pt x="67" y="287"/>
                </a:lnTo>
                <a:lnTo>
                  <a:pt x="63" y="291"/>
                </a:lnTo>
                <a:lnTo>
                  <a:pt x="67" y="303"/>
                </a:lnTo>
                <a:lnTo>
                  <a:pt x="71" y="307"/>
                </a:lnTo>
                <a:lnTo>
                  <a:pt x="95" y="315"/>
                </a:lnTo>
                <a:lnTo>
                  <a:pt x="103" y="315"/>
                </a:lnTo>
                <a:lnTo>
                  <a:pt x="103" y="323"/>
                </a:lnTo>
                <a:lnTo>
                  <a:pt x="95" y="327"/>
                </a:lnTo>
                <a:lnTo>
                  <a:pt x="7" y="327"/>
                </a:lnTo>
                <a:close/>
              </a:path>
            </a:pathLst>
          </a:custGeom>
          <a:solidFill>
            <a:srgbClr val="000000">
              <a:alpha val="100000"/>
            </a:srgbClr>
          </a:solidFill>
          <a:ln cap="flat">
            <a:noFill/>
            <a:prstDash val="solid"/>
            <a:miter lim="0"/>
          </a:ln>
        </p:spPr>
        <p:txBody>
          <a:bodyPr rtlCol="0"/>
          <a:p>
            <a:pPr algn="ctr"/>
            <a:endParaRPr lang="zh-CN" altLang="en-US"/>
          </a:p>
        </p:txBody>
      </p:sp>
      <p:sp>
        <p:nvSpPr>
          <p:cNvPr id="1048898" name="textbox 178"/>
          <p:cNvSpPr/>
          <p:nvPr/>
        </p:nvSpPr>
        <p:spPr>
          <a:xfrm>
            <a:off x="1591801" y="488157"/>
            <a:ext cx="1608455" cy="483869"/>
          </a:xfrm>
          <a:prstGeom prst="rect">
            <a:avLst/>
          </a:prstGeom>
        </p:spPr>
        <p:txBody>
          <a:bodyPr vert="horz" wrap="square" lIns="0" tIns="0" rIns="0" bIns="0"/>
          <a:p>
            <a:pPr algn="l" rtl="0" eaLnBrk="0">
              <a:lnSpc>
                <a:spcPct val="83000"/>
              </a:lnSpc>
            </a:pPr>
            <a:endParaRPr lang="en-US" altLang="en-US" sz="100" dirty="0"/>
          </a:p>
          <a:p>
            <a:pPr marL="12700" algn="l" rtl="0" eaLnBrk="0">
              <a:lnSpc>
                <a:spcPct val="94000"/>
              </a:lnSpc>
            </a:pPr>
            <a:r>
              <a:rPr sz="3200" kern="0" spc="-9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密码算法</a:t>
            </a:r>
            <a:endParaRPr lang="en-US" altLang="en-US" sz="3200" dirty="0"/>
          </a:p>
        </p:txBody>
      </p:sp>
      <p:sp>
        <p:nvSpPr>
          <p:cNvPr id="1048899"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189" name="picture 182"/>
          <p:cNvPicPr>
            <a:picLocks noChangeAspect="1"/>
          </p:cNvPicPr>
          <p:nvPr/>
        </p:nvPicPr>
        <p:blipFill>
          <a:blip r:embed="rId1"/>
          <a:stretch>
            <a:fillRect/>
          </a:stretch>
        </p:blipFill>
        <p:spPr>
          <a:xfrm rot="21600000">
            <a:off x="824483" y="408431"/>
            <a:ext cx="419100" cy="655320"/>
          </a:xfrm>
          <a:prstGeom prst="rect">
            <a:avLst/>
          </a:prstGeom>
        </p:spPr>
      </p:pic>
      <p:sp>
        <p:nvSpPr>
          <p:cNvPr id="1048900"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28" name=""/>
        <p:cNvGrpSpPr/>
        <p:nvPr/>
      </p:nvGrpSpPr>
      <p:grpSpPr>
        <a:xfrm>
          <a:off x="0" y="0"/>
          <a:ext cx="0" cy="0"/>
          <a:chOff x="0" y="0"/>
          <a:chExt cx="0" cy="0"/>
        </a:xfrm>
      </p:grpSpPr>
      <p:sp>
        <p:nvSpPr>
          <p:cNvPr id="1048903" name="textbox 186"/>
          <p:cNvSpPr/>
          <p:nvPr/>
        </p:nvSpPr>
        <p:spPr>
          <a:xfrm>
            <a:off x="1850413" y="1503448"/>
            <a:ext cx="7887969" cy="4284979"/>
          </a:xfrm>
          <a:prstGeom prst="rect">
            <a:avLst/>
          </a:prstGeom>
        </p:spPr>
        <p:txBody>
          <a:bodyPr vert="horz" wrap="square" lIns="0" tIns="0" rIns="0" bIns="0"/>
          <a:p>
            <a:pPr algn="l" rtl="0" eaLnBrk="0">
              <a:lnSpc>
                <a:spcPct val="83000"/>
              </a:lnSpc>
            </a:pPr>
            <a:endParaRPr lang="en-US" altLang="en-US" sz="100" dirty="0"/>
          </a:p>
          <a:p>
            <a:pPr marL="12700" algn="l" rtl="0" eaLnBrk="0">
              <a:lnSpc>
                <a:spcPts val="3335"/>
              </a:lnSpc>
            </a:pPr>
            <a:r>
              <a:rPr sz="2700" kern="0" spc="20" dirty="0">
                <a:solidFill>
                  <a:srgbClr val="000000">
                    <a:alpha val="100000"/>
                  </a:srgbClr>
                </a:solidFill>
                <a:latin typeface="Arial" panose="020B0604020202020204"/>
                <a:ea typeface="Arial" panose="020B0604020202020204"/>
                <a:cs typeface="Arial" panose="020B0604020202020204"/>
              </a:rPr>
              <a:t>•</a:t>
            </a:r>
            <a:r>
              <a:rPr sz="2700" kern="0" spc="420" dirty="0">
                <a:solidFill>
                  <a:srgbClr val="000000">
                    <a:alpha val="100000"/>
                  </a:srgbClr>
                </a:solidFill>
                <a:latin typeface="Arial" panose="020B0604020202020204"/>
                <a:ea typeface="Arial" panose="020B0604020202020204"/>
                <a:cs typeface="Arial" panose="020B0604020202020204"/>
              </a:rPr>
              <a:t> </a:t>
            </a:r>
            <a:r>
              <a:rPr sz="2700" kern="0" spc="2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密码算法需求：</a:t>
            </a:r>
            <a:endParaRPr lang="en-US" altLang="en-US" sz="2700" dirty="0"/>
          </a:p>
          <a:p>
            <a:pPr algn="l" rtl="0" eaLnBrk="0">
              <a:lnSpc>
                <a:spcPct val="107000"/>
              </a:lnSpc>
            </a:pPr>
            <a:endParaRPr lang="en-US" altLang="en-US" sz="1000" dirty="0"/>
          </a:p>
          <a:p>
            <a:pPr algn="r" rtl="0" eaLnBrk="0">
              <a:lnSpc>
                <a:spcPct val="99000"/>
              </a:lnSpc>
              <a:spcBef>
                <a:spcPts val="730"/>
              </a:spcBef>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540" dirty="0">
                <a:solidFill>
                  <a:srgbClr val="000000">
                    <a:alpha val="100000"/>
                  </a:srgbClr>
                </a:solidFill>
                <a:latin typeface="Arial" panose="020B0604020202020204"/>
                <a:ea typeface="Arial" panose="020B0604020202020204"/>
                <a:cs typeface="Arial" panose="020B0604020202020204"/>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需求1：可逆</a:t>
            </a:r>
            <a:r>
              <a:rPr sz="2400" b="1" kern="0" spc="0" dirty="0">
                <a:solidFill>
                  <a:srgbClr val="000000">
                    <a:alpha val="100000"/>
                  </a:srgbClr>
                </a:solidFill>
                <a:latin typeface="Arial" panose="020B0604020202020204"/>
                <a:ea typeface="Arial" panose="020B0604020202020204"/>
                <a:cs typeface="Arial" panose="020B0604020202020204"/>
              </a:rPr>
              <a:t>——</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算法</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的使用者可以将密文恢复成明文</a:t>
            </a:r>
            <a:endParaRPr lang="en-US" altLang="en-US" sz="2400" dirty="0"/>
          </a:p>
          <a:p>
            <a:pPr algn="l" rtl="0" eaLnBrk="0">
              <a:lnSpc>
                <a:spcPct val="103000"/>
              </a:lnSpc>
            </a:pPr>
            <a:endParaRPr lang="en-US" altLang="en-US" sz="1000" dirty="0"/>
          </a:p>
          <a:p>
            <a:pPr marL="466725" algn="l" rtl="0" eaLnBrk="0">
              <a:lnSpc>
                <a:spcPct val="99000"/>
              </a:lnSpc>
              <a:spcBef>
                <a:spcPts val="725"/>
              </a:spcBef>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590" dirty="0">
                <a:solidFill>
                  <a:srgbClr val="000000">
                    <a:alpha val="100000"/>
                  </a:srgbClr>
                </a:solidFill>
                <a:latin typeface="Arial" panose="020B0604020202020204"/>
                <a:ea typeface="Arial" panose="020B0604020202020204"/>
                <a:cs typeface="Arial" panose="020B0604020202020204"/>
              </a:rPr>
              <a:t> </a:t>
            </a:r>
            <a:r>
              <a:rPr sz="2400" kern="0" spc="-1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需求2：不可逆</a:t>
            </a:r>
            <a:r>
              <a:rPr sz="2400" b="1" kern="0" spc="-10" dirty="0">
                <a:solidFill>
                  <a:srgbClr val="000000">
                    <a:alpha val="100000"/>
                  </a:srgbClr>
                </a:solidFill>
                <a:latin typeface="Arial" panose="020B0604020202020204"/>
                <a:ea typeface="Arial" panose="020B0604020202020204"/>
                <a:cs typeface="Arial" panose="020B0604020202020204"/>
              </a:rPr>
              <a:t>——</a:t>
            </a:r>
            <a:r>
              <a:rPr sz="2400" kern="0" spc="-1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敌手无法将密文恢复成明文</a:t>
            </a:r>
            <a:endParaRPr lang="en-US" altLang="en-US" sz="2400" dirty="0"/>
          </a:p>
          <a:p>
            <a:pPr algn="l" rtl="0" eaLnBrk="0">
              <a:lnSpc>
                <a:spcPct val="105000"/>
              </a:lnSpc>
            </a:pPr>
            <a:endParaRPr lang="en-US" altLang="en-US" sz="1000" dirty="0"/>
          </a:p>
          <a:p>
            <a:pPr marL="466725" algn="l" rtl="0" eaLnBrk="0">
              <a:lnSpc>
                <a:spcPct val="100000"/>
              </a:lnSpc>
              <a:spcBef>
                <a:spcPts val="725"/>
              </a:spcBef>
            </a:pPr>
            <a:r>
              <a:rPr sz="2400" kern="0" spc="-50" dirty="0">
                <a:solidFill>
                  <a:srgbClr val="000000">
                    <a:alpha val="100000"/>
                  </a:srgbClr>
                </a:solidFill>
                <a:latin typeface="Arial" panose="020B0604020202020204"/>
                <a:ea typeface="Arial" panose="020B0604020202020204"/>
                <a:cs typeface="Arial" panose="020B0604020202020204"/>
              </a:rPr>
              <a:t>•</a:t>
            </a:r>
            <a:r>
              <a:rPr sz="2400" kern="0" spc="510" dirty="0">
                <a:solidFill>
                  <a:srgbClr val="000000">
                    <a:alpha val="100000"/>
                  </a:srgbClr>
                </a:solidFill>
                <a:latin typeface="Arial" panose="020B0604020202020204"/>
                <a:ea typeface="Arial" panose="020B0604020202020204"/>
                <a:cs typeface="Arial" panose="020B0604020202020204"/>
              </a:rPr>
              <a:t> </a:t>
            </a:r>
            <a:r>
              <a:rPr sz="2400" kern="0" spc="-5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秘密参数</a:t>
            </a:r>
            <a:r>
              <a:rPr sz="2400" b="1" kern="0" spc="-50" dirty="0">
                <a:solidFill>
                  <a:srgbClr val="000000">
                    <a:alpha val="100000"/>
                  </a:srgbClr>
                </a:solidFill>
                <a:latin typeface="Arial" panose="020B0604020202020204"/>
                <a:ea typeface="Arial" panose="020B0604020202020204"/>
                <a:cs typeface="Arial" panose="020B0604020202020204"/>
              </a:rPr>
              <a:t>——</a:t>
            </a:r>
            <a:r>
              <a:rPr sz="2400" b="1" kern="0" spc="-380" dirty="0">
                <a:solidFill>
                  <a:srgbClr val="000000">
                    <a:alpha val="100000"/>
                  </a:srgbClr>
                </a:solidFill>
                <a:latin typeface="Arial" panose="020B0604020202020204"/>
                <a:ea typeface="Arial" panose="020B0604020202020204"/>
                <a:cs typeface="Arial" panose="020B0604020202020204"/>
              </a:rPr>
              <a:t> </a:t>
            </a:r>
            <a:r>
              <a:rPr sz="2400" kern="0" spc="-5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密钥</a:t>
            </a:r>
            <a:endParaRPr lang="en-US" altLang="en-US" sz="2400" dirty="0"/>
          </a:p>
          <a:p>
            <a:pPr algn="l" rtl="0" eaLnBrk="0">
              <a:lnSpc>
                <a:spcPct val="151000"/>
              </a:lnSpc>
            </a:pPr>
            <a:endParaRPr lang="en-US" altLang="en-US" sz="1000" dirty="0"/>
          </a:p>
          <a:p>
            <a:pPr marL="12700" algn="l" rtl="0" eaLnBrk="0">
              <a:lnSpc>
                <a:spcPts val="3310"/>
              </a:lnSpc>
              <a:spcBef>
                <a:spcPts val="820"/>
              </a:spcBef>
            </a:pPr>
            <a:r>
              <a:rPr sz="2700" kern="0" spc="80" dirty="0">
                <a:solidFill>
                  <a:srgbClr val="000000">
                    <a:alpha val="100000"/>
                  </a:srgbClr>
                </a:solidFill>
                <a:latin typeface="Arial" panose="020B0604020202020204"/>
                <a:ea typeface="Arial" panose="020B0604020202020204"/>
                <a:cs typeface="Arial" panose="020B0604020202020204"/>
              </a:rPr>
              <a:t>•</a:t>
            </a:r>
            <a:r>
              <a:rPr sz="2700" kern="0" spc="400" dirty="0">
                <a:solidFill>
                  <a:srgbClr val="000000">
                    <a:alpha val="100000"/>
                  </a:srgbClr>
                </a:solidFill>
                <a:latin typeface="Arial" panose="020B0604020202020204"/>
                <a:ea typeface="Arial" panose="020B0604020202020204"/>
                <a:cs typeface="Arial" panose="020B0604020202020204"/>
              </a:rPr>
              <a:t> </a:t>
            </a:r>
            <a:r>
              <a:rPr sz="2700" kern="0" spc="8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密码算法实际上是一个</a:t>
            </a:r>
            <a:r>
              <a:rPr sz="2700" kern="0" spc="7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带有秘密参数的函数。</a:t>
            </a:r>
            <a:endParaRPr lang="en-US" altLang="en-US" sz="2700" dirty="0"/>
          </a:p>
          <a:p>
            <a:pPr algn="l" rtl="0" eaLnBrk="0">
              <a:lnSpc>
                <a:spcPct val="109000"/>
              </a:lnSpc>
            </a:pPr>
            <a:endParaRPr lang="en-US" altLang="en-US" sz="1000" dirty="0"/>
          </a:p>
          <a:p>
            <a:pPr marL="466725" algn="l" rtl="0" eaLnBrk="0">
              <a:lnSpc>
                <a:spcPct val="100000"/>
              </a:lnSpc>
              <a:spcBef>
                <a:spcPts val="725"/>
              </a:spcBef>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460" dirty="0">
                <a:solidFill>
                  <a:srgbClr val="000000">
                    <a:alpha val="100000"/>
                  </a:srgbClr>
                </a:solidFill>
                <a:latin typeface="Arial" panose="020B0604020202020204"/>
                <a:ea typeface="Arial" panose="020B0604020202020204"/>
                <a:cs typeface="Arial" panose="020B0604020202020204"/>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知道秘密参数，求逆非</a:t>
            </a:r>
            <a:r>
              <a:rPr sz="2400" kern="0" spc="-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常容易</a:t>
            </a:r>
            <a:endParaRPr lang="en-US" altLang="en-US" sz="2400" dirty="0"/>
          </a:p>
          <a:p>
            <a:pPr algn="l" rtl="0" eaLnBrk="0">
              <a:lnSpc>
                <a:spcPct val="103000"/>
              </a:lnSpc>
            </a:pPr>
            <a:endParaRPr lang="en-US" altLang="en-US" sz="1000" dirty="0"/>
          </a:p>
          <a:p>
            <a:pPr algn="l" rtl="0" eaLnBrk="0">
              <a:lnSpc>
                <a:spcPct val="100000"/>
              </a:lnSpc>
            </a:pPr>
            <a:endParaRPr lang="en-US" altLang="en-US" sz="600" dirty="0"/>
          </a:p>
          <a:p>
            <a:pPr marL="466725" algn="l" rtl="0" eaLnBrk="0">
              <a:lnSpc>
                <a:spcPct val="99000"/>
              </a:lnSpc>
              <a:spcBef>
                <a:spcPts val="0"/>
              </a:spcBef>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510" dirty="0">
                <a:solidFill>
                  <a:srgbClr val="000000">
                    <a:alpha val="100000"/>
                  </a:srgbClr>
                </a:solidFill>
                <a:latin typeface="Arial" panose="020B0604020202020204"/>
                <a:ea typeface="Arial" panose="020B0604020202020204"/>
                <a:cs typeface="Arial" panose="020B0604020202020204"/>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不知道秘密参数，求逆是不</a:t>
            </a:r>
            <a:r>
              <a:rPr sz="2400" kern="0" spc="-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可行的</a:t>
            </a:r>
            <a:endParaRPr lang="en-US" altLang="en-US" sz="2400" dirty="0"/>
          </a:p>
        </p:txBody>
      </p:sp>
      <p:sp>
        <p:nvSpPr>
          <p:cNvPr id="1048904" name="textbox 188"/>
          <p:cNvSpPr/>
          <p:nvPr/>
        </p:nvSpPr>
        <p:spPr>
          <a:xfrm>
            <a:off x="1591801" y="488157"/>
            <a:ext cx="2804160" cy="483869"/>
          </a:xfrm>
          <a:prstGeom prst="rect">
            <a:avLst/>
          </a:prstGeom>
        </p:spPr>
        <p:txBody>
          <a:bodyPr vert="horz" wrap="square" lIns="0" tIns="0" rIns="0" bIns="0"/>
          <a:p>
            <a:pPr algn="l" rtl="0" eaLnBrk="0">
              <a:lnSpc>
                <a:spcPct val="83000"/>
              </a:lnSpc>
            </a:pPr>
            <a:endParaRPr lang="en-US" altLang="en-US" sz="100" dirty="0"/>
          </a:p>
          <a:p>
            <a:pPr marL="12700" algn="l" rtl="0" eaLnBrk="0">
              <a:lnSpc>
                <a:spcPct val="94000"/>
              </a:lnSpc>
            </a:pPr>
            <a:r>
              <a:rPr sz="3200" kern="0" spc="-2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密码算法（续）</a:t>
            </a:r>
            <a:endParaRPr lang="en-US" altLang="en-US" sz="3200" dirty="0"/>
          </a:p>
        </p:txBody>
      </p:sp>
      <p:sp>
        <p:nvSpPr>
          <p:cNvPr id="1048905"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190" name="picture 194"/>
          <p:cNvPicPr>
            <a:picLocks noChangeAspect="1"/>
          </p:cNvPicPr>
          <p:nvPr/>
        </p:nvPicPr>
        <p:blipFill>
          <a:blip r:embed="rId1"/>
          <a:stretch>
            <a:fillRect/>
          </a:stretch>
        </p:blipFill>
        <p:spPr>
          <a:xfrm rot="21600000">
            <a:off x="824483" y="408431"/>
            <a:ext cx="419100" cy="655320"/>
          </a:xfrm>
          <a:prstGeom prst="rect">
            <a:avLst/>
          </a:prstGeom>
        </p:spPr>
      </p:pic>
      <p:sp>
        <p:nvSpPr>
          <p:cNvPr id="1048906"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31" name=""/>
        <p:cNvGrpSpPr/>
        <p:nvPr/>
      </p:nvGrpSpPr>
      <p:grpSpPr>
        <a:xfrm>
          <a:off x="0" y="0"/>
          <a:ext cx="0" cy="0"/>
          <a:chOff x="0" y="0"/>
          <a:chExt cx="0" cy="0"/>
        </a:xfrm>
      </p:grpSpPr>
      <p:sp>
        <p:nvSpPr>
          <p:cNvPr id="1048909" name="path"/>
          <p:cNvSpPr/>
          <p:nvPr/>
        </p:nvSpPr>
        <p:spPr>
          <a:xfrm>
            <a:off x="5246884" y="3468494"/>
            <a:ext cx="1236016" cy="7703"/>
          </a:xfrm>
          <a:custGeom>
            <a:avLst/>
            <a:gdLst/>
            <a:ahLst/>
            <a:cxnLst/>
            <a:rect l="0" t="0" r="0" b="0"/>
            <a:pathLst>
              <a:path w="1946" h="12">
                <a:moveTo>
                  <a:pt x="0" y="6"/>
                </a:moveTo>
                <a:lnTo>
                  <a:pt x="1946" y="6"/>
                </a:lnTo>
              </a:path>
            </a:pathLst>
          </a:custGeom>
          <a:noFill/>
          <a:ln w="7002" cap="flat">
            <a:solidFill>
              <a:srgbClr val="000000">
                <a:alpha val="100000"/>
              </a:srgbClr>
            </a:solidFill>
            <a:prstDash val="solid"/>
            <a:round/>
          </a:ln>
        </p:spPr>
        <p:txBody>
          <a:bodyPr rtlCol="0"/>
          <a:p>
            <a:pPr algn="ctr"/>
            <a:endParaRPr lang="zh-CN" altLang="en-US"/>
          </a:p>
        </p:txBody>
      </p:sp>
      <p:grpSp>
        <p:nvGrpSpPr>
          <p:cNvPr id="132" name="group 22"/>
          <p:cNvGrpSpPr/>
          <p:nvPr/>
        </p:nvGrpSpPr>
        <p:grpSpPr>
          <a:xfrm rot="21600000">
            <a:off x="6472090" y="2973287"/>
            <a:ext cx="1457361" cy="1199046"/>
            <a:chOff x="0" y="0"/>
            <a:chExt cx="1457361" cy="1199046"/>
          </a:xfrm>
        </p:grpSpPr>
        <p:sp>
          <p:nvSpPr>
            <p:cNvPr id="1048910" name="path"/>
            <p:cNvSpPr/>
            <p:nvPr/>
          </p:nvSpPr>
          <p:spPr>
            <a:xfrm>
              <a:off x="71104" y="993898"/>
              <a:ext cx="166974" cy="204020"/>
            </a:xfrm>
            <a:custGeom>
              <a:avLst/>
              <a:gdLst/>
              <a:ahLst/>
              <a:cxnLst/>
              <a:rect l="0" t="0" r="0" b="0"/>
              <a:pathLst>
                <a:path w="262" h="321">
                  <a:moveTo>
                    <a:pt x="3" y="4"/>
                  </a:moveTo>
                  <a:lnTo>
                    <a:pt x="259" y="317"/>
                  </a:lnTo>
                </a:path>
              </a:pathLst>
            </a:custGeom>
            <a:noFill/>
            <a:ln w="7002" cap="flat">
              <a:solidFill>
                <a:srgbClr val="000000">
                  <a:alpha val="100000"/>
                </a:srgbClr>
              </a:solidFill>
              <a:prstDash val="solid"/>
              <a:round/>
            </a:ln>
          </p:spPr>
          <p:txBody>
            <a:bodyPr rtlCol="0"/>
            <a:p>
              <a:pPr algn="ctr"/>
              <a:endParaRPr lang="zh-CN" altLang="en-US"/>
            </a:p>
          </p:txBody>
        </p:sp>
        <p:sp>
          <p:nvSpPr>
            <p:cNvPr id="1048911" name="path"/>
            <p:cNvSpPr/>
            <p:nvPr/>
          </p:nvSpPr>
          <p:spPr>
            <a:xfrm>
              <a:off x="70181" y="992771"/>
              <a:ext cx="1387179" cy="206275"/>
            </a:xfrm>
            <a:custGeom>
              <a:avLst/>
              <a:gdLst/>
              <a:ahLst/>
              <a:cxnLst/>
              <a:rect l="0" t="0" r="0" b="0"/>
              <a:pathLst>
                <a:path w="2184" h="324">
                  <a:moveTo>
                    <a:pt x="1924" y="6"/>
                  </a:moveTo>
                  <a:moveTo>
                    <a:pt x="1924" y="6"/>
                  </a:moveTo>
                  <a:lnTo>
                    <a:pt x="4" y="6"/>
                  </a:lnTo>
                  <a:lnTo>
                    <a:pt x="260" y="318"/>
                  </a:lnTo>
                  <a:lnTo>
                    <a:pt x="2179" y="318"/>
                  </a:lnTo>
                  <a:lnTo>
                    <a:pt x="1924" y="6"/>
                  </a:lnTo>
                  <a:close/>
                </a:path>
              </a:pathLst>
            </a:custGeom>
            <a:solidFill>
              <a:srgbClr val="C0C0C0">
                <a:alpha val="100000"/>
              </a:srgbClr>
            </a:solidFill>
            <a:ln cap="flat">
              <a:noFill/>
              <a:prstDash val="solid"/>
              <a:miter lim="0"/>
            </a:ln>
          </p:spPr>
          <p:txBody>
            <a:bodyPr rtlCol="0"/>
            <a:p>
              <a:pPr algn="ctr"/>
              <a:endParaRPr lang="zh-CN" altLang="en-US"/>
            </a:p>
          </p:txBody>
        </p:sp>
        <p:sp>
          <p:nvSpPr>
            <p:cNvPr id="1048912" name="path"/>
            <p:cNvSpPr/>
            <p:nvPr/>
          </p:nvSpPr>
          <p:spPr>
            <a:xfrm>
              <a:off x="70181" y="1175"/>
              <a:ext cx="1387179" cy="1197871"/>
            </a:xfrm>
            <a:custGeom>
              <a:avLst/>
              <a:gdLst/>
              <a:ahLst/>
              <a:cxnLst/>
              <a:rect l="0" t="0" r="0" b="0"/>
              <a:pathLst>
                <a:path w="2184" h="1886">
                  <a:moveTo>
                    <a:pt x="2179" y="1880"/>
                  </a:moveTo>
                  <a:lnTo>
                    <a:pt x="1924" y="1567"/>
                  </a:lnTo>
                  <a:moveTo>
                    <a:pt x="2179" y="1880"/>
                  </a:moveTo>
                  <a:lnTo>
                    <a:pt x="1924" y="1567"/>
                  </a:lnTo>
                  <a:moveTo>
                    <a:pt x="1924" y="4"/>
                  </a:moveTo>
                  <a:lnTo>
                    <a:pt x="2179" y="316"/>
                  </a:lnTo>
                </a:path>
              </a:pathLst>
            </a:custGeom>
            <a:noFill/>
            <a:ln w="7002" cap="flat">
              <a:solidFill>
                <a:srgbClr val="000000">
                  <a:alpha val="100000"/>
                </a:srgbClr>
              </a:solidFill>
              <a:prstDash val="solid"/>
              <a:round/>
            </a:ln>
          </p:spPr>
          <p:txBody>
            <a:bodyPr rtlCol="0"/>
            <a:p>
              <a:pPr algn="ctr"/>
              <a:endParaRPr lang="zh-CN" altLang="en-US"/>
            </a:p>
          </p:txBody>
        </p:sp>
        <p:sp>
          <p:nvSpPr>
            <p:cNvPr id="1048913" name="path"/>
            <p:cNvSpPr/>
            <p:nvPr/>
          </p:nvSpPr>
          <p:spPr>
            <a:xfrm>
              <a:off x="1289080" y="43"/>
              <a:ext cx="168280" cy="1199002"/>
            </a:xfrm>
            <a:custGeom>
              <a:avLst/>
              <a:gdLst/>
              <a:ahLst/>
              <a:cxnLst/>
              <a:rect l="0" t="0" r="0" b="0"/>
              <a:pathLst>
                <a:path w="265" h="1888">
                  <a:moveTo>
                    <a:pt x="260" y="1882"/>
                  </a:moveTo>
                  <a:moveTo>
                    <a:pt x="260" y="1882"/>
                  </a:moveTo>
                  <a:lnTo>
                    <a:pt x="4" y="1569"/>
                  </a:lnTo>
                  <a:lnTo>
                    <a:pt x="4" y="6"/>
                  </a:lnTo>
                  <a:lnTo>
                    <a:pt x="260" y="318"/>
                  </a:lnTo>
                  <a:lnTo>
                    <a:pt x="260" y="1882"/>
                  </a:lnTo>
                  <a:close/>
                </a:path>
              </a:pathLst>
            </a:custGeom>
            <a:solidFill>
              <a:srgbClr val="C0C0C0">
                <a:alpha val="100000"/>
              </a:srgbClr>
            </a:solidFill>
            <a:ln cap="flat">
              <a:noFill/>
              <a:prstDash val="solid"/>
              <a:miter lim="0"/>
            </a:ln>
          </p:spPr>
          <p:txBody>
            <a:bodyPr rtlCol="0"/>
            <a:p>
              <a:pPr algn="ctr"/>
              <a:endParaRPr lang="zh-CN" altLang="en-US"/>
            </a:p>
          </p:txBody>
        </p:sp>
        <p:sp>
          <p:nvSpPr>
            <p:cNvPr id="1048914" name="path"/>
            <p:cNvSpPr/>
            <p:nvPr/>
          </p:nvSpPr>
          <p:spPr>
            <a:xfrm>
              <a:off x="70181" y="0"/>
              <a:ext cx="1225146" cy="1000474"/>
            </a:xfrm>
            <a:custGeom>
              <a:avLst/>
              <a:gdLst/>
              <a:ahLst/>
              <a:cxnLst/>
              <a:rect l="0" t="0" r="0" b="0"/>
              <a:pathLst>
                <a:path w="1929" h="1575">
                  <a:moveTo>
                    <a:pt x="4" y="1569"/>
                  </a:moveTo>
                  <a:moveTo>
                    <a:pt x="4" y="1569"/>
                  </a:moveTo>
                  <a:lnTo>
                    <a:pt x="1924" y="1569"/>
                  </a:lnTo>
                  <a:lnTo>
                    <a:pt x="1924" y="6"/>
                  </a:lnTo>
                  <a:lnTo>
                    <a:pt x="4" y="6"/>
                  </a:lnTo>
                  <a:lnTo>
                    <a:pt x="4" y="1569"/>
                  </a:lnTo>
                  <a:close/>
                </a:path>
              </a:pathLst>
            </a:custGeom>
            <a:solidFill>
              <a:srgbClr val="FFFFFF">
                <a:alpha val="100000"/>
              </a:srgbClr>
            </a:solidFill>
            <a:ln cap="flat">
              <a:noFill/>
              <a:prstDash val="solid"/>
              <a:miter lim="0"/>
            </a:ln>
          </p:spPr>
          <p:txBody>
            <a:bodyPr rtlCol="0"/>
            <a:p>
              <a:pPr algn="ctr"/>
              <a:endParaRPr lang="zh-CN" altLang="en-US"/>
            </a:p>
          </p:txBody>
        </p:sp>
        <p:sp>
          <p:nvSpPr>
            <p:cNvPr id="1048915" name="path"/>
            <p:cNvSpPr/>
            <p:nvPr/>
          </p:nvSpPr>
          <p:spPr>
            <a:xfrm>
              <a:off x="0" y="453903"/>
              <a:ext cx="759626" cy="730806"/>
            </a:xfrm>
            <a:custGeom>
              <a:avLst/>
              <a:gdLst/>
              <a:ahLst/>
              <a:cxnLst/>
              <a:rect l="0" t="0" r="0" b="0"/>
              <a:pathLst>
                <a:path w="1196" h="1150">
                  <a:moveTo>
                    <a:pt x="0" y="0"/>
                  </a:moveTo>
                  <a:lnTo>
                    <a:pt x="115" y="71"/>
                  </a:lnTo>
                  <a:lnTo>
                    <a:pt x="0" y="141"/>
                  </a:lnTo>
                  <a:lnTo>
                    <a:pt x="0" y="0"/>
                  </a:lnTo>
                  <a:close/>
                </a:path>
                <a:path w="1196" h="1150">
                  <a:moveTo>
                    <a:pt x="1196" y="1150"/>
                  </a:moveTo>
                  <a:lnTo>
                    <a:pt x="1138" y="1009"/>
                  </a:lnTo>
                  <a:lnTo>
                    <a:pt x="1080" y="1150"/>
                  </a:lnTo>
                  <a:lnTo>
                    <a:pt x="1196" y="1150"/>
                  </a:lnTo>
                  <a:close/>
                </a:path>
              </a:pathLst>
            </a:custGeom>
            <a:solidFill>
              <a:srgbClr val="000000">
                <a:alpha val="100000"/>
              </a:srgbClr>
            </a:solidFill>
            <a:ln cap="flat">
              <a:noFill/>
              <a:prstDash val="solid"/>
              <a:miter lim="0"/>
            </a:ln>
          </p:spPr>
          <p:txBody>
            <a:bodyPr rtlCol="0"/>
            <a:p>
              <a:pPr algn="ctr"/>
              <a:endParaRPr lang="zh-CN" altLang="en-US"/>
            </a:p>
          </p:txBody>
        </p:sp>
      </p:grpSp>
      <p:sp>
        <p:nvSpPr>
          <p:cNvPr id="1048916" name="textbox 212"/>
          <p:cNvSpPr/>
          <p:nvPr/>
        </p:nvSpPr>
        <p:spPr>
          <a:xfrm>
            <a:off x="5352112" y="3151452"/>
            <a:ext cx="2286635" cy="2453004"/>
          </a:xfrm>
          <a:prstGeom prst="rect">
            <a:avLst/>
          </a:prstGeom>
        </p:spPr>
        <p:txBody>
          <a:bodyPr vert="horz" wrap="square" lIns="0" tIns="0" rIns="0" bIns="0"/>
          <a:p>
            <a:pPr algn="l" rtl="0" eaLnBrk="0">
              <a:lnSpc>
                <a:spcPct val="83000"/>
              </a:lnSpc>
            </a:pPr>
            <a:endParaRPr lang="en-US" altLang="en-US" sz="100" dirty="0"/>
          </a:p>
          <a:p>
            <a:pPr marL="1524000" algn="l" rtl="0" eaLnBrk="0">
              <a:lnSpc>
                <a:spcPts val="1955"/>
              </a:lnSpc>
            </a:pPr>
            <a:r>
              <a:rPr sz="1600" kern="0" spc="-1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解密器</a:t>
            </a:r>
            <a:endParaRPr lang="en-US" altLang="en-US" sz="1600" dirty="0"/>
          </a:p>
          <a:p>
            <a:pPr algn="r" rtl="0" eaLnBrk="0">
              <a:lnSpc>
                <a:spcPct val="91000"/>
              </a:lnSpc>
              <a:spcBef>
                <a:spcPts val="425"/>
              </a:spcBef>
            </a:pPr>
            <a:r>
              <a:rPr sz="3000" i="1" kern="0" spc="-30" baseline="14000" dirty="0">
                <a:solidFill>
                  <a:srgbClr val="000000">
                    <a:alpha val="100000"/>
                  </a:srgbClr>
                </a:solidFill>
                <a:latin typeface="Times New Roman" panose="02020603050405020304"/>
                <a:ea typeface="Times New Roman" panose="02020603050405020304"/>
                <a:cs typeface="Times New Roman" panose="02020603050405020304"/>
              </a:rPr>
              <a:t>c</a:t>
            </a:r>
            <a:r>
              <a:rPr sz="1900" i="1" kern="0" spc="50" dirty="0">
                <a:solidFill>
                  <a:srgbClr val="000000">
                    <a:alpha val="100000"/>
                  </a:srgbClr>
                </a:solidFill>
                <a:latin typeface="Times New Roman" panose="02020603050405020304"/>
                <a:ea typeface="Times New Roman" panose="02020603050405020304"/>
                <a:cs typeface="Times New Roman" panose="02020603050405020304"/>
              </a:rPr>
              <a:t>   </a:t>
            </a:r>
            <a:r>
              <a:rPr sz="2000" kern="0" spc="-30" baseline="300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公开信道</a:t>
            </a:r>
            <a:r>
              <a:rPr sz="1200" kern="0" spc="9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900" i="1" kern="0" spc="-30" dirty="0">
                <a:solidFill>
                  <a:srgbClr val="000000">
                    <a:alpha val="100000"/>
                  </a:srgbClr>
                </a:solidFill>
                <a:latin typeface="Times New Roman" panose="02020603050405020304"/>
                <a:ea typeface="Times New Roman" panose="02020603050405020304"/>
                <a:cs typeface="Times New Roman" panose="02020603050405020304"/>
              </a:rPr>
              <a:t>m </a:t>
            </a:r>
            <a:r>
              <a:rPr sz="1900" kern="0" spc="-30" dirty="0">
                <a:solidFill>
                  <a:srgbClr val="000000">
                    <a:alpha val="100000"/>
                  </a:srgbClr>
                </a:solidFill>
                <a:latin typeface="Symbol" panose="05050102010706020507"/>
                <a:ea typeface="Symbol" panose="05050102010706020507"/>
                <a:cs typeface="Symbol" panose="05050102010706020507"/>
              </a:rPr>
              <a:t>=</a:t>
            </a:r>
            <a:r>
              <a:rPr sz="1900" kern="0" spc="-60" dirty="0">
                <a:solidFill>
                  <a:srgbClr val="000000">
                    <a:alpha val="100000"/>
                  </a:srgbClr>
                </a:solidFill>
                <a:latin typeface="Symbol" panose="05050102010706020507"/>
                <a:ea typeface="Symbol" panose="05050102010706020507"/>
                <a:cs typeface="Symbol" panose="05050102010706020507"/>
              </a:rPr>
              <a:t> </a:t>
            </a:r>
            <a:r>
              <a:rPr sz="1900" i="1" kern="0" spc="-30" dirty="0">
                <a:solidFill>
                  <a:srgbClr val="000000">
                    <a:alpha val="100000"/>
                  </a:srgbClr>
                </a:solidFill>
                <a:latin typeface="Times New Roman" panose="02020603050405020304"/>
                <a:ea typeface="Times New Roman" panose="02020603050405020304"/>
                <a:cs typeface="Times New Roman" panose="02020603050405020304"/>
              </a:rPr>
              <a:t>D</a:t>
            </a:r>
            <a:r>
              <a:rPr sz="1700" i="1" kern="0" spc="-30" baseline="-34000" dirty="0">
                <a:solidFill>
                  <a:srgbClr val="000000">
                    <a:alpha val="100000"/>
                  </a:srgbClr>
                </a:solidFill>
                <a:latin typeface="Times New Roman" panose="02020603050405020304"/>
                <a:ea typeface="Times New Roman" panose="02020603050405020304"/>
                <a:cs typeface="Times New Roman" panose="02020603050405020304"/>
              </a:rPr>
              <a:t>k</a:t>
            </a:r>
            <a:r>
              <a:rPr sz="1200" kern="0" spc="-30" baseline="-74000" dirty="0">
                <a:solidFill>
                  <a:srgbClr val="000000">
                    <a:alpha val="100000"/>
                  </a:srgbClr>
                </a:solidFill>
                <a:latin typeface="Times New Roman" panose="02020603050405020304"/>
                <a:ea typeface="Times New Roman" panose="02020603050405020304"/>
                <a:cs typeface="Times New Roman" panose="02020603050405020304"/>
              </a:rPr>
              <a:t>2</a:t>
            </a:r>
            <a:r>
              <a:rPr sz="700" kern="0" spc="-30" dirty="0">
                <a:solidFill>
                  <a:srgbClr val="000000">
                    <a:alpha val="100000"/>
                  </a:srgbClr>
                </a:solidFill>
                <a:latin typeface="Times New Roman" panose="02020603050405020304"/>
                <a:ea typeface="Times New Roman" panose="02020603050405020304"/>
                <a:cs typeface="Times New Roman" panose="02020603050405020304"/>
              </a:rPr>
              <a:t>  </a:t>
            </a:r>
            <a:r>
              <a:rPr sz="2600" kern="0" spc="-310" dirty="0">
                <a:solidFill>
                  <a:srgbClr val="000000">
                    <a:alpha val="100000"/>
                  </a:srgbClr>
                </a:solidFill>
                <a:latin typeface="Symbol" panose="05050102010706020507"/>
                <a:ea typeface="Symbol" panose="05050102010706020507"/>
                <a:cs typeface="Symbol" panose="05050102010706020507"/>
              </a:rPr>
              <a:t>(</a:t>
            </a:r>
            <a:r>
              <a:rPr sz="1900" i="1" kern="0" spc="-300" dirty="0">
                <a:solidFill>
                  <a:srgbClr val="000000">
                    <a:alpha val="100000"/>
                  </a:srgbClr>
                </a:solidFill>
                <a:latin typeface="Times New Roman" panose="02020603050405020304"/>
                <a:ea typeface="Times New Roman" panose="02020603050405020304"/>
                <a:cs typeface="Times New Roman" panose="02020603050405020304"/>
              </a:rPr>
              <a:t>c</a:t>
            </a:r>
            <a:r>
              <a:rPr sz="2600" kern="0" spc="-110" dirty="0">
                <a:solidFill>
                  <a:srgbClr val="000000">
                    <a:alpha val="100000"/>
                  </a:srgbClr>
                </a:solidFill>
                <a:latin typeface="Symbol" panose="05050102010706020507"/>
                <a:ea typeface="Symbol" panose="05050102010706020507"/>
                <a:cs typeface="Symbol" panose="05050102010706020507"/>
              </a:rPr>
              <a:t>)</a:t>
            </a:r>
            <a:endParaRPr lang="en-US" altLang="en-US" sz="2600" dirty="0"/>
          </a:p>
          <a:p>
            <a:pPr algn="l" rtl="0" eaLnBrk="0">
              <a:lnSpc>
                <a:spcPct val="102000"/>
              </a:lnSpc>
            </a:pPr>
            <a:endParaRPr lang="en-US" altLang="en-US" sz="1000" dirty="0"/>
          </a:p>
          <a:p>
            <a:pPr algn="l" rtl="0" eaLnBrk="0">
              <a:lnSpc>
                <a:spcPct val="102000"/>
              </a:lnSpc>
            </a:pPr>
            <a:endParaRPr lang="en-US" altLang="en-US" sz="1000" dirty="0"/>
          </a:p>
          <a:p>
            <a:pPr algn="l" rtl="0" eaLnBrk="0">
              <a:lnSpc>
                <a:spcPct val="102000"/>
              </a:lnSpc>
            </a:pPr>
            <a:endParaRPr lang="en-US" altLang="en-US" sz="1000" dirty="0"/>
          </a:p>
          <a:p>
            <a:pPr marL="1922780" algn="l" rtl="0" eaLnBrk="0">
              <a:lnSpc>
                <a:spcPts val="2415"/>
              </a:lnSpc>
              <a:spcBef>
                <a:spcPts val="610"/>
              </a:spcBef>
            </a:pPr>
            <a:r>
              <a:rPr sz="2000" i="1" kern="0" spc="-100" dirty="0">
                <a:solidFill>
                  <a:srgbClr val="000000">
                    <a:alpha val="100000"/>
                  </a:srgbClr>
                </a:solidFill>
                <a:latin typeface="Times New Roman" panose="02020603050405020304"/>
                <a:ea typeface="Times New Roman" panose="02020603050405020304"/>
                <a:cs typeface="Times New Roman" panose="02020603050405020304"/>
              </a:rPr>
              <a:t>k</a:t>
            </a:r>
            <a:r>
              <a:rPr sz="1800" kern="0" spc="0" baseline="-21000" dirty="0">
                <a:solidFill>
                  <a:srgbClr val="000000">
                    <a:alpha val="100000"/>
                  </a:srgbClr>
                </a:solidFill>
                <a:latin typeface="Times New Roman" panose="02020603050405020304"/>
                <a:ea typeface="Times New Roman" panose="02020603050405020304"/>
                <a:cs typeface="Times New Roman" panose="02020603050405020304"/>
              </a:rPr>
              <a:t>2</a:t>
            </a:r>
            <a:endParaRPr lang="en-US" altLang="en-US" sz="1800" baseline="-21000" dirty="0"/>
          </a:p>
          <a:p>
            <a:pPr algn="l" rtl="0" eaLnBrk="0">
              <a:lnSpc>
                <a:spcPct val="142000"/>
              </a:lnSpc>
            </a:pPr>
            <a:endParaRPr lang="en-US" altLang="en-US" sz="1000" dirty="0"/>
          </a:p>
          <a:p>
            <a:pPr marL="263525" algn="l" rtl="0" eaLnBrk="0">
              <a:lnSpc>
                <a:spcPts val="1810"/>
              </a:lnSpc>
              <a:spcBef>
                <a:spcPts val="455"/>
              </a:spcBef>
            </a:pPr>
            <a:r>
              <a:rPr sz="15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密钥信道</a:t>
            </a:r>
            <a:r>
              <a:rPr sz="150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5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密钥源</a:t>
            </a:r>
            <a:endParaRPr lang="en-US" altLang="en-US" sz="1500" dirty="0"/>
          </a:p>
          <a:p>
            <a:pPr marL="1724660" algn="l" rtl="0" eaLnBrk="0">
              <a:lnSpc>
                <a:spcPts val="3225"/>
              </a:lnSpc>
            </a:pPr>
            <a:r>
              <a:rPr sz="3200" i="1" kern="0" spc="-120" baseline="-9000" dirty="0">
                <a:solidFill>
                  <a:srgbClr val="000000">
                    <a:alpha val="100000"/>
                  </a:srgbClr>
                </a:solidFill>
                <a:latin typeface="Times New Roman" panose="02020603050405020304"/>
                <a:ea typeface="Times New Roman" panose="02020603050405020304"/>
                <a:cs typeface="Times New Roman" panose="02020603050405020304"/>
              </a:rPr>
              <a:t>K</a:t>
            </a:r>
            <a:r>
              <a:rPr sz="1800" kern="0" spc="0" baseline="-42000" dirty="0">
                <a:solidFill>
                  <a:srgbClr val="000000">
                    <a:alpha val="100000"/>
                  </a:srgbClr>
                </a:solidFill>
                <a:latin typeface="Times New Roman" panose="02020603050405020304"/>
                <a:ea typeface="Times New Roman" panose="02020603050405020304"/>
                <a:cs typeface="Times New Roman" panose="02020603050405020304"/>
              </a:rPr>
              <a:t>2</a:t>
            </a:r>
            <a:endParaRPr lang="en-US" altLang="en-US" sz="1800" baseline="-42000" dirty="0"/>
          </a:p>
        </p:txBody>
      </p:sp>
      <p:grpSp>
        <p:nvGrpSpPr>
          <p:cNvPr id="133" name="group 24"/>
          <p:cNvGrpSpPr/>
          <p:nvPr/>
        </p:nvGrpSpPr>
        <p:grpSpPr>
          <a:xfrm rot="21600000">
            <a:off x="3865124" y="2973287"/>
            <a:ext cx="1384910" cy="1199046"/>
            <a:chOff x="0" y="0"/>
            <a:chExt cx="1384910" cy="1199046"/>
          </a:xfrm>
        </p:grpSpPr>
        <p:sp>
          <p:nvSpPr>
            <p:cNvPr id="1048917" name="path"/>
            <p:cNvSpPr/>
            <p:nvPr/>
          </p:nvSpPr>
          <p:spPr>
            <a:xfrm>
              <a:off x="922" y="993899"/>
              <a:ext cx="166921" cy="204019"/>
            </a:xfrm>
            <a:custGeom>
              <a:avLst/>
              <a:gdLst/>
              <a:ahLst/>
              <a:cxnLst/>
              <a:rect l="0" t="0" r="0" b="0"/>
              <a:pathLst>
                <a:path w="262" h="321">
                  <a:moveTo>
                    <a:pt x="3" y="4"/>
                  </a:moveTo>
                  <a:lnTo>
                    <a:pt x="259" y="317"/>
                  </a:lnTo>
                </a:path>
              </a:pathLst>
            </a:custGeom>
            <a:noFill/>
            <a:ln w="7002" cap="flat">
              <a:solidFill>
                <a:srgbClr val="000000">
                  <a:alpha val="100000"/>
                </a:srgbClr>
              </a:solidFill>
              <a:prstDash val="solid"/>
              <a:round/>
            </a:ln>
          </p:spPr>
          <p:txBody>
            <a:bodyPr rtlCol="0"/>
            <a:p>
              <a:pPr algn="ctr"/>
              <a:endParaRPr lang="zh-CN" altLang="en-US"/>
            </a:p>
          </p:txBody>
        </p:sp>
        <p:sp>
          <p:nvSpPr>
            <p:cNvPr id="1048918" name="path"/>
            <p:cNvSpPr/>
            <p:nvPr/>
          </p:nvSpPr>
          <p:spPr>
            <a:xfrm>
              <a:off x="0" y="992771"/>
              <a:ext cx="1384910" cy="206275"/>
            </a:xfrm>
            <a:custGeom>
              <a:avLst/>
              <a:gdLst/>
              <a:ahLst/>
              <a:cxnLst/>
              <a:rect l="0" t="0" r="0" b="0"/>
              <a:pathLst>
                <a:path w="2180" h="324">
                  <a:moveTo>
                    <a:pt x="1920" y="6"/>
                  </a:moveTo>
                  <a:moveTo>
                    <a:pt x="1920" y="6"/>
                  </a:moveTo>
                  <a:lnTo>
                    <a:pt x="4" y="6"/>
                  </a:lnTo>
                  <a:lnTo>
                    <a:pt x="260" y="318"/>
                  </a:lnTo>
                  <a:lnTo>
                    <a:pt x="2175" y="318"/>
                  </a:lnTo>
                  <a:lnTo>
                    <a:pt x="1920" y="6"/>
                  </a:lnTo>
                  <a:close/>
                </a:path>
              </a:pathLst>
            </a:custGeom>
            <a:solidFill>
              <a:srgbClr val="C0C0C0">
                <a:alpha val="100000"/>
              </a:srgbClr>
            </a:solidFill>
            <a:ln cap="flat">
              <a:noFill/>
              <a:prstDash val="solid"/>
              <a:miter lim="0"/>
            </a:ln>
          </p:spPr>
          <p:txBody>
            <a:bodyPr rtlCol="0"/>
            <a:p>
              <a:pPr algn="ctr"/>
              <a:endParaRPr lang="zh-CN" altLang="en-US"/>
            </a:p>
          </p:txBody>
        </p:sp>
        <p:sp>
          <p:nvSpPr>
            <p:cNvPr id="1048919" name="path"/>
            <p:cNvSpPr/>
            <p:nvPr/>
          </p:nvSpPr>
          <p:spPr>
            <a:xfrm>
              <a:off x="0" y="1175"/>
              <a:ext cx="1384910" cy="1197871"/>
            </a:xfrm>
            <a:custGeom>
              <a:avLst/>
              <a:gdLst/>
              <a:ahLst/>
              <a:cxnLst/>
              <a:rect l="0" t="0" r="0" b="0"/>
              <a:pathLst>
                <a:path w="2180" h="1886">
                  <a:moveTo>
                    <a:pt x="2175" y="1880"/>
                  </a:moveTo>
                  <a:lnTo>
                    <a:pt x="1920" y="1567"/>
                  </a:lnTo>
                  <a:moveTo>
                    <a:pt x="2175" y="1880"/>
                  </a:moveTo>
                  <a:lnTo>
                    <a:pt x="1920" y="1567"/>
                  </a:lnTo>
                  <a:moveTo>
                    <a:pt x="1920" y="4"/>
                  </a:moveTo>
                  <a:lnTo>
                    <a:pt x="2175" y="316"/>
                  </a:lnTo>
                </a:path>
              </a:pathLst>
            </a:custGeom>
            <a:noFill/>
            <a:ln w="7002" cap="flat">
              <a:solidFill>
                <a:srgbClr val="000000">
                  <a:alpha val="100000"/>
                </a:srgbClr>
              </a:solidFill>
              <a:prstDash val="solid"/>
              <a:round/>
            </a:ln>
          </p:spPr>
          <p:txBody>
            <a:bodyPr rtlCol="0"/>
            <a:p>
              <a:pPr algn="ctr"/>
              <a:endParaRPr lang="zh-CN" altLang="en-US"/>
            </a:p>
          </p:txBody>
        </p:sp>
        <p:sp>
          <p:nvSpPr>
            <p:cNvPr id="1048920" name="path"/>
            <p:cNvSpPr/>
            <p:nvPr/>
          </p:nvSpPr>
          <p:spPr>
            <a:xfrm>
              <a:off x="1216629" y="43"/>
              <a:ext cx="168280" cy="1199002"/>
            </a:xfrm>
            <a:custGeom>
              <a:avLst/>
              <a:gdLst/>
              <a:ahLst/>
              <a:cxnLst/>
              <a:rect l="0" t="0" r="0" b="0"/>
              <a:pathLst>
                <a:path w="265" h="1888">
                  <a:moveTo>
                    <a:pt x="260" y="1882"/>
                  </a:moveTo>
                  <a:moveTo>
                    <a:pt x="260" y="1882"/>
                  </a:moveTo>
                  <a:lnTo>
                    <a:pt x="4" y="1569"/>
                  </a:lnTo>
                  <a:lnTo>
                    <a:pt x="4" y="6"/>
                  </a:lnTo>
                  <a:lnTo>
                    <a:pt x="260" y="318"/>
                  </a:lnTo>
                  <a:lnTo>
                    <a:pt x="260" y="1882"/>
                  </a:lnTo>
                  <a:close/>
                </a:path>
              </a:pathLst>
            </a:custGeom>
            <a:solidFill>
              <a:srgbClr val="C0C0C0">
                <a:alpha val="100000"/>
              </a:srgbClr>
            </a:solidFill>
            <a:ln cap="flat">
              <a:noFill/>
              <a:prstDash val="solid"/>
              <a:miter lim="0"/>
            </a:ln>
          </p:spPr>
          <p:txBody>
            <a:bodyPr rtlCol="0"/>
            <a:p>
              <a:pPr algn="ctr"/>
              <a:endParaRPr lang="zh-CN" altLang="en-US"/>
            </a:p>
          </p:txBody>
        </p:sp>
        <p:sp>
          <p:nvSpPr>
            <p:cNvPr id="1048921" name="path"/>
            <p:cNvSpPr/>
            <p:nvPr/>
          </p:nvSpPr>
          <p:spPr>
            <a:xfrm>
              <a:off x="0" y="0"/>
              <a:ext cx="1222894" cy="1000474"/>
            </a:xfrm>
            <a:custGeom>
              <a:avLst/>
              <a:gdLst/>
              <a:ahLst/>
              <a:cxnLst/>
              <a:rect l="0" t="0" r="0" b="0"/>
              <a:pathLst>
                <a:path w="1925" h="1575">
                  <a:moveTo>
                    <a:pt x="4" y="1569"/>
                  </a:moveTo>
                  <a:moveTo>
                    <a:pt x="4" y="1569"/>
                  </a:moveTo>
                  <a:lnTo>
                    <a:pt x="1920" y="1569"/>
                  </a:lnTo>
                  <a:lnTo>
                    <a:pt x="1920" y="6"/>
                  </a:lnTo>
                  <a:lnTo>
                    <a:pt x="4" y="6"/>
                  </a:lnTo>
                  <a:lnTo>
                    <a:pt x="4" y="1569"/>
                  </a:lnTo>
                  <a:close/>
                </a:path>
              </a:pathLst>
            </a:custGeom>
            <a:solidFill>
              <a:srgbClr val="FFFFFF">
                <a:alpha val="100000"/>
              </a:srgbClr>
            </a:solidFill>
            <a:ln cap="flat">
              <a:noFill/>
              <a:prstDash val="solid"/>
              <a:miter lim="0"/>
            </a:ln>
          </p:spPr>
          <p:txBody>
            <a:bodyPr rtlCol="0"/>
            <a:p>
              <a:pPr algn="ctr"/>
              <a:endParaRPr lang="zh-CN" altLang="en-US"/>
            </a:p>
          </p:txBody>
        </p:sp>
        <p:sp>
          <p:nvSpPr>
            <p:cNvPr id="1048922" name="path"/>
            <p:cNvSpPr/>
            <p:nvPr/>
          </p:nvSpPr>
          <p:spPr>
            <a:xfrm>
              <a:off x="695824" y="1094796"/>
              <a:ext cx="73872" cy="89913"/>
            </a:xfrm>
            <a:custGeom>
              <a:avLst/>
              <a:gdLst/>
              <a:ahLst/>
              <a:cxnLst/>
              <a:rect l="0" t="0" r="0" b="0"/>
              <a:pathLst>
                <a:path w="116" h="141">
                  <a:moveTo>
                    <a:pt x="116" y="141"/>
                  </a:moveTo>
                  <a:lnTo>
                    <a:pt x="58" y="0"/>
                  </a:lnTo>
                  <a:lnTo>
                    <a:pt x="0" y="141"/>
                  </a:lnTo>
                  <a:lnTo>
                    <a:pt x="116" y="141"/>
                  </a:lnTo>
                  <a:close/>
                </a:path>
              </a:pathLst>
            </a:custGeom>
            <a:solidFill>
              <a:srgbClr val="000000">
                <a:alpha val="100000"/>
              </a:srgbClr>
            </a:solidFill>
            <a:ln cap="flat">
              <a:noFill/>
              <a:prstDash val="solid"/>
              <a:miter lim="0"/>
            </a:ln>
          </p:spPr>
          <p:txBody>
            <a:bodyPr rtlCol="0"/>
            <a:p>
              <a:pPr algn="ctr"/>
              <a:endParaRPr lang="zh-CN" altLang="en-US"/>
            </a:p>
          </p:txBody>
        </p:sp>
      </p:grpSp>
      <p:sp>
        <p:nvSpPr>
          <p:cNvPr id="1048923" name="path"/>
          <p:cNvSpPr/>
          <p:nvPr/>
        </p:nvSpPr>
        <p:spPr>
          <a:xfrm>
            <a:off x="6217772" y="2144241"/>
            <a:ext cx="1052683" cy="1328104"/>
          </a:xfrm>
          <a:custGeom>
            <a:avLst/>
            <a:gdLst/>
            <a:ahLst/>
            <a:cxnLst/>
            <a:rect l="0" t="0" r="0" b="0"/>
            <a:pathLst>
              <a:path w="1657" h="2091">
                <a:moveTo>
                  <a:pt x="4" y="2091"/>
                </a:moveTo>
                <a:lnTo>
                  <a:pt x="4" y="6"/>
                </a:lnTo>
                <a:lnTo>
                  <a:pt x="1657" y="6"/>
                </a:lnTo>
              </a:path>
            </a:pathLst>
          </a:custGeom>
          <a:noFill/>
          <a:ln w="7002" cap="flat">
            <a:solidFill>
              <a:srgbClr val="000000">
                <a:alpha val="100000"/>
              </a:srgbClr>
            </a:solidFill>
            <a:prstDash val="solid"/>
            <a:round/>
          </a:ln>
        </p:spPr>
        <p:txBody>
          <a:bodyPr rtlCol="0"/>
          <a:p>
            <a:pPr algn="ctr"/>
            <a:endParaRPr lang="zh-CN" altLang="en-US"/>
          </a:p>
        </p:txBody>
      </p:sp>
      <p:sp>
        <p:nvSpPr>
          <p:cNvPr id="1048924" name="textbox 228"/>
          <p:cNvSpPr/>
          <p:nvPr/>
        </p:nvSpPr>
        <p:spPr>
          <a:xfrm>
            <a:off x="1572676" y="488157"/>
            <a:ext cx="3258820"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保密通信系统模型</a:t>
            </a:r>
            <a:endParaRPr lang="en-US" altLang="en-US" sz="3200" dirty="0"/>
          </a:p>
        </p:txBody>
      </p:sp>
      <p:sp>
        <p:nvSpPr>
          <p:cNvPr id="1048925" name="path"/>
          <p:cNvSpPr/>
          <p:nvPr/>
        </p:nvSpPr>
        <p:spPr>
          <a:xfrm>
            <a:off x="6542271" y="2973287"/>
            <a:ext cx="1225146" cy="1000474"/>
          </a:xfrm>
          <a:custGeom>
            <a:avLst/>
            <a:gdLst/>
            <a:ahLst/>
            <a:cxnLst/>
            <a:rect l="0" t="0" r="0" b="0"/>
            <a:pathLst>
              <a:path w="1929" h="1575">
                <a:moveTo>
                  <a:pt x="4" y="1569"/>
                </a:moveTo>
                <a:lnTo>
                  <a:pt x="1924" y="1569"/>
                </a:lnTo>
                <a:lnTo>
                  <a:pt x="1924" y="6"/>
                </a:lnTo>
                <a:lnTo>
                  <a:pt x="4" y="6"/>
                </a:lnTo>
                <a:lnTo>
                  <a:pt x="4" y="1569"/>
                </a:lnTo>
              </a:path>
            </a:pathLst>
          </a:custGeom>
          <a:noFill/>
          <a:ln w="7002" cap="flat">
            <a:solidFill>
              <a:srgbClr val="000000">
                <a:alpha val="100000"/>
              </a:srgbClr>
            </a:solidFill>
            <a:prstDash val="solid"/>
            <a:round/>
          </a:ln>
        </p:spPr>
        <p:txBody>
          <a:bodyPr rtlCol="0"/>
          <a:p>
            <a:pPr algn="ctr"/>
            <a:endParaRPr lang="zh-CN" altLang="en-US"/>
          </a:p>
        </p:txBody>
      </p:sp>
      <p:graphicFrame>
        <p:nvGraphicFramePr>
          <p:cNvPr id="4194313" name="table 232"/>
          <p:cNvGraphicFramePr>
            <a:graphicFrameLocks noGrp="1"/>
          </p:cNvGraphicFramePr>
          <p:nvPr/>
        </p:nvGraphicFramePr>
        <p:xfrm>
          <a:off x="3865124" y="2973287"/>
          <a:ext cx="1222375" cy="1000125"/>
        </p:xfrm>
        <a:graphic>
          <a:graphicData uri="http://schemas.openxmlformats.org/drawingml/2006/table">
            <a:tbl>
              <a:tblPr/>
              <a:tblGrid>
                <a:gridCol w="1222375"/>
              </a:tblGrid>
              <a:tr h="993775">
                <a:tc>
                  <a:txBody>
                    <a:bodyPr/>
                    <a:p>
                      <a:pPr algn="l" rtl="0" eaLnBrk="0">
                        <a:lnSpc>
                          <a:spcPct val="147000"/>
                        </a:lnSpc>
                      </a:pPr>
                      <a:endParaRPr lang="en-US" altLang="en-US" sz="1000" dirty="0"/>
                    </a:p>
                    <a:p>
                      <a:pPr marL="154940" indent="153670" algn="l" rtl="0" eaLnBrk="0">
                        <a:lnSpc>
                          <a:spcPct val="109000"/>
                        </a:lnSpc>
                        <a:spcBef>
                          <a:spcPts val="5"/>
                        </a:spcBef>
                      </a:pPr>
                      <a:r>
                        <a:rPr sz="1500" kern="0" spc="-1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加密器</a:t>
                      </a:r>
                      <a:r>
                        <a:rPr sz="15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600" i="1" kern="0" spc="10" dirty="0">
                          <a:solidFill>
                            <a:srgbClr val="000000">
                              <a:alpha val="100000"/>
                            </a:srgbClr>
                          </a:solidFill>
                          <a:latin typeface="Times New Roman" panose="02020603050405020304"/>
                          <a:ea typeface="Times New Roman" panose="02020603050405020304"/>
                          <a:cs typeface="Times New Roman" panose="02020603050405020304"/>
                        </a:rPr>
                        <a:t>c</a:t>
                      </a:r>
                      <a:r>
                        <a:rPr sz="1600" i="1" kern="0" spc="80" dirty="0">
                          <a:solidFill>
                            <a:srgbClr val="000000">
                              <a:alpha val="100000"/>
                            </a:srgbClr>
                          </a:solidFill>
                          <a:latin typeface="Times New Roman" panose="02020603050405020304"/>
                          <a:ea typeface="Times New Roman" panose="02020603050405020304"/>
                          <a:cs typeface="Times New Roman" panose="02020603050405020304"/>
                        </a:rPr>
                        <a:t> </a:t>
                      </a:r>
                      <a:r>
                        <a:rPr sz="1600" kern="0" spc="10" dirty="0">
                          <a:solidFill>
                            <a:srgbClr val="000000">
                              <a:alpha val="100000"/>
                            </a:srgbClr>
                          </a:solidFill>
                          <a:latin typeface="Symbol" panose="05050102010706020507"/>
                          <a:ea typeface="Symbol" panose="05050102010706020507"/>
                          <a:cs typeface="Symbol" panose="05050102010706020507"/>
                        </a:rPr>
                        <a:t>=</a:t>
                      </a:r>
                      <a:r>
                        <a:rPr sz="1600" kern="0" spc="70" dirty="0">
                          <a:solidFill>
                            <a:srgbClr val="000000">
                              <a:alpha val="100000"/>
                            </a:srgbClr>
                          </a:solidFill>
                          <a:latin typeface="Symbol" panose="05050102010706020507"/>
                          <a:ea typeface="Symbol" panose="05050102010706020507"/>
                          <a:cs typeface="Symbol" panose="05050102010706020507"/>
                        </a:rPr>
                        <a:t> </a:t>
                      </a:r>
                      <a:r>
                        <a:rPr sz="1600" i="1" kern="0" spc="0" dirty="0">
                          <a:solidFill>
                            <a:srgbClr val="000000">
                              <a:alpha val="100000"/>
                            </a:srgbClr>
                          </a:solidFill>
                          <a:latin typeface="Times New Roman" panose="02020603050405020304"/>
                          <a:ea typeface="Times New Roman" panose="02020603050405020304"/>
                          <a:cs typeface="Times New Roman" panose="02020603050405020304"/>
                        </a:rPr>
                        <a:t>E</a:t>
                      </a:r>
                      <a:r>
                        <a:rPr sz="1500" i="1" kern="0" spc="0" baseline="-31000" dirty="0">
                          <a:solidFill>
                            <a:srgbClr val="000000">
                              <a:alpha val="100000"/>
                            </a:srgbClr>
                          </a:solidFill>
                          <a:latin typeface="Times New Roman" panose="02020603050405020304"/>
                          <a:ea typeface="Times New Roman" panose="02020603050405020304"/>
                          <a:cs typeface="Times New Roman" panose="02020603050405020304"/>
                        </a:rPr>
                        <a:t>k</a:t>
                      </a:r>
                      <a:r>
                        <a:rPr sz="1000" kern="0" spc="10" baseline="-73000" dirty="0">
                          <a:solidFill>
                            <a:srgbClr val="000000">
                              <a:alpha val="100000"/>
                            </a:srgbClr>
                          </a:solidFill>
                          <a:latin typeface="Times New Roman" panose="02020603050405020304"/>
                          <a:ea typeface="Times New Roman" panose="02020603050405020304"/>
                          <a:cs typeface="Times New Roman" panose="02020603050405020304"/>
                        </a:rPr>
                        <a:t>1</a:t>
                      </a:r>
                      <a:r>
                        <a:rPr sz="600" kern="0" spc="20" dirty="0">
                          <a:solidFill>
                            <a:srgbClr val="000000">
                              <a:alpha val="100000"/>
                            </a:srgbClr>
                          </a:solidFill>
                          <a:latin typeface="Times New Roman" panose="02020603050405020304"/>
                          <a:ea typeface="Times New Roman" panose="02020603050405020304"/>
                          <a:cs typeface="Times New Roman" panose="02020603050405020304"/>
                        </a:rPr>
                        <a:t>  </a:t>
                      </a:r>
                      <a:r>
                        <a:rPr sz="2300" kern="0" spc="-130" dirty="0">
                          <a:solidFill>
                            <a:srgbClr val="000000">
                              <a:alpha val="100000"/>
                            </a:srgbClr>
                          </a:solidFill>
                          <a:latin typeface="Symbol" panose="05050102010706020507"/>
                          <a:ea typeface="Symbol" panose="05050102010706020507"/>
                          <a:cs typeface="Symbol" panose="05050102010706020507"/>
                        </a:rPr>
                        <a:t>(</a:t>
                      </a:r>
                      <a:r>
                        <a:rPr sz="1600" i="1" kern="0" spc="-130" dirty="0">
                          <a:solidFill>
                            <a:srgbClr val="000000">
                              <a:alpha val="100000"/>
                            </a:srgbClr>
                          </a:solidFill>
                          <a:latin typeface="Times New Roman" panose="02020603050405020304"/>
                          <a:ea typeface="Times New Roman" panose="02020603050405020304"/>
                          <a:cs typeface="Times New Roman" panose="02020603050405020304"/>
                        </a:rPr>
                        <a:t>m</a:t>
                      </a:r>
                      <a:r>
                        <a:rPr sz="2300" kern="0" spc="-130" dirty="0">
                          <a:solidFill>
                            <a:srgbClr val="000000">
                              <a:alpha val="100000"/>
                            </a:srgbClr>
                          </a:solidFill>
                          <a:latin typeface="Symbol" panose="05050102010706020507"/>
                          <a:ea typeface="Symbol" panose="05050102010706020507"/>
                          <a:cs typeface="Symbol" panose="05050102010706020507"/>
                        </a:rPr>
                        <a:t>)</a:t>
                      </a:r>
                      <a:endParaRPr lang="en-US" altLang="en-US" sz="23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1048926" name="path"/>
          <p:cNvSpPr/>
          <p:nvPr/>
        </p:nvSpPr>
        <p:spPr>
          <a:xfrm>
            <a:off x="6707942" y="3175644"/>
            <a:ext cx="1221509" cy="996688"/>
          </a:xfrm>
          <a:custGeom>
            <a:avLst/>
            <a:gdLst/>
            <a:ahLst/>
            <a:cxnLst/>
            <a:rect l="0" t="0" r="0" b="0"/>
            <a:pathLst>
              <a:path w="1923" h="1569">
                <a:moveTo>
                  <a:pt x="0" y="1563"/>
                </a:moveTo>
                <a:lnTo>
                  <a:pt x="1918" y="1563"/>
                </a:lnTo>
                <a:moveTo>
                  <a:pt x="1918" y="0"/>
                </a:moveTo>
                <a:lnTo>
                  <a:pt x="1918" y="1563"/>
                </a:lnTo>
              </a:path>
            </a:pathLst>
          </a:custGeom>
          <a:noFill/>
          <a:ln w="7002" cap="flat">
            <a:solidFill>
              <a:srgbClr val="000000">
                <a:alpha val="100000"/>
              </a:srgbClr>
            </a:solidFill>
            <a:prstDash val="solid"/>
            <a:round/>
          </a:ln>
        </p:spPr>
        <p:txBody>
          <a:bodyPr rtlCol="0"/>
          <a:p>
            <a:pPr algn="ctr"/>
            <a:endParaRPr lang="zh-CN" altLang="en-US"/>
          </a:p>
        </p:txBody>
      </p:sp>
      <p:sp>
        <p:nvSpPr>
          <p:cNvPr id="1048927" name="path"/>
          <p:cNvSpPr/>
          <p:nvPr/>
        </p:nvSpPr>
        <p:spPr>
          <a:xfrm>
            <a:off x="4030741" y="3175644"/>
            <a:ext cx="1219294" cy="996688"/>
          </a:xfrm>
          <a:custGeom>
            <a:avLst/>
            <a:gdLst/>
            <a:ahLst/>
            <a:cxnLst/>
            <a:rect l="0" t="0" r="0" b="0"/>
            <a:pathLst>
              <a:path w="1920" h="1569">
                <a:moveTo>
                  <a:pt x="0" y="1563"/>
                </a:moveTo>
                <a:lnTo>
                  <a:pt x="1915" y="1563"/>
                </a:lnTo>
                <a:moveTo>
                  <a:pt x="1915" y="0"/>
                </a:moveTo>
                <a:lnTo>
                  <a:pt x="1915" y="1563"/>
                </a:lnTo>
              </a:path>
            </a:pathLst>
          </a:custGeom>
          <a:noFill/>
          <a:ln w="7002" cap="flat">
            <a:solidFill>
              <a:srgbClr val="000000">
                <a:alpha val="100000"/>
              </a:srgbClr>
            </a:solidFill>
            <a:prstDash val="solid"/>
            <a:round/>
          </a:ln>
        </p:spPr>
        <p:txBody>
          <a:bodyPr rtlCol="0"/>
          <a:p>
            <a:pPr algn="ctr"/>
            <a:endParaRPr lang="zh-CN" altLang="en-US"/>
          </a:p>
        </p:txBody>
      </p:sp>
      <p:sp>
        <p:nvSpPr>
          <p:cNvPr id="1048928" name="path"/>
          <p:cNvSpPr/>
          <p:nvPr/>
        </p:nvSpPr>
        <p:spPr>
          <a:xfrm>
            <a:off x="4597885" y="2144241"/>
            <a:ext cx="977189" cy="1221714"/>
          </a:xfrm>
          <a:custGeom>
            <a:avLst/>
            <a:gdLst/>
            <a:ahLst/>
            <a:cxnLst/>
            <a:rect l="0" t="0" r="0" b="0"/>
            <a:pathLst>
              <a:path w="1538" h="1923">
                <a:moveTo>
                  <a:pt x="0" y="6"/>
                </a:moveTo>
                <a:lnTo>
                  <a:pt x="1533" y="6"/>
                </a:lnTo>
                <a:lnTo>
                  <a:pt x="1533" y="1923"/>
                </a:lnTo>
              </a:path>
            </a:pathLst>
          </a:custGeom>
          <a:noFill/>
          <a:ln w="7002" cap="flat">
            <a:solidFill>
              <a:srgbClr val="000000">
                <a:alpha val="100000"/>
              </a:srgbClr>
            </a:solidFill>
            <a:prstDash val="solid"/>
            <a:round/>
          </a:ln>
        </p:spPr>
        <p:txBody>
          <a:bodyPr rtlCol="0"/>
          <a:p>
            <a:pPr algn="ctr"/>
            <a:endParaRPr lang="zh-CN" altLang="en-US"/>
          </a:p>
        </p:txBody>
      </p:sp>
      <p:grpSp>
        <p:nvGrpSpPr>
          <p:cNvPr id="134" name="group 26"/>
          <p:cNvGrpSpPr/>
          <p:nvPr/>
        </p:nvGrpSpPr>
        <p:grpSpPr>
          <a:xfrm rot="21600000">
            <a:off x="6704791" y="4858453"/>
            <a:ext cx="1062681" cy="902853"/>
            <a:chOff x="0" y="0"/>
            <a:chExt cx="1062681" cy="902853"/>
          </a:xfrm>
        </p:grpSpPr>
        <p:sp>
          <p:nvSpPr>
            <p:cNvPr id="1048929" name="path"/>
            <p:cNvSpPr/>
            <p:nvPr/>
          </p:nvSpPr>
          <p:spPr>
            <a:xfrm>
              <a:off x="920" y="795348"/>
              <a:ext cx="86802" cy="106373"/>
            </a:xfrm>
            <a:custGeom>
              <a:avLst/>
              <a:gdLst/>
              <a:ahLst/>
              <a:cxnLst/>
              <a:rect l="0" t="0" r="0" b="0"/>
              <a:pathLst>
                <a:path w="136" h="167">
                  <a:moveTo>
                    <a:pt x="3" y="4"/>
                  </a:moveTo>
                  <a:lnTo>
                    <a:pt x="133" y="163"/>
                  </a:lnTo>
                </a:path>
              </a:pathLst>
            </a:custGeom>
            <a:noFill/>
            <a:ln w="7002" cap="flat">
              <a:solidFill>
                <a:srgbClr val="000000">
                  <a:alpha val="100000"/>
                </a:srgbClr>
              </a:solidFill>
              <a:prstDash val="solid"/>
              <a:round/>
            </a:ln>
          </p:spPr>
          <p:txBody>
            <a:bodyPr rtlCol="0"/>
            <a:p>
              <a:pPr algn="ctr"/>
              <a:endParaRPr lang="zh-CN" altLang="en-US"/>
            </a:p>
          </p:txBody>
        </p:sp>
        <p:sp>
          <p:nvSpPr>
            <p:cNvPr id="1048930" name="path"/>
            <p:cNvSpPr/>
            <p:nvPr/>
          </p:nvSpPr>
          <p:spPr>
            <a:xfrm>
              <a:off x="0" y="794216"/>
              <a:ext cx="1062681" cy="108636"/>
            </a:xfrm>
            <a:custGeom>
              <a:avLst/>
              <a:gdLst/>
              <a:ahLst/>
              <a:cxnLst/>
              <a:rect l="0" t="0" r="0" b="0"/>
              <a:pathLst>
                <a:path w="1673" h="171">
                  <a:moveTo>
                    <a:pt x="1538" y="6"/>
                  </a:moveTo>
                  <a:moveTo>
                    <a:pt x="1538" y="6"/>
                  </a:moveTo>
                  <a:lnTo>
                    <a:pt x="4" y="6"/>
                  </a:lnTo>
                  <a:lnTo>
                    <a:pt x="134" y="165"/>
                  </a:lnTo>
                  <a:lnTo>
                    <a:pt x="1668" y="165"/>
                  </a:lnTo>
                  <a:lnTo>
                    <a:pt x="1538" y="6"/>
                  </a:lnTo>
                  <a:close/>
                </a:path>
              </a:pathLst>
            </a:custGeom>
            <a:solidFill>
              <a:srgbClr val="C0C0C0">
                <a:alpha val="100000"/>
              </a:srgbClr>
            </a:solidFill>
            <a:ln cap="flat">
              <a:noFill/>
              <a:prstDash val="solid"/>
              <a:miter lim="0"/>
            </a:ln>
          </p:spPr>
          <p:txBody>
            <a:bodyPr rtlCol="0"/>
            <a:p>
              <a:pPr algn="ctr"/>
              <a:endParaRPr lang="zh-CN" altLang="en-US"/>
            </a:p>
          </p:txBody>
        </p:sp>
        <p:sp>
          <p:nvSpPr>
            <p:cNvPr id="1048931" name="path"/>
            <p:cNvSpPr/>
            <p:nvPr/>
          </p:nvSpPr>
          <p:spPr>
            <a:xfrm>
              <a:off x="0" y="1121"/>
              <a:ext cx="1062681" cy="901732"/>
            </a:xfrm>
            <a:custGeom>
              <a:avLst/>
              <a:gdLst/>
              <a:ahLst/>
              <a:cxnLst/>
              <a:rect l="0" t="0" r="0" b="0"/>
              <a:pathLst>
                <a:path w="1673" h="1420">
                  <a:moveTo>
                    <a:pt x="1668" y="1413"/>
                  </a:moveTo>
                  <a:lnTo>
                    <a:pt x="1538" y="1255"/>
                  </a:lnTo>
                  <a:moveTo>
                    <a:pt x="1668" y="1413"/>
                  </a:moveTo>
                  <a:lnTo>
                    <a:pt x="1538" y="1255"/>
                  </a:lnTo>
                  <a:moveTo>
                    <a:pt x="1538" y="4"/>
                  </a:moveTo>
                  <a:lnTo>
                    <a:pt x="1668" y="162"/>
                  </a:lnTo>
                </a:path>
              </a:pathLst>
            </a:custGeom>
            <a:noFill/>
            <a:ln w="7002" cap="flat">
              <a:solidFill>
                <a:srgbClr val="000000">
                  <a:alpha val="100000"/>
                </a:srgbClr>
              </a:solidFill>
              <a:prstDash val="solid"/>
              <a:round/>
            </a:ln>
          </p:spPr>
          <p:txBody>
            <a:bodyPr rtlCol="0"/>
            <a:p>
              <a:pPr algn="ctr"/>
              <a:endParaRPr lang="zh-CN" altLang="en-US"/>
            </a:p>
          </p:txBody>
        </p:sp>
        <p:sp>
          <p:nvSpPr>
            <p:cNvPr id="1048932" name="path"/>
            <p:cNvSpPr/>
            <p:nvPr/>
          </p:nvSpPr>
          <p:spPr>
            <a:xfrm>
              <a:off x="973859" y="0"/>
              <a:ext cx="88822" cy="902853"/>
            </a:xfrm>
            <a:custGeom>
              <a:avLst/>
              <a:gdLst/>
              <a:ahLst/>
              <a:cxnLst/>
              <a:rect l="0" t="0" r="0" b="0"/>
              <a:pathLst>
                <a:path w="139" h="1421">
                  <a:moveTo>
                    <a:pt x="134" y="1415"/>
                  </a:moveTo>
                  <a:moveTo>
                    <a:pt x="134" y="1415"/>
                  </a:moveTo>
                  <a:lnTo>
                    <a:pt x="4" y="1256"/>
                  </a:lnTo>
                  <a:lnTo>
                    <a:pt x="4" y="6"/>
                  </a:lnTo>
                  <a:lnTo>
                    <a:pt x="134" y="164"/>
                  </a:lnTo>
                  <a:lnTo>
                    <a:pt x="134" y="1415"/>
                  </a:lnTo>
                  <a:close/>
                </a:path>
              </a:pathLst>
            </a:custGeom>
            <a:solidFill>
              <a:srgbClr val="C0C0C0">
                <a:alpha val="100000"/>
              </a:srgbClr>
            </a:solidFill>
            <a:ln cap="flat">
              <a:noFill/>
              <a:prstDash val="solid"/>
              <a:miter lim="0"/>
            </a:ln>
          </p:spPr>
          <p:txBody>
            <a:bodyPr rtlCol="0"/>
            <a:p>
              <a:pPr algn="ctr"/>
              <a:endParaRPr lang="zh-CN" altLang="en-US"/>
            </a:p>
          </p:txBody>
        </p:sp>
      </p:grpSp>
      <p:grpSp>
        <p:nvGrpSpPr>
          <p:cNvPr id="135" name="group 28"/>
          <p:cNvGrpSpPr/>
          <p:nvPr/>
        </p:nvGrpSpPr>
        <p:grpSpPr>
          <a:xfrm rot="21600000">
            <a:off x="4107715" y="4858453"/>
            <a:ext cx="1062140" cy="902853"/>
            <a:chOff x="0" y="0"/>
            <a:chExt cx="1062140" cy="902853"/>
          </a:xfrm>
        </p:grpSpPr>
        <p:sp>
          <p:nvSpPr>
            <p:cNvPr id="1048933" name="path"/>
            <p:cNvSpPr/>
            <p:nvPr/>
          </p:nvSpPr>
          <p:spPr>
            <a:xfrm>
              <a:off x="919" y="795348"/>
              <a:ext cx="86802" cy="106373"/>
            </a:xfrm>
            <a:custGeom>
              <a:avLst/>
              <a:gdLst/>
              <a:ahLst/>
              <a:cxnLst/>
              <a:rect l="0" t="0" r="0" b="0"/>
              <a:pathLst>
                <a:path w="136" h="167">
                  <a:moveTo>
                    <a:pt x="3" y="4"/>
                  </a:moveTo>
                  <a:lnTo>
                    <a:pt x="133" y="163"/>
                  </a:lnTo>
                </a:path>
              </a:pathLst>
            </a:custGeom>
            <a:noFill/>
            <a:ln w="7002" cap="flat">
              <a:solidFill>
                <a:srgbClr val="000000">
                  <a:alpha val="100000"/>
                </a:srgbClr>
              </a:solidFill>
              <a:prstDash val="solid"/>
              <a:round/>
            </a:ln>
          </p:spPr>
          <p:txBody>
            <a:bodyPr rtlCol="0"/>
            <a:p>
              <a:pPr algn="ctr"/>
              <a:endParaRPr lang="zh-CN" altLang="en-US"/>
            </a:p>
          </p:txBody>
        </p:sp>
        <p:sp>
          <p:nvSpPr>
            <p:cNvPr id="1048934" name="path"/>
            <p:cNvSpPr/>
            <p:nvPr/>
          </p:nvSpPr>
          <p:spPr>
            <a:xfrm>
              <a:off x="0" y="794216"/>
              <a:ext cx="1062140" cy="108636"/>
            </a:xfrm>
            <a:custGeom>
              <a:avLst/>
              <a:gdLst/>
              <a:ahLst/>
              <a:cxnLst/>
              <a:rect l="0" t="0" r="0" b="0"/>
              <a:pathLst>
                <a:path w="1672" h="171">
                  <a:moveTo>
                    <a:pt x="1538" y="6"/>
                  </a:moveTo>
                  <a:moveTo>
                    <a:pt x="1538" y="6"/>
                  </a:moveTo>
                  <a:lnTo>
                    <a:pt x="4" y="6"/>
                  </a:lnTo>
                  <a:lnTo>
                    <a:pt x="134" y="165"/>
                  </a:lnTo>
                  <a:lnTo>
                    <a:pt x="1667" y="165"/>
                  </a:lnTo>
                  <a:lnTo>
                    <a:pt x="1538" y="6"/>
                  </a:lnTo>
                  <a:close/>
                </a:path>
              </a:pathLst>
            </a:custGeom>
            <a:solidFill>
              <a:srgbClr val="C0C0C0">
                <a:alpha val="100000"/>
              </a:srgbClr>
            </a:solidFill>
            <a:ln cap="flat">
              <a:noFill/>
              <a:prstDash val="solid"/>
              <a:miter lim="0"/>
            </a:ln>
          </p:spPr>
          <p:txBody>
            <a:bodyPr rtlCol="0"/>
            <a:p>
              <a:pPr algn="ctr"/>
              <a:endParaRPr lang="zh-CN" altLang="en-US"/>
            </a:p>
          </p:txBody>
        </p:sp>
        <p:sp>
          <p:nvSpPr>
            <p:cNvPr id="1048935" name="path"/>
            <p:cNvSpPr/>
            <p:nvPr/>
          </p:nvSpPr>
          <p:spPr>
            <a:xfrm>
              <a:off x="0" y="1133"/>
              <a:ext cx="1062140" cy="901720"/>
            </a:xfrm>
            <a:custGeom>
              <a:avLst/>
              <a:gdLst/>
              <a:ahLst/>
              <a:cxnLst/>
              <a:rect l="0" t="0" r="0" b="0"/>
              <a:pathLst>
                <a:path w="1672" h="1420">
                  <a:moveTo>
                    <a:pt x="1667" y="1413"/>
                  </a:moveTo>
                  <a:lnTo>
                    <a:pt x="1538" y="1255"/>
                  </a:lnTo>
                  <a:moveTo>
                    <a:pt x="1667" y="1413"/>
                  </a:moveTo>
                  <a:lnTo>
                    <a:pt x="1538" y="1255"/>
                  </a:lnTo>
                  <a:moveTo>
                    <a:pt x="1538" y="4"/>
                  </a:moveTo>
                  <a:lnTo>
                    <a:pt x="1667" y="162"/>
                  </a:lnTo>
                </a:path>
              </a:pathLst>
            </a:custGeom>
            <a:noFill/>
            <a:ln w="7002" cap="flat">
              <a:solidFill>
                <a:srgbClr val="000000">
                  <a:alpha val="100000"/>
                </a:srgbClr>
              </a:solidFill>
              <a:prstDash val="solid"/>
              <a:round/>
            </a:ln>
          </p:spPr>
          <p:txBody>
            <a:bodyPr rtlCol="0"/>
            <a:p>
              <a:pPr algn="ctr"/>
              <a:endParaRPr lang="zh-CN" altLang="en-US"/>
            </a:p>
          </p:txBody>
        </p:sp>
        <p:sp>
          <p:nvSpPr>
            <p:cNvPr id="1048936" name="path"/>
            <p:cNvSpPr/>
            <p:nvPr/>
          </p:nvSpPr>
          <p:spPr>
            <a:xfrm>
              <a:off x="974038" y="0"/>
              <a:ext cx="88101" cy="902853"/>
            </a:xfrm>
            <a:custGeom>
              <a:avLst/>
              <a:gdLst/>
              <a:ahLst/>
              <a:cxnLst/>
              <a:rect l="0" t="0" r="0" b="0"/>
              <a:pathLst>
                <a:path w="138" h="1421">
                  <a:moveTo>
                    <a:pt x="133" y="1415"/>
                  </a:moveTo>
                  <a:moveTo>
                    <a:pt x="133" y="1415"/>
                  </a:moveTo>
                  <a:lnTo>
                    <a:pt x="4" y="1256"/>
                  </a:lnTo>
                  <a:lnTo>
                    <a:pt x="4" y="6"/>
                  </a:lnTo>
                  <a:lnTo>
                    <a:pt x="133" y="164"/>
                  </a:lnTo>
                  <a:lnTo>
                    <a:pt x="133" y="1415"/>
                  </a:lnTo>
                  <a:close/>
                </a:path>
              </a:pathLst>
            </a:custGeom>
            <a:solidFill>
              <a:srgbClr val="C0C0C0">
                <a:alpha val="100000"/>
              </a:srgbClr>
            </a:solidFill>
            <a:ln cap="flat">
              <a:noFill/>
              <a:prstDash val="solid"/>
              <a:miter lim="0"/>
            </a:ln>
          </p:spPr>
          <p:txBody>
            <a:bodyPr rtlCol="0"/>
            <a:p>
              <a:pPr algn="ctr"/>
              <a:endParaRPr lang="zh-CN" altLang="en-US"/>
            </a:p>
          </p:txBody>
        </p:sp>
      </p:grpSp>
      <p:sp>
        <p:nvSpPr>
          <p:cNvPr id="1048937" name="path"/>
          <p:cNvSpPr/>
          <p:nvPr/>
        </p:nvSpPr>
        <p:spPr>
          <a:xfrm>
            <a:off x="4107715" y="4858449"/>
            <a:ext cx="980286" cy="801924"/>
          </a:xfrm>
          <a:custGeom>
            <a:avLst/>
            <a:gdLst/>
            <a:ahLst/>
            <a:cxnLst/>
            <a:rect l="0" t="0" r="0" b="0"/>
            <a:pathLst>
              <a:path w="1543" h="1262">
                <a:moveTo>
                  <a:pt x="4" y="1256"/>
                </a:moveTo>
                <a:lnTo>
                  <a:pt x="1538" y="1256"/>
                </a:lnTo>
                <a:lnTo>
                  <a:pt x="1538" y="6"/>
                </a:lnTo>
                <a:lnTo>
                  <a:pt x="4" y="6"/>
                </a:lnTo>
                <a:lnTo>
                  <a:pt x="4" y="1256"/>
                </a:lnTo>
              </a:path>
            </a:pathLst>
          </a:custGeom>
          <a:noFill/>
          <a:ln w="7002" cap="flat">
            <a:solidFill>
              <a:srgbClr val="000000">
                <a:alpha val="100000"/>
              </a:srgbClr>
            </a:solidFill>
            <a:prstDash val="solid"/>
            <a:round/>
          </a:ln>
        </p:spPr>
        <p:txBody>
          <a:bodyPr rtlCol="0"/>
          <a:p>
            <a:pPr algn="ctr"/>
            <a:endParaRPr lang="zh-CN" altLang="en-US"/>
          </a:p>
        </p:txBody>
      </p:sp>
      <p:sp>
        <p:nvSpPr>
          <p:cNvPr id="1048938" name="path"/>
          <p:cNvSpPr/>
          <p:nvPr/>
        </p:nvSpPr>
        <p:spPr>
          <a:xfrm>
            <a:off x="6704791" y="4858449"/>
            <a:ext cx="980285" cy="801924"/>
          </a:xfrm>
          <a:custGeom>
            <a:avLst/>
            <a:gdLst/>
            <a:ahLst/>
            <a:cxnLst/>
            <a:rect l="0" t="0" r="0" b="0"/>
            <a:pathLst>
              <a:path w="1543" h="1262">
                <a:moveTo>
                  <a:pt x="4" y="1256"/>
                </a:moveTo>
                <a:lnTo>
                  <a:pt x="1538" y="1256"/>
                </a:lnTo>
                <a:lnTo>
                  <a:pt x="1538" y="6"/>
                </a:lnTo>
                <a:lnTo>
                  <a:pt x="4" y="6"/>
                </a:lnTo>
                <a:lnTo>
                  <a:pt x="4" y="1256"/>
                </a:lnTo>
              </a:path>
            </a:pathLst>
          </a:custGeom>
          <a:noFill/>
          <a:ln w="7002" cap="flat">
            <a:solidFill>
              <a:srgbClr val="000000">
                <a:alpha val="100000"/>
              </a:srgbClr>
            </a:solidFill>
            <a:prstDash val="solid"/>
            <a:round/>
          </a:ln>
        </p:spPr>
        <p:txBody>
          <a:bodyPr rtlCol="0"/>
          <a:p>
            <a:pPr algn="ctr"/>
            <a:endParaRPr lang="zh-CN" altLang="en-US"/>
          </a:p>
        </p:txBody>
      </p:sp>
      <p:sp>
        <p:nvSpPr>
          <p:cNvPr id="1048939" name="path"/>
          <p:cNvSpPr/>
          <p:nvPr/>
        </p:nvSpPr>
        <p:spPr>
          <a:xfrm>
            <a:off x="6790283" y="4962681"/>
            <a:ext cx="977189" cy="798625"/>
          </a:xfrm>
          <a:custGeom>
            <a:avLst/>
            <a:gdLst/>
            <a:ahLst/>
            <a:cxnLst/>
            <a:rect l="0" t="0" r="0" b="0"/>
            <a:pathLst>
              <a:path w="1538" h="1257">
                <a:moveTo>
                  <a:pt x="0" y="1251"/>
                </a:moveTo>
                <a:lnTo>
                  <a:pt x="1533" y="1251"/>
                </a:lnTo>
                <a:moveTo>
                  <a:pt x="1533" y="0"/>
                </a:moveTo>
                <a:lnTo>
                  <a:pt x="1533" y="1251"/>
                </a:lnTo>
              </a:path>
            </a:pathLst>
          </a:custGeom>
          <a:noFill/>
          <a:ln w="7002" cap="flat">
            <a:solidFill>
              <a:srgbClr val="000000">
                <a:alpha val="100000"/>
              </a:srgbClr>
            </a:solidFill>
            <a:prstDash val="solid"/>
            <a:round/>
          </a:ln>
        </p:spPr>
        <p:txBody>
          <a:bodyPr rtlCol="0"/>
          <a:p>
            <a:pPr algn="ctr"/>
            <a:endParaRPr lang="zh-CN" altLang="en-US"/>
          </a:p>
        </p:txBody>
      </p:sp>
      <p:sp>
        <p:nvSpPr>
          <p:cNvPr id="1048940" name="path"/>
          <p:cNvSpPr/>
          <p:nvPr/>
        </p:nvSpPr>
        <p:spPr>
          <a:xfrm>
            <a:off x="4193207" y="4962681"/>
            <a:ext cx="976648" cy="798625"/>
          </a:xfrm>
          <a:custGeom>
            <a:avLst/>
            <a:gdLst/>
            <a:ahLst/>
            <a:cxnLst/>
            <a:rect l="0" t="0" r="0" b="0"/>
            <a:pathLst>
              <a:path w="1538" h="1257">
                <a:moveTo>
                  <a:pt x="0" y="1251"/>
                </a:moveTo>
                <a:lnTo>
                  <a:pt x="1533" y="1251"/>
                </a:lnTo>
                <a:moveTo>
                  <a:pt x="1533" y="0"/>
                </a:moveTo>
                <a:lnTo>
                  <a:pt x="1533" y="1251"/>
                </a:lnTo>
              </a:path>
            </a:pathLst>
          </a:custGeom>
          <a:noFill/>
          <a:ln w="7002" cap="flat">
            <a:solidFill>
              <a:srgbClr val="000000">
                <a:alpha val="100000"/>
              </a:srgbClr>
            </a:solidFill>
            <a:prstDash val="solid"/>
            <a:round/>
          </a:ln>
        </p:spPr>
        <p:txBody>
          <a:bodyPr rtlCol="0"/>
          <a:p>
            <a:pPr algn="ctr"/>
            <a:endParaRPr lang="zh-CN" altLang="en-US"/>
          </a:p>
        </p:txBody>
      </p:sp>
      <p:sp>
        <p:nvSpPr>
          <p:cNvPr id="1048941" name="path"/>
          <p:cNvSpPr/>
          <p:nvPr/>
        </p:nvSpPr>
        <p:spPr>
          <a:xfrm>
            <a:off x="7354150" y="1813398"/>
            <a:ext cx="1142319" cy="669609"/>
          </a:xfrm>
          <a:custGeom>
            <a:avLst/>
            <a:gdLst/>
            <a:ahLst/>
            <a:cxnLst/>
            <a:rect l="0" t="0" r="0" b="0"/>
            <a:pathLst>
              <a:path w="1798" h="1054">
                <a:moveTo>
                  <a:pt x="4" y="1048"/>
                </a:moveTo>
                <a:lnTo>
                  <a:pt x="1793" y="1048"/>
                </a:lnTo>
                <a:lnTo>
                  <a:pt x="1793" y="6"/>
                </a:lnTo>
                <a:lnTo>
                  <a:pt x="4" y="6"/>
                </a:lnTo>
                <a:lnTo>
                  <a:pt x="4" y="1048"/>
                </a:lnTo>
              </a:path>
            </a:pathLst>
          </a:custGeom>
          <a:noFill/>
          <a:ln w="7002" cap="flat">
            <a:solidFill>
              <a:srgbClr val="000000">
                <a:alpha val="100000"/>
              </a:srgbClr>
            </a:solidFill>
            <a:prstDash val="solid"/>
            <a:round/>
          </a:ln>
        </p:spPr>
        <p:txBody>
          <a:bodyPr rtlCol="0"/>
          <a:p>
            <a:pPr algn="ctr"/>
            <a:endParaRPr lang="zh-CN" altLang="en-US"/>
          </a:p>
        </p:txBody>
      </p:sp>
      <p:sp>
        <p:nvSpPr>
          <p:cNvPr id="1048942" name="textbox 268"/>
          <p:cNvSpPr/>
          <p:nvPr/>
        </p:nvSpPr>
        <p:spPr>
          <a:xfrm>
            <a:off x="4352550" y="4348273"/>
            <a:ext cx="558800" cy="1256030"/>
          </a:xfrm>
          <a:prstGeom prst="rect">
            <a:avLst/>
          </a:prstGeom>
        </p:spPr>
        <p:txBody>
          <a:bodyPr vert="horz" wrap="square" lIns="0" tIns="0" rIns="0" bIns="0"/>
          <a:p>
            <a:pPr algn="l" rtl="0" eaLnBrk="0">
              <a:lnSpc>
                <a:spcPct val="92000"/>
              </a:lnSpc>
            </a:pPr>
            <a:endParaRPr lang="en-US" altLang="en-US" sz="100" dirty="0"/>
          </a:p>
          <a:p>
            <a:pPr marL="334010" algn="l" rtl="0" eaLnBrk="0">
              <a:lnSpc>
                <a:spcPct val="100000"/>
              </a:lnSpc>
            </a:pPr>
            <a:r>
              <a:rPr sz="2000" i="1" kern="0" spc="-100" dirty="0">
                <a:solidFill>
                  <a:srgbClr val="000000">
                    <a:alpha val="100000"/>
                  </a:srgbClr>
                </a:solidFill>
                <a:latin typeface="Times New Roman" panose="02020603050405020304"/>
                <a:ea typeface="Times New Roman" panose="02020603050405020304"/>
                <a:cs typeface="Times New Roman" panose="02020603050405020304"/>
              </a:rPr>
              <a:t>k</a:t>
            </a:r>
            <a:r>
              <a:rPr sz="1800" kern="0" spc="0" baseline="-23000" dirty="0">
                <a:solidFill>
                  <a:srgbClr val="000000">
                    <a:alpha val="100000"/>
                  </a:srgbClr>
                </a:solidFill>
                <a:latin typeface="Times New Roman" panose="02020603050405020304"/>
                <a:ea typeface="Times New Roman" panose="02020603050405020304"/>
                <a:cs typeface="Times New Roman" panose="02020603050405020304"/>
              </a:rPr>
              <a:t>1</a:t>
            </a:r>
            <a:endParaRPr lang="en-US" altLang="en-US" sz="1800" baseline="-23000" dirty="0"/>
          </a:p>
          <a:p>
            <a:pPr algn="l" rtl="0" eaLnBrk="0">
              <a:lnSpc>
                <a:spcPct val="149000"/>
              </a:lnSpc>
            </a:pPr>
            <a:endParaRPr lang="en-US" altLang="en-US" sz="1000" dirty="0"/>
          </a:p>
          <a:p>
            <a:pPr algn="r" rtl="0" eaLnBrk="0">
              <a:lnSpc>
                <a:spcPct val="96000"/>
              </a:lnSpc>
              <a:spcBef>
                <a:spcPts val="455"/>
              </a:spcBef>
            </a:pPr>
            <a:r>
              <a:rPr sz="1500" kern="0" spc="-1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密钥</a:t>
            </a:r>
            <a:r>
              <a:rPr sz="15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源</a:t>
            </a:r>
            <a:endParaRPr lang="en-US" altLang="en-US" sz="1500" dirty="0"/>
          </a:p>
          <a:p>
            <a:pPr marL="144780" algn="l" rtl="0" eaLnBrk="0">
              <a:lnSpc>
                <a:spcPts val="3310"/>
              </a:lnSpc>
            </a:pPr>
            <a:r>
              <a:rPr sz="3200" i="1" kern="0" spc="-120" baseline="-10000" dirty="0">
                <a:solidFill>
                  <a:srgbClr val="000000">
                    <a:alpha val="100000"/>
                  </a:srgbClr>
                </a:solidFill>
                <a:latin typeface="Times New Roman" panose="02020603050405020304"/>
                <a:ea typeface="Times New Roman" panose="02020603050405020304"/>
                <a:cs typeface="Times New Roman" panose="02020603050405020304"/>
              </a:rPr>
              <a:t>K</a:t>
            </a:r>
            <a:r>
              <a:rPr sz="1800" kern="0" spc="0" baseline="-43000" dirty="0">
                <a:solidFill>
                  <a:srgbClr val="000000">
                    <a:alpha val="100000"/>
                  </a:srgbClr>
                </a:solidFill>
                <a:latin typeface="Times New Roman" panose="02020603050405020304"/>
                <a:ea typeface="Times New Roman" panose="02020603050405020304"/>
                <a:cs typeface="Times New Roman" panose="02020603050405020304"/>
              </a:rPr>
              <a:t>1</a:t>
            </a:r>
            <a:endParaRPr lang="en-US" altLang="en-US" sz="1800" baseline="-43000" dirty="0"/>
          </a:p>
        </p:txBody>
      </p:sp>
      <p:graphicFrame>
        <p:nvGraphicFramePr>
          <p:cNvPr id="4194314" name="table 270"/>
          <p:cNvGraphicFramePr>
            <a:graphicFrameLocks noGrp="1"/>
          </p:cNvGraphicFramePr>
          <p:nvPr/>
        </p:nvGraphicFramePr>
        <p:xfrm>
          <a:off x="8490168" y="3137211"/>
          <a:ext cx="817244" cy="669925"/>
        </p:xfrm>
        <a:graphic>
          <a:graphicData uri="http://schemas.openxmlformats.org/drawingml/2006/table">
            <a:tbl>
              <a:tblPr/>
              <a:tblGrid>
                <a:gridCol w="817244"/>
              </a:tblGrid>
              <a:tr h="663575">
                <a:tc>
                  <a:txBody>
                    <a:bodyPr/>
                    <a:p>
                      <a:pPr algn="l" rtl="0" eaLnBrk="0">
                        <a:lnSpc>
                          <a:spcPct val="139000"/>
                        </a:lnSpc>
                      </a:pPr>
                      <a:endParaRPr lang="en-US" altLang="en-US" sz="1000" dirty="0"/>
                    </a:p>
                    <a:p>
                      <a:pPr algn="l" rtl="0" eaLnBrk="0">
                        <a:lnSpc>
                          <a:spcPct val="7000"/>
                        </a:lnSpc>
                      </a:pPr>
                      <a:endParaRPr lang="en-US" altLang="en-US" sz="100" dirty="0"/>
                    </a:p>
                    <a:p>
                      <a:pPr marL="134620" algn="l" rtl="0" eaLnBrk="0">
                        <a:lnSpc>
                          <a:spcPts val="1950"/>
                        </a:lnSpc>
                      </a:pPr>
                      <a:r>
                        <a:rPr sz="1600" kern="0" spc="-1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接收者</a:t>
                      </a:r>
                      <a:endParaRPr lang="en-US" altLang="en-US" sz="16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194315" name="table 272"/>
          <p:cNvGraphicFramePr>
            <a:graphicFrameLocks noGrp="1"/>
          </p:cNvGraphicFramePr>
          <p:nvPr/>
        </p:nvGraphicFramePr>
        <p:xfrm>
          <a:off x="2484696" y="3137211"/>
          <a:ext cx="817245" cy="669925"/>
        </p:xfrm>
        <a:graphic>
          <a:graphicData uri="http://schemas.openxmlformats.org/drawingml/2006/table">
            <a:tbl>
              <a:tblPr/>
              <a:tblGrid>
                <a:gridCol w="817245"/>
              </a:tblGrid>
              <a:tr h="663575">
                <a:tc>
                  <a:txBody>
                    <a:bodyPr/>
                    <a:p>
                      <a:pPr algn="l" rtl="0" eaLnBrk="0">
                        <a:lnSpc>
                          <a:spcPct val="114000"/>
                        </a:lnSpc>
                      </a:pPr>
                      <a:endParaRPr lang="en-US" altLang="en-US" sz="600" dirty="0"/>
                    </a:p>
                    <a:p>
                      <a:pPr marL="226060" algn="l" rtl="0" eaLnBrk="0">
                        <a:lnSpc>
                          <a:spcPts val="1950"/>
                        </a:lnSpc>
                      </a:pPr>
                      <a:r>
                        <a:rPr sz="16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信源</a:t>
                      </a:r>
                      <a:endParaRPr lang="en-US" altLang="en-US" sz="1600" dirty="0"/>
                    </a:p>
                    <a:p>
                      <a:pPr marL="316865" algn="l" rtl="0" eaLnBrk="0">
                        <a:lnSpc>
                          <a:spcPct val="76000"/>
                        </a:lnSpc>
                        <a:spcBef>
                          <a:spcPts val="475"/>
                        </a:spcBef>
                      </a:pPr>
                      <a:r>
                        <a:rPr sz="1700" i="1" kern="0" spc="-10" dirty="0">
                          <a:solidFill>
                            <a:srgbClr val="000000">
                              <a:alpha val="100000"/>
                            </a:srgbClr>
                          </a:solidFill>
                          <a:latin typeface="Arial" panose="020B0604020202020204"/>
                          <a:ea typeface="Arial" panose="020B0604020202020204"/>
                          <a:cs typeface="Arial" panose="020B0604020202020204"/>
                        </a:rPr>
                        <a:t>M</a:t>
                      </a:r>
                      <a:endParaRPr lang="en-US" altLang="en-US" sz="17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graphicFrame>
        <p:nvGraphicFramePr>
          <p:cNvPr id="4194316" name="table 274"/>
          <p:cNvGraphicFramePr>
            <a:graphicFrameLocks noGrp="1"/>
          </p:cNvGraphicFramePr>
          <p:nvPr/>
        </p:nvGraphicFramePr>
        <p:xfrm>
          <a:off x="3783198" y="1813398"/>
          <a:ext cx="817245" cy="669290"/>
        </p:xfrm>
        <a:graphic>
          <a:graphicData uri="http://schemas.openxmlformats.org/drawingml/2006/table">
            <a:tbl>
              <a:tblPr/>
              <a:tblGrid>
                <a:gridCol w="817245"/>
              </a:tblGrid>
              <a:tr h="662940">
                <a:tc>
                  <a:txBody>
                    <a:bodyPr/>
                    <a:p>
                      <a:pPr algn="l" rtl="0" eaLnBrk="0">
                        <a:lnSpc>
                          <a:spcPct val="118000"/>
                        </a:lnSpc>
                      </a:pPr>
                      <a:endParaRPr lang="en-US" altLang="en-US" sz="200" dirty="0"/>
                    </a:p>
                    <a:p>
                      <a:pPr marL="156210" indent="93980" algn="l" rtl="0" eaLnBrk="0">
                        <a:lnSpc>
                          <a:spcPct val="112000"/>
                        </a:lnSpc>
                        <a:spcBef>
                          <a:spcPts val="0"/>
                        </a:spcBef>
                      </a:pPr>
                      <a:r>
                        <a:rPr sz="1500" kern="0" spc="-1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非法</a:t>
                      </a:r>
                      <a:r>
                        <a:rPr sz="15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500" kern="0" spc="-1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接入着</a:t>
                      </a:r>
                      <a:endParaRPr lang="en-US" altLang="en-US" sz="15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1048943" name="textbox 276"/>
          <p:cNvSpPr/>
          <p:nvPr/>
        </p:nvSpPr>
        <p:spPr>
          <a:xfrm>
            <a:off x="7482051" y="1838212"/>
            <a:ext cx="918210" cy="537844"/>
          </a:xfrm>
          <a:prstGeom prst="rect">
            <a:avLst/>
          </a:prstGeom>
        </p:spPr>
        <p:txBody>
          <a:bodyPr vert="horz" wrap="square" lIns="0" tIns="0" rIns="0" bIns="0"/>
          <a:p>
            <a:pPr algn="l" rtl="0" eaLnBrk="0">
              <a:lnSpc>
                <a:spcPct val="84000"/>
              </a:lnSpc>
            </a:pPr>
            <a:endParaRPr lang="en-US" altLang="en-US" sz="100" dirty="0"/>
          </a:p>
          <a:p>
            <a:pPr marL="131445" indent="-119380" algn="l" rtl="0" eaLnBrk="0">
              <a:lnSpc>
                <a:spcPct val="112000"/>
              </a:lnSpc>
            </a:pPr>
            <a:r>
              <a:rPr sz="1500" kern="0" spc="-1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密码分析员</a:t>
            </a:r>
            <a:r>
              <a:rPr sz="1500" kern="0" spc="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500" kern="0" spc="-1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(窃听者)</a:t>
            </a:r>
            <a:endParaRPr lang="en-US" altLang="en-US" sz="1500" dirty="0"/>
          </a:p>
        </p:txBody>
      </p:sp>
      <p:sp>
        <p:nvSpPr>
          <p:cNvPr id="1048944"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
        <p:nvSpPr>
          <p:cNvPr id="1048945" name="textbox 280"/>
          <p:cNvSpPr/>
          <p:nvPr/>
        </p:nvSpPr>
        <p:spPr>
          <a:xfrm>
            <a:off x="4754901" y="1689360"/>
            <a:ext cx="787400" cy="434340"/>
          </a:xfrm>
          <a:prstGeom prst="rect">
            <a:avLst/>
          </a:prstGeom>
        </p:spPr>
        <p:txBody>
          <a:bodyPr vert="horz" wrap="square" lIns="0" tIns="0" rIns="0" bIns="0"/>
          <a:p>
            <a:pPr algn="l" rtl="0" eaLnBrk="0">
              <a:lnSpc>
                <a:spcPct val="75000"/>
              </a:lnSpc>
            </a:pPr>
            <a:endParaRPr lang="en-US" altLang="en-US" sz="100" dirty="0"/>
          </a:p>
          <a:p>
            <a:pPr marL="12700" indent="85090" algn="l" rtl="0" eaLnBrk="0">
              <a:lnSpc>
                <a:spcPct val="117000"/>
              </a:lnSpc>
            </a:pPr>
            <a:r>
              <a:rPr sz="1200"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搭线信道</a:t>
            </a:r>
            <a:r>
              <a:rPr sz="12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1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(主动攻击</a:t>
            </a:r>
            <a:r>
              <a:rPr sz="1100" kern="0" spc="1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1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lang="en-US" altLang="en-US" sz="1100" dirty="0"/>
          </a:p>
        </p:txBody>
      </p:sp>
      <p:sp>
        <p:nvSpPr>
          <p:cNvPr id="1048946" name="textbox 282"/>
          <p:cNvSpPr/>
          <p:nvPr/>
        </p:nvSpPr>
        <p:spPr>
          <a:xfrm>
            <a:off x="6325687" y="1689360"/>
            <a:ext cx="787400" cy="433705"/>
          </a:xfrm>
          <a:prstGeom prst="rect">
            <a:avLst/>
          </a:prstGeom>
        </p:spPr>
        <p:txBody>
          <a:bodyPr vert="horz" wrap="square" lIns="0" tIns="0" rIns="0" bIns="0"/>
          <a:p>
            <a:pPr algn="l" rtl="0" eaLnBrk="0">
              <a:lnSpc>
                <a:spcPct val="94000"/>
              </a:lnSpc>
            </a:pPr>
            <a:endParaRPr lang="en-US" altLang="en-US" sz="100" dirty="0"/>
          </a:p>
          <a:p>
            <a:pPr marL="12700" indent="85725" algn="l" rtl="0" eaLnBrk="0">
              <a:lnSpc>
                <a:spcPct val="116000"/>
              </a:lnSpc>
            </a:pPr>
            <a:r>
              <a:rPr sz="1200"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搭线信道</a:t>
            </a:r>
            <a:r>
              <a:rPr sz="1200" kern="0" spc="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1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(被动攻击</a:t>
            </a:r>
            <a:r>
              <a:rPr sz="1100" kern="0" spc="11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1100" kern="0" spc="-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lang="en-US" altLang="en-US" sz="1100" dirty="0"/>
          </a:p>
        </p:txBody>
      </p:sp>
      <p:pic>
        <p:nvPicPr>
          <p:cNvPr id="2097191" name="picture 284"/>
          <p:cNvPicPr>
            <a:picLocks noChangeAspect="1"/>
          </p:cNvPicPr>
          <p:nvPr/>
        </p:nvPicPr>
        <p:blipFill>
          <a:blip r:embed="rId1"/>
          <a:stretch>
            <a:fillRect/>
          </a:stretch>
        </p:blipFill>
        <p:spPr>
          <a:xfrm rot="21600000">
            <a:off x="824483" y="408431"/>
            <a:ext cx="419100" cy="655320"/>
          </a:xfrm>
          <a:prstGeom prst="rect">
            <a:avLst/>
          </a:prstGeom>
        </p:spPr>
      </p:pic>
      <p:sp>
        <p:nvSpPr>
          <p:cNvPr id="1048947"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1048948" name="textbox 288"/>
          <p:cNvSpPr/>
          <p:nvPr/>
        </p:nvSpPr>
        <p:spPr>
          <a:xfrm>
            <a:off x="3286647" y="3211410"/>
            <a:ext cx="594359" cy="383540"/>
          </a:xfrm>
          <a:prstGeom prst="rect">
            <a:avLst/>
          </a:prstGeom>
        </p:spPr>
        <p:txBody>
          <a:bodyPr vert="horz" wrap="square" lIns="0" tIns="0" rIns="0" bIns="0"/>
          <a:p>
            <a:pPr algn="l" rtl="0" eaLnBrk="0">
              <a:lnSpc>
                <a:spcPct val="85000"/>
              </a:lnSpc>
            </a:pPr>
            <a:endParaRPr lang="en-US" altLang="en-US" sz="100" dirty="0"/>
          </a:p>
          <a:p>
            <a:pPr marL="12700" algn="l" rtl="0" eaLnBrk="0">
              <a:lnSpc>
                <a:spcPct val="106000"/>
              </a:lnSpc>
              <a:tabLst>
                <a:tab pos="210820" algn="l"/>
                <a:tab pos="508000" algn="l"/>
              </a:tabLst>
            </a:pPr>
            <a:r>
              <a:rPr sz="1800" u="sng" kern="0" spc="0" dirty="0">
                <a:solidFill>
                  <a:srgbClr val="000000">
                    <a:alpha val="100000"/>
                  </a:srgbClr>
                </a:solidFill>
                <a:latin typeface="Times New Roman" panose="02020603050405020304"/>
                <a:ea typeface="Times New Roman" panose="02020603050405020304"/>
                <a:cs typeface="Times New Roman" panose="02020603050405020304"/>
              </a:rPr>
              <a:t>	</a:t>
            </a:r>
            <a:r>
              <a:rPr sz="1800" i="1" u="sng" kern="0" spc="-120" dirty="0">
                <a:solidFill>
                  <a:srgbClr val="000000">
                    <a:alpha val="100000"/>
                  </a:srgbClr>
                </a:solidFill>
                <a:latin typeface="Times New Roman" panose="02020603050405020304"/>
                <a:ea typeface="Times New Roman" panose="02020603050405020304"/>
                <a:cs typeface="Times New Roman" panose="02020603050405020304"/>
              </a:rPr>
              <a:t>m</a:t>
            </a:r>
            <a:r>
              <a:rPr sz="1800" i="1" u="sng" kern="0" spc="0" dirty="0">
                <a:solidFill>
                  <a:srgbClr val="000000">
                    <a:alpha val="100000"/>
                  </a:srgbClr>
                </a:solidFill>
                <a:latin typeface="Times New Roman" panose="02020603050405020304"/>
                <a:ea typeface="Times New Roman" panose="02020603050405020304"/>
                <a:cs typeface="Times New Roman" panose="02020603050405020304"/>
              </a:rPr>
              <a:t>	</a:t>
            </a:r>
            <a:endParaRPr lang="en-US" altLang="en-US" sz="1800" dirty="0"/>
          </a:p>
        </p:txBody>
      </p:sp>
      <p:sp>
        <p:nvSpPr>
          <p:cNvPr id="1048949" name="path"/>
          <p:cNvSpPr/>
          <p:nvPr/>
        </p:nvSpPr>
        <p:spPr>
          <a:xfrm>
            <a:off x="3793160" y="3427191"/>
            <a:ext cx="73368" cy="89869"/>
          </a:xfrm>
          <a:custGeom>
            <a:avLst/>
            <a:gdLst/>
            <a:ahLst/>
            <a:cxnLst/>
            <a:rect l="0" t="0" r="0" b="0"/>
            <a:pathLst>
              <a:path w="115" h="141">
                <a:moveTo>
                  <a:pt x="0" y="0"/>
                </a:moveTo>
                <a:lnTo>
                  <a:pt x="115" y="71"/>
                </a:lnTo>
                <a:lnTo>
                  <a:pt x="0" y="141"/>
                </a:lnTo>
                <a:lnTo>
                  <a:pt x="0" y="0"/>
                </a:lnTo>
                <a:close/>
              </a:path>
            </a:pathLst>
          </a:custGeom>
          <a:solidFill>
            <a:srgbClr val="000000">
              <a:alpha val="100000"/>
            </a:srgbClr>
          </a:solidFill>
          <a:ln cap="flat">
            <a:noFill/>
            <a:prstDash val="solid"/>
            <a:miter lim="0"/>
          </a:ln>
        </p:spPr>
        <p:txBody>
          <a:bodyPr rtlCol="0"/>
          <a:p>
            <a:pPr algn="ctr"/>
            <a:endParaRPr lang="zh-CN" altLang="en-US"/>
          </a:p>
        </p:txBody>
      </p:sp>
      <p:grpSp>
        <p:nvGrpSpPr>
          <p:cNvPr id="136" name="group 30"/>
          <p:cNvGrpSpPr/>
          <p:nvPr/>
        </p:nvGrpSpPr>
        <p:grpSpPr>
          <a:xfrm rot="21600000">
            <a:off x="9304838" y="3427191"/>
            <a:ext cx="569360" cy="89869"/>
            <a:chOff x="0" y="0"/>
            <a:chExt cx="569360" cy="89869"/>
          </a:xfrm>
        </p:grpSpPr>
        <p:sp>
          <p:nvSpPr>
            <p:cNvPr id="1048950" name="path"/>
            <p:cNvSpPr/>
            <p:nvPr/>
          </p:nvSpPr>
          <p:spPr>
            <a:xfrm>
              <a:off x="0" y="41303"/>
              <a:ext cx="504676" cy="7703"/>
            </a:xfrm>
            <a:custGeom>
              <a:avLst/>
              <a:gdLst/>
              <a:ahLst/>
              <a:cxnLst/>
              <a:rect l="0" t="0" r="0" b="0"/>
              <a:pathLst>
                <a:path w="794" h="12">
                  <a:moveTo>
                    <a:pt x="0" y="6"/>
                  </a:moveTo>
                  <a:lnTo>
                    <a:pt x="794" y="6"/>
                  </a:lnTo>
                </a:path>
              </a:pathLst>
            </a:custGeom>
            <a:noFill/>
            <a:ln w="7002" cap="flat">
              <a:solidFill>
                <a:srgbClr val="000000">
                  <a:alpha val="100000"/>
                </a:srgbClr>
              </a:solidFill>
              <a:prstDash val="solid"/>
              <a:round/>
            </a:ln>
          </p:spPr>
          <p:txBody>
            <a:bodyPr rtlCol="0"/>
            <a:p>
              <a:pPr algn="ctr"/>
              <a:endParaRPr lang="zh-CN" altLang="en-US"/>
            </a:p>
          </p:txBody>
        </p:sp>
        <p:sp>
          <p:nvSpPr>
            <p:cNvPr id="1048951" name="path"/>
            <p:cNvSpPr/>
            <p:nvPr/>
          </p:nvSpPr>
          <p:spPr>
            <a:xfrm>
              <a:off x="495668" y="0"/>
              <a:ext cx="73692" cy="89869"/>
            </a:xfrm>
            <a:custGeom>
              <a:avLst/>
              <a:gdLst/>
              <a:ahLst/>
              <a:cxnLst/>
              <a:rect l="0" t="0" r="0" b="0"/>
              <a:pathLst>
                <a:path w="116" h="141">
                  <a:moveTo>
                    <a:pt x="0" y="0"/>
                  </a:moveTo>
                  <a:lnTo>
                    <a:pt x="116" y="71"/>
                  </a:lnTo>
                  <a:lnTo>
                    <a:pt x="0" y="141"/>
                  </a:lnTo>
                  <a:lnTo>
                    <a:pt x="0" y="0"/>
                  </a:lnTo>
                  <a:close/>
                </a:path>
              </a:pathLst>
            </a:custGeom>
            <a:solidFill>
              <a:srgbClr val="000000">
                <a:alpha val="100000"/>
              </a:srgbClr>
            </a:solidFill>
            <a:ln cap="flat">
              <a:noFill/>
              <a:prstDash val="solid"/>
              <a:miter lim="0"/>
            </a:ln>
          </p:spPr>
          <p:txBody>
            <a:bodyPr rtlCol="0"/>
            <a:p>
              <a:pPr algn="ctr"/>
              <a:endParaRPr lang="zh-CN" altLang="en-US"/>
            </a:p>
          </p:txBody>
        </p:sp>
      </p:grpSp>
      <p:sp>
        <p:nvSpPr>
          <p:cNvPr id="1048952" name="textbox 296"/>
          <p:cNvSpPr/>
          <p:nvPr/>
        </p:nvSpPr>
        <p:spPr>
          <a:xfrm>
            <a:off x="8733635" y="1807936"/>
            <a:ext cx="217804" cy="329565"/>
          </a:xfrm>
          <a:prstGeom prst="rect">
            <a:avLst/>
          </a:prstGeom>
        </p:spPr>
        <p:txBody>
          <a:bodyPr vert="horz" wrap="square" lIns="0" tIns="0" rIns="0" bIns="0"/>
          <a:p>
            <a:pPr algn="l" rtl="0" eaLnBrk="0">
              <a:lnSpc>
                <a:spcPct val="83000"/>
              </a:lnSpc>
            </a:pPr>
            <a:endParaRPr lang="en-US" altLang="en-US" sz="100" dirty="0"/>
          </a:p>
          <a:p>
            <a:pPr marL="12700" algn="l" rtl="0" eaLnBrk="0">
              <a:lnSpc>
                <a:spcPts val="2395"/>
              </a:lnSpc>
            </a:pPr>
            <a:r>
              <a:rPr sz="1800" i="1" kern="0" spc="-120" dirty="0">
                <a:solidFill>
                  <a:srgbClr val="000000">
                    <a:alpha val="100000"/>
                  </a:srgbClr>
                </a:solidFill>
                <a:latin typeface="Times New Roman" panose="02020603050405020304"/>
                <a:ea typeface="Times New Roman" panose="02020603050405020304"/>
                <a:cs typeface="Times New Roman" panose="02020603050405020304"/>
              </a:rPr>
              <a:t>m</a:t>
            </a:r>
            <a:r>
              <a:rPr sz="1800" i="1" kern="0" spc="-10" dirty="0">
                <a:solidFill>
                  <a:srgbClr val="000000">
                    <a:alpha val="100000"/>
                  </a:srgbClr>
                </a:solidFill>
                <a:latin typeface="Times New Roman" panose="02020603050405020304"/>
                <a:ea typeface="Times New Roman" panose="02020603050405020304"/>
                <a:cs typeface="Times New Roman" panose="02020603050405020304"/>
              </a:rPr>
              <a:t> </a:t>
            </a:r>
            <a:endParaRPr lang="en-US" altLang="en-US" sz="1800" dirty="0"/>
          </a:p>
        </p:txBody>
      </p:sp>
      <p:pic>
        <p:nvPicPr>
          <p:cNvPr id="2097192" name="picture 298"/>
          <p:cNvPicPr>
            <a:picLocks noChangeAspect="1"/>
          </p:cNvPicPr>
          <p:nvPr/>
        </p:nvPicPr>
        <p:blipFill>
          <a:blip r:embed="rId2"/>
          <a:stretch>
            <a:fillRect/>
          </a:stretch>
        </p:blipFill>
        <p:spPr>
          <a:xfrm rot="21600000">
            <a:off x="8909162" y="1820636"/>
            <a:ext cx="27910" cy="77428"/>
          </a:xfrm>
          <a:prstGeom prst="rect">
            <a:avLst/>
          </a:prstGeom>
        </p:spPr>
      </p:pic>
      <p:sp>
        <p:nvSpPr>
          <p:cNvPr id="1048953" name="textbox 300"/>
          <p:cNvSpPr/>
          <p:nvPr/>
        </p:nvSpPr>
        <p:spPr>
          <a:xfrm>
            <a:off x="8075266" y="3211410"/>
            <a:ext cx="177164" cy="316865"/>
          </a:xfrm>
          <a:prstGeom prst="rect">
            <a:avLst/>
          </a:prstGeom>
        </p:spPr>
        <p:txBody>
          <a:bodyPr vert="horz" wrap="square" lIns="0" tIns="0" rIns="0" bIns="0"/>
          <a:p>
            <a:pPr algn="l" rtl="0" eaLnBrk="0">
              <a:lnSpc>
                <a:spcPct val="83000"/>
              </a:lnSpc>
            </a:pPr>
            <a:endParaRPr lang="en-US" altLang="en-US" sz="100" dirty="0"/>
          </a:p>
          <a:p>
            <a:pPr algn="r" rtl="0" eaLnBrk="0">
              <a:lnSpc>
                <a:spcPts val="2290"/>
              </a:lnSpc>
            </a:pPr>
            <a:r>
              <a:rPr sz="1800" i="1" kern="0" spc="-1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1800" dirty="0"/>
          </a:p>
        </p:txBody>
      </p:sp>
      <p:sp>
        <p:nvSpPr>
          <p:cNvPr id="1048954" name="textbox 302"/>
          <p:cNvSpPr/>
          <p:nvPr/>
        </p:nvSpPr>
        <p:spPr>
          <a:xfrm>
            <a:off x="5053185" y="2161054"/>
            <a:ext cx="158750" cy="328929"/>
          </a:xfrm>
          <a:prstGeom prst="rect">
            <a:avLst/>
          </a:prstGeom>
        </p:spPr>
        <p:txBody>
          <a:bodyPr vert="horz" wrap="square" lIns="0" tIns="0" rIns="0" bIns="0"/>
          <a:p>
            <a:pPr algn="l" rtl="0" eaLnBrk="0">
              <a:lnSpc>
                <a:spcPct val="83000"/>
              </a:lnSpc>
            </a:pPr>
            <a:endParaRPr lang="en-US" altLang="en-US" sz="100" dirty="0"/>
          </a:p>
          <a:p>
            <a:pPr marL="12700" algn="l" rtl="0" eaLnBrk="0">
              <a:lnSpc>
                <a:spcPts val="2385"/>
              </a:lnSpc>
            </a:pPr>
            <a:r>
              <a:rPr sz="1700" i="1" kern="0" spc="-60" dirty="0">
                <a:solidFill>
                  <a:srgbClr val="000000">
                    <a:alpha val="100000"/>
                  </a:srgbClr>
                </a:solidFill>
                <a:latin typeface="Times New Roman" panose="02020603050405020304"/>
                <a:ea typeface="Times New Roman" panose="02020603050405020304"/>
                <a:cs typeface="Times New Roman" panose="02020603050405020304"/>
              </a:rPr>
              <a:t>c</a:t>
            </a:r>
            <a:r>
              <a:rPr sz="1700" i="1" kern="0" spc="0" dirty="0">
                <a:solidFill>
                  <a:srgbClr val="000000">
                    <a:alpha val="100000"/>
                  </a:srgbClr>
                </a:solidFill>
                <a:latin typeface="Times New Roman" panose="02020603050405020304"/>
                <a:ea typeface="Times New Roman" panose="02020603050405020304"/>
                <a:cs typeface="Times New Roman" panose="02020603050405020304"/>
              </a:rPr>
              <a:t> </a:t>
            </a:r>
            <a:endParaRPr lang="en-US" altLang="en-US" sz="1700" dirty="0"/>
          </a:p>
        </p:txBody>
      </p:sp>
      <p:pic>
        <p:nvPicPr>
          <p:cNvPr id="2097193" name="picture 304"/>
          <p:cNvPicPr>
            <a:picLocks noChangeAspect="1"/>
          </p:cNvPicPr>
          <p:nvPr/>
        </p:nvPicPr>
        <p:blipFill>
          <a:blip r:embed="rId3"/>
          <a:stretch>
            <a:fillRect/>
          </a:stretch>
        </p:blipFill>
        <p:spPr>
          <a:xfrm rot="21600000">
            <a:off x="5168994" y="2173754"/>
            <a:ext cx="28145" cy="78078"/>
          </a:xfrm>
          <a:prstGeom prst="rect">
            <a:avLst/>
          </a:prstGeom>
        </p:spPr>
      </p:pic>
      <p:sp>
        <p:nvSpPr>
          <p:cNvPr id="1048955" name="path"/>
          <p:cNvSpPr/>
          <p:nvPr/>
        </p:nvSpPr>
        <p:spPr>
          <a:xfrm>
            <a:off x="5521835" y="3350537"/>
            <a:ext cx="99457" cy="121808"/>
          </a:xfrm>
          <a:custGeom>
            <a:avLst/>
            <a:gdLst/>
            <a:ahLst/>
            <a:cxnLst/>
            <a:rect l="0" t="0" r="0" b="0"/>
            <a:pathLst>
              <a:path w="156" h="191">
                <a:moveTo>
                  <a:pt x="156" y="0"/>
                </a:moveTo>
                <a:lnTo>
                  <a:pt x="78" y="191"/>
                </a:lnTo>
                <a:lnTo>
                  <a:pt x="0" y="0"/>
                </a:lnTo>
                <a:lnTo>
                  <a:pt x="156" y="0"/>
                </a:lnTo>
                <a:close/>
              </a:path>
            </a:pathLst>
          </a:custGeom>
          <a:solidFill>
            <a:srgbClr val="000000">
              <a:alpha val="100000"/>
            </a:srgbClr>
          </a:solidFill>
          <a:ln cap="flat">
            <a:noFill/>
            <a:prstDash val="solid"/>
            <a:miter lim="0"/>
          </a:ln>
        </p:spPr>
        <p:txBody>
          <a:bodyPr rtlCol="0"/>
          <a:p>
            <a:pPr algn="ctr"/>
            <a:endParaRPr lang="zh-CN" altLang="en-US"/>
          </a:p>
        </p:txBody>
      </p:sp>
      <p:sp>
        <p:nvSpPr>
          <p:cNvPr id="1048956" name="path"/>
          <p:cNvSpPr/>
          <p:nvPr/>
        </p:nvSpPr>
        <p:spPr>
          <a:xfrm>
            <a:off x="7257483" y="2087519"/>
            <a:ext cx="99817" cy="121367"/>
          </a:xfrm>
          <a:custGeom>
            <a:avLst/>
            <a:gdLst/>
            <a:ahLst/>
            <a:cxnLst/>
            <a:rect l="0" t="0" r="0" b="0"/>
            <a:pathLst>
              <a:path w="157" h="191">
                <a:moveTo>
                  <a:pt x="0" y="0"/>
                </a:moveTo>
                <a:lnTo>
                  <a:pt x="157" y="95"/>
                </a:lnTo>
                <a:lnTo>
                  <a:pt x="0" y="191"/>
                </a:lnTo>
                <a:lnTo>
                  <a:pt x="0" y="0"/>
                </a:lnTo>
                <a:close/>
              </a:path>
            </a:pathLst>
          </a:custGeom>
          <a:solidFill>
            <a:srgbClr val="000000">
              <a:alpha val="100000"/>
            </a:srgbClr>
          </a:solidFill>
          <a:ln cap="flat">
            <a:noFill/>
            <a:prstDash val="solid"/>
            <a:miter lim="0"/>
          </a:ln>
        </p:spPr>
        <p:txBody>
          <a:bodyPr rtlCol="0"/>
          <a:p>
            <a:pPr algn="ctr"/>
            <a:endParaRPr lang="zh-CN" altLang="en-US"/>
          </a:p>
        </p:txBody>
      </p:sp>
      <p:sp>
        <p:nvSpPr>
          <p:cNvPr id="1048957" name="path"/>
          <p:cNvSpPr/>
          <p:nvPr/>
        </p:nvSpPr>
        <p:spPr>
          <a:xfrm>
            <a:off x="5708318" y="5250050"/>
            <a:ext cx="402335" cy="18708"/>
          </a:xfrm>
          <a:custGeom>
            <a:avLst/>
            <a:gdLst/>
            <a:ahLst/>
            <a:cxnLst/>
            <a:rect l="0" t="0" r="0" b="0"/>
            <a:pathLst>
              <a:path w="633" h="29">
                <a:moveTo>
                  <a:pt x="0" y="14"/>
                </a:moveTo>
                <a:lnTo>
                  <a:pt x="19" y="14"/>
                </a:lnTo>
                <a:moveTo>
                  <a:pt x="122" y="14"/>
                </a:moveTo>
                <a:lnTo>
                  <a:pt x="143" y="14"/>
                </a:lnTo>
                <a:moveTo>
                  <a:pt x="245" y="14"/>
                </a:moveTo>
                <a:lnTo>
                  <a:pt x="265" y="14"/>
                </a:lnTo>
                <a:moveTo>
                  <a:pt x="367" y="14"/>
                </a:moveTo>
                <a:lnTo>
                  <a:pt x="388" y="14"/>
                </a:lnTo>
                <a:moveTo>
                  <a:pt x="490" y="14"/>
                </a:moveTo>
                <a:lnTo>
                  <a:pt x="511" y="14"/>
                </a:lnTo>
                <a:moveTo>
                  <a:pt x="612" y="14"/>
                </a:moveTo>
                <a:lnTo>
                  <a:pt x="633" y="14"/>
                </a:lnTo>
              </a:path>
            </a:pathLst>
          </a:custGeom>
          <a:noFill/>
          <a:ln w="17005" cap="flat">
            <a:solidFill>
              <a:srgbClr val="000000">
                <a:alpha val="100000"/>
              </a:srgbClr>
            </a:solidFill>
            <a:prstDash val="solid"/>
            <a:round/>
          </a:ln>
        </p:spPr>
        <p:txBody>
          <a:bodyPr rtlCol="0"/>
          <a:p>
            <a:pPr algn="ctr"/>
            <a:endParaRPr lang="zh-CN" altLang="en-US"/>
          </a:p>
        </p:txBody>
      </p:sp>
      <p:sp>
        <p:nvSpPr>
          <p:cNvPr id="1048958" name="path"/>
          <p:cNvSpPr/>
          <p:nvPr/>
        </p:nvSpPr>
        <p:spPr>
          <a:xfrm>
            <a:off x="5240578" y="5250050"/>
            <a:ext cx="402335" cy="18708"/>
          </a:xfrm>
          <a:custGeom>
            <a:avLst/>
            <a:gdLst/>
            <a:ahLst/>
            <a:cxnLst/>
            <a:rect l="0" t="0" r="0" b="0"/>
            <a:pathLst>
              <a:path w="633" h="29">
                <a:moveTo>
                  <a:pt x="0" y="14"/>
                </a:moveTo>
                <a:lnTo>
                  <a:pt x="20" y="14"/>
                </a:lnTo>
                <a:moveTo>
                  <a:pt x="122" y="14"/>
                </a:moveTo>
                <a:lnTo>
                  <a:pt x="143" y="14"/>
                </a:lnTo>
                <a:moveTo>
                  <a:pt x="245" y="14"/>
                </a:moveTo>
                <a:lnTo>
                  <a:pt x="265" y="14"/>
                </a:lnTo>
                <a:moveTo>
                  <a:pt x="368" y="14"/>
                </a:moveTo>
                <a:lnTo>
                  <a:pt x="388" y="14"/>
                </a:lnTo>
                <a:moveTo>
                  <a:pt x="490" y="14"/>
                </a:moveTo>
                <a:lnTo>
                  <a:pt x="511" y="14"/>
                </a:lnTo>
                <a:moveTo>
                  <a:pt x="613" y="14"/>
                </a:moveTo>
                <a:lnTo>
                  <a:pt x="633" y="14"/>
                </a:lnTo>
              </a:path>
            </a:pathLst>
          </a:custGeom>
          <a:noFill/>
          <a:ln w="17005" cap="flat">
            <a:solidFill>
              <a:srgbClr val="000000">
                <a:alpha val="100000"/>
              </a:srgbClr>
            </a:solidFill>
            <a:prstDash val="solid"/>
            <a:round/>
          </a:ln>
        </p:spPr>
        <p:txBody>
          <a:bodyPr rtlCol="0"/>
          <a:p>
            <a:pPr algn="ctr"/>
            <a:endParaRPr lang="zh-CN" altLang="en-US"/>
          </a:p>
        </p:txBody>
      </p:sp>
      <p:sp>
        <p:nvSpPr>
          <p:cNvPr id="1048959" name="rect"/>
          <p:cNvSpPr/>
          <p:nvPr/>
        </p:nvSpPr>
        <p:spPr>
          <a:xfrm>
            <a:off x="8493319" y="2144241"/>
            <a:ext cx="504135" cy="7703"/>
          </a:xfrm>
          <a:prstGeom prst="rect">
            <a:avLst/>
          </a:prstGeom>
          <a:solidFill>
            <a:srgbClr val="000000">
              <a:alpha val="100000"/>
            </a:srgbClr>
          </a:solidFill>
          <a:ln cap="flat">
            <a:noFill/>
            <a:prstDash val="solid"/>
            <a:miter lim="0"/>
          </a:ln>
        </p:spPr>
        <p:txBody>
          <a:bodyPr rtlCol="0"/>
          <a:p>
            <a:pPr algn="ctr"/>
            <a:endParaRPr lang="zh-CN" altLang="en-US"/>
          </a:p>
        </p:txBody>
      </p:sp>
      <p:sp>
        <p:nvSpPr>
          <p:cNvPr id="1048960" name="path"/>
          <p:cNvSpPr/>
          <p:nvPr/>
        </p:nvSpPr>
        <p:spPr>
          <a:xfrm>
            <a:off x="8988987" y="2102938"/>
            <a:ext cx="73692" cy="90530"/>
          </a:xfrm>
          <a:custGeom>
            <a:avLst/>
            <a:gdLst/>
            <a:ahLst/>
            <a:cxnLst/>
            <a:rect l="0" t="0" r="0" b="0"/>
            <a:pathLst>
              <a:path w="116" h="142">
                <a:moveTo>
                  <a:pt x="0" y="0"/>
                </a:moveTo>
                <a:lnTo>
                  <a:pt x="116" y="71"/>
                </a:lnTo>
                <a:lnTo>
                  <a:pt x="0" y="142"/>
                </a:lnTo>
                <a:lnTo>
                  <a:pt x="0" y="0"/>
                </a:lnTo>
                <a:close/>
              </a:path>
            </a:pathLst>
          </a:custGeom>
          <a:solidFill>
            <a:srgbClr val="000000">
              <a:alpha val="100000"/>
            </a:srgbClr>
          </a:solidFill>
          <a:ln cap="flat">
            <a:noFill/>
            <a:prstDash val="solid"/>
            <a:miter lim="0"/>
          </a:ln>
        </p:spPr>
        <p:txBody>
          <a:bodyPr rtlCol="0"/>
          <a:p>
            <a:pPr algn="ctr"/>
            <a:endParaRPr lang="zh-CN" altLang="en-US"/>
          </a:p>
        </p:txBody>
      </p:sp>
      <p:sp>
        <p:nvSpPr>
          <p:cNvPr id="1048961" name="path"/>
          <p:cNvSpPr/>
          <p:nvPr/>
        </p:nvSpPr>
        <p:spPr>
          <a:xfrm>
            <a:off x="7843960" y="3468494"/>
            <a:ext cx="586837" cy="7703"/>
          </a:xfrm>
          <a:custGeom>
            <a:avLst/>
            <a:gdLst/>
            <a:ahLst/>
            <a:cxnLst/>
            <a:rect l="0" t="0" r="0" b="0"/>
            <a:pathLst>
              <a:path w="924" h="12">
                <a:moveTo>
                  <a:pt x="0" y="6"/>
                </a:moveTo>
                <a:lnTo>
                  <a:pt x="924" y="6"/>
                </a:lnTo>
              </a:path>
            </a:pathLst>
          </a:custGeom>
          <a:noFill/>
          <a:ln w="7002" cap="flat">
            <a:solidFill>
              <a:srgbClr val="000000">
                <a:alpha val="100000"/>
              </a:srgbClr>
            </a:solidFill>
            <a:prstDash val="solid"/>
            <a:round/>
          </a:ln>
        </p:spPr>
        <p:txBody>
          <a:bodyPr rtlCol="0"/>
          <a:p>
            <a:pPr algn="ctr"/>
            <a:endParaRPr lang="zh-CN" altLang="en-US"/>
          </a:p>
        </p:txBody>
      </p:sp>
      <p:sp>
        <p:nvSpPr>
          <p:cNvPr id="1048962" name="path"/>
          <p:cNvSpPr/>
          <p:nvPr/>
        </p:nvSpPr>
        <p:spPr>
          <a:xfrm>
            <a:off x="8419987" y="3427191"/>
            <a:ext cx="73331" cy="89869"/>
          </a:xfrm>
          <a:custGeom>
            <a:avLst/>
            <a:gdLst/>
            <a:ahLst/>
            <a:cxnLst/>
            <a:rect l="0" t="0" r="0" b="0"/>
            <a:pathLst>
              <a:path w="115" h="141">
                <a:moveTo>
                  <a:pt x="0" y="0"/>
                </a:moveTo>
                <a:lnTo>
                  <a:pt x="115" y="71"/>
                </a:lnTo>
                <a:lnTo>
                  <a:pt x="0" y="141"/>
                </a:lnTo>
                <a:lnTo>
                  <a:pt x="0" y="0"/>
                </a:lnTo>
                <a:close/>
              </a:path>
            </a:pathLst>
          </a:custGeom>
          <a:solidFill>
            <a:srgbClr val="000000">
              <a:alpha val="100000"/>
            </a:srgbClr>
          </a:solidFill>
          <a:ln cap="flat">
            <a:noFill/>
            <a:prstDash val="solid"/>
            <a:miter lim="0"/>
          </a:ln>
        </p:spPr>
        <p:txBody>
          <a:bodyPr rtlCol="0"/>
          <a:p>
            <a:pPr algn="ctr"/>
            <a:endParaRPr lang="zh-CN" altLang="en-US"/>
          </a:p>
        </p:txBody>
      </p:sp>
      <p:sp>
        <p:nvSpPr>
          <p:cNvPr id="1048963" name="path"/>
          <p:cNvSpPr/>
          <p:nvPr/>
        </p:nvSpPr>
        <p:spPr>
          <a:xfrm>
            <a:off x="6175338" y="5250050"/>
            <a:ext cx="324679" cy="18708"/>
          </a:xfrm>
          <a:custGeom>
            <a:avLst/>
            <a:gdLst/>
            <a:ahLst/>
            <a:cxnLst/>
            <a:rect l="0" t="0" r="0" b="0"/>
            <a:pathLst>
              <a:path w="511" h="29">
                <a:moveTo>
                  <a:pt x="0" y="14"/>
                </a:moveTo>
                <a:lnTo>
                  <a:pt x="20" y="14"/>
                </a:lnTo>
                <a:moveTo>
                  <a:pt x="122" y="14"/>
                </a:moveTo>
                <a:lnTo>
                  <a:pt x="143" y="14"/>
                </a:lnTo>
                <a:moveTo>
                  <a:pt x="245" y="14"/>
                </a:moveTo>
                <a:lnTo>
                  <a:pt x="265" y="14"/>
                </a:lnTo>
                <a:moveTo>
                  <a:pt x="368" y="14"/>
                </a:moveTo>
                <a:lnTo>
                  <a:pt x="388" y="14"/>
                </a:lnTo>
                <a:moveTo>
                  <a:pt x="491" y="14"/>
                </a:moveTo>
                <a:lnTo>
                  <a:pt x="511" y="14"/>
                </a:lnTo>
              </a:path>
            </a:pathLst>
          </a:custGeom>
          <a:noFill/>
          <a:ln w="17005" cap="flat">
            <a:solidFill>
              <a:srgbClr val="000000">
                <a:alpha val="100000"/>
              </a:srgbClr>
            </a:solidFill>
            <a:prstDash val="solid"/>
            <a:round/>
          </a:ln>
        </p:spPr>
        <p:txBody>
          <a:bodyPr rtlCol="0"/>
          <a:p>
            <a:pPr algn="ctr"/>
            <a:endParaRPr lang="zh-CN" altLang="en-US"/>
          </a:p>
        </p:txBody>
      </p:sp>
      <p:sp>
        <p:nvSpPr>
          <p:cNvPr id="1048964" name="path"/>
          <p:cNvSpPr/>
          <p:nvPr/>
        </p:nvSpPr>
        <p:spPr>
          <a:xfrm>
            <a:off x="4594735" y="4147512"/>
            <a:ext cx="6301" cy="714792"/>
          </a:xfrm>
          <a:custGeom>
            <a:avLst/>
            <a:gdLst/>
            <a:ahLst/>
            <a:cxnLst/>
            <a:rect l="0" t="0" r="0" b="0"/>
            <a:pathLst>
              <a:path w="9" h="1125">
                <a:moveTo>
                  <a:pt x="4" y="0"/>
                </a:moveTo>
                <a:lnTo>
                  <a:pt x="4" y="1125"/>
                </a:lnTo>
              </a:path>
            </a:pathLst>
          </a:custGeom>
          <a:noFill/>
          <a:ln w="7002" cap="flat">
            <a:solidFill>
              <a:srgbClr val="000000">
                <a:alpha val="100000"/>
              </a:srgbClr>
            </a:solidFill>
            <a:prstDash val="solid"/>
            <a:round/>
          </a:ln>
        </p:spPr>
        <p:txBody>
          <a:bodyPr rtlCol="0"/>
          <a:p>
            <a:pPr algn="ctr"/>
            <a:endParaRPr lang="zh-CN" altLang="en-US"/>
          </a:p>
        </p:txBody>
      </p:sp>
      <p:sp>
        <p:nvSpPr>
          <p:cNvPr id="1048965" name="path"/>
          <p:cNvSpPr/>
          <p:nvPr/>
        </p:nvSpPr>
        <p:spPr>
          <a:xfrm>
            <a:off x="7191811" y="4147512"/>
            <a:ext cx="6301" cy="714792"/>
          </a:xfrm>
          <a:custGeom>
            <a:avLst/>
            <a:gdLst/>
            <a:ahLst/>
            <a:cxnLst/>
            <a:rect l="0" t="0" r="0" b="0"/>
            <a:pathLst>
              <a:path w="9" h="1125">
                <a:moveTo>
                  <a:pt x="4" y="0"/>
                </a:moveTo>
                <a:lnTo>
                  <a:pt x="4" y="1125"/>
                </a:lnTo>
              </a:path>
            </a:pathLst>
          </a:custGeom>
          <a:noFill/>
          <a:ln w="7002" cap="flat">
            <a:solidFill>
              <a:srgbClr val="000000">
                <a:alpha val="100000"/>
              </a:srgbClr>
            </a:solidFill>
            <a:prstDash val="solid"/>
            <a:round/>
          </a:ln>
        </p:spPr>
        <p:txBody>
          <a:bodyPr rtlCol="0"/>
          <a:p>
            <a:pPr algn="ctr"/>
            <a:endParaRPr lang="zh-CN" altLang="en-US"/>
          </a:p>
        </p:txBody>
      </p:sp>
      <p:sp>
        <p:nvSpPr>
          <p:cNvPr id="1048966" name="path"/>
          <p:cNvSpPr/>
          <p:nvPr/>
        </p:nvSpPr>
        <p:spPr>
          <a:xfrm>
            <a:off x="6565241" y="5250050"/>
            <a:ext cx="90809" cy="18708"/>
          </a:xfrm>
          <a:custGeom>
            <a:avLst/>
            <a:gdLst/>
            <a:ahLst/>
            <a:cxnLst/>
            <a:rect l="0" t="0" r="0" b="0"/>
            <a:pathLst>
              <a:path w="143" h="29">
                <a:moveTo>
                  <a:pt x="0" y="14"/>
                </a:moveTo>
                <a:lnTo>
                  <a:pt x="20" y="14"/>
                </a:lnTo>
                <a:moveTo>
                  <a:pt x="122" y="14"/>
                </a:moveTo>
                <a:lnTo>
                  <a:pt x="143" y="14"/>
                </a:lnTo>
              </a:path>
            </a:pathLst>
          </a:custGeom>
          <a:noFill/>
          <a:ln w="17005" cap="flat">
            <a:solidFill>
              <a:srgbClr val="000000">
                <a:alpha val="100000"/>
              </a:srgbClr>
            </a:solidFill>
            <a:prstDash val="solid"/>
            <a:round/>
          </a:ln>
        </p:spPr>
        <p:txBody>
          <a:bodyPr rtlCol="0"/>
          <a:p>
            <a:pPr algn="ctr"/>
            <a:endParaRPr lang="zh-CN" altLang="en-US"/>
          </a:p>
        </p:txBody>
      </p:sp>
      <p:sp>
        <p:nvSpPr>
          <p:cNvPr id="1048967" name="path"/>
          <p:cNvSpPr/>
          <p:nvPr/>
        </p:nvSpPr>
        <p:spPr>
          <a:xfrm>
            <a:off x="5084905" y="5250050"/>
            <a:ext cx="90809" cy="18708"/>
          </a:xfrm>
          <a:custGeom>
            <a:avLst/>
            <a:gdLst/>
            <a:ahLst/>
            <a:cxnLst/>
            <a:rect l="0" t="0" r="0" b="0"/>
            <a:pathLst>
              <a:path w="143" h="29">
                <a:moveTo>
                  <a:pt x="0" y="14"/>
                </a:moveTo>
                <a:lnTo>
                  <a:pt x="20" y="14"/>
                </a:lnTo>
                <a:moveTo>
                  <a:pt x="122" y="14"/>
                </a:moveTo>
                <a:lnTo>
                  <a:pt x="143" y="14"/>
                </a:lnTo>
              </a:path>
            </a:pathLst>
          </a:custGeom>
          <a:noFill/>
          <a:ln w="17005" cap="flat">
            <a:solidFill>
              <a:srgbClr val="000000">
                <a:alpha val="100000"/>
              </a:srgbClr>
            </a:solidFill>
            <a:prstDash val="solid"/>
            <a:round/>
          </a:ln>
        </p:spPr>
        <p:txBody>
          <a:bodyPr rtlCol="0"/>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37" name=""/>
        <p:cNvGrpSpPr/>
        <p:nvPr/>
      </p:nvGrpSpPr>
      <p:grpSpPr>
        <a:xfrm>
          <a:off x="0" y="0"/>
          <a:ext cx="0" cy="0"/>
          <a:chOff x="0" y="0"/>
          <a:chExt cx="0" cy="0"/>
        </a:xfrm>
      </p:grpSpPr>
      <p:grpSp>
        <p:nvGrpSpPr>
          <p:cNvPr id="138" name="group 32"/>
          <p:cNvGrpSpPr/>
          <p:nvPr/>
        </p:nvGrpSpPr>
        <p:grpSpPr>
          <a:xfrm rot="21600000">
            <a:off x="3508248" y="1591055"/>
            <a:ext cx="5864351" cy="812291"/>
            <a:chOff x="0" y="0"/>
            <a:chExt cx="5864351" cy="812291"/>
          </a:xfrm>
        </p:grpSpPr>
        <p:pic>
          <p:nvPicPr>
            <p:cNvPr id="2097194" name="picture 332"/>
            <p:cNvPicPr>
              <a:picLocks noChangeAspect="1"/>
            </p:cNvPicPr>
            <p:nvPr/>
          </p:nvPicPr>
          <p:blipFill>
            <a:blip r:embed="rId1"/>
            <a:stretch>
              <a:fillRect/>
            </a:stretch>
          </p:blipFill>
          <p:spPr>
            <a:xfrm rot="21600000">
              <a:off x="0" y="0"/>
              <a:ext cx="5864351" cy="812291"/>
            </a:xfrm>
            <a:prstGeom prst="rect">
              <a:avLst/>
            </a:prstGeom>
          </p:spPr>
        </p:pic>
        <p:sp>
          <p:nvSpPr>
            <p:cNvPr id="1048968" name="textbox 334"/>
            <p:cNvSpPr/>
            <p:nvPr/>
          </p:nvSpPr>
          <p:spPr>
            <a:xfrm>
              <a:off x="-12700" y="-12700"/>
              <a:ext cx="5890259" cy="874394"/>
            </a:xfrm>
            <a:prstGeom prst="rect">
              <a:avLst/>
            </a:prstGeom>
          </p:spPr>
          <p:txBody>
            <a:bodyPr vert="horz" wrap="square" lIns="0" tIns="0" rIns="0" bIns="0"/>
            <a:p>
              <a:pPr algn="l" rtl="0" eaLnBrk="0">
                <a:lnSpc>
                  <a:spcPct val="167000"/>
                </a:lnSpc>
              </a:pPr>
              <a:endParaRPr lang="en-US" altLang="en-US" sz="1000" dirty="0"/>
            </a:p>
            <a:p>
              <a:pPr algn="l" rtl="0" eaLnBrk="0">
                <a:lnSpc>
                  <a:spcPct val="10000"/>
                </a:lnSpc>
              </a:pPr>
              <a:endParaRPr lang="en-US" altLang="en-US" sz="100" dirty="0"/>
            </a:p>
            <a:p>
              <a:pPr marL="678180" algn="l" rtl="0" eaLnBrk="0">
                <a:lnSpc>
                  <a:spcPct val="93000"/>
                </a:lnSpc>
              </a:pPr>
              <a:r>
                <a:rPr sz="2400" kern="0" spc="-1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信息安全的基本属性</a:t>
              </a:r>
              <a:endParaRPr lang="en-US" altLang="en-US" sz="2400" dirty="0"/>
            </a:p>
          </p:txBody>
        </p:sp>
      </p:grpSp>
      <p:grpSp>
        <p:nvGrpSpPr>
          <p:cNvPr id="139" name="group 34"/>
          <p:cNvGrpSpPr/>
          <p:nvPr/>
        </p:nvGrpSpPr>
        <p:grpSpPr>
          <a:xfrm rot="21600000">
            <a:off x="3831335" y="3849623"/>
            <a:ext cx="5541264" cy="812292"/>
            <a:chOff x="0" y="0"/>
            <a:chExt cx="5541264" cy="812292"/>
          </a:xfrm>
        </p:grpSpPr>
        <p:pic>
          <p:nvPicPr>
            <p:cNvPr id="2097195" name="picture 336"/>
            <p:cNvPicPr>
              <a:picLocks noChangeAspect="1"/>
            </p:cNvPicPr>
            <p:nvPr/>
          </p:nvPicPr>
          <p:blipFill>
            <a:blip r:embed="rId2"/>
            <a:stretch>
              <a:fillRect/>
            </a:stretch>
          </p:blipFill>
          <p:spPr>
            <a:xfrm rot="21600000">
              <a:off x="0" y="0"/>
              <a:ext cx="5541264" cy="812292"/>
            </a:xfrm>
            <a:prstGeom prst="rect">
              <a:avLst/>
            </a:prstGeom>
          </p:spPr>
        </p:pic>
        <p:sp>
          <p:nvSpPr>
            <p:cNvPr id="1048969" name="textbox 338"/>
            <p:cNvSpPr/>
            <p:nvPr/>
          </p:nvSpPr>
          <p:spPr>
            <a:xfrm>
              <a:off x="-12700" y="-12700"/>
              <a:ext cx="5567045" cy="876935"/>
            </a:xfrm>
            <a:prstGeom prst="rect">
              <a:avLst/>
            </a:prstGeom>
          </p:spPr>
          <p:txBody>
            <a:bodyPr vert="horz" wrap="square" lIns="0" tIns="0" rIns="0" bIns="0"/>
            <a:p>
              <a:pPr algn="l" rtl="0" eaLnBrk="0">
                <a:lnSpc>
                  <a:spcPct val="167000"/>
                </a:lnSpc>
              </a:pPr>
              <a:endParaRPr lang="en-US" altLang="en-US" sz="1000" dirty="0"/>
            </a:p>
            <a:p>
              <a:pPr algn="l" rtl="0" eaLnBrk="0">
                <a:lnSpc>
                  <a:spcPct val="7000"/>
                </a:lnSpc>
              </a:pPr>
              <a:endParaRPr lang="en-US" altLang="en-US" sz="100" dirty="0"/>
            </a:p>
            <a:p>
              <a:pPr marL="692785" algn="l" rtl="0" eaLnBrk="0">
                <a:lnSpc>
                  <a:spcPct val="94000"/>
                </a:lnSpc>
              </a:pPr>
              <a:r>
                <a:rPr sz="2400" kern="0" spc="-3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密码算法的分类</a:t>
              </a:r>
              <a:endParaRPr lang="en-US" altLang="en-US" sz="2400" dirty="0"/>
            </a:p>
          </p:txBody>
        </p:sp>
      </p:grpSp>
      <p:grpSp>
        <p:nvGrpSpPr>
          <p:cNvPr id="140" name="group 36"/>
          <p:cNvGrpSpPr/>
          <p:nvPr/>
        </p:nvGrpSpPr>
        <p:grpSpPr>
          <a:xfrm rot="21600000">
            <a:off x="3878579" y="2758440"/>
            <a:ext cx="5507735" cy="813815"/>
            <a:chOff x="0" y="0"/>
            <a:chExt cx="5507735" cy="813815"/>
          </a:xfrm>
        </p:grpSpPr>
        <p:pic>
          <p:nvPicPr>
            <p:cNvPr id="2097196" name="picture 340"/>
            <p:cNvPicPr>
              <a:picLocks noChangeAspect="1"/>
            </p:cNvPicPr>
            <p:nvPr/>
          </p:nvPicPr>
          <p:blipFill>
            <a:blip r:embed="rId3"/>
            <a:stretch>
              <a:fillRect/>
            </a:stretch>
          </p:blipFill>
          <p:spPr>
            <a:xfrm rot="21600000">
              <a:off x="0" y="0"/>
              <a:ext cx="5507735" cy="813815"/>
            </a:xfrm>
            <a:prstGeom prst="rect">
              <a:avLst/>
            </a:prstGeom>
          </p:spPr>
        </p:pic>
        <p:sp>
          <p:nvSpPr>
            <p:cNvPr id="1048970" name="textbox 342"/>
            <p:cNvSpPr/>
            <p:nvPr/>
          </p:nvSpPr>
          <p:spPr>
            <a:xfrm>
              <a:off x="-12700" y="-12700"/>
              <a:ext cx="5533390" cy="879475"/>
            </a:xfrm>
            <a:prstGeom prst="rect">
              <a:avLst/>
            </a:prstGeom>
          </p:spPr>
          <p:txBody>
            <a:bodyPr vert="horz" wrap="square" lIns="0" tIns="0" rIns="0" bIns="0"/>
            <a:p>
              <a:pPr algn="l" rtl="0" eaLnBrk="0">
                <a:lnSpc>
                  <a:spcPct val="168000"/>
                </a:lnSpc>
              </a:pPr>
              <a:endParaRPr lang="en-US" altLang="en-US" sz="1000" dirty="0"/>
            </a:p>
            <a:p>
              <a:pPr algn="l" rtl="0" eaLnBrk="0">
                <a:lnSpc>
                  <a:spcPct val="7000"/>
                </a:lnSpc>
              </a:pPr>
              <a:endParaRPr lang="en-US" altLang="en-US" sz="100" dirty="0"/>
            </a:p>
            <a:p>
              <a:pPr marL="680720" algn="l" rtl="0" eaLnBrk="0">
                <a:lnSpc>
                  <a:spcPct val="94000"/>
                </a:lnSpc>
              </a:pPr>
              <a:r>
                <a:rPr sz="2400" kern="0" spc="-2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什么是密码学</a:t>
              </a:r>
              <a:endParaRPr lang="en-US" altLang="en-US" sz="2400" dirty="0"/>
            </a:p>
          </p:txBody>
        </p:sp>
      </p:grpSp>
      <p:grpSp>
        <p:nvGrpSpPr>
          <p:cNvPr id="141" name="group 38"/>
          <p:cNvGrpSpPr/>
          <p:nvPr/>
        </p:nvGrpSpPr>
        <p:grpSpPr>
          <a:xfrm rot="21600000">
            <a:off x="3508248" y="4972811"/>
            <a:ext cx="5864351" cy="812291"/>
            <a:chOff x="0" y="0"/>
            <a:chExt cx="5864351" cy="812291"/>
          </a:xfrm>
        </p:grpSpPr>
        <p:pic>
          <p:nvPicPr>
            <p:cNvPr id="2097197" name="picture 344"/>
            <p:cNvPicPr>
              <a:picLocks noChangeAspect="1"/>
            </p:cNvPicPr>
            <p:nvPr/>
          </p:nvPicPr>
          <p:blipFill>
            <a:blip r:embed="rId4"/>
            <a:stretch>
              <a:fillRect/>
            </a:stretch>
          </p:blipFill>
          <p:spPr>
            <a:xfrm rot="21600000">
              <a:off x="0" y="0"/>
              <a:ext cx="5864351" cy="812291"/>
            </a:xfrm>
            <a:prstGeom prst="rect">
              <a:avLst/>
            </a:prstGeom>
          </p:spPr>
        </p:pic>
        <p:sp>
          <p:nvSpPr>
            <p:cNvPr id="1048971" name="textbox 346"/>
            <p:cNvSpPr/>
            <p:nvPr/>
          </p:nvSpPr>
          <p:spPr>
            <a:xfrm>
              <a:off x="-12700" y="-12700"/>
              <a:ext cx="5890259" cy="874394"/>
            </a:xfrm>
            <a:prstGeom prst="rect">
              <a:avLst/>
            </a:prstGeom>
          </p:spPr>
          <p:txBody>
            <a:bodyPr vert="horz" wrap="square" lIns="0" tIns="0" rIns="0" bIns="0"/>
            <a:p>
              <a:pPr algn="l" rtl="0" eaLnBrk="0">
                <a:lnSpc>
                  <a:spcPct val="168000"/>
                </a:lnSpc>
              </a:pPr>
              <a:endParaRPr lang="en-US" altLang="en-US" sz="1000" dirty="0"/>
            </a:p>
            <a:p>
              <a:pPr marL="694055" algn="l" rtl="0" eaLnBrk="0">
                <a:lnSpc>
                  <a:spcPct val="93000"/>
                </a:lnSpc>
                <a:spcBef>
                  <a:spcPts val="0"/>
                </a:spcBef>
              </a:pPr>
              <a:r>
                <a:rPr sz="2400" kern="0" spc="-2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密码学的作用和地位</a:t>
              </a:r>
              <a:endParaRPr lang="en-US" altLang="en-US" sz="2400" dirty="0"/>
            </a:p>
          </p:txBody>
        </p:sp>
      </p:grpSp>
      <p:grpSp>
        <p:nvGrpSpPr>
          <p:cNvPr id="142" name="group 40"/>
          <p:cNvGrpSpPr/>
          <p:nvPr/>
        </p:nvGrpSpPr>
        <p:grpSpPr>
          <a:xfrm rot="21600000">
            <a:off x="2564257" y="1351661"/>
            <a:ext cx="1824862" cy="4514214"/>
            <a:chOff x="0" y="0"/>
            <a:chExt cx="1824862" cy="4514214"/>
          </a:xfrm>
        </p:grpSpPr>
        <p:sp>
          <p:nvSpPr>
            <p:cNvPr id="1048972" name="path"/>
            <p:cNvSpPr/>
            <p:nvPr/>
          </p:nvSpPr>
          <p:spPr>
            <a:xfrm>
              <a:off x="0" y="0"/>
              <a:ext cx="1283479" cy="4498352"/>
            </a:xfrm>
            <a:custGeom>
              <a:avLst/>
              <a:gdLst/>
              <a:ahLst/>
              <a:cxnLst/>
              <a:rect l="0" t="0" r="0" b="0"/>
              <a:pathLst>
                <a:path w="2021" h="7084">
                  <a:moveTo>
                    <a:pt x="320" y="4"/>
                  </a:moveTo>
                  <a:cubicBezTo>
                    <a:pt x="2213" y="1448"/>
                    <a:pt x="2577" y="4153"/>
                    <a:pt x="1134" y="6046"/>
                  </a:cubicBezTo>
                  <a:cubicBezTo>
                    <a:pt x="822" y="6455"/>
                    <a:pt x="439" y="6805"/>
                    <a:pt x="4" y="7079"/>
                  </a:cubicBezTo>
                  <a:lnTo>
                    <a:pt x="4" y="7079"/>
                  </a:lnTo>
                  <a:cubicBezTo>
                    <a:pt x="2018" y="5810"/>
                    <a:pt x="2622" y="3148"/>
                    <a:pt x="1353" y="1134"/>
                  </a:cubicBezTo>
                  <a:cubicBezTo>
                    <a:pt x="1079" y="699"/>
                    <a:pt x="729" y="316"/>
                    <a:pt x="320" y="4"/>
                  </a:cubicBezTo>
                </a:path>
              </a:pathLst>
            </a:custGeom>
            <a:noFill/>
            <a:ln w="6096" cap="flat">
              <a:solidFill>
                <a:srgbClr val="477BA9">
                  <a:alpha val="100000"/>
                </a:srgbClr>
              </a:solidFill>
              <a:prstDash val="solid"/>
              <a:miter lim="1000000"/>
            </a:ln>
          </p:spPr>
          <p:txBody>
            <a:bodyPr rtlCol="0"/>
            <a:p>
              <a:pPr algn="ctr"/>
              <a:endParaRPr lang="zh-CN" altLang="en-US"/>
            </a:p>
          </p:txBody>
        </p:sp>
        <p:sp>
          <p:nvSpPr>
            <p:cNvPr id="1048973" name="path"/>
            <p:cNvSpPr/>
            <p:nvPr/>
          </p:nvSpPr>
          <p:spPr>
            <a:xfrm>
              <a:off x="436498" y="137286"/>
              <a:ext cx="1014984" cy="1016508"/>
            </a:xfrm>
            <a:custGeom>
              <a:avLst/>
              <a:gdLst/>
              <a:ahLst/>
              <a:cxnLst/>
              <a:rect l="0" t="0" r="0" b="0"/>
              <a:pathLst>
                <a:path w="1598" h="1600">
                  <a:moveTo>
                    <a:pt x="0" y="800"/>
                  </a:moveTo>
                  <a:cubicBezTo>
                    <a:pt x="0" y="358"/>
                    <a:pt x="357" y="0"/>
                    <a:pt x="799" y="0"/>
                  </a:cubicBezTo>
                  <a:cubicBezTo>
                    <a:pt x="1240" y="0"/>
                    <a:pt x="1598" y="358"/>
                    <a:pt x="1598" y="800"/>
                  </a:cubicBezTo>
                  <a:cubicBezTo>
                    <a:pt x="1598" y="1242"/>
                    <a:pt x="1240" y="1600"/>
                    <a:pt x="799" y="1600"/>
                  </a:cubicBezTo>
                  <a:cubicBezTo>
                    <a:pt x="357"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8974" name="path"/>
            <p:cNvSpPr/>
            <p:nvPr/>
          </p:nvSpPr>
          <p:spPr>
            <a:xfrm>
              <a:off x="433450" y="134238"/>
              <a:ext cx="1021080" cy="1022603"/>
            </a:xfrm>
            <a:custGeom>
              <a:avLst/>
              <a:gdLst/>
              <a:ahLst/>
              <a:cxnLst/>
              <a:rect l="0" t="0" r="0" b="0"/>
              <a:pathLst>
                <a:path w="1608" h="1610">
                  <a:moveTo>
                    <a:pt x="4" y="805"/>
                  </a:moveTo>
                  <a:cubicBezTo>
                    <a:pt x="4" y="363"/>
                    <a:pt x="362" y="4"/>
                    <a:pt x="804" y="4"/>
                  </a:cubicBezTo>
                  <a:cubicBezTo>
                    <a:pt x="1245" y="4"/>
                    <a:pt x="1603" y="363"/>
                    <a:pt x="1603" y="805"/>
                  </a:cubicBezTo>
                  <a:cubicBezTo>
                    <a:pt x="1603" y="1247"/>
                    <a:pt x="1245" y="1605"/>
                    <a:pt x="804" y="1605"/>
                  </a:cubicBezTo>
                  <a:cubicBezTo>
                    <a:pt x="362"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8975" name="path"/>
            <p:cNvSpPr/>
            <p:nvPr/>
          </p:nvSpPr>
          <p:spPr>
            <a:xfrm>
              <a:off x="758063" y="2427858"/>
              <a:ext cx="1016508"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8976" name="path"/>
            <p:cNvSpPr/>
            <p:nvPr/>
          </p:nvSpPr>
          <p:spPr>
            <a:xfrm>
              <a:off x="755015" y="2424810"/>
              <a:ext cx="1022603" cy="1022604"/>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8977" name="path"/>
            <p:cNvSpPr/>
            <p:nvPr/>
          </p:nvSpPr>
          <p:spPr>
            <a:xfrm>
              <a:off x="805306" y="1306194"/>
              <a:ext cx="1016508" cy="1014983"/>
            </a:xfrm>
            <a:custGeom>
              <a:avLst/>
              <a:gdLst/>
              <a:ahLst/>
              <a:cxnLst/>
              <a:rect l="0" t="0" r="0" b="0"/>
              <a:pathLst>
                <a:path w="1600" h="1598">
                  <a:moveTo>
                    <a:pt x="0" y="799"/>
                  </a:moveTo>
                  <a:cubicBezTo>
                    <a:pt x="0" y="357"/>
                    <a:pt x="358" y="0"/>
                    <a:pt x="800" y="0"/>
                  </a:cubicBezTo>
                  <a:cubicBezTo>
                    <a:pt x="1242" y="0"/>
                    <a:pt x="1600" y="357"/>
                    <a:pt x="1600" y="799"/>
                  </a:cubicBezTo>
                  <a:cubicBezTo>
                    <a:pt x="1600" y="1240"/>
                    <a:pt x="1242" y="1598"/>
                    <a:pt x="800" y="1598"/>
                  </a:cubicBezTo>
                  <a:cubicBezTo>
                    <a:pt x="358" y="1598"/>
                    <a:pt x="0" y="1240"/>
                    <a:pt x="0" y="799"/>
                  </a:cubicBezTo>
                </a:path>
              </a:pathLst>
            </a:custGeom>
            <a:solidFill>
              <a:srgbClr val="FFFFFF">
                <a:alpha val="100000"/>
              </a:srgbClr>
            </a:solidFill>
            <a:ln cap="flat">
              <a:noFill/>
              <a:prstDash val="solid"/>
              <a:miter lim="0"/>
            </a:ln>
          </p:spPr>
          <p:txBody>
            <a:bodyPr rtlCol="0"/>
            <a:p>
              <a:pPr algn="ctr"/>
              <a:endParaRPr lang="zh-CN" altLang="en-US"/>
            </a:p>
          </p:txBody>
        </p:sp>
        <p:sp>
          <p:nvSpPr>
            <p:cNvPr id="1048978" name="path"/>
            <p:cNvSpPr/>
            <p:nvPr/>
          </p:nvSpPr>
          <p:spPr>
            <a:xfrm>
              <a:off x="802258" y="1303146"/>
              <a:ext cx="1022603" cy="1021079"/>
            </a:xfrm>
            <a:custGeom>
              <a:avLst/>
              <a:gdLst/>
              <a:ahLst/>
              <a:cxnLst/>
              <a:rect l="0" t="0" r="0" b="0"/>
              <a:pathLst>
                <a:path w="1610" h="1607">
                  <a:moveTo>
                    <a:pt x="4" y="803"/>
                  </a:moveTo>
                  <a:cubicBezTo>
                    <a:pt x="4" y="362"/>
                    <a:pt x="363" y="4"/>
                    <a:pt x="805" y="4"/>
                  </a:cubicBezTo>
                  <a:cubicBezTo>
                    <a:pt x="1247" y="4"/>
                    <a:pt x="1605" y="362"/>
                    <a:pt x="1605" y="803"/>
                  </a:cubicBezTo>
                  <a:cubicBezTo>
                    <a:pt x="1605" y="1245"/>
                    <a:pt x="1247" y="1603"/>
                    <a:pt x="805" y="1603"/>
                  </a:cubicBezTo>
                  <a:cubicBezTo>
                    <a:pt x="363" y="1603"/>
                    <a:pt x="4" y="1245"/>
                    <a:pt x="4" y="803"/>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8979" name="path"/>
            <p:cNvSpPr/>
            <p:nvPr/>
          </p:nvSpPr>
          <p:spPr>
            <a:xfrm>
              <a:off x="250570" y="3494658"/>
              <a:ext cx="1016507"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8980" name="path"/>
            <p:cNvSpPr/>
            <p:nvPr/>
          </p:nvSpPr>
          <p:spPr>
            <a:xfrm>
              <a:off x="247522" y="3491610"/>
              <a:ext cx="1022603"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8981" name="textbox 366"/>
          <p:cNvSpPr/>
          <p:nvPr/>
        </p:nvSpPr>
        <p:spPr>
          <a:xfrm>
            <a:off x="2745896" y="488157"/>
            <a:ext cx="4671059" cy="485775"/>
          </a:xfrm>
          <a:prstGeom prst="rect">
            <a:avLst/>
          </a:prstGeom>
        </p:spPr>
        <p:txBody>
          <a:bodyPr vert="horz" wrap="square" lIns="0" tIns="0" rIns="0" bIns="0"/>
          <a:p>
            <a:pPr algn="l" rtl="0" eaLnBrk="0">
              <a:lnSpc>
                <a:spcPct val="94000"/>
              </a:lnSpc>
            </a:pPr>
            <a:endParaRPr lang="en-US" altLang="en-US" sz="100" dirty="0"/>
          </a:p>
          <a:p>
            <a:pPr marL="12700" algn="l" rtl="0" eaLnBrk="0">
              <a:lnSpc>
                <a:spcPct val="94000"/>
              </a:lnSpc>
            </a:pPr>
            <a:r>
              <a:rPr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第一讲</a:t>
            </a:r>
            <a:r>
              <a:rPr sz="3200" kern="0" spc="42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密码学的基本概念</a:t>
            </a:r>
            <a:endParaRPr lang="en-US" altLang="en-US" sz="3200" dirty="0"/>
          </a:p>
        </p:txBody>
      </p:sp>
      <p:sp>
        <p:nvSpPr>
          <p:cNvPr id="1048982"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198" name="picture 372"/>
          <p:cNvPicPr>
            <a:picLocks noChangeAspect="1"/>
          </p:cNvPicPr>
          <p:nvPr/>
        </p:nvPicPr>
        <p:blipFill>
          <a:blip r:embed="rId5"/>
          <a:stretch>
            <a:fillRect/>
          </a:stretch>
        </p:blipFill>
        <p:spPr>
          <a:xfrm rot="21600000">
            <a:off x="824483" y="408431"/>
            <a:ext cx="419100" cy="655320"/>
          </a:xfrm>
          <a:prstGeom prst="rect">
            <a:avLst/>
          </a:prstGeom>
        </p:spPr>
      </p:pic>
      <p:sp>
        <p:nvSpPr>
          <p:cNvPr id="1048983"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43" name=""/>
        <p:cNvGrpSpPr/>
        <p:nvPr/>
      </p:nvGrpSpPr>
      <p:grpSpPr>
        <a:xfrm>
          <a:off x="0" y="0"/>
          <a:ext cx="0" cy="0"/>
          <a:chOff x="0" y="0"/>
          <a:chExt cx="0" cy="0"/>
        </a:xfrm>
      </p:grpSpPr>
      <p:sp>
        <p:nvSpPr>
          <p:cNvPr id="1048984" name="textbox 376"/>
          <p:cNvSpPr/>
          <p:nvPr/>
        </p:nvSpPr>
        <p:spPr>
          <a:xfrm>
            <a:off x="1567649" y="1466872"/>
            <a:ext cx="6323329" cy="2693035"/>
          </a:xfrm>
          <a:prstGeom prst="rect">
            <a:avLst/>
          </a:prstGeom>
        </p:spPr>
        <p:txBody>
          <a:bodyPr vert="horz" wrap="square" lIns="0" tIns="0" rIns="0" bIns="0"/>
          <a:p>
            <a:pPr algn="l" rtl="0" eaLnBrk="0">
              <a:lnSpc>
                <a:spcPct val="82000"/>
              </a:lnSpc>
            </a:pPr>
            <a:endParaRPr lang="en-US" altLang="en-US" sz="100" dirty="0"/>
          </a:p>
          <a:p>
            <a:pPr marL="12700" algn="l" rtl="0" eaLnBrk="0">
              <a:lnSpc>
                <a:spcPct val="97000"/>
              </a:lnSpc>
            </a:pPr>
            <a:r>
              <a:rPr sz="2700" kern="0" spc="7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按照功能分类</a:t>
            </a:r>
            <a:endParaRPr lang="en-US" altLang="en-US" sz="2700" dirty="0"/>
          </a:p>
          <a:p>
            <a:pPr algn="l" rtl="0" eaLnBrk="0">
              <a:lnSpc>
                <a:spcPct val="107000"/>
              </a:lnSpc>
            </a:pPr>
            <a:endParaRPr lang="en-US" altLang="en-US" sz="1000" dirty="0"/>
          </a:p>
          <a:p>
            <a:pPr algn="l" rtl="0" eaLnBrk="0">
              <a:lnSpc>
                <a:spcPct val="107000"/>
              </a:lnSpc>
            </a:pPr>
            <a:endParaRPr lang="en-US" altLang="en-US" sz="1000" dirty="0"/>
          </a:p>
          <a:p>
            <a:pPr algn="l" rtl="0" eaLnBrk="0">
              <a:lnSpc>
                <a:spcPct val="107000"/>
              </a:lnSpc>
            </a:pPr>
            <a:endParaRPr lang="en-US" altLang="en-US" sz="1000" dirty="0"/>
          </a:p>
          <a:p>
            <a:pPr marL="984250" algn="l" rtl="0" eaLnBrk="0">
              <a:lnSpc>
                <a:spcPct val="96000"/>
              </a:lnSpc>
              <a:spcBef>
                <a:spcPts val="820"/>
              </a:spcBef>
            </a:pPr>
            <a:r>
              <a:rPr sz="2700" kern="0" spc="9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加密算法：用于机密性解决方案</a:t>
            </a:r>
            <a:endParaRPr lang="en-US" altLang="en-US" sz="2700" dirty="0"/>
          </a:p>
          <a:p>
            <a:pPr marL="988695" algn="l" rtl="0" eaLnBrk="0">
              <a:lnSpc>
                <a:spcPct val="96000"/>
              </a:lnSpc>
              <a:spcBef>
                <a:spcPts val="1930"/>
              </a:spcBef>
            </a:pP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杂凑函数：用于完整性解决方案</a:t>
            </a:r>
            <a:endParaRPr lang="en-US" altLang="en-US" sz="2700" dirty="0"/>
          </a:p>
          <a:p>
            <a:pPr algn="l" rtl="0" eaLnBrk="0">
              <a:lnSpc>
                <a:spcPct val="100000"/>
              </a:lnSpc>
            </a:pPr>
            <a:endParaRPr lang="en-US" altLang="en-US" sz="1600" dirty="0"/>
          </a:p>
          <a:p>
            <a:pPr algn="l" rtl="0" eaLnBrk="0">
              <a:lnSpc>
                <a:spcPct val="9000"/>
              </a:lnSpc>
            </a:pPr>
            <a:endParaRPr lang="en-US" altLang="en-US" sz="100" dirty="0"/>
          </a:p>
          <a:p>
            <a:pPr algn="r" rtl="0" eaLnBrk="0">
              <a:lnSpc>
                <a:spcPct val="96000"/>
              </a:lnSpc>
            </a:pPr>
            <a:r>
              <a:rPr sz="2700" kern="0" spc="9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数字签名：用于认证和不可否认性</a:t>
            </a:r>
            <a:endParaRPr lang="en-US" altLang="en-US" sz="2700" dirty="0"/>
          </a:p>
        </p:txBody>
      </p:sp>
      <p:sp>
        <p:nvSpPr>
          <p:cNvPr id="1048985" name="textbox 378"/>
          <p:cNvSpPr/>
          <p:nvPr/>
        </p:nvSpPr>
        <p:spPr>
          <a:xfrm>
            <a:off x="1591801" y="488157"/>
            <a:ext cx="4027170" cy="483869"/>
          </a:xfrm>
          <a:prstGeom prst="rect">
            <a:avLst/>
          </a:prstGeom>
        </p:spPr>
        <p:txBody>
          <a:bodyPr vert="horz" wrap="square" lIns="0" tIns="0" rIns="0" bIns="0"/>
          <a:p>
            <a:pPr algn="l" rtl="0" eaLnBrk="0">
              <a:lnSpc>
                <a:spcPct val="83000"/>
              </a:lnSpc>
            </a:pPr>
            <a:endParaRPr lang="en-US" altLang="en-US" sz="100" dirty="0"/>
          </a:p>
          <a:p>
            <a:pPr marL="12700" algn="l" rtl="0" eaLnBrk="0">
              <a:lnSpc>
                <a:spcPct val="94000"/>
              </a:lnSpc>
            </a:pPr>
            <a:r>
              <a:rPr sz="3200" kern="0" spc="-15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密码算法的分类（续）</a:t>
            </a:r>
            <a:endParaRPr lang="en-US" altLang="en-US" sz="3200" dirty="0"/>
          </a:p>
        </p:txBody>
      </p:sp>
      <p:sp>
        <p:nvSpPr>
          <p:cNvPr id="1048986"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199" name="picture 384"/>
          <p:cNvPicPr>
            <a:picLocks noChangeAspect="1"/>
          </p:cNvPicPr>
          <p:nvPr/>
        </p:nvPicPr>
        <p:blipFill>
          <a:blip r:embed="rId1"/>
          <a:stretch>
            <a:fillRect/>
          </a:stretch>
        </p:blipFill>
        <p:spPr>
          <a:xfrm rot="21600000">
            <a:off x="824483" y="408431"/>
            <a:ext cx="419100" cy="655320"/>
          </a:xfrm>
          <a:prstGeom prst="rect">
            <a:avLst/>
          </a:prstGeom>
        </p:spPr>
      </p:pic>
      <p:sp>
        <p:nvSpPr>
          <p:cNvPr id="1048987"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44" name=""/>
        <p:cNvGrpSpPr/>
        <p:nvPr/>
      </p:nvGrpSpPr>
      <p:grpSpPr>
        <a:xfrm>
          <a:off x="0" y="0"/>
          <a:ext cx="0" cy="0"/>
          <a:chOff x="0" y="0"/>
          <a:chExt cx="0" cy="0"/>
        </a:xfrm>
      </p:grpSpPr>
      <p:sp>
        <p:nvSpPr>
          <p:cNvPr id="1048988" name="textbox 388"/>
          <p:cNvSpPr/>
          <p:nvPr/>
        </p:nvSpPr>
        <p:spPr>
          <a:xfrm>
            <a:off x="1567649" y="1466872"/>
            <a:ext cx="8423275" cy="3890645"/>
          </a:xfrm>
          <a:prstGeom prst="rect">
            <a:avLst/>
          </a:prstGeom>
        </p:spPr>
        <p:txBody>
          <a:bodyPr vert="horz" wrap="square" lIns="0" tIns="0" rIns="0" bIns="0"/>
          <a:p>
            <a:pPr algn="l" rtl="0" eaLnBrk="0">
              <a:lnSpc>
                <a:spcPct val="90000"/>
              </a:lnSpc>
            </a:pPr>
            <a:endParaRPr lang="en-US" altLang="en-US" sz="100" dirty="0"/>
          </a:p>
          <a:p>
            <a:pPr marL="12700" algn="l" rtl="0" eaLnBrk="0">
              <a:lnSpc>
                <a:spcPct val="97000"/>
              </a:lnSpc>
            </a:pPr>
            <a:r>
              <a:rPr sz="2700" kern="0" spc="9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按照密钥的使用方式不同分类</a:t>
            </a:r>
            <a:endParaRPr lang="en-US" altLang="en-US" sz="2700" dirty="0"/>
          </a:p>
          <a:p>
            <a:pPr algn="l" rtl="0" eaLnBrk="0">
              <a:lnSpc>
                <a:spcPct val="114000"/>
              </a:lnSpc>
            </a:pPr>
            <a:endParaRPr lang="en-US" altLang="en-US" sz="1000" dirty="0"/>
          </a:p>
          <a:p>
            <a:pPr algn="l" rtl="0" eaLnBrk="0">
              <a:lnSpc>
                <a:spcPct val="114000"/>
              </a:lnSpc>
            </a:pPr>
            <a:endParaRPr lang="en-US" altLang="en-US" sz="1000" dirty="0"/>
          </a:p>
          <a:p>
            <a:pPr algn="l" rtl="0" eaLnBrk="0">
              <a:lnSpc>
                <a:spcPct val="115000"/>
              </a:lnSpc>
            </a:pPr>
            <a:endParaRPr lang="en-US" altLang="en-US" sz="1000" dirty="0"/>
          </a:p>
          <a:p>
            <a:pPr algn="l" rtl="0" eaLnBrk="0">
              <a:lnSpc>
                <a:spcPct val="115000"/>
              </a:lnSpc>
            </a:pPr>
            <a:endParaRPr lang="en-US" altLang="en-US" sz="1000" dirty="0"/>
          </a:p>
          <a:p>
            <a:pPr marL="1141095" algn="l" rtl="0" eaLnBrk="0">
              <a:lnSpc>
                <a:spcPct val="86000"/>
              </a:lnSpc>
              <a:spcBef>
                <a:spcPts val="820"/>
              </a:spcBef>
            </a:pPr>
            <a:r>
              <a:rPr sz="2700" kern="0" spc="7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对称密钥密码</a:t>
            </a:r>
            <a:r>
              <a:rPr sz="2700" kern="0" spc="52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7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r>
              <a:rPr sz="2700" kern="0" spc="7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7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加密密钥与解密密钥</a:t>
            </a:r>
            <a:r>
              <a:rPr sz="2700" kern="0" spc="70" dirty="0">
                <a:ln w="10145"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相同</a:t>
            </a:r>
            <a:endParaRPr lang="en-US" altLang="en-US" sz="2700" dirty="0"/>
          </a:p>
          <a:p>
            <a:pPr marL="1141095" algn="l" rtl="0" eaLnBrk="0">
              <a:lnSpc>
                <a:spcPts val="5040"/>
              </a:lnSpc>
            </a:pPr>
            <a:r>
              <a:rPr sz="2700" kern="0" spc="8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如：分组密码，流密码</a:t>
            </a:r>
            <a:endParaRPr lang="en-US" altLang="en-US" sz="2700" dirty="0"/>
          </a:p>
          <a:p>
            <a:pPr algn="l" rtl="0" eaLnBrk="0">
              <a:lnSpc>
                <a:spcPct val="125000"/>
              </a:lnSpc>
            </a:pPr>
            <a:endParaRPr lang="en-US" altLang="en-US" sz="1000" dirty="0"/>
          </a:p>
          <a:p>
            <a:pPr algn="l" rtl="0" eaLnBrk="0">
              <a:lnSpc>
                <a:spcPct val="125000"/>
              </a:lnSpc>
            </a:pPr>
            <a:endParaRPr lang="en-US" altLang="en-US" sz="1000" dirty="0"/>
          </a:p>
          <a:p>
            <a:pPr algn="l" rtl="0" eaLnBrk="0">
              <a:lnSpc>
                <a:spcPct val="125000"/>
              </a:lnSpc>
            </a:pPr>
            <a:endParaRPr lang="en-US" altLang="en-US" sz="1000" dirty="0"/>
          </a:p>
          <a:p>
            <a:pPr algn="r" rtl="0" eaLnBrk="0">
              <a:lnSpc>
                <a:spcPct val="86000"/>
              </a:lnSpc>
              <a:spcBef>
                <a:spcPts val="815"/>
              </a:spcBef>
            </a:pPr>
            <a:r>
              <a:rPr sz="2700" kern="0" spc="10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非对称密钥密码体制:</a:t>
            </a:r>
            <a:r>
              <a:rPr sz="2700" kern="0" spc="9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加密密钥与解密密钥</a:t>
            </a:r>
            <a:r>
              <a:rPr sz="2700" kern="0" spc="90" dirty="0">
                <a:ln w="10154"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不同</a:t>
            </a:r>
            <a:endParaRPr lang="en-US" altLang="en-US" sz="2700" dirty="0"/>
          </a:p>
          <a:p>
            <a:pPr marL="1116965" algn="l" rtl="0" eaLnBrk="0">
              <a:lnSpc>
                <a:spcPts val="5040"/>
              </a:lnSpc>
            </a:pPr>
            <a:r>
              <a:rPr sz="2700" kern="0" spc="8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如：公钥加密，数字签名</a:t>
            </a:r>
            <a:endParaRPr lang="en-US" altLang="en-US" sz="2700" dirty="0"/>
          </a:p>
        </p:txBody>
      </p:sp>
      <p:sp>
        <p:nvSpPr>
          <p:cNvPr id="1048989" name="textbox 390"/>
          <p:cNvSpPr/>
          <p:nvPr/>
        </p:nvSpPr>
        <p:spPr>
          <a:xfrm>
            <a:off x="1591801" y="488157"/>
            <a:ext cx="2831464" cy="483869"/>
          </a:xfrm>
          <a:prstGeom prst="rect">
            <a:avLst/>
          </a:prstGeom>
        </p:spPr>
        <p:txBody>
          <a:bodyPr vert="horz" wrap="square" lIns="0" tIns="0" rIns="0" bIns="0"/>
          <a:p>
            <a:pPr algn="l" rtl="0" eaLnBrk="0">
              <a:lnSpc>
                <a:spcPct val="83000"/>
              </a:lnSpc>
            </a:pPr>
            <a:endParaRPr lang="en-US" altLang="en-US" sz="100" dirty="0"/>
          </a:p>
          <a:p>
            <a:pPr marL="12700" algn="l" rtl="0" eaLnBrk="0">
              <a:lnSpc>
                <a:spcPct val="94000"/>
              </a:lnSpc>
            </a:pPr>
            <a:r>
              <a:rPr sz="3200" kern="0" spc="-5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密码算法的分类</a:t>
            </a:r>
            <a:endParaRPr lang="en-US" altLang="en-US" sz="3200" dirty="0"/>
          </a:p>
        </p:txBody>
      </p:sp>
      <p:sp>
        <p:nvSpPr>
          <p:cNvPr id="1048990"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00" name="picture 396"/>
          <p:cNvPicPr>
            <a:picLocks noChangeAspect="1"/>
          </p:cNvPicPr>
          <p:nvPr/>
        </p:nvPicPr>
        <p:blipFill>
          <a:blip r:embed="rId1"/>
          <a:stretch>
            <a:fillRect/>
          </a:stretch>
        </p:blipFill>
        <p:spPr>
          <a:xfrm rot="21600000">
            <a:off x="824483" y="408431"/>
            <a:ext cx="419100" cy="655320"/>
          </a:xfrm>
          <a:prstGeom prst="rect">
            <a:avLst/>
          </a:prstGeom>
        </p:spPr>
      </p:pic>
      <p:sp>
        <p:nvSpPr>
          <p:cNvPr id="1048991"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45" name=""/>
        <p:cNvGrpSpPr/>
        <p:nvPr/>
      </p:nvGrpSpPr>
      <p:grpSpPr>
        <a:xfrm>
          <a:off x="0" y="0"/>
          <a:ext cx="0" cy="0"/>
          <a:chOff x="0" y="0"/>
          <a:chExt cx="0" cy="0"/>
        </a:xfrm>
      </p:grpSpPr>
      <p:grpSp>
        <p:nvGrpSpPr>
          <p:cNvPr id="146" name="group 52"/>
          <p:cNvGrpSpPr/>
          <p:nvPr/>
        </p:nvGrpSpPr>
        <p:grpSpPr>
          <a:xfrm rot="21600000">
            <a:off x="4559090" y="2823850"/>
            <a:ext cx="2561193" cy="1950558"/>
            <a:chOff x="0" y="0"/>
            <a:chExt cx="2561193" cy="1950558"/>
          </a:xfrm>
        </p:grpSpPr>
        <p:pic>
          <p:nvPicPr>
            <p:cNvPr id="2097201" name="picture 444"/>
            <p:cNvPicPr>
              <a:picLocks noChangeAspect="1"/>
            </p:cNvPicPr>
            <p:nvPr/>
          </p:nvPicPr>
          <p:blipFill>
            <a:blip r:embed="rId1"/>
            <a:stretch>
              <a:fillRect/>
            </a:stretch>
          </p:blipFill>
          <p:spPr>
            <a:xfrm rot="21600000">
              <a:off x="0" y="0"/>
              <a:ext cx="2561193" cy="1950558"/>
            </a:xfrm>
            <a:prstGeom prst="rect">
              <a:avLst/>
            </a:prstGeom>
          </p:spPr>
        </p:pic>
        <p:sp>
          <p:nvSpPr>
            <p:cNvPr id="1048992" name="textbox 446"/>
            <p:cNvSpPr/>
            <p:nvPr/>
          </p:nvSpPr>
          <p:spPr>
            <a:xfrm>
              <a:off x="-12700" y="-12700"/>
              <a:ext cx="2586989" cy="1998979"/>
            </a:xfrm>
            <a:prstGeom prst="rect">
              <a:avLst/>
            </a:prstGeom>
          </p:spPr>
          <p:txBody>
            <a:bodyPr vert="horz" wrap="square" lIns="0" tIns="0" rIns="0" bIns="0"/>
            <a:p>
              <a:pPr algn="l" rtl="0" eaLnBrk="0">
                <a:lnSpc>
                  <a:spcPct val="116000"/>
                </a:lnSpc>
              </a:pPr>
              <a:endParaRPr lang="en-US" altLang="en-US" sz="1000" dirty="0"/>
            </a:p>
            <a:p>
              <a:pPr algn="l" rtl="0" eaLnBrk="0">
                <a:lnSpc>
                  <a:spcPct val="116000"/>
                </a:lnSpc>
              </a:pPr>
              <a:endParaRPr lang="en-US" altLang="en-US" sz="1000" dirty="0"/>
            </a:p>
            <a:p>
              <a:pPr algn="l" rtl="0" eaLnBrk="0">
                <a:lnSpc>
                  <a:spcPct val="117000"/>
                </a:lnSpc>
              </a:pPr>
              <a:endParaRPr lang="en-US" altLang="en-US" sz="1000" dirty="0"/>
            </a:p>
            <a:p>
              <a:pPr algn="l" rtl="0" eaLnBrk="0">
                <a:lnSpc>
                  <a:spcPct val="117000"/>
                </a:lnSpc>
              </a:pPr>
              <a:endParaRPr lang="en-US" altLang="en-US" sz="1000" dirty="0"/>
            </a:p>
            <a:p>
              <a:pPr algn="l" rtl="0" eaLnBrk="0">
                <a:lnSpc>
                  <a:spcPct val="117000"/>
                </a:lnSpc>
              </a:pPr>
              <a:endParaRPr lang="en-US" altLang="en-US" sz="1000" dirty="0"/>
            </a:p>
            <a:p>
              <a:pPr marL="1045845" algn="l" rtl="0" eaLnBrk="0">
                <a:lnSpc>
                  <a:spcPts val="1575"/>
                </a:lnSpc>
                <a:spcBef>
                  <a:spcPts val="5"/>
                </a:spcBef>
              </a:pPr>
              <a:r>
                <a:rPr sz="1300" kern="0" spc="40" dirty="0">
                  <a:ln w="70" cap="flat" cmpd="sng">
                    <a:solidFill>
                      <a:srgbClr val="0000FF">
                        <a:alpha val="100000"/>
                      </a:srgbClr>
                    </a:solidFill>
                    <a:prstDash val="solid"/>
                    <a:round/>
                  </a:ln>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因特网</a:t>
              </a:r>
              <a:endParaRPr lang="en-US" altLang="en-US" sz="1300" dirty="0"/>
            </a:p>
          </p:txBody>
        </p:sp>
      </p:grpSp>
      <p:sp>
        <p:nvSpPr>
          <p:cNvPr id="1048993"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
        <p:nvSpPr>
          <p:cNvPr id="1048994" name="textbox 450"/>
          <p:cNvSpPr/>
          <p:nvPr/>
        </p:nvSpPr>
        <p:spPr>
          <a:xfrm>
            <a:off x="2855976" y="5949696"/>
            <a:ext cx="6049009" cy="719455"/>
          </a:xfrm>
          <a:prstGeom prst="rect">
            <a:avLst/>
          </a:prstGeom>
          <a:solidFill>
            <a:srgbClr val="0000FF"/>
          </a:solidFill>
        </p:spPr>
        <p:txBody>
          <a:bodyPr vert="horz" wrap="square" lIns="0" tIns="0" rIns="0" bIns="0"/>
          <a:p>
            <a:pPr algn="l" rtl="0" eaLnBrk="0">
              <a:lnSpc>
                <a:spcPct val="121000"/>
              </a:lnSpc>
            </a:pPr>
            <a:endParaRPr lang="en-US" altLang="en-US" sz="1000" dirty="0"/>
          </a:p>
          <a:p>
            <a:pPr algn="l" rtl="0" eaLnBrk="0">
              <a:lnSpc>
                <a:spcPct val="8000"/>
              </a:lnSpc>
            </a:pPr>
            <a:endParaRPr lang="en-US" altLang="en-US" sz="100" dirty="0"/>
          </a:p>
          <a:p>
            <a:pPr marL="253365" algn="l" rtl="0" eaLnBrk="0">
              <a:lnSpc>
                <a:spcPct val="97000"/>
              </a:lnSpc>
            </a:pPr>
            <a:r>
              <a:rPr sz="2400" b="1" kern="0" spc="-70" dirty="0">
                <a:solidFill>
                  <a:srgbClr val="FFFFFF">
                    <a:alpha val="100000"/>
                  </a:srgbClr>
                </a:solidFill>
                <a:latin typeface="微软雅黑" panose="020B0503020204020204" charset="-122"/>
                <a:ea typeface="微软雅黑" panose="020B0503020204020204" charset="-122"/>
                <a:cs typeface="微软雅黑" panose="020B0503020204020204" charset="-122"/>
              </a:rPr>
              <a:t>“密码技术”是保障信息安全的基本技术</a:t>
            </a:r>
            <a:endParaRPr lang="en-US" altLang="en-US" sz="2400" dirty="0"/>
          </a:p>
        </p:txBody>
      </p:sp>
      <p:pic>
        <p:nvPicPr>
          <p:cNvPr id="2097202" name="picture 452"/>
          <p:cNvPicPr>
            <a:picLocks noChangeAspect="1"/>
          </p:cNvPicPr>
          <p:nvPr/>
        </p:nvPicPr>
        <p:blipFill>
          <a:blip r:embed="rId2"/>
          <a:stretch>
            <a:fillRect/>
          </a:stretch>
        </p:blipFill>
        <p:spPr>
          <a:xfrm rot="21600000">
            <a:off x="7173417" y="1902929"/>
            <a:ext cx="1505759" cy="1233581"/>
          </a:xfrm>
          <a:prstGeom prst="rect">
            <a:avLst/>
          </a:prstGeom>
        </p:spPr>
      </p:pic>
      <p:sp>
        <p:nvSpPr>
          <p:cNvPr id="1048995" name="textbox 454"/>
          <p:cNvSpPr/>
          <p:nvPr/>
        </p:nvSpPr>
        <p:spPr>
          <a:xfrm>
            <a:off x="1824902" y="1249588"/>
            <a:ext cx="4974590" cy="430530"/>
          </a:xfrm>
          <a:prstGeom prst="rect">
            <a:avLst/>
          </a:prstGeom>
        </p:spPr>
        <p:txBody>
          <a:bodyPr vert="horz" wrap="square" lIns="0" tIns="0" rIns="0" bIns="0"/>
          <a:p>
            <a:pPr algn="l" rtl="0" eaLnBrk="0">
              <a:lnSpc>
                <a:spcPct val="96000"/>
              </a:lnSpc>
            </a:pPr>
            <a:endParaRPr lang="en-US" altLang="en-US" sz="100" dirty="0"/>
          </a:p>
          <a:p>
            <a:pPr marL="12700" algn="l" rtl="0" eaLnBrk="0">
              <a:lnSpc>
                <a:spcPct val="98000"/>
              </a:lnSpc>
            </a:pPr>
            <a:r>
              <a:rPr sz="2700" kern="0" spc="90" dirty="0">
                <a:solidFill>
                  <a:srgbClr val="262626">
                    <a:alpha val="100000"/>
                  </a:srgbClr>
                </a:solidFill>
                <a:latin typeface="Arial" panose="020B0604020202020204"/>
                <a:ea typeface="Arial" panose="020B0604020202020204"/>
                <a:cs typeface="Arial" panose="020B0604020202020204"/>
              </a:rPr>
              <a:t>•  </a:t>
            </a:r>
            <a:r>
              <a:rPr sz="2700" kern="0" spc="90" dirty="0">
                <a:ln w="10154" cap="flat" cmpd="sng">
                  <a:solidFill>
                    <a:srgbClr val="262626">
                      <a:alpha val="100000"/>
                    </a:srgbClr>
                  </a:solidFill>
                  <a:prstDash val="solid"/>
                  <a:miter lim="10"/>
                </a:ln>
                <a:solidFill>
                  <a:srgbClr val="262626">
                    <a:alpha val="100000"/>
                  </a:srgbClr>
                </a:solidFill>
                <a:latin typeface="宋体" panose="02010600030101010101" pitchFamily="2" charset="-122"/>
                <a:ea typeface="宋体" panose="02010600030101010101" pitchFamily="2" charset="-122"/>
                <a:cs typeface="宋体" panose="02010600030101010101" pitchFamily="2" charset="-122"/>
              </a:rPr>
              <a:t>现代密码在社会中的</a:t>
            </a:r>
            <a:r>
              <a:rPr sz="2700" kern="0" spc="80" dirty="0">
                <a:ln w="10154" cap="flat" cmpd="sng">
                  <a:solidFill>
                    <a:srgbClr val="262626">
                      <a:alpha val="100000"/>
                    </a:srgbClr>
                  </a:solidFill>
                  <a:prstDash val="solid"/>
                  <a:miter lim="10"/>
                </a:ln>
                <a:solidFill>
                  <a:srgbClr val="262626">
                    <a:alpha val="100000"/>
                  </a:srgbClr>
                </a:solidFill>
                <a:latin typeface="宋体" panose="02010600030101010101" pitchFamily="2" charset="-122"/>
                <a:ea typeface="宋体" panose="02010600030101010101" pitchFamily="2" charset="-122"/>
                <a:cs typeface="宋体" panose="02010600030101010101" pitchFamily="2" charset="-122"/>
              </a:rPr>
              <a:t>广泛应用</a:t>
            </a:r>
            <a:endParaRPr lang="en-US" altLang="en-US" sz="2700" dirty="0"/>
          </a:p>
        </p:txBody>
      </p:sp>
      <p:sp>
        <p:nvSpPr>
          <p:cNvPr id="1048996" name="textbox 456"/>
          <p:cNvSpPr/>
          <p:nvPr/>
        </p:nvSpPr>
        <p:spPr>
          <a:xfrm>
            <a:off x="1585697" y="488157"/>
            <a:ext cx="3443604" cy="485775"/>
          </a:xfrm>
          <a:prstGeom prst="rect">
            <a:avLst/>
          </a:prstGeom>
        </p:spPr>
        <p:txBody>
          <a:bodyPr vert="horz" wrap="square" lIns="0" tIns="0" rIns="0" bIns="0"/>
          <a:p>
            <a:pPr algn="l" rtl="0" eaLnBrk="0">
              <a:lnSpc>
                <a:spcPct val="94000"/>
              </a:lnSpc>
            </a:pPr>
            <a:endParaRPr lang="en-US" altLang="en-US" sz="100" dirty="0"/>
          </a:p>
          <a:p>
            <a:pPr algn="r" rtl="0" eaLnBrk="0">
              <a:lnSpc>
                <a:spcPct val="94000"/>
              </a:lnSpc>
            </a:pPr>
            <a:r>
              <a:rPr sz="3200" kern="0" spc="-2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为什么需要密码学？</a:t>
            </a:r>
            <a:endParaRPr lang="en-US" altLang="en-US" sz="3200" dirty="0"/>
          </a:p>
        </p:txBody>
      </p:sp>
      <p:grpSp>
        <p:nvGrpSpPr>
          <p:cNvPr id="147" name="group 54"/>
          <p:cNvGrpSpPr/>
          <p:nvPr/>
        </p:nvGrpSpPr>
        <p:grpSpPr>
          <a:xfrm rot="21600000">
            <a:off x="4594706" y="4811063"/>
            <a:ext cx="834673" cy="658316"/>
            <a:chOff x="0" y="0"/>
            <a:chExt cx="834673" cy="658316"/>
          </a:xfrm>
        </p:grpSpPr>
        <p:sp>
          <p:nvSpPr>
            <p:cNvPr id="1048997" name="path"/>
            <p:cNvSpPr/>
            <p:nvPr/>
          </p:nvSpPr>
          <p:spPr>
            <a:xfrm>
              <a:off x="1521" y="1520"/>
              <a:ext cx="831629" cy="655275"/>
            </a:xfrm>
            <a:custGeom>
              <a:avLst/>
              <a:gdLst/>
              <a:ahLst/>
              <a:cxnLst/>
              <a:rect l="0" t="0" r="0" b="0"/>
              <a:pathLst>
                <a:path w="1309" h="1031">
                  <a:moveTo>
                    <a:pt x="769" y="484"/>
                  </a:moveTo>
                  <a:lnTo>
                    <a:pt x="1287" y="474"/>
                  </a:lnTo>
                  <a:lnTo>
                    <a:pt x="1309" y="434"/>
                  </a:lnTo>
                  <a:lnTo>
                    <a:pt x="327" y="0"/>
                  </a:lnTo>
                  <a:lnTo>
                    <a:pt x="272" y="90"/>
                  </a:lnTo>
                  <a:lnTo>
                    <a:pt x="545" y="488"/>
                  </a:lnTo>
                  <a:lnTo>
                    <a:pt x="769" y="484"/>
                  </a:lnTo>
                  <a:close/>
                  <a:moveTo>
                    <a:pt x="1060" y="889"/>
                  </a:moveTo>
                  <a:lnTo>
                    <a:pt x="1287" y="474"/>
                  </a:lnTo>
                  <a:lnTo>
                    <a:pt x="769" y="484"/>
                  </a:lnTo>
                  <a:lnTo>
                    <a:pt x="1060" y="889"/>
                  </a:lnTo>
                  <a:close/>
                  <a:moveTo>
                    <a:pt x="100" y="376"/>
                  </a:moveTo>
                  <a:lnTo>
                    <a:pt x="0" y="543"/>
                  </a:lnTo>
                  <a:lnTo>
                    <a:pt x="982" y="1031"/>
                  </a:lnTo>
                  <a:lnTo>
                    <a:pt x="1060" y="889"/>
                  </a:lnTo>
                  <a:lnTo>
                    <a:pt x="769" y="484"/>
                  </a:lnTo>
                  <a:lnTo>
                    <a:pt x="545" y="488"/>
                  </a:lnTo>
                  <a:lnTo>
                    <a:pt x="479" y="391"/>
                  </a:lnTo>
                  <a:lnTo>
                    <a:pt x="100" y="376"/>
                  </a:lnTo>
                  <a:close/>
                  <a:moveTo>
                    <a:pt x="479" y="391"/>
                  </a:moveTo>
                  <a:lnTo>
                    <a:pt x="272" y="90"/>
                  </a:lnTo>
                  <a:lnTo>
                    <a:pt x="100" y="376"/>
                  </a:lnTo>
                  <a:lnTo>
                    <a:pt x="479" y="391"/>
                  </a:lnTo>
                  <a:close/>
                </a:path>
              </a:pathLst>
            </a:custGeom>
            <a:solidFill>
              <a:srgbClr val="C6C600">
                <a:alpha val="100000"/>
              </a:srgbClr>
            </a:solidFill>
            <a:ln cap="flat">
              <a:noFill/>
              <a:prstDash val="solid"/>
              <a:miter lim="0"/>
            </a:ln>
          </p:spPr>
          <p:txBody>
            <a:bodyPr rtlCol="0"/>
            <a:p>
              <a:pPr algn="ctr"/>
              <a:endParaRPr lang="zh-CN" altLang="en-US"/>
            </a:p>
          </p:txBody>
        </p:sp>
        <p:sp>
          <p:nvSpPr>
            <p:cNvPr id="1048998" name="path"/>
            <p:cNvSpPr/>
            <p:nvPr/>
          </p:nvSpPr>
          <p:spPr>
            <a:xfrm>
              <a:off x="0" y="0"/>
              <a:ext cx="834673" cy="658316"/>
            </a:xfrm>
            <a:custGeom>
              <a:avLst/>
              <a:gdLst/>
              <a:ahLst/>
              <a:cxnLst/>
              <a:rect l="0" t="0" r="0" b="0"/>
              <a:pathLst>
                <a:path w="1314" h="1036">
                  <a:moveTo>
                    <a:pt x="771" y="486"/>
                  </a:moveTo>
                  <a:lnTo>
                    <a:pt x="1290" y="477"/>
                  </a:lnTo>
                  <a:lnTo>
                    <a:pt x="1312" y="436"/>
                  </a:lnTo>
                  <a:lnTo>
                    <a:pt x="329" y="2"/>
                  </a:lnTo>
                  <a:lnTo>
                    <a:pt x="275" y="92"/>
                  </a:lnTo>
                  <a:lnTo>
                    <a:pt x="547" y="491"/>
                  </a:lnTo>
                  <a:lnTo>
                    <a:pt x="771" y="486"/>
                  </a:lnTo>
                  <a:close/>
                  <a:moveTo>
                    <a:pt x="1062" y="891"/>
                  </a:moveTo>
                  <a:lnTo>
                    <a:pt x="1290" y="477"/>
                  </a:lnTo>
                  <a:lnTo>
                    <a:pt x="771" y="486"/>
                  </a:lnTo>
                  <a:lnTo>
                    <a:pt x="1062" y="891"/>
                  </a:lnTo>
                  <a:close/>
                  <a:moveTo>
                    <a:pt x="103" y="378"/>
                  </a:moveTo>
                  <a:lnTo>
                    <a:pt x="2" y="545"/>
                  </a:lnTo>
                  <a:lnTo>
                    <a:pt x="984" y="1034"/>
                  </a:lnTo>
                  <a:moveTo>
                    <a:pt x="1062" y="891"/>
                  </a:moveTo>
                  <a:lnTo>
                    <a:pt x="771" y="486"/>
                  </a:lnTo>
                  <a:lnTo>
                    <a:pt x="547" y="491"/>
                  </a:lnTo>
                  <a:lnTo>
                    <a:pt x="481" y="393"/>
                  </a:lnTo>
                  <a:lnTo>
                    <a:pt x="103" y="378"/>
                  </a:lnTo>
                  <a:close/>
                  <a:moveTo>
                    <a:pt x="481" y="393"/>
                  </a:moveTo>
                  <a:lnTo>
                    <a:pt x="275" y="92"/>
                  </a:lnTo>
                  <a:lnTo>
                    <a:pt x="103" y="378"/>
                  </a:lnTo>
                  <a:lnTo>
                    <a:pt x="481" y="393"/>
                  </a:lnTo>
                </a:path>
              </a:pathLst>
            </a:custGeom>
            <a:noFill/>
            <a:ln w="3041" cap="rnd">
              <a:solidFill>
                <a:srgbClr val="000000">
                  <a:alpha val="100000"/>
                </a:srgbClr>
              </a:solidFill>
              <a:prstDash val="solid"/>
              <a:round/>
            </a:ln>
          </p:spPr>
          <p:txBody>
            <a:bodyPr rtlCol="0"/>
            <a:p>
              <a:pPr algn="ctr"/>
              <a:endParaRPr lang="zh-CN" altLang="en-US"/>
            </a:p>
          </p:txBody>
        </p:sp>
        <p:sp>
          <p:nvSpPr>
            <p:cNvPr id="1048999" name="path"/>
            <p:cNvSpPr/>
            <p:nvPr/>
          </p:nvSpPr>
          <p:spPr>
            <a:xfrm>
              <a:off x="33094" y="66684"/>
              <a:ext cx="126437" cy="218205"/>
            </a:xfrm>
            <a:custGeom>
              <a:avLst/>
              <a:gdLst/>
              <a:ahLst/>
              <a:cxnLst/>
              <a:rect l="0" t="0" r="0" b="0"/>
              <a:pathLst>
                <a:path w="199" h="343">
                  <a:moveTo>
                    <a:pt x="115" y="2"/>
                  </a:moveTo>
                  <a:lnTo>
                    <a:pt x="198" y="40"/>
                  </a:lnTo>
                  <a:moveTo>
                    <a:pt x="93" y="87"/>
                  </a:moveTo>
                  <a:lnTo>
                    <a:pt x="156" y="116"/>
                  </a:lnTo>
                  <a:moveTo>
                    <a:pt x="62" y="168"/>
                  </a:moveTo>
                  <a:lnTo>
                    <a:pt x="115" y="192"/>
                  </a:lnTo>
                  <a:moveTo>
                    <a:pt x="32" y="249"/>
                  </a:moveTo>
                  <a:lnTo>
                    <a:pt x="69" y="266"/>
                  </a:lnTo>
                  <a:moveTo>
                    <a:pt x="1" y="330"/>
                  </a:moveTo>
                  <a:lnTo>
                    <a:pt x="25" y="341"/>
                  </a:lnTo>
                </a:path>
              </a:pathLst>
            </a:custGeom>
            <a:noFill/>
            <a:ln w="3041" cap="flat">
              <a:solidFill>
                <a:srgbClr val="000000">
                  <a:alpha val="100000"/>
                </a:srgbClr>
              </a:solidFill>
              <a:prstDash val="solid"/>
              <a:miter lim="200000"/>
            </a:ln>
          </p:spPr>
          <p:txBody>
            <a:bodyPr rtlCol="0"/>
            <a:p>
              <a:pPr algn="ctr"/>
              <a:endParaRPr lang="zh-CN" altLang="en-US"/>
            </a:p>
          </p:txBody>
        </p:sp>
        <p:sp>
          <p:nvSpPr>
            <p:cNvPr id="1049000" name="path"/>
            <p:cNvSpPr/>
            <p:nvPr/>
          </p:nvSpPr>
          <p:spPr>
            <a:xfrm>
              <a:off x="17617" y="41098"/>
              <a:ext cx="89420" cy="237733"/>
            </a:xfrm>
            <a:custGeom>
              <a:avLst/>
              <a:gdLst/>
              <a:ahLst/>
              <a:cxnLst/>
              <a:rect l="0" t="0" r="0" b="0"/>
              <a:pathLst>
                <a:path w="140" h="374">
                  <a:moveTo>
                    <a:pt x="57" y="2"/>
                  </a:moveTo>
                  <a:lnTo>
                    <a:pt x="139" y="40"/>
                  </a:lnTo>
                  <a:moveTo>
                    <a:pt x="55" y="97"/>
                  </a:moveTo>
                  <a:lnTo>
                    <a:pt x="119" y="127"/>
                  </a:lnTo>
                  <a:moveTo>
                    <a:pt x="36" y="184"/>
                  </a:moveTo>
                  <a:lnTo>
                    <a:pt x="89" y="209"/>
                  </a:lnTo>
                  <a:moveTo>
                    <a:pt x="20" y="273"/>
                  </a:moveTo>
                  <a:lnTo>
                    <a:pt x="57" y="290"/>
                  </a:lnTo>
                  <a:moveTo>
                    <a:pt x="1" y="360"/>
                  </a:moveTo>
                  <a:lnTo>
                    <a:pt x="25" y="372"/>
                  </a:lnTo>
                </a:path>
              </a:pathLst>
            </a:custGeom>
            <a:noFill/>
            <a:ln w="3041" cap="flat">
              <a:solidFill>
                <a:srgbClr val="C0C0C0">
                  <a:alpha val="100000"/>
                </a:srgbClr>
              </a:solidFill>
              <a:prstDash val="solid"/>
              <a:miter lim="200000"/>
            </a:ln>
          </p:spPr>
          <p:txBody>
            <a:bodyPr rtlCol="0"/>
            <a:p>
              <a:pPr algn="ctr"/>
              <a:endParaRPr lang="zh-CN" altLang="en-US"/>
            </a:p>
          </p:txBody>
        </p:sp>
        <p:sp>
          <p:nvSpPr>
            <p:cNvPr id="1049001" name="path"/>
            <p:cNvSpPr/>
            <p:nvPr/>
          </p:nvSpPr>
          <p:spPr>
            <a:xfrm>
              <a:off x="350626" y="306602"/>
              <a:ext cx="464017" cy="9817"/>
            </a:xfrm>
            <a:custGeom>
              <a:avLst/>
              <a:gdLst/>
              <a:ahLst/>
              <a:cxnLst/>
              <a:rect l="0" t="0" r="0" b="0"/>
              <a:pathLst>
                <a:path w="730" h="15">
                  <a:moveTo>
                    <a:pt x="0" y="8"/>
                  </a:moveTo>
                  <a:lnTo>
                    <a:pt x="730" y="7"/>
                  </a:lnTo>
                </a:path>
              </a:pathLst>
            </a:custGeom>
            <a:noFill/>
            <a:ln w="9125" cap="flat">
              <a:solidFill>
                <a:srgbClr val="000000">
                  <a:alpha val="100000"/>
                </a:srgbClr>
              </a:solidFill>
              <a:prstDash val="solid"/>
              <a:miter lim="200000"/>
            </a:ln>
          </p:spPr>
          <p:txBody>
            <a:bodyPr rtlCol="0"/>
            <a:p>
              <a:pPr algn="ctr"/>
              <a:endParaRPr lang="zh-CN" altLang="en-US"/>
            </a:p>
          </p:txBody>
        </p:sp>
      </p:grpSp>
      <p:sp>
        <p:nvSpPr>
          <p:cNvPr id="1049002" name="textbox 468"/>
          <p:cNvSpPr/>
          <p:nvPr/>
        </p:nvSpPr>
        <p:spPr>
          <a:xfrm>
            <a:off x="5205792" y="5324974"/>
            <a:ext cx="2171064" cy="445134"/>
          </a:xfrm>
          <a:prstGeom prst="rect">
            <a:avLst/>
          </a:prstGeom>
        </p:spPr>
        <p:txBody>
          <a:bodyPr vert="horz" wrap="square" lIns="0" tIns="0" rIns="0" bIns="0"/>
          <a:p>
            <a:pPr algn="l" rtl="0" eaLnBrk="0">
              <a:lnSpc>
                <a:spcPct val="83000"/>
              </a:lnSpc>
            </a:pPr>
            <a:endParaRPr lang="en-US" altLang="en-US" sz="100" dirty="0"/>
          </a:p>
          <a:p>
            <a:pPr marL="64770" algn="l" rtl="0" eaLnBrk="0">
              <a:lnSpc>
                <a:spcPts val="1600"/>
              </a:lnSpc>
              <a:tabLst>
                <a:tab pos="279400" algn="l"/>
              </a:tabLst>
            </a:pPr>
            <a:r>
              <a:rPr sz="1300" kern="0" spc="0" dirty="0">
                <a:solidFill>
                  <a:srgbClr val="0000FF">
                    <a:alpha val="100000"/>
                  </a:srgbClr>
                </a:solidFill>
                <a:latin typeface="Symbol" panose="05050102010706020507"/>
                <a:ea typeface="Symbol" panose="05050102010706020507"/>
                <a:cs typeface="Symbol" panose="05050102010706020507"/>
              </a:rPr>
              <a:t>	</a:t>
            </a:r>
            <a:r>
              <a:rPr sz="1300" kern="0" spc="30" dirty="0">
                <a:solidFill>
                  <a:srgbClr val="0000FF">
                    <a:alpha val="100000"/>
                  </a:srgbClr>
                </a:solidFill>
                <a:latin typeface="Symbol" panose="05050102010706020507"/>
                <a:ea typeface="Symbol" panose="05050102010706020507"/>
                <a:cs typeface="Symbol" panose="05050102010706020507"/>
              </a:rPr>
              <a:t>·</a:t>
            </a:r>
            <a:r>
              <a:rPr sz="1300" kern="0" spc="40" dirty="0">
                <a:solidFill>
                  <a:srgbClr val="0000FF">
                    <a:alpha val="100000"/>
                  </a:srgbClr>
                </a:solidFill>
                <a:latin typeface="Symbol" panose="05050102010706020507"/>
                <a:ea typeface="Symbol" panose="05050102010706020507"/>
                <a:cs typeface="Symbol" panose="05050102010706020507"/>
              </a:rPr>
              <a:t>    </a:t>
            </a:r>
            <a:r>
              <a:rPr sz="1300" kern="0" spc="30" dirty="0">
                <a:ln w="70" cap="flat" cmpd="sng">
                  <a:solidFill>
                    <a:srgbClr val="0000FF">
                      <a:alpha val="100000"/>
                    </a:srgbClr>
                  </a:solidFill>
                  <a:prstDash val="solid"/>
                  <a:round/>
                </a:ln>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电子邮件加密</a:t>
            </a:r>
            <a:endParaRPr lang="en-US" altLang="en-US" sz="1300" dirty="0"/>
          </a:p>
          <a:p>
            <a:pPr algn="r" rtl="0" eaLnBrk="0">
              <a:lnSpc>
                <a:spcPts val="1610"/>
              </a:lnSpc>
              <a:spcBef>
                <a:spcPts val="95"/>
              </a:spcBef>
            </a:pPr>
            <a:r>
              <a:rPr sz="1300" kern="0" spc="-30" dirty="0">
                <a:ln w="70" cap="flat" cmpd="sng">
                  <a:solidFill>
                    <a:srgbClr val="0000FF">
                      <a:alpha val="100000"/>
                    </a:srgbClr>
                  </a:solidFill>
                  <a:prstDash val="solid"/>
                  <a:round/>
                </a:ln>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(PGP:</a:t>
            </a:r>
            <a:r>
              <a:rPr sz="1300" kern="0" spc="-270" dirty="0">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30" dirty="0">
                <a:ln w="70" cap="flat" cmpd="sng">
                  <a:solidFill>
                    <a:srgbClr val="0000FF">
                      <a:alpha val="100000"/>
                    </a:srgbClr>
                  </a:solidFill>
                  <a:prstDash val="solid"/>
                  <a:round/>
                </a:ln>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Pretty</a:t>
            </a:r>
            <a:r>
              <a:rPr sz="1300" kern="0" spc="-250" dirty="0">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30" dirty="0">
                <a:ln w="70" cap="flat" cmpd="sng">
                  <a:solidFill>
                    <a:srgbClr val="0000FF">
                      <a:alpha val="100000"/>
                    </a:srgbClr>
                  </a:solidFill>
                  <a:prstDash val="solid"/>
                  <a:round/>
                </a:ln>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Good</a:t>
            </a:r>
            <a:r>
              <a:rPr sz="1300" kern="0" spc="-260" dirty="0">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30" dirty="0">
                <a:ln w="70" cap="flat" cmpd="sng">
                  <a:solidFill>
                    <a:srgbClr val="0000FF">
                      <a:alpha val="100000"/>
                    </a:srgbClr>
                  </a:solidFill>
                  <a:prstDash val="solid"/>
                  <a:round/>
                </a:ln>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Priva</a:t>
            </a:r>
            <a:r>
              <a:rPr sz="1300" kern="0" spc="-40" dirty="0">
                <a:ln w="70" cap="flat" cmpd="sng">
                  <a:solidFill>
                    <a:srgbClr val="0000FF">
                      <a:alpha val="100000"/>
                    </a:srgbClr>
                  </a:solidFill>
                  <a:prstDash val="solid"/>
                  <a:round/>
                </a:ln>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cy</a:t>
            </a:r>
            <a:endParaRPr lang="en-US" altLang="en-US" sz="1300" dirty="0"/>
          </a:p>
        </p:txBody>
      </p:sp>
      <p:sp>
        <p:nvSpPr>
          <p:cNvPr id="1049003" name="path"/>
          <p:cNvSpPr/>
          <p:nvPr/>
        </p:nvSpPr>
        <p:spPr>
          <a:xfrm>
            <a:off x="5218492" y="5375725"/>
            <a:ext cx="52626" cy="93654"/>
          </a:xfrm>
          <a:custGeom>
            <a:avLst/>
            <a:gdLst/>
            <a:ahLst/>
            <a:cxnLst/>
            <a:rect l="0" t="0" r="0" b="0"/>
            <a:pathLst>
              <a:path w="82" h="147">
                <a:moveTo>
                  <a:pt x="2" y="145"/>
                </a:moveTo>
                <a:lnTo>
                  <a:pt x="80" y="2"/>
                </a:lnTo>
              </a:path>
            </a:pathLst>
          </a:custGeom>
          <a:noFill/>
          <a:ln w="3041" cap="rnd">
            <a:solidFill>
              <a:srgbClr val="000000">
                <a:alpha val="100000"/>
              </a:srgbClr>
            </a:solidFill>
            <a:prstDash val="solid"/>
            <a:round/>
          </a:ln>
        </p:spPr>
        <p:txBody>
          <a:bodyPr rtlCol="0"/>
          <a:p>
            <a:pPr algn="ctr"/>
            <a:endParaRPr lang="zh-CN" altLang="en-US"/>
          </a:p>
        </p:txBody>
      </p:sp>
      <p:pic>
        <p:nvPicPr>
          <p:cNvPr id="2097203" name="picture 472"/>
          <p:cNvPicPr>
            <a:picLocks noChangeAspect="1"/>
          </p:cNvPicPr>
          <p:nvPr/>
        </p:nvPicPr>
        <p:blipFill>
          <a:blip r:embed="rId3"/>
          <a:stretch>
            <a:fillRect/>
          </a:stretch>
        </p:blipFill>
        <p:spPr>
          <a:xfrm rot="21600000">
            <a:off x="7878997" y="4443211"/>
            <a:ext cx="917612" cy="917515"/>
          </a:xfrm>
          <a:prstGeom prst="rect">
            <a:avLst/>
          </a:prstGeom>
        </p:spPr>
      </p:pic>
      <p:pic>
        <p:nvPicPr>
          <p:cNvPr id="2097204" name="picture 474"/>
          <p:cNvPicPr>
            <a:picLocks noChangeAspect="1"/>
          </p:cNvPicPr>
          <p:nvPr/>
        </p:nvPicPr>
        <p:blipFill>
          <a:blip r:embed="rId4"/>
          <a:stretch>
            <a:fillRect/>
          </a:stretch>
        </p:blipFill>
        <p:spPr>
          <a:xfrm rot="21600000">
            <a:off x="3795540" y="2657686"/>
            <a:ext cx="1377426" cy="425390"/>
          </a:xfrm>
          <a:prstGeom prst="rect">
            <a:avLst/>
          </a:prstGeom>
        </p:spPr>
      </p:pic>
      <p:pic>
        <p:nvPicPr>
          <p:cNvPr id="2097205" name="picture 476"/>
          <p:cNvPicPr>
            <a:picLocks noChangeAspect="1"/>
          </p:cNvPicPr>
          <p:nvPr/>
        </p:nvPicPr>
        <p:blipFill>
          <a:blip r:embed="rId5"/>
          <a:stretch>
            <a:fillRect/>
          </a:stretch>
        </p:blipFill>
        <p:spPr>
          <a:xfrm rot="21600000">
            <a:off x="3205892" y="1930291"/>
            <a:ext cx="917709" cy="916781"/>
          </a:xfrm>
          <a:prstGeom prst="rect">
            <a:avLst/>
          </a:prstGeom>
        </p:spPr>
      </p:pic>
      <p:grpSp>
        <p:nvGrpSpPr>
          <p:cNvPr id="148" name="group 56"/>
          <p:cNvGrpSpPr/>
          <p:nvPr/>
        </p:nvGrpSpPr>
        <p:grpSpPr>
          <a:xfrm rot="21600000">
            <a:off x="2868798" y="3586533"/>
            <a:ext cx="1210799" cy="566321"/>
            <a:chOff x="0" y="0"/>
            <a:chExt cx="1210799" cy="566321"/>
          </a:xfrm>
        </p:grpSpPr>
        <p:sp>
          <p:nvSpPr>
            <p:cNvPr id="1049004" name="path"/>
            <p:cNvSpPr/>
            <p:nvPr/>
          </p:nvSpPr>
          <p:spPr>
            <a:xfrm>
              <a:off x="1521" y="18494"/>
              <a:ext cx="898666" cy="547826"/>
            </a:xfrm>
            <a:custGeom>
              <a:avLst/>
              <a:gdLst/>
              <a:ahLst/>
              <a:cxnLst/>
              <a:rect l="0" t="0" r="0" b="0"/>
              <a:pathLst>
                <a:path w="1415" h="862">
                  <a:moveTo>
                    <a:pt x="0" y="749"/>
                  </a:moveTo>
                  <a:lnTo>
                    <a:pt x="0" y="113"/>
                  </a:lnTo>
                  <a:cubicBezTo>
                    <a:pt x="214" y="254"/>
                    <a:pt x="492" y="254"/>
                    <a:pt x="707" y="113"/>
                  </a:cubicBezTo>
                  <a:cubicBezTo>
                    <a:pt x="922" y="-28"/>
                    <a:pt x="1200" y="-28"/>
                    <a:pt x="1415" y="113"/>
                  </a:cubicBezTo>
                  <a:lnTo>
                    <a:pt x="1415" y="113"/>
                  </a:lnTo>
                  <a:lnTo>
                    <a:pt x="1415" y="749"/>
                  </a:lnTo>
                  <a:cubicBezTo>
                    <a:pt x="1200" y="608"/>
                    <a:pt x="922" y="608"/>
                    <a:pt x="707" y="749"/>
                  </a:cubicBezTo>
                  <a:cubicBezTo>
                    <a:pt x="492" y="890"/>
                    <a:pt x="214" y="890"/>
                    <a:pt x="0" y="749"/>
                  </a:cubicBezTo>
                </a:path>
              </a:pathLst>
            </a:custGeom>
            <a:solidFill>
              <a:srgbClr val="E8EEF7">
                <a:alpha val="100000"/>
              </a:srgbClr>
            </a:solidFill>
            <a:ln cap="flat">
              <a:noFill/>
              <a:prstDash val="solid"/>
              <a:miter lim="0"/>
            </a:ln>
          </p:spPr>
          <p:txBody>
            <a:bodyPr rtlCol="0"/>
            <a:p>
              <a:pPr algn="ctr"/>
              <a:endParaRPr lang="zh-CN" altLang="en-US"/>
            </a:p>
          </p:txBody>
        </p:sp>
        <p:sp>
          <p:nvSpPr>
            <p:cNvPr id="1049005" name="path"/>
            <p:cNvSpPr/>
            <p:nvPr/>
          </p:nvSpPr>
          <p:spPr>
            <a:xfrm>
              <a:off x="0" y="21535"/>
              <a:ext cx="901709" cy="474383"/>
            </a:xfrm>
            <a:custGeom>
              <a:avLst/>
              <a:gdLst/>
              <a:ahLst/>
              <a:cxnLst/>
              <a:rect l="0" t="0" r="0" b="0"/>
              <a:pathLst>
                <a:path w="1420" h="747">
                  <a:moveTo>
                    <a:pt x="2" y="744"/>
                  </a:moveTo>
                  <a:lnTo>
                    <a:pt x="2" y="108"/>
                  </a:lnTo>
                  <a:cubicBezTo>
                    <a:pt x="217" y="249"/>
                    <a:pt x="495" y="249"/>
                    <a:pt x="710" y="108"/>
                  </a:cubicBezTo>
                  <a:cubicBezTo>
                    <a:pt x="924" y="-32"/>
                    <a:pt x="1202" y="-32"/>
                    <a:pt x="1417" y="108"/>
                  </a:cubicBezTo>
                  <a:lnTo>
                    <a:pt x="1417" y="108"/>
                  </a:lnTo>
                  <a:lnTo>
                    <a:pt x="1417" y="744"/>
                  </a:lnTo>
                  <a:cubicBezTo>
                    <a:pt x="1202" y="603"/>
                    <a:pt x="924" y="603"/>
                    <a:pt x="710" y="744"/>
                  </a:cubicBezTo>
                  <a:cubicBezTo>
                    <a:pt x="495" y="886"/>
                    <a:pt x="217" y="886"/>
                    <a:pt x="2" y="744"/>
                  </a:cubicBezTo>
                </a:path>
              </a:pathLst>
            </a:custGeom>
            <a:noFill/>
            <a:ln w="3041" cap="rnd">
              <a:solidFill>
                <a:srgbClr val="000000">
                  <a:alpha val="100000"/>
                </a:srgbClr>
              </a:solidFill>
              <a:prstDash val="solid"/>
              <a:round/>
            </a:ln>
          </p:spPr>
          <p:txBody>
            <a:bodyPr rtlCol="0"/>
            <a:p>
              <a:pPr algn="ctr"/>
              <a:endParaRPr lang="zh-CN" altLang="en-US"/>
            </a:p>
          </p:txBody>
        </p:sp>
        <p:sp>
          <p:nvSpPr>
            <p:cNvPr id="1049006" name="path"/>
            <p:cNvSpPr/>
            <p:nvPr/>
          </p:nvSpPr>
          <p:spPr>
            <a:xfrm>
              <a:off x="310666" y="0"/>
              <a:ext cx="898611" cy="541745"/>
            </a:xfrm>
            <a:custGeom>
              <a:avLst/>
              <a:gdLst/>
              <a:ahLst/>
              <a:cxnLst/>
              <a:rect l="0" t="0" r="0" b="0"/>
              <a:pathLst>
                <a:path w="1415" h="853">
                  <a:moveTo>
                    <a:pt x="0" y="744"/>
                  </a:moveTo>
                  <a:lnTo>
                    <a:pt x="0" y="108"/>
                  </a:lnTo>
                  <a:cubicBezTo>
                    <a:pt x="214" y="249"/>
                    <a:pt x="492" y="249"/>
                    <a:pt x="707" y="108"/>
                  </a:cubicBezTo>
                  <a:cubicBezTo>
                    <a:pt x="922" y="-32"/>
                    <a:pt x="1200" y="-32"/>
                    <a:pt x="1415" y="108"/>
                  </a:cubicBezTo>
                  <a:lnTo>
                    <a:pt x="1415" y="108"/>
                  </a:lnTo>
                  <a:lnTo>
                    <a:pt x="1415" y="744"/>
                  </a:lnTo>
                  <a:cubicBezTo>
                    <a:pt x="1200" y="603"/>
                    <a:pt x="922" y="603"/>
                    <a:pt x="707" y="744"/>
                  </a:cubicBezTo>
                  <a:cubicBezTo>
                    <a:pt x="492" y="886"/>
                    <a:pt x="214" y="886"/>
                    <a:pt x="0" y="744"/>
                  </a:cubicBezTo>
                </a:path>
              </a:pathLst>
            </a:custGeom>
            <a:solidFill>
              <a:srgbClr val="E8EEF7">
                <a:alpha val="100000"/>
              </a:srgbClr>
            </a:solidFill>
            <a:ln cap="flat">
              <a:noFill/>
              <a:prstDash val="solid"/>
              <a:miter lim="0"/>
            </a:ln>
          </p:spPr>
          <p:txBody>
            <a:bodyPr rtlCol="0"/>
            <a:p>
              <a:pPr algn="ctr"/>
              <a:endParaRPr lang="zh-CN" altLang="en-US"/>
            </a:p>
          </p:txBody>
        </p:sp>
        <p:sp>
          <p:nvSpPr>
            <p:cNvPr id="1049007" name="path"/>
            <p:cNvSpPr/>
            <p:nvPr/>
          </p:nvSpPr>
          <p:spPr>
            <a:xfrm>
              <a:off x="309144" y="0"/>
              <a:ext cx="901655" cy="474383"/>
            </a:xfrm>
            <a:custGeom>
              <a:avLst/>
              <a:gdLst/>
              <a:ahLst/>
              <a:cxnLst/>
              <a:rect l="0" t="0" r="0" b="0"/>
              <a:pathLst>
                <a:path w="1419" h="747">
                  <a:moveTo>
                    <a:pt x="2" y="744"/>
                  </a:moveTo>
                  <a:lnTo>
                    <a:pt x="2" y="108"/>
                  </a:lnTo>
                  <a:cubicBezTo>
                    <a:pt x="217" y="249"/>
                    <a:pt x="495" y="249"/>
                    <a:pt x="710" y="108"/>
                  </a:cubicBezTo>
                  <a:cubicBezTo>
                    <a:pt x="924" y="-32"/>
                    <a:pt x="1202" y="-32"/>
                    <a:pt x="1417" y="108"/>
                  </a:cubicBezTo>
                  <a:lnTo>
                    <a:pt x="1417" y="108"/>
                  </a:lnTo>
                  <a:lnTo>
                    <a:pt x="1417" y="744"/>
                  </a:lnTo>
                  <a:cubicBezTo>
                    <a:pt x="1202" y="603"/>
                    <a:pt x="924" y="603"/>
                    <a:pt x="710" y="744"/>
                  </a:cubicBezTo>
                  <a:cubicBezTo>
                    <a:pt x="495" y="886"/>
                    <a:pt x="217" y="886"/>
                    <a:pt x="2" y="744"/>
                  </a:cubicBezTo>
                </a:path>
              </a:pathLst>
            </a:custGeom>
            <a:noFill/>
            <a:ln w="3041" cap="rnd">
              <a:solidFill>
                <a:srgbClr val="000000">
                  <a:alpha val="100000"/>
                </a:srgbClr>
              </a:solidFill>
              <a:prstDash val="solid"/>
              <a:round/>
            </a:ln>
          </p:spPr>
          <p:txBody>
            <a:bodyPr rtlCol="0"/>
            <a:p>
              <a:pPr algn="ctr"/>
              <a:endParaRPr lang="zh-CN" altLang="en-US"/>
            </a:p>
          </p:txBody>
        </p:sp>
      </p:grpSp>
      <p:pic>
        <p:nvPicPr>
          <p:cNvPr id="2097206" name="picture 488"/>
          <p:cNvPicPr>
            <a:picLocks noChangeAspect="1"/>
          </p:cNvPicPr>
          <p:nvPr/>
        </p:nvPicPr>
        <p:blipFill>
          <a:blip r:embed="rId6"/>
          <a:stretch>
            <a:fillRect/>
          </a:stretch>
        </p:blipFill>
        <p:spPr>
          <a:xfrm rot="21600000">
            <a:off x="6952385" y="4263351"/>
            <a:ext cx="1080179" cy="550752"/>
          </a:xfrm>
          <a:prstGeom prst="rect">
            <a:avLst/>
          </a:prstGeom>
        </p:spPr>
      </p:pic>
      <p:sp>
        <p:nvSpPr>
          <p:cNvPr id="1049008" name="textbox 490"/>
          <p:cNvSpPr/>
          <p:nvPr/>
        </p:nvSpPr>
        <p:spPr>
          <a:xfrm>
            <a:off x="2921168" y="4374420"/>
            <a:ext cx="1488439" cy="440690"/>
          </a:xfrm>
          <a:prstGeom prst="rect">
            <a:avLst/>
          </a:prstGeom>
        </p:spPr>
        <p:txBody>
          <a:bodyPr vert="horz" wrap="square" lIns="0" tIns="0" rIns="0" bIns="0"/>
          <a:p>
            <a:pPr algn="l" rtl="0" eaLnBrk="0">
              <a:lnSpc>
                <a:spcPct val="76000"/>
              </a:lnSpc>
            </a:pPr>
            <a:endParaRPr lang="en-US" altLang="en-US" sz="100" dirty="0"/>
          </a:p>
          <a:p>
            <a:pPr marL="255270" indent="-243205" algn="l" rtl="0" eaLnBrk="0">
              <a:lnSpc>
                <a:spcPct val="105000"/>
              </a:lnSpc>
            </a:pPr>
            <a:r>
              <a:rPr sz="1300" kern="0" spc="70" dirty="0">
                <a:solidFill>
                  <a:srgbClr val="0000FF">
                    <a:alpha val="100000"/>
                  </a:srgbClr>
                </a:solidFill>
                <a:latin typeface="Symbol" panose="05050102010706020507"/>
                <a:ea typeface="Symbol" panose="05050102010706020507"/>
                <a:cs typeface="Symbol" panose="05050102010706020507"/>
              </a:rPr>
              <a:t>·</a:t>
            </a:r>
            <a:r>
              <a:rPr sz="1300" kern="0" spc="80" dirty="0">
                <a:solidFill>
                  <a:srgbClr val="0000FF">
                    <a:alpha val="100000"/>
                  </a:srgbClr>
                </a:solidFill>
                <a:latin typeface="Symbol" panose="05050102010706020507"/>
                <a:ea typeface="Symbol" panose="05050102010706020507"/>
                <a:cs typeface="Symbol" panose="05050102010706020507"/>
              </a:rPr>
              <a:t>   </a:t>
            </a:r>
            <a:r>
              <a:rPr sz="1300" kern="0" spc="70" dirty="0">
                <a:ln w="70" cap="flat" cmpd="sng">
                  <a:solidFill>
                    <a:srgbClr val="0000FF">
                      <a:alpha val="100000"/>
                    </a:srgbClr>
                  </a:solidFill>
                  <a:prstDash val="solid"/>
                  <a:round/>
                </a:ln>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保证文件不被篡</a:t>
            </a:r>
            <a:r>
              <a:rPr sz="1300" kern="0" spc="20" dirty="0">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60" dirty="0">
                <a:ln w="70" cap="flat" cmpd="sng">
                  <a:solidFill>
                    <a:srgbClr val="0000FF">
                      <a:alpha val="100000"/>
                    </a:srgbClr>
                  </a:solidFill>
                  <a:prstDash val="solid"/>
                  <a:round/>
                </a:ln>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改的电子签名</a:t>
            </a:r>
            <a:endParaRPr lang="en-US" altLang="en-US" sz="1300" dirty="0"/>
          </a:p>
        </p:txBody>
      </p:sp>
      <p:grpSp>
        <p:nvGrpSpPr>
          <p:cNvPr id="149" name="group 58"/>
          <p:cNvGrpSpPr/>
          <p:nvPr/>
        </p:nvGrpSpPr>
        <p:grpSpPr>
          <a:xfrm rot="21600000">
            <a:off x="3483482" y="3554230"/>
            <a:ext cx="901731" cy="541650"/>
            <a:chOff x="0" y="0"/>
            <a:chExt cx="901731" cy="541650"/>
          </a:xfrm>
        </p:grpSpPr>
        <p:sp>
          <p:nvSpPr>
            <p:cNvPr id="1049009" name="path"/>
            <p:cNvSpPr/>
            <p:nvPr/>
          </p:nvSpPr>
          <p:spPr>
            <a:xfrm>
              <a:off x="1522" y="0"/>
              <a:ext cx="898687" cy="541650"/>
            </a:xfrm>
            <a:custGeom>
              <a:avLst/>
              <a:gdLst/>
              <a:ahLst/>
              <a:cxnLst/>
              <a:rect l="0" t="0" r="0" b="0"/>
              <a:pathLst>
                <a:path w="1415" h="852">
                  <a:moveTo>
                    <a:pt x="0" y="744"/>
                  </a:moveTo>
                  <a:lnTo>
                    <a:pt x="0" y="108"/>
                  </a:lnTo>
                  <a:cubicBezTo>
                    <a:pt x="214" y="249"/>
                    <a:pt x="492" y="249"/>
                    <a:pt x="707" y="108"/>
                  </a:cubicBezTo>
                  <a:cubicBezTo>
                    <a:pt x="922" y="-32"/>
                    <a:pt x="1200" y="-32"/>
                    <a:pt x="1415" y="108"/>
                  </a:cubicBezTo>
                  <a:lnTo>
                    <a:pt x="1415" y="108"/>
                  </a:lnTo>
                  <a:lnTo>
                    <a:pt x="1415" y="744"/>
                  </a:lnTo>
                  <a:cubicBezTo>
                    <a:pt x="1200" y="603"/>
                    <a:pt x="922" y="603"/>
                    <a:pt x="707" y="744"/>
                  </a:cubicBezTo>
                  <a:cubicBezTo>
                    <a:pt x="492" y="885"/>
                    <a:pt x="214" y="885"/>
                    <a:pt x="0" y="744"/>
                  </a:cubicBezTo>
                </a:path>
              </a:pathLst>
            </a:custGeom>
            <a:solidFill>
              <a:srgbClr val="E8EEF7">
                <a:alpha val="100000"/>
              </a:srgbClr>
            </a:solidFill>
            <a:ln cap="flat">
              <a:noFill/>
              <a:prstDash val="solid"/>
              <a:miter lim="0"/>
            </a:ln>
          </p:spPr>
          <p:txBody>
            <a:bodyPr rtlCol="0"/>
            <a:p>
              <a:pPr algn="ctr"/>
              <a:endParaRPr lang="zh-CN" altLang="en-US"/>
            </a:p>
          </p:txBody>
        </p:sp>
        <p:sp>
          <p:nvSpPr>
            <p:cNvPr id="1049010" name="path"/>
            <p:cNvSpPr/>
            <p:nvPr/>
          </p:nvSpPr>
          <p:spPr>
            <a:xfrm>
              <a:off x="0" y="0"/>
              <a:ext cx="901731" cy="474383"/>
            </a:xfrm>
            <a:custGeom>
              <a:avLst/>
              <a:gdLst/>
              <a:ahLst/>
              <a:cxnLst/>
              <a:rect l="0" t="0" r="0" b="0"/>
              <a:pathLst>
                <a:path w="1420" h="747">
                  <a:moveTo>
                    <a:pt x="2" y="744"/>
                  </a:moveTo>
                  <a:lnTo>
                    <a:pt x="2" y="108"/>
                  </a:lnTo>
                  <a:cubicBezTo>
                    <a:pt x="217" y="249"/>
                    <a:pt x="495" y="249"/>
                    <a:pt x="710" y="108"/>
                  </a:cubicBezTo>
                  <a:cubicBezTo>
                    <a:pt x="924" y="-32"/>
                    <a:pt x="1202" y="-32"/>
                    <a:pt x="1417" y="108"/>
                  </a:cubicBezTo>
                  <a:lnTo>
                    <a:pt x="1417" y="108"/>
                  </a:lnTo>
                  <a:lnTo>
                    <a:pt x="1417" y="744"/>
                  </a:lnTo>
                  <a:cubicBezTo>
                    <a:pt x="1202" y="603"/>
                    <a:pt x="924" y="603"/>
                    <a:pt x="710" y="744"/>
                  </a:cubicBezTo>
                  <a:cubicBezTo>
                    <a:pt x="495" y="885"/>
                    <a:pt x="217" y="885"/>
                    <a:pt x="2" y="744"/>
                  </a:cubicBezTo>
                </a:path>
              </a:pathLst>
            </a:custGeom>
            <a:noFill/>
            <a:ln w="3041" cap="rnd">
              <a:solidFill>
                <a:srgbClr val="000000">
                  <a:alpha val="100000"/>
                </a:srgbClr>
              </a:solidFill>
              <a:prstDash val="solid"/>
              <a:round/>
            </a:ln>
          </p:spPr>
          <p:txBody>
            <a:bodyPr rtlCol="0"/>
            <a:p>
              <a:pPr algn="ctr"/>
              <a:endParaRPr lang="zh-CN" altLang="en-US"/>
            </a:p>
          </p:txBody>
        </p:sp>
        <p:sp>
          <p:nvSpPr>
            <p:cNvPr id="1049011" name="path"/>
            <p:cNvSpPr/>
            <p:nvPr/>
          </p:nvSpPr>
          <p:spPr>
            <a:xfrm>
              <a:off x="521930" y="103592"/>
              <a:ext cx="288369" cy="252219"/>
            </a:xfrm>
            <a:custGeom>
              <a:avLst/>
              <a:gdLst/>
              <a:ahLst/>
              <a:cxnLst/>
              <a:rect l="0" t="0" r="0" b="0"/>
              <a:pathLst>
                <a:path w="454" h="397">
                  <a:moveTo>
                    <a:pt x="50" y="250"/>
                  </a:moveTo>
                  <a:lnTo>
                    <a:pt x="125" y="294"/>
                  </a:lnTo>
                  <a:moveTo>
                    <a:pt x="181" y="158"/>
                  </a:moveTo>
                  <a:lnTo>
                    <a:pt x="181" y="215"/>
                  </a:lnTo>
                  <a:moveTo>
                    <a:pt x="204" y="102"/>
                  </a:moveTo>
                  <a:lnTo>
                    <a:pt x="351" y="238"/>
                  </a:lnTo>
                  <a:moveTo>
                    <a:pt x="238" y="45"/>
                  </a:moveTo>
                  <a:lnTo>
                    <a:pt x="294" y="102"/>
                  </a:lnTo>
                  <a:moveTo>
                    <a:pt x="351" y="11"/>
                  </a:moveTo>
                  <a:cubicBezTo>
                    <a:pt x="306" y="141"/>
                    <a:pt x="250" y="266"/>
                    <a:pt x="181" y="385"/>
                  </a:cubicBezTo>
                  <a:moveTo>
                    <a:pt x="408" y="192"/>
                  </a:moveTo>
                  <a:cubicBezTo>
                    <a:pt x="413" y="211"/>
                    <a:pt x="425" y="227"/>
                    <a:pt x="442" y="238"/>
                  </a:cubicBezTo>
                  <a:moveTo>
                    <a:pt x="11" y="238"/>
                  </a:moveTo>
                  <a:lnTo>
                    <a:pt x="11" y="294"/>
                  </a:lnTo>
                </a:path>
              </a:pathLst>
            </a:custGeom>
            <a:noFill/>
            <a:ln w="15209" cap="rnd">
              <a:solidFill>
                <a:srgbClr val="000000">
                  <a:alpha val="100000"/>
                </a:srgbClr>
              </a:solidFill>
              <a:prstDash val="solid"/>
              <a:round/>
            </a:ln>
          </p:spPr>
          <p:txBody>
            <a:bodyPr rtlCol="0"/>
            <a:p>
              <a:pPr algn="ctr"/>
              <a:endParaRPr lang="zh-CN" altLang="en-US"/>
            </a:p>
          </p:txBody>
        </p:sp>
      </p:grpSp>
      <p:sp>
        <p:nvSpPr>
          <p:cNvPr id="1049012" name="textbox 498"/>
          <p:cNvSpPr/>
          <p:nvPr/>
        </p:nvSpPr>
        <p:spPr>
          <a:xfrm>
            <a:off x="7576253" y="3223283"/>
            <a:ext cx="1132839" cy="441959"/>
          </a:xfrm>
          <a:prstGeom prst="rect">
            <a:avLst/>
          </a:prstGeom>
        </p:spPr>
        <p:txBody>
          <a:bodyPr vert="horz" wrap="square" lIns="0" tIns="0" rIns="0" bIns="0"/>
          <a:p>
            <a:pPr algn="l" rtl="0" eaLnBrk="0">
              <a:lnSpc>
                <a:spcPct val="85000"/>
              </a:lnSpc>
            </a:pPr>
            <a:endParaRPr lang="en-US" altLang="en-US" sz="100" dirty="0"/>
          </a:p>
          <a:p>
            <a:pPr marL="241300" indent="-228600" algn="l" rtl="0" eaLnBrk="0">
              <a:lnSpc>
                <a:spcPct val="105000"/>
              </a:lnSpc>
            </a:pPr>
            <a:r>
              <a:rPr sz="1300" kern="0" spc="30" dirty="0">
                <a:solidFill>
                  <a:srgbClr val="0000FF">
                    <a:alpha val="100000"/>
                  </a:srgbClr>
                </a:solidFill>
                <a:latin typeface="Symbol" panose="05050102010706020507"/>
                <a:ea typeface="Symbol" panose="05050102010706020507"/>
                <a:cs typeface="Symbol" panose="05050102010706020507"/>
              </a:rPr>
              <a:t>·    </a:t>
            </a:r>
            <a:r>
              <a:rPr sz="1300" kern="0" spc="30" dirty="0">
                <a:ln w="70" cap="flat" cmpd="sng">
                  <a:solidFill>
                    <a:srgbClr val="0000FF">
                      <a:alpha val="100000"/>
                    </a:srgbClr>
                  </a:solidFill>
                  <a:prstDash val="solid"/>
                  <a:round/>
                </a:ln>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网上交易的</a:t>
            </a:r>
            <a:r>
              <a:rPr sz="1300" kern="0" spc="0" dirty="0">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 </a:t>
            </a:r>
            <a:r>
              <a:rPr sz="1300" kern="0" spc="80" dirty="0">
                <a:ln w="70" cap="flat" cmpd="sng">
                  <a:solidFill>
                    <a:srgbClr val="0000FF">
                      <a:alpha val="100000"/>
                    </a:srgbClr>
                  </a:solidFill>
                  <a:prstDash val="solid"/>
                  <a:round/>
                </a:ln>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加密和认证</a:t>
            </a:r>
            <a:endParaRPr lang="en-US" altLang="en-US" sz="1300" dirty="0"/>
          </a:p>
        </p:txBody>
      </p:sp>
      <p:pic>
        <p:nvPicPr>
          <p:cNvPr id="2097207" name="picture 500"/>
          <p:cNvPicPr>
            <a:picLocks noChangeAspect="1"/>
          </p:cNvPicPr>
          <p:nvPr/>
        </p:nvPicPr>
        <p:blipFill>
          <a:blip r:embed="rId7"/>
          <a:stretch>
            <a:fillRect/>
          </a:stretch>
        </p:blipFill>
        <p:spPr>
          <a:xfrm rot="21600000">
            <a:off x="824483" y="408431"/>
            <a:ext cx="419100" cy="655320"/>
          </a:xfrm>
          <a:prstGeom prst="rect">
            <a:avLst/>
          </a:prstGeom>
        </p:spPr>
      </p:pic>
      <p:sp>
        <p:nvSpPr>
          <p:cNvPr id="1049013"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1049014" name="textbox 504"/>
          <p:cNvSpPr/>
          <p:nvPr/>
        </p:nvSpPr>
        <p:spPr>
          <a:xfrm>
            <a:off x="5413864" y="2505769"/>
            <a:ext cx="1310639" cy="227965"/>
          </a:xfrm>
          <a:prstGeom prst="rect">
            <a:avLst/>
          </a:prstGeom>
        </p:spPr>
        <p:txBody>
          <a:bodyPr vert="horz" wrap="square" lIns="0" tIns="0" rIns="0" bIns="0"/>
          <a:p>
            <a:pPr algn="l" rtl="0" eaLnBrk="0">
              <a:lnSpc>
                <a:spcPct val="83000"/>
              </a:lnSpc>
            </a:pPr>
            <a:endParaRPr lang="en-US" altLang="en-US" sz="100" dirty="0"/>
          </a:p>
          <a:p>
            <a:pPr marL="12700" algn="l" rtl="0" eaLnBrk="0">
              <a:lnSpc>
                <a:spcPts val="1595"/>
              </a:lnSpc>
            </a:pPr>
            <a:r>
              <a:rPr sz="1300" kern="0" spc="50" dirty="0">
                <a:solidFill>
                  <a:srgbClr val="0000FF">
                    <a:alpha val="100000"/>
                  </a:srgbClr>
                </a:solidFill>
                <a:latin typeface="Symbol" panose="05050102010706020507"/>
                <a:ea typeface="Symbol" panose="05050102010706020507"/>
                <a:cs typeface="Symbol" panose="05050102010706020507"/>
              </a:rPr>
              <a:t>·</a:t>
            </a:r>
            <a:r>
              <a:rPr sz="1300" kern="0" spc="10" dirty="0">
                <a:solidFill>
                  <a:srgbClr val="0000FF">
                    <a:alpha val="100000"/>
                  </a:srgbClr>
                </a:solidFill>
                <a:latin typeface="Symbol" panose="05050102010706020507"/>
                <a:ea typeface="Symbol" panose="05050102010706020507"/>
                <a:cs typeface="Symbol" panose="05050102010706020507"/>
              </a:rPr>
              <a:t>    </a:t>
            </a:r>
            <a:r>
              <a:rPr sz="1300" kern="0" spc="50" dirty="0">
                <a:ln w="70" cap="flat" cmpd="sng">
                  <a:solidFill>
                    <a:srgbClr val="0000FF">
                      <a:alpha val="100000"/>
                    </a:srgbClr>
                  </a:solidFill>
                  <a:prstDash val="solid"/>
                  <a:round/>
                </a:ln>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本人身份认证</a:t>
            </a:r>
            <a:endParaRPr lang="en-US" altLang="en-US" sz="1300" dirty="0"/>
          </a:p>
        </p:txBody>
      </p:sp>
      <p:graphicFrame>
        <p:nvGraphicFramePr>
          <p:cNvPr id="4194317" name="table 506"/>
          <p:cNvGraphicFramePr>
            <a:graphicFrameLocks noGrp="1"/>
          </p:cNvGraphicFramePr>
          <p:nvPr/>
        </p:nvGraphicFramePr>
        <p:xfrm>
          <a:off x="5275683" y="1946950"/>
          <a:ext cx="871854" cy="203834"/>
        </p:xfrm>
        <a:graphic>
          <a:graphicData uri="http://schemas.openxmlformats.org/drawingml/2006/table">
            <a:tbl>
              <a:tblPr/>
              <a:tblGrid>
                <a:gridCol w="871854"/>
              </a:tblGrid>
              <a:tr h="197484">
                <a:tc>
                  <a:txBody>
                    <a:bodyPr/>
                    <a:p>
                      <a:pPr algn="l" rtl="0" eaLnBrk="0">
                        <a:lnSpc>
                          <a:spcPct val="102000"/>
                        </a:lnSpc>
                      </a:pPr>
                      <a:endParaRPr lang="en-US" altLang="en-US" sz="200" dirty="0"/>
                    </a:p>
                    <a:p>
                      <a:pPr marL="216535" algn="l" rtl="0" eaLnBrk="0">
                        <a:lnSpc>
                          <a:spcPts val="1310"/>
                        </a:lnSpc>
                      </a:pPr>
                      <a:r>
                        <a:rPr sz="900" kern="0" spc="40" dirty="0">
                          <a:ln w="50" cap="flat" cmpd="sng">
                            <a:solidFill>
                              <a:srgbClr val="000000">
                                <a:alpha val="100000"/>
                              </a:srgbClr>
                            </a:solidFill>
                            <a:prstDash val="solid"/>
                            <a:round/>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lang="en-US" altLang="en-US" sz="900" dirty="0"/>
                    </a:p>
                  </a:txBody>
                  <a:tcPr marL="0" marR="0" marT="0" marB="0" vert="horz">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1049015" name="textbox 508"/>
          <p:cNvSpPr/>
          <p:nvPr/>
        </p:nvSpPr>
        <p:spPr>
          <a:xfrm>
            <a:off x="5237748" y="1760888"/>
            <a:ext cx="915669" cy="170179"/>
          </a:xfrm>
          <a:prstGeom prst="rect">
            <a:avLst/>
          </a:prstGeom>
        </p:spPr>
        <p:txBody>
          <a:bodyPr vert="horz" wrap="square" lIns="0" tIns="0" rIns="0" bIns="0"/>
          <a:p>
            <a:pPr algn="l" rtl="0" eaLnBrk="0">
              <a:lnSpc>
                <a:spcPct val="83000"/>
              </a:lnSpc>
            </a:pPr>
            <a:endParaRPr lang="en-US" altLang="en-US" sz="100" dirty="0"/>
          </a:p>
          <a:p>
            <a:pPr marL="12700" algn="l" rtl="0" eaLnBrk="0">
              <a:lnSpc>
                <a:spcPts val="1135"/>
              </a:lnSpc>
            </a:pPr>
            <a:r>
              <a:rPr sz="900" kern="0" spc="0" dirty="0">
                <a:ln w="50" cap="flat" cmpd="sng">
                  <a:solidFill>
                    <a:srgbClr val="000000">
                      <a:alpha val="100000"/>
                    </a:srgbClr>
                  </a:solidFill>
                  <a:prstDash val="solid"/>
                  <a:round/>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PASSWORD</a:t>
            </a:r>
            <a:r>
              <a:rPr sz="900" kern="0" spc="170" dirty="0">
                <a:ln w="50" cap="flat" cmpd="sng">
                  <a:solidFill>
                    <a:srgbClr val="000000">
                      <a:alpha val="100000"/>
                    </a:srgbClr>
                  </a:solidFill>
                  <a:prstDash val="solid"/>
                  <a:round/>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(密钥)</a:t>
            </a:r>
            <a:endParaRPr lang="en-US" altLang="en-US" sz="900" dirty="0"/>
          </a:p>
        </p:txBody>
      </p:sp>
      <p:grpSp>
        <p:nvGrpSpPr>
          <p:cNvPr id="150" name="group 60"/>
          <p:cNvGrpSpPr/>
          <p:nvPr/>
        </p:nvGrpSpPr>
        <p:grpSpPr>
          <a:xfrm rot="21600000">
            <a:off x="5931172" y="2195052"/>
            <a:ext cx="429510" cy="167976"/>
            <a:chOff x="0" y="0"/>
            <a:chExt cx="429510" cy="167976"/>
          </a:xfrm>
        </p:grpSpPr>
        <p:pic>
          <p:nvPicPr>
            <p:cNvPr id="2097208" name="picture 510"/>
            <p:cNvPicPr>
              <a:picLocks noChangeAspect="1"/>
            </p:cNvPicPr>
            <p:nvPr/>
          </p:nvPicPr>
          <p:blipFill>
            <a:blip r:embed="rId8"/>
            <a:stretch>
              <a:fillRect/>
            </a:stretch>
          </p:blipFill>
          <p:spPr>
            <a:xfrm rot="21600000">
              <a:off x="0" y="0"/>
              <a:ext cx="429510" cy="167976"/>
            </a:xfrm>
            <a:prstGeom prst="rect">
              <a:avLst/>
            </a:prstGeom>
          </p:spPr>
        </p:pic>
        <p:sp>
          <p:nvSpPr>
            <p:cNvPr id="1049016" name="textbox 512"/>
            <p:cNvSpPr/>
            <p:nvPr/>
          </p:nvSpPr>
          <p:spPr>
            <a:xfrm>
              <a:off x="-12700" y="-12700"/>
              <a:ext cx="455294" cy="210184"/>
            </a:xfrm>
            <a:prstGeom prst="rect">
              <a:avLst/>
            </a:prstGeom>
          </p:spPr>
          <p:txBody>
            <a:bodyPr vert="horz" wrap="square" lIns="0" tIns="0" rIns="0" bIns="0"/>
            <a:p>
              <a:pPr algn="l" rtl="0" eaLnBrk="0">
                <a:lnSpc>
                  <a:spcPct val="169000"/>
                </a:lnSpc>
              </a:pPr>
              <a:endParaRPr lang="en-US" altLang="en-US" sz="100" dirty="0"/>
            </a:p>
            <a:p>
              <a:pPr marL="106680" algn="l" rtl="0" eaLnBrk="0">
                <a:lnSpc>
                  <a:spcPts val="1125"/>
                </a:lnSpc>
                <a:spcBef>
                  <a:spcPts val="0"/>
                </a:spcBef>
              </a:pPr>
              <a:r>
                <a:rPr sz="900" kern="0" spc="60" dirty="0">
                  <a:ln w="50" cap="flat" cmpd="sng">
                    <a:solidFill>
                      <a:srgbClr val="000000">
                        <a:alpha val="100000"/>
                      </a:srgbClr>
                    </a:solidFill>
                    <a:prstDash val="solid"/>
                    <a:miter lim="2"/>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发送</a:t>
              </a:r>
              <a:endParaRPr lang="en-US" altLang="en-US" sz="900" dirty="0"/>
            </a:p>
          </p:txBody>
        </p:sp>
      </p:grpSp>
      <p:sp>
        <p:nvSpPr>
          <p:cNvPr id="1049017" name="path"/>
          <p:cNvSpPr/>
          <p:nvPr/>
        </p:nvSpPr>
        <p:spPr>
          <a:xfrm>
            <a:off x="3911953" y="3657822"/>
            <a:ext cx="180579" cy="288069"/>
          </a:xfrm>
          <a:custGeom>
            <a:avLst/>
            <a:gdLst/>
            <a:ahLst/>
            <a:cxnLst/>
            <a:rect l="0" t="0" r="0" b="0"/>
            <a:pathLst>
              <a:path w="284" h="453">
                <a:moveTo>
                  <a:pt x="181" y="11"/>
                </a:moveTo>
                <a:lnTo>
                  <a:pt x="102" y="102"/>
                </a:lnTo>
                <a:moveTo>
                  <a:pt x="11" y="272"/>
                </a:moveTo>
                <a:lnTo>
                  <a:pt x="272" y="125"/>
                </a:lnTo>
                <a:moveTo>
                  <a:pt x="159" y="102"/>
                </a:moveTo>
                <a:cubicBezTo>
                  <a:pt x="196" y="211"/>
                  <a:pt x="215" y="326"/>
                  <a:pt x="215" y="441"/>
                </a:cubicBezTo>
              </a:path>
            </a:pathLst>
          </a:custGeom>
          <a:noFill/>
          <a:ln w="15209" cap="rnd">
            <a:solidFill>
              <a:srgbClr val="000000">
                <a:alpha val="100000"/>
              </a:srgbClr>
            </a:solidFill>
            <a:prstDash val="solid"/>
            <a:round/>
          </a:ln>
        </p:spPr>
        <p:txBody>
          <a:bodyPr rtlCol="0"/>
          <a:p>
            <a:pPr algn="ctr"/>
            <a:endParaRPr lang="zh-CN" altLang="en-US"/>
          </a:p>
        </p:txBody>
      </p:sp>
      <p:sp>
        <p:nvSpPr>
          <p:cNvPr id="1049018" name="path"/>
          <p:cNvSpPr/>
          <p:nvPr/>
        </p:nvSpPr>
        <p:spPr>
          <a:xfrm>
            <a:off x="6086770" y="2730274"/>
            <a:ext cx="387789" cy="108817"/>
          </a:xfrm>
          <a:custGeom>
            <a:avLst/>
            <a:gdLst/>
            <a:ahLst/>
            <a:cxnLst/>
            <a:rect l="0" t="0" r="0" b="0"/>
            <a:pathLst>
              <a:path w="610" h="171">
                <a:moveTo>
                  <a:pt x="608" y="168"/>
                </a:moveTo>
                <a:lnTo>
                  <a:pt x="608" y="82"/>
                </a:lnTo>
                <a:lnTo>
                  <a:pt x="2" y="82"/>
                </a:lnTo>
                <a:lnTo>
                  <a:pt x="2" y="2"/>
                </a:lnTo>
              </a:path>
            </a:pathLst>
          </a:custGeom>
          <a:noFill/>
          <a:ln w="3041" cap="rnd">
            <a:solidFill>
              <a:srgbClr val="000000">
                <a:alpha val="100000"/>
              </a:srgbClr>
            </a:solidFill>
            <a:prstDash val="solid"/>
            <a:round/>
          </a:ln>
        </p:spPr>
        <p:txBody>
          <a:bodyPr rtlCol="0"/>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53" name=""/>
        <p:cNvGrpSpPr/>
        <p:nvPr/>
      </p:nvGrpSpPr>
      <p:grpSpPr>
        <a:xfrm>
          <a:off x="0" y="0"/>
          <a:ext cx="0" cy="0"/>
          <a:chOff x="0" y="0"/>
          <a:chExt cx="0" cy="0"/>
        </a:xfrm>
      </p:grpSpPr>
      <p:pic>
        <p:nvPicPr>
          <p:cNvPr id="2097209" name="picture 518"/>
          <p:cNvPicPr>
            <a:picLocks noChangeAspect="1"/>
          </p:cNvPicPr>
          <p:nvPr/>
        </p:nvPicPr>
        <p:blipFill>
          <a:blip r:embed="rId1"/>
          <a:stretch>
            <a:fillRect/>
          </a:stretch>
        </p:blipFill>
        <p:spPr>
          <a:xfrm rot="21600000">
            <a:off x="1569719" y="1219148"/>
            <a:ext cx="8904036" cy="4879795"/>
          </a:xfrm>
          <a:prstGeom prst="rect">
            <a:avLst/>
          </a:prstGeom>
        </p:spPr>
      </p:pic>
      <p:sp>
        <p:nvSpPr>
          <p:cNvPr id="1049021" name="textbox 520"/>
          <p:cNvSpPr/>
          <p:nvPr/>
        </p:nvSpPr>
        <p:spPr>
          <a:xfrm>
            <a:off x="1591801" y="488157"/>
            <a:ext cx="4871084" cy="479425"/>
          </a:xfrm>
          <a:prstGeom prst="rect">
            <a:avLst/>
          </a:prstGeom>
        </p:spPr>
        <p:txBody>
          <a:bodyPr vert="horz" wrap="square" lIns="0" tIns="0" rIns="0" bIns="0"/>
          <a:p>
            <a:pPr algn="l" rtl="0" eaLnBrk="0">
              <a:lnSpc>
                <a:spcPct val="84000"/>
              </a:lnSpc>
            </a:pPr>
            <a:endParaRPr lang="en-US" altLang="en-US" sz="100" dirty="0"/>
          </a:p>
          <a:p>
            <a:pPr marL="12700" algn="l" rtl="0" eaLnBrk="0">
              <a:lnSpc>
                <a:spcPct val="93000"/>
              </a:lnSpc>
            </a:pPr>
            <a:r>
              <a:rPr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密码学在信息安全中的</a:t>
            </a:r>
            <a:r>
              <a:rPr sz="3200" kern="0" spc="-3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地位</a:t>
            </a:r>
            <a:endParaRPr lang="en-US" altLang="en-US" sz="3200" dirty="0"/>
          </a:p>
        </p:txBody>
      </p:sp>
      <p:sp>
        <p:nvSpPr>
          <p:cNvPr id="1049022"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10" name="picture 526"/>
          <p:cNvPicPr>
            <a:picLocks noChangeAspect="1"/>
          </p:cNvPicPr>
          <p:nvPr/>
        </p:nvPicPr>
        <p:blipFill>
          <a:blip r:embed="rId2"/>
          <a:stretch>
            <a:fillRect/>
          </a:stretch>
        </p:blipFill>
        <p:spPr>
          <a:xfrm rot="21600000">
            <a:off x="824483" y="408431"/>
            <a:ext cx="419100" cy="655320"/>
          </a:xfrm>
          <a:prstGeom prst="rect">
            <a:avLst/>
          </a:prstGeom>
        </p:spPr>
      </p:pic>
      <p:sp>
        <p:nvSpPr>
          <p:cNvPr id="1049023" name="rect"/>
          <p:cNvSpPr/>
          <p:nvPr/>
        </p:nvSpPr>
        <p:spPr>
          <a:xfrm>
            <a:off x="1465326" y="1019555"/>
            <a:ext cx="9037573" cy="28956"/>
          </a:xfrm>
          <a:prstGeom prst="rect">
            <a:avLst/>
          </a:prstGeom>
          <a:solidFill>
            <a:srgbClr val="5B9BD5">
              <a:alpha val="100000"/>
            </a:srgbClr>
          </a:solidFill>
          <a:ln cap="flat">
            <a:noFill/>
            <a:prstDash val="solid"/>
            <a:miter lim="0"/>
          </a:ln>
        </p:spPr>
        <p:txBody>
          <a:bodyPr rtlCol="0"/>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54" name=""/>
        <p:cNvGrpSpPr/>
        <p:nvPr/>
      </p:nvGrpSpPr>
      <p:grpSpPr>
        <a:xfrm>
          <a:off x="0" y="0"/>
          <a:ext cx="0" cy="0"/>
          <a:chOff x="0" y="0"/>
          <a:chExt cx="0" cy="0"/>
        </a:xfrm>
      </p:grpSpPr>
      <p:sp>
        <p:nvSpPr>
          <p:cNvPr id="1049024" name="rect"/>
          <p:cNvSpPr/>
          <p:nvPr/>
        </p:nvSpPr>
        <p:spPr>
          <a:xfrm>
            <a:off x="588263" y="408432"/>
            <a:ext cx="10460735" cy="608076"/>
          </a:xfrm>
          <a:prstGeom prst="rect">
            <a:avLst/>
          </a:prstGeom>
          <a:solidFill>
            <a:srgbClr val="D4E4F3">
              <a:alpha val="100000"/>
            </a:srgbClr>
          </a:solidFill>
          <a:ln cap="flat">
            <a:noFill/>
            <a:prstDash val="solid"/>
            <a:miter lim="0"/>
          </a:ln>
        </p:spPr>
        <p:txBody>
          <a:bodyPr rtlCol="0"/>
          <a:p>
            <a:pPr algn="ctr"/>
            <a:endParaRPr lang="zh-CN" altLang="en-US"/>
          </a:p>
        </p:txBody>
      </p:sp>
      <p:sp>
        <p:nvSpPr>
          <p:cNvPr id="1049025" name="textbox 4"/>
          <p:cNvSpPr/>
          <p:nvPr/>
        </p:nvSpPr>
        <p:spPr>
          <a:xfrm>
            <a:off x="3562782" y="2668854"/>
            <a:ext cx="5252720" cy="539115"/>
          </a:xfrm>
          <a:prstGeom prst="rect">
            <a:avLst/>
          </a:prstGeom>
        </p:spPr>
        <p:txBody>
          <a:bodyPr vert="horz" wrap="square" lIns="0" tIns="0" rIns="0" bIns="0"/>
          <a:p>
            <a:pPr algn="l" rtl="0" eaLnBrk="0">
              <a:lnSpc>
                <a:spcPct val="68000"/>
              </a:lnSpc>
            </a:pPr>
            <a:endParaRPr lang="en-US" altLang="en-US" sz="100" dirty="0"/>
          </a:p>
          <a:p>
            <a:pPr marL="12700" algn="l" rtl="0" eaLnBrk="0">
              <a:lnSpc>
                <a:spcPct val="94000"/>
              </a:lnSpc>
            </a:pPr>
            <a:r>
              <a:rPr sz="3600" kern="0" spc="-9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第二讲</a:t>
            </a:r>
            <a:r>
              <a:rPr sz="3600" kern="0" spc="800" dirty="0">
                <a:solidFill>
                  <a:srgbClr val="000000">
                    <a:alpha val="100000"/>
                  </a:srgbClr>
                </a:solidFill>
                <a:latin typeface="仿宋" panose="02010609060101010101" charset="-122"/>
                <a:ea typeface="仿宋" panose="02010609060101010101" charset="-122"/>
                <a:cs typeface="仿宋" panose="02010609060101010101" charset="-122"/>
              </a:rPr>
              <a:t> </a:t>
            </a:r>
            <a:r>
              <a:rPr sz="3600" kern="0" spc="-9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中国古代密码艺术</a:t>
            </a:r>
            <a:endParaRPr lang="en-US" alt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55" name=""/>
        <p:cNvGrpSpPr/>
        <p:nvPr/>
      </p:nvGrpSpPr>
      <p:grpSpPr>
        <a:xfrm>
          <a:off x="0" y="0"/>
          <a:ext cx="0" cy="0"/>
          <a:chOff x="0" y="0"/>
          <a:chExt cx="0" cy="0"/>
        </a:xfrm>
      </p:grpSpPr>
      <p:grpSp>
        <p:nvGrpSpPr>
          <p:cNvPr id="156" name="group 2"/>
          <p:cNvGrpSpPr/>
          <p:nvPr/>
        </p:nvGrpSpPr>
        <p:grpSpPr>
          <a:xfrm rot="21600000">
            <a:off x="3756659" y="3221735"/>
            <a:ext cx="5507735" cy="812292"/>
            <a:chOff x="0" y="0"/>
            <a:chExt cx="5507735" cy="812292"/>
          </a:xfrm>
        </p:grpSpPr>
        <p:pic>
          <p:nvPicPr>
            <p:cNvPr id="2097211" name="picture 12"/>
            <p:cNvPicPr>
              <a:picLocks noChangeAspect="1"/>
            </p:cNvPicPr>
            <p:nvPr/>
          </p:nvPicPr>
          <p:blipFill>
            <a:blip r:embed="rId1"/>
            <a:stretch>
              <a:fillRect/>
            </a:stretch>
          </p:blipFill>
          <p:spPr>
            <a:xfrm rot="21600000">
              <a:off x="0" y="0"/>
              <a:ext cx="5507735" cy="812292"/>
            </a:xfrm>
            <a:prstGeom prst="rect">
              <a:avLst/>
            </a:prstGeom>
          </p:spPr>
        </p:pic>
        <p:sp>
          <p:nvSpPr>
            <p:cNvPr id="1049026" name="textbox 14"/>
            <p:cNvSpPr/>
            <p:nvPr/>
          </p:nvSpPr>
          <p:spPr>
            <a:xfrm>
              <a:off x="-12700" y="-12700"/>
              <a:ext cx="5533390" cy="875664"/>
            </a:xfrm>
            <a:prstGeom prst="rect">
              <a:avLst/>
            </a:prstGeom>
          </p:spPr>
          <p:txBody>
            <a:bodyPr vert="horz" wrap="square" lIns="0" tIns="0" rIns="0" bIns="0"/>
            <a:p>
              <a:pPr algn="l" rtl="0" eaLnBrk="0">
                <a:lnSpc>
                  <a:spcPct val="166000"/>
                </a:lnSpc>
              </a:pPr>
              <a:endParaRPr lang="en-US" altLang="en-US" sz="1000" dirty="0"/>
            </a:p>
            <a:p>
              <a:pPr marL="716915" algn="l" rtl="0" eaLnBrk="0">
                <a:lnSpc>
                  <a:spcPct val="94000"/>
                </a:lnSpc>
                <a:spcBef>
                  <a:spcPts val="5"/>
                </a:spcBef>
              </a:pPr>
              <a:r>
                <a:rPr sz="2400" kern="0" spc="-5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中国古代军事密码</a:t>
              </a:r>
              <a:endParaRPr lang="en-US" altLang="en-US" sz="2400" dirty="0"/>
            </a:p>
          </p:txBody>
        </p:sp>
      </p:grpSp>
      <p:grpSp>
        <p:nvGrpSpPr>
          <p:cNvPr id="157" name="group 4"/>
          <p:cNvGrpSpPr/>
          <p:nvPr/>
        </p:nvGrpSpPr>
        <p:grpSpPr>
          <a:xfrm rot="21600000">
            <a:off x="3555491" y="2057400"/>
            <a:ext cx="5708903" cy="812291"/>
            <a:chOff x="0" y="0"/>
            <a:chExt cx="5708903" cy="812291"/>
          </a:xfrm>
        </p:grpSpPr>
        <p:pic>
          <p:nvPicPr>
            <p:cNvPr id="2097212" name="picture 16"/>
            <p:cNvPicPr>
              <a:picLocks noChangeAspect="1"/>
            </p:cNvPicPr>
            <p:nvPr/>
          </p:nvPicPr>
          <p:blipFill>
            <a:blip r:embed="rId2"/>
            <a:stretch>
              <a:fillRect/>
            </a:stretch>
          </p:blipFill>
          <p:spPr>
            <a:xfrm rot="21600000">
              <a:off x="0" y="0"/>
              <a:ext cx="5708903" cy="812291"/>
            </a:xfrm>
            <a:prstGeom prst="rect">
              <a:avLst/>
            </a:prstGeom>
          </p:spPr>
        </p:pic>
        <p:sp>
          <p:nvSpPr>
            <p:cNvPr id="1049027" name="textbox 18"/>
            <p:cNvSpPr/>
            <p:nvPr/>
          </p:nvSpPr>
          <p:spPr>
            <a:xfrm>
              <a:off x="-12700" y="-12700"/>
              <a:ext cx="5734684" cy="877569"/>
            </a:xfrm>
            <a:prstGeom prst="rect">
              <a:avLst/>
            </a:prstGeom>
          </p:spPr>
          <p:txBody>
            <a:bodyPr vert="horz" wrap="square" lIns="0" tIns="0" rIns="0" bIns="0"/>
            <a:p>
              <a:pPr algn="l" rtl="0" eaLnBrk="0">
                <a:lnSpc>
                  <a:spcPct val="168000"/>
                </a:lnSpc>
              </a:pPr>
              <a:endParaRPr lang="en-US" altLang="en-US" sz="1000" dirty="0"/>
            </a:p>
            <a:p>
              <a:pPr marL="718185" algn="l" rtl="0" eaLnBrk="0">
                <a:lnSpc>
                  <a:spcPct val="94000"/>
                </a:lnSpc>
                <a:spcBef>
                  <a:spcPts val="0"/>
                </a:spcBef>
              </a:pPr>
              <a:r>
                <a:rPr sz="2400" kern="0" spc="-6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中国民间艺术</a:t>
              </a:r>
              <a:endParaRPr lang="en-US" altLang="en-US" sz="2400" dirty="0"/>
            </a:p>
          </p:txBody>
        </p:sp>
      </p:grpSp>
      <p:grpSp>
        <p:nvGrpSpPr>
          <p:cNvPr id="158" name="group 6"/>
          <p:cNvGrpSpPr/>
          <p:nvPr/>
        </p:nvGrpSpPr>
        <p:grpSpPr>
          <a:xfrm rot="21600000">
            <a:off x="3555491" y="4387596"/>
            <a:ext cx="5708903" cy="813816"/>
            <a:chOff x="0" y="0"/>
            <a:chExt cx="5708903" cy="813816"/>
          </a:xfrm>
        </p:grpSpPr>
        <p:pic>
          <p:nvPicPr>
            <p:cNvPr id="2097213" name="picture 20"/>
            <p:cNvPicPr>
              <a:picLocks noChangeAspect="1"/>
            </p:cNvPicPr>
            <p:nvPr/>
          </p:nvPicPr>
          <p:blipFill>
            <a:blip r:embed="rId3"/>
            <a:stretch>
              <a:fillRect/>
            </a:stretch>
          </p:blipFill>
          <p:spPr>
            <a:xfrm rot="21600000">
              <a:off x="0" y="0"/>
              <a:ext cx="5708903" cy="813816"/>
            </a:xfrm>
            <a:prstGeom prst="rect">
              <a:avLst/>
            </a:prstGeom>
          </p:spPr>
        </p:pic>
        <p:sp>
          <p:nvSpPr>
            <p:cNvPr id="1049028" name="textbox 22"/>
            <p:cNvSpPr/>
            <p:nvPr/>
          </p:nvSpPr>
          <p:spPr>
            <a:xfrm>
              <a:off x="-12700" y="-12700"/>
              <a:ext cx="5734684" cy="879475"/>
            </a:xfrm>
            <a:prstGeom prst="rect">
              <a:avLst/>
            </a:prstGeom>
          </p:spPr>
          <p:txBody>
            <a:bodyPr vert="horz" wrap="square" lIns="0" tIns="0" rIns="0" bIns="0"/>
            <a:p>
              <a:pPr algn="l" rtl="0" eaLnBrk="0">
                <a:lnSpc>
                  <a:spcPct val="168000"/>
                </a:lnSpc>
              </a:pPr>
              <a:endParaRPr lang="en-US" altLang="en-US" sz="1000" dirty="0"/>
            </a:p>
            <a:p>
              <a:pPr algn="l" rtl="0" eaLnBrk="0">
                <a:lnSpc>
                  <a:spcPct val="7000"/>
                </a:lnSpc>
              </a:pPr>
              <a:endParaRPr lang="en-US" altLang="en-US" sz="100" dirty="0"/>
            </a:p>
            <a:p>
              <a:pPr marL="718185" algn="l" rtl="0" eaLnBrk="0">
                <a:lnSpc>
                  <a:spcPct val="94000"/>
                </a:lnSpc>
              </a:pPr>
              <a:r>
                <a:rPr sz="2400" kern="0" spc="-6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中国近代密码</a:t>
              </a:r>
              <a:endParaRPr lang="en-US" altLang="en-US" sz="2400" dirty="0"/>
            </a:p>
          </p:txBody>
        </p:sp>
      </p:grpSp>
      <p:grpSp>
        <p:nvGrpSpPr>
          <p:cNvPr id="159" name="group 8"/>
          <p:cNvGrpSpPr/>
          <p:nvPr/>
        </p:nvGrpSpPr>
        <p:grpSpPr>
          <a:xfrm rot="21600000">
            <a:off x="2564257" y="1351661"/>
            <a:ext cx="1702942" cy="4498352"/>
            <a:chOff x="0" y="0"/>
            <a:chExt cx="1702942" cy="4498352"/>
          </a:xfrm>
        </p:grpSpPr>
        <p:sp>
          <p:nvSpPr>
            <p:cNvPr id="1049029" name="path"/>
            <p:cNvSpPr/>
            <p:nvPr/>
          </p:nvSpPr>
          <p:spPr>
            <a:xfrm>
              <a:off x="0" y="0"/>
              <a:ext cx="1283479" cy="4498352"/>
            </a:xfrm>
            <a:custGeom>
              <a:avLst/>
              <a:gdLst/>
              <a:ahLst/>
              <a:cxnLst/>
              <a:rect l="0" t="0" r="0" b="0"/>
              <a:pathLst>
                <a:path w="2021" h="7084">
                  <a:moveTo>
                    <a:pt x="320" y="4"/>
                  </a:moveTo>
                  <a:cubicBezTo>
                    <a:pt x="2213" y="1448"/>
                    <a:pt x="2577" y="4153"/>
                    <a:pt x="1134" y="6046"/>
                  </a:cubicBezTo>
                  <a:cubicBezTo>
                    <a:pt x="822" y="6455"/>
                    <a:pt x="439" y="6805"/>
                    <a:pt x="4" y="7079"/>
                  </a:cubicBezTo>
                  <a:lnTo>
                    <a:pt x="4" y="7079"/>
                  </a:lnTo>
                  <a:cubicBezTo>
                    <a:pt x="2018" y="5810"/>
                    <a:pt x="2622" y="3148"/>
                    <a:pt x="1353" y="1134"/>
                  </a:cubicBezTo>
                  <a:cubicBezTo>
                    <a:pt x="1079" y="699"/>
                    <a:pt x="729" y="316"/>
                    <a:pt x="320" y="4"/>
                  </a:cubicBezTo>
                </a:path>
              </a:pathLst>
            </a:custGeom>
            <a:noFill/>
            <a:ln w="6096" cap="flat">
              <a:solidFill>
                <a:srgbClr val="477BA9">
                  <a:alpha val="100000"/>
                </a:srgbClr>
              </a:solidFill>
              <a:prstDash val="solid"/>
              <a:miter lim="1000000"/>
            </a:ln>
          </p:spPr>
          <p:txBody>
            <a:bodyPr rtlCol="0"/>
            <a:p>
              <a:pPr algn="ctr"/>
              <a:endParaRPr lang="zh-CN" altLang="en-US"/>
            </a:p>
          </p:txBody>
        </p:sp>
        <p:sp>
          <p:nvSpPr>
            <p:cNvPr id="1049030" name="path"/>
            <p:cNvSpPr/>
            <p:nvPr/>
          </p:nvSpPr>
          <p:spPr>
            <a:xfrm>
              <a:off x="483742" y="603630"/>
              <a:ext cx="1016508" cy="1016508"/>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031" name="path"/>
            <p:cNvSpPr/>
            <p:nvPr/>
          </p:nvSpPr>
          <p:spPr>
            <a:xfrm>
              <a:off x="480694" y="600582"/>
              <a:ext cx="1022604"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9032" name="path"/>
            <p:cNvSpPr/>
            <p:nvPr/>
          </p:nvSpPr>
          <p:spPr>
            <a:xfrm>
              <a:off x="483742" y="2965830"/>
              <a:ext cx="1045463" cy="1016507"/>
            </a:xfrm>
            <a:custGeom>
              <a:avLst/>
              <a:gdLst/>
              <a:ahLst/>
              <a:cxnLst/>
              <a:rect l="0" t="0" r="0" b="0"/>
              <a:pathLst>
                <a:path w="1646" h="1600">
                  <a:moveTo>
                    <a:pt x="0" y="800"/>
                  </a:moveTo>
                  <a:cubicBezTo>
                    <a:pt x="0" y="358"/>
                    <a:pt x="368" y="0"/>
                    <a:pt x="823" y="0"/>
                  </a:cubicBezTo>
                  <a:cubicBezTo>
                    <a:pt x="1277" y="0"/>
                    <a:pt x="1646" y="358"/>
                    <a:pt x="1646" y="800"/>
                  </a:cubicBezTo>
                  <a:cubicBezTo>
                    <a:pt x="1646" y="1242"/>
                    <a:pt x="1277" y="1600"/>
                    <a:pt x="823" y="1600"/>
                  </a:cubicBezTo>
                  <a:cubicBezTo>
                    <a:pt x="36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033" name="path"/>
            <p:cNvSpPr/>
            <p:nvPr/>
          </p:nvSpPr>
          <p:spPr>
            <a:xfrm>
              <a:off x="480694" y="2962782"/>
              <a:ext cx="1051559" cy="1022603"/>
            </a:xfrm>
            <a:custGeom>
              <a:avLst/>
              <a:gdLst/>
              <a:ahLst/>
              <a:cxnLst/>
              <a:rect l="0" t="0" r="0" b="0"/>
              <a:pathLst>
                <a:path w="1655" h="1610">
                  <a:moveTo>
                    <a:pt x="4" y="805"/>
                  </a:moveTo>
                  <a:cubicBezTo>
                    <a:pt x="4" y="363"/>
                    <a:pt x="373" y="4"/>
                    <a:pt x="828" y="4"/>
                  </a:cubicBezTo>
                  <a:cubicBezTo>
                    <a:pt x="1282" y="4"/>
                    <a:pt x="1651" y="363"/>
                    <a:pt x="1651" y="805"/>
                  </a:cubicBezTo>
                  <a:cubicBezTo>
                    <a:pt x="1651" y="1247"/>
                    <a:pt x="1282" y="1605"/>
                    <a:pt x="828" y="1605"/>
                  </a:cubicBezTo>
                  <a:cubicBezTo>
                    <a:pt x="37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9034" name="path"/>
            <p:cNvSpPr/>
            <p:nvPr/>
          </p:nvSpPr>
          <p:spPr>
            <a:xfrm>
              <a:off x="683386" y="1767966"/>
              <a:ext cx="1016508"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035" name="path"/>
            <p:cNvSpPr/>
            <p:nvPr/>
          </p:nvSpPr>
          <p:spPr>
            <a:xfrm>
              <a:off x="680338" y="1764919"/>
              <a:ext cx="1022604"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9036" name="textbox 38"/>
          <p:cNvSpPr/>
          <p:nvPr/>
        </p:nvSpPr>
        <p:spPr>
          <a:xfrm>
            <a:off x="2745896" y="488157"/>
            <a:ext cx="4655820"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sz="3200" kern="0" spc="-90" dirty="0">
                <a:solidFill>
                  <a:srgbClr val="1F4E79">
                    <a:alpha val="100000"/>
                  </a:srgbClr>
                </a:solidFill>
                <a:latin typeface="仿宋" panose="02010609060101010101" charset="-122"/>
                <a:ea typeface="仿宋" panose="02010609060101010101" charset="-122"/>
                <a:cs typeface="仿宋" panose="02010609060101010101" charset="-122"/>
              </a:rPr>
              <a:t>第二讲</a:t>
            </a:r>
            <a:r>
              <a:rPr sz="3200" kern="0" spc="63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90" dirty="0">
                <a:solidFill>
                  <a:srgbClr val="1F4E79">
                    <a:alpha val="100000"/>
                  </a:srgbClr>
                </a:solidFill>
                <a:latin typeface="仿宋" panose="02010609060101010101" charset="-122"/>
                <a:ea typeface="仿宋" panose="02010609060101010101" charset="-122"/>
                <a:cs typeface="仿宋" panose="02010609060101010101" charset="-122"/>
              </a:rPr>
              <a:t>中国古代密码艺术</a:t>
            </a:r>
            <a:endParaRPr lang="en-US" altLang="en-US" sz="3200" dirty="0"/>
          </a:p>
        </p:txBody>
      </p:sp>
      <p:pic>
        <p:nvPicPr>
          <p:cNvPr id="2097214" name="picture 42"/>
          <p:cNvPicPr>
            <a:picLocks noChangeAspect="1"/>
          </p:cNvPicPr>
          <p:nvPr/>
        </p:nvPicPr>
        <p:blipFill>
          <a:blip r:embed="rId4"/>
          <a:stretch>
            <a:fillRect/>
          </a:stretch>
        </p:blipFill>
        <p:spPr>
          <a:xfrm rot="21600000">
            <a:off x="824483" y="408431"/>
            <a:ext cx="419100" cy="655320"/>
          </a:xfrm>
          <a:prstGeom prst="rect">
            <a:avLst/>
          </a:prstGeom>
        </p:spPr>
      </p:pic>
      <p:sp>
        <p:nvSpPr>
          <p:cNvPr id="1049037"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60" name=""/>
        <p:cNvGrpSpPr/>
        <p:nvPr/>
      </p:nvGrpSpPr>
      <p:grpSpPr>
        <a:xfrm>
          <a:off x="0" y="0"/>
          <a:ext cx="0" cy="0"/>
          <a:chOff x="0" y="0"/>
          <a:chExt cx="0" cy="0"/>
        </a:xfrm>
      </p:grpSpPr>
      <p:pic>
        <p:nvPicPr>
          <p:cNvPr id="2097215" name="picture 46"/>
          <p:cNvPicPr>
            <a:picLocks noChangeAspect="1"/>
          </p:cNvPicPr>
          <p:nvPr/>
        </p:nvPicPr>
        <p:blipFill>
          <a:blip r:embed="rId1"/>
          <a:stretch>
            <a:fillRect/>
          </a:stretch>
        </p:blipFill>
        <p:spPr>
          <a:xfrm rot="21600000">
            <a:off x="2575560" y="2590800"/>
            <a:ext cx="6629400" cy="2667000"/>
          </a:xfrm>
          <a:prstGeom prst="rect">
            <a:avLst/>
          </a:prstGeom>
        </p:spPr>
      </p:pic>
      <p:sp>
        <p:nvSpPr>
          <p:cNvPr id="1049038" name="textbox 48"/>
          <p:cNvSpPr/>
          <p:nvPr/>
        </p:nvSpPr>
        <p:spPr>
          <a:xfrm>
            <a:off x="1469413" y="1590958"/>
            <a:ext cx="7722869" cy="444500"/>
          </a:xfrm>
          <a:prstGeom prst="rect">
            <a:avLst/>
          </a:prstGeom>
        </p:spPr>
        <p:txBody>
          <a:bodyPr vert="horz" wrap="square" lIns="0" tIns="0" rIns="0" bIns="0"/>
          <a:p>
            <a:pPr algn="l" rtl="0" eaLnBrk="0">
              <a:lnSpc>
                <a:spcPct val="83000"/>
              </a:lnSpc>
            </a:pPr>
            <a:endParaRPr lang="en-US" altLang="en-US" sz="100" dirty="0"/>
          </a:p>
          <a:p>
            <a:pPr marL="12700" algn="l" rtl="0" eaLnBrk="0">
              <a:lnSpc>
                <a:spcPts val="3300"/>
              </a:lnSpc>
            </a:pPr>
            <a:r>
              <a:rPr sz="2700" kern="0" spc="90" dirty="0">
                <a:solidFill>
                  <a:srgbClr val="000000">
                    <a:alpha val="100000"/>
                  </a:srgbClr>
                </a:solidFill>
                <a:latin typeface="Arial" panose="020B0604020202020204"/>
                <a:ea typeface="Arial" panose="020B0604020202020204"/>
                <a:cs typeface="Arial" panose="020B0604020202020204"/>
              </a:rPr>
              <a:t>•</a:t>
            </a:r>
            <a:r>
              <a:rPr sz="2700" kern="0" spc="310" dirty="0">
                <a:solidFill>
                  <a:srgbClr val="000000">
                    <a:alpha val="100000"/>
                  </a:srgbClr>
                </a:solidFill>
                <a:latin typeface="Arial" panose="020B0604020202020204"/>
                <a:ea typeface="Arial" panose="020B0604020202020204"/>
                <a:cs typeface="Arial" panose="020B0604020202020204"/>
              </a:rPr>
              <a:t> </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古代留守在家中的妻子给</a:t>
            </a:r>
            <a:r>
              <a:rPr sz="2700" kern="0" spc="8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外出工作的丈夫的书信</a:t>
            </a:r>
            <a:endParaRPr lang="en-US" altLang="en-US" sz="2700" dirty="0"/>
          </a:p>
        </p:txBody>
      </p:sp>
      <p:sp>
        <p:nvSpPr>
          <p:cNvPr id="1049039" name="textbox 50"/>
          <p:cNvSpPr/>
          <p:nvPr/>
        </p:nvSpPr>
        <p:spPr>
          <a:xfrm>
            <a:off x="2527477" y="5708091"/>
            <a:ext cx="6726555" cy="367665"/>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sz="2400" kern="0" spc="-9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归，归，归！速归！如果（鱼果）不归，</a:t>
            </a:r>
            <a:r>
              <a:rPr sz="2400" kern="0" spc="72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9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一刀两断</a:t>
            </a:r>
            <a:endParaRPr lang="en-US" altLang="en-US" sz="2400" dirty="0"/>
          </a:p>
        </p:txBody>
      </p:sp>
      <p:sp>
        <p:nvSpPr>
          <p:cNvPr id="1049040" name="textbox 54"/>
          <p:cNvSpPr/>
          <p:nvPr/>
        </p:nvSpPr>
        <p:spPr>
          <a:xfrm>
            <a:off x="1610925" y="488157"/>
            <a:ext cx="1588769" cy="485775"/>
          </a:xfrm>
          <a:prstGeom prst="rect">
            <a:avLst/>
          </a:prstGeom>
        </p:spPr>
        <p:txBody>
          <a:bodyPr vert="horz" wrap="square" lIns="0" tIns="0" rIns="0" bIns="0"/>
          <a:p>
            <a:pPr algn="l" rtl="0" eaLnBrk="0">
              <a:lnSpc>
                <a:spcPct val="94000"/>
              </a:lnSpc>
            </a:pPr>
            <a:endParaRPr lang="en-US" altLang="en-US" sz="100" dirty="0"/>
          </a:p>
          <a:p>
            <a:pPr marL="12700" algn="l" rtl="0" eaLnBrk="0">
              <a:lnSpc>
                <a:spcPct val="94000"/>
              </a:lnSpc>
            </a:pPr>
            <a:r>
              <a:rPr sz="3200" kern="0" spc="-13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图画传情</a:t>
            </a:r>
            <a:endParaRPr lang="en-US" altLang="en-US" sz="3200" dirty="0"/>
          </a:p>
        </p:txBody>
      </p:sp>
      <p:sp>
        <p:nvSpPr>
          <p:cNvPr id="1049041"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16" name="picture 58"/>
          <p:cNvPicPr>
            <a:picLocks noChangeAspect="1"/>
          </p:cNvPicPr>
          <p:nvPr/>
        </p:nvPicPr>
        <p:blipFill>
          <a:blip r:embed="rId2"/>
          <a:stretch>
            <a:fillRect/>
          </a:stretch>
        </p:blipFill>
        <p:spPr>
          <a:xfrm rot="21600000">
            <a:off x="824483" y="408431"/>
            <a:ext cx="419100" cy="655320"/>
          </a:xfrm>
          <a:prstGeom prst="rect">
            <a:avLst/>
          </a:prstGeom>
        </p:spPr>
      </p:pic>
      <p:sp>
        <p:nvSpPr>
          <p:cNvPr id="1049042"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97215"/>
                                        </p:tgtEl>
                                        <p:attrNameLst>
                                          <p:attrName>style.visibility</p:attrName>
                                        </p:attrNameLst>
                                      </p:cBhvr>
                                      <p:to>
                                        <p:strVal val="visible"/>
                                      </p:to>
                                    </p:set>
                                    <p:anim calcmode="lin" valueType="num">
                                      <p:cBhvr additive="base">
                                        <p:cTn id="7" dur="500" fill="hold"/>
                                        <p:tgtEl>
                                          <p:spTgt spid="2097215"/>
                                        </p:tgtEl>
                                        <p:attrNameLst>
                                          <p:attrName>ppt_x</p:attrName>
                                        </p:attrNameLst>
                                      </p:cBhvr>
                                      <p:tavLst>
                                        <p:tav tm="0">
                                          <p:val>
                                            <p:strVal val="#ppt_x"/>
                                          </p:val>
                                        </p:tav>
                                        <p:tav tm="100000">
                                          <p:val>
                                            <p:strVal val="#ppt_x"/>
                                          </p:val>
                                        </p:tav>
                                      </p:tavLst>
                                    </p:anim>
                                    <p:anim calcmode="lin" valueType="num">
                                      <p:cBhvr additive="base">
                                        <p:cTn id="8" dur="500" fill="hold"/>
                                        <p:tgtEl>
                                          <p:spTgt spid="20972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49038"/>
                                        </p:tgtEl>
                                        <p:attrNameLst>
                                          <p:attrName>style.visibility</p:attrName>
                                        </p:attrNameLst>
                                      </p:cBhvr>
                                      <p:to>
                                        <p:strVal val="visible"/>
                                      </p:to>
                                    </p:set>
                                    <p:anim calcmode="lin" valueType="num">
                                      <p:cBhvr additive="base">
                                        <p:cTn id="11" dur="500" fill="hold"/>
                                        <p:tgtEl>
                                          <p:spTgt spid="1049038"/>
                                        </p:tgtEl>
                                        <p:attrNameLst>
                                          <p:attrName>ppt_x</p:attrName>
                                        </p:attrNameLst>
                                      </p:cBhvr>
                                      <p:tavLst>
                                        <p:tav tm="0">
                                          <p:val>
                                            <p:strVal val="#ppt_x"/>
                                          </p:val>
                                        </p:tav>
                                        <p:tav tm="100000">
                                          <p:val>
                                            <p:strVal val="#ppt_x"/>
                                          </p:val>
                                        </p:tav>
                                      </p:tavLst>
                                    </p:anim>
                                    <p:anim calcmode="lin" valueType="num">
                                      <p:cBhvr additive="base">
                                        <p:cTn id="12" dur="500" fill="hold"/>
                                        <p:tgtEl>
                                          <p:spTgt spid="104903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490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038" grpId="0"/>
      <p:bldP spid="1049038" grpId="1"/>
      <p:bldP spid="1049039" grpId="0"/>
      <p:bldP spid="1049039"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61" name=""/>
        <p:cNvGrpSpPr/>
        <p:nvPr/>
      </p:nvGrpSpPr>
      <p:grpSpPr>
        <a:xfrm>
          <a:off x="0" y="0"/>
          <a:ext cx="0" cy="0"/>
          <a:chOff x="0" y="0"/>
          <a:chExt cx="0" cy="0"/>
        </a:xfrm>
      </p:grpSpPr>
      <p:pic>
        <p:nvPicPr>
          <p:cNvPr id="2097217" name="picture 62"/>
          <p:cNvPicPr>
            <a:picLocks noChangeAspect="1"/>
          </p:cNvPicPr>
          <p:nvPr/>
        </p:nvPicPr>
        <p:blipFill>
          <a:blip r:embed="rId1"/>
          <a:stretch>
            <a:fillRect/>
          </a:stretch>
        </p:blipFill>
        <p:spPr>
          <a:xfrm rot="21600000">
            <a:off x="1220723" y="1219200"/>
            <a:ext cx="4762500" cy="4782311"/>
          </a:xfrm>
          <a:prstGeom prst="rect">
            <a:avLst/>
          </a:prstGeom>
        </p:spPr>
      </p:pic>
      <p:pic>
        <p:nvPicPr>
          <p:cNvPr id="2097218" name="picture 64"/>
          <p:cNvPicPr>
            <a:picLocks noChangeAspect="1"/>
          </p:cNvPicPr>
          <p:nvPr/>
        </p:nvPicPr>
        <p:blipFill>
          <a:blip r:embed="rId2"/>
          <a:stretch>
            <a:fillRect/>
          </a:stretch>
        </p:blipFill>
        <p:spPr>
          <a:xfrm rot="21600000">
            <a:off x="7391400" y="1184147"/>
            <a:ext cx="2747771" cy="3195827"/>
          </a:xfrm>
          <a:prstGeom prst="rect">
            <a:avLst/>
          </a:prstGeom>
        </p:spPr>
      </p:pic>
      <p:sp>
        <p:nvSpPr>
          <p:cNvPr id="1049043" name="textbox 66"/>
          <p:cNvSpPr/>
          <p:nvPr/>
        </p:nvSpPr>
        <p:spPr>
          <a:xfrm>
            <a:off x="7594524" y="4582211"/>
            <a:ext cx="2414270" cy="1465580"/>
          </a:xfrm>
          <a:prstGeom prst="rect">
            <a:avLst/>
          </a:prstGeom>
        </p:spPr>
        <p:txBody>
          <a:bodyPr vert="horz" wrap="square" lIns="0" tIns="0" rIns="0" bIns="0"/>
          <a:p>
            <a:pPr algn="l" rtl="0" eaLnBrk="0">
              <a:lnSpc>
                <a:spcPct val="123000"/>
              </a:lnSpc>
            </a:pPr>
            <a:endParaRPr lang="en-US" altLang="en-US" sz="100" dirty="0"/>
          </a:p>
          <a:p>
            <a:pPr marL="13970" indent="-1905" algn="l" rtl="0" eaLnBrk="0">
              <a:lnSpc>
                <a:spcPct val="98000"/>
              </a:lnSpc>
              <a:spcBef>
                <a:spcPts val="0"/>
              </a:spcBef>
            </a:pPr>
            <a:r>
              <a:rPr sz="2400" kern="0" spc="-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长夜横枕意心歪,</a:t>
            </a:r>
            <a:r>
              <a:rPr sz="2400" kern="0" spc="-3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月斜三更门半开,</a:t>
            </a:r>
            <a:r>
              <a:rPr sz="2400" kern="0" spc="-3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短命到今无口信,</a:t>
            </a:r>
            <a:r>
              <a:rPr sz="2400" kern="0" spc="-3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5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肝肠望断无人来。</a:t>
            </a:r>
            <a:endParaRPr lang="en-US" altLang="en-US" sz="2400" dirty="0"/>
          </a:p>
        </p:txBody>
      </p:sp>
      <p:sp>
        <p:nvSpPr>
          <p:cNvPr id="1049044" name="textbox 68"/>
          <p:cNvSpPr/>
          <p:nvPr/>
        </p:nvSpPr>
        <p:spPr>
          <a:xfrm>
            <a:off x="811783" y="395731"/>
            <a:ext cx="1981835" cy="737234"/>
          </a:xfrm>
          <a:prstGeom prst="rect">
            <a:avLst/>
          </a:prstGeom>
        </p:spPr>
        <p:txBody>
          <a:bodyPr vert="horz" wrap="square" lIns="0" tIns="0" rIns="0" bIns="0"/>
          <a:p>
            <a:pPr algn="l" rtl="0" eaLnBrk="0">
              <a:lnSpc>
                <a:spcPct val="114000"/>
              </a:lnSpc>
            </a:pPr>
            <a:endParaRPr lang="en-US" altLang="en-US" sz="600" dirty="0"/>
          </a:p>
          <a:p>
            <a:pPr marL="431800" algn="l" rtl="0" eaLnBrk="0">
              <a:lnSpc>
                <a:spcPct val="95000"/>
              </a:lnSpc>
              <a:spcBef>
                <a:spcPts val="5"/>
              </a:spcBef>
              <a:tabLst>
                <a:tab pos="784225" algn="l"/>
              </a:tabLst>
            </a:pPr>
            <a:r>
              <a:rPr sz="32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7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会意诗</a:t>
            </a:r>
            <a:endParaRPr lang="en-US" altLang="en-US" sz="3200" dirty="0"/>
          </a:p>
        </p:txBody>
      </p:sp>
      <p:pic>
        <p:nvPicPr>
          <p:cNvPr id="2097219" name="picture 70"/>
          <p:cNvPicPr>
            <a:picLocks noChangeAspect="1"/>
          </p:cNvPicPr>
          <p:nvPr/>
        </p:nvPicPr>
        <p:blipFill>
          <a:blip r:embed="rId3"/>
          <a:stretch>
            <a:fillRect/>
          </a:stretch>
        </p:blipFill>
        <p:spPr>
          <a:xfrm rot="21600000">
            <a:off x="824483" y="408431"/>
            <a:ext cx="419100" cy="655320"/>
          </a:xfrm>
          <a:prstGeom prst="rect">
            <a:avLst/>
          </a:prstGeom>
        </p:spPr>
      </p:pic>
      <p:sp>
        <p:nvSpPr>
          <p:cNvPr id="1049045"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
        <p:nvSpPr>
          <p:cNvPr id="1049046" name="rect"/>
          <p:cNvSpPr/>
          <p:nvPr/>
        </p:nvSpPr>
        <p:spPr>
          <a:xfrm>
            <a:off x="1465326" y="1019555"/>
            <a:ext cx="9037573" cy="28956"/>
          </a:xfrm>
          <a:prstGeom prst="rect">
            <a:avLst/>
          </a:prstGeom>
          <a:solidFill>
            <a:srgbClr val="5B9BD5">
              <a:alpha val="100000"/>
            </a:srgbClr>
          </a:solidFill>
          <a:ln cap="flat">
            <a:noFill/>
            <a:prstDash val="solid"/>
            <a:miter lim="0"/>
          </a:ln>
        </p:spPr>
        <p:txBody>
          <a:bodyPr rtlCol="0"/>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97217"/>
                                        </p:tgtEl>
                                        <p:attrNameLst>
                                          <p:attrName>style.visibility</p:attrName>
                                        </p:attrNameLst>
                                      </p:cBhvr>
                                      <p:to>
                                        <p:strVal val="visible"/>
                                      </p:to>
                                    </p:set>
                                    <p:anim calcmode="lin" valueType="num">
                                      <p:cBhvr additive="base">
                                        <p:cTn id="7" dur="500" fill="hold"/>
                                        <p:tgtEl>
                                          <p:spTgt spid="2097217"/>
                                        </p:tgtEl>
                                        <p:attrNameLst>
                                          <p:attrName>ppt_x</p:attrName>
                                        </p:attrNameLst>
                                      </p:cBhvr>
                                      <p:tavLst>
                                        <p:tav tm="0">
                                          <p:val>
                                            <p:strVal val="#ppt_x"/>
                                          </p:val>
                                        </p:tav>
                                        <p:tav tm="100000">
                                          <p:val>
                                            <p:strVal val="#ppt_x"/>
                                          </p:val>
                                        </p:tav>
                                      </p:tavLst>
                                    </p:anim>
                                    <p:anim calcmode="lin" valueType="num">
                                      <p:cBhvr additive="base">
                                        <p:cTn id="8" dur="500" fill="hold"/>
                                        <p:tgtEl>
                                          <p:spTgt spid="209721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97218"/>
                                        </p:tgtEl>
                                        <p:attrNameLst>
                                          <p:attrName>style.visibility</p:attrName>
                                        </p:attrNameLst>
                                      </p:cBhvr>
                                      <p:to>
                                        <p:strVal val="visible"/>
                                      </p:to>
                                    </p:set>
                                    <p:anim calcmode="lin" valueType="num">
                                      <p:cBhvr additive="base">
                                        <p:cTn id="11" dur="500" fill="hold"/>
                                        <p:tgtEl>
                                          <p:spTgt spid="2097218"/>
                                        </p:tgtEl>
                                        <p:attrNameLst>
                                          <p:attrName>ppt_x</p:attrName>
                                        </p:attrNameLst>
                                      </p:cBhvr>
                                      <p:tavLst>
                                        <p:tav tm="0">
                                          <p:val>
                                            <p:strVal val="#ppt_x"/>
                                          </p:val>
                                        </p:tav>
                                        <p:tav tm="100000">
                                          <p:val>
                                            <p:strVal val="#ppt_x"/>
                                          </p:val>
                                        </p:tav>
                                      </p:tavLst>
                                    </p:anim>
                                    <p:anim calcmode="lin" valueType="num">
                                      <p:cBhvr additive="base">
                                        <p:cTn id="12" dur="500" fill="hold"/>
                                        <p:tgtEl>
                                          <p:spTgt spid="209721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49043"/>
                                        </p:tgtEl>
                                        <p:attrNameLst>
                                          <p:attrName>style.visibility</p:attrName>
                                        </p:attrNameLst>
                                      </p:cBhvr>
                                      <p:to>
                                        <p:strVal val="visible"/>
                                      </p:to>
                                    </p:set>
                                    <p:anim calcmode="lin" valueType="num">
                                      <p:cBhvr additive="base">
                                        <p:cTn id="17" dur="500" fill="hold"/>
                                        <p:tgtEl>
                                          <p:spTgt spid="1049043"/>
                                        </p:tgtEl>
                                        <p:attrNameLst>
                                          <p:attrName>ppt_x</p:attrName>
                                        </p:attrNameLst>
                                      </p:cBhvr>
                                      <p:tavLst>
                                        <p:tav tm="0">
                                          <p:val>
                                            <p:strVal val="#ppt_x"/>
                                          </p:val>
                                        </p:tav>
                                        <p:tav tm="100000">
                                          <p:val>
                                            <p:strVal val="#ppt_x"/>
                                          </p:val>
                                        </p:tav>
                                      </p:tavLst>
                                    </p:anim>
                                    <p:anim calcmode="lin" valueType="num">
                                      <p:cBhvr additive="base">
                                        <p:cTn id="18" dur="500" fill="hold"/>
                                        <p:tgtEl>
                                          <p:spTgt spid="10490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9043" grpId="0"/>
      <p:bldP spid="1049043"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64" name=""/>
        <p:cNvGrpSpPr/>
        <p:nvPr/>
      </p:nvGrpSpPr>
      <p:grpSpPr>
        <a:xfrm>
          <a:off x="0" y="0"/>
          <a:ext cx="0" cy="0"/>
          <a:chOff x="0" y="0"/>
          <a:chExt cx="0" cy="0"/>
        </a:xfrm>
      </p:grpSpPr>
      <p:pic>
        <p:nvPicPr>
          <p:cNvPr id="2097220" name="picture 78"/>
          <p:cNvPicPr>
            <a:picLocks noChangeAspect="1"/>
          </p:cNvPicPr>
          <p:nvPr/>
        </p:nvPicPr>
        <p:blipFill>
          <a:blip r:embed="rId1"/>
          <a:stretch>
            <a:fillRect/>
          </a:stretch>
        </p:blipFill>
        <p:spPr>
          <a:xfrm rot="21600000">
            <a:off x="2639567" y="2022347"/>
            <a:ext cx="6193536" cy="4155948"/>
          </a:xfrm>
          <a:prstGeom prst="rect">
            <a:avLst/>
          </a:prstGeom>
        </p:spPr>
      </p:pic>
      <p:graphicFrame>
        <p:nvGraphicFramePr>
          <p:cNvPr id="4194318" name="table 80"/>
          <p:cNvGraphicFramePr>
            <a:graphicFrameLocks noGrp="1"/>
          </p:cNvGraphicFramePr>
          <p:nvPr/>
        </p:nvGraphicFramePr>
        <p:xfrm>
          <a:off x="2636519" y="2019300"/>
          <a:ext cx="6199505" cy="4175125"/>
        </p:xfrm>
        <a:graphic>
          <a:graphicData uri="http://schemas.openxmlformats.org/drawingml/2006/table">
            <a:tbl>
              <a:tblPr/>
              <a:tblGrid>
                <a:gridCol w="722630"/>
                <a:gridCol w="720725"/>
                <a:gridCol w="4756149"/>
              </a:tblGrid>
              <a:tr h="4175125">
                <a:tc>
                  <a:txBody>
                    <a:bodyPr/>
                    <a:p>
                      <a:pPr algn="l" rtl="0" eaLnBrk="0">
                        <a:lnSpc>
                          <a:spcPct val="100000"/>
                        </a:lnSpc>
                      </a:pPr>
                      <a:endParaRPr lang="en-US" altLang="en-US" sz="1000" dirty="0"/>
                    </a:p>
                  </a:txBody>
                  <a:tcPr marL="0" marR="0" marT="0" marB="0" vert="horz">
                    <a:lnL w="3175" cap="flat" cmpd="sng" algn="ctr">
                      <a:solidFill>
                        <a:srgbClr val="FFC000"/>
                      </a:solidFill>
                      <a:prstDash val="solid"/>
                      <a:round/>
                      <a:headEnd type="none" w="med" len="med"/>
                      <a:tailEnd type="none" w="med" len="med"/>
                    </a:lnL>
                    <a:lnR w="57150" cap="flat" cmpd="sng" algn="ctr">
                      <a:solidFill>
                        <a:srgbClr val="FFC000"/>
                      </a:solidFill>
                      <a:prstDash val="solid"/>
                      <a:round/>
                      <a:headEnd type="none" w="med" len="med"/>
                      <a:tailEnd type="none" w="med" len="med"/>
                    </a:lnR>
                    <a:lnT w="3175" cap="flat" cmpd="sng" algn="ctr">
                      <a:solidFill>
                        <a:srgbClr val="FFC000"/>
                      </a:solidFill>
                      <a:prstDash val="solid"/>
                      <a:round/>
                      <a:headEnd type="none" w="med" len="med"/>
                      <a:tailEnd type="none" w="med" len="med"/>
                    </a:lnT>
                    <a:lnB w="3175" cap="flat" cmpd="sng" algn="ctr">
                      <a:solidFill>
                        <a:srgbClr val="FFC000"/>
                      </a:solidFill>
                      <a:prstDash val="solid"/>
                      <a:round/>
                      <a:headEnd type="none" w="med" len="med"/>
                      <a:tailEnd type="none" w="med" len="med"/>
                    </a:lnB>
                  </a:tcPr>
                </a:tc>
                <a:tc>
                  <a:txBody>
                    <a:bodyPr/>
                    <a:p>
                      <a:pPr algn="l" rtl="0" eaLnBrk="0">
                        <a:lnSpc>
                          <a:spcPct val="136000"/>
                        </a:lnSpc>
                      </a:pPr>
                      <a:endParaRPr lang="en-US" altLang="en-US" sz="100" dirty="0"/>
                    </a:p>
                    <a:p>
                      <a:pPr marL="69850" algn="l" rtl="0" eaLnBrk="0">
                        <a:lnSpc>
                          <a:spcPts val="4200"/>
                        </a:lnSpc>
                        <a:tabLst>
                          <a:tab pos="431800" algn="l"/>
                        </a:tabLst>
                      </a:pPr>
                      <a:r>
                        <a:rPr sz="3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400" b="1" kern="0" spc="-170" dirty="0">
                          <a:ln w="15980"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微软雅黑" panose="020B0503020204020204" charset="-122"/>
                        </a:rPr>
                        <a:t>我</a:t>
                      </a:r>
                      <a:r>
                        <a:rPr sz="3400" b="1" kern="0" spc="-17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400" b="1" kern="0" spc="-170" dirty="0">
                          <a:ln w="15980"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微软雅黑" panose="020B0503020204020204" charset="-122"/>
                        </a:rPr>
                        <a:t>爱</a:t>
                      </a:r>
                      <a:r>
                        <a:rPr sz="3400" b="1"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400" b="1" kern="0" spc="-170" dirty="0">
                          <a:ln w="15989"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微软雅黑" panose="020B0503020204020204" charset="-122"/>
                        </a:rPr>
                        <a:t>秋</a:t>
                      </a:r>
                      <a:r>
                        <a:rPr sz="3400" b="1" kern="0" spc="20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3400" b="1" kern="0" spc="-170" dirty="0">
                          <a:ln w="15989"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微软雅黑" panose="020B0503020204020204" charset="-122"/>
                        </a:rPr>
                        <a:t>香</a:t>
                      </a:r>
                      <a:r>
                        <a:rPr sz="3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endParaRPr lang="en-US" altLang="en-US" sz="3400" dirty="0"/>
                    </a:p>
                  </a:txBody>
                  <a:tcPr marL="0" marR="0" marT="0" marB="0" vert="eaVert">
                    <a:lnL w="57150" cap="flat" cmpd="sng" algn="ctr">
                      <a:solidFill>
                        <a:srgbClr val="FF0000"/>
                      </a:solidFill>
                      <a:prstDash val="solid"/>
                      <a:round/>
                      <a:headEnd type="none" w="med" len="med"/>
                      <a:tailEnd type="none" w="med" len="med"/>
                    </a:lnL>
                    <a:lnR w="57150" cap="flat" cmpd="sng" algn="ctr">
                      <a:solidFill>
                        <a:srgbClr val="FF0000"/>
                      </a:solidFill>
                      <a:prstDash val="solid"/>
                      <a:round/>
                      <a:headEnd type="none" w="med" len="med"/>
                      <a:tailEnd type="none" w="med" len="med"/>
                    </a:lnR>
                    <a:lnT w="3175" cap="flat" cmpd="sng" algn="ctr">
                      <a:solidFill>
                        <a:srgbClr val="FFC000"/>
                      </a:solidFill>
                      <a:prstDash val="solid"/>
                      <a:round/>
                      <a:headEnd type="none" w="med" len="med"/>
                      <a:tailEnd type="none" w="med" len="med"/>
                    </a:lnT>
                    <a:lnB w="3175" cap="flat" cmpd="sng" algn="ctr">
                      <a:solidFill>
                        <a:srgbClr val="FFC000"/>
                      </a:solidFill>
                      <a:prstDash val="solid"/>
                      <a:round/>
                      <a:headEnd type="none" w="med" len="med"/>
                      <a:tailEnd type="none" w="med" len="med"/>
                    </a:lnB>
                  </a:tcPr>
                </a:tc>
                <a:tc>
                  <a:txBody>
                    <a:bodyPr/>
                    <a:p>
                      <a:pPr algn="l" rtl="0" eaLnBrk="0">
                        <a:lnSpc>
                          <a:spcPct val="139000"/>
                        </a:lnSpc>
                      </a:pPr>
                      <a:endParaRPr lang="en-US" altLang="en-US" sz="1000" dirty="0"/>
                    </a:p>
                    <a:p>
                      <a:pPr algn="l" rtl="0" eaLnBrk="0">
                        <a:lnSpc>
                          <a:spcPct val="140000"/>
                        </a:lnSpc>
                      </a:pPr>
                      <a:endParaRPr lang="en-US" altLang="en-US" sz="1000" dirty="0"/>
                    </a:p>
                    <a:p>
                      <a:pPr marL="27305" algn="l" rtl="0" eaLnBrk="0">
                        <a:lnSpc>
                          <a:spcPct val="71000"/>
                        </a:lnSpc>
                        <a:spcBef>
                          <a:spcPts val="5"/>
                        </a:spcBef>
                      </a:pPr>
                      <a:r>
                        <a:rPr sz="4400" b="1" kern="0" spc="-400" dirty="0">
                          <a:ln w="15980"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微软雅黑" panose="020B0503020204020204" charset="-122"/>
                        </a:rPr>
                        <a:t>画蓝江水悠悠，</a:t>
                      </a:r>
                      <a:endParaRPr lang="en-US" altLang="en-US" sz="4400" dirty="0"/>
                    </a:p>
                    <a:p>
                      <a:pPr algn="l" rtl="0" eaLnBrk="0">
                        <a:lnSpc>
                          <a:spcPct val="116000"/>
                        </a:lnSpc>
                      </a:pPr>
                      <a:endParaRPr lang="en-US" altLang="en-US" sz="1000" dirty="0"/>
                    </a:p>
                    <a:p>
                      <a:pPr algn="l" rtl="0" eaLnBrk="0">
                        <a:lnSpc>
                          <a:spcPct val="116000"/>
                        </a:lnSpc>
                      </a:pPr>
                      <a:endParaRPr lang="en-US" altLang="en-US" sz="1000" dirty="0"/>
                    </a:p>
                    <a:p>
                      <a:pPr marL="26670" algn="l" rtl="0" eaLnBrk="0">
                        <a:lnSpc>
                          <a:spcPct val="72000"/>
                        </a:lnSpc>
                        <a:spcBef>
                          <a:spcPts val="1330"/>
                        </a:spcBef>
                      </a:pPr>
                      <a:r>
                        <a:rPr sz="4400" b="1" kern="0" spc="-390" dirty="0">
                          <a:ln w="15980"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微软雅黑" panose="020B0503020204020204" charset="-122"/>
                        </a:rPr>
                        <a:t>晚亭上枫叶愁。</a:t>
                      </a:r>
                      <a:endParaRPr lang="en-US" altLang="en-US" sz="4400" dirty="0"/>
                    </a:p>
                    <a:p>
                      <a:pPr algn="l" rtl="0" eaLnBrk="0">
                        <a:lnSpc>
                          <a:spcPct val="116000"/>
                        </a:lnSpc>
                      </a:pPr>
                      <a:endParaRPr lang="en-US" altLang="en-US" sz="1000" dirty="0"/>
                    </a:p>
                    <a:p>
                      <a:pPr algn="l" rtl="0" eaLnBrk="0">
                        <a:lnSpc>
                          <a:spcPct val="116000"/>
                        </a:lnSpc>
                      </a:pPr>
                      <a:endParaRPr lang="en-US" altLang="en-US" sz="1000" dirty="0"/>
                    </a:p>
                    <a:p>
                      <a:pPr marL="46990" algn="l" rtl="0" eaLnBrk="0">
                        <a:lnSpc>
                          <a:spcPct val="72000"/>
                        </a:lnSpc>
                        <a:spcBef>
                          <a:spcPts val="1325"/>
                        </a:spcBef>
                      </a:pPr>
                      <a:r>
                        <a:rPr sz="4400" b="1" kern="0" spc="-360" dirty="0">
                          <a:ln w="15989"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微软雅黑" panose="020B0503020204020204" charset="-122"/>
                        </a:rPr>
                        <a:t>月溶溶照佛寺，</a:t>
                      </a:r>
                      <a:endParaRPr lang="en-US" altLang="en-US" sz="4400" dirty="0"/>
                    </a:p>
                    <a:p>
                      <a:pPr algn="l" rtl="0" eaLnBrk="0">
                        <a:lnSpc>
                          <a:spcPct val="119000"/>
                        </a:lnSpc>
                      </a:pPr>
                      <a:endParaRPr lang="en-US" altLang="en-US" sz="1000" dirty="0"/>
                    </a:p>
                    <a:p>
                      <a:pPr algn="l" rtl="0" eaLnBrk="0">
                        <a:lnSpc>
                          <a:spcPct val="119000"/>
                        </a:lnSpc>
                      </a:pPr>
                      <a:endParaRPr lang="en-US" altLang="en-US" sz="1000" dirty="0"/>
                    </a:p>
                    <a:p>
                      <a:pPr algn="l" rtl="0" eaLnBrk="0">
                        <a:lnSpc>
                          <a:spcPct val="100000"/>
                        </a:lnSpc>
                      </a:pPr>
                      <a:endParaRPr lang="en-US" altLang="en-US" sz="1100" dirty="0"/>
                    </a:p>
                    <a:p>
                      <a:pPr marL="22860" algn="l" rtl="0" eaLnBrk="0">
                        <a:lnSpc>
                          <a:spcPct val="71000"/>
                        </a:lnSpc>
                        <a:spcBef>
                          <a:spcPts val="0"/>
                        </a:spcBef>
                      </a:pPr>
                      <a:r>
                        <a:rPr sz="4400" b="1" kern="0" spc="-310" dirty="0">
                          <a:ln w="15989" cap="flat" cmpd="sng">
                            <a:solidFill>
                              <a:srgbClr val="000000">
                                <a:alpha val="100000"/>
                              </a:srgbClr>
                            </a:solidFill>
                            <a:prstDash val="solid"/>
                            <a:miter lim="10"/>
                          </a:ln>
                          <a:solidFill>
                            <a:srgbClr val="000000">
                              <a:alpha val="100000"/>
                            </a:srgbClr>
                          </a:solidFill>
                          <a:latin typeface="微软雅黑" panose="020B0503020204020204" charset="-122"/>
                          <a:ea typeface="微软雅黑" panose="020B0503020204020204" charset="-122"/>
                          <a:cs typeface="微软雅黑" panose="020B0503020204020204" charset="-122"/>
                        </a:rPr>
                        <a:t>烟袅袅绕经楼。</a:t>
                      </a:r>
                      <a:endParaRPr lang="en-US" altLang="en-US" sz="4400" dirty="0"/>
                    </a:p>
                  </a:txBody>
                  <a:tcPr marL="0" marR="0" marT="0" marB="0" vert="horz">
                    <a:lnL w="57150" cap="flat" cmpd="sng" algn="ctr">
                      <a:solidFill>
                        <a:srgbClr val="FFC000"/>
                      </a:solidFill>
                      <a:prstDash val="solid"/>
                      <a:round/>
                      <a:headEnd type="none" w="med" len="med"/>
                      <a:tailEnd type="none" w="med" len="med"/>
                    </a:lnL>
                    <a:lnR w="3175" cap="flat" cmpd="sng" algn="ctr">
                      <a:solidFill>
                        <a:srgbClr val="FFC000"/>
                      </a:solidFill>
                      <a:prstDash val="solid"/>
                      <a:round/>
                      <a:headEnd type="none" w="med" len="med"/>
                      <a:tailEnd type="none" w="med" len="med"/>
                    </a:lnR>
                    <a:lnT w="3175" cap="flat" cmpd="sng" algn="ctr">
                      <a:solidFill>
                        <a:srgbClr val="FFC000"/>
                      </a:solidFill>
                      <a:prstDash val="solid"/>
                      <a:round/>
                      <a:headEnd type="none" w="med" len="med"/>
                      <a:tailEnd type="none" w="med" len="med"/>
                    </a:lnT>
                    <a:lnB w="3175" cap="flat" cmpd="sng" algn="ctr">
                      <a:solidFill>
                        <a:srgbClr val="FFC000"/>
                      </a:solidFill>
                      <a:prstDash val="solid"/>
                      <a:round/>
                      <a:headEnd type="none" w="med" len="med"/>
                      <a:tailEnd type="none" w="med" len="med"/>
                    </a:lnB>
                  </a:tcPr>
                </a:tc>
              </a:tr>
            </a:tbl>
          </a:graphicData>
        </a:graphic>
      </p:graphicFrame>
      <p:sp>
        <p:nvSpPr>
          <p:cNvPr id="1049049" name="path"/>
          <p:cNvSpPr/>
          <p:nvPr/>
        </p:nvSpPr>
        <p:spPr>
          <a:xfrm>
            <a:off x="3359150" y="6134668"/>
            <a:ext cx="720597" cy="57903"/>
          </a:xfrm>
          <a:custGeom>
            <a:avLst/>
            <a:gdLst/>
            <a:ahLst/>
            <a:cxnLst/>
            <a:rect l="0" t="0" r="0" b="0"/>
            <a:pathLst>
              <a:path w="1134" h="91">
                <a:moveTo>
                  <a:pt x="0" y="45"/>
                </a:moveTo>
                <a:lnTo>
                  <a:pt x="1134" y="45"/>
                </a:lnTo>
              </a:path>
            </a:pathLst>
          </a:custGeom>
          <a:noFill/>
          <a:ln w="57891" cap="flat">
            <a:solidFill>
              <a:srgbClr val="FF0000">
                <a:alpha val="100000"/>
              </a:srgbClr>
            </a:solidFill>
            <a:prstDash val="solid"/>
            <a:miter lim="1000000"/>
          </a:ln>
        </p:spPr>
        <p:txBody>
          <a:bodyPr rtlCol="0"/>
          <a:p>
            <a:pPr algn="ctr"/>
            <a:endParaRPr lang="zh-CN" altLang="en-US"/>
          </a:p>
        </p:txBody>
      </p:sp>
      <p:sp>
        <p:nvSpPr>
          <p:cNvPr id="1049050" name="path"/>
          <p:cNvSpPr/>
          <p:nvPr/>
        </p:nvSpPr>
        <p:spPr>
          <a:xfrm>
            <a:off x="3359150" y="2031491"/>
            <a:ext cx="720597" cy="57903"/>
          </a:xfrm>
          <a:custGeom>
            <a:avLst/>
            <a:gdLst/>
            <a:ahLst/>
            <a:cxnLst/>
            <a:rect l="0" t="0" r="0" b="0"/>
            <a:pathLst>
              <a:path w="1134" h="91">
                <a:moveTo>
                  <a:pt x="1134" y="45"/>
                </a:moveTo>
                <a:lnTo>
                  <a:pt x="0" y="45"/>
                </a:lnTo>
              </a:path>
            </a:pathLst>
          </a:custGeom>
          <a:noFill/>
          <a:ln w="57891" cap="flat">
            <a:solidFill>
              <a:srgbClr val="FF0000">
                <a:alpha val="100000"/>
              </a:srgbClr>
            </a:solidFill>
            <a:prstDash val="solid"/>
            <a:miter lim="1000000"/>
          </a:ln>
        </p:spPr>
        <p:txBody>
          <a:bodyPr rtlCol="0"/>
          <a:p>
            <a:pPr algn="ctr"/>
            <a:endParaRPr lang="zh-CN" altLang="en-US"/>
          </a:p>
        </p:txBody>
      </p:sp>
      <p:sp>
        <p:nvSpPr>
          <p:cNvPr id="1049051" name="textbox 86"/>
          <p:cNvSpPr/>
          <p:nvPr/>
        </p:nvSpPr>
        <p:spPr>
          <a:xfrm>
            <a:off x="919073" y="1514398"/>
            <a:ext cx="4218940" cy="386715"/>
          </a:xfrm>
          <a:prstGeom prst="rect">
            <a:avLst/>
          </a:prstGeom>
        </p:spPr>
        <p:txBody>
          <a:bodyPr vert="horz" wrap="square" lIns="0" tIns="0" rIns="0" bIns="0"/>
          <a:p>
            <a:pPr algn="l" rtl="0" eaLnBrk="0">
              <a:lnSpc>
                <a:spcPct val="76000"/>
              </a:lnSpc>
            </a:pPr>
            <a:endParaRPr lang="en-US" altLang="en-US" sz="100" dirty="0"/>
          </a:p>
          <a:p>
            <a:pPr marL="12700" algn="l" rtl="0" eaLnBrk="0">
              <a:lnSpc>
                <a:spcPct val="99000"/>
              </a:lnSpc>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450" dirty="0">
                <a:solidFill>
                  <a:srgbClr val="000000">
                    <a:alpha val="100000"/>
                  </a:srgbClr>
                </a:solidFill>
                <a:latin typeface="Arial" panose="020B0604020202020204"/>
                <a:ea typeface="Arial" panose="020B0604020202020204"/>
                <a:cs typeface="Arial" panose="020B0604020202020204"/>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将秘密消息隐藏在其他消</a:t>
            </a:r>
            <a:r>
              <a:rPr sz="2400" kern="0" spc="-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息中</a:t>
            </a:r>
            <a:endParaRPr lang="en-US" altLang="en-US" sz="2400" dirty="0"/>
          </a:p>
        </p:txBody>
      </p:sp>
      <p:sp>
        <p:nvSpPr>
          <p:cNvPr id="1049052" name="textbox 88"/>
          <p:cNvSpPr/>
          <p:nvPr/>
        </p:nvSpPr>
        <p:spPr>
          <a:xfrm>
            <a:off x="811783" y="395731"/>
            <a:ext cx="1981835" cy="737234"/>
          </a:xfrm>
          <a:prstGeom prst="rect">
            <a:avLst/>
          </a:prstGeom>
        </p:spPr>
        <p:txBody>
          <a:bodyPr vert="horz" wrap="square" lIns="0" tIns="0" rIns="0" bIns="0"/>
          <a:p>
            <a:pPr algn="l" rtl="0" eaLnBrk="0">
              <a:lnSpc>
                <a:spcPct val="114000"/>
              </a:lnSpc>
            </a:pPr>
            <a:endParaRPr lang="en-US" altLang="en-US" sz="600" dirty="0"/>
          </a:p>
          <a:p>
            <a:pPr marL="431800" algn="l" rtl="0" eaLnBrk="0">
              <a:lnSpc>
                <a:spcPct val="95000"/>
              </a:lnSpc>
              <a:spcBef>
                <a:spcPts val="5"/>
              </a:spcBef>
              <a:tabLst>
                <a:tab pos="782955" algn="l"/>
              </a:tabLst>
            </a:pPr>
            <a:r>
              <a:rPr sz="32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7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藏头诗</a:t>
            </a:r>
            <a:endParaRPr lang="en-US" altLang="en-US" sz="3200" dirty="0"/>
          </a:p>
        </p:txBody>
      </p:sp>
      <p:pic>
        <p:nvPicPr>
          <p:cNvPr id="2097221" name="picture 90"/>
          <p:cNvPicPr>
            <a:picLocks noChangeAspect="1"/>
          </p:cNvPicPr>
          <p:nvPr/>
        </p:nvPicPr>
        <p:blipFill>
          <a:blip r:embed="rId2"/>
          <a:stretch>
            <a:fillRect/>
          </a:stretch>
        </p:blipFill>
        <p:spPr>
          <a:xfrm rot="21600000">
            <a:off x="824483" y="408431"/>
            <a:ext cx="419100" cy="655320"/>
          </a:xfrm>
          <a:prstGeom prst="rect">
            <a:avLst/>
          </a:prstGeom>
        </p:spPr>
      </p:pic>
      <p:sp>
        <p:nvSpPr>
          <p:cNvPr id="1049053"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
        <p:nvSpPr>
          <p:cNvPr id="1049054" name="rect"/>
          <p:cNvSpPr/>
          <p:nvPr/>
        </p:nvSpPr>
        <p:spPr>
          <a:xfrm>
            <a:off x="1465326" y="1019555"/>
            <a:ext cx="9037573" cy="28956"/>
          </a:xfrm>
          <a:prstGeom prst="rect">
            <a:avLst/>
          </a:prstGeom>
          <a:solidFill>
            <a:srgbClr val="5B9BD5">
              <a:alpha val="100000"/>
            </a:srgbClr>
          </a:solidFill>
          <a:ln cap="flat">
            <a:noFill/>
            <a:prstDash val="solid"/>
            <a:miter lim="0"/>
          </a:ln>
        </p:spPr>
        <p:txBody>
          <a:bodyPr rtlCol="0"/>
          <a:p>
            <a:pPr algn="ct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67" name=""/>
        <p:cNvGrpSpPr/>
        <p:nvPr/>
      </p:nvGrpSpPr>
      <p:grpSpPr>
        <a:xfrm>
          <a:off x="0" y="0"/>
          <a:ext cx="0" cy="0"/>
          <a:chOff x="0" y="0"/>
          <a:chExt cx="0" cy="0"/>
        </a:xfrm>
      </p:grpSpPr>
      <p:sp>
        <p:nvSpPr>
          <p:cNvPr id="1049057" name="textbox 98"/>
          <p:cNvSpPr/>
          <p:nvPr/>
        </p:nvSpPr>
        <p:spPr>
          <a:xfrm>
            <a:off x="919073" y="1648511"/>
            <a:ext cx="10039350" cy="4039234"/>
          </a:xfrm>
          <a:prstGeom prst="rect">
            <a:avLst/>
          </a:prstGeom>
        </p:spPr>
        <p:txBody>
          <a:bodyPr vert="horz" wrap="square" lIns="0" tIns="0" rIns="0" bIns="0"/>
          <a:p>
            <a:pPr algn="l" rtl="0" eaLnBrk="0">
              <a:lnSpc>
                <a:spcPct val="91000"/>
              </a:lnSpc>
            </a:pPr>
            <a:endParaRPr lang="en-US" altLang="en-US" sz="100" dirty="0"/>
          </a:p>
          <a:p>
            <a:pPr marL="12700" algn="l" rtl="0" eaLnBrk="0">
              <a:lnSpc>
                <a:spcPct val="99000"/>
              </a:lnSpc>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480" dirty="0">
                <a:solidFill>
                  <a:srgbClr val="000000">
                    <a:alpha val="100000"/>
                  </a:srgbClr>
                </a:solidFill>
                <a:latin typeface="Arial" panose="020B0604020202020204"/>
                <a:ea typeface="Arial" panose="020B0604020202020204"/>
                <a:cs typeface="Arial" panose="020B0604020202020204"/>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先把信纸折叠几下（上下及</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左右</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然后铺平信纸</a:t>
            </a:r>
            <a:endParaRPr lang="en-US" altLang="en-US" sz="2400" dirty="0"/>
          </a:p>
          <a:p>
            <a:pPr algn="l" rtl="0" eaLnBrk="0">
              <a:lnSpc>
                <a:spcPct val="146000"/>
              </a:lnSpc>
            </a:pPr>
            <a:endParaRPr lang="en-US" altLang="en-US" sz="1000" dirty="0"/>
          </a:p>
          <a:p>
            <a:pPr marL="249555" indent="-236855" algn="l" rtl="0" eaLnBrk="0">
              <a:lnSpc>
                <a:spcPct val="122000"/>
              </a:lnSpc>
              <a:spcBef>
                <a:spcPts val="720"/>
              </a:spcBef>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520" dirty="0">
                <a:solidFill>
                  <a:srgbClr val="000000">
                    <a:alpha val="100000"/>
                  </a:srgbClr>
                </a:solidFill>
                <a:latin typeface="Arial" panose="020B0604020202020204"/>
                <a:ea typeface="Arial" panose="020B0604020202020204"/>
                <a:cs typeface="Arial" panose="020B0604020202020204"/>
              </a:rPr>
              <a:t> </a:t>
            </a:r>
            <a:r>
              <a:rPr sz="2400" kern="0" spc="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将传递的信息按顺序一个个分开，写在折痕的交叉点上，每一个交叉点写</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一个字</a:t>
            </a:r>
            <a:endParaRPr lang="en-US" altLang="en-US" sz="2400" dirty="0"/>
          </a:p>
          <a:p>
            <a:pPr algn="l" rtl="0" eaLnBrk="0">
              <a:lnSpc>
                <a:spcPct val="154000"/>
              </a:lnSpc>
            </a:pPr>
            <a:endParaRPr lang="en-US" altLang="en-US" sz="1000" dirty="0"/>
          </a:p>
          <a:p>
            <a:pPr marL="245110" indent="-232410" algn="l" rtl="0" eaLnBrk="0">
              <a:lnSpc>
                <a:spcPct val="122000"/>
              </a:lnSpc>
              <a:spcBef>
                <a:spcPts val="730"/>
              </a:spcBef>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520" dirty="0">
                <a:solidFill>
                  <a:srgbClr val="000000">
                    <a:alpha val="100000"/>
                  </a:srgbClr>
                </a:solidFill>
                <a:latin typeface="Arial" panose="020B0604020202020204"/>
                <a:ea typeface="Arial" panose="020B0604020202020204"/>
                <a:cs typeface="Arial" panose="020B0604020202020204"/>
              </a:rPr>
              <a:t> </a:t>
            </a:r>
            <a:r>
              <a:rPr sz="2400" kern="0" spc="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在空白位置上填上公开的普通信文，普通信文与秘密信文的文字通顺地连</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4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贯在一起</a:t>
            </a:r>
            <a:endParaRPr lang="en-US" altLang="en-US" sz="2400" dirty="0"/>
          </a:p>
          <a:p>
            <a:pPr algn="l" rtl="0" eaLnBrk="0">
              <a:lnSpc>
                <a:spcPct val="157000"/>
              </a:lnSpc>
            </a:pPr>
            <a:endParaRPr lang="en-US" altLang="en-US" sz="1000" dirty="0"/>
          </a:p>
          <a:p>
            <a:pPr algn="l" rtl="0" eaLnBrk="0">
              <a:lnSpc>
                <a:spcPct val="101000"/>
              </a:lnSpc>
            </a:pPr>
            <a:endParaRPr lang="en-US" altLang="en-US" sz="600" dirty="0"/>
          </a:p>
          <a:p>
            <a:pPr marL="247650" indent="-234950" algn="l" rtl="0" eaLnBrk="0">
              <a:lnSpc>
                <a:spcPct val="122000"/>
              </a:lnSpc>
              <a:spcBef>
                <a:spcPts val="0"/>
              </a:spcBef>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530" dirty="0">
                <a:solidFill>
                  <a:srgbClr val="000000">
                    <a:alpha val="100000"/>
                  </a:srgbClr>
                </a:solidFill>
                <a:latin typeface="Arial" panose="020B0604020202020204"/>
                <a:ea typeface="Arial" panose="020B0604020202020204"/>
                <a:cs typeface="Arial" panose="020B0604020202020204"/>
              </a:rPr>
              <a:t> </a:t>
            </a:r>
            <a:r>
              <a:rPr sz="2400" kern="0" spc="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为了防止被敌人察觉，使用这种密码需要在编公开信文上下些功夫。如</a:t>
            </a:r>
            <a:r>
              <a:rPr sz="2400" kern="0" spc="-1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果</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在秘密信文上再用些暗</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语式密码，那么敌人就更难看出破绽了。</a:t>
            </a:r>
            <a:endParaRPr lang="en-US" altLang="en-US" sz="2400" dirty="0"/>
          </a:p>
        </p:txBody>
      </p:sp>
      <p:sp>
        <p:nvSpPr>
          <p:cNvPr id="1049058" name="textbox 102"/>
          <p:cNvSpPr/>
          <p:nvPr/>
        </p:nvSpPr>
        <p:spPr>
          <a:xfrm>
            <a:off x="1584069" y="488157"/>
            <a:ext cx="1209675" cy="487044"/>
          </a:xfrm>
          <a:prstGeom prst="rect">
            <a:avLst/>
          </a:prstGeom>
        </p:spPr>
        <p:txBody>
          <a:bodyPr vert="horz" wrap="square" lIns="0" tIns="0" rIns="0" bIns="0"/>
          <a:p>
            <a:pPr algn="l" rtl="0" eaLnBrk="0">
              <a:lnSpc>
                <a:spcPct val="72000"/>
              </a:lnSpc>
            </a:pPr>
            <a:endParaRPr lang="en-US" altLang="en-US" sz="100" dirty="0"/>
          </a:p>
          <a:p>
            <a:pPr algn="r" rtl="0" eaLnBrk="0">
              <a:lnSpc>
                <a:spcPct val="95000"/>
              </a:lnSpc>
            </a:pPr>
            <a:r>
              <a:rPr sz="3200" kern="0" spc="-7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叠痕法</a:t>
            </a:r>
            <a:endParaRPr lang="en-US" altLang="en-US" sz="3200" dirty="0"/>
          </a:p>
        </p:txBody>
      </p:sp>
      <p:sp>
        <p:nvSpPr>
          <p:cNvPr id="1049059"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222" name="picture 106"/>
          <p:cNvPicPr>
            <a:picLocks noChangeAspect="1"/>
          </p:cNvPicPr>
          <p:nvPr/>
        </p:nvPicPr>
        <p:blipFill>
          <a:blip r:embed="rId1"/>
          <a:stretch>
            <a:fillRect/>
          </a:stretch>
        </p:blipFill>
        <p:spPr>
          <a:xfrm rot="21600000">
            <a:off x="824483" y="408431"/>
            <a:ext cx="419100" cy="655320"/>
          </a:xfrm>
          <a:prstGeom prst="rect">
            <a:avLst/>
          </a:prstGeom>
        </p:spPr>
      </p:pic>
      <p:sp>
        <p:nvSpPr>
          <p:cNvPr id="1049060"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70" name=""/>
        <p:cNvGrpSpPr/>
        <p:nvPr/>
      </p:nvGrpSpPr>
      <p:grpSpPr>
        <a:xfrm>
          <a:off x="0" y="0"/>
          <a:ext cx="0" cy="0"/>
          <a:chOff x="0" y="0"/>
          <a:chExt cx="0" cy="0"/>
        </a:xfrm>
      </p:grpSpPr>
      <p:sp>
        <p:nvSpPr>
          <p:cNvPr id="1049063" name="textbox 114"/>
          <p:cNvSpPr/>
          <p:nvPr/>
        </p:nvSpPr>
        <p:spPr>
          <a:xfrm>
            <a:off x="1577559" y="488157"/>
            <a:ext cx="2440304" cy="485775"/>
          </a:xfrm>
          <a:prstGeom prst="rect">
            <a:avLst/>
          </a:prstGeom>
        </p:spPr>
        <p:txBody>
          <a:bodyPr vert="horz" wrap="square" lIns="0" tIns="0" rIns="0" bIns="0"/>
          <a:p>
            <a:pPr algn="l" rtl="0" eaLnBrk="0">
              <a:lnSpc>
                <a:spcPct val="94000"/>
              </a:lnSpc>
            </a:pPr>
            <a:endParaRPr lang="en-US" altLang="en-US" sz="100" dirty="0"/>
          </a:p>
          <a:p>
            <a:pPr marL="12700" algn="l" rtl="0" eaLnBrk="0">
              <a:lnSpc>
                <a:spcPct val="94000"/>
              </a:lnSpc>
            </a:pPr>
            <a:r>
              <a:rPr sz="3200" kern="0" spc="-40" dirty="0">
                <a:ln w="1162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漏格板加密法</a:t>
            </a:r>
            <a:endParaRPr lang="en-US" altLang="en-US" sz="3200" dirty="0"/>
          </a:p>
        </p:txBody>
      </p:sp>
      <p:sp>
        <p:nvSpPr>
          <p:cNvPr id="1049064" name="textbox 118"/>
          <p:cNvSpPr/>
          <p:nvPr/>
        </p:nvSpPr>
        <p:spPr>
          <a:xfrm>
            <a:off x="2057316" y="1419090"/>
            <a:ext cx="1528444" cy="385445"/>
          </a:xfrm>
          <a:prstGeom prst="rect">
            <a:avLst/>
          </a:prstGeom>
        </p:spPr>
        <p:txBody>
          <a:bodyPr vert="horz" wrap="square" lIns="0" tIns="0" rIns="0" bIns="0"/>
          <a:p>
            <a:pPr algn="l" rtl="0" eaLnBrk="0">
              <a:lnSpc>
                <a:spcPct val="83000"/>
              </a:lnSpc>
            </a:pPr>
            <a:endParaRPr lang="en-US" altLang="en-US" sz="100" dirty="0"/>
          </a:p>
          <a:p>
            <a:pPr marL="12700" algn="l" rtl="0" eaLnBrk="0">
              <a:lnSpc>
                <a:spcPts val="2830"/>
              </a:lnSpc>
            </a:pPr>
            <a:r>
              <a:rPr sz="2300" kern="0" spc="-130" dirty="0">
                <a:ln w="9056"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例：密文：</a:t>
            </a:r>
            <a:endParaRPr lang="en-US" altLang="en-US" sz="2300" dirty="0"/>
          </a:p>
        </p:txBody>
      </p:sp>
      <p:sp>
        <p:nvSpPr>
          <p:cNvPr id="1049065"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23" name="picture 122"/>
          <p:cNvPicPr>
            <a:picLocks noChangeAspect="1"/>
          </p:cNvPicPr>
          <p:nvPr/>
        </p:nvPicPr>
        <p:blipFill>
          <a:blip r:embed="rId1"/>
          <a:stretch>
            <a:fillRect/>
          </a:stretch>
        </p:blipFill>
        <p:spPr>
          <a:xfrm rot="21600000">
            <a:off x="824483" y="408431"/>
            <a:ext cx="419100" cy="655320"/>
          </a:xfrm>
          <a:prstGeom prst="rect">
            <a:avLst/>
          </a:prstGeom>
        </p:spPr>
      </p:pic>
      <p:sp>
        <p:nvSpPr>
          <p:cNvPr id="1049066"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1049067" name="文本框 1"/>
          <p:cNvSpPr txBox="1"/>
          <p:nvPr/>
        </p:nvSpPr>
        <p:spPr>
          <a:xfrm>
            <a:off x="2125980" y="2247900"/>
            <a:ext cx="7170420" cy="2225041"/>
          </a:xfrm>
          <a:prstGeom prst="rect">
            <a:avLst/>
          </a:prstGeom>
          <a:noFill/>
        </p:spPr>
        <p:txBody>
          <a:bodyPr wrap="square" rtlCol="0">
            <a:spAutoFit/>
          </a:bodyPr>
          <a:p>
            <a:r>
              <a:rPr lang="zh-CN" altLang="en-US" sz="2400"/>
              <a:t>王先生：</a:t>
            </a:r>
            <a:endParaRPr lang="zh-CN" altLang="en-US" sz="2400"/>
          </a:p>
          <a:p>
            <a:r>
              <a:rPr lang="en-US" altLang="zh-CN" sz="2400"/>
              <a:t>    </a:t>
            </a:r>
            <a:r>
              <a:rPr lang="zh-CN" altLang="en-US" sz="2400">
                <a:ea typeface="宋体" panose="02010600030101010101" pitchFamily="2" charset="-122"/>
              </a:rPr>
              <a:t>来信收悉，你的盛情难以报答。我已在昨天抵</a:t>
            </a:r>
            <a:endParaRPr lang="zh-CN" altLang="en-US" sz="2400">
              <a:ea typeface="宋体" panose="02010600030101010101" pitchFamily="2" charset="-122"/>
            </a:endParaRPr>
          </a:p>
          <a:p>
            <a:r>
              <a:rPr lang="zh-CN" altLang="en-US" sz="2400">
                <a:ea typeface="宋体" panose="02010600030101010101" pitchFamily="2" charset="-122"/>
              </a:rPr>
              <a:t>达广州。秋雨连绵，每天需</a:t>
            </a:r>
            <a:r>
              <a:rPr lang="en-US" altLang="zh-CN" sz="2400">
                <a:ea typeface="宋体" panose="02010600030101010101" pitchFamily="2" charset="-122"/>
              </a:rPr>
              <a:t> </a:t>
            </a:r>
            <a:r>
              <a:rPr lang="zh-CN" altLang="en-US" sz="2400">
                <a:ea typeface="宋体" panose="02010600030101010101" pitchFamily="2" charset="-122"/>
              </a:rPr>
              <a:t>备伞一把。大约本月</a:t>
            </a:r>
            <a:endParaRPr lang="zh-CN" altLang="en-US" sz="2400">
              <a:ea typeface="宋体" panose="02010600030101010101" pitchFamily="2" charset="-122"/>
            </a:endParaRPr>
          </a:p>
          <a:p>
            <a:r>
              <a:rPr lang="zh-CN" altLang="en-US" sz="2400">
                <a:ea typeface="宋体" panose="02010600030101010101" pitchFamily="2" charset="-122"/>
              </a:rPr>
              <a:t>中旬即可返回。再谈。</a:t>
            </a:r>
            <a:endParaRPr lang="zh-CN" altLang="en-US" sz="2400">
              <a:ea typeface="宋体" panose="02010600030101010101" pitchFamily="2" charset="-122"/>
            </a:endParaRPr>
          </a:p>
          <a:p>
            <a:pPr marL="2743200" lvl="6" indent="457200"/>
            <a:r>
              <a:rPr lang="zh-CN" altLang="en-US" sz="2400">
                <a:ea typeface="宋体" panose="02010600030101010101" pitchFamily="2" charset="-122"/>
              </a:rPr>
              <a:t>弟：李明</a:t>
            </a:r>
            <a:endParaRPr lang="zh-CN" altLang="en-US" sz="2400">
              <a:ea typeface="宋体" panose="02010600030101010101" pitchFamily="2" charset="-122"/>
            </a:endParaRPr>
          </a:p>
          <a:p>
            <a:pPr marL="2743200" lvl="6" indent="457200"/>
            <a:r>
              <a:rPr lang="en-US" altLang="zh-CN" sz="2400">
                <a:ea typeface="宋体" panose="02010600030101010101" pitchFamily="2" charset="-122"/>
              </a:rPr>
              <a:t>2001</a:t>
            </a:r>
            <a:r>
              <a:rPr lang="zh-CN" altLang="en-US" sz="2400">
                <a:ea typeface="宋体" panose="02010600030101010101" pitchFamily="2" charset="-122"/>
              </a:rPr>
              <a:t>年</a:t>
            </a:r>
            <a:r>
              <a:rPr lang="en-US" altLang="zh-CN" sz="2400">
                <a:ea typeface="宋体" panose="02010600030101010101" pitchFamily="2" charset="-122"/>
              </a:rPr>
              <a:t>11</a:t>
            </a:r>
            <a:r>
              <a:rPr lang="zh-CN" altLang="en-US" sz="2400">
                <a:ea typeface="宋体" panose="02010600030101010101" pitchFamily="2" charset="-122"/>
              </a:rPr>
              <a:t>月</a:t>
            </a:r>
            <a:r>
              <a:rPr lang="en-US" altLang="zh-CN" sz="2400">
                <a:ea typeface="宋体" panose="02010600030101010101" pitchFamily="2" charset="-122"/>
              </a:rPr>
              <a:t>7</a:t>
            </a:r>
            <a:r>
              <a:rPr lang="zh-CN" altLang="en-US" sz="2400">
                <a:ea typeface="宋体" panose="02010600030101010101" pitchFamily="2" charset="-122"/>
              </a:rPr>
              <a:t>日</a:t>
            </a:r>
            <a:endParaRPr lang="zh-CN" altLang="en-US" sz="240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73" name=""/>
        <p:cNvGrpSpPr/>
        <p:nvPr/>
      </p:nvGrpSpPr>
      <p:grpSpPr>
        <a:xfrm>
          <a:off x="0" y="0"/>
          <a:ext cx="0" cy="0"/>
          <a:chOff x="0" y="0"/>
          <a:chExt cx="0" cy="0"/>
        </a:xfrm>
      </p:grpSpPr>
      <p:graphicFrame>
        <p:nvGraphicFramePr>
          <p:cNvPr id="4194319" name="table 110"/>
          <p:cNvGraphicFramePr>
            <a:graphicFrameLocks noGrp="1"/>
          </p:cNvGraphicFramePr>
          <p:nvPr/>
        </p:nvGraphicFramePr>
        <p:xfrm>
          <a:off x="1757172" y="1822703"/>
          <a:ext cx="6793864" cy="2733675"/>
        </p:xfrm>
        <a:graphic>
          <a:graphicData uri="http://schemas.openxmlformats.org/drawingml/2006/table">
            <a:tbl>
              <a:tblPr>
                <a:solidFill>
                  <a:srgbClr val="FFC000"/>
                </a:solidFill>
              </a:tblPr>
              <a:tblGrid>
                <a:gridCol w="1214755"/>
                <a:gridCol w="1409700"/>
                <a:gridCol w="1078230"/>
                <a:gridCol w="3091179"/>
              </a:tblGrid>
              <a:tr h="2733675">
                <a:tc>
                  <a:txBody>
                    <a:bodyPr/>
                    <a:p>
                      <a:pPr algn="l" rtl="0" eaLnBrk="0">
                        <a:lnSpc>
                          <a:spcPct val="100000"/>
                        </a:lnSpc>
                      </a:pPr>
                      <a:endParaRPr lang="en-US" altLang="en-US" sz="1000" dirty="0"/>
                    </a:p>
                  </a:txBody>
                  <a:tcPr marL="0" marR="0" marT="0" marB="0" vert="horz">
                    <a:lnL w="9525" cap="flat" cmpd="sng" algn="ctr">
                      <a:solidFill>
                        <a:srgbClr val="41719C"/>
                      </a:solidFill>
                      <a:prstDash val="solid"/>
                      <a:round/>
                      <a:headEnd type="none" w="med" len="med"/>
                      <a:tailEnd type="none" w="med" len="med"/>
                    </a:lnL>
                    <a:lnR>
                      <a:noFill/>
                      <a:headEnd type="none" w="med" len="med"/>
                      <a:tailEnd type="none" w="med" len="med"/>
                    </a:lnR>
                    <a:lnT w="9525" cap="flat" cmpd="sng" algn="ctr">
                      <a:solidFill>
                        <a:srgbClr val="41719C"/>
                      </a:solidFill>
                      <a:prstDash val="solid"/>
                      <a:round/>
                      <a:headEnd type="none" w="med" len="med"/>
                      <a:tailEnd type="none" w="med" len="med"/>
                    </a:lnT>
                    <a:lnB w="9525" cap="flat" cmpd="sng" algn="ctr">
                      <a:solidFill>
                        <a:srgbClr val="41719C"/>
                      </a:solidFill>
                      <a:prstDash val="solid"/>
                      <a:round/>
                      <a:headEnd type="none" w="med" len="med"/>
                      <a:tailEnd type="none" w="med" len="med"/>
                    </a:lnB>
                    <a:solidFill>
                      <a:srgbClr val="FFC000"/>
                    </a:solidFill>
                  </a:tcPr>
                </a:tc>
                <a:tc>
                  <a:txBody>
                    <a:bodyPr/>
                    <a:p>
                      <a:pPr algn="l" rtl="0" eaLnBrk="0">
                        <a:lnSpc>
                          <a:spcPct val="100000"/>
                        </a:lnSpc>
                      </a:pPr>
                      <a:endParaRPr lang="en-US" altLang="en-US" sz="1000" dirty="0"/>
                    </a:p>
                  </a:txBody>
                  <a:tcPr marL="0" marR="0" marT="0" marB="0" vert="horz">
                    <a:lnL>
                      <a:noFill/>
                    </a:lnL>
                    <a:lnR>
                      <a:noFill/>
                    </a:lnR>
                    <a:lnT w="9525" cap="flat" cmpd="sng" algn="ctr">
                      <a:solidFill>
                        <a:srgbClr val="41719C"/>
                      </a:solidFill>
                      <a:prstDash val="solid"/>
                      <a:round/>
                      <a:headEnd type="none" w="med" len="med"/>
                      <a:tailEnd type="none" w="med" len="med"/>
                    </a:lnT>
                    <a:lnB w="9525" cap="flat" cmpd="sng" algn="ctr">
                      <a:solidFill>
                        <a:srgbClr val="41719C"/>
                      </a:solidFill>
                      <a:prstDash val="solid"/>
                      <a:round/>
                      <a:headEnd type="none" w="med" len="med"/>
                      <a:tailEnd type="none" w="med" len="med"/>
                    </a:lnB>
                    <a:solidFill>
                      <a:srgbClr val="FFC000"/>
                    </a:solidFill>
                  </a:tcPr>
                </a:tc>
                <a:tc>
                  <a:txBody>
                    <a:bodyPr/>
                    <a:p>
                      <a:pPr algn="l" rtl="0" eaLnBrk="0">
                        <a:lnSpc>
                          <a:spcPct val="100000"/>
                        </a:lnSpc>
                      </a:pPr>
                      <a:endParaRPr lang="en-US" altLang="en-US" sz="1000" dirty="0"/>
                    </a:p>
                  </a:txBody>
                  <a:tcPr marL="0" marR="0" marT="0" marB="0" vert="horz">
                    <a:lnL>
                      <a:noFill/>
                    </a:lnL>
                    <a:lnR>
                      <a:noFill/>
                    </a:lnR>
                    <a:lnT w="9525" cap="flat" cmpd="sng" algn="ctr">
                      <a:solidFill>
                        <a:srgbClr val="41719C"/>
                      </a:solidFill>
                      <a:prstDash val="solid"/>
                      <a:round/>
                      <a:headEnd type="none" w="med" len="med"/>
                      <a:tailEnd type="none" w="med" len="med"/>
                    </a:lnT>
                    <a:lnB w="9525" cap="flat" cmpd="sng" algn="ctr">
                      <a:solidFill>
                        <a:srgbClr val="41719C"/>
                      </a:solidFill>
                      <a:prstDash val="solid"/>
                      <a:round/>
                      <a:headEnd type="none" w="med" len="med"/>
                      <a:tailEnd type="none" w="med" len="med"/>
                    </a:lnB>
                    <a:solidFill>
                      <a:srgbClr val="FFC000"/>
                    </a:solidFill>
                  </a:tcPr>
                </a:tc>
                <a:tc>
                  <a:txBody>
                    <a:bodyPr/>
                    <a:p>
                      <a:pPr algn="l" rtl="0" eaLnBrk="0">
                        <a:lnSpc>
                          <a:spcPct val="100000"/>
                        </a:lnSpc>
                      </a:pPr>
                      <a:endParaRPr lang="en-US" altLang="en-US" sz="1000" dirty="0"/>
                    </a:p>
                  </a:txBody>
                  <a:tcPr marL="0" marR="0" marT="0" marB="0" vert="horz">
                    <a:lnL>
                      <a:noFill/>
                    </a:lnL>
                    <a:lnR w="9525" cap="flat" cmpd="sng" algn="ctr">
                      <a:solidFill>
                        <a:srgbClr val="41719C"/>
                      </a:solidFill>
                      <a:prstDash val="solid"/>
                      <a:round/>
                      <a:headEnd type="none" w="med" len="med"/>
                      <a:tailEnd type="none" w="med" len="med"/>
                    </a:lnR>
                    <a:lnT w="9525" cap="flat" cmpd="sng" algn="ctr">
                      <a:solidFill>
                        <a:srgbClr val="41719C"/>
                      </a:solidFill>
                      <a:prstDash val="solid"/>
                      <a:round/>
                      <a:headEnd type="none" w="med" len="med"/>
                      <a:tailEnd type="none" w="med" len="med"/>
                    </a:lnT>
                    <a:lnB w="9525" cap="flat" cmpd="sng" algn="ctr">
                      <a:solidFill>
                        <a:srgbClr val="41719C"/>
                      </a:solidFill>
                      <a:prstDash val="solid"/>
                      <a:round/>
                      <a:headEnd type="none" w="med" len="med"/>
                      <a:tailEnd type="none" w="med" len="med"/>
                    </a:lnB>
                    <a:solidFill>
                      <a:srgbClr val="FFC000"/>
                    </a:solidFill>
                  </a:tcPr>
                </a:tc>
              </a:tr>
            </a:tbl>
          </a:graphicData>
        </a:graphic>
      </p:graphicFrame>
      <p:sp>
        <p:nvSpPr>
          <p:cNvPr id="1049070" name="textbox 112"/>
          <p:cNvSpPr/>
          <p:nvPr/>
        </p:nvSpPr>
        <p:spPr>
          <a:xfrm>
            <a:off x="2320781" y="5447567"/>
            <a:ext cx="3846829" cy="427990"/>
          </a:xfrm>
          <a:prstGeom prst="rect">
            <a:avLst/>
          </a:prstGeom>
        </p:spPr>
        <p:txBody>
          <a:bodyPr vert="horz" wrap="square" lIns="0" tIns="0" rIns="0" bIns="0"/>
          <a:p>
            <a:pPr algn="l" rtl="0" eaLnBrk="0">
              <a:lnSpc>
                <a:spcPct val="79000"/>
              </a:lnSpc>
            </a:pPr>
            <a:endParaRPr lang="en-US" altLang="en-US" sz="100" dirty="0"/>
          </a:p>
          <a:p>
            <a:pPr marL="12700" algn="l" rtl="0" eaLnBrk="0">
              <a:lnSpc>
                <a:spcPct val="98000"/>
              </a:lnSpc>
            </a:pPr>
            <a:r>
              <a:rPr sz="2700" kern="0" spc="-90" dirty="0">
                <a:ln w="10145" cap="flat" cmpd="sng">
                  <a:solidFill>
                    <a:srgbClr val="0000FF">
                      <a:alpha val="100000"/>
                    </a:srgbClr>
                  </a:solidFill>
                  <a:prstDash val="solid"/>
                  <a:miter lim="10"/>
                </a:ln>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明文：情报在雨伞把中。</a:t>
            </a:r>
            <a:endParaRPr lang="en-US" altLang="en-US" sz="2700" dirty="0"/>
          </a:p>
        </p:txBody>
      </p:sp>
      <p:sp>
        <p:nvSpPr>
          <p:cNvPr id="1049071" name="textbox 114"/>
          <p:cNvSpPr/>
          <p:nvPr/>
        </p:nvSpPr>
        <p:spPr>
          <a:xfrm>
            <a:off x="1577559" y="488157"/>
            <a:ext cx="2440304" cy="485775"/>
          </a:xfrm>
          <a:prstGeom prst="rect">
            <a:avLst/>
          </a:prstGeom>
        </p:spPr>
        <p:txBody>
          <a:bodyPr vert="horz" wrap="square" lIns="0" tIns="0" rIns="0" bIns="0"/>
          <a:p>
            <a:pPr algn="l" rtl="0" eaLnBrk="0">
              <a:lnSpc>
                <a:spcPct val="94000"/>
              </a:lnSpc>
            </a:pPr>
            <a:endParaRPr lang="en-US" altLang="en-US" sz="100" dirty="0"/>
          </a:p>
          <a:p>
            <a:pPr marL="12700" algn="l" rtl="0" eaLnBrk="0">
              <a:lnSpc>
                <a:spcPct val="94000"/>
              </a:lnSpc>
            </a:pPr>
            <a:r>
              <a:rPr sz="3200" kern="0" spc="-40" dirty="0">
                <a:ln w="1162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漏格板加密法</a:t>
            </a:r>
            <a:endParaRPr lang="en-US" altLang="en-US" sz="3200" dirty="0"/>
          </a:p>
        </p:txBody>
      </p:sp>
      <p:sp>
        <p:nvSpPr>
          <p:cNvPr id="1049072" name="textbox 118"/>
          <p:cNvSpPr/>
          <p:nvPr/>
        </p:nvSpPr>
        <p:spPr>
          <a:xfrm>
            <a:off x="2057316" y="1419090"/>
            <a:ext cx="1528444" cy="385445"/>
          </a:xfrm>
          <a:prstGeom prst="rect">
            <a:avLst/>
          </a:prstGeom>
        </p:spPr>
        <p:txBody>
          <a:bodyPr vert="horz" wrap="square" lIns="0" tIns="0" rIns="0" bIns="0"/>
          <a:p>
            <a:pPr algn="l" rtl="0" eaLnBrk="0">
              <a:lnSpc>
                <a:spcPct val="83000"/>
              </a:lnSpc>
            </a:pPr>
            <a:endParaRPr lang="en-US" altLang="en-US" sz="100" dirty="0"/>
          </a:p>
          <a:p>
            <a:pPr marL="12700" algn="l" rtl="0" eaLnBrk="0">
              <a:lnSpc>
                <a:spcPts val="2830"/>
              </a:lnSpc>
            </a:pPr>
            <a:r>
              <a:rPr sz="2300" kern="0" spc="-130" dirty="0">
                <a:ln w="9056"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例：密文：</a:t>
            </a:r>
            <a:endParaRPr lang="en-US" altLang="en-US" sz="2300" dirty="0"/>
          </a:p>
        </p:txBody>
      </p:sp>
      <p:sp>
        <p:nvSpPr>
          <p:cNvPr id="1049073"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24" name="picture 122"/>
          <p:cNvPicPr>
            <a:picLocks noChangeAspect="1"/>
          </p:cNvPicPr>
          <p:nvPr/>
        </p:nvPicPr>
        <p:blipFill>
          <a:blip r:embed="rId1"/>
          <a:stretch>
            <a:fillRect/>
          </a:stretch>
        </p:blipFill>
        <p:spPr>
          <a:xfrm rot="21600000">
            <a:off x="824483" y="408431"/>
            <a:ext cx="419100" cy="655320"/>
          </a:xfrm>
          <a:prstGeom prst="rect">
            <a:avLst/>
          </a:prstGeom>
        </p:spPr>
      </p:pic>
      <p:sp>
        <p:nvSpPr>
          <p:cNvPr id="1049074"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1049075" name="rect"/>
          <p:cNvSpPr/>
          <p:nvPr/>
        </p:nvSpPr>
        <p:spPr>
          <a:xfrm>
            <a:off x="4823459" y="2264664"/>
            <a:ext cx="358140" cy="356615"/>
          </a:xfrm>
          <a:prstGeom prst="rect">
            <a:avLst/>
          </a:prstGeom>
          <a:solidFill>
            <a:srgbClr val="FFFFFF">
              <a:alpha val="100000"/>
            </a:srgbClr>
          </a:solidFill>
          <a:ln cap="flat">
            <a:noFill/>
            <a:prstDash val="solid"/>
            <a:miter lim="0"/>
          </a:ln>
        </p:spPr>
        <p:txBody>
          <a:bodyPr rtlCol="0"/>
          <a:p>
            <a:pPr algn="ctr"/>
            <a:endParaRPr lang="zh-CN" altLang="en-US"/>
          </a:p>
        </p:txBody>
      </p:sp>
      <p:graphicFrame>
        <p:nvGraphicFramePr>
          <p:cNvPr id="4194320" name="table 128"/>
          <p:cNvGraphicFramePr>
            <a:graphicFrameLocks noGrp="1"/>
          </p:cNvGraphicFramePr>
          <p:nvPr/>
        </p:nvGraphicFramePr>
        <p:xfrm>
          <a:off x="4817363" y="2258567"/>
          <a:ext cx="370204" cy="368300"/>
        </p:xfrm>
        <a:graphic>
          <a:graphicData uri="http://schemas.openxmlformats.org/drawingml/2006/table">
            <a:tbl>
              <a:tblPr/>
              <a:tblGrid>
                <a:gridCol w="370204"/>
              </a:tblGrid>
              <a:tr h="358775">
                <a:tc>
                  <a:txBody>
                    <a:bodyPr/>
                    <a:p>
                      <a:pPr algn="l" rtl="0" eaLnBrk="0">
                        <a:lnSpc>
                          <a:spcPct val="100000"/>
                        </a:lnSpc>
                      </a:pPr>
                      <a:endParaRPr lang="en-US" altLang="en-US" sz="500" dirty="0"/>
                    </a:p>
                    <a:p>
                      <a:pPr marL="91440" algn="l" rtl="0" eaLnBrk="0">
                        <a:lnSpc>
                          <a:spcPct val="94000"/>
                        </a:lnSpc>
                        <a:spcBef>
                          <a:spcPts val="0"/>
                        </a:spcBef>
                      </a:pPr>
                      <a:r>
                        <a:rPr sz="1800" kern="0" spc="-10" dirty="0">
                          <a:solidFill>
                            <a:srgbClr val="000000">
                              <a:alpha val="100000"/>
                            </a:srgbClr>
                          </a:solidFill>
                          <a:latin typeface="仿宋" panose="02010609060101010101" charset="-122"/>
                          <a:ea typeface="仿宋" panose="02010609060101010101" charset="-122"/>
                          <a:cs typeface="仿宋" panose="02010609060101010101" charset="-122"/>
                        </a:rPr>
                        <a:t>情</a:t>
                      </a:r>
                      <a:endParaRPr lang="en-US" altLang="en-US" sz="1800" dirty="0"/>
                    </a:p>
                  </a:txBody>
                  <a:tcPr marL="0" marR="0" marT="0" marB="0" vert="horz">
                    <a:lnL w="9525" cap="flat" cmpd="sng" algn="ctr">
                      <a:solidFill>
                        <a:srgbClr val="41719C"/>
                      </a:solidFill>
                      <a:prstDash val="solid"/>
                      <a:round/>
                      <a:headEnd type="none" w="med" len="med"/>
                      <a:tailEnd type="none" w="med" len="med"/>
                    </a:lnL>
                    <a:lnR w="9525" cap="flat" cmpd="sng" algn="ctr">
                      <a:solidFill>
                        <a:srgbClr val="41719C"/>
                      </a:solidFill>
                      <a:prstDash val="solid"/>
                      <a:round/>
                      <a:headEnd type="none" w="med" len="med"/>
                      <a:tailEnd type="none" w="med" len="med"/>
                    </a:lnR>
                    <a:lnT w="9525" cap="flat" cmpd="sng" algn="ctr">
                      <a:solidFill>
                        <a:srgbClr val="41719C"/>
                      </a:solidFill>
                      <a:prstDash val="solid"/>
                      <a:round/>
                      <a:headEnd type="none" w="med" len="med"/>
                      <a:tailEnd type="none" w="med" len="med"/>
                    </a:lnT>
                    <a:lnB w="9525" cap="flat" cmpd="sng" algn="ctr">
                      <a:solidFill>
                        <a:srgbClr val="41719C"/>
                      </a:solidFill>
                      <a:prstDash val="solid"/>
                      <a:round/>
                      <a:headEnd type="none" w="med" len="med"/>
                      <a:tailEnd type="none" w="med" len="med"/>
                    </a:lnB>
                  </a:tcPr>
                </a:tc>
              </a:tr>
            </a:tbl>
          </a:graphicData>
        </a:graphic>
      </p:graphicFrame>
      <p:sp>
        <p:nvSpPr>
          <p:cNvPr id="1049076" name="rect"/>
          <p:cNvSpPr/>
          <p:nvPr/>
        </p:nvSpPr>
        <p:spPr>
          <a:xfrm>
            <a:off x="5737859" y="2264664"/>
            <a:ext cx="358140" cy="356615"/>
          </a:xfrm>
          <a:prstGeom prst="rect">
            <a:avLst/>
          </a:prstGeom>
          <a:solidFill>
            <a:srgbClr val="FFFFFF">
              <a:alpha val="100000"/>
            </a:srgbClr>
          </a:solidFill>
          <a:ln cap="flat">
            <a:noFill/>
            <a:prstDash val="solid"/>
            <a:miter lim="0"/>
          </a:ln>
        </p:spPr>
        <p:txBody>
          <a:bodyPr rtlCol="0"/>
          <a:p>
            <a:pPr algn="ctr"/>
            <a:endParaRPr lang="zh-CN" altLang="en-US"/>
          </a:p>
        </p:txBody>
      </p:sp>
      <p:graphicFrame>
        <p:nvGraphicFramePr>
          <p:cNvPr id="4194321" name="table 132"/>
          <p:cNvGraphicFramePr>
            <a:graphicFrameLocks noGrp="1"/>
          </p:cNvGraphicFramePr>
          <p:nvPr/>
        </p:nvGraphicFramePr>
        <p:xfrm>
          <a:off x="5731763" y="2258567"/>
          <a:ext cx="370204" cy="368300"/>
        </p:xfrm>
        <a:graphic>
          <a:graphicData uri="http://schemas.openxmlformats.org/drawingml/2006/table">
            <a:tbl>
              <a:tblPr/>
              <a:tblGrid>
                <a:gridCol w="370204"/>
              </a:tblGrid>
              <a:tr h="358775">
                <a:tc>
                  <a:txBody>
                    <a:bodyPr/>
                    <a:p>
                      <a:pPr algn="l" rtl="0" eaLnBrk="0">
                        <a:lnSpc>
                          <a:spcPct val="100000"/>
                        </a:lnSpc>
                      </a:pPr>
                      <a:endParaRPr lang="en-US" altLang="en-US" sz="500" dirty="0"/>
                    </a:p>
                    <a:p>
                      <a:pPr marL="86360" algn="l" rtl="0" eaLnBrk="0">
                        <a:lnSpc>
                          <a:spcPct val="94000"/>
                        </a:lnSpc>
                        <a:spcBef>
                          <a:spcPts val="0"/>
                        </a:spcBef>
                      </a:pPr>
                      <a:r>
                        <a:rPr sz="1800" kern="0" spc="-10" dirty="0">
                          <a:solidFill>
                            <a:srgbClr val="000000">
                              <a:alpha val="100000"/>
                            </a:srgbClr>
                          </a:solidFill>
                          <a:latin typeface="仿宋" panose="02010609060101010101" charset="-122"/>
                          <a:ea typeface="仿宋" panose="02010609060101010101" charset="-122"/>
                          <a:cs typeface="仿宋" panose="02010609060101010101" charset="-122"/>
                        </a:rPr>
                        <a:t>报</a:t>
                      </a:r>
                      <a:endParaRPr lang="en-US" altLang="en-US" sz="1800" dirty="0"/>
                    </a:p>
                  </a:txBody>
                  <a:tcPr marL="0" marR="0" marT="0" marB="0" vert="horz">
                    <a:lnL w="9525" cap="flat" cmpd="sng" algn="ctr">
                      <a:solidFill>
                        <a:srgbClr val="41719C"/>
                      </a:solidFill>
                      <a:prstDash val="solid"/>
                      <a:round/>
                      <a:headEnd type="none" w="med" len="med"/>
                      <a:tailEnd type="none" w="med" len="med"/>
                    </a:lnL>
                    <a:lnR w="9525" cap="flat" cmpd="sng" algn="ctr">
                      <a:solidFill>
                        <a:srgbClr val="41719C"/>
                      </a:solidFill>
                      <a:prstDash val="solid"/>
                      <a:round/>
                      <a:headEnd type="none" w="med" len="med"/>
                      <a:tailEnd type="none" w="med" len="med"/>
                    </a:lnR>
                    <a:lnT w="9525" cap="flat" cmpd="sng" algn="ctr">
                      <a:solidFill>
                        <a:srgbClr val="41719C"/>
                      </a:solidFill>
                      <a:prstDash val="solid"/>
                      <a:round/>
                      <a:headEnd type="none" w="med" len="med"/>
                      <a:tailEnd type="none" w="med" len="med"/>
                    </a:lnT>
                    <a:lnB w="9525" cap="flat" cmpd="sng" algn="ctr">
                      <a:solidFill>
                        <a:srgbClr val="41719C"/>
                      </a:solidFill>
                      <a:prstDash val="solid"/>
                      <a:round/>
                      <a:headEnd type="none" w="med" len="med"/>
                      <a:tailEnd type="none" w="med" len="med"/>
                    </a:lnB>
                  </a:tcPr>
                </a:tc>
              </a:tr>
            </a:tbl>
          </a:graphicData>
        </a:graphic>
      </p:graphicFrame>
      <p:sp>
        <p:nvSpPr>
          <p:cNvPr id="1049077" name="rect"/>
          <p:cNvSpPr/>
          <p:nvPr/>
        </p:nvSpPr>
        <p:spPr>
          <a:xfrm>
            <a:off x="7261859" y="2264664"/>
            <a:ext cx="358140" cy="356615"/>
          </a:xfrm>
          <a:prstGeom prst="rect">
            <a:avLst/>
          </a:prstGeom>
          <a:solidFill>
            <a:srgbClr val="FFFFFF">
              <a:alpha val="100000"/>
            </a:srgbClr>
          </a:solidFill>
          <a:ln cap="flat">
            <a:noFill/>
            <a:prstDash val="solid"/>
            <a:miter lim="0"/>
          </a:ln>
        </p:spPr>
        <p:txBody>
          <a:bodyPr rtlCol="0"/>
          <a:p>
            <a:pPr algn="ctr"/>
            <a:endParaRPr lang="zh-CN" altLang="en-US"/>
          </a:p>
        </p:txBody>
      </p:sp>
      <p:graphicFrame>
        <p:nvGraphicFramePr>
          <p:cNvPr id="4194322" name="table 136"/>
          <p:cNvGraphicFramePr>
            <a:graphicFrameLocks noGrp="1"/>
          </p:cNvGraphicFramePr>
          <p:nvPr/>
        </p:nvGraphicFramePr>
        <p:xfrm>
          <a:off x="7255764" y="2258567"/>
          <a:ext cx="370205" cy="368300"/>
        </p:xfrm>
        <a:graphic>
          <a:graphicData uri="http://schemas.openxmlformats.org/drawingml/2006/table">
            <a:tbl>
              <a:tblPr/>
              <a:tblGrid>
                <a:gridCol w="370205"/>
              </a:tblGrid>
              <a:tr h="358775">
                <a:tc>
                  <a:txBody>
                    <a:bodyPr/>
                    <a:p>
                      <a:pPr algn="l" rtl="0" eaLnBrk="0">
                        <a:lnSpc>
                          <a:spcPct val="124000"/>
                        </a:lnSpc>
                      </a:pPr>
                      <a:endParaRPr lang="en-US" altLang="en-US" sz="400" dirty="0"/>
                    </a:p>
                    <a:p>
                      <a:pPr marL="88265" algn="l" rtl="0" eaLnBrk="0">
                        <a:lnSpc>
                          <a:spcPct val="93000"/>
                        </a:lnSpc>
                      </a:pPr>
                      <a:r>
                        <a:rPr sz="1800" kern="0" spc="-10" dirty="0">
                          <a:solidFill>
                            <a:srgbClr val="000000">
                              <a:alpha val="100000"/>
                            </a:srgbClr>
                          </a:solidFill>
                          <a:latin typeface="仿宋" panose="02010609060101010101" charset="-122"/>
                          <a:ea typeface="仿宋" panose="02010609060101010101" charset="-122"/>
                          <a:cs typeface="仿宋" panose="02010609060101010101" charset="-122"/>
                        </a:rPr>
                        <a:t>在</a:t>
                      </a:r>
                      <a:endParaRPr lang="en-US" altLang="en-US" sz="1800" dirty="0"/>
                    </a:p>
                  </a:txBody>
                  <a:tcPr marL="0" marR="0" marT="0" marB="0" vert="horz">
                    <a:lnL w="9525" cap="flat" cmpd="sng" algn="ctr">
                      <a:solidFill>
                        <a:srgbClr val="41719C"/>
                      </a:solidFill>
                      <a:prstDash val="solid"/>
                      <a:round/>
                      <a:headEnd type="none" w="med" len="med"/>
                      <a:tailEnd type="none" w="med" len="med"/>
                    </a:lnL>
                    <a:lnR w="9525" cap="flat" cmpd="sng" algn="ctr">
                      <a:solidFill>
                        <a:srgbClr val="41719C"/>
                      </a:solidFill>
                      <a:prstDash val="solid"/>
                      <a:round/>
                      <a:headEnd type="none" w="med" len="med"/>
                      <a:tailEnd type="none" w="med" len="med"/>
                    </a:lnR>
                    <a:lnT w="9525" cap="flat" cmpd="sng" algn="ctr">
                      <a:solidFill>
                        <a:srgbClr val="41719C"/>
                      </a:solidFill>
                      <a:prstDash val="solid"/>
                      <a:round/>
                      <a:headEnd type="none" w="med" len="med"/>
                      <a:tailEnd type="none" w="med" len="med"/>
                    </a:lnT>
                    <a:lnB w="9525" cap="flat" cmpd="sng" algn="ctr">
                      <a:solidFill>
                        <a:srgbClr val="41719C"/>
                      </a:solidFill>
                      <a:prstDash val="solid"/>
                      <a:round/>
                      <a:headEnd type="none" w="med" len="med"/>
                      <a:tailEnd type="none" w="med" len="med"/>
                    </a:lnB>
                  </a:tcPr>
                </a:tc>
              </a:tr>
            </a:tbl>
          </a:graphicData>
        </a:graphic>
      </p:graphicFrame>
      <p:sp>
        <p:nvSpPr>
          <p:cNvPr id="1049078" name="rect"/>
          <p:cNvSpPr/>
          <p:nvPr/>
        </p:nvSpPr>
        <p:spPr>
          <a:xfrm>
            <a:off x="3581400" y="2743200"/>
            <a:ext cx="358140" cy="355091"/>
          </a:xfrm>
          <a:prstGeom prst="rect">
            <a:avLst/>
          </a:prstGeom>
          <a:solidFill>
            <a:srgbClr val="FFFFFF">
              <a:alpha val="100000"/>
            </a:srgbClr>
          </a:solidFill>
          <a:ln cap="flat">
            <a:noFill/>
            <a:prstDash val="solid"/>
            <a:miter lim="0"/>
          </a:ln>
        </p:spPr>
        <p:txBody>
          <a:bodyPr rtlCol="0"/>
          <a:p>
            <a:pPr algn="ctr"/>
            <a:endParaRPr lang="zh-CN" altLang="en-US"/>
          </a:p>
        </p:txBody>
      </p:sp>
      <p:graphicFrame>
        <p:nvGraphicFramePr>
          <p:cNvPr id="4194323" name="table 140"/>
          <p:cNvGraphicFramePr>
            <a:graphicFrameLocks noGrp="1"/>
          </p:cNvGraphicFramePr>
          <p:nvPr/>
        </p:nvGraphicFramePr>
        <p:xfrm>
          <a:off x="3575303" y="2737103"/>
          <a:ext cx="370204" cy="367029"/>
        </p:xfrm>
        <a:graphic>
          <a:graphicData uri="http://schemas.openxmlformats.org/drawingml/2006/table">
            <a:tbl>
              <a:tblPr/>
              <a:tblGrid>
                <a:gridCol w="370204"/>
              </a:tblGrid>
              <a:tr h="357504">
                <a:tc>
                  <a:txBody>
                    <a:bodyPr/>
                    <a:p>
                      <a:pPr algn="l" rtl="0" eaLnBrk="0">
                        <a:lnSpc>
                          <a:spcPct val="124000"/>
                        </a:lnSpc>
                      </a:pPr>
                      <a:endParaRPr lang="en-US" altLang="en-US" sz="400" dirty="0"/>
                    </a:p>
                    <a:p>
                      <a:pPr marL="86360" algn="l" rtl="0" eaLnBrk="0">
                        <a:lnSpc>
                          <a:spcPct val="95000"/>
                        </a:lnSpc>
                        <a:spcBef>
                          <a:spcPts val="0"/>
                        </a:spcBef>
                      </a:pPr>
                      <a:r>
                        <a:rPr sz="1800" kern="0" spc="-10" dirty="0">
                          <a:solidFill>
                            <a:srgbClr val="000000">
                              <a:alpha val="100000"/>
                            </a:srgbClr>
                          </a:solidFill>
                          <a:latin typeface="仿宋" panose="02010609060101010101" charset="-122"/>
                          <a:ea typeface="仿宋" panose="02010609060101010101" charset="-122"/>
                          <a:cs typeface="仿宋" panose="02010609060101010101" charset="-122"/>
                        </a:rPr>
                        <a:t>雨</a:t>
                      </a:r>
                      <a:endParaRPr lang="en-US" altLang="en-US" sz="1800" dirty="0"/>
                    </a:p>
                  </a:txBody>
                  <a:tcPr marL="0" marR="0" marT="0" marB="0" vert="horz">
                    <a:lnL w="9525" cap="flat" cmpd="sng" algn="ctr">
                      <a:solidFill>
                        <a:srgbClr val="41719C"/>
                      </a:solidFill>
                      <a:prstDash val="solid"/>
                      <a:round/>
                      <a:headEnd type="none" w="med" len="med"/>
                      <a:tailEnd type="none" w="med" len="med"/>
                    </a:lnL>
                    <a:lnR w="9525" cap="flat" cmpd="sng" algn="ctr">
                      <a:solidFill>
                        <a:srgbClr val="41719C"/>
                      </a:solidFill>
                      <a:prstDash val="solid"/>
                      <a:round/>
                      <a:headEnd type="none" w="med" len="med"/>
                      <a:tailEnd type="none" w="med" len="med"/>
                    </a:lnR>
                    <a:lnT w="9525" cap="flat" cmpd="sng" algn="ctr">
                      <a:solidFill>
                        <a:srgbClr val="41719C"/>
                      </a:solidFill>
                      <a:prstDash val="solid"/>
                      <a:round/>
                      <a:headEnd type="none" w="med" len="med"/>
                      <a:tailEnd type="none" w="med" len="med"/>
                    </a:lnT>
                    <a:lnB w="9525" cap="flat" cmpd="sng" algn="ctr">
                      <a:solidFill>
                        <a:srgbClr val="41719C"/>
                      </a:solidFill>
                      <a:prstDash val="solid"/>
                      <a:round/>
                      <a:headEnd type="none" w="med" len="med"/>
                      <a:tailEnd type="none" w="med" len="med"/>
                    </a:lnB>
                  </a:tcPr>
                </a:tc>
              </a:tr>
            </a:tbl>
          </a:graphicData>
        </a:graphic>
      </p:graphicFrame>
      <p:sp>
        <p:nvSpPr>
          <p:cNvPr id="1049079" name="rect"/>
          <p:cNvSpPr/>
          <p:nvPr/>
        </p:nvSpPr>
        <p:spPr>
          <a:xfrm>
            <a:off x="6019800" y="2743200"/>
            <a:ext cx="358140" cy="355091"/>
          </a:xfrm>
          <a:prstGeom prst="rect">
            <a:avLst/>
          </a:prstGeom>
          <a:solidFill>
            <a:srgbClr val="FFFFFF">
              <a:alpha val="100000"/>
            </a:srgbClr>
          </a:solidFill>
          <a:ln cap="flat">
            <a:noFill/>
            <a:prstDash val="solid"/>
            <a:miter lim="0"/>
          </a:ln>
        </p:spPr>
        <p:txBody>
          <a:bodyPr rtlCol="0"/>
          <a:p>
            <a:pPr algn="ctr"/>
            <a:endParaRPr lang="zh-CN" altLang="en-US"/>
          </a:p>
        </p:txBody>
      </p:sp>
      <p:graphicFrame>
        <p:nvGraphicFramePr>
          <p:cNvPr id="4194324" name="table 144"/>
          <p:cNvGraphicFramePr>
            <a:graphicFrameLocks noGrp="1"/>
          </p:cNvGraphicFramePr>
          <p:nvPr/>
        </p:nvGraphicFramePr>
        <p:xfrm>
          <a:off x="6013703" y="2737103"/>
          <a:ext cx="370204" cy="367029"/>
        </p:xfrm>
        <a:graphic>
          <a:graphicData uri="http://schemas.openxmlformats.org/drawingml/2006/table">
            <a:tbl>
              <a:tblPr/>
              <a:tblGrid>
                <a:gridCol w="370204"/>
              </a:tblGrid>
              <a:tr h="357504">
                <a:tc>
                  <a:txBody>
                    <a:bodyPr/>
                    <a:p>
                      <a:pPr algn="l" rtl="0" eaLnBrk="0">
                        <a:lnSpc>
                          <a:spcPct val="122000"/>
                        </a:lnSpc>
                      </a:pPr>
                      <a:endParaRPr lang="en-US" altLang="en-US" sz="400" dirty="0"/>
                    </a:p>
                    <a:p>
                      <a:pPr marL="89535" algn="l" rtl="0" eaLnBrk="0">
                        <a:lnSpc>
                          <a:spcPct val="94000"/>
                        </a:lnSpc>
                        <a:spcBef>
                          <a:spcPts val="5"/>
                        </a:spcBef>
                      </a:pPr>
                      <a:r>
                        <a:rPr sz="1800" kern="0" spc="-10" dirty="0">
                          <a:solidFill>
                            <a:srgbClr val="000000">
                              <a:alpha val="100000"/>
                            </a:srgbClr>
                          </a:solidFill>
                          <a:latin typeface="仿宋" panose="02010609060101010101" charset="-122"/>
                          <a:ea typeface="仿宋" panose="02010609060101010101" charset="-122"/>
                          <a:cs typeface="仿宋" panose="02010609060101010101" charset="-122"/>
                        </a:rPr>
                        <a:t>伞</a:t>
                      </a:r>
                      <a:endParaRPr lang="en-US" altLang="en-US" sz="1800" dirty="0"/>
                    </a:p>
                  </a:txBody>
                  <a:tcPr marL="0" marR="0" marT="0" marB="0" vert="horz">
                    <a:lnL w="9525" cap="flat" cmpd="sng" algn="ctr">
                      <a:solidFill>
                        <a:srgbClr val="41719C"/>
                      </a:solidFill>
                      <a:prstDash val="solid"/>
                      <a:round/>
                      <a:headEnd type="none" w="med" len="med"/>
                      <a:tailEnd type="none" w="med" len="med"/>
                    </a:lnL>
                    <a:lnR w="9525" cap="flat" cmpd="sng" algn="ctr">
                      <a:solidFill>
                        <a:srgbClr val="41719C"/>
                      </a:solidFill>
                      <a:prstDash val="solid"/>
                      <a:round/>
                      <a:headEnd type="none" w="med" len="med"/>
                      <a:tailEnd type="none" w="med" len="med"/>
                    </a:lnR>
                    <a:lnT w="9525" cap="flat" cmpd="sng" algn="ctr">
                      <a:solidFill>
                        <a:srgbClr val="41719C"/>
                      </a:solidFill>
                      <a:prstDash val="solid"/>
                      <a:round/>
                      <a:headEnd type="none" w="med" len="med"/>
                      <a:tailEnd type="none" w="med" len="med"/>
                    </a:lnT>
                    <a:lnB w="9525" cap="flat" cmpd="sng" algn="ctr">
                      <a:solidFill>
                        <a:srgbClr val="41719C"/>
                      </a:solidFill>
                      <a:prstDash val="solid"/>
                      <a:round/>
                      <a:headEnd type="none" w="med" len="med"/>
                      <a:tailEnd type="none" w="med" len="med"/>
                    </a:lnB>
                  </a:tcPr>
                </a:tc>
              </a:tr>
            </a:tbl>
          </a:graphicData>
        </a:graphic>
      </p:graphicFrame>
      <p:sp>
        <p:nvSpPr>
          <p:cNvPr id="1049080" name="rect"/>
          <p:cNvSpPr/>
          <p:nvPr/>
        </p:nvSpPr>
        <p:spPr>
          <a:xfrm>
            <a:off x="2004060" y="3150108"/>
            <a:ext cx="358139" cy="355091"/>
          </a:xfrm>
          <a:prstGeom prst="rect">
            <a:avLst/>
          </a:prstGeom>
          <a:solidFill>
            <a:srgbClr val="FFFFFF">
              <a:alpha val="100000"/>
            </a:srgbClr>
          </a:solidFill>
          <a:ln cap="flat">
            <a:noFill/>
            <a:prstDash val="solid"/>
            <a:miter lim="0"/>
          </a:ln>
        </p:spPr>
        <p:txBody>
          <a:bodyPr rtlCol="0"/>
          <a:p>
            <a:pPr algn="ctr"/>
            <a:endParaRPr lang="zh-CN" altLang="en-US"/>
          </a:p>
        </p:txBody>
      </p:sp>
      <p:graphicFrame>
        <p:nvGraphicFramePr>
          <p:cNvPr id="4194325" name="table 148"/>
          <p:cNvGraphicFramePr>
            <a:graphicFrameLocks noGrp="1"/>
          </p:cNvGraphicFramePr>
          <p:nvPr/>
        </p:nvGraphicFramePr>
        <p:xfrm>
          <a:off x="1997964" y="3144011"/>
          <a:ext cx="370204" cy="367029"/>
        </p:xfrm>
        <a:graphic>
          <a:graphicData uri="http://schemas.openxmlformats.org/drawingml/2006/table">
            <a:tbl>
              <a:tblPr/>
              <a:tblGrid>
                <a:gridCol w="370204"/>
              </a:tblGrid>
              <a:tr h="357504">
                <a:tc>
                  <a:txBody>
                    <a:bodyPr/>
                    <a:p>
                      <a:pPr algn="l" rtl="0" eaLnBrk="0">
                        <a:lnSpc>
                          <a:spcPct val="123000"/>
                        </a:lnSpc>
                      </a:pPr>
                      <a:endParaRPr lang="en-US" altLang="en-US" sz="400" dirty="0"/>
                    </a:p>
                    <a:p>
                      <a:pPr marL="5715" algn="l" rtl="0" eaLnBrk="0">
                        <a:lnSpc>
                          <a:spcPct val="94000"/>
                        </a:lnSpc>
                        <a:spcBef>
                          <a:spcPts val="5"/>
                        </a:spcBef>
                        <a:tabLst>
                          <a:tab pos="114935" algn="l"/>
                        </a:tabLst>
                      </a:pPr>
                      <a:r>
                        <a:rPr sz="18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1800" kern="0" spc="-10" dirty="0">
                          <a:solidFill>
                            <a:srgbClr val="000000">
                              <a:alpha val="100000"/>
                            </a:srgbClr>
                          </a:solidFill>
                          <a:latin typeface="仿宋" panose="02010609060101010101" charset="-122"/>
                          <a:ea typeface="仿宋" panose="02010609060101010101" charset="-122"/>
                          <a:cs typeface="仿宋" panose="02010609060101010101" charset="-122"/>
                        </a:rPr>
                        <a:t>中</a:t>
                      </a:r>
                      <a:endParaRPr lang="en-US" altLang="en-US" sz="1800" dirty="0"/>
                    </a:p>
                  </a:txBody>
                  <a:tcPr marL="0" marR="0" marT="0" marB="0" vert="horz">
                    <a:lnL w="9525" cap="flat" cmpd="sng" algn="ctr">
                      <a:solidFill>
                        <a:srgbClr val="41719C"/>
                      </a:solidFill>
                      <a:prstDash val="solid"/>
                      <a:round/>
                      <a:headEnd type="none" w="med" len="med"/>
                      <a:tailEnd type="none" w="med" len="med"/>
                    </a:lnL>
                    <a:lnR w="9525" cap="flat" cmpd="sng" algn="ctr">
                      <a:solidFill>
                        <a:srgbClr val="41719C"/>
                      </a:solidFill>
                      <a:prstDash val="solid"/>
                      <a:round/>
                      <a:headEnd type="none" w="med" len="med"/>
                      <a:tailEnd type="none" w="med" len="med"/>
                    </a:lnR>
                    <a:lnT w="9525" cap="flat" cmpd="sng" algn="ctr">
                      <a:solidFill>
                        <a:srgbClr val="41719C"/>
                      </a:solidFill>
                      <a:prstDash val="solid"/>
                      <a:round/>
                      <a:headEnd type="none" w="med" len="med"/>
                      <a:tailEnd type="none" w="med" len="med"/>
                    </a:lnT>
                    <a:lnB w="9525" cap="flat" cmpd="sng" algn="ctr">
                      <a:solidFill>
                        <a:srgbClr val="41719C"/>
                      </a:solidFill>
                      <a:prstDash val="solid"/>
                      <a:round/>
                      <a:headEnd type="none" w="med" len="med"/>
                      <a:tailEnd type="none" w="med" len="med"/>
                    </a:lnB>
                  </a:tcPr>
                </a:tc>
              </a:tr>
            </a:tbl>
          </a:graphicData>
        </a:graphic>
      </p:graphicFrame>
      <p:sp>
        <p:nvSpPr>
          <p:cNvPr id="1049081" name="rect"/>
          <p:cNvSpPr/>
          <p:nvPr/>
        </p:nvSpPr>
        <p:spPr>
          <a:xfrm>
            <a:off x="6629400" y="2743200"/>
            <a:ext cx="358140" cy="355091"/>
          </a:xfrm>
          <a:prstGeom prst="rect">
            <a:avLst/>
          </a:prstGeom>
          <a:solidFill>
            <a:srgbClr val="FFFFFF">
              <a:alpha val="100000"/>
            </a:srgbClr>
          </a:solidFill>
          <a:ln cap="flat">
            <a:noFill/>
            <a:prstDash val="solid"/>
            <a:miter lim="0"/>
          </a:ln>
        </p:spPr>
        <p:txBody>
          <a:bodyPr rtlCol="0"/>
          <a:p>
            <a:pPr algn="ctr"/>
            <a:endParaRPr lang="zh-CN" altLang="en-US"/>
          </a:p>
        </p:txBody>
      </p:sp>
      <p:graphicFrame>
        <p:nvGraphicFramePr>
          <p:cNvPr id="4194326" name="table 152"/>
          <p:cNvGraphicFramePr>
            <a:graphicFrameLocks noGrp="1"/>
          </p:cNvGraphicFramePr>
          <p:nvPr/>
        </p:nvGraphicFramePr>
        <p:xfrm>
          <a:off x="6623304" y="2737103"/>
          <a:ext cx="370205" cy="367029"/>
        </p:xfrm>
        <a:graphic>
          <a:graphicData uri="http://schemas.openxmlformats.org/drawingml/2006/table">
            <a:tbl>
              <a:tblPr/>
              <a:tblGrid>
                <a:gridCol w="370205"/>
              </a:tblGrid>
              <a:tr h="357504">
                <a:tc>
                  <a:txBody>
                    <a:bodyPr/>
                    <a:p>
                      <a:pPr algn="l" rtl="0" eaLnBrk="0">
                        <a:lnSpc>
                          <a:spcPct val="124000"/>
                        </a:lnSpc>
                      </a:pPr>
                      <a:endParaRPr lang="en-US" altLang="en-US" sz="400" dirty="0"/>
                    </a:p>
                    <a:p>
                      <a:pPr marL="86360" algn="l" rtl="0" eaLnBrk="0">
                        <a:lnSpc>
                          <a:spcPct val="95000"/>
                        </a:lnSpc>
                        <a:spcBef>
                          <a:spcPts val="0"/>
                        </a:spcBef>
                      </a:pPr>
                      <a:r>
                        <a:rPr sz="1800" kern="0" spc="-10" dirty="0">
                          <a:solidFill>
                            <a:srgbClr val="000000">
                              <a:alpha val="100000"/>
                            </a:srgbClr>
                          </a:solidFill>
                          <a:latin typeface="仿宋" panose="02010609060101010101" charset="-122"/>
                          <a:ea typeface="仿宋" panose="02010609060101010101" charset="-122"/>
                          <a:cs typeface="仿宋" panose="02010609060101010101" charset="-122"/>
                        </a:rPr>
                        <a:t>把</a:t>
                      </a:r>
                      <a:endParaRPr lang="en-US" altLang="en-US" sz="1800" dirty="0"/>
                    </a:p>
                  </a:txBody>
                  <a:tcPr marL="0" marR="0" marT="0" marB="0" vert="horz">
                    <a:lnL w="9525" cap="flat" cmpd="sng" algn="ctr">
                      <a:solidFill>
                        <a:srgbClr val="41719C"/>
                      </a:solidFill>
                      <a:prstDash val="solid"/>
                      <a:round/>
                      <a:headEnd type="none" w="med" len="med"/>
                      <a:tailEnd type="none" w="med" len="med"/>
                    </a:lnL>
                    <a:lnR w="9525" cap="flat" cmpd="sng" algn="ctr">
                      <a:solidFill>
                        <a:srgbClr val="41719C"/>
                      </a:solidFill>
                      <a:prstDash val="solid"/>
                      <a:round/>
                      <a:headEnd type="none" w="med" len="med"/>
                      <a:tailEnd type="none" w="med" len="med"/>
                    </a:lnR>
                    <a:lnT w="9525" cap="flat" cmpd="sng" algn="ctr">
                      <a:solidFill>
                        <a:srgbClr val="41719C"/>
                      </a:solidFill>
                      <a:prstDash val="solid"/>
                      <a:round/>
                      <a:headEnd type="none" w="med" len="med"/>
                      <a:tailEnd type="none" w="med" len="med"/>
                    </a:lnT>
                    <a:lnB w="9525" cap="flat" cmpd="sng" algn="ctr">
                      <a:solidFill>
                        <a:srgbClr val="41719C"/>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74" name=""/>
        <p:cNvGrpSpPr/>
        <p:nvPr/>
      </p:nvGrpSpPr>
      <p:grpSpPr>
        <a:xfrm>
          <a:off x="0" y="0"/>
          <a:ext cx="0" cy="0"/>
          <a:chOff x="0" y="0"/>
          <a:chExt cx="0" cy="0"/>
        </a:xfrm>
      </p:grpSpPr>
      <p:grpSp>
        <p:nvGrpSpPr>
          <p:cNvPr id="175" name="group 10"/>
          <p:cNvGrpSpPr/>
          <p:nvPr/>
        </p:nvGrpSpPr>
        <p:grpSpPr>
          <a:xfrm rot="21600000">
            <a:off x="3555491" y="2057400"/>
            <a:ext cx="5708903" cy="812291"/>
            <a:chOff x="0" y="0"/>
            <a:chExt cx="5708903" cy="812291"/>
          </a:xfrm>
        </p:grpSpPr>
        <p:pic>
          <p:nvPicPr>
            <p:cNvPr id="2097225" name="picture 154"/>
            <p:cNvPicPr>
              <a:picLocks noChangeAspect="1"/>
            </p:cNvPicPr>
            <p:nvPr/>
          </p:nvPicPr>
          <p:blipFill>
            <a:blip r:embed="rId1"/>
            <a:stretch>
              <a:fillRect/>
            </a:stretch>
          </p:blipFill>
          <p:spPr>
            <a:xfrm rot="21600000">
              <a:off x="0" y="0"/>
              <a:ext cx="5708903" cy="812291"/>
            </a:xfrm>
            <a:prstGeom prst="rect">
              <a:avLst/>
            </a:prstGeom>
          </p:spPr>
        </p:pic>
        <p:sp>
          <p:nvSpPr>
            <p:cNvPr id="1049082" name="textbox 156"/>
            <p:cNvSpPr/>
            <p:nvPr/>
          </p:nvSpPr>
          <p:spPr>
            <a:xfrm>
              <a:off x="-12700" y="-12700"/>
              <a:ext cx="5734684" cy="877569"/>
            </a:xfrm>
            <a:prstGeom prst="rect">
              <a:avLst/>
            </a:prstGeom>
          </p:spPr>
          <p:txBody>
            <a:bodyPr vert="horz" wrap="square" lIns="0" tIns="0" rIns="0" bIns="0"/>
            <a:p>
              <a:pPr algn="l" rtl="0" eaLnBrk="0">
                <a:lnSpc>
                  <a:spcPct val="168000"/>
                </a:lnSpc>
              </a:pPr>
              <a:endParaRPr lang="en-US" altLang="en-US" sz="1000" dirty="0"/>
            </a:p>
            <a:p>
              <a:pPr marL="718185" algn="l" rtl="0" eaLnBrk="0">
                <a:lnSpc>
                  <a:spcPct val="94000"/>
                </a:lnSpc>
                <a:spcBef>
                  <a:spcPts val="0"/>
                </a:spcBef>
              </a:pPr>
              <a:r>
                <a:rPr sz="2400" kern="0" spc="-6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中国民间艺术</a:t>
              </a:r>
              <a:endParaRPr lang="en-US" altLang="en-US" sz="2400" dirty="0"/>
            </a:p>
          </p:txBody>
        </p:sp>
      </p:grpSp>
      <p:grpSp>
        <p:nvGrpSpPr>
          <p:cNvPr id="176" name="group 12"/>
          <p:cNvGrpSpPr/>
          <p:nvPr/>
        </p:nvGrpSpPr>
        <p:grpSpPr>
          <a:xfrm rot="21600000">
            <a:off x="3756659" y="3221735"/>
            <a:ext cx="5507735" cy="812292"/>
            <a:chOff x="0" y="0"/>
            <a:chExt cx="5507735" cy="812292"/>
          </a:xfrm>
        </p:grpSpPr>
        <p:pic>
          <p:nvPicPr>
            <p:cNvPr id="2097226" name="picture 158"/>
            <p:cNvPicPr>
              <a:picLocks noChangeAspect="1"/>
            </p:cNvPicPr>
            <p:nvPr/>
          </p:nvPicPr>
          <p:blipFill>
            <a:blip r:embed="rId2"/>
            <a:stretch>
              <a:fillRect/>
            </a:stretch>
          </p:blipFill>
          <p:spPr>
            <a:xfrm rot="21600000">
              <a:off x="0" y="0"/>
              <a:ext cx="5507735" cy="812292"/>
            </a:xfrm>
            <a:prstGeom prst="rect">
              <a:avLst/>
            </a:prstGeom>
          </p:spPr>
        </p:pic>
        <p:sp>
          <p:nvSpPr>
            <p:cNvPr id="1049083" name="textbox 160"/>
            <p:cNvSpPr/>
            <p:nvPr/>
          </p:nvSpPr>
          <p:spPr>
            <a:xfrm>
              <a:off x="-12700" y="-12700"/>
              <a:ext cx="5533390" cy="875664"/>
            </a:xfrm>
            <a:prstGeom prst="rect">
              <a:avLst/>
            </a:prstGeom>
          </p:spPr>
          <p:txBody>
            <a:bodyPr vert="horz" wrap="square" lIns="0" tIns="0" rIns="0" bIns="0"/>
            <a:p>
              <a:pPr algn="l" rtl="0" eaLnBrk="0">
                <a:lnSpc>
                  <a:spcPct val="166000"/>
                </a:lnSpc>
              </a:pPr>
              <a:endParaRPr lang="en-US" altLang="en-US" sz="1000" dirty="0"/>
            </a:p>
            <a:p>
              <a:pPr marL="716915" algn="l" rtl="0" eaLnBrk="0">
                <a:lnSpc>
                  <a:spcPct val="94000"/>
                </a:lnSpc>
                <a:spcBef>
                  <a:spcPts val="5"/>
                </a:spcBef>
              </a:pPr>
              <a:r>
                <a:rPr sz="2400" kern="0" spc="-5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中国古代军事密码</a:t>
              </a:r>
              <a:endParaRPr lang="en-US" altLang="en-US" sz="2400" dirty="0"/>
            </a:p>
          </p:txBody>
        </p:sp>
      </p:grpSp>
      <p:grpSp>
        <p:nvGrpSpPr>
          <p:cNvPr id="177" name="group 14"/>
          <p:cNvGrpSpPr/>
          <p:nvPr/>
        </p:nvGrpSpPr>
        <p:grpSpPr>
          <a:xfrm rot="21600000">
            <a:off x="3555491" y="4387596"/>
            <a:ext cx="5708903" cy="813816"/>
            <a:chOff x="0" y="0"/>
            <a:chExt cx="5708903" cy="813816"/>
          </a:xfrm>
        </p:grpSpPr>
        <p:pic>
          <p:nvPicPr>
            <p:cNvPr id="2097227" name="picture 162"/>
            <p:cNvPicPr>
              <a:picLocks noChangeAspect="1"/>
            </p:cNvPicPr>
            <p:nvPr/>
          </p:nvPicPr>
          <p:blipFill>
            <a:blip r:embed="rId3"/>
            <a:stretch>
              <a:fillRect/>
            </a:stretch>
          </p:blipFill>
          <p:spPr>
            <a:xfrm rot="21600000">
              <a:off x="0" y="0"/>
              <a:ext cx="5708903" cy="813816"/>
            </a:xfrm>
            <a:prstGeom prst="rect">
              <a:avLst/>
            </a:prstGeom>
          </p:spPr>
        </p:pic>
        <p:sp>
          <p:nvSpPr>
            <p:cNvPr id="1049084" name="textbox 164"/>
            <p:cNvSpPr/>
            <p:nvPr/>
          </p:nvSpPr>
          <p:spPr>
            <a:xfrm>
              <a:off x="-12700" y="-12700"/>
              <a:ext cx="5734684" cy="879475"/>
            </a:xfrm>
            <a:prstGeom prst="rect">
              <a:avLst/>
            </a:prstGeom>
          </p:spPr>
          <p:txBody>
            <a:bodyPr vert="horz" wrap="square" lIns="0" tIns="0" rIns="0" bIns="0"/>
            <a:p>
              <a:pPr algn="l" rtl="0" eaLnBrk="0">
                <a:lnSpc>
                  <a:spcPct val="168000"/>
                </a:lnSpc>
              </a:pPr>
              <a:endParaRPr lang="en-US" altLang="en-US" sz="1000" dirty="0"/>
            </a:p>
            <a:p>
              <a:pPr algn="l" rtl="0" eaLnBrk="0">
                <a:lnSpc>
                  <a:spcPct val="7000"/>
                </a:lnSpc>
              </a:pPr>
              <a:endParaRPr lang="en-US" altLang="en-US" sz="100" dirty="0"/>
            </a:p>
            <a:p>
              <a:pPr marL="718185" algn="l" rtl="0" eaLnBrk="0">
                <a:lnSpc>
                  <a:spcPct val="94000"/>
                </a:lnSpc>
              </a:pPr>
              <a:r>
                <a:rPr sz="2400" kern="0" spc="-6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中国近代密码</a:t>
              </a:r>
              <a:endParaRPr lang="en-US" altLang="en-US" sz="2400" dirty="0"/>
            </a:p>
          </p:txBody>
        </p:sp>
      </p:grpSp>
      <p:grpSp>
        <p:nvGrpSpPr>
          <p:cNvPr id="178" name="group 16"/>
          <p:cNvGrpSpPr/>
          <p:nvPr/>
        </p:nvGrpSpPr>
        <p:grpSpPr>
          <a:xfrm rot="21600000">
            <a:off x="2564257" y="1351661"/>
            <a:ext cx="1702942" cy="4498352"/>
            <a:chOff x="0" y="0"/>
            <a:chExt cx="1702942" cy="4498352"/>
          </a:xfrm>
        </p:grpSpPr>
        <p:sp>
          <p:nvSpPr>
            <p:cNvPr id="1049085" name="path"/>
            <p:cNvSpPr/>
            <p:nvPr/>
          </p:nvSpPr>
          <p:spPr>
            <a:xfrm>
              <a:off x="0" y="0"/>
              <a:ext cx="1283479" cy="4498352"/>
            </a:xfrm>
            <a:custGeom>
              <a:avLst/>
              <a:gdLst/>
              <a:ahLst/>
              <a:cxnLst/>
              <a:rect l="0" t="0" r="0" b="0"/>
              <a:pathLst>
                <a:path w="2021" h="7084">
                  <a:moveTo>
                    <a:pt x="320" y="4"/>
                  </a:moveTo>
                  <a:cubicBezTo>
                    <a:pt x="2213" y="1448"/>
                    <a:pt x="2577" y="4153"/>
                    <a:pt x="1134" y="6046"/>
                  </a:cubicBezTo>
                  <a:cubicBezTo>
                    <a:pt x="822" y="6455"/>
                    <a:pt x="439" y="6805"/>
                    <a:pt x="4" y="7079"/>
                  </a:cubicBezTo>
                  <a:lnTo>
                    <a:pt x="4" y="7079"/>
                  </a:lnTo>
                  <a:cubicBezTo>
                    <a:pt x="2018" y="5810"/>
                    <a:pt x="2622" y="3148"/>
                    <a:pt x="1353" y="1134"/>
                  </a:cubicBezTo>
                  <a:cubicBezTo>
                    <a:pt x="1079" y="699"/>
                    <a:pt x="729" y="316"/>
                    <a:pt x="320" y="4"/>
                  </a:cubicBezTo>
                </a:path>
              </a:pathLst>
            </a:custGeom>
            <a:noFill/>
            <a:ln w="6096" cap="flat">
              <a:solidFill>
                <a:srgbClr val="477BA9">
                  <a:alpha val="100000"/>
                </a:srgbClr>
              </a:solidFill>
              <a:prstDash val="solid"/>
              <a:miter lim="1000000"/>
            </a:ln>
          </p:spPr>
          <p:txBody>
            <a:bodyPr rtlCol="0"/>
            <a:p>
              <a:pPr algn="ctr"/>
              <a:endParaRPr lang="zh-CN" altLang="en-US"/>
            </a:p>
          </p:txBody>
        </p:sp>
        <p:sp>
          <p:nvSpPr>
            <p:cNvPr id="1049086" name="path"/>
            <p:cNvSpPr/>
            <p:nvPr/>
          </p:nvSpPr>
          <p:spPr>
            <a:xfrm>
              <a:off x="483742" y="603630"/>
              <a:ext cx="1016508" cy="1016508"/>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087" name="path"/>
            <p:cNvSpPr/>
            <p:nvPr/>
          </p:nvSpPr>
          <p:spPr>
            <a:xfrm>
              <a:off x="480694" y="600582"/>
              <a:ext cx="1022604"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9088" name="path"/>
            <p:cNvSpPr/>
            <p:nvPr/>
          </p:nvSpPr>
          <p:spPr>
            <a:xfrm>
              <a:off x="483742" y="2965830"/>
              <a:ext cx="1045463" cy="1016507"/>
            </a:xfrm>
            <a:custGeom>
              <a:avLst/>
              <a:gdLst/>
              <a:ahLst/>
              <a:cxnLst/>
              <a:rect l="0" t="0" r="0" b="0"/>
              <a:pathLst>
                <a:path w="1646" h="1600">
                  <a:moveTo>
                    <a:pt x="0" y="800"/>
                  </a:moveTo>
                  <a:cubicBezTo>
                    <a:pt x="0" y="358"/>
                    <a:pt x="368" y="0"/>
                    <a:pt x="823" y="0"/>
                  </a:cubicBezTo>
                  <a:cubicBezTo>
                    <a:pt x="1277" y="0"/>
                    <a:pt x="1646" y="358"/>
                    <a:pt x="1646" y="800"/>
                  </a:cubicBezTo>
                  <a:cubicBezTo>
                    <a:pt x="1646" y="1242"/>
                    <a:pt x="1277" y="1600"/>
                    <a:pt x="823" y="1600"/>
                  </a:cubicBezTo>
                  <a:cubicBezTo>
                    <a:pt x="36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089" name="path"/>
            <p:cNvSpPr/>
            <p:nvPr/>
          </p:nvSpPr>
          <p:spPr>
            <a:xfrm>
              <a:off x="480694" y="2962782"/>
              <a:ext cx="1051559" cy="1022603"/>
            </a:xfrm>
            <a:custGeom>
              <a:avLst/>
              <a:gdLst/>
              <a:ahLst/>
              <a:cxnLst/>
              <a:rect l="0" t="0" r="0" b="0"/>
              <a:pathLst>
                <a:path w="1655" h="1610">
                  <a:moveTo>
                    <a:pt x="4" y="805"/>
                  </a:moveTo>
                  <a:cubicBezTo>
                    <a:pt x="4" y="363"/>
                    <a:pt x="373" y="4"/>
                    <a:pt x="828" y="4"/>
                  </a:cubicBezTo>
                  <a:cubicBezTo>
                    <a:pt x="1282" y="4"/>
                    <a:pt x="1651" y="363"/>
                    <a:pt x="1651" y="805"/>
                  </a:cubicBezTo>
                  <a:cubicBezTo>
                    <a:pt x="1651" y="1247"/>
                    <a:pt x="1282" y="1605"/>
                    <a:pt x="828" y="1605"/>
                  </a:cubicBezTo>
                  <a:cubicBezTo>
                    <a:pt x="37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9090" name="path"/>
            <p:cNvSpPr/>
            <p:nvPr/>
          </p:nvSpPr>
          <p:spPr>
            <a:xfrm>
              <a:off x="683386" y="1767966"/>
              <a:ext cx="1016508"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091" name="path"/>
            <p:cNvSpPr/>
            <p:nvPr/>
          </p:nvSpPr>
          <p:spPr>
            <a:xfrm>
              <a:off x="680338" y="1764919"/>
              <a:ext cx="1022604"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9092" name="textbox 180"/>
          <p:cNvSpPr/>
          <p:nvPr/>
        </p:nvSpPr>
        <p:spPr>
          <a:xfrm>
            <a:off x="2745896" y="488157"/>
            <a:ext cx="4671059"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sz="3200" kern="0" spc="-8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第二讲</a:t>
            </a:r>
            <a:r>
              <a:rPr sz="3200" kern="0" spc="64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8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中国古代密码艺术</a:t>
            </a:r>
            <a:endParaRPr lang="en-US" altLang="en-US" sz="3200" dirty="0"/>
          </a:p>
        </p:txBody>
      </p:sp>
      <p:pic>
        <p:nvPicPr>
          <p:cNvPr id="2097228" name="picture 184"/>
          <p:cNvPicPr>
            <a:picLocks noChangeAspect="1"/>
          </p:cNvPicPr>
          <p:nvPr/>
        </p:nvPicPr>
        <p:blipFill>
          <a:blip r:embed="rId4"/>
          <a:stretch>
            <a:fillRect/>
          </a:stretch>
        </p:blipFill>
        <p:spPr>
          <a:xfrm rot="21600000">
            <a:off x="824483" y="408431"/>
            <a:ext cx="419100" cy="655320"/>
          </a:xfrm>
          <a:prstGeom prst="rect">
            <a:avLst/>
          </a:prstGeom>
        </p:spPr>
      </p:pic>
      <p:sp>
        <p:nvSpPr>
          <p:cNvPr id="1049093"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81" name=""/>
        <p:cNvGrpSpPr/>
        <p:nvPr/>
      </p:nvGrpSpPr>
      <p:grpSpPr>
        <a:xfrm>
          <a:off x="0" y="0"/>
          <a:ext cx="0" cy="0"/>
          <a:chOff x="0" y="0"/>
          <a:chExt cx="0" cy="0"/>
        </a:xfrm>
      </p:grpSpPr>
      <p:sp>
        <p:nvSpPr>
          <p:cNvPr id="1049096" name="textbox 188"/>
          <p:cNvSpPr/>
          <p:nvPr/>
        </p:nvSpPr>
        <p:spPr>
          <a:xfrm>
            <a:off x="921738" y="1577877"/>
            <a:ext cx="10531475" cy="4424679"/>
          </a:xfrm>
          <a:prstGeom prst="rect">
            <a:avLst/>
          </a:prstGeom>
        </p:spPr>
        <p:txBody>
          <a:bodyPr vert="horz" wrap="square" lIns="0" tIns="0" rIns="0" bIns="0"/>
          <a:p>
            <a:pPr algn="l" rtl="0" eaLnBrk="0">
              <a:lnSpc>
                <a:spcPct val="83000"/>
              </a:lnSpc>
            </a:pPr>
            <a:endParaRPr lang="en-US" altLang="en-US" sz="100" dirty="0"/>
          </a:p>
          <a:p>
            <a:pPr algn="r" rtl="0" eaLnBrk="0">
              <a:lnSpc>
                <a:spcPts val="3340"/>
              </a:lnSpc>
            </a:pPr>
            <a:r>
              <a:rPr sz="2700" kern="0" spc="30" dirty="0">
                <a:solidFill>
                  <a:srgbClr val="000000">
                    <a:alpha val="100000"/>
                  </a:srgbClr>
                </a:solidFill>
                <a:latin typeface="Arial" panose="020B0604020202020204"/>
                <a:ea typeface="Arial" panose="020B0604020202020204"/>
                <a:cs typeface="Arial" panose="020B0604020202020204"/>
              </a:rPr>
              <a:t>•</a:t>
            </a:r>
            <a:r>
              <a:rPr sz="2700" kern="0" spc="330" dirty="0">
                <a:solidFill>
                  <a:srgbClr val="000000">
                    <a:alpha val="100000"/>
                  </a:srgbClr>
                </a:solidFill>
                <a:latin typeface="Arial" panose="020B0604020202020204"/>
                <a:ea typeface="Arial" panose="020B0604020202020204"/>
                <a:cs typeface="Arial" panose="020B0604020202020204"/>
              </a:rPr>
              <a:t> </a:t>
            </a:r>
            <a:r>
              <a:rPr sz="2700" kern="0" spc="3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武王问太公曰：</a:t>
            </a:r>
            <a:r>
              <a:rPr sz="2700" kern="0" spc="-114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3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‘引兵深入诸</a:t>
            </a:r>
            <a:r>
              <a:rPr sz="2700" kern="0" spc="2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侯之地，三军猝有缓急，或利或害。</a:t>
            </a:r>
            <a:endParaRPr lang="en-US" altLang="en-US" sz="2700" dirty="0"/>
          </a:p>
          <a:p>
            <a:pPr marL="248285" algn="l" rtl="0" eaLnBrk="0">
              <a:lnSpc>
                <a:spcPct val="86000"/>
              </a:lnSpc>
              <a:spcBef>
                <a:spcPts val="700"/>
              </a:spcBef>
            </a:pPr>
            <a:r>
              <a:rPr sz="2700" kern="0" spc="7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吾将以近通远，从中应外，</a:t>
            </a:r>
            <a:r>
              <a:rPr sz="2700" kern="0" spc="-78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7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以给三军之</a:t>
            </a:r>
            <a:r>
              <a:rPr sz="2700" kern="0" spc="6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用。为之奈何？</a:t>
            </a:r>
            <a:r>
              <a:rPr sz="2700" kern="0" spc="-85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6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700" dirty="0"/>
          </a:p>
          <a:p>
            <a:pPr marL="248285" algn="l" rtl="0" eaLnBrk="0">
              <a:lnSpc>
                <a:spcPts val="4035"/>
              </a:lnSpc>
            </a:pPr>
            <a:r>
              <a:rPr sz="2700" kern="0" spc="8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太公曰：</a:t>
            </a:r>
            <a:r>
              <a:rPr sz="2700" kern="0" spc="-115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8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‘主与将，有</a:t>
            </a:r>
            <a:r>
              <a:rPr sz="2700" kern="0" spc="7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阴符。凡八等：</a:t>
            </a:r>
            <a:endParaRPr lang="en-US" altLang="en-US" sz="2700" dirty="0"/>
          </a:p>
          <a:p>
            <a:pPr marL="697865" indent="-231140" algn="l" rtl="0" eaLnBrk="0">
              <a:lnSpc>
                <a:spcPct val="113000"/>
              </a:lnSpc>
              <a:spcBef>
                <a:spcPts val="1695"/>
              </a:spcBef>
            </a:pPr>
            <a:r>
              <a:rPr sz="2400" kern="0" spc="-70" dirty="0">
                <a:solidFill>
                  <a:srgbClr val="000000">
                    <a:alpha val="100000"/>
                  </a:srgbClr>
                </a:solidFill>
                <a:latin typeface="Arial" panose="020B0604020202020204"/>
                <a:ea typeface="Arial" panose="020B0604020202020204"/>
                <a:cs typeface="Arial" panose="020B0604020202020204"/>
              </a:rPr>
              <a:t>•</a:t>
            </a:r>
            <a:r>
              <a:rPr sz="2400" kern="0" spc="490" dirty="0">
                <a:solidFill>
                  <a:srgbClr val="000000">
                    <a:alpha val="100000"/>
                  </a:srgbClr>
                </a:solidFill>
                <a:latin typeface="Arial" panose="020B0604020202020204"/>
                <a:ea typeface="Arial" panose="020B0604020202020204"/>
                <a:cs typeface="Arial" panose="020B0604020202020204"/>
              </a:rPr>
              <a:t> </a:t>
            </a:r>
            <a:r>
              <a:rPr sz="24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大胜克敌之符，长一尺；破军擒将之符，长九寸；</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6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降城得邑之符，长八寸；</a:t>
            </a:r>
            <a:r>
              <a:rPr sz="2400" kern="0" spc="-7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却敌报远之符，长七寸；</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6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警众坚守之符，长六寸；</a:t>
            </a:r>
            <a:r>
              <a:rPr sz="24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请粮益兵之符，长五寸；</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6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败军亡将之符，长四寸；</a:t>
            </a:r>
            <a:r>
              <a:rPr sz="24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失利亡士之符，长三寸。</a:t>
            </a:r>
            <a:endParaRPr lang="en-US" altLang="en-US" sz="2400" dirty="0"/>
          </a:p>
          <a:p>
            <a:pPr algn="l" rtl="0" eaLnBrk="0">
              <a:lnSpc>
                <a:spcPct val="104000"/>
              </a:lnSpc>
            </a:pPr>
            <a:endParaRPr lang="en-US" altLang="en-US" sz="1500" dirty="0"/>
          </a:p>
          <a:p>
            <a:pPr marL="269875" indent="-257810" algn="l" rtl="0" eaLnBrk="0">
              <a:lnSpc>
                <a:spcPct val="111000"/>
              </a:lnSpc>
            </a:pPr>
            <a:r>
              <a:rPr sz="2700" kern="0" spc="80" dirty="0">
                <a:solidFill>
                  <a:srgbClr val="000000">
                    <a:alpha val="100000"/>
                  </a:srgbClr>
                </a:solidFill>
                <a:latin typeface="Arial" panose="020B0604020202020204"/>
                <a:ea typeface="Arial" panose="020B0604020202020204"/>
                <a:cs typeface="Arial" panose="020B0604020202020204"/>
              </a:rPr>
              <a:t>•</a:t>
            </a:r>
            <a:r>
              <a:rPr sz="2700" kern="0" spc="300" dirty="0">
                <a:solidFill>
                  <a:srgbClr val="000000">
                    <a:alpha val="100000"/>
                  </a:srgbClr>
                </a:solidFill>
                <a:latin typeface="Arial" panose="020B0604020202020204"/>
                <a:ea typeface="Arial" panose="020B0604020202020204"/>
                <a:cs typeface="Arial" panose="020B0604020202020204"/>
              </a:rPr>
              <a:t> </a:t>
            </a:r>
            <a:r>
              <a:rPr sz="2700" kern="0" spc="8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八符者，主将</a:t>
            </a:r>
            <a:r>
              <a:rPr sz="2700" kern="0" spc="80" dirty="0">
                <a:ln w="10145"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秘闻</a:t>
            </a:r>
            <a:r>
              <a:rPr sz="2700" kern="0" spc="8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，所以阴通言语，不泄中外相知之术。敌虽圣智</a:t>
            </a:r>
            <a:r>
              <a:rPr sz="27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24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，莫之通识。’</a:t>
            </a:r>
            <a:endParaRPr lang="en-US" altLang="en-US" sz="2700" dirty="0"/>
          </a:p>
        </p:txBody>
      </p:sp>
      <p:sp>
        <p:nvSpPr>
          <p:cNvPr id="1049097" name="textbox 190"/>
          <p:cNvSpPr/>
          <p:nvPr/>
        </p:nvSpPr>
        <p:spPr>
          <a:xfrm>
            <a:off x="1598311" y="488157"/>
            <a:ext cx="5655309" cy="482600"/>
          </a:xfrm>
          <a:prstGeom prst="rect">
            <a:avLst/>
          </a:prstGeom>
        </p:spPr>
        <p:txBody>
          <a:bodyPr vert="horz" wrap="square" lIns="0" tIns="0" rIns="0" bIns="0"/>
          <a:p>
            <a:pPr algn="l" rtl="0" eaLnBrk="0">
              <a:lnSpc>
                <a:spcPct val="73000"/>
              </a:lnSpc>
            </a:pPr>
            <a:endParaRPr lang="en-US" altLang="en-US" sz="100" dirty="0"/>
          </a:p>
          <a:p>
            <a:pPr algn="r" rtl="0" eaLnBrk="0">
              <a:lnSpc>
                <a:spcPct val="94000"/>
              </a:lnSpc>
            </a:pPr>
            <a:r>
              <a:rPr sz="3200" kern="0" spc="-15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阴符（〈六韬．龙韬．阴符〉）</a:t>
            </a:r>
            <a:endParaRPr lang="en-US" altLang="en-US" sz="3200" dirty="0"/>
          </a:p>
        </p:txBody>
      </p:sp>
      <p:sp>
        <p:nvSpPr>
          <p:cNvPr id="1049098"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29" name="picture 196"/>
          <p:cNvPicPr>
            <a:picLocks noChangeAspect="1"/>
          </p:cNvPicPr>
          <p:nvPr/>
        </p:nvPicPr>
        <p:blipFill>
          <a:blip r:embed="rId1"/>
          <a:stretch>
            <a:fillRect/>
          </a:stretch>
        </p:blipFill>
        <p:spPr>
          <a:xfrm rot="21600000">
            <a:off x="824483" y="408431"/>
            <a:ext cx="419100" cy="655320"/>
          </a:xfrm>
          <a:prstGeom prst="rect">
            <a:avLst/>
          </a:prstGeom>
        </p:spPr>
      </p:pic>
      <p:sp>
        <p:nvSpPr>
          <p:cNvPr id="1049099"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84" name=""/>
        <p:cNvGrpSpPr/>
        <p:nvPr/>
      </p:nvGrpSpPr>
      <p:grpSpPr>
        <a:xfrm>
          <a:off x="0" y="0"/>
          <a:ext cx="0" cy="0"/>
          <a:chOff x="0" y="0"/>
          <a:chExt cx="0" cy="0"/>
        </a:xfrm>
      </p:grpSpPr>
      <p:sp>
        <p:nvSpPr>
          <p:cNvPr id="1049102" name="textbox 200"/>
          <p:cNvSpPr/>
          <p:nvPr/>
        </p:nvSpPr>
        <p:spPr>
          <a:xfrm>
            <a:off x="811783" y="-12700"/>
            <a:ext cx="11393169" cy="2951479"/>
          </a:xfrm>
          <a:prstGeom prst="rect">
            <a:avLst/>
          </a:prstGeom>
        </p:spPr>
        <p:txBody>
          <a:bodyPr vert="horz" wrap="square" lIns="0" tIns="0" rIns="0" bIns="0"/>
          <a:p>
            <a:pPr algn="l" rtl="0" eaLnBrk="0">
              <a:lnSpc>
                <a:spcPct val="112000"/>
              </a:lnSpc>
            </a:pPr>
            <a:endParaRPr lang="en-US" altLang="en-US" sz="1000" dirty="0"/>
          </a:p>
          <a:p>
            <a:pPr algn="l" rtl="0" eaLnBrk="0">
              <a:lnSpc>
                <a:spcPct val="112000"/>
              </a:lnSpc>
            </a:pPr>
            <a:endParaRPr lang="en-US" altLang="en-US" sz="1000" dirty="0"/>
          </a:p>
          <a:p>
            <a:pPr algn="l" rtl="0" eaLnBrk="0">
              <a:lnSpc>
                <a:spcPct val="113000"/>
              </a:lnSpc>
            </a:pPr>
            <a:endParaRPr lang="en-US" altLang="en-US" sz="1000" dirty="0"/>
          </a:p>
          <a:p>
            <a:pPr algn="l" rtl="0" eaLnBrk="0">
              <a:lnSpc>
                <a:spcPct val="9000"/>
              </a:lnSpc>
            </a:pPr>
            <a:endParaRPr lang="en-US" altLang="en-US" sz="100" dirty="0"/>
          </a:p>
          <a:p>
            <a:pPr marL="431800" algn="l" rtl="0" eaLnBrk="0">
              <a:lnSpc>
                <a:spcPct val="94000"/>
              </a:lnSpc>
              <a:tabLst>
                <a:tab pos="653415" algn="l"/>
                <a:tab pos="9690100" algn="l"/>
              </a:tabLst>
            </a:pPr>
            <a:r>
              <a:rPr sz="32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200" u="sng" kern="0" spc="-44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3200" u="sng" kern="0" spc="-150" dirty="0">
                <a:ln w="11625" cap="flat" cmpd="sng">
                  <a:solidFill>
                    <a:srgbClr val="1F4E79">
                      <a:alpha val="100000"/>
                    </a:srgbClr>
                  </a:solidFill>
                  <a:prstDash val="solid"/>
                  <a:miter lim="10"/>
                </a:ln>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阴书（〈六韬．龙韬．阴书〉）</a:t>
            </a:r>
            <a:r>
              <a:rPr sz="32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3200" kern="0" spc="-10" dirty="0">
                <a:solidFill>
                  <a:srgbClr val="1F4E79">
                    <a:alpha val="100000"/>
                  </a:srgbClr>
                </a:solidFill>
                <a:latin typeface="仿宋" panose="02010609060101010101" charset="-122"/>
                <a:ea typeface="仿宋" panose="02010609060101010101" charset="-122"/>
                <a:cs typeface="仿宋" panose="02010609060101010101" charset="-122"/>
              </a:rPr>
              <a:t>    </a:t>
            </a:r>
            <a:endParaRPr lang="en-US" altLang="en-US" sz="3200" dirty="0"/>
          </a:p>
          <a:p>
            <a:pPr marL="756920" algn="l" rtl="0" eaLnBrk="0">
              <a:lnSpc>
                <a:spcPct val="95000"/>
              </a:lnSpc>
              <a:spcBef>
                <a:spcPts val="1215"/>
              </a:spcBef>
            </a:pPr>
            <a:r>
              <a:rPr sz="2400" kern="0" spc="0" dirty="0">
                <a:ln w="8708" cap="flat" cmpd="sng">
                  <a:solidFill>
                    <a:srgbClr val="333333">
                      <a:alpha val="100000"/>
                    </a:srgbClr>
                  </a:solidFill>
                  <a:prstDash val="solid"/>
                  <a:miter lim="10"/>
                </a:ln>
                <a:solidFill>
                  <a:srgbClr val="333333">
                    <a:alpha val="100000"/>
                  </a:srgbClr>
                </a:solidFill>
                <a:latin typeface="宋体" panose="02010600030101010101" pitchFamily="2" charset="-122"/>
                <a:ea typeface="宋体" panose="02010600030101010101" pitchFamily="2" charset="-122"/>
                <a:cs typeface="宋体" panose="02010600030101010101" pitchFamily="2" charset="-122"/>
              </a:rPr>
              <a:t>创造者：相传也是由姜子牙发明</a:t>
            </a:r>
            <a:endParaRPr lang="en-US" altLang="en-US" sz="2400" dirty="0"/>
          </a:p>
          <a:p>
            <a:pPr marL="755650" indent="3175" algn="l" rtl="0" eaLnBrk="0">
              <a:lnSpc>
                <a:spcPct val="99000"/>
              </a:lnSpc>
              <a:spcBef>
                <a:spcPts val="120"/>
              </a:spcBef>
            </a:pPr>
            <a:r>
              <a:rPr sz="2400" kern="0" spc="20" dirty="0">
                <a:ln w="8708" cap="flat" cmpd="sng">
                  <a:solidFill>
                    <a:srgbClr val="333333">
                      <a:alpha val="100000"/>
                    </a:srgbClr>
                  </a:solidFill>
                  <a:prstDash val="solid"/>
                  <a:miter lim="10"/>
                </a:ln>
                <a:solidFill>
                  <a:srgbClr val="333333">
                    <a:alpha val="100000"/>
                  </a:srgbClr>
                </a:solidFill>
                <a:latin typeface="宋体" panose="02010600030101010101" pitchFamily="2" charset="-122"/>
                <a:ea typeface="宋体" panose="02010600030101010101" pitchFamily="2" charset="-122"/>
                <a:cs typeface="宋体" panose="02010600030101010101" pitchFamily="2" charset="-122"/>
              </a:rPr>
              <a:t>用法：把一封竖写的秘密文书横截成</a:t>
            </a:r>
            <a:r>
              <a:rPr sz="2400" b="1" kern="0" spc="20" dirty="0">
                <a:solidFill>
                  <a:srgbClr val="333333">
                    <a:alpha val="100000"/>
                  </a:srgbClr>
                </a:solidFill>
                <a:latin typeface="Arial" panose="020B0604020202020204"/>
                <a:ea typeface="Arial" panose="020B0604020202020204"/>
                <a:cs typeface="Arial" panose="020B0604020202020204"/>
              </a:rPr>
              <a:t>3</a:t>
            </a:r>
            <a:r>
              <a:rPr sz="2400" kern="0" spc="20" dirty="0">
                <a:ln w="8708" cap="flat" cmpd="sng">
                  <a:solidFill>
                    <a:srgbClr val="333333">
                      <a:alpha val="100000"/>
                    </a:srgbClr>
                  </a:solidFill>
                  <a:prstDash val="solid"/>
                  <a:miter lim="10"/>
                </a:ln>
                <a:solidFill>
                  <a:srgbClr val="333333">
                    <a:alpha val="100000"/>
                  </a:srgbClr>
                </a:solidFill>
                <a:latin typeface="宋体" panose="02010600030101010101" pitchFamily="2" charset="-122"/>
                <a:ea typeface="宋体" panose="02010600030101010101" pitchFamily="2" charset="-122"/>
                <a:cs typeface="宋体" panose="02010600030101010101" pitchFamily="2" charset="-122"/>
              </a:rPr>
              <a:t>段，派出</a:t>
            </a:r>
            <a:r>
              <a:rPr sz="2400" b="1" kern="0" spc="20" dirty="0">
                <a:solidFill>
                  <a:srgbClr val="333333">
                    <a:alpha val="100000"/>
                  </a:srgbClr>
                </a:solidFill>
                <a:latin typeface="Arial" panose="020B0604020202020204"/>
                <a:ea typeface="Arial" panose="020B0604020202020204"/>
                <a:cs typeface="Arial" panose="020B0604020202020204"/>
              </a:rPr>
              <a:t>3</a:t>
            </a:r>
            <a:r>
              <a:rPr sz="2400" kern="0" spc="20" dirty="0">
                <a:ln w="8708" cap="flat" cmpd="sng">
                  <a:solidFill>
                    <a:srgbClr val="333333">
                      <a:alpha val="100000"/>
                    </a:srgbClr>
                  </a:solidFill>
                  <a:prstDash val="solid"/>
                  <a:miter lim="10"/>
                </a:ln>
                <a:solidFill>
                  <a:srgbClr val="333333">
                    <a:alpha val="100000"/>
                  </a:srgbClr>
                </a:solidFill>
                <a:latin typeface="宋体" panose="02010600030101010101" pitchFamily="2" charset="-122"/>
                <a:ea typeface="宋体" panose="02010600030101010101" pitchFamily="2" charset="-122"/>
                <a:cs typeface="宋体" panose="02010600030101010101" pitchFamily="2" charset="-122"/>
              </a:rPr>
              <a:t>个人各执一段，于不</a:t>
            </a:r>
            <a:r>
              <a:rPr sz="2400" kern="0" spc="20" dirty="0">
                <a:solidFill>
                  <a:srgbClr val="333333">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10" dirty="0">
                <a:solidFill>
                  <a:srgbClr val="333333">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60" dirty="0">
                <a:ln w="8708" cap="flat" cmpd="sng">
                  <a:solidFill>
                    <a:srgbClr val="333333">
                      <a:alpha val="100000"/>
                    </a:srgbClr>
                  </a:solidFill>
                  <a:prstDash val="solid"/>
                  <a:miter lim="10"/>
                </a:ln>
                <a:solidFill>
                  <a:srgbClr val="333333">
                    <a:alpha val="100000"/>
                  </a:srgbClr>
                </a:solidFill>
                <a:latin typeface="宋体" panose="02010600030101010101" pitchFamily="2" charset="-122"/>
                <a:ea typeface="宋体" panose="02010600030101010101" pitchFamily="2" charset="-122"/>
                <a:cs typeface="宋体" panose="02010600030101010101" pitchFamily="2" charset="-122"/>
              </a:rPr>
              <a:t>同时间、不同路线分别出发，先后送</a:t>
            </a:r>
            <a:r>
              <a:rPr sz="2400" kern="0" spc="50" dirty="0">
                <a:ln w="8708" cap="flat" cmpd="sng">
                  <a:solidFill>
                    <a:srgbClr val="333333">
                      <a:alpha val="100000"/>
                    </a:srgbClr>
                  </a:solidFill>
                  <a:prstDash val="solid"/>
                  <a:miter lim="10"/>
                </a:ln>
                <a:solidFill>
                  <a:srgbClr val="333333">
                    <a:alpha val="100000"/>
                  </a:srgbClr>
                </a:solidFill>
                <a:latin typeface="宋体" panose="02010600030101010101" pitchFamily="2" charset="-122"/>
                <a:ea typeface="宋体" panose="02010600030101010101" pitchFamily="2" charset="-122"/>
                <a:cs typeface="宋体" panose="02010600030101010101" pitchFamily="2" charset="-122"/>
              </a:rPr>
              <a:t>给收件者。收件者收齐了</a:t>
            </a:r>
            <a:r>
              <a:rPr sz="2400" b="1" kern="0" spc="50" dirty="0">
                <a:solidFill>
                  <a:srgbClr val="333333">
                    <a:alpha val="100000"/>
                  </a:srgbClr>
                </a:solidFill>
                <a:latin typeface="Arial" panose="020B0604020202020204"/>
                <a:ea typeface="Arial" panose="020B0604020202020204"/>
                <a:cs typeface="Arial" panose="020B0604020202020204"/>
              </a:rPr>
              <a:t>3</a:t>
            </a:r>
            <a:r>
              <a:rPr sz="2400" kern="0" spc="50" dirty="0">
                <a:ln w="8708" cap="flat" cmpd="sng">
                  <a:solidFill>
                    <a:srgbClr val="333333">
                      <a:alpha val="100000"/>
                    </a:srgbClr>
                  </a:solidFill>
                  <a:prstDash val="solid"/>
                  <a:miter lim="10"/>
                </a:ln>
                <a:solidFill>
                  <a:srgbClr val="333333">
                    <a:alpha val="100000"/>
                  </a:srgbClr>
                </a:solidFill>
                <a:latin typeface="宋体" panose="02010600030101010101" pitchFamily="2" charset="-122"/>
                <a:ea typeface="宋体" panose="02010600030101010101" pitchFamily="2" charset="-122"/>
                <a:cs typeface="宋体" panose="02010600030101010101" pitchFamily="2" charset="-122"/>
              </a:rPr>
              <a:t>段文</a:t>
            </a:r>
            <a:r>
              <a:rPr sz="2400" kern="0" spc="50" dirty="0">
                <a:solidFill>
                  <a:srgbClr val="333333">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30" dirty="0">
                <a:ln w="8717" cap="flat" cmpd="sng">
                  <a:solidFill>
                    <a:srgbClr val="333333">
                      <a:alpha val="100000"/>
                    </a:srgbClr>
                  </a:solidFill>
                  <a:prstDash val="solid"/>
                  <a:miter lim="10"/>
                </a:ln>
                <a:solidFill>
                  <a:srgbClr val="333333">
                    <a:alpha val="100000"/>
                  </a:srgbClr>
                </a:solidFill>
                <a:latin typeface="宋体" panose="02010600030101010101" pitchFamily="2" charset="-122"/>
                <a:ea typeface="宋体" panose="02010600030101010101" pitchFamily="2" charset="-122"/>
                <a:cs typeface="宋体" panose="02010600030101010101" pitchFamily="2" charset="-122"/>
              </a:rPr>
              <a:t>件才能悉知秘密文书的全部内容。万一送件途中某一发送者</a:t>
            </a:r>
            <a:r>
              <a:rPr sz="2400" kern="0" spc="20" dirty="0">
                <a:ln w="8717" cap="flat" cmpd="sng">
                  <a:solidFill>
                    <a:srgbClr val="333333">
                      <a:alpha val="100000"/>
                    </a:srgbClr>
                  </a:solidFill>
                  <a:prstDash val="solid"/>
                  <a:miter lim="10"/>
                </a:ln>
                <a:solidFill>
                  <a:srgbClr val="333333">
                    <a:alpha val="100000"/>
                  </a:srgbClr>
                </a:solidFill>
                <a:latin typeface="宋体" panose="02010600030101010101" pitchFamily="2" charset="-122"/>
                <a:ea typeface="宋体" panose="02010600030101010101" pitchFamily="2" charset="-122"/>
                <a:cs typeface="宋体" panose="02010600030101010101" pitchFamily="2" charset="-122"/>
              </a:rPr>
              <a:t>被敌方截</a:t>
            </a:r>
            <a:r>
              <a:rPr sz="2400" kern="0" spc="20" dirty="0">
                <a:solidFill>
                  <a:srgbClr val="333333">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0" dirty="0">
                <a:ln w="8708" cap="flat" cmpd="sng">
                  <a:solidFill>
                    <a:srgbClr val="333333">
                      <a:alpha val="100000"/>
                    </a:srgbClr>
                  </a:solidFill>
                  <a:prstDash val="solid"/>
                  <a:miter lim="10"/>
                </a:ln>
                <a:solidFill>
                  <a:srgbClr val="333333">
                    <a:alpha val="100000"/>
                  </a:srgbClr>
                </a:solidFill>
                <a:latin typeface="宋体" panose="02010600030101010101" pitchFamily="2" charset="-122"/>
                <a:ea typeface="宋体" panose="02010600030101010101" pitchFamily="2" charset="-122"/>
                <a:cs typeface="宋体" panose="02010600030101010101" pitchFamily="2" charset="-122"/>
              </a:rPr>
              <a:t>获，敌方也难以解读文书的全部内容。</a:t>
            </a:r>
            <a:endParaRPr lang="en-US" altLang="en-US" sz="2400" dirty="0"/>
          </a:p>
        </p:txBody>
      </p:sp>
      <p:pic>
        <p:nvPicPr>
          <p:cNvPr id="2097230" name="picture 204"/>
          <p:cNvPicPr>
            <a:picLocks noChangeAspect="1"/>
          </p:cNvPicPr>
          <p:nvPr/>
        </p:nvPicPr>
        <p:blipFill>
          <a:blip r:embed="rId1"/>
          <a:stretch>
            <a:fillRect/>
          </a:stretch>
        </p:blipFill>
        <p:spPr>
          <a:xfrm rot="21600000">
            <a:off x="824483" y="408431"/>
            <a:ext cx="419100" cy="655320"/>
          </a:xfrm>
          <a:prstGeom prst="rect">
            <a:avLst/>
          </a:prstGeom>
        </p:spPr>
      </p:pic>
      <p:sp>
        <p:nvSpPr>
          <p:cNvPr id="1049103"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31" name="picture 208"/>
          <p:cNvPicPr>
            <a:picLocks noChangeAspect="1"/>
          </p:cNvPicPr>
          <p:nvPr/>
        </p:nvPicPr>
        <p:blipFill>
          <a:blip r:embed="rId2"/>
          <a:stretch>
            <a:fillRect/>
          </a:stretch>
        </p:blipFill>
        <p:spPr>
          <a:xfrm rot="21600000">
            <a:off x="2083307" y="3022091"/>
            <a:ext cx="8128940" cy="33782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87" name=""/>
        <p:cNvGrpSpPr/>
        <p:nvPr/>
      </p:nvGrpSpPr>
      <p:grpSpPr>
        <a:xfrm>
          <a:off x="0" y="0"/>
          <a:ext cx="0" cy="0"/>
          <a:chOff x="0" y="0"/>
          <a:chExt cx="0" cy="0"/>
        </a:xfrm>
      </p:grpSpPr>
      <p:graphicFrame>
        <p:nvGraphicFramePr>
          <p:cNvPr id="4194327" name="table 210"/>
          <p:cNvGraphicFramePr>
            <a:graphicFrameLocks noGrp="1"/>
          </p:cNvGraphicFramePr>
          <p:nvPr/>
        </p:nvGraphicFramePr>
        <p:xfrm>
          <a:off x="69850" y="3194050"/>
          <a:ext cx="11969115" cy="1817370"/>
        </p:xfrm>
        <a:graphic>
          <a:graphicData uri="http://schemas.openxmlformats.org/drawingml/2006/table">
            <a:tbl>
              <a:tblPr/>
              <a:tblGrid>
                <a:gridCol w="1172210"/>
                <a:gridCol w="1143000"/>
                <a:gridCol w="1143000"/>
                <a:gridCol w="1143000"/>
                <a:gridCol w="1143000"/>
                <a:gridCol w="1341755"/>
                <a:gridCol w="1143000"/>
                <a:gridCol w="1143000"/>
                <a:gridCol w="1371600"/>
                <a:gridCol w="1225550"/>
              </a:tblGrid>
              <a:tr h="429894">
                <a:tc>
                  <a:txBody>
                    <a:bodyPr/>
                    <a:p>
                      <a:pPr algn="l" rtl="0" eaLnBrk="0">
                        <a:lnSpc>
                          <a:spcPct val="103000"/>
                        </a:lnSpc>
                      </a:pPr>
                      <a:endParaRPr lang="en-US" altLang="en-US" sz="700" dirty="0"/>
                    </a:p>
                    <a:p>
                      <a:pPr marL="112395" algn="l" rtl="0" eaLnBrk="0">
                        <a:lnSpc>
                          <a:spcPct val="93000"/>
                        </a:lnSpc>
                        <a:spcBef>
                          <a:spcPts val="5"/>
                        </a:spcBef>
                      </a:pPr>
                      <a:r>
                        <a:rPr sz="1800" b="1" kern="0" spc="-40" dirty="0">
                          <a:solidFill>
                            <a:srgbClr val="000000">
                              <a:alpha val="100000"/>
                            </a:srgbClr>
                          </a:solidFill>
                          <a:latin typeface="Times New Roman" panose="02020603050405020304"/>
                          <a:ea typeface="Times New Roman" panose="02020603050405020304"/>
                          <a:cs typeface="Times New Roman" panose="02020603050405020304"/>
                        </a:rPr>
                        <a:t>1</a:t>
                      </a:r>
                      <a:r>
                        <a:rPr sz="1800" kern="0" spc="-4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请弓</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3000"/>
                        </a:lnSpc>
                      </a:pPr>
                      <a:endParaRPr lang="en-US" altLang="en-US" sz="700" dirty="0"/>
                    </a:p>
                    <a:p>
                      <a:pPr marL="97155" algn="l" rtl="0" eaLnBrk="0">
                        <a:lnSpc>
                          <a:spcPct val="93000"/>
                        </a:lnSpc>
                        <a:spcBef>
                          <a:spcPts val="5"/>
                        </a:spcBef>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2</a:t>
                      </a:r>
                      <a:r>
                        <a:rPr sz="1800" kern="0" spc="-2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请箭</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3000"/>
                        </a:lnSpc>
                      </a:pPr>
                      <a:endParaRPr lang="en-US" altLang="en-US" sz="700" dirty="0"/>
                    </a:p>
                    <a:p>
                      <a:pPr marL="95250" algn="l" rtl="0" eaLnBrk="0">
                        <a:lnSpc>
                          <a:spcPct val="93000"/>
                        </a:lnSpc>
                        <a:spcBef>
                          <a:spcPts val="5"/>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3</a:t>
                      </a:r>
                      <a:r>
                        <a:rPr sz="1800" kern="0" spc="-1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请刀</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3000"/>
                        </a:lnSpc>
                      </a:pPr>
                      <a:endParaRPr lang="en-US" altLang="en-US" sz="700" dirty="0"/>
                    </a:p>
                    <a:p>
                      <a:pPr marL="97790" algn="l" rtl="0" eaLnBrk="0">
                        <a:lnSpc>
                          <a:spcPct val="93000"/>
                        </a:lnSpc>
                        <a:spcBef>
                          <a:spcPts val="5"/>
                        </a:spcBef>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4</a:t>
                      </a:r>
                      <a:r>
                        <a:rPr sz="1800" kern="0" spc="-2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请甲</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3000"/>
                        </a:lnSpc>
                      </a:pPr>
                      <a:endParaRPr lang="en-US" altLang="en-US" sz="700" dirty="0"/>
                    </a:p>
                    <a:p>
                      <a:pPr marL="99695" algn="l" rtl="0" eaLnBrk="0">
                        <a:lnSpc>
                          <a:spcPct val="93000"/>
                        </a:lnSpc>
                        <a:spcBef>
                          <a:spcPts val="5"/>
                        </a:spcBef>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5</a:t>
                      </a:r>
                      <a:r>
                        <a:rPr sz="1800" kern="0" spc="-2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请枪旗</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3000"/>
                        </a:lnSpc>
                      </a:pPr>
                      <a:endParaRPr lang="en-US" altLang="en-US" sz="700" dirty="0"/>
                    </a:p>
                    <a:p>
                      <a:pPr marL="100330" algn="l" rtl="0" eaLnBrk="0">
                        <a:lnSpc>
                          <a:spcPct val="93000"/>
                        </a:lnSpc>
                        <a:spcBef>
                          <a:spcPts val="5"/>
                        </a:spcBef>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6</a:t>
                      </a:r>
                      <a:r>
                        <a:rPr sz="1800" kern="0" spc="-2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请锅幕</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3000"/>
                        </a:lnSpc>
                      </a:pPr>
                      <a:endParaRPr lang="en-US" altLang="en-US" sz="700" dirty="0"/>
                    </a:p>
                    <a:p>
                      <a:pPr marL="100330" algn="l" rtl="0" eaLnBrk="0">
                        <a:lnSpc>
                          <a:spcPct val="93000"/>
                        </a:lnSpc>
                        <a:spcBef>
                          <a:spcPts val="5"/>
                        </a:spcBef>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7</a:t>
                      </a:r>
                      <a:r>
                        <a:rPr sz="1800" kern="0" spc="-2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请马</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3000"/>
                        </a:lnSpc>
                      </a:pPr>
                      <a:endParaRPr lang="en-US" altLang="en-US" sz="700" dirty="0"/>
                    </a:p>
                    <a:p>
                      <a:pPr marL="100965" algn="l" rtl="0" eaLnBrk="0">
                        <a:lnSpc>
                          <a:spcPct val="93000"/>
                        </a:lnSpc>
                        <a:spcBef>
                          <a:spcPts val="5"/>
                        </a:spcBef>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8</a:t>
                      </a:r>
                      <a:r>
                        <a:rPr sz="1800" kern="0" spc="-2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请衣赐</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3000"/>
                        </a:lnSpc>
                      </a:pPr>
                      <a:endParaRPr lang="en-US" altLang="en-US" sz="700" dirty="0"/>
                    </a:p>
                    <a:p>
                      <a:pPr marL="99695" algn="l" rtl="0" eaLnBrk="0">
                        <a:lnSpc>
                          <a:spcPct val="93000"/>
                        </a:lnSpc>
                        <a:spcBef>
                          <a:spcPts val="5"/>
                        </a:spcBef>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9</a:t>
                      </a:r>
                      <a:r>
                        <a:rPr sz="1800" kern="0" spc="-2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请粮料</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3000"/>
                        </a:lnSpc>
                      </a:pPr>
                      <a:endParaRPr lang="en-US" altLang="en-US" sz="700" dirty="0"/>
                    </a:p>
                    <a:p>
                      <a:pPr marL="108585" algn="l" rtl="0" eaLnBrk="0">
                        <a:lnSpc>
                          <a:spcPct val="93000"/>
                        </a:lnSpc>
                        <a:spcBef>
                          <a:spcPts val="5"/>
                        </a:spcBef>
                      </a:pP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10</a:t>
                      </a:r>
                      <a:r>
                        <a:rPr sz="1800" kern="0" spc="-3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请草料</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40079">
                <a:tc>
                  <a:txBody>
                    <a:bodyPr/>
                    <a:p>
                      <a:pPr algn="l" rtl="0" eaLnBrk="0">
                        <a:lnSpc>
                          <a:spcPct val="138000"/>
                        </a:lnSpc>
                      </a:pPr>
                      <a:endParaRPr lang="en-US" altLang="en-US" sz="1000" dirty="0"/>
                    </a:p>
                    <a:p>
                      <a:pPr algn="l" rtl="0" eaLnBrk="0">
                        <a:lnSpc>
                          <a:spcPct val="7000"/>
                        </a:lnSpc>
                      </a:pPr>
                      <a:endParaRPr lang="en-US" altLang="en-US" sz="100" dirty="0"/>
                    </a:p>
                    <a:p>
                      <a:pPr marL="112395" algn="l" rtl="0" eaLnBrk="0">
                        <a:lnSpc>
                          <a:spcPct val="93000"/>
                        </a:lnSpc>
                      </a:pPr>
                      <a:r>
                        <a:rPr sz="1800" b="1" kern="0" spc="-50" dirty="0">
                          <a:solidFill>
                            <a:srgbClr val="000000">
                              <a:alpha val="100000"/>
                            </a:srgbClr>
                          </a:solidFill>
                          <a:latin typeface="Times New Roman" panose="02020603050405020304"/>
                          <a:ea typeface="Times New Roman" panose="02020603050405020304"/>
                          <a:cs typeface="Times New Roman" panose="02020603050405020304"/>
                        </a:rPr>
                        <a:t>11</a:t>
                      </a:r>
                      <a:r>
                        <a:rPr sz="1800" kern="0" spc="-5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请车牛</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39000"/>
                        </a:lnSpc>
                      </a:pPr>
                      <a:endParaRPr lang="en-US" altLang="en-US" sz="1000" dirty="0"/>
                    </a:p>
                    <a:p>
                      <a:pPr marL="106680" algn="l" rtl="0" eaLnBrk="0">
                        <a:lnSpc>
                          <a:spcPct val="93000"/>
                        </a:lnSpc>
                        <a:spcBef>
                          <a:spcPts val="5"/>
                        </a:spcBef>
                      </a:pP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12</a:t>
                      </a:r>
                      <a:r>
                        <a:rPr sz="1800" kern="0" spc="-3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请船</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24000"/>
                        </a:lnSpc>
                      </a:pPr>
                      <a:endParaRPr lang="en-US" altLang="en-US" sz="400" dirty="0"/>
                    </a:p>
                    <a:p>
                      <a:pPr marL="120015" indent="-13335" algn="l" rtl="0" eaLnBrk="0">
                        <a:lnSpc>
                          <a:spcPct val="97000"/>
                        </a:lnSpc>
                        <a:spcBef>
                          <a:spcPts val="5"/>
                        </a:spcBef>
                      </a:pP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13</a:t>
                      </a:r>
                      <a:r>
                        <a:rPr sz="1800" kern="0" spc="-3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请攻城</a:t>
                      </a:r>
                      <a:r>
                        <a:rPr sz="1800" kern="0" spc="20" dirty="0">
                          <a:solidFill>
                            <a:srgbClr val="000000">
                              <a:alpha val="100000"/>
                            </a:srgbClr>
                          </a:solidFill>
                          <a:latin typeface="仿宋" panose="02010609060101010101" charset="-122"/>
                          <a:ea typeface="仿宋" panose="02010609060101010101" charset="-122"/>
                          <a:cs typeface="仿宋" panose="02010609060101010101" charset="-122"/>
                        </a:rPr>
                        <a:t>  </a:t>
                      </a:r>
                      <a:r>
                        <a:rPr sz="1800" kern="0" spc="-6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守具</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39000"/>
                        </a:lnSpc>
                      </a:pPr>
                      <a:endParaRPr lang="en-US" altLang="en-US" sz="1000" dirty="0"/>
                    </a:p>
                    <a:p>
                      <a:pPr marL="106680" algn="l" rtl="0" eaLnBrk="0">
                        <a:lnSpc>
                          <a:spcPct val="93000"/>
                        </a:lnSpc>
                        <a:spcBef>
                          <a:spcPts val="5"/>
                        </a:spcBef>
                      </a:pP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14</a:t>
                      </a:r>
                      <a:r>
                        <a:rPr sz="1800" kern="0" spc="-3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请添兵</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39000"/>
                        </a:lnSpc>
                      </a:pPr>
                      <a:endParaRPr lang="en-US" altLang="en-US" sz="1000" dirty="0"/>
                    </a:p>
                    <a:p>
                      <a:pPr marL="107315" algn="l" rtl="0" eaLnBrk="0">
                        <a:lnSpc>
                          <a:spcPct val="93000"/>
                        </a:lnSpc>
                        <a:spcBef>
                          <a:spcPts val="5"/>
                        </a:spcBef>
                      </a:pP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15</a:t>
                      </a:r>
                      <a:r>
                        <a:rPr sz="1800" kern="0" spc="-3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请移营</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39000"/>
                        </a:lnSpc>
                      </a:pPr>
                      <a:endParaRPr lang="en-US" altLang="en-US" sz="1000" dirty="0"/>
                    </a:p>
                    <a:p>
                      <a:pPr marL="107315" algn="l" rtl="0" eaLnBrk="0">
                        <a:lnSpc>
                          <a:spcPct val="93000"/>
                        </a:lnSpc>
                        <a:spcBef>
                          <a:spcPts val="5"/>
                        </a:spcBef>
                      </a:pPr>
                      <a:r>
                        <a:rPr sz="1800" b="1" kern="0" spc="-20" dirty="0">
                          <a:solidFill>
                            <a:srgbClr val="000000">
                              <a:alpha val="100000"/>
                            </a:srgbClr>
                          </a:solidFill>
                          <a:latin typeface="Times New Roman" panose="02020603050405020304"/>
                          <a:ea typeface="Times New Roman" panose="02020603050405020304"/>
                          <a:cs typeface="Times New Roman" panose="02020603050405020304"/>
                        </a:rPr>
                        <a:t>16</a:t>
                      </a:r>
                      <a:r>
                        <a:rPr sz="1800" kern="0" spc="-2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请进军</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39000"/>
                        </a:lnSpc>
                      </a:pPr>
                      <a:endParaRPr lang="en-US" altLang="en-US" sz="1000" dirty="0"/>
                    </a:p>
                    <a:p>
                      <a:pPr marL="107950" algn="l" rtl="0" eaLnBrk="0">
                        <a:lnSpc>
                          <a:spcPct val="93000"/>
                        </a:lnSpc>
                        <a:spcBef>
                          <a:spcPts val="5"/>
                        </a:spcBef>
                      </a:pP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17</a:t>
                      </a:r>
                      <a:r>
                        <a:rPr sz="1800" kern="0" spc="-3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请退军</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39000"/>
                        </a:lnSpc>
                      </a:pPr>
                      <a:endParaRPr lang="en-US" altLang="en-US" sz="1000" dirty="0"/>
                    </a:p>
                    <a:p>
                      <a:pPr marL="107950" algn="l" rtl="0" eaLnBrk="0">
                        <a:lnSpc>
                          <a:spcPct val="93000"/>
                        </a:lnSpc>
                        <a:spcBef>
                          <a:spcPts val="5"/>
                        </a:spcBef>
                      </a:pP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18</a:t>
                      </a:r>
                      <a:r>
                        <a:rPr sz="1800" kern="0" spc="-3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请固守</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39000"/>
                        </a:lnSpc>
                      </a:pPr>
                      <a:endParaRPr lang="en-US" altLang="en-US" sz="1000" dirty="0"/>
                    </a:p>
                    <a:p>
                      <a:pPr marL="107950" algn="l" rtl="0" eaLnBrk="0">
                        <a:lnSpc>
                          <a:spcPct val="94000"/>
                        </a:lnSpc>
                        <a:spcBef>
                          <a:spcPts val="5"/>
                        </a:spcBef>
                      </a:pPr>
                      <a:r>
                        <a:rPr sz="1800" b="1" kern="0" spc="-30" dirty="0">
                          <a:solidFill>
                            <a:srgbClr val="000000">
                              <a:alpha val="100000"/>
                            </a:srgbClr>
                          </a:solidFill>
                          <a:latin typeface="Times New Roman" panose="02020603050405020304"/>
                          <a:ea typeface="Times New Roman" panose="02020603050405020304"/>
                          <a:cs typeface="Times New Roman" panose="02020603050405020304"/>
                        </a:rPr>
                        <a:t>19</a:t>
                      </a:r>
                      <a:r>
                        <a:rPr sz="1800" kern="0" spc="-3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未见贼</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37000"/>
                        </a:lnSpc>
                      </a:pPr>
                      <a:endParaRPr lang="en-US" altLang="en-US" sz="1000" dirty="0"/>
                    </a:p>
                    <a:p>
                      <a:pPr algn="l" rtl="0" eaLnBrk="0">
                        <a:lnSpc>
                          <a:spcPct val="10000"/>
                        </a:lnSpc>
                      </a:pPr>
                      <a:endParaRPr lang="en-US" altLang="en-US" sz="100" dirty="0"/>
                    </a:p>
                    <a:p>
                      <a:pPr marL="99060" algn="l" rtl="0" eaLnBrk="0">
                        <a:lnSpc>
                          <a:spcPct val="96000"/>
                        </a:lnSpc>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20</a:t>
                      </a:r>
                      <a:r>
                        <a:rPr sz="1800" kern="0" spc="-1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见贼讫</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0839">
                <a:tc>
                  <a:txBody>
                    <a:bodyPr/>
                    <a:p>
                      <a:pPr algn="l" rtl="0" eaLnBrk="0">
                        <a:lnSpc>
                          <a:spcPct val="124000"/>
                        </a:lnSpc>
                      </a:pPr>
                      <a:endParaRPr lang="en-US" altLang="en-US" sz="400" dirty="0"/>
                    </a:p>
                    <a:p>
                      <a:pPr marL="102870" algn="l" rtl="0" eaLnBrk="0">
                        <a:lnSpc>
                          <a:spcPct val="95000"/>
                        </a:lnSpc>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21</a:t>
                      </a:r>
                      <a:r>
                        <a:rPr sz="1800" kern="0" spc="-10" dirty="0">
                          <a:ln w="6540"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贼多</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24000"/>
                        </a:lnSpc>
                      </a:pPr>
                      <a:endParaRPr lang="en-US" altLang="en-US" sz="400" dirty="0"/>
                    </a:p>
                    <a:p>
                      <a:pPr marL="97155" algn="l" rtl="0" eaLnBrk="0">
                        <a:lnSpc>
                          <a:spcPct val="95000"/>
                        </a:lnSpc>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22</a:t>
                      </a:r>
                      <a:r>
                        <a:rPr sz="1800" kern="0" spc="-10" dirty="0">
                          <a:ln w="6540"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贼少</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0000"/>
                        </a:lnSpc>
                      </a:pPr>
                      <a:endParaRPr lang="en-US" altLang="en-US" sz="500" dirty="0"/>
                    </a:p>
                    <a:p>
                      <a:pPr marL="97155" algn="l" rtl="0" eaLnBrk="0">
                        <a:lnSpc>
                          <a:spcPct val="94000"/>
                        </a:lnSpc>
                        <a:spcBef>
                          <a:spcPts val="5"/>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23</a:t>
                      </a:r>
                      <a:r>
                        <a:rPr sz="1800" kern="0" spc="-10" dirty="0">
                          <a:ln w="6540"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贼相敌</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24000"/>
                        </a:lnSpc>
                      </a:pPr>
                      <a:endParaRPr lang="en-US" altLang="en-US" sz="400" dirty="0"/>
                    </a:p>
                    <a:p>
                      <a:pPr marL="97155" algn="l" rtl="0" eaLnBrk="0">
                        <a:lnSpc>
                          <a:spcPct val="95000"/>
                        </a:lnSpc>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24</a:t>
                      </a:r>
                      <a:r>
                        <a:rPr sz="1800" kern="0" spc="-10" dirty="0">
                          <a:ln w="6540"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贼添兵</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24000"/>
                        </a:lnSpc>
                      </a:pPr>
                      <a:endParaRPr lang="en-US" altLang="en-US" sz="400" dirty="0"/>
                    </a:p>
                    <a:p>
                      <a:pPr marL="97790" algn="l" rtl="0" eaLnBrk="0">
                        <a:lnSpc>
                          <a:spcPct val="95000"/>
                        </a:lnSpc>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25</a:t>
                      </a:r>
                      <a:r>
                        <a:rPr sz="1800" kern="0" spc="-10" dirty="0">
                          <a:ln w="6540"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贼移营</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23000"/>
                        </a:lnSpc>
                      </a:pPr>
                      <a:endParaRPr lang="en-US" altLang="en-US" sz="400" dirty="0"/>
                    </a:p>
                    <a:p>
                      <a:pPr marL="97790" algn="l" rtl="0" eaLnBrk="0">
                        <a:lnSpc>
                          <a:spcPct val="96000"/>
                        </a:lnSpc>
                        <a:spcBef>
                          <a:spcPts val="5"/>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26</a:t>
                      </a:r>
                      <a:r>
                        <a:rPr sz="1800" kern="0" spc="-10" dirty="0">
                          <a:ln w="6540"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贼进兵</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23000"/>
                        </a:lnSpc>
                      </a:pPr>
                      <a:endParaRPr lang="en-US" altLang="en-US" sz="400" dirty="0"/>
                    </a:p>
                    <a:p>
                      <a:pPr marL="98425" algn="l" rtl="0" eaLnBrk="0">
                        <a:lnSpc>
                          <a:spcPct val="96000"/>
                        </a:lnSpc>
                        <a:spcBef>
                          <a:spcPts val="5"/>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27</a:t>
                      </a:r>
                      <a:r>
                        <a:rPr sz="1800" kern="0" spc="-10" dirty="0">
                          <a:ln w="6540"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贼退兵</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24000"/>
                        </a:lnSpc>
                      </a:pPr>
                      <a:endParaRPr lang="en-US" altLang="en-US" sz="400" dirty="0"/>
                    </a:p>
                    <a:p>
                      <a:pPr marL="98425" algn="l" rtl="0" eaLnBrk="0">
                        <a:lnSpc>
                          <a:spcPct val="95000"/>
                        </a:lnSpc>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28</a:t>
                      </a:r>
                      <a:r>
                        <a:rPr sz="1800" kern="0" spc="-10" dirty="0">
                          <a:ln w="6540"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贼固守</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1000"/>
                        </a:lnSpc>
                      </a:pPr>
                      <a:endParaRPr lang="en-US" altLang="en-US" sz="500" dirty="0"/>
                    </a:p>
                    <a:p>
                      <a:pPr marL="98425" algn="l" rtl="0" eaLnBrk="0">
                        <a:lnSpc>
                          <a:spcPct val="94000"/>
                        </a:lnSpc>
                        <a:spcBef>
                          <a:spcPts val="5"/>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29</a:t>
                      </a:r>
                      <a:r>
                        <a:rPr sz="1800" kern="0" spc="-10" dirty="0">
                          <a:ln w="6540"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围得贼城</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1000"/>
                        </a:lnSpc>
                      </a:pPr>
                      <a:endParaRPr lang="en-US" altLang="en-US" sz="500" dirty="0"/>
                    </a:p>
                    <a:p>
                      <a:pPr marL="97155" algn="l" rtl="0" eaLnBrk="0">
                        <a:lnSpc>
                          <a:spcPct val="94000"/>
                        </a:lnSpc>
                        <a:spcBef>
                          <a:spcPts val="5"/>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30</a:t>
                      </a:r>
                      <a:r>
                        <a:rPr sz="1800" kern="0" spc="-10" dirty="0">
                          <a:ln w="6540"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解围城</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76554">
                <a:tc>
                  <a:txBody>
                    <a:bodyPr/>
                    <a:p>
                      <a:pPr algn="l" rtl="0" eaLnBrk="0">
                        <a:lnSpc>
                          <a:spcPct val="124000"/>
                        </a:lnSpc>
                      </a:pPr>
                      <a:endParaRPr lang="en-US" altLang="en-US" sz="400" dirty="0"/>
                    </a:p>
                    <a:p>
                      <a:pPr marL="100965" algn="l" rtl="0" eaLnBrk="0">
                        <a:lnSpc>
                          <a:spcPct val="95000"/>
                        </a:lnSpc>
                        <a:spcBef>
                          <a:spcPts val="0"/>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31</a:t>
                      </a:r>
                      <a:r>
                        <a:rPr sz="1800" kern="0" spc="-1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被贼围</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1000"/>
                        </a:lnSpc>
                      </a:pPr>
                      <a:endParaRPr lang="en-US" altLang="en-US" sz="500" dirty="0"/>
                    </a:p>
                    <a:p>
                      <a:pPr marL="95250" algn="l" rtl="0" eaLnBrk="0">
                        <a:lnSpc>
                          <a:spcPct val="94000"/>
                        </a:lnSpc>
                        <a:spcBef>
                          <a:spcPts val="5"/>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32</a:t>
                      </a:r>
                      <a:r>
                        <a:rPr sz="1800" kern="0" spc="-1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贼围解</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24000"/>
                        </a:lnSpc>
                      </a:pPr>
                      <a:endParaRPr lang="en-US" altLang="en-US" sz="400" dirty="0"/>
                    </a:p>
                    <a:p>
                      <a:pPr marL="95250" algn="l" rtl="0" eaLnBrk="0">
                        <a:lnSpc>
                          <a:spcPct val="95000"/>
                        </a:lnSpc>
                        <a:spcBef>
                          <a:spcPts val="0"/>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33</a:t>
                      </a:r>
                      <a:r>
                        <a:rPr sz="1800" kern="0" spc="-1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战不胜</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24000"/>
                        </a:lnSpc>
                      </a:pPr>
                      <a:endParaRPr lang="en-US" altLang="en-US" sz="400" dirty="0"/>
                    </a:p>
                    <a:p>
                      <a:pPr marL="95250" algn="l" rtl="0" eaLnBrk="0">
                        <a:lnSpc>
                          <a:spcPct val="95000"/>
                        </a:lnSpc>
                        <a:spcBef>
                          <a:spcPts val="0"/>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34</a:t>
                      </a:r>
                      <a:r>
                        <a:rPr sz="1800" kern="0" spc="-1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战大胜</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0000"/>
                        </a:lnSpc>
                      </a:pPr>
                      <a:endParaRPr lang="en-US" altLang="en-US" sz="500" dirty="0"/>
                    </a:p>
                    <a:p>
                      <a:pPr marL="95885" algn="l" rtl="0" eaLnBrk="0">
                        <a:lnSpc>
                          <a:spcPct val="95000"/>
                        </a:lnSpc>
                        <a:spcBef>
                          <a:spcPts val="5"/>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35</a:t>
                      </a:r>
                      <a:r>
                        <a:rPr sz="1800" kern="0" spc="-1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战大捷</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0000"/>
                        </a:lnSpc>
                      </a:pPr>
                      <a:endParaRPr lang="en-US" altLang="en-US" sz="500" dirty="0"/>
                    </a:p>
                    <a:p>
                      <a:pPr marL="95885" algn="l" rtl="0" eaLnBrk="0">
                        <a:lnSpc>
                          <a:spcPct val="94000"/>
                        </a:lnSpc>
                        <a:spcBef>
                          <a:spcPts val="5"/>
                        </a:spcBef>
                      </a:pPr>
                      <a:r>
                        <a:rPr sz="1800" b="1" kern="0" spc="0" dirty="0">
                          <a:solidFill>
                            <a:srgbClr val="000000">
                              <a:alpha val="100000"/>
                            </a:srgbClr>
                          </a:solidFill>
                          <a:latin typeface="Times New Roman" panose="02020603050405020304"/>
                          <a:ea typeface="Times New Roman" panose="02020603050405020304"/>
                          <a:cs typeface="Times New Roman" panose="02020603050405020304"/>
                        </a:rPr>
                        <a:t>36</a:t>
                      </a:r>
                      <a:r>
                        <a:rPr sz="1800" kern="0" spc="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将士投降</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0000"/>
                        </a:lnSpc>
                      </a:pPr>
                      <a:endParaRPr lang="en-US" altLang="en-US" sz="500" dirty="0"/>
                    </a:p>
                    <a:p>
                      <a:pPr marL="96520" algn="l" rtl="0" eaLnBrk="0">
                        <a:lnSpc>
                          <a:spcPct val="94000"/>
                        </a:lnSpc>
                        <a:spcBef>
                          <a:spcPts val="5"/>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37</a:t>
                      </a:r>
                      <a:r>
                        <a:rPr sz="1800" kern="0" spc="-1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将士叛</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0000"/>
                        </a:lnSpc>
                      </a:pPr>
                      <a:endParaRPr lang="en-US" altLang="en-US" sz="500" dirty="0"/>
                    </a:p>
                    <a:p>
                      <a:pPr marL="96520" algn="l" rtl="0" eaLnBrk="0">
                        <a:lnSpc>
                          <a:spcPct val="94000"/>
                        </a:lnSpc>
                        <a:spcBef>
                          <a:spcPts val="5"/>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38</a:t>
                      </a:r>
                      <a:r>
                        <a:rPr sz="1800" kern="0" spc="-1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士卒病</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00000"/>
                        </a:lnSpc>
                      </a:pPr>
                      <a:endParaRPr lang="en-US" altLang="en-US" sz="500" dirty="0"/>
                    </a:p>
                    <a:p>
                      <a:pPr marL="96520" algn="l" rtl="0" eaLnBrk="0">
                        <a:lnSpc>
                          <a:spcPct val="94000"/>
                        </a:lnSpc>
                        <a:spcBef>
                          <a:spcPts val="5"/>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39</a:t>
                      </a:r>
                      <a:r>
                        <a:rPr sz="1800" kern="0" spc="-1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都将病</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24000"/>
                        </a:lnSpc>
                      </a:pPr>
                      <a:endParaRPr lang="en-US" altLang="en-US" sz="400" dirty="0"/>
                    </a:p>
                    <a:p>
                      <a:pPr marL="99060" algn="l" rtl="0" eaLnBrk="0">
                        <a:lnSpc>
                          <a:spcPct val="95000"/>
                        </a:lnSpc>
                        <a:spcBef>
                          <a:spcPts val="0"/>
                        </a:spcBef>
                      </a:pPr>
                      <a:r>
                        <a:rPr sz="1800" b="1" kern="0" spc="-10" dirty="0">
                          <a:solidFill>
                            <a:srgbClr val="000000">
                              <a:alpha val="100000"/>
                            </a:srgbClr>
                          </a:solidFill>
                          <a:latin typeface="Times New Roman" panose="02020603050405020304"/>
                          <a:ea typeface="Times New Roman" panose="02020603050405020304"/>
                          <a:cs typeface="Times New Roman" panose="02020603050405020304"/>
                        </a:rPr>
                        <a:t>40</a:t>
                      </a:r>
                      <a:r>
                        <a:rPr sz="1800" kern="0" spc="-10" dirty="0">
                          <a:ln w="6531"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战小胜</a:t>
                      </a:r>
                      <a:endParaRPr lang="en-US" altLang="en-US" sz="18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49106" name="textbox 212"/>
          <p:cNvSpPr/>
          <p:nvPr/>
        </p:nvSpPr>
        <p:spPr>
          <a:xfrm>
            <a:off x="1088464" y="1305328"/>
            <a:ext cx="4519929" cy="1383664"/>
          </a:xfrm>
          <a:prstGeom prst="rect">
            <a:avLst/>
          </a:prstGeom>
        </p:spPr>
        <p:txBody>
          <a:bodyPr vert="horz" wrap="square" lIns="0" tIns="0" rIns="0" bIns="0"/>
          <a:p>
            <a:pPr algn="l" rtl="0" eaLnBrk="0">
              <a:lnSpc>
                <a:spcPct val="66000"/>
              </a:lnSpc>
            </a:pPr>
            <a:endParaRPr lang="en-US" altLang="en-US" sz="100" dirty="0"/>
          </a:p>
          <a:p>
            <a:pPr marL="12700" algn="l" rtl="0" eaLnBrk="0">
              <a:lnSpc>
                <a:spcPct val="109000"/>
              </a:lnSpc>
            </a:pPr>
            <a:r>
              <a:rPr sz="2700" kern="0" spc="40" dirty="0">
                <a:solidFill>
                  <a:srgbClr val="000000">
                    <a:alpha val="100000"/>
                  </a:srgbClr>
                </a:solidFill>
                <a:latin typeface="Arial" panose="020B0604020202020204"/>
                <a:ea typeface="Arial" panose="020B0604020202020204"/>
                <a:cs typeface="Arial" panose="020B0604020202020204"/>
              </a:rPr>
              <a:t>•</a:t>
            </a:r>
            <a:r>
              <a:rPr sz="2700" kern="0" spc="330" dirty="0">
                <a:solidFill>
                  <a:srgbClr val="000000">
                    <a:alpha val="100000"/>
                  </a:srgbClr>
                </a:solidFill>
                <a:latin typeface="Arial" panose="020B0604020202020204"/>
                <a:ea typeface="Arial" panose="020B0604020202020204"/>
                <a:cs typeface="Arial" panose="020B0604020202020204"/>
              </a:rPr>
              <a:t> </a:t>
            </a:r>
            <a:r>
              <a:rPr sz="2700" kern="0" spc="4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北宋《武经总要》</a:t>
            </a:r>
            <a:r>
              <a:rPr sz="27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110" dirty="0">
                <a:solidFill>
                  <a:srgbClr val="000000">
                    <a:alpha val="100000"/>
                  </a:srgbClr>
                </a:solidFill>
                <a:latin typeface="Arial" panose="020B0604020202020204"/>
                <a:ea typeface="Arial" panose="020B0604020202020204"/>
                <a:cs typeface="Arial" panose="020B0604020202020204"/>
              </a:rPr>
              <a:t>•</a:t>
            </a:r>
            <a:r>
              <a:rPr sz="2700" kern="0" spc="690" dirty="0">
                <a:solidFill>
                  <a:srgbClr val="000000">
                    <a:alpha val="100000"/>
                  </a:srgbClr>
                </a:solidFill>
                <a:latin typeface="Arial" panose="020B0604020202020204"/>
                <a:ea typeface="Arial" panose="020B0604020202020204"/>
                <a:cs typeface="Arial" panose="020B0604020202020204"/>
              </a:rPr>
              <a:t> </a:t>
            </a:r>
            <a:r>
              <a:rPr sz="2700" kern="0" spc="-11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曾公亮</a:t>
            </a:r>
            <a:endParaRPr lang="en-US" altLang="en-US" sz="2700" dirty="0"/>
          </a:p>
          <a:p>
            <a:pPr marL="12700" algn="l" rtl="0" eaLnBrk="0">
              <a:lnSpc>
                <a:spcPts val="3320"/>
              </a:lnSpc>
              <a:spcBef>
                <a:spcPts val="330"/>
              </a:spcBef>
            </a:pPr>
            <a:r>
              <a:rPr sz="2700" kern="0" spc="70" dirty="0">
                <a:solidFill>
                  <a:srgbClr val="000000">
                    <a:alpha val="100000"/>
                  </a:srgbClr>
                </a:solidFill>
                <a:latin typeface="Arial" panose="020B0604020202020204"/>
                <a:ea typeface="Arial" panose="020B0604020202020204"/>
                <a:cs typeface="Arial" panose="020B0604020202020204"/>
              </a:rPr>
              <a:t>•</a:t>
            </a:r>
            <a:r>
              <a:rPr sz="2700" kern="0" spc="290" dirty="0">
                <a:solidFill>
                  <a:srgbClr val="000000">
                    <a:alpha val="100000"/>
                  </a:srgbClr>
                </a:solidFill>
                <a:latin typeface="Arial" panose="020B0604020202020204"/>
                <a:ea typeface="Arial" panose="020B0604020202020204"/>
                <a:cs typeface="Arial" panose="020B0604020202020204"/>
              </a:rPr>
              <a:t> </a:t>
            </a:r>
            <a:r>
              <a:rPr sz="2700" kern="0" spc="7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军队中常用的40种战斗情况</a:t>
            </a:r>
            <a:endParaRPr lang="en-US" altLang="en-US" sz="2700" dirty="0"/>
          </a:p>
        </p:txBody>
      </p:sp>
      <p:sp>
        <p:nvSpPr>
          <p:cNvPr id="1049107" name="textbox 214"/>
          <p:cNvSpPr/>
          <p:nvPr/>
        </p:nvSpPr>
        <p:spPr>
          <a:xfrm>
            <a:off x="811783" y="395731"/>
            <a:ext cx="4020820" cy="730884"/>
          </a:xfrm>
          <a:prstGeom prst="rect">
            <a:avLst/>
          </a:prstGeom>
        </p:spPr>
        <p:txBody>
          <a:bodyPr vert="horz" wrap="square" lIns="0" tIns="0" rIns="0" bIns="0"/>
          <a:p>
            <a:pPr algn="l" rtl="0" eaLnBrk="0">
              <a:lnSpc>
                <a:spcPct val="113000"/>
              </a:lnSpc>
            </a:pPr>
            <a:endParaRPr lang="en-US" altLang="en-US" sz="600" dirty="0"/>
          </a:p>
          <a:p>
            <a:pPr marL="431800" algn="l" rtl="0" eaLnBrk="0">
              <a:lnSpc>
                <a:spcPct val="94000"/>
              </a:lnSpc>
              <a:spcBef>
                <a:spcPts val="0"/>
              </a:spcBef>
              <a:tabLst>
                <a:tab pos="824230" algn="l"/>
              </a:tabLst>
            </a:pPr>
            <a:r>
              <a:rPr sz="32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7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中国古代军事密码</a:t>
            </a:r>
            <a:endParaRPr lang="en-US" altLang="en-US" sz="3200" dirty="0"/>
          </a:p>
        </p:txBody>
      </p:sp>
      <p:pic>
        <p:nvPicPr>
          <p:cNvPr id="2097232" name="picture 216"/>
          <p:cNvPicPr>
            <a:picLocks noChangeAspect="1"/>
          </p:cNvPicPr>
          <p:nvPr/>
        </p:nvPicPr>
        <p:blipFill>
          <a:blip r:embed="rId1"/>
          <a:stretch>
            <a:fillRect/>
          </a:stretch>
        </p:blipFill>
        <p:spPr>
          <a:xfrm rot="21600000">
            <a:off x="824483" y="408431"/>
            <a:ext cx="419100" cy="655320"/>
          </a:xfrm>
          <a:prstGeom prst="rect">
            <a:avLst/>
          </a:prstGeom>
        </p:spPr>
      </p:pic>
      <p:sp>
        <p:nvSpPr>
          <p:cNvPr id="1049108"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
        <p:nvSpPr>
          <p:cNvPr id="1049109" name="rect"/>
          <p:cNvSpPr/>
          <p:nvPr/>
        </p:nvSpPr>
        <p:spPr>
          <a:xfrm>
            <a:off x="1465326" y="1019555"/>
            <a:ext cx="9037573" cy="28956"/>
          </a:xfrm>
          <a:prstGeom prst="rect">
            <a:avLst/>
          </a:prstGeom>
          <a:solidFill>
            <a:srgbClr val="5B9BD5">
              <a:alpha val="100000"/>
            </a:srgbClr>
          </a:solidFill>
          <a:ln cap="flat">
            <a:noFill/>
            <a:prstDash val="solid"/>
            <a:miter lim="0"/>
          </a:ln>
        </p:spPr>
        <p:txBody>
          <a:bodyPr rtlCol="0"/>
          <a:p>
            <a:pPr algn="ct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90" name=""/>
        <p:cNvGrpSpPr/>
        <p:nvPr/>
      </p:nvGrpSpPr>
      <p:grpSpPr>
        <a:xfrm>
          <a:off x="0" y="0"/>
          <a:ext cx="0" cy="0"/>
          <a:chOff x="0" y="0"/>
          <a:chExt cx="0" cy="0"/>
        </a:xfrm>
      </p:grpSpPr>
      <p:sp>
        <p:nvSpPr>
          <p:cNvPr id="1049112" name="textbox 224"/>
          <p:cNvSpPr/>
          <p:nvPr/>
        </p:nvSpPr>
        <p:spPr>
          <a:xfrm>
            <a:off x="921738" y="1518442"/>
            <a:ext cx="7358380" cy="3305809"/>
          </a:xfrm>
          <a:prstGeom prst="rect">
            <a:avLst/>
          </a:prstGeom>
        </p:spPr>
        <p:txBody>
          <a:bodyPr vert="horz" wrap="square" lIns="0" tIns="0" rIns="0" bIns="0"/>
          <a:p>
            <a:pPr algn="l" rtl="0" eaLnBrk="0">
              <a:lnSpc>
                <a:spcPct val="83000"/>
              </a:lnSpc>
            </a:pPr>
            <a:endParaRPr lang="en-US" altLang="en-US" sz="100" dirty="0"/>
          </a:p>
          <a:p>
            <a:pPr marL="12700" algn="l" rtl="0" eaLnBrk="0">
              <a:lnSpc>
                <a:spcPts val="3340"/>
              </a:lnSpc>
            </a:pPr>
            <a:r>
              <a:rPr sz="2700" kern="0" spc="60" dirty="0">
                <a:solidFill>
                  <a:srgbClr val="000000">
                    <a:alpha val="100000"/>
                  </a:srgbClr>
                </a:solidFill>
                <a:latin typeface="Arial" panose="020B0604020202020204"/>
                <a:ea typeface="Arial" panose="020B0604020202020204"/>
                <a:cs typeface="Arial" panose="020B0604020202020204"/>
              </a:rPr>
              <a:t>•</a:t>
            </a:r>
            <a:r>
              <a:rPr sz="2700" kern="0" spc="310" dirty="0">
                <a:solidFill>
                  <a:srgbClr val="000000">
                    <a:alpha val="100000"/>
                  </a:srgbClr>
                </a:solidFill>
                <a:latin typeface="Arial" panose="020B0604020202020204"/>
                <a:ea typeface="Arial" panose="020B0604020202020204"/>
                <a:cs typeface="Arial" panose="020B0604020202020204"/>
              </a:rPr>
              <a:t> </a:t>
            </a:r>
            <a:r>
              <a:rPr sz="2700" kern="0" spc="6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这套密码的使用方法</a:t>
            </a:r>
            <a:r>
              <a:rPr sz="2700" kern="0" spc="5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是：</a:t>
            </a:r>
            <a:endParaRPr lang="en-US" altLang="en-US" sz="2700" dirty="0"/>
          </a:p>
          <a:p>
            <a:pPr marL="466725" algn="l" rtl="0" eaLnBrk="0">
              <a:lnSpc>
                <a:spcPct val="100000"/>
              </a:lnSpc>
              <a:spcBef>
                <a:spcPts val="155"/>
              </a:spcBef>
            </a:pPr>
            <a:r>
              <a:rPr sz="2400" kern="0" spc="-20" dirty="0">
                <a:solidFill>
                  <a:srgbClr val="000000">
                    <a:alpha val="100000"/>
                  </a:srgbClr>
                </a:solidFill>
                <a:latin typeface="Arial" panose="020B0604020202020204"/>
                <a:ea typeface="Arial" panose="020B0604020202020204"/>
                <a:cs typeface="Arial" panose="020B0604020202020204"/>
              </a:rPr>
              <a:t>•</a:t>
            </a:r>
            <a:r>
              <a:rPr sz="2400" kern="0" spc="540" dirty="0">
                <a:solidFill>
                  <a:srgbClr val="000000">
                    <a:alpha val="100000"/>
                  </a:srgbClr>
                </a:solidFill>
                <a:latin typeface="Arial" panose="020B0604020202020204"/>
                <a:ea typeface="Arial" panose="020B0604020202020204"/>
                <a:cs typeface="Arial" panose="020B0604020202020204"/>
              </a:rPr>
              <a:t> </a:t>
            </a:r>
            <a:r>
              <a:rPr sz="2400" kern="0" spc="-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约定一首</a:t>
            </a:r>
            <a:r>
              <a:rPr sz="2400" kern="0" spc="-20" dirty="0">
                <a:ln w="8708"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40</a:t>
            </a:r>
            <a:r>
              <a:rPr sz="2400" kern="0" spc="-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字的五言律诗</a:t>
            </a:r>
            <a:endParaRPr lang="en-US" altLang="en-US" sz="2400" dirty="0"/>
          </a:p>
          <a:p>
            <a:pPr marL="466725" algn="l" rtl="0" eaLnBrk="0">
              <a:lnSpc>
                <a:spcPct val="99000"/>
              </a:lnSpc>
              <a:spcBef>
                <a:spcPts val="225"/>
              </a:spcBef>
            </a:pPr>
            <a:r>
              <a:rPr sz="2400" kern="0" spc="-130" dirty="0">
                <a:solidFill>
                  <a:srgbClr val="000000">
                    <a:alpha val="100000"/>
                  </a:srgbClr>
                </a:solidFill>
                <a:latin typeface="Arial" panose="020B0604020202020204"/>
                <a:ea typeface="Arial" panose="020B0604020202020204"/>
                <a:cs typeface="Arial" panose="020B0604020202020204"/>
              </a:rPr>
              <a:t>•</a:t>
            </a:r>
            <a:r>
              <a:rPr sz="2400" kern="0" spc="490" dirty="0">
                <a:solidFill>
                  <a:srgbClr val="000000">
                    <a:alpha val="100000"/>
                  </a:srgbClr>
                </a:solidFill>
                <a:latin typeface="Arial" panose="020B0604020202020204"/>
                <a:ea typeface="Arial" panose="020B0604020202020204"/>
                <a:cs typeface="Arial" panose="020B0604020202020204"/>
              </a:rPr>
              <a:t> </a:t>
            </a:r>
            <a:r>
              <a:rPr sz="2400" kern="0" spc="-13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保密，</a:t>
            </a:r>
            <a:r>
              <a:rPr sz="2400" kern="0" spc="-13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30" dirty="0">
                <a:ln w="8717"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文字不得重复</a:t>
            </a:r>
            <a:endParaRPr lang="en-US" altLang="en-US" sz="2400" dirty="0"/>
          </a:p>
          <a:p>
            <a:pPr marL="12700" algn="l" rtl="0" eaLnBrk="0">
              <a:lnSpc>
                <a:spcPts val="3310"/>
              </a:lnSpc>
              <a:spcBef>
                <a:spcPts val="750"/>
              </a:spcBef>
            </a:pPr>
            <a:r>
              <a:rPr sz="2700" kern="0" spc="80" dirty="0">
                <a:solidFill>
                  <a:srgbClr val="000000">
                    <a:alpha val="100000"/>
                  </a:srgbClr>
                </a:solidFill>
                <a:latin typeface="Arial" panose="020B0604020202020204"/>
                <a:ea typeface="Arial" panose="020B0604020202020204"/>
                <a:cs typeface="Arial" panose="020B0604020202020204"/>
              </a:rPr>
              <a:t>•</a:t>
            </a:r>
            <a:r>
              <a:rPr sz="2700" kern="0" spc="330" dirty="0">
                <a:solidFill>
                  <a:srgbClr val="000000">
                    <a:alpha val="100000"/>
                  </a:srgbClr>
                </a:solidFill>
                <a:latin typeface="Arial" panose="020B0604020202020204"/>
                <a:ea typeface="Arial" panose="020B0604020202020204"/>
                <a:cs typeface="Arial" panose="020B0604020202020204"/>
              </a:rPr>
              <a:t> </a:t>
            </a:r>
            <a:r>
              <a:rPr sz="2700" kern="0" spc="8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假设双方以唐代王勃的《送杜少府之任蜀川》</a:t>
            </a:r>
            <a:endParaRPr lang="en-US" altLang="en-US" sz="2700" dirty="0"/>
          </a:p>
          <a:p>
            <a:pPr marL="466725" algn="l" rtl="0" eaLnBrk="0">
              <a:lnSpc>
                <a:spcPct val="99000"/>
              </a:lnSpc>
              <a:spcBef>
                <a:spcPts val="210"/>
              </a:spcBef>
            </a:pPr>
            <a:r>
              <a:rPr sz="2400" kern="0" spc="-120" dirty="0">
                <a:solidFill>
                  <a:srgbClr val="000000">
                    <a:alpha val="100000"/>
                  </a:srgbClr>
                </a:solidFill>
                <a:latin typeface="Arial" panose="020B0604020202020204"/>
                <a:ea typeface="Arial" panose="020B0604020202020204"/>
                <a:cs typeface="Arial" panose="020B0604020202020204"/>
              </a:rPr>
              <a:t>•</a:t>
            </a:r>
            <a:r>
              <a:rPr sz="2400" kern="0" spc="490" dirty="0">
                <a:solidFill>
                  <a:srgbClr val="000000">
                    <a:alpha val="100000"/>
                  </a:srgbClr>
                </a:solidFill>
                <a:latin typeface="Arial" panose="020B0604020202020204"/>
                <a:ea typeface="Arial" panose="020B0604020202020204"/>
                <a:cs typeface="Arial" panose="020B0604020202020204"/>
              </a:rPr>
              <a:t> </a:t>
            </a:r>
            <a:r>
              <a:rPr sz="2400" kern="0" spc="-1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城阙辅三秦，风烟</a:t>
            </a:r>
            <a:r>
              <a:rPr sz="2400" kern="0" spc="-1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望五津。</a:t>
            </a:r>
            <a:endParaRPr lang="en-US" altLang="en-US" sz="2400" dirty="0"/>
          </a:p>
          <a:p>
            <a:pPr marL="466725" algn="l" rtl="0" eaLnBrk="0">
              <a:lnSpc>
                <a:spcPct val="100000"/>
              </a:lnSpc>
              <a:spcBef>
                <a:spcPts val="225"/>
              </a:spcBef>
            </a:pPr>
            <a:r>
              <a:rPr sz="2400" kern="0" spc="-130" dirty="0">
                <a:solidFill>
                  <a:srgbClr val="000000">
                    <a:alpha val="100000"/>
                  </a:srgbClr>
                </a:solidFill>
                <a:latin typeface="Arial" panose="020B0604020202020204"/>
                <a:ea typeface="Arial" panose="020B0604020202020204"/>
                <a:cs typeface="Arial" panose="020B0604020202020204"/>
              </a:rPr>
              <a:t>•</a:t>
            </a:r>
            <a:r>
              <a:rPr sz="2400" kern="0" spc="590" dirty="0">
                <a:solidFill>
                  <a:srgbClr val="000000">
                    <a:alpha val="100000"/>
                  </a:srgbClr>
                </a:solidFill>
                <a:latin typeface="Arial" panose="020B0604020202020204"/>
                <a:ea typeface="Arial" panose="020B0604020202020204"/>
                <a:cs typeface="Arial" panose="020B0604020202020204"/>
              </a:rPr>
              <a:t> </a:t>
            </a:r>
            <a:r>
              <a:rPr sz="2400" kern="0" spc="-13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与君离别意，同是宦游人。</a:t>
            </a:r>
            <a:endParaRPr lang="en-US" altLang="en-US" sz="2400" dirty="0"/>
          </a:p>
          <a:p>
            <a:pPr marL="466725" algn="l" rtl="0" eaLnBrk="0">
              <a:lnSpc>
                <a:spcPct val="99000"/>
              </a:lnSpc>
              <a:spcBef>
                <a:spcPts val="210"/>
              </a:spcBef>
            </a:pPr>
            <a:r>
              <a:rPr sz="2400" kern="0" spc="-120" dirty="0">
                <a:solidFill>
                  <a:srgbClr val="000000">
                    <a:alpha val="100000"/>
                  </a:srgbClr>
                </a:solidFill>
                <a:latin typeface="Arial" panose="020B0604020202020204"/>
                <a:ea typeface="Arial" panose="020B0604020202020204"/>
                <a:cs typeface="Arial" panose="020B0604020202020204"/>
              </a:rPr>
              <a:t>•</a:t>
            </a:r>
            <a:r>
              <a:rPr sz="2400" kern="0" spc="470" dirty="0">
                <a:solidFill>
                  <a:srgbClr val="000000">
                    <a:alpha val="100000"/>
                  </a:srgbClr>
                </a:solidFill>
                <a:latin typeface="Arial" panose="020B0604020202020204"/>
                <a:ea typeface="Arial" panose="020B0604020202020204"/>
                <a:cs typeface="Arial" panose="020B0604020202020204"/>
              </a:rPr>
              <a:t> </a:t>
            </a:r>
            <a:r>
              <a:rPr sz="2400" kern="0" spc="-1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海内存知己，天涯若比</a:t>
            </a:r>
            <a:r>
              <a:rPr sz="2400" kern="0" spc="-1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邻。</a:t>
            </a:r>
            <a:endParaRPr lang="en-US" altLang="en-US" sz="2400" dirty="0"/>
          </a:p>
          <a:p>
            <a:pPr marL="466725" algn="l" rtl="0" eaLnBrk="0">
              <a:lnSpc>
                <a:spcPct val="99000"/>
              </a:lnSpc>
              <a:spcBef>
                <a:spcPts val="245"/>
              </a:spcBef>
            </a:pPr>
            <a:r>
              <a:rPr sz="2400" kern="0" spc="-120" dirty="0">
                <a:solidFill>
                  <a:srgbClr val="000000">
                    <a:alpha val="100000"/>
                  </a:srgbClr>
                </a:solidFill>
                <a:latin typeface="Arial" panose="020B0604020202020204"/>
                <a:ea typeface="Arial" panose="020B0604020202020204"/>
                <a:cs typeface="Arial" panose="020B0604020202020204"/>
              </a:rPr>
              <a:t>•</a:t>
            </a:r>
            <a:r>
              <a:rPr sz="2400" kern="0" spc="480" dirty="0">
                <a:solidFill>
                  <a:srgbClr val="000000">
                    <a:alpha val="100000"/>
                  </a:srgbClr>
                </a:solidFill>
                <a:latin typeface="Arial" panose="020B0604020202020204"/>
                <a:ea typeface="Arial" panose="020B0604020202020204"/>
                <a:cs typeface="Arial" panose="020B0604020202020204"/>
              </a:rPr>
              <a:t> </a:t>
            </a:r>
            <a:r>
              <a:rPr sz="2400" kern="0" spc="-1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无为在歧路，儿女共</a:t>
            </a:r>
            <a:r>
              <a:rPr sz="2400" kern="0" spc="-1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沾巾。</a:t>
            </a:r>
            <a:endParaRPr lang="en-US" altLang="en-US" sz="2400" dirty="0"/>
          </a:p>
        </p:txBody>
      </p:sp>
      <p:sp>
        <p:nvSpPr>
          <p:cNvPr id="1049113" name="textbox 226"/>
          <p:cNvSpPr/>
          <p:nvPr/>
        </p:nvSpPr>
        <p:spPr>
          <a:xfrm>
            <a:off x="811783" y="395731"/>
            <a:ext cx="5215254" cy="730884"/>
          </a:xfrm>
          <a:prstGeom prst="rect">
            <a:avLst/>
          </a:prstGeom>
        </p:spPr>
        <p:txBody>
          <a:bodyPr vert="horz" wrap="square" lIns="0" tIns="0" rIns="0" bIns="0"/>
          <a:p>
            <a:pPr algn="l" rtl="0" eaLnBrk="0">
              <a:lnSpc>
                <a:spcPct val="113000"/>
              </a:lnSpc>
            </a:pPr>
            <a:endParaRPr lang="en-US" altLang="en-US" sz="600" dirty="0"/>
          </a:p>
          <a:p>
            <a:pPr marL="431800" algn="l" rtl="0" eaLnBrk="0">
              <a:lnSpc>
                <a:spcPct val="94000"/>
              </a:lnSpc>
              <a:spcBef>
                <a:spcPts val="0"/>
              </a:spcBef>
              <a:tabLst>
                <a:tab pos="824230" algn="l"/>
              </a:tabLst>
            </a:pPr>
            <a:r>
              <a:rPr sz="32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7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中国古代军事密码（续）</a:t>
            </a:r>
            <a:endParaRPr lang="en-US" altLang="en-US" sz="3200" dirty="0"/>
          </a:p>
        </p:txBody>
      </p:sp>
      <p:pic>
        <p:nvPicPr>
          <p:cNvPr id="2097233" name="picture 228"/>
          <p:cNvPicPr>
            <a:picLocks noChangeAspect="1"/>
          </p:cNvPicPr>
          <p:nvPr/>
        </p:nvPicPr>
        <p:blipFill>
          <a:blip r:embed="rId1"/>
          <a:stretch>
            <a:fillRect/>
          </a:stretch>
        </p:blipFill>
        <p:spPr>
          <a:xfrm rot="21600000">
            <a:off x="824483" y="408431"/>
            <a:ext cx="419100" cy="655320"/>
          </a:xfrm>
          <a:prstGeom prst="rect">
            <a:avLst/>
          </a:prstGeom>
        </p:spPr>
      </p:pic>
      <p:sp>
        <p:nvSpPr>
          <p:cNvPr id="1049114"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
        <p:nvSpPr>
          <p:cNvPr id="1049115" name="rect"/>
          <p:cNvSpPr/>
          <p:nvPr/>
        </p:nvSpPr>
        <p:spPr>
          <a:xfrm>
            <a:off x="1465326" y="1019555"/>
            <a:ext cx="9037573" cy="28956"/>
          </a:xfrm>
          <a:prstGeom prst="rect">
            <a:avLst/>
          </a:prstGeom>
          <a:solidFill>
            <a:srgbClr val="5B9BD5">
              <a:alpha val="100000"/>
            </a:srgbClr>
          </a:solidFill>
          <a:ln cap="flat">
            <a:noFill/>
            <a:prstDash val="solid"/>
            <a:miter lim="0"/>
          </a:ln>
        </p:spPr>
        <p:txBody>
          <a:bodyPr rtlCol="0"/>
          <a:p>
            <a:pPr algn="ct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93" name=""/>
        <p:cNvGrpSpPr/>
        <p:nvPr/>
      </p:nvGrpSpPr>
      <p:grpSpPr>
        <a:xfrm>
          <a:off x="0" y="0"/>
          <a:ext cx="0" cy="0"/>
          <a:chOff x="0" y="0"/>
          <a:chExt cx="0" cy="0"/>
        </a:xfrm>
      </p:grpSpPr>
      <p:sp>
        <p:nvSpPr>
          <p:cNvPr id="1049117" name="textbox 236"/>
          <p:cNvSpPr/>
          <p:nvPr/>
        </p:nvSpPr>
        <p:spPr>
          <a:xfrm>
            <a:off x="1923948" y="1649399"/>
            <a:ext cx="8203565" cy="2472689"/>
          </a:xfrm>
          <a:prstGeom prst="rect">
            <a:avLst/>
          </a:prstGeom>
        </p:spPr>
        <p:txBody>
          <a:bodyPr vert="horz" wrap="square" lIns="0" tIns="0" rIns="0" bIns="0"/>
          <a:p>
            <a:pPr algn="l" rtl="0" eaLnBrk="0">
              <a:lnSpc>
                <a:spcPct val="58000"/>
              </a:lnSpc>
            </a:pPr>
            <a:endParaRPr lang="en-US" altLang="en-US" sz="100" dirty="0"/>
          </a:p>
          <a:p>
            <a:pPr marL="244475" indent="-232410" algn="l" rtl="0" eaLnBrk="0">
              <a:lnSpc>
                <a:spcPct val="91000"/>
              </a:lnSpc>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470" dirty="0">
                <a:solidFill>
                  <a:srgbClr val="000000">
                    <a:alpha val="100000"/>
                  </a:srgbClr>
                </a:solidFill>
                <a:latin typeface="Arial" panose="020B0604020202020204"/>
                <a:ea typeface="Arial" panose="020B0604020202020204"/>
                <a:cs typeface="Arial" panose="020B0604020202020204"/>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如果军队在战斗在粮食将尽，需要补充，前方将领就从</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密码</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本中查出“请粮料</a:t>
            </a:r>
            <a:r>
              <a:rPr sz="2400" kern="0" spc="-80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”的编码，是第九，而《送杜少府之任蜀</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4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川》</a:t>
            </a:r>
            <a:r>
              <a:rPr sz="2400" kern="0" spc="-69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4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中的第九字是“五</a:t>
            </a:r>
            <a:r>
              <a:rPr sz="2400" kern="0" spc="-87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4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”。于是请粮将领就将“五</a:t>
            </a:r>
            <a:r>
              <a:rPr sz="2400" kern="0" spc="-87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4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”字写到</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一件普通公文书牒之中，并在字</a:t>
            </a:r>
            <a:r>
              <a:rPr sz="2400" kern="0" spc="-2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上加盖印章。</a:t>
            </a:r>
            <a:endParaRPr lang="en-US" altLang="en-US" sz="2400" dirty="0"/>
          </a:p>
          <a:p>
            <a:pPr algn="l" rtl="0" eaLnBrk="0">
              <a:lnSpc>
                <a:spcPct val="113000"/>
              </a:lnSpc>
            </a:pPr>
            <a:endParaRPr lang="en-US" altLang="en-US" sz="700" dirty="0"/>
          </a:p>
          <a:p>
            <a:pPr marL="244475" indent="-232410" algn="l" rtl="0" eaLnBrk="0">
              <a:lnSpc>
                <a:spcPct val="91000"/>
              </a:lnSpc>
              <a:spcBef>
                <a:spcPts val="5"/>
              </a:spcBef>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450" dirty="0">
                <a:solidFill>
                  <a:srgbClr val="000000">
                    <a:alpha val="100000"/>
                  </a:srgbClr>
                </a:solidFill>
                <a:latin typeface="Arial" panose="020B0604020202020204"/>
                <a:ea typeface="Arial" panose="020B0604020202020204"/>
                <a:cs typeface="Arial" panose="020B0604020202020204"/>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指挥机关接到这件公文后，查出盖印章的“五</a:t>
            </a:r>
            <a:r>
              <a:rPr sz="2400" kern="0" spc="-86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”字，得知“</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五</a:t>
            </a:r>
            <a:r>
              <a:rPr sz="2400" kern="0" spc="-80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”字在临时约好的诗中列第九，再对照密码本上的顺序，</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就得知了前方的情报。</a:t>
            </a:r>
            <a:endParaRPr lang="en-US" altLang="en-US" sz="2400" dirty="0"/>
          </a:p>
        </p:txBody>
      </p:sp>
      <p:sp>
        <p:nvSpPr>
          <p:cNvPr id="1049118" name="textbox 238"/>
          <p:cNvSpPr/>
          <p:nvPr/>
        </p:nvSpPr>
        <p:spPr>
          <a:xfrm>
            <a:off x="1623540" y="488157"/>
            <a:ext cx="4403725"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sz="3200" kern="0" spc="-7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中国古代军事密码（续）</a:t>
            </a:r>
            <a:endParaRPr lang="en-US" altLang="en-US" sz="3200" dirty="0"/>
          </a:p>
        </p:txBody>
      </p:sp>
      <p:sp>
        <p:nvSpPr>
          <p:cNvPr id="1049119"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34" name="picture 244"/>
          <p:cNvPicPr>
            <a:picLocks noChangeAspect="1"/>
          </p:cNvPicPr>
          <p:nvPr/>
        </p:nvPicPr>
        <p:blipFill>
          <a:blip r:embed="rId1"/>
          <a:stretch>
            <a:fillRect/>
          </a:stretch>
        </p:blipFill>
        <p:spPr>
          <a:xfrm rot="21600000">
            <a:off x="824483" y="408431"/>
            <a:ext cx="419100" cy="655320"/>
          </a:xfrm>
          <a:prstGeom prst="rect">
            <a:avLst/>
          </a:prstGeom>
        </p:spPr>
      </p:pic>
      <p:sp>
        <p:nvSpPr>
          <p:cNvPr id="1049120"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96" name=""/>
        <p:cNvGrpSpPr/>
        <p:nvPr/>
      </p:nvGrpSpPr>
      <p:grpSpPr>
        <a:xfrm>
          <a:off x="0" y="0"/>
          <a:ext cx="0" cy="0"/>
          <a:chOff x="0" y="0"/>
          <a:chExt cx="0" cy="0"/>
        </a:xfrm>
      </p:grpSpPr>
      <p:sp>
        <p:nvSpPr>
          <p:cNvPr id="1049122" name="textbox 248"/>
          <p:cNvSpPr/>
          <p:nvPr/>
        </p:nvSpPr>
        <p:spPr>
          <a:xfrm>
            <a:off x="919073" y="1514398"/>
            <a:ext cx="10352405" cy="3844290"/>
          </a:xfrm>
          <a:prstGeom prst="rect">
            <a:avLst/>
          </a:prstGeom>
        </p:spPr>
        <p:txBody>
          <a:bodyPr vert="horz" wrap="square" lIns="0" tIns="0" rIns="0" bIns="0"/>
          <a:p>
            <a:pPr algn="l" rtl="0" eaLnBrk="0">
              <a:lnSpc>
                <a:spcPct val="91000"/>
              </a:lnSpc>
            </a:pPr>
            <a:endParaRPr lang="en-US" altLang="en-US" sz="100" dirty="0"/>
          </a:p>
          <a:p>
            <a:pPr marL="12700" algn="l" rtl="0" eaLnBrk="0">
              <a:lnSpc>
                <a:spcPct val="99000"/>
              </a:lnSpc>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500" dirty="0">
                <a:solidFill>
                  <a:srgbClr val="000000">
                    <a:alpha val="100000"/>
                  </a:srgbClr>
                </a:solidFill>
                <a:latin typeface="Arial" panose="020B0604020202020204"/>
                <a:ea typeface="Arial" panose="020B0604020202020204"/>
                <a:cs typeface="Arial" panose="020B0604020202020204"/>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原理：使用汉字的</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“反切”注音方法进行编码</a:t>
            </a:r>
            <a:endParaRPr lang="en-US" altLang="en-US" sz="2400" dirty="0"/>
          </a:p>
          <a:p>
            <a:pPr marL="12700" algn="l" rtl="0" eaLnBrk="0">
              <a:lnSpc>
                <a:spcPct val="100000"/>
              </a:lnSpc>
              <a:spcBef>
                <a:spcPts val="730"/>
              </a:spcBef>
            </a:pPr>
            <a:r>
              <a:rPr sz="2400" kern="0" spc="-100" dirty="0">
                <a:solidFill>
                  <a:srgbClr val="000000">
                    <a:alpha val="100000"/>
                  </a:srgbClr>
                </a:solidFill>
                <a:latin typeface="Arial" panose="020B0604020202020204"/>
                <a:ea typeface="Arial" panose="020B0604020202020204"/>
                <a:cs typeface="Arial" panose="020B0604020202020204"/>
              </a:rPr>
              <a:t>•</a:t>
            </a:r>
            <a:r>
              <a:rPr sz="2400" kern="0" spc="510" dirty="0">
                <a:solidFill>
                  <a:srgbClr val="000000">
                    <a:alpha val="100000"/>
                  </a:srgbClr>
                </a:solidFill>
                <a:latin typeface="Arial" panose="020B0604020202020204"/>
                <a:ea typeface="Arial" panose="020B0604020202020204"/>
                <a:cs typeface="Arial" panose="020B0604020202020204"/>
              </a:rPr>
              <a:t> </a:t>
            </a:r>
            <a:r>
              <a:rPr sz="2400" kern="0" spc="-10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发明人是著名的抗倭将领戚继光</a:t>
            </a:r>
            <a:r>
              <a:rPr sz="2400" kern="0" spc="-1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400" dirty="0"/>
          </a:p>
          <a:p>
            <a:pPr marL="245110" indent="-232410" algn="l" rtl="0" eaLnBrk="0">
              <a:lnSpc>
                <a:spcPct val="91000"/>
              </a:lnSpc>
              <a:spcBef>
                <a:spcPts val="745"/>
              </a:spcBef>
            </a:pPr>
            <a:r>
              <a:rPr sz="2400" kern="0" spc="0" dirty="0">
                <a:solidFill>
                  <a:srgbClr val="FF0000">
                    <a:alpha val="100000"/>
                  </a:srgbClr>
                </a:solidFill>
                <a:latin typeface="Arial" panose="020B0604020202020204"/>
                <a:ea typeface="Arial" panose="020B0604020202020204"/>
                <a:cs typeface="Arial" panose="020B0604020202020204"/>
              </a:rPr>
              <a:t>•</a:t>
            </a:r>
            <a:r>
              <a:rPr sz="2400" kern="0" spc="570" dirty="0">
                <a:solidFill>
                  <a:srgbClr val="FF0000">
                    <a:alpha val="100000"/>
                  </a:srgbClr>
                </a:solidFill>
                <a:latin typeface="Arial" panose="020B0604020202020204"/>
                <a:ea typeface="Arial" panose="020B0604020202020204"/>
                <a:cs typeface="Arial" panose="020B0604020202020204"/>
              </a:rPr>
              <a:t> </a:t>
            </a:r>
            <a:r>
              <a:rPr sz="2400" kern="0" spc="0" dirty="0">
                <a:ln w="8717"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密钥</a:t>
            </a:r>
            <a:r>
              <a:rPr sz="2400" kern="0" spc="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：“柳边求气</a:t>
            </a:r>
            <a:r>
              <a:rPr sz="2400" kern="0" spc="-1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低，波他争日时。莺蒙语出喜，打掌与君知。”“春花</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香，秋山开，嘉宾欢歌须金杯，孤灯光辉烧银</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缸。之东郊，过西桥，鸡声</a:t>
            </a:r>
            <a:r>
              <a:rPr sz="24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0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催初天，奇梅歪遮沟。”</a:t>
            </a:r>
            <a:endParaRPr lang="en-US" altLang="en-US" sz="2400" dirty="0"/>
          </a:p>
          <a:p>
            <a:pPr marL="243840" indent="-231140" algn="l" rtl="0" eaLnBrk="0">
              <a:lnSpc>
                <a:spcPct val="91000"/>
              </a:lnSpc>
              <a:spcBef>
                <a:spcPts val="920"/>
              </a:spcBef>
            </a:pPr>
            <a:r>
              <a:rPr sz="2400" kern="0" spc="10" dirty="0">
                <a:solidFill>
                  <a:srgbClr val="FF0000">
                    <a:alpha val="100000"/>
                  </a:srgbClr>
                </a:solidFill>
                <a:latin typeface="Arial" panose="020B0604020202020204"/>
                <a:ea typeface="Arial" panose="020B0604020202020204"/>
                <a:cs typeface="Arial" panose="020B0604020202020204"/>
              </a:rPr>
              <a:t>•</a:t>
            </a:r>
            <a:r>
              <a:rPr sz="2400" kern="0" spc="450" dirty="0">
                <a:solidFill>
                  <a:srgbClr val="FF0000">
                    <a:alpha val="100000"/>
                  </a:srgbClr>
                </a:solidFill>
                <a:latin typeface="Arial" panose="020B0604020202020204"/>
                <a:ea typeface="Arial" panose="020B0604020202020204"/>
                <a:cs typeface="Arial" panose="020B0604020202020204"/>
              </a:rPr>
              <a:t> </a:t>
            </a:r>
            <a:r>
              <a:rPr sz="2400" kern="0" spc="10" dirty="0">
                <a:ln w="8717"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加密方法</a:t>
            </a:r>
            <a:r>
              <a:rPr sz="2400" kern="0" spc="1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：前一首诗歌的</a:t>
            </a:r>
            <a:r>
              <a:rPr sz="2400" kern="0" spc="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前15个字作为声母，依次编号为1-15；后一首诗</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歌的36字为韵母，按顺序编号为1-36；然后再将当时字音的八种声调，也</a:t>
            </a:r>
            <a:r>
              <a:rPr sz="2400" kern="0" spc="2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按顺序编号为1-8，就编写出完整的“反切码”体系。</a:t>
            </a:r>
            <a:endParaRPr lang="en-US" altLang="en-US" sz="2400" dirty="0"/>
          </a:p>
          <a:p>
            <a:pPr algn="l" rtl="0" eaLnBrk="0">
              <a:lnSpc>
                <a:spcPct val="107000"/>
              </a:lnSpc>
            </a:pPr>
            <a:endParaRPr lang="en-US" altLang="en-US" sz="700" dirty="0"/>
          </a:p>
          <a:p>
            <a:pPr marL="256540" indent="-243840" algn="l" rtl="0" eaLnBrk="0">
              <a:lnSpc>
                <a:spcPct val="92000"/>
              </a:lnSpc>
              <a:spcBef>
                <a:spcPts val="5"/>
              </a:spcBef>
            </a:pPr>
            <a:r>
              <a:rPr sz="2400" kern="0" spc="-50" dirty="0">
                <a:solidFill>
                  <a:srgbClr val="000000">
                    <a:alpha val="100000"/>
                  </a:srgbClr>
                </a:solidFill>
                <a:latin typeface="Arial" panose="020B0604020202020204"/>
                <a:ea typeface="Arial" panose="020B0604020202020204"/>
                <a:cs typeface="Arial" panose="020B0604020202020204"/>
              </a:rPr>
              <a:t>•</a:t>
            </a:r>
            <a:r>
              <a:rPr sz="2400" kern="0" spc="440" dirty="0">
                <a:solidFill>
                  <a:srgbClr val="000000">
                    <a:alpha val="100000"/>
                  </a:srgbClr>
                </a:solidFill>
                <a:latin typeface="Arial" panose="020B0604020202020204"/>
                <a:ea typeface="Arial" panose="020B0604020202020204"/>
                <a:cs typeface="Arial" panose="020B0604020202020204"/>
              </a:rPr>
              <a:t> </a:t>
            </a:r>
            <a:r>
              <a:rPr sz="2400" kern="0" spc="-5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例如：如果密码的编号是“5-25-2”</a:t>
            </a:r>
            <a:r>
              <a:rPr sz="2400" kern="0" spc="-86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5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，5是声母“低</a:t>
            </a:r>
            <a:r>
              <a:rPr sz="2400" kern="0" spc="-6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”字，</a:t>
            </a:r>
            <a:r>
              <a:rPr sz="2400" kern="0" spc="62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6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25是韵母“西”</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字，</a:t>
            </a:r>
            <a:r>
              <a:rPr sz="2400" kern="0" spc="-35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2是声调的二声。据此，“5-25</a:t>
            </a:r>
            <a:r>
              <a:rPr sz="2400" kern="0" spc="-4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-2”就可以读为“敌”字。</a:t>
            </a:r>
            <a:endParaRPr lang="en-US" altLang="en-US" sz="2400" dirty="0"/>
          </a:p>
        </p:txBody>
      </p:sp>
      <p:sp>
        <p:nvSpPr>
          <p:cNvPr id="1049123" name="textbox 250"/>
          <p:cNvSpPr/>
          <p:nvPr/>
        </p:nvSpPr>
        <p:spPr>
          <a:xfrm>
            <a:off x="811783" y="395731"/>
            <a:ext cx="1981835" cy="737234"/>
          </a:xfrm>
          <a:prstGeom prst="rect">
            <a:avLst/>
          </a:prstGeom>
        </p:spPr>
        <p:txBody>
          <a:bodyPr vert="horz" wrap="square" lIns="0" tIns="0" rIns="0" bIns="0"/>
          <a:p>
            <a:pPr algn="l" rtl="0" eaLnBrk="0">
              <a:lnSpc>
                <a:spcPct val="114000"/>
              </a:lnSpc>
            </a:pPr>
            <a:endParaRPr lang="en-US" altLang="en-US" sz="600" dirty="0"/>
          </a:p>
          <a:p>
            <a:pPr marL="431800" algn="l" rtl="0" eaLnBrk="0">
              <a:lnSpc>
                <a:spcPct val="95000"/>
              </a:lnSpc>
              <a:spcBef>
                <a:spcPts val="5"/>
              </a:spcBef>
              <a:tabLst>
                <a:tab pos="773430" algn="l"/>
              </a:tabLst>
            </a:pPr>
            <a:r>
              <a:rPr sz="32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5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反切码</a:t>
            </a:r>
            <a:endParaRPr lang="en-US" altLang="en-US" sz="3200" dirty="0"/>
          </a:p>
        </p:txBody>
      </p:sp>
      <p:pic>
        <p:nvPicPr>
          <p:cNvPr id="2097235" name="picture 252"/>
          <p:cNvPicPr>
            <a:picLocks noChangeAspect="1"/>
          </p:cNvPicPr>
          <p:nvPr/>
        </p:nvPicPr>
        <p:blipFill>
          <a:blip r:embed="rId1"/>
          <a:stretch>
            <a:fillRect/>
          </a:stretch>
        </p:blipFill>
        <p:spPr>
          <a:xfrm rot="21600000">
            <a:off x="824483" y="408431"/>
            <a:ext cx="419100" cy="655320"/>
          </a:xfrm>
          <a:prstGeom prst="rect">
            <a:avLst/>
          </a:prstGeom>
        </p:spPr>
      </p:pic>
      <p:sp>
        <p:nvSpPr>
          <p:cNvPr id="1049124"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
        <p:nvSpPr>
          <p:cNvPr id="1049125" name="rect"/>
          <p:cNvSpPr/>
          <p:nvPr/>
        </p:nvSpPr>
        <p:spPr>
          <a:xfrm>
            <a:off x="1465326" y="1019555"/>
            <a:ext cx="9037573" cy="28956"/>
          </a:xfrm>
          <a:prstGeom prst="rect">
            <a:avLst/>
          </a:prstGeom>
          <a:solidFill>
            <a:srgbClr val="5B9BD5">
              <a:alpha val="100000"/>
            </a:srgbClr>
          </a:solidFill>
          <a:ln cap="flat">
            <a:noFill/>
            <a:prstDash val="solid"/>
            <a:miter lim="0"/>
          </a:ln>
        </p:spPr>
        <p:txBody>
          <a:bodyPr rtlCol="0"/>
          <a:p>
            <a:pPr algn="ct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99" name=""/>
        <p:cNvGrpSpPr/>
        <p:nvPr/>
      </p:nvGrpSpPr>
      <p:grpSpPr>
        <a:xfrm>
          <a:off x="0" y="0"/>
          <a:ext cx="0" cy="0"/>
          <a:chOff x="0" y="0"/>
          <a:chExt cx="0" cy="0"/>
        </a:xfrm>
      </p:grpSpPr>
      <p:grpSp>
        <p:nvGrpSpPr>
          <p:cNvPr id="200" name="group 18"/>
          <p:cNvGrpSpPr/>
          <p:nvPr/>
        </p:nvGrpSpPr>
        <p:grpSpPr>
          <a:xfrm rot="21600000">
            <a:off x="3555491" y="2057400"/>
            <a:ext cx="5708903" cy="812291"/>
            <a:chOff x="0" y="0"/>
            <a:chExt cx="5708903" cy="812291"/>
          </a:xfrm>
        </p:grpSpPr>
        <p:pic>
          <p:nvPicPr>
            <p:cNvPr id="2097236" name="picture 260"/>
            <p:cNvPicPr>
              <a:picLocks noChangeAspect="1"/>
            </p:cNvPicPr>
            <p:nvPr/>
          </p:nvPicPr>
          <p:blipFill>
            <a:blip r:embed="rId1"/>
            <a:stretch>
              <a:fillRect/>
            </a:stretch>
          </p:blipFill>
          <p:spPr>
            <a:xfrm rot="21600000">
              <a:off x="0" y="0"/>
              <a:ext cx="5708903" cy="812291"/>
            </a:xfrm>
            <a:prstGeom prst="rect">
              <a:avLst/>
            </a:prstGeom>
          </p:spPr>
        </p:pic>
        <p:sp>
          <p:nvSpPr>
            <p:cNvPr id="1049127" name="textbox 262"/>
            <p:cNvSpPr/>
            <p:nvPr/>
          </p:nvSpPr>
          <p:spPr>
            <a:xfrm>
              <a:off x="-12700" y="-12700"/>
              <a:ext cx="5734684" cy="877569"/>
            </a:xfrm>
            <a:prstGeom prst="rect">
              <a:avLst/>
            </a:prstGeom>
          </p:spPr>
          <p:txBody>
            <a:bodyPr vert="horz" wrap="square" lIns="0" tIns="0" rIns="0" bIns="0"/>
            <a:p>
              <a:pPr algn="l" rtl="0" eaLnBrk="0">
                <a:lnSpc>
                  <a:spcPct val="168000"/>
                </a:lnSpc>
              </a:pPr>
              <a:endParaRPr lang="en-US" altLang="en-US" sz="1000" dirty="0"/>
            </a:p>
            <a:p>
              <a:pPr marL="718185" algn="l" rtl="0" eaLnBrk="0">
                <a:lnSpc>
                  <a:spcPct val="94000"/>
                </a:lnSpc>
                <a:spcBef>
                  <a:spcPts val="0"/>
                </a:spcBef>
              </a:pPr>
              <a:r>
                <a:rPr sz="2400" kern="0" spc="-6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中国民间艺术</a:t>
              </a:r>
              <a:endParaRPr lang="en-US" altLang="en-US" sz="2400" dirty="0"/>
            </a:p>
          </p:txBody>
        </p:sp>
      </p:grpSp>
      <p:grpSp>
        <p:nvGrpSpPr>
          <p:cNvPr id="201" name="group 20"/>
          <p:cNvGrpSpPr/>
          <p:nvPr/>
        </p:nvGrpSpPr>
        <p:grpSpPr>
          <a:xfrm rot="21600000">
            <a:off x="3756659" y="3221735"/>
            <a:ext cx="5507735" cy="812292"/>
            <a:chOff x="0" y="0"/>
            <a:chExt cx="5507735" cy="812292"/>
          </a:xfrm>
        </p:grpSpPr>
        <p:pic>
          <p:nvPicPr>
            <p:cNvPr id="2097237" name="picture 264"/>
            <p:cNvPicPr>
              <a:picLocks noChangeAspect="1"/>
            </p:cNvPicPr>
            <p:nvPr/>
          </p:nvPicPr>
          <p:blipFill>
            <a:blip r:embed="rId2"/>
            <a:stretch>
              <a:fillRect/>
            </a:stretch>
          </p:blipFill>
          <p:spPr>
            <a:xfrm rot="21600000">
              <a:off x="0" y="0"/>
              <a:ext cx="5507735" cy="812292"/>
            </a:xfrm>
            <a:prstGeom prst="rect">
              <a:avLst/>
            </a:prstGeom>
          </p:spPr>
        </p:pic>
        <p:sp>
          <p:nvSpPr>
            <p:cNvPr id="1049128" name="textbox 266"/>
            <p:cNvSpPr/>
            <p:nvPr/>
          </p:nvSpPr>
          <p:spPr>
            <a:xfrm>
              <a:off x="-12700" y="-12700"/>
              <a:ext cx="5533390" cy="875664"/>
            </a:xfrm>
            <a:prstGeom prst="rect">
              <a:avLst/>
            </a:prstGeom>
          </p:spPr>
          <p:txBody>
            <a:bodyPr vert="horz" wrap="square" lIns="0" tIns="0" rIns="0" bIns="0"/>
            <a:p>
              <a:pPr algn="l" rtl="0" eaLnBrk="0">
                <a:lnSpc>
                  <a:spcPct val="166000"/>
                </a:lnSpc>
              </a:pPr>
              <a:endParaRPr lang="en-US" altLang="en-US" sz="1000" dirty="0"/>
            </a:p>
            <a:p>
              <a:pPr marL="716915" algn="l" rtl="0" eaLnBrk="0">
                <a:lnSpc>
                  <a:spcPct val="94000"/>
                </a:lnSpc>
                <a:spcBef>
                  <a:spcPts val="5"/>
                </a:spcBef>
              </a:pPr>
              <a:r>
                <a:rPr sz="2400" kern="0" spc="-5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中国古代军事密码</a:t>
              </a:r>
              <a:endParaRPr lang="en-US" altLang="en-US" sz="2400" dirty="0"/>
            </a:p>
          </p:txBody>
        </p:sp>
      </p:grpSp>
      <p:grpSp>
        <p:nvGrpSpPr>
          <p:cNvPr id="202" name="group 22"/>
          <p:cNvGrpSpPr/>
          <p:nvPr/>
        </p:nvGrpSpPr>
        <p:grpSpPr>
          <a:xfrm rot="21600000">
            <a:off x="3555491" y="4387596"/>
            <a:ext cx="5708903" cy="813816"/>
            <a:chOff x="0" y="0"/>
            <a:chExt cx="5708903" cy="813816"/>
          </a:xfrm>
        </p:grpSpPr>
        <p:pic>
          <p:nvPicPr>
            <p:cNvPr id="2097238" name="picture 268"/>
            <p:cNvPicPr>
              <a:picLocks noChangeAspect="1"/>
            </p:cNvPicPr>
            <p:nvPr/>
          </p:nvPicPr>
          <p:blipFill>
            <a:blip r:embed="rId3"/>
            <a:stretch>
              <a:fillRect/>
            </a:stretch>
          </p:blipFill>
          <p:spPr>
            <a:xfrm rot="21600000">
              <a:off x="0" y="0"/>
              <a:ext cx="5708903" cy="813816"/>
            </a:xfrm>
            <a:prstGeom prst="rect">
              <a:avLst/>
            </a:prstGeom>
          </p:spPr>
        </p:pic>
        <p:sp>
          <p:nvSpPr>
            <p:cNvPr id="1049129" name="textbox 270"/>
            <p:cNvSpPr/>
            <p:nvPr/>
          </p:nvSpPr>
          <p:spPr>
            <a:xfrm>
              <a:off x="-12700" y="-12700"/>
              <a:ext cx="5734684" cy="879475"/>
            </a:xfrm>
            <a:prstGeom prst="rect">
              <a:avLst/>
            </a:prstGeom>
          </p:spPr>
          <p:txBody>
            <a:bodyPr vert="horz" wrap="square" lIns="0" tIns="0" rIns="0" bIns="0"/>
            <a:p>
              <a:pPr algn="l" rtl="0" eaLnBrk="0">
                <a:lnSpc>
                  <a:spcPct val="168000"/>
                </a:lnSpc>
              </a:pPr>
              <a:endParaRPr lang="en-US" altLang="en-US" sz="1000" dirty="0"/>
            </a:p>
            <a:p>
              <a:pPr algn="l" rtl="0" eaLnBrk="0">
                <a:lnSpc>
                  <a:spcPct val="7000"/>
                </a:lnSpc>
              </a:pPr>
              <a:endParaRPr lang="en-US" altLang="en-US" sz="100" dirty="0"/>
            </a:p>
            <a:p>
              <a:pPr marL="718185" algn="l" rtl="0" eaLnBrk="0">
                <a:lnSpc>
                  <a:spcPct val="94000"/>
                </a:lnSpc>
              </a:pPr>
              <a:r>
                <a:rPr sz="2400" kern="0" spc="-6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中国近代密码</a:t>
              </a:r>
              <a:endParaRPr lang="en-US" altLang="en-US" sz="2400" dirty="0"/>
            </a:p>
          </p:txBody>
        </p:sp>
      </p:grpSp>
      <p:grpSp>
        <p:nvGrpSpPr>
          <p:cNvPr id="203" name="group 24"/>
          <p:cNvGrpSpPr/>
          <p:nvPr/>
        </p:nvGrpSpPr>
        <p:grpSpPr>
          <a:xfrm rot="21600000">
            <a:off x="2564257" y="1351661"/>
            <a:ext cx="1702942" cy="4498352"/>
            <a:chOff x="0" y="0"/>
            <a:chExt cx="1702942" cy="4498352"/>
          </a:xfrm>
        </p:grpSpPr>
        <p:sp>
          <p:nvSpPr>
            <p:cNvPr id="1049130" name="path"/>
            <p:cNvSpPr/>
            <p:nvPr/>
          </p:nvSpPr>
          <p:spPr>
            <a:xfrm>
              <a:off x="0" y="0"/>
              <a:ext cx="1283479" cy="4498352"/>
            </a:xfrm>
            <a:custGeom>
              <a:avLst/>
              <a:gdLst/>
              <a:ahLst/>
              <a:cxnLst/>
              <a:rect l="0" t="0" r="0" b="0"/>
              <a:pathLst>
                <a:path w="2021" h="7084">
                  <a:moveTo>
                    <a:pt x="320" y="4"/>
                  </a:moveTo>
                  <a:cubicBezTo>
                    <a:pt x="2213" y="1448"/>
                    <a:pt x="2577" y="4153"/>
                    <a:pt x="1134" y="6046"/>
                  </a:cubicBezTo>
                  <a:cubicBezTo>
                    <a:pt x="822" y="6455"/>
                    <a:pt x="439" y="6805"/>
                    <a:pt x="4" y="7079"/>
                  </a:cubicBezTo>
                  <a:lnTo>
                    <a:pt x="4" y="7079"/>
                  </a:lnTo>
                  <a:cubicBezTo>
                    <a:pt x="2018" y="5810"/>
                    <a:pt x="2622" y="3148"/>
                    <a:pt x="1353" y="1134"/>
                  </a:cubicBezTo>
                  <a:cubicBezTo>
                    <a:pt x="1079" y="699"/>
                    <a:pt x="729" y="316"/>
                    <a:pt x="320" y="4"/>
                  </a:cubicBezTo>
                </a:path>
              </a:pathLst>
            </a:custGeom>
            <a:noFill/>
            <a:ln w="6096" cap="flat">
              <a:solidFill>
                <a:srgbClr val="477BA9">
                  <a:alpha val="100000"/>
                </a:srgbClr>
              </a:solidFill>
              <a:prstDash val="solid"/>
              <a:miter lim="1000000"/>
            </a:ln>
          </p:spPr>
          <p:txBody>
            <a:bodyPr rtlCol="0"/>
            <a:p>
              <a:pPr algn="ctr"/>
              <a:endParaRPr lang="zh-CN" altLang="en-US"/>
            </a:p>
          </p:txBody>
        </p:sp>
        <p:sp>
          <p:nvSpPr>
            <p:cNvPr id="1049131" name="path"/>
            <p:cNvSpPr/>
            <p:nvPr/>
          </p:nvSpPr>
          <p:spPr>
            <a:xfrm>
              <a:off x="483742" y="603630"/>
              <a:ext cx="1016508" cy="1016508"/>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132" name="path"/>
            <p:cNvSpPr/>
            <p:nvPr/>
          </p:nvSpPr>
          <p:spPr>
            <a:xfrm>
              <a:off x="480694" y="600582"/>
              <a:ext cx="1022604"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9133" name="path"/>
            <p:cNvSpPr/>
            <p:nvPr/>
          </p:nvSpPr>
          <p:spPr>
            <a:xfrm>
              <a:off x="483742" y="2965830"/>
              <a:ext cx="1045463" cy="1016507"/>
            </a:xfrm>
            <a:custGeom>
              <a:avLst/>
              <a:gdLst/>
              <a:ahLst/>
              <a:cxnLst/>
              <a:rect l="0" t="0" r="0" b="0"/>
              <a:pathLst>
                <a:path w="1646" h="1600">
                  <a:moveTo>
                    <a:pt x="0" y="800"/>
                  </a:moveTo>
                  <a:cubicBezTo>
                    <a:pt x="0" y="358"/>
                    <a:pt x="368" y="0"/>
                    <a:pt x="823" y="0"/>
                  </a:cubicBezTo>
                  <a:cubicBezTo>
                    <a:pt x="1277" y="0"/>
                    <a:pt x="1646" y="358"/>
                    <a:pt x="1646" y="800"/>
                  </a:cubicBezTo>
                  <a:cubicBezTo>
                    <a:pt x="1646" y="1242"/>
                    <a:pt x="1277" y="1600"/>
                    <a:pt x="823" y="1600"/>
                  </a:cubicBezTo>
                  <a:cubicBezTo>
                    <a:pt x="36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134" name="path"/>
            <p:cNvSpPr/>
            <p:nvPr/>
          </p:nvSpPr>
          <p:spPr>
            <a:xfrm>
              <a:off x="480694" y="2962782"/>
              <a:ext cx="1051559" cy="1022603"/>
            </a:xfrm>
            <a:custGeom>
              <a:avLst/>
              <a:gdLst/>
              <a:ahLst/>
              <a:cxnLst/>
              <a:rect l="0" t="0" r="0" b="0"/>
              <a:pathLst>
                <a:path w="1655" h="1610">
                  <a:moveTo>
                    <a:pt x="4" y="805"/>
                  </a:moveTo>
                  <a:cubicBezTo>
                    <a:pt x="4" y="363"/>
                    <a:pt x="373" y="4"/>
                    <a:pt x="828" y="4"/>
                  </a:cubicBezTo>
                  <a:cubicBezTo>
                    <a:pt x="1282" y="4"/>
                    <a:pt x="1651" y="363"/>
                    <a:pt x="1651" y="805"/>
                  </a:cubicBezTo>
                  <a:cubicBezTo>
                    <a:pt x="1651" y="1247"/>
                    <a:pt x="1282" y="1605"/>
                    <a:pt x="828" y="1605"/>
                  </a:cubicBezTo>
                  <a:cubicBezTo>
                    <a:pt x="37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9135" name="path"/>
            <p:cNvSpPr/>
            <p:nvPr/>
          </p:nvSpPr>
          <p:spPr>
            <a:xfrm>
              <a:off x="683386" y="1767966"/>
              <a:ext cx="1016508"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136" name="path"/>
            <p:cNvSpPr/>
            <p:nvPr/>
          </p:nvSpPr>
          <p:spPr>
            <a:xfrm>
              <a:off x="680338" y="1764919"/>
              <a:ext cx="1022604"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9137" name="textbox 286"/>
          <p:cNvSpPr/>
          <p:nvPr/>
        </p:nvSpPr>
        <p:spPr>
          <a:xfrm>
            <a:off x="2745896" y="488157"/>
            <a:ext cx="4671059"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sz="3200" kern="0" spc="-8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第二讲</a:t>
            </a:r>
            <a:r>
              <a:rPr sz="3200" kern="0" spc="64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8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中国古代密码艺术</a:t>
            </a:r>
            <a:endParaRPr lang="en-US" altLang="en-US" sz="3200" dirty="0"/>
          </a:p>
        </p:txBody>
      </p:sp>
      <p:pic>
        <p:nvPicPr>
          <p:cNvPr id="2097239" name="picture 290"/>
          <p:cNvPicPr>
            <a:picLocks noChangeAspect="1"/>
          </p:cNvPicPr>
          <p:nvPr/>
        </p:nvPicPr>
        <p:blipFill>
          <a:blip r:embed="rId4"/>
          <a:stretch>
            <a:fillRect/>
          </a:stretch>
        </p:blipFill>
        <p:spPr>
          <a:xfrm rot="21600000">
            <a:off x="824483" y="408431"/>
            <a:ext cx="419100" cy="655320"/>
          </a:xfrm>
          <a:prstGeom prst="rect">
            <a:avLst/>
          </a:prstGeom>
        </p:spPr>
      </p:pic>
      <p:sp>
        <p:nvSpPr>
          <p:cNvPr id="1049138"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206" name=""/>
        <p:cNvGrpSpPr/>
        <p:nvPr/>
      </p:nvGrpSpPr>
      <p:grpSpPr>
        <a:xfrm>
          <a:off x="0" y="0"/>
          <a:ext cx="0" cy="0"/>
          <a:chOff x="0" y="0"/>
          <a:chExt cx="0" cy="0"/>
        </a:xfrm>
      </p:grpSpPr>
      <p:sp>
        <p:nvSpPr>
          <p:cNvPr id="1049140" name="textbox 294"/>
          <p:cNvSpPr/>
          <p:nvPr/>
        </p:nvSpPr>
        <p:spPr>
          <a:xfrm>
            <a:off x="811783" y="-12700"/>
            <a:ext cx="11393169" cy="2474595"/>
          </a:xfrm>
          <a:prstGeom prst="rect">
            <a:avLst/>
          </a:prstGeom>
        </p:spPr>
        <p:txBody>
          <a:bodyPr vert="horz" wrap="square" lIns="0" tIns="0" rIns="0" bIns="0"/>
          <a:p>
            <a:pPr algn="l" rtl="0" eaLnBrk="0">
              <a:lnSpc>
                <a:spcPct val="112000"/>
              </a:lnSpc>
            </a:pPr>
            <a:endParaRPr lang="en-US" altLang="en-US" sz="1000" dirty="0"/>
          </a:p>
          <a:p>
            <a:pPr algn="l" rtl="0" eaLnBrk="0">
              <a:lnSpc>
                <a:spcPct val="113000"/>
              </a:lnSpc>
            </a:pPr>
            <a:endParaRPr lang="en-US" altLang="en-US" sz="1000" dirty="0"/>
          </a:p>
          <a:p>
            <a:pPr algn="l" rtl="0" eaLnBrk="0">
              <a:lnSpc>
                <a:spcPct val="113000"/>
              </a:lnSpc>
            </a:pPr>
            <a:endParaRPr lang="en-US" altLang="en-US" sz="1000" dirty="0"/>
          </a:p>
          <a:p>
            <a:pPr marL="431800" algn="l" rtl="0" eaLnBrk="0">
              <a:lnSpc>
                <a:spcPct val="94000"/>
              </a:lnSpc>
              <a:spcBef>
                <a:spcPts val="0"/>
              </a:spcBef>
              <a:tabLst>
                <a:tab pos="653415" algn="l"/>
                <a:tab pos="9690100" algn="l"/>
              </a:tabLst>
            </a:pPr>
            <a:r>
              <a:rPr sz="32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200" u="sng" kern="0" spc="-24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3200" u="sng" kern="0" spc="-100" dirty="0">
                <a:ln w="11625" cap="flat" cmpd="sng">
                  <a:solidFill>
                    <a:srgbClr val="1F4E79">
                      <a:alpha val="100000"/>
                    </a:srgbClr>
                  </a:solidFill>
                  <a:prstDash val="solid"/>
                  <a:miter lim="10"/>
                </a:ln>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中国近代密码</a:t>
            </a:r>
            <a:r>
              <a:rPr sz="32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3200" kern="0" spc="-10" dirty="0">
                <a:solidFill>
                  <a:srgbClr val="1F4E79">
                    <a:alpha val="100000"/>
                  </a:srgbClr>
                </a:solidFill>
                <a:latin typeface="仿宋" panose="02010609060101010101" charset="-122"/>
                <a:ea typeface="仿宋" panose="02010609060101010101" charset="-122"/>
                <a:cs typeface="仿宋" panose="02010609060101010101" charset="-122"/>
              </a:rPr>
              <a:t>    </a:t>
            </a:r>
            <a:endParaRPr lang="en-US" altLang="en-US" sz="3200" dirty="0"/>
          </a:p>
          <a:p>
            <a:pPr marL="374015" indent="-240030" algn="l" rtl="0" eaLnBrk="0">
              <a:lnSpc>
                <a:spcPct val="102000"/>
              </a:lnSpc>
              <a:spcBef>
                <a:spcPts val="1500"/>
              </a:spcBef>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570" dirty="0">
                <a:solidFill>
                  <a:srgbClr val="000000">
                    <a:alpha val="100000"/>
                  </a:srgbClr>
                </a:solidFill>
                <a:latin typeface="Arial" panose="020B0604020202020204"/>
                <a:ea typeface="Arial" panose="020B0604020202020204"/>
                <a:cs typeface="Arial" panose="020B0604020202020204"/>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密本型：用预先编定的字母或数字密码组，代替明文中的数字</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、字母、音</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节、单字、词汇、短语、符号等，以实现明</a:t>
            </a:r>
            <a:r>
              <a:rPr sz="2400" kern="0" spc="-2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密变换。</a:t>
            </a:r>
            <a:endParaRPr lang="en-US" altLang="en-US" sz="2400" dirty="0"/>
          </a:p>
          <a:p>
            <a:pPr algn="l" rtl="0" eaLnBrk="0">
              <a:lnSpc>
                <a:spcPct val="101000"/>
              </a:lnSpc>
            </a:pPr>
            <a:endParaRPr lang="en-US" altLang="en-US" sz="1200" dirty="0"/>
          </a:p>
          <a:p>
            <a:pPr algn="l" rtl="0" eaLnBrk="0">
              <a:lnSpc>
                <a:spcPct val="6000"/>
              </a:lnSpc>
            </a:pPr>
            <a:endParaRPr lang="en-US" altLang="en-US" sz="100" dirty="0"/>
          </a:p>
          <a:p>
            <a:pPr marL="133985" algn="l" rtl="0" eaLnBrk="0">
              <a:lnSpc>
                <a:spcPct val="100000"/>
              </a:lnSpc>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470" dirty="0">
                <a:solidFill>
                  <a:srgbClr val="000000">
                    <a:alpha val="100000"/>
                  </a:srgbClr>
                </a:solidFill>
                <a:latin typeface="Arial" panose="020B0604020202020204"/>
                <a:ea typeface="Arial" panose="020B0604020202020204"/>
                <a:cs typeface="Arial" panose="020B0604020202020204"/>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汉字6899个，按部首笔画为序排列，以四码数字与其相匹配</a:t>
            </a:r>
            <a:endParaRPr lang="en-US" altLang="en-US" sz="2400" dirty="0"/>
          </a:p>
        </p:txBody>
      </p:sp>
      <p:pic>
        <p:nvPicPr>
          <p:cNvPr id="2097240" name="picture 298"/>
          <p:cNvPicPr>
            <a:picLocks noChangeAspect="1"/>
          </p:cNvPicPr>
          <p:nvPr/>
        </p:nvPicPr>
        <p:blipFill>
          <a:blip r:embed="rId1"/>
          <a:stretch>
            <a:fillRect/>
          </a:stretch>
        </p:blipFill>
        <p:spPr>
          <a:xfrm rot="21600000">
            <a:off x="824483" y="408431"/>
            <a:ext cx="419100" cy="655320"/>
          </a:xfrm>
          <a:prstGeom prst="rect">
            <a:avLst/>
          </a:prstGeom>
        </p:spPr>
      </p:pic>
      <p:sp>
        <p:nvSpPr>
          <p:cNvPr id="1049141" name="textbox 300"/>
          <p:cNvSpPr/>
          <p:nvPr/>
        </p:nvSpPr>
        <p:spPr>
          <a:xfrm>
            <a:off x="933094" y="2601637"/>
            <a:ext cx="9976484" cy="2357754"/>
          </a:xfrm>
          <a:prstGeom prst="rect">
            <a:avLst/>
          </a:prstGeom>
        </p:spPr>
        <p:txBody>
          <a:bodyPr vert="horz" wrap="square" lIns="0" tIns="0" rIns="0" bIns="0"/>
          <a:p>
            <a:pPr algn="l" rtl="0" eaLnBrk="0">
              <a:lnSpc>
                <a:spcPct val="83000"/>
              </a:lnSpc>
            </a:pPr>
            <a:endParaRPr lang="en-US" altLang="en-US" sz="100" dirty="0"/>
          </a:p>
          <a:p>
            <a:pPr marL="12700" algn="l" rtl="0" eaLnBrk="0">
              <a:lnSpc>
                <a:spcPts val="2870"/>
              </a:lnSpc>
            </a:pPr>
            <a:r>
              <a:rPr sz="2300" kern="0" spc="-120" dirty="0">
                <a:solidFill>
                  <a:srgbClr val="000000">
                    <a:alpha val="100000"/>
                  </a:srgbClr>
                </a:solidFill>
                <a:latin typeface="Arial" panose="020B0604020202020204"/>
                <a:ea typeface="Arial" panose="020B0604020202020204"/>
                <a:cs typeface="Arial" panose="020B0604020202020204"/>
              </a:rPr>
              <a:t>•  </a:t>
            </a:r>
            <a:r>
              <a:rPr sz="2300" kern="0" spc="-12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明文：</a:t>
            </a:r>
            <a:r>
              <a:rPr sz="2300" kern="0" spc="80" dirty="0">
                <a:solidFill>
                  <a:srgbClr val="000000">
                    <a:alpha val="100000"/>
                  </a:srgbClr>
                </a:solidFill>
                <a:latin typeface="仿宋" panose="02010609060101010101" charset="-122"/>
                <a:ea typeface="仿宋" panose="02010609060101010101" charset="-122"/>
                <a:cs typeface="仿宋" panose="02010609060101010101" charset="-122"/>
              </a:rPr>
              <a:t>   </a:t>
            </a:r>
            <a:r>
              <a:rPr sz="2300" kern="0" spc="-12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三</a:t>
            </a:r>
            <a:r>
              <a:rPr sz="2300" kern="0" spc="120" dirty="0">
                <a:solidFill>
                  <a:srgbClr val="000000">
                    <a:alpha val="100000"/>
                  </a:srgbClr>
                </a:solidFill>
                <a:latin typeface="仿宋" panose="02010609060101010101" charset="-122"/>
                <a:ea typeface="仿宋" panose="02010609060101010101" charset="-122"/>
                <a:cs typeface="仿宋" panose="02010609060101010101" charset="-122"/>
              </a:rPr>
              <a:t>    </a:t>
            </a:r>
            <a:r>
              <a:rPr sz="2300" kern="0" spc="-12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人</a:t>
            </a:r>
            <a:r>
              <a:rPr sz="2300" kern="0" spc="110" dirty="0">
                <a:solidFill>
                  <a:srgbClr val="000000">
                    <a:alpha val="100000"/>
                  </a:srgbClr>
                </a:solidFill>
                <a:latin typeface="仿宋" panose="02010609060101010101" charset="-122"/>
                <a:ea typeface="仿宋" panose="02010609060101010101" charset="-122"/>
                <a:cs typeface="仿宋" panose="02010609060101010101" charset="-122"/>
              </a:rPr>
              <a:t>    </a:t>
            </a:r>
            <a:r>
              <a:rPr sz="2300" kern="0" spc="-12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之</a:t>
            </a:r>
            <a:r>
              <a:rPr sz="2300" kern="0" spc="-120" dirty="0">
                <a:solidFill>
                  <a:srgbClr val="000000">
                    <a:alpha val="100000"/>
                  </a:srgbClr>
                </a:solidFill>
                <a:latin typeface="仿宋" panose="02010609060101010101" charset="-122"/>
                <a:ea typeface="仿宋" panose="02010609060101010101" charset="-122"/>
                <a:cs typeface="仿宋" panose="02010609060101010101" charset="-122"/>
              </a:rPr>
              <a:t>     </a:t>
            </a:r>
            <a:r>
              <a:rPr sz="2300" kern="0" spc="-12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中</a:t>
            </a:r>
            <a:r>
              <a:rPr sz="2300" kern="0" spc="-120" dirty="0">
                <a:solidFill>
                  <a:srgbClr val="000000">
                    <a:alpha val="100000"/>
                  </a:srgbClr>
                </a:solidFill>
                <a:latin typeface="仿宋" panose="02010609060101010101" charset="-122"/>
                <a:ea typeface="仿宋" panose="02010609060101010101" charset="-122"/>
                <a:cs typeface="仿宋" panose="02010609060101010101" charset="-122"/>
              </a:rPr>
              <a:t>      </a:t>
            </a:r>
            <a:r>
              <a:rPr sz="2300" b="1" kern="0" spc="-120" dirty="0">
                <a:solidFill>
                  <a:srgbClr val="000000">
                    <a:alpha val="100000"/>
                  </a:srgbClr>
                </a:solidFill>
                <a:latin typeface="Arial" panose="020B0604020202020204"/>
                <a:ea typeface="Arial" panose="020B0604020202020204"/>
                <a:cs typeface="Arial" panose="020B0604020202020204"/>
              </a:rPr>
              <a:t>……</a:t>
            </a:r>
            <a:endParaRPr lang="en-US" altLang="en-US" sz="2300" dirty="0"/>
          </a:p>
          <a:p>
            <a:pPr marL="12700" algn="l" rtl="0" eaLnBrk="0">
              <a:lnSpc>
                <a:spcPts val="2895"/>
              </a:lnSpc>
              <a:spcBef>
                <a:spcPts val="1300"/>
              </a:spcBef>
            </a:pPr>
            <a:r>
              <a:rPr sz="2400" kern="0" spc="-80" dirty="0">
                <a:solidFill>
                  <a:srgbClr val="000000">
                    <a:alpha val="100000"/>
                  </a:srgbClr>
                </a:solidFill>
                <a:latin typeface="Arial" panose="020B0604020202020204"/>
                <a:ea typeface="Arial" panose="020B0604020202020204"/>
                <a:cs typeface="Arial" panose="020B0604020202020204"/>
              </a:rPr>
              <a:t>•  </a:t>
            </a:r>
            <a:r>
              <a:rPr sz="2400" kern="0" spc="-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明码：</a:t>
            </a:r>
            <a:r>
              <a:rPr sz="2400" kern="0" spc="-8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0005</a:t>
            </a:r>
            <a:r>
              <a:rPr sz="2400" kern="0" spc="6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0086</a:t>
            </a:r>
            <a:r>
              <a:rPr sz="2400" kern="0" spc="8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0037</a:t>
            </a:r>
            <a:r>
              <a:rPr sz="2400" kern="0" spc="7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0022</a:t>
            </a:r>
            <a:r>
              <a:rPr sz="2400" kern="0" spc="7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80" dirty="0">
                <a:solidFill>
                  <a:srgbClr val="000000">
                    <a:alpha val="100000"/>
                  </a:srgbClr>
                </a:solidFill>
                <a:latin typeface="Arial" panose="020B0604020202020204"/>
                <a:ea typeface="Arial" panose="020B0604020202020204"/>
                <a:cs typeface="Arial" panose="020B0604020202020204"/>
              </a:rPr>
              <a:t>……</a:t>
            </a:r>
            <a:endParaRPr lang="en-US" altLang="en-US" sz="2400" dirty="0"/>
          </a:p>
          <a:p>
            <a:pPr marL="12700" algn="l" rtl="0" eaLnBrk="0">
              <a:lnSpc>
                <a:spcPts val="2905"/>
              </a:lnSpc>
              <a:spcBef>
                <a:spcPts val="1265"/>
              </a:spcBef>
            </a:pPr>
            <a:r>
              <a:rPr sz="2400" kern="0" spc="-90" dirty="0">
                <a:solidFill>
                  <a:srgbClr val="000000">
                    <a:alpha val="100000"/>
                  </a:srgbClr>
                </a:solidFill>
                <a:latin typeface="Arial" panose="020B0604020202020204"/>
                <a:ea typeface="Arial" panose="020B0604020202020204"/>
                <a:cs typeface="Arial" panose="020B0604020202020204"/>
              </a:rPr>
              <a:t>•</a:t>
            </a:r>
            <a:r>
              <a:rPr sz="2400" kern="0" spc="660" dirty="0">
                <a:solidFill>
                  <a:srgbClr val="000000">
                    <a:alpha val="100000"/>
                  </a:srgbClr>
                </a:solidFill>
                <a:latin typeface="Arial" panose="020B0604020202020204"/>
                <a:ea typeface="Arial" panose="020B0604020202020204"/>
                <a:cs typeface="Arial" panose="020B0604020202020204"/>
              </a:rPr>
              <a:t> </a:t>
            </a:r>
            <a:r>
              <a:rPr sz="2400" kern="0" spc="-9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密文：</a:t>
            </a:r>
            <a:r>
              <a:rPr sz="2400" kern="0" spc="-9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9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7970</a:t>
            </a:r>
            <a:r>
              <a:rPr sz="2400" kern="0" spc="6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9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7947</a:t>
            </a:r>
            <a:r>
              <a:rPr sz="2400" kern="0" spc="9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9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7966</a:t>
            </a:r>
            <a:r>
              <a:rPr sz="2400" kern="0" spc="9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9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7981</a:t>
            </a:r>
            <a:r>
              <a:rPr sz="2400" kern="0" spc="7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90" dirty="0">
                <a:solidFill>
                  <a:srgbClr val="000000">
                    <a:alpha val="100000"/>
                  </a:srgbClr>
                </a:solidFill>
                <a:latin typeface="Arial" panose="020B0604020202020204"/>
                <a:ea typeface="Arial" panose="020B0604020202020204"/>
                <a:cs typeface="Arial" panose="020B0604020202020204"/>
              </a:rPr>
              <a:t>……</a:t>
            </a:r>
            <a:endParaRPr lang="en-US" altLang="en-US" sz="2400" dirty="0"/>
          </a:p>
          <a:p>
            <a:pPr algn="l" rtl="0" eaLnBrk="0">
              <a:lnSpc>
                <a:spcPct val="104000"/>
              </a:lnSpc>
            </a:pPr>
            <a:endParaRPr lang="en-US" altLang="en-US" sz="1000" dirty="0"/>
          </a:p>
          <a:p>
            <a:pPr marL="245745" indent="-233680" algn="l" rtl="0" eaLnBrk="0">
              <a:lnSpc>
                <a:spcPct val="102000"/>
              </a:lnSpc>
              <a:spcBef>
                <a:spcPts val="5"/>
              </a:spcBef>
            </a:pPr>
            <a:r>
              <a:rPr sz="2400" kern="0" spc="-50" dirty="0">
                <a:solidFill>
                  <a:srgbClr val="000000">
                    <a:alpha val="100000"/>
                  </a:srgbClr>
                </a:solidFill>
                <a:latin typeface="Arial" panose="020B0604020202020204"/>
                <a:ea typeface="Arial" panose="020B0604020202020204"/>
                <a:cs typeface="Arial" panose="020B0604020202020204"/>
              </a:rPr>
              <a:t>•</a:t>
            </a:r>
            <a:r>
              <a:rPr sz="2400" kern="0" spc="480" dirty="0">
                <a:solidFill>
                  <a:srgbClr val="000000">
                    <a:alpha val="100000"/>
                  </a:srgbClr>
                </a:solidFill>
                <a:latin typeface="Arial" panose="020B0604020202020204"/>
                <a:ea typeface="Arial" panose="020B0604020202020204"/>
                <a:cs typeface="Arial" panose="020B0604020202020204"/>
              </a:rPr>
              <a:t> </a:t>
            </a:r>
            <a:r>
              <a:rPr sz="2400" kern="0" spc="-5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在普通本基础上，密本里编制词汇、短语、句子等，既增加密本的密度，</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又缩短电报长度，称作“特别本</a:t>
            </a:r>
            <a:r>
              <a:rPr sz="2400" kern="0" spc="-86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400" dirty="0"/>
          </a:p>
        </p:txBody>
      </p:sp>
      <p:sp>
        <p:nvSpPr>
          <p:cNvPr id="1049142"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209" name=""/>
        <p:cNvGrpSpPr/>
        <p:nvPr/>
      </p:nvGrpSpPr>
      <p:grpSpPr>
        <a:xfrm>
          <a:off x="0" y="0"/>
          <a:ext cx="0" cy="0"/>
          <a:chOff x="0" y="0"/>
          <a:chExt cx="0" cy="0"/>
        </a:xfrm>
      </p:grpSpPr>
      <p:sp>
        <p:nvSpPr>
          <p:cNvPr id="1049144" name="textbox 304"/>
          <p:cNvSpPr/>
          <p:nvPr/>
        </p:nvSpPr>
        <p:spPr>
          <a:xfrm>
            <a:off x="919073" y="1566214"/>
            <a:ext cx="10041255" cy="4229100"/>
          </a:xfrm>
          <a:prstGeom prst="rect">
            <a:avLst/>
          </a:prstGeom>
        </p:spPr>
        <p:txBody>
          <a:bodyPr vert="horz" wrap="square" lIns="0" tIns="0" rIns="0" bIns="0"/>
          <a:p>
            <a:pPr algn="l" rtl="0" eaLnBrk="0">
              <a:lnSpc>
                <a:spcPct val="81000"/>
              </a:lnSpc>
            </a:pPr>
            <a:endParaRPr lang="en-US" altLang="en-US" sz="100" dirty="0"/>
          </a:p>
          <a:p>
            <a:pPr marL="254000" indent="-241935" algn="l" rtl="0" eaLnBrk="0">
              <a:lnSpc>
                <a:spcPct val="107000"/>
              </a:lnSpc>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450" dirty="0">
                <a:solidFill>
                  <a:srgbClr val="000000">
                    <a:alpha val="100000"/>
                  </a:srgbClr>
                </a:solidFill>
                <a:latin typeface="Arial" panose="020B0604020202020204"/>
                <a:ea typeface="Arial" panose="020B0604020202020204"/>
                <a:cs typeface="Arial" panose="020B0604020202020204"/>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加乱型：用有限元</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素(字母或数码)组成的一串序列作为乱数，按规定的算</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法，与明文信息序列相结合变成密信息。如：</a:t>
            </a:r>
            <a:endParaRPr lang="en-US" altLang="en-US" sz="2400" dirty="0"/>
          </a:p>
          <a:p>
            <a:pPr marL="12700" algn="l" rtl="0" eaLnBrk="0">
              <a:lnSpc>
                <a:spcPts val="2850"/>
              </a:lnSpc>
              <a:spcBef>
                <a:spcPts val="1750"/>
              </a:spcBef>
            </a:pPr>
            <a:r>
              <a:rPr sz="2200" kern="0" spc="-70" dirty="0">
                <a:solidFill>
                  <a:srgbClr val="000000">
                    <a:alpha val="100000"/>
                  </a:srgbClr>
                </a:solidFill>
                <a:latin typeface="Arial" panose="020B0604020202020204"/>
                <a:ea typeface="Arial" panose="020B0604020202020204"/>
                <a:cs typeface="Arial" panose="020B0604020202020204"/>
              </a:rPr>
              <a:t>•  </a:t>
            </a:r>
            <a:r>
              <a:rPr sz="22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明码：</a:t>
            </a:r>
            <a:r>
              <a:rPr sz="2200" kern="0" spc="-70" dirty="0">
                <a:solidFill>
                  <a:srgbClr val="000000">
                    <a:alpha val="100000"/>
                  </a:srgbClr>
                </a:solidFill>
                <a:latin typeface="仿宋" panose="02010609060101010101" charset="-122"/>
                <a:ea typeface="仿宋" panose="02010609060101010101" charset="-122"/>
                <a:cs typeface="仿宋" panose="02010609060101010101" charset="-122"/>
              </a:rPr>
              <a:t>     </a:t>
            </a:r>
            <a:r>
              <a:rPr sz="22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中</a:t>
            </a:r>
            <a:r>
              <a:rPr sz="2200" kern="0" spc="-70" dirty="0">
                <a:solidFill>
                  <a:srgbClr val="000000">
                    <a:alpha val="100000"/>
                  </a:srgbClr>
                </a:solidFill>
                <a:latin typeface="仿宋" panose="02010609060101010101" charset="-122"/>
                <a:ea typeface="仿宋" panose="02010609060101010101" charset="-122"/>
                <a:cs typeface="仿宋" panose="02010609060101010101" charset="-122"/>
              </a:rPr>
              <a:t>     </a:t>
            </a:r>
            <a:r>
              <a:rPr sz="2200" kern="0" spc="-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国</a:t>
            </a:r>
            <a:r>
              <a:rPr sz="2200" kern="0" spc="-80" dirty="0">
                <a:solidFill>
                  <a:srgbClr val="000000">
                    <a:alpha val="100000"/>
                  </a:srgbClr>
                </a:solidFill>
                <a:latin typeface="仿宋" panose="02010609060101010101" charset="-122"/>
                <a:ea typeface="仿宋" panose="02010609060101010101" charset="-122"/>
                <a:cs typeface="仿宋" panose="02010609060101010101" charset="-122"/>
              </a:rPr>
              <a:t>     </a:t>
            </a:r>
            <a:r>
              <a:rPr sz="2200" kern="0" spc="-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人</a:t>
            </a:r>
            <a:r>
              <a:rPr sz="2200" kern="0" spc="-80" dirty="0">
                <a:solidFill>
                  <a:srgbClr val="000000">
                    <a:alpha val="100000"/>
                  </a:srgbClr>
                </a:solidFill>
                <a:latin typeface="仿宋" panose="02010609060101010101" charset="-122"/>
                <a:ea typeface="仿宋" panose="02010609060101010101" charset="-122"/>
                <a:cs typeface="仿宋" panose="02010609060101010101" charset="-122"/>
              </a:rPr>
              <a:t>     </a:t>
            </a:r>
            <a:r>
              <a:rPr sz="2200" kern="0" spc="-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民</a:t>
            </a:r>
            <a:r>
              <a:rPr sz="2200" kern="0" spc="160" dirty="0">
                <a:solidFill>
                  <a:srgbClr val="000000">
                    <a:alpha val="100000"/>
                  </a:srgbClr>
                </a:solidFill>
                <a:latin typeface="仿宋" panose="02010609060101010101" charset="-122"/>
                <a:ea typeface="仿宋" panose="02010609060101010101" charset="-122"/>
                <a:cs typeface="仿宋" panose="02010609060101010101" charset="-122"/>
              </a:rPr>
              <a:t>     </a:t>
            </a:r>
            <a:r>
              <a:rPr sz="2200" b="1" kern="0" spc="-80" dirty="0">
                <a:solidFill>
                  <a:srgbClr val="000000">
                    <a:alpha val="100000"/>
                  </a:srgbClr>
                </a:solidFill>
                <a:latin typeface="Arial" panose="020B0604020202020204"/>
                <a:ea typeface="Arial" panose="020B0604020202020204"/>
                <a:cs typeface="Arial" panose="020B0604020202020204"/>
              </a:rPr>
              <a:t>……</a:t>
            </a:r>
            <a:endParaRPr lang="en-US" altLang="en-US" sz="2200" dirty="0"/>
          </a:p>
          <a:p>
            <a:pPr marL="12700" algn="l" rtl="0" eaLnBrk="0">
              <a:lnSpc>
                <a:spcPct val="98000"/>
              </a:lnSpc>
              <a:spcBef>
                <a:spcPts val="1910"/>
              </a:spcBef>
            </a:pPr>
            <a:r>
              <a:rPr sz="2400" kern="0" spc="-20" dirty="0">
                <a:solidFill>
                  <a:srgbClr val="000000">
                    <a:alpha val="100000"/>
                  </a:srgbClr>
                </a:solidFill>
                <a:latin typeface="Arial" panose="020B0604020202020204"/>
                <a:ea typeface="Arial" panose="020B0604020202020204"/>
                <a:cs typeface="Arial" panose="020B0604020202020204"/>
              </a:rPr>
              <a:t>•</a:t>
            </a:r>
            <a:r>
              <a:rPr sz="2400" kern="0" spc="10" dirty="0">
                <a:solidFill>
                  <a:srgbClr val="000000">
                    <a:alpha val="100000"/>
                  </a:srgbClr>
                </a:solidFill>
                <a:latin typeface="Arial" panose="020B0604020202020204"/>
                <a:ea typeface="Arial" panose="020B0604020202020204"/>
                <a:cs typeface="Arial" panose="020B0604020202020204"/>
              </a:rPr>
              <a:t>            </a:t>
            </a:r>
            <a:r>
              <a:rPr sz="2400" kern="0" spc="0" dirty="0">
                <a:solidFill>
                  <a:srgbClr val="000000">
                    <a:alpha val="100000"/>
                  </a:srgbClr>
                </a:solidFill>
                <a:latin typeface="Arial" panose="020B0604020202020204"/>
                <a:ea typeface="Arial" panose="020B0604020202020204"/>
                <a:cs typeface="Arial" panose="020B0604020202020204"/>
              </a:rPr>
              <a:t>    </a:t>
            </a:r>
            <a:r>
              <a:rPr sz="2400" kern="0" spc="-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0022</a:t>
            </a:r>
            <a:r>
              <a:rPr sz="2400" kern="0" spc="-2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0948</a:t>
            </a:r>
            <a:r>
              <a:rPr sz="2400" kern="0" spc="6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0086</a:t>
            </a:r>
            <a:r>
              <a:rPr sz="2400" kern="0" spc="8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3046</a:t>
            </a:r>
            <a:r>
              <a:rPr sz="2400" kern="0" spc="1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20" dirty="0">
                <a:solidFill>
                  <a:srgbClr val="000000">
                    <a:alpha val="100000"/>
                  </a:srgbClr>
                </a:solidFill>
                <a:latin typeface="Arial" panose="020B0604020202020204"/>
                <a:ea typeface="Arial" panose="020B0604020202020204"/>
                <a:cs typeface="Arial" panose="020B0604020202020204"/>
              </a:rPr>
              <a:t>……</a:t>
            </a:r>
            <a:endParaRPr lang="en-US" altLang="en-US" sz="2400" dirty="0"/>
          </a:p>
          <a:p>
            <a:pPr marL="12700" algn="l" rtl="0" eaLnBrk="0">
              <a:lnSpc>
                <a:spcPct val="100000"/>
              </a:lnSpc>
              <a:spcBef>
                <a:spcPts val="1340"/>
              </a:spcBef>
            </a:pPr>
            <a:r>
              <a:rPr sz="2400" kern="0" spc="-70" dirty="0">
                <a:solidFill>
                  <a:srgbClr val="000000">
                    <a:alpha val="100000"/>
                  </a:srgbClr>
                </a:solidFill>
                <a:latin typeface="Arial" panose="020B0604020202020204"/>
                <a:ea typeface="Arial" panose="020B0604020202020204"/>
                <a:cs typeface="Arial" panose="020B0604020202020204"/>
              </a:rPr>
              <a:t>•</a:t>
            </a:r>
            <a:r>
              <a:rPr sz="2400" kern="0" spc="460" dirty="0">
                <a:solidFill>
                  <a:srgbClr val="000000">
                    <a:alpha val="100000"/>
                  </a:srgbClr>
                </a:solidFill>
                <a:latin typeface="Arial" panose="020B0604020202020204"/>
                <a:ea typeface="Arial" panose="020B0604020202020204"/>
                <a:cs typeface="Arial" panose="020B0604020202020204"/>
              </a:rPr>
              <a:t> </a:t>
            </a:r>
            <a:r>
              <a:rPr sz="24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乱数：</a:t>
            </a:r>
            <a:r>
              <a:rPr sz="2400" kern="0" spc="-7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2901</a:t>
            </a:r>
            <a:r>
              <a:rPr sz="2400" kern="0" spc="4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4561</a:t>
            </a:r>
            <a:r>
              <a:rPr sz="2400" kern="0" spc="6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8265</a:t>
            </a:r>
            <a:r>
              <a:rPr sz="2400" kern="0" spc="8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7039</a:t>
            </a:r>
            <a:r>
              <a:rPr sz="2400" kern="0" spc="1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70" dirty="0">
                <a:solidFill>
                  <a:srgbClr val="000000">
                    <a:alpha val="100000"/>
                  </a:srgbClr>
                </a:solidFill>
                <a:latin typeface="Arial" panose="020B0604020202020204"/>
                <a:ea typeface="Arial" panose="020B0604020202020204"/>
                <a:cs typeface="Arial" panose="020B0604020202020204"/>
              </a:rPr>
              <a:t>…</a:t>
            </a:r>
            <a:r>
              <a:rPr sz="2400" b="1" kern="0" spc="-80" dirty="0">
                <a:solidFill>
                  <a:srgbClr val="000000">
                    <a:alpha val="100000"/>
                  </a:srgbClr>
                </a:solidFill>
                <a:latin typeface="Arial" panose="020B0604020202020204"/>
                <a:ea typeface="Arial" panose="020B0604020202020204"/>
                <a:cs typeface="Arial" panose="020B0604020202020204"/>
              </a:rPr>
              <a:t>…</a:t>
            </a:r>
            <a:endParaRPr lang="en-US" altLang="en-US" sz="2400" dirty="0"/>
          </a:p>
          <a:p>
            <a:pPr marL="12700" algn="l" rtl="0" eaLnBrk="0">
              <a:lnSpc>
                <a:spcPts val="2905"/>
              </a:lnSpc>
              <a:spcBef>
                <a:spcPts val="1565"/>
              </a:spcBef>
            </a:pPr>
            <a:r>
              <a:rPr sz="2400" kern="0" spc="-70" dirty="0">
                <a:solidFill>
                  <a:srgbClr val="000000">
                    <a:alpha val="100000"/>
                  </a:srgbClr>
                </a:solidFill>
                <a:latin typeface="Arial" panose="020B0604020202020204"/>
                <a:ea typeface="Arial" panose="020B0604020202020204"/>
                <a:cs typeface="Arial" panose="020B0604020202020204"/>
              </a:rPr>
              <a:t>•</a:t>
            </a:r>
            <a:r>
              <a:rPr sz="2400" kern="0" spc="570" dirty="0">
                <a:solidFill>
                  <a:srgbClr val="000000">
                    <a:alpha val="100000"/>
                  </a:srgbClr>
                </a:solidFill>
                <a:latin typeface="Arial" panose="020B0604020202020204"/>
                <a:ea typeface="Arial" panose="020B0604020202020204"/>
                <a:cs typeface="Arial" panose="020B0604020202020204"/>
              </a:rPr>
              <a:t> </a:t>
            </a:r>
            <a:r>
              <a:rPr sz="24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密文：</a:t>
            </a:r>
            <a:r>
              <a:rPr sz="2400" kern="0" spc="-7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2923</a:t>
            </a:r>
            <a:r>
              <a:rPr sz="2400" kern="0" spc="4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4409</a:t>
            </a:r>
            <a:r>
              <a:rPr sz="2400" kern="0" spc="6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8</a:t>
            </a:r>
            <a:r>
              <a:rPr sz="2400" kern="0" spc="-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241</a:t>
            </a:r>
            <a:r>
              <a:rPr sz="2400" kern="0" spc="7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0075</a:t>
            </a:r>
            <a:r>
              <a:rPr sz="2400" kern="0" spc="1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b="1" kern="0" spc="-80" dirty="0">
                <a:solidFill>
                  <a:srgbClr val="000000">
                    <a:alpha val="100000"/>
                  </a:srgbClr>
                </a:solidFill>
                <a:latin typeface="Arial" panose="020B0604020202020204"/>
                <a:ea typeface="Arial" panose="020B0604020202020204"/>
                <a:cs typeface="Arial" panose="020B0604020202020204"/>
              </a:rPr>
              <a:t>……</a:t>
            </a:r>
            <a:endParaRPr lang="en-US" altLang="en-US" sz="2400" dirty="0"/>
          </a:p>
          <a:p>
            <a:pPr marL="12700" algn="l" rtl="0" eaLnBrk="0">
              <a:lnSpc>
                <a:spcPts val="2900"/>
              </a:lnSpc>
              <a:spcBef>
                <a:spcPts val="1555"/>
              </a:spcBef>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350" dirty="0">
                <a:solidFill>
                  <a:srgbClr val="000000">
                    <a:alpha val="100000"/>
                  </a:srgbClr>
                </a:solidFill>
                <a:latin typeface="Arial" panose="020B0604020202020204"/>
                <a:ea typeface="Arial" panose="020B0604020202020204"/>
                <a:cs typeface="Arial" panose="020B0604020202020204"/>
              </a:rPr>
              <a:t> </a:t>
            </a:r>
            <a:r>
              <a:rPr sz="2400" kern="0" spc="-1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C1(密)＝M1(明)＋K1(乱)</a:t>
            </a:r>
            <a:r>
              <a:rPr sz="2400" kern="0" spc="26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r>
              <a:rPr sz="2400" kern="0" spc="-2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mod</a:t>
            </a:r>
            <a:r>
              <a:rPr sz="2400" kern="0" spc="-2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2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hlinkClick r:id="rId1" action="ppaction://hlinksldjump"/>
              </a:rPr>
              <a:t>10)</a:t>
            </a:r>
            <a:endParaRPr lang="en-US" altLang="en-US" sz="2400" dirty="0"/>
          </a:p>
          <a:p>
            <a:pPr algn="l" rtl="0" eaLnBrk="0">
              <a:lnSpc>
                <a:spcPct val="108000"/>
              </a:lnSpc>
            </a:pPr>
            <a:endParaRPr lang="en-US" altLang="en-US" sz="1200" dirty="0"/>
          </a:p>
          <a:p>
            <a:pPr marL="12700" algn="l" rtl="0" eaLnBrk="0">
              <a:lnSpc>
                <a:spcPts val="2895"/>
              </a:lnSpc>
              <a:spcBef>
                <a:spcPts val="0"/>
              </a:spcBef>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300" dirty="0">
                <a:solidFill>
                  <a:srgbClr val="000000">
                    <a:alpha val="100000"/>
                  </a:srgbClr>
                </a:solidFill>
                <a:latin typeface="Arial" panose="020B0604020202020204"/>
                <a:ea typeface="Arial" panose="020B0604020202020204"/>
                <a:cs typeface="Arial" panose="020B0604020202020204"/>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M1(明)＝C1(密)－K1(乱)</a:t>
            </a:r>
            <a:r>
              <a:rPr sz="2400" kern="0" spc="26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(mod</a:t>
            </a:r>
            <a:r>
              <a:rPr sz="24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hlinkClick r:id="rId1" action="ppaction://hlinksldjump"/>
              </a:rPr>
              <a:t>10)</a:t>
            </a:r>
            <a:endParaRPr lang="en-US" altLang="en-US" sz="2400" dirty="0"/>
          </a:p>
        </p:txBody>
      </p:sp>
      <p:sp>
        <p:nvSpPr>
          <p:cNvPr id="1049145" name="textbox 306"/>
          <p:cNvSpPr/>
          <p:nvPr/>
        </p:nvSpPr>
        <p:spPr>
          <a:xfrm>
            <a:off x="1623540" y="488157"/>
            <a:ext cx="2392679" cy="485775"/>
          </a:xfrm>
          <a:prstGeom prst="rect">
            <a:avLst/>
          </a:prstGeom>
        </p:spPr>
        <p:txBody>
          <a:bodyPr vert="horz" wrap="square" lIns="0" tIns="0" rIns="0" bIns="0"/>
          <a:p>
            <a:pPr algn="l" rtl="0" eaLnBrk="0">
              <a:lnSpc>
                <a:spcPct val="94000"/>
              </a:lnSpc>
            </a:pPr>
            <a:endParaRPr lang="en-US" altLang="en-US" sz="100" dirty="0"/>
          </a:p>
          <a:p>
            <a:pPr marL="12700" algn="l" rtl="0" eaLnBrk="0">
              <a:lnSpc>
                <a:spcPct val="94000"/>
              </a:lnSpc>
            </a:pPr>
            <a:r>
              <a:rPr sz="3200" kern="0" spc="-10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中国近代密码</a:t>
            </a:r>
            <a:endParaRPr lang="en-US" altLang="en-US" sz="3200" dirty="0"/>
          </a:p>
        </p:txBody>
      </p:sp>
      <p:sp>
        <p:nvSpPr>
          <p:cNvPr id="1049146"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241" name="picture 312"/>
          <p:cNvPicPr>
            <a:picLocks noChangeAspect="1"/>
          </p:cNvPicPr>
          <p:nvPr/>
        </p:nvPicPr>
        <p:blipFill>
          <a:blip r:embed="rId2"/>
          <a:stretch>
            <a:fillRect/>
          </a:stretch>
        </p:blipFill>
        <p:spPr>
          <a:xfrm rot="21600000">
            <a:off x="824483" y="408431"/>
            <a:ext cx="419100" cy="655320"/>
          </a:xfrm>
          <a:prstGeom prst="rect">
            <a:avLst/>
          </a:prstGeom>
        </p:spPr>
      </p:pic>
      <p:sp>
        <p:nvSpPr>
          <p:cNvPr id="1049147"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212" name=""/>
        <p:cNvGrpSpPr/>
        <p:nvPr/>
      </p:nvGrpSpPr>
      <p:grpSpPr>
        <a:xfrm>
          <a:off x="0" y="0"/>
          <a:ext cx="0" cy="0"/>
          <a:chOff x="0" y="0"/>
          <a:chExt cx="0" cy="0"/>
        </a:xfrm>
      </p:grpSpPr>
      <p:sp>
        <p:nvSpPr>
          <p:cNvPr id="1049149" name="rect"/>
          <p:cNvSpPr/>
          <p:nvPr/>
        </p:nvSpPr>
        <p:spPr>
          <a:xfrm>
            <a:off x="588263" y="408432"/>
            <a:ext cx="10460735" cy="608076"/>
          </a:xfrm>
          <a:prstGeom prst="rect">
            <a:avLst/>
          </a:prstGeom>
          <a:solidFill>
            <a:srgbClr val="D4E4F3">
              <a:alpha val="100000"/>
            </a:srgbClr>
          </a:solidFill>
          <a:ln cap="flat">
            <a:noFill/>
            <a:prstDash val="solid"/>
            <a:miter lim="0"/>
          </a:ln>
        </p:spPr>
        <p:txBody>
          <a:bodyPr rtlCol="0"/>
          <a:p>
            <a:pPr algn="ctr"/>
            <a:endParaRPr lang="zh-CN" altLang="en-US"/>
          </a:p>
        </p:txBody>
      </p:sp>
      <p:sp>
        <p:nvSpPr>
          <p:cNvPr id="1049150" name="textbox 4"/>
          <p:cNvSpPr/>
          <p:nvPr/>
        </p:nvSpPr>
        <p:spPr>
          <a:xfrm>
            <a:off x="3503980" y="3207969"/>
            <a:ext cx="5235575" cy="539115"/>
          </a:xfrm>
          <a:prstGeom prst="rect">
            <a:avLst/>
          </a:prstGeom>
        </p:spPr>
        <p:txBody>
          <a:bodyPr vert="horz" wrap="square" lIns="0" tIns="0" rIns="0" bIns="0"/>
          <a:p>
            <a:pPr algn="l" rtl="0" eaLnBrk="0">
              <a:lnSpc>
                <a:spcPct val="68000"/>
              </a:lnSpc>
            </a:pPr>
            <a:endParaRPr lang="en-US" altLang="en-US" sz="100" dirty="0"/>
          </a:p>
          <a:p>
            <a:pPr marL="12700" algn="l" rtl="0" eaLnBrk="0">
              <a:lnSpc>
                <a:spcPct val="94000"/>
              </a:lnSpc>
            </a:pPr>
            <a:r>
              <a:rPr sz="3600" kern="0" spc="-30" dirty="0">
                <a:solidFill>
                  <a:srgbClr val="000000">
                    <a:alpha val="100000"/>
                  </a:srgbClr>
                </a:solidFill>
                <a:latin typeface="仿宋" panose="02010609060101010101" charset="-122"/>
                <a:ea typeface="仿宋" panose="02010609060101010101" charset="-122"/>
                <a:cs typeface="仿宋" panose="02010609060101010101" charset="-122"/>
              </a:rPr>
              <a:t>第三讲</a:t>
            </a:r>
            <a:r>
              <a:rPr sz="3600" kern="0" spc="-30" dirty="0">
                <a:solidFill>
                  <a:srgbClr val="000000">
                    <a:alpha val="100000"/>
                  </a:srgbClr>
                </a:solidFill>
                <a:latin typeface="仿宋" panose="02010609060101010101" charset="-122"/>
                <a:ea typeface="仿宋" panose="02010609060101010101" charset="-122"/>
                <a:cs typeface="仿宋" panose="02010609060101010101" charset="-122"/>
              </a:rPr>
              <a:t> </a:t>
            </a:r>
            <a:r>
              <a:rPr sz="3600" kern="0" spc="-30" dirty="0">
                <a:solidFill>
                  <a:srgbClr val="000000">
                    <a:alpha val="100000"/>
                  </a:srgbClr>
                </a:solidFill>
                <a:latin typeface="仿宋" panose="02010609060101010101" charset="-122"/>
                <a:ea typeface="仿宋" panose="02010609060101010101" charset="-122"/>
                <a:cs typeface="仿宋" panose="02010609060101010101" charset="-122"/>
              </a:rPr>
              <a:t>外国古代密码艺术</a:t>
            </a:r>
            <a:endParaRPr lang="en-US" altLang="en-US" sz="3600" dirty="0"/>
          </a:p>
        </p:txBody>
      </p:sp>
      <p:sp>
        <p:nvSpPr>
          <p:cNvPr id="1049151" name="path"/>
          <p:cNvSpPr/>
          <p:nvPr/>
        </p:nvSpPr>
        <p:spPr>
          <a:xfrm>
            <a:off x="694181" y="6236208"/>
            <a:ext cx="10779125" cy="28955"/>
          </a:xfrm>
          <a:custGeom>
            <a:avLst/>
            <a:gdLst/>
            <a:ahLst/>
            <a:cxnLst/>
            <a:rect l="0" t="0" r="0" b="0"/>
            <a:pathLst>
              <a:path w="16975" h="45">
                <a:moveTo>
                  <a:pt x="0" y="22"/>
                </a:moveTo>
                <a:lnTo>
                  <a:pt x="16975" y="22"/>
                </a:lnTo>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213" name=""/>
        <p:cNvGrpSpPr/>
        <p:nvPr/>
      </p:nvGrpSpPr>
      <p:grpSpPr>
        <a:xfrm>
          <a:off x="0" y="0"/>
          <a:ext cx="0" cy="0"/>
          <a:chOff x="0" y="0"/>
          <a:chExt cx="0" cy="0"/>
        </a:xfrm>
      </p:grpSpPr>
      <p:sp>
        <p:nvSpPr>
          <p:cNvPr id="1049152" name="path"/>
          <p:cNvSpPr/>
          <p:nvPr/>
        </p:nvSpPr>
        <p:spPr>
          <a:xfrm>
            <a:off x="2903347" y="1351661"/>
            <a:ext cx="1141442" cy="4402111"/>
          </a:xfrm>
          <a:custGeom>
            <a:avLst/>
            <a:gdLst/>
            <a:ahLst/>
            <a:cxnLst/>
            <a:rect l="0" t="0" r="0" b="0"/>
            <a:pathLst>
              <a:path w="1797" h="6932">
                <a:moveTo>
                  <a:pt x="96" y="4"/>
                </a:moveTo>
                <a:cubicBezTo>
                  <a:pt x="1988" y="1448"/>
                  <a:pt x="2353" y="4153"/>
                  <a:pt x="909" y="6046"/>
                </a:cubicBezTo>
                <a:cubicBezTo>
                  <a:pt x="653" y="6382"/>
                  <a:pt x="348" y="6679"/>
                  <a:pt x="4" y="6927"/>
                </a:cubicBezTo>
                <a:lnTo>
                  <a:pt x="4" y="6927"/>
                </a:lnTo>
                <a:cubicBezTo>
                  <a:pt x="1934" y="5534"/>
                  <a:pt x="2370" y="2840"/>
                  <a:pt x="977" y="909"/>
                </a:cubicBezTo>
                <a:cubicBezTo>
                  <a:pt x="730" y="566"/>
                  <a:pt x="433" y="261"/>
                  <a:pt x="96" y="4"/>
                </a:cubicBezTo>
              </a:path>
            </a:pathLst>
          </a:custGeom>
          <a:noFill/>
          <a:ln w="6096" cap="flat">
            <a:solidFill>
              <a:srgbClr val="477BA9">
                <a:alpha val="100000"/>
              </a:srgbClr>
            </a:solidFill>
            <a:prstDash val="solid"/>
            <a:miter lim="1000000"/>
          </a:ln>
        </p:spPr>
        <p:txBody>
          <a:bodyPr rtlCol="0"/>
          <a:p>
            <a:pPr algn="ctr"/>
            <a:endParaRPr lang="zh-CN" altLang="en-US"/>
          </a:p>
        </p:txBody>
      </p:sp>
      <p:pic>
        <p:nvPicPr>
          <p:cNvPr id="2097242" name="picture 16"/>
          <p:cNvPicPr>
            <a:picLocks noChangeAspect="1"/>
          </p:cNvPicPr>
          <p:nvPr/>
        </p:nvPicPr>
        <p:blipFill>
          <a:blip r:embed="rId1"/>
          <a:stretch>
            <a:fillRect/>
          </a:stretch>
        </p:blipFill>
        <p:spPr>
          <a:xfrm rot="21600000">
            <a:off x="3707891" y="1828800"/>
            <a:ext cx="5635751" cy="812291"/>
          </a:xfrm>
          <a:prstGeom prst="rect">
            <a:avLst/>
          </a:prstGeom>
        </p:spPr>
      </p:pic>
      <p:pic>
        <p:nvPicPr>
          <p:cNvPr id="2097243" name="picture 18"/>
          <p:cNvPicPr>
            <a:picLocks noChangeAspect="1"/>
          </p:cNvPicPr>
          <p:nvPr/>
        </p:nvPicPr>
        <p:blipFill>
          <a:blip r:embed="rId2"/>
          <a:stretch>
            <a:fillRect/>
          </a:stretch>
        </p:blipFill>
        <p:spPr>
          <a:xfrm rot="21600000">
            <a:off x="3756659" y="4343400"/>
            <a:ext cx="5586983" cy="812292"/>
          </a:xfrm>
          <a:prstGeom prst="rect">
            <a:avLst/>
          </a:prstGeom>
        </p:spPr>
      </p:pic>
      <p:pic>
        <p:nvPicPr>
          <p:cNvPr id="2097244" name="picture 20"/>
          <p:cNvPicPr>
            <a:picLocks noChangeAspect="1"/>
          </p:cNvPicPr>
          <p:nvPr/>
        </p:nvPicPr>
        <p:blipFill>
          <a:blip r:embed="rId3"/>
          <a:stretch>
            <a:fillRect/>
          </a:stretch>
        </p:blipFill>
        <p:spPr>
          <a:xfrm rot="21600000">
            <a:off x="3988308" y="3086100"/>
            <a:ext cx="5355335" cy="812292"/>
          </a:xfrm>
          <a:prstGeom prst="rect">
            <a:avLst/>
          </a:prstGeom>
        </p:spPr>
      </p:pic>
      <p:sp>
        <p:nvSpPr>
          <p:cNvPr id="1049153" name="textbox 22"/>
          <p:cNvSpPr/>
          <p:nvPr/>
        </p:nvSpPr>
        <p:spPr>
          <a:xfrm>
            <a:off x="3463544" y="2968244"/>
            <a:ext cx="2605404" cy="1091564"/>
          </a:xfrm>
          <a:prstGeom prst="rect">
            <a:avLst/>
          </a:prstGeom>
        </p:spPr>
        <p:txBody>
          <a:bodyPr vert="horz" wrap="square" lIns="0" tIns="0" rIns="0" bIns="0"/>
          <a:p>
            <a:pPr algn="l" rtl="0" eaLnBrk="0">
              <a:lnSpc>
                <a:spcPct val="109000"/>
              </a:lnSpc>
            </a:pPr>
            <a:endParaRPr lang="en-US" altLang="en-US" sz="1000" dirty="0"/>
          </a:p>
          <a:p>
            <a:pPr algn="l" rtl="0" eaLnBrk="0">
              <a:lnSpc>
                <a:spcPct val="109000"/>
              </a:lnSpc>
            </a:pPr>
            <a:endParaRPr lang="en-US" altLang="en-US" sz="1000" dirty="0"/>
          </a:p>
          <a:p>
            <a:pPr marL="1035050" algn="l" rtl="0" eaLnBrk="0">
              <a:lnSpc>
                <a:spcPct val="97000"/>
              </a:lnSpc>
              <a:tabLst>
                <a:tab pos="1194435" algn="l"/>
              </a:tabLst>
            </a:pPr>
            <a:r>
              <a:rPr sz="2700" kern="0" spc="0" dirty="0">
                <a:solidFill>
                  <a:srgbClr val="FFFFFF">
                    <a:alpha val="100000"/>
                  </a:srgbClr>
                </a:solidFill>
                <a:latin typeface="仿宋" panose="02010609060101010101" charset="-122"/>
                <a:ea typeface="仿宋" panose="02010609060101010101" charset="-122"/>
                <a:cs typeface="仿宋" panose="02010609060101010101" charset="-122"/>
              </a:rPr>
              <a:t>	</a:t>
            </a:r>
            <a:r>
              <a:rPr sz="2700" kern="0" spc="40" dirty="0">
                <a:solidFill>
                  <a:srgbClr val="FFFFFF">
                    <a:alpha val="100000"/>
                  </a:srgbClr>
                </a:solidFill>
                <a:latin typeface="仿宋" panose="02010609060101010101" charset="-122"/>
                <a:ea typeface="仿宋" panose="02010609060101010101" charset="-122"/>
                <a:cs typeface="仿宋" panose="02010609060101010101" charset="-122"/>
              </a:rPr>
              <a:t>换位密码</a:t>
            </a:r>
            <a:endParaRPr lang="en-US" altLang="en-US" sz="2700" dirty="0"/>
          </a:p>
        </p:txBody>
      </p:sp>
      <p:grpSp>
        <p:nvGrpSpPr>
          <p:cNvPr id="214" name="group 2"/>
          <p:cNvGrpSpPr/>
          <p:nvPr/>
        </p:nvGrpSpPr>
        <p:grpSpPr>
          <a:xfrm rot="21600000">
            <a:off x="3476244" y="2980944"/>
            <a:ext cx="1022603" cy="1022604"/>
            <a:chOff x="0" y="0"/>
            <a:chExt cx="1022603" cy="1022604"/>
          </a:xfrm>
        </p:grpSpPr>
        <p:sp>
          <p:nvSpPr>
            <p:cNvPr id="1049154" name="path"/>
            <p:cNvSpPr/>
            <p:nvPr/>
          </p:nvSpPr>
          <p:spPr>
            <a:xfrm>
              <a:off x="3047" y="3047"/>
              <a:ext cx="1016508" cy="1016508"/>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155" name="path"/>
            <p:cNvSpPr/>
            <p:nvPr/>
          </p:nvSpPr>
          <p:spPr>
            <a:xfrm>
              <a:off x="0" y="0"/>
              <a:ext cx="1022603" cy="1022604"/>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9156" name="textbox 28"/>
          <p:cNvSpPr/>
          <p:nvPr/>
        </p:nvSpPr>
        <p:spPr>
          <a:xfrm>
            <a:off x="3184651" y="1710944"/>
            <a:ext cx="2604770" cy="1094739"/>
          </a:xfrm>
          <a:prstGeom prst="rect">
            <a:avLst/>
          </a:prstGeom>
        </p:spPr>
        <p:txBody>
          <a:bodyPr vert="horz" wrap="square" lIns="0" tIns="0" rIns="0" bIns="0"/>
          <a:p>
            <a:pPr algn="l" rtl="0" eaLnBrk="0">
              <a:lnSpc>
                <a:spcPct val="108000"/>
              </a:lnSpc>
            </a:pPr>
            <a:endParaRPr lang="en-US" altLang="en-US" sz="1000" dirty="0"/>
          </a:p>
          <a:p>
            <a:pPr algn="l" rtl="0" eaLnBrk="0">
              <a:lnSpc>
                <a:spcPct val="108000"/>
              </a:lnSpc>
            </a:pPr>
            <a:endParaRPr lang="en-US" altLang="en-US" sz="1000" dirty="0"/>
          </a:p>
          <a:p>
            <a:pPr algn="l" rtl="0" eaLnBrk="0">
              <a:lnSpc>
                <a:spcPct val="9000"/>
              </a:lnSpc>
            </a:pPr>
            <a:endParaRPr lang="en-US" altLang="en-US" sz="100" dirty="0"/>
          </a:p>
          <a:p>
            <a:pPr marL="1035050" algn="l" rtl="0" eaLnBrk="0">
              <a:lnSpc>
                <a:spcPct val="98000"/>
              </a:lnSpc>
              <a:tabLst>
                <a:tab pos="1198880" algn="l"/>
              </a:tabLst>
            </a:pPr>
            <a:r>
              <a:rPr sz="2700" kern="0" spc="0" dirty="0">
                <a:solidFill>
                  <a:srgbClr val="FFFFFF">
                    <a:alpha val="100000"/>
                  </a:srgbClr>
                </a:solidFill>
                <a:latin typeface="仿宋" panose="02010609060101010101" charset="-122"/>
                <a:ea typeface="仿宋" panose="02010609060101010101" charset="-122"/>
                <a:cs typeface="仿宋" panose="02010609060101010101" charset="-122"/>
              </a:rPr>
              <a:t>	</a:t>
            </a:r>
            <a:r>
              <a:rPr sz="2700" kern="0" spc="30" dirty="0">
                <a:solidFill>
                  <a:srgbClr val="FFFFFF">
                    <a:alpha val="100000"/>
                  </a:srgbClr>
                </a:solidFill>
                <a:latin typeface="仿宋" panose="02010609060101010101" charset="-122"/>
                <a:ea typeface="仿宋" panose="02010609060101010101" charset="-122"/>
                <a:cs typeface="仿宋" panose="02010609060101010101" charset="-122"/>
              </a:rPr>
              <a:t>代替密码</a:t>
            </a:r>
            <a:endParaRPr lang="en-US" altLang="en-US" sz="2700" dirty="0"/>
          </a:p>
        </p:txBody>
      </p:sp>
      <p:grpSp>
        <p:nvGrpSpPr>
          <p:cNvPr id="215" name="group 4"/>
          <p:cNvGrpSpPr/>
          <p:nvPr/>
        </p:nvGrpSpPr>
        <p:grpSpPr>
          <a:xfrm rot="21600000">
            <a:off x="3197351" y="1723644"/>
            <a:ext cx="1022604" cy="1022603"/>
            <a:chOff x="0" y="0"/>
            <a:chExt cx="1022604" cy="1022603"/>
          </a:xfrm>
        </p:grpSpPr>
        <p:sp>
          <p:nvSpPr>
            <p:cNvPr id="1049157" name="path"/>
            <p:cNvSpPr/>
            <p:nvPr/>
          </p:nvSpPr>
          <p:spPr>
            <a:xfrm>
              <a:off x="3048" y="3047"/>
              <a:ext cx="1016508" cy="1016508"/>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158" name="path"/>
            <p:cNvSpPr/>
            <p:nvPr/>
          </p:nvSpPr>
          <p:spPr>
            <a:xfrm>
              <a:off x="0" y="0"/>
              <a:ext cx="1022604"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9159" name="textbox 34"/>
          <p:cNvSpPr/>
          <p:nvPr/>
        </p:nvSpPr>
        <p:spPr>
          <a:xfrm>
            <a:off x="3231895" y="4225544"/>
            <a:ext cx="2249804" cy="1092835"/>
          </a:xfrm>
          <a:prstGeom prst="rect">
            <a:avLst/>
          </a:prstGeom>
        </p:spPr>
        <p:txBody>
          <a:bodyPr vert="horz" wrap="square" lIns="0" tIns="0" rIns="0" bIns="0"/>
          <a:p>
            <a:pPr algn="l" rtl="0" eaLnBrk="0">
              <a:lnSpc>
                <a:spcPct val="109000"/>
              </a:lnSpc>
            </a:pPr>
            <a:endParaRPr lang="en-US" altLang="en-US" sz="1000" dirty="0"/>
          </a:p>
          <a:p>
            <a:pPr algn="l" rtl="0" eaLnBrk="0">
              <a:lnSpc>
                <a:spcPct val="110000"/>
              </a:lnSpc>
            </a:pPr>
            <a:endParaRPr lang="en-US" altLang="en-US" sz="1000" dirty="0"/>
          </a:p>
          <a:p>
            <a:pPr marL="1035050" algn="l" rtl="0" eaLnBrk="0">
              <a:lnSpc>
                <a:spcPct val="97000"/>
              </a:lnSpc>
              <a:spcBef>
                <a:spcPts val="0"/>
              </a:spcBef>
              <a:tabLst>
                <a:tab pos="1211580" algn="l"/>
              </a:tabLst>
            </a:pPr>
            <a:r>
              <a:rPr sz="2700" kern="0" spc="0" dirty="0">
                <a:solidFill>
                  <a:srgbClr val="FFFFFF">
                    <a:alpha val="100000"/>
                  </a:srgbClr>
                </a:solidFill>
                <a:latin typeface="仿宋" panose="02010609060101010101" charset="-122"/>
                <a:ea typeface="仿宋" panose="02010609060101010101" charset="-122"/>
                <a:cs typeface="仿宋" panose="02010609060101010101" charset="-122"/>
              </a:rPr>
              <a:t>	</a:t>
            </a:r>
            <a:r>
              <a:rPr sz="2700" kern="0" spc="-20" dirty="0">
                <a:solidFill>
                  <a:srgbClr val="FFFFFF">
                    <a:alpha val="100000"/>
                  </a:srgbClr>
                </a:solidFill>
                <a:latin typeface="仿宋" panose="02010609060101010101" charset="-122"/>
                <a:ea typeface="仿宋" panose="02010609060101010101" charset="-122"/>
                <a:cs typeface="仿宋" panose="02010609060101010101" charset="-122"/>
              </a:rPr>
              <a:t>密码机</a:t>
            </a:r>
            <a:endParaRPr lang="en-US" altLang="en-US" sz="2700" dirty="0"/>
          </a:p>
        </p:txBody>
      </p:sp>
      <p:grpSp>
        <p:nvGrpSpPr>
          <p:cNvPr id="216" name="group 6"/>
          <p:cNvGrpSpPr/>
          <p:nvPr/>
        </p:nvGrpSpPr>
        <p:grpSpPr>
          <a:xfrm rot="21600000">
            <a:off x="3244595" y="4238244"/>
            <a:ext cx="1022604" cy="1022603"/>
            <a:chOff x="0" y="0"/>
            <a:chExt cx="1022604" cy="1022603"/>
          </a:xfrm>
        </p:grpSpPr>
        <p:sp>
          <p:nvSpPr>
            <p:cNvPr id="1049160" name="path"/>
            <p:cNvSpPr/>
            <p:nvPr/>
          </p:nvSpPr>
          <p:spPr>
            <a:xfrm>
              <a:off x="3048" y="3048"/>
              <a:ext cx="1016508"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161" name="path"/>
            <p:cNvSpPr/>
            <p:nvPr/>
          </p:nvSpPr>
          <p:spPr>
            <a:xfrm>
              <a:off x="0" y="0"/>
              <a:ext cx="1022604"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9162" name="textbox 40"/>
          <p:cNvSpPr/>
          <p:nvPr/>
        </p:nvSpPr>
        <p:spPr>
          <a:xfrm>
            <a:off x="2745896" y="488157"/>
            <a:ext cx="4655820"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sz="3200" kern="0" spc="-30" dirty="0">
                <a:solidFill>
                  <a:srgbClr val="1F4E79">
                    <a:alpha val="100000"/>
                  </a:srgbClr>
                </a:solidFill>
                <a:latin typeface="仿宋" panose="02010609060101010101" charset="-122"/>
                <a:ea typeface="仿宋" panose="02010609060101010101" charset="-122"/>
                <a:cs typeface="仿宋" panose="02010609060101010101" charset="-122"/>
              </a:rPr>
              <a:t>第三讲</a:t>
            </a:r>
            <a:r>
              <a:rPr sz="3200" kern="0" spc="-3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30" dirty="0">
                <a:solidFill>
                  <a:srgbClr val="1F4E79">
                    <a:alpha val="100000"/>
                  </a:srgbClr>
                </a:solidFill>
                <a:latin typeface="仿宋" panose="02010609060101010101" charset="-122"/>
                <a:ea typeface="仿宋" panose="02010609060101010101" charset="-122"/>
                <a:cs typeface="仿宋" panose="02010609060101010101" charset="-122"/>
              </a:rPr>
              <a:t>外国古代密码艺术</a:t>
            </a:r>
            <a:endParaRPr lang="en-US" altLang="en-US" sz="3200" dirty="0"/>
          </a:p>
        </p:txBody>
      </p:sp>
      <p:sp>
        <p:nvSpPr>
          <p:cNvPr id="1049163"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45" name="picture 46"/>
          <p:cNvPicPr>
            <a:picLocks noChangeAspect="1"/>
          </p:cNvPicPr>
          <p:nvPr/>
        </p:nvPicPr>
        <p:blipFill>
          <a:blip r:embed="rId4"/>
          <a:stretch>
            <a:fillRect/>
          </a:stretch>
        </p:blipFill>
        <p:spPr>
          <a:xfrm rot="21600000">
            <a:off x="824483" y="408431"/>
            <a:ext cx="419100" cy="655320"/>
          </a:xfrm>
          <a:prstGeom prst="rect">
            <a:avLst/>
          </a:prstGeom>
        </p:spPr>
      </p:pic>
      <p:sp>
        <p:nvSpPr>
          <p:cNvPr id="1049164"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217" name=""/>
        <p:cNvGrpSpPr/>
        <p:nvPr/>
      </p:nvGrpSpPr>
      <p:grpSpPr>
        <a:xfrm>
          <a:off x="0" y="0"/>
          <a:ext cx="0" cy="0"/>
          <a:chOff x="0" y="0"/>
          <a:chExt cx="0" cy="0"/>
        </a:xfrm>
      </p:grpSpPr>
      <p:pic>
        <p:nvPicPr>
          <p:cNvPr id="2097246" name="picture 50"/>
          <p:cNvPicPr>
            <a:picLocks noChangeAspect="1"/>
          </p:cNvPicPr>
          <p:nvPr/>
        </p:nvPicPr>
        <p:blipFill>
          <a:blip r:embed="rId1"/>
          <a:stretch>
            <a:fillRect/>
          </a:stretch>
        </p:blipFill>
        <p:spPr>
          <a:xfrm rot="21600000">
            <a:off x="8610600" y="1205484"/>
            <a:ext cx="2971800" cy="4878323"/>
          </a:xfrm>
          <a:prstGeom prst="rect">
            <a:avLst/>
          </a:prstGeom>
        </p:spPr>
      </p:pic>
      <p:sp>
        <p:nvSpPr>
          <p:cNvPr id="1049165" name="textbox 52"/>
          <p:cNvSpPr/>
          <p:nvPr/>
        </p:nvSpPr>
        <p:spPr>
          <a:xfrm>
            <a:off x="1466748" y="1347647"/>
            <a:ext cx="6675755" cy="1799589"/>
          </a:xfrm>
          <a:prstGeom prst="rect">
            <a:avLst/>
          </a:prstGeom>
        </p:spPr>
        <p:txBody>
          <a:bodyPr vert="horz" wrap="square" lIns="0" tIns="0" rIns="0" bIns="0"/>
          <a:p>
            <a:pPr algn="l" rtl="0" eaLnBrk="0">
              <a:lnSpc>
                <a:spcPct val="86000"/>
              </a:lnSpc>
            </a:pPr>
            <a:endParaRPr lang="en-US" altLang="en-US" sz="100" dirty="0"/>
          </a:p>
          <a:p>
            <a:pPr marL="12700" algn="l" rtl="0" eaLnBrk="0">
              <a:lnSpc>
                <a:spcPct val="89000"/>
              </a:lnSpc>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500" dirty="0">
                <a:solidFill>
                  <a:srgbClr val="000000">
                    <a:alpha val="100000"/>
                  </a:srgbClr>
                </a:solidFill>
                <a:latin typeface="Arial" panose="020B0604020202020204"/>
                <a:ea typeface="Arial" panose="020B0604020202020204"/>
                <a:cs typeface="Arial" panose="020B0604020202020204"/>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象形文字的修改：密码学的第一个</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例子是对标准</a:t>
            </a:r>
            <a:endParaRPr lang="en-US" altLang="en-US" sz="2400" dirty="0"/>
          </a:p>
          <a:p>
            <a:pPr marL="396875" indent="-137795" algn="l" rtl="0" eaLnBrk="0">
              <a:lnSpc>
                <a:spcPct val="132000"/>
              </a:lnSpc>
              <a:spcBef>
                <a:spcPts val="35"/>
              </a:spcBef>
            </a:pP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书写符号的修改，例如古埃及法老坟墓上的文字</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5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（3200-1100</a:t>
            </a:r>
            <a:r>
              <a:rPr sz="2400" kern="0" spc="-5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5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B.C.），核心思想是代替</a:t>
            </a:r>
            <a:endParaRPr lang="en-US" altLang="en-US" sz="2400" dirty="0"/>
          </a:p>
          <a:p>
            <a:pPr algn="l" rtl="0" eaLnBrk="0">
              <a:lnSpc>
                <a:spcPct val="107000"/>
              </a:lnSpc>
            </a:pPr>
            <a:endParaRPr lang="en-US" altLang="en-US" sz="800" dirty="0"/>
          </a:p>
          <a:p>
            <a:pPr marL="288925" algn="l" rtl="0" eaLnBrk="0">
              <a:lnSpc>
                <a:spcPct val="95000"/>
              </a:lnSpc>
              <a:spcBef>
                <a:spcPts val="0"/>
              </a:spcBef>
            </a:pPr>
            <a:r>
              <a:rPr sz="2400" kern="0" spc="-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(Substitution)</a:t>
            </a:r>
            <a:endParaRPr lang="en-US" altLang="en-US" sz="2400" dirty="0"/>
          </a:p>
        </p:txBody>
      </p:sp>
      <p:sp>
        <p:nvSpPr>
          <p:cNvPr id="1049166" name="textbox 54"/>
          <p:cNvSpPr/>
          <p:nvPr/>
        </p:nvSpPr>
        <p:spPr>
          <a:xfrm>
            <a:off x="1592182" y="488157"/>
            <a:ext cx="2418079" cy="487044"/>
          </a:xfrm>
          <a:prstGeom prst="rect">
            <a:avLst/>
          </a:prstGeom>
        </p:spPr>
        <p:txBody>
          <a:bodyPr vert="horz" wrap="square" lIns="0" tIns="0" rIns="0" bIns="0"/>
          <a:p>
            <a:pPr algn="l" rtl="0" eaLnBrk="0">
              <a:lnSpc>
                <a:spcPct val="72000"/>
              </a:lnSpc>
            </a:pPr>
            <a:endParaRPr lang="en-US" altLang="en-US" sz="100" dirty="0"/>
          </a:p>
          <a:p>
            <a:pPr marL="12700" algn="l" rtl="0" eaLnBrk="0">
              <a:lnSpc>
                <a:spcPct val="95000"/>
              </a:lnSpc>
            </a:pPr>
            <a:r>
              <a:rPr sz="3200" kern="0" spc="-70" dirty="0">
                <a:solidFill>
                  <a:srgbClr val="1F4E79">
                    <a:alpha val="100000"/>
                  </a:srgbClr>
                </a:solidFill>
                <a:latin typeface="仿宋" panose="02010609060101010101" charset="-122"/>
                <a:ea typeface="仿宋" panose="02010609060101010101" charset="-122"/>
                <a:cs typeface="仿宋" panose="02010609060101010101" charset="-122"/>
              </a:rPr>
              <a:t>密码学的起源</a:t>
            </a:r>
            <a:endParaRPr lang="en-US" altLang="en-US" sz="3200" dirty="0"/>
          </a:p>
        </p:txBody>
      </p:sp>
      <p:sp>
        <p:nvSpPr>
          <p:cNvPr id="1049167"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47" name="picture 60"/>
          <p:cNvPicPr>
            <a:picLocks noChangeAspect="1"/>
          </p:cNvPicPr>
          <p:nvPr/>
        </p:nvPicPr>
        <p:blipFill>
          <a:blip r:embed="rId2"/>
          <a:stretch>
            <a:fillRect/>
          </a:stretch>
        </p:blipFill>
        <p:spPr>
          <a:xfrm rot="21600000">
            <a:off x="824483" y="408431"/>
            <a:ext cx="419100" cy="655320"/>
          </a:xfrm>
          <a:prstGeom prst="rect">
            <a:avLst/>
          </a:prstGeom>
        </p:spPr>
      </p:pic>
      <p:sp>
        <p:nvSpPr>
          <p:cNvPr id="1049168"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220" name=""/>
        <p:cNvGrpSpPr/>
        <p:nvPr/>
      </p:nvGrpSpPr>
      <p:grpSpPr>
        <a:xfrm>
          <a:off x="0" y="0"/>
          <a:ext cx="0" cy="0"/>
          <a:chOff x="0" y="0"/>
          <a:chExt cx="0" cy="0"/>
        </a:xfrm>
      </p:grpSpPr>
      <p:graphicFrame>
        <p:nvGraphicFramePr>
          <p:cNvPr id="4194328" name="table 64"/>
          <p:cNvGraphicFramePr>
            <a:graphicFrameLocks noGrp="1"/>
          </p:cNvGraphicFramePr>
          <p:nvPr/>
        </p:nvGraphicFramePr>
        <p:xfrm>
          <a:off x="3737507" y="2719572"/>
          <a:ext cx="3850005" cy="1842770"/>
        </p:xfrm>
        <a:graphic>
          <a:graphicData uri="http://schemas.openxmlformats.org/drawingml/2006/table">
            <a:tbl>
              <a:tblPr/>
              <a:tblGrid>
                <a:gridCol w="647700"/>
                <a:gridCol w="636269"/>
                <a:gridCol w="642619"/>
                <a:gridCol w="636269"/>
                <a:gridCol w="636269"/>
                <a:gridCol w="650875"/>
              </a:tblGrid>
              <a:tr h="308609">
                <a:tc>
                  <a:txBody>
                    <a:bodyPr/>
                    <a:p>
                      <a:pPr algn="l" rtl="0" eaLnBrk="0">
                        <a:lnSpc>
                          <a:spcPct val="100000"/>
                        </a:lnSpc>
                      </a:pPr>
                      <a:endParaRPr lang="en-US" altLang="en-US" sz="1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7000"/>
                        </a:lnSpc>
                      </a:pPr>
                      <a:endParaRPr lang="en-US" altLang="en-US" sz="400" dirty="0"/>
                    </a:p>
                    <a:p>
                      <a:pPr marL="165100" algn="l" rtl="0" eaLnBrk="0">
                        <a:lnSpc>
                          <a:spcPct val="77000"/>
                        </a:lnSpc>
                        <a:spcBef>
                          <a:spcPts val="0"/>
                        </a:spcBef>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1</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7000"/>
                        </a:lnSpc>
                      </a:pPr>
                      <a:endParaRPr lang="en-US" altLang="en-US" sz="400" dirty="0"/>
                    </a:p>
                    <a:p>
                      <a:pPr marL="140970" algn="l" rtl="0" eaLnBrk="0">
                        <a:lnSpc>
                          <a:spcPct val="77000"/>
                        </a:lnSpc>
                        <a:spcBef>
                          <a:spcPts val="0"/>
                        </a:spcBef>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7000"/>
                        </a:lnSpc>
                      </a:pPr>
                      <a:endParaRPr lang="en-US" altLang="en-US" sz="400" dirty="0"/>
                    </a:p>
                    <a:p>
                      <a:pPr marL="140335" algn="l" rtl="0" eaLnBrk="0">
                        <a:lnSpc>
                          <a:spcPct val="77000"/>
                        </a:lnSpc>
                        <a:spcBef>
                          <a:spcPts val="0"/>
                        </a:spcBef>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3</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7000"/>
                        </a:lnSpc>
                      </a:pPr>
                      <a:endParaRPr lang="en-US" altLang="en-US" sz="400" dirty="0"/>
                    </a:p>
                    <a:p>
                      <a:pPr marL="140970" algn="l" rtl="0" eaLnBrk="0">
                        <a:lnSpc>
                          <a:spcPct val="77000"/>
                        </a:lnSpc>
                        <a:spcBef>
                          <a:spcPts val="0"/>
                        </a:spcBef>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4</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p>
                      <a:pPr algn="l" rtl="0" eaLnBrk="0">
                        <a:lnSpc>
                          <a:spcPct val="112000"/>
                        </a:lnSpc>
                      </a:pPr>
                      <a:endParaRPr lang="en-US" altLang="en-US" sz="400" dirty="0"/>
                    </a:p>
                    <a:p>
                      <a:pPr marL="149225" algn="l" rtl="0" eaLnBrk="0">
                        <a:lnSpc>
                          <a:spcPct val="76000"/>
                        </a:lnSpc>
                        <a:spcBef>
                          <a:spcPts val="0"/>
                        </a:spcBef>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5</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r>
              <a:tr h="308609">
                <a:tc>
                  <a:txBody>
                    <a:bodyPr/>
                    <a:p>
                      <a:pPr algn="l" rtl="0" eaLnBrk="0">
                        <a:lnSpc>
                          <a:spcPct val="131000"/>
                        </a:lnSpc>
                      </a:pPr>
                      <a:endParaRPr lang="en-US" altLang="en-US" sz="300" dirty="0"/>
                    </a:p>
                    <a:p>
                      <a:pPr marL="169545" algn="l" rtl="0" eaLnBrk="0">
                        <a:lnSpc>
                          <a:spcPct val="77000"/>
                        </a:lnSpc>
                        <a:spcBef>
                          <a:spcPts val="0"/>
                        </a:spcBef>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1</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31000"/>
                        </a:lnSpc>
                      </a:pPr>
                      <a:endParaRPr lang="en-US" altLang="en-US" sz="300" dirty="0"/>
                    </a:p>
                    <a:p>
                      <a:pPr marL="137160" algn="l" rtl="0" eaLnBrk="0">
                        <a:lnSpc>
                          <a:spcPct val="77000"/>
                        </a:lnSpc>
                        <a:spcBef>
                          <a:spcPts val="0"/>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A</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3000"/>
                        </a:lnSpc>
                      </a:pPr>
                      <a:endParaRPr lang="en-US" altLang="en-US" sz="400" dirty="0"/>
                    </a:p>
                    <a:p>
                      <a:pPr marL="139700" algn="l" rtl="0" eaLnBrk="0">
                        <a:lnSpc>
                          <a:spcPct val="76000"/>
                        </a:lnSpc>
                        <a:spcBef>
                          <a:spcPts val="5"/>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B</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31000"/>
                        </a:lnSpc>
                      </a:pPr>
                      <a:endParaRPr lang="en-US" altLang="en-US" sz="300" dirty="0"/>
                    </a:p>
                    <a:p>
                      <a:pPr marL="139065" algn="l" rtl="0" eaLnBrk="0">
                        <a:lnSpc>
                          <a:spcPct val="77000"/>
                        </a:lnSpc>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C</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3000"/>
                        </a:lnSpc>
                      </a:pPr>
                      <a:endParaRPr lang="en-US" altLang="en-US" sz="400" dirty="0"/>
                    </a:p>
                    <a:p>
                      <a:pPr marL="140970" algn="l" rtl="0" eaLnBrk="0">
                        <a:lnSpc>
                          <a:spcPct val="76000"/>
                        </a:lnSpc>
                        <a:spcBef>
                          <a:spcPts val="5"/>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D</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p>
                      <a:pPr algn="l" rtl="0" eaLnBrk="0">
                        <a:lnSpc>
                          <a:spcPct val="103000"/>
                        </a:lnSpc>
                      </a:pPr>
                      <a:endParaRPr lang="en-US" altLang="en-US" sz="400" dirty="0"/>
                    </a:p>
                    <a:p>
                      <a:pPr marL="142240" algn="l" rtl="0" eaLnBrk="0">
                        <a:lnSpc>
                          <a:spcPct val="76000"/>
                        </a:lnSpc>
                        <a:spcBef>
                          <a:spcPts val="5"/>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E</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r>
              <a:tr h="302259">
                <a:tc>
                  <a:txBody>
                    <a:bodyPr/>
                    <a:p>
                      <a:pPr algn="l" rtl="0" eaLnBrk="0">
                        <a:lnSpc>
                          <a:spcPct val="132000"/>
                        </a:lnSpc>
                      </a:pPr>
                      <a:endParaRPr lang="en-US" altLang="en-US" sz="300" dirty="0"/>
                    </a:p>
                    <a:p>
                      <a:pPr marL="144780" algn="l" rtl="0" eaLnBrk="0">
                        <a:lnSpc>
                          <a:spcPct val="77000"/>
                        </a:lnSpc>
                        <a:spcBef>
                          <a:spcPts val="0"/>
                        </a:spcBef>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2</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4000"/>
                        </a:lnSpc>
                      </a:pPr>
                      <a:endParaRPr lang="en-US" altLang="en-US" sz="400" dirty="0"/>
                    </a:p>
                    <a:p>
                      <a:pPr marL="139065" algn="l" rtl="0" eaLnBrk="0">
                        <a:lnSpc>
                          <a:spcPct val="76000"/>
                        </a:lnSpc>
                        <a:spcBef>
                          <a:spcPts val="0"/>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F</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32000"/>
                        </a:lnSpc>
                      </a:pPr>
                      <a:endParaRPr lang="en-US" altLang="en-US" sz="300" dirty="0"/>
                    </a:p>
                    <a:p>
                      <a:pPr marL="144780" algn="l" rtl="0" eaLnBrk="0">
                        <a:lnSpc>
                          <a:spcPct val="77000"/>
                        </a:lnSpc>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G</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4000"/>
                        </a:lnSpc>
                      </a:pPr>
                      <a:endParaRPr lang="en-US" altLang="en-US" sz="400" dirty="0"/>
                    </a:p>
                    <a:p>
                      <a:pPr marL="133985" algn="l" rtl="0" eaLnBrk="0">
                        <a:lnSpc>
                          <a:spcPct val="76000"/>
                        </a:lnSpc>
                        <a:spcBef>
                          <a:spcPts val="0"/>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H</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4000"/>
                        </a:lnSpc>
                      </a:pPr>
                      <a:endParaRPr lang="en-US" altLang="en-US" sz="400" dirty="0"/>
                    </a:p>
                    <a:p>
                      <a:pPr marL="142875" algn="l" rtl="0" eaLnBrk="0">
                        <a:lnSpc>
                          <a:spcPct val="76000"/>
                        </a:lnSpc>
                      </a:pPr>
                      <a:r>
                        <a:rPr sz="2000" kern="0" spc="-30" dirty="0">
                          <a:solidFill>
                            <a:srgbClr val="000000">
                              <a:alpha val="100000"/>
                            </a:srgbClr>
                          </a:solidFill>
                          <a:latin typeface="Times New Roman" panose="02020603050405020304"/>
                          <a:ea typeface="Times New Roman" panose="02020603050405020304"/>
                          <a:cs typeface="Times New Roman" panose="02020603050405020304"/>
                        </a:rPr>
                        <a:t>IJ</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p>
                      <a:pPr algn="l" rtl="0" eaLnBrk="0">
                        <a:lnSpc>
                          <a:spcPct val="104000"/>
                        </a:lnSpc>
                      </a:pPr>
                      <a:endParaRPr lang="en-US" altLang="en-US" sz="400" dirty="0"/>
                    </a:p>
                    <a:p>
                      <a:pPr marL="140970" algn="l" rtl="0" eaLnBrk="0">
                        <a:lnSpc>
                          <a:spcPct val="76000"/>
                        </a:lnSpc>
                        <a:spcBef>
                          <a:spcPts val="0"/>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K</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r>
              <a:tr h="302894">
                <a:tc>
                  <a:txBody>
                    <a:bodyPr/>
                    <a:p>
                      <a:pPr algn="l" rtl="0" eaLnBrk="0">
                        <a:lnSpc>
                          <a:spcPct val="100000"/>
                        </a:lnSpc>
                      </a:pPr>
                      <a:endParaRPr lang="en-US" altLang="en-US" sz="400" dirty="0"/>
                    </a:p>
                    <a:p>
                      <a:pPr marL="150495" algn="l" rtl="0" eaLnBrk="0">
                        <a:lnSpc>
                          <a:spcPct val="77000"/>
                        </a:lnSpc>
                        <a:spcBef>
                          <a:spcPts val="5"/>
                        </a:spcBef>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3</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6000"/>
                        </a:lnSpc>
                      </a:pPr>
                      <a:endParaRPr lang="en-US" altLang="en-US" sz="400" dirty="0"/>
                    </a:p>
                    <a:p>
                      <a:pPr marL="139700" algn="l" rtl="0" eaLnBrk="0">
                        <a:lnSpc>
                          <a:spcPct val="76000"/>
                        </a:lnSpc>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L</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6000"/>
                        </a:lnSpc>
                      </a:pPr>
                      <a:endParaRPr lang="en-US" altLang="en-US" sz="400" dirty="0"/>
                    </a:p>
                    <a:p>
                      <a:pPr marL="139700" algn="l" rtl="0" eaLnBrk="0">
                        <a:lnSpc>
                          <a:spcPct val="76000"/>
                        </a:lnSpc>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5000"/>
                        </a:lnSpc>
                      </a:pPr>
                      <a:endParaRPr lang="en-US" altLang="en-US" sz="400" dirty="0"/>
                    </a:p>
                    <a:p>
                      <a:pPr marL="127000" algn="l" rtl="0" eaLnBrk="0">
                        <a:lnSpc>
                          <a:spcPct val="76000"/>
                        </a:lnSpc>
                        <a:spcBef>
                          <a:spcPts val="5"/>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N</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0000"/>
                        </a:lnSpc>
                      </a:pPr>
                      <a:endParaRPr lang="en-US" altLang="en-US" sz="400" dirty="0"/>
                    </a:p>
                    <a:p>
                      <a:pPr marL="145415" algn="l" rtl="0" eaLnBrk="0">
                        <a:lnSpc>
                          <a:spcPct val="77000"/>
                        </a:lnSpc>
                        <a:spcBef>
                          <a:spcPts val="5"/>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O</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p>
                      <a:pPr algn="l" rtl="0" eaLnBrk="0">
                        <a:lnSpc>
                          <a:spcPct val="106000"/>
                        </a:lnSpc>
                      </a:pPr>
                      <a:endParaRPr lang="en-US" altLang="en-US" sz="400" dirty="0"/>
                    </a:p>
                    <a:p>
                      <a:pPr marL="140970" algn="l" rtl="0" eaLnBrk="0">
                        <a:lnSpc>
                          <a:spcPct val="76000"/>
                        </a:lnSpc>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P</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r>
              <a:tr h="309244">
                <a:tc>
                  <a:txBody>
                    <a:bodyPr/>
                    <a:p>
                      <a:pPr algn="l" rtl="0" eaLnBrk="0">
                        <a:lnSpc>
                          <a:spcPct val="101000"/>
                        </a:lnSpc>
                      </a:pPr>
                      <a:endParaRPr lang="en-US" altLang="en-US" sz="400" dirty="0"/>
                    </a:p>
                    <a:p>
                      <a:pPr marL="143510" algn="l" rtl="0" eaLnBrk="0">
                        <a:lnSpc>
                          <a:spcPct val="77000"/>
                        </a:lnSpc>
                        <a:spcBef>
                          <a:spcPts val="5"/>
                        </a:spcBef>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4</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28000"/>
                        </a:lnSpc>
                      </a:pPr>
                      <a:endParaRPr lang="en-US" altLang="en-US" sz="300" dirty="0"/>
                    </a:p>
                    <a:p>
                      <a:pPr marL="144145" algn="l" rtl="0" eaLnBrk="0">
                        <a:lnSpc>
                          <a:spcPct val="80000"/>
                        </a:lnSpc>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Q</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6000"/>
                        </a:lnSpc>
                      </a:pPr>
                      <a:endParaRPr lang="en-US" altLang="en-US" sz="400" dirty="0"/>
                    </a:p>
                    <a:p>
                      <a:pPr marL="139700" algn="l" rtl="0" eaLnBrk="0">
                        <a:lnSpc>
                          <a:spcPct val="76000"/>
                        </a:lnSpc>
                        <a:spcBef>
                          <a:spcPts val="5"/>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R</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1000"/>
                        </a:lnSpc>
                      </a:pPr>
                      <a:endParaRPr lang="en-US" altLang="en-US" sz="400" dirty="0"/>
                    </a:p>
                    <a:p>
                      <a:pPr marL="146050" algn="l" rtl="0" eaLnBrk="0">
                        <a:lnSpc>
                          <a:spcPct val="77000"/>
                        </a:lnSpc>
                        <a:spcBef>
                          <a:spcPts val="0"/>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S</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6000"/>
                        </a:lnSpc>
                      </a:pPr>
                      <a:endParaRPr lang="en-US" altLang="en-US" sz="400" dirty="0"/>
                    </a:p>
                    <a:p>
                      <a:pPr marL="144145" algn="l" rtl="0" eaLnBrk="0">
                        <a:lnSpc>
                          <a:spcPct val="76000"/>
                        </a:lnSpc>
                        <a:spcBef>
                          <a:spcPts val="5"/>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T</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p>
                      <a:pPr algn="l" rtl="0" eaLnBrk="0">
                        <a:lnSpc>
                          <a:spcPct val="106000"/>
                        </a:lnSpc>
                      </a:pPr>
                      <a:endParaRPr lang="en-US" altLang="en-US" sz="400" dirty="0"/>
                    </a:p>
                    <a:p>
                      <a:pPr marL="137795" algn="l" rtl="0" eaLnBrk="0">
                        <a:lnSpc>
                          <a:spcPct val="76000"/>
                        </a:lnSpc>
                        <a:spcBef>
                          <a:spcPts val="0"/>
                        </a:spcBef>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U</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r>
              <a:tr h="311150">
                <a:tc>
                  <a:txBody>
                    <a:bodyPr/>
                    <a:p>
                      <a:pPr algn="l" rtl="0" eaLnBrk="0">
                        <a:lnSpc>
                          <a:spcPct val="106000"/>
                        </a:lnSpc>
                      </a:pPr>
                      <a:endParaRPr lang="en-US" altLang="en-US" sz="400" dirty="0"/>
                    </a:p>
                    <a:p>
                      <a:pPr marL="151765" algn="l" rtl="0" eaLnBrk="0">
                        <a:lnSpc>
                          <a:spcPct val="76000"/>
                        </a:lnSpc>
                        <a:spcBef>
                          <a:spcPts val="0"/>
                        </a:spcBef>
                      </a:pPr>
                      <a:r>
                        <a:rPr sz="2000" kern="0" spc="-10" dirty="0">
                          <a:solidFill>
                            <a:srgbClr val="000000">
                              <a:alpha val="100000"/>
                            </a:srgbClr>
                          </a:solidFill>
                          <a:latin typeface="Times New Roman" panose="02020603050405020304"/>
                          <a:ea typeface="Times New Roman" panose="02020603050405020304"/>
                          <a:cs typeface="Times New Roman" panose="02020603050405020304"/>
                        </a:rPr>
                        <a:t>5</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5000"/>
                        </a:lnSpc>
                      </a:pPr>
                      <a:endParaRPr lang="en-US" altLang="en-US" sz="400" dirty="0"/>
                    </a:p>
                    <a:p>
                      <a:pPr marL="137160" algn="l" rtl="0" eaLnBrk="0">
                        <a:lnSpc>
                          <a:spcPct val="76000"/>
                        </a:lnSpc>
                        <a:spcBef>
                          <a:spcPts val="5"/>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V</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5000"/>
                        </a:lnSpc>
                      </a:pPr>
                      <a:endParaRPr lang="en-US" altLang="en-US" sz="400" dirty="0"/>
                    </a:p>
                    <a:p>
                      <a:pPr marL="139065" algn="l" rtl="0" eaLnBrk="0">
                        <a:lnSpc>
                          <a:spcPct val="76000"/>
                        </a:lnSpc>
                        <a:spcBef>
                          <a:spcPts val="5"/>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W</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6000"/>
                        </a:lnSpc>
                      </a:pPr>
                      <a:endParaRPr lang="en-US" altLang="en-US" sz="400" dirty="0"/>
                    </a:p>
                    <a:p>
                      <a:pPr marL="131445" algn="l" rtl="0" eaLnBrk="0">
                        <a:lnSpc>
                          <a:spcPct val="76000"/>
                        </a:lnSpc>
                        <a:spcBef>
                          <a:spcPts val="0"/>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X</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c>
                  <a:txBody>
                    <a:bodyPr/>
                    <a:p>
                      <a:pPr algn="l" rtl="0" eaLnBrk="0">
                        <a:lnSpc>
                          <a:spcPct val="106000"/>
                        </a:lnSpc>
                      </a:pPr>
                      <a:endParaRPr lang="en-US" altLang="en-US" sz="400" dirty="0"/>
                    </a:p>
                    <a:p>
                      <a:pPr marL="139065" algn="l" rtl="0" eaLnBrk="0">
                        <a:lnSpc>
                          <a:spcPct val="76000"/>
                        </a:lnSpc>
                        <a:spcBef>
                          <a:spcPts val="0"/>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Y</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p>
                      <a:pPr algn="l" rtl="0" eaLnBrk="0">
                        <a:lnSpc>
                          <a:spcPct val="106000"/>
                        </a:lnSpc>
                      </a:pPr>
                      <a:endParaRPr lang="en-US" altLang="en-US" sz="400" dirty="0"/>
                    </a:p>
                    <a:p>
                      <a:pPr marL="139700" algn="l" rtl="0" eaLnBrk="0">
                        <a:lnSpc>
                          <a:spcPct val="76000"/>
                        </a:lnSpc>
                        <a:spcBef>
                          <a:spcPts val="0"/>
                        </a:spcBef>
                      </a:pPr>
                      <a:r>
                        <a:rPr sz="2000" kern="0" spc="-20" dirty="0">
                          <a:solidFill>
                            <a:srgbClr val="000000">
                              <a:alpha val="100000"/>
                            </a:srgbClr>
                          </a:solidFill>
                          <a:latin typeface="Times New Roman" panose="02020603050405020304"/>
                          <a:ea typeface="Times New Roman" panose="02020603050405020304"/>
                          <a:cs typeface="Times New Roman" panose="02020603050405020304"/>
                        </a:rPr>
                        <a:t>Z</a:t>
                      </a:r>
                      <a:endParaRPr lang="en-US" altLang="en-US" sz="2000" dirty="0"/>
                    </a:p>
                  </a:txBody>
                  <a:tcPr marL="0" marR="0" marT="0" marB="0" vert="horz">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tr>
            </a:tbl>
          </a:graphicData>
        </a:graphic>
      </p:graphicFrame>
      <p:sp>
        <p:nvSpPr>
          <p:cNvPr id="1049170" name="textbox 66"/>
          <p:cNvSpPr/>
          <p:nvPr/>
        </p:nvSpPr>
        <p:spPr>
          <a:xfrm>
            <a:off x="921738" y="1518442"/>
            <a:ext cx="5572759" cy="447675"/>
          </a:xfrm>
          <a:prstGeom prst="rect">
            <a:avLst/>
          </a:prstGeom>
        </p:spPr>
        <p:txBody>
          <a:bodyPr vert="horz" wrap="square" lIns="0" tIns="0" rIns="0" bIns="0"/>
          <a:p>
            <a:pPr algn="l" rtl="0" eaLnBrk="0">
              <a:lnSpc>
                <a:spcPct val="83000"/>
              </a:lnSpc>
            </a:pPr>
            <a:endParaRPr lang="en-US" altLang="en-US" sz="100" dirty="0"/>
          </a:p>
          <a:p>
            <a:pPr algn="r" rtl="0" eaLnBrk="0">
              <a:lnSpc>
                <a:spcPts val="3320"/>
              </a:lnSpc>
            </a:pPr>
            <a:r>
              <a:rPr sz="2700" kern="0" spc="60" dirty="0">
                <a:solidFill>
                  <a:srgbClr val="000000">
                    <a:alpha val="100000"/>
                  </a:srgbClr>
                </a:solidFill>
                <a:latin typeface="Arial" panose="020B0604020202020204"/>
                <a:ea typeface="Arial" panose="020B0604020202020204"/>
                <a:cs typeface="Arial" panose="020B0604020202020204"/>
              </a:rPr>
              <a:t>• </a:t>
            </a:r>
            <a:r>
              <a:rPr sz="2700" kern="0" spc="6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205-123</a:t>
            </a:r>
            <a:r>
              <a:rPr sz="2700" kern="0" spc="6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6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B.C.，古希腊人棋盘密码</a:t>
            </a:r>
            <a:endParaRPr lang="en-US" altLang="en-US" sz="2700" dirty="0"/>
          </a:p>
        </p:txBody>
      </p:sp>
      <p:sp>
        <p:nvSpPr>
          <p:cNvPr id="1049171" name="textbox 68"/>
          <p:cNvSpPr/>
          <p:nvPr/>
        </p:nvSpPr>
        <p:spPr>
          <a:xfrm>
            <a:off x="811783" y="395731"/>
            <a:ext cx="2384425" cy="734059"/>
          </a:xfrm>
          <a:prstGeom prst="rect">
            <a:avLst/>
          </a:prstGeom>
        </p:spPr>
        <p:txBody>
          <a:bodyPr vert="horz" wrap="square" lIns="0" tIns="0" rIns="0" bIns="0"/>
          <a:p>
            <a:pPr algn="l" rtl="0" eaLnBrk="0">
              <a:lnSpc>
                <a:spcPct val="100000"/>
              </a:lnSpc>
            </a:pPr>
            <a:endParaRPr lang="en-US" altLang="en-US" sz="700" dirty="0"/>
          </a:p>
          <a:p>
            <a:pPr marL="431800" algn="l" rtl="0" eaLnBrk="0">
              <a:lnSpc>
                <a:spcPct val="94000"/>
              </a:lnSpc>
              <a:spcBef>
                <a:spcPts val="0"/>
              </a:spcBef>
              <a:tabLst>
                <a:tab pos="770890" algn="l"/>
              </a:tabLst>
            </a:pPr>
            <a:r>
              <a:rPr sz="32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50" dirty="0">
                <a:solidFill>
                  <a:srgbClr val="1F4E79">
                    <a:alpha val="100000"/>
                  </a:srgbClr>
                </a:solidFill>
                <a:latin typeface="仿宋" panose="02010609060101010101" charset="-122"/>
                <a:ea typeface="仿宋" panose="02010609060101010101" charset="-122"/>
                <a:cs typeface="仿宋" panose="02010609060101010101" charset="-122"/>
              </a:rPr>
              <a:t>棋盘密码</a:t>
            </a:r>
            <a:endParaRPr lang="en-US" altLang="en-US" sz="3200" dirty="0"/>
          </a:p>
        </p:txBody>
      </p:sp>
      <p:pic>
        <p:nvPicPr>
          <p:cNvPr id="2097248" name="picture 70"/>
          <p:cNvPicPr>
            <a:picLocks noChangeAspect="1"/>
          </p:cNvPicPr>
          <p:nvPr/>
        </p:nvPicPr>
        <p:blipFill>
          <a:blip r:embed="rId1"/>
          <a:stretch>
            <a:fillRect/>
          </a:stretch>
        </p:blipFill>
        <p:spPr>
          <a:xfrm rot="21600000">
            <a:off x="824483" y="408431"/>
            <a:ext cx="419100" cy="655320"/>
          </a:xfrm>
          <a:prstGeom prst="rect">
            <a:avLst/>
          </a:prstGeom>
        </p:spPr>
      </p:pic>
      <p:sp>
        <p:nvSpPr>
          <p:cNvPr id="1049172" name="textbox 72"/>
          <p:cNvSpPr/>
          <p:nvPr/>
        </p:nvSpPr>
        <p:spPr>
          <a:xfrm>
            <a:off x="3828651" y="5625761"/>
            <a:ext cx="3552825" cy="368300"/>
          </a:xfrm>
          <a:prstGeom prst="rect">
            <a:avLst/>
          </a:prstGeom>
        </p:spPr>
        <p:txBody>
          <a:bodyPr vert="horz" wrap="square" lIns="0" tIns="0" rIns="0" bIns="0"/>
          <a:p>
            <a:pPr algn="l" rtl="0" eaLnBrk="0">
              <a:lnSpc>
                <a:spcPct val="90000"/>
              </a:lnSpc>
            </a:pPr>
            <a:endParaRPr lang="en-US" altLang="en-US" sz="100" dirty="0"/>
          </a:p>
          <a:p>
            <a:pPr marL="12700" algn="l" rtl="0" eaLnBrk="0">
              <a:lnSpc>
                <a:spcPct val="83000"/>
              </a:lnSpc>
            </a:pPr>
            <a:r>
              <a:rPr sz="2700" kern="0" spc="-10" dirty="0">
                <a:solidFill>
                  <a:srgbClr val="000000">
                    <a:alpha val="100000"/>
                  </a:srgbClr>
                </a:solidFill>
                <a:latin typeface="Calibri" panose="020F0502020204030204"/>
                <a:ea typeface="Calibri" panose="020F0502020204030204"/>
                <a:cs typeface="Calibri" panose="020F0502020204030204"/>
              </a:rPr>
              <a:t>HELLO</a:t>
            </a:r>
            <a:r>
              <a:rPr sz="2700" kern="0" spc="110" dirty="0">
                <a:solidFill>
                  <a:srgbClr val="000000">
                    <a:alpha val="100000"/>
                  </a:srgbClr>
                </a:solidFill>
                <a:latin typeface="Calibri" panose="020F0502020204030204"/>
                <a:ea typeface="Calibri" panose="020F0502020204030204"/>
                <a:cs typeface="Calibri" panose="020F0502020204030204"/>
              </a:rPr>
              <a:t>   </a:t>
            </a:r>
            <a:r>
              <a:rPr sz="2700" kern="0" spc="-10" dirty="0">
                <a:solidFill>
                  <a:srgbClr val="000000">
                    <a:alpha val="100000"/>
                  </a:srgbClr>
                </a:solidFill>
                <a:latin typeface="Wingdings" panose="05000000000000000000"/>
                <a:ea typeface="Wingdings" panose="05000000000000000000"/>
                <a:cs typeface="Wingdings" panose="05000000000000000000"/>
              </a:rPr>
              <a:t></a:t>
            </a:r>
            <a:r>
              <a:rPr sz="2700" kern="0" spc="-380" dirty="0">
                <a:solidFill>
                  <a:srgbClr val="000000">
                    <a:alpha val="100000"/>
                  </a:srgbClr>
                </a:solidFill>
                <a:latin typeface="Wingdings" panose="05000000000000000000"/>
                <a:ea typeface="Wingdings" panose="05000000000000000000"/>
                <a:cs typeface="Wingdings" panose="05000000000000000000"/>
              </a:rPr>
              <a:t> </a:t>
            </a:r>
            <a:r>
              <a:rPr sz="2700" kern="0" spc="-10" dirty="0">
                <a:solidFill>
                  <a:srgbClr val="000000">
                    <a:alpha val="100000"/>
                  </a:srgbClr>
                </a:solidFill>
                <a:latin typeface="Calibri" panose="020F0502020204030204"/>
                <a:ea typeface="Calibri" panose="020F0502020204030204"/>
                <a:cs typeface="Calibri" panose="020F0502020204030204"/>
              </a:rPr>
              <a:t>2315313134</a:t>
            </a:r>
            <a:endParaRPr lang="en-US" altLang="en-US" sz="2700" dirty="0"/>
          </a:p>
        </p:txBody>
      </p:sp>
      <p:sp>
        <p:nvSpPr>
          <p:cNvPr id="1049173"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
        <p:nvSpPr>
          <p:cNvPr id="1049174" name="rect"/>
          <p:cNvSpPr/>
          <p:nvPr/>
        </p:nvSpPr>
        <p:spPr>
          <a:xfrm>
            <a:off x="1465326" y="1019555"/>
            <a:ext cx="9037573" cy="28956"/>
          </a:xfrm>
          <a:prstGeom prst="rect">
            <a:avLst/>
          </a:prstGeom>
          <a:solidFill>
            <a:srgbClr val="5B9BD5">
              <a:alpha val="100000"/>
            </a:srgbClr>
          </a:solidFill>
          <a:ln cap="flat">
            <a:noFill/>
            <a:prstDash val="solid"/>
            <a:miter lim="0"/>
          </a:ln>
        </p:spPr>
        <p:txBody>
          <a:bodyPr rtlCol="0"/>
          <a:p>
            <a:pPr algn="ct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223" name=""/>
        <p:cNvGrpSpPr/>
        <p:nvPr/>
      </p:nvGrpSpPr>
      <p:grpSpPr>
        <a:xfrm>
          <a:off x="0" y="0"/>
          <a:ext cx="0" cy="0"/>
          <a:chOff x="0" y="0"/>
          <a:chExt cx="0" cy="0"/>
        </a:xfrm>
      </p:grpSpPr>
      <p:sp>
        <p:nvSpPr>
          <p:cNvPr id="1049176"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
        <p:nvSpPr>
          <p:cNvPr id="1049177" name="rect"/>
          <p:cNvSpPr/>
          <p:nvPr/>
        </p:nvSpPr>
        <p:spPr>
          <a:xfrm>
            <a:off x="1465326" y="1019555"/>
            <a:ext cx="9037573" cy="28956"/>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49" name="picture 84"/>
          <p:cNvPicPr>
            <a:picLocks noChangeAspect="1"/>
          </p:cNvPicPr>
          <p:nvPr/>
        </p:nvPicPr>
        <p:blipFill>
          <a:blip r:embed="rId1"/>
          <a:stretch>
            <a:fillRect/>
          </a:stretch>
        </p:blipFill>
        <p:spPr>
          <a:xfrm rot="21600000">
            <a:off x="1524000" y="0"/>
            <a:ext cx="9144000" cy="6821422"/>
          </a:xfrm>
          <a:prstGeom prst="rect">
            <a:avLst/>
          </a:prstGeom>
        </p:spPr>
      </p:pic>
      <p:sp>
        <p:nvSpPr>
          <p:cNvPr id="1049178" name="textbox 86"/>
          <p:cNvSpPr/>
          <p:nvPr/>
        </p:nvSpPr>
        <p:spPr>
          <a:xfrm>
            <a:off x="4608957" y="2268372"/>
            <a:ext cx="3420109" cy="790575"/>
          </a:xfrm>
          <a:prstGeom prst="rect">
            <a:avLst/>
          </a:prstGeom>
        </p:spPr>
        <p:txBody>
          <a:bodyPr vert="horz" wrap="square" lIns="0" tIns="0" rIns="0" bIns="0"/>
          <a:p>
            <a:pPr algn="l" rtl="0" eaLnBrk="0">
              <a:lnSpc>
                <a:spcPct val="94000"/>
              </a:lnSpc>
            </a:pPr>
            <a:endParaRPr lang="en-US" altLang="en-US" sz="100" dirty="0"/>
          </a:p>
          <a:p>
            <a:pPr marL="295275" algn="l" rtl="0" eaLnBrk="0">
              <a:lnSpc>
                <a:spcPct val="76000"/>
              </a:lnSpc>
            </a:pPr>
            <a:r>
              <a:rPr sz="2400" b="1" kern="0" spc="-30" dirty="0">
                <a:solidFill>
                  <a:srgbClr val="0000FF">
                    <a:alpha val="100000"/>
                  </a:srgbClr>
                </a:solidFill>
                <a:latin typeface="Times New Roman" panose="02020603050405020304"/>
                <a:ea typeface="Times New Roman" panose="02020603050405020304"/>
                <a:cs typeface="Times New Roman" panose="02020603050405020304"/>
              </a:rPr>
              <a:t>System</a:t>
            </a:r>
            <a:endParaRPr lang="en-US" altLang="en-US" sz="2400" dirty="0"/>
          </a:p>
          <a:p>
            <a:pPr algn="l" rtl="0" eaLnBrk="0">
              <a:lnSpc>
                <a:spcPct val="107000"/>
              </a:lnSpc>
            </a:pPr>
            <a:endParaRPr lang="en-US" altLang="en-US" sz="700" dirty="0"/>
          </a:p>
          <a:p>
            <a:pPr algn="r" rtl="0" eaLnBrk="0">
              <a:lnSpc>
                <a:spcPts val="2920"/>
              </a:lnSpc>
              <a:spcBef>
                <a:spcPts val="5"/>
              </a:spcBef>
            </a:pPr>
            <a:r>
              <a:rPr sz="2200" kern="0" spc="-100" dirty="0">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a:t>
            </a:r>
            <a:r>
              <a:rPr sz="2200" kern="0" spc="250" dirty="0">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  </a:t>
            </a:r>
            <a:r>
              <a:rPr sz="2200" kern="0" spc="-100" dirty="0">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a:t>
            </a:r>
            <a:r>
              <a:rPr sz="2200" kern="0" spc="550" dirty="0">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  </a:t>
            </a:r>
            <a:r>
              <a:rPr sz="2200" kern="0" spc="-100" dirty="0">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a:t>
            </a:r>
            <a:r>
              <a:rPr sz="2200" kern="0" spc="310" dirty="0">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  </a:t>
            </a:r>
            <a:r>
              <a:rPr sz="2200" kern="0" spc="-100" dirty="0">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a:t>
            </a:r>
            <a:r>
              <a:rPr sz="2200" kern="0" spc="40" dirty="0">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        </a:t>
            </a:r>
            <a:r>
              <a:rPr sz="2700" kern="0" spc="-120" baseline="14000" dirty="0">
                <a:solidFill>
                  <a:srgbClr val="0000FF">
                    <a:alpha val="100000"/>
                  </a:srgbClr>
                </a:solidFill>
                <a:latin typeface="Times New Roman" panose="02020603050405020304"/>
                <a:ea typeface="Times New Roman" panose="02020603050405020304"/>
                <a:cs typeface="Times New Roman" panose="02020603050405020304"/>
              </a:rPr>
              <a:t>.</a:t>
            </a:r>
            <a:endParaRPr lang="en-US" altLang="en-US" sz="2700" baseline="14000" dirty="0"/>
          </a:p>
        </p:txBody>
      </p:sp>
      <p:sp>
        <p:nvSpPr>
          <p:cNvPr id="1049179" name="textbox 88"/>
          <p:cNvSpPr/>
          <p:nvPr/>
        </p:nvSpPr>
        <p:spPr>
          <a:xfrm>
            <a:off x="8502784" y="4555343"/>
            <a:ext cx="1407160" cy="1380489"/>
          </a:xfrm>
          <a:prstGeom prst="rect">
            <a:avLst/>
          </a:prstGeom>
        </p:spPr>
        <p:txBody>
          <a:bodyPr vert="horz" wrap="square" lIns="0" tIns="0" rIns="0" bIns="0"/>
          <a:p>
            <a:pPr algn="l" rtl="0" eaLnBrk="0">
              <a:lnSpc>
                <a:spcPct val="82000"/>
              </a:lnSpc>
            </a:pPr>
            <a:endParaRPr lang="en-US" altLang="en-US" sz="100" dirty="0"/>
          </a:p>
          <a:p>
            <a:pPr algn="r" rtl="0" eaLnBrk="0">
              <a:lnSpc>
                <a:spcPct val="87000"/>
              </a:lnSpc>
            </a:pPr>
            <a:r>
              <a:rPr sz="1800" kern="0" spc="-60" dirty="0">
                <a:solidFill>
                  <a:srgbClr val="0000FF">
                    <a:alpha val="100000"/>
                  </a:srgbClr>
                </a:solidFill>
                <a:latin typeface="Times New Roman" panose="02020603050405020304"/>
                <a:ea typeface="Times New Roman" panose="02020603050405020304"/>
                <a:cs typeface="Times New Roman" panose="02020603050405020304"/>
              </a:rPr>
              <a:t>S:</a:t>
            </a:r>
            <a:r>
              <a:rPr sz="1800" kern="0" spc="90" dirty="0">
                <a:solidFill>
                  <a:srgbClr val="0000FF">
                    <a:alpha val="100000"/>
                  </a:srgbClr>
                </a:solidFill>
                <a:latin typeface="Times New Roman" panose="02020603050405020304"/>
                <a:ea typeface="Times New Roman" panose="02020603050405020304"/>
                <a:cs typeface="Times New Roman" panose="02020603050405020304"/>
              </a:rPr>
              <a:t>     </a:t>
            </a:r>
            <a:r>
              <a:rPr sz="1800" kern="0" spc="-50" dirty="0">
                <a:solidFill>
                  <a:srgbClr val="0000FF">
                    <a:alpha val="100000"/>
                  </a:srgbClr>
                </a:solidFill>
                <a:latin typeface="Times New Roman" panose="02020603050405020304"/>
                <a:ea typeface="Times New Roman" panose="02020603050405020304"/>
                <a:cs typeface="Times New Roman" panose="02020603050405020304"/>
              </a:rPr>
              <a:t>T:</a:t>
            </a:r>
            <a:r>
              <a:rPr sz="1800" kern="0" spc="10" dirty="0">
                <a:solidFill>
                  <a:srgbClr val="0000FF">
                    <a:alpha val="100000"/>
                  </a:srgbClr>
                </a:solidFill>
                <a:latin typeface="Times New Roman" panose="02020603050405020304"/>
                <a:ea typeface="Times New Roman" panose="02020603050405020304"/>
                <a:cs typeface="Times New Roman" panose="02020603050405020304"/>
              </a:rPr>
              <a:t>       </a:t>
            </a:r>
            <a:r>
              <a:rPr sz="2900" kern="0" spc="-50" baseline="5000" dirty="0">
                <a:solidFill>
                  <a:srgbClr val="0000FF">
                    <a:alpha val="100000"/>
                  </a:srgbClr>
                </a:solidFill>
                <a:latin typeface="Times New Roman" panose="02020603050405020304"/>
                <a:ea typeface="Times New Roman" panose="02020603050405020304"/>
                <a:cs typeface="Times New Roman" panose="02020603050405020304"/>
              </a:rPr>
              <a:t>:</a:t>
            </a:r>
            <a:r>
              <a:rPr sz="2900" kern="0" spc="-30" baseline="5000" dirty="0">
                <a:solidFill>
                  <a:srgbClr val="0000FF">
                    <a:alpha val="100000"/>
                  </a:srgbClr>
                </a:solidFill>
                <a:latin typeface="Times New Roman" panose="02020603050405020304"/>
                <a:ea typeface="Times New Roman" panose="02020603050405020304"/>
                <a:cs typeface="Times New Roman" panose="02020603050405020304"/>
              </a:rPr>
              <a:t>U</a:t>
            </a:r>
            <a:endParaRPr lang="en-US" altLang="en-US" sz="2900" baseline="5000" dirty="0"/>
          </a:p>
          <a:p>
            <a:pPr algn="l" rtl="0" eaLnBrk="0">
              <a:lnSpc>
                <a:spcPct val="148000"/>
              </a:lnSpc>
            </a:pPr>
            <a:endParaRPr lang="en-US" altLang="en-US" sz="1000" dirty="0"/>
          </a:p>
          <a:p>
            <a:pPr marL="12700" algn="l" rtl="0" eaLnBrk="0">
              <a:lnSpc>
                <a:spcPct val="83000"/>
              </a:lnSpc>
              <a:spcBef>
                <a:spcPts val="575"/>
              </a:spcBef>
            </a:pPr>
            <a:r>
              <a:rPr sz="2900" kern="0" spc="-20" baseline="4000" dirty="0">
                <a:solidFill>
                  <a:srgbClr val="0000FF">
                    <a:alpha val="100000"/>
                  </a:srgbClr>
                </a:solidFill>
                <a:latin typeface="Times New Roman" panose="02020603050405020304"/>
                <a:ea typeface="Times New Roman" panose="02020603050405020304"/>
                <a:cs typeface="Times New Roman" panose="02020603050405020304"/>
              </a:rPr>
              <a:t>V:</a:t>
            </a:r>
            <a:r>
              <a:rPr sz="1800" kern="0" spc="60" dirty="0">
                <a:solidFill>
                  <a:srgbClr val="0000FF">
                    <a:alpha val="100000"/>
                  </a:srgbClr>
                </a:solidFill>
                <a:latin typeface="Times New Roman" panose="02020603050405020304"/>
                <a:ea typeface="Times New Roman" panose="02020603050405020304"/>
                <a:cs typeface="Times New Roman" panose="02020603050405020304"/>
              </a:rPr>
              <a:t>     </a:t>
            </a:r>
            <a:r>
              <a:rPr sz="1800" kern="0" spc="-20" dirty="0">
                <a:solidFill>
                  <a:srgbClr val="0000FF">
                    <a:alpha val="100000"/>
                  </a:srgbClr>
                </a:solidFill>
                <a:latin typeface="Times New Roman" panose="02020603050405020304"/>
                <a:ea typeface="Times New Roman" panose="02020603050405020304"/>
                <a:cs typeface="Times New Roman" panose="02020603050405020304"/>
              </a:rPr>
              <a:t>W:      :X</a:t>
            </a:r>
            <a:endParaRPr lang="en-US" altLang="en-US" sz="1800" dirty="0"/>
          </a:p>
          <a:p>
            <a:pPr algn="l" rtl="0" eaLnBrk="0">
              <a:lnSpc>
                <a:spcPct val="147000"/>
              </a:lnSpc>
            </a:pPr>
            <a:endParaRPr lang="en-US" altLang="en-US" sz="1000" dirty="0"/>
          </a:p>
          <a:p>
            <a:pPr algn="l" rtl="0" eaLnBrk="0">
              <a:lnSpc>
                <a:spcPct val="114000"/>
              </a:lnSpc>
            </a:pPr>
            <a:endParaRPr lang="en-US" altLang="en-US" sz="400" dirty="0"/>
          </a:p>
          <a:p>
            <a:pPr marL="38100" algn="l" rtl="0" eaLnBrk="0">
              <a:lnSpc>
                <a:spcPct val="100000"/>
              </a:lnSpc>
              <a:spcBef>
                <a:spcPts val="0"/>
              </a:spcBef>
            </a:pPr>
            <a:r>
              <a:rPr sz="1800" kern="0" spc="-10" dirty="0">
                <a:solidFill>
                  <a:srgbClr val="0000FF">
                    <a:alpha val="100000"/>
                  </a:srgbClr>
                </a:solidFill>
                <a:latin typeface="Times New Roman" panose="02020603050405020304"/>
                <a:ea typeface="Times New Roman" panose="02020603050405020304"/>
                <a:cs typeface="Times New Roman" panose="02020603050405020304"/>
              </a:rPr>
              <a:t>Y:</a:t>
            </a:r>
            <a:r>
              <a:rPr sz="1800" kern="0" spc="70" dirty="0">
                <a:solidFill>
                  <a:srgbClr val="0000FF">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FF">
                    <a:alpha val="100000"/>
                  </a:srgbClr>
                </a:solidFill>
                <a:latin typeface="Times New Roman" panose="02020603050405020304"/>
                <a:ea typeface="Times New Roman" panose="02020603050405020304"/>
                <a:cs typeface="Times New Roman" panose="02020603050405020304"/>
              </a:rPr>
              <a:t>Z:</a:t>
            </a:r>
            <a:r>
              <a:rPr sz="1800" kern="0" spc="40" dirty="0">
                <a:solidFill>
                  <a:srgbClr val="0000FF">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FF">
                    <a:alpha val="100000"/>
                  </a:srgbClr>
                </a:solidFill>
                <a:latin typeface="Times New Roman" panose="02020603050405020304"/>
                <a:ea typeface="Times New Roman" panose="02020603050405020304"/>
                <a:cs typeface="Times New Roman" panose="02020603050405020304"/>
              </a:rPr>
              <a:t>:.</a:t>
            </a:r>
            <a:endParaRPr lang="en-US" altLang="en-US" sz="1800" dirty="0"/>
          </a:p>
        </p:txBody>
      </p:sp>
      <p:sp>
        <p:nvSpPr>
          <p:cNvPr id="1049180" name="textbox 90"/>
          <p:cNvSpPr/>
          <p:nvPr/>
        </p:nvSpPr>
        <p:spPr>
          <a:xfrm>
            <a:off x="2828712" y="3763921"/>
            <a:ext cx="4204334" cy="428625"/>
          </a:xfrm>
          <a:prstGeom prst="rect">
            <a:avLst/>
          </a:prstGeom>
        </p:spPr>
        <p:txBody>
          <a:bodyPr vert="horz" wrap="square" lIns="0" tIns="0" rIns="0" bIns="0"/>
          <a:p>
            <a:pPr algn="l" rtl="0" eaLnBrk="0">
              <a:lnSpc>
                <a:spcPct val="81000"/>
              </a:lnSpc>
            </a:pPr>
            <a:endParaRPr lang="en-US" altLang="en-US" sz="100" dirty="0"/>
          </a:p>
          <a:p>
            <a:pPr marL="12700" algn="l" rtl="0" eaLnBrk="0">
              <a:lnSpc>
                <a:spcPct val="98000"/>
              </a:lnSpc>
            </a:pPr>
            <a:r>
              <a:rPr sz="2700" kern="0" spc="90" dirty="0">
                <a:ln w="10154" cap="flat" cmpd="sng">
                  <a:solidFill>
                    <a:srgbClr val="0000FF">
                      <a:alpha val="100000"/>
                    </a:srgbClr>
                  </a:solidFill>
                  <a:prstDash val="solid"/>
                  <a:miter lim="10"/>
                </a:ln>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密文字母表（</a:t>
            </a:r>
            <a:r>
              <a:rPr sz="2700" kern="0" spc="90" dirty="0">
                <a:ln w="10154" cap="flat" cmpd="sng">
                  <a:solidFill>
                    <a:srgbClr val="FF0000">
                      <a:alpha val="100000"/>
                    </a:srgbClr>
                  </a:solidFill>
                  <a:prstDash val="solid"/>
                  <a:miter lim="10"/>
                </a:ln>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需要保密</a:t>
            </a:r>
            <a:r>
              <a:rPr sz="2700" kern="0" spc="-440" dirty="0">
                <a:ln w="10154" cap="flat" cmpd="sng">
                  <a:solidFill>
                    <a:srgbClr val="0000FF">
                      <a:alpha val="100000"/>
                    </a:srgbClr>
                  </a:solidFill>
                  <a:prstDash val="solid"/>
                  <a:miter lim="10"/>
                </a:ln>
                <a:solidFill>
                  <a:srgbClr val="0000FF">
                    <a:alpha val="100000"/>
                  </a:srgbClr>
                </a:solidFill>
                <a:latin typeface="宋体" panose="02010600030101010101" pitchFamily="2" charset="-122"/>
                <a:ea typeface="宋体" panose="02010600030101010101" pitchFamily="2" charset="-122"/>
                <a:cs typeface="宋体" panose="02010600030101010101" pitchFamily="2" charset="-122"/>
              </a:rPr>
              <a:t>）：</a:t>
            </a:r>
            <a:endParaRPr lang="en-US" altLang="en-US" sz="2700" dirty="0"/>
          </a:p>
        </p:txBody>
      </p:sp>
      <p:sp>
        <p:nvSpPr>
          <p:cNvPr id="1049181" name="textbox 92"/>
          <p:cNvSpPr/>
          <p:nvPr/>
        </p:nvSpPr>
        <p:spPr>
          <a:xfrm>
            <a:off x="5818280" y="4610006"/>
            <a:ext cx="771525" cy="1296035"/>
          </a:xfrm>
          <a:prstGeom prst="rect">
            <a:avLst/>
          </a:prstGeom>
        </p:spPr>
        <p:txBody>
          <a:bodyPr vert="horz" wrap="square" lIns="0" tIns="0" rIns="0" bIns="0"/>
          <a:p>
            <a:pPr algn="l" rtl="0" eaLnBrk="0">
              <a:lnSpc>
                <a:spcPct val="83000"/>
              </a:lnSpc>
            </a:pPr>
            <a:endParaRPr lang="en-US" altLang="en-US" sz="100" dirty="0"/>
          </a:p>
          <a:p>
            <a:pPr marL="139065" algn="l" rtl="0" eaLnBrk="0">
              <a:lnSpc>
                <a:spcPts val="1285"/>
              </a:lnSpc>
            </a:pPr>
            <a:r>
              <a:rPr sz="1800" kern="0" spc="10" dirty="0">
                <a:solidFill>
                  <a:srgbClr val="0000FF">
                    <a:alpha val="100000"/>
                  </a:srgbClr>
                </a:solidFill>
                <a:latin typeface="Times New Roman" panose="02020603050405020304"/>
                <a:ea typeface="Times New Roman" panose="02020603050405020304"/>
                <a:cs typeface="Times New Roman" panose="02020603050405020304"/>
              </a:rPr>
              <a:t>J.</a:t>
            </a:r>
            <a:r>
              <a:rPr sz="1800" kern="0" spc="40" dirty="0">
                <a:solidFill>
                  <a:srgbClr val="0000FF">
                    <a:alpha val="100000"/>
                  </a:srgbClr>
                </a:solidFill>
                <a:latin typeface="Times New Roman" panose="02020603050405020304"/>
                <a:ea typeface="Times New Roman" panose="02020603050405020304"/>
                <a:cs typeface="Times New Roman" panose="02020603050405020304"/>
              </a:rPr>
              <a:t>   </a:t>
            </a:r>
            <a:r>
              <a:rPr sz="1800" kern="0" spc="10" dirty="0">
                <a:solidFill>
                  <a:srgbClr val="0000FF">
                    <a:alpha val="100000"/>
                  </a:srgbClr>
                </a:solidFill>
                <a:latin typeface="Times New Roman" panose="02020603050405020304"/>
                <a:ea typeface="Times New Roman" panose="02020603050405020304"/>
                <a:cs typeface="Times New Roman" panose="02020603050405020304"/>
              </a:rPr>
              <a:t>K.</a:t>
            </a:r>
            <a:endParaRPr lang="en-US" altLang="en-US" sz="1800" dirty="0"/>
          </a:p>
          <a:p>
            <a:pPr marL="12700" algn="l" rtl="0" eaLnBrk="0">
              <a:lnSpc>
                <a:spcPct val="201000"/>
              </a:lnSpc>
              <a:spcBef>
                <a:spcPts val="40"/>
              </a:spcBef>
            </a:pPr>
            <a:r>
              <a:rPr sz="1800" kern="0" spc="40" dirty="0">
                <a:solidFill>
                  <a:srgbClr val="0000FF">
                    <a:alpha val="100000"/>
                  </a:srgbClr>
                </a:solidFill>
                <a:latin typeface="Times New Roman" panose="02020603050405020304"/>
                <a:ea typeface="Times New Roman" panose="02020603050405020304"/>
                <a:cs typeface="Times New Roman" panose="02020603050405020304"/>
              </a:rPr>
              <a:t>M.</a:t>
            </a:r>
            <a:r>
              <a:rPr sz="1800" kern="0" spc="20" dirty="0">
                <a:solidFill>
                  <a:srgbClr val="0000FF">
                    <a:alpha val="100000"/>
                  </a:srgbClr>
                </a:solidFill>
                <a:latin typeface="Times New Roman" panose="02020603050405020304"/>
                <a:ea typeface="Times New Roman" panose="02020603050405020304"/>
                <a:cs typeface="Times New Roman" panose="02020603050405020304"/>
              </a:rPr>
              <a:t>    </a:t>
            </a:r>
            <a:r>
              <a:rPr sz="1800" kern="0" spc="40" dirty="0">
                <a:solidFill>
                  <a:srgbClr val="0000FF">
                    <a:alpha val="100000"/>
                  </a:srgbClr>
                </a:solidFill>
                <a:latin typeface="Times New Roman" panose="02020603050405020304"/>
                <a:ea typeface="Times New Roman" panose="02020603050405020304"/>
                <a:cs typeface="Times New Roman" panose="02020603050405020304"/>
              </a:rPr>
              <a:t>N.</a:t>
            </a:r>
            <a:r>
              <a:rPr sz="1800" kern="0" spc="10" dirty="0">
                <a:solidFill>
                  <a:srgbClr val="0000FF">
                    <a:alpha val="100000"/>
                  </a:srgbClr>
                </a:solidFill>
                <a:latin typeface="Times New Roman" panose="02020603050405020304"/>
                <a:ea typeface="Times New Roman" panose="02020603050405020304"/>
                <a:cs typeface="Times New Roman" panose="02020603050405020304"/>
              </a:rPr>
              <a:t> </a:t>
            </a:r>
            <a:r>
              <a:rPr sz="1800" kern="0" spc="-40" dirty="0">
                <a:solidFill>
                  <a:srgbClr val="0000FF">
                    <a:alpha val="100000"/>
                  </a:srgbClr>
                </a:solidFill>
                <a:latin typeface="Times New Roman" panose="02020603050405020304"/>
                <a:ea typeface="Times New Roman" panose="02020603050405020304"/>
                <a:cs typeface="Times New Roman" panose="02020603050405020304"/>
              </a:rPr>
              <a:t>P.</a:t>
            </a:r>
            <a:r>
              <a:rPr sz="1800" kern="0" spc="10" dirty="0">
                <a:solidFill>
                  <a:srgbClr val="0000FF">
                    <a:alpha val="100000"/>
                  </a:srgbClr>
                </a:solidFill>
                <a:latin typeface="Times New Roman" panose="02020603050405020304"/>
                <a:ea typeface="Times New Roman" panose="02020603050405020304"/>
                <a:cs typeface="Times New Roman" panose="02020603050405020304"/>
              </a:rPr>
              <a:t>      </a:t>
            </a:r>
            <a:r>
              <a:rPr sz="1800" kern="0" spc="-40" dirty="0">
                <a:solidFill>
                  <a:srgbClr val="0000FF">
                    <a:alpha val="100000"/>
                  </a:srgbClr>
                </a:solidFill>
                <a:latin typeface="Times New Roman" panose="02020603050405020304"/>
                <a:ea typeface="Times New Roman" panose="02020603050405020304"/>
                <a:cs typeface="Times New Roman" panose="02020603050405020304"/>
              </a:rPr>
              <a:t>Q.</a:t>
            </a:r>
            <a:endParaRPr lang="en-US" altLang="en-US" sz="1800" dirty="0"/>
          </a:p>
        </p:txBody>
      </p:sp>
      <p:sp>
        <p:nvSpPr>
          <p:cNvPr id="1049182" name="textbox 96"/>
          <p:cNvSpPr/>
          <p:nvPr/>
        </p:nvSpPr>
        <p:spPr>
          <a:xfrm>
            <a:off x="3084249" y="2365493"/>
            <a:ext cx="887094" cy="800100"/>
          </a:xfrm>
          <a:prstGeom prst="rect">
            <a:avLst/>
          </a:prstGeom>
        </p:spPr>
        <p:txBody>
          <a:bodyPr vert="horz" wrap="square" lIns="0" tIns="0" rIns="0" bIns="0"/>
          <a:p>
            <a:pPr algn="l" rtl="0" eaLnBrk="0">
              <a:lnSpc>
                <a:spcPct val="85000"/>
              </a:lnSpc>
            </a:pPr>
            <a:endParaRPr lang="en-US" altLang="en-US" sz="100" dirty="0"/>
          </a:p>
          <a:p>
            <a:pPr marL="40640" algn="l" rtl="0" eaLnBrk="0">
              <a:lnSpc>
                <a:spcPct val="99000"/>
              </a:lnSpc>
            </a:pPr>
            <a:r>
              <a:rPr sz="2100" kern="0" spc="-1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明文：</a:t>
            </a:r>
            <a:endParaRPr lang="en-US" altLang="en-US" sz="2100" dirty="0"/>
          </a:p>
          <a:p>
            <a:pPr marL="12700" algn="l" rtl="0" eaLnBrk="0">
              <a:lnSpc>
                <a:spcPts val="3600"/>
              </a:lnSpc>
            </a:pPr>
            <a:r>
              <a:rPr sz="2200" kern="0" spc="-1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密文：</a:t>
            </a:r>
            <a:endParaRPr lang="en-US" altLang="en-US" sz="2200" dirty="0"/>
          </a:p>
        </p:txBody>
      </p:sp>
      <p:sp>
        <p:nvSpPr>
          <p:cNvPr id="1049183" name="textbox 98"/>
          <p:cNvSpPr/>
          <p:nvPr/>
        </p:nvSpPr>
        <p:spPr>
          <a:xfrm>
            <a:off x="1582442" y="488157"/>
            <a:ext cx="1210944" cy="485775"/>
          </a:xfrm>
          <a:prstGeom prst="rect">
            <a:avLst/>
          </a:prstGeom>
        </p:spPr>
        <p:txBody>
          <a:bodyPr vert="horz" wrap="square" lIns="0" tIns="0" rIns="0" bIns="0"/>
          <a:p>
            <a:pPr algn="l" rtl="0" eaLnBrk="0">
              <a:lnSpc>
                <a:spcPct val="94000"/>
              </a:lnSpc>
            </a:pPr>
            <a:endParaRPr lang="en-US" altLang="en-US" sz="100" dirty="0"/>
          </a:p>
          <a:p>
            <a:pPr marL="12700" algn="l" rtl="0" eaLnBrk="0">
              <a:lnSpc>
                <a:spcPct val="94000"/>
              </a:lnSpc>
            </a:pPr>
            <a:r>
              <a:rPr sz="3200" kern="0" spc="-100" dirty="0">
                <a:ln w="1162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兽栏法</a:t>
            </a:r>
            <a:endParaRPr lang="en-US" altLang="en-US" sz="3200" dirty="0"/>
          </a:p>
        </p:txBody>
      </p:sp>
      <p:pic>
        <p:nvPicPr>
          <p:cNvPr id="2097250" name="picture 100"/>
          <p:cNvPicPr>
            <a:picLocks noChangeAspect="1"/>
          </p:cNvPicPr>
          <p:nvPr/>
        </p:nvPicPr>
        <p:blipFill>
          <a:blip r:embed="rId2"/>
          <a:stretch>
            <a:fillRect/>
          </a:stretch>
        </p:blipFill>
        <p:spPr>
          <a:xfrm rot="21600000">
            <a:off x="824483" y="408431"/>
            <a:ext cx="419100" cy="655320"/>
          </a:xfrm>
          <a:prstGeom prst="rect">
            <a:avLst/>
          </a:prstGeom>
        </p:spPr>
      </p:pic>
      <p:sp>
        <p:nvSpPr>
          <p:cNvPr id="1049184" name="textbox 102"/>
          <p:cNvSpPr/>
          <p:nvPr/>
        </p:nvSpPr>
        <p:spPr>
          <a:xfrm>
            <a:off x="6877636" y="4606270"/>
            <a:ext cx="243840" cy="1176019"/>
          </a:xfrm>
          <a:prstGeom prst="rect">
            <a:avLst/>
          </a:prstGeom>
        </p:spPr>
        <p:txBody>
          <a:bodyPr vert="horz" wrap="square" lIns="0" tIns="0" rIns="0" bIns="0"/>
          <a:p>
            <a:pPr algn="l" rtl="0" eaLnBrk="0">
              <a:lnSpc>
                <a:spcPct val="85000"/>
              </a:lnSpc>
            </a:pPr>
            <a:endParaRPr lang="en-US" altLang="en-US" sz="100" dirty="0"/>
          </a:p>
          <a:p>
            <a:pPr marL="12700" algn="l" rtl="0" eaLnBrk="0">
              <a:lnSpc>
                <a:spcPct val="78000"/>
              </a:lnSpc>
            </a:pPr>
            <a:r>
              <a:rPr sz="1800" kern="0" spc="-30" dirty="0">
                <a:solidFill>
                  <a:srgbClr val="0000FF">
                    <a:alpha val="100000"/>
                  </a:srgbClr>
                </a:solidFill>
                <a:latin typeface="Times New Roman" panose="02020603050405020304"/>
                <a:ea typeface="Times New Roman" panose="02020603050405020304"/>
                <a:cs typeface="Times New Roman" panose="02020603050405020304"/>
              </a:rPr>
              <a:t>.L</a:t>
            </a:r>
            <a:endParaRPr lang="en-US" altLang="en-US" sz="1800" dirty="0"/>
          </a:p>
          <a:p>
            <a:pPr algn="l" rtl="0" eaLnBrk="0">
              <a:lnSpc>
                <a:spcPct val="163000"/>
              </a:lnSpc>
            </a:pPr>
            <a:endParaRPr lang="en-US" altLang="en-US" sz="1000" dirty="0"/>
          </a:p>
          <a:p>
            <a:pPr marL="12700" algn="l" rtl="0" eaLnBrk="0">
              <a:lnSpc>
                <a:spcPts val="1310"/>
              </a:lnSpc>
              <a:spcBef>
                <a:spcPts val="550"/>
              </a:spcBef>
            </a:pPr>
            <a:r>
              <a:rPr sz="1800" kern="0" spc="-30" dirty="0">
                <a:solidFill>
                  <a:srgbClr val="0000FF">
                    <a:alpha val="100000"/>
                  </a:srgbClr>
                </a:solidFill>
                <a:latin typeface="Times New Roman" panose="02020603050405020304"/>
                <a:ea typeface="Times New Roman" panose="02020603050405020304"/>
                <a:cs typeface="Times New Roman" panose="02020603050405020304"/>
              </a:rPr>
              <a:t>.O</a:t>
            </a:r>
            <a:endParaRPr lang="en-US" altLang="en-US" sz="1800" dirty="0"/>
          </a:p>
          <a:p>
            <a:pPr marL="12700" algn="l" rtl="0" eaLnBrk="0">
              <a:lnSpc>
                <a:spcPts val="3550"/>
              </a:lnSpc>
            </a:pPr>
            <a:r>
              <a:rPr sz="1800" kern="0" spc="-20" dirty="0">
                <a:solidFill>
                  <a:srgbClr val="0000FF">
                    <a:alpha val="100000"/>
                  </a:srgbClr>
                </a:solidFill>
                <a:latin typeface="Times New Roman" panose="02020603050405020304"/>
                <a:ea typeface="Times New Roman" panose="02020603050405020304"/>
                <a:cs typeface="Times New Roman" panose="02020603050405020304"/>
              </a:rPr>
              <a:t>.R</a:t>
            </a:r>
            <a:endParaRPr lang="en-US" altLang="en-US" sz="1800" dirty="0"/>
          </a:p>
        </p:txBody>
      </p:sp>
      <p:sp>
        <p:nvSpPr>
          <p:cNvPr id="1049185" name="textbox 104"/>
          <p:cNvSpPr/>
          <p:nvPr/>
        </p:nvSpPr>
        <p:spPr>
          <a:xfrm>
            <a:off x="3086883" y="4585005"/>
            <a:ext cx="215265" cy="1283335"/>
          </a:xfrm>
          <a:prstGeom prst="rect">
            <a:avLst/>
          </a:prstGeom>
        </p:spPr>
        <p:txBody>
          <a:bodyPr vert="horz" wrap="square" lIns="0" tIns="0" rIns="0" bIns="0"/>
          <a:p>
            <a:pPr algn="l" rtl="0" eaLnBrk="0">
              <a:lnSpc>
                <a:spcPct val="91000"/>
              </a:lnSpc>
            </a:pPr>
            <a:endParaRPr lang="en-US" altLang="en-US" sz="100" dirty="0"/>
          </a:p>
          <a:p>
            <a:pPr marL="12700" algn="l" rtl="0" eaLnBrk="0">
              <a:lnSpc>
                <a:spcPct val="79000"/>
              </a:lnSpc>
            </a:pPr>
            <a:r>
              <a:rPr sz="1800" kern="0" spc="40" dirty="0">
                <a:solidFill>
                  <a:srgbClr val="0000FF">
                    <a:alpha val="100000"/>
                  </a:srgbClr>
                </a:solidFill>
                <a:latin typeface="Times New Roman" panose="02020603050405020304"/>
                <a:ea typeface="Times New Roman" panose="02020603050405020304"/>
                <a:cs typeface="Times New Roman" panose="02020603050405020304"/>
              </a:rPr>
              <a:t>A</a:t>
            </a:r>
            <a:endParaRPr lang="en-US" altLang="en-US" sz="1800" dirty="0"/>
          </a:p>
          <a:p>
            <a:pPr algn="l" rtl="0" eaLnBrk="0">
              <a:lnSpc>
                <a:spcPct val="188000"/>
              </a:lnSpc>
            </a:pPr>
            <a:endParaRPr lang="en-US" altLang="en-US" sz="1000" dirty="0"/>
          </a:p>
          <a:p>
            <a:pPr marL="31750" algn="l" rtl="0" eaLnBrk="0">
              <a:lnSpc>
                <a:spcPts val="1255"/>
              </a:lnSpc>
              <a:spcBef>
                <a:spcPts val="545"/>
              </a:spcBef>
            </a:pPr>
            <a:r>
              <a:rPr sz="1800" kern="0" spc="20" dirty="0">
                <a:solidFill>
                  <a:srgbClr val="0000FF">
                    <a:alpha val="100000"/>
                  </a:srgbClr>
                </a:solidFill>
                <a:latin typeface="Times New Roman" panose="02020603050405020304"/>
                <a:ea typeface="Times New Roman" panose="02020603050405020304"/>
                <a:cs typeface="Times New Roman" panose="02020603050405020304"/>
              </a:rPr>
              <a:t>D</a:t>
            </a:r>
            <a:endParaRPr lang="en-US" altLang="en-US" sz="1800" dirty="0"/>
          </a:p>
          <a:p>
            <a:pPr marL="36195" algn="l" rtl="0" eaLnBrk="0">
              <a:lnSpc>
                <a:spcPts val="4130"/>
              </a:lnSpc>
            </a:pPr>
            <a:r>
              <a:rPr sz="1800" kern="0" spc="-10" dirty="0">
                <a:solidFill>
                  <a:srgbClr val="0000FF">
                    <a:alpha val="100000"/>
                  </a:srgbClr>
                </a:solidFill>
                <a:latin typeface="Times New Roman" panose="02020603050405020304"/>
                <a:ea typeface="Times New Roman" panose="02020603050405020304"/>
                <a:cs typeface="Times New Roman" panose="02020603050405020304"/>
              </a:rPr>
              <a:t>G</a:t>
            </a:r>
            <a:endParaRPr lang="en-US" altLang="en-US" sz="1800" dirty="0"/>
          </a:p>
        </p:txBody>
      </p:sp>
      <p:sp>
        <p:nvSpPr>
          <p:cNvPr id="1049186" name="textbox 106"/>
          <p:cNvSpPr/>
          <p:nvPr/>
        </p:nvSpPr>
        <p:spPr>
          <a:xfrm>
            <a:off x="3641627" y="4588617"/>
            <a:ext cx="199389" cy="1331594"/>
          </a:xfrm>
          <a:prstGeom prst="rect">
            <a:avLst/>
          </a:prstGeom>
        </p:spPr>
        <p:txBody>
          <a:bodyPr vert="horz" wrap="square" lIns="0" tIns="0" rIns="0" bIns="0"/>
          <a:p>
            <a:pPr algn="l" rtl="0" eaLnBrk="0">
              <a:lnSpc>
                <a:spcPct val="85000"/>
              </a:lnSpc>
            </a:pPr>
            <a:endParaRPr lang="en-US" altLang="en-US" sz="100" dirty="0"/>
          </a:p>
          <a:p>
            <a:pPr marL="29845" algn="l" rtl="0" eaLnBrk="0">
              <a:lnSpc>
                <a:spcPct val="78000"/>
              </a:lnSpc>
            </a:pPr>
            <a:r>
              <a:rPr sz="1800" kern="0" spc="20" dirty="0">
                <a:solidFill>
                  <a:srgbClr val="0000FF">
                    <a:alpha val="100000"/>
                  </a:srgbClr>
                </a:solidFill>
                <a:latin typeface="Times New Roman" panose="02020603050405020304"/>
                <a:ea typeface="Times New Roman" panose="02020603050405020304"/>
                <a:cs typeface="Times New Roman" panose="02020603050405020304"/>
              </a:rPr>
              <a:t>B</a:t>
            </a:r>
            <a:endParaRPr lang="en-US" altLang="en-US" sz="1800" dirty="0"/>
          </a:p>
          <a:p>
            <a:pPr algn="l" rtl="0" eaLnBrk="0">
              <a:lnSpc>
                <a:spcPct val="186000"/>
              </a:lnSpc>
            </a:pPr>
            <a:endParaRPr lang="en-US" altLang="en-US" sz="1000" dirty="0"/>
          </a:p>
          <a:p>
            <a:pPr marL="39370" algn="l" rtl="0" eaLnBrk="0">
              <a:lnSpc>
                <a:spcPct val="78000"/>
              </a:lnSpc>
              <a:spcBef>
                <a:spcPts val="550"/>
              </a:spcBef>
            </a:pPr>
            <a:r>
              <a:rPr sz="1800" kern="0" spc="0" dirty="0">
                <a:solidFill>
                  <a:srgbClr val="0000FF">
                    <a:alpha val="100000"/>
                  </a:srgbClr>
                </a:solidFill>
                <a:latin typeface="Times New Roman" panose="02020603050405020304"/>
                <a:ea typeface="Times New Roman" panose="02020603050405020304"/>
                <a:cs typeface="Times New Roman" panose="02020603050405020304"/>
              </a:rPr>
              <a:t>E</a:t>
            </a:r>
            <a:endParaRPr lang="en-US" altLang="en-US" sz="1800" dirty="0"/>
          </a:p>
          <a:p>
            <a:pPr algn="l" rtl="0" eaLnBrk="0">
              <a:lnSpc>
                <a:spcPct val="158000"/>
              </a:lnSpc>
            </a:pPr>
            <a:endParaRPr lang="en-US" altLang="en-US" sz="1000" dirty="0"/>
          </a:p>
          <a:p>
            <a:pPr algn="l" rtl="0" eaLnBrk="0">
              <a:lnSpc>
                <a:spcPct val="114000"/>
              </a:lnSpc>
            </a:pPr>
            <a:endParaRPr lang="en-US" altLang="en-US" sz="400" dirty="0"/>
          </a:p>
          <a:p>
            <a:pPr marL="12700" algn="l" rtl="0" eaLnBrk="0">
              <a:lnSpc>
                <a:spcPct val="78000"/>
              </a:lnSpc>
            </a:pPr>
            <a:r>
              <a:rPr sz="1800" kern="0" spc="20" dirty="0">
                <a:solidFill>
                  <a:srgbClr val="0000FF">
                    <a:alpha val="100000"/>
                  </a:srgbClr>
                </a:solidFill>
                <a:latin typeface="Times New Roman" panose="02020603050405020304"/>
                <a:ea typeface="Times New Roman" panose="02020603050405020304"/>
                <a:cs typeface="Times New Roman" panose="02020603050405020304"/>
              </a:rPr>
              <a:t>H</a:t>
            </a:r>
            <a:endParaRPr lang="en-US" altLang="en-US" sz="1800" dirty="0"/>
          </a:p>
        </p:txBody>
      </p:sp>
      <p:sp>
        <p:nvSpPr>
          <p:cNvPr id="1049187" name="textbox 108"/>
          <p:cNvSpPr/>
          <p:nvPr/>
        </p:nvSpPr>
        <p:spPr>
          <a:xfrm>
            <a:off x="4193709" y="4602658"/>
            <a:ext cx="182245" cy="1317625"/>
          </a:xfrm>
          <a:prstGeom prst="rect">
            <a:avLst/>
          </a:prstGeom>
        </p:spPr>
        <p:txBody>
          <a:bodyPr vert="horz" wrap="square" lIns="0" tIns="0" rIns="0" bIns="0"/>
          <a:p>
            <a:pPr algn="l" rtl="0" eaLnBrk="0">
              <a:lnSpc>
                <a:spcPct val="91000"/>
              </a:lnSpc>
            </a:pPr>
            <a:endParaRPr lang="en-US" altLang="en-US" sz="100" dirty="0"/>
          </a:p>
          <a:p>
            <a:pPr marL="17145" algn="l" rtl="0" eaLnBrk="0">
              <a:lnSpc>
                <a:spcPct val="79000"/>
              </a:lnSpc>
            </a:pPr>
            <a:r>
              <a:rPr sz="1800" kern="0" spc="-10" dirty="0">
                <a:solidFill>
                  <a:srgbClr val="0000FF">
                    <a:alpha val="100000"/>
                  </a:srgbClr>
                </a:solidFill>
                <a:latin typeface="Times New Roman" panose="02020603050405020304"/>
                <a:ea typeface="Times New Roman" panose="02020603050405020304"/>
                <a:cs typeface="Times New Roman" panose="02020603050405020304"/>
              </a:rPr>
              <a:t>C</a:t>
            </a:r>
            <a:endParaRPr lang="en-US" altLang="en-US" sz="1800" dirty="0"/>
          </a:p>
          <a:p>
            <a:pPr algn="l" rtl="0" eaLnBrk="0">
              <a:lnSpc>
                <a:spcPct val="177000"/>
              </a:lnSpc>
            </a:pPr>
            <a:endParaRPr lang="en-US" altLang="en-US" sz="1000" dirty="0"/>
          </a:p>
          <a:p>
            <a:pPr marL="12700" algn="l" rtl="0" eaLnBrk="0">
              <a:lnSpc>
                <a:spcPct val="78000"/>
              </a:lnSpc>
              <a:spcBef>
                <a:spcPts val="545"/>
              </a:spcBef>
            </a:pPr>
            <a:r>
              <a:rPr sz="1800" kern="0" spc="10" dirty="0">
                <a:solidFill>
                  <a:srgbClr val="0000FF">
                    <a:alpha val="100000"/>
                  </a:srgbClr>
                </a:solidFill>
                <a:latin typeface="Times New Roman" panose="02020603050405020304"/>
                <a:ea typeface="Times New Roman" panose="02020603050405020304"/>
                <a:cs typeface="Times New Roman" panose="02020603050405020304"/>
              </a:rPr>
              <a:t>F</a:t>
            </a:r>
            <a:endParaRPr lang="en-US" altLang="en-US" sz="1800" dirty="0"/>
          </a:p>
          <a:p>
            <a:pPr algn="l" rtl="0" eaLnBrk="0">
              <a:lnSpc>
                <a:spcPct val="156000"/>
              </a:lnSpc>
            </a:pPr>
            <a:endParaRPr lang="en-US" altLang="en-US" sz="1000" dirty="0"/>
          </a:p>
          <a:p>
            <a:pPr algn="l" rtl="0" eaLnBrk="0">
              <a:lnSpc>
                <a:spcPct val="114000"/>
              </a:lnSpc>
            </a:pPr>
            <a:endParaRPr lang="en-US" altLang="en-US" sz="400" dirty="0"/>
          </a:p>
          <a:p>
            <a:pPr marL="14605" algn="l" rtl="0" eaLnBrk="0">
              <a:lnSpc>
                <a:spcPct val="78000"/>
              </a:lnSpc>
            </a:pPr>
            <a:r>
              <a:rPr sz="1800" kern="0" spc="-20" dirty="0">
                <a:solidFill>
                  <a:srgbClr val="0000FF">
                    <a:alpha val="100000"/>
                  </a:srgbClr>
                </a:solidFill>
                <a:latin typeface="Times New Roman" panose="02020603050405020304"/>
                <a:ea typeface="Times New Roman" panose="02020603050405020304"/>
                <a:cs typeface="Times New Roman" panose="02020603050405020304"/>
              </a:rPr>
              <a:t>I</a:t>
            </a:r>
            <a:endParaRPr lang="en-US" alt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226" name=""/>
        <p:cNvGrpSpPr/>
        <p:nvPr/>
      </p:nvGrpSpPr>
      <p:grpSpPr>
        <a:xfrm>
          <a:off x="0" y="0"/>
          <a:ext cx="0" cy="0"/>
          <a:chOff x="0" y="0"/>
          <a:chExt cx="0" cy="0"/>
        </a:xfrm>
      </p:grpSpPr>
      <p:pic>
        <p:nvPicPr>
          <p:cNvPr id="2097251" name="picture 110"/>
          <p:cNvPicPr>
            <a:picLocks noChangeAspect="1"/>
          </p:cNvPicPr>
          <p:nvPr/>
        </p:nvPicPr>
        <p:blipFill>
          <a:blip r:embed="rId1"/>
          <a:stretch>
            <a:fillRect/>
          </a:stretch>
        </p:blipFill>
        <p:spPr>
          <a:xfrm rot="21600000">
            <a:off x="1127760" y="1341119"/>
            <a:ext cx="10154411" cy="4032504"/>
          </a:xfrm>
          <a:prstGeom prst="rect">
            <a:avLst/>
          </a:prstGeom>
        </p:spPr>
      </p:pic>
      <p:sp>
        <p:nvSpPr>
          <p:cNvPr id="1049189" name="textbox 114"/>
          <p:cNvSpPr/>
          <p:nvPr/>
        </p:nvSpPr>
        <p:spPr>
          <a:xfrm>
            <a:off x="4981810" y="488157"/>
            <a:ext cx="2033270" cy="485775"/>
          </a:xfrm>
          <a:prstGeom prst="rect">
            <a:avLst/>
          </a:prstGeom>
        </p:spPr>
        <p:txBody>
          <a:bodyPr vert="horz" wrap="square" lIns="0" tIns="0" rIns="0" bIns="0"/>
          <a:p>
            <a:pPr algn="l" rtl="0" eaLnBrk="0">
              <a:lnSpc>
                <a:spcPct val="94000"/>
              </a:lnSpc>
            </a:pPr>
            <a:endParaRPr lang="en-US" altLang="en-US" sz="100" dirty="0"/>
          </a:p>
          <a:p>
            <a:pPr marL="12700" algn="l" rtl="0" eaLnBrk="0">
              <a:lnSpc>
                <a:spcPct val="94000"/>
              </a:lnSpc>
            </a:pPr>
            <a:r>
              <a:rPr sz="3200" kern="0" spc="-50" dirty="0">
                <a:solidFill>
                  <a:srgbClr val="1F4E79">
                    <a:alpha val="100000"/>
                  </a:srgbClr>
                </a:solidFill>
                <a:latin typeface="仿宋" panose="02010609060101010101" charset="-122"/>
                <a:ea typeface="仿宋" panose="02010609060101010101" charset="-122"/>
                <a:cs typeface="仿宋" panose="02010609060101010101" charset="-122"/>
              </a:rPr>
              <a:t>跳舞的小人</a:t>
            </a:r>
            <a:endParaRPr lang="en-US" altLang="en-US" sz="3200" dirty="0"/>
          </a:p>
        </p:txBody>
      </p:sp>
      <p:sp>
        <p:nvSpPr>
          <p:cNvPr id="1049190"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52" name="picture 118"/>
          <p:cNvPicPr>
            <a:picLocks noChangeAspect="1"/>
          </p:cNvPicPr>
          <p:nvPr/>
        </p:nvPicPr>
        <p:blipFill>
          <a:blip r:embed="rId2"/>
          <a:stretch>
            <a:fillRect/>
          </a:stretch>
        </p:blipFill>
        <p:spPr>
          <a:xfrm rot="21600000">
            <a:off x="824483" y="408431"/>
            <a:ext cx="419100" cy="655320"/>
          </a:xfrm>
          <a:prstGeom prst="rect">
            <a:avLst/>
          </a:prstGeom>
        </p:spPr>
      </p:pic>
      <p:sp>
        <p:nvSpPr>
          <p:cNvPr id="1049191"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229" name=""/>
        <p:cNvGrpSpPr/>
        <p:nvPr/>
      </p:nvGrpSpPr>
      <p:grpSpPr>
        <a:xfrm>
          <a:off x="0" y="0"/>
          <a:ext cx="0" cy="0"/>
          <a:chOff x="0" y="0"/>
          <a:chExt cx="0" cy="0"/>
        </a:xfrm>
      </p:grpSpPr>
      <p:pic>
        <p:nvPicPr>
          <p:cNvPr id="2097253" name="picture 122"/>
          <p:cNvPicPr>
            <a:picLocks noChangeAspect="1"/>
          </p:cNvPicPr>
          <p:nvPr/>
        </p:nvPicPr>
        <p:blipFill>
          <a:blip r:embed="rId1"/>
          <a:stretch>
            <a:fillRect/>
          </a:stretch>
        </p:blipFill>
        <p:spPr>
          <a:xfrm rot="21600000">
            <a:off x="1905000" y="1295400"/>
            <a:ext cx="7559040" cy="4169663"/>
          </a:xfrm>
          <a:prstGeom prst="rect">
            <a:avLst/>
          </a:prstGeom>
        </p:spPr>
      </p:pic>
      <p:sp>
        <p:nvSpPr>
          <p:cNvPr id="1049193" name="textbox 126"/>
          <p:cNvSpPr/>
          <p:nvPr/>
        </p:nvSpPr>
        <p:spPr>
          <a:xfrm>
            <a:off x="1571048" y="488157"/>
            <a:ext cx="2032000" cy="483869"/>
          </a:xfrm>
          <a:prstGeom prst="rect">
            <a:avLst/>
          </a:prstGeom>
        </p:spPr>
        <p:txBody>
          <a:bodyPr vert="horz" wrap="square" lIns="0" tIns="0" rIns="0" bIns="0"/>
          <a:p>
            <a:pPr algn="l" rtl="0" eaLnBrk="0">
              <a:lnSpc>
                <a:spcPct val="83000"/>
              </a:lnSpc>
            </a:pPr>
            <a:endParaRPr lang="en-US" altLang="en-US" sz="100" dirty="0"/>
          </a:p>
          <a:p>
            <a:pPr marL="12700" algn="l" rtl="0" eaLnBrk="0">
              <a:lnSpc>
                <a:spcPct val="94000"/>
              </a:lnSpc>
            </a:pPr>
            <a:r>
              <a:rPr sz="3200" kern="0" spc="-50" dirty="0">
                <a:solidFill>
                  <a:srgbClr val="1F4E79">
                    <a:alpha val="100000"/>
                  </a:srgbClr>
                </a:solidFill>
                <a:latin typeface="仿宋" panose="02010609060101010101" charset="-122"/>
                <a:ea typeface="仿宋" panose="02010609060101010101" charset="-122"/>
                <a:cs typeface="仿宋" panose="02010609060101010101" charset="-122"/>
              </a:rPr>
              <a:t>摩尔斯密码</a:t>
            </a:r>
            <a:endParaRPr lang="en-US" altLang="en-US" sz="3200" dirty="0"/>
          </a:p>
        </p:txBody>
      </p:sp>
      <p:sp>
        <p:nvSpPr>
          <p:cNvPr id="1049194" name="path"/>
          <p:cNvSpPr/>
          <p:nvPr/>
        </p:nvSpPr>
        <p:spPr>
          <a:xfrm>
            <a:off x="694181" y="6236208"/>
            <a:ext cx="10779125" cy="28955"/>
          </a:xfrm>
          <a:custGeom>
            <a:avLst/>
            <a:gdLst/>
            <a:ahLst/>
            <a:cxnLst/>
            <a:rect l="0" t="0" r="0" b="0"/>
            <a:pathLst>
              <a:path w="16975" h="45">
                <a:moveTo>
                  <a:pt x="0" y="22"/>
                </a:moveTo>
                <a:lnTo>
                  <a:pt x="16975" y="22"/>
                </a:lnTo>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254" name="picture 130"/>
          <p:cNvPicPr>
            <a:picLocks noChangeAspect="1"/>
          </p:cNvPicPr>
          <p:nvPr/>
        </p:nvPicPr>
        <p:blipFill>
          <a:blip r:embed="rId2"/>
          <a:stretch>
            <a:fillRect/>
          </a:stretch>
        </p:blipFill>
        <p:spPr>
          <a:xfrm rot="21600000">
            <a:off x="824483" y="408431"/>
            <a:ext cx="419100" cy="655320"/>
          </a:xfrm>
          <a:prstGeom prst="rect">
            <a:avLst/>
          </a:prstGeom>
        </p:spPr>
      </p:pic>
      <p:sp>
        <p:nvSpPr>
          <p:cNvPr id="1049195"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232" name=""/>
        <p:cNvGrpSpPr/>
        <p:nvPr/>
      </p:nvGrpSpPr>
      <p:grpSpPr>
        <a:xfrm>
          <a:off x="0" y="0"/>
          <a:ext cx="0" cy="0"/>
          <a:chOff x="0" y="0"/>
          <a:chExt cx="0" cy="0"/>
        </a:xfrm>
      </p:grpSpPr>
      <p:sp>
        <p:nvSpPr>
          <p:cNvPr id="1049197" name="textbox 134"/>
          <p:cNvSpPr/>
          <p:nvPr/>
        </p:nvSpPr>
        <p:spPr>
          <a:xfrm>
            <a:off x="921738" y="1518442"/>
            <a:ext cx="8239759" cy="3796029"/>
          </a:xfrm>
          <a:prstGeom prst="rect">
            <a:avLst/>
          </a:prstGeom>
        </p:spPr>
        <p:txBody>
          <a:bodyPr vert="horz" wrap="square" lIns="0" tIns="0" rIns="0" bIns="0"/>
          <a:p>
            <a:pPr algn="l" rtl="0" eaLnBrk="0">
              <a:lnSpc>
                <a:spcPct val="83000"/>
              </a:lnSpc>
            </a:pPr>
            <a:endParaRPr lang="en-US" altLang="en-US" sz="100" dirty="0"/>
          </a:p>
          <a:p>
            <a:pPr algn="r" rtl="0" eaLnBrk="0">
              <a:lnSpc>
                <a:spcPts val="3320"/>
              </a:lnSpc>
            </a:pPr>
            <a:r>
              <a:rPr sz="2700" kern="0" spc="20" dirty="0">
                <a:solidFill>
                  <a:srgbClr val="000000">
                    <a:alpha val="100000"/>
                  </a:srgbClr>
                </a:solidFill>
                <a:latin typeface="Arial" panose="020B0604020202020204"/>
                <a:ea typeface="Arial" panose="020B0604020202020204"/>
                <a:cs typeface="Arial" panose="020B0604020202020204"/>
              </a:rPr>
              <a:t>•</a:t>
            </a:r>
            <a:r>
              <a:rPr sz="2700" kern="0" spc="290" dirty="0">
                <a:solidFill>
                  <a:srgbClr val="000000">
                    <a:alpha val="100000"/>
                  </a:srgbClr>
                </a:solidFill>
                <a:latin typeface="Arial" panose="020B0604020202020204"/>
                <a:ea typeface="Arial" panose="020B0604020202020204"/>
                <a:cs typeface="Arial" panose="020B0604020202020204"/>
              </a:rPr>
              <a:t> </a:t>
            </a:r>
            <a:r>
              <a:rPr sz="2700" kern="0" spc="2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50</a:t>
            </a:r>
            <a:r>
              <a:rPr sz="2700" kern="0" spc="2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2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B.C.，古罗马恺撒密码（移位密码或加法密码）</a:t>
            </a:r>
            <a:endParaRPr lang="en-US" altLang="en-US" sz="2700" dirty="0"/>
          </a:p>
          <a:p>
            <a:pPr algn="l" rtl="0" eaLnBrk="0">
              <a:lnSpc>
                <a:spcPct val="135000"/>
              </a:lnSpc>
            </a:pPr>
            <a:endParaRPr lang="en-US" altLang="en-US" sz="1000" dirty="0"/>
          </a:p>
          <a:p>
            <a:pPr algn="l" rtl="0" eaLnBrk="0">
              <a:lnSpc>
                <a:spcPct val="136000"/>
              </a:lnSpc>
            </a:pPr>
            <a:endParaRPr lang="en-US" altLang="en-US" sz="1000" dirty="0"/>
          </a:p>
          <a:p>
            <a:pPr marL="1128395" algn="l" rtl="0" eaLnBrk="0">
              <a:lnSpc>
                <a:spcPct val="72000"/>
              </a:lnSpc>
              <a:spcBef>
                <a:spcPts val="810"/>
              </a:spcBef>
            </a:pPr>
            <a:r>
              <a:rPr sz="2700" b="1" kern="0" spc="0" dirty="0">
                <a:solidFill>
                  <a:srgbClr val="000000">
                    <a:alpha val="100000"/>
                  </a:srgbClr>
                </a:solidFill>
                <a:latin typeface="Courier New" panose="02070309020205020404"/>
                <a:ea typeface="Courier New" panose="02070309020205020404"/>
                <a:cs typeface="Courier New" panose="02070309020205020404"/>
              </a:rPr>
              <a:t>A</a:t>
            </a:r>
            <a:r>
              <a:rPr sz="2700" b="1" kern="0" spc="40" dirty="0">
                <a:solidFill>
                  <a:srgbClr val="000000">
                    <a:alpha val="100000"/>
                  </a:srgbClr>
                </a:solidFill>
                <a:latin typeface="Courier New" panose="02070309020205020404"/>
                <a:ea typeface="Courier New" panose="02070309020205020404"/>
                <a:cs typeface="Courier New" panose="02070309020205020404"/>
              </a:rPr>
              <a:t>  </a:t>
            </a:r>
            <a:r>
              <a:rPr sz="2700" b="1" kern="0" spc="0" dirty="0">
                <a:solidFill>
                  <a:srgbClr val="000000">
                    <a:alpha val="100000"/>
                  </a:srgbClr>
                </a:solidFill>
                <a:latin typeface="Courier New" panose="02070309020205020404"/>
                <a:ea typeface="Courier New" panose="02070309020205020404"/>
                <a:cs typeface="Courier New" panose="02070309020205020404"/>
              </a:rPr>
              <a:t>B</a:t>
            </a:r>
            <a:r>
              <a:rPr sz="2700" b="1" kern="0" spc="80" dirty="0">
                <a:solidFill>
                  <a:srgbClr val="000000">
                    <a:alpha val="100000"/>
                  </a:srgbClr>
                </a:solidFill>
                <a:latin typeface="Courier New" panose="02070309020205020404"/>
                <a:ea typeface="Courier New" panose="02070309020205020404"/>
                <a:cs typeface="Courier New" panose="02070309020205020404"/>
              </a:rPr>
              <a:t>  </a:t>
            </a:r>
            <a:r>
              <a:rPr sz="2700" b="1" kern="0" spc="0" dirty="0">
                <a:solidFill>
                  <a:srgbClr val="000000">
                    <a:alpha val="100000"/>
                  </a:srgbClr>
                </a:solidFill>
                <a:latin typeface="Courier New" panose="02070309020205020404"/>
                <a:ea typeface="Courier New" panose="02070309020205020404"/>
                <a:cs typeface="Courier New" panose="02070309020205020404"/>
              </a:rPr>
              <a:t>C</a:t>
            </a:r>
            <a:r>
              <a:rPr sz="2700" b="1" kern="0" spc="40" dirty="0">
                <a:solidFill>
                  <a:srgbClr val="000000">
                    <a:alpha val="100000"/>
                  </a:srgbClr>
                </a:solidFill>
                <a:latin typeface="Courier New" panose="02070309020205020404"/>
                <a:ea typeface="Courier New" panose="02070309020205020404"/>
                <a:cs typeface="Courier New" panose="02070309020205020404"/>
              </a:rPr>
              <a:t>  </a:t>
            </a:r>
            <a:r>
              <a:rPr sz="2700" b="1" kern="0" spc="0" dirty="0">
                <a:solidFill>
                  <a:srgbClr val="000000">
                    <a:alpha val="100000"/>
                  </a:srgbClr>
                </a:solidFill>
                <a:latin typeface="Courier New" panose="02070309020205020404"/>
                <a:ea typeface="Courier New" panose="02070309020205020404"/>
                <a:cs typeface="Courier New" panose="02070309020205020404"/>
              </a:rPr>
              <a:t>D</a:t>
            </a:r>
            <a:r>
              <a:rPr sz="2700" b="1" kern="0" spc="70" dirty="0">
                <a:solidFill>
                  <a:srgbClr val="000000">
                    <a:alpha val="100000"/>
                  </a:srgbClr>
                </a:solidFill>
                <a:latin typeface="Courier New" panose="02070309020205020404"/>
                <a:ea typeface="Courier New" panose="02070309020205020404"/>
                <a:cs typeface="Courier New" panose="02070309020205020404"/>
              </a:rPr>
              <a:t>  </a:t>
            </a:r>
            <a:r>
              <a:rPr sz="2700" b="1" kern="0" spc="0" dirty="0">
                <a:solidFill>
                  <a:srgbClr val="000000">
                    <a:alpha val="100000"/>
                  </a:srgbClr>
                </a:solidFill>
                <a:latin typeface="Courier New" panose="02070309020205020404"/>
                <a:ea typeface="Courier New" panose="02070309020205020404"/>
                <a:cs typeface="Courier New" panose="02070309020205020404"/>
              </a:rPr>
              <a:t>E</a:t>
            </a:r>
            <a:r>
              <a:rPr sz="2700" b="1" kern="0" spc="120" dirty="0">
                <a:solidFill>
                  <a:srgbClr val="000000">
                    <a:alpha val="100000"/>
                  </a:srgbClr>
                </a:solidFill>
                <a:latin typeface="Courier New" panose="02070309020205020404"/>
                <a:ea typeface="Courier New" panose="02070309020205020404"/>
                <a:cs typeface="Courier New" panose="02070309020205020404"/>
              </a:rPr>
              <a:t>  </a:t>
            </a:r>
            <a:r>
              <a:rPr sz="2700" b="1" kern="0" spc="0" dirty="0">
                <a:solidFill>
                  <a:srgbClr val="000000">
                    <a:alpha val="100000"/>
                  </a:srgbClr>
                </a:solidFill>
                <a:latin typeface="Courier New" panose="02070309020205020404"/>
                <a:ea typeface="Courier New" panose="02070309020205020404"/>
                <a:cs typeface="Courier New" panose="02070309020205020404"/>
              </a:rPr>
              <a:t>F</a:t>
            </a:r>
            <a:r>
              <a:rPr sz="2700" b="1" kern="0" spc="90" dirty="0">
                <a:solidFill>
                  <a:srgbClr val="000000">
                    <a:alpha val="100000"/>
                  </a:srgbClr>
                </a:solidFill>
                <a:latin typeface="Courier New" panose="02070309020205020404"/>
                <a:ea typeface="Courier New" panose="02070309020205020404"/>
                <a:cs typeface="Courier New" panose="02070309020205020404"/>
              </a:rPr>
              <a:t>  </a:t>
            </a:r>
            <a:r>
              <a:rPr sz="2700" b="1" kern="0" spc="0" dirty="0">
                <a:solidFill>
                  <a:srgbClr val="000000">
                    <a:alpha val="100000"/>
                  </a:srgbClr>
                </a:solidFill>
                <a:latin typeface="Courier New" panose="02070309020205020404"/>
                <a:ea typeface="Courier New" panose="02070309020205020404"/>
                <a:cs typeface="Courier New" panose="02070309020205020404"/>
              </a:rPr>
              <a:t>G</a:t>
            </a:r>
            <a:r>
              <a:rPr sz="2700" b="1" kern="0" spc="190" dirty="0">
                <a:solidFill>
                  <a:srgbClr val="000000">
                    <a:alpha val="100000"/>
                  </a:srgbClr>
                </a:solidFill>
                <a:latin typeface="Courier New" panose="02070309020205020404"/>
                <a:ea typeface="Courier New" panose="02070309020205020404"/>
                <a:cs typeface="Courier New" panose="02070309020205020404"/>
              </a:rPr>
              <a:t> </a:t>
            </a:r>
            <a:r>
              <a:rPr sz="2700" b="1" kern="0" spc="40" dirty="0">
                <a:solidFill>
                  <a:srgbClr val="000000">
                    <a:alpha val="100000"/>
                  </a:srgbClr>
                </a:solidFill>
                <a:latin typeface="Courier New" panose="02070309020205020404"/>
                <a:ea typeface="Courier New" panose="02070309020205020404"/>
                <a:cs typeface="Courier New" panose="02070309020205020404"/>
              </a:rPr>
              <a:t>……</a:t>
            </a:r>
            <a:r>
              <a:rPr sz="2700" b="1" kern="0" spc="80" dirty="0">
                <a:solidFill>
                  <a:srgbClr val="000000">
                    <a:alpha val="100000"/>
                  </a:srgbClr>
                </a:solidFill>
                <a:latin typeface="Courier New" panose="02070309020205020404"/>
                <a:ea typeface="Courier New" panose="02070309020205020404"/>
                <a:cs typeface="Courier New" panose="02070309020205020404"/>
              </a:rPr>
              <a:t> </a:t>
            </a:r>
            <a:r>
              <a:rPr sz="2700" b="1" kern="0" spc="0" dirty="0">
                <a:solidFill>
                  <a:srgbClr val="000000">
                    <a:alpha val="100000"/>
                  </a:srgbClr>
                </a:solidFill>
                <a:latin typeface="Courier New" panose="02070309020205020404"/>
                <a:ea typeface="Courier New" panose="02070309020205020404"/>
                <a:cs typeface="Courier New" panose="02070309020205020404"/>
              </a:rPr>
              <a:t>X</a:t>
            </a:r>
            <a:r>
              <a:rPr sz="2700" b="1" kern="0" spc="80" dirty="0">
                <a:solidFill>
                  <a:srgbClr val="000000">
                    <a:alpha val="100000"/>
                  </a:srgbClr>
                </a:solidFill>
                <a:latin typeface="Courier New" panose="02070309020205020404"/>
                <a:ea typeface="Courier New" panose="02070309020205020404"/>
                <a:cs typeface="Courier New" panose="02070309020205020404"/>
              </a:rPr>
              <a:t>  </a:t>
            </a:r>
            <a:r>
              <a:rPr sz="2700" b="1" kern="0" spc="0" dirty="0">
                <a:solidFill>
                  <a:srgbClr val="000000">
                    <a:alpha val="100000"/>
                  </a:srgbClr>
                </a:solidFill>
                <a:latin typeface="Courier New" panose="02070309020205020404"/>
                <a:ea typeface="Courier New" panose="02070309020205020404"/>
                <a:cs typeface="Courier New" panose="02070309020205020404"/>
              </a:rPr>
              <a:t>Y</a:t>
            </a:r>
            <a:r>
              <a:rPr sz="2700" b="1" kern="0" spc="150" dirty="0">
                <a:solidFill>
                  <a:srgbClr val="000000">
                    <a:alpha val="100000"/>
                  </a:srgbClr>
                </a:solidFill>
                <a:latin typeface="Courier New" panose="02070309020205020404"/>
                <a:ea typeface="Courier New" panose="02070309020205020404"/>
                <a:cs typeface="Courier New" panose="02070309020205020404"/>
              </a:rPr>
              <a:t>  </a:t>
            </a:r>
            <a:r>
              <a:rPr sz="2700" b="1" kern="0" spc="0" dirty="0">
                <a:solidFill>
                  <a:srgbClr val="000000">
                    <a:alpha val="100000"/>
                  </a:srgbClr>
                </a:solidFill>
                <a:latin typeface="Courier New" panose="02070309020205020404"/>
                <a:ea typeface="Courier New" panose="02070309020205020404"/>
                <a:cs typeface="Courier New" panose="02070309020205020404"/>
              </a:rPr>
              <a:t>Z</a:t>
            </a:r>
            <a:endParaRPr lang="en-US" altLang="en-US" sz="2700" dirty="0"/>
          </a:p>
          <a:p>
            <a:pPr algn="l" rtl="0" eaLnBrk="0">
              <a:lnSpc>
                <a:spcPct val="155000"/>
              </a:lnSpc>
            </a:pPr>
            <a:endParaRPr lang="en-US" altLang="en-US" sz="1000" dirty="0"/>
          </a:p>
          <a:p>
            <a:pPr marL="1140460" algn="l" rtl="0" eaLnBrk="0">
              <a:lnSpc>
                <a:spcPct val="73000"/>
              </a:lnSpc>
              <a:spcBef>
                <a:spcPts val="815"/>
              </a:spcBef>
            </a:pPr>
            <a:r>
              <a:rPr sz="2700" b="1" kern="0" spc="0" dirty="0">
                <a:solidFill>
                  <a:srgbClr val="000000">
                    <a:alpha val="100000"/>
                  </a:srgbClr>
                </a:solidFill>
                <a:latin typeface="Courier New" panose="02070309020205020404"/>
                <a:ea typeface="Courier New" panose="02070309020205020404"/>
                <a:cs typeface="Courier New" panose="02070309020205020404"/>
              </a:rPr>
              <a:t>D</a:t>
            </a:r>
            <a:r>
              <a:rPr sz="2700" b="1" kern="0" spc="0" dirty="0">
                <a:solidFill>
                  <a:srgbClr val="000000">
                    <a:alpha val="100000"/>
                  </a:srgbClr>
                </a:solidFill>
                <a:latin typeface="Courier New" panose="02070309020205020404"/>
                <a:ea typeface="Courier New" panose="02070309020205020404"/>
                <a:cs typeface="Courier New" panose="02070309020205020404"/>
              </a:rPr>
              <a:t>  </a:t>
            </a:r>
            <a:r>
              <a:rPr sz="2700" b="1" kern="0" spc="0" dirty="0">
                <a:solidFill>
                  <a:srgbClr val="000000">
                    <a:alpha val="100000"/>
                  </a:srgbClr>
                </a:solidFill>
                <a:latin typeface="Courier New" panose="02070309020205020404"/>
                <a:ea typeface="Courier New" panose="02070309020205020404"/>
                <a:cs typeface="Courier New" panose="02070309020205020404"/>
              </a:rPr>
              <a:t>E</a:t>
            </a:r>
            <a:r>
              <a:rPr sz="2700" b="1" kern="0" spc="100" dirty="0">
                <a:solidFill>
                  <a:srgbClr val="000000">
                    <a:alpha val="100000"/>
                  </a:srgbClr>
                </a:solidFill>
                <a:latin typeface="Courier New" panose="02070309020205020404"/>
                <a:ea typeface="Courier New" panose="02070309020205020404"/>
                <a:cs typeface="Courier New" panose="02070309020205020404"/>
              </a:rPr>
              <a:t>  </a:t>
            </a:r>
            <a:r>
              <a:rPr sz="2700" b="1" kern="0" spc="0" dirty="0">
                <a:solidFill>
                  <a:srgbClr val="000000">
                    <a:alpha val="100000"/>
                  </a:srgbClr>
                </a:solidFill>
                <a:latin typeface="Courier New" panose="02070309020205020404"/>
                <a:ea typeface="Courier New" panose="02070309020205020404"/>
                <a:cs typeface="Courier New" panose="02070309020205020404"/>
              </a:rPr>
              <a:t>F</a:t>
            </a:r>
            <a:r>
              <a:rPr sz="2700" b="1" kern="0" spc="100" dirty="0">
                <a:solidFill>
                  <a:srgbClr val="000000">
                    <a:alpha val="100000"/>
                  </a:srgbClr>
                </a:solidFill>
                <a:latin typeface="Courier New" panose="02070309020205020404"/>
                <a:ea typeface="Courier New" panose="02070309020205020404"/>
                <a:cs typeface="Courier New" panose="02070309020205020404"/>
              </a:rPr>
              <a:t>  </a:t>
            </a:r>
            <a:r>
              <a:rPr sz="2700" b="1" kern="0" spc="0" dirty="0">
                <a:solidFill>
                  <a:srgbClr val="000000">
                    <a:alpha val="100000"/>
                  </a:srgbClr>
                </a:solidFill>
                <a:latin typeface="Courier New" panose="02070309020205020404"/>
                <a:ea typeface="Courier New" panose="02070309020205020404"/>
                <a:cs typeface="Courier New" panose="02070309020205020404"/>
              </a:rPr>
              <a:t>G</a:t>
            </a:r>
            <a:r>
              <a:rPr sz="2700" b="1" kern="0" spc="80" dirty="0">
                <a:solidFill>
                  <a:srgbClr val="000000">
                    <a:alpha val="100000"/>
                  </a:srgbClr>
                </a:solidFill>
                <a:latin typeface="Courier New" panose="02070309020205020404"/>
                <a:ea typeface="Courier New" panose="02070309020205020404"/>
                <a:cs typeface="Courier New" panose="02070309020205020404"/>
              </a:rPr>
              <a:t>  </a:t>
            </a:r>
            <a:r>
              <a:rPr sz="2700" b="1" kern="0" spc="0" dirty="0">
                <a:solidFill>
                  <a:srgbClr val="000000">
                    <a:alpha val="100000"/>
                  </a:srgbClr>
                </a:solidFill>
                <a:latin typeface="Courier New" panose="02070309020205020404"/>
                <a:ea typeface="Courier New" panose="02070309020205020404"/>
                <a:cs typeface="Courier New" panose="02070309020205020404"/>
              </a:rPr>
              <a:t>H</a:t>
            </a:r>
            <a:r>
              <a:rPr sz="2700" b="1" kern="0" spc="160" dirty="0">
                <a:solidFill>
                  <a:srgbClr val="000000">
                    <a:alpha val="100000"/>
                  </a:srgbClr>
                </a:solidFill>
                <a:latin typeface="Courier New" panose="02070309020205020404"/>
                <a:ea typeface="Courier New" panose="02070309020205020404"/>
                <a:cs typeface="Courier New" panose="02070309020205020404"/>
              </a:rPr>
              <a:t>  </a:t>
            </a:r>
            <a:r>
              <a:rPr sz="2700" b="1" kern="0" spc="0" dirty="0">
                <a:solidFill>
                  <a:srgbClr val="000000">
                    <a:alpha val="100000"/>
                  </a:srgbClr>
                </a:solidFill>
                <a:latin typeface="Courier New" panose="02070309020205020404"/>
                <a:ea typeface="Courier New" panose="02070309020205020404"/>
                <a:cs typeface="Courier New" panose="02070309020205020404"/>
              </a:rPr>
              <a:t>I</a:t>
            </a:r>
            <a:r>
              <a:rPr sz="2700" b="1" kern="0" spc="120" dirty="0">
                <a:solidFill>
                  <a:srgbClr val="000000">
                    <a:alpha val="100000"/>
                  </a:srgbClr>
                </a:solidFill>
                <a:latin typeface="Courier New" panose="02070309020205020404"/>
                <a:ea typeface="Courier New" panose="02070309020205020404"/>
                <a:cs typeface="Courier New" panose="02070309020205020404"/>
              </a:rPr>
              <a:t>  </a:t>
            </a:r>
            <a:r>
              <a:rPr sz="2700" b="1" kern="0" spc="0" dirty="0">
                <a:solidFill>
                  <a:srgbClr val="000000">
                    <a:alpha val="100000"/>
                  </a:srgbClr>
                </a:solidFill>
                <a:latin typeface="Courier New" panose="02070309020205020404"/>
                <a:ea typeface="Courier New" panose="02070309020205020404"/>
                <a:cs typeface="Courier New" panose="02070309020205020404"/>
              </a:rPr>
              <a:t>J</a:t>
            </a:r>
            <a:r>
              <a:rPr sz="2700" b="1" kern="0" spc="150" dirty="0">
                <a:solidFill>
                  <a:srgbClr val="000000">
                    <a:alpha val="100000"/>
                  </a:srgbClr>
                </a:solidFill>
                <a:latin typeface="Courier New" panose="02070309020205020404"/>
                <a:ea typeface="Courier New" panose="02070309020205020404"/>
                <a:cs typeface="Courier New" panose="02070309020205020404"/>
              </a:rPr>
              <a:t> </a:t>
            </a:r>
            <a:r>
              <a:rPr sz="2700" b="1" kern="0" spc="-10" dirty="0">
                <a:solidFill>
                  <a:srgbClr val="000000">
                    <a:alpha val="100000"/>
                  </a:srgbClr>
                </a:solidFill>
                <a:latin typeface="Courier New" panose="02070309020205020404"/>
                <a:ea typeface="Courier New" panose="02070309020205020404"/>
                <a:cs typeface="Courier New" panose="02070309020205020404"/>
              </a:rPr>
              <a:t>……</a:t>
            </a:r>
            <a:r>
              <a:rPr sz="2700" b="1" kern="0" spc="-10" dirty="0">
                <a:solidFill>
                  <a:srgbClr val="000000">
                    <a:alpha val="100000"/>
                  </a:srgbClr>
                </a:solidFill>
                <a:latin typeface="Courier New" panose="02070309020205020404"/>
                <a:ea typeface="Courier New" panose="02070309020205020404"/>
                <a:cs typeface="Courier New" panose="02070309020205020404"/>
              </a:rPr>
              <a:t> </a:t>
            </a:r>
            <a:r>
              <a:rPr sz="2700" b="1" kern="0" spc="-10" dirty="0">
                <a:solidFill>
                  <a:srgbClr val="000000">
                    <a:alpha val="100000"/>
                  </a:srgbClr>
                </a:solidFill>
                <a:latin typeface="Courier New" panose="02070309020205020404"/>
                <a:ea typeface="Courier New" panose="02070309020205020404"/>
                <a:cs typeface="Courier New" panose="02070309020205020404"/>
              </a:rPr>
              <a:t>A</a:t>
            </a:r>
            <a:r>
              <a:rPr sz="2700" b="1" kern="0" spc="30" dirty="0">
                <a:solidFill>
                  <a:srgbClr val="000000">
                    <a:alpha val="100000"/>
                  </a:srgbClr>
                </a:solidFill>
                <a:latin typeface="Courier New" panose="02070309020205020404"/>
                <a:ea typeface="Courier New" panose="02070309020205020404"/>
                <a:cs typeface="Courier New" panose="02070309020205020404"/>
              </a:rPr>
              <a:t>  </a:t>
            </a:r>
            <a:r>
              <a:rPr sz="2700" b="1" kern="0" spc="-10" dirty="0">
                <a:solidFill>
                  <a:srgbClr val="000000">
                    <a:alpha val="100000"/>
                  </a:srgbClr>
                </a:solidFill>
                <a:latin typeface="Courier New" panose="02070309020205020404"/>
                <a:ea typeface="Courier New" panose="02070309020205020404"/>
                <a:cs typeface="Courier New" panose="02070309020205020404"/>
              </a:rPr>
              <a:t>B</a:t>
            </a:r>
            <a:r>
              <a:rPr sz="2700" b="1" kern="0" spc="90" dirty="0">
                <a:solidFill>
                  <a:srgbClr val="000000">
                    <a:alpha val="100000"/>
                  </a:srgbClr>
                </a:solidFill>
                <a:latin typeface="Courier New" panose="02070309020205020404"/>
                <a:ea typeface="Courier New" panose="02070309020205020404"/>
                <a:cs typeface="Courier New" panose="02070309020205020404"/>
              </a:rPr>
              <a:t>  </a:t>
            </a:r>
            <a:r>
              <a:rPr sz="2700" b="1" kern="0" spc="-10" dirty="0">
                <a:solidFill>
                  <a:srgbClr val="000000">
                    <a:alpha val="100000"/>
                  </a:srgbClr>
                </a:solidFill>
                <a:latin typeface="Courier New" panose="02070309020205020404"/>
                <a:ea typeface="Courier New" panose="02070309020205020404"/>
                <a:cs typeface="Courier New" panose="02070309020205020404"/>
              </a:rPr>
              <a:t>C</a:t>
            </a:r>
            <a:endParaRPr lang="en-US" altLang="en-US" sz="2700" dirty="0"/>
          </a:p>
          <a:p>
            <a:pPr algn="l" rtl="0" eaLnBrk="0">
              <a:lnSpc>
                <a:spcPct val="120000"/>
              </a:lnSpc>
            </a:pPr>
            <a:endParaRPr lang="en-US" altLang="en-US" sz="1000" dirty="0"/>
          </a:p>
          <a:p>
            <a:pPr algn="l" rtl="0" eaLnBrk="0">
              <a:lnSpc>
                <a:spcPct val="121000"/>
              </a:lnSpc>
            </a:pPr>
            <a:endParaRPr lang="en-US" altLang="en-US" sz="1000" dirty="0"/>
          </a:p>
          <a:p>
            <a:pPr marL="2475865" algn="l" rtl="0" eaLnBrk="0">
              <a:lnSpc>
                <a:spcPct val="83000"/>
              </a:lnSpc>
              <a:spcBef>
                <a:spcPts val="810"/>
              </a:spcBef>
            </a:pPr>
            <a:r>
              <a:rPr sz="2700" kern="0" spc="-40" dirty="0">
                <a:solidFill>
                  <a:srgbClr val="000000">
                    <a:alpha val="100000"/>
                  </a:srgbClr>
                </a:solidFill>
                <a:latin typeface="Calibri" panose="020F0502020204030204"/>
                <a:ea typeface="Calibri" panose="020F0502020204030204"/>
                <a:cs typeface="Calibri" panose="020F0502020204030204"/>
              </a:rPr>
              <a:t>HELLO</a:t>
            </a:r>
            <a:r>
              <a:rPr sz="2700" kern="0" spc="110" dirty="0">
                <a:solidFill>
                  <a:srgbClr val="000000">
                    <a:alpha val="100000"/>
                  </a:srgbClr>
                </a:solidFill>
                <a:latin typeface="Calibri" panose="020F0502020204030204"/>
                <a:ea typeface="Calibri" panose="020F0502020204030204"/>
                <a:cs typeface="Calibri" panose="020F0502020204030204"/>
              </a:rPr>
              <a:t>   </a:t>
            </a:r>
            <a:r>
              <a:rPr sz="2700" kern="0" spc="-40" dirty="0">
                <a:solidFill>
                  <a:srgbClr val="000000">
                    <a:alpha val="100000"/>
                  </a:srgbClr>
                </a:solidFill>
                <a:latin typeface="Wingdings" panose="05000000000000000000"/>
                <a:ea typeface="Wingdings" panose="05000000000000000000"/>
                <a:cs typeface="Wingdings" panose="05000000000000000000"/>
              </a:rPr>
              <a:t></a:t>
            </a:r>
            <a:r>
              <a:rPr sz="2700" kern="0" spc="-320" dirty="0">
                <a:solidFill>
                  <a:srgbClr val="000000">
                    <a:alpha val="100000"/>
                  </a:srgbClr>
                </a:solidFill>
                <a:latin typeface="Wingdings" panose="05000000000000000000"/>
                <a:ea typeface="Wingdings" panose="05000000000000000000"/>
                <a:cs typeface="Wingdings" panose="05000000000000000000"/>
              </a:rPr>
              <a:t> </a:t>
            </a:r>
            <a:r>
              <a:rPr sz="2700" kern="0" spc="-40" dirty="0">
                <a:solidFill>
                  <a:srgbClr val="000000">
                    <a:alpha val="100000"/>
                  </a:srgbClr>
                </a:solidFill>
                <a:latin typeface="Calibri" panose="020F0502020204030204"/>
                <a:ea typeface="Calibri" panose="020F0502020204030204"/>
                <a:cs typeface="Calibri" panose="020F0502020204030204"/>
              </a:rPr>
              <a:t>KHOOR</a:t>
            </a:r>
            <a:endParaRPr lang="en-US" altLang="en-US" sz="2700" dirty="0"/>
          </a:p>
          <a:p>
            <a:pPr algn="l" rtl="0" eaLnBrk="0">
              <a:lnSpc>
                <a:spcPct val="107000"/>
              </a:lnSpc>
            </a:pPr>
            <a:endParaRPr lang="en-US" altLang="en-US" sz="1000" dirty="0"/>
          </a:p>
          <a:p>
            <a:pPr algn="l" rtl="0" eaLnBrk="0">
              <a:lnSpc>
                <a:spcPct val="108000"/>
              </a:lnSpc>
            </a:pPr>
            <a:endParaRPr lang="en-US" altLang="en-US" sz="1000" dirty="0"/>
          </a:p>
          <a:p>
            <a:pPr algn="l" rtl="0" eaLnBrk="0">
              <a:lnSpc>
                <a:spcPct val="108000"/>
              </a:lnSpc>
            </a:pPr>
            <a:endParaRPr lang="en-US" altLang="en-US" sz="1000" dirty="0"/>
          </a:p>
          <a:p>
            <a:pPr algn="l" rtl="0" eaLnBrk="0">
              <a:lnSpc>
                <a:spcPct val="108000"/>
              </a:lnSpc>
            </a:pPr>
            <a:endParaRPr lang="en-US" altLang="en-US" sz="1000" dirty="0"/>
          </a:p>
          <a:p>
            <a:pPr algn="l" rtl="0" eaLnBrk="0">
              <a:lnSpc>
                <a:spcPct val="100000"/>
              </a:lnSpc>
            </a:pPr>
            <a:endParaRPr lang="en-US" altLang="en-US" sz="600" dirty="0"/>
          </a:p>
          <a:p>
            <a:pPr marL="674370" algn="l" rtl="0" eaLnBrk="0">
              <a:lnSpc>
                <a:spcPct val="92000"/>
              </a:lnSpc>
              <a:spcBef>
                <a:spcPts val="0"/>
              </a:spcBef>
            </a:pPr>
            <a:r>
              <a:rPr sz="2400" b="1" kern="0" spc="-40" dirty="0">
                <a:solidFill>
                  <a:srgbClr val="000000">
                    <a:alpha val="100000"/>
                  </a:srgbClr>
                </a:solidFill>
                <a:latin typeface="Verdana" panose="020B0604030504040204"/>
                <a:ea typeface="Verdana" panose="020B0604030504040204"/>
                <a:cs typeface="Verdana" panose="020B0604030504040204"/>
              </a:rPr>
              <a:t>1593</a:t>
            </a:r>
            <a:r>
              <a:rPr sz="2400" kern="0" spc="-40" dirty="0">
                <a:ln w="8708"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年，</a:t>
            </a:r>
            <a:r>
              <a:rPr sz="2400" kern="0" spc="63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40" dirty="0">
                <a:ln w="8708"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推广为</a:t>
            </a:r>
            <a:r>
              <a:rPr sz="2400" b="1" kern="0" spc="-40" dirty="0">
                <a:solidFill>
                  <a:srgbClr val="000000">
                    <a:alpha val="100000"/>
                  </a:srgbClr>
                </a:solidFill>
                <a:latin typeface="Verdana" panose="020B0604030504040204"/>
                <a:ea typeface="Verdana" panose="020B0604030504040204"/>
                <a:cs typeface="Verdana" panose="020B0604030504040204"/>
              </a:rPr>
              <a:t>Vigen</a:t>
            </a:r>
            <a:r>
              <a:rPr sz="2400" b="1" kern="0" spc="-50" dirty="0">
                <a:solidFill>
                  <a:srgbClr val="000000">
                    <a:alpha val="100000"/>
                  </a:srgbClr>
                </a:solidFill>
                <a:latin typeface="Verdana" panose="020B0604030504040204"/>
                <a:ea typeface="Verdana" panose="020B0604030504040204"/>
                <a:cs typeface="Verdana" panose="020B0604030504040204"/>
              </a:rPr>
              <a:t>ère</a:t>
            </a:r>
            <a:r>
              <a:rPr sz="2400" kern="0" spc="-50" dirty="0">
                <a:ln w="8708"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密码</a:t>
            </a:r>
            <a:r>
              <a:rPr sz="2400" b="1" kern="0" spc="-50" dirty="0">
                <a:solidFill>
                  <a:srgbClr val="000000">
                    <a:alpha val="100000"/>
                  </a:srgbClr>
                </a:solidFill>
                <a:latin typeface="Verdana" panose="020B0604030504040204"/>
                <a:ea typeface="Verdana" panose="020B0604030504040204"/>
                <a:cs typeface="Verdana" panose="020B0604030504040204"/>
              </a:rPr>
              <a:t>——</a:t>
            </a:r>
            <a:r>
              <a:rPr sz="2400" kern="0" spc="-50" dirty="0">
                <a:ln w="8708"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分组加法密码</a:t>
            </a:r>
            <a:endParaRPr lang="en-US" altLang="en-US" sz="2400" dirty="0"/>
          </a:p>
        </p:txBody>
      </p:sp>
      <p:sp>
        <p:nvSpPr>
          <p:cNvPr id="1049198" name="textbox 136"/>
          <p:cNvSpPr/>
          <p:nvPr/>
        </p:nvSpPr>
        <p:spPr>
          <a:xfrm>
            <a:off x="811783" y="395731"/>
            <a:ext cx="2384425" cy="735965"/>
          </a:xfrm>
          <a:prstGeom prst="rect">
            <a:avLst/>
          </a:prstGeom>
        </p:spPr>
        <p:txBody>
          <a:bodyPr vert="horz" wrap="square" lIns="0" tIns="0" rIns="0" bIns="0"/>
          <a:p>
            <a:pPr algn="l" rtl="0" eaLnBrk="0">
              <a:lnSpc>
                <a:spcPct val="113000"/>
              </a:lnSpc>
            </a:pPr>
            <a:endParaRPr lang="en-US" altLang="en-US" sz="600" dirty="0"/>
          </a:p>
          <a:p>
            <a:pPr marL="431800" algn="l" rtl="0" eaLnBrk="0">
              <a:lnSpc>
                <a:spcPct val="95000"/>
              </a:lnSpc>
              <a:spcBef>
                <a:spcPts val="0"/>
              </a:spcBef>
              <a:tabLst>
                <a:tab pos="781050" algn="l"/>
              </a:tabLst>
            </a:pPr>
            <a:r>
              <a:rPr sz="32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80" dirty="0">
                <a:solidFill>
                  <a:srgbClr val="1F4E79">
                    <a:alpha val="100000"/>
                  </a:srgbClr>
                </a:solidFill>
                <a:latin typeface="仿宋" panose="02010609060101010101" charset="-122"/>
                <a:ea typeface="仿宋" panose="02010609060101010101" charset="-122"/>
                <a:cs typeface="仿宋" panose="02010609060101010101" charset="-122"/>
              </a:rPr>
              <a:t>恺撒密码</a:t>
            </a:r>
            <a:endParaRPr lang="en-US" altLang="en-US" sz="3200" dirty="0"/>
          </a:p>
        </p:txBody>
      </p:sp>
      <p:pic>
        <p:nvPicPr>
          <p:cNvPr id="2097255" name="picture 138"/>
          <p:cNvPicPr>
            <a:picLocks noChangeAspect="1"/>
          </p:cNvPicPr>
          <p:nvPr/>
        </p:nvPicPr>
        <p:blipFill>
          <a:blip r:embed="rId1"/>
          <a:stretch>
            <a:fillRect/>
          </a:stretch>
        </p:blipFill>
        <p:spPr>
          <a:xfrm rot="21600000">
            <a:off x="824483" y="408431"/>
            <a:ext cx="419100" cy="655320"/>
          </a:xfrm>
          <a:prstGeom prst="rect">
            <a:avLst/>
          </a:prstGeom>
        </p:spPr>
      </p:pic>
      <p:sp>
        <p:nvSpPr>
          <p:cNvPr id="1049199"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
        <p:nvSpPr>
          <p:cNvPr id="1049200" name="rect"/>
          <p:cNvSpPr/>
          <p:nvPr/>
        </p:nvSpPr>
        <p:spPr>
          <a:xfrm>
            <a:off x="1465326" y="1019555"/>
            <a:ext cx="9037573" cy="28956"/>
          </a:xfrm>
          <a:prstGeom prst="rect">
            <a:avLst/>
          </a:prstGeom>
          <a:solidFill>
            <a:srgbClr val="5B9BD5">
              <a:alpha val="100000"/>
            </a:srgbClr>
          </a:solidFill>
          <a:ln cap="flat">
            <a:noFill/>
            <a:prstDash val="solid"/>
            <a:miter lim="0"/>
          </a:ln>
        </p:spPr>
        <p:txBody>
          <a:bodyPr rtlCol="0"/>
          <a:p>
            <a:pPr algn="ct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235" name=""/>
        <p:cNvGrpSpPr/>
        <p:nvPr/>
      </p:nvGrpSpPr>
      <p:grpSpPr>
        <a:xfrm>
          <a:off x="0" y="0"/>
          <a:ext cx="0" cy="0"/>
          <a:chOff x="0" y="0"/>
          <a:chExt cx="0" cy="0"/>
        </a:xfrm>
      </p:grpSpPr>
      <p:sp>
        <p:nvSpPr>
          <p:cNvPr id="1049202" name="path"/>
          <p:cNvSpPr/>
          <p:nvPr/>
        </p:nvSpPr>
        <p:spPr>
          <a:xfrm>
            <a:off x="2903347" y="1351661"/>
            <a:ext cx="1141442" cy="4402111"/>
          </a:xfrm>
          <a:custGeom>
            <a:avLst/>
            <a:gdLst/>
            <a:ahLst/>
            <a:cxnLst/>
            <a:rect l="0" t="0" r="0" b="0"/>
            <a:pathLst>
              <a:path w="1797" h="6932">
                <a:moveTo>
                  <a:pt x="96" y="4"/>
                </a:moveTo>
                <a:cubicBezTo>
                  <a:pt x="1988" y="1448"/>
                  <a:pt x="2353" y="4153"/>
                  <a:pt x="909" y="6046"/>
                </a:cubicBezTo>
                <a:cubicBezTo>
                  <a:pt x="653" y="6382"/>
                  <a:pt x="348" y="6679"/>
                  <a:pt x="4" y="6927"/>
                </a:cubicBezTo>
                <a:lnTo>
                  <a:pt x="4" y="6927"/>
                </a:lnTo>
                <a:cubicBezTo>
                  <a:pt x="1934" y="5534"/>
                  <a:pt x="2370" y="2840"/>
                  <a:pt x="977" y="909"/>
                </a:cubicBezTo>
                <a:cubicBezTo>
                  <a:pt x="730" y="566"/>
                  <a:pt x="433" y="261"/>
                  <a:pt x="96" y="4"/>
                </a:cubicBezTo>
              </a:path>
            </a:pathLst>
          </a:custGeom>
          <a:noFill/>
          <a:ln w="6096" cap="flat">
            <a:solidFill>
              <a:srgbClr val="477BA9">
                <a:alpha val="100000"/>
              </a:srgbClr>
            </a:solidFill>
            <a:prstDash val="solid"/>
            <a:miter lim="1000000"/>
          </a:ln>
        </p:spPr>
        <p:txBody>
          <a:bodyPr rtlCol="0"/>
          <a:p>
            <a:pPr algn="ctr"/>
            <a:endParaRPr lang="zh-CN" altLang="en-US"/>
          </a:p>
        </p:txBody>
      </p:sp>
      <p:pic>
        <p:nvPicPr>
          <p:cNvPr id="2097256" name="picture 148"/>
          <p:cNvPicPr>
            <a:picLocks noChangeAspect="1"/>
          </p:cNvPicPr>
          <p:nvPr/>
        </p:nvPicPr>
        <p:blipFill>
          <a:blip r:embed="rId1"/>
          <a:stretch>
            <a:fillRect/>
          </a:stretch>
        </p:blipFill>
        <p:spPr>
          <a:xfrm rot="21600000">
            <a:off x="3707891" y="1828800"/>
            <a:ext cx="5635751" cy="812291"/>
          </a:xfrm>
          <a:prstGeom prst="rect">
            <a:avLst/>
          </a:prstGeom>
        </p:spPr>
      </p:pic>
      <p:pic>
        <p:nvPicPr>
          <p:cNvPr id="2097257" name="picture 150"/>
          <p:cNvPicPr>
            <a:picLocks noChangeAspect="1"/>
          </p:cNvPicPr>
          <p:nvPr/>
        </p:nvPicPr>
        <p:blipFill>
          <a:blip r:embed="rId2"/>
          <a:stretch>
            <a:fillRect/>
          </a:stretch>
        </p:blipFill>
        <p:spPr>
          <a:xfrm rot="21600000">
            <a:off x="3756659" y="4343400"/>
            <a:ext cx="5586983" cy="812292"/>
          </a:xfrm>
          <a:prstGeom prst="rect">
            <a:avLst/>
          </a:prstGeom>
        </p:spPr>
      </p:pic>
      <p:pic>
        <p:nvPicPr>
          <p:cNvPr id="2097258" name="picture 152"/>
          <p:cNvPicPr>
            <a:picLocks noChangeAspect="1"/>
          </p:cNvPicPr>
          <p:nvPr/>
        </p:nvPicPr>
        <p:blipFill>
          <a:blip r:embed="rId3"/>
          <a:stretch>
            <a:fillRect/>
          </a:stretch>
        </p:blipFill>
        <p:spPr>
          <a:xfrm rot="21600000">
            <a:off x="3988308" y="3086100"/>
            <a:ext cx="5355335" cy="812292"/>
          </a:xfrm>
          <a:prstGeom prst="rect">
            <a:avLst/>
          </a:prstGeom>
        </p:spPr>
      </p:pic>
      <p:sp>
        <p:nvSpPr>
          <p:cNvPr id="1049203" name="textbox 154"/>
          <p:cNvSpPr/>
          <p:nvPr/>
        </p:nvSpPr>
        <p:spPr>
          <a:xfrm>
            <a:off x="3463544" y="2968244"/>
            <a:ext cx="2605404" cy="1091564"/>
          </a:xfrm>
          <a:prstGeom prst="rect">
            <a:avLst/>
          </a:prstGeom>
        </p:spPr>
        <p:txBody>
          <a:bodyPr vert="horz" wrap="square" lIns="0" tIns="0" rIns="0" bIns="0"/>
          <a:p>
            <a:pPr algn="l" rtl="0" eaLnBrk="0">
              <a:lnSpc>
                <a:spcPct val="109000"/>
              </a:lnSpc>
            </a:pPr>
            <a:endParaRPr lang="en-US" altLang="en-US" sz="1000" dirty="0"/>
          </a:p>
          <a:p>
            <a:pPr algn="l" rtl="0" eaLnBrk="0">
              <a:lnSpc>
                <a:spcPct val="109000"/>
              </a:lnSpc>
            </a:pPr>
            <a:endParaRPr lang="en-US" altLang="en-US" sz="1000" dirty="0"/>
          </a:p>
          <a:p>
            <a:pPr marL="1035050" algn="l" rtl="0" eaLnBrk="0">
              <a:lnSpc>
                <a:spcPct val="97000"/>
              </a:lnSpc>
              <a:tabLst>
                <a:tab pos="1194435" algn="l"/>
              </a:tabLst>
            </a:pPr>
            <a:r>
              <a:rPr sz="2700" kern="0" spc="0" dirty="0">
                <a:solidFill>
                  <a:srgbClr val="FFFFFF">
                    <a:alpha val="100000"/>
                  </a:srgbClr>
                </a:solidFill>
                <a:latin typeface="仿宋" panose="02010609060101010101" charset="-122"/>
                <a:ea typeface="仿宋" panose="02010609060101010101" charset="-122"/>
                <a:cs typeface="仿宋" panose="02010609060101010101" charset="-122"/>
              </a:rPr>
              <a:t>	</a:t>
            </a:r>
            <a:r>
              <a:rPr sz="2700" kern="0" spc="40" dirty="0">
                <a:solidFill>
                  <a:srgbClr val="FFFFFF">
                    <a:alpha val="100000"/>
                  </a:srgbClr>
                </a:solidFill>
                <a:latin typeface="仿宋" panose="02010609060101010101" charset="-122"/>
                <a:ea typeface="仿宋" panose="02010609060101010101" charset="-122"/>
                <a:cs typeface="仿宋" panose="02010609060101010101" charset="-122"/>
              </a:rPr>
              <a:t>换位密码</a:t>
            </a:r>
            <a:endParaRPr lang="en-US" altLang="en-US" sz="2700" dirty="0"/>
          </a:p>
        </p:txBody>
      </p:sp>
      <p:grpSp>
        <p:nvGrpSpPr>
          <p:cNvPr id="236" name="group 8"/>
          <p:cNvGrpSpPr/>
          <p:nvPr/>
        </p:nvGrpSpPr>
        <p:grpSpPr>
          <a:xfrm rot="21600000">
            <a:off x="3476244" y="2980944"/>
            <a:ext cx="1022603" cy="1022604"/>
            <a:chOff x="0" y="0"/>
            <a:chExt cx="1022603" cy="1022604"/>
          </a:xfrm>
        </p:grpSpPr>
        <p:sp>
          <p:nvSpPr>
            <p:cNvPr id="1049204" name="path"/>
            <p:cNvSpPr/>
            <p:nvPr/>
          </p:nvSpPr>
          <p:spPr>
            <a:xfrm>
              <a:off x="3047" y="3047"/>
              <a:ext cx="1016508" cy="1016508"/>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205" name="path"/>
            <p:cNvSpPr/>
            <p:nvPr/>
          </p:nvSpPr>
          <p:spPr>
            <a:xfrm>
              <a:off x="0" y="0"/>
              <a:ext cx="1022603" cy="1022604"/>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9206" name="textbox 160"/>
          <p:cNvSpPr/>
          <p:nvPr/>
        </p:nvSpPr>
        <p:spPr>
          <a:xfrm>
            <a:off x="3184651" y="1710944"/>
            <a:ext cx="2604770" cy="1094739"/>
          </a:xfrm>
          <a:prstGeom prst="rect">
            <a:avLst/>
          </a:prstGeom>
        </p:spPr>
        <p:txBody>
          <a:bodyPr vert="horz" wrap="square" lIns="0" tIns="0" rIns="0" bIns="0"/>
          <a:p>
            <a:pPr algn="l" rtl="0" eaLnBrk="0">
              <a:lnSpc>
                <a:spcPct val="108000"/>
              </a:lnSpc>
            </a:pPr>
            <a:endParaRPr lang="en-US" altLang="en-US" sz="1000" dirty="0"/>
          </a:p>
          <a:p>
            <a:pPr algn="l" rtl="0" eaLnBrk="0">
              <a:lnSpc>
                <a:spcPct val="108000"/>
              </a:lnSpc>
            </a:pPr>
            <a:endParaRPr lang="en-US" altLang="en-US" sz="1000" dirty="0"/>
          </a:p>
          <a:p>
            <a:pPr algn="l" rtl="0" eaLnBrk="0">
              <a:lnSpc>
                <a:spcPct val="9000"/>
              </a:lnSpc>
            </a:pPr>
            <a:endParaRPr lang="en-US" altLang="en-US" sz="100" dirty="0"/>
          </a:p>
          <a:p>
            <a:pPr marL="1035050" algn="l" rtl="0" eaLnBrk="0">
              <a:lnSpc>
                <a:spcPct val="98000"/>
              </a:lnSpc>
              <a:tabLst>
                <a:tab pos="1198880" algn="l"/>
              </a:tabLst>
            </a:pPr>
            <a:r>
              <a:rPr sz="2700" kern="0" spc="0" dirty="0">
                <a:solidFill>
                  <a:srgbClr val="FFFFFF">
                    <a:alpha val="100000"/>
                  </a:srgbClr>
                </a:solidFill>
                <a:latin typeface="仿宋" panose="02010609060101010101" charset="-122"/>
                <a:ea typeface="仿宋" panose="02010609060101010101" charset="-122"/>
                <a:cs typeface="仿宋" panose="02010609060101010101" charset="-122"/>
              </a:rPr>
              <a:t>	</a:t>
            </a:r>
            <a:r>
              <a:rPr sz="2700" kern="0" spc="30" dirty="0">
                <a:solidFill>
                  <a:srgbClr val="FFFFFF">
                    <a:alpha val="100000"/>
                  </a:srgbClr>
                </a:solidFill>
                <a:latin typeface="仿宋" panose="02010609060101010101" charset="-122"/>
                <a:ea typeface="仿宋" panose="02010609060101010101" charset="-122"/>
                <a:cs typeface="仿宋" panose="02010609060101010101" charset="-122"/>
              </a:rPr>
              <a:t>代替密码</a:t>
            </a:r>
            <a:endParaRPr lang="en-US" altLang="en-US" sz="2700" dirty="0"/>
          </a:p>
        </p:txBody>
      </p:sp>
      <p:grpSp>
        <p:nvGrpSpPr>
          <p:cNvPr id="237" name="group 10"/>
          <p:cNvGrpSpPr/>
          <p:nvPr/>
        </p:nvGrpSpPr>
        <p:grpSpPr>
          <a:xfrm rot="21600000">
            <a:off x="3197351" y="1723644"/>
            <a:ext cx="1022604" cy="1022603"/>
            <a:chOff x="0" y="0"/>
            <a:chExt cx="1022604" cy="1022603"/>
          </a:xfrm>
        </p:grpSpPr>
        <p:sp>
          <p:nvSpPr>
            <p:cNvPr id="1049207" name="path"/>
            <p:cNvSpPr/>
            <p:nvPr/>
          </p:nvSpPr>
          <p:spPr>
            <a:xfrm>
              <a:off x="3048" y="3047"/>
              <a:ext cx="1016508" cy="1016508"/>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208" name="path"/>
            <p:cNvSpPr/>
            <p:nvPr/>
          </p:nvSpPr>
          <p:spPr>
            <a:xfrm>
              <a:off x="0" y="0"/>
              <a:ext cx="1022604"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9209" name="textbox 166"/>
          <p:cNvSpPr/>
          <p:nvPr/>
        </p:nvSpPr>
        <p:spPr>
          <a:xfrm>
            <a:off x="3231895" y="4225544"/>
            <a:ext cx="2249804" cy="1092835"/>
          </a:xfrm>
          <a:prstGeom prst="rect">
            <a:avLst/>
          </a:prstGeom>
        </p:spPr>
        <p:txBody>
          <a:bodyPr vert="horz" wrap="square" lIns="0" tIns="0" rIns="0" bIns="0"/>
          <a:p>
            <a:pPr algn="l" rtl="0" eaLnBrk="0">
              <a:lnSpc>
                <a:spcPct val="109000"/>
              </a:lnSpc>
            </a:pPr>
            <a:endParaRPr lang="en-US" altLang="en-US" sz="1000" dirty="0"/>
          </a:p>
          <a:p>
            <a:pPr algn="l" rtl="0" eaLnBrk="0">
              <a:lnSpc>
                <a:spcPct val="110000"/>
              </a:lnSpc>
            </a:pPr>
            <a:endParaRPr lang="en-US" altLang="en-US" sz="1000" dirty="0"/>
          </a:p>
          <a:p>
            <a:pPr marL="1035050" algn="l" rtl="0" eaLnBrk="0">
              <a:lnSpc>
                <a:spcPct val="97000"/>
              </a:lnSpc>
              <a:spcBef>
                <a:spcPts val="0"/>
              </a:spcBef>
              <a:tabLst>
                <a:tab pos="1211580" algn="l"/>
              </a:tabLst>
            </a:pPr>
            <a:r>
              <a:rPr sz="2700" kern="0" spc="0" dirty="0">
                <a:solidFill>
                  <a:srgbClr val="FFFFFF">
                    <a:alpha val="100000"/>
                  </a:srgbClr>
                </a:solidFill>
                <a:latin typeface="仿宋" panose="02010609060101010101" charset="-122"/>
                <a:ea typeface="仿宋" panose="02010609060101010101" charset="-122"/>
                <a:cs typeface="仿宋" panose="02010609060101010101" charset="-122"/>
              </a:rPr>
              <a:t>	</a:t>
            </a:r>
            <a:r>
              <a:rPr sz="2700" kern="0" spc="-20" dirty="0">
                <a:solidFill>
                  <a:srgbClr val="FFFFFF">
                    <a:alpha val="100000"/>
                  </a:srgbClr>
                </a:solidFill>
                <a:latin typeface="仿宋" panose="02010609060101010101" charset="-122"/>
                <a:ea typeface="仿宋" panose="02010609060101010101" charset="-122"/>
                <a:cs typeface="仿宋" panose="02010609060101010101" charset="-122"/>
              </a:rPr>
              <a:t>密码机</a:t>
            </a:r>
            <a:endParaRPr lang="en-US" altLang="en-US" sz="2700" dirty="0"/>
          </a:p>
        </p:txBody>
      </p:sp>
      <p:grpSp>
        <p:nvGrpSpPr>
          <p:cNvPr id="238" name="group 12"/>
          <p:cNvGrpSpPr/>
          <p:nvPr/>
        </p:nvGrpSpPr>
        <p:grpSpPr>
          <a:xfrm rot="21600000">
            <a:off x="3244595" y="4238244"/>
            <a:ext cx="1022604" cy="1022603"/>
            <a:chOff x="0" y="0"/>
            <a:chExt cx="1022604" cy="1022603"/>
          </a:xfrm>
        </p:grpSpPr>
        <p:sp>
          <p:nvSpPr>
            <p:cNvPr id="1049210" name="path"/>
            <p:cNvSpPr/>
            <p:nvPr/>
          </p:nvSpPr>
          <p:spPr>
            <a:xfrm>
              <a:off x="3048" y="3048"/>
              <a:ext cx="1016508"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211" name="path"/>
            <p:cNvSpPr/>
            <p:nvPr/>
          </p:nvSpPr>
          <p:spPr>
            <a:xfrm>
              <a:off x="0" y="0"/>
              <a:ext cx="1022604"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9212" name="textbox 172"/>
          <p:cNvSpPr/>
          <p:nvPr/>
        </p:nvSpPr>
        <p:spPr>
          <a:xfrm>
            <a:off x="2745896" y="488157"/>
            <a:ext cx="4655820"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sz="3200" kern="0" spc="-30" dirty="0">
                <a:solidFill>
                  <a:srgbClr val="1F4E79">
                    <a:alpha val="100000"/>
                  </a:srgbClr>
                </a:solidFill>
                <a:latin typeface="仿宋" panose="02010609060101010101" charset="-122"/>
                <a:ea typeface="仿宋" panose="02010609060101010101" charset="-122"/>
                <a:cs typeface="仿宋" panose="02010609060101010101" charset="-122"/>
              </a:rPr>
              <a:t>第三讲</a:t>
            </a:r>
            <a:r>
              <a:rPr sz="3200" kern="0" spc="-3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30" dirty="0">
                <a:solidFill>
                  <a:srgbClr val="1F4E79">
                    <a:alpha val="100000"/>
                  </a:srgbClr>
                </a:solidFill>
                <a:latin typeface="仿宋" panose="02010609060101010101" charset="-122"/>
                <a:ea typeface="仿宋" panose="02010609060101010101" charset="-122"/>
                <a:cs typeface="仿宋" panose="02010609060101010101" charset="-122"/>
              </a:rPr>
              <a:t>外国古代密码艺术</a:t>
            </a:r>
            <a:endParaRPr lang="en-US" altLang="en-US" sz="3200" dirty="0"/>
          </a:p>
        </p:txBody>
      </p:sp>
      <p:sp>
        <p:nvSpPr>
          <p:cNvPr id="1049213"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59" name="picture 178"/>
          <p:cNvPicPr>
            <a:picLocks noChangeAspect="1"/>
          </p:cNvPicPr>
          <p:nvPr/>
        </p:nvPicPr>
        <p:blipFill>
          <a:blip r:embed="rId4"/>
          <a:stretch>
            <a:fillRect/>
          </a:stretch>
        </p:blipFill>
        <p:spPr>
          <a:xfrm rot="21600000">
            <a:off x="824483" y="408431"/>
            <a:ext cx="419100" cy="655320"/>
          </a:xfrm>
          <a:prstGeom prst="rect">
            <a:avLst/>
          </a:prstGeom>
        </p:spPr>
      </p:pic>
      <p:sp>
        <p:nvSpPr>
          <p:cNvPr id="1049214"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241" name=""/>
        <p:cNvGrpSpPr/>
        <p:nvPr/>
      </p:nvGrpSpPr>
      <p:grpSpPr>
        <a:xfrm>
          <a:off x="0" y="0"/>
          <a:ext cx="0" cy="0"/>
          <a:chOff x="0" y="0"/>
          <a:chExt cx="0" cy="0"/>
        </a:xfrm>
      </p:grpSpPr>
      <p:sp>
        <p:nvSpPr>
          <p:cNvPr id="1049216" name="textbox 182"/>
          <p:cNvSpPr/>
          <p:nvPr/>
        </p:nvSpPr>
        <p:spPr>
          <a:xfrm>
            <a:off x="944464" y="1673890"/>
            <a:ext cx="10729594" cy="1181100"/>
          </a:xfrm>
          <a:prstGeom prst="rect">
            <a:avLst/>
          </a:prstGeom>
        </p:spPr>
        <p:txBody>
          <a:bodyPr vert="horz" wrap="square" lIns="0" tIns="0" rIns="0" bIns="0"/>
          <a:p>
            <a:pPr algn="l" rtl="0" eaLnBrk="0">
              <a:lnSpc>
                <a:spcPct val="96000"/>
              </a:lnSpc>
            </a:pPr>
            <a:endParaRPr lang="en-US" altLang="en-US" sz="100" dirty="0"/>
          </a:p>
          <a:p>
            <a:pPr marL="16510" algn="l" rtl="0" eaLnBrk="0">
              <a:lnSpc>
                <a:spcPct val="94000"/>
              </a:lnSpc>
            </a:pPr>
            <a:r>
              <a:rPr sz="2700" kern="0" spc="290" dirty="0">
                <a:ln w="10145" cap="flat" cmpd="sng">
                  <a:solidFill>
                    <a:srgbClr val="ED7D31">
                      <a:alpha val="100000"/>
                    </a:srgbClr>
                  </a:solidFill>
                  <a:prstDash val="solid"/>
                  <a:miter lim="10"/>
                </a:ln>
                <a:solidFill>
                  <a:srgbClr val="ED7D31">
                    <a:alpha val="100000"/>
                  </a:srgbClr>
                </a:solidFill>
                <a:latin typeface="仿宋" panose="02010609060101010101" charset="-122"/>
                <a:ea typeface="仿宋" panose="02010609060101010101" charset="-122"/>
                <a:cs typeface="仿宋" panose="02010609060101010101" charset="-122"/>
              </a:rPr>
              <a:t>明文：</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never</a:t>
            </a:r>
            <a:r>
              <a:rPr sz="2700" kern="0" spc="29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accept</a:t>
            </a:r>
            <a:r>
              <a:rPr sz="2700" kern="0" spc="29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failure</a:t>
            </a:r>
            <a:r>
              <a:rPr sz="2700" kern="0" spc="29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no</a:t>
            </a:r>
            <a:r>
              <a:rPr sz="2700" kern="0" spc="29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matter</a:t>
            </a:r>
            <a:r>
              <a:rPr sz="2700" kern="0" spc="29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how</a:t>
            </a:r>
            <a:r>
              <a:rPr sz="2700" kern="0" spc="19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often</a:t>
            </a:r>
            <a:r>
              <a:rPr sz="2700" kern="0" spc="37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it</a:t>
            </a:r>
            <a:r>
              <a:rPr sz="2700" kern="0" spc="17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visits</a:t>
            </a:r>
            <a:r>
              <a:rPr sz="2700" kern="0" spc="18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you</a:t>
            </a:r>
            <a:endParaRPr lang="en-US" altLang="en-US" sz="2700" dirty="0"/>
          </a:p>
          <a:p>
            <a:pPr algn="l" rtl="0" eaLnBrk="0">
              <a:lnSpc>
                <a:spcPct val="181000"/>
              </a:lnSpc>
            </a:pPr>
            <a:endParaRPr lang="en-US" altLang="en-US" sz="1000" dirty="0"/>
          </a:p>
          <a:p>
            <a:pPr algn="l" rtl="0" eaLnBrk="0">
              <a:lnSpc>
                <a:spcPct val="114000"/>
              </a:lnSpc>
            </a:pPr>
            <a:endParaRPr lang="en-US" altLang="en-US" sz="600" dirty="0"/>
          </a:p>
          <a:p>
            <a:pPr marL="12700" algn="l" rtl="0" eaLnBrk="0">
              <a:lnSpc>
                <a:spcPct val="94000"/>
              </a:lnSpc>
            </a:pPr>
            <a:r>
              <a:rPr sz="2700" kern="0" spc="270" dirty="0">
                <a:ln w="10145" cap="flat" cmpd="sng">
                  <a:solidFill>
                    <a:srgbClr val="ED7D31">
                      <a:alpha val="100000"/>
                    </a:srgbClr>
                  </a:solidFill>
                  <a:prstDash val="solid"/>
                  <a:miter lim="10"/>
                </a:ln>
                <a:solidFill>
                  <a:srgbClr val="ED7D31">
                    <a:alpha val="100000"/>
                  </a:srgbClr>
                </a:solidFill>
                <a:latin typeface="仿宋" panose="02010609060101010101" charset="-122"/>
                <a:ea typeface="仿宋" panose="02010609060101010101" charset="-122"/>
                <a:cs typeface="仿宋" panose="02010609060101010101" charset="-122"/>
              </a:rPr>
              <a:t>密文：</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uoys</a:t>
            </a:r>
            <a:r>
              <a:rPr sz="2700" kern="0" spc="27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tisi</a:t>
            </a:r>
            <a:r>
              <a:rPr sz="2700" kern="0" spc="27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vtin</a:t>
            </a:r>
            <a:r>
              <a:rPr sz="2700" kern="0" spc="27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etfo</a:t>
            </a:r>
            <a:r>
              <a:rPr sz="2700" kern="0" spc="27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wohr</a:t>
            </a:r>
            <a:r>
              <a:rPr sz="2700" kern="0" spc="31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etta</a:t>
            </a:r>
            <a:r>
              <a:rPr sz="2700" kern="0" spc="27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mone</a:t>
            </a:r>
            <a:r>
              <a:rPr sz="2700" kern="0" spc="12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ulia</a:t>
            </a:r>
            <a:r>
              <a:rPr sz="2700" kern="0" spc="21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ftpe</a:t>
            </a:r>
            <a:r>
              <a:rPr sz="2700" kern="0" spc="23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ccar</a:t>
            </a:r>
            <a:r>
              <a:rPr sz="2700" kern="0" spc="23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even</a:t>
            </a:r>
            <a:endParaRPr lang="en-US" altLang="en-US" sz="2700" dirty="0"/>
          </a:p>
        </p:txBody>
      </p:sp>
      <p:sp>
        <p:nvSpPr>
          <p:cNvPr id="1049217" name="textbox 184"/>
          <p:cNvSpPr/>
          <p:nvPr/>
        </p:nvSpPr>
        <p:spPr>
          <a:xfrm>
            <a:off x="925289" y="3975637"/>
            <a:ext cx="7265034" cy="422909"/>
          </a:xfrm>
          <a:prstGeom prst="rect">
            <a:avLst/>
          </a:prstGeom>
        </p:spPr>
        <p:txBody>
          <a:bodyPr vert="horz" wrap="square" lIns="0" tIns="0" rIns="0" bIns="0"/>
          <a:p>
            <a:pPr algn="l" rtl="0" eaLnBrk="0">
              <a:lnSpc>
                <a:spcPct val="71000"/>
              </a:lnSpc>
            </a:pPr>
            <a:endParaRPr lang="en-US" altLang="en-US" sz="100" dirty="0"/>
          </a:p>
          <a:p>
            <a:pPr algn="r" rtl="0" eaLnBrk="0">
              <a:lnSpc>
                <a:spcPct val="97000"/>
              </a:lnSpc>
            </a:pPr>
            <a:r>
              <a:rPr sz="2700" kern="0" spc="-10" dirty="0">
                <a:ln w="10145" cap="flat" cmpd="sng">
                  <a:solidFill>
                    <a:srgbClr val="ED7D31">
                      <a:alpha val="100000"/>
                    </a:srgbClr>
                  </a:solidFill>
                  <a:prstDash val="solid"/>
                  <a:miter lim="10"/>
                </a:ln>
                <a:solidFill>
                  <a:srgbClr val="ED7D31">
                    <a:alpha val="100000"/>
                  </a:srgbClr>
                </a:solidFill>
                <a:latin typeface="仿宋" panose="02010609060101010101" charset="-122"/>
                <a:ea typeface="仿宋" panose="02010609060101010101" charset="-122"/>
                <a:cs typeface="仿宋" panose="02010609060101010101" charset="-122"/>
              </a:rPr>
              <a:t>特点：</a:t>
            </a:r>
            <a:r>
              <a:rPr sz="2700" kern="0" spc="520" dirty="0">
                <a:solidFill>
                  <a:srgbClr val="ED7D31">
                    <a:alpha val="100000"/>
                  </a:srgbClr>
                </a:solidFill>
                <a:latin typeface="仿宋" panose="02010609060101010101" charset="-122"/>
                <a:ea typeface="仿宋" panose="02010609060101010101" charset="-122"/>
                <a:cs typeface="仿宋" panose="02010609060101010101" charset="-122"/>
              </a:rPr>
              <a:t> </a:t>
            </a:r>
            <a:r>
              <a:rPr sz="2700" kern="0" spc="-1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简单，缺点是不安全，很</a:t>
            </a:r>
            <a:r>
              <a:rPr sz="2700" kern="0" spc="-2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容易被识破。</a:t>
            </a:r>
            <a:endParaRPr lang="en-US" altLang="en-US" sz="2700" dirty="0"/>
          </a:p>
        </p:txBody>
      </p:sp>
      <p:sp>
        <p:nvSpPr>
          <p:cNvPr id="1049218" name="textbox 188"/>
          <p:cNvSpPr/>
          <p:nvPr/>
        </p:nvSpPr>
        <p:spPr>
          <a:xfrm>
            <a:off x="1571048" y="488157"/>
            <a:ext cx="1624964" cy="485775"/>
          </a:xfrm>
          <a:prstGeom prst="rect">
            <a:avLst/>
          </a:prstGeom>
        </p:spPr>
        <p:txBody>
          <a:bodyPr vert="horz" wrap="square" lIns="0" tIns="0" rIns="0" bIns="0"/>
          <a:p>
            <a:pPr algn="l" rtl="0" eaLnBrk="0">
              <a:lnSpc>
                <a:spcPct val="94000"/>
              </a:lnSpc>
            </a:pPr>
            <a:endParaRPr lang="en-US" altLang="en-US" sz="100" dirty="0"/>
          </a:p>
          <a:p>
            <a:pPr marL="12700" algn="l" rtl="0" eaLnBrk="0">
              <a:lnSpc>
                <a:spcPct val="94000"/>
              </a:lnSpc>
            </a:pPr>
            <a:r>
              <a:rPr sz="3200" kern="0" spc="-60" dirty="0">
                <a:solidFill>
                  <a:srgbClr val="1F4E79">
                    <a:alpha val="100000"/>
                  </a:srgbClr>
                </a:solidFill>
                <a:latin typeface="仿宋" panose="02010609060101010101" charset="-122"/>
                <a:ea typeface="仿宋" panose="02010609060101010101" charset="-122"/>
                <a:cs typeface="仿宋" panose="02010609060101010101" charset="-122"/>
              </a:rPr>
              <a:t>报文倒置</a:t>
            </a:r>
            <a:endParaRPr lang="en-US" altLang="en-US" sz="3200" dirty="0"/>
          </a:p>
        </p:txBody>
      </p:sp>
      <p:sp>
        <p:nvSpPr>
          <p:cNvPr id="1049219"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60" name="picture 192"/>
          <p:cNvPicPr>
            <a:picLocks noChangeAspect="1"/>
          </p:cNvPicPr>
          <p:nvPr/>
        </p:nvPicPr>
        <p:blipFill>
          <a:blip r:embed="rId1"/>
          <a:stretch>
            <a:fillRect/>
          </a:stretch>
        </p:blipFill>
        <p:spPr>
          <a:xfrm rot="21600000">
            <a:off x="824483" y="408431"/>
            <a:ext cx="419100" cy="655320"/>
          </a:xfrm>
          <a:prstGeom prst="rect">
            <a:avLst/>
          </a:prstGeom>
        </p:spPr>
      </p:pic>
      <p:sp>
        <p:nvSpPr>
          <p:cNvPr id="1049220"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244" name=""/>
        <p:cNvGrpSpPr/>
        <p:nvPr/>
      </p:nvGrpSpPr>
      <p:grpSpPr>
        <a:xfrm>
          <a:off x="0" y="0"/>
          <a:ext cx="0" cy="0"/>
          <a:chOff x="0" y="0"/>
          <a:chExt cx="0" cy="0"/>
        </a:xfrm>
      </p:grpSpPr>
      <p:pic>
        <p:nvPicPr>
          <p:cNvPr id="2097261" name="picture 196"/>
          <p:cNvPicPr>
            <a:picLocks noChangeAspect="1"/>
          </p:cNvPicPr>
          <p:nvPr/>
        </p:nvPicPr>
        <p:blipFill>
          <a:blip r:embed="rId1"/>
          <a:stretch>
            <a:fillRect/>
          </a:stretch>
        </p:blipFill>
        <p:spPr>
          <a:xfrm rot="21600000">
            <a:off x="3500628" y="2590800"/>
            <a:ext cx="4968240" cy="1863852"/>
          </a:xfrm>
          <a:prstGeom prst="rect">
            <a:avLst/>
          </a:prstGeom>
        </p:spPr>
      </p:pic>
      <p:sp>
        <p:nvSpPr>
          <p:cNvPr id="1049222" name="textbox 198"/>
          <p:cNvSpPr/>
          <p:nvPr/>
        </p:nvSpPr>
        <p:spPr>
          <a:xfrm>
            <a:off x="1776344" y="1321846"/>
            <a:ext cx="6251575" cy="426719"/>
          </a:xfrm>
          <a:prstGeom prst="rect">
            <a:avLst/>
          </a:prstGeom>
        </p:spPr>
        <p:txBody>
          <a:bodyPr vert="horz" wrap="square" lIns="0" tIns="0" rIns="0" bIns="0"/>
          <a:p>
            <a:pPr algn="l" rtl="0" eaLnBrk="0">
              <a:lnSpc>
                <a:spcPct val="70000"/>
              </a:lnSpc>
            </a:pPr>
            <a:endParaRPr lang="en-US" altLang="en-US" sz="100" dirty="0"/>
          </a:p>
          <a:p>
            <a:pPr marL="12700" algn="l" rtl="0" eaLnBrk="0">
              <a:lnSpc>
                <a:spcPct val="98000"/>
              </a:lnSpc>
            </a:pPr>
            <a:r>
              <a:rPr sz="2700" kern="0" spc="80" dirty="0">
                <a:ln w="10145"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500</a:t>
            </a:r>
            <a:r>
              <a:rPr sz="2700" kern="0"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700" kern="0" spc="80" dirty="0">
                <a:ln w="10145"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B.C.，古斯巴达人使用</a:t>
            </a:r>
            <a:r>
              <a:rPr sz="2700" kern="0" spc="70" dirty="0">
                <a:ln w="10145"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的“天书</a:t>
            </a:r>
            <a:r>
              <a:rPr sz="2700" kern="0" spc="-9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700" kern="0" spc="70" dirty="0">
                <a:ln w="10145"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a:t>
            </a:r>
            <a:endParaRPr lang="en-US" altLang="en-US" sz="2700" dirty="0"/>
          </a:p>
        </p:txBody>
      </p:sp>
      <p:sp>
        <p:nvSpPr>
          <p:cNvPr id="1049223" name="textbox 200"/>
          <p:cNvSpPr/>
          <p:nvPr/>
        </p:nvSpPr>
        <p:spPr>
          <a:xfrm>
            <a:off x="1560062" y="488157"/>
            <a:ext cx="3863340" cy="472440"/>
          </a:xfrm>
          <a:prstGeom prst="rect">
            <a:avLst/>
          </a:prstGeom>
        </p:spPr>
        <p:txBody>
          <a:bodyPr vert="horz" wrap="square" lIns="0" tIns="0" rIns="0" bIns="0"/>
          <a:p>
            <a:pPr algn="l" rtl="0" eaLnBrk="0">
              <a:lnSpc>
                <a:spcPct val="70000"/>
              </a:lnSpc>
            </a:pPr>
            <a:endParaRPr lang="en-US" altLang="en-US" sz="100" dirty="0"/>
          </a:p>
          <a:p>
            <a:pPr algn="r" rtl="0" eaLnBrk="0">
              <a:lnSpc>
                <a:spcPct val="92000"/>
              </a:lnSpc>
            </a:pPr>
            <a:r>
              <a:rPr sz="3200" kern="0" spc="-14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Scytale密码（天书）</a:t>
            </a:r>
            <a:endParaRPr lang="en-US" altLang="en-US" sz="3200" dirty="0"/>
          </a:p>
        </p:txBody>
      </p:sp>
      <p:sp>
        <p:nvSpPr>
          <p:cNvPr id="1049224" name="path"/>
          <p:cNvSpPr/>
          <p:nvPr/>
        </p:nvSpPr>
        <p:spPr>
          <a:xfrm>
            <a:off x="694181" y="6236208"/>
            <a:ext cx="10779125" cy="28955"/>
          </a:xfrm>
          <a:custGeom>
            <a:avLst/>
            <a:gdLst/>
            <a:ahLst/>
            <a:cxnLst/>
            <a:rect l="0" t="0" r="0" b="0"/>
            <a:pathLst>
              <a:path w="16975" h="45">
                <a:moveTo>
                  <a:pt x="0" y="22"/>
                </a:moveTo>
                <a:lnTo>
                  <a:pt x="16975" y="22"/>
                </a:lnTo>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262" name="picture 206"/>
          <p:cNvPicPr>
            <a:picLocks noChangeAspect="1"/>
          </p:cNvPicPr>
          <p:nvPr/>
        </p:nvPicPr>
        <p:blipFill>
          <a:blip r:embed="rId2"/>
          <a:stretch>
            <a:fillRect/>
          </a:stretch>
        </p:blipFill>
        <p:spPr>
          <a:xfrm rot="21600000">
            <a:off x="824483" y="408431"/>
            <a:ext cx="419100" cy="655320"/>
          </a:xfrm>
          <a:prstGeom prst="rect">
            <a:avLst/>
          </a:prstGeom>
        </p:spPr>
      </p:pic>
      <p:sp>
        <p:nvSpPr>
          <p:cNvPr id="1049225"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247" name=""/>
        <p:cNvGrpSpPr/>
        <p:nvPr/>
      </p:nvGrpSpPr>
      <p:grpSpPr>
        <a:xfrm>
          <a:off x="0" y="0"/>
          <a:ext cx="0" cy="0"/>
          <a:chOff x="0" y="0"/>
          <a:chExt cx="0" cy="0"/>
        </a:xfrm>
      </p:grpSpPr>
      <p:sp>
        <p:nvSpPr>
          <p:cNvPr id="1049227" name="textbox 210"/>
          <p:cNvSpPr/>
          <p:nvPr/>
        </p:nvSpPr>
        <p:spPr>
          <a:xfrm>
            <a:off x="247294" y="1725599"/>
            <a:ext cx="4850129" cy="2979420"/>
          </a:xfrm>
          <a:prstGeom prst="rect">
            <a:avLst/>
          </a:prstGeom>
        </p:spPr>
        <p:txBody>
          <a:bodyPr vert="horz" wrap="square" lIns="0" tIns="0" rIns="0" bIns="0"/>
          <a:p>
            <a:pPr algn="l" rtl="0" eaLnBrk="0">
              <a:lnSpc>
                <a:spcPct val="84000"/>
              </a:lnSpc>
            </a:pPr>
            <a:endParaRPr lang="en-US" altLang="en-US" sz="100" dirty="0"/>
          </a:p>
          <a:p>
            <a:pPr marL="12700" algn="l" rtl="0" eaLnBrk="0">
              <a:lnSpc>
                <a:spcPct val="97000"/>
              </a:lnSpc>
            </a:pPr>
            <a:r>
              <a:rPr sz="2400" kern="0" spc="-90" dirty="0">
                <a:solidFill>
                  <a:srgbClr val="000000">
                    <a:alpha val="100000"/>
                  </a:srgbClr>
                </a:solidFill>
                <a:latin typeface="Arial" panose="020B0604020202020204"/>
                <a:ea typeface="Arial" panose="020B0604020202020204"/>
                <a:cs typeface="Arial" panose="020B0604020202020204"/>
              </a:rPr>
              <a:t>•  </a:t>
            </a:r>
            <a:r>
              <a:rPr sz="2400" kern="0" spc="-9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明文：</a:t>
            </a:r>
            <a:r>
              <a:rPr sz="2400" kern="0" spc="-9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9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I</a:t>
            </a:r>
            <a:r>
              <a:rPr sz="2400" kern="0" spc="15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9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came</a:t>
            </a:r>
            <a:r>
              <a:rPr sz="2400" kern="0" spc="24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9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I</a:t>
            </a:r>
            <a:r>
              <a:rPr sz="2400" kern="0" spc="2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9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saw</a:t>
            </a:r>
            <a:r>
              <a:rPr sz="2400" kern="0" spc="24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9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I</a:t>
            </a:r>
            <a:r>
              <a:rPr sz="2400" kern="0" spc="16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9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con</a:t>
            </a:r>
            <a:r>
              <a:rPr sz="2400" kern="0" spc="-10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quered</a:t>
            </a:r>
            <a:endParaRPr lang="en-US" altLang="en-US" sz="2400" dirty="0"/>
          </a:p>
          <a:p>
            <a:pPr algn="l" rtl="0" eaLnBrk="0">
              <a:lnSpc>
                <a:spcPct val="122000"/>
              </a:lnSpc>
            </a:pPr>
            <a:endParaRPr lang="en-US" altLang="en-US" sz="1000" dirty="0"/>
          </a:p>
          <a:p>
            <a:pPr algn="l" rtl="0" eaLnBrk="0">
              <a:lnSpc>
                <a:spcPct val="122000"/>
              </a:lnSpc>
            </a:pPr>
            <a:endParaRPr lang="en-US" altLang="en-US" sz="1000" dirty="0"/>
          </a:p>
          <a:p>
            <a:pPr algn="l" rtl="0" eaLnBrk="0">
              <a:lnSpc>
                <a:spcPct val="123000"/>
              </a:lnSpc>
            </a:pPr>
            <a:endParaRPr lang="en-US" altLang="en-US" sz="1000" dirty="0"/>
          </a:p>
          <a:p>
            <a:pPr marL="1541145" algn="l" rtl="0" eaLnBrk="0">
              <a:lnSpc>
                <a:spcPct val="82000"/>
              </a:lnSpc>
              <a:spcBef>
                <a:spcPts val="730"/>
              </a:spcBef>
            </a:pPr>
            <a:r>
              <a:rPr sz="2400" kern="0" spc="-140" dirty="0">
                <a:solidFill>
                  <a:srgbClr val="000000">
                    <a:alpha val="100000"/>
                  </a:srgbClr>
                </a:solidFill>
                <a:latin typeface="Verdana" panose="020B0604030504040204"/>
                <a:ea typeface="Verdana" panose="020B0604030504040204"/>
                <a:cs typeface="Verdana" panose="020B0604030504040204"/>
              </a:rPr>
              <a:t>I</a:t>
            </a:r>
            <a:r>
              <a:rPr sz="2400" kern="0" spc="50" dirty="0">
                <a:solidFill>
                  <a:srgbClr val="000000">
                    <a:alpha val="100000"/>
                  </a:srgbClr>
                </a:solidFill>
                <a:latin typeface="Verdana" panose="020B0604030504040204"/>
                <a:ea typeface="Verdana" panose="020B0604030504040204"/>
                <a:cs typeface="Verdana" panose="020B0604030504040204"/>
              </a:rPr>
              <a:t>   </a:t>
            </a:r>
            <a:r>
              <a:rPr sz="2400" kern="0" spc="-140" dirty="0">
                <a:solidFill>
                  <a:srgbClr val="000000">
                    <a:alpha val="100000"/>
                  </a:srgbClr>
                </a:solidFill>
                <a:latin typeface="Verdana" panose="020B0604030504040204"/>
                <a:ea typeface="Verdana" panose="020B0604030504040204"/>
                <a:cs typeface="Verdana" panose="020B0604030504040204"/>
              </a:rPr>
              <a:t>C</a:t>
            </a:r>
            <a:r>
              <a:rPr sz="2400" kern="0" spc="10" dirty="0">
                <a:solidFill>
                  <a:srgbClr val="000000">
                    <a:alpha val="100000"/>
                  </a:srgbClr>
                </a:solidFill>
                <a:latin typeface="Verdana" panose="020B0604030504040204"/>
                <a:ea typeface="Verdana" panose="020B0604030504040204"/>
                <a:cs typeface="Verdana" panose="020B0604030504040204"/>
              </a:rPr>
              <a:t>   </a:t>
            </a:r>
            <a:r>
              <a:rPr sz="2400" kern="0" spc="-140" dirty="0">
                <a:solidFill>
                  <a:srgbClr val="000000">
                    <a:alpha val="100000"/>
                  </a:srgbClr>
                </a:solidFill>
                <a:latin typeface="Verdana" panose="020B0604030504040204"/>
                <a:ea typeface="Verdana" panose="020B0604030504040204"/>
                <a:cs typeface="Verdana" panose="020B0604030504040204"/>
              </a:rPr>
              <a:t>A</a:t>
            </a:r>
            <a:r>
              <a:rPr sz="2400" kern="0" spc="70" dirty="0">
                <a:solidFill>
                  <a:srgbClr val="000000">
                    <a:alpha val="100000"/>
                  </a:srgbClr>
                </a:solidFill>
                <a:latin typeface="Verdana" panose="020B0604030504040204"/>
                <a:ea typeface="Verdana" panose="020B0604030504040204"/>
                <a:cs typeface="Verdana" panose="020B0604030504040204"/>
              </a:rPr>
              <a:t>   </a:t>
            </a:r>
            <a:r>
              <a:rPr sz="2400" kern="0" spc="-140" dirty="0">
                <a:solidFill>
                  <a:srgbClr val="000000">
                    <a:alpha val="100000"/>
                  </a:srgbClr>
                </a:solidFill>
                <a:latin typeface="Verdana" panose="020B0604030504040204"/>
                <a:ea typeface="Verdana" panose="020B0604030504040204"/>
                <a:cs typeface="Verdana" panose="020B0604030504040204"/>
              </a:rPr>
              <a:t>M</a:t>
            </a:r>
            <a:r>
              <a:rPr sz="2400" kern="0" spc="80" dirty="0">
                <a:solidFill>
                  <a:srgbClr val="000000">
                    <a:alpha val="100000"/>
                  </a:srgbClr>
                </a:solidFill>
                <a:latin typeface="Verdana" panose="020B0604030504040204"/>
                <a:ea typeface="Verdana" panose="020B0604030504040204"/>
                <a:cs typeface="Verdana" panose="020B0604030504040204"/>
              </a:rPr>
              <a:t>   </a:t>
            </a:r>
            <a:r>
              <a:rPr sz="2400" kern="0" spc="-140" dirty="0">
                <a:solidFill>
                  <a:srgbClr val="000000">
                    <a:alpha val="100000"/>
                  </a:srgbClr>
                </a:solidFill>
                <a:latin typeface="Verdana" panose="020B0604030504040204"/>
                <a:ea typeface="Verdana" panose="020B0604030504040204"/>
                <a:cs typeface="Verdana" panose="020B0604030504040204"/>
              </a:rPr>
              <a:t>E</a:t>
            </a:r>
            <a:r>
              <a:rPr sz="2400" kern="0" spc="50" dirty="0">
                <a:solidFill>
                  <a:srgbClr val="000000">
                    <a:alpha val="100000"/>
                  </a:srgbClr>
                </a:solidFill>
                <a:latin typeface="Verdana" panose="020B0604030504040204"/>
                <a:ea typeface="Verdana" panose="020B0604030504040204"/>
                <a:cs typeface="Verdana" panose="020B0604030504040204"/>
              </a:rPr>
              <a:t>   </a:t>
            </a:r>
            <a:r>
              <a:rPr sz="2400" kern="0" spc="-140" dirty="0">
                <a:solidFill>
                  <a:srgbClr val="000000">
                    <a:alpha val="100000"/>
                  </a:srgbClr>
                </a:solidFill>
                <a:latin typeface="Verdana" panose="020B0604030504040204"/>
                <a:ea typeface="Verdana" panose="020B0604030504040204"/>
                <a:cs typeface="Verdana" panose="020B0604030504040204"/>
              </a:rPr>
              <a:t>I</a:t>
            </a:r>
            <a:endParaRPr lang="en-US" altLang="en-US" sz="2400" dirty="0"/>
          </a:p>
          <a:p>
            <a:pPr algn="l" rtl="0" eaLnBrk="0">
              <a:lnSpc>
                <a:spcPct val="103000"/>
              </a:lnSpc>
            </a:pPr>
            <a:endParaRPr lang="en-US" altLang="en-US" sz="1000" dirty="0"/>
          </a:p>
          <a:p>
            <a:pPr marL="1537335" algn="l" rtl="0" eaLnBrk="0">
              <a:lnSpc>
                <a:spcPct val="82000"/>
              </a:lnSpc>
              <a:spcBef>
                <a:spcPts val="725"/>
              </a:spcBef>
            </a:pPr>
            <a:r>
              <a:rPr sz="2400" kern="0" spc="-100" dirty="0">
                <a:solidFill>
                  <a:srgbClr val="000000">
                    <a:alpha val="100000"/>
                  </a:srgbClr>
                </a:solidFill>
                <a:latin typeface="Verdana" panose="020B0604030504040204"/>
                <a:ea typeface="Verdana" panose="020B0604030504040204"/>
                <a:cs typeface="Verdana" panose="020B0604030504040204"/>
              </a:rPr>
              <a:t>O</a:t>
            </a:r>
            <a:r>
              <a:rPr sz="2400" kern="0" spc="70" dirty="0">
                <a:solidFill>
                  <a:srgbClr val="000000">
                    <a:alpha val="100000"/>
                  </a:srgbClr>
                </a:solidFill>
                <a:latin typeface="Verdana" panose="020B0604030504040204"/>
                <a:ea typeface="Verdana" panose="020B0604030504040204"/>
                <a:cs typeface="Verdana" panose="020B0604030504040204"/>
              </a:rPr>
              <a:t>  </a:t>
            </a:r>
            <a:r>
              <a:rPr sz="2400" kern="0" spc="-100" dirty="0">
                <a:solidFill>
                  <a:srgbClr val="000000">
                    <a:alpha val="100000"/>
                  </a:srgbClr>
                </a:solidFill>
                <a:latin typeface="Verdana" panose="020B0604030504040204"/>
                <a:ea typeface="Verdana" panose="020B0604030504040204"/>
                <a:cs typeface="Verdana" panose="020B0604030504040204"/>
              </a:rPr>
              <a:t>C</a:t>
            </a:r>
            <a:r>
              <a:rPr sz="2400" kern="0" spc="50" dirty="0">
                <a:solidFill>
                  <a:srgbClr val="000000">
                    <a:alpha val="100000"/>
                  </a:srgbClr>
                </a:solidFill>
                <a:latin typeface="Verdana" panose="020B0604030504040204"/>
                <a:ea typeface="Verdana" panose="020B0604030504040204"/>
                <a:cs typeface="Verdana" panose="020B0604030504040204"/>
              </a:rPr>
              <a:t>   </a:t>
            </a:r>
            <a:r>
              <a:rPr sz="2400" kern="0" spc="-100" dirty="0">
                <a:solidFill>
                  <a:srgbClr val="000000">
                    <a:alpha val="100000"/>
                  </a:srgbClr>
                </a:solidFill>
                <a:latin typeface="Verdana" panose="020B0604030504040204"/>
                <a:ea typeface="Verdana" panose="020B0604030504040204"/>
                <a:cs typeface="Verdana" panose="020B0604030504040204"/>
              </a:rPr>
              <a:t>I</a:t>
            </a:r>
            <a:r>
              <a:rPr sz="2400" kern="0" spc="30" dirty="0">
                <a:solidFill>
                  <a:srgbClr val="000000">
                    <a:alpha val="100000"/>
                  </a:srgbClr>
                </a:solidFill>
                <a:latin typeface="Verdana" panose="020B0604030504040204"/>
                <a:ea typeface="Verdana" panose="020B0604030504040204"/>
                <a:cs typeface="Verdana" panose="020B0604030504040204"/>
              </a:rPr>
              <a:t>   </a:t>
            </a:r>
            <a:r>
              <a:rPr sz="2400" kern="0" spc="-100" dirty="0">
                <a:solidFill>
                  <a:srgbClr val="000000">
                    <a:alpha val="100000"/>
                  </a:srgbClr>
                </a:solidFill>
                <a:latin typeface="Verdana" panose="020B0604030504040204"/>
                <a:ea typeface="Verdana" panose="020B0604030504040204"/>
                <a:cs typeface="Verdana" panose="020B0604030504040204"/>
              </a:rPr>
              <a:t>W</a:t>
            </a:r>
            <a:r>
              <a:rPr sz="2400" kern="0" spc="10" dirty="0">
                <a:solidFill>
                  <a:srgbClr val="000000">
                    <a:alpha val="100000"/>
                  </a:srgbClr>
                </a:solidFill>
                <a:latin typeface="Verdana" panose="020B0604030504040204"/>
                <a:ea typeface="Verdana" panose="020B0604030504040204"/>
                <a:cs typeface="Verdana" panose="020B0604030504040204"/>
              </a:rPr>
              <a:t>   </a:t>
            </a:r>
            <a:r>
              <a:rPr sz="2400" kern="0" spc="-100" dirty="0">
                <a:solidFill>
                  <a:srgbClr val="000000">
                    <a:alpha val="100000"/>
                  </a:srgbClr>
                </a:solidFill>
                <a:latin typeface="Verdana" panose="020B0604030504040204"/>
                <a:ea typeface="Verdana" panose="020B0604030504040204"/>
                <a:cs typeface="Verdana" panose="020B0604030504040204"/>
              </a:rPr>
              <a:t>A</a:t>
            </a:r>
            <a:r>
              <a:rPr sz="2400" kern="0" spc="50" dirty="0">
                <a:solidFill>
                  <a:srgbClr val="000000">
                    <a:alpha val="100000"/>
                  </a:srgbClr>
                </a:solidFill>
                <a:latin typeface="Verdana" panose="020B0604030504040204"/>
                <a:ea typeface="Verdana" panose="020B0604030504040204"/>
                <a:cs typeface="Verdana" panose="020B0604030504040204"/>
              </a:rPr>
              <a:t>   </a:t>
            </a:r>
            <a:r>
              <a:rPr sz="2400" kern="0" spc="-100" dirty="0">
                <a:solidFill>
                  <a:srgbClr val="000000">
                    <a:alpha val="100000"/>
                  </a:srgbClr>
                </a:solidFill>
                <a:latin typeface="Verdana" panose="020B0604030504040204"/>
                <a:ea typeface="Verdana" panose="020B0604030504040204"/>
                <a:cs typeface="Verdana" panose="020B0604030504040204"/>
              </a:rPr>
              <a:t>S</a:t>
            </a:r>
            <a:endParaRPr lang="en-US" altLang="en-US" sz="2400" dirty="0"/>
          </a:p>
          <a:p>
            <a:pPr algn="l" rtl="0" eaLnBrk="0">
              <a:lnSpc>
                <a:spcPct val="100000"/>
              </a:lnSpc>
            </a:pPr>
            <a:endParaRPr lang="en-US" altLang="en-US" sz="1000" dirty="0"/>
          </a:p>
          <a:p>
            <a:pPr marL="1550670" algn="l" rtl="0" eaLnBrk="0">
              <a:lnSpc>
                <a:spcPct val="89000"/>
              </a:lnSpc>
              <a:spcBef>
                <a:spcPts val="700"/>
              </a:spcBef>
            </a:pPr>
            <a:r>
              <a:rPr sz="2300" kern="0" spc="-110" dirty="0">
                <a:solidFill>
                  <a:srgbClr val="000000">
                    <a:alpha val="100000"/>
                  </a:srgbClr>
                </a:solidFill>
                <a:latin typeface="Verdana" panose="020B0604030504040204"/>
                <a:ea typeface="Verdana" panose="020B0604030504040204"/>
                <a:cs typeface="Verdana" panose="020B0604030504040204"/>
              </a:rPr>
              <a:t>N</a:t>
            </a:r>
            <a:r>
              <a:rPr sz="2300" kern="0" spc="110" dirty="0">
                <a:solidFill>
                  <a:srgbClr val="000000">
                    <a:alpha val="100000"/>
                  </a:srgbClr>
                </a:solidFill>
                <a:latin typeface="Verdana" panose="020B0604030504040204"/>
                <a:ea typeface="Verdana" panose="020B0604030504040204"/>
                <a:cs typeface="Verdana" panose="020B0604030504040204"/>
              </a:rPr>
              <a:t>  </a:t>
            </a:r>
            <a:r>
              <a:rPr sz="2300" kern="0" spc="-110" dirty="0">
                <a:solidFill>
                  <a:srgbClr val="000000">
                    <a:alpha val="100000"/>
                  </a:srgbClr>
                </a:solidFill>
                <a:latin typeface="Verdana" panose="020B0604030504040204"/>
                <a:ea typeface="Verdana" panose="020B0604030504040204"/>
                <a:cs typeface="Verdana" panose="020B0604030504040204"/>
              </a:rPr>
              <a:t>Q</a:t>
            </a:r>
            <a:r>
              <a:rPr sz="2300" kern="0" spc="100" dirty="0">
                <a:solidFill>
                  <a:srgbClr val="000000">
                    <a:alpha val="100000"/>
                  </a:srgbClr>
                </a:solidFill>
                <a:latin typeface="Verdana" panose="020B0604030504040204"/>
                <a:ea typeface="Verdana" panose="020B0604030504040204"/>
                <a:cs typeface="Verdana" panose="020B0604030504040204"/>
              </a:rPr>
              <a:t>   </a:t>
            </a:r>
            <a:r>
              <a:rPr sz="2300" kern="0" spc="-110" dirty="0">
                <a:solidFill>
                  <a:srgbClr val="000000">
                    <a:alpha val="100000"/>
                  </a:srgbClr>
                </a:solidFill>
                <a:latin typeface="Verdana" panose="020B0604030504040204"/>
                <a:ea typeface="Verdana" panose="020B0604030504040204"/>
                <a:cs typeface="Verdana" panose="020B0604030504040204"/>
              </a:rPr>
              <a:t>U</a:t>
            </a:r>
            <a:r>
              <a:rPr sz="2300" kern="0" spc="120" dirty="0">
                <a:solidFill>
                  <a:srgbClr val="000000">
                    <a:alpha val="100000"/>
                  </a:srgbClr>
                </a:solidFill>
                <a:latin typeface="Verdana" panose="020B0604030504040204"/>
                <a:ea typeface="Verdana" panose="020B0604030504040204"/>
                <a:cs typeface="Verdana" panose="020B0604030504040204"/>
              </a:rPr>
              <a:t>   </a:t>
            </a:r>
            <a:r>
              <a:rPr sz="2300" kern="0" spc="-110" dirty="0">
                <a:solidFill>
                  <a:srgbClr val="000000">
                    <a:alpha val="100000"/>
                  </a:srgbClr>
                </a:solidFill>
                <a:latin typeface="Verdana" panose="020B0604030504040204"/>
                <a:ea typeface="Verdana" panose="020B0604030504040204"/>
                <a:cs typeface="Verdana" panose="020B0604030504040204"/>
              </a:rPr>
              <a:t>E</a:t>
            </a:r>
            <a:r>
              <a:rPr sz="2300" kern="0" spc="110" dirty="0">
                <a:solidFill>
                  <a:srgbClr val="000000">
                    <a:alpha val="100000"/>
                  </a:srgbClr>
                </a:solidFill>
                <a:latin typeface="Verdana" panose="020B0604030504040204"/>
                <a:ea typeface="Verdana" panose="020B0604030504040204"/>
                <a:cs typeface="Verdana" panose="020B0604030504040204"/>
              </a:rPr>
              <a:t>   </a:t>
            </a:r>
            <a:r>
              <a:rPr sz="2300" kern="0" spc="-110" dirty="0">
                <a:solidFill>
                  <a:srgbClr val="000000">
                    <a:alpha val="100000"/>
                  </a:srgbClr>
                </a:solidFill>
                <a:latin typeface="Verdana" panose="020B0604030504040204"/>
                <a:ea typeface="Verdana" panose="020B0604030504040204"/>
                <a:cs typeface="Verdana" panose="020B0604030504040204"/>
              </a:rPr>
              <a:t>R</a:t>
            </a:r>
            <a:r>
              <a:rPr sz="2300" kern="0" spc="120" dirty="0">
                <a:solidFill>
                  <a:srgbClr val="000000">
                    <a:alpha val="100000"/>
                  </a:srgbClr>
                </a:solidFill>
                <a:latin typeface="Verdana" panose="020B0604030504040204"/>
                <a:ea typeface="Verdana" panose="020B0604030504040204"/>
                <a:cs typeface="Verdana" panose="020B0604030504040204"/>
              </a:rPr>
              <a:t>   </a:t>
            </a:r>
            <a:r>
              <a:rPr sz="2300" kern="0" spc="-110" dirty="0">
                <a:solidFill>
                  <a:srgbClr val="000000">
                    <a:alpha val="100000"/>
                  </a:srgbClr>
                </a:solidFill>
                <a:latin typeface="Verdana" panose="020B0604030504040204"/>
                <a:ea typeface="Verdana" panose="020B0604030504040204"/>
                <a:cs typeface="Verdana" panose="020B0604030504040204"/>
              </a:rPr>
              <a:t>E</a:t>
            </a:r>
            <a:endParaRPr lang="en-US" altLang="en-US" sz="2300" dirty="0"/>
          </a:p>
          <a:p>
            <a:pPr algn="l" rtl="0" eaLnBrk="0">
              <a:lnSpc>
                <a:spcPct val="103000"/>
              </a:lnSpc>
            </a:pPr>
            <a:endParaRPr lang="en-US" altLang="en-US" sz="1000" dirty="0"/>
          </a:p>
          <a:p>
            <a:pPr algn="l" rtl="0" eaLnBrk="0">
              <a:lnSpc>
                <a:spcPct val="100000"/>
              </a:lnSpc>
            </a:pPr>
            <a:endParaRPr lang="en-US" altLang="en-US" sz="600" dirty="0"/>
          </a:p>
          <a:p>
            <a:pPr marL="4141470" algn="l" rtl="0" eaLnBrk="0">
              <a:lnSpc>
                <a:spcPct val="81000"/>
              </a:lnSpc>
              <a:spcBef>
                <a:spcPts val="5"/>
              </a:spcBef>
            </a:pPr>
            <a:r>
              <a:rPr sz="2400" kern="0" spc="-20" dirty="0">
                <a:solidFill>
                  <a:srgbClr val="000000">
                    <a:alpha val="100000"/>
                  </a:srgbClr>
                </a:solidFill>
                <a:latin typeface="Verdana" panose="020B0604030504040204"/>
                <a:ea typeface="Verdana" panose="020B0604030504040204"/>
                <a:cs typeface="Verdana" panose="020B0604030504040204"/>
              </a:rPr>
              <a:t>D</a:t>
            </a:r>
            <a:endParaRPr lang="en-US" altLang="en-US" sz="2400" dirty="0"/>
          </a:p>
        </p:txBody>
      </p:sp>
      <p:pic>
        <p:nvPicPr>
          <p:cNvPr id="2097263" name="picture 212"/>
          <p:cNvPicPr>
            <a:picLocks noChangeAspect="1"/>
          </p:cNvPicPr>
          <p:nvPr/>
        </p:nvPicPr>
        <p:blipFill>
          <a:blip r:embed="rId1"/>
          <a:stretch>
            <a:fillRect/>
          </a:stretch>
        </p:blipFill>
        <p:spPr>
          <a:xfrm rot="21600000">
            <a:off x="5858255" y="2705861"/>
            <a:ext cx="2153412" cy="1689988"/>
          </a:xfrm>
          <a:prstGeom prst="rect">
            <a:avLst/>
          </a:prstGeom>
        </p:spPr>
      </p:pic>
      <p:sp>
        <p:nvSpPr>
          <p:cNvPr id="1049228" name="textbox 214"/>
          <p:cNvSpPr/>
          <p:nvPr/>
        </p:nvSpPr>
        <p:spPr>
          <a:xfrm>
            <a:off x="811783" y="395731"/>
            <a:ext cx="3204210" cy="735965"/>
          </a:xfrm>
          <a:prstGeom prst="rect">
            <a:avLst/>
          </a:prstGeom>
        </p:spPr>
        <p:txBody>
          <a:bodyPr vert="horz" wrap="square" lIns="0" tIns="0" rIns="0" bIns="0"/>
          <a:p>
            <a:pPr algn="l" rtl="0" eaLnBrk="0">
              <a:lnSpc>
                <a:spcPct val="113000"/>
              </a:lnSpc>
            </a:pPr>
            <a:endParaRPr lang="en-US" altLang="en-US" sz="600" dirty="0"/>
          </a:p>
          <a:p>
            <a:pPr marL="431800" algn="l" rtl="0" eaLnBrk="0">
              <a:lnSpc>
                <a:spcPct val="95000"/>
              </a:lnSpc>
              <a:spcBef>
                <a:spcPts val="0"/>
              </a:spcBef>
              <a:tabLst>
                <a:tab pos="779780" algn="l"/>
              </a:tabLst>
            </a:pPr>
            <a:r>
              <a:rPr sz="32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4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几何图形密码</a:t>
            </a:r>
            <a:endParaRPr lang="en-US" altLang="en-US" sz="3200" dirty="0"/>
          </a:p>
        </p:txBody>
      </p:sp>
      <p:pic>
        <p:nvPicPr>
          <p:cNvPr id="2097264" name="picture 216"/>
          <p:cNvPicPr>
            <a:picLocks noChangeAspect="1"/>
          </p:cNvPicPr>
          <p:nvPr/>
        </p:nvPicPr>
        <p:blipFill>
          <a:blip r:embed="rId2"/>
          <a:stretch>
            <a:fillRect/>
          </a:stretch>
        </p:blipFill>
        <p:spPr>
          <a:xfrm rot="21600000">
            <a:off x="824483" y="408431"/>
            <a:ext cx="419100" cy="655320"/>
          </a:xfrm>
          <a:prstGeom prst="rect">
            <a:avLst/>
          </a:prstGeom>
        </p:spPr>
      </p:pic>
      <p:sp>
        <p:nvSpPr>
          <p:cNvPr id="1049229" name="textbox 218"/>
          <p:cNvSpPr/>
          <p:nvPr/>
        </p:nvSpPr>
        <p:spPr>
          <a:xfrm>
            <a:off x="247310" y="1267756"/>
            <a:ext cx="6363334" cy="389254"/>
          </a:xfrm>
          <a:prstGeom prst="rect">
            <a:avLst/>
          </a:prstGeom>
        </p:spPr>
        <p:txBody>
          <a:bodyPr vert="horz" wrap="square" lIns="0" tIns="0" rIns="0" bIns="0"/>
          <a:p>
            <a:pPr algn="l" rtl="0" eaLnBrk="0">
              <a:lnSpc>
                <a:spcPct val="93000"/>
              </a:lnSpc>
            </a:pPr>
            <a:endParaRPr lang="en-US" altLang="en-US" sz="100" dirty="0"/>
          </a:p>
          <a:p>
            <a:pPr marL="12700" algn="l" rtl="0" eaLnBrk="0">
              <a:lnSpc>
                <a:spcPct val="99000"/>
              </a:lnSpc>
            </a:pPr>
            <a:r>
              <a:rPr sz="2400" kern="0" spc="-10" dirty="0">
                <a:solidFill>
                  <a:srgbClr val="000000">
                    <a:alpha val="100000"/>
                  </a:srgbClr>
                </a:solidFill>
                <a:latin typeface="Arial" panose="020B0604020202020204"/>
                <a:ea typeface="Arial" panose="020B0604020202020204"/>
                <a:cs typeface="Arial" panose="020B0604020202020204"/>
              </a:rPr>
              <a:t>•  </a:t>
            </a:r>
            <a:r>
              <a:rPr sz="2400" kern="0" spc="-1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以一种形式写下消息，以另一种形</a:t>
            </a:r>
            <a:r>
              <a:rPr sz="2400" kern="0" spc="-2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式读取消息</a:t>
            </a:r>
            <a:endParaRPr lang="en-US" altLang="en-US" sz="2400" dirty="0"/>
          </a:p>
        </p:txBody>
      </p:sp>
      <p:sp>
        <p:nvSpPr>
          <p:cNvPr id="1049230" name="textbox 220"/>
          <p:cNvSpPr/>
          <p:nvPr/>
        </p:nvSpPr>
        <p:spPr>
          <a:xfrm>
            <a:off x="1065072" y="5322519"/>
            <a:ext cx="5199379" cy="365125"/>
          </a:xfrm>
          <a:prstGeom prst="rect">
            <a:avLst/>
          </a:prstGeom>
        </p:spPr>
        <p:txBody>
          <a:bodyPr vert="horz" wrap="square" lIns="0" tIns="0" rIns="0" bIns="0"/>
          <a:p>
            <a:pPr algn="l" rtl="0" eaLnBrk="0">
              <a:lnSpc>
                <a:spcPct val="80000"/>
              </a:lnSpc>
            </a:pPr>
            <a:endParaRPr lang="en-US" altLang="en-US" sz="100" dirty="0"/>
          </a:p>
          <a:p>
            <a:pPr marL="12700" algn="l" rtl="0" eaLnBrk="0">
              <a:lnSpc>
                <a:spcPct val="93000"/>
              </a:lnSpc>
            </a:pPr>
            <a:r>
              <a:rPr sz="2400" kern="0"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密文： </a:t>
            </a:r>
            <a:r>
              <a:rPr sz="2400" kern="0" spc="-70" dirty="0">
                <a:solidFill>
                  <a:srgbClr val="000000">
                    <a:alpha val="100000"/>
                  </a:srgbClr>
                </a:solidFill>
                <a:latin typeface="Verdana" panose="020B0604030504040204"/>
                <a:ea typeface="Verdana" panose="020B0604030504040204"/>
                <a:cs typeface="Verdana" panose="020B0604030504040204"/>
              </a:rPr>
              <a:t>IONQC CAIUE</a:t>
            </a:r>
            <a:r>
              <a:rPr sz="2400" kern="0" spc="110" dirty="0">
                <a:solidFill>
                  <a:srgbClr val="000000">
                    <a:alpha val="100000"/>
                  </a:srgbClr>
                </a:solidFill>
                <a:latin typeface="Verdana" panose="020B0604030504040204"/>
                <a:ea typeface="Verdana" panose="020B0604030504040204"/>
                <a:cs typeface="Verdana" panose="020B0604030504040204"/>
              </a:rPr>
              <a:t> </a:t>
            </a:r>
            <a:r>
              <a:rPr sz="2400" kern="0" spc="-70" dirty="0">
                <a:solidFill>
                  <a:srgbClr val="000000">
                    <a:alpha val="100000"/>
                  </a:srgbClr>
                </a:solidFill>
                <a:latin typeface="Verdana" panose="020B0604030504040204"/>
                <a:ea typeface="Verdana" panose="020B0604030504040204"/>
                <a:cs typeface="Verdana" panose="020B0604030504040204"/>
              </a:rPr>
              <a:t>WMEAR</a:t>
            </a:r>
            <a:r>
              <a:rPr sz="2400" kern="0" spc="220" dirty="0">
                <a:solidFill>
                  <a:srgbClr val="000000">
                    <a:alpha val="100000"/>
                  </a:srgbClr>
                </a:solidFill>
                <a:latin typeface="Verdana" panose="020B0604030504040204"/>
                <a:ea typeface="Verdana" panose="020B0604030504040204"/>
                <a:cs typeface="Verdana" panose="020B0604030504040204"/>
              </a:rPr>
              <a:t> </a:t>
            </a:r>
            <a:r>
              <a:rPr sz="2400" kern="0" spc="-70" dirty="0">
                <a:solidFill>
                  <a:srgbClr val="000000">
                    <a:alpha val="100000"/>
                  </a:srgbClr>
                </a:solidFill>
                <a:latin typeface="Verdana" panose="020B0604030504040204"/>
                <a:ea typeface="Verdana" panose="020B0604030504040204"/>
                <a:cs typeface="Verdana" panose="020B0604030504040204"/>
              </a:rPr>
              <a:t>DES</a:t>
            </a:r>
            <a:r>
              <a:rPr sz="2400" kern="0" spc="-80" dirty="0">
                <a:solidFill>
                  <a:srgbClr val="000000">
                    <a:alpha val="100000"/>
                  </a:srgbClr>
                </a:solidFill>
                <a:latin typeface="Verdana" panose="020B0604030504040204"/>
                <a:ea typeface="Verdana" panose="020B0604030504040204"/>
                <a:cs typeface="Verdana" panose="020B0604030504040204"/>
              </a:rPr>
              <a:t>I</a:t>
            </a:r>
            <a:endParaRPr lang="en-US" altLang="en-US" sz="2400" dirty="0"/>
          </a:p>
        </p:txBody>
      </p:sp>
      <p:pic>
        <p:nvPicPr>
          <p:cNvPr id="2097265" name="picture 224"/>
          <p:cNvPicPr>
            <a:picLocks noChangeAspect="1"/>
          </p:cNvPicPr>
          <p:nvPr/>
        </p:nvPicPr>
        <p:blipFill>
          <a:blip r:embed="rId3"/>
          <a:stretch>
            <a:fillRect/>
          </a:stretch>
        </p:blipFill>
        <p:spPr>
          <a:xfrm rot="21600000">
            <a:off x="8649461" y="2743961"/>
            <a:ext cx="457200" cy="1219200"/>
          </a:xfrm>
          <a:prstGeom prst="rect">
            <a:avLst/>
          </a:prstGeom>
        </p:spPr>
      </p:pic>
      <p:pic>
        <p:nvPicPr>
          <p:cNvPr id="2097266" name="picture 226"/>
          <p:cNvPicPr>
            <a:picLocks noChangeAspect="1"/>
          </p:cNvPicPr>
          <p:nvPr/>
        </p:nvPicPr>
        <p:blipFill>
          <a:blip r:embed="rId3"/>
          <a:stretch>
            <a:fillRect/>
          </a:stretch>
        </p:blipFill>
        <p:spPr>
          <a:xfrm rot="21600000">
            <a:off x="9411461" y="2743961"/>
            <a:ext cx="457200" cy="1219200"/>
          </a:xfrm>
          <a:prstGeom prst="rect">
            <a:avLst/>
          </a:prstGeom>
        </p:spPr>
      </p:pic>
      <p:sp>
        <p:nvSpPr>
          <p:cNvPr id="1049231" name="path"/>
          <p:cNvSpPr/>
          <p:nvPr/>
        </p:nvSpPr>
        <p:spPr>
          <a:xfrm>
            <a:off x="694181" y="6236208"/>
            <a:ext cx="10779125" cy="28955"/>
          </a:xfrm>
          <a:custGeom>
            <a:avLst/>
            <a:gdLst/>
            <a:ahLst/>
            <a:cxnLst/>
            <a:rect l="0" t="0" r="0" b="0"/>
            <a:pathLst>
              <a:path w="16975" h="45">
                <a:moveTo>
                  <a:pt x="0" y="22"/>
                </a:moveTo>
                <a:lnTo>
                  <a:pt x="16975" y="22"/>
                </a:lnTo>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1049232" name="rect"/>
          <p:cNvSpPr/>
          <p:nvPr/>
        </p:nvSpPr>
        <p:spPr>
          <a:xfrm>
            <a:off x="1465326" y="1019555"/>
            <a:ext cx="9037573" cy="28956"/>
          </a:xfrm>
          <a:prstGeom prst="rect">
            <a:avLst/>
          </a:prstGeom>
          <a:solidFill>
            <a:srgbClr val="5B9BD5">
              <a:alpha val="100000"/>
            </a:srgbClr>
          </a:solidFill>
          <a:ln cap="flat">
            <a:noFill/>
            <a:prstDash val="solid"/>
            <a:miter lim="0"/>
          </a:ln>
        </p:spPr>
        <p:txBody>
          <a:bodyPr rtlCol="0"/>
          <a:p>
            <a:pPr algn="ctr"/>
            <a:endParaRPr lang="zh-CN" altLang="en-US"/>
          </a:p>
        </p:txBody>
      </p:sp>
      <p:sp>
        <p:nvSpPr>
          <p:cNvPr id="1049233" name="textbox 232"/>
          <p:cNvSpPr/>
          <p:nvPr/>
        </p:nvSpPr>
        <p:spPr>
          <a:xfrm>
            <a:off x="9068933" y="2115840"/>
            <a:ext cx="1167764" cy="257175"/>
          </a:xfrm>
          <a:prstGeom prst="rect">
            <a:avLst/>
          </a:prstGeom>
        </p:spPr>
        <p:txBody>
          <a:bodyPr vert="horz" wrap="square" lIns="0" tIns="0" rIns="0" bIns="0"/>
          <a:p>
            <a:pPr algn="l" rtl="0" eaLnBrk="0">
              <a:lnSpc>
                <a:spcPct val="90000"/>
              </a:lnSpc>
            </a:pPr>
            <a:endParaRPr lang="en-US" altLang="en-US" sz="100" dirty="0"/>
          </a:p>
          <a:p>
            <a:pPr marL="12700" algn="l" rtl="0" eaLnBrk="0">
              <a:lnSpc>
                <a:spcPct val="84000"/>
              </a:lnSpc>
            </a:pPr>
            <a:r>
              <a:rPr sz="1800" kern="0" spc="-20" dirty="0">
                <a:solidFill>
                  <a:srgbClr val="000000">
                    <a:alpha val="100000"/>
                  </a:srgbClr>
                </a:solidFill>
                <a:latin typeface="Verdana" panose="020B0604030504040204"/>
                <a:ea typeface="Verdana" panose="020B0604030504040204"/>
                <a:cs typeface="Verdana" panose="020B0604030504040204"/>
              </a:rPr>
              <a:t>ciphertext</a:t>
            </a:r>
            <a:endParaRPr lang="en-US" altLang="en-US" sz="1800" dirty="0"/>
          </a:p>
        </p:txBody>
      </p:sp>
      <p:sp>
        <p:nvSpPr>
          <p:cNvPr id="1049234" name="textbox 234"/>
          <p:cNvSpPr/>
          <p:nvPr/>
        </p:nvSpPr>
        <p:spPr>
          <a:xfrm>
            <a:off x="6426632" y="2112645"/>
            <a:ext cx="1000760" cy="254000"/>
          </a:xfrm>
          <a:prstGeom prst="rect">
            <a:avLst/>
          </a:prstGeom>
        </p:spPr>
        <p:txBody>
          <a:bodyPr vert="horz" wrap="square" lIns="0" tIns="0" rIns="0" bIns="0"/>
          <a:p>
            <a:pPr algn="l" rtl="0" eaLnBrk="0">
              <a:lnSpc>
                <a:spcPct val="88000"/>
              </a:lnSpc>
            </a:pPr>
            <a:endParaRPr lang="en-US" altLang="en-US" sz="100" dirty="0"/>
          </a:p>
          <a:p>
            <a:pPr marL="12700" algn="l" rtl="0" eaLnBrk="0">
              <a:lnSpc>
                <a:spcPct val="83000"/>
              </a:lnSpc>
            </a:pPr>
            <a:r>
              <a:rPr sz="1800" kern="0" spc="-30" dirty="0">
                <a:solidFill>
                  <a:srgbClr val="000000">
                    <a:alpha val="100000"/>
                  </a:srgbClr>
                </a:solidFill>
                <a:latin typeface="Verdana" panose="020B0604030504040204"/>
                <a:ea typeface="Verdana" panose="020B0604030504040204"/>
                <a:cs typeface="Verdana" panose="020B0604030504040204"/>
              </a:rPr>
              <a:t>Plaintext</a:t>
            </a:r>
            <a:endParaRPr lang="en-US" altLang="en-US" sz="1800" dirty="0"/>
          </a:p>
        </p:txBody>
      </p:sp>
      <p:pic>
        <p:nvPicPr>
          <p:cNvPr id="2097267" name="picture 236"/>
          <p:cNvPicPr>
            <a:picLocks noChangeAspect="1"/>
          </p:cNvPicPr>
          <p:nvPr/>
        </p:nvPicPr>
        <p:blipFill>
          <a:blip r:embed="rId4"/>
          <a:stretch>
            <a:fillRect/>
          </a:stretch>
        </p:blipFill>
        <p:spPr>
          <a:xfrm rot="21600000">
            <a:off x="10580369" y="2667761"/>
            <a:ext cx="76200" cy="1905000"/>
          </a:xfrm>
          <a:prstGeom prst="rect">
            <a:avLst/>
          </a:prstGeom>
        </p:spPr>
      </p:pic>
      <p:pic>
        <p:nvPicPr>
          <p:cNvPr id="2097268" name="picture 238"/>
          <p:cNvPicPr>
            <a:picLocks noChangeAspect="1"/>
          </p:cNvPicPr>
          <p:nvPr/>
        </p:nvPicPr>
        <p:blipFill>
          <a:blip r:embed="rId5"/>
          <a:stretch>
            <a:fillRect/>
          </a:stretch>
        </p:blipFill>
        <p:spPr>
          <a:xfrm rot="21600000">
            <a:off x="10197846" y="2749930"/>
            <a:ext cx="76200" cy="1822577"/>
          </a:xfrm>
          <a:prstGeom prst="rect">
            <a:avLst/>
          </a:prstGeom>
        </p:spPr>
      </p:pic>
      <p:pic>
        <p:nvPicPr>
          <p:cNvPr id="2097269" name="picture 240"/>
          <p:cNvPicPr>
            <a:picLocks noChangeAspect="1"/>
          </p:cNvPicPr>
          <p:nvPr/>
        </p:nvPicPr>
        <p:blipFill>
          <a:blip r:embed="rId6"/>
          <a:stretch>
            <a:fillRect/>
          </a:stretch>
        </p:blipFill>
        <p:spPr>
          <a:xfrm rot="21600000">
            <a:off x="10227563" y="4499609"/>
            <a:ext cx="400812" cy="235458"/>
          </a:xfrm>
          <a:prstGeom prst="rect">
            <a:avLst/>
          </a:prstGeom>
        </p:spPr>
      </p:pic>
      <p:pic>
        <p:nvPicPr>
          <p:cNvPr id="2097270" name="picture 242"/>
          <p:cNvPicPr>
            <a:picLocks noChangeAspect="1"/>
          </p:cNvPicPr>
          <p:nvPr/>
        </p:nvPicPr>
        <p:blipFill>
          <a:blip r:embed="rId7"/>
          <a:stretch>
            <a:fillRect/>
          </a:stretch>
        </p:blipFill>
        <p:spPr>
          <a:xfrm rot="21600000">
            <a:off x="8677655" y="3864102"/>
            <a:ext cx="400812" cy="235457"/>
          </a:xfrm>
          <a:prstGeom prst="rect">
            <a:avLst/>
          </a:prstGeom>
        </p:spPr>
      </p:pic>
      <p:pic>
        <p:nvPicPr>
          <p:cNvPr id="2097271" name="picture 244"/>
          <p:cNvPicPr>
            <a:picLocks noChangeAspect="1"/>
          </p:cNvPicPr>
          <p:nvPr/>
        </p:nvPicPr>
        <p:blipFill>
          <a:blip r:embed="rId7"/>
          <a:stretch>
            <a:fillRect/>
          </a:stretch>
        </p:blipFill>
        <p:spPr>
          <a:xfrm rot="21600000">
            <a:off x="9439655" y="3864102"/>
            <a:ext cx="400812" cy="235457"/>
          </a:xfrm>
          <a:prstGeom prst="rect">
            <a:avLst/>
          </a:prstGeom>
        </p:spPr>
      </p:pic>
      <p:pic>
        <p:nvPicPr>
          <p:cNvPr id="2097272" name="picture 246"/>
          <p:cNvPicPr>
            <a:picLocks noChangeAspect="1"/>
          </p:cNvPicPr>
          <p:nvPr/>
        </p:nvPicPr>
        <p:blipFill>
          <a:blip r:embed="rId8"/>
          <a:stretch>
            <a:fillRect/>
          </a:stretch>
        </p:blipFill>
        <p:spPr>
          <a:xfrm rot="21600000">
            <a:off x="9057206" y="2554223"/>
            <a:ext cx="408357" cy="225425"/>
          </a:xfrm>
          <a:prstGeom prst="rect">
            <a:avLst/>
          </a:prstGeom>
        </p:spPr>
      </p:pic>
      <p:pic>
        <p:nvPicPr>
          <p:cNvPr id="2097273" name="picture 248"/>
          <p:cNvPicPr>
            <a:picLocks noChangeAspect="1"/>
          </p:cNvPicPr>
          <p:nvPr/>
        </p:nvPicPr>
        <p:blipFill>
          <a:blip r:embed="rId8"/>
          <a:stretch>
            <a:fillRect/>
          </a:stretch>
        </p:blipFill>
        <p:spPr>
          <a:xfrm rot="21600000">
            <a:off x="9819206" y="2554223"/>
            <a:ext cx="408357" cy="22542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250" name=""/>
        <p:cNvGrpSpPr/>
        <p:nvPr/>
      </p:nvGrpSpPr>
      <p:grpSpPr>
        <a:xfrm>
          <a:off x="0" y="0"/>
          <a:ext cx="0" cy="0"/>
          <a:chOff x="0" y="0"/>
          <a:chExt cx="0" cy="0"/>
        </a:xfrm>
      </p:grpSpPr>
      <p:sp>
        <p:nvSpPr>
          <p:cNvPr id="1049236" name="path"/>
          <p:cNvSpPr/>
          <p:nvPr/>
        </p:nvSpPr>
        <p:spPr>
          <a:xfrm>
            <a:off x="2903347" y="1351661"/>
            <a:ext cx="1141442" cy="4402111"/>
          </a:xfrm>
          <a:custGeom>
            <a:avLst/>
            <a:gdLst/>
            <a:ahLst/>
            <a:cxnLst/>
            <a:rect l="0" t="0" r="0" b="0"/>
            <a:pathLst>
              <a:path w="1797" h="6932">
                <a:moveTo>
                  <a:pt x="96" y="4"/>
                </a:moveTo>
                <a:cubicBezTo>
                  <a:pt x="1988" y="1448"/>
                  <a:pt x="2353" y="4153"/>
                  <a:pt x="909" y="6046"/>
                </a:cubicBezTo>
                <a:cubicBezTo>
                  <a:pt x="653" y="6382"/>
                  <a:pt x="348" y="6679"/>
                  <a:pt x="4" y="6927"/>
                </a:cubicBezTo>
                <a:lnTo>
                  <a:pt x="4" y="6927"/>
                </a:lnTo>
                <a:cubicBezTo>
                  <a:pt x="1934" y="5534"/>
                  <a:pt x="2370" y="2840"/>
                  <a:pt x="977" y="909"/>
                </a:cubicBezTo>
                <a:cubicBezTo>
                  <a:pt x="730" y="566"/>
                  <a:pt x="433" y="261"/>
                  <a:pt x="96" y="4"/>
                </a:cubicBezTo>
              </a:path>
            </a:pathLst>
          </a:custGeom>
          <a:noFill/>
          <a:ln w="6096" cap="flat">
            <a:solidFill>
              <a:srgbClr val="477BA9">
                <a:alpha val="100000"/>
              </a:srgbClr>
            </a:solidFill>
            <a:prstDash val="solid"/>
            <a:miter lim="1000000"/>
          </a:ln>
        </p:spPr>
        <p:txBody>
          <a:bodyPr rtlCol="0"/>
          <a:p>
            <a:pPr algn="ctr"/>
            <a:endParaRPr lang="zh-CN" altLang="en-US"/>
          </a:p>
        </p:txBody>
      </p:sp>
      <p:pic>
        <p:nvPicPr>
          <p:cNvPr id="2097274" name="picture 252"/>
          <p:cNvPicPr>
            <a:picLocks noChangeAspect="1"/>
          </p:cNvPicPr>
          <p:nvPr/>
        </p:nvPicPr>
        <p:blipFill>
          <a:blip r:embed="rId1"/>
          <a:stretch>
            <a:fillRect/>
          </a:stretch>
        </p:blipFill>
        <p:spPr>
          <a:xfrm rot="21600000">
            <a:off x="3707891" y="1828800"/>
            <a:ext cx="5635751" cy="812291"/>
          </a:xfrm>
          <a:prstGeom prst="rect">
            <a:avLst/>
          </a:prstGeom>
        </p:spPr>
      </p:pic>
      <p:pic>
        <p:nvPicPr>
          <p:cNvPr id="2097275" name="picture 254"/>
          <p:cNvPicPr>
            <a:picLocks noChangeAspect="1"/>
          </p:cNvPicPr>
          <p:nvPr/>
        </p:nvPicPr>
        <p:blipFill>
          <a:blip r:embed="rId2"/>
          <a:stretch>
            <a:fillRect/>
          </a:stretch>
        </p:blipFill>
        <p:spPr>
          <a:xfrm rot="21600000">
            <a:off x="3756659" y="4343400"/>
            <a:ext cx="5586983" cy="812292"/>
          </a:xfrm>
          <a:prstGeom prst="rect">
            <a:avLst/>
          </a:prstGeom>
        </p:spPr>
      </p:pic>
      <p:pic>
        <p:nvPicPr>
          <p:cNvPr id="2097276" name="picture 256"/>
          <p:cNvPicPr>
            <a:picLocks noChangeAspect="1"/>
          </p:cNvPicPr>
          <p:nvPr/>
        </p:nvPicPr>
        <p:blipFill>
          <a:blip r:embed="rId3"/>
          <a:stretch>
            <a:fillRect/>
          </a:stretch>
        </p:blipFill>
        <p:spPr>
          <a:xfrm rot="21600000">
            <a:off x="3988308" y="3086100"/>
            <a:ext cx="5355335" cy="812292"/>
          </a:xfrm>
          <a:prstGeom prst="rect">
            <a:avLst/>
          </a:prstGeom>
        </p:spPr>
      </p:pic>
      <p:sp>
        <p:nvSpPr>
          <p:cNvPr id="1049237" name="textbox 258"/>
          <p:cNvSpPr/>
          <p:nvPr/>
        </p:nvSpPr>
        <p:spPr>
          <a:xfrm>
            <a:off x="3463544" y="2968244"/>
            <a:ext cx="2605404" cy="1091564"/>
          </a:xfrm>
          <a:prstGeom prst="rect">
            <a:avLst/>
          </a:prstGeom>
        </p:spPr>
        <p:txBody>
          <a:bodyPr vert="horz" wrap="square" lIns="0" tIns="0" rIns="0" bIns="0"/>
          <a:p>
            <a:pPr algn="l" rtl="0" eaLnBrk="0">
              <a:lnSpc>
                <a:spcPct val="109000"/>
              </a:lnSpc>
            </a:pPr>
            <a:endParaRPr lang="en-US" altLang="en-US" sz="1000" dirty="0"/>
          </a:p>
          <a:p>
            <a:pPr algn="l" rtl="0" eaLnBrk="0">
              <a:lnSpc>
                <a:spcPct val="109000"/>
              </a:lnSpc>
            </a:pPr>
            <a:endParaRPr lang="en-US" altLang="en-US" sz="1000" dirty="0"/>
          </a:p>
          <a:p>
            <a:pPr marL="1035050" algn="l" rtl="0" eaLnBrk="0">
              <a:lnSpc>
                <a:spcPct val="97000"/>
              </a:lnSpc>
              <a:tabLst>
                <a:tab pos="1194435" algn="l"/>
              </a:tabLst>
            </a:pPr>
            <a:r>
              <a:rPr sz="2700" kern="0" spc="0" dirty="0">
                <a:solidFill>
                  <a:srgbClr val="FFFFFF">
                    <a:alpha val="100000"/>
                  </a:srgbClr>
                </a:solidFill>
                <a:latin typeface="仿宋" panose="02010609060101010101" charset="-122"/>
                <a:ea typeface="仿宋" panose="02010609060101010101" charset="-122"/>
                <a:cs typeface="仿宋" panose="02010609060101010101" charset="-122"/>
              </a:rPr>
              <a:t>	</a:t>
            </a:r>
            <a:r>
              <a:rPr sz="2700" kern="0" spc="40" dirty="0">
                <a:solidFill>
                  <a:srgbClr val="FFFFFF">
                    <a:alpha val="100000"/>
                  </a:srgbClr>
                </a:solidFill>
                <a:latin typeface="仿宋" panose="02010609060101010101" charset="-122"/>
                <a:ea typeface="仿宋" panose="02010609060101010101" charset="-122"/>
                <a:cs typeface="仿宋" panose="02010609060101010101" charset="-122"/>
              </a:rPr>
              <a:t>换位密码</a:t>
            </a:r>
            <a:endParaRPr lang="en-US" altLang="en-US" sz="2700" dirty="0"/>
          </a:p>
        </p:txBody>
      </p:sp>
      <p:grpSp>
        <p:nvGrpSpPr>
          <p:cNvPr id="251" name="group 14"/>
          <p:cNvGrpSpPr/>
          <p:nvPr/>
        </p:nvGrpSpPr>
        <p:grpSpPr>
          <a:xfrm rot="21600000">
            <a:off x="3476244" y="2980944"/>
            <a:ext cx="1022603" cy="1022604"/>
            <a:chOff x="0" y="0"/>
            <a:chExt cx="1022603" cy="1022604"/>
          </a:xfrm>
        </p:grpSpPr>
        <p:sp>
          <p:nvSpPr>
            <p:cNvPr id="1049238" name="path"/>
            <p:cNvSpPr/>
            <p:nvPr/>
          </p:nvSpPr>
          <p:spPr>
            <a:xfrm>
              <a:off x="3047" y="3047"/>
              <a:ext cx="1016508" cy="1016508"/>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239" name="path"/>
            <p:cNvSpPr/>
            <p:nvPr/>
          </p:nvSpPr>
          <p:spPr>
            <a:xfrm>
              <a:off x="0" y="0"/>
              <a:ext cx="1022603" cy="1022604"/>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9240" name="textbox 264"/>
          <p:cNvSpPr/>
          <p:nvPr/>
        </p:nvSpPr>
        <p:spPr>
          <a:xfrm>
            <a:off x="3184651" y="1710944"/>
            <a:ext cx="2604770" cy="1094739"/>
          </a:xfrm>
          <a:prstGeom prst="rect">
            <a:avLst/>
          </a:prstGeom>
        </p:spPr>
        <p:txBody>
          <a:bodyPr vert="horz" wrap="square" lIns="0" tIns="0" rIns="0" bIns="0"/>
          <a:p>
            <a:pPr algn="l" rtl="0" eaLnBrk="0">
              <a:lnSpc>
                <a:spcPct val="108000"/>
              </a:lnSpc>
            </a:pPr>
            <a:endParaRPr lang="en-US" altLang="en-US" sz="1000" dirty="0"/>
          </a:p>
          <a:p>
            <a:pPr algn="l" rtl="0" eaLnBrk="0">
              <a:lnSpc>
                <a:spcPct val="108000"/>
              </a:lnSpc>
            </a:pPr>
            <a:endParaRPr lang="en-US" altLang="en-US" sz="1000" dirty="0"/>
          </a:p>
          <a:p>
            <a:pPr algn="l" rtl="0" eaLnBrk="0">
              <a:lnSpc>
                <a:spcPct val="9000"/>
              </a:lnSpc>
            </a:pPr>
            <a:endParaRPr lang="en-US" altLang="en-US" sz="100" dirty="0"/>
          </a:p>
          <a:p>
            <a:pPr marL="1035050" algn="l" rtl="0" eaLnBrk="0">
              <a:lnSpc>
                <a:spcPct val="98000"/>
              </a:lnSpc>
              <a:tabLst>
                <a:tab pos="1198880" algn="l"/>
              </a:tabLst>
            </a:pPr>
            <a:r>
              <a:rPr sz="2700" kern="0" spc="0" dirty="0">
                <a:solidFill>
                  <a:srgbClr val="FFFFFF">
                    <a:alpha val="100000"/>
                  </a:srgbClr>
                </a:solidFill>
                <a:latin typeface="仿宋" panose="02010609060101010101" charset="-122"/>
                <a:ea typeface="仿宋" panose="02010609060101010101" charset="-122"/>
                <a:cs typeface="仿宋" panose="02010609060101010101" charset="-122"/>
              </a:rPr>
              <a:t>	</a:t>
            </a:r>
            <a:r>
              <a:rPr sz="2700" kern="0" spc="30" dirty="0">
                <a:solidFill>
                  <a:srgbClr val="FFFFFF">
                    <a:alpha val="100000"/>
                  </a:srgbClr>
                </a:solidFill>
                <a:latin typeface="仿宋" panose="02010609060101010101" charset="-122"/>
                <a:ea typeface="仿宋" panose="02010609060101010101" charset="-122"/>
                <a:cs typeface="仿宋" panose="02010609060101010101" charset="-122"/>
              </a:rPr>
              <a:t>代替密码</a:t>
            </a:r>
            <a:endParaRPr lang="en-US" altLang="en-US" sz="2700" dirty="0"/>
          </a:p>
        </p:txBody>
      </p:sp>
      <p:grpSp>
        <p:nvGrpSpPr>
          <p:cNvPr id="252" name="group 16"/>
          <p:cNvGrpSpPr/>
          <p:nvPr/>
        </p:nvGrpSpPr>
        <p:grpSpPr>
          <a:xfrm rot="21600000">
            <a:off x="3197351" y="1723644"/>
            <a:ext cx="1022604" cy="1022603"/>
            <a:chOff x="0" y="0"/>
            <a:chExt cx="1022604" cy="1022603"/>
          </a:xfrm>
        </p:grpSpPr>
        <p:sp>
          <p:nvSpPr>
            <p:cNvPr id="1049241" name="path"/>
            <p:cNvSpPr/>
            <p:nvPr/>
          </p:nvSpPr>
          <p:spPr>
            <a:xfrm>
              <a:off x="3048" y="3047"/>
              <a:ext cx="1016508" cy="1016508"/>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242" name="path"/>
            <p:cNvSpPr/>
            <p:nvPr/>
          </p:nvSpPr>
          <p:spPr>
            <a:xfrm>
              <a:off x="0" y="0"/>
              <a:ext cx="1022604"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9243" name="textbox 270"/>
          <p:cNvSpPr/>
          <p:nvPr/>
        </p:nvSpPr>
        <p:spPr>
          <a:xfrm>
            <a:off x="3231895" y="4225544"/>
            <a:ext cx="2249804" cy="1092835"/>
          </a:xfrm>
          <a:prstGeom prst="rect">
            <a:avLst/>
          </a:prstGeom>
        </p:spPr>
        <p:txBody>
          <a:bodyPr vert="horz" wrap="square" lIns="0" tIns="0" rIns="0" bIns="0"/>
          <a:p>
            <a:pPr algn="l" rtl="0" eaLnBrk="0">
              <a:lnSpc>
                <a:spcPct val="109000"/>
              </a:lnSpc>
            </a:pPr>
            <a:endParaRPr lang="en-US" altLang="en-US" sz="1000" dirty="0"/>
          </a:p>
          <a:p>
            <a:pPr algn="l" rtl="0" eaLnBrk="0">
              <a:lnSpc>
                <a:spcPct val="110000"/>
              </a:lnSpc>
            </a:pPr>
            <a:endParaRPr lang="en-US" altLang="en-US" sz="1000" dirty="0"/>
          </a:p>
          <a:p>
            <a:pPr marL="1035050" algn="l" rtl="0" eaLnBrk="0">
              <a:lnSpc>
                <a:spcPct val="97000"/>
              </a:lnSpc>
              <a:spcBef>
                <a:spcPts val="0"/>
              </a:spcBef>
              <a:tabLst>
                <a:tab pos="1211580" algn="l"/>
              </a:tabLst>
            </a:pPr>
            <a:r>
              <a:rPr sz="2700" kern="0" spc="0" dirty="0">
                <a:solidFill>
                  <a:srgbClr val="FFFFFF">
                    <a:alpha val="100000"/>
                  </a:srgbClr>
                </a:solidFill>
                <a:latin typeface="仿宋" panose="02010609060101010101" charset="-122"/>
                <a:ea typeface="仿宋" panose="02010609060101010101" charset="-122"/>
                <a:cs typeface="仿宋" panose="02010609060101010101" charset="-122"/>
              </a:rPr>
              <a:t>	</a:t>
            </a:r>
            <a:r>
              <a:rPr sz="2700" kern="0" spc="-20" dirty="0">
                <a:solidFill>
                  <a:srgbClr val="FFFFFF">
                    <a:alpha val="100000"/>
                  </a:srgbClr>
                </a:solidFill>
                <a:latin typeface="仿宋" panose="02010609060101010101" charset="-122"/>
                <a:ea typeface="仿宋" panose="02010609060101010101" charset="-122"/>
                <a:cs typeface="仿宋" panose="02010609060101010101" charset="-122"/>
              </a:rPr>
              <a:t>密码机</a:t>
            </a:r>
            <a:endParaRPr lang="en-US" altLang="en-US" sz="2700" dirty="0"/>
          </a:p>
        </p:txBody>
      </p:sp>
      <p:grpSp>
        <p:nvGrpSpPr>
          <p:cNvPr id="253" name="group 18"/>
          <p:cNvGrpSpPr/>
          <p:nvPr/>
        </p:nvGrpSpPr>
        <p:grpSpPr>
          <a:xfrm rot="21600000">
            <a:off x="3244595" y="4238244"/>
            <a:ext cx="1022604" cy="1022603"/>
            <a:chOff x="0" y="0"/>
            <a:chExt cx="1022604" cy="1022603"/>
          </a:xfrm>
        </p:grpSpPr>
        <p:sp>
          <p:nvSpPr>
            <p:cNvPr id="1049244" name="path"/>
            <p:cNvSpPr/>
            <p:nvPr/>
          </p:nvSpPr>
          <p:spPr>
            <a:xfrm>
              <a:off x="3048" y="3048"/>
              <a:ext cx="1016508"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245" name="path"/>
            <p:cNvSpPr/>
            <p:nvPr/>
          </p:nvSpPr>
          <p:spPr>
            <a:xfrm>
              <a:off x="0" y="0"/>
              <a:ext cx="1022604"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9246" name="textbox 276"/>
          <p:cNvSpPr/>
          <p:nvPr/>
        </p:nvSpPr>
        <p:spPr>
          <a:xfrm>
            <a:off x="2745896" y="488157"/>
            <a:ext cx="4655820"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sz="3200" kern="0" spc="-30" dirty="0">
                <a:solidFill>
                  <a:srgbClr val="1F4E79">
                    <a:alpha val="100000"/>
                  </a:srgbClr>
                </a:solidFill>
                <a:latin typeface="仿宋" panose="02010609060101010101" charset="-122"/>
                <a:ea typeface="仿宋" panose="02010609060101010101" charset="-122"/>
                <a:cs typeface="仿宋" panose="02010609060101010101" charset="-122"/>
              </a:rPr>
              <a:t>第三讲</a:t>
            </a:r>
            <a:r>
              <a:rPr sz="3200" kern="0" spc="-3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30" dirty="0">
                <a:solidFill>
                  <a:srgbClr val="1F4E79">
                    <a:alpha val="100000"/>
                  </a:srgbClr>
                </a:solidFill>
                <a:latin typeface="仿宋" panose="02010609060101010101" charset="-122"/>
                <a:ea typeface="仿宋" panose="02010609060101010101" charset="-122"/>
                <a:cs typeface="仿宋" panose="02010609060101010101" charset="-122"/>
              </a:rPr>
              <a:t>外国古代密码艺术</a:t>
            </a:r>
            <a:endParaRPr lang="en-US" altLang="en-US" sz="3200" dirty="0"/>
          </a:p>
        </p:txBody>
      </p:sp>
      <p:sp>
        <p:nvSpPr>
          <p:cNvPr id="1049247"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77" name="picture 282"/>
          <p:cNvPicPr>
            <a:picLocks noChangeAspect="1"/>
          </p:cNvPicPr>
          <p:nvPr/>
        </p:nvPicPr>
        <p:blipFill>
          <a:blip r:embed="rId4"/>
          <a:stretch>
            <a:fillRect/>
          </a:stretch>
        </p:blipFill>
        <p:spPr>
          <a:xfrm rot="21600000">
            <a:off x="824483" y="408431"/>
            <a:ext cx="419100" cy="655320"/>
          </a:xfrm>
          <a:prstGeom prst="rect">
            <a:avLst/>
          </a:prstGeom>
        </p:spPr>
      </p:pic>
      <p:sp>
        <p:nvSpPr>
          <p:cNvPr id="1049248"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256" name=""/>
        <p:cNvGrpSpPr/>
        <p:nvPr/>
      </p:nvGrpSpPr>
      <p:grpSpPr>
        <a:xfrm>
          <a:off x="0" y="0"/>
          <a:ext cx="0" cy="0"/>
          <a:chOff x="0" y="0"/>
          <a:chExt cx="0" cy="0"/>
        </a:xfrm>
      </p:grpSpPr>
      <p:sp>
        <p:nvSpPr>
          <p:cNvPr id="1049250" name="rect"/>
          <p:cNvSpPr/>
          <p:nvPr/>
        </p:nvSpPr>
        <p:spPr>
          <a:xfrm>
            <a:off x="1465326" y="1019555"/>
            <a:ext cx="9037573" cy="28956"/>
          </a:xfrm>
          <a:prstGeom prst="rect">
            <a:avLst/>
          </a:prstGeom>
          <a:solidFill>
            <a:srgbClr val="5B9BD5">
              <a:alpha val="100000"/>
            </a:srgbClr>
          </a:solidFill>
          <a:ln cap="flat">
            <a:noFill/>
            <a:prstDash val="solid"/>
            <a:miter lim="0"/>
          </a:ln>
        </p:spPr>
        <p:txBody>
          <a:bodyPr rtlCol="0"/>
          <a:p>
            <a:pPr algn="ctr"/>
            <a:endParaRPr lang="zh-CN" altLang="en-US"/>
          </a:p>
        </p:txBody>
      </p:sp>
      <p:sp>
        <p:nvSpPr>
          <p:cNvPr id="1049251"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78" name="picture 290"/>
          <p:cNvPicPr>
            <a:picLocks noChangeAspect="1"/>
          </p:cNvPicPr>
          <p:nvPr/>
        </p:nvPicPr>
        <p:blipFill>
          <a:blip r:embed="rId1"/>
          <a:stretch>
            <a:fillRect/>
          </a:stretch>
        </p:blipFill>
        <p:spPr>
          <a:xfrm rot="21600000">
            <a:off x="6205728" y="824483"/>
            <a:ext cx="4475987" cy="5993891"/>
          </a:xfrm>
          <a:prstGeom prst="rect">
            <a:avLst/>
          </a:prstGeom>
        </p:spPr>
      </p:pic>
      <p:sp>
        <p:nvSpPr>
          <p:cNvPr id="1049252" name="textbox 292"/>
          <p:cNvSpPr/>
          <p:nvPr/>
        </p:nvSpPr>
        <p:spPr>
          <a:xfrm>
            <a:off x="928522" y="1566214"/>
            <a:ext cx="4825365" cy="3130550"/>
          </a:xfrm>
          <a:prstGeom prst="rect">
            <a:avLst/>
          </a:prstGeom>
        </p:spPr>
        <p:txBody>
          <a:bodyPr vert="horz" wrap="square" lIns="0" tIns="0" rIns="0" bIns="0"/>
          <a:p>
            <a:pPr algn="l" rtl="0" eaLnBrk="0">
              <a:lnSpc>
                <a:spcPct val="81000"/>
              </a:lnSpc>
            </a:pPr>
            <a:endParaRPr lang="en-US" altLang="en-US" sz="100" dirty="0"/>
          </a:p>
          <a:p>
            <a:pPr marL="12700" algn="l" rtl="0" eaLnBrk="0">
              <a:lnSpc>
                <a:spcPct val="94000"/>
              </a:lnSpc>
            </a:pPr>
            <a:r>
              <a:rPr sz="2400" kern="0" spc="0" dirty="0">
                <a:solidFill>
                  <a:srgbClr val="5B9BD5">
                    <a:alpha val="100000"/>
                  </a:srgbClr>
                </a:solidFill>
                <a:latin typeface="Wingdings" panose="05000000000000000000"/>
                <a:ea typeface="Wingdings" panose="05000000000000000000"/>
                <a:cs typeface="Wingdings" panose="05000000000000000000"/>
              </a:rPr>
              <a:t></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托马斯·杰弗逊（</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Thomas</a:t>
            </a:r>
            <a:endParaRPr lang="en-US" altLang="en-US" sz="2400" dirty="0"/>
          </a:p>
          <a:p>
            <a:pPr marL="231140" algn="l" rtl="0" eaLnBrk="0">
              <a:lnSpc>
                <a:spcPct val="83000"/>
              </a:lnSpc>
              <a:spcBef>
                <a:spcPts val="760"/>
              </a:spcBef>
            </a:pP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Jefferson，1743—1826</a:t>
            </a:r>
            <a:r>
              <a:rPr sz="2400" kern="0" spc="-6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美国</a:t>
            </a:r>
            <a:endParaRPr lang="en-US" altLang="en-US" sz="2400" dirty="0"/>
          </a:p>
          <a:p>
            <a:pPr marL="248285" indent="132080" algn="l" rtl="0" eaLnBrk="0">
              <a:lnSpc>
                <a:spcPct val="125000"/>
              </a:lnSpc>
              <a:spcBef>
                <a:spcPts val="30"/>
              </a:spcBef>
            </a:pPr>
            <a:r>
              <a:rPr sz="2400" kern="0" spc="-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《独立宣言》的主要作者，并成为</a:t>
            </a:r>
            <a:r>
              <a:rPr sz="2400" kern="0" spc="6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第三任美国总统（18</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01—1809）</a:t>
            </a:r>
            <a:endParaRPr lang="en-US" altLang="en-US" sz="2400" dirty="0"/>
          </a:p>
          <a:p>
            <a:pPr marL="12700" algn="l" rtl="0" eaLnBrk="0">
              <a:lnSpc>
                <a:spcPct val="83000"/>
              </a:lnSpc>
              <a:spcBef>
                <a:spcPts val="1750"/>
              </a:spcBef>
            </a:pPr>
            <a:r>
              <a:rPr sz="2400" kern="0" spc="0" dirty="0">
                <a:solidFill>
                  <a:srgbClr val="5B9BD5">
                    <a:alpha val="100000"/>
                  </a:srgbClr>
                </a:solidFill>
                <a:latin typeface="Wingdings" panose="05000000000000000000"/>
                <a:ea typeface="Wingdings" panose="05000000000000000000"/>
                <a:cs typeface="Wingdings" panose="05000000000000000000"/>
              </a:rPr>
              <a:t></a:t>
            </a:r>
            <a:r>
              <a:rPr sz="2400" kern="0" spc="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杰弗逊对密码学深</a:t>
            </a:r>
            <a:r>
              <a:rPr sz="2400" kern="0" spc="-1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有研究。他在</a:t>
            </a:r>
            <a:endParaRPr lang="en-US" altLang="en-US" sz="2400" dirty="0"/>
          </a:p>
          <a:p>
            <a:pPr marL="251460" indent="-3175" algn="l" rtl="0" eaLnBrk="0">
              <a:lnSpc>
                <a:spcPct val="125000"/>
              </a:lnSpc>
              <a:spcBef>
                <a:spcPts val="30"/>
              </a:spcBef>
            </a:pP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1795年发明了一</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种密码装置叫做杰</a:t>
            </a:r>
            <a:r>
              <a:rPr sz="24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弗逊圆盘（Jeffer</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son</a:t>
            </a:r>
            <a:r>
              <a:rPr sz="24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disk）</a:t>
            </a:r>
            <a:endParaRPr lang="en-US" altLang="en-US" sz="2400" dirty="0"/>
          </a:p>
        </p:txBody>
      </p:sp>
      <p:sp>
        <p:nvSpPr>
          <p:cNvPr id="1049253" name="textbox 294"/>
          <p:cNvSpPr/>
          <p:nvPr/>
        </p:nvSpPr>
        <p:spPr>
          <a:xfrm>
            <a:off x="811783" y="395731"/>
            <a:ext cx="2790825" cy="734059"/>
          </a:xfrm>
          <a:prstGeom prst="rect">
            <a:avLst/>
          </a:prstGeom>
        </p:spPr>
        <p:txBody>
          <a:bodyPr vert="horz" wrap="square" lIns="0" tIns="0" rIns="0" bIns="0"/>
          <a:p>
            <a:pPr algn="l" rtl="0" eaLnBrk="0">
              <a:lnSpc>
                <a:spcPct val="100000"/>
              </a:lnSpc>
            </a:pPr>
            <a:endParaRPr lang="en-US" altLang="en-US" sz="700" dirty="0"/>
          </a:p>
          <a:p>
            <a:pPr marL="431800" algn="l" rtl="0" eaLnBrk="0">
              <a:lnSpc>
                <a:spcPct val="94000"/>
              </a:lnSpc>
              <a:spcBef>
                <a:spcPts val="0"/>
              </a:spcBef>
              <a:tabLst>
                <a:tab pos="771525" algn="l"/>
              </a:tabLst>
            </a:pPr>
            <a:r>
              <a:rPr sz="3200" kern="0" spc="0" dirty="0">
                <a:solidFill>
                  <a:srgbClr val="1F4E79">
                    <a:alpha val="100000"/>
                  </a:srgbClr>
                </a:solidFill>
                <a:latin typeface="黑体" panose="02010609060101010101" charset="-122"/>
                <a:ea typeface="黑体" panose="02010609060101010101" charset="-122"/>
                <a:cs typeface="黑体" panose="02010609060101010101" charset="-122"/>
              </a:rPr>
              <a:t>	</a:t>
            </a:r>
            <a:r>
              <a:rPr sz="3200" kern="0" spc="-50" dirty="0">
                <a:solidFill>
                  <a:srgbClr val="1F4E79">
                    <a:alpha val="100000"/>
                  </a:srgbClr>
                </a:solidFill>
                <a:latin typeface="黑体" panose="02010609060101010101" charset="-122"/>
                <a:ea typeface="黑体" panose="02010609060101010101" charset="-122"/>
                <a:cs typeface="黑体" panose="02010609060101010101" charset="-122"/>
              </a:rPr>
              <a:t>杰弗逊密码</a:t>
            </a:r>
            <a:endParaRPr lang="en-US" altLang="en-US" sz="3200" dirty="0"/>
          </a:p>
        </p:txBody>
      </p:sp>
      <p:pic>
        <p:nvPicPr>
          <p:cNvPr id="2097279" name="picture 296"/>
          <p:cNvPicPr>
            <a:picLocks noChangeAspect="1"/>
          </p:cNvPicPr>
          <p:nvPr/>
        </p:nvPicPr>
        <p:blipFill>
          <a:blip r:embed="rId2"/>
          <a:stretch>
            <a:fillRect/>
          </a:stretch>
        </p:blipFill>
        <p:spPr>
          <a:xfrm rot="21600000">
            <a:off x="824483" y="408431"/>
            <a:ext cx="419100" cy="65532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257" name=""/>
        <p:cNvGrpSpPr/>
        <p:nvPr/>
      </p:nvGrpSpPr>
      <p:grpSpPr>
        <a:xfrm>
          <a:off x="0" y="0"/>
          <a:ext cx="0" cy="0"/>
          <a:chOff x="0" y="0"/>
          <a:chExt cx="0" cy="0"/>
        </a:xfrm>
      </p:grpSpPr>
      <p:sp>
        <p:nvSpPr>
          <p:cNvPr id="1049254" name="textbox 300"/>
          <p:cNvSpPr/>
          <p:nvPr/>
        </p:nvSpPr>
        <p:spPr>
          <a:xfrm>
            <a:off x="1619148" y="1243634"/>
            <a:ext cx="8813800" cy="2250439"/>
          </a:xfrm>
          <a:prstGeom prst="rect">
            <a:avLst/>
          </a:prstGeom>
        </p:spPr>
        <p:txBody>
          <a:bodyPr vert="horz" wrap="square" lIns="0" tIns="0" rIns="0" bIns="0"/>
          <a:p>
            <a:pPr algn="l" rtl="0" eaLnBrk="0">
              <a:lnSpc>
                <a:spcPct val="60000"/>
              </a:lnSpc>
            </a:pPr>
            <a:endParaRPr lang="en-US" altLang="en-US" sz="100" dirty="0"/>
          </a:p>
          <a:p>
            <a:pPr marL="243840" indent="-231140" algn="l" rtl="0" eaLnBrk="0">
              <a:lnSpc>
                <a:spcPct val="107000"/>
              </a:lnSpc>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490" dirty="0">
                <a:solidFill>
                  <a:srgbClr val="000000">
                    <a:alpha val="100000"/>
                  </a:srgbClr>
                </a:solidFill>
                <a:latin typeface="Arial" panose="020B0604020202020204"/>
                <a:ea typeface="Arial" panose="020B0604020202020204"/>
                <a:cs typeface="Arial" panose="020B0604020202020204"/>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这个装置有</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36</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片同样大小的木制转轮，套在一根铁杆上。</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每片转</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轮的圆周边缘上刻有乱序的</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26</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个英文字母</a:t>
            </a:r>
            <a:endParaRPr lang="en-US" altLang="en-US" sz="2400" dirty="0"/>
          </a:p>
          <a:p>
            <a:pPr algn="l" rtl="0" eaLnBrk="0">
              <a:lnSpc>
                <a:spcPct val="106000"/>
              </a:lnSpc>
            </a:pPr>
            <a:endParaRPr lang="en-US" altLang="en-US" sz="1400" dirty="0"/>
          </a:p>
          <a:p>
            <a:pPr algn="l" rtl="0" eaLnBrk="0">
              <a:lnSpc>
                <a:spcPct val="12000"/>
              </a:lnSpc>
            </a:pPr>
            <a:endParaRPr lang="en-US" altLang="en-US" sz="100" dirty="0"/>
          </a:p>
          <a:p>
            <a:pPr marL="245745" indent="-233680" algn="l" rtl="0" eaLnBrk="0">
              <a:lnSpc>
                <a:spcPct val="111000"/>
              </a:lnSpc>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480" dirty="0">
                <a:solidFill>
                  <a:srgbClr val="000000">
                    <a:alpha val="100000"/>
                  </a:srgbClr>
                </a:solidFill>
                <a:latin typeface="Arial" panose="020B0604020202020204"/>
                <a:ea typeface="Arial" panose="020B0604020202020204"/>
                <a:cs typeface="Arial" panose="020B0604020202020204"/>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转动轮子使明文中的所有字母全排在一条直线上为止．这时圆</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柱</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体的其他</a:t>
            </a: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25</a:t>
            </a:r>
            <a:r>
              <a:rPr sz="2400" kern="0" spc="1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行字母也因这一</a:t>
            </a:r>
            <a:r>
              <a:rPr sz="2400" kern="0" spc="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行的固定而被固定了．任选这</a:t>
            </a:r>
            <a:r>
              <a:rPr sz="2400" b="1" kern="0" spc="0" dirty="0">
                <a:solidFill>
                  <a:srgbClr val="000000">
                    <a:alpha val="100000"/>
                  </a:srgbClr>
                </a:solidFill>
                <a:latin typeface="Times New Roman" panose="02020603050405020304"/>
                <a:ea typeface="Times New Roman" panose="02020603050405020304"/>
                <a:cs typeface="Times New Roman" panose="02020603050405020304"/>
              </a:rPr>
              <a:t>25</a:t>
            </a:r>
            <a:r>
              <a:rPr sz="2400" kern="0" spc="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行中</a:t>
            </a:r>
            <a:r>
              <a:rPr sz="24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的一行发出去即为密文.</a:t>
            </a:r>
            <a:endParaRPr lang="en-US" altLang="en-US" sz="2400" dirty="0"/>
          </a:p>
        </p:txBody>
      </p:sp>
      <p:pic>
        <p:nvPicPr>
          <p:cNvPr id="2097280" name="picture 302"/>
          <p:cNvPicPr>
            <a:picLocks noChangeAspect="1"/>
          </p:cNvPicPr>
          <p:nvPr/>
        </p:nvPicPr>
        <p:blipFill>
          <a:blip r:embed="rId1"/>
          <a:stretch>
            <a:fillRect/>
          </a:stretch>
        </p:blipFill>
        <p:spPr>
          <a:xfrm rot="21600000">
            <a:off x="3886200" y="3581400"/>
            <a:ext cx="4162043" cy="2514600"/>
          </a:xfrm>
          <a:prstGeom prst="rect">
            <a:avLst/>
          </a:prstGeom>
        </p:spPr>
      </p:pic>
      <p:sp>
        <p:nvSpPr>
          <p:cNvPr id="1049255" name="textbox 306"/>
          <p:cNvSpPr/>
          <p:nvPr/>
        </p:nvSpPr>
        <p:spPr>
          <a:xfrm>
            <a:off x="1547448" y="569946"/>
            <a:ext cx="2060575" cy="358775"/>
          </a:xfrm>
          <a:prstGeom prst="rect">
            <a:avLst/>
          </a:prstGeom>
        </p:spPr>
        <p:txBody>
          <a:bodyPr vert="horz" wrap="square" lIns="0" tIns="0" rIns="0" bIns="0"/>
          <a:p>
            <a:pPr algn="l" rtl="0" eaLnBrk="0">
              <a:lnSpc>
                <a:spcPct val="92000"/>
              </a:lnSpc>
            </a:pPr>
            <a:endParaRPr lang="en-US" altLang="en-US" sz="100" dirty="0"/>
          </a:p>
          <a:p>
            <a:pPr marL="12700" algn="l" rtl="0" eaLnBrk="0">
              <a:lnSpc>
                <a:spcPct val="68000"/>
              </a:lnSpc>
            </a:pPr>
            <a:r>
              <a:rPr sz="3200" kern="0" spc="0" dirty="0">
                <a:ln w="11625" cap="flat" cmpd="sng">
                  <a:solidFill>
                    <a:srgbClr val="1F4E79">
                      <a:alpha val="100000"/>
                    </a:srgbClr>
                  </a:solidFill>
                  <a:prstDash val="solid"/>
                  <a:miter lim="10"/>
                </a:ln>
                <a:solidFill>
                  <a:srgbClr val="1F4E79">
                    <a:alpha val="100000"/>
                  </a:srgbClr>
                </a:solidFill>
                <a:latin typeface="新宋体" panose="02010609030101010101" charset="-122"/>
                <a:ea typeface="新宋体" panose="02010609030101010101" charset="-122"/>
                <a:cs typeface="新宋体" panose="02010609030101010101" charset="-122"/>
              </a:rPr>
              <a:t>杰弗逊圆盘</a:t>
            </a:r>
            <a:endParaRPr lang="en-US" altLang="en-US" sz="3200" dirty="0"/>
          </a:p>
        </p:txBody>
      </p:sp>
      <p:sp>
        <p:nvSpPr>
          <p:cNvPr id="1049256"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81" name="picture 310"/>
          <p:cNvPicPr>
            <a:picLocks noChangeAspect="1"/>
          </p:cNvPicPr>
          <p:nvPr/>
        </p:nvPicPr>
        <p:blipFill>
          <a:blip r:embed="rId2"/>
          <a:stretch>
            <a:fillRect/>
          </a:stretch>
        </p:blipFill>
        <p:spPr>
          <a:xfrm rot="21600000">
            <a:off x="824483" y="408431"/>
            <a:ext cx="419100" cy="655320"/>
          </a:xfrm>
          <a:prstGeom prst="rect">
            <a:avLst/>
          </a:prstGeom>
        </p:spPr>
      </p:pic>
      <p:sp>
        <p:nvSpPr>
          <p:cNvPr id="1049257"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258" name=""/>
        <p:cNvGrpSpPr/>
        <p:nvPr/>
      </p:nvGrpSpPr>
      <p:grpSpPr>
        <a:xfrm>
          <a:off x="0" y="0"/>
          <a:ext cx="0" cy="0"/>
          <a:chOff x="0" y="0"/>
          <a:chExt cx="0" cy="0"/>
        </a:xfrm>
      </p:grpSpPr>
      <p:pic>
        <p:nvPicPr>
          <p:cNvPr id="2097282" name="picture 314"/>
          <p:cNvPicPr>
            <a:picLocks noChangeAspect="1"/>
          </p:cNvPicPr>
          <p:nvPr/>
        </p:nvPicPr>
        <p:blipFill>
          <a:blip r:embed="rId1"/>
          <a:stretch>
            <a:fillRect/>
          </a:stretch>
        </p:blipFill>
        <p:spPr>
          <a:xfrm rot="21600000">
            <a:off x="694181" y="4319016"/>
            <a:ext cx="10779125" cy="2209800"/>
          </a:xfrm>
          <a:prstGeom prst="rect">
            <a:avLst/>
          </a:prstGeom>
        </p:spPr>
      </p:pic>
      <p:pic>
        <p:nvPicPr>
          <p:cNvPr id="2097283" name="picture 316"/>
          <p:cNvPicPr>
            <a:picLocks noChangeAspect="1"/>
          </p:cNvPicPr>
          <p:nvPr/>
        </p:nvPicPr>
        <p:blipFill>
          <a:blip r:embed="rId2"/>
          <a:stretch>
            <a:fillRect/>
          </a:stretch>
        </p:blipFill>
        <p:spPr>
          <a:xfrm rot="21600000">
            <a:off x="1487423" y="1341120"/>
            <a:ext cx="2671571" cy="2362200"/>
          </a:xfrm>
          <a:prstGeom prst="rect">
            <a:avLst/>
          </a:prstGeom>
        </p:spPr>
      </p:pic>
      <p:pic>
        <p:nvPicPr>
          <p:cNvPr id="2097284" name="picture 318"/>
          <p:cNvPicPr>
            <a:picLocks noChangeAspect="1"/>
          </p:cNvPicPr>
          <p:nvPr/>
        </p:nvPicPr>
        <p:blipFill>
          <a:blip r:embed="rId3"/>
          <a:stretch>
            <a:fillRect/>
          </a:stretch>
        </p:blipFill>
        <p:spPr>
          <a:xfrm rot="21600000">
            <a:off x="8759952" y="1379220"/>
            <a:ext cx="2110740" cy="2286000"/>
          </a:xfrm>
          <a:prstGeom prst="rect">
            <a:avLst/>
          </a:prstGeom>
        </p:spPr>
      </p:pic>
      <p:pic>
        <p:nvPicPr>
          <p:cNvPr id="2097285" name="picture 320"/>
          <p:cNvPicPr>
            <a:picLocks noChangeAspect="1"/>
          </p:cNvPicPr>
          <p:nvPr/>
        </p:nvPicPr>
        <p:blipFill>
          <a:blip r:embed="rId4"/>
          <a:stretch>
            <a:fillRect/>
          </a:stretch>
        </p:blipFill>
        <p:spPr>
          <a:xfrm rot="21600000">
            <a:off x="5498591" y="1379220"/>
            <a:ext cx="2110739" cy="2286000"/>
          </a:xfrm>
          <a:prstGeom prst="rect">
            <a:avLst/>
          </a:prstGeom>
        </p:spPr>
      </p:pic>
      <p:sp>
        <p:nvSpPr>
          <p:cNvPr id="1049258" name="textbox 322"/>
          <p:cNvSpPr/>
          <p:nvPr/>
        </p:nvSpPr>
        <p:spPr>
          <a:xfrm>
            <a:off x="1574304" y="475965"/>
            <a:ext cx="3373120" cy="485775"/>
          </a:xfrm>
          <a:prstGeom prst="rect">
            <a:avLst/>
          </a:prstGeom>
        </p:spPr>
        <p:txBody>
          <a:bodyPr vert="horz" wrap="square" lIns="0" tIns="0" rIns="0" bIns="0"/>
          <a:p>
            <a:pPr algn="l" rtl="0" eaLnBrk="0">
              <a:lnSpc>
                <a:spcPct val="94000"/>
              </a:lnSpc>
            </a:pPr>
            <a:endParaRPr lang="en-US" altLang="en-US" sz="100" dirty="0"/>
          </a:p>
          <a:p>
            <a:pPr marL="12700" algn="l" rtl="0" eaLnBrk="0">
              <a:lnSpc>
                <a:spcPct val="94000"/>
              </a:lnSpc>
            </a:pPr>
            <a:r>
              <a:rPr sz="3200" b="1" kern="0" spc="-20" dirty="0">
                <a:solidFill>
                  <a:srgbClr val="44546A">
                    <a:alpha val="100000"/>
                  </a:srgbClr>
                </a:solidFill>
                <a:latin typeface="Tahoma" panose="020B0604030504040204"/>
                <a:ea typeface="Tahoma" panose="020B0604030504040204"/>
                <a:cs typeface="Tahoma" panose="020B0604030504040204"/>
              </a:rPr>
              <a:t>20</a:t>
            </a:r>
            <a:r>
              <a:rPr sz="3200" kern="0" spc="-20" dirty="0">
                <a:ln w="11625" cap="flat" cmpd="sng">
                  <a:solidFill>
                    <a:srgbClr val="44546A">
                      <a:alpha val="100000"/>
                    </a:srgbClr>
                  </a:solidFill>
                  <a:prstDash val="solid"/>
                  <a:miter lim="10"/>
                </a:ln>
                <a:solidFill>
                  <a:srgbClr val="44546A">
                    <a:alpha val="100000"/>
                  </a:srgbClr>
                </a:solidFill>
                <a:latin typeface="仿宋" panose="02010609060101010101" charset="-122"/>
                <a:ea typeface="仿宋" panose="02010609060101010101" charset="-122"/>
                <a:cs typeface="仿宋" panose="02010609060101010101" charset="-122"/>
              </a:rPr>
              <a:t>世纪早期密码机</a:t>
            </a:r>
            <a:endParaRPr lang="en-US" altLang="en-US" sz="3200" dirty="0"/>
          </a:p>
        </p:txBody>
      </p:sp>
      <p:pic>
        <p:nvPicPr>
          <p:cNvPr id="2097286" name="picture 326"/>
          <p:cNvPicPr>
            <a:picLocks noChangeAspect="1"/>
          </p:cNvPicPr>
          <p:nvPr/>
        </p:nvPicPr>
        <p:blipFill>
          <a:blip r:embed="rId5"/>
          <a:stretch>
            <a:fillRect/>
          </a:stretch>
        </p:blipFill>
        <p:spPr>
          <a:xfrm rot="21600000">
            <a:off x="824483" y="408431"/>
            <a:ext cx="419100" cy="655320"/>
          </a:xfrm>
          <a:prstGeom prst="rect">
            <a:avLst/>
          </a:prstGeom>
        </p:spPr>
      </p:pic>
      <p:sp>
        <p:nvSpPr>
          <p:cNvPr id="1049259"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261" name=""/>
        <p:cNvGrpSpPr/>
        <p:nvPr/>
      </p:nvGrpSpPr>
      <p:grpSpPr>
        <a:xfrm>
          <a:off x="0" y="0"/>
          <a:ext cx="0" cy="0"/>
          <a:chOff x="0" y="0"/>
          <a:chExt cx="0" cy="0"/>
        </a:xfrm>
      </p:grpSpPr>
      <p:pic>
        <p:nvPicPr>
          <p:cNvPr id="2097287" name="picture 330"/>
          <p:cNvPicPr>
            <a:picLocks noChangeAspect="1"/>
          </p:cNvPicPr>
          <p:nvPr/>
        </p:nvPicPr>
        <p:blipFill>
          <a:blip r:embed="rId1"/>
          <a:stretch>
            <a:fillRect/>
          </a:stretch>
        </p:blipFill>
        <p:spPr>
          <a:xfrm rot="21600000">
            <a:off x="5596128" y="2001011"/>
            <a:ext cx="4808219" cy="3494532"/>
          </a:xfrm>
          <a:prstGeom prst="rect">
            <a:avLst/>
          </a:prstGeom>
        </p:spPr>
      </p:pic>
      <p:pic>
        <p:nvPicPr>
          <p:cNvPr id="2097288" name="picture 332"/>
          <p:cNvPicPr>
            <a:picLocks noChangeAspect="1"/>
          </p:cNvPicPr>
          <p:nvPr/>
        </p:nvPicPr>
        <p:blipFill>
          <a:blip r:embed="rId2"/>
          <a:stretch>
            <a:fillRect/>
          </a:stretch>
        </p:blipFill>
        <p:spPr>
          <a:xfrm rot="21600000">
            <a:off x="2061972" y="2217419"/>
            <a:ext cx="3241547" cy="2651760"/>
          </a:xfrm>
          <a:prstGeom prst="rect">
            <a:avLst/>
          </a:prstGeom>
        </p:spPr>
      </p:pic>
      <p:sp>
        <p:nvSpPr>
          <p:cNvPr id="1049261" name="textbox 334"/>
          <p:cNvSpPr/>
          <p:nvPr/>
        </p:nvSpPr>
        <p:spPr>
          <a:xfrm>
            <a:off x="811783" y="395731"/>
            <a:ext cx="3704590" cy="690880"/>
          </a:xfrm>
          <a:prstGeom prst="rect">
            <a:avLst/>
          </a:prstGeom>
        </p:spPr>
        <p:txBody>
          <a:bodyPr vert="horz" wrap="square" lIns="0" tIns="0" rIns="0" bIns="0"/>
          <a:p>
            <a:pPr algn="l" rtl="0" eaLnBrk="0">
              <a:lnSpc>
                <a:spcPct val="110000"/>
              </a:lnSpc>
            </a:pPr>
            <a:endParaRPr lang="en-US" altLang="en-US" sz="500" dirty="0"/>
          </a:p>
          <a:p>
            <a:pPr marL="431800" algn="l" rtl="0" eaLnBrk="0">
              <a:lnSpc>
                <a:spcPct val="90000"/>
              </a:lnSpc>
              <a:spcBef>
                <a:spcPts val="0"/>
              </a:spcBef>
              <a:tabLst>
                <a:tab pos="764540" algn="l"/>
              </a:tabLst>
            </a:pPr>
            <a:r>
              <a:rPr sz="3200" kern="0" spc="0" dirty="0">
                <a:solidFill>
                  <a:srgbClr val="000000">
                    <a:alpha val="100000"/>
                  </a:srgbClr>
                </a:solidFill>
                <a:latin typeface="Times New Roman" panose="02020603050405020304"/>
                <a:ea typeface="Times New Roman" panose="02020603050405020304"/>
                <a:cs typeface="Times New Roman" panose="02020603050405020304"/>
              </a:rPr>
              <a:t>	</a:t>
            </a:r>
            <a:r>
              <a:rPr sz="3200" kern="0" spc="0" dirty="0">
                <a:solidFill>
                  <a:srgbClr val="000000">
                    <a:alpha val="100000"/>
                  </a:srgbClr>
                </a:solidFill>
                <a:latin typeface="Times New Roman" panose="02020603050405020304"/>
                <a:ea typeface="Times New Roman" panose="02020603050405020304"/>
                <a:cs typeface="Times New Roman" panose="02020603050405020304"/>
              </a:rPr>
              <a:t>Enigma</a:t>
            </a:r>
            <a:r>
              <a:rPr sz="3200" kern="0" spc="180" dirty="0">
                <a:solidFill>
                  <a:srgbClr val="000000">
                    <a:alpha val="100000"/>
                  </a:srgbClr>
                </a:solidFill>
                <a:latin typeface="Times New Roman" panose="02020603050405020304"/>
                <a:ea typeface="Times New Roman" panose="02020603050405020304"/>
                <a:cs typeface="Times New Roman" panose="02020603050405020304"/>
              </a:rPr>
              <a:t>  </a:t>
            </a:r>
            <a:r>
              <a:rPr sz="3200" kern="0" spc="500" dirty="0">
                <a:solidFill>
                  <a:srgbClr val="000000">
                    <a:alpha val="100000"/>
                  </a:srgbClr>
                </a:solidFill>
                <a:latin typeface="仿宋" panose="02010609060101010101" charset="-122"/>
                <a:ea typeface="仿宋" panose="02010609060101010101" charset="-122"/>
                <a:cs typeface="仿宋" panose="02010609060101010101" charset="-122"/>
              </a:rPr>
              <a:t>密码机</a:t>
            </a:r>
            <a:endParaRPr lang="en-US" altLang="en-US" sz="3200" dirty="0"/>
          </a:p>
        </p:txBody>
      </p:sp>
      <p:pic>
        <p:nvPicPr>
          <p:cNvPr id="2097289" name="picture 336"/>
          <p:cNvPicPr>
            <a:picLocks noChangeAspect="1"/>
          </p:cNvPicPr>
          <p:nvPr/>
        </p:nvPicPr>
        <p:blipFill>
          <a:blip r:embed="rId3"/>
          <a:stretch>
            <a:fillRect/>
          </a:stretch>
        </p:blipFill>
        <p:spPr>
          <a:xfrm rot="21600000">
            <a:off x="824483" y="408431"/>
            <a:ext cx="419100" cy="655320"/>
          </a:xfrm>
          <a:prstGeom prst="rect">
            <a:avLst/>
          </a:prstGeom>
        </p:spPr>
      </p:pic>
      <p:sp>
        <p:nvSpPr>
          <p:cNvPr id="1049262" name="textbox 338"/>
          <p:cNvSpPr/>
          <p:nvPr/>
        </p:nvSpPr>
        <p:spPr>
          <a:xfrm>
            <a:off x="921738" y="1518442"/>
            <a:ext cx="3613150" cy="436880"/>
          </a:xfrm>
          <a:prstGeom prst="rect">
            <a:avLst/>
          </a:prstGeom>
        </p:spPr>
        <p:txBody>
          <a:bodyPr vert="horz" wrap="square" lIns="0" tIns="0" rIns="0" bIns="0"/>
          <a:p>
            <a:pPr algn="l" rtl="0" eaLnBrk="0">
              <a:lnSpc>
                <a:spcPct val="80000"/>
              </a:lnSpc>
            </a:pPr>
            <a:endParaRPr lang="en-US" altLang="en-US" sz="100" dirty="0"/>
          </a:p>
          <a:p>
            <a:pPr marL="12700" algn="l" rtl="0" eaLnBrk="0">
              <a:lnSpc>
                <a:spcPct val="100000"/>
              </a:lnSpc>
            </a:pPr>
            <a:r>
              <a:rPr sz="2700" kern="0" spc="40" dirty="0">
                <a:solidFill>
                  <a:srgbClr val="000000">
                    <a:alpha val="100000"/>
                  </a:srgbClr>
                </a:solidFill>
                <a:latin typeface="Arial" panose="020B0604020202020204"/>
                <a:ea typeface="Arial" panose="020B0604020202020204"/>
                <a:cs typeface="Arial" panose="020B0604020202020204"/>
              </a:rPr>
              <a:t>•</a:t>
            </a:r>
            <a:r>
              <a:rPr sz="2700" kern="0" spc="370" dirty="0">
                <a:solidFill>
                  <a:srgbClr val="000000">
                    <a:alpha val="100000"/>
                  </a:srgbClr>
                </a:solidFill>
                <a:latin typeface="Arial" panose="020B0604020202020204"/>
                <a:ea typeface="Arial" panose="020B0604020202020204"/>
                <a:cs typeface="Arial" panose="020B0604020202020204"/>
              </a:rPr>
              <a:t> </a:t>
            </a:r>
            <a:r>
              <a:rPr sz="2700" kern="0" spc="40" dirty="0">
                <a:solidFill>
                  <a:srgbClr val="000000">
                    <a:alpha val="100000"/>
                  </a:srgbClr>
                </a:solidFill>
                <a:latin typeface="仿宋" panose="02010609060101010101" charset="-122"/>
                <a:ea typeface="仿宋" panose="02010609060101010101" charset="-122"/>
                <a:cs typeface="仿宋" panose="02010609060101010101" charset="-122"/>
              </a:rPr>
              <a:t>12</a:t>
            </a:r>
            <a:r>
              <a:rPr sz="2700" kern="0" spc="0" dirty="0">
                <a:solidFill>
                  <a:srgbClr val="000000">
                    <a:alpha val="100000"/>
                  </a:srgbClr>
                </a:solidFill>
                <a:latin typeface="仿宋" panose="02010609060101010101" charset="-122"/>
                <a:ea typeface="仿宋" panose="02010609060101010101" charset="-122"/>
                <a:cs typeface="仿宋" panose="02010609060101010101" charset="-122"/>
              </a:rPr>
              <a:t>kg</a:t>
            </a:r>
            <a:r>
              <a:rPr sz="2700" kern="0" spc="40" dirty="0">
                <a:solidFill>
                  <a:srgbClr val="000000">
                    <a:alpha val="100000"/>
                  </a:srgbClr>
                </a:solidFill>
                <a:latin typeface="仿宋" panose="02010609060101010101" charset="-122"/>
                <a:ea typeface="仿宋" panose="02010609060101010101" charset="-122"/>
                <a:cs typeface="仿宋" panose="02010609060101010101" charset="-122"/>
              </a:rPr>
              <a:t>，28×34×15</a:t>
            </a:r>
            <a:r>
              <a:rPr sz="2700" kern="0" spc="3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0" dirty="0">
                <a:solidFill>
                  <a:srgbClr val="000000">
                    <a:alpha val="100000"/>
                  </a:srgbClr>
                </a:solidFill>
                <a:latin typeface="仿宋" panose="02010609060101010101" charset="-122"/>
                <a:ea typeface="仿宋" panose="02010609060101010101" charset="-122"/>
                <a:cs typeface="仿宋" panose="02010609060101010101" charset="-122"/>
              </a:rPr>
              <a:t>cm</a:t>
            </a:r>
            <a:endParaRPr lang="en-US" altLang="en-US" sz="2700" dirty="0"/>
          </a:p>
        </p:txBody>
      </p:sp>
      <p:sp>
        <p:nvSpPr>
          <p:cNvPr id="1049263" name="textbox 342"/>
          <p:cNvSpPr/>
          <p:nvPr/>
        </p:nvSpPr>
        <p:spPr>
          <a:xfrm>
            <a:off x="2865932" y="5012817"/>
            <a:ext cx="1797685" cy="278765"/>
          </a:xfrm>
          <a:prstGeom prst="rect">
            <a:avLst/>
          </a:prstGeom>
        </p:spPr>
        <p:txBody>
          <a:bodyPr vert="horz" wrap="square" lIns="0" tIns="0" rIns="0" bIns="0"/>
          <a:p>
            <a:pPr algn="l" rtl="0" eaLnBrk="0">
              <a:lnSpc>
                <a:spcPct val="88000"/>
              </a:lnSpc>
            </a:pPr>
            <a:endParaRPr lang="en-US" altLang="en-US" sz="100" dirty="0"/>
          </a:p>
          <a:p>
            <a:pPr marL="12700" algn="l" rtl="0" eaLnBrk="0">
              <a:lnSpc>
                <a:spcPct val="92000"/>
              </a:lnSpc>
            </a:pPr>
            <a:r>
              <a:rPr sz="1800" kern="0" spc="330" dirty="0">
                <a:ln w="6531"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德</a:t>
            </a:r>
            <a:r>
              <a:rPr sz="1800" kern="0" spc="0" dirty="0">
                <a:ln w="6531"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Enigma</a:t>
            </a:r>
            <a:r>
              <a:rPr sz="1800" kern="0" spc="330" dirty="0">
                <a:ln w="6531"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密码机</a:t>
            </a:r>
            <a:endParaRPr lang="en-US" altLang="en-US" sz="1800" dirty="0"/>
          </a:p>
        </p:txBody>
      </p:sp>
      <p:sp>
        <p:nvSpPr>
          <p:cNvPr id="1049264"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
        <p:nvSpPr>
          <p:cNvPr id="1049265" name="rect"/>
          <p:cNvSpPr/>
          <p:nvPr/>
        </p:nvSpPr>
        <p:spPr>
          <a:xfrm>
            <a:off x="1465326" y="1019555"/>
            <a:ext cx="9037573" cy="28956"/>
          </a:xfrm>
          <a:prstGeom prst="rect">
            <a:avLst/>
          </a:prstGeom>
          <a:solidFill>
            <a:srgbClr val="5B9BD5">
              <a:alpha val="100000"/>
            </a:srgbClr>
          </a:solidFill>
          <a:ln cap="flat">
            <a:noFill/>
            <a:prstDash val="solid"/>
            <a:miter lim="0"/>
          </a:ln>
        </p:spPr>
        <p:txBody>
          <a:bodyPr rtlCol="0"/>
          <a:p>
            <a:pPr algn="ctr"/>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264" name=""/>
        <p:cNvGrpSpPr/>
        <p:nvPr/>
      </p:nvGrpSpPr>
      <p:grpSpPr>
        <a:xfrm>
          <a:off x="0" y="0"/>
          <a:ext cx="0" cy="0"/>
          <a:chOff x="0" y="0"/>
          <a:chExt cx="0" cy="0"/>
        </a:xfrm>
      </p:grpSpPr>
      <p:sp>
        <p:nvSpPr>
          <p:cNvPr id="1049267" name="textbox 348"/>
          <p:cNvSpPr/>
          <p:nvPr/>
        </p:nvSpPr>
        <p:spPr>
          <a:xfrm>
            <a:off x="1376324" y="1566214"/>
            <a:ext cx="9742805" cy="3760470"/>
          </a:xfrm>
          <a:prstGeom prst="rect">
            <a:avLst/>
          </a:prstGeom>
        </p:spPr>
        <p:txBody>
          <a:bodyPr vert="horz" wrap="square" lIns="0" tIns="0" rIns="0" bIns="0"/>
          <a:p>
            <a:pPr algn="l" rtl="0" eaLnBrk="0">
              <a:lnSpc>
                <a:spcPct val="77000"/>
              </a:lnSpc>
            </a:pPr>
            <a:endParaRPr lang="en-US" altLang="en-US" sz="100" dirty="0"/>
          </a:p>
          <a:p>
            <a:pPr marL="485775" indent="-473710" algn="l" rtl="0" eaLnBrk="0">
              <a:lnSpc>
                <a:spcPct val="116000"/>
              </a:lnSpc>
            </a:pPr>
            <a:r>
              <a:rPr sz="2400" kern="0" spc="-20" dirty="0">
                <a:solidFill>
                  <a:srgbClr val="000000">
                    <a:alpha val="100000"/>
                  </a:srgbClr>
                </a:solidFill>
                <a:latin typeface="Arial" panose="020B0604020202020204"/>
                <a:ea typeface="Arial" panose="020B0604020202020204"/>
                <a:cs typeface="Arial" panose="020B0604020202020204"/>
              </a:rPr>
              <a:t>•</a:t>
            </a:r>
            <a:r>
              <a:rPr sz="2400" kern="0" spc="630" dirty="0">
                <a:solidFill>
                  <a:srgbClr val="000000">
                    <a:alpha val="100000"/>
                  </a:srgbClr>
                </a:solidFill>
                <a:latin typeface="Arial" panose="020B0604020202020204"/>
                <a:ea typeface="Arial" panose="020B0604020202020204"/>
                <a:cs typeface="Arial" panose="020B0604020202020204"/>
              </a:rPr>
              <a:t> </a:t>
            </a:r>
            <a:r>
              <a:rPr sz="2400" kern="0" spc="-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1918年，德国发明家谢尔比乌斯</a:t>
            </a:r>
            <a:r>
              <a:rPr sz="2400" kern="0" spc="-2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2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发明了恩尼格玛密码机</a:t>
            </a:r>
            <a:endParaRPr lang="en-US" altLang="en-US" sz="2400" dirty="0"/>
          </a:p>
          <a:p>
            <a:pPr marL="400685" algn="l" rtl="0" eaLnBrk="0">
              <a:lnSpc>
                <a:spcPct val="94000"/>
              </a:lnSpc>
              <a:spcBef>
                <a:spcPts val="1245"/>
              </a:spcBef>
            </a:pPr>
            <a:r>
              <a:rPr sz="2400" kern="0" spc="-9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r>
              <a:rPr sz="2400" kern="0" spc="35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9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密码机30000美金</a:t>
            </a:r>
            <a:endParaRPr lang="en-US" altLang="en-US" sz="2400" dirty="0"/>
          </a:p>
          <a:p>
            <a:pPr marL="400685" algn="l" rtl="0" eaLnBrk="0">
              <a:lnSpc>
                <a:spcPct val="94000"/>
              </a:lnSpc>
              <a:spcBef>
                <a:spcPts val="1235"/>
              </a:spcBef>
            </a:pPr>
            <a:r>
              <a:rPr sz="24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r>
              <a:rPr sz="2400" kern="0" spc="-7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谢尔比乌斯向企业家们宣称</a:t>
            </a:r>
            <a:r>
              <a:rPr sz="2400" kern="0" spc="-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r>
              <a:rPr sz="2400" kern="0" spc="73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如果他们重要的商业秘密被竞争对手</a:t>
            </a:r>
            <a:endParaRPr lang="en-US" altLang="en-US" sz="2400" dirty="0"/>
          </a:p>
          <a:p>
            <a:pPr marL="247650" algn="l" rtl="0" eaLnBrk="0">
              <a:lnSpc>
                <a:spcPct val="92000"/>
              </a:lnSpc>
              <a:spcBef>
                <a:spcPts val="745"/>
              </a:spcBef>
            </a:pPr>
            <a:r>
              <a:rPr sz="2400" kern="0" spc="1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知道了的话，遭到的损</a:t>
            </a:r>
            <a:r>
              <a:rPr sz="2400" kern="0" spc="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失将比Enigma的价格高得多</a:t>
            </a:r>
            <a:endParaRPr lang="en-US" altLang="en-US" sz="2400" dirty="0"/>
          </a:p>
          <a:p>
            <a:pPr marL="12700" algn="l" rtl="0" eaLnBrk="0">
              <a:lnSpc>
                <a:spcPct val="99000"/>
              </a:lnSpc>
              <a:spcBef>
                <a:spcPts val="1330"/>
              </a:spcBef>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610" dirty="0">
                <a:solidFill>
                  <a:srgbClr val="000000">
                    <a:alpha val="100000"/>
                  </a:srgbClr>
                </a:solidFill>
                <a:latin typeface="Arial" panose="020B0604020202020204"/>
                <a:ea typeface="Arial" panose="020B0604020202020204"/>
                <a:cs typeface="Arial" panose="020B0604020202020204"/>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1923，温斯顿·丘吉尔的著作《世界危机》。</a:t>
            </a:r>
            <a:endParaRPr lang="en-US" altLang="en-US" sz="2400" dirty="0"/>
          </a:p>
          <a:p>
            <a:pPr algn="l" rtl="0" eaLnBrk="0">
              <a:lnSpc>
                <a:spcPct val="102000"/>
              </a:lnSpc>
            </a:pPr>
            <a:endParaRPr lang="en-US" altLang="en-US" sz="900" dirty="0"/>
          </a:p>
          <a:p>
            <a:pPr marL="243840" indent="-231140" algn="l" rtl="0" eaLnBrk="0">
              <a:lnSpc>
                <a:spcPct val="107000"/>
              </a:lnSpc>
              <a:spcBef>
                <a:spcPts val="5"/>
              </a:spcBef>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440" dirty="0">
                <a:solidFill>
                  <a:srgbClr val="000000">
                    <a:alpha val="100000"/>
                  </a:srgbClr>
                </a:solidFill>
                <a:latin typeface="Arial" panose="020B0604020202020204"/>
                <a:ea typeface="Arial" panose="020B0604020202020204"/>
                <a:cs typeface="Arial" panose="020B0604020202020204"/>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从1925年起，谢尔比乌斯的</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工厂开始系列化生产Enigma，26年德海军开</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始使用，</a:t>
            </a:r>
            <a:r>
              <a:rPr sz="2400" kern="0" spc="-7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7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28年德陆军也开始使用</a:t>
            </a:r>
            <a:r>
              <a:rPr sz="2400" kern="0" spc="-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400" dirty="0"/>
          </a:p>
        </p:txBody>
      </p:sp>
      <p:sp>
        <p:nvSpPr>
          <p:cNvPr id="1049268"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290" name="picture 352"/>
          <p:cNvPicPr>
            <a:picLocks noChangeAspect="1"/>
          </p:cNvPicPr>
          <p:nvPr/>
        </p:nvPicPr>
        <p:blipFill>
          <a:blip r:embed="rId1"/>
          <a:stretch>
            <a:fillRect/>
          </a:stretch>
        </p:blipFill>
        <p:spPr>
          <a:xfrm rot="21600000">
            <a:off x="8596884" y="286511"/>
            <a:ext cx="1847088" cy="2122932"/>
          </a:xfrm>
          <a:prstGeom prst="rect">
            <a:avLst/>
          </a:prstGeom>
        </p:spPr>
      </p:pic>
      <p:sp>
        <p:nvSpPr>
          <p:cNvPr id="1049269" name="textbox 354"/>
          <p:cNvSpPr/>
          <p:nvPr/>
        </p:nvSpPr>
        <p:spPr>
          <a:xfrm>
            <a:off x="1563724" y="465297"/>
            <a:ext cx="2952750" cy="466725"/>
          </a:xfrm>
          <a:prstGeom prst="rect">
            <a:avLst/>
          </a:prstGeom>
        </p:spPr>
        <p:txBody>
          <a:bodyPr vert="horz" wrap="square" lIns="0" tIns="0" rIns="0" bIns="0"/>
          <a:p>
            <a:pPr algn="l" rtl="0" eaLnBrk="0">
              <a:lnSpc>
                <a:spcPct val="96000"/>
              </a:lnSpc>
            </a:pPr>
            <a:endParaRPr lang="en-US" altLang="en-US" sz="100" dirty="0"/>
          </a:p>
          <a:p>
            <a:pPr marL="12700" algn="l" rtl="0" eaLnBrk="0">
              <a:lnSpc>
                <a:spcPct val="90000"/>
              </a:lnSpc>
            </a:pPr>
            <a:r>
              <a:rPr sz="3200" kern="0" spc="0" dirty="0">
                <a:solidFill>
                  <a:srgbClr val="000000">
                    <a:alpha val="100000"/>
                  </a:srgbClr>
                </a:solidFill>
                <a:latin typeface="Times New Roman" panose="02020603050405020304"/>
                <a:ea typeface="Times New Roman" panose="02020603050405020304"/>
                <a:cs typeface="Times New Roman" panose="02020603050405020304"/>
              </a:rPr>
              <a:t>Enigma</a:t>
            </a:r>
            <a:r>
              <a:rPr sz="3200" kern="0" spc="60" dirty="0">
                <a:solidFill>
                  <a:srgbClr val="000000">
                    <a:alpha val="100000"/>
                  </a:srgbClr>
                </a:solidFill>
                <a:latin typeface="Times New Roman" panose="02020603050405020304"/>
                <a:ea typeface="Times New Roman" panose="02020603050405020304"/>
                <a:cs typeface="Times New Roman" panose="02020603050405020304"/>
              </a:rPr>
              <a:t>  </a:t>
            </a:r>
            <a:r>
              <a:rPr sz="3200" kern="0" spc="590" dirty="0">
                <a:solidFill>
                  <a:srgbClr val="000000">
                    <a:alpha val="100000"/>
                  </a:srgbClr>
                </a:solidFill>
                <a:latin typeface="黑体" panose="02010609060101010101" charset="-122"/>
                <a:ea typeface="黑体" panose="02010609060101010101" charset="-122"/>
                <a:cs typeface="黑体" panose="02010609060101010101" charset="-122"/>
              </a:rPr>
              <a:t>密码机</a:t>
            </a:r>
            <a:endParaRPr lang="en-US" altLang="en-US" sz="3200" dirty="0"/>
          </a:p>
        </p:txBody>
      </p:sp>
      <p:sp>
        <p:nvSpPr>
          <p:cNvPr id="1049270"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291" name="picture 360"/>
          <p:cNvPicPr>
            <a:picLocks noChangeAspect="1"/>
          </p:cNvPicPr>
          <p:nvPr/>
        </p:nvPicPr>
        <p:blipFill>
          <a:blip r:embed="rId2"/>
          <a:stretch>
            <a:fillRect/>
          </a:stretch>
        </p:blipFill>
        <p:spPr>
          <a:xfrm rot="21600000">
            <a:off x="824483" y="408431"/>
            <a:ext cx="419100" cy="65532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265" name=""/>
        <p:cNvGrpSpPr/>
        <p:nvPr/>
      </p:nvGrpSpPr>
      <p:grpSpPr>
        <a:xfrm>
          <a:off x="0" y="0"/>
          <a:ext cx="0" cy="0"/>
          <a:chOff x="0" y="0"/>
          <a:chExt cx="0" cy="0"/>
        </a:xfrm>
      </p:grpSpPr>
      <p:sp>
        <p:nvSpPr>
          <p:cNvPr id="1049271" name="textbox 362"/>
          <p:cNvSpPr/>
          <p:nvPr/>
        </p:nvSpPr>
        <p:spPr>
          <a:xfrm>
            <a:off x="1376324" y="1514398"/>
            <a:ext cx="9737725" cy="1419860"/>
          </a:xfrm>
          <a:prstGeom prst="rect">
            <a:avLst/>
          </a:prstGeom>
        </p:spPr>
        <p:txBody>
          <a:bodyPr vert="horz" wrap="square" lIns="0" tIns="0" rIns="0" bIns="0"/>
          <a:p>
            <a:pPr algn="l" rtl="0" eaLnBrk="0">
              <a:lnSpc>
                <a:spcPct val="89000"/>
              </a:lnSpc>
            </a:pPr>
            <a:endParaRPr lang="en-US" altLang="en-US" sz="100" dirty="0"/>
          </a:p>
          <a:p>
            <a:pPr marL="245745" indent="-233680" algn="l" rtl="0" eaLnBrk="0">
              <a:lnSpc>
                <a:spcPct val="92000"/>
              </a:lnSpc>
            </a:pPr>
            <a:r>
              <a:rPr sz="2400" kern="0" spc="0" dirty="0">
                <a:solidFill>
                  <a:srgbClr val="000000">
                    <a:alpha val="100000"/>
                  </a:srgbClr>
                </a:solidFill>
                <a:latin typeface="Arial" panose="020B0604020202020204"/>
                <a:ea typeface="Arial" panose="020B0604020202020204"/>
                <a:cs typeface="Arial" panose="020B0604020202020204"/>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以往密码分析员是语言天才，而Enigma是机械</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装置，波兰总参二局密码</a:t>
            </a:r>
            <a:r>
              <a:rPr sz="24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处考虑：具有科学头脑的人破译</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它。</a:t>
            </a:r>
            <a:endParaRPr lang="en-US" altLang="en-US" sz="2400" dirty="0"/>
          </a:p>
          <a:p>
            <a:pPr marL="248285" indent="-235585" algn="l" rtl="0" eaLnBrk="0">
              <a:lnSpc>
                <a:spcPct val="92000"/>
              </a:lnSpc>
              <a:spcBef>
                <a:spcPts val="375"/>
              </a:spcBef>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550" dirty="0">
                <a:solidFill>
                  <a:srgbClr val="000000">
                    <a:alpha val="100000"/>
                  </a:srgbClr>
                </a:solidFill>
                <a:latin typeface="Arial" panose="020B0604020202020204"/>
                <a:ea typeface="Arial" panose="020B0604020202020204"/>
                <a:cs typeface="Arial" panose="020B0604020202020204"/>
              </a:rPr>
              <a:t> </a:t>
            </a:r>
            <a:r>
              <a:rPr sz="2400" kern="0" spc="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1929年1月，波兹南大学给波兰总参二局开列了一张系里最优秀的</a:t>
            </a:r>
            <a:r>
              <a:rPr sz="2400" kern="0" spc="0" dirty="0">
                <a:ln w="8717"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数</a:t>
            </a:r>
            <a:r>
              <a:rPr sz="2400" kern="0" spc="-10" dirty="0">
                <a:ln w="8717"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学</a:t>
            </a:r>
            <a:r>
              <a:rPr sz="2400" kern="0" spc="0" dirty="0">
                <a:solidFill>
                  <a:srgbClr val="FF0000">
                    <a:alpha val="100000"/>
                  </a:srgbClr>
                </a:solidFill>
                <a:latin typeface="仿宋" panose="02010609060101010101" charset="-122"/>
                <a:ea typeface="仿宋" panose="02010609060101010101" charset="-122"/>
                <a:cs typeface="仿宋" panose="02010609060101010101" charset="-122"/>
              </a:rPr>
              <a:t>  </a:t>
            </a:r>
            <a:r>
              <a:rPr sz="2400" kern="0" spc="0" dirty="0">
                <a:ln w="8708"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家</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名单，名单上有后来密码研究的“波兰三杰</a:t>
            </a:r>
            <a:r>
              <a:rPr sz="2400" kern="0" spc="-81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400" dirty="0"/>
          </a:p>
        </p:txBody>
      </p:sp>
      <p:pic>
        <p:nvPicPr>
          <p:cNvPr id="2097292" name="picture 364"/>
          <p:cNvPicPr>
            <a:picLocks noChangeAspect="1"/>
          </p:cNvPicPr>
          <p:nvPr/>
        </p:nvPicPr>
        <p:blipFill>
          <a:blip r:embed="rId1"/>
          <a:stretch>
            <a:fillRect/>
          </a:stretch>
        </p:blipFill>
        <p:spPr>
          <a:xfrm rot="21600000">
            <a:off x="7563611" y="3145540"/>
            <a:ext cx="1836359" cy="2285902"/>
          </a:xfrm>
          <a:prstGeom prst="rect">
            <a:avLst/>
          </a:prstGeom>
        </p:spPr>
      </p:pic>
      <p:pic>
        <p:nvPicPr>
          <p:cNvPr id="2097293" name="picture 366"/>
          <p:cNvPicPr>
            <a:picLocks noChangeAspect="1"/>
          </p:cNvPicPr>
          <p:nvPr/>
        </p:nvPicPr>
        <p:blipFill>
          <a:blip r:embed="rId2"/>
          <a:stretch>
            <a:fillRect/>
          </a:stretch>
        </p:blipFill>
        <p:spPr>
          <a:xfrm rot="21600000">
            <a:off x="1946147" y="3200465"/>
            <a:ext cx="1653675" cy="2203638"/>
          </a:xfrm>
          <a:prstGeom prst="rect">
            <a:avLst/>
          </a:prstGeom>
        </p:spPr>
      </p:pic>
      <p:pic>
        <p:nvPicPr>
          <p:cNvPr id="2097294" name="picture 368"/>
          <p:cNvPicPr>
            <a:picLocks noChangeAspect="1"/>
          </p:cNvPicPr>
          <p:nvPr/>
        </p:nvPicPr>
        <p:blipFill>
          <a:blip r:embed="rId3"/>
          <a:stretch>
            <a:fillRect/>
          </a:stretch>
        </p:blipFill>
        <p:spPr>
          <a:xfrm rot="21600000">
            <a:off x="4876799" y="3183643"/>
            <a:ext cx="1474975" cy="2209792"/>
          </a:xfrm>
          <a:prstGeom prst="rect">
            <a:avLst/>
          </a:prstGeom>
        </p:spPr>
      </p:pic>
      <p:sp>
        <p:nvSpPr>
          <p:cNvPr id="1049272" name="textbox 370"/>
          <p:cNvSpPr/>
          <p:nvPr/>
        </p:nvSpPr>
        <p:spPr>
          <a:xfrm>
            <a:off x="1561690" y="489305"/>
            <a:ext cx="2343785" cy="476250"/>
          </a:xfrm>
          <a:prstGeom prst="rect">
            <a:avLst/>
          </a:prstGeom>
        </p:spPr>
        <p:txBody>
          <a:bodyPr vert="horz" wrap="square" lIns="0" tIns="0" rIns="0" bIns="0"/>
          <a:p>
            <a:pPr algn="l" rtl="0" eaLnBrk="0">
              <a:lnSpc>
                <a:spcPct val="95000"/>
              </a:lnSpc>
            </a:pPr>
            <a:endParaRPr lang="en-US" altLang="en-US" sz="100" dirty="0"/>
          </a:p>
          <a:p>
            <a:pPr marL="12700" algn="l" rtl="0" eaLnBrk="0">
              <a:lnSpc>
                <a:spcPct val="92000"/>
              </a:lnSpc>
            </a:pPr>
            <a:r>
              <a:rPr sz="3200" kern="0" spc="2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破译Enigma</a:t>
            </a:r>
            <a:endParaRPr lang="en-US" altLang="en-US" sz="3200" dirty="0"/>
          </a:p>
        </p:txBody>
      </p:sp>
      <p:pic>
        <p:nvPicPr>
          <p:cNvPr id="2097295" name="picture 374"/>
          <p:cNvPicPr>
            <a:picLocks noChangeAspect="1"/>
          </p:cNvPicPr>
          <p:nvPr/>
        </p:nvPicPr>
        <p:blipFill>
          <a:blip r:embed="rId4"/>
          <a:stretch>
            <a:fillRect/>
          </a:stretch>
        </p:blipFill>
        <p:spPr>
          <a:xfrm rot="21600000">
            <a:off x="2408321" y="5565952"/>
            <a:ext cx="87589" cy="86895"/>
          </a:xfrm>
          <a:prstGeom prst="rect">
            <a:avLst/>
          </a:prstGeom>
        </p:spPr>
      </p:pic>
      <p:sp>
        <p:nvSpPr>
          <p:cNvPr id="1049273" name="textbox 376"/>
          <p:cNvSpPr/>
          <p:nvPr/>
        </p:nvSpPr>
        <p:spPr>
          <a:xfrm>
            <a:off x="1386382" y="5433466"/>
            <a:ext cx="2742564" cy="368934"/>
          </a:xfrm>
          <a:prstGeom prst="rect">
            <a:avLst/>
          </a:prstGeom>
        </p:spPr>
        <p:txBody>
          <a:bodyPr vert="horz" wrap="square" lIns="0" tIns="0" rIns="0" bIns="0"/>
          <a:p>
            <a:pPr algn="l" rtl="0" eaLnBrk="0">
              <a:lnSpc>
                <a:spcPct val="81000"/>
              </a:lnSpc>
            </a:pPr>
            <a:endParaRPr lang="en-US" altLang="en-US" sz="100" dirty="0"/>
          </a:p>
          <a:p>
            <a:pPr marL="12700" algn="l" rtl="0" eaLnBrk="0">
              <a:lnSpc>
                <a:spcPct val="94000"/>
              </a:lnSpc>
            </a:pPr>
            <a:r>
              <a:rPr sz="2400" kern="0" spc="-160" dirty="0">
                <a:solidFill>
                  <a:srgbClr val="FF0000">
                    <a:alpha val="100000"/>
                  </a:srgbClr>
                </a:solidFill>
                <a:latin typeface="仿宋" panose="02010609060101010101" charset="-122"/>
                <a:ea typeface="仿宋" panose="02010609060101010101" charset="-122"/>
                <a:cs typeface="仿宋" panose="02010609060101010101" charset="-122"/>
              </a:rPr>
              <a:t>马里安</a:t>
            </a:r>
            <a:r>
              <a:rPr sz="2400" kern="0" spc="-220" dirty="0">
                <a:solidFill>
                  <a:srgbClr val="FF0000">
                    <a:alpha val="100000"/>
                  </a:srgbClr>
                </a:solidFill>
                <a:latin typeface="仿宋" panose="02010609060101010101" charset="-122"/>
                <a:ea typeface="仿宋" panose="02010609060101010101" charset="-122"/>
                <a:cs typeface="仿宋" panose="02010609060101010101" charset="-122"/>
              </a:rPr>
              <a:t> </a:t>
            </a:r>
            <a:r>
              <a:rPr sz="2400" kern="0" spc="-16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kern="0" spc="-91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160" dirty="0">
                <a:solidFill>
                  <a:srgbClr val="FF0000">
                    <a:alpha val="100000"/>
                  </a:srgbClr>
                </a:solidFill>
                <a:latin typeface="仿宋" panose="02010609060101010101" charset="-122"/>
                <a:ea typeface="仿宋" panose="02010609060101010101" charset="-122"/>
                <a:cs typeface="仿宋" panose="02010609060101010101" charset="-122"/>
              </a:rPr>
              <a:t>雷耶夫斯基</a:t>
            </a:r>
            <a:endParaRPr lang="en-US" altLang="en-US" sz="2400" dirty="0"/>
          </a:p>
        </p:txBody>
      </p:sp>
      <p:pic>
        <p:nvPicPr>
          <p:cNvPr id="2097296" name="picture 378"/>
          <p:cNvPicPr>
            <a:picLocks noChangeAspect="1"/>
          </p:cNvPicPr>
          <p:nvPr/>
        </p:nvPicPr>
        <p:blipFill>
          <a:blip r:embed="rId4"/>
          <a:stretch>
            <a:fillRect/>
          </a:stretch>
        </p:blipFill>
        <p:spPr>
          <a:xfrm rot="21600000">
            <a:off x="8199521" y="5565952"/>
            <a:ext cx="87590" cy="86895"/>
          </a:xfrm>
          <a:prstGeom prst="rect">
            <a:avLst/>
          </a:prstGeom>
        </p:spPr>
      </p:pic>
      <p:sp>
        <p:nvSpPr>
          <p:cNvPr id="1049274" name="textbox 380"/>
          <p:cNvSpPr/>
          <p:nvPr/>
        </p:nvSpPr>
        <p:spPr>
          <a:xfrm>
            <a:off x="7187538" y="5433466"/>
            <a:ext cx="2733675" cy="367029"/>
          </a:xfrm>
          <a:prstGeom prst="rect">
            <a:avLst/>
          </a:prstGeom>
        </p:spPr>
        <p:txBody>
          <a:bodyPr vert="horz" wrap="square" lIns="0" tIns="0" rIns="0" bIns="0"/>
          <a:p>
            <a:pPr algn="l" rtl="0" eaLnBrk="0">
              <a:lnSpc>
                <a:spcPct val="89000"/>
              </a:lnSpc>
            </a:pPr>
            <a:endParaRPr lang="en-US" altLang="en-US" sz="100" dirty="0"/>
          </a:p>
          <a:p>
            <a:pPr marL="12700" algn="l" rtl="0" eaLnBrk="0">
              <a:lnSpc>
                <a:spcPct val="93000"/>
              </a:lnSpc>
            </a:pPr>
            <a:r>
              <a:rPr sz="2400" kern="0" spc="-140" dirty="0">
                <a:solidFill>
                  <a:srgbClr val="FF0000">
                    <a:alpha val="100000"/>
                  </a:srgbClr>
                </a:solidFill>
                <a:latin typeface="仿宋" panose="02010609060101010101" charset="-122"/>
                <a:ea typeface="仿宋" panose="02010609060101010101" charset="-122"/>
                <a:cs typeface="仿宋" panose="02010609060101010101" charset="-122"/>
              </a:rPr>
              <a:t>亨里克</a:t>
            </a:r>
            <a:r>
              <a:rPr sz="2400" kern="0" spc="-210" dirty="0">
                <a:solidFill>
                  <a:srgbClr val="FF0000">
                    <a:alpha val="100000"/>
                  </a:srgbClr>
                </a:solidFill>
                <a:latin typeface="仿宋" panose="02010609060101010101" charset="-122"/>
                <a:ea typeface="仿宋" panose="02010609060101010101" charset="-122"/>
                <a:cs typeface="仿宋" panose="02010609060101010101" charset="-122"/>
              </a:rPr>
              <a:t> </a:t>
            </a:r>
            <a:r>
              <a:rPr sz="2400" kern="0" spc="-14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kern="0" spc="-140" dirty="0">
                <a:solidFill>
                  <a:srgbClr val="FF0000">
                    <a:alpha val="100000"/>
                  </a:srgbClr>
                </a:solidFill>
                <a:latin typeface="仿宋" panose="02010609060101010101" charset="-122"/>
                <a:ea typeface="仿宋" panose="02010609060101010101" charset="-122"/>
                <a:cs typeface="仿宋" panose="02010609060101010101" charset="-122"/>
              </a:rPr>
              <a:t>佐加尔斯基</a:t>
            </a:r>
            <a:endParaRPr lang="en-US" altLang="en-US" sz="2400" dirty="0"/>
          </a:p>
        </p:txBody>
      </p:sp>
      <p:pic>
        <p:nvPicPr>
          <p:cNvPr id="2097297" name="picture 382"/>
          <p:cNvPicPr>
            <a:picLocks noChangeAspect="1"/>
          </p:cNvPicPr>
          <p:nvPr/>
        </p:nvPicPr>
        <p:blipFill>
          <a:blip r:embed="rId4"/>
          <a:stretch>
            <a:fillRect/>
          </a:stretch>
        </p:blipFill>
        <p:spPr>
          <a:xfrm rot="21600000">
            <a:off x="5608721" y="5565952"/>
            <a:ext cx="87590" cy="86895"/>
          </a:xfrm>
          <a:prstGeom prst="rect">
            <a:avLst/>
          </a:prstGeom>
        </p:spPr>
      </p:pic>
      <p:sp>
        <p:nvSpPr>
          <p:cNvPr id="1049275" name="textbox 384"/>
          <p:cNvSpPr/>
          <p:nvPr/>
        </p:nvSpPr>
        <p:spPr>
          <a:xfrm>
            <a:off x="4580940" y="5433466"/>
            <a:ext cx="2139314" cy="367029"/>
          </a:xfrm>
          <a:prstGeom prst="rect">
            <a:avLst/>
          </a:prstGeom>
        </p:spPr>
        <p:txBody>
          <a:bodyPr vert="horz" wrap="square" lIns="0" tIns="0" rIns="0" bIns="0"/>
          <a:p>
            <a:pPr algn="l" rtl="0" eaLnBrk="0">
              <a:lnSpc>
                <a:spcPct val="89000"/>
              </a:lnSpc>
            </a:pPr>
            <a:endParaRPr lang="en-US" altLang="en-US" sz="100" dirty="0"/>
          </a:p>
          <a:p>
            <a:pPr marL="12700" algn="l" rtl="0" eaLnBrk="0">
              <a:lnSpc>
                <a:spcPct val="93000"/>
              </a:lnSpc>
            </a:pPr>
            <a:r>
              <a:rPr sz="2400" kern="0" spc="-180" dirty="0">
                <a:solidFill>
                  <a:srgbClr val="FF0000">
                    <a:alpha val="100000"/>
                  </a:srgbClr>
                </a:solidFill>
                <a:latin typeface="仿宋" panose="02010609060101010101" charset="-122"/>
                <a:ea typeface="仿宋" panose="02010609060101010101" charset="-122"/>
                <a:cs typeface="仿宋" panose="02010609060101010101" charset="-122"/>
              </a:rPr>
              <a:t>杰尔兹</a:t>
            </a:r>
            <a:r>
              <a:rPr sz="2400" kern="0" spc="-270" dirty="0">
                <a:solidFill>
                  <a:srgbClr val="FF0000">
                    <a:alpha val="100000"/>
                  </a:srgbClr>
                </a:solidFill>
                <a:latin typeface="仿宋" panose="02010609060101010101" charset="-122"/>
                <a:ea typeface="仿宋" panose="02010609060101010101" charset="-122"/>
                <a:cs typeface="仿宋" panose="02010609060101010101" charset="-122"/>
              </a:rPr>
              <a:t> </a:t>
            </a:r>
            <a:r>
              <a:rPr sz="2400" kern="0" spc="-18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kern="0" spc="-97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180" dirty="0">
                <a:solidFill>
                  <a:srgbClr val="FF0000">
                    <a:alpha val="100000"/>
                  </a:srgbClr>
                </a:solidFill>
                <a:latin typeface="仿宋" panose="02010609060101010101" charset="-122"/>
                <a:ea typeface="仿宋" panose="02010609060101010101" charset="-122"/>
                <a:cs typeface="仿宋" panose="02010609060101010101" charset="-122"/>
              </a:rPr>
              <a:t>罗佐基</a:t>
            </a:r>
            <a:endParaRPr lang="en-US" altLang="en-US" sz="2400" dirty="0"/>
          </a:p>
        </p:txBody>
      </p:sp>
      <p:sp>
        <p:nvSpPr>
          <p:cNvPr id="1049276"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298" name="picture 388"/>
          <p:cNvPicPr>
            <a:picLocks noChangeAspect="1"/>
          </p:cNvPicPr>
          <p:nvPr/>
        </p:nvPicPr>
        <p:blipFill>
          <a:blip r:embed="rId5"/>
          <a:stretch>
            <a:fillRect/>
          </a:stretch>
        </p:blipFill>
        <p:spPr>
          <a:xfrm rot="21600000">
            <a:off x="824483" y="408431"/>
            <a:ext cx="419100" cy="655320"/>
          </a:xfrm>
          <a:prstGeom prst="rect">
            <a:avLst/>
          </a:prstGeom>
        </p:spPr>
      </p:pic>
      <p:sp>
        <p:nvSpPr>
          <p:cNvPr id="1049277"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266" name=""/>
        <p:cNvGrpSpPr/>
        <p:nvPr/>
      </p:nvGrpSpPr>
      <p:grpSpPr>
        <a:xfrm>
          <a:off x="0" y="0"/>
          <a:ext cx="0" cy="0"/>
          <a:chOff x="0" y="0"/>
          <a:chExt cx="0" cy="0"/>
        </a:xfrm>
      </p:grpSpPr>
      <p:pic>
        <p:nvPicPr>
          <p:cNvPr id="2097299" name="picture 392"/>
          <p:cNvPicPr>
            <a:picLocks noChangeAspect="1"/>
          </p:cNvPicPr>
          <p:nvPr/>
        </p:nvPicPr>
        <p:blipFill>
          <a:blip r:embed="rId1"/>
          <a:stretch>
            <a:fillRect/>
          </a:stretch>
        </p:blipFill>
        <p:spPr>
          <a:xfrm rot="21600000">
            <a:off x="6096000" y="2577083"/>
            <a:ext cx="4038600" cy="3179064"/>
          </a:xfrm>
          <a:prstGeom prst="rect">
            <a:avLst/>
          </a:prstGeom>
        </p:spPr>
      </p:pic>
      <p:pic>
        <p:nvPicPr>
          <p:cNvPr id="2097300" name="picture 394"/>
          <p:cNvPicPr>
            <a:picLocks noChangeAspect="1"/>
          </p:cNvPicPr>
          <p:nvPr/>
        </p:nvPicPr>
        <p:blipFill>
          <a:blip r:embed="rId2"/>
          <a:stretch>
            <a:fillRect/>
          </a:stretch>
        </p:blipFill>
        <p:spPr>
          <a:xfrm rot="21600000">
            <a:off x="1905000" y="3038855"/>
            <a:ext cx="3429000" cy="2819400"/>
          </a:xfrm>
          <a:prstGeom prst="rect">
            <a:avLst/>
          </a:prstGeom>
        </p:spPr>
      </p:pic>
      <p:sp>
        <p:nvSpPr>
          <p:cNvPr id="1049278" name="textbox 396"/>
          <p:cNvSpPr/>
          <p:nvPr/>
        </p:nvSpPr>
        <p:spPr>
          <a:xfrm>
            <a:off x="1378989" y="1518442"/>
            <a:ext cx="9500869" cy="447675"/>
          </a:xfrm>
          <a:prstGeom prst="rect">
            <a:avLst/>
          </a:prstGeom>
        </p:spPr>
        <p:txBody>
          <a:bodyPr vert="horz" wrap="square" lIns="0" tIns="0" rIns="0" bIns="0"/>
          <a:p>
            <a:pPr algn="l" rtl="0" eaLnBrk="0">
              <a:lnSpc>
                <a:spcPct val="83000"/>
              </a:lnSpc>
            </a:pPr>
            <a:endParaRPr lang="en-US" altLang="en-US" sz="100" dirty="0"/>
          </a:p>
          <a:p>
            <a:pPr algn="r" rtl="0" eaLnBrk="0">
              <a:lnSpc>
                <a:spcPts val="3320"/>
              </a:lnSpc>
            </a:pPr>
            <a:r>
              <a:rPr sz="2700" kern="0" spc="10" dirty="0">
                <a:solidFill>
                  <a:srgbClr val="000000">
                    <a:alpha val="100000"/>
                  </a:srgbClr>
                </a:solidFill>
                <a:latin typeface="Arial" panose="020B0604020202020204"/>
                <a:ea typeface="Arial" panose="020B0604020202020204"/>
                <a:cs typeface="Arial" panose="020B0604020202020204"/>
              </a:rPr>
              <a:t>•</a:t>
            </a:r>
            <a:r>
              <a:rPr sz="2700" kern="0" spc="320" dirty="0">
                <a:solidFill>
                  <a:srgbClr val="000000">
                    <a:alpha val="100000"/>
                  </a:srgbClr>
                </a:solidFill>
                <a:latin typeface="Arial" panose="020B0604020202020204"/>
                <a:ea typeface="Arial" panose="020B0604020202020204"/>
                <a:cs typeface="Arial" panose="020B0604020202020204"/>
              </a:rPr>
              <a:t> </a:t>
            </a:r>
            <a:r>
              <a:rPr sz="2700" kern="0" spc="1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波兰三杰设计自动机械计算机</a:t>
            </a:r>
            <a:r>
              <a:rPr sz="27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1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r>
              <a:rPr sz="2700" kern="0" spc="-102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1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密码炸弹</a:t>
            </a:r>
            <a:r>
              <a:rPr sz="2700" kern="0" spc="-95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1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Bomba</a:t>
            </a:r>
            <a:r>
              <a:rPr sz="27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1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700" dirty="0"/>
          </a:p>
        </p:txBody>
      </p:sp>
      <p:sp>
        <p:nvSpPr>
          <p:cNvPr id="1049279" name="textbox 398"/>
          <p:cNvSpPr/>
          <p:nvPr/>
        </p:nvSpPr>
        <p:spPr>
          <a:xfrm>
            <a:off x="811783" y="395731"/>
            <a:ext cx="3093720" cy="724534"/>
          </a:xfrm>
          <a:prstGeom prst="rect">
            <a:avLst/>
          </a:prstGeom>
        </p:spPr>
        <p:txBody>
          <a:bodyPr vert="horz" wrap="square" lIns="0" tIns="0" rIns="0" bIns="0"/>
          <a:p>
            <a:pPr algn="l" rtl="0" eaLnBrk="0">
              <a:lnSpc>
                <a:spcPct val="101000"/>
              </a:lnSpc>
            </a:pPr>
            <a:endParaRPr lang="en-US" altLang="en-US" sz="700" dirty="0"/>
          </a:p>
          <a:p>
            <a:pPr marL="431800" algn="l" rtl="0" eaLnBrk="0">
              <a:lnSpc>
                <a:spcPct val="92000"/>
              </a:lnSpc>
              <a:spcBef>
                <a:spcPts val="5"/>
              </a:spcBef>
              <a:tabLst>
                <a:tab pos="762000" algn="l"/>
              </a:tabLst>
            </a:pPr>
            <a:r>
              <a:rPr sz="3200" kern="0" spc="0" dirty="0">
                <a:solidFill>
                  <a:srgbClr val="1F4E79">
                    <a:alpha val="100000"/>
                  </a:srgbClr>
                </a:solidFill>
                <a:latin typeface="宋体" panose="02010600030101010101" pitchFamily="2" charset="-122"/>
                <a:ea typeface="宋体" panose="02010600030101010101" pitchFamily="2" charset="-122"/>
                <a:cs typeface="宋体" panose="02010600030101010101" pitchFamily="2" charset="-122"/>
              </a:rPr>
              <a:t>	</a:t>
            </a:r>
            <a:r>
              <a:rPr sz="3200" kern="0" spc="280" dirty="0">
                <a:solidFill>
                  <a:srgbClr val="1F4E79">
                    <a:alpha val="100000"/>
                  </a:srgbClr>
                </a:solidFill>
                <a:latin typeface="宋体" panose="02010600030101010101" pitchFamily="2" charset="-122"/>
                <a:ea typeface="宋体" panose="02010600030101010101" pitchFamily="2" charset="-122"/>
                <a:cs typeface="宋体" panose="02010600030101010101" pitchFamily="2" charset="-122"/>
              </a:rPr>
              <a:t>破译Enigma</a:t>
            </a:r>
            <a:endParaRPr lang="en-US" altLang="en-US" sz="3200" dirty="0"/>
          </a:p>
        </p:txBody>
      </p:sp>
      <p:pic>
        <p:nvPicPr>
          <p:cNvPr id="2097301" name="picture 400"/>
          <p:cNvPicPr>
            <a:picLocks noChangeAspect="1"/>
          </p:cNvPicPr>
          <p:nvPr/>
        </p:nvPicPr>
        <p:blipFill>
          <a:blip r:embed="rId3"/>
          <a:stretch>
            <a:fillRect/>
          </a:stretch>
        </p:blipFill>
        <p:spPr>
          <a:xfrm rot="21600000">
            <a:off x="824483" y="408431"/>
            <a:ext cx="419100" cy="655320"/>
          </a:xfrm>
          <a:prstGeom prst="rect">
            <a:avLst/>
          </a:prstGeom>
        </p:spPr>
      </p:pic>
      <p:sp>
        <p:nvSpPr>
          <p:cNvPr id="1049280"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
        <p:nvSpPr>
          <p:cNvPr id="1049281" name="rect"/>
          <p:cNvSpPr/>
          <p:nvPr/>
        </p:nvSpPr>
        <p:spPr>
          <a:xfrm>
            <a:off x="1465326" y="1019555"/>
            <a:ext cx="9037573" cy="28956"/>
          </a:xfrm>
          <a:prstGeom prst="rect">
            <a:avLst/>
          </a:prstGeom>
          <a:solidFill>
            <a:srgbClr val="5B9BD5">
              <a:alpha val="100000"/>
            </a:srgbClr>
          </a:solidFill>
          <a:ln cap="flat">
            <a:noFill/>
            <a:prstDash val="solid"/>
            <a:miter lim="0"/>
          </a:ln>
        </p:spPr>
        <p:txBody>
          <a:bodyPr rtlCol="0"/>
          <a:p>
            <a:pPr algn="ctr"/>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267" name=""/>
        <p:cNvGrpSpPr/>
        <p:nvPr/>
      </p:nvGrpSpPr>
      <p:grpSpPr>
        <a:xfrm>
          <a:off x="0" y="0"/>
          <a:ext cx="0" cy="0"/>
          <a:chOff x="0" y="0"/>
          <a:chExt cx="0" cy="0"/>
        </a:xfrm>
      </p:grpSpPr>
      <p:sp>
        <p:nvSpPr>
          <p:cNvPr id="1049282" name="textbox 408"/>
          <p:cNvSpPr/>
          <p:nvPr/>
        </p:nvSpPr>
        <p:spPr>
          <a:xfrm>
            <a:off x="1376324" y="1566214"/>
            <a:ext cx="9740265" cy="3258820"/>
          </a:xfrm>
          <a:prstGeom prst="rect">
            <a:avLst/>
          </a:prstGeom>
        </p:spPr>
        <p:txBody>
          <a:bodyPr vert="horz" wrap="square" lIns="0" tIns="0" rIns="0" bIns="0"/>
          <a:p>
            <a:pPr algn="l" rtl="0" eaLnBrk="0">
              <a:lnSpc>
                <a:spcPct val="105000"/>
              </a:lnSpc>
            </a:pPr>
            <a:endParaRPr lang="en-US" altLang="en-US" sz="100" dirty="0"/>
          </a:p>
          <a:p>
            <a:pPr marL="260350" indent="-247650" algn="l" rtl="0" eaLnBrk="0">
              <a:lnSpc>
                <a:spcPct val="106000"/>
              </a:lnSpc>
              <a:spcBef>
                <a:spcPts val="0"/>
              </a:spcBef>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470" dirty="0">
                <a:solidFill>
                  <a:srgbClr val="000000">
                    <a:alpha val="100000"/>
                  </a:srgbClr>
                </a:solidFill>
                <a:latin typeface="Arial" panose="020B0604020202020204"/>
                <a:ea typeface="Arial" panose="020B0604020202020204"/>
                <a:cs typeface="Arial" panose="020B0604020202020204"/>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在1933年1月到</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1939年1月这六年，波兰方面一共破译了近十万条德方消</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息，最重要的有德国在包括苏台德地区兵力重新部署的情报</a:t>
            </a:r>
            <a:endParaRPr lang="en-US" altLang="en-US" sz="2400" dirty="0"/>
          </a:p>
          <a:p>
            <a:pPr marL="12700" algn="l" rtl="0" eaLnBrk="0">
              <a:lnSpc>
                <a:spcPct val="99000"/>
              </a:lnSpc>
              <a:spcBef>
                <a:spcPts val="1285"/>
              </a:spcBef>
            </a:pPr>
            <a:r>
              <a:rPr sz="2400" kern="0" spc="-50" dirty="0">
                <a:solidFill>
                  <a:srgbClr val="000000">
                    <a:alpha val="100000"/>
                  </a:srgbClr>
                </a:solidFill>
                <a:latin typeface="Arial" panose="020B0604020202020204"/>
                <a:ea typeface="Arial" panose="020B0604020202020204"/>
                <a:cs typeface="Arial" panose="020B0604020202020204"/>
              </a:rPr>
              <a:t>•</a:t>
            </a:r>
            <a:r>
              <a:rPr sz="2400" kern="0" spc="560" dirty="0">
                <a:solidFill>
                  <a:srgbClr val="000000">
                    <a:alpha val="100000"/>
                  </a:srgbClr>
                </a:solidFill>
                <a:latin typeface="Arial" panose="020B0604020202020204"/>
                <a:ea typeface="Arial" panose="020B0604020202020204"/>
                <a:cs typeface="Arial" panose="020B0604020202020204"/>
              </a:rPr>
              <a:t> </a:t>
            </a:r>
            <a:r>
              <a:rPr sz="2400" kern="0" spc="-5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德国人1939年1月加强了密码机的安全性能，但是波兰人的实践表明：</a:t>
            </a:r>
            <a:endParaRPr lang="en-US" altLang="en-US" sz="2400" dirty="0"/>
          </a:p>
          <a:p>
            <a:pPr marL="400685" algn="l" rtl="0" eaLnBrk="0">
              <a:lnSpc>
                <a:spcPct val="91000"/>
              </a:lnSpc>
              <a:spcBef>
                <a:spcPts val="1110"/>
              </a:spcBef>
            </a:pPr>
            <a:r>
              <a:rPr sz="2400" kern="0" spc="-4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r>
              <a:rPr sz="2400" kern="0" spc="-4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4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Enigma决</a:t>
            </a:r>
            <a:r>
              <a:rPr sz="2400" kern="0" spc="-5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非坚不可破</a:t>
            </a:r>
            <a:endParaRPr lang="en-US" altLang="en-US" sz="2400" dirty="0"/>
          </a:p>
          <a:p>
            <a:pPr marL="400685" algn="l" rtl="0" eaLnBrk="0">
              <a:lnSpc>
                <a:spcPct val="93000"/>
              </a:lnSpc>
              <a:spcBef>
                <a:spcPts val="1325"/>
              </a:spcBef>
            </a:pPr>
            <a:r>
              <a:rPr sz="2400" kern="0" spc="-12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r>
              <a:rPr sz="2400" kern="0" spc="-12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2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数学家在密码分析中的重要作用。</a:t>
            </a:r>
            <a:endParaRPr lang="en-US" altLang="en-US" sz="2400" dirty="0"/>
          </a:p>
          <a:p>
            <a:pPr algn="l" rtl="0" eaLnBrk="0">
              <a:lnSpc>
                <a:spcPct val="107000"/>
              </a:lnSpc>
            </a:pPr>
            <a:endParaRPr lang="en-US" altLang="en-US" sz="1000" dirty="0"/>
          </a:p>
          <a:p>
            <a:pPr algn="l" rtl="0" eaLnBrk="0">
              <a:lnSpc>
                <a:spcPct val="7000"/>
              </a:lnSpc>
            </a:pPr>
            <a:endParaRPr lang="en-US" altLang="en-US" sz="100" dirty="0"/>
          </a:p>
          <a:p>
            <a:pPr marL="243840" indent="-231140" algn="l" rtl="0" eaLnBrk="0">
              <a:lnSpc>
                <a:spcPct val="107000"/>
              </a:lnSpc>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450" dirty="0">
                <a:solidFill>
                  <a:srgbClr val="000000">
                    <a:alpha val="100000"/>
                  </a:srgbClr>
                </a:solidFill>
                <a:latin typeface="Arial" panose="020B0604020202020204"/>
                <a:ea typeface="Arial" panose="020B0604020202020204"/>
                <a:cs typeface="Arial" panose="020B0604020202020204"/>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英国密码局（40</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局）以往都是精于文字的语言学家或作家，此后40局开</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始向牛津、剑桥招聘数学家和数学系学生</a:t>
            </a:r>
            <a:endParaRPr lang="en-US" altLang="en-US" sz="2400" dirty="0"/>
          </a:p>
        </p:txBody>
      </p:sp>
      <p:sp>
        <p:nvSpPr>
          <p:cNvPr id="1049283" name="textbox 410"/>
          <p:cNvSpPr/>
          <p:nvPr/>
        </p:nvSpPr>
        <p:spPr>
          <a:xfrm>
            <a:off x="1561690" y="489305"/>
            <a:ext cx="2343785" cy="476250"/>
          </a:xfrm>
          <a:prstGeom prst="rect">
            <a:avLst/>
          </a:prstGeom>
        </p:spPr>
        <p:txBody>
          <a:bodyPr vert="horz" wrap="square" lIns="0" tIns="0" rIns="0" bIns="0"/>
          <a:p>
            <a:pPr algn="l" rtl="0" eaLnBrk="0">
              <a:lnSpc>
                <a:spcPct val="95000"/>
              </a:lnSpc>
            </a:pPr>
            <a:endParaRPr lang="en-US" altLang="en-US" sz="100" dirty="0"/>
          </a:p>
          <a:p>
            <a:pPr marL="12700" algn="l" rtl="0" eaLnBrk="0">
              <a:lnSpc>
                <a:spcPct val="92000"/>
              </a:lnSpc>
            </a:pPr>
            <a:r>
              <a:rPr sz="3200" kern="0" spc="280" dirty="0">
                <a:solidFill>
                  <a:srgbClr val="1F4E79">
                    <a:alpha val="100000"/>
                  </a:srgbClr>
                </a:solidFill>
                <a:latin typeface="宋体" panose="02010600030101010101" pitchFamily="2" charset="-122"/>
                <a:ea typeface="宋体" panose="02010600030101010101" pitchFamily="2" charset="-122"/>
                <a:cs typeface="宋体" panose="02010600030101010101" pitchFamily="2" charset="-122"/>
              </a:rPr>
              <a:t>破译Enigma</a:t>
            </a:r>
            <a:endParaRPr lang="en-US" altLang="en-US" sz="3200" dirty="0"/>
          </a:p>
        </p:txBody>
      </p:sp>
      <p:sp>
        <p:nvSpPr>
          <p:cNvPr id="1049284"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02" name="picture 416"/>
          <p:cNvPicPr>
            <a:picLocks noChangeAspect="1"/>
          </p:cNvPicPr>
          <p:nvPr/>
        </p:nvPicPr>
        <p:blipFill>
          <a:blip r:embed="rId1"/>
          <a:stretch>
            <a:fillRect/>
          </a:stretch>
        </p:blipFill>
        <p:spPr>
          <a:xfrm rot="21600000">
            <a:off x="824483" y="408431"/>
            <a:ext cx="419100" cy="655320"/>
          </a:xfrm>
          <a:prstGeom prst="rect">
            <a:avLst/>
          </a:prstGeom>
        </p:spPr>
      </p:pic>
      <p:sp>
        <p:nvSpPr>
          <p:cNvPr id="1049285"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268" name=""/>
        <p:cNvGrpSpPr/>
        <p:nvPr/>
      </p:nvGrpSpPr>
      <p:grpSpPr>
        <a:xfrm>
          <a:off x="0" y="0"/>
          <a:ext cx="0" cy="0"/>
          <a:chOff x="0" y="0"/>
          <a:chExt cx="0" cy="0"/>
        </a:xfrm>
      </p:grpSpPr>
      <p:sp>
        <p:nvSpPr>
          <p:cNvPr id="1049286" name="rect"/>
          <p:cNvSpPr/>
          <p:nvPr/>
        </p:nvSpPr>
        <p:spPr>
          <a:xfrm>
            <a:off x="588263" y="408432"/>
            <a:ext cx="10460735" cy="608076"/>
          </a:xfrm>
          <a:prstGeom prst="rect">
            <a:avLst/>
          </a:prstGeom>
          <a:solidFill>
            <a:srgbClr val="D4E4F3">
              <a:alpha val="100000"/>
            </a:srgbClr>
          </a:solidFill>
          <a:ln cap="flat">
            <a:noFill/>
            <a:prstDash val="solid"/>
            <a:miter lim="0"/>
          </a:ln>
        </p:spPr>
        <p:txBody>
          <a:bodyPr rtlCol="0"/>
          <a:p>
            <a:pPr algn="ctr"/>
            <a:endParaRPr lang="zh-CN" altLang="en-US"/>
          </a:p>
        </p:txBody>
      </p:sp>
      <p:sp>
        <p:nvSpPr>
          <p:cNvPr id="1049287" name="textbox 4"/>
          <p:cNvSpPr/>
          <p:nvPr/>
        </p:nvSpPr>
        <p:spPr>
          <a:xfrm>
            <a:off x="4183684" y="3207969"/>
            <a:ext cx="3874770" cy="541019"/>
          </a:xfrm>
          <a:prstGeom prst="rect">
            <a:avLst/>
          </a:prstGeom>
        </p:spPr>
        <p:txBody>
          <a:bodyPr vert="horz" wrap="square" lIns="0" tIns="0" rIns="0" bIns="0"/>
          <a:p>
            <a:pPr algn="l" rtl="0" eaLnBrk="0">
              <a:lnSpc>
                <a:spcPct val="80000"/>
              </a:lnSpc>
            </a:pPr>
            <a:endParaRPr lang="en-US" altLang="en-US" sz="100" dirty="0"/>
          </a:p>
          <a:p>
            <a:pPr marL="12700" algn="l" rtl="0" eaLnBrk="0">
              <a:lnSpc>
                <a:spcPct val="94000"/>
              </a:lnSpc>
            </a:pPr>
            <a:r>
              <a:rPr sz="3600" kern="0" spc="-9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第</a:t>
            </a:r>
            <a:r>
              <a:rPr lang="zh-CN" sz="3600" kern="0" spc="-9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四</a:t>
            </a:r>
            <a:r>
              <a:rPr sz="3600" kern="0" spc="-9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讲</a:t>
            </a:r>
            <a:r>
              <a:rPr sz="3600" kern="0" spc="480" dirty="0">
                <a:solidFill>
                  <a:srgbClr val="000000">
                    <a:alpha val="100000"/>
                  </a:srgbClr>
                </a:solidFill>
                <a:latin typeface="仿宋" panose="02010609060101010101" charset="-122"/>
                <a:ea typeface="仿宋" panose="02010609060101010101" charset="-122"/>
                <a:cs typeface="仿宋" panose="02010609060101010101" charset="-122"/>
              </a:rPr>
              <a:t> </a:t>
            </a:r>
            <a:r>
              <a:rPr sz="3600" kern="0" spc="-9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密码分析学</a:t>
            </a:r>
            <a:endParaRPr lang="en-US" altLang="en-US" sz="3600" dirty="0"/>
          </a:p>
        </p:txBody>
      </p:sp>
      <p:sp>
        <p:nvSpPr>
          <p:cNvPr id="1049288"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269" name=""/>
        <p:cNvGrpSpPr/>
        <p:nvPr/>
      </p:nvGrpSpPr>
      <p:grpSpPr>
        <a:xfrm>
          <a:off x="0" y="0"/>
          <a:ext cx="0" cy="0"/>
          <a:chOff x="0" y="0"/>
          <a:chExt cx="0" cy="0"/>
        </a:xfrm>
      </p:grpSpPr>
      <p:pic>
        <p:nvPicPr>
          <p:cNvPr id="2097303" name="picture 14"/>
          <p:cNvPicPr>
            <a:picLocks noChangeAspect="1"/>
          </p:cNvPicPr>
          <p:nvPr/>
        </p:nvPicPr>
        <p:blipFill>
          <a:blip r:embed="rId1"/>
          <a:stretch>
            <a:fillRect/>
          </a:stretch>
        </p:blipFill>
        <p:spPr>
          <a:xfrm rot="21600000">
            <a:off x="4501896" y="2104587"/>
            <a:ext cx="3471672" cy="3654680"/>
          </a:xfrm>
          <a:prstGeom prst="rect">
            <a:avLst/>
          </a:prstGeom>
        </p:spPr>
      </p:pic>
      <p:grpSp>
        <p:nvGrpSpPr>
          <p:cNvPr id="270" name="group 2"/>
          <p:cNvGrpSpPr/>
          <p:nvPr/>
        </p:nvGrpSpPr>
        <p:grpSpPr>
          <a:xfrm rot="21600000">
            <a:off x="5169300" y="2104771"/>
            <a:ext cx="2070588" cy="3658996"/>
            <a:chOff x="0" y="0"/>
            <a:chExt cx="2070588" cy="3658996"/>
          </a:xfrm>
        </p:grpSpPr>
        <p:pic>
          <p:nvPicPr>
            <p:cNvPr id="2097304" name="picture 16"/>
            <p:cNvPicPr>
              <a:picLocks noChangeAspect="1"/>
            </p:cNvPicPr>
            <p:nvPr/>
          </p:nvPicPr>
          <p:blipFill>
            <a:blip r:embed="rId2"/>
            <a:stretch>
              <a:fillRect/>
            </a:stretch>
          </p:blipFill>
          <p:spPr>
            <a:xfrm rot="21600000">
              <a:off x="202799" y="0"/>
              <a:ext cx="1729740" cy="3655872"/>
            </a:xfrm>
            <a:prstGeom prst="rect">
              <a:avLst/>
            </a:prstGeom>
          </p:spPr>
        </p:pic>
        <p:sp>
          <p:nvSpPr>
            <p:cNvPr id="1049289" name="textbox 18"/>
            <p:cNvSpPr/>
            <p:nvPr/>
          </p:nvSpPr>
          <p:spPr>
            <a:xfrm>
              <a:off x="-12700" y="940252"/>
              <a:ext cx="2096135" cy="1513839"/>
            </a:xfrm>
            <a:prstGeom prst="rect">
              <a:avLst/>
            </a:prstGeom>
          </p:spPr>
          <p:txBody>
            <a:bodyPr vert="horz" wrap="square" lIns="0" tIns="0" rIns="0" bIns="0"/>
            <a:p>
              <a:pPr algn="l" rtl="0" eaLnBrk="0">
                <a:lnSpc>
                  <a:spcPct val="91000"/>
                </a:lnSpc>
              </a:pPr>
              <a:endParaRPr lang="en-US" altLang="en-US" sz="100" dirty="0"/>
            </a:p>
            <a:p>
              <a:pPr algn="r" rtl="0" eaLnBrk="0">
                <a:lnSpc>
                  <a:spcPct val="94000"/>
                </a:lnSpc>
              </a:pPr>
              <a:r>
                <a:rPr sz="2000" kern="0" spc="-10" dirty="0">
                  <a:ln w="7271" cap="flat" cmpd="sng">
                    <a:solidFill>
                      <a:srgbClr val="0000FF">
                        <a:alpha val="100000"/>
                      </a:srgbClr>
                    </a:solidFill>
                    <a:prstDash val="solid"/>
                    <a:miter lim="10"/>
                  </a:ln>
                  <a:solidFill>
                    <a:srgbClr val="0000FF">
                      <a:alpha val="100000"/>
                    </a:srgbClr>
                  </a:solidFill>
                  <a:latin typeface="黑体" panose="02010609060101010101" charset="-122"/>
                  <a:ea typeface="黑体" panose="02010609060101010101" charset="-122"/>
                  <a:cs typeface="黑体" panose="02010609060101010101" charset="-122"/>
                </a:rPr>
                <a:t>密码编码学</a:t>
              </a:r>
              <a:endParaRPr lang="en-US" altLang="en-US" sz="2000" dirty="0"/>
            </a:p>
            <a:p>
              <a:pPr algn="l" rtl="0" eaLnBrk="0">
                <a:lnSpc>
                  <a:spcPct val="109000"/>
                </a:lnSpc>
              </a:pPr>
              <a:endParaRPr lang="en-US" altLang="en-US" sz="1000" dirty="0"/>
            </a:p>
            <a:p>
              <a:pPr algn="l" rtl="0" eaLnBrk="0">
                <a:lnSpc>
                  <a:spcPct val="110000"/>
                </a:lnSpc>
              </a:pPr>
              <a:endParaRPr lang="en-US" altLang="en-US" sz="1000" dirty="0"/>
            </a:p>
            <a:p>
              <a:pPr algn="l" rtl="0" eaLnBrk="0">
                <a:lnSpc>
                  <a:spcPct val="110000"/>
                </a:lnSpc>
              </a:pPr>
              <a:endParaRPr lang="en-US" altLang="en-US" sz="1000" dirty="0"/>
            </a:p>
            <a:p>
              <a:pPr algn="l" rtl="0" eaLnBrk="0">
                <a:lnSpc>
                  <a:spcPct val="110000"/>
                </a:lnSpc>
              </a:pPr>
              <a:endParaRPr lang="en-US" altLang="en-US" sz="1000" dirty="0"/>
            </a:p>
            <a:p>
              <a:pPr algn="l" rtl="0" eaLnBrk="0">
                <a:lnSpc>
                  <a:spcPct val="110000"/>
                </a:lnSpc>
              </a:pPr>
              <a:endParaRPr lang="en-US" altLang="en-US" sz="1000" dirty="0"/>
            </a:p>
            <a:p>
              <a:pPr algn="l" rtl="0" eaLnBrk="0">
                <a:lnSpc>
                  <a:spcPct val="101000"/>
                </a:lnSpc>
              </a:pPr>
              <a:endParaRPr lang="en-US" altLang="en-US" sz="500" dirty="0"/>
            </a:p>
            <a:p>
              <a:pPr marL="12700" algn="l" rtl="0" eaLnBrk="0">
                <a:lnSpc>
                  <a:spcPct val="94000"/>
                </a:lnSpc>
                <a:spcBef>
                  <a:spcPts val="0"/>
                </a:spcBef>
              </a:pPr>
              <a:r>
                <a:rPr sz="2000" kern="0" spc="-10" dirty="0">
                  <a:ln w="7271" cap="flat" cmpd="sng">
                    <a:solidFill>
                      <a:srgbClr val="000000">
                        <a:alpha val="100000"/>
                      </a:srgbClr>
                    </a:solidFill>
                    <a:prstDash val="solid"/>
                    <a:miter lim="10"/>
                  </a:ln>
                  <a:solidFill>
                    <a:srgbClr val="000000">
                      <a:alpha val="100000"/>
                    </a:srgbClr>
                  </a:solidFill>
                  <a:latin typeface="黑体" panose="02010609060101010101" charset="-122"/>
                  <a:ea typeface="黑体" panose="02010609060101010101" charset="-122"/>
                  <a:cs typeface="黑体" panose="02010609060101010101" charset="-122"/>
                </a:rPr>
                <a:t>密码分析学</a:t>
              </a:r>
              <a:endParaRPr lang="en-US" altLang="en-US" sz="2000" dirty="0"/>
            </a:p>
          </p:txBody>
        </p:sp>
        <p:pic>
          <p:nvPicPr>
            <p:cNvPr id="2097305" name="picture 20"/>
            <p:cNvPicPr>
              <a:picLocks noChangeAspect="1"/>
            </p:cNvPicPr>
            <p:nvPr/>
          </p:nvPicPr>
          <p:blipFill>
            <a:blip r:embed="rId3"/>
            <a:stretch>
              <a:fillRect/>
            </a:stretch>
          </p:blipFill>
          <p:spPr>
            <a:xfrm rot="21600000">
              <a:off x="1017777" y="223"/>
              <a:ext cx="269836" cy="76611"/>
            </a:xfrm>
            <a:prstGeom prst="rect">
              <a:avLst/>
            </a:prstGeom>
          </p:spPr>
        </p:pic>
        <p:sp>
          <p:nvSpPr>
            <p:cNvPr id="1049290" name="path"/>
            <p:cNvSpPr/>
            <p:nvPr/>
          </p:nvSpPr>
          <p:spPr>
            <a:xfrm>
              <a:off x="806049" y="3591039"/>
              <a:ext cx="320547" cy="67957"/>
            </a:xfrm>
            <a:custGeom>
              <a:avLst/>
              <a:gdLst/>
              <a:ahLst/>
              <a:cxnLst/>
              <a:rect l="0" t="0" r="0" b="0"/>
              <a:pathLst>
                <a:path w="504" h="107">
                  <a:moveTo>
                    <a:pt x="459" y="45"/>
                  </a:moveTo>
                  <a:cubicBezTo>
                    <a:pt x="390" y="56"/>
                    <a:pt x="321" y="61"/>
                    <a:pt x="252" y="61"/>
                  </a:cubicBezTo>
                  <a:cubicBezTo>
                    <a:pt x="183" y="61"/>
                    <a:pt x="114" y="56"/>
                    <a:pt x="45" y="45"/>
                  </a:cubicBezTo>
                  <a:cubicBezTo>
                    <a:pt x="114" y="56"/>
                    <a:pt x="183" y="61"/>
                    <a:pt x="252" y="61"/>
                  </a:cubicBezTo>
                  <a:cubicBezTo>
                    <a:pt x="321" y="61"/>
                    <a:pt x="390" y="56"/>
                    <a:pt x="459" y="45"/>
                  </a:cubicBezTo>
                </a:path>
              </a:pathLst>
            </a:custGeom>
            <a:noFill/>
            <a:ln w="57911" cap="flat">
              <a:solidFill>
                <a:srgbClr val="FFFF00">
                  <a:alpha val="100000"/>
                </a:srgbClr>
              </a:solidFill>
              <a:prstDash val="solid"/>
              <a:miter lim="1000000"/>
            </a:ln>
          </p:spPr>
          <p:txBody>
            <a:bodyPr rtlCol="0"/>
            <a:p>
              <a:pPr algn="ctr"/>
              <a:endParaRPr lang="zh-CN" altLang="en-US"/>
            </a:p>
          </p:txBody>
        </p:sp>
      </p:grpSp>
      <p:pic>
        <p:nvPicPr>
          <p:cNvPr id="2097306" name="picture 24"/>
          <p:cNvPicPr>
            <a:picLocks noChangeAspect="1"/>
          </p:cNvPicPr>
          <p:nvPr/>
        </p:nvPicPr>
        <p:blipFill>
          <a:blip r:embed="rId4"/>
          <a:stretch>
            <a:fillRect/>
          </a:stretch>
        </p:blipFill>
        <p:spPr>
          <a:xfrm rot="21600000">
            <a:off x="7789926" y="2272283"/>
            <a:ext cx="797800" cy="3323056"/>
          </a:xfrm>
          <a:prstGeom prst="rect">
            <a:avLst/>
          </a:prstGeom>
        </p:spPr>
      </p:pic>
      <p:pic>
        <p:nvPicPr>
          <p:cNvPr id="2097307" name="picture 26"/>
          <p:cNvPicPr>
            <a:picLocks noChangeAspect="1"/>
          </p:cNvPicPr>
          <p:nvPr/>
        </p:nvPicPr>
        <p:blipFill>
          <a:blip r:embed="rId5"/>
          <a:stretch>
            <a:fillRect/>
          </a:stretch>
        </p:blipFill>
        <p:spPr>
          <a:xfrm rot="21600000">
            <a:off x="3901439" y="2205355"/>
            <a:ext cx="811276" cy="3251326"/>
          </a:xfrm>
          <a:prstGeom prst="rect">
            <a:avLst/>
          </a:prstGeom>
        </p:spPr>
      </p:pic>
      <p:sp>
        <p:nvSpPr>
          <p:cNvPr id="1049291" name="textbox 28"/>
          <p:cNvSpPr/>
          <p:nvPr/>
        </p:nvSpPr>
        <p:spPr>
          <a:xfrm>
            <a:off x="1851954" y="1514750"/>
            <a:ext cx="5939790" cy="450215"/>
          </a:xfrm>
          <a:prstGeom prst="rect">
            <a:avLst/>
          </a:prstGeom>
        </p:spPr>
        <p:txBody>
          <a:bodyPr vert="horz" wrap="square" lIns="0" tIns="0" rIns="0" bIns="0"/>
          <a:p>
            <a:pPr algn="l" rtl="0" eaLnBrk="0">
              <a:lnSpc>
                <a:spcPct val="83000"/>
              </a:lnSpc>
            </a:pPr>
            <a:endParaRPr lang="en-US" altLang="en-US" sz="100" dirty="0"/>
          </a:p>
          <a:p>
            <a:pPr marL="12700" algn="l" rtl="0" eaLnBrk="0">
              <a:lnSpc>
                <a:spcPts val="3345"/>
              </a:lnSpc>
            </a:pPr>
            <a:r>
              <a:rPr sz="2700" kern="0" spc="70" dirty="0">
                <a:solidFill>
                  <a:srgbClr val="000000">
                    <a:alpha val="100000"/>
                  </a:srgbClr>
                </a:solidFill>
                <a:latin typeface="Arial" panose="020B0604020202020204"/>
                <a:ea typeface="Arial" panose="020B0604020202020204"/>
                <a:cs typeface="Arial" panose="020B0604020202020204"/>
              </a:rPr>
              <a:t>•</a:t>
            </a:r>
            <a:r>
              <a:rPr sz="2700" kern="0" spc="460" dirty="0">
                <a:solidFill>
                  <a:srgbClr val="000000">
                    <a:alpha val="100000"/>
                  </a:srgbClr>
                </a:solidFill>
                <a:latin typeface="Arial" panose="020B0604020202020204"/>
                <a:ea typeface="Arial" panose="020B0604020202020204"/>
                <a:cs typeface="Arial" panose="020B0604020202020204"/>
              </a:rPr>
              <a:t> </a:t>
            </a:r>
            <a:r>
              <a:rPr sz="2700" kern="0" spc="7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两个分支形成既对立又统一的矛盾体</a:t>
            </a:r>
            <a:endParaRPr lang="en-US" altLang="en-US" sz="2700" dirty="0"/>
          </a:p>
        </p:txBody>
      </p:sp>
      <p:sp>
        <p:nvSpPr>
          <p:cNvPr id="1049292" name="textbox 30"/>
          <p:cNvSpPr/>
          <p:nvPr/>
        </p:nvSpPr>
        <p:spPr>
          <a:xfrm>
            <a:off x="1650602" y="504921"/>
            <a:ext cx="2831464" cy="485775"/>
          </a:xfrm>
          <a:prstGeom prst="rect">
            <a:avLst/>
          </a:prstGeom>
        </p:spPr>
        <p:txBody>
          <a:bodyPr vert="horz" wrap="square" lIns="0" tIns="0" rIns="0" bIns="0"/>
          <a:p>
            <a:pPr algn="l" rtl="0" eaLnBrk="0">
              <a:lnSpc>
                <a:spcPct val="94000"/>
              </a:lnSpc>
            </a:pPr>
            <a:endParaRPr lang="en-US" altLang="en-US" sz="100" dirty="0"/>
          </a:p>
          <a:p>
            <a:pPr marL="12700" algn="l" rtl="0" eaLnBrk="0">
              <a:lnSpc>
                <a:spcPct val="94000"/>
              </a:lnSpc>
            </a:pPr>
            <a:r>
              <a:rPr sz="3200" kern="0" spc="-5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密码学学科分支</a:t>
            </a:r>
            <a:endParaRPr lang="en-US" altLang="en-US" sz="3200" dirty="0"/>
          </a:p>
        </p:txBody>
      </p:sp>
      <p:sp>
        <p:nvSpPr>
          <p:cNvPr id="1049293" name="textbox 34"/>
          <p:cNvSpPr/>
          <p:nvPr/>
        </p:nvSpPr>
        <p:spPr>
          <a:xfrm>
            <a:off x="2854071" y="3405860"/>
            <a:ext cx="707390" cy="666115"/>
          </a:xfrm>
          <a:prstGeom prst="rect">
            <a:avLst/>
          </a:prstGeom>
        </p:spPr>
        <p:txBody>
          <a:bodyPr vert="horz" wrap="square" lIns="0" tIns="0" rIns="0" bIns="0"/>
          <a:p>
            <a:pPr algn="l" rtl="0" eaLnBrk="0">
              <a:lnSpc>
                <a:spcPct val="89000"/>
              </a:lnSpc>
            </a:pPr>
            <a:endParaRPr lang="en-US" altLang="en-US" sz="100" dirty="0"/>
          </a:p>
          <a:p>
            <a:pPr marL="12700" algn="l" rtl="0" eaLnBrk="0">
              <a:lnSpc>
                <a:spcPct val="83000"/>
              </a:lnSpc>
            </a:pPr>
            <a:r>
              <a:rPr sz="1800" kern="0" spc="-20" dirty="0">
                <a:ln w="6531" cap="flat" cmpd="sng">
                  <a:solidFill>
                    <a:srgbClr val="0000FF">
                      <a:alpha val="100000"/>
                    </a:srgbClr>
                  </a:solidFill>
                  <a:prstDash val="solid"/>
                  <a:miter lim="10"/>
                </a:ln>
                <a:solidFill>
                  <a:srgbClr val="0000FF">
                    <a:alpha val="100000"/>
                  </a:srgbClr>
                </a:solidFill>
                <a:latin typeface="黑体" panose="02010609060101010101" charset="-122"/>
                <a:ea typeface="黑体" panose="02010609060101010101" charset="-122"/>
                <a:cs typeface="黑体" panose="02010609060101010101" charset="-122"/>
              </a:rPr>
              <a:t>新方法</a:t>
            </a:r>
            <a:endParaRPr lang="en-US" altLang="en-US" sz="1800" dirty="0"/>
          </a:p>
          <a:p>
            <a:pPr marL="12700" algn="l" rtl="0" eaLnBrk="0">
              <a:lnSpc>
                <a:spcPts val="3240"/>
              </a:lnSpc>
            </a:pPr>
            <a:r>
              <a:rPr sz="1800" kern="0" spc="-20" dirty="0">
                <a:ln w="6531" cap="flat" cmpd="sng">
                  <a:solidFill>
                    <a:srgbClr val="0000FF">
                      <a:alpha val="100000"/>
                    </a:srgbClr>
                  </a:solidFill>
                  <a:prstDash val="solid"/>
                  <a:miter lim="10"/>
                </a:ln>
                <a:solidFill>
                  <a:srgbClr val="0000FF">
                    <a:alpha val="100000"/>
                  </a:srgbClr>
                </a:solidFill>
                <a:latin typeface="黑体" panose="02010609060101010101" charset="-122"/>
                <a:ea typeface="黑体" panose="02010609060101010101" charset="-122"/>
                <a:cs typeface="黑体" panose="02010609060101010101" charset="-122"/>
              </a:rPr>
              <a:t>新手段</a:t>
            </a:r>
            <a:endParaRPr lang="en-US" altLang="en-US" sz="1800" dirty="0"/>
          </a:p>
        </p:txBody>
      </p:sp>
      <p:sp>
        <p:nvSpPr>
          <p:cNvPr id="1049294" name="textbox 36"/>
          <p:cNvSpPr/>
          <p:nvPr/>
        </p:nvSpPr>
        <p:spPr>
          <a:xfrm>
            <a:off x="8793607" y="3405860"/>
            <a:ext cx="706755" cy="666115"/>
          </a:xfrm>
          <a:prstGeom prst="rect">
            <a:avLst/>
          </a:prstGeom>
        </p:spPr>
        <p:txBody>
          <a:bodyPr vert="horz" wrap="square" lIns="0" tIns="0" rIns="0" bIns="0"/>
          <a:p>
            <a:pPr algn="l" rtl="0" eaLnBrk="0">
              <a:lnSpc>
                <a:spcPct val="89000"/>
              </a:lnSpc>
            </a:pPr>
            <a:endParaRPr lang="en-US" altLang="en-US" sz="100" dirty="0"/>
          </a:p>
          <a:p>
            <a:pPr marL="12700" algn="l" rtl="0" eaLnBrk="0">
              <a:lnSpc>
                <a:spcPct val="83000"/>
              </a:lnSpc>
            </a:pPr>
            <a:r>
              <a:rPr sz="1800" kern="0" spc="-20" dirty="0">
                <a:ln w="6531" cap="flat" cmpd="sng">
                  <a:solidFill>
                    <a:srgbClr val="000000">
                      <a:alpha val="100000"/>
                    </a:srgbClr>
                  </a:solidFill>
                  <a:prstDash val="solid"/>
                  <a:miter lim="10"/>
                </a:ln>
                <a:solidFill>
                  <a:srgbClr val="000000">
                    <a:alpha val="100000"/>
                  </a:srgbClr>
                </a:solidFill>
                <a:latin typeface="黑体" panose="02010609060101010101" charset="-122"/>
                <a:ea typeface="黑体" panose="02010609060101010101" charset="-122"/>
                <a:cs typeface="黑体" panose="02010609060101010101" charset="-122"/>
              </a:rPr>
              <a:t>新思想</a:t>
            </a:r>
            <a:endParaRPr lang="en-US" altLang="en-US" sz="1800" dirty="0"/>
          </a:p>
          <a:p>
            <a:pPr marL="12700" algn="l" rtl="0" eaLnBrk="0">
              <a:lnSpc>
                <a:spcPts val="3240"/>
              </a:lnSpc>
            </a:pPr>
            <a:r>
              <a:rPr sz="1800" kern="0" spc="-20" dirty="0">
                <a:ln w="6531" cap="flat" cmpd="sng">
                  <a:solidFill>
                    <a:srgbClr val="000000">
                      <a:alpha val="100000"/>
                    </a:srgbClr>
                  </a:solidFill>
                  <a:prstDash val="solid"/>
                  <a:miter lim="10"/>
                </a:ln>
                <a:solidFill>
                  <a:srgbClr val="000000">
                    <a:alpha val="100000"/>
                  </a:srgbClr>
                </a:solidFill>
                <a:latin typeface="黑体" panose="02010609060101010101" charset="-122"/>
                <a:ea typeface="黑体" panose="02010609060101010101" charset="-122"/>
                <a:cs typeface="黑体" panose="02010609060101010101" charset="-122"/>
              </a:rPr>
              <a:t>新结构</a:t>
            </a:r>
            <a:endParaRPr lang="en-US" altLang="en-US" sz="1800" dirty="0"/>
          </a:p>
        </p:txBody>
      </p:sp>
      <p:sp>
        <p:nvSpPr>
          <p:cNvPr id="1049295"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08" name="picture 40"/>
          <p:cNvPicPr>
            <a:picLocks noChangeAspect="1"/>
          </p:cNvPicPr>
          <p:nvPr/>
        </p:nvPicPr>
        <p:blipFill>
          <a:blip r:embed="rId6"/>
          <a:stretch>
            <a:fillRect/>
          </a:stretch>
        </p:blipFill>
        <p:spPr>
          <a:xfrm rot="21600000">
            <a:off x="824483" y="408431"/>
            <a:ext cx="419100" cy="655320"/>
          </a:xfrm>
          <a:prstGeom prst="rect">
            <a:avLst/>
          </a:prstGeom>
        </p:spPr>
      </p:pic>
      <p:sp>
        <p:nvSpPr>
          <p:cNvPr id="1049296"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292" name=""/>
        <p:cNvGrpSpPr/>
        <p:nvPr/>
      </p:nvGrpSpPr>
      <p:grpSpPr>
        <a:xfrm>
          <a:off x="0" y="0"/>
          <a:ext cx="0" cy="0"/>
          <a:chOff x="0" y="0"/>
          <a:chExt cx="0" cy="0"/>
        </a:xfrm>
      </p:grpSpPr>
      <p:grpSp>
        <p:nvGrpSpPr>
          <p:cNvPr id="293" name="group 20"/>
          <p:cNvGrpSpPr/>
          <p:nvPr/>
        </p:nvGrpSpPr>
        <p:grpSpPr>
          <a:xfrm rot="21600000">
            <a:off x="3689603" y="1905000"/>
            <a:ext cx="5606796" cy="812291"/>
            <a:chOff x="0" y="0"/>
            <a:chExt cx="5606796" cy="812291"/>
          </a:xfrm>
        </p:grpSpPr>
        <p:pic>
          <p:nvPicPr>
            <p:cNvPr id="2097329" name="picture 232"/>
            <p:cNvPicPr>
              <a:picLocks noChangeAspect="1"/>
            </p:cNvPicPr>
            <p:nvPr/>
          </p:nvPicPr>
          <p:blipFill>
            <a:blip r:embed="rId1"/>
            <a:stretch>
              <a:fillRect/>
            </a:stretch>
          </p:blipFill>
          <p:spPr>
            <a:xfrm rot="21600000">
              <a:off x="0" y="0"/>
              <a:ext cx="5606796" cy="812291"/>
            </a:xfrm>
            <a:prstGeom prst="rect">
              <a:avLst/>
            </a:prstGeom>
          </p:spPr>
        </p:pic>
        <p:sp>
          <p:nvSpPr>
            <p:cNvPr id="1049358" name="textbox 234"/>
            <p:cNvSpPr/>
            <p:nvPr/>
          </p:nvSpPr>
          <p:spPr>
            <a:xfrm>
              <a:off x="-12700" y="-12700"/>
              <a:ext cx="5632450" cy="880110"/>
            </a:xfrm>
            <a:prstGeom prst="rect">
              <a:avLst/>
            </a:prstGeom>
          </p:spPr>
          <p:txBody>
            <a:bodyPr vert="horz" wrap="square" lIns="0" tIns="0" rIns="0" bIns="0"/>
            <a:p>
              <a:pPr algn="l" rtl="0" eaLnBrk="0">
                <a:lnSpc>
                  <a:spcPct val="167000"/>
                </a:lnSpc>
              </a:pPr>
              <a:endParaRPr lang="en-US" altLang="en-US" sz="1000" dirty="0"/>
            </a:p>
            <a:p>
              <a:pPr marL="681990" algn="l" rtl="0" eaLnBrk="0">
                <a:lnSpc>
                  <a:spcPct val="95000"/>
                </a:lnSpc>
                <a:spcBef>
                  <a:spcPts val="5"/>
                </a:spcBef>
              </a:pPr>
              <a:r>
                <a:rPr sz="2400" kern="0" spc="-3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安全的定义</a:t>
              </a:r>
              <a:endParaRPr lang="en-US" altLang="en-US" sz="2400" dirty="0"/>
            </a:p>
          </p:txBody>
        </p:sp>
      </p:grpSp>
      <p:grpSp>
        <p:nvGrpSpPr>
          <p:cNvPr id="294" name="group 22"/>
          <p:cNvGrpSpPr/>
          <p:nvPr/>
        </p:nvGrpSpPr>
        <p:grpSpPr>
          <a:xfrm rot="21600000">
            <a:off x="4015740" y="3124200"/>
            <a:ext cx="5280659" cy="812292"/>
            <a:chOff x="0" y="0"/>
            <a:chExt cx="5280659" cy="812292"/>
          </a:xfrm>
        </p:grpSpPr>
        <p:pic>
          <p:nvPicPr>
            <p:cNvPr id="2097330" name="picture 236"/>
            <p:cNvPicPr>
              <a:picLocks noChangeAspect="1"/>
            </p:cNvPicPr>
            <p:nvPr/>
          </p:nvPicPr>
          <p:blipFill>
            <a:blip r:embed="rId2"/>
            <a:stretch>
              <a:fillRect/>
            </a:stretch>
          </p:blipFill>
          <p:spPr>
            <a:xfrm rot="21600000">
              <a:off x="0" y="0"/>
              <a:ext cx="5280659" cy="812292"/>
            </a:xfrm>
            <a:prstGeom prst="rect">
              <a:avLst/>
            </a:prstGeom>
          </p:spPr>
        </p:pic>
        <p:sp>
          <p:nvSpPr>
            <p:cNvPr id="1049359" name="textbox 238"/>
            <p:cNvSpPr/>
            <p:nvPr/>
          </p:nvSpPr>
          <p:spPr>
            <a:xfrm>
              <a:off x="-12700" y="-12700"/>
              <a:ext cx="5306059" cy="876935"/>
            </a:xfrm>
            <a:prstGeom prst="rect">
              <a:avLst/>
            </a:prstGeom>
          </p:spPr>
          <p:txBody>
            <a:bodyPr vert="horz" wrap="square" lIns="0" tIns="0" rIns="0" bIns="0"/>
            <a:p>
              <a:pPr algn="l" rtl="0" eaLnBrk="0">
                <a:lnSpc>
                  <a:spcPct val="167000"/>
                </a:lnSpc>
              </a:pPr>
              <a:endParaRPr lang="en-US" altLang="en-US" sz="1000" dirty="0"/>
            </a:p>
            <a:p>
              <a:pPr marL="694690" algn="l" rtl="0" eaLnBrk="0">
                <a:lnSpc>
                  <a:spcPct val="94000"/>
                </a:lnSpc>
                <a:spcBef>
                  <a:spcPts val="5"/>
                </a:spcBef>
              </a:pPr>
              <a:r>
                <a:rPr sz="2400" kern="0" spc="-2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密码分析方法的分类</a:t>
              </a:r>
              <a:endParaRPr lang="en-US" altLang="en-US" sz="2400" dirty="0"/>
            </a:p>
          </p:txBody>
        </p:sp>
      </p:grpSp>
      <p:grpSp>
        <p:nvGrpSpPr>
          <p:cNvPr id="295" name="group 24"/>
          <p:cNvGrpSpPr/>
          <p:nvPr/>
        </p:nvGrpSpPr>
        <p:grpSpPr>
          <a:xfrm rot="21600000">
            <a:off x="3707891" y="4343400"/>
            <a:ext cx="5588508" cy="812292"/>
            <a:chOff x="0" y="0"/>
            <a:chExt cx="5588508" cy="812292"/>
          </a:xfrm>
        </p:grpSpPr>
        <p:pic>
          <p:nvPicPr>
            <p:cNvPr id="2097331" name="picture 240"/>
            <p:cNvPicPr>
              <a:picLocks noChangeAspect="1"/>
            </p:cNvPicPr>
            <p:nvPr/>
          </p:nvPicPr>
          <p:blipFill>
            <a:blip r:embed="rId3"/>
            <a:stretch>
              <a:fillRect/>
            </a:stretch>
          </p:blipFill>
          <p:spPr>
            <a:xfrm rot="21600000">
              <a:off x="0" y="0"/>
              <a:ext cx="5588508" cy="812292"/>
            </a:xfrm>
            <a:prstGeom prst="rect">
              <a:avLst/>
            </a:prstGeom>
          </p:spPr>
        </p:pic>
        <p:sp>
          <p:nvSpPr>
            <p:cNvPr id="1049360" name="textbox 242"/>
            <p:cNvSpPr/>
            <p:nvPr/>
          </p:nvSpPr>
          <p:spPr>
            <a:xfrm>
              <a:off x="-12700" y="-12700"/>
              <a:ext cx="5614034" cy="876935"/>
            </a:xfrm>
            <a:prstGeom prst="rect">
              <a:avLst/>
            </a:prstGeom>
          </p:spPr>
          <p:txBody>
            <a:bodyPr vert="horz" wrap="square" lIns="0" tIns="0" rIns="0" bIns="0"/>
            <a:p>
              <a:pPr algn="l" rtl="0" eaLnBrk="0">
                <a:lnSpc>
                  <a:spcPct val="167000"/>
                </a:lnSpc>
              </a:pPr>
              <a:endParaRPr lang="en-US" altLang="en-US" sz="1000" dirty="0"/>
            </a:p>
            <a:p>
              <a:pPr algn="l" rtl="0" eaLnBrk="0">
                <a:lnSpc>
                  <a:spcPct val="8000"/>
                </a:lnSpc>
              </a:pPr>
              <a:endParaRPr lang="en-US" altLang="en-US" sz="100" dirty="0"/>
            </a:p>
            <a:p>
              <a:pPr marL="682625" algn="l" rtl="0" eaLnBrk="0">
                <a:lnSpc>
                  <a:spcPct val="94000"/>
                </a:lnSpc>
              </a:pPr>
              <a:r>
                <a:rPr sz="2400" kern="0" spc="-1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无条件安全和计算上安全</a:t>
              </a:r>
              <a:endParaRPr lang="en-US" altLang="en-US" sz="2400" dirty="0"/>
            </a:p>
          </p:txBody>
        </p:sp>
      </p:grpSp>
      <p:grpSp>
        <p:nvGrpSpPr>
          <p:cNvPr id="296" name="group 26"/>
          <p:cNvGrpSpPr/>
          <p:nvPr/>
        </p:nvGrpSpPr>
        <p:grpSpPr>
          <a:xfrm rot="21600000">
            <a:off x="2948051" y="1351661"/>
            <a:ext cx="1579752" cy="4369180"/>
            <a:chOff x="0" y="0"/>
            <a:chExt cx="1579752" cy="4369180"/>
          </a:xfrm>
        </p:grpSpPr>
        <p:sp>
          <p:nvSpPr>
            <p:cNvPr id="1049361" name="path"/>
            <p:cNvSpPr/>
            <p:nvPr/>
          </p:nvSpPr>
          <p:spPr>
            <a:xfrm>
              <a:off x="0" y="0"/>
              <a:ext cx="1096572" cy="4369180"/>
            </a:xfrm>
            <a:custGeom>
              <a:avLst/>
              <a:gdLst/>
              <a:ahLst/>
              <a:cxnLst/>
              <a:rect l="0" t="0" r="0" b="0"/>
              <a:pathLst>
                <a:path w="1726" h="6880">
                  <a:moveTo>
                    <a:pt x="26" y="4"/>
                  </a:moveTo>
                  <a:cubicBezTo>
                    <a:pt x="1918" y="1448"/>
                    <a:pt x="2282" y="4153"/>
                    <a:pt x="839" y="6046"/>
                  </a:cubicBezTo>
                  <a:cubicBezTo>
                    <a:pt x="600" y="6359"/>
                    <a:pt x="319" y="6638"/>
                    <a:pt x="4" y="6875"/>
                  </a:cubicBezTo>
                  <a:lnTo>
                    <a:pt x="4" y="6875"/>
                  </a:lnTo>
                  <a:cubicBezTo>
                    <a:pt x="1906" y="5443"/>
                    <a:pt x="2286" y="2741"/>
                    <a:pt x="855" y="839"/>
                  </a:cubicBezTo>
                  <a:cubicBezTo>
                    <a:pt x="618" y="524"/>
                    <a:pt x="339" y="243"/>
                    <a:pt x="26" y="4"/>
                  </a:cubicBezTo>
                </a:path>
              </a:pathLst>
            </a:custGeom>
            <a:noFill/>
            <a:ln w="6096" cap="flat">
              <a:solidFill>
                <a:srgbClr val="477BA9">
                  <a:alpha val="100000"/>
                </a:srgbClr>
              </a:solidFill>
              <a:prstDash val="solid"/>
              <a:miter lim="1000000"/>
            </a:ln>
          </p:spPr>
          <p:txBody>
            <a:bodyPr rtlCol="0"/>
            <a:p>
              <a:pPr algn="ctr"/>
              <a:endParaRPr lang="zh-CN" altLang="en-US"/>
            </a:p>
          </p:txBody>
        </p:sp>
        <p:sp>
          <p:nvSpPr>
            <p:cNvPr id="1049362" name="path"/>
            <p:cNvSpPr/>
            <p:nvPr/>
          </p:nvSpPr>
          <p:spPr>
            <a:xfrm>
              <a:off x="234060" y="451230"/>
              <a:ext cx="1014983" cy="1016508"/>
            </a:xfrm>
            <a:custGeom>
              <a:avLst/>
              <a:gdLst/>
              <a:ahLst/>
              <a:cxnLst/>
              <a:rect l="0" t="0" r="0" b="0"/>
              <a:pathLst>
                <a:path w="1598" h="1600">
                  <a:moveTo>
                    <a:pt x="0" y="800"/>
                  </a:moveTo>
                  <a:cubicBezTo>
                    <a:pt x="0" y="358"/>
                    <a:pt x="357" y="0"/>
                    <a:pt x="799" y="0"/>
                  </a:cubicBezTo>
                  <a:cubicBezTo>
                    <a:pt x="1240" y="0"/>
                    <a:pt x="1598" y="358"/>
                    <a:pt x="1598" y="800"/>
                  </a:cubicBezTo>
                  <a:cubicBezTo>
                    <a:pt x="1598" y="1242"/>
                    <a:pt x="1240" y="1600"/>
                    <a:pt x="799" y="1600"/>
                  </a:cubicBezTo>
                  <a:cubicBezTo>
                    <a:pt x="357"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363" name="path"/>
            <p:cNvSpPr/>
            <p:nvPr/>
          </p:nvSpPr>
          <p:spPr>
            <a:xfrm>
              <a:off x="231012" y="448182"/>
              <a:ext cx="1021079" cy="1022603"/>
            </a:xfrm>
            <a:custGeom>
              <a:avLst/>
              <a:gdLst/>
              <a:ahLst/>
              <a:cxnLst/>
              <a:rect l="0" t="0" r="0" b="0"/>
              <a:pathLst>
                <a:path w="1607" h="1610">
                  <a:moveTo>
                    <a:pt x="4" y="805"/>
                  </a:moveTo>
                  <a:cubicBezTo>
                    <a:pt x="4" y="363"/>
                    <a:pt x="362" y="4"/>
                    <a:pt x="803" y="4"/>
                  </a:cubicBezTo>
                  <a:cubicBezTo>
                    <a:pt x="1245" y="4"/>
                    <a:pt x="1603" y="363"/>
                    <a:pt x="1603" y="805"/>
                  </a:cubicBezTo>
                  <a:cubicBezTo>
                    <a:pt x="1603" y="1247"/>
                    <a:pt x="1245" y="1605"/>
                    <a:pt x="803" y="1605"/>
                  </a:cubicBezTo>
                  <a:cubicBezTo>
                    <a:pt x="362"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9364" name="path"/>
            <p:cNvSpPr/>
            <p:nvPr/>
          </p:nvSpPr>
          <p:spPr>
            <a:xfrm>
              <a:off x="560197" y="1670430"/>
              <a:ext cx="1016507" cy="1016508"/>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365" name="path"/>
            <p:cNvSpPr/>
            <p:nvPr/>
          </p:nvSpPr>
          <p:spPr>
            <a:xfrm>
              <a:off x="557149" y="1667382"/>
              <a:ext cx="1022603" cy="1022604"/>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9366" name="path"/>
            <p:cNvSpPr/>
            <p:nvPr/>
          </p:nvSpPr>
          <p:spPr>
            <a:xfrm>
              <a:off x="252348" y="2889630"/>
              <a:ext cx="1016508"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367" name="path"/>
            <p:cNvSpPr/>
            <p:nvPr/>
          </p:nvSpPr>
          <p:spPr>
            <a:xfrm>
              <a:off x="249300" y="2886582"/>
              <a:ext cx="1022604"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9368" name="textbox 258"/>
          <p:cNvSpPr/>
          <p:nvPr/>
        </p:nvSpPr>
        <p:spPr>
          <a:xfrm>
            <a:off x="2745896" y="488157"/>
            <a:ext cx="3448050" cy="483869"/>
          </a:xfrm>
          <a:prstGeom prst="rect">
            <a:avLst/>
          </a:prstGeom>
        </p:spPr>
        <p:txBody>
          <a:bodyPr vert="horz" wrap="square" lIns="0" tIns="0" rIns="0" bIns="0"/>
          <a:p>
            <a:pPr algn="l" rtl="0" eaLnBrk="0">
              <a:lnSpc>
                <a:spcPct val="83000"/>
              </a:lnSpc>
            </a:pPr>
            <a:endParaRPr lang="en-US" altLang="en-US" sz="100" dirty="0"/>
          </a:p>
          <a:p>
            <a:pPr marL="12700" algn="l" rtl="0" eaLnBrk="0">
              <a:lnSpc>
                <a:spcPct val="94000"/>
              </a:lnSpc>
            </a:pPr>
            <a:r>
              <a:rPr sz="3200" kern="0" spc="-9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第</a:t>
            </a:r>
            <a:r>
              <a:rPr lang="zh-CN" sz="3200" kern="0" spc="-9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四</a:t>
            </a:r>
            <a:r>
              <a:rPr sz="3200" kern="0" spc="-9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讲</a:t>
            </a:r>
            <a:r>
              <a:rPr sz="3200" kern="0" spc="45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9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密码分析学</a:t>
            </a:r>
            <a:endParaRPr lang="en-US" altLang="en-US" sz="3200" dirty="0"/>
          </a:p>
        </p:txBody>
      </p:sp>
      <p:sp>
        <p:nvSpPr>
          <p:cNvPr id="1049369"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32" name="picture 264"/>
          <p:cNvPicPr>
            <a:picLocks noChangeAspect="1"/>
          </p:cNvPicPr>
          <p:nvPr/>
        </p:nvPicPr>
        <p:blipFill>
          <a:blip r:embed="rId4"/>
          <a:stretch>
            <a:fillRect/>
          </a:stretch>
        </p:blipFill>
        <p:spPr>
          <a:xfrm rot="21600000">
            <a:off x="824483" y="408431"/>
            <a:ext cx="419100" cy="655320"/>
          </a:xfrm>
          <a:prstGeom prst="rect">
            <a:avLst/>
          </a:prstGeom>
        </p:spPr>
      </p:pic>
      <p:sp>
        <p:nvSpPr>
          <p:cNvPr id="1049370"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278" name=""/>
        <p:cNvGrpSpPr/>
        <p:nvPr/>
      </p:nvGrpSpPr>
      <p:grpSpPr>
        <a:xfrm>
          <a:off x="0" y="0"/>
          <a:ext cx="0" cy="0"/>
          <a:chOff x="0" y="0"/>
          <a:chExt cx="0" cy="0"/>
        </a:xfrm>
      </p:grpSpPr>
      <p:sp>
        <p:nvSpPr>
          <p:cNvPr id="1049311" name="textbox 80"/>
          <p:cNvSpPr/>
          <p:nvPr/>
        </p:nvSpPr>
        <p:spPr>
          <a:xfrm>
            <a:off x="811783" y="-12700"/>
            <a:ext cx="11393169" cy="5856604"/>
          </a:xfrm>
          <a:prstGeom prst="rect">
            <a:avLst/>
          </a:prstGeom>
        </p:spPr>
        <p:txBody>
          <a:bodyPr vert="horz" wrap="square" lIns="0" tIns="0" rIns="0" bIns="0"/>
          <a:p>
            <a:pPr algn="l" rtl="0" eaLnBrk="0">
              <a:lnSpc>
                <a:spcPct val="107000"/>
              </a:lnSpc>
            </a:pPr>
            <a:endParaRPr lang="en-US" altLang="en-US" sz="1000" dirty="0"/>
          </a:p>
          <a:p>
            <a:pPr algn="l" rtl="0" eaLnBrk="0">
              <a:lnSpc>
                <a:spcPct val="107000"/>
              </a:lnSpc>
            </a:pPr>
            <a:endParaRPr lang="en-US" altLang="en-US" sz="1000" dirty="0"/>
          </a:p>
          <a:p>
            <a:pPr algn="l" rtl="0" eaLnBrk="0">
              <a:lnSpc>
                <a:spcPct val="107000"/>
              </a:lnSpc>
            </a:pPr>
            <a:endParaRPr lang="en-US" altLang="en-US" sz="1000" dirty="0"/>
          </a:p>
          <a:p>
            <a:pPr marL="431800" algn="l" rtl="0" eaLnBrk="0">
              <a:lnSpc>
                <a:spcPct val="94000"/>
              </a:lnSpc>
              <a:spcBef>
                <a:spcPts val="5"/>
              </a:spcBef>
              <a:tabLst>
                <a:tab pos="653415" algn="l"/>
                <a:tab pos="9690100" algn="l"/>
              </a:tabLst>
            </a:pPr>
            <a:r>
              <a:rPr sz="36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600" u="sng" kern="0" spc="-80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3600" u="sng" kern="0" spc="-50" dirty="0">
                <a:ln w="13063" cap="flat" cmpd="sng">
                  <a:solidFill>
                    <a:srgbClr val="1F4E79">
                      <a:alpha val="100000"/>
                    </a:srgbClr>
                  </a:solidFill>
                  <a:prstDash val="solid"/>
                  <a:miter lim="10"/>
                </a:ln>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安全的概念</a:t>
            </a:r>
            <a:r>
              <a:rPr sz="36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3600" kern="0" spc="-10" dirty="0">
                <a:solidFill>
                  <a:srgbClr val="1F4E79">
                    <a:alpha val="100000"/>
                  </a:srgbClr>
                </a:solidFill>
                <a:latin typeface="仿宋" panose="02010609060101010101" charset="-122"/>
                <a:ea typeface="仿宋" panose="02010609060101010101" charset="-122"/>
                <a:cs typeface="仿宋" panose="02010609060101010101" charset="-122"/>
              </a:rPr>
              <a:t>    </a:t>
            </a:r>
            <a:endParaRPr lang="en-US" altLang="en-US" sz="3600" dirty="0"/>
          </a:p>
          <a:p>
            <a:pPr algn="l" rtl="0" eaLnBrk="0">
              <a:lnSpc>
                <a:spcPct val="129000"/>
              </a:lnSpc>
            </a:pPr>
            <a:endParaRPr lang="en-US" altLang="en-US" sz="1000" dirty="0"/>
          </a:p>
          <a:p>
            <a:pPr algn="l" rtl="0" eaLnBrk="0">
              <a:lnSpc>
                <a:spcPct val="129000"/>
              </a:lnSpc>
            </a:pPr>
            <a:endParaRPr lang="en-US" altLang="en-US" sz="1000" dirty="0"/>
          </a:p>
          <a:p>
            <a:pPr algn="l" rtl="0" eaLnBrk="0">
              <a:lnSpc>
                <a:spcPct val="130000"/>
              </a:lnSpc>
            </a:pPr>
            <a:endParaRPr lang="en-US" altLang="en-US" sz="1000" dirty="0"/>
          </a:p>
          <a:p>
            <a:pPr marL="724535" algn="l" rtl="0" eaLnBrk="0">
              <a:lnSpc>
                <a:spcPct val="86000"/>
              </a:lnSpc>
              <a:spcBef>
                <a:spcPts val="815"/>
              </a:spcBef>
            </a:pPr>
            <a:r>
              <a:rPr sz="2700" kern="0" spc="6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“如果把一封信锁在保险柜中，把保险柜藏起来，然后告诉</a:t>
            </a:r>
            <a:r>
              <a:rPr sz="2700" kern="0" spc="5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你</a:t>
            </a:r>
            <a:endParaRPr lang="en-US" altLang="en-US" sz="2700" dirty="0"/>
          </a:p>
          <a:p>
            <a:pPr marL="138430" algn="l" rtl="0" eaLnBrk="0">
              <a:lnSpc>
                <a:spcPts val="5040"/>
              </a:lnSpc>
            </a:pPr>
            <a:r>
              <a:rPr sz="2700" kern="0" spc="9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去看这封信，这并不是安全，而是</a:t>
            </a:r>
            <a:r>
              <a:rPr sz="2700" kern="0" spc="80" dirty="0">
                <a:ln w="10154"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隐藏</a:t>
            </a:r>
            <a:r>
              <a:rPr sz="2700" kern="0" spc="8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700" dirty="0"/>
          </a:p>
          <a:p>
            <a:pPr algn="l" rtl="0" eaLnBrk="0">
              <a:lnSpc>
                <a:spcPct val="120000"/>
              </a:lnSpc>
            </a:pPr>
            <a:endParaRPr lang="en-US" altLang="en-US" sz="1000" dirty="0"/>
          </a:p>
          <a:p>
            <a:pPr marL="586740" algn="l" rtl="0" eaLnBrk="0">
              <a:lnSpc>
                <a:spcPct val="86000"/>
              </a:lnSpc>
              <a:spcBef>
                <a:spcPts val="815"/>
              </a:spcBef>
            </a:pPr>
            <a:r>
              <a:rPr sz="2700" kern="0" spc="10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相反，如果把一封信锁在保险柜中，然后把保险柜及其设计</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规</a:t>
            </a:r>
            <a:endParaRPr lang="en-US" altLang="en-US" sz="2700" dirty="0"/>
          </a:p>
          <a:p>
            <a:pPr marL="131445" indent="15240" algn="l" rtl="0" eaLnBrk="0">
              <a:lnSpc>
                <a:spcPct val="160000"/>
              </a:lnSpc>
              <a:spcBef>
                <a:spcPts val="35"/>
              </a:spcBef>
            </a:pPr>
            <a:r>
              <a:rPr sz="2700" kern="0" spc="5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范和许多同样的保险柜给你，</a:t>
            </a:r>
            <a:r>
              <a:rPr sz="2700" kern="0" spc="-76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5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以便你和世界上</a:t>
            </a:r>
            <a:r>
              <a:rPr sz="2700" kern="0" spc="4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最好的开保险柜的</a:t>
            </a:r>
            <a:r>
              <a:rPr sz="2700" kern="0" spc="4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10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专家能够研究锁的装置，而你还是</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无法打开保险柜去读这封信，</a:t>
            </a:r>
            <a:endParaRPr lang="en-US" altLang="en-US" sz="2700" dirty="0"/>
          </a:p>
          <a:p>
            <a:pPr marL="133985" algn="l" rtl="0" eaLnBrk="0">
              <a:lnSpc>
                <a:spcPct val="98000"/>
              </a:lnSpc>
              <a:spcBef>
                <a:spcPts val="1920"/>
              </a:spcBef>
            </a:pPr>
            <a:r>
              <a:rPr sz="2700" kern="0" spc="5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这才是</a:t>
            </a:r>
            <a:r>
              <a:rPr sz="2700" kern="0" spc="50" dirty="0">
                <a:ln w="10154"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安全</a:t>
            </a:r>
            <a:r>
              <a:rPr sz="2700" kern="0" spc="5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r>
              <a:rPr sz="2700" kern="0" spc="-92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5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700" dirty="0"/>
          </a:p>
          <a:p>
            <a:pPr algn="l" rtl="0" eaLnBrk="0">
              <a:lnSpc>
                <a:spcPct val="107000"/>
              </a:lnSpc>
            </a:pPr>
            <a:endParaRPr lang="en-US" altLang="en-US" sz="1000" dirty="0"/>
          </a:p>
          <a:p>
            <a:pPr algn="l" rtl="0" eaLnBrk="0">
              <a:lnSpc>
                <a:spcPct val="101000"/>
              </a:lnSpc>
            </a:pPr>
            <a:endParaRPr lang="en-US" altLang="en-US" sz="600" dirty="0"/>
          </a:p>
          <a:p>
            <a:pPr marL="7346950" algn="l" rtl="0" eaLnBrk="0">
              <a:lnSpc>
                <a:spcPct val="78000"/>
              </a:lnSpc>
              <a:spcBef>
                <a:spcPts val="5"/>
              </a:spcBef>
            </a:pPr>
            <a:r>
              <a:rPr sz="2400" kern="0" spc="4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Bruce</a:t>
            </a:r>
            <a:r>
              <a:rPr sz="2400" kern="0" spc="4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Schneier</a:t>
            </a:r>
            <a:endParaRPr lang="en-US" altLang="en-US" sz="2400" dirty="0"/>
          </a:p>
        </p:txBody>
      </p:sp>
      <p:pic>
        <p:nvPicPr>
          <p:cNvPr id="2097313" name="picture 84"/>
          <p:cNvPicPr>
            <a:picLocks noChangeAspect="1"/>
          </p:cNvPicPr>
          <p:nvPr/>
        </p:nvPicPr>
        <p:blipFill>
          <a:blip r:embed="rId1"/>
          <a:stretch>
            <a:fillRect/>
          </a:stretch>
        </p:blipFill>
        <p:spPr>
          <a:xfrm rot="21600000">
            <a:off x="824483" y="408431"/>
            <a:ext cx="419100" cy="655320"/>
          </a:xfrm>
          <a:prstGeom prst="rect">
            <a:avLst/>
          </a:prstGeom>
        </p:spPr>
      </p:pic>
      <p:sp>
        <p:nvSpPr>
          <p:cNvPr id="1049312"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279" name=""/>
        <p:cNvGrpSpPr/>
        <p:nvPr/>
      </p:nvGrpSpPr>
      <p:grpSpPr>
        <a:xfrm>
          <a:off x="0" y="0"/>
          <a:ext cx="0" cy="0"/>
          <a:chOff x="0" y="0"/>
          <a:chExt cx="0" cy="0"/>
        </a:xfrm>
      </p:grpSpPr>
      <p:sp>
        <p:nvSpPr>
          <p:cNvPr id="1049313" name="textbox 88"/>
          <p:cNvSpPr/>
          <p:nvPr/>
        </p:nvSpPr>
        <p:spPr>
          <a:xfrm>
            <a:off x="823288" y="1277015"/>
            <a:ext cx="10544175" cy="4887595"/>
          </a:xfrm>
          <a:prstGeom prst="rect">
            <a:avLst/>
          </a:prstGeom>
        </p:spPr>
        <p:txBody>
          <a:bodyPr vert="horz" wrap="square" lIns="0" tIns="0" rIns="0" bIns="0"/>
          <a:p>
            <a:pPr algn="l" rtl="0" eaLnBrk="0">
              <a:lnSpc>
                <a:spcPct val="83000"/>
              </a:lnSpc>
            </a:pPr>
            <a:endParaRPr lang="en-US" altLang="en-US" sz="100" dirty="0"/>
          </a:p>
          <a:p>
            <a:pPr algn="r" rtl="0" eaLnBrk="0">
              <a:lnSpc>
                <a:spcPts val="3310"/>
              </a:lnSpc>
            </a:pPr>
            <a:r>
              <a:rPr sz="2700" kern="0" spc="60" dirty="0">
                <a:solidFill>
                  <a:srgbClr val="FF0000">
                    <a:alpha val="100000"/>
                  </a:srgbClr>
                </a:solidFill>
                <a:latin typeface="Arial" panose="020B0604020202020204"/>
                <a:ea typeface="Arial" panose="020B0604020202020204"/>
                <a:cs typeface="Arial" panose="020B0604020202020204"/>
              </a:rPr>
              <a:t>• </a:t>
            </a:r>
            <a:r>
              <a:rPr sz="2700" kern="0" spc="0" dirty="0">
                <a:ln w="10145"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Kerckhoffs</a:t>
            </a:r>
            <a:r>
              <a:rPr sz="2700" kern="0" spc="6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假设：假定密码分析者和</a:t>
            </a:r>
            <a:r>
              <a:rPr sz="2700" kern="0" spc="5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敌手知道所使用的密码系统。</a:t>
            </a:r>
            <a:endParaRPr lang="en-US" altLang="en-US" sz="2700" dirty="0"/>
          </a:p>
          <a:p>
            <a:pPr marL="265430" algn="l" rtl="0" eaLnBrk="0">
              <a:lnSpc>
                <a:spcPct val="90000"/>
              </a:lnSpc>
              <a:spcBef>
                <a:spcPts val="1730"/>
              </a:spcBef>
            </a:pPr>
            <a:r>
              <a:rPr sz="2700" kern="0" spc="10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即密码体制的安全性仅依赖于对</a:t>
            </a:r>
            <a:r>
              <a:rPr sz="2700" kern="0" spc="100" dirty="0">
                <a:ln w="10145"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密钥的保</a:t>
            </a:r>
            <a:r>
              <a:rPr sz="2700" kern="0" spc="90" dirty="0">
                <a:ln w="10145"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密</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,而不应依赖于算法的</a:t>
            </a:r>
            <a:endParaRPr lang="en-US" altLang="en-US" sz="2700" dirty="0"/>
          </a:p>
          <a:p>
            <a:pPr algn="l" rtl="0" eaLnBrk="0">
              <a:lnSpc>
                <a:spcPct val="106000"/>
              </a:lnSpc>
            </a:pPr>
            <a:endParaRPr lang="en-US" altLang="en-US" sz="1000" dirty="0"/>
          </a:p>
          <a:p>
            <a:pPr marL="247015" algn="l" rtl="0" eaLnBrk="0">
              <a:lnSpc>
                <a:spcPct val="85000"/>
              </a:lnSpc>
              <a:spcBef>
                <a:spcPts val="815"/>
              </a:spcBef>
            </a:pP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保密</a:t>
            </a:r>
            <a:r>
              <a:rPr sz="27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10" dirty="0">
                <a:solidFill>
                  <a:srgbClr val="000000">
                    <a:alpha val="100000"/>
                  </a:srgbClr>
                </a:solidFill>
                <a:latin typeface="仿宋" panose="02010609060101010101" charset="-122"/>
                <a:ea typeface="仿宋" panose="02010609060101010101" charset="-122"/>
                <a:cs typeface="仿宋" panose="02010609060101010101" charset="-122"/>
              </a:rPr>
              <a:t>                     </a:t>
            </a:r>
            <a:endParaRPr lang="en-US" altLang="en-US" sz="2700" dirty="0"/>
          </a:p>
          <a:p>
            <a:pPr algn="l" rtl="0" eaLnBrk="0">
              <a:lnSpc>
                <a:spcPct val="173000"/>
              </a:lnSpc>
            </a:pPr>
            <a:endParaRPr lang="en-US" altLang="en-US" sz="1000" dirty="0"/>
          </a:p>
          <a:p>
            <a:pPr marL="466725" algn="l" rtl="0" eaLnBrk="0">
              <a:lnSpc>
                <a:spcPct val="98000"/>
              </a:lnSpc>
              <a:spcBef>
                <a:spcPts val="690"/>
              </a:spcBef>
            </a:pPr>
            <a:r>
              <a:rPr sz="2300" kern="0" spc="-130" dirty="0">
                <a:solidFill>
                  <a:srgbClr val="000000">
                    <a:alpha val="100000"/>
                  </a:srgbClr>
                </a:solidFill>
                <a:latin typeface="Arial" panose="020B0604020202020204"/>
                <a:ea typeface="Arial" panose="020B0604020202020204"/>
                <a:cs typeface="Arial" panose="020B0604020202020204"/>
              </a:rPr>
              <a:t>•</a:t>
            </a:r>
            <a:r>
              <a:rPr sz="2300" kern="0" spc="550" dirty="0">
                <a:solidFill>
                  <a:srgbClr val="000000">
                    <a:alpha val="100000"/>
                  </a:srgbClr>
                </a:solidFill>
                <a:latin typeface="Arial" panose="020B0604020202020204"/>
                <a:ea typeface="Arial" panose="020B0604020202020204"/>
                <a:cs typeface="Arial" panose="020B0604020202020204"/>
              </a:rPr>
              <a:t> </a:t>
            </a:r>
            <a:r>
              <a:rPr sz="2300" kern="0" spc="-13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假设敌手知道：</a:t>
            </a:r>
            <a:endParaRPr lang="en-US" altLang="en-US" sz="2300" dirty="0"/>
          </a:p>
          <a:p>
            <a:pPr marL="466725" algn="l" rtl="0" eaLnBrk="0">
              <a:lnSpc>
                <a:spcPct val="100000"/>
              </a:lnSpc>
              <a:spcBef>
                <a:spcPts val="1315"/>
              </a:spcBef>
            </a:pPr>
            <a:r>
              <a:rPr sz="2400" kern="0" spc="-20" dirty="0">
                <a:solidFill>
                  <a:srgbClr val="000000">
                    <a:alpha val="100000"/>
                  </a:srgbClr>
                </a:solidFill>
                <a:latin typeface="Arial" panose="020B0604020202020204"/>
                <a:ea typeface="Arial" panose="020B0604020202020204"/>
                <a:cs typeface="Arial" panose="020B0604020202020204"/>
              </a:rPr>
              <a:t>•</a:t>
            </a:r>
            <a:r>
              <a:rPr sz="2400" kern="0" spc="360" dirty="0">
                <a:solidFill>
                  <a:srgbClr val="000000">
                    <a:alpha val="100000"/>
                  </a:srgbClr>
                </a:solidFill>
                <a:latin typeface="Arial" panose="020B0604020202020204"/>
                <a:ea typeface="Arial" panose="020B0604020202020204"/>
                <a:cs typeface="Arial" panose="020B0604020202020204"/>
              </a:rPr>
              <a:t> </a:t>
            </a:r>
            <a:r>
              <a:rPr sz="2400" kern="0" spc="-2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（1）所使用的加密算法</a:t>
            </a:r>
            <a:endParaRPr lang="en-US" altLang="en-US" sz="2400" dirty="0"/>
          </a:p>
          <a:p>
            <a:pPr marL="466725" algn="l" rtl="0" eaLnBrk="0">
              <a:lnSpc>
                <a:spcPct val="99000"/>
              </a:lnSpc>
              <a:spcBef>
                <a:spcPts val="1095"/>
              </a:spcBef>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320" dirty="0">
                <a:solidFill>
                  <a:srgbClr val="000000">
                    <a:alpha val="100000"/>
                  </a:srgbClr>
                </a:solidFill>
                <a:latin typeface="Arial" panose="020B0604020202020204"/>
                <a:ea typeface="Arial" panose="020B0604020202020204"/>
                <a:cs typeface="Arial" panose="020B0604020202020204"/>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（2）知道明文的概率分布规律;</a:t>
            </a:r>
            <a:endParaRPr lang="en-US" altLang="en-US" sz="2400" dirty="0"/>
          </a:p>
          <a:p>
            <a:pPr marL="466725" algn="l" rtl="0" eaLnBrk="0">
              <a:lnSpc>
                <a:spcPct val="99000"/>
              </a:lnSpc>
              <a:spcBef>
                <a:spcPts val="1110"/>
              </a:spcBef>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320" dirty="0">
                <a:solidFill>
                  <a:srgbClr val="000000">
                    <a:alpha val="100000"/>
                  </a:srgbClr>
                </a:solidFill>
                <a:latin typeface="Arial" panose="020B0604020202020204"/>
                <a:ea typeface="Arial" panose="020B0604020202020204"/>
                <a:cs typeface="Arial" panose="020B0604020202020204"/>
              </a:rPr>
              <a:t> </a:t>
            </a:r>
            <a:r>
              <a:rPr sz="2400" kern="0" spc="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（3）知道密钥的概率分布规律;</a:t>
            </a:r>
            <a:endParaRPr lang="en-US" altLang="en-US" sz="2400" dirty="0"/>
          </a:p>
          <a:p>
            <a:pPr marL="466725" algn="l" rtl="0" eaLnBrk="0">
              <a:lnSpc>
                <a:spcPct val="100000"/>
              </a:lnSpc>
              <a:spcBef>
                <a:spcPts val="1090"/>
              </a:spcBef>
            </a:pPr>
            <a:r>
              <a:rPr sz="2400" kern="0" spc="-10" dirty="0">
                <a:solidFill>
                  <a:srgbClr val="000000">
                    <a:alpha val="100000"/>
                  </a:srgbClr>
                </a:solidFill>
                <a:latin typeface="Arial" panose="020B0604020202020204"/>
                <a:ea typeface="Arial" panose="020B0604020202020204"/>
                <a:cs typeface="Arial" panose="020B0604020202020204"/>
              </a:rPr>
              <a:t>•</a:t>
            </a:r>
            <a:r>
              <a:rPr sz="2400" kern="0" spc="300" dirty="0">
                <a:solidFill>
                  <a:srgbClr val="000000">
                    <a:alpha val="100000"/>
                  </a:srgbClr>
                </a:solidFill>
                <a:latin typeface="Arial" panose="020B0604020202020204"/>
                <a:ea typeface="Arial" panose="020B0604020202020204"/>
                <a:cs typeface="Arial" panose="020B0604020202020204"/>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（4）知道所有可能的破译方法</a:t>
            </a:r>
            <a:endParaRPr lang="en-US" altLang="en-US" sz="2400" dirty="0"/>
          </a:p>
          <a:p>
            <a:pPr algn="l" rtl="0" eaLnBrk="0">
              <a:lnSpc>
                <a:spcPct val="101000"/>
              </a:lnSpc>
            </a:pPr>
            <a:endParaRPr lang="en-US" altLang="en-US" sz="900" dirty="0"/>
          </a:p>
          <a:p>
            <a:pPr algn="l" rtl="0" eaLnBrk="0">
              <a:lnSpc>
                <a:spcPct val="8000"/>
              </a:lnSpc>
            </a:pPr>
            <a:endParaRPr lang="en-US" altLang="en-US" sz="100" dirty="0"/>
          </a:p>
          <a:p>
            <a:pPr marL="466725" algn="l" rtl="0" eaLnBrk="0">
              <a:lnSpc>
                <a:spcPct val="99000"/>
              </a:lnSpc>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290" dirty="0">
                <a:solidFill>
                  <a:srgbClr val="000000">
                    <a:alpha val="100000"/>
                  </a:srgbClr>
                </a:solidFill>
                <a:latin typeface="Arial" panose="020B0604020202020204"/>
                <a:ea typeface="Arial" panose="020B0604020202020204"/>
                <a:cs typeface="Arial" panose="020B0604020202020204"/>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（5）敌手能够拿到加密装置，可以对其进行能量消耗</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分析等等</a:t>
            </a:r>
            <a:endParaRPr lang="en-US" altLang="en-US" sz="2400" dirty="0"/>
          </a:p>
        </p:txBody>
      </p:sp>
      <p:sp>
        <p:nvSpPr>
          <p:cNvPr id="1049314" name="path"/>
          <p:cNvSpPr/>
          <p:nvPr/>
        </p:nvSpPr>
        <p:spPr>
          <a:xfrm>
            <a:off x="7043976" y="2299922"/>
            <a:ext cx="2360122" cy="965614"/>
          </a:xfrm>
          <a:custGeom>
            <a:avLst/>
            <a:gdLst/>
            <a:ahLst/>
            <a:cxnLst/>
            <a:rect l="0" t="0" r="0" b="0"/>
            <a:pathLst>
              <a:path w="3716" h="1520">
                <a:moveTo>
                  <a:pt x="2603" y="1511"/>
                </a:moveTo>
                <a:lnTo>
                  <a:pt x="4" y="8"/>
                </a:lnTo>
                <a:lnTo>
                  <a:pt x="3713" y="1511"/>
                </a:lnTo>
              </a:path>
            </a:pathLst>
          </a:custGeom>
          <a:noFill/>
          <a:ln w="11984" cap="flat">
            <a:solidFill>
              <a:srgbClr val="41719C">
                <a:alpha val="100000"/>
              </a:srgbClr>
            </a:solidFill>
            <a:prstDash val="solid"/>
            <a:miter lim="1000000"/>
          </a:ln>
        </p:spPr>
        <p:txBody>
          <a:bodyPr rtlCol="0"/>
          <a:p>
            <a:pPr algn="ctr"/>
            <a:endParaRPr lang="zh-CN" altLang="en-US"/>
          </a:p>
        </p:txBody>
      </p:sp>
      <p:graphicFrame>
        <p:nvGraphicFramePr>
          <p:cNvPr id="4194329" name="table 92"/>
          <p:cNvGraphicFramePr>
            <a:graphicFrameLocks noGrp="1"/>
          </p:cNvGraphicFramePr>
          <p:nvPr/>
        </p:nvGraphicFramePr>
        <p:xfrm>
          <a:off x="8223504" y="3270503"/>
          <a:ext cx="2831465" cy="1383664"/>
        </p:xfrm>
        <a:graphic>
          <a:graphicData uri="http://schemas.openxmlformats.org/drawingml/2006/table">
            <a:tbl>
              <a:tblPr/>
              <a:tblGrid>
                <a:gridCol w="2831465"/>
              </a:tblGrid>
              <a:tr h="1374139">
                <a:tc>
                  <a:txBody>
                    <a:bodyPr/>
                    <a:p>
                      <a:pPr algn="l" rtl="0" eaLnBrk="0">
                        <a:lnSpc>
                          <a:spcPct val="124000"/>
                        </a:lnSpc>
                      </a:pPr>
                      <a:endParaRPr lang="en-US" altLang="en-US" sz="1000" dirty="0"/>
                    </a:p>
                    <a:p>
                      <a:pPr algn="l" rtl="0" eaLnBrk="0">
                        <a:lnSpc>
                          <a:spcPct val="124000"/>
                        </a:lnSpc>
                      </a:pPr>
                      <a:endParaRPr lang="en-US" altLang="en-US" sz="1000" dirty="0"/>
                    </a:p>
                    <a:p>
                      <a:pPr algn="l" rtl="0" eaLnBrk="0">
                        <a:lnSpc>
                          <a:spcPct val="10000"/>
                        </a:lnSpc>
                      </a:pPr>
                      <a:endParaRPr lang="en-US" altLang="en-US" sz="100" dirty="0"/>
                    </a:p>
                    <a:p>
                      <a:pPr marL="838200" indent="-622935" algn="l" rtl="0" eaLnBrk="0">
                        <a:lnSpc>
                          <a:spcPct val="95000"/>
                        </a:lnSpc>
                      </a:pPr>
                      <a:r>
                        <a:rPr sz="2400" kern="0" spc="-20" dirty="0">
                          <a:ln w="8708"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一切秘密皆蕴含在</a:t>
                      </a:r>
                      <a:r>
                        <a:rPr sz="2400" kern="0" spc="10" dirty="0">
                          <a:solidFill>
                            <a:srgbClr val="FF0000">
                              <a:alpha val="100000"/>
                            </a:srgbClr>
                          </a:solidFill>
                          <a:latin typeface="仿宋" panose="02010609060101010101" charset="-122"/>
                          <a:ea typeface="仿宋" panose="02010609060101010101" charset="-122"/>
                          <a:cs typeface="仿宋" panose="02010609060101010101" charset="-122"/>
                        </a:rPr>
                        <a:t>  </a:t>
                      </a:r>
                      <a:r>
                        <a:rPr sz="2400" kern="0" spc="-110" dirty="0">
                          <a:ln w="8717"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密钥中！</a:t>
                      </a:r>
                      <a:endParaRPr lang="en-US" altLang="en-US" sz="2400" dirty="0"/>
                    </a:p>
                  </a:txBody>
                  <a:tcPr marL="0" marR="0" marT="0" marB="0" vert="horz">
                    <a:lnL w="9525" cap="flat" cmpd="sng" algn="ctr">
                      <a:solidFill>
                        <a:srgbClr val="41719C"/>
                      </a:solidFill>
                      <a:prstDash val="solid"/>
                      <a:round/>
                      <a:headEnd type="none" w="med" len="med"/>
                      <a:tailEnd type="none" w="med" len="med"/>
                    </a:lnL>
                    <a:lnR w="9525" cap="flat" cmpd="sng" algn="ctr">
                      <a:solidFill>
                        <a:srgbClr val="41719C"/>
                      </a:solidFill>
                      <a:prstDash val="solid"/>
                      <a:round/>
                      <a:headEnd type="none" w="med" len="med"/>
                      <a:tailEnd type="none" w="med" len="med"/>
                    </a:lnR>
                    <a:lnT w="9525" cap="flat" cmpd="sng" algn="ctr">
                      <a:solidFill>
                        <a:srgbClr val="41719C"/>
                      </a:solidFill>
                      <a:prstDash val="solid"/>
                      <a:round/>
                      <a:headEnd type="none" w="med" len="med"/>
                      <a:tailEnd type="none" w="med" len="med"/>
                    </a:lnT>
                    <a:lnB w="9525" cap="flat" cmpd="sng" algn="ctr">
                      <a:solidFill>
                        <a:srgbClr val="41719C"/>
                      </a:solidFill>
                      <a:prstDash val="solid"/>
                      <a:round/>
                      <a:headEnd type="none" w="med" len="med"/>
                      <a:tailEnd type="none" w="med" len="med"/>
                    </a:lnB>
                  </a:tcPr>
                </a:tc>
              </a:tr>
            </a:tbl>
          </a:graphicData>
        </a:graphic>
      </p:graphicFrame>
      <p:sp>
        <p:nvSpPr>
          <p:cNvPr id="1049315" name="textbox 94"/>
          <p:cNvSpPr/>
          <p:nvPr/>
        </p:nvSpPr>
        <p:spPr>
          <a:xfrm>
            <a:off x="1591801" y="488157"/>
            <a:ext cx="3239770" cy="483869"/>
          </a:xfrm>
          <a:prstGeom prst="rect">
            <a:avLst/>
          </a:prstGeom>
        </p:spPr>
        <p:txBody>
          <a:bodyPr vert="horz" wrap="square" lIns="0" tIns="0" rIns="0" bIns="0"/>
          <a:p>
            <a:pPr algn="l" rtl="0" eaLnBrk="0">
              <a:lnSpc>
                <a:spcPct val="83000"/>
              </a:lnSpc>
            </a:pPr>
            <a:endParaRPr lang="en-US" altLang="en-US" sz="100" dirty="0"/>
          </a:p>
          <a:p>
            <a:pPr marL="12700" algn="l" rtl="0" eaLnBrk="0">
              <a:lnSpc>
                <a:spcPct val="94000"/>
              </a:lnSpc>
            </a:pPr>
            <a:r>
              <a:rPr sz="3200" kern="0" spc="-4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密码分析学的前提</a:t>
            </a:r>
            <a:endParaRPr lang="en-US" altLang="en-US" sz="3200" dirty="0"/>
          </a:p>
        </p:txBody>
      </p:sp>
      <p:sp>
        <p:nvSpPr>
          <p:cNvPr id="1049316"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314" name="picture 100"/>
          <p:cNvPicPr>
            <a:picLocks noChangeAspect="1"/>
          </p:cNvPicPr>
          <p:nvPr/>
        </p:nvPicPr>
        <p:blipFill>
          <a:blip r:embed="rId1"/>
          <a:stretch>
            <a:fillRect/>
          </a:stretch>
        </p:blipFill>
        <p:spPr>
          <a:xfrm rot="21600000">
            <a:off x="824483" y="408431"/>
            <a:ext cx="419100" cy="655320"/>
          </a:xfrm>
          <a:prstGeom prst="rect">
            <a:avLst/>
          </a:prstGeom>
        </p:spPr>
      </p:pic>
      <p:sp>
        <p:nvSpPr>
          <p:cNvPr id="1049317"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280" name=""/>
        <p:cNvGrpSpPr/>
        <p:nvPr/>
      </p:nvGrpSpPr>
      <p:grpSpPr>
        <a:xfrm>
          <a:off x="0" y="0"/>
          <a:ext cx="0" cy="0"/>
          <a:chOff x="0" y="0"/>
          <a:chExt cx="0" cy="0"/>
        </a:xfrm>
      </p:grpSpPr>
      <p:sp>
        <p:nvSpPr>
          <p:cNvPr id="1049318" name="textbox 104"/>
          <p:cNvSpPr/>
          <p:nvPr/>
        </p:nvSpPr>
        <p:spPr>
          <a:xfrm>
            <a:off x="1545613" y="1580291"/>
            <a:ext cx="4157345" cy="1212850"/>
          </a:xfrm>
          <a:prstGeom prst="rect">
            <a:avLst/>
          </a:prstGeom>
        </p:spPr>
        <p:txBody>
          <a:bodyPr vert="horz" wrap="square" lIns="0" tIns="0" rIns="0" bIns="0"/>
          <a:p>
            <a:pPr algn="l" rtl="0" eaLnBrk="0">
              <a:lnSpc>
                <a:spcPct val="83000"/>
              </a:lnSpc>
            </a:pPr>
            <a:endParaRPr lang="en-US" altLang="en-US" sz="100" dirty="0"/>
          </a:p>
          <a:p>
            <a:pPr marL="12700" algn="l" rtl="0" eaLnBrk="0">
              <a:lnSpc>
                <a:spcPts val="3310"/>
              </a:lnSpc>
            </a:pPr>
            <a:r>
              <a:rPr sz="2700" kern="0" spc="70" dirty="0">
                <a:solidFill>
                  <a:srgbClr val="000000">
                    <a:alpha val="100000"/>
                  </a:srgbClr>
                </a:solidFill>
                <a:latin typeface="Arial" panose="020B0604020202020204"/>
                <a:ea typeface="Arial" panose="020B0604020202020204"/>
                <a:cs typeface="Arial" panose="020B0604020202020204"/>
              </a:rPr>
              <a:t>•</a:t>
            </a:r>
            <a:r>
              <a:rPr sz="2700" kern="0" spc="270" dirty="0">
                <a:solidFill>
                  <a:srgbClr val="000000">
                    <a:alpha val="100000"/>
                  </a:srgbClr>
                </a:solidFill>
                <a:latin typeface="Arial" panose="020B0604020202020204"/>
                <a:ea typeface="Arial" panose="020B0604020202020204"/>
                <a:cs typeface="Arial" panose="020B0604020202020204"/>
              </a:rPr>
              <a:t> </a:t>
            </a:r>
            <a:r>
              <a:rPr sz="2700" kern="0" spc="7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恢复合法密文相应的明文</a:t>
            </a:r>
            <a:endParaRPr lang="en-US" altLang="en-US" sz="2700" dirty="0"/>
          </a:p>
          <a:p>
            <a:pPr algn="l" rtl="0" eaLnBrk="0">
              <a:lnSpc>
                <a:spcPct val="159000"/>
              </a:lnSpc>
            </a:pPr>
            <a:endParaRPr lang="en-US" altLang="en-US" sz="1000" dirty="0"/>
          </a:p>
          <a:p>
            <a:pPr algn="l" rtl="0" eaLnBrk="0">
              <a:lnSpc>
                <a:spcPct val="113000"/>
              </a:lnSpc>
            </a:pPr>
            <a:endParaRPr lang="en-US" altLang="en-US" sz="600" dirty="0"/>
          </a:p>
          <a:p>
            <a:pPr marL="12700" algn="l" rtl="0" eaLnBrk="0">
              <a:lnSpc>
                <a:spcPts val="3310"/>
              </a:lnSpc>
              <a:spcBef>
                <a:spcPts val="5"/>
              </a:spcBef>
            </a:pPr>
            <a:r>
              <a:rPr sz="2700" kern="0" spc="10" dirty="0">
                <a:solidFill>
                  <a:srgbClr val="000000">
                    <a:alpha val="100000"/>
                  </a:srgbClr>
                </a:solidFill>
                <a:latin typeface="Arial" panose="020B0604020202020204"/>
                <a:ea typeface="Arial" panose="020B0604020202020204"/>
                <a:cs typeface="Arial" panose="020B0604020202020204"/>
              </a:rPr>
              <a:t>•</a:t>
            </a:r>
            <a:r>
              <a:rPr sz="2700" kern="0" spc="300" dirty="0">
                <a:solidFill>
                  <a:srgbClr val="000000">
                    <a:alpha val="100000"/>
                  </a:srgbClr>
                </a:solidFill>
                <a:latin typeface="Arial" panose="020B0604020202020204"/>
                <a:ea typeface="Arial" panose="020B0604020202020204"/>
                <a:cs typeface="Arial" panose="020B0604020202020204"/>
              </a:rPr>
              <a:t> </a:t>
            </a:r>
            <a:r>
              <a:rPr sz="2700" kern="0" spc="1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恢复密钥</a:t>
            </a:r>
            <a:endParaRPr lang="en-US" altLang="en-US" sz="2700" dirty="0"/>
          </a:p>
        </p:txBody>
      </p:sp>
      <p:sp>
        <p:nvSpPr>
          <p:cNvPr id="1049319" name="textbox 106"/>
          <p:cNvSpPr/>
          <p:nvPr/>
        </p:nvSpPr>
        <p:spPr>
          <a:xfrm>
            <a:off x="1591801" y="488157"/>
            <a:ext cx="3239770" cy="483869"/>
          </a:xfrm>
          <a:prstGeom prst="rect">
            <a:avLst/>
          </a:prstGeom>
        </p:spPr>
        <p:txBody>
          <a:bodyPr vert="horz" wrap="square" lIns="0" tIns="0" rIns="0" bIns="0"/>
          <a:p>
            <a:pPr algn="l" rtl="0" eaLnBrk="0">
              <a:lnSpc>
                <a:spcPct val="83000"/>
              </a:lnSpc>
            </a:pPr>
            <a:endParaRPr lang="en-US" altLang="en-US" sz="100" dirty="0"/>
          </a:p>
          <a:p>
            <a:pPr marL="12700" algn="l" rtl="0" eaLnBrk="0">
              <a:lnSpc>
                <a:spcPct val="94000"/>
              </a:lnSpc>
            </a:pPr>
            <a:r>
              <a:rPr sz="3200" kern="0" spc="-4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密码分析学的目标</a:t>
            </a:r>
            <a:endParaRPr lang="en-US" altLang="en-US" sz="3200" dirty="0"/>
          </a:p>
        </p:txBody>
      </p:sp>
      <p:sp>
        <p:nvSpPr>
          <p:cNvPr id="1049320"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15" name="picture 112"/>
          <p:cNvPicPr>
            <a:picLocks noChangeAspect="1"/>
          </p:cNvPicPr>
          <p:nvPr/>
        </p:nvPicPr>
        <p:blipFill>
          <a:blip r:embed="rId1"/>
          <a:stretch>
            <a:fillRect/>
          </a:stretch>
        </p:blipFill>
        <p:spPr>
          <a:xfrm rot="21600000">
            <a:off x="824483" y="408431"/>
            <a:ext cx="419100" cy="655320"/>
          </a:xfrm>
          <a:prstGeom prst="rect">
            <a:avLst/>
          </a:prstGeom>
        </p:spPr>
      </p:pic>
      <p:sp>
        <p:nvSpPr>
          <p:cNvPr id="1049321"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292" name=""/>
        <p:cNvGrpSpPr/>
        <p:nvPr/>
      </p:nvGrpSpPr>
      <p:grpSpPr>
        <a:xfrm>
          <a:off x="0" y="0"/>
          <a:ext cx="0" cy="0"/>
          <a:chOff x="0" y="0"/>
          <a:chExt cx="0" cy="0"/>
        </a:xfrm>
      </p:grpSpPr>
      <p:grpSp>
        <p:nvGrpSpPr>
          <p:cNvPr id="293" name="group 20"/>
          <p:cNvGrpSpPr/>
          <p:nvPr/>
        </p:nvGrpSpPr>
        <p:grpSpPr>
          <a:xfrm rot="21600000">
            <a:off x="3689603" y="1905000"/>
            <a:ext cx="5606796" cy="812291"/>
            <a:chOff x="0" y="0"/>
            <a:chExt cx="5606796" cy="812291"/>
          </a:xfrm>
        </p:grpSpPr>
        <p:pic>
          <p:nvPicPr>
            <p:cNvPr id="2097329" name="picture 232"/>
            <p:cNvPicPr>
              <a:picLocks noChangeAspect="1"/>
            </p:cNvPicPr>
            <p:nvPr/>
          </p:nvPicPr>
          <p:blipFill>
            <a:blip r:embed="rId1"/>
            <a:stretch>
              <a:fillRect/>
            </a:stretch>
          </p:blipFill>
          <p:spPr>
            <a:xfrm rot="21600000">
              <a:off x="0" y="0"/>
              <a:ext cx="5606796" cy="812291"/>
            </a:xfrm>
            <a:prstGeom prst="rect">
              <a:avLst/>
            </a:prstGeom>
          </p:spPr>
        </p:pic>
        <p:sp>
          <p:nvSpPr>
            <p:cNvPr id="1049358" name="textbox 234"/>
            <p:cNvSpPr/>
            <p:nvPr/>
          </p:nvSpPr>
          <p:spPr>
            <a:xfrm>
              <a:off x="-12700" y="-12700"/>
              <a:ext cx="5632450" cy="880110"/>
            </a:xfrm>
            <a:prstGeom prst="rect">
              <a:avLst/>
            </a:prstGeom>
          </p:spPr>
          <p:txBody>
            <a:bodyPr vert="horz" wrap="square" lIns="0" tIns="0" rIns="0" bIns="0"/>
            <a:p>
              <a:pPr algn="l" rtl="0" eaLnBrk="0">
                <a:lnSpc>
                  <a:spcPct val="167000"/>
                </a:lnSpc>
              </a:pPr>
              <a:endParaRPr lang="en-US" altLang="en-US" sz="1000" dirty="0"/>
            </a:p>
            <a:p>
              <a:pPr marL="681990" algn="l" rtl="0" eaLnBrk="0">
                <a:lnSpc>
                  <a:spcPct val="95000"/>
                </a:lnSpc>
                <a:spcBef>
                  <a:spcPts val="5"/>
                </a:spcBef>
              </a:pPr>
              <a:r>
                <a:rPr sz="2400" kern="0" spc="-3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安全的定义</a:t>
              </a:r>
              <a:endParaRPr lang="en-US" altLang="en-US" sz="2400" dirty="0"/>
            </a:p>
          </p:txBody>
        </p:sp>
      </p:grpSp>
      <p:grpSp>
        <p:nvGrpSpPr>
          <p:cNvPr id="294" name="group 22"/>
          <p:cNvGrpSpPr/>
          <p:nvPr/>
        </p:nvGrpSpPr>
        <p:grpSpPr>
          <a:xfrm rot="21600000">
            <a:off x="4015740" y="3124200"/>
            <a:ext cx="5280659" cy="812292"/>
            <a:chOff x="0" y="0"/>
            <a:chExt cx="5280659" cy="812292"/>
          </a:xfrm>
        </p:grpSpPr>
        <p:pic>
          <p:nvPicPr>
            <p:cNvPr id="2097330" name="picture 236"/>
            <p:cNvPicPr>
              <a:picLocks noChangeAspect="1"/>
            </p:cNvPicPr>
            <p:nvPr/>
          </p:nvPicPr>
          <p:blipFill>
            <a:blip r:embed="rId2"/>
            <a:stretch>
              <a:fillRect/>
            </a:stretch>
          </p:blipFill>
          <p:spPr>
            <a:xfrm rot="21600000">
              <a:off x="0" y="0"/>
              <a:ext cx="5280659" cy="812292"/>
            </a:xfrm>
            <a:prstGeom prst="rect">
              <a:avLst/>
            </a:prstGeom>
          </p:spPr>
        </p:pic>
        <p:sp>
          <p:nvSpPr>
            <p:cNvPr id="1049359" name="textbox 238"/>
            <p:cNvSpPr/>
            <p:nvPr/>
          </p:nvSpPr>
          <p:spPr>
            <a:xfrm>
              <a:off x="-12700" y="-12700"/>
              <a:ext cx="5306059" cy="876935"/>
            </a:xfrm>
            <a:prstGeom prst="rect">
              <a:avLst/>
            </a:prstGeom>
          </p:spPr>
          <p:txBody>
            <a:bodyPr vert="horz" wrap="square" lIns="0" tIns="0" rIns="0" bIns="0"/>
            <a:p>
              <a:pPr algn="l" rtl="0" eaLnBrk="0">
                <a:lnSpc>
                  <a:spcPct val="167000"/>
                </a:lnSpc>
              </a:pPr>
              <a:endParaRPr lang="en-US" altLang="en-US" sz="1000" dirty="0"/>
            </a:p>
            <a:p>
              <a:pPr marL="694690" algn="l" rtl="0" eaLnBrk="0">
                <a:lnSpc>
                  <a:spcPct val="94000"/>
                </a:lnSpc>
                <a:spcBef>
                  <a:spcPts val="5"/>
                </a:spcBef>
              </a:pPr>
              <a:r>
                <a:rPr sz="2400" kern="0" spc="-2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密码分析方法的分类</a:t>
              </a:r>
              <a:endParaRPr lang="en-US" altLang="en-US" sz="2400" dirty="0"/>
            </a:p>
          </p:txBody>
        </p:sp>
      </p:grpSp>
      <p:grpSp>
        <p:nvGrpSpPr>
          <p:cNvPr id="295" name="group 24"/>
          <p:cNvGrpSpPr/>
          <p:nvPr/>
        </p:nvGrpSpPr>
        <p:grpSpPr>
          <a:xfrm rot="21600000">
            <a:off x="3707891" y="4343400"/>
            <a:ext cx="5588508" cy="812292"/>
            <a:chOff x="0" y="0"/>
            <a:chExt cx="5588508" cy="812292"/>
          </a:xfrm>
        </p:grpSpPr>
        <p:pic>
          <p:nvPicPr>
            <p:cNvPr id="2097331" name="picture 240"/>
            <p:cNvPicPr>
              <a:picLocks noChangeAspect="1"/>
            </p:cNvPicPr>
            <p:nvPr/>
          </p:nvPicPr>
          <p:blipFill>
            <a:blip r:embed="rId3"/>
            <a:stretch>
              <a:fillRect/>
            </a:stretch>
          </p:blipFill>
          <p:spPr>
            <a:xfrm rot="21600000">
              <a:off x="0" y="0"/>
              <a:ext cx="5588508" cy="812292"/>
            </a:xfrm>
            <a:prstGeom prst="rect">
              <a:avLst/>
            </a:prstGeom>
          </p:spPr>
        </p:pic>
        <p:sp>
          <p:nvSpPr>
            <p:cNvPr id="1049360" name="textbox 242"/>
            <p:cNvSpPr/>
            <p:nvPr/>
          </p:nvSpPr>
          <p:spPr>
            <a:xfrm>
              <a:off x="-12700" y="-12700"/>
              <a:ext cx="5614034" cy="876935"/>
            </a:xfrm>
            <a:prstGeom prst="rect">
              <a:avLst/>
            </a:prstGeom>
          </p:spPr>
          <p:txBody>
            <a:bodyPr vert="horz" wrap="square" lIns="0" tIns="0" rIns="0" bIns="0"/>
            <a:p>
              <a:pPr algn="l" rtl="0" eaLnBrk="0">
                <a:lnSpc>
                  <a:spcPct val="167000"/>
                </a:lnSpc>
              </a:pPr>
              <a:endParaRPr lang="en-US" altLang="en-US" sz="1000" dirty="0"/>
            </a:p>
            <a:p>
              <a:pPr algn="l" rtl="0" eaLnBrk="0">
                <a:lnSpc>
                  <a:spcPct val="8000"/>
                </a:lnSpc>
              </a:pPr>
              <a:endParaRPr lang="en-US" altLang="en-US" sz="100" dirty="0"/>
            </a:p>
            <a:p>
              <a:pPr marL="682625" algn="l" rtl="0" eaLnBrk="0">
                <a:lnSpc>
                  <a:spcPct val="94000"/>
                </a:lnSpc>
              </a:pPr>
              <a:r>
                <a:rPr sz="2400" kern="0" spc="-1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无条件安全和计算上安全</a:t>
              </a:r>
              <a:endParaRPr lang="en-US" altLang="en-US" sz="2400" dirty="0"/>
            </a:p>
          </p:txBody>
        </p:sp>
      </p:grpSp>
      <p:grpSp>
        <p:nvGrpSpPr>
          <p:cNvPr id="296" name="group 26"/>
          <p:cNvGrpSpPr/>
          <p:nvPr/>
        </p:nvGrpSpPr>
        <p:grpSpPr>
          <a:xfrm rot="21600000">
            <a:off x="2948051" y="1351661"/>
            <a:ext cx="1579752" cy="4369180"/>
            <a:chOff x="0" y="0"/>
            <a:chExt cx="1579752" cy="4369180"/>
          </a:xfrm>
        </p:grpSpPr>
        <p:sp>
          <p:nvSpPr>
            <p:cNvPr id="1049361" name="path"/>
            <p:cNvSpPr/>
            <p:nvPr/>
          </p:nvSpPr>
          <p:spPr>
            <a:xfrm>
              <a:off x="0" y="0"/>
              <a:ext cx="1096572" cy="4369180"/>
            </a:xfrm>
            <a:custGeom>
              <a:avLst/>
              <a:gdLst/>
              <a:ahLst/>
              <a:cxnLst/>
              <a:rect l="0" t="0" r="0" b="0"/>
              <a:pathLst>
                <a:path w="1726" h="6880">
                  <a:moveTo>
                    <a:pt x="26" y="4"/>
                  </a:moveTo>
                  <a:cubicBezTo>
                    <a:pt x="1918" y="1448"/>
                    <a:pt x="2282" y="4153"/>
                    <a:pt x="839" y="6046"/>
                  </a:cubicBezTo>
                  <a:cubicBezTo>
                    <a:pt x="600" y="6359"/>
                    <a:pt x="319" y="6638"/>
                    <a:pt x="4" y="6875"/>
                  </a:cubicBezTo>
                  <a:lnTo>
                    <a:pt x="4" y="6875"/>
                  </a:lnTo>
                  <a:cubicBezTo>
                    <a:pt x="1906" y="5443"/>
                    <a:pt x="2286" y="2741"/>
                    <a:pt x="855" y="839"/>
                  </a:cubicBezTo>
                  <a:cubicBezTo>
                    <a:pt x="618" y="524"/>
                    <a:pt x="339" y="243"/>
                    <a:pt x="26" y="4"/>
                  </a:cubicBezTo>
                </a:path>
              </a:pathLst>
            </a:custGeom>
            <a:noFill/>
            <a:ln w="6096" cap="flat">
              <a:solidFill>
                <a:srgbClr val="477BA9">
                  <a:alpha val="100000"/>
                </a:srgbClr>
              </a:solidFill>
              <a:prstDash val="solid"/>
              <a:miter lim="1000000"/>
            </a:ln>
          </p:spPr>
          <p:txBody>
            <a:bodyPr rtlCol="0"/>
            <a:p>
              <a:pPr algn="ctr"/>
              <a:endParaRPr lang="zh-CN" altLang="en-US"/>
            </a:p>
          </p:txBody>
        </p:sp>
        <p:sp>
          <p:nvSpPr>
            <p:cNvPr id="1049362" name="path"/>
            <p:cNvSpPr/>
            <p:nvPr/>
          </p:nvSpPr>
          <p:spPr>
            <a:xfrm>
              <a:off x="234060" y="451230"/>
              <a:ext cx="1014983" cy="1016508"/>
            </a:xfrm>
            <a:custGeom>
              <a:avLst/>
              <a:gdLst/>
              <a:ahLst/>
              <a:cxnLst/>
              <a:rect l="0" t="0" r="0" b="0"/>
              <a:pathLst>
                <a:path w="1598" h="1600">
                  <a:moveTo>
                    <a:pt x="0" y="800"/>
                  </a:moveTo>
                  <a:cubicBezTo>
                    <a:pt x="0" y="358"/>
                    <a:pt x="357" y="0"/>
                    <a:pt x="799" y="0"/>
                  </a:cubicBezTo>
                  <a:cubicBezTo>
                    <a:pt x="1240" y="0"/>
                    <a:pt x="1598" y="358"/>
                    <a:pt x="1598" y="800"/>
                  </a:cubicBezTo>
                  <a:cubicBezTo>
                    <a:pt x="1598" y="1242"/>
                    <a:pt x="1240" y="1600"/>
                    <a:pt x="799" y="1600"/>
                  </a:cubicBezTo>
                  <a:cubicBezTo>
                    <a:pt x="357"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363" name="path"/>
            <p:cNvSpPr/>
            <p:nvPr/>
          </p:nvSpPr>
          <p:spPr>
            <a:xfrm>
              <a:off x="231012" y="448182"/>
              <a:ext cx="1021079" cy="1022603"/>
            </a:xfrm>
            <a:custGeom>
              <a:avLst/>
              <a:gdLst/>
              <a:ahLst/>
              <a:cxnLst/>
              <a:rect l="0" t="0" r="0" b="0"/>
              <a:pathLst>
                <a:path w="1607" h="1610">
                  <a:moveTo>
                    <a:pt x="4" y="805"/>
                  </a:moveTo>
                  <a:cubicBezTo>
                    <a:pt x="4" y="363"/>
                    <a:pt x="362" y="4"/>
                    <a:pt x="803" y="4"/>
                  </a:cubicBezTo>
                  <a:cubicBezTo>
                    <a:pt x="1245" y="4"/>
                    <a:pt x="1603" y="363"/>
                    <a:pt x="1603" y="805"/>
                  </a:cubicBezTo>
                  <a:cubicBezTo>
                    <a:pt x="1603" y="1247"/>
                    <a:pt x="1245" y="1605"/>
                    <a:pt x="803" y="1605"/>
                  </a:cubicBezTo>
                  <a:cubicBezTo>
                    <a:pt x="362"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9364" name="path"/>
            <p:cNvSpPr/>
            <p:nvPr/>
          </p:nvSpPr>
          <p:spPr>
            <a:xfrm>
              <a:off x="560197" y="1670430"/>
              <a:ext cx="1016507" cy="1016508"/>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365" name="path"/>
            <p:cNvSpPr/>
            <p:nvPr/>
          </p:nvSpPr>
          <p:spPr>
            <a:xfrm>
              <a:off x="557149" y="1667382"/>
              <a:ext cx="1022603" cy="1022604"/>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9366" name="path"/>
            <p:cNvSpPr/>
            <p:nvPr/>
          </p:nvSpPr>
          <p:spPr>
            <a:xfrm>
              <a:off x="252348" y="2889630"/>
              <a:ext cx="1016508"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367" name="path"/>
            <p:cNvSpPr/>
            <p:nvPr/>
          </p:nvSpPr>
          <p:spPr>
            <a:xfrm>
              <a:off x="249300" y="2886582"/>
              <a:ext cx="1022604"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9368" name="textbox 258"/>
          <p:cNvSpPr/>
          <p:nvPr/>
        </p:nvSpPr>
        <p:spPr>
          <a:xfrm>
            <a:off x="2745896" y="488157"/>
            <a:ext cx="3448050" cy="483869"/>
          </a:xfrm>
          <a:prstGeom prst="rect">
            <a:avLst/>
          </a:prstGeom>
        </p:spPr>
        <p:txBody>
          <a:bodyPr vert="horz" wrap="square" lIns="0" tIns="0" rIns="0" bIns="0"/>
          <a:p>
            <a:pPr algn="l" rtl="0" eaLnBrk="0">
              <a:lnSpc>
                <a:spcPct val="83000"/>
              </a:lnSpc>
            </a:pPr>
            <a:endParaRPr lang="en-US" altLang="en-US" sz="100" dirty="0"/>
          </a:p>
          <a:p>
            <a:pPr marL="12700" algn="l" rtl="0" eaLnBrk="0">
              <a:lnSpc>
                <a:spcPct val="94000"/>
              </a:lnSpc>
            </a:pPr>
            <a:r>
              <a:rPr sz="3200" kern="0" spc="-9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第</a:t>
            </a:r>
            <a:r>
              <a:rPr lang="zh-CN" sz="3200" kern="0" spc="-9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四</a:t>
            </a:r>
            <a:r>
              <a:rPr sz="3200" kern="0" spc="-9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讲</a:t>
            </a:r>
            <a:r>
              <a:rPr sz="3200" kern="0" spc="45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9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密码分析学</a:t>
            </a:r>
            <a:endParaRPr lang="en-US" altLang="en-US" sz="3200" dirty="0"/>
          </a:p>
        </p:txBody>
      </p:sp>
      <p:sp>
        <p:nvSpPr>
          <p:cNvPr id="1049369"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32" name="picture 264"/>
          <p:cNvPicPr>
            <a:picLocks noChangeAspect="1"/>
          </p:cNvPicPr>
          <p:nvPr/>
        </p:nvPicPr>
        <p:blipFill>
          <a:blip r:embed="rId4"/>
          <a:stretch>
            <a:fillRect/>
          </a:stretch>
        </p:blipFill>
        <p:spPr>
          <a:xfrm rot="21600000">
            <a:off x="824483" y="408431"/>
            <a:ext cx="419100" cy="655320"/>
          </a:xfrm>
          <a:prstGeom prst="rect">
            <a:avLst/>
          </a:prstGeom>
        </p:spPr>
      </p:pic>
      <p:sp>
        <p:nvSpPr>
          <p:cNvPr id="1049370"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286" name=""/>
        <p:cNvGrpSpPr/>
        <p:nvPr/>
      </p:nvGrpSpPr>
      <p:grpSpPr>
        <a:xfrm>
          <a:off x="0" y="0"/>
          <a:ext cx="0" cy="0"/>
          <a:chOff x="0" y="0"/>
          <a:chExt cx="0" cy="0"/>
        </a:xfrm>
      </p:grpSpPr>
      <p:sp>
        <p:nvSpPr>
          <p:cNvPr id="1049335" name="textbox 152"/>
          <p:cNvSpPr/>
          <p:nvPr/>
        </p:nvSpPr>
        <p:spPr>
          <a:xfrm>
            <a:off x="1768513" y="1401869"/>
            <a:ext cx="8673465" cy="4214495"/>
          </a:xfrm>
          <a:prstGeom prst="rect">
            <a:avLst/>
          </a:prstGeom>
        </p:spPr>
        <p:txBody>
          <a:bodyPr vert="horz" wrap="square" lIns="0" tIns="0" rIns="0" bIns="0"/>
          <a:p>
            <a:pPr algn="l" rtl="0" eaLnBrk="0">
              <a:lnSpc>
                <a:spcPct val="90000"/>
              </a:lnSpc>
            </a:pPr>
            <a:endParaRPr lang="en-US" altLang="en-US" sz="100" dirty="0"/>
          </a:p>
          <a:p>
            <a:pPr marL="12700" algn="l" rtl="0" eaLnBrk="0">
              <a:lnSpc>
                <a:spcPct val="95000"/>
              </a:lnSpc>
            </a:pPr>
            <a:r>
              <a:rPr sz="2400" kern="0" spc="-110" dirty="0">
                <a:ln w="8717" cap="flat" cmpd="sng">
                  <a:solidFill>
                    <a:srgbClr val="A50021">
                      <a:alpha val="100000"/>
                    </a:srgbClr>
                  </a:solidFill>
                  <a:prstDash val="solid"/>
                  <a:miter lim="10"/>
                </a:ln>
                <a:solidFill>
                  <a:srgbClr val="A50021">
                    <a:alpha val="100000"/>
                  </a:srgbClr>
                </a:solidFill>
                <a:latin typeface="宋体" panose="02010600030101010101" pitchFamily="2" charset="-122"/>
                <a:ea typeface="宋体" panose="02010600030101010101" pitchFamily="2" charset="-122"/>
                <a:cs typeface="宋体" panose="02010600030101010101" pitchFamily="2" charset="-122"/>
              </a:rPr>
              <a:t>密码分析者攻击密码体制的方法：</a:t>
            </a:r>
            <a:endParaRPr lang="en-US" altLang="en-US" sz="2400" dirty="0"/>
          </a:p>
          <a:p>
            <a:pPr marL="172085" algn="l" rtl="0" eaLnBrk="0">
              <a:lnSpc>
                <a:spcPct val="83000"/>
              </a:lnSpc>
              <a:spcBef>
                <a:spcPts val="1590"/>
              </a:spcBef>
            </a:pPr>
            <a:r>
              <a:rPr sz="2400" kern="0" spc="-190" dirty="0">
                <a:ln w="8708" cap="flat" cmpd="sng">
                  <a:solidFill>
                    <a:srgbClr val="FF0000">
                      <a:alpha val="100000"/>
                    </a:srgbClr>
                  </a:solidFill>
                  <a:prstDash val="solid"/>
                  <a:miter lim="10"/>
                </a:ln>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190" dirty="0">
                <a:solidFill>
                  <a:srgbClr val="FF0000">
                    <a:alpha val="100000"/>
                  </a:srgbClr>
                </a:solidFill>
                <a:latin typeface="Verdana" panose="020B0604030504040204"/>
                <a:ea typeface="Verdana" panose="020B0604030504040204"/>
                <a:cs typeface="Verdana" panose="020B0604030504040204"/>
              </a:rPr>
              <a:t>1</a:t>
            </a:r>
            <a:r>
              <a:rPr sz="2400" kern="0" spc="-190" dirty="0">
                <a:ln w="8708" cap="flat" cmpd="sng">
                  <a:solidFill>
                    <a:srgbClr val="FF0000">
                      <a:alpha val="100000"/>
                    </a:srgbClr>
                  </a:solidFill>
                  <a:prstDash val="solid"/>
                  <a:miter lim="10"/>
                </a:ln>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）穷举攻击：</a:t>
            </a:r>
            <a:r>
              <a:rPr sz="2400" kern="0" spc="66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190" dirty="0">
                <a:ln w="8708"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通过试遍所有的密钥</a:t>
            </a:r>
            <a:r>
              <a:rPr sz="2400" kern="0" spc="-200" dirty="0">
                <a:ln w="8708"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来进行破译。</a:t>
            </a:r>
            <a:endParaRPr lang="en-US" altLang="en-US" sz="2400" dirty="0"/>
          </a:p>
          <a:p>
            <a:pPr marL="848360" algn="l" rtl="0" eaLnBrk="0">
              <a:lnSpc>
                <a:spcPts val="4320"/>
              </a:lnSpc>
            </a:pPr>
            <a:r>
              <a:rPr sz="2400" kern="0" spc="-200" dirty="0">
                <a:ln w="8717" cap="flat" cmpd="sng">
                  <a:solidFill>
                    <a:srgbClr val="0000CC">
                      <a:alpha val="100000"/>
                    </a:srgbClr>
                  </a:solidFill>
                  <a:prstDash val="solid"/>
                  <a:miter lim="10"/>
                </a:ln>
                <a:solidFill>
                  <a:srgbClr val="0000CC">
                    <a:alpha val="100000"/>
                  </a:srgbClr>
                </a:solidFill>
                <a:latin typeface="宋体" panose="02010600030101010101" pitchFamily="2" charset="-122"/>
                <a:ea typeface="宋体" panose="02010600030101010101" pitchFamily="2" charset="-122"/>
                <a:cs typeface="宋体" panose="02010600030101010101" pitchFamily="2" charset="-122"/>
              </a:rPr>
              <a:t>对抗：</a:t>
            </a:r>
            <a:r>
              <a:rPr sz="2400" kern="0" spc="-200" dirty="0">
                <a:solidFill>
                  <a:srgbClr val="0000CC">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200" dirty="0">
                <a:ln w="8717"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可增大密钥的数量。</a:t>
            </a:r>
            <a:endParaRPr lang="en-US" altLang="en-US" sz="2400" dirty="0"/>
          </a:p>
          <a:p>
            <a:pPr marL="172085" algn="l" rtl="0" eaLnBrk="0">
              <a:lnSpc>
                <a:spcPct val="95000"/>
              </a:lnSpc>
              <a:spcBef>
                <a:spcPts val="1920"/>
              </a:spcBef>
            </a:pPr>
            <a:r>
              <a:rPr sz="2400" kern="0" spc="-150" dirty="0">
                <a:ln w="8708" cap="flat" cmpd="sng">
                  <a:solidFill>
                    <a:srgbClr val="FF0000">
                      <a:alpha val="100000"/>
                    </a:srgbClr>
                  </a:solidFill>
                  <a:prstDash val="solid"/>
                  <a:miter lim="10"/>
                </a:ln>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150" dirty="0">
                <a:solidFill>
                  <a:srgbClr val="FF0000">
                    <a:alpha val="100000"/>
                  </a:srgbClr>
                </a:solidFill>
                <a:latin typeface="Verdana" panose="020B0604030504040204"/>
                <a:ea typeface="Verdana" panose="020B0604030504040204"/>
                <a:cs typeface="Verdana" panose="020B0604030504040204"/>
              </a:rPr>
              <a:t>2</a:t>
            </a:r>
            <a:r>
              <a:rPr sz="2400" kern="0" spc="-150" dirty="0">
                <a:ln w="8708" cap="flat" cmpd="sng">
                  <a:solidFill>
                    <a:srgbClr val="FF0000">
                      <a:alpha val="100000"/>
                    </a:srgbClr>
                  </a:solidFill>
                  <a:prstDash val="solid"/>
                  <a:miter lim="10"/>
                </a:ln>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）统计分析攻击</a:t>
            </a:r>
            <a:r>
              <a:rPr sz="2400" kern="0" spc="-160" dirty="0">
                <a:ln w="8708" cap="flat" cmpd="sng">
                  <a:solidFill>
                    <a:srgbClr val="FF0000">
                      <a:alpha val="100000"/>
                    </a:srgbClr>
                  </a:solidFill>
                  <a:prstDash val="solid"/>
                  <a:miter lim="10"/>
                </a:ln>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kern="0" spc="66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160" dirty="0">
                <a:ln w="8708"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通过分析密文和明文的统计规律来破译。</a:t>
            </a:r>
            <a:endParaRPr lang="en-US" altLang="en-US" sz="2400" dirty="0"/>
          </a:p>
          <a:p>
            <a:pPr marL="1056640" algn="l" rtl="0" eaLnBrk="0">
              <a:lnSpc>
                <a:spcPct val="95000"/>
              </a:lnSpc>
              <a:spcBef>
                <a:spcPts val="1585"/>
              </a:spcBef>
            </a:pPr>
            <a:r>
              <a:rPr sz="2400" kern="0" spc="-90" dirty="0">
                <a:ln w="8708" cap="flat" cmpd="sng">
                  <a:solidFill>
                    <a:srgbClr val="0000CC">
                      <a:alpha val="100000"/>
                    </a:srgbClr>
                  </a:solidFill>
                  <a:prstDash val="solid"/>
                  <a:miter lim="10"/>
                </a:ln>
                <a:solidFill>
                  <a:srgbClr val="0000CC">
                    <a:alpha val="100000"/>
                  </a:srgbClr>
                </a:solidFill>
                <a:latin typeface="宋体" panose="02010600030101010101" pitchFamily="2" charset="-122"/>
                <a:ea typeface="宋体" panose="02010600030101010101" pitchFamily="2" charset="-122"/>
                <a:cs typeface="宋体" panose="02010600030101010101" pitchFamily="2" charset="-122"/>
              </a:rPr>
              <a:t>对抗：</a:t>
            </a:r>
            <a:r>
              <a:rPr sz="2400" kern="0" spc="-90" dirty="0">
                <a:solidFill>
                  <a:srgbClr val="0000CC">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90" dirty="0">
                <a:ln w="8708"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设法使明文和密文的统计规律不一样。</a:t>
            </a:r>
            <a:endParaRPr lang="en-US" altLang="en-US" sz="2400" dirty="0"/>
          </a:p>
          <a:p>
            <a:pPr marL="172085" algn="l" rtl="0" eaLnBrk="0">
              <a:lnSpc>
                <a:spcPct val="83000"/>
              </a:lnSpc>
              <a:spcBef>
                <a:spcPts val="1600"/>
              </a:spcBef>
            </a:pPr>
            <a:r>
              <a:rPr sz="2400" kern="0" spc="-310" dirty="0">
                <a:ln w="8708" cap="flat" cmpd="sng">
                  <a:solidFill>
                    <a:srgbClr val="FF0000">
                      <a:alpha val="100000"/>
                    </a:srgbClr>
                  </a:solidFill>
                  <a:prstDash val="solid"/>
                  <a:miter lim="10"/>
                </a:ln>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a:t>
            </a:r>
            <a:r>
              <a:rPr sz="2400" b="1" kern="0" spc="-310" dirty="0">
                <a:solidFill>
                  <a:srgbClr val="FF0000">
                    <a:alpha val="100000"/>
                  </a:srgbClr>
                </a:solidFill>
                <a:latin typeface="Verdana" panose="020B0604030504040204"/>
                <a:ea typeface="Verdana" panose="020B0604030504040204"/>
                <a:cs typeface="Verdana" panose="020B0604030504040204"/>
              </a:rPr>
              <a:t>3</a:t>
            </a:r>
            <a:r>
              <a:rPr sz="2400" kern="0" spc="-310" dirty="0">
                <a:ln w="8708" cap="flat" cmpd="sng">
                  <a:solidFill>
                    <a:srgbClr val="FF0000">
                      <a:alpha val="100000"/>
                    </a:srgbClr>
                  </a:solidFill>
                  <a:prstDash val="solid"/>
                  <a:miter lim="10"/>
                </a:ln>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）解密变换攻击：</a:t>
            </a:r>
            <a:r>
              <a:rPr sz="2400" kern="0" spc="660" dirty="0">
                <a:solidFill>
                  <a:srgbClr val="FF0000">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10" dirty="0">
                <a:ln w="8708"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针对加密变换的数学基础，通过数学求</a:t>
            </a:r>
            <a:r>
              <a:rPr sz="2400" kern="0" spc="0" dirty="0">
                <a:ln w="8708"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解</a:t>
            </a:r>
            <a:endParaRPr lang="en-US" altLang="en-US" sz="2400" dirty="0"/>
          </a:p>
          <a:p>
            <a:pPr marL="15875" algn="l" rtl="0" eaLnBrk="0">
              <a:lnSpc>
                <a:spcPts val="4320"/>
              </a:lnSpc>
            </a:pPr>
            <a:r>
              <a:rPr sz="2400" kern="0" spc="-160" dirty="0">
                <a:ln w="8708"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设法找到解密变换。</a:t>
            </a:r>
            <a:endParaRPr lang="en-US" altLang="en-US" sz="2400" dirty="0"/>
          </a:p>
          <a:p>
            <a:pPr algn="l" rtl="0" eaLnBrk="0">
              <a:lnSpc>
                <a:spcPct val="106000"/>
              </a:lnSpc>
            </a:pPr>
            <a:endParaRPr lang="en-US" altLang="en-US" sz="1500" dirty="0"/>
          </a:p>
          <a:p>
            <a:pPr algn="l" rtl="0" eaLnBrk="0">
              <a:lnSpc>
                <a:spcPct val="7000"/>
              </a:lnSpc>
            </a:pPr>
            <a:endParaRPr lang="en-US" altLang="en-US" sz="100" dirty="0"/>
          </a:p>
          <a:p>
            <a:pPr marL="1056640" algn="l" rtl="0" eaLnBrk="0">
              <a:lnSpc>
                <a:spcPct val="95000"/>
              </a:lnSpc>
            </a:pPr>
            <a:r>
              <a:rPr sz="2400" kern="0" spc="-90" dirty="0">
                <a:ln w="8717" cap="flat" cmpd="sng">
                  <a:solidFill>
                    <a:srgbClr val="0000CC">
                      <a:alpha val="100000"/>
                    </a:srgbClr>
                  </a:solidFill>
                  <a:prstDash val="solid"/>
                  <a:miter lim="10"/>
                </a:ln>
                <a:solidFill>
                  <a:srgbClr val="0000CC">
                    <a:alpha val="100000"/>
                  </a:srgbClr>
                </a:solidFill>
                <a:latin typeface="宋体" panose="02010600030101010101" pitchFamily="2" charset="-122"/>
                <a:ea typeface="宋体" panose="02010600030101010101" pitchFamily="2" charset="-122"/>
                <a:cs typeface="宋体" panose="02010600030101010101" pitchFamily="2" charset="-122"/>
              </a:rPr>
              <a:t>对抗：</a:t>
            </a:r>
            <a:r>
              <a:rPr sz="2400" kern="0" spc="-90" dirty="0">
                <a:solidFill>
                  <a:srgbClr val="0000CC">
                    <a:alpha val="100000"/>
                  </a:srgbClr>
                </a:solidFill>
                <a:latin typeface="宋体" panose="02010600030101010101" pitchFamily="2" charset="-122"/>
                <a:ea typeface="宋体" panose="02010600030101010101" pitchFamily="2" charset="-122"/>
                <a:cs typeface="宋体" panose="02010600030101010101" pitchFamily="2" charset="-122"/>
              </a:rPr>
              <a:t> </a:t>
            </a:r>
            <a:r>
              <a:rPr sz="2400" kern="0" spc="-90" dirty="0">
                <a:ln w="8717"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选用具有坚实的数</a:t>
            </a:r>
            <a:r>
              <a:rPr sz="2400" kern="0" spc="-100" dirty="0">
                <a:ln w="8717" cap="flat" cmpd="sng">
                  <a:solidFill>
                    <a:srgbClr val="000000">
                      <a:alpha val="100000"/>
                    </a:srgbClr>
                  </a:solidFill>
                  <a:prstDash val="solid"/>
                  <a:miter lim="10"/>
                </a:ln>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rPr>
              <a:t>学基础和足够复杂的加密算法。</a:t>
            </a:r>
            <a:endParaRPr lang="en-US" altLang="en-US" sz="2400" dirty="0"/>
          </a:p>
        </p:txBody>
      </p:sp>
      <p:sp>
        <p:nvSpPr>
          <p:cNvPr id="1049336" name="textbox 154"/>
          <p:cNvSpPr/>
          <p:nvPr/>
        </p:nvSpPr>
        <p:spPr>
          <a:xfrm>
            <a:off x="1772891" y="470124"/>
            <a:ext cx="3682365" cy="490219"/>
          </a:xfrm>
          <a:prstGeom prst="rect">
            <a:avLst/>
          </a:prstGeom>
        </p:spPr>
        <p:txBody>
          <a:bodyPr vert="horz" wrap="square" lIns="0" tIns="0" rIns="0" bIns="0"/>
          <a:p>
            <a:pPr algn="l" rtl="0" eaLnBrk="0">
              <a:lnSpc>
                <a:spcPct val="93000"/>
              </a:lnSpc>
            </a:pPr>
            <a:endParaRPr lang="en-US" altLang="en-US" sz="100" dirty="0"/>
          </a:p>
          <a:p>
            <a:pPr marL="12700" algn="l" rtl="0" eaLnBrk="0">
              <a:lnSpc>
                <a:spcPct val="95000"/>
              </a:lnSpc>
            </a:pPr>
            <a:r>
              <a:rPr sz="3200" kern="0" spc="-10" dirty="0">
                <a:ln w="11625" cap="flat" cmpd="sng">
                  <a:solidFill>
                    <a:srgbClr val="C00000">
                      <a:alpha val="100000"/>
                    </a:srgbClr>
                  </a:solidFill>
                  <a:prstDash val="solid"/>
                  <a:miter lim="10"/>
                </a:ln>
                <a:solidFill>
                  <a:srgbClr val="C00000">
                    <a:alpha val="100000"/>
                  </a:srgbClr>
                </a:solidFill>
                <a:latin typeface="宋体" panose="02010600030101010101" pitchFamily="2" charset="-122"/>
                <a:ea typeface="宋体" panose="02010600030101010101" pitchFamily="2" charset="-122"/>
                <a:cs typeface="宋体" panose="02010600030101010101" pitchFamily="2" charset="-122"/>
              </a:rPr>
              <a:t>密码体制的攻击方法</a:t>
            </a:r>
            <a:endParaRPr lang="en-US" altLang="en-US" sz="3200" dirty="0"/>
          </a:p>
        </p:txBody>
      </p:sp>
      <p:sp>
        <p:nvSpPr>
          <p:cNvPr id="1049337"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320" name="picture 160"/>
          <p:cNvPicPr>
            <a:picLocks noChangeAspect="1"/>
          </p:cNvPicPr>
          <p:nvPr/>
        </p:nvPicPr>
        <p:blipFill>
          <a:blip r:embed="rId1"/>
          <a:stretch>
            <a:fillRect/>
          </a:stretch>
        </p:blipFill>
        <p:spPr>
          <a:xfrm rot="21600000">
            <a:off x="824483" y="408431"/>
            <a:ext cx="419100" cy="655320"/>
          </a:xfrm>
          <a:prstGeom prst="rect">
            <a:avLst/>
          </a:prstGeom>
        </p:spPr>
      </p:pic>
      <p:sp>
        <p:nvSpPr>
          <p:cNvPr id="1049338"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287" name=""/>
        <p:cNvGrpSpPr/>
        <p:nvPr/>
      </p:nvGrpSpPr>
      <p:grpSpPr>
        <a:xfrm>
          <a:off x="0" y="0"/>
          <a:ext cx="0" cy="0"/>
          <a:chOff x="0" y="0"/>
          <a:chExt cx="0" cy="0"/>
        </a:xfrm>
      </p:grpSpPr>
      <p:sp>
        <p:nvSpPr>
          <p:cNvPr id="1049339" name="textbox 164"/>
          <p:cNvSpPr/>
          <p:nvPr/>
        </p:nvSpPr>
        <p:spPr>
          <a:xfrm>
            <a:off x="2079013" y="1689637"/>
            <a:ext cx="7014844" cy="2718435"/>
          </a:xfrm>
          <a:prstGeom prst="rect">
            <a:avLst/>
          </a:prstGeom>
        </p:spPr>
        <p:txBody>
          <a:bodyPr vert="horz" wrap="square" lIns="0" tIns="0" rIns="0" bIns="0"/>
          <a:p>
            <a:pPr algn="l" rtl="0" eaLnBrk="0">
              <a:lnSpc>
                <a:spcPct val="78000"/>
              </a:lnSpc>
            </a:pPr>
            <a:endParaRPr lang="en-US" altLang="en-US" sz="100" dirty="0"/>
          </a:p>
          <a:p>
            <a:pPr marL="12700" algn="l" rtl="0" eaLnBrk="0">
              <a:lnSpc>
                <a:spcPct val="95000"/>
              </a:lnSpc>
            </a:pPr>
            <a:r>
              <a:rPr sz="2700" kern="0" spc="130" dirty="0">
                <a:solidFill>
                  <a:srgbClr val="000000">
                    <a:alpha val="100000"/>
                  </a:srgbClr>
                </a:solidFill>
                <a:latin typeface="Arial" panose="020B0604020202020204"/>
                <a:ea typeface="Arial" panose="020B0604020202020204"/>
                <a:cs typeface="Arial" panose="020B0604020202020204"/>
              </a:rPr>
              <a:t>•</a:t>
            </a:r>
            <a:r>
              <a:rPr sz="2700" kern="0" spc="420" dirty="0">
                <a:solidFill>
                  <a:srgbClr val="000000">
                    <a:alpha val="100000"/>
                  </a:srgbClr>
                </a:solidFill>
                <a:latin typeface="Arial" panose="020B0604020202020204"/>
                <a:ea typeface="Arial" panose="020B0604020202020204"/>
                <a:cs typeface="Arial" panose="020B0604020202020204"/>
              </a:rPr>
              <a:t> </a:t>
            </a:r>
            <a:r>
              <a:rPr sz="2700" kern="0" spc="13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唯密文攻击（</a:t>
            </a:r>
            <a:r>
              <a:rPr sz="2700" b="1" kern="0" spc="0" dirty="0">
                <a:solidFill>
                  <a:srgbClr val="000000">
                    <a:alpha val="100000"/>
                  </a:srgbClr>
                </a:solidFill>
                <a:latin typeface="Times New Roman" panose="02020603050405020304"/>
                <a:ea typeface="Times New Roman" panose="02020603050405020304"/>
                <a:cs typeface="Times New Roman" panose="02020603050405020304"/>
              </a:rPr>
              <a:t>Ciphertext</a:t>
            </a:r>
            <a:r>
              <a:rPr sz="2700" b="1" kern="0" spc="13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0" dirty="0">
                <a:solidFill>
                  <a:srgbClr val="000000">
                    <a:alpha val="100000"/>
                  </a:srgbClr>
                </a:solidFill>
                <a:latin typeface="Times New Roman" panose="02020603050405020304"/>
                <a:ea typeface="Times New Roman" panose="02020603050405020304"/>
                <a:cs typeface="Times New Roman" panose="02020603050405020304"/>
              </a:rPr>
              <a:t>Olny</a:t>
            </a:r>
            <a:r>
              <a:rPr sz="2700" b="1" kern="0" spc="-10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0" dirty="0">
                <a:solidFill>
                  <a:srgbClr val="000000">
                    <a:alpha val="100000"/>
                  </a:srgbClr>
                </a:solidFill>
                <a:latin typeface="Times New Roman" panose="02020603050405020304"/>
                <a:ea typeface="Times New Roman" panose="02020603050405020304"/>
                <a:cs typeface="Times New Roman" panose="02020603050405020304"/>
              </a:rPr>
              <a:t>Attack</a:t>
            </a:r>
            <a:r>
              <a:rPr sz="2700" kern="0" spc="13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700" dirty="0"/>
          </a:p>
          <a:p>
            <a:pPr algn="l" rtl="0" eaLnBrk="0">
              <a:lnSpc>
                <a:spcPct val="179000"/>
              </a:lnSpc>
            </a:pPr>
            <a:endParaRPr lang="en-US" altLang="en-US" sz="1000" dirty="0"/>
          </a:p>
          <a:p>
            <a:pPr marL="12700" algn="l" rtl="0" eaLnBrk="0">
              <a:lnSpc>
                <a:spcPts val="3350"/>
              </a:lnSpc>
              <a:spcBef>
                <a:spcPts val="820"/>
              </a:spcBef>
            </a:pPr>
            <a:r>
              <a:rPr sz="2700" kern="0" spc="110" dirty="0">
                <a:solidFill>
                  <a:srgbClr val="000000">
                    <a:alpha val="100000"/>
                  </a:srgbClr>
                </a:solidFill>
                <a:latin typeface="Arial" panose="020B0604020202020204"/>
                <a:ea typeface="Arial" panose="020B0604020202020204"/>
                <a:cs typeface="Arial" panose="020B0604020202020204"/>
              </a:rPr>
              <a:t>•</a:t>
            </a:r>
            <a:r>
              <a:rPr sz="2700" kern="0" spc="640" dirty="0">
                <a:solidFill>
                  <a:srgbClr val="000000">
                    <a:alpha val="100000"/>
                  </a:srgbClr>
                </a:solidFill>
                <a:latin typeface="Arial" panose="020B0604020202020204"/>
                <a:ea typeface="Arial" panose="020B0604020202020204"/>
                <a:cs typeface="Arial" panose="020B0604020202020204"/>
              </a:rPr>
              <a:t> </a:t>
            </a:r>
            <a:r>
              <a:rPr sz="2700" kern="0" spc="11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已知明文攻击（</a:t>
            </a:r>
            <a:r>
              <a:rPr sz="2700" b="1" kern="0" spc="0" dirty="0">
                <a:solidFill>
                  <a:srgbClr val="000000">
                    <a:alpha val="100000"/>
                  </a:srgbClr>
                </a:solidFill>
                <a:latin typeface="Times New Roman" panose="02020603050405020304"/>
                <a:ea typeface="Times New Roman" panose="02020603050405020304"/>
                <a:cs typeface="Times New Roman" panose="02020603050405020304"/>
              </a:rPr>
              <a:t>Known</a:t>
            </a:r>
            <a:r>
              <a:rPr sz="2700" b="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0" dirty="0">
                <a:solidFill>
                  <a:srgbClr val="000000">
                    <a:alpha val="100000"/>
                  </a:srgbClr>
                </a:solidFill>
                <a:latin typeface="Times New Roman" panose="02020603050405020304"/>
                <a:ea typeface="Times New Roman" panose="02020603050405020304"/>
                <a:cs typeface="Times New Roman" panose="02020603050405020304"/>
              </a:rPr>
              <a:t>Plaintext</a:t>
            </a:r>
            <a:r>
              <a:rPr sz="2700" b="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0" dirty="0">
                <a:solidFill>
                  <a:srgbClr val="000000">
                    <a:alpha val="100000"/>
                  </a:srgbClr>
                </a:solidFill>
                <a:latin typeface="Times New Roman" panose="02020603050405020304"/>
                <a:ea typeface="Times New Roman" panose="02020603050405020304"/>
                <a:cs typeface="Times New Roman" panose="02020603050405020304"/>
              </a:rPr>
              <a:t>Attack</a:t>
            </a:r>
            <a:r>
              <a:rPr sz="2700" kern="0" spc="11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700" dirty="0"/>
          </a:p>
          <a:p>
            <a:pPr algn="l" rtl="0" eaLnBrk="0">
              <a:lnSpc>
                <a:spcPct val="157000"/>
              </a:lnSpc>
            </a:pPr>
            <a:endParaRPr lang="en-US" altLang="en-US" sz="1000" dirty="0"/>
          </a:p>
          <a:p>
            <a:pPr marL="12700" algn="l" rtl="0" eaLnBrk="0">
              <a:lnSpc>
                <a:spcPts val="3310"/>
              </a:lnSpc>
              <a:spcBef>
                <a:spcPts val="810"/>
              </a:spcBef>
            </a:pPr>
            <a:r>
              <a:rPr sz="2700" kern="0" spc="140" dirty="0">
                <a:solidFill>
                  <a:srgbClr val="000000">
                    <a:alpha val="100000"/>
                  </a:srgbClr>
                </a:solidFill>
                <a:latin typeface="Arial" panose="020B0604020202020204"/>
                <a:ea typeface="Arial" panose="020B0604020202020204"/>
                <a:cs typeface="Arial" panose="020B0604020202020204"/>
              </a:rPr>
              <a:t>•</a:t>
            </a:r>
            <a:r>
              <a:rPr sz="2700" kern="0" spc="350" dirty="0">
                <a:solidFill>
                  <a:srgbClr val="000000">
                    <a:alpha val="100000"/>
                  </a:srgbClr>
                </a:solidFill>
                <a:latin typeface="Arial" panose="020B0604020202020204"/>
                <a:ea typeface="Arial" panose="020B0604020202020204"/>
                <a:cs typeface="Arial" panose="020B0604020202020204"/>
              </a:rPr>
              <a:t> </a:t>
            </a:r>
            <a:r>
              <a:rPr sz="2700" kern="0" spc="14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选择明文攻击（</a:t>
            </a:r>
            <a:r>
              <a:rPr sz="2700" b="1" kern="0" spc="0" dirty="0">
                <a:solidFill>
                  <a:srgbClr val="000000">
                    <a:alpha val="100000"/>
                  </a:srgbClr>
                </a:solidFill>
                <a:latin typeface="Times New Roman" panose="02020603050405020304"/>
                <a:ea typeface="Times New Roman" panose="02020603050405020304"/>
                <a:cs typeface="Times New Roman" panose="02020603050405020304"/>
              </a:rPr>
              <a:t>Chosen</a:t>
            </a:r>
            <a:r>
              <a:rPr sz="2700" b="1" kern="0" spc="14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0" dirty="0">
                <a:solidFill>
                  <a:srgbClr val="000000">
                    <a:alpha val="100000"/>
                  </a:srgbClr>
                </a:solidFill>
                <a:latin typeface="Times New Roman" panose="02020603050405020304"/>
                <a:ea typeface="Times New Roman" panose="02020603050405020304"/>
                <a:cs typeface="Times New Roman" panose="02020603050405020304"/>
              </a:rPr>
              <a:t>Plaintext</a:t>
            </a:r>
            <a:r>
              <a:rPr sz="2700" b="1" kern="0" spc="-110" dirty="0">
                <a:solidFill>
                  <a:srgbClr val="000000">
                    <a:alpha val="100000"/>
                  </a:srgbClr>
                </a:solidFill>
                <a:latin typeface="Times New Roman" panose="02020603050405020304"/>
                <a:ea typeface="Times New Roman" panose="02020603050405020304"/>
                <a:cs typeface="Times New Roman" panose="02020603050405020304"/>
              </a:rPr>
              <a:t> </a:t>
            </a:r>
            <a:r>
              <a:rPr sz="2700" b="1" kern="0" spc="0" dirty="0">
                <a:solidFill>
                  <a:srgbClr val="000000">
                    <a:alpha val="100000"/>
                  </a:srgbClr>
                </a:solidFill>
                <a:latin typeface="Times New Roman" panose="02020603050405020304"/>
                <a:ea typeface="Times New Roman" panose="02020603050405020304"/>
                <a:cs typeface="Times New Roman" panose="02020603050405020304"/>
              </a:rPr>
              <a:t>Attack</a:t>
            </a:r>
            <a:r>
              <a:rPr sz="2700" kern="0" spc="14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700" dirty="0"/>
          </a:p>
          <a:p>
            <a:pPr algn="l" rtl="0" eaLnBrk="0">
              <a:lnSpc>
                <a:spcPct val="159000"/>
              </a:lnSpc>
            </a:pPr>
            <a:endParaRPr lang="en-US" altLang="en-US" sz="1000" dirty="0"/>
          </a:p>
          <a:p>
            <a:pPr algn="l" rtl="0" eaLnBrk="0">
              <a:lnSpc>
                <a:spcPct val="113000"/>
              </a:lnSpc>
            </a:pPr>
            <a:endParaRPr lang="en-US" altLang="en-US" sz="600" dirty="0"/>
          </a:p>
          <a:p>
            <a:pPr algn="r" rtl="0" eaLnBrk="0">
              <a:lnSpc>
                <a:spcPct val="95000"/>
              </a:lnSpc>
              <a:spcBef>
                <a:spcPts val="5"/>
              </a:spcBef>
            </a:pPr>
            <a:r>
              <a:rPr sz="2700" kern="0" spc="0" dirty="0">
                <a:solidFill>
                  <a:srgbClr val="000000">
                    <a:alpha val="100000"/>
                  </a:srgbClr>
                </a:solidFill>
                <a:latin typeface="Arial" panose="020B0604020202020204"/>
                <a:ea typeface="Arial" panose="020B0604020202020204"/>
                <a:cs typeface="Arial" panose="020B0604020202020204"/>
              </a:rPr>
              <a:t>•</a:t>
            </a:r>
            <a:r>
              <a:rPr sz="2700" kern="0" spc="290" dirty="0">
                <a:solidFill>
                  <a:srgbClr val="000000">
                    <a:alpha val="100000"/>
                  </a:srgbClr>
                </a:solidFill>
                <a:latin typeface="Arial" panose="020B0604020202020204"/>
                <a:ea typeface="Arial" panose="020B0604020202020204"/>
                <a:cs typeface="Arial" panose="020B0604020202020204"/>
              </a:rPr>
              <a:t> </a:t>
            </a:r>
            <a:r>
              <a:rPr sz="2700" kern="0" spc="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选择密文攻击（</a:t>
            </a:r>
            <a:r>
              <a:rPr sz="2700" b="1" kern="0" spc="0" dirty="0">
                <a:solidFill>
                  <a:srgbClr val="000000">
                    <a:alpha val="100000"/>
                  </a:srgbClr>
                </a:solidFill>
                <a:latin typeface="Times New Roman" panose="02020603050405020304"/>
                <a:ea typeface="Times New Roman" panose="02020603050405020304"/>
                <a:cs typeface="Times New Roman" panose="02020603050405020304"/>
              </a:rPr>
              <a:t>Chosen Cipherte</a:t>
            </a:r>
            <a:r>
              <a:rPr sz="2700" b="1" kern="0" spc="-10" dirty="0">
                <a:solidFill>
                  <a:srgbClr val="000000">
                    <a:alpha val="100000"/>
                  </a:srgbClr>
                </a:solidFill>
                <a:latin typeface="Times New Roman" panose="02020603050405020304"/>
                <a:ea typeface="Times New Roman" panose="02020603050405020304"/>
                <a:cs typeface="Times New Roman" panose="02020603050405020304"/>
              </a:rPr>
              <a:t>xt Attack</a:t>
            </a:r>
            <a:r>
              <a:rPr sz="2700" kern="0" spc="-1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700" dirty="0"/>
          </a:p>
        </p:txBody>
      </p:sp>
      <p:graphicFrame>
        <p:nvGraphicFramePr>
          <p:cNvPr id="4194330" name="table 166"/>
          <p:cNvGraphicFramePr>
            <a:graphicFrameLocks noGrp="1"/>
          </p:cNvGraphicFramePr>
          <p:nvPr/>
        </p:nvGraphicFramePr>
        <p:xfrm>
          <a:off x="2449067" y="5426964"/>
          <a:ext cx="7150100" cy="528319"/>
        </p:xfrm>
        <a:graphic>
          <a:graphicData uri="http://schemas.openxmlformats.org/drawingml/2006/table">
            <a:tbl>
              <a:tblPr/>
              <a:tblGrid>
                <a:gridCol w="7150100"/>
              </a:tblGrid>
              <a:tr h="525144">
                <a:tc>
                  <a:txBody>
                    <a:bodyPr/>
                    <a:p>
                      <a:pPr algn="l" rtl="0" eaLnBrk="0">
                        <a:lnSpc>
                          <a:spcPct val="100000"/>
                        </a:lnSpc>
                      </a:pPr>
                      <a:endParaRPr lang="en-US" altLang="en-US" sz="1000" dirty="0"/>
                    </a:p>
                  </a:txBody>
                  <a:tcPr marL="0" marR="0" marT="0" marB="0" vert="horz">
                    <a:lnL w="3175" cap="flat" cmpd="sng" algn="ctr">
                      <a:solidFill>
                        <a:srgbClr val="FFC000"/>
                      </a:solidFill>
                      <a:prstDash val="solid"/>
                      <a:round/>
                      <a:headEnd type="none" w="med" len="med"/>
                      <a:tailEnd type="none" w="med" len="med"/>
                    </a:lnL>
                    <a:lnR w="3175" cap="flat" cmpd="sng" algn="ctr">
                      <a:solidFill>
                        <a:srgbClr val="FFC000"/>
                      </a:solidFill>
                      <a:prstDash val="solid"/>
                      <a:round/>
                      <a:headEnd type="none" w="med" len="med"/>
                      <a:tailEnd type="none" w="med" len="med"/>
                    </a:lnR>
                    <a:lnT w="3175" cap="flat" cmpd="sng" algn="ctr">
                      <a:solidFill>
                        <a:srgbClr val="FFC000"/>
                      </a:solidFill>
                      <a:prstDash val="solid"/>
                      <a:round/>
                      <a:headEnd type="none" w="med" len="med"/>
                      <a:tailEnd type="none" w="med" len="med"/>
                    </a:lnT>
                    <a:lnB w="3175" cap="flat" cmpd="sng" algn="ctr">
                      <a:solidFill>
                        <a:srgbClr val="FFC000"/>
                      </a:solidFill>
                      <a:prstDash val="solid"/>
                      <a:round/>
                      <a:headEnd type="none" w="med" len="med"/>
                      <a:tailEnd type="none" w="med" len="med"/>
                    </a:lnB>
                  </a:tcPr>
                </a:tc>
              </a:tr>
            </a:tbl>
          </a:graphicData>
        </a:graphic>
      </p:graphicFrame>
      <p:pic>
        <p:nvPicPr>
          <p:cNvPr id="2097321" name="picture 168"/>
          <p:cNvPicPr>
            <a:picLocks noChangeAspect="1"/>
          </p:cNvPicPr>
          <p:nvPr/>
        </p:nvPicPr>
        <p:blipFill>
          <a:blip r:embed="rId1"/>
          <a:stretch>
            <a:fillRect/>
          </a:stretch>
        </p:blipFill>
        <p:spPr>
          <a:xfrm rot="21600000">
            <a:off x="2452116" y="5430011"/>
            <a:ext cx="7144511" cy="522732"/>
          </a:xfrm>
          <a:prstGeom prst="rect">
            <a:avLst/>
          </a:prstGeom>
        </p:spPr>
      </p:pic>
      <p:pic>
        <p:nvPicPr>
          <p:cNvPr id="2097322" name="picture 170"/>
          <p:cNvPicPr>
            <a:picLocks noChangeAspect="1"/>
          </p:cNvPicPr>
          <p:nvPr/>
        </p:nvPicPr>
        <p:blipFill>
          <a:blip r:embed="rId2"/>
          <a:stretch>
            <a:fillRect/>
          </a:stretch>
        </p:blipFill>
        <p:spPr>
          <a:xfrm rot="21600000">
            <a:off x="9307961" y="1639823"/>
            <a:ext cx="719065" cy="3649087"/>
          </a:xfrm>
          <a:prstGeom prst="rect">
            <a:avLst/>
          </a:prstGeom>
        </p:spPr>
      </p:pic>
      <p:sp>
        <p:nvSpPr>
          <p:cNvPr id="1049340" name="textbox 172"/>
          <p:cNvSpPr/>
          <p:nvPr/>
        </p:nvSpPr>
        <p:spPr>
          <a:xfrm>
            <a:off x="1591801" y="488157"/>
            <a:ext cx="5253354" cy="483869"/>
          </a:xfrm>
          <a:prstGeom prst="rect">
            <a:avLst/>
          </a:prstGeom>
        </p:spPr>
        <p:txBody>
          <a:bodyPr vert="horz" wrap="square" lIns="0" tIns="0" rIns="0" bIns="0"/>
          <a:p>
            <a:pPr algn="l" rtl="0" eaLnBrk="0">
              <a:lnSpc>
                <a:spcPct val="83000"/>
              </a:lnSpc>
            </a:pPr>
            <a:endParaRPr lang="en-US" altLang="en-US" sz="100" dirty="0"/>
          </a:p>
          <a:p>
            <a:pPr algn="r" rtl="0" eaLnBrk="0">
              <a:lnSpc>
                <a:spcPct val="94000"/>
              </a:lnSpc>
            </a:pPr>
            <a:r>
              <a:rPr sz="3200" kern="0" spc="-160" dirty="0">
                <a:ln w="11625" cap="flat" cmpd="sng">
                  <a:solidFill>
                    <a:srgbClr val="31517D">
                      <a:alpha val="100000"/>
                    </a:srgbClr>
                  </a:solidFill>
                  <a:prstDash val="solid"/>
                  <a:miter lim="10"/>
                </a:ln>
                <a:solidFill>
                  <a:srgbClr val="31517D">
                    <a:alpha val="100000"/>
                  </a:srgbClr>
                </a:solidFill>
                <a:latin typeface="仿宋" panose="02010609060101010101" charset="-122"/>
                <a:ea typeface="仿宋" panose="02010609060101010101" charset="-122"/>
                <a:cs typeface="仿宋" panose="02010609060101010101" charset="-122"/>
              </a:rPr>
              <a:t>密码体制的攻击（</a:t>
            </a:r>
            <a:r>
              <a:rPr sz="3200" kern="0" spc="-160" dirty="0">
                <a:ln w="11625"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密码破译</a:t>
            </a:r>
            <a:r>
              <a:rPr sz="3200" kern="0" spc="-160" dirty="0">
                <a:ln w="11625" cap="flat" cmpd="sng">
                  <a:solidFill>
                    <a:srgbClr val="31517D">
                      <a:alpha val="100000"/>
                    </a:srgbClr>
                  </a:solidFill>
                  <a:prstDash val="solid"/>
                  <a:miter lim="10"/>
                </a:ln>
                <a:solidFill>
                  <a:srgbClr val="31517D">
                    <a:alpha val="100000"/>
                  </a:srgbClr>
                </a:solidFill>
                <a:latin typeface="仿宋" panose="02010609060101010101" charset="-122"/>
                <a:ea typeface="仿宋" panose="02010609060101010101" charset="-122"/>
                <a:cs typeface="仿宋" panose="02010609060101010101" charset="-122"/>
              </a:rPr>
              <a:t>）</a:t>
            </a:r>
            <a:endParaRPr lang="en-US" altLang="en-US" sz="3200" dirty="0"/>
          </a:p>
        </p:txBody>
      </p:sp>
      <p:sp>
        <p:nvSpPr>
          <p:cNvPr id="1049341" name="rect"/>
          <p:cNvSpPr/>
          <p:nvPr/>
        </p:nvSpPr>
        <p:spPr>
          <a:xfrm>
            <a:off x="1465326" y="1019555"/>
            <a:ext cx="9037573" cy="28956"/>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23" name="picture 178"/>
          <p:cNvPicPr>
            <a:picLocks noChangeAspect="1"/>
          </p:cNvPicPr>
          <p:nvPr/>
        </p:nvPicPr>
        <p:blipFill>
          <a:blip r:embed="rId3"/>
          <a:stretch>
            <a:fillRect/>
          </a:stretch>
        </p:blipFill>
        <p:spPr>
          <a:xfrm rot="21600000">
            <a:off x="8881871" y="999744"/>
            <a:ext cx="1501140" cy="461771"/>
          </a:xfrm>
          <a:prstGeom prst="rect">
            <a:avLst/>
          </a:prstGeom>
        </p:spPr>
      </p:pic>
      <p:graphicFrame>
        <p:nvGraphicFramePr>
          <p:cNvPr id="4194331" name="table 180"/>
          <p:cNvGraphicFramePr>
            <a:graphicFrameLocks noGrp="1"/>
          </p:cNvGraphicFramePr>
          <p:nvPr/>
        </p:nvGraphicFramePr>
        <p:xfrm>
          <a:off x="8878823" y="996696"/>
          <a:ext cx="1506855" cy="467359"/>
        </p:xfrm>
        <a:graphic>
          <a:graphicData uri="http://schemas.openxmlformats.org/drawingml/2006/table">
            <a:tbl>
              <a:tblPr/>
              <a:tblGrid>
                <a:gridCol w="1506855"/>
              </a:tblGrid>
              <a:tr h="464184">
                <a:tc>
                  <a:txBody>
                    <a:bodyPr/>
                    <a:p>
                      <a:pPr algn="l" rtl="0" eaLnBrk="0">
                        <a:lnSpc>
                          <a:spcPct val="109000"/>
                        </a:lnSpc>
                      </a:pPr>
                      <a:endParaRPr lang="en-US" altLang="en-US" sz="600" dirty="0"/>
                    </a:p>
                    <a:p>
                      <a:pPr marL="113665" algn="l" rtl="0" eaLnBrk="0">
                        <a:lnSpc>
                          <a:spcPct val="95000"/>
                        </a:lnSpc>
                        <a:spcBef>
                          <a:spcPts val="0"/>
                        </a:spcBef>
                      </a:pPr>
                      <a:r>
                        <a:rPr sz="2400" kern="0" spc="-3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攻击强度</a:t>
                      </a:r>
                      <a:endParaRPr lang="en-US" altLang="en-US" sz="2400" dirty="0"/>
                    </a:p>
                  </a:txBody>
                  <a:tcPr marL="0" marR="0" marT="0" marB="0" vert="horz">
                    <a:lnL w="3175" cap="flat" cmpd="sng" algn="ctr">
                      <a:solidFill>
                        <a:srgbClr val="ED7D31"/>
                      </a:solidFill>
                      <a:prstDash val="solid"/>
                      <a:round/>
                      <a:headEnd type="none" w="med" len="med"/>
                      <a:tailEnd type="none" w="med" len="med"/>
                    </a:lnL>
                    <a:lnR w="3175" cap="flat" cmpd="sng" algn="ctr">
                      <a:solidFill>
                        <a:srgbClr val="ED7D31"/>
                      </a:solidFill>
                      <a:prstDash val="solid"/>
                      <a:round/>
                      <a:headEnd type="none" w="med" len="med"/>
                      <a:tailEnd type="none" w="med" len="med"/>
                    </a:lnR>
                    <a:lnT w="3175" cap="flat" cmpd="sng" algn="ctr">
                      <a:solidFill>
                        <a:srgbClr val="ED7D31"/>
                      </a:solidFill>
                      <a:prstDash val="solid"/>
                      <a:round/>
                      <a:headEnd type="none" w="med" len="med"/>
                      <a:tailEnd type="none" w="med" len="med"/>
                    </a:lnT>
                    <a:lnB w="3175" cap="flat" cmpd="sng" algn="ctr">
                      <a:solidFill>
                        <a:srgbClr val="ED7D31"/>
                      </a:solidFill>
                      <a:prstDash val="solid"/>
                      <a:round/>
                      <a:headEnd type="none" w="med" len="med"/>
                      <a:tailEnd type="none" w="med" len="med"/>
                    </a:lnB>
                  </a:tcPr>
                </a:tc>
              </a:tr>
            </a:tbl>
          </a:graphicData>
        </a:graphic>
      </p:graphicFrame>
      <p:sp>
        <p:nvSpPr>
          <p:cNvPr id="1049342"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324" name="picture 184"/>
          <p:cNvPicPr>
            <a:picLocks noChangeAspect="1"/>
          </p:cNvPicPr>
          <p:nvPr/>
        </p:nvPicPr>
        <p:blipFill>
          <a:blip r:embed="rId4"/>
          <a:stretch>
            <a:fillRect/>
          </a:stretch>
        </p:blipFill>
        <p:spPr>
          <a:xfrm rot="21600000">
            <a:off x="824483" y="408431"/>
            <a:ext cx="419100" cy="65532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288" name=""/>
        <p:cNvGrpSpPr/>
        <p:nvPr/>
      </p:nvGrpSpPr>
      <p:grpSpPr>
        <a:xfrm>
          <a:off x="0" y="0"/>
          <a:ext cx="0" cy="0"/>
          <a:chOff x="0" y="0"/>
          <a:chExt cx="0" cy="0"/>
        </a:xfrm>
      </p:grpSpPr>
      <p:sp>
        <p:nvSpPr>
          <p:cNvPr id="1049343" name="textbox 186"/>
          <p:cNvSpPr/>
          <p:nvPr/>
        </p:nvSpPr>
        <p:spPr>
          <a:xfrm>
            <a:off x="1378989" y="1577877"/>
            <a:ext cx="9862819" cy="4265295"/>
          </a:xfrm>
          <a:prstGeom prst="rect">
            <a:avLst/>
          </a:prstGeom>
        </p:spPr>
        <p:txBody>
          <a:bodyPr vert="horz" wrap="square" lIns="0" tIns="0" rIns="0" bIns="0"/>
          <a:p>
            <a:pPr algn="l" rtl="0" eaLnBrk="0">
              <a:lnSpc>
                <a:spcPct val="83000"/>
              </a:lnSpc>
            </a:pPr>
            <a:endParaRPr lang="en-US" altLang="en-US" sz="100" dirty="0"/>
          </a:p>
          <a:p>
            <a:pPr marL="12700" algn="l" rtl="0" eaLnBrk="0">
              <a:lnSpc>
                <a:spcPts val="3330"/>
              </a:lnSpc>
            </a:pPr>
            <a:r>
              <a:rPr sz="2700" kern="0" spc="60" dirty="0">
                <a:solidFill>
                  <a:srgbClr val="000000">
                    <a:alpha val="100000"/>
                  </a:srgbClr>
                </a:solidFill>
                <a:latin typeface="Arial" panose="020B0604020202020204"/>
                <a:ea typeface="Arial" panose="020B0604020202020204"/>
                <a:cs typeface="Arial" panose="020B0604020202020204"/>
              </a:rPr>
              <a:t>•</a:t>
            </a:r>
            <a:r>
              <a:rPr sz="2700" kern="0" spc="400" dirty="0">
                <a:solidFill>
                  <a:srgbClr val="000000">
                    <a:alpha val="100000"/>
                  </a:srgbClr>
                </a:solidFill>
                <a:latin typeface="Arial" panose="020B0604020202020204"/>
                <a:ea typeface="Arial" panose="020B0604020202020204"/>
                <a:cs typeface="Arial" panose="020B0604020202020204"/>
              </a:rPr>
              <a:t> </a:t>
            </a:r>
            <a:r>
              <a:rPr sz="2700" kern="0" spc="6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密码分析者仅知道一些密</a:t>
            </a:r>
            <a:r>
              <a:rPr sz="2700" kern="0" spc="5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文。</a:t>
            </a:r>
            <a:endParaRPr lang="en-US" altLang="en-US" sz="2700" dirty="0"/>
          </a:p>
          <a:p>
            <a:pPr marL="12700" algn="l" rtl="0" eaLnBrk="0">
              <a:lnSpc>
                <a:spcPts val="3335"/>
              </a:lnSpc>
              <a:spcBef>
                <a:spcPts val="1205"/>
              </a:spcBef>
            </a:pPr>
            <a:r>
              <a:rPr sz="2700" kern="0" spc="90" dirty="0">
                <a:solidFill>
                  <a:srgbClr val="000000">
                    <a:alpha val="100000"/>
                  </a:srgbClr>
                </a:solidFill>
                <a:latin typeface="Arial" panose="020B0604020202020204"/>
                <a:ea typeface="Arial" panose="020B0604020202020204"/>
                <a:cs typeface="Arial" panose="020B0604020202020204"/>
              </a:rPr>
              <a:t>•</a:t>
            </a:r>
            <a:r>
              <a:rPr sz="2700" kern="0" spc="330" dirty="0">
                <a:solidFill>
                  <a:srgbClr val="000000">
                    <a:alpha val="100000"/>
                  </a:srgbClr>
                </a:solidFill>
                <a:latin typeface="Arial" panose="020B0604020202020204"/>
                <a:ea typeface="Arial" panose="020B0604020202020204"/>
                <a:cs typeface="Arial" panose="020B0604020202020204"/>
              </a:rPr>
              <a:t> </a:t>
            </a:r>
            <a:r>
              <a:rPr sz="2700" kern="0" spc="9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最困难，</a:t>
            </a:r>
            <a:r>
              <a:rPr sz="2700" kern="0" spc="90" dirty="0">
                <a:ln w="10154" cap="flat" cmpd="sng">
                  <a:solidFill>
                    <a:srgbClr val="0000FF">
                      <a:alpha val="100000"/>
                    </a:srgbClr>
                  </a:solidFill>
                  <a:prstDash val="solid"/>
                  <a:miter lim="10"/>
                </a:ln>
                <a:solidFill>
                  <a:srgbClr val="0000FF">
                    <a:alpha val="100000"/>
                  </a:srgbClr>
                </a:solidFill>
                <a:latin typeface="仿宋" panose="02010609060101010101" charset="-122"/>
                <a:ea typeface="仿宋" panose="02010609060101010101" charset="-122"/>
                <a:cs typeface="仿宋" panose="02010609060101010101" charset="-122"/>
              </a:rPr>
              <a:t>一般是穷搜索</a:t>
            </a:r>
            <a:r>
              <a:rPr sz="2700" kern="0" spc="9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，对截获密文</a:t>
            </a:r>
            <a:r>
              <a:rPr sz="2700" kern="0" spc="8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用所有可能密钥去试</a:t>
            </a:r>
            <a:endParaRPr lang="en-US" altLang="en-US" sz="2700" dirty="0"/>
          </a:p>
          <a:p>
            <a:pPr marL="12700" algn="l" rtl="0" eaLnBrk="0">
              <a:lnSpc>
                <a:spcPts val="3320"/>
              </a:lnSpc>
              <a:spcBef>
                <a:spcPts val="1195"/>
              </a:spcBef>
            </a:pPr>
            <a:r>
              <a:rPr sz="2700" kern="0" spc="90" dirty="0">
                <a:solidFill>
                  <a:srgbClr val="000000">
                    <a:alpha val="100000"/>
                  </a:srgbClr>
                </a:solidFill>
                <a:latin typeface="Arial" panose="020B0604020202020204"/>
                <a:ea typeface="Arial" panose="020B0604020202020204"/>
                <a:cs typeface="Arial" panose="020B0604020202020204"/>
              </a:rPr>
              <a:t>•</a:t>
            </a:r>
            <a:r>
              <a:rPr sz="2700" kern="0" spc="270" dirty="0">
                <a:solidFill>
                  <a:srgbClr val="000000">
                    <a:alpha val="100000"/>
                  </a:srgbClr>
                </a:solidFill>
                <a:latin typeface="Arial" panose="020B0604020202020204"/>
                <a:ea typeface="Arial" panose="020B0604020202020204"/>
                <a:cs typeface="Arial" panose="020B0604020202020204"/>
              </a:rPr>
              <a:t> </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惟密文攻击敌手知道的信息量最少，</a:t>
            </a:r>
            <a:r>
              <a:rPr sz="2700" kern="0" spc="90" dirty="0">
                <a:ln w="10145" cap="flat" cmpd="sng">
                  <a:solidFill>
                    <a:srgbClr val="0000FF">
                      <a:alpha val="100000"/>
                    </a:srgbClr>
                  </a:solidFill>
                  <a:prstDash val="solid"/>
                  <a:miter lim="10"/>
                </a:ln>
                <a:solidFill>
                  <a:srgbClr val="0000FF">
                    <a:alpha val="100000"/>
                  </a:srgbClr>
                </a:solidFill>
                <a:latin typeface="仿宋" panose="02010609060101010101" charset="-122"/>
                <a:ea typeface="仿宋" panose="02010609060101010101" charset="-122"/>
                <a:cs typeface="仿宋" panose="02010609060101010101" charset="-122"/>
              </a:rPr>
              <a:t>最</a:t>
            </a:r>
            <a:r>
              <a:rPr sz="2700" kern="0" spc="80" dirty="0">
                <a:ln w="10145" cap="flat" cmpd="sng">
                  <a:solidFill>
                    <a:srgbClr val="0000FF">
                      <a:alpha val="100000"/>
                    </a:srgbClr>
                  </a:solidFill>
                  <a:prstDash val="solid"/>
                  <a:miter lim="10"/>
                </a:ln>
                <a:solidFill>
                  <a:srgbClr val="0000FF">
                    <a:alpha val="100000"/>
                  </a:srgbClr>
                </a:solidFill>
                <a:latin typeface="仿宋" panose="02010609060101010101" charset="-122"/>
                <a:ea typeface="仿宋" panose="02010609060101010101" charset="-122"/>
                <a:cs typeface="仿宋" panose="02010609060101010101" charset="-122"/>
              </a:rPr>
              <a:t>易抵抗</a:t>
            </a:r>
            <a:endParaRPr lang="en-US" altLang="en-US" sz="2700" dirty="0"/>
          </a:p>
          <a:p>
            <a:pPr marL="248285" indent="-235585" algn="l" rtl="0" eaLnBrk="0">
              <a:lnSpc>
                <a:spcPct val="115000"/>
              </a:lnSpc>
              <a:spcBef>
                <a:spcPts val="1210"/>
              </a:spcBef>
            </a:pPr>
            <a:r>
              <a:rPr sz="2700" kern="0" spc="90" dirty="0">
                <a:solidFill>
                  <a:srgbClr val="0000FF">
                    <a:alpha val="100000"/>
                  </a:srgbClr>
                </a:solidFill>
                <a:latin typeface="Arial" panose="020B0604020202020204"/>
                <a:ea typeface="Arial" panose="020B0604020202020204"/>
                <a:cs typeface="Arial" panose="020B0604020202020204"/>
              </a:rPr>
              <a:t>•</a:t>
            </a:r>
            <a:r>
              <a:rPr sz="2700" kern="0" spc="320" dirty="0">
                <a:solidFill>
                  <a:srgbClr val="0000FF">
                    <a:alpha val="100000"/>
                  </a:srgbClr>
                </a:solidFill>
                <a:latin typeface="Arial" panose="020B0604020202020204"/>
                <a:ea typeface="Arial" panose="020B0604020202020204"/>
                <a:cs typeface="Arial" panose="020B0604020202020204"/>
              </a:rPr>
              <a:t> </a:t>
            </a:r>
            <a:r>
              <a:rPr sz="2700" kern="0" spc="90" dirty="0">
                <a:ln w="10154" cap="flat" cmpd="sng">
                  <a:solidFill>
                    <a:srgbClr val="0000FF">
                      <a:alpha val="100000"/>
                    </a:srgbClr>
                  </a:solidFill>
                  <a:prstDash val="solid"/>
                  <a:miter lim="10"/>
                </a:ln>
                <a:solidFill>
                  <a:srgbClr val="0000FF">
                    <a:alpha val="100000"/>
                  </a:srgbClr>
                </a:solidFill>
                <a:latin typeface="仿宋" panose="02010609060101010101" charset="-122"/>
                <a:ea typeface="仿宋" panose="02010609060101010101" charset="-122"/>
                <a:cs typeface="仿宋" panose="02010609060101010101" charset="-122"/>
              </a:rPr>
              <a:t>只要有足够的计算时间和存储容量，原则上可成功</a:t>
            </a:r>
            <a:r>
              <a:rPr sz="2700" kern="0" spc="9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，但在实际</a:t>
            </a:r>
            <a:r>
              <a:rPr sz="27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10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上一种能保证安全要求的实用密码算法，都会设计得这一方</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法</a:t>
            </a:r>
            <a:r>
              <a:rPr sz="27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7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在实际上不可行</a:t>
            </a:r>
            <a:endParaRPr lang="en-US" altLang="en-US" sz="2700" dirty="0"/>
          </a:p>
          <a:p>
            <a:pPr algn="l" rtl="0" eaLnBrk="0">
              <a:lnSpc>
                <a:spcPct val="107000"/>
              </a:lnSpc>
            </a:pPr>
            <a:endParaRPr lang="en-US" altLang="en-US" sz="1100" dirty="0"/>
          </a:p>
          <a:p>
            <a:pPr algn="l" rtl="0" eaLnBrk="0">
              <a:lnSpc>
                <a:spcPct val="7000"/>
              </a:lnSpc>
            </a:pPr>
            <a:endParaRPr lang="en-US" altLang="en-US" sz="100" dirty="0"/>
          </a:p>
          <a:p>
            <a:pPr marL="263525" indent="-250825" algn="l" rtl="0" eaLnBrk="0">
              <a:lnSpc>
                <a:spcPct val="111000"/>
              </a:lnSpc>
            </a:pPr>
            <a:r>
              <a:rPr sz="2700" kern="0" spc="90" dirty="0">
                <a:solidFill>
                  <a:srgbClr val="000000">
                    <a:alpha val="100000"/>
                  </a:srgbClr>
                </a:solidFill>
                <a:latin typeface="Arial" panose="020B0604020202020204"/>
                <a:ea typeface="Arial" panose="020B0604020202020204"/>
                <a:cs typeface="Arial" panose="020B0604020202020204"/>
              </a:rPr>
              <a:t>•</a:t>
            </a:r>
            <a:r>
              <a:rPr sz="2700" kern="0" spc="320" dirty="0">
                <a:solidFill>
                  <a:srgbClr val="000000">
                    <a:alpha val="100000"/>
                  </a:srgbClr>
                </a:solidFill>
                <a:latin typeface="Arial" panose="020B0604020202020204"/>
                <a:ea typeface="Arial" panose="020B0604020202020204"/>
                <a:cs typeface="Arial" panose="020B0604020202020204"/>
              </a:rPr>
              <a:t> </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一般的敌手需要对密文进行统计测试分析，为此需要知道被加</a:t>
            </a:r>
            <a:r>
              <a:rPr sz="27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4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密的明文类型，英文文本，</a:t>
            </a:r>
            <a:r>
              <a:rPr sz="2700" kern="0" spc="-72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4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图象等。</a:t>
            </a:r>
            <a:endParaRPr lang="en-US" altLang="en-US" sz="2700" dirty="0"/>
          </a:p>
        </p:txBody>
      </p:sp>
      <p:sp>
        <p:nvSpPr>
          <p:cNvPr id="1049344" name="textbox 188"/>
          <p:cNvSpPr/>
          <p:nvPr/>
        </p:nvSpPr>
        <p:spPr>
          <a:xfrm>
            <a:off x="811783" y="-12700"/>
            <a:ext cx="11393169" cy="1151889"/>
          </a:xfrm>
          <a:prstGeom prst="rect">
            <a:avLst/>
          </a:prstGeom>
        </p:spPr>
        <p:txBody>
          <a:bodyPr vert="horz" wrap="square" lIns="0" tIns="0" rIns="0" bIns="0"/>
          <a:p>
            <a:pPr algn="l" rtl="0" eaLnBrk="0">
              <a:lnSpc>
                <a:spcPct val="111000"/>
              </a:lnSpc>
            </a:pPr>
            <a:endParaRPr lang="en-US" altLang="en-US" sz="1000" dirty="0"/>
          </a:p>
          <a:p>
            <a:pPr algn="l" rtl="0" eaLnBrk="0">
              <a:lnSpc>
                <a:spcPct val="112000"/>
              </a:lnSpc>
            </a:pPr>
            <a:endParaRPr lang="en-US" altLang="en-US" sz="1000" dirty="0"/>
          </a:p>
          <a:p>
            <a:pPr algn="l" rtl="0" eaLnBrk="0">
              <a:lnSpc>
                <a:spcPct val="112000"/>
              </a:lnSpc>
            </a:pPr>
            <a:endParaRPr lang="en-US" altLang="en-US" sz="1000" dirty="0"/>
          </a:p>
          <a:p>
            <a:pPr algn="l" rtl="0" eaLnBrk="0">
              <a:lnSpc>
                <a:spcPct val="10000"/>
              </a:lnSpc>
            </a:pPr>
            <a:endParaRPr lang="en-US" altLang="en-US" sz="100" dirty="0"/>
          </a:p>
          <a:p>
            <a:pPr marL="431800" algn="l" rtl="0" eaLnBrk="0">
              <a:lnSpc>
                <a:spcPct val="94000"/>
              </a:lnSpc>
              <a:tabLst>
                <a:tab pos="653415" algn="l"/>
                <a:tab pos="9690100" algn="l"/>
              </a:tabLst>
            </a:pPr>
            <a:r>
              <a:rPr sz="32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3200" u="sng" kern="0" spc="-650" dirty="0">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3200" u="sng" kern="0" spc="-40" dirty="0">
                <a:ln w="11625" cap="flat" cmpd="sng">
                  <a:solidFill>
                    <a:srgbClr val="000000">
                      <a:alpha val="100000"/>
                    </a:srgbClr>
                  </a:solidFill>
                  <a:prstDash val="solid"/>
                  <a:miter lim="10"/>
                </a:ln>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惟密文攻击</a:t>
            </a:r>
            <a:r>
              <a:rPr sz="3200" u="sng" kern="0" spc="0" dirty="0">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3200" kern="0" spc="-10" dirty="0">
                <a:solidFill>
                  <a:srgbClr val="000000">
                    <a:alpha val="100000"/>
                  </a:srgbClr>
                </a:solidFill>
                <a:latin typeface="仿宋" panose="02010609060101010101" charset="-122"/>
                <a:ea typeface="仿宋" panose="02010609060101010101" charset="-122"/>
                <a:cs typeface="仿宋" panose="02010609060101010101" charset="-122"/>
              </a:rPr>
              <a:t>    </a:t>
            </a:r>
            <a:endParaRPr lang="en-US" altLang="en-US" sz="3200" dirty="0"/>
          </a:p>
        </p:txBody>
      </p:sp>
      <p:pic>
        <p:nvPicPr>
          <p:cNvPr id="2097325" name="picture 192"/>
          <p:cNvPicPr>
            <a:picLocks noChangeAspect="1"/>
          </p:cNvPicPr>
          <p:nvPr/>
        </p:nvPicPr>
        <p:blipFill>
          <a:blip r:embed="rId1"/>
          <a:stretch>
            <a:fillRect/>
          </a:stretch>
        </p:blipFill>
        <p:spPr>
          <a:xfrm rot="21600000">
            <a:off x="824483" y="408431"/>
            <a:ext cx="419100" cy="655320"/>
          </a:xfrm>
          <a:prstGeom prst="rect">
            <a:avLst/>
          </a:prstGeom>
        </p:spPr>
      </p:pic>
      <p:sp>
        <p:nvSpPr>
          <p:cNvPr id="1049345"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1049346" name="textbox 196"/>
          <p:cNvSpPr/>
          <p:nvPr/>
        </p:nvSpPr>
        <p:spPr>
          <a:xfrm>
            <a:off x="10810413" y="6480705"/>
            <a:ext cx="363854" cy="165735"/>
          </a:xfrm>
          <a:prstGeom prst="rect">
            <a:avLst/>
          </a:prstGeom>
        </p:spPr>
        <p:txBody>
          <a:bodyPr vert="horz" wrap="square" lIns="0" tIns="0" rIns="0" bIns="0"/>
          <a:p>
            <a:pPr algn="l" rtl="0" eaLnBrk="0">
              <a:lnSpc>
                <a:spcPct val="89000"/>
              </a:lnSpc>
            </a:pPr>
            <a:endParaRPr lang="en-US" altLang="en-US" sz="100" dirty="0"/>
          </a:p>
          <a:p>
            <a:pPr marL="12700" algn="l" rtl="0" eaLnBrk="0">
              <a:lnSpc>
                <a:spcPct val="76000"/>
              </a:lnSpc>
            </a:pPr>
            <a:r>
              <a:rPr sz="1200" b="1" kern="0" spc="-20" dirty="0">
                <a:solidFill>
                  <a:srgbClr val="898989">
                    <a:alpha val="100000"/>
                  </a:srgbClr>
                </a:solidFill>
                <a:latin typeface="Times New Roman" panose="02020603050405020304"/>
                <a:ea typeface="Times New Roman" panose="02020603050405020304"/>
                <a:cs typeface="Times New Roman" panose="02020603050405020304"/>
              </a:rPr>
              <a:t>10/71</a:t>
            </a:r>
            <a:endParaRPr lang="en-US" alt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289" name=""/>
        <p:cNvGrpSpPr/>
        <p:nvPr/>
      </p:nvGrpSpPr>
      <p:grpSpPr>
        <a:xfrm>
          <a:off x="0" y="0"/>
          <a:ext cx="0" cy="0"/>
          <a:chOff x="0" y="0"/>
          <a:chExt cx="0" cy="0"/>
        </a:xfrm>
      </p:grpSpPr>
      <p:sp>
        <p:nvSpPr>
          <p:cNvPr id="1049347" name="textbox 198"/>
          <p:cNvSpPr/>
          <p:nvPr/>
        </p:nvSpPr>
        <p:spPr>
          <a:xfrm>
            <a:off x="1291486" y="1492153"/>
            <a:ext cx="9862819" cy="2538095"/>
          </a:xfrm>
          <a:prstGeom prst="rect">
            <a:avLst/>
          </a:prstGeom>
        </p:spPr>
        <p:txBody>
          <a:bodyPr vert="horz" wrap="square" lIns="0" tIns="0" rIns="0" bIns="0"/>
          <a:p>
            <a:pPr algn="l" rtl="0" eaLnBrk="0">
              <a:lnSpc>
                <a:spcPct val="83000"/>
              </a:lnSpc>
            </a:pPr>
            <a:endParaRPr lang="en-US" altLang="en-US" sz="100" dirty="0"/>
          </a:p>
          <a:p>
            <a:pPr marL="12700" algn="l" rtl="0" eaLnBrk="0">
              <a:lnSpc>
                <a:spcPts val="3330"/>
              </a:lnSpc>
            </a:pPr>
            <a:r>
              <a:rPr sz="2700" kern="0" spc="70" dirty="0">
                <a:solidFill>
                  <a:srgbClr val="000000">
                    <a:alpha val="100000"/>
                  </a:srgbClr>
                </a:solidFill>
                <a:latin typeface="Arial" panose="020B0604020202020204"/>
                <a:ea typeface="Arial" panose="020B0604020202020204"/>
                <a:cs typeface="Arial" panose="020B0604020202020204"/>
              </a:rPr>
              <a:t>•</a:t>
            </a:r>
            <a:r>
              <a:rPr sz="2700" kern="0" spc="420" dirty="0">
                <a:solidFill>
                  <a:srgbClr val="000000">
                    <a:alpha val="100000"/>
                  </a:srgbClr>
                </a:solidFill>
                <a:latin typeface="Arial" panose="020B0604020202020204"/>
                <a:ea typeface="Arial" panose="020B0604020202020204"/>
                <a:cs typeface="Arial" panose="020B0604020202020204"/>
              </a:rPr>
              <a:t> </a:t>
            </a:r>
            <a:r>
              <a:rPr sz="2700" kern="0" spc="7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密码分析者知道一些明文和相应的密文。</a:t>
            </a:r>
            <a:endParaRPr lang="en-US" altLang="en-US" sz="2700" dirty="0"/>
          </a:p>
          <a:p>
            <a:pPr algn="l" rtl="0" eaLnBrk="0">
              <a:lnSpc>
                <a:spcPct val="107000"/>
              </a:lnSpc>
            </a:pPr>
            <a:endParaRPr lang="en-US" altLang="en-US" sz="900" dirty="0"/>
          </a:p>
          <a:p>
            <a:pPr marL="250825" indent="-238760" algn="l" rtl="0" eaLnBrk="0">
              <a:lnSpc>
                <a:spcPct val="118000"/>
              </a:lnSpc>
              <a:spcBef>
                <a:spcPts val="5"/>
              </a:spcBef>
            </a:pPr>
            <a:r>
              <a:rPr sz="2700" kern="0" spc="90" dirty="0">
                <a:solidFill>
                  <a:srgbClr val="000000">
                    <a:alpha val="100000"/>
                  </a:srgbClr>
                </a:solidFill>
                <a:latin typeface="Arial" panose="020B0604020202020204"/>
                <a:ea typeface="Arial" panose="020B0604020202020204"/>
                <a:cs typeface="Arial" panose="020B0604020202020204"/>
              </a:rPr>
              <a:t>•</a:t>
            </a:r>
            <a:r>
              <a:rPr sz="2700" kern="0" spc="320" dirty="0">
                <a:solidFill>
                  <a:srgbClr val="000000">
                    <a:alpha val="100000"/>
                  </a:srgbClr>
                </a:solidFill>
                <a:latin typeface="Arial" panose="020B0604020202020204"/>
                <a:ea typeface="Arial" panose="020B0604020202020204"/>
                <a:cs typeface="Arial" panose="020B0604020202020204"/>
              </a:rPr>
              <a:t> </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在很多情况下，敌手可能有更多的信息，也许能够截获一个或</a:t>
            </a:r>
            <a:r>
              <a:rPr sz="27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10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多个明文及其对应的密文，或消息中将出现某种明文</a:t>
            </a:r>
            <a:r>
              <a:rPr sz="2700" kern="0" spc="9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格式，这</a:t>
            </a:r>
            <a:r>
              <a:rPr sz="27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10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时的攻击称为已知明文攻击，敌手也许能从已知的明</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文被变换</a:t>
            </a:r>
            <a:r>
              <a:rPr sz="27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8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成密文的方式得到密钥</a:t>
            </a:r>
            <a:endParaRPr lang="en-US" altLang="en-US" sz="2700" dirty="0"/>
          </a:p>
        </p:txBody>
      </p:sp>
      <p:sp>
        <p:nvSpPr>
          <p:cNvPr id="1049348" name="textbox 200"/>
          <p:cNvSpPr/>
          <p:nvPr/>
        </p:nvSpPr>
        <p:spPr>
          <a:xfrm>
            <a:off x="811783" y="-12700"/>
            <a:ext cx="11393169" cy="1156969"/>
          </a:xfrm>
          <a:prstGeom prst="rect">
            <a:avLst/>
          </a:prstGeom>
        </p:spPr>
        <p:txBody>
          <a:bodyPr vert="horz" wrap="square" lIns="0" tIns="0" rIns="0" bIns="0"/>
          <a:p>
            <a:pPr algn="l" rtl="0" eaLnBrk="0">
              <a:lnSpc>
                <a:spcPct val="111000"/>
              </a:lnSpc>
            </a:pPr>
            <a:endParaRPr lang="en-US" altLang="en-US" sz="1000" dirty="0"/>
          </a:p>
          <a:p>
            <a:pPr algn="l" rtl="0" eaLnBrk="0">
              <a:lnSpc>
                <a:spcPct val="112000"/>
              </a:lnSpc>
            </a:pPr>
            <a:endParaRPr lang="en-US" altLang="en-US" sz="1000" dirty="0"/>
          </a:p>
          <a:p>
            <a:pPr algn="l" rtl="0" eaLnBrk="0">
              <a:lnSpc>
                <a:spcPct val="112000"/>
              </a:lnSpc>
            </a:pPr>
            <a:endParaRPr lang="en-US" altLang="en-US" sz="1000" dirty="0"/>
          </a:p>
          <a:p>
            <a:pPr algn="l" rtl="0" eaLnBrk="0">
              <a:lnSpc>
                <a:spcPct val="9000"/>
              </a:lnSpc>
            </a:pPr>
            <a:endParaRPr lang="en-US" altLang="en-US" sz="100" dirty="0"/>
          </a:p>
          <a:p>
            <a:pPr marL="431800" algn="l" rtl="0" eaLnBrk="0">
              <a:lnSpc>
                <a:spcPct val="95000"/>
              </a:lnSpc>
              <a:tabLst>
                <a:tab pos="653415" algn="l"/>
                <a:tab pos="9690100" algn="l"/>
              </a:tabLst>
            </a:pPr>
            <a:r>
              <a:rPr sz="32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3200" u="sng" kern="0" spc="-240" dirty="0">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3200" u="sng" kern="0" spc="-100" dirty="0">
                <a:ln w="11625" cap="flat" cmpd="sng">
                  <a:solidFill>
                    <a:srgbClr val="000000">
                      <a:alpha val="100000"/>
                    </a:srgbClr>
                  </a:solidFill>
                  <a:prstDash val="solid"/>
                  <a:miter lim="10"/>
                </a:ln>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已知明文攻击</a:t>
            </a:r>
            <a:r>
              <a:rPr sz="3200" u="sng" kern="0" spc="0" dirty="0">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3200" kern="0" spc="-10" dirty="0">
                <a:solidFill>
                  <a:srgbClr val="000000">
                    <a:alpha val="100000"/>
                  </a:srgbClr>
                </a:solidFill>
                <a:latin typeface="仿宋" panose="02010609060101010101" charset="-122"/>
                <a:ea typeface="仿宋" panose="02010609060101010101" charset="-122"/>
                <a:cs typeface="仿宋" panose="02010609060101010101" charset="-122"/>
              </a:rPr>
              <a:t>    </a:t>
            </a:r>
            <a:endParaRPr lang="en-US" altLang="en-US" sz="3200" dirty="0"/>
          </a:p>
        </p:txBody>
      </p:sp>
      <p:pic>
        <p:nvPicPr>
          <p:cNvPr id="2097326" name="picture 204"/>
          <p:cNvPicPr>
            <a:picLocks noChangeAspect="1"/>
          </p:cNvPicPr>
          <p:nvPr/>
        </p:nvPicPr>
        <p:blipFill>
          <a:blip r:embed="rId1"/>
          <a:stretch>
            <a:fillRect/>
          </a:stretch>
        </p:blipFill>
        <p:spPr>
          <a:xfrm rot="21600000">
            <a:off x="824483" y="408431"/>
            <a:ext cx="419100" cy="655320"/>
          </a:xfrm>
          <a:prstGeom prst="rect">
            <a:avLst/>
          </a:prstGeom>
        </p:spPr>
      </p:pic>
      <p:sp>
        <p:nvSpPr>
          <p:cNvPr id="1049349"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1049350" name="textbox 208"/>
          <p:cNvSpPr/>
          <p:nvPr/>
        </p:nvSpPr>
        <p:spPr>
          <a:xfrm>
            <a:off x="10818032" y="6480705"/>
            <a:ext cx="356234" cy="165735"/>
          </a:xfrm>
          <a:prstGeom prst="rect">
            <a:avLst/>
          </a:prstGeom>
        </p:spPr>
        <p:txBody>
          <a:bodyPr vert="horz" wrap="square" lIns="0" tIns="0" rIns="0" bIns="0"/>
          <a:p>
            <a:pPr algn="l" rtl="0" eaLnBrk="0">
              <a:lnSpc>
                <a:spcPct val="89000"/>
              </a:lnSpc>
            </a:pPr>
            <a:endParaRPr lang="en-US" altLang="en-US" sz="100" dirty="0"/>
          </a:p>
          <a:p>
            <a:pPr marL="12700" algn="l" rtl="0" eaLnBrk="0">
              <a:lnSpc>
                <a:spcPct val="76000"/>
              </a:lnSpc>
            </a:pPr>
            <a:r>
              <a:rPr sz="1200" b="1" kern="0" spc="-30" dirty="0">
                <a:solidFill>
                  <a:srgbClr val="898989">
                    <a:alpha val="100000"/>
                  </a:srgbClr>
                </a:solidFill>
                <a:latin typeface="Times New Roman" panose="02020603050405020304"/>
                <a:ea typeface="Times New Roman" panose="02020603050405020304"/>
                <a:cs typeface="Times New Roman" panose="02020603050405020304"/>
              </a:rPr>
              <a:t>11/71</a:t>
            </a:r>
            <a:endParaRPr lang="en-US" alt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290" name=""/>
        <p:cNvGrpSpPr/>
        <p:nvPr/>
      </p:nvGrpSpPr>
      <p:grpSpPr>
        <a:xfrm>
          <a:off x="0" y="0"/>
          <a:ext cx="0" cy="0"/>
          <a:chOff x="0" y="0"/>
          <a:chExt cx="0" cy="0"/>
        </a:xfrm>
      </p:grpSpPr>
      <p:sp>
        <p:nvSpPr>
          <p:cNvPr id="1049351" name="textbox 210"/>
          <p:cNvSpPr/>
          <p:nvPr/>
        </p:nvSpPr>
        <p:spPr>
          <a:xfrm>
            <a:off x="1378989" y="1673890"/>
            <a:ext cx="9862184" cy="2493010"/>
          </a:xfrm>
          <a:prstGeom prst="rect">
            <a:avLst/>
          </a:prstGeom>
        </p:spPr>
        <p:txBody>
          <a:bodyPr vert="horz" wrap="square" lIns="0" tIns="0" rIns="0" bIns="0"/>
          <a:p>
            <a:pPr algn="l" rtl="0" eaLnBrk="0">
              <a:lnSpc>
                <a:spcPct val="83000"/>
              </a:lnSpc>
            </a:pPr>
            <a:endParaRPr lang="en-US" altLang="en-US" sz="100" dirty="0"/>
          </a:p>
          <a:p>
            <a:pPr marL="12700" algn="l" rtl="0" eaLnBrk="0">
              <a:lnSpc>
                <a:spcPts val="3310"/>
              </a:lnSpc>
            </a:pPr>
            <a:r>
              <a:rPr sz="2700" kern="0" spc="80" dirty="0">
                <a:solidFill>
                  <a:srgbClr val="000000">
                    <a:alpha val="100000"/>
                  </a:srgbClr>
                </a:solidFill>
                <a:latin typeface="Arial" panose="020B0604020202020204"/>
                <a:ea typeface="Arial" panose="020B0604020202020204"/>
                <a:cs typeface="Arial" panose="020B0604020202020204"/>
              </a:rPr>
              <a:t>•</a:t>
            </a:r>
            <a:r>
              <a:rPr sz="2700" kern="0" spc="390" dirty="0">
                <a:solidFill>
                  <a:srgbClr val="000000">
                    <a:alpha val="100000"/>
                  </a:srgbClr>
                </a:solidFill>
                <a:latin typeface="Arial" panose="020B0604020202020204"/>
                <a:ea typeface="Arial" panose="020B0604020202020204"/>
                <a:cs typeface="Arial" panose="020B0604020202020204"/>
              </a:rPr>
              <a:t> </a:t>
            </a:r>
            <a:r>
              <a:rPr sz="2700" kern="0" spc="8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密码分析者可以选择一些明文，并得到相应的密文</a:t>
            </a:r>
            <a:r>
              <a:rPr sz="2700" kern="0" spc="7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700" dirty="0"/>
          </a:p>
          <a:p>
            <a:pPr algn="l" rtl="0" eaLnBrk="0">
              <a:lnSpc>
                <a:spcPct val="120000"/>
              </a:lnSpc>
            </a:pPr>
            <a:endParaRPr lang="en-US" altLang="en-US" sz="1000" dirty="0"/>
          </a:p>
          <a:p>
            <a:pPr marL="245745" indent="-233045" algn="l" rtl="0" eaLnBrk="0">
              <a:lnSpc>
                <a:spcPct val="126000"/>
              </a:lnSpc>
              <a:spcBef>
                <a:spcPts val="810"/>
              </a:spcBef>
            </a:pPr>
            <a:r>
              <a:rPr sz="2700" kern="0" spc="90" dirty="0">
                <a:solidFill>
                  <a:srgbClr val="000000">
                    <a:alpha val="100000"/>
                  </a:srgbClr>
                </a:solidFill>
                <a:latin typeface="Arial" panose="020B0604020202020204"/>
                <a:ea typeface="Arial" panose="020B0604020202020204"/>
                <a:cs typeface="Arial" panose="020B0604020202020204"/>
              </a:rPr>
              <a:t>•</a:t>
            </a:r>
            <a:r>
              <a:rPr sz="2700" kern="0" spc="310" dirty="0">
                <a:solidFill>
                  <a:srgbClr val="000000">
                    <a:alpha val="100000"/>
                  </a:srgbClr>
                </a:solidFill>
                <a:latin typeface="Arial" panose="020B0604020202020204"/>
                <a:ea typeface="Arial" panose="020B0604020202020204"/>
                <a:cs typeface="Arial" panose="020B0604020202020204"/>
              </a:rPr>
              <a:t> </a:t>
            </a:r>
            <a:r>
              <a:rPr sz="2700" kern="0" spc="9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如果攻击者能在加密系统中插入自己选择的明文消息，则通过</a:t>
            </a:r>
            <a:r>
              <a:rPr sz="27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10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该明文消息对应的密文有可能确定出</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密钥的结构</a:t>
            </a:r>
            <a:endParaRPr lang="en-US" altLang="en-US" sz="2700" dirty="0"/>
          </a:p>
          <a:p>
            <a:pPr algn="l" rtl="0" eaLnBrk="0">
              <a:lnSpc>
                <a:spcPct val="132000"/>
              </a:lnSpc>
            </a:pPr>
            <a:endParaRPr lang="en-US" altLang="en-US" sz="1000" dirty="0"/>
          </a:p>
          <a:p>
            <a:pPr algn="l" rtl="0" eaLnBrk="0">
              <a:lnSpc>
                <a:spcPct val="112000"/>
              </a:lnSpc>
            </a:pPr>
            <a:endParaRPr lang="en-US" altLang="en-US" sz="600" dirty="0"/>
          </a:p>
          <a:p>
            <a:pPr marL="12700" algn="l" rtl="0" eaLnBrk="0">
              <a:lnSpc>
                <a:spcPts val="3310"/>
              </a:lnSpc>
              <a:spcBef>
                <a:spcPts val="5"/>
              </a:spcBef>
            </a:pPr>
            <a:r>
              <a:rPr sz="2700" kern="0" spc="50" dirty="0">
                <a:solidFill>
                  <a:srgbClr val="000000">
                    <a:alpha val="100000"/>
                  </a:srgbClr>
                </a:solidFill>
                <a:latin typeface="Arial" panose="020B0604020202020204"/>
                <a:ea typeface="Arial" panose="020B0604020202020204"/>
                <a:cs typeface="Arial" panose="020B0604020202020204"/>
              </a:rPr>
              <a:t>•</a:t>
            </a:r>
            <a:r>
              <a:rPr sz="2700" kern="0" spc="460" dirty="0">
                <a:solidFill>
                  <a:srgbClr val="000000">
                    <a:alpha val="100000"/>
                  </a:srgbClr>
                </a:solidFill>
                <a:latin typeface="Arial" panose="020B0604020202020204"/>
                <a:ea typeface="Arial" panose="020B0604020202020204"/>
                <a:cs typeface="Arial" panose="020B0604020202020204"/>
              </a:rPr>
              <a:t> </a:t>
            </a:r>
            <a:r>
              <a:rPr sz="2700" kern="0" spc="5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明文可以是精心选择的</a:t>
            </a:r>
            <a:endParaRPr lang="en-US" altLang="en-US" sz="2700" dirty="0"/>
          </a:p>
        </p:txBody>
      </p:sp>
      <p:sp>
        <p:nvSpPr>
          <p:cNvPr id="1049352" name="textbox 212"/>
          <p:cNvSpPr/>
          <p:nvPr/>
        </p:nvSpPr>
        <p:spPr>
          <a:xfrm>
            <a:off x="811783" y="-12700"/>
            <a:ext cx="11393169" cy="1150619"/>
          </a:xfrm>
          <a:prstGeom prst="rect">
            <a:avLst/>
          </a:prstGeom>
        </p:spPr>
        <p:txBody>
          <a:bodyPr vert="horz" wrap="square" lIns="0" tIns="0" rIns="0" bIns="0"/>
          <a:p>
            <a:pPr algn="l" rtl="0" eaLnBrk="0">
              <a:lnSpc>
                <a:spcPct val="112000"/>
              </a:lnSpc>
            </a:pPr>
            <a:endParaRPr lang="en-US" altLang="en-US" sz="1000" dirty="0"/>
          </a:p>
          <a:p>
            <a:pPr algn="l" rtl="0" eaLnBrk="0">
              <a:lnSpc>
                <a:spcPct val="113000"/>
              </a:lnSpc>
            </a:pPr>
            <a:endParaRPr lang="en-US" altLang="en-US" sz="1000" dirty="0"/>
          </a:p>
          <a:p>
            <a:pPr algn="l" rtl="0" eaLnBrk="0">
              <a:lnSpc>
                <a:spcPct val="113000"/>
              </a:lnSpc>
            </a:pPr>
            <a:endParaRPr lang="en-US" altLang="en-US" sz="1000" dirty="0"/>
          </a:p>
          <a:p>
            <a:pPr marL="431800" algn="l" rtl="0" eaLnBrk="0">
              <a:lnSpc>
                <a:spcPct val="93000"/>
              </a:lnSpc>
              <a:spcBef>
                <a:spcPts val="0"/>
              </a:spcBef>
              <a:tabLst>
                <a:tab pos="653415" algn="l"/>
                <a:tab pos="9690100" algn="l"/>
              </a:tabLst>
            </a:pPr>
            <a:r>
              <a:rPr sz="32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3200" u="sng" kern="0" spc="-600" dirty="0">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3200" u="sng" kern="0" spc="-40" dirty="0">
                <a:ln w="11625" cap="flat" cmpd="sng">
                  <a:solidFill>
                    <a:srgbClr val="000000">
                      <a:alpha val="100000"/>
                    </a:srgbClr>
                  </a:solidFill>
                  <a:prstDash val="solid"/>
                  <a:miter lim="10"/>
                </a:ln>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选择明文攻击</a:t>
            </a:r>
            <a:r>
              <a:rPr sz="3200" u="sng" kern="0" spc="0" dirty="0">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3200" kern="0" spc="-10" dirty="0">
                <a:solidFill>
                  <a:srgbClr val="000000">
                    <a:alpha val="100000"/>
                  </a:srgbClr>
                </a:solidFill>
                <a:latin typeface="仿宋" panose="02010609060101010101" charset="-122"/>
                <a:ea typeface="仿宋" panose="02010609060101010101" charset="-122"/>
                <a:cs typeface="仿宋" panose="02010609060101010101" charset="-122"/>
              </a:rPr>
              <a:t>    </a:t>
            </a:r>
            <a:endParaRPr lang="en-US" altLang="en-US" sz="3200" dirty="0"/>
          </a:p>
        </p:txBody>
      </p:sp>
      <p:pic>
        <p:nvPicPr>
          <p:cNvPr id="2097327" name="picture 216"/>
          <p:cNvPicPr>
            <a:picLocks noChangeAspect="1"/>
          </p:cNvPicPr>
          <p:nvPr/>
        </p:nvPicPr>
        <p:blipFill>
          <a:blip r:embed="rId1"/>
          <a:stretch>
            <a:fillRect/>
          </a:stretch>
        </p:blipFill>
        <p:spPr>
          <a:xfrm rot="21600000">
            <a:off x="824483" y="408431"/>
            <a:ext cx="419100" cy="655320"/>
          </a:xfrm>
          <a:prstGeom prst="rect">
            <a:avLst/>
          </a:prstGeom>
        </p:spPr>
      </p:pic>
      <p:sp>
        <p:nvSpPr>
          <p:cNvPr id="1049353"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1049354" name="textbox 220"/>
          <p:cNvSpPr/>
          <p:nvPr/>
        </p:nvSpPr>
        <p:spPr>
          <a:xfrm>
            <a:off x="10810413" y="6480705"/>
            <a:ext cx="363854" cy="165735"/>
          </a:xfrm>
          <a:prstGeom prst="rect">
            <a:avLst/>
          </a:prstGeom>
        </p:spPr>
        <p:txBody>
          <a:bodyPr vert="horz" wrap="square" lIns="0" tIns="0" rIns="0" bIns="0"/>
          <a:p>
            <a:pPr algn="l" rtl="0" eaLnBrk="0">
              <a:lnSpc>
                <a:spcPct val="89000"/>
              </a:lnSpc>
            </a:pPr>
            <a:endParaRPr lang="en-US" altLang="en-US" sz="100" dirty="0"/>
          </a:p>
          <a:p>
            <a:pPr marL="12700" algn="l" rtl="0" eaLnBrk="0">
              <a:lnSpc>
                <a:spcPct val="76000"/>
              </a:lnSpc>
            </a:pPr>
            <a:r>
              <a:rPr sz="1200" b="1" kern="0" spc="-20" dirty="0">
                <a:solidFill>
                  <a:srgbClr val="898989">
                    <a:alpha val="100000"/>
                  </a:srgbClr>
                </a:solidFill>
                <a:latin typeface="Times New Roman" panose="02020603050405020304"/>
                <a:ea typeface="Times New Roman" panose="02020603050405020304"/>
                <a:cs typeface="Times New Roman" panose="02020603050405020304"/>
              </a:rPr>
              <a:t>12/71</a:t>
            </a:r>
            <a:endParaRPr lang="en-US" alt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291" name=""/>
        <p:cNvGrpSpPr/>
        <p:nvPr/>
      </p:nvGrpSpPr>
      <p:grpSpPr>
        <a:xfrm>
          <a:off x="0" y="0"/>
          <a:ext cx="0" cy="0"/>
          <a:chOff x="0" y="0"/>
          <a:chExt cx="0" cy="0"/>
        </a:xfrm>
      </p:grpSpPr>
      <p:sp>
        <p:nvSpPr>
          <p:cNvPr id="1049355" name="textbox 222"/>
          <p:cNvSpPr/>
          <p:nvPr/>
        </p:nvSpPr>
        <p:spPr>
          <a:xfrm>
            <a:off x="1378989" y="1673890"/>
            <a:ext cx="9785350" cy="2493010"/>
          </a:xfrm>
          <a:prstGeom prst="rect">
            <a:avLst/>
          </a:prstGeom>
        </p:spPr>
        <p:txBody>
          <a:bodyPr vert="horz" wrap="square" lIns="0" tIns="0" rIns="0" bIns="0"/>
          <a:p>
            <a:pPr algn="l" rtl="0" eaLnBrk="0">
              <a:lnSpc>
                <a:spcPct val="83000"/>
              </a:lnSpc>
            </a:pPr>
            <a:endParaRPr lang="en-US" altLang="en-US" sz="100" dirty="0"/>
          </a:p>
          <a:p>
            <a:pPr marL="12700" algn="l" rtl="0" eaLnBrk="0">
              <a:lnSpc>
                <a:spcPts val="3310"/>
              </a:lnSpc>
            </a:pPr>
            <a:r>
              <a:rPr sz="2700" kern="0" spc="80" dirty="0">
                <a:solidFill>
                  <a:srgbClr val="000000">
                    <a:alpha val="100000"/>
                  </a:srgbClr>
                </a:solidFill>
                <a:latin typeface="Arial" panose="020B0604020202020204"/>
                <a:ea typeface="Arial" panose="020B0604020202020204"/>
                <a:cs typeface="Arial" panose="020B0604020202020204"/>
              </a:rPr>
              <a:t>•</a:t>
            </a:r>
            <a:r>
              <a:rPr sz="2700" kern="0" spc="390" dirty="0">
                <a:solidFill>
                  <a:srgbClr val="000000">
                    <a:alpha val="100000"/>
                  </a:srgbClr>
                </a:solidFill>
                <a:latin typeface="Arial" panose="020B0604020202020204"/>
                <a:ea typeface="Arial" panose="020B0604020202020204"/>
                <a:cs typeface="Arial" panose="020B0604020202020204"/>
              </a:rPr>
              <a:t> </a:t>
            </a:r>
            <a:r>
              <a:rPr sz="2700" kern="0" spc="8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密码分析者可以选择一些密文，并得到相应的明文</a:t>
            </a:r>
            <a:r>
              <a:rPr sz="2700" kern="0" spc="7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a:t>
            </a:r>
            <a:endParaRPr lang="en-US" altLang="en-US" sz="2700" dirty="0"/>
          </a:p>
          <a:p>
            <a:pPr algn="l" rtl="0" eaLnBrk="0">
              <a:lnSpc>
                <a:spcPct val="120000"/>
              </a:lnSpc>
            </a:pPr>
            <a:endParaRPr lang="en-US" altLang="en-US" sz="1000" dirty="0"/>
          </a:p>
          <a:p>
            <a:pPr marL="241935" indent="-229235" algn="l" rtl="0" eaLnBrk="0">
              <a:lnSpc>
                <a:spcPct val="126000"/>
              </a:lnSpc>
              <a:spcBef>
                <a:spcPts val="810"/>
              </a:spcBef>
            </a:pPr>
            <a:r>
              <a:rPr sz="2700" kern="0" spc="80" dirty="0">
                <a:solidFill>
                  <a:srgbClr val="000000">
                    <a:alpha val="100000"/>
                  </a:srgbClr>
                </a:solidFill>
                <a:latin typeface="Arial" panose="020B0604020202020204"/>
                <a:ea typeface="Arial" panose="020B0604020202020204"/>
                <a:cs typeface="Arial" panose="020B0604020202020204"/>
              </a:rPr>
              <a:t>•</a:t>
            </a:r>
            <a:r>
              <a:rPr sz="2700" kern="0" spc="230" dirty="0">
                <a:solidFill>
                  <a:srgbClr val="000000">
                    <a:alpha val="100000"/>
                  </a:srgbClr>
                </a:solidFill>
                <a:latin typeface="Arial" panose="020B0604020202020204"/>
                <a:ea typeface="Arial" panose="020B0604020202020204"/>
                <a:cs typeface="Arial" panose="020B0604020202020204"/>
              </a:rPr>
              <a:t> </a:t>
            </a:r>
            <a:r>
              <a:rPr sz="2700" kern="0" spc="8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攻击者利用解密算法，对自己</a:t>
            </a:r>
            <a:r>
              <a:rPr sz="2700" kern="0" spc="7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所选的密文解密出相应的明文，</a:t>
            </a:r>
            <a:r>
              <a:rPr sz="27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有可能确定出密钥信息</a:t>
            </a:r>
            <a:endParaRPr lang="en-US" altLang="en-US" sz="2700" dirty="0"/>
          </a:p>
          <a:p>
            <a:pPr algn="l" rtl="0" eaLnBrk="0">
              <a:lnSpc>
                <a:spcPct val="132000"/>
              </a:lnSpc>
            </a:pPr>
            <a:endParaRPr lang="en-US" altLang="en-US" sz="1000" dirty="0"/>
          </a:p>
          <a:p>
            <a:pPr algn="l" rtl="0" eaLnBrk="0">
              <a:lnSpc>
                <a:spcPct val="112000"/>
              </a:lnSpc>
            </a:pPr>
            <a:endParaRPr lang="en-US" altLang="en-US" sz="600" dirty="0"/>
          </a:p>
          <a:p>
            <a:pPr marL="12700" algn="l" rtl="0" eaLnBrk="0">
              <a:lnSpc>
                <a:spcPts val="3310"/>
              </a:lnSpc>
              <a:spcBef>
                <a:spcPts val="5"/>
              </a:spcBef>
            </a:pPr>
            <a:r>
              <a:rPr sz="2700" kern="0" spc="80" dirty="0">
                <a:solidFill>
                  <a:srgbClr val="000000">
                    <a:alpha val="100000"/>
                  </a:srgbClr>
                </a:solidFill>
                <a:latin typeface="Arial" panose="020B0604020202020204"/>
                <a:ea typeface="Arial" panose="020B0604020202020204"/>
                <a:cs typeface="Arial" panose="020B0604020202020204"/>
              </a:rPr>
              <a:t>•</a:t>
            </a:r>
            <a:r>
              <a:rPr sz="2700" kern="0" spc="290" dirty="0">
                <a:solidFill>
                  <a:srgbClr val="000000">
                    <a:alpha val="100000"/>
                  </a:srgbClr>
                </a:solidFill>
                <a:latin typeface="Arial" panose="020B0604020202020204"/>
                <a:ea typeface="Arial" panose="020B0604020202020204"/>
                <a:cs typeface="Arial" panose="020B0604020202020204"/>
              </a:rPr>
              <a:t> </a:t>
            </a:r>
            <a:r>
              <a:rPr sz="2700" kern="0" spc="8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选择的密文可以与要破解的密文相关</a:t>
            </a:r>
            <a:endParaRPr lang="en-US" altLang="en-US" sz="2700" dirty="0"/>
          </a:p>
        </p:txBody>
      </p:sp>
      <p:sp>
        <p:nvSpPr>
          <p:cNvPr id="1049356" name="textbox 224"/>
          <p:cNvSpPr/>
          <p:nvPr/>
        </p:nvSpPr>
        <p:spPr>
          <a:xfrm>
            <a:off x="811783" y="-12700"/>
            <a:ext cx="11393169" cy="1150619"/>
          </a:xfrm>
          <a:prstGeom prst="rect">
            <a:avLst/>
          </a:prstGeom>
        </p:spPr>
        <p:txBody>
          <a:bodyPr vert="horz" wrap="square" lIns="0" tIns="0" rIns="0" bIns="0"/>
          <a:p>
            <a:pPr algn="l" rtl="0" eaLnBrk="0">
              <a:lnSpc>
                <a:spcPct val="149000"/>
              </a:lnSpc>
            </a:pPr>
            <a:endParaRPr lang="en-US" altLang="en-US" sz="1000" dirty="0"/>
          </a:p>
          <a:p>
            <a:pPr algn="l" rtl="0" eaLnBrk="0">
              <a:lnSpc>
                <a:spcPct val="149000"/>
              </a:lnSpc>
            </a:pPr>
            <a:endParaRPr lang="en-US" altLang="en-US" sz="1000" dirty="0"/>
          </a:p>
          <a:p>
            <a:pPr marL="431800" algn="l" rtl="0" eaLnBrk="0">
              <a:lnSpc>
                <a:spcPct val="93000"/>
              </a:lnSpc>
              <a:spcBef>
                <a:spcPts val="5"/>
              </a:spcBef>
              <a:tabLst>
                <a:tab pos="653415" algn="l"/>
                <a:tab pos="9690100" algn="l"/>
              </a:tabLst>
            </a:pPr>
            <a:r>
              <a:rPr sz="32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3200" u="sng" kern="0" spc="-730" dirty="0">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3200" u="sng" kern="0" spc="-40" dirty="0">
                <a:ln w="11625" cap="flat" cmpd="sng">
                  <a:solidFill>
                    <a:srgbClr val="000000">
                      <a:alpha val="100000"/>
                    </a:srgbClr>
                  </a:solidFill>
                  <a:prstDash val="solid"/>
                  <a:miter lim="10"/>
                </a:ln>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选择密文攻击</a:t>
            </a:r>
            <a:r>
              <a:rPr sz="3200" u="sng" kern="0" spc="0" dirty="0">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3200" kern="0" spc="-10" dirty="0">
                <a:solidFill>
                  <a:srgbClr val="000000">
                    <a:alpha val="100000"/>
                  </a:srgbClr>
                </a:solidFill>
                <a:latin typeface="仿宋" panose="02010609060101010101" charset="-122"/>
                <a:ea typeface="仿宋" panose="02010609060101010101" charset="-122"/>
                <a:cs typeface="仿宋" panose="02010609060101010101" charset="-122"/>
              </a:rPr>
              <a:t>    </a:t>
            </a:r>
            <a:endParaRPr lang="en-US" altLang="en-US" sz="3200" dirty="0"/>
          </a:p>
        </p:txBody>
      </p:sp>
      <p:pic>
        <p:nvPicPr>
          <p:cNvPr id="2097328" name="picture 228"/>
          <p:cNvPicPr>
            <a:picLocks noChangeAspect="1"/>
          </p:cNvPicPr>
          <p:nvPr/>
        </p:nvPicPr>
        <p:blipFill>
          <a:blip r:embed="rId1"/>
          <a:stretch>
            <a:fillRect/>
          </a:stretch>
        </p:blipFill>
        <p:spPr>
          <a:xfrm rot="21600000">
            <a:off x="824483" y="408431"/>
            <a:ext cx="419100" cy="655320"/>
          </a:xfrm>
          <a:prstGeom prst="rect">
            <a:avLst/>
          </a:prstGeom>
        </p:spPr>
      </p:pic>
      <p:sp>
        <p:nvSpPr>
          <p:cNvPr id="1049357"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292" name=""/>
        <p:cNvGrpSpPr/>
        <p:nvPr/>
      </p:nvGrpSpPr>
      <p:grpSpPr>
        <a:xfrm>
          <a:off x="0" y="0"/>
          <a:ext cx="0" cy="0"/>
          <a:chOff x="0" y="0"/>
          <a:chExt cx="0" cy="0"/>
        </a:xfrm>
      </p:grpSpPr>
      <p:grpSp>
        <p:nvGrpSpPr>
          <p:cNvPr id="293" name="group 20"/>
          <p:cNvGrpSpPr/>
          <p:nvPr/>
        </p:nvGrpSpPr>
        <p:grpSpPr>
          <a:xfrm rot="21600000">
            <a:off x="3689603" y="1905000"/>
            <a:ext cx="5606796" cy="812291"/>
            <a:chOff x="0" y="0"/>
            <a:chExt cx="5606796" cy="812291"/>
          </a:xfrm>
        </p:grpSpPr>
        <p:pic>
          <p:nvPicPr>
            <p:cNvPr id="2097329" name="picture 232"/>
            <p:cNvPicPr>
              <a:picLocks noChangeAspect="1"/>
            </p:cNvPicPr>
            <p:nvPr/>
          </p:nvPicPr>
          <p:blipFill>
            <a:blip r:embed="rId1"/>
            <a:stretch>
              <a:fillRect/>
            </a:stretch>
          </p:blipFill>
          <p:spPr>
            <a:xfrm rot="21600000">
              <a:off x="0" y="0"/>
              <a:ext cx="5606796" cy="812291"/>
            </a:xfrm>
            <a:prstGeom prst="rect">
              <a:avLst/>
            </a:prstGeom>
          </p:spPr>
        </p:pic>
        <p:sp>
          <p:nvSpPr>
            <p:cNvPr id="1049358" name="textbox 234"/>
            <p:cNvSpPr/>
            <p:nvPr/>
          </p:nvSpPr>
          <p:spPr>
            <a:xfrm>
              <a:off x="-12700" y="-12700"/>
              <a:ext cx="5632450" cy="880110"/>
            </a:xfrm>
            <a:prstGeom prst="rect">
              <a:avLst/>
            </a:prstGeom>
          </p:spPr>
          <p:txBody>
            <a:bodyPr vert="horz" wrap="square" lIns="0" tIns="0" rIns="0" bIns="0"/>
            <a:p>
              <a:pPr algn="l" rtl="0" eaLnBrk="0">
                <a:lnSpc>
                  <a:spcPct val="167000"/>
                </a:lnSpc>
              </a:pPr>
              <a:endParaRPr lang="en-US" altLang="en-US" sz="1000" dirty="0"/>
            </a:p>
            <a:p>
              <a:pPr marL="681990" algn="l" rtl="0" eaLnBrk="0">
                <a:lnSpc>
                  <a:spcPct val="95000"/>
                </a:lnSpc>
                <a:spcBef>
                  <a:spcPts val="5"/>
                </a:spcBef>
              </a:pPr>
              <a:r>
                <a:rPr sz="2400" kern="0" spc="-3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安全的定义</a:t>
              </a:r>
              <a:endParaRPr lang="en-US" altLang="en-US" sz="2400" dirty="0"/>
            </a:p>
          </p:txBody>
        </p:sp>
      </p:grpSp>
      <p:grpSp>
        <p:nvGrpSpPr>
          <p:cNvPr id="294" name="group 22"/>
          <p:cNvGrpSpPr/>
          <p:nvPr/>
        </p:nvGrpSpPr>
        <p:grpSpPr>
          <a:xfrm rot="21600000">
            <a:off x="4015740" y="3124200"/>
            <a:ext cx="5280659" cy="812292"/>
            <a:chOff x="0" y="0"/>
            <a:chExt cx="5280659" cy="812292"/>
          </a:xfrm>
        </p:grpSpPr>
        <p:pic>
          <p:nvPicPr>
            <p:cNvPr id="2097330" name="picture 236"/>
            <p:cNvPicPr>
              <a:picLocks noChangeAspect="1"/>
            </p:cNvPicPr>
            <p:nvPr/>
          </p:nvPicPr>
          <p:blipFill>
            <a:blip r:embed="rId2"/>
            <a:stretch>
              <a:fillRect/>
            </a:stretch>
          </p:blipFill>
          <p:spPr>
            <a:xfrm rot="21600000">
              <a:off x="0" y="0"/>
              <a:ext cx="5280659" cy="812292"/>
            </a:xfrm>
            <a:prstGeom prst="rect">
              <a:avLst/>
            </a:prstGeom>
          </p:spPr>
        </p:pic>
        <p:sp>
          <p:nvSpPr>
            <p:cNvPr id="1049359" name="textbox 238"/>
            <p:cNvSpPr/>
            <p:nvPr/>
          </p:nvSpPr>
          <p:spPr>
            <a:xfrm>
              <a:off x="-12700" y="-12700"/>
              <a:ext cx="5306059" cy="876935"/>
            </a:xfrm>
            <a:prstGeom prst="rect">
              <a:avLst/>
            </a:prstGeom>
          </p:spPr>
          <p:txBody>
            <a:bodyPr vert="horz" wrap="square" lIns="0" tIns="0" rIns="0" bIns="0"/>
            <a:p>
              <a:pPr algn="l" rtl="0" eaLnBrk="0">
                <a:lnSpc>
                  <a:spcPct val="167000"/>
                </a:lnSpc>
              </a:pPr>
              <a:endParaRPr lang="en-US" altLang="en-US" sz="1000" dirty="0"/>
            </a:p>
            <a:p>
              <a:pPr marL="694690" algn="l" rtl="0" eaLnBrk="0">
                <a:lnSpc>
                  <a:spcPct val="94000"/>
                </a:lnSpc>
                <a:spcBef>
                  <a:spcPts val="5"/>
                </a:spcBef>
              </a:pPr>
              <a:r>
                <a:rPr sz="2400" kern="0" spc="-2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密码分析方法的分类</a:t>
              </a:r>
              <a:endParaRPr lang="en-US" altLang="en-US" sz="2400" dirty="0"/>
            </a:p>
          </p:txBody>
        </p:sp>
      </p:grpSp>
      <p:grpSp>
        <p:nvGrpSpPr>
          <p:cNvPr id="295" name="group 24"/>
          <p:cNvGrpSpPr/>
          <p:nvPr/>
        </p:nvGrpSpPr>
        <p:grpSpPr>
          <a:xfrm rot="21600000">
            <a:off x="3707891" y="4343400"/>
            <a:ext cx="5588508" cy="812292"/>
            <a:chOff x="0" y="0"/>
            <a:chExt cx="5588508" cy="812292"/>
          </a:xfrm>
        </p:grpSpPr>
        <p:pic>
          <p:nvPicPr>
            <p:cNvPr id="2097331" name="picture 240"/>
            <p:cNvPicPr>
              <a:picLocks noChangeAspect="1"/>
            </p:cNvPicPr>
            <p:nvPr/>
          </p:nvPicPr>
          <p:blipFill>
            <a:blip r:embed="rId3"/>
            <a:stretch>
              <a:fillRect/>
            </a:stretch>
          </p:blipFill>
          <p:spPr>
            <a:xfrm rot="21600000">
              <a:off x="0" y="0"/>
              <a:ext cx="5588508" cy="812292"/>
            </a:xfrm>
            <a:prstGeom prst="rect">
              <a:avLst/>
            </a:prstGeom>
          </p:spPr>
        </p:pic>
        <p:sp>
          <p:nvSpPr>
            <p:cNvPr id="1049360" name="textbox 242"/>
            <p:cNvSpPr/>
            <p:nvPr/>
          </p:nvSpPr>
          <p:spPr>
            <a:xfrm>
              <a:off x="-12700" y="-12700"/>
              <a:ext cx="5614034" cy="876935"/>
            </a:xfrm>
            <a:prstGeom prst="rect">
              <a:avLst/>
            </a:prstGeom>
          </p:spPr>
          <p:txBody>
            <a:bodyPr vert="horz" wrap="square" lIns="0" tIns="0" rIns="0" bIns="0"/>
            <a:p>
              <a:pPr algn="l" rtl="0" eaLnBrk="0">
                <a:lnSpc>
                  <a:spcPct val="167000"/>
                </a:lnSpc>
              </a:pPr>
              <a:endParaRPr lang="en-US" altLang="en-US" sz="1000" dirty="0"/>
            </a:p>
            <a:p>
              <a:pPr algn="l" rtl="0" eaLnBrk="0">
                <a:lnSpc>
                  <a:spcPct val="8000"/>
                </a:lnSpc>
              </a:pPr>
              <a:endParaRPr lang="en-US" altLang="en-US" sz="100" dirty="0"/>
            </a:p>
            <a:p>
              <a:pPr marL="682625" algn="l" rtl="0" eaLnBrk="0">
                <a:lnSpc>
                  <a:spcPct val="94000"/>
                </a:lnSpc>
              </a:pPr>
              <a:r>
                <a:rPr sz="2400" kern="0" spc="-10" dirty="0">
                  <a:ln w="8717"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无条件安全和计算上安全</a:t>
              </a:r>
              <a:endParaRPr lang="en-US" altLang="en-US" sz="2400" dirty="0"/>
            </a:p>
          </p:txBody>
        </p:sp>
      </p:grpSp>
      <p:grpSp>
        <p:nvGrpSpPr>
          <p:cNvPr id="296" name="group 26"/>
          <p:cNvGrpSpPr/>
          <p:nvPr/>
        </p:nvGrpSpPr>
        <p:grpSpPr>
          <a:xfrm rot="21600000">
            <a:off x="2948051" y="1351661"/>
            <a:ext cx="1579752" cy="4369180"/>
            <a:chOff x="0" y="0"/>
            <a:chExt cx="1579752" cy="4369180"/>
          </a:xfrm>
        </p:grpSpPr>
        <p:sp>
          <p:nvSpPr>
            <p:cNvPr id="1049361" name="path"/>
            <p:cNvSpPr/>
            <p:nvPr/>
          </p:nvSpPr>
          <p:spPr>
            <a:xfrm>
              <a:off x="0" y="0"/>
              <a:ext cx="1096572" cy="4369180"/>
            </a:xfrm>
            <a:custGeom>
              <a:avLst/>
              <a:gdLst/>
              <a:ahLst/>
              <a:cxnLst/>
              <a:rect l="0" t="0" r="0" b="0"/>
              <a:pathLst>
                <a:path w="1726" h="6880">
                  <a:moveTo>
                    <a:pt x="26" y="4"/>
                  </a:moveTo>
                  <a:cubicBezTo>
                    <a:pt x="1918" y="1448"/>
                    <a:pt x="2282" y="4153"/>
                    <a:pt x="839" y="6046"/>
                  </a:cubicBezTo>
                  <a:cubicBezTo>
                    <a:pt x="600" y="6359"/>
                    <a:pt x="319" y="6638"/>
                    <a:pt x="4" y="6875"/>
                  </a:cubicBezTo>
                  <a:lnTo>
                    <a:pt x="4" y="6875"/>
                  </a:lnTo>
                  <a:cubicBezTo>
                    <a:pt x="1906" y="5443"/>
                    <a:pt x="2286" y="2741"/>
                    <a:pt x="855" y="839"/>
                  </a:cubicBezTo>
                  <a:cubicBezTo>
                    <a:pt x="618" y="524"/>
                    <a:pt x="339" y="243"/>
                    <a:pt x="26" y="4"/>
                  </a:cubicBezTo>
                </a:path>
              </a:pathLst>
            </a:custGeom>
            <a:noFill/>
            <a:ln w="6096" cap="flat">
              <a:solidFill>
                <a:srgbClr val="477BA9">
                  <a:alpha val="100000"/>
                </a:srgbClr>
              </a:solidFill>
              <a:prstDash val="solid"/>
              <a:miter lim="1000000"/>
            </a:ln>
          </p:spPr>
          <p:txBody>
            <a:bodyPr rtlCol="0"/>
            <a:p>
              <a:pPr algn="ctr"/>
              <a:endParaRPr lang="zh-CN" altLang="en-US"/>
            </a:p>
          </p:txBody>
        </p:sp>
        <p:sp>
          <p:nvSpPr>
            <p:cNvPr id="1049362" name="path"/>
            <p:cNvSpPr/>
            <p:nvPr/>
          </p:nvSpPr>
          <p:spPr>
            <a:xfrm>
              <a:off x="234060" y="451230"/>
              <a:ext cx="1014983" cy="1016508"/>
            </a:xfrm>
            <a:custGeom>
              <a:avLst/>
              <a:gdLst/>
              <a:ahLst/>
              <a:cxnLst/>
              <a:rect l="0" t="0" r="0" b="0"/>
              <a:pathLst>
                <a:path w="1598" h="1600">
                  <a:moveTo>
                    <a:pt x="0" y="800"/>
                  </a:moveTo>
                  <a:cubicBezTo>
                    <a:pt x="0" y="358"/>
                    <a:pt x="357" y="0"/>
                    <a:pt x="799" y="0"/>
                  </a:cubicBezTo>
                  <a:cubicBezTo>
                    <a:pt x="1240" y="0"/>
                    <a:pt x="1598" y="358"/>
                    <a:pt x="1598" y="800"/>
                  </a:cubicBezTo>
                  <a:cubicBezTo>
                    <a:pt x="1598" y="1242"/>
                    <a:pt x="1240" y="1600"/>
                    <a:pt x="799" y="1600"/>
                  </a:cubicBezTo>
                  <a:cubicBezTo>
                    <a:pt x="357"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363" name="path"/>
            <p:cNvSpPr/>
            <p:nvPr/>
          </p:nvSpPr>
          <p:spPr>
            <a:xfrm>
              <a:off x="231012" y="448182"/>
              <a:ext cx="1021079" cy="1022603"/>
            </a:xfrm>
            <a:custGeom>
              <a:avLst/>
              <a:gdLst/>
              <a:ahLst/>
              <a:cxnLst/>
              <a:rect l="0" t="0" r="0" b="0"/>
              <a:pathLst>
                <a:path w="1607" h="1610">
                  <a:moveTo>
                    <a:pt x="4" y="805"/>
                  </a:moveTo>
                  <a:cubicBezTo>
                    <a:pt x="4" y="363"/>
                    <a:pt x="362" y="4"/>
                    <a:pt x="803" y="4"/>
                  </a:cubicBezTo>
                  <a:cubicBezTo>
                    <a:pt x="1245" y="4"/>
                    <a:pt x="1603" y="363"/>
                    <a:pt x="1603" y="805"/>
                  </a:cubicBezTo>
                  <a:cubicBezTo>
                    <a:pt x="1603" y="1247"/>
                    <a:pt x="1245" y="1605"/>
                    <a:pt x="803" y="1605"/>
                  </a:cubicBezTo>
                  <a:cubicBezTo>
                    <a:pt x="362"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9364" name="path"/>
            <p:cNvSpPr/>
            <p:nvPr/>
          </p:nvSpPr>
          <p:spPr>
            <a:xfrm>
              <a:off x="560197" y="1670430"/>
              <a:ext cx="1016507" cy="1016508"/>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365" name="path"/>
            <p:cNvSpPr/>
            <p:nvPr/>
          </p:nvSpPr>
          <p:spPr>
            <a:xfrm>
              <a:off x="557149" y="1667382"/>
              <a:ext cx="1022603" cy="1022604"/>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9366" name="path"/>
            <p:cNvSpPr/>
            <p:nvPr/>
          </p:nvSpPr>
          <p:spPr>
            <a:xfrm>
              <a:off x="252348" y="2889630"/>
              <a:ext cx="1016508" cy="1016507"/>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367" name="path"/>
            <p:cNvSpPr/>
            <p:nvPr/>
          </p:nvSpPr>
          <p:spPr>
            <a:xfrm>
              <a:off x="249300" y="2886582"/>
              <a:ext cx="1022604" cy="1022603"/>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9368" name="textbox 258"/>
          <p:cNvSpPr/>
          <p:nvPr/>
        </p:nvSpPr>
        <p:spPr>
          <a:xfrm>
            <a:off x="2745896" y="488157"/>
            <a:ext cx="3448050" cy="483869"/>
          </a:xfrm>
          <a:prstGeom prst="rect">
            <a:avLst/>
          </a:prstGeom>
        </p:spPr>
        <p:txBody>
          <a:bodyPr vert="horz" wrap="square" lIns="0" tIns="0" rIns="0" bIns="0"/>
          <a:p>
            <a:pPr algn="l" rtl="0" eaLnBrk="0">
              <a:lnSpc>
                <a:spcPct val="83000"/>
              </a:lnSpc>
            </a:pPr>
            <a:endParaRPr lang="en-US" altLang="en-US" sz="100" dirty="0"/>
          </a:p>
          <a:p>
            <a:pPr marL="12700" algn="l" rtl="0" eaLnBrk="0">
              <a:lnSpc>
                <a:spcPct val="94000"/>
              </a:lnSpc>
            </a:pPr>
            <a:r>
              <a:rPr sz="3200" kern="0" spc="-9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第</a:t>
            </a:r>
            <a:r>
              <a:rPr lang="zh-CN" sz="3200" kern="0" spc="-9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四</a:t>
            </a:r>
            <a:r>
              <a:rPr sz="3200" kern="0" spc="-9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讲</a:t>
            </a:r>
            <a:r>
              <a:rPr sz="3200" kern="0" spc="45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9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密码分析学</a:t>
            </a:r>
            <a:endParaRPr lang="en-US" altLang="en-US" sz="3200" dirty="0"/>
          </a:p>
        </p:txBody>
      </p:sp>
      <p:sp>
        <p:nvSpPr>
          <p:cNvPr id="1049369"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32" name="picture 264"/>
          <p:cNvPicPr>
            <a:picLocks noChangeAspect="1"/>
          </p:cNvPicPr>
          <p:nvPr/>
        </p:nvPicPr>
        <p:blipFill>
          <a:blip r:embed="rId4"/>
          <a:stretch>
            <a:fillRect/>
          </a:stretch>
        </p:blipFill>
        <p:spPr>
          <a:xfrm rot="21600000">
            <a:off x="824483" y="408431"/>
            <a:ext cx="419100" cy="655320"/>
          </a:xfrm>
          <a:prstGeom prst="rect">
            <a:avLst/>
          </a:prstGeom>
        </p:spPr>
      </p:pic>
      <p:sp>
        <p:nvSpPr>
          <p:cNvPr id="1049370"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297" name=""/>
        <p:cNvGrpSpPr/>
        <p:nvPr/>
      </p:nvGrpSpPr>
      <p:grpSpPr>
        <a:xfrm>
          <a:off x="0" y="0"/>
          <a:ext cx="0" cy="0"/>
          <a:chOff x="0" y="0"/>
          <a:chExt cx="0" cy="0"/>
        </a:xfrm>
      </p:grpSpPr>
      <p:sp>
        <p:nvSpPr>
          <p:cNvPr id="1049371" name="textbox 268"/>
          <p:cNvSpPr/>
          <p:nvPr/>
        </p:nvSpPr>
        <p:spPr>
          <a:xfrm>
            <a:off x="1431594" y="1407435"/>
            <a:ext cx="8710294" cy="2892425"/>
          </a:xfrm>
          <a:prstGeom prst="rect">
            <a:avLst/>
          </a:prstGeom>
        </p:spPr>
        <p:txBody>
          <a:bodyPr vert="horz" wrap="square" lIns="0" tIns="0" rIns="0" bIns="0"/>
          <a:p>
            <a:pPr algn="l" rtl="0" eaLnBrk="0">
              <a:lnSpc>
                <a:spcPct val="90000"/>
              </a:lnSpc>
            </a:pPr>
            <a:endParaRPr lang="en-US" altLang="en-US" sz="100" dirty="0"/>
          </a:p>
          <a:p>
            <a:pPr marL="12700" algn="l" rtl="0" eaLnBrk="0">
              <a:lnSpc>
                <a:spcPct val="97000"/>
              </a:lnSpc>
            </a:pPr>
            <a:r>
              <a:rPr sz="2100" kern="0" spc="80" dirty="0">
                <a:solidFill>
                  <a:srgbClr val="E7E6E6">
                    <a:alpha val="100000"/>
                  </a:srgbClr>
                </a:solidFill>
                <a:latin typeface="Wingdings" panose="05000000000000000000"/>
                <a:ea typeface="Wingdings" panose="05000000000000000000"/>
                <a:cs typeface="Wingdings" panose="05000000000000000000"/>
              </a:rPr>
              <a:t></a:t>
            </a:r>
            <a:r>
              <a:rPr sz="2700" kern="0" spc="80" dirty="0">
                <a:ln w="10154"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无条件安全的(不可</a:t>
            </a:r>
            <a:r>
              <a:rPr sz="2700" kern="0" spc="70" dirty="0">
                <a:ln w="10154"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破译的)：</a:t>
            </a:r>
            <a:endParaRPr lang="en-US" altLang="en-US" sz="2700" dirty="0"/>
          </a:p>
          <a:p>
            <a:pPr algn="r" rtl="0" eaLnBrk="0">
              <a:lnSpc>
                <a:spcPct val="83000"/>
              </a:lnSpc>
              <a:spcBef>
                <a:spcPts val="1380"/>
              </a:spcBef>
            </a:pPr>
            <a:r>
              <a:rPr sz="1800" kern="0" spc="-10" dirty="0">
                <a:solidFill>
                  <a:srgbClr val="E7E6E6">
                    <a:alpha val="100000"/>
                  </a:srgbClr>
                </a:solidFill>
                <a:latin typeface="Wingdings" panose="05000000000000000000"/>
                <a:ea typeface="Wingdings" panose="05000000000000000000"/>
                <a:cs typeface="Wingdings" panose="05000000000000000000"/>
              </a:rPr>
              <a:t></a:t>
            </a:r>
            <a:r>
              <a:rPr sz="1800" kern="0" spc="-750" dirty="0">
                <a:solidFill>
                  <a:srgbClr val="E7E6E6">
                    <a:alpha val="100000"/>
                  </a:srgbClr>
                </a:solidFill>
                <a:latin typeface="Wingdings" panose="05000000000000000000"/>
                <a:ea typeface="Wingdings" panose="05000000000000000000"/>
                <a:cs typeface="Wingdings" panose="05000000000000000000"/>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无论截获多少密文，都没有足够信息来唯一确定明文，则该</a:t>
            </a:r>
            <a:endParaRPr lang="en-US" altLang="en-US" sz="2400" dirty="0"/>
          </a:p>
          <a:p>
            <a:pPr marL="769620" algn="l" rtl="0" eaLnBrk="0">
              <a:lnSpc>
                <a:spcPts val="3455"/>
              </a:lnSpc>
            </a:pPr>
            <a:r>
              <a:rPr sz="2400" kern="0" spc="-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密码是无条件安全的，</a:t>
            </a:r>
            <a:r>
              <a:rPr sz="2400" kern="0" spc="80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80" dirty="0">
                <a:ln w="8708" cap="flat" cmpd="sng">
                  <a:solidFill>
                    <a:srgbClr val="0000FF">
                      <a:alpha val="100000"/>
                    </a:srgbClr>
                  </a:solidFill>
                  <a:prstDash val="solid"/>
                  <a:miter lim="10"/>
                </a:ln>
                <a:solidFill>
                  <a:srgbClr val="0000FF">
                    <a:alpha val="100000"/>
                  </a:srgbClr>
                </a:solidFill>
                <a:latin typeface="仿宋" panose="02010609060101010101" charset="-122"/>
                <a:ea typeface="仿宋" panose="02010609060101010101" charset="-122"/>
                <a:cs typeface="仿宋" panose="02010609060101010101" charset="-122"/>
              </a:rPr>
              <a:t>即对算法的</a:t>
            </a:r>
            <a:r>
              <a:rPr sz="2400" kern="0" spc="-90" dirty="0">
                <a:ln w="8708" cap="flat" cmpd="sng">
                  <a:solidFill>
                    <a:srgbClr val="0000FF">
                      <a:alpha val="100000"/>
                    </a:srgbClr>
                  </a:solidFill>
                  <a:prstDash val="solid"/>
                  <a:miter lim="10"/>
                </a:ln>
                <a:solidFill>
                  <a:srgbClr val="0000FF">
                    <a:alpha val="100000"/>
                  </a:srgbClr>
                </a:solidFill>
                <a:latin typeface="仿宋" panose="02010609060101010101" charset="-122"/>
                <a:ea typeface="仿宋" panose="02010609060101010101" charset="-122"/>
                <a:cs typeface="仿宋" panose="02010609060101010101" charset="-122"/>
              </a:rPr>
              <a:t>破译不比猜测有优势</a:t>
            </a:r>
            <a:endParaRPr lang="en-US" altLang="en-US" sz="2400" dirty="0"/>
          </a:p>
          <a:p>
            <a:pPr marL="12700" algn="l" rtl="0" eaLnBrk="0">
              <a:lnSpc>
                <a:spcPct val="97000"/>
              </a:lnSpc>
              <a:spcBef>
                <a:spcPts val="1815"/>
              </a:spcBef>
            </a:pPr>
            <a:r>
              <a:rPr sz="2100" kern="0" spc="50" dirty="0">
                <a:solidFill>
                  <a:srgbClr val="E7E6E6">
                    <a:alpha val="100000"/>
                  </a:srgbClr>
                </a:solidFill>
                <a:latin typeface="Wingdings" panose="05000000000000000000"/>
                <a:ea typeface="Wingdings" panose="05000000000000000000"/>
                <a:cs typeface="Wingdings" panose="05000000000000000000"/>
              </a:rPr>
              <a:t></a:t>
            </a:r>
            <a:r>
              <a:rPr sz="2700" kern="0" spc="50" dirty="0">
                <a:ln w="10145"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计算上安全的：</a:t>
            </a:r>
            <a:endParaRPr lang="en-US" altLang="en-US" sz="2700" dirty="0"/>
          </a:p>
          <a:p>
            <a:pPr algn="r" rtl="0" eaLnBrk="0">
              <a:lnSpc>
                <a:spcPct val="83000"/>
              </a:lnSpc>
              <a:spcBef>
                <a:spcPts val="1390"/>
              </a:spcBef>
            </a:pPr>
            <a:r>
              <a:rPr sz="1800" kern="0" spc="-10" dirty="0">
                <a:solidFill>
                  <a:srgbClr val="E7E6E6">
                    <a:alpha val="100000"/>
                  </a:srgbClr>
                </a:solidFill>
                <a:latin typeface="Wingdings" panose="05000000000000000000"/>
                <a:ea typeface="Wingdings" panose="05000000000000000000"/>
                <a:cs typeface="Wingdings" panose="05000000000000000000"/>
              </a:rPr>
              <a:t></a:t>
            </a:r>
            <a:r>
              <a:rPr sz="1800" kern="0" spc="-750" dirty="0">
                <a:solidFill>
                  <a:srgbClr val="E7E6E6">
                    <a:alpha val="100000"/>
                  </a:srgbClr>
                </a:solidFill>
                <a:latin typeface="Wingdings" panose="05000000000000000000"/>
                <a:ea typeface="Wingdings" panose="05000000000000000000"/>
                <a:cs typeface="Wingdings" panose="05000000000000000000"/>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使用有效资源对一个密码系统进行分析而未能破译，则该密</a:t>
            </a:r>
            <a:endParaRPr lang="en-US" altLang="en-US" sz="2400" dirty="0"/>
          </a:p>
          <a:p>
            <a:pPr marL="753110" algn="l" rtl="0" eaLnBrk="0">
              <a:lnSpc>
                <a:spcPts val="3455"/>
              </a:lnSpc>
            </a:pPr>
            <a:r>
              <a:rPr sz="2400" kern="0" spc="-1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码是强的或计算上安全的</a:t>
            </a:r>
            <a:endParaRPr lang="en-US" altLang="en-US" sz="2400" dirty="0"/>
          </a:p>
        </p:txBody>
      </p:sp>
      <p:sp>
        <p:nvSpPr>
          <p:cNvPr id="1049372" name="textbox 270"/>
          <p:cNvSpPr/>
          <p:nvPr/>
        </p:nvSpPr>
        <p:spPr>
          <a:xfrm>
            <a:off x="1575931" y="488157"/>
            <a:ext cx="4479290" cy="483869"/>
          </a:xfrm>
          <a:prstGeom prst="rect">
            <a:avLst/>
          </a:prstGeom>
        </p:spPr>
        <p:txBody>
          <a:bodyPr vert="horz" wrap="square" lIns="0" tIns="0" rIns="0" bIns="0"/>
          <a:p>
            <a:pPr algn="l" rtl="0" eaLnBrk="0">
              <a:lnSpc>
                <a:spcPct val="83000"/>
              </a:lnSpc>
            </a:pPr>
            <a:endParaRPr lang="en-US" altLang="en-US" sz="100" dirty="0"/>
          </a:p>
          <a:p>
            <a:pPr marL="12700" algn="l" rtl="0" eaLnBrk="0">
              <a:lnSpc>
                <a:spcPct val="94000"/>
              </a:lnSpc>
            </a:pPr>
            <a:r>
              <a:rPr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无条件安全与计算上安全</a:t>
            </a:r>
            <a:endParaRPr lang="en-US" altLang="en-US" sz="3200" dirty="0"/>
          </a:p>
        </p:txBody>
      </p:sp>
      <p:sp>
        <p:nvSpPr>
          <p:cNvPr id="1049373"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33" name="picture 276"/>
          <p:cNvPicPr>
            <a:picLocks noChangeAspect="1"/>
          </p:cNvPicPr>
          <p:nvPr/>
        </p:nvPicPr>
        <p:blipFill>
          <a:blip r:embed="rId1"/>
          <a:stretch>
            <a:fillRect/>
          </a:stretch>
        </p:blipFill>
        <p:spPr>
          <a:xfrm rot="21600000">
            <a:off x="824483" y="408431"/>
            <a:ext cx="419100" cy="655320"/>
          </a:xfrm>
          <a:prstGeom prst="rect">
            <a:avLst/>
          </a:prstGeom>
        </p:spPr>
      </p:pic>
      <p:sp>
        <p:nvSpPr>
          <p:cNvPr id="1049374"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298" name=""/>
        <p:cNvGrpSpPr/>
        <p:nvPr/>
      </p:nvGrpSpPr>
      <p:grpSpPr>
        <a:xfrm>
          <a:off x="0" y="0"/>
          <a:ext cx="0" cy="0"/>
          <a:chOff x="0" y="0"/>
          <a:chExt cx="0" cy="0"/>
        </a:xfrm>
      </p:grpSpPr>
      <p:sp>
        <p:nvSpPr>
          <p:cNvPr id="1049375" name="textbox 280"/>
          <p:cNvSpPr/>
          <p:nvPr/>
        </p:nvSpPr>
        <p:spPr>
          <a:xfrm>
            <a:off x="927796" y="1561114"/>
            <a:ext cx="7794625" cy="2340610"/>
          </a:xfrm>
          <a:prstGeom prst="rect">
            <a:avLst/>
          </a:prstGeom>
        </p:spPr>
        <p:txBody>
          <a:bodyPr vert="horz" wrap="square" lIns="0" tIns="0" rIns="0" bIns="0"/>
          <a:p>
            <a:pPr algn="l" rtl="0" eaLnBrk="0">
              <a:lnSpc>
                <a:spcPct val="71000"/>
              </a:lnSpc>
            </a:pPr>
            <a:endParaRPr lang="en-US" altLang="en-US" sz="100" dirty="0"/>
          </a:p>
          <a:p>
            <a:pPr marL="29210" algn="l" rtl="0" eaLnBrk="0">
              <a:lnSpc>
                <a:spcPct val="97000"/>
              </a:lnSpc>
            </a:pPr>
            <a:r>
              <a:rPr sz="2700" kern="0" spc="8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密码算法只要满足以下两条准则之一就行：</a:t>
            </a:r>
            <a:endParaRPr lang="en-US" altLang="en-US" sz="2700" dirty="0"/>
          </a:p>
          <a:p>
            <a:pPr marL="188595" algn="l" rtl="0" eaLnBrk="0">
              <a:lnSpc>
                <a:spcPct val="86000"/>
              </a:lnSpc>
              <a:spcBef>
                <a:spcPts val="1925"/>
              </a:spcBef>
            </a:pPr>
            <a:r>
              <a:rPr sz="2700" kern="0" spc="10" dirty="0">
                <a:ln w="10154" cap="flat" cmpd="sng">
                  <a:solidFill>
                    <a:srgbClr val="0000CC">
                      <a:alpha val="100000"/>
                    </a:srgbClr>
                  </a:solidFill>
                  <a:prstDash val="solid"/>
                  <a:miter lim="10"/>
                </a:ln>
                <a:solidFill>
                  <a:srgbClr val="0000CC">
                    <a:alpha val="100000"/>
                  </a:srgbClr>
                </a:solidFill>
                <a:latin typeface="仿宋" panose="02010609060101010101" charset="-122"/>
                <a:ea typeface="仿宋" panose="02010609060101010101" charset="-122"/>
                <a:cs typeface="仿宋" panose="02010609060101010101" charset="-122"/>
              </a:rPr>
              <a:t>（1）</a:t>
            </a:r>
            <a:r>
              <a:rPr sz="2700" kern="0" spc="360" dirty="0">
                <a:solidFill>
                  <a:srgbClr val="0000CC">
                    <a:alpha val="100000"/>
                  </a:srgbClr>
                </a:solidFill>
                <a:latin typeface="仿宋" panose="02010609060101010101" charset="-122"/>
                <a:ea typeface="仿宋" panose="02010609060101010101" charset="-122"/>
                <a:cs typeface="仿宋" panose="02010609060101010101" charset="-122"/>
              </a:rPr>
              <a:t> </a:t>
            </a:r>
            <a:r>
              <a:rPr sz="2700" kern="0" spc="10" dirty="0">
                <a:ln w="10154" cap="flat" cmpd="sng">
                  <a:solidFill>
                    <a:srgbClr val="0000CC">
                      <a:alpha val="100000"/>
                    </a:srgbClr>
                  </a:solidFill>
                  <a:prstDash val="solid"/>
                  <a:miter lim="10"/>
                </a:ln>
                <a:solidFill>
                  <a:srgbClr val="0000CC">
                    <a:alpha val="100000"/>
                  </a:srgbClr>
                </a:solidFill>
                <a:latin typeface="仿宋" panose="02010609060101010101" charset="-122"/>
                <a:ea typeface="仿宋" panose="02010609060101010101" charset="-122"/>
                <a:cs typeface="仿宋" panose="02010609060101010101" charset="-122"/>
              </a:rPr>
              <a:t>破译密文的代价超过被加密信息的价值。</a:t>
            </a:r>
            <a:endParaRPr lang="en-US" altLang="en-US" sz="2700" dirty="0"/>
          </a:p>
          <a:p>
            <a:pPr marL="188595" algn="l" rtl="0" eaLnBrk="0">
              <a:lnSpc>
                <a:spcPts val="5040"/>
              </a:lnSpc>
            </a:pPr>
            <a:r>
              <a:rPr sz="2700" kern="0" spc="30" dirty="0">
                <a:ln w="10145" cap="flat" cmpd="sng">
                  <a:solidFill>
                    <a:srgbClr val="0000CC">
                      <a:alpha val="100000"/>
                    </a:srgbClr>
                  </a:solidFill>
                  <a:prstDash val="solid"/>
                  <a:miter lim="10"/>
                </a:ln>
                <a:solidFill>
                  <a:srgbClr val="0000CC">
                    <a:alpha val="100000"/>
                  </a:srgbClr>
                </a:solidFill>
                <a:latin typeface="仿宋" panose="02010609060101010101" charset="-122"/>
                <a:ea typeface="仿宋" panose="02010609060101010101" charset="-122"/>
                <a:cs typeface="仿宋" panose="02010609060101010101" charset="-122"/>
              </a:rPr>
              <a:t>（2</a:t>
            </a:r>
            <a:r>
              <a:rPr sz="2700" kern="0" spc="30" dirty="0">
                <a:solidFill>
                  <a:srgbClr val="0000CC">
                    <a:alpha val="100000"/>
                  </a:srgbClr>
                </a:solidFill>
                <a:latin typeface="仿宋" panose="02010609060101010101" charset="-122"/>
                <a:ea typeface="仿宋" panose="02010609060101010101" charset="-122"/>
                <a:cs typeface="仿宋" panose="02010609060101010101" charset="-122"/>
              </a:rPr>
              <a:t> </a:t>
            </a:r>
            <a:r>
              <a:rPr sz="2700" kern="0" spc="30" dirty="0">
                <a:ln w="10145" cap="flat" cmpd="sng">
                  <a:solidFill>
                    <a:srgbClr val="0000CC">
                      <a:alpha val="100000"/>
                    </a:srgbClr>
                  </a:solidFill>
                  <a:prstDash val="solid"/>
                  <a:miter lim="10"/>
                </a:ln>
                <a:solidFill>
                  <a:srgbClr val="0000CC">
                    <a:alpha val="100000"/>
                  </a:srgbClr>
                </a:solidFill>
                <a:latin typeface="仿宋" panose="02010609060101010101" charset="-122"/>
                <a:ea typeface="仿宋" panose="02010609060101010101" charset="-122"/>
                <a:cs typeface="仿宋" panose="02010609060101010101" charset="-122"/>
              </a:rPr>
              <a:t>)</a:t>
            </a:r>
            <a:r>
              <a:rPr sz="2700" kern="0" spc="30" dirty="0">
                <a:solidFill>
                  <a:srgbClr val="0000CC">
                    <a:alpha val="100000"/>
                  </a:srgbClr>
                </a:solidFill>
                <a:latin typeface="仿宋" panose="02010609060101010101" charset="-122"/>
                <a:ea typeface="仿宋" panose="02010609060101010101" charset="-122"/>
                <a:cs typeface="仿宋" panose="02010609060101010101" charset="-122"/>
              </a:rPr>
              <a:t> </a:t>
            </a:r>
            <a:r>
              <a:rPr sz="2700" kern="0" spc="30" dirty="0">
                <a:ln w="10145" cap="flat" cmpd="sng">
                  <a:solidFill>
                    <a:srgbClr val="0000CC">
                      <a:alpha val="100000"/>
                    </a:srgbClr>
                  </a:solidFill>
                  <a:prstDash val="solid"/>
                  <a:miter lim="10"/>
                </a:ln>
                <a:solidFill>
                  <a:srgbClr val="0000CC">
                    <a:alpha val="100000"/>
                  </a:srgbClr>
                </a:solidFill>
                <a:latin typeface="仿宋" panose="02010609060101010101" charset="-122"/>
                <a:ea typeface="仿宋" panose="02010609060101010101" charset="-122"/>
                <a:cs typeface="仿宋" panose="02010609060101010101" charset="-122"/>
              </a:rPr>
              <a:t>破译密文所花的时间</a:t>
            </a:r>
            <a:r>
              <a:rPr sz="2700" kern="0" spc="20" dirty="0">
                <a:ln w="10145" cap="flat" cmpd="sng">
                  <a:solidFill>
                    <a:srgbClr val="0000CC">
                      <a:alpha val="100000"/>
                    </a:srgbClr>
                  </a:solidFill>
                  <a:prstDash val="solid"/>
                  <a:miter lim="10"/>
                </a:ln>
                <a:solidFill>
                  <a:srgbClr val="0000CC">
                    <a:alpha val="100000"/>
                  </a:srgbClr>
                </a:solidFill>
                <a:latin typeface="仿宋" panose="02010609060101010101" charset="-122"/>
                <a:ea typeface="仿宋" panose="02010609060101010101" charset="-122"/>
                <a:cs typeface="仿宋" panose="02010609060101010101" charset="-122"/>
              </a:rPr>
              <a:t>超过信息的有用期。</a:t>
            </a:r>
            <a:endParaRPr lang="en-US" altLang="en-US" sz="2700" dirty="0"/>
          </a:p>
          <a:p>
            <a:pPr algn="l" rtl="0" eaLnBrk="0">
              <a:lnSpc>
                <a:spcPct val="119000"/>
              </a:lnSpc>
            </a:pPr>
            <a:endParaRPr lang="en-US" altLang="en-US" sz="1000" dirty="0"/>
          </a:p>
          <a:p>
            <a:pPr algn="l" rtl="0" eaLnBrk="0">
              <a:lnSpc>
                <a:spcPct val="112000"/>
              </a:lnSpc>
            </a:pPr>
            <a:endParaRPr lang="en-US" altLang="en-US" sz="600" dirty="0"/>
          </a:p>
          <a:p>
            <a:pPr algn="r" rtl="0" eaLnBrk="0">
              <a:lnSpc>
                <a:spcPct val="96000"/>
              </a:lnSpc>
              <a:spcBef>
                <a:spcPts val="5"/>
              </a:spcBef>
            </a:pPr>
            <a:r>
              <a:rPr sz="2700" kern="0" spc="2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满足以上两个准则的密码算法在实际</a:t>
            </a:r>
            <a:r>
              <a:rPr sz="2700" kern="0" spc="1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中是可用的。</a:t>
            </a:r>
            <a:endParaRPr lang="en-US" altLang="en-US" sz="2700" dirty="0"/>
          </a:p>
        </p:txBody>
      </p:sp>
      <p:sp>
        <p:nvSpPr>
          <p:cNvPr id="1049376" name="textbox 282"/>
          <p:cNvSpPr/>
          <p:nvPr/>
        </p:nvSpPr>
        <p:spPr>
          <a:xfrm>
            <a:off x="811783" y="395731"/>
            <a:ext cx="4836159" cy="732790"/>
          </a:xfrm>
          <a:prstGeom prst="rect">
            <a:avLst/>
          </a:prstGeom>
        </p:spPr>
        <p:txBody>
          <a:bodyPr vert="horz" wrap="square" lIns="0" tIns="0" rIns="0" bIns="0"/>
          <a:p>
            <a:pPr algn="l" rtl="0" eaLnBrk="0">
              <a:lnSpc>
                <a:spcPct val="115000"/>
              </a:lnSpc>
            </a:pPr>
            <a:endParaRPr lang="en-US" altLang="en-US" sz="600" dirty="0"/>
          </a:p>
          <a:p>
            <a:pPr marL="431800" algn="l" rtl="0" eaLnBrk="0">
              <a:lnSpc>
                <a:spcPct val="94000"/>
              </a:lnSpc>
              <a:tabLst>
                <a:tab pos="792480" algn="l"/>
              </a:tabLst>
            </a:pPr>
            <a:r>
              <a:rPr sz="32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3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密码算法要满足的准则</a:t>
            </a:r>
            <a:endParaRPr lang="en-US" altLang="en-US" sz="3200" dirty="0"/>
          </a:p>
        </p:txBody>
      </p:sp>
      <p:pic>
        <p:nvPicPr>
          <p:cNvPr id="2097334" name="picture 284"/>
          <p:cNvPicPr>
            <a:picLocks noChangeAspect="1"/>
          </p:cNvPicPr>
          <p:nvPr/>
        </p:nvPicPr>
        <p:blipFill>
          <a:blip r:embed="rId1"/>
          <a:stretch>
            <a:fillRect/>
          </a:stretch>
        </p:blipFill>
        <p:spPr>
          <a:xfrm rot="21600000">
            <a:off x="824483" y="408431"/>
            <a:ext cx="419100" cy="655320"/>
          </a:xfrm>
          <a:prstGeom prst="rect">
            <a:avLst/>
          </a:prstGeom>
        </p:spPr>
      </p:pic>
      <p:sp>
        <p:nvSpPr>
          <p:cNvPr id="1049377"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
        <p:nvSpPr>
          <p:cNvPr id="1049378" name="rect"/>
          <p:cNvSpPr/>
          <p:nvPr/>
        </p:nvSpPr>
        <p:spPr>
          <a:xfrm>
            <a:off x="1465326" y="1019555"/>
            <a:ext cx="9037573" cy="28956"/>
          </a:xfrm>
          <a:prstGeom prst="rect">
            <a:avLst/>
          </a:prstGeom>
          <a:solidFill>
            <a:srgbClr val="5B9BD5">
              <a:alpha val="100000"/>
            </a:srgbClr>
          </a:solidFill>
          <a:ln cap="flat">
            <a:noFill/>
            <a:prstDash val="solid"/>
            <a:miter lim="0"/>
          </a:ln>
        </p:spPr>
        <p:txBody>
          <a:bodyPr rtlCol="0"/>
          <a:p>
            <a:pPr algn="ctr"/>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268" name=""/>
        <p:cNvGrpSpPr/>
        <p:nvPr/>
      </p:nvGrpSpPr>
      <p:grpSpPr>
        <a:xfrm>
          <a:off x="0" y="0"/>
          <a:ext cx="0" cy="0"/>
          <a:chOff x="0" y="0"/>
          <a:chExt cx="0" cy="0"/>
        </a:xfrm>
      </p:grpSpPr>
      <p:sp>
        <p:nvSpPr>
          <p:cNvPr id="1049286" name="rect"/>
          <p:cNvSpPr/>
          <p:nvPr/>
        </p:nvSpPr>
        <p:spPr>
          <a:xfrm>
            <a:off x="588263" y="408432"/>
            <a:ext cx="10460735" cy="608076"/>
          </a:xfrm>
          <a:prstGeom prst="rect">
            <a:avLst/>
          </a:prstGeom>
          <a:solidFill>
            <a:srgbClr val="D4E4F3">
              <a:alpha val="100000"/>
            </a:srgbClr>
          </a:solidFill>
          <a:ln cap="flat">
            <a:noFill/>
            <a:prstDash val="solid"/>
            <a:miter lim="0"/>
          </a:ln>
        </p:spPr>
        <p:txBody>
          <a:bodyPr rtlCol="0"/>
          <a:p>
            <a:pPr algn="ctr"/>
            <a:endParaRPr lang="zh-CN" altLang="en-US"/>
          </a:p>
        </p:txBody>
      </p:sp>
      <p:sp>
        <p:nvSpPr>
          <p:cNvPr id="1049287" name="textbox 4"/>
          <p:cNvSpPr/>
          <p:nvPr/>
        </p:nvSpPr>
        <p:spPr>
          <a:xfrm>
            <a:off x="4183380" y="3208020"/>
            <a:ext cx="4916170" cy="541020"/>
          </a:xfrm>
          <a:prstGeom prst="rect">
            <a:avLst/>
          </a:prstGeom>
        </p:spPr>
        <p:txBody>
          <a:bodyPr vert="horz" wrap="square" lIns="0" tIns="0" rIns="0" bIns="0"/>
          <a:p>
            <a:pPr algn="l" rtl="0" eaLnBrk="0">
              <a:lnSpc>
                <a:spcPct val="80000"/>
              </a:lnSpc>
            </a:pPr>
            <a:endParaRPr lang="en-US" altLang="en-US" sz="100" dirty="0"/>
          </a:p>
          <a:p>
            <a:pPr marL="12700" algn="l" rtl="0" eaLnBrk="0">
              <a:lnSpc>
                <a:spcPct val="94000"/>
              </a:lnSpc>
            </a:pPr>
            <a:r>
              <a:rPr sz="3600" kern="0" spc="-9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第</a:t>
            </a:r>
            <a:r>
              <a:rPr lang="zh-CN" sz="3600" kern="0" spc="-9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五</a:t>
            </a:r>
            <a:r>
              <a:rPr sz="3600" kern="0" spc="-9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讲</a:t>
            </a:r>
            <a:r>
              <a:rPr sz="3600" kern="0" spc="480" dirty="0">
                <a:solidFill>
                  <a:srgbClr val="000000">
                    <a:alpha val="100000"/>
                  </a:srgbClr>
                </a:solidFill>
                <a:latin typeface="仿宋" panose="02010609060101010101" charset="-122"/>
                <a:ea typeface="仿宋" panose="02010609060101010101" charset="-122"/>
                <a:cs typeface="仿宋" panose="02010609060101010101" charset="-122"/>
              </a:rPr>
              <a:t> </a:t>
            </a:r>
            <a:r>
              <a:rPr sz="3600" kern="0" spc="-90" dirty="0">
                <a:ln w="13063"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古典密码学</a:t>
            </a:r>
            <a:endParaRPr lang="en-US" altLang="en-US" sz="3600" dirty="0"/>
          </a:p>
        </p:txBody>
      </p:sp>
      <p:sp>
        <p:nvSpPr>
          <p:cNvPr id="1049288"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324" name=""/>
        <p:cNvGrpSpPr/>
        <p:nvPr/>
      </p:nvGrpSpPr>
      <p:grpSpPr>
        <a:xfrm>
          <a:off x="0" y="0"/>
          <a:ext cx="0" cy="0"/>
          <a:chOff x="0" y="0"/>
          <a:chExt cx="0" cy="0"/>
        </a:xfrm>
      </p:grpSpPr>
      <p:grpSp>
        <p:nvGrpSpPr>
          <p:cNvPr id="325" name="group 22"/>
          <p:cNvGrpSpPr/>
          <p:nvPr/>
        </p:nvGrpSpPr>
        <p:grpSpPr>
          <a:xfrm rot="21600000">
            <a:off x="3577716" y="4039997"/>
            <a:ext cx="6781799" cy="892809"/>
            <a:chOff x="-309880" y="-23495"/>
            <a:chExt cx="6781799" cy="892809"/>
          </a:xfrm>
        </p:grpSpPr>
        <p:pic>
          <p:nvPicPr>
            <p:cNvPr id="2097372" name="picture 268"/>
            <p:cNvPicPr>
              <a:picLocks noChangeAspect="1"/>
            </p:cNvPicPr>
            <p:nvPr/>
          </p:nvPicPr>
          <p:blipFill>
            <a:blip r:embed="rId1"/>
            <a:stretch>
              <a:fillRect/>
            </a:stretch>
          </p:blipFill>
          <p:spPr>
            <a:xfrm rot="21600000">
              <a:off x="-309880" y="-23495"/>
              <a:ext cx="5864351" cy="813815"/>
            </a:xfrm>
            <a:prstGeom prst="rect">
              <a:avLst/>
            </a:prstGeom>
          </p:spPr>
        </p:pic>
        <p:sp>
          <p:nvSpPr>
            <p:cNvPr id="1049459" name="textbox 270"/>
            <p:cNvSpPr/>
            <p:nvPr/>
          </p:nvSpPr>
          <p:spPr>
            <a:xfrm>
              <a:off x="581660" y="-12700"/>
              <a:ext cx="5890259" cy="882014"/>
            </a:xfrm>
            <a:prstGeom prst="rect">
              <a:avLst/>
            </a:prstGeom>
          </p:spPr>
          <p:txBody>
            <a:bodyPr vert="horz" wrap="square" lIns="0" tIns="0" rIns="0" bIns="0"/>
            <a:p>
              <a:pPr algn="l" rtl="0" eaLnBrk="0">
                <a:lnSpc>
                  <a:spcPct val="167000"/>
                </a:lnSpc>
              </a:pPr>
              <a:endParaRPr lang="en-US" altLang="en-US" sz="1000" dirty="0"/>
            </a:p>
            <a:p>
              <a:pPr algn="l" rtl="0" eaLnBrk="0">
                <a:lnSpc>
                  <a:spcPct val="7000"/>
                </a:lnSpc>
              </a:pPr>
              <a:endParaRPr lang="en-US" altLang="en-US" sz="100" dirty="0"/>
            </a:p>
            <a:p>
              <a:pPr marL="680085" algn="l" rtl="0" eaLnBrk="0">
                <a:lnSpc>
                  <a:spcPct val="95000"/>
                </a:lnSpc>
              </a:pPr>
              <a:r>
                <a:rPr sz="2400" kern="0" spc="-3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置换密码</a:t>
              </a:r>
              <a:endParaRPr lang="en-US" altLang="en-US" sz="2400" dirty="0"/>
            </a:p>
          </p:txBody>
        </p:sp>
      </p:grpSp>
      <p:sp>
        <p:nvSpPr>
          <p:cNvPr id="1049460" name="textbox 274"/>
          <p:cNvSpPr/>
          <p:nvPr/>
        </p:nvSpPr>
        <p:spPr>
          <a:xfrm>
            <a:off x="3856990" y="2985135"/>
            <a:ext cx="5567045" cy="876935"/>
          </a:xfrm>
          <a:prstGeom prst="rect">
            <a:avLst/>
          </a:prstGeom>
        </p:spPr>
        <p:txBody>
          <a:bodyPr vert="horz" wrap="square" lIns="0" tIns="0" rIns="0" bIns="0"/>
          <a:p>
            <a:pPr algn="l" rtl="0" eaLnBrk="0">
              <a:lnSpc>
                <a:spcPct val="167000"/>
              </a:lnSpc>
            </a:pPr>
            <a:endParaRPr lang="en-US" altLang="en-US" sz="1000" dirty="0"/>
          </a:p>
          <a:p>
            <a:pPr algn="l" rtl="0" eaLnBrk="0">
              <a:lnSpc>
                <a:spcPct val="7000"/>
              </a:lnSpc>
            </a:pPr>
            <a:endParaRPr lang="en-US" altLang="en-US" sz="100" dirty="0"/>
          </a:p>
          <a:p>
            <a:pPr marL="695960" algn="l" rtl="0" eaLnBrk="0">
              <a:lnSpc>
                <a:spcPct val="94000"/>
              </a:lnSpc>
            </a:pPr>
            <a:r>
              <a:rPr lang="en-US" sz="2400" kern="0" spc="-3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 </a:t>
            </a:r>
            <a:r>
              <a:rPr sz="2400" kern="0" spc="-3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多表代替密码算法</a:t>
            </a:r>
            <a:endParaRPr lang="en-US" altLang="en-US" sz="2400" dirty="0"/>
          </a:p>
        </p:txBody>
      </p:sp>
      <p:grpSp>
        <p:nvGrpSpPr>
          <p:cNvPr id="327" name="group 26"/>
          <p:cNvGrpSpPr/>
          <p:nvPr/>
        </p:nvGrpSpPr>
        <p:grpSpPr>
          <a:xfrm rot="21600000">
            <a:off x="3898773" y="1863852"/>
            <a:ext cx="5682615" cy="876935"/>
            <a:chOff x="3175" y="-1726565"/>
            <a:chExt cx="5682615" cy="876935"/>
          </a:xfrm>
        </p:grpSpPr>
        <p:pic>
          <p:nvPicPr>
            <p:cNvPr id="2097374" name="picture 276"/>
            <p:cNvPicPr>
              <a:picLocks noChangeAspect="1"/>
            </p:cNvPicPr>
            <p:nvPr/>
          </p:nvPicPr>
          <p:blipFill>
            <a:blip r:embed="rId2"/>
            <a:stretch>
              <a:fillRect/>
            </a:stretch>
          </p:blipFill>
          <p:spPr>
            <a:xfrm rot="21600000">
              <a:off x="3175" y="-1704340"/>
              <a:ext cx="5507735" cy="813815"/>
            </a:xfrm>
            <a:prstGeom prst="rect">
              <a:avLst/>
            </a:prstGeom>
          </p:spPr>
        </p:pic>
        <p:sp>
          <p:nvSpPr>
            <p:cNvPr id="1049461" name="textbox 278"/>
            <p:cNvSpPr/>
            <p:nvPr/>
          </p:nvSpPr>
          <p:spPr>
            <a:xfrm>
              <a:off x="152400" y="-1726565"/>
              <a:ext cx="5533390" cy="876935"/>
            </a:xfrm>
            <a:prstGeom prst="rect">
              <a:avLst/>
            </a:prstGeom>
          </p:spPr>
          <p:txBody>
            <a:bodyPr vert="horz" wrap="square" lIns="0" tIns="0" rIns="0" bIns="0"/>
            <a:p>
              <a:pPr algn="l" rtl="0" eaLnBrk="0">
                <a:lnSpc>
                  <a:spcPct val="167000"/>
                </a:lnSpc>
              </a:pPr>
              <a:endParaRPr lang="en-US" altLang="en-US" sz="1000" dirty="0"/>
            </a:p>
            <a:p>
              <a:pPr marL="683895" algn="l" rtl="0" eaLnBrk="0">
                <a:lnSpc>
                  <a:spcPct val="94000"/>
                </a:lnSpc>
                <a:spcBef>
                  <a:spcPts val="0"/>
                </a:spcBef>
              </a:pPr>
              <a:r>
                <a:rPr sz="2400" kern="0" spc="-2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代替密码算法</a:t>
              </a:r>
              <a:endParaRPr lang="en-US" altLang="en-US" sz="2400" dirty="0"/>
            </a:p>
          </p:txBody>
        </p:sp>
      </p:grpSp>
      <p:grpSp>
        <p:nvGrpSpPr>
          <p:cNvPr id="328" name="group 28"/>
          <p:cNvGrpSpPr/>
          <p:nvPr/>
        </p:nvGrpSpPr>
        <p:grpSpPr>
          <a:xfrm rot="21600000">
            <a:off x="2961639" y="1351661"/>
            <a:ext cx="1461008" cy="3960240"/>
            <a:chOff x="0" y="0"/>
            <a:chExt cx="1461008" cy="3960240"/>
          </a:xfrm>
        </p:grpSpPr>
        <p:sp>
          <p:nvSpPr>
            <p:cNvPr id="1049462" name="path"/>
            <p:cNvSpPr/>
            <p:nvPr/>
          </p:nvSpPr>
          <p:spPr>
            <a:xfrm>
              <a:off x="0" y="0"/>
              <a:ext cx="1082692" cy="3960240"/>
            </a:xfrm>
            <a:custGeom>
              <a:avLst/>
              <a:gdLst/>
              <a:ahLst/>
              <a:cxnLst/>
              <a:rect l="0" t="0" r="0" b="0"/>
              <a:pathLst>
                <a:path w="1705" h="6236">
                  <a:moveTo>
                    <a:pt x="4" y="4"/>
                  </a:moveTo>
                  <a:cubicBezTo>
                    <a:pt x="1897" y="1448"/>
                    <a:pt x="2261" y="4153"/>
                    <a:pt x="818" y="6046"/>
                  </a:cubicBezTo>
                  <a:cubicBezTo>
                    <a:pt x="769" y="6109"/>
                    <a:pt x="719" y="6171"/>
                    <a:pt x="668" y="6231"/>
                  </a:cubicBezTo>
                  <a:lnTo>
                    <a:pt x="668" y="6231"/>
                  </a:lnTo>
                  <a:cubicBezTo>
                    <a:pt x="2213" y="4421"/>
                    <a:pt x="2000" y="1700"/>
                    <a:pt x="190" y="154"/>
                  </a:cubicBezTo>
                  <a:cubicBezTo>
                    <a:pt x="130" y="102"/>
                    <a:pt x="68" y="52"/>
                    <a:pt x="4" y="4"/>
                  </a:cubicBezTo>
                </a:path>
              </a:pathLst>
            </a:custGeom>
            <a:noFill/>
            <a:ln w="6096" cap="flat">
              <a:solidFill>
                <a:srgbClr val="477BA9">
                  <a:alpha val="100000"/>
                </a:srgbClr>
              </a:solidFill>
              <a:prstDash val="solid"/>
              <a:miter lim="1000000"/>
            </a:ln>
          </p:spPr>
          <p:txBody>
            <a:bodyPr rtlCol="0"/>
            <a:p>
              <a:pPr algn="ctr"/>
              <a:endParaRPr lang="zh-CN" altLang="en-US"/>
            </a:p>
          </p:txBody>
        </p:sp>
        <p:sp>
          <p:nvSpPr>
            <p:cNvPr id="1049463" name="path"/>
            <p:cNvSpPr/>
            <p:nvPr/>
          </p:nvSpPr>
          <p:spPr>
            <a:xfrm>
              <a:off x="86360" y="426846"/>
              <a:ext cx="1016508" cy="1014983"/>
            </a:xfrm>
            <a:custGeom>
              <a:avLst/>
              <a:gdLst/>
              <a:ahLst/>
              <a:cxnLst/>
              <a:rect l="0" t="0" r="0" b="0"/>
              <a:pathLst>
                <a:path w="1600" h="1598">
                  <a:moveTo>
                    <a:pt x="0" y="799"/>
                  </a:moveTo>
                  <a:cubicBezTo>
                    <a:pt x="0" y="357"/>
                    <a:pt x="358" y="0"/>
                    <a:pt x="800" y="0"/>
                  </a:cubicBezTo>
                  <a:cubicBezTo>
                    <a:pt x="1242" y="0"/>
                    <a:pt x="1600" y="357"/>
                    <a:pt x="1600" y="799"/>
                  </a:cubicBezTo>
                  <a:cubicBezTo>
                    <a:pt x="1600" y="1240"/>
                    <a:pt x="1242" y="1598"/>
                    <a:pt x="800" y="1598"/>
                  </a:cubicBezTo>
                  <a:cubicBezTo>
                    <a:pt x="358" y="1598"/>
                    <a:pt x="0" y="1240"/>
                    <a:pt x="0" y="799"/>
                  </a:cubicBezTo>
                </a:path>
              </a:pathLst>
            </a:custGeom>
            <a:solidFill>
              <a:srgbClr val="FFFFFF">
                <a:alpha val="100000"/>
              </a:srgbClr>
            </a:solidFill>
            <a:ln cap="flat">
              <a:noFill/>
              <a:prstDash val="solid"/>
              <a:miter lim="0"/>
            </a:ln>
          </p:spPr>
          <p:txBody>
            <a:bodyPr rtlCol="0"/>
            <a:p>
              <a:pPr algn="ctr"/>
              <a:endParaRPr lang="zh-CN" altLang="en-US"/>
            </a:p>
          </p:txBody>
        </p:sp>
        <p:sp>
          <p:nvSpPr>
            <p:cNvPr id="1049464" name="path"/>
            <p:cNvSpPr/>
            <p:nvPr/>
          </p:nvSpPr>
          <p:spPr>
            <a:xfrm>
              <a:off x="83312" y="423798"/>
              <a:ext cx="1022604" cy="1021079"/>
            </a:xfrm>
            <a:custGeom>
              <a:avLst/>
              <a:gdLst/>
              <a:ahLst/>
              <a:cxnLst/>
              <a:rect l="0" t="0" r="0" b="0"/>
              <a:pathLst>
                <a:path w="1610" h="1607">
                  <a:moveTo>
                    <a:pt x="4" y="803"/>
                  </a:moveTo>
                  <a:cubicBezTo>
                    <a:pt x="4" y="362"/>
                    <a:pt x="363" y="4"/>
                    <a:pt x="805" y="4"/>
                  </a:cubicBezTo>
                  <a:cubicBezTo>
                    <a:pt x="1247" y="4"/>
                    <a:pt x="1605" y="362"/>
                    <a:pt x="1605" y="803"/>
                  </a:cubicBezTo>
                  <a:cubicBezTo>
                    <a:pt x="1605" y="1245"/>
                    <a:pt x="1247" y="1603"/>
                    <a:pt x="805" y="1603"/>
                  </a:cubicBezTo>
                  <a:cubicBezTo>
                    <a:pt x="363" y="1603"/>
                    <a:pt x="4" y="1245"/>
                    <a:pt x="4" y="803"/>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9465" name="path"/>
            <p:cNvSpPr/>
            <p:nvPr/>
          </p:nvSpPr>
          <p:spPr>
            <a:xfrm>
              <a:off x="407923" y="2616834"/>
              <a:ext cx="1016508" cy="1016508"/>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466" name="path"/>
            <p:cNvSpPr/>
            <p:nvPr/>
          </p:nvSpPr>
          <p:spPr>
            <a:xfrm>
              <a:off x="404876" y="2613786"/>
              <a:ext cx="1022603" cy="1022604"/>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9467" name="path"/>
            <p:cNvSpPr/>
            <p:nvPr/>
          </p:nvSpPr>
          <p:spPr>
            <a:xfrm>
              <a:off x="441452" y="1493646"/>
              <a:ext cx="1016508" cy="1014983"/>
            </a:xfrm>
            <a:custGeom>
              <a:avLst/>
              <a:gdLst/>
              <a:ahLst/>
              <a:cxnLst/>
              <a:rect l="0" t="0" r="0" b="0"/>
              <a:pathLst>
                <a:path w="1600" h="1598">
                  <a:moveTo>
                    <a:pt x="0" y="799"/>
                  </a:moveTo>
                  <a:cubicBezTo>
                    <a:pt x="0" y="357"/>
                    <a:pt x="358" y="0"/>
                    <a:pt x="800" y="0"/>
                  </a:cubicBezTo>
                  <a:cubicBezTo>
                    <a:pt x="1242" y="0"/>
                    <a:pt x="1600" y="357"/>
                    <a:pt x="1600" y="799"/>
                  </a:cubicBezTo>
                  <a:cubicBezTo>
                    <a:pt x="1600" y="1240"/>
                    <a:pt x="1242" y="1598"/>
                    <a:pt x="800" y="1598"/>
                  </a:cubicBezTo>
                  <a:cubicBezTo>
                    <a:pt x="358" y="1598"/>
                    <a:pt x="0" y="1240"/>
                    <a:pt x="0" y="799"/>
                  </a:cubicBezTo>
                </a:path>
              </a:pathLst>
            </a:custGeom>
            <a:solidFill>
              <a:srgbClr val="FFFFFF">
                <a:alpha val="100000"/>
              </a:srgbClr>
            </a:solidFill>
            <a:ln cap="flat">
              <a:noFill/>
              <a:prstDash val="solid"/>
              <a:miter lim="0"/>
            </a:ln>
          </p:spPr>
          <p:txBody>
            <a:bodyPr rtlCol="0"/>
            <a:p>
              <a:pPr algn="ctr"/>
              <a:endParaRPr lang="zh-CN" altLang="en-US"/>
            </a:p>
          </p:txBody>
        </p:sp>
        <p:sp>
          <p:nvSpPr>
            <p:cNvPr id="1049468" name="path"/>
            <p:cNvSpPr/>
            <p:nvPr/>
          </p:nvSpPr>
          <p:spPr>
            <a:xfrm>
              <a:off x="438404" y="1490598"/>
              <a:ext cx="1022603" cy="1021079"/>
            </a:xfrm>
            <a:custGeom>
              <a:avLst/>
              <a:gdLst/>
              <a:ahLst/>
              <a:cxnLst/>
              <a:rect l="0" t="0" r="0" b="0"/>
              <a:pathLst>
                <a:path w="1610" h="1607">
                  <a:moveTo>
                    <a:pt x="4" y="803"/>
                  </a:moveTo>
                  <a:cubicBezTo>
                    <a:pt x="4" y="362"/>
                    <a:pt x="363" y="4"/>
                    <a:pt x="805" y="4"/>
                  </a:cubicBezTo>
                  <a:cubicBezTo>
                    <a:pt x="1247" y="4"/>
                    <a:pt x="1605" y="362"/>
                    <a:pt x="1605" y="803"/>
                  </a:cubicBezTo>
                  <a:cubicBezTo>
                    <a:pt x="1605" y="1245"/>
                    <a:pt x="1247" y="1603"/>
                    <a:pt x="805" y="1603"/>
                  </a:cubicBezTo>
                  <a:cubicBezTo>
                    <a:pt x="363" y="1603"/>
                    <a:pt x="4" y="1245"/>
                    <a:pt x="4" y="803"/>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9469" name="textbox 294"/>
          <p:cNvSpPr/>
          <p:nvPr/>
        </p:nvSpPr>
        <p:spPr>
          <a:xfrm>
            <a:off x="2745896" y="488157"/>
            <a:ext cx="3855720"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第</a:t>
            </a:r>
            <a:r>
              <a:rPr lang="zh-CN"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五</a:t>
            </a:r>
            <a:r>
              <a:rPr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讲</a:t>
            </a:r>
            <a:r>
              <a:rPr sz="3200" kern="0" spc="28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古典密码算法</a:t>
            </a:r>
            <a:endParaRPr lang="en-US" altLang="en-US" sz="3200" dirty="0"/>
          </a:p>
        </p:txBody>
      </p:sp>
      <p:sp>
        <p:nvSpPr>
          <p:cNvPr id="1049470"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75" name="picture 300"/>
          <p:cNvPicPr>
            <a:picLocks noChangeAspect="1"/>
          </p:cNvPicPr>
          <p:nvPr/>
        </p:nvPicPr>
        <p:blipFill>
          <a:blip r:embed="rId3"/>
          <a:stretch>
            <a:fillRect/>
          </a:stretch>
        </p:blipFill>
        <p:spPr>
          <a:xfrm rot="21600000">
            <a:off x="824483" y="408431"/>
            <a:ext cx="419100" cy="655320"/>
          </a:xfrm>
          <a:prstGeom prst="rect">
            <a:avLst/>
          </a:prstGeom>
        </p:spPr>
      </p:pic>
      <p:sp>
        <p:nvSpPr>
          <p:cNvPr id="1049471"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314" name=""/>
        <p:cNvGrpSpPr/>
        <p:nvPr/>
      </p:nvGrpSpPr>
      <p:grpSpPr>
        <a:xfrm>
          <a:off x="0" y="0"/>
          <a:ext cx="0" cy="0"/>
          <a:chOff x="0" y="0"/>
          <a:chExt cx="0" cy="0"/>
        </a:xfrm>
      </p:grpSpPr>
      <p:sp>
        <p:nvSpPr>
          <p:cNvPr id="1049418" name="textbox 160"/>
          <p:cNvSpPr/>
          <p:nvPr/>
        </p:nvSpPr>
        <p:spPr>
          <a:xfrm>
            <a:off x="921738" y="1673890"/>
            <a:ext cx="10337165" cy="3007995"/>
          </a:xfrm>
          <a:prstGeom prst="rect">
            <a:avLst/>
          </a:prstGeom>
        </p:spPr>
        <p:txBody>
          <a:bodyPr vert="horz" wrap="square" lIns="0" tIns="0" rIns="0" bIns="0"/>
          <a:p>
            <a:pPr algn="l" rtl="0" eaLnBrk="0">
              <a:lnSpc>
                <a:spcPct val="77000"/>
              </a:lnSpc>
            </a:pPr>
            <a:endParaRPr lang="en-US" altLang="en-US" sz="100" dirty="0"/>
          </a:p>
          <a:p>
            <a:pPr marL="12700" algn="l" rtl="0" eaLnBrk="0">
              <a:lnSpc>
                <a:spcPct val="93000"/>
              </a:lnSpc>
            </a:pPr>
            <a:r>
              <a:rPr sz="2700" kern="0" spc="160" dirty="0">
                <a:solidFill>
                  <a:srgbClr val="FF0000">
                    <a:alpha val="100000"/>
                  </a:srgbClr>
                </a:solidFill>
                <a:latin typeface="Arial" panose="020B0604020202020204"/>
                <a:ea typeface="Arial" panose="020B0604020202020204"/>
                <a:cs typeface="Arial" panose="020B0604020202020204"/>
              </a:rPr>
              <a:t>•</a:t>
            </a:r>
            <a:r>
              <a:rPr sz="2700" kern="0" spc="300" dirty="0">
                <a:solidFill>
                  <a:srgbClr val="FF0000">
                    <a:alpha val="100000"/>
                  </a:srgbClr>
                </a:solidFill>
                <a:latin typeface="Arial" panose="020B0604020202020204"/>
                <a:ea typeface="Arial" panose="020B0604020202020204"/>
                <a:cs typeface="Arial" panose="020B0604020202020204"/>
              </a:rPr>
              <a:t> </a:t>
            </a:r>
            <a:r>
              <a:rPr sz="2700" kern="0" spc="160" dirty="0">
                <a:ln w="10145"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代替</a:t>
            </a:r>
            <a:r>
              <a:rPr sz="2700" b="1" kern="0" spc="160" dirty="0">
                <a:solidFill>
                  <a:srgbClr val="FF0000">
                    <a:alpha val="100000"/>
                  </a:srgbClr>
                </a:solidFill>
                <a:latin typeface="Times New Roman" panose="02020603050405020304"/>
                <a:ea typeface="Times New Roman" panose="02020603050405020304"/>
                <a:cs typeface="Times New Roman" panose="02020603050405020304"/>
              </a:rPr>
              <a:t>(</a:t>
            </a:r>
            <a:r>
              <a:rPr sz="2700" b="1" kern="0" spc="0" dirty="0">
                <a:solidFill>
                  <a:srgbClr val="FF0000">
                    <a:alpha val="100000"/>
                  </a:srgbClr>
                </a:solidFill>
                <a:latin typeface="Times New Roman" panose="02020603050405020304"/>
                <a:ea typeface="Times New Roman" panose="02020603050405020304"/>
                <a:cs typeface="Times New Roman" panose="02020603050405020304"/>
              </a:rPr>
              <a:t>Substitution</a:t>
            </a:r>
            <a:r>
              <a:rPr sz="2700" b="1" kern="0" spc="160" dirty="0">
                <a:solidFill>
                  <a:srgbClr val="FF0000">
                    <a:alpha val="100000"/>
                  </a:srgbClr>
                </a:solidFill>
                <a:latin typeface="Times New Roman" panose="02020603050405020304"/>
                <a:ea typeface="Times New Roman" panose="02020603050405020304"/>
                <a:cs typeface="Times New Roman" panose="02020603050405020304"/>
              </a:rPr>
              <a:t>)</a:t>
            </a:r>
            <a:r>
              <a:rPr sz="2700" kern="0" spc="16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密码构造一个或</a:t>
            </a:r>
            <a:r>
              <a:rPr sz="2700" kern="0" spc="15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多个密文字母表，然后用密文</a:t>
            </a:r>
            <a:endParaRPr lang="en-US" altLang="en-US" sz="2700" dirty="0"/>
          </a:p>
          <a:p>
            <a:pPr marL="259715" algn="l" rtl="0" eaLnBrk="0">
              <a:lnSpc>
                <a:spcPct val="157000"/>
              </a:lnSpc>
              <a:spcBef>
                <a:spcPts val="40"/>
              </a:spcBef>
            </a:pPr>
            <a:r>
              <a:rPr sz="2700" kern="0" spc="13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字母表中的字母或者字母组来代替明文字母或字母组，各字</a:t>
            </a:r>
            <a:r>
              <a:rPr sz="2700" kern="0" spc="12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母或</a:t>
            </a:r>
            <a:r>
              <a:rPr sz="27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字母组的</a:t>
            </a:r>
            <a:r>
              <a:rPr sz="2700" kern="0" spc="90" dirty="0">
                <a:ln w="10145"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相对位置不变</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，但其本身的</a:t>
            </a:r>
            <a:r>
              <a:rPr sz="2700" kern="0" spc="90" dirty="0">
                <a:ln w="10145" cap="flat" cmpd="sng">
                  <a:solidFill>
                    <a:srgbClr val="FF0000">
                      <a:alpha val="100000"/>
                    </a:srgbClr>
                  </a:solidFill>
                  <a:prstDash val="solid"/>
                  <a:miter lim="10"/>
                </a:ln>
                <a:solidFill>
                  <a:srgbClr val="FF0000">
                    <a:alpha val="100000"/>
                  </a:srgbClr>
                </a:solidFill>
                <a:latin typeface="仿宋" panose="02010609060101010101" charset="-122"/>
                <a:ea typeface="仿宋" panose="02010609060101010101" charset="-122"/>
                <a:cs typeface="仿宋" panose="02010609060101010101" charset="-122"/>
              </a:rPr>
              <a:t>值改变</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了。</a:t>
            </a:r>
            <a:endParaRPr lang="en-US" altLang="en-US" sz="2700" dirty="0"/>
          </a:p>
          <a:p>
            <a:pPr algn="l" rtl="0" eaLnBrk="0">
              <a:lnSpc>
                <a:spcPct val="102000"/>
              </a:lnSpc>
            </a:pPr>
            <a:endParaRPr lang="en-US" altLang="en-US" sz="1000" dirty="0"/>
          </a:p>
          <a:p>
            <a:pPr algn="l" rtl="0" eaLnBrk="0">
              <a:lnSpc>
                <a:spcPct val="102000"/>
              </a:lnSpc>
            </a:pPr>
            <a:endParaRPr lang="en-US" altLang="en-US" sz="1000" dirty="0"/>
          </a:p>
          <a:p>
            <a:pPr algn="l" rtl="0" eaLnBrk="0">
              <a:lnSpc>
                <a:spcPct val="102000"/>
              </a:lnSpc>
            </a:pPr>
            <a:endParaRPr lang="en-US" altLang="en-US" sz="1000" dirty="0"/>
          </a:p>
          <a:p>
            <a:pPr algn="l" rtl="0" eaLnBrk="0">
              <a:lnSpc>
                <a:spcPct val="102000"/>
              </a:lnSpc>
            </a:pPr>
            <a:endParaRPr lang="en-US" altLang="en-US" sz="1000" dirty="0"/>
          </a:p>
          <a:p>
            <a:pPr algn="l" rtl="0" eaLnBrk="0">
              <a:lnSpc>
                <a:spcPct val="103000"/>
              </a:lnSpc>
            </a:pPr>
            <a:endParaRPr lang="en-US" altLang="en-US" sz="1000" dirty="0"/>
          </a:p>
          <a:p>
            <a:pPr algn="l" rtl="0" eaLnBrk="0">
              <a:lnSpc>
                <a:spcPct val="112000"/>
              </a:lnSpc>
            </a:pPr>
            <a:endParaRPr lang="en-US" altLang="en-US" sz="600" dirty="0"/>
          </a:p>
          <a:p>
            <a:pPr marL="12700" algn="l" rtl="0" eaLnBrk="0">
              <a:lnSpc>
                <a:spcPts val="3320"/>
              </a:lnSpc>
              <a:spcBef>
                <a:spcPts val="5"/>
              </a:spcBef>
            </a:pPr>
            <a:r>
              <a:rPr sz="2700" kern="0" spc="80" dirty="0">
                <a:solidFill>
                  <a:srgbClr val="000000">
                    <a:alpha val="100000"/>
                  </a:srgbClr>
                </a:solidFill>
                <a:latin typeface="Arial" panose="020B0604020202020204"/>
                <a:ea typeface="Arial" panose="020B0604020202020204"/>
                <a:cs typeface="Arial" panose="020B0604020202020204"/>
              </a:rPr>
              <a:t>•</a:t>
            </a:r>
            <a:r>
              <a:rPr sz="2700" kern="0" spc="380" dirty="0">
                <a:solidFill>
                  <a:srgbClr val="000000">
                    <a:alpha val="100000"/>
                  </a:srgbClr>
                </a:solidFill>
                <a:latin typeface="Arial" panose="020B0604020202020204"/>
                <a:ea typeface="Arial" panose="020B0604020202020204"/>
                <a:cs typeface="Arial" panose="020B0604020202020204"/>
              </a:rPr>
              <a:t> </a:t>
            </a:r>
            <a:r>
              <a:rPr sz="2700" kern="0" spc="8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代替密码分为单表代替密码和多表代替密码</a:t>
            </a:r>
            <a:endParaRPr lang="en-US" altLang="en-US" sz="2700" dirty="0"/>
          </a:p>
        </p:txBody>
      </p:sp>
      <p:sp>
        <p:nvSpPr>
          <p:cNvPr id="1049419" name="textbox 162"/>
          <p:cNvSpPr/>
          <p:nvPr/>
        </p:nvSpPr>
        <p:spPr>
          <a:xfrm>
            <a:off x="811783" y="-12700"/>
            <a:ext cx="11393169" cy="1156969"/>
          </a:xfrm>
          <a:prstGeom prst="rect">
            <a:avLst/>
          </a:prstGeom>
        </p:spPr>
        <p:txBody>
          <a:bodyPr vert="horz" wrap="square" lIns="0" tIns="0" rIns="0" bIns="0"/>
          <a:p>
            <a:pPr algn="l" rtl="0" eaLnBrk="0">
              <a:lnSpc>
                <a:spcPct val="111000"/>
              </a:lnSpc>
            </a:pPr>
            <a:endParaRPr lang="en-US" altLang="en-US" sz="1000" dirty="0"/>
          </a:p>
          <a:p>
            <a:pPr algn="l" rtl="0" eaLnBrk="0">
              <a:lnSpc>
                <a:spcPct val="112000"/>
              </a:lnSpc>
            </a:pPr>
            <a:endParaRPr lang="en-US" altLang="en-US" sz="1000" dirty="0"/>
          </a:p>
          <a:p>
            <a:pPr algn="l" rtl="0" eaLnBrk="0">
              <a:lnSpc>
                <a:spcPct val="112000"/>
              </a:lnSpc>
            </a:pPr>
            <a:endParaRPr lang="en-US" altLang="en-US" sz="1000" dirty="0"/>
          </a:p>
          <a:p>
            <a:pPr algn="l" rtl="0" eaLnBrk="0">
              <a:lnSpc>
                <a:spcPct val="9000"/>
              </a:lnSpc>
            </a:pPr>
            <a:endParaRPr lang="en-US" altLang="en-US" sz="100" dirty="0"/>
          </a:p>
          <a:p>
            <a:pPr marL="431800" algn="l" rtl="0" eaLnBrk="0">
              <a:lnSpc>
                <a:spcPct val="95000"/>
              </a:lnSpc>
              <a:tabLst>
                <a:tab pos="653415" algn="l"/>
                <a:tab pos="9690100" algn="l"/>
              </a:tabLst>
            </a:pPr>
            <a:r>
              <a:rPr sz="32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200" u="sng" kern="0" spc="-58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3200" u="sng" kern="0" spc="-70" dirty="0">
                <a:ln w="11625" cap="flat" cmpd="sng">
                  <a:solidFill>
                    <a:srgbClr val="1F4E79">
                      <a:alpha val="100000"/>
                    </a:srgbClr>
                  </a:solidFill>
                  <a:prstDash val="solid"/>
                  <a:miter lim="10"/>
                </a:ln>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代替密码</a:t>
            </a:r>
            <a:r>
              <a:rPr sz="32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3200" kern="0" spc="-10" dirty="0">
                <a:solidFill>
                  <a:srgbClr val="1F4E79">
                    <a:alpha val="100000"/>
                  </a:srgbClr>
                </a:solidFill>
                <a:latin typeface="仿宋" panose="02010609060101010101" charset="-122"/>
                <a:ea typeface="仿宋" panose="02010609060101010101" charset="-122"/>
                <a:cs typeface="仿宋" panose="02010609060101010101" charset="-122"/>
              </a:rPr>
              <a:t>    </a:t>
            </a:r>
            <a:endParaRPr lang="en-US" altLang="en-US" sz="3200" dirty="0"/>
          </a:p>
        </p:txBody>
      </p:sp>
      <p:pic>
        <p:nvPicPr>
          <p:cNvPr id="2097365" name="picture 166"/>
          <p:cNvPicPr>
            <a:picLocks noChangeAspect="1"/>
          </p:cNvPicPr>
          <p:nvPr/>
        </p:nvPicPr>
        <p:blipFill>
          <a:blip r:embed="rId1"/>
          <a:stretch>
            <a:fillRect/>
          </a:stretch>
        </p:blipFill>
        <p:spPr>
          <a:xfrm rot="21600000">
            <a:off x="824483" y="408431"/>
            <a:ext cx="419100" cy="655320"/>
          </a:xfrm>
          <a:prstGeom prst="rect">
            <a:avLst/>
          </a:prstGeom>
        </p:spPr>
      </p:pic>
      <p:sp>
        <p:nvSpPr>
          <p:cNvPr id="1049420"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315" name=""/>
        <p:cNvGrpSpPr/>
        <p:nvPr/>
      </p:nvGrpSpPr>
      <p:grpSpPr>
        <a:xfrm>
          <a:off x="0" y="0"/>
          <a:ext cx="0" cy="0"/>
          <a:chOff x="0" y="0"/>
          <a:chExt cx="0" cy="0"/>
        </a:xfrm>
      </p:grpSpPr>
      <p:sp>
        <p:nvSpPr>
          <p:cNvPr id="1049421" name="textbox 170"/>
          <p:cNvSpPr/>
          <p:nvPr/>
        </p:nvSpPr>
        <p:spPr>
          <a:xfrm>
            <a:off x="811783" y="-12700"/>
            <a:ext cx="11393169" cy="2738120"/>
          </a:xfrm>
          <a:prstGeom prst="rect">
            <a:avLst/>
          </a:prstGeom>
        </p:spPr>
        <p:txBody>
          <a:bodyPr vert="horz" wrap="square" lIns="0" tIns="0" rIns="0" bIns="0"/>
          <a:p>
            <a:pPr algn="l" rtl="0" eaLnBrk="0">
              <a:lnSpc>
                <a:spcPct val="112000"/>
              </a:lnSpc>
            </a:pPr>
            <a:endParaRPr lang="en-US" altLang="en-US" sz="1000" dirty="0"/>
          </a:p>
          <a:p>
            <a:pPr algn="l" rtl="0" eaLnBrk="0">
              <a:lnSpc>
                <a:spcPct val="112000"/>
              </a:lnSpc>
            </a:pPr>
            <a:endParaRPr lang="en-US" altLang="en-US" sz="1000" dirty="0"/>
          </a:p>
          <a:p>
            <a:pPr algn="l" rtl="0" eaLnBrk="0">
              <a:lnSpc>
                <a:spcPct val="112000"/>
              </a:lnSpc>
            </a:pPr>
            <a:endParaRPr lang="en-US" altLang="en-US" sz="1000" dirty="0"/>
          </a:p>
          <a:p>
            <a:pPr marL="431800" algn="l" rtl="0" eaLnBrk="0">
              <a:lnSpc>
                <a:spcPct val="93000"/>
              </a:lnSpc>
              <a:spcBef>
                <a:spcPts val="0"/>
              </a:spcBef>
              <a:tabLst>
                <a:tab pos="653415" algn="l"/>
                <a:tab pos="9690100" algn="l"/>
              </a:tabLst>
            </a:pPr>
            <a:r>
              <a:rPr sz="3200" kern="0" spc="0" dirty="0">
                <a:solidFill>
                  <a:srgbClr val="1F4E79">
                    <a:alpha val="100000"/>
                  </a:srgbClr>
                </a:solidFill>
                <a:latin typeface="仿宋" panose="02010609060101010101" charset="-122"/>
                <a:ea typeface="仿宋" panose="02010609060101010101" charset="-122"/>
                <a:cs typeface="仿宋" panose="02010609060101010101" charset="-122"/>
              </a:rPr>
              <a:t>	</a:t>
            </a:r>
            <a:r>
              <a:rPr sz="3200" u="sng" kern="0" spc="-40" dirty="0">
                <a:ln w="11625" cap="flat" cmpd="sng">
                  <a:solidFill>
                    <a:srgbClr val="1F4E79">
                      <a:alpha val="100000"/>
                    </a:srgbClr>
                  </a:solidFill>
                  <a:prstDash val="solid"/>
                  <a:miter lim="10"/>
                </a:ln>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字母与数字的转换</a:t>
            </a:r>
            <a:r>
              <a:rPr sz="3200" u="sng" kern="0" spc="0" dirty="0">
                <a:solidFill>
                  <a:srgbClr val="1F4E79">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sz="3200" kern="0" spc="-10" dirty="0">
                <a:solidFill>
                  <a:srgbClr val="1F4E79">
                    <a:alpha val="100000"/>
                  </a:srgbClr>
                </a:solidFill>
                <a:latin typeface="仿宋" panose="02010609060101010101" charset="-122"/>
                <a:ea typeface="仿宋" panose="02010609060101010101" charset="-122"/>
                <a:cs typeface="仿宋" panose="02010609060101010101" charset="-122"/>
              </a:rPr>
              <a:t>    </a:t>
            </a:r>
            <a:endParaRPr lang="en-US" altLang="en-US" sz="3200" dirty="0"/>
          </a:p>
          <a:p>
            <a:pPr algn="l" rtl="0" eaLnBrk="0">
              <a:lnSpc>
                <a:spcPct val="134000"/>
              </a:lnSpc>
            </a:pPr>
            <a:endParaRPr lang="en-US" altLang="en-US" sz="1000" dirty="0"/>
          </a:p>
          <a:p>
            <a:pPr algn="l" rtl="0" eaLnBrk="0">
              <a:lnSpc>
                <a:spcPct val="135000"/>
              </a:lnSpc>
            </a:pPr>
            <a:endParaRPr lang="en-US" altLang="en-US" sz="1000" dirty="0"/>
          </a:p>
          <a:p>
            <a:pPr algn="l" rtl="0" eaLnBrk="0">
              <a:lnSpc>
                <a:spcPct val="112000"/>
              </a:lnSpc>
            </a:pPr>
            <a:endParaRPr lang="en-US" altLang="en-US" sz="600" dirty="0"/>
          </a:p>
          <a:p>
            <a:pPr marL="455930" indent="706755" algn="l" rtl="0" eaLnBrk="0">
              <a:lnSpc>
                <a:spcPct val="101000"/>
              </a:lnSpc>
              <a:spcBef>
                <a:spcPts val="5"/>
              </a:spcBef>
            </a:pPr>
            <a:r>
              <a:rPr sz="2700" kern="0" spc="15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代替密码算法针对英文字母进行处理</a:t>
            </a:r>
            <a:r>
              <a:rPr sz="2700" kern="0" spc="-80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15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。首</a:t>
            </a:r>
            <a:r>
              <a:rPr sz="2700" kern="0" spc="14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先将</a:t>
            </a:r>
            <a:r>
              <a:rPr sz="2700" b="1" kern="0" spc="140" dirty="0">
                <a:solidFill>
                  <a:srgbClr val="000000">
                    <a:alpha val="100000"/>
                  </a:srgbClr>
                </a:solidFill>
                <a:latin typeface="Times New Roman" panose="02020603050405020304"/>
                <a:ea typeface="Times New Roman" panose="02020603050405020304"/>
                <a:cs typeface="Times New Roman" panose="02020603050405020304"/>
              </a:rPr>
              <a:t>26</a:t>
            </a:r>
            <a:r>
              <a:rPr sz="2700" kern="0" spc="14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个字母与</a:t>
            </a:r>
            <a:r>
              <a:rPr sz="27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16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十进制数字中的</a:t>
            </a:r>
            <a:r>
              <a:rPr sz="2700" b="1" kern="0" spc="160" dirty="0">
                <a:solidFill>
                  <a:srgbClr val="000000">
                    <a:alpha val="100000"/>
                  </a:srgbClr>
                </a:solidFill>
                <a:latin typeface="Times New Roman" panose="02020603050405020304"/>
                <a:ea typeface="Times New Roman" panose="02020603050405020304"/>
                <a:cs typeface="Times New Roman" panose="02020603050405020304"/>
              </a:rPr>
              <a:t>0~25</a:t>
            </a:r>
            <a:r>
              <a:rPr sz="2700" kern="0" spc="16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一一</a:t>
            </a:r>
            <a:r>
              <a:rPr sz="2700" kern="0" spc="15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对应，如下表所示。而这里的数的加</a:t>
            </a:r>
            <a:r>
              <a:rPr sz="2700" kern="0" spc="-10" dirty="0">
                <a:solidFill>
                  <a:srgbClr val="000000">
                    <a:alpha val="100000"/>
                  </a:srgbClr>
                </a:solidFill>
                <a:latin typeface="仿宋" panose="02010609060101010101" charset="-122"/>
                <a:ea typeface="仿宋" panose="02010609060101010101" charset="-122"/>
                <a:cs typeface="仿宋" panose="02010609060101010101" charset="-122"/>
              </a:rPr>
              <a:t>       </a:t>
            </a:r>
            <a:r>
              <a:rPr sz="2700" kern="0" spc="8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法和乘法都定义为模</a:t>
            </a:r>
            <a:r>
              <a:rPr sz="2700" b="1" kern="0" spc="80" dirty="0">
                <a:solidFill>
                  <a:srgbClr val="000000">
                    <a:alpha val="100000"/>
                  </a:srgbClr>
                </a:solidFill>
                <a:latin typeface="Times New Roman" panose="02020603050405020304"/>
                <a:ea typeface="Times New Roman" panose="02020603050405020304"/>
                <a:cs typeface="Times New Roman" panose="02020603050405020304"/>
              </a:rPr>
              <a:t>26</a:t>
            </a:r>
            <a:r>
              <a:rPr sz="2700" kern="0" spc="8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的加法和乘法。</a:t>
            </a:r>
            <a:endParaRPr lang="en-US" altLang="en-US" sz="2700" dirty="0"/>
          </a:p>
        </p:txBody>
      </p:sp>
      <p:pic>
        <p:nvPicPr>
          <p:cNvPr id="2097366" name="picture 174"/>
          <p:cNvPicPr>
            <a:picLocks noChangeAspect="1"/>
          </p:cNvPicPr>
          <p:nvPr/>
        </p:nvPicPr>
        <p:blipFill>
          <a:blip r:embed="rId1"/>
          <a:stretch>
            <a:fillRect/>
          </a:stretch>
        </p:blipFill>
        <p:spPr>
          <a:xfrm rot="21600000">
            <a:off x="824483" y="408431"/>
            <a:ext cx="419100" cy="655320"/>
          </a:xfrm>
          <a:prstGeom prst="rect">
            <a:avLst/>
          </a:prstGeom>
        </p:spPr>
      </p:pic>
      <p:graphicFrame>
        <p:nvGraphicFramePr>
          <p:cNvPr id="4194332" name="table 176"/>
          <p:cNvGraphicFramePr>
            <a:graphicFrameLocks noGrp="1"/>
          </p:cNvGraphicFramePr>
          <p:nvPr/>
        </p:nvGraphicFramePr>
        <p:xfrm>
          <a:off x="1746250" y="3041650"/>
          <a:ext cx="8622665" cy="2687319"/>
        </p:xfrm>
        <a:graphic>
          <a:graphicData uri="http://schemas.openxmlformats.org/drawingml/2006/table">
            <a:tbl>
              <a:tblPr/>
              <a:tblGrid>
                <a:gridCol w="768350"/>
                <a:gridCol w="466725"/>
                <a:gridCol w="614044"/>
                <a:gridCol w="614044"/>
                <a:gridCol w="615315"/>
                <a:gridCol w="615315"/>
                <a:gridCol w="615315"/>
                <a:gridCol w="615315"/>
                <a:gridCol w="615315"/>
                <a:gridCol w="615315"/>
                <a:gridCol w="615315"/>
                <a:gridCol w="615315"/>
                <a:gridCol w="615315"/>
                <a:gridCol w="621665"/>
              </a:tblGrid>
              <a:tr h="675005">
                <a:tc>
                  <a:txBody>
                    <a:bodyPr/>
                    <a:p>
                      <a:pPr algn="l" rtl="0" eaLnBrk="0">
                        <a:lnSpc>
                          <a:spcPct val="127000"/>
                        </a:lnSpc>
                      </a:pPr>
                      <a:endParaRPr lang="en-US" altLang="en-US" sz="1000" dirty="0"/>
                    </a:p>
                    <a:p>
                      <a:pPr marL="111760" algn="l" rtl="0" eaLnBrk="0">
                        <a:lnSpc>
                          <a:spcPct val="95000"/>
                        </a:lnSpc>
                        <a:spcBef>
                          <a:spcPts val="5"/>
                        </a:spcBef>
                      </a:pPr>
                      <a:r>
                        <a:rPr sz="2400" kern="0" spc="-70" dirty="0">
                          <a:ln w="8708"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字母</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61000"/>
                        </a:lnSpc>
                      </a:pPr>
                      <a:endParaRPr lang="en-US" altLang="en-US" sz="1000" dirty="0"/>
                    </a:p>
                    <a:p>
                      <a:pPr marL="171450" algn="l" rtl="0" eaLnBrk="0">
                        <a:lnSpc>
                          <a:spcPct val="94000"/>
                        </a:lnSpc>
                        <a:spcBef>
                          <a:spcPts val="5"/>
                        </a:spcBef>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a</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62000"/>
                        </a:lnSpc>
                      </a:pPr>
                      <a:endParaRPr lang="en-US" altLang="en-US" sz="1000" dirty="0"/>
                    </a:p>
                    <a:p>
                      <a:pPr marL="229235" algn="l" rtl="0" eaLnBrk="0">
                        <a:lnSpc>
                          <a:spcPct val="93000"/>
                        </a:lnSpc>
                        <a:spcBef>
                          <a:spcPts val="5"/>
                        </a:spcBef>
                      </a:pP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b</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62000"/>
                        </a:lnSpc>
                      </a:pPr>
                      <a:endParaRPr lang="en-US" altLang="en-US" sz="1000" dirty="0"/>
                    </a:p>
                    <a:p>
                      <a:pPr marL="252095" algn="l" rtl="0" eaLnBrk="0">
                        <a:lnSpc>
                          <a:spcPct val="93000"/>
                        </a:lnSpc>
                        <a:spcBef>
                          <a:spcPts val="5"/>
                        </a:spcBef>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c</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62000"/>
                        </a:lnSpc>
                      </a:pPr>
                      <a:endParaRPr lang="en-US" altLang="en-US" sz="1000" dirty="0"/>
                    </a:p>
                    <a:p>
                      <a:pPr marL="234950" algn="l" rtl="0" eaLnBrk="0">
                        <a:lnSpc>
                          <a:spcPct val="93000"/>
                        </a:lnSpc>
                        <a:spcBef>
                          <a:spcPts val="5"/>
                        </a:spcBef>
                      </a:pP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d</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62000"/>
                        </a:lnSpc>
                      </a:pPr>
                      <a:endParaRPr lang="en-US" altLang="en-US" sz="1000" dirty="0"/>
                    </a:p>
                    <a:p>
                      <a:pPr marL="252095" algn="l" rtl="0" eaLnBrk="0">
                        <a:lnSpc>
                          <a:spcPct val="93000"/>
                        </a:lnSpc>
                        <a:spcBef>
                          <a:spcPts val="5"/>
                        </a:spcBef>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e</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62000"/>
                        </a:lnSpc>
                      </a:pPr>
                      <a:endParaRPr lang="en-US" altLang="en-US" sz="1000" dirty="0"/>
                    </a:p>
                    <a:p>
                      <a:pPr algn="l" rtl="0" eaLnBrk="0">
                        <a:lnSpc>
                          <a:spcPct val="8000"/>
                        </a:lnSpc>
                      </a:pPr>
                      <a:endParaRPr lang="en-US" altLang="en-US" sz="100" dirty="0"/>
                    </a:p>
                    <a:p>
                      <a:pPr marL="266700" algn="l" rtl="0" eaLnBrk="0">
                        <a:lnSpc>
                          <a:spcPct val="94000"/>
                        </a:lnSpc>
                      </a:pPr>
                      <a:r>
                        <a:rPr sz="2400" b="1" kern="0" spc="80" dirty="0">
                          <a:solidFill>
                            <a:srgbClr val="000000">
                              <a:alpha val="100000"/>
                            </a:srgbClr>
                          </a:solidFill>
                          <a:latin typeface="Times New Roman" panose="02020603050405020304"/>
                          <a:ea typeface="Times New Roman" panose="02020603050405020304"/>
                          <a:cs typeface="Times New Roman" panose="02020603050405020304"/>
                        </a:rPr>
                        <a:t>f</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62000"/>
                        </a:lnSpc>
                      </a:pPr>
                      <a:endParaRPr lang="en-US" altLang="en-US" sz="1000" dirty="0"/>
                    </a:p>
                    <a:p>
                      <a:pPr algn="l" rtl="0" eaLnBrk="0">
                        <a:lnSpc>
                          <a:spcPct val="8000"/>
                        </a:lnSpc>
                      </a:pPr>
                      <a:endParaRPr lang="en-US" altLang="en-US" sz="100" dirty="0"/>
                    </a:p>
                    <a:p>
                      <a:pPr marL="244475" algn="l" rtl="0" eaLnBrk="0">
                        <a:lnSpc>
                          <a:spcPct val="76000"/>
                        </a:lnSpc>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g</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62000"/>
                        </a:lnSpc>
                      </a:pPr>
                      <a:endParaRPr lang="en-US" altLang="en-US" sz="1000" dirty="0"/>
                    </a:p>
                    <a:p>
                      <a:pPr algn="l" rtl="0" eaLnBrk="0">
                        <a:lnSpc>
                          <a:spcPct val="8000"/>
                        </a:lnSpc>
                      </a:pPr>
                      <a:endParaRPr lang="en-US" altLang="en-US" sz="100" dirty="0"/>
                    </a:p>
                    <a:p>
                      <a:pPr marL="234315" algn="l" rtl="0" eaLnBrk="0">
                        <a:lnSpc>
                          <a:spcPct val="94000"/>
                        </a:lnSpc>
                      </a:pP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h</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62000"/>
                        </a:lnSpc>
                      </a:pPr>
                      <a:endParaRPr lang="en-US" altLang="en-US" sz="1000" dirty="0"/>
                    </a:p>
                    <a:p>
                      <a:pPr algn="l" rtl="0" eaLnBrk="0">
                        <a:lnSpc>
                          <a:spcPct val="8000"/>
                        </a:lnSpc>
                      </a:pPr>
                      <a:endParaRPr lang="en-US" altLang="en-US" sz="100" dirty="0"/>
                    </a:p>
                    <a:p>
                      <a:pPr marL="273050" algn="l" rtl="0" eaLnBrk="0">
                        <a:lnSpc>
                          <a:spcPct val="94000"/>
                        </a:lnSpc>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i</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62000"/>
                        </a:lnSpc>
                      </a:pPr>
                      <a:endParaRPr lang="en-US" altLang="en-US" sz="1000" dirty="0"/>
                    </a:p>
                    <a:p>
                      <a:pPr algn="l" rtl="0" eaLnBrk="0">
                        <a:lnSpc>
                          <a:spcPct val="8000"/>
                        </a:lnSpc>
                      </a:pPr>
                      <a:endParaRPr lang="en-US" altLang="en-US" sz="100" dirty="0"/>
                    </a:p>
                    <a:p>
                      <a:pPr marL="249555" algn="l" rtl="0" eaLnBrk="0">
                        <a:lnSpc>
                          <a:spcPct val="76000"/>
                        </a:lnSpc>
                      </a:pPr>
                      <a:r>
                        <a:rPr sz="2400" b="1" kern="0" spc="50" dirty="0">
                          <a:solidFill>
                            <a:srgbClr val="000000">
                              <a:alpha val="100000"/>
                            </a:srgbClr>
                          </a:solidFill>
                          <a:latin typeface="Times New Roman" panose="02020603050405020304"/>
                          <a:ea typeface="Times New Roman" panose="02020603050405020304"/>
                          <a:cs typeface="Times New Roman" panose="02020603050405020304"/>
                        </a:rPr>
                        <a:t>j</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62000"/>
                        </a:lnSpc>
                      </a:pPr>
                      <a:endParaRPr lang="en-US" altLang="en-US" sz="1000" dirty="0"/>
                    </a:p>
                    <a:p>
                      <a:pPr algn="l" rtl="0" eaLnBrk="0">
                        <a:lnSpc>
                          <a:spcPct val="8000"/>
                        </a:lnSpc>
                      </a:pPr>
                      <a:endParaRPr lang="en-US" altLang="en-US" sz="100" dirty="0"/>
                    </a:p>
                    <a:p>
                      <a:pPr marL="234315" algn="l" rtl="0" eaLnBrk="0">
                        <a:lnSpc>
                          <a:spcPct val="94000"/>
                        </a:lnSpc>
                      </a:pP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k</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62000"/>
                        </a:lnSpc>
                      </a:pPr>
                      <a:endParaRPr lang="en-US" altLang="en-US" sz="1000" dirty="0"/>
                    </a:p>
                    <a:p>
                      <a:pPr algn="l" rtl="0" eaLnBrk="0">
                        <a:lnSpc>
                          <a:spcPct val="8000"/>
                        </a:lnSpc>
                      </a:pPr>
                      <a:endParaRPr lang="en-US" altLang="en-US" sz="100" dirty="0"/>
                    </a:p>
                    <a:p>
                      <a:pPr marL="273050" algn="l" rtl="0" eaLnBrk="0">
                        <a:lnSpc>
                          <a:spcPct val="94000"/>
                        </a:lnSpc>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l</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62000"/>
                        </a:lnSpc>
                      </a:pPr>
                      <a:endParaRPr lang="en-US" altLang="en-US" sz="1000" dirty="0"/>
                    </a:p>
                    <a:p>
                      <a:pPr algn="l" rtl="0" eaLnBrk="0">
                        <a:lnSpc>
                          <a:spcPct val="8000"/>
                        </a:lnSpc>
                      </a:pPr>
                      <a:endParaRPr lang="en-US" altLang="en-US" sz="100" dirty="0"/>
                    </a:p>
                    <a:p>
                      <a:pPr marL="193040" algn="l" rtl="0" eaLnBrk="0">
                        <a:lnSpc>
                          <a:spcPct val="94000"/>
                        </a:lnSpc>
                      </a:pP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m</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8654">
                <a:tc>
                  <a:txBody>
                    <a:bodyPr/>
                    <a:p>
                      <a:pPr algn="l" rtl="0" eaLnBrk="0">
                        <a:lnSpc>
                          <a:spcPct val="123000"/>
                        </a:lnSpc>
                      </a:pPr>
                      <a:endParaRPr lang="en-US" altLang="en-US" sz="1000" dirty="0"/>
                    </a:p>
                    <a:p>
                      <a:pPr marL="99060" algn="l" rtl="0" eaLnBrk="0">
                        <a:lnSpc>
                          <a:spcPct val="95000"/>
                        </a:lnSpc>
                        <a:spcBef>
                          <a:spcPts val="5"/>
                        </a:spcBef>
                      </a:pPr>
                      <a:r>
                        <a:rPr sz="2400" kern="0" spc="-40" dirty="0">
                          <a:ln w="8717"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数字</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marL="168275" algn="l" rtl="0" eaLnBrk="0">
                        <a:lnSpc>
                          <a:spcPct val="76000"/>
                        </a:lnSpc>
                        <a:spcBef>
                          <a:spcPts val="5"/>
                        </a:spcBef>
                      </a:pPr>
                      <a:r>
                        <a:rPr sz="2400" b="1" kern="0" spc="-10" dirty="0">
                          <a:solidFill>
                            <a:srgbClr val="FF0000">
                              <a:alpha val="100000"/>
                            </a:srgbClr>
                          </a:solidFill>
                          <a:latin typeface="Times New Roman" panose="02020603050405020304"/>
                          <a:ea typeface="Times New Roman" panose="02020603050405020304"/>
                          <a:cs typeface="Times New Roman" panose="02020603050405020304"/>
                        </a:rPr>
                        <a:t>0</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7000"/>
                        </a:lnSpc>
                      </a:pPr>
                      <a:endParaRPr lang="en-US" altLang="en-US" sz="100" dirty="0"/>
                    </a:p>
                    <a:p>
                      <a:pPr marL="250825" algn="l" rtl="0" eaLnBrk="0">
                        <a:lnSpc>
                          <a:spcPct val="76000"/>
                        </a:lnSpc>
                      </a:pPr>
                      <a:r>
                        <a:rPr sz="2400" b="1" kern="0" spc="-10" dirty="0">
                          <a:solidFill>
                            <a:srgbClr val="FF0000">
                              <a:alpha val="100000"/>
                            </a:srgbClr>
                          </a:solidFill>
                          <a:latin typeface="Times New Roman" panose="02020603050405020304"/>
                          <a:ea typeface="Times New Roman" panose="02020603050405020304"/>
                          <a:cs typeface="Times New Roman" panose="02020603050405020304"/>
                        </a:rPr>
                        <a:t>1</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7000"/>
                        </a:lnSpc>
                      </a:pPr>
                      <a:endParaRPr lang="en-US" altLang="en-US" sz="100" dirty="0"/>
                    </a:p>
                    <a:p>
                      <a:pPr marL="238125" algn="l" rtl="0" eaLnBrk="0">
                        <a:lnSpc>
                          <a:spcPct val="76000"/>
                        </a:lnSpc>
                      </a:pPr>
                      <a:r>
                        <a:rPr sz="2400" b="1" kern="0" spc="-10" dirty="0">
                          <a:solidFill>
                            <a:srgbClr val="FF0000">
                              <a:alpha val="100000"/>
                            </a:srgbClr>
                          </a:solidFill>
                          <a:latin typeface="Times New Roman" panose="02020603050405020304"/>
                          <a:ea typeface="Times New Roman" panose="02020603050405020304"/>
                          <a:cs typeface="Times New Roman" panose="02020603050405020304"/>
                        </a:rPr>
                        <a:t>2</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marL="237490" algn="l" rtl="0" eaLnBrk="0">
                        <a:lnSpc>
                          <a:spcPct val="76000"/>
                        </a:lnSpc>
                        <a:spcBef>
                          <a:spcPts val="5"/>
                        </a:spcBef>
                      </a:pPr>
                      <a:r>
                        <a:rPr sz="2400" b="1" kern="0" spc="-10" dirty="0">
                          <a:solidFill>
                            <a:srgbClr val="FF0000">
                              <a:alpha val="100000"/>
                            </a:srgbClr>
                          </a:solidFill>
                          <a:latin typeface="Times New Roman" panose="02020603050405020304"/>
                          <a:ea typeface="Times New Roman" panose="02020603050405020304"/>
                          <a:cs typeface="Times New Roman" panose="02020603050405020304"/>
                        </a:rPr>
                        <a:t>3</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7000"/>
                        </a:lnSpc>
                      </a:pPr>
                      <a:endParaRPr lang="en-US" altLang="en-US" sz="100" dirty="0"/>
                    </a:p>
                    <a:p>
                      <a:pPr marL="240665" algn="l" rtl="0" eaLnBrk="0">
                        <a:lnSpc>
                          <a:spcPct val="76000"/>
                        </a:lnSpc>
                      </a:pPr>
                      <a:r>
                        <a:rPr sz="2400" b="1" kern="0" spc="-10" dirty="0">
                          <a:solidFill>
                            <a:srgbClr val="FF0000">
                              <a:alpha val="100000"/>
                            </a:srgbClr>
                          </a:solidFill>
                          <a:latin typeface="Times New Roman" panose="02020603050405020304"/>
                          <a:ea typeface="Times New Roman" panose="02020603050405020304"/>
                          <a:cs typeface="Times New Roman" panose="02020603050405020304"/>
                        </a:rPr>
                        <a:t>4</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60000"/>
                        </a:lnSpc>
                      </a:pPr>
                      <a:endParaRPr lang="en-US" altLang="en-US" sz="1000" dirty="0"/>
                    </a:p>
                    <a:p>
                      <a:pPr algn="l" rtl="0" eaLnBrk="0">
                        <a:lnSpc>
                          <a:spcPct val="10000"/>
                        </a:lnSpc>
                      </a:pPr>
                      <a:endParaRPr lang="en-US" altLang="en-US" sz="100" dirty="0"/>
                    </a:p>
                    <a:p>
                      <a:pPr marL="243205" algn="l" rtl="0" eaLnBrk="0">
                        <a:lnSpc>
                          <a:spcPct val="75000"/>
                        </a:lnSpc>
                      </a:pPr>
                      <a:r>
                        <a:rPr sz="2400" b="1" kern="0" spc="-10" dirty="0">
                          <a:solidFill>
                            <a:srgbClr val="FF0000">
                              <a:alpha val="100000"/>
                            </a:srgbClr>
                          </a:solidFill>
                          <a:latin typeface="Times New Roman" panose="02020603050405020304"/>
                          <a:ea typeface="Times New Roman" panose="02020603050405020304"/>
                          <a:cs typeface="Times New Roman" panose="02020603050405020304"/>
                        </a:rPr>
                        <a:t>5</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marL="244475" algn="l" rtl="0" eaLnBrk="0">
                        <a:lnSpc>
                          <a:spcPct val="76000"/>
                        </a:lnSpc>
                        <a:spcBef>
                          <a:spcPts val="5"/>
                        </a:spcBef>
                      </a:pPr>
                      <a:r>
                        <a:rPr sz="2400" b="1" kern="0" spc="-10" dirty="0">
                          <a:solidFill>
                            <a:srgbClr val="FF0000">
                              <a:alpha val="100000"/>
                            </a:srgbClr>
                          </a:solidFill>
                          <a:latin typeface="Times New Roman" panose="02020603050405020304"/>
                          <a:ea typeface="Times New Roman" panose="02020603050405020304"/>
                          <a:cs typeface="Times New Roman" panose="02020603050405020304"/>
                        </a:rPr>
                        <a:t>6</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60000"/>
                        </a:lnSpc>
                      </a:pPr>
                      <a:endParaRPr lang="en-US" altLang="en-US" sz="1000" dirty="0"/>
                    </a:p>
                    <a:p>
                      <a:pPr algn="l" rtl="0" eaLnBrk="0">
                        <a:lnSpc>
                          <a:spcPct val="10000"/>
                        </a:lnSpc>
                      </a:pPr>
                      <a:endParaRPr lang="en-US" altLang="en-US" sz="100" dirty="0"/>
                    </a:p>
                    <a:p>
                      <a:pPr marL="243205" algn="l" rtl="0" eaLnBrk="0">
                        <a:lnSpc>
                          <a:spcPct val="75000"/>
                        </a:lnSpc>
                      </a:pPr>
                      <a:r>
                        <a:rPr sz="2400" b="1" kern="0" spc="-10" dirty="0">
                          <a:solidFill>
                            <a:srgbClr val="FF0000">
                              <a:alpha val="100000"/>
                            </a:srgbClr>
                          </a:solidFill>
                          <a:latin typeface="Times New Roman" panose="02020603050405020304"/>
                          <a:ea typeface="Times New Roman" panose="02020603050405020304"/>
                          <a:cs typeface="Times New Roman" panose="02020603050405020304"/>
                        </a:rPr>
                        <a:t>7</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marL="243840" algn="l" rtl="0" eaLnBrk="0">
                        <a:lnSpc>
                          <a:spcPct val="76000"/>
                        </a:lnSpc>
                        <a:spcBef>
                          <a:spcPts val="5"/>
                        </a:spcBef>
                      </a:pPr>
                      <a:r>
                        <a:rPr sz="2400" b="1" kern="0" spc="-10" dirty="0">
                          <a:solidFill>
                            <a:srgbClr val="FF0000">
                              <a:alpha val="100000"/>
                            </a:srgbClr>
                          </a:solidFill>
                          <a:latin typeface="Times New Roman" panose="02020603050405020304"/>
                          <a:ea typeface="Times New Roman" panose="02020603050405020304"/>
                          <a:cs typeface="Times New Roman" panose="02020603050405020304"/>
                        </a:rPr>
                        <a:t>8</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marL="242570" algn="l" rtl="0" eaLnBrk="0">
                        <a:lnSpc>
                          <a:spcPct val="76000"/>
                        </a:lnSpc>
                        <a:spcBef>
                          <a:spcPts val="5"/>
                        </a:spcBef>
                      </a:pPr>
                      <a:r>
                        <a:rPr sz="2400" b="1" kern="0" spc="-10" dirty="0">
                          <a:solidFill>
                            <a:srgbClr val="FF0000">
                              <a:alpha val="100000"/>
                            </a:srgbClr>
                          </a:solidFill>
                          <a:latin typeface="Times New Roman" panose="02020603050405020304"/>
                          <a:ea typeface="Times New Roman" panose="02020603050405020304"/>
                          <a:cs typeface="Times New Roman" panose="02020603050405020304"/>
                        </a:rPr>
                        <a:t>9</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marL="177165" algn="l" rtl="0" eaLnBrk="0">
                        <a:lnSpc>
                          <a:spcPct val="76000"/>
                        </a:lnSpc>
                        <a:spcBef>
                          <a:spcPts val="5"/>
                        </a:spcBef>
                      </a:pPr>
                      <a:r>
                        <a:rPr sz="2400" b="1" kern="0" spc="-50" dirty="0">
                          <a:solidFill>
                            <a:srgbClr val="FF0000">
                              <a:alpha val="100000"/>
                            </a:srgbClr>
                          </a:solidFill>
                          <a:latin typeface="Times New Roman" panose="02020603050405020304"/>
                          <a:ea typeface="Times New Roman" panose="02020603050405020304"/>
                          <a:cs typeface="Times New Roman" panose="02020603050405020304"/>
                        </a:rPr>
                        <a:t>10</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7000"/>
                        </a:lnSpc>
                      </a:pPr>
                      <a:endParaRPr lang="en-US" altLang="en-US" sz="100" dirty="0"/>
                    </a:p>
                    <a:p>
                      <a:pPr marL="184785" algn="l" rtl="0" eaLnBrk="0">
                        <a:lnSpc>
                          <a:spcPct val="76000"/>
                        </a:lnSpc>
                      </a:pPr>
                      <a:r>
                        <a:rPr sz="2400" b="1" kern="0" spc="-80" dirty="0">
                          <a:solidFill>
                            <a:srgbClr val="FF0000">
                              <a:alpha val="100000"/>
                            </a:srgbClr>
                          </a:solidFill>
                          <a:latin typeface="Times New Roman" panose="02020603050405020304"/>
                          <a:ea typeface="Times New Roman" panose="02020603050405020304"/>
                          <a:cs typeface="Times New Roman" panose="02020603050405020304"/>
                        </a:rPr>
                        <a:t>11</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7000"/>
                        </a:lnSpc>
                      </a:pPr>
                      <a:endParaRPr lang="en-US" altLang="en-US" sz="100" dirty="0"/>
                    </a:p>
                    <a:p>
                      <a:pPr marL="177165" algn="l" rtl="0" eaLnBrk="0">
                        <a:lnSpc>
                          <a:spcPct val="76000"/>
                        </a:lnSpc>
                      </a:pPr>
                      <a:r>
                        <a:rPr sz="2400" b="1" kern="0" spc="-50" dirty="0">
                          <a:solidFill>
                            <a:srgbClr val="FF0000">
                              <a:alpha val="100000"/>
                            </a:srgbClr>
                          </a:solidFill>
                          <a:latin typeface="Times New Roman" panose="02020603050405020304"/>
                          <a:ea typeface="Times New Roman" panose="02020603050405020304"/>
                          <a:cs typeface="Times New Roman" panose="02020603050405020304"/>
                        </a:rPr>
                        <a:t>12</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8655">
                <a:tc>
                  <a:txBody>
                    <a:bodyPr/>
                    <a:p>
                      <a:pPr algn="l" rtl="0" eaLnBrk="0">
                        <a:lnSpc>
                          <a:spcPct val="123000"/>
                        </a:lnSpc>
                      </a:pPr>
                      <a:endParaRPr lang="en-US" altLang="en-US" sz="1000" dirty="0"/>
                    </a:p>
                    <a:p>
                      <a:pPr marL="111760" algn="l" rtl="0" eaLnBrk="0">
                        <a:lnSpc>
                          <a:spcPct val="95000"/>
                        </a:lnSpc>
                        <a:spcBef>
                          <a:spcPts val="5"/>
                        </a:spcBef>
                      </a:pPr>
                      <a:r>
                        <a:rPr sz="2400" kern="0" spc="-70" dirty="0">
                          <a:ln w="8708"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字母</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10000"/>
                        </a:lnSpc>
                      </a:pPr>
                      <a:endParaRPr lang="en-US" altLang="en-US" sz="100" dirty="0"/>
                    </a:p>
                    <a:p>
                      <a:pPr marL="158750" algn="l" rtl="0" eaLnBrk="0">
                        <a:lnSpc>
                          <a:spcPct val="94000"/>
                        </a:lnSpc>
                      </a:pP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n</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6000"/>
                        </a:lnSpc>
                      </a:pPr>
                      <a:endParaRPr lang="en-US" altLang="en-US" sz="100" dirty="0"/>
                    </a:p>
                    <a:p>
                      <a:pPr marL="241935" algn="l" rtl="0" eaLnBrk="0">
                        <a:lnSpc>
                          <a:spcPct val="93000"/>
                        </a:lnSpc>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o</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6000"/>
                        </a:lnSpc>
                      </a:pPr>
                      <a:endParaRPr lang="en-US" altLang="en-US" sz="1000" dirty="0"/>
                    </a:p>
                    <a:p>
                      <a:pPr algn="l" rtl="0" eaLnBrk="0">
                        <a:lnSpc>
                          <a:spcPct val="10000"/>
                        </a:lnSpc>
                      </a:pPr>
                      <a:endParaRPr lang="en-US" altLang="en-US" sz="100" dirty="0"/>
                    </a:p>
                    <a:p>
                      <a:pPr marL="229235" algn="l" rtl="0" eaLnBrk="0">
                        <a:lnSpc>
                          <a:spcPct val="77000"/>
                        </a:lnSpc>
                      </a:pP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p</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6000"/>
                        </a:lnSpc>
                      </a:pPr>
                      <a:endParaRPr lang="en-US" altLang="en-US" sz="1000" dirty="0"/>
                    </a:p>
                    <a:p>
                      <a:pPr algn="l" rtl="0" eaLnBrk="0">
                        <a:lnSpc>
                          <a:spcPct val="10000"/>
                        </a:lnSpc>
                      </a:pPr>
                      <a:endParaRPr lang="en-US" altLang="en-US" sz="100" dirty="0"/>
                    </a:p>
                    <a:p>
                      <a:pPr marL="234950" algn="l" rtl="0" eaLnBrk="0">
                        <a:lnSpc>
                          <a:spcPct val="77000"/>
                        </a:lnSpc>
                      </a:pP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q</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10000"/>
                        </a:lnSpc>
                      </a:pPr>
                      <a:endParaRPr lang="en-US" altLang="en-US" sz="100" dirty="0"/>
                    </a:p>
                    <a:p>
                      <a:pPr marL="251460" algn="l" rtl="0" eaLnBrk="0">
                        <a:lnSpc>
                          <a:spcPct val="94000"/>
                        </a:lnSpc>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r</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6000"/>
                        </a:lnSpc>
                      </a:pPr>
                      <a:endParaRPr lang="en-US" altLang="en-US" sz="100" dirty="0"/>
                    </a:p>
                    <a:p>
                      <a:pPr marL="261620" algn="l" rtl="0" eaLnBrk="0">
                        <a:lnSpc>
                          <a:spcPct val="93000"/>
                        </a:lnSpc>
                      </a:pP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s</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7000"/>
                        </a:lnSpc>
                      </a:pPr>
                      <a:endParaRPr lang="en-US" altLang="en-US" sz="1000" dirty="0"/>
                    </a:p>
                    <a:p>
                      <a:pPr algn="l" rtl="0" eaLnBrk="0">
                        <a:lnSpc>
                          <a:spcPct val="7000"/>
                        </a:lnSpc>
                      </a:pPr>
                      <a:endParaRPr lang="en-US" altLang="en-US" sz="100" dirty="0"/>
                    </a:p>
                    <a:p>
                      <a:pPr marL="262890" algn="l" rtl="0" eaLnBrk="0">
                        <a:lnSpc>
                          <a:spcPct val="94000"/>
                        </a:lnSpc>
                      </a:pP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t</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6000"/>
                        </a:lnSpc>
                      </a:pPr>
                      <a:endParaRPr lang="en-US" altLang="en-US" sz="100" dirty="0"/>
                    </a:p>
                    <a:p>
                      <a:pPr marL="233045" algn="l" rtl="0" eaLnBrk="0">
                        <a:lnSpc>
                          <a:spcPct val="93000"/>
                        </a:lnSpc>
                      </a:pP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u</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6000"/>
                        </a:lnSpc>
                      </a:pPr>
                      <a:endParaRPr lang="en-US" altLang="en-US" sz="100" dirty="0"/>
                    </a:p>
                    <a:p>
                      <a:pPr marL="235585" algn="l" rtl="0" eaLnBrk="0">
                        <a:lnSpc>
                          <a:spcPct val="93000"/>
                        </a:lnSpc>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v</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6000"/>
                        </a:lnSpc>
                      </a:pPr>
                      <a:endParaRPr lang="en-US" altLang="en-US" sz="100" dirty="0"/>
                    </a:p>
                    <a:p>
                      <a:pPr marL="201930" algn="l" rtl="0" eaLnBrk="0">
                        <a:lnSpc>
                          <a:spcPct val="93000"/>
                        </a:lnSpc>
                      </a:pPr>
                      <a:r>
                        <a:rPr sz="2400" b="1" kern="0" spc="-20" dirty="0">
                          <a:solidFill>
                            <a:srgbClr val="000000">
                              <a:alpha val="100000"/>
                            </a:srgbClr>
                          </a:solidFill>
                          <a:latin typeface="Times New Roman" panose="02020603050405020304"/>
                          <a:ea typeface="Times New Roman" panose="02020603050405020304"/>
                          <a:cs typeface="Times New Roman" panose="02020603050405020304"/>
                        </a:rPr>
                        <a:t>w</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10000"/>
                        </a:lnSpc>
                      </a:pPr>
                      <a:endParaRPr lang="en-US" altLang="en-US" sz="100" dirty="0"/>
                    </a:p>
                    <a:p>
                      <a:pPr marL="240030" algn="l" rtl="0" eaLnBrk="0">
                        <a:lnSpc>
                          <a:spcPct val="94000"/>
                        </a:lnSpc>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x</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10000"/>
                        </a:lnSpc>
                      </a:pPr>
                      <a:endParaRPr lang="en-US" altLang="en-US" sz="100" dirty="0"/>
                    </a:p>
                    <a:p>
                      <a:pPr marL="235585" algn="l" rtl="0" eaLnBrk="0">
                        <a:lnSpc>
                          <a:spcPct val="76000"/>
                        </a:lnSpc>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y</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10000"/>
                        </a:lnSpc>
                      </a:pPr>
                      <a:endParaRPr lang="en-US" altLang="en-US" sz="100" dirty="0"/>
                    </a:p>
                    <a:p>
                      <a:pPr marL="245745" algn="l" rtl="0" eaLnBrk="0">
                        <a:lnSpc>
                          <a:spcPct val="94000"/>
                        </a:lnSpc>
                      </a:pPr>
                      <a:r>
                        <a:rPr sz="2400" b="1" kern="0" spc="-10" dirty="0">
                          <a:solidFill>
                            <a:srgbClr val="000000">
                              <a:alpha val="100000"/>
                            </a:srgbClr>
                          </a:solidFill>
                          <a:latin typeface="Times New Roman" panose="02020603050405020304"/>
                          <a:ea typeface="Times New Roman" panose="02020603050405020304"/>
                          <a:cs typeface="Times New Roman" panose="02020603050405020304"/>
                        </a:rPr>
                        <a:t>z</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75005">
                <a:tc>
                  <a:txBody>
                    <a:bodyPr/>
                    <a:p>
                      <a:pPr algn="l" rtl="0" eaLnBrk="0">
                        <a:lnSpc>
                          <a:spcPct val="123000"/>
                        </a:lnSpc>
                      </a:pPr>
                      <a:endParaRPr lang="en-US" altLang="en-US" sz="1000" dirty="0"/>
                    </a:p>
                    <a:p>
                      <a:pPr marL="99060" algn="l" rtl="0" eaLnBrk="0">
                        <a:lnSpc>
                          <a:spcPct val="95000"/>
                        </a:lnSpc>
                        <a:spcBef>
                          <a:spcPts val="5"/>
                        </a:spcBef>
                      </a:pPr>
                      <a:r>
                        <a:rPr sz="2400" kern="0" spc="-40" dirty="0">
                          <a:ln w="8717" cap="flat" cmpd="sng">
                            <a:solidFill>
                              <a:srgbClr val="000000">
                                <a:alpha val="100000"/>
                              </a:srgbClr>
                            </a:solidFill>
                            <a:prstDash val="solid"/>
                            <a:round/>
                          </a:ln>
                          <a:solidFill>
                            <a:srgbClr val="000000">
                              <a:alpha val="100000"/>
                            </a:srgbClr>
                          </a:solidFill>
                          <a:latin typeface="仿宋" panose="02010609060101010101" charset="-122"/>
                          <a:ea typeface="仿宋" panose="02010609060101010101" charset="-122"/>
                          <a:cs typeface="仿宋" panose="02010609060101010101" charset="-122"/>
                        </a:rPr>
                        <a:t>数字</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7000"/>
                        </a:lnSpc>
                      </a:pPr>
                      <a:endParaRPr lang="en-US" altLang="en-US" sz="100" dirty="0"/>
                    </a:p>
                    <a:p>
                      <a:pPr marL="101600" algn="l" rtl="0" eaLnBrk="0">
                        <a:lnSpc>
                          <a:spcPct val="76000"/>
                        </a:lnSpc>
                      </a:pPr>
                      <a:r>
                        <a:rPr sz="2400" b="1" kern="0" spc="-50" dirty="0">
                          <a:solidFill>
                            <a:srgbClr val="FF0000">
                              <a:alpha val="100000"/>
                            </a:srgbClr>
                          </a:solidFill>
                          <a:latin typeface="Times New Roman" panose="02020603050405020304"/>
                          <a:ea typeface="Times New Roman" panose="02020603050405020304"/>
                          <a:cs typeface="Times New Roman" panose="02020603050405020304"/>
                        </a:rPr>
                        <a:t>13</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10000"/>
                        </a:lnSpc>
                      </a:pPr>
                      <a:endParaRPr lang="en-US" altLang="en-US" sz="100" dirty="0"/>
                    </a:p>
                    <a:p>
                      <a:pPr marL="174625" algn="l" rtl="0" eaLnBrk="0">
                        <a:lnSpc>
                          <a:spcPct val="76000"/>
                        </a:lnSpc>
                      </a:pPr>
                      <a:r>
                        <a:rPr sz="2400" b="1" kern="0" spc="-50" dirty="0">
                          <a:solidFill>
                            <a:srgbClr val="FF0000">
                              <a:alpha val="100000"/>
                            </a:srgbClr>
                          </a:solidFill>
                          <a:latin typeface="Times New Roman" panose="02020603050405020304"/>
                          <a:ea typeface="Times New Roman" panose="02020603050405020304"/>
                          <a:cs typeface="Times New Roman" panose="02020603050405020304"/>
                        </a:rPr>
                        <a:t>14</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8000"/>
                        </a:lnSpc>
                      </a:pPr>
                      <a:endParaRPr lang="en-US" altLang="en-US" sz="100" dirty="0"/>
                    </a:p>
                    <a:p>
                      <a:pPr marL="175260" algn="l" rtl="0" eaLnBrk="0">
                        <a:lnSpc>
                          <a:spcPct val="76000"/>
                        </a:lnSpc>
                      </a:pPr>
                      <a:r>
                        <a:rPr sz="2400" b="1" kern="0" spc="-50" dirty="0">
                          <a:solidFill>
                            <a:srgbClr val="FF0000">
                              <a:alpha val="100000"/>
                            </a:srgbClr>
                          </a:solidFill>
                          <a:latin typeface="Times New Roman" panose="02020603050405020304"/>
                          <a:ea typeface="Times New Roman" panose="02020603050405020304"/>
                          <a:cs typeface="Times New Roman" panose="02020603050405020304"/>
                        </a:rPr>
                        <a:t>15</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8000"/>
                        </a:lnSpc>
                      </a:pPr>
                      <a:endParaRPr lang="en-US" altLang="en-US" sz="100" dirty="0"/>
                    </a:p>
                    <a:p>
                      <a:pPr marL="176530" algn="l" rtl="0" eaLnBrk="0">
                        <a:lnSpc>
                          <a:spcPct val="76000"/>
                        </a:lnSpc>
                      </a:pPr>
                      <a:r>
                        <a:rPr sz="2400" b="1" kern="0" spc="-50" dirty="0">
                          <a:solidFill>
                            <a:srgbClr val="FF0000">
                              <a:alpha val="100000"/>
                            </a:srgbClr>
                          </a:solidFill>
                          <a:latin typeface="Times New Roman" panose="02020603050405020304"/>
                          <a:ea typeface="Times New Roman" panose="02020603050405020304"/>
                          <a:cs typeface="Times New Roman" panose="02020603050405020304"/>
                        </a:rPr>
                        <a:t>16</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8000"/>
                        </a:lnSpc>
                      </a:pPr>
                      <a:endParaRPr lang="en-US" altLang="en-US" sz="100" dirty="0"/>
                    </a:p>
                    <a:p>
                      <a:pPr marL="176530" algn="l" rtl="0" eaLnBrk="0">
                        <a:lnSpc>
                          <a:spcPct val="76000"/>
                        </a:lnSpc>
                      </a:pPr>
                      <a:r>
                        <a:rPr sz="2400" b="1" kern="0" spc="-50" dirty="0">
                          <a:solidFill>
                            <a:srgbClr val="FF0000">
                              <a:alpha val="100000"/>
                            </a:srgbClr>
                          </a:solidFill>
                          <a:latin typeface="Times New Roman" panose="02020603050405020304"/>
                          <a:ea typeface="Times New Roman" panose="02020603050405020304"/>
                          <a:cs typeface="Times New Roman" panose="02020603050405020304"/>
                        </a:rPr>
                        <a:t>17</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8000"/>
                        </a:lnSpc>
                      </a:pPr>
                      <a:endParaRPr lang="en-US" altLang="en-US" sz="100" dirty="0"/>
                    </a:p>
                    <a:p>
                      <a:pPr marL="176530" algn="l" rtl="0" eaLnBrk="0">
                        <a:lnSpc>
                          <a:spcPct val="76000"/>
                        </a:lnSpc>
                      </a:pPr>
                      <a:r>
                        <a:rPr sz="2400" b="1" kern="0" spc="-50" dirty="0">
                          <a:solidFill>
                            <a:srgbClr val="FF0000">
                              <a:alpha val="100000"/>
                            </a:srgbClr>
                          </a:solidFill>
                          <a:latin typeface="Times New Roman" panose="02020603050405020304"/>
                          <a:ea typeface="Times New Roman" panose="02020603050405020304"/>
                          <a:cs typeface="Times New Roman" panose="02020603050405020304"/>
                        </a:rPr>
                        <a:t>18</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8000"/>
                        </a:lnSpc>
                      </a:pPr>
                      <a:endParaRPr lang="en-US" altLang="en-US" sz="100" dirty="0"/>
                    </a:p>
                    <a:p>
                      <a:pPr marL="177165" algn="l" rtl="0" eaLnBrk="0">
                        <a:lnSpc>
                          <a:spcPct val="76000"/>
                        </a:lnSpc>
                      </a:pPr>
                      <a:r>
                        <a:rPr sz="2400" b="1" kern="0" spc="-50" dirty="0">
                          <a:solidFill>
                            <a:srgbClr val="FF0000">
                              <a:alpha val="100000"/>
                            </a:srgbClr>
                          </a:solidFill>
                          <a:latin typeface="Times New Roman" panose="02020603050405020304"/>
                          <a:ea typeface="Times New Roman" panose="02020603050405020304"/>
                          <a:cs typeface="Times New Roman" panose="02020603050405020304"/>
                        </a:rPr>
                        <a:t>19</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8000"/>
                        </a:lnSpc>
                      </a:pPr>
                      <a:endParaRPr lang="en-US" altLang="en-US" sz="100" dirty="0"/>
                    </a:p>
                    <a:p>
                      <a:pPr marL="163830" algn="l" rtl="0" eaLnBrk="0">
                        <a:lnSpc>
                          <a:spcPct val="76000"/>
                        </a:lnSpc>
                      </a:pPr>
                      <a:r>
                        <a:rPr sz="2400" b="1" kern="0" spc="-20" dirty="0">
                          <a:solidFill>
                            <a:srgbClr val="FF0000">
                              <a:alpha val="100000"/>
                            </a:srgbClr>
                          </a:solidFill>
                          <a:latin typeface="Times New Roman" panose="02020603050405020304"/>
                          <a:ea typeface="Times New Roman" panose="02020603050405020304"/>
                          <a:cs typeface="Times New Roman" panose="02020603050405020304"/>
                        </a:rPr>
                        <a:t>20</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10000"/>
                        </a:lnSpc>
                      </a:pPr>
                      <a:endParaRPr lang="en-US" altLang="en-US" sz="100" dirty="0"/>
                    </a:p>
                    <a:p>
                      <a:pPr marL="164465" algn="l" rtl="0" eaLnBrk="0">
                        <a:lnSpc>
                          <a:spcPct val="76000"/>
                        </a:lnSpc>
                      </a:pPr>
                      <a:r>
                        <a:rPr sz="2400" b="1" kern="0" spc="-20" dirty="0">
                          <a:solidFill>
                            <a:srgbClr val="FF0000">
                              <a:alpha val="100000"/>
                            </a:srgbClr>
                          </a:solidFill>
                          <a:latin typeface="Times New Roman" panose="02020603050405020304"/>
                          <a:ea typeface="Times New Roman" panose="02020603050405020304"/>
                          <a:cs typeface="Times New Roman" panose="02020603050405020304"/>
                        </a:rPr>
                        <a:t>21</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10000"/>
                        </a:lnSpc>
                      </a:pPr>
                      <a:endParaRPr lang="en-US" altLang="en-US" sz="100" dirty="0"/>
                    </a:p>
                    <a:p>
                      <a:pPr marL="164465" algn="l" rtl="0" eaLnBrk="0">
                        <a:lnSpc>
                          <a:spcPct val="76000"/>
                        </a:lnSpc>
                      </a:pPr>
                      <a:r>
                        <a:rPr sz="2400" b="1" kern="0" spc="-20" dirty="0">
                          <a:solidFill>
                            <a:srgbClr val="FF0000">
                              <a:alpha val="100000"/>
                            </a:srgbClr>
                          </a:solidFill>
                          <a:latin typeface="Times New Roman" panose="02020603050405020304"/>
                          <a:ea typeface="Times New Roman" panose="02020603050405020304"/>
                          <a:cs typeface="Times New Roman" panose="02020603050405020304"/>
                        </a:rPr>
                        <a:t>22</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7000"/>
                        </a:lnSpc>
                      </a:pPr>
                      <a:endParaRPr lang="en-US" altLang="en-US" sz="100" dirty="0"/>
                    </a:p>
                    <a:p>
                      <a:pPr marL="164465" algn="l" rtl="0" eaLnBrk="0">
                        <a:lnSpc>
                          <a:spcPct val="76000"/>
                        </a:lnSpc>
                      </a:pPr>
                      <a:r>
                        <a:rPr sz="2400" b="1" kern="0" spc="-20" dirty="0">
                          <a:solidFill>
                            <a:srgbClr val="FF0000">
                              <a:alpha val="100000"/>
                            </a:srgbClr>
                          </a:solidFill>
                          <a:latin typeface="Times New Roman" panose="02020603050405020304"/>
                          <a:ea typeface="Times New Roman" panose="02020603050405020304"/>
                          <a:cs typeface="Times New Roman" panose="02020603050405020304"/>
                        </a:rPr>
                        <a:t>23</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10000"/>
                        </a:lnSpc>
                      </a:pPr>
                      <a:endParaRPr lang="en-US" altLang="en-US" sz="100" dirty="0"/>
                    </a:p>
                    <a:p>
                      <a:pPr marL="164465" algn="l" rtl="0" eaLnBrk="0">
                        <a:lnSpc>
                          <a:spcPct val="76000"/>
                        </a:lnSpc>
                      </a:pPr>
                      <a:r>
                        <a:rPr sz="2400" b="1" kern="0" spc="-20" dirty="0">
                          <a:solidFill>
                            <a:srgbClr val="FF0000">
                              <a:alpha val="100000"/>
                            </a:srgbClr>
                          </a:solidFill>
                          <a:latin typeface="Times New Roman" panose="02020603050405020304"/>
                          <a:ea typeface="Times New Roman" panose="02020603050405020304"/>
                          <a:cs typeface="Times New Roman" panose="02020603050405020304"/>
                        </a:rPr>
                        <a:t>24</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p>
                      <a:pPr algn="l" rtl="0" eaLnBrk="0">
                        <a:lnSpc>
                          <a:spcPct val="158000"/>
                        </a:lnSpc>
                      </a:pPr>
                      <a:endParaRPr lang="en-US" altLang="en-US" sz="1000" dirty="0"/>
                    </a:p>
                    <a:p>
                      <a:pPr algn="l" rtl="0" eaLnBrk="0">
                        <a:lnSpc>
                          <a:spcPct val="8000"/>
                        </a:lnSpc>
                      </a:pPr>
                      <a:endParaRPr lang="en-US" altLang="en-US" sz="100" dirty="0"/>
                    </a:p>
                    <a:p>
                      <a:pPr marL="164465" algn="l" rtl="0" eaLnBrk="0">
                        <a:lnSpc>
                          <a:spcPct val="76000"/>
                        </a:lnSpc>
                      </a:pPr>
                      <a:r>
                        <a:rPr sz="2400" b="1" kern="0" spc="-20" dirty="0">
                          <a:solidFill>
                            <a:srgbClr val="FF0000">
                              <a:alpha val="100000"/>
                            </a:srgbClr>
                          </a:solidFill>
                          <a:latin typeface="Times New Roman" panose="02020603050405020304"/>
                          <a:ea typeface="Times New Roman" panose="02020603050405020304"/>
                          <a:cs typeface="Times New Roman" panose="02020603050405020304"/>
                        </a:rPr>
                        <a:t>25</a:t>
                      </a:r>
                      <a:endParaRPr lang="en-US" altLang="en-US" sz="2400" dirty="0"/>
                    </a:p>
                  </a:txBody>
                  <a:tcPr marL="0" marR="0" marT="0" marB="0" vert="horz">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49422"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317" name=""/>
        <p:cNvGrpSpPr/>
        <p:nvPr/>
      </p:nvGrpSpPr>
      <p:grpSpPr>
        <a:xfrm>
          <a:off x="0" y="0"/>
          <a:ext cx="0" cy="0"/>
          <a:chOff x="0" y="0"/>
          <a:chExt cx="0" cy="0"/>
        </a:xfrm>
      </p:grpSpPr>
      <p:sp>
        <p:nvSpPr>
          <p:cNvPr id="1049427" name="textbox 192"/>
          <p:cNvSpPr/>
          <p:nvPr/>
        </p:nvSpPr>
        <p:spPr>
          <a:xfrm>
            <a:off x="1954783" y="1119266"/>
            <a:ext cx="5080000" cy="2951479"/>
          </a:xfrm>
          <a:prstGeom prst="rect">
            <a:avLst/>
          </a:prstGeom>
        </p:spPr>
        <p:txBody>
          <a:bodyPr vert="horz" wrap="square" lIns="0" tIns="0" rIns="0" bIns="0"/>
          <a:p>
            <a:pPr algn="l" rtl="0" eaLnBrk="0">
              <a:lnSpc>
                <a:spcPct val="89000"/>
              </a:lnSpc>
            </a:pPr>
            <a:endParaRPr lang="en-US" altLang="en-US" sz="100" dirty="0"/>
          </a:p>
          <a:p>
            <a:pPr marL="515620" algn="l" rtl="0" eaLnBrk="0">
              <a:lnSpc>
                <a:spcPct val="89000"/>
              </a:lnSpc>
            </a:pPr>
            <a:r>
              <a:rPr sz="2200" kern="0" spc="10" dirty="0">
                <a:solidFill>
                  <a:srgbClr val="000000">
                    <a:alpha val="100000"/>
                  </a:srgbClr>
                </a:solidFill>
                <a:latin typeface="Arial" panose="020B0604020202020204"/>
                <a:ea typeface="Arial" panose="020B0604020202020204"/>
                <a:cs typeface="Arial" panose="020B0604020202020204"/>
              </a:rPr>
              <a:t>y</a:t>
            </a:r>
            <a:r>
              <a:rPr sz="2200" kern="0" spc="300" dirty="0">
                <a:solidFill>
                  <a:srgbClr val="000000">
                    <a:alpha val="100000"/>
                  </a:srgbClr>
                </a:solidFill>
                <a:latin typeface="Arial" panose="020B0604020202020204"/>
                <a:ea typeface="Arial" panose="020B0604020202020204"/>
                <a:cs typeface="Arial" panose="020B0604020202020204"/>
              </a:rPr>
              <a:t> </a:t>
            </a:r>
            <a:r>
              <a:rPr sz="2200" kern="0" spc="10" dirty="0">
                <a:solidFill>
                  <a:srgbClr val="000000">
                    <a:alpha val="100000"/>
                  </a:srgbClr>
                </a:solidFill>
                <a:latin typeface="Arial" panose="020B0604020202020204"/>
                <a:ea typeface="Arial" panose="020B0604020202020204"/>
                <a:cs typeface="Arial" panose="020B0604020202020204"/>
              </a:rPr>
              <a:t>=</a:t>
            </a:r>
            <a:r>
              <a:rPr sz="2200" kern="0" spc="70" dirty="0">
                <a:solidFill>
                  <a:srgbClr val="000000">
                    <a:alpha val="100000"/>
                  </a:srgbClr>
                </a:solidFill>
                <a:latin typeface="Arial" panose="020B0604020202020204"/>
                <a:ea typeface="Arial" panose="020B0604020202020204"/>
                <a:cs typeface="Arial" panose="020B0604020202020204"/>
              </a:rPr>
              <a:t>    </a:t>
            </a:r>
            <a:r>
              <a:rPr sz="22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r>
              <a:rPr sz="2200" kern="0" spc="10" dirty="0">
                <a:solidFill>
                  <a:srgbClr val="000000">
                    <a:alpha val="100000"/>
                  </a:srgbClr>
                </a:solidFill>
                <a:latin typeface="微软雅黑" panose="020B0503020204020204" charset="-122"/>
                <a:ea typeface="微软雅黑" panose="020B0503020204020204" charset="-122"/>
                <a:cs typeface="微软雅黑" panose="020B0503020204020204" charset="-122"/>
              </a:rPr>
              <a:t> </a:t>
            </a:r>
            <a:r>
              <a:rPr sz="2200" kern="0" spc="10" dirty="0">
                <a:solidFill>
                  <a:srgbClr val="000000">
                    <a:alpha val="100000"/>
                  </a:srgbClr>
                </a:solidFill>
                <a:latin typeface="Arial" panose="020B0604020202020204"/>
                <a:ea typeface="Arial" panose="020B0604020202020204"/>
                <a:cs typeface="Arial" panose="020B0604020202020204"/>
              </a:rPr>
              <a:t>k(</a:t>
            </a:r>
            <a:r>
              <a:rPr sz="2200" kern="0" spc="0" dirty="0">
                <a:solidFill>
                  <a:srgbClr val="000000">
                    <a:alpha val="100000"/>
                  </a:srgbClr>
                </a:solidFill>
                <a:latin typeface="Arial" panose="020B0604020202020204"/>
                <a:ea typeface="Arial" panose="020B0604020202020204"/>
                <a:cs typeface="Arial" panose="020B0604020202020204"/>
              </a:rPr>
              <a:t>mod</a:t>
            </a:r>
            <a:r>
              <a:rPr sz="2200" kern="0" spc="10" dirty="0">
                <a:solidFill>
                  <a:srgbClr val="000000">
                    <a:alpha val="100000"/>
                  </a:srgbClr>
                </a:solidFill>
                <a:latin typeface="Arial" panose="020B0604020202020204"/>
                <a:ea typeface="Arial" panose="020B0604020202020204"/>
                <a:cs typeface="Arial" panose="020B0604020202020204"/>
              </a:rPr>
              <a:t>26)</a:t>
            </a:r>
            <a:endParaRPr lang="en-US" altLang="en-US" sz="2200" dirty="0"/>
          </a:p>
          <a:p>
            <a:pPr marL="421005" algn="l" rtl="0" eaLnBrk="0">
              <a:lnSpc>
                <a:spcPts val="2690"/>
              </a:lnSpc>
              <a:spcBef>
                <a:spcPts val="1000"/>
              </a:spcBef>
            </a:pPr>
            <a:r>
              <a:rPr sz="2100" kern="0" spc="-16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明文：</a:t>
            </a:r>
            <a:r>
              <a:rPr sz="2100" kern="0" spc="0" dirty="0">
                <a:solidFill>
                  <a:srgbClr val="000000">
                    <a:alpha val="100000"/>
                  </a:srgbClr>
                </a:solidFill>
                <a:latin typeface="仿宋" panose="02010609060101010101" charset="-122"/>
                <a:ea typeface="仿宋" panose="02010609060101010101" charset="-122"/>
                <a:cs typeface="仿宋" panose="02010609060101010101" charset="-122"/>
              </a:rPr>
              <a:t>  </a:t>
            </a:r>
            <a:endParaRPr lang="en-US" altLang="en-US" sz="2100" dirty="0"/>
          </a:p>
          <a:p>
            <a:pPr marL="417195" algn="l" rtl="0" eaLnBrk="0">
              <a:lnSpc>
                <a:spcPts val="2700"/>
              </a:lnSpc>
              <a:spcBef>
                <a:spcPts val="785"/>
              </a:spcBef>
            </a:pPr>
            <a:r>
              <a:rPr sz="2100" kern="0" spc="-15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密文：</a:t>
            </a:r>
            <a:r>
              <a:rPr sz="2100" kern="0" spc="0" dirty="0">
                <a:solidFill>
                  <a:srgbClr val="000000">
                    <a:alpha val="100000"/>
                  </a:srgbClr>
                </a:solidFill>
                <a:latin typeface="仿宋" panose="02010609060101010101" charset="-122"/>
                <a:ea typeface="仿宋" panose="02010609060101010101" charset="-122"/>
                <a:cs typeface="仿宋" panose="02010609060101010101" charset="-122"/>
              </a:rPr>
              <a:t>  </a:t>
            </a:r>
            <a:endParaRPr lang="en-US" altLang="en-US" sz="2100" dirty="0"/>
          </a:p>
          <a:p>
            <a:pPr marL="417195" algn="l" rtl="0" eaLnBrk="0">
              <a:lnSpc>
                <a:spcPct val="96000"/>
              </a:lnSpc>
              <a:spcBef>
                <a:spcPts val="775"/>
              </a:spcBef>
            </a:pPr>
            <a:r>
              <a:rPr sz="2100" kern="0" spc="-1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密钥：</a:t>
            </a:r>
            <a:r>
              <a:rPr sz="2100" kern="0" dirty="0">
                <a:solidFill>
                  <a:srgbClr val="000000">
                    <a:alpha val="100000"/>
                  </a:srgbClr>
                </a:solidFill>
                <a:latin typeface="仿宋" panose="02010609060101010101" charset="-122"/>
                <a:ea typeface="仿宋" panose="02010609060101010101" charset="-122"/>
                <a:cs typeface="仿宋" panose="02010609060101010101" charset="-122"/>
              </a:rPr>
              <a:t> k</a:t>
            </a:r>
            <a:endParaRPr lang="en-US" altLang="en-US" sz="2400" dirty="0"/>
          </a:p>
          <a:p>
            <a:pPr marL="403860" algn="l" rtl="0" eaLnBrk="0">
              <a:lnSpc>
                <a:spcPct val="92000"/>
              </a:lnSpc>
              <a:spcBef>
                <a:spcPts val="730"/>
              </a:spcBef>
            </a:pPr>
            <a:r>
              <a:rPr sz="21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解密：</a:t>
            </a:r>
            <a:r>
              <a:rPr sz="2100" kern="0" spc="47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0" dirty="0">
                <a:solidFill>
                  <a:srgbClr val="000000">
                    <a:alpha val="100000"/>
                  </a:srgbClr>
                </a:solidFill>
                <a:latin typeface="Arial" panose="020B0604020202020204"/>
                <a:ea typeface="Arial" panose="020B0604020202020204"/>
                <a:cs typeface="Arial" panose="020B0604020202020204"/>
              </a:rPr>
              <a:t>=</a:t>
            </a:r>
            <a:r>
              <a:rPr sz="2400" kern="0" spc="190" dirty="0">
                <a:solidFill>
                  <a:srgbClr val="000000">
                    <a:alpha val="100000"/>
                  </a:srgbClr>
                </a:solidFill>
                <a:latin typeface="Arial" panose="020B0604020202020204"/>
                <a:ea typeface="Arial" panose="020B0604020202020204"/>
                <a:cs typeface="Arial" panose="020B0604020202020204"/>
              </a:rPr>
              <a:t> </a:t>
            </a:r>
            <a:r>
              <a:rPr sz="2400" kern="0" spc="0" dirty="0">
                <a:solidFill>
                  <a:srgbClr val="000000">
                    <a:alpha val="100000"/>
                  </a:srgbClr>
                </a:solidFill>
                <a:latin typeface="Arial" panose="020B0604020202020204"/>
                <a:ea typeface="Arial" panose="020B0604020202020204"/>
                <a:cs typeface="Arial" panose="020B0604020202020204"/>
              </a:rPr>
              <a:t>y</a:t>
            </a:r>
            <a:r>
              <a:rPr sz="2400" kern="0" spc="0" dirty="0">
                <a:solidFill>
                  <a:srgbClr val="000000">
                    <a:alpha val="100000"/>
                  </a:srgbClr>
                </a:solidFill>
                <a:latin typeface="Arial" panose="020B0604020202020204"/>
                <a:ea typeface="Arial" panose="020B0604020202020204"/>
                <a:cs typeface="Arial" panose="020B0604020202020204"/>
              </a:rPr>
              <a:t> </a:t>
            </a:r>
            <a:r>
              <a:rPr sz="2400" kern="0" spc="0" dirty="0">
                <a:solidFill>
                  <a:srgbClr val="000000">
                    <a:alpha val="100000"/>
                  </a:srgbClr>
                </a:solidFill>
                <a:latin typeface="Arial" panose="020B0604020202020204"/>
                <a:ea typeface="Arial" panose="020B0604020202020204"/>
                <a:cs typeface="Arial" panose="020B0604020202020204"/>
              </a:rPr>
              <a:t>-</a:t>
            </a:r>
            <a:r>
              <a:rPr sz="2400" kern="0" spc="190" dirty="0">
                <a:solidFill>
                  <a:srgbClr val="000000">
                    <a:alpha val="100000"/>
                  </a:srgbClr>
                </a:solidFill>
                <a:latin typeface="Arial" panose="020B0604020202020204"/>
                <a:ea typeface="Arial" panose="020B0604020202020204"/>
                <a:cs typeface="Arial" panose="020B0604020202020204"/>
              </a:rPr>
              <a:t> </a:t>
            </a:r>
            <a:r>
              <a:rPr sz="2400" kern="0" spc="0" dirty="0">
                <a:solidFill>
                  <a:srgbClr val="000000">
                    <a:alpha val="100000"/>
                  </a:srgbClr>
                </a:solidFill>
                <a:latin typeface="Arial" panose="020B0604020202020204"/>
                <a:ea typeface="Arial" panose="020B0604020202020204"/>
                <a:cs typeface="Arial" panose="020B0604020202020204"/>
              </a:rPr>
              <a:t>k(mod26)</a:t>
            </a:r>
            <a:endParaRPr lang="en-US" altLang="en-US" sz="2400" dirty="0"/>
          </a:p>
          <a:p>
            <a:pPr algn="l" rtl="0" eaLnBrk="0">
              <a:lnSpc>
                <a:spcPct val="124000"/>
              </a:lnSpc>
            </a:pPr>
            <a:endParaRPr lang="en-US" altLang="en-US" sz="1000" dirty="0"/>
          </a:p>
          <a:p>
            <a:pPr algn="l" rtl="0" eaLnBrk="0">
              <a:lnSpc>
                <a:spcPct val="124000"/>
              </a:lnSpc>
            </a:pPr>
            <a:endParaRPr lang="en-US" altLang="en-US" sz="1000" dirty="0"/>
          </a:p>
          <a:p>
            <a:pPr algn="l" rtl="0" eaLnBrk="0">
              <a:lnSpc>
                <a:spcPct val="101000"/>
              </a:lnSpc>
            </a:pPr>
            <a:endParaRPr lang="en-US" altLang="en-US" sz="600" dirty="0"/>
          </a:p>
          <a:p>
            <a:pPr algn="r" rtl="0" eaLnBrk="0">
              <a:lnSpc>
                <a:spcPct val="100000"/>
              </a:lnSpc>
              <a:spcBef>
                <a:spcPts val="0"/>
              </a:spcBef>
            </a:pPr>
            <a:r>
              <a:rPr sz="2400" b="1" kern="0" spc="-60" dirty="0">
                <a:solidFill>
                  <a:srgbClr val="0070C0">
                    <a:alpha val="100000"/>
                  </a:srgbClr>
                </a:solidFill>
                <a:latin typeface="Times New Roman" panose="02020603050405020304"/>
                <a:ea typeface="Times New Roman" panose="02020603050405020304"/>
                <a:cs typeface="Times New Roman" panose="02020603050405020304"/>
              </a:rPr>
              <a:t>Caesar</a:t>
            </a:r>
            <a:r>
              <a:rPr sz="2400" kern="0" spc="-60" dirty="0">
                <a:ln w="8708" cap="flat" cmpd="sng">
                  <a:solidFill>
                    <a:srgbClr val="0070C0">
                      <a:alpha val="100000"/>
                    </a:srgbClr>
                  </a:solidFill>
                  <a:prstDash val="solid"/>
                  <a:miter lim="10"/>
                </a:ln>
                <a:solidFill>
                  <a:srgbClr val="0070C0">
                    <a:alpha val="100000"/>
                  </a:srgbClr>
                </a:solidFill>
                <a:latin typeface="仿宋" panose="02010609060101010101" charset="-122"/>
                <a:ea typeface="仿宋" panose="02010609060101010101" charset="-122"/>
                <a:cs typeface="仿宋" panose="02010609060101010101" charset="-122"/>
              </a:rPr>
              <a:t>密码就是一种加法</a:t>
            </a:r>
            <a:r>
              <a:rPr sz="2400" kern="0" spc="-70" dirty="0">
                <a:ln w="8708" cap="flat" cmpd="sng">
                  <a:solidFill>
                    <a:srgbClr val="0070C0">
                      <a:alpha val="100000"/>
                    </a:srgbClr>
                  </a:solidFill>
                  <a:prstDash val="solid"/>
                  <a:miter lim="10"/>
                </a:ln>
                <a:solidFill>
                  <a:srgbClr val="0070C0">
                    <a:alpha val="100000"/>
                  </a:srgbClr>
                </a:solidFill>
                <a:latin typeface="仿宋" panose="02010609060101010101" charset="-122"/>
                <a:ea typeface="仿宋" panose="02010609060101010101" charset="-122"/>
                <a:cs typeface="仿宋" panose="02010609060101010101" charset="-122"/>
              </a:rPr>
              <a:t>密码（</a:t>
            </a:r>
            <a:r>
              <a:rPr sz="2400" b="1" kern="0" spc="-70" dirty="0">
                <a:solidFill>
                  <a:srgbClr val="0070C0">
                    <a:alpha val="100000"/>
                  </a:srgbClr>
                </a:solidFill>
                <a:latin typeface="Times New Roman" panose="02020603050405020304"/>
                <a:ea typeface="Times New Roman" panose="02020603050405020304"/>
                <a:cs typeface="Times New Roman" panose="02020603050405020304"/>
              </a:rPr>
              <a:t>k=3</a:t>
            </a:r>
            <a:r>
              <a:rPr sz="2400" kern="0" spc="-70" dirty="0">
                <a:ln w="8708" cap="flat" cmpd="sng">
                  <a:solidFill>
                    <a:srgbClr val="0070C0">
                      <a:alpha val="100000"/>
                    </a:srgbClr>
                  </a:solidFill>
                  <a:prstDash val="solid"/>
                  <a:miter lim="10"/>
                </a:ln>
                <a:solidFill>
                  <a:srgbClr val="0070C0">
                    <a:alpha val="100000"/>
                  </a:srgbClr>
                </a:solidFill>
                <a:latin typeface="仿宋" panose="02010609060101010101" charset="-122"/>
                <a:ea typeface="仿宋" panose="02010609060101010101" charset="-122"/>
                <a:cs typeface="仿宋" panose="02010609060101010101" charset="-122"/>
              </a:rPr>
              <a:t>）</a:t>
            </a:r>
            <a:endParaRPr lang="en-US" altLang="en-US" sz="2400" dirty="0"/>
          </a:p>
        </p:txBody>
      </p:sp>
      <p:sp>
        <p:nvSpPr>
          <p:cNvPr id="1049428" name="path"/>
          <p:cNvSpPr/>
          <p:nvPr/>
        </p:nvSpPr>
        <p:spPr>
          <a:xfrm>
            <a:off x="3228340" y="2910840"/>
            <a:ext cx="195580" cy="198755"/>
          </a:xfrm>
          <a:custGeom>
            <a:avLst/>
            <a:gdLst/>
            <a:ahLst/>
            <a:cxnLst/>
            <a:rect l="0" t="0" r="0" b="0"/>
            <a:pathLst>
              <a:path w="233" h="210">
                <a:moveTo>
                  <a:pt x="27" y="210"/>
                </a:moveTo>
                <a:lnTo>
                  <a:pt x="15" y="206"/>
                </a:lnTo>
                <a:lnTo>
                  <a:pt x="7" y="202"/>
                </a:lnTo>
                <a:lnTo>
                  <a:pt x="3" y="198"/>
                </a:lnTo>
                <a:lnTo>
                  <a:pt x="0" y="186"/>
                </a:lnTo>
                <a:lnTo>
                  <a:pt x="3" y="182"/>
                </a:lnTo>
                <a:lnTo>
                  <a:pt x="3" y="170"/>
                </a:lnTo>
                <a:lnTo>
                  <a:pt x="7" y="170"/>
                </a:lnTo>
                <a:lnTo>
                  <a:pt x="15" y="167"/>
                </a:lnTo>
                <a:lnTo>
                  <a:pt x="39" y="163"/>
                </a:lnTo>
                <a:lnTo>
                  <a:pt x="39" y="167"/>
                </a:lnTo>
                <a:lnTo>
                  <a:pt x="43" y="186"/>
                </a:lnTo>
                <a:lnTo>
                  <a:pt x="35" y="194"/>
                </a:lnTo>
                <a:lnTo>
                  <a:pt x="19" y="198"/>
                </a:lnTo>
                <a:lnTo>
                  <a:pt x="31" y="202"/>
                </a:lnTo>
                <a:lnTo>
                  <a:pt x="59" y="202"/>
                </a:lnTo>
                <a:lnTo>
                  <a:pt x="67" y="198"/>
                </a:lnTo>
                <a:lnTo>
                  <a:pt x="79" y="186"/>
                </a:lnTo>
                <a:lnTo>
                  <a:pt x="79" y="178"/>
                </a:lnTo>
                <a:lnTo>
                  <a:pt x="83" y="178"/>
                </a:lnTo>
                <a:lnTo>
                  <a:pt x="83" y="170"/>
                </a:lnTo>
                <a:lnTo>
                  <a:pt x="87" y="170"/>
                </a:lnTo>
                <a:lnTo>
                  <a:pt x="87" y="159"/>
                </a:lnTo>
                <a:lnTo>
                  <a:pt x="91" y="159"/>
                </a:lnTo>
                <a:lnTo>
                  <a:pt x="91" y="147"/>
                </a:lnTo>
                <a:lnTo>
                  <a:pt x="95" y="147"/>
                </a:lnTo>
                <a:lnTo>
                  <a:pt x="95" y="131"/>
                </a:lnTo>
                <a:lnTo>
                  <a:pt x="99" y="131"/>
                </a:lnTo>
                <a:lnTo>
                  <a:pt x="99" y="115"/>
                </a:lnTo>
                <a:lnTo>
                  <a:pt x="103" y="115"/>
                </a:lnTo>
                <a:lnTo>
                  <a:pt x="103" y="99"/>
                </a:lnTo>
                <a:lnTo>
                  <a:pt x="107" y="99"/>
                </a:lnTo>
                <a:lnTo>
                  <a:pt x="107" y="83"/>
                </a:lnTo>
                <a:lnTo>
                  <a:pt x="111" y="83"/>
                </a:lnTo>
                <a:lnTo>
                  <a:pt x="111" y="63"/>
                </a:lnTo>
                <a:lnTo>
                  <a:pt x="114" y="63"/>
                </a:lnTo>
                <a:lnTo>
                  <a:pt x="111" y="23"/>
                </a:lnTo>
                <a:lnTo>
                  <a:pt x="107" y="15"/>
                </a:lnTo>
                <a:lnTo>
                  <a:pt x="75" y="11"/>
                </a:lnTo>
                <a:lnTo>
                  <a:pt x="75" y="15"/>
                </a:lnTo>
                <a:lnTo>
                  <a:pt x="59" y="23"/>
                </a:lnTo>
                <a:lnTo>
                  <a:pt x="55" y="27"/>
                </a:lnTo>
                <a:lnTo>
                  <a:pt x="51" y="27"/>
                </a:lnTo>
                <a:lnTo>
                  <a:pt x="51" y="35"/>
                </a:lnTo>
                <a:lnTo>
                  <a:pt x="43" y="43"/>
                </a:lnTo>
                <a:lnTo>
                  <a:pt x="39" y="43"/>
                </a:lnTo>
                <a:lnTo>
                  <a:pt x="39" y="51"/>
                </a:lnTo>
                <a:lnTo>
                  <a:pt x="35" y="51"/>
                </a:lnTo>
                <a:lnTo>
                  <a:pt x="35" y="63"/>
                </a:lnTo>
                <a:lnTo>
                  <a:pt x="31" y="63"/>
                </a:lnTo>
                <a:lnTo>
                  <a:pt x="31" y="71"/>
                </a:lnTo>
                <a:lnTo>
                  <a:pt x="27" y="75"/>
                </a:lnTo>
                <a:lnTo>
                  <a:pt x="15" y="75"/>
                </a:lnTo>
                <a:lnTo>
                  <a:pt x="19" y="71"/>
                </a:lnTo>
                <a:lnTo>
                  <a:pt x="19" y="59"/>
                </a:lnTo>
                <a:lnTo>
                  <a:pt x="23" y="59"/>
                </a:lnTo>
                <a:lnTo>
                  <a:pt x="23" y="51"/>
                </a:lnTo>
                <a:lnTo>
                  <a:pt x="27" y="51"/>
                </a:lnTo>
                <a:lnTo>
                  <a:pt x="27" y="43"/>
                </a:lnTo>
                <a:lnTo>
                  <a:pt x="31" y="43"/>
                </a:lnTo>
                <a:lnTo>
                  <a:pt x="35" y="39"/>
                </a:lnTo>
                <a:lnTo>
                  <a:pt x="35" y="31"/>
                </a:lnTo>
                <a:lnTo>
                  <a:pt x="39" y="31"/>
                </a:lnTo>
                <a:lnTo>
                  <a:pt x="59" y="11"/>
                </a:lnTo>
                <a:lnTo>
                  <a:pt x="75" y="3"/>
                </a:lnTo>
                <a:lnTo>
                  <a:pt x="111" y="0"/>
                </a:lnTo>
                <a:lnTo>
                  <a:pt x="111" y="3"/>
                </a:lnTo>
                <a:lnTo>
                  <a:pt x="118" y="7"/>
                </a:lnTo>
                <a:lnTo>
                  <a:pt x="130" y="19"/>
                </a:lnTo>
                <a:lnTo>
                  <a:pt x="138" y="35"/>
                </a:lnTo>
                <a:lnTo>
                  <a:pt x="142" y="35"/>
                </a:lnTo>
                <a:lnTo>
                  <a:pt x="146" y="31"/>
                </a:lnTo>
                <a:lnTo>
                  <a:pt x="146" y="23"/>
                </a:lnTo>
                <a:lnTo>
                  <a:pt x="150" y="23"/>
                </a:lnTo>
                <a:lnTo>
                  <a:pt x="162" y="11"/>
                </a:lnTo>
                <a:lnTo>
                  <a:pt x="178" y="3"/>
                </a:lnTo>
                <a:lnTo>
                  <a:pt x="210" y="0"/>
                </a:lnTo>
                <a:lnTo>
                  <a:pt x="210" y="3"/>
                </a:lnTo>
                <a:lnTo>
                  <a:pt x="222" y="7"/>
                </a:lnTo>
                <a:lnTo>
                  <a:pt x="229" y="15"/>
                </a:lnTo>
                <a:lnTo>
                  <a:pt x="233" y="39"/>
                </a:lnTo>
                <a:lnTo>
                  <a:pt x="229" y="39"/>
                </a:lnTo>
                <a:lnTo>
                  <a:pt x="229" y="47"/>
                </a:lnTo>
                <a:lnTo>
                  <a:pt x="222" y="51"/>
                </a:lnTo>
                <a:lnTo>
                  <a:pt x="202" y="51"/>
                </a:lnTo>
                <a:lnTo>
                  <a:pt x="198" y="47"/>
                </a:lnTo>
                <a:lnTo>
                  <a:pt x="194" y="39"/>
                </a:lnTo>
                <a:lnTo>
                  <a:pt x="198" y="35"/>
                </a:lnTo>
                <a:lnTo>
                  <a:pt x="198" y="23"/>
                </a:lnTo>
                <a:lnTo>
                  <a:pt x="202" y="23"/>
                </a:lnTo>
                <a:lnTo>
                  <a:pt x="206" y="19"/>
                </a:lnTo>
                <a:lnTo>
                  <a:pt x="214" y="15"/>
                </a:lnTo>
                <a:lnTo>
                  <a:pt x="174" y="11"/>
                </a:lnTo>
                <a:lnTo>
                  <a:pt x="174" y="15"/>
                </a:lnTo>
                <a:lnTo>
                  <a:pt x="158" y="31"/>
                </a:lnTo>
                <a:lnTo>
                  <a:pt x="154" y="31"/>
                </a:lnTo>
                <a:lnTo>
                  <a:pt x="154" y="39"/>
                </a:lnTo>
                <a:lnTo>
                  <a:pt x="150" y="39"/>
                </a:lnTo>
                <a:lnTo>
                  <a:pt x="150" y="47"/>
                </a:lnTo>
                <a:lnTo>
                  <a:pt x="146" y="47"/>
                </a:lnTo>
                <a:lnTo>
                  <a:pt x="146" y="55"/>
                </a:lnTo>
                <a:lnTo>
                  <a:pt x="142" y="55"/>
                </a:lnTo>
                <a:lnTo>
                  <a:pt x="142" y="71"/>
                </a:lnTo>
                <a:lnTo>
                  <a:pt x="138" y="71"/>
                </a:lnTo>
                <a:lnTo>
                  <a:pt x="138" y="87"/>
                </a:lnTo>
                <a:lnTo>
                  <a:pt x="134" y="87"/>
                </a:lnTo>
                <a:lnTo>
                  <a:pt x="134" y="103"/>
                </a:lnTo>
                <a:lnTo>
                  <a:pt x="130" y="103"/>
                </a:lnTo>
                <a:lnTo>
                  <a:pt x="130" y="119"/>
                </a:lnTo>
                <a:lnTo>
                  <a:pt x="126" y="119"/>
                </a:lnTo>
                <a:lnTo>
                  <a:pt x="126" y="139"/>
                </a:lnTo>
                <a:lnTo>
                  <a:pt x="122" y="139"/>
                </a:lnTo>
                <a:lnTo>
                  <a:pt x="122" y="170"/>
                </a:lnTo>
                <a:lnTo>
                  <a:pt x="118" y="174"/>
                </a:lnTo>
                <a:lnTo>
                  <a:pt x="126" y="198"/>
                </a:lnTo>
                <a:lnTo>
                  <a:pt x="130" y="202"/>
                </a:lnTo>
                <a:lnTo>
                  <a:pt x="162" y="202"/>
                </a:lnTo>
                <a:lnTo>
                  <a:pt x="170" y="198"/>
                </a:lnTo>
                <a:lnTo>
                  <a:pt x="174" y="194"/>
                </a:lnTo>
                <a:lnTo>
                  <a:pt x="182" y="190"/>
                </a:lnTo>
                <a:lnTo>
                  <a:pt x="186" y="186"/>
                </a:lnTo>
                <a:lnTo>
                  <a:pt x="186" y="178"/>
                </a:lnTo>
                <a:lnTo>
                  <a:pt x="190" y="178"/>
                </a:lnTo>
                <a:lnTo>
                  <a:pt x="198" y="170"/>
                </a:lnTo>
                <a:lnTo>
                  <a:pt x="198" y="159"/>
                </a:lnTo>
                <a:lnTo>
                  <a:pt x="202" y="159"/>
                </a:lnTo>
                <a:lnTo>
                  <a:pt x="202" y="151"/>
                </a:lnTo>
                <a:lnTo>
                  <a:pt x="206" y="151"/>
                </a:lnTo>
                <a:lnTo>
                  <a:pt x="206" y="139"/>
                </a:lnTo>
                <a:lnTo>
                  <a:pt x="218" y="139"/>
                </a:lnTo>
                <a:lnTo>
                  <a:pt x="218" y="155"/>
                </a:lnTo>
                <a:lnTo>
                  <a:pt x="214" y="155"/>
                </a:lnTo>
                <a:lnTo>
                  <a:pt x="214" y="163"/>
                </a:lnTo>
                <a:lnTo>
                  <a:pt x="210" y="167"/>
                </a:lnTo>
                <a:lnTo>
                  <a:pt x="206" y="167"/>
                </a:lnTo>
                <a:lnTo>
                  <a:pt x="206" y="174"/>
                </a:lnTo>
                <a:lnTo>
                  <a:pt x="202" y="174"/>
                </a:lnTo>
                <a:lnTo>
                  <a:pt x="202" y="182"/>
                </a:lnTo>
                <a:lnTo>
                  <a:pt x="198" y="186"/>
                </a:lnTo>
                <a:lnTo>
                  <a:pt x="190" y="190"/>
                </a:lnTo>
                <a:lnTo>
                  <a:pt x="174" y="206"/>
                </a:lnTo>
                <a:lnTo>
                  <a:pt x="166" y="210"/>
                </a:lnTo>
                <a:lnTo>
                  <a:pt x="122" y="210"/>
                </a:lnTo>
                <a:lnTo>
                  <a:pt x="114" y="206"/>
                </a:lnTo>
                <a:lnTo>
                  <a:pt x="103" y="194"/>
                </a:lnTo>
                <a:lnTo>
                  <a:pt x="95" y="178"/>
                </a:lnTo>
                <a:lnTo>
                  <a:pt x="95" y="182"/>
                </a:lnTo>
                <a:lnTo>
                  <a:pt x="71" y="206"/>
                </a:lnTo>
                <a:lnTo>
                  <a:pt x="63" y="210"/>
                </a:lnTo>
                <a:lnTo>
                  <a:pt x="27" y="210"/>
                </a:lnTo>
                <a:close/>
              </a:path>
            </a:pathLst>
          </a:custGeom>
          <a:solidFill>
            <a:srgbClr val="000000">
              <a:alpha val="100000"/>
            </a:srgbClr>
          </a:solidFill>
          <a:ln cap="flat">
            <a:noFill/>
            <a:prstDash val="solid"/>
            <a:miter lim="0"/>
          </a:ln>
        </p:spPr>
        <p:txBody>
          <a:bodyPr rtlCol="0"/>
          <a:p>
            <a:pPr algn="ctr"/>
            <a:endParaRPr lang="zh-CN" altLang="en-US"/>
          </a:p>
        </p:txBody>
      </p:sp>
      <p:sp>
        <p:nvSpPr>
          <p:cNvPr id="1049429" name="path"/>
          <p:cNvSpPr/>
          <p:nvPr/>
        </p:nvSpPr>
        <p:spPr>
          <a:xfrm>
            <a:off x="3239031" y="2068116"/>
            <a:ext cx="135005" cy="193417"/>
          </a:xfrm>
          <a:custGeom>
            <a:avLst/>
            <a:gdLst/>
            <a:ahLst/>
            <a:cxnLst/>
            <a:rect l="0" t="0" r="0" b="0"/>
            <a:pathLst>
              <a:path w="212" h="304">
                <a:moveTo>
                  <a:pt x="35" y="304"/>
                </a:moveTo>
                <a:lnTo>
                  <a:pt x="27" y="300"/>
                </a:lnTo>
                <a:lnTo>
                  <a:pt x="11" y="284"/>
                </a:lnTo>
                <a:lnTo>
                  <a:pt x="7" y="268"/>
                </a:lnTo>
                <a:lnTo>
                  <a:pt x="11" y="264"/>
                </a:lnTo>
                <a:lnTo>
                  <a:pt x="11" y="248"/>
                </a:lnTo>
                <a:lnTo>
                  <a:pt x="15" y="248"/>
                </a:lnTo>
                <a:lnTo>
                  <a:pt x="19" y="244"/>
                </a:lnTo>
                <a:lnTo>
                  <a:pt x="43" y="240"/>
                </a:lnTo>
                <a:lnTo>
                  <a:pt x="43" y="244"/>
                </a:lnTo>
                <a:lnTo>
                  <a:pt x="47" y="260"/>
                </a:lnTo>
                <a:lnTo>
                  <a:pt x="43" y="260"/>
                </a:lnTo>
                <a:lnTo>
                  <a:pt x="43" y="268"/>
                </a:lnTo>
                <a:lnTo>
                  <a:pt x="39" y="272"/>
                </a:lnTo>
                <a:lnTo>
                  <a:pt x="23" y="272"/>
                </a:lnTo>
                <a:lnTo>
                  <a:pt x="23" y="280"/>
                </a:lnTo>
                <a:lnTo>
                  <a:pt x="27" y="288"/>
                </a:lnTo>
                <a:lnTo>
                  <a:pt x="31" y="292"/>
                </a:lnTo>
                <a:lnTo>
                  <a:pt x="39" y="296"/>
                </a:lnTo>
                <a:lnTo>
                  <a:pt x="74" y="296"/>
                </a:lnTo>
                <a:lnTo>
                  <a:pt x="90" y="288"/>
                </a:lnTo>
                <a:lnTo>
                  <a:pt x="110" y="268"/>
                </a:lnTo>
                <a:lnTo>
                  <a:pt x="110" y="260"/>
                </a:lnTo>
                <a:lnTo>
                  <a:pt x="114" y="260"/>
                </a:lnTo>
                <a:lnTo>
                  <a:pt x="118" y="256"/>
                </a:lnTo>
                <a:lnTo>
                  <a:pt x="118" y="248"/>
                </a:lnTo>
                <a:lnTo>
                  <a:pt x="122" y="248"/>
                </a:lnTo>
                <a:lnTo>
                  <a:pt x="122" y="240"/>
                </a:lnTo>
                <a:lnTo>
                  <a:pt x="125" y="240"/>
                </a:lnTo>
                <a:lnTo>
                  <a:pt x="125" y="232"/>
                </a:lnTo>
                <a:lnTo>
                  <a:pt x="129" y="232"/>
                </a:lnTo>
                <a:lnTo>
                  <a:pt x="129" y="220"/>
                </a:lnTo>
                <a:lnTo>
                  <a:pt x="133" y="220"/>
                </a:lnTo>
                <a:lnTo>
                  <a:pt x="133" y="208"/>
                </a:lnTo>
                <a:lnTo>
                  <a:pt x="137" y="208"/>
                </a:lnTo>
                <a:lnTo>
                  <a:pt x="133" y="196"/>
                </a:lnTo>
                <a:lnTo>
                  <a:pt x="133" y="200"/>
                </a:lnTo>
                <a:lnTo>
                  <a:pt x="129" y="204"/>
                </a:lnTo>
                <a:lnTo>
                  <a:pt x="114" y="212"/>
                </a:lnTo>
                <a:lnTo>
                  <a:pt x="70" y="212"/>
                </a:lnTo>
                <a:lnTo>
                  <a:pt x="55" y="204"/>
                </a:lnTo>
                <a:lnTo>
                  <a:pt x="51" y="200"/>
                </a:lnTo>
                <a:lnTo>
                  <a:pt x="47" y="192"/>
                </a:lnTo>
                <a:lnTo>
                  <a:pt x="43" y="188"/>
                </a:lnTo>
                <a:lnTo>
                  <a:pt x="39" y="176"/>
                </a:lnTo>
                <a:lnTo>
                  <a:pt x="35" y="160"/>
                </a:lnTo>
                <a:lnTo>
                  <a:pt x="39" y="156"/>
                </a:lnTo>
                <a:lnTo>
                  <a:pt x="39" y="128"/>
                </a:lnTo>
                <a:lnTo>
                  <a:pt x="43" y="128"/>
                </a:lnTo>
                <a:lnTo>
                  <a:pt x="43" y="112"/>
                </a:lnTo>
                <a:lnTo>
                  <a:pt x="47" y="112"/>
                </a:lnTo>
                <a:lnTo>
                  <a:pt x="47" y="100"/>
                </a:lnTo>
                <a:lnTo>
                  <a:pt x="51" y="100"/>
                </a:lnTo>
                <a:lnTo>
                  <a:pt x="51" y="88"/>
                </a:lnTo>
                <a:lnTo>
                  <a:pt x="55" y="88"/>
                </a:lnTo>
                <a:lnTo>
                  <a:pt x="55" y="76"/>
                </a:lnTo>
                <a:lnTo>
                  <a:pt x="59" y="76"/>
                </a:lnTo>
                <a:lnTo>
                  <a:pt x="59" y="64"/>
                </a:lnTo>
                <a:lnTo>
                  <a:pt x="62" y="64"/>
                </a:lnTo>
                <a:lnTo>
                  <a:pt x="62" y="56"/>
                </a:lnTo>
                <a:lnTo>
                  <a:pt x="66" y="56"/>
                </a:lnTo>
                <a:lnTo>
                  <a:pt x="66" y="44"/>
                </a:lnTo>
                <a:lnTo>
                  <a:pt x="70" y="44"/>
                </a:lnTo>
                <a:lnTo>
                  <a:pt x="70" y="8"/>
                </a:lnTo>
                <a:lnTo>
                  <a:pt x="47" y="12"/>
                </a:lnTo>
                <a:lnTo>
                  <a:pt x="31" y="28"/>
                </a:lnTo>
                <a:lnTo>
                  <a:pt x="27" y="28"/>
                </a:lnTo>
                <a:lnTo>
                  <a:pt x="27" y="36"/>
                </a:lnTo>
                <a:lnTo>
                  <a:pt x="23" y="36"/>
                </a:lnTo>
                <a:lnTo>
                  <a:pt x="23" y="44"/>
                </a:lnTo>
                <a:lnTo>
                  <a:pt x="19" y="44"/>
                </a:lnTo>
                <a:lnTo>
                  <a:pt x="19" y="56"/>
                </a:lnTo>
                <a:lnTo>
                  <a:pt x="15" y="56"/>
                </a:lnTo>
                <a:lnTo>
                  <a:pt x="15" y="64"/>
                </a:lnTo>
                <a:lnTo>
                  <a:pt x="11" y="64"/>
                </a:lnTo>
                <a:lnTo>
                  <a:pt x="11" y="72"/>
                </a:lnTo>
                <a:lnTo>
                  <a:pt x="0" y="72"/>
                </a:lnTo>
                <a:lnTo>
                  <a:pt x="3" y="68"/>
                </a:lnTo>
                <a:lnTo>
                  <a:pt x="3" y="56"/>
                </a:lnTo>
                <a:lnTo>
                  <a:pt x="7" y="56"/>
                </a:lnTo>
                <a:lnTo>
                  <a:pt x="7" y="44"/>
                </a:lnTo>
                <a:lnTo>
                  <a:pt x="11" y="44"/>
                </a:lnTo>
                <a:lnTo>
                  <a:pt x="11" y="36"/>
                </a:lnTo>
                <a:lnTo>
                  <a:pt x="15" y="36"/>
                </a:lnTo>
                <a:lnTo>
                  <a:pt x="15" y="28"/>
                </a:lnTo>
                <a:lnTo>
                  <a:pt x="19" y="28"/>
                </a:lnTo>
                <a:lnTo>
                  <a:pt x="27" y="20"/>
                </a:lnTo>
                <a:lnTo>
                  <a:pt x="27" y="12"/>
                </a:lnTo>
                <a:lnTo>
                  <a:pt x="31" y="12"/>
                </a:lnTo>
                <a:lnTo>
                  <a:pt x="39" y="8"/>
                </a:lnTo>
                <a:lnTo>
                  <a:pt x="43" y="4"/>
                </a:lnTo>
                <a:lnTo>
                  <a:pt x="78" y="0"/>
                </a:lnTo>
                <a:lnTo>
                  <a:pt x="78" y="4"/>
                </a:lnTo>
                <a:lnTo>
                  <a:pt x="82" y="8"/>
                </a:lnTo>
                <a:lnTo>
                  <a:pt x="90" y="8"/>
                </a:lnTo>
                <a:lnTo>
                  <a:pt x="90" y="16"/>
                </a:lnTo>
                <a:lnTo>
                  <a:pt x="94" y="20"/>
                </a:lnTo>
                <a:lnTo>
                  <a:pt x="98" y="56"/>
                </a:lnTo>
                <a:lnTo>
                  <a:pt x="94" y="56"/>
                </a:lnTo>
                <a:lnTo>
                  <a:pt x="94" y="64"/>
                </a:lnTo>
                <a:lnTo>
                  <a:pt x="90" y="64"/>
                </a:lnTo>
                <a:lnTo>
                  <a:pt x="90" y="76"/>
                </a:lnTo>
                <a:lnTo>
                  <a:pt x="86" y="76"/>
                </a:lnTo>
                <a:lnTo>
                  <a:pt x="86" y="88"/>
                </a:lnTo>
                <a:lnTo>
                  <a:pt x="82" y="88"/>
                </a:lnTo>
                <a:lnTo>
                  <a:pt x="82" y="96"/>
                </a:lnTo>
                <a:lnTo>
                  <a:pt x="78" y="96"/>
                </a:lnTo>
                <a:lnTo>
                  <a:pt x="78" y="108"/>
                </a:lnTo>
                <a:lnTo>
                  <a:pt x="74" y="108"/>
                </a:lnTo>
                <a:lnTo>
                  <a:pt x="74" y="120"/>
                </a:lnTo>
                <a:lnTo>
                  <a:pt x="70" y="120"/>
                </a:lnTo>
                <a:lnTo>
                  <a:pt x="70" y="136"/>
                </a:lnTo>
                <a:lnTo>
                  <a:pt x="66" y="136"/>
                </a:lnTo>
                <a:lnTo>
                  <a:pt x="66" y="164"/>
                </a:lnTo>
                <a:lnTo>
                  <a:pt x="62" y="168"/>
                </a:lnTo>
                <a:lnTo>
                  <a:pt x="66" y="188"/>
                </a:lnTo>
                <a:lnTo>
                  <a:pt x="70" y="196"/>
                </a:lnTo>
                <a:lnTo>
                  <a:pt x="78" y="204"/>
                </a:lnTo>
                <a:lnTo>
                  <a:pt x="110" y="204"/>
                </a:lnTo>
                <a:lnTo>
                  <a:pt x="118" y="200"/>
                </a:lnTo>
                <a:lnTo>
                  <a:pt x="137" y="180"/>
                </a:lnTo>
                <a:lnTo>
                  <a:pt x="137" y="172"/>
                </a:lnTo>
                <a:lnTo>
                  <a:pt x="141" y="172"/>
                </a:lnTo>
                <a:lnTo>
                  <a:pt x="145" y="168"/>
                </a:lnTo>
                <a:lnTo>
                  <a:pt x="145" y="156"/>
                </a:lnTo>
                <a:lnTo>
                  <a:pt x="149" y="156"/>
                </a:lnTo>
                <a:lnTo>
                  <a:pt x="149" y="144"/>
                </a:lnTo>
                <a:lnTo>
                  <a:pt x="153" y="144"/>
                </a:lnTo>
                <a:lnTo>
                  <a:pt x="153" y="128"/>
                </a:lnTo>
                <a:lnTo>
                  <a:pt x="157" y="128"/>
                </a:lnTo>
                <a:lnTo>
                  <a:pt x="157" y="112"/>
                </a:lnTo>
                <a:lnTo>
                  <a:pt x="161" y="112"/>
                </a:lnTo>
                <a:lnTo>
                  <a:pt x="161" y="96"/>
                </a:lnTo>
                <a:lnTo>
                  <a:pt x="165" y="96"/>
                </a:lnTo>
                <a:lnTo>
                  <a:pt x="165" y="80"/>
                </a:lnTo>
                <a:lnTo>
                  <a:pt x="169" y="80"/>
                </a:lnTo>
                <a:lnTo>
                  <a:pt x="169" y="64"/>
                </a:lnTo>
                <a:lnTo>
                  <a:pt x="173" y="64"/>
                </a:lnTo>
                <a:lnTo>
                  <a:pt x="173" y="48"/>
                </a:lnTo>
                <a:lnTo>
                  <a:pt x="177" y="48"/>
                </a:lnTo>
                <a:lnTo>
                  <a:pt x="177" y="32"/>
                </a:lnTo>
                <a:lnTo>
                  <a:pt x="181" y="32"/>
                </a:lnTo>
                <a:lnTo>
                  <a:pt x="181" y="16"/>
                </a:lnTo>
                <a:lnTo>
                  <a:pt x="185" y="16"/>
                </a:lnTo>
                <a:lnTo>
                  <a:pt x="188" y="12"/>
                </a:lnTo>
                <a:lnTo>
                  <a:pt x="188" y="4"/>
                </a:lnTo>
                <a:lnTo>
                  <a:pt x="208" y="8"/>
                </a:lnTo>
                <a:lnTo>
                  <a:pt x="212" y="20"/>
                </a:lnTo>
                <a:lnTo>
                  <a:pt x="208" y="20"/>
                </a:lnTo>
                <a:lnTo>
                  <a:pt x="208" y="40"/>
                </a:lnTo>
                <a:lnTo>
                  <a:pt x="204" y="40"/>
                </a:lnTo>
                <a:lnTo>
                  <a:pt x="204" y="56"/>
                </a:lnTo>
                <a:lnTo>
                  <a:pt x="200" y="56"/>
                </a:lnTo>
                <a:lnTo>
                  <a:pt x="200" y="72"/>
                </a:lnTo>
                <a:lnTo>
                  <a:pt x="196" y="72"/>
                </a:lnTo>
                <a:lnTo>
                  <a:pt x="196" y="92"/>
                </a:lnTo>
                <a:lnTo>
                  <a:pt x="192" y="92"/>
                </a:lnTo>
                <a:lnTo>
                  <a:pt x="192" y="108"/>
                </a:lnTo>
                <a:lnTo>
                  <a:pt x="188" y="108"/>
                </a:lnTo>
                <a:lnTo>
                  <a:pt x="188" y="124"/>
                </a:lnTo>
                <a:lnTo>
                  <a:pt x="185" y="124"/>
                </a:lnTo>
                <a:lnTo>
                  <a:pt x="185" y="140"/>
                </a:lnTo>
                <a:lnTo>
                  <a:pt x="181" y="140"/>
                </a:lnTo>
                <a:lnTo>
                  <a:pt x="181" y="160"/>
                </a:lnTo>
                <a:lnTo>
                  <a:pt x="177" y="160"/>
                </a:lnTo>
                <a:lnTo>
                  <a:pt x="177" y="176"/>
                </a:lnTo>
                <a:lnTo>
                  <a:pt x="173" y="176"/>
                </a:lnTo>
                <a:lnTo>
                  <a:pt x="173" y="192"/>
                </a:lnTo>
                <a:lnTo>
                  <a:pt x="169" y="192"/>
                </a:lnTo>
                <a:lnTo>
                  <a:pt x="169" y="208"/>
                </a:lnTo>
                <a:lnTo>
                  <a:pt x="165" y="208"/>
                </a:lnTo>
                <a:lnTo>
                  <a:pt x="165" y="220"/>
                </a:lnTo>
                <a:lnTo>
                  <a:pt x="161" y="220"/>
                </a:lnTo>
                <a:lnTo>
                  <a:pt x="161" y="228"/>
                </a:lnTo>
                <a:lnTo>
                  <a:pt x="157" y="228"/>
                </a:lnTo>
                <a:lnTo>
                  <a:pt x="157" y="236"/>
                </a:lnTo>
                <a:lnTo>
                  <a:pt x="153" y="236"/>
                </a:lnTo>
                <a:lnTo>
                  <a:pt x="153" y="244"/>
                </a:lnTo>
                <a:lnTo>
                  <a:pt x="149" y="248"/>
                </a:lnTo>
                <a:lnTo>
                  <a:pt x="145" y="248"/>
                </a:lnTo>
                <a:lnTo>
                  <a:pt x="145" y="256"/>
                </a:lnTo>
                <a:lnTo>
                  <a:pt x="118" y="284"/>
                </a:lnTo>
                <a:lnTo>
                  <a:pt x="110" y="288"/>
                </a:lnTo>
                <a:lnTo>
                  <a:pt x="106" y="292"/>
                </a:lnTo>
                <a:lnTo>
                  <a:pt x="82" y="304"/>
                </a:lnTo>
                <a:lnTo>
                  <a:pt x="35" y="304"/>
                </a:lnTo>
                <a:close/>
              </a:path>
            </a:pathLst>
          </a:custGeom>
          <a:solidFill>
            <a:srgbClr val="000000">
              <a:alpha val="100000"/>
            </a:srgbClr>
          </a:solidFill>
          <a:ln cap="flat">
            <a:noFill/>
            <a:prstDash val="solid"/>
            <a:miter lim="0"/>
          </a:ln>
        </p:spPr>
        <p:txBody>
          <a:bodyPr rtlCol="0"/>
          <a:p>
            <a:pPr algn="ctr"/>
            <a:endParaRPr lang="zh-CN" altLang="en-US"/>
          </a:p>
        </p:txBody>
      </p:sp>
      <p:sp>
        <p:nvSpPr>
          <p:cNvPr id="1049430" name="path"/>
          <p:cNvSpPr/>
          <p:nvPr/>
        </p:nvSpPr>
        <p:spPr>
          <a:xfrm>
            <a:off x="3228502" y="1673351"/>
            <a:ext cx="144270" cy="134606"/>
          </a:xfrm>
          <a:custGeom>
            <a:avLst/>
            <a:gdLst/>
            <a:ahLst/>
            <a:cxnLst/>
            <a:rect l="0" t="0" r="0" b="0"/>
            <a:pathLst>
              <a:path w="227" h="211">
                <a:moveTo>
                  <a:pt x="27" y="211"/>
                </a:moveTo>
                <a:lnTo>
                  <a:pt x="15" y="207"/>
                </a:lnTo>
                <a:lnTo>
                  <a:pt x="7" y="203"/>
                </a:lnTo>
                <a:lnTo>
                  <a:pt x="3" y="199"/>
                </a:lnTo>
                <a:lnTo>
                  <a:pt x="0" y="187"/>
                </a:lnTo>
                <a:lnTo>
                  <a:pt x="3" y="183"/>
                </a:lnTo>
                <a:lnTo>
                  <a:pt x="3" y="171"/>
                </a:lnTo>
                <a:lnTo>
                  <a:pt x="7" y="171"/>
                </a:lnTo>
                <a:lnTo>
                  <a:pt x="15" y="167"/>
                </a:lnTo>
                <a:lnTo>
                  <a:pt x="39" y="163"/>
                </a:lnTo>
                <a:lnTo>
                  <a:pt x="39" y="187"/>
                </a:lnTo>
                <a:lnTo>
                  <a:pt x="31" y="195"/>
                </a:lnTo>
                <a:lnTo>
                  <a:pt x="19" y="199"/>
                </a:lnTo>
                <a:lnTo>
                  <a:pt x="31" y="203"/>
                </a:lnTo>
                <a:lnTo>
                  <a:pt x="58" y="203"/>
                </a:lnTo>
                <a:lnTo>
                  <a:pt x="62" y="199"/>
                </a:lnTo>
                <a:lnTo>
                  <a:pt x="70" y="195"/>
                </a:lnTo>
                <a:lnTo>
                  <a:pt x="74" y="191"/>
                </a:lnTo>
                <a:lnTo>
                  <a:pt x="74" y="183"/>
                </a:lnTo>
                <a:lnTo>
                  <a:pt x="78" y="183"/>
                </a:lnTo>
                <a:lnTo>
                  <a:pt x="82" y="179"/>
                </a:lnTo>
                <a:lnTo>
                  <a:pt x="82" y="171"/>
                </a:lnTo>
                <a:lnTo>
                  <a:pt x="86" y="171"/>
                </a:lnTo>
                <a:lnTo>
                  <a:pt x="86" y="159"/>
                </a:lnTo>
                <a:lnTo>
                  <a:pt x="90" y="159"/>
                </a:lnTo>
                <a:lnTo>
                  <a:pt x="90" y="147"/>
                </a:lnTo>
                <a:lnTo>
                  <a:pt x="94" y="147"/>
                </a:lnTo>
                <a:lnTo>
                  <a:pt x="94" y="131"/>
                </a:lnTo>
                <a:lnTo>
                  <a:pt x="97" y="131"/>
                </a:lnTo>
                <a:lnTo>
                  <a:pt x="97" y="115"/>
                </a:lnTo>
                <a:lnTo>
                  <a:pt x="101" y="115"/>
                </a:lnTo>
                <a:lnTo>
                  <a:pt x="101" y="99"/>
                </a:lnTo>
                <a:lnTo>
                  <a:pt x="105" y="99"/>
                </a:lnTo>
                <a:lnTo>
                  <a:pt x="105" y="83"/>
                </a:lnTo>
                <a:lnTo>
                  <a:pt x="109" y="83"/>
                </a:lnTo>
                <a:lnTo>
                  <a:pt x="109" y="63"/>
                </a:lnTo>
                <a:lnTo>
                  <a:pt x="113" y="63"/>
                </a:lnTo>
                <a:lnTo>
                  <a:pt x="109" y="23"/>
                </a:lnTo>
                <a:lnTo>
                  <a:pt x="105" y="15"/>
                </a:lnTo>
                <a:lnTo>
                  <a:pt x="74" y="11"/>
                </a:lnTo>
                <a:lnTo>
                  <a:pt x="74" y="15"/>
                </a:lnTo>
                <a:lnTo>
                  <a:pt x="58" y="23"/>
                </a:lnTo>
                <a:lnTo>
                  <a:pt x="47" y="35"/>
                </a:lnTo>
                <a:lnTo>
                  <a:pt x="43" y="35"/>
                </a:lnTo>
                <a:lnTo>
                  <a:pt x="43" y="43"/>
                </a:lnTo>
                <a:lnTo>
                  <a:pt x="39" y="43"/>
                </a:lnTo>
                <a:lnTo>
                  <a:pt x="39" y="51"/>
                </a:lnTo>
                <a:lnTo>
                  <a:pt x="35" y="51"/>
                </a:lnTo>
                <a:lnTo>
                  <a:pt x="35" y="59"/>
                </a:lnTo>
                <a:lnTo>
                  <a:pt x="31" y="59"/>
                </a:lnTo>
                <a:lnTo>
                  <a:pt x="31" y="67"/>
                </a:lnTo>
                <a:lnTo>
                  <a:pt x="27" y="67"/>
                </a:lnTo>
                <a:lnTo>
                  <a:pt x="27" y="75"/>
                </a:lnTo>
                <a:lnTo>
                  <a:pt x="15" y="75"/>
                </a:lnTo>
                <a:lnTo>
                  <a:pt x="19" y="71"/>
                </a:lnTo>
                <a:lnTo>
                  <a:pt x="19" y="59"/>
                </a:lnTo>
                <a:lnTo>
                  <a:pt x="23" y="59"/>
                </a:lnTo>
                <a:lnTo>
                  <a:pt x="23" y="51"/>
                </a:lnTo>
                <a:lnTo>
                  <a:pt x="27" y="51"/>
                </a:lnTo>
                <a:lnTo>
                  <a:pt x="27" y="43"/>
                </a:lnTo>
                <a:lnTo>
                  <a:pt x="31" y="43"/>
                </a:lnTo>
                <a:lnTo>
                  <a:pt x="35" y="39"/>
                </a:lnTo>
                <a:lnTo>
                  <a:pt x="35" y="31"/>
                </a:lnTo>
                <a:lnTo>
                  <a:pt x="39" y="31"/>
                </a:lnTo>
                <a:lnTo>
                  <a:pt x="58" y="11"/>
                </a:lnTo>
                <a:lnTo>
                  <a:pt x="74" y="3"/>
                </a:lnTo>
                <a:lnTo>
                  <a:pt x="109" y="0"/>
                </a:lnTo>
                <a:lnTo>
                  <a:pt x="109" y="3"/>
                </a:lnTo>
                <a:lnTo>
                  <a:pt x="117" y="7"/>
                </a:lnTo>
                <a:lnTo>
                  <a:pt x="125" y="15"/>
                </a:lnTo>
                <a:lnTo>
                  <a:pt x="133" y="31"/>
                </a:lnTo>
                <a:lnTo>
                  <a:pt x="137" y="35"/>
                </a:lnTo>
                <a:lnTo>
                  <a:pt x="141" y="35"/>
                </a:lnTo>
                <a:lnTo>
                  <a:pt x="141" y="27"/>
                </a:lnTo>
                <a:lnTo>
                  <a:pt x="144" y="27"/>
                </a:lnTo>
                <a:lnTo>
                  <a:pt x="152" y="19"/>
                </a:lnTo>
                <a:lnTo>
                  <a:pt x="152" y="11"/>
                </a:lnTo>
                <a:lnTo>
                  <a:pt x="160" y="11"/>
                </a:lnTo>
                <a:lnTo>
                  <a:pt x="164" y="7"/>
                </a:lnTo>
                <a:lnTo>
                  <a:pt x="172" y="3"/>
                </a:lnTo>
                <a:lnTo>
                  <a:pt x="207" y="0"/>
                </a:lnTo>
                <a:lnTo>
                  <a:pt x="207" y="4"/>
                </a:lnTo>
                <a:lnTo>
                  <a:pt x="215" y="7"/>
                </a:lnTo>
                <a:lnTo>
                  <a:pt x="223" y="15"/>
                </a:lnTo>
                <a:lnTo>
                  <a:pt x="227" y="39"/>
                </a:lnTo>
                <a:lnTo>
                  <a:pt x="223" y="39"/>
                </a:lnTo>
                <a:lnTo>
                  <a:pt x="223" y="47"/>
                </a:lnTo>
                <a:lnTo>
                  <a:pt x="219" y="51"/>
                </a:lnTo>
                <a:lnTo>
                  <a:pt x="195" y="51"/>
                </a:lnTo>
                <a:lnTo>
                  <a:pt x="191" y="47"/>
                </a:lnTo>
                <a:lnTo>
                  <a:pt x="188" y="39"/>
                </a:lnTo>
                <a:lnTo>
                  <a:pt x="191" y="35"/>
                </a:lnTo>
                <a:lnTo>
                  <a:pt x="191" y="27"/>
                </a:lnTo>
                <a:lnTo>
                  <a:pt x="195" y="27"/>
                </a:lnTo>
                <a:lnTo>
                  <a:pt x="199" y="23"/>
                </a:lnTo>
                <a:lnTo>
                  <a:pt x="207" y="19"/>
                </a:lnTo>
                <a:lnTo>
                  <a:pt x="211" y="15"/>
                </a:lnTo>
                <a:lnTo>
                  <a:pt x="172" y="11"/>
                </a:lnTo>
                <a:lnTo>
                  <a:pt x="172" y="15"/>
                </a:lnTo>
                <a:lnTo>
                  <a:pt x="156" y="31"/>
                </a:lnTo>
                <a:lnTo>
                  <a:pt x="152" y="31"/>
                </a:lnTo>
                <a:lnTo>
                  <a:pt x="152" y="39"/>
                </a:lnTo>
                <a:lnTo>
                  <a:pt x="148" y="39"/>
                </a:lnTo>
                <a:lnTo>
                  <a:pt x="148" y="47"/>
                </a:lnTo>
                <a:lnTo>
                  <a:pt x="144" y="47"/>
                </a:lnTo>
                <a:lnTo>
                  <a:pt x="144" y="55"/>
                </a:lnTo>
                <a:lnTo>
                  <a:pt x="141" y="55"/>
                </a:lnTo>
                <a:lnTo>
                  <a:pt x="141" y="71"/>
                </a:lnTo>
                <a:lnTo>
                  <a:pt x="137" y="71"/>
                </a:lnTo>
                <a:lnTo>
                  <a:pt x="137" y="87"/>
                </a:lnTo>
                <a:lnTo>
                  <a:pt x="133" y="87"/>
                </a:lnTo>
                <a:lnTo>
                  <a:pt x="133" y="103"/>
                </a:lnTo>
                <a:lnTo>
                  <a:pt x="129" y="103"/>
                </a:lnTo>
                <a:lnTo>
                  <a:pt x="129" y="119"/>
                </a:lnTo>
                <a:lnTo>
                  <a:pt x="125" y="119"/>
                </a:lnTo>
                <a:lnTo>
                  <a:pt x="125" y="139"/>
                </a:lnTo>
                <a:lnTo>
                  <a:pt x="121" y="139"/>
                </a:lnTo>
                <a:lnTo>
                  <a:pt x="121" y="171"/>
                </a:lnTo>
                <a:lnTo>
                  <a:pt x="117" y="175"/>
                </a:lnTo>
                <a:lnTo>
                  <a:pt x="125" y="199"/>
                </a:lnTo>
                <a:lnTo>
                  <a:pt x="129" y="203"/>
                </a:lnTo>
                <a:lnTo>
                  <a:pt x="160" y="203"/>
                </a:lnTo>
                <a:lnTo>
                  <a:pt x="164" y="199"/>
                </a:lnTo>
                <a:lnTo>
                  <a:pt x="172" y="195"/>
                </a:lnTo>
                <a:lnTo>
                  <a:pt x="184" y="183"/>
                </a:lnTo>
                <a:lnTo>
                  <a:pt x="184" y="175"/>
                </a:lnTo>
                <a:lnTo>
                  <a:pt x="188" y="175"/>
                </a:lnTo>
                <a:lnTo>
                  <a:pt x="195" y="167"/>
                </a:lnTo>
                <a:lnTo>
                  <a:pt x="195" y="159"/>
                </a:lnTo>
                <a:lnTo>
                  <a:pt x="199" y="159"/>
                </a:lnTo>
                <a:lnTo>
                  <a:pt x="199" y="151"/>
                </a:lnTo>
                <a:lnTo>
                  <a:pt x="203" y="151"/>
                </a:lnTo>
                <a:lnTo>
                  <a:pt x="203" y="139"/>
                </a:lnTo>
                <a:lnTo>
                  <a:pt x="211" y="139"/>
                </a:lnTo>
                <a:lnTo>
                  <a:pt x="211" y="155"/>
                </a:lnTo>
                <a:lnTo>
                  <a:pt x="207" y="155"/>
                </a:lnTo>
                <a:lnTo>
                  <a:pt x="207" y="163"/>
                </a:lnTo>
                <a:lnTo>
                  <a:pt x="203" y="163"/>
                </a:lnTo>
                <a:lnTo>
                  <a:pt x="203" y="171"/>
                </a:lnTo>
                <a:lnTo>
                  <a:pt x="199" y="171"/>
                </a:lnTo>
                <a:lnTo>
                  <a:pt x="199" y="179"/>
                </a:lnTo>
                <a:lnTo>
                  <a:pt x="172" y="207"/>
                </a:lnTo>
                <a:lnTo>
                  <a:pt x="164" y="211"/>
                </a:lnTo>
                <a:lnTo>
                  <a:pt x="121" y="211"/>
                </a:lnTo>
                <a:lnTo>
                  <a:pt x="113" y="207"/>
                </a:lnTo>
                <a:lnTo>
                  <a:pt x="109" y="203"/>
                </a:lnTo>
                <a:lnTo>
                  <a:pt x="101" y="199"/>
                </a:lnTo>
                <a:lnTo>
                  <a:pt x="97" y="195"/>
                </a:lnTo>
                <a:lnTo>
                  <a:pt x="90" y="179"/>
                </a:lnTo>
                <a:lnTo>
                  <a:pt x="90" y="183"/>
                </a:lnTo>
                <a:lnTo>
                  <a:pt x="86" y="187"/>
                </a:lnTo>
                <a:lnTo>
                  <a:pt x="82" y="187"/>
                </a:lnTo>
                <a:lnTo>
                  <a:pt x="82" y="195"/>
                </a:lnTo>
                <a:lnTo>
                  <a:pt x="70" y="207"/>
                </a:lnTo>
                <a:lnTo>
                  <a:pt x="62" y="211"/>
                </a:lnTo>
                <a:lnTo>
                  <a:pt x="27" y="211"/>
                </a:lnTo>
                <a:close/>
              </a:path>
            </a:pathLst>
          </a:custGeom>
          <a:solidFill>
            <a:srgbClr val="000000">
              <a:alpha val="100000"/>
            </a:srgbClr>
          </a:solidFill>
          <a:ln cap="flat">
            <a:noFill/>
            <a:prstDash val="solid"/>
            <a:miter lim="0"/>
          </a:ln>
        </p:spPr>
        <p:txBody>
          <a:bodyPr rtlCol="0"/>
          <a:p>
            <a:pPr algn="ctr"/>
            <a:endParaRPr lang="zh-CN" altLang="en-US"/>
          </a:p>
        </p:txBody>
      </p:sp>
      <p:sp>
        <p:nvSpPr>
          <p:cNvPr id="1049431" name="path"/>
          <p:cNvSpPr/>
          <p:nvPr/>
        </p:nvSpPr>
        <p:spPr>
          <a:xfrm>
            <a:off x="3000648" y="1224996"/>
            <a:ext cx="145960" cy="133256"/>
          </a:xfrm>
          <a:custGeom>
            <a:avLst/>
            <a:gdLst/>
            <a:ahLst/>
            <a:cxnLst/>
            <a:rect l="0" t="0" r="0" b="0"/>
            <a:pathLst>
              <a:path w="229" h="209">
                <a:moveTo>
                  <a:pt x="27" y="209"/>
                </a:moveTo>
                <a:lnTo>
                  <a:pt x="15" y="205"/>
                </a:lnTo>
                <a:lnTo>
                  <a:pt x="7" y="201"/>
                </a:lnTo>
                <a:lnTo>
                  <a:pt x="3" y="197"/>
                </a:lnTo>
                <a:lnTo>
                  <a:pt x="0" y="186"/>
                </a:lnTo>
                <a:lnTo>
                  <a:pt x="3" y="182"/>
                </a:lnTo>
                <a:lnTo>
                  <a:pt x="3" y="170"/>
                </a:lnTo>
                <a:lnTo>
                  <a:pt x="7" y="170"/>
                </a:lnTo>
                <a:lnTo>
                  <a:pt x="15" y="166"/>
                </a:lnTo>
                <a:lnTo>
                  <a:pt x="39" y="162"/>
                </a:lnTo>
                <a:lnTo>
                  <a:pt x="39" y="186"/>
                </a:lnTo>
                <a:lnTo>
                  <a:pt x="31" y="194"/>
                </a:lnTo>
                <a:lnTo>
                  <a:pt x="19" y="197"/>
                </a:lnTo>
                <a:lnTo>
                  <a:pt x="31" y="201"/>
                </a:lnTo>
                <a:lnTo>
                  <a:pt x="59" y="201"/>
                </a:lnTo>
                <a:lnTo>
                  <a:pt x="63" y="197"/>
                </a:lnTo>
                <a:lnTo>
                  <a:pt x="71" y="194"/>
                </a:lnTo>
                <a:lnTo>
                  <a:pt x="75" y="190"/>
                </a:lnTo>
                <a:lnTo>
                  <a:pt x="75" y="182"/>
                </a:lnTo>
                <a:lnTo>
                  <a:pt x="79" y="182"/>
                </a:lnTo>
                <a:lnTo>
                  <a:pt x="83" y="178"/>
                </a:lnTo>
                <a:lnTo>
                  <a:pt x="83" y="170"/>
                </a:lnTo>
                <a:lnTo>
                  <a:pt x="87" y="170"/>
                </a:lnTo>
                <a:lnTo>
                  <a:pt x="87" y="158"/>
                </a:lnTo>
                <a:lnTo>
                  <a:pt x="91" y="158"/>
                </a:lnTo>
                <a:lnTo>
                  <a:pt x="91" y="146"/>
                </a:lnTo>
                <a:lnTo>
                  <a:pt x="95" y="146"/>
                </a:lnTo>
                <a:lnTo>
                  <a:pt x="95" y="130"/>
                </a:lnTo>
                <a:lnTo>
                  <a:pt x="99" y="130"/>
                </a:lnTo>
                <a:lnTo>
                  <a:pt x="99" y="114"/>
                </a:lnTo>
                <a:lnTo>
                  <a:pt x="103" y="114"/>
                </a:lnTo>
                <a:lnTo>
                  <a:pt x="103" y="98"/>
                </a:lnTo>
                <a:lnTo>
                  <a:pt x="107" y="98"/>
                </a:lnTo>
                <a:lnTo>
                  <a:pt x="107" y="83"/>
                </a:lnTo>
                <a:lnTo>
                  <a:pt x="110" y="83"/>
                </a:lnTo>
                <a:lnTo>
                  <a:pt x="110" y="63"/>
                </a:lnTo>
                <a:lnTo>
                  <a:pt x="114" y="63"/>
                </a:lnTo>
                <a:lnTo>
                  <a:pt x="110" y="23"/>
                </a:lnTo>
                <a:lnTo>
                  <a:pt x="107" y="15"/>
                </a:lnTo>
                <a:lnTo>
                  <a:pt x="75" y="11"/>
                </a:lnTo>
                <a:lnTo>
                  <a:pt x="75" y="15"/>
                </a:lnTo>
                <a:lnTo>
                  <a:pt x="59" y="23"/>
                </a:lnTo>
                <a:lnTo>
                  <a:pt x="55" y="27"/>
                </a:lnTo>
                <a:lnTo>
                  <a:pt x="51" y="27"/>
                </a:lnTo>
                <a:lnTo>
                  <a:pt x="51" y="35"/>
                </a:lnTo>
                <a:lnTo>
                  <a:pt x="43" y="43"/>
                </a:lnTo>
                <a:lnTo>
                  <a:pt x="39" y="43"/>
                </a:lnTo>
                <a:lnTo>
                  <a:pt x="39" y="51"/>
                </a:lnTo>
                <a:lnTo>
                  <a:pt x="35" y="51"/>
                </a:lnTo>
                <a:lnTo>
                  <a:pt x="35" y="63"/>
                </a:lnTo>
                <a:lnTo>
                  <a:pt x="31" y="63"/>
                </a:lnTo>
                <a:lnTo>
                  <a:pt x="31" y="71"/>
                </a:lnTo>
                <a:lnTo>
                  <a:pt x="27" y="75"/>
                </a:lnTo>
                <a:lnTo>
                  <a:pt x="15" y="75"/>
                </a:lnTo>
                <a:lnTo>
                  <a:pt x="19" y="71"/>
                </a:lnTo>
                <a:lnTo>
                  <a:pt x="19" y="59"/>
                </a:lnTo>
                <a:lnTo>
                  <a:pt x="23" y="59"/>
                </a:lnTo>
                <a:lnTo>
                  <a:pt x="23" y="51"/>
                </a:lnTo>
                <a:lnTo>
                  <a:pt x="27" y="51"/>
                </a:lnTo>
                <a:lnTo>
                  <a:pt x="27" y="43"/>
                </a:lnTo>
                <a:lnTo>
                  <a:pt x="31" y="43"/>
                </a:lnTo>
                <a:lnTo>
                  <a:pt x="35" y="39"/>
                </a:lnTo>
                <a:lnTo>
                  <a:pt x="35" y="31"/>
                </a:lnTo>
                <a:lnTo>
                  <a:pt x="39" y="31"/>
                </a:lnTo>
                <a:lnTo>
                  <a:pt x="59" y="11"/>
                </a:lnTo>
                <a:lnTo>
                  <a:pt x="75" y="3"/>
                </a:lnTo>
                <a:lnTo>
                  <a:pt x="110" y="0"/>
                </a:lnTo>
                <a:lnTo>
                  <a:pt x="110" y="3"/>
                </a:lnTo>
                <a:lnTo>
                  <a:pt x="118" y="7"/>
                </a:lnTo>
                <a:lnTo>
                  <a:pt x="126" y="15"/>
                </a:lnTo>
                <a:lnTo>
                  <a:pt x="134" y="31"/>
                </a:lnTo>
                <a:lnTo>
                  <a:pt x="138" y="35"/>
                </a:lnTo>
                <a:lnTo>
                  <a:pt x="142" y="35"/>
                </a:lnTo>
                <a:lnTo>
                  <a:pt x="146" y="31"/>
                </a:lnTo>
                <a:lnTo>
                  <a:pt x="146" y="23"/>
                </a:lnTo>
                <a:lnTo>
                  <a:pt x="150" y="23"/>
                </a:lnTo>
                <a:lnTo>
                  <a:pt x="166" y="7"/>
                </a:lnTo>
                <a:lnTo>
                  <a:pt x="174" y="3"/>
                </a:lnTo>
                <a:lnTo>
                  <a:pt x="210" y="0"/>
                </a:lnTo>
                <a:lnTo>
                  <a:pt x="210" y="3"/>
                </a:lnTo>
                <a:lnTo>
                  <a:pt x="217" y="7"/>
                </a:lnTo>
                <a:lnTo>
                  <a:pt x="225" y="15"/>
                </a:lnTo>
                <a:lnTo>
                  <a:pt x="229" y="39"/>
                </a:lnTo>
                <a:lnTo>
                  <a:pt x="225" y="39"/>
                </a:lnTo>
                <a:lnTo>
                  <a:pt x="225" y="47"/>
                </a:lnTo>
                <a:lnTo>
                  <a:pt x="221" y="51"/>
                </a:lnTo>
                <a:lnTo>
                  <a:pt x="198" y="51"/>
                </a:lnTo>
                <a:lnTo>
                  <a:pt x="194" y="47"/>
                </a:lnTo>
                <a:lnTo>
                  <a:pt x="190" y="39"/>
                </a:lnTo>
                <a:lnTo>
                  <a:pt x="194" y="35"/>
                </a:lnTo>
                <a:lnTo>
                  <a:pt x="194" y="27"/>
                </a:lnTo>
                <a:lnTo>
                  <a:pt x="198" y="27"/>
                </a:lnTo>
                <a:lnTo>
                  <a:pt x="202" y="23"/>
                </a:lnTo>
                <a:lnTo>
                  <a:pt x="210" y="19"/>
                </a:lnTo>
                <a:lnTo>
                  <a:pt x="214" y="15"/>
                </a:lnTo>
                <a:lnTo>
                  <a:pt x="174" y="11"/>
                </a:lnTo>
                <a:lnTo>
                  <a:pt x="174" y="15"/>
                </a:lnTo>
                <a:lnTo>
                  <a:pt x="158" y="31"/>
                </a:lnTo>
                <a:lnTo>
                  <a:pt x="154" y="31"/>
                </a:lnTo>
                <a:lnTo>
                  <a:pt x="154" y="39"/>
                </a:lnTo>
                <a:lnTo>
                  <a:pt x="150" y="39"/>
                </a:lnTo>
                <a:lnTo>
                  <a:pt x="150" y="47"/>
                </a:lnTo>
                <a:lnTo>
                  <a:pt x="146" y="47"/>
                </a:lnTo>
                <a:lnTo>
                  <a:pt x="146" y="55"/>
                </a:lnTo>
                <a:lnTo>
                  <a:pt x="142" y="55"/>
                </a:lnTo>
                <a:lnTo>
                  <a:pt x="142" y="71"/>
                </a:lnTo>
                <a:lnTo>
                  <a:pt x="138" y="71"/>
                </a:lnTo>
                <a:lnTo>
                  <a:pt x="138" y="87"/>
                </a:lnTo>
                <a:lnTo>
                  <a:pt x="134" y="87"/>
                </a:lnTo>
                <a:lnTo>
                  <a:pt x="134" y="102"/>
                </a:lnTo>
                <a:lnTo>
                  <a:pt x="130" y="102"/>
                </a:lnTo>
                <a:lnTo>
                  <a:pt x="130" y="118"/>
                </a:lnTo>
                <a:lnTo>
                  <a:pt x="126" y="118"/>
                </a:lnTo>
                <a:lnTo>
                  <a:pt x="126" y="138"/>
                </a:lnTo>
                <a:lnTo>
                  <a:pt x="122" y="138"/>
                </a:lnTo>
                <a:lnTo>
                  <a:pt x="122" y="170"/>
                </a:lnTo>
                <a:lnTo>
                  <a:pt x="118" y="174"/>
                </a:lnTo>
                <a:lnTo>
                  <a:pt x="126" y="197"/>
                </a:lnTo>
                <a:lnTo>
                  <a:pt x="130" y="201"/>
                </a:lnTo>
                <a:lnTo>
                  <a:pt x="162" y="201"/>
                </a:lnTo>
                <a:lnTo>
                  <a:pt x="166" y="197"/>
                </a:lnTo>
                <a:lnTo>
                  <a:pt x="174" y="194"/>
                </a:lnTo>
                <a:lnTo>
                  <a:pt x="186" y="182"/>
                </a:lnTo>
                <a:lnTo>
                  <a:pt x="186" y="174"/>
                </a:lnTo>
                <a:lnTo>
                  <a:pt x="190" y="174"/>
                </a:lnTo>
                <a:lnTo>
                  <a:pt x="198" y="166"/>
                </a:lnTo>
                <a:lnTo>
                  <a:pt x="198" y="158"/>
                </a:lnTo>
                <a:lnTo>
                  <a:pt x="202" y="158"/>
                </a:lnTo>
                <a:lnTo>
                  <a:pt x="202" y="150"/>
                </a:lnTo>
                <a:lnTo>
                  <a:pt x="206" y="150"/>
                </a:lnTo>
                <a:lnTo>
                  <a:pt x="206" y="138"/>
                </a:lnTo>
                <a:lnTo>
                  <a:pt x="214" y="138"/>
                </a:lnTo>
                <a:lnTo>
                  <a:pt x="214" y="154"/>
                </a:lnTo>
                <a:lnTo>
                  <a:pt x="210" y="154"/>
                </a:lnTo>
                <a:lnTo>
                  <a:pt x="210" y="162"/>
                </a:lnTo>
                <a:lnTo>
                  <a:pt x="206" y="162"/>
                </a:lnTo>
                <a:lnTo>
                  <a:pt x="206" y="170"/>
                </a:lnTo>
                <a:lnTo>
                  <a:pt x="202" y="170"/>
                </a:lnTo>
                <a:lnTo>
                  <a:pt x="202" y="178"/>
                </a:lnTo>
                <a:lnTo>
                  <a:pt x="174" y="205"/>
                </a:lnTo>
                <a:lnTo>
                  <a:pt x="166" y="209"/>
                </a:lnTo>
                <a:lnTo>
                  <a:pt x="122" y="209"/>
                </a:lnTo>
                <a:lnTo>
                  <a:pt x="114" y="205"/>
                </a:lnTo>
                <a:lnTo>
                  <a:pt x="110" y="201"/>
                </a:lnTo>
                <a:lnTo>
                  <a:pt x="103" y="197"/>
                </a:lnTo>
                <a:lnTo>
                  <a:pt x="99" y="194"/>
                </a:lnTo>
                <a:lnTo>
                  <a:pt x="91" y="178"/>
                </a:lnTo>
                <a:lnTo>
                  <a:pt x="91" y="182"/>
                </a:lnTo>
                <a:lnTo>
                  <a:pt x="87" y="186"/>
                </a:lnTo>
                <a:lnTo>
                  <a:pt x="83" y="186"/>
                </a:lnTo>
                <a:lnTo>
                  <a:pt x="83" y="194"/>
                </a:lnTo>
                <a:lnTo>
                  <a:pt x="71" y="205"/>
                </a:lnTo>
                <a:lnTo>
                  <a:pt x="63" y="209"/>
                </a:lnTo>
                <a:lnTo>
                  <a:pt x="27" y="209"/>
                </a:lnTo>
                <a:close/>
              </a:path>
            </a:pathLst>
          </a:custGeom>
          <a:solidFill>
            <a:srgbClr val="000000">
              <a:alpha val="100000"/>
            </a:srgbClr>
          </a:solidFill>
          <a:ln cap="flat">
            <a:noFill/>
            <a:prstDash val="solid"/>
            <a:miter lim="0"/>
          </a:ln>
        </p:spPr>
        <p:txBody>
          <a:bodyPr rtlCol="0"/>
          <a:p>
            <a:pPr algn="ctr"/>
            <a:endParaRPr lang="zh-CN" altLang="en-US"/>
          </a:p>
        </p:txBody>
      </p:sp>
      <p:graphicFrame>
        <p:nvGraphicFramePr>
          <p:cNvPr id="4194333" name="table 202"/>
          <p:cNvGraphicFramePr>
            <a:graphicFrameLocks noGrp="1"/>
          </p:cNvGraphicFramePr>
          <p:nvPr/>
        </p:nvGraphicFramePr>
        <p:xfrm>
          <a:off x="2063486" y="4192523"/>
          <a:ext cx="6985634" cy="873125"/>
        </p:xfrm>
        <a:graphic>
          <a:graphicData uri="http://schemas.openxmlformats.org/drawingml/2006/table">
            <a:tbl>
              <a:tblPr/>
              <a:tblGrid>
                <a:gridCol w="1511300"/>
                <a:gridCol w="5474334"/>
              </a:tblGrid>
              <a:tr h="445134">
                <a:tc>
                  <a:txBody>
                    <a:bodyPr/>
                    <a:p>
                      <a:pPr algn="l" rtl="0" eaLnBrk="0">
                        <a:lnSpc>
                          <a:spcPct val="110000"/>
                        </a:lnSpc>
                      </a:pPr>
                      <a:endParaRPr lang="en-US" altLang="en-US" sz="500" dirty="0"/>
                    </a:p>
                    <a:p>
                      <a:pPr marL="218440" algn="l" rtl="0" eaLnBrk="0">
                        <a:lnSpc>
                          <a:spcPct val="95000"/>
                        </a:lnSpc>
                        <a:spcBef>
                          <a:spcPts val="0"/>
                        </a:spcBef>
                      </a:pPr>
                      <a:r>
                        <a:rPr sz="2400" kern="0" spc="-6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明文字母</a:t>
                      </a:r>
                      <a:endParaRPr lang="en-US" altLang="en-US" sz="2400" dirty="0"/>
                    </a:p>
                  </a:txBody>
                  <a:tcPr marL="0" marR="0" marT="0" marB="0" vert="horz">
                    <a:lnL>
                      <a:noFill/>
                    </a:lnL>
                    <a:lnR w="6350" cap="flat" cmpd="sng" algn="ctr">
                      <a:solidFill>
                        <a:srgbClr val="000000"/>
                      </a:solidFill>
                      <a:prstDash val="solid"/>
                      <a:round/>
                      <a:headEnd type="none" w="med" len="med"/>
                      <a:tailEnd type="none" w="med" len="med"/>
                    </a:lnR>
                    <a:lnT w="15875" cap="flat" cmpd="sng" algn="ctr">
                      <a:solidFill>
                        <a:srgbClr val="000000"/>
                      </a:solidFill>
                      <a:prstDash val="solid"/>
                      <a:round/>
                      <a:headEnd type="none" w="med" len="med"/>
                      <a:tailEnd type="none" w="med" len="med"/>
                    </a:lnT>
                    <a:lnB w="22225" cap="flat" cmpd="sng" algn="ctr">
                      <a:solidFill>
                        <a:srgbClr val="000000"/>
                      </a:solidFill>
                      <a:prstDash val="solid"/>
                      <a:round/>
                      <a:headEnd type="none" w="med" len="med"/>
                      <a:tailEnd type="none" w="med" len="med"/>
                    </a:lnB>
                  </a:tcPr>
                </a:tc>
                <a:tc>
                  <a:txBody>
                    <a:bodyPr/>
                    <a:p>
                      <a:pPr algn="l" rtl="0" eaLnBrk="0">
                        <a:lnSpc>
                          <a:spcPct val="100000"/>
                        </a:lnSpc>
                      </a:pPr>
                      <a:endParaRPr lang="en-US" altLang="en-US" sz="1000" dirty="0"/>
                    </a:p>
                    <a:p>
                      <a:pPr algn="l" rtl="0" eaLnBrk="0">
                        <a:lnSpc>
                          <a:spcPct val="7000"/>
                        </a:lnSpc>
                      </a:pPr>
                      <a:endParaRPr lang="en-US" altLang="en-US" sz="100" dirty="0"/>
                    </a:p>
                    <a:p>
                      <a:pPr marL="57785" algn="l" rtl="0" eaLnBrk="0">
                        <a:lnSpc>
                          <a:spcPct val="78000"/>
                        </a:lnSpc>
                      </a:pPr>
                      <a:r>
                        <a:rPr sz="2400" b="1" kern="0" spc="0" dirty="0">
                          <a:solidFill>
                            <a:srgbClr val="000000">
                              <a:alpha val="100000"/>
                            </a:srgbClr>
                          </a:solidFill>
                          <a:latin typeface="Courier New" panose="02070309020205020404"/>
                          <a:ea typeface="Courier New" panose="02070309020205020404"/>
                          <a:cs typeface="Courier New" panose="02070309020205020404"/>
                        </a:rPr>
                        <a:t>ABCDEFGHIJKLMNOPQRSTUVWXYZ</a:t>
                      </a:r>
                      <a:endParaRPr lang="en-US" altLang="en-US" sz="2400" dirty="0"/>
                    </a:p>
                  </a:txBody>
                  <a:tcPr marL="0" marR="0" marT="0" marB="0" vert="horz">
                    <a:lnL w="6350" cap="flat" cmpd="sng" algn="ctr">
                      <a:solidFill>
                        <a:srgbClr val="000000"/>
                      </a:solidFill>
                      <a:prstDash val="solid"/>
                      <a:round/>
                      <a:headEnd type="none" w="med" len="med"/>
                      <a:tailEnd type="none" w="med" len="med"/>
                    </a:lnL>
                    <a:lnR>
                      <a:noFill/>
                      <a:headEnd type="none" w="med" len="med"/>
                      <a:tailEnd type="none" w="med" len="med"/>
                    </a:lnR>
                    <a:lnT w="15875" cap="flat" cmpd="sng" algn="ctr">
                      <a:solidFill>
                        <a:srgbClr val="000000"/>
                      </a:solidFill>
                      <a:prstDash val="solid"/>
                      <a:round/>
                      <a:headEnd type="none" w="med" len="med"/>
                      <a:tailEnd type="none" w="med" len="med"/>
                    </a:lnT>
                    <a:lnB w="22225" cap="flat" cmpd="sng" algn="ctr">
                      <a:solidFill>
                        <a:srgbClr val="000000"/>
                      </a:solidFill>
                      <a:prstDash val="solid"/>
                      <a:round/>
                      <a:headEnd type="none" w="med" len="med"/>
                      <a:tailEnd type="none" w="med" len="med"/>
                    </a:lnB>
                  </a:tcPr>
                </a:tc>
              </a:tr>
              <a:tr h="427990">
                <a:tc>
                  <a:txBody>
                    <a:bodyPr/>
                    <a:p>
                      <a:pPr algn="l" rtl="0" eaLnBrk="0">
                        <a:lnSpc>
                          <a:spcPct val="100000"/>
                        </a:lnSpc>
                      </a:pPr>
                      <a:endParaRPr lang="en-US" altLang="en-US" sz="200" dirty="0"/>
                    </a:p>
                    <a:p>
                      <a:pPr marL="214630" algn="l" rtl="0" eaLnBrk="0">
                        <a:lnSpc>
                          <a:spcPct val="95000"/>
                        </a:lnSpc>
                        <a:spcBef>
                          <a:spcPts val="0"/>
                        </a:spcBef>
                      </a:pPr>
                      <a:r>
                        <a:rPr sz="2400" kern="0" spc="-5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密文字母</a:t>
                      </a:r>
                      <a:endParaRPr lang="en-US" altLang="en-US" sz="2400" dirty="0"/>
                    </a:p>
                  </a:txBody>
                  <a:tcPr marL="0" marR="0" marT="0" marB="0" vert="horz">
                    <a:lnL>
                      <a:noFill/>
                    </a:lnL>
                    <a:lnR w="6350" cap="flat" cmpd="sng" algn="ctr">
                      <a:solidFill>
                        <a:srgbClr val="000000"/>
                      </a:solidFill>
                      <a:prstDash val="solid"/>
                      <a:round/>
                      <a:headEnd type="none" w="med" len="med"/>
                      <a:tailEnd type="none" w="med" len="med"/>
                    </a:lnR>
                    <a:lnT w="22225"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p>
                      <a:pPr algn="l" rtl="0" eaLnBrk="0">
                        <a:lnSpc>
                          <a:spcPct val="109000"/>
                        </a:lnSpc>
                      </a:pPr>
                      <a:endParaRPr lang="en-US" altLang="en-US" sz="600" dirty="0"/>
                    </a:p>
                    <a:p>
                      <a:pPr marL="67945" algn="l" rtl="0" eaLnBrk="0">
                        <a:lnSpc>
                          <a:spcPct val="78000"/>
                        </a:lnSpc>
                        <a:spcBef>
                          <a:spcPts val="5"/>
                        </a:spcBef>
                      </a:pPr>
                      <a:r>
                        <a:rPr sz="2400" b="1" kern="0" spc="0" dirty="0">
                          <a:solidFill>
                            <a:srgbClr val="008000">
                              <a:alpha val="100000"/>
                            </a:srgbClr>
                          </a:solidFill>
                          <a:latin typeface="Courier New" panose="02070309020205020404"/>
                          <a:ea typeface="Courier New" panose="02070309020205020404"/>
                          <a:cs typeface="Courier New" panose="02070309020205020404"/>
                        </a:rPr>
                        <a:t>DEFGHIJKLMNOPQRSTU</a:t>
                      </a:r>
                      <a:r>
                        <a:rPr sz="2400" b="1" kern="0" spc="-10" dirty="0">
                          <a:solidFill>
                            <a:srgbClr val="008000">
                              <a:alpha val="100000"/>
                            </a:srgbClr>
                          </a:solidFill>
                          <a:latin typeface="Courier New" panose="02070309020205020404"/>
                          <a:ea typeface="Courier New" panose="02070309020205020404"/>
                          <a:cs typeface="Courier New" panose="02070309020205020404"/>
                        </a:rPr>
                        <a:t>VWXYZ</a:t>
                      </a:r>
                      <a:r>
                        <a:rPr sz="2400" b="1" kern="0" spc="-10" dirty="0">
                          <a:solidFill>
                            <a:srgbClr val="FF3300">
                              <a:alpha val="100000"/>
                            </a:srgbClr>
                          </a:solidFill>
                          <a:latin typeface="Courier New" panose="02070309020205020404"/>
                          <a:ea typeface="Courier New" panose="02070309020205020404"/>
                          <a:cs typeface="Courier New" panose="02070309020205020404"/>
                        </a:rPr>
                        <a:t>ABC</a:t>
                      </a:r>
                      <a:endParaRPr lang="en-US" altLang="en-US" sz="2400" dirty="0"/>
                    </a:p>
                  </a:txBody>
                  <a:tcPr marL="0" marR="0" marT="0" marB="0" vert="horz">
                    <a:lnL w="6350" cap="flat" cmpd="sng" algn="ctr">
                      <a:solidFill>
                        <a:srgbClr val="000000"/>
                      </a:solidFill>
                      <a:prstDash val="solid"/>
                      <a:round/>
                      <a:headEnd type="none" w="med" len="med"/>
                      <a:tailEnd type="none" w="med" len="med"/>
                    </a:lnL>
                    <a:lnR>
                      <a:noFill/>
                      <a:headEnd type="none" w="med" len="med"/>
                      <a:tailEnd type="none" w="med" len="med"/>
                    </a:lnR>
                    <a:lnT w="22225"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1049432" name="textbox 204"/>
          <p:cNvSpPr/>
          <p:nvPr/>
        </p:nvSpPr>
        <p:spPr>
          <a:xfrm>
            <a:off x="1734820" y="501650"/>
            <a:ext cx="7454265" cy="482600"/>
          </a:xfrm>
          <a:prstGeom prst="rect">
            <a:avLst/>
          </a:prstGeom>
          <a:solidFill>
            <a:srgbClr val="FF0000"/>
          </a:solidFill>
        </p:spPr>
        <p:txBody>
          <a:bodyPr vert="horz" wrap="square" lIns="0" tIns="0" rIns="0" bIns="0"/>
          <a:p>
            <a:pPr algn="l" rtl="0" eaLnBrk="0">
              <a:lnSpc>
                <a:spcPct val="73000"/>
              </a:lnSpc>
            </a:pPr>
            <a:endParaRPr lang="en-US" altLang="en-US" sz="100" dirty="0"/>
          </a:p>
          <a:p>
            <a:pPr marL="12700" algn="l" rtl="0" eaLnBrk="0">
              <a:lnSpc>
                <a:spcPct val="94000"/>
              </a:lnSpc>
            </a:pPr>
            <a:r>
              <a:rPr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单表代替密码——</a:t>
            </a:r>
            <a:r>
              <a:rPr lang="zh-CN"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加法</a:t>
            </a:r>
            <a:r>
              <a:rPr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a:t>
            </a:r>
            <a:r>
              <a:rPr lang="en-US"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 Caesar</a:t>
            </a:r>
            <a:r>
              <a:rPr lang="zh-CN" altLang="en-US"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a:t>
            </a:r>
            <a:endParaRPr lang="zh-CN" altLang="en-US"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049433" name="textbox 206"/>
          <p:cNvSpPr/>
          <p:nvPr/>
        </p:nvSpPr>
        <p:spPr>
          <a:xfrm>
            <a:off x="2246147" y="5263431"/>
            <a:ext cx="2654300" cy="787400"/>
          </a:xfrm>
          <a:prstGeom prst="rect">
            <a:avLst/>
          </a:prstGeom>
        </p:spPr>
        <p:txBody>
          <a:bodyPr vert="horz" wrap="square" lIns="0" tIns="0" rIns="0" bIns="0"/>
          <a:p>
            <a:pPr algn="l" rtl="0" eaLnBrk="0">
              <a:lnSpc>
                <a:spcPct val="83000"/>
              </a:lnSpc>
            </a:pPr>
            <a:endParaRPr lang="en-US" altLang="en-US" sz="100" dirty="0"/>
          </a:p>
          <a:p>
            <a:pPr marL="12700" algn="l" rtl="0" eaLnBrk="0">
              <a:lnSpc>
                <a:spcPts val="2900"/>
              </a:lnSpc>
            </a:pPr>
            <a:r>
              <a:rPr sz="2400" kern="0" spc="-180" dirty="0">
                <a:solidFill>
                  <a:srgbClr val="000000">
                    <a:alpha val="100000"/>
                  </a:srgbClr>
                </a:solidFill>
                <a:latin typeface="Arial" panose="020B0604020202020204"/>
                <a:ea typeface="Arial" panose="020B0604020202020204"/>
                <a:cs typeface="Arial" panose="020B0604020202020204"/>
              </a:rPr>
              <a:t>•</a:t>
            </a:r>
            <a:r>
              <a:rPr sz="2400" kern="0" spc="480" dirty="0">
                <a:solidFill>
                  <a:srgbClr val="000000">
                    <a:alpha val="100000"/>
                  </a:srgbClr>
                </a:solidFill>
                <a:latin typeface="Arial" panose="020B0604020202020204"/>
                <a:ea typeface="Arial" panose="020B0604020202020204"/>
                <a:cs typeface="Arial" panose="020B0604020202020204"/>
              </a:rPr>
              <a:t> </a:t>
            </a:r>
            <a:r>
              <a:rPr sz="2400" kern="0" spc="-180" dirty="0">
                <a:ln w="8717"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设明文为：</a:t>
            </a:r>
            <a:r>
              <a:rPr sz="2400" kern="0" spc="35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80" dirty="0">
                <a:ln w="8717" cap="flat" cmpd="sng">
                  <a:solidFill>
                    <a:srgbClr val="000000">
                      <a:alpha val="100000"/>
                    </a:srgbClr>
                  </a:solidFill>
                  <a:prstDash val="solid"/>
                  <a:miter lim="10"/>
                </a:ln>
                <a:solidFill>
                  <a:srgbClr val="000000">
                    <a:alpha val="100000"/>
                  </a:srgbClr>
                </a:solidFill>
                <a:latin typeface="Arial" panose="020B0604020202020204"/>
                <a:ea typeface="Arial" panose="020B0604020202020204"/>
                <a:cs typeface="Arial" panose="020B0604020202020204"/>
              </a:rPr>
              <a:t>LOVE</a:t>
            </a:r>
            <a:endParaRPr lang="en-US" altLang="en-US" sz="2400" dirty="0"/>
          </a:p>
          <a:p>
            <a:pPr marL="12700" algn="l" rtl="0" eaLnBrk="0">
              <a:lnSpc>
                <a:spcPts val="2895"/>
              </a:lnSpc>
              <a:spcBef>
                <a:spcPts val="200"/>
              </a:spcBef>
            </a:pPr>
            <a:r>
              <a:rPr sz="2400" kern="0" spc="-180" dirty="0">
                <a:solidFill>
                  <a:srgbClr val="000000">
                    <a:alpha val="100000"/>
                  </a:srgbClr>
                </a:solidFill>
                <a:latin typeface="Arial" panose="020B0604020202020204"/>
                <a:ea typeface="Arial" panose="020B0604020202020204"/>
                <a:cs typeface="Arial" panose="020B0604020202020204"/>
              </a:rPr>
              <a:t>•</a:t>
            </a:r>
            <a:r>
              <a:rPr sz="2400" kern="0" spc="550" dirty="0">
                <a:solidFill>
                  <a:srgbClr val="000000">
                    <a:alpha val="100000"/>
                  </a:srgbClr>
                </a:solidFill>
                <a:latin typeface="Arial" panose="020B0604020202020204"/>
                <a:ea typeface="Arial" panose="020B0604020202020204"/>
                <a:cs typeface="Arial" panose="020B0604020202020204"/>
              </a:rPr>
              <a:t> </a:t>
            </a:r>
            <a:r>
              <a:rPr sz="2400" kern="0" spc="-18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则密文为：</a:t>
            </a:r>
            <a:r>
              <a:rPr sz="2400" kern="0" spc="28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80" dirty="0">
                <a:ln w="8708" cap="flat" cmpd="sng">
                  <a:solidFill>
                    <a:srgbClr val="000000">
                      <a:alpha val="100000"/>
                    </a:srgbClr>
                  </a:solidFill>
                  <a:prstDash val="solid"/>
                  <a:miter lim="10"/>
                </a:ln>
                <a:solidFill>
                  <a:srgbClr val="000000">
                    <a:alpha val="100000"/>
                  </a:srgbClr>
                </a:solidFill>
                <a:latin typeface="Arial" panose="020B0604020202020204"/>
                <a:ea typeface="Arial" panose="020B0604020202020204"/>
                <a:cs typeface="Arial" panose="020B0604020202020204"/>
              </a:rPr>
              <a:t>ORYH</a:t>
            </a:r>
            <a:endParaRPr lang="en-US" altLang="en-US" sz="2400" dirty="0"/>
          </a:p>
        </p:txBody>
      </p:sp>
      <p:sp>
        <p:nvSpPr>
          <p:cNvPr id="1049434"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68" name="picture 212"/>
          <p:cNvPicPr>
            <a:picLocks noChangeAspect="1"/>
          </p:cNvPicPr>
          <p:nvPr/>
        </p:nvPicPr>
        <p:blipFill>
          <a:blip r:embed="rId1"/>
          <a:stretch>
            <a:fillRect/>
          </a:stretch>
        </p:blipFill>
        <p:spPr>
          <a:xfrm rot="21600000">
            <a:off x="824483" y="408431"/>
            <a:ext cx="419100" cy="655320"/>
          </a:xfrm>
          <a:prstGeom prst="rect">
            <a:avLst/>
          </a:prstGeom>
        </p:spPr>
      </p:pic>
      <p:sp>
        <p:nvSpPr>
          <p:cNvPr id="1049435"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317" name=""/>
        <p:cNvGrpSpPr/>
        <p:nvPr/>
      </p:nvGrpSpPr>
      <p:grpSpPr>
        <a:xfrm>
          <a:off x="0" y="0"/>
          <a:ext cx="0" cy="0"/>
          <a:chOff x="0" y="0"/>
          <a:chExt cx="0" cy="0"/>
        </a:xfrm>
      </p:grpSpPr>
      <p:sp>
        <p:nvSpPr>
          <p:cNvPr id="1049432" name="textbox 204"/>
          <p:cNvSpPr/>
          <p:nvPr/>
        </p:nvSpPr>
        <p:spPr>
          <a:xfrm>
            <a:off x="1734820" y="501650"/>
            <a:ext cx="7454265"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单表代替密码——</a:t>
            </a:r>
            <a:r>
              <a:rPr lang="zh-CN"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加法</a:t>
            </a:r>
            <a:r>
              <a:rPr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a:t>
            </a:r>
            <a:r>
              <a:rPr lang="en-US"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 Caesar</a:t>
            </a:r>
            <a:r>
              <a:rPr lang="zh-CN" altLang="en-US"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a:t>
            </a:r>
            <a:endParaRPr lang="zh-CN" altLang="en-US"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049434"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68" name="picture 212"/>
          <p:cNvPicPr>
            <a:picLocks noChangeAspect="1"/>
          </p:cNvPicPr>
          <p:nvPr/>
        </p:nvPicPr>
        <p:blipFill>
          <a:blip r:embed="rId1"/>
          <a:stretch>
            <a:fillRect/>
          </a:stretch>
        </p:blipFill>
        <p:spPr>
          <a:xfrm rot="21600000">
            <a:off x="824483" y="408431"/>
            <a:ext cx="419100" cy="655320"/>
          </a:xfrm>
          <a:prstGeom prst="rect">
            <a:avLst/>
          </a:prstGeom>
        </p:spPr>
      </p:pic>
      <p:sp>
        <p:nvSpPr>
          <p:cNvPr id="1049435"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66563" name="Rectangle 3"/>
          <p:cNvSpPr>
            <a:spLocks noGrp="1" noChangeArrowheads="1"/>
          </p:cNvSpPr>
          <p:nvPr/>
        </p:nvSpPr>
        <p:spPr>
          <a:xfrm>
            <a:off x="1552575" y="1216025"/>
            <a:ext cx="8949690" cy="5020310"/>
          </a:xfrm>
          <a:prstGeom prst="rect">
            <a:avLst/>
          </a:prstGeom>
        </p:spPr>
        <p:txBody>
          <a:bodyPr vert="horz" lIns="91440" tIns="45720" rIns="91440" bIns="45720" rtlCol="0"/>
          <a:lstStyle>
            <a:lvl1pPr marL="342900" indent="-342900" algn="l" defTabSz="914400" rtl="0" eaLnBrk="1" latinLnBrk="0" hangingPunct="1">
              <a:spcBef>
                <a:spcPts val="2400"/>
              </a:spcBef>
              <a:buClr>
                <a:schemeClr val="accent1">
                  <a:lumMod val="60000"/>
                  <a:lumOff val="40000"/>
                </a:schemeClr>
              </a:buClr>
              <a:buFont typeface="Candara" panose="020E0502030303020204" pitchFamily="-1" charset="0"/>
              <a:buChar char="•"/>
              <a:defRPr sz="2800" kern="1200">
                <a:solidFill>
                  <a:schemeClr val="tx2"/>
                </a:solidFill>
                <a:latin typeface="+mn-lt"/>
                <a:ea typeface="+mn-ea"/>
                <a:cs typeface="+mn-cs"/>
              </a:defRPr>
            </a:lvl1pPr>
            <a:lvl2pPr marL="685800" indent="-336550" algn="l" defTabSz="914400" rtl="0" eaLnBrk="1" latinLnBrk="0" hangingPunct="1">
              <a:spcBef>
                <a:spcPts val="600"/>
              </a:spcBef>
              <a:buClr>
                <a:schemeClr val="tx2"/>
              </a:buClr>
              <a:buFont typeface="Candara" panose="020E0502030303020204" pitchFamily="-1" charset="0"/>
              <a:buChar char="•"/>
              <a:defRPr sz="2600" kern="1200">
                <a:solidFill>
                  <a:schemeClr val="tx2"/>
                </a:solidFill>
                <a:latin typeface="+mn-lt"/>
                <a:ea typeface="+mn-ea"/>
                <a:cs typeface="+mn-cs"/>
              </a:defRPr>
            </a:lvl2pPr>
            <a:lvl3pPr marL="1035050" indent="-349250" algn="l" defTabSz="914400" rtl="0" eaLnBrk="1" latinLnBrk="0" hangingPunct="1">
              <a:spcBef>
                <a:spcPts val="600"/>
              </a:spcBef>
              <a:buClr>
                <a:schemeClr val="accent1">
                  <a:lumMod val="60000"/>
                  <a:lumOff val="40000"/>
                </a:schemeClr>
              </a:buClr>
              <a:buFont typeface="Candara" panose="020E0502030303020204" pitchFamily="-1" charset="0"/>
              <a:buChar char="•"/>
              <a:defRPr sz="2400" kern="1200">
                <a:solidFill>
                  <a:schemeClr val="tx2"/>
                </a:solidFill>
                <a:latin typeface="+mn-lt"/>
                <a:ea typeface="+mn-ea"/>
                <a:cs typeface="+mn-cs"/>
              </a:defRPr>
            </a:lvl3pPr>
            <a:lvl4pPr marL="1371600" indent="-336550" algn="l" defTabSz="914400" rtl="0" eaLnBrk="1" latinLnBrk="0" hangingPunct="1">
              <a:spcBef>
                <a:spcPts val="600"/>
              </a:spcBef>
              <a:buClr>
                <a:schemeClr val="tx2"/>
              </a:buClr>
              <a:buFont typeface="Candara" panose="020E0502030303020204" pitchFamily="-1" charset="0"/>
              <a:buChar char="•"/>
              <a:defRPr sz="2200" kern="1200">
                <a:solidFill>
                  <a:schemeClr val="tx2"/>
                </a:solidFill>
                <a:latin typeface="+mn-lt"/>
                <a:ea typeface="+mn-ea"/>
                <a:cs typeface="+mn-cs"/>
              </a:defRPr>
            </a:lvl4pPr>
            <a:lvl5pPr marL="1720850" indent="-349250" algn="l" defTabSz="914400" rtl="0" eaLnBrk="1" latinLnBrk="0" hangingPunct="1">
              <a:spcBef>
                <a:spcPts val="600"/>
              </a:spcBef>
              <a:buClr>
                <a:schemeClr val="accent1">
                  <a:lumMod val="60000"/>
                  <a:lumOff val="40000"/>
                </a:schemeClr>
              </a:buClr>
              <a:buFont typeface="Candara" panose="020E0502030303020204" pitchFamily="-1" charset="0"/>
              <a:buChar char="•"/>
              <a:defRPr sz="2000" kern="1200">
                <a:solidFill>
                  <a:schemeClr val="tx2"/>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80000"/>
              </a:lnSpc>
              <a:defRPr/>
            </a:pPr>
            <a:r>
              <a:rPr lang="en-US" sz="2000" dirty="0" smtClean="0"/>
              <a:t>Can define transformation as:</a:t>
            </a:r>
            <a:endParaRPr lang="en-US" sz="2000" dirty="0" smtClean="0"/>
          </a:p>
          <a:p>
            <a:pPr lvl="1" eaLnBrk="1" hangingPunct="1">
              <a:buFont typeface="Wingdings" panose="05000000000000000000" pitchFamily="2" charset="2"/>
              <a:buNone/>
              <a:defRPr/>
            </a:pPr>
            <a:r>
              <a:rPr lang="en-AU" sz="1400" dirty="0" smtClean="0">
                <a:latin typeface="Courier" pitchFamily="-107" charset="0"/>
                <a:ea typeface="MS PGothic" panose="020B0600070205080204" pitchFamily="-1" charset="-128"/>
              </a:rPr>
              <a:t>a b c d e f g h i j k l m n o p q r s t u v w x y z</a:t>
            </a:r>
            <a:endParaRPr lang="en-AU" sz="1400" dirty="0" smtClean="0">
              <a:latin typeface="Courier" pitchFamily="-107" charset="0"/>
              <a:ea typeface="MS PGothic" panose="020B0600070205080204" pitchFamily="-1" charset="-128"/>
            </a:endParaRPr>
          </a:p>
          <a:p>
            <a:pPr lvl="1" eaLnBrk="1" hangingPunct="1">
              <a:buFont typeface="Wingdings" panose="05000000000000000000" pitchFamily="2" charset="2"/>
              <a:buNone/>
              <a:defRPr/>
            </a:pPr>
            <a:r>
              <a:rPr lang="en-AU" sz="1400" dirty="0" smtClean="0">
                <a:latin typeface="Courier" pitchFamily="-107" charset="0"/>
                <a:ea typeface="MS PGothic" panose="020B0600070205080204" pitchFamily="-1" charset="-128"/>
              </a:rPr>
              <a:t>D E F G H I J K L M N O P Q R S T U V W X Y Z A B C</a:t>
            </a:r>
            <a:endParaRPr lang="en-AU" sz="1400" dirty="0" smtClean="0">
              <a:latin typeface="Courier" pitchFamily="-107" charset="0"/>
              <a:ea typeface="MS PGothic" panose="020B0600070205080204" pitchFamily="-1" charset="-128"/>
            </a:endParaRPr>
          </a:p>
          <a:p>
            <a:pPr>
              <a:lnSpc>
                <a:spcPct val="80000"/>
              </a:lnSpc>
              <a:defRPr/>
            </a:pPr>
            <a:r>
              <a:rPr lang="en-US" sz="2000" dirty="0" smtClean="0"/>
              <a:t>Mathematically give each letter a number</a:t>
            </a:r>
            <a:endParaRPr lang="en-US" sz="2000" dirty="0" smtClean="0"/>
          </a:p>
          <a:p>
            <a:pPr lvl="1" eaLnBrk="1" hangingPunct="1">
              <a:buFont typeface="Wingdings" panose="05000000000000000000" pitchFamily="2" charset="2"/>
              <a:buNone/>
              <a:defRPr/>
            </a:pPr>
            <a:r>
              <a:rPr lang="en-AU" sz="1000" dirty="0" smtClean="0">
                <a:latin typeface="Courier" pitchFamily="-107" charset="0"/>
                <a:ea typeface="MS PGothic" panose="020B0600070205080204" pitchFamily="-1" charset="-128"/>
              </a:rPr>
              <a:t>a b c d e f g h i j  k  l  m  n  o  p  q  r  s  t  u  v  w  x  y  z</a:t>
            </a:r>
            <a:endParaRPr lang="en-AU" sz="1000" dirty="0" smtClean="0">
              <a:latin typeface="Courier" pitchFamily="-107" charset="0"/>
              <a:ea typeface="MS PGothic" panose="020B0600070205080204" pitchFamily="-1" charset="-128"/>
            </a:endParaRPr>
          </a:p>
          <a:p>
            <a:pPr lvl="1" eaLnBrk="1" hangingPunct="1">
              <a:buFont typeface="Wingdings" panose="05000000000000000000" pitchFamily="2" charset="2"/>
              <a:buNone/>
              <a:defRPr/>
            </a:pPr>
            <a:r>
              <a:rPr lang="en-AU" sz="1000" dirty="0" smtClean="0">
                <a:latin typeface="Courier" pitchFamily="-107" charset="0"/>
                <a:ea typeface="MS PGothic" panose="020B0600070205080204" pitchFamily="-1" charset="-128"/>
              </a:rPr>
              <a:t>0 1 2 3 4 5 6 7 8 9 10 11 12 13 14 15 16 17 18 19 20 21 22 23 24 25</a:t>
            </a:r>
            <a:endParaRPr lang="en-AU" sz="1000" dirty="0" smtClean="0">
              <a:latin typeface="Courier" pitchFamily="-107" charset="0"/>
              <a:ea typeface="MS PGothic" panose="020B0600070205080204" pitchFamily="-1" charset="-128"/>
            </a:endParaRPr>
          </a:p>
          <a:p>
            <a:pPr>
              <a:lnSpc>
                <a:spcPct val="80000"/>
              </a:lnSpc>
              <a:defRPr/>
            </a:pPr>
            <a:r>
              <a:rPr lang="en-US" sz="2000" dirty="0" smtClean="0"/>
              <a:t>Algorithm can be expressed as:</a:t>
            </a:r>
            <a:endParaRPr lang="en-AU" sz="2000" i="1" dirty="0" smtClean="0">
              <a:ea typeface="MS PGothic" panose="020B0600070205080204" pitchFamily="-1" charset="-128"/>
            </a:endParaRPr>
          </a:p>
          <a:p>
            <a:pPr lvl="1" eaLnBrk="1" hangingPunct="1">
              <a:buFont typeface="Wingdings" panose="05000000000000000000" pitchFamily="2" charset="2"/>
              <a:buNone/>
              <a:defRPr/>
            </a:pPr>
            <a:r>
              <a:rPr lang="en-AU" sz="2000" i="1" dirty="0" smtClean="0">
                <a:ea typeface="MS PGothic" panose="020B0600070205080204" pitchFamily="-1" charset="-128"/>
              </a:rPr>
              <a:t>		c </a:t>
            </a:r>
            <a:r>
              <a:rPr lang="en-AU" sz="2000" dirty="0" smtClean="0">
                <a:ea typeface="MS PGothic" panose="020B0600070205080204" pitchFamily="-1" charset="-128"/>
              </a:rPr>
              <a:t>= E(3, </a:t>
            </a:r>
            <a:r>
              <a:rPr lang="en-AU" sz="2000" i="1" dirty="0" smtClean="0">
                <a:ea typeface="MS PGothic" panose="020B0600070205080204" pitchFamily="-1" charset="-128"/>
              </a:rPr>
              <a:t>p</a:t>
            </a:r>
            <a:r>
              <a:rPr lang="en-AU" sz="2000" dirty="0" smtClean="0">
                <a:ea typeface="MS PGothic" panose="020B0600070205080204" pitchFamily="-1" charset="-128"/>
              </a:rPr>
              <a:t>) = (</a:t>
            </a:r>
            <a:r>
              <a:rPr lang="en-AU" sz="2000" i="1" dirty="0" smtClean="0">
                <a:ea typeface="MS PGothic" panose="020B0600070205080204" pitchFamily="-1" charset="-128"/>
              </a:rPr>
              <a:t>p </a:t>
            </a:r>
            <a:r>
              <a:rPr lang="en-AU" sz="2000" dirty="0" smtClean="0">
                <a:ea typeface="MS PGothic" panose="020B0600070205080204" pitchFamily="-1" charset="-128"/>
              </a:rPr>
              <a:t>+ </a:t>
            </a:r>
            <a:r>
              <a:rPr lang="en-AU" sz="2000" i="1" dirty="0" smtClean="0">
                <a:ea typeface="MS PGothic" panose="020B0600070205080204" pitchFamily="-1" charset="-128"/>
              </a:rPr>
              <a:t>3</a:t>
            </a:r>
            <a:r>
              <a:rPr lang="en-AU" sz="2000" dirty="0" smtClean="0">
                <a:ea typeface="MS PGothic" panose="020B0600070205080204" pitchFamily="-1" charset="-128"/>
              </a:rPr>
              <a:t>) mod (26)</a:t>
            </a:r>
            <a:endParaRPr lang="en-AU" sz="2000" dirty="0" smtClean="0">
              <a:ea typeface="MS PGothic" panose="020B0600070205080204" pitchFamily="-1" charset="-128"/>
            </a:endParaRPr>
          </a:p>
          <a:p>
            <a:pPr lvl="1" eaLnBrk="1" hangingPunct="1">
              <a:buFont typeface="Wingdings" panose="05000000000000000000" pitchFamily="2" charset="2"/>
              <a:buNone/>
              <a:defRPr/>
            </a:pPr>
            <a:endParaRPr lang="en-AU" sz="1600" dirty="0" smtClean="0">
              <a:ea typeface="MS PGothic" panose="020B0600070205080204" pitchFamily="-1" charset="-128"/>
            </a:endParaRPr>
          </a:p>
          <a:p>
            <a:pPr marL="342900" lvl="1" indent="-342900">
              <a:lnSpc>
                <a:spcPct val="80000"/>
              </a:lnSpc>
              <a:spcBef>
                <a:spcPts val="2400"/>
              </a:spcBef>
              <a:buClr>
                <a:schemeClr val="accent1">
                  <a:lumMod val="60000"/>
                  <a:lumOff val="40000"/>
                </a:schemeClr>
              </a:buClr>
              <a:defRPr/>
            </a:pPr>
            <a:r>
              <a:rPr lang="en-US" sz="2000" dirty="0" smtClean="0"/>
              <a:t>A shift may be of any amount, so that the general Caesar algorithm is:</a:t>
            </a:r>
            <a:endParaRPr lang="en-US" sz="2000" dirty="0" smtClean="0"/>
          </a:p>
          <a:p>
            <a:pPr marL="342900" lvl="1" indent="-342900">
              <a:lnSpc>
                <a:spcPct val="80000"/>
              </a:lnSpc>
              <a:spcBef>
                <a:spcPts val="2400"/>
              </a:spcBef>
              <a:buClr>
                <a:schemeClr val="accent1">
                  <a:lumMod val="60000"/>
                  <a:lumOff val="40000"/>
                </a:schemeClr>
              </a:buClr>
              <a:buNone/>
              <a:defRPr/>
            </a:pPr>
            <a:r>
              <a:rPr lang="en-US" sz="2000" i="1" dirty="0" smtClean="0">
                <a:ea typeface="MS PGothic" panose="020B0600070205080204" pitchFamily="-1" charset="-128"/>
              </a:rPr>
              <a:t>		C =  E(k , p ) =  (p + k ) mod 26</a:t>
            </a:r>
            <a:endParaRPr lang="en-US" sz="2000" i="1" dirty="0" smtClean="0">
              <a:ea typeface="MS PGothic" panose="020B0600070205080204" pitchFamily="-1" charset="-128"/>
            </a:endParaRPr>
          </a:p>
          <a:p>
            <a:pPr>
              <a:lnSpc>
                <a:spcPct val="80000"/>
              </a:lnSpc>
              <a:defRPr/>
            </a:pPr>
            <a:r>
              <a:rPr lang="en-US" sz="2000" dirty="0" smtClean="0"/>
              <a:t>Where k  takes on a value in the range 1 to 25; the decryption algorithm is simply:</a:t>
            </a:r>
            <a:endParaRPr lang="en-US" sz="2000" dirty="0" smtClean="0"/>
          </a:p>
          <a:p>
            <a:pPr>
              <a:buNone/>
            </a:pPr>
            <a:r>
              <a:rPr lang="en-US" sz="2000" i="1" dirty="0" smtClean="0">
                <a:ea typeface="MS PGothic" panose="020B0600070205080204" pitchFamily="-1" charset="-128"/>
              </a:rPr>
              <a:t>		p =  D(k , C ) =  (C - k ) mod 26</a:t>
            </a:r>
            <a:endParaRPr lang="en-US" sz="2000" i="1" dirty="0" smtClean="0">
              <a:ea typeface="MS PGothic" panose="020B0600070205080204" pitchFamily="-1" charset="-128"/>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524000" y="6492875"/>
            <a:ext cx="4800600" cy="365125"/>
          </a:xfrm>
        </p:spPr>
        <p:txBody>
          <a:bodyPr/>
          <a:lstStyle/>
          <a:p>
            <a:pPr>
              <a:defRPr/>
            </a:pPr>
            <a:r>
              <a:rPr lang="en-US" sz="1000" dirty="0" smtClean="0"/>
              <a:t>© 2017 Pearson Education, Inc., Hoboken, NJ. All rights reserved. </a:t>
            </a:r>
            <a:endParaRPr lang="en-US" sz="1000" dirty="0"/>
          </a:p>
        </p:txBody>
      </p:sp>
      <p:sp>
        <p:nvSpPr>
          <p:cNvPr id="8" name="TextBox 7"/>
          <p:cNvSpPr txBox="1"/>
          <p:nvPr/>
        </p:nvSpPr>
        <p:spPr>
          <a:xfrm>
            <a:off x="2133600" y="4267200"/>
            <a:ext cx="3111500" cy="460375"/>
          </a:xfrm>
          <a:prstGeom prst="rect">
            <a:avLst/>
          </a:prstGeom>
          <a:noFill/>
        </p:spPr>
        <p:txBody>
          <a:bodyPr wrap="square" rtlCol="0">
            <a:spAutoFit/>
          </a:bodyPr>
          <a:lstStyle/>
          <a:p>
            <a:pPr algn="ctr"/>
            <a:r>
              <a:rPr lang="en-US" sz="1200" dirty="0" smtClean="0"/>
              <a:t>(This chart can be found on page 75 in the textbook)</a:t>
            </a:r>
            <a:endParaRPr lang="en-US" sz="1200" dirty="0"/>
          </a:p>
        </p:txBody>
      </p:sp>
      <p:pic>
        <p:nvPicPr>
          <p:cNvPr id="7" name="Picture 6"/>
          <p:cNvPicPr>
            <a:picLocks noChangeAspect="1"/>
          </p:cNvPicPr>
          <p:nvPr/>
        </p:nvPicPr>
        <p:blipFill>
          <a:blip r:embed="rId1"/>
          <a:srcRect l="10769" r="18462" b="2921"/>
          <a:stretch>
            <a:fillRect/>
          </a:stretch>
        </p:blipFill>
        <p:spPr>
          <a:xfrm>
            <a:off x="5867400" y="0"/>
            <a:ext cx="4800600" cy="6937037"/>
          </a:xfrm>
          <a:prstGeom prst="rect">
            <a:avLst/>
          </a:prstGeom>
        </p:spPr>
      </p:pic>
      <p:sp>
        <p:nvSpPr>
          <p:cNvPr id="9" name="TextBox 8"/>
          <p:cNvSpPr txBox="1"/>
          <p:nvPr/>
        </p:nvSpPr>
        <p:spPr>
          <a:xfrm>
            <a:off x="2133600" y="838200"/>
            <a:ext cx="2920999" cy="3046095"/>
          </a:xfrm>
          <a:prstGeom prst="rect">
            <a:avLst/>
          </a:prstGeom>
          <a:noFill/>
        </p:spPr>
        <p:txBody>
          <a:bodyPr wrap="square" rtlCol="0">
            <a:spAutoFit/>
          </a:bodyPr>
          <a:lstStyle/>
          <a:p>
            <a:pPr algn="ctr"/>
            <a:r>
              <a:rPr lang="en-US" sz="3200" dirty="0" smtClean="0">
                <a:latin typeface="+mn-lt"/>
              </a:rPr>
              <a:t>Figure 3.3</a:t>
            </a:r>
            <a:endParaRPr lang="en-US" sz="3200" dirty="0" smtClean="0">
              <a:latin typeface="+mn-lt"/>
            </a:endParaRPr>
          </a:p>
          <a:p>
            <a:pPr algn="ctr"/>
            <a:endParaRPr lang="en-US" sz="3200" dirty="0" smtClean="0">
              <a:latin typeface="+mn-lt"/>
            </a:endParaRPr>
          </a:p>
          <a:p>
            <a:pPr algn="ctr"/>
            <a:r>
              <a:rPr lang="en-US" sz="3200" dirty="0" smtClean="0">
                <a:latin typeface="+mn-lt"/>
              </a:rPr>
              <a:t> Brute-Force Cryptanalysis </a:t>
            </a:r>
            <a:endParaRPr lang="en-US" sz="3200" dirty="0" smtClean="0">
              <a:latin typeface="+mn-lt"/>
            </a:endParaRPr>
          </a:p>
          <a:p>
            <a:pPr algn="ctr"/>
            <a:r>
              <a:rPr lang="en-US" sz="3200" dirty="0" smtClean="0">
                <a:latin typeface="+mn-lt"/>
              </a:rPr>
              <a:t>of </a:t>
            </a:r>
            <a:endParaRPr lang="en-US" sz="3200" dirty="0" smtClean="0">
              <a:latin typeface="+mn-lt"/>
            </a:endParaRPr>
          </a:p>
          <a:p>
            <a:pPr algn="ctr"/>
            <a:r>
              <a:rPr lang="en-US" sz="3200" dirty="0" smtClean="0">
                <a:latin typeface="+mn-lt"/>
              </a:rPr>
              <a:t>Caesar Cipher </a:t>
            </a:r>
            <a:endParaRPr lang="en-US" sz="3200" dirty="0">
              <a:latin typeface="+mn-lt"/>
            </a:endParaRPr>
          </a:p>
        </p:txBody>
      </p:sp>
    </p:spTree>
  </p:cSld>
  <p:clrMapOvr>
    <a:masterClrMapping/>
  </p:clrMapOvr>
  <p:transition>
    <p:dissolve/>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317" name=""/>
        <p:cNvGrpSpPr/>
        <p:nvPr/>
      </p:nvGrpSpPr>
      <p:grpSpPr>
        <a:xfrm>
          <a:off x="0" y="0"/>
          <a:ext cx="0" cy="0"/>
          <a:chOff x="0" y="0"/>
          <a:chExt cx="0" cy="0"/>
        </a:xfrm>
      </p:grpSpPr>
      <p:sp>
        <p:nvSpPr>
          <p:cNvPr id="1049432" name="textbox 204"/>
          <p:cNvSpPr/>
          <p:nvPr/>
        </p:nvSpPr>
        <p:spPr>
          <a:xfrm>
            <a:off x="1734820" y="501650"/>
            <a:ext cx="7454265"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单表代替密码——</a:t>
            </a:r>
            <a:r>
              <a:rPr lang="zh-CN"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加法</a:t>
            </a:r>
            <a:r>
              <a:rPr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a:t>
            </a:r>
            <a:r>
              <a:rPr lang="en-US"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 Caesar</a:t>
            </a:r>
            <a:r>
              <a:rPr lang="zh-CN" altLang="en-US"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a:t>
            </a:r>
            <a:endParaRPr lang="zh-CN" altLang="en-US"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049434"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68" name="picture 212"/>
          <p:cNvPicPr>
            <a:picLocks noChangeAspect="1"/>
          </p:cNvPicPr>
          <p:nvPr/>
        </p:nvPicPr>
        <p:blipFill>
          <a:blip r:embed="rId1"/>
          <a:stretch>
            <a:fillRect/>
          </a:stretch>
        </p:blipFill>
        <p:spPr>
          <a:xfrm rot="21600000">
            <a:off x="824483" y="408431"/>
            <a:ext cx="419100" cy="655320"/>
          </a:xfrm>
          <a:prstGeom prst="rect">
            <a:avLst/>
          </a:prstGeom>
        </p:spPr>
      </p:pic>
      <p:sp>
        <p:nvSpPr>
          <p:cNvPr id="1049435"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4" name="Content Placeholder 3"/>
          <p:cNvSpPr>
            <a:spLocks noGrp="1"/>
          </p:cNvSpPr>
          <p:nvPr/>
        </p:nvSpPr>
        <p:spPr>
          <a:xfrm>
            <a:off x="1526540" y="1176655"/>
            <a:ext cx="8976995" cy="4867275"/>
          </a:xfr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20" dirty="0" smtClean="0"/>
              <a:t>Permutation</a:t>
            </a:r>
            <a:r>
              <a:rPr lang="en-US" sz="2220" dirty="0" smtClean="0">
                <a:uFillTx/>
                <a:latin typeface="Arial" panose="020B0604020202020204" pitchFamily="34" charset="0"/>
                <a:ea typeface="黑体" panose="02010609060101010101" charset="-122"/>
              </a:rPr>
              <a:t>（置换）</a:t>
            </a:r>
            <a:endParaRPr lang="en-US" sz="2220" dirty="0" smtClean="0"/>
          </a:p>
          <a:p>
            <a:pPr lvl="1"/>
            <a:r>
              <a:rPr lang="en-US" sz="2220" dirty="0" smtClean="0">
                <a:solidFill>
                  <a:schemeClr val="tx1"/>
                </a:solidFill>
                <a:uFillTx/>
                <a:latin typeface="Arial" panose="020B0604020202020204" pitchFamily="34" charset="0"/>
                <a:ea typeface="黑体" panose="02010609060101010101" charset="-122"/>
              </a:rPr>
              <a:t>有限元素集合 S 的置换，是 S 中所有元素的一个有序序列，每个元素恰好出现一次。</a:t>
            </a:r>
            <a:endParaRPr lang="en-US" sz="2220" dirty="0" smtClean="0">
              <a:solidFill>
                <a:schemeClr val="tx1"/>
              </a:solidFill>
              <a:uFillTx/>
              <a:latin typeface="Arial" panose="020B0604020202020204" pitchFamily="34" charset="0"/>
              <a:ea typeface="黑体" panose="02010609060101010101" charset="-122"/>
            </a:endParaRPr>
          </a:p>
          <a:p>
            <a:pPr lvl="1"/>
            <a:r>
              <a:rPr lang="en-US" sz="2220" dirty="0" smtClean="0"/>
              <a:t>Of a finite set of elements </a:t>
            </a:r>
            <a:r>
              <a:rPr lang="en-US" sz="2220" i="1" dirty="0" smtClean="0"/>
              <a:t>S </a:t>
            </a:r>
            <a:r>
              <a:rPr lang="en-US" sz="2220" dirty="0" smtClean="0"/>
              <a:t>is an ordered sequence of all the elements of </a:t>
            </a:r>
            <a:r>
              <a:rPr lang="en-US" sz="2220" i="1" dirty="0" smtClean="0"/>
              <a:t>S </a:t>
            </a:r>
            <a:r>
              <a:rPr lang="en-US" sz="2220" dirty="0" smtClean="0"/>
              <a:t>, with each element appearing exactly once </a:t>
            </a:r>
            <a:endParaRPr lang="en-US" sz="2220" dirty="0" smtClean="0"/>
          </a:p>
          <a:p>
            <a:pPr lvl="1" algn="l">
              <a:buClrTx/>
              <a:buSzTx/>
            </a:pPr>
            <a:r>
              <a:rPr lang="en-US" sz="2220" dirty="0" smtClean="0">
                <a:uFillTx/>
                <a:latin typeface="Arial" panose="020B0604020202020204" pitchFamily="34" charset="0"/>
                <a:ea typeface="黑体" panose="02010609060101010101" charset="-122"/>
              </a:rPr>
              <a:t>S={a, b, c}，则S有6个置换</a:t>
            </a:r>
            <a:r>
              <a:rPr lang="zh-CN" altLang="en-US" sz="2220" dirty="0" smtClean="0">
                <a:uFillTx/>
                <a:latin typeface="Arial" panose="020B0604020202020204" pitchFamily="34" charset="0"/>
                <a:ea typeface="黑体" panose="02010609060101010101" charset="-122"/>
              </a:rPr>
              <a:t>。</a:t>
            </a:r>
            <a:r>
              <a:rPr lang="en-US" altLang="zh-CN" sz="2220" dirty="0" smtClean="0">
                <a:uFillTx/>
                <a:latin typeface="Arial" panose="020B0604020202020204" pitchFamily="34" charset="0"/>
                <a:ea typeface="黑体" panose="02010609060101010101" charset="-122"/>
              </a:rPr>
              <a:t>3</a:t>
            </a:r>
            <a:r>
              <a:rPr lang="zh-CN" altLang="en-US" sz="2220" dirty="0" smtClean="0">
                <a:uFillTx/>
                <a:latin typeface="Arial" panose="020B0604020202020204" pitchFamily="34" charset="0"/>
                <a:ea typeface="黑体" panose="02010609060101010101" charset="-122"/>
              </a:rPr>
              <a:t>！</a:t>
            </a:r>
            <a:endParaRPr lang="zh-CN" altLang="en-US" sz="2220" dirty="0" smtClean="0">
              <a:uFillTx/>
              <a:latin typeface="Arial" panose="020B0604020202020204" pitchFamily="34" charset="0"/>
              <a:ea typeface="黑体" panose="02010609060101010101" charset="-122"/>
            </a:endParaRPr>
          </a:p>
          <a:p>
            <a:pPr lvl="1" algn="l">
              <a:buClrTx/>
              <a:buSzTx/>
            </a:pPr>
            <a:r>
              <a:rPr lang="en-US" altLang="zh-CN" sz="2220" dirty="0" smtClean="0">
                <a:uFillTx/>
                <a:latin typeface="Arial" panose="020B0604020202020204" pitchFamily="34" charset="0"/>
                <a:ea typeface="黑体" panose="02010609060101010101" charset="-122"/>
              </a:rPr>
              <a:t>abc,acb,bac,bca,cab,cba</a:t>
            </a:r>
            <a:endParaRPr lang="en-US" sz="2220" dirty="0" smtClean="0"/>
          </a:p>
          <a:p>
            <a:pPr lvl="0" algn="l">
              <a:spcBef>
                <a:spcPts val="500"/>
              </a:spcBef>
              <a:buClrTx/>
              <a:buSzTx/>
            </a:pPr>
            <a:r>
              <a:rPr lang="en-US" sz="2220" dirty="0" smtClean="0">
                <a:uFillTx/>
                <a:latin typeface="Arial" panose="020B0604020202020204" pitchFamily="34" charset="0"/>
                <a:ea typeface="黑体" panose="02010609060101010101" charset="-122"/>
              </a:rPr>
              <a:t>如果 “密文” 行可以是 26 个英文字母的任意置换，那么就有 26!（大于 4×10²⁶ ）种可能的密钥。这比 DES 的密钥空间大 10 个数量级。这种方法被称为单表代换密码，因为每条消息都使用单一的密文字母表。</a:t>
            </a:r>
            <a:endParaRPr lang="en-US" sz="2220" dirty="0" smtClean="0">
              <a:uFillTx/>
              <a:latin typeface="Arial" panose="020B0604020202020204" pitchFamily="34" charset="0"/>
              <a:ea typeface="黑体" panose="02010609060101010101" charset="-122"/>
            </a:endParaRPr>
          </a:p>
          <a:p>
            <a:pPr marL="342900" lvl="1" indent="-342900">
              <a:spcBef>
                <a:spcPts val="2400"/>
              </a:spcBef>
              <a:buClr>
                <a:srgbClr val="BAABE3"/>
              </a:buClr>
            </a:pPr>
            <a:r>
              <a:rPr lang="en-US" sz="2220" dirty="0" smtClean="0"/>
              <a:t>This is 10 orders of magnitude greater than the key space for DES</a:t>
            </a:r>
            <a:endParaRPr lang="en-US" sz="2220" dirty="0" smtClean="0"/>
          </a:p>
          <a:p>
            <a:pPr lvl="1"/>
            <a:r>
              <a:rPr lang="en-US" sz="2220" dirty="0" smtClean="0"/>
              <a:t>Approach is referred to as a </a:t>
            </a:r>
            <a:r>
              <a:rPr lang="en-US" sz="2220" i="1" dirty="0" smtClean="0"/>
              <a:t>monoalphabetic substitution cipher</a:t>
            </a:r>
            <a:r>
              <a:rPr lang="en-US" sz="2220" dirty="0" smtClean="0"/>
              <a:t> because a single cipher alphabet is used per message</a:t>
            </a:r>
            <a:endParaRPr lang="en-US" sz="222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05.pdf"/>
          <p:cNvPicPr>
            <a:picLocks noChangeAspect="1"/>
          </p:cNvPicPr>
          <p:nvPr/>
        </p:nvPicPr>
        <mc:AlternateContent xmlns:mc="http://schemas.openxmlformats.org/markup-compatibility/2006">
          <mc:Choice xmlns:mv="urn:schemas-microsoft-com:mac:vml" xmlns:ma="http://schemas.microsoft.com/office/mac/drawingml/2008/main" Requires="ma">
            <p:blipFill>
              <a:blip r:embed="rId1"/>
              <a:srcRect l="7273" t="9412" r="11818" b="5882"/>
              <a:stretch>
                <a:fillRect/>
              </a:stretch>
            </p:blipFill>
          </mc:Choice>
          <mc:Fallback>
            <p:blipFill>
              <a:blip r:embed="rId2"/>
              <a:srcRect l="7273" t="9412" r="11818" b="5882"/>
              <a:stretch>
                <a:fillRect/>
              </a:stretch>
            </p:blipFill>
          </mc:Fallback>
        </mc:AlternateContent>
        <p:spPr>
          <a:xfrm>
            <a:off x="2209800" y="0"/>
            <a:ext cx="8001000" cy="6472658"/>
          </a:xfrm>
          <a:prstGeom prst="rect">
            <a:avLst/>
          </a:prstGeom>
        </p:spPr>
      </p:pic>
    </p:spTree>
  </p:cSld>
  <p:clrMapOvr>
    <a:masterClrMapping/>
  </p:clrMapOvr>
  <p:transition spd="slow">
    <p:wipe dir="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317" name=""/>
        <p:cNvGrpSpPr/>
        <p:nvPr/>
      </p:nvGrpSpPr>
      <p:grpSpPr>
        <a:xfrm>
          <a:off x="0" y="0"/>
          <a:ext cx="0" cy="0"/>
          <a:chOff x="0" y="0"/>
          <a:chExt cx="0" cy="0"/>
        </a:xfrm>
      </p:grpSpPr>
      <p:sp>
        <p:nvSpPr>
          <p:cNvPr id="1049432" name="textbox 204"/>
          <p:cNvSpPr/>
          <p:nvPr/>
        </p:nvSpPr>
        <p:spPr>
          <a:xfrm>
            <a:off x="1734820" y="501650"/>
            <a:ext cx="7454265"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单表代替密码——</a:t>
            </a:r>
            <a:r>
              <a:rPr lang="zh-CN"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加法</a:t>
            </a:r>
            <a:r>
              <a:rPr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a:t>
            </a:r>
            <a:r>
              <a:rPr lang="en-US"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 Caesar</a:t>
            </a:r>
            <a:r>
              <a:rPr lang="zh-CN" altLang="en-US"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a:t>
            </a:r>
            <a:endParaRPr lang="zh-CN" altLang="en-US" sz="3200" kern="0" spc="-2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049434"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68" name="picture 212"/>
          <p:cNvPicPr>
            <a:picLocks noChangeAspect="1"/>
          </p:cNvPicPr>
          <p:nvPr/>
        </p:nvPicPr>
        <p:blipFill>
          <a:blip r:embed="rId1"/>
          <a:stretch>
            <a:fillRect/>
          </a:stretch>
        </p:blipFill>
        <p:spPr>
          <a:xfrm rot="21600000">
            <a:off x="824483" y="408431"/>
            <a:ext cx="419100" cy="655320"/>
          </a:xfrm>
          <a:prstGeom prst="rect">
            <a:avLst/>
          </a:prstGeom>
        </p:spPr>
      </p:pic>
      <p:sp>
        <p:nvSpPr>
          <p:cNvPr id="1049435"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2" name="Content Placeholder 3"/>
          <p:cNvSpPr>
            <a:spLocks noGrp="1"/>
          </p:cNvSpPr>
          <p:nvPr/>
        </p:nvSpPr>
        <p:spPr>
          <a:xfrm>
            <a:off x="1465580" y="1284605"/>
            <a:ext cx="9037320" cy="4714875"/>
          </a:xfrm>
        </p:spPr>
        <p:txBody>
          <a:bodyPr>
            <a:normAutofit fontScale="90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Easy to break because they reflect the frequency data of the original alphabet</a:t>
            </a:r>
            <a:endParaRPr lang="en-US" dirty="0" smtClean="0"/>
          </a:p>
          <a:p>
            <a:r>
              <a:rPr lang="en-US" dirty="0" smtClean="0">
                <a:latin typeface="黑体" panose="02010609060101010101" charset="-122"/>
                <a:ea typeface="黑体" panose="02010609060101010101" charset="-122"/>
                <a:cs typeface="黑体" panose="02010609060101010101" charset="-122"/>
              </a:rPr>
              <a:t>单表代换密码很容易被破解，因为它们反映了原始字母表的频率数据。对策是为单个字母提供多个替代（同音词）。 </a:t>
            </a:r>
            <a:endParaRPr lang="en-US" dirty="0" smtClean="0"/>
          </a:p>
          <a:p>
            <a:r>
              <a:rPr lang="en-US" dirty="0" smtClean="0"/>
              <a:t>Countermeasure is to provide multiple substitutes (homophones) for a single letter</a:t>
            </a:r>
            <a:endParaRPr lang="en-US" dirty="0" smtClean="0"/>
          </a:p>
          <a:p>
            <a:r>
              <a:rPr lang="en-US" dirty="0" smtClean="0"/>
              <a:t>Digram</a:t>
            </a:r>
            <a:endParaRPr lang="en-US" dirty="0" smtClean="0"/>
          </a:p>
          <a:p>
            <a:pPr lvl="1"/>
            <a:r>
              <a:rPr lang="en-US" dirty="0" smtClean="0"/>
              <a:t>Two-letter combination</a:t>
            </a:r>
            <a:endParaRPr lang="en-US" dirty="0" smtClean="0"/>
          </a:p>
          <a:p>
            <a:pPr lvl="1"/>
            <a:r>
              <a:rPr lang="en-US" dirty="0" smtClean="0"/>
              <a:t>Most common is </a:t>
            </a:r>
            <a:r>
              <a:rPr lang="en-US" i="1" dirty="0" smtClean="0"/>
              <a:t>th</a:t>
            </a:r>
            <a:endParaRPr lang="en-US" dirty="0" smtClean="0"/>
          </a:p>
          <a:p>
            <a:r>
              <a:rPr lang="en-US" dirty="0" smtClean="0"/>
              <a:t>Trigram </a:t>
            </a:r>
            <a:endParaRPr lang="en-US" dirty="0" smtClean="0"/>
          </a:p>
          <a:p>
            <a:pPr lvl="1"/>
            <a:r>
              <a:rPr lang="en-US" dirty="0" smtClean="0"/>
              <a:t>Three-letter combination</a:t>
            </a:r>
            <a:endParaRPr lang="en-US" dirty="0" smtClean="0"/>
          </a:p>
          <a:p>
            <a:pPr lvl="1"/>
            <a:r>
              <a:rPr lang="en-US" dirty="0" smtClean="0"/>
              <a:t>Most frequent is </a:t>
            </a:r>
            <a:r>
              <a:rPr lang="en-US" i="1" dirty="0" smtClean="0"/>
              <a:t>the </a:t>
            </a:r>
            <a:endParaRPr lang="en-US" dirty="0"/>
          </a:p>
        </p:txBody>
      </p:sp>
      <p:pic>
        <p:nvPicPr>
          <p:cNvPr id="5" name="Picture 4"/>
          <p:cNvPicPr>
            <a:picLocks noChangeAspect="1"/>
          </p:cNvPicPr>
          <p:nvPr/>
        </p:nvPicPr>
        <p:blipFill>
          <a:blip r:embed="rId2"/>
          <a:stretch>
            <a:fillRect/>
          </a:stretch>
        </p:blipFill>
        <p:spPr>
          <a:xfrm>
            <a:off x="8502650" y="3509010"/>
            <a:ext cx="768742" cy="1036637"/>
          </a:xfrm>
          <a:prstGeom prst="rect">
            <a:avLst/>
          </a:prstGeom>
        </p:spPr>
      </p:pic>
      <p:pic>
        <p:nvPicPr>
          <p:cNvPr id="6" name="Picture 5"/>
          <p:cNvPicPr>
            <a:picLocks noChangeAspect="1"/>
          </p:cNvPicPr>
          <p:nvPr/>
        </p:nvPicPr>
        <p:blipFill>
          <a:blip r:embed="rId3"/>
          <a:stretch>
            <a:fillRect/>
          </a:stretch>
        </p:blipFill>
        <p:spPr>
          <a:xfrm>
            <a:off x="7106285" y="3412490"/>
            <a:ext cx="838200" cy="1257299"/>
          </a:xfrm>
          <a:prstGeom prst="rect">
            <a:avLst/>
          </a:prstGeom>
        </p:spPr>
      </p:pic>
      <p:pic>
        <p:nvPicPr>
          <p:cNvPr id="8" name="Picture 7"/>
          <p:cNvPicPr>
            <a:picLocks noChangeAspect="1"/>
          </p:cNvPicPr>
          <p:nvPr/>
        </p:nvPicPr>
        <p:blipFill>
          <a:blip r:embed="rId4"/>
          <a:stretch>
            <a:fillRect/>
          </a:stretch>
        </p:blipFill>
        <p:spPr>
          <a:xfrm>
            <a:off x="9829800" y="4475480"/>
            <a:ext cx="838200" cy="1077686"/>
          </a:xfrm>
          <a:prstGeom prst="rect">
            <a:avLst/>
          </a:prstGeom>
        </p:spPr>
      </p:pic>
      <p:pic>
        <p:nvPicPr>
          <p:cNvPr id="9" name="Picture 8"/>
          <p:cNvPicPr>
            <a:picLocks noChangeAspect="1"/>
          </p:cNvPicPr>
          <p:nvPr/>
        </p:nvPicPr>
        <p:blipFill>
          <a:blip r:embed="rId2"/>
          <a:stretch>
            <a:fillRect/>
          </a:stretch>
        </p:blipFill>
        <p:spPr>
          <a:xfrm>
            <a:off x="8915400" y="4856480"/>
            <a:ext cx="768742" cy="1036637"/>
          </a:xfrm>
          <a:prstGeom prst="rect">
            <a:avLst/>
          </a:prstGeom>
        </p:spPr>
      </p:pic>
      <p:pic>
        <p:nvPicPr>
          <p:cNvPr id="10" name="Picture 9"/>
          <p:cNvPicPr>
            <a:picLocks noChangeAspect="1"/>
          </p:cNvPicPr>
          <p:nvPr/>
        </p:nvPicPr>
        <p:blipFill>
          <a:blip r:embed="rId3"/>
          <a:stretch>
            <a:fillRect/>
          </a:stretch>
        </p:blipFill>
        <p:spPr>
          <a:xfrm>
            <a:off x="7848600" y="4894581"/>
            <a:ext cx="838200" cy="1257299"/>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318" name=""/>
        <p:cNvGrpSpPr/>
        <p:nvPr/>
      </p:nvGrpSpPr>
      <p:grpSpPr>
        <a:xfrm>
          <a:off x="0" y="0"/>
          <a:ext cx="0" cy="0"/>
          <a:chOff x="0" y="0"/>
          <a:chExt cx="0" cy="0"/>
        </a:xfrm>
      </p:grpSpPr>
      <p:sp>
        <p:nvSpPr>
          <p:cNvPr id="1049448" name="textbox 240"/>
          <p:cNvSpPr/>
          <p:nvPr/>
        </p:nvSpPr>
        <p:spPr>
          <a:xfrm>
            <a:off x="1465580" y="494665"/>
            <a:ext cx="6184900" cy="482600"/>
          </a:xfrm>
          <a:prstGeom prst="rect">
            <a:avLst/>
          </a:prstGeom>
          <a:solidFill>
            <a:srgbClr val="FF0000"/>
          </a:solidFill>
        </p:spPr>
        <p:txBody>
          <a:bodyPr vert="horz" wrap="square" lIns="0" tIns="0" rIns="0" bIns="0"/>
          <a:p>
            <a:pPr algn="l" rtl="0" eaLnBrk="0">
              <a:lnSpc>
                <a:spcPct val="73000"/>
              </a:lnSpc>
            </a:pPr>
            <a:endParaRPr lang="en-US" altLang="en-US" sz="100" dirty="0"/>
          </a:p>
          <a:p>
            <a:pPr marL="12700" algn="l" rtl="0" eaLnBrk="0">
              <a:lnSpc>
                <a:spcPct val="94000"/>
              </a:lnSpc>
            </a:pPr>
            <a:r>
              <a:rPr lang="zh-CN"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多字母</a:t>
            </a:r>
            <a:r>
              <a:rPr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代替密码——</a:t>
            </a:r>
            <a:r>
              <a:rPr lang="en-US"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Playfair</a:t>
            </a:r>
            <a:r>
              <a:rPr lang="zh-CN" altLang="en-US"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a:t>
            </a:r>
            <a:endParaRPr lang="zh-CN" altLang="en-US"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049450"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369" name="picture 248"/>
          <p:cNvPicPr>
            <a:picLocks noChangeAspect="1"/>
          </p:cNvPicPr>
          <p:nvPr/>
        </p:nvPicPr>
        <p:blipFill>
          <a:blip r:embed="rId1"/>
          <a:stretch>
            <a:fillRect/>
          </a:stretch>
        </p:blipFill>
        <p:spPr>
          <a:xfrm rot="21600000">
            <a:off x="824483" y="408431"/>
            <a:ext cx="419100" cy="655320"/>
          </a:xfrm>
          <a:prstGeom prst="rect">
            <a:avLst/>
          </a:prstGeom>
        </p:spPr>
      </p:pic>
      <p:sp>
        <p:nvSpPr>
          <p:cNvPr id="1049451"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2" name="文本框 1"/>
          <p:cNvSpPr txBox="1"/>
          <p:nvPr/>
        </p:nvSpPr>
        <p:spPr>
          <a:xfrm>
            <a:off x="1465580" y="1252855"/>
            <a:ext cx="9295765" cy="4399915"/>
          </a:xfrm>
          <a:prstGeom prst="rect">
            <a:avLst/>
          </a:prstGeom>
          <a:noFill/>
        </p:spPr>
        <p:txBody>
          <a:bodyPr wrap="square" rtlCol="0" anchor="t">
            <a:spAutoFit/>
          </a:bodyPr>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最著名的多字母加密密码。</a:t>
            </a: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将明文中的双字母组视为单个单元</a:t>
            </a:r>
            <a:r>
              <a:rPr lang="zh-CN" altLang="en-US" sz="2800" dirty="0" smtClean="0">
                <a:latin typeface="黑体" panose="02010609060101010101" charset="-122"/>
                <a:ea typeface="黑体" panose="02010609060101010101" charset="-122"/>
                <a:cs typeface="黑体" panose="02010609060101010101" charset="-122"/>
              </a:rPr>
              <a:t>，</a:t>
            </a:r>
            <a:r>
              <a:rPr lang="en-US" sz="2800" dirty="0" smtClean="0">
                <a:latin typeface="黑体" panose="02010609060101010101" charset="-122"/>
                <a:ea typeface="黑体" panose="02010609060101010101" charset="-122"/>
                <a:cs typeface="黑体" panose="02010609060101010101" charset="-122"/>
              </a:rPr>
              <a:t>并将这些单元转换为密文“双字母</a:t>
            </a:r>
            <a:r>
              <a:rPr lang="zh-CN" altLang="en-US" sz="2800" dirty="0" smtClean="0">
                <a:latin typeface="黑体" panose="02010609060101010101" charset="-122"/>
                <a:ea typeface="黑体" panose="02010609060101010101" charset="-122"/>
                <a:cs typeface="黑体" panose="02010609060101010101" charset="-122"/>
              </a:rPr>
              <a:t>音节</a:t>
            </a:r>
            <a:r>
              <a:rPr lang="en-US" sz="2800" dirty="0" smtClean="0">
                <a:latin typeface="黑体" panose="02010609060101010101" charset="-122"/>
                <a:ea typeface="黑体" panose="02010609060101010101" charset="-122"/>
                <a:cs typeface="黑体" panose="02010609060101010101" charset="-122"/>
              </a:rPr>
              <a:t>”。</a:t>
            </a: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基于使用由关键词构建的 5×5 字母矩阵。</a:t>
            </a: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由英国科学家查尔斯・惠斯通爵士于 1854 年发明。在第一次世界大战期间被英国军队用作标准战地系统，在第二次世界大战期间被美国军队和其他盟军使用。</a:t>
            </a:r>
            <a:endParaRPr lang="en-US" sz="2800" dirty="0" smtClean="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318" name=""/>
        <p:cNvGrpSpPr/>
        <p:nvPr/>
      </p:nvGrpSpPr>
      <p:grpSpPr>
        <a:xfrm>
          <a:off x="0" y="0"/>
          <a:ext cx="0" cy="0"/>
          <a:chOff x="0" y="0"/>
          <a:chExt cx="0" cy="0"/>
        </a:xfrm>
      </p:grpSpPr>
      <p:sp>
        <p:nvSpPr>
          <p:cNvPr id="1049448" name="textbox 240"/>
          <p:cNvSpPr/>
          <p:nvPr/>
        </p:nvSpPr>
        <p:spPr>
          <a:xfrm>
            <a:off x="1465580" y="494665"/>
            <a:ext cx="6184900"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lang="zh-CN"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多表</a:t>
            </a:r>
            <a:r>
              <a:rPr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代替密码——</a:t>
            </a:r>
            <a:r>
              <a:rPr lang="en-US"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Playfair</a:t>
            </a:r>
            <a:r>
              <a:rPr lang="zh-CN" altLang="en-US"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a:t>
            </a:r>
            <a:endParaRPr lang="zh-CN" altLang="en-US"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049450"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369" name="picture 248"/>
          <p:cNvPicPr>
            <a:picLocks noChangeAspect="1"/>
          </p:cNvPicPr>
          <p:nvPr/>
        </p:nvPicPr>
        <p:blipFill>
          <a:blip r:embed="rId1"/>
          <a:stretch>
            <a:fillRect/>
          </a:stretch>
        </p:blipFill>
        <p:spPr>
          <a:xfrm rot="21600000">
            <a:off x="824483" y="408431"/>
            <a:ext cx="419100" cy="655320"/>
          </a:xfrm>
          <a:prstGeom prst="rect">
            <a:avLst/>
          </a:prstGeom>
        </p:spPr>
      </p:pic>
      <p:sp>
        <p:nvSpPr>
          <p:cNvPr id="1049451"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2" name="文本框 1"/>
          <p:cNvSpPr txBox="1"/>
          <p:nvPr/>
        </p:nvSpPr>
        <p:spPr>
          <a:xfrm>
            <a:off x="1465580" y="1252855"/>
            <a:ext cx="9295765" cy="2245360"/>
          </a:xfrm>
          <a:prstGeom prst="rect">
            <a:avLst/>
          </a:prstGeom>
          <a:noFill/>
        </p:spPr>
        <p:txBody>
          <a:bodyPr wrap="square" rtlCol="0" anchor="t">
            <a:spAutoFit/>
          </a:bodyPr>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从左到右、从上到下填入关键词的字母（去除重复字母），然后按字母顺序填入矩阵的其余部分。以关键词 “MONARCHY” 为例：</a:t>
            </a: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endParaRPr lang="en-US" sz="2800" dirty="0" smtClean="0">
              <a:latin typeface="黑体" panose="02010609060101010101" charset="-122"/>
              <a:ea typeface="黑体" panose="02010609060101010101" charset="-122"/>
              <a:cs typeface="黑体" panose="02010609060101010101" charset="-122"/>
            </a:endParaRPr>
          </a:p>
        </p:txBody>
      </p:sp>
      <p:graphicFrame>
        <p:nvGraphicFramePr>
          <p:cNvPr id="80947" name="Group 51"/>
          <p:cNvGraphicFramePr>
            <a:graphicFrameLocks noGrp="1"/>
          </p:cNvGraphicFramePr>
          <p:nvPr>
            <p:custDataLst>
              <p:tags r:id="rId2"/>
            </p:custDataLst>
          </p:nvPr>
        </p:nvGraphicFramePr>
        <p:xfrm>
          <a:off x="3573145" y="3171825"/>
          <a:ext cx="4724400" cy="2229803"/>
        </p:xfrm>
        <a:graphic>
          <a:graphicData uri="http://schemas.openxmlformats.org/drawingml/2006/table">
            <a:tbl>
              <a:tblPr/>
              <a:tblGrid>
                <a:gridCol w="946150"/>
                <a:gridCol w="942975"/>
                <a:gridCol w="911225"/>
                <a:gridCol w="977900"/>
                <a:gridCol w="946150"/>
              </a:tblGrid>
              <a:tr h="396240">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rPr>
                        <a:t>M</a:t>
                      </a:r>
                      <a:endPar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rPr>
                        <a:t>O</a:t>
                      </a:r>
                      <a:endPar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rPr>
                        <a:t>N</a:t>
                      </a:r>
                      <a:endPar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rPr>
                        <a:t>A</a:t>
                      </a:r>
                      <a:endPar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rPr>
                        <a:t>R</a:t>
                      </a:r>
                      <a:endPar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2750">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rPr>
                        <a:t>C</a:t>
                      </a:r>
                      <a:endPar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rPr>
                        <a:t>H</a:t>
                      </a:r>
                      <a:endPar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rPr>
                        <a:t>Y</a:t>
                      </a:r>
                      <a:endPar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B</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D</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2750">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E</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F</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G</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I/J</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K</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2750">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L</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P</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Q</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S</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T</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95313">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U</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V</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W</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X</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Z</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318" name=""/>
        <p:cNvGrpSpPr/>
        <p:nvPr/>
      </p:nvGrpSpPr>
      <p:grpSpPr>
        <a:xfrm>
          <a:off x="0" y="0"/>
          <a:ext cx="0" cy="0"/>
          <a:chOff x="0" y="0"/>
          <a:chExt cx="0" cy="0"/>
        </a:xfrm>
      </p:grpSpPr>
      <p:sp>
        <p:nvSpPr>
          <p:cNvPr id="1049448" name="textbox 240"/>
          <p:cNvSpPr/>
          <p:nvPr/>
        </p:nvSpPr>
        <p:spPr>
          <a:xfrm>
            <a:off x="1465580" y="494665"/>
            <a:ext cx="6184900"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lang="zh-CN"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多表</a:t>
            </a:r>
            <a:r>
              <a:rPr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代替密码——</a:t>
            </a:r>
            <a:r>
              <a:rPr lang="en-US"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Playfair</a:t>
            </a:r>
            <a:r>
              <a:rPr lang="zh-CN" altLang="en-US"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a:t>
            </a:r>
            <a:endParaRPr lang="zh-CN" altLang="en-US"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049450"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369" name="picture 248"/>
          <p:cNvPicPr>
            <a:picLocks noChangeAspect="1"/>
          </p:cNvPicPr>
          <p:nvPr/>
        </p:nvPicPr>
        <p:blipFill>
          <a:blip r:embed="rId1"/>
          <a:stretch>
            <a:fillRect/>
          </a:stretch>
        </p:blipFill>
        <p:spPr>
          <a:xfrm rot="21600000">
            <a:off x="824483" y="408431"/>
            <a:ext cx="419100" cy="655320"/>
          </a:xfrm>
          <a:prstGeom prst="rect">
            <a:avLst/>
          </a:prstGeom>
        </p:spPr>
      </p:pic>
      <p:sp>
        <p:nvSpPr>
          <p:cNvPr id="1049451"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2" name="文本框 1"/>
          <p:cNvSpPr txBox="1"/>
          <p:nvPr/>
        </p:nvSpPr>
        <p:spPr>
          <a:xfrm>
            <a:off x="1243330" y="1181100"/>
            <a:ext cx="9295765" cy="5384800"/>
          </a:xfrm>
          <a:prstGeom prst="rect">
            <a:avLst/>
          </a:prstGeom>
          <a:noFill/>
        </p:spPr>
        <p:txBody>
          <a:bodyPr wrap="square" rtlCol="0" anchor="t">
            <a:spAutoFit/>
          </a:bodyPr>
          <a:p>
            <a:pPr marL="457200" indent="-457200">
              <a:buFont typeface="Arial" panose="020B0604020202020204" pitchFamily="34" charset="0"/>
              <a:buChar char="•"/>
            </a:pPr>
            <a:r>
              <a:rPr lang="en-US" sz="2400" dirty="0" smtClean="0">
                <a:latin typeface="黑体" panose="02010609060101010101" charset="-122"/>
                <a:ea typeface="黑体" panose="02010609060101010101" charset="-122"/>
                <a:cs typeface="黑体" panose="02010609060101010101" charset="-122"/>
              </a:rPr>
              <a:t>若一对明文字母重复，则在中间插入一个填充字母，比如 “x”，所以 “balloon” 会被处理为 “ba lx lo on”。</a:t>
            </a:r>
            <a:endParaRPr lang="en-US" sz="24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400" dirty="0" smtClean="0">
                <a:latin typeface="黑体" panose="02010609060101010101" charset="-122"/>
                <a:ea typeface="黑体" panose="02010609060101010101" charset="-122"/>
                <a:cs typeface="黑体" panose="02010609060101010101" charset="-122"/>
              </a:rPr>
              <a:t>若两个明文字母位于矩阵的同一行，则分别替换为该行右边的字母，行首字母紧跟在该行末尾字母之后，形成循环。例如，“ar” 加密后为 “RM”。</a:t>
            </a:r>
            <a:endParaRPr lang="en-US" sz="24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400" dirty="0" smtClean="0">
                <a:latin typeface="黑体" panose="02010609060101010101" charset="-122"/>
                <a:ea typeface="黑体" panose="02010609060101010101" charset="-122"/>
                <a:cs typeface="黑体" panose="02010609060101010101" charset="-122"/>
              </a:rPr>
              <a:t>若两个明文字母位于矩阵的同一列，则分别替换为该列下方的字母，列首字母紧跟在该列末尾字母之后，形成循环。例如，“mu” 加密后为 “CM” 。</a:t>
            </a:r>
            <a:endParaRPr lang="en-US" sz="24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400" dirty="0" smtClean="0">
                <a:latin typeface="黑体" panose="02010609060101010101" charset="-122"/>
                <a:ea typeface="黑体" panose="02010609060101010101" charset="-122"/>
                <a:cs typeface="黑体" panose="02010609060101010101" charset="-122"/>
              </a:rPr>
              <a:t>其他情况下，一对明文字母中的每个字母，都被替换为位于其所在行，且列数与另一个明文字母相同位置的</a:t>
            </a:r>
            <a:endParaRPr lang="en-US" sz="24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400" dirty="0" smtClean="0">
                <a:latin typeface="黑体" panose="02010609060101010101" charset="-122"/>
                <a:ea typeface="黑体" panose="02010609060101010101" charset="-122"/>
                <a:cs typeface="黑体" panose="02010609060101010101" charset="-122"/>
              </a:rPr>
              <a:t>字母。因此，“hs” 变为 “BP”，“ea”</a:t>
            </a:r>
            <a:endParaRPr lang="en-US" sz="24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400" dirty="0" smtClean="0">
                <a:latin typeface="黑体" panose="02010609060101010101" charset="-122"/>
                <a:ea typeface="黑体" panose="02010609060101010101" charset="-122"/>
                <a:cs typeface="黑体" panose="02010609060101010101" charset="-122"/>
              </a:rPr>
              <a:t> 变为 “IM”（或者 “JM”，由加密者决定）。</a:t>
            </a:r>
            <a:endParaRPr lang="en-US" sz="24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endParaRPr lang="en-US" sz="2800" dirty="0" smtClean="0">
              <a:latin typeface="黑体" panose="02010609060101010101" charset="-122"/>
              <a:ea typeface="黑体" panose="02010609060101010101" charset="-122"/>
              <a:cs typeface="黑体" panose="02010609060101010101" charset="-122"/>
            </a:endParaRPr>
          </a:p>
        </p:txBody>
      </p:sp>
      <p:graphicFrame>
        <p:nvGraphicFramePr>
          <p:cNvPr id="80947" name="Group 51"/>
          <p:cNvGraphicFramePr>
            <a:graphicFrameLocks noGrp="1"/>
          </p:cNvGraphicFramePr>
          <p:nvPr>
            <p:custDataLst>
              <p:tags r:id="rId2"/>
            </p:custDataLst>
          </p:nvPr>
        </p:nvGraphicFramePr>
        <p:xfrm>
          <a:off x="8164830" y="4660900"/>
          <a:ext cx="4027170" cy="2197100"/>
        </p:xfrm>
        <a:graphic>
          <a:graphicData uri="http://schemas.openxmlformats.org/drawingml/2006/table">
            <a:tbl>
              <a:tblPr/>
              <a:tblGrid>
                <a:gridCol w="805815"/>
                <a:gridCol w="804545"/>
                <a:gridCol w="776605"/>
                <a:gridCol w="834390"/>
                <a:gridCol w="805815"/>
              </a:tblGrid>
              <a:tr h="439420">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rPr>
                        <a:t>M</a:t>
                      </a:r>
                      <a:endPar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rPr>
                        <a:t>O</a:t>
                      </a:r>
                      <a:endPar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rPr>
                        <a:t>N</a:t>
                      </a:r>
                      <a:endPar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rPr>
                        <a:t>A</a:t>
                      </a:r>
                      <a:endPar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rPr>
                        <a:t>R</a:t>
                      </a:r>
                      <a:endPar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9420">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rPr>
                        <a:t>C</a:t>
                      </a:r>
                      <a:endPar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rPr>
                        <a:t>H</a:t>
                      </a:r>
                      <a:endPar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rPr>
                        <a:t>Y</a:t>
                      </a:r>
                      <a:endParaRPr kumimoji="0" lang="en-US" sz="2000" b="0" i="0" u="none" strike="noStrike" cap="none" normalizeH="0" baseline="0" dirty="0">
                        <a:ln>
                          <a:noFill/>
                        </a:ln>
                        <a:solidFill>
                          <a:schemeClr val="accent2"/>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B</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D</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9420">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E</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F</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G</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I/J</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K</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9420">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L</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P</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Q</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S</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T</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9420">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U</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V</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W</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X</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p>
                      <a:pPr marL="0" marR="0" lvl="0" indent="0" algn="l" defTabSz="914400" rtl="0" eaLnBrk="1" fontAlgn="base" latinLnBrk="0" hangingPunct="1">
                        <a:lnSpc>
                          <a:spcPct val="100000"/>
                        </a:lnSpc>
                        <a:spcBef>
                          <a:spcPct val="20000"/>
                        </a:spcBef>
                        <a:spcAft>
                          <a:spcPct val="0"/>
                        </a:spcAft>
                        <a:buClr>
                          <a:schemeClr val="hlink"/>
                        </a:buClr>
                        <a:buSzPct val="80000"/>
                        <a:buFont typeface="Wingdings" panose="05000000000000000000" pitchFamily="2" charset="2"/>
                        <a:buNone/>
                      </a:pPr>
                      <a:r>
                        <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rPr>
                        <a:t>Z</a:t>
                      </a:r>
                      <a:endParaRPr kumimoji="0" lang="en-US" sz="2000" b="0" i="0" u="none" strike="noStrike" cap="none" normalizeH="0" baseline="0" dirty="0">
                        <a:ln>
                          <a:noFill/>
                        </a:ln>
                        <a:solidFill>
                          <a:schemeClr val="tx1"/>
                        </a:solidFill>
                        <a:effectLst>
                          <a:outerShdw blurRad="38100" dist="38100" dir="2700000" algn="tl">
                            <a:srgbClr val="000000"/>
                          </a:outerShdw>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318" name=""/>
        <p:cNvGrpSpPr/>
        <p:nvPr/>
      </p:nvGrpSpPr>
      <p:grpSpPr>
        <a:xfrm>
          <a:off x="0" y="0"/>
          <a:ext cx="0" cy="0"/>
          <a:chOff x="0" y="0"/>
          <a:chExt cx="0" cy="0"/>
        </a:xfrm>
      </p:grpSpPr>
      <p:sp>
        <p:nvSpPr>
          <p:cNvPr id="1049448" name="textbox 240"/>
          <p:cNvSpPr/>
          <p:nvPr/>
        </p:nvSpPr>
        <p:spPr>
          <a:xfrm>
            <a:off x="1465580" y="494665"/>
            <a:ext cx="6184900"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lang="zh-CN"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多表</a:t>
            </a:r>
            <a:r>
              <a:rPr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代替密码——</a:t>
            </a:r>
            <a:r>
              <a:rPr lang="en-US"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Hill</a:t>
            </a:r>
            <a:r>
              <a:rPr lang="zh-CN" altLang="en-US"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密码</a:t>
            </a:r>
            <a:endParaRPr lang="zh-CN" altLang="en-US"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049450"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369" name="picture 248"/>
          <p:cNvPicPr>
            <a:picLocks noChangeAspect="1"/>
          </p:cNvPicPr>
          <p:nvPr/>
        </p:nvPicPr>
        <p:blipFill>
          <a:blip r:embed="rId1"/>
          <a:stretch>
            <a:fillRect/>
          </a:stretch>
        </p:blipFill>
        <p:spPr>
          <a:xfrm rot="21600000">
            <a:off x="824483" y="408431"/>
            <a:ext cx="419100" cy="655320"/>
          </a:xfrm>
          <a:prstGeom prst="rect">
            <a:avLst/>
          </a:prstGeom>
        </p:spPr>
      </p:pic>
      <p:sp>
        <p:nvSpPr>
          <p:cNvPr id="1049451"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2" name="文本框 1"/>
          <p:cNvSpPr txBox="1"/>
          <p:nvPr/>
        </p:nvSpPr>
        <p:spPr>
          <a:xfrm>
            <a:off x="1465580" y="1252855"/>
            <a:ext cx="9295765" cy="3538220"/>
          </a:xfrm>
          <a:prstGeom prst="rect">
            <a:avLst/>
          </a:prstGeom>
          <a:noFill/>
        </p:spPr>
        <p:txBody>
          <a:bodyPr wrap="square" rtlCol="0" anchor="t">
            <a:spAutoFit/>
          </a:bodyPr>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由数学家莱斯特・希尔于1929年开发。优点是它完全隐藏了单个字母的频率。</a:t>
            </a: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使用更大的矩阵可以隐藏更多的频率信息。一个 3×3 的 Hill 密码不仅隐藏单个字母的频率，还隐藏双字母的频率信息。对唯密文攻击有很强的抵抗力，但在已知明文攻击下很容易被破解 。</a:t>
            </a: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endParaRPr lang="en-US" sz="2800" dirty="0" smtClean="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318" name=""/>
        <p:cNvGrpSpPr/>
        <p:nvPr/>
      </p:nvGrpSpPr>
      <p:grpSpPr>
        <a:xfrm>
          <a:off x="0" y="0"/>
          <a:ext cx="0" cy="0"/>
          <a:chOff x="0" y="0"/>
          <a:chExt cx="0" cy="0"/>
        </a:xfrm>
      </p:grpSpPr>
      <p:sp>
        <p:nvSpPr>
          <p:cNvPr id="1049448" name="textbox 240"/>
          <p:cNvSpPr/>
          <p:nvPr/>
        </p:nvSpPr>
        <p:spPr>
          <a:xfrm>
            <a:off x="1465580" y="494665"/>
            <a:ext cx="6184900"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lang="zh-CN"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多表</a:t>
            </a:r>
            <a:r>
              <a:rPr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代替密码——Vigenère 密码</a:t>
            </a:r>
            <a:endParaRPr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049450"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369" name="picture 248"/>
          <p:cNvPicPr>
            <a:picLocks noChangeAspect="1"/>
          </p:cNvPicPr>
          <p:nvPr/>
        </p:nvPicPr>
        <p:blipFill>
          <a:blip r:embed="rId1"/>
          <a:stretch>
            <a:fillRect/>
          </a:stretch>
        </p:blipFill>
        <p:spPr>
          <a:xfrm rot="21600000">
            <a:off x="824483" y="408431"/>
            <a:ext cx="419100" cy="655320"/>
          </a:xfrm>
          <a:prstGeom prst="rect">
            <a:avLst/>
          </a:prstGeom>
        </p:spPr>
      </p:pic>
      <p:sp>
        <p:nvSpPr>
          <p:cNvPr id="1049451"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2" name="文本框 1"/>
          <p:cNvSpPr txBox="1"/>
          <p:nvPr/>
        </p:nvSpPr>
        <p:spPr>
          <a:xfrm>
            <a:off x="1465580" y="1252855"/>
            <a:ext cx="9295765" cy="2676525"/>
          </a:xfrm>
          <a:prstGeom prst="rect">
            <a:avLst/>
          </a:prstGeom>
          <a:noFill/>
        </p:spPr>
        <p:txBody>
          <a:bodyPr wrap="square" rtlCol="0" anchor="t">
            <a:spAutoFit/>
          </a:bodyPr>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最著名且最简单的多表代换密码之一。在这个方案中，相关的单表代换规则集由 26 个移位为 0 到 25 的凯撒密码组成。每个密码由一个密钥字母表示，该密钥字母是替代明文 “a” 的密文字母。</a:t>
            </a: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endParaRPr lang="en-US" sz="2800" dirty="0" smtClean="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318" name=""/>
        <p:cNvGrpSpPr/>
        <p:nvPr/>
      </p:nvGrpSpPr>
      <p:grpSpPr>
        <a:xfrm>
          <a:off x="0" y="0"/>
          <a:ext cx="0" cy="0"/>
          <a:chOff x="0" y="0"/>
          <a:chExt cx="0" cy="0"/>
        </a:xfrm>
      </p:grpSpPr>
      <p:sp>
        <p:nvSpPr>
          <p:cNvPr id="1049448" name="textbox 240"/>
          <p:cNvSpPr/>
          <p:nvPr/>
        </p:nvSpPr>
        <p:spPr>
          <a:xfrm>
            <a:off x="1465580" y="494665"/>
            <a:ext cx="6184900"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lang="zh-CN"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多表</a:t>
            </a:r>
            <a:r>
              <a:rPr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代替密码——Vigenère 密码</a:t>
            </a:r>
            <a:endParaRPr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049450"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369" name="picture 248"/>
          <p:cNvPicPr>
            <a:picLocks noChangeAspect="1"/>
          </p:cNvPicPr>
          <p:nvPr/>
        </p:nvPicPr>
        <p:blipFill>
          <a:blip r:embed="rId1"/>
          <a:stretch>
            <a:fillRect/>
          </a:stretch>
        </p:blipFill>
        <p:spPr>
          <a:xfrm rot="21600000">
            <a:off x="824483" y="408431"/>
            <a:ext cx="419100" cy="655320"/>
          </a:xfrm>
          <a:prstGeom prst="rect">
            <a:avLst/>
          </a:prstGeom>
        </p:spPr>
      </p:pic>
      <p:sp>
        <p:nvSpPr>
          <p:cNvPr id="1049451"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2" name="文本框 1"/>
          <p:cNvSpPr txBox="1"/>
          <p:nvPr/>
        </p:nvSpPr>
        <p:spPr>
          <a:xfrm>
            <a:off x="1465580" y="1252855"/>
            <a:ext cx="9295765" cy="5692775"/>
          </a:xfrm>
          <a:prstGeom prst="rect">
            <a:avLst/>
          </a:prstGeom>
          <a:noFill/>
        </p:spPr>
        <p:txBody>
          <a:bodyPr wrap="square" rtlCol="0" anchor="t">
            <a:spAutoFit/>
          </a:bodyPr>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最著名且最简单的多表代换密码之一。在这个方案中，相关的单表代换规则集由 26 个移位为 0 到 25 的凯撒密码组成。每个密码由一个密钥字母表示，该密钥字母是替代明文 “a” 的密文字母。</a:t>
            </a: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：要加密一条消息，需要一个和消息一样长的密钥。通常，密钥是一个重复的关键词。例如，如果关键词是 “deceptive”，消息 “we are discovered save yourself” 加密后为：</a:t>
            </a:r>
            <a:endParaRPr lang="en-US" sz="2800" dirty="0" smtClean="0">
              <a:latin typeface="黑体" panose="02010609060101010101" charset="-122"/>
              <a:ea typeface="黑体" panose="02010609060101010101" charset="-122"/>
              <a:cs typeface="黑体" panose="02010609060101010101" charset="-122"/>
            </a:endParaRPr>
          </a:p>
          <a:p>
            <a:pPr marL="914400" lvl="1"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密钥：deceptivedeceptivedeceptive</a:t>
            </a:r>
            <a:endParaRPr lang="en-US" sz="2800" dirty="0" smtClean="0">
              <a:latin typeface="黑体" panose="02010609060101010101" charset="-122"/>
              <a:ea typeface="黑体" panose="02010609060101010101" charset="-122"/>
              <a:cs typeface="黑体" panose="02010609060101010101" charset="-122"/>
            </a:endParaRPr>
          </a:p>
          <a:p>
            <a:pPr marL="914400" lvl="1"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明文：wearediscoveredsaveyourself</a:t>
            </a:r>
            <a:endParaRPr lang="en-US" sz="2800" dirty="0" smtClean="0">
              <a:latin typeface="黑体" panose="02010609060101010101" charset="-122"/>
              <a:ea typeface="黑体" panose="02010609060101010101" charset="-122"/>
              <a:cs typeface="黑体" panose="02010609060101010101" charset="-122"/>
            </a:endParaRPr>
          </a:p>
          <a:p>
            <a:pPr marL="914400" lvl="1"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密文：ZICVTWQNGRZGVTWAVZHCQYGLMGJ</a:t>
            </a: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endParaRPr lang="en-US" sz="2800" dirty="0" smtClean="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318" name=""/>
        <p:cNvGrpSpPr/>
        <p:nvPr/>
      </p:nvGrpSpPr>
      <p:grpSpPr>
        <a:xfrm>
          <a:off x="0" y="0"/>
          <a:ext cx="0" cy="0"/>
          <a:chOff x="0" y="0"/>
          <a:chExt cx="0" cy="0"/>
        </a:xfrm>
      </p:grpSpPr>
      <p:sp>
        <p:nvSpPr>
          <p:cNvPr id="1049448" name="textbox 240"/>
          <p:cNvSpPr/>
          <p:nvPr/>
        </p:nvSpPr>
        <p:spPr>
          <a:xfrm>
            <a:off x="1465580" y="494665"/>
            <a:ext cx="7965440"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lang="zh-CN"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多表</a:t>
            </a:r>
            <a:r>
              <a:rPr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代替密码——Vigenère 自密钥系统 </a:t>
            </a:r>
            <a:endParaRPr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049450"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369" name="picture 248"/>
          <p:cNvPicPr>
            <a:picLocks noChangeAspect="1"/>
          </p:cNvPicPr>
          <p:nvPr/>
        </p:nvPicPr>
        <p:blipFill>
          <a:blip r:embed="rId1"/>
          <a:stretch>
            <a:fillRect/>
          </a:stretch>
        </p:blipFill>
        <p:spPr>
          <a:xfrm rot="21600000">
            <a:off x="824483" y="408431"/>
            <a:ext cx="419100" cy="655320"/>
          </a:xfrm>
          <a:prstGeom prst="rect">
            <a:avLst/>
          </a:prstGeom>
        </p:spPr>
      </p:pic>
      <p:sp>
        <p:nvSpPr>
          <p:cNvPr id="1049451"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2" name="文本框 1"/>
          <p:cNvSpPr txBox="1"/>
          <p:nvPr/>
        </p:nvSpPr>
        <p:spPr>
          <a:xfrm>
            <a:off x="1465580" y="1252855"/>
            <a:ext cx="9295765" cy="3538220"/>
          </a:xfrm>
          <a:prstGeom prst="rect">
            <a:avLst/>
          </a:prstGeom>
          <a:noFill/>
        </p:spPr>
        <p:txBody>
          <a:bodyPr wrap="square" rtlCol="0" anchor="t">
            <a:spAutoFit/>
          </a:bodyPr>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一个关键词与明文本身连接起来，提供一个动态密钥。例如：</a:t>
            </a: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密钥：deceptivewearediscoveredsav</a:t>
            </a: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明文：wearediscoveredsaveyourself</a:t>
            </a: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密文：ZICVTWQNGKZEIIGASXSTSLVVWLA</a:t>
            </a: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即使是这种方案，也容易受到密码分析的攻击。因为密钥和明文具有相同的字母频率分布，可以应用统计技术进行破解。</a:t>
            </a:r>
            <a:endParaRPr lang="en-US" sz="2800" dirty="0" smtClean="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318" name=""/>
        <p:cNvGrpSpPr/>
        <p:nvPr/>
      </p:nvGrpSpPr>
      <p:grpSpPr>
        <a:xfrm>
          <a:off x="0" y="0"/>
          <a:ext cx="0" cy="0"/>
          <a:chOff x="0" y="0"/>
          <a:chExt cx="0" cy="0"/>
        </a:xfrm>
      </p:grpSpPr>
      <p:sp>
        <p:nvSpPr>
          <p:cNvPr id="1049448" name="textbox 240"/>
          <p:cNvSpPr/>
          <p:nvPr/>
        </p:nvSpPr>
        <p:spPr>
          <a:xfrm>
            <a:off x="1465580" y="494665"/>
            <a:ext cx="7965440"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lang="zh-CN"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多表</a:t>
            </a:r>
            <a:r>
              <a:rPr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代替密码——</a:t>
            </a:r>
            <a:r>
              <a:rPr lang="zh-CN"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一次一密</a:t>
            </a:r>
            <a:r>
              <a:rPr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 </a:t>
            </a:r>
            <a:endParaRPr sz="3200" kern="0" spc="-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049450" name="path"/>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alpha val="100000"/>
              </a:srgbClr>
            </a:solidFill>
            <a:prstDash val="solid"/>
            <a:miter lim="1000000"/>
          </a:ln>
        </p:spPr>
        <p:txBody>
          <a:bodyPr rtlCol="0"/>
          <a:p>
            <a:pPr algn="ctr"/>
            <a:endParaRPr lang="zh-CN" altLang="en-US"/>
          </a:p>
        </p:txBody>
      </p:sp>
      <p:pic>
        <p:nvPicPr>
          <p:cNvPr id="2097369" name="picture 248"/>
          <p:cNvPicPr>
            <a:picLocks noChangeAspect="1"/>
          </p:cNvPicPr>
          <p:nvPr/>
        </p:nvPicPr>
        <p:blipFill>
          <a:blip r:embed="rId1"/>
          <a:stretch>
            <a:fillRect/>
          </a:stretch>
        </p:blipFill>
        <p:spPr>
          <a:xfrm rot="21600000">
            <a:off x="824483" y="408431"/>
            <a:ext cx="419100" cy="655320"/>
          </a:xfrm>
          <a:prstGeom prst="rect">
            <a:avLst/>
          </a:prstGeom>
        </p:spPr>
      </p:pic>
      <p:sp>
        <p:nvSpPr>
          <p:cNvPr id="1049451"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2" name="文本框 1"/>
          <p:cNvSpPr txBox="1"/>
          <p:nvPr/>
        </p:nvSpPr>
        <p:spPr>
          <a:xfrm>
            <a:off x="1465580" y="1252855"/>
            <a:ext cx="9295765" cy="3969385"/>
          </a:xfrm>
          <a:prstGeom prst="rect">
            <a:avLst/>
          </a:prstGeom>
          <a:noFill/>
        </p:spPr>
        <p:txBody>
          <a:bodyPr wrap="square" rtlCol="0" anchor="t">
            <a:spAutoFit/>
          </a:bodyPr>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一次性密码本是由陆军通信兵军官约瑟夫・莫博涅提出的对 Vernam 密码的改进。</a:t>
            </a: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使用与消息一样长的随机密钥，这样密钥就不需要重复。密钥用于加密和解密一条消息，然后就被丢弃。</a:t>
            </a: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每条新消息都需要一个与新消息长度相同的新密钥。这种方案是无法破解的。</a:t>
            </a: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它产生的随机输出与明文没有任何统计关系。</a:t>
            </a:r>
            <a:endParaRPr lang="en-US" sz="2800" dirty="0" smtClean="0">
              <a:latin typeface="黑体" panose="02010609060101010101" charset="-122"/>
              <a:ea typeface="黑体" panose="02010609060101010101" charset="-122"/>
              <a:cs typeface="黑体" panose="02010609060101010101" charset="-122"/>
            </a:endParaRPr>
          </a:p>
          <a:p>
            <a:pPr marL="457200" indent="-457200">
              <a:buFont typeface="Arial" panose="020B0604020202020204" pitchFamily="34" charset="0"/>
              <a:buChar char="•"/>
            </a:pPr>
            <a:r>
              <a:rPr lang="en-US" sz="2800" dirty="0" smtClean="0">
                <a:latin typeface="黑体" panose="02010609060101010101" charset="-122"/>
                <a:ea typeface="黑体" panose="02010609060101010101" charset="-122"/>
                <a:cs typeface="黑体" panose="02010609060101010101" charset="-122"/>
              </a:rPr>
              <a:t>因为密文不包含任何关于明文的信息，所以根本无法破解密码。</a:t>
            </a:r>
            <a:endParaRPr lang="en-US" sz="2800" dirty="0" smtClean="0">
              <a:latin typeface="黑体" panose="02010609060101010101" charset="-122"/>
              <a:ea typeface="黑体" panose="02010609060101010101" charset="-122"/>
              <a:cs typeface="黑体" panose="02010609060101010101"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324" name=""/>
        <p:cNvGrpSpPr/>
        <p:nvPr/>
      </p:nvGrpSpPr>
      <p:grpSpPr>
        <a:xfrm>
          <a:off x="0" y="0"/>
          <a:ext cx="0" cy="0"/>
          <a:chOff x="0" y="0"/>
          <a:chExt cx="0" cy="0"/>
        </a:xfrm>
      </p:grpSpPr>
      <p:grpSp>
        <p:nvGrpSpPr>
          <p:cNvPr id="325" name="group 22"/>
          <p:cNvGrpSpPr/>
          <p:nvPr/>
        </p:nvGrpSpPr>
        <p:grpSpPr>
          <a:xfrm rot="21600000">
            <a:off x="3577716" y="4039997"/>
            <a:ext cx="6781799" cy="892809"/>
            <a:chOff x="-309880" y="-23495"/>
            <a:chExt cx="6781799" cy="892809"/>
          </a:xfrm>
        </p:grpSpPr>
        <p:pic>
          <p:nvPicPr>
            <p:cNvPr id="2097372" name="picture 268"/>
            <p:cNvPicPr>
              <a:picLocks noChangeAspect="1"/>
            </p:cNvPicPr>
            <p:nvPr/>
          </p:nvPicPr>
          <p:blipFill>
            <a:blip r:embed="rId1"/>
            <a:stretch>
              <a:fillRect/>
            </a:stretch>
          </p:blipFill>
          <p:spPr>
            <a:xfrm rot="21600000">
              <a:off x="-309880" y="-23495"/>
              <a:ext cx="5864351" cy="813815"/>
            </a:xfrm>
            <a:prstGeom prst="rect">
              <a:avLst/>
            </a:prstGeom>
          </p:spPr>
        </p:pic>
        <p:sp>
          <p:nvSpPr>
            <p:cNvPr id="1049459" name="textbox 270"/>
            <p:cNvSpPr/>
            <p:nvPr/>
          </p:nvSpPr>
          <p:spPr>
            <a:xfrm>
              <a:off x="581660" y="-12700"/>
              <a:ext cx="5890259" cy="882014"/>
            </a:xfrm>
            <a:prstGeom prst="rect">
              <a:avLst/>
            </a:prstGeom>
          </p:spPr>
          <p:txBody>
            <a:bodyPr vert="horz" wrap="square" lIns="0" tIns="0" rIns="0" bIns="0"/>
            <a:p>
              <a:pPr algn="l" rtl="0" eaLnBrk="0">
                <a:lnSpc>
                  <a:spcPct val="167000"/>
                </a:lnSpc>
              </a:pPr>
              <a:endParaRPr lang="en-US" altLang="en-US" sz="1000" dirty="0"/>
            </a:p>
            <a:p>
              <a:pPr algn="l" rtl="0" eaLnBrk="0">
                <a:lnSpc>
                  <a:spcPct val="7000"/>
                </a:lnSpc>
              </a:pPr>
              <a:endParaRPr lang="en-US" altLang="en-US" sz="100" dirty="0"/>
            </a:p>
            <a:p>
              <a:pPr marL="680085" algn="l" rtl="0" eaLnBrk="0">
                <a:lnSpc>
                  <a:spcPct val="95000"/>
                </a:lnSpc>
              </a:pPr>
              <a:r>
                <a:rPr sz="2400" kern="0" spc="-3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置换密码</a:t>
              </a:r>
              <a:endParaRPr lang="en-US" altLang="en-US" sz="2400" dirty="0"/>
            </a:p>
          </p:txBody>
        </p:sp>
      </p:grpSp>
      <p:sp>
        <p:nvSpPr>
          <p:cNvPr id="1049460" name="textbox 274"/>
          <p:cNvSpPr/>
          <p:nvPr/>
        </p:nvSpPr>
        <p:spPr>
          <a:xfrm>
            <a:off x="3856990" y="2985135"/>
            <a:ext cx="5567045" cy="876935"/>
          </a:xfrm>
          <a:prstGeom prst="rect">
            <a:avLst/>
          </a:prstGeom>
        </p:spPr>
        <p:txBody>
          <a:bodyPr vert="horz" wrap="square" lIns="0" tIns="0" rIns="0" bIns="0"/>
          <a:p>
            <a:pPr algn="l" rtl="0" eaLnBrk="0">
              <a:lnSpc>
                <a:spcPct val="167000"/>
              </a:lnSpc>
            </a:pPr>
            <a:endParaRPr lang="en-US" altLang="en-US" sz="1000" dirty="0"/>
          </a:p>
          <a:p>
            <a:pPr algn="l" rtl="0" eaLnBrk="0">
              <a:lnSpc>
                <a:spcPct val="7000"/>
              </a:lnSpc>
            </a:pPr>
            <a:endParaRPr lang="en-US" altLang="en-US" sz="100" dirty="0"/>
          </a:p>
          <a:p>
            <a:pPr marL="695960" algn="l" rtl="0" eaLnBrk="0">
              <a:lnSpc>
                <a:spcPct val="94000"/>
              </a:lnSpc>
            </a:pPr>
            <a:r>
              <a:rPr lang="en-US" sz="2400" kern="0" spc="-3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 </a:t>
            </a:r>
            <a:r>
              <a:rPr sz="2400" kern="0" spc="-3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多表代替密码算法</a:t>
            </a:r>
            <a:endParaRPr lang="en-US" altLang="en-US" sz="2400" dirty="0"/>
          </a:p>
        </p:txBody>
      </p:sp>
      <p:grpSp>
        <p:nvGrpSpPr>
          <p:cNvPr id="327" name="group 26"/>
          <p:cNvGrpSpPr/>
          <p:nvPr/>
        </p:nvGrpSpPr>
        <p:grpSpPr>
          <a:xfrm rot="21600000">
            <a:off x="3898773" y="1863852"/>
            <a:ext cx="5682615" cy="876935"/>
            <a:chOff x="3175" y="-1726565"/>
            <a:chExt cx="5682615" cy="876935"/>
          </a:xfrm>
        </p:grpSpPr>
        <p:pic>
          <p:nvPicPr>
            <p:cNvPr id="2097374" name="picture 276"/>
            <p:cNvPicPr>
              <a:picLocks noChangeAspect="1"/>
            </p:cNvPicPr>
            <p:nvPr/>
          </p:nvPicPr>
          <p:blipFill>
            <a:blip r:embed="rId2"/>
            <a:stretch>
              <a:fillRect/>
            </a:stretch>
          </p:blipFill>
          <p:spPr>
            <a:xfrm rot="21600000">
              <a:off x="3175" y="-1704340"/>
              <a:ext cx="5507735" cy="813815"/>
            </a:xfrm>
            <a:prstGeom prst="rect">
              <a:avLst/>
            </a:prstGeom>
          </p:spPr>
        </p:pic>
        <p:sp>
          <p:nvSpPr>
            <p:cNvPr id="1049461" name="textbox 278"/>
            <p:cNvSpPr/>
            <p:nvPr/>
          </p:nvSpPr>
          <p:spPr>
            <a:xfrm>
              <a:off x="152400" y="-1726565"/>
              <a:ext cx="5533390" cy="876935"/>
            </a:xfrm>
            <a:prstGeom prst="rect">
              <a:avLst/>
            </a:prstGeom>
          </p:spPr>
          <p:txBody>
            <a:bodyPr vert="horz" wrap="square" lIns="0" tIns="0" rIns="0" bIns="0"/>
            <a:p>
              <a:pPr algn="l" rtl="0" eaLnBrk="0">
                <a:lnSpc>
                  <a:spcPct val="167000"/>
                </a:lnSpc>
              </a:pPr>
              <a:endParaRPr lang="en-US" altLang="en-US" sz="1000" dirty="0"/>
            </a:p>
            <a:p>
              <a:pPr marL="683895" algn="l" rtl="0" eaLnBrk="0">
                <a:lnSpc>
                  <a:spcPct val="94000"/>
                </a:lnSpc>
                <a:spcBef>
                  <a:spcPts val="0"/>
                </a:spcBef>
              </a:pPr>
              <a:r>
                <a:rPr sz="2400" kern="0" spc="-20" dirty="0">
                  <a:ln w="8708"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代替密码算法</a:t>
              </a:r>
              <a:endParaRPr lang="en-US" altLang="en-US" sz="2400" dirty="0"/>
            </a:p>
          </p:txBody>
        </p:sp>
      </p:grpSp>
      <p:grpSp>
        <p:nvGrpSpPr>
          <p:cNvPr id="328" name="group 28"/>
          <p:cNvGrpSpPr/>
          <p:nvPr/>
        </p:nvGrpSpPr>
        <p:grpSpPr>
          <a:xfrm rot="21600000">
            <a:off x="2961639" y="1351661"/>
            <a:ext cx="1461008" cy="3960240"/>
            <a:chOff x="0" y="0"/>
            <a:chExt cx="1461008" cy="3960240"/>
          </a:xfrm>
        </p:grpSpPr>
        <p:sp>
          <p:nvSpPr>
            <p:cNvPr id="1049462" name="path"/>
            <p:cNvSpPr/>
            <p:nvPr/>
          </p:nvSpPr>
          <p:spPr>
            <a:xfrm>
              <a:off x="0" y="0"/>
              <a:ext cx="1082692" cy="3960240"/>
            </a:xfrm>
            <a:custGeom>
              <a:avLst/>
              <a:gdLst/>
              <a:ahLst/>
              <a:cxnLst/>
              <a:rect l="0" t="0" r="0" b="0"/>
              <a:pathLst>
                <a:path w="1705" h="6236">
                  <a:moveTo>
                    <a:pt x="4" y="4"/>
                  </a:moveTo>
                  <a:cubicBezTo>
                    <a:pt x="1897" y="1448"/>
                    <a:pt x="2261" y="4153"/>
                    <a:pt x="818" y="6046"/>
                  </a:cubicBezTo>
                  <a:cubicBezTo>
                    <a:pt x="769" y="6109"/>
                    <a:pt x="719" y="6171"/>
                    <a:pt x="668" y="6231"/>
                  </a:cubicBezTo>
                  <a:lnTo>
                    <a:pt x="668" y="6231"/>
                  </a:lnTo>
                  <a:cubicBezTo>
                    <a:pt x="2213" y="4421"/>
                    <a:pt x="2000" y="1700"/>
                    <a:pt x="190" y="154"/>
                  </a:cubicBezTo>
                  <a:cubicBezTo>
                    <a:pt x="130" y="102"/>
                    <a:pt x="68" y="52"/>
                    <a:pt x="4" y="4"/>
                  </a:cubicBezTo>
                </a:path>
              </a:pathLst>
            </a:custGeom>
            <a:noFill/>
            <a:ln w="6096" cap="flat">
              <a:solidFill>
                <a:srgbClr val="477BA9">
                  <a:alpha val="100000"/>
                </a:srgbClr>
              </a:solidFill>
              <a:prstDash val="solid"/>
              <a:miter lim="1000000"/>
            </a:ln>
          </p:spPr>
          <p:txBody>
            <a:bodyPr rtlCol="0"/>
            <a:p>
              <a:pPr algn="ctr"/>
              <a:endParaRPr lang="zh-CN" altLang="en-US"/>
            </a:p>
          </p:txBody>
        </p:sp>
        <p:sp>
          <p:nvSpPr>
            <p:cNvPr id="1049463" name="path"/>
            <p:cNvSpPr/>
            <p:nvPr/>
          </p:nvSpPr>
          <p:spPr>
            <a:xfrm>
              <a:off x="86360" y="426846"/>
              <a:ext cx="1016508" cy="1014983"/>
            </a:xfrm>
            <a:custGeom>
              <a:avLst/>
              <a:gdLst/>
              <a:ahLst/>
              <a:cxnLst/>
              <a:rect l="0" t="0" r="0" b="0"/>
              <a:pathLst>
                <a:path w="1600" h="1598">
                  <a:moveTo>
                    <a:pt x="0" y="799"/>
                  </a:moveTo>
                  <a:cubicBezTo>
                    <a:pt x="0" y="357"/>
                    <a:pt x="358" y="0"/>
                    <a:pt x="800" y="0"/>
                  </a:cubicBezTo>
                  <a:cubicBezTo>
                    <a:pt x="1242" y="0"/>
                    <a:pt x="1600" y="357"/>
                    <a:pt x="1600" y="799"/>
                  </a:cubicBezTo>
                  <a:cubicBezTo>
                    <a:pt x="1600" y="1240"/>
                    <a:pt x="1242" y="1598"/>
                    <a:pt x="800" y="1598"/>
                  </a:cubicBezTo>
                  <a:cubicBezTo>
                    <a:pt x="358" y="1598"/>
                    <a:pt x="0" y="1240"/>
                    <a:pt x="0" y="799"/>
                  </a:cubicBezTo>
                </a:path>
              </a:pathLst>
            </a:custGeom>
            <a:solidFill>
              <a:srgbClr val="FFFFFF">
                <a:alpha val="100000"/>
              </a:srgbClr>
            </a:solidFill>
            <a:ln cap="flat">
              <a:noFill/>
              <a:prstDash val="solid"/>
              <a:miter lim="0"/>
            </a:ln>
          </p:spPr>
          <p:txBody>
            <a:bodyPr rtlCol="0"/>
            <a:p>
              <a:pPr algn="ctr"/>
              <a:endParaRPr lang="zh-CN" altLang="en-US"/>
            </a:p>
          </p:txBody>
        </p:sp>
        <p:sp>
          <p:nvSpPr>
            <p:cNvPr id="1049464" name="path"/>
            <p:cNvSpPr/>
            <p:nvPr/>
          </p:nvSpPr>
          <p:spPr>
            <a:xfrm>
              <a:off x="83312" y="423798"/>
              <a:ext cx="1022604" cy="1021079"/>
            </a:xfrm>
            <a:custGeom>
              <a:avLst/>
              <a:gdLst/>
              <a:ahLst/>
              <a:cxnLst/>
              <a:rect l="0" t="0" r="0" b="0"/>
              <a:pathLst>
                <a:path w="1610" h="1607">
                  <a:moveTo>
                    <a:pt x="4" y="803"/>
                  </a:moveTo>
                  <a:cubicBezTo>
                    <a:pt x="4" y="362"/>
                    <a:pt x="363" y="4"/>
                    <a:pt x="805" y="4"/>
                  </a:cubicBezTo>
                  <a:cubicBezTo>
                    <a:pt x="1247" y="4"/>
                    <a:pt x="1605" y="362"/>
                    <a:pt x="1605" y="803"/>
                  </a:cubicBezTo>
                  <a:cubicBezTo>
                    <a:pt x="1605" y="1245"/>
                    <a:pt x="1247" y="1603"/>
                    <a:pt x="805" y="1603"/>
                  </a:cubicBezTo>
                  <a:cubicBezTo>
                    <a:pt x="363" y="1603"/>
                    <a:pt x="4" y="1245"/>
                    <a:pt x="4" y="803"/>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9465" name="path"/>
            <p:cNvSpPr/>
            <p:nvPr/>
          </p:nvSpPr>
          <p:spPr>
            <a:xfrm>
              <a:off x="407923" y="2616834"/>
              <a:ext cx="1016508" cy="1016508"/>
            </a:xfrm>
            <a:custGeom>
              <a:avLst/>
              <a:gdLst/>
              <a:ahLst/>
              <a:cxnLst/>
              <a:rect l="0" t="0" r="0" b="0"/>
              <a:pathLst>
                <a:path w="1600" h="1600">
                  <a:moveTo>
                    <a:pt x="0" y="800"/>
                  </a:moveTo>
                  <a:cubicBezTo>
                    <a:pt x="0" y="358"/>
                    <a:pt x="358" y="0"/>
                    <a:pt x="800" y="0"/>
                  </a:cubicBezTo>
                  <a:cubicBezTo>
                    <a:pt x="1242" y="0"/>
                    <a:pt x="1600" y="358"/>
                    <a:pt x="1600" y="800"/>
                  </a:cubicBezTo>
                  <a:cubicBezTo>
                    <a:pt x="1600" y="1242"/>
                    <a:pt x="1242" y="1600"/>
                    <a:pt x="800" y="1600"/>
                  </a:cubicBezTo>
                  <a:cubicBezTo>
                    <a:pt x="358" y="1600"/>
                    <a:pt x="0" y="1242"/>
                    <a:pt x="0" y="800"/>
                  </a:cubicBezTo>
                </a:path>
              </a:pathLst>
            </a:custGeom>
            <a:solidFill>
              <a:srgbClr val="FFFFFF">
                <a:alpha val="100000"/>
              </a:srgbClr>
            </a:solidFill>
            <a:ln cap="flat">
              <a:noFill/>
              <a:prstDash val="solid"/>
              <a:miter lim="0"/>
            </a:ln>
          </p:spPr>
          <p:txBody>
            <a:bodyPr rtlCol="0"/>
            <a:p>
              <a:pPr algn="ctr"/>
              <a:endParaRPr lang="zh-CN" altLang="en-US"/>
            </a:p>
          </p:txBody>
        </p:sp>
        <p:sp>
          <p:nvSpPr>
            <p:cNvPr id="1049466" name="path"/>
            <p:cNvSpPr/>
            <p:nvPr/>
          </p:nvSpPr>
          <p:spPr>
            <a:xfrm>
              <a:off x="404876" y="2613786"/>
              <a:ext cx="1022603" cy="1022604"/>
            </a:xfrm>
            <a:custGeom>
              <a:avLst/>
              <a:gdLst/>
              <a:ahLst/>
              <a:cxnLst/>
              <a:rect l="0" t="0" r="0" b="0"/>
              <a:pathLst>
                <a:path w="1610" h="1610">
                  <a:moveTo>
                    <a:pt x="4" y="805"/>
                  </a:moveTo>
                  <a:cubicBezTo>
                    <a:pt x="4" y="363"/>
                    <a:pt x="363" y="4"/>
                    <a:pt x="805" y="4"/>
                  </a:cubicBezTo>
                  <a:cubicBezTo>
                    <a:pt x="1247" y="4"/>
                    <a:pt x="1605" y="363"/>
                    <a:pt x="1605" y="805"/>
                  </a:cubicBezTo>
                  <a:cubicBezTo>
                    <a:pt x="1605" y="1247"/>
                    <a:pt x="1247" y="1605"/>
                    <a:pt x="805" y="1605"/>
                  </a:cubicBezTo>
                  <a:cubicBezTo>
                    <a:pt x="363" y="1605"/>
                    <a:pt x="4" y="1247"/>
                    <a:pt x="4" y="805"/>
                  </a:cubicBezTo>
                </a:path>
              </a:pathLst>
            </a:custGeom>
            <a:noFill/>
            <a:ln w="6096" cap="flat">
              <a:solidFill>
                <a:srgbClr val="5B9BD5">
                  <a:alpha val="100000"/>
                </a:srgbClr>
              </a:solidFill>
              <a:prstDash val="solid"/>
              <a:miter lim="1000000"/>
            </a:ln>
          </p:spPr>
          <p:txBody>
            <a:bodyPr rtlCol="0"/>
            <a:p>
              <a:pPr algn="ctr"/>
              <a:endParaRPr lang="zh-CN" altLang="en-US"/>
            </a:p>
          </p:txBody>
        </p:sp>
        <p:sp>
          <p:nvSpPr>
            <p:cNvPr id="1049467" name="path"/>
            <p:cNvSpPr/>
            <p:nvPr/>
          </p:nvSpPr>
          <p:spPr>
            <a:xfrm>
              <a:off x="441452" y="1493646"/>
              <a:ext cx="1016508" cy="1014983"/>
            </a:xfrm>
            <a:custGeom>
              <a:avLst/>
              <a:gdLst/>
              <a:ahLst/>
              <a:cxnLst/>
              <a:rect l="0" t="0" r="0" b="0"/>
              <a:pathLst>
                <a:path w="1600" h="1598">
                  <a:moveTo>
                    <a:pt x="0" y="799"/>
                  </a:moveTo>
                  <a:cubicBezTo>
                    <a:pt x="0" y="357"/>
                    <a:pt x="358" y="0"/>
                    <a:pt x="800" y="0"/>
                  </a:cubicBezTo>
                  <a:cubicBezTo>
                    <a:pt x="1242" y="0"/>
                    <a:pt x="1600" y="357"/>
                    <a:pt x="1600" y="799"/>
                  </a:cubicBezTo>
                  <a:cubicBezTo>
                    <a:pt x="1600" y="1240"/>
                    <a:pt x="1242" y="1598"/>
                    <a:pt x="800" y="1598"/>
                  </a:cubicBezTo>
                  <a:cubicBezTo>
                    <a:pt x="358" y="1598"/>
                    <a:pt x="0" y="1240"/>
                    <a:pt x="0" y="799"/>
                  </a:cubicBezTo>
                </a:path>
              </a:pathLst>
            </a:custGeom>
            <a:solidFill>
              <a:srgbClr val="FFFFFF">
                <a:alpha val="100000"/>
              </a:srgbClr>
            </a:solidFill>
            <a:ln cap="flat">
              <a:noFill/>
              <a:prstDash val="solid"/>
              <a:miter lim="0"/>
            </a:ln>
          </p:spPr>
          <p:txBody>
            <a:bodyPr rtlCol="0"/>
            <a:p>
              <a:pPr algn="ctr"/>
              <a:endParaRPr lang="zh-CN" altLang="en-US"/>
            </a:p>
          </p:txBody>
        </p:sp>
        <p:sp>
          <p:nvSpPr>
            <p:cNvPr id="1049468" name="path"/>
            <p:cNvSpPr/>
            <p:nvPr/>
          </p:nvSpPr>
          <p:spPr>
            <a:xfrm>
              <a:off x="438404" y="1490598"/>
              <a:ext cx="1022603" cy="1021079"/>
            </a:xfrm>
            <a:custGeom>
              <a:avLst/>
              <a:gdLst/>
              <a:ahLst/>
              <a:cxnLst/>
              <a:rect l="0" t="0" r="0" b="0"/>
              <a:pathLst>
                <a:path w="1610" h="1607">
                  <a:moveTo>
                    <a:pt x="4" y="803"/>
                  </a:moveTo>
                  <a:cubicBezTo>
                    <a:pt x="4" y="362"/>
                    <a:pt x="363" y="4"/>
                    <a:pt x="805" y="4"/>
                  </a:cubicBezTo>
                  <a:cubicBezTo>
                    <a:pt x="1247" y="4"/>
                    <a:pt x="1605" y="362"/>
                    <a:pt x="1605" y="803"/>
                  </a:cubicBezTo>
                  <a:cubicBezTo>
                    <a:pt x="1605" y="1245"/>
                    <a:pt x="1247" y="1603"/>
                    <a:pt x="805" y="1603"/>
                  </a:cubicBezTo>
                  <a:cubicBezTo>
                    <a:pt x="363" y="1603"/>
                    <a:pt x="4" y="1245"/>
                    <a:pt x="4" y="803"/>
                  </a:cubicBezTo>
                </a:path>
              </a:pathLst>
            </a:custGeom>
            <a:noFill/>
            <a:ln w="6096" cap="flat">
              <a:solidFill>
                <a:srgbClr val="5B9BD5">
                  <a:alpha val="100000"/>
                </a:srgbClr>
              </a:solidFill>
              <a:prstDash val="solid"/>
              <a:miter lim="1000000"/>
            </a:ln>
          </p:spPr>
          <p:txBody>
            <a:bodyPr rtlCol="0"/>
            <a:p>
              <a:pPr algn="ctr"/>
              <a:endParaRPr lang="zh-CN" altLang="en-US"/>
            </a:p>
          </p:txBody>
        </p:sp>
      </p:grpSp>
      <p:sp>
        <p:nvSpPr>
          <p:cNvPr id="1049469" name="textbox 294"/>
          <p:cNvSpPr/>
          <p:nvPr/>
        </p:nvSpPr>
        <p:spPr>
          <a:xfrm>
            <a:off x="2745896" y="488157"/>
            <a:ext cx="3855720" cy="482600"/>
          </a:xfrm>
          <a:prstGeom prst="rect">
            <a:avLst/>
          </a:prstGeom>
        </p:spPr>
        <p:txBody>
          <a:bodyPr vert="horz" wrap="square" lIns="0" tIns="0" rIns="0" bIns="0"/>
          <a:p>
            <a:pPr algn="l" rtl="0" eaLnBrk="0">
              <a:lnSpc>
                <a:spcPct val="73000"/>
              </a:lnSpc>
            </a:pPr>
            <a:endParaRPr lang="en-US" altLang="en-US" sz="100" dirty="0"/>
          </a:p>
          <a:p>
            <a:pPr marL="12700" algn="l" rtl="0" eaLnBrk="0">
              <a:lnSpc>
                <a:spcPct val="94000"/>
              </a:lnSpc>
            </a:pPr>
            <a:r>
              <a:rPr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第</a:t>
            </a:r>
            <a:r>
              <a:rPr lang="zh-CN"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五</a:t>
            </a:r>
            <a:r>
              <a:rPr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讲</a:t>
            </a:r>
            <a:r>
              <a:rPr sz="3200" kern="0" spc="280" dirty="0">
                <a:solidFill>
                  <a:srgbClr val="1F4E79">
                    <a:alpha val="100000"/>
                  </a:srgbClr>
                </a:solidFill>
                <a:latin typeface="仿宋" panose="02010609060101010101" charset="-122"/>
                <a:ea typeface="仿宋" panose="02010609060101010101" charset="-122"/>
                <a:cs typeface="仿宋" panose="02010609060101010101" charset="-122"/>
              </a:rPr>
              <a:t> </a:t>
            </a:r>
            <a:r>
              <a:rPr sz="3200" kern="0" spc="-6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古典密码算法</a:t>
            </a:r>
            <a:endParaRPr lang="en-US" altLang="en-US" sz="3200" dirty="0"/>
          </a:p>
        </p:txBody>
      </p:sp>
      <p:sp>
        <p:nvSpPr>
          <p:cNvPr id="1049470"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75" name="picture 300"/>
          <p:cNvPicPr>
            <a:picLocks noChangeAspect="1"/>
          </p:cNvPicPr>
          <p:nvPr/>
        </p:nvPicPr>
        <p:blipFill>
          <a:blip r:embed="rId3"/>
          <a:stretch>
            <a:fillRect/>
          </a:stretch>
        </p:blipFill>
        <p:spPr>
          <a:xfrm rot="21600000">
            <a:off x="824483" y="408431"/>
            <a:ext cx="419100" cy="655320"/>
          </a:xfrm>
          <a:prstGeom prst="rect">
            <a:avLst/>
          </a:prstGeom>
        </p:spPr>
      </p:pic>
      <p:sp>
        <p:nvSpPr>
          <p:cNvPr id="1049471"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304" name=""/>
        <p:cNvGrpSpPr/>
        <p:nvPr/>
      </p:nvGrpSpPr>
      <p:grpSpPr>
        <a:xfrm>
          <a:off x="0" y="0"/>
          <a:ext cx="0" cy="0"/>
          <a:chOff x="0" y="0"/>
          <a:chExt cx="0" cy="0"/>
        </a:xfrm>
      </p:grpSpPr>
      <p:sp>
        <p:nvSpPr>
          <p:cNvPr id="1049392" name="textbox 48"/>
          <p:cNvSpPr/>
          <p:nvPr/>
        </p:nvSpPr>
        <p:spPr>
          <a:xfrm>
            <a:off x="1579717" y="400232"/>
            <a:ext cx="8936355" cy="2572385"/>
          </a:xfrm>
          <a:prstGeom prst="rect">
            <a:avLst/>
          </a:prstGeom>
        </p:spPr>
        <p:txBody>
          <a:bodyPr vert="horz" wrap="square" lIns="0" tIns="0" rIns="0" bIns="0"/>
          <a:p>
            <a:pPr algn="l" rtl="0" eaLnBrk="0">
              <a:lnSpc>
                <a:spcPct val="81000"/>
              </a:lnSpc>
            </a:pPr>
            <a:endParaRPr lang="en-US" altLang="en-US" sz="100" dirty="0"/>
          </a:p>
          <a:p>
            <a:pPr marL="12700" algn="l" rtl="0" eaLnBrk="0">
              <a:lnSpc>
                <a:spcPct val="97000"/>
              </a:lnSpc>
              <a:tabLst>
                <a:tab pos="8922385" algn="l"/>
              </a:tabLst>
            </a:pPr>
            <a:r>
              <a:rPr sz="3900" u="sng" kern="0" spc="150" dirty="0">
                <a:ln w="14499" cap="flat" cmpd="sng">
                  <a:solidFill>
                    <a:srgbClr val="FF0000">
                      <a:alpha val="100000"/>
                    </a:srgbClr>
                  </a:solidFill>
                  <a:prstDash val="solid"/>
                  <a:miter lim="10"/>
                </a:ln>
                <a:solidFill>
                  <a:srgbClr val="FF0000">
                    <a:alpha val="100000"/>
                  </a:srgbClr>
                </a:solidFill>
                <a:uFill>
                  <a:solidFill>
                    <a:srgbClr val="5B9BD5"/>
                  </a:solidFill>
                </a:uFill>
                <a:latin typeface="仿宋" panose="02010609060101010101" charset="-122"/>
                <a:ea typeface="仿宋" panose="02010609060101010101" charset="-122"/>
                <a:cs typeface="仿宋" panose="02010609060101010101" charset="-122"/>
              </a:rPr>
              <a:t>置换（</a:t>
            </a:r>
            <a:r>
              <a:rPr sz="3900" b="1" u="sng" kern="0" spc="0" dirty="0">
                <a:solidFill>
                  <a:srgbClr val="FF0000">
                    <a:alpha val="100000"/>
                  </a:srgbClr>
                </a:solidFill>
                <a:uFill>
                  <a:solidFill>
                    <a:srgbClr val="5B9BD5"/>
                  </a:solidFill>
                </a:uFill>
                <a:latin typeface="Times New Roman" panose="02020603050405020304"/>
                <a:ea typeface="Times New Roman" panose="02020603050405020304"/>
                <a:cs typeface="Times New Roman" panose="02020603050405020304"/>
              </a:rPr>
              <a:t>Permutation</a:t>
            </a:r>
            <a:r>
              <a:rPr sz="3900" u="sng" kern="0" spc="150" dirty="0">
                <a:ln w="14499" cap="flat" cmpd="sng">
                  <a:solidFill>
                    <a:srgbClr val="FF0000">
                      <a:alpha val="100000"/>
                    </a:srgbClr>
                  </a:solidFill>
                  <a:prstDash val="solid"/>
                  <a:miter lim="10"/>
                </a:ln>
                <a:solidFill>
                  <a:srgbClr val="FF0000">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sz="3900" u="sng" kern="0" spc="150" dirty="0">
                <a:ln w="14499" cap="flat" cmpd="sng">
                  <a:solidFill>
                    <a:srgbClr val="000000">
                      <a:alpha val="100000"/>
                    </a:srgbClr>
                  </a:solidFill>
                  <a:prstDash val="solid"/>
                  <a:miter lim="10"/>
                </a:ln>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密码</a:t>
            </a:r>
            <a:r>
              <a:rPr lang="en-US" sz="3900" u="sng" kern="0" spc="150" dirty="0">
                <a:ln w="14499" cap="flat" cmpd="sng">
                  <a:solidFill>
                    <a:srgbClr val="000000">
                      <a:alpha val="100000"/>
                    </a:srgbClr>
                  </a:solidFill>
                  <a:prstDash val="solid"/>
                  <a:miter lim="10"/>
                </a:ln>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r>
              <a:rPr lang="zh-CN" altLang="en-US" sz="3900" u="sng" kern="0" spc="150" dirty="0">
                <a:ln w="14499" cap="flat" cmpd="sng">
                  <a:solidFill>
                    <a:srgbClr val="000000">
                      <a:alpha val="100000"/>
                    </a:srgbClr>
                  </a:solidFill>
                  <a:prstDash val="solid"/>
                  <a:miter lim="10"/>
                </a:ln>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（对应</a:t>
            </a:r>
            <a:r>
              <a:rPr lang="en-US" sz="3900" u="sng" kern="0" spc="150" dirty="0">
                <a:ln w="14499" cap="flat" cmpd="sng">
                  <a:solidFill>
                    <a:srgbClr val="000000">
                      <a:alpha val="100000"/>
                    </a:srgbClr>
                  </a:solidFill>
                  <a:prstDash val="solid"/>
                  <a:miter lim="10"/>
                </a:ln>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3.3</a:t>
            </a:r>
            <a:r>
              <a:rPr lang="zh-CN" altLang="en-US" sz="3900" u="sng" kern="0" spc="150" dirty="0">
                <a:ln w="14499" cap="flat" cmpd="sng">
                  <a:solidFill>
                    <a:srgbClr val="000000">
                      <a:alpha val="100000"/>
                    </a:srgbClr>
                  </a:solidFill>
                  <a:prstDash val="solid"/>
                  <a:miter lim="10"/>
                </a:ln>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a:t>
            </a:r>
            <a:r>
              <a:rPr sz="3900" u="sng" kern="0" spc="0" dirty="0">
                <a:solidFill>
                  <a:srgbClr val="000000">
                    <a:alpha val="100000"/>
                  </a:srgbClr>
                </a:solidFill>
                <a:uFill>
                  <a:solidFill>
                    <a:srgbClr val="5B9BD5"/>
                  </a:solidFill>
                </a:uFill>
                <a:latin typeface="仿宋" panose="02010609060101010101" charset="-122"/>
                <a:ea typeface="仿宋" panose="02010609060101010101" charset="-122"/>
                <a:cs typeface="仿宋" panose="02010609060101010101" charset="-122"/>
              </a:rPr>
              <a:t>	</a:t>
            </a:r>
            <a:endParaRPr lang="en-US" altLang="en-US" sz="3900" dirty="0"/>
          </a:p>
          <a:p>
            <a:pPr algn="l" rtl="0" eaLnBrk="0">
              <a:lnSpc>
                <a:spcPct val="107000"/>
              </a:lnSpc>
            </a:pPr>
            <a:endParaRPr lang="en-US" altLang="en-US" sz="1000" dirty="0"/>
          </a:p>
          <a:p>
            <a:pPr algn="l" rtl="0" eaLnBrk="0">
              <a:lnSpc>
                <a:spcPct val="107000"/>
              </a:lnSpc>
            </a:pPr>
            <a:endParaRPr lang="en-US" altLang="en-US" sz="1000" dirty="0"/>
          </a:p>
          <a:p>
            <a:pPr algn="l" rtl="0" eaLnBrk="0">
              <a:lnSpc>
                <a:spcPct val="107000"/>
              </a:lnSpc>
            </a:pPr>
            <a:endParaRPr lang="en-US" altLang="en-US" sz="1000" dirty="0"/>
          </a:p>
          <a:p>
            <a:pPr algn="l" rtl="0" eaLnBrk="0">
              <a:lnSpc>
                <a:spcPct val="107000"/>
              </a:lnSpc>
            </a:pPr>
            <a:endParaRPr lang="en-US" altLang="en-US" sz="1000" dirty="0"/>
          </a:p>
          <a:p>
            <a:pPr marL="511810" algn="l" rtl="0" eaLnBrk="0">
              <a:lnSpc>
                <a:spcPts val="3320"/>
              </a:lnSpc>
              <a:spcBef>
                <a:spcPts val="820"/>
              </a:spcBef>
            </a:pPr>
            <a:r>
              <a:rPr sz="2700" kern="0" spc="90" dirty="0">
                <a:solidFill>
                  <a:srgbClr val="000000">
                    <a:alpha val="100000"/>
                  </a:srgbClr>
                </a:solidFill>
                <a:latin typeface="Arial" panose="020B0604020202020204"/>
                <a:ea typeface="Arial" panose="020B0604020202020204"/>
                <a:cs typeface="Arial" panose="020B0604020202020204"/>
              </a:rPr>
              <a:t>•</a:t>
            </a:r>
            <a:r>
              <a:rPr sz="2700" kern="0" spc="280" dirty="0">
                <a:solidFill>
                  <a:srgbClr val="000000">
                    <a:alpha val="100000"/>
                  </a:srgbClr>
                </a:solidFill>
                <a:latin typeface="Arial" panose="020B0604020202020204"/>
                <a:ea typeface="Arial" panose="020B0604020202020204"/>
                <a:cs typeface="Arial" panose="020B0604020202020204"/>
              </a:rPr>
              <a:t> </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对明文字符或字符组进行</a:t>
            </a:r>
            <a:r>
              <a:rPr sz="2700" kern="0" spc="90" dirty="0">
                <a:ln w="10145" cap="flat" cmpd="sng">
                  <a:solidFill>
                    <a:srgbClr val="0000CC">
                      <a:alpha val="100000"/>
                    </a:srgbClr>
                  </a:solidFill>
                  <a:prstDash val="solid"/>
                  <a:miter lim="10"/>
                </a:ln>
                <a:solidFill>
                  <a:srgbClr val="0000CC">
                    <a:alpha val="100000"/>
                  </a:srgbClr>
                </a:solidFill>
                <a:latin typeface="仿宋" panose="02010609060101010101" charset="-122"/>
                <a:ea typeface="仿宋" panose="02010609060101010101" charset="-122"/>
                <a:cs typeface="仿宋" panose="02010609060101010101" charset="-122"/>
              </a:rPr>
              <a:t>位置移动</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的密</a:t>
            </a:r>
            <a:r>
              <a:rPr sz="2700" kern="0" spc="8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码</a:t>
            </a:r>
            <a:endParaRPr lang="en-US" altLang="en-US" sz="2700" dirty="0"/>
          </a:p>
          <a:p>
            <a:pPr algn="l" rtl="0" eaLnBrk="0">
              <a:lnSpc>
                <a:spcPct val="175000"/>
              </a:lnSpc>
            </a:pPr>
            <a:endParaRPr lang="en-US" altLang="en-US" sz="1000" dirty="0"/>
          </a:p>
          <a:p>
            <a:pPr algn="l" rtl="0" eaLnBrk="0">
              <a:lnSpc>
                <a:spcPct val="113000"/>
              </a:lnSpc>
            </a:pPr>
            <a:endParaRPr lang="en-US" altLang="en-US" sz="600" dirty="0"/>
          </a:p>
          <a:p>
            <a:pPr marL="511810" algn="l" rtl="0" eaLnBrk="0">
              <a:lnSpc>
                <a:spcPts val="3325"/>
              </a:lnSpc>
              <a:spcBef>
                <a:spcPts val="5"/>
              </a:spcBef>
            </a:pPr>
            <a:r>
              <a:rPr sz="2700" kern="0" spc="70" dirty="0">
                <a:solidFill>
                  <a:srgbClr val="000000">
                    <a:alpha val="100000"/>
                  </a:srgbClr>
                </a:solidFill>
                <a:latin typeface="Arial" panose="020B0604020202020204"/>
                <a:ea typeface="Arial" panose="020B0604020202020204"/>
                <a:cs typeface="Arial" panose="020B0604020202020204"/>
              </a:rPr>
              <a:t>•</a:t>
            </a:r>
            <a:r>
              <a:rPr sz="2700" kern="0" spc="460" dirty="0">
                <a:solidFill>
                  <a:srgbClr val="000000">
                    <a:alpha val="100000"/>
                  </a:srgbClr>
                </a:solidFill>
                <a:latin typeface="Arial" panose="020B0604020202020204"/>
                <a:ea typeface="Arial" panose="020B0604020202020204"/>
                <a:cs typeface="Arial" panose="020B0604020202020204"/>
              </a:rPr>
              <a:t> </a:t>
            </a:r>
            <a:r>
              <a:rPr sz="2700" kern="0" spc="7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明文的字母保持相同，但顺序被打乱了。</a:t>
            </a:r>
            <a:endParaRPr lang="en-US" altLang="en-US" sz="2700" dirty="0"/>
          </a:p>
        </p:txBody>
      </p:sp>
      <p:grpSp>
        <p:nvGrpSpPr>
          <p:cNvPr id="305" name="group 10"/>
          <p:cNvGrpSpPr/>
          <p:nvPr/>
        </p:nvGrpSpPr>
        <p:grpSpPr>
          <a:xfrm rot="21600000">
            <a:off x="5321808" y="4293107"/>
            <a:ext cx="5237987" cy="989076"/>
            <a:chOff x="0" y="0"/>
            <a:chExt cx="5237987" cy="989076"/>
          </a:xfrm>
        </p:grpSpPr>
        <p:pic>
          <p:nvPicPr>
            <p:cNvPr id="2097339" name="picture 50"/>
            <p:cNvPicPr>
              <a:picLocks noChangeAspect="1"/>
            </p:cNvPicPr>
            <p:nvPr/>
          </p:nvPicPr>
          <p:blipFill>
            <a:blip r:embed="rId1"/>
            <a:stretch>
              <a:fillRect/>
            </a:stretch>
          </p:blipFill>
          <p:spPr>
            <a:xfrm rot="21600000">
              <a:off x="0" y="0"/>
              <a:ext cx="5237987" cy="976698"/>
            </a:xfrm>
            <a:prstGeom prst="rect">
              <a:avLst/>
            </a:prstGeom>
          </p:spPr>
        </p:pic>
        <p:pic>
          <p:nvPicPr>
            <p:cNvPr id="2097340" name="picture 52"/>
            <p:cNvPicPr>
              <a:picLocks noChangeAspect="1"/>
            </p:cNvPicPr>
            <p:nvPr/>
          </p:nvPicPr>
          <p:blipFill>
            <a:blip r:embed="rId2"/>
            <a:stretch>
              <a:fillRect/>
            </a:stretch>
          </p:blipFill>
          <p:spPr>
            <a:xfrm rot="21600000">
              <a:off x="961643" y="481583"/>
              <a:ext cx="4153830" cy="507492"/>
            </a:xfrm>
            <a:prstGeom prst="rect">
              <a:avLst/>
            </a:prstGeom>
          </p:spPr>
        </p:pic>
      </p:grpSp>
      <p:pic>
        <p:nvPicPr>
          <p:cNvPr id="2097341" name="picture 54"/>
          <p:cNvPicPr>
            <a:picLocks noChangeAspect="1"/>
          </p:cNvPicPr>
          <p:nvPr/>
        </p:nvPicPr>
        <p:blipFill>
          <a:blip r:embed="rId3"/>
          <a:stretch>
            <a:fillRect/>
          </a:stretch>
        </p:blipFill>
        <p:spPr>
          <a:xfrm rot="21600000">
            <a:off x="3881628" y="4293107"/>
            <a:ext cx="1405127" cy="976698"/>
          </a:xfrm>
          <a:prstGeom prst="rect">
            <a:avLst/>
          </a:prstGeom>
        </p:spPr>
      </p:pic>
      <p:pic>
        <p:nvPicPr>
          <p:cNvPr id="2097342" name="picture 58"/>
          <p:cNvPicPr>
            <a:picLocks noChangeAspect="1"/>
          </p:cNvPicPr>
          <p:nvPr/>
        </p:nvPicPr>
        <p:blipFill>
          <a:blip r:embed="rId4"/>
          <a:stretch>
            <a:fillRect/>
          </a:stretch>
        </p:blipFill>
        <p:spPr>
          <a:xfrm rot="21600000">
            <a:off x="2368295" y="4293107"/>
            <a:ext cx="704088" cy="989076"/>
          </a:xfrm>
          <a:prstGeom prst="rect">
            <a:avLst/>
          </a:prstGeom>
        </p:spPr>
      </p:pic>
      <p:pic>
        <p:nvPicPr>
          <p:cNvPr id="2097343" name="picture 60"/>
          <p:cNvPicPr>
            <a:picLocks noChangeAspect="1"/>
          </p:cNvPicPr>
          <p:nvPr/>
        </p:nvPicPr>
        <p:blipFill>
          <a:blip r:embed="rId5"/>
          <a:stretch>
            <a:fillRect/>
          </a:stretch>
        </p:blipFill>
        <p:spPr>
          <a:xfrm rot="21600000">
            <a:off x="3144011" y="4293107"/>
            <a:ext cx="702564" cy="989076"/>
          </a:xfrm>
          <a:prstGeom prst="rect">
            <a:avLst/>
          </a:prstGeom>
        </p:spPr>
      </p:pic>
      <p:pic>
        <p:nvPicPr>
          <p:cNvPr id="2097344" name="picture 62"/>
          <p:cNvPicPr>
            <a:picLocks noChangeAspect="1"/>
          </p:cNvPicPr>
          <p:nvPr/>
        </p:nvPicPr>
        <p:blipFill>
          <a:blip r:embed="rId6"/>
          <a:stretch>
            <a:fillRect/>
          </a:stretch>
        </p:blipFill>
        <p:spPr>
          <a:xfrm rot="21600000">
            <a:off x="1632204" y="4293107"/>
            <a:ext cx="702563" cy="976698"/>
          </a:xfrm>
          <a:prstGeom prst="rect">
            <a:avLst/>
          </a:prstGeom>
        </p:spPr>
      </p:pic>
      <p:sp>
        <p:nvSpPr>
          <p:cNvPr id="1049393"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45" name="picture 66"/>
          <p:cNvPicPr>
            <a:picLocks noChangeAspect="1"/>
          </p:cNvPicPr>
          <p:nvPr/>
        </p:nvPicPr>
        <p:blipFill>
          <a:blip r:embed="rId7"/>
          <a:stretch>
            <a:fillRect/>
          </a:stretch>
        </p:blipFill>
        <p:spPr>
          <a:xfrm rot="21600000">
            <a:off x="824483" y="408431"/>
            <a:ext cx="419100" cy="65532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306" name=""/>
        <p:cNvGrpSpPr/>
        <p:nvPr/>
      </p:nvGrpSpPr>
      <p:grpSpPr>
        <a:xfrm>
          <a:off x="0" y="0"/>
          <a:ext cx="0" cy="0"/>
          <a:chOff x="0" y="0"/>
          <a:chExt cx="0" cy="0"/>
        </a:xfrm>
      </p:grpSpPr>
      <p:sp>
        <p:nvSpPr>
          <p:cNvPr id="1049394" name="textbox 68"/>
          <p:cNvSpPr/>
          <p:nvPr/>
        </p:nvSpPr>
        <p:spPr>
          <a:xfrm>
            <a:off x="2066313" y="1475389"/>
            <a:ext cx="7727950" cy="1241425"/>
          </a:xfrm>
          <a:prstGeom prst="rect">
            <a:avLst/>
          </a:prstGeom>
        </p:spPr>
        <p:txBody>
          <a:bodyPr vert="horz" wrap="square" lIns="0" tIns="0" rIns="0" bIns="0"/>
          <a:p>
            <a:pPr algn="l" rtl="0" eaLnBrk="0">
              <a:lnSpc>
                <a:spcPct val="83000"/>
              </a:lnSpc>
            </a:pPr>
            <a:endParaRPr lang="en-US" altLang="en-US" sz="100" dirty="0"/>
          </a:p>
          <a:p>
            <a:pPr marL="12700" algn="l" rtl="0" eaLnBrk="0">
              <a:lnSpc>
                <a:spcPts val="3320"/>
              </a:lnSpc>
            </a:pPr>
            <a:r>
              <a:rPr sz="2700" kern="0" spc="90" dirty="0">
                <a:solidFill>
                  <a:srgbClr val="000000">
                    <a:alpha val="100000"/>
                  </a:srgbClr>
                </a:solidFill>
                <a:latin typeface="Arial" panose="020B0604020202020204"/>
                <a:ea typeface="Arial" panose="020B0604020202020204"/>
                <a:cs typeface="Arial" panose="020B0604020202020204"/>
              </a:rPr>
              <a:t>•</a:t>
            </a:r>
            <a:r>
              <a:rPr sz="2700" kern="0" spc="270" dirty="0">
                <a:solidFill>
                  <a:srgbClr val="000000">
                    <a:alpha val="100000"/>
                  </a:srgbClr>
                </a:solidFill>
                <a:latin typeface="Arial" panose="020B0604020202020204"/>
                <a:ea typeface="Arial" panose="020B0604020202020204"/>
                <a:cs typeface="Arial" panose="020B0604020202020204"/>
              </a:rPr>
              <a:t> </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对明文字符或字符组进行</a:t>
            </a:r>
            <a:r>
              <a:rPr sz="2700" kern="0" spc="90" dirty="0">
                <a:ln w="10145" cap="flat" cmpd="sng">
                  <a:solidFill>
                    <a:srgbClr val="0000CC">
                      <a:alpha val="100000"/>
                    </a:srgbClr>
                  </a:solidFill>
                  <a:prstDash val="solid"/>
                  <a:miter lim="10"/>
                </a:ln>
                <a:solidFill>
                  <a:srgbClr val="0000CC">
                    <a:alpha val="100000"/>
                  </a:srgbClr>
                </a:solidFill>
                <a:latin typeface="仿宋" panose="02010609060101010101" charset="-122"/>
                <a:ea typeface="仿宋" panose="02010609060101010101" charset="-122"/>
                <a:cs typeface="仿宋" panose="02010609060101010101" charset="-122"/>
              </a:rPr>
              <a:t>位置移动</a:t>
            </a:r>
            <a:r>
              <a:rPr sz="2700" kern="0" spc="9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的密码</a:t>
            </a:r>
            <a:endParaRPr lang="en-US" altLang="en-US" sz="2700" dirty="0"/>
          </a:p>
          <a:p>
            <a:pPr algn="l" rtl="0" eaLnBrk="0">
              <a:lnSpc>
                <a:spcPct val="175000"/>
              </a:lnSpc>
            </a:pPr>
            <a:endParaRPr lang="en-US" altLang="en-US" sz="1000" dirty="0"/>
          </a:p>
          <a:p>
            <a:pPr algn="l" rtl="0" eaLnBrk="0">
              <a:lnSpc>
                <a:spcPct val="113000"/>
              </a:lnSpc>
            </a:pPr>
            <a:endParaRPr lang="en-US" altLang="en-US" sz="600" dirty="0"/>
          </a:p>
          <a:p>
            <a:pPr marL="12700" algn="l" rtl="0" eaLnBrk="0">
              <a:lnSpc>
                <a:spcPts val="3335"/>
              </a:lnSpc>
              <a:spcBef>
                <a:spcPts val="5"/>
              </a:spcBef>
            </a:pPr>
            <a:r>
              <a:rPr sz="2700" kern="0" spc="80" dirty="0">
                <a:solidFill>
                  <a:srgbClr val="000000">
                    <a:alpha val="100000"/>
                  </a:srgbClr>
                </a:solidFill>
                <a:latin typeface="Arial" panose="020B0604020202020204"/>
                <a:ea typeface="Arial" panose="020B0604020202020204"/>
                <a:cs typeface="Arial" panose="020B0604020202020204"/>
              </a:rPr>
              <a:t>•</a:t>
            </a:r>
            <a:r>
              <a:rPr sz="2700" kern="0" spc="470" dirty="0">
                <a:solidFill>
                  <a:srgbClr val="000000">
                    <a:alpha val="100000"/>
                  </a:srgbClr>
                </a:solidFill>
                <a:latin typeface="Arial" panose="020B0604020202020204"/>
                <a:ea typeface="Arial" panose="020B0604020202020204"/>
                <a:cs typeface="Arial" panose="020B0604020202020204"/>
              </a:rPr>
              <a:t> </a:t>
            </a:r>
            <a:r>
              <a:rPr sz="2700" kern="0" spc="80" dirty="0">
                <a:ln w="10154"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明文的字母顺序被打乱了，但明文字母本身不变</a:t>
            </a:r>
            <a:endParaRPr lang="en-US" altLang="en-US" sz="2700" dirty="0"/>
          </a:p>
        </p:txBody>
      </p:sp>
      <p:sp>
        <p:nvSpPr>
          <p:cNvPr id="1049395" name="textbox 70"/>
          <p:cNvSpPr/>
          <p:nvPr/>
        </p:nvSpPr>
        <p:spPr>
          <a:xfrm>
            <a:off x="3310128" y="3144011"/>
            <a:ext cx="4928870" cy="810894"/>
          </a:xfrm>
          <a:prstGeom prst="rect">
            <a:avLst/>
          </a:prstGeom>
          <a:solidFill>
            <a:srgbClr val="A5A5A5"/>
          </a:solidFill>
        </p:spPr>
        <p:txBody>
          <a:bodyPr vert="horz" wrap="square" lIns="0" tIns="0" rIns="0" bIns="0"/>
          <a:p>
            <a:pPr algn="l" rtl="0" eaLnBrk="0">
              <a:lnSpc>
                <a:spcPct val="165000"/>
              </a:lnSpc>
            </a:pPr>
            <a:endParaRPr lang="en-US" altLang="en-US" sz="1000" dirty="0"/>
          </a:p>
          <a:p>
            <a:pPr algn="l" rtl="0" eaLnBrk="0">
              <a:lnSpc>
                <a:spcPct val="7000"/>
              </a:lnSpc>
            </a:pPr>
            <a:endParaRPr lang="en-US" altLang="en-US" sz="100" dirty="0"/>
          </a:p>
          <a:p>
            <a:pPr marL="345440" algn="l" rtl="0" eaLnBrk="0">
              <a:lnSpc>
                <a:spcPct val="84000"/>
              </a:lnSpc>
            </a:pPr>
            <a:r>
              <a:rPr sz="3300" b="1" kern="0" spc="-70" dirty="0">
                <a:solidFill>
                  <a:srgbClr val="FFFFFF">
                    <a:alpha val="100000"/>
                  </a:srgbClr>
                </a:solidFill>
                <a:latin typeface="微软雅黑" panose="020B0503020204020204" charset="-122"/>
                <a:ea typeface="微软雅黑" panose="020B0503020204020204" charset="-122"/>
                <a:cs typeface="微软雅黑" panose="020B0503020204020204" charset="-122"/>
              </a:rPr>
              <a:t>ATCADWTAKTAN</a:t>
            </a:r>
            <a:endParaRPr lang="en-US" altLang="en-US" sz="3300" dirty="0"/>
          </a:p>
        </p:txBody>
      </p:sp>
      <p:pic>
        <p:nvPicPr>
          <p:cNvPr id="2097346" name="picture 74"/>
          <p:cNvPicPr>
            <a:picLocks noChangeAspect="1"/>
          </p:cNvPicPr>
          <p:nvPr/>
        </p:nvPicPr>
        <p:blipFill>
          <a:blip r:embed="rId1"/>
          <a:stretch>
            <a:fillRect/>
          </a:stretch>
        </p:blipFill>
        <p:spPr>
          <a:xfrm rot="21600000">
            <a:off x="3144011" y="4293107"/>
            <a:ext cx="702564" cy="989076"/>
          </a:xfrm>
          <a:prstGeom prst="rect">
            <a:avLst/>
          </a:prstGeom>
        </p:spPr>
      </p:pic>
      <p:pic>
        <p:nvPicPr>
          <p:cNvPr id="2097347" name="picture 76"/>
          <p:cNvPicPr>
            <a:picLocks noChangeAspect="1"/>
          </p:cNvPicPr>
          <p:nvPr/>
        </p:nvPicPr>
        <p:blipFill>
          <a:blip r:embed="rId2"/>
          <a:stretch>
            <a:fillRect/>
          </a:stretch>
        </p:blipFill>
        <p:spPr>
          <a:xfrm rot="21600000">
            <a:off x="9119616" y="4293107"/>
            <a:ext cx="704088" cy="976698"/>
          </a:xfrm>
          <a:prstGeom prst="rect">
            <a:avLst/>
          </a:prstGeom>
        </p:spPr>
      </p:pic>
      <p:pic>
        <p:nvPicPr>
          <p:cNvPr id="2097348" name="picture 78"/>
          <p:cNvPicPr>
            <a:picLocks noChangeAspect="1"/>
          </p:cNvPicPr>
          <p:nvPr/>
        </p:nvPicPr>
        <p:blipFill>
          <a:blip r:embed="rId3"/>
          <a:stretch>
            <a:fillRect/>
          </a:stretch>
        </p:blipFill>
        <p:spPr>
          <a:xfrm rot="21600000">
            <a:off x="4582667" y="4293107"/>
            <a:ext cx="704088" cy="974634"/>
          </a:xfrm>
          <a:prstGeom prst="rect">
            <a:avLst/>
          </a:prstGeom>
        </p:spPr>
      </p:pic>
      <p:pic>
        <p:nvPicPr>
          <p:cNvPr id="2097349" name="picture 80"/>
          <p:cNvPicPr>
            <a:picLocks noChangeAspect="1"/>
          </p:cNvPicPr>
          <p:nvPr/>
        </p:nvPicPr>
        <p:blipFill>
          <a:blip r:embed="rId4"/>
          <a:stretch>
            <a:fillRect/>
          </a:stretch>
        </p:blipFill>
        <p:spPr>
          <a:xfrm rot="21600000">
            <a:off x="6096000" y="4293107"/>
            <a:ext cx="702564" cy="976698"/>
          </a:xfrm>
          <a:prstGeom prst="rect">
            <a:avLst/>
          </a:prstGeom>
        </p:spPr>
      </p:pic>
      <p:pic>
        <p:nvPicPr>
          <p:cNvPr id="2097350" name="picture 82"/>
          <p:cNvPicPr>
            <a:picLocks noChangeAspect="1"/>
          </p:cNvPicPr>
          <p:nvPr/>
        </p:nvPicPr>
        <p:blipFill>
          <a:blip r:embed="rId5"/>
          <a:stretch>
            <a:fillRect/>
          </a:stretch>
        </p:blipFill>
        <p:spPr>
          <a:xfrm rot="21600000">
            <a:off x="1632204" y="4293107"/>
            <a:ext cx="702563" cy="976698"/>
          </a:xfrm>
          <a:prstGeom prst="rect">
            <a:avLst/>
          </a:prstGeom>
        </p:spPr>
      </p:pic>
      <p:sp>
        <p:nvSpPr>
          <p:cNvPr id="1049396"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51" name="picture 86"/>
          <p:cNvPicPr>
            <a:picLocks noChangeAspect="1"/>
          </p:cNvPicPr>
          <p:nvPr/>
        </p:nvPicPr>
        <p:blipFill>
          <a:blip r:embed="rId6"/>
          <a:stretch>
            <a:fillRect/>
          </a:stretch>
        </p:blipFill>
        <p:spPr>
          <a:xfrm rot="21600000">
            <a:off x="3863340" y="5385816"/>
            <a:ext cx="704088" cy="946255"/>
          </a:xfrm>
          <a:prstGeom prst="rect">
            <a:avLst/>
          </a:prstGeom>
        </p:spPr>
      </p:pic>
      <p:pic>
        <p:nvPicPr>
          <p:cNvPr id="2097352" name="picture 88"/>
          <p:cNvPicPr>
            <a:picLocks noChangeAspect="1"/>
          </p:cNvPicPr>
          <p:nvPr/>
        </p:nvPicPr>
        <p:blipFill>
          <a:blip r:embed="rId7"/>
          <a:stretch>
            <a:fillRect/>
          </a:stretch>
        </p:blipFill>
        <p:spPr>
          <a:xfrm rot="21600000">
            <a:off x="8345423" y="5373623"/>
            <a:ext cx="704088" cy="946218"/>
          </a:xfrm>
          <a:prstGeom prst="rect">
            <a:avLst/>
          </a:prstGeom>
        </p:spPr>
      </p:pic>
      <p:sp>
        <p:nvSpPr>
          <p:cNvPr id="1049397" name="textbox 90"/>
          <p:cNvSpPr/>
          <p:nvPr/>
        </p:nvSpPr>
        <p:spPr>
          <a:xfrm>
            <a:off x="1572676" y="488157"/>
            <a:ext cx="1627504" cy="488950"/>
          </a:xfrm>
          <a:prstGeom prst="rect">
            <a:avLst/>
          </a:prstGeom>
        </p:spPr>
        <p:txBody>
          <a:bodyPr vert="horz" wrap="square" lIns="0" tIns="0" rIns="0" bIns="0"/>
          <a:p>
            <a:pPr algn="l" rtl="0" eaLnBrk="0">
              <a:lnSpc>
                <a:spcPct val="83000"/>
              </a:lnSpc>
            </a:pPr>
            <a:endParaRPr lang="en-US" altLang="en-US" sz="100" dirty="0"/>
          </a:p>
          <a:p>
            <a:pPr marL="12700" algn="l" rtl="0" eaLnBrk="0">
              <a:lnSpc>
                <a:spcPct val="95000"/>
              </a:lnSpc>
            </a:pPr>
            <a:r>
              <a:rPr sz="3200" kern="0" spc="-5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置换密码</a:t>
            </a:r>
            <a:endParaRPr lang="en-US" altLang="en-US" sz="3200" dirty="0"/>
          </a:p>
        </p:txBody>
      </p:sp>
      <p:pic>
        <p:nvPicPr>
          <p:cNvPr id="2097353" name="picture 92"/>
          <p:cNvPicPr>
            <a:picLocks noChangeAspect="1"/>
          </p:cNvPicPr>
          <p:nvPr/>
        </p:nvPicPr>
        <p:blipFill>
          <a:blip r:embed="rId8"/>
          <a:stretch>
            <a:fillRect/>
          </a:stretch>
        </p:blipFill>
        <p:spPr>
          <a:xfrm rot="21600000">
            <a:off x="6832092" y="5407152"/>
            <a:ext cx="704088" cy="925068"/>
          </a:xfrm>
          <a:prstGeom prst="rect">
            <a:avLst/>
          </a:prstGeom>
        </p:spPr>
      </p:pic>
      <p:pic>
        <p:nvPicPr>
          <p:cNvPr id="2097354" name="picture 94"/>
          <p:cNvPicPr>
            <a:picLocks noChangeAspect="1"/>
          </p:cNvPicPr>
          <p:nvPr/>
        </p:nvPicPr>
        <p:blipFill>
          <a:blip r:embed="rId9"/>
          <a:stretch>
            <a:fillRect/>
          </a:stretch>
        </p:blipFill>
        <p:spPr>
          <a:xfrm rot="21600000">
            <a:off x="5321808" y="5398008"/>
            <a:ext cx="702564" cy="921834"/>
          </a:xfrm>
          <a:prstGeom prst="rect">
            <a:avLst/>
          </a:prstGeom>
        </p:spPr>
      </p:pic>
      <p:pic>
        <p:nvPicPr>
          <p:cNvPr id="2097355" name="picture 96"/>
          <p:cNvPicPr>
            <a:picLocks noChangeAspect="1"/>
          </p:cNvPicPr>
          <p:nvPr/>
        </p:nvPicPr>
        <p:blipFill>
          <a:blip r:embed="rId10"/>
          <a:stretch>
            <a:fillRect/>
          </a:stretch>
        </p:blipFill>
        <p:spPr>
          <a:xfrm rot="21600000">
            <a:off x="2368295" y="5385816"/>
            <a:ext cx="704088" cy="918600"/>
          </a:xfrm>
          <a:prstGeom prst="rect">
            <a:avLst/>
          </a:prstGeom>
        </p:spPr>
      </p:pic>
      <p:pic>
        <p:nvPicPr>
          <p:cNvPr id="2097356" name="picture 98"/>
          <p:cNvPicPr>
            <a:picLocks noChangeAspect="1"/>
          </p:cNvPicPr>
          <p:nvPr/>
        </p:nvPicPr>
        <p:blipFill>
          <a:blip r:embed="rId11"/>
          <a:stretch>
            <a:fillRect/>
          </a:stretch>
        </p:blipFill>
        <p:spPr>
          <a:xfrm rot="21600000">
            <a:off x="9857231" y="5407152"/>
            <a:ext cx="702564" cy="912690"/>
          </a:xfrm>
          <a:prstGeom prst="rect">
            <a:avLst/>
          </a:prstGeom>
        </p:spPr>
      </p:pic>
      <p:pic>
        <p:nvPicPr>
          <p:cNvPr id="2097357" name="picture 100"/>
          <p:cNvPicPr>
            <a:picLocks noChangeAspect="1"/>
          </p:cNvPicPr>
          <p:nvPr/>
        </p:nvPicPr>
        <p:blipFill>
          <a:blip r:embed="rId12"/>
          <a:stretch>
            <a:fillRect/>
          </a:stretch>
        </p:blipFill>
        <p:spPr>
          <a:xfrm rot="21600000">
            <a:off x="7609331" y="4293107"/>
            <a:ext cx="701040" cy="829055"/>
          </a:xfrm>
          <a:prstGeom prst="rect">
            <a:avLst/>
          </a:prstGeom>
        </p:spPr>
      </p:pic>
      <p:pic>
        <p:nvPicPr>
          <p:cNvPr id="2097358" name="picture 102"/>
          <p:cNvPicPr>
            <a:picLocks noChangeAspect="1"/>
          </p:cNvPicPr>
          <p:nvPr/>
        </p:nvPicPr>
        <p:blipFill>
          <a:blip r:embed="rId13"/>
          <a:stretch>
            <a:fillRect/>
          </a:stretch>
        </p:blipFill>
        <p:spPr>
          <a:xfrm rot="21600000">
            <a:off x="824483" y="408431"/>
            <a:ext cx="419100" cy="655320"/>
          </a:xfrm>
          <a:prstGeom prst="rect">
            <a:avLst/>
          </a:prstGeom>
        </p:spPr>
      </p:pic>
      <p:sp>
        <p:nvSpPr>
          <p:cNvPr id="1049398"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1049399" name="textbox 106"/>
          <p:cNvSpPr/>
          <p:nvPr/>
        </p:nvSpPr>
        <p:spPr>
          <a:xfrm>
            <a:off x="7758176" y="4761991"/>
            <a:ext cx="495300" cy="533400"/>
          </a:xfrm>
          <a:prstGeom prst="rect">
            <a:avLst/>
          </a:prstGeom>
        </p:spPr>
        <p:txBody>
          <a:bodyPr vert="horz" wrap="square" lIns="0" tIns="0" rIns="0" bIns="0"/>
          <a:p>
            <a:pPr algn="l" rtl="0" eaLnBrk="0">
              <a:lnSpc>
                <a:spcPct val="83000"/>
              </a:lnSpc>
            </a:pPr>
            <a:endParaRPr lang="en-US" altLang="en-US" sz="100" dirty="0"/>
          </a:p>
          <a:p>
            <a:pPr marL="12700" algn="l" rtl="0" eaLnBrk="0">
              <a:lnSpc>
                <a:spcPts val="3995"/>
              </a:lnSpc>
            </a:pPr>
            <a:r>
              <a:rPr sz="5100" kern="0" spc="-10" dirty="0">
                <a:solidFill>
                  <a:srgbClr val="4C4C4C">
                    <a:alpha val="100000"/>
                  </a:srgbClr>
                </a:solidFill>
                <a:latin typeface="Arial" panose="020B0604020202020204"/>
                <a:ea typeface="Arial" panose="020B0604020202020204"/>
                <a:cs typeface="Arial" panose="020B0604020202020204"/>
              </a:rPr>
              <a:t>D</a:t>
            </a:r>
            <a:endParaRPr lang="en-US" altLang="en-US" sz="51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307" name=""/>
        <p:cNvGrpSpPr/>
        <p:nvPr/>
      </p:nvGrpSpPr>
      <p:grpSpPr>
        <a:xfrm>
          <a:off x="0" y="0"/>
          <a:ext cx="0" cy="0"/>
          <a:chOff x="0" y="0"/>
          <a:chExt cx="0" cy="0"/>
        </a:xfrm>
      </p:grpSpPr>
      <p:grpSp>
        <p:nvGrpSpPr>
          <p:cNvPr id="308" name="group 12"/>
          <p:cNvGrpSpPr/>
          <p:nvPr/>
        </p:nvGrpSpPr>
        <p:grpSpPr>
          <a:xfrm rot="21600000">
            <a:off x="2971800" y="3286376"/>
            <a:ext cx="9158716" cy="2428623"/>
            <a:chOff x="0" y="0"/>
            <a:chExt cx="9158716" cy="2428623"/>
          </a:xfrm>
        </p:grpSpPr>
        <p:pic>
          <p:nvPicPr>
            <p:cNvPr id="2097359" name="picture 108"/>
            <p:cNvPicPr>
              <a:picLocks noChangeAspect="1"/>
            </p:cNvPicPr>
            <p:nvPr/>
          </p:nvPicPr>
          <p:blipFill>
            <a:blip r:embed="rId1"/>
            <a:stretch>
              <a:fillRect/>
            </a:stretch>
          </p:blipFill>
          <p:spPr>
            <a:xfrm rot="21600000">
              <a:off x="0" y="0"/>
              <a:ext cx="9158716" cy="2428623"/>
            </a:xfrm>
            <a:prstGeom prst="rect">
              <a:avLst/>
            </a:prstGeom>
          </p:spPr>
        </p:pic>
        <p:sp>
          <p:nvSpPr>
            <p:cNvPr id="1049400" name="textbox 110"/>
            <p:cNvSpPr/>
            <p:nvPr/>
          </p:nvSpPr>
          <p:spPr>
            <a:xfrm>
              <a:off x="-12700" y="-12700"/>
              <a:ext cx="9184640" cy="2482214"/>
            </a:xfrm>
            <a:prstGeom prst="rect">
              <a:avLst/>
            </a:prstGeom>
          </p:spPr>
          <p:txBody>
            <a:bodyPr vert="horz" wrap="square" lIns="0" tIns="0" rIns="0" bIns="0"/>
            <a:p>
              <a:pPr algn="l" rtl="0" eaLnBrk="0">
                <a:lnSpc>
                  <a:spcPct val="104000"/>
                </a:lnSpc>
              </a:pPr>
              <a:endParaRPr lang="en-US" altLang="en-US" sz="1000" dirty="0"/>
            </a:p>
            <a:p>
              <a:pPr algn="l" rtl="0" eaLnBrk="0">
                <a:lnSpc>
                  <a:spcPct val="105000"/>
                </a:lnSpc>
              </a:pPr>
              <a:endParaRPr lang="en-US" altLang="en-US" sz="1000" dirty="0"/>
            </a:p>
            <a:p>
              <a:pPr algn="l" rtl="0" eaLnBrk="0">
                <a:lnSpc>
                  <a:spcPct val="7000"/>
                </a:lnSpc>
              </a:pPr>
              <a:endParaRPr lang="en-US" altLang="en-US" sz="100" dirty="0"/>
            </a:p>
            <a:p>
              <a:pPr marL="7619365" indent="-349250" algn="l" rtl="0" eaLnBrk="0">
                <a:lnSpc>
                  <a:spcPct val="95000"/>
                </a:lnSpc>
              </a:pPr>
              <a:r>
                <a:rPr sz="1800" kern="0" spc="-20" dirty="0">
                  <a:ln w="6531"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木棒的直径需</a:t>
              </a:r>
              <a:r>
                <a:rPr sz="1800" kern="0" spc="-20" dirty="0">
                  <a:solidFill>
                    <a:srgbClr val="FFFFFF">
                      <a:alpha val="100000"/>
                    </a:srgbClr>
                  </a:solidFill>
                  <a:latin typeface="仿宋" panose="02010609060101010101" charset="-122"/>
                  <a:ea typeface="仿宋" panose="02010609060101010101" charset="-122"/>
                  <a:cs typeface="仿宋" panose="02010609060101010101" charset="-122"/>
                </a:rPr>
                <a:t>     </a:t>
              </a:r>
              <a:r>
                <a:rPr sz="1800" kern="0" spc="-40" dirty="0">
                  <a:ln w="6531" cap="flat" cmpd="sng">
                    <a:solidFill>
                      <a:srgbClr val="FFFFFF">
                        <a:alpha val="100000"/>
                      </a:srgbClr>
                    </a:solidFill>
                    <a:prstDash val="solid"/>
                    <a:miter lim="10"/>
                  </a:ln>
                  <a:solidFill>
                    <a:srgbClr val="FFFFFF">
                      <a:alpha val="100000"/>
                    </a:srgbClr>
                  </a:solidFill>
                  <a:latin typeface="仿宋" panose="02010609060101010101" charset="-122"/>
                  <a:ea typeface="仿宋" panose="02010609060101010101" charset="-122"/>
                  <a:cs typeface="仿宋" panose="02010609060101010101" charset="-122"/>
                </a:rPr>
                <a:t>要保密</a:t>
              </a:r>
              <a:endParaRPr lang="en-US" altLang="en-US" sz="1800" dirty="0"/>
            </a:p>
          </p:txBody>
        </p:sp>
      </p:grpSp>
      <p:sp>
        <p:nvSpPr>
          <p:cNvPr id="1049401" name="textbox 112"/>
          <p:cNvSpPr/>
          <p:nvPr/>
        </p:nvSpPr>
        <p:spPr>
          <a:xfrm>
            <a:off x="2017164" y="1518442"/>
            <a:ext cx="7430769" cy="1597660"/>
          </a:xfrm>
          <a:prstGeom prst="rect">
            <a:avLst/>
          </a:prstGeom>
        </p:spPr>
        <p:txBody>
          <a:bodyPr vert="horz" wrap="square" lIns="0" tIns="0" rIns="0" bIns="0"/>
          <a:p>
            <a:pPr algn="l" rtl="0" eaLnBrk="0">
              <a:lnSpc>
                <a:spcPct val="83000"/>
              </a:lnSpc>
            </a:pPr>
            <a:endParaRPr lang="en-US" altLang="en-US" sz="100" dirty="0"/>
          </a:p>
          <a:p>
            <a:pPr marL="12700" algn="l" rtl="0" eaLnBrk="0">
              <a:lnSpc>
                <a:spcPts val="3315"/>
              </a:lnSpc>
            </a:pPr>
            <a:r>
              <a:rPr sz="2700" kern="0" spc="70" dirty="0">
                <a:solidFill>
                  <a:srgbClr val="000000">
                    <a:alpha val="100000"/>
                  </a:srgbClr>
                </a:solidFill>
                <a:latin typeface="Arial" panose="020B0604020202020204"/>
                <a:ea typeface="Arial" panose="020B0604020202020204"/>
                <a:cs typeface="Arial" panose="020B0604020202020204"/>
              </a:rPr>
              <a:t>• </a:t>
            </a:r>
            <a:r>
              <a:rPr sz="2700" b="1" kern="0" spc="70" dirty="0">
                <a:solidFill>
                  <a:srgbClr val="000000">
                    <a:alpha val="100000"/>
                  </a:srgbClr>
                </a:solidFill>
                <a:latin typeface="Times New Roman" panose="02020603050405020304"/>
                <a:ea typeface="Times New Roman" panose="02020603050405020304"/>
                <a:cs typeface="Times New Roman" panose="02020603050405020304"/>
              </a:rPr>
              <a:t>500 B.C.</a:t>
            </a:r>
            <a:r>
              <a:rPr sz="2700" kern="0" spc="7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，斯巴达人在军事上</a:t>
            </a:r>
            <a:r>
              <a:rPr sz="2700" kern="0" spc="60" dirty="0">
                <a:ln w="10145"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用于加解密</a:t>
            </a:r>
            <a:endParaRPr lang="en-US" altLang="en-US" sz="2700" dirty="0"/>
          </a:p>
          <a:p>
            <a:pPr algn="l" rtl="0" eaLnBrk="0">
              <a:lnSpc>
                <a:spcPct val="109000"/>
              </a:lnSpc>
            </a:pPr>
            <a:endParaRPr lang="en-US" altLang="en-US" sz="1000" dirty="0"/>
          </a:p>
          <a:p>
            <a:pPr algn="l" rtl="0" eaLnBrk="0">
              <a:lnSpc>
                <a:spcPct val="101000"/>
              </a:lnSpc>
            </a:pPr>
            <a:endParaRPr lang="en-US" altLang="en-US" sz="600" dirty="0"/>
          </a:p>
          <a:p>
            <a:pPr marL="702310" indent="-234950" algn="l" rtl="0" eaLnBrk="0">
              <a:lnSpc>
                <a:spcPct val="122000"/>
              </a:lnSpc>
              <a:spcBef>
                <a:spcPts val="0"/>
              </a:spcBef>
            </a:pPr>
            <a:r>
              <a:rPr sz="2400" kern="0" spc="0" dirty="0">
                <a:solidFill>
                  <a:srgbClr val="000000">
                    <a:alpha val="100000"/>
                  </a:srgbClr>
                </a:solidFill>
                <a:latin typeface="Arial" panose="020B0604020202020204"/>
                <a:ea typeface="Arial" panose="020B0604020202020204"/>
                <a:cs typeface="Arial" panose="020B0604020202020204"/>
              </a:rPr>
              <a:t>•</a:t>
            </a:r>
            <a:r>
              <a:rPr sz="2400" kern="0" spc="520" dirty="0">
                <a:solidFill>
                  <a:srgbClr val="000000">
                    <a:alpha val="100000"/>
                  </a:srgbClr>
                </a:solidFill>
                <a:latin typeface="Arial" panose="020B0604020202020204"/>
                <a:ea typeface="Arial" panose="020B0604020202020204"/>
                <a:cs typeface="Arial" panose="020B0604020202020204"/>
              </a:rPr>
              <a:t> </a:t>
            </a:r>
            <a:r>
              <a:rPr sz="2400" kern="0" spc="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发送者把一条羊皮纸螺</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旋形地缠在一个圆柱形木棒</a:t>
            </a:r>
            <a:r>
              <a:rPr sz="2400" kern="0" spc="0" dirty="0">
                <a:solidFill>
                  <a:srgbClr val="000000">
                    <a:alpha val="100000"/>
                  </a:srgbClr>
                </a:solidFill>
                <a:latin typeface="仿宋" panose="02010609060101010101" charset="-122"/>
                <a:ea typeface="仿宋" panose="02010609060101010101" charset="-122"/>
                <a:cs typeface="仿宋" panose="02010609060101010101" charset="-122"/>
              </a:rPr>
              <a:t> </a:t>
            </a:r>
            <a:r>
              <a:rPr sz="2400" kern="0" spc="-10" dirty="0">
                <a:ln w="8708" cap="flat" cmpd="sng">
                  <a:solidFill>
                    <a:srgbClr val="000000">
                      <a:alpha val="100000"/>
                    </a:srgbClr>
                  </a:solidFill>
                  <a:prstDash val="solid"/>
                  <a:miter lim="10"/>
                </a:ln>
                <a:solidFill>
                  <a:srgbClr val="000000">
                    <a:alpha val="100000"/>
                  </a:srgbClr>
                </a:solidFill>
                <a:latin typeface="仿宋" panose="02010609060101010101" charset="-122"/>
                <a:ea typeface="仿宋" panose="02010609060101010101" charset="-122"/>
                <a:cs typeface="仿宋" panose="02010609060101010101" charset="-122"/>
              </a:rPr>
              <a:t>上，核心思想是置换</a:t>
            </a:r>
            <a:endParaRPr lang="en-US" altLang="en-US" sz="2400" dirty="0"/>
          </a:p>
        </p:txBody>
      </p:sp>
      <p:sp>
        <p:nvSpPr>
          <p:cNvPr id="1049402" name="textbox 114"/>
          <p:cNvSpPr/>
          <p:nvPr/>
        </p:nvSpPr>
        <p:spPr>
          <a:xfrm>
            <a:off x="1572676" y="466821"/>
            <a:ext cx="3046095" cy="473075"/>
          </a:xfrm>
          <a:prstGeom prst="rect">
            <a:avLst/>
          </a:prstGeom>
        </p:spPr>
        <p:txBody>
          <a:bodyPr vert="horz" wrap="square" lIns="0" tIns="0" rIns="0" bIns="0"/>
          <a:p>
            <a:pPr algn="l" rtl="0" eaLnBrk="0">
              <a:lnSpc>
                <a:spcPct val="74000"/>
              </a:lnSpc>
            </a:pPr>
            <a:endParaRPr lang="en-US" altLang="en-US" sz="100" dirty="0"/>
          </a:p>
          <a:p>
            <a:pPr algn="r" rtl="0" eaLnBrk="0">
              <a:lnSpc>
                <a:spcPct val="92000"/>
              </a:lnSpc>
            </a:pPr>
            <a:r>
              <a:rPr sz="3200" kern="0" spc="-10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天书（</a:t>
            </a:r>
            <a:r>
              <a:rPr sz="3200" b="1" kern="0" spc="-100" dirty="0">
                <a:solidFill>
                  <a:srgbClr val="1F4E79">
                    <a:alpha val="100000"/>
                  </a:srgbClr>
                </a:solidFill>
                <a:latin typeface="Times New Roman" panose="02020603050405020304"/>
                <a:ea typeface="Times New Roman" panose="02020603050405020304"/>
                <a:cs typeface="Times New Roman" panose="02020603050405020304"/>
              </a:rPr>
              <a:t>Scytale</a:t>
            </a:r>
            <a:r>
              <a:rPr sz="3200" b="1" kern="0" spc="-110" dirty="0">
                <a:solidFill>
                  <a:srgbClr val="1F4E79">
                    <a:alpha val="100000"/>
                  </a:srgbClr>
                </a:solidFill>
                <a:latin typeface="Times New Roman" panose="02020603050405020304"/>
                <a:ea typeface="Times New Roman" panose="02020603050405020304"/>
                <a:cs typeface="Times New Roman" panose="02020603050405020304"/>
              </a:rPr>
              <a:t> </a:t>
            </a:r>
            <a:r>
              <a:rPr sz="3200" kern="0" spc="-1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a:t>
            </a:r>
            <a:endParaRPr lang="en-US" altLang="en-US" sz="3200" dirty="0"/>
          </a:p>
        </p:txBody>
      </p:sp>
      <p:sp>
        <p:nvSpPr>
          <p:cNvPr id="1049403"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60" name="picture 120"/>
          <p:cNvPicPr>
            <a:picLocks noChangeAspect="1"/>
          </p:cNvPicPr>
          <p:nvPr/>
        </p:nvPicPr>
        <p:blipFill>
          <a:blip r:embed="rId2"/>
          <a:stretch>
            <a:fillRect/>
          </a:stretch>
        </p:blipFill>
        <p:spPr>
          <a:xfrm rot="21600000">
            <a:off x="824483" y="408431"/>
            <a:ext cx="419100" cy="655320"/>
          </a:xfrm>
          <a:prstGeom prst="rect">
            <a:avLst/>
          </a:prstGeom>
        </p:spPr>
      </p:pic>
      <p:sp>
        <p:nvSpPr>
          <p:cNvPr id="1049404"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307" name=""/>
        <p:cNvGrpSpPr/>
        <p:nvPr/>
      </p:nvGrpSpPr>
      <p:grpSpPr>
        <a:xfrm>
          <a:off x="0" y="0"/>
          <a:ext cx="0" cy="0"/>
          <a:chOff x="0" y="0"/>
          <a:chExt cx="0" cy="0"/>
        </a:xfrm>
      </p:grpSpPr>
      <p:sp>
        <p:nvSpPr>
          <p:cNvPr id="1049402" name="textbox 114"/>
          <p:cNvSpPr/>
          <p:nvPr/>
        </p:nvSpPr>
        <p:spPr>
          <a:xfrm>
            <a:off x="1572676" y="466821"/>
            <a:ext cx="3046095" cy="473075"/>
          </a:xfrm>
          <a:prstGeom prst="rect">
            <a:avLst/>
          </a:prstGeom>
        </p:spPr>
        <p:txBody>
          <a:bodyPr vert="horz" wrap="square" lIns="0" tIns="0" rIns="0" bIns="0"/>
          <a:p>
            <a:pPr algn="l" rtl="0" eaLnBrk="0">
              <a:lnSpc>
                <a:spcPct val="74000"/>
              </a:lnSpc>
            </a:pPr>
            <a:endParaRPr lang="en-US" altLang="en-US" sz="100" dirty="0"/>
          </a:p>
          <a:p>
            <a:pPr algn="l" rtl="0" eaLnBrk="0">
              <a:lnSpc>
                <a:spcPct val="92000"/>
              </a:lnSpc>
            </a:pPr>
            <a:r>
              <a:rPr lang="zh-CN" sz="3200" kern="0" spc="-1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rPr>
              <a:t>练习题</a:t>
            </a:r>
            <a:endParaRPr lang="zh-CN" sz="3200" kern="0" spc="-110" dirty="0">
              <a:ln w="11625" cap="flat" cmpd="sng">
                <a:solidFill>
                  <a:srgbClr val="1F4E79">
                    <a:alpha val="100000"/>
                  </a:srgbClr>
                </a:solidFill>
                <a:prstDash val="solid"/>
                <a:miter lim="10"/>
              </a:ln>
              <a:solidFill>
                <a:srgbClr val="1F4E79">
                  <a:alpha val="100000"/>
                </a:srgbClr>
              </a:solidFill>
              <a:latin typeface="仿宋" panose="02010609060101010101" charset="-122"/>
              <a:ea typeface="仿宋" panose="02010609060101010101" charset="-122"/>
              <a:cs typeface="仿宋" panose="02010609060101010101" charset="-122"/>
            </a:endParaRPr>
          </a:p>
        </p:txBody>
      </p:sp>
      <p:sp>
        <p:nvSpPr>
          <p:cNvPr id="1049403" name="rect"/>
          <p:cNvSpPr/>
          <p:nvPr/>
        </p:nvSpPr>
        <p:spPr>
          <a:xfrm>
            <a:off x="694181" y="6236208"/>
            <a:ext cx="10779125" cy="28955"/>
          </a:xfrm>
          <a:prstGeom prst="rect">
            <a:avLst/>
          </a:prstGeom>
          <a:solidFill>
            <a:srgbClr val="5B9BD5">
              <a:alpha val="100000"/>
            </a:srgbClr>
          </a:solidFill>
          <a:ln cap="flat">
            <a:noFill/>
            <a:prstDash val="solid"/>
            <a:miter lim="0"/>
          </a:ln>
        </p:spPr>
        <p:txBody>
          <a:bodyPr rtlCol="0"/>
          <a:p>
            <a:pPr algn="ctr"/>
            <a:endParaRPr lang="zh-CN" altLang="en-US"/>
          </a:p>
        </p:txBody>
      </p:sp>
      <p:pic>
        <p:nvPicPr>
          <p:cNvPr id="2097360" name="picture 120"/>
          <p:cNvPicPr>
            <a:picLocks noChangeAspect="1"/>
          </p:cNvPicPr>
          <p:nvPr/>
        </p:nvPicPr>
        <p:blipFill>
          <a:blip r:embed="rId1"/>
          <a:stretch>
            <a:fillRect/>
          </a:stretch>
        </p:blipFill>
        <p:spPr>
          <a:xfrm rot="21600000">
            <a:off x="824483" y="408431"/>
            <a:ext cx="419100" cy="655320"/>
          </a:xfrm>
          <a:prstGeom prst="rect">
            <a:avLst/>
          </a:prstGeom>
        </p:spPr>
      </p:pic>
      <p:sp>
        <p:nvSpPr>
          <p:cNvPr id="1049404" name="path"/>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alpha val="100000"/>
              </a:srgbClr>
            </a:solidFill>
            <a:prstDash val="solid"/>
            <a:miter lim="1000000"/>
          </a:ln>
        </p:spPr>
        <p:txBody>
          <a:bodyPr rtlCol="0"/>
          <a:p>
            <a:pPr algn="ctr"/>
            <a:endParaRPr lang="zh-CN" altLang="en-US"/>
          </a:p>
        </p:txBody>
      </p:sp>
      <p:sp>
        <p:nvSpPr>
          <p:cNvPr id="2" name="文本框 1"/>
          <p:cNvSpPr txBox="1"/>
          <p:nvPr/>
        </p:nvSpPr>
        <p:spPr>
          <a:xfrm>
            <a:off x="1745615" y="1635760"/>
            <a:ext cx="9023350" cy="2676525"/>
          </a:xfrm>
          <a:prstGeom prst="rect">
            <a:avLst/>
          </a:prstGeom>
          <a:noFill/>
        </p:spPr>
        <p:txBody>
          <a:bodyPr wrap="square" rtlCol="0">
            <a:spAutoFit/>
          </a:bodyPr>
          <a:p>
            <a:pPr marL="342900" indent="-342900">
              <a:buAutoNum type="arabicPeriod"/>
            </a:pPr>
            <a:r>
              <a:rPr lang="zh-CN" altLang="en-US" sz="2400">
                <a:latin typeface="黑体" panose="02010609060101010101" charset="-122"/>
                <a:ea typeface="黑体" panose="02010609060101010101" charset="-122"/>
                <a:cs typeface="黑体" panose="02010609060101010101" charset="-122"/>
              </a:rPr>
              <a:t>假设</a:t>
            </a:r>
            <a:r>
              <a:rPr lang="en-US" altLang="zh-CN" sz="2400">
                <a:latin typeface="黑体" panose="02010609060101010101" charset="-122"/>
                <a:ea typeface="黑体" panose="02010609060101010101" charset="-122"/>
                <a:cs typeface="黑体" panose="02010609060101010101" charset="-122"/>
              </a:rPr>
              <a:t>key</a:t>
            </a:r>
            <a:r>
              <a:rPr lang="zh-CN" altLang="en-US" sz="2400">
                <a:latin typeface="黑体" panose="02010609060101010101" charset="-122"/>
                <a:ea typeface="黑体" panose="02010609060101010101" charset="-122"/>
                <a:cs typeface="黑体" panose="02010609060101010101" charset="-122"/>
              </a:rPr>
              <a:t>为 “LEMON”，</a:t>
            </a:r>
            <a:r>
              <a:rPr lang="zh-CN" altLang="en-US" sz="2400">
                <a:latin typeface="黑体" panose="02010609060101010101" charset="-122"/>
                <a:ea typeface="黑体" panose="02010609060101010101" charset="-122"/>
                <a:cs typeface="黑体" panose="02010609060101010101" charset="-122"/>
              </a:rPr>
              <a:t>使用Playfair密码对明文 “HELLO WORLD” 进行加密。</a:t>
            </a:r>
            <a:endParaRPr lang="zh-CN" altLang="en-US" sz="2400">
              <a:latin typeface="黑体" panose="02010609060101010101" charset="-122"/>
              <a:ea typeface="黑体" panose="02010609060101010101" charset="-122"/>
              <a:cs typeface="黑体" panose="02010609060101010101" charset="-122"/>
            </a:endParaRPr>
          </a:p>
          <a:p>
            <a:pPr marL="342900" indent="-342900">
              <a:buAutoNum type="arabicPeriod"/>
            </a:pPr>
            <a:endParaRPr lang="zh-CN" altLang="en-US" sz="2400">
              <a:latin typeface="黑体" panose="02010609060101010101" charset="-122"/>
              <a:ea typeface="黑体" panose="02010609060101010101" charset="-122"/>
              <a:cs typeface="黑体" panose="02010609060101010101" charset="-122"/>
            </a:endParaRPr>
          </a:p>
          <a:p>
            <a:pPr marL="342900" indent="-342900">
              <a:buAutoNum type="arabicPeriod"/>
            </a:pPr>
            <a:endParaRPr lang="zh-CN" altLang="en-US" sz="2400">
              <a:latin typeface="黑体" panose="02010609060101010101" charset="-122"/>
              <a:ea typeface="黑体" panose="02010609060101010101" charset="-122"/>
              <a:cs typeface="黑体" panose="02010609060101010101" charset="-122"/>
            </a:endParaRPr>
          </a:p>
          <a:p>
            <a:pPr marL="342900" indent="-342900">
              <a:buAutoNum type="arabicPeriod"/>
            </a:pPr>
            <a:endParaRPr lang="zh-CN" altLang="en-US" sz="2400">
              <a:latin typeface="黑体" panose="02010609060101010101" charset="-122"/>
              <a:ea typeface="黑体" panose="02010609060101010101" charset="-122"/>
              <a:cs typeface="黑体" panose="02010609060101010101" charset="-122"/>
            </a:endParaRPr>
          </a:p>
          <a:p>
            <a:pPr marL="342900" indent="-342900">
              <a:buAutoNum type="arabicPeriod"/>
            </a:pPr>
            <a:r>
              <a:rPr lang="zh-CN" altLang="en-US" sz="2400">
                <a:latin typeface="黑体" panose="02010609060101010101" charset="-122"/>
                <a:ea typeface="黑体" panose="02010609060101010101" charset="-122"/>
                <a:cs typeface="黑体" panose="02010609060101010101" charset="-122"/>
              </a:rPr>
              <a:t>假设</a:t>
            </a:r>
            <a:r>
              <a:rPr lang="en-US" altLang="zh-CN" sz="2400">
                <a:latin typeface="黑体" panose="02010609060101010101" charset="-122"/>
                <a:ea typeface="黑体" panose="02010609060101010101" charset="-122"/>
                <a:cs typeface="黑体" panose="02010609060101010101" charset="-122"/>
              </a:rPr>
              <a:t>key</a:t>
            </a:r>
            <a:r>
              <a:rPr lang="zh-CN" altLang="en-US" sz="2400">
                <a:latin typeface="黑体" panose="02010609060101010101" charset="-122"/>
                <a:ea typeface="黑体" panose="02010609060101010101" charset="-122"/>
                <a:cs typeface="黑体" panose="02010609060101010101" charset="-122"/>
              </a:rPr>
              <a:t>为 “CAT”，使用</a:t>
            </a:r>
            <a:r>
              <a:rPr lang="zh-CN" altLang="en-US" sz="2400">
                <a:latin typeface="黑体" panose="02010609060101010101" charset="-122"/>
                <a:ea typeface="黑体" panose="02010609060101010101" charset="-122"/>
                <a:cs typeface="黑体" panose="02010609060101010101" charset="-122"/>
                <a:sym typeface="+mn-ea"/>
              </a:rPr>
              <a:t>Vigenère密码</a:t>
            </a:r>
            <a:r>
              <a:rPr lang="zh-CN" altLang="en-US" sz="2400">
                <a:latin typeface="黑体" panose="02010609060101010101" charset="-122"/>
                <a:ea typeface="黑体" panose="02010609060101010101" charset="-122"/>
                <a:cs typeface="黑体" panose="02010609060101010101" charset="-122"/>
              </a:rPr>
              <a:t>对明文 “SECRET MESSAGE” 进行加密。</a:t>
            </a:r>
            <a:endParaRPr lang="zh-CN" altLang="en-US" sz="2400">
              <a:latin typeface="黑体" panose="02010609060101010101" charset="-122"/>
              <a:ea typeface="黑体" panose="02010609060101010101" charset="-122"/>
              <a:cs typeface="黑体" panose="02010609060101010101" charset="-122"/>
            </a:endParaRPr>
          </a:p>
        </p:txBody>
      </p:sp>
    </p:spTree>
  </p:cSld>
  <p:clrMapOvr>
    <a:masterClrMapping/>
  </p:clrMapOvr>
</p:sld>
</file>

<file path=ppt/tags/tag1.xml><?xml version="1.0" encoding="utf-8"?>
<p:tagLst xmlns:p="http://schemas.openxmlformats.org/presentationml/2006/main">
  <p:tag name="KSO_WM_UNIT_TABLE_BEAUTIFY" val="smartTable{643a7014-cfca-4308-b9f9-42e81c410702}"/>
</p:tagLst>
</file>

<file path=ppt/tags/tag2.xml><?xml version="1.0" encoding="utf-8"?>
<p:tagLst xmlns:p="http://schemas.openxmlformats.org/presentationml/2006/main">
  <p:tag name="KSO_WM_UNIT_TABLE_BEAUTIFY" val="smartTable{643a7014-cfca-4308-b9f9-42e81c410702}"/>
  <p:tag name="TABLE_ENDDRAG_ORIGIN_RECT" val="317*173"/>
  <p:tag name="TABLE_ENDDRAG_RECT" val="637*4*317*173"/>
</p:tagLst>
</file>

<file path=ppt/tags/tag3.xml><?xml version="1.0" encoding="utf-8"?>
<p:tagLst xmlns:p="http://schemas.openxmlformats.org/presentationml/2006/main">
  <p:tag name="commondata" val="eyJoZGlkIjoiMWI5ZmVlMzFiMGExNmMzZWRlMzA3Njk5Y2UyMjM0MWIifQ=="/>
  <p:tag name="KSO_WPP_MARK_KEY" val="f30fb960-3289-478b-b485-665fccdaa586"/>
  <p:tag name="COMMONDATA" val="eyJoZGlkIjoiMzEwNTM5NzYwMDRjMzkwZTVkZjY2ODkwMGIxNGU0OTUifQ=="/>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11801</Words>
  <Application>WPS 演示</Application>
  <PresentationFormat/>
  <Paragraphs>1420</Paragraphs>
  <Slides>93</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93</vt:i4>
      </vt:variant>
    </vt:vector>
  </HeadingPairs>
  <TitlesOfParts>
    <vt:vector size="115" baseType="lpstr">
      <vt:lpstr>Arial</vt:lpstr>
      <vt:lpstr>宋体</vt:lpstr>
      <vt:lpstr>Wingdings</vt:lpstr>
      <vt:lpstr>仿宋</vt:lpstr>
      <vt:lpstr>黑体</vt:lpstr>
      <vt:lpstr>Wingdings</vt:lpstr>
      <vt:lpstr>Arial</vt:lpstr>
      <vt:lpstr>Times New Roman</vt:lpstr>
      <vt:lpstr>Symbol</vt:lpstr>
      <vt:lpstr>微软雅黑</vt:lpstr>
      <vt:lpstr>Arial Unicode MS</vt:lpstr>
      <vt:lpstr>Calibri</vt:lpstr>
      <vt:lpstr>Calibri</vt:lpstr>
      <vt:lpstr>Courier New</vt:lpstr>
      <vt:lpstr>Verdana</vt:lpstr>
      <vt:lpstr>新宋体</vt:lpstr>
      <vt:lpstr>Tahoma</vt:lpstr>
      <vt:lpstr>Candara</vt:lpstr>
      <vt:lpstr>Courier</vt:lpstr>
      <vt:lpstr>Courier New</vt:lpstr>
      <vt:lpstr>MS PGothic</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BWX</cp:lastModifiedBy>
  <cp:revision>7</cp:revision>
  <dcterms:created xsi:type="dcterms:W3CDTF">2024-03-18T01:41:00Z</dcterms:created>
  <dcterms:modified xsi:type="dcterms:W3CDTF">2025-06-17T02:05:36Z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wqlLaW5nc29mdCBQREYgdG8gV1BTIDkw</vt:lpwstr>
  </property>
  <property fmtid="{D5CDD505-2E9C-101B-9397-08002B2CF9AE}" pid="3" name="Created">
    <vt:filetime>2024-03-16T19:39:07Z</vt:filetime>
  </property>
  <property fmtid="{D5CDD505-2E9C-101B-9397-08002B2CF9AE}" pid="4" name="ICV">
    <vt:lpwstr>B18469DAB9A14B7E8282D411AE42C9ED</vt:lpwstr>
  </property>
  <property fmtid="{D5CDD505-2E9C-101B-9397-08002B2CF9AE}" pid="5" name="KSOProductBuildVer">
    <vt:lpwstr>2052-12.1.0.21541</vt:lpwstr>
  </property>
</Properties>
</file>