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heme/theme3.xml" ContentType="application/vnd.openxmlformats-officedocument.them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notesSlides/notesSlide2.xml" ContentType="application/vnd.openxmlformats-officedocument.presentationml.notesSlide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notesSlides/notesSlide3.xml" ContentType="application/vnd.openxmlformats-officedocument.presentationml.notesSlide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notesSlides/notesSlide4.xml" ContentType="application/vnd.openxmlformats-officedocument.presentationml.notesSlide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5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6.xml" ContentType="application/vnd.openxmlformats-officedocument.presentationml.notesSlid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notesSlides/notesSlide7.xml" ContentType="application/vnd.openxmlformats-officedocument.presentationml.notesSlide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notesSlides/notesSlide8.xml" ContentType="application/vnd.openxmlformats-officedocument.presentationml.notesSlide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9.xml" ContentType="application/vnd.openxmlformats-officedocument.presentationml.notesSlide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notesSlides/notesSlide10.xml" ContentType="application/vnd.openxmlformats-officedocument.presentationml.notesSlide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notesSlides/notesSlide11.xml" ContentType="application/vnd.openxmlformats-officedocument.presentationml.notesSlide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notesSlides/notesSlide12.xml" ContentType="application/vnd.openxmlformats-officedocument.presentationml.notesSlide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notesSlides/notesSlide13.xml" ContentType="application/vnd.openxmlformats-officedocument.presentationml.notesSlide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notesSlides/notesSlide14.xml" ContentType="application/vnd.openxmlformats-officedocument.presentationml.notesSlide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15.xml" ContentType="application/vnd.openxmlformats-officedocument.presentationml.notesSlide+xml"/>
  <Override PartName="/ppt/tags/tag318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56"/>
  </p:notesMasterIdLst>
  <p:sldIdLst>
    <p:sldId id="841" r:id="rId3"/>
    <p:sldId id="842" r:id="rId4"/>
    <p:sldId id="847" r:id="rId5"/>
    <p:sldId id="1021" r:id="rId6"/>
    <p:sldId id="1022" r:id="rId7"/>
    <p:sldId id="1023" r:id="rId8"/>
    <p:sldId id="941" r:id="rId9"/>
    <p:sldId id="703" r:id="rId10"/>
    <p:sldId id="704" r:id="rId11"/>
    <p:sldId id="706" r:id="rId12"/>
    <p:sldId id="707" r:id="rId13"/>
    <p:sldId id="708" r:id="rId14"/>
    <p:sldId id="709" r:id="rId15"/>
    <p:sldId id="710" r:id="rId16"/>
    <p:sldId id="711" r:id="rId17"/>
    <p:sldId id="712" r:id="rId18"/>
    <p:sldId id="822" r:id="rId19"/>
    <p:sldId id="713" r:id="rId20"/>
    <p:sldId id="1027" r:id="rId21"/>
    <p:sldId id="824" r:id="rId22"/>
    <p:sldId id="825" r:id="rId23"/>
    <p:sldId id="715" r:id="rId24"/>
    <p:sldId id="716" r:id="rId25"/>
    <p:sldId id="799" r:id="rId26"/>
    <p:sldId id="827" r:id="rId27"/>
    <p:sldId id="828" r:id="rId28"/>
    <p:sldId id="719" r:id="rId29"/>
    <p:sldId id="800" r:id="rId30"/>
    <p:sldId id="721" r:id="rId31"/>
    <p:sldId id="722" r:id="rId32"/>
    <p:sldId id="815" r:id="rId33"/>
    <p:sldId id="801" r:id="rId34"/>
    <p:sldId id="723" r:id="rId35"/>
    <p:sldId id="725" r:id="rId36"/>
    <p:sldId id="726" r:id="rId37"/>
    <p:sldId id="727" r:id="rId38"/>
    <p:sldId id="728" r:id="rId39"/>
    <p:sldId id="729" r:id="rId40"/>
    <p:sldId id="814" r:id="rId41"/>
    <p:sldId id="812" r:id="rId42"/>
    <p:sldId id="730" r:id="rId43"/>
    <p:sldId id="731" r:id="rId44"/>
    <p:sldId id="732" r:id="rId45"/>
    <p:sldId id="733" r:id="rId46"/>
    <p:sldId id="734" r:id="rId47"/>
    <p:sldId id="735" r:id="rId48"/>
    <p:sldId id="736" r:id="rId49"/>
    <p:sldId id="737" r:id="rId50"/>
    <p:sldId id="738" r:id="rId51"/>
    <p:sldId id="739" r:id="rId52"/>
    <p:sldId id="1030" r:id="rId53"/>
    <p:sldId id="1028" r:id="rId54"/>
    <p:sldId id="1029" r:id="rId55"/>
  </p:sldIdLst>
  <p:sldSz cx="12192000" cy="6858000"/>
  <p:notesSz cx="6858000" cy="9144000"/>
  <p:custDataLst>
    <p:tags r:id="rId5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49" userDrawn="1">
          <p15:clr>
            <a:srgbClr val="A4A3A4"/>
          </p15:clr>
        </p15:guide>
        <p15:guide id="2" pos="383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qx" initials="w" lastIdx="6" clrIdx="0"/>
  <p:cmAuthor id="2" name="unknown" initials="L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716" autoAdjust="0"/>
  </p:normalViewPr>
  <p:slideViewPr>
    <p:cSldViewPr snapToGrid="0" showGuides="1">
      <p:cViewPr varScale="1">
        <p:scale>
          <a:sx n="86" d="100"/>
          <a:sy n="86" d="100"/>
        </p:scale>
        <p:origin x="69" y="270"/>
      </p:cViewPr>
      <p:guideLst>
        <p:guide orient="horz" pos="2249"/>
        <p:guide pos="38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commentAuthors" Target="commentAuthors.xml"/><Relationship Id="rId5" Type="http://schemas.openxmlformats.org/officeDocument/2006/relationships/slide" Target="slides/slide3.xml"/><Relationship Id="rId61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tags" Target="tags/tag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网络层：使用</a:t>
            </a:r>
            <a:r>
              <a:rPr lang="en-US" altLang="zh-CN" dirty="0" err="1"/>
              <a:t>Ipsec</a:t>
            </a:r>
            <a:r>
              <a:rPr lang="zh-CN" altLang="en-US" dirty="0"/>
              <a:t>协议，优点是对终端用户和应用是透明的。还具有过滤功能</a:t>
            </a:r>
            <a:endParaRPr lang="en-US" altLang="zh-CN" dirty="0"/>
          </a:p>
          <a:p>
            <a:r>
              <a:rPr lang="zh-CN" altLang="en-US" dirty="0"/>
              <a:t>传输层：在</a:t>
            </a:r>
            <a:r>
              <a:rPr lang="en-US" altLang="zh-CN" dirty="0"/>
              <a:t>TCP</a:t>
            </a:r>
            <a:r>
              <a:rPr lang="zh-CN" altLang="en-US" dirty="0"/>
              <a:t>协议上实现安全性，</a:t>
            </a:r>
            <a:r>
              <a:rPr lang="en-US" altLang="zh-CN" dirty="0"/>
              <a:t>SSL</a:t>
            </a:r>
            <a:r>
              <a:rPr lang="zh-CN" altLang="en-US" dirty="0"/>
              <a:t>和</a:t>
            </a:r>
            <a:r>
              <a:rPr lang="en-US" altLang="zh-CN" dirty="0"/>
              <a:t>TLS</a:t>
            </a:r>
            <a:r>
              <a:rPr lang="zh-CN" altLang="en-US" dirty="0"/>
              <a:t>的关系</a:t>
            </a:r>
            <a:endParaRPr lang="en-US" altLang="zh-CN" dirty="0"/>
          </a:p>
          <a:p>
            <a:r>
              <a:rPr lang="zh-CN" altLang="en-US" dirty="0"/>
              <a:t>应用层：嵌入应用，进行定制化服务。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connection is private. Symmetric cryptography is used for</a:t>
            </a:r>
          </a:p>
          <a:p>
            <a:r>
              <a:rPr lang="en-US" altLang="zh-CN" dirty="0"/>
              <a:t> data encryption (e.g., AES [AES], RC4 [SCH], etc.). The keys for</a:t>
            </a:r>
          </a:p>
          <a:p>
            <a:r>
              <a:rPr lang="en-US" altLang="zh-CN" dirty="0"/>
              <a:t> this symmetric encryption are generated uniquely for each</a:t>
            </a:r>
          </a:p>
          <a:p>
            <a:r>
              <a:rPr lang="en-US" altLang="zh-CN" dirty="0"/>
              <a:t> connection and are based on a secret negotiated by another</a:t>
            </a:r>
          </a:p>
          <a:p>
            <a:r>
              <a:rPr lang="en-US" altLang="zh-CN" dirty="0"/>
              <a:t> protocol (such as the TLS Handshake Protocol). The Record</a:t>
            </a:r>
          </a:p>
          <a:p>
            <a:r>
              <a:rPr lang="en-US" altLang="zh-CN" dirty="0"/>
              <a:t> Protocol can also be used without encryption.</a:t>
            </a:r>
          </a:p>
          <a:p>
            <a:r>
              <a:rPr lang="en-US" altLang="zh-CN" dirty="0"/>
              <a:t> - The connection is reliable. Message transport includes a message</a:t>
            </a:r>
          </a:p>
          <a:p>
            <a:r>
              <a:rPr lang="en-US" altLang="zh-CN" dirty="0"/>
              <a:t> integrity check using a keyed MAC. Secure hash functions (e.g.,</a:t>
            </a:r>
          </a:p>
          <a:p>
            <a:r>
              <a:rPr lang="en-US" altLang="zh-CN" dirty="0"/>
              <a:t> SHA-1, etc.) are used for MAC computations. The Record Protocol</a:t>
            </a:r>
          </a:p>
          <a:p>
            <a:r>
              <a:rPr lang="en-US" altLang="zh-CN" dirty="0"/>
              <a:t> can operate without a MAC, but is generally only used in this mode</a:t>
            </a:r>
          </a:p>
          <a:p>
            <a:r>
              <a:rPr lang="en-US" altLang="zh-CN" dirty="0"/>
              <a:t> while another protocol is using the Record Protocol as a transport</a:t>
            </a:r>
          </a:p>
          <a:p>
            <a:r>
              <a:rPr lang="en-US" altLang="zh-CN" dirty="0"/>
              <a:t> for negotiating security parameters.</a:t>
            </a:r>
          </a:p>
          <a:p>
            <a:endParaRPr lang="en-US" altLang="zh-CN" dirty="0"/>
          </a:p>
          <a:p>
            <a:r>
              <a:rPr lang="en-US" altLang="zh-CN" dirty="0"/>
              <a:t> - The peer’s identity can be authenticated using asymmetric, or</a:t>
            </a:r>
          </a:p>
          <a:p>
            <a:r>
              <a:rPr lang="en-US" altLang="zh-CN" dirty="0"/>
              <a:t> public key, cryptography (e.g., RSA [RSA], DSA [DSS], etc.). This</a:t>
            </a:r>
          </a:p>
          <a:p>
            <a:r>
              <a:rPr lang="en-US" altLang="zh-CN" dirty="0"/>
              <a:t> authentication can be made optional, but is generally required for</a:t>
            </a:r>
          </a:p>
          <a:p>
            <a:r>
              <a:rPr lang="en-US" altLang="zh-CN" dirty="0"/>
              <a:t> at least one of the peers.</a:t>
            </a:r>
          </a:p>
          <a:p>
            <a:r>
              <a:rPr lang="en-US" altLang="zh-CN" dirty="0"/>
              <a:t> - The negotiation of a shared secret is secure: the negotiated</a:t>
            </a:r>
          </a:p>
          <a:p>
            <a:r>
              <a:rPr lang="en-US" altLang="zh-CN" dirty="0"/>
              <a:t> secret is unavailable to eavesdroppers, and for any authenticated</a:t>
            </a:r>
          </a:p>
          <a:p>
            <a:r>
              <a:rPr lang="en-US" altLang="zh-CN" dirty="0"/>
              <a:t> connection the secret cannot be obtained, even by an attacker who</a:t>
            </a:r>
          </a:p>
          <a:p>
            <a:r>
              <a:rPr lang="en-US" altLang="zh-CN" dirty="0"/>
              <a:t> can place himself in the middle of the connection.</a:t>
            </a:r>
          </a:p>
          <a:p>
            <a:r>
              <a:rPr lang="en-US" altLang="zh-CN" dirty="0"/>
              <a:t> - The negotiation is reliable: no attacker can modify the</a:t>
            </a:r>
          </a:p>
          <a:p>
            <a:r>
              <a:rPr lang="en-US" altLang="zh-CN" dirty="0"/>
              <a:t> negotiation communica</a:t>
            </a:r>
            <a:r>
              <a:rPr lang="en-US" altLang="zh-CN" baseline="0" dirty="0"/>
              <a:t>tion without being detected by the parties to</a:t>
            </a:r>
          </a:p>
          <a:p>
            <a:r>
              <a:rPr lang="en-US" altLang="zh-CN" baseline="0" dirty="0"/>
              <a:t> the communication.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570EEC-7445-49E3-AC83-578A2F2A6437}" type="slidenum">
              <a:rPr lang="zh-CN" altLang="en-US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TLS has three </a:t>
            </a:r>
            <a:r>
              <a:rPr lang="en-US" altLang="zh-CN" dirty="0" err="1"/>
              <a:t>subprotocols</a:t>
            </a:r>
            <a:r>
              <a:rPr lang="en-US" altLang="zh-CN" dirty="0"/>
              <a:t> that are used to allow peers to agree upon</a:t>
            </a:r>
          </a:p>
          <a:p>
            <a:r>
              <a:rPr lang="en-US" altLang="zh-CN" dirty="0"/>
              <a:t> security parameters for the record layer, to authenticate themselves,</a:t>
            </a:r>
          </a:p>
          <a:p>
            <a:r>
              <a:rPr lang="en-US" altLang="zh-CN" dirty="0"/>
              <a:t> to instantiate negotiated security parameters, and to report error</a:t>
            </a:r>
          </a:p>
          <a:p>
            <a:r>
              <a:rPr lang="en-US" altLang="zh-CN" dirty="0"/>
              <a:t> conditions to each other.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570EEC-7445-49E3-AC83-578A2F2A6437}" type="slidenum">
              <a:rPr lang="zh-CN" altLang="en-US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2. </a:t>
            </a:r>
            <a:r>
              <a:rPr lang="en-US" altLang="zh-CN" b="1" dirty="0" err="1">
                <a:solidFill>
                  <a:srgbClr val="000000"/>
                </a:solidFill>
                <a:effectLst/>
                <a:latin typeface="Inter"/>
                <a:sym typeface="+mn-ea"/>
              </a:rPr>
              <a:t>ContentType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枚举值详解</a:t>
            </a:r>
          </a:p>
          <a:p>
            <a:pPr algn="l"/>
            <a:r>
              <a:rPr lang="zh-CN" altLang="en-US" dirty="0">
                <a:effectLst/>
                <a:latin typeface="Inter"/>
                <a:sym typeface="+mn-ea"/>
              </a:rPr>
              <a:t>你提供的枚举值定义了四种主要的 </a:t>
            </a:r>
            <a:r>
              <a:rPr lang="en-US" altLang="zh-CN" dirty="0">
                <a:effectLst/>
                <a:latin typeface="Inter"/>
                <a:sym typeface="+mn-ea"/>
              </a:rPr>
              <a:t>TLS </a:t>
            </a:r>
            <a:r>
              <a:rPr lang="zh-CN" altLang="en-US" dirty="0">
                <a:effectLst/>
                <a:latin typeface="Inter"/>
                <a:sym typeface="+mn-ea"/>
              </a:rPr>
              <a:t>数据类型：</a:t>
            </a:r>
          </a:p>
          <a:p>
            <a:pPr algn="l"/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1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）</a:t>
            </a:r>
            <a:r>
              <a:rPr lang="en-US" altLang="zh-CN" b="1" dirty="0" err="1">
                <a:solidFill>
                  <a:srgbClr val="000000"/>
                </a:solidFill>
                <a:effectLst/>
                <a:latin typeface="Inter"/>
                <a:sym typeface="+mn-ea"/>
              </a:rPr>
              <a:t>change_cipher_spec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(20)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含义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：用于通知对方切换加密算法和密钥。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作用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：在 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TLS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握手过程中，当双方协商好加密参数后，发送此消息表示后续数据将使用新的加密方式传输。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特殊性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：虽然在枚举中定义，但实际上它不属于 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TLS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握手消息，而是一个独立的协议。</a:t>
            </a:r>
          </a:p>
          <a:p>
            <a:pPr algn="l"/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2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）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alert(21)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含义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：用于传输 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TLS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警告或错误信息。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作用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：当出现异常情况（如握手失败、证书验证错误）时，发送 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alert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消息通知对方。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分类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警告（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warning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）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：如 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Inter"/>
                <a:sym typeface="+mn-ea"/>
              </a:rPr>
              <a:t>close_notify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（正常关闭连接）。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致命错误（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fatal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）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：如 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Inter"/>
                <a:sym typeface="+mn-ea"/>
              </a:rPr>
              <a:t>handshake_failure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（握手失败），接收方必须关闭连接。</a:t>
            </a:r>
          </a:p>
          <a:p>
            <a:pPr algn="l"/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3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）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handshake(22)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含义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：用于 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TLS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握手过程中的消息交换。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作用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：协商加密算法、交换证书、生成会话密钥等。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常见消息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dirty="0" err="1">
                <a:solidFill>
                  <a:srgbClr val="000000"/>
                </a:solidFill>
                <a:effectLst/>
                <a:latin typeface="Inter"/>
                <a:sym typeface="+mn-ea"/>
              </a:rPr>
              <a:t>ClientHello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/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Inter"/>
                <a:sym typeface="+mn-ea"/>
              </a:rPr>
              <a:t>ServerHello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：客户端和服务器打招呼，携带支持的 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TLS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版本和加密套件。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Certificate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：服务器发送证书链。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Finished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：表示握手完成。</a:t>
            </a:r>
          </a:p>
          <a:p>
            <a:pPr algn="l"/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（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4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）</a:t>
            </a:r>
            <a:r>
              <a:rPr lang="en-US" altLang="zh-CN" b="1" dirty="0" err="1">
                <a:solidFill>
                  <a:srgbClr val="000000"/>
                </a:solidFill>
                <a:effectLst/>
                <a:latin typeface="Inter"/>
                <a:sym typeface="+mn-ea"/>
              </a:rPr>
              <a:t>application_data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(23)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含义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：承载真正的应用层数据（如 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HTTPS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请求 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/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响应）。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作用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：在 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TLS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握手成功并建立安全通道后，应用层数据通过此类型传输。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示例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：浏览器访问 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HTTPS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网站时，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HTTP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请求 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/ 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响应数据就封装在 </a:t>
            </a:r>
            <a:r>
              <a:rPr lang="en-US" altLang="zh-CN" dirty="0" err="1">
                <a:solidFill>
                  <a:srgbClr val="000000"/>
                </a:solidFill>
                <a:effectLst/>
                <a:latin typeface="Inter"/>
                <a:sym typeface="+mn-ea"/>
              </a:rPr>
              <a:t>application_data</a:t>
            </a:r>
            <a:r>
              <a:rPr lang="en-US" altLang="zh-CN" dirty="0">
                <a:solidFill>
                  <a:srgbClr val="000000"/>
                </a:solidFill>
                <a:effectLst/>
                <a:latin typeface="Inter"/>
                <a:sym typeface="+mn-ea"/>
              </a:rPr>
              <a:t> </a:t>
            </a:r>
            <a:r>
              <a:rPr lang="zh-CN" altLang="en-US" dirty="0">
                <a:solidFill>
                  <a:srgbClr val="000000"/>
                </a:solidFill>
                <a:effectLst/>
                <a:latin typeface="Inter"/>
                <a:sym typeface="+mn-ea"/>
              </a:rPr>
              <a:t>中。</a:t>
            </a:r>
          </a:p>
          <a:p>
            <a:pPr algn="l"/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3. 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枚举中的 </a:t>
            </a:r>
            <a:r>
              <a:rPr lang="en-US" altLang="zh-CN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(255) </a:t>
            </a:r>
            <a:r>
              <a:rPr lang="zh-CN" altLang="en-US" b="1" dirty="0">
                <a:solidFill>
                  <a:srgbClr val="000000"/>
                </a:solidFill>
                <a:effectLst/>
                <a:latin typeface="Inter"/>
                <a:sym typeface="+mn-ea"/>
              </a:rPr>
              <a:t>说明</a:t>
            </a:r>
          </a:p>
          <a:p>
            <a:pPr algn="l"/>
            <a:r>
              <a:rPr lang="zh-CN" altLang="en-US" dirty="0">
                <a:effectLst/>
                <a:latin typeface="Inter"/>
                <a:sym typeface="+mn-ea"/>
              </a:rPr>
              <a:t>你提供的枚举末尾有一个 </a:t>
            </a:r>
            <a:r>
              <a:rPr lang="en-US" altLang="zh-CN" dirty="0">
                <a:effectLst/>
                <a:latin typeface="Inter"/>
                <a:sym typeface="+mn-ea"/>
              </a:rPr>
              <a:t>(255)</a:t>
            </a:r>
            <a:r>
              <a:rPr lang="zh-CN" altLang="en-US" dirty="0">
                <a:effectLst/>
                <a:latin typeface="Inter"/>
                <a:sym typeface="+mn-ea"/>
              </a:rPr>
              <a:t>，这可能是排版错误或不完整的定义。在标准 </a:t>
            </a:r>
            <a:r>
              <a:rPr lang="en-US" altLang="zh-CN" dirty="0">
                <a:effectLst/>
                <a:latin typeface="Inter"/>
                <a:sym typeface="+mn-ea"/>
              </a:rPr>
              <a:t>TLS </a:t>
            </a:r>
            <a:r>
              <a:rPr lang="zh-CN" altLang="en-US" dirty="0">
                <a:effectLst/>
                <a:latin typeface="Inter"/>
                <a:sym typeface="+mn-ea"/>
              </a:rPr>
              <a:t>协议中，</a:t>
            </a:r>
            <a:r>
              <a:rPr lang="en-US" altLang="zh-CN" dirty="0" err="1">
                <a:effectLst/>
                <a:latin typeface="Inter"/>
                <a:sym typeface="+mn-ea"/>
              </a:rPr>
              <a:t>ContentType</a:t>
            </a:r>
            <a:r>
              <a:rPr lang="en-US" altLang="zh-CN" dirty="0">
                <a:effectLst/>
                <a:latin typeface="Inter"/>
                <a:sym typeface="+mn-ea"/>
              </a:rPr>
              <a:t> </a:t>
            </a:r>
            <a:r>
              <a:rPr lang="zh-CN" altLang="en-US" dirty="0">
                <a:effectLst/>
                <a:latin typeface="Inter"/>
                <a:sym typeface="+mn-ea"/>
              </a:rPr>
              <a:t>的取值范围是 </a:t>
            </a:r>
            <a:r>
              <a:rPr lang="en-US" altLang="zh-CN" b="1" dirty="0">
                <a:effectLst/>
                <a:latin typeface="Inter"/>
                <a:sym typeface="+mn-ea"/>
              </a:rPr>
              <a:t>0-255</a:t>
            </a:r>
            <a:r>
              <a:rPr lang="zh-CN" altLang="en-US" dirty="0">
                <a:effectLst/>
                <a:latin typeface="Inter"/>
                <a:sym typeface="+mn-ea"/>
              </a:rPr>
              <a:t>，但目前仅定义了上述四种类型（</a:t>
            </a:r>
            <a:r>
              <a:rPr lang="en-US" altLang="zh-CN" dirty="0">
                <a:effectLst/>
                <a:latin typeface="Inter"/>
                <a:sym typeface="+mn-ea"/>
              </a:rPr>
              <a:t>20-23</a:t>
            </a:r>
            <a:r>
              <a:rPr lang="zh-CN" altLang="en-US" dirty="0">
                <a:effectLst/>
                <a:latin typeface="Inter"/>
                <a:sym typeface="+mn-ea"/>
              </a:rPr>
              <a:t>）。未来可能会扩展其他类型，但 </a:t>
            </a:r>
            <a:r>
              <a:rPr lang="en-US" altLang="zh-CN" dirty="0">
                <a:effectLst/>
                <a:latin typeface="Inter"/>
                <a:sym typeface="+mn-ea"/>
              </a:rPr>
              <a:t>255 </a:t>
            </a:r>
            <a:r>
              <a:rPr lang="zh-CN" altLang="en-US" dirty="0">
                <a:effectLst/>
                <a:latin typeface="Inter"/>
                <a:sym typeface="+mn-ea"/>
              </a:rPr>
              <a:t>并未被官方标准分配特定含义。</a:t>
            </a:r>
          </a:p>
          <a:p>
            <a:endParaRPr lang="zh-CN" altLang="en-US" dirty="0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压缩过程是可选的，必须是无损压缩，默认压缩算法为空。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Mac</a:t>
            </a:r>
            <a:r>
              <a:rPr lang="zh-CN" altLang="en-US"/>
              <a:t>的计算不仅涵盖所有字段，而且涵盖一个体现协议版本好的字段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PRF: Pseudorandom</a:t>
            </a:r>
            <a:r>
              <a:rPr lang="en-US" altLang="zh-CN" baseline="0" dirty="0"/>
              <a:t> </a:t>
            </a:r>
            <a:r>
              <a:rPr lang="en-US" altLang="zh-CN" baseline="0" dirty="0" err="1"/>
              <a:t>fuction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570EEC-7445-49E3-AC83-578A2F2A6437}" type="slidenum">
              <a:rPr lang="zh-CN" altLang="en-US" smtClean="0"/>
              <a:t>41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570EEC-7445-49E3-AC83-578A2F2A6437}" type="slidenum">
              <a:rPr lang="zh-CN" altLang="en-US" smtClean="0"/>
              <a:t>42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7570EEC-7445-49E3-AC83-578A2F2A6437}" type="slidenum">
              <a:rPr lang="zh-CN" altLang="en-US" smtClean="0"/>
              <a:t>44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1.xml"/><Relationship Id="rId9" Type="http://schemas.openxmlformats.org/officeDocument/2006/relationships/tags" Target="../tags/tag1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3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9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58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9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B-1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548680"/>
            <a:ext cx="10478955" cy="648072"/>
          </a:xfrm>
        </p:spPr>
        <p:txBody>
          <a:bodyPr/>
          <a:lstStyle>
            <a:lvl1pPr algn="l"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25144"/>
          </a:xfrm>
        </p:spPr>
        <p:txBody>
          <a:bodyPr/>
          <a:lstStyle>
            <a:lvl1pPr marL="342900" indent="-342900">
              <a:lnSpc>
                <a:spcPts val="3200"/>
              </a:lnSpc>
              <a:buClrTx/>
              <a:buSzPct val="85000"/>
              <a:buFont typeface="Wingdings" panose="05000000000000000000" pitchFamily="2" charset="2"/>
              <a:buChar char="p"/>
              <a:defRPr sz="2400"/>
            </a:lvl1pPr>
            <a:lvl2pPr marL="914400" indent="-457200">
              <a:lnSpc>
                <a:spcPts val="3200"/>
              </a:lnSpc>
              <a:buClrTx/>
              <a:buSzPct val="85000"/>
              <a:buFont typeface="Wingdings" panose="05000000000000000000" pitchFamily="2" charset="2"/>
              <a:buChar char="n"/>
              <a:defRPr sz="2000"/>
            </a:lvl2pPr>
            <a:lvl3pPr marL="1371600" indent="-457200">
              <a:lnSpc>
                <a:spcPts val="3200"/>
              </a:lnSpc>
              <a:buClrTx/>
              <a:buSzPct val="85000"/>
              <a:buFont typeface="Wingdings" panose="05000000000000000000" pitchFamily="2" charset="2"/>
              <a:buChar char="u"/>
              <a:defRPr sz="1800"/>
            </a:lvl3pPr>
            <a:lvl4pPr>
              <a:lnSpc>
                <a:spcPts val="3200"/>
              </a:lnSpc>
              <a:defRPr sz="1600"/>
            </a:lvl4pPr>
            <a:lvl5pPr>
              <a:lnSpc>
                <a:spcPts val="3200"/>
              </a:lnSpc>
              <a:defRPr sz="16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443382" y="6525344"/>
            <a:ext cx="1142325" cy="332656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2B4293-9377-4872-955B-7EAEC82CC678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/>
          <p:cNvSpPr/>
          <p:nvPr>
            <p:custDataLst>
              <p:tags r:id="rId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>
                <a:lumMod val="83732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: 形状 7"/>
          <p:cNvSpPr/>
          <p:nvPr>
            <p:custDataLst>
              <p:tags r:id="rId2"/>
            </p:custDataLst>
          </p:nvPr>
        </p:nvSpPr>
        <p:spPr>
          <a:xfrm rot="4971377">
            <a:off x="5633720" y="-4559935"/>
            <a:ext cx="907415" cy="12429490"/>
          </a:xfrm>
          <a:custGeom>
            <a:avLst/>
            <a:gdLst>
              <a:gd name="connsiteX0" fmla="*/ 0 w 1132861"/>
              <a:gd name="connsiteY0" fmla="*/ 0 h 12429370"/>
              <a:gd name="connsiteX1" fmla="*/ 421422 w 1132861"/>
              <a:gd name="connsiteY1" fmla="*/ 52817 h 12429370"/>
              <a:gd name="connsiteX2" fmla="*/ 1132861 w 1132861"/>
              <a:gd name="connsiteY2" fmla="*/ 12429370 h 12429370"/>
              <a:gd name="connsiteX3" fmla="*/ 0 w 1132861"/>
              <a:gd name="connsiteY3" fmla="*/ 12287388 h 12429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2861" h="12429370">
                <a:moveTo>
                  <a:pt x="0" y="0"/>
                </a:moveTo>
                <a:lnTo>
                  <a:pt x="421422" y="52817"/>
                </a:lnTo>
                <a:lnTo>
                  <a:pt x="1132861" y="12429370"/>
                </a:lnTo>
                <a:lnTo>
                  <a:pt x="0" y="122873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: 形状 8"/>
          <p:cNvSpPr/>
          <p:nvPr>
            <p:custDataLst>
              <p:tags r:id="rId3"/>
            </p:custDataLst>
          </p:nvPr>
        </p:nvSpPr>
        <p:spPr>
          <a:xfrm rot="5400000">
            <a:off x="5215255" y="-5215255"/>
            <a:ext cx="1761490" cy="12192000"/>
          </a:xfrm>
          <a:custGeom>
            <a:avLst/>
            <a:gdLst>
              <a:gd name="connsiteX0" fmla="*/ 0 w 1930397"/>
              <a:gd name="connsiteY0" fmla="*/ 12192007 h 12192007"/>
              <a:gd name="connsiteX1" fmla="*/ 0 w 1930397"/>
              <a:gd name="connsiteY1" fmla="*/ 0 h 12192007"/>
              <a:gd name="connsiteX2" fmla="*/ 758239 w 1930397"/>
              <a:gd name="connsiteY2" fmla="*/ 0 h 12192007"/>
              <a:gd name="connsiteX3" fmla="*/ 1930397 w 1930397"/>
              <a:gd name="connsiteY3" fmla="*/ 12192007 h 12192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397" h="12192007">
                <a:moveTo>
                  <a:pt x="0" y="12192007"/>
                </a:moveTo>
                <a:lnTo>
                  <a:pt x="0" y="0"/>
                </a:lnTo>
                <a:lnTo>
                  <a:pt x="758239" y="0"/>
                </a:lnTo>
                <a:lnTo>
                  <a:pt x="1930397" y="121920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 rot="5107084">
            <a:off x="4552315" y="-3275330"/>
            <a:ext cx="535940" cy="9742805"/>
          </a:xfrm>
          <a:custGeom>
            <a:avLst/>
            <a:gdLst>
              <a:gd name="connsiteX0" fmla="*/ 0 w 587624"/>
              <a:gd name="connsiteY0" fmla="*/ 0 h 9742831"/>
              <a:gd name="connsiteX1" fmla="*/ 587624 w 587624"/>
              <a:gd name="connsiteY1" fmla="*/ 9742831 h 9742831"/>
              <a:gd name="connsiteX2" fmla="*/ 0 w 587624"/>
              <a:gd name="connsiteY2" fmla="*/ 9685968 h 9742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7624" h="9742831">
                <a:moveTo>
                  <a:pt x="0" y="0"/>
                </a:moveTo>
                <a:lnTo>
                  <a:pt x="587624" y="9742831"/>
                </a:lnTo>
                <a:lnTo>
                  <a:pt x="0" y="9685968"/>
                </a:lnTo>
                <a:close/>
              </a:path>
            </a:pathLst>
          </a:custGeom>
          <a:solidFill>
            <a:schemeClr val="accent1">
              <a:lumMod val="7491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: 形状 10"/>
          <p:cNvSpPr/>
          <p:nvPr>
            <p:custDataLst>
              <p:tags r:id="rId5"/>
            </p:custDataLst>
          </p:nvPr>
        </p:nvSpPr>
        <p:spPr>
          <a:xfrm rot="15897560">
            <a:off x="9001125" y="-1390650"/>
            <a:ext cx="846455" cy="5663565"/>
          </a:xfrm>
          <a:custGeom>
            <a:avLst/>
            <a:gdLst>
              <a:gd name="connsiteX0" fmla="*/ 927517 w 927517"/>
              <a:gd name="connsiteY0" fmla="*/ 5663579 h 5663579"/>
              <a:gd name="connsiteX1" fmla="*/ 0 w 927517"/>
              <a:gd name="connsiteY1" fmla="*/ 5577535 h 5663579"/>
              <a:gd name="connsiteX2" fmla="*/ 419317 w 927517"/>
              <a:gd name="connsiteY2" fmla="*/ 0 h 5663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7517" h="5663579">
                <a:moveTo>
                  <a:pt x="927517" y="5663579"/>
                </a:moveTo>
                <a:lnTo>
                  <a:pt x="0" y="5577535"/>
                </a:lnTo>
                <a:lnTo>
                  <a:pt x="419317" y="0"/>
                </a:lnTo>
                <a:close/>
              </a:path>
            </a:pathLst>
          </a:custGeom>
          <a:solidFill>
            <a:schemeClr val="accent1">
              <a:lumMod val="39729"/>
              <a:lumOff val="602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等腰三角形 11"/>
          <p:cNvSpPr/>
          <p:nvPr>
            <p:custDataLst>
              <p:tags r:id="rId6"/>
            </p:custDataLst>
          </p:nvPr>
        </p:nvSpPr>
        <p:spPr>
          <a:xfrm rot="16200000">
            <a:off x="7659899" y="3458922"/>
            <a:ext cx="1329909" cy="5800725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4926182" y="4836684"/>
            <a:ext cx="2340000" cy="468000"/>
          </a:xfrm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8000" rIns="71755" bIns="180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lt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署名</a:t>
            </a:r>
          </a:p>
        </p:txBody>
      </p:sp>
      <p:sp>
        <p:nvSpPr>
          <p:cNvPr id="14" name="副标题 2"/>
          <p:cNvSpPr txBox="1"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2111375" y="3899852"/>
            <a:ext cx="7969250" cy="462280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4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  <p:sp>
        <p:nvSpPr>
          <p:cNvPr id="13" name="标题 1"/>
          <p:cNvSpPr txBox="1">
            <a:spLocks noGrp="1"/>
          </p:cNvSpPr>
          <p:nvPr>
            <p:ph type="ctrTitle" hasCustomPrompt="1"/>
            <p:custDataLst>
              <p:tags r:id="rId9"/>
            </p:custDataLst>
          </p:nvPr>
        </p:nvSpPr>
        <p:spPr>
          <a:xfrm>
            <a:off x="2111375" y="2697162"/>
            <a:ext cx="7969250" cy="1186180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单击编辑母版标题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1301749"/>
            <a:ext cx="10800000" cy="48736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/>
          <p:cNvSpPr/>
          <p:nvPr>
            <p:custDataLst>
              <p:tags r:id="rId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>
                <a:lumMod val="83732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132070" y="622935"/>
            <a:ext cx="1978025" cy="890905"/>
          </a:xfrm>
        </p:spPr>
        <p:txBody>
          <a:bodyPr wrap="square" anchor="b">
            <a:normAutofit/>
          </a:bodyPr>
          <a:lstStyle>
            <a:lvl1pPr algn="ctr">
              <a:defRPr kumimoji="0" lang="en-US" altLang="zh-CN" sz="5000" b="0" i="0" u="none" strike="noStrike" kern="1200" cap="none" spc="0" normalizeH="0" baseline="0" noProof="1">
                <a:solidFill>
                  <a:schemeClr val="bg1">
                    <a:lumMod val="20000"/>
                  </a:schemeClr>
                </a:solidFill>
                <a:latin typeface="+mj-lt"/>
                <a:ea typeface="+mj-ea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2025/5/20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/>
          <p:cNvSpPr/>
          <p:nvPr>
            <p:custDataLst>
              <p:tags r:id="rId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>
                <a:lumMod val="83732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灯片编号占位符 6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10" name="节编号 3"/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3104662" y="2845907"/>
            <a:ext cx="1008000" cy="100800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txBody>
          <a:bodyPr wrap="none" anchor="ctr">
            <a:normAutofit/>
          </a:bodyPr>
          <a:lstStyle>
            <a:lvl1pPr marL="0" indent="0" algn="ctr">
              <a:buNone/>
              <a:defRPr sz="36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节编号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4523063" y="3893507"/>
            <a:ext cx="4564800" cy="561600"/>
          </a:xfrm>
        </p:spPr>
        <p:txBody>
          <a:bodyPr wrap="square">
            <a:normAutofit/>
          </a:bodyPr>
          <a:lstStyle>
            <a:lvl1pPr marL="0" indent="0" algn="l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单击此处编辑副标题</a:t>
            </a:r>
          </a:p>
        </p:txBody>
      </p:sp>
      <p:sp>
        <p:nvSpPr>
          <p:cNvPr id="8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4472663" y="2403107"/>
            <a:ext cx="4604400" cy="1375200"/>
          </a:xfrm>
        </p:spPr>
        <p:txBody>
          <a:bodyPr wrap="square" anchor="b">
            <a:normAutofit/>
          </a:bodyPr>
          <a:lstStyle>
            <a:lvl1pPr algn="l">
              <a:defRPr kumimoji="0" lang="en-US" altLang="zh-CN" sz="5400" b="0" i="0" u="none" strike="noStrike" kern="1200" cap="none" spc="0" normalizeH="0" baseline="0" noProof="1">
                <a:solidFill>
                  <a:schemeClr val="bg1">
                    <a:lumMod val="20000"/>
                  </a:schemeClr>
                </a:solidFill>
                <a:latin typeface="+mj-lt"/>
                <a:ea typeface="+mj-ea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编辑母版标题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2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3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4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/>
              <a:t>单击此处编辑副标题</a:t>
            </a:r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/>
          <p:cNvSpPr/>
          <p:nvPr>
            <p:custDataLst>
              <p:tags r:id="rId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>
                <a:lumMod val="83732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8" name="任意多边形: 形状 7"/>
          <p:cNvSpPr/>
          <p:nvPr>
            <p:custDataLst>
              <p:tags r:id="rId2"/>
            </p:custDataLst>
          </p:nvPr>
        </p:nvSpPr>
        <p:spPr>
          <a:xfrm rot="4971377">
            <a:off x="5633720" y="-4559935"/>
            <a:ext cx="907415" cy="12429490"/>
          </a:xfrm>
          <a:custGeom>
            <a:avLst/>
            <a:gdLst>
              <a:gd name="connsiteX0" fmla="*/ 0 w 1132861"/>
              <a:gd name="connsiteY0" fmla="*/ 0 h 12429370"/>
              <a:gd name="connsiteX1" fmla="*/ 421422 w 1132861"/>
              <a:gd name="connsiteY1" fmla="*/ 52817 h 12429370"/>
              <a:gd name="connsiteX2" fmla="*/ 1132861 w 1132861"/>
              <a:gd name="connsiteY2" fmla="*/ 12429370 h 12429370"/>
              <a:gd name="connsiteX3" fmla="*/ 0 w 1132861"/>
              <a:gd name="connsiteY3" fmla="*/ 12287388 h 12429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2861" h="12429370">
                <a:moveTo>
                  <a:pt x="0" y="0"/>
                </a:moveTo>
                <a:lnTo>
                  <a:pt x="421422" y="52817"/>
                </a:lnTo>
                <a:lnTo>
                  <a:pt x="1132861" y="12429370"/>
                </a:lnTo>
                <a:lnTo>
                  <a:pt x="0" y="1228738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9" name="任意多边形: 形状 8"/>
          <p:cNvSpPr/>
          <p:nvPr>
            <p:custDataLst>
              <p:tags r:id="rId3"/>
            </p:custDataLst>
          </p:nvPr>
        </p:nvSpPr>
        <p:spPr>
          <a:xfrm rot="5400000">
            <a:off x="5215255" y="-5215255"/>
            <a:ext cx="1761490" cy="12192000"/>
          </a:xfrm>
          <a:custGeom>
            <a:avLst/>
            <a:gdLst>
              <a:gd name="connsiteX0" fmla="*/ 0 w 1930397"/>
              <a:gd name="connsiteY0" fmla="*/ 12192007 h 12192007"/>
              <a:gd name="connsiteX1" fmla="*/ 0 w 1930397"/>
              <a:gd name="connsiteY1" fmla="*/ 0 h 12192007"/>
              <a:gd name="connsiteX2" fmla="*/ 758239 w 1930397"/>
              <a:gd name="connsiteY2" fmla="*/ 0 h 12192007"/>
              <a:gd name="connsiteX3" fmla="*/ 1930397 w 1930397"/>
              <a:gd name="connsiteY3" fmla="*/ 12192007 h 12192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0397" h="12192007">
                <a:moveTo>
                  <a:pt x="0" y="12192007"/>
                </a:moveTo>
                <a:lnTo>
                  <a:pt x="0" y="0"/>
                </a:lnTo>
                <a:lnTo>
                  <a:pt x="758239" y="0"/>
                </a:lnTo>
                <a:lnTo>
                  <a:pt x="1930397" y="121920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0" name="任意多边形: 形状 9"/>
          <p:cNvSpPr/>
          <p:nvPr>
            <p:custDataLst>
              <p:tags r:id="rId4"/>
            </p:custDataLst>
          </p:nvPr>
        </p:nvSpPr>
        <p:spPr>
          <a:xfrm rot="5107084">
            <a:off x="4552315" y="-3275330"/>
            <a:ext cx="535940" cy="9742805"/>
          </a:xfrm>
          <a:custGeom>
            <a:avLst/>
            <a:gdLst>
              <a:gd name="connsiteX0" fmla="*/ 0 w 587624"/>
              <a:gd name="connsiteY0" fmla="*/ 0 h 9742831"/>
              <a:gd name="connsiteX1" fmla="*/ 587624 w 587624"/>
              <a:gd name="connsiteY1" fmla="*/ 9742831 h 9742831"/>
              <a:gd name="connsiteX2" fmla="*/ 0 w 587624"/>
              <a:gd name="connsiteY2" fmla="*/ 9685968 h 9742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7624" h="9742831">
                <a:moveTo>
                  <a:pt x="0" y="0"/>
                </a:moveTo>
                <a:lnTo>
                  <a:pt x="587624" y="9742831"/>
                </a:lnTo>
                <a:lnTo>
                  <a:pt x="0" y="9685968"/>
                </a:lnTo>
                <a:close/>
              </a:path>
            </a:pathLst>
          </a:custGeom>
          <a:solidFill>
            <a:schemeClr val="accent1">
              <a:lumMod val="7491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1" name="任意多边形: 形状 10"/>
          <p:cNvSpPr/>
          <p:nvPr>
            <p:custDataLst>
              <p:tags r:id="rId5"/>
            </p:custDataLst>
          </p:nvPr>
        </p:nvSpPr>
        <p:spPr>
          <a:xfrm rot="15897560">
            <a:off x="9001125" y="-1390650"/>
            <a:ext cx="846455" cy="5663565"/>
          </a:xfrm>
          <a:custGeom>
            <a:avLst/>
            <a:gdLst>
              <a:gd name="connsiteX0" fmla="*/ 927517 w 927517"/>
              <a:gd name="connsiteY0" fmla="*/ 5663579 h 5663579"/>
              <a:gd name="connsiteX1" fmla="*/ 0 w 927517"/>
              <a:gd name="connsiteY1" fmla="*/ 5577535 h 5663579"/>
              <a:gd name="connsiteX2" fmla="*/ 419317 w 927517"/>
              <a:gd name="connsiteY2" fmla="*/ 0 h 5663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7517" h="5663579">
                <a:moveTo>
                  <a:pt x="927517" y="5663579"/>
                </a:moveTo>
                <a:lnTo>
                  <a:pt x="0" y="5577535"/>
                </a:lnTo>
                <a:lnTo>
                  <a:pt x="419317" y="0"/>
                </a:lnTo>
                <a:close/>
              </a:path>
            </a:pathLst>
          </a:custGeom>
          <a:solidFill>
            <a:schemeClr val="accent1">
              <a:lumMod val="39729"/>
              <a:lumOff val="6027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等腰三角形 11"/>
          <p:cNvSpPr/>
          <p:nvPr>
            <p:custDataLst>
              <p:tags r:id="rId6"/>
            </p:custDataLst>
          </p:nvPr>
        </p:nvSpPr>
        <p:spPr>
          <a:xfrm rot="16200000">
            <a:off x="7659899" y="3458922"/>
            <a:ext cx="1329909" cy="5800725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4925588" y="4624635"/>
            <a:ext cx="2340000" cy="468000"/>
          </a:xfrm>
          <a:prstGeom prst="roundRect">
            <a:avLst>
              <a:gd name="adj" fmla="val 50000"/>
            </a:avLst>
          </a:prstGeom>
          <a:ln w="12700">
            <a:solidFill>
              <a:schemeClr val="lt1">
                <a:lumMod val="10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71755" tIns="18000" rIns="71755" bIns="180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800" b="1" i="0" u="none" strike="noStrike" kern="1200" cap="none" spc="0" normalizeH="0" baseline="0" noProof="1" dirty="0">
                <a:solidFill>
                  <a:schemeClr val="lt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署名</a:t>
            </a:r>
          </a:p>
        </p:txBody>
      </p:sp>
      <p:sp>
        <p:nvSpPr>
          <p:cNvPr id="6" name="标题 6"/>
          <p:cNvSpPr txBox="1"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3112135" y="2908935"/>
            <a:ext cx="5968365" cy="1524635"/>
          </a:xfrm>
          <a:noFill/>
        </p:spPr>
        <p:txBody>
          <a:bodyPr wrap="square" rtlCol="0" anchor="ctr" anchorCtr="0">
            <a:normAutofit/>
          </a:bodyPr>
          <a:lstStyle>
            <a:defPPr>
              <a:defRPr lang="zh-CN"/>
            </a:defPPr>
            <a:lvl1pPr marL="0" marR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8800" b="1" i="0" u="none" strike="noStrike" kern="1200" cap="none" spc="0" normalizeH="0" baseline="0" noProof="1" dirty="0"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dirty="0">
                <a:sym typeface="+mn-ea"/>
              </a:rPr>
              <a:t>编辑标题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15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  <a:solidFill>
            <a:schemeClr val="accent1"/>
          </a:solidFill>
          <a:ln>
            <a:solidFill>
              <a:schemeClr val="accent3">
                <a:lumMod val="83732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2025/5/20</a:t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u="none" kern="1200" spc="0">
          <a:solidFill>
            <a:schemeClr val="bg1">
              <a:lumMod val="20000"/>
            </a:schemeClr>
          </a:solidFill>
          <a:effectLst>
            <a:outerShdw>
              <a:srgbClr val="FFFFFF"/>
            </a:outerShdw>
          </a:effectLst>
          <a:uFill>
            <a:solidFill>
              <a:schemeClr val="dk2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4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7" Type="http://schemas.openxmlformats.org/officeDocument/2006/relationships/image" Target="../media/image2.jpeg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7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81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83.xml"/><Relationship Id="rId4" Type="http://schemas.openxmlformats.org/officeDocument/2006/relationships/tags" Target="../tags/tag8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86.xml"/><Relationship Id="rId7" Type="http://schemas.openxmlformats.org/officeDocument/2006/relationships/notesSlide" Target="../notesSlides/notesSlide3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slideLayout" Target="../slideLayouts/slideLayout20.xml"/><Relationship Id="rId5" Type="http://schemas.openxmlformats.org/officeDocument/2006/relationships/tags" Target="../tags/tag88.xml"/><Relationship Id="rId4" Type="http://schemas.openxmlformats.org/officeDocument/2006/relationships/tags" Target="../tags/tag8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df"/><Relationship Id="rId3" Type="http://schemas.openxmlformats.org/officeDocument/2006/relationships/tags" Target="../tags/tag91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6" Type="http://schemas.openxmlformats.org/officeDocument/2006/relationships/slideLayout" Target="../slideLayouts/slideLayout20.xml"/><Relationship Id="rId5" Type="http://schemas.openxmlformats.org/officeDocument/2006/relationships/tags" Target="../tags/tag93.xml"/><Relationship Id="rId10" Type="http://schemas.openxmlformats.org/officeDocument/2006/relationships/image" Target="../media/image2.jpeg"/><Relationship Id="rId4" Type="http://schemas.openxmlformats.org/officeDocument/2006/relationships/tags" Target="../tags/tag92.xml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96.xml"/><Relationship Id="rId7" Type="http://schemas.openxmlformats.org/officeDocument/2006/relationships/image" Target="../media/image2.jpeg"/><Relationship Id="rId2" Type="http://schemas.openxmlformats.org/officeDocument/2006/relationships/tags" Target="../tags/tag95.xml"/><Relationship Id="rId1" Type="http://schemas.openxmlformats.org/officeDocument/2006/relationships/tags" Target="../tags/tag94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9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100.xml"/><Relationship Id="rId7" Type="http://schemas.openxmlformats.org/officeDocument/2006/relationships/notesSlide" Target="../notesSlides/notesSlide6.xml"/><Relationship Id="rId2" Type="http://schemas.openxmlformats.org/officeDocument/2006/relationships/tags" Target="../tags/tag99.xml"/><Relationship Id="rId1" Type="http://schemas.openxmlformats.org/officeDocument/2006/relationships/tags" Target="../tags/tag98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02.xml"/><Relationship Id="rId4" Type="http://schemas.openxmlformats.org/officeDocument/2006/relationships/tags" Target="../tags/tag10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0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09.xml"/><Relationship Id="rId7" Type="http://schemas.openxmlformats.org/officeDocument/2006/relationships/image" Target="../media/image2.jpeg"/><Relationship Id="rId2" Type="http://schemas.openxmlformats.org/officeDocument/2006/relationships/tags" Target="../tags/tag108.xml"/><Relationship Id="rId1" Type="http://schemas.openxmlformats.org/officeDocument/2006/relationships/tags" Target="../tags/tag107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113.xml"/><Relationship Id="rId7" Type="http://schemas.openxmlformats.org/officeDocument/2006/relationships/oleObject" Target="../embeddings/oleObject1.bin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14.xml"/><Relationship Id="rId9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tags" Target="../tags/tag115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tags" Target="../tags/tag119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125.xml"/><Relationship Id="rId7" Type="http://schemas.openxmlformats.org/officeDocument/2006/relationships/image" Target="../media/image5.emf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oleObject" Target="../embeddings/oleObject2.bin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2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" Type="http://schemas.openxmlformats.org/officeDocument/2006/relationships/tags" Target="../tags/tag135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3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image" Target="../media/image2.jpeg"/><Relationship Id="rId4" Type="http://schemas.openxmlformats.org/officeDocument/2006/relationships/slideLayout" Target="../slideLayouts/slideLayout2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4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5.xml"/><Relationship Id="rId1" Type="http://schemas.openxmlformats.org/officeDocument/2006/relationships/tags" Target="../tags/tag14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tags" Target="../tags/tag149.xml"/><Relationship Id="rId7" Type="http://schemas.openxmlformats.org/officeDocument/2006/relationships/tags" Target="../tags/tag153.xml"/><Relationship Id="rId2" Type="http://schemas.openxmlformats.org/officeDocument/2006/relationships/tags" Target="../tags/tag148.xml"/><Relationship Id="rId1" Type="http://schemas.openxmlformats.org/officeDocument/2006/relationships/tags" Target="../tags/tag147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10" Type="http://schemas.openxmlformats.org/officeDocument/2006/relationships/image" Target="../media/image2.jpeg"/><Relationship Id="rId4" Type="http://schemas.openxmlformats.org/officeDocument/2006/relationships/tags" Target="../tags/tag150.xml"/><Relationship Id="rId9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3" Type="http://schemas.openxmlformats.org/officeDocument/2006/relationships/tags" Target="../tags/tag156.xml"/><Relationship Id="rId7" Type="http://schemas.openxmlformats.org/officeDocument/2006/relationships/tags" Target="../tags/tag160.xml"/><Relationship Id="rId12" Type="http://schemas.openxmlformats.org/officeDocument/2006/relationships/image" Target="../media/image2.jpeg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image" Target="../media/image6.png"/><Relationship Id="rId5" Type="http://schemas.openxmlformats.org/officeDocument/2006/relationships/tags" Target="../tags/tag158.xml"/><Relationship Id="rId10" Type="http://schemas.openxmlformats.org/officeDocument/2006/relationships/slideLayout" Target="../slideLayouts/slideLayout15.xml"/><Relationship Id="rId4" Type="http://schemas.openxmlformats.org/officeDocument/2006/relationships/tags" Target="../tags/tag157.xml"/><Relationship Id="rId9" Type="http://schemas.openxmlformats.org/officeDocument/2006/relationships/tags" Target="../tags/tag16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tags" Target="../tags/tag163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16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169.xml"/><Relationship Id="rId7" Type="http://schemas.openxmlformats.org/officeDocument/2006/relationships/image" Target="../media/image2.jpeg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1.xml"/><Relationship Id="rId4" Type="http://schemas.openxmlformats.org/officeDocument/2006/relationships/tags" Target="../tags/tag170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7" Type="http://schemas.openxmlformats.org/officeDocument/2006/relationships/image" Target="../media/image2.jpeg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75.xml"/><Relationship Id="rId4" Type="http://schemas.openxmlformats.org/officeDocument/2006/relationships/tags" Target="../tags/tag17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78.xml"/><Relationship Id="rId7" Type="http://schemas.openxmlformats.org/officeDocument/2006/relationships/slideLayout" Target="../slideLayouts/slideLayout15.xml"/><Relationship Id="rId2" Type="http://schemas.openxmlformats.org/officeDocument/2006/relationships/tags" Target="../tags/tag177.xml"/><Relationship Id="rId1" Type="http://schemas.openxmlformats.org/officeDocument/2006/relationships/tags" Target="../tags/tag176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9" Type="http://schemas.openxmlformats.org/officeDocument/2006/relationships/image" Target="../media/image2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184.xml"/><Relationship Id="rId7" Type="http://schemas.openxmlformats.org/officeDocument/2006/relationships/slideLayout" Target="../slideLayouts/slideLayout15.xml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9" Type="http://schemas.openxmlformats.org/officeDocument/2006/relationships/image" Target="../media/image2.jpe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tags" Target="../tags/tag190.xml"/><Relationship Id="rId7" Type="http://schemas.openxmlformats.org/officeDocument/2006/relationships/notesSlide" Target="../notesSlides/notesSlide10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192.xml"/><Relationship Id="rId4" Type="http://schemas.openxmlformats.org/officeDocument/2006/relationships/tags" Target="../tags/tag191.xml"/><Relationship Id="rId9" Type="http://schemas.openxmlformats.org/officeDocument/2006/relationships/image" Target="../media/image2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95.xml"/><Relationship Id="rId7" Type="http://schemas.openxmlformats.org/officeDocument/2006/relationships/slideLayout" Target="../slideLayouts/slideLayout15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6" Type="http://schemas.openxmlformats.org/officeDocument/2006/relationships/tags" Target="../tags/tag198.xml"/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9" Type="http://schemas.openxmlformats.org/officeDocument/2006/relationships/image" Target="../media/image2.jpe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206.xml"/><Relationship Id="rId13" Type="http://schemas.openxmlformats.org/officeDocument/2006/relationships/image" Target="../media/image11.emf"/><Relationship Id="rId3" Type="http://schemas.openxmlformats.org/officeDocument/2006/relationships/tags" Target="../tags/tag201.xml"/><Relationship Id="rId7" Type="http://schemas.openxmlformats.org/officeDocument/2006/relationships/tags" Target="../tags/tag205.xml"/><Relationship Id="rId12" Type="http://schemas.openxmlformats.org/officeDocument/2006/relationships/image" Target="../media/image10.emf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6" Type="http://schemas.openxmlformats.org/officeDocument/2006/relationships/tags" Target="../tags/tag204.xml"/><Relationship Id="rId11" Type="http://schemas.openxmlformats.org/officeDocument/2006/relationships/notesSlide" Target="../notesSlides/notesSlide11.xml"/><Relationship Id="rId5" Type="http://schemas.openxmlformats.org/officeDocument/2006/relationships/tags" Target="../tags/tag203.xml"/><Relationship Id="rId10" Type="http://schemas.openxmlformats.org/officeDocument/2006/relationships/slideLayout" Target="../slideLayouts/slideLayout15.xml"/><Relationship Id="rId4" Type="http://schemas.openxmlformats.org/officeDocument/2006/relationships/tags" Target="../tags/tag202.xml"/><Relationship Id="rId9" Type="http://schemas.openxmlformats.org/officeDocument/2006/relationships/tags" Target="../tags/tag207.xml"/><Relationship Id="rId14" Type="http://schemas.openxmlformats.org/officeDocument/2006/relationships/image" Target="../media/image2.jpe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tags" Target="../tags/tag210.xml"/><Relationship Id="rId7" Type="http://schemas.openxmlformats.org/officeDocument/2006/relationships/slideLayout" Target="../slideLayouts/slideLayout15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10" Type="http://schemas.openxmlformats.org/officeDocument/2006/relationships/image" Target="../media/image2.jpeg"/><Relationship Id="rId4" Type="http://schemas.openxmlformats.org/officeDocument/2006/relationships/tags" Target="../tags/tag211.xml"/><Relationship Id="rId9" Type="http://schemas.openxmlformats.org/officeDocument/2006/relationships/image" Target="../media/image1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216.xml"/><Relationship Id="rId7" Type="http://schemas.openxmlformats.org/officeDocument/2006/relationships/slideLayout" Target="../slideLayouts/slideLayout15.xml"/><Relationship Id="rId2" Type="http://schemas.openxmlformats.org/officeDocument/2006/relationships/tags" Target="../tags/tag215.xml"/><Relationship Id="rId1" Type="http://schemas.openxmlformats.org/officeDocument/2006/relationships/tags" Target="../tags/tag214.xml"/><Relationship Id="rId6" Type="http://schemas.openxmlformats.org/officeDocument/2006/relationships/tags" Target="../tags/tag219.xml"/><Relationship Id="rId5" Type="http://schemas.openxmlformats.org/officeDocument/2006/relationships/tags" Target="../tags/tag218.xml"/><Relationship Id="rId4" Type="http://schemas.openxmlformats.org/officeDocument/2006/relationships/tags" Target="../tags/tag217.xml"/><Relationship Id="rId9" Type="http://schemas.openxmlformats.org/officeDocument/2006/relationships/image" Target="../media/image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222.xml"/><Relationship Id="rId7" Type="http://schemas.openxmlformats.org/officeDocument/2006/relationships/image" Target="../media/image2.jpeg"/><Relationship Id="rId2" Type="http://schemas.openxmlformats.org/officeDocument/2006/relationships/tags" Target="../tags/tag221.xml"/><Relationship Id="rId1" Type="http://schemas.openxmlformats.org/officeDocument/2006/relationships/tags" Target="../tags/tag220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24.xml"/><Relationship Id="rId4" Type="http://schemas.openxmlformats.org/officeDocument/2006/relationships/tags" Target="../tags/tag2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227.xml"/><Relationship Id="rId7" Type="http://schemas.openxmlformats.org/officeDocument/2006/relationships/image" Target="../media/image2.jpeg"/><Relationship Id="rId2" Type="http://schemas.openxmlformats.org/officeDocument/2006/relationships/tags" Target="../tags/tag226.xml"/><Relationship Id="rId1" Type="http://schemas.openxmlformats.org/officeDocument/2006/relationships/tags" Target="../tags/tag225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29.xml"/><Relationship Id="rId4" Type="http://schemas.openxmlformats.org/officeDocument/2006/relationships/tags" Target="../tags/tag228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232.xml"/><Relationship Id="rId7" Type="http://schemas.openxmlformats.org/officeDocument/2006/relationships/image" Target="../media/image15.emf"/><Relationship Id="rId2" Type="http://schemas.openxmlformats.org/officeDocument/2006/relationships/tags" Target="../tags/tag231.xml"/><Relationship Id="rId1" Type="http://schemas.openxmlformats.org/officeDocument/2006/relationships/tags" Target="../tags/tag230.xml"/><Relationship Id="rId6" Type="http://schemas.openxmlformats.org/officeDocument/2006/relationships/oleObject" Target="../embeddings/oleObject3.bin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236.xml"/><Relationship Id="rId2" Type="http://schemas.openxmlformats.org/officeDocument/2006/relationships/tags" Target="../tags/tag235.xml"/><Relationship Id="rId1" Type="http://schemas.openxmlformats.org/officeDocument/2006/relationships/tags" Target="../tags/tag234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3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41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244.xml"/><Relationship Id="rId7" Type="http://schemas.openxmlformats.org/officeDocument/2006/relationships/image" Target="../media/image16.png"/><Relationship Id="rId2" Type="http://schemas.openxmlformats.org/officeDocument/2006/relationships/tags" Target="../tags/tag243.xml"/><Relationship Id="rId1" Type="http://schemas.openxmlformats.org/officeDocument/2006/relationships/tags" Target="../tags/tag242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46.xml"/><Relationship Id="rId4" Type="http://schemas.openxmlformats.org/officeDocument/2006/relationships/tags" Target="../tags/tag245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249.xml"/><Relationship Id="rId7" Type="http://schemas.openxmlformats.org/officeDocument/2006/relationships/image" Target="../media/image17.png"/><Relationship Id="rId2" Type="http://schemas.openxmlformats.org/officeDocument/2006/relationships/tags" Target="../tags/tag248.xml"/><Relationship Id="rId1" Type="http://schemas.openxmlformats.org/officeDocument/2006/relationships/tags" Target="../tags/tag247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51.xml"/><Relationship Id="rId4" Type="http://schemas.openxmlformats.org/officeDocument/2006/relationships/tags" Target="../tags/tag250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tags" Target="../tags/tag254.xml"/><Relationship Id="rId2" Type="http://schemas.openxmlformats.org/officeDocument/2006/relationships/tags" Target="../tags/tag253.xml"/><Relationship Id="rId1" Type="http://schemas.openxmlformats.org/officeDocument/2006/relationships/tags" Target="../tags/tag252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55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258.xml"/><Relationship Id="rId7" Type="http://schemas.openxmlformats.org/officeDocument/2006/relationships/image" Target="../media/image18.png"/><Relationship Id="rId2" Type="http://schemas.openxmlformats.org/officeDocument/2006/relationships/tags" Target="../tags/tag257.xml"/><Relationship Id="rId1" Type="http://schemas.openxmlformats.org/officeDocument/2006/relationships/tags" Target="../tags/tag256.xml"/><Relationship Id="rId6" Type="http://schemas.openxmlformats.org/officeDocument/2006/relationships/slideLayout" Target="../slideLayouts/slideLayout20.xml"/><Relationship Id="rId5" Type="http://schemas.openxmlformats.org/officeDocument/2006/relationships/tags" Target="../tags/tag260.xml"/><Relationship Id="rId4" Type="http://schemas.openxmlformats.org/officeDocument/2006/relationships/tags" Target="../tags/tag259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263.xml"/><Relationship Id="rId7" Type="http://schemas.openxmlformats.org/officeDocument/2006/relationships/slideLayout" Target="../slideLayouts/slideLayout15.xm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6" Type="http://schemas.openxmlformats.org/officeDocument/2006/relationships/tags" Target="../tags/tag266.xml"/><Relationship Id="rId11" Type="http://schemas.openxmlformats.org/officeDocument/2006/relationships/image" Target="../media/image2.jpeg"/><Relationship Id="rId5" Type="http://schemas.openxmlformats.org/officeDocument/2006/relationships/tags" Target="../tags/tag265.xml"/><Relationship Id="rId10" Type="http://schemas.openxmlformats.org/officeDocument/2006/relationships/image" Target="../media/image20.png"/><Relationship Id="rId4" Type="http://schemas.openxmlformats.org/officeDocument/2006/relationships/tags" Target="../tags/tag264.xml"/><Relationship Id="rId9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tags" Target="../tags/tag269.xml"/><Relationship Id="rId7" Type="http://schemas.openxmlformats.org/officeDocument/2006/relationships/notesSlide" Target="../notesSlides/notesSlide13.xml"/><Relationship Id="rId2" Type="http://schemas.openxmlformats.org/officeDocument/2006/relationships/tags" Target="../tags/tag268.xml"/><Relationship Id="rId1" Type="http://schemas.openxmlformats.org/officeDocument/2006/relationships/tags" Target="../tags/tag267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71.xml"/><Relationship Id="rId4" Type="http://schemas.openxmlformats.org/officeDocument/2006/relationships/tags" Target="../tags/tag270.xml"/><Relationship Id="rId9" Type="http://schemas.openxmlformats.org/officeDocument/2006/relationships/image" Target="../media/image2.jpe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274.xml"/><Relationship Id="rId7" Type="http://schemas.openxmlformats.org/officeDocument/2006/relationships/slideLayout" Target="../slideLayouts/slideLayout15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10" Type="http://schemas.openxmlformats.org/officeDocument/2006/relationships/image" Target="../media/image2.jpeg"/><Relationship Id="rId4" Type="http://schemas.openxmlformats.org/officeDocument/2006/relationships/tags" Target="../tags/tag275.xml"/><Relationship Id="rId9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3" Type="http://schemas.openxmlformats.org/officeDocument/2006/relationships/tags" Target="../tags/tag280.xml"/><Relationship Id="rId7" Type="http://schemas.openxmlformats.org/officeDocument/2006/relationships/slideLayout" Target="../slideLayouts/slideLayout15.xml"/><Relationship Id="rId2" Type="http://schemas.openxmlformats.org/officeDocument/2006/relationships/tags" Target="../tags/tag279.xml"/><Relationship Id="rId1" Type="http://schemas.openxmlformats.org/officeDocument/2006/relationships/tags" Target="../tags/tag278.xml"/><Relationship Id="rId6" Type="http://schemas.openxmlformats.org/officeDocument/2006/relationships/tags" Target="../tags/tag283.xml"/><Relationship Id="rId11" Type="http://schemas.openxmlformats.org/officeDocument/2006/relationships/image" Target="../media/image2.jpeg"/><Relationship Id="rId5" Type="http://schemas.openxmlformats.org/officeDocument/2006/relationships/tags" Target="../tags/tag282.xml"/><Relationship Id="rId10" Type="http://schemas.openxmlformats.org/officeDocument/2006/relationships/image" Target="../media/image25.png"/><Relationship Id="rId4" Type="http://schemas.openxmlformats.org/officeDocument/2006/relationships/tags" Target="../tags/tag281.xml"/><Relationship Id="rId9" Type="http://schemas.openxmlformats.org/officeDocument/2006/relationships/image" Target="../media/image2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tags" Target="../tags/tag284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287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290.xml"/><Relationship Id="rId7" Type="http://schemas.openxmlformats.org/officeDocument/2006/relationships/image" Target="../media/image26.png"/><Relationship Id="rId2" Type="http://schemas.openxmlformats.org/officeDocument/2006/relationships/tags" Target="../tags/tag289.xml"/><Relationship Id="rId1" Type="http://schemas.openxmlformats.org/officeDocument/2006/relationships/tags" Target="../tags/tag288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92.xml"/><Relationship Id="rId4" Type="http://schemas.openxmlformats.org/officeDocument/2006/relationships/tags" Target="../tags/tag291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295.xml"/><Relationship Id="rId7" Type="http://schemas.openxmlformats.org/officeDocument/2006/relationships/image" Target="../media/image27.png"/><Relationship Id="rId2" Type="http://schemas.openxmlformats.org/officeDocument/2006/relationships/tags" Target="../tags/tag294.xml"/><Relationship Id="rId1" Type="http://schemas.openxmlformats.org/officeDocument/2006/relationships/tags" Target="../tags/tag293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297.xml"/><Relationship Id="rId4" Type="http://schemas.openxmlformats.org/officeDocument/2006/relationships/tags" Target="../tags/tag296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tags" Target="../tags/tag300.xml"/><Relationship Id="rId7" Type="http://schemas.openxmlformats.org/officeDocument/2006/relationships/image" Target="../media/image28.png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6" Type="http://schemas.openxmlformats.org/officeDocument/2006/relationships/slideLayout" Target="../slideLayouts/slideLayout15.xml"/><Relationship Id="rId5" Type="http://schemas.openxmlformats.org/officeDocument/2006/relationships/tags" Target="../tags/tag302.xml"/><Relationship Id="rId4" Type="http://schemas.openxmlformats.org/officeDocument/2006/relationships/tags" Target="../tags/tag301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tags" Target="../tags/tag305.xml"/><Relationship Id="rId7" Type="http://schemas.openxmlformats.org/officeDocument/2006/relationships/slideLayout" Target="../slideLayouts/slideLayout15.xml"/><Relationship Id="rId2" Type="http://schemas.openxmlformats.org/officeDocument/2006/relationships/tags" Target="../tags/tag304.xml"/><Relationship Id="rId1" Type="http://schemas.openxmlformats.org/officeDocument/2006/relationships/tags" Target="../tags/tag303.xml"/><Relationship Id="rId6" Type="http://schemas.openxmlformats.org/officeDocument/2006/relationships/tags" Target="../tags/tag308.xml"/><Relationship Id="rId5" Type="http://schemas.openxmlformats.org/officeDocument/2006/relationships/tags" Target="../tags/tag307.xml"/><Relationship Id="rId4" Type="http://schemas.openxmlformats.org/officeDocument/2006/relationships/tags" Target="../tags/tag306.xml"/><Relationship Id="rId9" Type="http://schemas.openxmlformats.org/officeDocument/2006/relationships/image" Target="../media/image2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311.xml"/><Relationship Id="rId2" Type="http://schemas.openxmlformats.org/officeDocument/2006/relationships/tags" Target="../tags/tag310.xml"/><Relationship Id="rId1" Type="http://schemas.openxmlformats.org/officeDocument/2006/relationships/tags" Target="../tags/tag309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3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315.xml"/><Relationship Id="rId7" Type="http://schemas.openxmlformats.org/officeDocument/2006/relationships/image" Target="../media/image30.png"/><Relationship Id="rId2" Type="http://schemas.openxmlformats.org/officeDocument/2006/relationships/tags" Target="../tags/tag314.xml"/><Relationship Id="rId1" Type="http://schemas.openxmlformats.org/officeDocument/2006/relationships/tags" Target="../tags/tag313.xml"/><Relationship Id="rId6" Type="http://schemas.openxmlformats.org/officeDocument/2006/relationships/image" Target="../media/image2.jpeg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31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317.xml"/><Relationship Id="rId4" Type="http://schemas.openxmlformats.org/officeDocument/2006/relationships/image" Target="../media/image2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318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</a:pPr>
            <a:r>
              <a:rPr lang="zh-CN" sz="6000" dirty="0"/>
              <a:t>第</a:t>
            </a:r>
            <a:r>
              <a:rPr lang="zh-CN" altLang="zh-CN" sz="6000" dirty="0"/>
              <a:t>17</a:t>
            </a:r>
            <a:r>
              <a:rPr lang="zh-CN" altLang="en-US" sz="6000" dirty="0"/>
              <a:t>章</a:t>
            </a:r>
            <a:r>
              <a:rPr lang="zh-CN" altLang="zh-CN" sz="6000" dirty="0"/>
              <a:t> </a:t>
            </a:r>
            <a:r>
              <a:rPr lang="zh-CN" altLang="en-US" sz="6000" dirty="0"/>
              <a:t>传输层安全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>
          <a:prstGeom prst="roundRect">
            <a:avLst>
              <a:gd name="adj" fmla="val 50000"/>
            </a:avLst>
          </a:prstGeom>
          <a:ln w="12700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zh-CN" altLang="en-US" dirty="0"/>
              <a:t>徐博文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th 8"/>
          <p:cNvSpPr/>
          <p:nvPr>
            <p:custDataLst>
              <p:tags r:id="rId2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2678430" y="1671320"/>
            <a:ext cx="6465570" cy="27482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571500" indent="-571500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n"/>
            </a:pP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Web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安全性考虑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pPr marL="571500" indent="-571500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传输层安全</a:t>
            </a:r>
          </a:p>
          <a:p>
            <a:pPr marL="571500" indent="-571500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n"/>
            </a:pP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HTTPS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571500" indent="-571500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n"/>
            </a:pP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SSH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第17章  传输层安全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>
            <p:custDataLst>
              <p:tags r:id="rId2"/>
            </p:custDataLst>
          </p:nvPr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78915" y="1181735"/>
            <a:ext cx="9036685" cy="367220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</a:rPr>
              <a:t> Web</a:t>
            </a:r>
            <a:r>
              <a:rPr lang="zh-CN" altLang="en-US" b="1" dirty="0">
                <a:solidFill>
                  <a:schemeClr val="tx1"/>
                </a:solidFill>
              </a:rPr>
              <a:t>浏览器易于使用，但是底层软件复杂性高</a:t>
            </a:r>
            <a:endParaRPr lang="en-US" altLang="zh-CN" b="1" dirty="0">
              <a:solidFill>
                <a:schemeClr val="tx1"/>
              </a:solidFill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chemeClr val="tx1"/>
                </a:solidFill>
              </a:rPr>
              <a:t> Web</a:t>
            </a:r>
            <a:r>
              <a:rPr lang="zh-CN" altLang="en-US" b="1" dirty="0">
                <a:solidFill>
                  <a:schemeClr val="tx1"/>
                </a:solidFill>
              </a:rPr>
              <a:t>服务器通常是公司或者企业整个计算机系统的核心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17.1  Web安全性考虑</a:t>
            </a:r>
          </a:p>
        </p:txBody>
      </p:sp>
      <p:pic>
        <p:nvPicPr>
          <p:cNvPr id="9" name="picture 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4917" y="513715"/>
            <a:ext cx="419100" cy="655320"/>
          </a:xfrm>
          <a:prstGeom prst="rect">
            <a:avLst/>
          </a:prstGeom>
        </p:spPr>
      </p:pic>
      <p:sp>
        <p:nvSpPr>
          <p:cNvPr id="10" name="path 152"/>
          <p:cNvSpPr/>
          <p:nvPr/>
        </p:nvSpPr>
        <p:spPr>
          <a:xfrm flipV="1">
            <a:off x="777875" y="109283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>
            <p:custDataLst>
              <p:tags r:id="rId2"/>
            </p:custDataLst>
          </p:nvPr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2469429" y="1101419"/>
          <a:ext cx="6314482" cy="49653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2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47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8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8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067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endParaRPr lang="zh-CN" altLang="en-US" sz="1100">
                        <a:effectLst/>
                      </a:endParaRP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>
                          <a:effectLst/>
                        </a:rPr>
                        <a:t>Threats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>
                          <a:effectLst/>
                        </a:rPr>
                        <a:t>Consequences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>
                          <a:effectLst/>
                        </a:rPr>
                        <a:t>Countermeasures</a:t>
                      </a:r>
                    </a:p>
                  </a:txBody>
                  <a:tcPr marL="61000" marR="61000" marT="40667" marB="4066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5962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</a:pPr>
                      <a:r>
                        <a:rPr lang="en-US" sz="1100" dirty="0">
                          <a:effectLst/>
                        </a:rPr>
                        <a:t>Integrity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800"/>
                        </a:lnSpc>
                      </a:pPr>
                      <a:r>
                        <a:rPr lang="en-US" sz="1100">
                          <a:effectLst/>
                        </a:rPr>
                        <a:t>•Modification of user data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•Trojan horse browser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•Modification of memory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•Modification of message traffic in transit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800"/>
                        </a:lnSpc>
                      </a:pPr>
                      <a:r>
                        <a:rPr lang="en-US" sz="1100">
                          <a:effectLst/>
                        </a:rPr>
                        <a:t>•Loss of information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•Compromise of machine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•Vulnerabilty to all other threats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800"/>
                        </a:lnSpc>
                      </a:pPr>
                      <a:r>
                        <a:rPr lang="en-US" sz="1100">
                          <a:effectLst/>
                        </a:rPr>
                        <a:t>Cryptographic checksums</a:t>
                      </a:r>
                    </a:p>
                  </a:txBody>
                  <a:tcPr marL="61000" marR="61000" marT="40667" marB="4066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0468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</a:pPr>
                      <a:r>
                        <a:rPr lang="en-US" sz="1100">
                          <a:effectLst/>
                        </a:rPr>
                        <a:t>Confidentiality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800"/>
                        </a:lnSpc>
                      </a:pPr>
                      <a:r>
                        <a:rPr lang="en-US" sz="1100" dirty="0">
                          <a:effectLst/>
                        </a:rPr>
                        <a:t>•Eavesdropping on the net</a:t>
                      </a:r>
                    </a:p>
                    <a:p>
                      <a:pPr marL="114300" marR="0" indent="-114300"/>
                      <a:r>
                        <a:rPr lang="en-US" sz="1100" dirty="0">
                          <a:effectLst/>
                        </a:rPr>
                        <a:t>•Theft of info from server</a:t>
                      </a:r>
                    </a:p>
                    <a:p>
                      <a:pPr marL="114300" marR="0" indent="-114300"/>
                      <a:r>
                        <a:rPr lang="en-US" sz="1100" dirty="0">
                          <a:effectLst/>
                        </a:rPr>
                        <a:t>•Theft of data from client</a:t>
                      </a:r>
                    </a:p>
                    <a:p>
                      <a:pPr marL="114300" marR="0" indent="-114300"/>
                      <a:r>
                        <a:rPr lang="en-US" sz="1100" dirty="0">
                          <a:effectLst/>
                        </a:rPr>
                        <a:t>•Info about network configuration</a:t>
                      </a:r>
                    </a:p>
                    <a:p>
                      <a:pPr marL="114300" marR="0" indent="-114300"/>
                      <a:r>
                        <a:rPr lang="en-US" sz="1100" dirty="0">
                          <a:effectLst/>
                        </a:rPr>
                        <a:t>•Info about which client talks to server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800"/>
                        </a:lnSpc>
                      </a:pPr>
                      <a:r>
                        <a:rPr lang="en-US" sz="1100">
                          <a:effectLst/>
                        </a:rPr>
                        <a:t>•Loss of information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•Loss of privacy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800"/>
                        </a:lnSpc>
                      </a:pPr>
                      <a:r>
                        <a:rPr lang="en-US" sz="1100" dirty="0">
                          <a:effectLst/>
                        </a:rPr>
                        <a:t>Encryption, Web proxies</a:t>
                      </a:r>
                    </a:p>
                  </a:txBody>
                  <a:tcPr marL="61000" marR="61000" marT="40667" marB="4066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8215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</a:pPr>
                      <a:r>
                        <a:rPr lang="en-US" sz="1100">
                          <a:effectLst/>
                        </a:rPr>
                        <a:t>Denial of Service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800"/>
                        </a:lnSpc>
                      </a:pPr>
                      <a:r>
                        <a:rPr lang="en-US" sz="1100">
                          <a:effectLst/>
                        </a:rPr>
                        <a:t>•Killing of user threads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•Flooding machine with bogus requests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•Filling up disk or memory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•Isolating machine by DNS attacks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800"/>
                        </a:lnSpc>
                      </a:pPr>
                      <a:r>
                        <a:rPr lang="en-US" sz="1100">
                          <a:effectLst/>
                        </a:rPr>
                        <a:t>•Disruptive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•Annoying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•Prevent user from getting work done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800"/>
                        </a:lnSpc>
                      </a:pPr>
                      <a:r>
                        <a:rPr lang="en-US" sz="1100">
                          <a:effectLst/>
                        </a:rPr>
                        <a:t>Difficult to prevent</a:t>
                      </a:r>
                    </a:p>
                  </a:txBody>
                  <a:tcPr marL="61000" marR="61000" marT="40667" marB="4066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9983">
                <a:tc>
                  <a:txBody>
                    <a:bodyPr/>
                    <a:lstStyle/>
                    <a:p>
                      <a:pPr marL="0" marR="0">
                        <a:lnSpc>
                          <a:spcPts val="1800"/>
                        </a:lnSpc>
                      </a:pPr>
                      <a:r>
                        <a:rPr lang="en-US" sz="1100">
                          <a:effectLst/>
                        </a:rPr>
                        <a:t>Authentication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indent="-114300"/>
                      <a:r>
                        <a:rPr lang="en-US" sz="1100">
                          <a:effectLst/>
                        </a:rPr>
                        <a:t>•Impersonation of legitimate users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•Data forgery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800"/>
                        </a:lnSpc>
                      </a:pPr>
                      <a:r>
                        <a:rPr lang="en-US" sz="1100">
                          <a:effectLst/>
                        </a:rPr>
                        <a:t>•Misrepresentation of user</a:t>
                      </a:r>
                    </a:p>
                    <a:p>
                      <a:pPr marL="114300" marR="0" indent="-114300"/>
                      <a:r>
                        <a:rPr lang="en-US" sz="1100">
                          <a:effectLst/>
                        </a:rPr>
                        <a:t>•Belief that false information is valid</a:t>
                      </a:r>
                    </a:p>
                  </a:txBody>
                  <a:tcPr marL="61000" marR="61000" marT="40667" marB="40667"/>
                </a:tc>
                <a:tc>
                  <a:txBody>
                    <a:bodyPr/>
                    <a:lstStyle/>
                    <a:p>
                      <a:pPr marL="114300" marR="0" indent="-114300">
                        <a:lnSpc>
                          <a:spcPts val="1800"/>
                        </a:lnSpc>
                      </a:pPr>
                      <a:r>
                        <a:rPr lang="en-US" sz="1100" dirty="0">
                          <a:effectLst/>
                        </a:rPr>
                        <a:t>Cryptographic techniques</a:t>
                      </a:r>
                    </a:p>
                  </a:txBody>
                  <a:tcPr marL="61000" marR="61000" marT="40667" marB="4066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73100" y="212045"/>
            <a:ext cx="10800000" cy="7200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17.1  Web安全性考虑</a:t>
            </a:r>
          </a:p>
        </p:txBody>
      </p:sp>
      <p:pic>
        <p:nvPicPr>
          <p:cNvPr id="5" name="picture 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7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>
            <p:custDataLst>
              <p:tags r:id="rId2"/>
            </p:custDataLst>
          </p:nvPr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3" name="Picture 3" descr="f1.pdf"/>
          <p:cNvPicPr>
            <a:picLocks noChangeAspect="1"/>
          </p:cNvPicPr>
          <p:nvPr>
            <p:custDataLst>
              <p:tags r:id="rId4"/>
            </p:custDataLst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8"/>
              <a:srcRect t="29091" b="32727"/>
              <a:stretch>
                <a:fillRect/>
              </a:stretch>
            </p:blipFill>
          </mc:Choice>
          <mc:Fallback>
            <p:blipFill>
              <a:blip r:embed="rId9"/>
              <a:srcRect t="29091" b="32727"/>
              <a:stretch>
                <a:fillRect/>
              </a:stretch>
            </p:blipFill>
          </mc:Fallback>
        </mc:AlternateContent>
        <p:spPr>
          <a:xfrm>
            <a:off x="824482" y="1209014"/>
            <a:ext cx="9869659" cy="48768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 fontScale="90000"/>
          </a:bodyPr>
          <a:lstStyle/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17.1.2  网络流量安全方法</a:t>
            </a:r>
          </a:p>
        </p:txBody>
      </p:sp>
      <p:pic>
        <p:nvPicPr>
          <p:cNvPr id="5" name="picture 1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81102" y="553720"/>
            <a:ext cx="419100" cy="655320"/>
          </a:xfrm>
          <a:prstGeom prst="rect">
            <a:avLst/>
          </a:prstGeom>
        </p:spPr>
      </p:pic>
      <p:sp>
        <p:nvSpPr>
          <p:cNvPr id="7" name="path 152"/>
          <p:cNvSpPr/>
          <p:nvPr/>
        </p:nvSpPr>
        <p:spPr>
          <a:xfrm flipV="1">
            <a:off x="734060" y="1132840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th 8"/>
          <p:cNvSpPr/>
          <p:nvPr>
            <p:custDataLst>
              <p:tags r:id="rId2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2678430" y="1671320"/>
            <a:ext cx="6465570" cy="274828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571500" indent="-571500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n"/>
            </a:pP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Web</a:t>
            </a: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安全性考虑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  <a:sym typeface="+mn-ea"/>
            </a:endParaRPr>
          </a:p>
          <a:p>
            <a:pPr marL="571500" indent="-571500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n"/>
            </a:pPr>
            <a:r>
              <a:rPr lang="zh-CN" altLang="en-US" sz="3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传输层安全</a:t>
            </a:r>
          </a:p>
          <a:p>
            <a:pPr marL="571500" indent="-571500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n"/>
            </a:pP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HTTPS</a:t>
            </a:r>
            <a:endParaRPr lang="en-US" altLang="zh-CN" sz="36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571500" indent="-571500" eaLnBrk="1" hangingPunct="1">
              <a:lnSpc>
                <a:spcPct val="120000"/>
              </a:lnSpc>
              <a:buSzPct val="80000"/>
              <a:buFont typeface="Wingdings" panose="05000000000000000000" pitchFamily="2" charset="2"/>
              <a:buChar char="n"/>
            </a:pPr>
            <a:r>
              <a:rPr lang="en-US" altLang="zh-CN" sz="3600" b="1" dirty="0">
                <a:solidFill>
                  <a:schemeClr val="tx1"/>
                </a:solidFill>
                <a:cs typeface="Times New Roman" panose="02020603050405020304" pitchFamily="18" charset="0"/>
                <a:sym typeface="+mn-ea"/>
              </a:rPr>
              <a:t> SSH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第17章  传输层安全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ath 148"/>
          <p:cNvSpPr/>
          <p:nvPr>
            <p:custDataLst>
              <p:tags r:id="rId2"/>
            </p:custDataLst>
          </p:nvPr>
        </p:nvSpPr>
        <p:spPr>
          <a:xfrm>
            <a:off x="694181" y="6236208"/>
            <a:ext cx="10779125" cy="28955"/>
          </a:xfrm>
          <a:custGeom>
            <a:avLst/>
            <a:gdLst/>
            <a:ahLst/>
            <a:cxnLst/>
            <a:rect l="0" t="0" r="0" b="0"/>
            <a:pathLst>
              <a:path w="16975" h="45">
                <a:moveTo>
                  <a:pt x="0" y="22"/>
                </a:moveTo>
                <a:lnTo>
                  <a:pt x="16975" y="22"/>
                </a:lnTo>
              </a:path>
            </a:pathLst>
          </a:custGeom>
          <a:noFill/>
          <a:ln w="28955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1207135" y="5494655"/>
            <a:ext cx="1732280" cy="7277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Rectangle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478915" y="1181735"/>
            <a:ext cx="9036685" cy="367220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zh-CN" altLang="en-US" b="1" dirty="0">
                <a:solidFill>
                  <a:schemeClr val="tx1"/>
                </a:solidFill>
              </a:rPr>
              <a:t>应用最广泛的安全服务之一</a:t>
            </a:r>
            <a:r>
              <a:rPr lang="en-US" altLang="zh-CN" b="1" dirty="0">
                <a:solidFill>
                  <a:schemeClr val="tx1"/>
                </a:solidFill>
              </a:rPr>
              <a:t>——TLS</a:t>
            </a:r>
            <a:r>
              <a:rPr lang="zh-CN" altLang="en-US" b="1" dirty="0">
                <a:solidFill>
                  <a:schemeClr val="tx1"/>
                </a:solidFill>
              </a:rPr>
              <a:t>传输层安全协议</a:t>
            </a:r>
            <a:endParaRPr lang="en-US" altLang="zh-CN" b="1" dirty="0">
              <a:solidFill>
                <a:schemeClr val="tx1"/>
              </a:solidFill>
            </a:endParaRPr>
          </a:p>
          <a:p>
            <a:r>
              <a:rPr lang="zh-CN" altLang="en-US" b="1" dirty="0">
                <a:solidFill>
                  <a:schemeClr val="tx1"/>
                </a:solidFill>
              </a:rPr>
              <a:t> 历史说明</a:t>
            </a: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SSL</a:t>
            </a:r>
            <a:r>
              <a:rPr lang="zh-CN" altLang="en-US" dirty="0">
                <a:solidFill>
                  <a:schemeClr val="tx1"/>
                </a:solidFill>
              </a:rPr>
              <a:t>协议是</a:t>
            </a:r>
            <a:r>
              <a:rPr lang="en-US" altLang="zh-CN" dirty="0">
                <a:solidFill>
                  <a:schemeClr val="tx1"/>
                </a:solidFill>
              </a:rPr>
              <a:t>Netscape</a:t>
            </a:r>
            <a:r>
              <a:rPr lang="zh-CN" altLang="en-US" dirty="0">
                <a:solidFill>
                  <a:schemeClr val="tx1"/>
                </a:solidFill>
              </a:rPr>
              <a:t>设计的安全协议</a:t>
            </a: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设计者是</a:t>
            </a:r>
            <a:r>
              <a:rPr lang="en-US" altLang="zh-CN" dirty="0" err="1">
                <a:solidFill>
                  <a:schemeClr val="tx1"/>
                </a:solidFill>
              </a:rPr>
              <a:t>ElGamal</a:t>
            </a:r>
            <a:endParaRPr lang="en-US" altLang="zh-CN" dirty="0">
              <a:solidFill>
                <a:schemeClr val="tx1"/>
              </a:solidFill>
            </a:endParaRPr>
          </a:p>
          <a:p>
            <a:pPr lvl="3" eaLnBrk="1" hangingPunct="1"/>
            <a:r>
              <a:rPr lang="en-US" altLang="zh-CN" dirty="0" err="1">
                <a:solidFill>
                  <a:schemeClr val="tx1"/>
                </a:solidFill>
              </a:rPr>
              <a:t>ElGamal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企业标准</a:t>
            </a: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TLS</a:t>
            </a:r>
            <a:r>
              <a:rPr lang="zh-CN" altLang="en-US" dirty="0">
                <a:solidFill>
                  <a:schemeClr val="tx1"/>
                </a:solidFill>
              </a:rPr>
              <a:t>协议是</a:t>
            </a:r>
            <a:r>
              <a:rPr lang="en-US" altLang="zh-CN" dirty="0">
                <a:solidFill>
                  <a:schemeClr val="tx1"/>
                </a:solidFill>
              </a:rPr>
              <a:t>IETF</a:t>
            </a:r>
            <a:r>
              <a:rPr lang="zh-CN" altLang="en-US" dirty="0">
                <a:solidFill>
                  <a:schemeClr val="tx1"/>
                </a:solidFill>
              </a:rPr>
              <a:t>将</a:t>
            </a:r>
            <a:r>
              <a:rPr lang="en-US" altLang="zh-CN" dirty="0">
                <a:solidFill>
                  <a:schemeClr val="tx1"/>
                </a:solidFill>
              </a:rPr>
              <a:t>SSL</a:t>
            </a:r>
            <a:r>
              <a:rPr lang="zh-CN" altLang="en-US" dirty="0">
                <a:solidFill>
                  <a:schemeClr val="tx1"/>
                </a:solidFill>
              </a:rPr>
              <a:t>协议的进一步标准化</a:t>
            </a: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采纳为国际标准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基本上，</a:t>
            </a:r>
            <a:r>
              <a:rPr lang="en-US" altLang="zh-CN" dirty="0">
                <a:solidFill>
                  <a:schemeClr val="tx1"/>
                </a:solidFill>
              </a:rPr>
              <a:t>SSL 3.0</a:t>
            </a:r>
            <a:r>
              <a:rPr lang="zh-CN" altLang="en-US" dirty="0">
                <a:solidFill>
                  <a:schemeClr val="tx1"/>
                </a:solidFill>
              </a:rPr>
              <a:t>等于</a:t>
            </a:r>
            <a:r>
              <a:rPr lang="en-US" altLang="zh-CN" dirty="0">
                <a:solidFill>
                  <a:schemeClr val="tx1"/>
                </a:solidFill>
              </a:rPr>
              <a:t>TLS 1.0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当前</a:t>
            </a:r>
            <a:r>
              <a:rPr lang="en-US" altLang="zh-CN" dirty="0">
                <a:solidFill>
                  <a:schemeClr val="tx1"/>
                </a:solidFill>
              </a:rPr>
              <a:t>SSL</a:t>
            </a:r>
            <a:r>
              <a:rPr lang="zh-CN" altLang="en-US" dirty="0">
                <a:solidFill>
                  <a:schemeClr val="tx1"/>
                </a:solidFill>
              </a:rPr>
              <a:t>协议已经被弃用，常见的协议版本为</a:t>
            </a:r>
            <a:r>
              <a:rPr lang="en-US" altLang="zh-CN" dirty="0">
                <a:solidFill>
                  <a:schemeClr val="tx1"/>
                </a:solidFill>
              </a:rPr>
              <a:t>TLS 1.2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TLS 1.3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219030"/>
            <a:ext cx="10800000" cy="7200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lvl="0" algn="l">
              <a:buClrTx/>
              <a:buSzTx/>
              <a:buFontTx/>
            </a:pPr>
            <a:endParaRPr lang="zh-CN" altLang="en-US"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 传输层安全</a:t>
            </a:r>
          </a:p>
        </p:txBody>
      </p:sp>
      <p:pic>
        <p:nvPicPr>
          <p:cNvPr id="9" name="picture 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0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RFC标准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RFC 2246</a:t>
            </a: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The TLS Protocol Version 1.0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RFC 4346</a:t>
            </a: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The Transport Layer Security (TLS) Protocol Version 1.1</a:t>
            </a: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最新版本</a:t>
            </a:r>
            <a:r>
              <a:rPr lang="en-US" altLang="zh-CN" dirty="0">
                <a:solidFill>
                  <a:schemeClr val="tx1"/>
                </a:solidFill>
              </a:rPr>
              <a:t>RFC 5246</a:t>
            </a: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The Transport Layer Security (TLS) Protocol Version 1.2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TLS协议</a:t>
            </a: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目标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The primary goal of the TLS protocol is to provide </a:t>
            </a:r>
            <a:r>
              <a:rPr lang="en-US" altLang="zh-CN" b="1" dirty="0">
                <a:solidFill>
                  <a:schemeClr val="tx1"/>
                </a:solidFill>
              </a:rPr>
              <a:t>privacy</a:t>
            </a:r>
            <a:r>
              <a:rPr lang="en-US" altLang="zh-CN" dirty="0">
                <a:solidFill>
                  <a:schemeClr val="tx1"/>
                </a:solidFill>
              </a:rPr>
              <a:t> and data </a:t>
            </a:r>
            <a:r>
              <a:rPr lang="en-US" altLang="zh-CN" b="1" dirty="0">
                <a:solidFill>
                  <a:schemeClr val="tx1"/>
                </a:solidFill>
              </a:rPr>
              <a:t>integrity</a:t>
            </a:r>
            <a:r>
              <a:rPr lang="en-US" altLang="zh-CN" dirty="0">
                <a:solidFill>
                  <a:schemeClr val="tx1"/>
                </a:solidFill>
              </a:rPr>
              <a:t> between </a:t>
            </a:r>
            <a:r>
              <a:rPr lang="en-US" altLang="zh-CN" b="1" dirty="0">
                <a:solidFill>
                  <a:schemeClr val="tx1"/>
                </a:solidFill>
              </a:rPr>
              <a:t>two communicating applications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协议分两层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TLS Record Protocol- the lower layer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Connection is private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Connection is reliable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 The TLS Record Protocol is used for encapsulation of various </a:t>
            </a:r>
            <a:r>
              <a:rPr lang="en-US" altLang="zh-CN" b="1" dirty="0">
                <a:solidFill>
                  <a:schemeClr val="tx1"/>
                </a:solidFill>
              </a:rPr>
              <a:t>higher- level protocols</a:t>
            </a:r>
            <a:r>
              <a:rPr lang="en-US" altLang="zh-CN" dirty="0">
                <a:solidFill>
                  <a:schemeClr val="tx1"/>
                </a:solidFill>
              </a:rPr>
              <a:t>. One such protocol is </a:t>
            </a:r>
            <a:r>
              <a:rPr lang="en-US" altLang="zh-CN" b="1" dirty="0">
                <a:solidFill>
                  <a:schemeClr val="tx1"/>
                </a:solidFill>
              </a:rPr>
              <a:t>TLS Handshake Protocol</a:t>
            </a:r>
            <a:r>
              <a:rPr lang="en-US" altLang="zh-CN" dirty="0">
                <a:solidFill>
                  <a:schemeClr val="tx1"/>
                </a:solidFill>
              </a:rPr>
              <a:t>.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The peer’s identity can be authenticated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The negotiation of a shared secret is secure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The negotiation is reliable</a:t>
            </a: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42645" y="1174115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Record</a:t>
            </a:r>
            <a:r>
              <a:rPr lang="zh-CN" altLang="en-US" dirty="0">
                <a:solidFill>
                  <a:schemeClr val="tx1"/>
                </a:solidFill>
              </a:rPr>
              <a:t>层为上层协议提供数据封装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TLS </a:t>
            </a:r>
            <a:r>
              <a:rPr lang="zh-CN" altLang="en-US" dirty="0">
                <a:solidFill>
                  <a:schemeClr val="tx1"/>
                </a:solidFill>
              </a:rPr>
              <a:t>上层协议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TLS Handshaking Protocols : Handshake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Alert</a:t>
            </a:r>
            <a:r>
              <a:rPr lang="zh-CN" altLang="en-US" dirty="0">
                <a:solidFill>
                  <a:schemeClr val="tx1"/>
                </a:solidFill>
              </a:rPr>
              <a:t>、</a:t>
            </a:r>
            <a:r>
              <a:rPr lang="en-US" altLang="zh-CN" dirty="0">
                <a:solidFill>
                  <a:schemeClr val="tx1"/>
                </a:solidFill>
              </a:rPr>
              <a:t>Change Cipher Spec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Application Data Protocol</a:t>
            </a:r>
          </a:p>
          <a:p>
            <a:pPr lvl="2"/>
            <a:endParaRPr lang="en-US" altLang="zh-CN" dirty="0">
              <a:solidFill>
                <a:schemeClr val="tx1"/>
              </a:solidFill>
            </a:endParaRPr>
          </a:p>
        </p:txBody>
      </p:sp>
      <p:graphicFrame>
        <p:nvGraphicFramePr>
          <p:cNvPr id="9220" name="Object 5"/>
          <p:cNvGraphicFramePr>
            <a:graphicFrameLocks noChangeAspect="1"/>
          </p:cNvGraphicFramePr>
          <p:nvPr/>
        </p:nvGraphicFramePr>
        <p:xfrm>
          <a:off x="3052004" y="3210421"/>
          <a:ext cx="6310074" cy="25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7" imgW="4889500" imgH="2120900" progId="">
                  <p:embed/>
                </p:oleObj>
              </mc:Choice>
              <mc:Fallback>
                <p:oleObj name="Visio" r:id="rId7" imgW="4889500" imgH="21209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2004" y="3210421"/>
                        <a:ext cx="6310074" cy="25763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层次关系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Record功能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19887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en-US" altLang="zh-CN" sz="2600" dirty="0">
                <a:solidFill>
                  <a:schemeClr val="tx1"/>
                </a:solidFill>
              </a:rPr>
              <a:t>Record</a:t>
            </a:r>
          </a:p>
          <a:p>
            <a:pPr lvl="1">
              <a:lnSpc>
                <a:spcPct val="120000"/>
              </a:lnSpc>
              <a:spcAft>
                <a:spcPts val="200"/>
              </a:spcAft>
            </a:pPr>
            <a:r>
              <a:rPr lang="zh-CN" altLang="en-US" sz="2200" dirty="0">
                <a:solidFill>
                  <a:schemeClr val="tx1"/>
                </a:solidFill>
              </a:rPr>
              <a:t>维护了密码功能参数、执行密码功能</a:t>
            </a:r>
          </a:p>
          <a:p>
            <a:pPr lvl="2">
              <a:lnSpc>
                <a:spcPct val="120000"/>
              </a:lnSpc>
              <a:spcAft>
                <a:spcPts val="200"/>
              </a:spcAft>
            </a:pPr>
            <a:r>
              <a:rPr lang="zh-CN" altLang="en-US" dirty="0">
                <a:solidFill>
                  <a:schemeClr val="tx1"/>
                </a:solidFill>
              </a:rPr>
              <a:t>在传输时，根据密码功能参数、进行相应的加解密、</a:t>
            </a:r>
            <a:r>
              <a:rPr lang="en-US" altLang="zh-CN" dirty="0">
                <a:solidFill>
                  <a:schemeClr val="tx1"/>
                </a:solidFill>
              </a:rPr>
              <a:t>HMAC</a:t>
            </a:r>
            <a:r>
              <a:rPr lang="zh-CN" altLang="en-US" dirty="0">
                <a:solidFill>
                  <a:schemeClr val="tx1"/>
                </a:solidFill>
              </a:rPr>
              <a:t>、压缩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解压等等</a:t>
            </a:r>
          </a:p>
          <a:p>
            <a:pPr lvl="2">
              <a:lnSpc>
                <a:spcPct val="120000"/>
              </a:lnSpc>
              <a:spcAft>
                <a:spcPts val="200"/>
              </a:spcAft>
            </a:pPr>
            <a:r>
              <a:rPr lang="zh-CN" altLang="en-US" dirty="0">
                <a:solidFill>
                  <a:schemeClr val="tx1"/>
                </a:solidFill>
              </a:rPr>
              <a:t>注意：有可能当前算法是</a:t>
            </a:r>
            <a:r>
              <a:rPr lang="en-US" altLang="zh-CN" dirty="0">
                <a:solidFill>
                  <a:schemeClr val="tx1"/>
                </a:solidFill>
              </a:rPr>
              <a:t>NULL</a:t>
            </a:r>
            <a:r>
              <a:rPr lang="zh-CN" altLang="en-US" dirty="0">
                <a:solidFill>
                  <a:schemeClr val="tx1"/>
                </a:solidFill>
              </a:rPr>
              <a:t>（如在</a:t>
            </a:r>
            <a:r>
              <a:rPr lang="en-US" altLang="zh-CN" dirty="0">
                <a:solidFill>
                  <a:schemeClr val="tx1"/>
                </a:solidFill>
              </a:rPr>
              <a:t>Handshake</a:t>
            </a:r>
            <a:r>
              <a:rPr lang="zh-CN" altLang="en-US" dirty="0">
                <a:solidFill>
                  <a:schemeClr val="tx1"/>
                </a:solidFill>
              </a:rPr>
              <a:t>过程中、双方未协商完），相当于是直接明文传输</a:t>
            </a:r>
          </a:p>
          <a:p>
            <a:pPr>
              <a:lnSpc>
                <a:spcPct val="120000"/>
              </a:lnSpc>
              <a:spcBef>
                <a:spcPts val="200"/>
              </a:spcBef>
            </a:pPr>
            <a:r>
              <a:rPr lang="zh-CN" altLang="en-US" sz="2600" dirty="0">
                <a:solidFill>
                  <a:schemeClr val="tx1"/>
                </a:solidFill>
              </a:rPr>
              <a:t>当上层数据经过，</a:t>
            </a:r>
            <a:r>
              <a:rPr lang="en-US" altLang="zh-CN" sz="2600" dirty="0">
                <a:solidFill>
                  <a:schemeClr val="tx1"/>
                </a:solidFill>
              </a:rPr>
              <a:t>Record</a:t>
            </a:r>
            <a:r>
              <a:rPr lang="zh-CN" altLang="en-US" sz="2600" dirty="0">
                <a:solidFill>
                  <a:schemeClr val="tx1"/>
                </a:solidFill>
              </a:rPr>
              <a:t>层就根据自己所维护的密码功能参数、进行密码计算，得到变换后的数据</a:t>
            </a:r>
          </a:p>
          <a:p>
            <a:pPr lvl="1">
              <a:lnSpc>
                <a:spcPct val="120000"/>
              </a:lnSpc>
              <a:spcAft>
                <a:spcPts val="200"/>
              </a:spcAft>
            </a:pPr>
            <a:r>
              <a:rPr lang="zh-CN" altLang="en-US" sz="2200" dirty="0">
                <a:solidFill>
                  <a:schemeClr val="tx1"/>
                </a:solidFill>
              </a:rPr>
              <a:t>然后交给</a:t>
            </a:r>
            <a:r>
              <a:rPr lang="en-US" altLang="zh-CN" sz="2200" dirty="0">
                <a:solidFill>
                  <a:schemeClr val="tx1"/>
                </a:solidFill>
              </a:rPr>
              <a:t>TCP</a:t>
            </a:r>
            <a:r>
              <a:rPr lang="zh-CN" altLang="en-US" sz="2200" dirty="0">
                <a:solidFill>
                  <a:schemeClr val="tx1"/>
                </a:solidFill>
              </a:rPr>
              <a:t>发送</a:t>
            </a:r>
          </a:p>
          <a:p>
            <a:pPr lvl="1">
              <a:lnSpc>
                <a:spcPct val="120000"/>
              </a:lnSpc>
              <a:spcAft>
                <a:spcPts val="200"/>
              </a:spcAft>
            </a:pPr>
            <a:r>
              <a:rPr lang="zh-CN" altLang="en-US" sz="2200" dirty="0">
                <a:solidFill>
                  <a:schemeClr val="tx1"/>
                </a:solidFill>
              </a:rPr>
              <a:t>上层数据是</a:t>
            </a:r>
            <a:r>
              <a:rPr lang="en-US" altLang="zh-CN" sz="2200" dirty="0">
                <a:solidFill>
                  <a:schemeClr val="tx1"/>
                </a:solidFill>
              </a:rPr>
              <a:t>Handshake/Alert/Application Data</a:t>
            </a:r>
            <a:r>
              <a:rPr lang="zh-CN" altLang="en-US" sz="2200" dirty="0">
                <a:solidFill>
                  <a:schemeClr val="tx1"/>
                </a:solidFill>
              </a:rPr>
              <a:t>等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TLS/Record依赖于TCP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TCP</a:t>
            </a:r>
            <a:r>
              <a:rPr lang="zh-CN" altLang="en-US" dirty="0">
                <a:solidFill>
                  <a:schemeClr val="tx1"/>
                </a:solidFill>
              </a:rPr>
              <a:t>提供有序的可靠传输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序号、重传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确认机制等</a:t>
            </a: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TCP</a:t>
            </a:r>
            <a:r>
              <a:rPr lang="zh-CN" altLang="en-US" dirty="0">
                <a:solidFill>
                  <a:schemeClr val="tx1"/>
                </a:solidFill>
              </a:rPr>
              <a:t>的功能正是</a:t>
            </a:r>
            <a:r>
              <a:rPr lang="en-US" altLang="zh-CN" dirty="0">
                <a:solidFill>
                  <a:schemeClr val="tx1"/>
                </a:solidFill>
              </a:rPr>
              <a:t>TLS</a:t>
            </a:r>
            <a:r>
              <a:rPr lang="zh-CN" altLang="en-US" dirty="0">
                <a:solidFill>
                  <a:schemeClr val="tx1"/>
                </a:solidFill>
              </a:rPr>
              <a:t>所需要的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序号、重传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确认机制，并没有在</a:t>
            </a:r>
            <a:r>
              <a:rPr lang="en-US" altLang="zh-CN" dirty="0">
                <a:solidFill>
                  <a:schemeClr val="tx1"/>
                </a:solidFill>
              </a:rPr>
              <a:t>Record</a:t>
            </a:r>
            <a:r>
              <a:rPr lang="zh-CN" altLang="en-US" dirty="0">
                <a:solidFill>
                  <a:schemeClr val="tx1"/>
                </a:solidFill>
              </a:rPr>
              <a:t>层实现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所以，</a:t>
            </a:r>
            <a:r>
              <a:rPr lang="en-US" altLang="zh-CN" dirty="0">
                <a:solidFill>
                  <a:schemeClr val="tx1"/>
                </a:solidFill>
              </a:rPr>
              <a:t>TLS/Record</a:t>
            </a:r>
            <a:r>
              <a:rPr lang="zh-CN" altLang="en-US" dirty="0">
                <a:solidFill>
                  <a:schemeClr val="tx1"/>
                </a:solidFill>
              </a:rPr>
              <a:t>必须建立在</a:t>
            </a:r>
            <a:r>
              <a:rPr lang="en-US" altLang="zh-CN" dirty="0">
                <a:solidFill>
                  <a:schemeClr val="tx1"/>
                </a:solidFill>
              </a:rPr>
              <a:t>TCP</a:t>
            </a:r>
            <a:r>
              <a:rPr lang="zh-CN" altLang="en-US" dirty="0">
                <a:solidFill>
                  <a:schemeClr val="tx1"/>
                </a:solidFill>
              </a:rPr>
              <a:t>之上</a:t>
            </a: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或者是其它的可靠连接</a:t>
            </a: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不能用在</a:t>
            </a:r>
            <a:r>
              <a:rPr lang="en-US" altLang="zh-CN" dirty="0">
                <a:solidFill>
                  <a:schemeClr val="tx1"/>
                </a:solidFill>
              </a:rPr>
              <a:t>UDP</a:t>
            </a:r>
            <a:r>
              <a:rPr lang="zh-CN" altLang="en-US" dirty="0">
                <a:solidFill>
                  <a:schemeClr val="tx1"/>
                </a:solidFill>
              </a:rPr>
              <a:t>之上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928370" y="1252855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大致的运行流程如下图</a:t>
            </a:r>
          </a:p>
          <a:p>
            <a:pPr lvl="1" eaLnBrk="1" hangingPunct="1"/>
            <a:r>
              <a:rPr lang="zh-CN" altLang="en-US">
                <a:solidFill>
                  <a:schemeClr val="tx1"/>
                </a:solidFill>
              </a:rPr>
              <a:t>协议过程中的某一方</a:t>
            </a:r>
          </a:p>
        </p:txBody>
      </p:sp>
      <p:graphicFrame>
        <p:nvGraphicFramePr>
          <p:cNvPr id="12292" name="Object 5"/>
          <p:cNvGraphicFramePr>
            <a:graphicFrameLocks noChangeAspect="1"/>
          </p:cNvGraphicFramePr>
          <p:nvPr/>
        </p:nvGraphicFramePr>
        <p:xfrm>
          <a:off x="1812032" y="2141096"/>
          <a:ext cx="8748464" cy="3993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10607040" imgH="4839335" progId="">
                  <p:embed/>
                </p:oleObj>
              </mc:Choice>
              <mc:Fallback>
                <p:oleObj name="Visio" r:id="rId6" imgW="10607040" imgH="4839335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032" y="2141096"/>
                        <a:ext cx="8748464" cy="399300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大致运行流程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Handshake功能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600" dirty="0">
                <a:solidFill>
                  <a:schemeClr val="tx1"/>
                </a:solidFill>
              </a:rPr>
              <a:t>基于</a:t>
            </a:r>
            <a:r>
              <a:rPr lang="en-US" altLang="zh-CN" sz="2600" dirty="0">
                <a:solidFill>
                  <a:schemeClr val="tx1"/>
                </a:solidFill>
              </a:rPr>
              <a:t>PKI</a:t>
            </a:r>
            <a:r>
              <a:rPr lang="zh-CN" altLang="en-US" sz="2600" dirty="0">
                <a:solidFill>
                  <a:schemeClr val="tx1"/>
                </a:solidFill>
              </a:rPr>
              <a:t>数字证书和公钥密码算法</a:t>
            </a:r>
          </a:p>
          <a:p>
            <a:pPr eaLnBrk="1" hangingPunct="1"/>
            <a:r>
              <a:rPr lang="en-US" altLang="zh-CN" sz="2600" dirty="0">
                <a:solidFill>
                  <a:schemeClr val="tx1"/>
                </a:solidFill>
              </a:rPr>
              <a:t>Server</a:t>
            </a:r>
            <a:r>
              <a:rPr lang="zh-CN" altLang="en-US" sz="2600" dirty="0">
                <a:solidFill>
                  <a:schemeClr val="tx1"/>
                </a:solidFill>
              </a:rPr>
              <a:t>和</a:t>
            </a:r>
            <a:r>
              <a:rPr lang="en-US" altLang="zh-CN" sz="2600" dirty="0">
                <a:solidFill>
                  <a:schemeClr val="tx1"/>
                </a:solidFill>
              </a:rPr>
              <a:t>Client</a:t>
            </a:r>
            <a:r>
              <a:rPr lang="zh-CN" altLang="en-US" sz="2600" dirty="0">
                <a:solidFill>
                  <a:schemeClr val="tx1"/>
                </a:solidFill>
              </a:rPr>
              <a:t>进行协商</a:t>
            </a:r>
          </a:p>
          <a:p>
            <a:pPr lvl="1" eaLnBrk="1" hangingPunct="1"/>
            <a:r>
              <a:rPr lang="en-US" altLang="zh-CN" sz="2200" dirty="0">
                <a:solidFill>
                  <a:schemeClr val="tx1"/>
                </a:solidFill>
              </a:rPr>
              <a:t>Client</a:t>
            </a:r>
            <a:r>
              <a:rPr lang="zh-CN" altLang="en-US" sz="2200" dirty="0">
                <a:solidFill>
                  <a:schemeClr val="tx1"/>
                </a:solidFill>
              </a:rPr>
              <a:t>鉴别</a:t>
            </a:r>
            <a:r>
              <a:rPr lang="en-US" altLang="zh-CN" sz="2200" dirty="0">
                <a:solidFill>
                  <a:schemeClr val="tx1"/>
                </a:solidFill>
              </a:rPr>
              <a:t>Server</a:t>
            </a:r>
          </a:p>
          <a:p>
            <a:pPr lvl="1" eaLnBrk="1" hangingPunct="1"/>
            <a:r>
              <a:rPr lang="en-US" altLang="zh-CN" sz="2200" dirty="0">
                <a:solidFill>
                  <a:schemeClr val="tx1"/>
                </a:solidFill>
              </a:rPr>
              <a:t>Server</a:t>
            </a:r>
            <a:r>
              <a:rPr lang="zh-CN" altLang="en-US" sz="2200" dirty="0">
                <a:solidFill>
                  <a:schemeClr val="tx1"/>
                </a:solidFill>
              </a:rPr>
              <a:t>鉴别</a:t>
            </a:r>
            <a:r>
              <a:rPr lang="en-US" altLang="zh-CN" sz="2200" dirty="0">
                <a:solidFill>
                  <a:schemeClr val="tx1"/>
                </a:solidFill>
              </a:rPr>
              <a:t>Client</a:t>
            </a:r>
            <a:r>
              <a:rPr lang="zh-CN" altLang="en-US" sz="2200" dirty="0">
                <a:solidFill>
                  <a:schemeClr val="tx1"/>
                </a:solidFill>
              </a:rPr>
              <a:t>（可选）</a:t>
            </a:r>
          </a:p>
          <a:p>
            <a:pPr lvl="1" eaLnBrk="1" hangingPunct="1"/>
            <a:r>
              <a:rPr lang="zh-CN" altLang="en-US" sz="2200" dirty="0">
                <a:solidFill>
                  <a:schemeClr val="tx1"/>
                </a:solidFill>
              </a:rPr>
              <a:t>也可以双向匿名（很少使用）</a:t>
            </a:r>
          </a:p>
          <a:p>
            <a:pPr lvl="2" eaLnBrk="1" hangingPunct="1"/>
            <a:r>
              <a:rPr lang="zh-CN" altLang="en-US" sz="2100" dirty="0">
                <a:solidFill>
                  <a:schemeClr val="tx1"/>
                </a:solidFill>
              </a:rPr>
              <a:t>使用</a:t>
            </a:r>
            <a:r>
              <a:rPr lang="en-US" altLang="zh-CN" sz="2100" dirty="0" err="1">
                <a:solidFill>
                  <a:schemeClr val="tx1"/>
                </a:solidFill>
              </a:rPr>
              <a:t>Diffie</a:t>
            </a:r>
            <a:r>
              <a:rPr lang="en-US" altLang="zh-CN" sz="2100" dirty="0">
                <a:solidFill>
                  <a:schemeClr val="tx1"/>
                </a:solidFill>
              </a:rPr>
              <a:t>-Hellman</a:t>
            </a:r>
            <a:r>
              <a:rPr lang="zh-CN" altLang="en-US" sz="2100" dirty="0">
                <a:solidFill>
                  <a:schemeClr val="tx1"/>
                </a:solidFill>
              </a:rPr>
              <a:t>协商算法</a:t>
            </a:r>
          </a:p>
          <a:p>
            <a:pPr eaLnBrk="1" hangingPunct="1"/>
            <a:r>
              <a:rPr lang="zh-CN" altLang="en-US" sz="2600" dirty="0">
                <a:solidFill>
                  <a:schemeClr val="tx1"/>
                </a:solidFill>
              </a:rPr>
              <a:t>协商得到如下</a:t>
            </a:r>
          </a:p>
          <a:p>
            <a:pPr lvl="1" eaLnBrk="1" hangingPunct="1"/>
            <a:r>
              <a:rPr lang="zh-CN" altLang="en-US" sz="2200" dirty="0">
                <a:solidFill>
                  <a:schemeClr val="tx1"/>
                </a:solidFill>
              </a:rPr>
              <a:t>对称加解密算法和密钥</a:t>
            </a:r>
          </a:p>
          <a:p>
            <a:pPr lvl="1" eaLnBrk="1" hangingPunct="1"/>
            <a:r>
              <a:rPr lang="en-US" altLang="zh-CN" sz="2200" dirty="0">
                <a:solidFill>
                  <a:schemeClr val="tx1"/>
                </a:solidFill>
              </a:rPr>
              <a:t>HMAC</a:t>
            </a:r>
            <a:r>
              <a:rPr lang="zh-CN" altLang="en-US" sz="2200" dirty="0">
                <a:solidFill>
                  <a:schemeClr val="tx1"/>
                </a:solidFill>
              </a:rPr>
              <a:t>算法和密钥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2"/>
            <a:r>
              <a:rPr lang="en-US" altLang="zh-CN" sz="1800" dirty="0">
                <a:solidFill>
                  <a:schemeClr val="tx1"/>
                </a:solidFill>
              </a:rPr>
              <a:t>Hash-based Message Authentication Code</a:t>
            </a:r>
            <a:endParaRPr lang="zh-CN" altLang="en-US" sz="1800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2200" dirty="0">
                <a:solidFill>
                  <a:schemeClr val="tx1"/>
                </a:solidFill>
              </a:rPr>
              <a:t>压缩</a:t>
            </a:r>
            <a:r>
              <a:rPr lang="en-US" altLang="zh-CN" sz="2200" dirty="0">
                <a:solidFill>
                  <a:schemeClr val="tx1"/>
                </a:solidFill>
              </a:rPr>
              <a:t>/</a:t>
            </a:r>
            <a:r>
              <a:rPr lang="zh-CN" altLang="en-US" sz="2200" dirty="0">
                <a:solidFill>
                  <a:schemeClr val="tx1"/>
                </a:solidFill>
              </a:rPr>
              <a:t>解压算法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Change Cipher Spec功能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通知对方，切换算法</a:t>
            </a: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Record</a:t>
            </a:r>
            <a:r>
              <a:rPr lang="zh-CN" altLang="en-US" dirty="0">
                <a:solidFill>
                  <a:schemeClr val="tx1"/>
                </a:solidFill>
              </a:rPr>
              <a:t>层，开始是使用“空”算法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什么安全功能都不做</a:t>
            </a: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Handshake</a:t>
            </a:r>
            <a:r>
              <a:rPr lang="zh-CN" altLang="en-US" dirty="0">
                <a:solidFill>
                  <a:schemeClr val="tx1"/>
                </a:solidFill>
              </a:rPr>
              <a:t>协商之后，双方分别发送</a:t>
            </a:r>
            <a:r>
              <a:rPr lang="en-US" altLang="zh-CN" dirty="0">
                <a:solidFill>
                  <a:schemeClr val="tx1"/>
                </a:solidFill>
              </a:rPr>
              <a:t>Change Cipher Spec</a:t>
            </a: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启用已经协商好的算法</a:t>
            </a:r>
          </a:p>
          <a:p>
            <a:pPr lvl="2" eaLnBrk="1" hangingPunct="1"/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向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发送，表示“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写的数据”都用切换后的算法</a:t>
            </a:r>
          </a:p>
          <a:p>
            <a:pPr lvl="2" eaLnBrk="1" hangingPunct="1"/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向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zh-CN" altLang="en-US" dirty="0">
                <a:solidFill>
                  <a:schemeClr val="tx1"/>
                </a:solidFill>
              </a:rPr>
              <a:t>发送，表示“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写的数据”都用切换后的算法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Alert功能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</a:rPr>
              <a:t>发送警告消息，各种错误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</a:rPr>
              <a:t>通知关闭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>
                <a:solidFill>
                  <a:schemeClr val="tx1"/>
                </a:solidFill>
              </a:rPr>
              <a:t>MAC</a:t>
            </a:r>
            <a:r>
              <a:rPr lang="zh-CN" altLang="en-US">
                <a:solidFill>
                  <a:schemeClr val="tx1"/>
                </a:solidFill>
              </a:rPr>
              <a:t>错误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</a:rPr>
              <a:t>解密错误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</a:rPr>
              <a:t>解压错误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</a:rPr>
              <a:t>算法不支持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</a:rPr>
              <a:t>协议版本不支持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</a:rPr>
              <a:t>证书被撤销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过期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>
                <a:solidFill>
                  <a:schemeClr val="tx1"/>
                </a:solidFill>
              </a:rPr>
              <a:t>等等等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picture 1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2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2927648" y="79991"/>
            <a:ext cx="6534472" cy="68059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enum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{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close_notify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unexpected_message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(10),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bad_record_mac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(20),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decryption_failed_RESERVED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(21),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record_overflow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(22),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decompression_failure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(30),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handshake_failure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(40),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no_certificate_RESERVED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(41),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bad_certificate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(42),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unsupported_certificate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(43),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certificate_revoked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(44),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certificate_expired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(45),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certificate_unknown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(46),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illegal_parameter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(47),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unknown_ca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(48),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access_denied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(49),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decode_error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(50),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decrypt_error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(51),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export_restriction_RESERVED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(60),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protocol_version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(70),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insufficient_security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(71),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internal_error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(80),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user_canceled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(90),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no_renegotiation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(100),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unsupported_extension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(110),</a:t>
            </a:r>
          </a:p>
          <a:p>
            <a:pPr lvl="1"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(255)</a:t>
            </a:r>
          </a:p>
          <a:p>
            <a:pPr>
              <a:lnSpc>
                <a:spcPct val="120000"/>
              </a:lnSpc>
            </a:pP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 } </a:t>
            </a:r>
            <a:r>
              <a:rPr lang="en-US" altLang="zh-CN" sz="1300" dirty="0" err="1">
                <a:solidFill>
                  <a:schemeClr val="tx1"/>
                </a:solidFill>
                <a:cs typeface="Times New Roman" panose="02020603050405020304" pitchFamily="18" charset="0"/>
              </a:rPr>
              <a:t>AlertDescription</a:t>
            </a:r>
            <a:r>
              <a:rPr lang="en-US" altLang="zh-CN" sz="1300" dirty="0">
                <a:solidFill>
                  <a:schemeClr val="tx1"/>
                </a:solidFill>
                <a:cs typeface="Times New Roman" panose="02020603050405020304" pitchFamily="18" charset="0"/>
              </a:rPr>
              <a:t>;</a:t>
            </a:r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Application Data功能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真正传输的应用层数据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例如，</a:t>
            </a:r>
            <a:r>
              <a:rPr lang="en-US" altLang="zh-CN" dirty="0">
                <a:solidFill>
                  <a:schemeClr val="tx1"/>
                </a:solidFill>
              </a:rPr>
              <a:t>HTTP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或者，我们想要基于</a:t>
            </a:r>
            <a:r>
              <a:rPr lang="en-US" altLang="zh-CN" dirty="0">
                <a:solidFill>
                  <a:schemeClr val="tx1"/>
                </a:solidFill>
              </a:rPr>
              <a:t>TLS</a:t>
            </a:r>
            <a:r>
              <a:rPr lang="zh-CN" altLang="en-US" dirty="0">
                <a:solidFill>
                  <a:schemeClr val="tx1"/>
                </a:solidFill>
              </a:rPr>
              <a:t>而传输的信息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ym typeface="+mn-ea"/>
              </a:rPr>
              <a:t>17.2 </a:t>
            </a:r>
            <a:r>
              <a:rPr lang="zh-CN" altLang="en-US" dirty="0"/>
              <a:t>核心内容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Record</a:t>
            </a:r>
            <a:r>
              <a:rPr lang="zh-CN" altLang="en-US" dirty="0"/>
              <a:t>层</a:t>
            </a:r>
          </a:p>
          <a:p>
            <a:pPr lvl="1" eaLnBrk="1" hangingPunct="1"/>
            <a:r>
              <a:rPr lang="zh-CN" altLang="en-US" dirty="0"/>
              <a:t>对于数据，究竟是如何处理的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机密性、数据完整性</a:t>
            </a:r>
          </a:p>
          <a:p>
            <a:pPr eaLnBrk="1" hangingPunct="1"/>
            <a:r>
              <a:rPr lang="en-US" altLang="zh-CN" dirty="0"/>
              <a:t>Handshake</a:t>
            </a:r>
            <a:r>
              <a:rPr lang="zh-CN" altLang="en-US" dirty="0"/>
              <a:t>层</a:t>
            </a:r>
          </a:p>
          <a:p>
            <a:pPr lvl="1"/>
            <a:r>
              <a:rPr lang="zh-CN" altLang="en-US" dirty="0"/>
              <a:t>双方身份鉴别、协商对称秘密</a:t>
            </a:r>
            <a:endParaRPr lang="en-US" altLang="zh-CN" dirty="0"/>
          </a:p>
          <a:p>
            <a:pPr lvl="2"/>
            <a:r>
              <a:rPr lang="zh-CN" altLang="en-US" dirty="0"/>
              <a:t>利用公钥算法</a:t>
            </a:r>
          </a:p>
          <a:p>
            <a:pPr lvl="2" eaLnBrk="1" hangingPunct="1"/>
            <a:r>
              <a:rPr lang="zh-CN" altLang="en-US" dirty="0"/>
              <a:t>攻击者不能窃听获得</a:t>
            </a:r>
          </a:p>
          <a:p>
            <a:pPr lvl="2" eaLnBrk="1" hangingPunct="1"/>
            <a:r>
              <a:rPr lang="zh-CN" altLang="en-US" dirty="0"/>
              <a:t>各种秘密，用到</a:t>
            </a:r>
            <a:r>
              <a:rPr lang="en-US" altLang="zh-CN" dirty="0"/>
              <a:t>Record</a:t>
            </a:r>
            <a:r>
              <a:rPr lang="zh-CN" altLang="en-US" dirty="0"/>
              <a:t>层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1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68400" y="1172634"/>
            <a:ext cx="7781489" cy="402336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</a:rPr>
              <a:t>当</a:t>
            </a:r>
            <a:r>
              <a:rPr lang="en-US" altLang="zh-CN" sz="2400" dirty="0">
                <a:solidFill>
                  <a:schemeClr val="tx1"/>
                </a:solidFill>
              </a:rPr>
              <a:t>TLS</a:t>
            </a:r>
            <a:r>
              <a:rPr lang="zh-CN" altLang="en-US" sz="2400" dirty="0">
                <a:solidFill>
                  <a:schemeClr val="tx1"/>
                </a:solidFill>
              </a:rPr>
              <a:t>协商之后、无错误地运行、传输</a:t>
            </a:r>
            <a:r>
              <a:rPr lang="en-US" altLang="zh-CN" sz="2400" dirty="0">
                <a:solidFill>
                  <a:schemeClr val="tx1"/>
                </a:solidFill>
              </a:rPr>
              <a:t>Application Data</a:t>
            </a:r>
            <a:r>
              <a:rPr lang="zh-CN" altLang="en-US" sz="2400" dirty="0">
                <a:solidFill>
                  <a:schemeClr val="tx1"/>
                </a:solidFill>
              </a:rPr>
              <a:t>时</a:t>
            </a: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主要就是</a:t>
            </a:r>
            <a:r>
              <a:rPr lang="en-US" altLang="zh-CN" sz="2000" dirty="0">
                <a:solidFill>
                  <a:schemeClr val="tx1"/>
                </a:solidFill>
              </a:rPr>
              <a:t>Record</a:t>
            </a:r>
            <a:r>
              <a:rPr lang="zh-CN" altLang="en-US" sz="2000" dirty="0">
                <a:solidFill>
                  <a:schemeClr val="tx1"/>
                </a:solidFill>
              </a:rPr>
              <a:t>层在起安全保护作用</a:t>
            </a:r>
          </a:p>
          <a:p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B234486-42F2-43D6-9FFA-ABC9372E53D2}" type="slidenum">
              <a:rPr lang="zh-CN" altLang="en-US" smtClean="0">
                <a:solidFill>
                  <a:schemeClr val="tx1"/>
                </a:solidFill>
              </a:rPr>
              <a:t>20</a:t>
            </a:fld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346" y="2441343"/>
            <a:ext cx="5377917" cy="3725072"/>
          </a:xfrm>
          <a:prstGeom prst="rect">
            <a:avLst/>
          </a:prstGeom>
        </p:spPr>
      </p:pic>
      <p:sp>
        <p:nvSpPr>
          <p:cNvPr id="7" name="矩形 6"/>
          <p:cNvSpPr/>
          <p:nvPr>
            <p:custDataLst>
              <p:tags r:id="rId5"/>
            </p:custDataLst>
          </p:nvPr>
        </p:nvSpPr>
        <p:spPr>
          <a:xfrm>
            <a:off x="1076325" y="3375660"/>
            <a:ext cx="4227830" cy="25082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eaLnBrk="1" hangingPunct="1"/>
            <a:r>
              <a:rPr lang="zh-CN" altLang="en-US" sz="2000" dirty="0">
                <a:solidFill>
                  <a:schemeClr val="tx1"/>
                </a:solidFill>
              </a:rPr>
              <a:t>发送方处理步骤：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分块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压缩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计算</a:t>
            </a:r>
            <a:r>
              <a:rPr lang="en-US" altLang="zh-CN" sz="2000" dirty="0">
                <a:solidFill>
                  <a:schemeClr val="tx1"/>
                </a:solidFill>
              </a:rPr>
              <a:t>MAC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加密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11" name="标题 10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Record层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4" name="path 8"/>
          <p:cNvSpPr/>
          <p:nvPr>
            <p:custDataLst>
              <p:tags r:id="rId7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039620" y="1223434"/>
            <a:ext cx="7781489" cy="402336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dirty="0">
                <a:solidFill>
                  <a:schemeClr val="tx1"/>
                </a:solidFill>
              </a:rPr>
              <a:t>当</a:t>
            </a:r>
            <a:r>
              <a:rPr lang="en-US" altLang="zh-CN" sz="2400" dirty="0">
                <a:solidFill>
                  <a:schemeClr val="tx1"/>
                </a:solidFill>
              </a:rPr>
              <a:t>TLS</a:t>
            </a:r>
            <a:r>
              <a:rPr lang="zh-CN" altLang="en-US" sz="2400" dirty="0">
                <a:solidFill>
                  <a:schemeClr val="tx1"/>
                </a:solidFill>
              </a:rPr>
              <a:t>协商之后、无错误地运行、传输</a:t>
            </a:r>
            <a:r>
              <a:rPr lang="en-US" altLang="zh-CN" sz="2400" dirty="0">
                <a:solidFill>
                  <a:schemeClr val="tx1"/>
                </a:solidFill>
              </a:rPr>
              <a:t>Application Data</a:t>
            </a:r>
            <a:r>
              <a:rPr lang="zh-CN" altLang="en-US" sz="2400" dirty="0">
                <a:solidFill>
                  <a:schemeClr val="tx1"/>
                </a:solidFill>
              </a:rPr>
              <a:t>时</a:t>
            </a:r>
          </a:p>
          <a:p>
            <a:pPr lvl="1"/>
            <a:r>
              <a:rPr lang="zh-CN" altLang="en-US" sz="2000" dirty="0">
                <a:solidFill>
                  <a:schemeClr val="tx1"/>
                </a:solidFill>
              </a:rPr>
              <a:t>主要就是</a:t>
            </a:r>
            <a:r>
              <a:rPr lang="en-US" altLang="zh-CN" sz="2000" dirty="0">
                <a:solidFill>
                  <a:schemeClr val="tx1"/>
                </a:solidFill>
              </a:rPr>
              <a:t>Record</a:t>
            </a:r>
            <a:r>
              <a:rPr lang="zh-CN" altLang="en-US" sz="2000" dirty="0">
                <a:solidFill>
                  <a:schemeClr val="tx1"/>
                </a:solidFill>
              </a:rPr>
              <a:t>层在起安全保护作用</a:t>
            </a:r>
          </a:p>
          <a:p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B234486-42F2-43D6-9FFA-ABC9372E53D2}" type="slidenum">
              <a:rPr lang="zh-CN" altLang="en-US" smtClean="0">
                <a:solidFill>
                  <a:schemeClr val="tx1"/>
                </a:solidFill>
              </a:rPr>
              <a:t>21</a:t>
            </a:fld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237" y="2478173"/>
            <a:ext cx="5377917" cy="3725072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1244536" y="3126611"/>
            <a:ext cx="3744416" cy="286131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eaLnBrk="1" hangingPunct="1"/>
            <a:r>
              <a:rPr lang="zh-CN" altLang="en-US" sz="2000" dirty="0">
                <a:solidFill>
                  <a:schemeClr val="tx1"/>
                </a:solidFill>
              </a:rPr>
              <a:t>发送方处理步骤：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分块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压缩</a:t>
            </a:r>
            <a:r>
              <a:rPr lang="en-US" altLang="zh-CN" sz="2000" dirty="0">
                <a:solidFill>
                  <a:schemeClr val="tx1"/>
                </a:solidFill>
              </a:rPr>
              <a:t>——</a:t>
            </a:r>
            <a:r>
              <a:rPr lang="zh-CN" altLang="en-US" sz="2000" dirty="0">
                <a:solidFill>
                  <a:schemeClr val="tx1"/>
                </a:solidFill>
              </a:rPr>
              <a:t>实际不使用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计算</a:t>
            </a:r>
            <a:r>
              <a:rPr lang="en-US" altLang="zh-CN" sz="2000" dirty="0">
                <a:solidFill>
                  <a:schemeClr val="tx1"/>
                </a:solidFill>
              </a:rPr>
              <a:t>MAC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加密</a:t>
            </a:r>
            <a:endParaRPr lang="en-US" altLang="zh-CN" sz="2000" dirty="0">
              <a:solidFill>
                <a:schemeClr val="tx1"/>
              </a:solidFill>
            </a:endParaRPr>
          </a:p>
          <a:p>
            <a:r>
              <a:rPr lang="zh-CN" altLang="en-US" sz="2000" dirty="0">
                <a:solidFill>
                  <a:schemeClr val="tx1"/>
                </a:solidFill>
              </a:rPr>
              <a:t>实际处理步骤：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分块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</a:rPr>
              <a:t>计算</a:t>
            </a:r>
            <a:r>
              <a:rPr lang="en-US" altLang="zh-CN" sz="2000" dirty="0">
                <a:solidFill>
                  <a:schemeClr val="tx1"/>
                </a:solidFill>
              </a:rPr>
              <a:t>MAC&amp;</a:t>
            </a:r>
            <a:r>
              <a:rPr lang="zh-CN" altLang="en-US" sz="2000" dirty="0">
                <a:solidFill>
                  <a:schemeClr val="tx1"/>
                </a:solidFill>
              </a:rPr>
              <a:t>加密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</p:txBody>
      </p:sp>
      <p:sp>
        <p:nvSpPr>
          <p:cNvPr id="7" name="右大括号 6"/>
          <p:cNvSpPr/>
          <p:nvPr>
            <p:custDataLst>
              <p:tags r:id="rId6"/>
            </p:custDataLst>
          </p:nvPr>
        </p:nvSpPr>
        <p:spPr>
          <a:xfrm>
            <a:off x="3465396" y="4672582"/>
            <a:ext cx="144016" cy="342976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3294452" y="4043253"/>
            <a:ext cx="1872208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/>
                </a:solidFill>
              </a:rPr>
              <a:t>一次性完成计算，使用</a:t>
            </a:r>
            <a:r>
              <a:rPr lang="en-US" altLang="zh-CN" sz="1600" dirty="0">
                <a:solidFill>
                  <a:schemeClr val="tx1"/>
                </a:solidFill>
              </a:rPr>
              <a:t>authenticated encryption </a:t>
            </a:r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Record层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" name="path 8"/>
          <p:cNvSpPr/>
          <p:nvPr>
            <p:custDataLst>
              <p:tags r:id="rId9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17.2 Record层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发送方步骤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分块</a:t>
            </a:r>
            <a:r>
              <a:rPr lang="en-US" altLang="zh-CN" dirty="0">
                <a:solidFill>
                  <a:schemeClr val="tx1"/>
                </a:solidFill>
              </a:rPr>
              <a:t>-&gt;</a:t>
            </a:r>
            <a:r>
              <a:rPr lang="zh-CN" altLang="en-US" dirty="0">
                <a:solidFill>
                  <a:schemeClr val="tx1"/>
                </a:solidFill>
              </a:rPr>
              <a:t>压缩</a:t>
            </a:r>
            <a:r>
              <a:rPr lang="en-US" altLang="zh-CN" dirty="0">
                <a:solidFill>
                  <a:schemeClr val="tx1"/>
                </a:solidFill>
              </a:rPr>
              <a:t>-&gt;</a:t>
            </a:r>
            <a:r>
              <a:rPr lang="zh-CN" altLang="en-US" dirty="0">
                <a:solidFill>
                  <a:schemeClr val="tx1"/>
                </a:solidFill>
              </a:rPr>
              <a:t>计算</a:t>
            </a:r>
            <a:r>
              <a:rPr lang="en-US" altLang="zh-CN" dirty="0">
                <a:solidFill>
                  <a:schemeClr val="tx1"/>
                </a:solidFill>
              </a:rPr>
              <a:t>MAC -&gt;</a:t>
            </a:r>
            <a:r>
              <a:rPr lang="zh-CN" altLang="en-US" dirty="0">
                <a:solidFill>
                  <a:schemeClr val="tx1"/>
                </a:solidFill>
              </a:rPr>
              <a:t>加密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b="1" dirty="0">
                <a:solidFill>
                  <a:schemeClr val="tx1"/>
                </a:solidFill>
              </a:rPr>
              <a:t>分块</a:t>
            </a:r>
            <a:r>
              <a:rPr lang="en-US" altLang="zh-CN" b="1" dirty="0">
                <a:solidFill>
                  <a:schemeClr val="tx1"/>
                </a:solidFill>
              </a:rPr>
              <a:t>-&gt;</a:t>
            </a:r>
            <a:r>
              <a:rPr lang="zh-CN" altLang="en-US" b="1" dirty="0">
                <a:solidFill>
                  <a:schemeClr val="tx1"/>
                </a:solidFill>
              </a:rPr>
              <a:t>计算</a:t>
            </a:r>
            <a:r>
              <a:rPr lang="en-US" altLang="zh-CN" b="1" dirty="0">
                <a:solidFill>
                  <a:schemeClr val="tx1"/>
                </a:solidFill>
              </a:rPr>
              <a:t>MAC/</a:t>
            </a:r>
            <a:r>
              <a:rPr lang="zh-CN" altLang="en-US" b="1" dirty="0">
                <a:solidFill>
                  <a:schemeClr val="tx1"/>
                </a:solidFill>
              </a:rPr>
              <a:t>加密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实际中，压缩都是不用的；现在的标准，推荐用</a:t>
            </a:r>
            <a:r>
              <a:rPr lang="en-US" altLang="zh-CN" dirty="0">
                <a:solidFill>
                  <a:schemeClr val="tx1"/>
                </a:solidFill>
              </a:rPr>
              <a:t>AEAD</a:t>
            </a:r>
            <a:r>
              <a:rPr lang="zh-CN" altLang="en-US" dirty="0">
                <a:solidFill>
                  <a:schemeClr val="tx1"/>
                </a:solidFill>
              </a:rPr>
              <a:t>、同时做</a:t>
            </a:r>
            <a:r>
              <a:rPr lang="en-US" altLang="zh-CN" dirty="0">
                <a:solidFill>
                  <a:schemeClr val="tx1"/>
                </a:solidFill>
              </a:rPr>
              <a:t>MAC</a:t>
            </a:r>
            <a:r>
              <a:rPr lang="zh-CN" altLang="en-US" dirty="0">
                <a:solidFill>
                  <a:schemeClr val="tx1"/>
                </a:solidFill>
              </a:rPr>
              <a:t>和加密</a:t>
            </a:r>
          </a:p>
          <a:p>
            <a:pPr eaLnBrk="1" hangingPunct="1"/>
            <a:r>
              <a:rPr lang="zh-CN" altLang="en-US" b="1" dirty="0">
                <a:solidFill>
                  <a:schemeClr val="tx1"/>
                </a:solidFill>
              </a:rPr>
              <a:t>我们先假定双方已经协商了各种算法和所需参数</a:t>
            </a:r>
            <a:r>
              <a:rPr lang="en-US" altLang="zh-CN" b="1" dirty="0">
                <a:solidFill>
                  <a:schemeClr val="tx1"/>
                </a:solidFill>
              </a:rPr>
              <a:t>【</a:t>
            </a:r>
            <a:r>
              <a:rPr lang="zh-CN" altLang="en-US" b="1" dirty="0">
                <a:solidFill>
                  <a:schemeClr val="tx1"/>
                </a:solidFill>
              </a:rPr>
              <a:t>空算法，也是一种算法</a:t>
            </a:r>
            <a:r>
              <a:rPr lang="en-US" altLang="zh-CN" b="1" dirty="0">
                <a:solidFill>
                  <a:schemeClr val="tx1"/>
                </a:solidFill>
              </a:rPr>
              <a:t>/</a:t>
            </a:r>
            <a:r>
              <a:rPr lang="zh-CN" altLang="en-US" b="1" dirty="0">
                <a:solidFill>
                  <a:schemeClr val="tx1"/>
                </a:solidFill>
              </a:rPr>
              <a:t>参数</a:t>
            </a:r>
            <a:r>
              <a:rPr lang="en-US" altLang="zh-CN" b="1" dirty="0">
                <a:solidFill>
                  <a:schemeClr val="tx1"/>
                </a:solidFill>
              </a:rPr>
              <a:t>】</a:t>
            </a:r>
            <a:endParaRPr lang="zh-CN" altLang="en-US" b="1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Handshake</a:t>
            </a:r>
            <a:r>
              <a:rPr lang="zh-CN" altLang="en-US" dirty="0">
                <a:solidFill>
                  <a:schemeClr val="tx1"/>
                </a:solidFill>
              </a:rPr>
              <a:t>过程，后面详细说明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779145" y="109220"/>
            <a:ext cx="10515600" cy="132556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eaLnBrk="1" hangingPunct="1"/>
            <a:r>
              <a:rPr lang="zh-CN" altLang="en-US" sz="3600">
                <a:sym typeface="+mn-ea"/>
              </a:rPr>
              <a:t>17.2 </a:t>
            </a:r>
            <a:r>
              <a:rPr lang="en-US" altLang="zh-CN" sz="3600" dirty="0">
                <a:latin typeface="+mn-lt"/>
              </a:rPr>
              <a:t>Record</a:t>
            </a:r>
            <a:r>
              <a:rPr lang="zh-CN" altLang="en-US" sz="3600" dirty="0">
                <a:latin typeface="+mn-lt"/>
              </a:rPr>
              <a:t>层的处理</a:t>
            </a:r>
            <a:r>
              <a:rPr lang="en-US" altLang="zh-CN" sz="3600" dirty="0">
                <a:latin typeface="+mn-lt"/>
              </a:rPr>
              <a:t>——</a:t>
            </a:r>
            <a:r>
              <a:rPr lang="zh-CN" altLang="en-US" sz="3600" dirty="0">
                <a:latin typeface="+mn-lt"/>
              </a:rPr>
              <a:t>接收上层数据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779145" y="156972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</a:rPr>
              <a:t>交给</a:t>
            </a:r>
            <a:r>
              <a:rPr lang="en-US" altLang="zh-CN" dirty="0">
                <a:solidFill>
                  <a:schemeClr val="tx1"/>
                </a:solidFill>
              </a:rPr>
              <a:t>Record</a:t>
            </a:r>
            <a:r>
              <a:rPr lang="zh-CN" altLang="en-US" dirty="0">
                <a:solidFill>
                  <a:schemeClr val="tx1"/>
                </a:solidFill>
              </a:rPr>
              <a:t>层的数据格式如下：</a:t>
            </a:r>
          </a:p>
          <a:p>
            <a:pPr lvl="1" eaLnBrk="1" hangingPunct="1">
              <a:defRPr/>
            </a:pPr>
            <a:r>
              <a:rPr lang="zh-CN" altLang="en-US" dirty="0">
                <a:solidFill>
                  <a:schemeClr val="tx1"/>
                </a:solidFill>
              </a:rPr>
              <a:t>可能有</a:t>
            </a:r>
            <a:r>
              <a:rPr lang="en-US" altLang="zh-CN" dirty="0">
                <a:solidFill>
                  <a:schemeClr val="tx1"/>
                </a:solidFill>
              </a:rPr>
              <a:t>4</a:t>
            </a:r>
            <a:r>
              <a:rPr lang="zh-CN" altLang="en-US" dirty="0">
                <a:solidFill>
                  <a:schemeClr val="tx1"/>
                </a:solidFill>
              </a:rPr>
              <a:t>种类型，</a:t>
            </a:r>
            <a:r>
              <a:rPr lang="en-US" altLang="zh-CN" dirty="0" err="1">
                <a:solidFill>
                  <a:schemeClr val="tx1"/>
                </a:solidFill>
              </a:rPr>
              <a:t>ContentType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defRPr/>
            </a:pP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>
              <a:defRPr/>
            </a:pPr>
            <a:r>
              <a:rPr lang="zh-CN" altLang="zh-CN" dirty="0">
                <a:solidFill>
                  <a:schemeClr val="tx1"/>
                </a:solidFill>
              </a:rPr>
              <a:t>enum { </a:t>
            </a:r>
            <a:endParaRPr lang="en-US" altLang="zh-CN" dirty="0">
              <a:solidFill>
                <a:schemeClr val="tx1"/>
              </a:solidFill>
            </a:endParaRPr>
          </a:p>
          <a:p>
            <a:pPr marL="471170" lvl="1" indent="0">
              <a:buNone/>
              <a:defRPr/>
            </a:pPr>
            <a:r>
              <a:rPr lang="zh-CN" altLang="zh-CN" dirty="0">
                <a:solidFill>
                  <a:schemeClr val="tx1"/>
                </a:solidFill>
              </a:rPr>
              <a:t>change_cipher_spec(20), alert(21), handshake(22),application_data(23), </a:t>
            </a:r>
          </a:p>
          <a:p>
            <a:pPr marL="471170" lvl="1" indent="0">
              <a:buNone/>
              <a:defRPr/>
            </a:pPr>
            <a:r>
              <a:rPr lang="zh-CN" altLang="zh-CN" dirty="0">
                <a:solidFill>
                  <a:schemeClr val="tx1"/>
                </a:solidFill>
              </a:rPr>
              <a:t>(255) </a:t>
            </a:r>
            <a:endParaRPr lang="en-US" altLang="zh-CN" dirty="0">
              <a:solidFill>
                <a:schemeClr val="tx1"/>
              </a:solidFill>
            </a:endParaRPr>
          </a:p>
          <a:p>
            <a:pPr marL="471170" lvl="1" indent="0">
              <a:buNone/>
              <a:defRPr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zh-CN" dirty="0">
                <a:solidFill>
                  <a:schemeClr val="tx1"/>
                </a:solidFill>
              </a:rPr>
              <a:t>} ContentType</a:t>
            </a:r>
            <a:r>
              <a:rPr lang="zh-CN" altLang="zh-CN" sz="700" dirty="0">
                <a:solidFill>
                  <a:schemeClr val="tx1"/>
                </a:solidFill>
              </a:rPr>
              <a:t> </a:t>
            </a:r>
            <a:endParaRPr lang="zh-CN" altLang="zh-CN" sz="4800" dirty="0">
              <a:solidFill>
                <a:schemeClr val="tx1"/>
              </a:solidFill>
            </a:endParaRPr>
          </a:p>
          <a:p>
            <a:pPr lvl="1" eaLnBrk="1" hangingPunct="1">
              <a:defRPr/>
            </a:pPr>
            <a:endParaRPr lang="zh-CN" altLang="zh-CN" sz="4800" dirty="0">
              <a:solidFill>
                <a:schemeClr val="tx1"/>
              </a:solidFill>
            </a:endParaRP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8200" y="125349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Record</a:t>
            </a:r>
            <a:r>
              <a:rPr lang="zh-CN" altLang="en-US" dirty="0">
                <a:solidFill>
                  <a:schemeClr val="tx1"/>
                </a:solidFill>
              </a:rPr>
              <a:t>层根据自己的实现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对上层数据进行任意拆包、分包</a:t>
            </a: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形成</a:t>
            </a:r>
            <a:r>
              <a:rPr lang="en-US" altLang="zh-CN" dirty="0" err="1">
                <a:solidFill>
                  <a:schemeClr val="tx1"/>
                </a:solidFill>
              </a:rPr>
              <a:t>TLSPlaintext</a:t>
            </a:r>
            <a:r>
              <a:rPr lang="zh-CN" altLang="en-US" dirty="0">
                <a:solidFill>
                  <a:schemeClr val="tx1"/>
                </a:solidFill>
              </a:rPr>
              <a:t>结构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数据长度不超过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14</a:t>
            </a:r>
            <a:r>
              <a:rPr lang="zh-CN" altLang="en-US" dirty="0">
                <a:solidFill>
                  <a:schemeClr val="tx1"/>
                </a:solidFill>
              </a:rPr>
              <a:t>字节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类型为</a:t>
            </a:r>
            <a:r>
              <a:rPr lang="zh-CN" altLang="zh-CN" sz="2400" dirty="0">
                <a:solidFill>
                  <a:schemeClr val="tx1"/>
                </a:solidFill>
              </a:rPr>
              <a:t>change_cipher_spec</a:t>
            </a:r>
            <a:r>
              <a:rPr lang="zh-CN" altLang="en-US" sz="2400" dirty="0">
                <a:solidFill>
                  <a:schemeClr val="tx1"/>
                </a:solidFill>
              </a:rPr>
              <a:t>，</a:t>
            </a:r>
            <a:r>
              <a:rPr lang="zh-CN" altLang="zh-CN" sz="2400" dirty="0">
                <a:solidFill>
                  <a:schemeClr val="tx1"/>
                </a:solidFill>
              </a:rPr>
              <a:t>alert, handshake</a:t>
            </a:r>
            <a:r>
              <a:rPr lang="zh-CN" altLang="en-US" sz="2400" dirty="0">
                <a:solidFill>
                  <a:schemeClr val="tx1"/>
                </a:solidFill>
              </a:rPr>
              <a:t>时，数据长度不能为</a:t>
            </a:r>
            <a:r>
              <a:rPr lang="en-US" altLang="zh-CN" sz="2400" dirty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包括序号和长度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“有保护”的完整性</a:t>
            </a:r>
            <a:endParaRPr lang="en-US" altLang="zh-CN" dirty="0">
              <a:solidFill>
                <a:schemeClr val="tx1"/>
              </a:solidFill>
            </a:endParaRPr>
          </a:p>
          <a:p>
            <a:pPr lvl="3"/>
            <a:r>
              <a:rPr lang="zh-CN" altLang="en-US" dirty="0">
                <a:solidFill>
                  <a:schemeClr val="tx1"/>
                </a:solidFill>
              </a:rPr>
              <a:t>顺序、不被篡改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TCP</a:t>
            </a:r>
            <a:r>
              <a:rPr lang="zh-CN" altLang="en-US" dirty="0">
                <a:solidFill>
                  <a:schemeClr val="tx1"/>
                </a:solidFill>
              </a:rPr>
              <a:t>层本身可提供可靠的顺序传输</a:t>
            </a:r>
            <a:endParaRPr lang="en-US" altLang="zh-CN" dirty="0">
              <a:solidFill>
                <a:schemeClr val="tx1"/>
              </a:solidFill>
            </a:endParaRPr>
          </a:p>
          <a:p>
            <a:pPr lvl="3"/>
            <a:r>
              <a:rPr lang="zh-CN" altLang="en-US" dirty="0">
                <a:solidFill>
                  <a:schemeClr val="tx1"/>
                </a:solidFill>
              </a:rPr>
              <a:t>但是，不能抵抗恶意中间人的插入、删改，攻击劫持等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B234486-42F2-43D6-9FFA-ABC9372E53D2}" type="slidenum">
              <a:rPr lang="zh-CN" altLang="en-US" smtClean="0">
                <a:solidFill>
                  <a:schemeClr val="tx1"/>
                </a:solidFill>
              </a:rPr>
              <a:t>24</a:t>
            </a:fld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Record层的处理—Fragmentation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path 8"/>
          <p:cNvSpPr/>
          <p:nvPr>
            <p:custDataLst>
              <p:tags r:id="rId5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10422" y="1354887"/>
            <a:ext cx="3960440" cy="402336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Record</a:t>
            </a:r>
            <a:r>
              <a:rPr lang="zh-CN" altLang="en-US" dirty="0">
                <a:solidFill>
                  <a:schemeClr val="tx1"/>
                </a:solidFill>
              </a:rPr>
              <a:t>层根据自己的实现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对上层数据进行任意拆包、分包</a:t>
            </a: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形成</a:t>
            </a:r>
            <a:r>
              <a:rPr lang="en-US" altLang="zh-CN" dirty="0" err="1">
                <a:solidFill>
                  <a:schemeClr val="tx1"/>
                </a:solidFill>
              </a:rPr>
              <a:t>TLSPlaintext</a:t>
            </a:r>
            <a:r>
              <a:rPr lang="zh-CN" altLang="en-US" dirty="0">
                <a:solidFill>
                  <a:schemeClr val="tx1"/>
                </a:solidFill>
              </a:rPr>
              <a:t>结构</a:t>
            </a:r>
            <a:endParaRPr lang="en-US" altLang="zh-CN" dirty="0">
              <a:solidFill>
                <a:schemeClr val="tx1"/>
              </a:solidFill>
            </a:endParaRPr>
          </a:p>
          <a:p>
            <a:pPr lvl="2">
              <a:lnSpc>
                <a:spcPct val="110000"/>
              </a:lnSpc>
            </a:pPr>
            <a:r>
              <a:rPr lang="en-US" altLang="zh-CN" dirty="0">
                <a:solidFill>
                  <a:schemeClr val="tx1"/>
                </a:solidFill>
              </a:rPr>
              <a:t>length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en-US" altLang="zh-CN" dirty="0">
                <a:solidFill>
                  <a:schemeClr val="tx1"/>
                </a:solidFill>
              </a:rPr>
              <a:t>fragment</a:t>
            </a:r>
            <a:r>
              <a:rPr lang="zh-CN" altLang="en-US" dirty="0">
                <a:solidFill>
                  <a:schemeClr val="tx1"/>
                </a:solidFill>
              </a:rPr>
              <a:t>中的数据长度</a:t>
            </a:r>
            <a:endParaRPr lang="en-US" altLang="zh-CN" dirty="0">
              <a:solidFill>
                <a:schemeClr val="tx1"/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数据长度不超过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14</a:t>
            </a:r>
            <a:r>
              <a:rPr lang="zh-CN" altLang="en-US" dirty="0">
                <a:solidFill>
                  <a:schemeClr val="tx1"/>
                </a:solidFill>
              </a:rPr>
              <a:t>字节</a:t>
            </a:r>
            <a:endParaRPr lang="en-US" altLang="zh-CN" dirty="0">
              <a:solidFill>
                <a:schemeClr val="tx1"/>
              </a:solidFill>
            </a:endParaRPr>
          </a:p>
          <a:p>
            <a:pPr lvl="3">
              <a:lnSpc>
                <a:spcPct val="11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类型</a:t>
            </a:r>
            <a:r>
              <a:rPr lang="zh-CN" altLang="zh-CN" dirty="0">
                <a:solidFill>
                  <a:schemeClr val="tx1"/>
                </a:solidFill>
              </a:rPr>
              <a:t>change_cipher_spec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zh-CN" altLang="zh-CN" dirty="0">
                <a:solidFill>
                  <a:schemeClr val="tx1"/>
                </a:solidFill>
              </a:rPr>
              <a:t>alert, handshake</a:t>
            </a:r>
            <a:r>
              <a:rPr lang="zh-CN" altLang="en-US" dirty="0">
                <a:solidFill>
                  <a:schemeClr val="tx1"/>
                </a:solidFill>
              </a:rPr>
              <a:t>时，数据长度不能为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B234486-42F2-43D6-9FFA-ABC9372E53D2}" type="slidenum">
              <a:rPr lang="zh-CN" altLang="en-US" smtClean="0">
                <a:solidFill>
                  <a:schemeClr val="tx1"/>
                </a:solidFill>
              </a:rPr>
              <a:t>25</a:t>
            </a:fld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内容占位符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072" y="1281228"/>
            <a:ext cx="5004048" cy="4041203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标题 9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Record层的处理—Fragmentation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path 8"/>
          <p:cNvSpPr/>
          <p:nvPr>
            <p:custDataLst>
              <p:tags r:id="rId6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513647" y="1238047"/>
            <a:ext cx="3960440" cy="40233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Record</a:t>
            </a:r>
            <a:r>
              <a:rPr lang="zh-CN" altLang="en-US" dirty="0">
                <a:solidFill>
                  <a:schemeClr val="tx1"/>
                </a:solidFill>
              </a:rPr>
              <a:t>层根据自己的实现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包括序号和长度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zh-CN" altLang="en-US" dirty="0">
                <a:solidFill>
                  <a:schemeClr val="tx1"/>
                </a:solidFill>
              </a:rPr>
              <a:t>“有保护”的完整性</a:t>
            </a:r>
            <a:endParaRPr lang="en-US" altLang="zh-CN" dirty="0">
              <a:solidFill>
                <a:schemeClr val="tx1"/>
              </a:solidFill>
            </a:endParaRPr>
          </a:p>
          <a:p>
            <a:pPr lvl="3"/>
            <a:r>
              <a:rPr lang="zh-CN" altLang="en-US" dirty="0">
                <a:solidFill>
                  <a:schemeClr val="tx1"/>
                </a:solidFill>
              </a:rPr>
              <a:t>顺序、不被篡改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TCP</a:t>
            </a:r>
            <a:r>
              <a:rPr lang="zh-CN" altLang="en-US" dirty="0">
                <a:solidFill>
                  <a:schemeClr val="tx1"/>
                </a:solidFill>
              </a:rPr>
              <a:t>层本身可提供可靠的顺序传输</a:t>
            </a:r>
            <a:endParaRPr lang="en-US" altLang="zh-CN" dirty="0">
              <a:solidFill>
                <a:schemeClr val="tx1"/>
              </a:solidFill>
            </a:endParaRPr>
          </a:p>
          <a:p>
            <a:pPr lvl="3"/>
            <a:r>
              <a:rPr lang="zh-CN" altLang="en-US" dirty="0">
                <a:solidFill>
                  <a:schemeClr val="tx1"/>
                </a:solidFill>
              </a:rPr>
              <a:t>但是，不能抵抗恶意中间人的插入、删改，攻击劫持等</a:t>
            </a:r>
          </a:p>
        </p:txBody>
      </p:sp>
      <p:sp>
        <p:nvSpPr>
          <p:cNvPr id="6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B234486-42F2-43D6-9FFA-ABC9372E53D2}" type="slidenum">
              <a:rPr lang="zh-CN" altLang="en-US" smtClean="0">
                <a:solidFill>
                  <a:schemeClr val="tx1"/>
                </a:solidFill>
              </a:rPr>
              <a:t>26</a:t>
            </a:fld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内容占位符 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8402" y="1238048"/>
            <a:ext cx="5004048" cy="4041203"/>
          </a:xfrm>
          <a:prstGeom prst="rect">
            <a:avLst/>
          </a:prstGeom>
          <a:ln w="3175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标题 9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Record层的处理—Fragmentation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path 8"/>
          <p:cNvSpPr/>
          <p:nvPr>
            <p:custDataLst>
              <p:tags r:id="rId6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980440" y="125349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根据约定的算法，对上层进行压缩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对</a:t>
            </a:r>
            <a:r>
              <a:rPr lang="en-US" altLang="zh-CN" dirty="0" err="1">
                <a:solidFill>
                  <a:schemeClr val="tx1"/>
                </a:solidFill>
              </a:rPr>
              <a:t>TLSPlaintext.fragment</a:t>
            </a:r>
            <a:r>
              <a:rPr lang="zh-CN" altLang="en-US" dirty="0">
                <a:solidFill>
                  <a:schemeClr val="tx1"/>
                </a:solidFill>
              </a:rPr>
              <a:t>部分进行处理，得到</a:t>
            </a:r>
            <a:r>
              <a:rPr lang="en-US" altLang="zh-CN" dirty="0" err="1">
                <a:solidFill>
                  <a:schemeClr val="tx1"/>
                </a:solidFill>
              </a:rPr>
              <a:t>TLSCompressed.fragment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zh-CN" dirty="0" err="1">
                <a:solidFill>
                  <a:schemeClr val="tx1"/>
                </a:solidFill>
              </a:rPr>
              <a:t>TLSCompressed.fragment</a:t>
            </a:r>
            <a:r>
              <a:rPr lang="zh-CN" altLang="en-US" dirty="0">
                <a:solidFill>
                  <a:schemeClr val="tx1"/>
                </a:solidFill>
              </a:rPr>
              <a:t>长度不超过（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14</a:t>
            </a:r>
            <a:r>
              <a:rPr lang="en-US" altLang="zh-CN" dirty="0">
                <a:solidFill>
                  <a:schemeClr val="tx1"/>
                </a:solidFill>
              </a:rPr>
              <a:t> +1024</a:t>
            </a:r>
            <a:r>
              <a:rPr lang="zh-CN" altLang="en-US" dirty="0">
                <a:solidFill>
                  <a:schemeClr val="tx1"/>
                </a:solidFill>
              </a:rPr>
              <a:t>）字节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未指定算法时（如协议初始化阶段），算法为</a:t>
            </a:r>
            <a:r>
              <a:rPr lang="en-US" altLang="zh-CN" dirty="0">
                <a:solidFill>
                  <a:schemeClr val="tx1"/>
                </a:solidFill>
              </a:rPr>
              <a:t>NULL</a:t>
            </a:r>
            <a:r>
              <a:rPr lang="zh-CN" altLang="en-US" dirty="0">
                <a:solidFill>
                  <a:schemeClr val="tx1"/>
                </a:solidFill>
              </a:rPr>
              <a:t>，不进行实际的压缩操作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/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/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063553" y="3828648"/>
            <a:ext cx="8391525" cy="14859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Record层的处理—Compression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path 8"/>
          <p:cNvSpPr/>
          <p:nvPr>
            <p:custDataLst>
              <p:tags r:id="rId5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42645" y="1252855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使用约定的算法和密钥进行</a:t>
            </a:r>
            <a:r>
              <a:rPr lang="en-US" altLang="zh-CN" b="1" dirty="0">
                <a:solidFill>
                  <a:schemeClr val="tx1"/>
                </a:solidFill>
              </a:rPr>
              <a:t>MAC</a:t>
            </a:r>
            <a:r>
              <a:rPr lang="zh-CN" altLang="en-US" b="1" dirty="0">
                <a:solidFill>
                  <a:schemeClr val="tx1"/>
                </a:solidFill>
              </a:rPr>
              <a:t>计算、加密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r>
              <a:rPr lang="en-US" altLang="zh-CN" dirty="0" err="1">
                <a:solidFill>
                  <a:schemeClr val="tx1"/>
                </a:solidFill>
              </a:rPr>
              <a:t>TLSCompressed</a:t>
            </a:r>
            <a:r>
              <a:rPr lang="zh-CN" altLang="en-US" dirty="0">
                <a:solidFill>
                  <a:schemeClr val="tx1"/>
                </a:solidFill>
              </a:rPr>
              <a:t>转换为</a:t>
            </a:r>
            <a:r>
              <a:rPr lang="en-US" altLang="zh-CN" dirty="0" err="1">
                <a:solidFill>
                  <a:schemeClr val="tx1"/>
                </a:solidFill>
              </a:rPr>
              <a:t>TLSCiphertext</a:t>
            </a:r>
            <a:r>
              <a:rPr lang="zh-CN" altLang="en-US" dirty="0">
                <a:solidFill>
                  <a:schemeClr val="tx1"/>
                </a:solidFill>
              </a:rPr>
              <a:t>结构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 err="1">
                <a:solidFill>
                  <a:schemeClr val="tx1"/>
                </a:solidFill>
              </a:rPr>
              <a:t>TLSCiphertext.fragment</a:t>
            </a:r>
            <a:r>
              <a:rPr lang="zh-CN" altLang="en-US" dirty="0">
                <a:solidFill>
                  <a:schemeClr val="tx1"/>
                </a:solidFill>
              </a:rPr>
              <a:t>长度不超过（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baseline="30000" dirty="0">
                <a:solidFill>
                  <a:schemeClr val="tx1"/>
                </a:solidFill>
              </a:rPr>
              <a:t>14</a:t>
            </a:r>
            <a:r>
              <a:rPr lang="en-US" altLang="zh-CN" dirty="0">
                <a:solidFill>
                  <a:schemeClr val="tx1"/>
                </a:solidFill>
              </a:rPr>
              <a:t> +2048</a:t>
            </a:r>
            <a:r>
              <a:rPr lang="zh-CN" altLang="en-US" dirty="0">
                <a:solidFill>
                  <a:schemeClr val="tx1"/>
                </a:solidFill>
              </a:rPr>
              <a:t>）字节</a:t>
            </a: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B234486-42F2-43D6-9FFA-ABC9372E53D2}" type="slidenum">
              <a:rPr lang="zh-CN" altLang="en-US" smtClean="0">
                <a:solidFill>
                  <a:schemeClr val="tx1"/>
                </a:solidFill>
              </a:rPr>
              <a:t>28</a:t>
            </a:fld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894313" y="2735965"/>
            <a:ext cx="6840760" cy="2717562"/>
          </a:xfrm>
          <a:prstGeom prst="rect">
            <a:avLst/>
          </a:prstGeom>
        </p:spPr>
      </p:pic>
      <p:sp>
        <p:nvSpPr>
          <p:cNvPr id="10" name="标题 9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Record层的处理—Payload Protection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path 8"/>
          <p:cNvSpPr/>
          <p:nvPr>
            <p:custDataLst>
              <p:tags r:id="rId6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38200" y="122682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zh-CN" altLang="en-US" dirty="0">
                <a:solidFill>
                  <a:schemeClr val="tx1"/>
                </a:solidFill>
              </a:rPr>
              <a:t>流密码</a:t>
            </a:r>
          </a:p>
          <a:p>
            <a:pPr lvl="1">
              <a:spcAft>
                <a:spcPts val="200"/>
              </a:spcAft>
            </a:pPr>
            <a:r>
              <a:rPr lang="zh-CN" altLang="en-US" dirty="0">
                <a:solidFill>
                  <a:schemeClr val="tx1"/>
                </a:solidFill>
              </a:rPr>
              <a:t>双方使用相同的密钥和算法，不断地产生逐字节的密钥流，与明文</a:t>
            </a:r>
            <a:r>
              <a:rPr lang="en-US" altLang="zh-CN" dirty="0">
                <a:solidFill>
                  <a:schemeClr val="tx1"/>
                </a:solidFill>
              </a:rPr>
              <a:t>XOR</a:t>
            </a:r>
          </a:p>
          <a:p>
            <a:pPr>
              <a:spcBef>
                <a:spcPts val="200"/>
              </a:spcBef>
            </a:pPr>
            <a:r>
              <a:rPr lang="zh-CN" altLang="en-US" dirty="0">
                <a:solidFill>
                  <a:schemeClr val="tx1"/>
                </a:solidFill>
              </a:rPr>
              <a:t>对</a:t>
            </a:r>
            <a:r>
              <a:rPr lang="en-US" altLang="zh-CN" dirty="0">
                <a:solidFill>
                  <a:schemeClr val="tx1"/>
                </a:solidFill>
              </a:rPr>
              <a:t>content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MAC</a:t>
            </a:r>
            <a:r>
              <a:rPr lang="zh-CN" altLang="en-US" dirty="0">
                <a:solidFill>
                  <a:schemeClr val="tx1"/>
                </a:solidFill>
              </a:rPr>
              <a:t>都加密</a:t>
            </a:r>
          </a:p>
          <a:p>
            <a:pPr>
              <a:spcBef>
                <a:spcPts val="200"/>
              </a:spcBef>
            </a:pPr>
            <a:r>
              <a:rPr lang="zh-CN" altLang="en-US" dirty="0">
                <a:solidFill>
                  <a:schemeClr val="tx1"/>
                </a:solidFill>
              </a:rPr>
              <a:t>需要双方共享的密码信息</a:t>
            </a:r>
          </a:p>
          <a:p>
            <a:pPr lvl="1">
              <a:spcAft>
                <a:spcPts val="200"/>
              </a:spcAft>
            </a:pPr>
            <a:r>
              <a:rPr lang="en-US" altLang="zh-CN" dirty="0">
                <a:solidFill>
                  <a:schemeClr val="tx1"/>
                </a:solidFill>
              </a:rPr>
              <a:t>MAC secret</a:t>
            </a:r>
            <a:r>
              <a:rPr lang="zh-CN" altLang="en-US" dirty="0">
                <a:solidFill>
                  <a:schemeClr val="tx1"/>
                </a:solidFill>
              </a:rPr>
              <a:t>，对称算法</a:t>
            </a:r>
            <a:r>
              <a:rPr lang="en-US" altLang="zh-CN" dirty="0">
                <a:solidFill>
                  <a:schemeClr val="tx1"/>
                </a:solidFill>
              </a:rPr>
              <a:t>Key</a:t>
            </a:r>
          </a:p>
        </p:txBody>
      </p:sp>
      <p:grpSp>
        <p:nvGrpSpPr>
          <p:cNvPr id="25604" name="组合 4"/>
          <p:cNvGrpSpPr/>
          <p:nvPr/>
        </p:nvGrpSpPr>
        <p:grpSpPr bwMode="auto">
          <a:xfrm>
            <a:off x="2768010" y="3570749"/>
            <a:ext cx="6496050" cy="2201863"/>
            <a:chOff x="1351914" y="4521655"/>
            <a:chExt cx="6497281" cy="2404080"/>
          </a:xfrm>
        </p:grpSpPr>
        <p:pic>
          <p:nvPicPr>
            <p:cNvPr id="25607" name="图片 2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1914" y="4521655"/>
              <a:ext cx="6497281" cy="1055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608" name="图片 3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1914" y="5577415"/>
              <a:ext cx="6497281" cy="1348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5444416" y="4537441"/>
            <a:ext cx="1143000" cy="3048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标注 6"/>
          <p:cNvSpPr/>
          <p:nvPr>
            <p:custDataLst>
              <p:tags r:id="rId4"/>
            </p:custDataLst>
          </p:nvPr>
        </p:nvSpPr>
        <p:spPr>
          <a:xfrm>
            <a:off x="9399905" y="4147186"/>
            <a:ext cx="1447800" cy="1146175"/>
          </a:xfrm>
          <a:prstGeom prst="wedgeRectCallout">
            <a:avLst>
              <a:gd name="adj1" fmla="val -218202"/>
              <a:gd name="adj2" fmla="val 1316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altLang="zh-CN" sz="1600" dirty="0">
                <a:solidFill>
                  <a:schemeClr val="tx1"/>
                </a:solidFill>
              </a:rPr>
              <a:t>MAC</a:t>
            </a:r>
            <a:r>
              <a:rPr lang="zh-CN" altLang="en-US" sz="1600" dirty="0">
                <a:solidFill>
                  <a:schemeClr val="tx1"/>
                </a:solidFill>
              </a:rPr>
              <a:t>带序列号，消息丢失、重放或多余都可以被发现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MAC计算/加密——流密码/空算法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path 8"/>
          <p:cNvSpPr/>
          <p:nvPr>
            <p:custDataLst>
              <p:tags r:id="rId6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>
            <p:custDataLst>
              <p:tags r:id="rId7"/>
            </p:custDataLst>
          </p:nvPr>
        </p:nvSpPr>
        <p:spPr>
          <a:xfrm>
            <a:off x="5768975" y="5003165"/>
            <a:ext cx="3133725" cy="30480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  <p:bldP spid="7" grpId="0" bldLvl="0" animBg="1"/>
      <p:bldP spid="11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320136" y="1916833"/>
            <a:ext cx="3491880" cy="1626299"/>
          </a:xfrm>
          <a:prstGeom prst="rect">
            <a:avLst/>
          </a:prstGeom>
        </p:spPr>
      </p:pic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980440" y="1395095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分组密码，</a:t>
            </a:r>
            <a:r>
              <a:rPr lang="en-US" altLang="zh-CN" dirty="0">
                <a:solidFill>
                  <a:schemeClr val="tx1"/>
                </a:solidFill>
              </a:rPr>
              <a:t>CBC</a:t>
            </a:r>
            <a:r>
              <a:rPr lang="zh-CN" altLang="en-US" dirty="0">
                <a:solidFill>
                  <a:schemeClr val="tx1"/>
                </a:solidFill>
              </a:rPr>
              <a:t>加密模式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填充</a:t>
            </a:r>
            <a:r>
              <a:rPr lang="en-US" altLang="zh-CN" dirty="0">
                <a:solidFill>
                  <a:schemeClr val="tx1"/>
                </a:solidFill>
              </a:rPr>
              <a:t>Padding:</a:t>
            </a:r>
            <a:r>
              <a:rPr lang="zh-CN" altLang="en-US" dirty="0">
                <a:solidFill>
                  <a:schemeClr val="tx1"/>
                </a:solidFill>
              </a:rPr>
              <a:t>长度必须是分组的倍数</a:t>
            </a:r>
          </a:p>
          <a:p>
            <a:pPr lvl="2" eaLnBrk="1" hangingPunct="1"/>
            <a:r>
              <a:rPr lang="en-US" altLang="zh-CN" dirty="0" err="1">
                <a:solidFill>
                  <a:schemeClr val="tx1"/>
                </a:solidFill>
              </a:rPr>
              <a:t>padding_length</a:t>
            </a:r>
            <a:r>
              <a:rPr lang="zh-CN" altLang="en-US" dirty="0">
                <a:solidFill>
                  <a:schemeClr val="tx1"/>
                </a:solidFill>
              </a:rPr>
              <a:t>为</a:t>
            </a:r>
            <a:r>
              <a:rPr lang="en-US" altLang="zh-CN" dirty="0">
                <a:solidFill>
                  <a:schemeClr val="tx1"/>
                </a:solidFill>
              </a:rPr>
              <a:t>0-255</a:t>
            </a:r>
            <a:r>
              <a:rPr lang="zh-CN" altLang="en-US" dirty="0">
                <a:solidFill>
                  <a:schemeClr val="tx1"/>
                </a:solidFill>
              </a:rPr>
              <a:t>字节</a:t>
            </a:r>
            <a:endParaRPr lang="en-US" altLang="zh-CN" dirty="0">
              <a:solidFill>
                <a:schemeClr val="tx1"/>
              </a:solidFill>
            </a:endParaRP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填充的每个字节都是</a:t>
            </a:r>
            <a:r>
              <a:rPr lang="en-US" altLang="zh-CN" dirty="0" err="1">
                <a:solidFill>
                  <a:schemeClr val="tx1"/>
                </a:solidFill>
              </a:rPr>
              <a:t>padding_length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需要双方共享的密码信息</a:t>
            </a: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MAC secret</a:t>
            </a:r>
            <a:r>
              <a:rPr lang="zh-CN" altLang="en-US" dirty="0">
                <a:solidFill>
                  <a:schemeClr val="tx1"/>
                </a:solidFill>
              </a:rPr>
              <a:t>，对称算法</a:t>
            </a:r>
            <a:r>
              <a:rPr lang="en-US" altLang="zh-CN" dirty="0">
                <a:solidFill>
                  <a:schemeClr val="tx1"/>
                </a:solidFill>
              </a:rPr>
              <a:t>Key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IV </a:t>
            </a:r>
            <a:r>
              <a:rPr lang="zh-CN" altLang="en-US" dirty="0">
                <a:solidFill>
                  <a:schemeClr val="tx1"/>
                </a:solidFill>
              </a:rPr>
              <a:t>（初始向量）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117" y="4251253"/>
            <a:ext cx="8500501" cy="17281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6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MAC计算/加密——分组密码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path 8"/>
          <p:cNvSpPr/>
          <p:nvPr>
            <p:custDataLst>
              <p:tags r:id="rId6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38200" y="1252855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AEAD</a:t>
            </a: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Authenticated Encryption with Associated Data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同时做加密和校验值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不需要对数据扫描访问</a:t>
            </a:r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遍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GCM or CCM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B234486-42F2-43D6-9FFA-ABC9372E53D2}" type="slidenum">
              <a:rPr lang="zh-CN" altLang="en-US" smtClean="0">
                <a:solidFill>
                  <a:schemeClr val="tx1"/>
                </a:solidFill>
              </a:rPr>
              <a:t>31</a:t>
            </a:fld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740354" name="Picture 2" descr="GCM encryption operation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0017" y="2096910"/>
            <a:ext cx="4225879" cy="4259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标题 8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MAC计算/加密——认证加密模式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2" name="path 8"/>
          <p:cNvSpPr/>
          <p:nvPr>
            <p:custDataLst>
              <p:tags r:id="rId6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77875" y="129857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TLS Record Layer</a:t>
            </a:r>
            <a:r>
              <a:rPr lang="zh-CN" altLang="en-US" dirty="0">
                <a:solidFill>
                  <a:schemeClr val="tx1"/>
                </a:solidFill>
              </a:rPr>
              <a:t>的运行环境，定义了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压缩算法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加密算法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MAC</a:t>
            </a:r>
            <a:r>
              <a:rPr lang="zh-CN" altLang="en-US" dirty="0">
                <a:solidFill>
                  <a:schemeClr val="tx1"/>
                </a:solidFill>
              </a:rPr>
              <a:t>算法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各种算法的参数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sz="1800" dirty="0">
                <a:solidFill>
                  <a:schemeClr val="tx1"/>
                </a:solidFill>
              </a:rPr>
              <a:t>MAC Secret</a:t>
            </a: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对称密钥，</a:t>
            </a:r>
            <a:r>
              <a:rPr lang="en-US" altLang="zh-CN" sz="1800" dirty="0">
                <a:solidFill>
                  <a:schemeClr val="tx1"/>
                </a:solidFill>
              </a:rPr>
              <a:t>IV</a:t>
            </a:r>
          </a:p>
          <a:p>
            <a:pPr lvl="1"/>
            <a:r>
              <a:rPr lang="zh-CN" altLang="en-US" sz="2200" dirty="0">
                <a:solidFill>
                  <a:schemeClr val="tx1"/>
                </a:solidFill>
              </a:rPr>
              <a:t>以及当前的状态</a:t>
            </a:r>
          </a:p>
          <a:p>
            <a:pPr lvl="2"/>
            <a:r>
              <a:rPr lang="zh-CN" altLang="en-US" sz="2100" dirty="0">
                <a:solidFill>
                  <a:schemeClr val="tx1"/>
                </a:solidFill>
              </a:rPr>
              <a:t>例如，</a:t>
            </a:r>
            <a:r>
              <a:rPr lang="en-US" altLang="zh-CN" sz="2100" dirty="0">
                <a:solidFill>
                  <a:schemeClr val="tx1"/>
                </a:solidFill>
              </a:rPr>
              <a:t>CBC</a:t>
            </a:r>
            <a:r>
              <a:rPr lang="zh-CN" altLang="en-US" sz="2100" dirty="0">
                <a:solidFill>
                  <a:schemeClr val="tx1"/>
                </a:solidFill>
              </a:rPr>
              <a:t>模式是不断持续进行的，</a:t>
            </a:r>
            <a:r>
              <a:rPr lang="en-US" altLang="zh-CN" sz="2100" dirty="0" err="1">
                <a:solidFill>
                  <a:schemeClr val="tx1"/>
                </a:solidFill>
              </a:rPr>
              <a:t>read_seq_num</a:t>
            </a:r>
            <a:r>
              <a:rPr lang="en-US" altLang="zh-CN" sz="2100" dirty="0">
                <a:solidFill>
                  <a:schemeClr val="tx1"/>
                </a:solidFill>
              </a:rPr>
              <a:t>/</a:t>
            </a:r>
            <a:r>
              <a:rPr lang="en-US" altLang="zh-CN" sz="2100" dirty="0" err="1">
                <a:solidFill>
                  <a:schemeClr val="tx1"/>
                </a:solidFill>
              </a:rPr>
              <a:t>write_seq_num</a:t>
            </a:r>
            <a:endParaRPr lang="zh-CN" altLang="en-US" sz="2100" dirty="0">
              <a:solidFill>
                <a:schemeClr val="tx1"/>
              </a:solidFill>
            </a:endParaRPr>
          </a:p>
          <a:p>
            <a:pPr lvl="2"/>
            <a:r>
              <a:rPr lang="zh-CN" altLang="en-US" sz="2100" dirty="0">
                <a:solidFill>
                  <a:schemeClr val="tx1"/>
                </a:solidFill>
              </a:rPr>
              <a:t>流密码的当前状态</a:t>
            </a: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  <a:p>
            <a:pPr lvl="1"/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5" name="灯片编号占位符 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B234486-42F2-43D6-9FFA-ABC9372E53D2}" type="slidenum">
              <a:rPr lang="zh-CN" altLang="en-US" smtClean="0">
                <a:solidFill>
                  <a:schemeClr val="tx1"/>
                </a:solidFill>
              </a:rPr>
              <a:t>32</a:t>
            </a:fld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Record层—Connection State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path 8"/>
          <p:cNvSpPr/>
          <p:nvPr>
            <p:custDataLst>
              <p:tags r:id="rId5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Record层—Connection State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600" dirty="0">
                <a:solidFill>
                  <a:schemeClr val="tx1"/>
                </a:solidFill>
              </a:rPr>
              <a:t>四种</a:t>
            </a:r>
            <a:r>
              <a:rPr lang="en-US" altLang="zh-CN" sz="2400" dirty="0">
                <a:solidFill>
                  <a:schemeClr val="tx1"/>
                </a:solidFill>
              </a:rPr>
              <a:t>Connection States</a:t>
            </a: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Current read State &amp; Current write State</a:t>
            </a:r>
          </a:p>
          <a:p>
            <a:pPr lvl="2"/>
            <a:r>
              <a:rPr lang="en-US" altLang="zh-CN" sz="1800" dirty="0">
                <a:solidFill>
                  <a:schemeClr val="tx1"/>
                </a:solidFill>
              </a:rPr>
              <a:t>Record</a:t>
            </a:r>
            <a:r>
              <a:rPr lang="zh-CN" altLang="en-US" sz="1800" dirty="0">
                <a:solidFill>
                  <a:schemeClr val="tx1"/>
                </a:solidFill>
              </a:rPr>
              <a:t>当前处理数据所依据的</a:t>
            </a:r>
            <a:r>
              <a:rPr lang="en-US" altLang="zh-CN" sz="1800" dirty="0">
                <a:solidFill>
                  <a:schemeClr val="tx1"/>
                </a:solidFill>
              </a:rPr>
              <a:t>Connection State</a:t>
            </a:r>
          </a:p>
          <a:p>
            <a:pPr lvl="2"/>
            <a:r>
              <a:rPr lang="zh-CN" altLang="en-US" sz="1800" dirty="0">
                <a:solidFill>
                  <a:schemeClr val="tx1"/>
                </a:solidFill>
              </a:rPr>
              <a:t>所有</a:t>
            </a:r>
            <a:r>
              <a:rPr lang="en-US" altLang="zh-CN" sz="1800" dirty="0">
                <a:solidFill>
                  <a:schemeClr val="tx1"/>
                </a:solidFill>
              </a:rPr>
              <a:t>Record</a:t>
            </a:r>
            <a:r>
              <a:rPr lang="zh-CN" altLang="en-US" sz="1800" dirty="0">
                <a:solidFill>
                  <a:schemeClr val="tx1"/>
                </a:solidFill>
              </a:rPr>
              <a:t>的处理都是在</a:t>
            </a:r>
            <a:r>
              <a:rPr lang="en-US" altLang="zh-CN" sz="1800" dirty="0">
                <a:solidFill>
                  <a:schemeClr val="tx1"/>
                </a:solidFill>
              </a:rPr>
              <a:t>Current State</a:t>
            </a:r>
            <a:r>
              <a:rPr lang="zh-CN" altLang="en-US" sz="1800" dirty="0">
                <a:solidFill>
                  <a:schemeClr val="tx1"/>
                </a:solidFill>
              </a:rPr>
              <a:t>下完成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lvl="1"/>
            <a:r>
              <a:rPr lang="en-US" altLang="zh-CN" sz="2200" dirty="0">
                <a:solidFill>
                  <a:schemeClr val="tx1"/>
                </a:solidFill>
              </a:rPr>
              <a:t>Pending read State &amp; Pending write State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Handshake</a:t>
            </a:r>
            <a:r>
              <a:rPr lang="zh-CN" altLang="en-US" dirty="0">
                <a:solidFill>
                  <a:schemeClr val="tx1"/>
                </a:solidFill>
              </a:rPr>
              <a:t>正在协商的、还没有切换过来的</a:t>
            </a:r>
          </a:p>
          <a:p>
            <a:pPr lvl="2"/>
            <a:r>
              <a:rPr lang="en-US" altLang="zh-CN" sz="1800" dirty="0" err="1">
                <a:solidFill>
                  <a:schemeClr val="tx1"/>
                </a:solidFill>
              </a:rPr>
              <a:t>ChangeCipherSpec</a:t>
            </a:r>
            <a:r>
              <a:rPr lang="zh-CN" altLang="en-US" sz="1800" dirty="0">
                <a:solidFill>
                  <a:schemeClr val="tx1"/>
                </a:solidFill>
              </a:rPr>
              <a:t>可以将</a:t>
            </a:r>
            <a:r>
              <a:rPr lang="en-US" altLang="zh-CN" sz="1800" dirty="0">
                <a:solidFill>
                  <a:schemeClr val="tx1"/>
                </a:solidFill>
              </a:rPr>
              <a:t>Pending States</a:t>
            </a:r>
            <a:r>
              <a:rPr lang="zh-CN" altLang="en-US" sz="1800" dirty="0">
                <a:solidFill>
                  <a:schemeClr val="tx1"/>
                </a:solidFill>
              </a:rPr>
              <a:t>设置为</a:t>
            </a:r>
            <a:r>
              <a:rPr lang="en-US" altLang="zh-CN" sz="1800" dirty="0">
                <a:solidFill>
                  <a:schemeClr val="tx1"/>
                </a:solidFill>
              </a:rPr>
              <a:t>Current States</a:t>
            </a:r>
          </a:p>
          <a:p>
            <a:pPr lvl="2"/>
            <a:endParaRPr lang="en-US" altLang="zh-CN" sz="1800" dirty="0">
              <a:solidFill>
                <a:schemeClr val="tx1"/>
              </a:solidFill>
            </a:endParaRP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46240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path 8"/>
          <p:cNvSpPr/>
          <p:nvPr>
            <p:custDataLst>
              <p:tags r:id="rId5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38200" y="1252855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Current/Pending R/W Connection State</a:t>
            </a:r>
          </a:p>
        </p:txBody>
      </p:sp>
      <p:graphicFrame>
        <p:nvGraphicFramePr>
          <p:cNvPr id="29700" name="Object 4"/>
          <p:cNvGraphicFramePr>
            <a:graphicFrameLocks noChangeAspect="1"/>
          </p:cNvGraphicFramePr>
          <p:nvPr/>
        </p:nvGraphicFramePr>
        <p:xfrm>
          <a:off x="1899979" y="2164081"/>
          <a:ext cx="9144000" cy="344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7353300" imgH="2616200" progId="">
                  <p:embed/>
                </p:oleObj>
              </mc:Choice>
              <mc:Fallback>
                <p:oleObj name="Visio" r:id="rId6" imgW="7353300" imgH="2616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9979" y="2164081"/>
                        <a:ext cx="9144000" cy="344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标题 4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Record协议层内部的参数变化示例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46240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协商过程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sz="2600" dirty="0">
                <a:solidFill>
                  <a:schemeClr val="tx1"/>
                </a:solidFill>
              </a:rPr>
              <a:t>Record</a:t>
            </a:r>
            <a:r>
              <a:rPr lang="zh-CN" altLang="en-US" sz="2600" dirty="0">
                <a:solidFill>
                  <a:schemeClr val="tx1"/>
                </a:solidFill>
              </a:rPr>
              <a:t>层的各种密码运算参数，都是由</a:t>
            </a:r>
            <a:r>
              <a:rPr lang="en-US" altLang="zh-CN" sz="2600" dirty="0">
                <a:solidFill>
                  <a:schemeClr val="tx1"/>
                </a:solidFill>
              </a:rPr>
              <a:t>Handshake</a:t>
            </a:r>
            <a:r>
              <a:rPr lang="zh-CN" altLang="en-US" sz="2600" dirty="0">
                <a:solidFill>
                  <a:schemeClr val="tx1"/>
                </a:solidFill>
              </a:rPr>
              <a:t>协议协商得到的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600" dirty="0">
                <a:solidFill>
                  <a:schemeClr val="tx1"/>
                </a:solidFill>
              </a:rPr>
              <a:t>协商过程，大致如下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Client/Server</a:t>
            </a:r>
            <a:r>
              <a:rPr lang="zh-CN" altLang="en-US" sz="2200" dirty="0">
                <a:solidFill>
                  <a:schemeClr val="tx1"/>
                </a:solidFill>
              </a:rPr>
              <a:t>相互发送随机数（明文）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100" dirty="0">
                <a:solidFill>
                  <a:schemeClr val="tx1"/>
                </a:solidFill>
              </a:rPr>
              <a:t>选定算法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Server</a:t>
            </a:r>
            <a:r>
              <a:rPr lang="zh-CN" altLang="en-US" sz="2200" dirty="0">
                <a:solidFill>
                  <a:schemeClr val="tx1"/>
                </a:solidFill>
              </a:rPr>
              <a:t>发送自己的公钥证书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2">
              <a:lnSpc>
                <a:spcPct val="90000"/>
              </a:lnSpc>
            </a:pPr>
            <a:r>
              <a:rPr lang="en-US" altLang="zh-CN" sz="1800" dirty="0">
                <a:solidFill>
                  <a:schemeClr val="tx1"/>
                </a:solidFill>
              </a:rPr>
              <a:t>Client</a:t>
            </a:r>
            <a:r>
              <a:rPr lang="zh-CN" altLang="en-US" sz="1800" dirty="0">
                <a:solidFill>
                  <a:schemeClr val="tx1"/>
                </a:solidFill>
              </a:rPr>
              <a:t>验证证书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Client</a:t>
            </a:r>
            <a:r>
              <a:rPr lang="zh-CN" altLang="en-US" sz="2200" dirty="0">
                <a:solidFill>
                  <a:schemeClr val="tx1"/>
                </a:solidFill>
              </a:rPr>
              <a:t>产生</a:t>
            </a:r>
            <a:r>
              <a:rPr lang="en-US" altLang="zh-CN" sz="2200" dirty="0">
                <a:solidFill>
                  <a:schemeClr val="tx1"/>
                </a:solidFill>
              </a:rPr>
              <a:t>premaster secret</a:t>
            </a:r>
            <a:r>
              <a:rPr lang="zh-CN" altLang="en-US" sz="2200" dirty="0">
                <a:solidFill>
                  <a:schemeClr val="tx1"/>
                </a:solidFill>
              </a:rPr>
              <a:t>，用</a:t>
            </a:r>
            <a:r>
              <a:rPr lang="en-US" altLang="zh-CN" sz="2200" dirty="0">
                <a:solidFill>
                  <a:schemeClr val="tx1"/>
                </a:solidFill>
              </a:rPr>
              <a:t>Server</a:t>
            </a:r>
            <a:r>
              <a:rPr lang="zh-CN" altLang="en-US" sz="2200" dirty="0">
                <a:solidFill>
                  <a:schemeClr val="tx1"/>
                </a:solidFill>
              </a:rPr>
              <a:t>公钥加密，发送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sz="2200" dirty="0">
                <a:solidFill>
                  <a:schemeClr val="tx1"/>
                </a:solidFill>
              </a:rPr>
              <a:t>Server</a:t>
            </a:r>
            <a:r>
              <a:rPr lang="zh-CN" altLang="en-US" sz="2200" dirty="0">
                <a:solidFill>
                  <a:schemeClr val="tx1"/>
                </a:solidFill>
              </a:rPr>
              <a:t>解密，双方共享相同的</a:t>
            </a:r>
            <a:r>
              <a:rPr lang="en-US" altLang="zh-CN" sz="2200" dirty="0">
                <a:solidFill>
                  <a:schemeClr val="tx1"/>
                </a:solidFill>
              </a:rPr>
              <a:t>premaster secret</a:t>
            </a:r>
            <a:r>
              <a:rPr lang="zh-CN" altLang="en-US" sz="2200" dirty="0">
                <a:solidFill>
                  <a:schemeClr val="tx1"/>
                </a:solidFill>
              </a:rPr>
              <a:t>和随机数</a:t>
            </a:r>
          </a:p>
          <a:p>
            <a:pPr lvl="2" eaLnBrk="1" hangingPunct="1">
              <a:lnSpc>
                <a:spcPct val="90000"/>
              </a:lnSpc>
            </a:pPr>
            <a:r>
              <a:rPr lang="zh-CN" altLang="en-US" sz="2100" dirty="0">
                <a:solidFill>
                  <a:schemeClr val="tx1"/>
                </a:solidFill>
              </a:rPr>
              <a:t>由此计算产生，从而得到</a:t>
            </a:r>
            <a:r>
              <a:rPr lang="en-US" altLang="zh-CN" sz="2100" dirty="0">
                <a:solidFill>
                  <a:schemeClr val="tx1"/>
                </a:solidFill>
              </a:rPr>
              <a:t>R/W Key/IV/</a:t>
            </a:r>
            <a:r>
              <a:rPr lang="en-US" altLang="zh-CN" sz="2100" dirty="0" err="1">
                <a:solidFill>
                  <a:schemeClr val="tx1"/>
                </a:solidFill>
              </a:rPr>
              <a:t>MAC_Secret</a:t>
            </a:r>
            <a:r>
              <a:rPr lang="en-US" altLang="zh-CN" sz="2100" dirty="0">
                <a:solidFill>
                  <a:schemeClr val="tx1"/>
                </a:solidFill>
              </a:rPr>
              <a:t> 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Handshake Protocol的具体过程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Handshake</a:t>
            </a:r>
            <a:r>
              <a:rPr lang="zh-CN" altLang="en-US" dirty="0">
                <a:solidFill>
                  <a:schemeClr val="tx1"/>
                </a:solidFill>
              </a:rPr>
              <a:t>过程中，有可选步骤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对于</a:t>
            </a:r>
            <a:r>
              <a:rPr lang="en-US" altLang="zh-CN" dirty="0">
                <a:solidFill>
                  <a:schemeClr val="tx1"/>
                </a:solidFill>
              </a:rPr>
              <a:t>Client</a:t>
            </a:r>
            <a:r>
              <a:rPr lang="zh-CN" altLang="en-US" dirty="0">
                <a:solidFill>
                  <a:schemeClr val="tx1"/>
                </a:solidFill>
              </a:rPr>
              <a:t>的鉴别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DH</a:t>
            </a:r>
            <a:r>
              <a:rPr lang="zh-CN" altLang="en-US" dirty="0">
                <a:solidFill>
                  <a:schemeClr val="tx1"/>
                </a:solidFill>
              </a:rPr>
              <a:t>算法协商的鉴别过程与</a:t>
            </a:r>
            <a:r>
              <a:rPr lang="en-US" altLang="zh-CN" dirty="0">
                <a:solidFill>
                  <a:schemeClr val="tx1"/>
                </a:solidFill>
              </a:rPr>
              <a:t>RSA</a:t>
            </a:r>
            <a:r>
              <a:rPr lang="zh-CN" altLang="en-US" dirty="0">
                <a:solidFill>
                  <a:schemeClr val="tx1"/>
                </a:solidFill>
              </a:rPr>
              <a:t>算法协商不一致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我们从最简单、基本的过程谈起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Client</a:t>
            </a:r>
            <a:r>
              <a:rPr lang="zh-CN" altLang="en-US" dirty="0">
                <a:solidFill>
                  <a:schemeClr val="tx1"/>
                </a:solidFill>
              </a:rPr>
              <a:t>鉴别</a:t>
            </a:r>
            <a:r>
              <a:rPr lang="en-US" altLang="zh-CN" dirty="0">
                <a:solidFill>
                  <a:schemeClr val="tx1"/>
                </a:solidFill>
              </a:rPr>
              <a:t>Server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solidFill>
                  <a:schemeClr val="tx1"/>
                </a:solidFill>
              </a:rPr>
              <a:t>Server</a:t>
            </a:r>
            <a:r>
              <a:rPr lang="zh-CN" altLang="en-US" dirty="0">
                <a:solidFill>
                  <a:schemeClr val="tx1"/>
                </a:solidFill>
              </a:rPr>
              <a:t>具有</a:t>
            </a:r>
            <a:r>
              <a:rPr lang="en-US" altLang="zh-CN" dirty="0">
                <a:solidFill>
                  <a:schemeClr val="tx1"/>
                </a:solidFill>
              </a:rPr>
              <a:t>RSA</a:t>
            </a:r>
            <a:r>
              <a:rPr lang="zh-CN" altLang="en-US" dirty="0">
                <a:solidFill>
                  <a:schemeClr val="tx1"/>
                </a:solidFill>
              </a:rPr>
              <a:t>密钥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证书对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然后，再讨论该基本过程的一些不足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</a:rPr>
              <a:t>不能满足特殊需求，从而改进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最后可以得到完整的</a:t>
            </a:r>
            <a:r>
              <a:rPr lang="en-US" altLang="zh-CN" dirty="0">
                <a:solidFill>
                  <a:schemeClr val="tx1"/>
                </a:solidFill>
              </a:rPr>
              <a:t>Handshake</a:t>
            </a:r>
            <a:r>
              <a:rPr lang="zh-CN" altLang="en-US" dirty="0">
                <a:solidFill>
                  <a:schemeClr val="tx1"/>
                </a:solidFill>
              </a:rPr>
              <a:t>过程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38200" y="1252855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600">
                <a:solidFill>
                  <a:schemeClr val="tx1"/>
                </a:solidFill>
              </a:rPr>
              <a:t>Handshake</a:t>
            </a:r>
            <a:r>
              <a:rPr lang="zh-CN" altLang="en-US" sz="2600">
                <a:solidFill>
                  <a:schemeClr val="tx1"/>
                </a:solidFill>
              </a:rPr>
              <a:t>消息，作为</a:t>
            </a:r>
            <a:r>
              <a:rPr lang="en-US" altLang="zh-CN" sz="2600">
                <a:solidFill>
                  <a:schemeClr val="tx1"/>
                </a:solidFill>
              </a:rPr>
              <a:t>TLSPlaintext</a:t>
            </a:r>
            <a:r>
              <a:rPr lang="zh-CN" altLang="en-US" sz="2600">
                <a:solidFill>
                  <a:schemeClr val="tx1"/>
                </a:solidFill>
              </a:rPr>
              <a:t>传输</a:t>
            </a:r>
          </a:p>
        </p:txBody>
      </p:sp>
      <p:pic>
        <p:nvPicPr>
          <p:cNvPr id="32772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8830" y="1779270"/>
            <a:ext cx="7999095" cy="4323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Handshake消息的结构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5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42645" y="119634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600">
                <a:solidFill>
                  <a:schemeClr val="tx1"/>
                </a:solidFill>
              </a:rPr>
              <a:t>Handshake</a:t>
            </a:r>
            <a:r>
              <a:rPr lang="zh-CN" altLang="en-US" sz="2600">
                <a:solidFill>
                  <a:schemeClr val="tx1"/>
                </a:solidFill>
              </a:rPr>
              <a:t>消息，又可分为多类</a:t>
            </a:r>
          </a:p>
          <a:p>
            <a:pPr lvl="1" eaLnBrk="1" hangingPunct="1"/>
            <a:r>
              <a:rPr lang="zh-CN" altLang="en-US" sz="2200">
                <a:solidFill>
                  <a:schemeClr val="tx1"/>
                </a:solidFill>
              </a:rPr>
              <a:t>分别用在</a:t>
            </a:r>
            <a:r>
              <a:rPr lang="en-US" altLang="zh-CN" sz="2200">
                <a:solidFill>
                  <a:schemeClr val="tx1"/>
                </a:solidFill>
              </a:rPr>
              <a:t>Handshake</a:t>
            </a:r>
            <a:r>
              <a:rPr lang="zh-CN" altLang="en-US" sz="2200">
                <a:solidFill>
                  <a:schemeClr val="tx1"/>
                </a:solidFill>
              </a:rPr>
              <a:t>过程中的各步骤</a:t>
            </a:r>
          </a:p>
          <a:p>
            <a:pPr eaLnBrk="1" hangingPunct="1"/>
            <a:r>
              <a:rPr lang="zh-CN" altLang="en-US" sz="2600">
                <a:solidFill>
                  <a:schemeClr val="tx1"/>
                </a:solidFill>
              </a:rPr>
              <a:t>最基本</a:t>
            </a:r>
            <a:r>
              <a:rPr lang="en-US" altLang="zh-CN" sz="2600">
                <a:solidFill>
                  <a:schemeClr val="tx1"/>
                </a:solidFill>
              </a:rPr>
              <a:t>/</a:t>
            </a:r>
            <a:r>
              <a:rPr lang="zh-CN" altLang="en-US" sz="2600">
                <a:solidFill>
                  <a:schemeClr val="tx1"/>
                </a:solidFill>
              </a:rPr>
              <a:t>简单过程中，只使用了其中的部分类型的</a:t>
            </a:r>
            <a:r>
              <a:rPr lang="en-US" altLang="zh-CN" sz="2600">
                <a:solidFill>
                  <a:schemeClr val="tx1"/>
                </a:solidFill>
              </a:rPr>
              <a:t>Handshake</a:t>
            </a:r>
            <a:r>
              <a:rPr lang="zh-CN" altLang="en-US" sz="2600">
                <a:solidFill>
                  <a:schemeClr val="tx1"/>
                </a:solidFill>
              </a:rPr>
              <a:t>消息</a:t>
            </a:r>
          </a:p>
          <a:p>
            <a:pPr lvl="1" eaLnBrk="1" hangingPunct="1"/>
            <a:r>
              <a:rPr lang="zh-CN" altLang="en-US" sz="2200">
                <a:solidFill>
                  <a:schemeClr val="tx1"/>
                </a:solidFill>
              </a:rPr>
              <a:t>有些类型的消息，只在特定场合出现</a:t>
            </a:r>
          </a:p>
          <a:p>
            <a:pPr lvl="1" eaLnBrk="1" hangingPunct="1"/>
            <a:r>
              <a:rPr lang="zh-CN" altLang="en-US" sz="2200">
                <a:solidFill>
                  <a:schemeClr val="tx1"/>
                </a:solidFill>
              </a:rPr>
              <a:t>如</a:t>
            </a:r>
            <a:r>
              <a:rPr lang="en-US" altLang="zh-CN" sz="2200">
                <a:solidFill>
                  <a:schemeClr val="tx1"/>
                </a:solidFill>
              </a:rPr>
              <a:t>certificate_verify</a:t>
            </a:r>
            <a:r>
              <a:rPr lang="zh-CN" altLang="en-US" sz="2200">
                <a:solidFill>
                  <a:schemeClr val="tx1"/>
                </a:solidFill>
              </a:rPr>
              <a:t>，只用在鉴别</a:t>
            </a:r>
            <a:r>
              <a:rPr lang="en-US" altLang="zh-CN" sz="2200">
                <a:solidFill>
                  <a:schemeClr val="tx1"/>
                </a:solidFill>
              </a:rPr>
              <a:t>Client</a:t>
            </a:r>
            <a:r>
              <a:rPr lang="zh-CN" altLang="en-US" sz="2200">
                <a:solidFill>
                  <a:schemeClr val="tx1"/>
                </a:solidFill>
              </a:rPr>
              <a:t>的需要</a:t>
            </a:r>
          </a:p>
        </p:txBody>
      </p:sp>
      <p:pic>
        <p:nvPicPr>
          <p:cNvPr id="33796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551" y="3552047"/>
            <a:ext cx="8366760" cy="19958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Handshake消息的分类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5"/>
            </p:custDataLst>
          </p:nvPr>
        </p:nvSpPr>
        <p:spPr>
          <a:xfrm>
            <a:off x="696468" y="6246240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服务器发送，表示可以开始协商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消息结构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</a:p>
          <a:p>
            <a:pPr lvl="1"/>
            <a:r>
              <a:rPr lang="en-US" altLang="zh-CN" dirty="0" err="1">
                <a:solidFill>
                  <a:schemeClr val="tx1"/>
                </a:solidFill>
              </a:rPr>
              <a:t>struct</a:t>
            </a:r>
            <a:r>
              <a:rPr lang="en-US" altLang="zh-CN" dirty="0">
                <a:solidFill>
                  <a:schemeClr val="tx1"/>
                </a:solidFill>
              </a:rPr>
              <a:t> { } </a:t>
            </a:r>
            <a:r>
              <a:rPr lang="en-US" altLang="zh-CN" dirty="0" err="1">
                <a:solidFill>
                  <a:schemeClr val="tx1"/>
                </a:solidFill>
              </a:rPr>
              <a:t>HelloRequest</a:t>
            </a:r>
            <a:r>
              <a:rPr lang="en-US" altLang="zh-CN" dirty="0">
                <a:solidFill>
                  <a:schemeClr val="tx1"/>
                </a:solidFill>
              </a:rPr>
              <a:t>;</a:t>
            </a:r>
          </a:p>
          <a:p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Hello Request</a:t>
            </a:r>
            <a:r>
              <a:rPr lang="zh-CN" altLang="en-US" dirty="0">
                <a:solidFill>
                  <a:schemeClr val="tx1"/>
                </a:solidFill>
              </a:rPr>
              <a:t>不需要包括在最后的校验中：</a:t>
            </a:r>
            <a:endParaRPr lang="en-US" altLang="zh-CN" dirty="0">
              <a:solidFill>
                <a:schemeClr val="tx1"/>
              </a:solidFill>
            </a:endParaRP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Finished messages</a:t>
            </a:r>
          </a:p>
          <a:p>
            <a:pPr lvl="2"/>
            <a:r>
              <a:rPr lang="en-US" altLang="zh-CN" dirty="0">
                <a:solidFill>
                  <a:schemeClr val="tx1"/>
                </a:solidFill>
              </a:rPr>
              <a:t>Certificate Verify message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Hello Request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B234486-42F2-43D6-9FFA-ABC9372E53D2}" type="slidenum">
              <a:rPr lang="zh-CN" altLang="en-US" smtClean="0">
                <a:solidFill>
                  <a:schemeClr val="tx1"/>
                </a:solidFill>
              </a:rPr>
              <a:t>40</a:t>
            </a:fld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528" y="1366541"/>
            <a:ext cx="8013827" cy="3755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标题 6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最基本的Handshake协议过程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5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42645" y="125349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chemeClr val="tx1"/>
                </a:solidFill>
              </a:rPr>
              <a:t>C: </a:t>
            </a:r>
            <a:r>
              <a:rPr lang="en-US" altLang="zh-CN" sz="2600" dirty="0" err="1">
                <a:solidFill>
                  <a:schemeClr val="tx1"/>
                </a:solidFill>
              </a:rPr>
              <a:t>ClientHello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lvl="1"/>
            <a:r>
              <a:rPr lang="zh-CN" altLang="en-US" sz="2200" dirty="0">
                <a:solidFill>
                  <a:schemeClr val="tx1"/>
                </a:solidFill>
              </a:rPr>
              <a:t>支持的最高协议版本</a:t>
            </a:r>
          </a:p>
          <a:p>
            <a:pPr lvl="1" eaLnBrk="1" hangingPunct="1"/>
            <a:r>
              <a:rPr lang="en-US" altLang="zh-CN" sz="2200" b="1" dirty="0">
                <a:solidFill>
                  <a:schemeClr val="tx1"/>
                </a:solidFill>
              </a:rPr>
              <a:t>32 bytes</a:t>
            </a:r>
            <a:r>
              <a:rPr lang="zh-CN" altLang="en-US" sz="2200" b="1" dirty="0">
                <a:solidFill>
                  <a:schemeClr val="tx1"/>
                </a:solidFill>
              </a:rPr>
              <a:t>随机数：</a:t>
            </a:r>
            <a:r>
              <a:rPr lang="en-US" altLang="zh-CN" b="1" dirty="0">
                <a:solidFill>
                  <a:schemeClr val="tx1"/>
                </a:solidFill>
              </a:rPr>
              <a:t>4</a:t>
            </a:r>
            <a:r>
              <a:rPr lang="zh-CN" altLang="en-US" b="1" dirty="0">
                <a:solidFill>
                  <a:schemeClr val="tx1"/>
                </a:solidFill>
              </a:rPr>
              <a:t>字节时间</a:t>
            </a:r>
            <a:r>
              <a:rPr lang="en-US" altLang="zh-CN" b="1" dirty="0">
                <a:solidFill>
                  <a:schemeClr val="tx1"/>
                </a:solidFill>
              </a:rPr>
              <a:t>+28</a:t>
            </a:r>
            <a:r>
              <a:rPr lang="zh-CN" altLang="en-US" b="1" dirty="0">
                <a:solidFill>
                  <a:schemeClr val="tx1"/>
                </a:solidFill>
              </a:rPr>
              <a:t>字节随机数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Session ID</a:t>
            </a:r>
            <a:r>
              <a:rPr lang="zh-CN" altLang="en-US" dirty="0">
                <a:solidFill>
                  <a:schemeClr val="tx1"/>
                </a:solidFill>
              </a:rPr>
              <a:t>，为了</a:t>
            </a:r>
            <a:r>
              <a:rPr lang="en-US" altLang="zh-CN" dirty="0">
                <a:solidFill>
                  <a:schemeClr val="tx1"/>
                </a:solidFill>
              </a:rPr>
              <a:t>Session</a:t>
            </a:r>
            <a:r>
              <a:rPr lang="zh-CN" altLang="en-US" dirty="0">
                <a:solidFill>
                  <a:schemeClr val="tx1"/>
                </a:solidFill>
              </a:rPr>
              <a:t>重用、可选</a:t>
            </a:r>
          </a:p>
          <a:p>
            <a:pPr lvl="1" eaLnBrk="1" hangingPunct="1"/>
            <a:r>
              <a:rPr lang="zh-CN" altLang="en-US" sz="2200" dirty="0">
                <a:solidFill>
                  <a:schemeClr val="tx1"/>
                </a:solidFill>
              </a:rPr>
              <a:t>支持的算法列表</a:t>
            </a:r>
            <a:endParaRPr lang="en-US" altLang="zh-CN" sz="2200" dirty="0">
              <a:solidFill>
                <a:schemeClr val="tx1"/>
              </a:solidFill>
            </a:endParaRPr>
          </a:p>
          <a:p>
            <a:pPr lvl="2"/>
            <a:r>
              <a:rPr lang="en-US" altLang="zh-CN" sz="1800" dirty="0">
                <a:solidFill>
                  <a:schemeClr val="tx1"/>
                </a:solidFill>
              </a:rPr>
              <a:t>Each cipher suite defines a key exchange algorithm, a bulk encryption algorithm (including secret key length), a MAC algorithm, and a PRF.</a:t>
            </a:r>
          </a:p>
        </p:txBody>
      </p:sp>
      <p:pic>
        <p:nvPicPr>
          <p:cNvPr id="34820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5187" y="1368304"/>
            <a:ext cx="3688918" cy="975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1" name="Picture 6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439" y="3952076"/>
            <a:ext cx="5904656" cy="21844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简单过程-1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6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89635" y="125349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tx1"/>
                </a:solidFill>
              </a:rPr>
              <a:t>S: ServerHello</a:t>
            </a:r>
          </a:p>
          <a:p>
            <a:pPr lvl="1" eaLnBrk="1" hangingPunct="1"/>
            <a:r>
              <a:rPr lang="en-US" altLang="zh-CN" b="1">
                <a:solidFill>
                  <a:schemeClr val="tx1"/>
                </a:solidFill>
              </a:rPr>
              <a:t>32 bytes</a:t>
            </a:r>
            <a:r>
              <a:rPr lang="zh-CN" altLang="en-US" b="1">
                <a:solidFill>
                  <a:schemeClr val="tx1"/>
                </a:solidFill>
              </a:rPr>
              <a:t>随机数：</a:t>
            </a:r>
            <a:r>
              <a:rPr lang="en-US" altLang="zh-CN" b="1">
                <a:solidFill>
                  <a:schemeClr val="tx1"/>
                </a:solidFill>
              </a:rPr>
              <a:t>4</a:t>
            </a:r>
            <a:r>
              <a:rPr lang="zh-CN" altLang="en-US" b="1">
                <a:solidFill>
                  <a:schemeClr val="tx1"/>
                </a:solidFill>
              </a:rPr>
              <a:t>字节时间</a:t>
            </a:r>
            <a:r>
              <a:rPr lang="en-US" altLang="zh-CN" b="1">
                <a:solidFill>
                  <a:schemeClr val="tx1"/>
                </a:solidFill>
              </a:rPr>
              <a:t>+28</a:t>
            </a:r>
            <a:r>
              <a:rPr lang="zh-CN" altLang="en-US" b="1">
                <a:solidFill>
                  <a:schemeClr val="tx1"/>
                </a:solidFill>
              </a:rPr>
              <a:t>字节随机数</a:t>
            </a:r>
          </a:p>
          <a:p>
            <a:pPr lvl="1" eaLnBrk="1" hangingPunct="1"/>
            <a:r>
              <a:rPr lang="zh-CN" altLang="en-US">
                <a:solidFill>
                  <a:schemeClr val="tx1"/>
                </a:solidFill>
              </a:rPr>
              <a:t>选定协议版本和算法</a:t>
            </a:r>
          </a:p>
          <a:p>
            <a:pPr lvl="1" eaLnBrk="1" hangingPunct="1"/>
            <a:r>
              <a:rPr lang="en-US" altLang="zh-CN">
                <a:solidFill>
                  <a:schemeClr val="tx1"/>
                </a:solidFill>
              </a:rPr>
              <a:t>Session ID</a:t>
            </a:r>
            <a:r>
              <a:rPr lang="zh-CN" altLang="en-US">
                <a:solidFill>
                  <a:schemeClr val="tx1"/>
                </a:solidFill>
              </a:rPr>
              <a:t>，为了</a:t>
            </a:r>
            <a:r>
              <a:rPr lang="en-US" altLang="zh-CN">
                <a:solidFill>
                  <a:schemeClr val="tx1"/>
                </a:solidFill>
              </a:rPr>
              <a:t>Session</a:t>
            </a:r>
            <a:r>
              <a:rPr lang="zh-CN" altLang="en-US">
                <a:solidFill>
                  <a:schemeClr val="tx1"/>
                </a:solidFill>
              </a:rPr>
              <a:t>重用、可选</a:t>
            </a:r>
          </a:p>
        </p:txBody>
      </p:sp>
      <p:pic>
        <p:nvPicPr>
          <p:cNvPr id="35844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1" y="3304789"/>
            <a:ext cx="6761881" cy="2180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简单过程-2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5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38200" y="119634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S: Certificate</a:t>
            </a: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Server</a:t>
            </a:r>
            <a:r>
              <a:rPr lang="zh-CN" altLang="en-US" dirty="0">
                <a:solidFill>
                  <a:schemeClr val="tx1"/>
                </a:solidFill>
              </a:rPr>
              <a:t>证书链，从</a:t>
            </a:r>
            <a:r>
              <a:rPr lang="en-US" altLang="zh-CN" dirty="0">
                <a:solidFill>
                  <a:schemeClr val="tx1"/>
                </a:solidFill>
              </a:rPr>
              <a:t>Server</a:t>
            </a:r>
            <a:r>
              <a:rPr lang="zh-CN" altLang="en-US" dirty="0">
                <a:solidFill>
                  <a:schemeClr val="tx1"/>
                </a:solidFill>
              </a:rPr>
              <a:t>证书开始的完整链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含有</a:t>
            </a:r>
            <a:r>
              <a:rPr lang="en-US" altLang="zh-CN" dirty="0">
                <a:solidFill>
                  <a:schemeClr val="tx1"/>
                </a:solidFill>
              </a:rPr>
              <a:t>RSA</a:t>
            </a:r>
            <a:r>
              <a:rPr lang="zh-CN" altLang="en-US" dirty="0">
                <a:solidFill>
                  <a:schemeClr val="tx1"/>
                </a:solidFill>
              </a:rPr>
              <a:t>公钥</a:t>
            </a: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最简单的协商过程</a:t>
            </a:r>
            <a:endParaRPr lang="en-US" altLang="zh-CN" dirty="0">
              <a:solidFill>
                <a:schemeClr val="tx1"/>
              </a:solidFill>
            </a:endParaRPr>
          </a:p>
          <a:p>
            <a:pPr lvl="2" eaLnBrk="1" hangingPunct="1"/>
            <a:endParaRPr lang="en-US" altLang="zh-CN" dirty="0">
              <a:solidFill>
                <a:schemeClr val="tx1"/>
              </a:solidFill>
            </a:endParaRPr>
          </a:p>
          <a:p>
            <a:pPr lvl="2" eaLnBrk="1" hangingPunct="1"/>
            <a:endParaRPr lang="en-US" altLang="zh-CN" dirty="0">
              <a:solidFill>
                <a:schemeClr val="tx1"/>
              </a:solidFill>
            </a:endParaRPr>
          </a:p>
          <a:p>
            <a:pPr lvl="2" eaLnBrk="1" hangingPunct="1"/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S: </a:t>
            </a:r>
            <a:r>
              <a:rPr lang="en-US" altLang="zh-CN" dirty="0" err="1">
                <a:solidFill>
                  <a:schemeClr val="tx1"/>
                </a:solidFill>
              </a:rPr>
              <a:t>ServerHelloDone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表明</a:t>
            </a:r>
            <a:r>
              <a:rPr lang="en-US" altLang="zh-CN" dirty="0" err="1">
                <a:solidFill>
                  <a:schemeClr val="tx1"/>
                </a:solidFill>
              </a:rPr>
              <a:t>ServerHello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结束，等待</a:t>
            </a:r>
            <a:r>
              <a:rPr lang="en-US" altLang="zh-CN" dirty="0">
                <a:solidFill>
                  <a:schemeClr val="tx1"/>
                </a:solidFill>
              </a:rPr>
              <a:t>client</a:t>
            </a:r>
            <a:r>
              <a:rPr lang="zh-CN" altLang="en-US" dirty="0">
                <a:solidFill>
                  <a:schemeClr val="tx1"/>
                </a:solidFill>
              </a:rPr>
              <a:t>回应</a:t>
            </a:r>
          </a:p>
        </p:txBody>
      </p:sp>
      <p:pic>
        <p:nvPicPr>
          <p:cNvPr id="36868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01" y="2835652"/>
            <a:ext cx="6557353" cy="881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5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039" y="4853659"/>
            <a:ext cx="4524593" cy="308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简单过程-3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6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42645" y="115951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chemeClr val="tx1"/>
                </a:solidFill>
              </a:rPr>
              <a:t>C: </a:t>
            </a:r>
            <a:r>
              <a:rPr lang="en-US" altLang="zh-CN" sz="2600" dirty="0" err="1">
                <a:solidFill>
                  <a:schemeClr val="tx1"/>
                </a:solidFill>
              </a:rPr>
              <a:t>ClientKeyExchange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2200" dirty="0">
                <a:solidFill>
                  <a:schemeClr val="tx1"/>
                </a:solidFill>
              </a:rPr>
              <a:t>根据</a:t>
            </a:r>
            <a:r>
              <a:rPr lang="en-US" altLang="zh-CN" sz="2200" dirty="0" err="1">
                <a:solidFill>
                  <a:schemeClr val="tx1"/>
                </a:solidFill>
              </a:rPr>
              <a:t>SeverHello</a:t>
            </a:r>
            <a:r>
              <a:rPr lang="zh-CN" altLang="en-US" sz="2200" dirty="0">
                <a:solidFill>
                  <a:schemeClr val="tx1"/>
                </a:solidFill>
              </a:rPr>
              <a:t>选定的密钥协商算法</a:t>
            </a:r>
            <a:r>
              <a:rPr lang="en-US" altLang="zh-CN" sz="2200" dirty="0">
                <a:solidFill>
                  <a:schemeClr val="tx1"/>
                </a:solidFill>
              </a:rPr>
              <a:t>-RSA</a:t>
            </a:r>
          </a:p>
          <a:p>
            <a:pPr lvl="1" eaLnBrk="1" hangingPunct="1"/>
            <a:r>
              <a:rPr lang="zh-CN" altLang="en-US" sz="2200" dirty="0">
                <a:solidFill>
                  <a:schemeClr val="tx1"/>
                </a:solidFill>
              </a:rPr>
              <a:t>生成并回复</a:t>
            </a:r>
            <a:r>
              <a:rPr lang="en-US" altLang="zh-CN" sz="2200" dirty="0">
                <a:solidFill>
                  <a:schemeClr val="tx1"/>
                </a:solidFill>
              </a:rPr>
              <a:t>48</a:t>
            </a:r>
            <a:r>
              <a:rPr lang="zh-CN" altLang="en-US" sz="2200" dirty="0">
                <a:solidFill>
                  <a:schemeClr val="tx1"/>
                </a:solidFill>
              </a:rPr>
              <a:t>字节</a:t>
            </a:r>
            <a:r>
              <a:rPr lang="en-US" altLang="zh-CN" sz="2200" dirty="0" err="1">
                <a:solidFill>
                  <a:schemeClr val="tx1"/>
                </a:solidFill>
              </a:rPr>
              <a:t>PreMasterSecret</a:t>
            </a:r>
            <a:endParaRPr lang="zh-CN" altLang="en-US" sz="2200" dirty="0">
              <a:solidFill>
                <a:schemeClr val="tx1"/>
              </a:solidFill>
            </a:endParaRPr>
          </a:p>
          <a:p>
            <a:pPr lvl="2"/>
            <a:r>
              <a:rPr lang="zh-CN" altLang="en-US" sz="2100" dirty="0">
                <a:solidFill>
                  <a:schemeClr val="tx1"/>
                </a:solidFill>
              </a:rPr>
              <a:t>用</a:t>
            </a:r>
            <a:r>
              <a:rPr lang="en-US" altLang="zh-CN" sz="2100" dirty="0">
                <a:solidFill>
                  <a:schemeClr val="tx1"/>
                </a:solidFill>
              </a:rPr>
              <a:t>Server</a:t>
            </a:r>
            <a:r>
              <a:rPr lang="zh-CN" altLang="en-US" sz="2100" dirty="0">
                <a:solidFill>
                  <a:schemeClr val="tx1"/>
                </a:solidFill>
              </a:rPr>
              <a:t>证书公钥加密（验证</a:t>
            </a:r>
            <a:r>
              <a:rPr lang="en-US" altLang="zh-CN" sz="2100" dirty="0">
                <a:solidFill>
                  <a:schemeClr val="tx1"/>
                </a:solidFill>
              </a:rPr>
              <a:t>Server</a:t>
            </a:r>
            <a:r>
              <a:rPr lang="zh-CN" altLang="en-US" sz="2100" dirty="0">
                <a:solidFill>
                  <a:schemeClr val="tx1"/>
                </a:solidFill>
              </a:rPr>
              <a:t>证书有效后）</a:t>
            </a:r>
          </a:p>
        </p:txBody>
      </p:sp>
      <p:pic>
        <p:nvPicPr>
          <p:cNvPr id="37892" name="Picture 6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694" y="4467832"/>
            <a:ext cx="4952609" cy="1043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3" name="Picture 7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2415" y="2799285"/>
            <a:ext cx="7472889" cy="1543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简单过程-4-RSA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6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共享premaster secret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Client</a:t>
            </a:r>
            <a:r>
              <a:rPr lang="zh-CN" altLang="en-US" dirty="0">
                <a:solidFill>
                  <a:schemeClr val="tx1"/>
                </a:solidFill>
              </a:rPr>
              <a:t>和</a:t>
            </a:r>
            <a:r>
              <a:rPr lang="en-US" altLang="zh-CN" dirty="0">
                <a:solidFill>
                  <a:schemeClr val="tx1"/>
                </a:solidFill>
              </a:rPr>
              <a:t>Server</a:t>
            </a:r>
            <a:r>
              <a:rPr lang="zh-CN" altLang="en-US" dirty="0">
                <a:solidFill>
                  <a:schemeClr val="tx1"/>
                </a:solidFill>
              </a:rPr>
              <a:t>共享了如下信息</a:t>
            </a: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32</a:t>
            </a:r>
            <a:r>
              <a:rPr lang="zh-CN" altLang="en-US" dirty="0">
                <a:solidFill>
                  <a:schemeClr val="tx1"/>
                </a:solidFill>
              </a:rPr>
              <a:t>字节</a:t>
            </a:r>
            <a:r>
              <a:rPr lang="en-US" altLang="zh-CN" dirty="0" err="1">
                <a:solidFill>
                  <a:schemeClr val="tx1"/>
                </a:solidFill>
              </a:rPr>
              <a:t>Client.random</a:t>
            </a:r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 err="1">
                <a:solidFill>
                  <a:schemeClr val="tx1"/>
                </a:solidFill>
              </a:rPr>
              <a:t>ClientHello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</a:rPr>
              <a:t>32</a:t>
            </a:r>
            <a:r>
              <a:rPr lang="zh-CN" altLang="en-US" dirty="0">
                <a:solidFill>
                  <a:schemeClr val="tx1"/>
                </a:solidFill>
              </a:rPr>
              <a:t>字节</a:t>
            </a:r>
            <a:r>
              <a:rPr lang="en-US" altLang="zh-CN" dirty="0" err="1">
                <a:solidFill>
                  <a:schemeClr val="tx1"/>
                </a:solidFill>
              </a:rPr>
              <a:t>Server.random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 err="1">
                <a:solidFill>
                  <a:schemeClr val="tx1"/>
                </a:solidFill>
              </a:rPr>
              <a:t>ServerHello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/>
            <a:r>
              <a:rPr lang="en-US" altLang="zh-CN" dirty="0">
                <a:solidFill>
                  <a:schemeClr val="tx1"/>
                </a:solidFill>
              </a:rPr>
              <a:t>48</a:t>
            </a:r>
            <a:r>
              <a:rPr lang="zh-CN" altLang="en-US" dirty="0">
                <a:solidFill>
                  <a:schemeClr val="tx1"/>
                </a:solidFill>
              </a:rPr>
              <a:t>字节</a:t>
            </a:r>
            <a:r>
              <a:rPr lang="en-US" altLang="zh-CN" dirty="0">
                <a:solidFill>
                  <a:schemeClr val="tx1"/>
                </a:solidFill>
              </a:rPr>
              <a:t>Premaster secret</a:t>
            </a:r>
            <a:r>
              <a:rPr lang="zh-CN" altLang="en-US" dirty="0">
                <a:solidFill>
                  <a:schemeClr val="tx1"/>
                </a:solidFill>
              </a:rPr>
              <a:t>（秘密）</a:t>
            </a: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假定</a:t>
            </a:r>
            <a:r>
              <a:rPr lang="en-US" altLang="zh-CN" dirty="0">
                <a:solidFill>
                  <a:schemeClr val="tx1"/>
                </a:solidFill>
              </a:rPr>
              <a:t>Server</a:t>
            </a:r>
            <a:r>
              <a:rPr lang="zh-CN" altLang="en-US" dirty="0">
                <a:solidFill>
                  <a:schemeClr val="tx1"/>
                </a:solidFill>
              </a:rPr>
              <a:t>拥有私钥进行解密</a:t>
            </a: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在使用</a:t>
            </a:r>
            <a:r>
              <a:rPr lang="en-US" altLang="zh-CN" dirty="0">
                <a:solidFill>
                  <a:schemeClr val="tx1"/>
                </a:solidFill>
              </a:rPr>
              <a:t>RSA</a:t>
            </a:r>
            <a:r>
              <a:rPr lang="zh-CN" altLang="en-US" dirty="0">
                <a:solidFill>
                  <a:schemeClr val="tx1"/>
                </a:solidFill>
              </a:rPr>
              <a:t>算法时，</a:t>
            </a:r>
            <a:r>
              <a:rPr lang="en-US" altLang="zh-CN" dirty="0">
                <a:solidFill>
                  <a:schemeClr val="tx1"/>
                </a:solidFill>
              </a:rPr>
              <a:t>Premaster secret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en-US" altLang="zh-CN" dirty="0">
                <a:solidFill>
                  <a:schemeClr val="tx1"/>
                </a:solidFill>
              </a:rPr>
              <a:t>48</a:t>
            </a:r>
            <a:r>
              <a:rPr lang="zh-CN" altLang="en-US" dirty="0">
                <a:solidFill>
                  <a:schemeClr val="tx1"/>
                </a:solidFill>
              </a:rPr>
              <a:t>字节</a:t>
            </a:r>
          </a:p>
          <a:p>
            <a:pPr lvl="2" eaLnBrk="1" hangingPunct="1"/>
            <a:r>
              <a:rPr lang="en-US" altLang="zh-CN" dirty="0">
                <a:solidFill>
                  <a:schemeClr val="tx1"/>
                </a:solidFill>
              </a:rPr>
              <a:t>DH</a:t>
            </a:r>
            <a:r>
              <a:rPr lang="zh-CN" altLang="en-US" dirty="0">
                <a:solidFill>
                  <a:schemeClr val="tx1"/>
                </a:solidFill>
              </a:rPr>
              <a:t>算法时，不是</a:t>
            </a:r>
            <a:r>
              <a:rPr lang="en-US" altLang="zh-CN" dirty="0">
                <a:solidFill>
                  <a:schemeClr val="tx1"/>
                </a:solidFill>
              </a:rPr>
              <a:t>48</a:t>
            </a:r>
            <a:r>
              <a:rPr lang="zh-CN" altLang="en-US" dirty="0">
                <a:solidFill>
                  <a:schemeClr val="tx1"/>
                </a:solidFill>
              </a:rPr>
              <a:t>字节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42645" y="1174115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dirty="0">
                <a:solidFill>
                  <a:schemeClr val="tx1"/>
                </a:solidFill>
              </a:rPr>
              <a:t>先基于</a:t>
            </a:r>
            <a:r>
              <a:rPr lang="en-US" altLang="zh-CN" dirty="0">
                <a:solidFill>
                  <a:schemeClr val="tx1"/>
                </a:solidFill>
              </a:rPr>
              <a:t>premaster secret</a:t>
            </a:r>
            <a:r>
              <a:rPr lang="zh-CN" altLang="en-US" dirty="0">
                <a:solidFill>
                  <a:schemeClr val="tx1"/>
                </a:solidFill>
              </a:rPr>
              <a:t>产生</a:t>
            </a:r>
            <a:r>
              <a:rPr lang="en-US" altLang="zh-CN" dirty="0">
                <a:solidFill>
                  <a:schemeClr val="tx1"/>
                </a:solidFill>
              </a:rPr>
              <a:t>48</a:t>
            </a:r>
            <a:r>
              <a:rPr lang="zh-CN" altLang="en-US" dirty="0">
                <a:solidFill>
                  <a:schemeClr val="tx1"/>
                </a:solidFill>
              </a:rPr>
              <a:t>字节的</a:t>
            </a:r>
            <a:r>
              <a:rPr lang="en-US" altLang="zh-CN" dirty="0">
                <a:solidFill>
                  <a:schemeClr val="tx1"/>
                </a:solidFill>
              </a:rPr>
              <a:t>master secret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双方掌握相同的</a:t>
            </a:r>
            <a:r>
              <a:rPr lang="en-US" altLang="zh-CN" dirty="0">
                <a:solidFill>
                  <a:schemeClr val="tx1"/>
                </a:solidFill>
              </a:rPr>
              <a:t>master secret</a:t>
            </a:r>
            <a:r>
              <a:rPr lang="zh-CN" altLang="en-US" dirty="0">
                <a:solidFill>
                  <a:schemeClr val="tx1"/>
                </a:solidFill>
              </a:rPr>
              <a:t>，如下</a:t>
            </a: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具体的</a:t>
            </a:r>
            <a:r>
              <a:rPr lang="en-US" altLang="zh-CN" dirty="0">
                <a:solidFill>
                  <a:schemeClr val="tx1"/>
                </a:solidFill>
              </a:rPr>
              <a:t>PRF()</a:t>
            </a:r>
            <a:r>
              <a:rPr lang="zh-CN" altLang="en-US" dirty="0">
                <a:solidFill>
                  <a:schemeClr val="tx1"/>
                </a:solidFill>
              </a:rPr>
              <a:t>算法，参考</a:t>
            </a:r>
            <a:r>
              <a:rPr lang="en-US" altLang="zh-CN" dirty="0">
                <a:solidFill>
                  <a:schemeClr val="tx1"/>
                </a:solidFill>
              </a:rPr>
              <a:t>RFC</a:t>
            </a:r>
            <a:r>
              <a:rPr lang="zh-CN" altLang="en-US" dirty="0">
                <a:solidFill>
                  <a:schemeClr val="tx1"/>
                </a:solidFill>
              </a:rPr>
              <a:t>标准</a:t>
            </a:r>
            <a:endParaRPr lang="en-US" altLang="zh-CN" dirty="0">
              <a:solidFill>
                <a:schemeClr val="tx1"/>
              </a:solidFill>
            </a:endParaRPr>
          </a:p>
          <a:p>
            <a:pPr lvl="2" eaLnBrk="1" hangingPunct="1"/>
            <a:r>
              <a:rPr lang="zh-CN" altLang="en-US" dirty="0">
                <a:solidFill>
                  <a:schemeClr val="tx1"/>
                </a:solidFill>
              </a:rPr>
              <a:t>双方独立地进行计算</a:t>
            </a:r>
          </a:p>
        </p:txBody>
      </p:sp>
      <p:pic>
        <p:nvPicPr>
          <p:cNvPr id="39940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7044" y="3013567"/>
            <a:ext cx="8892480" cy="475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产生Master Secret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5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38200" y="125349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600" dirty="0">
                <a:solidFill>
                  <a:schemeClr val="tx1"/>
                </a:solidFill>
              </a:rPr>
              <a:t>基于</a:t>
            </a:r>
            <a:r>
              <a:rPr lang="en-US" altLang="zh-CN" sz="2600" dirty="0">
                <a:solidFill>
                  <a:schemeClr val="tx1"/>
                </a:solidFill>
              </a:rPr>
              <a:t>48</a:t>
            </a:r>
            <a:r>
              <a:rPr lang="zh-CN" altLang="en-US" sz="2600" dirty="0">
                <a:solidFill>
                  <a:schemeClr val="tx1"/>
                </a:solidFill>
              </a:rPr>
              <a:t>字节</a:t>
            </a:r>
            <a:r>
              <a:rPr lang="en-US" altLang="zh-CN" sz="2600" dirty="0">
                <a:solidFill>
                  <a:schemeClr val="tx1"/>
                </a:solidFill>
              </a:rPr>
              <a:t>master secret</a:t>
            </a:r>
            <a:r>
              <a:rPr lang="zh-CN" altLang="en-US" sz="2600" dirty="0">
                <a:solidFill>
                  <a:schemeClr val="tx1"/>
                </a:solidFill>
              </a:rPr>
              <a:t>、</a:t>
            </a:r>
            <a:r>
              <a:rPr lang="en-US" altLang="zh-CN" sz="2600" dirty="0">
                <a:solidFill>
                  <a:schemeClr val="tx1"/>
                </a:solidFill>
              </a:rPr>
              <a:t>32</a:t>
            </a:r>
            <a:r>
              <a:rPr lang="zh-CN" altLang="en-US" sz="2600" dirty="0">
                <a:solidFill>
                  <a:schemeClr val="tx1"/>
                </a:solidFill>
              </a:rPr>
              <a:t>字节</a:t>
            </a:r>
            <a:r>
              <a:rPr lang="en-US" altLang="zh-CN" sz="2600" dirty="0" err="1">
                <a:solidFill>
                  <a:schemeClr val="tx1"/>
                </a:solidFill>
              </a:rPr>
              <a:t>Client.random</a:t>
            </a:r>
            <a:r>
              <a:rPr lang="zh-CN" altLang="en-US" sz="2600" dirty="0">
                <a:solidFill>
                  <a:schemeClr val="tx1"/>
                </a:solidFill>
              </a:rPr>
              <a:t>和</a:t>
            </a:r>
            <a:r>
              <a:rPr lang="en-US" altLang="zh-CN" sz="2600" dirty="0">
                <a:solidFill>
                  <a:schemeClr val="tx1"/>
                </a:solidFill>
              </a:rPr>
              <a:t>32</a:t>
            </a:r>
            <a:r>
              <a:rPr lang="zh-CN" altLang="en-US" sz="2600" dirty="0">
                <a:solidFill>
                  <a:schemeClr val="tx1"/>
                </a:solidFill>
              </a:rPr>
              <a:t>字节</a:t>
            </a:r>
            <a:r>
              <a:rPr lang="en-US" altLang="zh-CN" sz="2600" dirty="0" err="1">
                <a:solidFill>
                  <a:schemeClr val="tx1"/>
                </a:solidFill>
              </a:rPr>
              <a:t>Server.random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2200" dirty="0">
                <a:solidFill>
                  <a:schemeClr val="tx1"/>
                </a:solidFill>
              </a:rPr>
              <a:t>产生随机数，如下；</a:t>
            </a:r>
          </a:p>
          <a:p>
            <a:pPr lvl="1" eaLnBrk="1" hangingPunct="1"/>
            <a:r>
              <a:rPr lang="zh-CN" altLang="en-US" sz="2200" dirty="0">
                <a:solidFill>
                  <a:schemeClr val="tx1"/>
                </a:solidFill>
              </a:rPr>
              <a:t>按顺序作为各种所需的密钥</a:t>
            </a:r>
            <a:r>
              <a:rPr lang="en-US" altLang="zh-CN" sz="2200" dirty="0">
                <a:solidFill>
                  <a:schemeClr val="tx1"/>
                </a:solidFill>
              </a:rPr>
              <a:t>/IV/Secret</a:t>
            </a:r>
            <a:r>
              <a:rPr lang="zh-CN" altLang="en-US" sz="2200" dirty="0">
                <a:solidFill>
                  <a:schemeClr val="tx1"/>
                </a:solidFill>
              </a:rPr>
              <a:t>等</a:t>
            </a:r>
          </a:p>
        </p:txBody>
      </p:sp>
      <p:pic>
        <p:nvPicPr>
          <p:cNvPr id="40964" name="Picture 5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423" y="2950335"/>
            <a:ext cx="7848872" cy="29624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产生各种所需的密钥/IV/Secret等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5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949325" y="1080135"/>
            <a:ext cx="8999855" cy="413194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600" dirty="0">
                <a:solidFill>
                  <a:schemeClr val="tx1"/>
                </a:solidFill>
              </a:rPr>
              <a:t>C: </a:t>
            </a:r>
            <a:r>
              <a:rPr lang="en-US" altLang="zh-CN" sz="2600" dirty="0" err="1">
                <a:solidFill>
                  <a:schemeClr val="tx1"/>
                </a:solidFill>
              </a:rPr>
              <a:t>ChangeCipherSpec</a:t>
            </a:r>
            <a:r>
              <a:rPr lang="zh-CN" altLang="en-US" sz="2600" dirty="0">
                <a:solidFill>
                  <a:schemeClr val="tx1"/>
                </a:solidFill>
              </a:rPr>
              <a:t>（不是 </a:t>
            </a:r>
            <a:r>
              <a:rPr lang="en-US" altLang="zh-CN" sz="2600" dirty="0">
                <a:solidFill>
                  <a:schemeClr val="tx1"/>
                </a:solidFill>
              </a:rPr>
              <a:t>Handshake </a:t>
            </a:r>
            <a:r>
              <a:rPr lang="zh-CN" altLang="en-US" sz="2600" dirty="0">
                <a:solidFill>
                  <a:schemeClr val="tx1"/>
                </a:solidFill>
              </a:rPr>
              <a:t>消息）</a:t>
            </a:r>
            <a:endParaRPr lang="en-US" altLang="zh-CN" sz="2600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2200" dirty="0">
                <a:solidFill>
                  <a:schemeClr val="tx1"/>
                </a:solidFill>
              </a:rPr>
              <a:t>通知</a:t>
            </a:r>
            <a:r>
              <a:rPr lang="en-US" altLang="zh-CN" sz="2200" dirty="0">
                <a:solidFill>
                  <a:schemeClr val="tx1"/>
                </a:solidFill>
              </a:rPr>
              <a:t>Server</a:t>
            </a:r>
            <a:r>
              <a:rPr lang="zh-CN" altLang="en-US" sz="2200" dirty="0">
                <a:solidFill>
                  <a:schemeClr val="tx1"/>
                </a:solidFill>
              </a:rPr>
              <a:t>启用协商好的算法</a:t>
            </a:r>
          </a:p>
          <a:p>
            <a:pPr lvl="1" eaLnBrk="1" hangingPunct="1"/>
            <a:r>
              <a:rPr lang="en-US" altLang="zh-CN" sz="2200" dirty="0">
                <a:solidFill>
                  <a:schemeClr val="tx1"/>
                </a:solidFill>
              </a:rPr>
              <a:t>Client</a:t>
            </a:r>
            <a:r>
              <a:rPr lang="zh-CN" altLang="en-US" sz="2200" dirty="0">
                <a:solidFill>
                  <a:schemeClr val="tx1"/>
                </a:solidFill>
              </a:rPr>
              <a:t>切换</a:t>
            </a:r>
            <a:r>
              <a:rPr lang="en-US" altLang="zh-CN" sz="2200" dirty="0">
                <a:solidFill>
                  <a:schemeClr val="tx1"/>
                </a:solidFill>
              </a:rPr>
              <a:t>Write State</a:t>
            </a:r>
          </a:p>
          <a:p>
            <a:pPr lvl="1" eaLnBrk="1" hangingPunct="1"/>
            <a:r>
              <a:rPr lang="en-US" altLang="zh-CN" sz="2200" dirty="0">
                <a:solidFill>
                  <a:schemeClr val="tx1"/>
                </a:solidFill>
              </a:rPr>
              <a:t>Server</a:t>
            </a:r>
            <a:r>
              <a:rPr lang="zh-CN" altLang="en-US" sz="2200" dirty="0">
                <a:solidFill>
                  <a:schemeClr val="tx1"/>
                </a:solidFill>
              </a:rPr>
              <a:t>切换</a:t>
            </a:r>
            <a:r>
              <a:rPr lang="en-US" altLang="zh-CN" sz="2200" dirty="0">
                <a:solidFill>
                  <a:schemeClr val="tx1"/>
                </a:solidFill>
              </a:rPr>
              <a:t>Read State</a:t>
            </a:r>
          </a:p>
          <a:p>
            <a:pPr eaLnBrk="1" hangingPunct="1"/>
            <a:r>
              <a:rPr lang="en-US" altLang="zh-CN" sz="2600" dirty="0">
                <a:solidFill>
                  <a:schemeClr val="tx1"/>
                </a:solidFill>
              </a:rPr>
              <a:t>C: Finished</a:t>
            </a:r>
          </a:p>
          <a:p>
            <a:pPr lvl="2" eaLnBrk="1" hangingPunct="1"/>
            <a:r>
              <a:rPr lang="zh-CN" altLang="en-US" sz="2100" dirty="0">
                <a:solidFill>
                  <a:schemeClr val="tx1"/>
                </a:solidFill>
              </a:rPr>
              <a:t>数据信息被保护的第一个消息</a:t>
            </a:r>
            <a:endParaRPr lang="en-US" altLang="zh-CN" sz="2100" dirty="0">
              <a:solidFill>
                <a:schemeClr val="tx1"/>
              </a:solidFill>
            </a:endParaRPr>
          </a:p>
          <a:p>
            <a:pPr lvl="2" eaLnBrk="1" hangingPunct="1"/>
            <a:r>
              <a:rPr lang="en-US" altLang="zh-CN" sz="2100" dirty="0" err="1">
                <a:solidFill>
                  <a:schemeClr val="tx1"/>
                </a:solidFill>
              </a:rPr>
              <a:t>handshake_messages</a:t>
            </a:r>
            <a:r>
              <a:rPr lang="zh-CN" altLang="en-US" sz="2100" dirty="0">
                <a:solidFill>
                  <a:schemeClr val="tx1"/>
                </a:solidFill>
              </a:rPr>
              <a:t>是</a:t>
            </a:r>
            <a:r>
              <a:rPr lang="en-US" altLang="zh-CN" sz="2100" dirty="0">
                <a:solidFill>
                  <a:schemeClr val="tx1"/>
                </a:solidFill>
              </a:rPr>
              <a:t>handshake</a:t>
            </a:r>
            <a:r>
              <a:rPr lang="zh-CN" altLang="en-US" sz="2100" dirty="0">
                <a:solidFill>
                  <a:schemeClr val="tx1"/>
                </a:solidFill>
              </a:rPr>
              <a:t>过程中由</a:t>
            </a:r>
            <a:r>
              <a:rPr lang="en-US" altLang="zh-CN" sz="2100" dirty="0">
                <a:solidFill>
                  <a:schemeClr val="tx1"/>
                </a:solidFill>
              </a:rPr>
              <a:t>Client</a:t>
            </a:r>
            <a:r>
              <a:rPr lang="zh-CN" altLang="en-US" sz="2100" dirty="0">
                <a:solidFill>
                  <a:schemeClr val="tx1"/>
                </a:solidFill>
              </a:rPr>
              <a:t>发起的所有信息</a:t>
            </a:r>
          </a:p>
        </p:txBody>
      </p:sp>
      <p:pic>
        <p:nvPicPr>
          <p:cNvPr id="41988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893" y="4199995"/>
            <a:ext cx="8941629" cy="1775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标题 4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简单过程-5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5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 noChangeArrowheads="1"/>
          </p:cNvSpPr>
          <p:nvPr>
            <p:custDataLst>
              <p:tags r:id="rId2"/>
            </p:custDataLst>
          </p:nvPr>
        </p:nvSpPr>
        <p:spPr>
          <a:xfrm>
            <a:off x="838200" y="1151890"/>
            <a:ext cx="10515600" cy="4351338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S: </a:t>
            </a:r>
            <a:r>
              <a:rPr lang="en-US" altLang="zh-CN" dirty="0" err="1">
                <a:solidFill>
                  <a:schemeClr val="tx1"/>
                </a:solidFill>
              </a:rPr>
              <a:t>ChangeCipherSpec</a:t>
            </a:r>
            <a:r>
              <a:rPr lang="zh-CN" altLang="en-US" dirty="0">
                <a:solidFill>
                  <a:schemeClr val="tx1"/>
                </a:solidFill>
              </a:rPr>
              <a:t>（不是 </a:t>
            </a:r>
            <a:r>
              <a:rPr lang="en-US" altLang="zh-CN" dirty="0">
                <a:solidFill>
                  <a:schemeClr val="tx1"/>
                </a:solidFill>
              </a:rPr>
              <a:t>Handshake </a:t>
            </a:r>
            <a:r>
              <a:rPr lang="zh-CN" altLang="en-US" dirty="0">
                <a:solidFill>
                  <a:schemeClr val="tx1"/>
                </a:solidFill>
              </a:rPr>
              <a:t>消息）</a:t>
            </a:r>
            <a:endParaRPr lang="en-US" altLang="zh-CN" dirty="0">
              <a:solidFill>
                <a:schemeClr val="tx1"/>
              </a:solidFill>
            </a:endParaRPr>
          </a:p>
          <a:p>
            <a:pPr lvl="1" eaLnBrk="1" hangingPunct="1"/>
            <a:r>
              <a:rPr lang="zh-CN" altLang="en-US" sz="2200" dirty="0">
                <a:solidFill>
                  <a:schemeClr val="tx1"/>
                </a:solidFill>
              </a:rPr>
              <a:t>通知</a:t>
            </a:r>
            <a:r>
              <a:rPr lang="en-US" altLang="zh-CN" sz="2200" dirty="0">
                <a:solidFill>
                  <a:schemeClr val="tx1"/>
                </a:solidFill>
              </a:rPr>
              <a:t>Client</a:t>
            </a:r>
            <a:r>
              <a:rPr lang="zh-CN" altLang="en-US" sz="2200" dirty="0">
                <a:solidFill>
                  <a:schemeClr val="tx1"/>
                </a:solidFill>
              </a:rPr>
              <a:t>启用协商好的算法</a:t>
            </a:r>
          </a:p>
          <a:p>
            <a:pPr lvl="1" eaLnBrk="1" hangingPunct="1"/>
            <a:r>
              <a:rPr lang="en-US" altLang="zh-CN" sz="2200" dirty="0">
                <a:solidFill>
                  <a:schemeClr val="tx1"/>
                </a:solidFill>
              </a:rPr>
              <a:t>Server</a:t>
            </a:r>
            <a:r>
              <a:rPr lang="zh-CN" altLang="en-US" sz="2200" dirty="0">
                <a:solidFill>
                  <a:schemeClr val="tx1"/>
                </a:solidFill>
              </a:rPr>
              <a:t>切换</a:t>
            </a:r>
            <a:r>
              <a:rPr lang="en-US" altLang="zh-CN" sz="2200" dirty="0">
                <a:solidFill>
                  <a:schemeClr val="tx1"/>
                </a:solidFill>
              </a:rPr>
              <a:t>Write State</a:t>
            </a:r>
          </a:p>
          <a:p>
            <a:pPr lvl="1" eaLnBrk="1" hangingPunct="1"/>
            <a:r>
              <a:rPr lang="en-US" altLang="zh-CN" sz="2200" dirty="0">
                <a:solidFill>
                  <a:schemeClr val="tx1"/>
                </a:solidFill>
              </a:rPr>
              <a:t>Client</a:t>
            </a:r>
            <a:r>
              <a:rPr lang="zh-CN" altLang="en-US" sz="2200" dirty="0">
                <a:solidFill>
                  <a:schemeClr val="tx1"/>
                </a:solidFill>
              </a:rPr>
              <a:t>切换</a:t>
            </a:r>
            <a:r>
              <a:rPr lang="en-US" altLang="zh-CN" sz="2200" dirty="0">
                <a:solidFill>
                  <a:schemeClr val="tx1"/>
                </a:solidFill>
              </a:rPr>
              <a:t>Read State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dirty="0">
                <a:solidFill>
                  <a:schemeClr val="tx1"/>
                </a:solidFill>
              </a:rPr>
              <a:t>S: Finished</a:t>
            </a:r>
          </a:p>
          <a:p>
            <a:pPr lvl="1" eaLnBrk="1" hangingPunct="1"/>
            <a:r>
              <a:rPr lang="zh-CN" altLang="en-US" dirty="0">
                <a:solidFill>
                  <a:schemeClr val="tx1"/>
                </a:solidFill>
              </a:rPr>
              <a:t>与</a:t>
            </a:r>
            <a:r>
              <a:rPr lang="en-US" altLang="zh-CN" dirty="0">
                <a:solidFill>
                  <a:schemeClr val="tx1"/>
                </a:solidFill>
              </a:rPr>
              <a:t>Client</a:t>
            </a:r>
            <a:r>
              <a:rPr lang="zh-CN" altLang="en-US" dirty="0">
                <a:solidFill>
                  <a:schemeClr val="tx1"/>
                </a:solidFill>
              </a:rPr>
              <a:t>端类似，使用“</a:t>
            </a:r>
            <a:r>
              <a:rPr lang="en-US" altLang="zh-CN" dirty="0">
                <a:solidFill>
                  <a:schemeClr val="tx1"/>
                </a:solidFill>
              </a:rPr>
              <a:t>server finished”</a:t>
            </a:r>
          </a:p>
        </p:txBody>
      </p:sp>
      <p:pic>
        <p:nvPicPr>
          <p:cNvPr id="43012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5159" y="3802107"/>
            <a:ext cx="8704119" cy="1765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>
            <p:custDataLst>
              <p:tags r:id="rId4"/>
            </p:custDataLst>
          </p:nvPr>
        </p:nvSpPr>
        <p:spPr>
          <a:xfrm>
            <a:off x="4915426" y="4982423"/>
            <a:ext cx="2304256" cy="33185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>
                <a:sym typeface="+mn-ea"/>
              </a:rPr>
              <a:t>简单过程-6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path 8"/>
          <p:cNvSpPr/>
          <p:nvPr>
            <p:custDataLst>
              <p:tags r:id="rId6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zh-CN" altLang="en-US" dirty="0">
                <a:sym typeface="+mn-ea"/>
              </a:rPr>
              <a:t>完成协商，开始Application Data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双方接到对方的</a:t>
            </a:r>
            <a:r>
              <a:rPr lang="en-US" altLang="zh-CN">
                <a:solidFill>
                  <a:schemeClr val="tx1"/>
                </a:solidFill>
              </a:rPr>
              <a:t>Finished</a:t>
            </a:r>
            <a:r>
              <a:rPr lang="zh-CN" altLang="en-US">
                <a:solidFill>
                  <a:schemeClr val="tx1"/>
                </a:solidFill>
              </a:rPr>
              <a:t>消息、校验没有问题后</a:t>
            </a:r>
          </a:p>
          <a:p>
            <a:pPr eaLnBrk="1" hangingPunct="1"/>
            <a:r>
              <a:rPr lang="zh-CN" altLang="en-US">
                <a:solidFill>
                  <a:schemeClr val="tx1"/>
                </a:solidFill>
              </a:rPr>
              <a:t>开始传输</a:t>
            </a:r>
            <a:r>
              <a:rPr lang="en-US" altLang="zh-CN">
                <a:solidFill>
                  <a:schemeClr val="tx1"/>
                </a:solidFill>
              </a:rPr>
              <a:t>Application Data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/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EA6C0-C18E-90CF-AE50-6271A2A7A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6BC6312-0C0E-3ED0-C528-9AE03D4FEF48}"/>
              </a:ext>
            </a:extLst>
          </p:cNvPr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lvl="0" algn="l">
              <a:buClrTx/>
              <a:buSzTx/>
              <a:buFontTx/>
            </a:pPr>
            <a:r>
              <a:rPr lang="en-US" altLang="zh-CN" dirty="0">
                <a:sym typeface="+mn-ea"/>
              </a:rPr>
              <a:t>17.3 TLS v1.3</a:t>
            </a:r>
            <a:endParaRPr lang="zh-CN" altLang="en-US" dirty="0">
              <a:sym typeface="+mn-ea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309F38B-509A-319F-6238-92050E8E9BC9}"/>
              </a:ext>
            </a:extLst>
          </p:cNvPr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endParaRPr lang="en-US" altLang="zh-CN" dirty="0">
              <a:solidFill>
                <a:schemeClr val="tx1"/>
              </a:solidFill>
            </a:endParaRPr>
          </a:p>
        </p:txBody>
      </p:sp>
      <p:pic>
        <p:nvPicPr>
          <p:cNvPr id="150" name="picture 150">
            <a:extLst>
              <a:ext uri="{FF2B5EF4-FFF2-40B4-BE49-F238E27FC236}">
                <a16:creationId xmlns:a16="http://schemas.microsoft.com/office/drawing/2014/main" id="{167484B6-D825-940D-DB27-99EFFE3956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>
            <a:extLst>
              <a:ext uri="{FF2B5EF4-FFF2-40B4-BE49-F238E27FC236}">
                <a16:creationId xmlns:a16="http://schemas.microsoft.com/office/drawing/2014/main" id="{2F18C182-F496-52F4-9F04-70C53AF3DFE2}"/>
              </a:ext>
            </a:extLst>
          </p:cNvPr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path 8">
            <a:extLst>
              <a:ext uri="{FF2B5EF4-FFF2-40B4-BE49-F238E27FC236}">
                <a16:creationId xmlns:a16="http://schemas.microsoft.com/office/drawing/2014/main" id="{3451C04C-781E-726A-EB36-7E0A6AA8C208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EF04F5-9D8A-D79A-96F4-5FD8AA65BC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6134" y="1015365"/>
            <a:ext cx="9803852" cy="50441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65450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Title 1"/>
          <p:cNvSpPr>
            <a:spLocks noGrp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SSH</a:t>
            </a:r>
            <a:r>
              <a:rPr lang="zh-CN" altLang="en-US" sz="3600">
                <a:ea typeface="宋体" panose="02010600030101010101" pitchFamily="2" charset="-122"/>
              </a:rPr>
              <a:t>简介</a:t>
            </a:r>
            <a:endParaRPr lang="en-US" altLang="zh-CN" sz="3600">
              <a:ea typeface="宋体" panose="02010600030101010101" pitchFamily="2" charset="-122"/>
            </a:endParaRPr>
          </a:p>
        </p:txBody>
      </p:sp>
      <p:sp>
        <p:nvSpPr>
          <p:cNvPr id="33796" name="Rectangle 5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>
              <a:buClr>
                <a:srgbClr val="9E9EFF"/>
              </a:buClr>
            </a:pPr>
            <a:r>
              <a:rPr lang="en-US" altLang="zh-CN" sz="2400" dirty="0">
                <a:ea typeface="宋体" panose="02010600030101010101" pitchFamily="2" charset="-122"/>
              </a:rPr>
              <a:t>SSH: </a:t>
            </a:r>
            <a:r>
              <a:rPr lang="zh-CN" altLang="en-US" sz="2400" dirty="0">
                <a:ea typeface="宋体" panose="02010600030101010101" pitchFamily="2" charset="-122"/>
              </a:rPr>
              <a:t>安全外壳</a:t>
            </a:r>
            <a:r>
              <a:rPr lang="en-US" altLang="zh-CN" sz="2400" dirty="0">
                <a:ea typeface="宋体" panose="02010600030101010101" pitchFamily="2" charset="-122"/>
              </a:rPr>
              <a:t>(Secure Shell) </a:t>
            </a:r>
          </a:p>
          <a:p>
            <a:pPr eaLnBrk="1" hangingPunct="1">
              <a:buClr>
                <a:srgbClr val="9E9EFF"/>
              </a:buClr>
            </a:pPr>
            <a:r>
              <a:rPr lang="zh-CN" altLang="en-US" sz="2400" dirty="0">
                <a:ea typeface="宋体" panose="02010600030101010101" pitchFamily="2" charset="-122"/>
              </a:rPr>
              <a:t>用于替代不安全的登录工具，例如 </a:t>
            </a:r>
            <a:r>
              <a:rPr lang="en-US" altLang="zh-CN" sz="2400" dirty="0">
                <a:ea typeface="宋体" panose="02010600030101010101" pitchFamily="2" charset="-122"/>
              </a:rPr>
              <a:t>RCP, FTP, RSH, Telnet, rlogin</a:t>
            </a:r>
            <a:r>
              <a:rPr lang="zh-CN" altLang="en-US" sz="2400" dirty="0">
                <a:ea typeface="宋体" panose="02010600030101010101" pitchFamily="2" charset="-122"/>
              </a:rPr>
              <a:t>等</a:t>
            </a:r>
            <a:r>
              <a:rPr lang="en-US" altLang="zh-CN" sz="2400" dirty="0">
                <a:ea typeface="宋体" panose="02010600030101010101" pitchFamily="2" charset="-122"/>
              </a:rPr>
              <a:t> </a:t>
            </a:r>
          </a:p>
          <a:p>
            <a:pPr eaLnBrk="1" hangingPunct="1">
              <a:buClr>
                <a:srgbClr val="9E9EFF"/>
              </a:buClr>
            </a:pPr>
            <a:r>
              <a:rPr lang="zh-CN" altLang="en-US" sz="2400" dirty="0">
                <a:ea typeface="宋体" panose="02010600030101010101" pitchFamily="2" charset="-122"/>
              </a:rPr>
              <a:t>用认证和加密算法在两台计算机之间建立安全连接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buClr>
                <a:srgbClr val="9E9EFF"/>
              </a:buClr>
            </a:pPr>
            <a:r>
              <a:rPr lang="zh-CN" altLang="en-US" sz="2400" dirty="0">
                <a:ea typeface="宋体" panose="02010600030101010101" pitchFamily="2" charset="-122"/>
              </a:rPr>
              <a:t>支持数据压缩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buClr>
                <a:srgbClr val="9E9EFF"/>
              </a:buClr>
            </a:pPr>
            <a:r>
              <a:rPr lang="zh-CN" altLang="en-US" sz="2400" dirty="0">
                <a:ea typeface="宋体" panose="02010600030101010101" pitchFamily="2" charset="-122"/>
              </a:rPr>
              <a:t>为文件传输</a:t>
            </a:r>
            <a:r>
              <a:rPr lang="en-US" altLang="zh-CN" sz="2400" dirty="0">
                <a:ea typeface="宋体" panose="02010600030101010101" pitchFamily="2" charset="-122"/>
              </a:rPr>
              <a:t>(SFTP)</a:t>
            </a:r>
            <a:r>
              <a:rPr lang="zh-CN" altLang="en-US" sz="2400" dirty="0">
                <a:ea typeface="宋体" panose="02010600030101010101" pitchFamily="2" charset="-122"/>
              </a:rPr>
              <a:t>和文件拷贝</a:t>
            </a:r>
            <a:r>
              <a:rPr lang="en-US" altLang="zh-CN" sz="2400" dirty="0">
                <a:ea typeface="宋体" panose="02010600030101010101" pitchFamily="2" charset="-122"/>
              </a:rPr>
              <a:t>(SCP)</a:t>
            </a:r>
            <a:r>
              <a:rPr lang="zh-CN" altLang="en-US" sz="2400" dirty="0">
                <a:ea typeface="宋体" panose="02010600030101010101" pitchFamily="2" charset="-122"/>
              </a:rPr>
              <a:t>提供安全保护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buClr>
                <a:srgbClr val="9E9EFF"/>
              </a:buClr>
            </a:pPr>
            <a:r>
              <a:rPr lang="en-US" altLang="zh-CN" sz="2400" dirty="0">
                <a:ea typeface="宋体" panose="02010600030101010101" pitchFamily="2" charset="-122"/>
              </a:rPr>
              <a:t>SSH</a:t>
            </a:r>
            <a:r>
              <a:rPr lang="zh-CN" altLang="en-US" sz="2400" dirty="0">
                <a:ea typeface="宋体" panose="02010600030101010101" pitchFamily="2" charset="-122"/>
              </a:rPr>
              <a:t>协议包括</a:t>
            </a:r>
            <a:r>
              <a:rPr lang="en-US" altLang="zh-CN" sz="2400" dirty="0">
                <a:ea typeface="宋体" panose="02010600030101010101" pitchFamily="2" charset="-122"/>
              </a:rPr>
              <a:t>3</a:t>
            </a:r>
            <a:r>
              <a:rPr lang="zh-CN" altLang="en-US" sz="2400" dirty="0">
                <a:ea typeface="宋体" panose="02010600030101010101" pitchFamily="2" charset="-122"/>
              </a:rPr>
              <a:t>个部分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path 8"/>
          <p:cNvSpPr/>
          <p:nvPr>
            <p:custDataLst>
              <p:tags r:id="rId1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anchor="ctr"/>
          <a:lstStyle/>
          <a:p>
            <a:pPr eaLnBrk="1" hangingPunct="1"/>
            <a:r>
              <a:rPr lang="en-US" altLang="zh-CN" sz="3600">
                <a:ea typeface="宋体" panose="02010600030101010101" pitchFamily="2" charset="-122"/>
              </a:rPr>
              <a:t>SSH</a:t>
            </a:r>
            <a:r>
              <a:rPr lang="zh-CN" altLang="en-US" sz="3600">
                <a:ea typeface="宋体" panose="02010600030101010101" pitchFamily="2" charset="-122"/>
              </a:rPr>
              <a:t>的</a:t>
            </a:r>
            <a:r>
              <a:rPr lang="en-US" altLang="zh-CN" sz="3600">
                <a:ea typeface="宋体" panose="02010600030101010101" pitchFamily="2" charset="-122"/>
              </a:rPr>
              <a:t>3</a:t>
            </a:r>
            <a:r>
              <a:rPr lang="zh-CN" altLang="en-US" sz="3600">
                <a:ea typeface="宋体" panose="02010600030101010101" pitchFamily="2" charset="-122"/>
              </a:rPr>
              <a:t>层</a:t>
            </a:r>
            <a:endParaRPr lang="en-US" altLang="zh-CN" sz="3600">
              <a:ea typeface="宋体" panose="02010600030101010101" pitchFamily="2" charset="-122"/>
            </a:endParaRPr>
          </a:p>
        </p:txBody>
      </p:sp>
      <p:sp>
        <p:nvSpPr>
          <p:cNvPr id="34820" name="Rectangle 5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6172200" y="1641475"/>
            <a:ext cx="4038600" cy="4530725"/>
          </a:xfrm>
        </p:spPr>
        <p:txBody>
          <a:bodyPr>
            <a:normAutofit lnSpcReduction="10000"/>
          </a:bodyPr>
          <a:lstStyle/>
          <a:p>
            <a:pPr eaLnBrk="1" hangingPunct="1">
              <a:buClr>
                <a:srgbClr val="9E9EFF"/>
              </a:buClr>
            </a:pPr>
            <a:r>
              <a:rPr lang="en-US" altLang="zh-CN" sz="2200">
                <a:ea typeface="宋体" panose="02010600030101010101" pitchFamily="2" charset="-122"/>
              </a:rPr>
              <a:t>SSH</a:t>
            </a:r>
            <a:r>
              <a:rPr lang="zh-CN" altLang="en-US" sz="2200">
                <a:ea typeface="宋体" panose="02010600030101010101" pitchFamily="2" charset="-122"/>
              </a:rPr>
              <a:t>连接</a:t>
            </a:r>
            <a:r>
              <a:rPr lang="en-US" altLang="zh-CN" sz="2200">
                <a:ea typeface="宋体" panose="02010600030101010101" pitchFamily="2" charset="-122"/>
              </a:rPr>
              <a:t>:</a:t>
            </a:r>
          </a:p>
          <a:p>
            <a:pPr lvl="1" eaLnBrk="1" hangingPunct="1">
              <a:buClr>
                <a:srgbClr val="9E9EFF"/>
              </a:buClr>
            </a:pPr>
            <a:r>
              <a:rPr lang="zh-CN" altLang="en-US" sz="1900">
                <a:ea typeface="宋体" panose="02010600030101010101" pitchFamily="2" charset="-122"/>
              </a:rPr>
              <a:t>在一个</a:t>
            </a:r>
            <a:r>
              <a:rPr lang="en-US" altLang="zh-CN" sz="1900">
                <a:ea typeface="宋体" panose="02010600030101010101" pitchFamily="2" charset="-122"/>
              </a:rPr>
              <a:t>SSH</a:t>
            </a:r>
            <a:r>
              <a:rPr lang="zh-CN" altLang="en-US" sz="1900">
                <a:ea typeface="宋体" panose="02010600030101010101" pitchFamily="2" charset="-122"/>
              </a:rPr>
              <a:t>连接中为不同的应用建立多个通道</a:t>
            </a:r>
            <a:r>
              <a:rPr lang="en-US" altLang="zh-CN" sz="1900">
                <a:ea typeface="宋体" panose="02010600030101010101" pitchFamily="2" charset="-122"/>
              </a:rPr>
              <a:t> </a:t>
            </a:r>
          </a:p>
          <a:p>
            <a:pPr eaLnBrk="1" hangingPunct="1">
              <a:buClr>
                <a:srgbClr val="9E9EFF"/>
              </a:buClr>
            </a:pPr>
            <a:r>
              <a:rPr lang="en-US" altLang="zh-CN" sz="2200">
                <a:ea typeface="宋体" panose="02010600030101010101" pitchFamily="2" charset="-122"/>
              </a:rPr>
              <a:t>SSH</a:t>
            </a:r>
            <a:r>
              <a:rPr lang="zh-CN" altLang="en-US" sz="2200">
                <a:ea typeface="宋体" panose="02010600030101010101" pitchFamily="2" charset="-122"/>
              </a:rPr>
              <a:t>用户认证</a:t>
            </a:r>
            <a:r>
              <a:rPr lang="en-US" altLang="zh-CN" sz="2200">
                <a:ea typeface="宋体" panose="02010600030101010101" pitchFamily="2" charset="-122"/>
              </a:rPr>
              <a:t>: </a:t>
            </a:r>
          </a:p>
          <a:p>
            <a:pPr lvl="1" eaLnBrk="1" hangingPunct="1">
              <a:buClr>
                <a:srgbClr val="9E9EFF"/>
              </a:buClr>
            </a:pPr>
            <a:r>
              <a:rPr lang="zh-CN" altLang="en-US" sz="1900">
                <a:ea typeface="宋体" panose="02010600030101010101" pitchFamily="2" charset="-122"/>
              </a:rPr>
              <a:t>认证用户的身份</a:t>
            </a:r>
            <a:r>
              <a:rPr lang="en-US" altLang="zh-CN" sz="1900">
                <a:ea typeface="宋体" panose="02010600030101010101" pitchFamily="2" charset="-122"/>
              </a:rPr>
              <a:t> </a:t>
            </a:r>
          </a:p>
          <a:p>
            <a:pPr lvl="1" eaLnBrk="1" hangingPunct="1">
              <a:buClr>
                <a:srgbClr val="9E9EFF"/>
              </a:buClr>
            </a:pPr>
            <a:r>
              <a:rPr lang="zh-CN" altLang="en-US" sz="1900">
                <a:ea typeface="宋体" panose="02010600030101010101" pitchFamily="2" charset="-122"/>
              </a:rPr>
              <a:t>用登录口令或公钥密码体系</a:t>
            </a:r>
            <a:r>
              <a:rPr lang="en-US" altLang="zh-CN" sz="1900">
                <a:ea typeface="宋体" panose="02010600030101010101" pitchFamily="2" charset="-122"/>
              </a:rPr>
              <a:t> </a:t>
            </a:r>
          </a:p>
          <a:p>
            <a:pPr eaLnBrk="1" hangingPunct="1">
              <a:buClr>
                <a:srgbClr val="9E9EFF"/>
              </a:buClr>
            </a:pPr>
            <a:r>
              <a:rPr lang="en-US" altLang="zh-CN" sz="2200">
                <a:ea typeface="宋体" panose="02010600030101010101" pitchFamily="2" charset="-122"/>
              </a:rPr>
              <a:t>SSH</a:t>
            </a:r>
            <a:r>
              <a:rPr lang="zh-CN" altLang="en-US" sz="2200">
                <a:ea typeface="宋体" panose="02010600030101010101" pitchFamily="2" charset="-122"/>
              </a:rPr>
              <a:t>传输</a:t>
            </a:r>
            <a:r>
              <a:rPr lang="en-US" altLang="zh-CN" sz="2200">
                <a:ea typeface="宋体" panose="02010600030101010101" pitchFamily="2" charset="-122"/>
              </a:rPr>
              <a:t> </a:t>
            </a:r>
          </a:p>
          <a:p>
            <a:pPr lvl="1" eaLnBrk="1" hangingPunct="1">
              <a:buClr>
                <a:srgbClr val="9E9EFF"/>
              </a:buClr>
            </a:pPr>
            <a:r>
              <a:rPr lang="zh-CN" altLang="en-US" sz="1900">
                <a:ea typeface="宋体" panose="02010600030101010101" pitchFamily="2" charset="-122"/>
              </a:rPr>
              <a:t>处理初始化建立，服务器认证和密钥交换</a:t>
            </a:r>
            <a:r>
              <a:rPr lang="en-US" altLang="zh-CN" sz="1900">
                <a:ea typeface="宋体" panose="02010600030101010101" pitchFamily="2" charset="-122"/>
              </a:rPr>
              <a:t> </a:t>
            </a:r>
          </a:p>
          <a:p>
            <a:pPr lvl="1" eaLnBrk="1" hangingPunct="1">
              <a:buClr>
                <a:srgbClr val="9E9EFF"/>
              </a:buClr>
            </a:pPr>
            <a:r>
              <a:rPr lang="zh-CN" altLang="en-US" sz="1900">
                <a:ea typeface="宋体" panose="02010600030101010101" pitchFamily="2" charset="-122"/>
              </a:rPr>
              <a:t>设定加密算法和压缩算法</a:t>
            </a:r>
            <a:endParaRPr lang="en-US" altLang="zh-CN" sz="1900">
              <a:ea typeface="宋体" panose="02010600030101010101" pitchFamily="2" charset="-122"/>
            </a:endParaRPr>
          </a:p>
        </p:txBody>
      </p:sp>
      <p:grpSp>
        <p:nvGrpSpPr>
          <p:cNvPr id="34821" name="Group 48"/>
          <p:cNvGrpSpPr/>
          <p:nvPr/>
        </p:nvGrpSpPr>
        <p:grpSpPr bwMode="auto">
          <a:xfrm>
            <a:off x="2286000" y="1676400"/>
            <a:ext cx="4191000" cy="3733800"/>
            <a:chOff x="533400" y="2438400"/>
            <a:chExt cx="4191000" cy="3733800"/>
          </a:xfrm>
        </p:grpSpPr>
        <p:sp>
          <p:nvSpPr>
            <p:cNvPr id="15" name="Rectangle 14"/>
            <p:cNvSpPr/>
            <p:nvPr/>
          </p:nvSpPr>
          <p:spPr>
            <a:xfrm>
              <a:off x="533400" y="2438400"/>
              <a:ext cx="2743200" cy="37338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en-US" sz="1800" i="0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533400" y="2438400"/>
              <a:ext cx="3200400" cy="15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533400" y="2970213"/>
              <a:ext cx="2743200" cy="158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533400" y="3505200"/>
              <a:ext cx="2743200" cy="15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533400" y="4038600"/>
              <a:ext cx="3200400" cy="15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33400" y="4572000"/>
              <a:ext cx="2743200" cy="15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533400" y="5103813"/>
              <a:ext cx="2743200" cy="1587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33400" y="5638800"/>
              <a:ext cx="2743200" cy="1588"/>
            </a:xfrm>
            <a:prstGeom prst="line">
              <a:avLst/>
            </a:pr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831" name="TextBox 27"/>
            <p:cNvSpPr txBox="1">
              <a:spLocks noChangeArrowheads="1"/>
            </p:cNvSpPr>
            <p:nvPr/>
          </p:nvSpPr>
          <p:spPr bwMode="auto">
            <a:xfrm>
              <a:off x="533400" y="2587823"/>
              <a:ext cx="2743200" cy="306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i="0">
                  <a:latin typeface="Comic Sans MS" panose="030F0702030302020204" pitchFamily="66" charset="0"/>
                </a:rPr>
                <a:t>SSH </a:t>
              </a:r>
              <a:r>
                <a:rPr lang="zh-CN" altLang="en-US" sz="1400" i="0">
                  <a:latin typeface="Comic Sans MS" panose="030F0702030302020204" pitchFamily="66" charset="0"/>
                </a:rPr>
                <a:t>连接</a:t>
              </a:r>
              <a:endParaRPr lang="en-US" altLang="zh-CN" sz="1400" i="0">
                <a:latin typeface="Comic Sans MS" panose="030F0702030302020204" pitchFamily="66" charset="0"/>
              </a:endParaRPr>
            </a:p>
          </p:txBody>
        </p:sp>
        <p:sp>
          <p:nvSpPr>
            <p:cNvPr id="34832" name="TextBox 28"/>
            <p:cNvSpPr txBox="1">
              <a:spLocks noChangeArrowheads="1"/>
            </p:cNvSpPr>
            <p:nvPr/>
          </p:nvSpPr>
          <p:spPr bwMode="auto">
            <a:xfrm>
              <a:off x="533400" y="3121223"/>
              <a:ext cx="2743200" cy="306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i="0">
                  <a:latin typeface="Comic Sans MS" panose="030F0702030302020204" pitchFamily="66" charset="0"/>
                </a:rPr>
                <a:t>SSH</a:t>
              </a:r>
              <a:r>
                <a:rPr lang="zh-CN" altLang="en-US" sz="1400" i="0">
                  <a:latin typeface="Comic Sans MS" panose="030F0702030302020204" pitchFamily="66" charset="0"/>
                </a:rPr>
                <a:t>用户认证</a:t>
              </a:r>
              <a:endParaRPr lang="en-US" altLang="zh-CN" sz="1400" i="0">
                <a:latin typeface="Comic Sans MS" panose="030F0702030302020204" pitchFamily="66" charset="0"/>
              </a:endParaRPr>
            </a:p>
          </p:txBody>
        </p:sp>
        <p:sp>
          <p:nvSpPr>
            <p:cNvPr id="34833" name="TextBox 29"/>
            <p:cNvSpPr txBox="1">
              <a:spLocks noChangeArrowheads="1"/>
            </p:cNvSpPr>
            <p:nvPr/>
          </p:nvSpPr>
          <p:spPr bwMode="auto">
            <a:xfrm>
              <a:off x="533400" y="3654623"/>
              <a:ext cx="2743200" cy="306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i="0">
                  <a:latin typeface="Comic Sans MS" panose="030F0702030302020204" pitchFamily="66" charset="0"/>
                </a:rPr>
                <a:t>SSH</a:t>
              </a:r>
              <a:r>
                <a:rPr lang="zh-CN" altLang="en-US" sz="1400" i="0">
                  <a:latin typeface="Comic Sans MS" panose="030F0702030302020204" pitchFamily="66" charset="0"/>
                </a:rPr>
                <a:t>传输</a:t>
              </a:r>
              <a:endParaRPr lang="en-US" altLang="zh-CN" sz="1400" i="0">
                <a:latin typeface="Comic Sans MS" panose="030F0702030302020204" pitchFamily="66" charset="0"/>
              </a:endParaRPr>
            </a:p>
          </p:txBody>
        </p:sp>
        <p:sp>
          <p:nvSpPr>
            <p:cNvPr id="34834" name="TextBox 30"/>
            <p:cNvSpPr txBox="1">
              <a:spLocks noChangeArrowheads="1"/>
            </p:cNvSpPr>
            <p:nvPr/>
          </p:nvSpPr>
          <p:spPr bwMode="auto">
            <a:xfrm>
              <a:off x="533400" y="4188023"/>
              <a:ext cx="2743200" cy="306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i="0">
                  <a:latin typeface="Comic Sans MS" panose="030F0702030302020204" pitchFamily="66" charset="0"/>
                </a:rPr>
                <a:t>TCP</a:t>
              </a:r>
            </a:p>
          </p:txBody>
        </p:sp>
        <p:sp>
          <p:nvSpPr>
            <p:cNvPr id="34835" name="TextBox 31"/>
            <p:cNvSpPr txBox="1">
              <a:spLocks noChangeArrowheads="1"/>
            </p:cNvSpPr>
            <p:nvPr/>
          </p:nvSpPr>
          <p:spPr bwMode="auto">
            <a:xfrm>
              <a:off x="533400" y="4721423"/>
              <a:ext cx="2743200" cy="306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400" i="0">
                  <a:latin typeface="Comic Sans MS" panose="030F0702030302020204" pitchFamily="66" charset="0"/>
                </a:rPr>
                <a:t>IP</a:t>
              </a:r>
            </a:p>
          </p:txBody>
        </p:sp>
        <p:sp>
          <p:nvSpPr>
            <p:cNvPr id="34836" name="TextBox 32"/>
            <p:cNvSpPr txBox="1">
              <a:spLocks noChangeArrowheads="1"/>
            </p:cNvSpPr>
            <p:nvPr/>
          </p:nvSpPr>
          <p:spPr bwMode="auto">
            <a:xfrm>
              <a:off x="533400" y="5254823"/>
              <a:ext cx="2743200" cy="306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i="0">
                  <a:latin typeface="Comic Sans MS" panose="030F0702030302020204" pitchFamily="66" charset="0"/>
                </a:rPr>
                <a:t>数据链路层</a:t>
              </a:r>
              <a:endParaRPr lang="en-US" altLang="zh-CN" sz="1400" i="0">
                <a:latin typeface="Comic Sans MS" panose="030F0702030302020204" pitchFamily="66" charset="0"/>
              </a:endParaRPr>
            </a:p>
          </p:txBody>
        </p:sp>
        <p:sp>
          <p:nvSpPr>
            <p:cNvPr id="34837" name="TextBox 33"/>
            <p:cNvSpPr txBox="1">
              <a:spLocks noChangeArrowheads="1"/>
            </p:cNvSpPr>
            <p:nvPr/>
          </p:nvSpPr>
          <p:spPr bwMode="auto">
            <a:xfrm>
              <a:off x="533400" y="5788223"/>
              <a:ext cx="2743200" cy="306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400" i="0">
                  <a:latin typeface="Comic Sans MS" panose="030F0702030302020204" pitchFamily="66" charset="0"/>
                </a:rPr>
                <a:t>物理层</a:t>
              </a:r>
              <a:r>
                <a:rPr lang="en-US" altLang="zh-CN" sz="1400" i="0">
                  <a:latin typeface="Comic Sans MS" panose="030F0702030302020204" pitchFamily="66" charset="0"/>
                </a:rPr>
                <a:t> 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rot="5400000">
              <a:off x="2705894" y="3237706"/>
              <a:ext cx="1600200" cy="1588"/>
            </a:xfrm>
            <a:prstGeom prst="straightConnector1">
              <a:avLst/>
            </a:prstGeom>
            <a:ln w="19050">
              <a:headEnd type="arrow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839" name="TextBox 47"/>
            <p:cNvSpPr txBox="1">
              <a:spLocks noChangeArrowheads="1"/>
            </p:cNvSpPr>
            <p:nvPr/>
          </p:nvSpPr>
          <p:spPr bwMode="auto">
            <a:xfrm>
              <a:off x="3505200" y="3058180"/>
              <a:ext cx="1219200" cy="3067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 i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1400" i="0">
                  <a:latin typeface="Comic Sans MS" panose="030F0702030302020204" pitchFamily="66" charset="0"/>
                </a:rPr>
                <a:t>应用层</a:t>
              </a:r>
              <a:endParaRPr lang="en-US" altLang="zh-CN" sz="1400" i="0">
                <a:latin typeface="Comic Sans MS" panose="030F0702030302020204" pitchFamily="66" charset="0"/>
              </a:endParaRPr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2895600" y="5649913"/>
            <a:ext cx="1148715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1800" i="0" dirty="0">
                <a:latin typeface="+mn-lt"/>
              </a:rPr>
              <a:t>SSH </a:t>
            </a:r>
            <a:r>
              <a:rPr lang="zh-CN" altLang="en-US" sz="1800" i="0" dirty="0">
                <a:latin typeface="+mn-lt"/>
              </a:rPr>
              <a:t>架构</a:t>
            </a: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24917" y="360045"/>
            <a:ext cx="419100" cy="655320"/>
          </a:xfrm>
          <a:prstGeom prst="rect">
            <a:avLst/>
          </a:prstGeom>
        </p:spPr>
      </p:pic>
      <p:sp>
        <p:nvSpPr>
          <p:cNvPr id="152" name="path 152"/>
          <p:cNvSpPr/>
          <p:nvPr/>
        </p:nvSpPr>
        <p:spPr>
          <a:xfrm flipV="1">
            <a:off x="777875" y="939165"/>
            <a:ext cx="10580370" cy="76200"/>
          </a:xfrm>
          <a:custGeom>
            <a:avLst/>
            <a:gdLst/>
            <a:ahLst/>
            <a:cxnLst/>
            <a:rect l="0" t="0" r="0" b="0"/>
            <a:pathLst>
              <a:path w="14232" h="45">
                <a:moveTo>
                  <a:pt x="0" y="22"/>
                </a:moveTo>
                <a:lnTo>
                  <a:pt x="14232" y="22"/>
                </a:lnTo>
              </a:path>
            </a:pathLst>
          </a:custGeom>
          <a:noFill/>
          <a:ln w="28955" cap="flat">
            <a:solidFill>
              <a:srgbClr val="5B9BD5"/>
            </a:solidFill>
            <a:prstDash val="solid"/>
            <a:miter lim="1000000"/>
          </a:ln>
        </p:spPr>
        <p:txBody>
          <a:bodyPr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9" name="path 8"/>
          <p:cNvSpPr/>
          <p:nvPr>
            <p:custDataLst>
              <p:tags r:id="rId1"/>
            </p:custDataLst>
          </p:nvPr>
        </p:nvSpPr>
        <p:spPr>
          <a:xfrm>
            <a:off x="696468" y="6239255"/>
            <a:ext cx="10779125" cy="27432"/>
          </a:xfrm>
          <a:custGeom>
            <a:avLst/>
            <a:gdLst/>
            <a:ahLst/>
            <a:cxnLst/>
            <a:rect l="0" t="0" r="0" b="0"/>
            <a:pathLst>
              <a:path w="16975" h="43">
                <a:moveTo>
                  <a:pt x="0" y="21"/>
                </a:moveTo>
                <a:lnTo>
                  <a:pt x="16975" y="21"/>
                </a:lnTo>
              </a:path>
            </a:pathLst>
          </a:custGeom>
          <a:noFill/>
          <a:ln w="27431" cap="flat">
            <a:solidFill>
              <a:schemeClr val="accent1"/>
            </a:solidFill>
            <a:prstDash val="solid"/>
            <a:miter lim="1000000"/>
          </a:ln>
        </p:spPr>
        <p:txBody>
          <a:bodyPr rtlCol="0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TcwZjg3OGM5MWVhNmI0ZmM4OGQ1YjQxNGU4NWYzMjg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ZORDER" val="6"/>
  <p:tag name="KSO_WM_UNIT_TYPE" val="i"/>
  <p:tag name="KSO_WM_UNIT_INDEX" val="1"/>
  <p:tag name="KSO_WM_UNIT_ID" val="_0*i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ZORDER" val="6"/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2"/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3"/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4"/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"/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6"/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TEMPLATE_CATEGORY" val="custom"/>
  <p:tag name="KSO_WM_TEMPLATE_USER_THEM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TYPE" val="b"/>
  <p:tag name="KSO_WM_UNIT_INDEX" val="1"/>
  <p:tag name="KSO_WM_TEMPLATE_CATEGORY" val="custom"/>
  <p:tag name="KSO_WM_TEMPLATE_USER_THEM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  <p:tag name="KSO_WM_TEMPLATE_CATEGORY" val="custom"/>
  <p:tag name="KSO_WM_TEMPLATE_USER_THEM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2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2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2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ZORDER" val="6"/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ZORDER" val="6"/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TEMPLATE_CATEGORY" val="custom"/>
  <p:tag name="KSO_WM_TEMPLATE_USER_THEM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  <p:tag name="KSO_WM_TEMPLATE_CATEGORY" val="custom"/>
  <p:tag name="KSO_WM_TEMPLATE_USER_THEM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PRESET_TEXT" val="单击此处编辑副标题"/>
  <p:tag name="KSO_WM_UNIT_NOCLEAR" val="0"/>
  <p:tag name="KSO_WM_UNIT_TYPE" val="b"/>
  <p:tag name="KSO_WM_UNIT_INDEX" val="1"/>
  <p:tag name="KSO_WM_UNIT_ISCONTENTSTITLE" val="0"/>
  <p:tag name="KSO_WM_UNIT_ISNUMDGMTITLE" val="0"/>
  <p:tag name="KSO_WM_TEMPLATE_CATEGORY" val="custom"/>
  <p:tag name="KSO_WM_TEMPLATE_USER_THEM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  <p:tag name="KSO_WM_TEMPLATE_CATEGORY" val="custom"/>
  <p:tag name="KSO_WM_TEMPLATE_USER_THEM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5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UNIT_ID" val="_5*f*2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6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UNIT_ID" val="_6*f*2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UNIT_ID" val="_6*f*3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UNIT_ID" val="_6*f*4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6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7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9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9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D" val="_10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UNIT_ID" val="_10*f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ID" val="_10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ZORDER" val="6"/>
  <p:tag name="KSO_WM_UNIT_ID" val="_1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2"/>
  <p:tag name="KSO_WM_UNIT_ID" val="_1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3"/>
  <p:tag name="KSO_WM_UNIT_ID" val="_1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4"/>
  <p:tag name="KSO_WM_UNIT_ID" val="_1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5"/>
  <p:tag name="KSO_WM_UNIT_ID" val="_1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ZORDER" val="6"/>
  <p:tag name="KSO_WM_UNIT_ID" val="_11**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  <p:tag name="KSO_WM_TEMPLATE_CATEGORY" val="custom"/>
  <p:tag name="KSO_WM_TEMPLATE_USER_THEM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  <p:tag name="KSO_WM_TEMPLATE_CATEGORY" val="custom"/>
  <p:tag name="KSO_WM_TEMPLATE_USER_THEM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itle"/>
  <p:tag name="KSO_WM_TEMPLATE_THUMBS_INDEX" val="1、9"/>
  <p:tag name="KSO_WM_BEAUTIFY_FLAG" val="#wm#"/>
  <p:tag name="KSO_WM_TEMPLATE_CATEGORY" val="custom"/>
  <p:tag name="KSO_WM_TEMPLATE_USER_THEME" val="1"/>
  <p:tag name="KSO_WM_SLIDE_INDEX" val="1"/>
  <p:tag name="KSO_WM_SLIDE_ID" val="custom_1"/>
  <p:tag name="KSO_WM_TEMPLATE_SUBCATEGORY" val="29"/>
  <p:tag name="KSO_WM_SLIDE_LAYOUT" val="a_b_f"/>
  <p:tag name="KSO_WM_SLIDE_LAYOUT_CNT" val="1_1_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UNIT_SUBTYPE" val=""/>
  <p:tag name="KSO_WM_UNIT_PRESET_TEXT" val="单击添加文档标题"/>
  <p:tag name="KSO_WM_UNIT_ID" val="custom_1*a*1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UNIT_SUBTYPE" val="b"/>
  <p:tag name="KSO_WM_UNIT_PRESET_TEXT" val="汇报人：WPS"/>
  <p:tag name="KSO_WM_UNIT_ID" val="custom_1*f*4"/>
  <p:tag name="KSO_WM_BEAUTIFY_FLAG" val="#wm#"/>
  <p:tag name="KSO_WM_TAG_VERSION" val="3.0"/>
  <p:tag name="KSO_WM_UNIT_LAYERLEVEL" val="1"/>
  <p:tag name="KSO_WM_TEMPLATE_CATEGORY" val="custom"/>
  <p:tag name="KSO_WM_TEMPLATE_USER_THEME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i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i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i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i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β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i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i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j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i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i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5"/>
  <p:tag name="KSO_WM_UNIT_TYPE" val="f"/>
  <p:tag name="KSO_WM_UNIT_SUBTYPE" val="a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1"/>
  <p:tag name="KSO_WM_UNIT_TYPE" val="f"/>
  <p:tag name="KSO_WM_UNIT_SUBTYPE" val="a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8"/>
  <p:tag name="KSO_WM_UNIT_TYPE" val="f"/>
  <p:tag name="KSO_WM_UNIT_SUBTYPE" val="a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f"/>
  <p:tag name="KSO_WM_UNIT_SUBTYPE" val="a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i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5"/>
  <p:tag name="KSO_WM_UNIT_TYPE" val="i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j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4"/>
  <p:tag name="KSO_WM_UNIT_TYPE" val="i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3"/>
  <p:tag name="KSO_WM_UNIT_TYPE" val="f"/>
  <p:tag name="KSO_WM_UNIT_SUBTYPE" val="a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_1_1"/>
  <p:tag name="KSO_WM_UNIT_TYPE" val="l_h_f"/>
  <p:tag name="KSO_WM_UNIT_SUBTYPE" val="a"/>
  <p:tag name="KSO_WM_TEMPLATE_CATEGORY" val="diagram"/>
  <p:tag name="KSO_WM_TEMPLATE_INDEX" val="19882022"/>
  <p:tag name="KSO_WM_UNIT_ID" val="diagram19882022*l_h_f*1_1_1"/>
  <p:tag name="KSO_WM_DIAGRAM_GROUP_CODE" val="l1-1"/>
  <p:tag name="KSO_WM_TAG_VERSION" val="2.0"/>
  <p:tag name="KSO_WM_BEAUTIFY_FLAG" val="#wm#"/>
  <p:tag name="KSO_WM_DIAGRAM_VIRTUALLY_FRAME" val="{&quot;height&quot;:457.62503937007875,&quot;left&quot;:61.35,&quot;top&quot;:8.6,&quot;width&quot;:828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_2_1"/>
  <p:tag name="KSO_WM_UNIT_TYPE" val="l_h_a"/>
  <p:tag name="KSO_WM_TEMPLATE_CATEGORY" val="diagram"/>
  <p:tag name="KSO_WM_TEMPLATE_INDEX" val="19882022"/>
  <p:tag name="KSO_WM_UNIT_ID" val="diagram19882022*l_h_a*1_2_1"/>
  <p:tag name="KSO_WM_DIAGRAM_GROUP_CODE" val="l1-1"/>
  <p:tag name="KSO_WM_TAG_VERSION" val="2.0"/>
  <p:tag name="KSO_WM_BEAUTIFY_FLAG" val="#wm#"/>
  <p:tag name="KSO_WM_UNIT_SUBTYPE" val="a"/>
  <p:tag name="KSO_WM_DIAGRAM_VIRTUALLY_FRAME" val="{&quot;height&quot;:457.62503937007875,&quot;left&quot;:61.35,&quot;top&quot;:8.6,&quot;width&quot;:828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i"/>
  <p:tag name="KSO_WM_BEAUTIFY_FLAG" val="#wm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i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i"/>
  <p:tag name="KSO_WM_BEAUTIFY_FLAG" val="#wm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i"/>
  <p:tag name="KSO_WM_BEAUTIFY_FLAG" val="#wm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4"/>
  <p:tag name="KSO_WM_UNIT_TYPE" val="i"/>
  <p:tag name="KSO_WM_BEAUTIFY_FLAG" val="#wm#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j"/>
  <p:tag name="KSO_WM_BEAUTIFY_FLAG" val="#wm#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i"/>
  <p:tag name="KSO_WM_BEAUTIFY_FLAG" val="#wm#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2"/>
  <p:tag name="KSO_WM_UNIT_TYPE" val="f"/>
  <p:tag name="KSO_WM_UNIT_SUBTYPE" val="a"/>
  <p:tag name="KSO_WM_BEAUTIFY_FLAG" val="#wm#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a"/>
  <p:tag name="KSO_WM_BEAUTIFY_FLAG" val="#wm#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0"/>
  <p:tag name="KSO_WM_UNIT_TYPE" val="f"/>
  <p:tag name="KSO_WM_UNIT_SUBTYPE" val="a"/>
  <p:tag name="KSO_WM_BEAUTIFY_FLAG" val="#wm#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f"/>
  <p:tag name="KSO_WM_UNIT_SUBTYPE" val="a"/>
  <p:tag name="KSO_WM_BEAUTIFY_FLAG" val="#wm#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i"/>
  <p:tag name="KSO_WM_BEAUTIFY_FLAG" val="#wm#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7"/>
  <p:tag name="KSO_WM_UNIT_TYPE" val="f"/>
  <p:tag name="KSO_WM_UNIT_SUBTYPE" val="a"/>
  <p:tag name="KSO_WM_BEAUTIFY_FLAG" val="#wm#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j"/>
  <p:tag name="KSO_WM_BEAUTIFY_FLAG" val="#wm#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8"/>
  <p:tag name="KSO_WM_UNIT_TYPE" val="f"/>
  <p:tag name="KSO_WM_UNIT_SUBTYPE" val="a"/>
  <p:tag name="KSO_WM_BEAUTIFY_FLAG" val="#wm#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6"/>
  <p:tag name="KSO_WM_UNIT_TYPE" val="f"/>
  <p:tag name="KSO_WM_UNIT_SUBTYPE" val="a"/>
  <p:tag name="KSO_WM_BEAUTIFY_FLAG" val="#wm#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j"/>
  <p:tag name="KSO_WM_BEAUTIFY_FLAG" val="#wm#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i"/>
  <p:tag name="KSO_WM_BEAUTIFY_FLAG" val="#wm#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TYPE" val="text"/>
  <p:tag name="KSO_WM_BEAUTIFY_FLAG" val="#wm#"/>
  <p:tag name="KSO_WM_TEMPLATE_CATEGORY" val="custom"/>
  <p:tag name="KSO_WM_TEMPLATE_USER_THEME" val="1"/>
  <p:tag name="KSO_WM_SLIDE_INDEX" val="8"/>
  <p:tag name="KSO_WM_SLIDE_ID" val="custom_8"/>
  <p:tag name="KSO_WM_TEMPLATE_SUBCATEGORY" val="29"/>
  <p:tag name="KSO_WM_SLIDE_LAYOUT" val="a_f"/>
  <p:tag name="KSO_WM_SLIDE_LAYOUT_CNT" val="1_1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1"/>
  <p:tag name="KSO_WM_UNIT_TYPE" val="a"/>
  <p:tag name="KSO_WM_BEAUTIFY_FLAG" val="#wm#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3"/>
  <p:tag name="KSO_WM_UNIT_TYPE" val="f"/>
  <p:tag name="KSO_WM_UNIT_SUBTYPE" val="a"/>
  <p:tag name="KSO_WM_BEAUTIFY_FLAG" val="#wm#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NDEX" val="2"/>
  <p:tag name="KSO_WM_UNIT_TYPE" val="i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122234"/>
      </a:dk2>
      <a:lt2>
        <a:srgbClr val="F5F8FC"/>
      </a:lt2>
      <a:accent1>
        <a:srgbClr val="5C8FC7"/>
      </a:accent1>
      <a:accent2>
        <a:srgbClr val="9DBCDD"/>
      </a:accent2>
      <a:accent3>
        <a:srgbClr val="4B7CB1"/>
      </a:accent3>
      <a:accent4>
        <a:srgbClr val="91B3D8"/>
      </a:accent4>
      <a:accent5>
        <a:srgbClr val="DDE7F3"/>
      </a:accent5>
      <a:accent6>
        <a:srgbClr val="709BCA"/>
      </a:accent6>
      <a:hlink>
        <a:srgbClr val="0026E5"/>
      </a:hlink>
      <a:folHlink>
        <a:srgbClr val="7E1FAD"/>
      </a:folHlink>
    </a:clrScheme>
    <a:fontScheme name="自定义 9">
      <a:majorFont>
        <a:latin typeface="微软雅黑"/>
        <a:ea typeface="微软雅黑"/>
        <a:cs typeface=""/>
      </a:majorFont>
      <a:minorFont>
        <a:latin typeface="微软雅黑"/>
        <a:ea typeface="黑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3442</Words>
  <Application>Microsoft Office PowerPoint</Application>
  <PresentationFormat>宽屏</PresentationFormat>
  <Paragraphs>489</Paragraphs>
  <Slides>53</Slides>
  <Notes>16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4" baseType="lpstr">
      <vt:lpstr>Inter</vt:lpstr>
      <vt:lpstr>宋体</vt:lpstr>
      <vt:lpstr>微软雅黑</vt:lpstr>
      <vt:lpstr>Arial</vt:lpstr>
      <vt:lpstr>Calibri</vt:lpstr>
      <vt:lpstr>Comic Sans MS</vt:lpstr>
      <vt:lpstr>Times New Roman</vt:lpstr>
      <vt:lpstr>Wingdings</vt:lpstr>
      <vt:lpstr>WPS</vt:lpstr>
      <vt:lpstr>1_Office 主题</vt:lpstr>
      <vt:lpstr>Visio</vt:lpstr>
      <vt:lpstr>第17章 传输层安全</vt:lpstr>
      <vt:lpstr>第17章  传输层安全</vt:lpstr>
      <vt:lpstr> 17.1  Web安全性考虑</vt:lpstr>
      <vt:lpstr> 17.1  Web安全性考虑</vt:lpstr>
      <vt:lpstr> 17.1.2  网络流量安全方法</vt:lpstr>
      <vt:lpstr>第17章  传输层安全</vt:lpstr>
      <vt:lpstr> 17.2  传输层安全</vt:lpstr>
      <vt:lpstr>17.2  RFC标准</vt:lpstr>
      <vt:lpstr>17.2  TLS协议</vt:lpstr>
      <vt:lpstr>17.2 层次关系</vt:lpstr>
      <vt:lpstr>17.2 Record功能</vt:lpstr>
      <vt:lpstr>17.2 TLS/Record依赖于TCP</vt:lpstr>
      <vt:lpstr>17.2 大致运行流程</vt:lpstr>
      <vt:lpstr>17.2 Handshake功能</vt:lpstr>
      <vt:lpstr>17.2 Change Cipher Spec功能</vt:lpstr>
      <vt:lpstr>17.2 Alert功能</vt:lpstr>
      <vt:lpstr>PowerPoint 演示文稿</vt:lpstr>
      <vt:lpstr>17.2 Application Data功能</vt:lpstr>
      <vt:lpstr>17.2 核心内容</vt:lpstr>
      <vt:lpstr>17.2 Record层</vt:lpstr>
      <vt:lpstr>17.2 Record层</vt:lpstr>
      <vt:lpstr>17.2 Record层</vt:lpstr>
      <vt:lpstr>PowerPoint 演示文稿</vt:lpstr>
      <vt:lpstr>Record层的处理—Fragmentation</vt:lpstr>
      <vt:lpstr>Record层的处理—Fragmentation</vt:lpstr>
      <vt:lpstr>Record层的处理—Fragmentation</vt:lpstr>
      <vt:lpstr>Record层的处理—Compression</vt:lpstr>
      <vt:lpstr>Record层的处理—Payload Protection</vt:lpstr>
      <vt:lpstr>MAC计算/加密——流密码/空算法</vt:lpstr>
      <vt:lpstr>MAC计算/加密——分组密码</vt:lpstr>
      <vt:lpstr>MAC计算/加密——认证加密模式</vt:lpstr>
      <vt:lpstr>Record层—Connection State</vt:lpstr>
      <vt:lpstr>Record层—Connection State</vt:lpstr>
      <vt:lpstr>Record协议层内部的参数变化示例</vt:lpstr>
      <vt:lpstr>协商过程</vt:lpstr>
      <vt:lpstr>Handshake Protocol的具体过程</vt:lpstr>
      <vt:lpstr>Handshake消息的结构</vt:lpstr>
      <vt:lpstr>Handshake消息的分类</vt:lpstr>
      <vt:lpstr>Hello Request</vt:lpstr>
      <vt:lpstr>最基本的Handshake协议过程</vt:lpstr>
      <vt:lpstr>简单过程-1</vt:lpstr>
      <vt:lpstr>简单过程-2</vt:lpstr>
      <vt:lpstr>简单过程-3</vt:lpstr>
      <vt:lpstr>简单过程-4-RSA</vt:lpstr>
      <vt:lpstr>共享premaster secret</vt:lpstr>
      <vt:lpstr>产生Master Secret</vt:lpstr>
      <vt:lpstr>产生各种所需的密钥/IV/Secret等</vt:lpstr>
      <vt:lpstr>简单过程-5</vt:lpstr>
      <vt:lpstr>简单过程-6</vt:lpstr>
      <vt:lpstr>完成协商，开始Application Data</vt:lpstr>
      <vt:lpstr>17.3 TLS v1.3</vt:lpstr>
      <vt:lpstr>SSH简介</vt:lpstr>
      <vt:lpstr>SSH的3层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surface</dc:creator>
  <cp:lastModifiedBy>bowen xu</cp:lastModifiedBy>
  <cp:revision>63</cp:revision>
  <dcterms:created xsi:type="dcterms:W3CDTF">1900-01-01T00:00:00Z</dcterms:created>
  <dcterms:modified xsi:type="dcterms:W3CDTF">2025-05-20T07:19:01Z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2052-12.1.0.21171</vt:lpwstr>
  </property>
</Properties>
</file>