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0.pdf" ContentType="application/pdf"/>
  <Override PartName="/ppt/media/image12.pdf" ContentType="application/pdf"/>
  <Override PartName="/ppt/media/image6.pdf" ContentType="application/pdf"/>
  <Override PartName="/ppt/media/image8.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6"/>
  </p:notesMasterIdLst>
  <p:sldIdLst>
    <p:sldId id="841" r:id="rId4"/>
    <p:sldId id="842" r:id="rId5"/>
    <p:sldId id="847" r:id="rId7"/>
    <p:sldId id="1021" r:id="rId8"/>
    <p:sldId id="1022" r:id="rId9"/>
    <p:sldId id="941" r:id="rId10"/>
    <p:sldId id="1023" r:id="rId11"/>
    <p:sldId id="1024" r:id="rId12"/>
    <p:sldId id="1026" r:id="rId13"/>
    <p:sldId id="1025" r:id="rId14"/>
    <p:sldId id="1027" r:id="rId15"/>
    <p:sldId id="942" r:id="rId16"/>
    <p:sldId id="1028" r:id="rId17"/>
    <p:sldId id="1029" r:id="rId18"/>
    <p:sldId id="1030" r:id="rId19"/>
    <p:sldId id="1031" r:id="rId20"/>
    <p:sldId id="1032" r:id="rId21"/>
    <p:sldId id="1033" r:id="rId22"/>
    <p:sldId id="1034" r:id="rId23"/>
    <p:sldId id="1035" r:id="rId24"/>
    <p:sldId id="1036" r:id="rId25"/>
    <p:sldId id="1037" r:id="rId26"/>
    <p:sldId id="1038" r:id="rId27"/>
    <p:sldId id="1039" r:id="rId28"/>
    <p:sldId id="1040" r:id="rId29"/>
    <p:sldId id="1041" r:id="rId30"/>
    <p:sldId id="1042" r:id="rId31"/>
    <p:sldId id="1043" r:id="rId32"/>
    <p:sldId id="1044" r:id="rId33"/>
    <p:sldId id="1045" r:id="rId34"/>
    <p:sldId id="1046" r:id="rId35"/>
    <p:sldId id="1047" r:id="rId36"/>
    <p:sldId id="1048" r:id="rId37"/>
    <p:sldId id="1049" r:id="rId38"/>
    <p:sldId id="1050" r:id="rId39"/>
    <p:sldId id="1051" r:id="rId40"/>
    <p:sldId id="1052" r:id="rId41"/>
    <p:sldId id="1053" r:id="rId42"/>
    <p:sldId id="1054" r:id="rId43"/>
    <p:sldId id="1055" r:id="rId44"/>
    <p:sldId id="1056" r:id="rId45"/>
    <p:sldId id="1057" r:id="rId46"/>
    <p:sldId id="1058" r:id="rId47"/>
    <p:sldId id="1059" r:id="rId48"/>
    <p:sldId id="1060" r:id="rId49"/>
    <p:sldId id="1061" r:id="rId50"/>
    <p:sldId id="1062" r:id="rId51"/>
    <p:sldId id="1063" r:id="rId52"/>
  </p:sldIdLst>
  <p:sldSz cx="12192000" cy="6858000" type="screen4x3"/>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9" userDrawn="1">
          <p15:clr>
            <a:srgbClr val="A4A3A4"/>
          </p15:clr>
        </p15:guide>
        <p15:guide id="2" pos="37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qx" initials="w" lastIdx="6"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49"/>
        <p:guide pos="37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7" Type="http://schemas.openxmlformats.org/officeDocument/2006/relationships/tags" Target="tags/tag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0F91678-A966-014A-AFE3-F3D065DF6BCC}"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A51A051B-B444-5C4D-ACCD-2A20DD4E2424}">
      <dgm:prSet/>
      <dgm:spPr/>
      <dgm:t>
        <a:bodyPr/>
        <a:lstStyle/>
        <a:p>
          <a:pPr rtl="0"/>
          <a:r>
            <a:rPr lang="en-US" dirty="0" smtClean="0"/>
            <a:t>MIME-Version</a:t>
          </a:r>
          <a:endParaRPr lang="en-US" dirty="0"/>
        </a:p>
      </dgm:t>
    </dgm:pt>
    <dgm:pt modelId="{8776F8E4-929F-EE4F-9587-AEED3A3789FB}" cxnId="{C0827931-ADBE-7542-8773-310152EBA1A4}" type="parTrans">
      <dgm:prSet/>
      <dgm:spPr/>
      <dgm:t>
        <a:bodyPr/>
        <a:lstStyle/>
        <a:p>
          <a:endParaRPr lang="en-US"/>
        </a:p>
      </dgm:t>
    </dgm:pt>
    <dgm:pt modelId="{AFE95660-BFD2-F744-96FE-FACB8D9DE7B5}" cxnId="{C0827931-ADBE-7542-8773-310152EBA1A4}" type="sibTrans">
      <dgm:prSet/>
      <dgm:spPr/>
      <dgm:t>
        <a:bodyPr/>
        <a:lstStyle/>
        <a:p>
          <a:endParaRPr lang="en-US"/>
        </a:p>
      </dgm:t>
    </dgm:pt>
    <dgm:pt modelId="{F31C79FB-85F6-7C43-A794-B3F4DDE05DF4}">
      <dgm:prSet/>
      <dgm:spPr/>
      <dgm:t>
        <a:bodyPr/>
        <a:lstStyle/>
        <a:p>
          <a:pPr rtl="0"/>
          <a:r>
            <a:rPr lang="en-US" dirty="0" smtClean="0"/>
            <a:t>Must have the parameter value 1.0</a:t>
          </a:r>
          <a:endParaRPr lang="en-US" dirty="0"/>
        </a:p>
      </dgm:t>
    </dgm:pt>
    <dgm:pt modelId="{04C8D68A-9CCD-764A-A3BF-7BFD50312E9D}" cxnId="{13F08BDF-93E0-9E42-830B-D8B6BF0DDCC1}" type="parTrans">
      <dgm:prSet/>
      <dgm:spPr/>
      <dgm:t>
        <a:bodyPr/>
        <a:lstStyle/>
        <a:p>
          <a:endParaRPr lang="en-US"/>
        </a:p>
      </dgm:t>
    </dgm:pt>
    <dgm:pt modelId="{D72DE6BB-3CE9-7D4F-9D78-1B2E4F7DD480}" cxnId="{13F08BDF-93E0-9E42-830B-D8B6BF0DDCC1}" type="sibTrans">
      <dgm:prSet/>
      <dgm:spPr/>
      <dgm:t>
        <a:bodyPr/>
        <a:lstStyle/>
        <a:p>
          <a:endParaRPr lang="en-US"/>
        </a:p>
      </dgm:t>
    </dgm:pt>
    <dgm:pt modelId="{A64C4E49-A0FB-9E44-BB1D-A5CD8B1AE6EB}">
      <dgm:prSet/>
      <dgm:spPr/>
      <dgm:t>
        <a:bodyPr/>
        <a:lstStyle/>
        <a:p>
          <a:pPr rtl="0"/>
          <a:r>
            <a:rPr lang="en-US" dirty="0" smtClean="0"/>
            <a:t>This field indicates that the message conforms to RFCs 2045 and 2046</a:t>
          </a:r>
          <a:endParaRPr lang="en-US" dirty="0"/>
        </a:p>
      </dgm:t>
    </dgm:pt>
    <dgm:pt modelId="{57DBDDC1-3B17-8C40-AD8C-CFBA8BF28BF9}" cxnId="{90173BE2-1E04-1745-A40A-D7E2A549B1A9}" type="parTrans">
      <dgm:prSet/>
      <dgm:spPr/>
      <dgm:t>
        <a:bodyPr/>
        <a:lstStyle/>
        <a:p>
          <a:endParaRPr lang="en-US"/>
        </a:p>
      </dgm:t>
    </dgm:pt>
    <dgm:pt modelId="{6413D08D-EA4A-764A-A87F-1337495A5A65}" cxnId="{90173BE2-1E04-1745-A40A-D7E2A549B1A9}" type="sibTrans">
      <dgm:prSet/>
      <dgm:spPr/>
      <dgm:t>
        <a:bodyPr/>
        <a:lstStyle/>
        <a:p>
          <a:endParaRPr lang="en-US"/>
        </a:p>
      </dgm:t>
    </dgm:pt>
    <dgm:pt modelId="{80DC049B-7FD5-3045-83DD-F1080B16A5FD}">
      <dgm:prSet/>
      <dgm:spPr/>
      <dgm:t>
        <a:bodyPr/>
        <a:lstStyle/>
        <a:p>
          <a:pPr rtl="0"/>
          <a:r>
            <a:rPr lang="en-US" dirty="0" smtClean="0"/>
            <a:t>Content-Type</a:t>
          </a:r>
          <a:endParaRPr lang="en-US" dirty="0"/>
        </a:p>
      </dgm:t>
    </dgm:pt>
    <dgm:pt modelId="{8DB4D05B-BD93-564D-BC96-D04C53A8B166}" cxnId="{6DC5843C-F893-554C-B497-EE783C6D42AA}" type="parTrans">
      <dgm:prSet/>
      <dgm:spPr/>
      <dgm:t>
        <a:bodyPr/>
        <a:lstStyle/>
        <a:p>
          <a:endParaRPr lang="en-US"/>
        </a:p>
      </dgm:t>
    </dgm:pt>
    <dgm:pt modelId="{90A38F66-0514-6B40-9287-C28DD9752DA8}" cxnId="{6DC5843C-F893-554C-B497-EE783C6D42AA}" type="sibTrans">
      <dgm:prSet/>
      <dgm:spPr/>
      <dgm:t>
        <a:bodyPr/>
        <a:lstStyle/>
        <a:p>
          <a:endParaRPr lang="en-US"/>
        </a:p>
      </dgm:t>
    </dgm:pt>
    <dgm:pt modelId="{9EFBC27B-9187-484D-AD98-003F107DD10F}">
      <dgm:prSet/>
      <dgm:spPr/>
      <dgm:t>
        <a:bodyPr/>
        <a:lstStyle/>
        <a:p>
          <a:pPr rtl="0"/>
          <a:r>
            <a:rPr lang="en-US" dirty="0" smtClean="0"/>
            <a:t>Describes the data contained in the body with sufficient detail that the receiving user agent can pick an appropriate agent or mechanism to represent the data to the user or otherwise deal with the data in an appropriate manner</a:t>
          </a:r>
          <a:endParaRPr lang="en-US" dirty="0"/>
        </a:p>
      </dgm:t>
    </dgm:pt>
    <dgm:pt modelId="{625F119B-BFD1-F543-B281-1D322E011FB3}" cxnId="{4A2F6DC5-D150-1048-AE28-1FF498F06545}" type="parTrans">
      <dgm:prSet/>
      <dgm:spPr/>
      <dgm:t>
        <a:bodyPr/>
        <a:lstStyle/>
        <a:p>
          <a:endParaRPr lang="en-US"/>
        </a:p>
      </dgm:t>
    </dgm:pt>
    <dgm:pt modelId="{105A3B14-4266-A84D-A904-71E74119EB9C}" cxnId="{4A2F6DC5-D150-1048-AE28-1FF498F06545}" type="sibTrans">
      <dgm:prSet/>
      <dgm:spPr/>
      <dgm:t>
        <a:bodyPr/>
        <a:lstStyle/>
        <a:p>
          <a:endParaRPr lang="en-US"/>
        </a:p>
      </dgm:t>
    </dgm:pt>
    <dgm:pt modelId="{2C9CC854-3F87-254F-A2B1-29161529ADF1}">
      <dgm:prSet/>
      <dgm:spPr/>
      <dgm:t>
        <a:bodyPr/>
        <a:lstStyle/>
        <a:p>
          <a:pPr rtl="0"/>
          <a:r>
            <a:rPr lang="en-US" dirty="0" smtClean="0"/>
            <a:t>Content-Transfer-Encoding</a:t>
          </a:r>
          <a:endParaRPr lang="en-US" dirty="0"/>
        </a:p>
      </dgm:t>
    </dgm:pt>
    <dgm:pt modelId="{37A459E1-3DFD-484E-A449-6ACB53A26CC2}" cxnId="{F6EE9D8A-6F99-E049-ABEB-5EA5B04B5184}" type="parTrans">
      <dgm:prSet/>
      <dgm:spPr/>
      <dgm:t>
        <a:bodyPr/>
        <a:lstStyle/>
        <a:p>
          <a:endParaRPr lang="en-US"/>
        </a:p>
      </dgm:t>
    </dgm:pt>
    <dgm:pt modelId="{97FE1EB6-3554-394B-B19F-2EB818A7E00F}" cxnId="{F6EE9D8A-6F99-E049-ABEB-5EA5B04B5184}" type="sibTrans">
      <dgm:prSet/>
      <dgm:spPr/>
      <dgm:t>
        <a:bodyPr/>
        <a:lstStyle/>
        <a:p>
          <a:endParaRPr lang="en-US"/>
        </a:p>
      </dgm:t>
    </dgm:pt>
    <dgm:pt modelId="{C0493049-879C-7048-81E3-E88D8A386435}">
      <dgm:prSet/>
      <dgm:spPr/>
      <dgm:t>
        <a:bodyPr/>
        <a:lstStyle/>
        <a:p>
          <a:pPr rtl="0"/>
          <a:r>
            <a:rPr lang="en-US" dirty="0" smtClean="0"/>
            <a:t>Indicates the type of transformation that has been used to represent the body of the message in a way that is acceptable for mail transport</a:t>
          </a:r>
          <a:endParaRPr lang="en-US" dirty="0"/>
        </a:p>
      </dgm:t>
    </dgm:pt>
    <dgm:pt modelId="{8858A644-7071-C74C-A99E-CCE8AB40A547}" cxnId="{40DC9E8D-B94C-0948-AD4A-5CF5278F6F75}" type="parTrans">
      <dgm:prSet/>
      <dgm:spPr/>
      <dgm:t>
        <a:bodyPr/>
        <a:lstStyle/>
        <a:p>
          <a:endParaRPr lang="en-US"/>
        </a:p>
      </dgm:t>
    </dgm:pt>
    <dgm:pt modelId="{4CF35CDC-BA3B-8F45-BB5B-0536A3C176F2}" cxnId="{40DC9E8D-B94C-0948-AD4A-5CF5278F6F75}" type="sibTrans">
      <dgm:prSet/>
      <dgm:spPr/>
      <dgm:t>
        <a:bodyPr/>
        <a:lstStyle/>
        <a:p>
          <a:endParaRPr lang="en-US"/>
        </a:p>
      </dgm:t>
    </dgm:pt>
    <dgm:pt modelId="{87FBB302-2DE2-1C42-85BA-409AF46FD45E}">
      <dgm:prSet/>
      <dgm:spPr/>
      <dgm:t>
        <a:bodyPr/>
        <a:lstStyle/>
        <a:p>
          <a:pPr rtl="0"/>
          <a:r>
            <a:rPr lang="en-US" dirty="0" smtClean="0"/>
            <a:t>Content-ID</a:t>
          </a:r>
          <a:endParaRPr lang="en-US" dirty="0"/>
        </a:p>
      </dgm:t>
    </dgm:pt>
    <dgm:pt modelId="{B1DDF52A-03C2-ED42-BCB4-B84B7D2B9F2C}" cxnId="{C684D08E-BF39-C646-8A0B-05126313DA0B}" type="parTrans">
      <dgm:prSet/>
      <dgm:spPr/>
      <dgm:t>
        <a:bodyPr/>
        <a:lstStyle/>
        <a:p>
          <a:endParaRPr lang="en-US"/>
        </a:p>
      </dgm:t>
    </dgm:pt>
    <dgm:pt modelId="{81CC6E2D-C9C7-CC49-94DF-7BCBF745FD8D}" cxnId="{C684D08E-BF39-C646-8A0B-05126313DA0B}" type="sibTrans">
      <dgm:prSet/>
      <dgm:spPr/>
      <dgm:t>
        <a:bodyPr/>
        <a:lstStyle/>
        <a:p>
          <a:endParaRPr lang="en-US"/>
        </a:p>
      </dgm:t>
    </dgm:pt>
    <dgm:pt modelId="{E2C2B88E-C365-1342-A70B-E66784EEBADA}">
      <dgm:prSet/>
      <dgm:spPr/>
      <dgm:t>
        <a:bodyPr/>
        <a:lstStyle/>
        <a:p>
          <a:pPr rtl="0"/>
          <a:r>
            <a:rPr lang="en-US" dirty="0" smtClean="0"/>
            <a:t>Used to identify MIME entities uniquely in multiple contexts</a:t>
          </a:r>
          <a:endParaRPr lang="en-US" dirty="0"/>
        </a:p>
      </dgm:t>
    </dgm:pt>
    <dgm:pt modelId="{0C65C72B-4B61-A94E-BDEC-BFF0D37E59FA}" cxnId="{669D4825-009B-E74C-A02E-BA0A0CBB9F58}" type="parTrans">
      <dgm:prSet/>
      <dgm:spPr/>
      <dgm:t>
        <a:bodyPr/>
        <a:lstStyle/>
        <a:p>
          <a:endParaRPr lang="en-US"/>
        </a:p>
      </dgm:t>
    </dgm:pt>
    <dgm:pt modelId="{6141C23A-9D80-B74C-B097-1398C10B4B73}" cxnId="{669D4825-009B-E74C-A02E-BA0A0CBB9F58}" type="sibTrans">
      <dgm:prSet/>
      <dgm:spPr/>
      <dgm:t>
        <a:bodyPr/>
        <a:lstStyle/>
        <a:p>
          <a:endParaRPr lang="en-US"/>
        </a:p>
      </dgm:t>
    </dgm:pt>
    <dgm:pt modelId="{DD51DDBF-23E0-B343-B9F6-E49D54C489B5}">
      <dgm:prSet/>
      <dgm:spPr/>
      <dgm:t>
        <a:bodyPr/>
        <a:lstStyle/>
        <a:p>
          <a:pPr rtl="0"/>
          <a:r>
            <a:rPr lang="en-US" dirty="0" smtClean="0"/>
            <a:t>Content-Description</a:t>
          </a:r>
          <a:endParaRPr lang="en-US" dirty="0"/>
        </a:p>
      </dgm:t>
    </dgm:pt>
    <dgm:pt modelId="{A9DB291B-5DDE-7A4E-8BC2-0322A79053D8}" cxnId="{3DE04106-F15A-5A4E-ACE9-78D6C34928B6}" type="parTrans">
      <dgm:prSet/>
      <dgm:spPr/>
      <dgm:t>
        <a:bodyPr/>
        <a:lstStyle/>
        <a:p>
          <a:endParaRPr lang="en-US"/>
        </a:p>
      </dgm:t>
    </dgm:pt>
    <dgm:pt modelId="{D77F60C8-BFE7-E44C-9DCE-ADD797F2CB9E}" cxnId="{3DE04106-F15A-5A4E-ACE9-78D6C34928B6}" type="sibTrans">
      <dgm:prSet/>
      <dgm:spPr/>
      <dgm:t>
        <a:bodyPr/>
        <a:lstStyle/>
        <a:p>
          <a:endParaRPr lang="en-US"/>
        </a:p>
      </dgm:t>
    </dgm:pt>
    <dgm:pt modelId="{F83775D9-231C-DC44-A2D0-E6F9CB883F69}">
      <dgm:prSet/>
      <dgm:spPr/>
      <dgm:t>
        <a:bodyPr/>
        <a:lstStyle/>
        <a:p>
          <a:pPr rtl="0"/>
          <a:r>
            <a:rPr lang="en-US" dirty="0" smtClean="0"/>
            <a:t>A text description of the object with the body;  this is useful when the object is not readable</a:t>
          </a:r>
          <a:endParaRPr lang="en-US" dirty="0"/>
        </a:p>
      </dgm:t>
    </dgm:pt>
    <dgm:pt modelId="{84E1DDA8-5A62-1C4D-9143-A7763DC0FB31}" cxnId="{8B2D44C8-F569-2C40-8369-F5381957DF24}" type="parTrans">
      <dgm:prSet/>
      <dgm:spPr/>
      <dgm:t>
        <a:bodyPr/>
        <a:lstStyle/>
        <a:p>
          <a:endParaRPr lang="en-US"/>
        </a:p>
      </dgm:t>
    </dgm:pt>
    <dgm:pt modelId="{19B7166B-0324-224D-82E1-FB4C4C32A8F2}" cxnId="{8B2D44C8-F569-2C40-8369-F5381957DF24}" type="sibTrans">
      <dgm:prSet/>
      <dgm:spPr/>
      <dgm:t>
        <a:bodyPr/>
        <a:lstStyle/>
        <a:p>
          <a:endParaRPr lang="en-US"/>
        </a:p>
      </dgm:t>
    </dgm:pt>
    <dgm:pt modelId="{44878D81-C104-7847-9BF0-A7694467A921}" type="pres">
      <dgm:prSet presAssocID="{30F91678-A966-014A-AFE3-F3D065DF6BCC}" presName="linear" presStyleCnt="0">
        <dgm:presLayoutVars>
          <dgm:dir/>
          <dgm:animLvl val="lvl"/>
          <dgm:resizeHandles val="exact"/>
        </dgm:presLayoutVars>
      </dgm:prSet>
      <dgm:spPr/>
      <dgm:t>
        <a:bodyPr/>
        <a:lstStyle/>
        <a:p>
          <a:endParaRPr lang="en-US"/>
        </a:p>
      </dgm:t>
    </dgm:pt>
    <dgm:pt modelId="{F4B8651E-3ED3-9E48-B1B8-A623EDC3BE28}" type="pres">
      <dgm:prSet presAssocID="{A51A051B-B444-5C4D-ACCD-2A20DD4E2424}" presName="parentLin" presStyleCnt="0"/>
      <dgm:spPr/>
    </dgm:pt>
    <dgm:pt modelId="{48EC8570-AC82-C646-A9E0-D97EA89C7C19}" type="pres">
      <dgm:prSet presAssocID="{A51A051B-B444-5C4D-ACCD-2A20DD4E2424}" presName="parentLeftMargin" presStyleLbl="node1" presStyleIdx="0" presStyleCnt="5"/>
      <dgm:spPr/>
      <dgm:t>
        <a:bodyPr/>
        <a:lstStyle/>
        <a:p>
          <a:endParaRPr lang="en-US"/>
        </a:p>
      </dgm:t>
    </dgm:pt>
    <dgm:pt modelId="{F3CA23DE-DCA7-8A4B-85EC-47D5EDFB354E}" type="pres">
      <dgm:prSet presAssocID="{A51A051B-B444-5C4D-ACCD-2A20DD4E2424}" presName="parentText" presStyleLbl="node1" presStyleIdx="0" presStyleCnt="5">
        <dgm:presLayoutVars>
          <dgm:chMax val="0"/>
          <dgm:bulletEnabled val="1"/>
        </dgm:presLayoutVars>
      </dgm:prSet>
      <dgm:spPr/>
      <dgm:t>
        <a:bodyPr/>
        <a:lstStyle/>
        <a:p>
          <a:endParaRPr lang="en-US"/>
        </a:p>
      </dgm:t>
    </dgm:pt>
    <dgm:pt modelId="{BEBA6324-3904-494E-BF0D-E5725ED52E91}" type="pres">
      <dgm:prSet presAssocID="{A51A051B-B444-5C4D-ACCD-2A20DD4E2424}" presName="negativeSpace" presStyleCnt="0"/>
      <dgm:spPr/>
    </dgm:pt>
    <dgm:pt modelId="{E470F2D5-B98B-CE44-9C25-1EFDE028763E}" type="pres">
      <dgm:prSet presAssocID="{A51A051B-B444-5C4D-ACCD-2A20DD4E2424}" presName="childText" presStyleLbl="conFgAcc1" presStyleIdx="0" presStyleCnt="5">
        <dgm:presLayoutVars>
          <dgm:bulletEnabled val="1"/>
        </dgm:presLayoutVars>
      </dgm:prSet>
      <dgm:spPr/>
      <dgm:t>
        <a:bodyPr/>
        <a:lstStyle/>
        <a:p>
          <a:endParaRPr lang="en-US"/>
        </a:p>
      </dgm:t>
    </dgm:pt>
    <dgm:pt modelId="{07AFA613-A516-8C45-AA10-C38E404E4015}" type="pres">
      <dgm:prSet presAssocID="{AFE95660-BFD2-F744-96FE-FACB8D9DE7B5}" presName="spaceBetweenRectangles" presStyleCnt="0"/>
      <dgm:spPr/>
    </dgm:pt>
    <dgm:pt modelId="{77BBCC61-96F6-9E40-8EC8-3B69EDB77954}" type="pres">
      <dgm:prSet presAssocID="{80DC049B-7FD5-3045-83DD-F1080B16A5FD}" presName="parentLin" presStyleCnt="0"/>
      <dgm:spPr/>
    </dgm:pt>
    <dgm:pt modelId="{7A72E58F-7E0B-3B4F-92FC-54A2C6DAC1B5}" type="pres">
      <dgm:prSet presAssocID="{80DC049B-7FD5-3045-83DD-F1080B16A5FD}" presName="parentLeftMargin" presStyleLbl="node1" presStyleIdx="0" presStyleCnt="5"/>
      <dgm:spPr/>
      <dgm:t>
        <a:bodyPr/>
        <a:lstStyle/>
        <a:p>
          <a:endParaRPr lang="en-US"/>
        </a:p>
      </dgm:t>
    </dgm:pt>
    <dgm:pt modelId="{9D394F1D-EBFB-3948-A773-BA9E32EB8A2D}" type="pres">
      <dgm:prSet presAssocID="{80DC049B-7FD5-3045-83DD-F1080B16A5FD}" presName="parentText" presStyleLbl="node1" presStyleIdx="1" presStyleCnt="5">
        <dgm:presLayoutVars>
          <dgm:chMax val="0"/>
          <dgm:bulletEnabled val="1"/>
        </dgm:presLayoutVars>
      </dgm:prSet>
      <dgm:spPr/>
      <dgm:t>
        <a:bodyPr/>
        <a:lstStyle/>
        <a:p>
          <a:endParaRPr lang="en-US"/>
        </a:p>
      </dgm:t>
    </dgm:pt>
    <dgm:pt modelId="{F2E2BA8F-51B0-3E4B-8E2C-566ECF10426F}" type="pres">
      <dgm:prSet presAssocID="{80DC049B-7FD5-3045-83DD-F1080B16A5FD}" presName="negativeSpace" presStyleCnt="0"/>
      <dgm:spPr/>
    </dgm:pt>
    <dgm:pt modelId="{E8BFF411-F451-A341-8D87-49C77FF491D5}" type="pres">
      <dgm:prSet presAssocID="{80DC049B-7FD5-3045-83DD-F1080B16A5FD}" presName="childText" presStyleLbl="conFgAcc1" presStyleIdx="1" presStyleCnt="5">
        <dgm:presLayoutVars>
          <dgm:bulletEnabled val="1"/>
        </dgm:presLayoutVars>
      </dgm:prSet>
      <dgm:spPr/>
      <dgm:t>
        <a:bodyPr/>
        <a:lstStyle/>
        <a:p>
          <a:endParaRPr lang="en-US"/>
        </a:p>
      </dgm:t>
    </dgm:pt>
    <dgm:pt modelId="{94545572-E2D1-A840-B151-EEDCC1725653}" type="pres">
      <dgm:prSet presAssocID="{90A38F66-0514-6B40-9287-C28DD9752DA8}" presName="spaceBetweenRectangles" presStyleCnt="0"/>
      <dgm:spPr/>
    </dgm:pt>
    <dgm:pt modelId="{7C5669DA-8D78-D443-B89E-7342304866EA}" type="pres">
      <dgm:prSet presAssocID="{2C9CC854-3F87-254F-A2B1-29161529ADF1}" presName="parentLin" presStyleCnt="0"/>
      <dgm:spPr/>
    </dgm:pt>
    <dgm:pt modelId="{DDFB5F5A-0D30-3348-ADC5-C650D90FEE0B}" type="pres">
      <dgm:prSet presAssocID="{2C9CC854-3F87-254F-A2B1-29161529ADF1}" presName="parentLeftMargin" presStyleLbl="node1" presStyleIdx="1" presStyleCnt="5"/>
      <dgm:spPr/>
      <dgm:t>
        <a:bodyPr/>
        <a:lstStyle/>
        <a:p>
          <a:endParaRPr lang="en-US"/>
        </a:p>
      </dgm:t>
    </dgm:pt>
    <dgm:pt modelId="{68DCEE62-EEE0-0F46-AD28-366444FAC71E}" type="pres">
      <dgm:prSet presAssocID="{2C9CC854-3F87-254F-A2B1-29161529ADF1}" presName="parentText" presStyleLbl="node1" presStyleIdx="2" presStyleCnt="5">
        <dgm:presLayoutVars>
          <dgm:chMax val="0"/>
          <dgm:bulletEnabled val="1"/>
        </dgm:presLayoutVars>
      </dgm:prSet>
      <dgm:spPr/>
      <dgm:t>
        <a:bodyPr/>
        <a:lstStyle/>
        <a:p>
          <a:endParaRPr lang="en-US"/>
        </a:p>
      </dgm:t>
    </dgm:pt>
    <dgm:pt modelId="{7059B93F-5854-4C42-8C9A-467A138CFD2E}" type="pres">
      <dgm:prSet presAssocID="{2C9CC854-3F87-254F-A2B1-29161529ADF1}" presName="negativeSpace" presStyleCnt="0"/>
      <dgm:spPr/>
    </dgm:pt>
    <dgm:pt modelId="{65D12871-84DA-1740-9B7A-B977929B67B0}" type="pres">
      <dgm:prSet presAssocID="{2C9CC854-3F87-254F-A2B1-29161529ADF1}" presName="childText" presStyleLbl="conFgAcc1" presStyleIdx="2" presStyleCnt="5">
        <dgm:presLayoutVars>
          <dgm:bulletEnabled val="1"/>
        </dgm:presLayoutVars>
      </dgm:prSet>
      <dgm:spPr/>
      <dgm:t>
        <a:bodyPr/>
        <a:lstStyle/>
        <a:p>
          <a:endParaRPr lang="en-US"/>
        </a:p>
      </dgm:t>
    </dgm:pt>
    <dgm:pt modelId="{AAE1D0A2-4608-7B49-9996-B99BA586799F}" type="pres">
      <dgm:prSet presAssocID="{97FE1EB6-3554-394B-B19F-2EB818A7E00F}" presName="spaceBetweenRectangles" presStyleCnt="0"/>
      <dgm:spPr/>
    </dgm:pt>
    <dgm:pt modelId="{D0A6A33C-6FDB-514D-9133-1415707A85ED}" type="pres">
      <dgm:prSet presAssocID="{87FBB302-2DE2-1C42-85BA-409AF46FD45E}" presName="parentLin" presStyleCnt="0"/>
      <dgm:spPr/>
    </dgm:pt>
    <dgm:pt modelId="{038E828F-39A9-A443-9762-F6918CB067F8}" type="pres">
      <dgm:prSet presAssocID="{87FBB302-2DE2-1C42-85BA-409AF46FD45E}" presName="parentLeftMargin" presStyleLbl="node1" presStyleIdx="2" presStyleCnt="5"/>
      <dgm:spPr/>
      <dgm:t>
        <a:bodyPr/>
        <a:lstStyle/>
        <a:p>
          <a:endParaRPr lang="en-US"/>
        </a:p>
      </dgm:t>
    </dgm:pt>
    <dgm:pt modelId="{55DCFBF2-A92B-2D49-8E14-712808571A32}" type="pres">
      <dgm:prSet presAssocID="{87FBB302-2DE2-1C42-85BA-409AF46FD45E}" presName="parentText" presStyleLbl="node1" presStyleIdx="3" presStyleCnt="5">
        <dgm:presLayoutVars>
          <dgm:chMax val="0"/>
          <dgm:bulletEnabled val="1"/>
        </dgm:presLayoutVars>
      </dgm:prSet>
      <dgm:spPr/>
      <dgm:t>
        <a:bodyPr/>
        <a:lstStyle/>
        <a:p>
          <a:endParaRPr lang="en-US"/>
        </a:p>
      </dgm:t>
    </dgm:pt>
    <dgm:pt modelId="{A77513AA-EE86-B049-9B6A-4E4DB9D9E803}" type="pres">
      <dgm:prSet presAssocID="{87FBB302-2DE2-1C42-85BA-409AF46FD45E}" presName="negativeSpace" presStyleCnt="0"/>
      <dgm:spPr/>
    </dgm:pt>
    <dgm:pt modelId="{ECB79F2C-3DB5-E846-95BD-E5064A03373D}" type="pres">
      <dgm:prSet presAssocID="{87FBB302-2DE2-1C42-85BA-409AF46FD45E}" presName="childText" presStyleLbl="conFgAcc1" presStyleIdx="3" presStyleCnt="5">
        <dgm:presLayoutVars>
          <dgm:bulletEnabled val="1"/>
        </dgm:presLayoutVars>
      </dgm:prSet>
      <dgm:spPr/>
      <dgm:t>
        <a:bodyPr/>
        <a:lstStyle/>
        <a:p>
          <a:endParaRPr lang="en-US"/>
        </a:p>
      </dgm:t>
    </dgm:pt>
    <dgm:pt modelId="{D6F7455C-C119-D043-B764-574835ECAF8D}" type="pres">
      <dgm:prSet presAssocID="{81CC6E2D-C9C7-CC49-94DF-7BCBF745FD8D}" presName="spaceBetweenRectangles" presStyleCnt="0"/>
      <dgm:spPr/>
    </dgm:pt>
    <dgm:pt modelId="{FA8C67F0-3B9A-5B40-9805-AAF40D878D9B}" type="pres">
      <dgm:prSet presAssocID="{DD51DDBF-23E0-B343-B9F6-E49D54C489B5}" presName="parentLin" presStyleCnt="0"/>
      <dgm:spPr/>
    </dgm:pt>
    <dgm:pt modelId="{9BA1CC4F-1DE9-8A4E-BF58-26CF6DB397FE}" type="pres">
      <dgm:prSet presAssocID="{DD51DDBF-23E0-B343-B9F6-E49D54C489B5}" presName="parentLeftMargin" presStyleLbl="node1" presStyleIdx="3" presStyleCnt="5"/>
      <dgm:spPr/>
      <dgm:t>
        <a:bodyPr/>
        <a:lstStyle/>
        <a:p>
          <a:endParaRPr lang="en-US"/>
        </a:p>
      </dgm:t>
    </dgm:pt>
    <dgm:pt modelId="{AFA02130-531F-2541-A40D-4D4C90AABF70}" type="pres">
      <dgm:prSet presAssocID="{DD51DDBF-23E0-B343-B9F6-E49D54C489B5}" presName="parentText" presStyleLbl="node1" presStyleIdx="4" presStyleCnt="5">
        <dgm:presLayoutVars>
          <dgm:chMax val="0"/>
          <dgm:bulletEnabled val="1"/>
        </dgm:presLayoutVars>
      </dgm:prSet>
      <dgm:spPr/>
      <dgm:t>
        <a:bodyPr/>
        <a:lstStyle/>
        <a:p>
          <a:endParaRPr lang="en-US"/>
        </a:p>
      </dgm:t>
    </dgm:pt>
    <dgm:pt modelId="{C9C57EDF-A407-A54D-A20A-ADB613F35F8F}" type="pres">
      <dgm:prSet presAssocID="{DD51DDBF-23E0-B343-B9F6-E49D54C489B5}" presName="negativeSpace" presStyleCnt="0"/>
      <dgm:spPr/>
    </dgm:pt>
    <dgm:pt modelId="{7052E4C0-0365-DF4E-996C-A00169E89A13}" type="pres">
      <dgm:prSet presAssocID="{DD51DDBF-23E0-B343-B9F6-E49D54C489B5}" presName="childText" presStyleLbl="conFgAcc1" presStyleIdx="4" presStyleCnt="5">
        <dgm:presLayoutVars>
          <dgm:bulletEnabled val="1"/>
        </dgm:presLayoutVars>
      </dgm:prSet>
      <dgm:spPr/>
      <dgm:t>
        <a:bodyPr/>
        <a:lstStyle/>
        <a:p>
          <a:endParaRPr lang="en-US"/>
        </a:p>
      </dgm:t>
    </dgm:pt>
  </dgm:ptLst>
  <dgm:cxnLst>
    <dgm:cxn modelId="{CCB8DB88-B870-6940-87F7-34B806C52D11}" type="presOf" srcId="{9EFBC27B-9187-484D-AD98-003F107DD10F}" destId="{E8BFF411-F451-A341-8D87-49C77FF491D5}" srcOrd="0" destOrd="0" presId="urn:microsoft.com/office/officeart/2005/8/layout/list1"/>
    <dgm:cxn modelId="{6DC5843C-F893-554C-B497-EE783C6D42AA}" srcId="{30F91678-A966-014A-AFE3-F3D065DF6BCC}" destId="{80DC049B-7FD5-3045-83DD-F1080B16A5FD}" srcOrd="1" destOrd="0" parTransId="{8DB4D05B-BD93-564D-BC96-D04C53A8B166}" sibTransId="{90A38F66-0514-6B40-9287-C28DD9752DA8}"/>
    <dgm:cxn modelId="{C4A48707-8581-1C4D-9EBD-DAACA4B007DB}" type="presOf" srcId="{F83775D9-231C-DC44-A2D0-E6F9CB883F69}" destId="{7052E4C0-0365-DF4E-996C-A00169E89A13}" srcOrd="0" destOrd="0" presId="urn:microsoft.com/office/officeart/2005/8/layout/list1"/>
    <dgm:cxn modelId="{F6EE9D8A-6F99-E049-ABEB-5EA5B04B5184}" srcId="{30F91678-A966-014A-AFE3-F3D065DF6BCC}" destId="{2C9CC854-3F87-254F-A2B1-29161529ADF1}" srcOrd="2" destOrd="0" parTransId="{37A459E1-3DFD-484E-A449-6ACB53A26CC2}" sibTransId="{97FE1EB6-3554-394B-B19F-2EB818A7E00F}"/>
    <dgm:cxn modelId="{C0827931-ADBE-7542-8773-310152EBA1A4}" srcId="{30F91678-A966-014A-AFE3-F3D065DF6BCC}" destId="{A51A051B-B444-5C4D-ACCD-2A20DD4E2424}" srcOrd="0" destOrd="0" parTransId="{8776F8E4-929F-EE4F-9587-AEED3A3789FB}" sibTransId="{AFE95660-BFD2-F744-96FE-FACB8D9DE7B5}"/>
    <dgm:cxn modelId="{F2C92BFD-CA97-E448-A5A9-17018E0B7156}" type="presOf" srcId="{87FBB302-2DE2-1C42-85BA-409AF46FD45E}" destId="{038E828F-39A9-A443-9762-F6918CB067F8}" srcOrd="0" destOrd="0" presId="urn:microsoft.com/office/officeart/2005/8/layout/list1"/>
    <dgm:cxn modelId="{90173BE2-1E04-1745-A40A-D7E2A549B1A9}" srcId="{A51A051B-B444-5C4D-ACCD-2A20DD4E2424}" destId="{A64C4E49-A0FB-9E44-BB1D-A5CD8B1AE6EB}" srcOrd="1" destOrd="0" parTransId="{57DBDDC1-3B17-8C40-AD8C-CFBA8BF28BF9}" sibTransId="{6413D08D-EA4A-764A-A87F-1337495A5A65}"/>
    <dgm:cxn modelId="{E90FDAC7-F9EB-8A48-9620-B3966DA28D8D}" type="presOf" srcId="{DD51DDBF-23E0-B343-B9F6-E49D54C489B5}" destId="{AFA02130-531F-2541-A40D-4D4C90AABF70}" srcOrd="1" destOrd="0" presId="urn:microsoft.com/office/officeart/2005/8/layout/list1"/>
    <dgm:cxn modelId="{A759D90D-317E-164E-98C4-77A98472F801}" type="presOf" srcId="{30F91678-A966-014A-AFE3-F3D065DF6BCC}" destId="{44878D81-C104-7847-9BF0-A7694467A921}" srcOrd="0" destOrd="0" presId="urn:microsoft.com/office/officeart/2005/8/layout/list1"/>
    <dgm:cxn modelId="{13F08BDF-93E0-9E42-830B-D8B6BF0DDCC1}" srcId="{A51A051B-B444-5C4D-ACCD-2A20DD4E2424}" destId="{F31C79FB-85F6-7C43-A794-B3F4DDE05DF4}" srcOrd="0" destOrd="0" parTransId="{04C8D68A-9CCD-764A-A3BF-7BFD50312E9D}" sibTransId="{D72DE6BB-3CE9-7D4F-9D78-1B2E4F7DD480}"/>
    <dgm:cxn modelId="{C684D08E-BF39-C646-8A0B-05126313DA0B}" srcId="{30F91678-A966-014A-AFE3-F3D065DF6BCC}" destId="{87FBB302-2DE2-1C42-85BA-409AF46FD45E}" srcOrd="3" destOrd="0" parTransId="{B1DDF52A-03C2-ED42-BCB4-B84B7D2B9F2C}" sibTransId="{81CC6E2D-C9C7-CC49-94DF-7BCBF745FD8D}"/>
    <dgm:cxn modelId="{14082052-3E40-1345-8038-8B186E992241}" type="presOf" srcId="{A51A051B-B444-5C4D-ACCD-2A20DD4E2424}" destId="{48EC8570-AC82-C646-A9E0-D97EA89C7C19}" srcOrd="0" destOrd="0" presId="urn:microsoft.com/office/officeart/2005/8/layout/list1"/>
    <dgm:cxn modelId="{40DC9E8D-B94C-0948-AD4A-5CF5278F6F75}" srcId="{2C9CC854-3F87-254F-A2B1-29161529ADF1}" destId="{C0493049-879C-7048-81E3-E88D8A386435}" srcOrd="0" destOrd="0" parTransId="{8858A644-7071-C74C-A99E-CCE8AB40A547}" sibTransId="{4CF35CDC-BA3B-8F45-BB5B-0536A3C176F2}"/>
    <dgm:cxn modelId="{B6FFD0F8-0EB9-D248-ABA7-7CDC25C9A2D4}" type="presOf" srcId="{C0493049-879C-7048-81E3-E88D8A386435}" destId="{65D12871-84DA-1740-9B7A-B977929B67B0}" srcOrd="0" destOrd="0" presId="urn:microsoft.com/office/officeart/2005/8/layout/list1"/>
    <dgm:cxn modelId="{5E66C46A-AB7C-BD4E-96B3-F6AC9FD9046D}" type="presOf" srcId="{87FBB302-2DE2-1C42-85BA-409AF46FD45E}" destId="{55DCFBF2-A92B-2D49-8E14-712808571A32}" srcOrd="1" destOrd="0" presId="urn:microsoft.com/office/officeart/2005/8/layout/list1"/>
    <dgm:cxn modelId="{1695B39D-2E8D-A146-8D71-704D8B9FE405}" type="presOf" srcId="{80DC049B-7FD5-3045-83DD-F1080B16A5FD}" destId="{7A72E58F-7E0B-3B4F-92FC-54A2C6DAC1B5}" srcOrd="0" destOrd="0" presId="urn:microsoft.com/office/officeart/2005/8/layout/list1"/>
    <dgm:cxn modelId="{67AB5889-852C-3244-98D1-0929EB14A4A1}" type="presOf" srcId="{2C9CC854-3F87-254F-A2B1-29161529ADF1}" destId="{DDFB5F5A-0D30-3348-ADC5-C650D90FEE0B}" srcOrd="0" destOrd="0" presId="urn:microsoft.com/office/officeart/2005/8/layout/list1"/>
    <dgm:cxn modelId="{62CCDD21-5E09-0E46-9940-6370791F1756}" type="presOf" srcId="{F31C79FB-85F6-7C43-A794-B3F4DDE05DF4}" destId="{E470F2D5-B98B-CE44-9C25-1EFDE028763E}" srcOrd="0" destOrd="0" presId="urn:microsoft.com/office/officeart/2005/8/layout/list1"/>
    <dgm:cxn modelId="{33776D2D-9848-6B4C-B2B5-1FAF05D93380}" type="presOf" srcId="{DD51DDBF-23E0-B343-B9F6-E49D54C489B5}" destId="{9BA1CC4F-1DE9-8A4E-BF58-26CF6DB397FE}" srcOrd="0" destOrd="0" presId="urn:microsoft.com/office/officeart/2005/8/layout/list1"/>
    <dgm:cxn modelId="{15626D39-85E8-A147-86B7-92354FC85396}" type="presOf" srcId="{E2C2B88E-C365-1342-A70B-E66784EEBADA}" destId="{ECB79F2C-3DB5-E846-95BD-E5064A03373D}" srcOrd="0" destOrd="0" presId="urn:microsoft.com/office/officeart/2005/8/layout/list1"/>
    <dgm:cxn modelId="{7F357E53-2443-ED46-A113-E86ABB517A75}" type="presOf" srcId="{A64C4E49-A0FB-9E44-BB1D-A5CD8B1AE6EB}" destId="{E470F2D5-B98B-CE44-9C25-1EFDE028763E}" srcOrd="0" destOrd="1" presId="urn:microsoft.com/office/officeart/2005/8/layout/list1"/>
    <dgm:cxn modelId="{3E82B6AF-F560-F34C-8C28-3DDAE239C12D}" type="presOf" srcId="{80DC049B-7FD5-3045-83DD-F1080B16A5FD}" destId="{9D394F1D-EBFB-3948-A773-BA9E32EB8A2D}" srcOrd="1" destOrd="0" presId="urn:microsoft.com/office/officeart/2005/8/layout/list1"/>
    <dgm:cxn modelId="{4A2F6DC5-D150-1048-AE28-1FF498F06545}" srcId="{80DC049B-7FD5-3045-83DD-F1080B16A5FD}" destId="{9EFBC27B-9187-484D-AD98-003F107DD10F}" srcOrd="0" destOrd="0" parTransId="{625F119B-BFD1-F543-B281-1D322E011FB3}" sibTransId="{105A3B14-4266-A84D-A904-71E74119EB9C}"/>
    <dgm:cxn modelId="{940F3D2A-4C4D-894F-A8A1-265D927EDBF9}" type="presOf" srcId="{A51A051B-B444-5C4D-ACCD-2A20DD4E2424}" destId="{F3CA23DE-DCA7-8A4B-85EC-47D5EDFB354E}" srcOrd="1" destOrd="0" presId="urn:microsoft.com/office/officeart/2005/8/layout/list1"/>
    <dgm:cxn modelId="{669D4825-009B-E74C-A02E-BA0A0CBB9F58}" srcId="{87FBB302-2DE2-1C42-85BA-409AF46FD45E}" destId="{E2C2B88E-C365-1342-A70B-E66784EEBADA}" srcOrd="0" destOrd="0" parTransId="{0C65C72B-4B61-A94E-BDEC-BFF0D37E59FA}" sibTransId="{6141C23A-9D80-B74C-B097-1398C10B4B73}"/>
    <dgm:cxn modelId="{3DE04106-F15A-5A4E-ACE9-78D6C34928B6}" srcId="{30F91678-A966-014A-AFE3-F3D065DF6BCC}" destId="{DD51DDBF-23E0-B343-B9F6-E49D54C489B5}" srcOrd="4" destOrd="0" parTransId="{A9DB291B-5DDE-7A4E-8BC2-0322A79053D8}" sibTransId="{D77F60C8-BFE7-E44C-9DCE-ADD797F2CB9E}"/>
    <dgm:cxn modelId="{A208E876-1735-2946-8D6F-DDCC85968089}" type="presOf" srcId="{2C9CC854-3F87-254F-A2B1-29161529ADF1}" destId="{68DCEE62-EEE0-0F46-AD28-366444FAC71E}" srcOrd="1" destOrd="0" presId="urn:microsoft.com/office/officeart/2005/8/layout/list1"/>
    <dgm:cxn modelId="{8B2D44C8-F569-2C40-8369-F5381957DF24}" srcId="{DD51DDBF-23E0-B343-B9F6-E49D54C489B5}" destId="{F83775D9-231C-DC44-A2D0-E6F9CB883F69}" srcOrd="0" destOrd="0" parTransId="{84E1DDA8-5A62-1C4D-9143-A7763DC0FB31}" sibTransId="{19B7166B-0324-224D-82E1-FB4C4C32A8F2}"/>
    <dgm:cxn modelId="{D677621E-D263-7A48-A196-1D3ECE6B9DAE}" type="presParOf" srcId="{44878D81-C104-7847-9BF0-A7694467A921}" destId="{F4B8651E-3ED3-9E48-B1B8-A623EDC3BE28}" srcOrd="0" destOrd="0" presId="urn:microsoft.com/office/officeart/2005/8/layout/list1"/>
    <dgm:cxn modelId="{38EF0B74-ED39-1C46-966E-EE42517EE3C4}" type="presParOf" srcId="{F4B8651E-3ED3-9E48-B1B8-A623EDC3BE28}" destId="{48EC8570-AC82-C646-A9E0-D97EA89C7C19}" srcOrd="0" destOrd="0" presId="urn:microsoft.com/office/officeart/2005/8/layout/list1"/>
    <dgm:cxn modelId="{3EFE2A9A-D140-374E-9CFD-A1068B72AD2E}" type="presParOf" srcId="{F4B8651E-3ED3-9E48-B1B8-A623EDC3BE28}" destId="{F3CA23DE-DCA7-8A4B-85EC-47D5EDFB354E}" srcOrd="1" destOrd="0" presId="urn:microsoft.com/office/officeart/2005/8/layout/list1"/>
    <dgm:cxn modelId="{BF04533B-49BB-4E48-B5E0-79F32D545D24}" type="presParOf" srcId="{44878D81-C104-7847-9BF0-A7694467A921}" destId="{BEBA6324-3904-494E-BF0D-E5725ED52E91}" srcOrd="1" destOrd="0" presId="urn:microsoft.com/office/officeart/2005/8/layout/list1"/>
    <dgm:cxn modelId="{5BA98400-4DB3-9E4F-A8C9-7BEDEEC73237}" type="presParOf" srcId="{44878D81-C104-7847-9BF0-A7694467A921}" destId="{E470F2D5-B98B-CE44-9C25-1EFDE028763E}" srcOrd="2" destOrd="0" presId="urn:microsoft.com/office/officeart/2005/8/layout/list1"/>
    <dgm:cxn modelId="{B0C31420-F710-C14F-89E3-9F25937BEDA2}" type="presParOf" srcId="{44878D81-C104-7847-9BF0-A7694467A921}" destId="{07AFA613-A516-8C45-AA10-C38E404E4015}" srcOrd="3" destOrd="0" presId="urn:microsoft.com/office/officeart/2005/8/layout/list1"/>
    <dgm:cxn modelId="{60403AF6-A287-9848-B921-89CD85DC57FF}" type="presParOf" srcId="{44878D81-C104-7847-9BF0-A7694467A921}" destId="{77BBCC61-96F6-9E40-8EC8-3B69EDB77954}" srcOrd="4" destOrd="0" presId="urn:microsoft.com/office/officeart/2005/8/layout/list1"/>
    <dgm:cxn modelId="{A06E1FDD-A2CA-1043-BC99-6817A91C02BF}" type="presParOf" srcId="{77BBCC61-96F6-9E40-8EC8-3B69EDB77954}" destId="{7A72E58F-7E0B-3B4F-92FC-54A2C6DAC1B5}" srcOrd="0" destOrd="0" presId="urn:microsoft.com/office/officeart/2005/8/layout/list1"/>
    <dgm:cxn modelId="{89E23CA3-80DD-264C-BC24-898278911D88}" type="presParOf" srcId="{77BBCC61-96F6-9E40-8EC8-3B69EDB77954}" destId="{9D394F1D-EBFB-3948-A773-BA9E32EB8A2D}" srcOrd="1" destOrd="0" presId="urn:microsoft.com/office/officeart/2005/8/layout/list1"/>
    <dgm:cxn modelId="{53F02B89-3600-C049-8465-710BC1DDD8E8}" type="presParOf" srcId="{44878D81-C104-7847-9BF0-A7694467A921}" destId="{F2E2BA8F-51B0-3E4B-8E2C-566ECF10426F}" srcOrd="5" destOrd="0" presId="urn:microsoft.com/office/officeart/2005/8/layout/list1"/>
    <dgm:cxn modelId="{8C9F3A8B-40CF-FF42-940A-48E46BD55C2A}" type="presParOf" srcId="{44878D81-C104-7847-9BF0-A7694467A921}" destId="{E8BFF411-F451-A341-8D87-49C77FF491D5}" srcOrd="6" destOrd="0" presId="urn:microsoft.com/office/officeart/2005/8/layout/list1"/>
    <dgm:cxn modelId="{7EAB7A7B-704E-A14D-BFF6-62A5264EBA38}" type="presParOf" srcId="{44878D81-C104-7847-9BF0-A7694467A921}" destId="{94545572-E2D1-A840-B151-EEDCC1725653}" srcOrd="7" destOrd="0" presId="urn:microsoft.com/office/officeart/2005/8/layout/list1"/>
    <dgm:cxn modelId="{3C91D318-8111-9F41-B9D9-8887CDDE0C55}" type="presParOf" srcId="{44878D81-C104-7847-9BF0-A7694467A921}" destId="{7C5669DA-8D78-D443-B89E-7342304866EA}" srcOrd="8" destOrd="0" presId="urn:microsoft.com/office/officeart/2005/8/layout/list1"/>
    <dgm:cxn modelId="{7A7AFBDE-CBDA-D048-A627-007B5D54B9D5}" type="presParOf" srcId="{7C5669DA-8D78-D443-B89E-7342304866EA}" destId="{DDFB5F5A-0D30-3348-ADC5-C650D90FEE0B}" srcOrd="0" destOrd="0" presId="urn:microsoft.com/office/officeart/2005/8/layout/list1"/>
    <dgm:cxn modelId="{275A3441-F8E2-5547-8253-205DFEF32CE6}" type="presParOf" srcId="{7C5669DA-8D78-D443-B89E-7342304866EA}" destId="{68DCEE62-EEE0-0F46-AD28-366444FAC71E}" srcOrd="1" destOrd="0" presId="urn:microsoft.com/office/officeart/2005/8/layout/list1"/>
    <dgm:cxn modelId="{EC836277-AC2B-1B4E-A29F-3AE41878BCFB}" type="presParOf" srcId="{44878D81-C104-7847-9BF0-A7694467A921}" destId="{7059B93F-5854-4C42-8C9A-467A138CFD2E}" srcOrd="9" destOrd="0" presId="urn:microsoft.com/office/officeart/2005/8/layout/list1"/>
    <dgm:cxn modelId="{C9820705-CC05-CA43-836E-213B11C0D058}" type="presParOf" srcId="{44878D81-C104-7847-9BF0-A7694467A921}" destId="{65D12871-84DA-1740-9B7A-B977929B67B0}" srcOrd="10" destOrd="0" presId="urn:microsoft.com/office/officeart/2005/8/layout/list1"/>
    <dgm:cxn modelId="{291D4B7E-2B66-1944-8EF5-253809759274}" type="presParOf" srcId="{44878D81-C104-7847-9BF0-A7694467A921}" destId="{AAE1D0A2-4608-7B49-9996-B99BA586799F}" srcOrd="11" destOrd="0" presId="urn:microsoft.com/office/officeart/2005/8/layout/list1"/>
    <dgm:cxn modelId="{77ADE4E6-C7F4-3448-B901-57E0C68051AD}" type="presParOf" srcId="{44878D81-C104-7847-9BF0-A7694467A921}" destId="{D0A6A33C-6FDB-514D-9133-1415707A85ED}" srcOrd="12" destOrd="0" presId="urn:microsoft.com/office/officeart/2005/8/layout/list1"/>
    <dgm:cxn modelId="{2BB7D9A7-4D8B-A04A-A59B-7888F4E109F5}" type="presParOf" srcId="{D0A6A33C-6FDB-514D-9133-1415707A85ED}" destId="{038E828F-39A9-A443-9762-F6918CB067F8}" srcOrd="0" destOrd="0" presId="urn:microsoft.com/office/officeart/2005/8/layout/list1"/>
    <dgm:cxn modelId="{6E4BB664-D9D1-C848-98F5-8C78363AFC56}" type="presParOf" srcId="{D0A6A33C-6FDB-514D-9133-1415707A85ED}" destId="{55DCFBF2-A92B-2D49-8E14-712808571A32}" srcOrd="1" destOrd="0" presId="urn:microsoft.com/office/officeart/2005/8/layout/list1"/>
    <dgm:cxn modelId="{52978810-7C48-4845-B7CE-189FCCEF78D4}" type="presParOf" srcId="{44878D81-C104-7847-9BF0-A7694467A921}" destId="{A77513AA-EE86-B049-9B6A-4E4DB9D9E803}" srcOrd="13" destOrd="0" presId="urn:microsoft.com/office/officeart/2005/8/layout/list1"/>
    <dgm:cxn modelId="{175D2C86-D667-6846-B535-C466E5D6149F}" type="presParOf" srcId="{44878D81-C104-7847-9BF0-A7694467A921}" destId="{ECB79F2C-3DB5-E846-95BD-E5064A03373D}" srcOrd="14" destOrd="0" presId="urn:microsoft.com/office/officeart/2005/8/layout/list1"/>
    <dgm:cxn modelId="{8527AF4C-0973-184B-AB29-262F512101C5}" type="presParOf" srcId="{44878D81-C104-7847-9BF0-A7694467A921}" destId="{D6F7455C-C119-D043-B764-574835ECAF8D}" srcOrd="15" destOrd="0" presId="urn:microsoft.com/office/officeart/2005/8/layout/list1"/>
    <dgm:cxn modelId="{BA541C36-3B7F-A74A-9DF8-82EE1775CD0B}" type="presParOf" srcId="{44878D81-C104-7847-9BF0-A7694467A921}" destId="{FA8C67F0-3B9A-5B40-9805-AAF40D878D9B}" srcOrd="16" destOrd="0" presId="urn:microsoft.com/office/officeart/2005/8/layout/list1"/>
    <dgm:cxn modelId="{3A0783DD-7647-F340-8315-5450562B7827}" type="presParOf" srcId="{FA8C67F0-3B9A-5B40-9805-AAF40D878D9B}" destId="{9BA1CC4F-1DE9-8A4E-BF58-26CF6DB397FE}" srcOrd="0" destOrd="0" presId="urn:microsoft.com/office/officeart/2005/8/layout/list1"/>
    <dgm:cxn modelId="{37435FE0-F3C6-6E42-86A0-B294A293A659}" type="presParOf" srcId="{FA8C67F0-3B9A-5B40-9805-AAF40D878D9B}" destId="{AFA02130-531F-2541-A40D-4D4C90AABF70}" srcOrd="1" destOrd="0" presId="urn:microsoft.com/office/officeart/2005/8/layout/list1"/>
    <dgm:cxn modelId="{A4784428-35EB-A94D-A2F8-6CD87439B107}" type="presParOf" srcId="{44878D81-C104-7847-9BF0-A7694467A921}" destId="{C9C57EDF-A407-A54D-A20A-ADB613F35F8F}" srcOrd="17" destOrd="0" presId="urn:microsoft.com/office/officeart/2005/8/layout/list1"/>
    <dgm:cxn modelId="{E7EFF6F6-24A5-B544-AB73-D68577AECED1}" type="presParOf" srcId="{44878D81-C104-7847-9BF0-A7694467A921}" destId="{7052E4C0-0365-DF4E-996C-A00169E89A13}" srcOrd="18"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570787" cy="5029200"/>
        <a:chOff x="0" y="0"/>
        <a:chExt cx="7570787" cy="5029200"/>
      </a:xfrm>
    </dsp:grpSpPr>
    <dsp:sp modelId="{E470F2D5-B98B-CE44-9C25-1EFDE028763E}">
      <dsp:nvSpPr>
        <dsp:cNvPr id="5" name="矩形 4"/>
        <dsp:cNvSpPr/>
      </dsp:nvSpPr>
      <dsp:spPr bwMode="white">
        <a:xfrm>
          <a:off x="0" y="263930"/>
          <a:ext cx="7570787" cy="797560"/>
        </a:xfrm>
        <a:prstGeom prst="rect">
          <a:avLst/>
        </a:prstGeom>
      </dsp:spPr>
      <dsp:style>
        <a:lnRef idx="1">
          <a:schemeClr val="accent1"/>
        </a:lnRef>
        <a:fillRef idx="1">
          <a:schemeClr val="lt1">
            <a:alpha val="90000"/>
          </a:schemeClr>
        </a:fillRef>
        <a:effectRef idx="0">
          <a:scrgbClr r="0" g="0" b="0"/>
        </a:effectRef>
        <a:fontRef idx="minor"/>
      </dsp:style>
      <dsp:txBody>
        <a:bodyPr lIns="587577" tIns="270764" rIns="587577" bIns="92456"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rtl="0">
            <a:lnSpc>
              <a:spcPct val="100000"/>
            </a:lnSpc>
            <a:spcBef>
              <a:spcPct val="0"/>
            </a:spcBef>
            <a:spcAft>
              <a:spcPct val="15000"/>
            </a:spcAft>
            <a:buChar char="•"/>
          </a:pPr>
          <a:r>
            <a:rPr lang="en-US" dirty="0" smtClean="0">
              <a:solidFill>
                <a:schemeClr val="dk1"/>
              </a:solidFill>
            </a:rPr>
            <a:t>Must have the parameter value 1.0</a:t>
          </a:r>
          <a:endParaRPr lang="en-US" dirty="0">
            <a:solidFill>
              <a:schemeClr val="dk1"/>
            </a:solidFill>
          </a:endParaRPr>
        </a:p>
        <a:p>
          <a:pPr lvl="1" rtl="0">
            <a:lnSpc>
              <a:spcPct val="100000"/>
            </a:lnSpc>
            <a:spcBef>
              <a:spcPct val="0"/>
            </a:spcBef>
            <a:spcAft>
              <a:spcPct val="15000"/>
            </a:spcAft>
            <a:buChar char="•"/>
          </a:pPr>
          <a:r>
            <a:rPr lang="en-US" dirty="0" smtClean="0">
              <a:solidFill>
                <a:schemeClr val="dk1"/>
              </a:solidFill>
            </a:rPr>
            <a:t>This field indicates that the message conforms to RFCs 2045 and 2046</a:t>
          </a:r>
          <a:endParaRPr lang="en-US" dirty="0">
            <a:solidFill>
              <a:schemeClr val="dk1"/>
            </a:solidFill>
          </a:endParaRPr>
        </a:p>
      </dsp:txBody>
      <dsp:txXfrm>
        <a:off x="0" y="263930"/>
        <a:ext cx="7570787" cy="797560"/>
      </dsp:txXfrm>
    </dsp:sp>
    <dsp:sp modelId="{F3CA23DE-DCA7-8A4B-85EC-47D5EDFB354E}">
      <dsp:nvSpPr>
        <dsp:cNvPr id="4" name="圆角矩形 3"/>
        <dsp:cNvSpPr/>
      </dsp:nvSpPr>
      <dsp:spPr bwMode="white">
        <a:xfrm>
          <a:off x="378539" y="72050"/>
          <a:ext cx="5299551" cy="383760"/>
        </a:xfrm>
        <a:prstGeom prst="roundRect">
          <a:avLst/>
        </a:prstGeom>
      </dsp:spPr>
      <dsp:style>
        <a:lnRef idx="0">
          <a:schemeClr val="lt1"/>
        </a:lnRef>
        <a:fillRef idx="3">
          <a:schemeClr val="accent1"/>
        </a:fillRef>
        <a:effectRef idx="2">
          <a:scrgbClr r="0" g="0" b="0"/>
        </a:effectRef>
        <a:fontRef idx="minor">
          <a:schemeClr val="lt1"/>
        </a:fontRef>
      </dsp:style>
      <dsp:txBody>
        <a:bodyPr lIns="200310" tIns="0" rIns="200310" bIns="0" anchor="ctr"/>
        <a:lstStyle>
          <a:lvl1pPr algn="l">
            <a:defRPr sz="13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rtl="0">
            <a:lnSpc>
              <a:spcPct val="100000"/>
            </a:lnSpc>
            <a:spcBef>
              <a:spcPct val="0"/>
            </a:spcBef>
            <a:spcAft>
              <a:spcPct val="35000"/>
            </a:spcAft>
          </a:pPr>
          <a:r>
            <a:rPr lang="en-US" dirty="0" smtClean="0"/>
            <a:t>MIME-Version</a:t>
          </a:r>
          <a:endParaRPr lang="en-US" dirty="0"/>
        </a:p>
      </dsp:txBody>
      <dsp:txXfrm>
        <a:off x="378539" y="72050"/>
        <a:ext cx="5299551" cy="383760"/>
      </dsp:txXfrm>
    </dsp:sp>
    <dsp:sp modelId="{E8BFF411-F451-A341-8D87-49C77FF491D5}">
      <dsp:nvSpPr>
        <dsp:cNvPr id="8" name="矩形 7"/>
        <dsp:cNvSpPr/>
      </dsp:nvSpPr>
      <dsp:spPr bwMode="white">
        <a:xfrm>
          <a:off x="0" y="1323570"/>
          <a:ext cx="7570787" cy="959485"/>
        </a:xfrm>
        <a:prstGeom prst="rect">
          <a:avLst/>
        </a:prstGeom>
      </dsp:spPr>
      <dsp:style>
        <a:lnRef idx="1">
          <a:schemeClr val="accent1"/>
        </a:lnRef>
        <a:fillRef idx="1">
          <a:schemeClr val="lt1">
            <a:alpha val="90000"/>
          </a:schemeClr>
        </a:fillRef>
        <a:effectRef idx="0">
          <a:scrgbClr r="0" g="0" b="0"/>
        </a:effectRef>
        <a:fontRef idx="minor"/>
      </dsp:style>
      <dsp:txBody>
        <a:bodyPr lIns="587577" tIns="270764" rIns="587577" bIns="92456"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rtl="0">
            <a:lnSpc>
              <a:spcPct val="100000"/>
            </a:lnSpc>
            <a:spcBef>
              <a:spcPct val="0"/>
            </a:spcBef>
            <a:spcAft>
              <a:spcPct val="15000"/>
            </a:spcAft>
            <a:buChar char="•"/>
          </a:pPr>
          <a:r>
            <a:rPr lang="en-US" dirty="0" smtClean="0">
              <a:solidFill>
                <a:schemeClr val="dk1"/>
              </a:solidFill>
            </a:rPr>
            <a:t>Describes the data contained in the body with sufficient detail that the receiving user agent can pick an appropriate agent or mechanism to represent the data to the user or otherwise deal with the data in an appropriate manner</a:t>
          </a:r>
          <a:endParaRPr lang="en-US" dirty="0">
            <a:solidFill>
              <a:schemeClr val="dk1"/>
            </a:solidFill>
          </a:endParaRPr>
        </a:p>
      </dsp:txBody>
      <dsp:txXfrm>
        <a:off x="0" y="1323570"/>
        <a:ext cx="7570787" cy="959485"/>
      </dsp:txXfrm>
    </dsp:sp>
    <dsp:sp modelId="{9D394F1D-EBFB-3948-A773-BA9E32EB8A2D}">
      <dsp:nvSpPr>
        <dsp:cNvPr id="7" name="圆角矩形 6"/>
        <dsp:cNvSpPr/>
      </dsp:nvSpPr>
      <dsp:spPr bwMode="white">
        <a:xfrm>
          <a:off x="378539" y="1131690"/>
          <a:ext cx="5299551" cy="383760"/>
        </a:xfrm>
        <a:prstGeom prst="roundRect">
          <a:avLst/>
        </a:prstGeom>
      </dsp:spPr>
      <dsp:style>
        <a:lnRef idx="0">
          <a:schemeClr val="lt1"/>
        </a:lnRef>
        <a:fillRef idx="3">
          <a:schemeClr val="accent1"/>
        </a:fillRef>
        <a:effectRef idx="2">
          <a:scrgbClr r="0" g="0" b="0"/>
        </a:effectRef>
        <a:fontRef idx="minor">
          <a:schemeClr val="lt1"/>
        </a:fontRef>
      </dsp:style>
      <dsp:txBody>
        <a:bodyPr lIns="200310" tIns="0" rIns="200310" bIns="0" anchor="ctr"/>
        <a:lstStyle>
          <a:lvl1pPr algn="l">
            <a:defRPr sz="13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rtl="0">
            <a:lnSpc>
              <a:spcPct val="100000"/>
            </a:lnSpc>
            <a:spcBef>
              <a:spcPct val="0"/>
            </a:spcBef>
            <a:spcAft>
              <a:spcPct val="35000"/>
            </a:spcAft>
          </a:pPr>
          <a:r>
            <a:rPr lang="en-US" dirty="0" smtClean="0"/>
            <a:t>Content-Type</a:t>
          </a:r>
          <a:endParaRPr lang="en-US" dirty="0"/>
        </a:p>
      </dsp:txBody>
      <dsp:txXfrm>
        <a:off x="378539" y="1131690"/>
        <a:ext cx="5299551" cy="383760"/>
      </dsp:txXfrm>
    </dsp:sp>
    <dsp:sp modelId="{65D12871-84DA-1740-9B7A-B977929B67B0}">
      <dsp:nvSpPr>
        <dsp:cNvPr id="11" name="矩形 10"/>
        <dsp:cNvSpPr/>
      </dsp:nvSpPr>
      <dsp:spPr bwMode="white">
        <a:xfrm>
          <a:off x="0" y="2545135"/>
          <a:ext cx="7570787" cy="761365"/>
        </a:xfrm>
        <a:prstGeom prst="rect">
          <a:avLst/>
        </a:prstGeom>
      </dsp:spPr>
      <dsp:style>
        <a:lnRef idx="1">
          <a:schemeClr val="accent1"/>
        </a:lnRef>
        <a:fillRef idx="1">
          <a:schemeClr val="lt1">
            <a:alpha val="90000"/>
          </a:schemeClr>
        </a:fillRef>
        <a:effectRef idx="0">
          <a:scrgbClr r="0" g="0" b="0"/>
        </a:effectRef>
        <a:fontRef idx="minor"/>
      </dsp:style>
      <dsp:txBody>
        <a:bodyPr lIns="587577" tIns="270764" rIns="587577" bIns="92456"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rtl="0">
            <a:lnSpc>
              <a:spcPct val="100000"/>
            </a:lnSpc>
            <a:spcBef>
              <a:spcPct val="0"/>
            </a:spcBef>
            <a:spcAft>
              <a:spcPct val="15000"/>
            </a:spcAft>
            <a:buChar char="•"/>
          </a:pPr>
          <a:r>
            <a:rPr lang="en-US" dirty="0" smtClean="0">
              <a:solidFill>
                <a:schemeClr val="dk1"/>
              </a:solidFill>
            </a:rPr>
            <a:t>Indicates the type of transformation that has been used to represent the body of the message in a way that is acceptable for mail transport</a:t>
          </a:r>
          <a:endParaRPr lang="en-US" dirty="0">
            <a:solidFill>
              <a:schemeClr val="dk1"/>
            </a:solidFill>
          </a:endParaRPr>
        </a:p>
      </dsp:txBody>
      <dsp:txXfrm>
        <a:off x="0" y="2545135"/>
        <a:ext cx="7570787" cy="761365"/>
      </dsp:txXfrm>
    </dsp:sp>
    <dsp:sp modelId="{68DCEE62-EEE0-0F46-AD28-366444FAC71E}">
      <dsp:nvSpPr>
        <dsp:cNvPr id="10" name="圆角矩形 9"/>
        <dsp:cNvSpPr/>
      </dsp:nvSpPr>
      <dsp:spPr bwMode="white">
        <a:xfrm>
          <a:off x="378539" y="2353255"/>
          <a:ext cx="5299551" cy="383760"/>
        </a:xfrm>
        <a:prstGeom prst="roundRect">
          <a:avLst/>
        </a:prstGeom>
      </dsp:spPr>
      <dsp:style>
        <a:lnRef idx="0">
          <a:schemeClr val="lt1"/>
        </a:lnRef>
        <a:fillRef idx="3">
          <a:schemeClr val="accent1"/>
        </a:fillRef>
        <a:effectRef idx="2">
          <a:scrgbClr r="0" g="0" b="0"/>
        </a:effectRef>
        <a:fontRef idx="minor">
          <a:schemeClr val="lt1"/>
        </a:fontRef>
      </dsp:style>
      <dsp:txBody>
        <a:bodyPr lIns="200310" tIns="0" rIns="200310" bIns="0" anchor="ctr"/>
        <a:lstStyle>
          <a:lvl1pPr algn="l">
            <a:defRPr sz="13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rtl="0">
            <a:lnSpc>
              <a:spcPct val="100000"/>
            </a:lnSpc>
            <a:spcBef>
              <a:spcPct val="0"/>
            </a:spcBef>
            <a:spcAft>
              <a:spcPct val="35000"/>
            </a:spcAft>
          </a:pPr>
          <a:r>
            <a:rPr lang="en-US" dirty="0" smtClean="0"/>
            <a:t>Content-Transfer-Encoding</a:t>
          </a:r>
          <a:endParaRPr lang="en-US" dirty="0"/>
        </a:p>
      </dsp:txBody>
      <dsp:txXfrm>
        <a:off x="378539" y="2353255"/>
        <a:ext cx="5299551" cy="383760"/>
      </dsp:txXfrm>
    </dsp:sp>
    <dsp:sp modelId="{ECB79F2C-3DB5-E846-95BD-E5064A03373D}">
      <dsp:nvSpPr>
        <dsp:cNvPr id="14" name="矩形 13"/>
        <dsp:cNvSpPr/>
      </dsp:nvSpPr>
      <dsp:spPr bwMode="white">
        <a:xfrm>
          <a:off x="0" y="3568580"/>
          <a:ext cx="7570787" cy="563245"/>
        </a:xfrm>
        <a:prstGeom prst="rect">
          <a:avLst/>
        </a:prstGeom>
      </dsp:spPr>
      <dsp:style>
        <a:lnRef idx="1">
          <a:schemeClr val="accent1"/>
        </a:lnRef>
        <a:fillRef idx="1">
          <a:schemeClr val="lt1">
            <a:alpha val="90000"/>
          </a:schemeClr>
        </a:fillRef>
        <a:effectRef idx="0">
          <a:scrgbClr r="0" g="0" b="0"/>
        </a:effectRef>
        <a:fontRef idx="minor"/>
      </dsp:style>
      <dsp:txBody>
        <a:bodyPr lIns="587577" tIns="270764" rIns="587577" bIns="92456"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rtl="0">
            <a:lnSpc>
              <a:spcPct val="100000"/>
            </a:lnSpc>
            <a:spcBef>
              <a:spcPct val="0"/>
            </a:spcBef>
            <a:spcAft>
              <a:spcPct val="15000"/>
            </a:spcAft>
            <a:buChar char="•"/>
          </a:pPr>
          <a:r>
            <a:rPr lang="en-US" dirty="0" smtClean="0">
              <a:solidFill>
                <a:schemeClr val="dk1"/>
              </a:solidFill>
            </a:rPr>
            <a:t>Used to identify MIME entities uniquely in multiple contexts</a:t>
          </a:r>
          <a:endParaRPr lang="en-US" dirty="0">
            <a:solidFill>
              <a:schemeClr val="dk1"/>
            </a:solidFill>
          </a:endParaRPr>
        </a:p>
      </dsp:txBody>
      <dsp:txXfrm>
        <a:off x="0" y="3568580"/>
        <a:ext cx="7570787" cy="563245"/>
      </dsp:txXfrm>
    </dsp:sp>
    <dsp:sp modelId="{55DCFBF2-A92B-2D49-8E14-712808571A32}">
      <dsp:nvSpPr>
        <dsp:cNvPr id="13" name="圆角矩形 12"/>
        <dsp:cNvSpPr/>
      </dsp:nvSpPr>
      <dsp:spPr bwMode="white">
        <a:xfrm>
          <a:off x="378539" y="3376700"/>
          <a:ext cx="5299551" cy="383760"/>
        </a:xfrm>
        <a:prstGeom prst="roundRect">
          <a:avLst/>
        </a:prstGeom>
      </dsp:spPr>
      <dsp:style>
        <a:lnRef idx="0">
          <a:schemeClr val="lt1"/>
        </a:lnRef>
        <a:fillRef idx="3">
          <a:schemeClr val="accent1"/>
        </a:fillRef>
        <a:effectRef idx="2">
          <a:scrgbClr r="0" g="0" b="0"/>
        </a:effectRef>
        <a:fontRef idx="minor">
          <a:schemeClr val="lt1"/>
        </a:fontRef>
      </dsp:style>
      <dsp:txBody>
        <a:bodyPr lIns="200310" tIns="0" rIns="200310" bIns="0" anchor="ctr"/>
        <a:lstStyle>
          <a:lvl1pPr algn="l">
            <a:defRPr sz="13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rtl="0">
            <a:lnSpc>
              <a:spcPct val="100000"/>
            </a:lnSpc>
            <a:spcBef>
              <a:spcPct val="0"/>
            </a:spcBef>
            <a:spcAft>
              <a:spcPct val="35000"/>
            </a:spcAft>
          </a:pPr>
          <a:r>
            <a:rPr lang="en-US" dirty="0" smtClean="0"/>
            <a:t>Content-ID</a:t>
          </a:r>
          <a:endParaRPr lang="en-US" dirty="0"/>
        </a:p>
      </dsp:txBody>
      <dsp:txXfrm>
        <a:off x="378539" y="3376700"/>
        <a:ext cx="5299551" cy="383760"/>
      </dsp:txXfrm>
    </dsp:sp>
    <dsp:sp modelId="{7052E4C0-0365-DF4E-996C-A00169E89A13}">
      <dsp:nvSpPr>
        <dsp:cNvPr id="17" name="矩形 16"/>
        <dsp:cNvSpPr/>
      </dsp:nvSpPr>
      <dsp:spPr bwMode="white">
        <a:xfrm>
          <a:off x="0" y="4393905"/>
          <a:ext cx="7570787" cy="563245"/>
        </a:xfrm>
        <a:prstGeom prst="rect">
          <a:avLst/>
        </a:prstGeom>
      </dsp:spPr>
      <dsp:style>
        <a:lnRef idx="1">
          <a:schemeClr val="accent1"/>
        </a:lnRef>
        <a:fillRef idx="1">
          <a:schemeClr val="lt1">
            <a:alpha val="90000"/>
          </a:schemeClr>
        </a:fillRef>
        <a:effectRef idx="0">
          <a:scrgbClr r="0" g="0" b="0"/>
        </a:effectRef>
        <a:fontRef idx="minor"/>
      </dsp:style>
      <dsp:txBody>
        <a:bodyPr lIns="587577" tIns="270764" rIns="587577" bIns="92456" anchor="t"/>
        <a:lstStyle>
          <a:lvl1pPr algn="l">
            <a:defRPr sz="1300"/>
          </a:lvl1pPr>
          <a:lvl2pPr marL="114300" indent="-114300" algn="l">
            <a:defRPr sz="1300"/>
          </a:lvl2pPr>
          <a:lvl3pPr marL="228600" indent="-114300" algn="l">
            <a:defRPr sz="1300"/>
          </a:lvl3pPr>
          <a:lvl4pPr marL="342900" indent="-114300" algn="l">
            <a:defRPr sz="1300"/>
          </a:lvl4pPr>
          <a:lvl5pPr marL="457200" indent="-114300" algn="l">
            <a:defRPr sz="1300"/>
          </a:lvl5pPr>
          <a:lvl6pPr marL="571500" indent="-114300" algn="l">
            <a:defRPr sz="1300"/>
          </a:lvl6pPr>
          <a:lvl7pPr marL="685800" indent="-114300" algn="l">
            <a:defRPr sz="1300"/>
          </a:lvl7pPr>
          <a:lvl8pPr marL="800100" indent="-114300" algn="l">
            <a:defRPr sz="1300"/>
          </a:lvl8pPr>
          <a:lvl9pPr marL="914400" indent="-114300" algn="l">
            <a:defRPr sz="1300"/>
          </a:lvl9pPr>
        </a:lstStyle>
        <a:p>
          <a:pPr lvl="1" rtl="0">
            <a:lnSpc>
              <a:spcPct val="100000"/>
            </a:lnSpc>
            <a:spcBef>
              <a:spcPct val="0"/>
            </a:spcBef>
            <a:spcAft>
              <a:spcPct val="15000"/>
            </a:spcAft>
            <a:buChar char="•"/>
          </a:pPr>
          <a:r>
            <a:rPr lang="en-US" dirty="0" smtClean="0">
              <a:solidFill>
                <a:schemeClr val="dk1"/>
              </a:solidFill>
            </a:rPr>
            <a:t>A text description of the object with the body;  this is useful when the object is not readable</a:t>
          </a:r>
          <a:endParaRPr lang="en-US" dirty="0">
            <a:solidFill>
              <a:schemeClr val="dk1"/>
            </a:solidFill>
          </a:endParaRPr>
        </a:p>
      </dsp:txBody>
      <dsp:txXfrm>
        <a:off x="0" y="4393905"/>
        <a:ext cx="7570787" cy="563245"/>
      </dsp:txXfrm>
    </dsp:sp>
    <dsp:sp modelId="{AFA02130-531F-2541-A40D-4D4C90AABF70}">
      <dsp:nvSpPr>
        <dsp:cNvPr id="16" name="圆角矩形 15"/>
        <dsp:cNvSpPr/>
      </dsp:nvSpPr>
      <dsp:spPr bwMode="white">
        <a:xfrm>
          <a:off x="378539" y="4202025"/>
          <a:ext cx="5299551" cy="383760"/>
        </a:xfrm>
        <a:prstGeom prst="roundRect">
          <a:avLst/>
        </a:prstGeom>
      </dsp:spPr>
      <dsp:style>
        <a:lnRef idx="0">
          <a:schemeClr val="lt1"/>
        </a:lnRef>
        <a:fillRef idx="3">
          <a:schemeClr val="accent1"/>
        </a:fillRef>
        <a:effectRef idx="2">
          <a:scrgbClr r="0" g="0" b="0"/>
        </a:effectRef>
        <a:fontRef idx="minor">
          <a:schemeClr val="lt1"/>
        </a:fontRef>
      </dsp:style>
      <dsp:txBody>
        <a:bodyPr lIns="200310" tIns="0" rIns="200310" bIns="0" anchor="ctr"/>
        <a:lstStyle>
          <a:lvl1pPr algn="l">
            <a:defRPr sz="13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rtl="0">
            <a:lnSpc>
              <a:spcPct val="100000"/>
            </a:lnSpc>
            <a:spcBef>
              <a:spcPct val="0"/>
            </a:spcBef>
            <a:spcAft>
              <a:spcPct val="35000"/>
            </a:spcAft>
          </a:pPr>
          <a:r>
            <a:rPr lang="en-US" dirty="0" smtClean="0"/>
            <a:t>Content-Description</a:t>
          </a:r>
          <a:endParaRPr lang="en-US" dirty="0"/>
        </a:p>
      </dsp:txBody>
      <dsp:txXfrm>
        <a:off x="378539" y="4202025"/>
        <a:ext cx="5299551" cy="383760"/>
      </dsp:txXfrm>
    </dsp:sp>
    <dsp:sp modelId="{48EC8570-AC82-C646-A9E0-D97EA89C7C19}">
      <dsp:nvSpPr>
        <dsp:cNvPr id="3" name="矩形 2" hidden="1"/>
        <dsp:cNvSpPr/>
      </dsp:nvSpPr>
      <dsp:spPr>
        <a:xfrm>
          <a:off x="0" y="72050"/>
          <a:ext cx="378539" cy="383760"/>
        </a:xfrm>
        <a:prstGeom prst="rect">
          <a:avLst/>
        </a:prstGeom>
      </dsp:spPr>
      <dsp:txXfrm>
        <a:off x="0" y="72050"/>
        <a:ext cx="378539" cy="383760"/>
      </dsp:txXfrm>
    </dsp:sp>
    <dsp:sp modelId="{7A72E58F-7E0B-3B4F-92FC-54A2C6DAC1B5}">
      <dsp:nvSpPr>
        <dsp:cNvPr id="6" name="矩形 5" hidden="1"/>
        <dsp:cNvSpPr/>
      </dsp:nvSpPr>
      <dsp:spPr>
        <a:xfrm>
          <a:off x="0" y="1131690"/>
          <a:ext cx="378539" cy="383760"/>
        </a:xfrm>
        <a:prstGeom prst="rect">
          <a:avLst/>
        </a:prstGeom>
      </dsp:spPr>
      <dsp:txXfrm>
        <a:off x="0" y="1131690"/>
        <a:ext cx="378539" cy="383760"/>
      </dsp:txXfrm>
    </dsp:sp>
    <dsp:sp modelId="{DDFB5F5A-0D30-3348-ADC5-C650D90FEE0B}">
      <dsp:nvSpPr>
        <dsp:cNvPr id="9" name="矩形 8" hidden="1"/>
        <dsp:cNvSpPr/>
      </dsp:nvSpPr>
      <dsp:spPr>
        <a:xfrm>
          <a:off x="0" y="2353255"/>
          <a:ext cx="378539" cy="383760"/>
        </a:xfrm>
        <a:prstGeom prst="rect">
          <a:avLst/>
        </a:prstGeom>
      </dsp:spPr>
      <dsp:txXfrm>
        <a:off x="0" y="2353255"/>
        <a:ext cx="378539" cy="383760"/>
      </dsp:txXfrm>
    </dsp:sp>
    <dsp:sp modelId="{038E828F-39A9-A443-9762-F6918CB067F8}">
      <dsp:nvSpPr>
        <dsp:cNvPr id="12" name="矩形 11" hidden="1"/>
        <dsp:cNvSpPr/>
      </dsp:nvSpPr>
      <dsp:spPr>
        <a:xfrm>
          <a:off x="0" y="3376700"/>
          <a:ext cx="378539" cy="383760"/>
        </a:xfrm>
        <a:prstGeom prst="rect">
          <a:avLst/>
        </a:prstGeom>
      </dsp:spPr>
      <dsp:txXfrm>
        <a:off x="0" y="3376700"/>
        <a:ext cx="378539" cy="383760"/>
      </dsp:txXfrm>
    </dsp:sp>
    <dsp:sp modelId="{9BA1CC4F-1DE9-8A4E-BF58-26CF6DB397FE}">
      <dsp:nvSpPr>
        <dsp:cNvPr id="15" name="矩形 14" hidden="1"/>
        <dsp:cNvSpPr/>
      </dsp:nvSpPr>
      <dsp:spPr>
        <a:xfrm>
          <a:off x="0" y="4202025"/>
          <a:ext cx="378539" cy="383760"/>
        </a:xfrm>
        <a:prstGeom prst="rect">
          <a:avLst/>
        </a:prstGeom>
      </dsp:spPr>
      <dsp:txXfrm>
        <a:off x="0" y="4202025"/>
        <a:ext cx="378539" cy="38376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或者交互式邮件存取协议从远程服务器检索消息。</a:t>
            </a:r>
            <a:endParaRPr lang="en-US" altLang="zh-CN" dirty="0"/>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a:t>
            </a:r>
            <a:r>
              <a:rPr lang="en-US" altLang="zh-CN" dirty="0">
                <a:sym typeface="+mn-ea"/>
              </a:rPr>
              <a:t>IMAP</a:t>
            </a:r>
            <a:r>
              <a:rPr lang="zh-CN" altLang="en-US" dirty="0">
                <a:sym typeface="+mn-ea"/>
              </a:rPr>
              <a:t>从远程服务器检索消息。</a:t>
            </a:r>
            <a:endParaRPr lang="en-US" altLang="zh-CN" dirty="0"/>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客户端利用客户端软件使用SMTP协议将要发送邮件发送到本地的邮件服务器，</a:t>
            </a:r>
            <a:endParaRPr lang="zh-CN" altLang="en-US" dirty="0"/>
          </a:p>
          <a:p>
            <a:r>
              <a:rPr lang="en-US" altLang="zh-CN" dirty="0">
                <a:sym typeface="+mn-ea"/>
              </a:rPr>
              <a:t>2. </a:t>
            </a:r>
            <a:r>
              <a:rPr lang="zh-CN" altLang="en-US" dirty="0">
                <a:sym typeface="+mn-ea"/>
              </a:rPr>
              <a:t>然后本地服务器再查看接收来邮件的目标地址，如果目标地址在远端则本地邮供服务器就将该邮件发往下一个邮件服务器或直接发往目标邮件服务器里。</a:t>
            </a:r>
            <a:endParaRPr lang="zh-CN" altLang="en-US" dirty="0">
              <a:sym typeface="+mn-ea"/>
            </a:endParaRPr>
          </a:p>
          <a:p>
            <a:r>
              <a:rPr lang="en-US" altLang="zh-CN" dirty="0">
                <a:sym typeface="+mn-ea"/>
              </a:rPr>
              <a:t>3. </a:t>
            </a:r>
            <a:r>
              <a:rPr lang="zh-CN" altLang="en-US" dirty="0">
                <a:sym typeface="+mn-ea"/>
              </a:rPr>
              <a:t>如果客户端想要查看其邮件内容，则必须使用POP3或者</a:t>
            </a:r>
            <a:r>
              <a:rPr lang="en-US" altLang="zh-CN" dirty="0">
                <a:sym typeface="+mn-ea"/>
              </a:rPr>
              <a:t>IMAP</a:t>
            </a:r>
            <a:r>
              <a:rPr lang="zh-CN" altLang="en-US" dirty="0">
                <a:sym typeface="+mn-ea"/>
              </a:rPr>
              <a:t>协议来接收才可以看到。</a:t>
            </a:r>
            <a:endParaRPr lang="zh-CN" altLang="en-US" dirty="0"/>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a:t>
            </a:r>
            <a:r>
              <a:rPr lang="en-US" altLang="zh-CN" dirty="0">
                <a:sym typeface="+mn-ea"/>
              </a:rPr>
              <a:t>IMAP</a:t>
            </a:r>
            <a:r>
              <a:rPr lang="zh-CN" altLang="en-US" dirty="0">
                <a:sym typeface="+mn-ea"/>
              </a:rPr>
              <a:t>从远程服务器检索消息。</a:t>
            </a:r>
            <a:endParaRPr lang="en-US" altLang="zh-CN" dirty="0"/>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由于传统的消息格式不能传输可执行文件和其他二进制对象，所以进行了扩充。</a:t>
            </a:r>
            <a:endParaRPr lang="zh-CN" altLang="en-US"/>
          </a:p>
          <a:p>
            <a:r>
              <a:rPr lang="en-US" altLang="zh-CN"/>
              <a:t>1. </a:t>
            </a:r>
            <a:r>
              <a:rPr lang="zh-CN" altLang="en-US"/>
              <a:t>新增了</a:t>
            </a:r>
            <a:r>
              <a:rPr lang="en-US" altLang="zh-CN"/>
              <a:t>5</a:t>
            </a:r>
            <a:r>
              <a:rPr lang="zh-CN" altLang="en-US"/>
              <a:t>个新头部字段、提供了有关消息正文的</a:t>
            </a:r>
            <a:r>
              <a:rPr lang="zh-CN" altLang="en-US"/>
              <a:t>信息</a:t>
            </a:r>
            <a:endParaRPr lang="zh-CN" altLang="en-US"/>
          </a:p>
          <a:p>
            <a:r>
              <a:rPr lang="en-US" altLang="zh-CN"/>
              <a:t>2. </a:t>
            </a:r>
            <a:r>
              <a:rPr lang="zh-CN" altLang="en-US"/>
              <a:t>定义了内容格式，因此标准化表示支持多媒体电子</a:t>
            </a:r>
            <a:r>
              <a:rPr lang="zh-CN" altLang="en-US"/>
              <a:t>邮件</a:t>
            </a:r>
            <a:endParaRPr lang="zh-CN" altLang="en-US"/>
          </a:p>
          <a:p>
            <a:r>
              <a:rPr lang="en-US" altLang="zh-CN"/>
              <a:t>3. </a:t>
            </a:r>
            <a:r>
              <a:rPr lang="zh-CN" altLang="en-US"/>
              <a:t>定义了</a:t>
            </a:r>
            <a:r>
              <a:rPr lang="zh-CN" altLang="en-US"/>
              <a:t>传输编码。</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In this subsection, we introduce the five message header fields. The next two</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subsections deal with content formats and transfer encodings.</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The five header fields defined in MIME are</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 MIME-Version:  Must have the parameter value 1.0. This field indicates that</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the message conforms to RFCs 2045 and 2046.</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 Content-Type:  Describes the data contained in the body with sufficient detail that</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the receiving user agent can pick an appropriate agent or mechanism to represent</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the data to the user or otherwise deal with the data in an appropriate manner.</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 Content-Transfer-Encoding:  Indicates the type of transformation that has</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been used to represent the body of the message in a way that is acceptable for</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mail transport.</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 Content-ID:  Used to identify MIME entities uniquely in multiple contexts.</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 Content-Description:  A text description of the object with the body; this is</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useful when the object is not readable (e.g., audio data).</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Any or all of these fields may appear in a normal RFC 5322 header. A compliant</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implementation must support the MIME-Version, Content-Type, and</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Content-Transfer-Encoding fields; the Content-ID and Content-Description fields</a:t>
            </a:r>
            <a:endPar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endParaRPr>
          </a:p>
          <a:p>
            <a:r>
              <a:rPr lang="en-US" sz="1200" kern="1200" baseline="0" dirty="0" smtClean="0">
                <a:solidFill>
                  <a:schemeClr val="tx1"/>
                </a:solidFill>
                <a:latin typeface="Arial" panose="020B0604020202020204" pitchFamily="34" charset="0"/>
                <a:ea typeface="MS PGothic" panose="020B0600070205080204" pitchFamily="-107" charset="-128"/>
                <a:cs typeface="MS PGothic" panose="020B0600070205080204" pitchFamily="-107" charset="-128"/>
              </a:rPr>
              <a:t>are optional and may be ignored by the recipient implementation.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STARTTLS</a:t>
            </a:r>
            <a:r>
              <a:rPr lang="zh-CN" altLang="en-US"/>
              <a:t>：</a:t>
            </a:r>
            <a:r>
              <a:rPr lang="en-US" altLang="zh-CN"/>
              <a:t>SMTP</a:t>
            </a:r>
            <a:r>
              <a:rPr lang="zh-CN" altLang="en-US"/>
              <a:t>安全扩展协议，通过在</a:t>
            </a:r>
            <a:r>
              <a:rPr lang="en-US" altLang="zh-CN"/>
              <a:t>TLS</a:t>
            </a:r>
            <a:r>
              <a:rPr lang="zh-CN" altLang="en-US"/>
              <a:t>上运行</a:t>
            </a:r>
            <a:r>
              <a:rPr lang="en-US" altLang="zh-CN"/>
              <a:t>SMTP</a:t>
            </a:r>
            <a:r>
              <a:rPr lang="zh-CN" altLang="en-US"/>
              <a:t>协议来提供</a:t>
            </a:r>
            <a:r>
              <a:rPr lang="zh-CN" altLang="en-US"/>
              <a:t>安全性。</a:t>
            </a:r>
            <a:endParaRPr lang="zh-CN" altLang="en-US"/>
          </a:p>
          <a:p>
            <a:r>
              <a:rPr lang="en-US" altLang="zh-CN"/>
              <a:t>2. S/MIME</a:t>
            </a:r>
            <a:r>
              <a:rPr lang="zh-CN" altLang="en-US"/>
              <a:t>协议：为</a:t>
            </a:r>
            <a:r>
              <a:rPr lang="en-US" altLang="zh-CN"/>
              <a:t>SMTP</a:t>
            </a:r>
            <a:r>
              <a:rPr lang="zh-CN" altLang="en-US"/>
              <a:t>消息中的消息正文提供真实性、完整性、不可抵赖性和保密性</a:t>
            </a:r>
            <a:r>
              <a:rPr lang="zh-CN" altLang="en-US"/>
              <a:t>服务，</a:t>
            </a:r>
            <a:endParaRPr lang="zh-CN" altLang="en-US"/>
          </a:p>
          <a:p>
            <a:r>
              <a:rPr lang="en-US" altLang="zh-CN"/>
              <a:t>3. DNS</a:t>
            </a:r>
            <a:r>
              <a:rPr lang="zh-CN" altLang="en-US"/>
              <a:t>安全扩展（</a:t>
            </a:r>
            <a:r>
              <a:rPr lang="en-US" altLang="zh-CN"/>
              <a:t>DNSSEC</a:t>
            </a:r>
            <a:r>
              <a:rPr lang="zh-CN" altLang="en-US"/>
              <a:t>）：为</a:t>
            </a:r>
            <a:r>
              <a:rPr lang="en-US" altLang="zh-CN"/>
              <a:t>DNS</a:t>
            </a:r>
            <a:r>
              <a:rPr lang="zh-CN" altLang="en-US"/>
              <a:t>数据提供真实性和完整性保护，是各类电子邮件安全协议的基本</a:t>
            </a:r>
            <a:r>
              <a:rPr lang="zh-CN" altLang="en-US"/>
              <a:t>工具。</a:t>
            </a:r>
            <a:endParaRPr lang="zh-CN" altLang="en-US"/>
          </a:p>
          <a:p>
            <a:r>
              <a:rPr lang="en-US" altLang="zh-CN"/>
              <a:t>4. </a:t>
            </a:r>
            <a:r>
              <a:rPr lang="zh-CN" altLang="en-US"/>
              <a:t>基于</a:t>
            </a:r>
            <a:r>
              <a:rPr lang="en-US" altLang="zh-CN"/>
              <a:t>DNS</a:t>
            </a:r>
            <a:r>
              <a:rPr lang="zh-CN" altLang="en-US"/>
              <a:t>的命名实体认证（</a:t>
            </a:r>
            <a:r>
              <a:rPr lang="en-US" altLang="zh-CN"/>
              <a:t>DANE</a:t>
            </a:r>
            <a:r>
              <a:rPr lang="zh-CN" altLang="en-US"/>
              <a:t>）：通过为</a:t>
            </a:r>
            <a:r>
              <a:rPr lang="en-US" altLang="zh-CN"/>
              <a:t>DNSSEC</a:t>
            </a:r>
            <a:r>
              <a:rPr lang="zh-CN" altLang="en-US"/>
              <a:t>上的公钥验证提供额外的验证方式解决</a:t>
            </a:r>
            <a:r>
              <a:rPr lang="en-US" altLang="zh-CN"/>
              <a:t>CA</a:t>
            </a:r>
            <a:r>
              <a:rPr lang="zh-CN" altLang="en-US"/>
              <a:t>系统中的</a:t>
            </a:r>
            <a:r>
              <a:rPr lang="zh-CN" altLang="en-US"/>
              <a:t>问题</a:t>
            </a:r>
            <a:endParaRPr lang="zh-CN" altLang="en-US"/>
          </a:p>
          <a:p>
            <a:r>
              <a:rPr lang="en-US" altLang="zh-CN"/>
              <a:t>5. SPF</a:t>
            </a:r>
            <a:r>
              <a:rPr lang="zh-CN" altLang="en-US"/>
              <a:t>：发送发策略框架，使用</a:t>
            </a:r>
            <a:r>
              <a:rPr lang="en-US" altLang="zh-CN"/>
              <a:t>DNS</a:t>
            </a:r>
            <a:r>
              <a:rPr lang="zh-CN" altLang="en-US"/>
              <a:t>系统让域名管理者创建记录，将域名与被授权的消息发送方专用</a:t>
            </a:r>
            <a:r>
              <a:rPr lang="en-US" altLang="zh-CN"/>
              <a:t>IP</a:t>
            </a:r>
            <a:r>
              <a:rPr lang="zh-CN" altLang="en-US"/>
              <a:t>进行关联，从而接收方通过检查</a:t>
            </a:r>
            <a:r>
              <a:rPr lang="en-US" altLang="zh-CN"/>
              <a:t>DNS</a:t>
            </a:r>
            <a:r>
              <a:rPr lang="zh-CN" altLang="en-US"/>
              <a:t>中的</a:t>
            </a:r>
            <a:r>
              <a:rPr lang="en-US" altLang="zh-CN"/>
              <a:t>SPF</a:t>
            </a:r>
            <a:r>
              <a:rPr lang="zh-CN" altLang="en-US"/>
              <a:t>记录，确认声称的发送方是否能够使用源地址，并拒绝来自非授权</a:t>
            </a:r>
            <a:r>
              <a:rPr lang="en-US" altLang="zh-CN"/>
              <a:t>IP</a:t>
            </a:r>
            <a:r>
              <a:rPr lang="zh-CN" altLang="en-US"/>
              <a:t>地址的</a:t>
            </a:r>
            <a:r>
              <a:rPr lang="zh-CN" altLang="en-US"/>
              <a:t>邮件。</a:t>
            </a:r>
            <a:endParaRPr lang="zh-CN" altLang="en-US"/>
          </a:p>
          <a:p>
            <a:r>
              <a:rPr lang="zh-CN" altLang="en-US">
                <a:highlight>
                  <a:srgbClr val="FF0000"/>
                </a:highlight>
              </a:rPr>
              <a:t>攻击者常伪造知名域名（如银行、企业邮箱）发送钓鱼邮件，误导用户泄露信息。</a:t>
            </a:r>
            <a:endParaRPr lang="zh-CN" altLang="en-US">
              <a:highlight>
                <a:srgbClr val="FF0000"/>
              </a:highlight>
            </a:endParaRPr>
          </a:p>
          <a:p>
            <a:r>
              <a:rPr lang="en-US" altLang="zh-CN">
                <a:highlight>
                  <a:srgbClr val="FF0000"/>
                </a:highlight>
              </a:rPr>
              <a:t>SPF </a:t>
            </a:r>
            <a:r>
              <a:rPr lang="zh-CN" altLang="en-US">
                <a:highlight>
                  <a:srgbClr val="FF0000"/>
                </a:highlight>
              </a:rPr>
              <a:t>允许域名所有者在</a:t>
            </a:r>
            <a:r>
              <a:rPr lang="en-US" altLang="zh-CN">
                <a:highlight>
                  <a:srgbClr val="FF0000"/>
                </a:highlight>
              </a:rPr>
              <a:t> DNS </a:t>
            </a:r>
            <a:r>
              <a:rPr lang="zh-CN" altLang="en-US">
                <a:highlight>
                  <a:srgbClr val="FF0000"/>
                </a:highlight>
              </a:rPr>
              <a:t>记录中声明</a:t>
            </a:r>
            <a:r>
              <a:rPr lang="en-US" altLang="zh-CN">
                <a:highlight>
                  <a:srgbClr val="FF0000"/>
                </a:highlight>
              </a:rPr>
              <a:t> “</a:t>
            </a:r>
            <a:r>
              <a:rPr lang="zh-CN" altLang="en-US">
                <a:highlight>
                  <a:srgbClr val="FF0000"/>
                </a:highlight>
              </a:rPr>
              <a:t>哪些</a:t>
            </a:r>
            <a:r>
              <a:rPr lang="en-US" altLang="zh-CN">
                <a:highlight>
                  <a:srgbClr val="FF0000"/>
                </a:highlight>
              </a:rPr>
              <a:t> IP </a:t>
            </a:r>
            <a:r>
              <a:rPr lang="zh-CN" altLang="en-US">
                <a:highlight>
                  <a:srgbClr val="FF0000"/>
                </a:highlight>
              </a:rPr>
              <a:t>地址有权使用该域名发送邮件</a:t>
            </a:r>
            <a:r>
              <a:rPr lang="en-US" altLang="zh-CN">
                <a:highlight>
                  <a:srgbClr val="FF0000"/>
                </a:highlight>
              </a:rPr>
              <a:t>”</a:t>
            </a:r>
            <a:r>
              <a:rPr lang="zh-CN" altLang="en-US">
                <a:highlight>
                  <a:srgbClr val="FF0000"/>
                </a:highlight>
              </a:rPr>
              <a:t>。</a:t>
            </a:r>
            <a:endParaRPr lang="zh-CN" altLang="en-US">
              <a:highlight>
                <a:srgbClr val="FF0000"/>
              </a:highlight>
            </a:endParaRPr>
          </a:p>
          <a:p>
            <a:r>
              <a:rPr lang="zh-CN" altLang="en-US">
                <a:highlight>
                  <a:srgbClr val="FF0000"/>
                </a:highlight>
              </a:rPr>
              <a:t>示例：若某公司域名</a:t>
            </a:r>
            <a:r>
              <a:rPr lang="en-US" altLang="zh-CN">
                <a:highlight>
                  <a:srgbClr val="FF0000"/>
                </a:highlight>
              </a:rPr>
              <a:t>example.com</a:t>
            </a:r>
            <a:r>
              <a:rPr lang="zh-CN" altLang="en-US">
                <a:highlight>
                  <a:srgbClr val="FF0000"/>
                </a:highlight>
              </a:rPr>
              <a:t>的</a:t>
            </a:r>
            <a:r>
              <a:rPr lang="en-US" altLang="zh-CN">
                <a:highlight>
                  <a:srgbClr val="FF0000"/>
                </a:highlight>
              </a:rPr>
              <a:t> SPF </a:t>
            </a:r>
            <a:r>
              <a:rPr lang="zh-CN" altLang="en-US">
                <a:highlight>
                  <a:srgbClr val="FF0000"/>
                </a:highlight>
              </a:rPr>
              <a:t>记录中包含</a:t>
            </a:r>
            <a:r>
              <a:rPr lang="en-US" altLang="zh-CN">
                <a:highlight>
                  <a:srgbClr val="FF0000"/>
                </a:highlight>
              </a:rPr>
              <a:t> IP </a:t>
            </a:r>
            <a:r>
              <a:rPr lang="zh-CN" altLang="en-US">
                <a:highlight>
                  <a:srgbClr val="FF0000"/>
                </a:highlight>
              </a:rPr>
              <a:t>地址</a:t>
            </a:r>
            <a:r>
              <a:rPr lang="en-US" altLang="zh-CN">
                <a:highlight>
                  <a:srgbClr val="FF0000"/>
                </a:highlight>
              </a:rPr>
              <a:t>192.168.1.100</a:t>
            </a:r>
            <a:r>
              <a:rPr lang="zh-CN" altLang="en-US">
                <a:highlight>
                  <a:srgbClr val="FF0000"/>
                </a:highlight>
              </a:rPr>
              <a:t>，则只有该</a:t>
            </a:r>
            <a:r>
              <a:rPr lang="en-US" altLang="zh-CN">
                <a:highlight>
                  <a:srgbClr val="FF0000"/>
                </a:highlight>
              </a:rPr>
              <a:t> IP </a:t>
            </a:r>
            <a:r>
              <a:rPr lang="zh-CN" altLang="en-US">
                <a:highlight>
                  <a:srgbClr val="FF0000"/>
                </a:highlight>
              </a:rPr>
              <a:t>发送的邮件会被收件方认为是</a:t>
            </a:r>
            <a:r>
              <a:rPr lang="en-US" altLang="zh-CN">
                <a:highlight>
                  <a:srgbClr val="FF0000"/>
                </a:highlight>
              </a:rPr>
              <a:t> “</a:t>
            </a:r>
            <a:r>
              <a:rPr lang="zh-CN" altLang="en-US">
                <a:highlight>
                  <a:srgbClr val="FF0000"/>
                </a:highlight>
              </a:rPr>
              <a:t>合法</a:t>
            </a:r>
            <a:r>
              <a:rPr lang="en-US" altLang="zh-CN">
                <a:highlight>
                  <a:srgbClr val="FF0000"/>
                </a:highlight>
              </a:rPr>
              <a:t>” </a:t>
            </a:r>
            <a:r>
              <a:rPr lang="zh-CN" altLang="en-US">
                <a:highlight>
                  <a:srgbClr val="FF0000"/>
                </a:highlight>
              </a:rPr>
              <a:t>的，其他</a:t>
            </a:r>
            <a:r>
              <a:rPr lang="en-US" altLang="zh-CN">
                <a:highlight>
                  <a:srgbClr val="FF0000"/>
                </a:highlight>
              </a:rPr>
              <a:t> IP </a:t>
            </a:r>
            <a:r>
              <a:rPr lang="zh-CN" altLang="en-US">
                <a:highlight>
                  <a:srgbClr val="FF0000"/>
                </a:highlight>
              </a:rPr>
              <a:t>发送的邮件可能被标记为可疑或拒收。</a:t>
            </a:r>
            <a:endParaRPr lang="zh-CN" altLang="en-US">
              <a:highlight>
                <a:srgbClr val="FF0000"/>
              </a:highlight>
            </a:endParaRPr>
          </a:p>
          <a:p>
            <a:r>
              <a:rPr lang="en-US" altLang="zh-CN"/>
              <a:t>6. DKIM</a:t>
            </a:r>
            <a:r>
              <a:rPr lang="zh-CN" altLang="en-US"/>
              <a:t>：域名密钥识别的邮件，让</a:t>
            </a:r>
            <a:r>
              <a:rPr lang="en-US" altLang="zh-CN"/>
              <a:t>MTA</a:t>
            </a:r>
            <a:r>
              <a:rPr lang="zh-CN" altLang="en-US"/>
              <a:t>对所有头部和正文消息签名，以便验证发送方域名的合法性和消息正文的</a:t>
            </a:r>
            <a:r>
              <a:rPr lang="zh-CN" altLang="en-US"/>
              <a:t>完整性。</a:t>
            </a:r>
            <a:endParaRPr lang="zh-CN" altLang="en-US"/>
          </a:p>
          <a:p>
            <a:r>
              <a:rPr lang="en-US" altLang="zh-CN"/>
              <a:t>7. DMARC</a:t>
            </a:r>
            <a:r>
              <a:rPr lang="zh-CN" altLang="en-US"/>
              <a:t>，基于域的消息认证、报告和一致性协议：告知邮件发送方其</a:t>
            </a:r>
            <a:r>
              <a:rPr lang="en-US" altLang="zh-CN"/>
              <a:t>SPF</a:t>
            </a:r>
            <a:r>
              <a:rPr lang="zh-CN" altLang="en-US"/>
              <a:t>和</a:t>
            </a:r>
            <a:r>
              <a:rPr lang="en-US" altLang="zh-CN"/>
              <a:t>DKIM</a:t>
            </a:r>
            <a:r>
              <a:rPr lang="zh-CN" altLang="en-US"/>
              <a:t>策略的作用，告知其在遇到攻击时应该采用的</a:t>
            </a:r>
            <a:r>
              <a:rPr lang="zh-CN" altLang="en-US"/>
              <a:t>措施。</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dirty="0" smtClean="0">
                <a:sym typeface="+mn-ea"/>
              </a:rPr>
              <a:t>Most commonly AES with a 128-bit key is used, with the cipher block chaining (CBC) mode</a:t>
            </a:r>
            <a:endParaRPr lang="en-US" dirty="0" smtClean="0"/>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dirty="0" smtClean="0">
                <a:sym typeface="+mn-ea"/>
              </a:rPr>
              <a:t>Most commonly AES with a 128-bit key is used, with the cipher block chaining (CBC) mode</a:t>
            </a:r>
            <a:endParaRPr lang="en-US" dirty="0" smtClean="0"/>
          </a:p>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dirty="0" smtClean="0">
                <a:sym typeface="+mn-ea"/>
              </a:rPr>
              <a:t>Most commonly AES with a 128-bit key is used, with the cipher block chaining (CBC) mode</a:t>
            </a:r>
            <a:endParaRPr lang="en-US" dirty="0" smtClean="0"/>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压缩既可以在密码操作前也可以在密码</a:t>
            </a:r>
            <a:r>
              <a:rPr lang="zh-CN" altLang="en-US"/>
              <a:t>操作后。</a:t>
            </a:r>
            <a:endParaRPr lang="zh-CN" altLang="en-US"/>
          </a:p>
          <a:p>
            <a:r>
              <a:rPr lang="zh-CN" altLang="en-US"/>
              <a:t>但是不建议压缩二进制编码加密数据，因为效果不明显，建议压缩采用</a:t>
            </a:r>
            <a:r>
              <a:rPr lang="en-US" altLang="zh-CN"/>
              <a:t>base64</a:t>
            </a:r>
            <a:r>
              <a:rPr lang="zh-CN" altLang="en-US"/>
              <a:t>加密的</a:t>
            </a:r>
            <a:r>
              <a:rPr lang="zh-CN" altLang="en-US"/>
              <a:t>数据，</a:t>
            </a:r>
            <a:endParaRPr lang="zh-CN" altLang="en-US"/>
          </a:p>
          <a:p>
            <a:r>
              <a:rPr lang="zh-CN" altLang="en-US"/>
              <a:t>如果签名时使用了有损压缩算法，那么需要先压缩再</a:t>
            </a:r>
            <a:r>
              <a:rPr lang="zh-CN" altLang="en-US"/>
              <a:t>签名。</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2EF1F-5AB9-4920-AF5B-E1DBE17087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4" name="Picture 4" descr="B-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815413" y="548680"/>
            <a:ext cx="10478955" cy="648072"/>
          </a:xfrm>
        </p:spPr>
        <p:txBody>
          <a:bodyPr/>
          <a:lstStyle>
            <a:lvl1pPr algn="l">
              <a:defRPr sz="4000"/>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0" y="1600200"/>
            <a:ext cx="10972800" cy="4925144"/>
          </a:xfrm>
        </p:spPr>
        <p:txBody>
          <a:bodyPr/>
          <a:lstStyle>
            <a:lvl1pPr marL="342900" indent="-342900">
              <a:lnSpc>
                <a:spcPts val="3200"/>
              </a:lnSpc>
              <a:buClrTx/>
              <a:buSzPct val="85000"/>
              <a:buFont typeface="Wingdings" panose="05000000000000000000" pitchFamily="2" charset="2"/>
              <a:buChar char="p"/>
              <a:defRPr sz="2400"/>
            </a:lvl1pPr>
            <a:lvl2pPr marL="914400" indent="-457200">
              <a:lnSpc>
                <a:spcPts val="3200"/>
              </a:lnSpc>
              <a:buClrTx/>
              <a:buSzPct val="85000"/>
              <a:buFont typeface="Wingdings" panose="05000000000000000000" pitchFamily="2" charset="2"/>
              <a:buChar char="n"/>
              <a:defRPr sz="2000"/>
            </a:lvl2pPr>
            <a:lvl3pPr marL="1371600" indent="-457200">
              <a:lnSpc>
                <a:spcPts val="3200"/>
              </a:lnSpc>
              <a:buClrTx/>
              <a:buSzPct val="85000"/>
              <a:buFont typeface="Wingdings" panose="05000000000000000000" pitchFamily="2" charset="2"/>
              <a:buChar char="u"/>
              <a:defRPr sz="1800"/>
            </a:lvl3pPr>
            <a:lvl4pPr>
              <a:lnSpc>
                <a:spcPts val="3200"/>
              </a:lnSpc>
              <a:defRPr sz="1600"/>
            </a:lvl4pPr>
            <a:lvl5pPr>
              <a:lnSpc>
                <a:spcPts val="3200"/>
              </a:lnSpc>
              <a:defRPr sz="1600"/>
            </a:lvl5pPr>
          </a:lstStyle>
          <a:p>
            <a:pPr lvl="0"/>
            <a:r>
              <a:rPr lang="zh-CN" altLang="en-US" dirty="0"/>
              <a:t>单击此处编辑母版文本样式</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Rectangle 6"/>
          <p:cNvSpPr>
            <a:spLocks noGrp="1" noChangeArrowheads="1"/>
          </p:cNvSpPr>
          <p:nvPr>
            <p:ph type="sldNum" sz="quarter" idx="12"/>
          </p:nvPr>
        </p:nvSpPr>
        <p:spPr>
          <a:xfrm>
            <a:off x="10443382" y="6525344"/>
            <a:ext cx="1142325" cy="332656"/>
          </a:xfrm>
        </p:spPr>
        <p:txBody>
          <a:bodyPr/>
          <a:lstStyle>
            <a:lvl1pPr>
              <a:defRPr/>
            </a:lvl1pPr>
          </a:lstStyle>
          <a:p>
            <a:pPr>
              <a:defRPr/>
            </a:pPr>
            <a:fld id="{B42B4293-9377-4872-955B-7EAEC82CC678}" type="slidenum">
              <a:rPr lang="en-US" altLang="zh-CN" smtClean="0"/>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1"/>
        </a:solidFill>
        <a:effectLst/>
      </p:bgPr>
    </p:bg>
    <p:spTree>
      <p:nvGrpSpPr>
        <p:cNvPr id="1" name=""/>
        <p:cNvGrpSpPr/>
        <p:nvPr/>
      </p:nvGrpSpPr>
      <p:grpSpPr>
        <a:xfrm>
          <a:off x="0" y="0"/>
          <a:ext cx="0" cy="0"/>
          <a:chOff x="0" y="0"/>
          <a:chExt cx="0" cy="0"/>
        </a:xfrm>
      </p:grpSpPr>
      <p:grpSp>
        <p:nvGrpSpPr>
          <p:cNvPr id="80" name="组合 79"/>
          <p:cNvGrpSpPr/>
          <p:nvPr userDrawn="1"/>
        </p:nvGrpSpPr>
        <p:grpSpPr>
          <a:xfrm>
            <a:off x="10117" y="4221088"/>
            <a:ext cx="12214757" cy="2636912"/>
            <a:chOff x="10118" y="5377500"/>
            <a:chExt cx="6858002" cy="1480500"/>
          </a:xfrm>
        </p:grpSpPr>
        <p:sp>
          <p:nvSpPr>
            <p:cNvPr id="81" name="Shape 26"/>
            <p:cNvSpPr/>
            <p:nvPr/>
          </p:nvSpPr>
          <p:spPr>
            <a:xfrm flipH="1">
              <a:off x="10118" y="5919093"/>
              <a:ext cx="6858002" cy="938907"/>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rgbClr val="DEDDDD"/>
            </a:solidFill>
            <a:ln w="9525" cap="flat" cmpd="sng">
              <a:noFill/>
              <a:prstDash val="solid"/>
              <a:round/>
              <a:headEnd type="none" w="med" len="med"/>
              <a:tailEnd type="none" w="med" len="med"/>
            </a:ln>
          </p:spPr>
          <p:txBody>
            <a:bodyPr lIns="91425" tIns="45700" rIns="91425" bIns="45700" anchor="t" anchorCtr="0">
              <a:noAutofit/>
            </a:bodyPr>
            <a:lstStyle/>
            <a:p>
              <a:pPr marL="0" marR="0" lvl="0" indent="0" algn="l" rtl="0">
                <a:spcBef>
                  <a:spcPts val="0"/>
                </a:spcBef>
                <a:buNone/>
              </a:pPr>
              <a:endParaRPr sz="1350" b="0" i="0" u="none" strike="noStrike" cap="none" baseline="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82" name="图片 81"/>
            <p:cNvPicPr>
              <a:picLocks noChangeAspect="1"/>
            </p:cNvPicPr>
            <p:nvPr/>
          </p:nvPicPr>
          <p:blipFill rotWithShape="1">
            <a:blip r:embed="rId2">
              <a:duotone>
                <a:schemeClr val="bg2">
                  <a:shade val="45000"/>
                  <a:satMod val="135000"/>
                </a:schemeClr>
                <a:prstClr val="white"/>
              </a:duotone>
            </a:blip>
            <a:srcRect b="27358"/>
            <a:stretch>
              <a:fillRect/>
            </a:stretch>
          </p:blipFill>
          <p:spPr>
            <a:xfrm flipH="1">
              <a:off x="1367070" y="5377500"/>
              <a:ext cx="3517131" cy="1411808"/>
            </a:xfrm>
            <a:prstGeom prst="rect">
              <a:avLst/>
            </a:prstGeom>
          </p:spPr>
        </p:pic>
      </p:grpSp>
      <p:sp>
        <p:nvSpPr>
          <p:cNvPr id="83" name="任意多边形 199"/>
          <p:cNvSpPr/>
          <p:nvPr userDrawn="1"/>
        </p:nvSpPr>
        <p:spPr>
          <a:xfrm>
            <a:off x="1" y="1"/>
            <a:ext cx="5240431" cy="2676823"/>
          </a:xfrm>
          <a:custGeom>
            <a:avLst/>
            <a:gdLst>
              <a:gd name="connsiteX0" fmla="*/ 0 w 5240431"/>
              <a:gd name="connsiteY0" fmla="*/ 2503135 h 2676823"/>
              <a:gd name="connsiteX1" fmla="*/ 9911 w 5240431"/>
              <a:gd name="connsiteY1" fmla="*/ 2509550 h 2676823"/>
              <a:gd name="connsiteX2" fmla="*/ 9911 w 5240431"/>
              <a:gd name="connsiteY2" fmla="*/ 2666890 h 2676823"/>
              <a:gd name="connsiteX3" fmla="*/ 6246 w 5240431"/>
              <a:gd name="connsiteY3" fmla="*/ 2670563 h 2676823"/>
              <a:gd name="connsiteX4" fmla="*/ 0 w 5240431"/>
              <a:gd name="connsiteY4" fmla="*/ 2676823 h 2676823"/>
              <a:gd name="connsiteX5" fmla="*/ 2708616 w 5240431"/>
              <a:gd name="connsiteY5" fmla="*/ 1766419 h 2676823"/>
              <a:gd name="connsiteX6" fmla="*/ 2786187 w 5240431"/>
              <a:gd name="connsiteY6" fmla="*/ 1798350 h 2676823"/>
              <a:gd name="connsiteX7" fmla="*/ 2786187 w 5240431"/>
              <a:gd name="connsiteY7" fmla="*/ 1955690 h 2676823"/>
              <a:gd name="connsiteX8" fmla="*/ 2553473 w 5240431"/>
              <a:gd name="connsiteY8" fmla="*/ 2190775 h 2676823"/>
              <a:gd name="connsiteX9" fmla="*/ 2398330 w 5240431"/>
              <a:gd name="connsiteY9" fmla="*/ 2190775 h 2676823"/>
              <a:gd name="connsiteX10" fmla="*/ 2398330 w 5240431"/>
              <a:gd name="connsiteY10" fmla="*/ 2033434 h 2676823"/>
              <a:gd name="connsiteX11" fmla="*/ 2631044 w 5240431"/>
              <a:gd name="connsiteY11" fmla="*/ 1798350 h 2676823"/>
              <a:gd name="connsiteX12" fmla="*/ 2708616 w 5240431"/>
              <a:gd name="connsiteY12" fmla="*/ 1766419 h 2676823"/>
              <a:gd name="connsiteX13" fmla="*/ 2332831 w 5240431"/>
              <a:gd name="connsiteY13" fmla="*/ 1631499 h 2676823"/>
              <a:gd name="connsiteX14" fmla="*/ 2410277 w 5240431"/>
              <a:gd name="connsiteY14" fmla="*/ 1663483 h 2676823"/>
              <a:gd name="connsiteX15" fmla="*/ 2410277 w 5240431"/>
              <a:gd name="connsiteY15" fmla="*/ 1821082 h 2676823"/>
              <a:gd name="connsiteX16" fmla="*/ 2255386 w 5240431"/>
              <a:gd name="connsiteY16" fmla="*/ 1821082 h 2676823"/>
              <a:gd name="connsiteX17" fmla="*/ 2255386 w 5240431"/>
              <a:gd name="connsiteY17" fmla="*/ 1663483 h 2676823"/>
              <a:gd name="connsiteX18" fmla="*/ 2332831 w 5240431"/>
              <a:gd name="connsiteY18" fmla="*/ 1631499 h 2676823"/>
              <a:gd name="connsiteX19" fmla="*/ 2816565 w 5240431"/>
              <a:gd name="connsiteY19" fmla="*/ 1142958 h 2676823"/>
              <a:gd name="connsiteX20" fmla="*/ 2894136 w 5240431"/>
              <a:gd name="connsiteY20" fmla="*/ 1176167 h 2676823"/>
              <a:gd name="connsiteX21" fmla="*/ 2894136 w 5240431"/>
              <a:gd name="connsiteY21" fmla="*/ 1332986 h 2676823"/>
              <a:gd name="connsiteX22" fmla="*/ 2661422 w 5240431"/>
              <a:gd name="connsiteY22" fmla="*/ 1567293 h 2676823"/>
              <a:gd name="connsiteX23" fmla="*/ 2506280 w 5240431"/>
              <a:gd name="connsiteY23" fmla="*/ 1567293 h 2676823"/>
              <a:gd name="connsiteX24" fmla="*/ 2506280 w 5240431"/>
              <a:gd name="connsiteY24" fmla="*/ 1410473 h 2676823"/>
              <a:gd name="connsiteX25" fmla="*/ 2738994 w 5240431"/>
              <a:gd name="connsiteY25" fmla="*/ 1176167 h 2676823"/>
              <a:gd name="connsiteX26" fmla="*/ 2816565 w 5240431"/>
              <a:gd name="connsiteY26" fmla="*/ 1142958 h 2676823"/>
              <a:gd name="connsiteX27" fmla="*/ 1805646 w 5240431"/>
              <a:gd name="connsiteY27" fmla="*/ 1131410 h 2676823"/>
              <a:gd name="connsiteX28" fmla="*/ 1883180 w 5240431"/>
              <a:gd name="connsiteY28" fmla="*/ 1163314 h 2676823"/>
              <a:gd name="connsiteX29" fmla="*/ 1883180 w 5240431"/>
              <a:gd name="connsiteY29" fmla="*/ 1320523 h 2676823"/>
              <a:gd name="connsiteX30" fmla="*/ 1556429 w 5240431"/>
              <a:gd name="connsiteY30" fmla="*/ 1649736 h 2676823"/>
              <a:gd name="connsiteX31" fmla="*/ 1401360 w 5240431"/>
              <a:gd name="connsiteY31" fmla="*/ 1649736 h 2676823"/>
              <a:gd name="connsiteX32" fmla="*/ 1401360 w 5240431"/>
              <a:gd name="connsiteY32" fmla="*/ 1492528 h 2676823"/>
              <a:gd name="connsiteX33" fmla="*/ 1728111 w 5240431"/>
              <a:gd name="connsiteY33" fmla="*/ 1163314 h 2676823"/>
              <a:gd name="connsiteX34" fmla="*/ 1805646 w 5240431"/>
              <a:gd name="connsiteY34" fmla="*/ 1131410 h 2676823"/>
              <a:gd name="connsiteX35" fmla="*/ 4929462 w 5240431"/>
              <a:gd name="connsiteY35" fmla="*/ 0 h 2676823"/>
              <a:gd name="connsiteX36" fmla="*/ 5240431 w 5240431"/>
              <a:gd name="connsiteY36" fmla="*/ 0 h 2676823"/>
              <a:gd name="connsiteX37" fmla="*/ 5233955 w 5240431"/>
              <a:gd name="connsiteY37" fmla="*/ 6527 h 2676823"/>
              <a:gd name="connsiteX38" fmla="*/ 3277649 w 5240431"/>
              <a:gd name="connsiteY38" fmla="*/ 1978392 h 2676823"/>
              <a:gd name="connsiteX39" fmla="*/ 3122493 w 5240431"/>
              <a:gd name="connsiteY39" fmla="*/ 1978392 h 2676823"/>
              <a:gd name="connsiteX40" fmla="*/ 3122493 w 5240431"/>
              <a:gd name="connsiteY40" fmla="*/ 1821340 h 2676823"/>
              <a:gd name="connsiteX41" fmla="*/ 4736054 w 5240431"/>
              <a:gd name="connsiteY41" fmla="*/ 194947 h 2676823"/>
              <a:gd name="connsiteX42" fmla="*/ 4417601 w 5240431"/>
              <a:gd name="connsiteY42" fmla="*/ 0 h 2676823"/>
              <a:gd name="connsiteX43" fmla="*/ 4728653 w 5240431"/>
              <a:gd name="connsiteY43" fmla="*/ 0 h 2676823"/>
              <a:gd name="connsiteX44" fmla="*/ 4590647 w 5240431"/>
              <a:gd name="connsiteY44" fmla="*/ 139018 h 2676823"/>
              <a:gd name="connsiteX45" fmla="*/ 3021802 w 5240431"/>
              <a:gd name="connsiteY45" fmla="*/ 1719371 h 2676823"/>
              <a:gd name="connsiteX46" fmla="*/ 2866647 w 5240431"/>
              <a:gd name="connsiteY46" fmla="*/ 1719371 h 2676823"/>
              <a:gd name="connsiteX47" fmla="*/ 2866647 w 5240431"/>
              <a:gd name="connsiteY47" fmla="*/ 1562331 h 2676823"/>
              <a:gd name="connsiteX48" fmla="*/ 4294221 w 5240431"/>
              <a:gd name="connsiteY48" fmla="*/ 124285 h 2676823"/>
              <a:gd name="connsiteX49" fmla="*/ 3905776 w 5240431"/>
              <a:gd name="connsiteY49" fmla="*/ 0 h 2676823"/>
              <a:gd name="connsiteX50" fmla="*/ 4216768 w 5240431"/>
              <a:gd name="connsiteY50" fmla="*/ 0 h 2676823"/>
              <a:gd name="connsiteX51" fmla="*/ 4129503 w 5240431"/>
              <a:gd name="connsiteY51" fmla="*/ 87963 h 2676823"/>
              <a:gd name="connsiteX52" fmla="*/ 3128169 w 5240431"/>
              <a:gd name="connsiteY52" fmla="*/ 1097321 h 2676823"/>
              <a:gd name="connsiteX53" fmla="*/ 2973009 w 5240431"/>
              <a:gd name="connsiteY53" fmla="*/ 1097321 h 2676823"/>
              <a:gd name="connsiteX54" fmla="*/ 2973009 w 5240431"/>
              <a:gd name="connsiteY54" fmla="*/ 940241 h 2676823"/>
              <a:gd name="connsiteX55" fmla="*/ 3792695 w 5240431"/>
              <a:gd name="connsiteY55" fmla="*/ 113987 h 2676823"/>
              <a:gd name="connsiteX56" fmla="*/ 3393133 w 5240431"/>
              <a:gd name="connsiteY56" fmla="*/ 0 h 2676823"/>
              <a:gd name="connsiteX57" fmla="*/ 3705157 w 5240431"/>
              <a:gd name="connsiteY57" fmla="*/ 0 h 2676823"/>
              <a:gd name="connsiteX58" fmla="*/ 3581665 w 5240431"/>
              <a:gd name="connsiteY58" fmla="*/ 124500 h 2676823"/>
              <a:gd name="connsiteX59" fmla="*/ 1766420 w 5240431"/>
              <a:gd name="connsiteY59" fmla="*/ 1954571 h 2676823"/>
              <a:gd name="connsiteX60" fmla="*/ 1609362 w 5240431"/>
              <a:gd name="connsiteY60" fmla="*/ 1954571 h 2676823"/>
              <a:gd name="connsiteX61" fmla="*/ 1609362 w 5240431"/>
              <a:gd name="connsiteY61" fmla="*/ 1797491 h 2676823"/>
              <a:gd name="connsiteX62" fmla="*/ 3261929 w 5240431"/>
              <a:gd name="connsiteY62" fmla="*/ 132213 h 2676823"/>
              <a:gd name="connsiteX63" fmla="*/ 2883536 w 5240431"/>
              <a:gd name="connsiteY63" fmla="*/ 0 h 2676823"/>
              <a:gd name="connsiteX64" fmla="*/ 3194511 w 5240431"/>
              <a:gd name="connsiteY64" fmla="*/ 0 h 2676823"/>
              <a:gd name="connsiteX65" fmla="*/ 3120040 w 5240431"/>
              <a:gd name="connsiteY65" fmla="*/ 75068 h 2676823"/>
              <a:gd name="connsiteX66" fmla="*/ 2118769 w 5240431"/>
              <a:gd name="connsiteY66" fmla="*/ 1084363 h 2676823"/>
              <a:gd name="connsiteX67" fmla="*/ 1963618 w 5240431"/>
              <a:gd name="connsiteY67" fmla="*/ 1084363 h 2676823"/>
              <a:gd name="connsiteX68" fmla="*/ 1963618 w 5240431"/>
              <a:gd name="connsiteY68" fmla="*/ 927293 h 2676823"/>
              <a:gd name="connsiteX69" fmla="*/ 2782866 w 5240431"/>
              <a:gd name="connsiteY69" fmla="*/ 101477 h 2676823"/>
              <a:gd name="connsiteX70" fmla="*/ 2346696 w 5240431"/>
              <a:gd name="connsiteY70" fmla="*/ 0 h 2676823"/>
              <a:gd name="connsiteX71" fmla="*/ 2657693 w 5240431"/>
              <a:gd name="connsiteY71" fmla="*/ 0 h 2676823"/>
              <a:gd name="connsiteX72" fmla="*/ 2508369 w 5240431"/>
              <a:gd name="connsiteY72" fmla="*/ 150464 h 2676823"/>
              <a:gd name="connsiteX73" fmla="*/ 245532 w 5240431"/>
              <a:gd name="connsiteY73" fmla="*/ 2430577 h 2676823"/>
              <a:gd name="connsiteX74" fmla="*/ 88525 w 5240431"/>
              <a:gd name="connsiteY74" fmla="*/ 2430577 h 2676823"/>
              <a:gd name="connsiteX75" fmla="*/ 88525 w 5240431"/>
              <a:gd name="connsiteY75" fmla="*/ 2275404 h 2676823"/>
              <a:gd name="connsiteX76" fmla="*/ 2188947 w 5240431"/>
              <a:gd name="connsiteY76" fmla="*/ 158953 h 2676823"/>
              <a:gd name="connsiteX77" fmla="*/ 1833946 w 5240431"/>
              <a:gd name="connsiteY77" fmla="*/ 0 h 2676823"/>
              <a:gd name="connsiteX78" fmla="*/ 2146206 w 5240431"/>
              <a:gd name="connsiteY78" fmla="*/ 0 h 2676823"/>
              <a:gd name="connsiteX79" fmla="*/ 2014475 w 5240431"/>
              <a:gd name="connsiteY79" fmla="*/ 132686 h 2676823"/>
              <a:gd name="connsiteX80" fmla="*/ 241178 w 5240431"/>
              <a:gd name="connsiteY80" fmla="*/ 1918833 h 2676823"/>
              <a:gd name="connsiteX81" fmla="*/ 0 w 5240431"/>
              <a:gd name="connsiteY81" fmla="*/ 2161759 h 2676823"/>
              <a:gd name="connsiteX82" fmla="*/ 0 w 5240431"/>
              <a:gd name="connsiteY82" fmla="*/ 1848108 h 2676823"/>
              <a:gd name="connsiteX83" fmla="*/ 93281 w 5240431"/>
              <a:gd name="connsiteY83" fmla="*/ 1754106 h 2676823"/>
              <a:gd name="connsiteX84" fmla="*/ 1748398 w 5240431"/>
              <a:gd name="connsiteY84" fmla="*/ 86208 h 2676823"/>
              <a:gd name="connsiteX85" fmla="*/ 1322919 w 5240431"/>
              <a:gd name="connsiteY85" fmla="*/ 0 h 2676823"/>
              <a:gd name="connsiteX86" fmla="*/ 1635007 w 5240431"/>
              <a:gd name="connsiteY86" fmla="*/ 0 h 2676823"/>
              <a:gd name="connsiteX87" fmla="*/ 1378646 w 5240431"/>
              <a:gd name="connsiteY87" fmla="*/ 258455 h 2676823"/>
              <a:gd name="connsiteX88" fmla="*/ 86769 w 5240431"/>
              <a:gd name="connsiteY88" fmla="*/ 1560887 h 2676823"/>
              <a:gd name="connsiteX89" fmla="*/ 8271 w 5240431"/>
              <a:gd name="connsiteY89" fmla="*/ 1592753 h 2676823"/>
              <a:gd name="connsiteX90" fmla="*/ 0 w 5240431"/>
              <a:gd name="connsiteY90" fmla="*/ 1591165 h 2676823"/>
              <a:gd name="connsiteX91" fmla="*/ 0 w 5240431"/>
              <a:gd name="connsiteY91" fmla="*/ 1333099 h 2676823"/>
              <a:gd name="connsiteX92" fmla="*/ 49270 w 5240431"/>
              <a:gd name="connsiteY92" fmla="*/ 1283450 h 2676823"/>
              <a:gd name="connsiteX93" fmla="*/ 1202183 w 5240431"/>
              <a:gd name="connsiteY93" fmla="*/ 121665 h 2676823"/>
              <a:gd name="connsiteX94" fmla="*/ 809331 w 5240431"/>
              <a:gd name="connsiteY94" fmla="*/ 0 h 2676823"/>
              <a:gd name="connsiteX95" fmla="*/ 1121527 w 5240431"/>
              <a:gd name="connsiteY95" fmla="*/ 0 h 2676823"/>
              <a:gd name="connsiteX96" fmla="*/ 959769 w 5240431"/>
              <a:gd name="connsiteY96" fmla="*/ 162993 h 2676823"/>
              <a:gd name="connsiteX97" fmla="*/ 85483 w 5240431"/>
              <a:gd name="connsiteY97" fmla="*/ 1043952 h 2676823"/>
              <a:gd name="connsiteX98" fmla="*/ 0 w 5240431"/>
              <a:gd name="connsiteY98" fmla="*/ 1130088 h 2676823"/>
              <a:gd name="connsiteX99" fmla="*/ 0 w 5240431"/>
              <a:gd name="connsiteY99" fmla="*/ 815124 h 2676823"/>
              <a:gd name="connsiteX100" fmla="*/ 59173 w 5240431"/>
              <a:gd name="connsiteY100" fmla="*/ 755527 h 2676823"/>
              <a:gd name="connsiteX101" fmla="*/ 693709 w 5240431"/>
              <a:gd name="connsiteY101" fmla="*/ 116450 h 2676823"/>
              <a:gd name="connsiteX102" fmla="*/ 299211 w 5240431"/>
              <a:gd name="connsiteY102" fmla="*/ 0 h 2676823"/>
              <a:gd name="connsiteX103" fmla="*/ 610181 w 5240431"/>
              <a:gd name="connsiteY103" fmla="*/ 0 h 2676823"/>
              <a:gd name="connsiteX104" fmla="*/ 491626 w 5240431"/>
              <a:gd name="connsiteY104" fmla="*/ 119498 h 2676823"/>
              <a:gd name="connsiteX105" fmla="*/ 5647 w 5240431"/>
              <a:gd name="connsiteY105" fmla="*/ 609341 h 2676823"/>
              <a:gd name="connsiteX106" fmla="*/ 0 w 5240431"/>
              <a:gd name="connsiteY106" fmla="*/ 615034 h 2676823"/>
              <a:gd name="connsiteX107" fmla="*/ 0 w 5240431"/>
              <a:gd name="connsiteY107" fmla="*/ 301591 h 2676823"/>
              <a:gd name="connsiteX108" fmla="*/ 84806 w 5240431"/>
              <a:gd name="connsiteY108" fmla="*/ 216111 h 2676823"/>
              <a:gd name="connsiteX109" fmla="*/ 241670 w 5240431"/>
              <a:gd name="connsiteY109" fmla="*/ 57999 h 267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5240431" h="2676823">
                <a:moveTo>
                  <a:pt x="0" y="2503135"/>
                </a:moveTo>
                <a:lnTo>
                  <a:pt x="9911" y="2509550"/>
                </a:lnTo>
                <a:cubicBezTo>
                  <a:pt x="52390" y="2553975"/>
                  <a:pt x="52390" y="2624315"/>
                  <a:pt x="9911" y="2666890"/>
                </a:cubicBezTo>
                <a:cubicBezTo>
                  <a:pt x="9911" y="2666890"/>
                  <a:pt x="9911" y="2666890"/>
                  <a:pt x="6246" y="2670563"/>
                </a:cubicBezTo>
                <a:lnTo>
                  <a:pt x="0" y="2676823"/>
                </a:lnTo>
                <a:close/>
                <a:moveTo>
                  <a:pt x="2708616" y="1766419"/>
                </a:moveTo>
                <a:cubicBezTo>
                  <a:pt x="2736782" y="1766419"/>
                  <a:pt x="2764947" y="1777062"/>
                  <a:pt x="2786187" y="1798350"/>
                </a:cubicBezTo>
                <a:cubicBezTo>
                  <a:pt x="2830514" y="1842775"/>
                  <a:pt x="2830514" y="1913115"/>
                  <a:pt x="2786187" y="1955690"/>
                </a:cubicBezTo>
                <a:cubicBezTo>
                  <a:pt x="2786187" y="1955690"/>
                  <a:pt x="2786187" y="1955690"/>
                  <a:pt x="2553473" y="2190775"/>
                </a:cubicBezTo>
                <a:cubicBezTo>
                  <a:pt x="2510993" y="2235200"/>
                  <a:pt x="2440810" y="2235200"/>
                  <a:pt x="2398330" y="2190775"/>
                </a:cubicBezTo>
                <a:cubicBezTo>
                  <a:pt x="2355850" y="2148200"/>
                  <a:pt x="2355850" y="2077860"/>
                  <a:pt x="2398330" y="2033434"/>
                </a:cubicBezTo>
                <a:cubicBezTo>
                  <a:pt x="2398330" y="2033434"/>
                  <a:pt x="2398330" y="2033434"/>
                  <a:pt x="2631044" y="1798350"/>
                </a:cubicBezTo>
                <a:cubicBezTo>
                  <a:pt x="2652285" y="1777062"/>
                  <a:pt x="2680450" y="1766419"/>
                  <a:pt x="2708616" y="1766419"/>
                </a:cubicBezTo>
                <a:close/>
                <a:moveTo>
                  <a:pt x="2332831" y="1631499"/>
                </a:moveTo>
                <a:cubicBezTo>
                  <a:pt x="2360952" y="1631499"/>
                  <a:pt x="2389072" y="1642160"/>
                  <a:pt x="2410277" y="1663483"/>
                </a:cubicBezTo>
                <a:cubicBezTo>
                  <a:pt x="2452688" y="1707981"/>
                  <a:pt x="2452688" y="1778437"/>
                  <a:pt x="2410277" y="1821082"/>
                </a:cubicBezTo>
                <a:cubicBezTo>
                  <a:pt x="2367866" y="1863726"/>
                  <a:pt x="2297797" y="1863726"/>
                  <a:pt x="2255386" y="1821082"/>
                </a:cubicBezTo>
                <a:cubicBezTo>
                  <a:pt x="2212975" y="1778437"/>
                  <a:pt x="2212975" y="1707981"/>
                  <a:pt x="2255386" y="1663483"/>
                </a:cubicBezTo>
                <a:cubicBezTo>
                  <a:pt x="2276591" y="1642160"/>
                  <a:pt x="2304711" y="1631499"/>
                  <a:pt x="2332831" y="1631499"/>
                </a:cubicBezTo>
                <a:close/>
                <a:moveTo>
                  <a:pt x="2816565" y="1142958"/>
                </a:moveTo>
                <a:cubicBezTo>
                  <a:pt x="2844731" y="1142958"/>
                  <a:pt x="2872897" y="1154027"/>
                  <a:pt x="2894136" y="1176167"/>
                </a:cubicBezTo>
                <a:cubicBezTo>
                  <a:pt x="2938463" y="1218600"/>
                  <a:pt x="2938463" y="1288708"/>
                  <a:pt x="2894136" y="1332986"/>
                </a:cubicBezTo>
                <a:cubicBezTo>
                  <a:pt x="2894136" y="1332986"/>
                  <a:pt x="2894136" y="1332986"/>
                  <a:pt x="2661422" y="1567293"/>
                </a:cubicBezTo>
                <a:cubicBezTo>
                  <a:pt x="2618943" y="1609726"/>
                  <a:pt x="2548759" y="1609726"/>
                  <a:pt x="2506280" y="1567293"/>
                </a:cubicBezTo>
                <a:cubicBezTo>
                  <a:pt x="2463800" y="1523014"/>
                  <a:pt x="2463800" y="1452907"/>
                  <a:pt x="2506280" y="1410473"/>
                </a:cubicBezTo>
                <a:cubicBezTo>
                  <a:pt x="2506280" y="1410473"/>
                  <a:pt x="2506280" y="1410473"/>
                  <a:pt x="2738994" y="1176167"/>
                </a:cubicBezTo>
                <a:cubicBezTo>
                  <a:pt x="2760234" y="1154027"/>
                  <a:pt x="2788400" y="1142958"/>
                  <a:pt x="2816565" y="1142958"/>
                </a:cubicBezTo>
                <a:close/>
                <a:moveTo>
                  <a:pt x="1805646" y="1131410"/>
                </a:moveTo>
                <a:cubicBezTo>
                  <a:pt x="1833798" y="1131410"/>
                  <a:pt x="1861950" y="1142045"/>
                  <a:pt x="1883180" y="1163314"/>
                </a:cubicBezTo>
                <a:cubicBezTo>
                  <a:pt x="1925639" y="1207702"/>
                  <a:pt x="1925639" y="1277984"/>
                  <a:pt x="1883180" y="1320523"/>
                </a:cubicBezTo>
                <a:cubicBezTo>
                  <a:pt x="1883180" y="1320523"/>
                  <a:pt x="1883180" y="1320523"/>
                  <a:pt x="1556429" y="1649736"/>
                </a:cubicBezTo>
                <a:cubicBezTo>
                  <a:pt x="1513969" y="1692275"/>
                  <a:pt x="1443819" y="1692275"/>
                  <a:pt x="1401360" y="1649736"/>
                </a:cubicBezTo>
                <a:cubicBezTo>
                  <a:pt x="1358901" y="1607198"/>
                  <a:pt x="1358901" y="1536916"/>
                  <a:pt x="1401360" y="1492528"/>
                </a:cubicBezTo>
                <a:cubicBezTo>
                  <a:pt x="1401360" y="1492528"/>
                  <a:pt x="1401360" y="1492528"/>
                  <a:pt x="1728111" y="1163314"/>
                </a:cubicBezTo>
                <a:cubicBezTo>
                  <a:pt x="1749341" y="1142045"/>
                  <a:pt x="1777493" y="1131410"/>
                  <a:pt x="1805646" y="1131410"/>
                </a:cubicBezTo>
                <a:close/>
                <a:moveTo>
                  <a:pt x="4929462" y="0"/>
                </a:moveTo>
                <a:lnTo>
                  <a:pt x="5240431" y="0"/>
                </a:lnTo>
                <a:lnTo>
                  <a:pt x="5233955" y="6527"/>
                </a:lnTo>
                <a:cubicBezTo>
                  <a:pt x="4758097" y="486170"/>
                  <a:pt x="4123619" y="1125694"/>
                  <a:pt x="3277649" y="1978392"/>
                </a:cubicBezTo>
                <a:cubicBezTo>
                  <a:pt x="3235166" y="2020888"/>
                  <a:pt x="3164976" y="2020888"/>
                  <a:pt x="3122493" y="1978392"/>
                </a:cubicBezTo>
                <a:cubicBezTo>
                  <a:pt x="3078163" y="1934048"/>
                  <a:pt x="3078163" y="1863836"/>
                  <a:pt x="3122493" y="1821340"/>
                </a:cubicBezTo>
                <a:cubicBezTo>
                  <a:pt x="3122493" y="1821340"/>
                  <a:pt x="3122493" y="1821340"/>
                  <a:pt x="4736054" y="194947"/>
                </a:cubicBezTo>
                <a:close/>
                <a:moveTo>
                  <a:pt x="4417601" y="0"/>
                </a:moveTo>
                <a:lnTo>
                  <a:pt x="4728653" y="0"/>
                </a:lnTo>
                <a:lnTo>
                  <a:pt x="4590647" y="139018"/>
                </a:lnTo>
                <a:cubicBezTo>
                  <a:pt x="4171793" y="560945"/>
                  <a:pt x="3656280" y="1080239"/>
                  <a:pt x="3021802" y="1719371"/>
                </a:cubicBezTo>
                <a:cubicBezTo>
                  <a:pt x="2979319" y="1763712"/>
                  <a:pt x="2909130" y="1763712"/>
                  <a:pt x="2866647" y="1719371"/>
                </a:cubicBezTo>
                <a:cubicBezTo>
                  <a:pt x="2824164" y="1676878"/>
                  <a:pt x="2824164" y="1606672"/>
                  <a:pt x="2866647" y="1562331"/>
                </a:cubicBezTo>
                <a:cubicBezTo>
                  <a:pt x="2866647" y="1562331"/>
                  <a:pt x="2866647" y="1562331"/>
                  <a:pt x="4294221" y="124285"/>
                </a:cubicBezTo>
                <a:close/>
                <a:moveTo>
                  <a:pt x="3905776" y="0"/>
                </a:moveTo>
                <a:lnTo>
                  <a:pt x="4216768" y="0"/>
                </a:lnTo>
                <a:lnTo>
                  <a:pt x="4129503" y="87963"/>
                </a:lnTo>
                <a:cubicBezTo>
                  <a:pt x="3827992" y="391891"/>
                  <a:pt x="3495289" y="727259"/>
                  <a:pt x="3128169" y="1097321"/>
                </a:cubicBezTo>
                <a:cubicBezTo>
                  <a:pt x="3085685" y="1139825"/>
                  <a:pt x="3015494" y="1139825"/>
                  <a:pt x="2973009" y="1097321"/>
                </a:cubicBezTo>
                <a:cubicBezTo>
                  <a:pt x="2930525" y="1052969"/>
                  <a:pt x="2930525" y="982745"/>
                  <a:pt x="2973009" y="940241"/>
                </a:cubicBezTo>
                <a:cubicBezTo>
                  <a:pt x="2973009" y="940241"/>
                  <a:pt x="2973009" y="940241"/>
                  <a:pt x="3792695" y="113987"/>
                </a:cubicBezTo>
                <a:close/>
                <a:moveTo>
                  <a:pt x="3393133" y="0"/>
                </a:moveTo>
                <a:lnTo>
                  <a:pt x="3705157" y="0"/>
                </a:lnTo>
                <a:lnTo>
                  <a:pt x="3581665" y="124500"/>
                </a:lnTo>
                <a:cubicBezTo>
                  <a:pt x="3097026" y="613097"/>
                  <a:pt x="2500548" y="1214448"/>
                  <a:pt x="1766420" y="1954571"/>
                </a:cubicBezTo>
                <a:cubicBezTo>
                  <a:pt x="1722074" y="1997075"/>
                  <a:pt x="1653708" y="1997075"/>
                  <a:pt x="1609362" y="1954571"/>
                </a:cubicBezTo>
                <a:cubicBezTo>
                  <a:pt x="1566864" y="1910219"/>
                  <a:pt x="1566864" y="1839995"/>
                  <a:pt x="1609362" y="1797491"/>
                </a:cubicBezTo>
                <a:cubicBezTo>
                  <a:pt x="1609362" y="1797491"/>
                  <a:pt x="1609362" y="1797491"/>
                  <a:pt x="3261929" y="132213"/>
                </a:cubicBezTo>
                <a:close/>
                <a:moveTo>
                  <a:pt x="2883536" y="0"/>
                </a:moveTo>
                <a:lnTo>
                  <a:pt x="3194511" y="0"/>
                </a:lnTo>
                <a:lnTo>
                  <a:pt x="3120040" y="75068"/>
                </a:lnTo>
                <a:cubicBezTo>
                  <a:pt x="2818548" y="378977"/>
                  <a:pt x="2485866" y="714324"/>
                  <a:pt x="2118769" y="1084363"/>
                </a:cubicBezTo>
                <a:cubicBezTo>
                  <a:pt x="2076287" y="1128712"/>
                  <a:pt x="2006099" y="1128712"/>
                  <a:pt x="1963618" y="1084363"/>
                </a:cubicBezTo>
                <a:cubicBezTo>
                  <a:pt x="1919289" y="1041862"/>
                  <a:pt x="1919289" y="971642"/>
                  <a:pt x="1963618" y="927293"/>
                </a:cubicBezTo>
                <a:cubicBezTo>
                  <a:pt x="1963618" y="927293"/>
                  <a:pt x="1963618" y="927293"/>
                  <a:pt x="2782866" y="101477"/>
                </a:cubicBezTo>
                <a:close/>
                <a:moveTo>
                  <a:pt x="2346696" y="0"/>
                </a:moveTo>
                <a:lnTo>
                  <a:pt x="2657693" y="0"/>
                </a:lnTo>
                <a:lnTo>
                  <a:pt x="2508369" y="150464"/>
                </a:lnTo>
                <a:cubicBezTo>
                  <a:pt x="1957950" y="705086"/>
                  <a:pt x="1224056" y="1444582"/>
                  <a:pt x="245532" y="2430577"/>
                </a:cubicBezTo>
                <a:cubicBezTo>
                  <a:pt x="201200" y="2474912"/>
                  <a:pt x="132856" y="2474912"/>
                  <a:pt x="88525" y="2430577"/>
                </a:cubicBezTo>
                <a:cubicBezTo>
                  <a:pt x="46040" y="2388089"/>
                  <a:pt x="46040" y="2317892"/>
                  <a:pt x="88525" y="2275404"/>
                </a:cubicBezTo>
                <a:cubicBezTo>
                  <a:pt x="88525" y="2275404"/>
                  <a:pt x="88525" y="2275404"/>
                  <a:pt x="2188947" y="158953"/>
                </a:cubicBezTo>
                <a:close/>
                <a:moveTo>
                  <a:pt x="1833946" y="0"/>
                </a:moveTo>
                <a:lnTo>
                  <a:pt x="2146206" y="0"/>
                </a:lnTo>
                <a:lnTo>
                  <a:pt x="2014475" y="132686"/>
                </a:lnTo>
                <a:cubicBezTo>
                  <a:pt x="1571778" y="578591"/>
                  <a:pt x="994348" y="1160205"/>
                  <a:pt x="241178" y="1918833"/>
                </a:cubicBezTo>
                <a:lnTo>
                  <a:pt x="0" y="2161759"/>
                </a:lnTo>
                <a:lnTo>
                  <a:pt x="0" y="1848108"/>
                </a:lnTo>
                <a:lnTo>
                  <a:pt x="93281" y="1754106"/>
                </a:lnTo>
                <a:cubicBezTo>
                  <a:pt x="441727" y="1402970"/>
                  <a:pt x="964395" y="876265"/>
                  <a:pt x="1748398" y="86208"/>
                </a:cubicBezTo>
                <a:close/>
                <a:moveTo>
                  <a:pt x="1322919" y="0"/>
                </a:moveTo>
                <a:lnTo>
                  <a:pt x="1635007" y="0"/>
                </a:lnTo>
                <a:lnTo>
                  <a:pt x="1378646" y="258455"/>
                </a:lnTo>
                <a:cubicBezTo>
                  <a:pt x="1004078" y="636083"/>
                  <a:pt x="576001" y="1067658"/>
                  <a:pt x="86769" y="1560887"/>
                </a:cubicBezTo>
                <a:cubicBezTo>
                  <a:pt x="64605" y="1582131"/>
                  <a:pt x="36438" y="1592753"/>
                  <a:pt x="8271" y="1592753"/>
                </a:cubicBezTo>
                <a:lnTo>
                  <a:pt x="0" y="1591165"/>
                </a:lnTo>
                <a:lnTo>
                  <a:pt x="0" y="1333099"/>
                </a:lnTo>
                <a:lnTo>
                  <a:pt x="49270" y="1283450"/>
                </a:lnTo>
                <a:cubicBezTo>
                  <a:pt x="192667" y="1138949"/>
                  <a:pt x="508141" y="821048"/>
                  <a:pt x="1202183" y="121665"/>
                </a:cubicBezTo>
                <a:close/>
                <a:moveTo>
                  <a:pt x="809331" y="0"/>
                </a:moveTo>
                <a:lnTo>
                  <a:pt x="1121527" y="0"/>
                </a:lnTo>
                <a:lnTo>
                  <a:pt x="959769" y="162993"/>
                </a:lnTo>
                <a:cubicBezTo>
                  <a:pt x="698451" y="426306"/>
                  <a:pt x="408098" y="718875"/>
                  <a:pt x="85483" y="1043952"/>
                </a:cubicBezTo>
                <a:lnTo>
                  <a:pt x="0" y="1130088"/>
                </a:lnTo>
                <a:lnTo>
                  <a:pt x="0" y="815124"/>
                </a:lnTo>
                <a:lnTo>
                  <a:pt x="59173" y="755527"/>
                </a:lnTo>
                <a:cubicBezTo>
                  <a:pt x="231794" y="581671"/>
                  <a:pt x="440756" y="371214"/>
                  <a:pt x="693709" y="116450"/>
                </a:cubicBezTo>
                <a:close/>
                <a:moveTo>
                  <a:pt x="299211" y="0"/>
                </a:moveTo>
                <a:lnTo>
                  <a:pt x="610181" y="0"/>
                </a:lnTo>
                <a:lnTo>
                  <a:pt x="491626" y="119498"/>
                </a:lnTo>
                <a:cubicBezTo>
                  <a:pt x="341061" y="271260"/>
                  <a:pt x="179344" y="434263"/>
                  <a:pt x="5647" y="609341"/>
                </a:cubicBezTo>
                <a:lnTo>
                  <a:pt x="0" y="615034"/>
                </a:lnTo>
                <a:lnTo>
                  <a:pt x="0" y="301591"/>
                </a:lnTo>
                <a:lnTo>
                  <a:pt x="84806" y="216111"/>
                </a:lnTo>
                <a:cubicBezTo>
                  <a:pt x="134788" y="165732"/>
                  <a:pt x="187041" y="113063"/>
                  <a:pt x="241670" y="57999"/>
                </a:cubicBezTo>
                <a:close/>
              </a:path>
            </a:pathLst>
          </a:custGeom>
          <a:solidFill>
            <a:schemeClr val="accent2"/>
          </a:solidFill>
          <a:ln>
            <a:noFill/>
          </a:ln>
        </p:spPr>
        <p:txBody>
          <a:bodyPr vert="horz" wrap="square" lIns="91440" tIns="45720" rIns="91440" bIns="45720" numCol="1" anchor="t" anchorCtr="0" compatLnSpc="1">
            <a:noAutofit/>
          </a:bodyPr>
          <a:lstStyle/>
          <a:p>
            <a:pPr lvl="0"/>
            <a:endParaRPr lang="zh-CN" altLang="en-US">
              <a:solidFill>
                <a:schemeClr val="tx1"/>
              </a:solidFill>
            </a:endParaRPr>
          </a:p>
        </p:txBody>
      </p:sp>
      <p:sp>
        <p:nvSpPr>
          <p:cNvPr id="9801" name="副标题 2"/>
          <p:cNvSpPr>
            <a:spLocks noGrp="1"/>
          </p:cNvSpPr>
          <p:nvPr>
            <p:ph type="subTitle" idx="1"/>
          </p:nvPr>
        </p:nvSpPr>
        <p:spPr>
          <a:xfrm>
            <a:off x="683202" y="4622806"/>
            <a:ext cx="4391069" cy="558799"/>
          </a:xfrm>
        </p:spPr>
        <p:txBody>
          <a:bodyPr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t>Click to edit Master subtitle style</a:t>
            </a:r>
            <a:endParaRPr lang="en-US" altLang="zh-CN" dirty="0"/>
          </a:p>
        </p:txBody>
      </p:sp>
      <p:sp>
        <p:nvSpPr>
          <p:cNvPr id="9802" name="标题 1"/>
          <p:cNvSpPr>
            <a:spLocks noGrp="1"/>
          </p:cNvSpPr>
          <p:nvPr>
            <p:ph type="ctrTitle"/>
          </p:nvPr>
        </p:nvSpPr>
        <p:spPr>
          <a:xfrm>
            <a:off x="683202" y="2778913"/>
            <a:ext cx="4391069" cy="611030"/>
          </a:xfrm>
        </p:spPr>
        <p:txBody>
          <a:bodyPr anchor="b">
            <a:normAutofit/>
          </a:bodyPr>
          <a:lstStyle>
            <a:lvl1pPr algn="l">
              <a:lnSpc>
                <a:spcPct val="100000"/>
              </a:lnSpc>
              <a:defRPr lang="zh-CN" altLang="en-US" sz="2400" b="1" dirty="0">
                <a:solidFill>
                  <a:schemeClr val="tx1"/>
                </a:solidFill>
              </a:defRPr>
            </a:lvl1pPr>
          </a:lstStyle>
          <a:p>
            <a:r>
              <a:rPr lang="en-US" altLang="zh-CN" dirty="0"/>
              <a:t>Click to edit Master title style</a:t>
            </a:r>
            <a:endParaRPr lang="zh-CN" altLang="en-US" dirty="0"/>
          </a:p>
        </p:txBody>
      </p:sp>
      <p:sp>
        <p:nvSpPr>
          <p:cNvPr id="74" name="文本占位符 13"/>
          <p:cNvSpPr>
            <a:spLocks noGrp="1"/>
          </p:cNvSpPr>
          <p:nvPr>
            <p:ph type="body" sz="quarter" idx="10" hasCustomPrompt="1"/>
          </p:nvPr>
        </p:nvSpPr>
        <p:spPr>
          <a:xfrm>
            <a:off x="8124422" y="3398023"/>
            <a:ext cx="3384376" cy="371475"/>
          </a:xfrm>
        </p:spPr>
        <p:txBody>
          <a:bodyPr anchor="ctr">
            <a:normAutofit/>
          </a:bodyPr>
          <a:lstStyle>
            <a:lvl1pPr marL="0" indent="0" algn="l">
              <a:buClr>
                <a:schemeClr val="accent1"/>
              </a:buClr>
              <a:buFontTx/>
              <a:buNone/>
              <a:defRPr sz="12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75" name="文本占位符 13"/>
          <p:cNvSpPr>
            <a:spLocks noGrp="1"/>
          </p:cNvSpPr>
          <p:nvPr>
            <p:ph type="body" sz="quarter" idx="11" hasCustomPrompt="1"/>
          </p:nvPr>
        </p:nvSpPr>
        <p:spPr>
          <a:xfrm>
            <a:off x="8124422" y="3769498"/>
            <a:ext cx="3384376" cy="371475"/>
          </a:xfrm>
        </p:spPr>
        <p:txBody>
          <a:bodyPr anchor="ctr">
            <a:normAutofit/>
          </a:bodyPr>
          <a:lstStyle>
            <a:lvl1pPr marL="0" indent="0" algn="l">
              <a:buClr>
                <a:schemeClr val="accent2"/>
              </a:buClr>
              <a:buFontTx/>
              <a:buNone/>
              <a:defRPr sz="12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bg>
      <p:bgPr>
        <a:solidFill>
          <a:schemeClr val="bg1"/>
        </a:solidFill>
        <a:effectLst/>
      </p:bgPr>
    </p:bg>
    <p:spTree>
      <p:nvGrpSpPr>
        <p:cNvPr id="1" name=""/>
        <p:cNvGrpSpPr/>
        <p:nvPr/>
      </p:nvGrpSpPr>
      <p:grpSpPr>
        <a:xfrm>
          <a:off x="0" y="0"/>
          <a:ext cx="0" cy="0"/>
          <a:chOff x="0" y="0"/>
          <a:chExt cx="0" cy="0"/>
        </a:xfrm>
      </p:grpSpPr>
      <p:sp>
        <p:nvSpPr>
          <p:cNvPr id="20" name="标题 1"/>
          <p:cNvSpPr>
            <a:spLocks noGrp="1"/>
          </p:cNvSpPr>
          <p:nvPr>
            <p:ph type="title"/>
          </p:nvPr>
        </p:nvSpPr>
        <p:spPr>
          <a:xfrm>
            <a:off x="3061997" y="1937171"/>
            <a:ext cx="6068007" cy="656792"/>
          </a:xfrm>
        </p:spPr>
        <p:txBody>
          <a:bodyPr anchor="b">
            <a:normAutofit/>
          </a:bodyPr>
          <a:lstStyle>
            <a:lvl1pPr algn="ctr">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p:ph type="body" idx="1"/>
          </p:nvPr>
        </p:nvSpPr>
        <p:spPr>
          <a:xfrm>
            <a:off x="3061997" y="2723327"/>
            <a:ext cx="6068007" cy="1015623"/>
          </a:xfrm>
        </p:spPr>
        <p:txBody>
          <a:bodyPr anchor="t">
            <a:normAutofit/>
          </a:bodyPr>
          <a:lstStyle>
            <a:lvl1pPr marL="0" indent="0" algn="ctr">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Edit Master text styles</a:t>
            </a:r>
            <a:endParaRPr lang="en-US" altLang="zh-CN" dirty="0"/>
          </a:p>
        </p:txBody>
      </p:sp>
      <p:grpSp>
        <p:nvGrpSpPr>
          <p:cNvPr id="1303" name="组合 1302"/>
          <p:cNvGrpSpPr/>
          <p:nvPr userDrawn="1"/>
        </p:nvGrpSpPr>
        <p:grpSpPr>
          <a:xfrm>
            <a:off x="10117" y="4221088"/>
            <a:ext cx="12214757" cy="2636912"/>
            <a:chOff x="10118" y="5377500"/>
            <a:chExt cx="6858002" cy="1480500"/>
          </a:xfrm>
        </p:grpSpPr>
        <p:sp>
          <p:nvSpPr>
            <p:cNvPr id="1304" name="Shape 26"/>
            <p:cNvSpPr/>
            <p:nvPr/>
          </p:nvSpPr>
          <p:spPr>
            <a:xfrm flipH="1">
              <a:off x="10118" y="5919093"/>
              <a:ext cx="6858002" cy="938907"/>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rgbClr val="DEDDDD"/>
            </a:solidFill>
            <a:ln w="9525" cap="flat" cmpd="sng">
              <a:noFill/>
              <a:prstDash val="solid"/>
              <a:round/>
              <a:headEnd type="none" w="med" len="med"/>
              <a:tailEnd type="none" w="med" len="med"/>
            </a:ln>
          </p:spPr>
          <p:txBody>
            <a:bodyPr lIns="91425" tIns="45700" rIns="91425" bIns="45700" anchor="t" anchorCtr="0">
              <a:noAutofit/>
            </a:bodyPr>
            <a:lstStyle/>
            <a:p>
              <a:pPr marL="0" marR="0" lvl="0" indent="0" algn="l" rtl="0">
                <a:spcBef>
                  <a:spcPts val="0"/>
                </a:spcBef>
                <a:buNone/>
              </a:pPr>
              <a:endParaRPr sz="1350" b="0" i="0" u="none" strike="noStrike" cap="none" baseline="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05" name="图片 1304"/>
            <p:cNvPicPr>
              <a:picLocks noChangeAspect="1"/>
            </p:cNvPicPr>
            <p:nvPr/>
          </p:nvPicPr>
          <p:blipFill rotWithShape="1">
            <a:blip r:embed="rId2">
              <a:duotone>
                <a:schemeClr val="bg2">
                  <a:shade val="45000"/>
                  <a:satMod val="135000"/>
                </a:schemeClr>
                <a:prstClr val="white"/>
              </a:duotone>
            </a:blip>
            <a:srcRect b="27358"/>
            <a:stretch>
              <a:fillRect/>
            </a:stretch>
          </p:blipFill>
          <p:spPr>
            <a:xfrm flipH="1">
              <a:off x="1367070" y="5377500"/>
              <a:ext cx="3517131" cy="1411808"/>
            </a:xfrm>
            <a:prstGeom prst="rect">
              <a:avLst/>
            </a:prstGeom>
          </p:spPr>
        </p:pic>
      </p:gr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cxnSp>
        <p:nvCxnSpPr>
          <p:cNvPr id="9" name="直接连接符 8"/>
          <p:cNvCxnSpPr/>
          <p:nvPr userDrawn="1"/>
        </p:nvCxnSpPr>
        <p:spPr>
          <a:xfrm>
            <a:off x="669924" y="6240463"/>
            <a:ext cx="10850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日期占位符 5"/>
          <p:cNvSpPr>
            <a:spLocks noGrp="1"/>
          </p:cNvSpPr>
          <p:nvPr>
            <p:ph type="dt" sz="half" idx="10"/>
          </p:nvPr>
        </p:nvSpPr>
        <p:spPr/>
        <p:txBody>
          <a:bodyPr/>
          <a:lstStyle/>
          <a:p>
            <a:fld id="{93D31F3C-1533-4ADE-ADA4-C66B5AA4B42B}" type="datetime1">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a:t>www.islide.cc</a:t>
            </a:r>
            <a:endParaRPr lang="zh-CN" altLang="en-US" dirty="0"/>
          </a:p>
        </p:txBody>
      </p:sp>
      <p:sp>
        <p:nvSpPr>
          <p:cNvPr id="8" name="灯片编号占位符 7"/>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bg1"/>
        </a:solidFill>
        <a:effectLst/>
      </p:bgPr>
    </p:bg>
    <p:spTree>
      <p:nvGrpSpPr>
        <p:cNvPr id="1" name=""/>
        <p:cNvGrpSpPr/>
        <p:nvPr/>
      </p:nvGrpSpPr>
      <p:grpSpPr>
        <a:xfrm>
          <a:off x="0" y="0"/>
          <a:ext cx="0" cy="0"/>
          <a:chOff x="0" y="0"/>
          <a:chExt cx="0" cy="0"/>
        </a:xfrm>
      </p:grpSpPr>
      <p:sp>
        <p:nvSpPr>
          <p:cNvPr id="13" name="标题 1"/>
          <p:cNvSpPr>
            <a:spLocks noGrp="1"/>
          </p:cNvSpPr>
          <p:nvPr>
            <p:ph type="ctrTitle" hasCustomPrompt="1"/>
          </p:nvPr>
        </p:nvSpPr>
        <p:spPr>
          <a:xfrm>
            <a:off x="7860273" y="2507745"/>
            <a:ext cx="3624399" cy="655784"/>
          </a:xfrm>
        </p:spPr>
        <p:txBody>
          <a:bodyPr anchor="ctr">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7860273" y="3445986"/>
            <a:ext cx="3624399"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endParaRPr lang="en-US" altLang="zh-CN" dirty="0"/>
          </a:p>
        </p:txBody>
      </p:sp>
      <p:sp>
        <p:nvSpPr>
          <p:cNvPr id="15" name="文本占位符 62"/>
          <p:cNvSpPr>
            <a:spLocks noGrp="1"/>
          </p:cNvSpPr>
          <p:nvPr>
            <p:ph type="body" sz="quarter" idx="18" hasCustomPrompt="1"/>
          </p:nvPr>
        </p:nvSpPr>
        <p:spPr>
          <a:xfrm>
            <a:off x="7860273" y="3761620"/>
            <a:ext cx="3624399"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grpSp>
        <p:nvGrpSpPr>
          <p:cNvPr id="74" name="组合 73"/>
          <p:cNvGrpSpPr/>
          <p:nvPr userDrawn="1"/>
        </p:nvGrpSpPr>
        <p:grpSpPr>
          <a:xfrm>
            <a:off x="10117" y="4221088"/>
            <a:ext cx="12214757" cy="2636912"/>
            <a:chOff x="10118" y="5377500"/>
            <a:chExt cx="6858002" cy="1480500"/>
          </a:xfrm>
        </p:grpSpPr>
        <p:sp>
          <p:nvSpPr>
            <p:cNvPr id="75" name="Shape 26"/>
            <p:cNvSpPr/>
            <p:nvPr/>
          </p:nvSpPr>
          <p:spPr>
            <a:xfrm flipH="1">
              <a:off x="10118" y="5919093"/>
              <a:ext cx="6858002" cy="938907"/>
            </a:xfrm>
            <a:custGeom>
              <a:avLst/>
              <a:gdLst/>
              <a:ahLst/>
              <a:cxnLst/>
              <a:rect l="0" t="0" r="0" b="0"/>
              <a:pathLst>
                <a:path w="120000" h="120000" extrusionOk="0">
                  <a:moveTo>
                    <a:pt x="0" y="120000"/>
                  </a:moveTo>
                  <a:lnTo>
                    <a:pt x="0" y="102222"/>
                  </a:lnTo>
                  <a:lnTo>
                    <a:pt x="583" y="102222"/>
                  </a:lnTo>
                  <a:lnTo>
                    <a:pt x="583" y="89777"/>
                  </a:lnTo>
                  <a:lnTo>
                    <a:pt x="4166" y="89777"/>
                  </a:lnTo>
                  <a:lnTo>
                    <a:pt x="4166" y="79111"/>
                  </a:lnTo>
                  <a:lnTo>
                    <a:pt x="6416" y="79111"/>
                  </a:lnTo>
                  <a:lnTo>
                    <a:pt x="6416" y="91111"/>
                  </a:lnTo>
                  <a:lnTo>
                    <a:pt x="7625" y="91111"/>
                  </a:lnTo>
                  <a:lnTo>
                    <a:pt x="7625" y="79111"/>
                  </a:lnTo>
                  <a:lnTo>
                    <a:pt x="8958" y="79111"/>
                  </a:lnTo>
                  <a:lnTo>
                    <a:pt x="8958" y="45333"/>
                  </a:lnTo>
                  <a:lnTo>
                    <a:pt x="9541" y="45333"/>
                  </a:lnTo>
                  <a:lnTo>
                    <a:pt x="9541" y="39111"/>
                  </a:lnTo>
                  <a:lnTo>
                    <a:pt x="10958" y="39111"/>
                  </a:lnTo>
                  <a:lnTo>
                    <a:pt x="10958" y="45333"/>
                  </a:lnTo>
                  <a:lnTo>
                    <a:pt x="11583" y="45333"/>
                  </a:lnTo>
                  <a:lnTo>
                    <a:pt x="11583" y="76000"/>
                  </a:lnTo>
                  <a:lnTo>
                    <a:pt x="12083" y="76000"/>
                  </a:lnTo>
                  <a:lnTo>
                    <a:pt x="12083" y="95555"/>
                  </a:lnTo>
                  <a:lnTo>
                    <a:pt x="13250" y="95555"/>
                  </a:lnTo>
                  <a:lnTo>
                    <a:pt x="13250" y="60000"/>
                  </a:lnTo>
                  <a:lnTo>
                    <a:pt x="14041" y="60000"/>
                  </a:lnTo>
                  <a:lnTo>
                    <a:pt x="14041" y="45333"/>
                  </a:lnTo>
                  <a:lnTo>
                    <a:pt x="14583" y="45333"/>
                  </a:lnTo>
                  <a:lnTo>
                    <a:pt x="14583" y="27555"/>
                  </a:lnTo>
                  <a:lnTo>
                    <a:pt x="14958" y="27555"/>
                  </a:lnTo>
                  <a:lnTo>
                    <a:pt x="14958" y="14222"/>
                  </a:lnTo>
                  <a:lnTo>
                    <a:pt x="15333" y="14222"/>
                  </a:lnTo>
                  <a:lnTo>
                    <a:pt x="15333" y="0"/>
                  </a:lnTo>
                  <a:lnTo>
                    <a:pt x="15958" y="0"/>
                  </a:lnTo>
                  <a:lnTo>
                    <a:pt x="15958" y="13777"/>
                  </a:lnTo>
                  <a:lnTo>
                    <a:pt x="16416" y="13777"/>
                  </a:lnTo>
                  <a:lnTo>
                    <a:pt x="16416" y="24888"/>
                  </a:lnTo>
                  <a:lnTo>
                    <a:pt x="16791" y="24888"/>
                  </a:lnTo>
                  <a:lnTo>
                    <a:pt x="16791" y="46222"/>
                  </a:lnTo>
                  <a:lnTo>
                    <a:pt x="17333" y="46222"/>
                  </a:lnTo>
                  <a:lnTo>
                    <a:pt x="17333" y="61333"/>
                  </a:lnTo>
                  <a:lnTo>
                    <a:pt x="17916" y="61333"/>
                  </a:lnTo>
                  <a:lnTo>
                    <a:pt x="17916" y="101333"/>
                  </a:lnTo>
                  <a:lnTo>
                    <a:pt x="18875" y="101333"/>
                  </a:lnTo>
                  <a:lnTo>
                    <a:pt x="18875" y="92000"/>
                  </a:lnTo>
                  <a:lnTo>
                    <a:pt x="20958" y="92000"/>
                  </a:lnTo>
                  <a:lnTo>
                    <a:pt x="20958" y="96444"/>
                  </a:lnTo>
                  <a:lnTo>
                    <a:pt x="21750" y="96444"/>
                  </a:lnTo>
                  <a:lnTo>
                    <a:pt x="21750" y="54666"/>
                  </a:lnTo>
                  <a:lnTo>
                    <a:pt x="22333" y="54666"/>
                  </a:lnTo>
                  <a:lnTo>
                    <a:pt x="22333" y="42666"/>
                  </a:lnTo>
                  <a:lnTo>
                    <a:pt x="24166" y="42666"/>
                  </a:lnTo>
                  <a:lnTo>
                    <a:pt x="24166" y="53777"/>
                  </a:lnTo>
                  <a:lnTo>
                    <a:pt x="24583" y="56888"/>
                  </a:lnTo>
                  <a:lnTo>
                    <a:pt x="24583" y="85777"/>
                  </a:lnTo>
                  <a:lnTo>
                    <a:pt x="25291" y="85777"/>
                  </a:lnTo>
                  <a:lnTo>
                    <a:pt x="25291" y="79555"/>
                  </a:lnTo>
                  <a:lnTo>
                    <a:pt x="27125" y="79555"/>
                  </a:lnTo>
                  <a:lnTo>
                    <a:pt x="27125" y="86222"/>
                  </a:lnTo>
                  <a:lnTo>
                    <a:pt x="28208" y="86222"/>
                  </a:lnTo>
                  <a:lnTo>
                    <a:pt x="28208" y="92000"/>
                  </a:lnTo>
                  <a:lnTo>
                    <a:pt x="29416" y="92000"/>
                  </a:lnTo>
                  <a:lnTo>
                    <a:pt x="29416" y="83555"/>
                  </a:lnTo>
                  <a:lnTo>
                    <a:pt x="30250" y="83555"/>
                  </a:lnTo>
                  <a:lnTo>
                    <a:pt x="30250" y="65777"/>
                  </a:lnTo>
                  <a:lnTo>
                    <a:pt x="35041" y="65777"/>
                  </a:lnTo>
                  <a:lnTo>
                    <a:pt x="35041" y="83555"/>
                  </a:lnTo>
                  <a:lnTo>
                    <a:pt x="35875" y="83555"/>
                  </a:lnTo>
                  <a:lnTo>
                    <a:pt x="35875" y="65777"/>
                  </a:lnTo>
                  <a:lnTo>
                    <a:pt x="39916" y="65777"/>
                  </a:lnTo>
                  <a:lnTo>
                    <a:pt x="39916" y="72888"/>
                  </a:lnTo>
                  <a:lnTo>
                    <a:pt x="41041" y="72888"/>
                  </a:lnTo>
                  <a:lnTo>
                    <a:pt x="41041" y="99555"/>
                  </a:lnTo>
                  <a:lnTo>
                    <a:pt x="42583" y="99555"/>
                  </a:lnTo>
                  <a:lnTo>
                    <a:pt x="42583" y="76888"/>
                  </a:lnTo>
                  <a:lnTo>
                    <a:pt x="45250" y="56000"/>
                  </a:lnTo>
                  <a:lnTo>
                    <a:pt x="47875" y="76888"/>
                  </a:lnTo>
                  <a:lnTo>
                    <a:pt x="47875" y="88888"/>
                  </a:lnTo>
                  <a:lnTo>
                    <a:pt x="48666" y="88888"/>
                  </a:lnTo>
                  <a:lnTo>
                    <a:pt x="48666" y="104000"/>
                  </a:lnTo>
                  <a:lnTo>
                    <a:pt x="49208" y="104000"/>
                  </a:lnTo>
                  <a:lnTo>
                    <a:pt x="49208" y="73333"/>
                  </a:lnTo>
                  <a:lnTo>
                    <a:pt x="51500" y="73333"/>
                  </a:lnTo>
                  <a:lnTo>
                    <a:pt x="51500" y="85777"/>
                  </a:lnTo>
                  <a:lnTo>
                    <a:pt x="53708" y="85777"/>
                  </a:lnTo>
                  <a:lnTo>
                    <a:pt x="53708" y="94666"/>
                  </a:lnTo>
                  <a:lnTo>
                    <a:pt x="54500" y="94666"/>
                  </a:lnTo>
                  <a:lnTo>
                    <a:pt x="54500" y="85777"/>
                  </a:lnTo>
                  <a:lnTo>
                    <a:pt x="57125" y="85777"/>
                  </a:lnTo>
                  <a:lnTo>
                    <a:pt x="57125" y="102222"/>
                  </a:lnTo>
                  <a:lnTo>
                    <a:pt x="57625" y="102222"/>
                  </a:lnTo>
                  <a:lnTo>
                    <a:pt x="57625" y="104888"/>
                  </a:lnTo>
                  <a:lnTo>
                    <a:pt x="58875" y="104888"/>
                  </a:lnTo>
                  <a:lnTo>
                    <a:pt x="58875" y="94222"/>
                  </a:lnTo>
                  <a:lnTo>
                    <a:pt x="61666" y="94222"/>
                  </a:lnTo>
                  <a:lnTo>
                    <a:pt x="61666" y="89777"/>
                  </a:lnTo>
                  <a:lnTo>
                    <a:pt x="62250" y="89777"/>
                  </a:lnTo>
                  <a:lnTo>
                    <a:pt x="62250" y="84000"/>
                  </a:lnTo>
                  <a:lnTo>
                    <a:pt x="62833" y="84000"/>
                  </a:lnTo>
                  <a:lnTo>
                    <a:pt x="62833" y="88888"/>
                  </a:lnTo>
                  <a:lnTo>
                    <a:pt x="63500" y="88888"/>
                  </a:lnTo>
                  <a:lnTo>
                    <a:pt x="63500" y="83111"/>
                  </a:lnTo>
                  <a:lnTo>
                    <a:pt x="64999" y="83111"/>
                  </a:lnTo>
                  <a:lnTo>
                    <a:pt x="64999" y="88444"/>
                  </a:lnTo>
                  <a:lnTo>
                    <a:pt x="65666" y="88444"/>
                  </a:lnTo>
                  <a:lnTo>
                    <a:pt x="65666" y="103111"/>
                  </a:lnTo>
                  <a:lnTo>
                    <a:pt x="66916" y="103111"/>
                  </a:lnTo>
                  <a:lnTo>
                    <a:pt x="66916" y="82666"/>
                  </a:lnTo>
                  <a:lnTo>
                    <a:pt x="69375" y="82666"/>
                  </a:lnTo>
                  <a:lnTo>
                    <a:pt x="69375" y="88888"/>
                  </a:lnTo>
                  <a:lnTo>
                    <a:pt x="70416" y="88888"/>
                  </a:lnTo>
                  <a:lnTo>
                    <a:pt x="70416" y="46222"/>
                  </a:lnTo>
                  <a:lnTo>
                    <a:pt x="71500" y="35111"/>
                  </a:lnTo>
                  <a:lnTo>
                    <a:pt x="72458" y="45777"/>
                  </a:lnTo>
                  <a:lnTo>
                    <a:pt x="72458" y="103111"/>
                  </a:lnTo>
                  <a:lnTo>
                    <a:pt x="73583" y="103111"/>
                  </a:lnTo>
                  <a:lnTo>
                    <a:pt x="73583" y="47555"/>
                  </a:lnTo>
                  <a:lnTo>
                    <a:pt x="76916" y="47555"/>
                  </a:lnTo>
                  <a:lnTo>
                    <a:pt x="76916" y="97777"/>
                  </a:lnTo>
                  <a:lnTo>
                    <a:pt x="77541" y="97777"/>
                  </a:lnTo>
                  <a:lnTo>
                    <a:pt x="77541" y="85777"/>
                  </a:lnTo>
                  <a:lnTo>
                    <a:pt x="79000" y="85777"/>
                  </a:lnTo>
                  <a:lnTo>
                    <a:pt x="79000" y="92888"/>
                  </a:lnTo>
                  <a:lnTo>
                    <a:pt x="82000" y="92888"/>
                  </a:lnTo>
                  <a:lnTo>
                    <a:pt x="82000" y="102222"/>
                  </a:lnTo>
                  <a:lnTo>
                    <a:pt x="84333" y="102222"/>
                  </a:lnTo>
                  <a:lnTo>
                    <a:pt x="84333" y="88000"/>
                  </a:lnTo>
                  <a:lnTo>
                    <a:pt x="85583" y="88000"/>
                  </a:lnTo>
                  <a:lnTo>
                    <a:pt x="85583" y="96000"/>
                  </a:lnTo>
                  <a:lnTo>
                    <a:pt x="86500" y="96000"/>
                  </a:lnTo>
                  <a:lnTo>
                    <a:pt x="86500" y="91111"/>
                  </a:lnTo>
                  <a:lnTo>
                    <a:pt x="87791" y="91111"/>
                  </a:lnTo>
                  <a:lnTo>
                    <a:pt x="87791" y="84888"/>
                  </a:lnTo>
                  <a:lnTo>
                    <a:pt x="89375" y="84888"/>
                  </a:lnTo>
                  <a:lnTo>
                    <a:pt x="89375" y="100888"/>
                  </a:lnTo>
                  <a:lnTo>
                    <a:pt x="90541" y="100888"/>
                  </a:lnTo>
                  <a:lnTo>
                    <a:pt x="90541" y="63111"/>
                  </a:lnTo>
                  <a:lnTo>
                    <a:pt x="92458" y="63555"/>
                  </a:lnTo>
                  <a:lnTo>
                    <a:pt x="92458" y="84444"/>
                  </a:lnTo>
                  <a:lnTo>
                    <a:pt x="93750" y="84444"/>
                  </a:lnTo>
                  <a:lnTo>
                    <a:pt x="93750" y="97333"/>
                  </a:lnTo>
                  <a:lnTo>
                    <a:pt x="95375" y="97333"/>
                  </a:lnTo>
                  <a:lnTo>
                    <a:pt x="95375" y="83111"/>
                  </a:lnTo>
                  <a:lnTo>
                    <a:pt x="96500" y="83111"/>
                  </a:lnTo>
                  <a:lnTo>
                    <a:pt x="96500" y="77333"/>
                  </a:lnTo>
                  <a:lnTo>
                    <a:pt x="98000" y="77333"/>
                  </a:lnTo>
                  <a:lnTo>
                    <a:pt x="98000" y="81333"/>
                  </a:lnTo>
                  <a:lnTo>
                    <a:pt x="99041" y="81333"/>
                  </a:lnTo>
                  <a:lnTo>
                    <a:pt x="99041" y="75111"/>
                  </a:lnTo>
                  <a:lnTo>
                    <a:pt x="101000" y="59555"/>
                  </a:lnTo>
                  <a:lnTo>
                    <a:pt x="102916" y="75111"/>
                  </a:lnTo>
                  <a:lnTo>
                    <a:pt x="102916" y="96444"/>
                  </a:lnTo>
                  <a:lnTo>
                    <a:pt x="103250" y="96444"/>
                  </a:lnTo>
                  <a:lnTo>
                    <a:pt x="103250" y="92000"/>
                  </a:lnTo>
                  <a:lnTo>
                    <a:pt x="104750" y="92000"/>
                  </a:lnTo>
                  <a:lnTo>
                    <a:pt x="104750" y="111111"/>
                  </a:lnTo>
                  <a:lnTo>
                    <a:pt x="105125" y="111111"/>
                  </a:lnTo>
                  <a:lnTo>
                    <a:pt x="105125" y="101777"/>
                  </a:lnTo>
                  <a:lnTo>
                    <a:pt x="106291" y="101777"/>
                  </a:lnTo>
                  <a:lnTo>
                    <a:pt x="106291" y="81777"/>
                  </a:lnTo>
                  <a:lnTo>
                    <a:pt x="107791" y="81777"/>
                  </a:lnTo>
                  <a:lnTo>
                    <a:pt x="107791" y="101777"/>
                  </a:lnTo>
                  <a:lnTo>
                    <a:pt x="107833" y="101777"/>
                  </a:lnTo>
                  <a:lnTo>
                    <a:pt x="107833" y="93777"/>
                  </a:lnTo>
                  <a:lnTo>
                    <a:pt x="108583" y="93777"/>
                  </a:lnTo>
                  <a:lnTo>
                    <a:pt x="108583" y="89777"/>
                  </a:lnTo>
                  <a:lnTo>
                    <a:pt x="110166" y="89777"/>
                  </a:lnTo>
                  <a:lnTo>
                    <a:pt x="110166" y="103111"/>
                  </a:lnTo>
                  <a:lnTo>
                    <a:pt x="110416" y="103111"/>
                  </a:lnTo>
                  <a:lnTo>
                    <a:pt x="110416" y="93777"/>
                  </a:lnTo>
                  <a:lnTo>
                    <a:pt x="110625" y="93777"/>
                  </a:lnTo>
                  <a:lnTo>
                    <a:pt x="110625" y="76444"/>
                  </a:lnTo>
                  <a:lnTo>
                    <a:pt x="111416" y="76444"/>
                  </a:lnTo>
                  <a:lnTo>
                    <a:pt x="111416" y="68444"/>
                  </a:lnTo>
                  <a:lnTo>
                    <a:pt x="111833" y="68444"/>
                  </a:lnTo>
                  <a:lnTo>
                    <a:pt x="111833" y="64000"/>
                  </a:lnTo>
                  <a:lnTo>
                    <a:pt x="112916" y="64000"/>
                  </a:lnTo>
                  <a:lnTo>
                    <a:pt x="112916" y="68444"/>
                  </a:lnTo>
                  <a:lnTo>
                    <a:pt x="113375" y="68444"/>
                  </a:lnTo>
                  <a:lnTo>
                    <a:pt x="113375" y="91555"/>
                  </a:lnTo>
                  <a:lnTo>
                    <a:pt x="113416" y="91555"/>
                  </a:lnTo>
                  <a:lnTo>
                    <a:pt x="113416" y="91555"/>
                  </a:lnTo>
                  <a:lnTo>
                    <a:pt x="114666" y="91555"/>
                  </a:lnTo>
                  <a:lnTo>
                    <a:pt x="114666" y="79555"/>
                  </a:lnTo>
                  <a:lnTo>
                    <a:pt x="115250" y="79555"/>
                  </a:lnTo>
                  <a:lnTo>
                    <a:pt x="115250" y="68444"/>
                  </a:lnTo>
                  <a:lnTo>
                    <a:pt x="115625" y="68444"/>
                  </a:lnTo>
                  <a:lnTo>
                    <a:pt x="115625" y="55111"/>
                  </a:lnTo>
                  <a:lnTo>
                    <a:pt x="115916" y="55111"/>
                  </a:lnTo>
                  <a:lnTo>
                    <a:pt x="115916" y="44888"/>
                  </a:lnTo>
                  <a:lnTo>
                    <a:pt x="116250" y="44888"/>
                  </a:lnTo>
                  <a:lnTo>
                    <a:pt x="116250" y="34222"/>
                  </a:lnTo>
                  <a:lnTo>
                    <a:pt x="116666" y="34222"/>
                  </a:lnTo>
                  <a:lnTo>
                    <a:pt x="116666" y="44444"/>
                  </a:lnTo>
                  <a:lnTo>
                    <a:pt x="117000" y="44444"/>
                  </a:lnTo>
                  <a:lnTo>
                    <a:pt x="117000" y="52888"/>
                  </a:lnTo>
                  <a:lnTo>
                    <a:pt x="117333" y="52888"/>
                  </a:lnTo>
                  <a:lnTo>
                    <a:pt x="117333" y="68888"/>
                  </a:lnTo>
                  <a:lnTo>
                    <a:pt x="117708" y="68888"/>
                  </a:lnTo>
                  <a:lnTo>
                    <a:pt x="117708" y="80444"/>
                  </a:lnTo>
                  <a:lnTo>
                    <a:pt x="118166" y="80444"/>
                  </a:lnTo>
                  <a:lnTo>
                    <a:pt x="118166" y="92000"/>
                  </a:lnTo>
                  <a:lnTo>
                    <a:pt x="120000" y="92000"/>
                  </a:lnTo>
                  <a:lnTo>
                    <a:pt x="120000" y="120000"/>
                  </a:lnTo>
                  <a:lnTo>
                    <a:pt x="0" y="120000"/>
                  </a:lnTo>
                  <a:close/>
                </a:path>
              </a:pathLst>
            </a:custGeom>
            <a:solidFill>
              <a:srgbClr val="DEDDDD"/>
            </a:solidFill>
            <a:ln w="9525" cap="flat" cmpd="sng">
              <a:noFill/>
              <a:prstDash val="solid"/>
              <a:round/>
              <a:headEnd type="none" w="med" len="med"/>
              <a:tailEnd type="none" w="med" len="med"/>
            </a:ln>
          </p:spPr>
          <p:txBody>
            <a:bodyPr lIns="91425" tIns="45700" rIns="91425" bIns="45700" anchor="t" anchorCtr="0">
              <a:noAutofit/>
            </a:bodyPr>
            <a:lstStyle/>
            <a:p>
              <a:pPr marL="0" marR="0" lvl="0" indent="0" algn="l" rtl="0">
                <a:spcBef>
                  <a:spcPts val="0"/>
                </a:spcBef>
                <a:buNone/>
              </a:pPr>
              <a:endParaRPr sz="1350" b="0" i="0" u="none" strike="noStrike" cap="none" baseline="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76" name="图片 75"/>
            <p:cNvPicPr>
              <a:picLocks noChangeAspect="1"/>
            </p:cNvPicPr>
            <p:nvPr/>
          </p:nvPicPr>
          <p:blipFill rotWithShape="1">
            <a:blip r:embed="rId2">
              <a:duotone>
                <a:schemeClr val="bg2">
                  <a:shade val="45000"/>
                  <a:satMod val="135000"/>
                </a:schemeClr>
                <a:prstClr val="white"/>
              </a:duotone>
            </a:blip>
            <a:srcRect b="27358"/>
            <a:stretch>
              <a:fillRect/>
            </a:stretch>
          </p:blipFill>
          <p:spPr>
            <a:xfrm flipH="1">
              <a:off x="1367070" y="5377500"/>
              <a:ext cx="3517131" cy="1411808"/>
            </a:xfrm>
            <a:prstGeom prst="rect">
              <a:avLst/>
            </a:prstGeom>
          </p:spPr>
        </p:pic>
      </p:grpSp>
      <p:sp>
        <p:nvSpPr>
          <p:cNvPr id="77" name="任意多边形: 形状 76"/>
          <p:cNvSpPr/>
          <p:nvPr userDrawn="1"/>
        </p:nvSpPr>
        <p:spPr>
          <a:xfrm rot="10800000" flipH="1">
            <a:off x="6689477" y="-17256"/>
            <a:ext cx="5522830" cy="2488924"/>
          </a:xfrm>
          <a:custGeom>
            <a:avLst/>
            <a:gdLst>
              <a:gd name="connsiteX0" fmla="*/ 4629710 w 4629710"/>
              <a:gd name="connsiteY0" fmla="*/ 2062620 h 2086429"/>
              <a:gd name="connsiteX1" fmla="*/ 4629710 w 4629710"/>
              <a:gd name="connsiteY1" fmla="*/ 2086429 h 2086429"/>
              <a:gd name="connsiteX2" fmla="*/ 4606079 w 4629710"/>
              <a:gd name="connsiteY2" fmla="*/ 2086429 h 2086429"/>
              <a:gd name="connsiteX3" fmla="*/ 1769949 w 4629710"/>
              <a:gd name="connsiteY3" fmla="*/ 1893739 h 2086429"/>
              <a:gd name="connsiteX4" fmla="*/ 1847524 w 4629710"/>
              <a:gd name="connsiteY4" fmla="*/ 1926988 h 2086429"/>
              <a:gd name="connsiteX5" fmla="*/ 1847524 w 4629710"/>
              <a:gd name="connsiteY5" fmla="*/ 2082151 h 2086429"/>
              <a:gd name="connsiteX6" fmla="*/ 1845924 w 4629710"/>
              <a:gd name="connsiteY6" fmla="*/ 2083764 h 2086429"/>
              <a:gd name="connsiteX7" fmla="*/ 1843281 w 4629710"/>
              <a:gd name="connsiteY7" fmla="*/ 2086429 h 2086429"/>
              <a:gd name="connsiteX8" fmla="*/ 1534067 w 4629710"/>
              <a:gd name="connsiteY8" fmla="*/ 2086429 h 2086429"/>
              <a:gd name="connsiteX9" fmla="*/ 1692374 w 4629710"/>
              <a:gd name="connsiteY9" fmla="*/ 1926988 h 2086429"/>
              <a:gd name="connsiteX10" fmla="*/ 1769949 w 4629710"/>
              <a:gd name="connsiteY10" fmla="*/ 1893739 h 2086429"/>
              <a:gd name="connsiteX11" fmla="*/ 2462350 w 4629710"/>
              <a:gd name="connsiteY11" fmla="*/ 1712302 h 2086429"/>
              <a:gd name="connsiteX12" fmla="*/ 2539931 w 4629710"/>
              <a:gd name="connsiteY12" fmla="*/ 1744168 h 2086429"/>
              <a:gd name="connsiteX13" fmla="*/ 2539931 w 4629710"/>
              <a:gd name="connsiteY13" fmla="*/ 1901188 h 2086429"/>
              <a:gd name="connsiteX14" fmla="*/ 2369776 w 4629710"/>
              <a:gd name="connsiteY14" fmla="*/ 2072642 h 2086429"/>
              <a:gd name="connsiteX15" fmla="*/ 2356093 w 4629710"/>
              <a:gd name="connsiteY15" fmla="*/ 2086429 h 2086429"/>
              <a:gd name="connsiteX16" fmla="*/ 2045101 w 4629710"/>
              <a:gd name="connsiteY16" fmla="*/ 2086429 h 2086429"/>
              <a:gd name="connsiteX17" fmla="*/ 2115833 w 4629710"/>
              <a:gd name="connsiteY17" fmla="*/ 2015158 h 2086429"/>
              <a:gd name="connsiteX18" fmla="*/ 2384770 w 4629710"/>
              <a:gd name="connsiteY18" fmla="*/ 1744168 h 2086429"/>
              <a:gd name="connsiteX19" fmla="*/ 2462350 w 4629710"/>
              <a:gd name="connsiteY19" fmla="*/ 1712302 h 2086429"/>
              <a:gd name="connsiteX20" fmla="*/ 4629710 w 4629710"/>
              <a:gd name="connsiteY20" fmla="*/ 1546814 h 2086429"/>
              <a:gd name="connsiteX21" fmla="*/ 4629710 w 4629710"/>
              <a:gd name="connsiteY21" fmla="*/ 1858916 h 2086429"/>
              <a:gd name="connsiteX22" fmla="*/ 4619307 w 4629710"/>
              <a:gd name="connsiteY22" fmla="*/ 1869385 h 2086429"/>
              <a:gd name="connsiteX23" fmla="*/ 4413580 w 4629710"/>
              <a:gd name="connsiteY23" fmla="*/ 2076441 h 2086429"/>
              <a:gd name="connsiteX24" fmla="*/ 4403656 w 4629710"/>
              <a:gd name="connsiteY24" fmla="*/ 2086429 h 2086429"/>
              <a:gd name="connsiteX25" fmla="*/ 4093847 w 4629710"/>
              <a:gd name="connsiteY25" fmla="*/ 2086429 h 2086429"/>
              <a:gd name="connsiteX26" fmla="*/ 4162148 w 4629710"/>
              <a:gd name="connsiteY26" fmla="*/ 2017650 h 2086429"/>
              <a:gd name="connsiteX27" fmla="*/ 4608252 w 4629710"/>
              <a:gd name="connsiteY27" fmla="*/ 1568422 h 2086429"/>
              <a:gd name="connsiteX28" fmla="*/ 2238267 w 4629710"/>
              <a:gd name="connsiteY28" fmla="*/ 1422274 h 2086429"/>
              <a:gd name="connsiteX29" fmla="*/ 2315838 w 4629710"/>
              <a:gd name="connsiteY29" fmla="*/ 1455593 h 2086429"/>
              <a:gd name="connsiteX30" fmla="*/ 2315838 w 4629710"/>
              <a:gd name="connsiteY30" fmla="*/ 1611082 h 2086429"/>
              <a:gd name="connsiteX31" fmla="*/ 2083124 w 4629710"/>
              <a:gd name="connsiteY31" fmla="*/ 1848018 h 2086429"/>
              <a:gd name="connsiteX32" fmla="*/ 1927981 w 4629710"/>
              <a:gd name="connsiteY32" fmla="*/ 1848018 h 2086429"/>
              <a:gd name="connsiteX33" fmla="*/ 1927981 w 4629710"/>
              <a:gd name="connsiteY33" fmla="*/ 1690678 h 2086429"/>
              <a:gd name="connsiteX34" fmla="*/ 2160695 w 4629710"/>
              <a:gd name="connsiteY34" fmla="*/ 1455593 h 2086429"/>
              <a:gd name="connsiteX35" fmla="*/ 2238267 w 4629710"/>
              <a:gd name="connsiteY35" fmla="*/ 1422274 h 2086429"/>
              <a:gd name="connsiteX36" fmla="*/ 828764 w 4629710"/>
              <a:gd name="connsiteY36" fmla="*/ 1296841 h 2086429"/>
              <a:gd name="connsiteX37" fmla="*/ 906376 w 4629710"/>
              <a:gd name="connsiteY37" fmla="*/ 1330096 h 2086429"/>
              <a:gd name="connsiteX38" fmla="*/ 906376 w 4629710"/>
              <a:gd name="connsiteY38" fmla="*/ 1485289 h 2086429"/>
              <a:gd name="connsiteX39" fmla="*/ 442282 w 4629710"/>
              <a:gd name="connsiteY39" fmla="*/ 1952837 h 2086429"/>
              <a:gd name="connsiteX40" fmla="*/ 309677 w 4629710"/>
              <a:gd name="connsiteY40" fmla="*/ 2086429 h 2086429"/>
              <a:gd name="connsiteX41" fmla="*/ 0 w 4629710"/>
              <a:gd name="connsiteY41" fmla="*/ 2086429 h 2086429"/>
              <a:gd name="connsiteX42" fmla="*/ 86087 w 4629710"/>
              <a:gd name="connsiteY42" fmla="*/ 1999748 h 2086429"/>
              <a:gd name="connsiteX43" fmla="*/ 751152 w 4629710"/>
              <a:gd name="connsiteY43" fmla="*/ 1330096 h 2086429"/>
              <a:gd name="connsiteX44" fmla="*/ 828764 w 4629710"/>
              <a:gd name="connsiteY44" fmla="*/ 1296841 h 2086429"/>
              <a:gd name="connsiteX45" fmla="*/ 2890951 w 4629710"/>
              <a:gd name="connsiteY45" fmla="*/ 1280952 h 2086429"/>
              <a:gd name="connsiteX46" fmla="*/ 2968547 w 4629710"/>
              <a:gd name="connsiteY46" fmla="*/ 1314167 h 2086429"/>
              <a:gd name="connsiteX47" fmla="*/ 2968547 w 4629710"/>
              <a:gd name="connsiteY47" fmla="*/ 1471018 h 2086429"/>
              <a:gd name="connsiteX48" fmla="*/ 2781947 w 4629710"/>
              <a:gd name="connsiteY48" fmla="*/ 1657393 h 2086429"/>
              <a:gd name="connsiteX49" fmla="*/ 2626756 w 4629710"/>
              <a:gd name="connsiteY49" fmla="*/ 1657393 h 2086429"/>
              <a:gd name="connsiteX50" fmla="*/ 2626756 w 4629710"/>
              <a:gd name="connsiteY50" fmla="*/ 1500543 h 2086429"/>
              <a:gd name="connsiteX51" fmla="*/ 2813355 w 4629710"/>
              <a:gd name="connsiteY51" fmla="*/ 1314167 h 2086429"/>
              <a:gd name="connsiteX52" fmla="*/ 2890951 w 4629710"/>
              <a:gd name="connsiteY52" fmla="*/ 1280952 h 2086429"/>
              <a:gd name="connsiteX53" fmla="*/ 2489546 w 4629710"/>
              <a:gd name="connsiteY53" fmla="*/ 1169336 h 2086429"/>
              <a:gd name="connsiteX54" fmla="*/ 2568346 w 4629710"/>
              <a:gd name="connsiteY54" fmla="*/ 1201077 h 2086429"/>
              <a:gd name="connsiteX55" fmla="*/ 2568346 w 4629710"/>
              <a:gd name="connsiteY55" fmla="*/ 1357482 h 2086429"/>
              <a:gd name="connsiteX56" fmla="*/ 2410746 w 4629710"/>
              <a:gd name="connsiteY56" fmla="*/ 1357482 h 2086429"/>
              <a:gd name="connsiteX57" fmla="*/ 2410746 w 4629710"/>
              <a:gd name="connsiteY57" fmla="*/ 1201077 h 2086429"/>
              <a:gd name="connsiteX58" fmla="*/ 2489546 w 4629710"/>
              <a:gd name="connsiteY58" fmla="*/ 1169336 h 2086429"/>
              <a:gd name="connsiteX59" fmla="*/ 4629710 w 4629710"/>
              <a:gd name="connsiteY59" fmla="*/ 1030758 h 2086429"/>
              <a:gd name="connsiteX60" fmla="*/ 4629710 w 4629710"/>
              <a:gd name="connsiteY60" fmla="*/ 1344123 h 2086429"/>
              <a:gd name="connsiteX61" fmla="*/ 4521168 w 4629710"/>
              <a:gd name="connsiteY61" fmla="*/ 1453492 h 2086429"/>
              <a:gd name="connsiteX62" fmla="*/ 4045104 w 4629710"/>
              <a:gd name="connsiteY62" fmla="*/ 1933189 h 2086429"/>
              <a:gd name="connsiteX63" fmla="*/ 3893025 w 4629710"/>
              <a:gd name="connsiteY63" fmla="*/ 2086429 h 2086429"/>
              <a:gd name="connsiteX64" fmla="*/ 3582033 w 4629710"/>
              <a:gd name="connsiteY64" fmla="*/ 2086429 h 2086429"/>
              <a:gd name="connsiteX65" fmla="*/ 3589225 w 4629710"/>
              <a:gd name="connsiteY65" fmla="*/ 2079182 h 2086429"/>
              <a:gd name="connsiteX66" fmla="*/ 4626351 w 4629710"/>
              <a:gd name="connsiteY66" fmla="*/ 1034143 h 2086429"/>
              <a:gd name="connsiteX67" fmla="*/ 1614625 w 4629710"/>
              <a:gd name="connsiteY67" fmla="*/ 1018568 h 2086429"/>
              <a:gd name="connsiteX68" fmla="*/ 1692206 w 4629710"/>
              <a:gd name="connsiteY68" fmla="*/ 1050446 h 2086429"/>
              <a:gd name="connsiteX69" fmla="*/ 1692206 w 4629710"/>
              <a:gd name="connsiteY69" fmla="*/ 1207526 h 2086429"/>
              <a:gd name="connsiteX70" fmla="*/ 904454 w 4629710"/>
              <a:gd name="connsiteY70" fmla="*/ 2001593 h 2086429"/>
              <a:gd name="connsiteX71" fmla="*/ 820292 w 4629710"/>
              <a:gd name="connsiteY71" fmla="*/ 2086429 h 2086429"/>
              <a:gd name="connsiteX72" fmla="*/ 509300 w 4629710"/>
              <a:gd name="connsiteY72" fmla="*/ 2086429 h 2086429"/>
              <a:gd name="connsiteX73" fmla="*/ 535713 w 4629710"/>
              <a:gd name="connsiteY73" fmla="*/ 2059804 h 2086429"/>
              <a:gd name="connsiteX74" fmla="*/ 1537045 w 4629710"/>
              <a:gd name="connsiteY74" fmla="*/ 1050446 h 2086429"/>
              <a:gd name="connsiteX75" fmla="*/ 1614625 w 4629710"/>
              <a:gd name="connsiteY75" fmla="*/ 1018568 h 2086429"/>
              <a:gd name="connsiteX76" fmla="*/ 2303600 w 4629710"/>
              <a:gd name="connsiteY76" fmla="*/ 841225 h 2086429"/>
              <a:gd name="connsiteX77" fmla="*/ 2381181 w 4629710"/>
              <a:gd name="connsiteY77" fmla="*/ 874475 h 2086429"/>
              <a:gd name="connsiteX78" fmla="*/ 2381181 w 4629710"/>
              <a:gd name="connsiteY78" fmla="*/ 1031485 h 2086429"/>
              <a:gd name="connsiteX79" fmla="*/ 1379622 w 4629710"/>
              <a:gd name="connsiteY79" fmla="*/ 2040153 h 2086429"/>
              <a:gd name="connsiteX80" fmla="*/ 1333672 w 4629710"/>
              <a:gd name="connsiteY80" fmla="*/ 2086429 h 2086429"/>
              <a:gd name="connsiteX81" fmla="*/ 1022608 w 4629710"/>
              <a:gd name="connsiteY81" fmla="*/ 2086429 h 2086429"/>
              <a:gd name="connsiteX82" fmla="*/ 1076516 w 4629710"/>
              <a:gd name="connsiteY82" fmla="*/ 2032139 h 2086429"/>
              <a:gd name="connsiteX83" fmla="*/ 2226020 w 4629710"/>
              <a:gd name="connsiteY83" fmla="*/ 874475 h 2086429"/>
              <a:gd name="connsiteX84" fmla="*/ 2303600 w 4629710"/>
              <a:gd name="connsiteY84" fmla="*/ 841225 h 2086429"/>
              <a:gd name="connsiteX85" fmla="*/ 1838798 w 4629710"/>
              <a:gd name="connsiteY85" fmla="*/ 795146 h 2086429"/>
              <a:gd name="connsiteX86" fmla="*/ 1916161 w 4629710"/>
              <a:gd name="connsiteY86" fmla="*/ 828267 h 2086429"/>
              <a:gd name="connsiteX87" fmla="*/ 1916161 w 4629710"/>
              <a:gd name="connsiteY87" fmla="*/ 984672 h 2086429"/>
              <a:gd name="connsiteX88" fmla="*/ 1761434 w 4629710"/>
              <a:gd name="connsiteY88" fmla="*/ 984672 h 2086429"/>
              <a:gd name="connsiteX89" fmla="*/ 1761434 w 4629710"/>
              <a:gd name="connsiteY89" fmla="*/ 828267 h 2086429"/>
              <a:gd name="connsiteX90" fmla="*/ 1838798 w 4629710"/>
              <a:gd name="connsiteY90" fmla="*/ 795146 h 2086429"/>
              <a:gd name="connsiteX91" fmla="*/ 4629710 w 4629710"/>
              <a:gd name="connsiteY91" fmla="*/ 514384 h 2086429"/>
              <a:gd name="connsiteX92" fmla="*/ 4629710 w 4629710"/>
              <a:gd name="connsiteY92" fmla="*/ 828997 h 2086429"/>
              <a:gd name="connsiteX93" fmla="*/ 4595945 w 4629710"/>
              <a:gd name="connsiteY93" fmla="*/ 863022 h 2086429"/>
              <a:gd name="connsiteX94" fmla="*/ 3437297 w 4629710"/>
              <a:gd name="connsiteY94" fmla="*/ 2030584 h 2086429"/>
              <a:gd name="connsiteX95" fmla="*/ 3381878 w 4629710"/>
              <a:gd name="connsiteY95" fmla="*/ 2086429 h 2086429"/>
              <a:gd name="connsiteX96" fmla="*/ 3070403 w 4629710"/>
              <a:gd name="connsiteY96" fmla="*/ 2086429 h 2086429"/>
              <a:gd name="connsiteX97" fmla="*/ 3214665 w 4629710"/>
              <a:gd name="connsiteY97" fmla="*/ 1940988 h 2086429"/>
              <a:gd name="connsiteX98" fmla="*/ 4469965 w 4629710"/>
              <a:gd name="connsiteY98" fmla="*/ 675434 h 2086429"/>
              <a:gd name="connsiteX99" fmla="*/ 4629710 w 4629710"/>
              <a:gd name="connsiteY99" fmla="*/ 0 h 2086429"/>
              <a:gd name="connsiteX100" fmla="*/ 4629710 w 4629710"/>
              <a:gd name="connsiteY100" fmla="*/ 314353 h 2086429"/>
              <a:gd name="connsiteX101" fmla="*/ 4558252 w 4629710"/>
              <a:gd name="connsiteY101" fmla="*/ 386295 h 2086429"/>
              <a:gd name="connsiteX102" fmla="*/ 3117080 w 4629710"/>
              <a:gd name="connsiteY102" fmla="*/ 1837231 h 2086429"/>
              <a:gd name="connsiteX103" fmla="*/ 2869559 w 4629710"/>
              <a:gd name="connsiteY103" fmla="*/ 2086429 h 2086429"/>
              <a:gd name="connsiteX104" fmla="*/ 2558298 w 4629710"/>
              <a:gd name="connsiteY104" fmla="*/ 2086429 h 2086429"/>
              <a:gd name="connsiteX105" fmla="*/ 2623869 w 4629710"/>
              <a:gd name="connsiteY105" fmla="*/ 2020383 h 2086429"/>
              <a:gd name="connsiteX106" fmla="*/ 4514978 w 4629710"/>
              <a:gd name="connsiteY106" fmla="*/ 115564 h 208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629710" h="2086429">
                <a:moveTo>
                  <a:pt x="4629710" y="2062620"/>
                </a:moveTo>
                <a:lnTo>
                  <a:pt x="4629710" y="2086429"/>
                </a:lnTo>
                <a:lnTo>
                  <a:pt x="4606079" y="2086429"/>
                </a:lnTo>
                <a:close/>
                <a:moveTo>
                  <a:pt x="1769949" y="1893739"/>
                </a:moveTo>
                <a:cubicBezTo>
                  <a:pt x="1798116" y="1893739"/>
                  <a:pt x="1826283" y="1904822"/>
                  <a:pt x="1847524" y="1926988"/>
                </a:cubicBezTo>
                <a:cubicBezTo>
                  <a:pt x="1891853" y="1969473"/>
                  <a:pt x="1891853" y="2039666"/>
                  <a:pt x="1847524" y="2082151"/>
                </a:cubicBezTo>
                <a:cubicBezTo>
                  <a:pt x="1847524" y="2082151"/>
                  <a:pt x="1847524" y="2082151"/>
                  <a:pt x="1845924" y="2083764"/>
                </a:cubicBezTo>
                <a:lnTo>
                  <a:pt x="1843281" y="2086429"/>
                </a:lnTo>
                <a:lnTo>
                  <a:pt x="1534067" y="2086429"/>
                </a:lnTo>
                <a:lnTo>
                  <a:pt x="1692374" y="1926988"/>
                </a:lnTo>
                <a:cubicBezTo>
                  <a:pt x="1713615" y="1904822"/>
                  <a:pt x="1741782" y="1893739"/>
                  <a:pt x="1769949" y="1893739"/>
                </a:cubicBezTo>
                <a:close/>
                <a:moveTo>
                  <a:pt x="2462350" y="1712302"/>
                </a:moveTo>
                <a:cubicBezTo>
                  <a:pt x="2490519" y="1712302"/>
                  <a:pt x="2518688" y="1722924"/>
                  <a:pt x="2539931" y="1744168"/>
                </a:cubicBezTo>
                <a:cubicBezTo>
                  <a:pt x="2582415" y="1788503"/>
                  <a:pt x="2582415" y="1858701"/>
                  <a:pt x="2539931" y="1901188"/>
                </a:cubicBezTo>
                <a:cubicBezTo>
                  <a:pt x="2539931" y="1901188"/>
                  <a:pt x="2539931" y="1901188"/>
                  <a:pt x="2369776" y="2072642"/>
                </a:cubicBezTo>
                <a:lnTo>
                  <a:pt x="2356093" y="2086429"/>
                </a:lnTo>
                <a:lnTo>
                  <a:pt x="2045101" y="2086429"/>
                </a:lnTo>
                <a:lnTo>
                  <a:pt x="2115833" y="2015158"/>
                </a:lnTo>
                <a:cubicBezTo>
                  <a:pt x="2203361" y="1926962"/>
                  <a:pt x="2292990" y="1836649"/>
                  <a:pt x="2384770" y="1744168"/>
                </a:cubicBezTo>
                <a:cubicBezTo>
                  <a:pt x="2406013" y="1722924"/>
                  <a:pt x="2434181" y="1712302"/>
                  <a:pt x="2462350" y="1712302"/>
                </a:cubicBezTo>
                <a:close/>
                <a:moveTo>
                  <a:pt x="4629710" y="1546814"/>
                </a:moveTo>
                <a:lnTo>
                  <a:pt x="4629710" y="1858916"/>
                </a:lnTo>
                <a:lnTo>
                  <a:pt x="4619307" y="1869385"/>
                </a:lnTo>
                <a:cubicBezTo>
                  <a:pt x="4552784" y="1936338"/>
                  <a:pt x="4484229" y="2005336"/>
                  <a:pt x="4413580" y="2076441"/>
                </a:cubicBezTo>
                <a:lnTo>
                  <a:pt x="4403656" y="2086429"/>
                </a:lnTo>
                <a:lnTo>
                  <a:pt x="4093847" y="2086429"/>
                </a:lnTo>
                <a:lnTo>
                  <a:pt x="4162148" y="2017650"/>
                </a:lnTo>
                <a:cubicBezTo>
                  <a:pt x="4291492" y="1887401"/>
                  <a:pt x="4439313" y="1738544"/>
                  <a:pt x="4608252" y="1568422"/>
                </a:cubicBezTo>
                <a:close/>
                <a:moveTo>
                  <a:pt x="2238267" y="1422274"/>
                </a:moveTo>
                <a:cubicBezTo>
                  <a:pt x="2266433" y="1422274"/>
                  <a:pt x="2294599" y="1433380"/>
                  <a:pt x="2315838" y="1455593"/>
                </a:cubicBezTo>
                <a:cubicBezTo>
                  <a:pt x="2360165" y="1498167"/>
                  <a:pt x="2360165" y="1568507"/>
                  <a:pt x="2315838" y="1611082"/>
                </a:cubicBezTo>
                <a:cubicBezTo>
                  <a:pt x="2315838" y="1611082"/>
                  <a:pt x="2315838" y="1611082"/>
                  <a:pt x="2083124" y="1848018"/>
                </a:cubicBezTo>
                <a:cubicBezTo>
                  <a:pt x="2040645" y="1890592"/>
                  <a:pt x="1970461" y="1890592"/>
                  <a:pt x="1927981" y="1848018"/>
                </a:cubicBezTo>
                <a:cubicBezTo>
                  <a:pt x="1885502" y="1803592"/>
                  <a:pt x="1885502" y="1733252"/>
                  <a:pt x="1927981" y="1690678"/>
                </a:cubicBezTo>
                <a:cubicBezTo>
                  <a:pt x="1927981" y="1690678"/>
                  <a:pt x="1927981" y="1690678"/>
                  <a:pt x="2160695" y="1455593"/>
                </a:cubicBezTo>
                <a:cubicBezTo>
                  <a:pt x="2181935" y="1433380"/>
                  <a:pt x="2210101" y="1422274"/>
                  <a:pt x="2238267" y="1422274"/>
                </a:cubicBezTo>
                <a:close/>
                <a:moveTo>
                  <a:pt x="828764" y="1296841"/>
                </a:moveTo>
                <a:cubicBezTo>
                  <a:pt x="856944" y="1296841"/>
                  <a:pt x="885125" y="1307926"/>
                  <a:pt x="906376" y="1330096"/>
                </a:cubicBezTo>
                <a:cubicBezTo>
                  <a:pt x="948878" y="1372589"/>
                  <a:pt x="948878" y="1442796"/>
                  <a:pt x="906376" y="1485289"/>
                </a:cubicBezTo>
                <a:cubicBezTo>
                  <a:pt x="906376" y="1485289"/>
                  <a:pt x="906376" y="1485289"/>
                  <a:pt x="442282" y="1952837"/>
                </a:cubicBezTo>
                <a:lnTo>
                  <a:pt x="309677" y="2086429"/>
                </a:lnTo>
                <a:lnTo>
                  <a:pt x="0" y="2086429"/>
                </a:lnTo>
                <a:lnTo>
                  <a:pt x="86087" y="1999748"/>
                </a:lnTo>
                <a:cubicBezTo>
                  <a:pt x="291823" y="1792593"/>
                  <a:pt x="513120" y="1569771"/>
                  <a:pt x="751152" y="1330096"/>
                </a:cubicBezTo>
                <a:cubicBezTo>
                  <a:pt x="772404" y="1307926"/>
                  <a:pt x="800583" y="1296841"/>
                  <a:pt x="828764" y="1296841"/>
                </a:cubicBezTo>
                <a:close/>
                <a:moveTo>
                  <a:pt x="2890951" y="1280952"/>
                </a:moveTo>
                <a:cubicBezTo>
                  <a:pt x="2919126" y="1280952"/>
                  <a:pt x="2947301" y="1292024"/>
                  <a:pt x="2968547" y="1314167"/>
                </a:cubicBezTo>
                <a:cubicBezTo>
                  <a:pt x="3011040" y="1356609"/>
                  <a:pt x="3011040" y="1426731"/>
                  <a:pt x="2968547" y="1471018"/>
                </a:cubicBezTo>
                <a:cubicBezTo>
                  <a:pt x="2968547" y="1471018"/>
                  <a:pt x="2968547" y="1471018"/>
                  <a:pt x="2781947" y="1657393"/>
                </a:cubicBezTo>
                <a:cubicBezTo>
                  <a:pt x="2739454" y="1701680"/>
                  <a:pt x="2669249" y="1701680"/>
                  <a:pt x="2626756" y="1657393"/>
                </a:cubicBezTo>
                <a:cubicBezTo>
                  <a:pt x="2582415" y="1614951"/>
                  <a:pt x="2582415" y="1544830"/>
                  <a:pt x="2626756" y="1500543"/>
                </a:cubicBezTo>
                <a:cubicBezTo>
                  <a:pt x="2626756" y="1500543"/>
                  <a:pt x="2626756" y="1500543"/>
                  <a:pt x="2813355" y="1314167"/>
                </a:cubicBezTo>
                <a:cubicBezTo>
                  <a:pt x="2834601" y="1292024"/>
                  <a:pt x="2862776" y="1280952"/>
                  <a:pt x="2890951" y="1280952"/>
                </a:cubicBezTo>
                <a:close/>
                <a:moveTo>
                  <a:pt x="2489546" y="1169336"/>
                </a:moveTo>
                <a:cubicBezTo>
                  <a:pt x="2517821" y="1169336"/>
                  <a:pt x="2546097" y="1179916"/>
                  <a:pt x="2568346" y="1201077"/>
                </a:cubicBezTo>
                <a:cubicBezTo>
                  <a:pt x="2610990" y="1245238"/>
                  <a:pt x="2610990" y="1315160"/>
                  <a:pt x="2568346" y="1357482"/>
                </a:cubicBezTo>
                <a:cubicBezTo>
                  <a:pt x="2523847" y="1401643"/>
                  <a:pt x="2455245" y="1401643"/>
                  <a:pt x="2410746" y="1357482"/>
                </a:cubicBezTo>
                <a:cubicBezTo>
                  <a:pt x="2368102" y="1315160"/>
                  <a:pt x="2368102" y="1245238"/>
                  <a:pt x="2410746" y="1201077"/>
                </a:cubicBezTo>
                <a:cubicBezTo>
                  <a:pt x="2432996" y="1179916"/>
                  <a:pt x="2461271" y="1169336"/>
                  <a:pt x="2489546" y="1169336"/>
                </a:cubicBezTo>
                <a:close/>
                <a:moveTo>
                  <a:pt x="4629710" y="1030758"/>
                </a:moveTo>
                <a:lnTo>
                  <a:pt x="4629710" y="1344123"/>
                </a:lnTo>
                <a:lnTo>
                  <a:pt x="4521168" y="1453492"/>
                </a:lnTo>
                <a:cubicBezTo>
                  <a:pt x="4370413" y="1605399"/>
                  <a:pt x="4211859" y="1765162"/>
                  <a:pt x="4045104" y="1933189"/>
                </a:cubicBezTo>
                <a:lnTo>
                  <a:pt x="3893025" y="2086429"/>
                </a:lnTo>
                <a:lnTo>
                  <a:pt x="3582033" y="2086429"/>
                </a:lnTo>
                <a:lnTo>
                  <a:pt x="3589225" y="2079182"/>
                </a:lnTo>
                <a:cubicBezTo>
                  <a:pt x="3763876" y="1903199"/>
                  <a:pt x="4074367" y="1590339"/>
                  <a:pt x="4626351" y="1034143"/>
                </a:cubicBezTo>
                <a:close/>
                <a:moveTo>
                  <a:pt x="1614625" y="1018568"/>
                </a:moveTo>
                <a:cubicBezTo>
                  <a:pt x="1642794" y="1018568"/>
                  <a:pt x="1670963" y="1029194"/>
                  <a:pt x="1692206" y="1050446"/>
                </a:cubicBezTo>
                <a:cubicBezTo>
                  <a:pt x="1734690" y="1094798"/>
                  <a:pt x="1734690" y="1165022"/>
                  <a:pt x="1692206" y="1207526"/>
                </a:cubicBezTo>
                <a:cubicBezTo>
                  <a:pt x="1692206" y="1207526"/>
                  <a:pt x="1692206" y="1207526"/>
                  <a:pt x="904454" y="2001593"/>
                </a:cubicBezTo>
                <a:lnTo>
                  <a:pt x="820292" y="2086429"/>
                </a:lnTo>
                <a:lnTo>
                  <a:pt x="509300" y="2086429"/>
                </a:lnTo>
                <a:lnTo>
                  <a:pt x="535713" y="2059804"/>
                </a:lnTo>
                <a:cubicBezTo>
                  <a:pt x="837224" y="1755877"/>
                  <a:pt x="1169926" y="1420508"/>
                  <a:pt x="1537045" y="1050446"/>
                </a:cubicBezTo>
                <a:cubicBezTo>
                  <a:pt x="1558288" y="1029194"/>
                  <a:pt x="1586457" y="1018568"/>
                  <a:pt x="1614625" y="1018568"/>
                </a:cubicBezTo>
                <a:close/>
                <a:moveTo>
                  <a:pt x="2303600" y="841225"/>
                </a:moveTo>
                <a:cubicBezTo>
                  <a:pt x="2331769" y="841225"/>
                  <a:pt x="2359938" y="852309"/>
                  <a:pt x="2381181" y="874475"/>
                </a:cubicBezTo>
                <a:cubicBezTo>
                  <a:pt x="2423665" y="916960"/>
                  <a:pt x="2423665" y="987153"/>
                  <a:pt x="2381181" y="1031485"/>
                </a:cubicBezTo>
                <a:cubicBezTo>
                  <a:pt x="2381181" y="1031485"/>
                  <a:pt x="2381181" y="1031485"/>
                  <a:pt x="1379622" y="2040153"/>
                </a:cubicBezTo>
                <a:lnTo>
                  <a:pt x="1333672" y="2086429"/>
                </a:lnTo>
                <a:lnTo>
                  <a:pt x="1022608" y="2086429"/>
                </a:lnTo>
                <a:lnTo>
                  <a:pt x="1076516" y="2032139"/>
                </a:lnTo>
                <a:cubicBezTo>
                  <a:pt x="1416254" y="1689990"/>
                  <a:pt x="1797714" y="1305822"/>
                  <a:pt x="2226020" y="874475"/>
                </a:cubicBezTo>
                <a:cubicBezTo>
                  <a:pt x="2247263" y="852309"/>
                  <a:pt x="2275431" y="841225"/>
                  <a:pt x="2303600" y="841225"/>
                </a:cubicBezTo>
                <a:close/>
                <a:moveTo>
                  <a:pt x="1838798" y="795146"/>
                </a:moveTo>
                <a:cubicBezTo>
                  <a:pt x="1866888" y="795146"/>
                  <a:pt x="1894978" y="806186"/>
                  <a:pt x="1916161" y="828267"/>
                </a:cubicBezTo>
                <a:cubicBezTo>
                  <a:pt x="1958527" y="870588"/>
                  <a:pt x="1958527" y="940510"/>
                  <a:pt x="1916161" y="984672"/>
                </a:cubicBezTo>
                <a:cubicBezTo>
                  <a:pt x="1873795" y="1026993"/>
                  <a:pt x="1803800" y="1026993"/>
                  <a:pt x="1761434" y="984672"/>
                </a:cubicBezTo>
                <a:cubicBezTo>
                  <a:pt x="1717227" y="940510"/>
                  <a:pt x="1717227" y="870588"/>
                  <a:pt x="1761434" y="828267"/>
                </a:cubicBezTo>
                <a:cubicBezTo>
                  <a:pt x="1782617" y="806186"/>
                  <a:pt x="1810708" y="795146"/>
                  <a:pt x="1838798" y="795146"/>
                </a:cubicBezTo>
                <a:close/>
                <a:moveTo>
                  <a:pt x="4629710" y="514384"/>
                </a:moveTo>
                <a:lnTo>
                  <a:pt x="4629710" y="828997"/>
                </a:lnTo>
                <a:lnTo>
                  <a:pt x="4595945" y="863022"/>
                </a:lnTo>
                <a:cubicBezTo>
                  <a:pt x="4281421" y="1179966"/>
                  <a:pt x="3899954" y="1564368"/>
                  <a:pt x="3437297" y="2030584"/>
                </a:cubicBezTo>
                <a:lnTo>
                  <a:pt x="3381878" y="2086429"/>
                </a:lnTo>
                <a:lnTo>
                  <a:pt x="3070403" y="2086429"/>
                </a:lnTo>
                <a:lnTo>
                  <a:pt x="3214665" y="1940988"/>
                </a:lnTo>
                <a:cubicBezTo>
                  <a:pt x="3538718" y="1614288"/>
                  <a:pt x="3949427" y="1200224"/>
                  <a:pt x="4469965" y="675434"/>
                </a:cubicBezTo>
                <a:close/>
                <a:moveTo>
                  <a:pt x="4629710" y="0"/>
                </a:moveTo>
                <a:lnTo>
                  <a:pt x="4629710" y="314353"/>
                </a:lnTo>
                <a:lnTo>
                  <a:pt x="4558252" y="386295"/>
                </a:lnTo>
                <a:cubicBezTo>
                  <a:pt x="4166000" y="781204"/>
                  <a:pt x="3691376" y="1259044"/>
                  <a:pt x="3117080" y="1837231"/>
                </a:cubicBezTo>
                <a:lnTo>
                  <a:pt x="2869559" y="2086429"/>
                </a:lnTo>
                <a:lnTo>
                  <a:pt x="2558298" y="2086429"/>
                </a:lnTo>
                <a:lnTo>
                  <a:pt x="2623869" y="2020383"/>
                </a:lnTo>
                <a:cubicBezTo>
                  <a:pt x="2894027" y="1748266"/>
                  <a:pt x="3434344" y="1204032"/>
                  <a:pt x="4514978" y="11556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17"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93D31F3C-1533-4ADE-ADA4-C66B5AA4B42B}" type="datetime1">
              <a:rPr lang="zh-CN" altLang="en-US" smtClean="0"/>
            </a:fld>
            <a:endParaRPr lang="zh-CN" altLang="en-US"/>
          </a:p>
        </p:txBody>
      </p:sp>
      <p:sp>
        <p:nvSpPr>
          <p:cNvPr id="18"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9"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grpSp>
        <p:nvGrpSpPr>
          <p:cNvPr id="11" name="组合 10"/>
          <p:cNvGrpSpPr/>
          <p:nvPr userDrawn="1"/>
        </p:nvGrpSpPr>
        <p:grpSpPr>
          <a:xfrm>
            <a:off x="669924" y="1016000"/>
            <a:ext cx="10850563" cy="36000"/>
            <a:chOff x="564668" y="0"/>
            <a:chExt cx="27329872" cy="6858000"/>
          </a:xfrm>
          <a:solidFill>
            <a:schemeClr val="accent1"/>
          </a:solidFill>
        </p:grpSpPr>
        <p:sp>
          <p:nvSpPr>
            <p:cNvPr id="12" name="平行四边形 13"/>
            <p:cNvSpPr/>
            <p:nvPr/>
          </p:nvSpPr>
          <p:spPr>
            <a:xfrm flipH="1">
              <a:off x="664630" y="0"/>
              <a:ext cx="2722991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0" name="平行四边形 14"/>
            <p:cNvSpPr/>
            <p:nvPr/>
          </p:nvSpPr>
          <p:spPr>
            <a:xfrm flipH="1">
              <a:off x="564668" y="0"/>
              <a:ext cx="718396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df"/><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image" Target="../media/image3.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df"/><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11.png"/><Relationship Id="rId2" Type="http://schemas.openxmlformats.org/officeDocument/2006/relationships/image" Target="../media/image10.pdf"/><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image" Target="../media/image12.pdf"/><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18.png"/><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28.png"/><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19</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电子邮件安全</a:t>
            </a:r>
            <a:endParaRPr lang="en-US" altLang="en-US" sz="3600" dirty="0">
              <a:latin typeface="Calibri" panose="020F0502020204030204" charset="0"/>
              <a:ea typeface="微软雅黑" panose="020B0503020204020204" charset="-122"/>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19</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电子邮件</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安全</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 name="文本框 2"/>
          <p:cNvSpPr txBox="1"/>
          <p:nvPr/>
        </p:nvSpPr>
        <p:spPr>
          <a:xfrm>
            <a:off x="2678430" y="1671320"/>
            <a:ext cx="6465570" cy="208407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a:t>
            </a:r>
            <a:r>
              <a:rPr lang="en-US" altLang="zh-CN" sz="3600" b="1" dirty="0">
                <a:latin typeface="Times New Roman" panose="02020603050405020304" pitchFamily="18" charset="0"/>
                <a:cs typeface="Times New Roman" panose="02020603050405020304" pitchFamily="18" charset="0"/>
                <a:sym typeface="+mn-ea"/>
              </a:rPr>
              <a:t>Internet</a:t>
            </a:r>
            <a:r>
              <a:rPr lang="zh-CN" altLang="en-US" sz="3600" b="1" dirty="0">
                <a:latin typeface="Times New Roman" panose="02020603050405020304" pitchFamily="18" charset="0"/>
                <a:cs typeface="Times New Roman" panose="02020603050405020304" pitchFamily="18" charset="0"/>
                <a:sym typeface="+mn-ea"/>
              </a:rPr>
              <a:t>邮件架构</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电子邮件协议</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en-US" altLang="zh-CN" sz="3600" b="1" dirty="0">
                <a:latin typeface="Times New Roman" panose="02020603050405020304" pitchFamily="18" charset="0"/>
                <a:cs typeface="Times New Roman" panose="02020603050405020304" pitchFamily="18" charset="0"/>
                <a:sym typeface="+mn-ea"/>
              </a:rPr>
              <a:t>S/MIME</a:t>
            </a:r>
            <a:endParaRPr lang="en-US" altLang="zh-CN" sz="36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电子邮件的基本概念</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zh-CN" altLang="en-US" dirty="0"/>
              <a:t>电子邮件</a:t>
            </a:r>
            <a:r>
              <a:rPr lang="en-US" altLang="zh-CN" dirty="0"/>
              <a:t>(E-mai)</a:t>
            </a:r>
            <a:r>
              <a:rPr lang="zh-CN" altLang="en-US" dirty="0"/>
              <a:t>是</a:t>
            </a:r>
            <a:r>
              <a:rPr lang="en-US" altLang="zh-CN" dirty="0"/>
              <a:t>Internet</a:t>
            </a:r>
            <a:r>
              <a:rPr lang="zh-CN" altLang="en-US" dirty="0"/>
              <a:t>上应用最广同时也是最基本的服务之一。电子邮件将邮件发送到收信人的邮箱中，收信人可随时进行读取。</a:t>
            </a:r>
            <a:endParaRPr lang="zh-CN" altLang="en-US" dirty="0"/>
          </a:p>
          <a:p>
            <a:pPr>
              <a:lnSpc>
                <a:spcPct val="130000"/>
              </a:lnSpc>
              <a:buFont typeface="Wingdings" panose="05000000000000000000" pitchFamily="2" charset="2"/>
              <a:buChar char="Ø"/>
            </a:pPr>
            <a:r>
              <a:rPr lang="zh-CN" altLang="en-US" dirty="0"/>
              <a:t>不仅可传送文字信息，而且还可附上声音和图像等多媒体信息文件。</a:t>
            </a:r>
            <a:endParaRPr lang="zh-CN" altLang="en-US" dirty="0"/>
          </a:p>
          <a:p>
            <a:pPr>
              <a:lnSpc>
                <a:spcPct val="130000"/>
              </a:lnSpc>
              <a:buFont typeface="Wingdings" panose="05000000000000000000" pitchFamily="2" charset="2"/>
              <a:buChar char="Ø"/>
            </a:pPr>
            <a:r>
              <a:rPr lang="zh-CN" altLang="en-US" dirty="0"/>
              <a:t>电子邮件不是一种</a:t>
            </a:r>
            <a:r>
              <a:rPr lang="en-US" altLang="zh-CN" dirty="0"/>
              <a:t>“</a:t>
            </a:r>
            <a:r>
              <a:rPr lang="zh-CN" altLang="en-US" dirty="0"/>
              <a:t>终端到终端</a:t>
            </a:r>
            <a:r>
              <a:rPr lang="en-US" altLang="zh-CN" dirty="0"/>
              <a:t>”</a:t>
            </a:r>
            <a:r>
              <a:rPr lang="zh-CN" altLang="en-US" dirty="0"/>
              <a:t>的服务，而是被称为</a:t>
            </a:r>
            <a:r>
              <a:rPr lang="en-US" altLang="zh-CN" dirty="0">
                <a:solidFill>
                  <a:srgbClr val="FF0000"/>
                </a:solidFill>
              </a:rPr>
              <a:t>“</a:t>
            </a:r>
            <a:r>
              <a:rPr lang="zh-CN" altLang="en-US" dirty="0">
                <a:solidFill>
                  <a:srgbClr val="FF0000"/>
                </a:solidFill>
              </a:rPr>
              <a:t>存储转发式</a:t>
            </a:r>
            <a:r>
              <a:rPr lang="en-US" altLang="zh-CN" dirty="0">
                <a:solidFill>
                  <a:srgbClr val="FF0000"/>
                </a:solidFill>
              </a:rPr>
              <a:t>”</a:t>
            </a:r>
            <a:r>
              <a:rPr lang="zh-CN" altLang="en-US" dirty="0"/>
              <a:t>服务。</a:t>
            </a: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电子邮件系统</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zh-CN" altLang="en-US" dirty="0"/>
              <a:t>一个完整的电子邮件系统具有</a:t>
            </a:r>
            <a:r>
              <a:rPr lang="zh-CN" altLang="en-US" dirty="0"/>
              <a:t>以下主要的组成部分：</a:t>
            </a:r>
            <a:endParaRPr lang="zh-CN" altLang="en-US" dirty="0"/>
          </a:p>
          <a:p>
            <a:pPr>
              <a:lnSpc>
                <a:spcPct val="130000"/>
              </a:lnSpc>
              <a:buFont typeface="Wingdings" panose="05000000000000000000" pitchFamily="2" charset="2"/>
              <a:buChar char="Ø"/>
            </a:pPr>
            <a:r>
              <a:rPr lang="zh-CN" altLang="en-US" dirty="0"/>
              <a:t>消息用户代理</a:t>
            </a:r>
            <a:r>
              <a:rPr lang="en-US" altLang="zh-CN" dirty="0"/>
              <a:t>MUA(Mail User Agent)</a:t>
            </a:r>
            <a:endParaRPr lang="en-US" altLang="zh-CN" dirty="0"/>
          </a:p>
          <a:p>
            <a:pPr algn="l">
              <a:lnSpc>
                <a:spcPct val="130000"/>
              </a:lnSpc>
              <a:buClrTx/>
              <a:buSzTx/>
              <a:buFont typeface="Wingdings" panose="05000000000000000000" pitchFamily="2" charset="2"/>
              <a:buChar char="Ø"/>
            </a:pPr>
            <a:r>
              <a:rPr lang="zh-CN" altLang="en-US" dirty="0"/>
              <a:t>邮件提交代理MSA</a:t>
            </a:r>
            <a:r>
              <a:rPr lang="en-US" altLang="zh-CN" dirty="0"/>
              <a:t>(</a:t>
            </a:r>
            <a:r>
              <a:rPr lang="zh-CN" altLang="en-US" dirty="0">
                <a:sym typeface="+mn-ea"/>
              </a:rPr>
              <a:t>Mail Submission Agent</a:t>
            </a:r>
            <a:r>
              <a:rPr lang="en-US" altLang="zh-CN" dirty="0">
                <a:sym typeface="+mn-ea"/>
              </a:rPr>
              <a:t>)</a:t>
            </a:r>
            <a:endParaRPr lang="en-US" altLang="zh-CN" dirty="0">
              <a:sym typeface="+mn-ea"/>
            </a:endParaRPr>
          </a:p>
          <a:p>
            <a:pPr algn="l">
              <a:lnSpc>
                <a:spcPct val="130000"/>
              </a:lnSpc>
              <a:buClrTx/>
              <a:buSzTx/>
              <a:buFont typeface="Wingdings" panose="05000000000000000000" pitchFamily="2" charset="2"/>
              <a:buChar char="Ø"/>
            </a:pPr>
            <a:r>
              <a:rPr lang="zh-CN" altLang="en-US" dirty="0"/>
              <a:t>消息传输代理</a:t>
            </a:r>
            <a:r>
              <a:rPr lang="en-US" altLang="zh-CN" dirty="0"/>
              <a:t>MTA(Mail Transfer Agent)</a:t>
            </a:r>
            <a:endParaRPr lang="en-US" altLang="zh-CN" dirty="0"/>
          </a:p>
          <a:p>
            <a:pPr>
              <a:lnSpc>
                <a:spcPct val="130000"/>
              </a:lnSpc>
              <a:buFont typeface="Wingdings" panose="05000000000000000000" pitchFamily="2" charset="2"/>
              <a:buChar char="Ø"/>
            </a:pPr>
            <a:r>
              <a:rPr lang="zh-CN" altLang="en-US" dirty="0"/>
              <a:t>消息投递代理</a:t>
            </a:r>
            <a:r>
              <a:rPr lang="en-US" altLang="zh-CN" dirty="0"/>
              <a:t>MDA(Mail Delivery Agent)</a:t>
            </a:r>
            <a:endParaRPr lang="en-US" altLang="zh-CN" dirty="0"/>
          </a:p>
          <a:p>
            <a:pPr>
              <a:lnSpc>
                <a:spcPct val="130000"/>
              </a:lnSpc>
              <a:buFont typeface="Wingdings" panose="05000000000000000000" pitchFamily="2" charset="2"/>
              <a:buChar char="Ø"/>
            </a:pPr>
            <a:r>
              <a:rPr lang="zh-CN" altLang="en-US" dirty="0"/>
              <a:t>消息存储</a:t>
            </a:r>
            <a:r>
              <a:rPr lang="en-US" altLang="zh-CN" dirty="0"/>
              <a:t>MS(Message Store)</a:t>
            </a:r>
            <a:endParaRPr lang="en-US" altLang="zh-CN"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电子邮件系统</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MUA</a:t>
            </a:r>
            <a:r>
              <a:rPr lang="zh-CN" altLang="en-US" dirty="0"/>
              <a:t>的</a:t>
            </a:r>
            <a:r>
              <a:rPr lang="zh-CN" altLang="en-US" dirty="0"/>
              <a:t>实现方式：</a:t>
            </a:r>
            <a:endParaRPr lang="zh-CN" altLang="en-US" dirty="0"/>
          </a:p>
          <a:p>
            <a:pPr lvl="1">
              <a:lnSpc>
                <a:spcPct val="130000"/>
              </a:lnSpc>
              <a:buFont typeface="Wingdings" panose="05000000000000000000" pitchFamily="2" charset="2"/>
              <a:buChar char="Ø"/>
            </a:pPr>
            <a:r>
              <a:rPr lang="en-US" altLang="zh-CN" dirty="0"/>
              <a:t>WebMail</a:t>
            </a:r>
            <a:r>
              <a:rPr lang="zh-CN" altLang="en-US" dirty="0"/>
              <a:t>方式：</a:t>
            </a:r>
            <a:r>
              <a:rPr lang="en-US" altLang="zh-CN" dirty="0"/>
              <a:t>WebMail</a:t>
            </a:r>
            <a:r>
              <a:rPr lang="zh-CN" altLang="en-US" dirty="0"/>
              <a:t>是一个基于</a:t>
            </a:r>
            <a:r>
              <a:rPr lang="en-US" altLang="zh-CN" dirty="0"/>
              <a:t>web</a:t>
            </a:r>
            <a:r>
              <a:rPr lang="zh-CN" altLang="en-US" dirty="0"/>
              <a:t>的电子邮件收发系统，扮演邮件用户代理角色，一般而言，</a:t>
            </a:r>
            <a:r>
              <a:rPr lang="en-US" altLang="zh-CN" dirty="0"/>
              <a:t>WebMal</a:t>
            </a:r>
            <a:r>
              <a:rPr lang="zh-CN" altLang="en-US" dirty="0"/>
              <a:t>系统提供邮件收发、用户在线服务和系统服务管理等功能。</a:t>
            </a:r>
            <a:endParaRPr lang="zh-CN" altLang="en-US" dirty="0"/>
          </a:p>
          <a:p>
            <a:pPr lvl="1">
              <a:lnSpc>
                <a:spcPct val="130000"/>
              </a:lnSpc>
              <a:buFont typeface="Wingdings" panose="05000000000000000000" pitchFamily="2" charset="2"/>
              <a:buChar char="Ø"/>
            </a:pPr>
            <a:r>
              <a:rPr lang="zh-CN" altLang="en-US" dirty="0"/>
              <a:t>客户端软件方式：</a:t>
            </a:r>
            <a:r>
              <a:rPr lang="en-US" altLang="zh-CN" dirty="0"/>
              <a:t>Foxmail</a:t>
            </a:r>
            <a:r>
              <a:rPr lang="zh-CN" altLang="en-US" dirty="0"/>
              <a:t>、</a:t>
            </a:r>
            <a:r>
              <a:rPr lang="en-US" altLang="zh-CN" dirty="0"/>
              <a:t>Outlook</a:t>
            </a:r>
            <a:r>
              <a:rPr lang="zh-CN" altLang="en-US" dirty="0"/>
              <a:t>等，需要进行手工配置。</a:t>
            </a:r>
            <a:endParaRPr lang="zh-CN" altLang="en-US" dirty="0"/>
          </a:p>
        </p:txBody>
      </p:sp>
      <p:pic>
        <p:nvPicPr>
          <p:cNvPr id="2" name="图片 1"/>
          <p:cNvPicPr>
            <a:picLocks noChangeAspect="1"/>
          </p:cNvPicPr>
          <p:nvPr/>
        </p:nvPicPr>
        <p:blipFill>
          <a:blip r:embed="rId2"/>
          <a:stretch>
            <a:fillRect/>
          </a:stretch>
        </p:blipFill>
        <p:spPr>
          <a:xfrm>
            <a:off x="1465580" y="3844925"/>
            <a:ext cx="4258310" cy="2301240"/>
          </a:xfrm>
          <a:prstGeom prst="rect">
            <a:avLst/>
          </a:prstGeom>
        </p:spPr>
      </p:pic>
      <p:pic>
        <p:nvPicPr>
          <p:cNvPr id="3" name="图片 2"/>
          <p:cNvPicPr>
            <a:picLocks noChangeAspect="1"/>
          </p:cNvPicPr>
          <p:nvPr/>
        </p:nvPicPr>
        <p:blipFill>
          <a:blip r:embed="rId3"/>
          <a:stretch>
            <a:fillRect/>
          </a:stretch>
        </p:blipFill>
        <p:spPr>
          <a:xfrm>
            <a:off x="6765925" y="3844925"/>
            <a:ext cx="4427855" cy="230187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19.1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电子邮件架构</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0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15455" b="5455"/>
              <a:stretch>
                <a:fillRect/>
              </a:stretch>
            </p:blipFill>
          </mc:Choice>
          <mc:Fallback>
            <p:blipFill>
              <a:blip r:embed="rId3"/>
              <a:srcRect t="15455" b="5455"/>
              <a:stretch>
                <a:fillRect/>
              </a:stretch>
            </p:blipFill>
          </mc:Fallback>
        </mc:AlternateContent>
        <p:spPr>
          <a:xfrm>
            <a:off x="3202305" y="0"/>
            <a:ext cx="6238240" cy="638556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电子邮件协议</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SMTP</a:t>
            </a:r>
            <a:r>
              <a:rPr lang="zh-CN" altLang="en-US" dirty="0"/>
              <a:t>：</a:t>
            </a:r>
            <a:r>
              <a:rPr lang="en-US" altLang="zh-CN" dirty="0"/>
              <a:t>SMTP</a:t>
            </a:r>
            <a:r>
              <a:rPr lang="zh-CN" altLang="en-US" dirty="0"/>
              <a:t>的全称是</a:t>
            </a:r>
            <a:r>
              <a:rPr lang="en-US" altLang="zh-CN" dirty="0"/>
              <a:t>“Simple Mail Transfer Protocol”</a:t>
            </a:r>
            <a:r>
              <a:rPr lang="zh-CN" altLang="en-US" dirty="0"/>
              <a:t>即简单邮件传输协议。</a:t>
            </a:r>
            <a:r>
              <a:rPr lang="zh-CN" altLang="en-US" dirty="0"/>
              <a:t>它是一组用于从源地址到目的地址传输邮件的规范，通过它来控制邮件的中转方式。</a:t>
            </a:r>
            <a:endParaRPr lang="zh-CN" altLang="en-US" dirty="0"/>
          </a:p>
          <a:p>
            <a:pPr>
              <a:lnSpc>
                <a:spcPct val="130000"/>
              </a:lnSpc>
              <a:buFont typeface="Wingdings" panose="05000000000000000000" pitchFamily="2" charset="2"/>
              <a:buChar char="Ø"/>
            </a:pPr>
            <a:r>
              <a:rPr lang="en-US" altLang="zh-CN" dirty="0"/>
              <a:t>SMTP</a:t>
            </a:r>
            <a:r>
              <a:rPr lang="zh-CN" altLang="en-US" dirty="0"/>
              <a:t>是基于文本的客户端</a:t>
            </a:r>
            <a:r>
              <a:rPr lang="en-US" altLang="zh-CN" dirty="0"/>
              <a:t>/</a:t>
            </a:r>
            <a:r>
              <a:rPr lang="zh-CN" altLang="en-US" dirty="0"/>
              <a:t>服务器协议，其中客户端通知服务器，并发出一组命令告知服务器关于待发送的消息，然后发送消息</a:t>
            </a:r>
            <a:r>
              <a:rPr lang="zh-CN" altLang="en-US" dirty="0"/>
              <a:t>本身。</a:t>
            </a:r>
            <a:endParaRPr lang="zh-CN" altLang="en-US" dirty="0"/>
          </a:p>
          <a:p>
            <a:pPr>
              <a:lnSpc>
                <a:spcPct val="130000"/>
              </a:lnSpc>
              <a:buFont typeface="Wingdings" panose="05000000000000000000" pitchFamily="2" charset="2"/>
              <a:buChar char="Ø"/>
            </a:pP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电子邮件协议</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POP3</a:t>
            </a:r>
            <a:r>
              <a:rPr lang="zh-CN" altLang="en-US" dirty="0"/>
              <a:t>：</a:t>
            </a:r>
            <a:r>
              <a:rPr lang="en-US" altLang="zh-CN" dirty="0"/>
              <a:t>POP</a:t>
            </a:r>
            <a:r>
              <a:rPr lang="zh-CN" altLang="en-US" dirty="0"/>
              <a:t>邮局协议负责从邮件服务器中检索电子邮件。</a:t>
            </a:r>
            <a:endParaRPr lang="zh-CN" altLang="en-US" dirty="0"/>
          </a:p>
          <a:p>
            <a:pPr>
              <a:lnSpc>
                <a:spcPct val="130000"/>
              </a:lnSpc>
              <a:buFont typeface="Wingdings" panose="05000000000000000000" pitchFamily="2" charset="2"/>
              <a:buChar char="Ø"/>
            </a:pPr>
            <a:r>
              <a:rPr lang="en-US" altLang="zh-CN" dirty="0">
                <a:sym typeface="+mn-ea"/>
              </a:rPr>
              <a:t>IMAP</a:t>
            </a:r>
            <a:r>
              <a:rPr lang="zh-CN" altLang="en-US" dirty="0">
                <a:sym typeface="+mn-ea"/>
              </a:rPr>
              <a:t>：互联网信息访问协议</a:t>
            </a:r>
            <a:r>
              <a:rPr lang="en-US" altLang="zh-CN" dirty="0">
                <a:sym typeface="+mn-ea"/>
              </a:rPr>
              <a:t>(IMAP)</a:t>
            </a:r>
            <a:r>
              <a:rPr lang="zh-CN" altLang="en-US" dirty="0">
                <a:sym typeface="+mn-ea"/>
              </a:rPr>
              <a:t>是一种优于</a:t>
            </a:r>
            <a:r>
              <a:rPr lang="en-US" altLang="zh-CN" dirty="0">
                <a:sym typeface="+mn-ea"/>
              </a:rPr>
              <a:t>POP</a:t>
            </a:r>
            <a:r>
              <a:rPr lang="zh-CN" altLang="en-US" dirty="0">
                <a:sym typeface="+mn-ea"/>
              </a:rPr>
              <a:t>的新协议。</a:t>
            </a:r>
            <a:r>
              <a:rPr lang="en-US" altLang="zh-CN" dirty="0">
                <a:sym typeface="+mn-ea"/>
              </a:rPr>
              <a:t>IMAP</a:t>
            </a:r>
            <a:r>
              <a:rPr lang="zh-CN" altLang="en-US" dirty="0">
                <a:sym typeface="+mn-ea"/>
              </a:rPr>
              <a:t>克服了</a:t>
            </a:r>
            <a:r>
              <a:rPr lang="en-US" altLang="zh-CN" dirty="0">
                <a:sym typeface="+mn-ea"/>
              </a:rPr>
              <a:t>POP</a:t>
            </a:r>
            <a:r>
              <a:rPr lang="zh-CN" altLang="en-US" dirty="0">
                <a:sym typeface="+mn-ea"/>
              </a:rPr>
              <a:t>的一些缺点。它可以请求邮件服务器只下载所选中的邮件而不是全部邮件。客户机可先阅读邮件信息的标题和发送者的名字再决定是否下载这个邮件。</a:t>
            </a:r>
            <a:endParaRPr lang="zh-CN" altLang="en-US" dirty="0"/>
          </a:p>
          <a:p>
            <a:pPr>
              <a:lnSpc>
                <a:spcPct val="130000"/>
              </a:lnSpc>
              <a:buFont typeface="Wingdings" panose="05000000000000000000" pitchFamily="2" charset="2"/>
              <a:buChar char="Ø"/>
            </a:pP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19.2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电子邮件格式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sym typeface="+mn-ea"/>
              </a:rPr>
              <a:t>RFC 5322</a:t>
            </a:r>
            <a:r>
              <a:rPr lang="zh-CN" altLang="en-US" dirty="0">
                <a:sym typeface="+mn-ea"/>
              </a:rPr>
              <a:t>：最新版的传统电子邮件格式</a:t>
            </a:r>
            <a:r>
              <a:rPr lang="zh-CN" altLang="en-US" dirty="0">
                <a:sym typeface="+mn-ea"/>
              </a:rPr>
              <a:t>标准</a:t>
            </a:r>
            <a:endParaRPr lang="zh-CN" altLang="en-US" dirty="0">
              <a:sym typeface="+mn-ea"/>
            </a:endParaRPr>
          </a:p>
        </p:txBody>
      </p:sp>
      <p:sp>
        <p:nvSpPr>
          <p:cNvPr id="7" name="Content Placeholder 6"/>
          <p:cNvSpPr>
            <a:spLocks noGrp="1"/>
          </p:cNvSpPr>
          <p:nvPr/>
        </p:nvSpPr>
        <p:spPr>
          <a:xfrm>
            <a:off x="2991485" y="1861185"/>
            <a:ext cx="7570787" cy="428942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ts val="2400"/>
              </a:spcBef>
              <a:spcAft>
                <a:spcPct val="0"/>
              </a:spcAft>
              <a:buClr>
                <a:srgbClr val="BAABE3"/>
              </a:buClr>
              <a:buFont typeface="Candara" panose="020E0502030303020204" pitchFamily="-84" charset="0"/>
              <a:buChar char="•"/>
              <a:defRPr sz="2800" kern="1200">
                <a:solidFill>
                  <a:schemeClr val="tx2"/>
                </a:solidFill>
                <a:latin typeface="+mn-lt"/>
                <a:ea typeface="MS PGothic" panose="020B0600070205080204" pitchFamily="-107" charset="-128"/>
                <a:cs typeface="MS PGothic" panose="020B0600070205080204" pitchFamily="-107" charset="-128"/>
              </a:defRPr>
            </a:lvl1pPr>
            <a:lvl2pPr marL="685800" indent="-336550" algn="l" rtl="0" fontAlgn="base">
              <a:spcBef>
                <a:spcPts val="600"/>
              </a:spcBef>
              <a:spcAft>
                <a:spcPct val="0"/>
              </a:spcAft>
              <a:buClr>
                <a:schemeClr val="tx2"/>
              </a:buClr>
              <a:buFont typeface="Candara" panose="020E0502030303020204" pitchFamily="-84" charset="0"/>
              <a:buChar char="•"/>
              <a:defRPr sz="2600" kern="1200">
                <a:solidFill>
                  <a:schemeClr val="tx2"/>
                </a:solidFill>
                <a:latin typeface="+mn-lt"/>
                <a:ea typeface="MS PGothic" panose="020B0600070205080204" pitchFamily="-107" charset="-128"/>
                <a:cs typeface="+mn-cs"/>
              </a:defRPr>
            </a:lvl2pPr>
            <a:lvl3pPr marL="1035050" indent="-349250" algn="l" rtl="0" fontAlgn="base">
              <a:spcBef>
                <a:spcPts val="600"/>
              </a:spcBef>
              <a:spcAft>
                <a:spcPct val="0"/>
              </a:spcAft>
              <a:buClr>
                <a:srgbClr val="BAABE3"/>
              </a:buClr>
              <a:buFont typeface="Candara" panose="020E0502030303020204" pitchFamily="-84" charset="0"/>
              <a:buChar char="•"/>
              <a:defRPr sz="2400" kern="1200">
                <a:solidFill>
                  <a:schemeClr val="tx2"/>
                </a:solidFill>
                <a:latin typeface="+mn-lt"/>
                <a:ea typeface="MS PGothic" panose="020B0600070205080204" pitchFamily="-107" charset="-128"/>
                <a:cs typeface="+mn-cs"/>
              </a:defRPr>
            </a:lvl3pPr>
            <a:lvl4pPr marL="1371600" indent="-336550" algn="l" rtl="0" fontAlgn="base">
              <a:spcBef>
                <a:spcPts val="600"/>
              </a:spcBef>
              <a:spcAft>
                <a:spcPct val="0"/>
              </a:spcAft>
              <a:buClr>
                <a:schemeClr val="tx2"/>
              </a:buClr>
              <a:buFont typeface="Candara" panose="020E0502030303020204" pitchFamily="-84" charset="0"/>
              <a:buChar char="•"/>
              <a:defRPr sz="2200" kern="1200">
                <a:solidFill>
                  <a:schemeClr val="tx2"/>
                </a:solidFill>
                <a:latin typeface="+mn-lt"/>
                <a:ea typeface="MS PGothic" panose="020B0600070205080204" pitchFamily="-107" charset="-128"/>
                <a:cs typeface="+mn-cs"/>
              </a:defRPr>
            </a:lvl4pPr>
            <a:lvl5pPr marL="1720850" indent="-349250" algn="l" rtl="0" fontAlgn="base">
              <a:spcBef>
                <a:spcPts val="600"/>
              </a:spcBef>
              <a:spcAft>
                <a:spcPct val="0"/>
              </a:spcAft>
              <a:buClr>
                <a:srgbClr val="BAABE3"/>
              </a:buClr>
              <a:buFont typeface="Candara" panose="020E0502030303020204" pitchFamily="-84" charset="0"/>
              <a:buChar char="•"/>
              <a:defRPr sz="2000" kern="1200">
                <a:solidFill>
                  <a:schemeClr val="tx2"/>
                </a:solidFill>
                <a:latin typeface="+mn-lt"/>
                <a:ea typeface="MS PGothic" panose="020B0600070205080204" pitchFamily="-107"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buNone/>
            </a:pPr>
            <a:r>
              <a:rPr lang="en-US" dirty="0" smtClean="0"/>
              <a:t> Date: October 8, 2009 2:15:49 PM EDT</a:t>
            </a:r>
            <a:endParaRPr lang="en-US" dirty="0" smtClean="0"/>
          </a:p>
          <a:p>
            <a:pPr>
              <a:spcBef>
                <a:spcPts val="600"/>
              </a:spcBef>
              <a:buNone/>
            </a:pPr>
            <a:r>
              <a:rPr lang="en-US" dirty="0" smtClean="0"/>
              <a:t>From: “William Stallings” &lt;</a:t>
            </a:r>
            <a:r>
              <a:rPr lang="en-US" dirty="0" err="1" smtClean="0"/>
              <a:t>ws@shore.net</a:t>
            </a:r>
            <a:r>
              <a:rPr lang="en-US" dirty="0" smtClean="0"/>
              <a:t>&gt;</a:t>
            </a:r>
            <a:endParaRPr lang="en-US" dirty="0" smtClean="0"/>
          </a:p>
          <a:p>
            <a:pPr>
              <a:spcBef>
                <a:spcPts val="600"/>
              </a:spcBef>
              <a:buNone/>
            </a:pPr>
            <a:r>
              <a:rPr lang="en-US" dirty="0" smtClean="0"/>
              <a:t>Subject: The Syntax in RFC 5322</a:t>
            </a:r>
            <a:endParaRPr lang="en-US" dirty="0" smtClean="0"/>
          </a:p>
          <a:p>
            <a:pPr>
              <a:spcBef>
                <a:spcPts val="600"/>
              </a:spcBef>
              <a:buNone/>
            </a:pPr>
            <a:r>
              <a:rPr lang="en-US" dirty="0" smtClean="0"/>
              <a:t>To: </a:t>
            </a:r>
            <a:r>
              <a:rPr lang="en-US" dirty="0" err="1" smtClean="0"/>
              <a:t>Smith@Other-host.com</a:t>
            </a:r>
            <a:endParaRPr lang="en-US" dirty="0" smtClean="0"/>
          </a:p>
          <a:p>
            <a:pPr>
              <a:spcBef>
                <a:spcPts val="600"/>
              </a:spcBef>
              <a:buNone/>
            </a:pPr>
            <a:r>
              <a:rPr lang="en-US" dirty="0" smtClean="0"/>
              <a:t>Cc: </a:t>
            </a:r>
            <a:r>
              <a:rPr lang="en-US" dirty="0" err="1" smtClean="0"/>
              <a:t>Jones@Yet-Another-Host.com</a:t>
            </a:r>
            <a:endParaRPr lang="en-US" dirty="0" smtClean="0"/>
          </a:p>
          <a:p>
            <a:pPr>
              <a:spcBef>
                <a:spcPts val="600"/>
              </a:spcBef>
              <a:buNone/>
            </a:pPr>
            <a:endParaRPr lang="en-US" sz="1800" dirty="0" smtClean="0"/>
          </a:p>
          <a:p>
            <a:pPr>
              <a:spcBef>
                <a:spcPts val="600"/>
              </a:spcBef>
              <a:buNone/>
            </a:pPr>
            <a:r>
              <a:rPr lang="en-US" dirty="0" smtClean="0"/>
              <a:t>Hello. This section begins the actual</a:t>
            </a:r>
            <a:endParaRPr lang="en-US" dirty="0" smtClean="0"/>
          </a:p>
          <a:p>
            <a:pPr>
              <a:spcBef>
                <a:spcPts val="600"/>
              </a:spcBef>
              <a:buNone/>
            </a:pPr>
            <a:r>
              <a:rPr lang="en-US" dirty="0" smtClean="0"/>
              <a:t>message body, which is delimited from the</a:t>
            </a:r>
            <a:endParaRPr lang="en-US" dirty="0" smtClean="0"/>
          </a:p>
          <a:p>
            <a:pPr>
              <a:spcBef>
                <a:spcPts val="600"/>
              </a:spcBef>
              <a:buNone/>
            </a:pPr>
            <a:r>
              <a:rPr lang="en-US" dirty="0" smtClean="0"/>
              <a:t>message heading by a blank line.</a:t>
            </a:r>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19.2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电子邮件格式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sym typeface="+mn-ea"/>
              </a:rPr>
              <a:t>MIME</a:t>
            </a:r>
            <a:r>
              <a:rPr lang="zh-CN" altLang="en-US" dirty="0">
                <a:sym typeface="+mn-ea"/>
              </a:rPr>
              <a:t>：多功能</a:t>
            </a:r>
            <a:r>
              <a:rPr lang="en-US" altLang="zh-CN" dirty="0">
                <a:sym typeface="+mn-ea"/>
              </a:rPr>
              <a:t>Internet</a:t>
            </a:r>
            <a:r>
              <a:rPr lang="zh-CN" altLang="en-US" dirty="0">
                <a:sym typeface="+mn-ea"/>
              </a:rPr>
              <a:t>邮件扩充服务，可以使电子邮件除包含一般纯文本以外还可以加上彩色图片、视频、声音护着二进制格式的</a:t>
            </a:r>
            <a:r>
              <a:rPr lang="zh-CN" altLang="en-US" dirty="0">
                <a:sym typeface="+mn-ea"/>
              </a:rPr>
              <a:t>文件。</a:t>
            </a:r>
            <a:endParaRPr lang="zh-CN" altLang="en-US" dirty="0">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316163" y="1160146"/>
          <a:ext cx="7570787" cy="5029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6"/>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19.2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电子邮件格式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电子邮件系统的安全问题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65580" y="960120"/>
            <a:ext cx="9036685" cy="3672205"/>
          </a:xfrm>
        </p:spPr>
        <p:txBody>
          <a:bodyPr vert="horz" wrap="square" lIns="91440" tIns="45720" rIns="91440" bIns="45720" anchor="t" anchorCtr="0">
            <a:noAutofit/>
          </a:bodyPr>
          <a:p>
            <a:pPr>
              <a:lnSpc>
                <a:spcPct val="120000"/>
              </a:lnSpc>
              <a:buFont typeface="Wingdings" panose="05000000000000000000" pitchFamily="2" charset="2"/>
              <a:buChar char="Ø"/>
            </a:pPr>
            <a:r>
              <a:rPr lang="en-US" altLang="zh-CN" b="1" dirty="0"/>
              <a:t> </a:t>
            </a:r>
            <a:r>
              <a:rPr lang="zh-CN" altLang="en-US" dirty="0"/>
              <a:t>匿名转发：</a:t>
            </a:r>
            <a:endParaRPr lang="zh-CN" altLang="en-US" dirty="0"/>
          </a:p>
          <a:p>
            <a:pPr lvl="1">
              <a:lnSpc>
                <a:spcPct val="120000"/>
              </a:lnSpc>
              <a:buFont typeface="Arial" panose="020B0604020202020204" pitchFamily="34" charset="0"/>
              <a:buChar char="•"/>
            </a:pPr>
            <a:r>
              <a:rPr lang="zh-CN" altLang="en-US" dirty="0"/>
              <a:t>发件人刻意隐瞒自己的电子邮箱地址和其他信息，或者通过某些方法给你一些错误的发件人信息发送者首先将邮件发送给匿名转发系统，匿名转发邮件系统再把邮件转发给真正的收件者，并将自己的地址作为发信人地址显示在邮件的信息表头中。对安全要求高的用户必须使用</a:t>
            </a:r>
            <a:r>
              <a:rPr lang="zh-CN" altLang="en-US" dirty="0">
                <a:solidFill>
                  <a:srgbClr val="FF0000"/>
                </a:solidFill>
              </a:rPr>
              <a:t>邮件加密和数字签名技术</a:t>
            </a:r>
            <a:r>
              <a:rPr lang="zh-CN" altLang="en-US" dirty="0"/>
              <a:t>。</a:t>
            </a:r>
            <a:endParaRPr lang="zh-CN" altLang="en-US" dirty="0"/>
          </a:p>
          <a:p>
            <a:pPr>
              <a:lnSpc>
                <a:spcPct val="120000"/>
              </a:lnSpc>
              <a:buFont typeface="Wingdings" panose="05000000000000000000" pitchFamily="2" charset="2"/>
              <a:buChar char="Ø"/>
            </a:pPr>
            <a:r>
              <a:rPr lang="zh-CN" altLang="en-US" dirty="0"/>
              <a:t>电子邮件欺骗：</a:t>
            </a:r>
            <a:endParaRPr lang="zh-CN" altLang="en-US" dirty="0"/>
          </a:p>
          <a:p>
            <a:pPr lvl="1">
              <a:lnSpc>
                <a:spcPct val="120000"/>
              </a:lnSpc>
              <a:buFont typeface="Arial" panose="020B0604020202020204" pitchFamily="34" charset="0"/>
              <a:buChar char="•"/>
            </a:pPr>
            <a:r>
              <a:rPr lang="zh-CN" altLang="en-US" dirty="0"/>
              <a:t>假冒某一个用户的身份给其他用户发送邮件，</a:t>
            </a:r>
            <a:r>
              <a:rPr lang="en-US" altLang="zh-CN" dirty="0"/>
              <a:t>SMTP</a:t>
            </a:r>
            <a:r>
              <a:rPr lang="zh-CN" altLang="en-US" dirty="0"/>
              <a:t>本身并不提供任何验证，所以很容易伪造电子邮件。</a:t>
            </a:r>
            <a:r>
              <a:rPr lang="zh-CN" altLang="en-US" dirty="0">
                <a:solidFill>
                  <a:srgbClr val="FF0000"/>
                </a:solidFill>
              </a:rPr>
              <a:t>通过身份认证避免邮件欺骗。</a:t>
            </a:r>
            <a:endParaRPr lang="zh-CN" altLang="en-US" dirty="0">
              <a:solidFill>
                <a:srgbClr val="FF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电子邮件系统的安全问题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65580" y="106362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zh-CN" altLang="en-US" dirty="0"/>
              <a:t>邮件炸弹和垃圾邮件：</a:t>
            </a:r>
            <a:endParaRPr lang="zh-CN" altLang="en-US" dirty="0"/>
          </a:p>
          <a:p>
            <a:pPr lvl="1">
              <a:lnSpc>
                <a:spcPct val="130000"/>
              </a:lnSpc>
              <a:buFont typeface="Arial" panose="020B0604020202020204" pitchFamily="34" charset="0"/>
              <a:buChar char="•"/>
            </a:pPr>
            <a:r>
              <a:rPr lang="zh-CN" altLang="en-US" dirty="0"/>
              <a:t>邮件炸弹是指发送大量的垃圾邮件，从而充满邮箱，大量的占用了系统的可用空间和资源，使机器暂时无法正常工作。</a:t>
            </a:r>
            <a:endParaRPr lang="zh-CN" altLang="en-US" dirty="0"/>
          </a:p>
          <a:p>
            <a:pPr lvl="1">
              <a:lnSpc>
                <a:spcPct val="130000"/>
              </a:lnSpc>
              <a:buFont typeface="Arial" panose="020B0604020202020204" pitchFamily="34" charset="0"/>
              <a:buChar char="•"/>
            </a:pPr>
            <a:r>
              <a:rPr lang="zh-CN" altLang="en-US" dirty="0"/>
              <a:t>垃圾邮件是未经用户请求强行发送到用户信息中的电子邮件。</a:t>
            </a:r>
            <a:endParaRPr lang="zh-CN" altLang="en-US" dirty="0"/>
          </a:p>
          <a:p>
            <a:pPr lvl="1">
              <a:lnSpc>
                <a:spcPct val="130000"/>
              </a:lnSpc>
              <a:buFont typeface="Arial" panose="020B0604020202020204" pitchFamily="34" charset="0"/>
              <a:buChar char="•"/>
            </a:pPr>
            <a:r>
              <a:rPr lang="zh-CN" altLang="en-US" dirty="0">
                <a:solidFill>
                  <a:srgbClr val="FF0000"/>
                </a:solidFill>
              </a:rPr>
              <a:t>安装过滤器，预先检查发件人资料。</a:t>
            </a:r>
            <a:endParaRPr lang="zh-CN" altLang="en-US" dirty="0">
              <a:solidFill>
                <a:srgbClr val="FF0000"/>
              </a:solidFill>
            </a:endParaRPr>
          </a:p>
          <a:p>
            <a:pPr marL="228600" lvl="1" algn="l">
              <a:lnSpc>
                <a:spcPct val="130000"/>
              </a:lnSpc>
              <a:spcBef>
                <a:spcPts val="1000"/>
              </a:spcBef>
              <a:buClrTx/>
              <a:buSzTx/>
              <a:buFont typeface="Wingdings" panose="05000000000000000000" pitchFamily="2" charset="2"/>
              <a:buChar char="Ø"/>
            </a:pPr>
            <a:r>
              <a:rPr lang="zh-CN" altLang="en-US" sz="2800" dirty="0"/>
              <a:t>邮件病毒</a:t>
            </a:r>
            <a:endParaRPr lang="zh-CN" altLang="en-US" sz="2800" dirty="0"/>
          </a:p>
          <a:p>
            <a:pPr lvl="1">
              <a:lnSpc>
                <a:spcPct val="130000"/>
              </a:lnSpc>
              <a:buFont typeface="Arial" panose="020B0604020202020204" pitchFamily="34" charset="0"/>
              <a:buChar char="•"/>
            </a:pPr>
            <a:r>
              <a:rPr lang="zh-CN" altLang="en-US" dirty="0"/>
              <a:t>通过电子邮件进行计算机病毒传播，通常以附件形式传播，</a:t>
            </a:r>
            <a:r>
              <a:rPr lang="zh-CN" altLang="en-US" dirty="0">
                <a:solidFill>
                  <a:srgbClr val="FF0000"/>
                </a:solidFill>
              </a:rPr>
              <a:t>通过预杀毒防止病毒的传播</a:t>
            </a:r>
            <a:r>
              <a:rPr lang="zh-CN" altLang="en-US" dirty="0"/>
              <a:t>。</a:t>
            </a:r>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电子邮件系统的安全问题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108075"/>
            <a:ext cx="3590290"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zh-CN" altLang="en-US" dirty="0"/>
              <a:t>因此设计了一系列标准化协议来应对电子邮件系统中的安全</a:t>
            </a:r>
            <a:r>
              <a:rPr lang="zh-CN" altLang="en-US" dirty="0"/>
              <a:t>问题</a:t>
            </a:r>
            <a:endParaRPr lang="zh-CN" altLang="en-US" dirty="0"/>
          </a:p>
          <a:p>
            <a:pPr lvl="1">
              <a:lnSpc>
                <a:spcPct val="130000"/>
              </a:lnSpc>
              <a:buFont typeface="Arial" panose="020B0604020202020204" pitchFamily="34" charset="0"/>
              <a:buChar char="•"/>
            </a:pPr>
            <a:endParaRPr lang="zh-CN" altLang="en-US" dirty="0"/>
          </a:p>
        </p:txBody>
      </p:sp>
      <p:pic>
        <p:nvPicPr>
          <p:cNvPr id="5" name="Picture 4" descr="f04.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rcRect t="7480" b="32511"/>
              <a:stretch>
                <a:fillRect/>
              </a:stretch>
            </p:blipFill>
          </mc:Fallback>
        </mc:AlternateContent>
        <p:spPr>
          <a:xfrm>
            <a:off x="4643755" y="253365"/>
            <a:ext cx="7843520" cy="615759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108075"/>
            <a:ext cx="9716770" cy="3672205"/>
          </a:xfrm>
        </p:spPr>
        <p:txBody>
          <a:bodyPr vert="horz" wrap="square" lIns="91440" tIns="45720" rIns="91440" bIns="45720" anchor="t" anchorCtr="0">
            <a:noAutofit/>
          </a:bodyPr>
          <a:p>
            <a:pPr lvl="0">
              <a:lnSpc>
                <a:spcPct val="130000"/>
              </a:lnSpc>
              <a:buFont typeface="Wingdings" panose="05000000000000000000" charset="0"/>
              <a:buChar char="Ø"/>
            </a:pPr>
            <a:r>
              <a:rPr lang="en-US" altLang="zh-CN" sz="3265" b="1" dirty="0"/>
              <a:t> SMIME协议</a:t>
            </a:r>
            <a:r>
              <a:rPr lang="zh-CN" altLang="en-US" dirty="0"/>
              <a:t>（</a:t>
            </a:r>
            <a:r>
              <a:rPr lang="en-US" dirty="0" smtClean="0">
                <a:sym typeface="+mn-ea"/>
              </a:rPr>
              <a:t>Secure/Multipurpose Internet Mail Extension</a:t>
            </a:r>
            <a:r>
              <a:rPr lang="zh-CN" altLang="en-US" dirty="0" smtClean="0">
                <a:sym typeface="+mn-ea"/>
              </a:rPr>
              <a:t>）</a:t>
            </a:r>
            <a:endParaRPr lang="zh-CN" altLang="en-US" dirty="0" smtClean="0">
              <a:sym typeface="+mn-ea"/>
            </a:endParaRPr>
          </a:p>
          <a:p>
            <a:pPr lvl="1">
              <a:lnSpc>
                <a:spcPct val="130000"/>
              </a:lnSpc>
              <a:buFont typeface="Arial" panose="020B0604020202020204" pitchFamily="34" charset="0"/>
              <a:buChar char="•"/>
            </a:pPr>
            <a:r>
              <a:rPr lang="zh-CN" altLang="en-US" dirty="0" smtClean="0">
                <a:sym typeface="+mn-ea"/>
              </a:rPr>
              <a:t>是</a:t>
            </a:r>
            <a:r>
              <a:rPr lang="en-US" altLang="zh-CN" dirty="0" smtClean="0">
                <a:sym typeface="+mn-ea"/>
              </a:rPr>
              <a:t>MIME</a:t>
            </a:r>
            <a:r>
              <a:rPr lang="zh-CN" altLang="en-US" dirty="0" smtClean="0">
                <a:sym typeface="+mn-ea"/>
              </a:rPr>
              <a:t>因特网电子邮件格式标准的安全增强版。</a:t>
            </a:r>
            <a:r>
              <a:rPr lang="en-US" altLang="zh-CN" dirty="0" smtClean="0">
                <a:sym typeface="+mn-ea"/>
              </a:rPr>
              <a:t>S/MIME</a:t>
            </a:r>
            <a:r>
              <a:rPr lang="zh-CN" altLang="en-US" dirty="0" smtClean="0">
                <a:sym typeface="+mn-ea"/>
              </a:rPr>
              <a:t>由一系列标准文档</a:t>
            </a:r>
            <a:r>
              <a:rPr lang="zh-CN" altLang="en-US" dirty="0" smtClean="0">
                <a:sym typeface="+mn-ea"/>
              </a:rPr>
              <a:t>定义：</a:t>
            </a:r>
            <a:endParaRPr lang="zh-CN" altLang="en-US" dirty="0" smtClean="0">
              <a:sym typeface="+mn-ea"/>
            </a:endParaRPr>
          </a:p>
          <a:p>
            <a:pPr lvl="1">
              <a:lnSpc>
                <a:spcPct val="100000"/>
              </a:lnSpc>
              <a:buFont typeface="Arial" panose="020B0604020202020204" pitchFamily="34" charset="0"/>
              <a:buChar char="•"/>
            </a:pPr>
            <a:r>
              <a:rPr lang="en-US" altLang="zh-CN" dirty="0" smtClean="0">
                <a:sym typeface="+mn-ea"/>
              </a:rPr>
              <a:t>The most important documents relevant to S/MIME include:</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5750, S/MIME Version 3.2 Certificate Handling</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5751, S/MIME Version 3.2 Message Specification</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4134, Examples of S/MIME Messages</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2634, Enhanced Security Services for S/MIME</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5652, Cryptographic Message Syntax (CMS)</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3370, CMS Algorithms</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5752, Multiple Signatures in CMS</a:t>
            </a:r>
            <a:endParaRPr lang="en-US" altLang="zh-CN" dirty="0" smtClean="0">
              <a:sym typeface="+mn-ea"/>
            </a:endParaRPr>
          </a:p>
          <a:p>
            <a:pPr lvl="2">
              <a:lnSpc>
                <a:spcPct val="70000"/>
              </a:lnSpc>
              <a:buFont typeface="Arial" panose="020B0604020202020204" pitchFamily="34" charset="0"/>
              <a:buChar char="•"/>
            </a:pPr>
            <a:r>
              <a:rPr lang="en-US" altLang="zh-CN" dirty="0" smtClean="0">
                <a:sym typeface="+mn-ea"/>
              </a:rPr>
              <a:t>RFC 1847, Security Multiparts for MIME-Multipart/Signed and Multipart/Encrypted</a:t>
            </a:r>
            <a:endParaRPr lang="en-US" altLang="zh-CN" dirty="0" smtClean="0">
              <a:sym typeface="+mn-ea"/>
            </a:endParaRPr>
          </a:p>
          <a:p>
            <a:pPr lvl="1">
              <a:lnSpc>
                <a:spcPct val="130000"/>
              </a:lnSpc>
              <a:buFont typeface="Arial" panose="020B0604020202020204" pitchFamily="34" charset="0"/>
              <a:buChar char="•"/>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108075"/>
            <a:ext cx="9716770" cy="3672205"/>
          </a:xfrm>
        </p:spPr>
        <p:txBody>
          <a:bodyPr vert="horz" wrap="square" lIns="91440" tIns="45720" rIns="91440" bIns="45720" anchor="t" anchorCtr="0">
            <a:noAutofit/>
          </a:bodyPr>
          <a:p>
            <a:pPr lvl="0">
              <a:lnSpc>
                <a:spcPct val="130000"/>
              </a:lnSpc>
              <a:buFont typeface="Wingdings" panose="05000000000000000000" charset="0"/>
              <a:buChar char="Ø"/>
            </a:pPr>
            <a:r>
              <a:rPr lang="en-US" altLang="zh-CN" sz="3265" b="1" dirty="0"/>
              <a:t> SMIME协议</a:t>
            </a:r>
            <a:r>
              <a:rPr lang="zh-CN" altLang="en-US" dirty="0"/>
              <a:t>（</a:t>
            </a:r>
            <a:r>
              <a:rPr lang="en-US" dirty="0" smtClean="0">
                <a:sym typeface="+mn-ea"/>
              </a:rPr>
              <a:t>Secure/Multipurpose Internet Mail Extension</a:t>
            </a:r>
            <a:r>
              <a:rPr lang="zh-CN" altLang="en-US" dirty="0" smtClean="0">
                <a:sym typeface="+mn-ea"/>
              </a:rPr>
              <a:t>）提供</a:t>
            </a:r>
            <a:r>
              <a:rPr lang="en-US" altLang="zh-CN" dirty="0" smtClean="0">
                <a:sym typeface="+mn-ea"/>
              </a:rPr>
              <a:t>4</a:t>
            </a:r>
            <a:r>
              <a:rPr lang="zh-CN" altLang="en-US" dirty="0" smtClean="0">
                <a:sym typeface="+mn-ea"/>
              </a:rPr>
              <a:t>个消息服务：</a:t>
            </a:r>
            <a:r>
              <a:rPr lang="zh-CN" altLang="en-US" dirty="0" smtClean="0">
                <a:solidFill>
                  <a:srgbClr val="FF0000"/>
                </a:solidFill>
                <a:sym typeface="+mn-ea"/>
              </a:rPr>
              <a:t>认证、保密性、</a:t>
            </a:r>
            <a:r>
              <a:rPr lang="zh-CN" altLang="en-US" dirty="0" smtClean="0">
                <a:solidFill>
                  <a:schemeClr val="tx1"/>
                </a:solidFill>
                <a:sym typeface="+mn-ea"/>
              </a:rPr>
              <a:t>压缩和电子邮件兼容性。</a:t>
            </a:r>
            <a:endParaRPr lang="zh-CN" altLang="en-US" dirty="0" smtClean="0">
              <a:solidFill>
                <a:schemeClr val="tx1"/>
              </a:solidFill>
              <a:sym typeface="+mn-ea"/>
            </a:endParaRPr>
          </a:p>
          <a:p>
            <a:pPr lvl="0">
              <a:lnSpc>
                <a:spcPct val="130000"/>
              </a:lnSpc>
              <a:buFont typeface="Wingdings" panose="05000000000000000000" charset="0"/>
              <a:buChar char="Ø"/>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pic>
        <p:nvPicPr>
          <p:cNvPr id="8" name="Picture 7"/>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559050" y="2386965"/>
            <a:ext cx="7249160" cy="435102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108075"/>
            <a:ext cx="9716770" cy="3672205"/>
          </a:xfrm>
        </p:spPr>
        <p:txBody>
          <a:bodyPr vert="horz" wrap="square" lIns="91440" tIns="45720" rIns="91440" bIns="45720" anchor="t" anchorCtr="0">
            <a:noAutofit/>
          </a:bodyPr>
          <a:p>
            <a:pPr lvl="0">
              <a:lnSpc>
                <a:spcPct val="130000"/>
              </a:lnSpc>
              <a:buFont typeface="Wingdings" panose="05000000000000000000" charset="0"/>
              <a:buChar char="Ø"/>
            </a:pPr>
            <a:r>
              <a:rPr lang="en-US" altLang="zh-CN" dirty="0" smtClean="0">
                <a:solidFill>
                  <a:srgbClr val="FF0000"/>
                </a:solidFill>
                <a:sym typeface="+mn-ea"/>
              </a:rPr>
              <a:t>1. </a:t>
            </a:r>
            <a:r>
              <a:rPr lang="zh-CN" altLang="en-US" dirty="0" smtClean="0">
                <a:solidFill>
                  <a:srgbClr val="FF0000"/>
                </a:solidFill>
                <a:sym typeface="+mn-ea"/>
              </a:rPr>
              <a:t>认证服务：</a:t>
            </a:r>
            <a:r>
              <a:rPr lang="en-US" altLang="zh-CN" dirty="0" smtClean="0">
                <a:solidFill>
                  <a:schemeClr val="tx1"/>
                </a:solidFill>
                <a:sym typeface="+mn-ea"/>
              </a:rPr>
              <a:t>P</a:t>
            </a:r>
            <a:r>
              <a:rPr lang="en-US" sz="2800" dirty="0" smtClean="0">
                <a:sym typeface="+mn-ea"/>
              </a:rPr>
              <a:t>rovided by means of a digital signature</a:t>
            </a:r>
            <a:endParaRPr lang="en-US" sz="2800" dirty="0" smtClean="0"/>
          </a:p>
          <a:p>
            <a:pPr lvl="1">
              <a:lnSpc>
                <a:spcPct val="80000"/>
              </a:lnSpc>
            </a:pPr>
            <a:r>
              <a:rPr lang="en-US" sz="2800" dirty="0" smtClean="0">
                <a:sym typeface="+mn-ea"/>
              </a:rPr>
              <a:t>The sender creates a message</a:t>
            </a:r>
            <a:endParaRPr lang="en-US" sz="2800" dirty="0" smtClean="0"/>
          </a:p>
          <a:p>
            <a:pPr lvl="1">
              <a:lnSpc>
                <a:spcPct val="80000"/>
              </a:lnSpc>
            </a:pPr>
            <a:r>
              <a:rPr lang="en-US" sz="2800" dirty="0" smtClean="0">
                <a:sym typeface="+mn-ea"/>
              </a:rPr>
              <a:t>SHA-256 is used to generate a 256-bit message digest of the message</a:t>
            </a:r>
            <a:endParaRPr lang="en-US" sz="2800" dirty="0" smtClean="0"/>
          </a:p>
          <a:p>
            <a:pPr lvl="1">
              <a:lnSpc>
                <a:spcPct val="80000"/>
              </a:lnSpc>
            </a:pPr>
            <a:r>
              <a:rPr lang="en-US" sz="2800" dirty="0" smtClean="0">
                <a:sym typeface="+mn-ea"/>
              </a:rPr>
              <a:t>The message digest is encrypted with RSA using</a:t>
            </a:r>
            <a:r>
              <a:rPr lang="en-US" sz="2800" dirty="0" smtClean="0">
                <a:solidFill>
                  <a:srgbClr val="FF0000"/>
                </a:solidFill>
                <a:sym typeface="+mn-ea"/>
              </a:rPr>
              <a:t> the sender’s private key</a:t>
            </a:r>
            <a:r>
              <a:rPr lang="en-US" sz="2800" dirty="0" smtClean="0">
                <a:sym typeface="+mn-ea"/>
              </a:rPr>
              <a:t>, and the result is appended to the message.  Also appended is </a:t>
            </a:r>
            <a:r>
              <a:rPr lang="en-US" sz="2800" dirty="0" smtClean="0">
                <a:solidFill>
                  <a:srgbClr val="FF0000"/>
                </a:solidFill>
                <a:sym typeface="+mn-ea"/>
              </a:rPr>
              <a:t>identifying information for the signer, which will enable the receiver to retrieve the signer’s public key</a:t>
            </a:r>
            <a:endParaRPr lang="en-US" sz="2800" dirty="0" smtClean="0"/>
          </a:p>
          <a:p>
            <a:pPr lvl="1">
              <a:lnSpc>
                <a:spcPct val="80000"/>
              </a:lnSpc>
            </a:pPr>
            <a:r>
              <a:rPr lang="en-US" sz="2800" dirty="0" smtClean="0">
                <a:sym typeface="+mn-ea"/>
              </a:rPr>
              <a:t>The receiver uses RSA with the sender’s public key to decrypt and recover the message digest</a:t>
            </a:r>
            <a:endParaRPr lang="en-US" sz="2800" dirty="0" smtClean="0"/>
          </a:p>
          <a:p>
            <a:pPr lvl="1">
              <a:lnSpc>
                <a:spcPct val="80000"/>
              </a:lnSpc>
            </a:pPr>
            <a:r>
              <a:rPr lang="en-US" sz="2800" dirty="0" smtClean="0">
                <a:sym typeface="+mn-ea"/>
              </a:rPr>
              <a:t>The receiver generates a new message digest for the message and compares it with the decrypted hash code.  If the two match, the message is accepted as authentic</a:t>
            </a:r>
            <a:endParaRPr lang="en-US" sz="2800" dirty="0" smtClean="0"/>
          </a:p>
          <a:p>
            <a:pPr lvl="0">
              <a:lnSpc>
                <a:spcPct val="130000"/>
              </a:lnSpc>
              <a:buFont typeface="Wingdings" panose="05000000000000000000" charset="0"/>
              <a:buChar char="Ø"/>
            </a:pPr>
            <a:endParaRPr lang="zh-CN" altLang="en-US" dirty="0" smtClean="0">
              <a:solidFill>
                <a:schemeClr val="tx1"/>
              </a:solidFill>
              <a:sym typeface="+mn-ea"/>
            </a:endParaRPr>
          </a:p>
          <a:p>
            <a:pPr lvl="0">
              <a:lnSpc>
                <a:spcPct val="130000"/>
              </a:lnSpc>
              <a:buFont typeface="Wingdings" panose="05000000000000000000" charset="0"/>
              <a:buChar char="Ø"/>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108075"/>
            <a:ext cx="9716770" cy="3672205"/>
          </a:xfrm>
        </p:spPr>
        <p:txBody>
          <a:bodyPr vert="horz" wrap="square" lIns="91440" tIns="45720" rIns="91440" bIns="45720" anchor="t" anchorCtr="0">
            <a:noAutofit/>
          </a:bodyPr>
          <a:p>
            <a:pPr>
              <a:lnSpc>
                <a:spcPct val="70000"/>
              </a:lnSpc>
              <a:spcBef>
                <a:spcPts val="1200"/>
              </a:spcBef>
            </a:pPr>
            <a:r>
              <a:rPr lang="en-US" altLang="zh-CN" dirty="0" smtClean="0">
                <a:solidFill>
                  <a:srgbClr val="FF0000"/>
                </a:solidFill>
                <a:sym typeface="+mn-ea"/>
              </a:rPr>
              <a:t>2. </a:t>
            </a:r>
            <a:r>
              <a:rPr lang="zh-CN" altLang="en-US" dirty="0" smtClean="0">
                <a:solidFill>
                  <a:srgbClr val="FF0000"/>
                </a:solidFill>
                <a:sym typeface="+mn-ea"/>
              </a:rPr>
              <a:t>保密服务：</a:t>
            </a:r>
            <a:r>
              <a:rPr lang="en-US" sz="2800" dirty="0" smtClean="0">
                <a:sym typeface="+mn-ea"/>
              </a:rPr>
              <a:t>S/MIME provides confidentiality by encrypting messages. </a:t>
            </a:r>
            <a:endParaRPr lang="en-US" sz="2800" dirty="0" smtClean="0">
              <a:sym typeface="+mn-ea"/>
            </a:endParaRPr>
          </a:p>
          <a:p>
            <a:pPr>
              <a:lnSpc>
                <a:spcPct val="70000"/>
              </a:lnSpc>
              <a:spcBef>
                <a:spcPts val="1200"/>
              </a:spcBef>
            </a:pPr>
            <a:r>
              <a:rPr lang="en-US" sz="2800" dirty="0" smtClean="0">
                <a:cs typeface="MS PGothic" panose="020B0600070205080204" pitchFamily="-107" charset="-128"/>
                <a:sym typeface="+mn-ea"/>
              </a:rPr>
              <a:t>The key itself is also encrypted, typically with RSA</a:t>
            </a:r>
            <a:endParaRPr lang="en-US" sz="2800" dirty="0" smtClean="0">
              <a:cs typeface="MS PGothic" panose="020B0600070205080204" pitchFamily="-107" charset="-128"/>
              <a:sym typeface="+mn-ea"/>
            </a:endParaRPr>
          </a:p>
          <a:p>
            <a:pPr>
              <a:lnSpc>
                <a:spcPct val="70000"/>
              </a:lnSpc>
              <a:spcBef>
                <a:spcPts val="1200"/>
              </a:spcBef>
            </a:pPr>
            <a:r>
              <a:rPr lang="en-US" sz="2800" dirty="0" smtClean="0">
                <a:cs typeface="MS PGothic" panose="020B0600070205080204" pitchFamily="-107" charset="-128"/>
                <a:sym typeface="+mn-ea"/>
              </a:rPr>
              <a:t>Each symmetric key, referred to as a content-encryption key, is used only once</a:t>
            </a:r>
            <a:endParaRPr lang="en-US" sz="2800" dirty="0" smtClean="0">
              <a:cs typeface="MS PGothic" panose="020B0600070205080204" pitchFamily="-107" charset="-128"/>
            </a:endParaRPr>
          </a:p>
          <a:p>
            <a:pPr marL="692150" lvl="2" indent="-342900">
              <a:lnSpc>
                <a:spcPct val="60000"/>
              </a:lnSpc>
              <a:spcBef>
                <a:spcPts val="1200"/>
              </a:spcBef>
            </a:pPr>
            <a:r>
              <a:rPr lang="en-US" sz="2800" dirty="0" smtClean="0">
                <a:cs typeface="MS PGothic" panose="020B0600070205080204" pitchFamily="-107" charset="-128"/>
                <a:sym typeface="+mn-ea"/>
              </a:rPr>
              <a:t>A new key is generated as a random number for each message</a:t>
            </a:r>
            <a:endParaRPr lang="en-US" sz="2800" dirty="0" smtClean="0">
              <a:cs typeface="MS PGothic" panose="020B0600070205080204" pitchFamily="-107" charset="-128"/>
            </a:endParaRPr>
          </a:p>
          <a:p>
            <a:pPr marL="692150" lvl="2" indent="-342900">
              <a:lnSpc>
                <a:spcPct val="60000"/>
              </a:lnSpc>
              <a:spcBef>
                <a:spcPts val="1200"/>
              </a:spcBef>
            </a:pPr>
            <a:r>
              <a:rPr lang="en-US" sz="2800" dirty="0" smtClean="0">
                <a:cs typeface="MS PGothic" panose="020B0600070205080204" pitchFamily="-107" charset="-128"/>
                <a:sym typeface="+mn-ea"/>
              </a:rPr>
              <a:t>Because it is to be used only once, the content-encryption key is bound to the message and transmitted with it</a:t>
            </a:r>
            <a:endParaRPr lang="en-US" sz="2800" dirty="0" smtClean="0">
              <a:cs typeface="MS PGothic" panose="020B0600070205080204" pitchFamily="-107" charset="-128"/>
            </a:endParaRPr>
          </a:p>
          <a:p>
            <a:pPr marL="692150" lvl="2" indent="-342900">
              <a:lnSpc>
                <a:spcPct val="60000"/>
              </a:lnSpc>
              <a:spcBef>
                <a:spcPts val="1200"/>
              </a:spcBef>
            </a:pPr>
            <a:r>
              <a:rPr lang="en-US" sz="2800" dirty="0" smtClean="0">
                <a:cs typeface="MS PGothic" panose="020B0600070205080204" pitchFamily="-107" charset="-128"/>
                <a:sym typeface="+mn-ea"/>
              </a:rPr>
              <a:t>To protect the key, it is encrypted with the receiver’s public key</a:t>
            </a:r>
            <a:endParaRPr lang="en-US" sz="2800" dirty="0" smtClean="0">
              <a:cs typeface="MS PGothic" panose="020B0600070205080204" pitchFamily="-107" charset="-128"/>
            </a:endParaRPr>
          </a:p>
          <a:p>
            <a:pPr marL="692150" lvl="2" indent="-342900">
              <a:lnSpc>
                <a:spcPct val="60000"/>
              </a:lnSpc>
              <a:spcBef>
                <a:spcPts val="1200"/>
              </a:spcBef>
            </a:pPr>
            <a:r>
              <a:rPr lang="en-US" sz="2800" dirty="0" smtClean="0">
                <a:cs typeface="MS PGothic" panose="020B0600070205080204" pitchFamily="-107" charset="-128"/>
                <a:sym typeface="+mn-ea"/>
              </a:rPr>
              <a:t>To reduce encryption time, the combination of symmetric and public-key encryption is used</a:t>
            </a:r>
            <a:endParaRPr lang="en-US" sz="2800" dirty="0" smtClean="0">
              <a:cs typeface="MS PGothic" panose="020B0600070205080204" pitchFamily="-107" charset="-128"/>
            </a:endParaRPr>
          </a:p>
          <a:p>
            <a:pPr marL="692150" lvl="2" indent="-342900">
              <a:lnSpc>
                <a:spcPct val="60000"/>
              </a:lnSpc>
              <a:spcBef>
                <a:spcPts val="1200"/>
              </a:spcBef>
            </a:pPr>
            <a:r>
              <a:rPr lang="en-US" sz="2800" dirty="0" smtClean="0">
                <a:cs typeface="MS PGothic" panose="020B0600070205080204" pitchFamily="-107" charset="-128"/>
                <a:sym typeface="+mn-ea"/>
              </a:rPr>
              <a:t>Only the recipient is able to recover the session key that is bound to the message</a:t>
            </a:r>
            <a:endParaRPr lang="en-US" sz="2800" dirty="0" smtClean="0">
              <a:cs typeface="MS PGothic" panose="020B0600070205080204" pitchFamily="-107" charset="-128"/>
            </a:endParaRPr>
          </a:p>
          <a:p>
            <a:pPr lvl="0">
              <a:lnSpc>
                <a:spcPct val="130000"/>
              </a:lnSpc>
              <a:buFont typeface="Wingdings" panose="05000000000000000000" charset="0"/>
              <a:buChar char="Ø"/>
            </a:pPr>
            <a:endParaRPr lang="zh-CN" altLang="en-US" dirty="0" smtClean="0">
              <a:solidFill>
                <a:schemeClr val="tx1"/>
              </a:solidFill>
              <a:sym typeface="+mn-ea"/>
            </a:endParaRPr>
          </a:p>
          <a:p>
            <a:pPr lvl="0">
              <a:lnSpc>
                <a:spcPct val="130000"/>
              </a:lnSpc>
              <a:buFont typeface="Wingdings" panose="05000000000000000000" charset="0"/>
              <a:buChar char="Ø"/>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391285" y="1289685"/>
            <a:ext cx="3937635" cy="3672205"/>
          </a:xfrm>
        </p:spPr>
        <p:txBody>
          <a:bodyPr vert="horz" wrap="square" lIns="91440" tIns="45720" rIns="91440" bIns="45720" anchor="t" anchorCtr="0">
            <a:noAutofit/>
          </a:bodyPr>
          <a:p>
            <a:pPr>
              <a:lnSpc>
                <a:spcPct val="70000"/>
              </a:lnSpc>
              <a:spcBef>
                <a:spcPts val="1200"/>
              </a:spcBef>
            </a:pPr>
            <a:r>
              <a:rPr lang="en-US" dirty="0" smtClean="0">
                <a:sym typeface="+mn-ea"/>
              </a:rPr>
              <a:t>Most commonly AES with a 128-bit key is used, with the cipher block chaining (CBC) mode</a:t>
            </a:r>
            <a:endParaRPr lang="en-US" dirty="0" smtClean="0">
              <a:sym typeface="+mn-ea"/>
            </a:endParaRPr>
          </a:p>
          <a:p>
            <a:pPr>
              <a:lnSpc>
                <a:spcPct val="70000"/>
              </a:lnSpc>
              <a:spcBef>
                <a:spcPts val="1200"/>
              </a:spcBef>
            </a:pPr>
            <a:r>
              <a:rPr lang="en-US" dirty="0" smtClean="0">
                <a:cs typeface="MS PGothic" panose="020B0600070205080204" pitchFamily="-107" charset="-128"/>
                <a:sym typeface="+mn-ea"/>
              </a:rPr>
              <a:t>The key itself is also encrypted, typically with RSA</a:t>
            </a:r>
            <a:endParaRPr lang="en-US" dirty="0" smtClean="0">
              <a:cs typeface="MS PGothic" panose="020B0600070205080204" pitchFamily="-107" charset="-128"/>
              <a:sym typeface="+mn-ea"/>
            </a:endParaRPr>
          </a:p>
          <a:p>
            <a:pPr>
              <a:lnSpc>
                <a:spcPct val="70000"/>
              </a:lnSpc>
              <a:spcBef>
                <a:spcPts val="1200"/>
              </a:spcBef>
            </a:pPr>
            <a:r>
              <a:rPr lang="en-US" dirty="0" smtClean="0">
                <a:cs typeface="MS PGothic" panose="020B0600070205080204" pitchFamily="-107" charset="-128"/>
                <a:sym typeface="+mn-ea"/>
              </a:rPr>
              <a:t>Each symmetric key, referred to as a content-encryption key, is used only once</a:t>
            </a:r>
            <a:endParaRPr lang="en-US" dirty="0" smtClean="0">
              <a:cs typeface="MS PGothic" panose="020B0600070205080204" pitchFamily="-107" charset="-128"/>
            </a:endParaRPr>
          </a:p>
          <a:p>
            <a:pPr>
              <a:lnSpc>
                <a:spcPct val="70000"/>
              </a:lnSpc>
              <a:spcBef>
                <a:spcPts val="1200"/>
              </a:spcBef>
            </a:pPr>
            <a:endParaRPr lang="en-US" dirty="0" smtClean="0"/>
          </a:p>
          <a:p>
            <a:pPr>
              <a:lnSpc>
                <a:spcPct val="70000"/>
              </a:lnSpc>
              <a:spcBef>
                <a:spcPts val="1200"/>
              </a:spcBef>
            </a:pPr>
            <a:endParaRPr lang="zh-CN" altLang="en-US" dirty="0" smtClean="0">
              <a:solidFill>
                <a:schemeClr val="tx1"/>
              </a:solidFill>
              <a:sym typeface="+mn-ea"/>
            </a:endParaRPr>
          </a:p>
          <a:p>
            <a:pPr lvl="0">
              <a:lnSpc>
                <a:spcPct val="130000"/>
              </a:lnSpc>
              <a:buFont typeface="Wingdings" panose="05000000000000000000" charset="0"/>
              <a:buChar char="Ø"/>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pic>
        <p:nvPicPr>
          <p:cNvPr id="5" name="Picture 4" descr="f0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b="10000"/>
              <a:stretch>
                <a:fillRect/>
              </a:stretch>
            </p:blipFill>
          </mc:Choice>
          <mc:Fallback>
            <p:blipFill>
              <a:blip r:embed="rId3"/>
              <a:srcRect b="10000"/>
              <a:stretch>
                <a:fillRect/>
              </a:stretch>
            </p:blipFill>
          </mc:Fallback>
        </mc:AlternateContent>
        <p:spPr>
          <a:xfrm>
            <a:off x="4984115" y="0"/>
            <a:ext cx="6710680" cy="6826885"/>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Rectangle 3"/>
          <p:cNvSpPr/>
          <p:nvPr>
            <p:ph idx="1"/>
          </p:nvPr>
        </p:nvSpPr>
        <p:spPr>
          <a:xfrm>
            <a:off x="1391285" y="1108075"/>
            <a:ext cx="9716770" cy="3672205"/>
          </a:xfrm>
        </p:spPr>
        <p:txBody>
          <a:bodyPr vert="horz" wrap="square" lIns="91440" tIns="45720" rIns="91440" bIns="45720" anchor="t" anchorCtr="0">
            <a:noAutofit/>
          </a:bodyPr>
          <a:p>
            <a:pPr>
              <a:lnSpc>
                <a:spcPct val="110000"/>
              </a:lnSpc>
              <a:spcBef>
                <a:spcPts val="1200"/>
              </a:spcBef>
              <a:buFont typeface="Wingdings" panose="05000000000000000000" charset="0"/>
              <a:buChar char="Ø"/>
            </a:pPr>
            <a:r>
              <a:rPr lang="en-US" altLang="zh-CN" dirty="0" smtClean="0">
                <a:solidFill>
                  <a:schemeClr val="tx1"/>
                </a:solidFill>
                <a:sym typeface="+mn-ea"/>
              </a:rPr>
              <a:t>3. </a:t>
            </a:r>
            <a:r>
              <a:rPr lang="zh-CN" altLang="en-US" dirty="0" smtClean="0">
                <a:solidFill>
                  <a:schemeClr val="tx1"/>
                </a:solidFill>
                <a:sym typeface="+mn-ea"/>
              </a:rPr>
              <a:t>电子邮件兼容性：如果消息被签名或者被加密，那么生成的签名值或者密文会是任意的</a:t>
            </a:r>
            <a:r>
              <a:rPr lang="en-US" altLang="zh-CN" dirty="0" smtClean="0">
                <a:solidFill>
                  <a:schemeClr val="tx1"/>
                </a:solidFill>
                <a:sym typeface="+mn-ea"/>
              </a:rPr>
              <a:t>8</a:t>
            </a:r>
            <a:r>
              <a:rPr lang="zh-CN" altLang="en-US" dirty="0" smtClean="0">
                <a:solidFill>
                  <a:schemeClr val="tx1"/>
                </a:solidFill>
                <a:sym typeface="+mn-ea"/>
              </a:rPr>
              <a:t>位</a:t>
            </a:r>
            <a:r>
              <a:rPr lang="zh-CN" altLang="en-US" dirty="0" smtClean="0">
                <a:solidFill>
                  <a:schemeClr val="tx1"/>
                </a:solidFill>
                <a:sym typeface="+mn-ea"/>
              </a:rPr>
              <a:t>字节流。</a:t>
            </a:r>
            <a:endParaRPr lang="zh-CN" altLang="en-US" dirty="0" smtClean="0">
              <a:solidFill>
                <a:schemeClr val="tx1"/>
              </a:solidFill>
              <a:sym typeface="+mn-ea"/>
            </a:endParaRPr>
          </a:p>
          <a:p>
            <a:pPr>
              <a:lnSpc>
                <a:spcPct val="110000"/>
              </a:lnSpc>
              <a:spcBef>
                <a:spcPts val="1200"/>
              </a:spcBef>
            </a:pPr>
            <a:r>
              <a:rPr lang="zh-CN" altLang="en-US" dirty="0" smtClean="0">
                <a:solidFill>
                  <a:schemeClr val="tx1"/>
                </a:solidFill>
                <a:sym typeface="+mn-ea"/>
              </a:rPr>
              <a:t>然而，许多电子邮件系统只允许使用由</a:t>
            </a:r>
            <a:r>
              <a:rPr lang="en-US" altLang="zh-CN" dirty="0" smtClean="0">
                <a:solidFill>
                  <a:schemeClr val="tx1"/>
                </a:solidFill>
                <a:sym typeface="+mn-ea"/>
              </a:rPr>
              <a:t>ASCII</a:t>
            </a:r>
            <a:r>
              <a:rPr lang="zh-CN" altLang="en-US" dirty="0" smtClean="0">
                <a:solidFill>
                  <a:schemeClr val="tx1"/>
                </a:solidFill>
                <a:sym typeface="+mn-ea"/>
              </a:rPr>
              <a:t>文本组成的数据</a:t>
            </a:r>
            <a:r>
              <a:rPr lang="zh-CN" altLang="en-US" dirty="0" smtClean="0">
                <a:solidFill>
                  <a:schemeClr val="tx1"/>
                </a:solidFill>
                <a:sym typeface="+mn-ea"/>
              </a:rPr>
              <a:t>分组。</a:t>
            </a:r>
            <a:endParaRPr lang="zh-CN" altLang="en-US" dirty="0" smtClean="0">
              <a:solidFill>
                <a:schemeClr val="tx1"/>
              </a:solidFill>
              <a:sym typeface="+mn-ea"/>
            </a:endParaRPr>
          </a:p>
          <a:p>
            <a:pPr>
              <a:lnSpc>
                <a:spcPct val="110000"/>
              </a:lnSpc>
              <a:spcBef>
                <a:spcPts val="1200"/>
              </a:spcBef>
            </a:pPr>
            <a:r>
              <a:rPr lang="en-US" altLang="zh-CN" dirty="0" smtClean="0">
                <a:solidFill>
                  <a:schemeClr val="tx1"/>
                </a:solidFill>
                <a:sym typeface="+mn-ea"/>
              </a:rPr>
              <a:t>S/MIME</a:t>
            </a:r>
            <a:r>
              <a:rPr lang="zh-CN" altLang="en-US" dirty="0" smtClean="0">
                <a:solidFill>
                  <a:schemeClr val="tx1"/>
                </a:solidFill>
                <a:sym typeface="+mn-ea"/>
              </a:rPr>
              <a:t>提供将原</a:t>
            </a:r>
            <a:r>
              <a:rPr lang="en-US" altLang="zh-CN" dirty="0" smtClean="0">
                <a:solidFill>
                  <a:schemeClr val="tx1"/>
                </a:solidFill>
                <a:sym typeface="+mn-ea"/>
              </a:rPr>
              <a:t>8</a:t>
            </a:r>
            <a:r>
              <a:rPr lang="zh-CN" altLang="en-US" dirty="0" smtClean="0">
                <a:solidFill>
                  <a:schemeClr val="tx1"/>
                </a:solidFill>
                <a:sym typeface="+mn-ea"/>
              </a:rPr>
              <a:t>位字节二进制流传换成可打印的</a:t>
            </a:r>
            <a:r>
              <a:rPr lang="en-US" altLang="zh-CN" dirty="0" smtClean="0">
                <a:solidFill>
                  <a:schemeClr val="tx1"/>
                </a:solidFill>
                <a:sym typeface="+mn-ea"/>
              </a:rPr>
              <a:t>ASCII</a:t>
            </a:r>
            <a:r>
              <a:rPr lang="zh-CN" altLang="en-US" dirty="0" smtClean="0">
                <a:solidFill>
                  <a:schemeClr val="tx1"/>
                </a:solidFill>
                <a:sym typeface="+mn-ea"/>
              </a:rPr>
              <a:t>字符流的服务</a:t>
            </a:r>
            <a:r>
              <a:rPr lang="en-US" altLang="zh-CN" dirty="0" smtClean="0">
                <a:solidFill>
                  <a:schemeClr val="tx1"/>
                </a:solidFill>
                <a:sym typeface="+mn-ea"/>
              </a:rPr>
              <a:t>——Base64</a:t>
            </a:r>
            <a:r>
              <a:rPr lang="zh-CN" altLang="en-US" dirty="0" smtClean="0">
                <a:solidFill>
                  <a:schemeClr val="tx1"/>
                </a:solidFill>
                <a:sym typeface="+mn-ea"/>
              </a:rPr>
              <a:t>编码</a:t>
            </a:r>
            <a:r>
              <a:rPr lang="zh-CN" altLang="en-US" dirty="0" smtClean="0">
                <a:solidFill>
                  <a:schemeClr val="tx1"/>
                </a:solidFill>
                <a:sym typeface="+mn-ea"/>
              </a:rPr>
              <a:t>转换。</a:t>
            </a:r>
            <a:endParaRPr lang="zh-CN" altLang="en-US" dirty="0" smtClean="0">
              <a:solidFill>
                <a:schemeClr val="tx1"/>
              </a:solidFill>
              <a:sym typeface="+mn-ea"/>
            </a:endParaRPr>
          </a:p>
          <a:p>
            <a:pPr lvl="0">
              <a:lnSpc>
                <a:spcPct val="130000"/>
              </a:lnSpc>
              <a:buFont typeface="Wingdings" panose="05000000000000000000" charset="0"/>
              <a:buChar char="Ø"/>
            </a:pP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19.4.1</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Rectangle 3"/>
          <p:cNvSpPr/>
          <p:nvPr>
            <p:ph idx="1"/>
          </p:nvPr>
        </p:nvSpPr>
        <p:spPr>
          <a:xfrm>
            <a:off x="1391285" y="1108075"/>
            <a:ext cx="9716770" cy="3672205"/>
          </a:xfrm>
        </p:spPr>
        <p:txBody>
          <a:bodyPr vert="horz" wrap="square" lIns="91440" tIns="45720" rIns="91440" bIns="45720" anchor="t" anchorCtr="0">
            <a:noAutofit/>
          </a:bodyPr>
          <a:p>
            <a:pPr>
              <a:lnSpc>
                <a:spcPct val="110000"/>
              </a:lnSpc>
              <a:spcBef>
                <a:spcPts val="1200"/>
              </a:spcBef>
              <a:buFont typeface="Wingdings" panose="05000000000000000000" charset="0"/>
              <a:buChar char="Ø"/>
            </a:pPr>
            <a:r>
              <a:rPr lang="en-US" altLang="zh-CN" dirty="0" smtClean="0">
                <a:solidFill>
                  <a:schemeClr val="tx1"/>
                </a:solidFill>
                <a:sym typeface="+mn-ea"/>
              </a:rPr>
              <a:t>4. </a:t>
            </a:r>
            <a:r>
              <a:rPr lang="zh-CN" altLang="en-US" dirty="0" smtClean="0">
                <a:solidFill>
                  <a:schemeClr val="tx1"/>
                </a:solidFill>
                <a:sym typeface="+mn-ea"/>
              </a:rPr>
              <a:t>压缩：</a:t>
            </a:r>
            <a:endParaRPr lang="en-US" altLang="zh-CN" dirty="0" smtClean="0">
              <a:sym typeface="+mn-ea"/>
            </a:endParaRPr>
          </a:p>
          <a:p>
            <a:pPr lvl="1">
              <a:lnSpc>
                <a:spcPct val="130000"/>
              </a:lnSpc>
              <a:buFont typeface="Arial" panose="020B0604020202020204" pitchFamily="34" charset="0"/>
              <a:buChar char="•"/>
            </a:pPr>
            <a:endParaRPr lang="zh-CN" altLang="en-US" dirty="0" smtClean="0">
              <a:sym typeface="+mn-ea"/>
            </a:endParaRPr>
          </a:p>
        </p:txBody>
      </p:sp>
      <p:sp>
        <p:nvSpPr>
          <p:cNvPr id="54275" name="Rectangle 3"/>
          <p:cNvSpPr>
            <a:spLocks noGrp="1" noChangeArrowheads="1"/>
          </p:cNvSpPr>
          <p:nvPr/>
        </p:nvSpPr>
        <p:spPr>
          <a:xfrm>
            <a:off x="1390650" y="1610995"/>
            <a:ext cx="9272905" cy="465391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ts val="2400"/>
              </a:spcBef>
              <a:spcAft>
                <a:spcPct val="0"/>
              </a:spcAft>
              <a:buClr>
                <a:srgbClr val="BAABE3"/>
              </a:buClr>
              <a:buFont typeface="Candara" panose="020E0502030303020204" pitchFamily="-84" charset="0"/>
              <a:buChar char="•"/>
              <a:defRPr sz="2800" kern="1200">
                <a:solidFill>
                  <a:schemeClr val="tx2"/>
                </a:solidFill>
                <a:latin typeface="+mn-lt"/>
                <a:ea typeface="MS PGothic" panose="020B0600070205080204" pitchFamily="-107" charset="-128"/>
                <a:cs typeface="MS PGothic" panose="020B0600070205080204" pitchFamily="-107" charset="-128"/>
              </a:defRPr>
            </a:lvl1pPr>
            <a:lvl2pPr marL="685800" indent="-336550" algn="l" rtl="0" fontAlgn="base">
              <a:spcBef>
                <a:spcPts val="600"/>
              </a:spcBef>
              <a:spcAft>
                <a:spcPct val="0"/>
              </a:spcAft>
              <a:buClr>
                <a:schemeClr val="tx2"/>
              </a:buClr>
              <a:buFont typeface="Candara" panose="020E0502030303020204" pitchFamily="-84" charset="0"/>
              <a:buChar char="•"/>
              <a:defRPr sz="2600" kern="1200">
                <a:solidFill>
                  <a:schemeClr val="tx2"/>
                </a:solidFill>
                <a:latin typeface="+mn-lt"/>
                <a:ea typeface="MS PGothic" panose="020B0600070205080204" pitchFamily="-107" charset="-128"/>
                <a:cs typeface="+mn-cs"/>
              </a:defRPr>
            </a:lvl2pPr>
            <a:lvl3pPr marL="1035050" indent="-349250" algn="l" rtl="0" fontAlgn="base">
              <a:spcBef>
                <a:spcPts val="600"/>
              </a:spcBef>
              <a:spcAft>
                <a:spcPct val="0"/>
              </a:spcAft>
              <a:buClr>
                <a:srgbClr val="BAABE3"/>
              </a:buClr>
              <a:buFont typeface="Candara" panose="020E0502030303020204" pitchFamily="-84" charset="0"/>
              <a:buChar char="•"/>
              <a:defRPr sz="2400" kern="1200">
                <a:solidFill>
                  <a:schemeClr val="tx2"/>
                </a:solidFill>
                <a:latin typeface="+mn-lt"/>
                <a:ea typeface="MS PGothic" panose="020B0600070205080204" pitchFamily="-107" charset="-128"/>
                <a:cs typeface="+mn-cs"/>
              </a:defRPr>
            </a:lvl3pPr>
            <a:lvl4pPr marL="1371600" indent="-336550" algn="l" rtl="0" fontAlgn="base">
              <a:spcBef>
                <a:spcPts val="600"/>
              </a:spcBef>
              <a:spcAft>
                <a:spcPct val="0"/>
              </a:spcAft>
              <a:buClr>
                <a:schemeClr val="tx2"/>
              </a:buClr>
              <a:buFont typeface="Candara" panose="020E0502030303020204" pitchFamily="-84" charset="0"/>
              <a:buChar char="•"/>
              <a:defRPr sz="2200" kern="1200">
                <a:solidFill>
                  <a:schemeClr val="tx2"/>
                </a:solidFill>
                <a:latin typeface="+mn-lt"/>
                <a:ea typeface="MS PGothic" panose="020B0600070205080204" pitchFamily="-107" charset="-128"/>
                <a:cs typeface="+mn-cs"/>
              </a:defRPr>
            </a:lvl4pPr>
            <a:lvl5pPr marL="1720850" indent="-349250" algn="l" rtl="0" fontAlgn="base">
              <a:spcBef>
                <a:spcPts val="600"/>
              </a:spcBef>
              <a:spcAft>
                <a:spcPct val="0"/>
              </a:spcAft>
              <a:buClr>
                <a:srgbClr val="BAABE3"/>
              </a:buClr>
              <a:buFont typeface="Candara" panose="020E0502030303020204" pitchFamily="-84" charset="0"/>
              <a:buChar char="•"/>
              <a:defRPr sz="2000" kern="1200">
                <a:solidFill>
                  <a:schemeClr val="tx2"/>
                </a:solidFill>
                <a:latin typeface="+mn-lt"/>
                <a:ea typeface="MS PGothic" panose="020B0600070205080204" pitchFamily="-107"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pPr>
            <a:r>
              <a:rPr lang="en-US" dirty="0" smtClean="0"/>
              <a:t>S/MIME offers the ability to compress a message</a:t>
            </a:r>
            <a:endParaRPr lang="en-US" dirty="0" smtClean="0"/>
          </a:p>
          <a:p>
            <a:pPr>
              <a:spcBef>
                <a:spcPts val="0"/>
              </a:spcBef>
            </a:pPr>
            <a:r>
              <a:rPr lang="en-US" dirty="0" smtClean="0"/>
              <a:t>This has the benefit of saving space both for email transmission and for file storage</a:t>
            </a:r>
            <a:endParaRPr lang="en-US" dirty="0" smtClean="0"/>
          </a:p>
          <a:p>
            <a:pPr>
              <a:spcBef>
                <a:spcPts val="0"/>
              </a:spcBef>
            </a:pPr>
            <a:r>
              <a:rPr lang="en-US" dirty="0" smtClean="0"/>
              <a:t>Compression can be applied in any order with respect to the signing and message encryption operations</a:t>
            </a:r>
            <a:endParaRPr lang="en-US" dirty="0" smtClean="0"/>
          </a:p>
          <a:p>
            <a:pPr>
              <a:spcBef>
                <a:spcPts val="0"/>
              </a:spcBef>
            </a:pPr>
            <a:r>
              <a:rPr lang="en-US" dirty="0" smtClean="0"/>
              <a:t>RFC 5751 provides these guidelines:</a:t>
            </a:r>
            <a:endParaRPr lang="en-US" dirty="0" smtClean="0"/>
          </a:p>
          <a:p>
            <a:pPr lvl="1">
              <a:spcBef>
                <a:spcPts val="0"/>
              </a:spcBef>
            </a:pPr>
            <a:r>
              <a:rPr lang="en-US" sz="2400" dirty="0" smtClean="0"/>
              <a:t>Compression of binary encoded encrypted data is discouraged, since it will not yield significant compression; Base64 encrypted data could very well benefit, however</a:t>
            </a:r>
            <a:endParaRPr lang="en-US" sz="2400" dirty="0" smtClean="0"/>
          </a:p>
          <a:p>
            <a:pPr lvl="1">
              <a:spcBef>
                <a:spcPts val="0"/>
              </a:spcBef>
            </a:pPr>
            <a:r>
              <a:rPr lang="en-US" sz="2400" dirty="0" smtClean="0"/>
              <a:t>If a </a:t>
            </a:r>
            <a:r>
              <a:rPr lang="en-US" sz="2400" dirty="0" err="1" smtClean="0"/>
              <a:t>lossy</a:t>
            </a:r>
            <a:r>
              <a:rPr lang="en-US" sz="2400" dirty="0" smtClean="0"/>
              <a:t> compression algorithm is used with signing, you will need to compress first, then sign</a:t>
            </a:r>
            <a:endParaRPr lang="en-US" sz="2400" dirty="0" smtClean="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19.4.2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的证书处理过程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Rectangle 3"/>
          <p:cNvSpPr/>
          <p:nvPr>
            <p:ph idx="1"/>
          </p:nvPr>
        </p:nvSpPr>
        <p:spPr>
          <a:xfrm>
            <a:off x="1391285" y="1108075"/>
            <a:ext cx="9716770" cy="3672205"/>
          </a:xfrm>
        </p:spPr>
        <p:txBody>
          <a:bodyPr vert="horz" wrap="square" lIns="91440" tIns="45720" rIns="91440" bIns="45720" anchor="t" anchorCtr="0">
            <a:noAutofit/>
          </a:bodyPr>
          <a:p>
            <a:pPr lvl="1">
              <a:lnSpc>
                <a:spcPct val="130000"/>
              </a:lnSpc>
              <a:buFont typeface="Arial" panose="020B0604020202020204" pitchFamily="34" charset="0"/>
              <a:buChar char="•"/>
            </a:pPr>
            <a:r>
              <a:rPr lang="en-AU" sz="2800" dirty="0" smtClean="0">
                <a:sym typeface="+mn-ea"/>
              </a:rPr>
              <a:t>S/MIME uses public-key certificates that conform to version 3 of X.509</a:t>
            </a:r>
            <a:endParaRPr lang="en-AU" sz="2800" dirty="0" smtClean="0"/>
          </a:p>
          <a:p>
            <a:pPr lvl="1">
              <a:lnSpc>
                <a:spcPct val="130000"/>
              </a:lnSpc>
              <a:buFont typeface="Arial" panose="020B0604020202020204" pitchFamily="34" charset="0"/>
              <a:buChar char="•"/>
            </a:pPr>
            <a:r>
              <a:rPr lang="en-AU" sz="2800" dirty="0" smtClean="0">
                <a:sym typeface="+mn-ea"/>
              </a:rPr>
              <a:t>S/MIME managers and/or users must configure each client with a list of trusted keys and with certificate revocation lists</a:t>
            </a:r>
            <a:endParaRPr lang="en-AU" sz="2800" dirty="0" smtClean="0"/>
          </a:p>
          <a:p>
            <a:pPr lvl="1"/>
            <a:r>
              <a:rPr lang="en-AU" sz="2800" dirty="0" smtClean="0">
                <a:sym typeface="+mn-ea"/>
              </a:rPr>
              <a:t>The responsibility is local for maintaining the certificates needed to verify incoming signatures and to encrypt outgoing messages</a:t>
            </a:r>
            <a:endParaRPr lang="en-AU" sz="2800" dirty="0" smtClean="0"/>
          </a:p>
          <a:p>
            <a:pPr lvl="1">
              <a:lnSpc>
                <a:spcPct val="130000"/>
              </a:lnSpc>
              <a:buFont typeface="Arial" panose="020B0604020202020204" pitchFamily="34" charset="0"/>
              <a:buChar char="•"/>
            </a:pPr>
            <a:r>
              <a:rPr lang="en-AU" sz="2800" dirty="0" smtClean="0">
                <a:sym typeface="+mn-ea"/>
              </a:rPr>
              <a:t>The certificates are signed by certification authorities </a:t>
            </a:r>
            <a:endParaRPr lang="en-AU" sz="2800" dirty="0" smtClean="0"/>
          </a:p>
          <a:p>
            <a:pPr lvl="1">
              <a:lnSpc>
                <a:spcPct val="130000"/>
              </a:lnSpc>
              <a:buFont typeface="Arial" panose="020B0604020202020204" pitchFamily="34" charset="0"/>
              <a:buChar char="•"/>
            </a:pPr>
            <a:endParaRPr lang="zh-CN" altLang="en-US" sz="2800" dirty="0" smtClean="0">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19.4.2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S/MIME</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的证书处理过程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sym typeface="+mn-ea"/>
              </a:rPr>
              <a:t>S/MIME</a:t>
            </a:r>
            <a:r>
              <a:rPr lang="zh-CN" altLang="en-US" dirty="0">
                <a:sym typeface="+mn-ea"/>
              </a:rPr>
              <a:t>的用户需要执行以下密钥管理</a:t>
            </a:r>
            <a:r>
              <a:rPr lang="zh-CN" altLang="en-US" dirty="0">
                <a:sym typeface="+mn-ea"/>
              </a:rPr>
              <a:t>操作：</a:t>
            </a:r>
            <a:endParaRPr lang="zh-CN" altLang="en-US" dirty="0">
              <a:sym typeface="+mn-ea"/>
            </a:endParaRPr>
          </a:p>
          <a:p>
            <a:pPr lvl="1">
              <a:lnSpc>
                <a:spcPct val="130000"/>
              </a:lnSpc>
              <a:buFont typeface="Wingdings" panose="05000000000000000000" pitchFamily="2" charset="2"/>
              <a:buChar char="Ø"/>
            </a:pPr>
            <a:r>
              <a:rPr lang="en-US" altLang="zh-CN" dirty="0">
                <a:sym typeface="+mn-ea"/>
              </a:rPr>
              <a:t>1. </a:t>
            </a:r>
            <a:r>
              <a:rPr lang="zh-CN" altLang="en-US" dirty="0">
                <a:sym typeface="+mn-ea"/>
              </a:rPr>
              <a:t>密钥生成：与某些行政管理机构相关的用户必须能够单独生成</a:t>
            </a:r>
            <a:r>
              <a:rPr lang="en-US" altLang="zh-CN" dirty="0">
                <a:sym typeface="+mn-ea"/>
              </a:rPr>
              <a:t>Diffie-Hellman</a:t>
            </a:r>
            <a:r>
              <a:rPr lang="zh-CN" altLang="en-US" dirty="0">
                <a:sym typeface="+mn-ea"/>
              </a:rPr>
              <a:t>和</a:t>
            </a:r>
            <a:r>
              <a:rPr lang="en-US" altLang="zh-CN" dirty="0">
                <a:sym typeface="+mn-ea"/>
              </a:rPr>
              <a:t>DSS</a:t>
            </a:r>
            <a:r>
              <a:rPr lang="zh-CN" altLang="en-US" dirty="0">
                <a:sym typeface="+mn-ea"/>
              </a:rPr>
              <a:t>密钥对，并且能够生成</a:t>
            </a:r>
            <a:r>
              <a:rPr lang="en-US" altLang="zh-CN" dirty="0">
                <a:sym typeface="+mn-ea"/>
              </a:rPr>
              <a:t>RSA</a:t>
            </a:r>
            <a:r>
              <a:rPr lang="zh-CN" altLang="en-US" dirty="0">
                <a:sym typeface="+mn-ea"/>
              </a:rPr>
              <a:t>密钥对。并且生成的密钥对长度和随机性可以得到</a:t>
            </a:r>
            <a:r>
              <a:rPr lang="zh-CN" altLang="en-US" dirty="0">
                <a:sym typeface="+mn-ea"/>
              </a:rPr>
              <a:t>保证。</a:t>
            </a:r>
            <a:endParaRPr lang="zh-CN" altLang="en-US" dirty="0">
              <a:sym typeface="+mn-ea"/>
            </a:endParaRPr>
          </a:p>
          <a:p>
            <a:pPr lvl="1">
              <a:lnSpc>
                <a:spcPct val="130000"/>
              </a:lnSpc>
              <a:buFont typeface="Wingdings" panose="05000000000000000000" pitchFamily="2" charset="2"/>
              <a:buChar char="Ø"/>
            </a:pPr>
            <a:r>
              <a:rPr lang="en-US" altLang="zh-CN" dirty="0">
                <a:sym typeface="+mn-ea"/>
              </a:rPr>
              <a:t>2. </a:t>
            </a:r>
            <a:r>
              <a:rPr lang="zh-CN" altLang="en-US" dirty="0">
                <a:sym typeface="+mn-ea"/>
              </a:rPr>
              <a:t>注册：要获得</a:t>
            </a:r>
            <a:r>
              <a:rPr lang="en-US" altLang="zh-CN" dirty="0">
                <a:sym typeface="+mn-ea"/>
              </a:rPr>
              <a:t>X.509</a:t>
            </a:r>
            <a:r>
              <a:rPr lang="zh-CN" altLang="en-US" dirty="0">
                <a:sym typeface="+mn-ea"/>
              </a:rPr>
              <a:t>公钥证书，用户的公钥必须到证书颁发机构</a:t>
            </a:r>
            <a:r>
              <a:rPr lang="en-US" altLang="zh-CN" dirty="0">
                <a:sym typeface="+mn-ea"/>
              </a:rPr>
              <a:t>CA</a:t>
            </a:r>
            <a:r>
              <a:rPr lang="zh-CN" altLang="en-US" dirty="0">
                <a:sym typeface="+mn-ea"/>
              </a:rPr>
              <a:t>进行</a:t>
            </a:r>
            <a:r>
              <a:rPr lang="zh-CN" altLang="en-US" dirty="0">
                <a:sym typeface="+mn-ea"/>
              </a:rPr>
              <a:t>注册。</a:t>
            </a:r>
            <a:endParaRPr lang="zh-CN" altLang="en-US" dirty="0">
              <a:sym typeface="+mn-ea"/>
            </a:endParaRPr>
          </a:p>
          <a:p>
            <a:pPr lvl="1">
              <a:lnSpc>
                <a:spcPct val="130000"/>
              </a:lnSpc>
              <a:buFont typeface="Wingdings" panose="05000000000000000000" pitchFamily="2" charset="2"/>
              <a:buChar char="Ø"/>
            </a:pPr>
            <a:r>
              <a:rPr lang="en-US" altLang="zh-CN" dirty="0">
                <a:sym typeface="+mn-ea"/>
              </a:rPr>
              <a:t>3.</a:t>
            </a:r>
            <a:r>
              <a:rPr lang="zh-CN" altLang="en-US" dirty="0">
                <a:sym typeface="+mn-ea"/>
              </a:rPr>
              <a:t>证书存储和检索：要验证传入签名并加密流出消息，用户需要存取本地证书列表。证书列表需要由用户或代表用户的本地管理实体</a:t>
            </a:r>
            <a:r>
              <a:rPr lang="zh-CN" altLang="en-US" dirty="0">
                <a:sym typeface="+mn-ea"/>
              </a:rPr>
              <a:t>维护。</a:t>
            </a:r>
            <a:endParaRPr lang="zh-CN" altLang="en-US" dirty="0">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19144" y="1979330"/>
            <a:ext cx="9630546" cy="656792"/>
          </a:xfrm>
        </p:spPr>
        <p:txBody>
          <a:bodyPr>
            <a:normAutofit fontScale="90000"/>
          </a:bodyPr>
          <a:lstStyle/>
          <a:p>
            <a:r>
              <a:rPr lang="en-US" altLang="zh-CN" b="0" dirty="0"/>
              <a:t>Weak Links in Authentication Chains: A Large-scale Analysis of Email Sender Spoofing Attacks </a:t>
            </a:r>
            <a:endParaRPr lang="zh-CN" altLang="en-US" b="0" dirty="0"/>
          </a:p>
        </p:txBody>
      </p:sp>
      <p:cxnSp>
        <p:nvCxnSpPr>
          <p:cNvPr id="8" name="直接连接符 7"/>
          <p:cNvCxnSpPr/>
          <p:nvPr/>
        </p:nvCxnSpPr>
        <p:spPr>
          <a:xfrm>
            <a:off x="2678176" y="2636122"/>
            <a:ext cx="77124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584242" y="5247366"/>
            <a:ext cx="1023516" cy="889909"/>
          </a:xfrm>
          <a:prstGeom prst="rect">
            <a:avLst/>
          </a:prstGeom>
          <a:noFill/>
          <a:ln w="117475">
            <a:noFill/>
          </a:ln>
        </p:spPr>
        <p:txBody>
          <a:bodyPr wrap="none" rtlCol="0">
            <a:prstTxWarp prst="textPlain">
              <a:avLst/>
            </a:prstTxWarp>
            <a:spAutoFit/>
          </a:bodyPr>
          <a:lstStyle/>
          <a:p>
            <a:r>
              <a:rPr lang="en-US" altLang="zh-CN" spc="100" dirty="0">
                <a:solidFill>
                  <a:schemeClr val="accent2"/>
                </a:solidFill>
                <a:latin typeface="Impact" panose="020B0806030902050204" pitchFamily="34" charset="0"/>
                <a:cs typeface="Arial" panose="020B0604020202020204" pitchFamily="34" charset="0"/>
              </a:rPr>
              <a:t>/05</a:t>
            </a:r>
            <a:endParaRPr lang="zh-CN" altLang="en-US" spc="100" dirty="0">
              <a:solidFill>
                <a:schemeClr val="accent2"/>
              </a:solidFill>
              <a:latin typeface="Impact" panose="020B080603090205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攻击概述：</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5" name="文本框 4"/>
          <p:cNvSpPr txBox="1"/>
          <p:nvPr/>
        </p:nvSpPr>
        <p:spPr>
          <a:xfrm>
            <a:off x="669924" y="1379621"/>
            <a:ext cx="10844570" cy="1497205"/>
          </a:xfrm>
          <a:prstGeom prst="rect">
            <a:avLst/>
          </a:prstGeom>
          <a:noFill/>
        </p:spPr>
        <p:txBody>
          <a:bodyPr wrap="square" rtlCol="0">
            <a:spAutoFit/>
          </a:bodyPr>
          <a:lstStyle/>
          <a:p>
            <a:pPr indent="457200">
              <a:lnSpc>
                <a:spcPct val="130000"/>
              </a:lnSpc>
            </a:pPr>
            <a:r>
              <a:rPr lang="zh-CN" altLang="en-US" dirty="0"/>
              <a:t>电子邮件的安全性以及身份验证涉及到多个协议，多个角色以及多种服务，任何一方的问题都有可能造成针对电子邮件安全性的攻击，文中通过系统的分析电子邮件系统以及不同阶段存在的问题，然后进行结合，从而实现对电子邮件的真实性进行攻击，文中提到了</a:t>
            </a:r>
            <a:r>
              <a:rPr lang="en-US" altLang="zh-CN" dirty="0"/>
              <a:t>14</a:t>
            </a:r>
            <a:r>
              <a:rPr lang="zh-CN" altLang="en-US" dirty="0"/>
              <a:t>中电子邮件欺骗攻击，并且对</a:t>
            </a:r>
            <a:r>
              <a:rPr lang="en-US" altLang="zh-CN" dirty="0"/>
              <a:t>30</a:t>
            </a:r>
            <a:r>
              <a:rPr lang="zh-CN" altLang="en-US" dirty="0"/>
              <a:t>个热门的电子邮件服务以及</a:t>
            </a:r>
            <a:r>
              <a:rPr lang="en-US" altLang="zh-CN" dirty="0"/>
              <a:t>23</a:t>
            </a:r>
            <a:r>
              <a:rPr lang="zh-CN" altLang="en-US" dirty="0"/>
              <a:t>个电子邮件客户端进行测试，其中都找到了容易收到的攻击。</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背景知识</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文本框 9"/>
          <p:cNvSpPr txBox="1"/>
          <p:nvPr/>
        </p:nvSpPr>
        <p:spPr>
          <a:xfrm>
            <a:off x="566346" y="1282856"/>
            <a:ext cx="5528859" cy="4738092"/>
          </a:xfrm>
          <a:prstGeom prst="rect">
            <a:avLst/>
          </a:prstGeom>
          <a:noFill/>
        </p:spPr>
        <p:txBody>
          <a:bodyPr wrap="square" rtlCol="0">
            <a:spAutoFit/>
          </a:bodyPr>
          <a:lstStyle/>
          <a:p>
            <a:pPr>
              <a:lnSpc>
                <a:spcPct val="130000"/>
              </a:lnSpc>
            </a:pPr>
            <a:r>
              <a:rPr lang="zh-CN" altLang="en-US" dirty="0"/>
              <a:t> 在</a:t>
            </a:r>
            <a:r>
              <a:rPr lang="en-US" altLang="zh-CN" dirty="0"/>
              <a:t>SMTP</a:t>
            </a:r>
            <a:r>
              <a:rPr lang="zh-CN" altLang="en-US" dirty="0"/>
              <a:t>通信过程中，发件人的身份包含在多个字段中：</a:t>
            </a:r>
            <a:endParaRPr lang="en-US" altLang="zh-CN" dirty="0"/>
          </a:p>
          <a:p>
            <a:pPr marL="742950" lvl="1" indent="-285750">
              <a:lnSpc>
                <a:spcPct val="130000"/>
              </a:lnSpc>
              <a:buFont typeface="Arial" panose="020B0604020202020204" pitchFamily="34" charset="0"/>
              <a:buChar char="•"/>
            </a:pPr>
            <a:r>
              <a:rPr lang="en-US" altLang="zh-CN" b="1" dirty="0"/>
              <a:t>Auth username</a:t>
            </a:r>
            <a:r>
              <a:rPr lang="zh-CN" altLang="en-US" b="1" dirty="0"/>
              <a:t>：</a:t>
            </a:r>
            <a:r>
              <a:rPr lang="zh-CN" altLang="en-US" dirty="0"/>
              <a:t>在</a:t>
            </a:r>
            <a:r>
              <a:rPr lang="en-US" altLang="zh-CN" dirty="0"/>
              <a:t>Auth</a:t>
            </a:r>
            <a:r>
              <a:rPr lang="zh-CN" altLang="en-US" dirty="0"/>
              <a:t>命令中的</a:t>
            </a:r>
            <a:r>
              <a:rPr lang="en-US" altLang="zh-CN" dirty="0"/>
              <a:t>username</a:t>
            </a:r>
            <a:r>
              <a:rPr lang="zh-CN" altLang="en-US" dirty="0"/>
              <a:t>被用于认证客户端身份。</a:t>
            </a:r>
            <a:endParaRPr lang="en-US" altLang="zh-CN" dirty="0"/>
          </a:p>
          <a:p>
            <a:pPr marL="742950" lvl="1" indent="-285750">
              <a:lnSpc>
                <a:spcPct val="130000"/>
              </a:lnSpc>
              <a:buFont typeface="Arial" panose="020B0604020202020204" pitchFamily="34" charset="0"/>
              <a:buChar char="•"/>
            </a:pPr>
            <a:r>
              <a:rPr lang="en-US" altLang="zh-CN" b="1" dirty="0"/>
              <a:t>Mail From</a:t>
            </a:r>
            <a:r>
              <a:rPr lang="zh-CN" altLang="en-US" b="1" dirty="0"/>
              <a:t>：</a:t>
            </a:r>
            <a:r>
              <a:rPr lang="zh-CN" altLang="en-US" dirty="0"/>
              <a:t>在电子邮件信封上，用于传输过程中提示。</a:t>
            </a:r>
            <a:endParaRPr lang="en-US" altLang="zh-CN" dirty="0"/>
          </a:p>
          <a:p>
            <a:pPr marL="742950" lvl="1" indent="-285750">
              <a:lnSpc>
                <a:spcPct val="130000"/>
              </a:lnSpc>
              <a:buFont typeface="Arial" panose="020B0604020202020204" pitchFamily="34" charset="0"/>
              <a:buChar char="•"/>
            </a:pPr>
            <a:r>
              <a:rPr lang="en-US" altLang="zh-CN" b="1" dirty="0"/>
              <a:t>From</a:t>
            </a:r>
            <a:r>
              <a:rPr lang="zh-CN" altLang="en-US" b="1" dirty="0"/>
              <a:t>：</a:t>
            </a:r>
            <a:r>
              <a:rPr lang="zh-CN" altLang="en-US" dirty="0"/>
              <a:t>在电子邮件正文中，用来向用户展示发件人。</a:t>
            </a:r>
            <a:endParaRPr lang="en-US" altLang="zh-CN" dirty="0"/>
          </a:p>
          <a:p>
            <a:pPr marL="742950" lvl="1" indent="-285750">
              <a:lnSpc>
                <a:spcPct val="130000"/>
              </a:lnSpc>
              <a:buFont typeface="Arial" panose="020B0604020202020204" pitchFamily="34" charset="0"/>
              <a:buChar char="•"/>
            </a:pPr>
            <a:r>
              <a:rPr lang="en-US" altLang="zh-CN" b="1" dirty="0"/>
              <a:t>Sender</a:t>
            </a:r>
            <a:r>
              <a:rPr lang="zh-CN" altLang="en-US" b="1" dirty="0"/>
              <a:t>：</a:t>
            </a:r>
            <a:r>
              <a:rPr lang="zh-CN" altLang="en-US" dirty="0"/>
              <a:t>当</a:t>
            </a:r>
            <a:r>
              <a:rPr lang="en-US" altLang="zh-CN" dirty="0"/>
              <a:t>From</a:t>
            </a:r>
            <a:r>
              <a:rPr lang="zh-CN" altLang="en-US" dirty="0"/>
              <a:t>中有多个地址时，</a:t>
            </a:r>
            <a:r>
              <a:rPr lang="en-US" altLang="zh-CN" dirty="0"/>
              <a:t>Sender</a:t>
            </a:r>
            <a:r>
              <a:rPr lang="zh-CN" altLang="en-US" dirty="0"/>
              <a:t>用于标识真实的发送方。</a:t>
            </a:r>
            <a:endParaRPr lang="en-US" altLang="zh-CN" dirty="0"/>
          </a:p>
          <a:p>
            <a:pPr lvl="1">
              <a:lnSpc>
                <a:spcPct val="130000"/>
              </a:lnSpc>
            </a:pPr>
            <a:endParaRPr lang="en-US" altLang="zh-CN" dirty="0"/>
          </a:p>
          <a:p>
            <a:pPr>
              <a:lnSpc>
                <a:spcPct val="130000"/>
              </a:lnSpc>
            </a:pPr>
            <a:r>
              <a:rPr lang="zh-CN" altLang="en-US" dirty="0"/>
              <a:t>当这些字段不一致时，就给攻击者提供了电子邮件欺骗攻击的机会。</a:t>
            </a:r>
            <a:endParaRPr lang="en-US" altLang="zh-CN" dirty="0"/>
          </a:p>
        </p:txBody>
      </p:sp>
      <p:pic>
        <p:nvPicPr>
          <p:cNvPr id="6" name="图片 5"/>
          <p:cNvPicPr>
            <a:picLocks noChangeAspect="1"/>
          </p:cNvPicPr>
          <p:nvPr/>
        </p:nvPicPr>
        <p:blipFill>
          <a:blip r:embed="rId1"/>
          <a:stretch>
            <a:fillRect/>
          </a:stretch>
        </p:blipFill>
        <p:spPr>
          <a:xfrm>
            <a:off x="5943600" y="1951312"/>
            <a:ext cx="5528859" cy="34011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背景知识</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文本框 9"/>
          <p:cNvSpPr txBox="1"/>
          <p:nvPr/>
        </p:nvSpPr>
        <p:spPr>
          <a:xfrm>
            <a:off x="669923" y="1305340"/>
            <a:ext cx="10698662" cy="3879395"/>
          </a:xfrm>
          <a:prstGeom prst="rect">
            <a:avLst/>
          </a:prstGeom>
          <a:noFill/>
        </p:spPr>
        <p:txBody>
          <a:bodyPr wrap="square" rtlCol="0">
            <a:spAutoFit/>
          </a:bodyPr>
          <a:lstStyle/>
          <a:p>
            <a:pPr>
              <a:lnSpc>
                <a:spcPct val="150000"/>
              </a:lnSpc>
            </a:pPr>
            <a:r>
              <a:rPr lang="zh-CN" altLang="en-US" dirty="0"/>
              <a:t>电子邮件传输过程中的身份验证可以分为四个主要阶段：</a:t>
            </a:r>
            <a:endParaRPr lang="en-US" altLang="zh-CN" dirty="0"/>
          </a:p>
          <a:p>
            <a:pPr marL="800100" lvl="1" indent="-342900">
              <a:lnSpc>
                <a:spcPct val="150000"/>
              </a:lnSpc>
              <a:buFont typeface="+mj-lt"/>
              <a:buAutoNum type="arabicPeriod"/>
            </a:pPr>
            <a:r>
              <a:rPr lang="zh-CN" altLang="en-US" b="1" dirty="0"/>
              <a:t>电子邮件发送身份验证：</a:t>
            </a:r>
            <a:r>
              <a:rPr lang="zh-CN" altLang="en-US" dirty="0"/>
              <a:t>发送者使用</a:t>
            </a:r>
            <a:r>
              <a:rPr lang="en-US" altLang="zh-CN" dirty="0"/>
              <a:t>MUA</a:t>
            </a:r>
            <a:r>
              <a:rPr lang="zh-CN" altLang="en-US" dirty="0"/>
              <a:t>将邮件发送到发送方</a:t>
            </a:r>
            <a:r>
              <a:rPr lang="en-US" altLang="zh-CN" dirty="0"/>
              <a:t>MTA</a:t>
            </a:r>
            <a:r>
              <a:rPr lang="zh-CN" altLang="en-US" dirty="0"/>
              <a:t>时，发送方首先需要输入用户名和口令用于身份认证。在这个阶段，</a:t>
            </a:r>
            <a:r>
              <a:rPr lang="en-US" altLang="zh-CN" dirty="0"/>
              <a:t>MTA</a:t>
            </a:r>
            <a:r>
              <a:rPr lang="zh-CN" altLang="en-US" dirty="0"/>
              <a:t>不仅需要验证用户身份，还需要确保</a:t>
            </a:r>
            <a:r>
              <a:rPr lang="en-US" altLang="zh-CN" dirty="0"/>
              <a:t>Mail From</a:t>
            </a:r>
            <a:r>
              <a:rPr lang="zh-CN" altLang="en-US" dirty="0"/>
              <a:t>字段与</a:t>
            </a:r>
            <a:r>
              <a:rPr lang="en-US" altLang="zh-CN" dirty="0"/>
              <a:t>Auth username</a:t>
            </a:r>
            <a:r>
              <a:rPr lang="zh-CN" altLang="en-US" dirty="0"/>
              <a:t>一致。</a:t>
            </a:r>
            <a:endParaRPr lang="en-US" altLang="zh-CN" dirty="0"/>
          </a:p>
          <a:p>
            <a:pPr marL="800100" lvl="1" indent="-342900">
              <a:lnSpc>
                <a:spcPct val="130000"/>
              </a:lnSpc>
              <a:buFont typeface="+mj-lt"/>
              <a:buAutoNum type="arabicPeriod"/>
            </a:pPr>
            <a:r>
              <a:rPr lang="zh-CN" altLang="en-US" b="1" dirty="0"/>
              <a:t>电子邮件接收身份认证</a:t>
            </a:r>
            <a:r>
              <a:rPr lang="zh-CN" altLang="en-US" dirty="0"/>
              <a:t>：当接收方</a:t>
            </a:r>
            <a:r>
              <a:rPr lang="en-US" altLang="zh-CN" dirty="0"/>
              <a:t>MTA</a:t>
            </a:r>
            <a:r>
              <a:rPr lang="zh-CN" altLang="en-US" dirty="0"/>
              <a:t>接收到电子邮件时，需要使用</a:t>
            </a:r>
            <a:r>
              <a:rPr lang="en-US" altLang="zh-CN" dirty="0"/>
              <a:t>SPF</a:t>
            </a:r>
            <a:r>
              <a:rPr lang="zh-CN" altLang="en-US" dirty="0"/>
              <a:t>、</a:t>
            </a:r>
            <a:r>
              <a:rPr lang="en-US" altLang="zh-CN" dirty="0"/>
              <a:t>DKIM</a:t>
            </a:r>
            <a:r>
              <a:rPr lang="zh-CN" altLang="en-US" dirty="0"/>
              <a:t>、</a:t>
            </a:r>
            <a:r>
              <a:rPr lang="en-US" altLang="zh-CN" dirty="0"/>
              <a:t>DMARC</a:t>
            </a:r>
            <a:r>
              <a:rPr lang="zh-CN" altLang="en-US" dirty="0"/>
              <a:t>等协议验证进行发送方身份验证。</a:t>
            </a:r>
            <a:endParaRPr lang="en-US" altLang="zh-CN" dirty="0"/>
          </a:p>
          <a:p>
            <a:pPr marL="800100" lvl="1" indent="-342900">
              <a:lnSpc>
                <a:spcPct val="130000"/>
              </a:lnSpc>
              <a:buFont typeface="+mj-lt"/>
              <a:buAutoNum type="arabicPeriod"/>
            </a:pPr>
            <a:r>
              <a:rPr lang="zh-CN" altLang="en-US" b="1" dirty="0"/>
              <a:t>电子邮件转发验证</a:t>
            </a:r>
            <a:r>
              <a:rPr lang="zh-CN" altLang="en-US" dirty="0"/>
              <a:t>：当电子邮件转发者自动转发一个电子邮件时，也需要先对要转发的电子邮件进行验证。</a:t>
            </a:r>
            <a:endParaRPr lang="en-US" altLang="zh-CN" dirty="0"/>
          </a:p>
          <a:p>
            <a:pPr marL="800100" lvl="1" indent="-342900">
              <a:lnSpc>
                <a:spcPct val="130000"/>
              </a:lnSpc>
              <a:buFont typeface="+mj-lt"/>
              <a:buAutoNum type="arabicPeriod"/>
            </a:pPr>
            <a:r>
              <a:rPr lang="zh-CN" altLang="en-US" b="1" dirty="0"/>
              <a:t>电子邮件</a:t>
            </a:r>
            <a:r>
              <a:rPr lang="en-US" altLang="zh-CN" b="1" dirty="0"/>
              <a:t>UI</a:t>
            </a:r>
            <a:r>
              <a:rPr lang="zh-CN" altLang="en-US" b="1" dirty="0"/>
              <a:t>渲染：</a:t>
            </a:r>
            <a:r>
              <a:rPr lang="zh-CN" altLang="en-US" dirty="0"/>
              <a:t>大多数的电子邮件客户端</a:t>
            </a:r>
            <a:r>
              <a:rPr lang="en-US" altLang="zh-CN" dirty="0"/>
              <a:t>UI</a:t>
            </a:r>
            <a:r>
              <a:rPr lang="zh-CN" altLang="en-US" dirty="0"/>
              <a:t>并不将验证结果展示给用户，但是攻击者可以通过使用某些编码格式或者特殊字符修改电子邮件地址从而误导接收者。</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背景知识：电子邮件保护机制</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文本框 4"/>
          <p:cNvSpPr txBox="1"/>
          <p:nvPr/>
        </p:nvSpPr>
        <p:spPr>
          <a:xfrm>
            <a:off x="669923" y="1268358"/>
            <a:ext cx="10850563" cy="48396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000" b="1" dirty="0"/>
              <a:t>电子邮件安全扩展协议</a:t>
            </a:r>
            <a:endParaRPr lang="en-US" altLang="zh-CN" sz="2000" b="1" dirty="0"/>
          </a:p>
          <a:p>
            <a:pPr marL="742950" lvl="1" indent="-285750">
              <a:lnSpc>
                <a:spcPct val="130000"/>
              </a:lnSpc>
              <a:buFontTx/>
              <a:buChar char="-"/>
            </a:pPr>
            <a:r>
              <a:rPr lang="en-US" altLang="zh-CN" b="1" dirty="0"/>
              <a:t>Sender Policy Framework</a:t>
            </a:r>
            <a:r>
              <a:rPr lang="zh-CN" altLang="en-US" b="1" dirty="0"/>
              <a:t>（</a:t>
            </a:r>
            <a:r>
              <a:rPr lang="en-US" altLang="zh-CN" b="1" dirty="0"/>
              <a:t>SPF </a:t>
            </a:r>
            <a:r>
              <a:rPr lang="zh-CN" altLang="en-US" b="1" dirty="0"/>
              <a:t>发件人策略框架）</a:t>
            </a:r>
            <a:endParaRPr lang="en-US" altLang="zh-CN" b="1" dirty="0"/>
          </a:p>
          <a:p>
            <a:pPr lvl="2">
              <a:lnSpc>
                <a:spcPct val="130000"/>
              </a:lnSpc>
            </a:pPr>
            <a:r>
              <a:rPr lang="en-US" altLang="zh-CN" dirty="0"/>
              <a:t>SPF</a:t>
            </a:r>
            <a:r>
              <a:rPr lang="zh-CN" altLang="en-US" dirty="0"/>
              <a:t>是一个基于</a:t>
            </a:r>
            <a:r>
              <a:rPr lang="en-US" altLang="zh-CN" dirty="0"/>
              <a:t>IP</a:t>
            </a:r>
            <a:r>
              <a:rPr lang="zh-CN" altLang="en-US" dirty="0"/>
              <a:t>的身份认证协议，它会标记并且记录发件人的域以及</a:t>
            </a:r>
            <a:r>
              <a:rPr lang="en-US" altLang="zh-CN" dirty="0"/>
              <a:t>IP</a:t>
            </a:r>
            <a:r>
              <a:rPr lang="zh-CN" altLang="en-US" dirty="0"/>
              <a:t>地址，当收件方接收到邮件后会查询</a:t>
            </a:r>
            <a:r>
              <a:rPr lang="en-US" altLang="zh-CN" dirty="0"/>
              <a:t>Mail From</a:t>
            </a:r>
            <a:r>
              <a:rPr lang="zh-CN" altLang="en-US" dirty="0"/>
              <a:t>中的邮箱地址是否与域名</a:t>
            </a:r>
            <a:r>
              <a:rPr lang="en-US" altLang="zh-CN" dirty="0"/>
              <a:t>SPF</a:t>
            </a:r>
            <a:r>
              <a:rPr lang="zh-CN" altLang="en-US" dirty="0"/>
              <a:t>记录中的源</a:t>
            </a:r>
            <a:r>
              <a:rPr lang="en-US" altLang="zh-CN" dirty="0"/>
              <a:t>IP</a:t>
            </a:r>
            <a:r>
              <a:rPr lang="zh-CN" altLang="en-US" dirty="0"/>
              <a:t>进行匹配，从而识别发件人域名伪造的邮件。</a:t>
            </a:r>
            <a:endParaRPr lang="en-US" altLang="zh-CN" dirty="0"/>
          </a:p>
          <a:p>
            <a:pPr marL="742950" lvl="1" indent="-285750">
              <a:lnSpc>
                <a:spcPct val="130000"/>
              </a:lnSpc>
              <a:buFontTx/>
              <a:buChar char="-"/>
            </a:pPr>
            <a:r>
              <a:rPr lang="en-US" altLang="zh-CN" b="1" dirty="0"/>
              <a:t>DomainKeys Identified Mail </a:t>
            </a:r>
            <a:r>
              <a:rPr lang="zh-CN" altLang="en-US" b="1" dirty="0"/>
              <a:t>（</a:t>
            </a:r>
            <a:r>
              <a:rPr lang="en-US" altLang="zh-CN" b="1" dirty="0"/>
              <a:t>DKIM </a:t>
            </a:r>
            <a:r>
              <a:rPr lang="zh-CN" altLang="en-US" b="1" dirty="0"/>
              <a:t>域名密钥实别邮件标准）</a:t>
            </a:r>
            <a:endParaRPr lang="en-US" altLang="zh-CN" b="1" dirty="0"/>
          </a:p>
          <a:p>
            <a:pPr lvl="2">
              <a:lnSpc>
                <a:spcPct val="130000"/>
              </a:lnSpc>
            </a:pPr>
            <a:r>
              <a:rPr lang="en-US" altLang="zh-CN" dirty="0"/>
              <a:t>DKIM</a:t>
            </a:r>
            <a:r>
              <a:rPr lang="zh-CN" altLang="en-US" dirty="0"/>
              <a:t>是一个基于数字签名的身份认证协议，它允许发送方在电子邮件头部添加数字签名，并将公钥存放在</a:t>
            </a:r>
            <a:r>
              <a:rPr lang="en-US" altLang="zh-CN" dirty="0"/>
              <a:t>DNS</a:t>
            </a:r>
            <a:r>
              <a:rPr lang="zh-CN" altLang="en-US" dirty="0"/>
              <a:t>服务器上，接收方在接收到邮件后会从</a:t>
            </a:r>
            <a:r>
              <a:rPr lang="en-US" altLang="zh-CN" dirty="0"/>
              <a:t>DNS</a:t>
            </a:r>
            <a:r>
              <a:rPr lang="zh-CN" altLang="en-US" dirty="0"/>
              <a:t>服务器获取公钥并且验证数字签名。</a:t>
            </a:r>
            <a:endParaRPr lang="en-US" altLang="zh-CN" dirty="0"/>
          </a:p>
          <a:p>
            <a:pPr marL="742950" lvl="1" indent="-285750">
              <a:lnSpc>
                <a:spcPct val="130000"/>
              </a:lnSpc>
              <a:buFontTx/>
              <a:buChar char="-"/>
            </a:pPr>
            <a:r>
              <a:rPr lang="en-US" altLang="zh-CN" b="1" dirty="0"/>
              <a:t>Domain-based Message Authentication</a:t>
            </a:r>
            <a:r>
              <a:rPr lang="zh-CN" altLang="en-US" b="1" dirty="0"/>
              <a:t>，</a:t>
            </a:r>
            <a:r>
              <a:rPr lang="en-US" altLang="zh-CN" b="1" dirty="0"/>
              <a:t>Report and conformance</a:t>
            </a:r>
            <a:r>
              <a:rPr lang="zh-CN" altLang="en-US" b="1" dirty="0"/>
              <a:t>（</a:t>
            </a:r>
            <a:r>
              <a:rPr lang="en-US" altLang="zh-CN" b="1" dirty="0"/>
              <a:t>DMARC </a:t>
            </a:r>
            <a:r>
              <a:rPr lang="zh-CN" altLang="en-US" b="1" dirty="0"/>
              <a:t>基于域的邮件验证、报告和一致性）</a:t>
            </a:r>
            <a:endParaRPr lang="en-US" altLang="zh-CN" b="1" dirty="0"/>
          </a:p>
          <a:p>
            <a:pPr lvl="2">
              <a:lnSpc>
                <a:spcPct val="130000"/>
              </a:lnSpc>
            </a:pPr>
            <a:r>
              <a:rPr lang="en-US" altLang="zh-CN" dirty="0"/>
              <a:t>DMARC</a:t>
            </a:r>
            <a:r>
              <a:rPr lang="zh-CN" altLang="en-US" dirty="0"/>
              <a:t>基于</a:t>
            </a:r>
            <a:r>
              <a:rPr lang="en-US" altLang="zh-CN" dirty="0"/>
              <a:t>DKIM</a:t>
            </a:r>
            <a:r>
              <a:rPr lang="zh-CN" altLang="en-US" dirty="0"/>
              <a:t>和</a:t>
            </a:r>
            <a:r>
              <a:rPr lang="en-US" altLang="zh-CN" dirty="0"/>
              <a:t>SPF</a:t>
            </a:r>
            <a:r>
              <a:rPr lang="zh-CN" altLang="en-US" dirty="0"/>
              <a:t>两个协议，并且添加了对电子邮件正文中</a:t>
            </a:r>
            <a:r>
              <a:rPr lang="en-US" altLang="zh-CN" dirty="0"/>
              <a:t>From</a:t>
            </a:r>
            <a:r>
              <a:rPr lang="zh-CN" altLang="en-US" dirty="0"/>
              <a:t>字段的验证，如果</a:t>
            </a:r>
            <a:r>
              <a:rPr lang="en-US" altLang="zh-CN" dirty="0"/>
              <a:t>From</a:t>
            </a:r>
            <a:r>
              <a:rPr lang="zh-CN" altLang="en-US" dirty="0"/>
              <a:t>字段和</a:t>
            </a:r>
            <a:r>
              <a:rPr lang="en-US" altLang="zh-CN" dirty="0"/>
              <a:t>SPF</a:t>
            </a:r>
            <a:r>
              <a:rPr lang="zh-CN" altLang="en-US" dirty="0"/>
              <a:t>或者</a:t>
            </a:r>
            <a:r>
              <a:rPr lang="en-US" altLang="zh-CN" dirty="0"/>
              <a:t>DKIM</a:t>
            </a:r>
            <a:r>
              <a:rPr lang="zh-CN" altLang="en-US" dirty="0"/>
              <a:t>协议中的身份验证一致，并且电子邮件通过了</a:t>
            </a:r>
            <a:r>
              <a:rPr lang="en-US" altLang="zh-CN" dirty="0"/>
              <a:t>SPF</a:t>
            </a:r>
            <a:r>
              <a:rPr lang="zh-CN" altLang="en-US" dirty="0"/>
              <a:t>协议或者</a:t>
            </a:r>
            <a:r>
              <a:rPr lang="en-US" altLang="zh-CN" dirty="0"/>
              <a:t>DKIM</a:t>
            </a:r>
            <a:r>
              <a:rPr lang="zh-CN" altLang="en-US" dirty="0"/>
              <a:t>协议的认证，就认为电子邮件是安全的。</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背景知识：电子邮件保护机制</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文本框 4"/>
          <p:cNvSpPr txBox="1"/>
          <p:nvPr/>
        </p:nvSpPr>
        <p:spPr>
          <a:xfrm>
            <a:off x="719539" y="1242970"/>
            <a:ext cx="10850563" cy="299158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2000" b="1" dirty="0"/>
              <a:t>UI</a:t>
            </a:r>
            <a:r>
              <a:rPr lang="zh-CN" altLang="en-US" sz="2000" b="1" dirty="0"/>
              <a:t>级别的欺骗保护</a:t>
            </a:r>
            <a:endParaRPr lang="zh-CN" altLang="en-US" sz="2000" b="1" dirty="0"/>
          </a:p>
          <a:p>
            <a:pPr marL="742950" lvl="1" indent="-285750">
              <a:lnSpc>
                <a:spcPct val="130000"/>
              </a:lnSpc>
              <a:buFontTx/>
              <a:buChar char="-"/>
            </a:pPr>
            <a:r>
              <a:rPr lang="en-US" altLang="zh-CN" b="1" dirty="0"/>
              <a:t>UI</a:t>
            </a:r>
            <a:r>
              <a:rPr lang="zh-CN" altLang="en-US" b="1" dirty="0"/>
              <a:t>渲染是影响用户对邮件真实性验证结果判断的一个关键因素。</a:t>
            </a:r>
            <a:endParaRPr lang="en-US" altLang="zh-CN" b="1" dirty="0"/>
          </a:p>
          <a:p>
            <a:pPr lvl="2">
              <a:lnSpc>
                <a:spcPct val="130000"/>
              </a:lnSpc>
            </a:pPr>
            <a:r>
              <a:rPr lang="en-US" altLang="zh-CN" dirty="0"/>
              <a:t>UI</a:t>
            </a:r>
            <a:r>
              <a:rPr lang="zh-CN" altLang="en-US" dirty="0"/>
              <a:t>级别的保护尚未引起普遍的重视，不同的电子邮件供应商使用不同级别的</a:t>
            </a:r>
            <a:r>
              <a:rPr lang="en-US" altLang="zh-CN" dirty="0"/>
              <a:t>UI</a:t>
            </a:r>
            <a:r>
              <a:rPr lang="zh-CN" altLang="en-US" dirty="0"/>
              <a:t>保护。</a:t>
            </a:r>
            <a:endParaRPr lang="en-US" altLang="zh-CN" dirty="0"/>
          </a:p>
          <a:p>
            <a:pPr marL="742950" lvl="1" indent="-285750">
              <a:lnSpc>
                <a:spcPct val="130000"/>
              </a:lnSpc>
              <a:buFontTx/>
              <a:buChar char="-"/>
            </a:pPr>
            <a:r>
              <a:rPr lang="en-US" altLang="zh-CN" b="1" dirty="0"/>
              <a:t>Sender Inconsistency Checks</a:t>
            </a:r>
            <a:r>
              <a:rPr lang="zh-CN" altLang="en-US" b="1" dirty="0"/>
              <a:t>（</a:t>
            </a:r>
            <a:r>
              <a:rPr lang="en-US" altLang="zh-CN" b="1" dirty="0"/>
              <a:t>SIC</a:t>
            </a:r>
            <a:r>
              <a:rPr lang="zh-CN" altLang="en-US" b="1" dirty="0"/>
              <a:t>）</a:t>
            </a:r>
            <a:endParaRPr lang="en-US" altLang="zh-CN" b="1" dirty="0"/>
          </a:p>
          <a:p>
            <a:pPr lvl="2">
              <a:lnSpc>
                <a:spcPct val="130000"/>
              </a:lnSpc>
            </a:pPr>
            <a:r>
              <a:rPr lang="zh-CN" altLang="en-US" dirty="0"/>
              <a:t>一些电子邮件服务添加了安全提示器提醒接收者实际发送方（</a:t>
            </a:r>
            <a:r>
              <a:rPr lang="en-US" altLang="zh-CN" dirty="0"/>
              <a:t>Mail From</a:t>
            </a:r>
            <a:r>
              <a:rPr lang="zh-CN" altLang="en-US" dirty="0"/>
              <a:t>）与电子邮件显示的发送方（</a:t>
            </a:r>
            <a:r>
              <a:rPr lang="en-US" altLang="zh-CN" dirty="0"/>
              <a:t>From</a:t>
            </a:r>
            <a:r>
              <a:rPr lang="zh-CN" altLang="en-US" dirty="0"/>
              <a:t>）不一致。这种不一致存在于整个电子邮件系统中，并且可能会影响对电子邮件的安全性验证。</a:t>
            </a:r>
            <a:endParaRPr lang="en-US" altLang="zh-CN" dirty="0"/>
          </a:p>
          <a:p>
            <a:pPr lvl="2"/>
            <a:endParaRPr lang="en-US" altLang="zh-CN" dirty="0"/>
          </a:p>
        </p:txBody>
      </p:sp>
      <p:pic>
        <p:nvPicPr>
          <p:cNvPr id="7" name="图片 6"/>
          <p:cNvPicPr>
            <a:picLocks noChangeAspect="1"/>
          </p:cNvPicPr>
          <p:nvPr/>
        </p:nvPicPr>
        <p:blipFill>
          <a:blip r:embed="rId1"/>
          <a:stretch>
            <a:fillRect/>
          </a:stretch>
        </p:blipFill>
        <p:spPr>
          <a:xfrm>
            <a:off x="3306977" y="3590831"/>
            <a:ext cx="5675689" cy="243536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攻击模型</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7" name="图片 6"/>
          <p:cNvPicPr>
            <a:picLocks noChangeAspect="1"/>
          </p:cNvPicPr>
          <p:nvPr/>
        </p:nvPicPr>
        <p:blipFill>
          <a:blip r:embed="rId1"/>
          <a:stretch>
            <a:fillRect/>
          </a:stretch>
        </p:blipFill>
        <p:spPr>
          <a:xfrm>
            <a:off x="3060990" y="3003383"/>
            <a:ext cx="5409241" cy="3104204"/>
          </a:xfrm>
          <a:prstGeom prst="rect">
            <a:avLst/>
          </a:prstGeom>
        </p:spPr>
      </p:pic>
      <p:sp>
        <p:nvSpPr>
          <p:cNvPr id="9" name="文本框 8"/>
          <p:cNvSpPr txBox="1"/>
          <p:nvPr/>
        </p:nvSpPr>
        <p:spPr>
          <a:xfrm>
            <a:off x="669923" y="1277377"/>
            <a:ext cx="10850563" cy="1552605"/>
          </a:xfrm>
          <a:prstGeom prst="rect">
            <a:avLst/>
          </a:prstGeom>
          <a:noFill/>
        </p:spPr>
        <p:txBody>
          <a:bodyPr wrap="square" rtlCol="0">
            <a:spAutoFit/>
          </a:bodyPr>
          <a:lstStyle/>
          <a:p>
            <a:pPr>
              <a:lnSpc>
                <a:spcPct val="150000"/>
              </a:lnSpc>
            </a:pPr>
            <a:r>
              <a:rPr lang="zh-CN" altLang="en-US" dirty="0"/>
              <a:t>攻击模型中包含三个身份：</a:t>
            </a:r>
            <a:endParaRPr lang="en-US" altLang="zh-CN" dirty="0"/>
          </a:p>
          <a:p>
            <a:pPr lvl="1" indent="-285750">
              <a:lnSpc>
                <a:spcPct val="130000"/>
              </a:lnSpc>
              <a:buFont typeface="Arial" panose="020B0604020202020204" pitchFamily="34" charset="0"/>
              <a:buChar char="•"/>
            </a:pPr>
            <a:r>
              <a:rPr lang="en-US" altLang="zh-CN" dirty="0"/>
              <a:t>Alice</a:t>
            </a:r>
            <a:r>
              <a:rPr lang="zh-CN" altLang="en-US" dirty="0"/>
              <a:t>：真实的邮件发送方</a:t>
            </a:r>
            <a:endParaRPr lang="en-US" altLang="zh-CN" dirty="0"/>
          </a:p>
          <a:p>
            <a:pPr lvl="1" indent="-285750">
              <a:lnSpc>
                <a:spcPct val="130000"/>
              </a:lnSpc>
              <a:buFont typeface="Arial" panose="020B0604020202020204" pitchFamily="34" charset="0"/>
              <a:buChar char="•"/>
            </a:pPr>
            <a:r>
              <a:rPr lang="en-US" altLang="zh-CN" dirty="0"/>
              <a:t>Bob</a:t>
            </a:r>
            <a:r>
              <a:rPr lang="zh-CN" altLang="en-US" dirty="0"/>
              <a:t>：受害者，邮件的接收方</a:t>
            </a:r>
            <a:endParaRPr lang="en-US" altLang="zh-CN" dirty="0"/>
          </a:p>
          <a:p>
            <a:pPr lvl="1" indent="-285750">
              <a:lnSpc>
                <a:spcPct val="130000"/>
              </a:lnSpc>
              <a:buFont typeface="Arial" panose="020B0604020202020204" pitchFamily="34" charset="0"/>
              <a:buChar char="•"/>
            </a:pPr>
            <a:r>
              <a:rPr lang="en-US" altLang="zh-CN" dirty="0"/>
              <a:t>Oscar</a:t>
            </a:r>
            <a:r>
              <a:rPr lang="zh-CN" altLang="en-US" dirty="0"/>
              <a:t>：攻击者，攻击者的目标是伪装成</a:t>
            </a:r>
            <a:r>
              <a:rPr lang="en-US" altLang="zh-CN" dirty="0"/>
              <a:t>Alice</a:t>
            </a:r>
            <a:r>
              <a:rPr lang="zh-CN" altLang="en-US" dirty="0"/>
              <a:t>给</a:t>
            </a:r>
            <a:r>
              <a:rPr lang="en-US" altLang="zh-CN" dirty="0"/>
              <a:t>Bob</a:t>
            </a:r>
            <a:r>
              <a:rPr lang="zh-CN" altLang="en-US" dirty="0"/>
              <a:t>发送邮件</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攻击模型</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7" name="图片 6"/>
          <p:cNvPicPr>
            <a:picLocks noChangeAspect="1"/>
          </p:cNvPicPr>
          <p:nvPr/>
        </p:nvPicPr>
        <p:blipFill>
          <a:blip r:embed="rId1"/>
          <a:stretch>
            <a:fillRect/>
          </a:stretch>
        </p:blipFill>
        <p:spPr>
          <a:xfrm>
            <a:off x="7403855" y="2664857"/>
            <a:ext cx="4387193" cy="2517681"/>
          </a:xfrm>
          <a:prstGeom prst="rect">
            <a:avLst/>
          </a:prstGeom>
        </p:spPr>
      </p:pic>
      <p:sp>
        <p:nvSpPr>
          <p:cNvPr id="9" name="文本框 8"/>
          <p:cNvSpPr txBox="1"/>
          <p:nvPr/>
        </p:nvSpPr>
        <p:spPr>
          <a:xfrm>
            <a:off x="545614" y="1392352"/>
            <a:ext cx="7028894" cy="4073295"/>
          </a:xfrm>
          <a:prstGeom prst="rect">
            <a:avLst/>
          </a:prstGeom>
          <a:noFill/>
        </p:spPr>
        <p:txBody>
          <a:bodyPr wrap="square" rtlCol="0">
            <a:spAutoFit/>
          </a:bodyPr>
          <a:lstStyle/>
          <a:p>
            <a:pPr>
              <a:lnSpc>
                <a:spcPct val="150000"/>
              </a:lnSpc>
            </a:pPr>
            <a:r>
              <a:rPr lang="zh-CN" altLang="en-US" dirty="0"/>
              <a:t>邮件欺骗攻击主要分为三种常见的类型：</a:t>
            </a:r>
            <a:endParaRPr lang="en-US" altLang="zh-CN" dirty="0"/>
          </a:p>
          <a:p>
            <a:pPr marL="285750" indent="-285750">
              <a:lnSpc>
                <a:spcPct val="130000"/>
              </a:lnSpc>
              <a:buFont typeface="Arial" panose="020B0604020202020204" pitchFamily="34" charset="0"/>
              <a:buChar char="•"/>
            </a:pPr>
            <a:r>
              <a:rPr lang="en-US" altLang="zh-CN" dirty="0"/>
              <a:t>Shared MTA Attack</a:t>
            </a:r>
            <a:endParaRPr lang="en-US" altLang="zh-CN" dirty="0"/>
          </a:p>
          <a:p>
            <a:pPr lvl="1">
              <a:lnSpc>
                <a:spcPct val="130000"/>
              </a:lnSpc>
            </a:pPr>
            <a:r>
              <a:rPr lang="en-US" altLang="zh-CN" dirty="0"/>
              <a:t>Oscar</a:t>
            </a:r>
            <a:r>
              <a:rPr lang="zh-CN" altLang="en-US" dirty="0"/>
              <a:t>和</a:t>
            </a:r>
            <a:r>
              <a:rPr lang="en-US" altLang="zh-CN" dirty="0"/>
              <a:t>Alice</a:t>
            </a:r>
            <a:r>
              <a:rPr lang="zh-CN" altLang="en-US" dirty="0"/>
              <a:t>使用相同的</a:t>
            </a:r>
            <a:r>
              <a:rPr lang="en-US" altLang="zh-CN" dirty="0"/>
              <a:t>MTA</a:t>
            </a:r>
            <a:r>
              <a:rPr lang="zh-CN" altLang="en-US" dirty="0"/>
              <a:t>发送邮件。</a:t>
            </a:r>
            <a:endParaRPr lang="en-US" altLang="zh-CN" dirty="0"/>
          </a:p>
          <a:p>
            <a:pPr marL="285750" indent="-285750">
              <a:lnSpc>
                <a:spcPct val="130000"/>
              </a:lnSpc>
              <a:buFont typeface="Arial" panose="020B0604020202020204" pitchFamily="34" charset="0"/>
              <a:buChar char="•"/>
            </a:pPr>
            <a:r>
              <a:rPr lang="en-US" altLang="zh-CN" dirty="0"/>
              <a:t>Direct MTA Attack</a:t>
            </a:r>
            <a:endParaRPr lang="en-US" altLang="zh-CN" dirty="0"/>
          </a:p>
          <a:p>
            <a:pPr lvl="1">
              <a:lnSpc>
                <a:spcPct val="130000"/>
              </a:lnSpc>
            </a:pPr>
            <a:r>
              <a:rPr lang="en-US" altLang="zh-CN" dirty="0"/>
              <a:t>Oscar</a:t>
            </a:r>
            <a:r>
              <a:rPr lang="zh-CN" altLang="en-US" dirty="0"/>
              <a:t>使用自己的</a:t>
            </a:r>
            <a:r>
              <a:rPr lang="en-US" altLang="zh-CN" dirty="0"/>
              <a:t>MTA</a:t>
            </a:r>
            <a:r>
              <a:rPr lang="zh-CN" altLang="en-US" dirty="0"/>
              <a:t>发送邮件，</a:t>
            </a:r>
            <a:r>
              <a:rPr lang="en-US" altLang="zh-CN" dirty="0"/>
              <a:t>Oscar</a:t>
            </a:r>
            <a:r>
              <a:rPr lang="zh-CN" altLang="en-US" dirty="0"/>
              <a:t>可以通过修改</a:t>
            </a:r>
            <a:r>
              <a:rPr lang="en-US" altLang="zh-CN" dirty="0"/>
              <a:t>Mail From</a:t>
            </a:r>
            <a:r>
              <a:rPr lang="zh-CN" altLang="en-US" dirty="0"/>
              <a:t>和</a:t>
            </a:r>
            <a:r>
              <a:rPr lang="en-US" altLang="zh-CN" dirty="0"/>
              <a:t>From</a:t>
            </a:r>
            <a:r>
              <a:rPr lang="zh-CN" altLang="en-US" dirty="0"/>
              <a:t>信息伪装成</a:t>
            </a:r>
            <a:r>
              <a:rPr lang="en-US" altLang="zh-CN" dirty="0"/>
              <a:t>Alice</a:t>
            </a:r>
            <a:r>
              <a:rPr lang="zh-CN" altLang="en-US" dirty="0"/>
              <a:t>发送邮件。</a:t>
            </a:r>
            <a:endParaRPr lang="en-US" altLang="zh-CN" dirty="0"/>
          </a:p>
          <a:p>
            <a:pPr marL="285750" indent="-285750">
              <a:lnSpc>
                <a:spcPct val="130000"/>
              </a:lnSpc>
              <a:buFont typeface="Arial" panose="020B0604020202020204" pitchFamily="34" charset="0"/>
              <a:buChar char="•"/>
            </a:pPr>
            <a:r>
              <a:rPr lang="en-US" altLang="zh-CN" dirty="0"/>
              <a:t>Forward MTA Attack</a:t>
            </a:r>
            <a:endParaRPr lang="en-US" altLang="zh-CN" dirty="0"/>
          </a:p>
          <a:p>
            <a:pPr lvl="1">
              <a:lnSpc>
                <a:spcPct val="130000"/>
              </a:lnSpc>
            </a:pPr>
            <a:r>
              <a:rPr lang="en-US" altLang="zh-CN" dirty="0"/>
              <a:t>Oscar</a:t>
            </a:r>
            <a:r>
              <a:rPr lang="zh-CN" altLang="en-US" dirty="0"/>
              <a:t>滥用邮件转发服务发送欺骗邮件。</a:t>
            </a:r>
            <a:r>
              <a:rPr lang="en-US" altLang="zh-CN" dirty="0"/>
              <a:t>Oscar</a:t>
            </a:r>
            <a:r>
              <a:rPr lang="zh-CN" altLang="en-US" dirty="0"/>
              <a:t>将邮件发送给邮件转发服务中</a:t>
            </a:r>
            <a:r>
              <a:rPr lang="en-US" altLang="zh-CN" dirty="0"/>
              <a:t>Oscar</a:t>
            </a:r>
            <a:r>
              <a:rPr lang="zh-CN" altLang="en-US" dirty="0"/>
              <a:t>自己的账号：</a:t>
            </a:r>
            <a:r>
              <a:rPr lang="en-US" altLang="zh-CN" dirty="0"/>
              <a:t>Oscar.a.com</a:t>
            </a:r>
            <a:r>
              <a:rPr lang="zh-CN" altLang="en-US" dirty="0"/>
              <a:t>，并将邮件配置为自动转发到</a:t>
            </a:r>
            <a:r>
              <a:rPr lang="en-US" altLang="zh-CN" dirty="0"/>
              <a:t>Bob</a:t>
            </a:r>
            <a:r>
              <a:rPr lang="zh-CN" altLang="en-US" dirty="0"/>
              <a:t>的邮箱，由于</a:t>
            </a:r>
            <a:r>
              <a:rPr lang="en-US" altLang="zh-CN" dirty="0"/>
              <a:t>Bob</a:t>
            </a:r>
            <a:r>
              <a:rPr lang="zh-CN" altLang="en-US" dirty="0"/>
              <a:t>的邮箱信任来自</a:t>
            </a:r>
            <a:r>
              <a:rPr lang="en-US" altLang="zh-CN" dirty="0"/>
              <a:t>a.com</a:t>
            </a:r>
            <a:r>
              <a:rPr lang="zh-CN" altLang="en-US" dirty="0"/>
              <a:t>的邮件，因此利用邮件转发服务中的漏洞可以进行邮件欺骗攻击。</a:t>
            </a:r>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攻击模型</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文本框 8"/>
          <p:cNvSpPr txBox="1"/>
          <p:nvPr/>
        </p:nvSpPr>
        <p:spPr>
          <a:xfrm>
            <a:off x="545613" y="1392352"/>
            <a:ext cx="10850563" cy="1703030"/>
          </a:xfrm>
          <a:prstGeom prst="rect">
            <a:avLst/>
          </a:prstGeom>
          <a:noFill/>
        </p:spPr>
        <p:txBody>
          <a:bodyPr wrap="square" rtlCol="0">
            <a:spAutoFit/>
          </a:bodyPr>
          <a:lstStyle/>
          <a:p>
            <a:pPr>
              <a:lnSpc>
                <a:spcPct val="150000"/>
              </a:lnSpc>
            </a:pPr>
            <a:r>
              <a:rPr lang="zh-CN" altLang="en-US" dirty="0"/>
              <a:t>邮件欺骗攻击成功目标：</a:t>
            </a:r>
            <a:endParaRPr lang="en-US" altLang="zh-CN" dirty="0"/>
          </a:p>
          <a:p>
            <a:pPr marL="285750" indent="-285750">
              <a:lnSpc>
                <a:spcPct val="150000"/>
              </a:lnSpc>
              <a:buFont typeface="Arial" panose="020B0604020202020204" pitchFamily="34" charset="0"/>
              <a:buChar char="•"/>
            </a:pPr>
            <a:r>
              <a:rPr lang="zh-CN" altLang="en-US" dirty="0"/>
              <a:t>接收者</a:t>
            </a:r>
            <a:r>
              <a:rPr lang="en-US" altLang="zh-CN" dirty="0"/>
              <a:t>MUA</a:t>
            </a:r>
            <a:r>
              <a:rPr lang="zh-CN" altLang="en-US" dirty="0"/>
              <a:t>错误的显示了发送方地址来源于一个合法的域名，而没有显示攻击者真实的发送方地址。</a:t>
            </a:r>
            <a:endParaRPr lang="en-US" altLang="zh-CN" dirty="0"/>
          </a:p>
          <a:p>
            <a:pPr marL="285750" indent="-285750">
              <a:lnSpc>
                <a:spcPct val="150000"/>
              </a:lnSpc>
              <a:buFont typeface="Arial" panose="020B0604020202020204" pitchFamily="34" charset="0"/>
              <a:buChar char="•"/>
            </a:pPr>
            <a:r>
              <a:rPr lang="zh-CN" altLang="en-US" dirty="0"/>
              <a:t>接收方</a:t>
            </a:r>
            <a:r>
              <a:rPr lang="en-US" altLang="zh-CN" dirty="0"/>
              <a:t>MTA</a:t>
            </a:r>
            <a:r>
              <a:rPr lang="zh-CN" altLang="en-US" dirty="0"/>
              <a:t>验证了欺骗邮件的发送方。</a:t>
            </a:r>
            <a:endParaRPr lang="en-US" altLang="zh-CN" dirty="0"/>
          </a:p>
          <a:p>
            <a:pPr marL="285750" indent="-285750">
              <a:lnSpc>
                <a:spcPct val="150000"/>
              </a:lnSpc>
              <a:buFont typeface="Arial" panose="020B0604020202020204" pitchFamily="34" charset="0"/>
              <a:buChar char="•"/>
            </a:pPr>
            <a:r>
              <a:rPr lang="zh-CN" altLang="en-US" dirty="0"/>
              <a:t>接收方</a:t>
            </a:r>
            <a:r>
              <a:rPr lang="en-US" altLang="zh-CN" dirty="0"/>
              <a:t>MUA</a:t>
            </a:r>
            <a:r>
              <a:rPr lang="zh-CN" altLang="en-US" dirty="0"/>
              <a:t>没有显示任何有关欺骗邮件的安全警报。</a:t>
            </a:r>
            <a:endParaRPr lang="en-US" altLang="zh-CN" dirty="0"/>
          </a:p>
        </p:txBody>
      </p:sp>
      <p:pic>
        <p:nvPicPr>
          <p:cNvPr id="11" name="图片 10"/>
          <p:cNvPicPr>
            <a:picLocks noChangeAspect="1"/>
          </p:cNvPicPr>
          <p:nvPr/>
        </p:nvPicPr>
        <p:blipFill>
          <a:blip r:embed="rId1"/>
          <a:stretch>
            <a:fillRect/>
          </a:stretch>
        </p:blipFill>
        <p:spPr>
          <a:xfrm>
            <a:off x="669924" y="3182022"/>
            <a:ext cx="5153025" cy="2971800"/>
          </a:xfrm>
          <a:prstGeom prst="rect">
            <a:avLst/>
          </a:prstGeom>
        </p:spPr>
      </p:pic>
      <p:pic>
        <p:nvPicPr>
          <p:cNvPr id="13" name="图片 12"/>
          <p:cNvPicPr>
            <a:picLocks noChangeAspect="1"/>
          </p:cNvPicPr>
          <p:nvPr/>
        </p:nvPicPr>
        <p:blipFill>
          <a:blip r:embed="rId2"/>
          <a:stretch>
            <a:fillRect/>
          </a:stretch>
        </p:blipFill>
        <p:spPr>
          <a:xfrm>
            <a:off x="5654876" y="3482059"/>
            <a:ext cx="5591175" cy="23717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2120452"/>
          </a:xfrm>
          <a:prstGeom prst="rect">
            <a:avLst/>
          </a:prstGeom>
          <a:noFill/>
        </p:spPr>
        <p:txBody>
          <a:bodyPr wrap="square" rtlCol="0">
            <a:spAutoFit/>
          </a:bodyPr>
          <a:lstStyle/>
          <a:p>
            <a:pPr>
              <a:lnSpc>
                <a:spcPct val="150000"/>
              </a:lnSpc>
            </a:pPr>
            <a:r>
              <a:rPr lang="zh-CN" altLang="en-US" dirty="0"/>
              <a:t>将攻击分为了四类，分别对应身份认证的四个阶段：</a:t>
            </a:r>
            <a:endParaRPr lang="en-US" altLang="zh-CN" dirty="0"/>
          </a:p>
          <a:p>
            <a:pPr marL="285750" indent="-285750">
              <a:lnSpc>
                <a:spcPct val="150000"/>
              </a:lnSpc>
              <a:buFont typeface="Wingdings" panose="05000000000000000000" pitchFamily="2" charset="2"/>
              <a:buChar char="Ø"/>
            </a:pPr>
            <a:r>
              <a:rPr lang="zh-CN" altLang="en-US" dirty="0"/>
              <a:t>邮件发送身份认证攻击</a:t>
            </a:r>
            <a:endParaRPr lang="en-US" altLang="zh-CN" dirty="0"/>
          </a:p>
          <a:p>
            <a:pPr marL="285750" indent="-285750">
              <a:lnSpc>
                <a:spcPct val="150000"/>
              </a:lnSpc>
              <a:buFont typeface="Wingdings" panose="05000000000000000000" pitchFamily="2" charset="2"/>
              <a:buChar char="Ø"/>
            </a:pPr>
            <a:r>
              <a:rPr lang="zh-CN" altLang="en-US" dirty="0"/>
              <a:t>邮件接收身份认证攻击</a:t>
            </a:r>
            <a:endParaRPr lang="en-US" altLang="zh-CN" dirty="0"/>
          </a:p>
          <a:p>
            <a:pPr marL="285750" indent="-285750">
              <a:lnSpc>
                <a:spcPct val="150000"/>
              </a:lnSpc>
              <a:buFont typeface="Wingdings" panose="05000000000000000000" pitchFamily="2" charset="2"/>
              <a:buChar char="Ø"/>
            </a:pPr>
            <a:r>
              <a:rPr lang="zh-CN" altLang="en-US" dirty="0"/>
              <a:t>邮件转发身份认证攻击</a:t>
            </a:r>
            <a:endParaRPr lang="en-US" altLang="zh-CN" dirty="0"/>
          </a:p>
          <a:p>
            <a:pPr marL="285750" indent="-285750">
              <a:lnSpc>
                <a:spcPct val="150000"/>
              </a:lnSpc>
              <a:buFont typeface="Wingdings" panose="05000000000000000000" pitchFamily="2" charset="2"/>
              <a:buChar char="Ø"/>
            </a:pPr>
            <a:r>
              <a:rPr lang="zh-CN" altLang="en-US" dirty="0"/>
              <a:t>邮件</a:t>
            </a:r>
            <a:r>
              <a:rPr lang="en-US" altLang="zh-CN" dirty="0"/>
              <a:t>UI</a:t>
            </a:r>
            <a:r>
              <a:rPr lang="zh-CN" altLang="en-US" dirty="0"/>
              <a:t>渲染攻击</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邮件发送身份认证攻击</a:t>
            </a:r>
            <a:endParaRPr lang="en-US" altLang="zh-CN" b="1" dirty="0"/>
          </a:p>
        </p:txBody>
      </p:sp>
      <p:sp>
        <p:nvSpPr>
          <p:cNvPr id="5" name="文本框 4"/>
          <p:cNvSpPr txBox="1"/>
          <p:nvPr/>
        </p:nvSpPr>
        <p:spPr>
          <a:xfrm>
            <a:off x="835778" y="1835203"/>
            <a:ext cx="10537356" cy="777008"/>
          </a:xfrm>
          <a:prstGeom prst="rect">
            <a:avLst/>
          </a:prstGeom>
          <a:noFill/>
        </p:spPr>
        <p:txBody>
          <a:bodyPr wrap="square" rtlCol="0">
            <a:spAutoFit/>
          </a:bodyPr>
          <a:lstStyle/>
          <a:p>
            <a:pPr>
              <a:lnSpc>
                <a:spcPct val="130000"/>
              </a:lnSpc>
            </a:pPr>
            <a:r>
              <a:rPr lang="zh-CN" altLang="en-US" dirty="0"/>
              <a:t>在邮件发送过程中有三个发送方身份标识符：</a:t>
            </a:r>
            <a:r>
              <a:rPr lang="en-US" altLang="zh-CN" dirty="0"/>
              <a:t>Auth username</a:t>
            </a:r>
            <a:r>
              <a:rPr lang="zh-CN" altLang="en-US" dirty="0"/>
              <a:t>、</a:t>
            </a:r>
            <a:r>
              <a:rPr lang="en-US" altLang="zh-CN" dirty="0"/>
              <a:t>Mail From</a:t>
            </a:r>
            <a:r>
              <a:rPr lang="zh-CN" altLang="en-US" dirty="0"/>
              <a:t>、</a:t>
            </a:r>
            <a:r>
              <a:rPr lang="en-US" altLang="zh-CN" dirty="0"/>
              <a:t>From</a:t>
            </a:r>
            <a:r>
              <a:rPr lang="zh-CN" altLang="en-US" dirty="0"/>
              <a:t>，攻击者在邮件发送过程可以任意控制这些标识符则认为攻击成功。</a:t>
            </a:r>
            <a:endParaRPr lang="en-US" altLang="zh-CN" dirty="0"/>
          </a:p>
        </p:txBody>
      </p:sp>
      <p:sp>
        <p:nvSpPr>
          <p:cNvPr id="6" name="文本框 5"/>
          <p:cNvSpPr txBox="1"/>
          <p:nvPr/>
        </p:nvSpPr>
        <p:spPr>
          <a:xfrm>
            <a:off x="874691" y="2571558"/>
            <a:ext cx="10276764" cy="2834622"/>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A1-Auth username </a:t>
            </a:r>
            <a:r>
              <a:rPr lang="zh-CN" altLang="en-US" dirty="0"/>
              <a:t>和 </a:t>
            </a:r>
            <a:r>
              <a:rPr lang="en-US" altLang="zh-CN" dirty="0"/>
              <a:t>Mail From </a:t>
            </a:r>
            <a:r>
              <a:rPr lang="zh-CN" altLang="en-US" dirty="0"/>
              <a:t>不一致：</a:t>
            </a:r>
            <a:r>
              <a:rPr lang="en-US" altLang="zh-CN" dirty="0"/>
              <a:t>SMTP</a:t>
            </a:r>
            <a:r>
              <a:rPr lang="zh-CN" altLang="en-US" dirty="0"/>
              <a:t>没有对有关</a:t>
            </a:r>
            <a:r>
              <a:rPr lang="en-US" altLang="zh-CN" dirty="0"/>
              <a:t>Auth username</a:t>
            </a:r>
            <a:r>
              <a:rPr lang="zh-CN" altLang="en-US" dirty="0"/>
              <a:t>和</a:t>
            </a:r>
            <a:r>
              <a:rPr lang="en-US" altLang="zh-CN" dirty="0"/>
              <a:t>Mail From</a:t>
            </a:r>
            <a:r>
              <a:rPr lang="zh-CN" altLang="en-US" dirty="0"/>
              <a:t>一致性的相关描述，这个完全取决于电子邮箱的软件实现。在测试过程中有两个电子邮件软件会受到这种攻击。</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endParaRPr lang="en-US" altLang="zh-CN" dirty="0"/>
          </a:p>
          <a:p>
            <a:pPr marL="285750" indent="-285750">
              <a:buFont typeface="Arial" panose="020B0604020202020204" pitchFamily="34" charset="0"/>
              <a:buChar char="•"/>
            </a:pPr>
            <a:endParaRPr lang="zh-CN" altLang="en-US" dirty="0"/>
          </a:p>
        </p:txBody>
      </p:sp>
      <p:pic>
        <p:nvPicPr>
          <p:cNvPr id="9" name="图片 8"/>
          <p:cNvPicPr>
            <a:picLocks noChangeAspect="1"/>
          </p:cNvPicPr>
          <p:nvPr/>
        </p:nvPicPr>
        <p:blipFill>
          <a:blip r:embed="rId1"/>
          <a:stretch>
            <a:fillRect/>
          </a:stretch>
        </p:blipFill>
        <p:spPr>
          <a:xfrm>
            <a:off x="3532757" y="3611949"/>
            <a:ext cx="5153025" cy="16287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邮件发送身份认证攻击</a:t>
            </a:r>
            <a:endParaRPr lang="en-US" altLang="zh-CN" b="1" dirty="0"/>
          </a:p>
        </p:txBody>
      </p:sp>
      <p:sp>
        <p:nvSpPr>
          <p:cNvPr id="6" name="文本框 5"/>
          <p:cNvSpPr txBox="1"/>
          <p:nvPr/>
        </p:nvSpPr>
        <p:spPr>
          <a:xfrm>
            <a:off x="956823" y="1797001"/>
            <a:ext cx="10276764" cy="2557623"/>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A2-Mail From </a:t>
            </a:r>
            <a:r>
              <a:rPr lang="zh-CN" altLang="en-US" dirty="0"/>
              <a:t>和 </a:t>
            </a:r>
            <a:r>
              <a:rPr lang="en-US" altLang="zh-CN" dirty="0"/>
              <a:t>From </a:t>
            </a:r>
            <a:r>
              <a:rPr lang="zh-CN" altLang="en-US" dirty="0"/>
              <a:t>不一致：攻击者可以发送欺骗邮件其中</a:t>
            </a:r>
            <a:r>
              <a:rPr lang="en-US" altLang="zh-CN" dirty="0"/>
              <a:t>Mail From</a:t>
            </a:r>
            <a:r>
              <a:rPr lang="zh-CN" altLang="en-US" dirty="0"/>
              <a:t>和</a:t>
            </a:r>
            <a:r>
              <a:rPr lang="en-US" altLang="zh-CN" dirty="0"/>
              <a:t>From</a:t>
            </a:r>
            <a:r>
              <a:rPr lang="zh-CN" altLang="en-US" dirty="0"/>
              <a:t>不同。许多电子邮箱只显示</a:t>
            </a:r>
            <a:r>
              <a:rPr lang="en-US" altLang="zh-CN" dirty="0"/>
              <a:t>From</a:t>
            </a:r>
            <a:r>
              <a:rPr lang="zh-CN" altLang="en-US" dirty="0"/>
              <a:t>字段但是不显示</a:t>
            </a:r>
            <a:r>
              <a:rPr lang="en-US" altLang="zh-CN" dirty="0"/>
              <a:t>Mail From</a:t>
            </a:r>
            <a:r>
              <a:rPr lang="zh-CN" altLang="en-US" dirty="0"/>
              <a:t>字段，从而受害者无法在</a:t>
            </a:r>
            <a:r>
              <a:rPr lang="en-US" altLang="zh-CN" dirty="0"/>
              <a:t>MUA</a:t>
            </a:r>
            <a:r>
              <a:rPr lang="zh-CN" altLang="en-US" dirty="0"/>
              <a:t>上看到任何相关的安全警报。在测试中有</a:t>
            </a:r>
            <a:r>
              <a:rPr lang="en-US" altLang="zh-CN" dirty="0"/>
              <a:t>14</a:t>
            </a:r>
            <a:r>
              <a:rPr lang="zh-CN" altLang="en-US" dirty="0"/>
              <a:t>种电子邮箱容易受到这种攻击。</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endParaRPr lang="en-US" altLang="zh-CN" dirty="0"/>
          </a:p>
          <a:p>
            <a:pPr marL="285750" indent="-285750">
              <a:buFont typeface="Arial" panose="020B0604020202020204" pitchFamily="34" charset="0"/>
              <a:buChar char="•"/>
            </a:pPr>
            <a:endParaRPr lang="zh-CN" altLang="en-US" dirty="0"/>
          </a:p>
        </p:txBody>
      </p:sp>
      <p:pic>
        <p:nvPicPr>
          <p:cNvPr id="10" name="图片 9"/>
          <p:cNvPicPr>
            <a:picLocks noChangeAspect="1"/>
          </p:cNvPicPr>
          <p:nvPr/>
        </p:nvPicPr>
        <p:blipFill>
          <a:blip r:embed="rId1"/>
          <a:stretch>
            <a:fillRect/>
          </a:stretch>
        </p:blipFill>
        <p:spPr>
          <a:xfrm>
            <a:off x="3399630" y="3150271"/>
            <a:ext cx="5391150" cy="17049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邮件接收身份认证攻击</a:t>
            </a:r>
            <a:endParaRPr lang="en-US" altLang="zh-CN" b="1" dirty="0"/>
          </a:p>
        </p:txBody>
      </p:sp>
      <p:sp>
        <p:nvSpPr>
          <p:cNvPr id="6" name="文本框 5"/>
          <p:cNvSpPr txBox="1"/>
          <p:nvPr/>
        </p:nvSpPr>
        <p:spPr>
          <a:xfrm>
            <a:off x="956823" y="2503287"/>
            <a:ext cx="10276764" cy="300082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A3-Mail From</a:t>
            </a:r>
            <a:r>
              <a:rPr lang="zh-CN" altLang="en-US" dirty="0"/>
              <a:t>为空：</a:t>
            </a:r>
            <a:r>
              <a:rPr lang="en-US" altLang="zh-CN" dirty="0"/>
              <a:t>RFC 5321 SMTP</a:t>
            </a:r>
            <a:r>
              <a:rPr lang="zh-CN" altLang="en-US" dirty="0"/>
              <a:t>标准中指出在一些特殊情况下</a:t>
            </a:r>
            <a:r>
              <a:rPr lang="en-US" altLang="zh-CN" dirty="0"/>
              <a:t>Mail From</a:t>
            </a:r>
            <a:r>
              <a:rPr lang="zh-CN" altLang="en-US" dirty="0"/>
              <a:t>字段可以为空。但是这个功能可以被攻击者使用从而进行电子邮件欺骗攻击。</a:t>
            </a:r>
            <a:r>
              <a:rPr lang="en-US" altLang="zh-CN" dirty="0"/>
              <a:t>SPF</a:t>
            </a:r>
            <a:r>
              <a:rPr lang="zh-CN" altLang="en-US" dirty="0"/>
              <a:t>协议要求当</a:t>
            </a:r>
            <a:r>
              <a:rPr lang="en-US" altLang="zh-CN" dirty="0"/>
              <a:t>Mail From</a:t>
            </a:r>
            <a:r>
              <a:rPr lang="zh-CN" altLang="en-US" dirty="0"/>
              <a:t>字段为空的时候，需要使用</a:t>
            </a:r>
            <a:r>
              <a:rPr lang="en-US" altLang="zh-CN" dirty="0" err="1"/>
              <a:t>Helo</a:t>
            </a:r>
            <a:r>
              <a:rPr lang="zh-CN" altLang="en-US" dirty="0"/>
              <a:t>字段完成</a:t>
            </a:r>
            <a:r>
              <a:rPr lang="en-US" altLang="zh-CN" dirty="0"/>
              <a:t>SPF</a:t>
            </a:r>
            <a:r>
              <a:rPr lang="zh-CN" altLang="en-US" dirty="0"/>
              <a:t>验证，但是由于一些现实中不严格的电子邮件服务实现，当收件人处理</a:t>
            </a:r>
            <a:r>
              <a:rPr lang="en-US" altLang="zh-CN" dirty="0"/>
              <a:t>Mail From</a:t>
            </a:r>
            <a:r>
              <a:rPr lang="zh-CN" altLang="en-US" dirty="0"/>
              <a:t>为空的邮件时，直接跳过了</a:t>
            </a:r>
            <a:r>
              <a:rPr lang="en-US" altLang="zh-CN" dirty="0"/>
              <a:t>SPF</a:t>
            </a:r>
            <a:r>
              <a:rPr lang="zh-CN" altLang="en-US" dirty="0"/>
              <a:t>协议验证，显示“</a:t>
            </a:r>
            <a:r>
              <a:rPr lang="en-US" altLang="zh-CN" dirty="0"/>
              <a:t>none</a:t>
            </a:r>
            <a:r>
              <a:rPr lang="zh-CN" altLang="en-US" dirty="0"/>
              <a:t>”而非验证失败，因此攻击者可以成功进行攻击。</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endParaRPr lang="en-US" altLang="zh-CN" dirty="0"/>
          </a:p>
          <a:p>
            <a:pPr marL="285750" indent="-285750">
              <a:buFont typeface="Arial" panose="020B0604020202020204" pitchFamily="34" charset="0"/>
              <a:buChar char="•"/>
            </a:pPr>
            <a:endParaRPr lang="zh-CN" altLang="en-US" dirty="0"/>
          </a:p>
        </p:txBody>
      </p:sp>
      <p:pic>
        <p:nvPicPr>
          <p:cNvPr id="9" name="图片 8"/>
          <p:cNvPicPr>
            <a:picLocks noChangeAspect="1"/>
          </p:cNvPicPr>
          <p:nvPr/>
        </p:nvPicPr>
        <p:blipFill rotWithShape="1">
          <a:blip r:embed="rId1"/>
          <a:srcRect t="7075" b="6265"/>
          <a:stretch>
            <a:fillRect/>
          </a:stretch>
        </p:blipFill>
        <p:spPr>
          <a:xfrm>
            <a:off x="3451696" y="4271749"/>
            <a:ext cx="5122754" cy="1968714"/>
          </a:xfrm>
          <a:prstGeom prst="rect">
            <a:avLst/>
          </a:prstGeom>
        </p:spPr>
      </p:pic>
      <p:sp>
        <p:nvSpPr>
          <p:cNvPr id="11" name="文本框 10"/>
          <p:cNvSpPr txBox="1"/>
          <p:nvPr/>
        </p:nvSpPr>
        <p:spPr>
          <a:xfrm>
            <a:off x="835778" y="1723833"/>
            <a:ext cx="10537356" cy="777008"/>
          </a:xfrm>
          <a:prstGeom prst="rect">
            <a:avLst/>
          </a:prstGeom>
          <a:noFill/>
        </p:spPr>
        <p:txBody>
          <a:bodyPr wrap="square" rtlCol="0">
            <a:spAutoFit/>
          </a:bodyPr>
          <a:lstStyle/>
          <a:p>
            <a:pPr>
              <a:lnSpc>
                <a:spcPct val="130000"/>
              </a:lnSpc>
            </a:pPr>
            <a:r>
              <a:rPr lang="zh-CN" altLang="en-US" dirty="0"/>
              <a:t>在电子邮件接收</a:t>
            </a:r>
            <a:r>
              <a:rPr lang="en-US" altLang="zh-CN" dirty="0"/>
              <a:t>MTA</a:t>
            </a:r>
            <a:r>
              <a:rPr lang="zh-CN" altLang="en-US" dirty="0"/>
              <a:t>，通常使用</a:t>
            </a:r>
            <a:r>
              <a:rPr lang="en-US" altLang="zh-CN" dirty="0"/>
              <a:t>SPF</a:t>
            </a:r>
            <a:r>
              <a:rPr lang="zh-CN" altLang="en-US" dirty="0"/>
              <a:t>、</a:t>
            </a:r>
            <a:r>
              <a:rPr lang="en-US" altLang="zh-CN" dirty="0"/>
              <a:t>DKIM</a:t>
            </a:r>
            <a:r>
              <a:rPr lang="zh-CN" altLang="en-US" dirty="0"/>
              <a:t>、</a:t>
            </a:r>
            <a:r>
              <a:rPr lang="en-US" altLang="zh-CN" dirty="0"/>
              <a:t>DMARC</a:t>
            </a:r>
            <a:r>
              <a:rPr lang="zh-CN" altLang="en-US" dirty="0"/>
              <a:t>等安全协议进行安全防护，攻击者需要绕过这些协议，使接收方</a:t>
            </a:r>
            <a:r>
              <a:rPr lang="en-US" altLang="zh-CN" dirty="0"/>
              <a:t>MTA</a:t>
            </a:r>
            <a:r>
              <a:rPr lang="zh-CN" altLang="en-US" dirty="0"/>
              <a:t>错误的给出验证通过的结果，从而攻击成功。</a:t>
            </a:r>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邮件接收身份认证攻击</a:t>
            </a:r>
            <a:endParaRPr lang="en-US" altLang="zh-CN" b="1" dirty="0"/>
          </a:p>
        </p:txBody>
      </p:sp>
      <p:sp>
        <p:nvSpPr>
          <p:cNvPr id="6" name="文本框 5"/>
          <p:cNvSpPr txBox="1"/>
          <p:nvPr/>
        </p:nvSpPr>
        <p:spPr>
          <a:xfrm>
            <a:off x="874691" y="1823817"/>
            <a:ext cx="10276764" cy="77700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A4-</a:t>
            </a:r>
            <a:r>
              <a:rPr lang="zh-CN" altLang="en-US" dirty="0"/>
              <a:t>多个</a:t>
            </a:r>
            <a:r>
              <a:rPr lang="en-US" altLang="zh-CN" dirty="0"/>
              <a:t>From</a:t>
            </a:r>
            <a:r>
              <a:rPr lang="zh-CN" altLang="en-US" dirty="0"/>
              <a:t>头部：虽然标准中已经标识有多个</a:t>
            </a:r>
            <a:r>
              <a:rPr lang="en-US" altLang="zh-CN" dirty="0"/>
              <a:t>From</a:t>
            </a:r>
            <a:r>
              <a:rPr lang="zh-CN" altLang="en-US" dirty="0"/>
              <a:t>头部字段的电子邮件应该被拒绝，但是仍然有一些电子邮件没有按照协议标准进行实现。</a:t>
            </a:r>
            <a:endParaRPr lang="en-US" altLang="zh-CN" dirty="0"/>
          </a:p>
        </p:txBody>
      </p:sp>
      <p:pic>
        <p:nvPicPr>
          <p:cNvPr id="10" name="图片 9"/>
          <p:cNvPicPr>
            <a:picLocks noChangeAspect="1"/>
          </p:cNvPicPr>
          <p:nvPr/>
        </p:nvPicPr>
        <p:blipFill>
          <a:blip r:embed="rId1"/>
          <a:stretch>
            <a:fillRect/>
          </a:stretch>
        </p:blipFill>
        <p:spPr>
          <a:xfrm>
            <a:off x="3159103" y="2748586"/>
            <a:ext cx="5707940" cy="30171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邮件接收身份认证攻击</a:t>
            </a:r>
            <a:endParaRPr lang="en-US" altLang="zh-CN" b="1" dirty="0"/>
          </a:p>
        </p:txBody>
      </p:sp>
      <p:sp>
        <p:nvSpPr>
          <p:cNvPr id="6" name="文本框 5"/>
          <p:cNvSpPr txBox="1"/>
          <p:nvPr/>
        </p:nvSpPr>
        <p:spPr>
          <a:xfrm>
            <a:off x="956823" y="1951517"/>
            <a:ext cx="10276764" cy="77700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A5-From</a:t>
            </a:r>
            <a:r>
              <a:rPr lang="zh-CN" altLang="en-US" dirty="0"/>
              <a:t>字段中包含多个邮件地址：标准中规定当电子邮件有多个作者时，可以将所有作者地址列在</a:t>
            </a:r>
            <a:r>
              <a:rPr lang="en-US" altLang="zh-CN" dirty="0"/>
              <a:t>From</a:t>
            </a:r>
            <a:r>
              <a:rPr lang="zh-CN" altLang="en-US" dirty="0"/>
              <a:t>字段中，然后在</a:t>
            </a:r>
            <a:r>
              <a:rPr lang="en-US" altLang="zh-CN" dirty="0"/>
              <a:t>sender</a:t>
            </a:r>
            <a:r>
              <a:rPr lang="zh-CN" altLang="en-US" dirty="0"/>
              <a:t>字段中标识真正的发送方。</a:t>
            </a:r>
            <a:endParaRPr lang="en-US" altLang="zh-CN" dirty="0"/>
          </a:p>
        </p:txBody>
      </p:sp>
      <p:pic>
        <p:nvPicPr>
          <p:cNvPr id="9" name="图片 8"/>
          <p:cNvPicPr>
            <a:picLocks noChangeAspect="1"/>
          </p:cNvPicPr>
          <p:nvPr/>
        </p:nvPicPr>
        <p:blipFill>
          <a:blip r:embed="rId1"/>
          <a:stretch>
            <a:fillRect/>
          </a:stretch>
        </p:blipFill>
        <p:spPr>
          <a:xfrm>
            <a:off x="3334802" y="3058504"/>
            <a:ext cx="5520806" cy="28519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邮件接收身份认证攻击</a:t>
            </a:r>
            <a:endParaRPr lang="en-US" altLang="zh-CN" b="1" dirty="0"/>
          </a:p>
        </p:txBody>
      </p:sp>
      <p:sp>
        <p:nvSpPr>
          <p:cNvPr id="6" name="文本框 5"/>
          <p:cNvSpPr txBox="1"/>
          <p:nvPr/>
        </p:nvSpPr>
        <p:spPr>
          <a:xfrm>
            <a:off x="956823" y="1901529"/>
            <a:ext cx="10276764"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A6-</a:t>
            </a:r>
            <a:r>
              <a:rPr lang="zh-CN" altLang="en-US" dirty="0"/>
              <a:t>解析不一致攻击：使用一些特殊格式或者特殊符号使得</a:t>
            </a:r>
            <a:r>
              <a:rPr lang="en-US" altLang="zh-CN" dirty="0"/>
              <a:t>From</a:t>
            </a:r>
            <a:r>
              <a:rPr lang="zh-CN" altLang="en-US" dirty="0"/>
              <a:t>头部的解析出现错误。</a:t>
            </a:r>
            <a:endParaRPr lang="en-US" altLang="zh-CN" dirty="0"/>
          </a:p>
        </p:txBody>
      </p:sp>
      <p:pic>
        <p:nvPicPr>
          <p:cNvPr id="10" name="图片 9"/>
          <p:cNvPicPr>
            <a:picLocks noChangeAspect="1"/>
          </p:cNvPicPr>
          <p:nvPr/>
        </p:nvPicPr>
        <p:blipFill>
          <a:blip r:embed="rId1"/>
          <a:stretch>
            <a:fillRect/>
          </a:stretch>
        </p:blipFill>
        <p:spPr>
          <a:xfrm>
            <a:off x="1703006" y="2735452"/>
            <a:ext cx="8784397" cy="281595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邮件接收身份认证攻击</a:t>
            </a:r>
            <a:endParaRPr lang="en-US" altLang="zh-CN" b="1" dirty="0"/>
          </a:p>
        </p:txBody>
      </p:sp>
      <p:sp>
        <p:nvSpPr>
          <p:cNvPr id="6" name="文本框 5"/>
          <p:cNvSpPr txBox="1"/>
          <p:nvPr/>
        </p:nvSpPr>
        <p:spPr>
          <a:xfrm>
            <a:off x="874691" y="1765055"/>
            <a:ext cx="10276764" cy="473616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A7-</a:t>
            </a:r>
            <a:r>
              <a:rPr lang="zh-CN" altLang="en-US" dirty="0"/>
              <a:t>基于编码攻击：攻击者使用编码地址逃避电子邮件安全协议的验证，由于协议无法正确提取编码信息，所以会显示“</a:t>
            </a:r>
            <a:r>
              <a:rPr lang="en-US" altLang="zh-CN" dirty="0"/>
              <a:t>none</a:t>
            </a:r>
            <a:r>
              <a:rPr lang="zh-CN" altLang="en-US" dirty="0"/>
              <a:t>”。</a:t>
            </a: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endParaRPr lang="en-US" altLang="zh-CN" dirty="0"/>
          </a:p>
          <a:p>
            <a:pPr marL="285750" indent="-285750">
              <a:lnSpc>
                <a:spcPct val="130000"/>
              </a:lnSpc>
              <a:buFont typeface="Arial" panose="020B0604020202020204" pitchFamily="34" charset="0"/>
              <a:buChar char="•"/>
            </a:pPr>
            <a:r>
              <a:rPr lang="en-US" altLang="zh-CN" dirty="0"/>
              <a:t>A8-</a:t>
            </a:r>
            <a:r>
              <a:rPr lang="zh-CN" altLang="en-US" dirty="0"/>
              <a:t>子域攻击</a:t>
            </a:r>
            <a:r>
              <a:rPr lang="en-US" altLang="zh-CN" dirty="0"/>
              <a:t>:</a:t>
            </a:r>
            <a:r>
              <a:rPr lang="zh-CN" altLang="en-US" dirty="0"/>
              <a:t>攻击者使用一个著名电子邮件服务的不存在的子域名发送欺骗邮件。由于没有响应的</a:t>
            </a:r>
            <a:r>
              <a:rPr lang="en-US" altLang="zh-CN" dirty="0"/>
              <a:t>SPF</a:t>
            </a:r>
            <a:r>
              <a:rPr lang="zh-CN" altLang="en-US" dirty="0"/>
              <a:t>记录，</a:t>
            </a:r>
            <a:r>
              <a:rPr lang="en-US" altLang="zh-CN" dirty="0"/>
              <a:t>SPF</a:t>
            </a:r>
            <a:r>
              <a:rPr lang="zh-CN" altLang="en-US" dirty="0"/>
              <a:t>验证会显示“</a:t>
            </a:r>
            <a:r>
              <a:rPr lang="en-US" altLang="zh-CN" dirty="0"/>
              <a:t>none</a:t>
            </a:r>
            <a:r>
              <a:rPr lang="zh-CN" altLang="en-US" dirty="0"/>
              <a:t>”，但是收件人</a:t>
            </a:r>
            <a:r>
              <a:rPr lang="en-US" altLang="zh-CN" dirty="0"/>
              <a:t>MTA</a:t>
            </a:r>
            <a:r>
              <a:rPr lang="zh-CN" altLang="en-US" dirty="0"/>
              <a:t>不会直接拒绝这个欺骗邮件。</a:t>
            </a:r>
            <a:endParaRPr lang="en-US" altLang="zh-CN" dirty="0"/>
          </a:p>
          <a:p>
            <a:pPr marL="285750" indent="-285750">
              <a:lnSpc>
                <a:spcPct val="130000"/>
              </a:lnSpc>
              <a:buFont typeface="Arial" panose="020B0604020202020204" pitchFamily="34" charset="0"/>
              <a:buChar char="•"/>
            </a:pPr>
            <a:endParaRPr lang="en-US" altLang="zh-CN" dirty="0"/>
          </a:p>
        </p:txBody>
      </p:sp>
      <p:pic>
        <p:nvPicPr>
          <p:cNvPr id="9" name="图片 8"/>
          <p:cNvPicPr>
            <a:picLocks noChangeAspect="1"/>
          </p:cNvPicPr>
          <p:nvPr/>
        </p:nvPicPr>
        <p:blipFill>
          <a:blip r:embed="rId1"/>
          <a:stretch>
            <a:fillRect/>
          </a:stretch>
        </p:blipFill>
        <p:spPr>
          <a:xfrm>
            <a:off x="3961333" y="2518304"/>
            <a:ext cx="4267743" cy="278086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邮件转发身份认证攻击</a:t>
            </a:r>
            <a:endParaRPr lang="en-US" altLang="zh-CN" b="1" dirty="0"/>
          </a:p>
        </p:txBody>
      </p:sp>
      <p:sp>
        <p:nvSpPr>
          <p:cNvPr id="5" name="文本框 4"/>
          <p:cNvSpPr txBox="1"/>
          <p:nvPr/>
        </p:nvSpPr>
        <p:spPr>
          <a:xfrm>
            <a:off x="835777" y="1779802"/>
            <a:ext cx="10537356" cy="777008"/>
          </a:xfrm>
          <a:prstGeom prst="rect">
            <a:avLst/>
          </a:prstGeom>
          <a:noFill/>
        </p:spPr>
        <p:txBody>
          <a:bodyPr wrap="square" rtlCol="0">
            <a:spAutoFit/>
          </a:bodyPr>
          <a:lstStyle/>
          <a:p>
            <a:pPr>
              <a:lnSpc>
                <a:spcPct val="130000"/>
              </a:lnSpc>
            </a:pPr>
            <a:r>
              <a:rPr lang="zh-CN" altLang="en-US" dirty="0"/>
              <a:t>攻击者滥用电子邮件转发服务，由于电子邮件转发服务可能会给欺骗邮件提供安全性认可，攻击者可以利用这些安全性认可将欺骗邮件发送给受害者。</a:t>
            </a:r>
            <a:endParaRPr lang="en-US" altLang="zh-CN" dirty="0"/>
          </a:p>
        </p:txBody>
      </p:sp>
      <p:sp>
        <p:nvSpPr>
          <p:cNvPr id="6" name="文本框 5"/>
          <p:cNvSpPr txBox="1"/>
          <p:nvPr/>
        </p:nvSpPr>
        <p:spPr>
          <a:xfrm>
            <a:off x="874691" y="2516157"/>
            <a:ext cx="10276764" cy="113710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A9-</a:t>
            </a:r>
            <a:r>
              <a:rPr lang="zh-CN" altLang="en-US" dirty="0"/>
              <a:t>未经授权的转发：攻击者拥有一个合法的电子邮件转发服务上的账户，由于转发服务时可信的并且没有有关的身份验证，因此受害者</a:t>
            </a:r>
            <a:r>
              <a:rPr lang="en-US" altLang="zh-CN" dirty="0"/>
              <a:t>MTA</a:t>
            </a:r>
            <a:r>
              <a:rPr lang="zh-CN" altLang="en-US" dirty="0"/>
              <a:t>会接收这个欺骗邮件，攻击者还可以利用这个绕过</a:t>
            </a:r>
            <a:r>
              <a:rPr lang="en-US" altLang="zh-CN" dirty="0"/>
              <a:t>SPF</a:t>
            </a:r>
            <a:r>
              <a:rPr lang="zh-CN" altLang="en-US" dirty="0"/>
              <a:t>和</a:t>
            </a:r>
            <a:r>
              <a:rPr lang="en-US" altLang="zh-CN" dirty="0"/>
              <a:t>DMARC</a:t>
            </a:r>
            <a:r>
              <a:rPr lang="zh-CN" altLang="en-US" dirty="0"/>
              <a:t>协议的保护。</a:t>
            </a:r>
            <a:endParaRPr lang="en-US" altLang="zh-CN" dirty="0"/>
          </a:p>
        </p:txBody>
      </p:sp>
      <p:pic>
        <p:nvPicPr>
          <p:cNvPr id="9" name="图片 8"/>
          <p:cNvPicPr>
            <a:picLocks noChangeAspect="1"/>
          </p:cNvPicPr>
          <p:nvPr/>
        </p:nvPicPr>
        <p:blipFill>
          <a:blip r:embed="rId1"/>
          <a:stretch>
            <a:fillRect/>
          </a:stretch>
        </p:blipFill>
        <p:spPr>
          <a:xfrm>
            <a:off x="4097727" y="3702018"/>
            <a:ext cx="3996545" cy="247405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邮件转发身份认证攻击</a:t>
            </a:r>
            <a:endParaRPr lang="en-US" altLang="zh-CN" b="1" dirty="0"/>
          </a:p>
        </p:txBody>
      </p:sp>
      <p:sp>
        <p:nvSpPr>
          <p:cNvPr id="6" name="文本框 5"/>
          <p:cNvSpPr txBox="1"/>
          <p:nvPr/>
        </p:nvSpPr>
        <p:spPr>
          <a:xfrm>
            <a:off x="956823" y="1809518"/>
            <a:ext cx="10276764" cy="113710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A10-DKIM</a:t>
            </a:r>
            <a:r>
              <a:rPr lang="zh-CN" altLang="en-US" dirty="0"/>
              <a:t>签名欺诈：邮件转发服务应该对要转发的邮件进行验证，并且不应该为这个邮件添加高于其原来安全等级的安全认证。攻击者可以通过邮件转发服务获取合法的</a:t>
            </a:r>
            <a:r>
              <a:rPr lang="en-US" altLang="zh-CN" dirty="0"/>
              <a:t>DKIM</a:t>
            </a:r>
            <a:r>
              <a:rPr lang="zh-CN" altLang="en-US" dirty="0"/>
              <a:t>签名，从而进行攻击</a:t>
            </a:r>
            <a:endParaRPr lang="en-US" altLang="zh-CN" dirty="0"/>
          </a:p>
        </p:txBody>
      </p:sp>
      <p:pic>
        <p:nvPicPr>
          <p:cNvPr id="10" name="图片 9"/>
          <p:cNvPicPr>
            <a:picLocks noChangeAspect="1"/>
          </p:cNvPicPr>
          <p:nvPr/>
        </p:nvPicPr>
        <p:blipFill>
          <a:blip r:embed="rId1"/>
          <a:stretch>
            <a:fillRect/>
          </a:stretch>
        </p:blipFill>
        <p:spPr>
          <a:xfrm>
            <a:off x="1351044" y="3173529"/>
            <a:ext cx="4744161" cy="2746302"/>
          </a:xfrm>
          <a:prstGeom prst="rect">
            <a:avLst/>
          </a:prstGeom>
        </p:spPr>
      </p:pic>
      <p:pic>
        <p:nvPicPr>
          <p:cNvPr id="12" name="图片 11"/>
          <p:cNvPicPr>
            <a:picLocks noChangeAspect="1"/>
          </p:cNvPicPr>
          <p:nvPr/>
        </p:nvPicPr>
        <p:blipFill>
          <a:blip r:embed="rId2"/>
          <a:stretch>
            <a:fillRect/>
          </a:stretch>
        </p:blipFill>
        <p:spPr>
          <a:xfrm>
            <a:off x="6827246" y="3190462"/>
            <a:ext cx="3566705" cy="276601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邮件转发身份认证攻击</a:t>
            </a:r>
            <a:endParaRPr lang="en-US" altLang="zh-CN" b="1" dirty="0"/>
          </a:p>
        </p:txBody>
      </p:sp>
      <p:sp>
        <p:nvSpPr>
          <p:cNvPr id="6" name="文本框 5"/>
          <p:cNvSpPr txBox="1"/>
          <p:nvPr/>
        </p:nvSpPr>
        <p:spPr>
          <a:xfrm>
            <a:off x="956823" y="1928922"/>
            <a:ext cx="10276764" cy="113710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A11-ARC</a:t>
            </a:r>
            <a:r>
              <a:rPr lang="zh-CN" altLang="en-US" dirty="0"/>
              <a:t>存在的问题：</a:t>
            </a:r>
            <a:r>
              <a:rPr lang="en-US" altLang="zh-CN" dirty="0"/>
              <a:t>ARC</a:t>
            </a:r>
            <a:r>
              <a:rPr lang="zh-CN" altLang="en-US" dirty="0"/>
              <a:t>是一种新提出的协议，提供了一条信任链可以将</a:t>
            </a:r>
            <a:r>
              <a:rPr lang="en-US" altLang="zh-CN" dirty="0"/>
              <a:t>SPF</a:t>
            </a:r>
            <a:r>
              <a:rPr lang="zh-CN" altLang="en-US" dirty="0"/>
              <a:t>、</a:t>
            </a:r>
            <a:r>
              <a:rPr lang="en-US" altLang="zh-CN" dirty="0"/>
              <a:t>DKIM</a:t>
            </a:r>
            <a:r>
              <a:rPr lang="zh-CN" altLang="en-US" dirty="0"/>
              <a:t>、</a:t>
            </a:r>
            <a:r>
              <a:rPr lang="en-US" altLang="zh-CN" dirty="0"/>
              <a:t>DMARC</a:t>
            </a:r>
            <a:r>
              <a:rPr lang="zh-CN" altLang="en-US" dirty="0"/>
              <a:t>的验证结果连接起来，测试中只有三种邮件服务部署了</a:t>
            </a:r>
            <a:r>
              <a:rPr lang="en-US" altLang="zh-CN" dirty="0"/>
              <a:t>ARC</a:t>
            </a:r>
            <a:r>
              <a:rPr lang="zh-CN" altLang="en-US" dirty="0"/>
              <a:t>其中两个存在部署问题，并且</a:t>
            </a:r>
            <a:r>
              <a:rPr lang="en-US" altLang="zh-CN" dirty="0"/>
              <a:t>ARC</a:t>
            </a:r>
            <a:r>
              <a:rPr lang="zh-CN" altLang="en-US" dirty="0"/>
              <a:t>除了</a:t>
            </a:r>
            <a:r>
              <a:rPr lang="en-US" altLang="zh-CN" dirty="0"/>
              <a:t>A10</a:t>
            </a:r>
            <a:r>
              <a:rPr lang="zh-CN" altLang="en-US" dirty="0"/>
              <a:t>攻击以外无法抵抗其他任何一种攻击。</a:t>
            </a:r>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a:t>
            </a:r>
            <a:r>
              <a:rPr lang="en-US" altLang="zh-CN" b="1" dirty="0"/>
              <a:t>UI</a:t>
            </a:r>
            <a:r>
              <a:rPr lang="zh-CN" altLang="en-US" b="1" dirty="0"/>
              <a:t>渲染攻击</a:t>
            </a:r>
            <a:endParaRPr lang="en-US" altLang="zh-CN" b="1" dirty="0"/>
          </a:p>
        </p:txBody>
      </p:sp>
      <p:sp>
        <p:nvSpPr>
          <p:cNvPr id="5" name="文本框 4"/>
          <p:cNvSpPr txBox="1"/>
          <p:nvPr/>
        </p:nvSpPr>
        <p:spPr>
          <a:xfrm>
            <a:off x="835778" y="1835203"/>
            <a:ext cx="10537356" cy="1137106"/>
          </a:xfrm>
          <a:prstGeom prst="rect">
            <a:avLst/>
          </a:prstGeom>
          <a:noFill/>
        </p:spPr>
        <p:txBody>
          <a:bodyPr wrap="square" rtlCol="0">
            <a:spAutoFit/>
          </a:bodyPr>
          <a:lstStyle/>
          <a:p>
            <a:pPr>
              <a:lnSpc>
                <a:spcPct val="130000"/>
              </a:lnSpc>
            </a:pPr>
            <a:r>
              <a:rPr lang="zh-CN" altLang="en-US" dirty="0"/>
              <a:t>这个攻击是从用户界面层面，使受害者用户在接收到欺骗邮件后无法从</a:t>
            </a:r>
            <a:r>
              <a:rPr lang="en-US" altLang="zh-CN" dirty="0"/>
              <a:t>UI</a:t>
            </a:r>
            <a:r>
              <a:rPr lang="zh-CN" altLang="en-US" dirty="0"/>
              <a:t>层面察觉到有关欺骗邮件真实发送者的信息或者发送者不一致检查结果。之前提到的</a:t>
            </a:r>
            <a:r>
              <a:rPr lang="en-US" altLang="zh-CN" dirty="0"/>
              <a:t>A6</a:t>
            </a:r>
            <a:r>
              <a:rPr lang="zh-CN" altLang="en-US" dirty="0"/>
              <a:t>、</a:t>
            </a:r>
            <a:r>
              <a:rPr lang="en-US" altLang="zh-CN" dirty="0"/>
              <a:t>A7</a:t>
            </a:r>
            <a:r>
              <a:rPr lang="zh-CN" altLang="en-US" dirty="0"/>
              <a:t>通过特殊符号和编码处理发送者信息的攻击适用于这一部分的攻击。</a:t>
            </a:r>
            <a:endParaRPr lang="en-US" altLang="zh-CN" dirty="0"/>
          </a:p>
        </p:txBody>
      </p:sp>
      <p:sp>
        <p:nvSpPr>
          <p:cNvPr id="6" name="文本框 5"/>
          <p:cNvSpPr txBox="1"/>
          <p:nvPr/>
        </p:nvSpPr>
        <p:spPr>
          <a:xfrm>
            <a:off x="874690" y="2988250"/>
            <a:ext cx="10276764" cy="77700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A12</a:t>
            </a:r>
            <a:r>
              <a:rPr lang="zh-CN" altLang="en-US" dirty="0"/>
              <a:t>：国际域名的同形异义词攻击：</a:t>
            </a:r>
            <a:r>
              <a:rPr lang="en-US" altLang="zh-CN" dirty="0" err="1"/>
              <a:t>PunyCode</a:t>
            </a:r>
            <a:r>
              <a:rPr lang="zh-CN" altLang="en-US" dirty="0"/>
              <a:t>是一种将无法显示的</a:t>
            </a:r>
            <a:r>
              <a:rPr lang="en-US" altLang="zh-CN" dirty="0"/>
              <a:t>ASCII</a:t>
            </a:r>
            <a:r>
              <a:rPr lang="zh-CN" altLang="en-US" dirty="0"/>
              <a:t>编码转换撑</a:t>
            </a:r>
            <a:r>
              <a:rPr lang="en-US" altLang="zh-CN" dirty="0"/>
              <a:t>Unicode</a:t>
            </a:r>
            <a:r>
              <a:rPr lang="zh-CN" altLang="en-US" dirty="0"/>
              <a:t>编码的编码，攻击者可以利用</a:t>
            </a:r>
            <a:r>
              <a:rPr lang="en-US" altLang="zh-CN" dirty="0" err="1"/>
              <a:t>PunyCode</a:t>
            </a:r>
            <a:r>
              <a:rPr lang="zh-CN" altLang="en-US" dirty="0"/>
              <a:t>和</a:t>
            </a:r>
            <a:r>
              <a:rPr lang="en-US" altLang="zh-CN" dirty="0"/>
              <a:t>Unicode</a:t>
            </a:r>
            <a:r>
              <a:rPr lang="zh-CN" altLang="en-US" dirty="0"/>
              <a:t>编码的不同构造</a:t>
            </a:r>
            <a:r>
              <a:rPr lang="en-US" altLang="zh-CN" dirty="0"/>
              <a:t>From</a:t>
            </a:r>
            <a:r>
              <a:rPr lang="zh-CN" altLang="en-US" dirty="0"/>
              <a:t>字段中的内容，从而进行攻击。</a:t>
            </a:r>
            <a:endParaRPr lang="en-US" altLang="zh-CN" dirty="0"/>
          </a:p>
        </p:txBody>
      </p:sp>
      <p:pic>
        <p:nvPicPr>
          <p:cNvPr id="9" name="图片 8"/>
          <p:cNvPicPr>
            <a:picLocks noChangeAspect="1"/>
          </p:cNvPicPr>
          <p:nvPr/>
        </p:nvPicPr>
        <p:blipFill>
          <a:blip r:embed="rId1"/>
          <a:stretch>
            <a:fillRect/>
          </a:stretch>
        </p:blipFill>
        <p:spPr>
          <a:xfrm>
            <a:off x="4293619" y="3925624"/>
            <a:ext cx="3438905" cy="221516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邮件</a:t>
            </a:r>
            <a:r>
              <a:rPr lang="en-US" altLang="zh-CN" b="1" dirty="0"/>
              <a:t>UI</a:t>
            </a:r>
            <a:r>
              <a:rPr lang="zh-CN" altLang="en-US" b="1" dirty="0"/>
              <a:t>渲染攻击</a:t>
            </a:r>
            <a:endParaRPr lang="en-US" altLang="zh-CN" b="1" dirty="0"/>
          </a:p>
        </p:txBody>
      </p:sp>
      <p:sp>
        <p:nvSpPr>
          <p:cNvPr id="6" name="文本框 5"/>
          <p:cNvSpPr txBox="1"/>
          <p:nvPr/>
        </p:nvSpPr>
        <p:spPr>
          <a:xfrm>
            <a:off x="956823" y="1951672"/>
            <a:ext cx="10276764" cy="1497205"/>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en-US" altLang="zh-CN" dirty="0"/>
              <a:t>A13-</a:t>
            </a:r>
            <a:r>
              <a:rPr lang="zh-CN" altLang="en-US" dirty="0"/>
              <a:t>缺失的</a:t>
            </a:r>
            <a:r>
              <a:rPr lang="en-US" altLang="zh-CN" dirty="0"/>
              <a:t>UI</a:t>
            </a:r>
            <a:r>
              <a:rPr lang="zh-CN" altLang="en-US" dirty="0"/>
              <a:t>渲染攻击：许多字符可以影响</a:t>
            </a:r>
            <a:r>
              <a:rPr lang="en-US" altLang="zh-CN" dirty="0"/>
              <a:t>MUA</a:t>
            </a:r>
            <a:r>
              <a:rPr lang="zh-CN" altLang="en-US" dirty="0"/>
              <a:t>的渲染。一些字符可能在渲染过程中被丢弃。另外，一些字符也可能导致电子邮件地址被截断，通过利用这些特殊字符可以影响最终的显示结果。</a:t>
            </a:r>
            <a:endParaRPr lang="en-US" altLang="zh-CN" dirty="0"/>
          </a:p>
          <a:p>
            <a:pPr marL="285750" indent="-285750">
              <a:lnSpc>
                <a:spcPct val="130000"/>
              </a:lnSpc>
              <a:buFont typeface="Arial" panose="020B0604020202020204" pitchFamily="34" charset="0"/>
              <a:buChar char="•"/>
            </a:pPr>
            <a:r>
              <a:rPr lang="en-US" altLang="zh-CN" dirty="0"/>
              <a:t>A13-Right-to-left</a:t>
            </a:r>
            <a:r>
              <a:rPr lang="zh-CN" altLang="en-US" dirty="0"/>
              <a:t>重写攻击：</a:t>
            </a:r>
            <a:r>
              <a:rPr lang="en-US" altLang="zh-CN" dirty="0"/>
              <a:t>U+202E</a:t>
            </a:r>
            <a:r>
              <a:rPr lang="zh-CN" altLang="en-US" dirty="0"/>
              <a:t>字符控制计算机以从右到左的顺序显示文本，攻击者可以构建一个字符串：</a:t>
            </a:r>
            <a:r>
              <a:rPr lang="en-US" altLang="zh-CN" dirty="0"/>
              <a:t>\u202emoc.a@\u202dalice</a:t>
            </a:r>
            <a:r>
              <a:rPr lang="zh-CN" altLang="en-US" dirty="0"/>
              <a:t>，这个字符串会被计算机解析为 </a:t>
            </a:r>
            <a:r>
              <a:rPr lang="en-US" altLang="zh-CN" dirty="0"/>
              <a:t>Alice@a.com</a:t>
            </a:r>
            <a:r>
              <a:rPr lang="zh-CN" altLang="en-US" dirty="0"/>
              <a:t>。</a:t>
            </a:r>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10686298" cy="4584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攻击测试结果</a:t>
            </a:r>
            <a:endParaRPr lang="en-US" altLang="zh-CN" b="1" dirty="0"/>
          </a:p>
        </p:txBody>
      </p:sp>
      <p:pic>
        <p:nvPicPr>
          <p:cNvPr id="9" name="图片 8"/>
          <p:cNvPicPr>
            <a:picLocks noChangeAspect="1"/>
          </p:cNvPicPr>
          <p:nvPr/>
        </p:nvPicPr>
        <p:blipFill>
          <a:blip r:embed="rId1"/>
          <a:stretch>
            <a:fillRect/>
          </a:stretch>
        </p:blipFill>
        <p:spPr>
          <a:xfrm>
            <a:off x="3239094" y="1136402"/>
            <a:ext cx="5547957" cy="499635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邮件发件人欺骗攻击</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669924" y="1306596"/>
            <a:ext cx="5667081" cy="378052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t>组合攻击</a:t>
            </a:r>
            <a:endParaRPr lang="en-US" altLang="zh-CN" b="1" dirty="0"/>
          </a:p>
          <a:p>
            <a:pPr lvl="1">
              <a:lnSpc>
                <a:spcPct val="150000"/>
              </a:lnSpc>
            </a:pPr>
            <a:r>
              <a:rPr lang="zh-CN" altLang="en-US" dirty="0"/>
              <a:t>上述的单个攻击无法绕过电子邮件传输过程中的全部身份验证过程，因此需要多种攻击进行组合从而完成攻击。</a:t>
            </a:r>
            <a:endParaRPr lang="en-US" altLang="zh-CN" dirty="0"/>
          </a:p>
          <a:p>
            <a:pPr lvl="1">
              <a:lnSpc>
                <a:spcPct val="150000"/>
              </a:lnSpc>
            </a:pPr>
            <a:r>
              <a:rPr lang="zh-CN" altLang="en-US" dirty="0"/>
              <a:t>图中结合</a:t>
            </a:r>
            <a:r>
              <a:rPr lang="en-US" altLang="zh-CN" dirty="0"/>
              <a:t>A2</a:t>
            </a:r>
            <a:r>
              <a:rPr lang="zh-CN" altLang="en-US" dirty="0"/>
              <a:t>，</a:t>
            </a:r>
            <a:r>
              <a:rPr lang="en-US" altLang="zh-CN" dirty="0"/>
              <a:t>A3</a:t>
            </a:r>
            <a:r>
              <a:rPr lang="zh-CN" altLang="en-US" dirty="0"/>
              <a:t>，</a:t>
            </a:r>
            <a:r>
              <a:rPr lang="en-US" altLang="zh-CN" dirty="0"/>
              <a:t>A10</a:t>
            </a:r>
            <a:r>
              <a:rPr lang="zh-CN" altLang="en-US" dirty="0"/>
              <a:t>进行了完整攻击。</a:t>
            </a:r>
            <a:endParaRPr lang="en-US" altLang="zh-CN" dirty="0"/>
          </a:p>
          <a:p>
            <a:pPr marL="742950" lvl="1" indent="-285750">
              <a:lnSpc>
                <a:spcPct val="150000"/>
              </a:lnSpc>
              <a:buFont typeface="Arial" panose="020B0604020202020204" pitchFamily="34" charset="0"/>
              <a:buChar char="•"/>
            </a:pPr>
            <a:r>
              <a:rPr lang="en-US" altLang="zh-CN" dirty="0"/>
              <a:t>A2</a:t>
            </a:r>
            <a:r>
              <a:rPr lang="zh-CN" altLang="en-US" dirty="0"/>
              <a:t>：</a:t>
            </a:r>
            <a:r>
              <a:rPr lang="en-US" altLang="zh-CN" dirty="0"/>
              <a:t>Mail From </a:t>
            </a:r>
            <a:r>
              <a:rPr lang="zh-CN" altLang="en-US" dirty="0"/>
              <a:t>和 </a:t>
            </a:r>
            <a:r>
              <a:rPr lang="en-US" altLang="zh-CN" dirty="0"/>
              <a:t>From </a:t>
            </a:r>
            <a:r>
              <a:rPr lang="zh-CN" altLang="en-US" dirty="0"/>
              <a:t>不一致</a:t>
            </a:r>
            <a:endParaRPr lang="en-US" altLang="zh-CN" dirty="0"/>
          </a:p>
          <a:p>
            <a:pPr marL="742950" lvl="1" indent="-285750">
              <a:lnSpc>
                <a:spcPct val="150000"/>
              </a:lnSpc>
              <a:buFont typeface="Arial" panose="020B0604020202020204" pitchFamily="34" charset="0"/>
              <a:buChar char="•"/>
            </a:pPr>
            <a:r>
              <a:rPr lang="en-US" altLang="zh-CN" dirty="0"/>
              <a:t>A3</a:t>
            </a:r>
            <a:r>
              <a:rPr lang="zh-CN" altLang="en-US" dirty="0"/>
              <a:t>：</a:t>
            </a:r>
            <a:r>
              <a:rPr lang="en-US" altLang="zh-CN" dirty="0"/>
              <a:t>Mail From</a:t>
            </a:r>
            <a:r>
              <a:rPr lang="zh-CN" altLang="en-US" dirty="0"/>
              <a:t>为空</a:t>
            </a:r>
            <a:endParaRPr lang="en-US" altLang="zh-CN" dirty="0"/>
          </a:p>
          <a:p>
            <a:pPr marL="742950" lvl="1" indent="-285750">
              <a:lnSpc>
                <a:spcPct val="150000"/>
              </a:lnSpc>
              <a:buFont typeface="Arial" panose="020B0604020202020204" pitchFamily="34" charset="0"/>
              <a:buChar char="•"/>
            </a:pPr>
            <a:r>
              <a:rPr lang="en-US" altLang="zh-CN" dirty="0"/>
              <a:t>A10</a:t>
            </a:r>
            <a:r>
              <a:rPr lang="zh-CN" altLang="en-US" dirty="0"/>
              <a:t>：</a:t>
            </a:r>
            <a:r>
              <a:rPr lang="en-US" altLang="zh-CN" dirty="0"/>
              <a:t>DKIM</a:t>
            </a:r>
            <a:r>
              <a:rPr lang="zh-CN" altLang="en-US" dirty="0"/>
              <a:t>签名欺诈</a:t>
            </a:r>
            <a:endParaRPr lang="en-US" altLang="zh-CN" dirty="0"/>
          </a:p>
          <a:p>
            <a:pPr lvl="1">
              <a:lnSpc>
                <a:spcPct val="150000"/>
              </a:lnSpc>
            </a:pPr>
            <a:endParaRPr lang="en-US" altLang="zh-CN" b="1" dirty="0"/>
          </a:p>
        </p:txBody>
      </p:sp>
      <p:pic>
        <p:nvPicPr>
          <p:cNvPr id="6" name="图片 5"/>
          <p:cNvPicPr>
            <a:picLocks noChangeAspect="1"/>
          </p:cNvPicPr>
          <p:nvPr/>
        </p:nvPicPr>
        <p:blipFill>
          <a:blip r:embed="rId1"/>
          <a:stretch>
            <a:fillRect/>
          </a:stretch>
        </p:blipFill>
        <p:spPr>
          <a:xfrm>
            <a:off x="6534533" y="1175447"/>
            <a:ext cx="4985954" cy="501329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 造成问题的原因</a:t>
            </a:r>
            <a:endParaRPr lang="zh-CN" altLang="en-US" dirty="0"/>
          </a:p>
        </p:txBody>
      </p:sp>
      <p:sp>
        <p:nvSpPr>
          <p:cNvPr id="3" name="页脚占位符 2"/>
          <p:cNvSpPr>
            <a:spLocks noGrp="1"/>
          </p:cNvSpPr>
          <p:nvPr>
            <p:ph type="ftr" sz="quarter" idx="11"/>
          </p:nvPr>
        </p:nvSpPr>
        <p:spPr/>
        <p:txBody>
          <a:bodyPr/>
          <a:lstStyle/>
          <a:p>
            <a:r>
              <a:rPr lang="en-US" altLang="zh-CN"/>
              <a:t>www.islide.cc</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7" name="文本框 6"/>
          <p:cNvSpPr txBox="1"/>
          <p:nvPr/>
        </p:nvSpPr>
        <p:spPr>
          <a:xfrm>
            <a:off x="834189" y="1274512"/>
            <a:ext cx="10686298" cy="3048399"/>
          </a:xfrm>
          <a:prstGeom prst="rect">
            <a:avLst/>
          </a:prstGeom>
          <a:noFill/>
        </p:spPr>
        <p:txBody>
          <a:bodyPr wrap="square" rtlCol="0">
            <a:spAutoFit/>
          </a:bodyPr>
          <a:lstStyle/>
          <a:p>
            <a:pPr>
              <a:lnSpc>
                <a:spcPct val="150000"/>
              </a:lnSpc>
            </a:pPr>
            <a:r>
              <a:rPr lang="zh-CN" altLang="en-US" dirty="0"/>
              <a:t>造成最终攻击者可以成功进行攻击的原因有很多个：</a:t>
            </a:r>
            <a:endParaRPr lang="zh-CN" altLang="en-US" dirty="0"/>
          </a:p>
          <a:p>
            <a:pPr marL="285750" indent="-285750">
              <a:lnSpc>
                <a:spcPct val="150000"/>
              </a:lnSpc>
              <a:buFont typeface="Arial" panose="020B0604020202020204" pitchFamily="34" charset="0"/>
              <a:buChar char="•"/>
            </a:pPr>
            <a:r>
              <a:rPr lang="zh-CN" altLang="en-US" dirty="0"/>
              <a:t>多协议之间的弱连接性，任何一个协议出现出现问题都会导致整体的安全性出现问题。</a:t>
            </a:r>
            <a:endParaRPr lang="en-US" altLang="zh-CN" dirty="0"/>
          </a:p>
          <a:p>
            <a:pPr marL="285750" indent="-285750">
              <a:lnSpc>
                <a:spcPct val="130000"/>
              </a:lnSpc>
              <a:buFont typeface="Arial" panose="020B0604020202020204" pitchFamily="34" charset="0"/>
              <a:buChar char="•"/>
            </a:pPr>
            <a:r>
              <a:rPr lang="zh-CN" altLang="en-US" dirty="0"/>
              <a:t>多角色之间的薄弱连接：发送方、接收者、转发者和</a:t>
            </a:r>
            <a:r>
              <a:rPr lang="en-US" altLang="zh-CN" dirty="0"/>
              <a:t>UI</a:t>
            </a:r>
            <a:r>
              <a:rPr lang="zh-CN" altLang="en-US" dirty="0"/>
              <a:t>渲染器中任一方出现问题都会影响安全策略的正确执行。</a:t>
            </a:r>
            <a:endParaRPr lang="en-US" altLang="zh-CN" dirty="0"/>
          </a:p>
          <a:p>
            <a:pPr marL="285750" indent="-285750">
              <a:lnSpc>
                <a:spcPct val="130000"/>
              </a:lnSpc>
              <a:buFont typeface="Arial" panose="020B0604020202020204" pitchFamily="34" charset="0"/>
              <a:buChar char="•"/>
            </a:pPr>
            <a:r>
              <a:rPr lang="zh-CN" altLang="en-US" dirty="0"/>
              <a:t>多服务之间的弱连接性：不同的电子邮件服务有不同的实现和配置，对于同一种问题存在不同的解决方法，有的禁止有的允许，安全策略之间的差异使得攻击者可以进行攻击。此外一些电子邮件服务不按照</a:t>
            </a:r>
            <a:r>
              <a:rPr lang="en-US" altLang="zh-CN" dirty="0"/>
              <a:t>RFC</a:t>
            </a:r>
            <a:r>
              <a:rPr lang="zh-CN" altLang="en-US" dirty="0"/>
              <a:t>规范对电子邮件处理，对</a:t>
            </a:r>
            <a:r>
              <a:rPr lang="en-US" altLang="zh-CN" dirty="0"/>
              <a:t>Unicode</a:t>
            </a:r>
            <a:r>
              <a:rPr lang="zh-CN" altLang="en-US" dirty="0"/>
              <a:t>字符的支持和处理不同这些处理策略的不同都影响了最终的电子邮件的安全性认证。</a:t>
            </a:r>
            <a:endParaRPr lang="en-US" altLang="zh-CN" dirty="0"/>
          </a:p>
        </p:txBody>
      </p:sp>
      <p:sp>
        <p:nvSpPr>
          <p:cNvPr id="6" name="文本框 5"/>
          <p:cNvSpPr txBox="1"/>
          <p:nvPr/>
        </p:nvSpPr>
        <p:spPr>
          <a:xfrm>
            <a:off x="834189" y="1643844"/>
            <a:ext cx="10850563" cy="646331"/>
          </a:xfrm>
          <a:prstGeom prst="rect">
            <a:avLst/>
          </a:prstGeom>
          <a:noFill/>
        </p:spPr>
        <p:txBody>
          <a:bodyPr wrap="square" rtlCol="0">
            <a:spAutoFit/>
          </a:bodyPr>
          <a:lstStyle/>
          <a:p>
            <a:pPr marL="742950" lvl="1" indent="-285750">
              <a:buFontTx/>
              <a:buChar char="-"/>
            </a:pPr>
            <a:endParaRPr lang="en-US" altLang="zh-CN" dirty="0"/>
          </a:p>
          <a:p>
            <a:pPr lvl="1"/>
            <a:endParaRPr lang="zh-CN" altLang="en-US" dirty="0"/>
          </a:p>
        </p:txBody>
      </p:sp>
    </p:spTree>
  </p:cSld>
  <p:clrMapOvr>
    <a:masterClrMapping/>
  </p:clrMapOvr>
</p:sld>
</file>

<file path=ppt/tags/tag1.xml><?xml version="1.0" encoding="utf-8"?>
<p:tagLst xmlns:p="http://schemas.openxmlformats.org/presentationml/2006/main">
  <p:tag name="commondata" val="eyJoZGlkIjoiZTcwZjg3OGM5MWVhNmI0ZmM4OGQ1YjQxNGU4NWYzMj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5">
  <a:themeElements>
    <a:clrScheme name="自定义 49">
      <a:dk1>
        <a:srgbClr val="000000"/>
      </a:dk1>
      <a:lt1>
        <a:srgbClr val="FFFFFF"/>
      </a:lt1>
      <a:dk2>
        <a:srgbClr val="778495"/>
      </a:dk2>
      <a:lt2>
        <a:srgbClr val="F0F0F0"/>
      </a:lt2>
      <a:accent1>
        <a:srgbClr val="354A5D"/>
      </a:accent1>
      <a:accent2>
        <a:srgbClr val="CE4C4B"/>
      </a:accent2>
      <a:accent3>
        <a:srgbClr val="A7AA9D"/>
      </a:accent3>
      <a:accent4>
        <a:srgbClr val="778495"/>
      </a:accent4>
      <a:accent5>
        <a:srgbClr val="586270"/>
      </a:accent5>
      <a:accent6>
        <a:srgbClr val="56595B"/>
      </a:accent6>
      <a:hlink>
        <a:srgbClr val="0F6FC6"/>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9931</Words>
  <Application>WPS 演示</Application>
  <PresentationFormat>宽屏</PresentationFormat>
  <Paragraphs>491</Paragraphs>
  <Slides>48</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48</vt:i4>
      </vt:variant>
    </vt:vector>
  </HeadingPairs>
  <TitlesOfParts>
    <vt:vector size="63" baseType="lpstr">
      <vt:lpstr>Arial</vt:lpstr>
      <vt:lpstr>宋体</vt:lpstr>
      <vt:lpstr>Wingdings</vt:lpstr>
      <vt:lpstr>Calibri</vt:lpstr>
      <vt:lpstr>微软雅黑</vt:lpstr>
      <vt:lpstr>仿宋</vt:lpstr>
      <vt:lpstr>Times New Roman</vt:lpstr>
      <vt:lpstr>Candara</vt:lpstr>
      <vt:lpstr>MS PGothic</vt:lpstr>
      <vt:lpstr>Arial Unicode MS</vt:lpstr>
      <vt:lpstr>Wingdings</vt:lpstr>
      <vt:lpstr>Impact</vt:lpstr>
      <vt:lpstr>Calibri</vt:lpstr>
      <vt:lpstr>WPS</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Weak Links in Authentication Chains: A Large-scale Analysis of Email Sender Spoofing Attacks </vt:lpstr>
      <vt:lpstr>攻击概述：</vt:lpstr>
      <vt:lpstr>1. 背景知识</vt:lpstr>
      <vt:lpstr>1. 背景知识</vt:lpstr>
      <vt:lpstr>1. 背景知识：电子邮件保护机制</vt:lpstr>
      <vt:lpstr>1. 背景知识：电子邮件保护机制</vt:lpstr>
      <vt:lpstr>2. 攻击模型</vt:lpstr>
      <vt:lpstr>2. 攻击模型</vt:lpstr>
      <vt:lpstr>2. 攻击模型</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3. 邮件发件人欺骗攻击</vt:lpstr>
      <vt:lpstr>4. 造成问题的原因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61</cp:revision>
  <dcterms:created xsi:type="dcterms:W3CDTF">1900-01-01T00:00:00Z</dcterms:created>
  <dcterms:modified xsi:type="dcterms:W3CDTF">2025-05-27T02:01:09Z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2052-12.1.0.21171</vt:lpwstr>
  </property>
</Properties>
</file>