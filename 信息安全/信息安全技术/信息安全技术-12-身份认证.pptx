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841" r:id="rId3"/>
    <p:sldId id="842" r:id="rId4"/>
    <p:sldId id="847" r:id="rId6"/>
    <p:sldId id="941" r:id="rId7"/>
    <p:sldId id="942" r:id="rId8"/>
    <p:sldId id="943" r:id="rId9"/>
    <p:sldId id="944" r:id="rId10"/>
    <p:sldId id="945" r:id="rId11"/>
    <p:sldId id="946" r:id="rId12"/>
    <p:sldId id="947" r:id="rId13"/>
    <p:sldId id="948" r:id="rId14"/>
    <p:sldId id="949" r:id="rId15"/>
    <p:sldId id="950" r:id="rId16"/>
    <p:sldId id="951" r:id="rId17"/>
    <p:sldId id="952" r:id="rId18"/>
    <p:sldId id="1014" r:id="rId19"/>
    <p:sldId id="1015" r:id="rId20"/>
    <p:sldId id="954" r:id="rId21"/>
    <p:sldId id="1017" r:id="rId22"/>
    <p:sldId id="956" r:id="rId23"/>
    <p:sldId id="957" r:id="rId24"/>
    <p:sldId id="1018" r:id="rId25"/>
    <p:sldId id="958" r:id="rId26"/>
    <p:sldId id="959" r:id="rId27"/>
    <p:sldId id="960" r:id="rId28"/>
    <p:sldId id="961" r:id="rId29"/>
    <p:sldId id="962" r:id="rId30"/>
    <p:sldId id="963" r:id="rId31"/>
    <p:sldId id="964" r:id="rId32"/>
    <p:sldId id="965" r:id="rId33"/>
    <p:sldId id="1020" r:id="rId34"/>
    <p:sldId id="990" r:id="rId35"/>
    <p:sldId id="991" r:id="rId36"/>
    <p:sldId id="992" r:id="rId37"/>
    <p:sldId id="993" r:id="rId38"/>
    <p:sldId id="994" r:id="rId39"/>
    <p:sldId id="995" r:id="rId40"/>
    <p:sldId id="996" r:id="rId41"/>
    <p:sldId id="997" r:id="rId42"/>
    <p:sldId id="998" r:id="rId43"/>
    <p:sldId id="999" r:id="rId44"/>
    <p:sldId id="1008" r:id="rId45"/>
    <p:sldId id="1009" r:id="rId46"/>
    <p:sldId id="1010" r:id="rId47"/>
    <p:sldId id="1011" r:id="rId48"/>
    <p:sldId id="1012" r:id="rId49"/>
    <p:sldId id="1013" r:id="rId50"/>
    <p:sldId id="1019" r:id="rId51"/>
    <p:sldId id="966" r:id="rId52"/>
    <p:sldId id="984" r:id="rId53"/>
    <p:sldId id="985" r:id="rId54"/>
    <p:sldId id="986" r:id="rId55"/>
    <p:sldId id="987" r:id="rId56"/>
    <p:sldId id="988" r:id="rId57"/>
    <p:sldId id="989" r:id="rId58"/>
    <p:sldId id="967" r:id="rId59"/>
    <p:sldId id="968" r:id="rId60"/>
    <p:sldId id="969" r:id="rId61"/>
    <p:sldId id="970" r:id="rId62"/>
    <p:sldId id="971" r:id="rId63"/>
    <p:sldId id="972" r:id="rId64"/>
    <p:sldId id="973" r:id="rId65"/>
    <p:sldId id="974" r:id="rId66"/>
    <p:sldId id="975" r:id="rId67"/>
    <p:sldId id="976" r:id="rId68"/>
    <p:sldId id="977" r:id="rId69"/>
    <p:sldId id="978" r:id="rId70"/>
    <p:sldId id="979" r:id="rId71"/>
    <p:sldId id="980" r:id="rId72"/>
    <p:sldId id="981" r:id="rId73"/>
    <p:sldId id="982" r:id="rId74"/>
    <p:sldId id="983" r:id="rId75"/>
  </p:sldIdLst>
  <p:sldSz cx="12192000" cy="6858000" type="screen4x3"/>
  <p:notesSz cx="6858000" cy="9144000"/>
  <p:custDataLst>
    <p:tags r:id="rId8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49" userDrawn="1">
          <p15:clr>
            <a:srgbClr val="A4A3A4"/>
          </p15:clr>
        </p15:guide>
        <p15:guide id="2" pos="383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qx" initials="w" lastIdx="6"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8603FDC-E32A-4AB5-989C-0864C3EAD2B8}" styleName="主题样式 2 - 强调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主题样式 2 - 强调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249"/>
        <p:guide pos="383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0" Type="http://schemas.openxmlformats.org/officeDocument/2006/relationships/tags" Target="tags/tag171.xml"/><Relationship Id="rId8" Type="http://schemas.openxmlformats.org/officeDocument/2006/relationships/slide" Target="slides/slide5.xml"/><Relationship Id="rId79" Type="http://schemas.openxmlformats.org/officeDocument/2006/relationships/commentAuthors" Target="commentAuthors.xml"/><Relationship Id="rId78" Type="http://schemas.openxmlformats.org/officeDocument/2006/relationships/tableStyles" Target="tableStyles.xml"/><Relationship Id="rId77" Type="http://schemas.openxmlformats.org/officeDocument/2006/relationships/viewProps" Target="viewProps.xml"/><Relationship Id="rId76" Type="http://schemas.openxmlformats.org/officeDocument/2006/relationships/presProps" Target="presProps.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notesMaster" Target="notesMasters/notesMaster1.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8.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0.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在进行容钥分发的过程中会使用到2种类型的okey＇一个是经端或用户与KDC共有的唯一的主密钥、还有一「类型就是每次通信使用的会话密钥</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在进行容钥分发的过程中会使用到2种类型的okey＇一个是经端或用户与KDC共有的唯一的主密钥、还有一「类型就是每次通信使用的会话密钥</a:t>
            </a:r>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在进行容钥分发的过程中会使用到2种类型的okey＇一个是经端或用户与KDC共有的唯一的主密钥、还有一「类型就是每次通信使用的会话密钥</a:t>
            </a:r>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在进行容钥分发的过程中会使用到2种类型的okey＇一个是经端或用户与KDC共有的唯一的主密钥、还有一「类型就是每次通信使用的会话密钥</a:t>
            </a:r>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在进行容钥分发的过程中会使用到2种类型的okey＇一个是经端或用户与KDC共有的唯一的主密钥、还有一「类型就是每次通信使用的会话密钥</a:t>
            </a:r>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在进行容钥分发的过程中会使用到2种类型的okey＇一个是经端或用户与KDC共有的唯一的主密钥、还有一「类型就是每次通信使用的会话密钥</a:t>
            </a:r>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在进行容钥分发的过程中会使用到2种类型的okey＇一个是经端或用户与KDC共有的唯一的主密钥、还有一「类型就是每次通信使用的会话密钥</a:t>
            </a:r>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在进行容钥分发的过程中会使用到2种类型的okey＇一个是经端或用户与KDC共有的唯一的主密钥、还有一「类型就是每次通信使用的会话密钥</a:t>
            </a:r>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在进行容钥分发的过程中会使用到2种类型的okey＇一个是经端或用户与KDC共有的唯一的主密钥、还有一「类型就是每次通信使用的会话密钥</a:t>
            </a:r>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r>
              <a:rPr lang="zh-CN" altLang="en-US"/>
              <a:t>在进行容钥分发的过程中会使用到2种类型的okey＇一个是经端或用户与KDC共有的唯一的主密钥、还有一「类型就是每次通信使用的会话密钥</a:t>
            </a:r>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幻灯片图像占位符 1"/>
          <p:cNvSpPr>
            <a:spLocks noGrp="1" noRot="1" noChangeAspect="1" noTextEdit="1"/>
          </p:cNvSpPr>
          <p:nvPr>
            <p:ph type="sldImg"/>
          </p:nvPr>
        </p:nvSpPr>
        <p:spPr bwMode="auto">
          <a:xfrm>
            <a:off x="1371600" y="1143000"/>
            <a:ext cx="4114800" cy="3086100"/>
          </a:xfrm>
          <a:noFill/>
          <a:ln>
            <a:solidFill>
              <a:srgbClr val="000000"/>
            </a:solidFill>
            <a:miter lim="800000"/>
          </a:ln>
        </p:spPr>
      </p:sp>
      <p:sp>
        <p:nvSpPr>
          <p:cNvPr id="71683"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smtClean="0"/>
          </a:p>
        </p:txBody>
      </p:sp>
      <p:sp>
        <p:nvSpPr>
          <p:cNvPr id="37892" name="灯片编号占位符 3"/>
          <p:cNvSpPr>
            <a:spLocks noGrp="1"/>
          </p:cNvSpPr>
          <p:nvPr>
            <p:ph type="sldNum" sz="quarter" idx="5"/>
          </p:nvPr>
        </p:nvSpPr>
        <p:spPr bwMode="auto">
          <a:ln>
            <a:miter lim="800000"/>
          </a:ln>
        </p:spPr>
        <p:txBody>
          <a:bodyPr wrap="square" numCol="1" anchorCtr="0" compatLnSpc="1"/>
          <a:lstStyle/>
          <a:p>
            <a:pPr fontAlgn="base">
              <a:spcBef>
                <a:spcPct val="0"/>
              </a:spcBef>
              <a:spcAft>
                <a:spcPct val="0"/>
              </a:spcAft>
              <a:defRPr/>
            </a:pPr>
            <a:fld id="{3EEB4141-9B59-4593-932C-EC40DD098CC4}" type="slidenum">
              <a:rPr lang="zh-CN" altLang="en-US" smtClean="0"/>
            </a:fld>
            <a:endParaRPr lang="zh-CN" alt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p:cNvSpPr>
            <a:spLocks noGrp="1" noRot="1" noChangeAspect="1" noTextEdit="1"/>
          </p:cNvSpPr>
          <p:nvPr>
            <p:ph type="sldImg"/>
          </p:nvPr>
        </p:nvSpPr>
        <p:spPr bwMode="auto">
          <a:xfrm>
            <a:off x="1371600" y="1143000"/>
            <a:ext cx="4114800" cy="3086100"/>
          </a:xfrm>
          <a:noFill/>
          <a:ln>
            <a:solidFill>
              <a:srgbClr val="000000"/>
            </a:solidFill>
            <a:miter lim="800000"/>
          </a:ln>
        </p:spPr>
      </p:sp>
      <p:sp>
        <p:nvSpPr>
          <p:cNvPr id="72707"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smtClean="0"/>
          </a:p>
        </p:txBody>
      </p:sp>
      <p:sp>
        <p:nvSpPr>
          <p:cNvPr id="40964" name="灯片编号占位符 3"/>
          <p:cNvSpPr>
            <a:spLocks noGrp="1"/>
          </p:cNvSpPr>
          <p:nvPr>
            <p:ph type="sldNum" sz="quarter" idx="5"/>
          </p:nvPr>
        </p:nvSpPr>
        <p:spPr bwMode="auto">
          <a:ln>
            <a:miter lim="800000"/>
          </a:ln>
        </p:spPr>
        <p:txBody>
          <a:bodyPr wrap="square" numCol="1" anchorCtr="0" compatLnSpc="1"/>
          <a:lstStyle/>
          <a:p>
            <a:pPr fontAlgn="base">
              <a:spcBef>
                <a:spcPct val="0"/>
              </a:spcBef>
              <a:spcAft>
                <a:spcPct val="0"/>
              </a:spcAft>
              <a:defRPr/>
            </a:pPr>
            <a:fld id="{CA8095C1-0EE2-4D55-AFC8-5BB319AC8A0D}" type="slidenum">
              <a:rPr lang="zh-CN" altLang="en-US" smtClean="0"/>
            </a:fld>
            <a:endParaRPr lang="zh-CN" alt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p:cNvSpPr>
            <a:spLocks noGrp="1" noRot="1" noChangeAspect="1" noTextEdit="1"/>
          </p:cNvSpPr>
          <p:nvPr>
            <p:ph type="sldImg"/>
          </p:nvPr>
        </p:nvSpPr>
        <p:spPr bwMode="auto">
          <a:xfrm>
            <a:off x="1371600" y="1143000"/>
            <a:ext cx="4114800" cy="3086100"/>
          </a:xfrm>
          <a:noFill/>
          <a:ln>
            <a:solidFill>
              <a:srgbClr val="000000"/>
            </a:solidFill>
            <a:miter lim="800000"/>
          </a:ln>
        </p:spPr>
      </p:sp>
      <p:sp>
        <p:nvSpPr>
          <p:cNvPr id="73731"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smtClean="0"/>
          </a:p>
        </p:txBody>
      </p:sp>
      <p:sp>
        <p:nvSpPr>
          <p:cNvPr id="36868" name="灯片编号占位符 3"/>
          <p:cNvSpPr>
            <a:spLocks noGrp="1"/>
          </p:cNvSpPr>
          <p:nvPr>
            <p:ph type="sldNum" sz="quarter" idx="5"/>
          </p:nvPr>
        </p:nvSpPr>
        <p:spPr bwMode="auto">
          <a:ln>
            <a:miter lim="800000"/>
          </a:ln>
        </p:spPr>
        <p:txBody>
          <a:bodyPr wrap="square" numCol="1" anchorCtr="0" compatLnSpc="1"/>
          <a:lstStyle/>
          <a:p>
            <a:pPr fontAlgn="base">
              <a:spcBef>
                <a:spcPct val="0"/>
              </a:spcBef>
              <a:spcAft>
                <a:spcPct val="0"/>
              </a:spcAft>
              <a:defRPr/>
            </a:pPr>
            <a:fld id="{7D1BE80C-9567-4958-B53A-FE259B4A4050}" type="slidenum">
              <a:rPr lang="zh-CN" altLang="en-US" smtClean="0"/>
            </a:fld>
            <a:endParaRPr lang="zh-CN" alt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TextEdit="1"/>
          </p:cNvSpPr>
          <p:nvPr>
            <p:ph type="sldImg"/>
          </p:nvPr>
        </p:nvSpPr>
        <p:spPr bwMode="auto">
          <a:xfrm>
            <a:off x="1371600" y="1143000"/>
            <a:ext cx="4114800" cy="3086100"/>
          </a:xfrm>
          <a:noFill/>
          <a:ln>
            <a:solidFill>
              <a:srgbClr val="000000"/>
            </a:solidFill>
            <a:miter lim="800000"/>
          </a:ln>
        </p:spPr>
      </p:sp>
      <p:sp>
        <p:nvSpPr>
          <p:cNvPr id="76803" name="备注占位符 2"/>
          <p:cNvSpPr>
            <a:spLocks noGrp="1"/>
          </p:cNvSpPr>
          <p:nvPr>
            <p:ph type="body" idx="1"/>
          </p:nvPr>
        </p:nvSpPr>
        <p:spPr bwMode="auto">
          <a:noFill/>
        </p:spPr>
        <p:txBody>
          <a:bodyPr wrap="square" numCol="1" anchor="t" anchorCtr="0" compatLnSpc="1"/>
          <a:lstStyle/>
          <a:p>
            <a:pPr eaLnBrk="1" hangingPunct="1">
              <a:spcBef>
                <a:spcPct val="0"/>
              </a:spcBef>
            </a:pPr>
            <a:r>
              <a:rPr lang="zh-CN" altLang="en-US" dirty="0" smtClean="0"/>
              <a:t>校验者</a:t>
            </a:r>
            <a:endParaRPr lang="zh-CN" altLang="en-US" dirty="0" smtClean="0"/>
          </a:p>
        </p:txBody>
      </p:sp>
      <p:sp>
        <p:nvSpPr>
          <p:cNvPr id="41988" name="灯片编号占位符 3"/>
          <p:cNvSpPr>
            <a:spLocks noGrp="1"/>
          </p:cNvSpPr>
          <p:nvPr>
            <p:ph type="sldNum" sz="quarter" idx="5"/>
          </p:nvPr>
        </p:nvSpPr>
        <p:spPr bwMode="auto">
          <a:ln>
            <a:miter lim="800000"/>
          </a:ln>
        </p:spPr>
        <p:txBody>
          <a:bodyPr wrap="square" numCol="1" anchorCtr="0" compatLnSpc="1"/>
          <a:lstStyle/>
          <a:p>
            <a:pPr fontAlgn="base">
              <a:spcBef>
                <a:spcPct val="0"/>
              </a:spcBef>
              <a:spcAft>
                <a:spcPct val="0"/>
              </a:spcAft>
              <a:defRPr/>
            </a:pPr>
            <a:fld id="{37CD79A7-77ED-4CA7-8E3F-C249A057DAE6}" type="slidenum">
              <a:rPr lang="zh-CN" altLang="en-US" smtClean="0"/>
            </a:fld>
            <a:endParaRPr lang="zh-CN" alt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bwMode="auto">
          <a:xfrm>
            <a:off x="1371600" y="1143000"/>
            <a:ext cx="4114800" cy="3086100"/>
          </a:xfrm>
          <a:noFill/>
          <a:ln>
            <a:solidFill>
              <a:srgbClr val="000000"/>
            </a:solidFill>
            <a:miter lim="800000"/>
          </a:ln>
        </p:spPr>
      </p:sp>
      <p:sp>
        <p:nvSpPr>
          <p:cNvPr id="74755"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smtClean="0"/>
          </a:p>
        </p:txBody>
      </p:sp>
      <p:sp>
        <p:nvSpPr>
          <p:cNvPr id="38916" name="灯片编号占位符 3"/>
          <p:cNvSpPr>
            <a:spLocks noGrp="1"/>
          </p:cNvSpPr>
          <p:nvPr>
            <p:ph type="sldNum" sz="quarter" idx="5"/>
          </p:nvPr>
        </p:nvSpPr>
        <p:spPr bwMode="auto">
          <a:ln>
            <a:miter lim="800000"/>
          </a:ln>
        </p:spPr>
        <p:txBody>
          <a:bodyPr wrap="square" numCol="1" anchorCtr="0" compatLnSpc="1"/>
          <a:lstStyle/>
          <a:p>
            <a:pPr fontAlgn="base">
              <a:spcBef>
                <a:spcPct val="0"/>
              </a:spcBef>
              <a:spcAft>
                <a:spcPct val="0"/>
              </a:spcAft>
              <a:defRPr/>
            </a:pPr>
            <a:fld id="{D0FBCDD6-872E-4EF4-B0DD-A853D6DF4309}" type="slidenum">
              <a:rPr lang="zh-CN" altLang="en-US" smtClean="0"/>
            </a:fld>
            <a:endParaRPr lang="zh-CN" alt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p:cNvSpPr>
            <a:spLocks noGrp="1" noRot="1" noChangeAspect="1" noTextEdit="1"/>
          </p:cNvSpPr>
          <p:nvPr>
            <p:ph type="sldImg"/>
          </p:nvPr>
        </p:nvSpPr>
        <p:spPr bwMode="auto">
          <a:xfrm>
            <a:off x="1371600" y="1143000"/>
            <a:ext cx="4114800" cy="3086100"/>
          </a:xfrm>
          <a:noFill/>
          <a:ln>
            <a:solidFill>
              <a:srgbClr val="000000"/>
            </a:solidFill>
            <a:miter lim="800000"/>
          </a:ln>
        </p:spPr>
      </p:sp>
      <p:sp>
        <p:nvSpPr>
          <p:cNvPr id="75779"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smtClean="0"/>
          </a:p>
        </p:txBody>
      </p:sp>
      <p:sp>
        <p:nvSpPr>
          <p:cNvPr id="39940" name="灯片编号占位符 3"/>
          <p:cNvSpPr>
            <a:spLocks noGrp="1"/>
          </p:cNvSpPr>
          <p:nvPr>
            <p:ph type="sldNum" sz="quarter" idx="5"/>
          </p:nvPr>
        </p:nvSpPr>
        <p:spPr bwMode="auto">
          <a:ln>
            <a:miter lim="800000"/>
          </a:ln>
        </p:spPr>
        <p:txBody>
          <a:bodyPr wrap="square" numCol="1" anchorCtr="0" compatLnSpc="1"/>
          <a:lstStyle/>
          <a:p>
            <a:pPr fontAlgn="base">
              <a:spcBef>
                <a:spcPct val="0"/>
              </a:spcBef>
              <a:spcAft>
                <a:spcPct val="0"/>
              </a:spcAft>
              <a:defRPr/>
            </a:pPr>
            <a:fld id="{3DC2BD59-1FD8-482D-8827-9837EA06B0D3}" type="slidenum">
              <a:rPr lang="zh-CN" altLang="en-US" smtClean="0"/>
            </a:fld>
            <a:endParaRPr lang="zh-CN" alt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幻灯片图像占位符 1"/>
          <p:cNvSpPr>
            <a:spLocks noGrp="1" noRot="1" noChangeAspect="1" noTextEdit="1"/>
          </p:cNvSpPr>
          <p:nvPr>
            <p:ph type="sldImg"/>
          </p:nvPr>
        </p:nvSpPr>
        <p:spPr bwMode="auto">
          <a:noFill/>
          <a:ln>
            <a:solidFill>
              <a:srgbClr val="000000"/>
            </a:solidFill>
            <a:miter lim="800000"/>
          </a:ln>
        </p:spPr>
      </p:sp>
      <p:sp>
        <p:nvSpPr>
          <p:cNvPr id="99331"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smtClean="0"/>
          </a:p>
        </p:txBody>
      </p:sp>
      <p:sp>
        <p:nvSpPr>
          <p:cNvPr id="64516" name="灯片编号占位符 3"/>
          <p:cNvSpPr>
            <a:spLocks noGrp="1"/>
          </p:cNvSpPr>
          <p:nvPr>
            <p:ph type="sldNum" sz="quarter" idx="5"/>
          </p:nvPr>
        </p:nvSpPr>
        <p:spPr bwMode="auto">
          <a:ln>
            <a:miter lim="800000"/>
          </a:ln>
        </p:spPr>
        <p:txBody>
          <a:bodyPr wrap="square" numCol="1" anchorCtr="0" compatLnSpc="1"/>
          <a:lstStyle/>
          <a:p>
            <a:pPr fontAlgn="base">
              <a:spcBef>
                <a:spcPct val="0"/>
              </a:spcBef>
              <a:spcAft>
                <a:spcPct val="0"/>
              </a:spcAft>
              <a:defRPr/>
            </a:pPr>
            <a:fld id="{EAA33F2A-48FD-40F0-AC53-9235BC6A3B86}" type="slidenum">
              <a:rPr lang="zh-CN" altLang="en-US" smtClean="0"/>
            </a:fld>
            <a:endParaRPr lang="zh-CN" alt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幻灯片图像占位符 1"/>
          <p:cNvSpPr>
            <a:spLocks noGrp="1" noRot="1" noChangeAspect="1" noTextEdit="1"/>
          </p:cNvSpPr>
          <p:nvPr>
            <p:ph type="sldImg"/>
          </p:nvPr>
        </p:nvSpPr>
        <p:spPr bwMode="auto">
          <a:noFill/>
          <a:ln>
            <a:solidFill>
              <a:srgbClr val="000000"/>
            </a:solidFill>
            <a:miter lim="800000"/>
          </a:ln>
        </p:spPr>
      </p:sp>
      <p:sp>
        <p:nvSpPr>
          <p:cNvPr id="98307"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smtClean="0"/>
          </a:p>
        </p:txBody>
      </p:sp>
      <p:sp>
        <p:nvSpPr>
          <p:cNvPr id="63492" name="灯片编号占位符 3"/>
          <p:cNvSpPr>
            <a:spLocks noGrp="1"/>
          </p:cNvSpPr>
          <p:nvPr>
            <p:ph type="sldNum" sz="quarter" idx="5"/>
          </p:nvPr>
        </p:nvSpPr>
        <p:spPr bwMode="auto">
          <a:ln>
            <a:miter lim="800000"/>
          </a:ln>
        </p:spPr>
        <p:txBody>
          <a:bodyPr wrap="square" numCol="1" anchorCtr="0" compatLnSpc="1"/>
          <a:lstStyle/>
          <a:p>
            <a:pPr fontAlgn="base">
              <a:spcBef>
                <a:spcPct val="0"/>
              </a:spcBef>
              <a:spcAft>
                <a:spcPct val="0"/>
              </a:spcAft>
              <a:defRPr/>
            </a:pPr>
            <a:fld id="{86399ED7-5A34-4BE6-98AF-108FF6ECC616}" type="slidenum">
              <a:rPr lang="zh-CN" altLang="en-US" smtClean="0"/>
            </a:fld>
            <a:endParaRPr lang="zh-CN" alt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直到现在</a:t>
            </a:r>
            <a:r>
              <a:rPr lang="en-US" altLang="zh-CN" dirty="0"/>
              <a:t>Kerberos</a:t>
            </a:r>
            <a:r>
              <a:rPr lang="zh-CN" altLang="en-US" dirty="0"/>
              <a:t>协议仍然是Windows域首选的一种认证协议。</a:t>
            </a:r>
            <a:endParaRPr lang="zh-CN" altLang="en-US" dirty="0"/>
          </a:p>
          <a:p>
            <a:endParaRPr lang="zh-CN" altLang="en-US" dirty="0"/>
          </a:p>
          <a:p>
            <a:r>
              <a:rPr lang="zh-CN" altLang="en-US" dirty="0"/>
              <a:t>那么，一提到</a:t>
            </a:r>
            <a:r>
              <a:rPr lang="en-US" altLang="zh-CN" dirty="0"/>
              <a:t>Kerberos</a:t>
            </a:r>
            <a:r>
              <a:rPr lang="zh-CN" altLang="en-US" dirty="0"/>
              <a:t>大家首先想到的是什么</a:t>
            </a:r>
            <a:r>
              <a:rPr lang="zh-CN" altLang="en-US" dirty="0"/>
              <a:t>呢？</a:t>
            </a:r>
            <a:endParaRPr lang="zh-CN" altLang="en-US" dirty="0"/>
          </a:p>
          <a:p>
            <a:r>
              <a:rPr lang="zh-CN" altLang="en-US" dirty="0"/>
              <a:t>如果熟悉古典神话的</a:t>
            </a:r>
            <a:r>
              <a:rPr lang="zh-CN" altLang="en-US" dirty="0"/>
              <a:t>话，可能会首先想到他是冥王</a:t>
            </a:r>
            <a:r>
              <a:rPr lang="en-US" altLang="zh-CN" dirty="0"/>
              <a:t>Hades</a:t>
            </a:r>
            <a:r>
              <a:rPr lang="zh-CN" altLang="en-US" dirty="0"/>
              <a:t>的一条凶猛的三头神犬，是地狱入口的</a:t>
            </a:r>
            <a:r>
              <a:rPr lang="zh-CN" altLang="en-US" dirty="0"/>
              <a:t>守卫者。</a:t>
            </a:r>
            <a:endParaRPr lang="zh-CN" altLang="en-US" dirty="0"/>
          </a:p>
          <a:p>
            <a:endParaRPr lang="zh-CN" altLang="en-US" dirty="0"/>
          </a:p>
          <a:p>
            <a:r>
              <a:rPr lang="zh-CN" altLang="en-US" dirty="0"/>
              <a:t>那如果应用到网络世界</a:t>
            </a:r>
            <a:r>
              <a:rPr lang="zh-CN" altLang="en-US" dirty="0"/>
              <a:t>中呢？</a:t>
            </a:r>
            <a:endParaRPr lang="zh-CN" altLang="en-US" dirty="0"/>
          </a:p>
          <a:p>
            <a:r>
              <a:rPr lang="zh-CN" altLang="en-US" dirty="0"/>
              <a:t>那我们可以把他看作是守护网络大门的守卫者</a:t>
            </a:r>
            <a:r>
              <a:rPr lang="en-US" altLang="zh-CN" dirty="0"/>
              <a:t>——</a:t>
            </a:r>
            <a:r>
              <a:rPr lang="zh-CN" altLang="en-US" dirty="0"/>
              <a:t>也就是我们今天要提到的</a:t>
            </a:r>
            <a:r>
              <a:rPr lang="en-US" altLang="zh-CN" dirty="0"/>
              <a:t>Kerberos</a:t>
            </a:r>
            <a:r>
              <a:rPr lang="zh-CN" altLang="en-US" dirty="0"/>
              <a:t>协议。</a:t>
            </a:r>
            <a:endParaRPr lang="zh-CN" altLang="en-US" dirty="0"/>
          </a:p>
          <a:p>
            <a:r>
              <a:rPr lang="en-US" altLang="zh-CN" dirty="0"/>
              <a:t>Kerberos</a:t>
            </a:r>
            <a:r>
              <a:rPr lang="zh-CN" altLang="en-US" dirty="0"/>
              <a:t>协议中也包含三个主要的角色，我们可以把他们当作我们现代</a:t>
            </a:r>
            <a:r>
              <a:rPr lang="en-US" altLang="zh-CN" dirty="0"/>
              <a:t>Kerberos</a:t>
            </a:r>
            <a:r>
              <a:rPr lang="zh-CN" altLang="en-US" dirty="0"/>
              <a:t>的三个</a:t>
            </a:r>
            <a:r>
              <a:rPr lang="zh-CN" altLang="en-US" dirty="0"/>
              <a:t>头。</a:t>
            </a:r>
            <a:endParaRPr lang="zh-CN" altLang="en-US" dirty="0"/>
          </a:p>
          <a:p>
            <a:endParaRPr lang="en-US" altLang="zh-CN" dirty="0"/>
          </a:p>
          <a:p>
            <a:r>
              <a:rPr lang="zh-CN" altLang="en-US" dirty="0"/>
              <a:t>下一页：那么我们为什么需要</a:t>
            </a:r>
            <a:r>
              <a:rPr lang="en-US" altLang="zh-CN" dirty="0"/>
              <a:t>Kerberos</a:t>
            </a:r>
            <a:r>
              <a:rPr lang="zh-CN" altLang="en-US" dirty="0"/>
              <a:t>协议</a:t>
            </a:r>
            <a:r>
              <a:rPr lang="zh-CN" altLang="en-US" dirty="0"/>
              <a:t>呢？</a:t>
            </a:r>
            <a:endParaRPr lang="zh-CN" altLang="en-US" dirty="0"/>
          </a:p>
        </p:txBody>
      </p:sp>
      <p:sp>
        <p:nvSpPr>
          <p:cNvPr id="4" name="灯片编号占位符 3"/>
          <p:cNvSpPr>
            <a:spLocks noGrp="1"/>
          </p:cNvSpPr>
          <p:nvPr>
            <p:ph type="sldNum" sz="quarter" idx="10"/>
          </p:nvPr>
        </p:nvSpPr>
        <p:spPr/>
        <p:txBody>
          <a:bodyPr/>
          <a:lstStyle/>
          <a:p>
            <a:pPr>
              <a:defRPr/>
            </a:pPr>
            <a:fld id="{5AC9BAEE-8509-47A6-8A3D-7CA4239D7D90}"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幻灯片图像占位符 1"/>
          <p:cNvSpPr>
            <a:spLocks noGrp="1" noRot="1" noChangeAspect="1" noTextEdit="1"/>
          </p:cNvSpPr>
          <p:nvPr>
            <p:ph type="sldImg"/>
          </p:nvPr>
        </p:nvSpPr>
        <p:spPr bwMode="auto">
          <a:noFill/>
          <a:ln>
            <a:solidFill>
              <a:srgbClr val="000000"/>
            </a:solidFill>
            <a:miter lim="800000"/>
          </a:ln>
        </p:spPr>
      </p:sp>
      <p:sp>
        <p:nvSpPr>
          <p:cNvPr id="63490"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smtClean="0"/>
          </a:p>
        </p:txBody>
      </p:sp>
      <p:sp>
        <p:nvSpPr>
          <p:cNvPr id="63491" name="灯片编号占位符 3"/>
          <p:cNvSpPr>
            <a:spLocks noGrp="1"/>
          </p:cNvSpPr>
          <p:nvPr>
            <p:ph type="sldNum" sz="quarter" idx="5"/>
          </p:nvPr>
        </p:nvSpPr>
        <p:spPr bwMode="auto">
          <a:noFill/>
          <a:ln>
            <a:miter lim="800000"/>
          </a:ln>
        </p:spPr>
        <p:txBody>
          <a:bodyPr wrap="square" numCol="1" anchorCtr="0" compatLnSpc="1"/>
          <a:lstStyle/>
          <a:p>
            <a:fld id="{1DCD8B50-F0EF-406F-BAA9-E814CF70DE87}" type="slidenum">
              <a:rPr lang="zh-CN" altLang="en-US" smtClean="0">
                <a:ea typeface="宋体" panose="02010600030101010101" pitchFamily="2" charset="-122"/>
              </a:rPr>
            </a:fld>
            <a:endParaRPr lang="en-US" altLang="zh-CN" smtClean="0">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幻灯片图像占位符 1"/>
          <p:cNvSpPr>
            <a:spLocks noGrp="1" noRot="1" noChangeAspect="1" noTextEdit="1"/>
          </p:cNvSpPr>
          <p:nvPr>
            <p:ph type="sldImg"/>
          </p:nvPr>
        </p:nvSpPr>
        <p:spPr bwMode="auto">
          <a:noFill/>
          <a:ln>
            <a:solidFill>
              <a:srgbClr val="000000"/>
            </a:solidFill>
            <a:miter lim="800000"/>
          </a:ln>
        </p:spPr>
      </p:sp>
      <p:sp>
        <p:nvSpPr>
          <p:cNvPr id="65538"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smtClean="0"/>
          </a:p>
        </p:txBody>
      </p:sp>
      <p:sp>
        <p:nvSpPr>
          <p:cNvPr id="65539" name="灯片编号占位符 3"/>
          <p:cNvSpPr>
            <a:spLocks noGrp="1"/>
          </p:cNvSpPr>
          <p:nvPr>
            <p:ph type="sldNum" sz="quarter" idx="5"/>
          </p:nvPr>
        </p:nvSpPr>
        <p:spPr bwMode="auto">
          <a:noFill/>
          <a:ln>
            <a:miter lim="800000"/>
          </a:ln>
        </p:spPr>
        <p:txBody>
          <a:bodyPr wrap="square" numCol="1" anchorCtr="0" compatLnSpc="1"/>
          <a:lstStyle/>
          <a:p>
            <a:fld id="{3E4DD039-52AD-402B-999F-5B219AE276EB}" type="slidenum">
              <a:rPr lang="zh-CN" altLang="en-US" smtClean="0">
                <a:ea typeface="宋体" panose="02010600030101010101" pitchFamily="2" charset="-122"/>
              </a:rPr>
            </a:fld>
            <a:endParaRPr lang="en-US" altLang="zh-CN" smtClean="0">
              <a:ea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幻灯片图像占位符 1"/>
          <p:cNvSpPr>
            <a:spLocks noGrp="1" noRot="1" noChangeAspect="1" noTextEdit="1"/>
          </p:cNvSpPr>
          <p:nvPr>
            <p:ph type="sldImg"/>
          </p:nvPr>
        </p:nvSpPr>
        <p:spPr bwMode="auto">
          <a:noFill/>
          <a:ln>
            <a:solidFill>
              <a:srgbClr val="000000"/>
            </a:solidFill>
            <a:miter lim="800000"/>
          </a:ln>
        </p:spPr>
      </p:sp>
      <p:sp>
        <p:nvSpPr>
          <p:cNvPr id="67586"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smtClean="0"/>
          </a:p>
        </p:txBody>
      </p:sp>
      <p:sp>
        <p:nvSpPr>
          <p:cNvPr id="67587" name="灯片编号占位符 3"/>
          <p:cNvSpPr>
            <a:spLocks noGrp="1"/>
          </p:cNvSpPr>
          <p:nvPr>
            <p:ph type="sldNum" sz="quarter" idx="5"/>
          </p:nvPr>
        </p:nvSpPr>
        <p:spPr bwMode="auto">
          <a:noFill/>
          <a:ln>
            <a:miter lim="800000"/>
          </a:ln>
        </p:spPr>
        <p:txBody>
          <a:bodyPr wrap="square" numCol="1" anchorCtr="0" compatLnSpc="1"/>
          <a:lstStyle/>
          <a:p>
            <a:fld id="{D9C9C9D6-22E8-43B7-AF20-4D5A5B68970D}" type="slidenum">
              <a:rPr lang="zh-CN" altLang="en-US" smtClean="0">
                <a:ea typeface="宋体" panose="02010600030101010101" pitchFamily="2" charset="-122"/>
              </a:rPr>
            </a:fld>
            <a:endParaRPr lang="en-US" altLang="zh-CN" smtClean="0">
              <a:ea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幻灯片图像占位符 1"/>
          <p:cNvSpPr>
            <a:spLocks noGrp="1" noRot="1" noChangeAspect="1" noTextEdit="1"/>
          </p:cNvSpPr>
          <p:nvPr>
            <p:ph type="sldImg"/>
          </p:nvPr>
        </p:nvSpPr>
        <p:spPr bwMode="auto">
          <a:noFill/>
          <a:ln>
            <a:solidFill>
              <a:srgbClr val="000000"/>
            </a:solidFill>
            <a:miter lim="800000"/>
          </a:ln>
        </p:spPr>
      </p:sp>
      <p:sp>
        <p:nvSpPr>
          <p:cNvPr id="69634"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smtClean="0"/>
          </a:p>
        </p:txBody>
      </p:sp>
      <p:sp>
        <p:nvSpPr>
          <p:cNvPr id="69635" name="灯片编号占位符 3"/>
          <p:cNvSpPr>
            <a:spLocks noGrp="1"/>
          </p:cNvSpPr>
          <p:nvPr>
            <p:ph type="sldNum" sz="quarter" idx="5"/>
          </p:nvPr>
        </p:nvSpPr>
        <p:spPr bwMode="auto">
          <a:noFill/>
          <a:ln>
            <a:miter lim="800000"/>
          </a:ln>
        </p:spPr>
        <p:txBody>
          <a:bodyPr wrap="square" numCol="1" anchorCtr="0" compatLnSpc="1"/>
          <a:lstStyle/>
          <a:p>
            <a:fld id="{0F24DE8B-438D-4CA3-BC04-F9B32F906A24}" type="slidenum">
              <a:rPr lang="zh-CN" altLang="en-US" smtClean="0">
                <a:ea typeface="宋体" panose="02010600030101010101" pitchFamily="2" charset="-122"/>
              </a:rPr>
            </a:fld>
            <a:endParaRPr lang="en-US" altLang="zh-CN" smtClean="0">
              <a:ea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幻灯片图像占位符 1"/>
          <p:cNvSpPr>
            <a:spLocks noGrp="1" noRot="1" noChangeAspect="1" noTextEdit="1"/>
          </p:cNvSpPr>
          <p:nvPr>
            <p:ph type="sldImg"/>
          </p:nvPr>
        </p:nvSpPr>
        <p:spPr bwMode="auto">
          <a:noFill/>
          <a:ln>
            <a:solidFill>
              <a:srgbClr val="000000"/>
            </a:solidFill>
            <a:miter lim="800000"/>
          </a:ln>
        </p:spPr>
      </p:sp>
      <p:sp>
        <p:nvSpPr>
          <p:cNvPr id="72706"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dirty="0" smtClean="0"/>
          </a:p>
        </p:txBody>
      </p:sp>
      <p:sp>
        <p:nvSpPr>
          <p:cNvPr id="72707" name="灯片编号占位符 3"/>
          <p:cNvSpPr>
            <a:spLocks noGrp="1"/>
          </p:cNvSpPr>
          <p:nvPr>
            <p:ph type="sldNum" sz="quarter" idx="5"/>
          </p:nvPr>
        </p:nvSpPr>
        <p:spPr bwMode="auto">
          <a:noFill/>
          <a:ln>
            <a:miter lim="800000"/>
          </a:ln>
        </p:spPr>
        <p:txBody>
          <a:bodyPr wrap="square" numCol="1" anchorCtr="0" compatLnSpc="1"/>
          <a:lstStyle/>
          <a:p>
            <a:fld id="{598FF1E2-383F-4860-BBF5-FD97E48E6A3C}" type="slidenum">
              <a:rPr lang="zh-CN" altLang="en-US" smtClean="0">
                <a:ea typeface="宋体" panose="02010600030101010101" pitchFamily="2" charset="-122"/>
              </a:rPr>
            </a:fld>
            <a:endParaRPr lang="en-US" altLang="zh-CN" smtClean="0">
              <a:ea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幻灯片图像占位符 1"/>
          <p:cNvSpPr>
            <a:spLocks noGrp="1" noRot="1" noChangeAspect="1" noTextEdit="1"/>
          </p:cNvSpPr>
          <p:nvPr>
            <p:ph type="sldImg"/>
          </p:nvPr>
        </p:nvSpPr>
        <p:spPr bwMode="auto">
          <a:noFill/>
          <a:ln>
            <a:solidFill>
              <a:srgbClr val="000000"/>
            </a:solidFill>
            <a:miter lim="800000"/>
          </a:ln>
        </p:spPr>
      </p:sp>
      <p:sp>
        <p:nvSpPr>
          <p:cNvPr id="74754" name="备注占位符 2"/>
          <p:cNvSpPr>
            <a:spLocks noGrp="1"/>
          </p:cNvSpPr>
          <p:nvPr>
            <p:ph type="body" idx="1"/>
          </p:nvPr>
        </p:nvSpPr>
        <p:spPr bwMode="auto">
          <a:noFill/>
        </p:spPr>
        <p:txBody>
          <a:bodyPr wrap="square" numCol="1" anchor="t" anchorCtr="0" compatLnSpc="1"/>
          <a:lstStyle/>
          <a:p>
            <a:pPr eaLnBrk="1" hangingPunct="1">
              <a:spcBef>
                <a:spcPct val="0"/>
              </a:spcBef>
            </a:pPr>
            <a:endParaRPr lang="zh-CN" altLang="en-US" dirty="0" smtClean="0"/>
          </a:p>
        </p:txBody>
      </p:sp>
      <p:sp>
        <p:nvSpPr>
          <p:cNvPr id="74755" name="灯片编号占位符 3"/>
          <p:cNvSpPr>
            <a:spLocks noGrp="1"/>
          </p:cNvSpPr>
          <p:nvPr>
            <p:ph type="sldNum" sz="quarter" idx="5"/>
          </p:nvPr>
        </p:nvSpPr>
        <p:spPr bwMode="auto">
          <a:noFill/>
          <a:ln>
            <a:miter lim="800000"/>
          </a:ln>
        </p:spPr>
        <p:txBody>
          <a:bodyPr wrap="square" numCol="1" anchorCtr="0" compatLnSpc="1"/>
          <a:lstStyle/>
          <a:p>
            <a:fld id="{C723F9A2-0CED-492E-BDF1-0B6615BF3F97}" type="slidenum">
              <a:rPr lang="zh-CN" altLang="en-US" smtClean="0">
                <a:ea typeface="宋体" panose="02010600030101010101" pitchFamily="2" charset="-122"/>
              </a:rPr>
            </a:fld>
            <a:endParaRPr lang="en-US" altLang="zh-CN" smtClean="0">
              <a:ea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我们可以假设一个很常见的</a:t>
            </a:r>
            <a:r>
              <a:rPr lang="zh-CN" altLang="en-US" dirty="0"/>
              <a:t>场景：</a:t>
            </a:r>
            <a:endParaRPr lang="zh-CN" altLang="en-US" dirty="0"/>
          </a:p>
          <a:p>
            <a:r>
              <a:rPr kumimoji="1" lang="zh-CN" altLang="en-US" dirty="0" smtClean="0">
                <a:latin typeface="Times New Roman" panose="02020603050405020304" pitchFamily="18" charset="0"/>
                <a:sym typeface="+mn-ea"/>
              </a:rPr>
              <a:t>在一个开放的分布式网络环境中，用户想要通过客户端（</a:t>
            </a:r>
            <a:r>
              <a:rPr kumimoji="1" lang="en-US" altLang="zh-CN" dirty="0" smtClean="0">
                <a:latin typeface="Times New Roman" panose="02020603050405020304" pitchFamily="18" charset="0"/>
                <a:sym typeface="+mn-ea"/>
              </a:rPr>
              <a:t>Client</a:t>
            </a:r>
            <a:r>
              <a:rPr kumimoji="1" lang="zh-CN" altLang="en-US" dirty="0" smtClean="0">
                <a:latin typeface="Times New Roman" panose="02020603050405020304" pitchFamily="18" charset="0"/>
                <a:sym typeface="+mn-ea"/>
              </a:rPr>
              <a:t>）访问服务器（</a:t>
            </a:r>
            <a:r>
              <a:rPr kumimoji="1" lang="en-US" altLang="zh-CN" dirty="0" smtClean="0">
                <a:latin typeface="Times New Roman" panose="02020603050405020304" pitchFamily="18" charset="0"/>
                <a:sym typeface="+mn-ea"/>
              </a:rPr>
              <a:t>Server</a:t>
            </a:r>
            <a:r>
              <a:rPr kumimoji="1" lang="zh-CN" altLang="en-US" dirty="0" smtClean="0">
                <a:latin typeface="Times New Roman" panose="02020603050405020304" pitchFamily="18" charset="0"/>
                <a:sym typeface="+mn-ea"/>
              </a:rPr>
              <a:t>）上提供的资源。</a:t>
            </a:r>
            <a:endParaRPr kumimoji="1" lang="zh-CN" altLang="en-US" dirty="0" smtClean="0">
              <a:latin typeface="Times New Roman" panose="02020603050405020304" pitchFamily="18" charset="0"/>
              <a:sym typeface="+mn-ea"/>
            </a:endParaRPr>
          </a:p>
          <a:p>
            <a:endParaRPr lang="zh-CN" altLang="en-US" dirty="0"/>
          </a:p>
          <a:p>
            <a:r>
              <a:rPr lang="zh-CN" altLang="en-US" dirty="0"/>
              <a:t>分布式网络环境中会包含各种不同的服务器，以及各类可以用于访问这些服务器的</a:t>
            </a:r>
            <a:r>
              <a:rPr lang="zh-CN" altLang="en-US" dirty="0"/>
              <a:t>客户端。</a:t>
            </a:r>
            <a:endParaRPr lang="zh-CN" altLang="en-US" dirty="0"/>
          </a:p>
          <a:p>
            <a:endParaRPr lang="zh-CN" altLang="en-US" dirty="0"/>
          </a:p>
          <a:p>
            <a:r>
              <a:rPr lang="zh-CN" altLang="en-US" dirty="0"/>
              <a:t>当用户想要访问一个服务器时（例如文件服务器），用户需要在文件服务器上使用自己的账户口令进行身份认证，文件服务器会根据得到的账户口令信息进行验证，验证通过后会返回给客户端请求的</a:t>
            </a:r>
            <a:r>
              <a:rPr lang="zh-CN" altLang="en-US" dirty="0"/>
              <a:t>资源。</a:t>
            </a:r>
            <a:endParaRPr lang="zh-CN" altLang="en-US" dirty="0"/>
          </a:p>
          <a:p>
            <a:endParaRPr lang="zh-CN" altLang="en-US" dirty="0"/>
          </a:p>
          <a:p>
            <a:r>
              <a:rPr lang="zh-CN" altLang="en-US" dirty="0"/>
              <a:t>那么这种传统的口令</a:t>
            </a:r>
            <a:r>
              <a:rPr lang="zh-CN" altLang="en-US" dirty="0"/>
              <a:t>认证存在什么问题</a:t>
            </a:r>
            <a:r>
              <a:rPr lang="zh-CN" altLang="en-US" dirty="0"/>
              <a:t>呢？</a:t>
            </a:r>
            <a:endParaRPr lang="zh-CN" altLang="en-US" dirty="0"/>
          </a:p>
          <a:p>
            <a:endParaRPr lang="zh-CN" altLang="en-US" dirty="0"/>
          </a:p>
          <a:p>
            <a:r>
              <a:rPr lang="en-US" altLang="zh-CN" dirty="0"/>
              <a:t>1. </a:t>
            </a:r>
            <a:r>
              <a:rPr lang="zh-CN" altLang="en-US" dirty="0"/>
              <a:t>每一个</a:t>
            </a:r>
            <a:r>
              <a:rPr lang="en-US" altLang="zh-CN" dirty="0"/>
              <a:t>Server</a:t>
            </a:r>
            <a:r>
              <a:rPr lang="zh-CN" altLang="en-US" dirty="0"/>
              <a:t>都需要维护一个用户列表保存用户的账号和口令，并且需要实现身份认证相关的</a:t>
            </a:r>
            <a:r>
              <a:rPr lang="zh-CN" altLang="en-US" dirty="0"/>
              <a:t>功能。</a:t>
            </a:r>
            <a:endParaRPr lang="zh-CN" altLang="en-US" dirty="0"/>
          </a:p>
          <a:p>
            <a:r>
              <a:rPr lang="en-US" altLang="zh-CN" dirty="0"/>
              <a:t>2. </a:t>
            </a:r>
            <a:r>
              <a:rPr lang="zh-CN" altLang="en-US" dirty="0"/>
              <a:t>对于客户端和用户来讲，每一次访问不同的资源，都需要进行一次登录，输入账户和</a:t>
            </a:r>
            <a:r>
              <a:rPr lang="zh-CN" altLang="en-US" dirty="0"/>
              <a:t>口令。</a:t>
            </a:r>
            <a:endParaRPr lang="zh-CN" altLang="en-US" dirty="0"/>
          </a:p>
          <a:p>
            <a:endParaRPr lang="zh-CN" altLang="en-US" dirty="0"/>
          </a:p>
          <a:p>
            <a:r>
              <a:rPr lang="zh-CN" altLang="en-US" dirty="0"/>
              <a:t>这种传统的口令认证首先是使用上不够方便，</a:t>
            </a:r>
            <a:r>
              <a:rPr lang="zh-CN" altLang="en-US" dirty="0"/>
              <a:t>简洁。</a:t>
            </a:r>
            <a:endParaRPr lang="zh-CN" altLang="en-US" dirty="0"/>
          </a:p>
          <a:p>
            <a:r>
              <a:rPr lang="zh-CN" altLang="en-US" dirty="0"/>
              <a:t>其次是会带来口令安全问题。口令的重用问题，以及服务器端不安全的实现，都会导致用户口令的</a:t>
            </a:r>
            <a:r>
              <a:rPr lang="zh-CN" altLang="en-US" dirty="0"/>
              <a:t>泄露。</a:t>
            </a:r>
            <a:endParaRPr lang="zh-CN" altLang="en-US" dirty="0"/>
          </a:p>
        </p:txBody>
      </p:sp>
      <p:sp>
        <p:nvSpPr>
          <p:cNvPr id="4" name="灯片编号占位符 3"/>
          <p:cNvSpPr>
            <a:spLocks noGrp="1"/>
          </p:cNvSpPr>
          <p:nvPr>
            <p:ph type="sldNum" sz="quarter" idx="10"/>
          </p:nvPr>
        </p:nvSpPr>
        <p:spPr/>
        <p:txBody>
          <a:bodyPr/>
          <a:lstStyle/>
          <a:p>
            <a:pPr>
              <a:defRPr/>
            </a:pPr>
            <a:fld id="{5AC9BAEE-8509-47A6-8A3D-7CA4239D7D90}"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为了解决分布式系统中存在的认证问题，提升分布式系统的安全性，研究人员设计了</a:t>
            </a:r>
            <a:r>
              <a:rPr lang="en-US" altLang="zh-CN" dirty="0"/>
              <a:t>Kerberos</a:t>
            </a:r>
            <a:r>
              <a:rPr lang="zh-CN" altLang="en-US" dirty="0"/>
              <a:t>协议，通过引入</a:t>
            </a:r>
            <a:r>
              <a:rPr lang="en-US" altLang="zh-CN" dirty="0"/>
              <a:t>Kerberos </a:t>
            </a:r>
            <a:r>
              <a:rPr lang="zh-CN" altLang="en-US" dirty="0"/>
              <a:t>密钥分发中心作为一个可信的第三方来提供身份认证</a:t>
            </a:r>
            <a:r>
              <a:rPr lang="zh-CN" altLang="en-US" dirty="0"/>
              <a:t>服务。</a:t>
            </a:r>
            <a:endParaRPr lang="zh-CN" altLang="en-US" dirty="0"/>
          </a:p>
          <a:p>
            <a:r>
              <a:rPr lang="zh-CN" altLang="en-US" dirty="0"/>
              <a:t>下一页，</a:t>
            </a:r>
            <a:endParaRPr lang="zh-CN" altLang="en-US" dirty="0"/>
          </a:p>
        </p:txBody>
      </p:sp>
      <p:sp>
        <p:nvSpPr>
          <p:cNvPr id="4" name="灯片编号占位符 3"/>
          <p:cNvSpPr>
            <a:spLocks noGrp="1"/>
          </p:cNvSpPr>
          <p:nvPr>
            <p:ph type="sldNum" sz="quarter" idx="10"/>
          </p:nvPr>
        </p:nvSpPr>
        <p:spPr/>
        <p:txBody>
          <a:bodyPr/>
          <a:lstStyle/>
          <a:p>
            <a:pPr>
              <a:defRPr/>
            </a:pPr>
            <a:fld id="{5AC9BAEE-8509-47A6-8A3D-7CA4239D7D90}"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那么，</a:t>
            </a:r>
            <a:r>
              <a:rPr lang="en-US" altLang="zh-CN" dirty="0"/>
              <a:t>Kerberos KDC</a:t>
            </a:r>
            <a:r>
              <a:rPr lang="zh-CN" altLang="en-US" dirty="0"/>
              <a:t>作为一个可信第三方是如何建立起与分布式系统中的实体的认证关系的</a:t>
            </a:r>
            <a:r>
              <a:rPr lang="zh-CN" altLang="en-US" dirty="0"/>
              <a:t>呢？</a:t>
            </a:r>
            <a:endParaRPr lang="zh-CN" altLang="en-US" dirty="0"/>
          </a:p>
          <a:p>
            <a:r>
              <a:rPr lang="en-US" altLang="zh-CN" dirty="0"/>
              <a:t>Kerberos</a:t>
            </a:r>
            <a:r>
              <a:rPr lang="zh-CN" altLang="en-US" dirty="0"/>
              <a:t>协议通过引入对称密码学，利用对称密码算法和共享密钥完成</a:t>
            </a:r>
            <a:r>
              <a:rPr lang="en-US" altLang="zh-CN" dirty="0"/>
              <a:t>Kerberos</a:t>
            </a:r>
            <a:r>
              <a:rPr lang="zh-CN" altLang="en-US" dirty="0"/>
              <a:t>之间的</a:t>
            </a:r>
            <a:r>
              <a:rPr lang="zh-CN" altLang="en-US" dirty="0"/>
              <a:t>相互认证。</a:t>
            </a:r>
            <a:endParaRPr lang="zh-CN" altLang="en-US" dirty="0"/>
          </a:p>
        </p:txBody>
      </p:sp>
      <p:sp>
        <p:nvSpPr>
          <p:cNvPr id="4" name="灯片编号占位符 3"/>
          <p:cNvSpPr>
            <a:spLocks noGrp="1"/>
          </p:cNvSpPr>
          <p:nvPr>
            <p:ph type="sldNum" sz="quarter" idx="10"/>
          </p:nvPr>
        </p:nvSpPr>
        <p:spPr/>
        <p:txBody>
          <a:bodyPr/>
          <a:lstStyle/>
          <a:p>
            <a:pPr>
              <a:defRPr/>
            </a:pPr>
            <a:fld id="{5AC9BAEE-8509-47A6-8A3D-7CA4239D7D90}"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5AC9BAEE-8509-47A6-8A3D-7CA4239D7D90}"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smtClean="0">
                <a:sym typeface="+mn-ea"/>
              </a:rPr>
              <a:t>维护所有帐户的</a:t>
            </a:r>
            <a:r>
              <a:rPr lang="en-US" altLang="zh-CN" dirty="0" smtClean="0">
                <a:sym typeface="+mn-ea"/>
              </a:rPr>
              <a:t>Account Database</a:t>
            </a:r>
            <a:endParaRPr lang="en-US" altLang="zh-CN" dirty="0" smtClean="0"/>
          </a:p>
          <a:p>
            <a:pPr lvl="1" eaLnBrk="1" hangingPunct="1"/>
            <a:r>
              <a:rPr lang="zh-CN" altLang="en-US" dirty="0" smtClean="0">
                <a:sym typeface="+mn-ea"/>
              </a:rPr>
              <a:t>每个用户（</a:t>
            </a:r>
            <a:r>
              <a:rPr lang="en-US" altLang="zh-CN" dirty="0" smtClean="0">
                <a:sym typeface="+mn-ea"/>
              </a:rPr>
              <a:t>Client</a:t>
            </a:r>
            <a:r>
              <a:rPr lang="zh-CN" altLang="en-US" dirty="0" smtClean="0">
                <a:sym typeface="+mn-ea"/>
              </a:rPr>
              <a:t>）的用户名、口令</a:t>
            </a:r>
            <a:endParaRPr lang="zh-CN" altLang="en-US" dirty="0" smtClean="0"/>
          </a:p>
          <a:p>
            <a:pPr lvl="1" eaLnBrk="1" hangingPunct="1"/>
            <a:r>
              <a:rPr lang="zh-CN" altLang="en-US" dirty="0" smtClean="0">
                <a:sym typeface="+mn-ea"/>
              </a:rPr>
              <a:t>派生于该用户口令的主密钥（</a:t>
            </a:r>
            <a:r>
              <a:rPr lang="en-US" altLang="zh-CN" dirty="0" smtClean="0">
                <a:sym typeface="+mn-ea"/>
              </a:rPr>
              <a:t>Client master key</a:t>
            </a:r>
            <a:r>
              <a:rPr lang="zh-CN" altLang="en-US" dirty="0" smtClean="0">
                <a:sym typeface="+mn-ea"/>
              </a:rPr>
              <a:t>）</a:t>
            </a:r>
            <a:endParaRPr lang="en-US" altLang="zh-CN" dirty="0" smtClean="0"/>
          </a:p>
          <a:p>
            <a:pPr lvl="1" eaLnBrk="1" hangingPunct="1"/>
            <a:r>
              <a:rPr lang="zh-CN" altLang="en-US" dirty="0" smtClean="0">
                <a:sym typeface="+mn-ea"/>
              </a:rPr>
              <a:t>与每个服务器的共享密钥（</a:t>
            </a:r>
            <a:r>
              <a:rPr lang="en-US" altLang="zh-CN" dirty="0" smtClean="0">
                <a:sym typeface="+mn-ea"/>
              </a:rPr>
              <a:t>Sever master </a:t>
            </a:r>
            <a:r>
              <a:rPr lang="en-US" altLang="zh-CN" dirty="0">
                <a:sym typeface="+mn-ea"/>
              </a:rPr>
              <a:t>key </a:t>
            </a:r>
            <a:r>
              <a:rPr lang="zh-CN" altLang="en-US" dirty="0" smtClean="0">
                <a:sym typeface="+mn-ea"/>
              </a:rPr>
              <a:t>）</a:t>
            </a:r>
            <a:endParaRPr lang="zh-CN" altLang="en-US" dirty="0" smtClean="0">
              <a:sym typeface="+mn-ea"/>
            </a:endParaRPr>
          </a:p>
          <a:p>
            <a:pPr lvl="1" eaLnBrk="1" hangingPunct="1"/>
            <a:r>
              <a:rPr lang="zh-CN" altLang="en-US" dirty="0" smtClean="0"/>
              <a:t>此外</a:t>
            </a:r>
            <a:r>
              <a:rPr lang="en-US" altLang="zh-CN" dirty="0" smtClean="0"/>
              <a:t>KDC</a:t>
            </a:r>
            <a:r>
              <a:rPr lang="zh-CN" altLang="en-US" dirty="0" smtClean="0"/>
              <a:t>还负责生成与</a:t>
            </a:r>
            <a:r>
              <a:rPr lang="zh-CN" altLang="en-US" dirty="0" smtClean="0">
                <a:sym typeface="+mn-ea"/>
              </a:rPr>
              <a:t>分发用于</a:t>
            </a:r>
            <a:r>
              <a:rPr lang="en-US" altLang="zh-CN" dirty="0" smtClean="0">
                <a:sym typeface="+mn-ea"/>
              </a:rPr>
              <a:t>Client</a:t>
            </a:r>
            <a:r>
              <a:rPr lang="zh-CN" altLang="en-US" dirty="0" smtClean="0">
                <a:sym typeface="+mn-ea"/>
              </a:rPr>
              <a:t>和</a:t>
            </a:r>
            <a:r>
              <a:rPr lang="en-US" altLang="zh-CN" dirty="0" smtClean="0">
                <a:sym typeface="+mn-ea"/>
              </a:rPr>
              <a:t>Server</a:t>
            </a:r>
            <a:r>
              <a:rPr lang="zh-CN" altLang="en-US" dirty="0" smtClean="0">
                <a:sym typeface="+mn-ea"/>
              </a:rPr>
              <a:t>相互认证的临时会话密钥</a:t>
            </a:r>
            <a:r>
              <a:rPr lang="en-US" altLang="zh-CN" dirty="0" err="1" smtClean="0">
                <a:sym typeface="+mn-ea"/>
              </a:rPr>
              <a:t>S</a:t>
            </a:r>
            <a:r>
              <a:rPr lang="en-US" altLang="zh-CN" baseline="-25000" dirty="0" err="1" smtClean="0">
                <a:sym typeface="+mn-ea"/>
              </a:rPr>
              <a:t>Server</a:t>
            </a:r>
            <a:r>
              <a:rPr lang="en-US" altLang="zh-CN" baseline="-25000" dirty="0" smtClean="0">
                <a:sym typeface="+mn-ea"/>
              </a:rPr>
              <a:t>-Client</a:t>
            </a:r>
            <a:endParaRPr lang="en-US" altLang="zh-CN" baseline="-25000" dirty="0" smtClean="0">
              <a:sym typeface="+mn-ea"/>
            </a:endParaRPr>
          </a:p>
          <a:p>
            <a:pPr lvl="1" eaLnBrk="1" hangingPunct="1"/>
            <a:endParaRPr lang="en-US" altLang="zh-CN" baseline="-25000" dirty="0" smtClean="0">
              <a:sym typeface="+mn-ea"/>
            </a:endParaRPr>
          </a:p>
          <a:p>
            <a:pPr lvl="1" eaLnBrk="1" hangingPunct="1"/>
            <a:r>
              <a:rPr lang="zh-CN" altLang="en-US" sz="1800" baseline="-25000" dirty="0" smtClean="0">
                <a:sym typeface="+mn-ea"/>
              </a:rPr>
              <a:t>在理解了</a:t>
            </a:r>
            <a:r>
              <a:rPr lang="en-US" altLang="zh-CN" sz="1800" baseline="-25000" dirty="0" smtClean="0">
                <a:sym typeface="+mn-ea"/>
              </a:rPr>
              <a:t>Kerberos</a:t>
            </a:r>
            <a:r>
              <a:rPr lang="zh-CN" altLang="en-US" sz="1800" baseline="-25000" dirty="0" smtClean="0">
                <a:sym typeface="+mn-ea"/>
              </a:rPr>
              <a:t>协议的一个思想以及</a:t>
            </a:r>
            <a:r>
              <a:rPr lang="en-US" altLang="zh-CN" sz="1800" baseline="-25000" dirty="0" smtClean="0">
                <a:sym typeface="+mn-ea"/>
              </a:rPr>
              <a:t>KDC</a:t>
            </a:r>
            <a:r>
              <a:rPr lang="zh-CN" altLang="en-US" sz="1800" baseline="-25000" dirty="0" smtClean="0">
                <a:sym typeface="+mn-ea"/>
              </a:rPr>
              <a:t>在</a:t>
            </a:r>
            <a:r>
              <a:rPr lang="en-US" altLang="zh-CN" sz="1800" baseline="-25000" dirty="0" smtClean="0">
                <a:sym typeface="+mn-ea"/>
              </a:rPr>
              <a:t>Kerberor</a:t>
            </a:r>
            <a:r>
              <a:rPr lang="zh-CN" altLang="en-US" sz="1800" baseline="-25000" dirty="0" smtClean="0">
                <a:sym typeface="+mn-ea"/>
              </a:rPr>
              <a:t>协议扮演的角色之后，我们先简单了解以下</a:t>
            </a:r>
            <a:r>
              <a:rPr lang="en-US" altLang="zh-CN" sz="1800" baseline="-25000" dirty="0" smtClean="0">
                <a:sym typeface="+mn-ea"/>
              </a:rPr>
              <a:t>Kerberos</a:t>
            </a:r>
            <a:r>
              <a:rPr lang="zh-CN" altLang="en-US" sz="1800" baseline="-25000" dirty="0" smtClean="0">
                <a:sym typeface="+mn-ea"/>
              </a:rPr>
              <a:t>协议的流程</a:t>
            </a:r>
            <a:endParaRPr lang="en-US" altLang="zh-CN" sz="1800" baseline="-25000" dirty="0" smtClean="0"/>
          </a:p>
          <a:p>
            <a:pPr lvl="1" eaLnBrk="1" hangingPunct="1"/>
            <a:endParaRPr lang="en-US" altLang="zh-CN" sz="1800" baseline="-25000" dirty="0" smtClean="0"/>
          </a:p>
        </p:txBody>
      </p:sp>
      <p:sp>
        <p:nvSpPr>
          <p:cNvPr id="4" name="灯片编号占位符 3"/>
          <p:cNvSpPr>
            <a:spLocks noGrp="1"/>
          </p:cNvSpPr>
          <p:nvPr>
            <p:ph type="sldNum" sz="quarter" idx="10"/>
          </p:nvPr>
        </p:nvSpPr>
        <p:spPr/>
        <p:txBody>
          <a:bodyPr/>
          <a:lstStyle/>
          <a:p>
            <a:pPr>
              <a:defRPr/>
            </a:pPr>
            <a:fld id="{5AC9BAEE-8509-47A6-8A3D-7CA4239D7D90}"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我们首先看一下</a:t>
            </a:r>
            <a:r>
              <a:rPr lang="en-US" altLang="zh-CN" dirty="0"/>
              <a:t>Kerberos</a:t>
            </a:r>
            <a:r>
              <a:rPr lang="zh-CN" altLang="en-US" dirty="0"/>
              <a:t>协议</a:t>
            </a:r>
            <a:r>
              <a:rPr lang="zh-CN" altLang="en-US" dirty="0"/>
              <a:t>简化流程：</a:t>
            </a:r>
            <a:endParaRPr lang="zh-CN" altLang="en-US" dirty="0"/>
          </a:p>
          <a:p>
            <a:r>
              <a:rPr lang="en-US" altLang="zh-CN" dirty="0"/>
              <a:t>1- </a:t>
            </a:r>
            <a:r>
              <a:rPr lang="zh-CN" altLang="en-US" dirty="0"/>
              <a:t>首先</a:t>
            </a:r>
            <a:r>
              <a:rPr lang="en-US" altLang="zh-CN" dirty="0"/>
              <a:t> Client</a:t>
            </a:r>
            <a:r>
              <a:rPr lang="zh-CN" altLang="en-US" dirty="0"/>
              <a:t>想要访问一个服务器，首先向</a:t>
            </a:r>
            <a:r>
              <a:rPr lang="en-US" altLang="zh-CN" dirty="0"/>
              <a:t>KDC</a:t>
            </a:r>
            <a:r>
              <a:rPr lang="zh-CN" altLang="en-US" dirty="0"/>
              <a:t>发送一个认证请求，</a:t>
            </a:r>
            <a:r>
              <a:rPr lang="en-US" altLang="zh-CN" dirty="0"/>
              <a:t>KDC</a:t>
            </a:r>
            <a:r>
              <a:rPr lang="zh-CN" altLang="en-US" dirty="0"/>
              <a:t>收到认证请求后，检索</a:t>
            </a:r>
            <a:r>
              <a:rPr lang="en-US" altLang="zh-CN" dirty="0"/>
              <a:t>Client</a:t>
            </a:r>
            <a:r>
              <a:rPr lang="zh-CN" altLang="en-US" dirty="0"/>
              <a:t>的身份并找到</a:t>
            </a:r>
            <a:r>
              <a:rPr lang="en-US" altLang="zh-CN" dirty="0"/>
              <a:t>Client</a:t>
            </a:r>
            <a:r>
              <a:rPr lang="zh-CN" altLang="en-US" dirty="0"/>
              <a:t>对应的密钥</a:t>
            </a:r>
            <a:r>
              <a:rPr lang="en-US" altLang="zh-CN" dirty="0"/>
              <a:t>Kc</a:t>
            </a:r>
            <a:endParaRPr lang="en-US" altLang="zh-CN" dirty="0"/>
          </a:p>
          <a:p>
            <a:r>
              <a:rPr lang="en-US" altLang="zh-CN" dirty="0"/>
              <a:t>2- </a:t>
            </a:r>
            <a:r>
              <a:rPr lang="zh-CN" altLang="en-US" dirty="0"/>
              <a:t>之后</a:t>
            </a:r>
            <a:r>
              <a:rPr lang="en-US" altLang="zh-CN" dirty="0"/>
              <a:t>KDC</a:t>
            </a:r>
            <a:r>
              <a:rPr lang="zh-CN" altLang="en-US" dirty="0"/>
              <a:t>生成一个</a:t>
            </a:r>
            <a:r>
              <a:rPr lang="en-US" altLang="zh-CN" dirty="0"/>
              <a:t>Ticket</a:t>
            </a:r>
            <a:r>
              <a:rPr lang="zh-CN" altLang="en-US" dirty="0"/>
              <a:t>，在</a:t>
            </a:r>
            <a:r>
              <a:rPr lang="en-US" altLang="zh-CN" dirty="0"/>
              <a:t>Kerberos</a:t>
            </a:r>
            <a:r>
              <a:rPr lang="zh-CN" altLang="en-US" dirty="0"/>
              <a:t>里面叫做</a:t>
            </a:r>
            <a:r>
              <a:rPr lang="en-US" altLang="zh-CN" dirty="0"/>
              <a:t>Ticket Granting Ticket</a:t>
            </a:r>
            <a:r>
              <a:rPr lang="zh-CN" altLang="en-US" dirty="0"/>
              <a:t>，这个</a:t>
            </a:r>
            <a:r>
              <a:rPr lang="en-US" altLang="zh-CN" dirty="0"/>
              <a:t>Ticket</a:t>
            </a:r>
            <a:r>
              <a:rPr lang="zh-CN" altLang="en-US" dirty="0"/>
              <a:t>并不是用于直接发送给服务器请求资源的，而是用来向</a:t>
            </a:r>
            <a:r>
              <a:rPr lang="en-US" altLang="zh-CN" dirty="0"/>
              <a:t>TGS</a:t>
            </a:r>
            <a:r>
              <a:rPr lang="zh-CN" altLang="en-US" dirty="0"/>
              <a:t>服务证明自己已经通过了身份认证，可以请求服务器资源的</a:t>
            </a:r>
            <a:r>
              <a:rPr lang="en-US" altLang="zh-CN" dirty="0"/>
              <a:t>Session Ticket</a:t>
            </a:r>
            <a:r>
              <a:rPr lang="zh-CN" altLang="en-US" dirty="0"/>
              <a:t>。</a:t>
            </a:r>
            <a:endParaRPr lang="zh-CN" altLang="en-US" dirty="0"/>
          </a:p>
          <a:p>
            <a:endParaRPr lang="zh-CN" altLang="en-US" dirty="0"/>
          </a:p>
          <a:p>
            <a:r>
              <a:rPr lang="en-US" altLang="zh-CN" dirty="0"/>
              <a:t>3-client</a:t>
            </a:r>
            <a:r>
              <a:rPr lang="zh-CN" altLang="en-US" dirty="0"/>
              <a:t>获得到</a:t>
            </a:r>
            <a:r>
              <a:rPr lang="en-US" altLang="zh-CN" dirty="0"/>
              <a:t>TGT</a:t>
            </a:r>
            <a:r>
              <a:rPr lang="zh-CN" altLang="en-US" dirty="0"/>
              <a:t>后，缓存</a:t>
            </a:r>
            <a:r>
              <a:rPr lang="en-US" altLang="zh-CN" dirty="0"/>
              <a:t>TGT</a:t>
            </a:r>
            <a:r>
              <a:rPr lang="zh-CN" altLang="en-US" dirty="0"/>
              <a:t>，然后向</a:t>
            </a:r>
            <a:r>
              <a:rPr lang="en-US" altLang="zh-CN" dirty="0"/>
              <a:t>KDS</a:t>
            </a:r>
            <a:r>
              <a:rPr lang="zh-CN" altLang="en-US" dirty="0"/>
              <a:t>中的</a:t>
            </a:r>
            <a:r>
              <a:rPr lang="en-US" altLang="zh-CN" dirty="0"/>
              <a:t>TGS</a:t>
            </a:r>
            <a:r>
              <a:rPr lang="zh-CN" altLang="en-US" dirty="0"/>
              <a:t>服务发送请求，请求中包含</a:t>
            </a:r>
            <a:r>
              <a:rPr lang="en-US" altLang="zh-CN" dirty="0"/>
              <a:t>TGT</a:t>
            </a:r>
            <a:r>
              <a:rPr lang="zh-CN" altLang="en-US" dirty="0"/>
              <a:t>和自己想要访问的服务器的</a:t>
            </a:r>
            <a:r>
              <a:rPr lang="zh-CN" altLang="en-US" dirty="0"/>
              <a:t>名称。</a:t>
            </a:r>
            <a:endParaRPr lang="zh-CN" altLang="en-US" dirty="0"/>
          </a:p>
          <a:p>
            <a:r>
              <a:rPr lang="en-US" altLang="zh-CN" dirty="0"/>
              <a:t>4-KDF</a:t>
            </a:r>
            <a:r>
              <a:rPr lang="zh-CN" altLang="en-US" dirty="0"/>
              <a:t>的</a:t>
            </a:r>
            <a:r>
              <a:rPr lang="en-US" altLang="zh-CN" dirty="0"/>
              <a:t>TGS</a:t>
            </a:r>
            <a:r>
              <a:rPr lang="zh-CN" altLang="en-US" dirty="0"/>
              <a:t>服务器在验证客户端身份以及</a:t>
            </a:r>
            <a:r>
              <a:rPr lang="en-US" altLang="zh-CN" dirty="0"/>
              <a:t>TGT</a:t>
            </a:r>
            <a:r>
              <a:rPr lang="zh-CN" altLang="en-US" dirty="0"/>
              <a:t>中的信息后，生成一个</a:t>
            </a:r>
            <a:r>
              <a:rPr lang="en-US" altLang="zh-CN" dirty="0" smtClean="0">
                <a:sym typeface="+mn-ea"/>
              </a:rPr>
              <a:t>Session Ticket</a:t>
            </a:r>
            <a:r>
              <a:rPr lang="zh-CN" altLang="en-US" dirty="0" smtClean="0">
                <a:sym typeface="+mn-ea"/>
              </a:rPr>
              <a:t>，返回给</a:t>
            </a:r>
            <a:r>
              <a:rPr lang="en-US" altLang="zh-CN" dirty="0" smtClean="0">
                <a:sym typeface="+mn-ea"/>
              </a:rPr>
              <a:t>Client</a:t>
            </a:r>
            <a:r>
              <a:rPr lang="zh-CN" altLang="en-US" dirty="0" smtClean="0">
                <a:sym typeface="+mn-ea"/>
              </a:rPr>
              <a:t>，这个</a:t>
            </a:r>
            <a:r>
              <a:rPr lang="en-US" altLang="zh-CN" dirty="0" smtClean="0">
                <a:sym typeface="+mn-ea"/>
              </a:rPr>
              <a:t>Session ticket</a:t>
            </a:r>
            <a:r>
              <a:rPr lang="zh-CN" altLang="en-US" dirty="0" smtClean="0">
                <a:sym typeface="+mn-ea"/>
              </a:rPr>
              <a:t>是客户端用来请求服务器资源时用到的</a:t>
            </a:r>
            <a:r>
              <a:rPr lang="en-US" altLang="zh-CN" dirty="0" smtClean="0">
                <a:sym typeface="+mn-ea"/>
              </a:rPr>
              <a:t>Ticket</a:t>
            </a:r>
            <a:r>
              <a:rPr lang="zh-CN" altLang="en-US" dirty="0" smtClean="0">
                <a:sym typeface="+mn-ea"/>
              </a:rPr>
              <a:t>。</a:t>
            </a:r>
            <a:endParaRPr lang="zh-CN" altLang="en-US" dirty="0" smtClean="0">
              <a:sym typeface="+mn-ea"/>
            </a:endParaRPr>
          </a:p>
          <a:p>
            <a:endParaRPr lang="zh-CN" altLang="en-US" dirty="0" smtClean="0">
              <a:sym typeface="+mn-ea"/>
            </a:endParaRPr>
          </a:p>
          <a:p>
            <a:r>
              <a:rPr lang="en-US" altLang="zh-CN" dirty="0" smtClean="0">
                <a:sym typeface="+mn-ea"/>
              </a:rPr>
              <a:t>5-Client</a:t>
            </a:r>
            <a:r>
              <a:rPr lang="zh-CN" altLang="en-US" dirty="0" smtClean="0">
                <a:sym typeface="+mn-ea"/>
              </a:rPr>
              <a:t>将</a:t>
            </a:r>
            <a:r>
              <a:rPr lang="en-US" altLang="zh-CN" dirty="0" smtClean="0">
                <a:sym typeface="+mn-ea"/>
              </a:rPr>
              <a:t>Session ticket</a:t>
            </a:r>
            <a:r>
              <a:rPr lang="zh-CN" altLang="en-US" dirty="0" smtClean="0">
                <a:sym typeface="+mn-ea"/>
              </a:rPr>
              <a:t>发送给服务器，服务器对</a:t>
            </a:r>
            <a:r>
              <a:rPr lang="en-US" altLang="zh-CN" dirty="0" smtClean="0">
                <a:sym typeface="+mn-ea"/>
              </a:rPr>
              <a:t>ST</a:t>
            </a:r>
            <a:r>
              <a:rPr lang="zh-CN" altLang="en-US" dirty="0" smtClean="0">
                <a:sym typeface="+mn-ea"/>
              </a:rPr>
              <a:t>进行验证，验证成功后</a:t>
            </a:r>
            <a:endParaRPr lang="zh-CN" altLang="en-US" dirty="0" smtClean="0">
              <a:sym typeface="+mn-ea"/>
            </a:endParaRPr>
          </a:p>
          <a:p>
            <a:r>
              <a:rPr lang="en-US" altLang="zh-CN" dirty="0" smtClean="0">
                <a:sym typeface="+mn-ea"/>
              </a:rPr>
              <a:t>6-</a:t>
            </a:r>
            <a:r>
              <a:rPr lang="zh-CN" altLang="en-US" dirty="0" smtClean="0">
                <a:sym typeface="+mn-ea"/>
              </a:rPr>
              <a:t>返回</a:t>
            </a:r>
            <a:r>
              <a:rPr lang="en-US" altLang="zh-CN" dirty="0" smtClean="0">
                <a:sym typeface="+mn-ea"/>
              </a:rPr>
              <a:t>Client</a:t>
            </a:r>
            <a:r>
              <a:rPr lang="zh-CN" altLang="en-US" dirty="0" smtClean="0">
                <a:sym typeface="+mn-ea"/>
              </a:rPr>
              <a:t>请求的资源</a:t>
            </a:r>
            <a:endParaRPr lang="zh-CN" altLang="en-US"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5AC9BAEE-8509-47A6-8A3D-7CA4239D7D90}"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sym typeface="+mn-ea"/>
              </a:rPr>
              <a:t>那么这时候大家可能会有一个疑问，就是为什么</a:t>
            </a:r>
            <a:r>
              <a:rPr lang="en-US" altLang="zh-CN" dirty="0">
                <a:sym typeface="+mn-ea"/>
              </a:rPr>
              <a:t>KDC</a:t>
            </a:r>
            <a:r>
              <a:rPr lang="zh-CN" altLang="en-US" dirty="0">
                <a:sym typeface="+mn-ea"/>
              </a:rPr>
              <a:t>将对</a:t>
            </a:r>
            <a:r>
              <a:rPr lang="en-US" altLang="zh-CN" dirty="0">
                <a:sym typeface="+mn-ea"/>
              </a:rPr>
              <a:t>Client</a:t>
            </a:r>
            <a:r>
              <a:rPr lang="zh-CN" altLang="en-US" dirty="0">
                <a:sym typeface="+mn-ea"/>
              </a:rPr>
              <a:t>的授权服务（</a:t>
            </a:r>
            <a:r>
              <a:rPr lang="en-US" altLang="zh-CN" dirty="0">
                <a:sym typeface="+mn-ea"/>
              </a:rPr>
              <a:t>AS</a:t>
            </a:r>
            <a:r>
              <a:rPr lang="zh-CN" altLang="en-US" dirty="0">
                <a:sym typeface="+mn-ea"/>
              </a:rPr>
              <a:t>），和颁发访问</a:t>
            </a:r>
            <a:r>
              <a:rPr lang="en-US" altLang="zh-CN" dirty="0">
                <a:sym typeface="+mn-ea"/>
              </a:rPr>
              <a:t>Server</a:t>
            </a:r>
            <a:r>
              <a:rPr lang="zh-CN" altLang="en-US" dirty="0">
                <a:sym typeface="+mn-ea"/>
              </a:rPr>
              <a:t>的</a:t>
            </a:r>
            <a:r>
              <a:rPr lang="en-US" altLang="zh-CN" dirty="0">
                <a:sym typeface="+mn-ea"/>
              </a:rPr>
              <a:t>Ticket</a:t>
            </a:r>
            <a:r>
              <a:rPr lang="zh-CN" altLang="en-US" dirty="0">
                <a:sym typeface="+mn-ea"/>
              </a:rPr>
              <a:t>服务</a:t>
            </a:r>
            <a:r>
              <a:rPr lang="en-US" altLang="zh-CN" dirty="0">
                <a:sym typeface="+mn-ea"/>
              </a:rPr>
              <a:t> </a:t>
            </a:r>
            <a:r>
              <a:rPr lang="zh-CN" altLang="en-US" dirty="0">
                <a:sym typeface="+mn-ea"/>
              </a:rPr>
              <a:t>也就是（</a:t>
            </a:r>
            <a:r>
              <a:rPr lang="en-US" altLang="zh-CN" dirty="0">
                <a:sym typeface="+mn-ea"/>
              </a:rPr>
              <a:t>TGS</a:t>
            </a:r>
            <a:r>
              <a:rPr lang="zh-CN" altLang="en-US" dirty="0">
                <a:sym typeface="+mn-ea"/>
              </a:rPr>
              <a:t>），拆分，而不是直接在</a:t>
            </a:r>
            <a:r>
              <a:rPr lang="en-US" altLang="zh-CN" dirty="0">
                <a:sym typeface="+mn-ea"/>
              </a:rPr>
              <a:t>Client</a:t>
            </a:r>
            <a:r>
              <a:rPr lang="zh-CN" altLang="en-US" dirty="0">
                <a:sym typeface="+mn-ea"/>
              </a:rPr>
              <a:t>认证之后直接颁发给</a:t>
            </a:r>
            <a:r>
              <a:rPr lang="en-US" altLang="zh-CN" dirty="0">
                <a:sym typeface="+mn-ea"/>
              </a:rPr>
              <a:t>Client</a:t>
            </a:r>
            <a:r>
              <a:rPr lang="zh-CN" altLang="en-US" dirty="0">
                <a:sym typeface="+mn-ea"/>
              </a:rPr>
              <a:t>一个可以用于访问</a:t>
            </a:r>
            <a:r>
              <a:rPr lang="en-US" altLang="zh-CN" dirty="0">
                <a:sym typeface="+mn-ea"/>
              </a:rPr>
              <a:t>Server</a:t>
            </a:r>
            <a:r>
              <a:rPr lang="zh-CN" altLang="en-US" dirty="0">
                <a:sym typeface="+mn-ea"/>
              </a:rPr>
              <a:t>的服务？</a:t>
            </a:r>
            <a:endParaRPr lang="zh-CN" altLang="en-US" dirty="0"/>
          </a:p>
          <a:p>
            <a:endParaRPr lang="zh-CN" altLang="en-US" dirty="0" smtClean="0">
              <a:sym typeface="+mn-ea"/>
            </a:endParaRPr>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5AC9BAEE-8509-47A6-8A3D-7CA4239D7D90}"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这是为了保护</a:t>
            </a:r>
            <a:r>
              <a:rPr lang="en-US" altLang="zh-CN" dirty="0"/>
              <a:t>Kc</a:t>
            </a:r>
            <a:r>
              <a:rPr lang="zh-CN" altLang="en-US" dirty="0"/>
              <a:t>以及用户口令的</a:t>
            </a:r>
            <a:r>
              <a:rPr lang="zh-CN" altLang="en-US" dirty="0"/>
              <a:t>安全性。</a:t>
            </a:r>
            <a:endParaRPr lang="zh-CN" altLang="en-US" dirty="0"/>
          </a:p>
          <a:p>
            <a:r>
              <a:rPr lang="zh-CN" altLang="en-US" dirty="0"/>
              <a:t>我们可以设想一下，如果只颁发一个</a:t>
            </a:r>
            <a:r>
              <a:rPr lang="en-US" altLang="zh-CN" dirty="0"/>
              <a:t>Ticket</a:t>
            </a:r>
            <a:r>
              <a:rPr lang="zh-CN" altLang="en-US" dirty="0"/>
              <a:t>用于访问服务器，那用户每一次想要访问一个服务，都需要输入一次口令，然后</a:t>
            </a:r>
            <a:r>
              <a:rPr lang="en-US" altLang="zh-CN" dirty="0"/>
              <a:t>client</a:t>
            </a:r>
            <a:r>
              <a:rPr lang="zh-CN" altLang="en-US" dirty="0"/>
              <a:t>发送一次认证请求，并且得到一个</a:t>
            </a:r>
            <a:r>
              <a:rPr lang="en-US" altLang="zh-CN" dirty="0"/>
              <a:t>Ticket</a:t>
            </a:r>
            <a:r>
              <a:rPr lang="zh-CN" altLang="en-US" dirty="0"/>
              <a:t>。</a:t>
            </a:r>
            <a:endParaRPr lang="zh-CN" altLang="en-US" dirty="0"/>
          </a:p>
          <a:p>
            <a:r>
              <a:rPr lang="zh-CN" altLang="en-US" dirty="0"/>
              <a:t>这种情况下会使得用户一直在不断的进行认证，并且认证服务器一直在不断的使用</a:t>
            </a:r>
            <a:r>
              <a:rPr lang="en-US" altLang="zh-CN" dirty="0"/>
              <a:t>Kc</a:t>
            </a:r>
            <a:r>
              <a:rPr lang="zh-CN" altLang="en-US" dirty="0"/>
              <a:t>加密</a:t>
            </a:r>
            <a:r>
              <a:rPr lang="en-US" altLang="zh-CN" dirty="0"/>
              <a:t>messsage</a:t>
            </a:r>
            <a:r>
              <a:rPr lang="zh-CN" altLang="en-US" dirty="0"/>
              <a:t>。被加密的信息不断的在不安全的网络上进行传输，使得攻击者通过截获信息而猜测到</a:t>
            </a:r>
            <a:r>
              <a:rPr lang="en-US" altLang="zh-CN" dirty="0"/>
              <a:t>Kc</a:t>
            </a:r>
            <a:r>
              <a:rPr lang="zh-CN" altLang="en-US" dirty="0"/>
              <a:t>和用户口令的可能性增加。</a:t>
            </a:r>
            <a:endParaRPr lang="zh-CN" altLang="en-US" dirty="0"/>
          </a:p>
          <a:p>
            <a:r>
              <a:rPr lang="zh-CN" altLang="en-US" dirty="0"/>
              <a:t>因此</a:t>
            </a:r>
            <a:r>
              <a:rPr lang="en-US" altLang="zh-CN" dirty="0"/>
              <a:t>Kerberos</a:t>
            </a:r>
            <a:r>
              <a:rPr lang="zh-CN" altLang="en-US" dirty="0"/>
              <a:t>为了提高安全性，引入了</a:t>
            </a:r>
            <a:r>
              <a:rPr lang="en-US" altLang="zh-CN" dirty="0"/>
              <a:t>TGT</a:t>
            </a:r>
            <a:r>
              <a:rPr lang="zh-CN" altLang="en-US" dirty="0"/>
              <a:t>和</a:t>
            </a:r>
            <a:r>
              <a:rPr lang="en-US" altLang="zh-CN" dirty="0"/>
              <a:t>ST</a:t>
            </a:r>
            <a:r>
              <a:rPr lang="zh-CN" altLang="en-US" dirty="0"/>
              <a:t>两种票据。</a:t>
            </a:r>
            <a:r>
              <a:rPr lang="en-US" altLang="zh-CN" dirty="0"/>
              <a:t>TGT</a:t>
            </a:r>
            <a:r>
              <a:rPr lang="zh-CN" altLang="en-US" dirty="0"/>
              <a:t>用于</a:t>
            </a:r>
            <a:r>
              <a:rPr lang="zh-CN" altLang="en-US" dirty="0" smtClean="0">
                <a:sym typeface="+mn-ea"/>
              </a:rPr>
              <a:t>证明自己具有获得</a:t>
            </a:r>
            <a:r>
              <a:rPr lang="en-US" altLang="zh-CN" dirty="0" smtClean="0">
                <a:sym typeface="+mn-ea"/>
              </a:rPr>
              <a:t>ST</a:t>
            </a:r>
            <a:r>
              <a:rPr lang="zh-CN" altLang="en-US" dirty="0" smtClean="0">
                <a:sym typeface="+mn-ea"/>
              </a:rPr>
              <a:t>的权利。</a:t>
            </a:r>
            <a:r>
              <a:rPr lang="en-US" altLang="zh-CN" dirty="0" smtClean="0">
                <a:sym typeface="+mn-ea"/>
              </a:rPr>
              <a:t>ST</a:t>
            </a:r>
            <a:r>
              <a:rPr lang="zh-CN" altLang="en-US" dirty="0" smtClean="0">
                <a:sym typeface="+mn-ea"/>
              </a:rPr>
              <a:t>用于访问服务器。</a:t>
            </a:r>
            <a:endParaRPr lang="zh-CN" altLang="en-US" dirty="0" smtClean="0">
              <a:sym typeface="+mn-ea"/>
            </a:endParaRPr>
          </a:p>
          <a:p>
            <a:endParaRPr lang="zh-CN" altLang="en-US" dirty="0" smtClean="0">
              <a:sym typeface="+mn-ea"/>
            </a:endParaRPr>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5AC9BAEE-8509-47A6-8A3D-7CA4239D7D90}"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sym typeface="+mn-ea"/>
              </a:rPr>
              <a:t>为了由于</a:t>
            </a:r>
            <a:r>
              <a:rPr lang="en-US" altLang="zh-CN" dirty="0" smtClean="0">
                <a:sym typeface="+mn-ea"/>
              </a:rPr>
              <a:t>KDC</a:t>
            </a:r>
            <a:r>
              <a:rPr lang="zh-CN" altLang="en-US" dirty="0" smtClean="0">
                <a:sym typeface="+mn-ea"/>
              </a:rPr>
              <a:t>分为了认证服务和</a:t>
            </a:r>
            <a:r>
              <a:rPr lang="en-US" altLang="zh-CN" dirty="0" smtClean="0">
                <a:sym typeface="+mn-ea"/>
              </a:rPr>
              <a:t>TGS</a:t>
            </a:r>
            <a:r>
              <a:rPr lang="zh-CN" altLang="en-US" dirty="0" smtClean="0">
                <a:sym typeface="+mn-ea"/>
              </a:rPr>
              <a:t>服务，为了方便</a:t>
            </a:r>
            <a:r>
              <a:rPr lang="en-US" altLang="zh-CN" dirty="0" smtClean="0">
                <a:sym typeface="+mn-ea"/>
              </a:rPr>
              <a:t>TGS</a:t>
            </a:r>
            <a:r>
              <a:rPr lang="zh-CN" altLang="en-US" dirty="0" smtClean="0">
                <a:sym typeface="+mn-ea"/>
              </a:rPr>
              <a:t>服务验证</a:t>
            </a:r>
            <a:r>
              <a:rPr lang="en-US" altLang="zh-CN" dirty="0" smtClean="0">
                <a:sym typeface="+mn-ea"/>
              </a:rPr>
              <a:t>TGT</a:t>
            </a:r>
            <a:r>
              <a:rPr lang="zh-CN" altLang="en-US" dirty="0" smtClean="0">
                <a:sym typeface="+mn-ea"/>
              </a:rPr>
              <a:t>，以及其他相关的信息，</a:t>
            </a:r>
            <a:r>
              <a:rPr lang="en-US" altLang="zh-CN" dirty="0" smtClean="0">
                <a:sym typeface="+mn-ea"/>
              </a:rPr>
              <a:t>KDC</a:t>
            </a:r>
            <a:r>
              <a:rPr lang="zh-CN" altLang="en-US" dirty="0" smtClean="0">
                <a:sym typeface="+mn-ea"/>
              </a:rPr>
              <a:t>还会保存一个</a:t>
            </a:r>
            <a:r>
              <a:rPr lang="en-US" altLang="zh-CN" dirty="0" smtClean="0">
                <a:sym typeface="+mn-ea"/>
              </a:rPr>
              <a:t>KDC</a:t>
            </a:r>
            <a:r>
              <a:rPr lang="zh-CN" altLang="en-US" dirty="0" smtClean="0">
                <a:sym typeface="+mn-ea"/>
              </a:rPr>
              <a:t>自己的主密钥，</a:t>
            </a:r>
            <a:r>
              <a:rPr lang="en-US" altLang="zh-CN" dirty="0" smtClean="0">
                <a:sym typeface="+mn-ea"/>
              </a:rPr>
              <a:t>Ktgs</a:t>
            </a:r>
            <a:r>
              <a:rPr lang="zh-CN" altLang="en-US" dirty="0" smtClean="0">
                <a:sym typeface="+mn-ea"/>
              </a:rPr>
              <a:t>，用于加密</a:t>
            </a:r>
            <a:r>
              <a:rPr lang="en-US" altLang="zh-CN" dirty="0" smtClean="0">
                <a:sym typeface="+mn-ea"/>
              </a:rPr>
              <a:t>TGT</a:t>
            </a:r>
            <a:endParaRPr lang="zh-CN" altLang="en-US" dirty="0"/>
          </a:p>
        </p:txBody>
      </p:sp>
      <p:sp>
        <p:nvSpPr>
          <p:cNvPr id="4" name="灯片编号占位符 3"/>
          <p:cNvSpPr>
            <a:spLocks noGrp="1"/>
          </p:cNvSpPr>
          <p:nvPr>
            <p:ph type="sldNum" sz="quarter" idx="10"/>
          </p:nvPr>
        </p:nvSpPr>
        <p:spPr/>
        <p:txBody>
          <a:bodyPr/>
          <a:lstStyle/>
          <a:p>
            <a:pPr>
              <a:defRPr/>
            </a:pPr>
            <a:fld id="{5AC9BAEE-8509-47A6-8A3D-7CA4239D7D90}"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因此，我们将</a:t>
            </a:r>
            <a:r>
              <a:rPr lang="en-US" altLang="zh-CN" dirty="0"/>
              <a:t>Kerberos</a:t>
            </a:r>
            <a:r>
              <a:rPr lang="zh-CN" altLang="en-US" dirty="0"/>
              <a:t>协议可以分为三个</a:t>
            </a:r>
            <a:r>
              <a:rPr lang="zh-CN" altLang="en-US" dirty="0"/>
              <a:t>阶段：</a:t>
            </a:r>
            <a:endParaRPr lang="zh-CN" altLang="en-US" dirty="0"/>
          </a:p>
          <a:p>
            <a:r>
              <a:rPr lang="en-US" altLang="zh-CN" dirty="0"/>
              <a:t>1.</a:t>
            </a:r>
            <a:r>
              <a:rPr lang="en-US" altLang="zh-CN" smtClean="0">
                <a:sym typeface="+mn-ea"/>
              </a:rPr>
              <a:t>Authentication Service Exchange </a:t>
            </a:r>
            <a:r>
              <a:rPr lang="zh-CN" altLang="en-US" smtClean="0">
                <a:sym typeface="+mn-ea"/>
              </a:rPr>
              <a:t>：认证服务交换</a:t>
            </a:r>
            <a:r>
              <a:rPr lang="zh-CN" altLang="en-US" smtClean="0">
                <a:sym typeface="+mn-ea"/>
              </a:rPr>
              <a:t>阶段</a:t>
            </a:r>
            <a:endParaRPr lang="zh-CN" altLang="en-US" smtClean="0">
              <a:sym typeface="+mn-ea"/>
            </a:endParaRPr>
          </a:p>
          <a:p>
            <a:r>
              <a:rPr lang="en-US" altLang="zh-CN" smtClean="0">
                <a:sym typeface="+mn-ea"/>
              </a:rPr>
              <a:t>2.Ticket Granting Service Exchange</a:t>
            </a:r>
            <a:r>
              <a:rPr lang="zh-CN" altLang="en-US" smtClean="0">
                <a:sym typeface="+mn-ea"/>
              </a:rPr>
              <a:t>：票据授予服务</a:t>
            </a:r>
            <a:r>
              <a:rPr lang="zh-CN" altLang="en-US" smtClean="0">
                <a:sym typeface="+mn-ea"/>
              </a:rPr>
              <a:t>交换阶段</a:t>
            </a:r>
            <a:endParaRPr lang="zh-CN" altLang="en-US" smtClean="0">
              <a:sym typeface="+mn-ea"/>
            </a:endParaRPr>
          </a:p>
          <a:p>
            <a:r>
              <a:rPr lang="en-US" altLang="zh-CN" smtClean="0">
                <a:sym typeface="+mn-ea"/>
              </a:rPr>
              <a:t>3.Client/Server Exchange </a:t>
            </a:r>
            <a:r>
              <a:rPr lang="zh-CN" altLang="en-US" smtClean="0">
                <a:sym typeface="+mn-ea"/>
              </a:rPr>
              <a:t>：客户端服务器交换</a:t>
            </a:r>
            <a:r>
              <a:rPr lang="zh-CN" altLang="en-US" smtClean="0">
                <a:sym typeface="+mn-ea"/>
              </a:rPr>
              <a:t>阶段</a:t>
            </a:r>
            <a:endParaRPr lang="zh-CN" altLang="en-US" smtClean="0">
              <a:sym typeface="+mn-ea"/>
            </a:endParaRPr>
          </a:p>
          <a:p>
            <a:endParaRPr lang="zh-CN" altLang="en-US" smtClean="0">
              <a:sym typeface="+mn-ea"/>
            </a:endParaRPr>
          </a:p>
          <a:p>
            <a:r>
              <a:rPr lang="zh-CN" altLang="en-US" smtClean="0">
                <a:sym typeface="+mn-ea"/>
              </a:rPr>
              <a:t>接下来，我们将</a:t>
            </a:r>
            <a:r>
              <a:rPr lang="zh-CN" altLang="en-US" smtClean="0">
                <a:sym typeface="+mn-ea"/>
              </a:rPr>
              <a:t>具体一下每个阶段的具体</a:t>
            </a:r>
            <a:r>
              <a:rPr lang="zh-CN" altLang="en-US" smtClean="0">
                <a:sym typeface="+mn-ea"/>
              </a:rPr>
              <a:t>流程。</a:t>
            </a:r>
            <a:endParaRPr lang="zh-CN" altLang="en-US" smtClean="0">
              <a:sym typeface="+mn-ea"/>
            </a:endParaRPr>
          </a:p>
        </p:txBody>
      </p:sp>
      <p:sp>
        <p:nvSpPr>
          <p:cNvPr id="4" name="灯片编号占位符 3"/>
          <p:cNvSpPr>
            <a:spLocks noGrp="1"/>
          </p:cNvSpPr>
          <p:nvPr>
            <p:ph type="sldNum" sz="quarter" idx="10"/>
          </p:nvPr>
        </p:nvSpPr>
        <p:spPr/>
        <p:txBody>
          <a:bodyPr/>
          <a:lstStyle/>
          <a:p>
            <a:pPr>
              <a:defRPr/>
            </a:pPr>
            <a:fld id="{5AC9BAEE-8509-47A6-8A3D-7CA4239D7D90}"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 </a:t>
            </a:r>
            <a:r>
              <a:rPr lang="en-US" altLang="zh-CN" smtClean="0">
                <a:sym typeface="+mn-ea"/>
              </a:rPr>
              <a:t>Authentication Service Exchange </a:t>
            </a:r>
            <a:r>
              <a:rPr lang="zh-CN" altLang="en-US" smtClean="0">
                <a:sym typeface="+mn-ea"/>
              </a:rPr>
              <a:t>：认证服务交换阶段</a:t>
            </a:r>
            <a:endParaRPr lang="zh-CN" altLang="en-US" smtClean="0">
              <a:sym typeface="+mn-ea"/>
            </a:endParaRPr>
          </a:p>
          <a:p>
            <a:r>
              <a:rPr lang="en-US" altLang="zh-CN" smtClean="0">
                <a:sym typeface="+mn-ea"/>
              </a:rPr>
              <a:t>Client</a:t>
            </a:r>
            <a:r>
              <a:rPr lang="zh-CN" altLang="en-US" smtClean="0">
                <a:sym typeface="+mn-ea"/>
              </a:rPr>
              <a:t>发送</a:t>
            </a:r>
            <a:r>
              <a:rPr lang="en-US" altLang="zh-CN" smtClean="0">
                <a:sym typeface="+mn-ea"/>
              </a:rPr>
              <a:t>C</a:t>
            </a:r>
            <a:r>
              <a:rPr lang="zh-CN" altLang="en-US" smtClean="0">
                <a:sym typeface="+mn-ea"/>
              </a:rPr>
              <a:t>，</a:t>
            </a:r>
            <a:r>
              <a:rPr lang="en-US" altLang="zh-CN" smtClean="0">
                <a:sym typeface="+mn-ea"/>
              </a:rPr>
              <a:t>TGS</a:t>
            </a:r>
            <a:r>
              <a:rPr lang="zh-CN" altLang="en-US" smtClean="0">
                <a:sym typeface="+mn-ea"/>
              </a:rPr>
              <a:t>，</a:t>
            </a:r>
            <a:r>
              <a:rPr lang="en-US" altLang="zh-CN" smtClean="0">
                <a:sym typeface="+mn-ea"/>
              </a:rPr>
              <a:t>n1</a:t>
            </a:r>
            <a:r>
              <a:rPr lang="zh-CN" altLang="en-US" smtClean="0">
                <a:sym typeface="+mn-ea"/>
              </a:rPr>
              <a:t>给</a:t>
            </a:r>
            <a:r>
              <a:rPr lang="en-US" altLang="zh-CN" smtClean="0">
                <a:sym typeface="+mn-ea"/>
              </a:rPr>
              <a:t>Kerberos</a:t>
            </a:r>
            <a:r>
              <a:rPr lang="zh-CN" altLang="en-US" smtClean="0">
                <a:sym typeface="+mn-ea"/>
              </a:rPr>
              <a:t>的认证</a:t>
            </a:r>
            <a:r>
              <a:rPr lang="zh-CN" altLang="en-US" smtClean="0">
                <a:sym typeface="+mn-ea"/>
              </a:rPr>
              <a:t>服务</a:t>
            </a:r>
            <a:endParaRPr lang="zh-CN" altLang="en-US" smtClean="0">
              <a:sym typeface="+mn-ea"/>
            </a:endParaRPr>
          </a:p>
          <a:p>
            <a:r>
              <a:rPr lang="zh-CN" altLang="en-US" smtClean="0">
                <a:sym typeface="+mn-ea"/>
              </a:rPr>
              <a:t>认证服务在确定</a:t>
            </a:r>
            <a:r>
              <a:rPr lang="en-US" altLang="zh-CN" smtClean="0">
                <a:sym typeface="+mn-ea"/>
              </a:rPr>
              <a:t>Client</a:t>
            </a:r>
            <a:r>
              <a:rPr lang="zh-CN" altLang="en-US" smtClean="0">
                <a:sym typeface="+mn-ea"/>
              </a:rPr>
              <a:t>的身份后，返回</a:t>
            </a:r>
            <a:r>
              <a:rPr lang="zh-CN" altLang="en-US" smtClean="0">
                <a:sym typeface="+mn-ea"/>
              </a:rPr>
              <a:t>响应。</a:t>
            </a:r>
            <a:endParaRPr lang="zh-CN" altLang="en-US" smtClean="0">
              <a:sym typeface="+mn-ea"/>
            </a:endParaRPr>
          </a:p>
          <a:p>
            <a:endParaRPr lang="en-US" altLang="zh-CN" dirty="0"/>
          </a:p>
        </p:txBody>
      </p:sp>
      <p:sp>
        <p:nvSpPr>
          <p:cNvPr id="4" name="灯片编号占位符 3"/>
          <p:cNvSpPr>
            <a:spLocks noGrp="1"/>
          </p:cNvSpPr>
          <p:nvPr>
            <p:ph type="sldNum" sz="quarter" idx="10"/>
          </p:nvPr>
        </p:nvSpPr>
        <p:spPr/>
        <p:txBody>
          <a:bodyPr/>
          <a:lstStyle/>
          <a:p>
            <a:pPr>
              <a:defRPr/>
            </a:pPr>
            <a:fld id="{5AC9BAEE-8509-47A6-8A3D-7CA4239D7D90}"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 </a:t>
            </a:r>
            <a:r>
              <a:rPr lang="en-US" altLang="zh-CN" smtClean="0">
                <a:sym typeface="+mn-ea"/>
              </a:rPr>
              <a:t>Authentication Service Exchange </a:t>
            </a:r>
            <a:r>
              <a:rPr lang="zh-CN" altLang="en-US" smtClean="0">
                <a:sym typeface="+mn-ea"/>
              </a:rPr>
              <a:t>：认证服务交换阶段</a:t>
            </a:r>
            <a:endParaRPr lang="zh-CN" altLang="en-US" smtClean="0">
              <a:sym typeface="+mn-ea"/>
            </a:endParaRPr>
          </a:p>
          <a:p>
            <a:endParaRPr lang="en-US" altLang="zh-CN" dirty="0"/>
          </a:p>
        </p:txBody>
      </p:sp>
      <p:sp>
        <p:nvSpPr>
          <p:cNvPr id="4" name="灯片编号占位符 3"/>
          <p:cNvSpPr>
            <a:spLocks noGrp="1"/>
          </p:cNvSpPr>
          <p:nvPr>
            <p:ph type="sldNum" sz="quarter" idx="10"/>
          </p:nvPr>
        </p:nvSpPr>
        <p:spPr/>
        <p:txBody>
          <a:bodyPr/>
          <a:lstStyle/>
          <a:p>
            <a:pPr>
              <a:defRPr/>
            </a:pPr>
            <a:fld id="{5AC9BAEE-8509-47A6-8A3D-7CA4239D7D90}"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 </a:t>
            </a:r>
            <a:r>
              <a:rPr lang="en-US" altLang="zh-CN" smtClean="0">
                <a:sym typeface="+mn-ea"/>
              </a:rPr>
              <a:t>Authentication Service Exchange </a:t>
            </a:r>
            <a:r>
              <a:rPr lang="zh-CN" altLang="en-US" smtClean="0">
                <a:sym typeface="+mn-ea"/>
              </a:rPr>
              <a:t>：认证服务交换阶段</a:t>
            </a:r>
            <a:endParaRPr lang="zh-CN" altLang="en-US" smtClean="0">
              <a:sym typeface="+mn-ea"/>
            </a:endParaRPr>
          </a:p>
          <a:p>
            <a:endParaRPr lang="en-US" altLang="zh-CN" dirty="0"/>
          </a:p>
        </p:txBody>
      </p:sp>
      <p:sp>
        <p:nvSpPr>
          <p:cNvPr id="4" name="灯片编号占位符 3"/>
          <p:cNvSpPr>
            <a:spLocks noGrp="1"/>
          </p:cNvSpPr>
          <p:nvPr>
            <p:ph type="sldNum" sz="quarter" idx="10"/>
          </p:nvPr>
        </p:nvSpPr>
        <p:spPr/>
        <p:txBody>
          <a:bodyPr/>
          <a:lstStyle/>
          <a:p>
            <a:pPr>
              <a:defRPr/>
            </a:pPr>
            <a:fld id="{5AC9BAEE-8509-47A6-8A3D-7CA4239D7D90}"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 </a:t>
            </a:r>
            <a:r>
              <a:rPr lang="en-US" altLang="zh-CN" smtClean="0">
                <a:sym typeface="+mn-ea"/>
              </a:rPr>
              <a:t>Authentication Service Exchange </a:t>
            </a:r>
            <a:r>
              <a:rPr lang="zh-CN" altLang="en-US" smtClean="0">
                <a:sym typeface="+mn-ea"/>
              </a:rPr>
              <a:t>：认证服务交换阶段</a:t>
            </a:r>
            <a:endParaRPr lang="zh-CN" altLang="en-US" smtClean="0">
              <a:sym typeface="+mn-ea"/>
            </a:endParaRPr>
          </a:p>
          <a:p>
            <a:endParaRPr lang="en-US" altLang="zh-CN" dirty="0"/>
          </a:p>
        </p:txBody>
      </p:sp>
      <p:sp>
        <p:nvSpPr>
          <p:cNvPr id="4" name="灯片编号占位符 3"/>
          <p:cNvSpPr>
            <a:spLocks noGrp="1"/>
          </p:cNvSpPr>
          <p:nvPr>
            <p:ph type="sldNum" sz="quarter" idx="10"/>
          </p:nvPr>
        </p:nvSpPr>
        <p:spPr/>
        <p:txBody>
          <a:bodyPr/>
          <a:lstStyle/>
          <a:p>
            <a:pPr>
              <a:defRPr/>
            </a:pPr>
            <a:fld id="{5AC9BAEE-8509-47A6-8A3D-7CA4239D7D90}"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 </a:t>
            </a:r>
            <a:r>
              <a:rPr lang="en-US" altLang="zh-CN" smtClean="0">
                <a:sym typeface="+mn-ea"/>
              </a:rPr>
              <a:t>Authentication Service Exchange </a:t>
            </a:r>
            <a:r>
              <a:rPr lang="zh-CN" altLang="en-US" smtClean="0">
                <a:sym typeface="+mn-ea"/>
              </a:rPr>
              <a:t>：认证服务交换阶段</a:t>
            </a:r>
            <a:endParaRPr lang="zh-CN" altLang="en-US" smtClean="0">
              <a:sym typeface="+mn-ea"/>
            </a:endParaRPr>
          </a:p>
          <a:p>
            <a:endParaRPr lang="en-US" altLang="zh-CN" dirty="0"/>
          </a:p>
        </p:txBody>
      </p:sp>
      <p:sp>
        <p:nvSpPr>
          <p:cNvPr id="4" name="灯片编号占位符 3"/>
          <p:cNvSpPr>
            <a:spLocks noGrp="1"/>
          </p:cNvSpPr>
          <p:nvPr>
            <p:ph type="sldNum" sz="quarter" idx="10"/>
          </p:nvPr>
        </p:nvSpPr>
        <p:spPr/>
        <p:txBody>
          <a:bodyPr/>
          <a:lstStyle/>
          <a:p>
            <a:pPr>
              <a:defRPr/>
            </a:pPr>
            <a:fld id="{5AC9BAEE-8509-47A6-8A3D-7CA4239D7D90}"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 </a:t>
            </a:r>
            <a:r>
              <a:rPr lang="en-US" altLang="zh-CN" smtClean="0">
                <a:sym typeface="+mn-ea"/>
              </a:rPr>
              <a:t>Authentication Service Exchange </a:t>
            </a:r>
            <a:r>
              <a:rPr lang="zh-CN" altLang="en-US" smtClean="0">
                <a:sym typeface="+mn-ea"/>
              </a:rPr>
              <a:t>：认证服务交换阶段</a:t>
            </a:r>
            <a:endParaRPr lang="zh-CN" altLang="en-US" smtClean="0">
              <a:sym typeface="+mn-ea"/>
            </a:endParaRPr>
          </a:p>
          <a:p>
            <a:endParaRPr lang="en-US" altLang="zh-CN" dirty="0"/>
          </a:p>
        </p:txBody>
      </p:sp>
      <p:sp>
        <p:nvSpPr>
          <p:cNvPr id="4" name="灯片编号占位符 3"/>
          <p:cNvSpPr>
            <a:spLocks noGrp="1"/>
          </p:cNvSpPr>
          <p:nvPr>
            <p:ph type="sldNum" sz="quarter" idx="10"/>
          </p:nvPr>
        </p:nvSpPr>
        <p:spPr/>
        <p:txBody>
          <a:bodyPr/>
          <a:lstStyle/>
          <a:p>
            <a:pPr>
              <a:defRPr/>
            </a:pPr>
            <a:fld id="{5AC9BAEE-8509-47A6-8A3D-7CA4239D7D90}"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以上就是我们针对</a:t>
            </a:r>
            <a:r>
              <a:rPr lang="en-US" altLang="zh-CN" dirty="0"/>
              <a:t>Kerberos</a:t>
            </a:r>
            <a:r>
              <a:rPr lang="zh-CN" altLang="en-US" dirty="0"/>
              <a:t>协议的一个基本原理的介绍，我们可以总结一下</a:t>
            </a:r>
            <a:r>
              <a:rPr lang="en-US" altLang="zh-CN" dirty="0"/>
              <a:t>kerberos</a:t>
            </a:r>
            <a:r>
              <a:rPr lang="zh-CN" altLang="en-US" dirty="0"/>
              <a:t>协议的</a:t>
            </a:r>
            <a:r>
              <a:rPr lang="zh-CN" altLang="en-US" dirty="0"/>
              <a:t>特点：</a:t>
            </a:r>
            <a:endParaRPr lang="zh-CN" altLang="en-US" dirty="0"/>
          </a:p>
          <a:p>
            <a:endParaRPr lang="zh-CN" altLang="en-US" dirty="0"/>
          </a:p>
          <a:p>
            <a:r>
              <a:rPr lang="zh-CN" altLang="en-US" dirty="0"/>
              <a:t>当然</a:t>
            </a:r>
            <a:r>
              <a:rPr lang="en-US" altLang="zh-CN" dirty="0"/>
              <a:t>Kerberos</a:t>
            </a:r>
            <a:r>
              <a:rPr lang="zh-CN" altLang="en-US" dirty="0"/>
              <a:t>协议中还有许多的实现细节，用来提升</a:t>
            </a:r>
            <a:r>
              <a:rPr lang="en-US" altLang="zh-CN" dirty="0"/>
              <a:t>Kerberos</a:t>
            </a:r>
            <a:r>
              <a:rPr lang="zh-CN" altLang="en-US" dirty="0"/>
              <a:t>协议的安全性。</a:t>
            </a:r>
            <a:endParaRPr lang="zh-CN" altLang="en-US" dirty="0"/>
          </a:p>
          <a:p>
            <a:r>
              <a:rPr lang="zh-CN" altLang="en-US" dirty="0"/>
              <a:t>但是由于时间关系，我们可以在</a:t>
            </a:r>
            <a:r>
              <a:rPr lang="zh-CN" altLang="en-US" dirty="0"/>
              <a:t>之后的机会里进行</a:t>
            </a:r>
            <a:r>
              <a:rPr lang="zh-CN" altLang="en-US" dirty="0"/>
              <a:t>讨论。</a:t>
            </a:r>
            <a:endParaRPr lang="zh-CN" altLang="en-US" dirty="0"/>
          </a:p>
          <a:p>
            <a:endParaRPr lang="zh-CN" altLang="en-US" dirty="0"/>
          </a:p>
        </p:txBody>
      </p:sp>
      <p:sp>
        <p:nvSpPr>
          <p:cNvPr id="4" name="灯片编号占位符 3"/>
          <p:cNvSpPr>
            <a:spLocks noGrp="1"/>
          </p:cNvSpPr>
          <p:nvPr>
            <p:ph type="sldNum" sz="quarter" idx="10"/>
          </p:nvPr>
        </p:nvSpPr>
        <p:spPr/>
        <p:txBody>
          <a:bodyPr/>
          <a:lstStyle/>
          <a:p>
            <a:pPr>
              <a:defRPr/>
            </a:pPr>
            <a:fld id="{5AC9BAEE-8509-47A6-8A3D-7CA4239D7D9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smtClean="0"/>
              <a:t>单击此处编辑母版标题样式</a:t>
            </a:r>
            <a:endParaRPr lang="zh-CN" altLang="en-US"/>
          </a:p>
        </p:txBody>
      </p:sp>
      <p:sp>
        <p:nvSpPr>
          <p:cNvPr id="3" name="内容占位符 2"/>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smtClean="0"/>
              <a:t>单击此处编辑母版标题样式</a:t>
            </a:r>
            <a:endParaRPr lang="zh-CN" altLang="en-US"/>
          </a:p>
        </p:txBody>
      </p:sp>
      <p:sp>
        <p:nvSpPr>
          <p:cNvPr id="3" name="内容占位符 2"/>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p:nvPr>
            <p:ph type="ftr" sz="quarter" idx="11"/>
          </p:nvPr>
        </p:nvSpPr>
        <p:spPr/>
        <p:txBody>
          <a:bodyPr/>
          <a:lstStyle/>
          <a:p>
            <a:endParaRPr lang="zh-CN" altLang="en-US"/>
          </a:p>
        </p:txBody>
      </p:sp>
      <p:sp>
        <p:nvSpPr>
          <p:cNvPr id="7" name="灯片编号占位符 6"/>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p:nvPr>
            <p:ph type="ftr" sz="quarter" idx="11"/>
          </p:nvPr>
        </p:nvSpPr>
        <p:spPr/>
        <p:txBody>
          <a:bodyPr/>
          <a:lstStyle/>
          <a:p>
            <a:endParaRPr lang="zh-CN" altLang="en-US"/>
          </a:p>
        </p:txBody>
      </p:sp>
      <p:sp>
        <p:nvSpPr>
          <p:cNvPr id="9" name="灯片编号占位符 8"/>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smtClean="0"/>
              <a:t>单击此处编辑母版标题样式</a:t>
            </a:r>
            <a:endParaRPr lang="zh-CN" altLang="en-US"/>
          </a:p>
        </p:txBody>
      </p:sp>
      <p:sp>
        <p:nvSpPr>
          <p:cNvPr id="3" name="日期占位符 2"/>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p:nvPr>
            <p:ph type="ftr" sz="quarter" idx="11"/>
          </p:nvPr>
        </p:nvSpPr>
        <p:spPr/>
        <p:txBody>
          <a:bodyPr/>
          <a:lstStyle/>
          <a:p>
            <a:endParaRPr lang="zh-CN" altLang="en-US"/>
          </a:p>
        </p:txBody>
      </p:sp>
      <p:sp>
        <p:nvSpPr>
          <p:cNvPr id="5" name="灯片编号占位符 4"/>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p:nvPr>
            <p:ph type="ftr" sz="quarter" idx="11"/>
          </p:nvPr>
        </p:nvSpPr>
        <p:spPr/>
        <p:txBody>
          <a:bodyPr/>
          <a:lstStyle/>
          <a:p>
            <a:endParaRPr lang="zh-CN" altLang="en-US"/>
          </a:p>
        </p:txBody>
      </p:sp>
      <p:sp>
        <p:nvSpPr>
          <p:cNvPr id="4" name="灯片编号占位符 3"/>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p:nvPr>
            <p:ph type="ftr" sz="quarter" idx="11"/>
          </p:nvPr>
        </p:nvSpPr>
        <p:spPr/>
        <p:txBody>
          <a:bodyPr/>
          <a:lstStyle/>
          <a:p>
            <a:endParaRPr lang="zh-CN" altLang="en-US"/>
          </a:p>
        </p:txBody>
      </p:sp>
      <p:sp>
        <p:nvSpPr>
          <p:cNvPr id="7" name="灯片编号占位符 6"/>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p:nvPr>
            <p:ph type="ftr" sz="quarter" idx="11"/>
          </p:nvPr>
        </p:nvSpPr>
        <p:spPr/>
        <p:txBody>
          <a:bodyPr/>
          <a:lstStyle/>
          <a:p>
            <a:endParaRPr lang="zh-CN" altLang="en-US"/>
          </a:p>
        </p:txBody>
      </p:sp>
      <p:sp>
        <p:nvSpPr>
          <p:cNvPr id="7" name="灯片编号占位符 6"/>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p:nvPr>
            <p:ph type="title"/>
          </p:nvPr>
        </p:nvSpPr>
        <p:spPr/>
        <p:txBody>
          <a:bodyPr/>
          <a:lstStyle/>
          <a:p>
            <a:r>
              <a:rPr lang="zh-CN" altLang="en-US" smtClean="0"/>
              <a:t>单击此处编辑母版标题样式</a:t>
            </a:r>
            <a:endParaRPr lang="zh-CN" altLang="en-US"/>
          </a:p>
        </p:txBody>
      </p:sp>
      <p:sp>
        <p:nvSpPr>
          <p:cNvPr id="3" name="竖排文字占位符 2"/>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p:nvPr>
            <p:ph type="ftr" sz="quarter" idx="11"/>
          </p:nvPr>
        </p:nvSpPr>
        <p:spPr/>
        <p:txBody>
          <a:bodyPr/>
          <a:lstStyle/>
          <a:p>
            <a:endParaRPr lang="zh-CN" altLang="en-US"/>
          </a:p>
        </p:txBody>
      </p:sp>
      <p:sp>
        <p:nvSpPr>
          <p:cNvPr id="6" name="灯片编号占位符 5"/>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9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pic>
        <p:nvPicPr>
          <p:cNvPr id="4" name="Picture 4" descr="B-1"/>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815413" y="548680"/>
            <a:ext cx="10478955" cy="648072"/>
          </a:xfrm>
        </p:spPr>
        <p:txBody>
          <a:bodyPr/>
          <a:lstStyle>
            <a:lvl1pPr algn="l">
              <a:defRPr sz="4000"/>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09600" y="1600200"/>
            <a:ext cx="10972800" cy="4925144"/>
          </a:xfrm>
        </p:spPr>
        <p:txBody>
          <a:bodyPr/>
          <a:lstStyle>
            <a:lvl1pPr marL="342900" indent="-342900">
              <a:lnSpc>
                <a:spcPts val="3200"/>
              </a:lnSpc>
              <a:buClrTx/>
              <a:buSzPct val="85000"/>
              <a:buFont typeface="Wingdings" panose="05000000000000000000" pitchFamily="2" charset="2"/>
              <a:buChar char="p"/>
              <a:defRPr sz="2400"/>
            </a:lvl1pPr>
            <a:lvl2pPr marL="914400" indent="-457200">
              <a:lnSpc>
                <a:spcPts val="3200"/>
              </a:lnSpc>
              <a:buClrTx/>
              <a:buSzPct val="85000"/>
              <a:buFont typeface="Wingdings" panose="05000000000000000000" pitchFamily="2" charset="2"/>
              <a:buChar char="n"/>
              <a:defRPr sz="2000"/>
            </a:lvl2pPr>
            <a:lvl3pPr marL="1371600" indent="-457200">
              <a:lnSpc>
                <a:spcPts val="3200"/>
              </a:lnSpc>
              <a:buClrTx/>
              <a:buSzPct val="85000"/>
              <a:buFont typeface="Wingdings" panose="05000000000000000000" pitchFamily="2" charset="2"/>
              <a:buChar char="u"/>
              <a:defRPr sz="1800"/>
            </a:lvl3pPr>
            <a:lvl4pPr>
              <a:lnSpc>
                <a:spcPts val="3200"/>
              </a:lnSpc>
              <a:defRPr sz="1600"/>
            </a:lvl4pPr>
            <a:lvl5pPr>
              <a:lnSpc>
                <a:spcPts val="3200"/>
              </a:lnSpc>
              <a:defRPr sz="1600"/>
            </a:lvl5pPr>
          </a:lstStyle>
          <a:p>
            <a:pPr lvl="0"/>
            <a:r>
              <a:rPr lang="zh-CN" altLang="en-US" dirty="0"/>
              <a:t>单击此处编辑母版文本样式</a:t>
            </a:r>
            <a:endParaRPr lang="en-US" altLang="zh-CN"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Rectangle 6"/>
          <p:cNvSpPr>
            <a:spLocks noGrp="1" noChangeArrowheads="1"/>
          </p:cNvSpPr>
          <p:nvPr>
            <p:ph type="sldNum" sz="quarter" idx="12"/>
          </p:nvPr>
        </p:nvSpPr>
        <p:spPr>
          <a:xfrm>
            <a:off x="10443382" y="6525344"/>
            <a:ext cx="1142325" cy="332656"/>
          </a:xfrm>
        </p:spPr>
        <p:txBody>
          <a:bodyPr/>
          <a:lstStyle>
            <a:lvl1pPr>
              <a:defRPr/>
            </a:lvl1pPr>
          </a:lstStyle>
          <a:p>
            <a:pPr>
              <a:defRPr/>
            </a:pPr>
            <a:fld id="{B42B4293-9377-4872-955B-7EAEC82CC678}" type="slidenum">
              <a:rPr lang="en-US" altLang="zh-CN" smtClean="0"/>
            </a:fld>
            <a:endParaRPr lang="en-US" altLang="zh-CN"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2.xml"/><Relationship Id="rId2" Type="http://schemas.openxmlformats.org/officeDocument/2006/relationships/image" Target="../media/image3.jpeg"/><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2.xml"/><Relationship Id="rId2" Type="http://schemas.openxmlformats.org/officeDocument/2006/relationships/image" Target="../media/image4.jpe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2.xml"/><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2.xml"/><Relationship Id="rId4" Type="http://schemas.openxmlformats.org/officeDocument/2006/relationships/image" Target="../media/image2.jpeg"/><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6.xml"/><Relationship Id="rId5" Type="http://schemas.openxmlformats.org/officeDocument/2006/relationships/slideLayout" Target="../slideLayouts/slideLayout12.xml"/><Relationship Id="rId4" Type="http://schemas.openxmlformats.org/officeDocument/2006/relationships/image" Target="../media/image2.jpeg"/><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_rels/slide19.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2.xml"/><Relationship Id="rId2" Type="http://schemas.openxmlformats.org/officeDocument/2006/relationships/image" Target="../media/image15.png"/><Relationship Id="rId1" Type="http://schemas.openxmlformats.org/officeDocument/2006/relationships/image" Target="../media/image2.jpeg"/></Relationships>
</file>

<file path=ppt/slides/_rels/slide20.xml.rels><?xml version="1.0" encoding="UTF-8" standalone="yes"?>
<Relationships xmlns="http://schemas.openxmlformats.org/package/2006/relationships"><Relationship Id="rId7" Type="http://schemas.openxmlformats.org/officeDocument/2006/relationships/vmlDrawing" Target="../drawings/vmlDrawing1.vml"/><Relationship Id="rId6"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18.png"/><Relationship Id="rId3" Type="http://schemas.openxmlformats.org/officeDocument/2006/relationships/oleObject" Target="../embeddings/oleObject1.bin"/><Relationship Id="rId2" Type="http://schemas.openxmlformats.org/officeDocument/2006/relationships/image" Target="../media/image17.jpeg"/><Relationship Id="rId1" Type="http://schemas.openxmlformats.org/officeDocument/2006/relationships/image" Target="../media/image16.jpe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19.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20.jpeg"/></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26.xml"/><Relationship Id="rId4" Type="http://schemas.openxmlformats.org/officeDocument/2006/relationships/slideLayout" Target="../slideLayouts/slideLayout2.xml"/><Relationship Id="rId3" Type="http://schemas.openxmlformats.org/officeDocument/2006/relationships/image" Target="../media/image2.jpeg"/><Relationship Id="rId2" Type="http://schemas.openxmlformats.org/officeDocument/2006/relationships/image" Target="../media/image22.png"/><Relationship Id="rId1" Type="http://schemas.openxmlformats.org/officeDocument/2006/relationships/image" Target="../media/image21.png"/></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27.xml"/><Relationship Id="rId4" Type="http://schemas.openxmlformats.org/officeDocument/2006/relationships/slideLayout" Target="../slideLayouts/slideLayout2.xml"/><Relationship Id="rId3" Type="http://schemas.openxmlformats.org/officeDocument/2006/relationships/image" Target="../media/image2.jpeg"/><Relationship Id="rId2" Type="http://schemas.openxmlformats.org/officeDocument/2006/relationships/image" Target="../media/image24.png"/><Relationship Id="rId1" Type="http://schemas.openxmlformats.org/officeDocument/2006/relationships/image" Target="../media/image23.jpe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3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jpeg"/><Relationship Id="rId2" Type="http://schemas.openxmlformats.org/officeDocument/2006/relationships/image" Target="../media/image26.jpeg"/><Relationship Id="rId1" Type="http://schemas.openxmlformats.org/officeDocument/2006/relationships/image" Target="../media/image25.jpeg"/></Relationships>
</file>

<file path=ppt/slides/_rels/slide3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image" Target="../media/image27.jpeg"/></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2.jpeg"/><Relationship Id="rId2" Type="http://schemas.openxmlformats.org/officeDocument/2006/relationships/image" Target="../media/image29.png"/><Relationship Id="rId1" Type="http://schemas.openxmlformats.org/officeDocument/2006/relationships/image" Target="../media/image28.jpeg"/></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3.xml"/><Relationship Id="rId2" Type="http://schemas.openxmlformats.org/officeDocument/2006/relationships/image" Target="../media/image30.png"/><Relationship Id="rId1" Type="http://schemas.openxmlformats.org/officeDocument/2006/relationships/tags" Target="../tags/tag1.xml"/></Relationships>
</file>

<file path=ppt/slides/_rels/slide5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2.xml"/><Relationship Id="rId2" Type="http://schemas.openxmlformats.org/officeDocument/2006/relationships/image" Target="../media/image2.jpeg"/><Relationship Id="rId1" Type="http://schemas.openxmlformats.org/officeDocument/2006/relationships/hyperlink" Target="http://web.mit.edu/kerberos/#what_is" TargetMode="Externa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53.xml.rels><?xml version="1.0" encoding="UTF-8" standalone="yes"?>
<Relationships xmlns="http://schemas.openxmlformats.org/package/2006/relationships"><Relationship Id="rId4" Type="http://schemas.openxmlformats.org/officeDocument/2006/relationships/notesSlide" Target="../notesSlides/notesSlide33.xml"/><Relationship Id="rId3" Type="http://schemas.openxmlformats.org/officeDocument/2006/relationships/slideLayout" Target="../slideLayouts/slideLayout2.xml"/><Relationship Id="rId2" Type="http://schemas.openxmlformats.org/officeDocument/2006/relationships/image" Target="../media/image32.png"/><Relationship Id="rId1" Type="http://schemas.openxmlformats.org/officeDocument/2006/relationships/image" Target="../media/image31.png"/></Relationships>
</file>

<file path=ppt/slides/_rels/slide54.xml.rels><?xml version="1.0" encoding="UTF-8" standalone="yes"?>
<Relationships xmlns="http://schemas.openxmlformats.org/package/2006/relationships"><Relationship Id="rId8" Type="http://schemas.openxmlformats.org/officeDocument/2006/relationships/notesSlide" Target="../notesSlides/notesSlide34.xml"/><Relationship Id="rId7" Type="http://schemas.openxmlformats.org/officeDocument/2006/relationships/slideLayout" Target="../slideLayouts/slideLayout2.xml"/><Relationship Id="rId6" Type="http://schemas.openxmlformats.org/officeDocument/2006/relationships/image" Target="../media/image2.jpeg"/><Relationship Id="rId5" Type="http://schemas.openxmlformats.org/officeDocument/2006/relationships/hyperlink" Target="http://www.gnu.org/software/shishi/" TargetMode="External"/><Relationship Id="rId4" Type="http://schemas.openxmlformats.org/officeDocument/2006/relationships/hyperlink" Target="http://www.h5l.org/" TargetMode="External"/><Relationship Id="rId3" Type="http://schemas.openxmlformats.org/officeDocument/2006/relationships/hyperlink" Target="http://web.mit.edu/kerberos/www/" TargetMode="External"/><Relationship Id="rId2" Type="http://schemas.openxmlformats.org/officeDocument/2006/relationships/hyperlink" Target="http://tools.ietf.org/html/rfc4120" TargetMode="External"/><Relationship Id="rId1" Type="http://schemas.openxmlformats.org/officeDocument/2006/relationships/hyperlink" Target="http://tools.ietf.org/html/rfc1510" TargetMode="External"/></Relationships>
</file>

<file path=ppt/slides/_rels/slide5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2.jpeg"/><Relationship Id="rId7" Type="http://schemas.openxmlformats.org/officeDocument/2006/relationships/hyperlink" Target="http://tools.ietf.org/html/rfc4121" TargetMode="External"/><Relationship Id="rId6" Type="http://schemas.openxmlformats.org/officeDocument/2006/relationships/hyperlink" Target="http://tools.ietf.org/html/rfc1510" TargetMode="External"/><Relationship Id="rId5" Type="http://schemas.openxmlformats.org/officeDocument/2006/relationships/hyperlink" Target="http://tools.ietf.org/html/rfc4120" TargetMode="External"/><Relationship Id="rId4" Type="http://schemas.openxmlformats.org/officeDocument/2006/relationships/hyperlink" Target="http://tools.ietf.org/html/rfc3962" TargetMode="External"/><Relationship Id="rId3" Type="http://schemas.openxmlformats.org/officeDocument/2006/relationships/hyperlink" Target="http://tools.ietf.org/html/rfc3961" TargetMode="External"/><Relationship Id="rId2" Type="http://schemas.openxmlformats.org/officeDocument/2006/relationships/hyperlink" Target="https://tools.ietf.org/html/rfc4757" TargetMode="External"/><Relationship Id="rId10" Type="http://schemas.openxmlformats.org/officeDocument/2006/relationships/notesSlide" Target="../notesSlides/notesSlide35.xml"/><Relationship Id="rId1" Type="http://schemas.openxmlformats.org/officeDocument/2006/relationships/hyperlink" Target="http://tools.ietf.org/html/rfc3244" TargetMode="External"/></Relationships>
</file>

<file path=ppt/slides/_rels/slide56.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image" Target="../media/image34.png"/><Relationship Id="rId16" Type="http://schemas.openxmlformats.org/officeDocument/2006/relationships/notesSlide" Target="../notesSlides/notesSlide36.xml"/><Relationship Id="rId15" Type="http://schemas.openxmlformats.org/officeDocument/2006/relationships/slideLayout" Target="../slideLayouts/slideLayout13.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33.png"/></Relationships>
</file>

<file path=ppt/slides/_rels/slide57.xml.rels><?xml version="1.0" encoding="UTF-8" standalone="yes"?>
<Relationships xmlns="http://schemas.openxmlformats.org/package/2006/relationships"><Relationship Id="rId9" Type="http://schemas.openxmlformats.org/officeDocument/2006/relationships/tags" Target="../tags/tag20.xml"/><Relationship Id="rId8" Type="http://schemas.openxmlformats.org/officeDocument/2006/relationships/tags" Target="../tags/tag19.xml"/><Relationship Id="rId7" Type="http://schemas.openxmlformats.org/officeDocument/2006/relationships/tags" Target="../tags/tag18.xml"/><Relationship Id="rId6" Type="http://schemas.openxmlformats.org/officeDocument/2006/relationships/tags" Target="../tags/tag17.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image" Target="../media/image34.png"/><Relationship Id="rId14" Type="http://schemas.openxmlformats.org/officeDocument/2006/relationships/notesSlide" Target="../notesSlides/notesSlide37.xml"/><Relationship Id="rId13" Type="http://schemas.openxmlformats.org/officeDocument/2006/relationships/slideLayout" Target="../slideLayouts/slideLayout13.xml"/><Relationship Id="rId12" Type="http://schemas.openxmlformats.org/officeDocument/2006/relationships/tags" Target="../tags/tag23.xml"/><Relationship Id="rId11" Type="http://schemas.openxmlformats.org/officeDocument/2006/relationships/tags" Target="../tags/tag22.xml"/><Relationship Id="rId10" Type="http://schemas.openxmlformats.org/officeDocument/2006/relationships/tags" Target="../tags/tag21.xml"/><Relationship Id="rId1" Type="http://schemas.openxmlformats.org/officeDocument/2006/relationships/image" Target="../media/image33.png"/></Relationships>
</file>

<file path=ppt/slides/_rels/slide58.xml.rels><?xml version="1.0" encoding="UTF-8" standalone="yes"?>
<Relationships xmlns="http://schemas.openxmlformats.org/package/2006/relationships"><Relationship Id="rId9" Type="http://schemas.openxmlformats.org/officeDocument/2006/relationships/tags" Target="../tags/tag30.xml"/><Relationship Id="rId8" Type="http://schemas.openxmlformats.org/officeDocument/2006/relationships/tags" Target="../tags/tag29.xml"/><Relationship Id="rId7" Type="http://schemas.openxmlformats.org/officeDocument/2006/relationships/tags" Target="../tags/tag28.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 Id="rId3" Type="http://schemas.openxmlformats.org/officeDocument/2006/relationships/tags" Target="../tags/tag24.xml"/><Relationship Id="rId2" Type="http://schemas.openxmlformats.org/officeDocument/2006/relationships/image" Target="../media/image34.png"/><Relationship Id="rId16" Type="http://schemas.openxmlformats.org/officeDocument/2006/relationships/notesSlide" Target="../notesSlides/notesSlide38.xml"/><Relationship Id="rId15" Type="http://schemas.openxmlformats.org/officeDocument/2006/relationships/slideLayout" Target="../slideLayouts/slideLayout13.xml"/><Relationship Id="rId14" Type="http://schemas.openxmlformats.org/officeDocument/2006/relationships/tags" Target="../tags/tag35.xml"/><Relationship Id="rId13" Type="http://schemas.openxmlformats.org/officeDocument/2006/relationships/tags" Target="../tags/tag34.xml"/><Relationship Id="rId12" Type="http://schemas.openxmlformats.org/officeDocument/2006/relationships/tags" Target="../tags/tag33.xml"/><Relationship Id="rId11" Type="http://schemas.openxmlformats.org/officeDocument/2006/relationships/tags" Target="../tags/tag32.xml"/><Relationship Id="rId10" Type="http://schemas.openxmlformats.org/officeDocument/2006/relationships/tags" Target="../tags/tag31.xml"/><Relationship Id="rId1" Type="http://schemas.openxmlformats.org/officeDocument/2006/relationships/image" Target="../media/image33.png"/></Relationships>
</file>

<file path=ppt/slides/_rels/slide59.xml.rels><?xml version="1.0" encoding="UTF-8" standalone="yes"?>
<Relationships xmlns="http://schemas.openxmlformats.org/package/2006/relationships"><Relationship Id="rId9" Type="http://schemas.openxmlformats.org/officeDocument/2006/relationships/tags" Target="../tags/tag42.xml"/><Relationship Id="rId8" Type="http://schemas.openxmlformats.org/officeDocument/2006/relationships/tags" Target="../tags/tag41.xml"/><Relationship Id="rId7" Type="http://schemas.openxmlformats.org/officeDocument/2006/relationships/tags" Target="../tags/tag40.xml"/><Relationship Id="rId6" Type="http://schemas.openxmlformats.org/officeDocument/2006/relationships/tags" Target="../tags/tag39.xml"/><Relationship Id="rId5" Type="http://schemas.openxmlformats.org/officeDocument/2006/relationships/tags" Target="../tags/tag38.xml"/><Relationship Id="rId4" Type="http://schemas.openxmlformats.org/officeDocument/2006/relationships/tags" Target="../tags/tag37.xml"/><Relationship Id="rId3" Type="http://schemas.openxmlformats.org/officeDocument/2006/relationships/tags" Target="../tags/tag36.xml"/><Relationship Id="rId2" Type="http://schemas.openxmlformats.org/officeDocument/2006/relationships/image" Target="../media/image34.png"/><Relationship Id="rId16" Type="http://schemas.openxmlformats.org/officeDocument/2006/relationships/notesSlide" Target="../notesSlides/notesSlide39.xml"/><Relationship Id="rId15" Type="http://schemas.openxmlformats.org/officeDocument/2006/relationships/slideLayout" Target="../slideLayouts/slideLayout13.xml"/><Relationship Id="rId14" Type="http://schemas.openxmlformats.org/officeDocument/2006/relationships/tags" Target="../tags/tag47.xml"/><Relationship Id="rId13" Type="http://schemas.openxmlformats.org/officeDocument/2006/relationships/tags" Target="../tags/tag46.xml"/><Relationship Id="rId12" Type="http://schemas.openxmlformats.org/officeDocument/2006/relationships/tags" Target="../tags/tag45.xml"/><Relationship Id="rId11" Type="http://schemas.openxmlformats.org/officeDocument/2006/relationships/tags" Target="../tags/tag44.xml"/><Relationship Id="rId10" Type="http://schemas.openxmlformats.org/officeDocument/2006/relationships/tags" Target="../tags/tag43.xml"/><Relationship Id="rId1" Type="http://schemas.openxmlformats.org/officeDocument/2006/relationships/image" Target="../media/image33.png"/></Relationships>
</file>

<file path=ppt/slides/_rels/slide60.xml.rels><?xml version="1.0" encoding="UTF-8" standalone="yes"?>
<Relationships xmlns="http://schemas.openxmlformats.org/package/2006/relationships"><Relationship Id="rId9" Type="http://schemas.openxmlformats.org/officeDocument/2006/relationships/tags" Target="../tags/tag54.xml"/><Relationship Id="rId8" Type="http://schemas.openxmlformats.org/officeDocument/2006/relationships/tags" Target="../tags/tag53.xml"/><Relationship Id="rId7" Type="http://schemas.openxmlformats.org/officeDocument/2006/relationships/tags" Target="../tags/tag52.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image" Target="../media/image34.png"/><Relationship Id="rId17" Type="http://schemas.openxmlformats.org/officeDocument/2006/relationships/notesSlide" Target="../notesSlides/notesSlide40.xml"/><Relationship Id="rId16" Type="http://schemas.openxmlformats.org/officeDocument/2006/relationships/slideLayout" Target="../slideLayouts/slideLayout13.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tags" Target="../tags/tag56.xml"/><Relationship Id="rId10" Type="http://schemas.openxmlformats.org/officeDocument/2006/relationships/tags" Target="../tags/tag55.xml"/><Relationship Id="rId1" Type="http://schemas.openxmlformats.org/officeDocument/2006/relationships/image" Target="../media/image33.png"/></Relationships>
</file>

<file path=ppt/slides/_rels/slide61.xml.rels><?xml version="1.0" encoding="UTF-8" standalone="yes"?>
<Relationships xmlns="http://schemas.openxmlformats.org/package/2006/relationships"><Relationship Id="rId9" Type="http://schemas.openxmlformats.org/officeDocument/2006/relationships/tags" Target="../tags/tag67.xml"/><Relationship Id="rId8" Type="http://schemas.openxmlformats.org/officeDocument/2006/relationships/tags" Target="../tags/tag66.xml"/><Relationship Id="rId7" Type="http://schemas.openxmlformats.org/officeDocument/2006/relationships/tags" Target="../tags/tag65.xml"/><Relationship Id="rId6" Type="http://schemas.openxmlformats.org/officeDocument/2006/relationships/tags" Target="../tags/tag64.xml"/><Relationship Id="rId5" Type="http://schemas.openxmlformats.org/officeDocument/2006/relationships/tags" Target="../tags/tag63.xml"/><Relationship Id="rId4" Type="http://schemas.openxmlformats.org/officeDocument/2006/relationships/image" Target="../media/image34.png"/><Relationship Id="rId3" Type="http://schemas.openxmlformats.org/officeDocument/2006/relationships/tags" Target="../tags/tag62.xml"/><Relationship Id="rId2" Type="http://schemas.openxmlformats.org/officeDocument/2006/relationships/image" Target="../media/image33.png"/><Relationship Id="rId12" Type="http://schemas.openxmlformats.org/officeDocument/2006/relationships/notesSlide" Target="../notesSlides/notesSlide41.xml"/><Relationship Id="rId11" Type="http://schemas.openxmlformats.org/officeDocument/2006/relationships/slideLayout" Target="../slideLayouts/slideLayout13.xml"/><Relationship Id="rId10" Type="http://schemas.openxmlformats.org/officeDocument/2006/relationships/tags" Target="../tags/tag68.xml"/><Relationship Id="rId1" Type="http://schemas.openxmlformats.org/officeDocument/2006/relationships/tags" Target="../tags/tag61.xml"/></Relationships>
</file>

<file path=ppt/slides/_rels/slide62.xml.rels><?xml version="1.0" encoding="UTF-8" standalone="yes"?>
<Relationships xmlns="http://schemas.openxmlformats.org/package/2006/relationships"><Relationship Id="rId9" Type="http://schemas.openxmlformats.org/officeDocument/2006/relationships/tags" Target="../tags/tag75.xml"/><Relationship Id="rId8" Type="http://schemas.openxmlformats.org/officeDocument/2006/relationships/tags" Target="../tags/tag74.xml"/><Relationship Id="rId7" Type="http://schemas.openxmlformats.org/officeDocument/2006/relationships/tags" Target="../tags/tag73.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image" Target="../media/image34.png"/><Relationship Id="rId3" Type="http://schemas.openxmlformats.org/officeDocument/2006/relationships/tags" Target="../tags/tag70.xml"/><Relationship Id="rId2" Type="http://schemas.openxmlformats.org/officeDocument/2006/relationships/image" Target="../media/image33.png"/><Relationship Id="rId19" Type="http://schemas.openxmlformats.org/officeDocument/2006/relationships/notesSlide" Target="../notesSlides/notesSlide42.xml"/><Relationship Id="rId18" Type="http://schemas.openxmlformats.org/officeDocument/2006/relationships/slideLayout" Target="../slideLayouts/slideLayout13.xml"/><Relationship Id="rId17" Type="http://schemas.openxmlformats.org/officeDocument/2006/relationships/tags" Target="../tags/tag83.xml"/><Relationship Id="rId16" Type="http://schemas.openxmlformats.org/officeDocument/2006/relationships/tags" Target="../tags/tag82.xml"/><Relationship Id="rId15" Type="http://schemas.openxmlformats.org/officeDocument/2006/relationships/tags" Target="../tags/tag81.xml"/><Relationship Id="rId14" Type="http://schemas.openxmlformats.org/officeDocument/2006/relationships/tags" Target="../tags/tag80.xml"/><Relationship Id="rId13" Type="http://schemas.openxmlformats.org/officeDocument/2006/relationships/tags" Target="../tags/tag79.xml"/><Relationship Id="rId12" Type="http://schemas.openxmlformats.org/officeDocument/2006/relationships/tags" Target="../tags/tag78.xml"/><Relationship Id="rId11" Type="http://schemas.openxmlformats.org/officeDocument/2006/relationships/tags" Target="../tags/tag77.xml"/><Relationship Id="rId10" Type="http://schemas.openxmlformats.org/officeDocument/2006/relationships/tags" Target="../tags/tag76.xml"/><Relationship Id="rId1" Type="http://schemas.openxmlformats.org/officeDocument/2006/relationships/tags" Target="../tags/tag69.xml"/></Relationships>
</file>

<file path=ppt/slides/_rels/slide63.xml.rels><?xml version="1.0" encoding="UTF-8" standalone="yes"?>
<Relationships xmlns="http://schemas.openxmlformats.org/package/2006/relationships"><Relationship Id="rId9" Type="http://schemas.openxmlformats.org/officeDocument/2006/relationships/tags" Target="../tags/tag90.xml"/><Relationship Id="rId8" Type="http://schemas.openxmlformats.org/officeDocument/2006/relationships/tags" Target="../tags/tag89.xml"/><Relationship Id="rId7" Type="http://schemas.openxmlformats.org/officeDocument/2006/relationships/tags" Target="../tags/tag88.xml"/><Relationship Id="rId6" Type="http://schemas.openxmlformats.org/officeDocument/2006/relationships/tags" Target="../tags/tag87.xml"/><Relationship Id="rId5" Type="http://schemas.openxmlformats.org/officeDocument/2006/relationships/tags" Target="../tags/tag86.xml"/><Relationship Id="rId4" Type="http://schemas.openxmlformats.org/officeDocument/2006/relationships/image" Target="../media/image34.png"/><Relationship Id="rId3" Type="http://schemas.openxmlformats.org/officeDocument/2006/relationships/tags" Target="../tags/tag85.xml"/><Relationship Id="rId2" Type="http://schemas.openxmlformats.org/officeDocument/2006/relationships/image" Target="../media/image33.png"/><Relationship Id="rId19" Type="http://schemas.openxmlformats.org/officeDocument/2006/relationships/notesSlide" Target="../notesSlides/notesSlide43.xml"/><Relationship Id="rId18" Type="http://schemas.openxmlformats.org/officeDocument/2006/relationships/slideLayout" Target="../slideLayouts/slideLayout13.xml"/><Relationship Id="rId17" Type="http://schemas.openxmlformats.org/officeDocument/2006/relationships/tags" Target="../tags/tag98.xml"/><Relationship Id="rId16" Type="http://schemas.openxmlformats.org/officeDocument/2006/relationships/tags" Target="../tags/tag97.xml"/><Relationship Id="rId15" Type="http://schemas.openxmlformats.org/officeDocument/2006/relationships/tags" Target="../tags/tag96.xml"/><Relationship Id="rId14" Type="http://schemas.openxmlformats.org/officeDocument/2006/relationships/tags" Target="../tags/tag95.xml"/><Relationship Id="rId13" Type="http://schemas.openxmlformats.org/officeDocument/2006/relationships/tags" Target="../tags/tag94.xml"/><Relationship Id="rId12" Type="http://schemas.openxmlformats.org/officeDocument/2006/relationships/tags" Target="../tags/tag93.xml"/><Relationship Id="rId11" Type="http://schemas.openxmlformats.org/officeDocument/2006/relationships/tags" Target="../tags/tag92.xml"/><Relationship Id="rId10" Type="http://schemas.openxmlformats.org/officeDocument/2006/relationships/tags" Target="../tags/tag91.xml"/><Relationship Id="rId1" Type="http://schemas.openxmlformats.org/officeDocument/2006/relationships/tags" Target="../tags/tag84.xml"/></Relationships>
</file>

<file path=ppt/slides/_rels/slide64.xml.rels><?xml version="1.0" encoding="UTF-8" standalone="yes"?>
<Relationships xmlns="http://schemas.openxmlformats.org/package/2006/relationships"><Relationship Id="rId9" Type="http://schemas.openxmlformats.org/officeDocument/2006/relationships/tags" Target="../tags/tag105.xml"/><Relationship Id="rId8" Type="http://schemas.openxmlformats.org/officeDocument/2006/relationships/tags" Target="../tags/tag104.xml"/><Relationship Id="rId7" Type="http://schemas.openxmlformats.org/officeDocument/2006/relationships/tags" Target="../tags/tag103.xml"/><Relationship Id="rId6" Type="http://schemas.openxmlformats.org/officeDocument/2006/relationships/tags" Target="../tags/tag102.xml"/><Relationship Id="rId5" Type="http://schemas.openxmlformats.org/officeDocument/2006/relationships/tags" Target="../tags/tag101.xml"/><Relationship Id="rId4" Type="http://schemas.openxmlformats.org/officeDocument/2006/relationships/image" Target="../media/image34.png"/><Relationship Id="rId3" Type="http://schemas.openxmlformats.org/officeDocument/2006/relationships/tags" Target="../tags/tag100.xml"/><Relationship Id="rId2" Type="http://schemas.openxmlformats.org/officeDocument/2006/relationships/image" Target="../media/image33.png"/><Relationship Id="rId19" Type="http://schemas.openxmlformats.org/officeDocument/2006/relationships/notesSlide" Target="../notesSlides/notesSlide44.xml"/><Relationship Id="rId18" Type="http://schemas.openxmlformats.org/officeDocument/2006/relationships/slideLayout" Target="../slideLayouts/slideLayout13.xml"/><Relationship Id="rId17" Type="http://schemas.openxmlformats.org/officeDocument/2006/relationships/tags" Target="../tags/tag113.xml"/><Relationship Id="rId16" Type="http://schemas.openxmlformats.org/officeDocument/2006/relationships/tags" Target="../tags/tag112.xml"/><Relationship Id="rId15" Type="http://schemas.openxmlformats.org/officeDocument/2006/relationships/tags" Target="../tags/tag111.xml"/><Relationship Id="rId14" Type="http://schemas.openxmlformats.org/officeDocument/2006/relationships/tags" Target="../tags/tag110.xml"/><Relationship Id="rId13" Type="http://schemas.openxmlformats.org/officeDocument/2006/relationships/tags" Target="../tags/tag109.xml"/><Relationship Id="rId12" Type="http://schemas.openxmlformats.org/officeDocument/2006/relationships/tags" Target="../tags/tag108.xml"/><Relationship Id="rId11" Type="http://schemas.openxmlformats.org/officeDocument/2006/relationships/tags" Target="../tags/tag107.xml"/><Relationship Id="rId10" Type="http://schemas.openxmlformats.org/officeDocument/2006/relationships/tags" Target="../tags/tag106.xml"/><Relationship Id="rId1" Type="http://schemas.openxmlformats.org/officeDocument/2006/relationships/tags" Target="../tags/tag99.xml"/></Relationships>
</file>

<file path=ppt/slides/_rels/slide65.xml.rels><?xml version="1.0" encoding="UTF-8" standalone="yes"?>
<Relationships xmlns="http://schemas.openxmlformats.org/package/2006/relationships"><Relationship Id="rId9" Type="http://schemas.openxmlformats.org/officeDocument/2006/relationships/tags" Target="../tags/tag120.xml"/><Relationship Id="rId8" Type="http://schemas.openxmlformats.org/officeDocument/2006/relationships/tags" Target="../tags/tag119.xml"/><Relationship Id="rId7" Type="http://schemas.openxmlformats.org/officeDocument/2006/relationships/tags" Target="../tags/tag118.xml"/><Relationship Id="rId6" Type="http://schemas.openxmlformats.org/officeDocument/2006/relationships/tags" Target="../tags/tag117.xml"/><Relationship Id="rId5" Type="http://schemas.openxmlformats.org/officeDocument/2006/relationships/tags" Target="../tags/tag116.xml"/><Relationship Id="rId4" Type="http://schemas.openxmlformats.org/officeDocument/2006/relationships/image" Target="../media/image34.png"/><Relationship Id="rId3" Type="http://schemas.openxmlformats.org/officeDocument/2006/relationships/tags" Target="../tags/tag115.xml"/><Relationship Id="rId21" Type="http://schemas.openxmlformats.org/officeDocument/2006/relationships/notesSlide" Target="../notesSlides/notesSlide45.xml"/><Relationship Id="rId20" Type="http://schemas.openxmlformats.org/officeDocument/2006/relationships/slideLayout" Target="../slideLayouts/slideLayout13.xml"/><Relationship Id="rId2" Type="http://schemas.openxmlformats.org/officeDocument/2006/relationships/image" Target="../media/image33.png"/><Relationship Id="rId19" Type="http://schemas.openxmlformats.org/officeDocument/2006/relationships/tags" Target="../tags/tag130.xml"/><Relationship Id="rId18" Type="http://schemas.openxmlformats.org/officeDocument/2006/relationships/tags" Target="../tags/tag129.xml"/><Relationship Id="rId17" Type="http://schemas.openxmlformats.org/officeDocument/2006/relationships/tags" Target="../tags/tag128.xml"/><Relationship Id="rId16" Type="http://schemas.openxmlformats.org/officeDocument/2006/relationships/tags" Target="../tags/tag127.xml"/><Relationship Id="rId15" Type="http://schemas.openxmlformats.org/officeDocument/2006/relationships/tags" Target="../tags/tag126.xml"/><Relationship Id="rId14" Type="http://schemas.openxmlformats.org/officeDocument/2006/relationships/tags" Target="../tags/tag125.xml"/><Relationship Id="rId13" Type="http://schemas.openxmlformats.org/officeDocument/2006/relationships/tags" Target="../tags/tag124.xml"/><Relationship Id="rId12" Type="http://schemas.openxmlformats.org/officeDocument/2006/relationships/tags" Target="../tags/tag123.xml"/><Relationship Id="rId11" Type="http://schemas.openxmlformats.org/officeDocument/2006/relationships/tags" Target="../tags/tag122.xml"/><Relationship Id="rId10" Type="http://schemas.openxmlformats.org/officeDocument/2006/relationships/tags" Target="../tags/tag121.xml"/><Relationship Id="rId1" Type="http://schemas.openxmlformats.org/officeDocument/2006/relationships/tags" Target="../tags/tag114.xml"/></Relationships>
</file>

<file path=ppt/slides/_rels/slide66.xml.rels><?xml version="1.0" encoding="UTF-8" standalone="yes"?>
<Relationships xmlns="http://schemas.openxmlformats.org/package/2006/relationships"><Relationship Id="rId7" Type="http://schemas.openxmlformats.org/officeDocument/2006/relationships/notesSlide" Target="../notesSlides/notesSlide46.xml"/><Relationship Id="rId6" Type="http://schemas.openxmlformats.org/officeDocument/2006/relationships/slideLayout" Target="../slideLayouts/slideLayout13.xml"/><Relationship Id="rId5" Type="http://schemas.openxmlformats.org/officeDocument/2006/relationships/tags" Target="../tags/tag134.xml"/><Relationship Id="rId4" Type="http://schemas.openxmlformats.org/officeDocument/2006/relationships/tags" Target="../tags/tag133.xml"/><Relationship Id="rId3" Type="http://schemas.openxmlformats.org/officeDocument/2006/relationships/tags" Target="../tags/tag132.xml"/><Relationship Id="rId2" Type="http://schemas.openxmlformats.org/officeDocument/2006/relationships/image" Target="../media/image33.png"/><Relationship Id="rId1" Type="http://schemas.openxmlformats.org/officeDocument/2006/relationships/tags" Target="../tags/tag131.xml"/></Relationships>
</file>

<file path=ppt/slides/_rels/slide67.xml.rels><?xml version="1.0" encoding="UTF-8" standalone="yes"?>
<Relationships xmlns="http://schemas.openxmlformats.org/package/2006/relationships"><Relationship Id="rId7" Type="http://schemas.openxmlformats.org/officeDocument/2006/relationships/notesSlide" Target="../notesSlides/notesSlide47.xml"/><Relationship Id="rId6" Type="http://schemas.openxmlformats.org/officeDocument/2006/relationships/slideLayout" Target="../slideLayouts/slideLayout13.xml"/><Relationship Id="rId5" Type="http://schemas.openxmlformats.org/officeDocument/2006/relationships/tags" Target="../tags/tag138.xml"/><Relationship Id="rId4" Type="http://schemas.openxmlformats.org/officeDocument/2006/relationships/tags" Target="../tags/tag137.xml"/><Relationship Id="rId3" Type="http://schemas.openxmlformats.org/officeDocument/2006/relationships/tags" Target="../tags/tag136.xml"/><Relationship Id="rId2" Type="http://schemas.openxmlformats.org/officeDocument/2006/relationships/image" Target="../media/image33.png"/><Relationship Id="rId1" Type="http://schemas.openxmlformats.org/officeDocument/2006/relationships/tags" Target="../tags/tag135.xml"/></Relationships>
</file>

<file path=ppt/slides/_rels/slide68.xml.rels><?xml version="1.0" encoding="UTF-8" standalone="yes"?>
<Relationships xmlns="http://schemas.openxmlformats.org/package/2006/relationships"><Relationship Id="rId9" Type="http://schemas.openxmlformats.org/officeDocument/2006/relationships/tags" Target="../tags/tag146.xml"/><Relationship Id="rId8" Type="http://schemas.openxmlformats.org/officeDocument/2006/relationships/tags" Target="../tags/tag145.xml"/><Relationship Id="rId7" Type="http://schemas.openxmlformats.org/officeDocument/2006/relationships/tags" Target="../tags/tag144.xml"/><Relationship Id="rId6" Type="http://schemas.openxmlformats.org/officeDocument/2006/relationships/tags" Target="../tags/tag143.xml"/><Relationship Id="rId5" Type="http://schemas.openxmlformats.org/officeDocument/2006/relationships/tags" Target="../tags/tag142.xml"/><Relationship Id="rId4" Type="http://schemas.openxmlformats.org/officeDocument/2006/relationships/tags" Target="../tags/tag141.xml"/><Relationship Id="rId3" Type="http://schemas.openxmlformats.org/officeDocument/2006/relationships/tags" Target="../tags/tag140.xml"/><Relationship Id="rId2" Type="http://schemas.openxmlformats.org/officeDocument/2006/relationships/image" Target="../media/image33.png"/><Relationship Id="rId11" Type="http://schemas.openxmlformats.org/officeDocument/2006/relationships/notesSlide" Target="../notesSlides/notesSlide48.xml"/><Relationship Id="rId10" Type="http://schemas.openxmlformats.org/officeDocument/2006/relationships/slideLayout" Target="../slideLayouts/slideLayout13.xml"/><Relationship Id="rId1" Type="http://schemas.openxmlformats.org/officeDocument/2006/relationships/tags" Target="../tags/tag139.xml"/></Relationships>
</file>

<file path=ppt/slides/_rels/slide69.xml.rels><?xml version="1.0" encoding="UTF-8" standalone="yes"?>
<Relationships xmlns="http://schemas.openxmlformats.org/package/2006/relationships"><Relationship Id="rId9" Type="http://schemas.openxmlformats.org/officeDocument/2006/relationships/notesSlide" Target="../notesSlides/notesSlide49.xml"/><Relationship Id="rId8" Type="http://schemas.openxmlformats.org/officeDocument/2006/relationships/slideLayout" Target="../slideLayouts/slideLayout13.xml"/><Relationship Id="rId7" Type="http://schemas.openxmlformats.org/officeDocument/2006/relationships/tags" Target="../tags/tag152.xml"/><Relationship Id="rId6" Type="http://schemas.openxmlformats.org/officeDocument/2006/relationships/tags" Target="../tags/tag151.xml"/><Relationship Id="rId5" Type="http://schemas.openxmlformats.org/officeDocument/2006/relationships/tags" Target="../tags/tag150.xml"/><Relationship Id="rId4" Type="http://schemas.openxmlformats.org/officeDocument/2006/relationships/tags" Target="../tags/tag149.xml"/><Relationship Id="rId3" Type="http://schemas.openxmlformats.org/officeDocument/2006/relationships/tags" Target="../tags/tag148.xml"/><Relationship Id="rId2" Type="http://schemas.openxmlformats.org/officeDocument/2006/relationships/image" Target="../media/image33.png"/><Relationship Id="rId1" Type="http://schemas.openxmlformats.org/officeDocument/2006/relationships/tags" Target="../tags/tag147.xml"/></Relationships>
</file>

<file path=ppt/slides/_rels/slide70.xml.rels><?xml version="1.0" encoding="UTF-8" standalone="yes"?>
<Relationships xmlns="http://schemas.openxmlformats.org/package/2006/relationships"><Relationship Id="rId9" Type="http://schemas.openxmlformats.org/officeDocument/2006/relationships/image" Target="../media/image34.png"/><Relationship Id="rId8" Type="http://schemas.openxmlformats.org/officeDocument/2006/relationships/tags" Target="../tags/tag159.xml"/><Relationship Id="rId7" Type="http://schemas.openxmlformats.org/officeDocument/2006/relationships/tags" Target="../tags/tag158.xml"/><Relationship Id="rId6" Type="http://schemas.openxmlformats.org/officeDocument/2006/relationships/tags" Target="../tags/tag157.xml"/><Relationship Id="rId5" Type="http://schemas.openxmlformats.org/officeDocument/2006/relationships/tags" Target="../tags/tag156.xml"/><Relationship Id="rId4" Type="http://schemas.openxmlformats.org/officeDocument/2006/relationships/tags" Target="../tags/tag155.xml"/><Relationship Id="rId3" Type="http://schemas.openxmlformats.org/officeDocument/2006/relationships/tags" Target="../tags/tag154.xml"/><Relationship Id="rId2" Type="http://schemas.openxmlformats.org/officeDocument/2006/relationships/image" Target="../media/image33.png"/><Relationship Id="rId14" Type="http://schemas.openxmlformats.org/officeDocument/2006/relationships/notesSlide" Target="../notesSlides/notesSlide50.xml"/><Relationship Id="rId13" Type="http://schemas.openxmlformats.org/officeDocument/2006/relationships/slideLayout" Target="../slideLayouts/slideLayout13.xml"/><Relationship Id="rId12" Type="http://schemas.openxmlformats.org/officeDocument/2006/relationships/tags" Target="../tags/tag162.xml"/><Relationship Id="rId11" Type="http://schemas.openxmlformats.org/officeDocument/2006/relationships/tags" Target="../tags/tag161.xml"/><Relationship Id="rId10" Type="http://schemas.openxmlformats.org/officeDocument/2006/relationships/tags" Target="../tags/tag160.xml"/><Relationship Id="rId1" Type="http://schemas.openxmlformats.org/officeDocument/2006/relationships/tags" Target="../tags/tag153.xml"/></Relationships>
</file>

<file path=ppt/slides/_rels/slide71.xml.rels><?xml version="1.0" encoding="UTF-8" standalone="yes"?>
<Relationships xmlns="http://schemas.openxmlformats.org/package/2006/relationships"><Relationship Id="rId9" Type="http://schemas.openxmlformats.org/officeDocument/2006/relationships/slideLayout" Target="../slideLayouts/slideLayout13.xml"/><Relationship Id="rId8" Type="http://schemas.openxmlformats.org/officeDocument/2006/relationships/tags" Target="../tags/tag168.xml"/><Relationship Id="rId7" Type="http://schemas.openxmlformats.org/officeDocument/2006/relationships/image" Target="../media/image34.png"/><Relationship Id="rId6" Type="http://schemas.openxmlformats.org/officeDocument/2006/relationships/tags" Target="../tags/tag167.xml"/><Relationship Id="rId5" Type="http://schemas.openxmlformats.org/officeDocument/2006/relationships/tags" Target="../tags/tag166.xml"/><Relationship Id="rId4" Type="http://schemas.openxmlformats.org/officeDocument/2006/relationships/tags" Target="../tags/tag165.xml"/><Relationship Id="rId3" Type="http://schemas.openxmlformats.org/officeDocument/2006/relationships/tags" Target="../tags/tag164.xml"/><Relationship Id="rId2" Type="http://schemas.openxmlformats.org/officeDocument/2006/relationships/image" Target="../media/image33.png"/><Relationship Id="rId10" Type="http://schemas.openxmlformats.org/officeDocument/2006/relationships/notesSlide" Target="../notesSlides/notesSlide51.xml"/><Relationship Id="rId1" Type="http://schemas.openxmlformats.org/officeDocument/2006/relationships/tags" Target="../tags/tag163.xml"/></Relationships>
</file>

<file path=ppt/slides/_rels/slide72.xml.rels><?xml version="1.0" encoding="UTF-8" standalone="yes"?>
<Relationships xmlns="http://schemas.openxmlformats.org/package/2006/relationships"><Relationship Id="rId6" Type="http://schemas.openxmlformats.org/officeDocument/2006/relationships/notesSlide" Target="../notesSlides/notesSlide52.xml"/><Relationship Id="rId5" Type="http://schemas.openxmlformats.org/officeDocument/2006/relationships/slideLayout" Target="../slideLayouts/slideLayout13.xml"/><Relationship Id="rId4" Type="http://schemas.openxmlformats.org/officeDocument/2006/relationships/image" Target="../media/image30.png"/><Relationship Id="rId3" Type="http://schemas.openxmlformats.org/officeDocument/2006/relationships/tags" Target="../tags/tag170.xml"/><Relationship Id="rId2" Type="http://schemas.openxmlformats.org/officeDocument/2006/relationships/image" Target="../media/image35.png"/><Relationship Id="rId1" Type="http://schemas.openxmlformats.org/officeDocument/2006/relationships/tags" Target="../tags/tag16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p:nvPr/>
        </p:nvSpPr>
        <p:spPr>
          <a:xfrm>
            <a:off x="2690198" y="1997482"/>
            <a:ext cx="6863080" cy="3321050"/>
          </a:xfrm>
          <a:prstGeom prst="rect">
            <a:avLst/>
          </a:prstGeom>
          <a:noFill/>
          <a:ln w="0" cap="flat">
            <a:noFill/>
            <a:prstDash val="solid"/>
            <a:miter lim="0"/>
          </a:ln>
        </p:spPr>
        <p:txBody>
          <a:bodyPr vert="horz" wrap="square" lIns="0" tIns="0" rIns="0" bIns="0"/>
          <a:lstStyle/>
          <a:p>
            <a:pPr algn="l" rtl="0" eaLnBrk="0">
              <a:lnSpc>
                <a:spcPct val="100000"/>
              </a:lnSpc>
            </a:pPr>
            <a:endParaRPr sz="100" dirty="0">
              <a:latin typeface="Calibri" panose="020F0502020204030204" charset="0"/>
              <a:ea typeface="微软雅黑" panose="020B0503020204020204" charset="-122"/>
              <a:cs typeface="Arial" panose="020B0604020202020204" pitchFamily="34" charset="0"/>
            </a:endParaRPr>
          </a:p>
          <a:p>
            <a:pPr marL="2043430" algn="l" rtl="0" eaLnBrk="0">
              <a:lnSpc>
                <a:spcPct val="96000"/>
              </a:lnSpc>
            </a:pPr>
            <a:endParaRPr sz="4300" dirty="0">
              <a:latin typeface="Calibri" panose="020F0502020204030204" charset="0"/>
              <a:ea typeface="微软雅黑" panose="020B0503020204020204" charset="-122"/>
              <a:cs typeface="仿宋" panose="02010609060101010101" charset="-122"/>
            </a:endParaRPr>
          </a:p>
          <a:p>
            <a:pPr algn="l" rtl="0" eaLnBrk="0">
              <a:lnSpc>
                <a:spcPct val="14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4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6000"/>
              </a:lnSpc>
            </a:pPr>
            <a:r>
              <a:rPr 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第</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16</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章</a:t>
            </a:r>
            <a:r>
              <a:rPr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 </a:t>
            </a:r>
            <a:r>
              <a:rPr 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身份认证</a:t>
            </a:r>
            <a:endParaRPr lang="en-US" altLang="en-US" sz="3600" dirty="0">
              <a:latin typeface="Calibri" panose="020F0502020204030204" charset="0"/>
              <a:ea typeface="微软雅黑" panose="020B0503020204020204" charset="-122"/>
            </a:endParaRPr>
          </a:p>
          <a:p>
            <a:pPr algn="l" rtl="0" eaLnBrk="0">
              <a:lnSpc>
                <a:spcPct val="10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6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7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7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7000"/>
              </a:lnSpc>
            </a:pPr>
            <a:endParaRPr sz="1000" dirty="0">
              <a:latin typeface="Calibri" panose="020F0502020204030204" charset="0"/>
              <a:ea typeface="微软雅黑" panose="020B0503020204020204" charset="-122"/>
              <a:cs typeface="Arial" panose="020B0604020202020204" pitchFamily="34" charset="0"/>
            </a:endParaRPr>
          </a:p>
          <a:p>
            <a:pPr algn="l" rtl="0" eaLnBrk="0">
              <a:lnSpc>
                <a:spcPct val="100000"/>
              </a:lnSpc>
            </a:pPr>
            <a:endParaRPr sz="600" dirty="0">
              <a:latin typeface="Calibri" panose="020F0502020204030204" charset="0"/>
              <a:ea typeface="微软雅黑" panose="020B0503020204020204" charset="-122"/>
              <a:cs typeface="Arial" panose="020B0604020202020204" pitchFamily="34" charset="0"/>
            </a:endParaRPr>
          </a:p>
          <a:p>
            <a:pPr marL="2055495" algn="l" rtl="0" eaLnBrk="0">
              <a:lnSpc>
                <a:spcPct val="94000"/>
              </a:lnSpc>
              <a:spcBef>
                <a:spcPts val="5"/>
              </a:spcBef>
            </a:pPr>
            <a:endParaRPr sz="2400" dirty="0">
              <a:latin typeface="Calibri" panose="020F0502020204030204" charset="0"/>
              <a:ea typeface="微软雅黑" panose="020B0503020204020204" charset="-122"/>
              <a:cs typeface="仿宋" panose="02010609060101010101" charset="-122"/>
            </a:endParaRPr>
          </a:p>
        </p:txBody>
      </p:sp>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ctr"/>
            <a:endParaRPr lang="zh-CN" altLang="en-US"/>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l" rtl="0" eaLnBrk="0">
              <a:lnSpc>
                <a:spcPct val="106000"/>
              </a:lnSpc>
            </a:pPr>
            <a:r>
              <a:rPr 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第</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16</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章</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  </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身份认证</a:t>
            </a:r>
            <a:endPar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endParaRPr>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
        <p:nvSpPr>
          <p:cNvPr id="3" name="文本框 2"/>
          <p:cNvSpPr txBox="1"/>
          <p:nvPr/>
        </p:nvSpPr>
        <p:spPr>
          <a:xfrm>
            <a:off x="2678430" y="1671320"/>
            <a:ext cx="6465570" cy="3412490"/>
          </a:xfrm>
          <a:prstGeom prst="rect">
            <a:avLst/>
          </a:prstGeom>
          <a:noFill/>
        </p:spPr>
        <p:txBody>
          <a:bodyPr wrap="square" rtlCol="0" anchor="t">
            <a:spAutoFit/>
          </a:bodyPr>
          <a:p>
            <a:pPr marL="571500" indent="-571500" eaLnBrk="1" hangingPunct="1">
              <a:lnSpc>
                <a:spcPct val="120000"/>
              </a:lnSpc>
              <a:buSzPct val="80000"/>
              <a:buFont typeface="Wingdings" panose="05000000000000000000" pitchFamily="2" charset="2"/>
              <a:buChar char="n"/>
            </a:pPr>
            <a:r>
              <a:rPr lang="zh-CN" altLang="en-US" sz="3600" b="1" dirty="0">
                <a:latin typeface="Times New Roman" panose="02020603050405020304" pitchFamily="18" charset="0"/>
                <a:cs typeface="Times New Roman" panose="02020603050405020304" pitchFamily="18" charset="0"/>
                <a:sym typeface="+mn-ea"/>
              </a:rPr>
              <a:t> 身份认证概述</a:t>
            </a:r>
            <a:endParaRPr lang="en-US" altLang="zh-CN" sz="3600" b="1" dirty="0">
              <a:latin typeface="Times New Roman" panose="02020603050405020304" pitchFamily="18" charset="0"/>
              <a:cs typeface="Times New Roman" panose="02020603050405020304" pitchFamily="18" charset="0"/>
            </a:endParaRPr>
          </a:p>
          <a:p>
            <a:pPr marL="571500" indent="-571500" eaLnBrk="1" hangingPunct="1">
              <a:lnSpc>
                <a:spcPct val="120000"/>
              </a:lnSpc>
              <a:buSzPct val="80000"/>
              <a:buFont typeface="Wingdings" panose="05000000000000000000" pitchFamily="2" charset="2"/>
              <a:buChar char="n"/>
            </a:pPr>
            <a:r>
              <a:rPr lang="en-US" altLang="zh-CN" sz="3600" b="1" dirty="0">
                <a:latin typeface="Times New Roman" panose="02020603050405020304" pitchFamily="18" charset="0"/>
                <a:cs typeface="Times New Roman" panose="02020603050405020304" pitchFamily="18" charset="0"/>
                <a:sym typeface="+mn-ea"/>
              </a:rPr>
              <a:t> </a:t>
            </a:r>
            <a:r>
              <a:rPr lang="zh-CN" altLang="en-US" sz="3600" b="1" dirty="0">
                <a:latin typeface="Times New Roman" panose="02020603050405020304" pitchFamily="18" charset="0"/>
                <a:cs typeface="Times New Roman" panose="02020603050405020304" pitchFamily="18" charset="0"/>
                <a:sym typeface="+mn-ea"/>
              </a:rPr>
              <a:t>基于口令的身份鉴别</a:t>
            </a:r>
            <a:endParaRPr lang="zh-CN" altLang="en-US" sz="3600" b="1" dirty="0">
              <a:latin typeface="Times New Roman" panose="02020603050405020304" pitchFamily="18" charset="0"/>
              <a:cs typeface="Times New Roman" panose="02020603050405020304" pitchFamily="18" charset="0"/>
              <a:sym typeface="+mn-ea"/>
            </a:endParaRPr>
          </a:p>
          <a:p>
            <a:pPr marL="571500" indent="-571500" eaLnBrk="1" hangingPunct="1">
              <a:lnSpc>
                <a:spcPct val="120000"/>
              </a:lnSpc>
              <a:buSzPct val="80000"/>
              <a:buFont typeface="Wingdings" panose="05000000000000000000" pitchFamily="2" charset="2"/>
              <a:buChar char="n"/>
            </a:pPr>
            <a:r>
              <a:rPr lang="en-US" altLang="zh-CN" sz="3600" b="1" dirty="0">
                <a:latin typeface="Times New Roman" panose="02020603050405020304" pitchFamily="18" charset="0"/>
                <a:cs typeface="Times New Roman" panose="02020603050405020304" pitchFamily="18" charset="0"/>
                <a:sym typeface="+mn-ea"/>
              </a:rPr>
              <a:t> </a:t>
            </a:r>
            <a:r>
              <a:rPr lang="zh-CN" altLang="en-US" sz="3600" b="1" dirty="0">
                <a:latin typeface="Times New Roman" panose="02020603050405020304" pitchFamily="18" charset="0"/>
                <a:cs typeface="Times New Roman" panose="02020603050405020304" pitchFamily="18" charset="0"/>
                <a:sym typeface="+mn-ea"/>
              </a:rPr>
              <a:t>多因素身份鉴别</a:t>
            </a:r>
            <a:endParaRPr lang="en-US" altLang="zh-CN" sz="3600" b="1" dirty="0">
              <a:latin typeface="Times New Roman" panose="02020603050405020304" pitchFamily="18" charset="0"/>
              <a:cs typeface="Times New Roman" panose="02020603050405020304" pitchFamily="18" charset="0"/>
            </a:endParaRPr>
          </a:p>
          <a:p>
            <a:pPr marL="571500" indent="-571500" eaLnBrk="1" hangingPunct="1">
              <a:lnSpc>
                <a:spcPct val="120000"/>
              </a:lnSpc>
              <a:buSzPct val="80000"/>
              <a:buFont typeface="Wingdings" panose="05000000000000000000" pitchFamily="2" charset="2"/>
              <a:buChar char="n"/>
            </a:pPr>
            <a:r>
              <a:rPr lang="en-US" altLang="zh-CN" sz="3600" b="1" dirty="0">
                <a:latin typeface="Times New Roman" panose="02020603050405020304" pitchFamily="18" charset="0"/>
                <a:cs typeface="Times New Roman" panose="02020603050405020304" pitchFamily="18" charset="0"/>
                <a:sym typeface="+mn-ea"/>
              </a:rPr>
              <a:t> Kerberos</a:t>
            </a:r>
            <a:r>
              <a:rPr lang="zh-CN" altLang="en-US" sz="3600" b="1" dirty="0">
                <a:latin typeface="Times New Roman" panose="02020603050405020304" pitchFamily="18" charset="0"/>
                <a:cs typeface="Times New Roman" panose="02020603050405020304" pitchFamily="18" charset="0"/>
                <a:sym typeface="+mn-ea"/>
              </a:rPr>
              <a:t>协议</a:t>
            </a:r>
            <a:endParaRPr lang="en-US" altLang="zh-CN" sz="3600" b="1" dirty="0">
              <a:latin typeface="Times New Roman" panose="02020603050405020304" pitchFamily="18" charset="0"/>
              <a:cs typeface="Times New Roman" panose="02020603050405020304" pitchFamily="18" charset="0"/>
            </a:endParaRPr>
          </a:p>
          <a:p>
            <a:pPr marL="571500" indent="-571500" eaLnBrk="1" hangingPunct="1">
              <a:lnSpc>
                <a:spcPct val="120000"/>
              </a:lnSpc>
              <a:buSzPct val="80000"/>
              <a:buFont typeface="Wingdings" panose="05000000000000000000" pitchFamily="2" charset="2"/>
              <a:buChar char="n"/>
            </a:pPr>
            <a:r>
              <a:rPr lang="en-US" altLang="zh-CN" sz="3600" b="1" dirty="0">
                <a:latin typeface="Times New Roman" panose="02020603050405020304" pitchFamily="18" charset="0"/>
                <a:cs typeface="Times New Roman" panose="02020603050405020304" pitchFamily="18" charset="0"/>
                <a:sym typeface="+mn-ea"/>
              </a:rPr>
              <a:t> </a:t>
            </a:r>
            <a:r>
              <a:rPr lang="zh-CN" altLang="en-US" sz="3600" b="1" dirty="0">
                <a:latin typeface="Times New Roman" panose="02020603050405020304" pitchFamily="18" charset="0"/>
                <a:cs typeface="Times New Roman" panose="02020603050405020304" pitchFamily="18" charset="0"/>
                <a:sym typeface="+mn-ea"/>
              </a:rPr>
              <a:t>联合身份管理</a:t>
            </a:r>
            <a:endParaRPr lang="zh-CN" altLang="en-US" sz="3600" dirty="0">
              <a:latin typeface="Calibri" panose="020F0502020204030204" charset="0"/>
              <a:ea typeface="微软雅黑" panose="020B0503020204020204" charset="-122"/>
              <a:cs typeface="仿宋" panose="02010609060101010101" charset="-122"/>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16.1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身份认证</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174" name="Rectangle 3"/>
          <p:cNvSpPr/>
          <p:nvPr>
            <p:ph idx="1"/>
          </p:nvPr>
        </p:nvSpPr>
        <p:spPr>
          <a:xfrm>
            <a:off x="1478915" y="1181735"/>
            <a:ext cx="9036685" cy="3672205"/>
          </a:xfrm>
        </p:spPr>
        <p:txBody>
          <a:bodyPr vert="horz" wrap="square" lIns="91440" tIns="45720" rIns="91440" bIns="45720" anchor="t" anchorCtr="0">
            <a:noAutofit/>
          </a:bodyPr>
          <a:p>
            <a:pPr>
              <a:lnSpc>
                <a:spcPct val="130000"/>
              </a:lnSpc>
              <a:buFont typeface="Wingdings" panose="05000000000000000000" pitchFamily="2" charset="2"/>
              <a:buChar char="Ø"/>
            </a:pPr>
            <a:r>
              <a:rPr lang="en-US" altLang="zh-CN" b="1" dirty="0"/>
              <a:t> </a:t>
            </a:r>
            <a:r>
              <a:rPr lang="zh-CN" altLang="en-US" b="1" dirty="0"/>
              <a:t>什么是网络认证</a:t>
            </a:r>
            <a:endParaRPr lang="zh-CN" altLang="en-US" b="1" dirty="0"/>
          </a:p>
          <a:p>
            <a:pPr lvl="1">
              <a:lnSpc>
                <a:spcPct val="130000"/>
              </a:lnSpc>
              <a:buFont typeface="Arial" panose="020B0604020202020204" pitchFamily="34" charset="0"/>
              <a:buChar char="•"/>
            </a:pPr>
            <a:r>
              <a:rPr lang="zh-CN" altLang="en-US" dirty="0">
                <a:sym typeface="+mn-ea"/>
              </a:rPr>
              <a:t>确认对方是</a:t>
            </a:r>
            <a:r>
              <a:rPr lang="zh-CN" altLang="en-US" dirty="0" smtClean="0">
                <a:sym typeface="+mn-ea"/>
              </a:rPr>
              <a:t>谁</a:t>
            </a:r>
            <a:endParaRPr lang="zh-CN" altLang="en-US" dirty="0"/>
          </a:p>
          <a:p>
            <a:pPr lvl="1">
              <a:lnSpc>
                <a:spcPct val="130000"/>
              </a:lnSpc>
              <a:buFont typeface="Arial" panose="020B0604020202020204" pitchFamily="34" charset="0"/>
              <a:buChar char="•"/>
            </a:pPr>
            <a:r>
              <a:rPr lang="zh-CN" altLang="en-US" dirty="0"/>
              <a:t>现实世界的认证</a:t>
            </a:r>
            <a:endParaRPr lang="zh-CN" altLang="en-US" dirty="0"/>
          </a:p>
          <a:p>
            <a:pPr marL="914400" lvl="2" indent="0">
              <a:lnSpc>
                <a:spcPct val="130000"/>
              </a:lnSpc>
              <a:buNone/>
            </a:pPr>
            <a:r>
              <a:rPr lang="zh-CN" altLang="en-US" dirty="0"/>
              <a:t> 面对面</a:t>
            </a:r>
            <a:endParaRPr lang="zh-CN" altLang="en-US" dirty="0"/>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36879" y="2334012"/>
            <a:ext cx="5845740" cy="3384376"/>
          </a:xfrm>
          <a:prstGeom prst="rect">
            <a:avLst/>
          </a:prstGeom>
        </p:spPr>
      </p:pic>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16.1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身份认证</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174" name="Rectangle 3"/>
          <p:cNvSpPr/>
          <p:nvPr>
            <p:ph idx="1"/>
          </p:nvPr>
        </p:nvSpPr>
        <p:spPr>
          <a:xfrm>
            <a:off x="1478915" y="1181735"/>
            <a:ext cx="9036685" cy="3672205"/>
          </a:xfrm>
        </p:spPr>
        <p:txBody>
          <a:bodyPr vert="horz" wrap="square" lIns="91440" tIns="45720" rIns="91440" bIns="45720" anchor="t" anchorCtr="0">
            <a:noAutofit/>
          </a:bodyPr>
          <a:p>
            <a:pPr>
              <a:lnSpc>
                <a:spcPct val="130000"/>
              </a:lnSpc>
              <a:buFont typeface="Wingdings" panose="05000000000000000000" pitchFamily="2" charset="2"/>
              <a:buChar char="Ø"/>
            </a:pPr>
            <a:r>
              <a:rPr lang="en-US" altLang="zh-CN" b="1" dirty="0"/>
              <a:t> </a:t>
            </a:r>
            <a:r>
              <a:rPr lang="zh-CN" altLang="en-US" b="1" dirty="0"/>
              <a:t>什么是网络认证</a:t>
            </a:r>
            <a:endParaRPr lang="zh-CN" altLang="en-US" b="1" dirty="0"/>
          </a:p>
          <a:p>
            <a:pPr lvl="1">
              <a:lnSpc>
                <a:spcPct val="130000"/>
              </a:lnSpc>
              <a:buFont typeface="Arial" panose="020B0604020202020204" pitchFamily="34" charset="0"/>
              <a:buChar char="•"/>
            </a:pPr>
            <a:r>
              <a:rPr lang="zh-CN" altLang="en-US" dirty="0">
                <a:sym typeface="+mn-ea"/>
              </a:rPr>
              <a:t>确认对方是</a:t>
            </a:r>
            <a:r>
              <a:rPr lang="zh-CN" altLang="en-US" dirty="0" smtClean="0">
                <a:sym typeface="+mn-ea"/>
              </a:rPr>
              <a:t>谁</a:t>
            </a:r>
            <a:endParaRPr lang="zh-CN" altLang="en-US" dirty="0"/>
          </a:p>
          <a:p>
            <a:pPr lvl="1">
              <a:lnSpc>
                <a:spcPct val="130000"/>
              </a:lnSpc>
              <a:buFont typeface="Arial" panose="020B0604020202020204" pitchFamily="34" charset="0"/>
              <a:buChar char="•"/>
            </a:pPr>
            <a:r>
              <a:rPr lang="zh-CN" altLang="en-US" dirty="0"/>
              <a:t>现实世界的认证</a:t>
            </a:r>
            <a:endParaRPr lang="zh-CN" altLang="en-US" dirty="0"/>
          </a:p>
          <a:p>
            <a:pPr marL="914400" lvl="2" indent="0">
              <a:lnSpc>
                <a:spcPct val="130000"/>
              </a:lnSpc>
              <a:buNone/>
            </a:pPr>
            <a:r>
              <a:rPr lang="zh-CN" altLang="en-US" dirty="0"/>
              <a:t> 电话—声音识别</a:t>
            </a:r>
            <a:endParaRPr lang="zh-CN" altLang="en-US" dirty="0"/>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rcRect b="17121"/>
          <a:stretch>
            <a:fillRect/>
          </a:stretch>
        </p:blipFill>
        <p:spPr>
          <a:xfrm>
            <a:off x="5215890" y="2059305"/>
            <a:ext cx="6009005" cy="3857625"/>
          </a:xfrm>
          <a:prstGeom prst="rect">
            <a:avLst/>
          </a:prstGeom>
        </p:spPr>
      </p:pic>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16.1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身份认证</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174" name="Rectangle 3"/>
          <p:cNvSpPr/>
          <p:nvPr>
            <p:ph idx="1"/>
          </p:nvPr>
        </p:nvSpPr>
        <p:spPr>
          <a:xfrm>
            <a:off x="1478915" y="1181735"/>
            <a:ext cx="9036685" cy="3672205"/>
          </a:xfrm>
        </p:spPr>
        <p:txBody>
          <a:bodyPr vert="horz" wrap="square" lIns="91440" tIns="45720" rIns="91440" bIns="45720" anchor="t" anchorCtr="0">
            <a:noAutofit/>
          </a:bodyPr>
          <a:p>
            <a:pPr>
              <a:lnSpc>
                <a:spcPct val="130000"/>
              </a:lnSpc>
              <a:buFont typeface="Wingdings" panose="05000000000000000000" pitchFamily="2" charset="2"/>
              <a:buChar char="Ø"/>
            </a:pPr>
            <a:r>
              <a:rPr lang="en-US" altLang="zh-CN" b="1" dirty="0"/>
              <a:t> </a:t>
            </a:r>
            <a:r>
              <a:rPr lang="zh-CN" altLang="en-US" b="1" dirty="0"/>
              <a:t>什么是网络认证</a:t>
            </a:r>
            <a:endParaRPr lang="zh-CN" altLang="en-US" b="1" dirty="0"/>
          </a:p>
          <a:p>
            <a:pPr lvl="1">
              <a:lnSpc>
                <a:spcPct val="130000"/>
              </a:lnSpc>
              <a:buFont typeface="Arial" panose="020B0604020202020204" pitchFamily="34" charset="0"/>
              <a:buChar char="•"/>
            </a:pPr>
            <a:r>
              <a:rPr lang="zh-CN" altLang="en-US" dirty="0">
                <a:sym typeface="+mn-ea"/>
              </a:rPr>
              <a:t>确认对方是</a:t>
            </a:r>
            <a:r>
              <a:rPr lang="zh-CN" altLang="en-US" dirty="0" smtClean="0">
                <a:sym typeface="+mn-ea"/>
              </a:rPr>
              <a:t>谁</a:t>
            </a:r>
            <a:endParaRPr lang="zh-CN" altLang="en-US" dirty="0"/>
          </a:p>
          <a:p>
            <a:pPr lvl="1">
              <a:lnSpc>
                <a:spcPct val="130000"/>
              </a:lnSpc>
              <a:buFont typeface="Arial" panose="020B0604020202020204" pitchFamily="34" charset="0"/>
              <a:buChar char="•"/>
            </a:pPr>
            <a:r>
              <a:rPr lang="zh-CN" altLang="en-US" dirty="0"/>
              <a:t>现实世界的认证</a:t>
            </a:r>
            <a:endParaRPr lang="zh-CN" altLang="en-US" dirty="0"/>
          </a:p>
          <a:p>
            <a:pPr marL="914400" lvl="2" indent="0">
              <a:lnSpc>
                <a:spcPct val="130000"/>
              </a:lnSpc>
              <a:buNone/>
            </a:pPr>
            <a:r>
              <a:rPr lang="zh-CN" altLang="en-US" dirty="0"/>
              <a:t>各种身份证明</a:t>
            </a:r>
            <a:endParaRPr lang="zh-CN" altLang="en-US" dirty="0"/>
          </a:p>
          <a:p>
            <a:pPr marL="914400" lvl="2" indent="0">
              <a:lnSpc>
                <a:spcPct val="130000"/>
              </a:lnSpc>
              <a:buNone/>
            </a:pPr>
            <a:r>
              <a:rPr lang="zh-CN" altLang="en-US" dirty="0"/>
              <a:t>中间介绍人</a:t>
            </a:r>
            <a:endParaRPr lang="zh-CN" altLang="en-US" dirty="0"/>
          </a:p>
          <a:p>
            <a:pPr marL="914400" lvl="2" indent="0">
              <a:lnSpc>
                <a:spcPct val="130000"/>
              </a:lnSpc>
              <a:buNone/>
            </a:pPr>
            <a:r>
              <a:rPr lang="zh-CN" altLang="en-US" dirty="0"/>
              <a:t>确认对方身份的辅助手段或材料</a:t>
            </a:r>
            <a:endParaRPr lang="zh-CN" altLang="en-US" dirty="0"/>
          </a:p>
        </p:txBody>
      </p:sp>
      <p:pic>
        <p:nvPicPr>
          <p:cNvPr id="5" name="图片 4"/>
          <p:cNvPicPr>
            <a:picLocks noChangeAspect="1"/>
          </p:cNvPicPr>
          <p:nvPr/>
        </p:nvPicPr>
        <p:blipFill>
          <a:blip r:embed="rId2"/>
          <a:stretch>
            <a:fillRect/>
          </a:stretch>
        </p:blipFill>
        <p:spPr>
          <a:xfrm>
            <a:off x="7846075" y="4476918"/>
            <a:ext cx="2141826" cy="1745858"/>
          </a:xfrm>
          <a:prstGeom prst="rect">
            <a:avLst/>
          </a:prstGeom>
        </p:spPr>
      </p:pic>
      <p:pic>
        <p:nvPicPr>
          <p:cNvPr id="8" name="图片 7"/>
          <p:cNvPicPr>
            <a:picLocks noChangeAspect="1"/>
          </p:cNvPicPr>
          <p:nvPr/>
        </p:nvPicPr>
        <p:blipFill>
          <a:blip r:embed="rId3"/>
          <a:stretch>
            <a:fillRect/>
          </a:stretch>
        </p:blipFill>
        <p:spPr>
          <a:xfrm>
            <a:off x="5038896" y="4764931"/>
            <a:ext cx="1916844" cy="1169905"/>
          </a:xfrm>
          <a:prstGeom prst="rect">
            <a:avLst/>
          </a:prstGeom>
        </p:spPr>
      </p:pic>
      <p:grpSp>
        <p:nvGrpSpPr>
          <p:cNvPr id="11" name="组合 10"/>
          <p:cNvGrpSpPr/>
          <p:nvPr/>
        </p:nvGrpSpPr>
        <p:grpSpPr>
          <a:xfrm>
            <a:off x="6127115" y="1181735"/>
            <a:ext cx="5449570" cy="3159760"/>
            <a:chOff x="5782" y="4358"/>
            <a:chExt cx="12534" cy="6328"/>
          </a:xfrm>
        </p:grpSpPr>
        <p:pic>
          <p:nvPicPr>
            <p:cNvPr id="2" name="内容占位符 7"/>
            <p:cNvPicPr>
              <a:picLocks noChangeAspect="1"/>
            </p:cNvPicPr>
            <p:nvPr/>
          </p:nvPicPr>
          <p:blipFill>
            <a:blip r:embed="rId4"/>
            <a:stretch>
              <a:fillRect/>
            </a:stretch>
          </p:blipFill>
          <p:spPr>
            <a:xfrm>
              <a:off x="15936" y="5664"/>
              <a:ext cx="2381" cy="5022"/>
            </a:xfrm>
            <a:prstGeom prst="rect">
              <a:avLst/>
            </a:prstGeom>
          </p:spPr>
        </p:pic>
        <p:pic>
          <p:nvPicPr>
            <p:cNvPr id="7" name="图片 6"/>
            <p:cNvPicPr>
              <a:picLocks noChangeAspect="1"/>
            </p:cNvPicPr>
            <p:nvPr/>
          </p:nvPicPr>
          <p:blipFill>
            <a:blip r:embed="rId5"/>
            <a:stretch>
              <a:fillRect/>
            </a:stretch>
          </p:blipFill>
          <p:spPr>
            <a:xfrm>
              <a:off x="5782" y="5796"/>
              <a:ext cx="2697" cy="4851"/>
            </a:xfrm>
            <a:prstGeom prst="rect">
              <a:avLst/>
            </a:prstGeom>
          </p:spPr>
        </p:pic>
        <p:pic>
          <p:nvPicPr>
            <p:cNvPr id="9" name="图片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033" y="4358"/>
              <a:ext cx="3940" cy="3118"/>
            </a:xfrm>
            <a:prstGeom prst="rect">
              <a:avLst/>
            </a:prstGeom>
          </p:spPr>
        </p:pic>
        <p:cxnSp>
          <p:nvCxnSpPr>
            <p:cNvPr id="10" name="直接箭头连接符 9"/>
            <p:cNvCxnSpPr/>
            <p:nvPr/>
          </p:nvCxnSpPr>
          <p:spPr>
            <a:xfrm flipV="1">
              <a:off x="8479" y="7760"/>
              <a:ext cx="7457" cy="47"/>
            </a:xfrm>
            <a:prstGeom prst="straightConnector1">
              <a:avLst/>
            </a:prstGeom>
            <a:ln>
              <a:headEnd type="triangle"/>
              <a:tailEnd type="triangle"/>
            </a:ln>
          </p:spPr>
          <p:style>
            <a:lnRef idx="3">
              <a:schemeClr val="accent1"/>
            </a:lnRef>
            <a:fillRef idx="0">
              <a:schemeClr val="accent1"/>
            </a:fillRef>
            <a:effectRef idx="2">
              <a:schemeClr val="accent1"/>
            </a:effectRef>
            <a:fontRef idx="minor">
              <a:schemeClr val="tx1"/>
            </a:fontRef>
          </p:style>
        </p:cxnSp>
      </p:gr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5132070" y="2247265"/>
            <a:ext cx="6122035" cy="3748405"/>
            <a:chOff x="6101" y="4606"/>
            <a:chExt cx="10530" cy="6329"/>
          </a:xfrm>
        </p:grpSpPr>
        <p:pic>
          <p:nvPicPr>
            <p:cNvPr id="3" name="图片 2"/>
            <p:cNvPicPr>
              <a:picLocks noChangeAspect="1"/>
            </p:cNvPicPr>
            <p:nvPr/>
          </p:nvPicPr>
          <p:blipFill>
            <a:blip r:embed="rId1"/>
            <a:stretch>
              <a:fillRect/>
            </a:stretch>
          </p:blipFill>
          <p:spPr>
            <a:xfrm>
              <a:off x="6101" y="7060"/>
              <a:ext cx="2580" cy="3195"/>
            </a:xfrm>
            <a:prstGeom prst="rect">
              <a:avLst/>
            </a:prstGeom>
          </p:spPr>
        </p:pic>
        <p:pic>
          <p:nvPicPr>
            <p:cNvPr id="12" name="内容占位符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81" y="6235"/>
              <a:ext cx="6767" cy="4700"/>
            </a:xfrm>
            <a:prstGeom prst="rect">
              <a:avLst/>
            </a:prstGeom>
          </p:spPr>
        </p:pic>
        <p:pic>
          <p:nvPicPr>
            <p:cNvPr id="13" name="图片 12"/>
            <p:cNvPicPr>
              <a:picLocks noChangeAspect="1"/>
            </p:cNvPicPr>
            <p:nvPr/>
          </p:nvPicPr>
          <p:blipFill>
            <a:blip r:embed="rId3"/>
            <a:stretch>
              <a:fillRect/>
            </a:stretch>
          </p:blipFill>
          <p:spPr>
            <a:xfrm>
              <a:off x="14291" y="4606"/>
              <a:ext cx="2340" cy="3180"/>
            </a:xfrm>
            <a:prstGeom prst="rect">
              <a:avLst/>
            </a:prstGeom>
          </p:spPr>
        </p:pic>
        <p:cxnSp>
          <p:nvCxnSpPr>
            <p:cNvPr id="14" name="曲线连接符 13"/>
            <p:cNvCxnSpPr>
              <a:stCxn id="3" idx="0"/>
            </p:cNvCxnSpPr>
            <p:nvPr/>
          </p:nvCxnSpPr>
          <p:spPr>
            <a:xfrm rot="5400000" flipH="1" flipV="1">
              <a:off x="10204" y="3340"/>
              <a:ext cx="906" cy="6532"/>
            </a:xfrm>
            <a:prstGeom prst="curvedConnector2">
              <a:avLst/>
            </a:prstGeom>
            <a:ln>
              <a:prstDash val="dashDot"/>
              <a:headEnd type="triangle"/>
              <a:tailEnd type="triangle"/>
            </a:ln>
          </p:spPr>
          <p:style>
            <a:lnRef idx="2">
              <a:schemeClr val="accent1"/>
            </a:lnRef>
            <a:fillRef idx="0">
              <a:schemeClr val="accent1"/>
            </a:fillRef>
            <a:effectRef idx="1">
              <a:schemeClr val="accent1"/>
            </a:effectRef>
            <a:fontRef idx="minor">
              <a:schemeClr val="tx1"/>
            </a:fontRef>
          </p:style>
        </p:cxnSp>
      </p:gr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4"/>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16.1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身份认证</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174" name="Rectangle 3"/>
          <p:cNvSpPr/>
          <p:nvPr>
            <p:ph idx="1"/>
          </p:nvPr>
        </p:nvSpPr>
        <p:spPr>
          <a:xfrm>
            <a:off x="1478915" y="1181735"/>
            <a:ext cx="9036685" cy="3672205"/>
          </a:xfrm>
        </p:spPr>
        <p:txBody>
          <a:bodyPr vert="horz" wrap="square" lIns="91440" tIns="45720" rIns="91440" bIns="45720" anchor="t" anchorCtr="0">
            <a:noAutofit/>
          </a:bodyPr>
          <a:p>
            <a:pPr>
              <a:lnSpc>
                <a:spcPct val="130000"/>
              </a:lnSpc>
              <a:buFont typeface="Wingdings" panose="05000000000000000000" pitchFamily="2" charset="2"/>
              <a:buChar char="Ø"/>
            </a:pPr>
            <a:r>
              <a:rPr lang="en-US" altLang="zh-CN" b="1" dirty="0"/>
              <a:t> </a:t>
            </a:r>
            <a:r>
              <a:rPr lang="zh-CN" altLang="en-US" b="1" dirty="0"/>
              <a:t>什么是网络认证</a:t>
            </a:r>
            <a:endParaRPr lang="zh-CN" altLang="en-US" b="1" dirty="0"/>
          </a:p>
          <a:p>
            <a:pPr lvl="1">
              <a:lnSpc>
                <a:spcPct val="130000"/>
              </a:lnSpc>
              <a:buFont typeface="Arial" panose="020B0604020202020204" pitchFamily="34" charset="0"/>
              <a:buChar char="•"/>
            </a:pPr>
            <a:r>
              <a:rPr lang="zh-CN" altLang="en-US" dirty="0"/>
              <a:t>网络环境中</a:t>
            </a:r>
            <a:endParaRPr lang="zh-CN" altLang="en-US" dirty="0"/>
          </a:p>
          <a:p>
            <a:pPr lvl="2">
              <a:lnSpc>
                <a:spcPct val="130000"/>
              </a:lnSpc>
              <a:buFont typeface="Arial" panose="020B0604020202020204" pitchFamily="34" charset="0"/>
              <a:buChar char="•"/>
            </a:pPr>
            <a:r>
              <a:rPr lang="zh-CN" altLang="en-US" sz="2000" dirty="0"/>
              <a:t>数字信息如何相互认证</a:t>
            </a:r>
            <a:endParaRPr lang="zh-CN" altLang="en-US" dirty="0"/>
          </a:p>
          <a:p>
            <a:pPr lvl="1">
              <a:lnSpc>
                <a:spcPct val="130000"/>
              </a:lnSpc>
              <a:buFont typeface="Arial" panose="020B0604020202020204" pitchFamily="34" charset="0"/>
              <a:buChar char="•"/>
            </a:pPr>
            <a:r>
              <a:rPr lang="zh-CN" altLang="en-US" dirty="0"/>
              <a:t>认证的范围</a:t>
            </a:r>
            <a:endParaRPr lang="zh-CN" altLang="en-US" dirty="0"/>
          </a:p>
          <a:p>
            <a:pPr lvl="2">
              <a:lnSpc>
                <a:spcPct val="130000"/>
              </a:lnSpc>
              <a:buFont typeface="Arial" panose="020B0604020202020204" pitchFamily="34" charset="0"/>
              <a:buChar char="•"/>
            </a:pPr>
            <a:r>
              <a:rPr lang="zh-CN" altLang="en-US" sz="2000" dirty="0"/>
              <a:t>不仅局限与人</a:t>
            </a:r>
            <a:endParaRPr lang="zh-CN" altLang="en-US" sz="2000" dirty="0"/>
          </a:p>
          <a:p>
            <a:pPr lvl="2">
              <a:lnSpc>
                <a:spcPct val="130000"/>
              </a:lnSpc>
              <a:buFont typeface="Arial" panose="020B0604020202020204" pitchFamily="34" charset="0"/>
              <a:buChar char="•"/>
            </a:pPr>
            <a:r>
              <a:rPr lang="zh-CN" altLang="en-US" sz="2000" dirty="0"/>
              <a:t>确认身份信息还有其他</a:t>
            </a:r>
            <a:endParaRPr lang="zh-CN" altLang="en-US" dirty="0"/>
          </a:p>
          <a:p>
            <a:pPr lvl="1">
              <a:lnSpc>
                <a:spcPct val="130000"/>
              </a:lnSpc>
              <a:buFont typeface="Arial" panose="020B0604020202020204" pitchFamily="34" charset="0"/>
              <a:buChar char="•"/>
            </a:pPr>
            <a:endParaRPr lang="zh-CN" altLang="en-US" dirty="0"/>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4"/>
          <p:cNvGrpSpPr/>
          <p:nvPr/>
        </p:nvGrpSpPr>
        <p:grpSpPr>
          <a:xfrm>
            <a:off x="5697220" y="661035"/>
            <a:ext cx="6122035" cy="3748405"/>
            <a:chOff x="6101" y="4606"/>
            <a:chExt cx="10530" cy="6329"/>
          </a:xfrm>
        </p:grpSpPr>
        <p:pic>
          <p:nvPicPr>
            <p:cNvPr id="3" name="图片 2"/>
            <p:cNvPicPr>
              <a:picLocks noChangeAspect="1"/>
            </p:cNvPicPr>
            <p:nvPr/>
          </p:nvPicPr>
          <p:blipFill>
            <a:blip r:embed="rId1"/>
            <a:stretch>
              <a:fillRect/>
            </a:stretch>
          </p:blipFill>
          <p:spPr>
            <a:xfrm>
              <a:off x="6101" y="7060"/>
              <a:ext cx="2580" cy="3195"/>
            </a:xfrm>
            <a:prstGeom prst="rect">
              <a:avLst/>
            </a:prstGeom>
          </p:spPr>
        </p:pic>
        <p:pic>
          <p:nvPicPr>
            <p:cNvPr id="12" name="内容占位符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81" y="6235"/>
              <a:ext cx="6767" cy="4700"/>
            </a:xfrm>
            <a:prstGeom prst="rect">
              <a:avLst/>
            </a:prstGeom>
          </p:spPr>
        </p:pic>
        <p:pic>
          <p:nvPicPr>
            <p:cNvPr id="13" name="图片 12"/>
            <p:cNvPicPr>
              <a:picLocks noChangeAspect="1"/>
            </p:cNvPicPr>
            <p:nvPr/>
          </p:nvPicPr>
          <p:blipFill>
            <a:blip r:embed="rId3"/>
            <a:stretch>
              <a:fillRect/>
            </a:stretch>
          </p:blipFill>
          <p:spPr>
            <a:xfrm>
              <a:off x="14291" y="4606"/>
              <a:ext cx="2340" cy="3180"/>
            </a:xfrm>
            <a:prstGeom prst="rect">
              <a:avLst/>
            </a:prstGeom>
          </p:spPr>
        </p:pic>
        <p:cxnSp>
          <p:nvCxnSpPr>
            <p:cNvPr id="14" name="曲线连接符 13"/>
            <p:cNvCxnSpPr>
              <a:stCxn id="3" idx="0"/>
            </p:cNvCxnSpPr>
            <p:nvPr/>
          </p:nvCxnSpPr>
          <p:spPr>
            <a:xfrm rot="5400000" flipH="1" flipV="1">
              <a:off x="10204" y="3340"/>
              <a:ext cx="906" cy="6532"/>
            </a:xfrm>
            <a:prstGeom prst="curvedConnector2">
              <a:avLst/>
            </a:prstGeom>
            <a:ln>
              <a:prstDash val="dashDot"/>
              <a:headEnd type="triangle"/>
              <a:tailEnd type="triangle"/>
            </a:ln>
          </p:spPr>
          <p:style>
            <a:lnRef idx="2">
              <a:schemeClr val="accent1"/>
            </a:lnRef>
            <a:fillRef idx="0">
              <a:schemeClr val="accent1"/>
            </a:fillRef>
            <a:effectRef idx="1">
              <a:schemeClr val="accent1"/>
            </a:effectRef>
            <a:fontRef idx="minor">
              <a:schemeClr val="tx1"/>
            </a:fontRef>
          </p:style>
        </p:cxnSp>
      </p:gr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4"/>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sym typeface="+mn-ea"/>
              </a:rPr>
              <a:t>16.1 </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身份认证</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174" name="Rectangle 3"/>
          <p:cNvSpPr/>
          <p:nvPr>
            <p:ph idx="1"/>
          </p:nvPr>
        </p:nvSpPr>
        <p:spPr>
          <a:xfrm>
            <a:off x="1478915" y="1181735"/>
            <a:ext cx="9036685" cy="3672205"/>
          </a:xfrm>
        </p:spPr>
        <p:txBody>
          <a:bodyPr vert="horz" wrap="square" lIns="91440" tIns="45720" rIns="91440" bIns="45720" anchor="t" anchorCtr="0">
            <a:noAutofit/>
          </a:bodyPr>
          <a:p>
            <a:pPr marL="228600" lvl="1" algn="l">
              <a:lnSpc>
                <a:spcPct val="130000"/>
              </a:lnSpc>
              <a:spcBef>
                <a:spcPts val="1000"/>
              </a:spcBef>
              <a:buClrTx/>
              <a:buSzTx/>
              <a:buFont typeface="Wingdings" panose="05000000000000000000" pitchFamily="2" charset="2"/>
              <a:buChar char="Ø"/>
            </a:pPr>
            <a:r>
              <a:rPr lang="en-US" altLang="zh-CN" sz="2800" b="1" dirty="0"/>
              <a:t>网络环境中，如何相互认证</a:t>
            </a:r>
            <a:endParaRPr lang="en-US" altLang="zh-CN" sz="2800" b="1" dirty="0"/>
          </a:p>
          <a:p>
            <a:pPr lvl="1" algn="l">
              <a:lnSpc>
                <a:spcPct val="130000"/>
              </a:lnSpc>
              <a:buClrTx/>
              <a:buSzTx/>
              <a:buFont typeface="Arial" panose="020B0604020202020204" pitchFamily="34" charset="0"/>
              <a:buChar char="•"/>
            </a:pPr>
            <a:r>
              <a:rPr lang="zh-CN" altLang="en-US" dirty="0"/>
              <a:t>认证的范围</a:t>
            </a:r>
            <a:endParaRPr lang="zh-CN" altLang="en-US" dirty="0"/>
          </a:p>
          <a:p>
            <a:pPr lvl="2">
              <a:lnSpc>
                <a:spcPct val="130000"/>
              </a:lnSpc>
              <a:buFont typeface="Arial" panose="020B0604020202020204" pitchFamily="34" charset="0"/>
              <a:buChar char="•"/>
            </a:pPr>
            <a:r>
              <a:rPr lang="zh-CN" altLang="en-US" dirty="0"/>
              <a:t>不仅局限于人</a:t>
            </a:r>
            <a:endParaRPr lang="zh-CN" altLang="en-US" dirty="0"/>
          </a:p>
          <a:p>
            <a:pPr lvl="1" algn="l">
              <a:lnSpc>
                <a:spcPct val="130000"/>
              </a:lnSpc>
              <a:buClrTx/>
              <a:buSzTx/>
              <a:buFont typeface="Arial" panose="020B0604020202020204" pitchFamily="34" charset="0"/>
              <a:buChar char="•"/>
            </a:pPr>
            <a:r>
              <a:rPr lang="zh-CN" altLang="en-US" dirty="0"/>
              <a:t>认证的功能</a:t>
            </a:r>
            <a:endParaRPr lang="zh-CN" altLang="en-US" dirty="0"/>
          </a:p>
          <a:p>
            <a:pPr lvl="2">
              <a:lnSpc>
                <a:spcPct val="130000"/>
              </a:lnSpc>
              <a:buFont typeface="Arial" panose="020B0604020202020204" pitchFamily="34" charset="0"/>
              <a:buChar char="•"/>
            </a:pPr>
            <a:r>
              <a:rPr lang="zh-CN" altLang="en-US" dirty="0"/>
              <a:t>“它”是谁</a:t>
            </a:r>
            <a:endParaRPr lang="zh-CN" altLang="en-US" dirty="0"/>
          </a:p>
          <a:p>
            <a:pPr lvl="2">
              <a:lnSpc>
                <a:spcPct val="130000"/>
              </a:lnSpc>
              <a:buFont typeface="Arial" panose="020B0604020202020204" pitchFamily="34" charset="0"/>
              <a:buChar char="•"/>
            </a:pPr>
            <a:r>
              <a:rPr lang="zh-CN" altLang="en-US" dirty="0"/>
              <a:t>“它”具有什么权限、能力</a:t>
            </a:r>
            <a:endParaRPr lang="zh-CN" altLang="en-US" dirty="0"/>
          </a:p>
          <a:p>
            <a:pPr lvl="1" algn="l">
              <a:lnSpc>
                <a:spcPct val="130000"/>
              </a:lnSpc>
              <a:buClrTx/>
              <a:buSzTx/>
              <a:buFont typeface="Arial" panose="020B0604020202020204" pitchFamily="34" charset="0"/>
              <a:buChar char="•"/>
            </a:pPr>
            <a:r>
              <a:rPr lang="zh-CN" altLang="en-US" dirty="0"/>
              <a:t>抵抗网络存在的安全隐患、攻击</a:t>
            </a:r>
            <a:endParaRPr lang="zh-CN" altLang="en-US" dirty="0"/>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16.1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身份认证</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1465580" y="1295400"/>
            <a:ext cx="8964930" cy="4185285"/>
          </a:xfrm>
          <a:prstGeom prst="rect">
            <a:avLst/>
          </a:prstGeom>
          <a:noFill/>
        </p:spPr>
        <p:txBody>
          <a:bodyPr wrap="square" rtlCol="0" anchor="t">
            <a:noAutofit/>
          </a:bodyPr>
          <a:p>
            <a:pPr marL="457200" indent="-457200" fontAlgn="auto">
              <a:lnSpc>
                <a:spcPct val="100000"/>
              </a:lnSpc>
              <a:buFont typeface="Wingdings" panose="05000000000000000000" charset="0"/>
              <a:buChar char="Ø"/>
            </a:pPr>
            <a:r>
              <a:rPr lang="en-US" altLang="zh-CN" sz="2800" b="1" dirty="0">
                <a:sym typeface="+mn-ea"/>
              </a:rPr>
              <a:t>“</a:t>
            </a:r>
            <a:r>
              <a:rPr lang="zh-CN" altLang="en-US" sz="2800" b="1" dirty="0">
                <a:sym typeface="+mn-ea"/>
              </a:rPr>
              <a:t>认证</a:t>
            </a:r>
            <a:r>
              <a:rPr lang="en-US" altLang="zh-CN" sz="2800" b="1" dirty="0">
                <a:sym typeface="+mn-ea"/>
              </a:rPr>
              <a:t>“</a:t>
            </a:r>
            <a:r>
              <a:rPr lang="zh-CN" altLang="en-US" sz="2800" b="1" dirty="0">
                <a:sym typeface="+mn-ea"/>
              </a:rPr>
              <a:t>的概念</a:t>
            </a:r>
            <a:endParaRPr lang="zh-CN" altLang="en-US" sz="2800" b="1" dirty="0">
              <a:sym typeface="+mn-ea"/>
            </a:endParaRPr>
          </a:p>
          <a:p>
            <a:pPr marL="914400" lvl="1" indent="-457200" fontAlgn="auto">
              <a:lnSpc>
                <a:spcPct val="100000"/>
              </a:lnSpc>
              <a:buFont typeface="Arial" panose="020B0604020202020204" pitchFamily="34" charset="0"/>
              <a:buChar char="•"/>
            </a:pPr>
            <a:r>
              <a:rPr lang="zh-CN" altLang="en-US" sz="2400" dirty="0">
                <a:sym typeface="+mn-ea"/>
              </a:rPr>
              <a:t>2个经常在中文环境中被混用的词，都被翻译为“认证”（在很多时候，都被混用）</a:t>
            </a:r>
            <a:endParaRPr lang="zh-CN" altLang="en-US" sz="2400" dirty="0">
              <a:sym typeface="+mn-ea"/>
            </a:endParaRPr>
          </a:p>
          <a:p>
            <a:pPr marL="914400" lvl="1" indent="-457200" fontAlgn="auto">
              <a:lnSpc>
                <a:spcPct val="100000"/>
              </a:lnSpc>
              <a:buFont typeface="Arial" panose="020B0604020202020204" pitchFamily="34" charset="0"/>
              <a:buChar char="•"/>
            </a:pPr>
            <a:r>
              <a:rPr lang="zh-CN" altLang="en-US" sz="2400" dirty="0"/>
              <a:t>Authentication</a:t>
            </a:r>
            <a:endParaRPr lang="zh-CN" altLang="en-US" sz="2400" dirty="0"/>
          </a:p>
          <a:p>
            <a:pPr marL="914400" lvl="1" indent="-457200" fontAlgn="auto">
              <a:lnSpc>
                <a:spcPct val="100000"/>
              </a:lnSpc>
              <a:buFont typeface="Arial" panose="020B0604020202020204" pitchFamily="34" charset="0"/>
              <a:buChar char="•"/>
            </a:pPr>
            <a:r>
              <a:rPr lang="zh-CN" altLang="en-US" sz="2400" dirty="0"/>
              <a:t>被翻译成为“鉴别”更为准确【或者，身份鉴别】</a:t>
            </a:r>
            <a:endParaRPr lang="zh-CN" altLang="en-US" sz="2400" dirty="0"/>
          </a:p>
          <a:p>
            <a:pPr marL="914400" lvl="1" indent="-457200" fontAlgn="auto">
              <a:lnSpc>
                <a:spcPct val="100000"/>
              </a:lnSpc>
              <a:buFont typeface="Arial" panose="020B0604020202020204" pitchFamily="34" charset="0"/>
              <a:buChar char="•"/>
            </a:pPr>
            <a:r>
              <a:rPr lang="zh-CN" altLang="en-US" sz="2400" dirty="0"/>
              <a:t>Certification</a:t>
            </a:r>
            <a:endParaRPr lang="zh-CN" altLang="en-US" sz="2400" dirty="0"/>
          </a:p>
          <a:p>
            <a:pPr marL="457200" indent="-457200" fontAlgn="auto">
              <a:lnSpc>
                <a:spcPct val="100000"/>
              </a:lnSpc>
              <a:buFont typeface="Wingdings" panose="05000000000000000000" charset="0"/>
              <a:buChar char="Ø"/>
            </a:pPr>
            <a:r>
              <a:rPr lang="en-US" altLang="zh-CN" sz="2800" b="1" dirty="0">
                <a:sym typeface="+mn-ea"/>
              </a:rPr>
              <a:t>扩展至“数据起源鉴别” Data source authentication</a:t>
            </a:r>
            <a:endParaRPr lang="en-US" altLang="zh-CN" sz="2800" b="1" dirty="0"/>
          </a:p>
          <a:p>
            <a:pPr marL="685800" lvl="1" indent="-228600" algn="l" fontAlgn="auto">
              <a:lnSpc>
                <a:spcPct val="100000"/>
              </a:lnSpc>
              <a:spcBef>
                <a:spcPts val="500"/>
              </a:spcBef>
              <a:buClrTx/>
              <a:buSzTx/>
              <a:buFont typeface="Arial" panose="020B0604020202020204" pitchFamily="34" charset="0"/>
              <a:buChar char="•"/>
            </a:pPr>
            <a:r>
              <a:rPr lang="zh-CN" altLang="en-US" sz="2400" dirty="0">
                <a:sym typeface="+mn-ea"/>
              </a:rPr>
              <a:t>当我通过网络收到一份数据</a:t>
            </a:r>
            <a:endParaRPr lang="zh-CN" altLang="en-US" sz="2400" dirty="0"/>
          </a:p>
          <a:p>
            <a:pPr marL="685800" lvl="1" indent="-228600" algn="l" fontAlgn="auto">
              <a:lnSpc>
                <a:spcPct val="100000"/>
              </a:lnSpc>
              <a:spcBef>
                <a:spcPts val="500"/>
              </a:spcBef>
              <a:buClrTx/>
              <a:buSzTx/>
              <a:buFont typeface="Arial" panose="020B0604020202020204" pitchFamily="34" charset="0"/>
              <a:buChar char="•"/>
            </a:pPr>
            <a:r>
              <a:rPr lang="zh-CN" altLang="en-US" sz="2400" dirty="0">
                <a:sym typeface="+mn-ea"/>
              </a:rPr>
              <a:t>“确认它是谁的发出/产生”的过程？</a:t>
            </a:r>
            <a:endParaRPr lang="zh-CN" altLang="en-US" sz="2400" dirty="0">
              <a:sym typeface="+mn-ea"/>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16.1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身份认证</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文本框 4"/>
          <p:cNvSpPr txBox="1"/>
          <p:nvPr/>
        </p:nvSpPr>
        <p:spPr>
          <a:xfrm>
            <a:off x="1465580" y="1295400"/>
            <a:ext cx="8964930" cy="4185285"/>
          </a:xfrm>
          <a:prstGeom prst="rect">
            <a:avLst/>
          </a:prstGeom>
          <a:noFill/>
        </p:spPr>
        <p:txBody>
          <a:bodyPr wrap="square" rtlCol="0" anchor="t">
            <a:noAutofit/>
          </a:bodyPr>
          <a:p>
            <a:pPr marL="457200" indent="-457200" fontAlgn="auto">
              <a:lnSpc>
                <a:spcPct val="100000"/>
              </a:lnSpc>
              <a:buFont typeface="Wingdings" panose="05000000000000000000" charset="0"/>
              <a:buChar char="Ø"/>
            </a:pPr>
            <a:r>
              <a:rPr lang="en-US" altLang="zh-CN" sz="2800" b="1" dirty="0">
                <a:sym typeface="+mn-ea"/>
              </a:rPr>
              <a:t>鉴别（ Authentication ）最基本的意思——身份鉴别</a:t>
            </a:r>
            <a:endParaRPr lang="en-US" altLang="zh-CN" sz="2800" b="1" dirty="0"/>
          </a:p>
          <a:p>
            <a:pPr marL="685800" lvl="1" indent="-228600" algn="l" fontAlgn="auto">
              <a:lnSpc>
                <a:spcPct val="100000"/>
              </a:lnSpc>
              <a:spcBef>
                <a:spcPts val="500"/>
              </a:spcBef>
              <a:buClrTx/>
              <a:buSzTx/>
              <a:buFont typeface="Arial" panose="020B0604020202020204" pitchFamily="34" charset="0"/>
              <a:buChar char="•"/>
            </a:pPr>
            <a:r>
              <a:rPr lang="zh-CN" altLang="en-US" sz="2400" dirty="0">
                <a:sym typeface="+mn-ea"/>
              </a:rPr>
              <a:t>当有一个“实体”，在网络上与我“交互”时</a:t>
            </a:r>
            <a:endParaRPr lang="zh-CN" altLang="en-US" sz="2400" dirty="0"/>
          </a:p>
          <a:p>
            <a:pPr marL="685800" lvl="1" indent="-228600" algn="l" fontAlgn="auto">
              <a:lnSpc>
                <a:spcPct val="100000"/>
              </a:lnSpc>
              <a:spcBef>
                <a:spcPts val="500"/>
              </a:spcBef>
              <a:buClrTx/>
              <a:buSzTx/>
              <a:buFont typeface="Arial" panose="020B0604020202020204" pitchFamily="34" charset="0"/>
              <a:buChar char="•"/>
            </a:pPr>
            <a:r>
              <a:rPr lang="zh-CN" altLang="en-US" sz="2400" dirty="0">
                <a:sym typeface="+mn-ea"/>
              </a:rPr>
              <a:t>“它”是谁？</a:t>
            </a:r>
            <a:endParaRPr lang="zh-CN" altLang="en-US" sz="2400" dirty="0"/>
          </a:p>
          <a:p>
            <a:pPr marL="685800" lvl="1" indent="-228600" algn="l" fontAlgn="auto">
              <a:lnSpc>
                <a:spcPct val="100000"/>
              </a:lnSpc>
              <a:spcBef>
                <a:spcPts val="500"/>
              </a:spcBef>
              <a:buClrTx/>
              <a:buSzTx/>
              <a:buFont typeface="Arial" panose="020B0604020202020204" pitchFamily="34" charset="0"/>
              <a:buChar char="•"/>
            </a:pPr>
            <a:r>
              <a:rPr lang="zh-CN" altLang="en-US" sz="2400" dirty="0">
                <a:sym typeface="+mn-ea"/>
              </a:rPr>
              <a:t>确认“它”是谁的过程？</a:t>
            </a:r>
            <a:endParaRPr lang="zh-CN" altLang="en-US" sz="2400" dirty="0"/>
          </a:p>
          <a:p>
            <a:pPr marL="685800" lvl="1" indent="-228600" algn="l" fontAlgn="auto">
              <a:lnSpc>
                <a:spcPct val="100000"/>
              </a:lnSpc>
              <a:spcBef>
                <a:spcPts val="500"/>
              </a:spcBef>
              <a:buClrTx/>
              <a:buSzTx/>
              <a:buFont typeface="Arial" panose="020B0604020202020204" pitchFamily="34" charset="0"/>
              <a:buChar char="•"/>
            </a:pPr>
            <a:r>
              <a:rPr lang="zh-CN" altLang="en-US" sz="2400" dirty="0">
                <a:sym typeface="+mn-ea"/>
              </a:rPr>
              <a:t>证实一个实体是所声称的实体——GB/T 15843.1-2008《信息技术 安全技术 实体鉴别 第1部分 概述》</a:t>
            </a:r>
            <a:endParaRPr lang="zh-CN" altLang="en-US" sz="2400" dirty="0"/>
          </a:p>
          <a:p>
            <a:pPr marL="457200" indent="-457200" fontAlgn="auto">
              <a:lnSpc>
                <a:spcPct val="100000"/>
              </a:lnSpc>
              <a:buFont typeface="Wingdings" panose="05000000000000000000" charset="0"/>
              <a:buChar char="Ø"/>
            </a:pPr>
            <a:r>
              <a:rPr lang="en-US" altLang="zh-CN" sz="2800" b="1" dirty="0">
                <a:sym typeface="+mn-ea"/>
              </a:rPr>
              <a:t>扩展至“数据起源鉴别” Data source authentication</a:t>
            </a:r>
            <a:endParaRPr lang="en-US" altLang="zh-CN" sz="2800" b="1" dirty="0"/>
          </a:p>
          <a:p>
            <a:pPr marL="685800" lvl="1" indent="-228600" algn="l" fontAlgn="auto">
              <a:lnSpc>
                <a:spcPct val="100000"/>
              </a:lnSpc>
              <a:spcBef>
                <a:spcPts val="500"/>
              </a:spcBef>
              <a:buClrTx/>
              <a:buSzTx/>
              <a:buFont typeface="Arial" panose="020B0604020202020204" pitchFamily="34" charset="0"/>
              <a:buChar char="•"/>
            </a:pPr>
            <a:r>
              <a:rPr lang="zh-CN" altLang="en-US" sz="2400" dirty="0">
                <a:sym typeface="+mn-ea"/>
              </a:rPr>
              <a:t>当我通过网络收到一份数据</a:t>
            </a:r>
            <a:endParaRPr lang="zh-CN" altLang="en-US" sz="2400" dirty="0"/>
          </a:p>
          <a:p>
            <a:pPr marL="685800" lvl="1" indent="-228600" algn="l" fontAlgn="auto">
              <a:lnSpc>
                <a:spcPct val="100000"/>
              </a:lnSpc>
              <a:spcBef>
                <a:spcPts val="500"/>
              </a:spcBef>
              <a:buClrTx/>
              <a:buSzTx/>
              <a:buFont typeface="Arial" panose="020B0604020202020204" pitchFamily="34" charset="0"/>
              <a:buChar char="•"/>
            </a:pPr>
            <a:r>
              <a:rPr lang="zh-CN" altLang="en-US" sz="2400" dirty="0">
                <a:sym typeface="+mn-ea"/>
              </a:rPr>
              <a:t>“确认它是谁的发出/产生”的过程？</a:t>
            </a:r>
            <a:endParaRPr lang="zh-CN" altLang="en-US" sz="2400" dirty="0">
              <a:sym typeface="+mn-ea"/>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16.1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身份认证</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文本框 1"/>
          <p:cNvSpPr txBox="1"/>
          <p:nvPr/>
        </p:nvSpPr>
        <p:spPr>
          <a:xfrm>
            <a:off x="1537970" y="1305560"/>
            <a:ext cx="8978265" cy="4523105"/>
          </a:xfrm>
          <a:prstGeom prst="rect">
            <a:avLst/>
          </a:prstGeom>
          <a:noFill/>
        </p:spPr>
        <p:txBody>
          <a:bodyPr wrap="square" rtlCol="0" anchor="t">
            <a:spAutoFit/>
          </a:bodyPr>
          <a:p>
            <a:pPr marL="342900" indent="-342900" fontAlgn="auto">
              <a:buFont typeface="Wingdings" panose="05000000000000000000" charset="0"/>
              <a:buChar char="Ø"/>
            </a:pPr>
            <a:r>
              <a:rPr lang="zh-CN" altLang="en-US" sz="2400" b="1" dirty="0">
                <a:latin typeface="微软雅黑" panose="020B0503020204020204" charset="-122"/>
                <a:ea typeface="微软雅黑" panose="020B0503020204020204" charset="-122"/>
                <a:cs typeface="微软雅黑" panose="020B0503020204020204" charset="-122"/>
                <a:sym typeface="+mn-ea"/>
              </a:rPr>
              <a:t>标识</a:t>
            </a:r>
            <a:r>
              <a:rPr lang="en-US" altLang="zh-CN" sz="2400" b="1" dirty="0">
                <a:latin typeface="微软雅黑" panose="020B0503020204020204" charset="-122"/>
                <a:ea typeface="微软雅黑" panose="020B0503020204020204" charset="-122"/>
                <a:cs typeface="微软雅黑" panose="020B0503020204020204" charset="-122"/>
                <a:sym typeface="+mn-ea"/>
              </a:rPr>
              <a:t> </a:t>
            </a:r>
            <a:r>
              <a:rPr lang="en-US" altLang="zh-CN" sz="2400" b="1" dirty="0" smtClean="0">
                <a:latin typeface="微软雅黑" panose="020B0503020204020204" charset="-122"/>
                <a:ea typeface="微软雅黑" panose="020B0503020204020204" charset="-122"/>
                <a:cs typeface="微软雅黑" panose="020B0503020204020204" charset="-122"/>
                <a:sym typeface="+mn-ea"/>
              </a:rPr>
              <a:t>Identification</a:t>
            </a:r>
            <a:endParaRPr lang="en-US" altLang="zh-CN" sz="2400" b="1" dirty="0" smtClean="0">
              <a:latin typeface="微软雅黑" panose="020B0503020204020204" charset="-122"/>
              <a:ea typeface="微软雅黑" panose="020B0503020204020204" charset="-122"/>
              <a:cs typeface="微软雅黑" panose="020B0503020204020204" charset="-122"/>
            </a:endParaRPr>
          </a:p>
          <a:p>
            <a:pPr marL="800100" lvl="1" indent="-342900" fontAlgn="auto">
              <a:buFont typeface="Arial" panose="020B0604020202020204" pitchFamily="34" charset="0"/>
              <a:buChar char="•"/>
            </a:pPr>
            <a:r>
              <a:rPr lang="zh-CN" altLang="en-US" sz="2400" dirty="0" smtClean="0">
                <a:latin typeface="微软雅黑" panose="020B0503020204020204" charset="-122"/>
                <a:ea typeface="微软雅黑" panose="020B0503020204020204" charset="-122"/>
                <a:cs typeface="微软雅黑" panose="020B0503020204020204" charset="-122"/>
                <a:sym typeface="+mn-ea"/>
              </a:rPr>
              <a:t>在</a:t>
            </a:r>
            <a:r>
              <a:rPr lang="zh-CN" altLang="en-US" sz="2400" dirty="0">
                <a:latin typeface="微软雅黑" panose="020B0503020204020204" charset="-122"/>
                <a:ea typeface="微软雅黑" panose="020B0503020204020204" charset="-122"/>
                <a:cs typeface="微软雅黑" panose="020B0503020204020204" charset="-122"/>
                <a:sym typeface="+mn-ea"/>
              </a:rPr>
              <a:t>一定范围内，唯一确定地区分各实体的命名体系或方法。</a:t>
            </a:r>
            <a:endParaRPr lang="zh-CN" altLang="en-US" sz="2400" dirty="0">
              <a:latin typeface="微软雅黑" panose="020B0503020204020204" charset="-122"/>
              <a:ea typeface="微软雅黑" panose="020B0503020204020204" charset="-122"/>
              <a:cs typeface="微软雅黑" panose="020B0503020204020204" charset="-122"/>
            </a:endParaRPr>
          </a:p>
          <a:p>
            <a:pPr marL="342900" indent="-342900" algn="l" fontAlgn="auto">
              <a:buClrTx/>
              <a:buSzTx/>
              <a:buFont typeface="Wingdings" panose="05000000000000000000" charset="0"/>
              <a:buChar char="Ø"/>
            </a:pPr>
            <a:r>
              <a:rPr lang="zh-CN" altLang="en-US" sz="2400" b="1" dirty="0">
                <a:latin typeface="微软雅黑" panose="020B0503020204020204" charset="-122"/>
                <a:ea typeface="微软雅黑" panose="020B0503020204020204" charset="-122"/>
                <a:cs typeface="微软雅黑" panose="020B0503020204020204" charset="-122"/>
                <a:sym typeface="+mn-ea"/>
              </a:rPr>
              <a:t>鉴别</a:t>
            </a:r>
            <a:r>
              <a:rPr lang="en-US" altLang="zh-CN" sz="2400" b="1" dirty="0">
                <a:latin typeface="微软雅黑" panose="020B0503020204020204" charset="-122"/>
                <a:ea typeface="微软雅黑" panose="020B0503020204020204" charset="-122"/>
                <a:cs typeface="微软雅黑" panose="020B0503020204020204" charset="-122"/>
                <a:sym typeface="+mn-ea"/>
              </a:rPr>
              <a:t> </a:t>
            </a:r>
            <a:r>
              <a:rPr lang="zh-CN" altLang="en-US" sz="2400" b="1" dirty="0">
                <a:latin typeface="微软雅黑" panose="020B0503020204020204" charset="-122"/>
                <a:ea typeface="微软雅黑" panose="020B0503020204020204" charset="-122"/>
                <a:cs typeface="微软雅黑" panose="020B0503020204020204" charset="-122"/>
                <a:sym typeface="+mn-ea"/>
              </a:rPr>
              <a:t>Authentication</a:t>
            </a:r>
            <a:endParaRPr lang="zh-CN" altLang="en-US" sz="2400" b="1" dirty="0">
              <a:latin typeface="微软雅黑" panose="020B0503020204020204" charset="-122"/>
              <a:ea typeface="微软雅黑" panose="020B0503020204020204" charset="-122"/>
              <a:cs typeface="微软雅黑" panose="020B0503020204020204" charset="-122"/>
            </a:endParaRPr>
          </a:p>
          <a:p>
            <a:pPr marL="800100" lvl="1" indent="-342900" fontAlgn="auto">
              <a:buFont typeface="Arial" panose="020B0604020202020204" pitchFamily="34" charset="0"/>
              <a:buChar char="•"/>
            </a:pPr>
            <a:r>
              <a:rPr lang="zh-CN" altLang="en-US" sz="2400" dirty="0" smtClean="0">
                <a:latin typeface="微软雅黑" panose="020B0503020204020204" charset="-122"/>
                <a:ea typeface="微软雅黑" panose="020B0503020204020204" charset="-122"/>
                <a:cs typeface="微软雅黑" panose="020B0503020204020204" charset="-122"/>
                <a:sym typeface="+mn-ea"/>
              </a:rPr>
              <a:t>通常指身份鉴别，即，获知通信对方的身份标识的过程。</a:t>
            </a:r>
            <a:endParaRPr lang="zh-CN" altLang="en-US" sz="2400" dirty="0" smtClean="0">
              <a:latin typeface="微软雅黑" panose="020B0503020204020204" charset="-122"/>
              <a:ea typeface="微软雅黑" panose="020B0503020204020204" charset="-122"/>
              <a:cs typeface="微软雅黑" panose="020B0503020204020204" charset="-122"/>
              <a:sym typeface="+mn-ea"/>
            </a:endParaRPr>
          </a:p>
          <a:p>
            <a:pPr marL="1257300" lvl="2" indent="-342900" fontAlgn="auto">
              <a:buFont typeface="Arial" panose="020B0604020202020204" pitchFamily="34" charset="0"/>
              <a:buChar char="•"/>
            </a:pPr>
            <a:r>
              <a:rPr lang="zh-CN" altLang="en-US" sz="2400" dirty="0" smtClean="0">
                <a:latin typeface="微软雅黑" panose="020B0503020204020204" charset="-122"/>
                <a:ea typeface="微软雅黑" panose="020B0503020204020204" charset="-122"/>
                <a:cs typeface="微软雅黑" panose="020B0503020204020204" charset="-122"/>
                <a:sym typeface="+mn-ea"/>
              </a:rPr>
              <a:t>在中文环境中，有时候，也用“身份认证”来表示“身份鉴别”。</a:t>
            </a:r>
            <a:endParaRPr lang="zh-CN" altLang="en-US" sz="2400" dirty="0" smtClean="0">
              <a:latin typeface="微软雅黑" panose="020B0503020204020204" charset="-122"/>
              <a:ea typeface="微软雅黑" panose="020B0503020204020204" charset="-122"/>
              <a:cs typeface="微软雅黑" panose="020B0503020204020204" charset="-122"/>
            </a:endParaRPr>
          </a:p>
          <a:p>
            <a:pPr marL="800100" lvl="1" indent="-342900" fontAlgn="auto">
              <a:buFont typeface="Arial" panose="020B0604020202020204" pitchFamily="34" charset="0"/>
              <a:buChar char="•"/>
            </a:pPr>
            <a:r>
              <a:rPr lang="zh-CN" altLang="en-US" sz="2400" dirty="0" smtClean="0">
                <a:latin typeface="微软雅黑" panose="020B0503020204020204" charset="-122"/>
                <a:ea typeface="微软雅黑" panose="020B0503020204020204" charset="-122"/>
                <a:cs typeface="微软雅黑" panose="020B0503020204020204" charset="-122"/>
                <a:sym typeface="+mn-ea"/>
              </a:rPr>
              <a:t>进一步，有数据源鉴别Data Source Authentication，即，在通信中，获知数据生成方或发送方的身份标识的过程。</a:t>
            </a:r>
            <a:endParaRPr lang="zh-CN" altLang="en-US" sz="2400" dirty="0" smtClean="0">
              <a:latin typeface="微软雅黑" panose="020B0503020204020204" charset="-122"/>
              <a:ea typeface="微软雅黑" panose="020B0503020204020204" charset="-122"/>
              <a:cs typeface="微软雅黑" panose="020B0503020204020204" charset="-122"/>
            </a:endParaRPr>
          </a:p>
          <a:p>
            <a:pPr marL="342900" indent="-342900" algn="l" fontAlgn="auto">
              <a:buClrTx/>
              <a:buSzTx/>
              <a:buFont typeface="Wingdings" panose="05000000000000000000" charset="0"/>
              <a:buChar char="Ø"/>
            </a:pPr>
            <a:r>
              <a:rPr lang="zh-CN" altLang="en-US" sz="2400" b="1" dirty="0">
                <a:latin typeface="微软雅黑" panose="020B0503020204020204" charset="-122"/>
                <a:ea typeface="微软雅黑" panose="020B0503020204020204" charset="-122"/>
                <a:cs typeface="微软雅黑" panose="020B0503020204020204" charset="-122"/>
                <a:sym typeface="+mn-ea"/>
              </a:rPr>
              <a:t>认证</a:t>
            </a:r>
            <a:r>
              <a:rPr lang="en-US" altLang="zh-CN" sz="2400" b="1" dirty="0">
                <a:latin typeface="微软雅黑" panose="020B0503020204020204" charset="-122"/>
                <a:ea typeface="微软雅黑" panose="020B0503020204020204" charset="-122"/>
                <a:cs typeface="微软雅黑" panose="020B0503020204020204" charset="-122"/>
                <a:sym typeface="+mn-ea"/>
              </a:rPr>
              <a:t> </a:t>
            </a:r>
            <a:r>
              <a:rPr lang="zh-CN" altLang="en-US" sz="2400" b="1" dirty="0">
                <a:latin typeface="微软雅黑" panose="020B0503020204020204" charset="-122"/>
                <a:ea typeface="微软雅黑" panose="020B0503020204020204" charset="-122"/>
                <a:cs typeface="微软雅黑" panose="020B0503020204020204" charset="-122"/>
                <a:sym typeface="+mn-ea"/>
              </a:rPr>
              <a:t>Certification</a:t>
            </a:r>
            <a:endParaRPr lang="zh-CN" altLang="en-US" sz="2400" b="1" dirty="0">
              <a:latin typeface="微软雅黑" panose="020B0503020204020204" charset="-122"/>
              <a:ea typeface="微软雅黑" panose="020B0503020204020204" charset="-122"/>
              <a:cs typeface="微软雅黑" panose="020B0503020204020204" charset="-122"/>
            </a:endParaRPr>
          </a:p>
          <a:p>
            <a:pPr marL="800100" lvl="1" indent="-342900" fontAlgn="auto">
              <a:buFont typeface="Arial" panose="020B0604020202020204" pitchFamily="34" charset="0"/>
              <a:buChar char="•"/>
            </a:pPr>
            <a:r>
              <a:rPr lang="zh-CN" altLang="en-US" sz="2400" dirty="0" smtClean="0">
                <a:latin typeface="微软雅黑" panose="020B0503020204020204" charset="-122"/>
                <a:ea typeface="微软雅黑" panose="020B0503020204020204" charset="-122"/>
                <a:cs typeface="微软雅黑" panose="020B0503020204020204" charset="-122"/>
                <a:sym typeface="+mn-ea"/>
              </a:rPr>
              <a:t>证实</a:t>
            </a:r>
            <a:r>
              <a:rPr lang="zh-CN" altLang="en-US" sz="2400" dirty="0">
                <a:latin typeface="微软雅黑" panose="020B0503020204020204" charset="-122"/>
                <a:ea typeface="微软雅黑" panose="020B0503020204020204" charset="-122"/>
                <a:cs typeface="微软雅黑" panose="020B0503020204020204" charset="-122"/>
                <a:sym typeface="+mn-ea"/>
              </a:rPr>
              <a:t>某特定实体具有某种或某些属性。</a:t>
            </a:r>
            <a:endParaRPr lang="zh-CN" altLang="en-US" sz="2400" dirty="0">
              <a:latin typeface="微软雅黑" panose="020B0503020204020204" charset="-122"/>
              <a:ea typeface="微软雅黑" panose="020B0503020204020204" charset="-122"/>
              <a:cs typeface="微软雅黑" panose="020B0503020204020204" charset="-122"/>
            </a:endParaRPr>
          </a:p>
          <a:p>
            <a:pPr marL="800100" lvl="1" indent="-342900" fontAlgn="auto">
              <a:buFont typeface="Arial" panose="020B0604020202020204" pitchFamily="34" charset="0"/>
              <a:buChar char="•"/>
            </a:pPr>
            <a:r>
              <a:rPr lang="zh-CN" altLang="en-US" sz="2400" dirty="0" smtClean="0">
                <a:latin typeface="微软雅黑" panose="020B0503020204020204" charset="-122"/>
                <a:ea typeface="微软雅黑" panose="020B0503020204020204" charset="-122"/>
                <a:cs typeface="微软雅黑" panose="020B0503020204020204" charset="-122"/>
                <a:sym typeface="+mn-ea"/>
              </a:rPr>
              <a:t>进一步</a:t>
            </a:r>
            <a:r>
              <a:rPr lang="zh-CN" altLang="en-US" sz="2400" dirty="0">
                <a:latin typeface="微软雅黑" panose="020B0503020204020204" charset="-122"/>
                <a:ea typeface="微软雅黑" panose="020B0503020204020204" charset="-122"/>
                <a:cs typeface="微软雅黑" panose="020B0503020204020204" charset="-122"/>
                <a:sym typeface="+mn-ea"/>
              </a:rPr>
              <a:t>，认可</a:t>
            </a:r>
            <a:r>
              <a:rPr lang="en-US" altLang="zh-CN" sz="2400" dirty="0">
                <a:latin typeface="微软雅黑" panose="020B0503020204020204" charset="-122"/>
                <a:ea typeface="微软雅黑" panose="020B0503020204020204" charset="-122"/>
                <a:cs typeface="微软雅黑" panose="020B0503020204020204" charset="-122"/>
                <a:sym typeface="+mn-ea"/>
              </a:rPr>
              <a:t>Accreditation</a:t>
            </a:r>
            <a:r>
              <a:rPr lang="zh-CN" altLang="en-US" sz="2400" dirty="0">
                <a:latin typeface="微软雅黑" panose="020B0503020204020204" charset="-122"/>
                <a:ea typeface="微软雅黑" panose="020B0503020204020204" charset="-122"/>
                <a:cs typeface="微软雅黑" panose="020B0503020204020204" charset="-122"/>
                <a:sym typeface="+mn-ea"/>
              </a:rPr>
              <a:t>，指，证实某特定实体具有的某种或某一些</a:t>
            </a:r>
            <a:r>
              <a:rPr lang="zh-CN" altLang="en-US" sz="2400" dirty="0" smtClean="0">
                <a:latin typeface="微软雅黑" panose="020B0503020204020204" charset="-122"/>
                <a:ea typeface="微软雅黑" panose="020B0503020204020204" charset="-122"/>
                <a:cs typeface="微软雅黑" panose="020B0503020204020204" charset="-122"/>
                <a:sym typeface="+mn-ea"/>
              </a:rPr>
              <a:t>属性达到</a:t>
            </a:r>
            <a:r>
              <a:rPr lang="zh-CN" altLang="en-US" sz="2400" dirty="0">
                <a:latin typeface="微软雅黑" panose="020B0503020204020204" charset="-122"/>
                <a:ea typeface="微软雅黑" panose="020B0503020204020204" charset="-122"/>
                <a:cs typeface="微软雅黑" panose="020B0503020204020204" charset="-122"/>
                <a:sym typeface="+mn-ea"/>
              </a:rPr>
              <a:t>一定的预设程度。</a:t>
            </a:r>
            <a:endParaRPr lang="zh-CN" altLang="en-US" sz="2400" dirty="0">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16.1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身份认证</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文本框 1"/>
          <p:cNvSpPr txBox="1"/>
          <p:nvPr/>
        </p:nvSpPr>
        <p:spPr>
          <a:xfrm>
            <a:off x="1537970" y="1305560"/>
            <a:ext cx="8964930" cy="3661410"/>
          </a:xfrm>
          <a:prstGeom prst="rect">
            <a:avLst/>
          </a:prstGeom>
          <a:noFill/>
        </p:spPr>
        <p:txBody>
          <a:bodyPr wrap="square" rtlCol="0" anchor="t">
            <a:spAutoFit/>
          </a:bodyPr>
          <a:p>
            <a:pPr marL="285750" indent="-285750" fontAlgn="auto">
              <a:buFont typeface="Wingdings" panose="05000000000000000000" charset="0"/>
              <a:buChar char="Ø"/>
            </a:pPr>
            <a:r>
              <a:rPr lang="zh-CN" altLang="en-US" sz="2400" dirty="0">
                <a:sym typeface="+mn-ea"/>
              </a:rPr>
              <a:t>用户认证的定义</a:t>
            </a:r>
            <a:endParaRPr lang="zh-CN" altLang="en-US" sz="2400" dirty="0">
              <a:sym typeface="+mn-ea"/>
            </a:endParaRPr>
          </a:p>
          <a:p>
            <a:pPr marL="800100" lvl="1" indent="-342900" fontAlgn="auto">
              <a:buFont typeface="Arial" panose="020B0604020202020204" pitchFamily="34" charset="0"/>
              <a:buChar char="•"/>
            </a:pPr>
            <a:r>
              <a:rPr lang="zh-CN" altLang="en-US" sz="2000" dirty="0">
                <a:sym typeface="+mn-ea"/>
              </a:rPr>
              <a:t>是确定某个用户或代表用户执行的某些应用或过程的实际身份是否与其生成的身份一致的过程，认证技术通过检查用户的凭据是否与授权用户的数据库或数据认证服务器中的凭据匹配，为系统提供访问控制。</a:t>
            </a:r>
            <a:endParaRPr lang="zh-CN" altLang="en-US" sz="2000" dirty="0">
              <a:sym typeface="+mn-ea"/>
            </a:endParaRPr>
          </a:p>
          <a:p>
            <a:pPr marL="285750" indent="-285750" fontAlgn="auto">
              <a:buFont typeface="Wingdings" panose="05000000000000000000" charset="0"/>
              <a:buChar char="Ø"/>
            </a:pPr>
            <a:r>
              <a:rPr lang="zh-CN" altLang="en-US" sz="2400" dirty="0">
                <a:sym typeface="+mn-ea"/>
              </a:rPr>
              <a:t>身份认证的作用</a:t>
            </a:r>
            <a:endParaRPr lang="zh-CN" altLang="en-US" sz="2400" dirty="0">
              <a:sym typeface="+mn-ea"/>
            </a:endParaRPr>
          </a:p>
          <a:p>
            <a:pPr marL="800100" lvl="1" indent="-342900" fontAlgn="auto">
              <a:buFont typeface="Arial" panose="020B0604020202020204" pitchFamily="34" charset="0"/>
              <a:buChar char="•"/>
            </a:pPr>
            <a:r>
              <a:rPr lang="zh-CN" altLang="en-US" sz="2000" dirty="0">
                <a:sym typeface="+mn-ea"/>
              </a:rPr>
              <a:t>使组织能够通过仅允许通过身份认证的用户（或进程）访问受保护的资源（包括计算机系统、网络、数据库、网站及其他基于网络的应用程序或服务）来保护网络安全。</a:t>
            </a:r>
            <a:endParaRPr lang="zh-CN" altLang="en-US" sz="2000" dirty="0">
              <a:sym typeface="+mn-ea"/>
            </a:endParaRPr>
          </a:p>
          <a:p>
            <a:pPr marL="285750" indent="-285750" fontAlgn="auto">
              <a:buFont typeface="Wingdings" panose="05000000000000000000" charset="0"/>
              <a:buChar char="Ø"/>
            </a:pPr>
            <a:r>
              <a:rPr lang="zh-CN" altLang="en-US" sz="2400" dirty="0">
                <a:sym typeface="+mn-ea"/>
              </a:rPr>
              <a:t>用户认证和消息认证是不一样的。</a:t>
            </a:r>
            <a:endParaRPr lang="zh-CN" altLang="en-US" sz="2400" dirty="0">
              <a:sym typeface="+mn-ea"/>
            </a:endParaRPr>
          </a:p>
          <a:p>
            <a:pPr marL="800100" lvl="1" indent="-342900" fontAlgn="auto">
              <a:buFont typeface="Arial" panose="020B0604020202020204" pitchFamily="34" charset="0"/>
              <a:buChar char="•"/>
            </a:pPr>
            <a:r>
              <a:rPr lang="zh-CN" altLang="en-US" sz="2000" dirty="0">
                <a:sym typeface="+mn-ea"/>
              </a:rPr>
              <a:t>消息认证也是一种验证过程，它允许通信方验证收到的消息的内容是否被更改及资源是否可信。</a:t>
            </a:r>
            <a:endParaRPr lang="zh-CN" altLang="en-US" sz="2000" dirty="0">
              <a:sym typeface="+mn-ea"/>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16.1 Authentication</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的基本方法</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内容占位符 2"/>
          <p:cNvSpPr>
            <a:spLocks noGrp="1"/>
          </p:cNvSpPr>
          <p:nvPr>
            <p:ph idx="1"/>
          </p:nvPr>
        </p:nvSpPr>
        <p:spPr>
          <a:xfrm>
            <a:off x="1465580" y="1336675"/>
            <a:ext cx="10515600" cy="4351338"/>
          </a:xfrm>
        </p:spPr>
        <p:txBody>
          <a:bodyPr>
            <a:normAutofit/>
          </a:bodyPr>
          <a:lstStyle/>
          <a:p>
            <a:pPr>
              <a:buFont typeface="Wingdings" panose="05000000000000000000" charset="0"/>
              <a:buChar char="Ø"/>
            </a:pPr>
            <a:r>
              <a:rPr lang="zh-CN" altLang="en-US" sz="2400" dirty="0" smtClean="0"/>
              <a:t>最基本的网络身份鉴别是什么</a:t>
            </a:r>
            <a:endParaRPr lang="en-US" altLang="zh-CN" sz="2400" dirty="0" smtClean="0"/>
          </a:p>
          <a:p>
            <a:pPr lvl="1"/>
            <a:r>
              <a:rPr lang="zh-CN" altLang="en-US" sz="2000" dirty="0" smtClean="0"/>
              <a:t>在各种网络信息系统中，用户名</a:t>
            </a:r>
            <a:r>
              <a:rPr lang="en-US" altLang="zh-CN" sz="2000" dirty="0" smtClean="0"/>
              <a:t>/</a:t>
            </a:r>
            <a:r>
              <a:rPr lang="zh-CN" altLang="en-US" sz="2000" dirty="0" smtClean="0"/>
              <a:t>口令登录系统</a:t>
            </a:r>
            <a:endParaRPr lang="en-US" altLang="zh-CN" sz="2000" dirty="0" smtClean="0"/>
          </a:p>
          <a:p>
            <a:pPr>
              <a:buFont typeface="Wingdings" panose="05000000000000000000" charset="0"/>
              <a:buChar char="Ø"/>
            </a:pPr>
            <a:r>
              <a:rPr lang="zh-CN" altLang="en-US" sz="2400" dirty="0" smtClean="0"/>
              <a:t>如何进行身份</a:t>
            </a:r>
            <a:r>
              <a:rPr lang="zh-CN" altLang="en-US" sz="2400" dirty="0"/>
              <a:t>鉴别</a:t>
            </a:r>
            <a:endParaRPr lang="en-US" altLang="zh-CN" sz="2400" dirty="0"/>
          </a:p>
          <a:p>
            <a:pPr lvl="1"/>
            <a:r>
              <a:rPr lang="en-US" altLang="zh-CN" dirty="0"/>
              <a:t>Something you know</a:t>
            </a:r>
            <a:endParaRPr lang="en-US" altLang="zh-CN" dirty="0"/>
          </a:p>
          <a:p>
            <a:pPr lvl="2"/>
            <a:r>
              <a:rPr lang="zh-CN" altLang="en-US" dirty="0"/>
              <a:t>口令</a:t>
            </a:r>
            <a:endParaRPr lang="en-US" altLang="zh-CN" dirty="0"/>
          </a:p>
          <a:p>
            <a:pPr lvl="1"/>
            <a:r>
              <a:rPr lang="en-US" altLang="zh-CN" dirty="0" smtClean="0"/>
              <a:t>Something </a:t>
            </a:r>
            <a:r>
              <a:rPr lang="en-US" altLang="zh-CN" dirty="0"/>
              <a:t>you have</a:t>
            </a:r>
            <a:endParaRPr lang="en-US" altLang="zh-CN" dirty="0"/>
          </a:p>
          <a:p>
            <a:pPr lvl="2"/>
            <a:r>
              <a:rPr lang="en-US" altLang="zh-CN" dirty="0"/>
              <a:t>U</a:t>
            </a:r>
            <a:r>
              <a:rPr lang="zh-CN" altLang="en-US" dirty="0" smtClean="0"/>
              <a:t>盾</a:t>
            </a:r>
            <a:endParaRPr lang="en-US" altLang="zh-CN" dirty="0"/>
          </a:p>
          <a:p>
            <a:pPr lvl="1"/>
            <a:r>
              <a:rPr lang="en-US" altLang="zh-CN" dirty="0"/>
              <a:t>Something you are</a:t>
            </a:r>
            <a:endParaRPr lang="en-US" altLang="zh-CN" dirty="0"/>
          </a:p>
          <a:p>
            <a:pPr lvl="2"/>
            <a:r>
              <a:rPr lang="zh-CN" altLang="en-US" dirty="0"/>
              <a:t>指纹、</a:t>
            </a:r>
            <a:r>
              <a:rPr lang="zh-CN" altLang="en-US" dirty="0" smtClean="0"/>
              <a:t>虹膜、声音</a:t>
            </a:r>
            <a:endParaRPr lang="en-US" altLang="zh-CN" dirty="0"/>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16.1 Authentication</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的基本方法</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内容占位符 1"/>
          <p:cNvSpPr>
            <a:spLocks noGrp="1"/>
          </p:cNvSpPr>
          <p:nvPr>
            <p:ph idx="1"/>
          </p:nvPr>
        </p:nvSpPr>
        <p:spPr>
          <a:xfrm>
            <a:off x="1465580" y="1336675"/>
            <a:ext cx="9049385" cy="4351655"/>
          </a:xfrm>
        </p:spPr>
        <p:txBody>
          <a:bodyPr>
            <a:normAutofit/>
          </a:bodyPr>
          <a:lstStyle/>
          <a:p>
            <a:pPr>
              <a:lnSpc>
                <a:spcPct val="110000"/>
              </a:lnSpc>
              <a:buFont typeface="Wingdings" panose="05000000000000000000" charset="0"/>
              <a:buChar char="Ø"/>
            </a:pPr>
            <a:r>
              <a:rPr lang="zh-CN" altLang="en-US" sz="2400" dirty="0" smtClean="0"/>
              <a:t>套用刚才的概念</a:t>
            </a:r>
            <a:endParaRPr lang="en-US" altLang="zh-CN" sz="2400" dirty="0" smtClean="0"/>
          </a:p>
          <a:p>
            <a:pPr lvl="1">
              <a:lnSpc>
                <a:spcPct val="110000"/>
              </a:lnSpc>
            </a:pPr>
            <a:r>
              <a:rPr lang="zh-CN" altLang="en-US" sz="2000" dirty="0" smtClean="0"/>
              <a:t>当有一个“实体”，在网络上与我“交互”时</a:t>
            </a:r>
            <a:endParaRPr lang="en-US" altLang="zh-CN" sz="2000" dirty="0" smtClean="0"/>
          </a:p>
          <a:p>
            <a:pPr lvl="1">
              <a:lnSpc>
                <a:spcPct val="110000"/>
              </a:lnSpc>
            </a:pPr>
            <a:r>
              <a:rPr lang="zh-CN" altLang="en-US" sz="2000" dirty="0" smtClean="0"/>
              <a:t>“它”是谁？</a:t>
            </a:r>
            <a:endParaRPr lang="en-US" altLang="zh-CN" sz="2000" dirty="0" smtClean="0"/>
          </a:p>
          <a:p>
            <a:pPr lvl="1">
              <a:lnSpc>
                <a:spcPct val="110000"/>
              </a:lnSpc>
            </a:pPr>
            <a:r>
              <a:rPr lang="zh-CN" altLang="en-US" sz="2000" dirty="0" smtClean="0"/>
              <a:t>确认“它”是谁的过程？</a:t>
            </a:r>
            <a:endParaRPr lang="en-US" altLang="zh-CN" sz="2000" dirty="0" smtClean="0"/>
          </a:p>
          <a:p>
            <a:pPr algn="l">
              <a:lnSpc>
                <a:spcPct val="110000"/>
              </a:lnSpc>
              <a:buClrTx/>
              <a:buSzTx/>
              <a:buFont typeface="Wingdings" panose="05000000000000000000" charset="0"/>
              <a:buChar char="Ø"/>
            </a:pPr>
            <a:r>
              <a:rPr lang="zh-CN" altLang="en-US" sz="2400" dirty="0" smtClean="0"/>
              <a:t>当有一个“实体”，通过网络与学校的计算机</a:t>
            </a:r>
            <a:r>
              <a:rPr lang="zh-CN" altLang="en-US" sz="2400" dirty="0" smtClean="0"/>
              <a:t>/服务器通信，想用进入选课系统时</a:t>
            </a:r>
            <a:endParaRPr lang="zh-CN" altLang="en-US" sz="2400" dirty="0" smtClean="0"/>
          </a:p>
          <a:p>
            <a:pPr lvl="1">
              <a:lnSpc>
                <a:spcPct val="110000"/>
              </a:lnSpc>
            </a:pPr>
            <a:r>
              <a:rPr lang="zh-CN" altLang="en-US" sz="2000" dirty="0" smtClean="0"/>
              <a:t>它是谁？</a:t>
            </a:r>
            <a:endParaRPr lang="en-US" altLang="zh-CN" sz="2000" dirty="0" smtClean="0"/>
          </a:p>
          <a:p>
            <a:pPr lvl="1">
              <a:lnSpc>
                <a:spcPct val="110000"/>
              </a:lnSpc>
            </a:pPr>
            <a:r>
              <a:rPr lang="zh-CN" altLang="en-US" sz="2000" dirty="0" smtClean="0"/>
              <a:t>在“口令</a:t>
            </a:r>
            <a:r>
              <a:rPr lang="en-US" altLang="zh-CN" sz="2000" dirty="0" smtClean="0"/>
              <a:t>/Password</a:t>
            </a:r>
            <a:r>
              <a:rPr lang="zh-CN" altLang="en-US" sz="2000" dirty="0" smtClean="0"/>
              <a:t>”帮助下，确认它是谁的过程</a:t>
            </a:r>
            <a:endParaRPr lang="zh-CN" altLang="en-US" sz="2000" dirty="0" smtClean="0"/>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16.1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口令鉴别</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最基本的鉴别方式</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内容占位符 2"/>
          <p:cNvSpPr>
            <a:spLocks noGrp="1"/>
          </p:cNvSpPr>
          <p:nvPr>
            <p:ph idx="1"/>
          </p:nvPr>
        </p:nvSpPr>
        <p:spPr>
          <a:xfrm>
            <a:off x="1465580" y="1369060"/>
            <a:ext cx="9049385" cy="4351655"/>
          </a:xfrm>
        </p:spPr>
        <p:txBody>
          <a:bodyPr>
            <a:normAutofit/>
          </a:bodyPr>
          <a:lstStyle/>
          <a:p>
            <a:pPr algn="l">
              <a:lnSpc>
                <a:spcPct val="110000"/>
              </a:lnSpc>
              <a:buClrTx/>
              <a:buSzTx/>
              <a:buFont typeface="Wingdings" panose="05000000000000000000" charset="0"/>
              <a:buChar char="Ø"/>
            </a:pPr>
            <a:r>
              <a:rPr lang="zh-CN" altLang="en-US" sz="2400" dirty="0" smtClean="0"/>
              <a:t>口令Password</a:t>
            </a:r>
            <a:endParaRPr lang="zh-CN" altLang="en-US" sz="2400" dirty="0" smtClean="0"/>
          </a:p>
          <a:p>
            <a:pPr lvl="1"/>
            <a:r>
              <a:rPr lang="zh-CN" altLang="en-US" sz="2000" dirty="0"/>
              <a:t>一</a:t>
            </a:r>
            <a:r>
              <a:rPr lang="zh-CN" altLang="en-US" sz="2000" dirty="0" smtClean="0"/>
              <a:t>串字符，人可记住的</a:t>
            </a:r>
            <a:endParaRPr lang="en-US" altLang="zh-CN" sz="2000" dirty="0" smtClean="0"/>
          </a:p>
          <a:p>
            <a:pPr algn="l">
              <a:lnSpc>
                <a:spcPct val="110000"/>
              </a:lnSpc>
              <a:buClrTx/>
              <a:buSzTx/>
              <a:buFont typeface="Wingdings" panose="05000000000000000000" charset="0"/>
              <a:buChar char="Ø"/>
            </a:pPr>
            <a:r>
              <a:rPr lang="zh-CN" altLang="en-US" sz="2400" dirty="0" smtClean="0"/>
              <a:t>在很多场合，称为“密码”</a:t>
            </a:r>
            <a:endParaRPr lang="zh-CN" altLang="en-US" sz="2400" dirty="0" smtClean="0"/>
          </a:p>
          <a:p>
            <a:pPr lvl="1"/>
            <a:r>
              <a:rPr lang="zh-CN" altLang="en-US" sz="2000" dirty="0" smtClean="0"/>
              <a:t>在学术场合，密码是</a:t>
            </a:r>
            <a:r>
              <a:rPr lang="en-US" altLang="zh-CN" sz="2000" dirty="0" smtClean="0"/>
              <a:t>Cryptography</a:t>
            </a:r>
            <a:r>
              <a:rPr lang="zh-CN" altLang="en-US" sz="2000" dirty="0" smtClean="0"/>
              <a:t>，通常狭义地指加密算法</a:t>
            </a:r>
            <a:endParaRPr lang="en-US" altLang="zh-CN" sz="2000" dirty="0" smtClean="0"/>
          </a:p>
          <a:p>
            <a:pPr lvl="1"/>
            <a:r>
              <a:rPr lang="zh-CN" altLang="en-US" sz="2000" dirty="0" smtClean="0"/>
              <a:t>广义的</a:t>
            </a:r>
            <a:r>
              <a:rPr lang="en-US" altLang="zh-CN" sz="2000" dirty="0" smtClean="0"/>
              <a:t>Cryptography</a:t>
            </a:r>
            <a:r>
              <a:rPr lang="zh-CN" altLang="en-US" sz="2000" dirty="0" smtClean="0"/>
              <a:t>包括更多类型的算法</a:t>
            </a:r>
            <a:endParaRPr lang="en-US" altLang="zh-CN" sz="2000" dirty="0" smtClean="0"/>
          </a:p>
          <a:p>
            <a:pPr algn="l">
              <a:lnSpc>
                <a:spcPct val="110000"/>
              </a:lnSpc>
              <a:buClrTx/>
              <a:buSzTx/>
              <a:buFont typeface="Wingdings" panose="05000000000000000000" charset="0"/>
              <a:buChar char="Ø"/>
            </a:pPr>
            <a:r>
              <a:rPr lang="zh-CN" altLang="en-US" sz="2400" dirty="0" smtClean="0"/>
              <a:t>在本课程中，我们需要严格区分</a:t>
            </a:r>
            <a:endParaRPr lang="zh-CN" altLang="en-US" sz="2400" dirty="0" smtClean="0"/>
          </a:p>
          <a:p>
            <a:pPr lvl="1"/>
            <a:r>
              <a:rPr lang="zh-CN" altLang="en-US" sz="2000" dirty="0" smtClean="0"/>
              <a:t>“口令</a:t>
            </a:r>
            <a:r>
              <a:rPr lang="en-US" altLang="zh-CN" sz="2000" dirty="0" smtClean="0"/>
              <a:t>Password</a:t>
            </a:r>
            <a:r>
              <a:rPr lang="zh-CN" altLang="en-US" sz="2000" dirty="0" smtClean="0"/>
              <a:t>”</a:t>
            </a:r>
            <a:r>
              <a:rPr lang="en-US" altLang="zh-CN" sz="2000" dirty="0" smtClean="0"/>
              <a:t>		</a:t>
            </a:r>
            <a:r>
              <a:rPr lang="zh-CN" altLang="en-US" sz="2000" dirty="0" smtClean="0"/>
              <a:t>“密码</a:t>
            </a:r>
            <a:r>
              <a:rPr lang="en-US" altLang="zh-CN" sz="2000" dirty="0" smtClean="0"/>
              <a:t>Cryptography</a:t>
            </a:r>
            <a:r>
              <a:rPr lang="zh-CN" altLang="en-US" sz="2000" dirty="0" smtClean="0"/>
              <a:t>”</a:t>
            </a:r>
            <a:endParaRPr lang="zh-CN" altLang="en-US" sz="2000" dirty="0" smtClean="0"/>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16.1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口令鉴别</a:t>
            </a: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最基本的鉴别方式</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内容占位符 1"/>
          <p:cNvSpPr>
            <a:spLocks noGrp="1"/>
          </p:cNvSpPr>
          <p:nvPr>
            <p:ph idx="1"/>
          </p:nvPr>
        </p:nvSpPr>
        <p:spPr>
          <a:xfrm>
            <a:off x="1465580" y="1391285"/>
            <a:ext cx="9037320" cy="4351655"/>
          </a:xfrm>
        </p:spPr>
        <p:txBody>
          <a:bodyPr>
            <a:normAutofit/>
          </a:bodyPr>
          <a:lstStyle/>
          <a:p>
            <a:pPr algn="l">
              <a:lnSpc>
                <a:spcPct val="110000"/>
              </a:lnSpc>
              <a:buClrTx/>
              <a:buSzTx/>
              <a:buFont typeface="Wingdings" panose="05000000000000000000" charset="0"/>
              <a:buChar char="Ø"/>
            </a:pPr>
            <a:r>
              <a:rPr lang="zh-CN" altLang="en-US" sz="2400" dirty="0" smtClean="0"/>
              <a:t>口令是最常用的身份认证方式，也最好理解</a:t>
            </a:r>
            <a:endParaRPr lang="zh-CN" altLang="en-US" sz="2400" dirty="0" smtClean="0"/>
          </a:p>
          <a:p>
            <a:pPr lvl="1">
              <a:lnSpc>
                <a:spcPct val="110000"/>
              </a:lnSpc>
            </a:pPr>
            <a:r>
              <a:rPr lang="zh-CN" altLang="en-US" sz="2000" dirty="0"/>
              <a:t>不需要特殊的硬件，不需要专门的输入器</a:t>
            </a:r>
            <a:endParaRPr lang="zh-CN" altLang="en-US" sz="2000" dirty="0"/>
          </a:p>
          <a:p>
            <a:pPr algn="l">
              <a:lnSpc>
                <a:spcPct val="110000"/>
              </a:lnSpc>
              <a:buClrTx/>
              <a:buSzTx/>
              <a:buFont typeface="Wingdings" panose="05000000000000000000" charset="0"/>
              <a:buChar char="Ø"/>
            </a:pPr>
            <a:r>
              <a:rPr lang="zh-CN" altLang="en-US" sz="2400" dirty="0" smtClean="0"/>
              <a:t>当有一个“实体”，通过网络与学校的计算机/服务器通信，想用进入选课系统时</a:t>
            </a:r>
            <a:endParaRPr lang="zh-CN" altLang="en-US" sz="2400" dirty="0" smtClean="0"/>
          </a:p>
          <a:p>
            <a:pPr lvl="1">
              <a:lnSpc>
                <a:spcPct val="110000"/>
              </a:lnSpc>
            </a:pPr>
            <a:r>
              <a:rPr lang="zh-CN" altLang="en-US" sz="2000" dirty="0"/>
              <a:t>它是谁？</a:t>
            </a:r>
            <a:endParaRPr lang="en-US" altLang="zh-CN" sz="2000" dirty="0"/>
          </a:p>
          <a:p>
            <a:pPr lvl="1">
              <a:lnSpc>
                <a:spcPct val="110000"/>
              </a:lnSpc>
            </a:pPr>
            <a:r>
              <a:rPr lang="zh-CN" altLang="en-US" sz="2000" dirty="0"/>
              <a:t>在</a:t>
            </a:r>
            <a:r>
              <a:rPr lang="zh-CN" altLang="en-US" sz="2000" dirty="0" smtClean="0"/>
              <a:t>“口令”</a:t>
            </a:r>
            <a:r>
              <a:rPr lang="zh-CN" altLang="en-US" sz="2000" dirty="0"/>
              <a:t>帮助下，确认它是谁的</a:t>
            </a:r>
            <a:r>
              <a:rPr lang="zh-CN" altLang="en-US" sz="2000" dirty="0" smtClean="0"/>
              <a:t>过程</a:t>
            </a:r>
            <a:endParaRPr lang="en-US" altLang="zh-CN" sz="2000" dirty="0" smtClean="0"/>
          </a:p>
          <a:p>
            <a:pPr lvl="2">
              <a:lnSpc>
                <a:spcPct val="110000"/>
              </a:lnSpc>
            </a:pPr>
            <a:r>
              <a:rPr lang="zh-CN" altLang="en-US" sz="1800" dirty="0" smtClean="0"/>
              <a:t>实体提供的口令与服务器存储的口令匹配</a:t>
            </a:r>
            <a:endParaRPr lang="en-US" altLang="zh-CN" sz="1800" dirty="0"/>
          </a:p>
          <a:p>
            <a:endParaRPr lang="en-US" altLang="zh-CN" sz="1800" dirty="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16.2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常见的攻击类型</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内容占位符 2"/>
          <p:cNvSpPr>
            <a:spLocks noGrp="1"/>
          </p:cNvSpPr>
          <p:nvPr>
            <p:ph idx="1"/>
          </p:nvPr>
        </p:nvSpPr>
        <p:spPr>
          <a:xfrm>
            <a:off x="1465580" y="1343660"/>
            <a:ext cx="9260205" cy="4137025"/>
          </a:xfrm>
        </p:spPr>
        <p:txBody>
          <a:bodyPr>
            <a:normAutofit/>
          </a:bodyPr>
          <a:lstStyle/>
          <a:p>
            <a:r>
              <a:rPr lang="en-US" altLang="zh-CN" dirty="0" smtClean="0"/>
              <a:t>Passive Attack</a:t>
            </a:r>
            <a:endParaRPr lang="en-US" altLang="zh-CN" dirty="0" smtClean="0"/>
          </a:p>
          <a:p>
            <a:pPr lvl="1"/>
            <a:r>
              <a:rPr lang="en-US" altLang="zh-CN" dirty="0" smtClean="0"/>
              <a:t>An attacker cannot </a:t>
            </a:r>
            <a:r>
              <a:rPr lang="en-US" altLang="zh-CN" dirty="0"/>
              <a:t>interact with any of the parties </a:t>
            </a:r>
            <a:r>
              <a:rPr lang="en-US" altLang="zh-CN" dirty="0" smtClean="0"/>
              <a:t>involved</a:t>
            </a:r>
            <a:r>
              <a:rPr lang="en-US" altLang="zh-CN" dirty="0"/>
              <a:t> </a:t>
            </a:r>
            <a:r>
              <a:rPr lang="en-US" altLang="zh-CN" dirty="0" smtClean="0"/>
              <a:t>in the cryptosystem.</a:t>
            </a:r>
            <a:endParaRPr lang="en-US" altLang="zh-CN" dirty="0" smtClean="0"/>
          </a:p>
          <a:p>
            <a:pPr lvl="1"/>
            <a:r>
              <a:rPr lang="en-US" altLang="zh-CN" dirty="0" smtClean="0"/>
              <a:t>The attacker attempts to break </a:t>
            </a:r>
            <a:r>
              <a:rPr lang="en-US" altLang="zh-CN" dirty="0"/>
              <a:t>the system solely based upon observed </a:t>
            </a:r>
            <a:r>
              <a:rPr lang="en-US" altLang="zh-CN" dirty="0" smtClean="0"/>
              <a:t>data.</a:t>
            </a:r>
            <a:endParaRPr lang="en-US" altLang="zh-CN" dirty="0" smtClean="0"/>
          </a:p>
          <a:p>
            <a:r>
              <a:rPr lang="en-US" altLang="zh-CN" dirty="0" smtClean="0"/>
              <a:t>Active attack</a:t>
            </a:r>
            <a:endParaRPr lang="en-US" altLang="zh-CN" dirty="0" smtClean="0"/>
          </a:p>
          <a:p>
            <a:pPr lvl="1"/>
            <a:r>
              <a:rPr lang="en-US" altLang="zh-CN" dirty="0" smtClean="0"/>
              <a:t>An </a:t>
            </a:r>
            <a:r>
              <a:rPr lang="en-US" altLang="zh-CN" dirty="0"/>
              <a:t>attacker changes the </a:t>
            </a:r>
            <a:r>
              <a:rPr lang="en-US" altLang="zh-CN" dirty="0" smtClean="0"/>
              <a:t>communication.</a:t>
            </a:r>
            <a:endParaRPr lang="en-US" altLang="zh-CN" dirty="0" smtClean="0"/>
          </a:p>
          <a:p>
            <a:pPr lvl="1"/>
            <a:r>
              <a:rPr lang="en-US" altLang="zh-CN" dirty="0"/>
              <a:t> </a:t>
            </a:r>
            <a:r>
              <a:rPr lang="en-US" altLang="zh-CN" dirty="0" smtClean="0"/>
              <a:t>The attacker </a:t>
            </a:r>
            <a:r>
              <a:rPr lang="en-US" altLang="zh-CN" dirty="0"/>
              <a:t>may create, forge, alter, replace, block or reroute messages.</a:t>
            </a:r>
            <a:endParaRPr lang="en-US" altLang="zh-CN" dirty="0"/>
          </a:p>
          <a:p>
            <a:pPr lvl="1"/>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16.2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常见的攻击类型</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 name="内容占位符 1"/>
          <p:cNvSpPr>
            <a:spLocks noGrp="1"/>
          </p:cNvSpPr>
          <p:nvPr>
            <p:ph idx="1"/>
          </p:nvPr>
        </p:nvSpPr>
        <p:spPr>
          <a:xfrm>
            <a:off x="1465580" y="1412875"/>
            <a:ext cx="9422130" cy="4351655"/>
          </a:xfrm>
        </p:spPr>
        <p:txBody>
          <a:bodyPr>
            <a:normAutofit lnSpcReduction="20000"/>
          </a:bodyPr>
          <a:lstStyle/>
          <a:p>
            <a:r>
              <a:rPr lang="en-US" altLang="zh-CN" b="1" dirty="0"/>
              <a:t>Brute-force </a:t>
            </a:r>
            <a:r>
              <a:rPr lang="en-US" altLang="zh-CN" b="1" dirty="0" smtClean="0"/>
              <a:t>attack</a:t>
            </a:r>
            <a:endParaRPr lang="en-US" altLang="zh-CN" b="1" dirty="0" smtClean="0"/>
          </a:p>
          <a:p>
            <a:pPr lvl="1"/>
            <a:r>
              <a:rPr lang="en-US" altLang="zh-CN" dirty="0"/>
              <a:t>Brute force attacks work by calculating every possible combination that could make up a password and testing it to see if it is the correct password</a:t>
            </a:r>
            <a:r>
              <a:rPr lang="en-US" altLang="zh-CN" dirty="0" smtClean="0"/>
              <a:t>.</a:t>
            </a:r>
            <a:endParaRPr lang="en-US" altLang="zh-CN" dirty="0" smtClean="0"/>
          </a:p>
          <a:p>
            <a:pPr lvl="1"/>
            <a:r>
              <a:rPr lang="en-US" altLang="zh-CN" dirty="0"/>
              <a:t> As the password’s length increases, the amount of time, on average, to find the correct password increases </a:t>
            </a:r>
            <a:r>
              <a:rPr lang="en-US" altLang="zh-CN" dirty="0" smtClean="0"/>
              <a:t>exponentially.</a:t>
            </a:r>
            <a:endParaRPr lang="en-US" altLang="zh-CN" dirty="0"/>
          </a:p>
          <a:p>
            <a:r>
              <a:rPr lang="en-US" altLang="zh-CN" b="1" dirty="0"/>
              <a:t>Dictionary attack</a:t>
            </a:r>
            <a:endParaRPr lang="en-US" altLang="zh-CN" b="1" dirty="0"/>
          </a:p>
          <a:p>
            <a:pPr lvl="1"/>
            <a:r>
              <a:rPr lang="en-US" altLang="zh-CN" b="1" dirty="0" smtClean="0"/>
              <a:t>A </a:t>
            </a:r>
            <a:r>
              <a:rPr lang="en-US" altLang="zh-CN" b="1" dirty="0"/>
              <a:t>dictionary attack</a:t>
            </a:r>
            <a:r>
              <a:rPr lang="en-US" altLang="zh-CN" dirty="0"/>
              <a:t> tries only those possibilities which are deemed most likely to </a:t>
            </a:r>
            <a:r>
              <a:rPr lang="en-US" altLang="zh-CN" dirty="0" smtClean="0"/>
              <a:t>succeed.</a:t>
            </a:r>
            <a:endParaRPr lang="en-US" altLang="zh-CN" dirty="0" smtClean="0"/>
          </a:p>
          <a:p>
            <a:pPr lvl="1"/>
            <a:r>
              <a:rPr lang="en-US" altLang="zh-CN" dirty="0" smtClean="0"/>
              <a:t>Dictionary </a:t>
            </a:r>
            <a:r>
              <a:rPr lang="en-US" altLang="zh-CN" dirty="0"/>
              <a:t>attacks often succeed because many people have a tendency to choose short passwords that are ordinary words or common </a:t>
            </a:r>
            <a:r>
              <a:rPr lang="en-US" altLang="zh-CN" dirty="0" smtClean="0"/>
              <a:t>passwords.</a:t>
            </a:r>
            <a:endParaRPr lang="en-US" altLang="zh-CN" dirty="0" smtClean="0"/>
          </a:p>
          <a:p>
            <a:pPr lvl="1"/>
            <a:r>
              <a:rPr lang="zh-CN" altLang="en-US" dirty="0" smtClean="0"/>
              <a:t>常见弱口令、系统</a:t>
            </a:r>
            <a:r>
              <a:rPr lang="en-US" altLang="zh-CN" dirty="0" smtClean="0"/>
              <a:t>/</a:t>
            </a:r>
            <a:r>
              <a:rPr lang="zh-CN" altLang="en-US" dirty="0" smtClean="0"/>
              <a:t>设备默认口令</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常见的攻击类型</a:t>
            </a:r>
            <a:endParaRPr lang="zh-CN" altLang="en-US" dirty="0"/>
          </a:p>
        </p:txBody>
      </p:sp>
      <p:sp>
        <p:nvSpPr>
          <p:cNvPr id="3" name="内容占位符 2"/>
          <p:cNvSpPr>
            <a:spLocks noGrp="1"/>
          </p:cNvSpPr>
          <p:nvPr>
            <p:ph idx="1"/>
          </p:nvPr>
        </p:nvSpPr>
        <p:spPr/>
        <p:txBody>
          <a:bodyPr>
            <a:normAutofit/>
          </a:bodyPr>
          <a:lstStyle/>
          <a:p>
            <a:r>
              <a:rPr lang="en-US" altLang="zh-CN" b="1" dirty="0"/>
              <a:t>Brute-force </a:t>
            </a:r>
            <a:r>
              <a:rPr lang="en-US" altLang="zh-CN" b="1" dirty="0" smtClean="0"/>
              <a:t>attack</a:t>
            </a:r>
            <a:endParaRPr lang="en-US" altLang="zh-CN" b="1" dirty="0" smtClean="0"/>
          </a:p>
          <a:p>
            <a:pPr lvl="1"/>
            <a:r>
              <a:rPr lang="en-US" altLang="zh-CN" dirty="0"/>
              <a:t>Brute force attacks work by calculating every possible combination that could make up a password and testing it to see if it is the correct password</a:t>
            </a:r>
            <a:r>
              <a:rPr lang="en-US" altLang="zh-CN" dirty="0" smtClean="0"/>
              <a:t>.</a:t>
            </a:r>
            <a:endParaRPr lang="en-US" altLang="zh-CN" dirty="0" smtClean="0"/>
          </a:p>
          <a:p>
            <a:pPr lvl="1"/>
            <a:r>
              <a:rPr lang="en-US" altLang="zh-CN" dirty="0"/>
              <a:t> As the password’s length increases, the amount of time, on average, to find the correct password increases </a:t>
            </a:r>
            <a:r>
              <a:rPr lang="en-US" altLang="zh-CN" dirty="0" smtClean="0"/>
              <a:t>exponentially.</a:t>
            </a:r>
            <a:endParaRPr lang="en-US" altLang="zh-CN" dirty="0"/>
          </a:p>
          <a:p>
            <a:r>
              <a:rPr lang="en-US" altLang="zh-CN" b="1" dirty="0"/>
              <a:t>Dictionary attack</a:t>
            </a:r>
            <a:endParaRPr lang="en-US" altLang="zh-CN" b="1" dirty="0"/>
          </a:p>
          <a:p>
            <a:pPr lvl="1"/>
            <a:r>
              <a:rPr lang="en-US" altLang="zh-CN" b="1" dirty="0" smtClean="0"/>
              <a:t>A </a:t>
            </a:r>
            <a:r>
              <a:rPr lang="en-US" altLang="zh-CN" b="1" dirty="0"/>
              <a:t>dictionary attack</a:t>
            </a:r>
            <a:r>
              <a:rPr lang="en-US" altLang="zh-CN" dirty="0"/>
              <a:t> tries only those possibilities which are deemed most likely to </a:t>
            </a:r>
            <a:r>
              <a:rPr lang="en-US" altLang="zh-CN" dirty="0" smtClean="0"/>
              <a:t>succeed.</a:t>
            </a:r>
            <a:endParaRPr lang="en-US" altLang="zh-CN" dirty="0" smtClean="0"/>
          </a:p>
          <a:p>
            <a:pPr lvl="1"/>
            <a:r>
              <a:rPr lang="en-US" altLang="zh-CN" dirty="0" smtClean="0"/>
              <a:t>Dictionary </a:t>
            </a:r>
            <a:r>
              <a:rPr lang="en-US" altLang="zh-CN" dirty="0"/>
              <a:t>attacks often succeed because many people have a tendency to choose short passwords that are ordinary words or common </a:t>
            </a:r>
            <a:r>
              <a:rPr lang="en-US" altLang="zh-CN" dirty="0" smtClean="0"/>
              <a:t>passwords.</a:t>
            </a:r>
            <a:endParaRPr lang="en-US" altLang="zh-CN" dirty="0" smtClean="0"/>
          </a:p>
          <a:p>
            <a:pPr lvl="1"/>
            <a:r>
              <a:rPr lang="zh-CN" altLang="en-US" dirty="0" smtClean="0"/>
              <a:t>常见弱口令、系统</a:t>
            </a:r>
            <a:r>
              <a:rPr lang="en-US" altLang="zh-CN" dirty="0" smtClean="0"/>
              <a:t>/</a:t>
            </a:r>
            <a:r>
              <a:rPr lang="zh-CN" altLang="en-US" dirty="0" smtClean="0"/>
              <a:t>设备默认口令</a:t>
            </a:r>
            <a:endParaRPr lang="zh-CN" altLang="en-US" dirty="0"/>
          </a:p>
        </p:txBody>
      </p:sp>
      <p:pic>
        <p:nvPicPr>
          <p:cNvPr id="4" name="图片 3"/>
          <p:cNvPicPr>
            <a:picLocks noChangeAspect="1"/>
          </p:cNvPicPr>
          <p:nvPr/>
        </p:nvPicPr>
        <p:blipFill>
          <a:blip r:embed="rId1"/>
          <a:stretch>
            <a:fillRect/>
          </a:stretch>
        </p:blipFill>
        <p:spPr>
          <a:xfrm>
            <a:off x="2814917" y="2658387"/>
            <a:ext cx="5346551" cy="3900436"/>
          </a:xfrm>
          <a:prstGeom prst="rect">
            <a:avLst/>
          </a:prstGeom>
          <a:ln>
            <a:solidFill>
              <a:srgbClr val="00B0F0"/>
            </a:solidFill>
          </a:ln>
        </p:spPr>
      </p:pic>
      <p:sp>
        <p:nvSpPr>
          <p:cNvPr id="7" name="圆角矩形标注 6"/>
          <p:cNvSpPr/>
          <p:nvPr/>
        </p:nvSpPr>
        <p:spPr>
          <a:xfrm>
            <a:off x="8561687" y="2560320"/>
            <a:ext cx="1955706" cy="1215614"/>
          </a:xfrm>
          <a:prstGeom prst="wedgeRoundRectCallout">
            <a:avLst>
              <a:gd name="adj1" fmla="val -80047"/>
              <a:gd name="adj2" fmla="val 26013"/>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smtClean="0"/>
              <a:t>2011</a:t>
            </a:r>
            <a:r>
              <a:rPr lang="zh-CN" altLang="en-US" dirty="0" smtClean="0"/>
              <a:t>年，</a:t>
            </a:r>
            <a:r>
              <a:rPr lang="en-US" altLang="zh-CN" dirty="0" smtClean="0"/>
              <a:t>CSDN</a:t>
            </a:r>
            <a:r>
              <a:rPr lang="en-US" altLang="zh-CN" dirty="0"/>
              <a:t>600</a:t>
            </a:r>
            <a:r>
              <a:rPr lang="zh-CN" altLang="en-US" dirty="0"/>
              <a:t>万</a:t>
            </a:r>
            <a:r>
              <a:rPr lang="zh-CN" altLang="en-US" dirty="0" smtClean="0"/>
              <a:t>用户账户信息泄露，常见登录口令</a:t>
            </a:r>
            <a:endParaRPr lang="zh-CN" altLang="en-US" dirty="0"/>
          </a:p>
        </p:txBody>
      </p:sp>
      <p:pic>
        <p:nvPicPr>
          <p:cNvPr id="6" name="图片 5"/>
          <p:cNvPicPr>
            <a:picLocks noChangeAspect="1"/>
          </p:cNvPicPr>
          <p:nvPr/>
        </p:nvPicPr>
        <p:blipFill>
          <a:blip r:embed="rId2"/>
          <a:stretch>
            <a:fillRect/>
          </a:stretch>
        </p:blipFill>
        <p:spPr>
          <a:xfrm>
            <a:off x="4514626" y="131521"/>
            <a:ext cx="3550024" cy="6687549"/>
          </a:xfrm>
          <a:prstGeom prst="rect">
            <a:avLst/>
          </a:prstGeom>
        </p:spPr>
      </p:pic>
      <p:sp>
        <p:nvSpPr>
          <p:cNvPr id="8" name="圆角矩形标注 7"/>
          <p:cNvSpPr/>
          <p:nvPr/>
        </p:nvSpPr>
        <p:spPr>
          <a:xfrm>
            <a:off x="8276610" y="3991086"/>
            <a:ext cx="2391390" cy="1215614"/>
          </a:xfrm>
          <a:prstGeom prst="wedgeRoundRectCallout">
            <a:avLst>
              <a:gd name="adj1" fmla="val -80047"/>
              <a:gd name="adj2" fmla="val 26013"/>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smtClean="0"/>
              <a:t>2016</a:t>
            </a:r>
            <a:r>
              <a:rPr lang="zh-CN" altLang="en-US" dirty="0" smtClean="0"/>
              <a:t>年</a:t>
            </a:r>
            <a:r>
              <a:rPr lang="en-US" altLang="zh-CN" dirty="0" smtClean="0"/>
              <a:t>1</a:t>
            </a:r>
            <a:r>
              <a:rPr lang="zh-CN" altLang="en-US" dirty="0" smtClean="0"/>
              <a:t>月，美国的</a:t>
            </a:r>
            <a:r>
              <a:rPr lang="en-US" altLang="zh-CN" dirty="0" err="1" smtClean="0"/>
              <a:t>SplashData</a:t>
            </a:r>
            <a:r>
              <a:rPr lang="zh-CN" altLang="en-US" dirty="0" smtClean="0"/>
              <a:t>公司发布“</a:t>
            </a:r>
            <a:r>
              <a:rPr lang="en-US" altLang="zh-CN" dirty="0" smtClean="0"/>
              <a:t>Worst Passwords of 2015</a:t>
            </a:r>
            <a:r>
              <a:rPr lang="zh-CN" altLang="en-US" dirty="0" smtClean="0"/>
              <a:t>”</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8"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lstStyle/>
          <a:p>
            <a:pPr algn="ctr"/>
            <a:endParaRPr lang="zh-CN" altLang="en-US"/>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16.2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常见的攻击类型</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4" name="矩形 3"/>
          <p:cNvSpPr/>
          <p:nvPr/>
        </p:nvSpPr>
        <p:spPr>
          <a:xfrm>
            <a:off x="1207135" y="5494655"/>
            <a:ext cx="1732280" cy="727710"/>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 name="内容占位符 2"/>
          <p:cNvSpPr>
            <a:spLocks noGrp="1"/>
          </p:cNvSpPr>
          <p:nvPr>
            <p:ph idx="1"/>
          </p:nvPr>
        </p:nvSpPr>
        <p:spPr>
          <a:xfrm>
            <a:off x="1465580" y="1466215"/>
            <a:ext cx="9298940" cy="4351655"/>
          </a:xfrm>
        </p:spPr>
        <p:txBody>
          <a:bodyPr/>
          <a:lstStyle/>
          <a:p>
            <a:r>
              <a:rPr lang="en-US" altLang="zh-CN" dirty="0"/>
              <a:t>Replay </a:t>
            </a:r>
            <a:r>
              <a:rPr lang="en-US" altLang="zh-CN" dirty="0" smtClean="0"/>
              <a:t>attack/Playback attack</a:t>
            </a:r>
            <a:endParaRPr lang="en-US" altLang="zh-CN" dirty="0" smtClean="0"/>
          </a:p>
          <a:p>
            <a:pPr lvl="1"/>
            <a:r>
              <a:rPr lang="en-US" altLang="zh-CN" dirty="0"/>
              <a:t> </a:t>
            </a:r>
            <a:r>
              <a:rPr lang="en-US" altLang="zh-CN" dirty="0" smtClean="0"/>
              <a:t>A </a:t>
            </a:r>
            <a:r>
              <a:rPr lang="en-US" altLang="zh-CN" dirty="0"/>
              <a:t>valid data transmission is maliciously or fraudulently repeated or </a:t>
            </a:r>
            <a:r>
              <a:rPr lang="en-US" altLang="zh-CN" dirty="0" smtClean="0"/>
              <a:t>delayed.</a:t>
            </a:r>
            <a:endParaRPr lang="en-US" altLang="zh-CN" dirty="0" smtClean="0"/>
          </a:p>
          <a:p>
            <a:pPr marL="201295" lvl="1" indent="0">
              <a:buNone/>
            </a:pPr>
            <a:endParaRPr lang="en-US" altLang="zh-CN" dirty="0"/>
          </a:p>
          <a:p>
            <a:endParaRPr lang="zh-CN" altLang="en-US" dirty="0"/>
          </a:p>
        </p:txBody>
      </p:sp>
      <p:pic>
        <p:nvPicPr>
          <p:cNvPr id="5" name="图片 4"/>
          <p:cNvPicPr>
            <a:picLocks noChangeAspect="1"/>
          </p:cNvPicPr>
          <p:nvPr/>
        </p:nvPicPr>
        <p:blipFill>
          <a:blip r:embed="rId2"/>
          <a:stretch>
            <a:fillRect/>
          </a:stretch>
        </p:blipFill>
        <p:spPr>
          <a:xfrm>
            <a:off x="4084955" y="2649220"/>
            <a:ext cx="6614795" cy="3573145"/>
          </a:xfrm>
          <a:prstGeom prst="rect">
            <a:avLst/>
          </a:prstGeom>
        </p:spPr>
      </p:pic>
    </p:spTree>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838200" y="1280160"/>
            <a:ext cx="10515600" cy="4351338"/>
          </a:xfrm>
        </p:spPr>
        <p:txBody>
          <a:bodyPr/>
          <a:lstStyle/>
          <a:p>
            <a:r>
              <a:rPr lang="en-US" altLang="zh-CN" dirty="0"/>
              <a:t>Man-in-the-middle attack</a:t>
            </a:r>
            <a:endParaRPr lang="en-US" altLang="zh-CN" dirty="0"/>
          </a:p>
          <a:p>
            <a:pPr lvl="1"/>
            <a:r>
              <a:rPr lang="en-US" altLang="zh-CN" dirty="0" smtClean="0"/>
              <a:t>An </a:t>
            </a:r>
            <a:r>
              <a:rPr lang="en-US" altLang="zh-CN" dirty="0"/>
              <a:t>attacker secretly relays and possibly alters the communication between two parties who believe they are directly communicating </a:t>
            </a:r>
            <a:r>
              <a:rPr lang="en-US" altLang="zh-CN" dirty="0" smtClean="0"/>
              <a:t>with </a:t>
            </a:r>
            <a:r>
              <a:rPr lang="en-US" altLang="zh-CN" dirty="0"/>
              <a:t>each </a:t>
            </a:r>
            <a:r>
              <a:rPr lang="en-US" altLang="zh-CN" dirty="0" smtClean="0"/>
              <a:t>other.</a:t>
            </a:r>
            <a:endParaRPr lang="zh-CN" altLang="en-US" dirty="0"/>
          </a:p>
        </p:txBody>
      </p:sp>
      <p:pic>
        <p:nvPicPr>
          <p:cNvPr id="4" name="图片 3"/>
          <p:cNvPicPr>
            <a:picLocks noChangeAspect="1"/>
          </p:cNvPicPr>
          <p:nvPr/>
        </p:nvPicPr>
        <p:blipFill>
          <a:blip r:embed="rId1" cstate="print"/>
          <a:stretch>
            <a:fillRect/>
          </a:stretch>
        </p:blipFill>
        <p:spPr>
          <a:xfrm>
            <a:off x="1839380" y="3598355"/>
            <a:ext cx="821871" cy="1538911"/>
          </a:xfrm>
          <a:prstGeom prst="rect">
            <a:avLst/>
          </a:prstGeom>
        </p:spPr>
      </p:pic>
      <p:pic>
        <p:nvPicPr>
          <p:cNvPr id="5" name="图片 4"/>
          <p:cNvPicPr>
            <a:picLocks noChangeAspect="1"/>
          </p:cNvPicPr>
          <p:nvPr/>
        </p:nvPicPr>
        <p:blipFill>
          <a:blip r:embed="rId2" cstate="print"/>
          <a:stretch>
            <a:fillRect/>
          </a:stretch>
        </p:blipFill>
        <p:spPr>
          <a:xfrm>
            <a:off x="9523497" y="3648859"/>
            <a:ext cx="741471" cy="1569538"/>
          </a:xfrm>
          <a:prstGeom prst="rect">
            <a:avLst/>
          </a:prstGeom>
        </p:spPr>
      </p:pic>
      <p:cxnSp>
        <p:nvCxnSpPr>
          <p:cNvPr id="6" name="直接箭头连接符 5"/>
          <p:cNvCxnSpPr/>
          <p:nvPr/>
        </p:nvCxnSpPr>
        <p:spPr>
          <a:xfrm>
            <a:off x="2868375" y="3806438"/>
            <a:ext cx="2487536" cy="0"/>
          </a:xfrm>
          <a:prstGeom prst="straightConnector1">
            <a:avLst/>
          </a:prstGeom>
          <a:ln>
            <a:tailEnd type="triangle" w="lg" len="lg"/>
          </a:ln>
        </p:spPr>
        <p:style>
          <a:lnRef idx="3">
            <a:schemeClr val="accent5"/>
          </a:lnRef>
          <a:fillRef idx="0">
            <a:schemeClr val="accent5"/>
          </a:fillRef>
          <a:effectRef idx="2">
            <a:schemeClr val="accent5"/>
          </a:effectRef>
          <a:fontRef idx="minor">
            <a:schemeClr val="tx1"/>
          </a:fontRef>
        </p:style>
      </p:cxnSp>
      <p:sp>
        <p:nvSpPr>
          <p:cNvPr id="7" name="文本框 6"/>
          <p:cNvSpPr txBox="1"/>
          <p:nvPr/>
        </p:nvSpPr>
        <p:spPr>
          <a:xfrm>
            <a:off x="2853697" y="3110410"/>
            <a:ext cx="2213610" cy="645160"/>
          </a:xfrm>
          <a:prstGeom prst="rect">
            <a:avLst/>
          </a:prstGeom>
          <a:noFill/>
        </p:spPr>
        <p:txBody>
          <a:bodyPr wrap="none" rtlCol="0">
            <a:spAutoFit/>
          </a:bodyPr>
          <a:lstStyle/>
          <a:p>
            <a:pPr algn="ctr"/>
            <a:r>
              <a:rPr lang="en-US" altLang="zh-CN" dirty="0" smtClean="0"/>
              <a:t>Hi Bob, it’s Alice. </a:t>
            </a:r>
            <a:endParaRPr lang="en-US" altLang="zh-CN" dirty="0" smtClean="0"/>
          </a:p>
          <a:p>
            <a:pPr algn="ctr"/>
            <a:r>
              <a:rPr lang="en-US" altLang="zh-CN" dirty="0" smtClean="0"/>
              <a:t>Give me your </a:t>
            </a:r>
            <a:r>
              <a:rPr lang="en-US" altLang="zh-CN" dirty="0" err="1" smtClean="0"/>
              <a:t>pubKey</a:t>
            </a:r>
            <a:r>
              <a:rPr lang="en-US" altLang="zh-CN" dirty="0" smtClean="0"/>
              <a:t>.</a:t>
            </a:r>
            <a:endParaRPr lang="zh-CN" altLang="en-US" dirty="0"/>
          </a:p>
        </p:txBody>
      </p:sp>
      <p:cxnSp>
        <p:nvCxnSpPr>
          <p:cNvPr id="8" name="直接箭头连接符 7"/>
          <p:cNvCxnSpPr/>
          <p:nvPr/>
        </p:nvCxnSpPr>
        <p:spPr>
          <a:xfrm flipH="1" flipV="1">
            <a:off x="6823983" y="4108146"/>
            <a:ext cx="2454604" cy="3460"/>
          </a:xfrm>
          <a:prstGeom prst="straightConnector1">
            <a:avLst/>
          </a:prstGeom>
          <a:ln>
            <a:tailEnd type="triangle" w="lg" len="lg"/>
          </a:ln>
        </p:spPr>
        <p:style>
          <a:lnRef idx="3">
            <a:schemeClr val="accent5"/>
          </a:lnRef>
          <a:fillRef idx="0">
            <a:schemeClr val="accent5"/>
          </a:fillRef>
          <a:effectRef idx="2">
            <a:schemeClr val="accent5"/>
          </a:effectRef>
          <a:fontRef idx="minor">
            <a:schemeClr val="tx1"/>
          </a:fontRef>
        </p:style>
      </p:cxnSp>
      <p:sp>
        <p:nvSpPr>
          <p:cNvPr id="9" name="文本框 8"/>
          <p:cNvSpPr txBox="1"/>
          <p:nvPr/>
        </p:nvSpPr>
        <p:spPr>
          <a:xfrm>
            <a:off x="6844512" y="4136776"/>
            <a:ext cx="2566670" cy="645160"/>
          </a:xfrm>
          <a:prstGeom prst="rect">
            <a:avLst/>
          </a:prstGeom>
          <a:noFill/>
        </p:spPr>
        <p:txBody>
          <a:bodyPr wrap="none" rtlCol="0">
            <a:spAutoFit/>
          </a:bodyPr>
          <a:lstStyle/>
          <a:p>
            <a:pPr algn="ctr"/>
            <a:r>
              <a:rPr lang="en-US" altLang="zh-CN" dirty="0" smtClean="0"/>
              <a:t>Hi Alice,  here’s Bob’s Key.</a:t>
            </a:r>
            <a:endParaRPr lang="en-US" altLang="zh-CN" dirty="0" smtClean="0"/>
          </a:p>
          <a:p>
            <a:pPr algn="ctr"/>
            <a:r>
              <a:rPr lang="en-US" altLang="zh-CN" dirty="0"/>
              <a:t>[ Bob’s key]</a:t>
            </a:r>
            <a:r>
              <a:rPr lang="en-US" altLang="zh-CN" dirty="0" smtClean="0"/>
              <a:t> </a:t>
            </a:r>
            <a:endParaRPr lang="zh-CN" altLang="en-US" dirty="0"/>
          </a:p>
        </p:txBody>
      </p:sp>
      <p:sp>
        <p:nvSpPr>
          <p:cNvPr id="10" name="文本框 9"/>
          <p:cNvSpPr txBox="1"/>
          <p:nvPr/>
        </p:nvSpPr>
        <p:spPr>
          <a:xfrm>
            <a:off x="2024538" y="5016522"/>
            <a:ext cx="630555" cy="368300"/>
          </a:xfrm>
          <a:prstGeom prst="rect">
            <a:avLst/>
          </a:prstGeom>
          <a:noFill/>
        </p:spPr>
        <p:txBody>
          <a:bodyPr wrap="none" rtlCol="0">
            <a:spAutoFit/>
          </a:bodyPr>
          <a:lstStyle/>
          <a:p>
            <a:r>
              <a:rPr lang="en-US" altLang="zh-CN" dirty="0" smtClean="0"/>
              <a:t>Alice</a:t>
            </a:r>
            <a:endParaRPr lang="zh-CN" altLang="en-US" dirty="0"/>
          </a:p>
        </p:txBody>
      </p:sp>
      <p:sp>
        <p:nvSpPr>
          <p:cNvPr id="11" name="文本框 10"/>
          <p:cNvSpPr txBox="1"/>
          <p:nvPr/>
        </p:nvSpPr>
        <p:spPr>
          <a:xfrm>
            <a:off x="9628255" y="5120226"/>
            <a:ext cx="548005" cy="368300"/>
          </a:xfrm>
          <a:prstGeom prst="rect">
            <a:avLst/>
          </a:prstGeom>
          <a:noFill/>
        </p:spPr>
        <p:txBody>
          <a:bodyPr wrap="none" rtlCol="0">
            <a:spAutoFit/>
          </a:bodyPr>
          <a:lstStyle/>
          <a:p>
            <a:r>
              <a:rPr lang="en-US" altLang="zh-CN" dirty="0" smtClean="0"/>
              <a:t>Bob</a:t>
            </a:r>
            <a:endParaRPr lang="zh-CN" altLang="en-US" dirty="0"/>
          </a:p>
        </p:txBody>
      </p:sp>
      <p:graphicFrame>
        <p:nvGraphicFramePr>
          <p:cNvPr id="13" name="Object 13"/>
          <p:cNvGraphicFramePr>
            <a:graphicFrameLocks noChangeAspect="1"/>
          </p:cNvGraphicFramePr>
          <p:nvPr/>
        </p:nvGraphicFramePr>
        <p:xfrm>
          <a:off x="5489109" y="3642977"/>
          <a:ext cx="1133475" cy="1290412"/>
        </p:xfrm>
        <a:graphic>
          <a:graphicData uri="http://schemas.openxmlformats.org/presentationml/2006/ole">
            <mc:AlternateContent xmlns:mc="http://schemas.openxmlformats.org/markup-compatibility/2006">
              <mc:Choice xmlns:v="urn:schemas-microsoft-com:vml" Requires="v">
                <p:oleObj spid="_x0000_s2049" name="Photo Editor 照片" r:id="rId3" imgW="1133475" imgH="1200150" progId="">
                  <p:embed/>
                </p:oleObj>
              </mc:Choice>
              <mc:Fallback>
                <p:oleObj name="Photo Editor 照片" r:id="rId3" imgW="1133475" imgH="1200150" progId="">
                  <p:embed/>
                  <p:pic>
                    <p:nvPicPr>
                      <p:cNvPr id="0" name="图片 2048"/>
                      <p:cNvPicPr>
                        <a:picLocks noChangeAspect="1"/>
                      </p:cNvPicPr>
                      <p:nvPr/>
                    </p:nvPicPr>
                    <p:blipFill>
                      <a:blip r:embed="rId4"/>
                      <a:stretch>
                        <a:fillRect/>
                      </a:stretch>
                    </p:blipFill>
                    <p:spPr>
                      <a:xfrm>
                        <a:off x="5489109" y="3642977"/>
                        <a:ext cx="1133475" cy="1290412"/>
                      </a:xfrm>
                      <a:prstGeom prst="rect">
                        <a:avLst/>
                      </a:prstGeom>
                      <a:noFill/>
                      <a:ln w="9525">
                        <a:noFill/>
                      </a:ln>
                    </p:spPr>
                  </p:pic>
                </p:oleObj>
              </mc:Fallback>
            </mc:AlternateContent>
          </a:graphicData>
        </a:graphic>
      </p:graphicFrame>
      <p:cxnSp>
        <p:nvCxnSpPr>
          <p:cNvPr id="14" name="直接箭头连接符 13"/>
          <p:cNvCxnSpPr/>
          <p:nvPr/>
        </p:nvCxnSpPr>
        <p:spPr>
          <a:xfrm flipV="1">
            <a:off x="6765953" y="3851173"/>
            <a:ext cx="2512634" cy="4962"/>
          </a:xfrm>
          <a:prstGeom prst="straightConnector1">
            <a:avLst/>
          </a:prstGeom>
          <a:ln>
            <a:tailEnd type="triangle" w="lg" len="lg"/>
          </a:ln>
        </p:spPr>
        <p:style>
          <a:lnRef idx="3">
            <a:schemeClr val="accent2"/>
          </a:lnRef>
          <a:fillRef idx="0">
            <a:schemeClr val="accent2"/>
          </a:fillRef>
          <a:effectRef idx="2">
            <a:schemeClr val="accent2"/>
          </a:effectRef>
          <a:fontRef idx="minor">
            <a:schemeClr val="tx1"/>
          </a:fontRef>
        </p:style>
      </p:cxnSp>
      <p:sp>
        <p:nvSpPr>
          <p:cNvPr id="15" name="文本框 14"/>
          <p:cNvSpPr txBox="1"/>
          <p:nvPr/>
        </p:nvSpPr>
        <p:spPr>
          <a:xfrm>
            <a:off x="6751275" y="3160107"/>
            <a:ext cx="2213610" cy="645160"/>
          </a:xfrm>
          <a:prstGeom prst="rect">
            <a:avLst/>
          </a:prstGeom>
          <a:noFill/>
        </p:spPr>
        <p:txBody>
          <a:bodyPr wrap="none" rtlCol="0">
            <a:spAutoFit/>
          </a:bodyPr>
          <a:lstStyle/>
          <a:p>
            <a:pPr algn="ctr"/>
            <a:r>
              <a:rPr lang="en-US" altLang="zh-CN" dirty="0" smtClean="0">
                <a:solidFill>
                  <a:srgbClr val="FF0000"/>
                </a:solidFill>
              </a:rPr>
              <a:t>Hi Bob, it’s Alice. </a:t>
            </a:r>
            <a:endParaRPr lang="en-US" altLang="zh-CN" dirty="0" smtClean="0">
              <a:solidFill>
                <a:srgbClr val="FF0000"/>
              </a:solidFill>
            </a:endParaRPr>
          </a:p>
          <a:p>
            <a:pPr algn="ctr"/>
            <a:r>
              <a:rPr lang="en-US" altLang="zh-CN" dirty="0" smtClean="0">
                <a:solidFill>
                  <a:srgbClr val="FF0000"/>
                </a:solidFill>
              </a:rPr>
              <a:t>Give me your </a:t>
            </a:r>
            <a:r>
              <a:rPr lang="en-US" altLang="zh-CN" dirty="0" err="1" smtClean="0">
                <a:solidFill>
                  <a:srgbClr val="FF0000"/>
                </a:solidFill>
              </a:rPr>
              <a:t>pubKey</a:t>
            </a:r>
            <a:r>
              <a:rPr lang="en-US" altLang="zh-CN" dirty="0">
                <a:solidFill>
                  <a:srgbClr val="FF0000"/>
                </a:solidFill>
              </a:rPr>
              <a:t>.</a:t>
            </a:r>
            <a:endParaRPr lang="zh-CN" altLang="en-US" dirty="0">
              <a:solidFill>
                <a:srgbClr val="FF0000"/>
              </a:solidFill>
            </a:endParaRPr>
          </a:p>
        </p:txBody>
      </p:sp>
      <p:cxnSp>
        <p:nvCxnSpPr>
          <p:cNvPr id="21" name="直接箭头连接符 20"/>
          <p:cNvCxnSpPr/>
          <p:nvPr/>
        </p:nvCxnSpPr>
        <p:spPr>
          <a:xfrm flipH="1" flipV="1">
            <a:off x="2753038" y="4117562"/>
            <a:ext cx="2602873" cy="15603"/>
          </a:xfrm>
          <a:prstGeom prst="straightConnector1">
            <a:avLst/>
          </a:prstGeom>
          <a:ln>
            <a:tailEnd type="triangle" w="lg" len="lg"/>
          </a:ln>
        </p:spPr>
        <p:style>
          <a:lnRef idx="3">
            <a:schemeClr val="accent1"/>
          </a:lnRef>
          <a:fillRef idx="0">
            <a:schemeClr val="accent1"/>
          </a:fillRef>
          <a:effectRef idx="2">
            <a:schemeClr val="accent1"/>
          </a:effectRef>
          <a:fontRef idx="minor">
            <a:schemeClr val="tx1"/>
          </a:fontRef>
        </p:style>
      </p:cxnSp>
      <p:sp>
        <p:nvSpPr>
          <p:cNvPr id="22" name="文本框 21"/>
          <p:cNvSpPr txBox="1"/>
          <p:nvPr/>
        </p:nvSpPr>
        <p:spPr>
          <a:xfrm>
            <a:off x="2773567" y="4146192"/>
            <a:ext cx="2566670" cy="645160"/>
          </a:xfrm>
          <a:prstGeom prst="rect">
            <a:avLst/>
          </a:prstGeom>
          <a:noFill/>
        </p:spPr>
        <p:txBody>
          <a:bodyPr wrap="none" rtlCol="0">
            <a:spAutoFit/>
          </a:bodyPr>
          <a:lstStyle/>
          <a:p>
            <a:pPr algn="ctr"/>
            <a:r>
              <a:rPr lang="en-US" altLang="zh-CN" dirty="0" smtClean="0">
                <a:solidFill>
                  <a:srgbClr val="FF0000"/>
                </a:solidFill>
              </a:rPr>
              <a:t>Hi Alice,  here’s Bob’s Key.</a:t>
            </a:r>
            <a:endParaRPr lang="en-US" altLang="zh-CN" dirty="0" smtClean="0">
              <a:solidFill>
                <a:srgbClr val="FF0000"/>
              </a:solidFill>
            </a:endParaRPr>
          </a:p>
          <a:p>
            <a:pPr algn="ctr"/>
            <a:r>
              <a:rPr lang="en-US" altLang="zh-CN" dirty="0">
                <a:solidFill>
                  <a:srgbClr val="FF0000"/>
                </a:solidFill>
              </a:rPr>
              <a:t>[ </a:t>
            </a:r>
            <a:r>
              <a:rPr lang="en-US" altLang="zh-CN" dirty="0" smtClean="0">
                <a:solidFill>
                  <a:srgbClr val="FF0000"/>
                </a:solidFill>
              </a:rPr>
              <a:t>Eve’s </a:t>
            </a:r>
            <a:r>
              <a:rPr lang="en-US" altLang="zh-CN" dirty="0">
                <a:solidFill>
                  <a:srgbClr val="FF0000"/>
                </a:solidFill>
              </a:rPr>
              <a:t>key]</a:t>
            </a:r>
            <a:r>
              <a:rPr lang="en-US" altLang="zh-CN" dirty="0" smtClean="0">
                <a:solidFill>
                  <a:srgbClr val="FF0000"/>
                </a:solidFill>
              </a:rPr>
              <a:t> </a:t>
            </a:r>
            <a:endParaRPr lang="zh-CN" altLang="en-US" dirty="0">
              <a:solidFill>
                <a:srgbClr val="FF0000"/>
              </a:solidFill>
            </a:endParaRPr>
          </a:p>
        </p:txBody>
      </p:sp>
      <p:cxnSp>
        <p:nvCxnSpPr>
          <p:cNvPr id="26" name="直接箭头连接符 25"/>
          <p:cNvCxnSpPr/>
          <p:nvPr/>
        </p:nvCxnSpPr>
        <p:spPr>
          <a:xfrm flipV="1">
            <a:off x="2843277" y="4835414"/>
            <a:ext cx="2512634" cy="4962"/>
          </a:xfrm>
          <a:prstGeom prst="straightConnector1">
            <a:avLst/>
          </a:prstGeom>
          <a:ln>
            <a:tailEnd type="triangle" w="lg" len="lg"/>
          </a:ln>
        </p:spPr>
        <p:style>
          <a:lnRef idx="3">
            <a:schemeClr val="accent2"/>
          </a:lnRef>
          <a:fillRef idx="0">
            <a:schemeClr val="accent2"/>
          </a:fillRef>
          <a:effectRef idx="2">
            <a:schemeClr val="accent2"/>
          </a:effectRef>
          <a:fontRef idx="minor">
            <a:schemeClr val="tx1"/>
          </a:fontRef>
        </p:style>
      </p:cxnSp>
      <p:cxnSp>
        <p:nvCxnSpPr>
          <p:cNvPr id="27" name="直接箭头连接符 26"/>
          <p:cNvCxnSpPr/>
          <p:nvPr/>
        </p:nvCxnSpPr>
        <p:spPr>
          <a:xfrm>
            <a:off x="6823983" y="4783107"/>
            <a:ext cx="2487536" cy="0"/>
          </a:xfrm>
          <a:prstGeom prst="straightConnector1">
            <a:avLst/>
          </a:prstGeom>
          <a:ln>
            <a:tailEnd type="triangle" w="lg" len="lg"/>
          </a:ln>
        </p:spPr>
        <p:style>
          <a:lnRef idx="3">
            <a:schemeClr val="accent2"/>
          </a:lnRef>
          <a:fillRef idx="0">
            <a:schemeClr val="accent2"/>
          </a:fillRef>
          <a:effectRef idx="2">
            <a:schemeClr val="accent2"/>
          </a:effectRef>
          <a:fontRef idx="minor">
            <a:schemeClr val="tx1"/>
          </a:fontRef>
        </p:style>
      </p:cxnSp>
      <p:sp>
        <p:nvSpPr>
          <p:cNvPr id="28" name="文本框 27"/>
          <p:cNvSpPr txBox="1"/>
          <p:nvPr/>
        </p:nvSpPr>
        <p:spPr>
          <a:xfrm>
            <a:off x="2857489" y="4847309"/>
            <a:ext cx="2454910" cy="645160"/>
          </a:xfrm>
          <a:prstGeom prst="rect">
            <a:avLst/>
          </a:prstGeom>
          <a:noFill/>
        </p:spPr>
        <p:txBody>
          <a:bodyPr wrap="none" rtlCol="0">
            <a:spAutoFit/>
          </a:bodyPr>
          <a:lstStyle/>
          <a:p>
            <a:pPr algn="ctr"/>
            <a:r>
              <a:rPr lang="en-US" altLang="zh-CN" dirty="0" smtClean="0">
                <a:solidFill>
                  <a:srgbClr val="FF0000"/>
                </a:solidFill>
              </a:rPr>
              <a:t>Let’s meet at 2p.m..</a:t>
            </a:r>
            <a:endParaRPr lang="en-US" altLang="zh-CN" dirty="0" smtClean="0">
              <a:solidFill>
                <a:srgbClr val="FF0000"/>
              </a:solidFill>
            </a:endParaRPr>
          </a:p>
          <a:p>
            <a:pPr algn="ctr"/>
            <a:r>
              <a:rPr lang="en-US" altLang="zh-CN" dirty="0" smtClean="0">
                <a:solidFill>
                  <a:srgbClr val="FF0000"/>
                </a:solidFill>
              </a:rPr>
              <a:t>[Encrypted by Eve’s </a:t>
            </a:r>
            <a:r>
              <a:rPr lang="en-US" altLang="zh-CN" dirty="0">
                <a:solidFill>
                  <a:srgbClr val="FF0000"/>
                </a:solidFill>
              </a:rPr>
              <a:t>key]</a:t>
            </a:r>
            <a:r>
              <a:rPr lang="en-US" altLang="zh-CN" dirty="0" smtClean="0">
                <a:solidFill>
                  <a:srgbClr val="FF0000"/>
                </a:solidFill>
              </a:rPr>
              <a:t> </a:t>
            </a:r>
            <a:endParaRPr lang="zh-CN" altLang="en-US" dirty="0">
              <a:solidFill>
                <a:srgbClr val="FF0000"/>
              </a:solidFill>
            </a:endParaRPr>
          </a:p>
        </p:txBody>
      </p:sp>
      <p:sp>
        <p:nvSpPr>
          <p:cNvPr id="29" name="文本框 28"/>
          <p:cNvSpPr txBox="1"/>
          <p:nvPr/>
        </p:nvSpPr>
        <p:spPr>
          <a:xfrm>
            <a:off x="6878165" y="4808277"/>
            <a:ext cx="2499360" cy="645160"/>
          </a:xfrm>
          <a:prstGeom prst="rect">
            <a:avLst/>
          </a:prstGeom>
          <a:noFill/>
        </p:spPr>
        <p:txBody>
          <a:bodyPr wrap="none" rtlCol="0">
            <a:spAutoFit/>
          </a:bodyPr>
          <a:lstStyle/>
          <a:p>
            <a:pPr algn="ctr"/>
            <a:r>
              <a:rPr lang="en-US" altLang="zh-CN" dirty="0" smtClean="0">
                <a:solidFill>
                  <a:srgbClr val="FF0000"/>
                </a:solidFill>
              </a:rPr>
              <a:t>Let’s meet at 2p.m..</a:t>
            </a:r>
            <a:endParaRPr lang="en-US" altLang="zh-CN" dirty="0" smtClean="0">
              <a:solidFill>
                <a:srgbClr val="FF0000"/>
              </a:solidFill>
            </a:endParaRPr>
          </a:p>
          <a:p>
            <a:pPr algn="ctr"/>
            <a:r>
              <a:rPr lang="en-US" altLang="zh-CN" dirty="0" smtClean="0">
                <a:solidFill>
                  <a:srgbClr val="FF0000"/>
                </a:solidFill>
              </a:rPr>
              <a:t>[Encrypted by Bob’s </a:t>
            </a:r>
            <a:r>
              <a:rPr lang="en-US" altLang="zh-CN" dirty="0">
                <a:solidFill>
                  <a:srgbClr val="FF0000"/>
                </a:solidFill>
              </a:rPr>
              <a:t>key]</a:t>
            </a:r>
            <a:r>
              <a:rPr lang="en-US" altLang="zh-CN" dirty="0" smtClean="0">
                <a:solidFill>
                  <a:srgbClr val="FF0000"/>
                </a:solidFill>
              </a:rPr>
              <a:t> </a:t>
            </a:r>
            <a:endParaRPr lang="zh-CN" altLang="en-US" dirty="0">
              <a:solidFill>
                <a:srgbClr val="FF0000"/>
              </a:solidFill>
            </a:endParaRPr>
          </a:p>
        </p:txBody>
      </p:sp>
      <p:pic>
        <p:nvPicPr>
          <p:cNvPr id="150" name="picture 150"/>
          <p:cNvPicPr>
            <a:picLocks noChangeAspect="1"/>
          </p:cNvPicPr>
          <p:nvPr/>
        </p:nvPicPr>
        <p:blipFill>
          <a:blip r:embed="rId5"/>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1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16.2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常见的攻击类型</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1" nodeType="with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8"/>
                                        </p:tgtEl>
                                        <p:attrNameLst>
                                          <p:attrName>style.visibility</p:attrName>
                                        </p:attrNameLst>
                                      </p:cBhvr>
                                      <p:to>
                                        <p:strVal val="hidden"/>
                                      </p:to>
                                    </p:set>
                                  </p:childTnLst>
                                </p:cTn>
                              </p:par>
                              <p:par>
                                <p:cTn id="29" presetID="1" presetClass="exit" presetSubtype="0" fill="hold" grpId="2" nodeType="withEffect">
                                  <p:stCondLst>
                                    <p:cond delay="0"/>
                                  </p:stCondLst>
                                  <p:childTnLst>
                                    <p:set>
                                      <p:cBhvr>
                                        <p:cTn id="30" dur="1" fill="hold">
                                          <p:stCondLst>
                                            <p:cond delay="0"/>
                                          </p:stCondLst>
                                        </p:cTn>
                                        <p:tgtEl>
                                          <p:spTgt spid="9"/>
                                        </p:tgtEl>
                                        <p:attrNameLst>
                                          <p:attrName>style.visibility</p:attrName>
                                        </p:attrNameLst>
                                      </p:cBhvr>
                                      <p:to>
                                        <p:strVal val="hidden"/>
                                      </p:to>
                                    </p:set>
                                  </p:childTnLst>
                                </p:cTn>
                              </p:par>
                              <p:par>
                                <p:cTn id="31" presetID="1" presetClass="entr" presetSubtype="0"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childTnLst>
                                </p:cTn>
                              </p:par>
                            </p:childTnLst>
                          </p:cTn>
                        </p:par>
                        <p:par>
                          <p:cTn id="57" fill="hold">
                            <p:stCondLst>
                              <p:cond delay="0"/>
                            </p:stCondLst>
                            <p:childTnLst>
                              <p:par>
                                <p:cTn id="58" presetID="1" presetClass="entr" presetSubtype="0" fill="hold" nodeType="afterEffect">
                                  <p:stCondLst>
                                    <p:cond delay="500"/>
                                  </p:stCondLst>
                                  <p:childTnLst>
                                    <p:set>
                                      <p:cBhvr>
                                        <p:cTn id="59" dur="1" fill="hold">
                                          <p:stCondLst>
                                            <p:cond delay="0"/>
                                          </p:stCondLst>
                                        </p:cTn>
                                        <p:tgtEl>
                                          <p:spTgt spid="27"/>
                                        </p:tgtEl>
                                        <p:attrNameLst>
                                          <p:attrName>style.visibility</p:attrName>
                                        </p:attrNameLst>
                                      </p:cBhvr>
                                      <p:to>
                                        <p:strVal val="visible"/>
                                      </p:to>
                                    </p:set>
                                  </p:childTnLst>
                                </p:cTn>
                              </p:par>
                            </p:childTnLst>
                          </p:cTn>
                        </p:par>
                        <p:par>
                          <p:cTn id="60" fill="hold">
                            <p:stCondLst>
                              <p:cond delay="500"/>
                            </p:stCondLst>
                            <p:childTnLst>
                              <p:par>
                                <p:cTn id="61" presetID="1" presetClass="entr" presetSubtype="0" fill="hold" grpId="0" nodeType="afterEffect">
                                  <p:stCondLst>
                                    <p:cond delay="0"/>
                                  </p:stCondLst>
                                  <p:childTnLst>
                                    <p:set>
                                      <p:cBhvr>
                                        <p:cTn id="62"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9" grpId="1"/>
      <p:bldP spid="9" grpId="2"/>
      <p:bldP spid="10" grpId="0"/>
      <p:bldP spid="11" grpId="0"/>
      <p:bldP spid="15" grpId="0"/>
      <p:bldP spid="22" grpId="0"/>
      <p:bldP spid="28" grpId="0"/>
      <p:bldP spid="2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65580" y="1253490"/>
            <a:ext cx="10515600" cy="4351338"/>
          </a:xfrm>
        </p:spPr>
        <p:txBody>
          <a:bodyPr/>
          <a:lstStyle/>
          <a:p>
            <a:r>
              <a:rPr lang="en-US" altLang="zh-CN" dirty="0" smtClean="0"/>
              <a:t>Parallel Session Attack</a:t>
            </a:r>
            <a:endParaRPr lang="en-US" altLang="zh-CN" dirty="0" smtClean="0"/>
          </a:p>
          <a:p>
            <a:pPr lvl="1"/>
            <a:r>
              <a:rPr lang="en-US" altLang="zh-CN" dirty="0" smtClean="0"/>
              <a:t>Two or more protocol sessions are executed concurrently.</a:t>
            </a:r>
            <a:endParaRPr lang="en-US" altLang="zh-CN" dirty="0" smtClean="0"/>
          </a:p>
          <a:p>
            <a:pPr lvl="1"/>
            <a:r>
              <a:rPr lang="en-US" altLang="zh-CN" dirty="0" smtClean="0"/>
              <a:t>Messages from one are used to form messages in another.</a:t>
            </a:r>
            <a:endParaRPr lang="en-US" altLang="zh-CN" dirty="0" smtClean="0"/>
          </a:p>
          <a:p>
            <a:pPr lvl="1"/>
            <a:endParaRPr lang="zh-CN" altLang="en-US" dirty="0"/>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p>
            <a:pPr algn="ctr"/>
            <a:endParaRPr lang="zh-CN" altLang="en-US"/>
          </a:p>
        </p:txBody>
      </p:sp>
      <p:sp>
        <p:nvSpPr>
          <p:cNvPr id="1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16.2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常见的攻击类型</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l" rtl="0" eaLnBrk="0">
              <a:lnSpc>
                <a:spcPct val="106000"/>
              </a:lnSpc>
            </a:pPr>
            <a:r>
              <a:rPr 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第</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16</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章</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  </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身份认证</a:t>
            </a:r>
            <a:endPar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endParaRPr>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
        <p:nvSpPr>
          <p:cNvPr id="3" name="文本框 2"/>
          <p:cNvSpPr txBox="1"/>
          <p:nvPr/>
        </p:nvSpPr>
        <p:spPr>
          <a:xfrm>
            <a:off x="2678430" y="1671320"/>
            <a:ext cx="6465570" cy="3412490"/>
          </a:xfrm>
          <a:prstGeom prst="rect">
            <a:avLst/>
          </a:prstGeom>
          <a:noFill/>
        </p:spPr>
        <p:txBody>
          <a:bodyPr wrap="square" rtlCol="0" anchor="t">
            <a:spAutoFit/>
          </a:bodyPr>
          <a:p>
            <a:pPr marL="571500" indent="-571500" eaLnBrk="1" hangingPunct="1">
              <a:lnSpc>
                <a:spcPct val="120000"/>
              </a:lnSpc>
              <a:buSzPct val="80000"/>
              <a:buFont typeface="Wingdings" panose="05000000000000000000" pitchFamily="2" charset="2"/>
              <a:buChar char="n"/>
            </a:pPr>
            <a:r>
              <a:rPr lang="zh-CN" altLang="en-US" sz="3600" b="1" dirty="0">
                <a:latin typeface="Times New Roman" panose="02020603050405020304" pitchFamily="18" charset="0"/>
                <a:cs typeface="Times New Roman" panose="02020603050405020304" pitchFamily="18" charset="0"/>
                <a:sym typeface="+mn-ea"/>
              </a:rPr>
              <a:t> 身份认证概述</a:t>
            </a:r>
            <a:endParaRPr lang="en-US" altLang="zh-CN" sz="3600" b="1" dirty="0">
              <a:latin typeface="Times New Roman" panose="02020603050405020304" pitchFamily="18" charset="0"/>
              <a:cs typeface="Times New Roman" panose="02020603050405020304" pitchFamily="18" charset="0"/>
            </a:endParaRPr>
          </a:p>
          <a:p>
            <a:pPr marL="571500" indent="-571500" eaLnBrk="1" hangingPunct="1">
              <a:lnSpc>
                <a:spcPct val="120000"/>
              </a:lnSpc>
              <a:buSzPct val="80000"/>
              <a:buFont typeface="Wingdings" panose="05000000000000000000" pitchFamily="2" charset="2"/>
              <a:buChar char="n"/>
            </a:pPr>
            <a:r>
              <a:rPr lang="en-US" altLang="zh-CN" sz="3600" b="1" dirty="0">
                <a:latin typeface="Times New Roman" panose="02020603050405020304" pitchFamily="18" charset="0"/>
                <a:cs typeface="Times New Roman" panose="02020603050405020304" pitchFamily="18" charset="0"/>
                <a:sym typeface="+mn-ea"/>
              </a:rPr>
              <a:t> </a:t>
            </a:r>
            <a:r>
              <a:rPr lang="zh-CN" altLang="en-US" sz="3600" b="1" dirty="0">
                <a:latin typeface="Times New Roman" panose="02020603050405020304" pitchFamily="18" charset="0"/>
                <a:cs typeface="Times New Roman" panose="02020603050405020304" pitchFamily="18" charset="0"/>
                <a:sym typeface="+mn-ea"/>
              </a:rPr>
              <a:t>基于口令的身份鉴别</a:t>
            </a:r>
            <a:endParaRPr lang="zh-CN" altLang="en-US" sz="3600" b="1" dirty="0">
              <a:latin typeface="Times New Roman" panose="02020603050405020304" pitchFamily="18" charset="0"/>
              <a:cs typeface="Times New Roman" panose="02020603050405020304" pitchFamily="18" charset="0"/>
              <a:sym typeface="+mn-ea"/>
            </a:endParaRPr>
          </a:p>
          <a:p>
            <a:pPr marL="571500" indent="-571500" eaLnBrk="1" hangingPunct="1">
              <a:lnSpc>
                <a:spcPct val="120000"/>
              </a:lnSpc>
              <a:buSzPct val="80000"/>
              <a:buFont typeface="Wingdings" panose="05000000000000000000" pitchFamily="2" charset="2"/>
              <a:buChar char="n"/>
            </a:pPr>
            <a:r>
              <a:rPr lang="en-US" altLang="zh-CN" sz="3600" b="1" dirty="0">
                <a:latin typeface="Times New Roman" panose="02020603050405020304" pitchFamily="18" charset="0"/>
                <a:cs typeface="Times New Roman" panose="02020603050405020304" pitchFamily="18" charset="0"/>
                <a:sym typeface="+mn-ea"/>
              </a:rPr>
              <a:t> </a:t>
            </a:r>
            <a:r>
              <a:rPr lang="zh-CN" altLang="en-US" sz="3600" b="1" dirty="0">
                <a:latin typeface="Times New Roman" panose="02020603050405020304" pitchFamily="18" charset="0"/>
                <a:cs typeface="Times New Roman" panose="02020603050405020304" pitchFamily="18" charset="0"/>
                <a:sym typeface="+mn-ea"/>
              </a:rPr>
              <a:t>多因素身份鉴别</a:t>
            </a:r>
            <a:endParaRPr lang="en-US" altLang="zh-CN" sz="3600" b="1" dirty="0">
              <a:latin typeface="Times New Roman" panose="02020603050405020304" pitchFamily="18" charset="0"/>
              <a:cs typeface="Times New Roman" panose="02020603050405020304" pitchFamily="18" charset="0"/>
            </a:endParaRPr>
          </a:p>
          <a:p>
            <a:pPr marL="571500" indent="-571500" eaLnBrk="1" hangingPunct="1">
              <a:lnSpc>
                <a:spcPct val="120000"/>
              </a:lnSpc>
              <a:buSzPct val="80000"/>
              <a:buFont typeface="Wingdings" panose="05000000000000000000" pitchFamily="2" charset="2"/>
              <a:buChar char="n"/>
            </a:pPr>
            <a:r>
              <a:rPr lang="en-US" altLang="zh-CN" sz="3600" b="1" dirty="0">
                <a:latin typeface="Times New Roman" panose="02020603050405020304" pitchFamily="18" charset="0"/>
                <a:cs typeface="Times New Roman" panose="02020603050405020304" pitchFamily="18" charset="0"/>
                <a:sym typeface="+mn-ea"/>
              </a:rPr>
              <a:t> Kerberos</a:t>
            </a:r>
            <a:r>
              <a:rPr lang="zh-CN" altLang="en-US" sz="3600" b="1" dirty="0">
                <a:latin typeface="Times New Roman" panose="02020603050405020304" pitchFamily="18" charset="0"/>
                <a:cs typeface="Times New Roman" panose="02020603050405020304" pitchFamily="18" charset="0"/>
                <a:sym typeface="+mn-ea"/>
              </a:rPr>
              <a:t>协议</a:t>
            </a:r>
            <a:endParaRPr lang="en-US" altLang="zh-CN" sz="3600" b="1" dirty="0">
              <a:latin typeface="Times New Roman" panose="02020603050405020304" pitchFamily="18" charset="0"/>
              <a:cs typeface="Times New Roman" panose="02020603050405020304" pitchFamily="18" charset="0"/>
            </a:endParaRPr>
          </a:p>
          <a:p>
            <a:pPr marL="571500" indent="-571500" eaLnBrk="1" hangingPunct="1">
              <a:lnSpc>
                <a:spcPct val="120000"/>
              </a:lnSpc>
              <a:buSzPct val="80000"/>
              <a:buFont typeface="Wingdings" panose="05000000000000000000" pitchFamily="2" charset="2"/>
              <a:buChar char="n"/>
            </a:pPr>
            <a:r>
              <a:rPr lang="en-US" altLang="zh-CN" sz="3600" b="1" dirty="0">
                <a:latin typeface="Times New Roman" panose="02020603050405020304" pitchFamily="18" charset="0"/>
                <a:cs typeface="Times New Roman" panose="02020603050405020304" pitchFamily="18" charset="0"/>
                <a:sym typeface="+mn-ea"/>
              </a:rPr>
              <a:t> </a:t>
            </a:r>
            <a:r>
              <a:rPr lang="zh-CN" altLang="en-US" sz="3600" b="1" dirty="0">
                <a:latin typeface="Times New Roman" panose="02020603050405020304" pitchFamily="18" charset="0"/>
                <a:cs typeface="Times New Roman" panose="02020603050405020304" pitchFamily="18" charset="0"/>
                <a:sym typeface="+mn-ea"/>
              </a:rPr>
              <a:t>联合身份管理</a:t>
            </a:r>
            <a:endParaRPr lang="zh-CN" altLang="en-US" sz="3600" dirty="0">
              <a:latin typeface="Calibri" panose="020F0502020204030204" charset="0"/>
              <a:ea typeface="微软雅黑" panose="020B0503020204020204" charset="-122"/>
              <a:cs typeface="仿宋" panose="02010609060101010101" charset="-122"/>
              <a:sym typeface="+mn-ea"/>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65580" y="1319530"/>
            <a:ext cx="10515600" cy="4351338"/>
          </a:xfrm>
        </p:spPr>
        <p:txBody>
          <a:bodyPr>
            <a:normAutofit/>
          </a:bodyPr>
          <a:lstStyle/>
          <a:p>
            <a:r>
              <a:rPr lang="zh-CN" altLang="en-US" dirty="0"/>
              <a:t>实现鉴别的三种方式</a:t>
            </a:r>
            <a:endParaRPr lang="zh-CN" altLang="en-US" dirty="0"/>
          </a:p>
          <a:p>
            <a:pPr lvl="1"/>
            <a:r>
              <a:rPr lang="zh-CN" altLang="en-US" dirty="0"/>
              <a:t>基于令牌：你有什么</a:t>
            </a:r>
            <a:endParaRPr lang="en-US" altLang="zh-CN" dirty="0"/>
          </a:p>
          <a:p>
            <a:pPr lvl="2"/>
            <a:r>
              <a:rPr lang="en-US" altLang="zh-CN" dirty="0"/>
              <a:t>Something you have</a:t>
            </a:r>
            <a:endParaRPr lang="en-US" altLang="zh-CN" dirty="0"/>
          </a:p>
          <a:p>
            <a:pPr lvl="1"/>
            <a:r>
              <a:rPr lang="zh-CN" altLang="en-US" dirty="0"/>
              <a:t>基于生物特征：你是什么</a:t>
            </a:r>
            <a:endParaRPr lang="en-US" altLang="zh-CN" dirty="0"/>
          </a:p>
          <a:p>
            <a:pPr lvl="2"/>
            <a:r>
              <a:rPr lang="en-US" altLang="zh-CN" dirty="0"/>
              <a:t>Something you are</a:t>
            </a:r>
            <a:endParaRPr lang="en-US" altLang="zh-CN" dirty="0"/>
          </a:p>
          <a:p>
            <a:pPr lvl="1"/>
            <a:r>
              <a:rPr lang="zh-CN" altLang="en-US" dirty="0"/>
              <a:t>基于知识：你知道什么</a:t>
            </a:r>
            <a:endParaRPr lang="en-US" altLang="zh-CN" dirty="0"/>
          </a:p>
          <a:p>
            <a:pPr lvl="2"/>
            <a:r>
              <a:rPr lang="en-US" altLang="zh-CN" dirty="0"/>
              <a:t>Something you know</a:t>
            </a:r>
            <a:endParaRPr lang="zh-CN" altLang="en-US" dirty="0"/>
          </a:p>
          <a:p>
            <a:r>
              <a:rPr lang="zh-CN" altLang="en-US" dirty="0" smtClean="0"/>
              <a:t>口令鉴别</a:t>
            </a:r>
            <a:endParaRPr lang="en-US" altLang="zh-CN" dirty="0" smtClean="0"/>
          </a:p>
          <a:p>
            <a:pPr lvl="1"/>
            <a:r>
              <a:rPr lang="zh-CN" altLang="en-US" dirty="0"/>
              <a:t>基于</a:t>
            </a:r>
            <a:r>
              <a:rPr lang="zh-CN" altLang="en-US" dirty="0" smtClean="0"/>
              <a:t>知识（</a:t>
            </a:r>
            <a:r>
              <a:rPr lang="en-US" altLang="zh-CN" dirty="0" smtClean="0"/>
              <a:t>password</a:t>
            </a:r>
            <a:r>
              <a:rPr lang="zh-CN" altLang="en-US" dirty="0" smtClean="0"/>
              <a:t>）的</a:t>
            </a:r>
            <a:r>
              <a:rPr lang="zh-CN" altLang="en-US" dirty="0"/>
              <a:t>鉴别</a:t>
            </a:r>
            <a:endParaRPr lang="zh-CN" altLang="en-US" dirty="0"/>
          </a:p>
          <a:p>
            <a:pPr lvl="1"/>
            <a:endParaRPr lang="zh-CN" altLang="en-US" dirty="0"/>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1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16.2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口令鉴别</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内容占位符 2"/>
          <p:cNvSpPr>
            <a:spLocks noGrp="1"/>
          </p:cNvSpPr>
          <p:nvPr>
            <p:ph idx="1"/>
          </p:nvPr>
        </p:nvSpPr>
        <p:spPr>
          <a:xfrm>
            <a:off x="1465580" y="1325880"/>
            <a:ext cx="9385300" cy="4351655"/>
          </a:xfrm>
        </p:spPr>
        <p:txBody>
          <a:bodyPr/>
          <a:lstStyle/>
          <a:p>
            <a:pPr eaLnBrk="1" hangingPunct="1"/>
            <a:r>
              <a:rPr lang="zh-CN" altLang="zh-CN" dirty="0" smtClean="0"/>
              <a:t>简单方便</a:t>
            </a:r>
            <a:endParaRPr lang="zh-CN" altLang="en-US" dirty="0" smtClean="0"/>
          </a:p>
          <a:p>
            <a:pPr lvl="1" eaLnBrk="1" hangingPunct="1"/>
            <a:r>
              <a:rPr lang="zh-CN" altLang="en-US" dirty="0" smtClean="0"/>
              <a:t>不需要额外的认证装置（如：</a:t>
            </a:r>
            <a:r>
              <a:rPr lang="en-US" altLang="zh-CN" dirty="0" smtClean="0"/>
              <a:t>Smart Cards</a:t>
            </a:r>
            <a:r>
              <a:rPr lang="zh-CN" altLang="en-US" dirty="0" smtClean="0"/>
              <a:t>）</a:t>
            </a:r>
            <a:endParaRPr lang="en-US" altLang="zh-CN" dirty="0" smtClean="0"/>
          </a:p>
          <a:p>
            <a:pPr eaLnBrk="1" hangingPunct="1"/>
            <a:r>
              <a:rPr lang="zh-CN" altLang="en-US" dirty="0" smtClean="0"/>
              <a:t>广泛的应用</a:t>
            </a:r>
            <a:endParaRPr lang="en-US" altLang="zh-CN" dirty="0" smtClean="0"/>
          </a:p>
          <a:p>
            <a:pPr lvl="1" eaLnBrk="1" hangingPunct="1"/>
            <a:r>
              <a:rPr lang="en-US" altLang="zh-CN" dirty="0" smtClean="0"/>
              <a:t>E.g. Windows</a:t>
            </a:r>
            <a:r>
              <a:rPr lang="zh-CN" altLang="en-US" dirty="0" smtClean="0"/>
              <a:t>登录</a:t>
            </a:r>
            <a:endParaRPr lang="en-US" altLang="zh-CN" dirty="0" smtClean="0"/>
          </a:p>
          <a:p>
            <a:pPr lvl="1" eaLnBrk="1" hangingPunct="1"/>
            <a:r>
              <a:rPr lang="zh-CN" altLang="zh-CN" dirty="0" smtClean="0"/>
              <a:t>计算机网络、无线网络、远程登录、操作系统和数据库管理系统</a:t>
            </a:r>
            <a:endParaRPr lang="zh-CN" altLang="en-US" dirty="0" smtClean="0"/>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p>
            <a:pPr algn="ctr"/>
            <a:endParaRPr lang="zh-CN" altLang="en-US"/>
          </a:p>
        </p:txBody>
      </p:sp>
      <p:sp>
        <p:nvSpPr>
          <p:cNvPr id="1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16.2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口令鉴别</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内容占位符 2"/>
          <p:cNvSpPr>
            <a:spLocks noGrp="1"/>
          </p:cNvSpPr>
          <p:nvPr>
            <p:ph idx="1"/>
          </p:nvPr>
        </p:nvSpPr>
        <p:spPr>
          <a:xfrm>
            <a:off x="1465580" y="1313815"/>
            <a:ext cx="8933815" cy="4436745"/>
          </a:xfrm>
        </p:spPr>
        <p:txBody>
          <a:bodyPr>
            <a:normAutofit fontScale="85000"/>
          </a:bodyPr>
          <a:lstStyle/>
          <a:p>
            <a:pPr>
              <a:lnSpc>
                <a:spcPct val="130000"/>
              </a:lnSpc>
            </a:pPr>
            <a:r>
              <a:rPr lang="zh-CN" altLang="en-US" dirty="0"/>
              <a:t>针对口令本身的攻击</a:t>
            </a:r>
            <a:endParaRPr lang="zh-CN" altLang="en-US" dirty="0"/>
          </a:p>
          <a:p>
            <a:pPr lvl="1" eaLnBrk="1" hangingPunct="1">
              <a:lnSpc>
                <a:spcPct val="130000"/>
              </a:lnSpc>
            </a:pPr>
            <a:r>
              <a:rPr lang="zh-CN" altLang="en-US" dirty="0" smtClean="0"/>
              <a:t>参与方选择口令的熵值较低</a:t>
            </a:r>
            <a:endParaRPr lang="en-US" altLang="zh-CN" dirty="0" smtClean="0"/>
          </a:p>
          <a:p>
            <a:pPr lvl="2" eaLnBrk="1" hangingPunct="1">
              <a:lnSpc>
                <a:spcPct val="130000"/>
              </a:lnSpc>
            </a:pPr>
            <a:r>
              <a:rPr lang="zh-CN" altLang="en-US" dirty="0" smtClean="0"/>
              <a:t>简单的口令是必然的；简单口令前提下，减缓攻击</a:t>
            </a:r>
            <a:endParaRPr lang="en-US" altLang="zh-CN" dirty="0" smtClean="0"/>
          </a:p>
          <a:p>
            <a:pPr lvl="1" eaLnBrk="1" hangingPunct="1">
              <a:lnSpc>
                <a:spcPct val="130000"/>
              </a:lnSpc>
            </a:pPr>
            <a:r>
              <a:rPr lang="zh-CN" altLang="en-US" dirty="0" smtClean="0"/>
              <a:t>字典攻击、口令猜测攻击</a:t>
            </a:r>
            <a:endParaRPr lang="zh-CN" altLang="en-US" dirty="0" smtClean="0"/>
          </a:p>
          <a:p>
            <a:pPr>
              <a:lnSpc>
                <a:spcPct val="130000"/>
              </a:lnSpc>
            </a:pPr>
            <a:r>
              <a:rPr lang="zh-CN" altLang="en-US" dirty="0"/>
              <a:t>针对鉴别协议过程的攻击</a:t>
            </a:r>
            <a:endParaRPr lang="zh-CN" altLang="en-US" dirty="0"/>
          </a:p>
          <a:p>
            <a:pPr lvl="1" eaLnBrk="1" hangingPunct="1">
              <a:lnSpc>
                <a:spcPct val="130000"/>
              </a:lnSpc>
            </a:pPr>
            <a:r>
              <a:rPr lang="zh-CN" altLang="en-US" dirty="0" smtClean="0"/>
              <a:t>窃听消息获取口令、重放攻击、服务器端欺骗攻击、并行会话攻击等</a:t>
            </a:r>
            <a:endParaRPr lang="zh-CN" altLang="en-US" dirty="0" smtClean="0"/>
          </a:p>
          <a:p>
            <a:pPr eaLnBrk="1" hangingPunct="1">
              <a:lnSpc>
                <a:spcPct val="130000"/>
              </a:lnSpc>
            </a:pPr>
            <a:r>
              <a:rPr lang="zh-CN" altLang="en-US" dirty="0"/>
              <a:t>针对服务器端存储口令、用户名对信息的攻击</a:t>
            </a:r>
            <a:endParaRPr lang="zh-CN" altLang="en-US" dirty="0" smtClean="0"/>
          </a:p>
          <a:p>
            <a:pPr lvl="1" eaLnBrk="1" hangingPunct="1">
              <a:lnSpc>
                <a:spcPct val="130000"/>
              </a:lnSpc>
            </a:pPr>
            <a:r>
              <a:rPr lang="zh-CN" altLang="en-US" dirty="0" smtClean="0"/>
              <a:t>恶意的人员（黑客、不良的服务器端管理员）获取存储在服务器端的信息后，破解口令</a:t>
            </a:r>
            <a:endParaRPr lang="zh-CN" altLang="en-US" dirty="0" smtClean="0"/>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1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16.2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口令鉴别的威胁</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内容占位符 2"/>
          <p:cNvSpPr>
            <a:spLocks noGrp="1"/>
          </p:cNvSpPr>
          <p:nvPr>
            <p:ph idx="1"/>
          </p:nvPr>
        </p:nvSpPr>
        <p:spPr>
          <a:xfrm>
            <a:off x="1465580" y="1280160"/>
            <a:ext cx="9049385" cy="4297045"/>
          </a:xfrm>
        </p:spPr>
        <p:txBody>
          <a:bodyPr>
            <a:normAutofit/>
          </a:bodyPr>
          <a:lstStyle/>
          <a:p>
            <a:pPr eaLnBrk="1" hangingPunct="1"/>
            <a:r>
              <a:rPr lang="zh-CN" altLang="en-US" dirty="0" smtClean="0"/>
              <a:t>参与方可以选择熵值较低的口令</a:t>
            </a:r>
            <a:endParaRPr lang="en-US" altLang="zh-CN" dirty="0" smtClean="0"/>
          </a:p>
          <a:p>
            <a:pPr lvl="1" eaLnBrk="1" hangingPunct="1"/>
            <a:r>
              <a:rPr lang="zh-CN" altLang="en-US" dirty="0" smtClean="0"/>
              <a:t>用户选择的简单口令就能安全地实现访问控制</a:t>
            </a:r>
            <a:endParaRPr lang="en-US" altLang="zh-CN" dirty="0" smtClean="0"/>
          </a:p>
          <a:p>
            <a:pPr lvl="1" eaLnBrk="1" hangingPunct="1"/>
            <a:r>
              <a:rPr lang="zh-CN" altLang="en-US" dirty="0" smtClean="0"/>
              <a:t>敌手在有限时间内不能够穷尽、猜测口令</a:t>
            </a:r>
            <a:endParaRPr lang="en-US" altLang="zh-CN" dirty="0" smtClean="0"/>
          </a:p>
          <a:p>
            <a:pPr lvl="2" eaLnBrk="1" hangingPunct="1"/>
            <a:r>
              <a:rPr lang="zh-CN" altLang="en-US" dirty="0" smtClean="0"/>
              <a:t>或者说，敌手的资源使其不可能穷举口令</a:t>
            </a:r>
            <a:endParaRPr lang="zh-CN" altLang="en-US" dirty="0" smtClean="0"/>
          </a:p>
          <a:p>
            <a:pPr eaLnBrk="1" hangingPunct="1"/>
            <a:r>
              <a:rPr lang="zh-CN" altLang="en-US" dirty="0" smtClean="0"/>
              <a:t>被动攻击不可行</a:t>
            </a:r>
            <a:endParaRPr lang="en-US" altLang="zh-CN" dirty="0" smtClean="0"/>
          </a:p>
          <a:p>
            <a:pPr lvl="1" eaLnBrk="1" hangingPunct="1"/>
            <a:r>
              <a:rPr lang="zh-CN" altLang="en-US" dirty="0" smtClean="0"/>
              <a:t>被动窃听者通过记录会话过程不能获得可能的口令</a:t>
            </a:r>
            <a:endParaRPr lang="en-US" altLang="zh-CN" dirty="0" smtClean="0"/>
          </a:p>
          <a:p>
            <a:pPr eaLnBrk="1" hangingPunct="1"/>
            <a:r>
              <a:rPr lang="zh-CN" altLang="en-US" dirty="0" smtClean="0"/>
              <a:t>主动攻击不可行</a:t>
            </a:r>
            <a:endParaRPr lang="en-US" altLang="zh-CN" dirty="0" smtClean="0"/>
          </a:p>
          <a:p>
            <a:pPr lvl="1" eaLnBrk="1" hangingPunct="1"/>
            <a:r>
              <a:rPr lang="zh-CN" altLang="en-US" dirty="0" smtClean="0"/>
              <a:t>主动敌手不能通过少量几次的协议执行而获得可能的口令</a:t>
            </a:r>
            <a:endParaRPr lang="en-US" altLang="zh-CN" dirty="0" smtClean="0"/>
          </a:p>
          <a:p>
            <a:pPr lvl="1" eaLnBrk="1" hangingPunct="1"/>
            <a:r>
              <a:rPr lang="zh-CN" altLang="en-US" dirty="0" smtClean="0"/>
              <a:t>通常，服务器会有认证失败锁定</a:t>
            </a:r>
            <a:endParaRPr lang="zh-CN" altLang="en-US" dirty="0" smtClean="0"/>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1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16.2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口令鉴别的安全需求</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内容占位符 2"/>
          <p:cNvSpPr>
            <a:spLocks noGrp="1"/>
          </p:cNvSpPr>
          <p:nvPr>
            <p:ph idx="1"/>
          </p:nvPr>
        </p:nvSpPr>
        <p:spPr/>
        <p:txBody>
          <a:bodyPr>
            <a:normAutofit/>
          </a:bodyPr>
          <a:lstStyle/>
          <a:p>
            <a:pPr eaLnBrk="1" hangingPunct="1"/>
            <a:r>
              <a:rPr lang="zh-CN" altLang="en-US" sz="2250" dirty="0"/>
              <a:t>防御针对口令本身的攻击</a:t>
            </a:r>
            <a:endParaRPr lang="zh-CN" altLang="en-US" sz="2250" dirty="0"/>
          </a:p>
          <a:p>
            <a:pPr lvl="1" eaLnBrk="1" hangingPunct="1">
              <a:lnSpc>
                <a:spcPct val="90000"/>
              </a:lnSpc>
            </a:pPr>
            <a:r>
              <a:rPr lang="zh-CN" altLang="en-US" dirty="0" smtClean="0"/>
              <a:t>图片口令、声音口令</a:t>
            </a:r>
            <a:endParaRPr lang="zh-CN" altLang="en-US" dirty="0" smtClean="0"/>
          </a:p>
          <a:p>
            <a:pPr eaLnBrk="1" hangingPunct="1"/>
            <a:r>
              <a:rPr lang="zh-CN" altLang="en-US" sz="2250" dirty="0"/>
              <a:t>防御针对协议过程中传输内容的攻击</a:t>
            </a:r>
            <a:endParaRPr lang="zh-CN" altLang="en-US" sz="2250" dirty="0"/>
          </a:p>
          <a:p>
            <a:pPr lvl="1" eaLnBrk="1" hangingPunct="1"/>
            <a:r>
              <a:rPr lang="zh-CN" altLang="en-US" dirty="0" smtClean="0"/>
              <a:t>可证明安全性的安全协议设计与分析</a:t>
            </a:r>
            <a:endParaRPr lang="zh-CN" altLang="en-US" dirty="0" smtClean="0"/>
          </a:p>
          <a:p>
            <a:pPr lvl="1" eaLnBrk="1" hangingPunct="1"/>
            <a:r>
              <a:rPr lang="en-US" altLang="zh-CN" dirty="0" smtClean="0"/>
              <a:t>One-time</a:t>
            </a:r>
            <a:r>
              <a:rPr lang="zh-CN" altLang="en-US" dirty="0" smtClean="0"/>
              <a:t>协议</a:t>
            </a:r>
            <a:endParaRPr lang="zh-CN" altLang="en-US" dirty="0" smtClean="0"/>
          </a:p>
          <a:p>
            <a:pPr eaLnBrk="1" hangingPunct="1"/>
            <a:r>
              <a:rPr lang="zh-CN" altLang="en-US" sz="2250" dirty="0"/>
              <a:t>针对服务器端存储口令、用户名对信息的攻击</a:t>
            </a:r>
            <a:endParaRPr lang="en-US" altLang="zh-CN" sz="2250" dirty="0"/>
          </a:p>
          <a:p>
            <a:pPr lvl="1" eaLnBrk="1" hangingPunct="1"/>
            <a:r>
              <a:rPr lang="en-US" altLang="zh-CN" dirty="0" smtClean="0"/>
              <a:t>Verifier-based</a:t>
            </a:r>
            <a:r>
              <a:rPr lang="zh-CN" altLang="en-US" dirty="0" smtClean="0"/>
              <a:t>口令鉴别协议</a:t>
            </a:r>
            <a:endParaRPr lang="zh-CN" altLang="en-US" dirty="0" smtClean="0"/>
          </a:p>
          <a:p>
            <a:pPr lvl="1" eaLnBrk="1" hangingPunct="1"/>
            <a:r>
              <a:rPr lang="zh-CN" altLang="en-US" dirty="0" smtClean="0"/>
              <a:t>设计存储在服务器端存储的口令、用户名相关信息的形式：加密、</a:t>
            </a:r>
            <a:r>
              <a:rPr lang="en-US" altLang="zh-CN" dirty="0" smtClean="0"/>
              <a:t>Hash</a:t>
            </a:r>
            <a:r>
              <a:rPr lang="zh-CN" altLang="en-US" dirty="0" smtClean="0"/>
              <a:t>等</a:t>
            </a:r>
            <a:endParaRPr lang="zh-CN" altLang="en-US" dirty="0" smtClean="0"/>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1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16.2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口令鉴别安全解决方案</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内容占位符 2"/>
          <p:cNvSpPr>
            <a:spLocks noGrp="1"/>
          </p:cNvSpPr>
          <p:nvPr>
            <p:ph idx="1"/>
          </p:nvPr>
        </p:nvSpPr>
        <p:spPr>
          <a:xfrm>
            <a:off x="1465580" y="1253490"/>
            <a:ext cx="9135110" cy="4351655"/>
          </a:xfrm>
        </p:spPr>
        <p:txBody>
          <a:bodyPr/>
          <a:lstStyle/>
          <a:p>
            <a:pPr eaLnBrk="1" hangingPunct="1"/>
            <a:r>
              <a:rPr lang="zh-CN" altLang="en-US" sz="2400" smtClean="0">
                <a:latin typeface="微软雅黑" panose="020B0503020204020204" charset="-122"/>
                <a:ea typeface="微软雅黑" panose="020B0503020204020204" charset="-122"/>
                <a:cs typeface="微软雅黑" panose="020B0503020204020204" charset="-122"/>
              </a:rPr>
              <a:t>每一个合法用户拥有一个</a:t>
            </a:r>
            <a:r>
              <a:rPr lang="en-US" altLang="zh-CN" sz="2400" smtClean="0">
                <a:latin typeface="微软雅黑" panose="020B0503020204020204" charset="-122"/>
                <a:ea typeface="微软雅黑" panose="020B0503020204020204" charset="-122"/>
                <a:cs typeface="微软雅黑" panose="020B0503020204020204" charset="-122"/>
              </a:rPr>
              <a:t>user-id</a:t>
            </a:r>
            <a:r>
              <a:rPr lang="zh-CN" altLang="en-US" sz="2400" smtClean="0">
                <a:latin typeface="微软雅黑" panose="020B0503020204020204" charset="-122"/>
                <a:ea typeface="微软雅黑" panose="020B0503020204020204" charset="-122"/>
                <a:cs typeface="微软雅黑" panose="020B0503020204020204" charset="-122"/>
              </a:rPr>
              <a:t>以及与其对应的</a:t>
            </a:r>
            <a:r>
              <a:rPr lang="en-US" altLang="zh-CN" sz="2400" smtClean="0">
                <a:latin typeface="微软雅黑" panose="020B0503020204020204" charset="-122"/>
                <a:ea typeface="微软雅黑" panose="020B0503020204020204" charset="-122"/>
                <a:cs typeface="微软雅黑" panose="020B0503020204020204" charset="-122"/>
              </a:rPr>
              <a:t>pwd</a:t>
            </a:r>
            <a:endParaRPr lang="en-US" altLang="zh-CN" sz="2400" smtClean="0">
              <a:latin typeface="微软雅黑" panose="020B0503020204020204" charset="-122"/>
              <a:ea typeface="微软雅黑" panose="020B0503020204020204" charset="-122"/>
              <a:cs typeface="微软雅黑" panose="020B0503020204020204" charset="-122"/>
            </a:endParaRPr>
          </a:p>
          <a:p>
            <a:pPr eaLnBrk="1" hangingPunct="1"/>
            <a:r>
              <a:rPr lang="zh-CN" altLang="en-US" sz="2400" smtClean="0">
                <a:latin typeface="微软雅黑" panose="020B0503020204020204" charset="-122"/>
                <a:ea typeface="微软雅黑" panose="020B0503020204020204" charset="-122"/>
                <a:cs typeface="微软雅黑" panose="020B0503020204020204" charset="-122"/>
              </a:rPr>
              <a:t>应用系统将所有合法的（</a:t>
            </a:r>
            <a:r>
              <a:rPr lang="en-US" altLang="zh-CN" sz="2400" smtClean="0">
                <a:latin typeface="微软雅黑" panose="020B0503020204020204" charset="-122"/>
                <a:ea typeface="微软雅黑" panose="020B0503020204020204" charset="-122"/>
                <a:cs typeface="微软雅黑" panose="020B0503020204020204" charset="-122"/>
              </a:rPr>
              <a:t>user-id, pwd</a:t>
            </a:r>
            <a:r>
              <a:rPr lang="zh-CN" altLang="en-US" sz="2400" smtClean="0">
                <a:latin typeface="微软雅黑" panose="020B0503020204020204" charset="-122"/>
                <a:ea typeface="微软雅黑" panose="020B0503020204020204" charset="-122"/>
                <a:cs typeface="微软雅黑" panose="020B0503020204020204" charset="-122"/>
              </a:rPr>
              <a:t>）保存在一张表中</a:t>
            </a:r>
            <a:endParaRPr lang="en-US" altLang="zh-CN" sz="2400" smtClean="0">
              <a:latin typeface="微软雅黑" panose="020B0503020204020204" charset="-122"/>
              <a:ea typeface="微软雅黑" panose="020B0503020204020204" charset="-122"/>
              <a:cs typeface="微软雅黑" panose="020B0503020204020204" charset="-122"/>
            </a:endParaRPr>
          </a:p>
          <a:p>
            <a:pPr eaLnBrk="1" hangingPunct="1"/>
            <a:r>
              <a:rPr lang="zh-CN" altLang="en-US" sz="2400" smtClean="0">
                <a:latin typeface="微软雅黑" panose="020B0503020204020204" charset="-122"/>
                <a:ea typeface="微软雅黑" panose="020B0503020204020204" charset="-122"/>
                <a:cs typeface="微软雅黑" panose="020B0503020204020204" charset="-122"/>
              </a:rPr>
              <a:t>用户登录时提供</a:t>
            </a:r>
            <a:r>
              <a:rPr lang="en-US" altLang="zh-CN" sz="2400" smtClean="0">
                <a:latin typeface="微软雅黑" panose="020B0503020204020204" charset="-122"/>
                <a:ea typeface="微软雅黑" panose="020B0503020204020204" charset="-122"/>
                <a:cs typeface="微软雅黑" panose="020B0503020204020204" charset="-122"/>
              </a:rPr>
              <a:t>user-id</a:t>
            </a:r>
            <a:r>
              <a:rPr lang="zh-CN" altLang="en-US" sz="2400" smtClean="0">
                <a:latin typeface="微软雅黑" panose="020B0503020204020204" charset="-122"/>
                <a:ea typeface="微软雅黑" panose="020B0503020204020204" charset="-122"/>
                <a:cs typeface="微软雅黑" panose="020B0503020204020204" charset="-122"/>
              </a:rPr>
              <a:t>和</a:t>
            </a:r>
            <a:r>
              <a:rPr lang="en-US" altLang="zh-CN" sz="2400" smtClean="0">
                <a:latin typeface="微软雅黑" panose="020B0503020204020204" charset="-122"/>
                <a:ea typeface="微软雅黑" panose="020B0503020204020204" charset="-122"/>
                <a:cs typeface="微软雅黑" panose="020B0503020204020204" charset="-122"/>
              </a:rPr>
              <a:t>pwd</a:t>
            </a:r>
            <a:endParaRPr lang="en-US" altLang="zh-CN" sz="2400" smtClean="0">
              <a:latin typeface="微软雅黑" panose="020B0503020204020204" charset="-122"/>
              <a:ea typeface="微软雅黑" panose="020B0503020204020204" charset="-122"/>
              <a:cs typeface="微软雅黑" panose="020B0503020204020204" charset="-122"/>
            </a:endParaRPr>
          </a:p>
          <a:p>
            <a:pPr eaLnBrk="1" hangingPunct="1"/>
            <a:r>
              <a:rPr lang="zh-CN" altLang="zh-CN" sz="2400" smtClean="0">
                <a:latin typeface="微软雅黑" panose="020B0503020204020204" charset="-122"/>
                <a:ea typeface="微软雅黑" panose="020B0503020204020204" charset="-122"/>
                <a:cs typeface="微软雅黑" panose="020B0503020204020204" charset="-122"/>
              </a:rPr>
              <a:t>服务器通过查询</a:t>
            </a:r>
            <a:r>
              <a:rPr lang="zh-CN" altLang="en-US" sz="2400" smtClean="0">
                <a:latin typeface="微软雅黑" panose="020B0503020204020204" charset="-122"/>
                <a:ea typeface="微软雅黑" panose="020B0503020204020204" charset="-122"/>
                <a:cs typeface="微软雅黑" panose="020B0503020204020204" charset="-122"/>
              </a:rPr>
              <a:t>（</a:t>
            </a:r>
            <a:r>
              <a:rPr lang="en-US" altLang="zh-CN" sz="2400" smtClean="0">
                <a:latin typeface="微软雅黑" panose="020B0503020204020204" charset="-122"/>
                <a:ea typeface="微软雅黑" panose="020B0503020204020204" charset="-122"/>
                <a:cs typeface="微软雅黑" panose="020B0503020204020204" charset="-122"/>
              </a:rPr>
              <a:t>user-id, pwd</a:t>
            </a:r>
            <a:r>
              <a:rPr lang="zh-CN" altLang="en-US" sz="2400" smtClean="0">
                <a:latin typeface="微软雅黑" panose="020B0503020204020204" charset="-122"/>
                <a:ea typeface="微软雅黑" panose="020B0503020204020204" charset="-122"/>
                <a:cs typeface="微软雅黑" panose="020B0503020204020204" charset="-122"/>
              </a:rPr>
              <a:t>）</a:t>
            </a:r>
            <a:r>
              <a:rPr lang="zh-CN" altLang="zh-CN" sz="2400" smtClean="0">
                <a:latin typeface="微软雅黑" panose="020B0503020204020204" charset="-122"/>
                <a:ea typeface="微软雅黑" panose="020B0503020204020204" charset="-122"/>
                <a:cs typeface="微软雅黑" panose="020B0503020204020204" charset="-122"/>
              </a:rPr>
              <a:t>对应表来判断是否通过认证</a:t>
            </a:r>
            <a:endParaRPr lang="zh-CN" altLang="zh-CN" sz="2400" smtClean="0">
              <a:latin typeface="微软雅黑" panose="020B0503020204020204" charset="-122"/>
              <a:ea typeface="微软雅黑" panose="020B0503020204020204" charset="-122"/>
              <a:cs typeface="微软雅黑" panose="020B0503020204020204" charset="-122"/>
            </a:endParaRPr>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1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16.2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最简单的口令鉴别</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内容占位符 2"/>
          <p:cNvSpPr>
            <a:spLocks noGrp="1"/>
          </p:cNvSpPr>
          <p:nvPr>
            <p:ph idx="1"/>
          </p:nvPr>
        </p:nvSpPr>
        <p:spPr>
          <a:xfrm>
            <a:off x="1465580" y="1270000"/>
            <a:ext cx="9036685" cy="4554855"/>
          </a:xfrm>
        </p:spPr>
        <p:txBody>
          <a:bodyPr>
            <a:normAutofit fontScale="85000" lnSpcReduction="10000"/>
          </a:bodyPr>
          <a:lstStyle/>
          <a:p>
            <a:pPr eaLnBrk="1" hangingPunct="1">
              <a:lnSpc>
                <a:spcPct val="130000"/>
              </a:lnSpc>
            </a:pPr>
            <a:r>
              <a:rPr lang="zh-CN" altLang="en-US" sz="2250" dirty="0"/>
              <a:t>针对口令本身的攻击</a:t>
            </a:r>
            <a:endParaRPr lang="zh-CN" altLang="en-US" sz="2250" dirty="0"/>
          </a:p>
          <a:p>
            <a:pPr lvl="1" eaLnBrk="1" hangingPunct="1">
              <a:lnSpc>
                <a:spcPct val="130000"/>
              </a:lnSpc>
            </a:pPr>
            <a:r>
              <a:rPr lang="zh-CN" altLang="en-US" dirty="0" smtClean="0"/>
              <a:t>参与方选择口令的熵值较低</a:t>
            </a:r>
            <a:endParaRPr lang="en-US" altLang="zh-CN" dirty="0" smtClean="0"/>
          </a:p>
          <a:p>
            <a:pPr lvl="1" eaLnBrk="1" hangingPunct="1">
              <a:lnSpc>
                <a:spcPct val="130000"/>
              </a:lnSpc>
            </a:pPr>
            <a:r>
              <a:rPr lang="zh-CN" altLang="en-US" dirty="0" smtClean="0"/>
              <a:t>敌手在有限时间内可以穷尽，猜测、破解</a:t>
            </a:r>
            <a:endParaRPr lang="en-US" altLang="zh-CN" dirty="0" smtClean="0"/>
          </a:p>
          <a:p>
            <a:pPr lvl="2">
              <a:lnSpc>
                <a:spcPct val="130000"/>
              </a:lnSpc>
            </a:pPr>
            <a:r>
              <a:rPr lang="zh-CN" altLang="en-US" dirty="0" smtClean="0"/>
              <a:t>实际应用中，依赖于服务器的次数</a:t>
            </a:r>
            <a:r>
              <a:rPr lang="en-US" altLang="zh-CN" dirty="0" smtClean="0"/>
              <a:t>/</a:t>
            </a:r>
            <a:r>
              <a:rPr lang="zh-CN" altLang="en-US" dirty="0" smtClean="0"/>
              <a:t>频数控制</a:t>
            </a:r>
            <a:endParaRPr lang="zh-CN" altLang="en-US" dirty="0" smtClean="0"/>
          </a:p>
          <a:p>
            <a:pPr eaLnBrk="1" hangingPunct="1">
              <a:lnSpc>
                <a:spcPct val="130000"/>
              </a:lnSpc>
            </a:pPr>
            <a:r>
              <a:rPr lang="zh-CN" altLang="en-US" sz="2250" dirty="0"/>
              <a:t>针对协议过程中传输内容的攻击</a:t>
            </a:r>
            <a:endParaRPr lang="zh-CN" altLang="en-US" sz="2250" dirty="0"/>
          </a:p>
          <a:p>
            <a:pPr lvl="1" eaLnBrk="1" hangingPunct="1">
              <a:lnSpc>
                <a:spcPct val="130000"/>
              </a:lnSpc>
            </a:pPr>
            <a:r>
              <a:rPr lang="zh-CN" altLang="en-US" dirty="0" smtClean="0"/>
              <a:t>口令明文传输</a:t>
            </a:r>
            <a:endParaRPr lang="en-US" altLang="zh-CN" dirty="0" smtClean="0"/>
          </a:p>
          <a:p>
            <a:pPr lvl="1" eaLnBrk="1" hangingPunct="1">
              <a:lnSpc>
                <a:spcPct val="130000"/>
              </a:lnSpc>
            </a:pPr>
            <a:r>
              <a:rPr lang="zh-CN" altLang="en-US" dirty="0" smtClean="0"/>
              <a:t>重放攻击</a:t>
            </a:r>
            <a:endParaRPr lang="zh-CN" altLang="en-US" dirty="0" smtClean="0"/>
          </a:p>
          <a:p>
            <a:pPr eaLnBrk="1" hangingPunct="1">
              <a:lnSpc>
                <a:spcPct val="130000"/>
              </a:lnSpc>
            </a:pPr>
            <a:r>
              <a:rPr lang="zh-CN" altLang="en-US" sz="2250" dirty="0"/>
              <a:t>针对服务器端存储口令、用户名对信息的攻击</a:t>
            </a:r>
            <a:endParaRPr lang="en-US" altLang="zh-CN" sz="2250" dirty="0"/>
          </a:p>
          <a:p>
            <a:pPr lvl="1" eaLnBrk="1" hangingPunct="1">
              <a:lnSpc>
                <a:spcPct val="130000"/>
              </a:lnSpc>
            </a:pPr>
            <a:r>
              <a:rPr lang="zh-CN" altLang="en-US" dirty="0" smtClean="0"/>
              <a:t>管理员很容易获得用户的口令</a:t>
            </a:r>
            <a:endParaRPr lang="en-US" altLang="zh-CN" dirty="0" smtClean="0"/>
          </a:p>
          <a:p>
            <a:pPr lvl="1" eaLnBrk="1" hangingPunct="1">
              <a:lnSpc>
                <a:spcPct val="130000"/>
              </a:lnSpc>
            </a:pPr>
            <a:r>
              <a:rPr lang="zh-CN" altLang="en-US" dirty="0" smtClean="0"/>
              <a:t>黑客攻破服务器，后果不堪设想</a:t>
            </a:r>
            <a:endParaRPr lang="en-US" altLang="zh-CN" dirty="0" smtClean="0"/>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1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16.2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简单的口令鉴别的问题</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3" name="Picture 4"/>
          <p:cNvPicPr>
            <a:picLocks noChangeAspect="1" noChangeArrowheads="1"/>
          </p:cNvPicPr>
          <p:nvPr/>
        </p:nvPicPr>
        <p:blipFill>
          <a:blip r:embed="rId1" cstate="print"/>
          <a:srcRect/>
          <a:stretch>
            <a:fillRect/>
          </a:stretch>
        </p:blipFill>
        <p:spPr bwMode="auto">
          <a:xfrm>
            <a:off x="2886897" y="1333215"/>
            <a:ext cx="6419432" cy="4335123"/>
          </a:xfrm>
          <a:prstGeom prst="rect">
            <a:avLst/>
          </a:prstGeom>
          <a:noFill/>
          <a:ln w="9525">
            <a:noFill/>
            <a:miter lim="800000"/>
            <a:headEnd/>
            <a:tailEnd/>
          </a:ln>
        </p:spPr>
      </p:pic>
      <p:pic>
        <p:nvPicPr>
          <p:cNvPr id="150" name="picture 150"/>
          <p:cNvPicPr>
            <a:picLocks noChangeAspect="1"/>
          </p:cNvPicPr>
          <p:nvPr/>
        </p:nvPicPr>
        <p:blipFill>
          <a:blip r:embed="rId2"/>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1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16.2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口令鉴别的经典解决方案</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l" rtl="0" eaLnBrk="0">
              <a:lnSpc>
                <a:spcPct val="106000"/>
              </a:lnSpc>
            </a:pPr>
            <a:r>
              <a:rPr 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第</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16</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章</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  </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身份认证</a:t>
            </a:r>
            <a:endPar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endParaRPr>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
        <p:nvSpPr>
          <p:cNvPr id="2" name="文本框 1"/>
          <p:cNvSpPr txBox="1"/>
          <p:nvPr/>
        </p:nvSpPr>
        <p:spPr>
          <a:xfrm>
            <a:off x="2678430" y="1671320"/>
            <a:ext cx="6465570" cy="3412490"/>
          </a:xfrm>
          <a:prstGeom prst="rect">
            <a:avLst/>
          </a:prstGeom>
          <a:noFill/>
        </p:spPr>
        <p:txBody>
          <a:bodyPr wrap="square" rtlCol="0" anchor="t">
            <a:spAutoFit/>
          </a:bodyPr>
          <a:p>
            <a:pPr marL="571500" indent="-571500" eaLnBrk="1" hangingPunct="1">
              <a:lnSpc>
                <a:spcPct val="120000"/>
              </a:lnSpc>
              <a:buSzPct val="80000"/>
              <a:buFont typeface="Wingdings" panose="05000000000000000000" pitchFamily="2" charset="2"/>
              <a:buChar char="n"/>
            </a:pPr>
            <a:r>
              <a:rPr lang="zh-CN" altLang="en-US" sz="3600" b="1" dirty="0">
                <a:latin typeface="Times New Roman" panose="02020603050405020304" pitchFamily="18" charset="0"/>
                <a:cs typeface="Times New Roman" panose="02020603050405020304" pitchFamily="18" charset="0"/>
                <a:sym typeface="+mn-ea"/>
              </a:rPr>
              <a:t> 身份认证概述</a:t>
            </a:r>
            <a:endParaRPr lang="en-US" altLang="zh-CN" sz="3600" b="1" dirty="0">
              <a:latin typeface="Times New Roman" panose="02020603050405020304" pitchFamily="18" charset="0"/>
              <a:cs typeface="Times New Roman" panose="02020603050405020304" pitchFamily="18" charset="0"/>
            </a:endParaRPr>
          </a:p>
          <a:p>
            <a:pPr marL="571500" indent="-571500" eaLnBrk="1" hangingPunct="1">
              <a:lnSpc>
                <a:spcPct val="120000"/>
              </a:lnSpc>
              <a:buSzPct val="80000"/>
              <a:buFont typeface="Wingdings" panose="05000000000000000000" pitchFamily="2" charset="2"/>
              <a:buChar char="n"/>
            </a:pPr>
            <a:r>
              <a:rPr lang="en-US" altLang="zh-CN" sz="3600" b="1" dirty="0">
                <a:latin typeface="Times New Roman" panose="02020603050405020304" pitchFamily="18" charset="0"/>
                <a:cs typeface="Times New Roman" panose="02020603050405020304" pitchFamily="18" charset="0"/>
                <a:sym typeface="+mn-ea"/>
              </a:rPr>
              <a:t> </a:t>
            </a:r>
            <a:r>
              <a:rPr lang="zh-CN" altLang="en-US" sz="3600" b="1" dirty="0">
                <a:latin typeface="Times New Roman" panose="02020603050405020304" pitchFamily="18" charset="0"/>
                <a:cs typeface="Times New Roman" panose="02020603050405020304" pitchFamily="18" charset="0"/>
                <a:sym typeface="+mn-ea"/>
              </a:rPr>
              <a:t>基于口令的身份鉴别</a:t>
            </a:r>
            <a:endParaRPr lang="zh-CN" altLang="en-US" sz="3600" b="1" dirty="0">
              <a:latin typeface="Times New Roman" panose="02020603050405020304" pitchFamily="18" charset="0"/>
              <a:cs typeface="Times New Roman" panose="02020603050405020304" pitchFamily="18" charset="0"/>
              <a:sym typeface="+mn-ea"/>
            </a:endParaRPr>
          </a:p>
          <a:p>
            <a:pPr marL="571500" indent="-571500" eaLnBrk="1" hangingPunct="1">
              <a:lnSpc>
                <a:spcPct val="120000"/>
              </a:lnSpc>
              <a:buSzPct val="80000"/>
              <a:buFont typeface="Wingdings" panose="05000000000000000000" pitchFamily="2" charset="2"/>
              <a:buChar char="n"/>
            </a:pPr>
            <a:r>
              <a:rPr lang="en-US" altLang="zh-CN" sz="3600" b="1" dirty="0">
                <a:latin typeface="Times New Roman" panose="02020603050405020304" pitchFamily="18" charset="0"/>
                <a:cs typeface="Times New Roman" panose="02020603050405020304" pitchFamily="18" charset="0"/>
                <a:sym typeface="+mn-ea"/>
              </a:rPr>
              <a:t> </a:t>
            </a:r>
            <a:r>
              <a:rPr lang="zh-CN" altLang="en-US" sz="3600" b="1" dirty="0">
                <a:latin typeface="Times New Roman" panose="02020603050405020304" pitchFamily="18" charset="0"/>
                <a:cs typeface="Times New Roman" panose="02020603050405020304" pitchFamily="18" charset="0"/>
                <a:sym typeface="+mn-ea"/>
              </a:rPr>
              <a:t>多因素身份鉴别</a:t>
            </a:r>
            <a:endParaRPr lang="en-US" altLang="zh-CN" sz="3600" b="1" dirty="0">
              <a:latin typeface="Times New Roman" panose="02020603050405020304" pitchFamily="18" charset="0"/>
              <a:cs typeface="Times New Roman" panose="02020603050405020304" pitchFamily="18" charset="0"/>
            </a:endParaRPr>
          </a:p>
          <a:p>
            <a:pPr marL="571500" indent="-571500" eaLnBrk="1" hangingPunct="1">
              <a:lnSpc>
                <a:spcPct val="120000"/>
              </a:lnSpc>
              <a:buSzPct val="80000"/>
              <a:buFont typeface="Wingdings" panose="05000000000000000000" pitchFamily="2" charset="2"/>
              <a:buChar char="n"/>
            </a:pPr>
            <a:r>
              <a:rPr lang="en-US" altLang="zh-CN" sz="3600" b="1" dirty="0">
                <a:latin typeface="Times New Roman" panose="02020603050405020304" pitchFamily="18" charset="0"/>
                <a:cs typeface="Times New Roman" panose="02020603050405020304" pitchFamily="18" charset="0"/>
                <a:sym typeface="+mn-ea"/>
              </a:rPr>
              <a:t> Kerberos</a:t>
            </a:r>
            <a:r>
              <a:rPr lang="zh-CN" altLang="en-US" sz="3600" b="1" dirty="0">
                <a:latin typeface="Times New Roman" panose="02020603050405020304" pitchFamily="18" charset="0"/>
                <a:cs typeface="Times New Roman" panose="02020603050405020304" pitchFamily="18" charset="0"/>
                <a:sym typeface="+mn-ea"/>
              </a:rPr>
              <a:t>协议</a:t>
            </a:r>
            <a:endParaRPr lang="en-US" altLang="zh-CN" sz="3600" b="1" dirty="0">
              <a:latin typeface="Times New Roman" panose="02020603050405020304" pitchFamily="18" charset="0"/>
              <a:cs typeface="Times New Roman" panose="02020603050405020304" pitchFamily="18" charset="0"/>
            </a:endParaRPr>
          </a:p>
          <a:p>
            <a:pPr marL="571500" indent="-571500" eaLnBrk="1" hangingPunct="1">
              <a:lnSpc>
                <a:spcPct val="120000"/>
              </a:lnSpc>
              <a:buSzPct val="80000"/>
              <a:buFont typeface="Wingdings" panose="05000000000000000000" pitchFamily="2" charset="2"/>
              <a:buChar char="n"/>
            </a:pPr>
            <a:r>
              <a:rPr lang="en-US" altLang="zh-CN" sz="3600" b="1" dirty="0">
                <a:latin typeface="Times New Roman" panose="02020603050405020304" pitchFamily="18" charset="0"/>
                <a:cs typeface="Times New Roman" panose="02020603050405020304" pitchFamily="18" charset="0"/>
                <a:sym typeface="+mn-ea"/>
              </a:rPr>
              <a:t> </a:t>
            </a:r>
            <a:r>
              <a:rPr lang="zh-CN" altLang="en-US" sz="3600" b="1" dirty="0">
                <a:latin typeface="Times New Roman" panose="02020603050405020304" pitchFamily="18" charset="0"/>
                <a:cs typeface="Times New Roman" panose="02020603050405020304" pitchFamily="18" charset="0"/>
                <a:sym typeface="+mn-ea"/>
              </a:rPr>
              <a:t>联合身份管理</a:t>
            </a:r>
            <a:endParaRPr lang="zh-CN" altLang="en-US" sz="3600" dirty="0">
              <a:latin typeface="Calibri" panose="020F0502020204030204" charset="0"/>
              <a:ea typeface="微软雅黑" panose="020B0503020204020204" charset="-122"/>
              <a:cs typeface="仿宋" panose="02010609060101010101" charset="-122"/>
              <a:sym typeface="+mn-ea"/>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65580" y="1402080"/>
            <a:ext cx="10515600" cy="4351338"/>
          </a:xfrm>
        </p:spPr>
        <p:txBody>
          <a:bodyPr/>
          <a:lstStyle/>
          <a:p>
            <a:r>
              <a:rPr lang="en-US" altLang="zh-CN" dirty="0" smtClean="0"/>
              <a:t>What you know</a:t>
            </a:r>
            <a:endParaRPr lang="en-US" altLang="zh-CN" dirty="0" smtClean="0"/>
          </a:p>
          <a:p>
            <a:r>
              <a:rPr lang="en-US" altLang="zh-CN" dirty="0" smtClean="0"/>
              <a:t>What you have</a:t>
            </a:r>
            <a:endParaRPr lang="en-US" altLang="zh-CN" dirty="0" smtClean="0"/>
          </a:p>
          <a:p>
            <a:r>
              <a:rPr lang="en-US" altLang="zh-CN" dirty="0" smtClean="0"/>
              <a:t>What you are</a:t>
            </a:r>
            <a:endParaRPr lang="en-US" altLang="zh-CN" dirty="0" smtClean="0"/>
          </a:p>
          <a:p>
            <a:r>
              <a:rPr lang="en-US" altLang="zh-CN" dirty="0" smtClean="0"/>
              <a:t>Mixed</a:t>
            </a:r>
            <a:endParaRPr lang="en-US" altLang="zh-CN" dirty="0" smtClean="0"/>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1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16.3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身份鉴别技术分类</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65580" y="1402080"/>
            <a:ext cx="10515600" cy="4351338"/>
          </a:xfrm>
        </p:spPr>
        <p:txBody>
          <a:bodyPr>
            <a:normAutofit/>
          </a:bodyPr>
          <a:lstStyle/>
          <a:p>
            <a:r>
              <a:rPr lang="en-US" altLang="zh-CN" dirty="0" smtClean="0">
                <a:solidFill>
                  <a:srgbClr val="0070C0"/>
                </a:solidFill>
              </a:rPr>
              <a:t>What you know</a:t>
            </a:r>
            <a:endParaRPr lang="en-US" altLang="zh-CN" dirty="0" smtClean="0">
              <a:solidFill>
                <a:srgbClr val="0070C0"/>
              </a:solidFill>
            </a:endParaRPr>
          </a:p>
          <a:p>
            <a:pPr lvl="1"/>
            <a:r>
              <a:rPr lang="zh-CN" altLang="en-US" dirty="0" smtClean="0">
                <a:solidFill>
                  <a:srgbClr val="0070C0"/>
                </a:solidFill>
              </a:rPr>
              <a:t>口令，字符型口令、其它类型口令</a:t>
            </a:r>
            <a:endParaRPr lang="en-US" altLang="zh-CN" dirty="0" smtClean="0">
              <a:solidFill>
                <a:srgbClr val="0070C0"/>
              </a:solidFill>
            </a:endParaRPr>
          </a:p>
          <a:p>
            <a:r>
              <a:rPr lang="en-US" altLang="zh-CN" dirty="0" smtClean="0"/>
              <a:t>What you have</a:t>
            </a:r>
            <a:endParaRPr lang="en-US" altLang="zh-CN" dirty="0" smtClean="0"/>
          </a:p>
          <a:p>
            <a:r>
              <a:rPr lang="en-US" altLang="zh-CN" dirty="0" smtClean="0"/>
              <a:t>What you are</a:t>
            </a:r>
            <a:endParaRPr lang="en-US" altLang="zh-CN" dirty="0" smtClean="0"/>
          </a:p>
          <a:p>
            <a:r>
              <a:rPr lang="en-US" altLang="zh-CN" dirty="0" smtClean="0"/>
              <a:t>Mixed</a:t>
            </a:r>
            <a:endParaRPr lang="en-US" altLang="zh-CN" dirty="0" smtClean="0"/>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p>
            <a:pPr algn="ctr"/>
            <a:endParaRPr lang="zh-CN" altLang="en-US"/>
          </a:p>
        </p:txBody>
      </p:sp>
      <p:sp>
        <p:nvSpPr>
          <p:cNvPr id="1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16.3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身份鉴别技术分类</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65580" y="1336675"/>
            <a:ext cx="10515600" cy="4351338"/>
          </a:xfrm>
        </p:spPr>
        <p:txBody>
          <a:bodyPr/>
          <a:lstStyle/>
          <a:p>
            <a:r>
              <a:rPr lang="zh-CN" altLang="en-US" b="1" dirty="0"/>
              <a:t>目标：</a:t>
            </a:r>
            <a:endParaRPr lang="en-US" altLang="zh-CN" b="1" dirty="0"/>
          </a:p>
          <a:p>
            <a:pPr lvl="1"/>
            <a:r>
              <a:rPr lang="zh-CN" altLang="en-US" b="1" dirty="0"/>
              <a:t>更容易记忆，当熵值相同时</a:t>
            </a:r>
            <a:endParaRPr lang="zh-CN" altLang="en-US" b="1" dirty="0"/>
          </a:p>
          <a:p>
            <a:r>
              <a:rPr lang="en-US" altLang="zh-CN" dirty="0" smtClean="0"/>
              <a:t>Android 9</a:t>
            </a:r>
            <a:r>
              <a:rPr lang="zh-CN" altLang="en-US" dirty="0" smtClean="0"/>
              <a:t>点连线</a:t>
            </a:r>
            <a:endParaRPr lang="en-US" altLang="zh-CN" dirty="0" smtClean="0"/>
          </a:p>
        </p:txBody>
      </p:sp>
      <p:pic>
        <p:nvPicPr>
          <p:cNvPr id="4098" name="Picture 2" descr="http://www.zhuoji.com/jiaocheng/UploadPic/2012-8/201281510211258696.jp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695565" y="1427480"/>
            <a:ext cx="2149475" cy="3844290"/>
          </a:xfrm>
          <a:prstGeom prst="rect">
            <a:avLst/>
          </a:prstGeom>
          <a:noFill/>
          <a:extLst>
            <a:ext uri="{909E8E84-426E-40DD-AFC4-6F175D3DCCD1}">
              <a14:hiddenFill xmlns:a14="http://schemas.microsoft.com/office/drawing/2010/main">
                <a:solidFill>
                  <a:srgbClr val="FFFFFF"/>
                </a:solidFill>
              </a14:hiddenFill>
            </a:ext>
          </a:extLst>
        </p:spPr>
      </p:pic>
      <p:pic>
        <p:nvPicPr>
          <p:cNvPr id="150" name="picture 150"/>
          <p:cNvPicPr>
            <a:picLocks noChangeAspect="1"/>
          </p:cNvPicPr>
          <p:nvPr/>
        </p:nvPicPr>
        <p:blipFill>
          <a:blip r:embed="rId2"/>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1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16.3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非字符型口令</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内容占位符 2"/>
          <p:cNvSpPr>
            <a:spLocks noGrp="1"/>
          </p:cNvSpPr>
          <p:nvPr>
            <p:ph idx="1"/>
          </p:nvPr>
        </p:nvSpPr>
        <p:spPr>
          <a:xfrm>
            <a:off x="1628140" y="1215390"/>
            <a:ext cx="8229600" cy="5141168"/>
          </a:xfrm>
        </p:spPr>
        <p:txBody>
          <a:bodyPr/>
          <a:lstStyle/>
          <a:p>
            <a:pPr eaLnBrk="1" hangingPunct="1"/>
            <a:r>
              <a:rPr lang="en-US" altLang="zh-CN" dirty="0" smtClean="0"/>
              <a:t>Require users to choose a number of images making up their authentication key from a challenge set</a:t>
            </a:r>
            <a:endParaRPr lang="en-US" altLang="zh-CN" dirty="0" smtClean="0"/>
          </a:p>
          <a:p>
            <a:pPr eaLnBrk="1" hangingPunct="1"/>
            <a:r>
              <a:rPr lang="zh-CN" altLang="en-US" dirty="0" smtClean="0"/>
              <a:t>是否更容易记忆？</a:t>
            </a:r>
            <a:endParaRPr lang="en-US" altLang="zh-CN" dirty="0" smtClean="0"/>
          </a:p>
          <a:p>
            <a:pPr eaLnBrk="1" hangingPunct="1"/>
            <a:endParaRPr lang="en-US" altLang="zh-CN" dirty="0" smtClean="0"/>
          </a:p>
          <a:p>
            <a:pPr eaLnBrk="1" hangingPunct="1"/>
            <a:endParaRPr lang="en-US" altLang="zh-CN" dirty="0" smtClean="0"/>
          </a:p>
          <a:p>
            <a:pPr eaLnBrk="1" hangingPunct="1"/>
            <a:endParaRPr lang="en-US" altLang="zh-CN" dirty="0" smtClean="0"/>
          </a:p>
          <a:p>
            <a:pPr eaLnBrk="1" hangingPunct="1"/>
            <a:endParaRPr lang="en-US" altLang="zh-CN" dirty="0" smtClean="0"/>
          </a:p>
          <a:p>
            <a:pPr eaLnBrk="1" hangingPunct="1"/>
            <a:endParaRPr lang="en-US" altLang="zh-CN" dirty="0" smtClean="0"/>
          </a:p>
        </p:txBody>
      </p:sp>
      <p:sp>
        <p:nvSpPr>
          <p:cNvPr id="6" name="灯片编号占位符 3"/>
          <p:cNvSpPr>
            <a:spLocks noGrp="1"/>
          </p:cNvSpPr>
          <p:nvPr>
            <p:ph type="sldNum" sz="quarter" idx="12"/>
          </p:nvPr>
        </p:nvSpPr>
        <p:spPr/>
        <p:txBody>
          <a:bodyPr/>
          <a:lstStyle/>
          <a:p>
            <a:pPr>
              <a:defRPr/>
            </a:pPr>
            <a:fld id="{2BCDBA0C-1A88-44E4-9B9B-9963EB597DCC}" type="slidenum">
              <a:rPr lang="zh-CN" altLang="en-US"/>
            </a:fld>
            <a:endParaRPr lang="zh-CN" altLang="en-US"/>
          </a:p>
        </p:txBody>
      </p:sp>
      <p:pic>
        <p:nvPicPr>
          <p:cNvPr id="66563" name="Picture 2"/>
          <p:cNvPicPr>
            <a:picLocks noChangeAspect="1" noChangeArrowheads="1"/>
          </p:cNvPicPr>
          <p:nvPr/>
        </p:nvPicPr>
        <p:blipFill>
          <a:blip r:embed="rId1" cstate="print"/>
          <a:srcRect/>
          <a:stretch>
            <a:fillRect/>
          </a:stretch>
        </p:blipFill>
        <p:spPr bwMode="auto">
          <a:xfrm>
            <a:off x="2429510" y="2891298"/>
            <a:ext cx="2586038" cy="2922588"/>
          </a:xfrm>
          <a:prstGeom prst="rect">
            <a:avLst/>
          </a:prstGeom>
          <a:noFill/>
          <a:ln w="9525">
            <a:noFill/>
            <a:miter lim="800000"/>
            <a:headEnd/>
            <a:tailEnd/>
          </a:ln>
        </p:spPr>
      </p:pic>
      <p:pic>
        <p:nvPicPr>
          <p:cNvPr id="66566" name="Picture 2"/>
          <p:cNvPicPr>
            <a:picLocks noChangeAspect="1" noChangeArrowheads="1"/>
          </p:cNvPicPr>
          <p:nvPr/>
        </p:nvPicPr>
        <p:blipFill>
          <a:blip r:embed="rId2" cstate="print"/>
          <a:srcRect/>
          <a:stretch>
            <a:fillRect/>
          </a:stretch>
        </p:blipFill>
        <p:spPr bwMode="auto">
          <a:xfrm>
            <a:off x="5845810" y="2891298"/>
            <a:ext cx="3429000" cy="2714625"/>
          </a:xfrm>
          <a:prstGeom prst="rect">
            <a:avLst/>
          </a:prstGeom>
          <a:noFill/>
          <a:ln w="9525">
            <a:noFill/>
            <a:miter lim="800000"/>
            <a:headEnd/>
            <a:tailEnd/>
          </a:ln>
        </p:spPr>
      </p:pic>
      <p:pic>
        <p:nvPicPr>
          <p:cNvPr id="150" name="picture 150"/>
          <p:cNvPicPr>
            <a:picLocks noChangeAspect="1"/>
          </p:cNvPicPr>
          <p:nvPr/>
        </p:nvPicPr>
        <p:blipFill>
          <a:blip r:embed="rId3"/>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1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16.3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基于图片选择的口令认证</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3"/>
          <p:cNvSpPr>
            <a:spLocks noGrp="1"/>
          </p:cNvSpPr>
          <p:nvPr>
            <p:ph type="sldNum" sz="quarter" idx="12"/>
          </p:nvPr>
        </p:nvSpPr>
        <p:spPr/>
        <p:txBody>
          <a:bodyPr/>
          <a:lstStyle/>
          <a:p>
            <a:pPr>
              <a:defRPr/>
            </a:pPr>
            <a:fld id="{F53A8989-3F87-4BA6-8890-96C6E6FCDA48}" type="slidenum">
              <a:rPr lang="zh-CN" altLang="en-US"/>
            </a:fld>
            <a:endParaRPr lang="zh-CN" altLang="en-US"/>
          </a:p>
        </p:txBody>
      </p:sp>
      <p:sp>
        <p:nvSpPr>
          <p:cNvPr id="65539" name="内容占位符 2"/>
          <p:cNvSpPr txBox="1"/>
          <p:nvPr/>
        </p:nvSpPr>
        <p:spPr bwMode="auto">
          <a:xfrm>
            <a:off x="1465580" y="1263015"/>
            <a:ext cx="8229600" cy="4686300"/>
          </a:xfrm>
          <a:prstGeom prst="rect">
            <a:avLst/>
          </a:prstGeom>
          <a:noFill/>
          <a:ln w="9525">
            <a:noFill/>
            <a:miter lim="800000"/>
          </a:ln>
        </p:spPr>
        <p:txBody>
          <a:bodyPr/>
          <a:lstStyle/>
          <a:p>
            <a:pPr marL="342900" indent="-342900">
              <a:spcBef>
                <a:spcPct val="20000"/>
              </a:spcBef>
              <a:buFont typeface="Arial" panose="020B0604020202020204" pitchFamily="34" charset="0"/>
              <a:buChar char="•"/>
            </a:pPr>
            <a:endParaRPr lang="en-US" altLang="zh-CN" sz="3200" dirty="0" smtClean="0">
              <a:latin typeface="Calibri" panose="020F0502020204030204" charset="0"/>
            </a:endParaRPr>
          </a:p>
          <a:p>
            <a:pPr marL="342900" indent="-342900">
              <a:spcBef>
                <a:spcPct val="20000"/>
              </a:spcBef>
              <a:buFont typeface="Arial" panose="020B0604020202020204" pitchFamily="34" charset="0"/>
              <a:buChar char="•"/>
            </a:pPr>
            <a:r>
              <a:rPr lang="zh-CN" altLang="en-US" sz="3200" dirty="0" smtClean="0">
                <a:latin typeface="Calibri" panose="020F0502020204030204" charset="0"/>
              </a:rPr>
              <a:t>通过</a:t>
            </a:r>
            <a:r>
              <a:rPr lang="zh-CN" altLang="en-US" sz="3200" dirty="0">
                <a:latin typeface="Calibri" panose="020F0502020204030204" charset="0"/>
              </a:rPr>
              <a:t>连续点击图片的若干个位置通过认证</a:t>
            </a:r>
            <a:endParaRPr lang="zh-CN" altLang="en-US" sz="3200" dirty="0">
              <a:latin typeface="Calibri" panose="020F0502020204030204" charset="0"/>
            </a:endParaRPr>
          </a:p>
        </p:txBody>
      </p:sp>
      <p:pic>
        <p:nvPicPr>
          <p:cNvPr id="65541" name="Picture 2" descr="C:\Documents and Settings\wangzhan\桌面\Graphical Password\我的文章\related work\click-based original.jpg"/>
          <p:cNvPicPr>
            <a:picLocks noChangeAspect="1" noChangeArrowheads="1"/>
          </p:cNvPicPr>
          <p:nvPr/>
        </p:nvPicPr>
        <p:blipFill>
          <a:blip r:embed="rId1" cstate="print"/>
          <a:srcRect/>
          <a:stretch>
            <a:fillRect/>
          </a:stretch>
        </p:blipFill>
        <p:spPr bwMode="auto">
          <a:xfrm>
            <a:off x="1537375" y="2631204"/>
            <a:ext cx="4070350" cy="2286000"/>
          </a:xfrm>
          <a:prstGeom prst="rect">
            <a:avLst/>
          </a:prstGeom>
          <a:noFill/>
          <a:ln w="9525">
            <a:noFill/>
            <a:miter lim="800000"/>
            <a:headEnd/>
            <a:tailEnd/>
          </a:ln>
        </p:spPr>
      </p:pic>
      <p:pic>
        <p:nvPicPr>
          <p:cNvPr id="65542" name="Picture 2"/>
          <p:cNvPicPr>
            <a:picLocks noChangeAspect="1" noChangeArrowheads="1"/>
          </p:cNvPicPr>
          <p:nvPr/>
        </p:nvPicPr>
        <p:blipFill>
          <a:blip r:embed="rId2" cstate="print"/>
          <a:srcRect/>
          <a:stretch>
            <a:fillRect/>
          </a:stretch>
        </p:blipFill>
        <p:spPr bwMode="auto">
          <a:xfrm>
            <a:off x="6166268" y="3297549"/>
            <a:ext cx="4276725" cy="2376488"/>
          </a:xfrm>
          <a:prstGeom prst="rect">
            <a:avLst/>
          </a:prstGeom>
          <a:noFill/>
          <a:ln w="9525">
            <a:noFill/>
            <a:miter lim="800000"/>
            <a:headEnd/>
            <a:tailEnd/>
          </a:ln>
        </p:spPr>
      </p:pic>
      <p:sp>
        <p:nvSpPr>
          <p:cNvPr id="65543" name="TextBox 8"/>
          <p:cNvSpPr txBox="1">
            <a:spLocks noChangeArrowheads="1"/>
          </p:cNvSpPr>
          <p:nvPr/>
        </p:nvSpPr>
        <p:spPr bwMode="auto">
          <a:xfrm>
            <a:off x="6166096" y="5776526"/>
            <a:ext cx="4572000" cy="368300"/>
          </a:xfrm>
          <a:prstGeom prst="rect">
            <a:avLst/>
          </a:prstGeom>
          <a:noFill/>
          <a:ln w="9525">
            <a:noFill/>
            <a:miter lim="800000"/>
          </a:ln>
        </p:spPr>
        <p:txBody>
          <a:bodyPr>
            <a:spAutoFit/>
          </a:bodyPr>
          <a:lstStyle/>
          <a:p>
            <a:r>
              <a:rPr lang="en-US" altLang="zh-CN" dirty="0">
                <a:latin typeface="Calibri" panose="020F0502020204030204" charset="0"/>
              </a:rPr>
              <a:t>Positions chosen by 157090 people</a:t>
            </a:r>
            <a:endParaRPr lang="zh-CN" altLang="en-US" dirty="0">
              <a:latin typeface="Calibri" panose="020F0502020204030204" charset="0"/>
            </a:endParaRPr>
          </a:p>
        </p:txBody>
      </p:sp>
      <p:sp>
        <p:nvSpPr>
          <p:cNvPr id="65544" name="TextBox 9"/>
          <p:cNvSpPr txBox="1">
            <a:spLocks noChangeArrowheads="1"/>
          </p:cNvSpPr>
          <p:nvPr/>
        </p:nvSpPr>
        <p:spPr bwMode="auto">
          <a:xfrm>
            <a:off x="6381750" y="2928938"/>
            <a:ext cx="2571750" cy="368300"/>
          </a:xfrm>
          <a:prstGeom prst="rect">
            <a:avLst/>
          </a:prstGeom>
          <a:noFill/>
          <a:ln w="9525">
            <a:noFill/>
            <a:miter lim="800000"/>
          </a:ln>
        </p:spPr>
        <p:txBody>
          <a:bodyPr>
            <a:spAutoFit/>
          </a:bodyPr>
          <a:lstStyle/>
          <a:p>
            <a:endParaRPr lang="zh-CN" altLang="en-US">
              <a:latin typeface="Calibri" panose="020F0502020204030204" charset="0"/>
            </a:endParaRPr>
          </a:p>
        </p:txBody>
      </p:sp>
      <p:sp>
        <p:nvSpPr>
          <p:cNvPr id="65545" name="矩形 12"/>
          <p:cNvSpPr>
            <a:spLocks noChangeArrowheads="1"/>
          </p:cNvSpPr>
          <p:nvPr/>
        </p:nvSpPr>
        <p:spPr bwMode="auto">
          <a:xfrm>
            <a:off x="5942335" y="2631123"/>
            <a:ext cx="4795520" cy="583565"/>
          </a:xfrm>
          <a:prstGeom prst="rect">
            <a:avLst/>
          </a:prstGeom>
          <a:noFill/>
          <a:ln w="9525">
            <a:noFill/>
            <a:miter lim="800000"/>
          </a:ln>
        </p:spPr>
        <p:txBody>
          <a:bodyPr wrap="none">
            <a:spAutoFit/>
          </a:bodyPr>
          <a:lstStyle/>
          <a:p>
            <a:pPr>
              <a:buFont typeface="Arial" panose="020B0604020202020204" pitchFamily="34" charset="0"/>
              <a:buChar char="•"/>
            </a:pPr>
            <a:r>
              <a:rPr lang="zh-CN" altLang="en-US" sz="3200" dirty="0">
                <a:solidFill>
                  <a:srgbClr val="000000"/>
                </a:solidFill>
                <a:latin typeface="Calibri" panose="020F0502020204030204" charset="0"/>
              </a:rPr>
              <a:t>存在热门点</a:t>
            </a:r>
            <a:r>
              <a:rPr lang="zh-CN" altLang="en-US" sz="3200" dirty="0" smtClean="0">
                <a:solidFill>
                  <a:srgbClr val="000000"/>
                </a:solidFill>
                <a:latin typeface="Calibri" panose="020F0502020204030204" charset="0"/>
              </a:rPr>
              <a:t>问题，熵有限</a:t>
            </a:r>
            <a:endParaRPr lang="zh-CN" altLang="en-US" dirty="0">
              <a:latin typeface="Calibri" panose="020F0502020204030204" charset="0"/>
            </a:endParaRPr>
          </a:p>
        </p:txBody>
      </p:sp>
      <p:pic>
        <p:nvPicPr>
          <p:cNvPr id="150" name="picture 150"/>
          <p:cNvPicPr>
            <a:picLocks noChangeAspect="1"/>
          </p:cNvPicPr>
          <p:nvPr/>
        </p:nvPicPr>
        <p:blipFill>
          <a:blip r:embed="rId3"/>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1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16.3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基于图像点击的口令认证</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65580" y="1336675"/>
            <a:ext cx="10515600" cy="4351338"/>
          </a:xfrm>
        </p:spPr>
        <p:txBody>
          <a:bodyPr>
            <a:normAutofit/>
          </a:bodyPr>
          <a:lstStyle/>
          <a:p>
            <a:r>
              <a:rPr lang="en-US" altLang="zh-CN" dirty="0" smtClean="0"/>
              <a:t>What you know</a:t>
            </a:r>
            <a:endParaRPr lang="en-US" altLang="zh-CN" dirty="0" smtClean="0"/>
          </a:p>
          <a:p>
            <a:pPr lvl="1"/>
            <a:r>
              <a:rPr lang="zh-CN" altLang="en-US" dirty="0" smtClean="0"/>
              <a:t>口令，字符型口令、其它类型口令</a:t>
            </a:r>
            <a:endParaRPr lang="en-US" altLang="zh-CN" dirty="0" smtClean="0"/>
          </a:p>
          <a:p>
            <a:r>
              <a:rPr lang="en-US" altLang="zh-CN" dirty="0" smtClean="0">
                <a:solidFill>
                  <a:srgbClr val="0070C0"/>
                </a:solidFill>
              </a:rPr>
              <a:t>What you have</a:t>
            </a:r>
            <a:endParaRPr lang="en-US" altLang="zh-CN" dirty="0" smtClean="0">
              <a:solidFill>
                <a:srgbClr val="0070C0"/>
              </a:solidFill>
            </a:endParaRPr>
          </a:p>
          <a:p>
            <a:pPr lvl="1"/>
            <a:r>
              <a:rPr lang="en-US" altLang="zh-CN" dirty="0" smtClean="0">
                <a:solidFill>
                  <a:srgbClr val="0070C0"/>
                </a:solidFill>
              </a:rPr>
              <a:t>USB Key</a:t>
            </a:r>
            <a:r>
              <a:rPr lang="zh-CN" altLang="en-US" dirty="0" smtClean="0">
                <a:solidFill>
                  <a:srgbClr val="0070C0"/>
                </a:solidFill>
              </a:rPr>
              <a:t>，存储</a:t>
            </a:r>
            <a:r>
              <a:rPr lang="en-US" altLang="zh-CN" dirty="0" smtClean="0">
                <a:solidFill>
                  <a:srgbClr val="0070C0"/>
                </a:solidFill>
              </a:rPr>
              <a:t>PKI</a:t>
            </a:r>
            <a:r>
              <a:rPr lang="zh-CN" altLang="en-US" dirty="0" smtClean="0">
                <a:solidFill>
                  <a:srgbClr val="0070C0"/>
                </a:solidFill>
              </a:rPr>
              <a:t>系统中的私钥</a:t>
            </a:r>
            <a:endParaRPr lang="en-US" altLang="zh-CN" dirty="0" smtClean="0">
              <a:solidFill>
                <a:srgbClr val="0070C0"/>
              </a:solidFill>
            </a:endParaRPr>
          </a:p>
          <a:p>
            <a:pPr lvl="1"/>
            <a:r>
              <a:rPr lang="en-US" altLang="zh-CN" dirty="0" smtClean="0">
                <a:solidFill>
                  <a:srgbClr val="0070C0"/>
                </a:solidFill>
              </a:rPr>
              <a:t>Token</a:t>
            </a:r>
            <a:r>
              <a:rPr lang="zh-CN" altLang="en-US" dirty="0" smtClean="0">
                <a:solidFill>
                  <a:srgbClr val="0070C0"/>
                </a:solidFill>
              </a:rPr>
              <a:t>，动态口令</a:t>
            </a:r>
            <a:endParaRPr lang="en-US" altLang="zh-CN" dirty="0" smtClean="0">
              <a:solidFill>
                <a:srgbClr val="0070C0"/>
              </a:solidFill>
            </a:endParaRPr>
          </a:p>
          <a:p>
            <a:pPr lvl="1"/>
            <a:r>
              <a:rPr lang="zh-CN" altLang="en-US" dirty="0" smtClean="0">
                <a:solidFill>
                  <a:srgbClr val="0070C0"/>
                </a:solidFill>
              </a:rPr>
              <a:t>手机验证</a:t>
            </a:r>
            <a:endParaRPr lang="en-US" altLang="zh-CN" dirty="0" smtClean="0">
              <a:solidFill>
                <a:srgbClr val="0070C0"/>
              </a:solidFill>
            </a:endParaRPr>
          </a:p>
          <a:p>
            <a:r>
              <a:rPr lang="en-US" altLang="zh-CN" dirty="0" smtClean="0"/>
              <a:t>What you are</a:t>
            </a:r>
            <a:endParaRPr lang="en-US" altLang="zh-CN" dirty="0" smtClean="0"/>
          </a:p>
          <a:p>
            <a:r>
              <a:rPr lang="en-US" altLang="zh-CN" dirty="0" smtClean="0"/>
              <a:t>Mixed</a:t>
            </a:r>
            <a:endParaRPr lang="en-US" altLang="zh-CN" dirty="0" smtClean="0"/>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1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16.3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身份鉴别技术分类</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65580" y="1253490"/>
            <a:ext cx="10515600" cy="4351338"/>
          </a:xfrm>
        </p:spPr>
        <p:txBody>
          <a:bodyPr/>
          <a:lstStyle/>
          <a:p>
            <a:r>
              <a:rPr lang="en-US" altLang="zh-CN" dirty="0" smtClean="0"/>
              <a:t>门禁卡/RFID标签</a:t>
            </a:r>
            <a:endParaRPr lang="en-US" altLang="zh-CN" dirty="0" smtClean="0"/>
          </a:p>
          <a:p>
            <a:r>
              <a:rPr lang="en-US" altLang="zh-CN" dirty="0" smtClean="0"/>
              <a:t>What you have</a:t>
            </a:r>
            <a:endParaRPr lang="en-US" altLang="zh-CN" dirty="0" smtClean="0"/>
          </a:p>
          <a:p>
            <a:pPr lvl="1"/>
            <a:r>
              <a:rPr lang="zh-CN" altLang="en-US" dirty="0" smtClean="0"/>
              <a:t>静态数据，直接读取</a:t>
            </a:r>
            <a:endParaRPr lang="en-US" altLang="zh-CN" dirty="0" smtClean="0"/>
          </a:p>
          <a:p>
            <a:r>
              <a:rPr lang="zh-CN" altLang="en-US" dirty="0" smtClean="0"/>
              <a:t>会议证件、单位</a:t>
            </a:r>
            <a:r>
              <a:rPr lang="en-US" altLang="zh-CN" dirty="0" smtClean="0"/>
              <a:t>/</a:t>
            </a:r>
            <a:r>
              <a:rPr lang="zh-CN" altLang="en-US" dirty="0" smtClean="0"/>
              <a:t>小区门禁</a:t>
            </a:r>
            <a:endParaRPr lang="en-US" altLang="zh-CN" dirty="0" smtClean="0"/>
          </a:p>
        </p:txBody>
      </p:sp>
      <p:pic>
        <p:nvPicPr>
          <p:cNvPr id="5" name="图片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6981652" y="3682833"/>
            <a:ext cx="4511386" cy="3004583"/>
          </a:xfrm>
          <a:prstGeom prst="rect">
            <a:avLst/>
          </a:prstGeom>
        </p:spPr>
      </p:pic>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1000" y="711033"/>
            <a:ext cx="4762500" cy="2971800"/>
          </a:xfrm>
          <a:prstGeom prst="rect">
            <a:avLst/>
          </a:prstGeom>
        </p:spPr>
      </p:pic>
      <p:pic>
        <p:nvPicPr>
          <p:cNvPr id="150" name="picture 150"/>
          <p:cNvPicPr>
            <a:picLocks noChangeAspect="1"/>
          </p:cNvPicPr>
          <p:nvPr/>
        </p:nvPicPr>
        <p:blipFill>
          <a:blip r:embed="rId3"/>
          <a:stretch>
            <a:fillRect/>
          </a:stretch>
        </p:blipFill>
        <p:spPr>
          <a:xfrm rot="21600000">
            <a:off x="824483" y="408431"/>
            <a:ext cx="419100" cy="655320"/>
          </a:xfrm>
          <a:prstGeom prst="rect">
            <a:avLst/>
          </a:prstGeom>
        </p:spPr>
      </p:pic>
      <p:sp>
        <p:nvSpPr>
          <p:cNvPr id="152" name="path 152"/>
          <p:cNvSpPr/>
          <p:nvPr/>
        </p:nvSpPr>
        <p:spPr>
          <a:xfrm>
            <a:off x="1465326" y="1019555"/>
            <a:ext cx="9037573" cy="28956"/>
          </a:xfrm>
          <a:custGeom>
            <a:avLst/>
            <a:gdLst/>
            <a:ahLst/>
            <a:cxnLst/>
            <a:rect l="0" t="0" r="0" b="0"/>
            <a:pathLst>
              <a:path w="14232" h="45">
                <a:moveTo>
                  <a:pt x="0" y="22"/>
                </a:moveTo>
                <a:lnTo>
                  <a:pt x="14232" y="22"/>
                </a:lnTo>
              </a:path>
            </a:pathLst>
          </a:custGeom>
          <a:noFill/>
          <a:ln w="28955" cap="flat">
            <a:solidFill>
              <a:srgbClr val="5B9BD5"/>
            </a:solidFill>
            <a:prstDash val="solid"/>
            <a:miter lim="1000000"/>
          </a:ln>
        </p:spPr>
        <p:txBody>
          <a:bodyPr rtlCol="0"/>
          <a:lstStyle/>
          <a:p>
            <a:pPr algn="ctr"/>
            <a:endParaRPr lang="zh-CN" altLang="en-US"/>
          </a:p>
        </p:txBody>
      </p:sp>
      <p:sp>
        <p:nvSpPr>
          <p:cNvPr id="1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16.3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身份鉴别技术分类</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694815" y="1292225"/>
            <a:ext cx="9032240" cy="4613910"/>
          </a:xfrm>
        </p:spPr>
        <p:txBody>
          <a:bodyPr>
            <a:normAutofit lnSpcReduction="10000"/>
          </a:bodyPr>
          <a:lstStyle/>
          <a:p>
            <a:r>
              <a:rPr lang="zh-CN" altLang="en-US" dirty="0"/>
              <a:t>动态口令</a:t>
            </a:r>
            <a:endParaRPr lang="zh-CN" altLang="en-US" dirty="0"/>
          </a:p>
          <a:p>
            <a:r>
              <a:rPr lang="zh-CN" altLang="en-US" dirty="0"/>
              <a:t>一次性使用，且有效时间很短</a:t>
            </a:r>
            <a:endParaRPr lang="en-US" altLang="zh-CN" dirty="0"/>
          </a:p>
          <a:p>
            <a:pPr lvl="1"/>
            <a:r>
              <a:rPr lang="zh-CN" altLang="en-US" dirty="0"/>
              <a:t>无须考虑窃听攻击</a:t>
            </a:r>
            <a:endParaRPr lang="en-US" altLang="zh-CN" dirty="0"/>
          </a:p>
          <a:p>
            <a:r>
              <a:rPr lang="zh-CN" altLang="en-US" dirty="0"/>
              <a:t>基本过程</a:t>
            </a:r>
            <a:endParaRPr lang="en-US" altLang="zh-CN" dirty="0"/>
          </a:p>
          <a:p>
            <a:pPr lvl="1"/>
            <a:r>
              <a:rPr lang="zh-CN" altLang="en-US" dirty="0"/>
              <a:t>用户端设备与验证方保持共享</a:t>
            </a:r>
            <a:r>
              <a:rPr lang="en-US" altLang="zh-CN" dirty="0"/>
              <a:t>1</a:t>
            </a:r>
            <a:r>
              <a:rPr lang="zh-CN" altLang="en-US" dirty="0"/>
              <a:t>个长期密钥</a:t>
            </a:r>
            <a:endParaRPr lang="en-US" altLang="zh-CN" dirty="0"/>
          </a:p>
          <a:p>
            <a:pPr lvl="2"/>
            <a:r>
              <a:rPr lang="zh-CN" altLang="en-US" dirty="0"/>
              <a:t>硬件</a:t>
            </a:r>
            <a:r>
              <a:rPr lang="en-US" altLang="zh-CN" dirty="0"/>
              <a:t>Token</a:t>
            </a:r>
            <a:r>
              <a:rPr lang="zh-CN" altLang="en-US" dirty="0"/>
              <a:t>保护密钥不会被导出</a:t>
            </a:r>
            <a:endParaRPr lang="en-US" altLang="zh-CN" dirty="0"/>
          </a:p>
          <a:p>
            <a:pPr lvl="2"/>
            <a:r>
              <a:rPr lang="zh-CN" altLang="en-US" dirty="0"/>
              <a:t>密钥不可穷举</a:t>
            </a:r>
            <a:endParaRPr lang="en-US" altLang="zh-CN" dirty="0"/>
          </a:p>
          <a:p>
            <a:pPr lvl="1"/>
            <a:r>
              <a:rPr lang="zh-CN" altLang="en-US" dirty="0"/>
              <a:t>以某种形式，同步地生成口令</a:t>
            </a:r>
            <a:endParaRPr lang="en-US" altLang="zh-CN" dirty="0"/>
          </a:p>
          <a:p>
            <a:pPr lvl="2"/>
            <a:r>
              <a:rPr lang="zh-CN" altLang="en-US" dirty="0"/>
              <a:t>基于长期密钥</a:t>
            </a:r>
            <a:endParaRPr lang="en-US" altLang="zh-CN" dirty="0"/>
          </a:p>
          <a:p>
            <a:pPr lvl="2"/>
            <a:r>
              <a:rPr lang="zh-CN" altLang="en-US" dirty="0"/>
              <a:t>时间型，定时更换</a:t>
            </a:r>
            <a:endParaRPr lang="en-US" altLang="zh-CN" dirty="0"/>
          </a:p>
          <a:p>
            <a:pPr lvl="2"/>
            <a:r>
              <a:rPr lang="zh-CN" altLang="en-US" dirty="0"/>
              <a:t>事件型，每次更换</a:t>
            </a:r>
            <a:endParaRPr lang="en-US" altLang="zh-CN" dirty="0"/>
          </a:p>
          <a:p>
            <a:pPr lvl="3"/>
            <a:r>
              <a:rPr lang="zh-CN" altLang="en-US" dirty="0"/>
              <a:t>考虑时间同步，服务器端验证有一定时间窗口</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FB234486-42F2-43D6-9FFA-ABC9372E53D2}" type="slidenum">
              <a:rPr lang="zh-CN" altLang="en-US" smtClean="0"/>
            </a:fld>
            <a:endParaRPr lang="en-US" altLang="zh-CN"/>
          </a:p>
        </p:txBody>
      </p:sp>
      <p:pic>
        <p:nvPicPr>
          <p:cNvPr id="5" name="Picture 2" descr="http://e.hiphotos.baidu.com/baike/c0%3Dbaike80%2C5%2C5%2C80%2C26/sign=756eabf75982b2b7b392319650c4a08a/5366d0160924ab184301d2c435fae6cd7a899e510fb31311.jpg"/>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8336889" y="3933056"/>
            <a:ext cx="2185492" cy="2101435"/>
          </a:xfrm>
          <a:prstGeom prst="rect">
            <a:avLst/>
          </a:prstGeom>
          <a:noFill/>
          <a:extLst>
            <a:ext uri="{909E8E84-426E-40DD-AFC4-6F175D3DCCD1}">
              <a14:hiddenFill xmlns:a14="http://schemas.microsoft.com/office/drawing/2010/main">
                <a:solidFill>
                  <a:srgbClr val="FFFFFF"/>
                </a:solidFill>
              </a14:hiddenFill>
            </a:ext>
          </a:extLst>
        </p:spPr>
      </p:pic>
      <p:pic>
        <p:nvPicPr>
          <p:cNvPr id="150" name="picture 150"/>
          <p:cNvPicPr>
            <a:picLocks noChangeAspect="1"/>
          </p:cNvPicPr>
          <p:nvPr/>
        </p:nvPicPr>
        <p:blipFill>
          <a:blip r:embed="rId2"/>
          <a:stretch>
            <a:fillRect/>
          </a:stretch>
        </p:blipFill>
        <p:spPr>
          <a:xfrm rot="21600000">
            <a:off x="824483" y="408431"/>
            <a:ext cx="419100" cy="655320"/>
          </a:xfrm>
          <a:prstGeom prst="rect">
            <a:avLst/>
          </a:prstGeom>
        </p:spPr>
      </p:pic>
      <p:sp>
        <p:nvSpPr>
          <p:cNvPr id="1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16.3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身份鉴别技术分类</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628140" y="1253490"/>
            <a:ext cx="10515600" cy="4351338"/>
          </a:xfrm>
        </p:spPr>
        <p:txBody>
          <a:bodyPr/>
          <a:lstStyle/>
          <a:p>
            <a:r>
              <a:rPr lang="zh-CN" altLang="en-US" dirty="0" smtClean="0"/>
              <a:t>手机验证</a:t>
            </a:r>
            <a:endParaRPr lang="zh-CN" altLang="en-US" dirty="0" smtClean="0"/>
          </a:p>
          <a:p>
            <a:r>
              <a:rPr lang="zh-CN" altLang="en-US" dirty="0" smtClean="0"/>
              <a:t>手机验证码</a:t>
            </a:r>
            <a:endParaRPr lang="en-US" altLang="zh-CN" dirty="0" smtClean="0"/>
          </a:p>
          <a:p>
            <a:pPr lvl="1"/>
            <a:r>
              <a:rPr lang="zh-CN" altLang="en-US" dirty="0"/>
              <a:t>由服务器端发送</a:t>
            </a:r>
            <a:r>
              <a:rPr lang="en-US" altLang="zh-CN" dirty="0"/>
              <a:t>——</a:t>
            </a:r>
            <a:r>
              <a:rPr lang="zh-CN" altLang="en-US" dirty="0"/>
              <a:t>假定为可信信道</a:t>
            </a:r>
            <a:endParaRPr lang="en-US" altLang="zh-CN" dirty="0"/>
          </a:p>
          <a:p>
            <a:pPr lvl="2"/>
            <a:r>
              <a:rPr lang="zh-CN" altLang="en-US" dirty="0"/>
              <a:t>手机客户端内部没有长期密钥</a:t>
            </a:r>
            <a:endParaRPr lang="en-US" altLang="zh-CN" dirty="0"/>
          </a:p>
          <a:p>
            <a:pPr lvl="1"/>
            <a:r>
              <a:rPr lang="zh-CN" altLang="en-US" dirty="0"/>
              <a:t>移动运营商的短信信道，安全性高于</a:t>
            </a:r>
            <a:r>
              <a:rPr lang="en-US" altLang="zh-CN" dirty="0"/>
              <a:t>Internet</a:t>
            </a:r>
            <a:endParaRPr lang="zh-CN" altLang="en-US" dirty="0"/>
          </a:p>
          <a:p>
            <a:r>
              <a:rPr lang="zh-CN" altLang="en-US" dirty="0" smtClean="0"/>
              <a:t>手机</a:t>
            </a:r>
            <a:r>
              <a:rPr lang="en-US" altLang="zh-CN" dirty="0" smtClean="0"/>
              <a:t>APP</a:t>
            </a:r>
            <a:r>
              <a:rPr lang="zh-CN" altLang="en-US" dirty="0" smtClean="0"/>
              <a:t>验证</a:t>
            </a:r>
            <a:endParaRPr lang="en-US" altLang="zh-CN" dirty="0" smtClean="0"/>
          </a:p>
          <a:p>
            <a:pPr lvl="1"/>
            <a:r>
              <a:rPr lang="zh-CN" altLang="en-US" dirty="0" smtClean="0"/>
              <a:t>扫码登录</a:t>
            </a:r>
            <a:endParaRPr lang="en-US" altLang="zh-CN" dirty="0" smtClean="0"/>
          </a:p>
          <a:p>
            <a:pPr lvl="1"/>
            <a:r>
              <a:rPr lang="zh-CN" altLang="en-US" dirty="0" smtClean="0"/>
              <a:t>桌面微信登录、手机</a:t>
            </a:r>
            <a:r>
              <a:rPr lang="en-US" altLang="zh-CN" dirty="0" smtClean="0"/>
              <a:t>APP</a:t>
            </a:r>
            <a:r>
              <a:rPr lang="zh-CN" altLang="en-US" dirty="0" smtClean="0"/>
              <a:t>登录</a:t>
            </a:r>
            <a:r>
              <a:rPr lang="en-US" altLang="zh-CN" dirty="0" smtClean="0"/>
              <a:t>web</a:t>
            </a:r>
            <a:r>
              <a:rPr lang="zh-CN" altLang="en-US" dirty="0" smtClean="0"/>
              <a:t>网页</a:t>
            </a:r>
            <a:endParaRPr lang="en-US" altLang="zh-CN" dirty="0" smtClean="0"/>
          </a:p>
          <a:p>
            <a:pPr lvl="1"/>
            <a:endParaRPr lang="zh-CN" altLang="en-US" dirty="0"/>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16.3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身份鉴别技术分类</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628139" y="1215814"/>
            <a:ext cx="7543801" cy="4614052"/>
          </a:xfrm>
        </p:spPr>
        <p:txBody>
          <a:bodyPr>
            <a:normAutofit fontScale="72500" lnSpcReduction="20000"/>
          </a:bodyPr>
          <a:lstStyle/>
          <a:p>
            <a:r>
              <a:rPr lang="en-US" altLang="zh-CN" dirty="0">
                <a:sym typeface="+mn-ea"/>
              </a:rPr>
              <a:t>What you </a:t>
            </a:r>
            <a:r>
              <a:rPr lang="en-US" altLang="zh-CN" dirty="0" smtClean="0">
                <a:sym typeface="+mn-ea"/>
              </a:rPr>
              <a:t>have</a:t>
            </a:r>
            <a:r>
              <a:rPr lang="zh-CN" altLang="en-US" dirty="0" smtClean="0">
                <a:sym typeface="+mn-ea"/>
              </a:rPr>
              <a:t>各种方式区别</a:t>
            </a:r>
            <a:endParaRPr lang="zh-CN" altLang="en-US" dirty="0" smtClean="0"/>
          </a:p>
          <a:p>
            <a:r>
              <a:rPr lang="zh-CN" altLang="en-US" dirty="0" smtClean="0"/>
              <a:t>门禁卡</a:t>
            </a:r>
            <a:endParaRPr lang="en-US" altLang="zh-CN" dirty="0" smtClean="0"/>
          </a:p>
          <a:p>
            <a:pPr lvl="1"/>
            <a:r>
              <a:rPr lang="zh-CN" altLang="en-US" dirty="0" smtClean="0"/>
              <a:t>不依赖网络，身份鉴别信息为静态数据，不能</a:t>
            </a:r>
            <a:r>
              <a:rPr lang="zh-CN" altLang="en-US" dirty="0"/>
              <a:t>对抗重发</a:t>
            </a:r>
            <a:r>
              <a:rPr lang="zh-CN" altLang="en-US" dirty="0" smtClean="0"/>
              <a:t>攻击</a:t>
            </a:r>
            <a:endParaRPr lang="en-US" altLang="zh-CN" dirty="0" smtClean="0"/>
          </a:p>
          <a:p>
            <a:r>
              <a:rPr lang="zh-CN" altLang="en-US" dirty="0"/>
              <a:t>动态口令</a:t>
            </a:r>
            <a:r>
              <a:rPr lang="en-US" altLang="zh-CN" dirty="0"/>
              <a:t>token</a:t>
            </a:r>
            <a:endParaRPr lang="en-US" altLang="zh-CN" dirty="0"/>
          </a:p>
          <a:p>
            <a:pPr lvl="1"/>
            <a:r>
              <a:rPr lang="zh-CN" altLang="en-US" dirty="0" smtClean="0"/>
              <a:t>一次一密，需要与服务器持时间同步</a:t>
            </a:r>
            <a:endParaRPr lang="en-US" altLang="zh-CN" dirty="0" smtClean="0"/>
          </a:p>
          <a:p>
            <a:r>
              <a:rPr lang="zh-CN" altLang="en-US" dirty="0" smtClean="0"/>
              <a:t>手机验证</a:t>
            </a:r>
            <a:endParaRPr lang="en-US" altLang="zh-CN" dirty="0" smtClean="0"/>
          </a:p>
          <a:p>
            <a:pPr lvl="1"/>
            <a:r>
              <a:rPr lang="zh-CN" altLang="en-US" dirty="0" smtClean="0"/>
              <a:t>需要网络环境，发送短信或与手机</a:t>
            </a:r>
            <a:r>
              <a:rPr lang="en-US" altLang="zh-CN" dirty="0" smtClean="0"/>
              <a:t>APP</a:t>
            </a:r>
            <a:r>
              <a:rPr lang="zh-CN" altLang="en-US" dirty="0" smtClean="0"/>
              <a:t>建立通信</a:t>
            </a:r>
            <a:endParaRPr lang="en-US" altLang="zh-CN" dirty="0" smtClean="0"/>
          </a:p>
          <a:p>
            <a:pPr lvl="1"/>
            <a:r>
              <a:rPr lang="zh-CN" altLang="en-US" dirty="0" smtClean="0"/>
              <a:t>安全性：</a:t>
            </a:r>
            <a:endParaRPr lang="en-US" altLang="zh-CN" dirty="0" smtClean="0"/>
          </a:p>
          <a:p>
            <a:pPr lvl="2"/>
            <a:r>
              <a:rPr lang="zh-CN" altLang="en-US" dirty="0" smtClean="0"/>
              <a:t>短信明文传输，需对验证码设定较短的有效期；</a:t>
            </a:r>
            <a:endParaRPr lang="en-US" altLang="zh-CN" dirty="0" smtClean="0"/>
          </a:p>
          <a:p>
            <a:pPr lvl="2"/>
            <a:r>
              <a:rPr lang="zh-CN" altLang="en-US" dirty="0" smtClean="0"/>
              <a:t>手机</a:t>
            </a:r>
            <a:r>
              <a:rPr lang="en-US" altLang="zh-CN" dirty="0" smtClean="0"/>
              <a:t>APP</a:t>
            </a:r>
            <a:r>
              <a:rPr lang="zh-CN" altLang="en-US" dirty="0" smtClean="0"/>
              <a:t>验证，安全性取绝于身份鉴别协议，以及是否使用安全的密码模块</a:t>
            </a:r>
            <a:endParaRPr lang="en-US" altLang="zh-CN" dirty="0"/>
          </a:p>
          <a:p>
            <a:r>
              <a:rPr lang="en-US" altLang="zh-CN" dirty="0" err="1" smtClean="0"/>
              <a:t>USBKey</a:t>
            </a:r>
            <a:endParaRPr lang="en-US" altLang="zh-CN" dirty="0"/>
          </a:p>
          <a:p>
            <a:pPr lvl="1"/>
            <a:r>
              <a:rPr lang="zh-CN" altLang="en-US" dirty="0" smtClean="0"/>
              <a:t>可以本地验证，证书状态的验证需要及时更新或联网验证</a:t>
            </a:r>
            <a:endParaRPr lang="en-US" altLang="zh-CN" dirty="0" smtClean="0"/>
          </a:p>
          <a:p>
            <a:r>
              <a:rPr lang="zh-CN" altLang="en-US" dirty="0" smtClean="0"/>
              <a:t>总体的问题</a:t>
            </a:r>
            <a:endParaRPr lang="en-US" altLang="zh-CN" dirty="0"/>
          </a:p>
          <a:p>
            <a:pPr lvl="1"/>
            <a:r>
              <a:rPr lang="zh-CN" altLang="en-US" dirty="0"/>
              <a:t>如果手机丢失、</a:t>
            </a:r>
            <a:r>
              <a:rPr lang="en-US" altLang="zh-CN" dirty="0"/>
              <a:t>Token</a:t>
            </a:r>
            <a:r>
              <a:rPr lang="zh-CN" altLang="en-US" dirty="0"/>
              <a:t>丢失，则出现安全问题</a:t>
            </a:r>
            <a:endParaRPr lang="en-US" altLang="zh-CN" dirty="0"/>
          </a:p>
          <a:p>
            <a:endParaRPr lang="zh-CN" altLang="en-US" dirty="0"/>
          </a:p>
        </p:txBody>
      </p:sp>
      <p:sp>
        <p:nvSpPr>
          <p:cNvPr id="4" name="灯片编号占位符 3"/>
          <p:cNvSpPr>
            <a:spLocks noGrp="1"/>
          </p:cNvSpPr>
          <p:nvPr>
            <p:ph type="sldNum" sz="quarter" idx="12"/>
          </p:nvPr>
        </p:nvSpPr>
        <p:spPr/>
        <p:txBody>
          <a:bodyPr/>
          <a:lstStyle/>
          <a:p>
            <a:pPr>
              <a:defRPr/>
            </a:pPr>
            <a:fld id="{FB234486-42F2-43D6-9FFA-ABC9372E53D2}" type="slidenum">
              <a:rPr lang="zh-CN" altLang="en-US" smtClean="0"/>
            </a:fld>
            <a:endParaRPr lang="en-US" altLang="zh-CN"/>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16.3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身份鉴别技术分类</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628140" y="1252855"/>
            <a:ext cx="10515600" cy="4351338"/>
          </a:xfrm>
        </p:spPr>
        <p:txBody>
          <a:bodyPr>
            <a:normAutofit/>
          </a:bodyPr>
          <a:lstStyle/>
          <a:p>
            <a:r>
              <a:rPr lang="en-US" altLang="zh-CN" dirty="0" smtClean="0"/>
              <a:t>What you know</a:t>
            </a:r>
            <a:endParaRPr lang="en-US" altLang="zh-CN" dirty="0" smtClean="0"/>
          </a:p>
          <a:p>
            <a:pPr lvl="1"/>
            <a:r>
              <a:rPr lang="zh-CN" altLang="en-US" dirty="0" smtClean="0"/>
              <a:t>口令，字符型口令、其它类型口令</a:t>
            </a:r>
            <a:endParaRPr lang="en-US" altLang="zh-CN" dirty="0" smtClean="0"/>
          </a:p>
          <a:p>
            <a:r>
              <a:rPr lang="en-US" altLang="zh-CN" dirty="0" smtClean="0"/>
              <a:t>What you have</a:t>
            </a:r>
            <a:endParaRPr lang="en-US" altLang="zh-CN" dirty="0" smtClean="0"/>
          </a:p>
          <a:p>
            <a:pPr lvl="1"/>
            <a:r>
              <a:rPr lang="en-US" altLang="zh-CN" dirty="0" smtClean="0"/>
              <a:t>Token</a:t>
            </a:r>
            <a:r>
              <a:rPr lang="zh-CN" altLang="en-US" dirty="0" smtClean="0"/>
              <a:t>，动态口令</a:t>
            </a:r>
            <a:endParaRPr lang="en-US" altLang="zh-CN" dirty="0" smtClean="0"/>
          </a:p>
          <a:p>
            <a:pPr lvl="1"/>
            <a:r>
              <a:rPr lang="zh-CN" altLang="en-US" dirty="0" smtClean="0"/>
              <a:t>手机验证</a:t>
            </a:r>
            <a:endParaRPr lang="en-US" altLang="zh-CN" dirty="0" smtClean="0"/>
          </a:p>
          <a:p>
            <a:pPr lvl="1"/>
            <a:r>
              <a:rPr lang="en-US" altLang="zh-CN" dirty="0"/>
              <a:t>USB Key</a:t>
            </a:r>
            <a:r>
              <a:rPr lang="zh-CN" altLang="en-US" dirty="0"/>
              <a:t>，存储</a:t>
            </a:r>
            <a:r>
              <a:rPr lang="en-US" altLang="zh-CN" dirty="0"/>
              <a:t>PKI</a:t>
            </a:r>
            <a:r>
              <a:rPr lang="zh-CN" altLang="en-US" dirty="0"/>
              <a:t>系统中的私钥</a:t>
            </a:r>
            <a:endParaRPr lang="en-US" altLang="zh-CN" dirty="0"/>
          </a:p>
          <a:p>
            <a:r>
              <a:rPr lang="en-US" altLang="zh-CN" dirty="0" smtClean="0">
                <a:solidFill>
                  <a:srgbClr val="0070C0"/>
                </a:solidFill>
              </a:rPr>
              <a:t>What you are</a:t>
            </a:r>
            <a:endParaRPr lang="en-US" altLang="zh-CN" dirty="0" smtClean="0">
              <a:solidFill>
                <a:srgbClr val="0070C0"/>
              </a:solidFill>
            </a:endParaRPr>
          </a:p>
          <a:p>
            <a:pPr lvl="1"/>
            <a:r>
              <a:rPr lang="zh-CN" altLang="en-US" dirty="0" smtClean="0">
                <a:solidFill>
                  <a:srgbClr val="0070C0"/>
                </a:solidFill>
              </a:rPr>
              <a:t>生物信息特征，指纹</a:t>
            </a:r>
            <a:endParaRPr lang="en-US" altLang="zh-CN" dirty="0" smtClean="0">
              <a:solidFill>
                <a:srgbClr val="0070C0"/>
              </a:solidFill>
            </a:endParaRPr>
          </a:p>
          <a:p>
            <a:r>
              <a:rPr lang="en-US" altLang="zh-CN" dirty="0" smtClean="0"/>
              <a:t>Mixed</a:t>
            </a:r>
            <a:endParaRPr lang="en-US" altLang="zh-CN" dirty="0" smtClean="0"/>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16.3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身份鉴别技术分类</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628139" y="1249815"/>
            <a:ext cx="7543801" cy="4710929"/>
          </a:xfrm>
        </p:spPr>
        <p:txBody>
          <a:bodyPr>
            <a:normAutofit fontScale="90000" lnSpcReduction="20000"/>
          </a:bodyPr>
          <a:lstStyle/>
          <a:p>
            <a:r>
              <a:rPr lang="en-US" altLang="zh-CN" dirty="0"/>
              <a:t>What you are</a:t>
            </a:r>
            <a:endParaRPr lang="zh-CN" altLang="en-US" dirty="0"/>
          </a:p>
          <a:p>
            <a:r>
              <a:rPr lang="zh-CN" altLang="en-US" dirty="0"/>
              <a:t>生物识别技术</a:t>
            </a:r>
            <a:endParaRPr lang="en-US" altLang="zh-CN" dirty="0"/>
          </a:p>
          <a:p>
            <a:pPr lvl="1"/>
            <a:r>
              <a:rPr lang="zh-CN" altLang="en-US" dirty="0"/>
              <a:t>指纹识别</a:t>
            </a:r>
            <a:endParaRPr lang="en-US" altLang="zh-CN" dirty="0"/>
          </a:p>
          <a:p>
            <a:pPr lvl="1"/>
            <a:r>
              <a:rPr lang="zh-CN" altLang="en-US" dirty="0"/>
              <a:t>人脸识别</a:t>
            </a:r>
            <a:endParaRPr lang="en-US" altLang="zh-CN" dirty="0"/>
          </a:p>
          <a:p>
            <a:pPr lvl="1"/>
            <a:r>
              <a:rPr lang="zh-CN" altLang="en-US" dirty="0"/>
              <a:t>声纹识别</a:t>
            </a:r>
            <a:endParaRPr lang="en-US" altLang="zh-CN" dirty="0"/>
          </a:p>
          <a:p>
            <a:pPr lvl="1"/>
            <a:r>
              <a:rPr lang="zh-CN" altLang="en-US" dirty="0"/>
              <a:t>虹膜识别</a:t>
            </a:r>
            <a:endParaRPr lang="en-US" altLang="zh-CN" dirty="0"/>
          </a:p>
          <a:p>
            <a:r>
              <a:rPr lang="zh-CN" altLang="en-US" dirty="0"/>
              <a:t>优点</a:t>
            </a:r>
            <a:endParaRPr lang="en-US" altLang="zh-CN" dirty="0"/>
          </a:p>
          <a:p>
            <a:pPr lvl="1"/>
            <a:r>
              <a:rPr lang="zh-CN" altLang="en-US" dirty="0"/>
              <a:t>用户无额外负担</a:t>
            </a:r>
            <a:endParaRPr lang="en-US" altLang="zh-CN" dirty="0"/>
          </a:p>
          <a:p>
            <a:r>
              <a:rPr lang="zh-CN" altLang="en-US" dirty="0"/>
              <a:t>不足</a:t>
            </a:r>
            <a:endParaRPr lang="en-US" altLang="zh-CN" dirty="0"/>
          </a:p>
          <a:p>
            <a:pPr lvl="1"/>
            <a:r>
              <a:rPr lang="zh-CN" altLang="en-US" dirty="0"/>
              <a:t>用户身体状况</a:t>
            </a:r>
            <a:endParaRPr lang="en-US" altLang="zh-CN" dirty="0"/>
          </a:p>
          <a:p>
            <a:pPr lvl="1"/>
            <a:r>
              <a:rPr lang="zh-CN" altLang="en-US" dirty="0"/>
              <a:t>要求是可信的</a:t>
            </a:r>
            <a:r>
              <a:rPr lang="zh-CN" altLang="en-US" dirty="0" smtClean="0"/>
              <a:t>输入</a:t>
            </a:r>
            <a:r>
              <a:rPr lang="en-US" altLang="zh-CN" dirty="0" smtClean="0"/>
              <a:t>——</a:t>
            </a:r>
            <a:r>
              <a:rPr lang="zh-CN" altLang="en-US" dirty="0" smtClean="0"/>
              <a:t>活体检测</a:t>
            </a:r>
            <a:endParaRPr lang="en-US" altLang="zh-CN" dirty="0"/>
          </a:p>
          <a:p>
            <a:pPr lvl="2"/>
            <a:r>
              <a:rPr lang="zh-CN" altLang="en-US" dirty="0"/>
              <a:t>照片 </a:t>
            </a:r>
            <a:r>
              <a:rPr lang="en-US" altLang="zh-CN" dirty="0"/>
              <a:t>vs. </a:t>
            </a:r>
            <a:r>
              <a:rPr lang="zh-CN" altLang="en-US" dirty="0"/>
              <a:t>人脸识别</a:t>
            </a:r>
            <a:endParaRPr lang="en-US" altLang="zh-CN" dirty="0"/>
          </a:p>
          <a:p>
            <a:pPr lvl="2"/>
            <a:r>
              <a:rPr lang="zh-CN" altLang="en-US" dirty="0"/>
              <a:t>录音机 </a:t>
            </a:r>
            <a:r>
              <a:rPr lang="en-US" altLang="zh-CN" dirty="0"/>
              <a:t>vs. </a:t>
            </a:r>
            <a:r>
              <a:rPr lang="zh-CN" altLang="en-US" dirty="0"/>
              <a:t>声纹</a:t>
            </a:r>
            <a:r>
              <a:rPr lang="zh-CN" altLang="en-US" dirty="0" smtClean="0"/>
              <a:t>识别</a:t>
            </a:r>
            <a:endParaRPr lang="en-US" altLang="zh-CN" dirty="0" smtClean="0"/>
          </a:p>
          <a:p>
            <a:pPr lvl="1"/>
            <a:r>
              <a:rPr lang="zh-CN" altLang="en-US" dirty="0" smtClean="0"/>
              <a:t>一旦信息泄露，无法替换</a:t>
            </a:r>
            <a:endParaRPr lang="zh-CN" altLang="en-US" dirty="0"/>
          </a:p>
          <a:p>
            <a:endParaRPr lang="zh-CN" altLang="en-US" dirty="0"/>
          </a:p>
        </p:txBody>
      </p:sp>
      <p:sp>
        <p:nvSpPr>
          <p:cNvPr id="4" name="灯片编号占位符 3"/>
          <p:cNvSpPr>
            <a:spLocks noGrp="1"/>
          </p:cNvSpPr>
          <p:nvPr>
            <p:ph type="sldNum" sz="quarter" idx="12"/>
          </p:nvPr>
        </p:nvSpPr>
        <p:spPr/>
        <p:txBody>
          <a:bodyPr/>
          <a:lstStyle/>
          <a:p>
            <a:pPr>
              <a:defRPr/>
            </a:pPr>
            <a:fld id="{FB234486-42F2-43D6-9FFA-ABC9372E53D2}" type="slidenum">
              <a:rPr lang="zh-CN" altLang="en-US" smtClean="0"/>
            </a:fld>
            <a:endParaRPr lang="en-US" altLang="zh-CN"/>
          </a:p>
        </p:txBody>
      </p:sp>
      <p:pic>
        <p:nvPicPr>
          <p:cNvPr id="6" name="Picture 4" descr="虹膜识别身份"/>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120934" y="4221088"/>
            <a:ext cx="2003275" cy="1330747"/>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p:cNvPicPr>
            <a:picLocks noChangeAspect="1"/>
          </p:cNvPicPr>
          <p:nvPr/>
        </p:nvPicPr>
        <p:blipFill>
          <a:blip r:embed="rId2"/>
          <a:stretch>
            <a:fillRect/>
          </a:stretch>
        </p:blipFill>
        <p:spPr>
          <a:xfrm>
            <a:off x="8250122" y="1952339"/>
            <a:ext cx="1683241" cy="2121157"/>
          </a:xfrm>
          <a:prstGeom prst="rect">
            <a:avLst/>
          </a:prstGeom>
        </p:spPr>
      </p:pic>
      <p:pic>
        <p:nvPicPr>
          <p:cNvPr id="150" name="picture 150"/>
          <p:cNvPicPr>
            <a:picLocks noChangeAspect="1"/>
          </p:cNvPicPr>
          <p:nvPr/>
        </p:nvPicPr>
        <p:blipFill>
          <a:blip r:embed="rId3"/>
          <a:stretch>
            <a:fillRect/>
          </a:stretch>
        </p:blipFill>
        <p:spPr>
          <a:xfrm rot="21600000">
            <a:off x="824483" y="408431"/>
            <a:ext cx="419100" cy="655320"/>
          </a:xfrm>
          <a:prstGeom prst="rect">
            <a:avLst/>
          </a:prstGeom>
        </p:spPr>
      </p:pic>
      <p:sp>
        <p:nvSpPr>
          <p:cNvPr id="1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16.3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身份鉴别技术分类</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243330" y="1325880"/>
            <a:ext cx="10515600" cy="4351338"/>
          </a:xfrm>
        </p:spPr>
        <p:txBody>
          <a:bodyPr>
            <a:normAutofit lnSpcReduction="10000"/>
          </a:bodyPr>
          <a:lstStyle/>
          <a:p>
            <a:r>
              <a:rPr lang="zh-CN" altLang="en-US" b="1" dirty="0"/>
              <a:t>基于用户行为的身份鉴别</a:t>
            </a:r>
            <a:endParaRPr lang="en-US" altLang="zh-CN" b="1" dirty="0"/>
          </a:p>
          <a:p>
            <a:r>
              <a:rPr lang="en-US" altLang="zh-CN" b="1" dirty="0"/>
              <a:t>Continuous </a:t>
            </a:r>
            <a:r>
              <a:rPr lang="en-US" altLang="zh-CN" b="1" dirty="0" smtClean="0"/>
              <a:t>Authentication </a:t>
            </a:r>
            <a:r>
              <a:rPr lang="en-US" altLang="zh-CN" dirty="0" smtClean="0"/>
              <a:t>keystroke biometrics</a:t>
            </a:r>
            <a:endParaRPr lang="en-US" altLang="zh-CN" dirty="0" smtClean="0"/>
          </a:p>
          <a:p>
            <a:pPr lvl="1"/>
            <a:r>
              <a:rPr lang="zh-CN" altLang="en-US" dirty="0"/>
              <a:t>键盘敲击模式，鉴别用户</a:t>
            </a:r>
            <a:r>
              <a:rPr lang="zh-CN" altLang="en-US" dirty="0" smtClean="0"/>
              <a:t>身份</a:t>
            </a:r>
            <a:endParaRPr lang="en-US" altLang="zh-CN" dirty="0" smtClean="0"/>
          </a:p>
          <a:p>
            <a:pPr lvl="1"/>
            <a:r>
              <a:rPr lang="zh-CN" altLang="en-US" dirty="0" smtClean="0"/>
              <a:t>可视</a:t>
            </a:r>
            <a:r>
              <a:rPr lang="zh-CN" altLang="en-US" dirty="0"/>
              <a:t>为生物识别的一种</a:t>
            </a:r>
            <a:r>
              <a:rPr lang="zh-CN" altLang="en-US" dirty="0" smtClean="0"/>
              <a:t>方式</a:t>
            </a:r>
            <a:endParaRPr lang="en-US" altLang="zh-CN" dirty="0" smtClean="0"/>
          </a:p>
          <a:p>
            <a:pPr lvl="2"/>
            <a:r>
              <a:rPr lang="en-US" altLang="zh-CN" dirty="0" smtClean="0"/>
              <a:t>User </a:t>
            </a:r>
            <a:r>
              <a:rPr lang="en-US" altLang="zh-CN" dirty="0"/>
              <a:t>authentication through Keystroke Dynamics. ACM Transactions on Information and System Security, TISSEC 2002</a:t>
            </a:r>
            <a:endParaRPr lang="en-US" altLang="zh-CN" dirty="0"/>
          </a:p>
          <a:p>
            <a:pPr lvl="2"/>
            <a:r>
              <a:rPr lang="en-US" altLang="zh-CN" dirty="0" smtClean="0"/>
              <a:t>Authentication </a:t>
            </a:r>
            <a:r>
              <a:rPr lang="en-US" altLang="zh-CN" dirty="0"/>
              <a:t>via Keystroke Dynamics. ACM CCS 1997.</a:t>
            </a:r>
            <a:endParaRPr lang="en-US" altLang="zh-CN" dirty="0"/>
          </a:p>
          <a:p>
            <a:r>
              <a:rPr lang="zh-CN" altLang="en-US" dirty="0" smtClean="0"/>
              <a:t>用户访问行为</a:t>
            </a:r>
            <a:endParaRPr lang="en-US" altLang="zh-CN" dirty="0" smtClean="0"/>
          </a:p>
          <a:p>
            <a:pPr lvl="1"/>
            <a:r>
              <a:rPr lang="zh-CN" altLang="en-US" dirty="0" smtClean="0"/>
              <a:t>访问地点、设备、操作方式</a:t>
            </a:r>
            <a:r>
              <a:rPr lang="en-US" altLang="zh-CN" dirty="0" smtClean="0"/>
              <a:t>……</a:t>
            </a:r>
            <a:endParaRPr lang="en-US" altLang="zh-CN" dirty="0" smtClean="0"/>
          </a:p>
          <a:p>
            <a:pPr lvl="1"/>
            <a:endParaRPr lang="en-US" altLang="zh-CN" dirty="0"/>
          </a:p>
          <a:p>
            <a:pPr lvl="1"/>
            <a:endParaRPr lang="zh-CN" altLang="en-US" dirty="0"/>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16.3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身份鉴别技术分类</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628140" y="1325880"/>
            <a:ext cx="10515600" cy="4351338"/>
          </a:xfrm>
        </p:spPr>
        <p:txBody>
          <a:bodyPr>
            <a:normAutofit fontScale="90000"/>
          </a:bodyPr>
          <a:lstStyle/>
          <a:p>
            <a:r>
              <a:rPr lang="en-US" altLang="zh-CN" dirty="0" smtClean="0"/>
              <a:t>What you know</a:t>
            </a:r>
            <a:endParaRPr lang="en-US" altLang="zh-CN" dirty="0" smtClean="0"/>
          </a:p>
          <a:p>
            <a:pPr lvl="1"/>
            <a:r>
              <a:rPr lang="zh-CN" altLang="en-US" dirty="0" smtClean="0"/>
              <a:t>口令，字符型口令、其它类型口令</a:t>
            </a:r>
            <a:endParaRPr lang="en-US" altLang="zh-CN" dirty="0" smtClean="0"/>
          </a:p>
          <a:p>
            <a:r>
              <a:rPr lang="en-US" altLang="zh-CN" dirty="0" smtClean="0"/>
              <a:t>What you have</a:t>
            </a:r>
            <a:endParaRPr lang="en-US" altLang="zh-CN" dirty="0" smtClean="0"/>
          </a:p>
          <a:p>
            <a:pPr lvl="1"/>
            <a:r>
              <a:rPr lang="en-US" altLang="zh-CN" dirty="0" smtClean="0"/>
              <a:t>USB Key</a:t>
            </a:r>
            <a:r>
              <a:rPr lang="zh-CN" altLang="en-US" dirty="0" smtClean="0"/>
              <a:t>，存储</a:t>
            </a:r>
            <a:r>
              <a:rPr lang="en-US" altLang="zh-CN" dirty="0" smtClean="0"/>
              <a:t>PKI</a:t>
            </a:r>
            <a:r>
              <a:rPr lang="zh-CN" altLang="en-US" dirty="0" smtClean="0"/>
              <a:t>系统中的私钥</a:t>
            </a:r>
            <a:endParaRPr lang="en-US" altLang="zh-CN" dirty="0" smtClean="0"/>
          </a:p>
          <a:p>
            <a:pPr lvl="1"/>
            <a:r>
              <a:rPr lang="en-US" altLang="zh-CN" dirty="0" smtClean="0"/>
              <a:t>Token</a:t>
            </a:r>
            <a:r>
              <a:rPr lang="zh-CN" altLang="en-US" dirty="0" smtClean="0"/>
              <a:t>，动态口令</a:t>
            </a:r>
            <a:endParaRPr lang="en-US" altLang="zh-CN" dirty="0" smtClean="0"/>
          </a:p>
          <a:p>
            <a:pPr lvl="1"/>
            <a:r>
              <a:rPr lang="zh-CN" altLang="en-US" dirty="0" smtClean="0"/>
              <a:t>手机验证</a:t>
            </a:r>
            <a:endParaRPr lang="en-US" altLang="zh-CN" dirty="0" smtClean="0"/>
          </a:p>
          <a:p>
            <a:r>
              <a:rPr lang="en-US" altLang="zh-CN" dirty="0" smtClean="0"/>
              <a:t>What you are</a:t>
            </a:r>
            <a:endParaRPr lang="en-US" altLang="zh-CN" dirty="0" smtClean="0"/>
          </a:p>
          <a:p>
            <a:pPr lvl="1"/>
            <a:r>
              <a:rPr lang="zh-CN" altLang="en-US" dirty="0" smtClean="0"/>
              <a:t>生物信息特征，指纹</a:t>
            </a:r>
            <a:endParaRPr lang="en-US" altLang="zh-CN" dirty="0" smtClean="0"/>
          </a:p>
          <a:p>
            <a:r>
              <a:rPr lang="en-US" altLang="zh-CN" dirty="0" smtClean="0">
                <a:solidFill>
                  <a:srgbClr val="0070C0"/>
                </a:solidFill>
              </a:rPr>
              <a:t>Mixed</a:t>
            </a:r>
            <a:endParaRPr lang="en-US" altLang="zh-CN" dirty="0" smtClean="0">
              <a:solidFill>
                <a:srgbClr val="0070C0"/>
              </a:solidFill>
            </a:endParaRPr>
          </a:p>
          <a:p>
            <a:pPr lvl="1"/>
            <a:r>
              <a:rPr lang="zh-CN" altLang="en-US" dirty="0" smtClean="0">
                <a:solidFill>
                  <a:srgbClr val="0070C0"/>
                </a:solidFill>
              </a:rPr>
              <a:t>多因素身份鉴别</a:t>
            </a:r>
            <a:endParaRPr lang="en-US" altLang="zh-CN" dirty="0" smtClean="0">
              <a:solidFill>
                <a:srgbClr val="0070C0"/>
              </a:solidFill>
            </a:endParaRPr>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16.3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身份鉴别技术分类</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628140" y="1253490"/>
            <a:ext cx="9451340" cy="4351655"/>
          </a:xfrm>
        </p:spPr>
        <p:txBody>
          <a:bodyPr/>
          <a:lstStyle/>
          <a:p>
            <a:r>
              <a:rPr lang="zh-CN" altLang="en-US" dirty="0" smtClean="0"/>
              <a:t>同时使用多种因素</a:t>
            </a:r>
            <a:endParaRPr lang="en-US" altLang="zh-CN" dirty="0" smtClean="0"/>
          </a:p>
          <a:p>
            <a:r>
              <a:rPr lang="en-US" altLang="zh-CN" dirty="0" err="1" smtClean="0"/>
              <a:t>Mulit</a:t>
            </a:r>
            <a:r>
              <a:rPr lang="en-US" altLang="zh-CN" dirty="0" smtClean="0"/>
              <a:t>-factor authentication</a:t>
            </a:r>
            <a:endParaRPr lang="en-US" altLang="zh-CN" dirty="0" smtClean="0"/>
          </a:p>
          <a:p>
            <a:r>
              <a:rPr lang="zh-CN" altLang="en-US" dirty="0" smtClean="0"/>
              <a:t>攻击者必须同时攻击</a:t>
            </a:r>
            <a:r>
              <a:rPr lang="en-US" altLang="zh-CN" dirty="0" smtClean="0"/>
              <a:t>2</a:t>
            </a:r>
            <a:r>
              <a:rPr lang="zh-CN" altLang="en-US" dirty="0" smtClean="0"/>
              <a:t>种机制，才能成功</a:t>
            </a:r>
            <a:endParaRPr lang="zh-CN" altLang="en-US" dirty="0" smtClean="0"/>
          </a:p>
          <a:p>
            <a:pPr lvl="1"/>
            <a:r>
              <a:rPr lang="zh-CN" altLang="en-US" dirty="0" smtClean="0"/>
              <a:t>例如，猜测口令成功的概率</a:t>
            </a:r>
            <a:r>
              <a:rPr lang="en-US" altLang="zh-CN" dirty="0" smtClean="0"/>
              <a:t>p1</a:t>
            </a:r>
            <a:r>
              <a:rPr lang="zh-CN" altLang="en-US" dirty="0" smtClean="0"/>
              <a:t>、捡到</a:t>
            </a:r>
            <a:r>
              <a:rPr lang="en-US" altLang="zh-CN" dirty="0" smtClean="0"/>
              <a:t>/</a:t>
            </a:r>
            <a:r>
              <a:rPr lang="zh-CN" altLang="en-US" dirty="0" smtClean="0"/>
              <a:t>偷窃</a:t>
            </a:r>
            <a:r>
              <a:rPr lang="en-US" altLang="zh-CN" dirty="0" smtClean="0"/>
              <a:t>Token</a:t>
            </a:r>
            <a:r>
              <a:rPr lang="zh-CN" altLang="en-US" dirty="0" smtClean="0"/>
              <a:t>成功的概率</a:t>
            </a:r>
            <a:r>
              <a:rPr lang="en-US" altLang="zh-CN" dirty="0" smtClean="0"/>
              <a:t>p2</a:t>
            </a:r>
            <a:r>
              <a:rPr lang="zh-CN" altLang="en-US" dirty="0" smtClean="0"/>
              <a:t>，则攻击成功概率变为</a:t>
            </a:r>
            <a:r>
              <a:rPr lang="en-US" altLang="zh-CN" dirty="0" smtClean="0"/>
              <a:t>p1*p2</a:t>
            </a:r>
            <a:endParaRPr lang="en-US" altLang="zh-CN" dirty="0" smtClean="0"/>
          </a:p>
          <a:p>
            <a:r>
              <a:rPr lang="en-US" altLang="zh-CN" dirty="0" smtClean="0"/>
              <a:t>Two-factor, multi-factor</a:t>
            </a:r>
            <a:endParaRPr lang="en-US" altLang="zh-CN" dirty="0" smtClean="0"/>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16.3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多因素身份鉴别</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Rectangle 3"/>
          <p:cNvSpPr>
            <a:spLocks noGrp="1" noChangeArrowheads="1"/>
          </p:cNvSpPr>
          <p:nvPr>
            <p:ph idx="1"/>
          </p:nvPr>
        </p:nvSpPr>
        <p:spPr>
          <a:xfrm>
            <a:off x="1628140" y="1253490"/>
            <a:ext cx="10515600" cy="4351338"/>
          </a:xfrm>
        </p:spPr>
        <p:txBody>
          <a:bodyPr>
            <a:normAutofit/>
          </a:bodyPr>
          <a:lstStyle/>
          <a:p>
            <a:r>
              <a:rPr lang="zh-CN" altLang="en-US" sz="2600" dirty="0" smtClean="0"/>
              <a:t>同时验证多个身份因素</a:t>
            </a:r>
            <a:endParaRPr lang="en-US" altLang="zh-CN" sz="2600" dirty="0" smtClean="0"/>
          </a:p>
          <a:p>
            <a:pPr lvl="1"/>
            <a:r>
              <a:rPr lang="en-US" altLang="zh-CN" sz="2200" dirty="0" smtClean="0"/>
              <a:t>Password+</a:t>
            </a:r>
            <a:r>
              <a:rPr lang="zh-CN" altLang="en-US" sz="2200" dirty="0" smtClean="0"/>
              <a:t>动态口令</a:t>
            </a:r>
            <a:endParaRPr lang="en-US" altLang="zh-CN" sz="2200" dirty="0" smtClean="0"/>
          </a:p>
          <a:p>
            <a:pPr lvl="1"/>
            <a:r>
              <a:rPr lang="en-US" altLang="zh-CN" sz="2200" dirty="0" err="1" smtClean="0"/>
              <a:t>Password+USBKey</a:t>
            </a:r>
            <a:endParaRPr lang="en-US" altLang="zh-CN" sz="2200" dirty="0" smtClean="0"/>
          </a:p>
          <a:p>
            <a:pPr lvl="1"/>
            <a:r>
              <a:rPr lang="en-US" altLang="zh-CN" sz="2200" dirty="0" smtClean="0"/>
              <a:t>Password+</a:t>
            </a:r>
            <a:r>
              <a:rPr lang="zh-CN" altLang="en-US" sz="2200" dirty="0" smtClean="0"/>
              <a:t>生物特征</a:t>
            </a:r>
            <a:endParaRPr lang="en-US" altLang="zh-CN" sz="2200" dirty="0" smtClean="0"/>
          </a:p>
          <a:p>
            <a:r>
              <a:rPr lang="en-US" altLang="zh-CN" sz="2600" dirty="0" smtClean="0"/>
              <a:t>USB </a:t>
            </a:r>
            <a:r>
              <a:rPr lang="en-US" altLang="zh-CN" sz="2600" dirty="0" err="1" smtClean="0"/>
              <a:t>Key+PIN</a:t>
            </a:r>
            <a:r>
              <a:rPr lang="zh-CN" altLang="en-US" sz="2600" dirty="0" smtClean="0"/>
              <a:t>不是多因素鉴别</a:t>
            </a:r>
            <a:endParaRPr lang="en-US" altLang="zh-CN" sz="2600" dirty="0" smtClean="0"/>
          </a:p>
          <a:p>
            <a:pPr lvl="1"/>
            <a:r>
              <a:rPr lang="en-US" altLang="zh-CN" sz="2200" dirty="0" smtClean="0"/>
              <a:t>PIN</a:t>
            </a:r>
            <a:r>
              <a:rPr lang="zh-CN" altLang="en-US" sz="2200" dirty="0" smtClean="0"/>
              <a:t>用于访问</a:t>
            </a:r>
            <a:r>
              <a:rPr lang="en-US" altLang="zh-CN" sz="2200" dirty="0" err="1" smtClean="0"/>
              <a:t>USBKey</a:t>
            </a:r>
            <a:r>
              <a:rPr lang="zh-CN" altLang="en-US" sz="2200" dirty="0" smtClean="0"/>
              <a:t>中存储的私钥，而非验证用户身份</a:t>
            </a:r>
            <a:endParaRPr lang="en-US" altLang="zh-CN" sz="2200" dirty="0" smtClean="0"/>
          </a:p>
          <a:p>
            <a:pPr lvl="2"/>
            <a:r>
              <a:rPr lang="en-US" altLang="zh-CN" sz="1700" dirty="0" smtClean="0"/>
              <a:t>PIN</a:t>
            </a:r>
            <a:r>
              <a:rPr lang="zh-CN" altLang="en-US" sz="1700" dirty="0" smtClean="0"/>
              <a:t>由</a:t>
            </a:r>
            <a:r>
              <a:rPr lang="en-US" altLang="zh-CN" sz="1700" dirty="0" smtClean="0"/>
              <a:t>Token/USB Key</a:t>
            </a:r>
            <a:r>
              <a:rPr lang="zh-CN" altLang="en-US" sz="1700" dirty="0" smtClean="0"/>
              <a:t>独立地验证</a:t>
            </a:r>
            <a:endParaRPr lang="zh-CN" altLang="en-US" sz="1700" dirty="0" smtClean="0"/>
          </a:p>
          <a:p>
            <a:pPr lvl="2"/>
            <a:r>
              <a:rPr lang="zh-CN" altLang="en-US" sz="2100" dirty="0" smtClean="0"/>
              <a:t>不需要</a:t>
            </a:r>
            <a:r>
              <a:rPr lang="en-US" altLang="zh-CN" sz="2100" dirty="0" smtClean="0"/>
              <a:t>Server</a:t>
            </a:r>
            <a:r>
              <a:rPr lang="zh-CN" altLang="en-US" sz="2100" dirty="0" smtClean="0"/>
              <a:t>验证</a:t>
            </a:r>
            <a:endParaRPr lang="zh-CN" altLang="en-US" sz="2100" dirty="0" smtClean="0"/>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16.3 </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多因素身份鉴别</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 4"/>
          <p:cNvSpPr/>
          <p:nvPr/>
        </p:nvSpPr>
        <p:spPr>
          <a:xfrm>
            <a:off x="588263" y="408432"/>
            <a:ext cx="10460735" cy="606552"/>
          </a:xfrm>
          <a:prstGeom prst="rect">
            <a:avLst/>
          </a:prstGeom>
          <a:solidFill>
            <a:srgbClr val="C7DDF0">
              <a:alpha val="100000"/>
            </a:srgbClr>
          </a:solidFill>
          <a:ln w="0" cap="flat">
            <a:noFill/>
            <a:prstDash val="solid"/>
            <a:miter lim="0"/>
          </a:ln>
        </p:spPr>
        <p:txBody>
          <a:bodyPr rtlCol="0"/>
          <a:lstStyle/>
          <a:p>
            <a:pPr algn="l" rtl="0" eaLnBrk="0">
              <a:lnSpc>
                <a:spcPct val="106000"/>
              </a:lnSpc>
            </a:pPr>
            <a:r>
              <a:rPr 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第</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16</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章</a:t>
            </a:r>
            <a:r>
              <a:rPr lang="en-US" altLang="zh-CN"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  </a:t>
            </a:r>
            <a:r>
              <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rPr>
              <a:t>身份认证</a:t>
            </a:r>
            <a:endParaRPr lang="zh-CN" altLang="en-US" sz="3600" kern="0" spc="-40" dirty="0">
              <a:solidFill>
                <a:srgbClr val="1F4E79">
                  <a:alpha val="100000"/>
                </a:srgbClr>
              </a:solidFill>
              <a:latin typeface="Calibri" panose="020F0502020204030204" charset="0"/>
              <a:ea typeface="微软雅黑" panose="020B0503020204020204" charset="-122"/>
              <a:cs typeface="仿宋" panose="02010609060101010101" charset="-122"/>
              <a:sym typeface="+mn-ea"/>
            </a:endParaRPr>
          </a:p>
        </p:txBody>
      </p:sp>
      <p:sp>
        <p:nvSpPr>
          <p:cNvPr id="8" name="path 8"/>
          <p:cNvSpPr/>
          <p:nvPr/>
        </p:nvSpPr>
        <p:spPr>
          <a:xfrm>
            <a:off x="696468" y="6239255"/>
            <a:ext cx="10779125" cy="27432"/>
          </a:xfrm>
          <a:custGeom>
            <a:avLst/>
            <a:gdLst/>
            <a:ahLst/>
            <a:cxnLst/>
            <a:rect l="0" t="0" r="0" b="0"/>
            <a:pathLst>
              <a:path w="16975" h="43">
                <a:moveTo>
                  <a:pt x="0" y="21"/>
                </a:moveTo>
                <a:lnTo>
                  <a:pt x="16975" y="21"/>
                </a:lnTo>
              </a:path>
            </a:pathLst>
          </a:custGeom>
          <a:noFill/>
          <a:ln w="27431" cap="flat">
            <a:solidFill>
              <a:srgbClr val="5B9BD5"/>
            </a:solidFill>
            <a:prstDash val="solid"/>
            <a:miter lim="1000000"/>
          </a:ln>
        </p:spPr>
        <p:txBody>
          <a:bodyPr rtlCol="0"/>
          <a:lstStyle/>
          <a:p>
            <a:pPr algn="ctr"/>
            <a:endParaRPr lang="zh-CN" altLang="en-US"/>
          </a:p>
        </p:txBody>
      </p:sp>
      <p:sp>
        <p:nvSpPr>
          <p:cNvPr id="2" name="文本框 1"/>
          <p:cNvSpPr txBox="1"/>
          <p:nvPr/>
        </p:nvSpPr>
        <p:spPr>
          <a:xfrm>
            <a:off x="2678430" y="1671320"/>
            <a:ext cx="6465570" cy="3412490"/>
          </a:xfrm>
          <a:prstGeom prst="rect">
            <a:avLst/>
          </a:prstGeom>
          <a:noFill/>
        </p:spPr>
        <p:txBody>
          <a:bodyPr wrap="square" rtlCol="0" anchor="t">
            <a:spAutoFit/>
          </a:bodyPr>
          <a:p>
            <a:pPr marL="571500" indent="-571500" eaLnBrk="1" hangingPunct="1">
              <a:lnSpc>
                <a:spcPct val="120000"/>
              </a:lnSpc>
              <a:buSzPct val="80000"/>
              <a:buFont typeface="Wingdings" panose="05000000000000000000" pitchFamily="2" charset="2"/>
              <a:buChar char="n"/>
            </a:pPr>
            <a:r>
              <a:rPr lang="zh-CN" altLang="en-US" sz="3600" b="1" dirty="0">
                <a:latin typeface="Times New Roman" panose="02020603050405020304" pitchFamily="18" charset="0"/>
                <a:cs typeface="Times New Roman" panose="02020603050405020304" pitchFamily="18" charset="0"/>
                <a:sym typeface="+mn-ea"/>
              </a:rPr>
              <a:t> 身份认证概述</a:t>
            </a:r>
            <a:endParaRPr lang="en-US" altLang="zh-CN" sz="3600" b="1" dirty="0">
              <a:latin typeface="Times New Roman" panose="02020603050405020304" pitchFamily="18" charset="0"/>
              <a:cs typeface="Times New Roman" panose="02020603050405020304" pitchFamily="18" charset="0"/>
            </a:endParaRPr>
          </a:p>
          <a:p>
            <a:pPr marL="571500" indent="-571500" eaLnBrk="1" hangingPunct="1">
              <a:lnSpc>
                <a:spcPct val="120000"/>
              </a:lnSpc>
              <a:buSzPct val="80000"/>
              <a:buFont typeface="Wingdings" panose="05000000000000000000" pitchFamily="2" charset="2"/>
              <a:buChar char="n"/>
            </a:pPr>
            <a:r>
              <a:rPr lang="en-US" altLang="zh-CN" sz="3600" b="1" dirty="0">
                <a:latin typeface="Times New Roman" panose="02020603050405020304" pitchFamily="18" charset="0"/>
                <a:cs typeface="Times New Roman" panose="02020603050405020304" pitchFamily="18" charset="0"/>
                <a:sym typeface="+mn-ea"/>
              </a:rPr>
              <a:t> </a:t>
            </a:r>
            <a:r>
              <a:rPr lang="zh-CN" altLang="en-US" sz="3600" b="1" dirty="0">
                <a:latin typeface="Times New Roman" panose="02020603050405020304" pitchFamily="18" charset="0"/>
                <a:cs typeface="Times New Roman" panose="02020603050405020304" pitchFamily="18" charset="0"/>
                <a:sym typeface="+mn-ea"/>
              </a:rPr>
              <a:t>基于口令的身份鉴别</a:t>
            </a:r>
            <a:endParaRPr lang="zh-CN" altLang="en-US" sz="3600" b="1" dirty="0">
              <a:latin typeface="Times New Roman" panose="02020603050405020304" pitchFamily="18" charset="0"/>
              <a:cs typeface="Times New Roman" panose="02020603050405020304" pitchFamily="18" charset="0"/>
              <a:sym typeface="+mn-ea"/>
            </a:endParaRPr>
          </a:p>
          <a:p>
            <a:pPr marL="571500" indent="-571500" eaLnBrk="1" hangingPunct="1">
              <a:lnSpc>
                <a:spcPct val="120000"/>
              </a:lnSpc>
              <a:buSzPct val="80000"/>
              <a:buFont typeface="Wingdings" panose="05000000000000000000" pitchFamily="2" charset="2"/>
              <a:buChar char="n"/>
            </a:pPr>
            <a:r>
              <a:rPr lang="en-US" altLang="zh-CN" sz="3600" b="1" dirty="0">
                <a:latin typeface="Times New Roman" panose="02020603050405020304" pitchFamily="18" charset="0"/>
                <a:cs typeface="Times New Roman" panose="02020603050405020304" pitchFamily="18" charset="0"/>
                <a:sym typeface="+mn-ea"/>
              </a:rPr>
              <a:t> </a:t>
            </a:r>
            <a:r>
              <a:rPr lang="zh-CN" altLang="en-US" sz="3600" b="1" dirty="0">
                <a:latin typeface="Times New Roman" panose="02020603050405020304" pitchFamily="18" charset="0"/>
                <a:cs typeface="Times New Roman" panose="02020603050405020304" pitchFamily="18" charset="0"/>
                <a:sym typeface="+mn-ea"/>
              </a:rPr>
              <a:t>多因素身份鉴别</a:t>
            </a:r>
            <a:endParaRPr lang="en-US" altLang="zh-CN" sz="3600" b="1" dirty="0">
              <a:latin typeface="Times New Roman" panose="02020603050405020304" pitchFamily="18" charset="0"/>
              <a:cs typeface="Times New Roman" panose="02020603050405020304" pitchFamily="18" charset="0"/>
            </a:endParaRPr>
          </a:p>
          <a:p>
            <a:pPr marL="571500" indent="-571500" eaLnBrk="1" hangingPunct="1">
              <a:lnSpc>
                <a:spcPct val="120000"/>
              </a:lnSpc>
              <a:buSzPct val="80000"/>
              <a:buFont typeface="Wingdings" panose="05000000000000000000" pitchFamily="2" charset="2"/>
              <a:buChar char="n"/>
            </a:pPr>
            <a:r>
              <a:rPr lang="en-US" altLang="zh-CN" sz="3600" b="1" dirty="0">
                <a:latin typeface="Times New Roman" panose="02020603050405020304" pitchFamily="18" charset="0"/>
                <a:cs typeface="Times New Roman" panose="02020603050405020304" pitchFamily="18" charset="0"/>
                <a:sym typeface="+mn-ea"/>
              </a:rPr>
              <a:t> Kerberos</a:t>
            </a:r>
            <a:r>
              <a:rPr lang="zh-CN" altLang="en-US" sz="3600" b="1" dirty="0">
                <a:latin typeface="Times New Roman" panose="02020603050405020304" pitchFamily="18" charset="0"/>
                <a:cs typeface="Times New Roman" panose="02020603050405020304" pitchFamily="18" charset="0"/>
                <a:sym typeface="+mn-ea"/>
              </a:rPr>
              <a:t>协议</a:t>
            </a:r>
            <a:endParaRPr lang="en-US" altLang="zh-CN" sz="3600" b="1" dirty="0">
              <a:latin typeface="Times New Roman" panose="02020603050405020304" pitchFamily="18" charset="0"/>
              <a:cs typeface="Times New Roman" panose="02020603050405020304" pitchFamily="18" charset="0"/>
            </a:endParaRPr>
          </a:p>
          <a:p>
            <a:pPr marL="571500" indent="-571500" eaLnBrk="1" hangingPunct="1">
              <a:lnSpc>
                <a:spcPct val="120000"/>
              </a:lnSpc>
              <a:buSzPct val="80000"/>
              <a:buFont typeface="Wingdings" panose="05000000000000000000" pitchFamily="2" charset="2"/>
              <a:buChar char="n"/>
            </a:pPr>
            <a:r>
              <a:rPr lang="en-US" altLang="zh-CN" sz="3600" b="1" dirty="0">
                <a:latin typeface="Times New Roman" panose="02020603050405020304" pitchFamily="18" charset="0"/>
                <a:cs typeface="Times New Roman" panose="02020603050405020304" pitchFamily="18" charset="0"/>
                <a:sym typeface="+mn-ea"/>
              </a:rPr>
              <a:t> </a:t>
            </a:r>
            <a:r>
              <a:rPr lang="zh-CN" altLang="en-US" sz="3600" b="1" dirty="0">
                <a:latin typeface="Times New Roman" panose="02020603050405020304" pitchFamily="18" charset="0"/>
                <a:cs typeface="Times New Roman" panose="02020603050405020304" pitchFamily="18" charset="0"/>
                <a:sym typeface="+mn-ea"/>
              </a:rPr>
              <a:t>联合身份管理</a:t>
            </a:r>
            <a:endParaRPr lang="zh-CN" altLang="en-US" sz="3600" dirty="0">
              <a:latin typeface="Calibri" panose="020F0502020204030204" charset="0"/>
              <a:ea typeface="微软雅黑" panose="020B0503020204020204" charset="-122"/>
              <a:cs typeface="仿宋" panose="02010609060101010101" charset="-122"/>
              <a:sym typeface="+mn-ea"/>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16.4 </a:t>
            </a:r>
            <a:r>
              <a:rPr lang="zh-CN" altLang="en-US" dirty="0"/>
              <a:t>什么是</a:t>
            </a:r>
            <a:r>
              <a:rPr lang="en-US" altLang="zh-CN" dirty="0"/>
              <a:t>Kerberos</a:t>
            </a:r>
            <a:endParaRPr lang="en-US" altLang="zh-CN" dirty="0"/>
          </a:p>
        </p:txBody>
      </p:sp>
      <p:sp>
        <p:nvSpPr>
          <p:cNvPr id="4" name="灯片编号占位符 3"/>
          <p:cNvSpPr>
            <a:spLocks noGrp="1"/>
          </p:cNvSpPr>
          <p:nvPr>
            <p:ph type="sldNum" sz="quarter" idx="12"/>
          </p:nvPr>
        </p:nvSpPr>
        <p:spPr/>
        <p:txBody>
          <a:bodyPr/>
          <a:lstStyle/>
          <a:p>
            <a:pPr>
              <a:defRPr/>
            </a:pPr>
            <a:fld id="{B42B4293-9377-4872-955B-7EAEC82CC678}" type="slidenum">
              <a:rPr lang="en-US" altLang="zh-CN" smtClean="0"/>
            </a:fld>
            <a:endParaRPr lang="en-US" altLang="zh-CN" dirty="0"/>
          </a:p>
        </p:txBody>
      </p:sp>
      <p:sp>
        <p:nvSpPr>
          <p:cNvPr id="5" name="内容占位符 4"/>
          <p:cNvSpPr/>
          <p:nvPr>
            <p:ph idx="1"/>
          </p:nvPr>
        </p:nvSpPr>
        <p:spPr/>
        <p:txBody>
          <a:bodyPr>
            <a:normAutofit/>
          </a:bodyPr>
          <a:p>
            <a:r>
              <a:rPr lang="en-US" altLang="zh-CN"/>
              <a:t>Kerberos</a:t>
            </a:r>
            <a:r>
              <a:rPr lang="zh-CN" altLang="en-US"/>
              <a:t>协议是一个被广泛应用的网络认证</a:t>
            </a:r>
            <a:r>
              <a:rPr lang="zh-CN" altLang="en-US"/>
              <a:t>协议，最早是由</a:t>
            </a:r>
            <a:r>
              <a:rPr lang="en-US" altLang="zh-CN" dirty="0" smtClean="0">
                <a:sym typeface="+mn-ea"/>
              </a:rPr>
              <a:t>MIT</a:t>
            </a:r>
            <a:r>
              <a:rPr lang="zh-CN" altLang="en-US" dirty="0" smtClean="0">
                <a:sym typeface="+mn-ea"/>
              </a:rPr>
              <a:t>设计。</a:t>
            </a:r>
            <a:endParaRPr kumimoji="1" lang="zh-CN" altLang="en-US" dirty="0" smtClean="0">
              <a:latin typeface="Times New Roman" panose="02020603050405020304" pitchFamily="18" charset="0"/>
              <a:sym typeface="+mn-ea"/>
            </a:endParaRPr>
          </a:p>
          <a:p>
            <a:r>
              <a:rPr lang="en-US" altLang="zh-CN" dirty="0">
                <a:sym typeface="+mn-ea"/>
              </a:rPr>
              <a:t>Greek Kerberos</a:t>
            </a:r>
            <a:r>
              <a:rPr lang="zh-CN" altLang="en-US" dirty="0">
                <a:sym typeface="+mn-ea"/>
              </a:rPr>
              <a:t>：希腊神话中的人物，冥王</a:t>
            </a:r>
            <a:r>
              <a:rPr lang="en-US" altLang="zh-CN" dirty="0">
                <a:sym typeface="+mn-ea"/>
              </a:rPr>
              <a:t>Hades</a:t>
            </a:r>
            <a:r>
              <a:rPr lang="zh-CN" altLang="en-US" dirty="0">
                <a:sym typeface="+mn-ea"/>
              </a:rPr>
              <a:t>的一条凶猛的三头神犬，地狱入口的守卫者。</a:t>
            </a:r>
            <a:endParaRPr lang="en-US" altLang="zh-CN" dirty="0"/>
          </a:p>
          <a:p>
            <a:r>
              <a:rPr lang="zh-CN" altLang="en-US" dirty="0">
                <a:sym typeface="+mn-ea"/>
              </a:rPr>
              <a:t>现代</a:t>
            </a:r>
            <a:r>
              <a:rPr lang="en-US" altLang="zh-CN" dirty="0">
                <a:sym typeface="+mn-ea"/>
              </a:rPr>
              <a:t>Kerberos</a:t>
            </a:r>
            <a:r>
              <a:rPr lang="zh-CN" altLang="en-US" dirty="0">
                <a:sym typeface="+mn-ea"/>
              </a:rPr>
              <a:t>：守卫网络的大门的守卫者，包含三个主要</a:t>
            </a:r>
            <a:r>
              <a:rPr lang="zh-CN" altLang="en-US" dirty="0">
                <a:sym typeface="+mn-ea"/>
              </a:rPr>
              <a:t>角色：</a:t>
            </a:r>
            <a:endParaRPr lang="zh-CN" altLang="en-US" dirty="0">
              <a:sym typeface="+mn-ea"/>
            </a:endParaRPr>
          </a:p>
          <a:p>
            <a:pPr lvl="1" fontAlgn="auto">
              <a:lnSpc>
                <a:spcPct val="100000"/>
              </a:lnSpc>
            </a:pPr>
            <a:r>
              <a:rPr lang="zh-CN" altLang="en-US" dirty="0"/>
              <a:t>客户端（</a:t>
            </a:r>
            <a:r>
              <a:rPr lang="en-US" altLang="zh-CN" dirty="0"/>
              <a:t>Client</a:t>
            </a:r>
            <a:r>
              <a:rPr lang="zh-CN" altLang="en-US" dirty="0"/>
              <a:t>）</a:t>
            </a:r>
            <a:endParaRPr lang="zh-CN" altLang="en-US" dirty="0"/>
          </a:p>
          <a:p>
            <a:pPr lvl="1" fontAlgn="auto">
              <a:lnSpc>
                <a:spcPct val="100000"/>
              </a:lnSpc>
            </a:pPr>
            <a:r>
              <a:rPr lang="zh-CN" altLang="en-US" dirty="0"/>
              <a:t>服务器（</a:t>
            </a:r>
            <a:r>
              <a:rPr lang="en-US" altLang="zh-CN" dirty="0"/>
              <a:t>Server</a:t>
            </a:r>
            <a:r>
              <a:rPr lang="zh-CN" altLang="en-US" dirty="0"/>
              <a:t>）</a:t>
            </a:r>
            <a:endParaRPr lang="zh-CN" altLang="en-US" dirty="0"/>
          </a:p>
          <a:p>
            <a:pPr lvl="1" fontAlgn="auto">
              <a:lnSpc>
                <a:spcPct val="100000"/>
              </a:lnSpc>
            </a:pPr>
            <a:r>
              <a:rPr lang="en-US" altLang="zh-CN" dirty="0"/>
              <a:t>Kerberos</a:t>
            </a:r>
            <a:r>
              <a:rPr lang="zh-CN" altLang="en-US" dirty="0"/>
              <a:t>密钥分发中心（</a:t>
            </a:r>
            <a:r>
              <a:rPr lang="en-US" altLang="zh-CN" dirty="0"/>
              <a:t>Kerberos Key Distribution Center</a:t>
            </a:r>
            <a:r>
              <a:rPr lang="zh-CN" altLang="en-US" dirty="0"/>
              <a:t>，</a:t>
            </a:r>
            <a:r>
              <a:rPr lang="en-US" altLang="zh-CN" dirty="0"/>
              <a:t>KDC</a:t>
            </a:r>
            <a:r>
              <a:rPr lang="zh-CN" altLang="en-US" dirty="0"/>
              <a:t>）</a:t>
            </a:r>
            <a:endParaRPr lang="zh-CN" altLang="en-US" dirty="0"/>
          </a:p>
          <a:p>
            <a:pPr lvl="0"/>
            <a:r>
              <a:rPr lang="en-US" altLang="zh-CN" dirty="0"/>
              <a:t>Kerberos</a:t>
            </a:r>
            <a:r>
              <a:rPr lang="zh-CN" altLang="en-US" dirty="0"/>
              <a:t>提供三个保证：</a:t>
            </a:r>
            <a:endParaRPr lang="zh-CN" altLang="en-US" dirty="0"/>
          </a:p>
          <a:p>
            <a:pPr lvl="1" fontAlgn="auto">
              <a:lnSpc>
                <a:spcPct val="100000"/>
              </a:lnSpc>
            </a:pPr>
            <a:r>
              <a:rPr lang="zh-CN" altLang="en-US" dirty="0"/>
              <a:t>鉴别（认证）（</a:t>
            </a:r>
            <a:r>
              <a:rPr lang="en-US" altLang="zh-CN" dirty="0"/>
              <a:t>Authenticaiton</a:t>
            </a:r>
            <a:r>
              <a:rPr lang="zh-CN" altLang="en-US" dirty="0"/>
              <a:t>）</a:t>
            </a:r>
            <a:endParaRPr lang="zh-CN" altLang="en-US" dirty="0"/>
          </a:p>
          <a:p>
            <a:pPr lvl="1" fontAlgn="auto">
              <a:lnSpc>
                <a:spcPct val="100000"/>
              </a:lnSpc>
            </a:pPr>
            <a:r>
              <a:rPr lang="zh-CN" altLang="en-US" dirty="0"/>
              <a:t>授权（</a:t>
            </a:r>
            <a:r>
              <a:rPr lang="en-US" altLang="zh-CN" dirty="0"/>
              <a:t>Authorization</a:t>
            </a:r>
            <a:r>
              <a:rPr lang="zh-CN" altLang="en-US" dirty="0"/>
              <a:t>）</a:t>
            </a:r>
            <a:endParaRPr lang="zh-CN" altLang="en-US" dirty="0"/>
          </a:p>
          <a:p>
            <a:pPr lvl="1" fontAlgn="auto">
              <a:lnSpc>
                <a:spcPct val="100000"/>
              </a:lnSpc>
            </a:pPr>
            <a:r>
              <a:rPr lang="zh-CN" altLang="en-US" dirty="0"/>
              <a:t>审计（</a:t>
            </a:r>
            <a:r>
              <a:rPr lang="en-US" altLang="zh-CN" dirty="0"/>
              <a:t>Auditing</a:t>
            </a:r>
            <a:r>
              <a:rPr lang="zh-CN" altLang="en-US" dirty="0"/>
              <a:t>）</a:t>
            </a:r>
            <a:endParaRPr lang="en-US" altLang="zh-CN" dirty="0"/>
          </a:p>
          <a:p>
            <a:endParaRPr kumimoji="1" lang="zh-CN" altLang="en-US" dirty="0" smtClean="0">
              <a:latin typeface="Times New Roman" panose="02020603050405020304" pitchFamily="18" charset="0"/>
              <a:sym typeface="+mn-ea"/>
            </a:endParaRPr>
          </a:p>
          <a:p>
            <a:endParaRPr lang="zh-CN" altLang="en-US" dirty="0" smtClean="0">
              <a:sym typeface="+mn-ea"/>
            </a:endParaRPr>
          </a:p>
        </p:txBody>
      </p:sp>
      <p:pic>
        <p:nvPicPr>
          <p:cNvPr id="6" name="Picture 5"/>
          <p:cNvPicPr>
            <a:picLocks noChangeAspect="1" noChangeArrowheads="1"/>
          </p:cNvPicPr>
          <p:nvPr>
            <p:custDataLst>
              <p:tags r:id="rId1"/>
            </p:custDataLst>
          </p:nvPr>
        </p:nvPicPr>
        <p:blipFill>
          <a:blip r:embed="rId2"/>
          <a:srcRect/>
          <a:stretch>
            <a:fillRect/>
          </a:stretch>
        </p:blipFill>
        <p:spPr bwMode="auto">
          <a:xfrm>
            <a:off x="9262110" y="3290507"/>
            <a:ext cx="2211388" cy="2911475"/>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2000" advTm="2827"/>
    </mc:Choice>
    <mc:Fallback>
      <p:transition spd="slow" advTm="2827"/>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p:cNvSpPr>
            <a:spLocks noGrp="1" noChangeArrowheads="1"/>
          </p:cNvSpPr>
          <p:nvPr>
            <p:ph idx="1"/>
          </p:nvPr>
        </p:nvSpPr>
        <p:spPr>
          <a:xfrm>
            <a:off x="1628140" y="1253490"/>
            <a:ext cx="8888095" cy="4351655"/>
          </a:xfrm>
        </p:spPr>
        <p:txBody>
          <a:bodyPr/>
          <a:lstStyle/>
          <a:p>
            <a:pPr eaLnBrk="1" hangingPunct="1"/>
            <a:r>
              <a:rPr lang="zh-CN" altLang="en-US" dirty="0" smtClean="0"/>
              <a:t>该协议的免费实现可以在</a:t>
            </a:r>
            <a:r>
              <a:rPr lang="en-US" altLang="zh-CN" dirty="0" smtClean="0">
                <a:hlinkClick r:id="rId1"/>
              </a:rPr>
              <a:t>Massachusetts Institute of Technology</a:t>
            </a:r>
            <a:r>
              <a:rPr lang="zh-CN" altLang="en-US" dirty="0" smtClean="0"/>
              <a:t>上获得。</a:t>
            </a:r>
            <a:endParaRPr lang="zh-CN" altLang="en-US" dirty="0" smtClean="0"/>
          </a:p>
          <a:p>
            <a:pPr eaLnBrk="1" hangingPunct="1"/>
            <a:r>
              <a:rPr lang="zh-CN" altLang="en-US" dirty="0" smtClean="0"/>
              <a:t>使用的版权允许与</a:t>
            </a:r>
            <a:r>
              <a:rPr lang="en-US" altLang="zh-CN" dirty="0" smtClean="0"/>
              <a:t>BSD</a:t>
            </a:r>
            <a:r>
              <a:rPr lang="zh-CN" altLang="en-US" dirty="0" smtClean="0"/>
              <a:t>操作系统以及</a:t>
            </a:r>
            <a:r>
              <a:rPr lang="en-US" altLang="zh-CN" dirty="0" smtClean="0"/>
              <a:t>X Window</a:t>
            </a:r>
            <a:r>
              <a:rPr lang="zh-CN" altLang="en-US" dirty="0" smtClean="0"/>
              <a:t>系统类似。</a:t>
            </a:r>
            <a:endParaRPr lang="zh-CN" altLang="en-US" dirty="0" smtClean="0"/>
          </a:p>
          <a:p>
            <a:pPr lvl="1" eaLnBrk="1" hangingPunct="1"/>
            <a:r>
              <a:rPr lang="en-US" altLang="zh-CN" dirty="0" smtClean="0"/>
              <a:t>MIT</a:t>
            </a:r>
            <a:r>
              <a:rPr lang="zh-CN" altLang="en-US" dirty="0" smtClean="0"/>
              <a:t>以源代码的形式提供</a:t>
            </a:r>
            <a:r>
              <a:rPr lang="en-US" altLang="zh-CN" dirty="0" smtClean="0"/>
              <a:t>Kerberos,</a:t>
            </a:r>
            <a:r>
              <a:rPr lang="zh-CN" altLang="en-US" dirty="0" smtClean="0"/>
              <a:t>以使任何希望使用它的个人可以检查代码并确保代码本身是可信的。</a:t>
            </a:r>
            <a:endParaRPr lang="zh-CN" altLang="en-US" dirty="0" smtClean="0"/>
          </a:p>
          <a:p>
            <a:pPr lvl="1" eaLnBrk="1" hangingPunct="1"/>
            <a:r>
              <a:rPr lang="zh-CN" altLang="en-US" dirty="0" smtClean="0"/>
              <a:t>很多商业产品实现了</a:t>
            </a:r>
            <a:r>
              <a:rPr lang="en-US" altLang="zh-CN" dirty="0" smtClean="0"/>
              <a:t>Kerberos,</a:t>
            </a:r>
            <a:r>
              <a:rPr lang="zh-CN" altLang="en-US" dirty="0" smtClean="0"/>
              <a:t>可以提供有专业保障与支持的</a:t>
            </a:r>
            <a:r>
              <a:rPr lang="en-US" altLang="zh-CN" dirty="0"/>
              <a:t>Kerberos</a:t>
            </a:r>
            <a:endParaRPr lang="en-US" altLang="zh-CN" dirty="0" smtClean="0"/>
          </a:p>
        </p:txBody>
      </p:sp>
      <p:pic>
        <p:nvPicPr>
          <p:cNvPr id="150" name="picture 150"/>
          <p:cNvPicPr>
            <a:picLocks noChangeAspect="1"/>
          </p:cNvPicPr>
          <p:nvPr/>
        </p:nvPicPr>
        <p:blipFill>
          <a:blip r:embed="rId2"/>
          <a:stretch>
            <a:fillRect/>
          </a:stretch>
        </p:blipFill>
        <p:spPr>
          <a:xfrm rot="21600000">
            <a:off x="824483" y="408431"/>
            <a:ext cx="419100" cy="655320"/>
          </a:xfrm>
          <a:prstGeom prst="rect">
            <a:avLst/>
          </a:prstGeom>
        </p:spPr>
      </p:pic>
      <p:sp>
        <p:nvSpPr>
          <p:cNvPr id="1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16.4 Kerberos</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实现</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3"/>
          <p:cNvSpPr>
            <a:spLocks noGrp="1" noChangeArrowheads="1"/>
          </p:cNvSpPr>
          <p:nvPr>
            <p:ph idx="1"/>
          </p:nvPr>
        </p:nvSpPr>
        <p:spPr>
          <a:xfrm>
            <a:off x="1628140" y="1336675"/>
            <a:ext cx="8994775" cy="4351655"/>
          </a:xfrm>
        </p:spPr>
        <p:txBody>
          <a:bodyPr>
            <a:normAutofit/>
          </a:bodyPr>
          <a:lstStyle/>
          <a:p>
            <a:pPr eaLnBrk="1" hangingPunct="1"/>
            <a:r>
              <a:rPr lang="zh-CN" altLang="en-US" sz="2800" dirty="0" smtClean="0"/>
              <a:t>基于对称密码学</a:t>
            </a:r>
            <a:endParaRPr lang="zh-CN" altLang="en-US" sz="2800" dirty="0" smtClean="0"/>
          </a:p>
          <a:p>
            <a:pPr eaLnBrk="1" hangingPunct="1"/>
            <a:r>
              <a:rPr lang="zh-CN" altLang="en-US" sz="2800" dirty="0" smtClean="0"/>
              <a:t>提供可信的第三方：</a:t>
            </a:r>
            <a:r>
              <a:rPr lang="en-US" altLang="zh-CN" sz="2800" dirty="0" smtClean="0"/>
              <a:t>KDC</a:t>
            </a:r>
            <a:r>
              <a:rPr lang="zh-CN" altLang="en-US" sz="2800" dirty="0" smtClean="0"/>
              <a:t>，</a:t>
            </a:r>
            <a:r>
              <a:rPr lang="en-US" altLang="zh-CN" sz="2800" dirty="0" smtClean="0"/>
              <a:t>Key Distribution Center</a:t>
            </a:r>
            <a:endParaRPr lang="en-US" altLang="zh-CN" sz="2800" dirty="0" smtClean="0"/>
          </a:p>
          <a:p>
            <a:pPr eaLnBrk="1" hangingPunct="1"/>
            <a:r>
              <a:rPr lang="en-US" altLang="zh-CN" sz="2800" dirty="0" smtClean="0"/>
              <a:t>SSO(Single Sign On)</a:t>
            </a:r>
            <a:endParaRPr lang="en-US" altLang="zh-CN" sz="2800" dirty="0" smtClean="0"/>
          </a:p>
          <a:p>
            <a:pPr lvl="1" eaLnBrk="1" hangingPunct="1"/>
            <a:r>
              <a:rPr lang="zh-CN" altLang="en-US" sz="2400" dirty="0" smtClean="0"/>
              <a:t>用户只需输入一次身份验证信息就可以凭借此验证获得的票据</a:t>
            </a:r>
            <a:r>
              <a:rPr lang="en-US" altLang="zh-CN" sz="2400" dirty="0" smtClean="0"/>
              <a:t>(TGT)</a:t>
            </a:r>
            <a:r>
              <a:rPr lang="zh-CN" altLang="en-US" sz="2400" dirty="0" smtClean="0"/>
              <a:t>访问多个服务</a:t>
            </a:r>
            <a:endParaRPr lang="zh-CN" altLang="en-US" sz="2400" dirty="0" smtClean="0"/>
          </a:p>
          <a:p>
            <a:pPr lvl="1" eaLnBrk="1" hangingPunct="1"/>
            <a:r>
              <a:rPr lang="zh-CN" altLang="en-US" sz="2400" dirty="0" smtClean="0"/>
              <a:t>注意：有效期</a:t>
            </a:r>
            <a:endParaRPr lang="zh-CN" altLang="en-US" sz="2400" dirty="0" smtClean="0"/>
          </a:p>
          <a:p>
            <a:pPr eaLnBrk="1" hangingPunct="1"/>
            <a:r>
              <a:rPr lang="zh-CN" altLang="en-US" sz="2800" dirty="0" smtClean="0"/>
              <a:t>相当的安全性</a:t>
            </a:r>
            <a:endParaRPr lang="zh-CN" altLang="en-US" sz="2800" dirty="0" smtClean="0"/>
          </a:p>
          <a:p>
            <a:pPr lvl="1" eaLnBrk="1" hangingPunct="1"/>
            <a:r>
              <a:rPr lang="zh-CN" altLang="en-US" sz="2400" dirty="0" smtClean="0"/>
              <a:t>在每个</a:t>
            </a:r>
            <a:r>
              <a:rPr lang="en-US" altLang="zh-CN" sz="2400" dirty="0" smtClean="0"/>
              <a:t>Client</a:t>
            </a:r>
            <a:r>
              <a:rPr lang="zh-CN" altLang="en-US" sz="2400" dirty="0" smtClean="0"/>
              <a:t>和</a:t>
            </a:r>
            <a:r>
              <a:rPr lang="en-US" altLang="zh-CN" sz="2400" dirty="0" smtClean="0"/>
              <a:t>Server</a:t>
            </a:r>
            <a:r>
              <a:rPr lang="zh-CN" altLang="en-US" sz="2400" dirty="0" smtClean="0"/>
              <a:t>之间建立了共享密钥</a:t>
            </a:r>
            <a:endParaRPr lang="zh-CN" altLang="en-US" sz="2400" dirty="0" smtClean="0"/>
          </a:p>
          <a:p>
            <a:pPr lvl="1" eaLnBrk="1" hangingPunct="1"/>
            <a:r>
              <a:rPr lang="zh-CN" altLang="en-US" sz="2400" dirty="0" smtClean="0"/>
              <a:t>可以保护网络实体免受窃听</a:t>
            </a:r>
            <a:r>
              <a:rPr lang="zh-CN" altLang="en-US" sz="2400" smtClean="0"/>
              <a:t>和重放攻击 </a:t>
            </a:r>
            <a:endParaRPr lang="zh-CN" altLang="en-US" sz="2400" dirty="0" smtClean="0"/>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16.4 Kerberos</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特点</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3"/>
          <p:cNvSpPr>
            <a:spLocks noGrp="1" noChangeArrowheads="1"/>
          </p:cNvSpPr>
          <p:nvPr>
            <p:ph idx="1"/>
          </p:nvPr>
        </p:nvSpPr>
        <p:spPr>
          <a:xfrm>
            <a:off x="1628140" y="1379855"/>
            <a:ext cx="9049385" cy="4351655"/>
          </a:xfrm>
        </p:spPr>
        <p:txBody>
          <a:bodyPr/>
          <a:lstStyle/>
          <a:p>
            <a:pPr eaLnBrk="1" hangingPunct="1"/>
            <a:r>
              <a:rPr lang="zh-CN" altLang="en-US" dirty="0" smtClean="0"/>
              <a:t>主要用于计算机网络的身份鉴别</a:t>
            </a:r>
            <a:endParaRPr lang="zh-CN" altLang="en-US" dirty="0" smtClean="0"/>
          </a:p>
          <a:p>
            <a:pPr lvl="1" eaLnBrk="1" hangingPunct="1"/>
            <a:r>
              <a:rPr lang="en-US" altLang="zh-CN" dirty="0" smtClean="0"/>
              <a:t>Windows2000</a:t>
            </a:r>
            <a:r>
              <a:rPr lang="zh-CN" altLang="en-US" dirty="0" smtClean="0"/>
              <a:t>和后续的操作系统都支持</a:t>
            </a:r>
            <a:r>
              <a:rPr lang="en-US" altLang="zh-CN" dirty="0" smtClean="0"/>
              <a:t>Kerberos</a:t>
            </a:r>
            <a:r>
              <a:rPr lang="zh-CN" altLang="en-US" dirty="0" smtClean="0"/>
              <a:t>作为认证方法。 </a:t>
            </a:r>
            <a:endParaRPr lang="en-US" altLang="zh-CN" dirty="0" smtClean="0"/>
          </a:p>
          <a:p>
            <a:pPr lvl="1" eaLnBrk="1" hangingPunct="1"/>
            <a:r>
              <a:rPr lang="zh-CN" altLang="en-US" dirty="0" smtClean="0"/>
              <a:t>苹果的</a:t>
            </a:r>
            <a:r>
              <a:rPr lang="en-US" altLang="zh-CN" dirty="0" smtClean="0"/>
              <a:t>Mac OS X</a:t>
            </a:r>
            <a:r>
              <a:rPr lang="zh-CN" altLang="en-US" dirty="0" smtClean="0"/>
              <a:t>也使用了</a:t>
            </a:r>
            <a:r>
              <a:rPr lang="en-US" altLang="zh-CN" dirty="0" smtClean="0"/>
              <a:t>Kerberos</a:t>
            </a:r>
            <a:r>
              <a:rPr lang="zh-CN" altLang="en-US" dirty="0" smtClean="0"/>
              <a:t>的客户和服务器版本。 </a:t>
            </a:r>
            <a:endParaRPr lang="zh-CN" altLang="en-US" dirty="0" smtClean="0"/>
          </a:p>
          <a:p>
            <a:pPr lvl="1" eaLnBrk="1" hangingPunct="1"/>
            <a:r>
              <a:rPr lang="en-US" altLang="zh-CN" dirty="0" smtClean="0"/>
              <a:t>Red Hat Enterprise Linux4 </a:t>
            </a:r>
            <a:r>
              <a:rPr lang="zh-CN" altLang="en-US" dirty="0" smtClean="0"/>
              <a:t>和后续的操作系统使用了</a:t>
            </a:r>
            <a:r>
              <a:rPr lang="en-US" altLang="zh-CN" dirty="0" smtClean="0"/>
              <a:t>Kerberos</a:t>
            </a:r>
            <a:r>
              <a:rPr lang="zh-CN" altLang="en-US" dirty="0" smtClean="0"/>
              <a:t>的客户和服务器版本。 </a:t>
            </a:r>
            <a:endParaRPr lang="zh-CN" altLang="en-US" dirty="0" smtClean="0"/>
          </a:p>
        </p:txBody>
      </p:sp>
      <p:pic>
        <p:nvPicPr>
          <p:cNvPr id="150" name="picture 150"/>
          <p:cNvPicPr>
            <a:picLocks noChangeAspect="1"/>
          </p:cNvPicPr>
          <p:nvPr/>
        </p:nvPicPr>
        <p:blipFill>
          <a:blip r:embed="rId1"/>
          <a:stretch>
            <a:fillRect/>
          </a:stretch>
        </p:blipFill>
        <p:spPr>
          <a:xfrm rot="21600000">
            <a:off x="824483" y="408431"/>
            <a:ext cx="419100" cy="655320"/>
          </a:xfrm>
          <a:prstGeom prst="rect">
            <a:avLst/>
          </a:prstGeom>
        </p:spPr>
      </p:pic>
      <p:sp>
        <p:nvSpPr>
          <p:cNvPr id="1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16.4 Kerberos</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应用</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标题 1"/>
          <p:cNvSpPr>
            <a:spLocks noGrp="1"/>
          </p:cNvSpPr>
          <p:nvPr>
            <p:ph type="title"/>
          </p:nvPr>
        </p:nvSpPr>
        <p:spPr/>
        <p:txBody>
          <a:bodyPr/>
          <a:lstStyle/>
          <a:p>
            <a:pPr marL="342900" indent="-342900" eaLnBrk="1" hangingPunct="1"/>
            <a:r>
              <a:rPr lang="en-US" altLang="zh-CN" smtClean="0"/>
              <a:t>Windows domain login</a:t>
            </a:r>
            <a:endParaRPr lang="zh-CN" altLang="en-US" smtClean="0"/>
          </a:p>
        </p:txBody>
      </p:sp>
      <p:pic>
        <p:nvPicPr>
          <p:cNvPr id="68610" name="Picture 3"/>
          <p:cNvPicPr>
            <a:picLocks noChangeAspect="1" noChangeArrowheads="1"/>
          </p:cNvPicPr>
          <p:nvPr/>
        </p:nvPicPr>
        <p:blipFill>
          <a:blip r:embed="rId1"/>
          <a:srcRect/>
          <a:stretch>
            <a:fillRect/>
          </a:stretch>
        </p:blipFill>
        <p:spPr bwMode="auto">
          <a:xfrm>
            <a:off x="1524000" y="2209800"/>
            <a:ext cx="4460875" cy="2806700"/>
          </a:xfrm>
          <a:prstGeom prst="rect">
            <a:avLst/>
          </a:prstGeom>
          <a:noFill/>
          <a:ln w="9525">
            <a:noFill/>
            <a:miter lim="800000"/>
            <a:headEnd/>
            <a:tailEnd/>
          </a:ln>
        </p:spPr>
      </p:pic>
      <p:pic>
        <p:nvPicPr>
          <p:cNvPr id="68611" name="Picture 4"/>
          <p:cNvPicPr>
            <a:picLocks noChangeAspect="1" noChangeArrowheads="1"/>
          </p:cNvPicPr>
          <p:nvPr/>
        </p:nvPicPr>
        <p:blipFill>
          <a:blip r:embed="rId2"/>
          <a:srcRect/>
          <a:stretch>
            <a:fillRect/>
          </a:stretch>
        </p:blipFill>
        <p:spPr bwMode="auto">
          <a:xfrm>
            <a:off x="6172200" y="1565275"/>
            <a:ext cx="4495800" cy="52927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3"/>
          <p:cNvSpPr>
            <a:spLocks noGrp="1" noChangeArrowheads="1"/>
          </p:cNvSpPr>
          <p:nvPr>
            <p:ph idx="1"/>
          </p:nvPr>
        </p:nvSpPr>
        <p:spPr>
          <a:xfrm>
            <a:off x="1536700" y="1143635"/>
            <a:ext cx="9349105" cy="5373370"/>
          </a:xfrm>
          <a:solidFill>
            <a:schemeClr val="bg1"/>
          </a:solidFill>
        </p:spPr>
        <p:txBody>
          <a:bodyPr>
            <a:normAutofit/>
          </a:bodyPr>
          <a:lstStyle/>
          <a:p>
            <a:pPr eaLnBrk="1" hangingPunct="1">
              <a:spcBef>
                <a:spcPts val="0"/>
              </a:spcBef>
            </a:pPr>
            <a:r>
              <a:rPr lang="zh-CN" altLang="en-US" sz="2000" dirty="0" smtClean="0"/>
              <a:t>版本</a:t>
            </a:r>
            <a:r>
              <a:rPr lang="en-US" altLang="zh-CN" sz="2000" dirty="0" smtClean="0"/>
              <a:t>1-3</a:t>
            </a:r>
            <a:r>
              <a:rPr lang="zh-CN" altLang="en-US" sz="2000" dirty="0" smtClean="0"/>
              <a:t>都只有麻省理工内部发行。</a:t>
            </a:r>
            <a:endParaRPr lang="zh-CN" altLang="en-US" sz="2000" dirty="0" smtClean="0"/>
          </a:p>
          <a:p>
            <a:pPr eaLnBrk="1" hangingPunct="1">
              <a:spcBef>
                <a:spcPts val="0"/>
              </a:spcBef>
            </a:pPr>
            <a:r>
              <a:rPr lang="en-US" altLang="zh-CN" sz="2000" dirty="0" smtClean="0"/>
              <a:t>Kerberos</a:t>
            </a:r>
            <a:r>
              <a:rPr lang="zh-CN" altLang="en-US" sz="2000" dirty="0" smtClean="0"/>
              <a:t>版本</a:t>
            </a:r>
            <a:r>
              <a:rPr lang="en-US" altLang="zh-CN" sz="2000" dirty="0" smtClean="0"/>
              <a:t>4</a:t>
            </a:r>
            <a:endParaRPr lang="en-US" altLang="zh-CN" sz="2000" dirty="0" smtClean="0"/>
          </a:p>
          <a:p>
            <a:pPr lvl="1" eaLnBrk="1" hangingPunct="1">
              <a:spcBef>
                <a:spcPts val="0"/>
              </a:spcBef>
            </a:pPr>
            <a:r>
              <a:rPr lang="zh-CN" altLang="en-US" sz="1800" dirty="0" smtClean="0"/>
              <a:t>主要设计者</a:t>
            </a:r>
            <a:r>
              <a:rPr lang="en-US" altLang="zh-CN" sz="1800" dirty="0" smtClean="0"/>
              <a:t>Steve Miller</a:t>
            </a:r>
            <a:r>
              <a:rPr lang="zh-CN" altLang="en-US" sz="1800" dirty="0" smtClean="0"/>
              <a:t>和</a:t>
            </a:r>
            <a:r>
              <a:rPr lang="en-US" altLang="zh-CN" sz="1800" dirty="0" smtClean="0"/>
              <a:t>Clifford </a:t>
            </a:r>
            <a:r>
              <a:rPr lang="en-US" altLang="zh-CN" sz="1800" dirty="0" err="1" smtClean="0"/>
              <a:t>Neuman</a:t>
            </a:r>
            <a:r>
              <a:rPr lang="zh-CN" altLang="en-US" sz="1800" dirty="0" smtClean="0"/>
              <a:t>，</a:t>
            </a:r>
            <a:r>
              <a:rPr lang="en-US" altLang="zh-CN" sz="1800" dirty="0" smtClean="0"/>
              <a:t>1980</a:t>
            </a:r>
            <a:r>
              <a:rPr lang="zh-CN" altLang="en-US" sz="1800" dirty="0" smtClean="0"/>
              <a:t>年末发布、主要针对</a:t>
            </a:r>
            <a:r>
              <a:rPr lang="en-US" altLang="zh-CN" sz="1800" dirty="0" smtClean="0"/>
              <a:t>Project Athena</a:t>
            </a:r>
            <a:r>
              <a:rPr lang="zh-CN" altLang="en-US" sz="1800" dirty="0" smtClean="0"/>
              <a:t>。</a:t>
            </a:r>
            <a:endParaRPr lang="zh-CN" altLang="en-US" sz="1800" dirty="0" smtClean="0"/>
          </a:p>
          <a:p>
            <a:pPr eaLnBrk="1" hangingPunct="1">
              <a:spcBef>
                <a:spcPts val="0"/>
              </a:spcBef>
            </a:pPr>
            <a:r>
              <a:rPr lang="en-US" altLang="zh-CN" sz="2000" dirty="0" smtClean="0"/>
              <a:t>KTH-KRB</a:t>
            </a:r>
            <a:endParaRPr lang="en-US" altLang="zh-CN" sz="2000" dirty="0" smtClean="0"/>
          </a:p>
          <a:p>
            <a:pPr lvl="1" eaLnBrk="1" hangingPunct="1">
              <a:spcBef>
                <a:spcPts val="0"/>
              </a:spcBef>
            </a:pPr>
            <a:r>
              <a:rPr lang="en-US" altLang="zh-CN" sz="1800" dirty="0" smtClean="0"/>
              <a:t>Kerberos</a:t>
            </a:r>
            <a:r>
              <a:rPr lang="zh-CN" altLang="en-US" sz="1800" dirty="0" smtClean="0"/>
              <a:t>版本</a:t>
            </a:r>
            <a:r>
              <a:rPr lang="en-US" altLang="zh-CN" sz="1800" dirty="0" smtClean="0"/>
              <a:t>4</a:t>
            </a:r>
            <a:r>
              <a:rPr lang="zh-CN" altLang="en-US" sz="1800" dirty="0" smtClean="0"/>
              <a:t>的实现工具、由瑞典皇家理工研制</a:t>
            </a:r>
            <a:endParaRPr lang="zh-CN" altLang="en-US" sz="1800" dirty="0" smtClean="0"/>
          </a:p>
          <a:p>
            <a:pPr lvl="1" eaLnBrk="1" hangingPunct="1">
              <a:spcBef>
                <a:spcPts val="0"/>
              </a:spcBef>
            </a:pPr>
            <a:r>
              <a:rPr lang="zh-CN" altLang="en-US" sz="1800" dirty="0" smtClean="0"/>
              <a:t>因为使用了</a:t>
            </a:r>
            <a:r>
              <a:rPr lang="en-US" altLang="zh-CN" sz="1800" dirty="0" smtClean="0"/>
              <a:t>DES</a:t>
            </a:r>
            <a:r>
              <a:rPr lang="zh-CN" altLang="en-US" sz="1800" dirty="0" smtClean="0"/>
              <a:t>加密算法（用</a:t>
            </a:r>
            <a:r>
              <a:rPr lang="en-US" altLang="zh-CN" sz="1800" dirty="0" smtClean="0"/>
              <a:t>56</a:t>
            </a:r>
            <a:r>
              <a:rPr lang="zh-CN" altLang="en-US" sz="1800" dirty="0" smtClean="0"/>
              <a:t>比特的密钥），美国出口管制当局把</a:t>
            </a:r>
            <a:r>
              <a:rPr lang="en-US" altLang="zh-CN" sz="1800" dirty="0" smtClean="0"/>
              <a:t>Kerberos</a:t>
            </a:r>
            <a:r>
              <a:rPr lang="zh-CN" altLang="en-US" sz="1800" dirty="0" smtClean="0"/>
              <a:t>归类为军需品，并禁止其出口。在美国更改密码出口管理条例（</a:t>
            </a:r>
            <a:r>
              <a:rPr lang="en-US" altLang="zh-CN" sz="1800" dirty="0" smtClean="0"/>
              <a:t>2000</a:t>
            </a:r>
            <a:r>
              <a:rPr lang="zh-CN" altLang="en-US" sz="1800" dirty="0" smtClean="0"/>
              <a:t>年）前，在美国境外使用的</a:t>
            </a:r>
            <a:r>
              <a:rPr lang="en-US" altLang="zh-CN" sz="1800" dirty="0" smtClean="0"/>
              <a:t>Kerberos</a:t>
            </a:r>
            <a:r>
              <a:rPr lang="zh-CN" altLang="en-US" sz="1800" dirty="0" smtClean="0"/>
              <a:t>版本</a:t>
            </a:r>
            <a:r>
              <a:rPr lang="en-US" altLang="zh-CN" sz="1800" dirty="0" smtClean="0"/>
              <a:t>4</a:t>
            </a:r>
            <a:r>
              <a:rPr lang="zh-CN" altLang="en-US" sz="1800" dirty="0" smtClean="0"/>
              <a:t>的实现工具。</a:t>
            </a:r>
            <a:endParaRPr lang="zh-CN" altLang="en-US" sz="1800" dirty="0" smtClean="0"/>
          </a:p>
          <a:p>
            <a:pPr lvl="1" eaLnBrk="1" hangingPunct="1">
              <a:spcBef>
                <a:spcPts val="0"/>
              </a:spcBef>
            </a:pPr>
            <a:r>
              <a:rPr lang="zh-CN" altLang="en-US" sz="1800" dirty="0" smtClean="0"/>
              <a:t>基于</a:t>
            </a:r>
            <a:r>
              <a:rPr lang="en-US" altLang="zh-CN" sz="1800" dirty="0" err="1" smtClean="0"/>
              <a:t>eBones</a:t>
            </a:r>
            <a:r>
              <a:rPr lang="zh-CN" altLang="en-US" sz="1800" dirty="0" smtClean="0"/>
              <a:t>的版本，</a:t>
            </a:r>
            <a:r>
              <a:rPr lang="en-US" altLang="zh-CN" sz="1800" dirty="0" err="1" smtClean="0"/>
              <a:t>eBones</a:t>
            </a:r>
            <a:r>
              <a:rPr lang="zh-CN" altLang="en-US" sz="1800" dirty="0" smtClean="0"/>
              <a:t>基于麻省理工对外发行的基于</a:t>
            </a:r>
            <a:r>
              <a:rPr lang="en-US" altLang="zh-CN" sz="1800" dirty="0" smtClean="0"/>
              <a:t>Kerberos</a:t>
            </a:r>
            <a:r>
              <a:rPr lang="zh-CN" altLang="en-US" sz="1800" dirty="0" smtClean="0"/>
              <a:t>版本</a:t>
            </a:r>
            <a:r>
              <a:rPr lang="en-US" altLang="zh-CN" sz="1800" dirty="0" smtClean="0"/>
              <a:t>4</a:t>
            </a:r>
            <a:r>
              <a:rPr lang="zh-CN" altLang="en-US" sz="1800" dirty="0" smtClean="0"/>
              <a:t>的补丁</a:t>
            </a:r>
            <a:r>
              <a:rPr lang="en-US" altLang="zh-CN" sz="1800" dirty="0" smtClean="0"/>
              <a:t>9</a:t>
            </a:r>
            <a:r>
              <a:rPr lang="zh-CN" altLang="en-US" sz="1800" dirty="0" smtClean="0"/>
              <a:t>的</a:t>
            </a:r>
            <a:r>
              <a:rPr lang="en-US" altLang="zh-CN" sz="1800" dirty="0" smtClean="0"/>
              <a:t>Bones</a:t>
            </a:r>
            <a:r>
              <a:rPr lang="zh-CN" altLang="en-US" sz="1800" dirty="0" smtClean="0"/>
              <a:t>。</a:t>
            </a:r>
            <a:endParaRPr lang="zh-CN" altLang="en-US" sz="1800" dirty="0" smtClean="0"/>
          </a:p>
          <a:p>
            <a:pPr eaLnBrk="1" hangingPunct="1">
              <a:spcBef>
                <a:spcPts val="0"/>
              </a:spcBef>
            </a:pPr>
            <a:r>
              <a:rPr lang="zh-CN" altLang="en-US" sz="2000" dirty="0" smtClean="0"/>
              <a:t>版本</a:t>
            </a:r>
            <a:r>
              <a:rPr lang="en-US" altLang="zh-CN" sz="2000" dirty="0" smtClean="0"/>
              <a:t>5</a:t>
            </a:r>
            <a:endParaRPr lang="en-US" altLang="zh-CN" sz="2000" dirty="0" smtClean="0"/>
          </a:p>
          <a:p>
            <a:pPr lvl="1" eaLnBrk="1" hangingPunct="1">
              <a:spcBef>
                <a:spcPts val="0"/>
              </a:spcBef>
            </a:pPr>
            <a:r>
              <a:rPr lang="en-US" altLang="zh-CN" sz="1800" dirty="0" smtClean="0"/>
              <a:t>John Kohl</a:t>
            </a:r>
            <a:r>
              <a:rPr lang="zh-CN" altLang="en-US" sz="1800" dirty="0" smtClean="0"/>
              <a:t>和</a:t>
            </a:r>
            <a:r>
              <a:rPr lang="en-US" altLang="zh-CN" sz="1800" dirty="0" smtClean="0"/>
              <a:t>Clifford </a:t>
            </a:r>
            <a:r>
              <a:rPr lang="en-US" altLang="zh-CN" sz="1800" dirty="0" err="1" smtClean="0"/>
              <a:t>Neuman</a:t>
            </a:r>
            <a:r>
              <a:rPr lang="zh-CN" altLang="en-US" sz="1800" dirty="0" smtClean="0"/>
              <a:t>设计，</a:t>
            </a:r>
            <a:r>
              <a:rPr lang="en-US" altLang="zh-CN" sz="1800" dirty="0" smtClean="0"/>
              <a:t>1993</a:t>
            </a:r>
            <a:r>
              <a:rPr lang="zh-CN" altLang="en-US" sz="1800" dirty="0" smtClean="0"/>
              <a:t>年作为</a:t>
            </a:r>
            <a:r>
              <a:rPr lang="en-US" altLang="zh-CN" sz="1800" b="1" dirty="0" smtClean="0">
                <a:hlinkClick r:id="rId1"/>
              </a:rPr>
              <a:t>RFC 1510</a:t>
            </a:r>
            <a:r>
              <a:rPr lang="zh-CN" altLang="en-US" sz="1800" dirty="0" smtClean="0"/>
              <a:t>颁布（在</a:t>
            </a:r>
            <a:r>
              <a:rPr lang="en-US" altLang="zh-CN" sz="1800" dirty="0" smtClean="0"/>
              <a:t>2005</a:t>
            </a:r>
            <a:r>
              <a:rPr lang="zh-CN" altLang="en-US" sz="1800" dirty="0" smtClean="0"/>
              <a:t>年由</a:t>
            </a:r>
            <a:r>
              <a:rPr lang="en-US" altLang="zh-CN" sz="1800" b="1" dirty="0" smtClean="0">
                <a:hlinkClick r:id="rId2"/>
              </a:rPr>
              <a:t>RFC 4120</a:t>
            </a:r>
            <a:r>
              <a:rPr lang="zh-CN" altLang="en-US" sz="1800" dirty="0" smtClean="0"/>
              <a:t>取代）</a:t>
            </a:r>
            <a:endParaRPr lang="zh-CN" altLang="en-US" sz="1800" dirty="0" smtClean="0"/>
          </a:p>
          <a:p>
            <a:pPr lvl="1" eaLnBrk="1" hangingPunct="1">
              <a:spcBef>
                <a:spcPts val="0"/>
              </a:spcBef>
            </a:pPr>
            <a:r>
              <a:rPr lang="zh-CN" altLang="en-US" sz="1800" dirty="0" smtClean="0"/>
              <a:t>目的在于克服版本</a:t>
            </a:r>
            <a:r>
              <a:rPr lang="en-US" altLang="zh-CN" sz="1800" dirty="0" smtClean="0"/>
              <a:t>4</a:t>
            </a:r>
            <a:r>
              <a:rPr lang="zh-CN" altLang="en-US" sz="1800" dirty="0" smtClean="0"/>
              <a:t>的局限性和安全问题。</a:t>
            </a:r>
            <a:endParaRPr lang="zh-CN" altLang="en-US" sz="1800" dirty="0" smtClean="0"/>
          </a:p>
          <a:p>
            <a:pPr lvl="1" eaLnBrk="1" hangingPunct="1">
              <a:spcBef>
                <a:spcPts val="0"/>
              </a:spcBef>
            </a:pPr>
            <a:r>
              <a:rPr lang="en-US" altLang="zh-CN" sz="1800" dirty="0" smtClean="0"/>
              <a:t>Kerberos</a:t>
            </a:r>
            <a:r>
              <a:rPr lang="zh-CN" altLang="en-US" sz="1800" dirty="0" smtClean="0"/>
              <a:t>版本</a:t>
            </a:r>
            <a:r>
              <a:rPr lang="en-US" altLang="zh-CN" sz="1800" dirty="0" smtClean="0"/>
              <a:t>5</a:t>
            </a:r>
            <a:r>
              <a:rPr lang="zh-CN" altLang="en-US" sz="1800" dirty="0" smtClean="0"/>
              <a:t>的实现工具</a:t>
            </a:r>
            <a:endParaRPr lang="en-US" altLang="zh-CN" sz="1800" dirty="0" smtClean="0"/>
          </a:p>
          <a:p>
            <a:pPr lvl="2" eaLnBrk="1" hangingPunct="1">
              <a:spcBef>
                <a:spcPts val="0"/>
              </a:spcBef>
            </a:pPr>
            <a:r>
              <a:rPr lang="en-US" altLang="zh-CN" sz="1400" dirty="0" smtClean="0">
                <a:hlinkClick r:id="rId3"/>
              </a:rPr>
              <a:t>MIT Kerberos</a:t>
            </a:r>
            <a:endParaRPr lang="en-US" altLang="zh-CN" sz="1400" dirty="0"/>
          </a:p>
          <a:p>
            <a:pPr lvl="2" eaLnBrk="1" hangingPunct="1">
              <a:spcBef>
                <a:spcPts val="0"/>
              </a:spcBef>
            </a:pPr>
            <a:r>
              <a:rPr lang="en-US" altLang="zh-CN" sz="1400" dirty="0" smtClean="0">
                <a:hlinkClick r:id="rId4"/>
              </a:rPr>
              <a:t>Heimdal</a:t>
            </a:r>
            <a:r>
              <a:rPr lang="zh-CN" altLang="en-US" sz="1400" dirty="0" smtClean="0"/>
              <a:t>，基本上也是由发布</a:t>
            </a:r>
            <a:r>
              <a:rPr lang="en-US" altLang="zh-CN" sz="1400" dirty="0" smtClean="0"/>
              <a:t>KTH-KRB</a:t>
            </a:r>
            <a:r>
              <a:rPr lang="zh-CN" altLang="en-US" sz="1400" dirty="0" smtClean="0"/>
              <a:t>的同一组人发布</a:t>
            </a:r>
            <a:endParaRPr lang="en-US" altLang="zh-CN" sz="1400" dirty="0" smtClean="0"/>
          </a:p>
          <a:p>
            <a:pPr lvl="2" eaLnBrk="1" hangingPunct="1">
              <a:spcBef>
                <a:spcPts val="0"/>
              </a:spcBef>
            </a:pPr>
            <a:r>
              <a:rPr lang="en-US" altLang="zh-CN" sz="1400" dirty="0" smtClean="0">
                <a:hlinkClick r:id="rId5"/>
              </a:rPr>
              <a:t>GUN </a:t>
            </a:r>
            <a:r>
              <a:rPr lang="en-US" altLang="zh-CN" sz="1400" dirty="0" err="1" smtClean="0">
                <a:hlinkClick r:id="rId5"/>
              </a:rPr>
              <a:t>Shishi</a:t>
            </a:r>
            <a:endParaRPr lang="zh-CN" altLang="en-US" sz="1400" dirty="0" smtClean="0"/>
          </a:p>
          <a:p>
            <a:pPr eaLnBrk="1" hangingPunct="1">
              <a:spcBef>
                <a:spcPts val="0"/>
              </a:spcBef>
            </a:pPr>
            <a:r>
              <a:rPr lang="en-US" altLang="zh-CN" sz="2000" dirty="0" smtClean="0"/>
              <a:t>2007</a:t>
            </a:r>
            <a:r>
              <a:rPr lang="zh-CN" altLang="en-US" sz="2000" dirty="0" smtClean="0"/>
              <a:t>年，麻省理工组成了一个</a:t>
            </a:r>
            <a:r>
              <a:rPr lang="en-US" altLang="zh-CN" sz="2000" dirty="0" smtClean="0"/>
              <a:t>Kerberos</a:t>
            </a:r>
            <a:r>
              <a:rPr lang="zh-CN" altLang="en-US" sz="2000" dirty="0" smtClean="0"/>
              <a:t>协会，以此推动</a:t>
            </a:r>
            <a:r>
              <a:rPr lang="en-US" altLang="zh-CN" sz="2000" dirty="0" smtClean="0"/>
              <a:t>Kerberos</a:t>
            </a:r>
            <a:r>
              <a:rPr lang="zh-CN" altLang="en-US" sz="2000" dirty="0" smtClean="0"/>
              <a:t>的持续发展。</a:t>
            </a:r>
            <a:r>
              <a:rPr lang="en-US" altLang="zh-CN" sz="2000" dirty="0" smtClean="0"/>
              <a:t>http://www.kerberos.org/</a:t>
            </a:r>
            <a:endParaRPr lang="en-US" altLang="zh-CN" sz="2000" dirty="0" smtClean="0"/>
          </a:p>
        </p:txBody>
      </p:sp>
      <p:pic>
        <p:nvPicPr>
          <p:cNvPr id="150" name="picture 150"/>
          <p:cNvPicPr>
            <a:picLocks noChangeAspect="1"/>
          </p:cNvPicPr>
          <p:nvPr/>
        </p:nvPicPr>
        <p:blipFill>
          <a:blip r:embed="rId6"/>
          <a:stretch>
            <a:fillRect/>
          </a:stretch>
        </p:blipFill>
        <p:spPr>
          <a:xfrm rot="21600000">
            <a:off x="824483" y="408431"/>
            <a:ext cx="419100" cy="655320"/>
          </a:xfrm>
          <a:prstGeom prst="rect">
            <a:avLst/>
          </a:prstGeom>
        </p:spPr>
      </p:pic>
      <p:sp>
        <p:nvSpPr>
          <p:cNvPr id="1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16.4 Kerberos</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历史与版本沿革</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3"/>
          <p:cNvSpPr>
            <a:spLocks noGrp="1" noChangeArrowheads="1"/>
          </p:cNvSpPr>
          <p:nvPr>
            <p:ph idx="1"/>
          </p:nvPr>
        </p:nvSpPr>
        <p:spPr>
          <a:xfrm>
            <a:off x="1628140" y="1304290"/>
            <a:ext cx="8887460" cy="4685665"/>
          </a:xfrm>
        </p:spPr>
        <p:txBody>
          <a:bodyPr>
            <a:normAutofit fontScale="85000"/>
          </a:bodyPr>
          <a:lstStyle/>
          <a:p>
            <a:pPr eaLnBrk="1" hangingPunct="1">
              <a:lnSpc>
                <a:spcPct val="130000"/>
              </a:lnSpc>
              <a:spcBef>
                <a:spcPts val="0"/>
              </a:spcBef>
            </a:pPr>
            <a:r>
              <a:rPr lang="en-US" altLang="zh-CN" sz="2400" b="1" dirty="0" smtClean="0">
                <a:hlinkClick r:id="rId1"/>
              </a:rPr>
              <a:t>RFC 3244</a:t>
            </a:r>
            <a:r>
              <a:rPr lang="zh-CN" altLang="en-US" sz="2400" dirty="0" smtClean="0"/>
              <a:t>记录整理了微软的一些对</a:t>
            </a:r>
            <a:r>
              <a:rPr lang="en-US" altLang="zh-CN" sz="2400" dirty="0" smtClean="0"/>
              <a:t>Kerberos</a:t>
            </a:r>
            <a:r>
              <a:rPr lang="zh-CN" altLang="en-US" sz="2400" dirty="0" smtClean="0"/>
              <a:t>协议软件包的添加。</a:t>
            </a:r>
            <a:endParaRPr lang="zh-CN" altLang="en-US" sz="2400" dirty="0" smtClean="0"/>
          </a:p>
          <a:p>
            <a:pPr eaLnBrk="1" hangingPunct="1">
              <a:lnSpc>
                <a:spcPct val="130000"/>
              </a:lnSpc>
              <a:spcBef>
                <a:spcPts val="0"/>
              </a:spcBef>
            </a:pPr>
            <a:r>
              <a:rPr lang="en-US" altLang="zh-CN" sz="2400" b="1" dirty="0" smtClean="0">
                <a:hlinkClick r:id="rId2"/>
              </a:rPr>
              <a:t>RFC4757</a:t>
            </a:r>
            <a:r>
              <a:rPr lang="en-US" altLang="zh-CN" sz="2400" dirty="0" smtClean="0"/>
              <a:t>“</a:t>
            </a:r>
            <a:r>
              <a:rPr lang="zh-CN" altLang="en-US" sz="2400" dirty="0" smtClean="0"/>
              <a:t>微软</a:t>
            </a:r>
            <a:r>
              <a:rPr lang="en-US" altLang="zh-CN" sz="2400" dirty="0" smtClean="0"/>
              <a:t>Windows2000Kerberos</a:t>
            </a:r>
            <a:r>
              <a:rPr lang="zh-CN" altLang="en-US" sz="2400" dirty="0" smtClean="0"/>
              <a:t>修改密码并设定密码协议”记录整理了微软用</a:t>
            </a:r>
            <a:r>
              <a:rPr lang="en-US" altLang="zh-CN" sz="2400" dirty="0" smtClean="0"/>
              <a:t>RC4</a:t>
            </a:r>
            <a:r>
              <a:rPr lang="zh-CN" altLang="en-US" sz="2400" dirty="0" smtClean="0"/>
              <a:t>密码的使用。</a:t>
            </a:r>
            <a:endParaRPr lang="zh-CN" altLang="en-US" sz="2400" dirty="0" smtClean="0"/>
          </a:p>
          <a:p>
            <a:pPr lvl="1" eaLnBrk="1" hangingPunct="1">
              <a:lnSpc>
                <a:spcPct val="130000"/>
              </a:lnSpc>
              <a:spcBef>
                <a:spcPts val="0"/>
              </a:spcBef>
            </a:pPr>
            <a:r>
              <a:rPr lang="zh-CN" altLang="en-US" sz="2000" dirty="0" smtClean="0"/>
              <a:t>虽然微软使用了</a:t>
            </a:r>
            <a:r>
              <a:rPr lang="en-US" altLang="zh-CN" sz="2000" dirty="0" smtClean="0"/>
              <a:t>Kerberos</a:t>
            </a:r>
            <a:r>
              <a:rPr lang="zh-CN" altLang="en-US" sz="2000" dirty="0" smtClean="0"/>
              <a:t>协议，却并没有用麻省理工的软件。 </a:t>
            </a:r>
            <a:endParaRPr lang="zh-CN" altLang="en-US" sz="2000" dirty="0" smtClean="0"/>
          </a:p>
          <a:p>
            <a:pPr eaLnBrk="1" hangingPunct="1">
              <a:lnSpc>
                <a:spcPct val="130000"/>
              </a:lnSpc>
              <a:spcBef>
                <a:spcPts val="0"/>
              </a:spcBef>
            </a:pPr>
            <a:r>
              <a:rPr lang="en-US" altLang="zh-CN" sz="2400" dirty="0" smtClean="0"/>
              <a:t>IETF Kerberos</a:t>
            </a:r>
            <a:r>
              <a:rPr lang="zh-CN" altLang="en-US" sz="2400" dirty="0" smtClean="0"/>
              <a:t>的工作小组在</a:t>
            </a:r>
            <a:r>
              <a:rPr lang="en-US" altLang="zh-CN" sz="2400" dirty="0" smtClean="0"/>
              <a:t>2005</a:t>
            </a:r>
            <a:r>
              <a:rPr lang="zh-CN" altLang="en-US" sz="2400" dirty="0" smtClean="0"/>
              <a:t>年更新了说明规范，最近的更新包括：</a:t>
            </a:r>
            <a:endParaRPr lang="zh-CN" altLang="en-US" sz="2400" dirty="0" smtClean="0"/>
          </a:p>
          <a:p>
            <a:pPr lvl="1" eaLnBrk="1" hangingPunct="1">
              <a:lnSpc>
                <a:spcPct val="130000"/>
              </a:lnSpc>
              <a:spcBef>
                <a:spcPts val="0"/>
              </a:spcBef>
            </a:pPr>
            <a:r>
              <a:rPr lang="en-US" altLang="zh-CN" sz="2000" dirty="0" smtClean="0"/>
              <a:t>"</a:t>
            </a:r>
            <a:r>
              <a:rPr lang="zh-CN" altLang="en-US" sz="2000" dirty="0" smtClean="0"/>
              <a:t>加密和校验和细则</a:t>
            </a:r>
            <a:r>
              <a:rPr lang="en-US" altLang="zh-CN" sz="2000" dirty="0" smtClean="0"/>
              <a:t>"</a:t>
            </a:r>
            <a:r>
              <a:rPr lang="zh-CN" altLang="en-US" sz="2000" dirty="0" smtClean="0"/>
              <a:t>（</a:t>
            </a:r>
            <a:r>
              <a:rPr lang="en-US" altLang="zh-CN" sz="2000" b="1" dirty="0" smtClean="0">
                <a:hlinkClick r:id="rId3"/>
              </a:rPr>
              <a:t>RFC 3961</a:t>
            </a:r>
            <a:r>
              <a:rPr lang="zh-CN" altLang="en-US" sz="2000" dirty="0" smtClean="0"/>
              <a:t>） </a:t>
            </a:r>
            <a:endParaRPr lang="zh-CN" altLang="en-US" sz="2000" dirty="0" smtClean="0"/>
          </a:p>
          <a:p>
            <a:pPr lvl="1" eaLnBrk="1" hangingPunct="1">
              <a:lnSpc>
                <a:spcPct val="130000"/>
              </a:lnSpc>
              <a:spcBef>
                <a:spcPts val="0"/>
              </a:spcBef>
            </a:pPr>
            <a:r>
              <a:rPr lang="en-US" altLang="zh-CN" sz="2000" dirty="0" smtClean="0"/>
              <a:t>"</a:t>
            </a:r>
            <a:r>
              <a:rPr lang="zh-CN" altLang="en-US" sz="2000" dirty="0" smtClean="0"/>
              <a:t>针对</a:t>
            </a:r>
            <a:r>
              <a:rPr lang="en-US" altLang="zh-CN" sz="2000" dirty="0" smtClean="0"/>
              <a:t>Kerberos</a:t>
            </a:r>
            <a:r>
              <a:rPr lang="zh-CN" altLang="en-US" sz="2000" dirty="0" smtClean="0"/>
              <a:t>版本</a:t>
            </a:r>
            <a:r>
              <a:rPr lang="en-US" altLang="zh-CN" sz="2000" dirty="0" smtClean="0"/>
              <a:t>5</a:t>
            </a:r>
            <a:r>
              <a:rPr lang="zh-CN" altLang="en-US" sz="2000" dirty="0" smtClean="0"/>
              <a:t>的高级加密算法（</a:t>
            </a:r>
            <a:r>
              <a:rPr lang="en-US" altLang="zh-CN" sz="2000" dirty="0" smtClean="0"/>
              <a:t>AES</a:t>
            </a:r>
            <a:r>
              <a:rPr lang="zh-CN" altLang="en-US" sz="2000" dirty="0" smtClean="0"/>
              <a:t>）加密</a:t>
            </a:r>
            <a:r>
              <a:rPr lang="en-US" altLang="zh-CN" sz="2000" dirty="0" smtClean="0"/>
              <a:t>"</a:t>
            </a:r>
            <a:r>
              <a:rPr lang="zh-CN" altLang="en-US" sz="2000" dirty="0" smtClean="0"/>
              <a:t>（</a:t>
            </a:r>
            <a:r>
              <a:rPr lang="en-US" altLang="zh-CN" sz="2000" b="1" dirty="0" smtClean="0">
                <a:hlinkClick r:id="rId4"/>
              </a:rPr>
              <a:t>RFC 3962</a:t>
            </a:r>
            <a:r>
              <a:rPr lang="zh-CN" altLang="en-US" sz="2000" dirty="0" smtClean="0"/>
              <a:t>） </a:t>
            </a:r>
            <a:endParaRPr lang="zh-CN" altLang="en-US" sz="2000" dirty="0" smtClean="0"/>
          </a:p>
          <a:p>
            <a:pPr lvl="1" eaLnBrk="1" hangingPunct="1">
              <a:lnSpc>
                <a:spcPct val="130000"/>
              </a:lnSpc>
              <a:spcBef>
                <a:spcPts val="0"/>
              </a:spcBef>
            </a:pPr>
            <a:r>
              <a:rPr lang="en-US" altLang="zh-CN" sz="2000" dirty="0" smtClean="0"/>
              <a:t>Kerberos</a:t>
            </a:r>
            <a:r>
              <a:rPr lang="zh-CN" altLang="en-US" sz="2000" dirty="0" smtClean="0"/>
              <a:t>版本</a:t>
            </a:r>
            <a:r>
              <a:rPr lang="en-US" altLang="zh-CN" sz="2000" dirty="0" smtClean="0"/>
              <a:t>5</a:t>
            </a:r>
            <a:r>
              <a:rPr lang="zh-CN" altLang="en-US" sz="2000" dirty="0" smtClean="0"/>
              <a:t>说明规范的新版本</a:t>
            </a:r>
            <a:r>
              <a:rPr lang="en-US" altLang="zh-CN" sz="2000" dirty="0" smtClean="0"/>
              <a:t>“Kerberos</a:t>
            </a:r>
            <a:r>
              <a:rPr lang="zh-CN" altLang="en-US" sz="2000" dirty="0" smtClean="0"/>
              <a:t>网络</a:t>
            </a:r>
            <a:r>
              <a:rPr lang="zh-CN" altLang="en-US" sz="2000" dirty="0"/>
              <a:t>鉴别</a:t>
            </a:r>
            <a:r>
              <a:rPr lang="zh-CN" altLang="en-US" sz="2000" dirty="0" smtClean="0"/>
              <a:t>服务（版本</a:t>
            </a:r>
            <a:r>
              <a:rPr lang="en-US" altLang="zh-CN" sz="2000" dirty="0" smtClean="0"/>
              <a:t>5</a:t>
            </a:r>
            <a:r>
              <a:rPr lang="zh-CN" altLang="en-US" sz="2000" dirty="0" smtClean="0"/>
              <a:t>）</a:t>
            </a:r>
            <a:r>
              <a:rPr lang="en-US" altLang="zh-CN" sz="2000" dirty="0" smtClean="0"/>
              <a:t>"</a:t>
            </a:r>
            <a:r>
              <a:rPr lang="zh-CN" altLang="en-US" sz="2000" dirty="0" smtClean="0"/>
              <a:t>（</a:t>
            </a:r>
            <a:r>
              <a:rPr lang="en-US" altLang="zh-CN" sz="2000" b="1" dirty="0" smtClean="0">
                <a:hlinkClick r:id="rId5"/>
              </a:rPr>
              <a:t>RFC 4120</a:t>
            </a:r>
            <a:r>
              <a:rPr lang="zh-CN" altLang="en-US" sz="2000" dirty="0" smtClean="0"/>
              <a:t>）。这个版本废弃了早先的</a:t>
            </a:r>
            <a:r>
              <a:rPr lang="en-US" altLang="zh-CN" sz="2000" b="1" dirty="0" smtClean="0">
                <a:hlinkClick r:id="rId6"/>
              </a:rPr>
              <a:t>RFC 1510</a:t>
            </a:r>
            <a:r>
              <a:rPr lang="zh-CN" altLang="en-US" sz="2000" dirty="0" smtClean="0"/>
              <a:t>，用更细化和明确的解释说明了协议的一些细节和使用方法。 </a:t>
            </a:r>
            <a:endParaRPr lang="zh-CN" altLang="en-US" sz="2000" dirty="0" smtClean="0"/>
          </a:p>
          <a:p>
            <a:pPr lvl="1" eaLnBrk="1" hangingPunct="1">
              <a:lnSpc>
                <a:spcPct val="130000"/>
              </a:lnSpc>
              <a:spcBef>
                <a:spcPts val="0"/>
              </a:spcBef>
            </a:pPr>
            <a:r>
              <a:rPr lang="en-US" altLang="zh-CN" sz="2000" dirty="0" smtClean="0"/>
              <a:t>GSS-API</a:t>
            </a:r>
            <a:r>
              <a:rPr lang="zh-CN" altLang="en-US" sz="2000" dirty="0" smtClean="0"/>
              <a:t>的一个新版本</a:t>
            </a:r>
            <a:r>
              <a:rPr lang="en-US" altLang="zh-CN" sz="2000" dirty="0" smtClean="0"/>
              <a:t>"Kerberos</a:t>
            </a:r>
            <a:r>
              <a:rPr lang="zh-CN" altLang="en-US" sz="2000" dirty="0" smtClean="0"/>
              <a:t>版本</a:t>
            </a:r>
            <a:r>
              <a:rPr lang="en-US" altLang="zh-CN" sz="2000" dirty="0" smtClean="0"/>
              <a:t>5 </a:t>
            </a:r>
            <a:r>
              <a:rPr lang="zh-CN" altLang="en-US" sz="2000" dirty="0" smtClean="0"/>
              <a:t>普通的安全服务应用软件交互机制：版本</a:t>
            </a:r>
            <a:r>
              <a:rPr lang="en-US" altLang="zh-CN" sz="2000" dirty="0" smtClean="0"/>
              <a:t>2"</a:t>
            </a:r>
            <a:r>
              <a:rPr lang="zh-CN" altLang="en-US" sz="2000" dirty="0" smtClean="0"/>
              <a:t>（</a:t>
            </a:r>
            <a:r>
              <a:rPr lang="en-US" altLang="zh-CN" sz="2000" b="1" dirty="0" smtClean="0">
                <a:hlinkClick r:id="rId7"/>
              </a:rPr>
              <a:t>RFC 4121</a:t>
            </a:r>
            <a:r>
              <a:rPr lang="zh-CN" altLang="en-US" sz="2000" dirty="0" smtClean="0"/>
              <a:t>） </a:t>
            </a:r>
            <a:endParaRPr lang="zh-CN" altLang="en-US" sz="2000" dirty="0" smtClean="0"/>
          </a:p>
        </p:txBody>
      </p:sp>
      <p:pic>
        <p:nvPicPr>
          <p:cNvPr id="150" name="picture 150"/>
          <p:cNvPicPr>
            <a:picLocks noChangeAspect="1"/>
          </p:cNvPicPr>
          <p:nvPr/>
        </p:nvPicPr>
        <p:blipFill>
          <a:blip r:embed="rId8"/>
          <a:stretch>
            <a:fillRect/>
          </a:stretch>
        </p:blipFill>
        <p:spPr>
          <a:xfrm rot="21600000">
            <a:off x="824483" y="408431"/>
            <a:ext cx="419100" cy="655320"/>
          </a:xfrm>
          <a:prstGeom prst="rect">
            <a:avLst/>
          </a:prstGeom>
        </p:spPr>
      </p:pic>
      <p:sp>
        <p:nvSpPr>
          <p:cNvPr id="16" name="textbox 306"/>
          <p:cNvSpPr/>
          <p:nvPr/>
        </p:nvSpPr>
        <p:spPr>
          <a:xfrm>
            <a:off x="1628317" y="499821"/>
            <a:ext cx="8887459" cy="558800"/>
          </a:xfrm>
          <a:prstGeom prst="rect">
            <a:avLst/>
          </a:prstGeom>
          <a:noFill/>
          <a:ln w="0" cap="flat">
            <a:noFill/>
            <a:prstDash val="solid"/>
            <a:miter lim="0"/>
          </a:ln>
        </p:spPr>
        <p:txBody>
          <a:bodyPr vert="horz" wrap="square" lIns="0" tIns="0" rIns="0" bIns="0"/>
          <a:p>
            <a:pPr algn="l" rtl="0" eaLnBrk="0">
              <a:lnSpc>
                <a:spcPct val="79000"/>
              </a:lnSpc>
            </a:pPr>
            <a:endParaRPr sz="100" dirty="0">
              <a:latin typeface="Calibri" panose="020F0502020204030204" charset="0"/>
              <a:ea typeface="微软雅黑" panose="020B0503020204020204" charset="-122"/>
              <a:cs typeface="Arial" panose="020B0604020202020204" pitchFamily="34" charset="0"/>
            </a:endParaRPr>
          </a:p>
          <a:p>
            <a:pPr marL="12700" algn="l" defTabSz="0" rtl="0" eaLnBrk="0">
              <a:lnSpc>
                <a:spcPct val="95000"/>
              </a:lnSpc>
              <a:tabLst>
                <a:tab pos="8874125" algn="l"/>
              </a:tabLst>
            </a:pPr>
            <a:r>
              <a:rPr lang="en-US" altLang="zh-CN"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16.4 Kerberos</a:t>
            </a:r>
            <a:r>
              <a:rPr lang="zh-CN" altLang="en-US"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相关标准与规范</a:t>
            </a:r>
            <a:r>
              <a:rPr sz="3600" u="sng" kern="0" spc="0" dirty="0">
                <a:solidFill>
                  <a:srgbClr val="1F4E79">
                    <a:alpha val="100000"/>
                  </a:srgbClr>
                </a:solidFill>
                <a:uFill>
                  <a:solidFill>
                    <a:srgbClr val="5B9BD5"/>
                  </a:solidFill>
                </a:uFill>
                <a:latin typeface="Calibri" panose="020F0502020204030204" charset="0"/>
                <a:ea typeface="微软雅黑" panose="020B0503020204020204" charset="-122"/>
                <a:cs typeface="仿宋" panose="02010609060101010101" charset="-122"/>
              </a:rPr>
              <a:t>	</a:t>
            </a:r>
            <a:endParaRPr sz="3600" dirty="0">
              <a:latin typeface="Calibri" panose="020F0502020204030204" charset="0"/>
              <a:ea typeface="微软雅黑" panose="020B0503020204020204" charset="-122"/>
              <a:cs typeface="仿宋" panose="02010609060101010101" charset="-122"/>
            </a:endParaRPr>
          </a:p>
        </p:txBody>
      </p:sp>
      <p:sp>
        <p:nvSpPr>
          <p:cNvPr id="148" name="path 148"/>
          <p:cNvSpPr/>
          <p:nvPr/>
        </p:nvSpPr>
        <p:spPr>
          <a:xfrm>
            <a:off x="694181" y="6236208"/>
            <a:ext cx="10779125" cy="28955"/>
          </a:xfrm>
          <a:custGeom>
            <a:avLst/>
            <a:gdLst/>
            <a:ahLst/>
            <a:cxnLst/>
            <a:rect l="0" t="0" r="0" b="0"/>
            <a:pathLst>
              <a:path w="16975" h="45">
                <a:moveTo>
                  <a:pt x="0" y="22"/>
                </a:moveTo>
                <a:lnTo>
                  <a:pt x="16975" y="22"/>
                </a:lnTo>
              </a:path>
            </a:pathLst>
          </a:custGeom>
          <a:noFill/>
          <a:ln w="28955" cap="flat">
            <a:solidFill>
              <a:srgbClr val="5B9BD5"/>
            </a:solidFill>
            <a:prstDash val="solid"/>
            <a:miter lim="1000000"/>
          </a:ln>
        </p:spPr>
        <p:txBody>
          <a:bodyPr rtlCol="0"/>
          <a:p>
            <a:pPr algn="ctr"/>
            <a:endParaRPr lang="zh-CN" altLang="en-US"/>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16.4 </a:t>
            </a:r>
            <a:r>
              <a:rPr lang="zh-CN" altLang="en-US" dirty="0"/>
              <a:t>为什么需要</a:t>
            </a:r>
            <a:r>
              <a:rPr lang="en-US" altLang="zh-CN" dirty="0"/>
              <a:t>Kerberos</a:t>
            </a:r>
            <a:endParaRPr lang="zh-CN" altLang="en-US" dirty="0"/>
          </a:p>
        </p:txBody>
      </p:sp>
      <p:sp>
        <p:nvSpPr>
          <p:cNvPr id="4" name="灯片编号占位符 3"/>
          <p:cNvSpPr>
            <a:spLocks noGrp="1"/>
          </p:cNvSpPr>
          <p:nvPr>
            <p:ph type="sldNum" sz="quarter" idx="12"/>
          </p:nvPr>
        </p:nvSpPr>
        <p:spPr/>
        <p:txBody>
          <a:bodyPr/>
          <a:lstStyle/>
          <a:p>
            <a:pPr>
              <a:defRPr/>
            </a:pPr>
            <a:fld id="{B42B4293-9377-4872-955B-7EAEC82CC678}" type="slidenum">
              <a:rPr lang="en-US" altLang="zh-CN" smtClean="0"/>
            </a:fld>
            <a:endParaRPr lang="en-US" altLang="zh-CN" dirty="0"/>
          </a:p>
        </p:txBody>
      </p:sp>
      <p:sp>
        <p:nvSpPr>
          <p:cNvPr id="5" name="内容占位符 4"/>
          <p:cNvSpPr/>
          <p:nvPr>
            <p:ph idx="1"/>
          </p:nvPr>
        </p:nvSpPr>
        <p:spPr/>
        <p:txBody>
          <a:bodyPr/>
          <a:p>
            <a:r>
              <a:rPr kumimoji="1" lang="zh-CN" altLang="en-US" dirty="0" smtClean="0">
                <a:latin typeface="Times New Roman" panose="02020603050405020304" pitchFamily="18" charset="0"/>
                <a:sym typeface="+mn-ea"/>
              </a:rPr>
              <a:t>在一个开放的分布式网络环境中，用户想要通过客户端（</a:t>
            </a:r>
            <a:r>
              <a:rPr kumimoji="1" lang="en-US" altLang="zh-CN" dirty="0" smtClean="0">
                <a:latin typeface="Times New Roman" panose="02020603050405020304" pitchFamily="18" charset="0"/>
                <a:sym typeface="+mn-ea"/>
              </a:rPr>
              <a:t>Client</a:t>
            </a:r>
            <a:r>
              <a:rPr kumimoji="1" lang="zh-CN" altLang="en-US" dirty="0" smtClean="0">
                <a:latin typeface="Times New Roman" panose="02020603050405020304" pitchFamily="18" charset="0"/>
                <a:sym typeface="+mn-ea"/>
              </a:rPr>
              <a:t>）访问服务器（</a:t>
            </a:r>
            <a:r>
              <a:rPr kumimoji="1" lang="en-US" altLang="zh-CN" dirty="0" smtClean="0">
                <a:latin typeface="Times New Roman" panose="02020603050405020304" pitchFamily="18" charset="0"/>
                <a:sym typeface="+mn-ea"/>
              </a:rPr>
              <a:t>Server</a:t>
            </a:r>
            <a:r>
              <a:rPr kumimoji="1" lang="zh-CN" altLang="en-US" dirty="0" smtClean="0">
                <a:latin typeface="Times New Roman" panose="02020603050405020304" pitchFamily="18" charset="0"/>
                <a:sym typeface="+mn-ea"/>
              </a:rPr>
              <a:t>）上提供的</a:t>
            </a:r>
            <a:r>
              <a:rPr kumimoji="1" lang="zh-CN" altLang="en-US" dirty="0" smtClean="0">
                <a:latin typeface="Times New Roman" panose="02020603050405020304" pitchFamily="18" charset="0"/>
                <a:sym typeface="+mn-ea"/>
              </a:rPr>
              <a:t>资源。</a:t>
            </a:r>
            <a:endParaRPr kumimoji="1" lang="zh-CN" altLang="en-US" dirty="0" smtClean="0">
              <a:latin typeface="Times New Roman" panose="02020603050405020304" pitchFamily="18" charset="0"/>
              <a:sym typeface="+mn-ea"/>
            </a:endParaRPr>
          </a:p>
          <a:p>
            <a:endParaRPr kumimoji="1" lang="zh-CN" altLang="en-US" dirty="0" smtClean="0">
              <a:latin typeface="Times New Roman" panose="02020603050405020304" pitchFamily="18" charset="0"/>
              <a:sym typeface="+mn-ea"/>
            </a:endParaRPr>
          </a:p>
          <a:p>
            <a:endParaRPr lang="zh-CN" altLang="en-US" dirty="0" smtClean="0">
              <a:sym typeface="+mn-ea"/>
            </a:endParaRPr>
          </a:p>
        </p:txBody>
      </p:sp>
      <p:pic>
        <p:nvPicPr>
          <p:cNvPr id="102" name="图片 101"/>
          <p:cNvPicPr/>
          <p:nvPr/>
        </p:nvPicPr>
        <p:blipFill>
          <a:blip r:embed="rId1"/>
          <a:stretch>
            <a:fillRect/>
          </a:stretch>
        </p:blipFill>
        <p:spPr>
          <a:xfrm>
            <a:off x="1356360" y="2839085"/>
            <a:ext cx="650875" cy="731520"/>
          </a:xfrm>
          <a:prstGeom prst="rect">
            <a:avLst/>
          </a:prstGeom>
          <a:noFill/>
          <a:ln w="9525">
            <a:noFill/>
          </a:ln>
        </p:spPr>
      </p:pic>
      <p:pic>
        <p:nvPicPr>
          <p:cNvPr id="105" name="图片 104"/>
          <p:cNvPicPr/>
          <p:nvPr/>
        </p:nvPicPr>
        <p:blipFill>
          <a:blip r:embed="rId2"/>
          <a:stretch>
            <a:fillRect/>
          </a:stretch>
        </p:blipFill>
        <p:spPr>
          <a:xfrm>
            <a:off x="1130300" y="5295265"/>
            <a:ext cx="671195" cy="792480"/>
          </a:xfrm>
          <a:prstGeom prst="rect">
            <a:avLst/>
          </a:prstGeom>
          <a:noFill/>
          <a:ln w="9525">
            <a:noFill/>
          </a:ln>
        </p:spPr>
      </p:pic>
      <p:pic>
        <p:nvPicPr>
          <p:cNvPr id="9" name="图片 8"/>
          <p:cNvPicPr/>
          <p:nvPr>
            <p:custDataLst>
              <p:tags r:id="rId3"/>
            </p:custDataLst>
          </p:nvPr>
        </p:nvPicPr>
        <p:blipFill>
          <a:blip r:embed="rId1"/>
          <a:stretch>
            <a:fillRect/>
          </a:stretch>
        </p:blipFill>
        <p:spPr>
          <a:xfrm>
            <a:off x="2550795" y="2839085"/>
            <a:ext cx="650875" cy="731520"/>
          </a:xfrm>
          <a:prstGeom prst="rect">
            <a:avLst/>
          </a:prstGeom>
          <a:noFill/>
          <a:ln w="9525">
            <a:noFill/>
          </a:ln>
        </p:spPr>
      </p:pic>
      <p:pic>
        <p:nvPicPr>
          <p:cNvPr id="10" name="图片 9"/>
          <p:cNvPicPr/>
          <p:nvPr>
            <p:custDataLst>
              <p:tags r:id="rId4"/>
            </p:custDataLst>
          </p:nvPr>
        </p:nvPicPr>
        <p:blipFill>
          <a:blip r:embed="rId1"/>
          <a:stretch>
            <a:fillRect/>
          </a:stretch>
        </p:blipFill>
        <p:spPr>
          <a:xfrm>
            <a:off x="3973830" y="2839085"/>
            <a:ext cx="650875" cy="731520"/>
          </a:xfrm>
          <a:prstGeom prst="rect">
            <a:avLst/>
          </a:prstGeom>
          <a:noFill/>
          <a:ln w="9525">
            <a:noFill/>
          </a:ln>
        </p:spPr>
      </p:pic>
      <p:pic>
        <p:nvPicPr>
          <p:cNvPr id="11" name="图片 10"/>
          <p:cNvPicPr/>
          <p:nvPr>
            <p:custDataLst>
              <p:tags r:id="rId5"/>
            </p:custDataLst>
          </p:nvPr>
        </p:nvPicPr>
        <p:blipFill>
          <a:blip r:embed="rId2"/>
          <a:stretch>
            <a:fillRect/>
          </a:stretch>
        </p:blipFill>
        <p:spPr>
          <a:xfrm>
            <a:off x="2530475" y="5295265"/>
            <a:ext cx="671195" cy="792480"/>
          </a:xfrm>
          <a:prstGeom prst="rect">
            <a:avLst/>
          </a:prstGeom>
          <a:noFill/>
          <a:ln w="9525">
            <a:noFill/>
          </a:ln>
        </p:spPr>
      </p:pic>
      <p:pic>
        <p:nvPicPr>
          <p:cNvPr id="12" name="图片 11"/>
          <p:cNvPicPr/>
          <p:nvPr>
            <p:custDataLst>
              <p:tags r:id="rId6"/>
            </p:custDataLst>
          </p:nvPr>
        </p:nvPicPr>
        <p:blipFill>
          <a:blip r:embed="rId2"/>
          <a:stretch>
            <a:fillRect/>
          </a:stretch>
        </p:blipFill>
        <p:spPr>
          <a:xfrm>
            <a:off x="3973830" y="5295265"/>
            <a:ext cx="671195" cy="792480"/>
          </a:xfrm>
          <a:prstGeom prst="rect">
            <a:avLst/>
          </a:prstGeom>
          <a:noFill/>
          <a:ln w="9525">
            <a:noFill/>
          </a:ln>
        </p:spPr>
      </p:pic>
      <p:sp>
        <p:nvSpPr>
          <p:cNvPr id="15" name="矩形 14"/>
          <p:cNvSpPr/>
          <p:nvPr/>
        </p:nvSpPr>
        <p:spPr>
          <a:xfrm>
            <a:off x="2007235" y="4082415"/>
            <a:ext cx="1737995" cy="559435"/>
          </a:xfrm>
          <a:prstGeom prst="rect">
            <a:avLst/>
          </a:prstGeom>
          <a:ln w="38100"/>
        </p:spPr>
        <p:style>
          <a:lnRef idx="2">
            <a:schemeClr val="dk1"/>
          </a:lnRef>
          <a:fillRef idx="1">
            <a:schemeClr val="lt1"/>
          </a:fillRef>
          <a:effectRef idx="0">
            <a:schemeClr val="dk1"/>
          </a:effectRef>
          <a:fontRef idx="minor">
            <a:schemeClr val="dk1"/>
          </a:fontRef>
        </p:style>
        <p:txBody>
          <a:bodyPr rtlCol="0" anchor="ctr"/>
          <a:p>
            <a:pPr algn="ctr"/>
            <a:r>
              <a:rPr lang="en-US" altLang="zh-CN" sz="2000" b="1"/>
              <a:t>Network</a:t>
            </a:r>
            <a:endParaRPr lang="en-US" altLang="zh-CN" sz="2000" b="1"/>
          </a:p>
        </p:txBody>
      </p:sp>
      <p:cxnSp>
        <p:nvCxnSpPr>
          <p:cNvPr id="16" name="直接连接符 15"/>
          <p:cNvCxnSpPr/>
          <p:nvPr/>
        </p:nvCxnSpPr>
        <p:spPr>
          <a:xfrm>
            <a:off x="1786890" y="3515360"/>
            <a:ext cx="568960" cy="56578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9" idx="2"/>
            <a:endCxn id="15" idx="0"/>
          </p:cNvCxnSpPr>
          <p:nvPr/>
        </p:nvCxnSpPr>
        <p:spPr>
          <a:xfrm>
            <a:off x="2876550" y="3570605"/>
            <a:ext cx="0" cy="51181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8" name="直接连接符 17"/>
          <p:cNvCxnSpPr>
            <a:stCxn id="10" idx="2"/>
          </p:cNvCxnSpPr>
          <p:nvPr/>
        </p:nvCxnSpPr>
        <p:spPr>
          <a:xfrm flipH="1">
            <a:off x="3544570" y="3570605"/>
            <a:ext cx="755015" cy="50165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custDataLst>
              <p:tags r:id="rId7"/>
            </p:custDataLst>
          </p:nvPr>
        </p:nvCxnSpPr>
        <p:spPr>
          <a:xfrm flipH="1">
            <a:off x="1477010" y="4648200"/>
            <a:ext cx="944245" cy="64706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custDataLst>
              <p:tags r:id="rId8"/>
            </p:custDataLst>
          </p:nvPr>
        </p:nvCxnSpPr>
        <p:spPr>
          <a:xfrm>
            <a:off x="2876550" y="4641850"/>
            <a:ext cx="0" cy="65341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12" idx="0"/>
          </p:cNvCxnSpPr>
          <p:nvPr>
            <p:custDataLst>
              <p:tags r:id="rId9"/>
            </p:custDataLst>
          </p:nvPr>
        </p:nvCxnSpPr>
        <p:spPr>
          <a:xfrm flipH="1" flipV="1">
            <a:off x="3506470" y="4648200"/>
            <a:ext cx="803275" cy="64706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817245" y="6226175"/>
            <a:ext cx="1538605" cy="398780"/>
          </a:xfrm>
          <a:prstGeom prst="rect">
            <a:avLst/>
          </a:prstGeom>
          <a:noFill/>
        </p:spPr>
        <p:txBody>
          <a:bodyPr wrap="square" rtlCol="0">
            <a:spAutoFit/>
          </a:bodyPr>
          <a:p>
            <a:r>
              <a:rPr lang="en-US" altLang="zh-CN" sz="2000" b="1"/>
              <a:t>File Server</a:t>
            </a:r>
            <a:endParaRPr lang="en-US" altLang="zh-CN" sz="2000" b="1"/>
          </a:p>
        </p:txBody>
      </p:sp>
      <p:sp>
        <p:nvSpPr>
          <p:cNvPr id="8" name="文本框 7"/>
          <p:cNvSpPr txBox="1"/>
          <p:nvPr>
            <p:custDataLst>
              <p:tags r:id="rId10"/>
            </p:custDataLst>
          </p:nvPr>
        </p:nvSpPr>
        <p:spPr>
          <a:xfrm>
            <a:off x="2206625" y="6226175"/>
            <a:ext cx="1538605" cy="398780"/>
          </a:xfrm>
          <a:prstGeom prst="rect">
            <a:avLst/>
          </a:prstGeom>
          <a:noFill/>
        </p:spPr>
        <p:txBody>
          <a:bodyPr wrap="square" rtlCol="0">
            <a:spAutoFit/>
          </a:bodyPr>
          <a:p>
            <a:r>
              <a:rPr lang="en-US" altLang="zh-CN" sz="2000" b="1"/>
              <a:t>Mail Server</a:t>
            </a:r>
            <a:endParaRPr lang="en-US" altLang="zh-CN" sz="2000" b="1"/>
          </a:p>
        </p:txBody>
      </p:sp>
      <p:sp>
        <p:nvSpPr>
          <p:cNvPr id="13" name="文本框 12"/>
          <p:cNvSpPr txBox="1"/>
          <p:nvPr>
            <p:custDataLst>
              <p:tags r:id="rId11"/>
            </p:custDataLst>
          </p:nvPr>
        </p:nvSpPr>
        <p:spPr>
          <a:xfrm>
            <a:off x="3649980" y="6226175"/>
            <a:ext cx="1538605" cy="398780"/>
          </a:xfrm>
          <a:prstGeom prst="rect">
            <a:avLst/>
          </a:prstGeom>
          <a:noFill/>
        </p:spPr>
        <p:txBody>
          <a:bodyPr wrap="square" rtlCol="0">
            <a:spAutoFit/>
          </a:bodyPr>
          <a:p>
            <a:r>
              <a:rPr lang="en-US" altLang="zh-CN" sz="2000" b="1"/>
              <a:t>Print Server</a:t>
            </a:r>
            <a:endParaRPr lang="en-US" altLang="zh-CN" sz="2000" b="1"/>
          </a:p>
        </p:txBody>
      </p:sp>
      <p:sp>
        <p:nvSpPr>
          <p:cNvPr id="14" name="右箭头 13"/>
          <p:cNvSpPr/>
          <p:nvPr>
            <p:custDataLst>
              <p:tags r:id="rId12"/>
            </p:custDataLst>
          </p:nvPr>
        </p:nvSpPr>
        <p:spPr>
          <a:xfrm rot="5400000">
            <a:off x="3846830" y="3950335"/>
            <a:ext cx="1878330" cy="805180"/>
          </a:xfrm>
          <a:prstGeom prst="rightArrow">
            <a:avLst>
              <a:gd name="adj1" fmla="val 18910"/>
              <a:gd name="adj2" fmla="val 4959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a:p>
        </p:txBody>
      </p:sp>
      <p:sp>
        <p:nvSpPr>
          <p:cNvPr id="22" name="文本框 21"/>
          <p:cNvSpPr txBox="1"/>
          <p:nvPr/>
        </p:nvSpPr>
        <p:spPr>
          <a:xfrm>
            <a:off x="5067300" y="3926840"/>
            <a:ext cx="1311910" cy="645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square" rtlCol="0">
            <a:spAutoFit/>
          </a:bodyPr>
          <a:p>
            <a:pPr algn="ctr"/>
            <a:r>
              <a:rPr lang="en-US" altLang="zh-CN"/>
              <a:t>Different</a:t>
            </a:r>
            <a:endParaRPr lang="en-US" altLang="zh-CN"/>
          </a:p>
          <a:p>
            <a:pPr algn="ctr"/>
            <a:r>
              <a:rPr lang="en-US" altLang="zh-CN"/>
              <a:t>Password</a:t>
            </a:r>
            <a:r>
              <a:rPr lang="en-US" altLang="zh-CN"/>
              <a:t>s</a:t>
            </a:r>
            <a:endParaRPr lang="en-US" altLang="zh-CN"/>
          </a:p>
        </p:txBody>
      </p:sp>
      <p:sp>
        <p:nvSpPr>
          <p:cNvPr id="23" name="文本框 22"/>
          <p:cNvSpPr txBox="1"/>
          <p:nvPr>
            <p:custDataLst>
              <p:tags r:id="rId13"/>
            </p:custDataLst>
          </p:nvPr>
        </p:nvSpPr>
        <p:spPr>
          <a:xfrm>
            <a:off x="1623060" y="2464435"/>
            <a:ext cx="2573020" cy="398780"/>
          </a:xfrm>
          <a:prstGeom prst="rect">
            <a:avLst/>
          </a:prstGeom>
          <a:noFill/>
        </p:spPr>
        <p:txBody>
          <a:bodyPr wrap="square" rtlCol="0">
            <a:spAutoFit/>
          </a:bodyPr>
          <a:p>
            <a:pPr algn="ctr"/>
            <a:r>
              <a:rPr lang="en-US" altLang="zh-CN" sz="2000" b="1"/>
              <a:t>Client</a:t>
            </a:r>
            <a:r>
              <a:rPr lang="en-US" altLang="zh-CN" sz="2000" b="1"/>
              <a:t>s</a:t>
            </a:r>
            <a:endParaRPr lang="en-US" altLang="zh-CN" sz="2000" b="1"/>
          </a:p>
        </p:txBody>
      </p:sp>
      <p:sp>
        <p:nvSpPr>
          <p:cNvPr id="24" name="矩形 23"/>
          <p:cNvSpPr/>
          <p:nvPr/>
        </p:nvSpPr>
        <p:spPr>
          <a:xfrm>
            <a:off x="7146925" y="3251200"/>
            <a:ext cx="4010660" cy="1623695"/>
          </a:xfrm>
          <a:prstGeom prst="rect">
            <a:avLst/>
          </a:prstGeom>
        </p:spPr>
        <p:style>
          <a:lnRef idx="3">
            <a:schemeClr val="lt1"/>
          </a:lnRef>
          <a:fillRef idx="1">
            <a:schemeClr val="accent4"/>
          </a:fillRef>
          <a:effectRef idx="1">
            <a:schemeClr val="accent4"/>
          </a:effectRef>
          <a:fontRef idx="minor">
            <a:schemeClr val="lt1"/>
          </a:fontRef>
        </p:style>
        <p:txBody>
          <a:bodyPr rtlCol="0" anchor="ctr"/>
          <a:p>
            <a:pPr algn="l"/>
            <a:r>
              <a:rPr lang="zh-CN" altLang="en-US" sz="2000" b="1"/>
              <a:t>传统的口令</a:t>
            </a:r>
            <a:r>
              <a:rPr lang="zh-CN" altLang="en-US" sz="2000" b="1"/>
              <a:t>认证方式存在的问题？</a:t>
            </a:r>
            <a:endParaRPr lang="zh-CN" altLang="en-US" b="1"/>
          </a:p>
          <a:p>
            <a:pPr marL="285750" indent="-285750" algn="l">
              <a:buFont typeface="Arial" panose="020B0604020202020204" pitchFamily="34" charset="0"/>
              <a:buChar char="•"/>
            </a:pPr>
            <a:r>
              <a:rPr lang="zh-CN" altLang="en-US" b="1"/>
              <a:t>不同的</a:t>
            </a:r>
            <a:r>
              <a:rPr lang="en-US" altLang="zh-CN" b="1"/>
              <a:t>Sever</a:t>
            </a:r>
            <a:r>
              <a:rPr lang="zh-CN" altLang="en-US" b="1"/>
              <a:t>都需要维护一个用户列表来进行身份</a:t>
            </a:r>
            <a:r>
              <a:rPr lang="zh-CN" altLang="en-US" b="1"/>
              <a:t>认证</a:t>
            </a:r>
            <a:endParaRPr lang="zh-CN" altLang="en-US" b="1"/>
          </a:p>
          <a:p>
            <a:pPr marL="285750" indent="-285750" algn="l">
              <a:buFont typeface="Arial" panose="020B0604020202020204" pitchFamily="34" charset="0"/>
              <a:buChar char="•"/>
            </a:pPr>
            <a:r>
              <a:rPr lang="zh-CN" altLang="en-US" b="1">
                <a:sym typeface="+mn-ea"/>
              </a:rPr>
              <a:t>用户口令的安全问题</a:t>
            </a:r>
            <a:endParaRPr lang="zh-CN" altLang="en-US" b="1"/>
          </a:p>
          <a:p>
            <a:pPr marL="285750" indent="-285750" algn="l">
              <a:buFont typeface="Arial" panose="020B0604020202020204" pitchFamily="34" charset="0"/>
              <a:buChar char="•"/>
            </a:pPr>
            <a:endParaRPr lang="zh-CN" altLang="en-US" b="1"/>
          </a:p>
        </p:txBody>
      </p:sp>
      <p:sp>
        <p:nvSpPr>
          <p:cNvPr id="3" name="右箭头 2"/>
          <p:cNvSpPr/>
          <p:nvPr>
            <p:custDataLst>
              <p:tags r:id="rId14"/>
            </p:custDataLst>
          </p:nvPr>
        </p:nvSpPr>
        <p:spPr>
          <a:xfrm rot="5400000">
            <a:off x="250190" y="3950335"/>
            <a:ext cx="1878330" cy="805180"/>
          </a:xfrm>
          <a:prstGeom prst="rightArrow">
            <a:avLst>
              <a:gd name="adj1" fmla="val 18910"/>
              <a:gd name="adj2" fmla="val 4959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en-US" altLang="zh-CN"/>
          </a:p>
        </p:txBody>
      </p:sp>
    </p:spTree>
  </p:cSld>
  <p:clrMapOvr>
    <a:masterClrMapping/>
  </p:clrMapOvr>
  <mc:AlternateContent xmlns:mc="http://schemas.openxmlformats.org/markup-compatibility/2006">
    <mc:Choice xmlns:p14="http://schemas.microsoft.com/office/powerpoint/2010/main" Requires="p14">
      <p:transition spd="slow" p14:dur="2000" advTm="2827"/>
    </mc:Choice>
    <mc:Fallback>
      <p:transition spd="slow" advTm="282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4"/>
                                        </p:tgtEl>
                                        <p:attrNameLst>
                                          <p:attrName>style.visibility</p:attrName>
                                        </p:attrNameLst>
                                      </p:cBhvr>
                                      <p:to>
                                        <p:strVal val="visible"/>
                                      </p:to>
                                    </p:set>
                                    <p:anim calcmode="lin" valueType="num">
                                      <p:cBhvr additive="base">
                                        <p:cTn id="7" dur="500" fill="hold"/>
                                        <p:tgtEl>
                                          <p:spTgt spid="24"/>
                                        </p:tgtEl>
                                        <p:attrNameLst>
                                          <p:attrName>ppt_x</p:attrName>
                                        </p:attrNameLst>
                                      </p:cBhvr>
                                      <p:tavLst>
                                        <p:tav tm="0">
                                          <p:val>
                                            <p:strVal val="#ppt_x"/>
                                          </p:val>
                                        </p:tav>
                                        <p:tav tm="100000">
                                          <p:val>
                                            <p:strVal val="#ppt_x"/>
                                          </p:val>
                                        </p:tav>
                                      </p:tavLst>
                                    </p:anim>
                                    <p:anim calcmode="lin" valueType="num">
                                      <p:cBhvr additive="base">
                                        <p:cTn id="8"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bldLvl="0" animBg="1"/>
      <p:bldP spid="24" grpId="1"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sym typeface="+mn-ea"/>
              </a:rPr>
              <a:t>16.4 </a:t>
            </a:r>
            <a:r>
              <a:rPr lang="zh-CN" altLang="en-US" dirty="0"/>
              <a:t>为什么需要</a:t>
            </a:r>
            <a:r>
              <a:rPr lang="en-US" altLang="zh-CN" dirty="0"/>
              <a:t>Kerberos</a:t>
            </a:r>
            <a:endParaRPr lang="zh-CN" altLang="en-US" dirty="0"/>
          </a:p>
        </p:txBody>
      </p:sp>
      <p:sp>
        <p:nvSpPr>
          <p:cNvPr id="4" name="灯片编号占位符 3"/>
          <p:cNvSpPr>
            <a:spLocks noGrp="1"/>
          </p:cNvSpPr>
          <p:nvPr>
            <p:ph type="sldNum" sz="quarter" idx="12"/>
          </p:nvPr>
        </p:nvSpPr>
        <p:spPr/>
        <p:txBody>
          <a:bodyPr/>
          <a:lstStyle/>
          <a:p>
            <a:pPr>
              <a:defRPr/>
            </a:pPr>
            <a:fld id="{B42B4293-9377-4872-955B-7EAEC82CC678}" type="slidenum">
              <a:rPr lang="en-US" altLang="zh-CN" smtClean="0"/>
            </a:fld>
            <a:endParaRPr lang="en-US" altLang="zh-CN" dirty="0"/>
          </a:p>
        </p:txBody>
      </p:sp>
      <p:sp>
        <p:nvSpPr>
          <p:cNvPr id="5" name="内容占位符 4"/>
          <p:cNvSpPr/>
          <p:nvPr>
            <p:ph idx="1"/>
          </p:nvPr>
        </p:nvSpPr>
        <p:spPr/>
        <p:txBody>
          <a:bodyPr/>
          <a:p>
            <a:r>
              <a:rPr kumimoji="1" lang="zh-CN" altLang="en-US" dirty="0" smtClean="0">
                <a:latin typeface="Times New Roman" panose="02020603050405020304" pitchFamily="18" charset="0"/>
                <a:sym typeface="+mn-ea"/>
              </a:rPr>
              <a:t>引入</a:t>
            </a:r>
            <a:r>
              <a:rPr kumimoji="1" lang="en-US" altLang="zh-CN" dirty="0" smtClean="0">
                <a:latin typeface="Times New Roman" panose="02020603050405020304" pitchFamily="18" charset="0"/>
                <a:sym typeface="+mn-ea"/>
              </a:rPr>
              <a:t>Kerberos</a:t>
            </a:r>
            <a:r>
              <a:rPr kumimoji="1" lang="zh-CN" altLang="en-US" dirty="0" smtClean="0">
                <a:latin typeface="Times New Roman" panose="02020603050405020304" pitchFamily="18" charset="0"/>
                <a:sym typeface="+mn-ea"/>
              </a:rPr>
              <a:t>，解决分布式系统中的客户端</a:t>
            </a:r>
            <a:r>
              <a:rPr kumimoji="1" lang="en-US" altLang="zh-CN" dirty="0" smtClean="0">
                <a:latin typeface="Times New Roman" panose="02020603050405020304" pitchFamily="18" charset="0"/>
                <a:sym typeface="+mn-ea"/>
              </a:rPr>
              <a:t>Client</a:t>
            </a:r>
            <a:r>
              <a:rPr kumimoji="1" lang="zh-CN" altLang="en-US" dirty="0" smtClean="0">
                <a:latin typeface="Times New Roman" panose="02020603050405020304" pitchFamily="18" charset="0"/>
                <a:sym typeface="+mn-ea"/>
              </a:rPr>
              <a:t>和服务器</a:t>
            </a:r>
            <a:r>
              <a:rPr kumimoji="1" lang="en-US" altLang="zh-CN" dirty="0" smtClean="0">
                <a:latin typeface="Times New Roman" panose="02020603050405020304" pitchFamily="18" charset="0"/>
                <a:sym typeface="+mn-ea"/>
              </a:rPr>
              <a:t>Server</a:t>
            </a:r>
            <a:r>
              <a:rPr kumimoji="1" lang="zh-CN" altLang="en-US" dirty="0" smtClean="0">
                <a:latin typeface="Times New Roman" panose="02020603050405020304" pitchFamily="18" charset="0"/>
                <a:sym typeface="+mn-ea"/>
              </a:rPr>
              <a:t>之间的身份认证</a:t>
            </a:r>
            <a:r>
              <a:rPr kumimoji="1" lang="zh-CN" altLang="en-US" dirty="0" smtClean="0">
                <a:latin typeface="Times New Roman" panose="02020603050405020304" pitchFamily="18" charset="0"/>
                <a:sym typeface="+mn-ea"/>
              </a:rPr>
              <a:t>问题。</a:t>
            </a:r>
            <a:endParaRPr kumimoji="1" lang="zh-CN" altLang="en-US" dirty="0" smtClean="0">
              <a:latin typeface="Times New Roman" panose="02020603050405020304" pitchFamily="18" charset="0"/>
              <a:sym typeface="+mn-ea"/>
            </a:endParaRPr>
          </a:p>
          <a:p>
            <a:endParaRPr kumimoji="1" lang="zh-CN" altLang="en-US" dirty="0" smtClean="0">
              <a:latin typeface="Times New Roman" panose="02020603050405020304" pitchFamily="18" charset="0"/>
              <a:sym typeface="+mn-ea"/>
            </a:endParaRPr>
          </a:p>
          <a:p>
            <a:endParaRPr lang="zh-CN" altLang="en-US" dirty="0" smtClean="0">
              <a:sym typeface="+mn-ea"/>
            </a:endParaRPr>
          </a:p>
        </p:txBody>
      </p:sp>
      <p:pic>
        <p:nvPicPr>
          <p:cNvPr id="102" name="图片 101"/>
          <p:cNvPicPr/>
          <p:nvPr/>
        </p:nvPicPr>
        <p:blipFill>
          <a:blip r:embed="rId1"/>
          <a:stretch>
            <a:fillRect/>
          </a:stretch>
        </p:blipFill>
        <p:spPr>
          <a:xfrm>
            <a:off x="970280" y="2839085"/>
            <a:ext cx="650875" cy="731520"/>
          </a:xfrm>
          <a:prstGeom prst="rect">
            <a:avLst/>
          </a:prstGeom>
          <a:noFill/>
          <a:ln w="9525">
            <a:noFill/>
          </a:ln>
        </p:spPr>
      </p:pic>
      <p:pic>
        <p:nvPicPr>
          <p:cNvPr id="105" name="图片 104"/>
          <p:cNvPicPr/>
          <p:nvPr/>
        </p:nvPicPr>
        <p:blipFill>
          <a:blip r:embed="rId2"/>
          <a:stretch>
            <a:fillRect/>
          </a:stretch>
        </p:blipFill>
        <p:spPr>
          <a:xfrm>
            <a:off x="744220" y="5295265"/>
            <a:ext cx="671195" cy="792480"/>
          </a:xfrm>
          <a:prstGeom prst="rect">
            <a:avLst/>
          </a:prstGeom>
          <a:noFill/>
          <a:ln w="9525">
            <a:noFill/>
          </a:ln>
        </p:spPr>
      </p:pic>
      <p:pic>
        <p:nvPicPr>
          <p:cNvPr id="9" name="图片 8"/>
          <p:cNvPicPr/>
          <p:nvPr>
            <p:custDataLst>
              <p:tags r:id="rId3"/>
            </p:custDataLst>
          </p:nvPr>
        </p:nvPicPr>
        <p:blipFill>
          <a:blip r:embed="rId1"/>
          <a:stretch>
            <a:fillRect/>
          </a:stretch>
        </p:blipFill>
        <p:spPr>
          <a:xfrm>
            <a:off x="2164715" y="2839085"/>
            <a:ext cx="650875" cy="731520"/>
          </a:xfrm>
          <a:prstGeom prst="rect">
            <a:avLst/>
          </a:prstGeom>
          <a:noFill/>
          <a:ln w="9525">
            <a:noFill/>
          </a:ln>
        </p:spPr>
      </p:pic>
      <p:pic>
        <p:nvPicPr>
          <p:cNvPr id="10" name="图片 9"/>
          <p:cNvPicPr/>
          <p:nvPr>
            <p:custDataLst>
              <p:tags r:id="rId4"/>
            </p:custDataLst>
          </p:nvPr>
        </p:nvPicPr>
        <p:blipFill>
          <a:blip r:embed="rId1"/>
          <a:stretch>
            <a:fillRect/>
          </a:stretch>
        </p:blipFill>
        <p:spPr>
          <a:xfrm>
            <a:off x="3587750" y="2839085"/>
            <a:ext cx="650875" cy="731520"/>
          </a:xfrm>
          <a:prstGeom prst="rect">
            <a:avLst/>
          </a:prstGeom>
          <a:noFill/>
          <a:ln w="9525">
            <a:noFill/>
          </a:ln>
        </p:spPr>
      </p:pic>
      <p:pic>
        <p:nvPicPr>
          <p:cNvPr id="11" name="图片 10"/>
          <p:cNvPicPr/>
          <p:nvPr>
            <p:custDataLst>
              <p:tags r:id="rId5"/>
            </p:custDataLst>
          </p:nvPr>
        </p:nvPicPr>
        <p:blipFill>
          <a:blip r:embed="rId2"/>
          <a:stretch>
            <a:fillRect/>
          </a:stretch>
        </p:blipFill>
        <p:spPr>
          <a:xfrm>
            <a:off x="2144395" y="5295265"/>
            <a:ext cx="671195" cy="792480"/>
          </a:xfrm>
          <a:prstGeom prst="rect">
            <a:avLst/>
          </a:prstGeom>
          <a:noFill/>
          <a:ln w="9525">
            <a:noFill/>
          </a:ln>
        </p:spPr>
      </p:pic>
      <p:pic>
        <p:nvPicPr>
          <p:cNvPr id="12" name="图片 11"/>
          <p:cNvPicPr/>
          <p:nvPr>
            <p:custDataLst>
              <p:tags r:id="rId6"/>
            </p:custDataLst>
          </p:nvPr>
        </p:nvPicPr>
        <p:blipFill>
          <a:blip r:embed="rId2"/>
          <a:stretch>
            <a:fillRect/>
          </a:stretch>
        </p:blipFill>
        <p:spPr>
          <a:xfrm>
            <a:off x="3587750" y="5295265"/>
            <a:ext cx="671195" cy="792480"/>
          </a:xfrm>
          <a:prstGeom prst="rect">
            <a:avLst/>
          </a:prstGeom>
          <a:noFill/>
          <a:ln w="9525">
            <a:noFill/>
          </a:ln>
        </p:spPr>
      </p:pic>
      <p:sp>
        <p:nvSpPr>
          <p:cNvPr id="15" name="矩形 14"/>
          <p:cNvSpPr/>
          <p:nvPr/>
        </p:nvSpPr>
        <p:spPr>
          <a:xfrm>
            <a:off x="1621155" y="4082415"/>
            <a:ext cx="1737995" cy="559435"/>
          </a:xfrm>
          <a:prstGeom prst="rect">
            <a:avLst/>
          </a:prstGeom>
          <a:ln w="38100"/>
        </p:spPr>
        <p:style>
          <a:lnRef idx="2">
            <a:schemeClr val="dk1"/>
          </a:lnRef>
          <a:fillRef idx="1">
            <a:schemeClr val="lt1"/>
          </a:fillRef>
          <a:effectRef idx="0">
            <a:schemeClr val="dk1"/>
          </a:effectRef>
          <a:fontRef idx="minor">
            <a:schemeClr val="dk1"/>
          </a:fontRef>
        </p:style>
        <p:txBody>
          <a:bodyPr rtlCol="0" anchor="ctr"/>
          <a:p>
            <a:pPr algn="ctr"/>
            <a:r>
              <a:rPr lang="en-US" altLang="zh-CN" sz="2000" b="1"/>
              <a:t>Network</a:t>
            </a:r>
            <a:endParaRPr lang="en-US" altLang="zh-CN" sz="2000" b="1"/>
          </a:p>
        </p:txBody>
      </p:sp>
      <p:cxnSp>
        <p:nvCxnSpPr>
          <p:cNvPr id="16" name="直接连接符 15"/>
          <p:cNvCxnSpPr/>
          <p:nvPr/>
        </p:nvCxnSpPr>
        <p:spPr>
          <a:xfrm>
            <a:off x="1400810" y="3515360"/>
            <a:ext cx="568960" cy="56578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9" idx="2"/>
            <a:endCxn id="15" idx="0"/>
          </p:cNvCxnSpPr>
          <p:nvPr/>
        </p:nvCxnSpPr>
        <p:spPr>
          <a:xfrm>
            <a:off x="2490470" y="3570605"/>
            <a:ext cx="0" cy="51181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8" name="直接连接符 17"/>
          <p:cNvCxnSpPr>
            <a:stCxn id="10" idx="2"/>
          </p:cNvCxnSpPr>
          <p:nvPr/>
        </p:nvCxnSpPr>
        <p:spPr>
          <a:xfrm flipH="1">
            <a:off x="3158490" y="3570605"/>
            <a:ext cx="755015" cy="50165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custDataLst>
              <p:tags r:id="rId7"/>
            </p:custDataLst>
          </p:nvPr>
        </p:nvCxnSpPr>
        <p:spPr>
          <a:xfrm flipH="1">
            <a:off x="1090930" y="4648200"/>
            <a:ext cx="944245" cy="64706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custDataLst>
              <p:tags r:id="rId8"/>
            </p:custDataLst>
          </p:nvPr>
        </p:nvCxnSpPr>
        <p:spPr>
          <a:xfrm>
            <a:off x="2490470" y="4641850"/>
            <a:ext cx="0" cy="65341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12" idx="0"/>
          </p:cNvCxnSpPr>
          <p:nvPr>
            <p:custDataLst>
              <p:tags r:id="rId9"/>
            </p:custDataLst>
          </p:nvPr>
        </p:nvCxnSpPr>
        <p:spPr>
          <a:xfrm flipH="1" flipV="1">
            <a:off x="3120390" y="4648200"/>
            <a:ext cx="803275" cy="64706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431165" y="6226175"/>
            <a:ext cx="1538605" cy="398780"/>
          </a:xfrm>
          <a:prstGeom prst="rect">
            <a:avLst/>
          </a:prstGeom>
          <a:noFill/>
        </p:spPr>
        <p:txBody>
          <a:bodyPr wrap="square" rtlCol="0">
            <a:spAutoFit/>
          </a:bodyPr>
          <a:p>
            <a:r>
              <a:rPr lang="en-US" altLang="zh-CN" sz="2000" b="1"/>
              <a:t>File Server</a:t>
            </a:r>
            <a:endParaRPr lang="en-US" altLang="zh-CN" sz="2000" b="1"/>
          </a:p>
        </p:txBody>
      </p:sp>
      <p:sp>
        <p:nvSpPr>
          <p:cNvPr id="8" name="文本框 7"/>
          <p:cNvSpPr txBox="1"/>
          <p:nvPr>
            <p:custDataLst>
              <p:tags r:id="rId10"/>
            </p:custDataLst>
          </p:nvPr>
        </p:nvSpPr>
        <p:spPr>
          <a:xfrm>
            <a:off x="1820545" y="6226175"/>
            <a:ext cx="1538605" cy="398780"/>
          </a:xfrm>
          <a:prstGeom prst="rect">
            <a:avLst/>
          </a:prstGeom>
          <a:noFill/>
        </p:spPr>
        <p:txBody>
          <a:bodyPr wrap="square" rtlCol="0">
            <a:spAutoFit/>
          </a:bodyPr>
          <a:p>
            <a:r>
              <a:rPr lang="en-US" altLang="zh-CN" sz="2000" b="1"/>
              <a:t>Mail Server</a:t>
            </a:r>
            <a:endParaRPr lang="en-US" altLang="zh-CN" sz="2000" b="1"/>
          </a:p>
        </p:txBody>
      </p:sp>
      <p:sp>
        <p:nvSpPr>
          <p:cNvPr id="13" name="文本框 12"/>
          <p:cNvSpPr txBox="1"/>
          <p:nvPr>
            <p:custDataLst>
              <p:tags r:id="rId11"/>
            </p:custDataLst>
          </p:nvPr>
        </p:nvSpPr>
        <p:spPr>
          <a:xfrm>
            <a:off x="3263900" y="6226175"/>
            <a:ext cx="1538605" cy="398780"/>
          </a:xfrm>
          <a:prstGeom prst="rect">
            <a:avLst/>
          </a:prstGeom>
          <a:noFill/>
        </p:spPr>
        <p:txBody>
          <a:bodyPr wrap="square" rtlCol="0">
            <a:spAutoFit/>
          </a:bodyPr>
          <a:p>
            <a:r>
              <a:rPr lang="en-US" altLang="zh-CN" sz="2000" b="1"/>
              <a:t>Print Server</a:t>
            </a:r>
            <a:endParaRPr lang="en-US" altLang="zh-CN" sz="2000" b="1"/>
          </a:p>
        </p:txBody>
      </p:sp>
      <p:sp>
        <p:nvSpPr>
          <p:cNvPr id="23" name="文本框 22"/>
          <p:cNvSpPr txBox="1"/>
          <p:nvPr>
            <p:custDataLst>
              <p:tags r:id="rId12"/>
            </p:custDataLst>
          </p:nvPr>
        </p:nvSpPr>
        <p:spPr>
          <a:xfrm>
            <a:off x="1248410" y="2464435"/>
            <a:ext cx="2573020" cy="398780"/>
          </a:xfrm>
          <a:prstGeom prst="rect">
            <a:avLst/>
          </a:prstGeom>
          <a:noFill/>
        </p:spPr>
        <p:txBody>
          <a:bodyPr wrap="square" rtlCol="0">
            <a:spAutoFit/>
          </a:bodyPr>
          <a:p>
            <a:pPr algn="ctr"/>
            <a:r>
              <a:rPr lang="en-US" altLang="zh-CN" sz="2000" b="1"/>
              <a:t>Client</a:t>
            </a:r>
            <a:r>
              <a:rPr lang="en-US" altLang="zh-CN" sz="2000" b="1"/>
              <a:t>s</a:t>
            </a:r>
            <a:endParaRPr lang="en-US" altLang="zh-CN" sz="2000" b="1"/>
          </a:p>
        </p:txBody>
      </p:sp>
      <p:sp>
        <p:nvSpPr>
          <p:cNvPr id="26" name="矩形 25"/>
          <p:cNvSpPr/>
          <p:nvPr/>
        </p:nvSpPr>
        <p:spPr>
          <a:xfrm>
            <a:off x="5628640" y="3141345"/>
            <a:ext cx="3509645" cy="3248660"/>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p>
            <a:pPr algn="ctr"/>
            <a:endParaRPr lang="zh-CN" altLang="en-US"/>
          </a:p>
        </p:txBody>
      </p:sp>
      <p:sp>
        <p:nvSpPr>
          <p:cNvPr id="27" name="文本框 26"/>
          <p:cNvSpPr txBox="1"/>
          <p:nvPr/>
        </p:nvSpPr>
        <p:spPr>
          <a:xfrm>
            <a:off x="5234940" y="2310765"/>
            <a:ext cx="4297680" cy="706755"/>
          </a:xfrm>
          <a:prstGeom prst="rect">
            <a:avLst/>
          </a:prstGeom>
          <a:noFill/>
        </p:spPr>
        <p:txBody>
          <a:bodyPr wrap="square" rtlCol="0">
            <a:spAutoFit/>
          </a:bodyPr>
          <a:p>
            <a:pPr algn="ctr"/>
            <a:r>
              <a:rPr lang="en-US" altLang="zh-CN" sz="2000" b="1"/>
              <a:t>Kerberos </a:t>
            </a:r>
            <a:endParaRPr lang="en-US" altLang="zh-CN" sz="2000" b="1"/>
          </a:p>
          <a:p>
            <a:pPr algn="ctr"/>
            <a:r>
              <a:rPr lang="en-US" altLang="zh-CN" sz="2000" b="1"/>
              <a:t>Key Distribution Center</a:t>
            </a:r>
            <a:r>
              <a:rPr lang="zh-CN" altLang="en-US" sz="2000" b="1"/>
              <a:t>（</a:t>
            </a:r>
            <a:r>
              <a:rPr lang="en-US" altLang="zh-CN" sz="2000" b="1"/>
              <a:t>KDC</a:t>
            </a:r>
            <a:r>
              <a:rPr lang="zh-CN" altLang="en-US" sz="2000" b="1"/>
              <a:t>）</a:t>
            </a:r>
            <a:endParaRPr lang="zh-CN" altLang="en-US" sz="2000" b="1"/>
          </a:p>
        </p:txBody>
      </p:sp>
      <p:sp>
        <p:nvSpPr>
          <p:cNvPr id="30" name="圆角矩形 29"/>
          <p:cNvSpPr/>
          <p:nvPr/>
        </p:nvSpPr>
        <p:spPr>
          <a:xfrm>
            <a:off x="6205220" y="3515360"/>
            <a:ext cx="2289810" cy="7213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000" b="1">
                <a:sym typeface="+mn-ea"/>
              </a:rPr>
              <a:t>Authentication</a:t>
            </a:r>
            <a:endParaRPr lang="en-US" altLang="zh-CN" sz="2000" b="1"/>
          </a:p>
          <a:p>
            <a:pPr algn="ctr"/>
            <a:r>
              <a:rPr lang="en-US" altLang="zh-CN" sz="2000" b="1">
                <a:sym typeface="+mn-ea"/>
              </a:rPr>
              <a:t>Service</a:t>
            </a:r>
            <a:endParaRPr lang="en-US" altLang="zh-CN" sz="2000" b="1">
              <a:sym typeface="+mn-ea"/>
            </a:endParaRPr>
          </a:p>
        </p:txBody>
      </p:sp>
      <p:sp>
        <p:nvSpPr>
          <p:cNvPr id="31" name="圆角矩形 30"/>
          <p:cNvSpPr/>
          <p:nvPr/>
        </p:nvSpPr>
        <p:spPr>
          <a:xfrm>
            <a:off x="6205220" y="5366385"/>
            <a:ext cx="2289810" cy="7213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000" b="1">
                <a:sym typeface="+mn-ea"/>
              </a:rPr>
              <a:t>Ticket Granting</a:t>
            </a:r>
            <a:endParaRPr lang="en-US" altLang="zh-CN" sz="2000" b="1"/>
          </a:p>
          <a:p>
            <a:pPr algn="ctr"/>
            <a:r>
              <a:rPr lang="en-US" altLang="zh-CN" sz="2000" b="1">
                <a:sym typeface="+mn-ea"/>
              </a:rPr>
              <a:t>Service</a:t>
            </a:r>
            <a:endParaRPr lang="en-US" altLang="zh-CN" sz="2000" b="1">
              <a:sym typeface="+mn-ea"/>
            </a:endParaRPr>
          </a:p>
        </p:txBody>
      </p:sp>
      <p:sp>
        <p:nvSpPr>
          <p:cNvPr id="33" name="剪去单角的矩形 32"/>
          <p:cNvSpPr/>
          <p:nvPr/>
        </p:nvSpPr>
        <p:spPr>
          <a:xfrm>
            <a:off x="9651365" y="3141345"/>
            <a:ext cx="1931035" cy="1362075"/>
          </a:xfrm>
          <a:prstGeom prst="snip1Rect">
            <a:avLst/>
          </a:prstGeom>
        </p:spPr>
        <p:style>
          <a:lnRef idx="3">
            <a:schemeClr val="lt1"/>
          </a:lnRef>
          <a:fillRef idx="1">
            <a:schemeClr val="accent4"/>
          </a:fillRef>
          <a:effectRef idx="1">
            <a:schemeClr val="accent4"/>
          </a:effectRef>
          <a:fontRef idx="minor">
            <a:schemeClr val="lt1"/>
          </a:fontRef>
        </p:style>
        <p:txBody>
          <a:bodyPr rtlCol="0" anchor="ctr"/>
          <a:p>
            <a:pPr algn="ctr"/>
            <a:r>
              <a:rPr lang="zh-CN" altLang="en-US" b="1"/>
              <a:t>引入</a:t>
            </a:r>
            <a:r>
              <a:rPr lang="en-US" altLang="zh-CN" b="1"/>
              <a:t>KDC</a:t>
            </a:r>
            <a:r>
              <a:rPr lang="zh-CN" altLang="en-US" b="1"/>
              <a:t>作为</a:t>
            </a:r>
            <a:r>
              <a:rPr lang="zh-CN" altLang="en-US" b="1">
                <a:solidFill>
                  <a:srgbClr val="FF0000"/>
                </a:solidFill>
              </a:rPr>
              <a:t>可信的第三方</a:t>
            </a:r>
            <a:r>
              <a:rPr lang="zh-CN" altLang="en-US" b="1"/>
              <a:t>提供身份认证服务。</a:t>
            </a:r>
            <a:endParaRPr lang="zh-CN" altLang="en-US" b="1"/>
          </a:p>
        </p:txBody>
      </p:sp>
      <p:sp>
        <p:nvSpPr>
          <p:cNvPr id="34" name="右箭头 33"/>
          <p:cNvSpPr/>
          <p:nvPr/>
        </p:nvSpPr>
        <p:spPr>
          <a:xfrm rot="2040000">
            <a:off x="4131310" y="3124200"/>
            <a:ext cx="1546225" cy="741680"/>
          </a:xfrm>
          <a:prstGeom prst="rightArrow">
            <a:avLst>
              <a:gd name="adj1" fmla="val 18910"/>
              <a:gd name="adj2" fmla="val 4959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Trust</a:t>
            </a:r>
            <a:endParaRPr lang="en-US" altLang="zh-CN"/>
          </a:p>
        </p:txBody>
      </p:sp>
      <p:sp>
        <p:nvSpPr>
          <p:cNvPr id="35" name="右箭头 34"/>
          <p:cNvSpPr/>
          <p:nvPr/>
        </p:nvSpPr>
        <p:spPr>
          <a:xfrm rot="19200000">
            <a:off x="4173855" y="5189855"/>
            <a:ext cx="1546225" cy="765810"/>
          </a:xfrm>
          <a:prstGeom prst="rightArrow">
            <a:avLst>
              <a:gd name="adj1" fmla="val 18910"/>
              <a:gd name="adj2" fmla="val 49596"/>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a:t>Trust</a:t>
            </a:r>
            <a:endParaRPr lang="en-US" altLang="zh-CN"/>
          </a:p>
        </p:txBody>
      </p:sp>
      <p:sp>
        <p:nvSpPr>
          <p:cNvPr id="36" name="加号 35"/>
          <p:cNvSpPr/>
          <p:nvPr/>
        </p:nvSpPr>
        <p:spPr>
          <a:xfrm>
            <a:off x="4323715" y="3952875"/>
            <a:ext cx="1096645" cy="99123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2000" advTm="2827"/>
    </mc:Choice>
    <mc:Fallback>
      <p:transition spd="slow" advTm="282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500" fill="hold"/>
                                        <p:tgtEl>
                                          <p:spTgt spid="36"/>
                                        </p:tgtEl>
                                        <p:attrNameLst>
                                          <p:attrName>ppt_x</p:attrName>
                                        </p:attrNameLst>
                                      </p:cBhvr>
                                      <p:tavLst>
                                        <p:tav tm="0">
                                          <p:val>
                                            <p:strVal val="#ppt_x"/>
                                          </p:val>
                                        </p:tav>
                                        <p:tav tm="100000">
                                          <p:val>
                                            <p:strVal val="#ppt_x"/>
                                          </p:val>
                                        </p:tav>
                                      </p:tavLst>
                                    </p:anim>
                                    <p:anim calcmode="lin" valueType="num">
                                      <p:cBhvr additive="base">
                                        <p:cTn id="8"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7"/>
                                        </p:tgtEl>
                                        <p:attrNameLst>
                                          <p:attrName>style.visibility</p:attrName>
                                        </p:attrNameLst>
                                      </p:cBhvr>
                                      <p:to>
                                        <p:strVal val="visible"/>
                                      </p:to>
                                    </p:set>
                                    <p:anim calcmode="lin" valueType="num">
                                      <p:cBhvr additive="base">
                                        <p:cTn id="13" dur="500" fill="hold"/>
                                        <p:tgtEl>
                                          <p:spTgt spid="27"/>
                                        </p:tgtEl>
                                        <p:attrNameLst>
                                          <p:attrName>ppt_x</p:attrName>
                                        </p:attrNameLst>
                                      </p:cBhvr>
                                      <p:tavLst>
                                        <p:tav tm="0">
                                          <p:val>
                                            <p:strVal val="#ppt_x"/>
                                          </p:val>
                                        </p:tav>
                                        <p:tav tm="100000">
                                          <p:val>
                                            <p:strVal val="#ppt_x"/>
                                          </p:val>
                                        </p:tav>
                                      </p:tavLst>
                                    </p:anim>
                                    <p:anim calcmode="lin" valueType="num">
                                      <p:cBhvr additive="base">
                                        <p:cTn id="14" dur="500" fill="hold"/>
                                        <p:tgtEl>
                                          <p:spTgt spid="27"/>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anim calcmode="lin" valueType="num">
                                      <p:cBhvr additive="base">
                                        <p:cTn id="17" dur="500" fill="hold"/>
                                        <p:tgtEl>
                                          <p:spTgt spid="26"/>
                                        </p:tgtEl>
                                        <p:attrNameLst>
                                          <p:attrName>ppt_x</p:attrName>
                                        </p:attrNameLst>
                                      </p:cBhvr>
                                      <p:tavLst>
                                        <p:tav tm="0">
                                          <p:val>
                                            <p:strVal val="#ppt_x"/>
                                          </p:val>
                                        </p:tav>
                                        <p:tav tm="100000">
                                          <p:val>
                                            <p:strVal val="#ppt_x"/>
                                          </p:val>
                                        </p:tav>
                                      </p:tavLst>
                                    </p:anim>
                                    <p:anim calcmode="lin" valueType="num">
                                      <p:cBhvr additive="base">
                                        <p:cTn id="18" dur="500" fill="hold"/>
                                        <p:tgtEl>
                                          <p:spTgt spid="26"/>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0"/>
                                        </p:tgtEl>
                                        <p:attrNameLst>
                                          <p:attrName>style.visibility</p:attrName>
                                        </p:attrNameLst>
                                      </p:cBhvr>
                                      <p:to>
                                        <p:strVal val="visible"/>
                                      </p:to>
                                    </p:set>
                                    <p:anim calcmode="lin" valueType="num">
                                      <p:cBhvr additive="base">
                                        <p:cTn id="21" dur="500" fill="hold"/>
                                        <p:tgtEl>
                                          <p:spTgt spid="30"/>
                                        </p:tgtEl>
                                        <p:attrNameLst>
                                          <p:attrName>ppt_x</p:attrName>
                                        </p:attrNameLst>
                                      </p:cBhvr>
                                      <p:tavLst>
                                        <p:tav tm="0">
                                          <p:val>
                                            <p:strVal val="#ppt_x"/>
                                          </p:val>
                                        </p:tav>
                                        <p:tav tm="100000">
                                          <p:val>
                                            <p:strVal val="#ppt_x"/>
                                          </p:val>
                                        </p:tav>
                                      </p:tavLst>
                                    </p:anim>
                                    <p:anim calcmode="lin" valueType="num">
                                      <p:cBhvr additive="base">
                                        <p:cTn id="22" dur="500" fill="hold"/>
                                        <p:tgtEl>
                                          <p:spTgt spid="30"/>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1"/>
                                        </p:tgtEl>
                                        <p:attrNameLst>
                                          <p:attrName>style.visibility</p:attrName>
                                        </p:attrNameLst>
                                      </p:cBhvr>
                                      <p:to>
                                        <p:strVal val="visible"/>
                                      </p:to>
                                    </p:set>
                                    <p:anim calcmode="lin" valueType="num">
                                      <p:cBhvr additive="base">
                                        <p:cTn id="25" dur="500" fill="hold"/>
                                        <p:tgtEl>
                                          <p:spTgt spid="31"/>
                                        </p:tgtEl>
                                        <p:attrNameLst>
                                          <p:attrName>ppt_x</p:attrName>
                                        </p:attrNameLst>
                                      </p:cBhvr>
                                      <p:tavLst>
                                        <p:tav tm="0">
                                          <p:val>
                                            <p:strVal val="#ppt_x"/>
                                          </p:val>
                                        </p:tav>
                                        <p:tav tm="100000">
                                          <p:val>
                                            <p:strVal val="#ppt_x"/>
                                          </p:val>
                                        </p:tav>
                                      </p:tavLst>
                                    </p:anim>
                                    <p:anim calcmode="lin" valueType="num">
                                      <p:cBhvr additive="base">
                                        <p:cTn id="26"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4"/>
                                        </p:tgtEl>
                                        <p:attrNameLst>
                                          <p:attrName>style.visibility</p:attrName>
                                        </p:attrNameLst>
                                      </p:cBhvr>
                                      <p:to>
                                        <p:strVal val="visible"/>
                                      </p:to>
                                    </p:set>
                                    <p:anim calcmode="lin" valueType="num">
                                      <p:cBhvr additive="base">
                                        <p:cTn id="31" dur="500" fill="hold"/>
                                        <p:tgtEl>
                                          <p:spTgt spid="34"/>
                                        </p:tgtEl>
                                        <p:attrNameLst>
                                          <p:attrName>ppt_x</p:attrName>
                                        </p:attrNameLst>
                                      </p:cBhvr>
                                      <p:tavLst>
                                        <p:tav tm="0">
                                          <p:val>
                                            <p:strVal val="#ppt_x"/>
                                          </p:val>
                                        </p:tav>
                                        <p:tav tm="100000">
                                          <p:val>
                                            <p:strVal val="#ppt_x"/>
                                          </p:val>
                                        </p:tav>
                                      </p:tavLst>
                                    </p:anim>
                                    <p:anim calcmode="lin" valueType="num">
                                      <p:cBhvr additive="base">
                                        <p:cTn id="32" dur="500" fill="hold"/>
                                        <p:tgtEl>
                                          <p:spTgt spid="34"/>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5"/>
                                        </p:tgtEl>
                                        <p:attrNameLst>
                                          <p:attrName>style.visibility</p:attrName>
                                        </p:attrNameLst>
                                      </p:cBhvr>
                                      <p:to>
                                        <p:strVal val="visible"/>
                                      </p:to>
                                    </p:set>
                                    <p:anim calcmode="lin" valueType="num">
                                      <p:cBhvr additive="base">
                                        <p:cTn id="37" dur="500" fill="hold"/>
                                        <p:tgtEl>
                                          <p:spTgt spid="35"/>
                                        </p:tgtEl>
                                        <p:attrNameLst>
                                          <p:attrName>ppt_x</p:attrName>
                                        </p:attrNameLst>
                                      </p:cBhvr>
                                      <p:tavLst>
                                        <p:tav tm="0">
                                          <p:val>
                                            <p:strVal val="#ppt_x"/>
                                          </p:val>
                                        </p:tav>
                                        <p:tav tm="100000">
                                          <p:val>
                                            <p:strVal val="#ppt_x"/>
                                          </p:val>
                                        </p:tav>
                                      </p:tavLst>
                                    </p:anim>
                                    <p:anim calcmode="lin" valueType="num">
                                      <p:cBhvr additive="base">
                                        <p:cTn id="38"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3"/>
                                        </p:tgtEl>
                                        <p:attrNameLst>
                                          <p:attrName>style.visibility</p:attrName>
                                        </p:attrNameLst>
                                      </p:cBhvr>
                                      <p:to>
                                        <p:strVal val="visible"/>
                                      </p:to>
                                    </p:set>
                                    <p:anim calcmode="lin" valueType="num">
                                      <p:cBhvr additive="base">
                                        <p:cTn id="43" dur="500" fill="hold"/>
                                        <p:tgtEl>
                                          <p:spTgt spid="33"/>
                                        </p:tgtEl>
                                        <p:attrNameLst>
                                          <p:attrName>ppt_x</p:attrName>
                                        </p:attrNameLst>
                                      </p:cBhvr>
                                      <p:tavLst>
                                        <p:tav tm="0">
                                          <p:val>
                                            <p:strVal val="#ppt_x"/>
                                          </p:val>
                                        </p:tav>
                                        <p:tav tm="100000">
                                          <p:val>
                                            <p:strVal val="#ppt_x"/>
                                          </p:val>
                                        </p:tav>
                                      </p:tavLst>
                                    </p:anim>
                                    <p:anim calcmode="lin" valueType="num">
                                      <p:cBhvr additive="base">
                                        <p:cTn id="44"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bldLvl="0" animBg="1"/>
      <p:bldP spid="36" grpId="1" animBg="1"/>
      <p:bldP spid="27" grpId="0"/>
      <p:bldP spid="26" grpId="0" bldLvl="0" animBg="1"/>
      <p:bldP spid="30" grpId="0" bldLvl="0" animBg="1"/>
      <p:bldP spid="31" grpId="0" bldLvl="0" animBg="1"/>
      <p:bldP spid="27" grpId="1"/>
      <p:bldP spid="26" grpId="1" animBg="1"/>
      <p:bldP spid="30" grpId="1" animBg="1"/>
      <p:bldP spid="31" grpId="1" animBg="1"/>
      <p:bldP spid="34" grpId="0" bldLvl="0" animBg="1"/>
      <p:bldP spid="34" grpId="1" animBg="1"/>
      <p:bldP spid="35" grpId="0" bldLvl="0" animBg="1"/>
      <p:bldP spid="35" grpId="1" animBg="1"/>
      <p:bldP spid="33" grpId="0" bldLvl="0" animBg="1"/>
      <p:bldP spid="33" grpId="1"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sym typeface="+mn-ea"/>
              </a:rPr>
              <a:t>16.4 </a:t>
            </a:r>
            <a:r>
              <a:rPr lang="zh-CN" altLang="en-US" dirty="0"/>
              <a:t>为什么需要</a:t>
            </a:r>
            <a:r>
              <a:rPr lang="en-US" altLang="zh-CN" dirty="0"/>
              <a:t>Kerberos</a:t>
            </a:r>
            <a:endParaRPr lang="zh-CN" altLang="en-US" dirty="0"/>
          </a:p>
        </p:txBody>
      </p:sp>
      <p:sp>
        <p:nvSpPr>
          <p:cNvPr id="4" name="灯片编号占位符 3"/>
          <p:cNvSpPr>
            <a:spLocks noGrp="1"/>
          </p:cNvSpPr>
          <p:nvPr>
            <p:ph type="sldNum" sz="quarter" idx="12"/>
          </p:nvPr>
        </p:nvSpPr>
        <p:spPr/>
        <p:txBody>
          <a:bodyPr/>
          <a:lstStyle/>
          <a:p>
            <a:pPr>
              <a:defRPr/>
            </a:pPr>
            <a:fld id="{B42B4293-9377-4872-955B-7EAEC82CC678}" type="slidenum">
              <a:rPr lang="en-US" altLang="zh-CN" smtClean="0"/>
            </a:fld>
            <a:endParaRPr lang="en-US" altLang="zh-CN" dirty="0"/>
          </a:p>
        </p:txBody>
      </p:sp>
      <p:sp>
        <p:nvSpPr>
          <p:cNvPr id="5" name="内容占位符 4"/>
          <p:cNvSpPr/>
          <p:nvPr>
            <p:ph idx="1"/>
          </p:nvPr>
        </p:nvSpPr>
        <p:spPr/>
        <p:txBody>
          <a:bodyPr/>
          <a:p>
            <a:r>
              <a:rPr kumimoji="1" lang="zh-CN" altLang="en-US" dirty="0" smtClean="0">
                <a:latin typeface="Times New Roman" panose="02020603050405020304" pitchFamily="18" charset="0"/>
                <a:sym typeface="+mn-ea"/>
              </a:rPr>
              <a:t>引入</a:t>
            </a:r>
            <a:r>
              <a:rPr kumimoji="1" lang="en-US" altLang="zh-CN" dirty="0" smtClean="0">
                <a:latin typeface="Times New Roman" panose="02020603050405020304" pitchFamily="18" charset="0"/>
                <a:sym typeface="+mn-ea"/>
              </a:rPr>
              <a:t>Kerberos</a:t>
            </a:r>
            <a:r>
              <a:rPr kumimoji="1" lang="zh-CN" altLang="en-US" dirty="0" smtClean="0">
                <a:latin typeface="Times New Roman" panose="02020603050405020304" pitchFamily="18" charset="0"/>
                <a:sym typeface="+mn-ea"/>
              </a:rPr>
              <a:t>，解决分布式系统中的客户端</a:t>
            </a:r>
            <a:r>
              <a:rPr kumimoji="1" lang="en-US" altLang="zh-CN" dirty="0" smtClean="0">
                <a:latin typeface="Times New Roman" panose="02020603050405020304" pitchFamily="18" charset="0"/>
                <a:sym typeface="+mn-ea"/>
              </a:rPr>
              <a:t>Client</a:t>
            </a:r>
            <a:r>
              <a:rPr kumimoji="1" lang="zh-CN" altLang="en-US" dirty="0" smtClean="0">
                <a:latin typeface="Times New Roman" panose="02020603050405020304" pitchFamily="18" charset="0"/>
                <a:sym typeface="+mn-ea"/>
              </a:rPr>
              <a:t>和服务器</a:t>
            </a:r>
            <a:r>
              <a:rPr kumimoji="1" lang="en-US" altLang="zh-CN" dirty="0" smtClean="0">
                <a:latin typeface="Times New Roman" panose="02020603050405020304" pitchFamily="18" charset="0"/>
                <a:sym typeface="+mn-ea"/>
              </a:rPr>
              <a:t>Server</a:t>
            </a:r>
            <a:r>
              <a:rPr kumimoji="1" lang="zh-CN" altLang="en-US" dirty="0" smtClean="0">
                <a:latin typeface="Times New Roman" panose="02020603050405020304" pitchFamily="18" charset="0"/>
                <a:sym typeface="+mn-ea"/>
              </a:rPr>
              <a:t>之间的身份认证</a:t>
            </a:r>
            <a:r>
              <a:rPr kumimoji="1" lang="zh-CN" altLang="en-US" dirty="0" smtClean="0">
                <a:latin typeface="Times New Roman" panose="02020603050405020304" pitchFamily="18" charset="0"/>
                <a:sym typeface="+mn-ea"/>
              </a:rPr>
              <a:t>问题。</a:t>
            </a:r>
            <a:endParaRPr kumimoji="1" lang="zh-CN" altLang="en-US" dirty="0" smtClean="0">
              <a:latin typeface="Times New Roman" panose="02020603050405020304" pitchFamily="18" charset="0"/>
              <a:sym typeface="+mn-ea"/>
            </a:endParaRPr>
          </a:p>
          <a:p>
            <a:endParaRPr kumimoji="1" lang="zh-CN" altLang="en-US" dirty="0" smtClean="0">
              <a:latin typeface="Times New Roman" panose="02020603050405020304" pitchFamily="18" charset="0"/>
              <a:sym typeface="+mn-ea"/>
            </a:endParaRPr>
          </a:p>
          <a:p>
            <a:endParaRPr lang="zh-CN" altLang="en-US" dirty="0" smtClean="0">
              <a:sym typeface="+mn-ea"/>
            </a:endParaRPr>
          </a:p>
        </p:txBody>
      </p:sp>
      <p:pic>
        <p:nvPicPr>
          <p:cNvPr id="102" name="图片 101"/>
          <p:cNvPicPr/>
          <p:nvPr/>
        </p:nvPicPr>
        <p:blipFill>
          <a:blip r:embed="rId1"/>
          <a:stretch>
            <a:fillRect/>
          </a:stretch>
        </p:blipFill>
        <p:spPr>
          <a:xfrm>
            <a:off x="970280" y="2839085"/>
            <a:ext cx="650875" cy="731520"/>
          </a:xfrm>
          <a:prstGeom prst="rect">
            <a:avLst/>
          </a:prstGeom>
          <a:noFill/>
          <a:ln w="9525">
            <a:noFill/>
          </a:ln>
        </p:spPr>
      </p:pic>
      <p:pic>
        <p:nvPicPr>
          <p:cNvPr id="105" name="图片 104"/>
          <p:cNvPicPr/>
          <p:nvPr/>
        </p:nvPicPr>
        <p:blipFill>
          <a:blip r:embed="rId2"/>
          <a:stretch>
            <a:fillRect/>
          </a:stretch>
        </p:blipFill>
        <p:spPr>
          <a:xfrm>
            <a:off x="744220" y="5295265"/>
            <a:ext cx="671195" cy="792480"/>
          </a:xfrm>
          <a:prstGeom prst="rect">
            <a:avLst/>
          </a:prstGeom>
          <a:noFill/>
          <a:ln w="9525">
            <a:noFill/>
          </a:ln>
        </p:spPr>
      </p:pic>
      <p:pic>
        <p:nvPicPr>
          <p:cNvPr id="9" name="图片 8"/>
          <p:cNvPicPr/>
          <p:nvPr>
            <p:custDataLst>
              <p:tags r:id="rId3"/>
            </p:custDataLst>
          </p:nvPr>
        </p:nvPicPr>
        <p:blipFill>
          <a:blip r:embed="rId1"/>
          <a:stretch>
            <a:fillRect/>
          </a:stretch>
        </p:blipFill>
        <p:spPr>
          <a:xfrm>
            <a:off x="2164715" y="2839085"/>
            <a:ext cx="650875" cy="731520"/>
          </a:xfrm>
          <a:prstGeom prst="rect">
            <a:avLst/>
          </a:prstGeom>
          <a:noFill/>
          <a:ln w="9525">
            <a:noFill/>
          </a:ln>
        </p:spPr>
      </p:pic>
      <p:pic>
        <p:nvPicPr>
          <p:cNvPr id="10" name="图片 9"/>
          <p:cNvPicPr/>
          <p:nvPr>
            <p:custDataLst>
              <p:tags r:id="rId4"/>
            </p:custDataLst>
          </p:nvPr>
        </p:nvPicPr>
        <p:blipFill>
          <a:blip r:embed="rId1"/>
          <a:stretch>
            <a:fillRect/>
          </a:stretch>
        </p:blipFill>
        <p:spPr>
          <a:xfrm>
            <a:off x="3587750" y="2839085"/>
            <a:ext cx="650875" cy="731520"/>
          </a:xfrm>
          <a:prstGeom prst="rect">
            <a:avLst/>
          </a:prstGeom>
          <a:noFill/>
          <a:ln w="9525">
            <a:noFill/>
          </a:ln>
        </p:spPr>
      </p:pic>
      <p:pic>
        <p:nvPicPr>
          <p:cNvPr id="11" name="图片 10"/>
          <p:cNvPicPr/>
          <p:nvPr>
            <p:custDataLst>
              <p:tags r:id="rId5"/>
            </p:custDataLst>
          </p:nvPr>
        </p:nvPicPr>
        <p:blipFill>
          <a:blip r:embed="rId2"/>
          <a:stretch>
            <a:fillRect/>
          </a:stretch>
        </p:blipFill>
        <p:spPr>
          <a:xfrm>
            <a:off x="2144395" y="5295265"/>
            <a:ext cx="671195" cy="792480"/>
          </a:xfrm>
          <a:prstGeom prst="rect">
            <a:avLst/>
          </a:prstGeom>
          <a:noFill/>
          <a:ln w="9525">
            <a:noFill/>
          </a:ln>
        </p:spPr>
      </p:pic>
      <p:pic>
        <p:nvPicPr>
          <p:cNvPr id="12" name="图片 11"/>
          <p:cNvPicPr/>
          <p:nvPr>
            <p:custDataLst>
              <p:tags r:id="rId6"/>
            </p:custDataLst>
          </p:nvPr>
        </p:nvPicPr>
        <p:blipFill>
          <a:blip r:embed="rId2"/>
          <a:stretch>
            <a:fillRect/>
          </a:stretch>
        </p:blipFill>
        <p:spPr>
          <a:xfrm>
            <a:off x="3587750" y="5295265"/>
            <a:ext cx="671195" cy="792480"/>
          </a:xfrm>
          <a:prstGeom prst="rect">
            <a:avLst/>
          </a:prstGeom>
          <a:noFill/>
          <a:ln w="9525">
            <a:noFill/>
          </a:ln>
        </p:spPr>
      </p:pic>
      <p:sp>
        <p:nvSpPr>
          <p:cNvPr id="15" name="矩形 14"/>
          <p:cNvSpPr/>
          <p:nvPr/>
        </p:nvSpPr>
        <p:spPr>
          <a:xfrm>
            <a:off x="1621155" y="4082415"/>
            <a:ext cx="1737995" cy="559435"/>
          </a:xfrm>
          <a:prstGeom prst="rect">
            <a:avLst/>
          </a:prstGeom>
          <a:ln w="38100"/>
        </p:spPr>
        <p:style>
          <a:lnRef idx="2">
            <a:schemeClr val="dk1"/>
          </a:lnRef>
          <a:fillRef idx="1">
            <a:schemeClr val="lt1"/>
          </a:fillRef>
          <a:effectRef idx="0">
            <a:schemeClr val="dk1"/>
          </a:effectRef>
          <a:fontRef idx="minor">
            <a:schemeClr val="dk1"/>
          </a:fontRef>
        </p:style>
        <p:txBody>
          <a:bodyPr rtlCol="0" anchor="ctr"/>
          <a:p>
            <a:pPr algn="ctr"/>
            <a:r>
              <a:rPr lang="en-US" altLang="zh-CN" sz="2000" b="1"/>
              <a:t>Network</a:t>
            </a:r>
            <a:endParaRPr lang="en-US" altLang="zh-CN" sz="2000" b="1"/>
          </a:p>
        </p:txBody>
      </p:sp>
      <p:cxnSp>
        <p:nvCxnSpPr>
          <p:cNvPr id="16" name="直接连接符 15"/>
          <p:cNvCxnSpPr/>
          <p:nvPr/>
        </p:nvCxnSpPr>
        <p:spPr>
          <a:xfrm>
            <a:off x="1400810" y="3515360"/>
            <a:ext cx="568960" cy="56578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9" idx="2"/>
            <a:endCxn id="15" idx="0"/>
          </p:cNvCxnSpPr>
          <p:nvPr/>
        </p:nvCxnSpPr>
        <p:spPr>
          <a:xfrm>
            <a:off x="2490470" y="3570605"/>
            <a:ext cx="0" cy="51181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8" name="直接连接符 17"/>
          <p:cNvCxnSpPr>
            <a:stCxn id="10" idx="2"/>
          </p:cNvCxnSpPr>
          <p:nvPr/>
        </p:nvCxnSpPr>
        <p:spPr>
          <a:xfrm flipH="1">
            <a:off x="3158490" y="3570605"/>
            <a:ext cx="755015" cy="50165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custDataLst>
              <p:tags r:id="rId7"/>
            </p:custDataLst>
          </p:nvPr>
        </p:nvCxnSpPr>
        <p:spPr>
          <a:xfrm flipH="1">
            <a:off x="1090930" y="4648200"/>
            <a:ext cx="944245" cy="64706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custDataLst>
              <p:tags r:id="rId8"/>
            </p:custDataLst>
          </p:nvPr>
        </p:nvCxnSpPr>
        <p:spPr>
          <a:xfrm>
            <a:off x="2490470" y="4641850"/>
            <a:ext cx="0" cy="65341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12" idx="0"/>
          </p:cNvCxnSpPr>
          <p:nvPr>
            <p:custDataLst>
              <p:tags r:id="rId9"/>
            </p:custDataLst>
          </p:nvPr>
        </p:nvCxnSpPr>
        <p:spPr>
          <a:xfrm flipH="1" flipV="1">
            <a:off x="3120390" y="4648200"/>
            <a:ext cx="803275" cy="64706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431165" y="6226175"/>
            <a:ext cx="1538605" cy="398780"/>
          </a:xfrm>
          <a:prstGeom prst="rect">
            <a:avLst/>
          </a:prstGeom>
          <a:noFill/>
        </p:spPr>
        <p:txBody>
          <a:bodyPr wrap="square" rtlCol="0">
            <a:spAutoFit/>
          </a:bodyPr>
          <a:p>
            <a:r>
              <a:rPr lang="en-US" altLang="zh-CN" sz="2000" b="1"/>
              <a:t>File Server</a:t>
            </a:r>
            <a:endParaRPr lang="en-US" altLang="zh-CN" sz="2000" b="1"/>
          </a:p>
        </p:txBody>
      </p:sp>
      <p:sp>
        <p:nvSpPr>
          <p:cNvPr id="8" name="文本框 7"/>
          <p:cNvSpPr txBox="1"/>
          <p:nvPr>
            <p:custDataLst>
              <p:tags r:id="rId10"/>
            </p:custDataLst>
          </p:nvPr>
        </p:nvSpPr>
        <p:spPr>
          <a:xfrm>
            <a:off x="1820545" y="6226175"/>
            <a:ext cx="1538605" cy="398780"/>
          </a:xfrm>
          <a:prstGeom prst="rect">
            <a:avLst/>
          </a:prstGeom>
          <a:noFill/>
        </p:spPr>
        <p:txBody>
          <a:bodyPr wrap="square" rtlCol="0">
            <a:spAutoFit/>
          </a:bodyPr>
          <a:p>
            <a:r>
              <a:rPr lang="en-US" altLang="zh-CN" sz="2000" b="1"/>
              <a:t>Mail Server</a:t>
            </a:r>
            <a:endParaRPr lang="en-US" altLang="zh-CN" sz="2000" b="1"/>
          </a:p>
        </p:txBody>
      </p:sp>
      <p:sp>
        <p:nvSpPr>
          <p:cNvPr id="13" name="文本框 12"/>
          <p:cNvSpPr txBox="1"/>
          <p:nvPr>
            <p:custDataLst>
              <p:tags r:id="rId11"/>
            </p:custDataLst>
          </p:nvPr>
        </p:nvSpPr>
        <p:spPr>
          <a:xfrm>
            <a:off x="3263900" y="6226175"/>
            <a:ext cx="1538605" cy="398780"/>
          </a:xfrm>
          <a:prstGeom prst="rect">
            <a:avLst/>
          </a:prstGeom>
          <a:noFill/>
        </p:spPr>
        <p:txBody>
          <a:bodyPr wrap="square" rtlCol="0">
            <a:spAutoFit/>
          </a:bodyPr>
          <a:p>
            <a:r>
              <a:rPr lang="en-US" altLang="zh-CN" sz="2000" b="1"/>
              <a:t>Print Server</a:t>
            </a:r>
            <a:endParaRPr lang="en-US" altLang="zh-CN" sz="2000" b="1"/>
          </a:p>
        </p:txBody>
      </p:sp>
      <p:sp>
        <p:nvSpPr>
          <p:cNvPr id="23" name="文本框 22"/>
          <p:cNvSpPr txBox="1"/>
          <p:nvPr>
            <p:custDataLst>
              <p:tags r:id="rId12"/>
            </p:custDataLst>
          </p:nvPr>
        </p:nvSpPr>
        <p:spPr>
          <a:xfrm>
            <a:off x="1225550" y="2464435"/>
            <a:ext cx="2573020" cy="398780"/>
          </a:xfrm>
          <a:prstGeom prst="rect">
            <a:avLst/>
          </a:prstGeom>
          <a:noFill/>
        </p:spPr>
        <p:txBody>
          <a:bodyPr wrap="square" rtlCol="0">
            <a:spAutoFit/>
          </a:bodyPr>
          <a:p>
            <a:pPr algn="ctr"/>
            <a:r>
              <a:rPr lang="en-US" altLang="zh-CN" sz="2000" b="1"/>
              <a:t>Client</a:t>
            </a:r>
            <a:r>
              <a:rPr lang="en-US" altLang="zh-CN" sz="2000" b="1"/>
              <a:t>s</a:t>
            </a:r>
            <a:endParaRPr lang="en-US" altLang="zh-CN" sz="2000" b="1"/>
          </a:p>
        </p:txBody>
      </p:sp>
      <p:sp>
        <p:nvSpPr>
          <p:cNvPr id="26" name="矩形 25"/>
          <p:cNvSpPr/>
          <p:nvPr/>
        </p:nvSpPr>
        <p:spPr>
          <a:xfrm>
            <a:off x="5628640" y="3141345"/>
            <a:ext cx="3509645" cy="3248660"/>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p>
            <a:pPr algn="ctr"/>
            <a:endParaRPr lang="zh-CN" altLang="en-US"/>
          </a:p>
        </p:txBody>
      </p:sp>
      <p:sp>
        <p:nvSpPr>
          <p:cNvPr id="27" name="文本框 26"/>
          <p:cNvSpPr txBox="1"/>
          <p:nvPr>
            <p:custDataLst>
              <p:tags r:id="rId13"/>
            </p:custDataLst>
          </p:nvPr>
        </p:nvSpPr>
        <p:spPr>
          <a:xfrm>
            <a:off x="5234940" y="2310765"/>
            <a:ext cx="4297680" cy="706755"/>
          </a:xfrm>
          <a:prstGeom prst="rect">
            <a:avLst/>
          </a:prstGeom>
          <a:noFill/>
        </p:spPr>
        <p:txBody>
          <a:bodyPr wrap="square" rtlCol="0">
            <a:spAutoFit/>
          </a:bodyPr>
          <a:p>
            <a:pPr algn="ctr"/>
            <a:r>
              <a:rPr lang="en-US" altLang="zh-CN" sz="2000" b="1"/>
              <a:t>Kerberos </a:t>
            </a:r>
            <a:endParaRPr lang="en-US" altLang="zh-CN" sz="2000" b="1"/>
          </a:p>
          <a:p>
            <a:pPr algn="ctr"/>
            <a:r>
              <a:rPr lang="en-US" altLang="zh-CN" sz="2000" b="1"/>
              <a:t>Key Distribution Center</a:t>
            </a:r>
            <a:r>
              <a:rPr lang="zh-CN" altLang="en-US" sz="2000" b="1"/>
              <a:t>（</a:t>
            </a:r>
            <a:r>
              <a:rPr lang="en-US" altLang="zh-CN" sz="2000" b="1"/>
              <a:t>KDC</a:t>
            </a:r>
            <a:r>
              <a:rPr lang="zh-CN" altLang="en-US" sz="2000" b="1"/>
              <a:t>）</a:t>
            </a:r>
            <a:endParaRPr lang="zh-CN" altLang="en-US" sz="2000" b="1"/>
          </a:p>
        </p:txBody>
      </p:sp>
      <p:sp>
        <p:nvSpPr>
          <p:cNvPr id="29" name="加号 28"/>
          <p:cNvSpPr/>
          <p:nvPr/>
        </p:nvSpPr>
        <p:spPr>
          <a:xfrm>
            <a:off x="4323715" y="3952875"/>
            <a:ext cx="1096645" cy="99123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0" name="圆角矩形 29"/>
          <p:cNvSpPr/>
          <p:nvPr/>
        </p:nvSpPr>
        <p:spPr>
          <a:xfrm>
            <a:off x="6205220" y="3515360"/>
            <a:ext cx="2289810" cy="7213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000" b="1">
                <a:sym typeface="+mn-ea"/>
              </a:rPr>
              <a:t>Authentication</a:t>
            </a:r>
            <a:endParaRPr lang="en-US" altLang="zh-CN" sz="2000" b="1"/>
          </a:p>
          <a:p>
            <a:pPr algn="ctr"/>
            <a:r>
              <a:rPr lang="en-US" altLang="zh-CN" sz="2000" b="1">
                <a:sym typeface="+mn-ea"/>
              </a:rPr>
              <a:t>Service</a:t>
            </a:r>
            <a:endParaRPr lang="en-US" altLang="zh-CN" sz="2000" b="1">
              <a:sym typeface="+mn-ea"/>
            </a:endParaRPr>
          </a:p>
        </p:txBody>
      </p:sp>
      <p:sp>
        <p:nvSpPr>
          <p:cNvPr id="31" name="圆角矩形 30"/>
          <p:cNvSpPr/>
          <p:nvPr>
            <p:custDataLst>
              <p:tags r:id="rId14"/>
            </p:custDataLst>
          </p:nvPr>
        </p:nvSpPr>
        <p:spPr>
          <a:xfrm>
            <a:off x="6205220" y="5366385"/>
            <a:ext cx="2289810" cy="7213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000" b="1">
                <a:sym typeface="+mn-ea"/>
              </a:rPr>
              <a:t>Ticket Granting</a:t>
            </a:r>
            <a:endParaRPr lang="en-US" altLang="zh-CN" sz="2000" b="1"/>
          </a:p>
          <a:p>
            <a:pPr algn="ctr"/>
            <a:r>
              <a:rPr lang="en-US" altLang="zh-CN" sz="2000" b="1">
                <a:sym typeface="+mn-ea"/>
              </a:rPr>
              <a:t>Service</a:t>
            </a:r>
            <a:endParaRPr lang="en-US" altLang="zh-CN" sz="2000" b="1">
              <a:sym typeface="+mn-ea"/>
            </a:endParaRPr>
          </a:p>
        </p:txBody>
      </p:sp>
      <p:sp>
        <p:nvSpPr>
          <p:cNvPr id="33" name="剪去单角的矩形 32"/>
          <p:cNvSpPr/>
          <p:nvPr/>
        </p:nvSpPr>
        <p:spPr>
          <a:xfrm>
            <a:off x="9532620" y="3141345"/>
            <a:ext cx="2508885" cy="2233930"/>
          </a:xfrm>
          <a:prstGeom prst="snip1Rect">
            <a:avLst/>
          </a:prstGeom>
        </p:spPr>
        <p:style>
          <a:lnRef idx="3">
            <a:schemeClr val="lt1"/>
          </a:lnRef>
          <a:fillRef idx="1">
            <a:schemeClr val="accent4"/>
          </a:fillRef>
          <a:effectRef idx="1">
            <a:schemeClr val="accent4"/>
          </a:effectRef>
          <a:fontRef idx="minor">
            <a:schemeClr val="lt1"/>
          </a:fontRef>
        </p:style>
        <p:txBody>
          <a:bodyPr rtlCol="0" anchor="ctr"/>
          <a:p>
            <a:pPr algn="l"/>
            <a:r>
              <a:rPr lang="en-US" altLang="zh-CN" sz="2400" b="1"/>
              <a:t>Question1</a:t>
            </a:r>
            <a:r>
              <a:rPr lang="zh-CN" altLang="en-US" sz="2400" b="1"/>
              <a:t>：</a:t>
            </a:r>
            <a:endParaRPr lang="zh-CN" altLang="en-US" sz="2400" b="1"/>
          </a:p>
          <a:p>
            <a:pPr indent="0" algn="l">
              <a:buFont typeface="Arial" panose="020B0604020202020204" pitchFamily="34" charset="0"/>
              <a:buNone/>
            </a:pPr>
            <a:r>
              <a:rPr lang="en-US" altLang="zh-CN" b="1"/>
              <a:t>KDC</a:t>
            </a:r>
            <a:r>
              <a:rPr lang="zh-CN" altLang="en-US" b="1"/>
              <a:t>如何建立与实体间的认证</a:t>
            </a:r>
            <a:r>
              <a:rPr lang="zh-CN" altLang="en-US" b="1"/>
              <a:t>关系？</a:t>
            </a:r>
            <a:endParaRPr lang="zh-CN" altLang="en-US" b="1"/>
          </a:p>
          <a:p>
            <a:pPr marL="285750" indent="-285750" algn="l">
              <a:buFont typeface="Arial" panose="020B0604020202020204" pitchFamily="34" charset="0"/>
              <a:buChar char="•"/>
            </a:pPr>
            <a:r>
              <a:rPr lang="zh-CN" altLang="en-US" b="1"/>
              <a:t>通过引入</a:t>
            </a:r>
            <a:r>
              <a:rPr lang="zh-CN" altLang="en-US" b="1">
                <a:solidFill>
                  <a:srgbClr val="FF0000"/>
                </a:solidFill>
              </a:rPr>
              <a:t>对称密码算法</a:t>
            </a:r>
            <a:r>
              <a:rPr lang="zh-CN" altLang="en-US" b="1"/>
              <a:t>，利用对称密码算法和</a:t>
            </a:r>
            <a:r>
              <a:rPr lang="zh-CN" altLang="en-US" b="1">
                <a:solidFill>
                  <a:srgbClr val="FF0000"/>
                </a:solidFill>
              </a:rPr>
              <a:t>共享密钥</a:t>
            </a:r>
            <a:r>
              <a:rPr lang="zh-CN" altLang="en-US" b="1"/>
              <a:t>完成</a:t>
            </a:r>
            <a:r>
              <a:rPr lang="zh-CN" altLang="en-US" b="1"/>
              <a:t>认证。</a:t>
            </a:r>
            <a:endParaRPr lang="zh-CN" altLang="en-US" b="1"/>
          </a:p>
          <a:p>
            <a:pPr marL="342900" indent="-342900" algn="l">
              <a:buFont typeface="Arial" panose="020B0604020202020204" pitchFamily="34" charset="0"/>
              <a:buChar char="•"/>
            </a:pPr>
            <a:endParaRPr lang="zh-CN" altLang="en-US" b="1"/>
          </a:p>
        </p:txBody>
      </p:sp>
    </p:spTree>
  </p:cSld>
  <p:clrMapOvr>
    <a:masterClrMapping/>
  </p:clrMapOvr>
  <mc:AlternateContent xmlns:mc="http://schemas.openxmlformats.org/markup-compatibility/2006">
    <mc:Choice xmlns:p14="http://schemas.microsoft.com/office/powerpoint/2010/main" Requires="p14">
      <p:transition spd="slow" p14:dur="2000" advTm="2827"/>
    </mc:Choice>
    <mc:Fallback>
      <p:transition spd="slow" advTm="282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ntr" presetSubtype="4" fill="hold" nodeType="clickEffect">
                                  <p:stCondLst>
                                    <p:cond delay="0"/>
                                  </p:stCondLst>
                                  <p:childTnLst>
                                    <p:set>
                                      <p:cBhvr>
                                        <p:cTn id="6" dur="1" fill="hold">
                                          <p:stCondLst>
                                            <p:cond delay="0"/>
                                          </p:stCondLst>
                                        </p:cTn>
                                        <p:tgtEl>
                                          <p:spTgt spid="33">
                                            <p:txEl>
                                              <p:pRg st="2" end="2"/>
                                            </p:txEl>
                                          </p:spTgt>
                                        </p:tgtEl>
                                        <p:attrNameLst>
                                          <p:attrName>style.visibility</p:attrName>
                                        </p:attrNameLst>
                                      </p:cBhvr>
                                      <p:to>
                                        <p:strVal val="visible"/>
                                      </p:to>
                                    </p:set>
                                    <p:anim calcmode="lin" valueType="num">
                                      <p:cBhvr additive="base">
                                        <p:cTn id="7" dur="5000" fill="hold"/>
                                        <p:tgtEl>
                                          <p:spTgt spid="33">
                                            <p:txEl>
                                              <p:pRg st="2" end="2"/>
                                            </p:txEl>
                                          </p:spTgt>
                                        </p:tgtEl>
                                        <p:attrNameLst>
                                          <p:attrName>ppt_x</p:attrName>
                                        </p:attrNameLst>
                                      </p:cBhvr>
                                      <p:tavLst>
                                        <p:tav tm="0">
                                          <p:val>
                                            <p:strVal val="#ppt_x"/>
                                          </p:val>
                                        </p:tav>
                                        <p:tav tm="100000">
                                          <p:val>
                                            <p:strVal val="#ppt_x"/>
                                          </p:val>
                                        </p:tav>
                                      </p:tavLst>
                                    </p:anim>
                                    <p:anim calcmode="lin" valueType="num">
                                      <p:cBhvr additive="base">
                                        <p:cTn id="8" dur="5000" fill="hold"/>
                                        <p:tgtEl>
                                          <p:spTgt spid="3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sym typeface="+mn-ea"/>
              </a:rPr>
              <a:t>16.4 </a:t>
            </a:r>
            <a:r>
              <a:rPr lang="en-US" altLang="zh-CN" dirty="0"/>
              <a:t>Kerberos</a:t>
            </a:r>
            <a:r>
              <a:rPr lang="zh-CN" altLang="en-US" dirty="0"/>
              <a:t>的</a:t>
            </a:r>
            <a:r>
              <a:rPr lang="zh-CN" altLang="en-US" dirty="0"/>
              <a:t>原理</a:t>
            </a:r>
            <a:endParaRPr lang="zh-CN" altLang="en-US" dirty="0"/>
          </a:p>
        </p:txBody>
      </p:sp>
      <p:sp>
        <p:nvSpPr>
          <p:cNvPr id="4" name="灯片编号占位符 3"/>
          <p:cNvSpPr>
            <a:spLocks noGrp="1"/>
          </p:cNvSpPr>
          <p:nvPr>
            <p:ph type="sldNum" sz="quarter" idx="12"/>
          </p:nvPr>
        </p:nvSpPr>
        <p:spPr/>
        <p:txBody>
          <a:bodyPr/>
          <a:lstStyle/>
          <a:p>
            <a:pPr>
              <a:defRPr/>
            </a:pPr>
            <a:fld id="{B42B4293-9377-4872-955B-7EAEC82CC678}" type="slidenum">
              <a:rPr lang="en-US" altLang="zh-CN" smtClean="0"/>
            </a:fld>
            <a:endParaRPr lang="en-US" altLang="zh-CN" dirty="0"/>
          </a:p>
        </p:txBody>
      </p:sp>
      <p:sp>
        <p:nvSpPr>
          <p:cNvPr id="5" name="内容占位符 4"/>
          <p:cNvSpPr/>
          <p:nvPr>
            <p:ph idx="1"/>
          </p:nvPr>
        </p:nvSpPr>
        <p:spPr/>
        <p:txBody>
          <a:bodyPr/>
          <a:p>
            <a:r>
              <a:rPr kumimoji="1" lang="en-US" altLang="zh-CN" dirty="0" smtClean="0">
                <a:latin typeface="Times New Roman" panose="02020603050405020304" pitchFamily="18" charset="0"/>
                <a:sym typeface="+mn-ea"/>
              </a:rPr>
              <a:t>KDC</a:t>
            </a:r>
            <a:r>
              <a:rPr kumimoji="1" lang="zh-CN" altLang="en-US" dirty="0" smtClean="0">
                <a:latin typeface="Times New Roman" panose="02020603050405020304" pitchFamily="18" charset="0"/>
                <a:sym typeface="+mn-ea"/>
              </a:rPr>
              <a:t>是</a:t>
            </a:r>
            <a:r>
              <a:rPr kumimoji="1" lang="en-US" altLang="zh-CN" dirty="0" smtClean="0">
                <a:latin typeface="Times New Roman" panose="02020603050405020304" pitchFamily="18" charset="0"/>
                <a:sym typeface="+mn-ea"/>
              </a:rPr>
              <a:t>Client</a:t>
            </a:r>
            <a:r>
              <a:rPr kumimoji="1" lang="zh-CN" altLang="en-US" dirty="0" smtClean="0">
                <a:latin typeface="Times New Roman" panose="02020603050405020304" pitchFamily="18" charset="0"/>
                <a:sym typeface="+mn-ea"/>
              </a:rPr>
              <a:t>和</a:t>
            </a:r>
            <a:r>
              <a:rPr kumimoji="1" lang="en-US" altLang="zh-CN" dirty="0" smtClean="0">
                <a:latin typeface="Times New Roman" panose="02020603050405020304" pitchFamily="18" charset="0"/>
                <a:sym typeface="+mn-ea"/>
              </a:rPr>
              <a:t>Server</a:t>
            </a:r>
            <a:r>
              <a:rPr lang="zh-CN" altLang="en-US" dirty="0" smtClean="0">
                <a:sym typeface="+mn-ea"/>
              </a:rPr>
              <a:t>共同信任的第三方</a:t>
            </a:r>
            <a:endParaRPr lang="zh-CN" altLang="en-US" dirty="0" smtClean="0"/>
          </a:p>
          <a:p>
            <a:endParaRPr lang="zh-CN" altLang="en-US" dirty="0" smtClean="0">
              <a:sym typeface="+mn-ea"/>
            </a:endParaRPr>
          </a:p>
        </p:txBody>
      </p:sp>
      <p:pic>
        <p:nvPicPr>
          <p:cNvPr id="102" name="图片 101"/>
          <p:cNvPicPr/>
          <p:nvPr/>
        </p:nvPicPr>
        <p:blipFill>
          <a:blip r:embed="rId1"/>
          <a:stretch>
            <a:fillRect/>
          </a:stretch>
        </p:blipFill>
        <p:spPr>
          <a:xfrm>
            <a:off x="970280" y="2839085"/>
            <a:ext cx="650875" cy="731520"/>
          </a:xfrm>
          <a:prstGeom prst="rect">
            <a:avLst/>
          </a:prstGeom>
          <a:noFill/>
          <a:ln w="9525">
            <a:noFill/>
          </a:ln>
        </p:spPr>
      </p:pic>
      <p:pic>
        <p:nvPicPr>
          <p:cNvPr id="105" name="图片 104"/>
          <p:cNvPicPr/>
          <p:nvPr/>
        </p:nvPicPr>
        <p:blipFill>
          <a:blip r:embed="rId2"/>
          <a:stretch>
            <a:fillRect/>
          </a:stretch>
        </p:blipFill>
        <p:spPr>
          <a:xfrm>
            <a:off x="744220" y="5295265"/>
            <a:ext cx="671195" cy="792480"/>
          </a:xfrm>
          <a:prstGeom prst="rect">
            <a:avLst/>
          </a:prstGeom>
          <a:noFill/>
          <a:ln w="9525">
            <a:noFill/>
          </a:ln>
        </p:spPr>
      </p:pic>
      <p:pic>
        <p:nvPicPr>
          <p:cNvPr id="9" name="图片 8"/>
          <p:cNvPicPr/>
          <p:nvPr>
            <p:custDataLst>
              <p:tags r:id="rId3"/>
            </p:custDataLst>
          </p:nvPr>
        </p:nvPicPr>
        <p:blipFill>
          <a:blip r:embed="rId1"/>
          <a:stretch>
            <a:fillRect/>
          </a:stretch>
        </p:blipFill>
        <p:spPr>
          <a:xfrm>
            <a:off x="2164715" y="2839085"/>
            <a:ext cx="650875" cy="731520"/>
          </a:xfrm>
          <a:prstGeom prst="rect">
            <a:avLst/>
          </a:prstGeom>
          <a:noFill/>
          <a:ln w="9525">
            <a:noFill/>
          </a:ln>
        </p:spPr>
      </p:pic>
      <p:pic>
        <p:nvPicPr>
          <p:cNvPr id="10" name="图片 9"/>
          <p:cNvPicPr/>
          <p:nvPr>
            <p:custDataLst>
              <p:tags r:id="rId4"/>
            </p:custDataLst>
          </p:nvPr>
        </p:nvPicPr>
        <p:blipFill>
          <a:blip r:embed="rId1"/>
          <a:stretch>
            <a:fillRect/>
          </a:stretch>
        </p:blipFill>
        <p:spPr>
          <a:xfrm>
            <a:off x="3587750" y="2839085"/>
            <a:ext cx="650875" cy="731520"/>
          </a:xfrm>
          <a:prstGeom prst="rect">
            <a:avLst/>
          </a:prstGeom>
          <a:noFill/>
          <a:ln w="9525">
            <a:noFill/>
          </a:ln>
        </p:spPr>
      </p:pic>
      <p:pic>
        <p:nvPicPr>
          <p:cNvPr id="11" name="图片 10"/>
          <p:cNvPicPr/>
          <p:nvPr>
            <p:custDataLst>
              <p:tags r:id="rId5"/>
            </p:custDataLst>
          </p:nvPr>
        </p:nvPicPr>
        <p:blipFill>
          <a:blip r:embed="rId2"/>
          <a:stretch>
            <a:fillRect/>
          </a:stretch>
        </p:blipFill>
        <p:spPr>
          <a:xfrm>
            <a:off x="2144395" y="5295265"/>
            <a:ext cx="671195" cy="792480"/>
          </a:xfrm>
          <a:prstGeom prst="rect">
            <a:avLst/>
          </a:prstGeom>
          <a:noFill/>
          <a:ln w="9525">
            <a:noFill/>
          </a:ln>
        </p:spPr>
      </p:pic>
      <p:pic>
        <p:nvPicPr>
          <p:cNvPr id="12" name="图片 11"/>
          <p:cNvPicPr/>
          <p:nvPr>
            <p:custDataLst>
              <p:tags r:id="rId6"/>
            </p:custDataLst>
          </p:nvPr>
        </p:nvPicPr>
        <p:blipFill>
          <a:blip r:embed="rId2"/>
          <a:stretch>
            <a:fillRect/>
          </a:stretch>
        </p:blipFill>
        <p:spPr>
          <a:xfrm>
            <a:off x="3587750" y="5295265"/>
            <a:ext cx="671195" cy="792480"/>
          </a:xfrm>
          <a:prstGeom prst="rect">
            <a:avLst/>
          </a:prstGeom>
          <a:noFill/>
          <a:ln w="9525">
            <a:noFill/>
          </a:ln>
        </p:spPr>
      </p:pic>
      <p:sp>
        <p:nvSpPr>
          <p:cNvPr id="15" name="矩形 14"/>
          <p:cNvSpPr/>
          <p:nvPr/>
        </p:nvSpPr>
        <p:spPr>
          <a:xfrm>
            <a:off x="1621155" y="4082415"/>
            <a:ext cx="1737995" cy="559435"/>
          </a:xfrm>
          <a:prstGeom prst="rect">
            <a:avLst/>
          </a:prstGeom>
          <a:ln w="38100"/>
        </p:spPr>
        <p:style>
          <a:lnRef idx="2">
            <a:schemeClr val="dk1"/>
          </a:lnRef>
          <a:fillRef idx="1">
            <a:schemeClr val="lt1"/>
          </a:fillRef>
          <a:effectRef idx="0">
            <a:schemeClr val="dk1"/>
          </a:effectRef>
          <a:fontRef idx="minor">
            <a:schemeClr val="dk1"/>
          </a:fontRef>
        </p:style>
        <p:txBody>
          <a:bodyPr rtlCol="0" anchor="ctr"/>
          <a:p>
            <a:pPr algn="ctr"/>
            <a:r>
              <a:rPr lang="en-US" altLang="zh-CN" sz="2000" b="1"/>
              <a:t>Network</a:t>
            </a:r>
            <a:endParaRPr lang="en-US" altLang="zh-CN" sz="2000" b="1"/>
          </a:p>
        </p:txBody>
      </p:sp>
      <p:cxnSp>
        <p:nvCxnSpPr>
          <p:cNvPr id="16" name="直接连接符 15"/>
          <p:cNvCxnSpPr/>
          <p:nvPr/>
        </p:nvCxnSpPr>
        <p:spPr>
          <a:xfrm>
            <a:off x="1400810" y="3515360"/>
            <a:ext cx="568960" cy="56578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9" idx="2"/>
            <a:endCxn id="15" idx="0"/>
          </p:cNvCxnSpPr>
          <p:nvPr/>
        </p:nvCxnSpPr>
        <p:spPr>
          <a:xfrm>
            <a:off x="2490470" y="3570605"/>
            <a:ext cx="0" cy="51181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8" name="直接连接符 17"/>
          <p:cNvCxnSpPr>
            <a:stCxn id="10" idx="2"/>
          </p:cNvCxnSpPr>
          <p:nvPr/>
        </p:nvCxnSpPr>
        <p:spPr>
          <a:xfrm flipH="1">
            <a:off x="3158490" y="3570605"/>
            <a:ext cx="755015" cy="50165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custDataLst>
              <p:tags r:id="rId7"/>
            </p:custDataLst>
          </p:nvPr>
        </p:nvCxnSpPr>
        <p:spPr>
          <a:xfrm flipH="1">
            <a:off x="1090930" y="4648200"/>
            <a:ext cx="944245" cy="64706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custDataLst>
              <p:tags r:id="rId8"/>
            </p:custDataLst>
          </p:nvPr>
        </p:nvCxnSpPr>
        <p:spPr>
          <a:xfrm>
            <a:off x="2490470" y="4641850"/>
            <a:ext cx="0" cy="65341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12" idx="0"/>
          </p:cNvCxnSpPr>
          <p:nvPr>
            <p:custDataLst>
              <p:tags r:id="rId9"/>
            </p:custDataLst>
          </p:nvPr>
        </p:nvCxnSpPr>
        <p:spPr>
          <a:xfrm flipH="1" flipV="1">
            <a:off x="3120390" y="4648200"/>
            <a:ext cx="803275" cy="64706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431165" y="6226175"/>
            <a:ext cx="1538605" cy="398780"/>
          </a:xfrm>
          <a:prstGeom prst="rect">
            <a:avLst/>
          </a:prstGeom>
          <a:noFill/>
        </p:spPr>
        <p:txBody>
          <a:bodyPr wrap="square" rtlCol="0">
            <a:spAutoFit/>
          </a:bodyPr>
          <a:p>
            <a:r>
              <a:rPr lang="en-US" altLang="zh-CN" sz="2000" b="1"/>
              <a:t>File Server</a:t>
            </a:r>
            <a:endParaRPr lang="en-US" altLang="zh-CN" sz="2000" b="1"/>
          </a:p>
        </p:txBody>
      </p:sp>
      <p:sp>
        <p:nvSpPr>
          <p:cNvPr id="8" name="文本框 7"/>
          <p:cNvSpPr txBox="1"/>
          <p:nvPr>
            <p:custDataLst>
              <p:tags r:id="rId10"/>
            </p:custDataLst>
          </p:nvPr>
        </p:nvSpPr>
        <p:spPr>
          <a:xfrm>
            <a:off x="1820545" y="6226175"/>
            <a:ext cx="1538605" cy="398780"/>
          </a:xfrm>
          <a:prstGeom prst="rect">
            <a:avLst/>
          </a:prstGeom>
          <a:noFill/>
        </p:spPr>
        <p:txBody>
          <a:bodyPr wrap="square" rtlCol="0">
            <a:spAutoFit/>
          </a:bodyPr>
          <a:p>
            <a:r>
              <a:rPr lang="en-US" altLang="zh-CN" sz="2000" b="1"/>
              <a:t>Mail Server</a:t>
            </a:r>
            <a:endParaRPr lang="en-US" altLang="zh-CN" sz="2000" b="1"/>
          </a:p>
        </p:txBody>
      </p:sp>
      <p:sp>
        <p:nvSpPr>
          <p:cNvPr id="13" name="文本框 12"/>
          <p:cNvSpPr txBox="1"/>
          <p:nvPr>
            <p:custDataLst>
              <p:tags r:id="rId11"/>
            </p:custDataLst>
          </p:nvPr>
        </p:nvSpPr>
        <p:spPr>
          <a:xfrm>
            <a:off x="3263900" y="6226175"/>
            <a:ext cx="1538605" cy="398780"/>
          </a:xfrm>
          <a:prstGeom prst="rect">
            <a:avLst/>
          </a:prstGeom>
          <a:noFill/>
        </p:spPr>
        <p:txBody>
          <a:bodyPr wrap="square" rtlCol="0">
            <a:spAutoFit/>
          </a:bodyPr>
          <a:p>
            <a:r>
              <a:rPr lang="en-US" altLang="zh-CN" sz="2000" b="1"/>
              <a:t>Print Server</a:t>
            </a:r>
            <a:endParaRPr lang="en-US" altLang="zh-CN" sz="2000" b="1"/>
          </a:p>
        </p:txBody>
      </p:sp>
      <p:sp>
        <p:nvSpPr>
          <p:cNvPr id="23" name="文本框 22"/>
          <p:cNvSpPr txBox="1"/>
          <p:nvPr>
            <p:custDataLst>
              <p:tags r:id="rId12"/>
            </p:custDataLst>
          </p:nvPr>
        </p:nvSpPr>
        <p:spPr>
          <a:xfrm>
            <a:off x="1248410" y="2464435"/>
            <a:ext cx="2573020" cy="398780"/>
          </a:xfrm>
          <a:prstGeom prst="rect">
            <a:avLst/>
          </a:prstGeom>
          <a:noFill/>
        </p:spPr>
        <p:txBody>
          <a:bodyPr wrap="square" rtlCol="0">
            <a:spAutoFit/>
          </a:bodyPr>
          <a:p>
            <a:pPr algn="ctr"/>
            <a:r>
              <a:rPr lang="en-US" altLang="zh-CN" sz="2000" b="1"/>
              <a:t>Clients</a:t>
            </a:r>
            <a:endParaRPr lang="en-US" altLang="zh-CN" sz="2000" b="1"/>
          </a:p>
        </p:txBody>
      </p:sp>
      <p:sp>
        <p:nvSpPr>
          <p:cNvPr id="26" name="矩形 25"/>
          <p:cNvSpPr/>
          <p:nvPr/>
        </p:nvSpPr>
        <p:spPr>
          <a:xfrm>
            <a:off x="5628640" y="3141345"/>
            <a:ext cx="3509645" cy="3248660"/>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p>
            <a:pPr algn="ctr"/>
            <a:endParaRPr lang="zh-CN" altLang="en-US"/>
          </a:p>
        </p:txBody>
      </p:sp>
      <p:sp>
        <p:nvSpPr>
          <p:cNvPr id="27" name="文本框 26"/>
          <p:cNvSpPr txBox="1"/>
          <p:nvPr>
            <p:custDataLst>
              <p:tags r:id="rId13"/>
            </p:custDataLst>
          </p:nvPr>
        </p:nvSpPr>
        <p:spPr>
          <a:xfrm>
            <a:off x="5234940" y="2310765"/>
            <a:ext cx="4297680" cy="706755"/>
          </a:xfrm>
          <a:prstGeom prst="rect">
            <a:avLst/>
          </a:prstGeom>
          <a:noFill/>
        </p:spPr>
        <p:txBody>
          <a:bodyPr wrap="square" rtlCol="0">
            <a:spAutoFit/>
          </a:bodyPr>
          <a:p>
            <a:pPr algn="ctr"/>
            <a:r>
              <a:rPr lang="en-US" altLang="zh-CN" sz="2000" b="1"/>
              <a:t>Kerberos </a:t>
            </a:r>
            <a:endParaRPr lang="en-US" altLang="zh-CN" sz="2000" b="1"/>
          </a:p>
          <a:p>
            <a:pPr algn="ctr"/>
            <a:r>
              <a:rPr lang="en-US" altLang="zh-CN" sz="2000" b="1"/>
              <a:t>Key Distribution Center</a:t>
            </a:r>
            <a:r>
              <a:rPr lang="zh-CN" altLang="en-US" sz="2000" b="1"/>
              <a:t>（</a:t>
            </a:r>
            <a:r>
              <a:rPr lang="en-US" altLang="zh-CN" sz="2000" b="1"/>
              <a:t>KDC</a:t>
            </a:r>
            <a:r>
              <a:rPr lang="zh-CN" altLang="en-US" sz="2000" b="1"/>
              <a:t>）</a:t>
            </a:r>
            <a:endParaRPr lang="zh-CN" altLang="en-US" sz="2000" b="1"/>
          </a:p>
        </p:txBody>
      </p:sp>
      <p:sp>
        <p:nvSpPr>
          <p:cNvPr id="29" name="加号 28"/>
          <p:cNvSpPr/>
          <p:nvPr/>
        </p:nvSpPr>
        <p:spPr>
          <a:xfrm>
            <a:off x="4323715" y="3952875"/>
            <a:ext cx="1096645" cy="99123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0" name="圆角矩形 29"/>
          <p:cNvSpPr/>
          <p:nvPr/>
        </p:nvSpPr>
        <p:spPr>
          <a:xfrm>
            <a:off x="6205220" y="3515360"/>
            <a:ext cx="2289810" cy="7213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000" b="1">
                <a:sym typeface="+mn-ea"/>
              </a:rPr>
              <a:t>Authentication</a:t>
            </a:r>
            <a:endParaRPr lang="en-US" altLang="zh-CN" sz="2000" b="1"/>
          </a:p>
          <a:p>
            <a:pPr algn="ctr"/>
            <a:r>
              <a:rPr lang="en-US" altLang="zh-CN" sz="2000" b="1">
                <a:sym typeface="+mn-ea"/>
              </a:rPr>
              <a:t>Service</a:t>
            </a:r>
            <a:endParaRPr lang="en-US" altLang="zh-CN" sz="2000" b="1">
              <a:sym typeface="+mn-ea"/>
            </a:endParaRPr>
          </a:p>
        </p:txBody>
      </p:sp>
      <p:sp>
        <p:nvSpPr>
          <p:cNvPr id="31" name="圆角矩形 30"/>
          <p:cNvSpPr/>
          <p:nvPr>
            <p:custDataLst>
              <p:tags r:id="rId14"/>
            </p:custDataLst>
          </p:nvPr>
        </p:nvSpPr>
        <p:spPr>
          <a:xfrm>
            <a:off x="6205220" y="5366385"/>
            <a:ext cx="2289810" cy="7213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000" b="1">
                <a:sym typeface="+mn-ea"/>
              </a:rPr>
              <a:t>Ticket Granting</a:t>
            </a:r>
            <a:endParaRPr lang="en-US" altLang="zh-CN" sz="2000" b="1"/>
          </a:p>
          <a:p>
            <a:pPr algn="ctr"/>
            <a:r>
              <a:rPr lang="en-US" altLang="zh-CN" sz="2000" b="1">
                <a:sym typeface="+mn-ea"/>
              </a:rPr>
              <a:t>Service</a:t>
            </a:r>
            <a:endParaRPr lang="en-US" altLang="zh-CN" sz="2000" b="1">
              <a:sym typeface="+mn-ea"/>
            </a:endParaRPr>
          </a:p>
        </p:txBody>
      </p:sp>
      <p:sp>
        <p:nvSpPr>
          <p:cNvPr id="33" name="剪去单角的矩形 32"/>
          <p:cNvSpPr/>
          <p:nvPr/>
        </p:nvSpPr>
        <p:spPr>
          <a:xfrm>
            <a:off x="9532620" y="2090420"/>
            <a:ext cx="2577465" cy="4135755"/>
          </a:xfrm>
          <a:prstGeom prst="snip1Rect">
            <a:avLst/>
          </a:prstGeom>
        </p:spPr>
        <p:style>
          <a:lnRef idx="3">
            <a:schemeClr val="lt1"/>
          </a:lnRef>
          <a:fillRef idx="1">
            <a:schemeClr val="accent4"/>
          </a:fillRef>
          <a:effectRef idx="1">
            <a:schemeClr val="accent4"/>
          </a:effectRef>
          <a:fontRef idx="minor">
            <a:schemeClr val="lt1"/>
          </a:fontRef>
        </p:style>
        <p:txBody>
          <a:bodyPr rtlCol="0" anchor="ctr"/>
          <a:p>
            <a:pPr algn="l"/>
            <a:r>
              <a:rPr lang="en-US" altLang="zh-CN" sz="2400" b="1"/>
              <a:t>Question2</a:t>
            </a:r>
            <a:r>
              <a:rPr lang="zh-CN" altLang="en-US" sz="2400" b="1"/>
              <a:t>：</a:t>
            </a:r>
            <a:endParaRPr lang="zh-CN" altLang="en-US" sz="2400" b="1"/>
          </a:p>
          <a:p>
            <a:pPr marL="342900" indent="-342900" algn="l">
              <a:buFont typeface="Arial" panose="020B0604020202020204" pitchFamily="34" charset="0"/>
              <a:buChar char="•"/>
            </a:pPr>
            <a:r>
              <a:rPr lang="en-US" altLang="zh-CN" b="1"/>
              <a:t>KDC</a:t>
            </a:r>
            <a:r>
              <a:rPr lang="zh-CN" altLang="en-US" b="1"/>
              <a:t>如何对</a:t>
            </a:r>
            <a:r>
              <a:rPr lang="en-US" altLang="zh-CN" b="1"/>
              <a:t>Client</a:t>
            </a:r>
            <a:r>
              <a:rPr lang="zh-CN" altLang="en-US" b="1"/>
              <a:t>与</a:t>
            </a:r>
            <a:r>
              <a:rPr lang="en-US" altLang="zh-CN" b="1"/>
              <a:t>Server</a:t>
            </a:r>
            <a:r>
              <a:rPr lang="zh-CN" altLang="en-US" b="1"/>
              <a:t>进行认证，</a:t>
            </a:r>
            <a:r>
              <a:rPr lang="en-US" altLang="zh-CN" b="1">
                <a:solidFill>
                  <a:srgbClr val="FF0000"/>
                </a:solidFill>
              </a:rPr>
              <a:t>体现信任关系</a:t>
            </a:r>
            <a:r>
              <a:rPr lang="zh-CN" altLang="en-US" b="1"/>
              <a:t>？</a:t>
            </a:r>
            <a:endParaRPr lang="zh-CN" altLang="en-US" b="1"/>
          </a:p>
          <a:p>
            <a:pPr marL="342900" indent="-342900" algn="l">
              <a:buFont typeface="Arial" panose="020B0604020202020204" pitchFamily="34" charset="0"/>
              <a:buChar char="•"/>
            </a:pPr>
            <a:r>
              <a:rPr lang="en-US" altLang="zh-CN" b="1"/>
              <a:t>Kerberos</a:t>
            </a:r>
            <a:r>
              <a:rPr lang="zh-CN" altLang="en-US" b="1"/>
              <a:t>与</a:t>
            </a:r>
            <a:r>
              <a:rPr lang="en-US" altLang="zh-CN" b="1"/>
              <a:t>Clients</a:t>
            </a:r>
            <a:r>
              <a:rPr lang="zh-CN" altLang="en-US" b="1"/>
              <a:t>之间（</a:t>
            </a:r>
            <a:r>
              <a:rPr lang="en-US" altLang="zh-CN" b="1"/>
              <a:t>Kc</a:t>
            </a:r>
            <a:r>
              <a:rPr lang="zh-CN" altLang="en-US" b="1"/>
              <a:t>）</a:t>
            </a:r>
            <a:endParaRPr lang="zh-CN" altLang="en-US" b="1"/>
          </a:p>
          <a:p>
            <a:pPr marL="342900" indent="-342900" algn="l">
              <a:buFont typeface="Arial" panose="020B0604020202020204" pitchFamily="34" charset="0"/>
              <a:buChar char="•"/>
            </a:pPr>
            <a:r>
              <a:rPr lang="en-US" altLang="zh-CN" b="1"/>
              <a:t>Kerberos</a:t>
            </a:r>
            <a:r>
              <a:rPr lang="zh-CN" altLang="en-US" b="1"/>
              <a:t>与</a:t>
            </a:r>
            <a:r>
              <a:rPr lang="en-US" altLang="zh-CN" b="1"/>
              <a:t>Servers</a:t>
            </a:r>
            <a:r>
              <a:rPr lang="zh-CN" altLang="en-US" b="1"/>
              <a:t>之间（</a:t>
            </a:r>
            <a:r>
              <a:rPr lang="en-US" altLang="zh-CN" b="1"/>
              <a:t>Ks</a:t>
            </a:r>
            <a:r>
              <a:rPr lang="zh-CN" altLang="en-US" b="1"/>
              <a:t>）</a:t>
            </a:r>
            <a:endParaRPr lang="zh-CN" altLang="en-US" b="1"/>
          </a:p>
          <a:p>
            <a:pPr marL="342900" indent="-342900" algn="l">
              <a:buFont typeface="Arial" panose="020B0604020202020204" pitchFamily="34" charset="0"/>
              <a:buChar char="•"/>
            </a:pPr>
            <a:r>
              <a:rPr lang="en-US" altLang="zh-CN" b="1"/>
              <a:t>Kc</a:t>
            </a:r>
            <a:r>
              <a:rPr lang="zh-CN" altLang="en-US" b="1"/>
              <a:t>是由用户的口令派生</a:t>
            </a:r>
            <a:r>
              <a:rPr lang="zh-CN" altLang="en-US" b="1"/>
              <a:t>而来</a:t>
            </a:r>
            <a:endParaRPr lang="zh-CN" altLang="en-US" b="1"/>
          </a:p>
          <a:p>
            <a:pPr marL="342900" indent="-342900" algn="l">
              <a:buFont typeface="Arial" panose="020B0604020202020204" pitchFamily="34" charset="0"/>
              <a:buChar char="•"/>
            </a:pPr>
            <a:r>
              <a:rPr lang="zh-CN" altLang="en-US" b="1"/>
              <a:t>对于没有预先共享密钥的实体之间的认证，则利用</a:t>
            </a:r>
            <a:r>
              <a:rPr lang="zh-CN" altLang="en-US" b="1">
                <a:solidFill>
                  <a:srgbClr val="FF0000"/>
                </a:solidFill>
              </a:rPr>
              <a:t>临时会话密钥</a:t>
            </a:r>
            <a:r>
              <a:rPr lang="zh-CN" altLang="en-US" b="1"/>
              <a:t>完成</a:t>
            </a:r>
            <a:r>
              <a:rPr lang="zh-CN" altLang="en-US" b="1"/>
              <a:t>认证</a:t>
            </a:r>
            <a:endParaRPr lang="zh-CN" altLang="en-US" b="1"/>
          </a:p>
          <a:p>
            <a:pPr marL="342900" indent="-342900" algn="l">
              <a:buFont typeface="Arial" panose="020B0604020202020204" pitchFamily="34" charset="0"/>
              <a:buChar char="•"/>
            </a:pPr>
            <a:endParaRPr lang="zh-CN" altLang="en-US" b="1"/>
          </a:p>
        </p:txBody>
      </p:sp>
    </p:spTree>
  </p:cSld>
  <p:clrMapOvr>
    <a:masterClrMapping/>
  </p:clrMapOvr>
  <mc:AlternateContent xmlns:mc="http://schemas.openxmlformats.org/markup-compatibility/2006">
    <mc:Choice xmlns:p14="http://schemas.microsoft.com/office/powerpoint/2010/main" Requires="p14">
      <p:transition spd="slow" p14:dur="2000" advTm="2827"/>
    </mc:Choice>
    <mc:Fallback>
      <p:transition spd="slow" advTm="282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
                                            <p:txEl>
                                              <p:pRg st="2" end="2"/>
                                            </p:txEl>
                                          </p:spTgt>
                                        </p:tgtEl>
                                        <p:attrNameLst>
                                          <p:attrName>style.visibility</p:attrName>
                                        </p:attrNameLst>
                                      </p:cBhvr>
                                      <p:to>
                                        <p:strVal val="visible"/>
                                      </p:to>
                                    </p:set>
                                    <p:anim calcmode="lin" valueType="num">
                                      <p:cBhvr additive="base">
                                        <p:cTn id="7" dur="500" fill="hold"/>
                                        <p:tgtEl>
                                          <p:spTgt spid="3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3">
                                            <p:txEl>
                                              <p:pRg st="3" end="3"/>
                                            </p:txEl>
                                          </p:spTgt>
                                        </p:tgtEl>
                                        <p:attrNameLst>
                                          <p:attrName>style.visibility</p:attrName>
                                        </p:attrNameLst>
                                      </p:cBhvr>
                                      <p:to>
                                        <p:strVal val="visible"/>
                                      </p:to>
                                    </p:set>
                                    <p:anim calcmode="lin" valueType="num">
                                      <p:cBhvr additive="base">
                                        <p:cTn id="11" dur="500" fill="hold"/>
                                        <p:tgtEl>
                                          <p:spTgt spid="3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33">
                                            <p:txEl>
                                              <p:pRg st="4" end="4"/>
                                            </p:txEl>
                                          </p:spTgt>
                                        </p:tgtEl>
                                        <p:attrNameLst>
                                          <p:attrName>style.visibility</p:attrName>
                                        </p:attrNameLst>
                                      </p:cBhvr>
                                      <p:to>
                                        <p:strVal val="visible"/>
                                      </p:to>
                                    </p:set>
                                    <p:anim calcmode="lin" valueType="num">
                                      <p:cBhvr additive="base">
                                        <p:cTn id="17" dur="500" fill="hold"/>
                                        <p:tgtEl>
                                          <p:spTgt spid="33">
                                            <p:txEl>
                                              <p:pRg st="4" end="4"/>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3">
                                            <p:txEl>
                                              <p:pRg st="5" end="5"/>
                                            </p:txEl>
                                          </p:spTgt>
                                        </p:tgtEl>
                                        <p:attrNameLst>
                                          <p:attrName>style.visibility</p:attrName>
                                        </p:attrNameLst>
                                      </p:cBhvr>
                                      <p:to>
                                        <p:strVal val="visible"/>
                                      </p:to>
                                    </p:set>
                                    <p:anim calcmode="lin" valueType="num">
                                      <p:cBhvr additive="base">
                                        <p:cTn id="23" dur="500" fill="hold"/>
                                        <p:tgtEl>
                                          <p:spTgt spid="33">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sym typeface="+mn-ea"/>
              </a:rPr>
              <a:t>16.4 </a:t>
            </a:r>
            <a:r>
              <a:rPr lang="en-US" altLang="zh-CN" dirty="0"/>
              <a:t>Kerberos</a:t>
            </a:r>
            <a:r>
              <a:rPr lang="zh-CN" altLang="en-US" dirty="0"/>
              <a:t>的</a:t>
            </a:r>
            <a:r>
              <a:rPr lang="zh-CN" altLang="en-US" dirty="0"/>
              <a:t>原理</a:t>
            </a:r>
            <a:endParaRPr lang="zh-CN" altLang="en-US" dirty="0"/>
          </a:p>
        </p:txBody>
      </p:sp>
      <p:sp>
        <p:nvSpPr>
          <p:cNvPr id="4" name="灯片编号占位符 3"/>
          <p:cNvSpPr>
            <a:spLocks noGrp="1"/>
          </p:cNvSpPr>
          <p:nvPr>
            <p:ph type="sldNum" sz="quarter" idx="12"/>
          </p:nvPr>
        </p:nvSpPr>
        <p:spPr/>
        <p:txBody>
          <a:bodyPr/>
          <a:lstStyle/>
          <a:p>
            <a:pPr>
              <a:defRPr/>
            </a:pPr>
            <a:fld id="{B42B4293-9377-4872-955B-7EAEC82CC678}" type="slidenum">
              <a:rPr lang="en-US" altLang="zh-CN" smtClean="0"/>
            </a:fld>
            <a:endParaRPr lang="en-US" altLang="zh-CN" dirty="0"/>
          </a:p>
        </p:txBody>
      </p:sp>
      <p:sp>
        <p:nvSpPr>
          <p:cNvPr id="5" name="内容占位符 4"/>
          <p:cNvSpPr/>
          <p:nvPr>
            <p:ph idx="1"/>
          </p:nvPr>
        </p:nvSpPr>
        <p:spPr/>
        <p:txBody>
          <a:bodyPr/>
          <a:p>
            <a:pPr eaLnBrk="1" hangingPunct="1"/>
            <a:r>
              <a:rPr lang="en-US" altLang="zh-CN" sz="2400" dirty="0" smtClean="0">
                <a:sym typeface="+mn-ea"/>
              </a:rPr>
              <a:t>KDC</a:t>
            </a:r>
            <a:r>
              <a:rPr lang="zh-CN" altLang="en-US" sz="2400" dirty="0" smtClean="0">
                <a:sym typeface="+mn-ea"/>
              </a:rPr>
              <a:t>中维护</a:t>
            </a:r>
            <a:r>
              <a:rPr lang="en-US" altLang="zh-CN" sz="2400" dirty="0" smtClean="0">
                <a:sym typeface="+mn-ea"/>
              </a:rPr>
              <a:t>Kerberos</a:t>
            </a:r>
            <a:r>
              <a:rPr lang="zh-CN" altLang="en-US" sz="2400" dirty="0" smtClean="0">
                <a:sym typeface="+mn-ea"/>
              </a:rPr>
              <a:t>协议中所有实体</a:t>
            </a:r>
            <a:r>
              <a:rPr lang="zh-CN" altLang="en-US" sz="2400" dirty="0" smtClean="0">
                <a:sym typeface="+mn-ea"/>
              </a:rPr>
              <a:t>的</a:t>
            </a:r>
            <a:r>
              <a:rPr lang="en-US" altLang="zh-CN" sz="2400" dirty="0" smtClean="0">
                <a:sym typeface="+mn-ea"/>
              </a:rPr>
              <a:t>Database</a:t>
            </a:r>
            <a:endParaRPr lang="en-US" altLang="zh-CN" sz="2400" dirty="0" smtClean="0"/>
          </a:p>
          <a:p>
            <a:endParaRPr kumimoji="1" lang="zh-CN" altLang="en-US" dirty="0" smtClean="0">
              <a:latin typeface="Times New Roman" panose="02020603050405020304" pitchFamily="18" charset="0"/>
              <a:sym typeface="+mn-ea"/>
            </a:endParaRPr>
          </a:p>
          <a:p>
            <a:endParaRPr kumimoji="1" lang="zh-CN" altLang="en-US" dirty="0" smtClean="0">
              <a:latin typeface="Times New Roman" panose="02020603050405020304" pitchFamily="18" charset="0"/>
              <a:sym typeface="+mn-ea"/>
            </a:endParaRPr>
          </a:p>
          <a:p>
            <a:endParaRPr lang="zh-CN" altLang="en-US" dirty="0" smtClean="0">
              <a:sym typeface="+mn-ea"/>
            </a:endParaRPr>
          </a:p>
        </p:txBody>
      </p:sp>
      <p:pic>
        <p:nvPicPr>
          <p:cNvPr id="102" name="图片 101"/>
          <p:cNvPicPr/>
          <p:nvPr/>
        </p:nvPicPr>
        <p:blipFill>
          <a:blip r:embed="rId1"/>
          <a:stretch>
            <a:fillRect/>
          </a:stretch>
        </p:blipFill>
        <p:spPr>
          <a:xfrm>
            <a:off x="970280" y="2839085"/>
            <a:ext cx="650875" cy="731520"/>
          </a:xfrm>
          <a:prstGeom prst="rect">
            <a:avLst/>
          </a:prstGeom>
          <a:noFill/>
          <a:ln w="9525">
            <a:noFill/>
          </a:ln>
        </p:spPr>
      </p:pic>
      <p:pic>
        <p:nvPicPr>
          <p:cNvPr id="105" name="图片 104"/>
          <p:cNvPicPr/>
          <p:nvPr/>
        </p:nvPicPr>
        <p:blipFill>
          <a:blip r:embed="rId2"/>
          <a:stretch>
            <a:fillRect/>
          </a:stretch>
        </p:blipFill>
        <p:spPr>
          <a:xfrm>
            <a:off x="744220" y="5295265"/>
            <a:ext cx="671195" cy="792480"/>
          </a:xfrm>
          <a:prstGeom prst="rect">
            <a:avLst/>
          </a:prstGeom>
          <a:noFill/>
          <a:ln w="9525">
            <a:noFill/>
          </a:ln>
        </p:spPr>
      </p:pic>
      <p:pic>
        <p:nvPicPr>
          <p:cNvPr id="9" name="图片 8"/>
          <p:cNvPicPr/>
          <p:nvPr>
            <p:custDataLst>
              <p:tags r:id="rId3"/>
            </p:custDataLst>
          </p:nvPr>
        </p:nvPicPr>
        <p:blipFill>
          <a:blip r:embed="rId1"/>
          <a:stretch>
            <a:fillRect/>
          </a:stretch>
        </p:blipFill>
        <p:spPr>
          <a:xfrm>
            <a:off x="2164715" y="2839085"/>
            <a:ext cx="650875" cy="731520"/>
          </a:xfrm>
          <a:prstGeom prst="rect">
            <a:avLst/>
          </a:prstGeom>
          <a:noFill/>
          <a:ln w="9525">
            <a:noFill/>
          </a:ln>
        </p:spPr>
      </p:pic>
      <p:pic>
        <p:nvPicPr>
          <p:cNvPr id="10" name="图片 9"/>
          <p:cNvPicPr/>
          <p:nvPr>
            <p:custDataLst>
              <p:tags r:id="rId4"/>
            </p:custDataLst>
          </p:nvPr>
        </p:nvPicPr>
        <p:blipFill>
          <a:blip r:embed="rId1"/>
          <a:stretch>
            <a:fillRect/>
          </a:stretch>
        </p:blipFill>
        <p:spPr>
          <a:xfrm>
            <a:off x="3587750" y="2839085"/>
            <a:ext cx="650875" cy="731520"/>
          </a:xfrm>
          <a:prstGeom prst="rect">
            <a:avLst/>
          </a:prstGeom>
          <a:noFill/>
          <a:ln w="9525">
            <a:noFill/>
          </a:ln>
        </p:spPr>
      </p:pic>
      <p:pic>
        <p:nvPicPr>
          <p:cNvPr id="11" name="图片 10"/>
          <p:cNvPicPr/>
          <p:nvPr>
            <p:custDataLst>
              <p:tags r:id="rId5"/>
            </p:custDataLst>
          </p:nvPr>
        </p:nvPicPr>
        <p:blipFill>
          <a:blip r:embed="rId2"/>
          <a:stretch>
            <a:fillRect/>
          </a:stretch>
        </p:blipFill>
        <p:spPr>
          <a:xfrm>
            <a:off x="2144395" y="5295265"/>
            <a:ext cx="671195" cy="792480"/>
          </a:xfrm>
          <a:prstGeom prst="rect">
            <a:avLst/>
          </a:prstGeom>
          <a:noFill/>
          <a:ln w="9525">
            <a:noFill/>
          </a:ln>
        </p:spPr>
      </p:pic>
      <p:pic>
        <p:nvPicPr>
          <p:cNvPr id="12" name="图片 11"/>
          <p:cNvPicPr/>
          <p:nvPr>
            <p:custDataLst>
              <p:tags r:id="rId6"/>
            </p:custDataLst>
          </p:nvPr>
        </p:nvPicPr>
        <p:blipFill>
          <a:blip r:embed="rId2"/>
          <a:stretch>
            <a:fillRect/>
          </a:stretch>
        </p:blipFill>
        <p:spPr>
          <a:xfrm>
            <a:off x="3587750" y="5295265"/>
            <a:ext cx="671195" cy="792480"/>
          </a:xfrm>
          <a:prstGeom prst="rect">
            <a:avLst/>
          </a:prstGeom>
          <a:noFill/>
          <a:ln w="9525">
            <a:noFill/>
          </a:ln>
        </p:spPr>
      </p:pic>
      <p:sp>
        <p:nvSpPr>
          <p:cNvPr id="15" name="矩形 14"/>
          <p:cNvSpPr/>
          <p:nvPr/>
        </p:nvSpPr>
        <p:spPr>
          <a:xfrm>
            <a:off x="1621155" y="4082415"/>
            <a:ext cx="1737995" cy="559435"/>
          </a:xfrm>
          <a:prstGeom prst="rect">
            <a:avLst/>
          </a:prstGeom>
          <a:ln w="38100"/>
        </p:spPr>
        <p:style>
          <a:lnRef idx="2">
            <a:schemeClr val="dk1"/>
          </a:lnRef>
          <a:fillRef idx="1">
            <a:schemeClr val="lt1"/>
          </a:fillRef>
          <a:effectRef idx="0">
            <a:schemeClr val="dk1"/>
          </a:effectRef>
          <a:fontRef idx="minor">
            <a:schemeClr val="dk1"/>
          </a:fontRef>
        </p:style>
        <p:txBody>
          <a:bodyPr rtlCol="0" anchor="ctr"/>
          <a:p>
            <a:pPr algn="ctr"/>
            <a:r>
              <a:rPr lang="en-US" altLang="zh-CN" sz="2000" b="1"/>
              <a:t>Network</a:t>
            </a:r>
            <a:endParaRPr lang="en-US" altLang="zh-CN" sz="2000" b="1"/>
          </a:p>
        </p:txBody>
      </p:sp>
      <p:cxnSp>
        <p:nvCxnSpPr>
          <p:cNvPr id="16" name="直接连接符 15"/>
          <p:cNvCxnSpPr/>
          <p:nvPr/>
        </p:nvCxnSpPr>
        <p:spPr>
          <a:xfrm>
            <a:off x="1400810" y="3515360"/>
            <a:ext cx="568960" cy="56578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直接连接符 16"/>
          <p:cNvCxnSpPr>
            <a:stCxn id="9" idx="2"/>
            <a:endCxn id="15" idx="0"/>
          </p:cNvCxnSpPr>
          <p:nvPr/>
        </p:nvCxnSpPr>
        <p:spPr>
          <a:xfrm>
            <a:off x="2490470" y="3570605"/>
            <a:ext cx="0" cy="51181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8" name="直接连接符 17"/>
          <p:cNvCxnSpPr>
            <a:stCxn id="10" idx="2"/>
          </p:cNvCxnSpPr>
          <p:nvPr/>
        </p:nvCxnSpPr>
        <p:spPr>
          <a:xfrm flipH="1">
            <a:off x="3158490" y="3570605"/>
            <a:ext cx="755015" cy="50165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custDataLst>
              <p:tags r:id="rId7"/>
            </p:custDataLst>
          </p:nvPr>
        </p:nvCxnSpPr>
        <p:spPr>
          <a:xfrm flipH="1">
            <a:off x="1090930" y="4648200"/>
            <a:ext cx="944245" cy="64706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custDataLst>
              <p:tags r:id="rId8"/>
            </p:custDataLst>
          </p:nvPr>
        </p:nvCxnSpPr>
        <p:spPr>
          <a:xfrm>
            <a:off x="2490470" y="4641850"/>
            <a:ext cx="0" cy="65341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21" name="直接连接符 20"/>
          <p:cNvCxnSpPr>
            <a:stCxn id="12" idx="0"/>
          </p:cNvCxnSpPr>
          <p:nvPr>
            <p:custDataLst>
              <p:tags r:id="rId9"/>
            </p:custDataLst>
          </p:nvPr>
        </p:nvCxnSpPr>
        <p:spPr>
          <a:xfrm flipH="1" flipV="1">
            <a:off x="3120390" y="4648200"/>
            <a:ext cx="803275" cy="64706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7" name="文本框 6"/>
          <p:cNvSpPr txBox="1"/>
          <p:nvPr/>
        </p:nvSpPr>
        <p:spPr>
          <a:xfrm>
            <a:off x="431165" y="6226175"/>
            <a:ext cx="1538605" cy="398780"/>
          </a:xfrm>
          <a:prstGeom prst="rect">
            <a:avLst/>
          </a:prstGeom>
          <a:noFill/>
        </p:spPr>
        <p:txBody>
          <a:bodyPr wrap="square" rtlCol="0">
            <a:spAutoFit/>
          </a:bodyPr>
          <a:p>
            <a:r>
              <a:rPr lang="en-US" altLang="zh-CN" sz="2000" b="1"/>
              <a:t>File Server</a:t>
            </a:r>
            <a:endParaRPr lang="en-US" altLang="zh-CN" sz="2000" b="1"/>
          </a:p>
        </p:txBody>
      </p:sp>
      <p:sp>
        <p:nvSpPr>
          <p:cNvPr id="8" name="文本框 7"/>
          <p:cNvSpPr txBox="1"/>
          <p:nvPr>
            <p:custDataLst>
              <p:tags r:id="rId10"/>
            </p:custDataLst>
          </p:nvPr>
        </p:nvSpPr>
        <p:spPr>
          <a:xfrm>
            <a:off x="1820545" y="6226175"/>
            <a:ext cx="1538605" cy="398780"/>
          </a:xfrm>
          <a:prstGeom prst="rect">
            <a:avLst/>
          </a:prstGeom>
          <a:noFill/>
        </p:spPr>
        <p:txBody>
          <a:bodyPr wrap="square" rtlCol="0">
            <a:spAutoFit/>
          </a:bodyPr>
          <a:p>
            <a:r>
              <a:rPr lang="en-US" altLang="zh-CN" sz="2000" b="1"/>
              <a:t>Mail Server</a:t>
            </a:r>
            <a:endParaRPr lang="en-US" altLang="zh-CN" sz="2000" b="1"/>
          </a:p>
        </p:txBody>
      </p:sp>
      <p:sp>
        <p:nvSpPr>
          <p:cNvPr id="13" name="文本框 12"/>
          <p:cNvSpPr txBox="1"/>
          <p:nvPr>
            <p:custDataLst>
              <p:tags r:id="rId11"/>
            </p:custDataLst>
          </p:nvPr>
        </p:nvSpPr>
        <p:spPr>
          <a:xfrm>
            <a:off x="3263900" y="6226175"/>
            <a:ext cx="1538605" cy="398780"/>
          </a:xfrm>
          <a:prstGeom prst="rect">
            <a:avLst/>
          </a:prstGeom>
          <a:noFill/>
        </p:spPr>
        <p:txBody>
          <a:bodyPr wrap="square" rtlCol="0">
            <a:spAutoFit/>
          </a:bodyPr>
          <a:p>
            <a:r>
              <a:rPr lang="en-US" altLang="zh-CN" sz="2000" b="1"/>
              <a:t>Print Server</a:t>
            </a:r>
            <a:endParaRPr lang="en-US" altLang="zh-CN" sz="2000" b="1"/>
          </a:p>
        </p:txBody>
      </p:sp>
      <p:sp>
        <p:nvSpPr>
          <p:cNvPr id="23" name="文本框 22"/>
          <p:cNvSpPr txBox="1"/>
          <p:nvPr>
            <p:custDataLst>
              <p:tags r:id="rId12"/>
            </p:custDataLst>
          </p:nvPr>
        </p:nvSpPr>
        <p:spPr>
          <a:xfrm>
            <a:off x="1203960" y="2440305"/>
            <a:ext cx="2573020" cy="398780"/>
          </a:xfrm>
          <a:prstGeom prst="rect">
            <a:avLst/>
          </a:prstGeom>
          <a:noFill/>
        </p:spPr>
        <p:txBody>
          <a:bodyPr wrap="square" rtlCol="0">
            <a:spAutoFit/>
          </a:bodyPr>
          <a:p>
            <a:pPr algn="ctr"/>
            <a:r>
              <a:rPr lang="en-US" altLang="zh-CN" sz="2000" b="1"/>
              <a:t>Clients</a:t>
            </a:r>
            <a:endParaRPr lang="en-US" altLang="zh-CN" sz="2000" b="1"/>
          </a:p>
        </p:txBody>
      </p:sp>
      <p:sp>
        <p:nvSpPr>
          <p:cNvPr id="26" name="矩形 25"/>
          <p:cNvSpPr/>
          <p:nvPr/>
        </p:nvSpPr>
        <p:spPr>
          <a:xfrm>
            <a:off x="5628640" y="3141345"/>
            <a:ext cx="6014720" cy="3248660"/>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p>
            <a:pPr algn="ctr"/>
            <a:endParaRPr lang="zh-CN" altLang="en-US"/>
          </a:p>
        </p:txBody>
      </p:sp>
      <p:sp>
        <p:nvSpPr>
          <p:cNvPr id="27" name="文本框 26"/>
          <p:cNvSpPr txBox="1"/>
          <p:nvPr>
            <p:custDataLst>
              <p:tags r:id="rId13"/>
            </p:custDataLst>
          </p:nvPr>
        </p:nvSpPr>
        <p:spPr>
          <a:xfrm>
            <a:off x="6487160" y="2299335"/>
            <a:ext cx="4297680" cy="706755"/>
          </a:xfrm>
          <a:prstGeom prst="rect">
            <a:avLst/>
          </a:prstGeom>
          <a:noFill/>
        </p:spPr>
        <p:txBody>
          <a:bodyPr wrap="square" rtlCol="0">
            <a:spAutoFit/>
          </a:bodyPr>
          <a:p>
            <a:pPr algn="ctr"/>
            <a:r>
              <a:rPr lang="en-US" altLang="zh-CN" sz="2000" b="1"/>
              <a:t>Kerberos </a:t>
            </a:r>
            <a:endParaRPr lang="en-US" altLang="zh-CN" sz="2000" b="1"/>
          </a:p>
          <a:p>
            <a:pPr algn="ctr"/>
            <a:r>
              <a:rPr lang="en-US" altLang="zh-CN" sz="2000" b="1"/>
              <a:t>Key Distribution Center</a:t>
            </a:r>
            <a:r>
              <a:rPr lang="zh-CN" altLang="en-US" sz="2000" b="1"/>
              <a:t>（</a:t>
            </a:r>
            <a:r>
              <a:rPr lang="en-US" altLang="zh-CN" sz="2000" b="1"/>
              <a:t>KDC</a:t>
            </a:r>
            <a:r>
              <a:rPr lang="zh-CN" altLang="en-US" sz="2000" b="1"/>
              <a:t>）</a:t>
            </a:r>
            <a:endParaRPr lang="zh-CN" altLang="en-US" sz="2000" b="1"/>
          </a:p>
        </p:txBody>
      </p:sp>
      <p:sp>
        <p:nvSpPr>
          <p:cNvPr id="29" name="加号 28"/>
          <p:cNvSpPr/>
          <p:nvPr/>
        </p:nvSpPr>
        <p:spPr>
          <a:xfrm>
            <a:off x="4323715" y="3952875"/>
            <a:ext cx="1096645" cy="991235"/>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30" name="圆角矩形 29"/>
          <p:cNvSpPr/>
          <p:nvPr/>
        </p:nvSpPr>
        <p:spPr>
          <a:xfrm>
            <a:off x="6205220" y="3515360"/>
            <a:ext cx="2289810" cy="7213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000" b="1">
                <a:sym typeface="+mn-ea"/>
              </a:rPr>
              <a:t>Authentication</a:t>
            </a:r>
            <a:endParaRPr lang="en-US" altLang="zh-CN" sz="2000" b="1"/>
          </a:p>
          <a:p>
            <a:pPr algn="ctr"/>
            <a:r>
              <a:rPr lang="en-US" altLang="zh-CN" sz="2000" b="1">
                <a:sym typeface="+mn-ea"/>
              </a:rPr>
              <a:t>Service</a:t>
            </a:r>
            <a:endParaRPr lang="en-US" altLang="zh-CN" sz="2000" b="1">
              <a:sym typeface="+mn-ea"/>
            </a:endParaRPr>
          </a:p>
        </p:txBody>
      </p:sp>
      <p:sp>
        <p:nvSpPr>
          <p:cNvPr id="31" name="圆角矩形 30"/>
          <p:cNvSpPr/>
          <p:nvPr>
            <p:custDataLst>
              <p:tags r:id="rId14"/>
            </p:custDataLst>
          </p:nvPr>
        </p:nvSpPr>
        <p:spPr>
          <a:xfrm>
            <a:off x="6205220" y="5366385"/>
            <a:ext cx="2289810" cy="7213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000" b="1">
                <a:sym typeface="+mn-ea"/>
              </a:rPr>
              <a:t>Ticket Granting</a:t>
            </a:r>
            <a:endParaRPr lang="en-US" altLang="zh-CN" sz="2000" b="1"/>
          </a:p>
          <a:p>
            <a:pPr algn="ctr"/>
            <a:r>
              <a:rPr lang="en-US" altLang="zh-CN" sz="2000" b="1">
                <a:sym typeface="+mn-ea"/>
              </a:rPr>
              <a:t>Service</a:t>
            </a:r>
            <a:endParaRPr lang="en-US" altLang="zh-CN" sz="2000" b="1">
              <a:sym typeface="+mn-ea"/>
            </a:endParaRPr>
          </a:p>
        </p:txBody>
      </p:sp>
      <p:graphicFrame>
        <p:nvGraphicFramePr>
          <p:cNvPr id="6" name="表格 5"/>
          <p:cNvGraphicFramePr/>
          <p:nvPr>
            <p:custDataLst>
              <p:tags r:id="rId15"/>
            </p:custDataLst>
          </p:nvPr>
        </p:nvGraphicFramePr>
        <p:xfrm>
          <a:off x="9279890" y="3594735"/>
          <a:ext cx="1952625" cy="1893570"/>
        </p:xfrm>
        <a:graphic>
          <a:graphicData uri="http://schemas.openxmlformats.org/drawingml/2006/table">
            <a:tbl>
              <a:tblPr firstRow="1" bandRow="1">
                <a:tableStyleId>{18603FDC-E32A-4AB5-989C-0864C3EAD2B8}</a:tableStyleId>
              </a:tblPr>
              <a:tblGrid>
                <a:gridCol w="815340"/>
                <a:gridCol w="1137285"/>
              </a:tblGrid>
              <a:tr h="369570">
                <a:tc>
                  <a:txBody>
                    <a:bodyPr/>
                    <a:p>
                      <a:pPr>
                        <a:buNone/>
                      </a:pPr>
                      <a:r>
                        <a:rPr lang="en-US" altLang="zh-CN"/>
                        <a:t>Name</a:t>
                      </a:r>
                      <a:endParaRPr lang="en-US" altLang="zh-CN"/>
                    </a:p>
                  </a:txBody>
                  <a:tcPr/>
                </a:tc>
                <a:tc>
                  <a:txBody>
                    <a:bodyPr/>
                    <a:p>
                      <a:pPr>
                        <a:buNone/>
                      </a:pPr>
                      <a:r>
                        <a:rPr lang="en-US" altLang="zh-CN"/>
                        <a:t>Key</a:t>
                      </a:r>
                      <a:endParaRPr lang="en-US" altLang="zh-CN"/>
                    </a:p>
                  </a:txBody>
                  <a:tcPr/>
                </a:tc>
              </a:tr>
              <a:tr h="381000">
                <a:tc>
                  <a:txBody>
                    <a:bodyPr/>
                    <a:p>
                      <a:pPr>
                        <a:buNone/>
                      </a:pPr>
                      <a:r>
                        <a:rPr lang="en-US" altLang="zh-CN"/>
                        <a:t>User</a:t>
                      </a:r>
                      <a:endParaRPr lang="en-US" altLang="zh-CN"/>
                    </a:p>
                  </a:txBody>
                  <a:tcPr/>
                </a:tc>
                <a:tc>
                  <a:txBody>
                    <a:bodyPr/>
                    <a:p>
                      <a:pPr>
                        <a:buNone/>
                      </a:pPr>
                      <a:r>
                        <a:rPr lang="en-US" altLang="zh-CN"/>
                        <a:t>Password</a:t>
                      </a:r>
                      <a:endParaRPr lang="en-US" altLang="zh-CN"/>
                    </a:p>
                  </a:txBody>
                  <a:tcPr/>
                </a:tc>
              </a:tr>
              <a:tr h="381000">
                <a:tc>
                  <a:txBody>
                    <a:bodyPr/>
                    <a:p>
                      <a:pPr>
                        <a:buNone/>
                      </a:pPr>
                      <a:r>
                        <a:rPr lang="en-US" altLang="zh-CN"/>
                        <a:t>Client</a:t>
                      </a:r>
                      <a:endParaRPr lang="en-US" altLang="zh-CN"/>
                    </a:p>
                  </a:txBody>
                  <a:tcPr/>
                </a:tc>
                <a:tc>
                  <a:txBody>
                    <a:bodyPr/>
                    <a:p>
                      <a:pPr>
                        <a:buNone/>
                      </a:pPr>
                      <a:r>
                        <a:rPr lang="en-US" altLang="zh-CN"/>
                        <a:t>Kc</a:t>
                      </a:r>
                      <a:endParaRPr lang="en-US" altLang="zh-CN"/>
                    </a:p>
                  </a:txBody>
                  <a:tcPr/>
                </a:tc>
              </a:tr>
              <a:tr h="381000">
                <a:tc>
                  <a:txBody>
                    <a:bodyPr/>
                    <a:p>
                      <a:pPr>
                        <a:buNone/>
                      </a:pPr>
                      <a:r>
                        <a:rPr lang="en-US" altLang="zh-CN"/>
                        <a:t>Server</a:t>
                      </a:r>
                      <a:endParaRPr lang="en-US" altLang="zh-CN"/>
                    </a:p>
                  </a:txBody>
                  <a:tcPr/>
                </a:tc>
                <a:tc>
                  <a:txBody>
                    <a:bodyPr/>
                    <a:p>
                      <a:pPr>
                        <a:buNone/>
                      </a:pPr>
                      <a:r>
                        <a:rPr lang="en-US" altLang="zh-CN"/>
                        <a:t>Ks</a:t>
                      </a:r>
                      <a:endParaRPr lang="en-US" altLang="zh-CN"/>
                    </a:p>
                  </a:txBody>
                  <a:tcPr/>
                </a:tc>
              </a:tr>
              <a:tr h="381000">
                <a:tc>
                  <a:txBody>
                    <a:bodyPr/>
                    <a:p>
                      <a:pPr>
                        <a:buNone/>
                      </a:pPr>
                      <a:r>
                        <a:rPr lang="en-US" altLang="zh-CN"/>
                        <a:t>...</a:t>
                      </a:r>
                      <a:endParaRPr lang="en-US" altLang="zh-CN"/>
                    </a:p>
                  </a:txBody>
                  <a:tcPr/>
                </a:tc>
                <a:tc>
                  <a:txBody>
                    <a:bodyPr/>
                    <a:p>
                      <a:pPr>
                        <a:buNone/>
                      </a:pPr>
                      <a:r>
                        <a:rPr lang="en-US" altLang="zh-CN"/>
                        <a:t>...</a:t>
                      </a:r>
                      <a:endParaRPr lang="en-US" altLang="zh-CN"/>
                    </a:p>
                  </a:txBody>
                  <a:tcPr/>
                </a:tc>
              </a:tr>
            </a:tbl>
          </a:graphicData>
        </a:graphic>
      </p:graphicFrame>
      <p:sp>
        <p:nvSpPr>
          <p:cNvPr id="14" name="矩形 13"/>
          <p:cNvSpPr/>
          <p:nvPr/>
        </p:nvSpPr>
        <p:spPr>
          <a:xfrm>
            <a:off x="9276080" y="5648960"/>
            <a:ext cx="1882140" cy="43878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r>
              <a:rPr lang="zh-CN" altLang="en-US" sz="1600" b="1"/>
              <a:t>分发临时会话密钥</a:t>
            </a:r>
            <a:endParaRPr lang="zh-CN" altLang="en-US" sz="1600" b="1"/>
          </a:p>
        </p:txBody>
      </p:sp>
    </p:spTree>
  </p:cSld>
  <p:clrMapOvr>
    <a:masterClrMapping/>
  </p:clrMapOvr>
  <mc:AlternateContent xmlns:mc="http://schemas.openxmlformats.org/markup-compatibility/2006">
    <mc:Choice xmlns:p14="http://schemas.microsoft.com/office/powerpoint/2010/main" Requires="p14">
      <p:transition spd="slow" p14:dur="2000" advTm="2827"/>
    </mc:Choice>
    <mc:Fallback>
      <p:transition spd="slow" advTm="2827"/>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p:nvPr>
            <p:ph idx="1"/>
          </p:nvPr>
        </p:nvSpPr>
        <p:spPr/>
        <p:txBody>
          <a:bodyPr/>
          <a:p>
            <a:r>
              <a:rPr lang="en-US" altLang="zh-CN" dirty="0" smtClean="0">
                <a:sym typeface="+mn-ea"/>
              </a:rPr>
              <a:t>Kerberos</a:t>
            </a:r>
            <a:r>
              <a:rPr lang="zh-CN" altLang="en-US" dirty="0" smtClean="0">
                <a:sym typeface="+mn-ea"/>
              </a:rPr>
              <a:t>协议</a:t>
            </a:r>
            <a:r>
              <a:rPr lang="zh-CN" altLang="en-US" dirty="0" smtClean="0">
                <a:sym typeface="+mn-ea"/>
              </a:rPr>
              <a:t>简化流程</a:t>
            </a:r>
            <a:endParaRPr lang="zh-CN" altLang="en-US" dirty="0" smtClean="0">
              <a:sym typeface="+mn-ea"/>
            </a:endParaRPr>
          </a:p>
        </p:txBody>
      </p:sp>
      <p:sp>
        <p:nvSpPr>
          <p:cNvPr id="2" name="标题 1"/>
          <p:cNvSpPr>
            <a:spLocks noGrp="1"/>
          </p:cNvSpPr>
          <p:nvPr>
            <p:ph type="title"/>
          </p:nvPr>
        </p:nvSpPr>
        <p:spPr/>
        <p:txBody>
          <a:bodyPr>
            <a:normAutofit fontScale="90000"/>
          </a:bodyPr>
          <a:lstStyle/>
          <a:p>
            <a:r>
              <a:rPr lang="en-US" altLang="zh-CN" dirty="0">
                <a:sym typeface="+mn-ea"/>
              </a:rPr>
              <a:t>16.4 </a:t>
            </a:r>
            <a:r>
              <a:rPr lang="en-US" altLang="zh-CN" dirty="0"/>
              <a:t>Kerberos</a:t>
            </a:r>
            <a:r>
              <a:rPr lang="zh-CN" altLang="en-US" dirty="0"/>
              <a:t>的</a:t>
            </a:r>
            <a:r>
              <a:rPr lang="zh-CN" altLang="en-US" dirty="0"/>
              <a:t>原理</a:t>
            </a:r>
            <a:endParaRPr lang="zh-CN" altLang="en-US" dirty="0"/>
          </a:p>
        </p:txBody>
      </p:sp>
      <p:sp>
        <p:nvSpPr>
          <p:cNvPr id="4" name="灯片编号占位符 3"/>
          <p:cNvSpPr>
            <a:spLocks noGrp="1"/>
          </p:cNvSpPr>
          <p:nvPr>
            <p:ph type="sldNum" sz="quarter" idx="12"/>
          </p:nvPr>
        </p:nvSpPr>
        <p:spPr/>
        <p:txBody>
          <a:bodyPr/>
          <a:lstStyle/>
          <a:p>
            <a:pPr>
              <a:defRPr/>
            </a:pPr>
            <a:fld id="{B42B4293-9377-4872-955B-7EAEC82CC678}" type="slidenum">
              <a:rPr lang="en-US" altLang="zh-CN" smtClean="0"/>
            </a:fld>
            <a:endParaRPr lang="en-US" altLang="zh-CN" dirty="0"/>
          </a:p>
        </p:txBody>
      </p:sp>
      <p:pic>
        <p:nvPicPr>
          <p:cNvPr id="10" name="图片 9"/>
          <p:cNvPicPr/>
          <p:nvPr>
            <p:custDataLst>
              <p:tags r:id="rId1"/>
            </p:custDataLst>
          </p:nvPr>
        </p:nvPicPr>
        <p:blipFill>
          <a:blip r:embed="rId2"/>
          <a:stretch>
            <a:fillRect/>
          </a:stretch>
        </p:blipFill>
        <p:spPr>
          <a:xfrm>
            <a:off x="1868170" y="2635250"/>
            <a:ext cx="1252220" cy="1096010"/>
          </a:xfrm>
          <a:prstGeom prst="rect">
            <a:avLst/>
          </a:prstGeom>
          <a:noFill/>
          <a:ln w="9525">
            <a:noFill/>
          </a:ln>
        </p:spPr>
      </p:pic>
      <p:pic>
        <p:nvPicPr>
          <p:cNvPr id="11" name="图片 10"/>
          <p:cNvPicPr/>
          <p:nvPr>
            <p:custDataLst>
              <p:tags r:id="rId3"/>
            </p:custDataLst>
          </p:nvPr>
        </p:nvPicPr>
        <p:blipFill>
          <a:blip r:embed="rId4"/>
          <a:stretch>
            <a:fillRect/>
          </a:stretch>
        </p:blipFill>
        <p:spPr>
          <a:xfrm>
            <a:off x="1651000" y="5537835"/>
            <a:ext cx="982345" cy="909955"/>
          </a:xfrm>
          <a:prstGeom prst="rect">
            <a:avLst/>
          </a:prstGeom>
          <a:noFill/>
          <a:ln w="9525">
            <a:noFill/>
          </a:ln>
        </p:spPr>
      </p:pic>
      <p:sp>
        <p:nvSpPr>
          <p:cNvPr id="8" name="文本框 7"/>
          <p:cNvSpPr txBox="1"/>
          <p:nvPr>
            <p:custDataLst>
              <p:tags r:id="rId5"/>
            </p:custDataLst>
          </p:nvPr>
        </p:nvSpPr>
        <p:spPr>
          <a:xfrm>
            <a:off x="1637665" y="6423660"/>
            <a:ext cx="995045" cy="398780"/>
          </a:xfrm>
          <a:prstGeom prst="rect">
            <a:avLst/>
          </a:prstGeom>
          <a:noFill/>
        </p:spPr>
        <p:txBody>
          <a:bodyPr wrap="square" rtlCol="0">
            <a:spAutoFit/>
          </a:bodyPr>
          <a:p>
            <a:r>
              <a:rPr lang="en-US" altLang="zh-CN" sz="2000" b="1"/>
              <a:t> Server</a:t>
            </a:r>
            <a:endParaRPr lang="en-US" altLang="zh-CN" sz="2000" b="1"/>
          </a:p>
        </p:txBody>
      </p:sp>
      <p:sp>
        <p:nvSpPr>
          <p:cNvPr id="23" name="文本框 22"/>
          <p:cNvSpPr txBox="1"/>
          <p:nvPr>
            <p:custDataLst>
              <p:tags r:id="rId6"/>
            </p:custDataLst>
          </p:nvPr>
        </p:nvSpPr>
        <p:spPr>
          <a:xfrm>
            <a:off x="919480" y="2243455"/>
            <a:ext cx="2573020" cy="398780"/>
          </a:xfrm>
          <a:prstGeom prst="rect">
            <a:avLst/>
          </a:prstGeom>
          <a:noFill/>
        </p:spPr>
        <p:txBody>
          <a:bodyPr wrap="square" rtlCol="0">
            <a:spAutoFit/>
          </a:bodyPr>
          <a:p>
            <a:pPr algn="ctr"/>
            <a:r>
              <a:rPr lang="en-US" altLang="zh-CN" sz="2000" b="1"/>
              <a:t>Client</a:t>
            </a:r>
            <a:endParaRPr lang="en-US" altLang="zh-CN" sz="2000" b="1"/>
          </a:p>
        </p:txBody>
      </p:sp>
      <p:sp>
        <p:nvSpPr>
          <p:cNvPr id="26" name="矩形 25"/>
          <p:cNvSpPr/>
          <p:nvPr/>
        </p:nvSpPr>
        <p:spPr>
          <a:xfrm>
            <a:off x="6266180" y="2545080"/>
            <a:ext cx="5599430" cy="4079875"/>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p>
            <a:pPr algn="ctr"/>
            <a:endParaRPr lang="zh-CN" altLang="en-US"/>
          </a:p>
        </p:txBody>
      </p:sp>
      <p:sp>
        <p:nvSpPr>
          <p:cNvPr id="27" name="文本框 26"/>
          <p:cNvSpPr txBox="1"/>
          <p:nvPr>
            <p:custDataLst>
              <p:tags r:id="rId7"/>
            </p:custDataLst>
          </p:nvPr>
        </p:nvSpPr>
        <p:spPr>
          <a:xfrm>
            <a:off x="6837680" y="1757680"/>
            <a:ext cx="4297680" cy="706755"/>
          </a:xfrm>
          <a:prstGeom prst="rect">
            <a:avLst/>
          </a:prstGeom>
          <a:noFill/>
        </p:spPr>
        <p:txBody>
          <a:bodyPr wrap="square" rtlCol="0">
            <a:spAutoFit/>
          </a:bodyPr>
          <a:p>
            <a:pPr algn="ctr"/>
            <a:r>
              <a:rPr lang="en-US" altLang="zh-CN" sz="2000" b="1"/>
              <a:t>Kerberos </a:t>
            </a:r>
            <a:endParaRPr lang="en-US" altLang="zh-CN" sz="2000" b="1"/>
          </a:p>
          <a:p>
            <a:pPr algn="ctr"/>
            <a:r>
              <a:rPr lang="en-US" altLang="zh-CN" sz="2000" b="1"/>
              <a:t>Key Distribution Center</a:t>
            </a:r>
            <a:r>
              <a:rPr lang="zh-CN" altLang="en-US" sz="2000" b="1"/>
              <a:t>（</a:t>
            </a:r>
            <a:r>
              <a:rPr lang="en-US" altLang="zh-CN" sz="2000" b="1"/>
              <a:t>KDC</a:t>
            </a:r>
            <a:r>
              <a:rPr lang="zh-CN" altLang="en-US" sz="2000" b="1"/>
              <a:t>）</a:t>
            </a:r>
            <a:endParaRPr lang="zh-CN" altLang="en-US" sz="2000" b="1"/>
          </a:p>
        </p:txBody>
      </p:sp>
      <p:sp>
        <p:nvSpPr>
          <p:cNvPr id="30" name="圆角矩形 29"/>
          <p:cNvSpPr/>
          <p:nvPr/>
        </p:nvSpPr>
        <p:spPr>
          <a:xfrm>
            <a:off x="6814820" y="2710180"/>
            <a:ext cx="2289810" cy="13906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000" b="1">
                <a:sym typeface="+mn-ea"/>
              </a:rPr>
              <a:t>Authentication</a:t>
            </a:r>
            <a:endParaRPr lang="en-US" altLang="zh-CN" sz="2000" b="1"/>
          </a:p>
          <a:p>
            <a:pPr algn="ctr"/>
            <a:r>
              <a:rPr lang="en-US" altLang="zh-CN" sz="2000" b="1">
                <a:sym typeface="+mn-ea"/>
              </a:rPr>
              <a:t>Service</a:t>
            </a:r>
            <a:endParaRPr lang="en-US" altLang="zh-CN" sz="2000" b="1">
              <a:sym typeface="+mn-ea"/>
            </a:endParaRPr>
          </a:p>
        </p:txBody>
      </p:sp>
      <p:sp>
        <p:nvSpPr>
          <p:cNvPr id="31" name="圆角矩形 30"/>
          <p:cNvSpPr/>
          <p:nvPr>
            <p:custDataLst>
              <p:tags r:id="rId8"/>
            </p:custDataLst>
          </p:nvPr>
        </p:nvSpPr>
        <p:spPr>
          <a:xfrm>
            <a:off x="6833235" y="4876165"/>
            <a:ext cx="2290445" cy="132270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000" b="1">
                <a:sym typeface="+mn-ea"/>
              </a:rPr>
              <a:t>Ticket Granting</a:t>
            </a:r>
            <a:endParaRPr lang="en-US" altLang="zh-CN" sz="2000" b="1"/>
          </a:p>
          <a:p>
            <a:pPr algn="ctr"/>
            <a:r>
              <a:rPr lang="en-US" altLang="zh-CN" sz="2000" b="1">
                <a:sym typeface="+mn-ea"/>
              </a:rPr>
              <a:t>Service</a:t>
            </a:r>
            <a:r>
              <a:rPr lang="zh-CN" altLang="en-US" sz="2000" b="1">
                <a:sym typeface="+mn-ea"/>
              </a:rPr>
              <a:t>（</a:t>
            </a:r>
            <a:r>
              <a:rPr lang="en-US" altLang="zh-CN" sz="2000" b="1">
                <a:sym typeface="+mn-ea"/>
              </a:rPr>
              <a:t>TGS</a:t>
            </a:r>
            <a:r>
              <a:rPr lang="zh-CN" altLang="en-US" sz="2000" b="1">
                <a:sym typeface="+mn-ea"/>
              </a:rPr>
              <a:t>）</a:t>
            </a:r>
            <a:endParaRPr lang="zh-CN" altLang="en-US" sz="2000" b="1">
              <a:sym typeface="+mn-ea"/>
            </a:endParaRPr>
          </a:p>
        </p:txBody>
      </p:sp>
      <p:sp>
        <p:nvSpPr>
          <p:cNvPr id="3" name="文本框 2"/>
          <p:cNvSpPr txBox="1"/>
          <p:nvPr/>
        </p:nvSpPr>
        <p:spPr>
          <a:xfrm>
            <a:off x="3529965" y="2633980"/>
            <a:ext cx="2539365" cy="312420"/>
          </a:xfrm>
          <a:prstGeom prst="rect">
            <a:avLst/>
          </a:prstGeom>
          <a:noFill/>
        </p:spPr>
        <p:txBody>
          <a:bodyPr wrap="square" rtlCol="0">
            <a:noAutofit/>
          </a:bodyPr>
          <a:p>
            <a:pPr algn="ctr"/>
            <a:r>
              <a:rPr lang="en-US" altLang="zh-CN" sz="2000" b="1">
                <a:solidFill>
                  <a:schemeClr val="accent1"/>
                </a:solidFill>
                <a:effectLst>
                  <a:outerShdw blurRad="38100" dist="25400" dir="5400000" algn="ctr" rotWithShape="0">
                    <a:srgbClr val="6E747A">
                      <a:alpha val="43000"/>
                    </a:srgbClr>
                  </a:outerShdw>
                </a:effectLst>
              </a:rPr>
              <a:t>1-Client</a:t>
            </a:r>
            <a:r>
              <a:rPr lang="zh-CN" altLang="en-US" sz="2000" b="1">
                <a:solidFill>
                  <a:schemeClr val="accent1"/>
                </a:solidFill>
                <a:effectLst>
                  <a:outerShdw blurRad="38100" dist="25400" dir="5400000" algn="ctr" rotWithShape="0">
                    <a:srgbClr val="6E747A">
                      <a:alpha val="43000"/>
                    </a:srgbClr>
                  </a:outerShdw>
                </a:effectLst>
              </a:rPr>
              <a:t>认证</a:t>
            </a:r>
            <a:r>
              <a:rPr lang="zh-CN" altLang="en-US" sz="2000" b="1">
                <a:solidFill>
                  <a:schemeClr val="accent1"/>
                </a:solidFill>
                <a:effectLst>
                  <a:outerShdw blurRad="38100" dist="25400" dir="5400000" algn="ctr" rotWithShape="0">
                    <a:srgbClr val="6E747A">
                      <a:alpha val="43000"/>
                    </a:srgbClr>
                  </a:outerShdw>
                </a:effectLst>
              </a:rPr>
              <a:t>请求</a:t>
            </a:r>
            <a:endParaRPr lang="zh-CN" altLang="en-US" sz="2000" b="1">
              <a:solidFill>
                <a:schemeClr val="accent1"/>
              </a:solidFill>
              <a:effectLst>
                <a:outerShdw blurRad="38100" dist="25400" dir="5400000" algn="ctr" rotWithShape="0">
                  <a:srgbClr val="6E747A">
                    <a:alpha val="43000"/>
                  </a:srgbClr>
                </a:outerShdw>
              </a:effectLst>
            </a:endParaRPr>
          </a:p>
        </p:txBody>
      </p:sp>
      <p:sp>
        <p:nvSpPr>
          <p:cNvPr id="22" name="文本框 21"/>
          <p:cNvSpPr txBox="1"/>
          <p:nvPr/>
        </p:nvSpPr>
        <p:spPr>
          <a:xfrm>
            <a:off x="3232785" y="3068955"/>
            <a:ext cx="3246120" cy="341630"/>
          </a:xfrm>
          <a:prstGeom prst="rect">
            <a:avLst/>
          </a:prstGeom>
          <a:noFill/>
        </p:spPr>
        <p:txBody>
          <a:bodyPr wrap="square" rtlCol="0">
            <a:noAutofit/>
          </a:bodyPr>
          <a:p>
            <a:pPr algn="ctr"/>
            <a:r>
              <a:rPr lang="en-US" altLang="zh-CN" sz="2000" b="1">
                <a:solidFill>
                  <a:schemeClr val="accent1"/>
                </a:solidFill>
                <a:effectLst>
                  <a:outerShdw blurRad="38100" dist="25400" dir="5400000" algn="ctr" rotWithShape="0">
                    <a:srgbClr val="6E747A">
                      <a:alpha val="43000"/>
                    </a:srgbClr>
                  </a:outerShdw>
                </a:effectLst>
                <a:sym typeface="+mn-ea"/>
              </a:rPr>
              <a:t>2-Enc</a:t>
            </a:r>
            <a:r>
              <a:rPr lang="en-US" altLang="zh-CN" sz="1400" b="1">
                <a:solidFill>
                  <a:schemeClr val="accent1"/>
                </a:solidFill>
                <a:effectLst>
                  <a:outerShdw blurRad="38100" dist="25400" dir="5400000" algn="ctr" rotWithShape="0">
                    <a:srgbClr val="6E747A">
                      <a:alpha val="43000"/>
                    </a:srgbClr>
                  </a:outerShdw>
                </a:effectLst>
                <a:sym typeface="+mn-ea"/>
              </a:rPr>
              <a:t>Kc</a:t>
            </a:r>
            <a:r>
              <a:rPr lang="en-US" altLang="zh-CN" sz="2000" b="1">
                <a:solidFill>
                  <a:schemeClr val="accent1"/>
                </a:solidFill>
                <a:effectLst>
                  <a:outerShdw blurRad="38100" dist="25400" dir="5400000" algn="ctr" rotWithShape="0">
                    <a:srgbClr val="6E747A">
                      <a:alpha val="43000"/>
                    </a:srgbClr>
                  </a:outerShdw>
                </a:effectLst>
                <a:sym typeface="+mn-ea"/>
              </a:rPr>
              <a:t>{message}</a:t>
            </a:r>
            <a:r>
              <a:rPr lang="zh-CN" altLang="en-US" sz="2000" b="1">
                <a:solidFill>
                  <a:schemeClr val="accent1"/>
                </a:solidFill>
                <a:effectLst>
                  <a:outerShdw blurRad="38100" dist="25400" dir="5400000" algn="ctr" rotWithShape="0">
                    <a:srgbClr val="6E747A">
                      <a:alpha val="43000"/>
                    </a:srgbClr>
                  </a:outerShdw>
                </a:effectLst>
                <a:sym typeface="+mn-ea"/>
              </a:rPr>
              <a:t>，</a:t>
            </a:r>
            <a:r>
              <a:rPr lang="en-US" altLang="zh-CN" sz="2000" b="1">
                <a:solidFill>
                  <a:schemeClr val="accent1"/>
                </a:solidFill>
                <a:effectLst>
                  <a:outerShdw blurRad="38100" dist="25400" dir="5400000" algn="ctr" rotWithShape="0">
                    <a:srgbClr val="6E747A">
                      <a:alpha val="43000"/>
                    </a:srgbClr>
                  </a:outerShdw>
                </a:effectLst>
                <a:sym typeface="+mn-ea"/>
              </a:rPr>
              <a:t>Ticket Granting Ticket}</a:t>
            </a:r>
            <a:endParaRPr lang="en-US" altLang="zh-CN" sz="2000" b="1">
              <a:solidFill>
                <a:schemeClr val="accent1"/>
              </a:solidFill>
              <a:effectLst>
                <a:outerShdw blurRad="38100" dist="25400" dir="5400000" algn="ctr" rotWithShape="0">
                  <a:srgbClr val="6E747A">
                    <a:alpha val="43000"/>
                  </a:srgbClr>
                </a:outerShdw>
              </a:effectLst>
            </a:endParaRPr>
          </a:p>
        </p:txBody>
      </p:sp>
      <p:sp>
        <p:nvSpPr>
          <p:cNvPr id="25" name="文本框 24"/>
          <p:cNvSpPr txBox="1"/>
          <p:nvPr/>
        </p:nvSpPr>
        <p:spPr>
          <a:xfrm rot="1380000">
            <a:off x="3596640" y="4357370"/>
            <a:ext cx="2659380" cy="471170"/>
          </a:xfrm>
          <a:prstGeom prst="rect">
            <a:avLst/>
          </a:prstGeom>
          <a:noFill/>
        </p:spPr>
        <p:txBody>
          <a:bodyPr wrap="square" rtlCol="0">
            <a:noAutofit/>
          </a:bodyPr>
          <a:p>
            <a:pPr algn="ctr"/>
            <a:r>
              <a:rPr lang="en-US" altLang="zh-CN" sz="2000" b="1">
                <a:solidFill>
                  <a:schemeClr val="accent1"/>
                </a:solidFill>
                <a:effectLst>
                  <a:outerShdw blurRad="38100" dist="25400" dir="5400000" algn="ctr" rotWithShape="0">
                    <a:srgbClr val="6E747A">
                      <a:alpha val="43000"/>
                    </a:srgbClr>
                  </a:outerShdw>
                </a:effectLst>
              </a:rPr>
              <a:t>3-TGT</a:t>
            </a:r>
            <a:r>
              <a:rPr lang="zh-CN" altLang="en-US" sz="2000" b="1">
                <a:solidFill>
                  <a:schemeClr val="accent1"/>
                </a:solidFill>
                <a:effectLst>
                  <a:outerShdw blurRad="38100" dist="25400" dir="5400000" algn="ctr" rotWithShape="0">
                    <a:srgbClr val="6E747A">
                      <a:alpha val="43000"/>
                    </a:srgbClr>
                  </a:outerShdw>
                </a:effectLst>
              </a:rPr>
              <a:t>，</a:t>
            </a:r>
            <a:r>
              <a:rPr lang="en-US" altLang="zh-CN" sz="2000" b="1">
                <a:solidFill>
                  <a:schemeClr val="accent1"/>
                </a:solidFill>
                <a:effectLst>
                  <a:outerShdw blurRad="38100" dist="25400" dir="5400000" algn="ctr" rotWithShape="0">
                    <a:srgbClr val="6E747A">
                      <a:alpha val="43000"/>
                    </a:srgbClr>
                  </a:outerShdw>
                </a:effectLst>
              </a:rPr>
              <a:t>Req-Server</a:t>
            </a:r>
            <a:endParaRPr lang="en-US" altLang="zh-CN" sz="2000" b="1">
              <a:solidFill>
                <a:schemeClr val="accent1"/>
              </a:solidFill>
              <a:effectLst>
                <a:outerShdw blurRad="38100" dist="25400" dir="5400000" algn="ctr" rotWithShape="0">
                  <a:srgbClr val="6E747A">
                    <a:alpha val="43000"/>
                  </a:srgbClr>
                </a:outerShdw>
              </a:effectLst>
            </a:endParaRPr>
          </a:p>
        </p:txBody>
      </p:sp>
      <p:sp>
        <p:nvSpPr>
          <p:cNvPr id="32" name="文本框 31"/>
          <p:cNvSpPr txBox="1"/>
          <p:nvPr/>
        </p:nvSpPr>
        <p:spPr>
          <a:xfrm rot="1440000">
            <a:off x="3122930" y="4556125"/>
            <a:ext cx="2573020" cy="312420"/>
          </a:xfrm>
          <a:prstGeom prst="rect">
            <a:avLst/>
          </a:prstGeom>
          <a:noFill/>
        </p:spPr>
        <p:txBody>
          <a:bodyPr wrap="square" rtlCol="0">
            <a:noAutofit/>
          </a:bodyPr>
          <a:p>
            <a:pPr algn="ctr"/>
            <a:r>
              <a:rPr lang="en-US" altLang="zh-CN" sz="2000" b="1">
                <a:solidFill>
                  <a:schemeClr val="accent1"/>
                </a:solidFill>
                <a:effectLst>
                  <a:outerShdw blurRad="38100" dist="25400" dir="5400000" algn="ctr" rotWithShape="0">
                    <a:srgbClr val="6E747A">
                      <a:alpha val="43000"/>
                    </a:srgbClr>
                  </a:outerShdw>
                </a:effectLst>
              </a:rPr>
              <a:t>4-Session Ticket </a:t>
            </a:r>
            <a:endParaRPr lang="en-US" altLang="zh-CN" sz="2000" b="1">
              <a:solidFill>
                <a:schemeClr val="accent1"/>
              </a:solidFill>
              <a:effectLst>
                <a:outerShdw blurRad="38100" dist="25400" dir="5400000" algn="ctr" rotWithShape="0">
                  <a:srgbClr val="6E747A">
                    <a:alpha val="43000"/>
                  </a:srgbClr>
                </a:outerShdw>
              </a:effectLst>
            </a:endParaRPr>
          </a:p>
        </p:txBody>
      </p:sp>
      <p:sp>
        <p:nvSpPr>
          <p:cNvPr id="36" name="文本框 35"/>
          <p:cNvSpPr txBox="1"/>
          <p:nvPr/>
        </p:nvSpPr>
        <p:spPr>
          <a:xfrm>
            <a:off x="845185" y="4406265"/>
            <a:ext cx="1299210" cy="398780"/>
          </a:xfrm>
          <a:prstGeom prst="rect">
            <a:avLst/>
          </a:prstGeom>
          <a:noFill/>
        </p:spPr>
        <p:txBody>
          <a:bodyPr wrap="square" rtlCol="0" anchor="t">
            <a:spAutoFit/>
          </a:bodyPr>
          <a:p>
            <a:pPr algn="ctr"/>
            <a:r>
              <a:rPr lang="en-US" altLang="zh-CN" sz="2000" b="1">
                <a:solidFill>
                  <a:schemeClr val="accent1"/>
                </a:solidFill>
                <a:effectLst>
                  <a:outerShdw blurRad="38100" dist="25400" dir="5400000" algn="ctr" rotWithShape="0">
                    <a:srgbClr val="6E747A">
                      <a:alpha val="43000"/>
                    </a:srgbClr>
                  </a:outerShdw>
                </a:effectLst>
                <a:sym typeface="+mn-ea"/>
              </a:rPr>
              <a:t>5-S</a:t>
            </a:r>
            <a:r>
              <a:rPr lang="en-US" altLang="zh-CN" sz="2000" b="1">
                <a:solidFill>
                  <a:schemeClr val="accent1"/>
                </a:solidFill>
                <a:effectLst>
                  <a:outerShdw blurRad="38100" dist="25400" dir="5400000" algn="ctr" rotWithShape="0">
                    <a:srgbClr val="6E747A">
                      <a:alpha val="43000"/>
                    </a:srgbClr>
                  </a:outerShdw>
                </a:effectLst>
                <a:sym typeface="+mn-ea"/>
              </a:rPr>
              <a:t>T</a:t>
            </a:r>
            <a:endParaRPr lang="en-US" altLang="zh-CN" sz="2000" b="1">
              <a:solidFill>
                <a:schemeClr val="accent1"/>
              </a:solidFill>
              <a:effectLst>
                <a:outerShdw blurRad="38100" dist="25400" dir="5400000" algn="ctr" rotWithShape="0">
                  <a:srgbClr val="6E747A">
                    <a:alpha val="43000"/>
                  </a:srgbClr>
                </a:outerShdw>
              </a:effectLst>
              <a:sym typeface="+mn-ea"/>
            </a:endParaRPr>
          </a:p>
        </p:txBody>
      </p:sp>
      <p:sp>
        <p:nvSpPr>
          <p:cNvPr id="38" name="文本框 37"/>
          <p:cNvSpPr txBox="1"/>
          <p:nvPr/>
        </p:nvSpPr>
        <p:spPr>
          <a:xfrm>
            <a:off x="2105660" y="4648835"/>
            <a:ext cx="1208405" cy="398780"/>
          </a:xfrm>
          <a:prstGeom prst="rect">
            <a:avLst/>
          </a:prstGeom>
          <a:noFill/>
        </p:spPr>
        <p:txBody>
          <a:bodyPr wrap="square" rtlCol="0" anchor="t">
            <a:spAutoFit/>
          </a:bodyPr>
          <a:p>
            <a:pPr algn="ctr"/>
            <a:r>
              <a:rPr lang="en-US" altLang="zh-CN" sz="2000" b="1">
                <a:solidFill>
                  <a:schemeClr val="accent1"/>
                </a:solidFill>
                <a:effectLst>
                  <a:outerShdw blurRad="38100" dist="25400" dir="5400000" algn="ctr" rotWithShape="0">
                    <a:srgbClr val="6E747A">
                      <a:alpha val="43000"/>
                    </a:srgbClr>
                  </a:outerShdw>
                </a:effectLst>
                <a:sym typeface="+mn-ea"/>
              </a:rPr>
              <a:t>6-Service</a:t>
            </a:r>
            <a:endParaRPr lang="en-US" altLang="zh-CN" sz="2000" b="1">
              <a:solidFill>
                <a:schemeClr val="accent1"/>
              </a:solidFill>
              <a:effectLst>
                <a:outerShdw blurRad="38100" dist="25400" dir="5400000" algn="ctr" rotWithShape="0">
                  <a:srgbClr val="6E747A">
                    <a:alpha val="43000"/>
                  </a:srgbClr>
                </a:outerShdw>
              </a:effectLst>
              <a:sym typeface="+mn-ea"/>
            </a:endParaRPr>
          </a:p>
        </p:txBody>
      </p:sp>
      <p:cxnSp>
        <p:nvCxnSpPr>
          <p:cNvPr id="39" name="直接箭头连接符 38"/>
          <p:cNvCxnSpPr/>
          <p:nvPr/>
        </p:nvCxnSpPr>
        <p:spPr>
          <a:xfrm flipV="1">
            <a:off x="3120390" y="2661285"/>
            <a:ext cx="3666490" cy="1714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flipH="1" flipV="1">
            <a:off x="3128010" y="3049270"/>
            <a:ext cx="3679190" cy="508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a:off x="2977515" y="3613150"/>
            <a:ext cx="3902710" cy="170878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a:xfrm flipH="1" flipV="1">
            <a:off x="2548890" y="3813810"/>
            <a:ext cx="4333240" cy="186118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a:off x="2045970" y="3917315"/>
            <a:ext cx="2540" cy="144018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a:xfrm flipH="1" flipV="1">
            <a:off x="2179955" y="3893185"/>
            <a:ext cx="5715" cy="143002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aphicFrame>
        <p:nvGraphicFramePr>
          <p:cNvPr id="51" name="表格 50"/>
          <p:cNvGraphicFramePr/>
          <p:nvPr>
            <p:custDataLst>
              <p:tags r:id="rId9"/>
            </p:custDataLst>
          </p:nvPr>
        </p:nvGraphicFramePr>
        <p:xfrm>
          <a:off x="9714865" y="3740785"/>
          <a:ext cx="1952625" cy="1508760"/>
        </p:xfrm>
        <a:graphic>
          <a:graphicData uri="http://schemas.openxmlformats.org/drawingml/2006/table">
            <a:tbl>
              <a:tblPr firstRow="1" bandRow="1">
                <a:tableStyleId>{D113A9D2-9D6B-4929-AA2D-F23B5EE8CBE7}</a:tableStyleId>
              </a:tblPr>
              <a:tblGrid>
                <a:gridCol w="815340"/>
                <a:gridCol w="1137285"/>
              </a:tblGrid>
              <a:tr h="196850">
                <a:tc>
                  <a:txBody>
                    <a:bodyPr/>
                    <a:p>
                      <a:pPr>
                        <a:buNone/>
                      </a:pPr>
                      <a:r>
                        <a:rPr lang="en-US" altLang="zh-CN"/>
                        <a:t>Name</a:t>
                      </a:r>
                      <a:endParaRPr lang="en-US" altLang="zh-CN"/>
                    </a:p>
                  </a:txBody>
                  <a:tcPr/>
                </a:tc>
                <a:tc>
                  <a:txBody>
                    <a:bodyPr/>
                    <a:p>
                      <a:pPr>
                        <a:buNone/>
                      </a:pPr>
                      <a:r>
                        <a:rPr lang="en-US" altLang="zh-CN"/>
                        <a:t>Key</a:t>
                      </a:r>
                      <a:endParaRPr lang="en-US" altLang="zh-CN"/>
                    </a:p>
                  </a:txBody>
                  <a:tcPr/>
                </a:tc>
              </a:tr>
              <a:tr h="381000">
                <a:tc>
                  <a:txBody>
                    <a:bodyPr/>
                    <a:p>
                      <a:pPr>
                        <a:buNone/>
                      </a:pPr>
                      <a:r>
                        <a:rPr lang="en-US" altLang="zh-CN"/>
                        <a:t>Client</a:t>
                      </a:r>
                      <a:endParaRPr lang="en-US" altLang="zh-CN"/>
                    </a:p>
                  </a:txBody>
                  <a:tcPr/>
                </a:tc>
                <a:tc>
                  <a:txBody>
                    <a:bodyPr/>
                    <a:p>
                      <a:pPr>
                        <a:buNone/>
                      </a:pPr>
                      <a:r>
                        <a:rPr lang="en-US" altLang="zh-CN"/>
                        <a:t>Kc</a:t>
                      </a:r>
                      <a:endParaRPr lang="en-US" altLang="zh-CN"/>
                    </a:p>
                  </a:txBody>
                  <a:tcPr/>
                </a:tc>
              </a:tr>
              <a:tr h="381000">
                <a:tc>
                  <a:txBody>
                    <a:bodyPr/>
                    <a:p>
                      <a:pPr>
                        <a:buNone/>
                      </a:pPr>
                      <a:r>
                        <a:rPr lang="en-US" altLang="zh-CN"/>
                        <a:t>Server</a:t>
                      </a:r>
                      <a:endParaRPr lang="en-US" altLang="zh-CN"/>
                    </a:p>
                  </a:txBody>
                  <a:tcPr/>
                </a:tc>
                <a:tc>
                  <a:txBody>
                    <a:bodyPr/>
                    <a:p>
                      <a:pPr>
                        <a:buNone/>
                      </a:pPr>
                      <a:r>
                        <a:rPr lang="en-US" altLang="zh-CN"/>
                        <a:t>Ks</a:t>
                      </a:r>
                      <a:endParaRPr lang="en-US" altLang="zh-CN"/>
                    </a:p>
                  </a:txBody>
                  <a:tcPr/>
                </a:tc>
              </a:tr>
              <a:tr h="381000">
                <a:tc>
                  <a:txBody>
                    <a:bodyPr/>
                    <a:p>
                      <a:pPr>
                        <a:buNone/>
                      </a:pPr>
                      <a:r>
                        <a:rPr lang="en-US" altLang="zh-CN"/>
                        <a:t>...</a:t>
                      </a:r>
                      <a:endParaRPr lang="en-US" altLang="zh-CN"/>
                    </a:p>
                  </a:txBody>
                  <a:tcPr/>
                </a:tc>
                <a:tc>
                  <a:txBody>
                    <a:bodyPr/>
                    <a:p>
                      <a:pPr>
                        <a:buNone/>
                      </a:pPr>
                      <a:r>
                        <a:rPr lang="en-US" altLang="zh-CN"/>
                        <a:t>...</a:t>
                      </a:r>
                      <a:endParaRPr lang="en-US" altLang="zh-CN"/>
                    </a:p>
                  </a:txBody>
                  <a:tcPr/>
                </a:tc>
              </a:tr>
            </a:tbl>
          </a:graphicData>
        </a:graphic>
      </p:graphicFrame>
      <p:sp>
        <p:nvSpPr>
          <p:cNvPr id="53" name="矩形 52"/>
          <p:cNvSpPr/>
          <p:nvPr/>
        </p:nvSpPr>
        <p:spPr>
          <a:xfrm>
            <a:off x="1090930" y="2898140"/>
            <a:ext cx="614680" cy="715645"/>
          </a:xfrm>
          <a:prstGeom prst="rect">
            <a:avLst/>
          </a:prstGeom>
          <a:ln w="28575">
            <a:noFill/>
          </a:ln>
        </p:spPr>
        <p:style>
          <a:lnRef idx="2">
            <a:schemeClr val="dk1"/>
          </a:lnRef>
          <a:fillRef idx="1">
            <a:schemeClr val="lt1"/>
          </a:fillRef>
          <a:effectRef idx="0">
            <a:schemeClr val="dk1"/>
          </a:effectRef>
          <a:fontRef idx="minor">
            <a:schemeClr val="dk1"/>
          </a:fontRef>
        </p:style>
        <p:txBody>
          <a:bodyPr rtlCol="0" anchor="ctr"/>
          <a:p>
            <a:pPr algn="ctr"/>
            <a:r>
              <a:rPr lang="en-US" altLang="zh-CN" b="1"/>
              <a:t>Kc</a:t>
            </a:r>
            <a:endParaRPr lang="en-US" altLang="zh-CN" b="1"/>
          </a:p>
        </p:txBody>
      </p:sp>
      <p:sp>
        <p:nvSpPr>
          <p:cNvPr id="54" name="矩形 53"/>
          <p:cNvSpPr/>
          <p:nvPr>
            <p:custDataLst>
              <p:tags r:id="rId10"/>
            </p:custDataLst>
          </p:nvPr>
        </p:nvSpPr>
        <p:spPr>
          <a:xfrm>
            <a:off x="1036320" y="5397500"/>
            <a:ext cx="614680" cy="715645"/>
          </a:xfrm>
          <a:prstGeom prst="rect">
            <a:avLst/>
          </a:prstGeom>
          <a:ln w="28575">
            <a:noFill/>
          </a:ln>
        </p:spPr>
        <p:style>
          <a:lnRef idx="2">
            <a:schemeClr val="dk1"/>
          </a:lnRef>
          <a:fillRef idx="1">
            <a:schemeClr val="lt1"/>
          </a:fillRef>
          <a:effectRef idx="0">
            <a:schemeClr val="dk1"/>
          </a:effectRef>
          <a:fontRef idx="minor">
            <a:schemeClr val="dk1"/>
          </a:fontRef>
        </p:style>
        <p:txBody>
          <a:bodyPr rtlCol="0" anchor="ctr"/>
          <a:p>
            <a:pPr algn="ctr"/>
            <a:r>
              <a:rPr lang="en-US" altLang="zh-CN" b="1"/>
              <a:t>Ks</a:t>
            </a:r>
            <a:endParaRPr lang="en-US" altLang="zh-CN" b="1"/>
          </a:p>
        </p:txBody>
      </p:sp>
    </p:spTree>
  </p:cSld>
  <p:clrMapOvr>
    <a:masterClrMapping/>
  </p:clrMapOvr>
  <mc:AlternateContent xmlns:mc="http://schemas.openxmlformats.org/markup-compatibility/2006">
    <mc:Choice xmlns:p14="http://schemas.microsoft.com/office/powerpoint/2010/main" Requires="p14">
      <p:transition spd="slow" p14:dur="2000" advTm="2827"/>
    </mc:Choice>
    <mc:Fallback>
      <p:transition spd="slow" advTm="282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 calcmode="lin" valueType="num">
                                      <p:cBhvr additive="base">
                                        <p:cTn id="7" dur="500" fill="hold"/>
                                        <p:tgtEl>
                                          <p:spTgt spid="39"/>
                                        </p:tgtEl>
                                        <p:attrNameLst>
                                          <p:attrName>ppt_x</p:attrName>
                                        </p:attrNameLst>
                                      </p:cBhvr>
                                      <p:tavLst>
                                        <p:tav tm="0">
                                          <p:val>
                                            <p:strVal val="#ppt_x"/>
                                          </p:val>
                                        </p:tav>
                                        <p:tav tm="100000">
                                          <p:val>
                                            <p:strVal val="#ppt_x"/>
                                          </p:val>
                                        </p:tav>
                                      </p:tavLst>
                                    </p:anim>
                                    <p:anim calcmode="lin" valueType="num">
                                      <p:cBhvr additive="base">
                                        <p:cTn id="8" dur="500" fill="hold"/>
                                        <p:tgtEl>
                                          <p:spTgt spid="3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anim calcmode="lin" valueType="num">
                                      <p:cBhvr additive="base">
                                        <p:cTn id="11" dur="500" fill="hold"/>
                                        <p:tgtEl>
                                          <p:spTgt spid="3"/>
                                        </p:tgtEl>
                                        <p:attrNameLst>
                                          <p:attrName>ppt_x</p:attrName>
                                        </p:attrNameLst>
                                      </p:cBhvr>
                                      <p:tavLst>
                                        <p:tav tm="0">
                                          <p:val>
                                            <p:strVal val="#ppt_x"/>
                                          </p:val>
                                        </p:tav>
                                        <p:tav tm="100000">
                                          <p:val>
                                            <p:strVal val="#ppt_x"/>
                                          </p:val>
                                        </p:tav>
                                      </p:tavLst>
                                    </p:anim>
                                    <p:anim calcmode="lin" valueType="num">
                                      <p:cBhvr additive="base">
                                        <p:cTn id="12"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40"/>
                                        </p:tgtEl>
                                        <p:attrNameLst>
                                          <p:attrName>style.visibility</p:attrName>
                                        </p:attrNameLst>
                                      </p:cBhvr>
                                      <p:to>
                                        <p:strVal val="visible"/>
                                      </p:to>
                                    </p:set>
                                    <p:anim calcmode="lin" valueType="num">
                                      <p:cBhvr additive="base">
                                        <p:cTn id="17" dur="500" fill="hold"/>
                                        <p:tgtEl>
                                          <p:spTgt spid="40"/>
                                        </p:tgtEl>
                                        <p:attrNameLst>
                                          <p:attrName>ppt_x</p:attrName>
                                        </p:attrNameLst>
                                      </p:cBhvr>
                                      <p:tavLst>
                                        <p:tav tm="0">
                                          <p:val>
                                            <p:strVal val="#ppt_x"/>
                                          </p:val>
                                        </p:tav>
                                        <p:tav tm="100000">
                                          <p:val>
                                            <p:strVal val="#ppt_x"/>
                                          </p:val>
                                        </p:tav>
                                      </p:tavLst>
                                    </p:anim>
                                    <p:anim calcmode="lin" valueType="num">
                                      <p:cBhvr additive="base">
                                        <p:cTn id="18" dur="500" fill="hold"/>
                                        <p:tgtEl>
                                          <p:spTgt spid="40"/>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 calcmode="lin" valueType="num">
                                      <p:cBhvr additive="base">
                                        <p:cTn id="21" dur="500" fill="hold"/>
                                        <p:tgtEl>
                                          <p:spTgt spid="22"/>
                                        </p:tgtEl>
                                        <p:attrNameLst>
                                          <p:attrName>ppt_x</p:attrName>
                                        </p:attrNameLst>
                                      </p:cBhvr>
                                      <p:tavLst>
                                        <p:tav tm="0">
                                          <p:val>
                                            <p:strVal val="#ppt_x"/>
                                          </p:val>
                                        </p:tav>
                                        <p:tav tm="100000">
                                          <p:val>
                                            <p:strVal val="#ppt_x"/>
                                          </p:val>
                                        </p:tav>
                                      </p:tavLst>
                                    </p:anim>
                                    <p:anim calcmode="lin" valueType="num">
                                      <p:cBhvr additive="base">
                                        <p:cTn id="2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41"/>
                                        </p:tgtEl>
                                        <p:attrNameLst>
                                          <p:attrName>style.visibility</p:attrName>
                                        </p:attrNameLst>
                                      </p:cBhvr>
                                      <p:to>
                                        <p:strVal val="visible"/>
                                      </p:to>
                                    </p:set>
                                    <p:anim calcmode="lin" valueType="num">
                                      <p:cBhvr additive="base">
                                        <p:cTn id="27" dur="500" fill="hold"/>
                                        <p:tgtEl>
                                          <p:spTgt spid="41"/>
                                        </p:tgtEl>
                                        <p:attrNameLst>
                                          <p:attrName>ppt_x</p:attrName>
                                        </p:attrNameLst>
                                      </p:cBhvr>
                                      <p:tavLst>
                                        <p:tav tm="0">
                                          <p:val>
                                            <p:strVal val="#ppt_x"/>
                                          </p:val>
                                        </p:tav>
                                        <p:tav tm="100000">
                                          <p:val>
                                            <p:strVal val="#ppt_x"/>
                                          </p:val>
                                        </p:tav>
                                      </p:tavLst>
                                    </p:anim>
                                    <p:anim calcmode="lin" valueType="num">
                                      <p:cBhvr additive="base">
                                        <p:cTn id="28" dur="500" fill="hold"/>
                                        <p:tgtEl>
                                          <p:spTgt spid="41"/>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5"/>
                                        </p:tgtEl>
                                        <p:attrNameLst>
                                          <p:attrName>style.visibility</p:attrName>
                                        </p:attrNameLst>
                                      </p:cBhvr>
                                      <p:to>
                                        <p:strVal val="visible"/>
                                      </p:to>
                                    </p:set>
                                    <p:anim calcmode="lin" valueType="num">
                                      <p:cBhvr additive="base">
                                        <p:cTn id="31" dur="500" fill="hold"/>
                                        <p:tgtEl>
                                          <p:spTgt spid="25"/>
                                        </p:tgtEl>
                                        <p:attrNameLst>
                                          <p:attrName>ppt_x</p:attrName>
                                        </p:attrNameLst>
                                      </p:cBhvr>
                                      <p:tavLst>
                                        <p:tav tm="0">
                                          <p:val>
                                            <p:strVal val="#ppt_x"/>
                                          </p:val>
                                        </p:tav>
                                        <p:tav tm="100000">
                                          <p:val>
                                            <p:strVal val="#ppt_x"/>
                                          </p:val>
                                        </p:tav>
                                      </p:tavLst>
                                    </p:anim>
                                    <p:anim calcmode="lin" valueType="num">
                                      <p:cBhvr additive="base">
                                        <p:cTn id="32" dur="500" fill="hold"/>
                                        <p:tgtEl>
                                          <p:spTgt spid="2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2"/>
                                        </p:tgtEl>
                                        <p:attrNameLst>
                                          <p:attrName>style.visibility</p:attrName>
                                        </p:attrNameLst>
                                      </p:cBhvr>
                                      <p:to>
                                        <p:strVal val="visible"/>
                                      </p:to>
                                    </p:set>
                                    <p:anim calcmode="lin" valueType="num">
                                      <p:cBhvr additive="base">
                                        <p:cTn id="37" dur="500" fill="hold"/>
                                        <p:tgtEl>
                                          <p:spTgt spid="42"/>
                                        </p:tgtEl>
                                        <p:attrNameLst>
                                          <p:attrName>ppt_x</p:attrName>
                                        </p:attrNameLst>
                                      </p:cBhvr>
                                      <p:tavLst>
                                        <p:tav tm="0">
                                          <p:val>
                                            <p:strVal val="#ppt_x"/>
                                          </p:val>
                                        </p:tav>
                                        <p:tav tm="100000">
                                          <p:val>
                                            <p:strVal val="#ppt_x"/>
                                          </p:val>
                                        </p:tav>
                                      </p:tavLst>
                                    </p:anim>
                                    <p:anim calcmode="lin" valueType="num">
                                      <p:cBhvr additive="base">
                                        <p:cTn id="38" dur="500" fill="hold"/>
                                        <p:tgtEl>
                                          <p:spTgt spid="42"/>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2"/>
                                        </p:tgtEl>
                                        <p:attrNameLst>
                                          <p:attrName>style.visibility</p:attrName>
                                        </p:attrNameLst>
                                      </p:cBhvr>
                                      <p:to>
                                        <p:strVal val="visible"/>
                                      </p:to>
                                    </p:set>
                                    <p:anim calcmode="lin" valueType="num">
                                      <p:cBhvr additive="base">
                                        <p:cTn id="41" dur="500" fill="hold"/>
                                        <p:tgtEl>
                                          <p:spTgt spid="32"/>
                                        </p:tgtEl>
                                        <p:attrNameLst>
                                          <p:attrName>ppt_x</p:attrName>
                                        </p:attrNameLst>
                                      </p:cBhvr>
                                      <p:tavLst>
                                        <p:tav tm="0">
                                          <p:val>
                                            <p:strVal val="#ppt_x"/>
                                          </p:val>
                                        </p:tav>
                                        <p:tav tm="100000">
                                          <p:val>
                                            <p:strVal val="#ppt_x"/>
                                          </p:val>
                                        </p:tav>
                                      </p:tavLst>
                                    </p:anim>
                                    <p:anim calcmode="lin" valueType="num">
                                      <p:cBhvr additive="base">
                                        <p:cTn id="42" dur="500" fill="hold"/>
                                        <p:tgtEl>
                                          <p:spTgt spid="32"/>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nodeType="clickEffect">
                                  <p:stCondLst>
                                    <p:cond delay="0"/>
                                  </p:stCondLst>
                                  <p:childTnLst>
                                    <p:set>
                                      <p:cBhvr>
                                        <p:cTn id="46" dur="1" fill="hold">
                                          <p:stCondLst>
                                            <p:cond delay="0"/>
                                          </p:stCondLst>
                                        </p:cTn>
                                        <p:tgtEl>
                                          <p:spTgt spid="43"/>
                                        </p:tgtEl>
                                        <p:attrNameLst>
                                          <p:attrName>style.visibility</p:attrName>
                                        </p:attrNameLst>
                                      </p:cBhvr>
                                      <p:to>
                                        <p:strVal val="visible"/>
                                      </p:to>
                                    </p:set>
                                    <p:anim calcmode="lin" valueType="num">
                                      <p:cBhvr additive="base">
                                        <p:cTn id="47" dur="500" fill="hold"/>
                                        <p:tgtEl>
                                          <p:spTgt spid="43"/>
                                        </p:tgtEl>
                                        <p:attrNameLst>
                                          <p:attrName>ppt_x</p:attrName>
                                        </p:attrNameLst>
                                      </p:cBhvr>
                                      <p:tavLst>
                                        <p:tav tm="0">
                                          <p:val>
                                            <p:strVal val="#ppt_x"/>
                                          </p:val>
                                        </p:tav>
                                        <p:tav tm="100000">
                                          <p:val>
                                            <p:strVal val="#ppt_x"/>
                                          </p:val>
                                        </p:tav>
                                      </p:tavLst>
                                    </p:anim>
                                    <p:anim calcmode="lin" valueType="num">
                                      <p:cBhvr additive="base">
                                        <p:cTn id="48" dur="500" fill="hold"/>
                                        <p:tgtEl>
                                          <p:spTgt spid="43"/>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anim calcmode="lin" valueType="num">
                                      <p:cBhvr additive="base">
                                        <p:cTn id="51" dur="500" fill="hold"/>
                                        <p:tgtEl>
                                          <p:spTgt spid="36"/>
                                        </p:tgtEl>
                                        <p:attrNameLst>
                                          <p:attrName>ppt_x</p:attrName>
                                        </p:attrNameLst>
                                      </p:cBhvr>
                                      <p:tavLst>
                                        <p:tav tm="0">
                                          <p:val>
                                            <p:strVal val="#ppt_x"/>
                                          </p:val>
                                        </p:tav>
                                        <p:tav tm="100000">
                                          <p:val>
                                            <p:strVal val="#ppt_x"/>
                                          </p:val>
                                        </p:tav>
                                      </p:tavLst>
                                    </p:anim>
                                    <p:anim calcmode="lin" valueType="num">
                                      <p:cBhvr additive="base">
                                        <p:cTn id="52"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nodeType="clickEffect">
                                  <p:stCondLst>
                                    <p:cond delay="0"/>
                                  </p:stCondLst>
                                  <p:childTnLst>
                                    <p:set>
                                      <p:cBhvr>
                                        <p:cTn id="56" dur="1" fill="hold">
                                          <p:stCondLst>
                                            <p:cond delay="0"/>
                                          </p:stCondLst>
                                        </p:cTn>
                                        <p:tgtEl>
                                          <p:spTgt spid="44"/>
                                        </p:tgtEl>
                                        <p:attrNameLst>
                                          <p:attrName>style.visibility</p:attrName>
                                        </p:attrNameLst>
                                      </p:cBhvr>
                                      <p:to>
                                        <p:strVal val="visible"/>
                                      </p:to>
                                    </p:set>
                                    <p:anim calcmode="lin" valueType="num">
                                      <p:cBhvr additive="base">
                                        <p:cTn id="57" dur="500" fill="hold"/>
                                        <p:tgtEl>
                                          <p:spTgt spid="44"/>
                                        </p:tgtEl>
                                        <p:attrNameLst>
                                          <p:attrName>ppt_x</p:attrName>
                                        </p:attrNameLst>
                                      </p:cBhvr>
                                      <p:tavLst>
                                        <p:tav tm="0">
                                          <p:val>
                                            <p:strVal val="#ppt_x"/>
                                          </p:val>
                                        </p:tav>
                                        <p:tav tm="100000">
                                          <p:val>
                                            <p:strVal val="#ppt_x"/>
                                          </p:val>
                                        </p:tav>
                                      </p:tavLst>
                                    </p:anim>
                                    <p:anim calcmode="lin" valueType="num">
                                      <p:cBhvr additive="base">
                                        <p:cTn id="58" dur="500" fill="hold"/>
                                        <p:tgtEl>
                                          <p:spTgt spid="44"/>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38"/>
                                        </p:tgtEl>
                                        <p:attrNameLst>
                                          <p:attrName>style.visibility</p:attrName>
                                        </p:attrNameLst>
                                      </p:cBhvr>
                                      <p:to>
                                        <p:strVal val="visible"/>
                                      </p:to>
                                    </p:set>
                                    <p:anim calcmode="lin" valueType="num">
                                      <p:cBhvr additive="base">
                                        <p:cTn id="61" dur="500" fill="hold"/>
                                        <p:tgtEl>
                                          <p:spTgt spid="38"/>
                                        </p:tgtEl>
                                        <p:attrNameLst>
                                          <p:attrName>ppt_x</p:attrName>
                                        </p:attrNameLst>
                                      </p:cBhvr>
                                      <p:tavLst>
                                        <p:tav tm="0">
                                          <p:val>
                                            <p:strVal val="#ppt_x"/>
                                          </p:val>
                                        </p:tav>
                                        <p:tav tm="100000">
                                          <p:val>
                                            <p:strVal val="#ppt_x"/>
                                          </p:val>
                                        </p:tav>
                                      </p:tavLst>
                                    </p:anim>
                                    <p:anim calcmode="lin" valueType="num">
                                      <p:cBhvr additive="base">
                                        <p:cTn id="62" dur="500" fill="hold"/>
                                        <p:tgtEl>
                                          <p:spTgt spid="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P spid="22" grpId="0"/>
      <p:bldP spid="22" grpId="1"/>
      <p:bldP spid="25" grpId="0"/>
      <p:bldP spid="25" grpId="1"/>
      <p:bldP spid="32" grpId="0"/>
      <p:bldP spid="32" grpId="1"/>
      <p:bldP spid="36" grpId="0"/>
      <p:bldP spid="36" grpId="1"/>
      <p:bldP spid="38" grpId="0"/>
      <p:bldP spid="38" grpId="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p:nvPr>
            <p:ph idx="1"/>
          </p:nvPr>
        </p:nvSpPr>
        <p:spPr/>
        <p:txBody>
          <a:bodyPr/>
          <a:p>
            <a:r>
              <a:rPr lang="en-US" altLang="zh-CN" dirty="0" smtClean="0">
                <a:sym typeface="+mn-ea"/>
              </a:rPr>
              <a:t>Kerberos</a:t>
            </a:r>
            <a:r>
              <a:rPr lang="zh-CN" altLang="en-US" dirty="0" smtClean="0">
                <a:sym typeface="+mn-ea"/>
              </a:rPr>
              <a:t>协议</a:t>
            </a:r>
            <a:r>
              <a:rPr lang="zh-CN" altLang="en-US" dirty="0" smtClean="0">
                <a:sym typeface="+mn-ea"/>
              </a:rPr>
              <a:t>简化流程</a:t>
            </a:r>
            <a:endParaRPr lang="zh-CN" altLang="en-US" dirty="0" smtClean="0">
              <a:sym typeface="+mn-ea"/>
            </a:endParaRPr>
          </a:p>
        </p:txBody>
      </p:sp>
      <p:sp>
        <p:nvSpPr>
          <p:cNvPr id="2" name="标题 1"/>
          <p:cNvSpPr>
            <a:spLocks noGrp="1"/>
          </p:cNvSpPr>
          <p:nvPr>
            <p:ph type="title"/>
          </p:nvPr>
        </p:nvSpPr>
        <p:spPr/>
        <p:txBody>
          <a:bodyPr>
            <a:normAutofit fontScale="90000"/>
          </a:bodyPr>
          <a:lstStyle/>
          <a:p>
            <a:r>
              <a:rPr lang="en-US" altLang="zh-CN" dirty="0">
                <a:sym typeface="+mn-ea"/>
              </a:rPr>
              <a:t>16.4 </a:t>
            </a:r>
            <a:r>
              <a:rPr lang="en-US" altLang="zh-CN" dirty="0"/>
              <a:t>Kerberos</a:t>
            </a:r>
            <a:r>
              <a:rPr lang="zh-CN" altLang="en-US" dirty="0"/>
              <a:t>的</a:t>
            </a:r>
            <a:r>
              <a:rPr lang="zh-CN" altLang="en-US" dirty="0"/>
              <a:t>原理</a:t>
            </a:r>
            <a:endParaRPr lang="zh-CN" altLang="en-US" dirty="0"/>
          </a:p>
        </p:txBody>
      </p:sp>
      <p:sp>
        <p:nvSpPr>
          <p:cNvPr id="4" name="灯片编号占位符 3"/>
          <p:cNvSpPr>
            <a:spLocks noGrp="1"/>
          </p:cNvSpPr>
          <p:nvPr>
            <p:ph type="sldNum" sz="quarter" idx="12"/>
          </p:nvPr>
        </p:nvSpPr>
        <p:spPr/>
        <p:txBody>
          <a:bodyPr/>
          <a:lstStyle/>
          <a:p>
            <a:pPr>
              <a:defRPr/>
            </a:pPr>
            <a:fld id="{B42B4293-9377-4872-955B-7EAEC82CC678}" type="slidenum">
              <a:rPr lang="en-US" altLang="zh-CN" smtClean="0"/>
            </a:fld>
            <a:endParaRPr lang="en-US" altLang="zh-CN" dirty="0"/>
          </a:p>
        </p:txBody>
      </p:sp>
      <p:pic>
        <p:nvPicPr>
          <p:cNvPr id="10" name="图片 9"/>
          <p:cNvPicPr/>
          <p:nvPr>
            <p:custDataLst>
              <p:tags r:id="rId1"/>
            </p:custDataLst>
          </p:nvPr>
        </p:nvPicPr>
        <p:blipFill>
          <a:blip r:embed="rId2"/>
          <a:stretch>
            <a:fillRect/>
          </a:stretch>
        </p:blipFill>
        <p:spPr>
          <a:xfrm>
            <a:off x="1868170" y="2635250"/>
            <a:ext cx="1252220" cy="1096010"/>
          </a:xfrm>
          <a:prstGeom prst="rect">
            <a:avLst/>
          </a:prstGeom>
          <a:noFill/>
          <a:ln w="9525">
            <a:noFill/>
          </a:ln>
        </p:spPr>
      </p:pic>
      <p:pic>
        <p:nvPicPr>
          <p:cNvPr id="11" name="图片 10"/>
          <p:cNvPicPr/>
          <p:nvPr>
            <p:custDataLst>
              <p:tags r:id="rId3"/>
            </p:custDataLst>
          </p:nvPr>
        </p:nvPicPr>
        <p:blipFill>
          <a:blip r:embed="rId4"/>
          <a:stretch>
            <a:fillRect/>
          </a:stretch>
        </p:blipFill>
        <p:spPr>
          <a:xfrm>
            <a:off x="1651000" y="5537835"/>
            <a:ext cx="982345" cy="909955"/>
          </a:xfrm>
          <a:prstGeom prst="rect">
            <a:avLst/>
          </a:prstGeom>
          <a:noFill/>
          <a:ln w="9525">
            <a:noFill/>
          </a:ln>
        </p:spPr>
      </p:pic>
      <p:sp>
        <p:nvSpPr>
          <p:cNvPr id="8" name="文本框 7"/>
          <p:cNvSpPr txBox="1"/>
          <p:nvPr>
            <p:custDataLst>
              <p:tags r:id="rId5"/>
            </p:custDataLst>
          </p:nvPr>
        </p:nvSpPr>
        <p:spPr>
          <a:xfrm>
            <a:off x="1637665" y="6423660"/>
            <a:ext cx="995045" cy="398780"/>
          </a:xfrm>
          <a:prstGeom prst="rect">
            <a:avLst/>
          </a:prstGeom>
          <a:noFill/>
        </p:spPr>
        <p:txBody>
          <a:bodyPr wrap="square" rtlCol="0">
            <a:spAutoFit/>
          </a:bodyPr>
          <a:p>
            <a:r>
              <a:rPr lang="en-US" altLang="zh-CN" sz="2000" b="1"/>
              <a:t> Server</a:t>
            </a:r>
            <a:endParaRPr lang="en-US" altLang="zh-CN" sz="2000" b="1"/>
          </a:p>
        </p:txBody>
      </p:sp>
      <p:sp>
        <p:nvSpPr>
          <p:cNvPr id="23" name="文本框 22"/>
          <p:cNvSpPr txBox="1"/>
          <p:nvPr>
            <p:custDataLst>
              <p:tags r:id="rId6"/>
            </p:custDataLst>
          </p:nvPr>
        </p:nvSpPr>
        <p:spPr>
          <a:xfrm>
            <a:off x="919480" y="2243455"/>
            <a:ext cx="2573020" cy="398780"/>
          </a:xfrm>
          <a:prstGeom prst="rect">
            <a:avLst/>
          </a:prstGeom>
          <a:noFill/>
        </p:spPr>
        <p:txBody>
          <a:bodyPr wrap="square" rtlCol="0">
            <a:spAutoFit/>
          </a:bodyPr>
          <a:p>
            <a:pPr algn="ctr"/>
            <a:r>
              <a:rPr lang="en-US" altLang="zh-CN" sz="2000" b="1"/>
              <a:t>Client</a:t>
            </a:r>
            <a:endParaRPr lang="en-US" altLang="zh-CN" sz="2000" b="1"/>
          </a:p>
        </p:txBody>
      </p:sp>
      <p:sp>
        <p:nvSpPr>
          <p:cNvPr id="26" name="矩形 25"/>
          <p:cNvSpPr/>
          <p:nvPr/>
        </p:nvSpPr>
        <p:spPr>
          <a:xfrm>
            <a:off x="6266180" y="2545080"/>
            <a:ext cx="5599430" cy="4079875"/>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p>
            <a:pPr algn="ctr"/>
            <a:endParaRPr lang="zh-CN" altLang="en-US"/>
          </a:p>
        </p:txBody>
      </p:sp>
      <p:sp>
        <p:nvSpPr>
          <p:cNvPr id="27" name="文本框 26"/>
          <p:cNvSpPr txBox="1"/>
          <p:nvPr>
            <p:custDataLst>
              <p:tags r:id="rId7"/>
            </p:custDataLst>
          </p:nvPr>
        </p:nvSpPr>
        <p:spPr>
          <a:xfrm>
            <a:off x="6837680" y="1757680"/>
            <a:ext cx="4297680" cy="706755"/>
          </a:xfrm>
          <a:prstGeom prst="rect">
            <a:avLst/>
          </a:prstGeom>
          <a:noFill/>
        </p:spPr>
        <p:txBody>
          <a:bodyPr wrap="square" rtlCol="0">
            <a:spAutoFit/>
          </a:bodyPr>
          <a:p>
            <a:pPr algn="ctr"/>
            <a:r>
              <a:rPr lang="en-US" altLang="zh-CN" sz="2000" b="1"/>
              <a:t>Kerberos </a:t>
            </a:r>
            <a:endParaRPr lang="en-US" altLang="zh-CN" sz="2000" b="1"/>
          </a:p>
          <a:p>
            <a:pPr algn="ctr"/>
            <a:r>
              <a:rPr lang="en-US" altLang="zh-CN" sz="2000" b="1"/>
              <a:t>Key Distribution Center</a:t>
            </a:r>
            <a:r>
              <a:rPr lang="zh-CN" altLang="en-US" sz="2000" b="1"/>
              <a:t>（</a:t>
            </a:r>
            <a:r>
              <a:rPr lang="en-US" altLang="zh-CN" sz="2000" b="1"/>
              <a:t>KDC</a:t>
            </a:r>
            <a:r>
              <a:rPr lang="zh-CN" altLang="en-US" sz="2000" b="1"/>
              <a:t>）</a:t>
            </a:r>
            <a:endParaRPr lang="zh-CN" altLang="en-US" sz="2000" b="1"/>
          </a:p>
        </p:txBody>
      </p:sp>
      <p:sp>
        <p:nvSpPr>
          <p:cNvPr id="30" name="圆角矩形 29"/>
          <p:cNvSpPr/>
          <p:nvPr/>
        </p:nvSpPr>
        <p:spPr>
          <a:xfrm>
            <a:off x="6814820" y="2710180"/>
            <a:ext cx="2289810" cy="13906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000" b="1">
                <a:sym typeface="+mn-ea"/>
              </a:rPr>
              <a:t>Authentication</a:t>
            </a:r>
            <a:endParaRPr lang="en-US" altLang="zh-CN" sz="2000" b="1"/>
          </a:p>
          <a:p>
            <a:pPr algn="ctr"/>
            <a:r>
              <a:rPr lang="en-US" altLang="zh-CN" sz="2000" b="1">
                <a:sym typeface="+mn-ea"/>
              </a:rPr>
              <a:t>Service</a:t>
            </a:r>
            <a:endParaRPr lang="en-US" altLang="zh-CN" sz="2000" b="1">
              <a:sym typeface="+mn-ea"/>
            </a:endParaRPr>
          </a:p>
        </p:txBody>
      </p:sp>
      <p:sp>
        <p:nvSpPr>
          <p:cNvPr id="31" name="圆角矩形 30"/>
          <p:cNvSpPr/>
          <p:nvPr>
            <p:custDataLst>
              <p:tags r:id="rId8"/>
            </p:custDataLst>
          </p:nvPr>
        </p:nvSpPr>
        <p:spPr>
          <a:xfrm>
            <a:off x="6833235" y="4876165"/>
            <a:ext cx="2290445" cy="132270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000" b="1">
                <a:sym typeface="+mn-ea"/>
              </a:rPr>
              <a:t>Ticket Granting</a:t>
            </a:r>
            <a:endParaRPr lang="en-US" altLang="zh-CN" sz="2000" b="1"/>
          </a:p>
          <a:p>
            <a:pPr algn="ctr"/>
            <a:r>
              <a:rPr lang="en-US" altLang="zh-CN" sz="2000" b="1">
                <a:sym typeface="+mn-ea"/>
              </a:rPr>
              <a:t>Service</a:t>
            </a:r>
            <a:r>
              <a:rPr lang="zh-CN" altLang="en-US" sz="2000" b="1">
                <a:sym typeface="+mn-ea"/>
              </a:rPr>
              <a:t>（</a:t>
            </a:r>
            <a:r>
              <a:rPr lang="en-US" altLang="zh-CN" sz="2000" b="1">
                <a:sym typeface="+mn-ea"/>
              </a:rPr>
              <a:t>TGS</a:t>
            </a:r>
            <a:r>
              <a:rPr lang="zh-CN" altLang="en-US" sz="2000" b="1">
                <a:sym typeface="+mn-ea"/>
              </a:rPr>
              <a:t>）</a:t>
            </a:r>
            <a:endParaRPr lang="zh-CN" altLang="en-US" sz="2000" b="1">
              <a:sym typeface="+mn-ea"/>
            </a:endParaRPr>
          </a:p>
        </p:txBody>
      </p:sp>
      <p:sp>
        <p:nvSpPr>
          <p:cNvPr id="3" name="文本框 2"/>
          <p:cNvSpPr txBox="1"/>
          <p:nvPr>
            <p:custDataLst>
              <p:tags r:id="rId9"/>
            </p:custDataLst>
          </p:nvPr>
        </p:nvSpPr>
        <p:spPr>
          <a:xfrm>
            <a:off x="3529965" y="2633980"/>
            <a:ext cx="2539365" cy="312420"/>
          </a:xfrm>
          <a:prstGeom prst="rect">
            <a:avLst/>
          </a:prstGeom>
          <a:noFill/>
        </p:spPr>
        <p:txBody>
          <a:bodyPr wrap="square" rtlCol="0">
            <a:noAutofit/>
          </a:bodyPr>
          <a:p>
            <a:pPr algn="ctr"/>
            <a:r>
              <a:rPr lang="en-US" altLang="zh-CN" sz="2000" b="1">
                <a:solidFill>
                  <a:schemeClr val="accent1"/>
                </a:solidFill>
                <a:effectLst>
                  <a:outerShdw blurRad="38100" dist="25400" dir="5400000" algn="ctr" rotWithShape="0">
                    <a:srgbClr val="6E747A">
                      <a:alpha val="43000"/>
                    </a:srgbClr>
                  </a:outerShdw>
                </a:effectLst>
              </a:rPr>
              <a:t>1-Client</a:t>
            </a:r>
            <a:r>
              <a:rPr lang="zh-CN" altLang="en-US" sz="2000" b="1">
                <a:solidFill>
                  <a:schemeClr val="accent1"/>
                </a:solidFill>
                <a:effectLst>
                  <a:outerShdw blurRad="38100" dist="25400" dir="5400000" algn="ctr" rotWithShape="0">
                    <a:srgbClr val="6E747A">
                      <a:alpha val="43000"/>
                    </a:srgbClr>
                  </a:outerShdw>
                </a:effectLst>
              </a:rPr>
              <a:t>认证</a:t>
            </a:r>
            <a:r>
              <a:rPr lang="zh-CN" altLang="en-US" sz="2000" b="1">
                <a:solidFill>
                  <a:schemeClr val="accent1"/>
                </a:solidFill>
                <a:effectLst>
                  <a:outerShdw blurRad="38100" dist="25400" dir="5400000" algn="ctr" rotWithShape="0">
                    <a:srgbClr val="6E747A">
                      <a:alpha val="43000"/>
                    </a:srgbClr>
                  </a:outerShdw>
                </a:effectLst>
              </a:rPr>
              <a:t>请求</a:t>
            </a:r>
            <a:endParaRPr lang="zh-CN" altLang="en-US" sz="2000" b="1">
              <a:solidFill>
                <a:schemeClr val="accent1"/>
              </a:solidFill>
              <a:effectLst>
                <a:outerShdw blurRad="38100" dist="25400" dir="5400000" algn="ctr" rotWithShape="0">
                  <a:srgbClr val="6E747A">
                    <a:alpha val="43000"/>
                  </a:srgbClr>
                </a:outerShdw>
              </a:effectLst>
            </a:endParaRPr>
          </a:p>
        </p:txBody>
      </p:sp>
      <p:sp>
        <p:nvSpPr>
          <p:cNvPr id="22" name="文本框 21"/>
          <p:cNvSpPr txBox="1"/>
          <p:nvPr>
            <p:custDataLst>
              <p:tags r:id="rId10"/>
            </p:custDataLst>
          </p:nvPr>
        </p:nvSpPr>
        <p:spPr>
          <a:xfrm>
            <a:off x="3232785" y="3068955"/>
            <a:ext cx="3246120" cy="341630"/>
          </a:xfrm>
          <a:prstGeom prst="rect">
            <a:avLst/>
          </a:prstGeom>
          <a:noFill/>
        </p:spPr>
        <p:txBody>
          <a:bodyPr wrap="square" rtlCol="0">
            <a:noAutofit/>
          </a:bodyPr>
          <a:p>
            <a:pPr algn="ctr"/>
            <a:r>
              <a:rPr lang="en-US" altLang="zh-CN" sz="2000" b="1">
                <a:solidFill>
                  <a:schemeClr val="accent1"/>
                </a:solidFill>
                <a:effectLst>
                  <a:outerShdw blurRad="38100" dist="25400" dir="5400000" algn="ctr" rotWithShape="0">
                    <a:srgbClr val="6E747A">
                      <a:alpha val="43000"/>
                    </a:srgbClr>
                  </a:outerShdw>
                </a:effectLst>
              </a:rPr>
              <a:t>2-Enc</a:t>
            </a:r>
            <a:r>
              <a:rPr lang="en-US" altLang="zh-CN" sz="1200" b="1">
                <a:solidFill>
                  <a:schemeClr val="accent1"/>
                </a:solidFill>
                <a:effectLst>
                  <a:outerShdw blurRad="38100" dist="25400" dir="5400000" algn="ctr" rotWithShape="0">
                    <a:srgbClr val="6E747A">
                      <a:alpha val="43000"/>
                    </a:srgbClr>
                  </a:outerShdw>
                </a:effectLst>
                <a:sym typeface="+mn-ea"/>
              </a:rPr>
              <a:t>Kc</a:t>
            </a:r>
            <a:r>
              <a:rPr lang="en-US" altLang="zh-CN" sz="2000" b="1">
                <a:solidFill>
                  <a:schemeClr val="accent1"/>
                </a:solidFill>
                <a:effectLst>
                  <a:outerShdw blurRad="38100" dist="25400" dir="5400000" algn="ctr" rotWithShape="0">
                    <a:srgbClr val="6E747A">
                      <a:alpha val="43000"/>
                    </a:srgbClr>
                  </a:outerShdw>
                </a:effectLst>
              </a:rPr>
              <a:t>{message}</a:t>
            </a:r>
            <a:r>
              <a:rPr lang="zh-CN" altLang="en-US" sz="2000" b="1">
                <a:solidFill>
                  <a:schemeClr val="accent1"/>
                </a:solidFill>
                <a:effectLst>
                  <a:outerShdw blurRad="38100" dist="25400" dir="5400000" algn="ctr" rotWithShape="0">
                    <a:srgbClr val="6E747A">
                      <a:alpha val="43000"/>
                    </a:srgbClr>
                  </a:outerShdw>
                </a:effectLst>
              </a:rPr>
              <a:t>，</a:t>
            </a:r>
            <a:r>
              <a:rPr lang="en-US" altLang="zh-CN" sz="2000" b="1">
                <a:solidFill>
                  <a:schemeClr val="accent1"/>
                </a:solidFill>
                <a:effectLst>
                  <a:outerShdw blurRad="38100" dist="25400" dir="5400000" algn="ctr" rotWithShape="0">
                    <a:srgbClr val="6E747A">
                      <a:alpha val="43000"/>
                    </a:srgbClr>
                  </a:outerShdw>
                </a:effectLst>
              </a:rPr>
              <a:t>Ticket Granting Ticket}</a:t>
            </a:r>
            <a:endParaRPr lang="en-US" altLang="zh-CN" sz="2000" b="1">
              <a:solidFill>
                <a:schemeClr val="accent1"/>
              </a:solidFill>
              <a:effectLst>
                <a:outerShdw blurRad="38100" dist="25400" dir="5400000" algn="ctr" rotWithShape="0">
                  <a:srgbClr val="6E747A">
                    <a:alpha val="43000"/>
                  </a:srgbClr>
                </a:outerShdw>
              </a:effectLst>
            </a:endParaRPr>
          </a:p>
        </p:txBody>
      </p:sp>
      <p:sp>
        <p:nvSpPr>
          <p:cNvPr id="25" name="文本框 24"/>
          <p:cNvSpPr txBox="1"/>
          <p:nvPr>
            <p:custDataLst>
              <p:tags r:id="rId11"/>
            </p:custDataLst>
          </p:nvPr>
        </p:nvSpPr>
        <p:spPr>
          <a:xfrm rot="1380000">
            <a:off x="3596640" y="4357370"/>
            <a:ext cx="2659380" cy="471170"/>
          </a:xfrm>
          <a:prstGeom prst="rect">
            <a:avLst/>
          </a:prstGeom>
          <a:noFill/>
        </p:spPr>
        <p:txBody>
          <a:bodyPr wrap="square" rtlCol="0">
            <a:noAutofit/>
          </a:bodyPr>
          <a:p>
            <a:pPr algn="ctr"/>
            <a:r>
              <a:rPr lang="en-US" altLang="zh-CN" sz="2000" b="1">
                <a:solidFill>
                  <a:schemeClr val="accent1"/>
                </a:solidFill>
                <a:effectLst>
                  <a:outerShdw blurRad="38100" dist="25400" dir="5400000" algn="ctr" rotWithShape="0">
                    <a:srgbClr val="6E747A">
                      <a:alpha val="43000"/>
                    </a:srgbClr>
                  </a:outerShdw>
                </a:effectLst>
              </a:rPr>
              <a:t>3-TGT</a:t>
            </a:r>
            <a:r>
              <a:rPr lang="zh-CN" altLang="en-US" sz="2000" b="1">
                <a:solidFill>
                  <a:schemeClr val="accent1"/>
                </a:solidFill>
                <a:effectLst>
                  <a:outerShdw blurRad="38100" dist="25400" dir="5400000" algn="ctr" rotWithShape="0">
                    <a:srgbClr val="6E747A">
                      <a:alpha val="43000"/>
                    </a:srgbClr>
                  </a:outerShdw>
                </a:effectLst>
              </a:rPr>
              <a:t>，</a:t>
            </a:r>
            <a:r>
              <a:rPr lang="en-US" altLang="zh-CN" sz="2000" b="1">
                <a:solidFill>
                  <a:schemeClr val="accent1"/>
                </a:solidFill>
                <a:effectLst>
                  <a:outerShdw blurRad="38100" dist="25400" dir="5400000" algn="ctr" rotWithShape="0">
                    <a:srgbClr val="6E747A">
                      <a:alpha val="43000"/>
                    </a:srgbClr>
                  </a:outerShdw>
                </a:effectLst>
              </a:rPr>
              <a:t>Req-Server</a:t>
            </a:r>
            <a:endParaRPr lang="en-US" altLang="zh-CN" sz="2000" b="1">
              <a:solidFill>
                <a:schemeClr val="accent1"/>
              </a:solidFill>
              <a:effectLst>
                <a:outerShdw blurRad="38100" dist="25400" dir="5400000" algn="ctr" rotWithShape="0">
                  <a:srgbClr val="6E747A">
                    <a:alpha val="43000"/>
                  </a:srgbClr>
                </a:outerShdw>
              </a:effectLst>
            </a:endParaRPr>
          </a:p>
        </p:txBody>
      </p:sp>
      <p:sp>
        <p:nvSpPr>
          <p:cNvPr id="32" name="文本框 31"/>
          <p:cNvSpPr txBox="1"/>
          <p:nvPr>
            <p:custDataLst>
              <p:tags r:id="rId12"/>
            </p:custDataLst>
          </p:nvPr>
        </p:nvSpPr>
        <p:spPr>
          <a:xfrm rot="1440000">
            <a:off x="3122930" y="4556125"/>
            <a:ext cx="2573020" cy="312420"/>
          </a:xfrm>
          <a:prstGeom prst="rect">
            <a:avLst/>
          </a:prstGeom>
          <a:noFill/>
        </p:spPr>
        <p:txBody>
          <a:bodyPr wrap="square" rtlCol="0">
            <a:noAutofit/>
          </a:bodyPr>
          <a:p>
            <a:pPr algn="ctr"/>
            <a:r>
              <a:rPr lang="en-US" altLang="zh-CN" sz="2000" b="1">
                <a:solidFill>
                  <a:schemeClr val="accent1"/>
                </a:solidFill>
                <a:effectLst>
                  <a:outerShdw blurRad="38100" dist="25400" dir="5400000" algn="ctr" rotWithShape="0">
                    <a:srgbClr val="6E747A">
                      <a:alpha val="43000"/>
                    </a:srgbClr>
                  </a:outerShdw>
                </a:effectLst>
              </a:rPr>
              <a:t>4-Session Ticket</a:t>
            </a:r>
            <a:endParaRPr lang="en-US" altLang="zh-CN" sz="2000" b="1">
              <a:solidFill>
                <a:schemeClr val="accent1"/>
              </a:solidFill>
              <a:effectLst>
                <a:outerShdw blurRad="38100" dist="25400" dir="5400000" algn="ctr" rotWithShape="0">
                  <a:srgbClr val="6E747A">
                    <a:alpha val="43000"/>
                  </a:srgbClr>
                </a:outerShdw>
              </a:effectLst>
            </a:endParaRPr>
          </a:p>
        </p:txBody>
      </p:sp>
      <p:sp>
        <p:nvSpPr>
          <p:cNvPr id="36" name="文本框 35"/>
          <p:cNvSpPr txBox="1"/>
          <p:nvPr/>
        </p:nvSpPr>
        <p:spPr>
          <a:xfrm>
            <a:off x="845185" y="4406265"/>
            <a:ext cx="1299210" cy="398780"/>
          </a:xfrm>
          <a:prstGeom prst="rect">
            <a:avLst/>
          </a:prstGeom>
          <a:noFill/>
        </p:spPr>
        <p:txBody>
          <a:bodyPr wrap="square" rtlCol="0" anchor="t">
            <a:spAutoFit/>
          </a:bodyPr>
          <a:p>
            <a:pPr algn="ctr"/>
            <a:r>
              <a:rPr lang="en-US" altLang="zh-CN" sz="2000" b="1">
                <a:solidFill>
                  <a:schemeClr val="accent1"/>
                </a:solidFill>
                <a:effectLst>
                  <a:outerShdw blurRad="38100" dist="25400" dir="5400000" algn="ctr" rotWithShape="0">
                    <a:srgbClr val="6E747A">
                      <a:alpha val="43000"/>
                    </a:srgbClr>
                  </a:outerShdw>
                </a:effectLst>
                <a:sym typeface="+mn-ea"/>
              </a:rPr>
              <a:t>5-S</a:t>
            </a:r>
            <a:r>
              <a:rPr lang="en-US" altLang="zh-CN" sz="2000" b="1">
                <a:solidFill>
                  <a:schemeClr val="accent1"/>
                </a:solidFill>
                <a:effectLst>
                  <a:outerShdw blurRad="38100" dist="25400" dir="5400000" algn="ctr" rotWithShape="0">
                    <a:srgbClr val="6E747A">
                      <a:alpha val="43000"/>
                    </a:srgbClr>
                  </a:outerShdw>
                </a:effectLst>
                <a:sym typeface="+mn-ea"/>
              </a:rPr>
              <a:t>T</a:t>
            </a:r>
            <a:endParaRPr lang="en-US" altLang="zh-CN" sz="2000" b="1">
              <a:solidFill>
                <a:schemeClr val="accent1"/>
              </a:solidFill>
              <a:effectLst>
                <a:outerShdw blurRad="38100" dist="25400" dir="5400000" algn="ctr" rotWithShape="0">
                  <a:srgbClr val="6E747A">
                    <a:alpha val="43000"/>
                  </a:srgbClr>
                </a:outerShdw>
              </a:effectLst>
              <a:sym typeface="+mn-ea"/>
            </a:endParaRPr>
          </a:p>
        </p:txBody>
      </p:sp>
      <p:sp>
        <p:nvSpPr>
          <p:cNvPr id="38" name="文本框 37"/>
          <p:cNvSpPr txBox="1"/>
          <p:nvPr>
            <p:custDataLst>
              <p:tags r:id="rId13"/>
            </p:custDataLst>
          </p:nvPr>
        </p:nvSpPr>
        <p:spPr>
          <a:xfrm>
            <a:off x="2105660" y="4648835"/>
            <a:ext cx="1208405" cy="398780"/>
          </a:xfrm>
          <a:prstGeom prst="rect">
            <a:avLst/>
          </a:prstGeom>
          <a:noFill/>
        </p:spPr>
        <p:txBody>
          <a:bodyPr wrap="square" rtlCol="0" anchor="t">
            <a:spAutoFit/>
          </a:bodyPr>
          <a:p>
            <a:pPr algn="ctr"/>
            <a:r>
              <a:rPr lang="en-US" altLang="zh-CN" sz="2000" b="1">
                <a:solidFill>
                  <a:schemeClr val="accent1"/>
                </a:solidFill>
                <a:effectLst>
                  <a:outerShdw blurRad="38100" dist="25400" dir="5400000" algn="ctr" rotWithShape="0">
                    <a:srgbClr val="6E747A">
                      <a:alpha val="43000"/>
                    </a:srgbClr>
                  </a:outerShdw>
                </a:effectLst>
                <a:sym typeface="+mn-ea"/>
              </a:rPr>
              <a:t>6-Service</a:t>
            </a:r>
            <a:endParaRPr lang="en-US" altLang="zh-CN" sz="2000" b="1">
              <a:solidFill>
                <a:schemeClr val="accent1"/>
              </a:solidFill>
              <a:effectLst>
                <a:outerShdw blurRad="38100" dist="25400" dir="5400000" algn="ctr" rotWithShape="0">
                  <a:srgbClr val="6E747A">
                    <a:alpha val="43000"/>
                  </a:srgbClr>
                </a:outerShdw>
              </a:effectLst>
              <a:sym typeface="+mn-ea"/>
            </a:endParaRPr>
          </a:p>
        </p:txBody>
      </p:sp>
      <p:cxnSp>
        <p:nvCxnSpPr>
          <p:cNvPr id="39" name="直接箭头连接符 38"/>
          <p:cNvCxnSpPr/>
          <p:nvPr/>
        </p:nvCxnSpPr>
        <p:spPr>
          <a:xfrm flipV="1">
            <a:off x="3120390" y="2661285"/>
            <a:ext cx="3666490" cy="1714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custDataLst>
              <p:tags r:id="rId14"/>
            </p:custDataLst>
          </p:nvPr>
        </p:nvCxnSpPr>
        <p:spPr>
          <a:xfrm flipH="1" flipV="1">
            <a:off x="3128010" y="3049270"/>
            <a:ext cx="3679190" cy="508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a:off x="2977515" y="3613150"/>
            <a:ext cx="3902710" cy="170878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custDataLst>
              <p:tags r:id="rId15"/>
            </p:custDataLst>
          </p:nvPr>
        </p:nvCxnSpPr>
        <p:spPr>
          <a:xfrm flipH="1" flipV="1">
            <a:off x="2548890" y="3813810"/>
            <a:ext cx="4333240" cy="186118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a:off x="2045970" y="3917315"/>
            <a:ext cx="2540" cy="144018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a:xfrm flipH="1" flipV="1">
            <a:off x="2179955" y="3893185"/>
            <a:ext cx="5715" cy="143002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aphicFrame>
        <p:nvGraphicFramePr>
          <p:cNvPr id="51" name="表格 50"/>
          <p:cNvGraphicFramePr/>
          <p:nvPr>
            <p:custDataLst>
              <p:tags r:id="rId16"/>
            </p:custDataLst>
          </p:nvPr>
        </p:nvGraphicFramePr>
        <p:xfrm>
          <a:off x="9714865" y="3740785"/>
          <a:ext cx="1952625" cy="1508760"/>
        </p:xfrm>
        <a:graphic>
          <a:graphicData uri="http://schemas.openxmlformats.org/drawingml/2006/table">
            <a:tbl>
              <a:tblPr firstRow="1" bandRow="1">
                <a:tableStyleId>{D113A9D2-9D6B-4929-AA2D-F23B5EE8CBE7}</a:tableStyleId>
              </a:tblPr>
              <a:tblGrid>
                <a:gridCol w="815340"/>
                <a:gridCol w="1137285"/>
              </a:tblGrid>
              <a:tr h="196850">
                <a:tc>
                  <a:txBody>
                    <a:bodyPr/>
                    <a:p>
                      <a:pPr>
                        <a:buNone/>
                      </a:pPr>
                      <a:r>
                        <a:rPr lang="en-US" altLang="zh-CN"/>
                        <a:t>Name</a:t>
                      </a:r>
                      <a:endParaRPr lang="en-US" altLang="zh-CN"/>
                    </a:p>
                  </a:txBody>
                  <a:tcPr/>
                </a:tc>
                <a:tc>
                  <a:txBody>
                    <a:bodyPr/>
                    <a:p>
                      <a:pPr>
                        <a:buNone/>
                      </a:pPr>
                      <a:r>
                        <a:rPr lang="en-US" altLang="zh-CN"/>
                        <a:t>Key</a:t>
                      </a:r>
                      <a:endParaRPr lang="en-US" altLang="zh-CN"/>
                    </a:p>
                  </a:txBody>
                  <a:tcPr/>
                </a:tc>
              </a:tr>
              <a:tr h="381000">
                <a:tc>
                  <a:txBody>
                    <a:bodyPr/>
                    <a:p>
                      <a:pPr>
                        <a:buNone/>
                      </a:pPr>
                      <a:r>
                        <a:rPr lang="en-US" altLang="zh-CN"/>
                        <a:t>Client</a:t>
                      </a:r>
                      <a:endParaRPr lang="en-US" altLang="zh-CN"/>
                    </a:p>
                  </a:txBody>
                  <a:tcPr/>
                </a:tc>
                <a:tc>
                  <a:txBody>
                    <a:bodyPr/>
                    <a:p>
                      <a:pPr>
                        <a:buNone/>
                      </a:pPr>
                      <a:r>
                        <a:rPr lang="en-US" altLang="zh-CN"/>
                        <a:t>Kc</a:t>
                      </a:r>
                      <a:endParaRPr lang="en-US" altLang="zh-CN"/>
                    </a:p>
                  </a:txBody>
                  <a:tcPr/>
                </a:tc>
              </a:tr>
              <a:tr h="381000">
                <a:tc>
                  <a:txBody>
                    <a:bodyPr/>
                    <a:p>
                      <a:pPr>
                        <a:buNone/>
                      </a:pPr>
                      <a:r>
                        <a:rPr lang="en-US" altLang="zh-CN"/>
                        <a:t>Server</a:t>
                      </a:r>
                      <a:endParaRPr lang="en-US" altLang="zh-CN"/>
                    </a:p>
                  </a:txBody>
                  <a:tcPr/>
                </a:tc>
                <a:tc>
                  <a:txBody>
                    <a:bodyPr/>
                    <a:p>
                      <a:pPr>
                        <a:buNone/>
                      </a:pPr>
                      <a:r>
                        <a:rPr lang="en-US" altLang="zh-CN"/>
                        <a:t>Ks</a:t>
                      </a:r>
                      <a:endParaRPr lang="en-US" altLang="zh-CN"/>
                    </a:p>
                  </a:txBody>
                  <a:tcPr/>
                </a:tc>
              </a:tr>
              <a:tr h="381000">
                <a:tc>
                  <a:txBody>
                    <a:bodyPr/>
                    <a:p>
                      <a:pPr>
                        <a:buNone/>
                      </a:pPr>
                      <a:r>
                        <a:rPr lang="en-US" altLang="zh-CN"/>
                        <a:t>...</a:t>
                      </a:r>
                      <a:endParaRPr lang="en-US" altLang="zh-CN"/>
                    </a:p>
                  </a:txBody>
                  <a:tcPr/>
                </a:tc>
                <a:tc>
                  <a:txBody>
                    <a:bodyPr/>
                    <a:p>
                      <a:pPr>
                        <a:buNone/>
                      </a:pPr>
                      <a:r>
                        <a:rPr lang="en-US" altLang="zh-CN"/>
                        <a:t>...</a:t>
                      </a:r>
                      <a:endParaRPr lang="en-US" altLang="zh-CN"/>
                    </a:p>
                  </a:txBody>
                  <a:tcPr/>
                </a:tc>
              </a:tr>
            </a:tbl>
          </a:graphicData>
        </a:graphic>
      </p:graphicFrame>
      <p:sp>
        <p:nvSpPr>
          <p:cNvPr id="53" name="矩形 52"/>
          <p:cNvSpPr/>
          <p:nvPr/>
        </p:nvSpPr>
        <p:spPr>
          <a:xfrm>
            <a:off x="1090930" y="2898140"/>
            <a:ext cx="614680" cy="715645"/>
          </a:xfrm>
          <a:prstGeom prst="rect">
            <a:avLst/>
          </a:prstGeom>
          <a:ln w="28575">
            <a:noFill/>
          </a:ln>
        </p:spPr>
        <p:style>
          <a:lnRef idx="2">
            <a:schemeClr val="dk1"/>
          </a:lnRef>
          <a:fillRef idx="1">
            <a:schemeClr val="lt1"/>
          </a:fillRef>
          <a:effectRef idx="0">
            <a:schemeClr val="dk1"/>
          </a:effectRef>
          <a:fontRef idx="minor">
            <a:schemeClr val="dk1"/>
          </a:fontRef>
        </p:style>
        <p:txBody>
          <a:bodyPr rtlCol="0" anchor="ctr"/>
          <a:p>
            <a:pPr algn="ctr"/>
            <a:r>
              <a:rPr lang="en-US" altLang="zh-CN" b="1"/>
              <a:t>Kc</a:t>
            </a:r>
            <a:endParaRPr lang="en-US" altLang="zh-CN" b="1"/>
          </a:p>
        </p:txBody>
      </p:sp>
      <p:sp>
        <p:nvSpPr>
          <p:cNvPr id="54" name="矩形 53"/>
          <p:cNvSpPr/>
          <p:nvPr>
            <p:custDataLst>
              <p:tags r:id="rId17"/>
            </p:custDataLst>
          </p:nvPr>
        </p:nvSpPr>
        <p:spPr>
          <a:xfrm>
            <a:off x="1036320" y="5397500"/>
            <a:ext cx="614680" cy="715645"/>
          </a:xfrm>
          <a:prstGeom prst="rect">
            <a:avLst/>
          </a:prstGeom>
          <a:ln w="28575">
            <a:noFill/>
          </a:ln>
        </p:spPr>
        <p:style>
          <a:lnRef idx="2">
            <a:schemeClr val="dk1"/>
          </a:lnRef>
          <a:fillRef idx="1">
            <a:schemeClr val="lt1"/>
          </a:fillRef>
          <a:effectRef idx="0">
            <a:schemeClr val="dk1"/>
          </a:effectRef>
          <a:fontRef idx="minor">
            <a:schemeClr val="dk1"/>
          </a:fontRef>
        </p:style>
        <p:txBody>
          <a:bodyPr rtlCol="0" anchor="ctr"/>
          <a:p>
            <a:pPr algn="ctr"/>
            <a:r>
              <a:rPr lang="en-US" altLang="zh-CN" b="1"/>
              <a:t>Ks</a:t>
            </a:r>
            <a:endParaRPr lang="en-US" altLang="zh-CN" b="1"/>
          </a:p>
        </p:txBody>
      </p:sp>
      <p:sp>
        <p:nvSpPr>
          <p:cNvPr id="6" name="剪去单角的矩形 5"/>
          <p:cNvSpPr/>
          <p:nvPr/>
        </p:nvSpPr>
        <p:spPr>
          <a:xfrm>
            <a:off x="9975215" y="1519555"/>
            <a:ext cx="2078355" cy="1743710"/>
          </a:xfrm>
          <a:prstGeom prst="snip1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t>为什么</a:t>
            </a:r>
            <a:r>
              <a:rPr lang="en-US" altLang="zh-CN" b="1"/>
              <a:t>KDC</a:t>
            </a:r>
            <a:r>
              <a:rPr lang="zh-CN" altLang="en-US" b="1"/>
              <a:t>需要分为</a:t>
            </a:r>
            <a:r>
              <a:rPr lang="zh-CN" altLang="en-US" b="1">
                <a:solidFill>
                  <a:srgbClr val="FF0000"/>
                </a:solidFill>
              </a:rPr>
              <a:t>两个服务</a:t>
            </a:r>
            <a:r>
              <a:rPr lang="zh-CN" altLang="en-US" b="1"/>
              <a:t>并颁发两种</a:t>
            </a:r>
            <a:r>
              <a:rPr lang="en-US" altLang="zh-CN" b="1"/>
              <a:t>Ticket</a:t>
            </a:r>
            <a:r>
              <a:rPr lang="zh-CN" altLang="en-US" b="1"/>
              <a:t>：</a:t>
            </a:r>
            <a:r>
              <a:rPr lang="en-US" altLang="zh-CN" b="1">
                <a:solidFill>
                  <a:srgbClr val="FF0000"/>
                </a:solidFill>
              </a:rPr>
              <a:t>TGT</a:t>
            </a:r>
            <a:r>
              <a:rPr lang="zh-CN" altLang="en-US" b="1"/>
              <a:t>和</a:t>
            </a:r>
            <a:r>
              <a:rPr lang="en-US" altLang="zh-CN" b="1">
                <a:solidFill>
                  <a:srgbClr val="FF0000"/>
                </a:solidFill>
              </a:rPr>
              <a:t>ST</a:t>
            </a:r>
            <a:r>
              <a:rPr lang="zh-CN" altLang="en-US" b="1"/>
              <a:t>？</a:t>
            </a:r>
            <a:endParaRPr lang="zh-CN" altLang="en-US" b="1"/>
          </a:p>
        </p:txBody>
      </p:sp>
      <p:sp>
        <p:nvSpPr>
          <p:cNvPr id="7" name="圆角矩形 6"/>
          <p:cNvSpPr/>
          <p:nvPr/>
        </p:nvSpPr>
        <p:spPr>
          <a:xfrm>
            <a:off x="6941820" y="2837180"/>
            <a:ext cx="2289810" cy="139065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r>
              <a:rPr lang="en-US" altLang="zh-CN" sz="2000" b="1">
                <a:sym typeface="+mn-ea"/>
              </a:rPr>
              <a:t>Authentication</a:t>
            </a:r>
            <a:endParaRPr lang="en-US" altLang="zh-CN" sz="2000" b="1"/>
          </a:p>
          <a:p>
            <a:pPr algn="ctr"/>
            <a:r>
              <a:rPr lang="en-US" altLang="zh-CN" sz="2000" b="1">
                <a:sym typeface="+mn-ea"/>
              </a:rPr>
              <a:t>Service</a:t>
            </a:r>
            <a:endParaRPr lang="en-US" altLang="zh-CN" sz="2000" b="1">
              <a:sym typeface="+mn-ea"/>
            </a:endParaRPr>
          </a:p>
        </p:txBody>
      </p:sp>
      <p:sp>
        <p:nvSpPr>
          <p:cNvPr id="12" name="圆角矩形 11"/>
          <p:cNvSpPr/>
          <p:nvPr/>
        </p:nvSpPr>
        <p:spPr>
          <a:xfrm>
            <a:off x="6960235" y="5003165"/>
            <a:ext cx="2290445" cy="1322705"/>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r>
              <a:rPr lang="en-US" altLang="zh-CN" sz="2000" b="1">
                <a:sym typeface="+mn-ea"/>
              </a:rPr>
              <a:t>Ticket Granting</a:t>
            </a:r>
            <a:endParaRPr lang="en-US" altLang="zh-CN" sz="2000" b="1"/>
          </a:p>
          <a:p>
            <a:pPr algn="ctr"/>
            <a:r>
              <a:rPr lang="en-US" altLang="zh-CN" sz="2000" b="1">
                <a:sym typeface="+mn-ea"/>
              </a:rPr>
              <a:t>Service</a:t>
            </a:r>
            <a:r>
              <a:rPr lang="zh-CN" altLang="en-US" sz="2000" b="1">
                <a:sym typeface="+mn-ea"/>
              </a:rPr>
              <a:t>（</a:t>
            </a:r>
            <a:r>
              <a:rPr lang="en-US" altLang="zh-CN" sz="2000" b="1">
                <a:sym typeface="+mn-ea"/>
              </a:rPr>
              <a:t>TGS</a:t>
            </a:r>
            <a:r>
              <a:rPr lang="zh-CN" altLang="en-US" sz="2000" b="1">
                <a:sym typeface="+mn-ea"/>
              </a:rPr>
              <a:t>）</a:t>
            </a:r>
            <a:endParaRPr lang="zh-CN" altLang="en-US" sz="2000" b="1">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2827"/>
    </mc:Choice>
    <mc:Fallback>
      <p:transition spd="slow" advTm="282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anim calcmode="lin" valueType="num">
                                      <p:cBhvr additive="base">
                                        <p:cTn id="13" dur="500" fill="hold"/>
                                        <p:tgtEl>
                                          <p:spTgt spid="12"/>
                                        </p:tgtEl>
                                        <p:attrNameLst>
                                          <p:attrName>ppt_x</p:attrName>
                                        </p:attrNameLst>
                                      </p:cBhvr>
                                      <p:tavLst>
                                        <p:tav tm="0">
                                          <p:val>
                                            <p:strVal val="#ppt_x"/>
                                          </p:val>
                                        </p:tav>
                                        <p:tav tm="100000">
                                          <p:val>
                                            <p:strVal val="#ppt_x"/>
                                          </p:val>
                                        </p:tav>
                                      </p:tavLst>
                                    </p:anim>
                                    <p:anim calcmode="lin" valueType="num">
                                      <p:cBhvr additive="base">
                                        <p:cTn id="14"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0" animBg="1"/>
      <p:bldP spid="7" grpId="1" animBg="1"/>
      <p:bldP spid="12" grpId="0" bldLvl="0" animBg="1"/>
      <p:bldP spid="12" grpId="1" animBg="1"/>
      <p:bldP spid="6" grpId="0" bldLvl="0" animBg="1"/>
      <p:bldP spid="6" grpId="1"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p:nvPr>
            <p:ph idx="1"/>
          </p:nvPr>
        </p:nvSpPr>
        <p:spPr/>
        <p:txBody>
          <a:bodyPr/>
          <a:p>
            <a:r>
              <a:rPr lang="en-US" altLang="zh-CN" dirty="0" smtClean="0">
                <a:sym typeface="+mn-ea"/>
              </a:rPr>
              <a:t>Kerberos</a:t>
            </a:r>
            <a:r>
              <a:rPr lang="zh-CN" altLang="en-US" dirty="0" smtClean="0">
                <a:sym typeface="+mn-ea"/>
              </a:rPr>
              <a:t>协议</a:t>
            </a:r>
            <a:r>
              <a:rPr lang="zh-CN" altLang="en-US" dirty="0" smtClean="0">
                <a:sym typeface="+mn-ea"/>
              </a:rPr>
              <a:t>简化流程</a:t>
            </a:r>
            <a:endParaRPr lang="zh-CN" altLang="en-US" dirty="0" smtClean="0">
              <a:sym typeface="+mn-ea"/>
            </a:endParaRPr>
          </a:p>
        </p:txBody>
      </p:sp>
      <p:sp>
        <p:nvSpPr>
          <p:cNvPr id="2" name="标题 1"/>
          <p:cNvSpPr>
            <a:spLocks noGrp="1"/>
          </p:cNvSpPr>
          <p:nvPr>
            <p:ph type="title"/>
          </p:nvPr>
        </p:nvSpPr>
        <p:spPr/>
        <p:txBody>
          <a:bodyPr>
            <a:normAutofit fontScale="90000"/>
          </a:bodyPr>
          <a:lstStyle/>
          <a:p>
            <a:r>
              <a:rPr lang="en-US" altLang="zh-CN" dirty="0">
                <a:sym typeface="+mn-ea"/>
              </a:rPr>
              <a:t>16.4 </a:t>
            </a:r>
            <a:r>
              <a:rPr lang="en-US" altLang="zh-CN" dirty="0"/>
              <a:t>Kerberos</a:t>
            </a:r>
            <a:r>
              <a:rPr lang="zh-CN" altLang="en-US" dirty="0"/>
              <a:t>的</a:t>
            </a:r>
            <a:r>
              <a:rPr lang="zh-CN" altLang="en-US" dirty="0"/>
              <a:t>原理</a:t>
            </a:r>
            <a:endParaRPr lang="zh-CN" altLang="en-US" dirty="0"/>
          </a:p>
        </p:txBody>
      </p:sp>
      <p:sp>
        <p:nvSpPr>
          <p:cNvPr id="4" name="灯片编号占位符 3"/>
          <p:cNvSpPr>
            <a:spLocks noGrp="1"/>
          </p:cNvSpPr>
          <p:nvPr>
            <p:ph type="sldNum" sz="quarter" idx="12"/>
          </p:nvPr>
        </p:nvSpPr>
        <p:spPr/>
        <p:txBody>
          <a:bodyPr/>
          <a:lstStyle/>
          <a:p>
            <a:pPr>
              <a:defRPr/>
            </a:pPr>
            <a:fld id="{B42B4293-9377-4872-955B-7EAEC82CC678}" type="slidenum">
              <a:rPr lang="en-US" altLang="zh-CN" smtClean="0"/>
            </a:fld>
            <a:endParaRPr lang="en-US" altLang="zh-CN" dirty="0"/>
          </a:p>
        </p:txBody>
      </p:sp>
      <p:pic>
        <p:nvPicPr>
          <p:cNvPr id="10" name="图片 9"/>
          <p:cNvPicPr/>
          <p:nvPr>
            <p:custDataLst>
              <p:tags r:id="rId1"/>
            </p:custDataLst>
          </p:nvPr>
        </p:nvPicPr>
        <p:blipFill>
          <a:blip r:embed="rId2"/>
          <a:stretch>
            <a:fillRect/>
          </a:stretch>
        </p:blipFill>
        <p:spPr>
          <a:xfrm>
            <a:off x="1868170" y="2635250"/>
            <a:ext cx="1252220" cy="1096010"/>
          </a:xfrm>
          <a:prstGeom prst="rect">
            <a:avLst/>
          </a:prstGeom>
          <a:noFill/>
          <a:ln w="9525">
            <a:noFill/>
          </a:ln>
        </p:spPr>
      </p:pic>
      <p:pic>
        <p:nvPicPr>
          <p:cNvPr id="11" name="图片 10"/>
          <p:cNvPicPr/>
          <p:nvPr>
            <p:custDataLst>
              <p:tags r:id="rId3"/>
            </p:custDataLst>
          </p:nvPr>
        </p:nvPicPr>
        <p:blipFill>
          <a:blip r:embed="rId4"/>
          <a:stretch>
            <a:fillRect/>
          </a:stretch>
        </p:blipFill>
        <p:spPr>
          <a:xfrm>
            <a:off x="1651000" y="5537835"/>
            <a:ext cx="982345" cy="909955"/>
          </a:xfrm>
          <a:prstGeom prst="rect">
            <a:avLst/>
          </a:prstGeom>
          <a:noFill/>
          <a:ln w="9525">
            <a:noFill/>
          </a:ln>
        </p:spPr>
      </p:pic>
      <p:sp>
        <p:nvSpPr>
          <p:cNvPr id="8" name="文本框 7"/>
          <p:cNvSpPr txBox="1"/>
          <p:nvPr>
            <p:custDataLst>
              <p:tags r:id="rId5"/>
            </p:custDataLst>
          </p:nvPr>
        </p:nvSpPr>
        <p:spPr>
          <a:xfrm>
            <a:off x="1637665" y="6423660"/>
            <a:ext cx="995045" cy="398780"/>
          </a:xfrm>
          <a:prstGeom prst="rect">
            <a:avLst/>
          </a:prstGeom>
          <a:noFill/>
        </p:spPr>
        <p:txBody>
          <a:bodyPr wrap="square" rtlCol="0">
            <a:spAutoFit/>
          </a:bodyPr>
          <a:p>
            <a:r>
              <a:rPr lang="en-US" altLang="zh-CN" sz="2000" b="1"/>
              <a:t> Server</a:t>
            </a:r>
            <a:endParaRPr lang="en-US" altLang="zh-CN" sz="2000" b="1"/>
          </a:p>
        </p:txBody>
      </p:sp>
      <p:sp>
        <p:nvSpPr>
          <p:cNvPr id="23" name="文本框 22"/>
          <p:cNvSpPr txBox="1"/>
          <p:nvPr>
            <p:custDataLst>
              <p:tags r:id="rId6"/>
            </p:custDataLst>
          </p:nvPr>
        </p:nvSpPr>
        <p:spPr>
          <a:xfrm>
            <a:off x="919480" y="2243455"/>
            <a:ext cx="2573020" cy="398780"/>
          </a:xfrm>
          <a:prstGeom prst="rect">
            <a:avLst/>
          </a:prstGeom>
          <a:noFill/>
        </p:spPr>
        <p:txBody>
          <a:bodyPr wrap="square" rtlCol="0">
            <a:spAutoFit/>
          </a:bodyPr>
          <a:p>
            <a:pPr algn="ctr"/>
            <a:r>
              <a:rPr lang="en-US" altLang="zh-CN" sz="2000" b="1"/>
              <a:t>Client</a:t>
            </a:r>
            <a:endParaRPr lang="en-US" altLang="zh-CN" sz="2000" b="1"/>
          </a:p>
        </p:txBody>
      </p:sp>
      <p:sp>
        <p:nvSpPr>
          <p:cNvPr id="26" name="矩形 25"/>
          <p:cNvSpPr/>
          <p:nvPr/>
        </p:nvSpPr>
        <p:spPr>
          <a:xfrm>
            <a:off x="6266180" y="2545080"/>
            <a:ext cx="5599430" cy="4079875"/>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p>
            <a:pPr algn="ctr"/>
            <a:endParaRPr lang="zh-CN" altLang="en-US"/>
          </a:p>
        </p:txBody>
      </p:sp>
      <p:sp>
        <p:nvSpPr>
          <p:cNvPr id="27" name="文本框 26"/>
          <p:cNvSpPr txBox="1"/>
          <p:nvPr>
            <p:custDataLst>
              <p:tags r:id="rId7"/>
            </p:custDataLst>
          </p:nvPr>
        </p:nvSpPr>
        <p:spPr>
          <a:xfrm>
            <a:off x="6837680" y="1757680"/>
            <a:ext cx="4297680" cy="706755"/>
          </a:xfrm>
          <a:prstGeom prst="rect">
            <a:avLst/>
          </a:prstGeom>
          <a:noFill/>
        </p:spPr>
        <p:txBody>
          <a:bodyPr wrap="square" rtlCol="0">
            <a:spAutoFit/>
          </a:bodyPr>
          <a:p>
            <a:pPr algn="ctr"/>
            <a:r>
              <a:rPr lang="en-US" altLang="zh-CN" sz="2000" b="1"/>
              <a:t>Kerberos </a:t>
            </a:r>
            <a:endParaRPr lang="en-US" altLang="zh-CN" sz="2000" b="1"/>
          </a:p>
          <a:p>
            <a:pPr algn="ctr"/>
            <a:r>
              <a:rPr lang="en-US" altLang="zh-CN" sz="2000" b="1"/>
              <a:t>Key Distribution Center</a:t>
            </a:r>
            <a:r>
              <a:rPr lang="zh-CN" altLang="en-US" sz="2000" b="1"/>
              <a:t>（</a:t>
            </a:r>
            <a:r>
              <a:rPr lang="en-US" altLang="zh-CN" sz="2000" b="1"/>
              <a:t>KDC</a:t>
            </a:r>
            <a:r>
              <a:rPr lang="zh-CN" altLang="en-US" sz="2000" b="1"/>
              <a:t>）</a:t>
            </a:r>
            <a:endParaRPr lang="zh-CN" altLang="en-US" sz="2000" b="1"/>
          </a:p>
        </p:txBody>
      </p:sp>
      <p:sp>
        <p:nvSpPr>
          <p:cNvPr id="30" name="圆角矩形 29"/>
          <p:cNvSpPr/>
          <p:nvPr/>
        </p:nvSpPr>
        <p:spPr>
          <a:xfrm>
            <a:off x="6814820" y="2710180"/>
            <a:ext cx="2289810" cy="139065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r>
              <a:rPr lang="en-US" altLang="zh-CN" sz="2000" b="1">
                <a:sym typeface="+mn-ea"/>
              </a:rPr>
              <a:t>Authentication</a:t>
            </a:r>
            <a:endParaRPr lang="en-US" altLang="zh-CN" sz="2000" b="1"/>
          </a:p>
          <a:p>
            <a:pPr algn="ctr"/>
            <a:r>
              <a:rPr lang="en-US" altLang="zh-CN" sz="2000" b="1">
                <a:sym typeface="+mn-ea"/>
              </a:rPr>
              <a:t>Service</a:t>
            </a:r>
            <a:endParaRPr lang="en-US" altLang="zh-CN" sz="2000" b="1">
              <a:sym typeface="+mn-ea"/>
            </a:endParaRPr>
          </a:p>
        </p:txBody>
      </p:sp>
      <p:sp>
        <p:nvSpPr>
          <p:cNvPr id="31" name="圆角矩形 30"/>
          <p:cNvSpPr/>
          <p:nvPr>
            <p:custDataLst>
              <p:tags r:id="rId8"/>
            </p:custDataLst>
          </p:nvPr>
        </p:nvSpPr>
        <p:spPr>
          <a:xfrm>
            <a:off x="6833235" y="4876165"/>
            <a:ext cx="2290445" cy="1322705"/>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ctr"/>
            <a:r>
              <a:rPr lang="en-US" altLang="zh-CN" sz="2000" b="1">
                <a:sym typeface="+mn-ea"/>
              </a:rPr>
              <a:t>Ticket Granting</a:t>
            </a:r>
            <a:endParaRPr lang="en-US" altLang="zh-CN" sz="2000" b="1"/>
          </a:p>
          <a:p>
            <a:pPr algn="ctr"/>
            <a:r>
              <a:rPr lang="en-US" altLang="zh-CN" sz="2000" b="1">
                <a:sym typeface="+mn-ea"/>
              </a:rPr>
              <a:t>Service</a:t>
            </a:r>
            <a:r>
              <a:rPr lang="zh-CN" altLang="en-US" sz="2000" b="1">
                <a:sym typeface="+mn-ea"/>
              </a:rPr>
              <a:t>（</a:t>
            </a:r>
            <a:r>
              <a:rPr lang="en-US" altLang="zh-CN" sz="2000" b="1">
                <a:sym typeface="+mn-ea"/>
              </a:rPr>
              <a:t>TGS</a:t>
            </a:r>
            <a:r>
              <a:rPr lang="zh-CN" altLang="en-US" sz="2000" b="1">
                <a:sym typeface="+mn-ea"/>
              </a:rPr>
              <a:t>）</a:t>
            </a:r>
            <a:endParaRPr lang="zh-CN" altLang="en-US" sz="2000" b="1">
              <a:sym typeface="+mn-ea"/>
            </a:endParaRPr>
          </a:p>
        </p:txBody>
      </p:sp>
      <p:sp>
        <p:nvSpPr>
          <p:cNvPr id="3" name="文本框 2"/>
          <p:cNvSpPr txBox="1"/>
          <p:nvPr>
            <p:custDataLst>
              <p:tags r:id="rId9"/>
            </p:custDataLst>
          </p:nvPr>
        </p:nvSpPr>
        <p:spPr>
          <a:xfrm>
            <a:off x="3529965" y="2633980"/>
            <a:ext cx="2539365" cy="312420"/>
          </a:xfrm>
          <a:prstGeom prst="rect">
            <a:avLst/>
          </a:prstGeom>
          <a:noFill/>
        </p:spPr>
        <p:txBody>
          <a:bodyPr wrap="square" rtlCol="0">
            <a:noAutofit/>
          </a:bodyPr>
          <a:p>
            <a:pPr algn="ctr"/>
            <a:r>
              <a:rPr lang="en-US" altLang="zh-CN" sz="2000" b="1">
                <a:solidFill>
                  <a:schemeClr val="accent1"/>
                </a:solidFill>
                <a:effectLst>
                  <a:outerShdw blurRad="38100" dist="25400" dir="5400000" algn="ctr" rotWithShape="0">
                    <a:srgbClr val="6E747A">
                      <a:alpha val="43000"/>
                    </a:srgbClr>
                  </a:outerShdw>
                </a:effectLst>
              </a:rPr>
              <a:t>1-Client</a:t>
            </a:r>
            <a:r>
              <a:rPr lang="zh-CN" altLang="en-US" sz="2000" b="1">
                <a:solidFill>
                  <a:schemeClr val="accent1"/>
                </a:solidFill>
                <a:effectLst>
                  <a:outerShdw blurRad="38100" dist="25400" dir="5400000" algn="ctr" rotWithShape="0">
                    <a:srgbClr val="6E747A">
                      <a:alpha val="43000"/>
                    </a:srgbClr>
                  </a:outerShdw>
                </a:effectLst>
              </a:rPr>
              <a:t>认证</a:t>
            </a:r>
            <a:r>
              <a:rPr lang="zh-CN" altLang="en-US" sz="2000" b="1">
                <a:solidFill>
                  <a:schemeClr val="accent1"/>
                </a:solidFill>
                <a:effectLst>
                  <a:outerShdw blurRad="38100" dist="25400" dir="5400000" algn="ctr" rotWithShape="0">
                    <a:srgbClr val="6E747A">
                      <a:alpha val="43000"/>
                    </a:srgbClr>
                  </a:outerShdw>
                </a:effectLst>
              </a:rPr>
              <a:t>请求</a:t>
            </a:r>
            <a:endParaRPr lang="zh-CN" altLang="en-US" sz="2000" b="1">
              <a:solidFill>
                <a:schemeClr val="accent1"/>
              </a:solidFill>
              <a:effectLst>
                <a:outerShdw blurRad="38100" dist="25400" dir="5400000" algn="ctr" rotWithShape="0">
                  <a:srgbClr val="6E747A">
                    <a:alpha val="43000"/>
                  </a:srgbClr>
                </a:outerShdw>
              </a:effectLst>
            </a:endParaRPr>
          </a:p>
        </p:txBody>
      </p:sp>
      <p:sp>
        <p:nvSpPr>
          <p:cNvPr id="22" name="文本框 21"/>
          <p:cNvSpPr txBox="1"/>
          <p:nvPr>
            <p:custDataLst>
              <p:tags r:id="rId10"/>
            </p:custDataLst>
          </p:nvPr>
        </p:nvSpPr>
        <p:spPr>
          <a:xfrm>
            <a:off x="3232785" y="3068955"/>
            <a:ext cx="3246120" cy="341630"/>
          </a:xfrm>
          <a:prstGeom prst="rect">
            <a:avLst/>
          </a:prstGeom>
          <a:noFill/>
        </p:spPr>
        <p:txBody>
          <a:bodyPr wrap="square" rtlCol="0">
            <a:noAutofit/>
          </a:bodyPr>
          <a:p>
            <a:pPr algn="ctr"/>
            <a:r>
              <a:rPr lang="en-US" altLang="zh-CN" sz="2000" b="1">
                <a:solidFill>
                  <a:schemeClr val="accent1"/>
                </a:solidFill>
                <a:effectLst>
                  <a:outerShdw blurRad="38100" dist="25400" dir="5400000" algn="ctr" rotWithShape="0">
                    <a:srgbClr val="6E747A">
                      <a:alpha val="43000"/>
                    </a:srgbClr>
                  </a:outerShdw>
                </a:effectLst>
              </a:rPr>
              <a:t>2-</a:t>
            </a:r>
            <a:r>
              <a:rPr lang="en-US" altLang="zh-CN" sz="2000" b="1">
                <a:solidFill>
                  <a:schemeClr val="accent1"/>
                </a:solidFill>
                <a:effectLst>
                  <a:outerShdw blurRad="38100" dist="25400" dir="5400000" algn="ctr" rotWithShape="0">
                    <a:srgbClr val="6E747A">
                      <a:alpha val="43000"/>
                    </a:srgbClr>
                  </a:outerShdw>
                </a:effectLst>
                <a:sym typeface="+mn-ea"/>
              </a:rPr>
              <a:t>Enc</a:t>
            </a:r>
            <a:r>
              <a:rPr lang="en-US" altLang="zh-CN" sz="1400" b="1">
                <a:solidFill>
                  <a:srgbClr val="FF0000"/>
                </a:solidFill>
                <a:effectLst>
                  <a:outerShdw blurRad="38100" dist="25400" dir="5400000" algn="ctr" rotWithShape="0">
                    <a:srgbClr val="6E747A">
                      <a:alpha val="43000"/>
                    </a:srgbClr>
                  </a:outerShdw>
                </a:effectLst>
                <a:sym typeface="+mn-ea"/>
              </a:rPr>
              <a:t>Kc</a:t>
            </a:r>
            <a:r>
              <a:rPr lang="en-US" altLang="zh-CN" sz="2000" b="1">
                <a:solidFill>
                  <a:schemeClr val="accent1"/>
                </a:solidFill>
                <a:effectLst>
                  <a:outerShdw blurRad="38100" dist="25400" dir="5400000" algn="ctr" rotWithShape="0">
                    <a:srgbClr val="6E747A">
                      <a:alpha val="43000"/>
                    </a:srgbClr>
                  </a:outerShdw>
                </a:effectLst>
                <a:sym typeface="+mn-ea"/>
              </a:rPr>
              <a:t>{message}</a:t>
            </a:r>
            <a:r>
              <a:rPr lang="zh-CN" altLang="en-US" sz="2000" b="1">
                <a:solidFill>
                  <a:schemeClr val="accent1"/>
                </a:solidFill>
                <a:effectLst>
                  <a:outerShdw blurRad="38100" dist="25400" dir="5400000" algn="ctr" rotWithShape="0">
                    <a:srgbClr val="6E747A">
                      <a:alpha val="43000"/>
                    </a:srgbClr>
                  </a:outerShdw>
                </a:effectLst>
                <a:sym typeface="+mn-ea"/>
              </a:rPr>
              <a:t>，</a:t>
            </a:r>
            <a:r>
              <a:rPr lang="en-US" altLang="zh-CN" sz="2000" b="1">
                <a:solidFill>
                  <a:schemeClr val="accent1"/>
                </a:solidFill>
                <a:effectLst>
                  <a:outerShdw blurRad="38100" dist="25400" dir="5400000" algn="ctr" rotWithShape="0">
                    <a:srgbClr val="6E747A">
                      <a:alpha val="43000"/>
                    </a:srgbClr>
                  </a:outerShdw>
                </a:effectLst>
                <a:sym typeface="+mn-ea"/>
              </a:rPr>
              <a:t>Ticket Granting Ticket}</a:t>
            </a:r>
            <a:endParaRPr lang="en-US" altLang="zh-CN" sz="2000" b="1">
              <a:solidFill>
                <a:schemeClr val="accent1"/>
              </a:solidFill>
              <a:effectLst>
                <a:outerShdw blurRad="38100" dist="25400" dir="5400000" algn="ctr" rotWithShape="0">
                  <a:srgbClr val="6E747A">
                    <a:alpha val="43000"/>
                  </a:srgbClr>
                </a:outerShdw>
              </a:effectLst>
            </a:endParaRPr>
          </a:p>
        </p:txBody>
      </p:sp>
      <p:sp>
        <p:nvSpPr>
          <p:cNvPr id="25" name="文本框 24"/>
          <p:cNvSpPr txBox="1"/>
          <p:nvPr>
            <p:custDataLst>
              <p:tags r:id="rId11"/>
            </p:custDataLst>
          </p:nvPr>
        </p:nvSpPr>
        <p:spPr>
          <a:xfrm rot="1380000">
            <a:off x="3596640" y="4357370"/>
            <a:ext cx="2659380" cy="471170"/>
          </a:xfrm>
          <a:prstGeom prst="rect">
            <a:avLst/>
          </a:prstGeom>
          <a:noFill/>
        </p:spPr>
        <p:txBody>
          <a:bodyPr wrap="square" rtlCol="0">
            <a:noAutofit/>
          </a:bodyPr>
          <a:p>
            <a:pPr algn="ctr"/>
            <a:r>
              <a:rPr lang="en-US" altLang="zh-CN" sz="2000" b="1">
                <a:solidFill>
                  <a:schemeClr val="accent1"/>
                </a:solidFill>
                <a:effectLst>
                  <a:outerShdw blurRad="38100" dist="25400" dir="5400000" algn="ctr" rotWithShape="0">
                    <a:srgbClr val="6E747A">
                      <a:alpha val="43000"/>
                    </a:srgbClr>
                  </a:outerShdw>
                </a:effectLst>
              </a:rPr>
              <a:t>3-TGT</a:t>
            </a:r>
            <a:r>
              <a:rPr lang="zh-CN" altLang="en-US" sz="2000" b="1">
                <a:solidFill>
                  <a:schemeClr val="accent1"/>
                </a:solidFill>
                <a:effectLst>
                  <a:outerShdw blurRad="38100" dist="25400" dir="5400000" algn="ctr" rotWithShape="0">
                    <a:srgbClr val="6E747A">
                      <a:alpha val="43000"/>
                    </a:srgbClr>
                  </a:outerShdw>
                </a:effectLst>
              </a:rPr>
              <a:t>，</a:t>
            </a:r>
            <a:r>
              <a:rPr lang="en-US" altLang="zh-CN" sz="2000" b="1">
                <a:solidFill>
                  <a:schemeClr val="accent1"/>
                </a:solidFill>
                <a:effectLst>
                  <a:outerShdw blurRad="38100" dist="25400" dir="5400000" algn="ctr" rotWithShape="0">
                    <a:srgbClr val="6E747A">
                      <a:alpha val="43000"/>
                    </a:srgbClr>
                  </a:outerShdw>
                </a:effectLst>
              </a:rPr>
              <a:t>Req-Server</a:t>
            </a:r>
            <a:endParaRPr lang="en-US" altLang="zh-CN" sz="2000" b="1">
              <a:solidFill>
                <a:schemeClr val="accent1"/>
              </a:solidFill>
              <a:effectLst>
                <a:outerShdw blurRad="38100" dist="25400" dir="5400000" algn="ctr" rotWithShape="0">
                  <a:srgbClr val="6E747A">
                    <a:alpha val="43000"/>
                  </a:srgbClr>
                </a:outerShdw>
              </a:effectLst>
            </a:endParaRPr>
          </a:p>
        </p:txBody>
      </p:sp>
      <p:sp>
        <p:nvSpPr>
          <p:cNvPr id="32" name="文本框 31"/>
          <p:cNvSpPr txBox="1"/>
          <p:nvPr>
            <p:custDataLst>
              <p:tags r:id="rId12"/>
            </p:custDataLst>
          </p:nvPr>
        </p:nvSpPr>
        <p:spPr>
          <a:xfrm rot="1440000">
            <a:off x="3122930" y="4556125"/>
            <a:ext cx="2573020" cy="312420"/>
          </a:xfrm>
          <a:prstGeom prst="rect">
            <a:avLst/>
          </a:prstGeom>
          <a:noFill/>
        </p:spPr>
        <p:txBody>
          <a:bodyPr wrap="square" rtlCol="0">
            <a:noAutofit/>
          </a:bodyPr>
          <a:p>
            <a:pPr algn="ctr"/>
            <a:r>
              <a:rPr lang="en-US" altLang="zh-CN" sz="2000" b="1">
                <a:solidFill>
                  <a:schemeClr val="accent1"/>
                </a:solidFill>
                <a:effectLst>
                  <a:outerShdw blurRad="38100" dist="25400" dir="5400000" algn="ctr" rotWithShape="0">
                    <a:srgbClr val="6E747A">
                      <a:alpha val="43000"/>
                    </a:srgbClr>
                  </a:outerShdw>
                </a:effectLst>
              </a:rPr>
              <a:t>4-Session Ticket</a:t>
            </a:r>
            <a:endParaRPr lang="en-US" altLang="zh-CN" sz="2000" b="1">
              <a:solidFill>
                <a:schemeClr val="accent1"/>
              </a:solidFill>
              <a:effectLst>
                <a:outerShdw blurRad="38100" dist="25400" dir="5400000" algn="ctr" rotWithShape="0">
                  <a:srgbClr val="6E747A">
                    <a:alpha val="43000"/>
                  </a:srgbClr>
                </a:outerShdw>
              </a:effectLst>
            </a:endParaRPr>
          </a:p>
        </p:txBody>
      </p:sp>
      <p:sp>
        <p:nvSpPr>
          <p:cNvPr id="36" name="文本框 35"/>
          <p:cNvSpPr txBox="1"/>
          <p:nvPr/>
        </p:nvSpPr>
        <p:spPr>
          <a:xfrm>
            <a:off x="845185" y="4406265"/>
            <a:ext cx="1299210" cy="398780"/>
          </a:xfrm>
          <a:prstGeom prst="rect">
            <a:avLst/>
          </a:prstGeom>
          <a:noFill/>
        </p:spPr>
        <p:txBody>
          <a:bodyPr wrap="square" rtlCol="0" anchor="t">
            <a:spAutoFit/>
          </a:bodyPr>
          <a:p>
            <a:pPr algn="ctr"/>
            <a:r>
              <a:rPr lang="en-US" altLang="zh-CN" sz="2000" b="1">
                <a:solidFill>
                  <a:schemeClr val="accent1"/>
                </a:solidFill>
                <a:effectLst>
                  <a:outerShdw blurRad="38100" dist="25400" dir="5400000" algn="ctr" rotWithShape="0">
                    <a:srgbClr val="6E747A">
                      <a:alpha val="43000"/>
                    </a:srgbClr>
                  </a:outerShdw>
                </a:effectLst>
                <a:sym typeface="+mn-ea"/>
              </a:rPr>
              <a:t>5-S</a:t>
            </a:r>
            <a:r>
              <a:rPr lang="en-US" altLang="zh-CN" sz="2000" b="1">
                <a:solidFill>
                  <a:schemeClr val="accent1"/>
                </a:solidFill>
                <a:effectLst>
                  <a:outerShdw blurRad="38100" dist="25400" dir="5400000" algn="ctr" rotWithShape="0">
                    <a:srgbClr val="6E747A">
                      <a:alpha val="43000"/>
                    </a:srgbClr>
                  </a:outerShdw>
                </a:effectLst>
                <a:sym typeface="+mn-ea"/>
              </a:rPr>
              <a:t>T</a:t>
            </a:r>
            <a:endParaRPr lang="en-US" altLang="zh-CN" sz="2000" b="1">
              <a:solidFill>
                <a:schemeClr val="accent1"/>
              </a:solidFill>
              <a:effectLst>
                <a:outerShdw blurRad="38100" dist="25400" dir="5400000" algn="ctr" rotWithShape="0">
                  <a:srgbClr val="6E747A">
                    <a:alpha val="43000"/>
                  </a:srgbClr>
                </a:outerShdw>
              </a:effectLst>
              <a:sym typeface="+mn-ea"/>
            </a:endParaRPr>
          </a:p>
        </p:txBody>
      </p:sp>
      <p:sp>
        <p:nvSpPr>
          <p:cNvPr id="38" name="文本框 37"/>
          <p:cNvSpPr txBox="1"/>
          <p:nvPr>
            <p:custDataLst>
              <p:tags r:id="rId13"/>
            </p:custDataLst>
          </p:nvPr>
        </p:nvSpPr>
        <p:spPr>
          <a:xfrm>
            <a:off x="2105660" y="4648835"/>
            <a:ext cx="1208405" cy="398780"/>
          </a:xfrm>
          <a:prstGeom prst="rect">
            <a:avLst/>
          </a:prstGeom>
          <a:noFill/>
        </p:spPr>
        <p:txBody>
          <a:bodyPr wrap="square" rtlCol="0" anchor="t">
            <a:spAutoFit/>
          </a:bodyPr>
          <a:p>
            <a:pPr algn="ctr"/>
            <a:r>
              <a:rPr lang="en-US" altLang="zh-CN" sz="2000" b="1">
                <a:solidFill>
                  <a:schemeClr val="accent1"/>
                </a:solidFill>
                <a:effectLst>
                  <a:outerShdw blurRad="38100" dist="25400" dir="5400000" algn="ctr" rotWithShape="0">
                    <a:srgbClr val="6E747A">
                      <a:alpha val="43000"/>
                    </a:srgbClr>
                  </a:outerShdw>
                </a:effectLst>
                <a:sym typeface="+mn-ea"/>
              </a:rPr>
              <a:t>6-Service</a:t>
            </a:r>
            <a:endParaRPr lang="en-US" altLang="zh-CN" sz="2000" b="1">
              <a:solidFill>
                <a:schemeClr val="accent1"/>
              </a:solidFill>
              <a:effectLst>
                <a:outerShdw blurRad="38100" dist="25400" dir="5400000" algn="ctr" rotWithShape="0">
                  <a:srgbClr val="6E747A">
                    <a:alpha val="43000"/>
                  </a:srgbClr>
                </a:outerShdw>
              </a:effectLst>
              <a:sym typeface="+mn-ea"/>
            </a:endParaRPr>
          </a:p>
        </p:txBody>
      </p:sp>
      <p:cxnSp>
        <p:nvCxnSpPr>
          <p:cNvPr id="39" name="直接箭头连接符 38"/>
          <p:cNvCxnSpPr/>
          <p:nvPr/>
        </p:nvCxnSpPr>
        <p:spPr>
          <a:xfrm flipV="1">
            <a:off x="3120390" y="2661285"/>
            <a:ext cx="3666490" cy="1714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custDataLst>
              <p:tags r:id="rId14"/>
            </p:custDataLst>
          </p:nvPr>
        </p:nvCxnSpPr>
        <p:spPr>
          <a:xfrm flipH="1" flipV="1">
            <a:off x="3128010" y="3049270"/>
            <a:ext cx="3679190" cy="508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a:off x="2977515" y="3613150"/>
            <a:ext cx="3902710" cy="170878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custDataLst>
              <p:tags r:id="rId15"/>
            </p:custDataLst>
          </p:nvPr>
        </p:nvCxnSpPr>
        <p:spPr>
          <a:xfrm flipH="1" flipV="1">
            <a:off x="2548890" y="3813810"/>
            <a:ext cx="4333240" cy="186118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a:off x="2045970" y="3917315"/>
            <a:ext cx="2540" cy="144018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a:xfrm flipH="1" flipV="1">
            <a:off x="2179955" y="3893185"/>
            <a:ext cx="5715" cy="143002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aphicFrame>
        <p:nvGraphicFramePr>
          <p:cNvPr id="51" name="表格 50"/>
          <p:cNvGraphicFramePr/>
          <p:nvPr>
            <p:custDataLst>
              <p:tags r:id="rId16"/>
            </p:custDataLst>
          </p:nvPr>
        </p:nvGraphicFramePr>
        <p:xfrm>
          <a:off x="9714865" y="3740785"/>
          <a:ext cx="1952625" cy="1508760"/>
        </p:xfrm>
        <a:graphic>
          <a:graphicData uri="http://schemas.openxmlformats.org/drawingml/2006/table">
            <a:tbl>
              <a:tblPr firstRow="1" bandRow="1">
                <a:tableStyleId>{D113A9D2-9D6B-4929-AA2D-F23B5EE8CBE7}</a:tableStyleId>
              </a:tblPr>
              <a:tblGrid>
                <a:gridCol w="815340"/>
                <a:gridCol w="1137285"/>
              </a:tblGrid>
              <a:tr h="196850">
                <a:tc>
                  <a:txBody>
                    <a:bodyPr/>
                    <a:p>
                      <a:pPr>
                        <a:buNone/>
                      </a:pPr>
                      <a:r>
                        <a:rPr lang="en-US" altLang="zh-CN"/>
                        <a:t>Name</a:t>
                      </a:r>
                      <a:endParaRPr lang="en-US" altLang="zh-CN"/>
                    </a:p>
                  </a:txBody>
                  <a:tcPr/>
                </a:tc>
                <a:tc>
                  <a:txBody>
                    <a:bodyPr/>
                    <a:p>
                      <a:pPr>
                        <a:buNone/>
                      </a:pPr>
                      <a:r>
                        <a:rPr lang="en-US" altLang="zh-CN"/>
                        <a:t>Key</a:t>
                      </a:r>
                      <a:endParaRPr lang="en-US" altLang="zh-CN"/>
                    </a:p>
                  </a:txBody>
                  <a:tcPr/>
                </a:tc>
              </a:tr>
              <a:tr h="381000">
                <a:tc>
                  <a:txBody>
                    <a:bodyPr/>
                    <a:p>
                      <a:pPr>
                        <a:buNone/>
                      </a:pPr>
                      <a:r>
                        <a:rPr lang="en-US" altLang="zh-CN"/>
                        <a:t>Client</a:t>
                      </a:r>
                      <a:endParaRPr lang="en-US" altLang="zh-CN"/>
                    </a:p>
                  </a:txBody>
                  <a:tcPr/>
                </a:tc>
                <a:tc>
                  <a:txBody>
                    <a:bodyPr/>
                    <a:p>
                      <a:pPr>
                        <a:buNone/>
                      </a:pPr>
                      <a:r>
                        <a:rPr lang="en-US" altLang="zh-CN"/>
                        <a:t>Kc</a:t>
                      </a:r>
                      <a:endParaRPr lang="en-US" altLang="zh-CN"/>
                    </a:p>
                  </a:txBody>
                  <a:tcPr/>
                </a:tc>
              </a:tr>
              <a:tr h="381000">
                <a:tc>
                  <a:txBody>
                    <a:bodyPr/>
                    <a:p>
                      <a:pPr>
                        <a:buNone/>
                      </a:pPr>
                      <a:r>
                        <a:rPr lang="en-US" altLang="zh-CN"/>
                        <a:t>Server</a:t>
                      </a:r>
                      <a:endParaRPr lang="en-US" altLang="zh-CN"/>
                    </a:p>
                  </a:txBody>
                  <a:tcPr/>
                </a:tc>
                <a:tc>
                  <a:txBody>
                    <a:bodyPr/>
                    <a:p>
                      <a:pPr>
                        <a:buNone/>
                      </a:pPr>
                      <a:r>
                        <a:rPr lang="en-US" altLang="zh-CN"/>
                        <a:t>Ks</a:t>
                      </a:r>
                      <a:endParaRPr lang="en-US" altLang="zh-CN"/>
                    </a:p>
                  </a:txBody>
                  <a:tcPr/>
                </a:tc>
              </a:tr>
              <a:tr h="381000">
                <a:tc>
                  <a:txBody>
                    <a:bodyPr/>
                    <a:p>
                      <a:pPr>
                        <a:buNone/>
                      </a:pPr>
                      <a:r>
                        <a:rPr lang="en-US" altLang="zh-CN"/>
                        <a:t>...</a:t>
                      </a:r>
                      <a:endParaRPr lang="en-US" altLang="zh-CN"/>
                    </a:p>
                  </a:txBody>
                  <a:tcPr/>
                </a:tc>
                <a:tc>
                  <a:txBody>
                    <a:bodyPr/>
                    <a:p>
                      <a:pPr>
                        <a:buNone/>
                      </a:pPr>
                      <a:r>
                        <a:rPr lang="en-US" altLang="zh-CN"/>
                        <a:t>...</a:t>
                      </a:r>
                      <a:endParaRPr lang="en-US" altLang="zh-CN"/>
                    </a:p>
                  </a:txBody>
                  <a:tcPr/>
                </a:tc>
              </a:tr>
            </a:tbl>
          </a:graphicData>
        </a:graphic>
      </p:graphicFrame>
      <p:sp>
        <p:nvSpPr>
          <p:cNvPr id="53" name="矩形 52"/>
          <p:cNvSpPr/>
          <p:nvPr/>
        </p:nvSpPr>
        <p:spPr>
          <a:xfrm>
            <a:off x="1090930" y="2898140"/>
            <a:ext cx="614680" cy="715645"/>
          </a:xfrm>
          <a:prstGeom prst="rect">
            <a:avLst/>
          </a:prstGeom>
          <a:ln w="28575">
            <a:noFill/>
          </a:ln>
        </p:spPr>
        <p:style>
          <a:lnRef idx="2">
            <a:schemeClr val="dk1"/>
          </a:lnRef>
          <a:fillRef idx="1">
            <a:schemeClr val="lt1"/>
          </a:fillRef>
          <a:effectRef idx="0">
            <a:schemeClr val="dk1"/>
          </a:effectRef>
          <a:fontRef idx="minor">
            <a:schemeClr val="dk1"/>
          </a:fontRef>
        </p:style>
        <p:txBody>
          <a:bodyPr rtlCol="0" anchor="ctr"/>
          <a:p>
            <a:pPr algn="ctr"/>
            <a:r>
              <a:rPr lang="en-US" altLang="zh-CN" b="1"/>
              <a:t>Kc</a:t>
            </a:r>
            <a:endParaRPr lang="en-US" altLang="zh-CN" b="1"/>
          </a:p>
        </p:txBody>
      </p:sp>
      <p:sp>
        <p:nvSpPr>
          <p:cNvPr id="54" name="矩形 53"/>
          <p:cNvSpPr/>
          <p:nvPr>
            <p:custDataLst>
              <p:tags r:id="rId17"/>
            </p:custDataLst>
          </p:nvPr>
        </p:nvSpPr>
        <p:spPr>
          <a:xfrm>
            <a:off x="1036320" y="5397500"/>
            <a:ext cx="614680" cy="715645"/>
          </a:xfrm>
          <a:prstGeom prst="rect">
            <a:avLst/>
          </a:prstGeom>
          <a:ln w="28575">
            <a:noFill/>
          </a:ln>
        </p:spPr>
        <p:style>
          <a:lnRef idx="2">
            <a:schemeClr val="dk1"/>
          </a:lnRef>
          <a:fillRef idx="1">
            <a:schemeClr val="lt1"/>
          </a:fillRef>
          <a:effectRef idx="0">
            <a:schemeClr val="dk1"/>
          </a:effectRef>
          <a:fontRef idx="minor">
            <a:schemeClr val="dk1"/>
          </a:fontRef>
        </p:style>
        <p:txBody>
          <a:bodyPr rtlCol="0" anchor="ctr"/>
          <a:p>
            <a:pPr algn="ctr"/>
            <a:r>
              <a:rPr lang="en-US" altLang="zh-CN" b="1"/>
              <a:t>Ks</a:t>
            </a:r>
            <a:endParaRPr lang="en-US" altLang="zh-CN" b="1"/>
          </a:p>
        </p:txBody>
      </p:sp>
      <p:sp>
        <p:nvSpPr>
          <p:cNvPr id="9" name="剪去单角的矩形 8"/>
          <p:cNvSpPr/>
          <p:nvPr/>
        </p:nvSpPr>
        <p:spPr>
          <a:xfrm>
            <a:off x="9975215" y="1519555"/>
            <a:ext cx="2078355" cy="1743710"/>
          </a:xfrm>
          <a:prstGeom prst="snip1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algn="ctr"/>
            <a:r>
              <a:rPr lang="zh-CN" altLang="en-US" b="1"/>
              <a:t>为了提升安全性，</a:t>
            </a:r>
            <a:r>
              <a:rPr lang="zh-CN" altLang="en-US" b="1">
                <a:solidFill>
                  <a:srgbClr val="FF0000"/>
                </a:solidFill>
              </a:rPr>
              <a:t>防止</a:t>
            </a:r>
            <a:r>
              <a:rPr lang="en-US" altLang="zh-CN" b="1">
                <a:solidFill>
                  <a:srgbClr val="FF0000"/>
                </a:solidFill>
              </a:rPr>
              <a:t>Kc</a:t>
            </a:r>
            <a:r>
              <a:rPr lang="zh-CN" altLang="en-US" b="1">
                <a:solidFill>
                  <a:srgbClr val="FF0000"/>
                </a:solidFill>
              </a:rPr>
              <a:t>以及用户口令的泄露</a:t>
            </a:r>
            <a:r>
              <a:rPr lang="zh-CN" altLang="en-US" b="1"/>
              <a:t>。</a:t>
            </a:r>
            <a:endParaRPr lang="zh-CN" altLang="en-US" b="1"/>
          </a:p>
        </p:txBody>
      </p:sp>
    </p:spTree>
  </p:cSld>
  <p:clrMapOvr>
    <a:masterClrMapping/>
  </p:clrMapOvr>
  <mc:AlternateContent xmlns:mc="http://schemas.openxmlformats.org/markup-compatibility/2006">
    <mc:Choice xmlns:p14="http://schemas.microsoft.com/office/powerpoint/2010/main" Requires="p14">
      <p:transition spd="slow" p14:dur="2000" advTm="2827"/>
    </mc:Choice>
    <mc:Fallback>
      <p:transition spd="slow" advTm="282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ldLvl="0" animBg="1"/>
      <p:bldP spid="9" grpId="1"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p:nvPr>
            <p:ph idx="1"/>
          </p:nvPr>
        </p:nvSpPr>
        <p:spPr/>
        <p:txBody>
          <a:bodyPr/>
          <a:p>
            <a:r>
              <a:rPr lang="en-US" altLang="zh-CN" dirty="0" smtClean="0">
                <a:sym typeface="+mn-ea"/>
              </a:rPr>
              <a:t>Kerberos</a:t>
            </a:r>
            <a:r>
              <a:rPr lang="zh-CN" altLang="en-US" dirty="0" smtClean="0">
                <a:sym typeface="+mn-ea"/>
              </a:rPr>
              <a:t>协议</a:t>
            </a:r>
            <a:r>
              <a:rPr lang="zh-CN" altLang="en-US" dirty="0" smtClean="0">
                <a:sym typeface="+mn-ea"/>
              </a:rPr>
              <a:t>简化流程</a:t>
            </a:r>
            <a:endParaRPr lang="zh-CN" altLang="en-US" dirty="0" smtClean="0">
              <a:sym typeface="+mn-ea"/>
            </a:endParaRPr>
          </a:p>
        </p:txBody>
      </p:sp>
      <p:sp>
        <p:nvSpPr>
          <p:cNvPr id="2" name="标题 1"/>
          <p:cNvSpPr>
            <a:spLocks noGrp="1"/>
          </p:cNvSpPr>
          <p:nvPr>
            <p:ph type="title"/>
          </p:nvPr>
        </p:nvSpPr>
        <p:spPr/>
        <p:txBody>
          <a:bodyPr>
            <a:normAutofit fontScale="90000"/>
          </a:bodyPr>
          <a:lstStyle/>
          <a:p>
            <a:r>
              <a:rPr lang="en-US" altLang="zh-CN" dirty="0">
                <a:sym typeface="+mn-ea"/>
              </a:rPr>
              <a:t>16.4 </a:t>
            </a:r>
            <a:r>
              <a:rPr lang="en-US" altLang="zh-CN" dirty="0"/>
              <a:t>Kerberos</a:t>
            </a:r>
            <a:r>
              <a:rPr lang="zh-CN" altLang="en-US" dirty="0"/>
              <a:t>的</a:t>
            </a:r>
            <a:r>
              <a:rPr lang="zh-CN" altLang="en-US" dirty="0"/>
              <a:t>原理</a:t>
            </a:r>
            <a:endParaRPr lang="zh-CN" altLang="en-US" dirty="0"/>
          </a:p>
        </p:txBody>
      </p:sp>
      <p:sp>
        <p:nvSpPr>
          <p:cNvPr id="4" name="灯片编号占位符 3"/>
          <p:cNvSpPr>
            <a:spLocks noGrp="1"/>
          </p:cNvSpPr>
          <p:nvPr>
            <p:ph type="sldNum" sz="quarter" idx="12"/>
          </p:nvPr>
        </p:nvSpPr>
        <p:spPr/>
        <p:txBody>
          <a:bodyPr/>
          <a:lstStyle/>
          <a:p>
            <a:pPr>
              <a:defRPr/>
            </a:pPr>
            <a:fld id="{B42B4293-9377-4872-955B-7EAEC82CC678}" type="slidenum">
              <a:rPr lang="en-US" altLang="zh-CN" smtClean="0"/>
            </a:fld>
            <a:endParaRPr lang="en-US" altLang="zh-CN" dirty="0"/>
          </a:p>
        </p:txBody>
      </p:sp>
      <p:pic>
        <p:nvPicPr>
          <p:cNvPr id="10" name="图片 9"/>
          <p:cNvPicPr/>
          <p:nvPr>
            <p:custDataLst>
              <p:tags r:id="rId1"/>
            </p:custDataLst>
          </p:nvPr>
        </p:nvPicPr>
        <p:blipFill>
          <a:blip r:embed="rId2"/>
          <a:stretch>
            <a:fillRect/>
          </a:stretch>
        </p:blipFill>
        <p:spPr>
          <a:xfrm>
            <a:off x="1868170" y="2635250"/>
            <a:ext cx="1252220" cy="1096010"/>
          </a:xfrm>
          <a:prstGeom prst="rect">
            <a:avLst/>
          </a:prstGeom>
          <a:noFill/>
          <a:ln w="9525">
            <a:noFill/>
          </a:ln>
        </p:spPr>
      </p:pic>
      <p:pic>
        <p:nvPicPr>
          <p:cNvPr id="11" name="图片 10"/>
          <p:cNvPicPr/>
          <p:nvPr>
            <p:custDataLst>
              <p:tags r:id="rId3"/>
            </p:custDataLst>
          </p:nvPr>
        </p:nvPicPr>
        <p:blipFill>
          <a:blip r:embed="rId4"/>
          <a:stretch>
            <a:fillRect/>
          </a:stretch>
        </p:blipFill>
        <p:spPr>
          <a:xfrm>
            <a:off x="1651000" y="5537835"/>
            <a:ext cx="982345" cy="909955"/>
          </a:xfrm>
          <a:prstGeom prst="rect">
            <a:avLst/>
          </a:prstGeom>
          <a:noFill/>
          <a:ln w="9525">
            <a:noFill/>
          </a:ln>
        </p:spPr>
      </p:pic>
      <p:sp>
        <p:nvSpPr>
          <p:cNvPr id="8" name="文本框 7"/>
          <p:cNvSpPr txBox="1"/>
          <p:nvPr>
            <p:custDataLst>
              <p:tags r:id="rId5"/>
            </p:custDataLst>
          </p:nvPr>
        </p:nvSpPr>
        <p:spPr>
          <a:xfrm>
            <a:off x="1637665" y="6423660"/>
            <a:ext cx="995045" cy="398780"/>
          </a:xfrm>
          <a:prstGeom prst="rect">
            <a:avLst/>
          </a:prstGeom>
          <a:noFill/>
        </p:spPr>
        <p:txBody>
          <a:bodyPr wrap="square" rtlCol="0">
            <a:spAutoFit/>
          </a:bodyPr>
          <a:p>
            <a:r>
              <a:rPr lang="en-US" altLang="zh-CN" sz="2000" b="1"/>
              <a:t> Server</a:t>
            </a:r>
            <a:endParaRPr lang="en-US" altLang="zh-CN" sz="2000" b="1"/>
          </a:p>
        </p:txBody>
      </p:sp>
      <p:sp>
        <p:nvSpPr>
          <p:cNvPr id="23" name="文本框 22"/>
          <p:cNvSpPr txBox="1"/>
          <p:nvPr>
            <p:custDataLst>
              <p:tags r:id="rId6"/>
            </p:custDataLst>
          </p:nvPr>
        </p:nvSpPr>
        <p:spPr>
          <a:xfrm>
            <a:off x="919480" y="2243455"/>
            <a:ext cx="2573020" cy="398780"/>
          </a:xfrm>
          <a:prstGeom prst="rect">
            <a:avLst/>
          </a:prstGeom>
          <a:noFill/>
        </p:spPr>
        <p:txBody>
          <a:bodyPr wrap="square" rtlCol="0">
            <a:spAutoFit/>
          </a:bodyPr>
          <a:p>
            <a:pPr algn="ctr"/>
            <a:r>
              <a:rPr lang="en-US" altLang="zh-CN" sz="2000" b="1"/>
              <a:t>Client</a:t>
            </a:r>
            <a:endParaRPr lang="en-US" altLang="zh-CN" sz="2000" b="1"/>
          </a:p>
        </p:txBody>
      </p:sp>
      <p:sp>
        <p:nvSpPr>
          <p:cNvPr id="26" name="矩形 25"/>
          <p:cNvSpPr/>
          <p:nvPr/>
        </p:nvSpPr>
        <p:spPr>
          <a:xfrm>
            <a:off x="6266180" y="2545080"/>
            <a:ext cx="5599430" cy="4079875"/>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p>
            <a:pPr algn="ctr"/>
            <a:endParaRPr lang="zh-CN" altLang="en-US"/>
          </a:p>
        </p:txBody>
      </p:sp>
      <p:sp>
        <p:nvSpPr>
          <p:cNvPr id="27" name="文本框 26"/>
          <p:cNvSpPr txBox="1"/>
          <p:nvPr>
            <p:custDataLst>
              <p:tags r:id="rId7"/>
            </p:custDataLst>
          </p:nvPr>
        </p:nvSpPr>
        <p:spPr>
          <a:xfrm>
            <a:off x="6837680" y="1757680"/>
            <a:ext cx="4297680" cy="706755"/>
          </a:xfrm>
          <a:prstGeom prst="rect">
            <a:avLst/>
          </a:prstGeom>
          <a:noFill/>
        </p:spPr>
        <p:txBody>
          <a:bodyPr wrap="square" rtlCol="0">
            <a:spAutoFit/>
          </a:bodyPr>
          <a:p>
            <a:pPr algn="ctr"/>
            <a:r>
              <a:rPr lang="en-US" altLang="zh-CN" sz="2000" b="1"/>
              <a:t>Kerberos </a:t>
            </a:r>
            <a:endParaRPr lang="en-US" altLang="zh-CN" sz="2000" b="1"/>
          </a:p>
          <a:p>
            <a:pPr algn="ctr"/>
            <a:r>
              <a:rPr lang="en-US" altLang="zh-CN" sz="2000" b="1"/>
              <a:t>Key Distribution Center</a:t>
            </a:r>
            <a:r>
              <a:rPr lang="zh-CN" altLang="en-US" sz="2000" b="1"/>
              <a:t>（</a:t>
            </a:r>
            <a:r>
              <a:rPr lang="en-US" altLang="zh-CN" sz="2000" b="1"/>
              <a:t>KDC</a:t>
            </a:r>
            <a:r>
              <a:rPr lang="zh-CN" altLang="en-US" sz="2000" b="1"/>
              <a:t>）</a:t>
            </a:r>
            <a:endParaRPr lang="zh-CN" altLang="en-US" sz="2000" b="1"/>
          </a:p>
        </p:txBody>
      </p:sp>
      <p:sp>
        <p:nvSpPr>
          <p:cNvPr id="30" name="圆角矩形 29"/>
          <p:cNvSpPr/>
          <p:nvPr/>
        </p:nvSpPr>
        <p:spPr>
          <a:xfrm>
            <a:off x="6814820" y="2710180"/>
            <a:ext cx="2289810" cy="13906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000" b="1">
                <a:sym typeface="+mn-ea"/>
              </a:rPr>
              <a:t>Authentication</a:t>
            </a:r>
            <a:endParaRPr lang="en-US" altLang="zh-CN" sz="2000" b="1"/>
          </a:p>
          <a:p>
            <a:pPr algn="ctr"/>
            <a:r>
              <a:rPr lang="en-US" altLang="zh-CN" sz="2000" b="1">
                <a:sym typeface="+mn-ea"/>
              </a:rPr>
              <a:t>Service</a:t>
            </a:r>
            <a:endParaRPr lang="en-US" altLang="zh-CN" sz="2000" b="1">
              <a:sym typeface="+mn-ea"/>
            </a:endParaRPr>
          </a:p>
        </p:txBody>
      </p:sp>
      <p:sp>
        <p:nvSpPr>
          <p:cNvPr id="31" name="圆角矩形 30"/>
          <p:cNvSpPr/>
          <p:nvPr>
            <p:custDataLst>
              <p:tags r:id="rId8"/>
            </p:custDataLst>
          </p:nvPr>
        </p:nvSpPr>
        <p:spPr>
          <a:xfrm>
            <a:off x="6833235" y="4876165"/>
            <a:ext cx="2290445" cy="132270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000" b="1">
                <a:sym typeface="+mn-ea"/>
              </a:rPr>
              <a:t>Ticket Granting</a:t>
            </a:r>
            <a:endParaRPr lang="en-US" altLang="zh-CN" sz="2000" b="1"/>
          </a:p>
          <a:p>
            <a:pPr algn="ctr"/>
            <a:r>
              <a:rPr lang="en-US" altLang="zh-CN" sz="2000" b="1">
                <a:sym typeface="+mn-ea"/>
              </a:rPr>
              <a:t>Service</a:t>
            </a:r>
            <a:r>
              <a:rPr lang="zh-CN" altLang="en-US" sz="2000" b="1">
                <a:sym typeface="+mn-ea"/>
              </a:rPr>
              <a:t>（</a:t>
            </a:r>
            <a:r>
              <a:rPr lang="en-US" altLang="zh-CN" sz="2000" b="1">
                <a:sym typeface="+mn-ea"/>
              </a:rPr>
              <a:t>TGS</a:t>
            </a:r>
            <a:r>
              <a:rPr lang="zh-CN" altLang="en-US" sz="2000" b="1">
                <a:sym typeface="+mn-ea"/>
              </a:rPr>
              <a:t>）</a:t>
            </a:r>
            <a:endParaRPr lang="zh-CN" altLang="en-US" sz="2000" b="1">
              <a:sym typeface="+mn-ea"/>
            </a:endParaRPr>
          </a:p>
        </p:txBody>
      </p:sp>
      <p:sp>
        <p:nvSpPr>
          <p:cNvPr id="3" name="文本框 2"/>
          <p:cNvSpPr txBox="1"/>
          <p:nvPr>
            <p:custDataLst>
              <p:tags r:id="rId9"/>
            </p:custDataLst>
          </p:nvPr>
        </p:nvSpPr>
        <p:spPr>
          <a:xfrm>
            <a:off x="3529965" y="2633980"/>
            <a:ext cx="2539365" cy="312420"/>
          </a:xfrm>
          <a:prstGeom prst="rect">
            <a:avLst/>
          </a:prstGeom>
          <a:noFill/>
        </p:spPr>
        <p:txBody>
          <a:bodyPr wrap="square" rtlCol="0">
            <a:noAutofit/>
          </a:bodyPr>
          <a:p>
            <a:pPr algn="ctr"/>
            <a:r>
              <a:rPr lang="en-US" altLang="zh-CN" sz="2000" b="1">
                <a:solidFill>
                  <a:schemeClr val="accent1"/>
                </a:solidFill>
                <a:effectLst>
                  <a:outerShdw blurRad="38100" dist="25400" dir="5400000" algn="ctr" rotWithShape="0">
                    <a:srgbClr val="6E747A">
                      <a:alpha val="43000"/>
                    </a:srgbClr>
                  </a:outerShdw>
                </a:effectLst>
              </a:rPr>
              <a:t>1-Client</a:t>
            </a:r>
            <a:r>
              <a:rPr lang="zh-CN" altLang="en-US" sz="2000" b="1">
                <a:solidFill>
                  <a:schemeClr val="accent1"/>
                </a:solidFill>
                <a:effectLst>
                  <a:outerShdw blurRad="38100" dist="25400" dir="5400000" algn="ctr" rotWithShape="0">
                    <a:srgbClr val="6E747A">
                      <a:alpha val="43000"/>
                    </a:srgbClr>
                  </a:outerShdw>
                </a:effectLst>
              </a:rPr>
              <a:t>认证</a:t>
            </a:r>
            <a:r>
              <a:rPr lang="zh-CN" altLang="en-US" sz="2000" b="1">
                <a:solidFill>
                  <a:schemeClr val="accent1"/>
                </a:solidFill>
                <a:effectLst>
                  <a:outerShdw blurRad="38100" dist="25400" dir="5400000" algn="ctr" rotWithShape="0">
                    <a:srgbClr val="6E747A">
                      <a:alpha val="43000"/>
                    </a:srgbClr>
                  </a:outerShdw>
                </a:effectLst>
              </a:rPr>
              <a:t>请求</a:t>
            </a:r>
            <a:endParaRPr lang="zh-CN" altLang="en-US" sz="2000" b="1">
              <a:solidFill>
                <a:schemeClr val="accent1"/>
              </a:solidFill>
              <a:effectLst>
                <a:outerShdw blurRad="38100" dist="25400" dir="5400000" algn="ctr" rotWithShape="0">
                  <a:srgbClr val="6E747A">
                    <a:alpha val="43000"/>
                  </a:srgbClr>
                </a:outerShdw>
              </a:effectLst>
            </a:endParaRPr>
          </a:p>
        </p:txBody>
      </p:sp>
      <p:sp>
        <p:nvSpPr>
          <p:cNvPr id="22" name="文本框 21"/>
          <p:cNvSpPr txBox="1"/>
          <p:nvPr>
            <p:custDataLst>
              <p:tags r:id="rId10"/>
            </p:custDataLst>
          </p:nvPr>
        </p:nvSpPr>
        <p:spPr>
          <a:xfrm>
            <a:off x="3232785" y="3068955"/>
            <a:ext cx="3246120" cy="341630"/>
          </a:xfrm>
          <a:prstGeom prst="rect">
            <a:avLst/>
          </a:prstGeom>
          <a:noFill/>
        </p:spPr>
        <p:txBody>
          <a:bodyPr wrap="square" rtlCol="0">
            <a:noAutofit/>
          </a:bodyPr>
          <a:p>
            <a:pPr algn="ctr"/>
            <a:r>
              <a:rPr lang="en-US" altLang="zh-CN" sz="2000" b="1">
                <a:solidFill>
                  <a:schemeClr val="accent1"/>
                </a:solidFill>
                <a:effectLst>
                  <a:outerShdw blurRad="38100" dist="25400" dir="5400000" algn="ctr" rotWithShape="0">
                    <a:srgbClr val="6E747A">
                      <a:alpha val="43000"/>
                    </a:srgbClr>
                  </a:outerShdw>
                </a:effectLst>
                <a:sym typeface="+mn-ea"/>
              </a:rPr>
              <a:t>2-</a:t>
            </a:r>
            <a:r>
              <a:rPr lang="en-US" altLang="zh-CN" sz="2000" b="1">
                <a:solidFill>
                  <a:schemeClr val="accent1"/>
                </a:solidFill>
                <a:effectLst>
                  <a:outerShdw blurRad="38100" dist="25400" dir="5400000" algn="ctr" rotWithShape="0">
                    <a:srgbClr val="6E747A">
                      <a:alpha val="43000"/>
                    </a:srgbClr>
                  </a:outerShdw>
                </a:effectLst>
                <a:sym typeface="+mn-ea"/>
              </a:rPr>
              <a:t>Enc</a:t>
            </a:r>
            <a:r>
              <a:rPr lang="en-US" altLang="zh-CN" sz="1400" b="1">
                <a:solidFill>
                  <a:schemeClr val="accent1"/>
                </a:solidFill>
                <a:effectLst>
                  <a:outerShdw blurRad="38100" dist="25400" dir="5400000" algn="ctr" rotWithShape="0">
                    <a:srgbClr val="6E747A">
                      <a:alpha val="43000"/>
                    </a:srgbClr>
                  </a:outerShdw>
                </a:effectLst>
                <a:sym typeface="+mn-ea"/>
              </a:rPr>
              <a:t>Kc</a:t>
            </a:r>
            <a:r>
              <a:rPr lang="en-US" altLang="zh-CN" sz="2000" b="1">
                <a:solidFill>
                  <a:schemeClr val="accent1"/>
                </a:solidFill>
                <a:effectLst>
                  <a:outerShdw blurRad="38100" dist="25400" dir="5400000" algn="ctr" rotWithShape="0">
                    <a:srgbClr val="6E747A">
                      <a:alpha val="43000"/>
                    </a:srgbClr>
                  </a:outerShdw>
                </a:effectLst>
                <a:sym typeface="+mn-ea"/>
              </a:rPr>
              <a:t>{message}</a:t>
            </a:r>
            <a:r>
              <a:rPr lang="zh-CN" altLang="en-US" sz="2000" b="1">
                <a:solidFill>
                  <a:schemeClr val="accent1"/>
                </a:solidFill>
                <a:effectLst>
                  <a:outerShdw blurRad="38100" dist="25400" dir="5400000" algn="ctr" rotWithShape="0">
                    <a:srgbClr val="6E747A">
                      <a:alpha val="43000"/>
                    </a:srgbClr>
                  </a:outerShdw>
                </a:effectLst>
                <a:sym typeface="+mn-ea"/>
              </a:rPr>
              <a:t>，</a:t>
            </a:r>
            <a:r>
              <a:rPr lang="en-US" altLang="zh-CN" sz="2000" b="1">
                <a:solidFill>
                  <a:schemeClr val="accent1"/>
                </a:solidFill>
                <a:effectLst>
                  <a:outerShdw blurRad="38100" dist="25400" dir="5400000" algn="ctr" rotWithShape="0">
                    <a:srgbClr val="6E747A">
                      <a:alpha val="43000"/>
                    </a:srgbClr>
                  </a:outerShdw>
                </a:effectLst>
                <a:sym typeface="+mn-ea"/>
              </a:rPr>
              <a:t>Ticket Granting Ticket}</a:t>
            </a:r>
            <a:endParaRPr lang="en-US" altLang="zh-CN" sz="2000" b="1">
              <a:solidFill>
                <a:schemeClr val="accent1"/>
              </a:solidFill>
              <a:effectLst>
                <a:outerShdw blurRad="38100" dist="25400" dir="5400000" algn="ctr" rotWithShape="0">
                  <a:srgbClr val="6E747A">
                    <a:alpha val="43000"/>
                  </a:srgbClr>
                </a:outerShdw>
              </a:effectLst>
            </a:endParaRPr>
          </a:p>
        </p:txBody>
      </p:sp>
      <p:sp>
        <p:nvSpPr>
          <p:cNvPr id="25" name="文本框 24"/>
          <p:cNvSpPr txBox="1"/>
          <p:nvPr>
            <p:custDataLst>
              <p:tags r:id="rId11"/>
            </p:custDataLst>
          </p:nvPr>
        </p:nvSpPr>
        <p:spPr>
          <a:xfrm rot="1380000">
            <a:off x="3596640" y="4357370"/>
            <a:ext cx="2659380" cy="471170"/>
          </a:xfrm>
          <a:prstGeom prst="rect">
            <a:avLst/>
          </a:prstGeom>
          <a:noFill/>
        </p:spPr>
        <p:txBody>
          <a:bodyPr wrap="square" rtlCol="0">
            <a:noAutofit/>
          </a:bodyPr>
          <a:p>
            <a:pPr algn="ctr"/>
            <a:r>
              <a:rPr lang="en-US" altLang="zh-CN" sz="2000" b="1">
                <a:solidFill>
                  <a:schemeClr val="accent1"/>
                </a:solidFill>
                <a:effectLst>
                  <a:outerShdw blurRad="38100" dist="25400" dir="5400000" algn="ctr" rotWithShape="0">
                    <a:srgbClr val="6E747A">
                      <a:alpha val="43000"/>
                    </a:srgbClr>
                  </a:outerShdw>
                </a:effectLst>
              </a:rPr>
              <a:t>3-TGT</a:t>
            </a:r>
            <a:r>
              <a:rPr lang="zh-CN" altLang="en-US" sz="2000" b="1">
                <a:solidFill>
                  <a:schemeClr val="accent1"/>
                </a:solidFill>
                <a:effectLst>
                  <a:outerShdw blurRad="38100" dist="25400" dir="5400000" algn="ctr" rotWithShape="0">
                    <a:srgbClr val="6E747A">
                      <a:alpha val="43000"/>
                    </a:srgbClr>
                  </a:outerShdw>
                </a:effectLst>
              </a:rPr>
              <a:t>，</a:t>
            </a:r>
            <a:r>
              <a:rPr lang="en-US" altLang="zh-CN" sz="2000" b="1">
                <a:solidFill>
                  <a:schemeClr val="accent1"/>
                </a:solidFill>
                <a:effectLst>
                  <a:outerShdw blurRad="38100" dist="25400" dir="5400000" algn="ctr" rotWithShape="0">
                    <a:srgbClr val="6E747A">
                      <a:alpha val="43000"/>
                    </a:srgbClr>
                  </a:outerShdw>
                </a:effectLst>
              </a:rPr>
              <a:t>Req-Server</a:t>
            </a:r>
            <a:endParaRPr lang="en-US" altLang="zh-CN" sz="2000" b="1">
              <a:solidFill>
                <a:schemeClr val="accent1"/>
              </a:solidFill>
              <a:effectLst>
                <a:outerShdw blurRad="38100" dist="25400" dir="5400000" algn="ctr" rotWithShape="0">
                  <a:srgbClr val="6E747A">
                    <a:alpha val="43000"/>
                  </a:srgbClr>
                </a:outerShdw>
              </a:effectLst>
            </a:endParaRPr>
          </a:p>
        </p:txBody>
      </p:sp>
      <p:sp>
        <p:nvSpPr>
          <p:cNvPr id="32" name="文本框 31"/>
          <p:cNvSpPr txBox="1"/>
          <p:nvPr>
            <p:custDataLst>
              <p:tags r:id="rId12"/>
            </p:custDataLst>
          </p:nvPr>
        </p:nvSpPr>
        <p:spPr>
          <a:xfrm rot="1440000">
            <a:off x="3122930" y="4556125"/>
            <a:ext cx="2573020" cy="312420"/>
          </a:xfrm>
          <a:prstGeom prst="rect">
            <a:avLst/>
          </a:prstGeom>
          <a:noFill/>
        </p:spPr>
        <p:txBody>
          <a:bodyPr wrap="square" rtlCol="0">
            <a:noAutofit/>
          </a:bodyPr>
          <a:p>
            <a:pPr algn="ctr"/>
            <a:r>
              <a:rPr lang="en-US" altLang="zh-CN" sz="2000" b="1">
                <a:solidFill>
                  <a:schemeClr val="accent1"/>
                </a:solidFill>
                <a:effectLst>
                  <a:outerShdw blurRad="38100" dist="25400" dir="5400000" algn="ctr" rotWithShape="0">
                    <a:srgbClr val="6E747A">
                      <a:alpha val="43000"/>
                    </a:srgbClr>
                  </a:outerShdw>
                </a:effectLst>
              </a:rPr>
              <a:t>4-Session Ticket</a:t>
            </a:r>
            <a:endParaRPr lang="en-US" altLang="zh-CN" sz="2000" b="1">
              <a:solidFill>
                <a:schemeClr val="accent1"/>
              </a:solidFill>
              <a:effectLst>
                <a:outerShdw blurRad="38100" dist="25400" dir="5400000" algn="ctr" rotWithShape="0">
                  <a:srgbClr val="6E747A">
                    <a:alpha val="43000"/>
                  </a:srgbClr>
                </a:outerShdw>
              </a:effectLst>
            </a:endParaRPr>
          </a:p>
        </p:txBody>
      </p:sp>
      <p:sp>
        <p:nvSpPr>
          <p:cNvPr id="36" name="文本框 35"/>
          <p:cNvSpPr txBox="1"/>
          <p:nvPr/>
        </p:nvSpPr>
        <p:spPr>
          <a:xfrm>
            <a:off x="845185" y="4406265"/>
            <a:ext cx="1299210" cy="398780"/>
          </a:xfrm>
          <a:prstGeom prst="rect">
            <a:avLst/>
          </a:prstGeom>
          <a:noFill/>
        </p:spPr>
        <p:txBody>
          <a:bodyPr wrap="square" rtlCol="0" anchor="t">
            <a:spAutoFit/>
          </a:bodyPr>
          <a:p>
            <a:pPr algn="ctr"/>
            <a:r>
              <a:rPr lang="en-US" altLang="zh-CN" sz="2000" b="1">
                <a:solidFill>
                  <a:schemeClr val="accent1"/>
                </a:solidFill>
                <a:effectLst>
                  <a:outerShdw blurRad="38100" dist="25400" dir="5400000" algn="ctr" rotWithShape="0">
                    <a:srgbClr val="6E747A">
                      <a:alpha val="43000"/>
                    </a:srgbClr>
                  </a:outerShdw>
                </a:effectLst>
                <a:sym typeface="+mn-ea"/>
              </a:rPr>
              <a:t>5-S</a:t>
            </a:r>
            <a:r>
              <a:rPr lang="en-US" altLang="zh-CN" sz="2000" b="1">
                <a:solidFill>
                  <a:schemeClr val="accent1"/>
                </a:solidFill>
                <a:effectLst>
                  <a:outerShdw blurRad="38100" dist="25400" dir="5400000" algn="ctr" rotWithShape="0">
                    <a:srgbClr val="6E747A">
                      <a:alpha val="43000"/>
                    </a:srgbClr>
                  </a:outerShdw>
                </a:effectLst>
                <a:sym typeface="+mn-ea"/>
              </a:rPr>
              <a:t>T</a:t>
            </a:r>
            <a:endParaRPr lang="en-US" altLang="zh-CN" sz="2000" b="1">
              <a:solidFill>
                <a:schemeClr val="accent1"/>
              </a:solidFill>
              <a:effectLst>
                <a:outerShdw blurRad="38100" dist="25400" dir="5400000" algn="ctr" rotWithShape="0">
                  <a:srgbClr val="6E747A">
                    <a:alpha val="43000"/>
                  </a:srgbClr>
                </a:outerShdw>
              </a:effectLst>
              <a:sym typeface="+mn-ea"/>
            </a:endParaRPr>
          </a:p>
        </p:txBody>
      </p:sp>
      <p:sp>
        <p:nvSpPr>
          <p:cNvPr id="38" name="文本框 37"/>
          <p:cNvSpPr txBox="1"/>
          <p:nvPr>
            <p:custDataLst>
              <p:tags r:id="rId13"/>
            </p:custDataLst>
          </p:nvPr>
        </p:nvSpPr>
        <p:spPr>
          <a:xfrm>
            <a:off x="2105660" y="4648835"/>
            <a:ext cx="1208405" cy="398780"/>
          </a:xfrm>
          <a:prstGeom prst="rect">
            <a:avLst/>
          </a:prstGeom>
          <a:noFill/>
        </p:spPr>
        <p:txBody>
          <a:bodyPr wrap="square" rtlCol="0" anchor="t">
            <a:spAutoFit/>
          </a:bodyPr>
          <a:p>
            <a:pPr algn="ctr"/>
            <a:r>
              <a:rPr lang="en-US" altLang="zh-CN" sz="2000" b="1">
                <a:solidFill>
                  <a:schemeClr val="accent1"/>
                </a:solidFill>
                <a:effectLst>
                  <a:outerShdw blurRad="38100" dist="25400" dir="5400000" algn="ctr" rotWithShape="0">
                    <a:srgbClr val="6E747A">
                      <a:alpha val="43000"/>
                    </a:srgbClr>
                  </a:outerShdw>
                </a:effectLst>
                <a:sym typeface="+mn-ea"/>
              </a:rPr>
              <a:t>6-Service</a:t>
            </a:r>
            <a:endParaRPr lang="en-US" altLang="zh-CN" sz="2000" b="1">
              <a:solidFill>
                <a:schemeClr val="accent1"/>
              </a:solidFill>
              <a:effectLst>
                <a:outerShdw blurRad="38100" dist="25400" dir="5400000" algn="ctr" rotWithShape="0">
                  <a:srgbClr val="6E747A">
                    <a:alpha val="43000"/>
                  </a:srgbClr>
                </a:outerShdw>
              </a:effectLst>
              <a:sym typeface="+mn-ea"/>
            </a:endParaRPr>
          </a:p>
        </p:txBody>
      </p:sp>
      <p:cxnSp>
        <p:nvCxnSpPr>
          <p:cNvPr id="39" name="直接箭头连接符 38"/>
          <p:cNvCxnSpPr/>
          <p:nvPr/>
        </p:nvCxnSpPr>
        <p:spPr>
          <a:xfrm flipV="1">
            <a:off x="3120390" y="2661285"/>
            <a:ext cx="3666490" cy="1714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custDataLst>
              <p:tags r:id="rId14"/>
            </p:custDataLst>
          </p:nvPr>
        </p:nvCxnSpPr>
        <p:spPr>
          <a:xfrm flipH="1" flipV="1">
            <a:off x="3128010" y="3049270"/>
            <a:ext cx="3679190" cy="508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a:off x="2977515" y="3613150"/>
            <a:ext cx="3902710" cy="170878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custDataLst>
              <p:tags r:id="rId15"/>
            </p:custDataLst>
          </p:nvPr>
        </p:nvCxnSpPr>
        <p:spPr>
          <a:xfrm flipH="1" flipV="1">
            <a:off x="2548890" y="3813810"/>
            <a:ext cx="4333240" cy="186118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a:off x="2045970" y="3917315"/>
            <a:ext cx="2540" cy="144018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a:xfrm flipH="1" flipV="1">
            <a:off x="2179955" y="3893185"/>
            <a:ext cx="5715" cy="143002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aphicFrame>
        <p:nvGraphicFramePr>
          <p:cNvPr id="51" name="表格 50"/>
          <p:cNvGraphicFramePr/>
          <p:nvPr>
            <p:custDataLst>
              <p:tags r:id="rId16"/>
            </p:custDataLst>
          </p:nvPr>
        </p:nvGraphicFramePr>
        <p:xfrm>
          <a:off x="9714865" y="3740785"/>
          <a:ext cx="1952625" cy="1508760"/>
        </p:xfrm>
        <a:graphic>
          <a:graphicData uri="http://schemas.openxmlformats.org/drawingml/2006/table">
            <a:tbl>
              <a:tblPr firstRow="1" bandRow="1">
                <a:tableStyleId>{D113A9D2-9D6B-4929-AA2D-F23B5EE8CBE7}</a:tableStyleId>
              </a:tblPr>
              <a:tblGrid>
                <a:gridCol w="815340"/>
                <a:gridCol w="1137285"/>
              </a:tblGrid>
              <a:tr h="196850">
                <a:tc>
                  <a:txBody>
                    <a:bodyPr/>
                    <a:p>
                      <a:pPr>
                        <a:buNone/>
                      </a:pPr>
                      <a:r>
                        <a:rPr lang="en-US" altLang="zh-CN"/>
                        <a:t>Name</a:t>
                      </a:r>
                      <a:endParaRPr lang="en-US" altLang="zh-CN"/>
                    </a:p>
                  </a:txBody>
                  <a:tcPr/>
                </a:tc>
                <a:tc>
                  <a:txBody>
                    <a:bodyPr/>
                    <a:p>
                      <a:pPr>
                        <a:buNone/>
                      </a:pPr>
                      <a:r>
                        <a:rPr lang="en-US" altLang="zh-CN"/>
                        <a:t>Key</a:t>
                      </a:r>
                      <a:endParaRPr lang="en-US" altLang="zh-CN"/>
                    </a:p>
                  </a:txBody>
                  <a:tcPr/>
                </a:tc>
              </a:tr>
              <a:tr h="381000">
                <a:tc>
                  <a:txBody>
                    <a:bodyPr/>
                    <a:p>
                      <a:pPr>
                        <a:buNone/>
                      </a:pPr>
                      <a:r>
                        <a:rPr lang="en-US" altLang="zh-CN"/>
                        <a:t>Client</a:t>
                      </a:r>
                      <a:endParaRPr lang="en-US" altLang="zh-CN"/>
                    </a:p>
                  </a:txBody>
                  <a:tcPr/>
                </a:tc>
                <a:tc>
                  <a:txBody>
                    <a:bodyPr/>
                    <a:p>
                      <a:pPr>
                        <a:buNone/>
                      </a:pPr>
                      <a:r>
                        <a:rPr lang="en-US" altLang="zh-CN"/>
                        <a:t>Kc</a:t>
                      </a:r>
                      <a:endParaRPr lang="en-US" altLang="zh-CN"/>
                    </a:p>
                  </a:txBody>
                  <a:tcPr/>
                </a:tc>
              </a:tr>
              <a:tr h="381000">
                <a:tc>
                  <a:txBody>
                    <a:bodyPr/>
                    <a:p>
                      <a:pPr>
                        <a:buNone/>
                      </a:pPr>
                      <a:r>
                        <a:rPr lang="en-US" altLang="zh-CN"/>
                        <a:t>Server</a:t>
                      </a:r>
                      <a:endParaRPr lang="en-US" altLang="zh-CN"/>
                    </a:p>
                  </a:txBody>
                  <a:tcPr/>
                </a:tc>
                <a:tc>
                  <a:txBody>
                    <a:bodyPr/>
                    <a:p>
                      <a:pPr>
                        <a:buNone/>
                      </a:pPr>
                      <a:r>
                        <a:rPr lang="en-US" altLang="zh-CN"/>
                        <a:t>Ks</a:t>
                      </a:r>
                      <a:endParaRPr lang="en-US" altLang="zh-CN"/>
                    </a:p>
                  </a:txBody>
                  <a:tcPr/>
                </a:tc>
              </a:tr>
              <a:tr h="381000">
                <a:tc>
                  <a:txBody>
                    <a:bodyPr/>
                    <a:p>
                      <a:pPr>
                        <a:buNone/>
                      </a:pPr>
                      <a:r>
                        <a:rPr lang="en-US" altLang="zh-CN"/>
                        <a:t>...</a:t>
                      </a:r>
                      <a:endParaRPr lang="en-US" altLang="zh-CN"/>
                    </a:p>
                  </a:txBody>
                  <a:tcPr/>
                </a:tc>
                <a:tc>
                  <a:txBody>
                    <a:bodyPr/>
                    <a:p>
                      <a:pPr>
                        <a:buNone/>
                      </a:pPr>
                      <a:r>
                        <a:rPr lang="en-US" altLang="zh-CN"/>
                        <a:t>...</a:t>
                      </a:r>
                      <a:endParaRPr lang="en-US" altLang="zh-CN"/>
                    </a:p>
                  </a:txBody>
                  <a:tcPr/>
                </a:tc>
              </a:tr>
            </a:tbl>
          </a:graphicData>
        </a:graphic>
      </p:graphicFrame>
      <p:sp>
        <p:nvSpPr>
          <p:cNvPr id="53" name="矩形 52"/>
          <p:cNvSpPr/>
          <p:nvPr/>
        </p:nvSpPr>
        <p:spPr>
          <a:xfrm>
            <a:off x="1090930" y="2898140"/>
            <a:ext cx="614680" cy="715645"/>
          </a:xfrm>
          <a:prstGeom prst="rect">
            <a:avLst/>
          </a:prstGeom>
          <a:ln w="28575">
            <a:noFill/>
          </a:ln>
        </p:spPr>
        <p:style>
          <a:lnRef idx="2">
            <a:schemeClr val="dk1"/>
          </a:lnRef>
          <a:fillRef idx="1">
            <a:schemeClr val="lt1"/>
          </a:fillRef>
          <a:effectRef idx="0">
            <a:schemeClr val="dk1"/>
          </a:effectRef>
          <a:fontRef idx="minor">
            <a:schemeClr val="dk1"/>
          </a:fontRef>
        </p:style>
        <p:txBody>
          <a:bodyPr rtlCol="0" anchor="ctr"/>
          <a:p>
            <a:pPr algn="ctr"/>
            <a:r>
              <a:rPr lang="en-US" altLang="zh-CN" b="1"/>
              <a:t>Kc</a:t>
            </a:r>
            <a:endParaRPr lang="en-US" altLang="zh-CN" b="1"/>
          </a:p>
        </p:txBody>
      </p:sp>
      <p:sp>
        <p:nvSpPr>
          <p:cNvPr id="54" name="矩形 53"/>
          <p:cNvSpPr/>
          <p:nvPr>
            <p:custDataLst>
              <p:tags r:id="rId17"/>
            </p:custDataLst>
          </p:nvPr>
        </p:nvSpPr>
        <p:spPr>
          <a:xfrm>
            <a:off x="1036320" y="5397500"/>
            <a:ext cx="614680" cy="715645"/>
          </a:xfrm>
          <a:prstGeom prst="rect">
            <a:avLst/>
          </a:prstGeom>
          <a:ln w="28575">
            <a:noFill/>
          </a:ln>
        </p:spPr>
        <p:style>
          <a:lnRef idx="2">
            <a:schemeClr val="dk1"/>
          </a:lnRef>
          <a:fillRef idx="1">
            <a:schemeClr val="lt1"/>
          </a:fillRef>
          <a:effectRef idx="0">
            <a:schemeClr val="dk1"/>
          </a:effectRef>
          <a:fontRef idx="minor">
            <a:schemeClr val="dk1"/>
          </a:fontRef>
        </p:style>
        <p:txBody>
          <a:bodyPr rtlCol="0" anchor="ctr"/>
          <a:p>
            <a:pPr algn="ctr"/>
            <a:r>
              <a:rPr lang="en-US" altLang="zh-CN" b="1"/>
              <a:t>Ks</a:t>
            </a:r>
            <a:endParaRPr lang="en-US" altLang="zh-CN" b="1"/>
          </a:p>
        </p:txBody>
      </p:sp>
      <p:sp>
        <p:nvSpPr>
          <p:cNvPr id="14" name="圆角矩形 13"/>
          <p:cNvSpPr/>
          <p:nvPr/>
        </p:nvSpPr>
        <p:spPr>
          <a:xfrm>
            <a:off x="9975215" y="5553075"/>
            <a:ext cx="1466850" cy="669290"/>
          </a:xfrm>
          <a:prstGeom prst="roundRect">
            <a:avLst/>
          </a:prstGeom>
        </p:spPr>
        <p:style>
          <a:lnRef idx="3">
            <a:schemeClr val="lt1"/>
          </a:lnRef>
          <a:fillRef idx="1">
            <a:schemeClr val="accent2"/>
          </a:fillRef>
          <a:effectRef idx="1">
            <a:schemeClr val="accent2"/>
          </a:effectRef>
          <a:fontRef idx="minor">
            <a:schemeClr val="lt1"/>
          </a:fontRef>
        </p:style>
        <p:txBody>
          <a:bodyPr rtlCol="0" anchor="ctr"/>
          <a:p>
            <a:pPr algn="ctr"/>
            <a:r>
              <a:rPr lang="en-US" altLang="zh-CN" b="1"/>
              <a:t>TGS</a:t>
            </a:r>
            <a:r>
              <a:rPr lang="zh-CN" altLang="en-US" b="1"/>
              <a:t>主密钥：</a:t>
            </a:r>
            <a:r>
              <a:rPr lang="en-US" altLang="zh-CN" b="1"/>
              <a:t>K</a:t>
            </a:r>
            <a:r>
              <a:rPr lang="en-US" altLang="zh-CN" sz="1400" b="1"/>
              <a:t>tgs</a:t>
            </a:r>
            <a:endParaRPr lang="en-US" altLang="zh-CN" sz="1400" b="1"/>
          </a:p>
        </p:txBody>
      </p:sp>
      <p:sp>
        <p:nvSpPr>
          <p:cNvPr id="6" name="剪去单角的矩形 5"/>
          <p:cNvSpPr/>
          <p:nvPr/>
        </p:nvSpPr>
        <p:spPr>
          <a:xfrm>
            <a:off x="9975215" y="1519555"/>
            <a:ext cx="2078355" cy="1743710"/>
          </a:xfrm>
          <a:prstGeom prst="snip1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p>
            <a:pPr indent="0" algn="l">
              <a:buNone/>
            </a:pPr>
            <a:r>
              <a:rPr lang="en-US" altLang="zh-CN" b="1"/>
              <a:t>TGT</a:t>
            </a:r>
            <a:r>
              <a:rPr lang="zh-CN" altLang="en-US" b="1"/>
              <a:t>如何被认证，并防止</a:t>
            </a:r>
            <a:r>
              <a:rPr lang="zh-CN" altLang="en-US" b="1"/>
              <a:t>客户端或者攻击者</a:t>
            </a:r>
            <a:r>
              <a:rPr lang="zh-CN" altLang="en-US" b="1"/>
              <a:t>篡改？</a:t>
            </a:r>
            <a:endParaRPr lang="zh-CN" altLang="en-US" b="1"/>
          </a:p>
          <a:p>
            <a:pPr marL="285750" indent="-285750" algn="l">
              <a:buFont typeface="Arial" panose="020B0604020202020204" pitchFamily="34" charset="0"/>
              <a:buChar char="•"/>
            </a:pPr>
            <a:r>
              <a:rPr lang="zh-CN" altLang="en-US" b="1">
                <a:solidFill>
                  <a:srgbClr val="FF0000"/>
                </a:solidFill>
              </a:rPr>
              <a:t>使用</a:t>
            </a:r>
            <a:r>
              <a:rPr lang="en-US" altLang="zh-CN" b="1">
                <a:solidFill>
                  <a:srgbClr val="FF0000"/>
                </a:solidFill>
              </a:rPr>
              <a:t>TGS</a:t>
            </a:r>
            <a:r>
              <a:rPr lang="zh-CN" altLang="en-US" b="1">
                <a:solidFill>
                  <a:srgbClr val="FF0000"/>
                </a:solidFill>
              </a:rPr>
              <a:t>主密钥加密</a:t>
            </a:r>
            <a:endParaRPr lang="zh-CN" altLang="en-US" b="1">
              <a:solidFill>
                <a:srgbClr val="FF0000"/>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Tm="2827"/>
    </mc:Choice>
    <mc:Fallback>
      <p:transition spd="slow" advTm="282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6" grpId="1" animBg="1"/>
      <p:bldP spid="14" grpId="0" bldLvl="0" animBg="1"/>
      <p:bldP spid="14" grpId="1"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内容占位符 4"/>
          <p:cNvSpPr/>
          <p:nvPr>
            <p:ph idx="1"/>
          </p:nvPr>
        </p:nvSpPr>
        <p:spPr/>
        <p:txBody>
          <a:bodyPr/>
          <a:p>
            <a:r>
              <a:rPr lang="en-US" altLang="zh-CN" dirty="0" smtClean="0">
                <a:sym typeface="+mn-ea"/>
              </a:rPr>
              <a:t>Kerberos</a:t>
            </a:r>
            <a:r>
              <a:rPr lang="zh-CN" altLang="en-US" dirty="0" smtClean="0">
                <a:sym typeface="+mn-ea"/>
              </a:rPr>
              <a:t>协议</a:t>
            </a:r>
            <a:r>
              <a:rPr lang="zh-CN" altLang="en-US" dirty="0" smtClean="0">
                <a:sym typeface="+mn-ea"/>
              </a:rPr>
              <a:t>简化流程</a:t>
            </a:r>
            <a:endParaRPr lang="zh-CN" altLang="en-US" dirty="0" smtClean="0">
              <a:sym typeface="+mn-ea"/>
            </a:endParaRPr>
          </a:p>
        </p:txBody>
      </p:sp>
      <p:sp>
        <p:nvSpPr>
          <p:cNvPr id="2" name="标题 1"/>
          <p:cNvSpPr>
            <a:spLocks noGrp="1"/>
          </p:cNvSpPr>
          <p:nvPr>
            <p:ph type="title"/>
          </p:nvPr>
        </p:nvSpPr>
        <p:spPr/>
        <p:txBody>
          <a:bodyPr>
            <a:normAutofit fontScale="90000"/>
          </a:bodyPr>
          <a:lstStyle/>
          <a:p>
            <a:r>
              <a:rPr lang="en-US" altLang="zh-CN" dirty="0">
                <a:sym typeface="+mn-ea"/>
              </a:rPr>
              <a:t>16.4 </a:t>
            </a:r>
            <a:r>
              <a:rPr lang="en-US" altLang="zh-CN" dirty="0"/>
              <a:t>Kerberos</a:t>
            </a:r>
            <a:r>
              <a:rPr lang="zh-CN" altLang="en-US" dirty="0"/>
              <a:t>的</a:t>
            </a:r>
            <a:r>
              <a:rPr lang="zh-CN" altLang="en-US" dirty="0"/>
              <a:t>原理</a:t>
            </a:r>
            <a:endParaRPr lang="zh-CN" altLang="en-US" dirty="0"/>
          </a:p>
        </p:txBody>
      </p:sp>
      <p:sp>
        <p:nvSpPr>
          <p:cNvPr id="4" name="灯片编号占位符 3"/>
          <p:cNvSpPr>
            <a:spLocks noGrp="1"/>
          </p:cNvSpPr>
          <p:nvPr>
            <p:ph type="sldNum" sz="quarter" idx="12"/>
          </p:nvPr>
        </p:nvSpPr>
        <p:spPr/>
        <p:txBody>
          <a:bodyPr/>
          <a:lstStyle/>
          <a:p>
            <a:pPr>
              <a:defRPr/>
            </a:pPr>
            <a:fld id="{B42B4293-9377-4872-955B-7EAEC82CC678}" type="slidenum">
              <a:rPr lang="en-US" altLang="zh-CN" smtClean="0"/>
            </a:fld>
            <a:endParaRPr lang="en-US" altLang="zh-CN" dirty="0"/>
          </a:p>
        </p:txBody>
      </p:sp>
      <p:pic>
        <p:nvPicPr>
          <p:cNvPr id="10" name="图片 9"/>
          <p:cNvPicPr/>
          <p:nvPr>
            <p:custDataLst>
              <p:tags r:id="rId1"/>
            </p:custDataLst>
          </p:nvPr>
        </p:nvPicPr>
        <p:blipFill>
          <a:blip r:embed="rId2"/>
          <a:stretch>
            <a:fillRect/>
          </a:stretch>
        </p:blipFill>
        <p:spPr>
          <a:xfrm>
            <a:off x="1868170" y="2635250"/>
            <a:ext cx="1252220" cy="1096010"/>
          </a:xfrm>
          <a:prstGeom prst="rect">
            <a:avLst/>
          </a:prstGeom>
          <a:noFill/>
          <a:ln w="9525">
            <a:noFill/>
          </a:ln>
        </p:spPr>
      </p:pic>
      <p:pic>
        <p:nvPicPr>
          <p:cNvPr id="11" name="图片 10"/>
          <p:cNvPicPr/>
          <p:nvPr>
            <p:custDataLst>
              <p:tags r:id="rId3"/>
            </p:custDataLst>
          </p:nvPr>
        </p:nvPicPr>
        <p:blipFill>
          <a:blip r:embed="rId4"/>
          <a:stretch>
            <a:fillRect/>
          </a:stretch>
        </p:blipFill>
        <p:spPr>
          <a:xfrm>
            <a:off x="1651000" y="5537835"/>
            <a:ext cx="982345" cy="909955"/>
          </a:xfrm>
          <a:prstGeom prst="rect">
            <a:avLst/>
          </a:prstGeom>
          <a:noFill/>
          <a:ln w="9525">
            <a:noFill/>
          </a:ln>
        </p:spPr>
      </p:pic>
      <p:sp>
        <p:nvSpPr>
          <p:cNvPr id="8" name="文本框 7"/>
          <p:cNvSpPr txBox="1"/>
          <p:nvPr>
            <p:custDataLst>
              <p:tags r:id="rId5"/>
            </p:custDataLst>
          </p:nvPr>
        </p:nvSpPr>
        <p:spPr>
          <a:xfrm>
            <a:off x="1637665" y="6423660"/>
            <a:ext cx="995045" cy="398780"/>
          </a:xfrm>
          <a:prstGeom prst="rect">
            <a:avLst/>
          </a:prstGeom>
          <a:noFill/>
        </p:spPr>
        <p:txBody>
          <a:bodyPr wrap="square" rtlCol="0">
            <a:spAutoFit/>
          </a:bodyPr>
          <a:p>
            <a:r>
              <a:rPr lang="en-US" altLang="zh-CN" sz="2000" b="1"/>
              <a:t> Server</a:t>
            </a:r>
            <a:endParaRPr lang="en-US" altLang="zh-CN" sz="2000" b="1"/>
          </a:p>
        </p:txBody>
      </p:sp>
      <p:sp>
        <p:nvSpPr>
          <p:cNvPr id="23" name="文本框 22"/>
          <p:cNvSpPr txBox="1"/>
          <p:nvPr>
            <p:custDataLst>
              <p:tags r:id="rId6"/>
            </p:custDataLst>
          </p:nvPr>
        </p:nvSpPr>
        <p:spPr>
          <a:xfrm>
            <a:off x="919480" y="2243455"/>
            <a:ext cx="2573020" cy="398780"/>
          </a:xfrm>
          <a:prstGeom prst="rect">
            <a:avLst/>
          </a:prstGeom>
          <a:noFill/>
        </p:spPr>
        <p:txBody>
          <a:bodyPr wrap="square" rtlCol="0">
            <a:spAutoFit/>
          </a:bodyPr>
          <a:p>
            <a:pPr algn="ctr"/>
            <a:r>
              <a:rPr lang="en-US" altLang="zh-CN" sz="2000" b="1"/>
              <a:t>Client</a:t>
            </a:r>
            <a:endParaRPr lang="en-US" altLang="zh-CN" sz="2000" b="1"/>
          </a:p>
        </p:txBody>
      </p:sp>
      <p:sp>
        <p:nvSpPr>
          <p:cNvPr id="26" name="矩形 25"/>
          <p:cNvSpPr/>
          <p:nvPr/>
        </p:nvSpPr>
        <p:spPr>
          <a:xfrm>
            <a:off x="6266180" y="2545080"/>
            <a:ext cx="5599430" cy="4079875"/>
          </a:xfrm>
          <a:prstGeom prst="rect">
            <a:avLst/>
          </a:prstGeom>
          <a:ln w="38100">
            <a:solidFill>
              <a:schemeClr val="tx1"/>
            </a:solidFill>
          </a:ln>
        </p:spPr>
        <p:style>
          <a:lnRef idx="2">
            <a:schemeClr val="accent1"/>
          </a:lnRef>
          <a:fillRef idx="1">
            <a:schemeClr val="lt1"/>
          </a:fillRef>
          <a:effectRef idx="0">
            <a:schemeClr val="accent1"/>
          </a:effectRef>
          <a:fontRef idx="minor">
            <a:schemeClr val="dk1"/>
          </a:fontRef>
        </p:style>
        <p:txBody>
          <a:bodyPr rtlCol="0" anchor="ctr"/>
          <a:p>
            <a:pPr algn="ctr"/>
            <a:endParaRPr lang="zh-CN" altLang="en-US"/>
          </a:p>
        </p:txBody>
      </p:sp>
      <p:sp>
        <p:nvSpPr>
          <p:cNvPr id="27" name="文本框 26"/>
          <p:cNvSpPr txBox="1"/>
          <p:nvPr>
            <p:custDataLst>
              <p:tags r:id="rId7"/>
            </p:custDataLst>
          </p:nvPr>
        </p:nvSpPr>
        <p:spPr>
          <a:xfrm>
            <a:off x="6837680" y="1757680"/>
            <a:ext cx="4297680" cy="706755"/>
          </a:xfrm>
          <a:prstGeom prst="rect">
            <a:avLst/>
          </a:prstGeom>
          <a:noFill/>
        </p:spPr>
        <p:txBody>
          <a:bodyPr wrap="square" rtlCol="0">
            <a:spAutoFit/>
          </a:bodyPr>
          <a:p>
            <a:pPr algn="ctr"/>
            <a:r>
              <a:rPr lang="en-US" altLang="zh-CN" sz="2000" b="1"/>
              <a:t>Kerberos </a:t>
            </a:r>
            <a:endParaRPr lang="en-US" altLang="zh-CN" sz="2000" b="1"/>
          </a:p>
          <a:p>
            <a:pPr algn="ctr"/>
            <a:r>
              <a:rPr lang="en-US" altLang="zh-CN" sz="2000" b="1"/>
              <a:t>Key Distribution Center</a:t>
            </a:r>
            <a:r>
              <a:rPr lang="zh-CN" altLang="en-US" sz="2000" b="1"/>
              <a:t>（</a:t>
            </a:r>
            <a:r>
              <a:rPr lang="en-US" altLang="zh-CN" sz="2000" b="1"/>
              <a:t>KDC</a:t>
            </a:r>
            <a:r>
              <a:rPr lang="zh-CN" altLang="en-US" sz="2000" b="1"/>
              <a:t>）</a:t>
            </a:r>
            <a:endParaRPr lang="zh-CN" altLang="en-US" sz="2000" b="1"/>
          </a:p>
        </p:txBody>
      </p:sp>
      <p:sp>
        <p:nvSpPr>
          <p:cNvPr id="30" name="圆角矩形 29"/>
          <p:cNvSpPr/>
          <p:nvPr/>
        </p:nvSpPr>
        <p:spPr>
          <a:xfrm>
            <a:off x="6814820" y="2710180"/>
            <a:ext cx="2289810" cy="13906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000" b="1">
                <a:sym typeface="+mn-ea"/>
              </a:rPr>
              <a:t>Authentication</a:t>
            </a:r>
            <a:endParaRPr lang="en-US" altLang="zh-CN" sz="2000" b="1"/>
          </a:p>
          <a:p>
            <a:pPr algn="ctr"/>
            <a:r>
              <a:rPr lang="en-US" altLang="zh-CN" sz="2000" b="1">
                <a:sym typeface="+mn-ea"/>
              </a:rPr>
              <a:t>Service</a:t>
            </a:r>
            <a:endParaRPr lang="en-US" altLang="zh-CN" sz="2000" b="1">
              <a:sym typeface="+mn-ea"/>
            </a:endParaRPr>
          </a:p>
        </p:txBody>
      </p:sp>
      <p:sp>
        <p:nvSpPr>
          <p:cNvPr id="31" name="圆角矩形 30"/>
          <p:cNvSpPr/>
          <p:nvPr>
            <p:custDataLst>
              <p:tags r:id="rId8"/>
            </p:custDataLst>
          </p:nvPr>
        </p:nvSpPr>
        <p:spPr>
          <a:xfrm>
            <a:off x="6833235" y="4876165"/>
            <a:ext cx="2290445" cy="132270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000" b="1">
                <a:sym typeface="+mn-ea"/>
              </a:rPr>
              <a:t>Ticket Granting</a:t>
            </a:r>
            <a:endParaRPr lang="en-US" altLang="zh-CN" sz="2000" b="1"/>
          </a:p>
          <a:p>
            <a:pPr algn="ctr"/>
            <a:r>
              <a:rPr lang="en-US" altLang="zh-CN" sz="2000" b="1">
                <a:sym typeface="+mn-ea"/>
              </a:rPr>
              <a:t>Service</a:t>
            </a:r>
            <a:r>
              <a:rPr lang="zh-CN" altLang="en-US" sz="2000" b="1">
                <a:sym typeface="+mn-ea"/>
              </a:rPr>
              <a:t>（</a:t>
            </a:r>
            <a:r>
              <a:rPr lang="en-US" altLang="zh-CN" sz="2000" b="1">
                <a:sym typeface="+mn-ea"/>
              </a:rPr>
              <a:t>TGS</a:t>
            </a:r>
            <a:r>
              <a:rPr lang="zh-CN" altLang="en-US" sz="2000" b="1">
                <a:sym typeface="+mn-ea"/>
              </a:rPr>
              <a:t>）</a:t>
            </a:r>
            <a:endParaRPr lang="zh-CN" altLang="en-US" sz="2000" b="1">
              <a:sym typeface="+mn-ea"/>
            </a:endParaRPr>
          </a:p>
        </p:txBody>
      </p:sp>
      <p:sp>
        <p:nvSpPr>
          <p:cNvPr id="3" name="文本框 2"/>
          <p:cNvSpPr txBox="1"/>
          <p:nvPr>
            <p:custDataLst>
              <p:tags r:id="rId9"/>
            </p:custDataLst>
          </p:nvPr>
        </p:nvSpPr>
        <p:spPr>
          <a:xfrm>
            <a:off x="3529965" y="2633980"/>
            <a:ext cx="2539365" cy="312420"/>
          </a:xfrm>
          <a:prstGeom prst="rect">
            <a:avLst/>
          </a:prstGeom>
          <a:noFill/>
        </p:spPr>
        <p:txBody>
          <a:bodyPr wrap="square" rtlCol="0">
            <a:noAutofit/>
          </a:bodyPr>
          <a:p>
            <a:pPr algn="ctr"/>
            <a:r>
              <a:rPr lang="en-US" altLang="zh-CN" sz="2000" b="1">
                <a:solidFill>
                  <a:schemeClr val="accent1"/>
                </a:solidFill>
                <a:effectLst>
                  <a:outerShdw blurRad="38100" dist="25400" dir="5400000" algn="ctr" rotWithShape="0">
                    <a:srgbClr val="6E747A">
                      <a:alpha val="43000"/>
                    </a:srgbClr>
                  </a:outerShdw>
                </a:effectLst>
              </a:rPr>
              <a:t>1-Client</a:t>
            </a:r>
            <a:r>
              <a:rPr lang="zh-CN" altLang="en-US" sz="2000" b="1">
                <a:solidFill>
                  <a:schemeClr val="accent1"/>
                </a:solidFill>
                <a:effectLst>
                  <a:outerShdw blurRad="38100" dist="25400" dir="5400000" algn="ctr" rotWithShape="0">
                    <a:srgbClr val="6E747A">
                      <a:alpha val="43000"/>
                    </a:srgbClr>
                  </a:outerShdw>
                </a:effectLst>
              </a:rPr>
              <a:t>认证</a:t>
            </a:r>
            <a:r>
              <a:rPr lang="zh-CN" altLang="en-US" sz="2000" b="1">
                <a:solidFill>
                  <a:schemeClr val="accent1"/>
                </a:solidFill>
                <a:effectLst>
                  <a:outerShdw blurRad="38100" dist="25400" dir="5400000" algn="ctr" rotWithShape="0">
                    <a:srgbClr val="6E747A">
                      <a:alpha val="43000"/>
                    </a:srgbClr>
                  </a:outerShdw>
                </a:effectLst>
              </a:rPr>
              <a:t>请求</a:t>
            </a:r>
            <a:endParaRPr lang="zh-CN" altLang="en-US" sz="2000" b="1">
              <a:solidFill>
                <a:schemeClr val="accent1"/>
              </a:solidFill>
              <a:effectLst>
                <a:outerShdw blurRad="38100" dist="25400" dir="5400000" algn="ctr" rotWithShape="0">
                  <a:srgbClr val="6E747A">
                    <a:alpha val="43000"/>
                  </a:srgbClr>
                </a:outerShdw>
              </a:effectLst>
            </a:endParaRPr>
          </a:p>
        </p:txBody>
      </p:sp>
      <p:sp>
        <p:nvSpPr>
          <p:cNvPr id="25" name="文本框 24"/>
          <p:cNvSpPr txBox="1"/>
          <p:nvPr>
            <p:custDataLst>
              <p:tags r:id="rId10"/>
            </p:custDataLst>
          </p:nvPr>
        </p:nvSpPr>
        <p:spPr>
          <a:xfrm rot="1380000">
            <a:off x="3596640" y="4357370"/>
            <a:ext cx="2659380" cy="471170"/>
          </a:xfrm>
          <a:prstGeom prst="rect">
            <a:avLst/>
          </a:prstGeom>
          <a:noFill/>
        </p:spPr>
        <p:txBody>
          <a:bodyPr wrap="square" rtlCol="0">
            <a:noAutofit/>
          </a:bodyPr>
          <a:p>
            <a:pPr algn="ctr"/>
            <a:r>
              <a:rPr lang="en-US" altLang="zh-CN" sz="2000" b="1">
                <a:solidFill>
                  <a:schemeClr val="accent1"/>
                </a:solidFill>
                <a:effectLst>
                  <a:outerShdw blurRad="38100" dist="25400" dir="5400000" algn="ctr" rotWithShape="0">
                    <a:srgbClr val="6E747A">
                      <a:alpha val="43000"/>
                    </a:srgbClr>
                  </a:outerShdw>
                </a:effectLst>
              </a:rPr>
              <a:t>3-TGT</a:t>
            </a:r>
            <a:r>
              <a:rPr lang="zh-CN" altLang="en-US" sz="2000" b="1">
                <a:solidFill>
                  <a:schemeClr val="accent1"/>
                </a:solidFill>
                <a:effectLst>
                  <a:outerShdw blurRad="38100" dist="25400" dir="5400000" algn="ctr" rotWithShape="0">
                    <a:srgbClr val="6E747A">
                      <a:alpha val="43000"/>
                    </a:srgbClr>
                  </a:outerShdw>
                </a:effectLst>
              </a:rPr>
              <a:t>，</a:t>
            </a:r>
            <a:r>
              <a:rPr lang="en-US" altLang="zh-CN" sz="2000" b="1">
                <a:solidFill>
                  <a:schemeClr val="accent1"/>
                </a:solidFill>
                <a:effectLst>
                  <a:outerShdw blurRad="38100" dist="25400" dir="5400000" algn="ctr" rotWithShape="0">
                    <a:srgbClr val="6E747A">
                      <a:alpha val="43000"/>
                    </a:srgbClr>
                  </a:outerShdw>
                </a:effectLst>
              </a:rPr>
              <a:t>Req-Server</a:t>
            </a:r>
            <a:endParaRPr lang="en-US" altLang="zh-CN" sz="2000" b="1">
              <a:solidFill>
                <a:schemeClr val="accent1"/>
              </a:solidFill>
              <a:effectLst>
                <a:outerShdw blurRad="38100" dist="25400" dir="5400000" algn="ctr" rotWithShape="0">
                  <a:srgbClr val="6E747A">
                    <a:alpha val="43000"/>
                  </a:srgbClr>
                </a:outerShdw>
              </a:effectLst>
            </a:endParaRPr>
          </a:p>
        </p:txBody>
      </p:sp>
      <p:sp>
        <p:nvSpPr>
          <p:cNvPr id="32" name="文本框 31"/>
          <p:cNvSpPr txBox="1"/>
          <p:nvPr>
            <p:custDataLst>
              <p:tags r:id="rId11"/>
            </p:custDataLst>
          </p:nvPr>
        </p:nvSpPr>
        <p:spPr>
          <a:xfrm rot="1440000">
            <a:off x="3122930" y="4556125"/>
            <a:ext cx="2573020" cy="312420"/>
          </a:xfrm>
          <a:prstGeom prst="rect">
            <a:avLst/>
          </a:prstGeom>
          <a:noFill/>
        </p:spPr>
        <p:txBody>
          <a:bodyPr wrap="square" rtlCol="0">
            <a:noAutofit/>
          </a:bodyPr>
          <a:p>
            <a:pPr algn="ctr"/>
            <a:r>
              <a:rPr lang="en-US" altLang="zh-CN" sz="2000" b="1">
                <a:solidFill>
                  <a:schemeClr val="accent1"/>
                </a:solidFill>
                <a:effectLst>
                  <a:outerShdw blurRad="38100" dist="25400" dir="5400000" algn="ctr" rotWithShape="0">
                    <a:srgbClr val="6E747A">
                      <a:alpha val="43000"/>
                    </a:srgbClr>
                  </a:outerShdw>
                </a:effectLst>
              </a:rPr>
              <a:t>4-Session Ticket</a:t>
            </a:r>
            <a:r>
              <a:rPr lang="zh-CN" altLang="en-US" sz="2000" b="1">
                <a:solidFill>
                  <a:schemeClr val="accent1"/>
                </a:solidFill>
                <a:effectLst>
                  <a:outerShdw blurRad="38100" dist="25400" dir="5400000" algn="ctr" rotWithShape="0">
                    <a:srgbClr val="6E747A">
                      <a:alpha val="43000"/>
                    </a:srgbClr>
                  </a:outerShdw>
                </a:effectLst>
              </a:rPr>
              <a:t>，</a:t>
            </a:r>
            <a:r>
              <a:rPr lang="en-US" altLang="zh-CN" sz="2000" b="1">
                <a:solidFill>
                  <a:schemeClr val="accent1"/>
                </a:solidFill>
                <a:effectLst>
                  <a:outerShdw blurRad="38100" dist="25400" dir="5400000" algn="ctr" rotWithShape="0">
                    <a:srgbClr val="6E747A">
                      <a:alpha val="43000"/>
                    </a:srgbClr>
                  </a:outerShdw>
                </a:effectLst>
              </a:rPr>
              <a:t>ST</a:t>
            </a:r>
            <a:endParaRPr lang="en-US" altLang="zh-CN" sz="2000" b="1">
              <a:solidFill>
                <a:schemeClr val="accent1"/>
              </a:solidFill>
              <a:effectLst>
                <a:outerShdw blurRad="38100" dist="25400" dir="5400000" algn="ctr" rotWithShape="0">
                  <a:srgbClr val="6E747A">
                    <a:alpha val="43000"/>
                  </a:srgbClr>
                </a:outerShdw>
              </a:effectLst>
            </a:endParaRPr>
          </a:p>
        </p:txBody>
      </p:sp>
      <p:sp>
        <p:nvSpPr>
          <p:cNvPr id="36" name="文本框 35"/>
          <p:cNvSpPr txBox="1"/>
          <p:nvPr/>
        </p:nvSpPr>
        <p:spPr>
          <a:xfrm>
            <a:off x="845185" y="4406265"/>
            <a:ext cx="1299210" cy="398780"/>
          </a:xfrm>
          <a:prstGeom prst="rect">
            <a:avLst/>
          </a:prstGeom>
          <a:noFill/>
        </p:spPr>
        <p:txBody>
          <a:bodyPr wrap="square" rtlCol="0" anchor="t">
            <a:spAutoFit/>
          </a:bodyPr>
          <a:p>
            <a:pPr algn="ctr"/>
            <a:r>
              <a:rPr lang="en-US" altLang="zh-CN" sz="2000" b="1">
                <a:solidFill>
                  <a:schemeClr val="accent1"/>
                </a:solidFill>
                <a:effectLst>
                  <a:outerShdw blurRad="38100" dist="25400" dir="5400000" algn="ctr" rotWithShape="0">
                    <a:srgbClr val="6E747A">
                      <a:alpha val="43000"/>
                    </a:srgbClr>
                  </a:outerShdw>
                </a:effectLst>
                <a:sym typeface="+mn-ea"/>
              </a:rPr>
              <a:t>5-S</a:t>
            </a:r>
            <a:r>
              <a:rPr lang="en-US" altLang="zh-CN" sz="2000" b="1">
                <a:solidFill>
                  <a:schemeClr val="accent1"/>
                </a:solidFill>
                <a:effectLst>
                  <a:outerShdw blurRad="38100" dist="25400" dir="5400000" algn="ctr" rotWithShape="0">
                    <a:srgbClr val="6E747A">
                      <a:alpha val="43000"/>
                    </a:srgbClr>
                  </a:outerShdw>
                </a:effectLst>
                <a:sym typeface="+mn-ea"/>
              </a:rPr>
              <a:t>T</a:t>
            </a:r>
            <a:endParaRPr lang="en-US" altLang="zh-CN" sz="2000" b="1">
              <a:solidFill>
                <a:schemeClr val="accent1"/>
              </a:solidFill>
              <a:effectLst>
                <a:outerShdw blurRad="38100" dist="25400" dir="5400000" algn="ctr" rotWithShape="0">
                  <a:srgbClr val="6E747A">
                    <a:alpha val="43000"/>
                  </a:srgbClr>
                </a:outerShdw>
              </a:effectLst>
              <a:sym typeface="+mn-ea"/>
            </a:endParaRPr>
          </a:p>
        </p:txBody>
      </p:sp>
      <p:sp>
        <p:nvSpPr>
          <p:cNvPr id="38" name="文本框 37"/>
          <p:cNvSpPr txBox="1"/>
          <p:nvPr>
            <p:custDataLst>
              <p:tags r:id="rId12"/>
            </p:custDataLst>
          </p:nvPr>
        </p:nvSpPr>
        <p:spPr>
          <a:xfrm>
            <a:off x="2105660" y="4648835"/>
            <a:ext cx="1208405" cy="398780"/>
          </a:xfrm>
          <a:prstGeom prst="rect">
            <a:avLst/>
          </a:prstGeom>
          <a:noFill/>
        </p:spPr>
        <p:txBody>
          <a:bodyPr wrap="square" rtlCol="0" anchor="t">
            <a:spAutoFit/>
          </a:bodyPr>
          <a:p>
            <a:pPr algn="ctr"/>
            <a:r>
              <a:rPr lang="en-US" altLang="zh-CN" sz="2000" b="1">
                <a:solidFill>
                  <a:schemeClr val="accent1"/>
                </a:solidFill>
                <a:effectLst>
                  <a:outerShdw blurRad="38100" dist="25400" dir="5400000" algn="ctr" rotWithShape="0">
                    <a:srgbClr val="6E747A">
                      <a:alpha val="43000"/>
                    </a:srgbClr>
                  </a:outerShdw>
                </a:effectLst>
                <a:sym typeface="+mn-ea"/>
              </a:rPr>
              <a:t>6-Service</a:t>
            </a:r>
            <a:endParaRPr lang="en-US" altLang="zh-CN" sz="2000" b="1">
              <a:solidFill>
                <a:schemeClr val="accent1"/>
              </a:solidFill>
              <a:effectLst>
                <a:outerShdw blurRad="38100" dist="25400" dir="5400000" algn="ctr" rotWithShape="0">
                  <a:srgbClr val="6E747A">
                    <a:alpha val="43000"/>
                  </a:srgbClr>
                </a:outerShdw>
              </a:effectLst>
              <a:sym typeface="+mn-ea"/>
            </a:endParaRPr>
          </a:p>
        </p:txBody>
      </p:sp>
      <p:cxnSp>
        <p:nvCxnSpPr>
          <p:cNvPr id="39" name="直接箭头连接符 38"/>
          <p:cNvCxnSpPr/>
          <p:nvPr/>
        </p:nvCxnSpPr>
        <p:spPr>
          <a:xfrm flipV="1">
            <a:off x="3120390" y="2661285"/>
            <a:ext cx="3666490" cy="1714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custDataLst>
              <p:tags r:id="rId13"/>
            </p:custDataLst>
          </p:nvPr>
        </p:nvCxnSpPr>
        <p:spPr>
          <a:xfrm flipH="1" flipV="1">
            <a:off x="3128010" y="3049270"/>
            <a:ext cx="3679190" cy="508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a:off x="2977515" y="3613150"/>
            <a:ext cx="3902710" cy="170878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custDataLst>
              <p:tags r:id="rId14"/>
            </p:custDataLst>
          </p:nvPr>
        </p:nvCxnSpPr>
        <p:spPr>
          <a:xfrm flipH="1" flipV="1">
            <a:off x="2548890" y="3813810"/>
            <a:ext cx="4333240" cy="186118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a:off x="2045970" y="3917315"/>
            <a:ext cx="2540" cy="144018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a:xfrm flipH="1" flipV="1">
            <a:off x="2179955" y="3893185"/>
            <a:ext cx="5715" cy="143002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graphicFrame>
        <p:nvGraphicFramePr>
          <p:cNvPr id="51" name="表格 50"/>
          <p:cNvGraphicFramePr/>
          <p:nvPr>
            <p:custDataLst>
              <p:tags r:id="rId15"/>
            </p:custDataLst>
          </p:nvPr>
        </p:nvGraphicFramePr>
        <p:xfrm>
          <a:off x="9714865" y="3740785"/>
          <a:ext cx="1952625" cy="1508760"/>
        </p:xfrm>
        <a:graphic>
          <a:graphicData uri="http://schemas.openxmlformats.org/drawingml/2006/table">
            <a:tbl>
              <a:tblPr firstRow="1" bandRow="1">
                <a:tableStyleId>{D113A9D2-9D6B-4929-AA2D-F23B5EE8CBE7}</a:tableStyleId>
              </a:tblPr>
              <a:tblGrid>
                <a:gridCol w="815340"/>
                <a:gridCol w="1137285"/>
              </a:tblGrid>
              <a:tr h="365760">
                <a:tc>
                  <a:txBody>
                    <a:bodyPr/>
                    <a:p>
                      <a:pPr>
                        <a:buNone/>
                      </a:pPr>
                      <a:r>
                        <a:rPr lang="en-US" altLang="zh-CN"/>
                        <a:t>Name</a:t>
                      </a:r>
                      <a:endParaRPr lang="en-US" altLang="zh-CN"/>
                    </a:p>
                  </a:txBody>
                  <a:tcPr/>
                </a:tc>
                <a:tc>
                  <a:txBody>
                    <a:bodyPr/>
                    <a:p>
                      <a:pPr>
                        <a:buNone/>
                      </a:pPr>
                      <a:r>
                        <a:rPr lang="en-US" altLang="zh-CN"/>
                        <a:t>Key</a:t>
                      </a:r>
                      <a:endParaRPr lang="en-US" altLang="zh-CN"/>
                    </a:p>
                  </a:txBody>
                  <a:tcPr/>
                </a:tc>
              </a:tr>
              <a:tr h="381000">
                <a:tc>
                  <a:txBody>
                    <a:bodyPr/>
                    <a:p>
                      <a:pPr>
                        <a:buNone/>
                      </a:pPr>
                      <a:r>
                        <a:rPr lang="en-US" altLang="zh-CN"/>
                        <a:t>Client</a:t>
                      </a:r>
                      <a:endParaRPr lang="en-US" altLang="zh-CN"/>
                    </a:p>
                  </a:txBody>
                  <a:tcPr/>
                </a:tc>
                <a:tc>
                  <a:txBody>
                    <a:bodyPr/>
                    <a:p>
                      <a:pPr>
                        <a:buNone/>
                      </a:pPr>
                      <a:r>
                        <a:rPr lang="en-US" altLang="zh-CN"/>
                        <a:t>Kc</a:t>
                      </a:r>
                      <a:endParaRPr lang="en-US" altLang="zh-CN"/>
                    </a:p>
                  </a:txBody>
                  <a:tcPr/>
                </a:tc>
              </a:tr>
              <a:tr h="381000">
                <a:tc>
                  <a:txBody>
                    <a:bodyPr/>
                    <a:p>
                      <a:pPr>
                        <a:buNone/>
                      </a:pPr>
                      <a:r>
                        <a:rPr lang="en-US" altLang="zh-CN"/>
                        <a:t>Server</a:t>
                      </a:r>
                      <a:endParaRPr lang="en-US" altLang="zh-CN"/>
                    </a:p>
                  </a:txBody>
                  <a:tcPr/>
                </a:tc>
                <a:tc>
                  <a:txBody>
                    <a:bodyPr/>
                    <a:p>
                      <a:pPr>
                        <a:buNone/>
                      </a:pPr>
                      <a:r>
                        <a:rPr lang="en-US" altLang="zh-CN"/>
                        <a:t>Ks</a:t>
                      </a:r>
                      <a:endParaRPr lang="en-US" altLang="zh-CN"/>
                    </a:p>
                  </a:txBody>
                  <a:tcPr/>
                </a:tc>
              </a:tr>
              <a:tr h="381000">
                <a:tc>
                  <a:txBody>
                    <a:bodyPr/>
                    <a:p>
                      <a:pPr>
                        <a:buNone/>
                      </a:pPr>
                      <a:r>
                        <a:rPr lang="en-US" altLang="zh-CN"/>
                        <a:t>...</a:t>
                      </a:r>
                      <a:endParaRPr lang="en-US" altLang="zh-CN"/>
                    </a:p>
                  </a:txBody>
                  <a:tcPr/>
                </a:tc>
                <a:tc>
                  <a:txBody>
                    <a:bodyPr/>
                    <a:p>
                      <a:pPr>
                        <a:buNone/>
                      </a:pPr>
                      <a:r>
                        <a:rPr lang="en-US" altLang="zh-CN"/>
                        <a:t>...</a:t>
                      </a:r>
                      <a:endParaRPr lang="en-US" altLang="zh-CN"/>
                    </a:p>
                  </a:txBody>
                  <a:tcPr/>
                </a:tc>
              </a:tr>
            </a:tbl>
          </a:graphicData>
        </a:graphic>
      </p:graphicFrame>
      <p:sp>
        <p:nvSpPr>
          <p:cNvPr id="53" name="矩形 52"/>
          <p:cNvSpPr/>
          <p:nvPr/>
        </p:nvSpPr>
        <p:spPr>
          <a:xfrm>
            <a:off x="1090930" y="2898140"/>
            <a:ext cx="614680" cy="715645"/>
          </a:xfrm>
          <a:prstGeom prst="rect">
            <a:avLst/>
          </a:prstGeom>
          <a:ln w="28575">
            <a:noFill/>
          </a:ln>
        </p:spPr>
        <p:style>
          <a:lnRef idx="2">
            <a:schemeClr val="dk1"/>
          </a:lnRef>
          <a:fillRef idx="1">
            <a:schemeClr val="lt1"/>
          </a:fillRef>
          <a:effectRef idx="0">
            <a:schemeClr val="dk1"/>
          </a:effectRef>
          <a:fontRef idx="minor">
            <a:schemeClr val="dk1"/>
          </a:fontRef>
        </p:style>
        <p:txBody>
          <a:bodyPr rtlCol="0" anchor="ctr"/>
          <a:p>
            <a:pPr algn="ctr"/>
            <a:r>
              <a:rPr lang="en-US" altLang="zh-CN" b="1"/>
              <a:t>Kc</a:t>
            </a:r>
            <a:endParaRPr lang="en-US" altLang="zh-CN" b="1"/>
          </a:p>
        </p:txBody>
      </p:sp>
      <p:sp>
        <p:nvSpPr>
          <p:cNvPr id="54" name="矩形 53"/>
          <p:cNvSpPr/>
          <p:nvPr>
            <p:custDataLst>
              <p:tags r:id="rId16"/>
            </p:custDataLst>
          </p:nvPr>
        </p:nvSpPr>
        <p:spPr>
          <a:xfrm>
            <a:off x="1036320" y="5397500"/>
            <a:ext cx="614680" cy="715645"/>
          </a:xfrm>
          <a:prstGeom prst="rect">
            <a:avLst/>
          </a:prstGeom>
          <a:ln w="28575">
            <a:noFill/>
          </a:ln>
        </p:spPr>
        <p:style>
          <a:lnRef idx="2">
            <a:schemeClr val="dk1"/>
          </a:lnRef>
          <a:fillRef idx="1">
            <a:schemeClr val="lt1"/>
          </a:fillRef>
          <a:effectRef idx="0">
            <a:schemeClr val="dk1"/>
          </a:effectRef>
          <a:fontRef idx="minor">
            <a:schemeClr val="dk1"/>
          </a:fontRef>
        </p:style>
        <p:txBody>
          <a:bodyPr rtlCol="0" anchor="ctr"/>
          <a:p>
            <a:pPr algn="ctr"/>
            <a:r>
              <a:rPr lang="en-US" altLang="zh-CN" b="1"/>
              <a:t>Ks</a:t>
            </a:r>
            <a:endParaRPr lang="en-US" altLang="zh-CN" b="1"/>
          </a:p>
        </p:txBody>
      </p:sp>
      <p:sp>
        <p:nvSpPr>
          <p:cNvPr id="61" name="七边形 60"/>
          <p:cNvSpPr/>
          <p:nvPr>
            <p:custDataLst>
              <p:tags r:id="rId17"/>
            </p:custDataLst>
          </p:nvPr>
        </p:nvSpPr>
        <p:spPr>
          <a:xfrm>
            <a:off x="4772660" y="3850005"/>
            <a:ext cx="431165" cy="477520"/>
          </a:xfrm>
          <a:prstGeom prst="heptagon">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p>
            <a:pPr algn="ctr"/>
            <a:r>
              <a:rPr lang="en-US" altLang="zh-CN" b="1"/>
              <a:t>2</a:t>
            </a:r>
            <a:endParaRPr lang="en-US" altLang="zh-CN" b="1"/>
          </a:p>
        </p:txBody>
      </p:sp>
      <p:sp>
        <p:nvSpPr>
          <p:cNvPr id="58" name="流程图: 终止 57"/>
          <p:cNvSpPr/>
          <p:nvPr/>
        </p:nvSpPr>
        <p:spPr>
          <a:xfrm rot="1380000">
            <a:off x="2760980" y="4179570"/>
            <a:ext cx="3949065" cy="879475"/>
          </a:xfrm>
          <a:prstGeom prst="flowChartTerminator">
            <a:avLst/>
          </a:prstGeom>
          <a:solidFill>
            <a:schemeClr val="accent2"/>
          </a:solidFill>
          <a:ln w="28575">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zh-CN" altLang="en-US" b="1" smtClean="0">
                <a:sym typeface="+mn-ea"/>
              </a:rPr>
              <a:t>票据授予服务交换阶段</a:t>
            </a:r>
            <a:endParaRPr lang="zh-CN" altLang="en-US" b="1" smtClean="0">
              <a:sym typeface="+mn-ea"/>
            </a:endParaRPr>
          </a:p>
          <a:p>
            <a:pPr algn="ctr"/>
            <a:r>
              <a:rPr lang="en-US" altLang="zh-CN" smtClean="0">
                <a:sym typeface="+mn-ea"/>
              </a:rPr>
              <a:t>Ticket Granting Service Exchange</a:t>
            </a:r>
            <a:endParaRPr lang="zh-CN" altLang="en-US" b="1" smtClean="0">
              <a:sym typeface="+mn-ea"/>
            </a:endParaRPr>
          </a:p>
        </p:txBody>
      </p:sp>
      <p:sp>
        <p:nvSpPr>
          <p:cNvPr id="14" name="圆角矩形 13"/>
          <p:cNvSpPr/>
          <p:nvPr/>
        </p:nvSpPr>
        <p:spPr>
          <a:xfrm>
            <a:off x="9975215" y="5553075"/>
            <a:ext cx="1466850" cy="669290"/>
          </a:xfrm>
          <a:prstGeom prst="roundRect">
            <a:avLst/>
          </a:prstGeom>
        </p:spPr>
        <p:style>
          <a:lnRef idx="3">
            <a:schemeClr val="lt1"/>
          </a:lnRef>
          <a:fillRef idx="1">
            <a:schemeClr val="accent1"/>
          </a:fillRef>
          <a:effectRef idx="1">
            <a:schemeClr val="accent1"/>
          </a:effectRef>
          <a:fontRef idx="minor">
            <a:schemeClr val="lt1"/>
          </a:fontRef>
        </p:style>
        <p:txBody>
          <a:bodyPr rtlCol="0" anchor="ctr"/>
          <a:p>
            <a:pPr algn="ctr"/>
            <a:r>
              <a:rPr lang="en-US" altLang="zh-CN" b="1"/>
              <a:t>TGS</a:t>
            </a:r>
            <a:r>
              <a:rPr lang="zh-CN" altLang="en-US" b="1"/>
              <a:t>主密钥：</a:t>
            </a:r>
            <a:r>
              <a:rPr lang="en-US" altLang="zh-CN" b="1"/>
              <a:t>K</a:t>
            </a:r>
            <a:r>
              <a:rPr lang="en-US" altLang="zh-CN" sz="1400" b="1"/>
              <a:t>tgs</a:t>
            </a:r>
            <a:endParaRPr lang="en-US" altLang="zh-CN" sz="1400" b="1"/>
          </a:p>
        </p:txBody>
      </p:sp>
      <p:sp>
        <p:nvSpPr>
          <p:cNvPr id="22" name="文本框 21"/>
          <p:cNvSpPr txBox="1"/>
          <p:nvPr>
            <p:custDataLst>
              <p:tags r:id="rId18"/>
            </p:custDataLst>
          </p:nvPr>
        </p:nvSpPr>
        <p:spPr>
          <a:xfrm>
            <a:off x="3232785" y="3068955"/>
            <a:ext cx="3246120" cy="341630"/>
          </a:xfrm>
          <a:prstGeom prst="rect">
            <a:avLst/>
          </a:prstGeom>
          <a:noFill/>
        </p:spPr>
        <p:txBody>
          <a:bodyPr wrap="square" rtlCol="0">
            <a:noAutofit/>
          </a:bodyPr>
          <a:p>
            <a:pPr algn="ctr"/>
            <a:r>
              <a:rPr lang="en-US" altLang="zh-CN" sz="2000" b="1">
                <a:solidFill>
                  <a:schemeClr val="accent1"/>
                </a:solidFill>
                <a:effectLst>
                  <a:outerShdw blurRad="38100" dist="25400" dir="5400000" algn="ctr" rotWithShape="0">
                    <a:srgbClr val="6E747A">
                      <a:alpha val="43000"/>
                    </a:srgbClr>
                  </a:outerShdw>
                </a:effectLst>
                <a:sym typeface="+mn-ea"/>
              </a:rPr>
              <a:t>2-</a:t>
            </a:r>
            <a:r>
              <a:rPr lang="en-US" altLang="zh-CN" sz="2000" b="1">
                <a:solidFill>
                  <a:schemeClr val="accent1"/>
                </a:solidFill>
                <a:effectLst>
                  <a:outerShdw blurRad="38100" dist="25400" dir="5400000" algn="ctr" rotWithShape="0">
                    <a:srgbClr val="6E747A">
                      <a:alpha val="43000"/>
                    </a:srgbClr>
                  </a:outerShdw>
                </a:effectLst>
                <a:sym typeface="+mn-ea"/>
              </a:rPr>
              <a:t>Enc</a:t>
            </a:r>
            <a:r>
              <a:rPr lang="en-US" altLang="zh-CN" sz="1400" b="1">
                <a:solidFill>
                  <a:schemeClr val="accent1"/>
                </a:solidFill>
                <a:effectLst>
                  <a:outerShdw blurRad="38100" dist="25400" dir="5400000" algn="ctr" rotWithShape="0">
                    <a:srgbClr val="6E747A">
                      <a:alpha val="43000"/>
                    </a:srgbClr>
                  </a:outerShdw>
                </a:effectLst>
                <a:sym typeface="+mn-ea"/>
              </a:rPr>
              <a:t>Kc</a:t>
            </a:r>
            <a:r>
              <a:rPr lang="en-US" altLang="zh-CN" sz="2000" b="1">
                <a:solidFill>
                  <a:schemeClr val="accent1"/>
                </a:solidFill>
                <a:effectLst>
                  <a:outerShdw blurRad="38100" dist="25400" dir="5400000" algn="ctr" rotWithShape="0">
                    <a:srgbClr val="6E747A">
                      <a:alpha val="43000"/>
                    </a:srgbClr>
                  </a:outerShdw>
                </a:effectLst>
                <a:sym typeface="+mn-ea"/>
              </a:rPr>
              <a:t>{C</a:t>
            </a:r>
            <a:r>
              <a:rPr lang="en-US" altLang="zh-CN" sz="1400" b="1">
                <a:solidFill>
                  <a:schemeClr val="accent1"/>
                </a:solidFill>
                <a:effectLst>
                  <a:outerShdw blurRad="38100" dist="25400" dir="5400000" algn="ctr" rotWithShape="0">
                    <a:srgbClr val="6E747A">
                      <a:alpha val="43000"/>
                    </a:srgbClr>
                  </a:outerShdw>
                </a:effectLst>
                <a:sym typeface="+mn-ea"/>
              </a:rPr>
              <a:t>ID</a:t>
            </a:r>
            <a:r>
              <a:rPr lang="en-US" altLang="zh-CN" sz="2000" b="1">
                <a:solidFill>
                  <a:schemeClr val="accent1"/>
                </a:solidFill>
                <a:effectLst>
                  <a:outerShdw blurRad="38100" dist="25400" dir="5400000" algn="ctr" rotWithShape="0">
                    <a:srgbClr val="6E747A">
                      <a:alpha val="43000"/>
                    </a:srgbClr>
                  </a:outerShdw>
                </a:effectLst>
                <a:sym typeface="+mn-ea"/>
              </a:rPr>
              <a:t>}</a:t>
            </a:r>
            <a:r>
              <a:rPr lang="zh-CN" altLang="en-US" sz="2000" b="1">
                <a:solidFill>
                  <a:schemeClr val="accent1"/>
                </a:solidFill>
                <a:effectLst>
                  <a:outerShdw blurRad="38100" dist="25400" dir="5400000" algn="ctr" rotWithShape="0">
                    <a:srgbClr val="6E747A">
                      <a:alpha val="43000"/>
                    </a:srgbClr>
                  </a:outerShdw>
                </a:effectLst>
                <a:sym typeface="+mn-ea"/>
              </a:rPr>
              <a:t>，</a:t>
            </a:r>
            <a:r>
              <a:rPr lang="en-US" altLang="zh-CN" sz="2000" b="1">
                <a:solidFill>
                  <a:schemeClr val="accent1"/>
                </a:solidFill>
                <a:effectLst>
                  <a:outerShdw blurRad="38100" dist="25400" dir="5400000" algn="ctr" rotWithShape="0">
                    <a:srgbClr val="6E747A">
                      <a:alpha val="43000"/>
                    </a:srgbClr>
                  </a:outerShdw>
                </a:effectLst>
                <a:sym typeface="+mn-ea"/>
              </a:rPr>
              <a:t>Ticket Granting Ticket}</a:t>
            </a:r>
            <a:endParaRPr lang="en-US" altLang="zh-CN" sz="2000" b="1">
              <a:solidFill>
                <a:schemeClr val="accent1"/>
              </a:solidFill>
              <a:effectLst>
                <a:outerShdw blurRad="38100" dist="25400" dir="5400000" algn="ctr" rotWithShape="0">
                  <a:srgbClr val="6E747A">
                    <a:alpha val="43000"/>
                  </a:srgbClr>
                </a:outerShdw>
              </a:effectLst>
            </a:endParaRPr>
          </a:p>
        </p:txBody>
      </p:sp>
      <p:sp>
        <p:nvSpPr>
          <p:cNvPr id="57" name="流程图: 终止 56"/>
          <p:cNvSpPr/>
          <p:nvPr/>
        </p:nvSpPr>
        <p:spPr>
          <a:xfrm>
            <a:off x="2919730" y="2540000"/>
            <a:ext cx="3949065" cy="1120140"/>
          </a:xfrm>
          <a:prstGeom prst="flowChartTerminator">
            <a:avLst/>
          </a:prstGeom>
        </p:spPr>
        <p:style>
          <a:lnRef idx="3">
            <a:schemeClr val="lt1"/>
          </a:lnRef>
          <a:fillRef idx="1">
            <a:schemeClr val="accent2"/>
          </a:fillRef>
          <a:effectRef idx="1">
            <a:schemeClr val="accent2"/>
          </a:effectRef>
          <a:fontRef idx="minor">
            <a:schemeClr val="lt1"/>
          </a:fontRef>
        </p:style>
        <p:txBody>
          <a:bodyPr rtlCol="0" anchor="ctr"/>
          <a:p>
            <a:pPr algn="ctr"/>
            <a:r>
              <a:rPr lang="zh-CN" altLang="en-US" b="1"/>
              <a:t>认证服务交换阶段</a:t>
            </a:r>
            <a:endParaRPr lang="zh-CN" altLang="en-US" b="1"/>
          </a:p>
          <a:p>
            <a:pPr algn="ctr"/>
            <a:r>
              <a:rPr lang="en-US" altLang="zh-CN" smtClean="0">
                <a:sym typeface="+mn-ea"/>
              </a:rPr>
              <a:t>Authentication Service Exchange</a:t>
            </a:r>
            <a:endParaRPr lang="zh-CN" altLang="en-US" b="1"/>
          </a:p>
        </p:txBody>
      </p:sp>
      <p:sp>
        <p:nvSpPr>
          <p:cNvPr id="60" name="七边形 59"/>
          <p:cNvSpPr/>
          <p:nvPr/>
        </p:nvSpPr>
        <p:spPr>
          <a:xfrm>
            <a:off x="3169285" y="2266950"/>
            <a:ext cx="431165" cy="477520"/>
          </a:xfrm>
          <a:prstGeom prst="heptagon">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p>
            <a:pPr algn="ctr"/>
            <a:r>
              <a:rPr lang="en-US" altLang="zh-CN" b="1"/>
              <a:t>1</a:t>
            </a:r>
            <a:endParaRPr lang="en-US" altLang="zh-CN" b="1"/>
          </a:p>
        </p:txBody>
      </p:sp>
      <p:sp>
        <p:nvSpPr>
          <p:cNvPr id="59" name="流程图: 联系 58"/>
          <p:cNvSpPr/>
          <p:nvPr/>
        </p:nvSpPr>
        <p:spPr>
          <a:xfrm>
            <a:off x="899795" y="3936365"/>
            <a:ext cx="2389505" cy="1547495"/>
          </a:xfrm>
          <a:prstGeom prst="flowChartConnector">
            <a:avLst/>
          </a:prstGeom>
          <a:solidFill>
            <a:schemeClr val="accent2"/>
          </a:solidFill>
          <a:ln w="28575">
            <a:solidFill>
              <a:schemeClr val="accent2"/>
            </a:solidFill>
            <a:prstDash val="dash"/>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b="1" smtClean="0">
                <a:sym typeface="+mn-ea"/>
              </a:rPr>
              <a:t>客户端服务器交换阶段</a:t>
            </a:r>
            <a:r>
              <a:rPr lang="en-US" altLang="zh-CN" smtClean="0">
                <a:sym typeface="+mn-ea"/>
              </a:rPr>
              <a:t>Client/Server Exchange</a:t>
            </a:r>
            <a:endParaRPr lang="zh-CN" altLang="en-US" b="1">
              <a:sym typeface="+mn-ea"/>
            </a:endParaRPr>
          </a:p>
        </p:txBody>
      </p:sp>
      <p:sp>
        <p:nvSpPr>
          <p:cNvPr id="62" name="七边形 61"/>
          <p:cNvSpPr/>
          <p:nvPr>
            <p:custDataLst>
              <p:tags r:id="rId19"/>
            </p:custDataLst>
          </p:nvPr>
        </p:nvSpPr>
        <p:spPr>
          <a:xfrm>
            <a:off x="948690" y="3815715"/>
            <a:ext cx="431165" cy="477520"/>
          </a:xfrm>
          <a:prstGeom prst="heptagon">
            <a:avLst/>
          </a:prstGeom>
          <a:ln>
            <a:noFill/>
          </a:ln>
        </p:spPr>
        <p:style>
          <a:lnRef idx="2">
            <a:schemeClr val="accent2">
              <a:shade val="50000"/>
            </a:schemeClr>
          </a:lnRef>
          <a:fillRef idx="1">
            <a:schemeClr val="accent2"/>
          </a:fillRef>
          <a:effectRef idx="0">
            <a:schemeClr val="accent2"/>
          </a:effectRef>
          <a:fontRef idx="minor">
            <a:schemeClr val="lt1"/>
          </a:fontRef>
        </p:style>
        <p:txBody>
          <a:bodyPr rtlCol="0" anchor="ctr"/>
          <a:p>
            <a:pPr algn="ctr"/>
            <a:r>
              <a:rPr lang="en-US" altLang="zh-CN" b="1"/>
              <a:t>3</a:t>
            </a:r>
            <a:endParaRPr lang="en-US" altLang="zh-CN" b="1"/>
          </a:p>
        </p:txBody>
      </p:sp>
    </p:spTree>
  </p:cSld>
  <p:clrMapOvr>
    <a:masterClrMapping/>
  </p:clrMapOvr>
  <mc:AlternateContent xmlns:mc="http://schemas.openxmlformats.org/markup-compatibility/2006">
    <mc:Choice xmlns:p14="http://schemas.microsoft.com/office/powerpoint/2010/main" Requires="p14">
      <p:transition spd="slow" p14:dur="2000" advTm="2827"/>
    </mc:Choice>
    <mc:Fallback>
      <p:transition spd="slow" advTm="282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7"/>
                                        </p:tgtEl>
                                        <p:attrNameLst>
                                          <p:attrName>style.visibility</p:attrName>
                                        </p:attrNameLst>
                                      </p:cBhvr>
                                      <p:to>
                                        <p:strVal val="visible"/>
                                      </p:to>
                                    </p:set>
                                    <p:anim calcmode="lin" valueType="num">
                                      <p:cBhvr additive="base">
                                        <p:cTn id="7" dur="500" fill="hold"/>
                                        <p:tgtEl>
                                          <p:spTgt spid="57"/>
                                        </p:tgtEl>
                                        <p:attrNameLst>
                                          <p:attrName>ppt_x</p:attrName>
                                        </p:attrNameLst>
                                      </p:cBhvr>
                                      <p:tavLst>
                                        <p:tav tm="0">
                                          <p:val>
                                            <p:strVal val="#ppt_x"/>
                                          </p:val>
                                        </p:tav>
                                        <p:tav tm="100000">
                                          <p:val>
                                            <p:strVal val="#ppt_x"/>
                                          </p:val>
                                        </p:tav>
                                      </p:tavLst>
                                    </p:anim>
                                    <p:anim calcmode="lin" valueType="num">
                                      <p:cBhvr additive="base">
                                        <p:cTn id="8" dur="500" fill="hold"/>
                                        <p:tgtEl>
                                          <p:spTgt spid="5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8"/>
                                        </p:tgtEl>
                                        <p:attrNameLst>
                                          <p:attrName>style.visibility</p:attrName>
                                        </p:attrNameLst>
                                      </p:cBhvr>
                                      <p:to>
                                        <p:strVal val="visible"/>
                                      </p:to>
                                    </p:set>
                                    <p:anim calcmode="lin" valueType="num">
                                      <p:cBhvr additive="base">
                                        <p:cTn id="13" dur="500" fill="hold"/>
                                        <p:tgtEl>
                                          <p:spTgt spid="58"/>
                                        </p:tgtEl>
                                        <p:attrNameLst>
                                          <p:attrName>ppt_x</p:attrName>
                                        </p:attrNameLst>
                                      </p:cBhvr>
                                      <p:tavLst>
                                        <p:tav tm="0">
                                          <p:val>
                                            <p:strVal val="#ppt_x"/>
                                          </p:val>
                                        </p:tav>
                                        <p:tav tm="100000">
                                          <p:val>
                                            <p:strVal val="#ppt_x"/>
                                          </p:val>
                                        </p:tav>
                                      </p:tavLst>
                                    </p:anim>
                                    <p:anim calcmode="lin" valueType="num">
                                      <p:cBhvr additive="base">
                                        <p:cTn id="14" dur="500" fill="hold"/>
                                        <p:tgtEl>
                                          <p:spTgt spid="5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9"/>
                                        </p:tgtEl>
                                        <p:attrNameLst>
                                          <p:attrName>style.visibility</p:attrName>
                                        </p:attrNameLst>
                                      </p:cBhvr>
                                      <p:to>
                                        <p:strVal val="visible"/>
                                      </p:to>
                                    </p:set>
                                    <p:anim calcmode="lin" valueType="num">
                                      <p:cBhvr additive="base">
                                        <p:cTn id="19" dur="500" fill="hold"/>
                                        <p:tgtEl>
                                          <p:spTgt spid="59"/>
                                        </p:tgtEl>
                                        <p:attrNameLst>
                                          <p:attrName>ppt_x</p:attrName>
                                        </p:attrNameLst>
                                      </p:cBhvr>
                                      <p:tavLst>
                                        <p:tav tm="0">
                                          <p:val>
                                            <p:strVal val="#ppt_x"/>
                                          </p:val>
                                        </p:tav>
                                        <p:tav tm="100000">
                                          <p:val>
                                            <p:strVal val="#ppt_x"/>
                                          </p:val>
                                        </p:tav>
                                      </p:tavLst>
                                    </p:anim>
                                    <p:anim calcmode="lin" valueType="num">
                                      <p:cBhvr additive="base">
                                        <p:cTn id="20" dur="500" fill="hold"/>
                                        <p:tgtEl>
                                          <p:spTgt spid="5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bldLvl="0" animBg="1"/>
      <p:bldP spid="57" grpId="1" animBg="1"/>
      <p:bldP spid="58" grpId="0" bldLvl="0" animBg="1"/>
      <p:bldP spid="58" grpId="1" animBg="1"/>
      <p:bldP spid="59" grpId="0" bldLvl="0" animBg="1"/>
      <p:bldP spid="59" grpId="1"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sym typeface="+mn-ea"/>
              </a:rPr>
              <a:t>16.4 </a:t>
            </a:r>
            <a:r>
              <a:rPr lang="en-US" altLang="zh-CN" dirty="0"/>
              <a:t>Kerberos</a:t>
            </a:r>
            <a:r>
              <a:rPr lang="zh-CN" altLang="en-US" dirty="0"/>
              <a:t>协议</a:t>
            </a:r>
            <a:r>
              <a:rPr lang="zh-CN" altLang="en-US" dirty="0"/>
              <a:t>流程</a:t>
            </a:r>
            <a:endParaRPr lang="zh-CN" altLang="en-US" dirty="0"/>
          </a:p>
        </p:txBody>
      </p:sp>
      <p:sp>
        <p:nvSpPr>
          <p:cNvPr id="4" name="灯片编号占位符 3"/>
          <p:cNvSpPr>
            <a:spLocks noGrp="1"/>
          </p:cNvSpPr>
          <p:nvPr>
            <p:ph type="sldNum" sz="quarter" idx="12"/>
          </p:nvPr>
        </p:nvSpPr>
        <p:spPr/>
        <p:txBody>
          <a:bodyPr/>
          <a:lstStyle/>
          <a:p>
            <a:pPr>
              <a:defRPr/>
            </a:pPr>
            <a:fld id="{B42B4293-9377-4872-955B-7EAEC82CC678}" type="slidenum">
              <a:rPr lang="en-US" altLang="zh-CN" smtClean="0"/>
            </a:fld>
            <a:endParaRPr lang="en-US" altLang="zh-CN" dirty="0"/>
          </a:p>
        </p:txBody>
      </p:sp>
      <p:sp>
        <p:nvSpPr>
          <p:cNvPr id="5" name="内容占位符 4"/>
          <p:cNvSpPr/>
          <p:nvPr>
            <p:ph idx="1"/>
          </p:nvPr>
        </p:nvSpPr>
        <p:spPr/>
        <p:txBody>
          <a:bodyPr/>
          <a:p>
            <a:r>
              <a:rPr kumimoji="1" lang="zh-CN" altLang="en-US" dirty="0" smtClean="0">
                <a:latin typeface="Times New Roman" panose="02020603050405020304" pitchFamily="18" charset="0"/>
                <a:sym typeface="+mn-ea"/>
              </a:rPr>
              <a:t>第一阶段：</a:t>
            </a:r>
            <a:r>
              <a:rPr lang="zh-CN" altLang="en-US" b="1">
                <a:sym typeface="+mn-ea"/>
              </a:rPr>
              <a:t>认证服务交换阶段</a:t>
            </a:r>
            <a:r>
              <a:rPr lang="en-US" altLang="zh-CN" b="1">
                <a:sym typeface="+mn-ea"/>
              </a:rPr>
              <a:t> (KRB_AS_REQ)</a:t>
            </a:r>
            <a:endParaRPr lang="zh-CN" altLang="en-US" b="1"/>
          </a:p>
          <a:p>
            <a:pPr lvl="1"/>
            <a:r>
              <a:rPr kumimoji="1" lang="en-US" altLang="zh-CN" sz="2400" dirty="0" smtClean="0">
                <a:latin typeface="Times New Roman" panose="02020603050405020304" pitchFamily="18" charset="0"/>
                <a:sym typeface="+mn-ea"/>
              </a:rPr>
              <a:t>C</a:t>
            </a:r>
            <a:r>
              <a:rPr kumimoji="1" lang="zh-CN" altLang="en-US" sz="2400" dirty="0" smtClean="0">
                <a:latin typeface="Times New Roman" panose="02020603050405020304" pitchFamily="18" charset="0"/>
                <a:sym typeface="+mn-ea"/>
              </a:rPr>
              <a:t>：客户端的名称</a:t>
            </a:r>
            <a:endParaRPr kumimoji="1" lang="en-US" altLang="zh-CN" sz="2400" dirty="0" smtClean="0">
              <a:latin typeface="Times New Roman" panose="02020603050405020304" pitchFamily="18" charset="0"/>
              <a:sym typeface="+mn-ea"/>
            </a:endParaRPr>
          </a:p>
          <a:p>
            <a:pPr lvl="1"/>
            <a:r>
              <a:rPr kumimoji="1" lang="en-US" altLang="zh-CN" sz="2400" dirty="0" smtClean="0">
                <a:latin typeface="Times New Roman" panose="02020603050405020304" pitchFamily="18" charset="0"/>
                <a:sym typeface="+mn-ea"/>
              </a:rPr>
              <a:t>TGS</a:t>
            </a:r>
            <a:r>
              <a:rPr kumimoji="1" lang="zh-CN" altLang="en-US" sz="2400" dirty="0" smtClean="0">
                <a:latin typeface="Times New Roman" panose="02020603050405020304" pitchFamily="18" charset="0"/>
                <a:sym typeface="+mn-ea"/>
              </a:rPr>
              <a:t>：之后要请求的</a:t>
            </a:r>
            <a:r>
              <a:rPr kumimoji="1" lang="en-US" altLang="zh-CN" sz="2400" dirty="0" smtClean="0">
                <a:latin typeface="Times New Roman" panose="02020603050405020304" pitchFamily="18" charset="0"/>
                <a:sym typeface="+mn-ea"/>
              </a:rPr>
              <a:t>KDC</a:t>
            </a:r>
            <a:r>
              <a:rPr kumimoji="1" lang="zh-CN" altLang="en-US" sz="2400" dirty="0" smtClean="0">
                <a:latin typeface="Times New Roman" panose="02020603050405020304" pitchFamily="18" charset="0"/>
                <a:sym typeface="+mn-ea"/>
              </a:rPr>
              <a:t>中</a:t>
            </a:r>
            <a:r>
              <a:rPr kumimoji="1" lang="en-US" altLang="zh-CN" sz="2400" dirty="0" smtClean="0">
                <a:latin typeface="Times New Roman" panose="02020603050405020304" pitchFamily="18" charset="0"/>
                <a:sym typeface="+mn-ea"/>
              </a:rPr>
              <a:t>TGS</a:t>
            </a:r>
            <a:r>
              <a:rPr kumimoji="1" lang="zh-CN" altLang="en-US" sz="2400" dirty="0" smtClean="0">
                <a:latin typeface="Times New Roman" panose="02020603050405020304" pitchFamily="18" charset="0"/>
                <a:sym typeface="+mn-ea"/>
              </a:rPr>
              <a:t>服务</a:t>
            </a:r>
            <a:r>
              <a:rPr kumimoji="1" lang="zh-CN" altLang="en-US" sz="2400" dirty="0" smtClean="0">
                <a:latin typeface="Times New Roman" panose="02020603050405020304" pitchFamily="18" charset="0"/>
                <a:sym typeface="+mn-ea"/>
              </a:rPr>
              <a:t>器的名称</a:t>
            </a:r>
            <a:endParaRPr kumimoji="1" lang="en-US" altLang="zh-CN" sz="2400" dirty="0" smtClean="0">
              <a:latin typeface="Times New Roman" panose="02020603050405020304" pitchFamily="18" charset="0"/>
              <a:sym typeface="+mn-ea"/>
            </a:endParaRPr>
          </a:p>
          <a:p>
            <a:pPr lvl="1"/>
            <a:r>
              <a:rPr kumimoji="1" lang="en-US" altLang="zh-CN" sz="2400" dirty="0" smtClean="0">
                <a:latin typeface="Times New Roman" panose="02020603050405020304" pitchFamily="18" charset="0"/>
                <a:sym typeface="+mn-ea"/>
              </a:rPr>
              <a:t>n1</a:t>
            </a:r>
            <a:r>
              <a:rPr kumimoji="1" lang="zh-CN" altLang="en-US" sz="2400" dirty="0" smtClean="0">
                <a:latin typeface="Times New Roman" panose="02020603050405020304" pitchFamily="18" charset="0"/>
                <a:sym typeface="+mn-ea"/>
              </a:rPr>
              <a:t>：一个</a:t>
            </a:r>
            <a:r>
              <a:rPr kumimoji="1" lang="en-US" altLang="zh-CN" sz="2400" dirty="0" smtClean="0">
                <a:latin typeface="Times New Roman" panose="02020603050405020304" pitchFamily="18" charset="0"/>
                <a:sym typeface="+mn-ea"/>
              </a:rPr>
              <a:t>nonce</a:t>
            </a:r>
            <a:r>
              <a:rPr kumimoji="1" lang="zh-CN" altLang="en-US" sz="2400" dirty="0" smtClean="0">
                <a:latin typeface="Times New Roman" panose="02020603050405020304" pitchFamily="18" charset="0"/>
                <a:sym typeface="+mn-ea"/>
              </a:rPr>
              <a:t>，用于防止重放</a:t>
            </a:r>
            <a:r>
              <a:rPr kumimoji="1" lang="zh-CN" altLang="en-US" sz="2400" dirty="0" smtClean="0">
                <a:latin typeface="Times New Roman" panose="02020603050405020304" pitchFamily="18" charset="0"/>
                <a:sym typeface="+mn-ea"/>
              </a:rPr>
              <a:t>攻击</a:t>
            </a:r>
            <a:endParaRPr kumimoji="1" lang="zh-CN" altLang="en-US" sz="2400" dirty="0" smtClean="0">
              <a:latin typeface="Times New Roman" panose="02020603050405020304" pitchFamily="18" charset="0"/>
              <a:sym typeface="+mn-ea"/>
            </a:endParaRPr>
          </a:p>
          <a:p>
            <a:endParaRPr kumimoji="1" lang="zh-CN" altLang="en-US" dirty="0" smtClean="0">
              <a:latin typeface="Times New Roman" panose="02020603050405020304" pitchFamily="18" charset="0"/>
              <a:sym typeface="+mn-ea"/>
            </a:endParaRPr>
          </a:p>
          <a:p>
            <a:endParaRPr lang="zh-CN" altLang="en-US" dirty="0" smtClean="0">
              <a:sym typeface="+mn-ea"/>
            </a:endParaRPr>
          </a:p>
        </p:txBody>
      </p:sp>
      <p:pic>
        <p:nvPicPr>
          <p:cNvPr id="10" name="图片 9"/>
          <p:cNvPicPr/>
          <p:nvPr>
            <p:custDataLst>
              <p:tags r:id="rId1"/>
            </p:custDataLst>
          </p:nvPr>
        </p:nvPicPr>
        <p:blipFill>
          <a:blip r:embed="rId2"/>
          <a:stretch>
            <a:fillRect/>
          </a:stretch>
        </p:blipFill>
        <p:spPr>
          <a:xfrm>
            <a:off x="3620135" y="4556125"/>
            <a:ext cx="650875" cy="731520"/>
          </a:xfrm>
          <a:prstGeom prst="rect">
            <a:avLst/>
          </a:prstGeom>
          <a:noFill/>
          <a:ln w="9525">
            <a:noFill/>
          </a:ln>
        </p:spPr>
      </p:pic>
      <p:sp>
        <p:nvSpPr>
          <p:cNvPr id="23" name="文本框 22"/>
          <p:cNvSpPr txBox="1"/>
          <p:nvPr>
            <p:custDataLst>
              <p:tags r:id="rId3"/>
            </p:custDataLst>
          </p:nvPr>
        </p:nvSpPr>
        <p:spPr>
          <a:xfrm>
            <a:off x="2648585" y="4147820"/>
            <a:ext cx="2573020" cy="398780"/>
          </a:xfrm>
          <a:prstGeom prst="rect">
            <a:avLst/>
          </a:prstGeom>
          <a:noFill/>
        </p:spPr>
        <p:txBody>
          <a:bodyPr wrap="square" rtlCol="0">
            <a:spAutoFit/>
          </a:bodyPr>
          <a:p>
            <a:pPr algn="ctr"/>
            <a:r>
              <a:rPr lang="en-US" altLang="zh-CN" sz="2000" b="1"/>
              <a:t>Client</a:t>
            </a:r>
            <a:endParaRPr lang="zh-CN" altLang="en-US" sz="2000" b="1"/>
          </a:p>
        </p:txBody>
      </p:sp>
      <p:sp>
        <p:nvSpPr>
          <p:cNvPr id="30" name="圆角矩形 29"/>
          <p:cNvSpPr/>
          <p:nvPr/>
        </p:nvSpPr>
        <p:spPr>
          <a:xfrm>
            <a:off x="7908290" y="4546600"/>
            <a:ext cx="2289810" cy="7213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000" b="1">
                <a:sym typeface="+mn-ea"/>
              </a:rPr>
              <a:t>Authentication</a:t>
            </a:r>
            <a:endParaRPr lang="en-US" altLang="zh-CN" sz="2000" b="1"/>
          </a:p>
          <a:p>
            <a:pPr algn="ctr"/>
            <a:r>
              <a:rPr lang="en-US" altLang="zh-CN" sz="2000" b="1">
                <a:sym typeface="+mn-ea"/>
              </a:rPr>
              <a:t>Service</a:t>
            </a:r>
            <a:endParaRPr lang="en-US" altLang="zh-CN" sz="2000" b="1">
              <a:sym typeface="+mn-ea"/>
            </a:endParaRPr>
          </a:p>
        </p:txBody>
      </p:sp>
      <p:sp>
        <p:nvSpPr>
          <p:cNvPr id="3" name="圆角矩形 2"/>
          <p:cNvSpPr/>
          <p:nvPr>
            <p:custDataLst>
              <p:tags r:id="rId4"/>
            </p:custDataLst>
          </p:nvPr>
        </p:nvSpPr>
        <p:spPr>
          <a:xfrm>
            <a:off x="2413000" y="4726940"/>
            <a:ext cx="1109345" cy="389890"/>
          </a:xfrm>
          <a:prstGeom prst="roundRect">
            <a:avLst/>
          </a:prstGeom>
        </p:spPr>
        <p:style>
          <a:lnRef idx="2">
            <a:schemeClr val="dk1"/>
          </a:lnRef>
          <a:fillRef idx="1">
            <a:schemeClr val="lt1"/>
          </a:fillRef>
          <a:effectRef idx="0">
            <a:schemeClr val="dk1"/>
          </a:effectRef>
          <a:fontRef idx="minor">
            <a:schemeClr val="dk1"/>
          </a:fontRef>
        </p:style>
        <p:txBody>
          <a:bodyPr rtlCol="0" anchor="ctr"/>
          <a:p>
            <a:pPr algn="ctr"/>
            <a:r>
              <a:rPr lang="en-US" altLang="zh-CN" b="1"/>
              <a:t>K</a:t>
            </a:r>
            <a:r>
              <a:rPr lang="en-US" altLang="zh-CN" b="1"/>
              <a:t>c</a:t>
            </a:r>
            <a:endParaRPr lang="en-US" altLang="zh-CN" b="1"/>
          </a:p>
        </p:txBody>
      </p:sp>
      <p:cxnSp>
        <p:nvCxnSpPr>
          <p:cNvPr id="39" name="直接箭头连接符 38"/>
          <p:cNvCxnSpPr/>
          <p:nvPr>
            <p:custDataLst>
              <p:tags r:id="rId5"/>
            </p:custDataLst>
          </p:nvPr>
        </p:nvCxnSpPr>
        <p:spPr>
          <a:xfrm flipV="1">
            <a:off x="4328795" y="4802505"/>
            <a:ext cx="3473450" cy="2857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4899025" y="4479290"/>
            <a:ext cx="2228215" cy="368300"/>
          </a:xfrm>
          <a:prstGeom prst="rect">
            <a:avLst/>
          </a:prstGeom>
          <a:noFill/>
        </p:spPr>
        <p:txBody>
          <a:bodyPr wrap="square" rtlCol="0">
            <a:spAutoFit/>
          </a:bodyPr>
          <a:p>
            <a:r>
              <a:rPr lang="en-US" altLang="zh-CN" b="1"/>
              <a:t>C</a:t>
            </a:r>
            <a:r>
              <a:rPr lang="zh-CN" altLang="en-US" b="1"/>
              <a:t>，</a:t>
            </a:r>
            <a:r>
              <a:rPr lang="en-US" altLang="zh-CN" b="1"/>
              <a:t>TGS</a:t>
            </a:r>
            <a:r>
              <a:rPr lang="zh-CN" altLang="en-US" sz="1400" b="1"/>
              <a:t>，</a:t>
            </a:r>
            <a:r>
              <a:rPr lang="en-US" altLang="zh-CN" b="1" dirty="0" smtClean="0">
                <a:sym typeface="+mn-ea"/>
              </a:rPr>
              <a:t>n1</a:t>
            </a:r>
            <a:endParaRPr lang="en-US" altLang="zh-CN" b="1" dirty="0" smtClean="0">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2827"/>
    </mc:Choice>
    <mc:Fallback>
      <p:transition spd="slow" advTm="2827"/>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sym typeface="+mn-ea"/>
              </a:rPr>
              <a:t>16.4 </a:t>
            </a:r>
            <a:r>
              <a:rPr lang="en-US" altLang="zh-CN" dirty="0"/>
              <a:t>Kerberos</a:t>
            </a:r>
            <a:r>
              <a:rPr lang="zh-CN" altLang="en-US" dirty="0"/>
              <a:t>协议</a:t>
            </a:r>
            <a:r>
              <a:rPr lang="zh-CN" altLang="en-US" dirty="0"/>
              <a:t>流程</a:t>
            </a:r>
            <a:endParaRPr lang="zh-CN" altLang="en-US" dirty="0"/>
          </a:p>
        </p:txBody>
      </p:sp>
      <p:sp>
        <p:nvSpPr>
          <p:cNvPr id="4" name="灯片编号占位符 3"/>
          <p:cNvSpPr>
            <a:spLocks noGrp="1"/>
          </p:cNvSpPr>
          <p:nvPr>
            <p:ph type="sldNum" sz="quarter" idx="12"/>
          </p:nvPr>
        </p:nvSpPr>
        <p:spPr/>
        <p:txBody>
          <a:bodyPr/>
          <a:lstStyle/>
          <a:p>
            <a:pPr>
              <a:defRPr/>
            </a:pPr>
            <a:fld id="{B42B4293-9377-4872-955B-7EAEC82CC678}" type="slidenum">
              <a:rPr lang="en-US" altLang="zh-CN" smtClean="0"/>
            </a:fld>
            <a:endParaRPr lang="en-US" altLang="zh-CN" dirty="0"/>
          </a:p>
        </p:txBody>
      </p:sp>
      <p:sp>
        <p:nvSpPr>
          <p:cNvPr id="5" name="内容占位符 4"/>
          <p:cNvSpPr/>
          <p:nvPr>
            <p:ph idx="1"/>
          </p:nvPr>
        </p:nvSpPr>
        <p:spPr/>
        <p:txBody>
          <a:bodyPr/>
          <a:p>
            <a:r>
              <a:rPr kumimoji="1" lang="zh-CN" altLang="en-US" dirty="0" smtClean="0">
                <a:latin typeface="Times New Roman" panose="02020603050405020304" pitchFamily="18" charset="0"/>
                <a:sym typeface="+mn-ea"/>
              </a:rPr>
              <a:t>第一阶段：</a:t>
            </a:r>
            <a:r>
              <a:rPr lang="zh-CN" altLang="en-US" b="1">
                <a:sym typeface="+mn-ea"/>
              </a:rPr>
              <a:t>认证服务交换阶段</a:t>
            </a:r>
            <a:r>
              <a:rPr lang="en-US" altLang="zh-CN" b="1">
                <a:sym typeface="+mn-ea"/>
              </a:rPr>
              <a:t> </a:t>
            </a:r>
            <a:r>
              <a:rPr lang="en-US" altLang="zh-CN" b="1">
                <a:sym typeface="+mn-ea"/>
              </a:rPr>
              <a:t>(KRB_AS_REP)</a:t>
            </a:r>
            <a:endParaRPr lang="zh-CN" altLang="en-US" b="1"/>
          </a:p>
          <a:p>
            <a:pPr lvl="1"/>
            <a:r>
              <a:rPr kumimoji="1" lang="en-US" altLang="zh-CN" sz="2400" dirty="0" smtClean="0">
                <a:latin typeface="Times New Roman" panose="02020603050405020304" pitchFamily="18" charset="0"/>
                <a:sym typeface="+mn-ea"/>
              </a:rPr>
              <a:t>C</a:t>
            </a:r>
            <a:r>
              <a:rPr kumimoji="1" lang="zh-CN" altLang="en-US" sz="2400" dirty="0" smtClean="0">
                <a:latin typeface="Times New Roman" panose="02020603050405020304" pitchFamily="18" charset="0"/>
                <a:sym typeface="+mn-ea"/>
              </a:rPr>
              <a:t>：客户端的名称</a:t>
            </a:r>
            <a:endParaRPr kumimoji="1" lang="en-US" altLang="zh-CN" sz="2400" dirty="0" smtClean="0">
              <a:latin typeface="Times New Roman" panose="02020603050405020304" pitchFamily="18" charset="0"/>
              <a:sym typeface="+mn-ea"/>
            </a:endParaRPr>
          </a:p>
          <a:p>
            <a:pPr lvl="1"/>
            <a:r>
              <a:rPr lang="zh-CN" altLang="en-US" sz="2400">
                <a:sym typeface="+mn-ea"/>
              </a:rPr>
              <a:t>被</a:t>
            </a:r>
            <a:r>
              <a:rPr lang="en-US" altLang="zh-CN" sz="2400">
                <a:sym typeface="+mn-ea"/>
              </a:rPr>
              <a:t>TGS</a:t>
            </a:r>
            <a:r>
              <a:rPr lang="zh-CN" altLang="en-US" sz="2400">
                <a:sym typeface="+mn-ea"/>
              </a:rPr>
              <a:t>的主密钥</a:t>
            </a:r>
            <a:r>
              <a:rPr lang="en-US" altLang="zh-CN" sz="2400">
                <a:sym typeface="+mn-ea"/>
              </a:rPr>
              <a:t>K</a:t>
            </a:r>
            <a:r>
              <a:rPr lang="en-US" altLang="zh-CN">
                <a:sym typeface="+mn-ea"/>
              </a:rPr>
              <a:t>tgs</a:t>
            </a:r>
            <a:r>
              <a:rPr lang="zh-CN" altLang="en-US" sz="2400">
                <a:sym typeface="+mn-ea"/>
              </a:rPr>
              <a:t>加密的</a:t>
            </a:r>
            <a:r>
              <a:rPr lang="en-US" altLang="zh-CN" sz="2400">
                <a:sym typeface="+mn-ea"/>
              </a:rPr>
              <a:t>TGT</a:t>
            </a:r>
            <a:r>
              <a:rPr lang="zh-CN" altLang="en-US" sz="2400">
                <a:sym typeface="+mn-ea"/>
              </a:rPr>
              <a:t>：</a:t>
            </a:r>
            <a:endParaRPr lang="zh-CN" altLang="en-US" sz="2400">
              <a:sym typeface="+mn-ea"/>
            </a:endParaRPr>
          </a:p>
          <a:p>
            <a:pPr lvl="2"/>
            <a:r>
              <a:rPr lang="en-US" altLang="zh-CN" sz="2400">
                <a:sym typeface="+mn-ea"/>
              </a:rPr>
              <a:t>SK</a:t>
            </a:r>
            <a:r>
              <a:rPr lang="en-US" altLang="zh-CN">
                <a:sym typeface="+mn-ea"/>
              </a:rPr>
              <a:t>kdc-c</a:t>
            </a:r>
            <a:r>
              <a:rPr lang="zh-CN" altLang="en-US" sz="2400">
                <a:sym typeface="+mn-ea"/>
              </a:rPr>
              <a:t>：</a:t>
            </a:r>
            <a:r>
              <a:rPr lang="en-US" altLang="zh-CN" sz="2400">
                <a:sym typeface="+mn-ea"/>
              </a:rPr>
              <a:t>KDC和Client之间的会话密钥</a:t>
            </a:r>
            <a:endParaRPr lang="zh-CN" altLang="en-US">
              <a:sym typeface="+mn-ea"/>
            </a:endParaRPr>
          </a:p>
          <a:p>
            <a:pPr lvl="2"/>
            <a:r>
              <a:rPr lang="en-US" altLang="zh-CN" sz="2400">
                <a:sym typeface="+mn-ea"/>
              </a:rPr>
              <a:t>t</a:t>
            </a:r>
            <a:r>
              <a:rPr lang="en-US" altLang="zh-CN">
                <a:sym typeface="+mn-ea"/>
              </a:rPr>
              <a:t>k</a:t>
            </a:r>
            <a:r>
              <a:rPr lang="zh-CN" altLang="en-US" sz="2400">
                <a:sym typeface="+mn-ea"/>
              </a:rPr>
              <a:t>：</a:t>
            </a:r>
            <a:r>
              <a:rPr lang="en-US" altLang="zh-CN" sz="2400">
                <a:sym typeface="+mn-ea"/>
              </a:rPr>
              <a:t>TGT</a:t>
            </a:r>
            <a:r>
              <a:rPr lang="zh-CN" altLang="en-US" sz="2400">
                <a:sym typeface="+mn-ea"/>
              </a:rPr>
              <a:t>的有效期</a:t>
            </a:r>
            <a:endParaRPr lang="zh-CN" altLang="en-US" sz="2400">
              <a:sym typeface="+mn-ea"/>
            </a:endParaRPr>
          </a:p>
          <a:p>
            <a:pPr lvl="1"/>
            <a:r>
              <a:rPr lang="zh-CN" altLang="en-US" sz="2665">
                <a:sym typeface="+mn-ea"/>
              </a:rPr>
              <a:t>被</a:t>
            </a:r>
            <a:r>
              <a:rPr lang="en-US" altLang="zh-CN" sz="2665">
                <a:sym typeface="+mn-ea"/>
              </a:rPr>
              <a:t>Client</a:t>
            </a:r>
            <a:r>
              <a:rPr lang="zh-CN" altLang="en-US" sz="2665">
                <a:sym typeface="+mn-ea"/>
              </a:rPr>
              <a:t>的主密钥</a:t>
            </a:r>
            <a:r>
              <a:rPr lang="en-US" altLang="zh-CN" sz="2665">
                <a:sym typeface="+mn-ea"/>
              </a:rPr>
              <a:t>(Kc)</a:t>
            </a:r>
            <a:r>
              <a:rPr lang="zh-CN" altLang="en-US" sz="2665">
                <a:sym typeface="+mn-ea"/>
              </a:rPr>
              <a:t>加密的会话密钥</a:t>
            </a:r>
            <a:r>
              <a:rPr lang="en-US" altLang="zh-CN" sz="2400">
                <a:sym typeface="+mn-ea"/>
              </a:rPr>
              <a:t>SKkdc-c</a:t>
            </a:r>
            <a:r>
              <a:rPr lang="zh-CN" altLang="en-US" sz="2665">
                <a:sym typeface="+mn-ea"/>
              </a:rPr>
              <a:t>，</a:t>
            </a:r>
            <a:r>
              <a:rPr lang="en-US" altLang="zh-CN" sz="2665">
                <a:sym typeface="+mn-ea"/>
              </a:rPr>
              <a:t>n1</a:t>
            </a:r>
            <a:r>
              <a:rPr lang="zh-CN" altLang="en-US" sz="2665">
                <a:sym typeface="+mn-ea"/>
              </a:rPr>
              <a:t>，</a:t>
            </a:r>
            <a:r>
              <a:rPr lang="en-US" altLang="zh-CN" sz="2400">
                <a:sym typeface="+mn-ea"/>
              </a:rPr>
              <a:t>t</a:t>
            </a:r>
            <a:r>
              <a:rPr lang="en-US" altLang="zh-CN">
                <a:sym typeface="+mn-ea"/>
              </a:rPr>
              <a:t>k</a:t>
            </a:r>
            <a:r>
              <a:rPr lang="zh-CN" altLang="en-US" sz="2400">
                <a:sym typeface="+mn-ea"/>
              </a:rPr>
              <a:t>，</a:t>
            </a:r>
            <a:r>
              <a:rPr lang="en-US" altLang="zh-CN">
                <a:sym typeface="+mn-ea"/>
              </a:rPr>
              <a:t>TGS</a:t>
            </a:r>
            <a:r>
              <a:rPr lang="zh-CN" altLang="en-US" sz="1600" b="1">
                <a:sym typeface="+mn-ea"/>
              </a:rPr>
              <a:t>。</a:t>
            </a:r>
            <a:endParaRPr kumimoji="1" lang="zh-CN" altLang="en-US" dirty="0" smtClean="0">
              <a:latin typeface="Times New Roman" panose="02020603050405020304" pitchFamily="18" charset="0"/>
              <a:sym typeface="+mn-ea"/>
            </a:endParaRPr>
          </a:p>
          <a:p>
            <a:endParaRPr lang="zh-CN" altLang="en-US" dirty="0" smtClean="0">
              <a:sym typeface="+mn-ea"/>
            </a:endParaRPr>
          </a:p>
        </p:txBody>
      </p:sp>
      <p:pic>
        <p:nvPicPr>
          <p:cNvPr id="10" name="图片 9"/>
          <p:cNvPicPr/>
          <p:nvPr>
            <p:custDataLst>
              <p:tags r:id="rId1"/>
            </p:custDataLst>
          </p:nvPr>
        </p:nvPicPr>
        <p:blipFill>
          <a:blip r:embed="rId2"/>
          <a:stretch>
            <a:fillRect/>
          </a:stretch>
        </p:blipFill>
        <p:spPr>
          <a:xfrm>
            <a:off x="3745865" y="5001895"/>
            <a:ext cx="650875" cy="731520"/>
          </a:xfrm>
          <a:prstGeom prst="rect">
            <a:avLst/>
          </a:prstGeom>
          <a:noFill/>
          <a:ln w="9525">
            <a:noFill/>
          </a:ln>
        </p:spPr>
      </p:pic>
      <p:sp>
        <p:nvSpPr>
          <p:cNvPr id="23" name="文本框 22"/>
          <p:cNvSpPr txBox="1"/>
          <p:nvPr>
            <p:custDataLst>
              <p:tags r:id="rId3"/>
            </p:custDataLst>
          </p:nvPr>
        </p:nvSpPr>
        <p:spPr>
          <a:xfrm>
            <a:off x="2774315" y="4593590"/>
            <a:ext cx="2573020" cy="398780"/>
          </a:xfrm>
          <a:prstGeom prst="rect">
            <a:avLst/>
          </a:prstGeom>
          <a:noFill/>
        </p:spPr>
        <p:txBody>
          <a:bodyPr wrap="square" rtlCol="0">
            <a:spAutoFit/>
          </a:bodyPr>
          <a:p>
            <a:pPr algn="ctr"/>
            <a:r>
              <a:rPr lang="en-US" altLang="zh-CN" sz="2000" b="1"/>
              <a:t>Client</a:t>
            </a:r>
            <a:endParaRPr lang="zh-CN" altLang="en-US" sz="2000" b="1"/>
          </a:p>
        </p:txBody>
      </p:sp>
      <p:sp>
        <p:nvSpPr>
          <p:cNvPr id="30" name="圆角矩形 29"/>
          <p:cNvSpPr/>
          <p:nvPr/>
        </p:nvSpPr>
        <p:spPr>
          <a:xfrm>
            <a:off x="8034020" y="4992370"/>
            <a:ext cx="2289810" cy="7213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000" b="1">
                <a:sym typeface="+mn-ea"/>
              </a:rPr>
              <a:t>Authentication</a:t>
            </a:r>
            <a:endParaRPr lang="en-US" altLang="zh-CN" sz="2000" b="1"/>
          </a:p>
          <a:p>
            <a:pPr algn="ctr"/>
            <a:r>
              <a:rPr lang="en-US" altLang="zh-CN" sz="2000" b="1">
                <a:sym typeface="+mn-ea"/>
              </a:rPr>
              <a:t>Service</a:t>
            </a:r>
            <a:endParaRPr lang="en-US" altLang="zh-CN" sz="2000" b="1">
              <a:sym typeface="+mn-ea"/>
            </a:endParaRPr>
          </a:p>
        </p:txBody>
      </p:sp>
      <p:sp>
        <p:nvSpPr>
          <p:cNvPr id="3" name="圆角矩形 2"/>
          <p:cNvSpPr/>
          <p:nvPr>
            <p:custDataLst>
              <p:tags r:id="rId4"/>
            </p:custDataLst>
          </p:nvPr>
        </p:nvSpPr>
        <p:spPr>
          <a:xfrm>
            <a:off x="2538730" y="5172710"/>
            <a:ext cx="1109345" cy="389890"/>
          </a:xfrm>
          <a:prstGeom prst="roundRect">
            <a:avLst/>
          </a:prstGeom>
        </p:spPr>
        <p:style>
          <a:lnRef idx="2">
            <a:schemeClr val="dk1"/>
          </a:lnRef>
          <a:fillRef idx="1">
            <a:schemeClr val="lt1"/>
          </a:fillRef>
          <a:effectRef idx="0">
            <a:schemeClr val="dk1"/>
          </a:effectRef>
          <a:fontRef idx="minor">
            <a:schemeClr val="dk1"/>
          </a:fontRef>
        </p:style>
        <p:txBody>
          <a:bodyPr rtlCol="0" anchor="ctr"/>
          <a:p>
            <a:pPr algn="ctr"/>
            <a:r>
              <a:rPr lang="en-US" altLang="zh-CN" b="1"/>
              <a:t>K</a:t>
            </a:r>
            <a:r>
              <a:rPr lang="en-US" altLang="zh-CN" b="1"/>
              <a:t>c</a:t>
            </a:r>
            <a:endParaRPr lang="en-US" altLang="zh-CN" b="1"/>
          </a:p>
        </p:txBody>
      </p:sp>
      <p:cxnSp>
        <p:nvCxnSpPr>
          <p:cNvPr id="39" name="直接箭头连接符 38"/>
          <p:cNvCxnSpPr/>
          <p:nvPr>
            <p:custDataLst>
              <p:tags r:id="rId5"/>
            </p:custDataLst>
          </p:nvPr>
        </p:nvCxnSpPr>
        <p:spPr>
          <a:xfrm flipH="1" flipV="1">
            <a:off x="4464050" y="5450205"/>
            <a:ext cx="3567430" cy="1206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4630420" y="5114290"/>
            <a:ext cx="3401060" cy="645160"/>
          </a:xfrm>
          <a:prstGeom prst="rect">
            <a:avLst/>
          </a:prstGeom>
          <a:noFill/>
        </p:spPr>
        <p:txBody>
          <a:bodyPr wrap="square" rtlCol="0">
            <a:spAutoFit/>
          </a:bodyPr>
          <a:p>
            <a:r>
              <a:rPr lang="en-US" altLang="zh-CN" b="1"/>
              <a:t>C,{SK</a:t>
            </a:r>
            <a:r>
              <a:rPr lang="en-US" altLang="zh-CN" sz="1600" b="1"/>
              <a:t>kdc-c</a:t>
            </a:r>
            <a:r>
              <a:rPr lang="en-US" altLang="zh-CN" b="1"/>
              <a:t>,</a:t>
            </a:r>
            <a:r>
              <a:rPr lang="en-US" altLang="zh-CN" b="1">
                <a:sym typeface="+mn-ea"/>
              </a:rPr>
              <a:t>C,t</a:t>
            </a:r>
            <a:r>
              <a:rPr lang="en-US" altLang="zh-CN" sz="1400" b="1">
                <a:sym typeface="+mn-ea"/>
              </a:rPr>
              <a:t>k</a:t>
            </a:r>
            <a:r>
              <a:rPr lang="en-US" altLang="zh-CN" b="1">
                <a:sym typeface="+mn-ea"/>
              </a:rPr>
              <a:t>}</a:t>
            </a:r>
            <a:r>
              <a:rPr lang="en-US" altLang="zh-CN" sz="1600" b="1">
                <a:sym typeface="+mn-ea"/>
              </a:rPr>
              <a:t>K</a:t>
            </a:r>
            <a:r>
              <a:rPr lang="en-US" altLang="zh-CN" sz="1400" b="1">
                <a:sym typeface="+mn-ea"/>
              </a:rPr>
              <a:t>tgs</a:t>
            </a:r>
            <a:r>
              <a:rPr lang="en-US" altLang="zh-CN" b="1">
                <a:sym typeface="+mn-ea"/>
              </a:rPr>
              <a:t>, {SK</a:t>
            </a:r>
            <a:r>
              <a:rPr lang="en-US" altLang="zh-CN" sz="1600" b="1">
                <a:sym typeface="+mn-ea"/>
              </a:rPr>
              <a:t>kdc-c</a:t>
            </a:r>
            <a:r>
              <a:rPr lang="en-US" altLang="zh-CN" b="1">
                <a:sym typeface="+mn-ea"/>
              </a:rPr>
              <a:t>,</a:t>
            </a:r>
            <a:endParaRPr lang="en-US" altLang="zh-CN" b="1">
              <a:sym typeface="+mn-ea"/>
            </a:endParaRPr>
          </a:p>
          <a:p>
            <a:r>
              <a:rPr lang="en-US" altLang="zh-CN" b="1">
                <a:sym typeface="+mn-ea"/>
              </a:rPr>
              <a:t>n1,t</a:t>
            </a:r>
            <a:r>
              <a:rPr lang="en-US" altLang="zh-CN" sz="1400" b="1">
                <a:sym typeface="+mn-ea"/>
              </a:rPr>
              <a:t>k</a:t>
            </a:r>
            <a:r>
              <a:rPr lang="en-US" altLang="zh-CN" b="1">
                <a:sym typeface="+mn-ea"/>
              </a:rPr>
              <a:t>,TGS}</a:t>
            </a:r>
            <a:r>
              <a:rPr lang="en-US" altLang="zh-CN" sz="1600" b="1">
                <a:sym typeface="+mn-ea"/>
              </a:rPr>
              <a:t>K</a:t>
            </a:r>
            <a:r>
              <a:rPr lang="en-US" altLang="zh-CN" sz="1400" b="1">
                <a:sym typeface="+mn-ea"/>
              </a:rPr>
              <a:t>c</a:t>
            </a:r>
            <a:endParaRPr lang="en-US" altLang="zh-CN" sz="1400" b="1" dirty="0" smtClean="0">
              <a:sym typeface="+mn-ea"/>
            </a:endParaRPr>
          </a:p>
        </p:txBody>
      </p:sp>
      <p:sp>
        <p:nvSpPr>
          <p:cNvPr id="8" name="左大括号 7"/>
          <p:cNvSpPr/>
          <p:nvPr/>
        </p:nvSpPr>
        <p:spPr>
          <a:xfrm rot="5400000">
            <a:off x="5615940" y="4245610"/>
            <a:ext cx="122555" cy="1614805"/>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9" name="文本框 8"/>
          <p:cNvSpPr txBox="1"/>
          <p:nvPr/>
        </p:nvSpPr>
        <p:spPr>
          <a:xfrm>
            <a:off x="5398770" y="4613275"/>
            <a:ext cx="612140" cy="368300"/>
          </a:xfrm>
          <a:prstGeom prst="rect">
            <a:avLst/>
          </a:prstGeom>
          <a:noFill/>
        </p:spPr>
        <p:txBody>
          <a:bodyPr wrap="square" rtlCol="0">
            <a:spAutoFit/>
          </a:bodyPr>
          <a:p>
            <a:r>
              <a:rPr lang="en-US" altLang="zh-CN" b="1"/>
              <a:t>TGT</a:t>
            </a:r>
            <a:endParaRPr lang="en-US" altLang="zh-CN" b="1"/>
          </a:p>
        </p:txBody>
      </p:sp>
    </p:spTree>
  </p:cSld>
  <p:clrMapOvr>
    <a:masterClrMapping/>
  </p:clrMapOvr>
  <mc:AlternateContent xmlns:mc="http://schemas.openxmlformats.org/markup-compatibility/2006">
    <mc:Choice xmlns:p14="http://schemas.microsoft.com/office/powerpoint/2010/main" Requires="p14">
      <p:transition spd="slow" p14:dur="2000" advTm="2827"/>
    </mc:Choice>
    <mc:Fallback>
      <p:transition spd="slow" advTm="2827"/>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sym typeface="+mn-ea"/>
              </a:rPr>
              <a:t>16.4 </a:t>
            </a:r>
            <a:r>
              <a:rPr lang="en-US" altLang="zh-CN" dirty="0"/>
              <a:t>Kerberos</a:t>
            </a:r>
            <a:r>
              <a:rPr lang="zh-CN" altLang="en-US" dirty="0"/>
              <a:t>协议</a:t>
            </a:r>
            <a:r>
              <a:rPr lang="zh-CN" altLang="en-US" dirty="0"/>
              <a:t>流程</a:t>
            </a:r>
            <a:endParaRPr lang="zh-CN" altLang="en-US" dirty="0"/>
          </a:p>
        </p:txBody>
      </p:sp>
      <p:sp>
        <p:nvSpPr>
          <p:cNvPr id="4" name="灯片编号占位符 3"/>
          <p:cNvSpPr>
            <a:spLocks noGrp="1"/>
          </p:cNvSpPr>
          <p:nvPr>
            <p:ph type="sldNum" sz="quarter" idx="12"/>
          </p:nvPr>
        </p:nvSpPr>
        <p:spPr/>
        <p:txBody>
          <a:bodyPr/>
          <a:lstStyle/>
          <a:p>
            <a:pPr>
              <a:defRPr/>
            </a:pPr>
            <a:fld id="{B42B4293-9377-4872-955B-7EAEC82CC678}" type="slidenum">
              <a:rPr lang="en-US" altLang="zh-CN" smtClean="0"/>
            </a:fld>
            <a:endParaRPr lang="en-US" altLang="zh-CN" dirty="0"/>
          </a:p>
        </p:txBody>
      </p:sp>
      <p:sp>
        <p:nvSpPr>
          <p:cNvPr id="5" name="内容占位符 4"/>
          <p:cNvSpPr/>
          <p:nvPr>
            <p:ph idx="1"/>
          </p:nvPr>
        </p:nvSpPr>
        <p:spPr/>
        <p:txBody>
          <a:bodyPr/>
          <a:p>
            <a:r>
              <a:rPr kumimoji="1" lang="zh-CN" altLang="en-US" dirty="0" smtClean="0">
                <a:latin typeface="Times New Roman" panose="02020603050405020304" pitchFamily="18" charset="0"/>
                <a:sym typeface="+mn-ea"/>
              </a:rPr>
              <a:t>第二阶段：</a:t>
            </a:r>
            <a:r>
              <a:rPr lang="zh-CN" altLang="en-US" b="1">
                <a:sym typeface="+mn-ea"/>
              </a:rPr>
              <a:t>票据授予服务交换阶段</a:t>
            </a:r>
            <a:r>
              <a:rPr lang="en-US" altLang="zh-CN" b="1">
                <a:sym typeface="+mn-ea"/>
              </a:rPr>
              <a:t> (KRB_</a:t>
            </a:r>
            <a:r>
              <a:rPr lang="en-US" altLang="zh-CN" b="1">
                <a:sym typeface="+mn-ea"/>
              </a:rPr>
              <a:t>TGS_REQ)</a:t>
            </a:r>
            <a:endParaRPr lang="zh-CN" altLang="en-US" b="1"/>
          </a:p>
          <a:p>
            <a:pPr lvl="1"/>
            <a:r>
              <a:rPr kumimoji="1" lang="en-US" altLang="zh-CN" sz="2400" dirty="0" smtClean="0">
                <a:latin typeface="Times New Roman" panose="02020603050405020304" pitchFamily="18" charset="0"/>
                <a:sym typeface="+mn-ea"/>
              </a:rPr>
              <a:t>TGT</a:t>
            </a:r>
            <a:r>
              <a:rPr kumimoji="1" lang="zh-CN" altLang="en-US" sz="2400" dirty="0" smtClean="0">
                <a:latin typeface="Times New Roman" panose="02020603050405020304" pitchFamily="18" charset="0"/>
                <a:sym typeface="+mn-ea"/>
              </a:rPr>
              <a:t>：</a:t>
            </a:r>
            <a:r>
              <a:rPr kumimoji="1" lang="en-US" altLang="zh-CN" sz="2400" dirty="0" smtClean="0">
                <a:latin typeface="Times New Roman" panose="02020603050405020304" pitchFamily="18" charset="0"/>
                <a:sym typeface="+mn-ea"/>
              </a:rPr>
              <a:t>Client</a:t>
            </a:r>
            <a:r>
              <a:rPr kumimoji="1" lang="zh-CN" altLang="en-US" sz="2400" dirty="0" smtClean="0">
                <a:latin typeface="Times New Roman" panose="02020603050405020304" pitchFamily="18" charset="0"/>
                <a:sym typeface="+mn-ea"/>
              </a:rPr>
              <a:t>通过认证服务交换获得的</a:t>
            </a:r>
            <a:r>
              <a:rPr kumimoji="1" lang="en-US" altLang="zh-CN" sz="2400" dirty="0" smtClean="0">
                <a:latin typeface="Times New Roman" panose="02020603050405020304" pitchFamily="18" charset="0"/>
                <a:sym typeface="+mn-ea"/>
              </a:rPr>
              <a:t>TGT</a:t>
            </a:r>
            <a:r>
              <a:rPr kumimoji="1" lang="zh-CN" altLang="en-US" sz="2400" dirty="0" smtClean="0">
                <a:latin typeface="Times New Roman" panose="02020603050405020304" pitchFamily="18" charset="0"/>
                <a:sym typeface="+mn-ea"/>
              </a:rPr>
              <a:t>，被</a:t>
            </a:r>
            <a:r>
              <a:rPr kumimoji="1" lang="en-US" altLang="zh-CN" sz="2400" dirty="0" smtClean="0">
                <a:latin typeface="Times New Roman" panose="02020603050405020304" pitchFamily="18" charset="0"/>
                <a:sym typeface="+mn-ea"/>
              </a:rPr>
              <a:t>TGS</a:t>
            </a:r>
            <a:r>
              <a:rPr kumimoji="1" lang="zh-CN" altLang="en-US" sz="2400" dirty="0" smtClean="0">
                <a:latin typeface="Times New Roman" panose="02020603050405020304" pitchFamily="18" charset="0"/>
                <a:sym typeface="+mn-ea"/>
              </a:rPr>
              <a:t>主密钥加密。</a:t>
            </a:r>
            <a:endParaRPr kumimoji="1" lang="en-US" altLang="zh-CN" sz="2400" dirty="0" smtClean="0">
              <a:latin typeface="Times New Roman" panose="02020603050405020304" pitchFamily="18" charset="0"/>
              <a:sym typeface="+mn-ea"/>
            </a:endParaRPr>
          </a:p>
          <a:p>
            <a:pPr lvl="1"/>
            <a:r>
              <a:rPr kumimoji="1" lang="en-US" altLang="zh-CN" sz="2400" dirty="0" smtClean="0">
                <a:latin typeface="Times New Roman" panose="02020603050405020304" pitchFamily="18" charset="0"/>
                <a:sym typeface="+mn-ea"/>
              </a:rPr>
              <a:t>Authenticator</a:t>
            </a:r>
            <a:r>
              <a:rPr kumimoji="1" lang="zh-CN" altLang="en-US" sz="2400" dirty="0" smtClean="0">
                <a:latin typeface="Times New Roman" panose="02020603050405020304" pitchFamily="18" charset="0"/>
                <a:sym typeface="+mn-ea"/>
              </a:rPr>
              <a:t>：</a:t>
            </a:r>
            <a:r>
              <a:rPr kumimoji="1" lang="en-US" altLang="zh-CN" sz="2400" dirty="0" smtClean="0">
                <a:latin typeface="Times New Roman" panose="02020603050405020304" pitchFamily="18" charset="0"/>
                <a:sym typeface="+mn-ea"/>
              </a:rPr>
              <a:t>Client</a:t>
            </a:r>
            <a:r>
              <a:rPr kumimoji="1" lang="zh-CN" altLang="en-US" sz="2400" dirty="0" smtClean="0">
                <a:latin typeface="Times New Roman" panose="02020603050405020304" pitchFamily="18" charset="0"/>
                <a:sym typeface="+mn-ea"/>
              </a:rPr>
              <a:t>证明</a:t>
            </a:r>
            <a:r>
              <a:rPr kumimoji="1" lang="en-US" altLang="zh-CN" sz="2400" dirty="0" smtClean="0">
                <a:latin typeface="Times New Roman" panose="02020603050405020304" pitchFamily="18" charset="0"/>
                <a:sym typeface="+mn-ea"/>
              </a:rPr>
              <a:t>TGT</a:t>
            </a:r>
            <a:r>
              <a:rPr kumimoji="1" lang="zh-CN" altLang="en-US" sz="2400" dirty="0" smtClean="0">
                <a:latin typeface="Times New Roman" panose="02020603050405020304" pitchFamily="18" charset="0"/>
                <a:sym typeface="+mn-ea"/>
              </a:rPr>
              <a:t>的拥有者就是自己，用</a:t>
            </a:r>
            <a:r>
              <a:rPr lang="en-US" altLang="zh-CN" sz="2400">
                <a:sym typeface="+mn-ea"/>
              </a:rPr>
              <a:t>SK</a:t>
            </a:r>
            <a:r>
              <a:rPr lang="en-US" altLang="zh-CN">
                <a:sym typeface="+mn-ea"/>
              </a:rPr>
              <a:t>kdc-c</a:t>
            </a:r>
            <a:r>
              <a:rPr kumimoji="1" lang="zh-CN" altLang="en-US" sz="2400" dirty="0" smtClean="0">
                <a:latin typeface="Times New Roman" panose="02020603050405020304" pitchFamily="18" charset="0"/>
                <a:sym typeface="+mn-ea"/>
              </a:rPr>
              <a:t>颁发的会话密钥加密。其中包含</a:t>
            </a:r>
            <a:r>
              <a:rPr kumimoji="1" lang="en-US" altLang="zh-CN" sz="2400" dirty="0" smtClean="0">
                <a:latin typeface="Times New Roman" panose="02020603050405020304" pitchFamily="18" charset="0"/>
                <a:sym typeface="+mn-ea"/>
              </a:rPr>
              <a:t>C</a:t>
            </a:r>
            <a:r>
              <a:rPr kumimoji="1" lang="zh-CN" altLang="en-US" sz="2400" dirty="0" smtClean="0">
                <a:latin typeface="Times New Roman" panose="02020603050405020304" pitchFamily="18" charset="0"/>
                <a:sym typeface="+mn-ea"/>
              </a:rPr>
              <a:t>和一个时间戳</a:t>
            </a:r>
            <a:r>
              <a:rPr kumimoji="1" lang="en-US" altLang="zh-CN" sz="2400" dirty="0" smtClean="0">
                <a:latin typeface="Times New Roman" panose="02020603050405020304" pitchFamily="18" charset="0"/>
                <a:sym typeface="+mn-ea"/>
              </a:rPr>
              <a:t> Timestamp </a:t>
            </a:r>
            <a:r>
              <a:rPr kumimoji="1" lang="en-US" altLang="zh-CN" sz="2400" dirty="0" smtClean="0">
                <a:latin typeface="Times New Roman" panose="02020603050405020304" pitchFamily="18" charset="0"/>
                <a:sym typeface="+mn-ea"/>
              </a:rPr>
              <a:t>tc</a:t>
            </a:r>
            <a:endParaRPr kumimoji="1" lang="en-US" altLang="zh-CN" sz="2400" dirty="0" smtClean="0">
              <a:latin typeface="Times New Roman" panose="02020603050405020304" pitchFamily="18" charset="0"/>
              <a:sym typeface="+mn-ea"/>
            </a:endParaRPr>
          </a:p>
          <a:p>
            <a:pPr lvl="1"/>
            <a:r>
              <a:rPr kumimoji="1" lang="en-US" altLang="zh-CN" sz="2400" dirty="0" smtClean="0">
                <a:latin typeface="Times New Roman" panose="02020603050405020304" pitchFamily="18" charset="0"/>
                <a:sym typeface="+mn-ea"/>
              </a:rPr>
              <a:t>S</a:t>
            </a:r>
            <a:r>
              <a:rPr kumimoji="1" lang="zh-CN" altLang="en-US" sz="2400" dirty="0" smtClean="0">
                <a:latin typeface="Times New Roman" panose="02020603050405020304" pitchFamily="18" charset="0"/>
                <a:sym typeface="+mn-ea"/>
              </a:rPr>
              <a:t>：应用服务器表示，用于表示</a:t>
            </a:r>
            <a:r>
              <a:rPr kumimoji="1" lang="en-US" altLang="zh-CN" sz="2400" dirty="0" smtClean="0">
                <a:latin typeface="Times New Roman" panose="02020603050405020304" pitchFamily="18" charset="0"/>
                <a:sym typeface="+mn-ea"/>
              </a:rPr>
              <a:t>Client</a:t>
            </a:r>
            <a:r>
              <a:rPr kumimoji="1" lang="zh-CN" altLang="en-US" sz="2400" dirty="0" smtClean="0">
                <a:latin typeface="Times New Roman" panose="02020603050405020304" pitchFamily="18" charset="0"/>
                <a:sym typeface="+mn-ea"/>
              </a:rPr>
              <a:t>想要访问的服务器</a:t>
            </a:r>
            <a:r>
              <a:rPr kumimoji="1" lang="zh-CN" altLang="en-US" sz="2400" dirty="0" smtClean="0">
                <a:latin typeface="Times New Roman" panose="02020603050405020304" pitchFamily="18" charset="0"/>
                <a:sym typeface="+mn-ea"/>
              </a:rPr>
              <a:t>名称</a:t>
            </a:r>
            <a:endParaRPr kumimoji="1" lang="zh-CN" altLang="en-US" sz="2400" dirty="0" smtClean="0">
              <a:latin typeface="Times New Roman" panose="02020603050405020304" pitchFamily="18" charset="0"/>
              <a:sym typeface="+mn-ea"/>
            </a:endParaRPr>
          </a:p>
          <a:p>
            <a:pPr lvl="1"/>
            <a:r>
              <a:rPr kumimoji="1" lang="en-US" altLang="zh-CN" sz="2400" dirty="0" smtClean="0">
                <a:latin typeface="Times New Roman" panose="02020603050405020304" pitchFamily="18" charset="0"/>
                <a:sym typeface="+mn-ea"/>
              </a:rPr>
              <a:t>n3</a:t>
            </a:r>
            <a:r>
              <a:rPr kumimoji="1" lang="zh-CN" altLang="en-US" sz="2400" dirty="0" smtClean="0">
                <a:latin typeface="Times New Roman" panose="02020603050405020304" pitchFamily="18" charset="0"/>
                <a:sym typeface="+mn-ea"/>
              </a:rPr>
              <a:t>：一个</a:t>
            </a:r>
            <a:r>
              <a:rPr kumimoji="1" lang="en-US" altLang="zh-CN" sz="2400" dirty="0" smtClean="0">
                <a:latin typeface="Times New Roman" panose="02020603050405020304" pitchFamily="18" charset="0"/>
                <a:sym typeface="+mn-ea"/>
              </a:rPr>
              <a:t>nonce</a:t>
            </a:r>
            <a:endParaRPr kumimoji="1" lang="en-US" altLang="zh-CN" sz="2400" dirty="0" smtClean="0">
              <a:latin typeface="Times New Roman" panose="02020603050405020304" pitchFamily="18" charset="0"/>
              <a:sym typeface="+mn-ea"/>
            </a:endParaRPr>
          </a:p>
        </p:txBody>
      </p:sp>
      <p:pic>
        <p:nvPicPr>
          <p:cNvPr id="10" name="图片 9"/>
          <p:cNvPicPr/>
          <p:nvPr>
            <p:custDataLst>
              <p:tags r:id="rId1"/>
            </p:custDataLst>
          </p:nvPr>
        </p:nvPicPr>
        <p:blipFill>
          <a:blip r:embed="rId2"/>
          <a:stretch>
            <a:fillRect/>
          </a:stretch>
        </p:blipFill>
        <p:spPr>
          <a:xfrm>
            <a:off x="3620135" y="4967605"/>
            <a:ext cx="650875" cy="731520"/>
          </a:xfrm>
          <a:prstGeom prst="rect">
            <a:avLst/>
          </a:prstGeom>
          <a:noFill/>
          <a:ln w="9525">
            <a:noFill/>
          </a:ln>
        </p:spPr>
      </p:pic>
      <p:sp>
        <p:nvSpPr>
          <p:cNvPr id="23" name="文本框 22"/>
          <p:cNvSpPr txBox="1"/>
          <p:nvPr>
            <p:custDataLst>
              <p:tags r:id="rId3"/>
            </p:custDataLst>
          </p:nvPr>
        </p:nvSpPr>
        <p:spPr>
          <a:xfrm>
            <a:off x="2648585" y="4559300"/>
            <a:ext cx="2573020" cy="398780"/>
          </a:xfrm>
          <a:prstGeom prst="rect">
            <a:avLst/>
          </a:prstGeom>
          <a:noFill/>
        </p:spPr>
        <p:txBody>
          <a:bodyPr wrap="square" rtlCol="0">
            <a:spAutoFit/>
          </a:bodyPr>
          <a:p>
            <a:pPr algn="ctr"/>
            <a:r>
              <a:rPr lang="en-US" altLang="zh-CN" sz="2000" b="1"/>
              <a:t>Client</a:t>
            </a:r>
            <a:endParaRPr lang="zh-CN" altLang="en-US" sz="2000" b="1"/>
          </a:p>
        </p:txBody>
      </p:sp>
      <p:sp>
        <p:nvSpPr>
          <p:cNvPr id="30" name="圆角矩形 29"/>
          <p:cNvSpPr/>
          <p:nvPr/>
        </p:nvSpPr>
        <p:spPr>
          <a:xfrm>
            <a:off x="7908290" y="4958080"/>
            <a:ext cx="2289810" cy="7213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000" b="1">
                <a:sym typeface="+mn-ea"/>
              </a:rPr>
              <a:t>Ticket Granting</a:t>
            </a:r>
            <a:endParaRPr lang="en-US" altLang="zh-CN" sz="2000" b="1"/>
          </a:p>
          <a:p>
            <a:pPr algn="ctr"/>
            <a:r>
              <a:rPr lang="en-US" altLang="zh-CN" sz="2000" b="1">
                <a:sym typeface="+mn-ea"/>
              </a:rPr>
              <a:t>Service</a:t>
            </a:r>
            <a:r>
              <a:rPr lang="zh-CN" altLang="en-US" sz="2000" b="1">
                <a:sym typeface="+mn-ea"/>
              </a:rPr>
              <a:t>（</a:t>
            </a:r>
            <a:r>
              <a:rPr lang="en-US" altLang="zh-CN" sz="2000" b="1">
                <a:sym typeface="+mn-ea"/>
              </a:rPr>
              <a:t>TGS</a:t>
            </a:r>
            <a:r>
              <a:rPr lang="zh-CN" altLang="en-US" sz="2000" b="1">
                <a:sym typeface="+mn-ea"/>
              </a:rPr>
              <a:t>）</a:t>
            </a:r>
            <a:endParaRPr lang="en-US" altLang="zh-CN" sz="2000" b="1">
              <a:sym typeface="+mn-ea"/>
            </a:endParaRPr>
          </a:p>
        </p:txBody>
      </p:sp>
      <p:sp>
        <p:nvSpPr>
          <p:cNvPr id="3" name="圆角矩形 2"/>
          <p:cNvSpPr/>
          <p:nvPr>
            <p:custDataLst>
              <p:tags r:id="rId4"/>
            </p:custDataLst>
          </p:nvPr>
        </p:nvSpPr>
        <p:spPr>
          <a:xfrm>
            <a:off x="2413000" y="5138420"/>
            <a:ext cx="1109345" cy="389890"/>
          </a:xfrm>
          <a:prstGeom prst="roundRect">
            <a:avLst/>
          </a:prstGeom>
        </p:spPr>
        <p:style>
          <a:lnRef idx="2">
            <a:schemeClr val="dk1"/>
          </a:lnRef>
          <a:fillRef idx="1">
            <a:schemeClr val="lt1"/>
          </a:fillRef>
          <a:effectRef idx="0">
            <a:schemeClr val="dk1"/>
          </a:effectRef>
          <a:fontRef idx="minor">
            <a:schemeClr val="dk1"/>
          </a:fontRef>
        </p:style>
        <p:txBody>
          <a:bodyPr rtlCol="0" anchor="ctr"/>
          <a:p>
            <a:pPr algn="ctr"/>
            <a:r>
              <a:rPr lang="en-US" altLang="zh-CN" b="1"/>
              <a:t>K</a:t>
            </a:r>
            <a:r>
              <a:rPr lang="en-US" altLang="zh-CN" b="1"/>
              <a:t>c</a:t>
            </a:r>
            <a:endParaRPr lang="en-US" altLang="zh-CN" b="1"/>
          </a:p>
        </p:txBody>
      </p:sp>
      <p:cxnSp>
        <p:nvCxnSpPr>
          <p:cNvPr id="39" name="直接箭头连接符 38"/>
          <p:cNvCxnSpPr/>
          <p:nvPr>
            <p:custDataLst>
              <p:tags r:id="rId5"/>
            </p:custDataLst>
          </p:nvPr>
        </p:nvCxnSpPr>
        <p:spPr>
          <a:xfrm flipV="1">
            <a:off x="4328795" y="5213985"/>
            <a:ext cx="3473450" cy="2857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4704715" y="4890770"/>
            <a:ext cx="2828290" cy="645160"/>
          </a:xfrm>
          <a:prstGeom prst="rect">
            <a:avLst/>
          </a:prstGeom>
          <a:noFill/>
        </p:spPr>
        <p:txBody>
          <a:bodyPr wrap="square" rtlCol="0">
            <a:spAutoFit/>
          </a:bodyPr>
          <a:p>
            <a:r>
              <a:rPr lang="en-US" altLang="zh-CN" b="1">
                <a:sym typeface="+mn-ea"/>
              </a:rPr>
              <a:t>{SK</a:t>
            </a:r>
            <a:r>
              <a:rPr lang="en-US" altLang="zh-CN" sz="1600" b="1">
                <a:sym typeface="+mn-ea"/>
              </a:rPr>
              <a:t>kdc-c</a:t>
            </a:r>
            <a:r>
              <a:rPr lang="en-US" altLang="zh-CN" b="1">
                <a:sym typeface="+mn-ea"/>
              </a:rPr>
              <a:t>,</a:t>
            </a:r>
            <a:r>
              <a:rPr lang="en-US" altLang="zh-CN" b="1">
                <a:sym typeface="+mn-ea"/>
              </a:rPr>
              <a:t>C,t</a:t>
            </a:r>
            <a:r>
              <a:rPr lang="en-US" altLang="zh-CN" sz="1400" b="1">
                <a:sym typeface="+mn-ea"/>
              </a:rPr>
              <a:t>k</a:t>
            </a:r>
            <a:r>
              <a:rPr lang="en-US" altLang="zh-CN" b="1">
                <a:sym typeface="+mn-ea"/>
              </a:rPr>
              <a:t>}</a:t>
            </a:r>
            <a:r>
              <a:rPr lang="en-US" altLang="zh-CN" sz="1600" b="1">
                <a:sym typeface="+mn-ea"/>
              </a:rPr>
              <a:t>K</a:t>
            </a:r>
            <a:r>
              <a:rPr lang="en-US" altLang="zh-CN" sz="1400" b="1">
                <a:sym typeface="+mn-ea"/>
              </a:rPr>
              <a:t>tgs</a:t>
            </a:r>
            <a:r>
              <a:rPr lang="zh-CN" altLang="en-US" b="1"/>
              <a:t>，</a:t>
            </a:r>
            <a:r>
              <a:rPr lang="en-US" altLang="zh-CN" b="1"/>
              <a:t>{C,tc}</a:t>
            </a:r>
            <a:r>
              <a:rPr lang="en-US" altLang="zh-CN" sz="1600" b="1">
                <a:sym typeface="+mn-ea"/>
              </a:rPr>
              <a:t>SK</a:t>
            </a:r>
            <a:r>
              <a:rPr lang="en-US" altLang="zh-CN" sz="1400" b="1">
                <a:sym typeface="+mn-ea"/>
              </a:rPr>
              <a:t>kdc-c</a:t>
            </a:r>
            <a:r>
              <a:rPr lang="zh-CN" altLang="en-US" b="1">
                <a:sym typeface="+mn-ea"/>
              </a:rPr>
              <a:t>，</a:t>
            </a:r>
            <a:r>
              <a:rPr lang="en-US" altLang="zh-CN" b="1">
                <a:sym typeface="+mn-ea"/>
              </a:rPr>
              <a:t>S</a:t>
            </a:r>
            <a:r>
              <a:rPr lang="zh-CN" altLang="en-US" sz="1400" b="1"/>
              <a:t>，</a:t>
            </a:r>
            <a:r>
              <a:rPr lang="en-US" altLang="zh-CN" b="1" dirty="0" smtClean="0">
                <a:sym typeface="+mn-ea"/>
              </a:rPr>
              <a:t>n3</a:t>
            </a:r>
            <a:endParaRPr lang="en-US" altLang="zh-CN" b="1" dirty="0" smtClean="0">
              <a:sym typeface="+mn-ea"/>
            </a:endParaRPr>
          </a:p>
        </p:txBody>
      </p:sp>
      <p:sp>
        <p:nvSpPr>
          <p:cNvPr id="8" name="左大括号 7"/>
          <p:cNvSpPr/>
          <p:nvPr>
            <p:custDataLst>
              <p:tags r:id="rId6"/>
            </p:custDataLst>
          </p:nvPr>
        </p:nvSpPr>
        <p:spPr>
          <a:xfrm rot="5400000">
            <a:off x="5555615" y="4131310"/>
            <a:ext cx="122555" cy="1614805"/>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9" name="文本框 8"/>
          <p:cNvSpPr txBox="1"/>
          <p:nvPr>
            <p:custDataLst>
              <p:tags r:id="rId7"/>
            </p:custDataLst>
          </p:nvPr>
        </p:nvSpPr>
        <p:spPr>
          <a:xfrm>
            <a:off x="5338445" y="4498975"/>
            <a:ext cx="612140" cy="368300"/>
          </a:xfrm>
          <a:prstGeom prst="rect">
            <a:avLst/>
          </a:prstGeom>
          <a:noFill/>
        </p:spPr>
        <p:txBody>
          <a:bodyPr wrap="square" rtlCol="0">
            <a:spAutoFit/>
          </a:bodyPr>
          <a:p>
            <a:r>
              <a:rPr lang="en-US" altLang="zh-CN" b="1"/>
              <a:t>TGT</a:t>
            </a:r>
            <a:endParaRPr lang="en-US" altLang="zh-CN" b="1"/>
          </a:p>
        </p:txBody>
      </p:sp>
      <p:sp>
        <p:nvSpPr>
          <p:cNvPr id="12" name="左大括号 11"/>
          <p:cNvSpPr/>
          <p:nvPr>
            <p:custDataLst>
              <p:tags r:id="rId8"/>
            </p:custDataLst>
          </p:nvPr>
        </p:nvSpPr>
        <p:spPr>
          <a:xfrm rot="16200000">
            <a:off x="5238115" y="4970780"/>
            <a:ext cx="227965" cy="1198245"/>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4" name="文本框 13"/>
          <p:cNvSpPr txBox="1"/>
          <p:nvPr>
            <p:custDataLst>
              <p:tags r:id="rId9"/>
            </p:custDataLst>
          </p:nvPr>
        </p:nvSpPr>
        <p:spPr>
          <a:xfrm>
            <a:off x="4684395" y="5672455"/>
            <a:ext cx="1437640" cy="440690"/>
          </a:xfrm>
          <a:prstGeom prst="rect">
            <a:avLst/>
          </a:prstGeom>
          <a:noFill/>
        </p:spPr>
        <p:txBody>
          <a:bodyPr wrap="square" rtlCol="0">
            <a:noAutofit/>
          </a:bodyPr>
          <a:p>
            <a:r>
              <a:rPr lang="en-US" altLang="zh-CN" b="1"/>
              <a:t>Authentiator</a:t>
            </a:r>
            <a:endParaRPr lang="en-US" altLang="zh-CN" b="1"/>
          </a:p>
        </p:txBody>
      </p:sp>
    </p:spTree>
  </p:cSld>
  <p:clrMapOvr>
    <a:masterClrMapping/>
  </p:clrMapOvr>
  <mc:AlternateContent xmlns:mc="http://schemas.openxmlformats.org/markup-compatibility/2006">
    <mc:Choice xmlns:p14="http://schemas.microsoft.com/office/powerpoint/2010/main" Requires="p14">
      <p:transition spd="slow" p14:dur="2000" advTm="2827"/>
    </mc:Choice>
    <mc:Fallback>
      <p:transition spd="slow" advTm="2827"/>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sym typeface="+mn-ea"/>
              </a:rPr>
              <a:t>16.4 </a:t>
            </a:r>
            <a:r>
              <a:rPr lang="en-US" altLang="zh-CN" dirty="0"/>
              <a:t>Kerberos</a:t>
            </a:r>
            <a:r>
              <a:rPr lang="zh-CN" altLang="en-US" dirty="0"/>
              <a:t>协议</a:t>
            </a:r>
            <a:r>
              <a:rPr lang="zh-CN" altLang="en-US" dirty="0"/>
              <a:t>流程</a:t>
            </a:r>
            <a:endParaRPr lang="zh-CN" altLang="en-US" dirty="0"/>
          </a:p>
        </p:txBody>
      </p:sp>
      <p:sp>
        <p:nvSpPr>
          <p:cNvPr id="4" name="灯片编号占位符 3"/>
          <p:cNvSpPr>
            <a:spLocks noGrp="1"/>
          </p:cNvSpPr>
          <p:nvPr>
            <p:ph type="sldNum" sz="quarter" idx="12"/>
          </p:nvPr>
        </p:nvSpPr>
        <p:spPr/>
        <p:txBody>
          <a:bodyPr/>
          <a:lstStyle/>
          <a:p>
            <a:pPr>
              <a:defRPr/>
            </a:pPr>
            <a:fld id="{B42B4293-9377-4872-955B-7EAEC82CC678}" type="slidenum">
              <a:rPr lang="en-US" altLang="zh-CN" smtClean="0"/>
            </a:fld>
            <a:endParaRPr lang="en-US" altLang="zh-CN" dirty="0"/>
          </a:p>
        </p:txBody>
      </p:sp>
      <p:sp>
        <p:nvSpPr>
          <p:cNvPr id="5" name="内容占位符 4"/>
          <p:cNvSpPr/>
          <p:nvPr>
            <p:ph idx="1"/>
          </p:nvPr>
        </p:nvSpPr>
        <p:spPr/>
        <p:txBody>
          <a:bodyPr/>
          <a:p>
            <a:r>
              <a:rPr kumimoji="1" lang="zh-CN" altLang="en-US" dirty="0" smtClean="0">
                <a:latin typeface="Times New Roman" panose="02020603050405020304" pitchFamily="18" charset="0"/>
                <a:sym typeface="+mn-ea"/>
              </a:rPr>
              <a:t>第二阶段：</a:t>
            </a:r>
            <a:r>
              <a:rPr lang="zh-CN" altLang="en-US" b="1">
                <a:sym typeface="+mn-ea"/>
              </a:rPr>
              <a:t>票据授予服务交换阶段</a:t>
            </a:r>
            <a:r>
              <a:rPr lang="en-US" altLang="zh-CN" b="1">
                <a:sym typeface="+mn-ea"/>
              </a:rPr>
              <a:t> (KRB_TGS_RE</a:t>
            </a:r>
            <a:r>
              <a:rPr lang="en-US" altLang="zh-CN" b="1">
                <a:sym typeface="+mn-ea"/>
              </a:rPr>
              <a:t>S)</a:t>
            </a:r>
            <a:endParaRPr lang="zh-CN" altLang="en-US" b="1"/>
          </a:p>
          <a:p>
            <a:pPr lvl="1" algn="l"/>
            <a:r>
              <a:rPr kumimoji="1" lang="en-US" altLang="zh-CN" sz="2400" dirty="0" smtClean="0">
                <a:latin typeface="Times New Roman" panose="02020603050405020304" pitchFamily="18" charset="0"/>
                <a:sym typeface="+mn-ea"/>
              </a:rPr>
              <a:t>C</a:t>
            </a:r>
            <a:r>
              <a:rPr kumimoji="1" lang="zh-CN" altLang="en-US" sz="2400" dirty="0" smtClean="0">
                <a:latin typeface="Times New Roman" panose="02020603050405020304" pitchFamily="18" charset="0"/>
                <a:sym typeface="+mn-ea"/>
              </a:rPr>
              <a:t>：客户端的名称</a:t>
            </a:r>
            <a:endParaRPr kumimoji="1" lang="en-US" altLang="zh-CN" sz="2400" dirty="0" smtClean="0">
              <a:latin typeface="Times New Roman" panose="02020603050405020304" pitchFamily="18" charset="0"/>
              <a:sym typeface="+mn-ea"/>
            </a:endParaRPr>
          </a:p>
          <a:p>
            <a:pPr lvl="1"/>
            <a:r>
              <a:rPr kumimoji="1" lang="zh-CN" altLang="en-US" sz="2400" dirty="0" smtClean="0">
                <a:latin typeface="Times New Roman" panose="02020603050405020304" pitchFamily="18" charset="0"/>
                <a:sym typeface="+mn-ea"/>
              </a:rPr>
              <a:t>使用</a:t>
            </a:r>
            <a:r>
              <a:rPr kumimoji="1" lang="en-US" altLang="zh-CN" sz="2400" dirty="0" smtClean="0">
                <a:latin typeface="Times New Roman" panose="02020603050405020304" pitchFamily="18" charset="0"/>
                <a:sym typeface="+mn-ea"/>
              </a:rPr>
              <a:t>Server</a:t>
            </a:r>
            <a:r>
              <a:rPr kumimoji="1" lang="zh-CN" altLang="en-US" sz="2400" dirty="0" smtClean="0">
                <a:latin typeface="Times New Roman" panose="02020603050405020304" pitchFamily="18" charset="0"/>
                <a:sym typeface="+mn-ea"/>
              </a:rPr>
              <a:t>主密钥</a:t>
            </a:r>
            <a:r>
              <a:rPr kumimoji="1" lang="en-US" altLang="zh-CN" sz="2400" dirty="0" smtClean="0">
                <a:latin typeface="Times New Roman" panose="02020603050405020304" pitchFamily="18" charset="0"/>
                <a:sym typeface="+mn-ea"/>
              </a:rPr>
              <a:t>Ks</a:t>
            </a:r>
            <a:r>
              <a:rPr kumimoji="1" lang="zh-CN" altLang="en-US" sz="2400" dirty="0" smtClean="0">
                <a:latin typeface="Times New Roman" panose="02020603050405020304" pitchFamily="18" charset="0"/>
                <a:sym typeface="+mn-ea"/>
              </a:rPr>
              <a:t>加密的</a:t>
            </a:r>
            <a:r>
              <a:rPr kumimoji="1" lang="en-US" altLang="zh-CN" sz="2400" dirty="0" smtClean="0">
                <a:latin typeface="Times New Roman" panose="02020603050405020304" pitchFamily="18" charset="0"/>
                <a:sym typeface="+mn-ea"/>
              </a:rPr>
              <a:t>Session Ticket</a:t>
            </a:r>
            <a:r>
              <a:rPr kumimoji="1" lang="zh-CN" altLang="en-US" sz="2400" dirty="0" smtClean="0">
                <a:latin typeface="Times New Roman" panose="02020603050405020304" pitchFamily="18" charset="0"/>
                <a:sym typeface="+mn-ea"/>
              </a:rPr>
              <a:t>（</a:t>
            </a:r>
            <a:r>
              <a:rPr kumimoji="1" lang="en-US" altLang="zh-CN" sz="2400" dirty="0" smtClean="0">
                <a:latin typeface="Times New Roman" panose="02020603050405020304" pitchFamily="18" charset="0"/>
                <a:sym typeface="+mn-ea"/>
              </a:rPr>
              <a:t>ST</a:t>
            </a:r>
            <a:r>
              <a:rPr kumimoji="1" lang="zh-CN" altLang="en-US" sz="2400" dirty="0" smtClean="0">
                <a:latin typeface="Times New Roman" panose="02020603050405020304" pitchFamily="18" charset="0"/>
                <a:sym typeface="+mn-ea"/>
              </a:rPr>
              <a:t>），包含以下内容：</a:t>
            </a:r>
            <a:endParaRPr kumimoji="1" lang="zh-CN" altLang="en-US" sz="2400" dirty="0" smtClean="0">
              <a:latin typeface="Times New Roman" panose="02020603050405020304" pitchFamily="18" charset="0"/>
              <a:sym typeface="+mn-ea"/>
            </a:endParaRPr>
          </a:p>
          <a:p>
            <a:pPr lvl="2"/>
            <a:r>
              <a:rPr lang="en-US" altLang="zh-CN" sz="2160">
                <a:sym typeface="+mn-ea"/>
              </a:rPr>
              <a:t>SKs-c</a:t>
            </a:r>
            <a:r>
              <a:rPr lang="zh-CN" altLang="en-US" sz="2160">
                <a:sym typeface="+mn-ea"/>
              </a:rPr>
              <a:t>：用于</a:t>
            </a:r>
            <a:r>
              <a:rPr lang="en-US" altLang="zh-CN" sz="2160">
                <a:sym typeface="+mn-ea"/>
              </a:rPr>
              <a:t>Client</a:t>
            </a:r>
            <a:r>
              <a:rPr lang="zh-CN" altLang="en-US" sz="2160">
                <a:sym typeface="+mn-ea"/>
              </a:rPr>
              <a:t>和</a:t>
            </a:r>
            <a:r>
              <a:rPr lang="en-US" altLang="zh-CN" sz="2160">
                <a:sym typeface="+mn-ea"/>
              </a:rPr>
              <a:t>Server</a:t>
            </a:r>
            <a:r>
              <a:rPr lang="zh-CN" altLang="en-US" sz="2160">
                <a:sym typeface="+mn-ea"/>
              </a:rPr>
              <a:t>的会话密钥</a:t>
            </a:r>
            <a:endParaRPr lang="zh-CN" altLang="en-US" sz="2160">
              <a:sym typeface="+mn-ea"/>
            </a:endParaRPr>
          </a:p>
          <a:p>
            <a:pPr lvl="2"/>
            <a:r>
              <a:rPr kumimoji="1" lang="en-US" altLang="zh-CN" sz="2160" dirty="0" smtClean="0">
                <a:latin typeface="Times New Roman" panose="02020603050405020304" pitchFamily="18" charset="0"/>
                <a:sym typeface="+mn-ea"/>
              </a:rPr>
              <a:t>C</a:t>
            </a:r>
            <a:r>
              <a:rPr kumimoji="1" lang="zh-CN" altLang="en-US" sz="2160" dirty="0" smtClean="0">
                <a:latin typeface="Times New Roman" panose="02020603050405020304" pitchFamily="18" charset="0"/>
                <a:sym typeface="+mn-ea"/>
              </a:rPr>
              <a:t>：客户端的名称</a:t>
            </a:r>
            <a:endParaRPr kumimoji="1" lang="en-US" altLang="zh-CN" sz="2160" dirty="0" smtClean="0">
              <a:latin typeface="Times New Roman" panose="02020603050405020304" pitchFamily="18" charset="0"/>
              <a:sym typeface="+mn-ea"/>
            </a:endParaRPr>
          </a:p>
          <a:p>
            <a:pPr lvl="2"/>
            <a:r>
              <a:rPr kumimoji="1" lang="en-US" altLang="zh-CN" sz="2160" dirty="0" smtClean="0">
                <a:latin typeface="Times New Roman" panose="02020603050405020304" pitchFamily="18" charset="0"/>
                <a:sym typeface="+mn-ea"/>
              </a:rPr>
              <a:t>t</a:t>
            </a:r>
            <a:r>
              <a:rPr kumimoji="1" lang="en-US" altLang="zh-CN" sz="1600" dirty="0" smtClean="0">
                <a:latin typeface="Times New Roman" panose="02020603050405020304" pitchFamily="18" charset="0"/>
                <a:sym typeface="+mn-ea"/>
              </a:rPr>
              <a:t>T</a:t>
            </a:r>
            <a:r>
              <a:rPr kumimoji="1" lang="zh-CN" altLang="en-US" sz="2160" dirty="0" smtClean="0">
                <a:latin typeface="Times New Roman" panose="02020603050405020304" pitchFamily="18" charset="0"/>
                <a:sym typeface="+mn-ea"/>
              </a:rPr>
              <a:t>：</a:t>
            </a:r>
            <a:r>
              <a:rPr kumimoji="1" lang="en-US" altLang="zh-CN" sz="2160" dirty="0" smtClean="0">
                <a:latin typeface="Times New Roman" panose="02020603050405020304" pitchFamily="18" charset="0"/>
                <a:sym typeface="+mn-ea"/>
              </a:rPr>
              <a:t>ST</a:t>
            </a:r>
            <a:r>
              <a:rPr kumimoji="1" lang="zh-CN" altLang="en-US" sz="2160" dirty="0" smtClean="0">
                <a:latin typeface="Times New Roman" panose="02020603050405020304" pitchFamily="18" charset="0"/>
                <a:sym typeface="+mn-ea"/>
              </a:rPr>
              <a:t>的有效期</a:t>
            </a:r>
            <a:endParaRPr kumimoji="1" lang="en-US" altLang="zh-CN" sz="2160" dirty="0" smtClean="0">
              <a:latin typeface="Times New Roman" panose="02020603050405020304" pitchFamily="18" charset="0"/>
              <a:sym typeface="+mn-ea"/>
            </a:endParaRPr>
          </a:p>
          <a:p>
            <a:pPr lvl="1"/>
            <a:r>
              <a:rPr kumimoji="1" lang="zh-CN" altLang="en-US" sz="2400" dirty="0" smtClean="0">
                <a:latin typeface="Times New Roman" panose="02020603050405020304" pitchFamily="18" charset="0"/>
                <a:sym typeface="+mn-ea"/>
              </a:rPr>
              <a:t>使用</a:t>
            </a:r>
            <a:r>
              <a:rPr lang="en-US" altLang="zh-CN" sz="2400">
                <a:sym typeface="+mn-ea"/>
              </a:rPr>
              <a:t>SK</a:t>
            </a:r>
            <a:r>
              <a:rPr lang="en-US" altLang="zh-CN">
                <a:sym typeface="+mn-ea"/>
              </a:rPr>
              <a:t>kdc-c</a:t>
            </a:r>
            <a:r>
              <a:rPr lang="zh-CN" altLang="en-US" sz="2400">
                <a:sym typeface="+mn-ea"/>
              </a:rPr>
              <a:t>加密的</a:t>
            </a:r>
            <a:r>
              <a:rPr lang="en-US" altLang="zh-CN" sz="2400" dirty="0" smtClean="0">
                <a:sym typeface="+mn-ea"/>
              </a:rPr>
              <a:t>SK</a:t>
            </a:r>
            <a:r>
              <a:rPr lang="en-US" altLang="zh-CN" sz="2160">
                <a:sym typeface="+mn-ea"/>
              </a:rPr>
              <a:t>s-c</a:t>
            </a:r>
            <a:r>
              <a:rPr lang="zh-CN" altLang="en-US" sz="2400" dirty="0" smtClean="0">
                <a:sym typeface="+mn-ea"/>
              </a:rPr>
              <a:t>、</a:t>
            </a:r>
            <a:r>
              <a:rPr lang="en-US" altLang="zh-CN" sz="2400" dirty="0" smtClean="0">
                <a:sym typeface="+mn-ea"/>
              </a:rPr>
              <a:t>n3 </a:t>
            </a:r>
            <a:r>
              <a:rPr lang="zh-CN" altLang="en-US" sz="2400" dirty="0" smtClean="0">
                <a:sym typeface="+mn-ea"/>
              </a:rPr>
              <a:t>、</a:t>
            </a:r>
            <a:r>
              <a:rPr lang="en-US" altLang="zh-CN" sz="2400" dirty="0" err="1" smtClean="0">
                <a:sym typeface="+mn-ea"/>
              </a:rPr>
              <a:t>t</a:t>
            </a:r>
            <a:r>
              <a:rPr lang="en-US" altLang="zh-CN" sz="1800" dirty="0" err="1" smtClean="0">
                <a:sym typeface="+mn-ea"/>
              </a:rPr>
              <a:t>T</a:t>
            </a:r>
            <a:r>
              <a:rPr lang="en-US" altLang="zh-CN" sz="1800" dirty="0" smtClean="0">
                <a:sym typeface="+mn-ea"/>
              </a:rPr>
              <a:t> </a:t>
            </a:r>
            <a:r>
              <a:rPr lang="zh-CN" altLang="en-US" sz="2400" dirty="0" smtClean="0">
                <a:sym typeface="+mn-ea"/>
              </a:rPr>
              <a:t>、</a:t>
            </a:r>
            <a:r>
              <a:rPr lang="en-US" altLang="zh-CN" sz="2400" dirty="0" smtClean="0">
                <a:sym typeface="+mn-ea"/>
              </a:rPr>
              <a:t>S</a:t>
            </a:r>
            <a:r>
              <a:rPr lang="zh-CN" altLang="en-US" sz="2400" dirty="0" smtClean="0">
                <a:sym typeface="+mn-ea"/>
              </a:rPr>
              <a:t>。</a:t>
            </a:r>
            <a:endParaRPr lang="zh-CN" altLang="en-US" sz="2400" dirty="0" smtClean="0">
              <a:sym typeface="+mn-ea"/>
            </a:endParaRPr>
          </a:p>
        </p:txBody>
      </p:sp>
      <p:pic>
        <p:nvPicPr>
          <p:cNvPr id="10" name="图片 9"/>
          <p:cNvPicPr/>
          <p:nvPr>
            <p:custDataLst>
              <p:tags r:id="rId1"/>
            </p:custDataLst>
          </p:nvPr>
        </p:nvPicPr>
        <p:blipFill>
          <a:blip r:embed="rId2"/>
          <a:stretch>
            <a:fillRect/>
          </a:stretch>
        </p:blipFill>
        <p:spPr>
          <a:xfrm>
            <a:off x="3620135" y="5436235"/>
            <a:ext cx="650875" cy="731520"/>
          </a:xfrm>
          <a:prstGeom prst="rect">
            <a:avLst/>
          </a:prstGeom>
          <a:noFill/>
          <a:ln w="9525">
            <a:noFill/>
          </a:ln>
        </p:spPr>
      </p:pic>
      <p:sp>
        <p:nvSpPr>
          <p:cNvPr id="23" name="文本框 22"/>
          <p:cNvSpPr txBox="1"/>
          <p:nvPr>
            <p:custDataLst>
              <p:tags r:id="rId3"/>
            </p:custDataLst>
          </p:nvPr>
        </p:nvSpPr>
        <p:spPr>
          <a:xfrm>
            <a:off x="2648585" y="5027930"/>
            <a:ext cx="2573020" cy="398780"/>
          </a:xfrm>
          <a:prstGeom prst="rect">
            <a:avLst/>
          </a:prstGeom>
          <a:noFill/>
        </p:spPr>
        <p:txBody>
          <a:bodyPr wrap="square" rtlCol="0">
            <a:spAutoFit/>
          </a:bodyPr>
          <a:p>
            <a:pPr algn="ctr"/>
            <a:r>
              <a:rPr lang="en-US" altLang="zh-CN" sz="2000" b="1"/>
              <a:t>Client</a:t>
            </a:r>
            <a:endParaRPr lang="zh-CN" altLang="en-US" sz="2000" b="1"/>
          </a:p>
        </p:txBody>
      </p:sp>
      <p:sp>
        <p:nvSpPr>
          <p:cNvPr id="30" name="圆角矩形 29"/>
          <p:cNvSpPr/>
          <p:nvPr/>
        </p:nvSpPr>
        <p:spPr>
          <a:xfrm>
            <a:off x="7908290" y="5426710"/>
            <a:ext cx="2289810" cy="72136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altLang="zh-CN" sz="2000" b="1">
                <a:sym typeface="+mn-ea"/>
              </a:rPr>
              <a:t>Ticket Granting</a:t>
            </a:r>
            <a:endParaRPr lang="en-US" altLang="zh-CN" sz="2000" b="1"/>
          </a:p>
          <a:p>
            <a:pPr algn="ctr"/>
            <a:r>
              <a:rPr lang="en-US" altLang="zh-CN" sz="2000" b="1">
                <a:sym typeface="+mn-ea"/>
              </a:rPr>
              <a:t>Service</a:t>
            </a:r>
            <a:r>
              <a:rPr lang="zh-CN" altLang="en-US" sz="2000" b="1">
                <a:sym typeface="+mn-ea"/>
              </a:rPr>
              <a:t>（</a:t>
            </a:r>
            <a:r>
              <a:rPr lang="en-US" altLang="zh-CN" sz="2000" b="1">
                <a:sym typeface="+mn-ea"/>
              </a:rPr>
              <a:t>TGS</a:t>
            </a:r>
            <a:r>
              <a:rPr lang="zh-CN" altLang="en-US" sz="2000" b="1">
                <a:sym typeface="+mn-ea"/>
              </a:rPr>
              <a:t>）</a:t>
            </a:r>
            <a:endParaRPr lang="en-US" altLang="zh-CN" sz="2000" b="1">
              <a:sym typeface="+mn-ea"/>
            </a:endParaRPr>
          </a:p>
        </p:txBody>
      </p:sp>
      <p:sp>
        <p:nvSpPr>
          <p:cNvPr id="3" name="圆角矩形 2"/>
          <p:cNvSpPr/>
          <p:nvPr>
            <p:custDataLst>
              <p:tags r:id="rId4"/>
            </p:custDataLst>
          </p:nvPr>
        </p:nvSpPr>
        <p:spPr>
          <a:xfrm>
            <a:off x="2413000" y="5607050"/>
            <a:ext cx="1109345" cy="389890"/>
          </a:xfrm>
          <a:prstGeom prst="roundRect">
            <a:avLst/>
          </a:prstGeom>
        </p:spPr>
        <p:style>
          <a:lnRef idx="2">
            <a:schemeClr val="dk1"/>
          </a:lnRef>
          <a:fillRef idx="1">
            <a:schemeClr val="lt1"/>
          </a:fillRef>
          <a:effectRef idx="0">
            <a:schemeClr val="dk1"/>
          </a:effectRef>
          <a:fontRef idx="minor">
            <a:schemeClr val="dk1"/>
          </a:fontRef>
        </p:style>
        <p:txBody>
          <a:bodyPr rtlCol="0" anchor="ctr"/>
          <a:p>
            <a:pPr algn="ctr"/>
            <a:r>
              <a:rPr lang="en-US" altLang="zh-CN" b="1"/>
              <a:t>K</a:t>
            </a:r>
            <a:r>
              <a:rPr lang="en-US" altLang="zh-CN" b="1"/>
              <a:t>c</a:t>
            </a:r>
            <a:endParaRPr lang="en-US" altLang="zh-CN" b="1"/>
          </a:p>
        </p:txBody>
      </p:sp>
      <p:cxnSp>
        <p:nvCxnSpPr>
          <p:cNvPr id="39" name="直接箭头连接符 38"/>
          <p:cNvCxnSpPr/>
          <p:nvPr>
            <p:custDataLst>
              <p:tags r:id="rId5"/>
            </p:custDataLst>
          </p:nvPr>
        </p:nvCxnSpPr>
        <p:spPr>
          <a:xfrm flipH="1" flipV="1">
            <a:off x="4368800" y="5808345"/>
            <a:ext cx="3423285" cy="571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4704715" y="5502910"/>
            <a:ext cx="2828290" cy="645160"/>
          </a:xfrm>
          <a:prstGeom prst="rect">
            <a:avLst/>
          </a:prstGeom>
          <a:noFill/>
        </p:spPr>
        <p:txBody>
          <a:bodyPr wrap="square" rtlCol="0">
            <a:spAutoFit/>
          </a:bodyPr>
          <a:p>
            <a:r>
              <a:rPr lang="en-US" altLang="zh-CN" b="1">
                <a:sym typeface="+mn-ea"/>
              </a:rPr>
              <a:t>C</a:t>
            </a:r>
            <a:r>
              <a:rPr lang="zh-CN" altLang="en-US" b="1"/>
              <a:t>，</a:t>
            </a:r>
            <a:r>
              <a:rPr lang="en-US" altLang="zh-CN" b="1"/>
              <a:t>{SKs-c,</a:t>
            </a:r>
            <a:r>
              <a:rPr lang="en-US" altLang="zh-CN" b="1">
                <a:sym typeface="+mn-ea"/>
              </a:rPr>
              <a:t>C</a:t>
            </a:r>
            <a:r>
              <a:rPr lang="en-US" altLang="zh-CN" b="1">
                <a:sym typeface="+mn-ea"/>
              </a:rPr>
              <a:t>,</a:t>
            </a:r>
            <a:r>
              <a:rPr lang="en-US" altLang="zh-CN" b="1"/>
              <a:t>t</a:t>
            </a:r>
            <a:r>
              <a:rPr lang="en-US" altLang="zh-CN" sz="1400" b="1"/>
              <a:t>T</a:t>
            </a:r>
            <a:r>
              <a:rPr lang="en-US" altLang="zh-CN" b="1"/>
              <a:t>}</a:t>
            </a:r>
            <a:r>
              <a:rPr lang="en-US" altLang="zh-CN" sz="1600" b="1">
                <a:sym typeface="+mn-ea"/>
              </a:rPr>
              <a:t>K</a:t>
            </a:r>
            <a:r>
              <a:rPr lang="en-US" altLang="zh-CN" sz="1400" b="1">
                <a:sym typeface="+mn-ea"/>
              </a:rPr>
              <a:t>s</a:t>
            </a:r>
            <a:r>
              <a:rPr lang="zh-CN" altLang="en-US" b="1">
                <a:sym typeface="+mn-ea"/>
              </a:rPr>
              <a:t>，</a:t>
            </a:r>
            <a:endParaRPr lang="zh-CN" altLang="en-US" b="1">
              <a:sym typeface="+mn-ea"/>
            </a:endParaRPr>
          </a:p>
          <a:p>
            <a:r>
              <a:rPr lang="en-US" altLang="zh-CN" b="1">
                <a:sym typeface="+mn-ea"/>
              </a:rPr>
              <a:t>{SKs-c,</a:t>
            </a:r>
            <a:r>
              <a:rPr lang="en-US" altLang="zh-CN" b="1" dirty="0" smtClean="0">
                <a:sym typeface="+mn-ea"/>
              </a:rPr>
              <a:t>n3</a:t>
            </a:r>
            <a:r>
              <a:rPr lang="en-US" altLang="zh-CN" b="1">
                <a:sym typeface="+mn-ea"/>
              </a:rPr>
              <a:t>,</a:t>
            </a:r>
            <a:r>
              <a:rPr lang="en-US" altLang="zh-CN" b="1">
                <a:sym typeface="+mn-ea"/>
              </a:rPr>
              <a:t>t</a:t>
            </a:r>
            <a:r>
              <a:rPr lang="en-US" altLang="zh-CN" sz="1400" b="1">
                <a:sym typeface="+mn-ea"/>
              </a:rPr>
              <a:t>T</a:t>
            </a:r>
            <a:r>
              <a:rPr lang="en-US" altLang="zh-CN" b="1">
                <a:sym typeface="+mn-ea"/>
              </a:rPr>
              <a:t>,S</a:t>
            </a:r>
            <a:r>
              <a:rPr lang="en-US" altLang="zh-CN" b="1">
                <a:sym typeface="+mn-ea"/>
              </a:rPr>
              <a:t>}</a:t>
            </a:r>
            <a:r>
              <a:rPr lang="en-US" altLang="zh-CN" sz="1600" b="1">
                <a:sym typeface="+mn-ea"/>
              </a:rPr>
              <a:t>SK</a:t>
            </a:r>
            <a:r>
              <a:rPr lang="en-US" altLang="zh-CN" sz="1400" b="1">
                <a:sym typeface="+mn-ea"/>
              </a:rPr>
              <a:t>kdc-c</a:t>
            </a:r>
            <a:endParaRPr lang="en-US" altLang="zh-CN" b="1" dirty="0" smtClean="0">
              <a:sym typeface="+mn-ea"/>
            </a:endParaRPr>
          </a:p>
        </p:txBody>
      </p:sp>
      <p:sp>
        <p:nvSpPr>
          <p:cNvPr id="8" name="左大括号 7"/>
          <p:cNvSpPr/>
          <p:nvPr>
            <p:custDataLst>
              <p:tags r:id="rId6"/>
            </p:custDataLst>
          </p:nvPr>
        </p:nvSpPr>
        <p:spPr>
          <a:xfrm rot="5400000">
            <a:off x="5722620" y="4914900"/>
            <a:ext cx="103505" cy="128016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9" name="文本框 8"/>
          <p:cNvSpPr txBox="1"/>
          <p:nvPr>
            <p:custDataLst>
              <p:tags r:id="rId7"/>
            </p:custDataLst>
          </p:nvPr>
        </p:nvSpPr>
        <p:spPr>
          <a:xfrm>
            <a:off x="5576570" y="5081905"/>
            <a:ext cx="560070" cy="440690"/>
          </a:xfrm>
          <a:prstGeom prst="rect">
            <a:avLst/>
          </a:prstGeom>
          <a:noFill/>
        </p:spPr>
        <p:txBody>
          <a:bodyPr wrap="square" rtlCol="0">
            <a:noAutofit/>
          </a:bodyPr>
          <a:p>
            <a:r>
              <a:rPr lang="en-US" altLang="zh-CN" b="1"/>
              <a:t>ST</a:t>
            </a:r>
            <a:endParaRPr lang="en-US" altLang="zh-CN" b="1"/>
          </a:p>
        </p:txBody>
      </p:sp>
    </p:spTree>
  </p:cSld>
  <p:clrMapOvr>
    <a:masterClrMapping/>
  </p:clrMapOvr>
  <mc:AlternateContent xmlns:mc="http://schemas.openxmlformats.org/markup-compatibility/2006">
    <mc:Choice xmlns:p14="http://schemas.microsoft.com/office/powerpoint/2010/main" Requires="p14">
      <p:transition spd="slow" p14:dur="2000" advTm="2827"/>
    </mc:Choice>
    <mc:Fallback>
      <p:transition spd="slow" advTm="2827"/>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sym typeface="+mn-ea"/>
              </a:rPr>
              <a:t>16.4 </a:t>
            </a:r>
            <a:r>
              <a:rPr lang="en-US" altLang="zh-CN" dirty="0"/>
              <a:t>Kerberos</a:t>
            </a:r>
            <a:r>
              <a:rPr lang="zh-CN" altLang="en-US" dirty="0"/>
              <a:t>协议</a:t>
            </a:r>
            <a:r>
              <a:rPr lang="zh-CN" altLang="en-US" dirty="0"/>
              <a:t>流程</a:t>
            </a:r>
            <a:endParaRPr lang="zh-CN" altLang="en-US" dirty="0"/>
          </a:p>
        </p:txBody>
      </p:sp>
      <p:sp>
        <p:nvSpPr>
          <p:cNvPr id="4" name="灯片编号占位符 3"/>
          <p:cNvSpPr>
            <a:spLocks noGrp="1"/>
          </p:cNvSpPr>
          <p:nvPr>
            <p:ph type="sldNum" sz="quarter" idx="12"/>
          </p:nvPr>
        </p:nvSpPr>
        <p:spPr/>
        <p:txBody>
          <a:bodyPr/>
          <a:lstStyle/>
          <a:p>
            <a:pPr>
              <a:defRPr/>
            </a:pPr>
            <a:fld id="{B42B4293-9377-4872-955B-7EAEC82CC678}" type="slidenum">
              <a:rPr lang="en-US" altLang="zh-CN" smtClean="0"/>
            </a:fld>
            <a:endParaRPr lang="en-US" altLang="zh-CN" dirty="0"/>
          </a:p>
        </p:txBody>
      </p:sp>
      <p:sp>
        <p:nvSpPr>
          <p:cNvPr id="5" name="内容占位符 4"/>
          <p:cNvSpPr/>
          <p:nvPr>
            <p:ph idx="1"/>
          </p:nvPr>
        </p:nvSpPr>
        <p:spPr/>
        <p:txBody>
          <a:bodyPr/>
          <a:p>
            <a:r>
              <a:rPr kumimoji="1" lang="zh-CN" altLang="en-US" dirty="0" smtClean="0">
                <a:latin typeface="Times New Roman" panose="02020603050405020304" pitchFamily="18" charset="0"/>
                <a:sym typeface="+mn-ea"/>
              </a:rPr>
              <a:t>第三阶段：</a:t>
            </a:r>
            <a:r>
              <a:rPr lang="zh-CN" altLang="en-US" b="1" smtClean="0">
                <a:sym typeface="+mn-ea"/>
              </a:rPr>
              <a:t>客户端服务器交换阶段</a:t>
            </a:r>
            <a:r>
              <a:rPr lang="en-US" altLang="zh-CN" b="1">
                <a:sym typeface="+mn-ea"/>
              </a:rPr>
              <a:t> </a:t>
            </a:r>
            <a:r>
              <a:rPr lang="en-US" altLang="zh-CN" b="1">
                <a:sym typeface="+mn-ea"/>
              </a:rPr>
              <a:t>(KRB_AP_RE</a:t>
            </a:r>
            <a:r>
              <a:rPr lang="en-US" altLang="zh-CN" b="1">
                <a:sym typeface="+mn-ea"/>
              </a:rPr>
              <a:t>Q)</a:t>
            </a:r>
            <a:endParaRPr lang="zh-CN" altLang="en-US" b="1"/>
          </a:p>
          <a:p>
            <a:pPr lvl="1" algn="l"/>
            <a:r>
              <a:rPr kumimoji="1" lang="zh-CN" altLang="en-US" sz="2400" dirty="0" smtClean="0">
                <a:latin typeface="Times New Roman" panose="02020603050405020304" pitchFamily="18" charset="0"/>
                <a:sym typeface="+mn-ea"/>
              </a:rPr>
              <a:t>通过</a:t>
            </a:r>
            <a:r>
              <a:rPr lang="zh-CN" altLang="en-US" sz="2400">
                <a:sym typeface="+mn-ea"/>
              </a:rPr>
              <a:t>票据授予服务交换阶段获取的</a:t>
            </a:r>
            <a:r>
              <a:rPr lang="en-US" altLang="zh-CN" sz="2400">
                <a:sym typeface="+mn-ea"/>
              </a:rPr>
              <a:t>ST</a:t>
            </a:r>
            <a:endParaRPr kumimoji="1" lang="en-US" altLang="zh-CN" sz="2400" dirty="0" smtClean="0">
              <a:latin typeface="Times New Roman" panose="02020603050405020304" pitchFamily="18" charset="0"/>
              <a:sym typeface="+mn-ea"/>
            </a:endParaRPr>
          </a:p>
          <a:p>
            <a:pPr lvl="1"/>
            <a:r>
              <a:rPr kumimoji="1" lang="zh-CN" altLang="en-US" sz="2400" dirty="0" smtClean="0">
                <a:latin typeface="Times New Roman" panose="02020603050405020304" pitchFamily="18" charset="0"/>
                <a:sym typeface="+mn-ea"/>
              </a:rPr>
              <a:t>使用</a:t>
            </a:r>
            <a:r>
              <a:rPr lang="en-US" altLang="zh-CN" sz="2160">
                <a:sym typeface="+mn-ea"/>
              </a:rPr>
              <a:t>SKs-c</a:t>
            </a:r>
            <a:r>
              <a:rPr lang="zh-CN" altLang="en-US" sz="2160">
                <a:sym typeface="+mn-ea"/>
              </a:rPr>
              <a:t>加密的</a:t>
            </a:r>
            <a:r>
              <a:rPr kumimoji="1" lang="en-US" altLang="zh-CN" sz="2400" dirty="0" smtClean="0">
                <a:latin typeface="Times New Roman" panose="02020603050405020304" pitchFamily="18" charset="0"/>
                <a:sym typeface="+mn-ea"/>
              </a:rPr>
              <a:t>Authenticator</a:t>
            </a:r>
            <a:r>
              <a:rPr kumimoji="1" lang="zh-CN" altLang="en-US" sz="2400" dirty="0" smtClean="0">
                <a:latin typeface="Times New Roman" panose="02020603050405020304" pitchFamily="18" charset="0"/>
                <a:sym typeface="+mn-ea"/>
              </a:rPr>
              <a:t>：包含</a:t>
            </a:r>
            <a:r>
              <a:rPr kumimoji="1" lang="en-US" altLang="zh-CN" sz="2400" dirty="0" smtClean="0">
                <a:latin typeface="Times New Roman" panose="02020603050405020304" pitchFamily="18" charset="0"/>
                <a:sym typeface="+mn-ea"/>
              </a:rPr>
              <a:t>C</a:t>
            </a:r>
            <a:r>
              <a:rPr kumimoji="1" lang="zh-CN" altLang="en-US" sz="2400" dirty="0" smtClean="0">
                <a:latin typeface="Times New Roman" panose="02020603050405020304" pitchFamily="18" charset="0"/>
                <a:sym typeface="+mn-ea"/>
              </a:rPr>
              <a:t>和一个时间戳</a:t>
            </a:r>
            <a:r>
              <a:rPr kumimoji="1" lang="en-US" altLang="zh-CN" sz="2400" dirty="0" smtClean="0">
                <a:latin typeface="Times New Roman" panose="02020603050405020304" pitchFamily="18" charset="0"/>
                <a:sym typeface="+mn-ea"/>
              </a:rPr>
              <a:t> Timestamp </a:t>
            </a:r>
            <a:r>
              <a:rPr lang="en-US" altLang="zh-CN" sz="2400" dirty="0" smtClean="0">
                <a:sym typeface="+mn-ea"/>
              </a:rPr>
              <a:t>tc’</a:t>
            </a:r>
            <a:r>
              <a:rPr kumimoji="1" lang="zh-CN" altLang="en-US" sz="2400" dirty="0" smtClean="0">
                <a:latin typeface="Times New Roman" panose="02020603050405020304" pitchFamily="18" charset="0"/>
                <a:sym typeface="+mn-ea"/>
              </a:rPr>
              <a:t>。</a:t>
            </a:r>
            <a:endParaRPr kumimoji="1" lang="zh-CN" altLang="en-US" sz="2400" dirty="0" smtClean="0">
              <a:latin typeface="Times New Roman" panose="02020603050405020304" pitchFamily="18" charset="0"/>
              <a:sym typeface="+mn-ea"/>
            </a:endParaRPr>
          </a:p>
          <a:p>
            <a:pPr lvl="1"/>
            <a:r>
              <a:rPr lang="en-US" altLang="zh-CN" sz="2400" dirty="0" smtClean="0">
                <a:sym typeface="+mn-ea"/>
              </a:rPr>
              <a:t>Flag</a:t>
            </a:r>
            <a:r>
              <a:rPr lang="zh-CN" altLang="en-US" sz="2400" dirty="0" smtClean="0">
                <a:sym typeface="+mn-ea"/>
              </a:rPr>
              <a:t>：表示</a:t>
            </a:r>
            <a:r>
              <a:rPr lang="en-US" altLang="zh-CN" sz="2400" dirty="0" smtClean="0">
                <a:sym typeface="+mn-ea"/>
              </a:rPr>
              <a:t>Client</a:t>
            </a:r>
            <a:r>
              <a:rPr lang="zh-CN" altLang="en-US" sz="2400" dirty="0" smtClean="0">
                <a:sym typeface="+mn-ea"/>
              </a:rPr>
              <a:t>是否需要进行双向</a:t>
            </a:r>
            <a:r>
              <a:rPr lang="zh-CN" altLang="en-US" sz="2400" dirty="0" smtClean="0">
                <a:sym typeface="+mn-ea"/>
              </a:rPr>
              <a:t>鉴别。</a:t>
            </a:r>
            <a:endParaRPr lang="zh-CN" altLang="en-US" sz="2400" dirty="0" smtClean="0">
              <a:sym typeface="+mn-ea"/>
            </a:endParaRPr>
          </a:p>
        </p:txBody>
      </p:sp>
      <p:pic>
        <p:nvPicPr>
          <p:cNvPr id="10" name="图片 9"/>
          <p:cNvPicPr/>
          <p:nvPr>
            <p:custDataLst>
              <p:tags r:id="rId1"/>
            </p:custDataLst>
          </p:nvPr>
        </p:nvPicPr>
        <p:blipFill>
          <a:blip r:embed="rId2"/>
          <a:stretch>
            <a:fillRect/>
          </a:stretch>
        </p:blipFill>
        <p:spPr>
          <a:xfrm>
            <a:off x="3620135" y="4590415"/>
            <a:ext cx="650875" cy="731520"/>
          </a:xfrm>
          <a:prstGeom prst="rect">
            <a:avLst/>
          </a:prstGeom>
          <a:noFill/>
          <a:ln w="9525">
            <a:noFill/>
          </a:ln>
        </p:spPr>
      </p:pic>
      <p:sp>
        <p:nvSpPr>
          <p:cNvPr id="23" name="文本框 22"/>
          <p:cNvSpPr txBox="1"/>
          <p:nvPr>
            <p:custDataLst>
              <p:tags r:id="rId3"/>
            </p:custDataLst>
          </p:nvPr>
        </p:nvSpPr>
        <p:spPr>
          <a:xfrm>
            <a:off x="2648585" y="4182110"/>
            <a:ext cx="2573020" cy="398780"/>
          </a:xfrm>
          <a:prstGeom prst="rect">
            <a:avLst/>
          </a:prstGeom>
          <a:noFill/>
        </p:spPr>
        <p:txBody>
          <a:bodyPr wrap="square" rtlCol="0">
            <a:spAutoFit/>
          </a:bodyPr>
          <a:p>
            <a:pPr algn="ctr"/>
            <a:r>
              <a:rPr lang="en-US" altLang="zh-CN" sz="2000" b="1"/>
              <a:t>Client</a:t>
            </a:r>
            <a:endParaRPr lang="zh-CN" altLang="en-US" sz="2000" b="1"/>
          </a:p>
        </p:txBody>
      </p:sp>
      <p:sp>
        <p:nvSpPr>
          <p:cNvPr id="3" name="圆角矩形 2"/>
          <p:cNvSpPr/>
          <p:nvPr>
            <p:custDataLst>
              <p:tags r:id="rId4"/>
            </p:custDataLst>
          </p:nvPr>
        </p:nvSpPr>
        <p:spPr>
          <a:xfrm>
            <a:off x="2413000" y="4761230"/>
            <a:ext cx="1109345" cy="389890"/>
          </a:xfrm>
          <a:prstGeom prst="roundRect">
            <a:avLst/>
          </a:prstGeom>
        </p:spPr>
        <p:style>
          <a:lnRef idx="2">
            <a:schemeClr val="dk1"/>
          </a:lnRef>
          <a:fillRef idx="1">
            <a:schemeClr val="lt1"/>
          </a:fillRef>
          <a:effectRef idx="0">
            <a:schemeClr val="dk1"/>
          </a:effectRef>
          <a:fontRef idx="minor">
            <a:schemeClr val="dk1"/>
          </a:fontRef>
        </p:style>
        <p:txBody>
          <a:bodyPr rtlCol="0" anchor="ctr"/>
          <a:p>
            <a:pPr algn="ctr"/>
            <a:r>
              <a:rPr lang="en-US" altLang="zh-CN" b="1"/>
              <a:t>K</a:t>
            </a:r>
            <a:r>
              <a:rPr lang="en-US" altLang="zh-CN" b="1"/>
              <a:t>c</a:t>
            </a:r>
            <a:endParaRPr lang="en-US" altLang="zh-CN" b="1"/>
          </a:p>
        </p:txBody>
      </p:sp>
      <p:cxnSp>
        <p:nvCxnSpPr>
          <p:cNvPr id="39" name="直接箭头连接符 38"/>
          <p:cNvCxnSpPr/>
          <p:nvPr>
            <p:custDataLst>
              <p:tags r:id="rId5"/>
            </p:custDataLst>
          </p:nvPr>
        </p:nvCxnSpPr>
        <p:spPr>
          <a:xfrm flipV="1">
            <a:off x="4409440" y="4964430"/>
            <a:ext cx="3556000" cy="1016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4563110" y="4676775"/>
            <a:ext cx="3145155" cy="645160"/>
          </a:xfrm>
          <a:prstGeom prst="rect">
            <a:avLst/>
          </a:prstGeom>
          <a:noFill/>
        </p:spPr>
        <p:txBody>
          <a:bodyPr wrap="square" rtlCol="0">
            <a:spAutoFit/>
          </a:bodyPr>
          <a:p>
            <a:r>
              <a:rPr lang="en-US" altLang="zh-CN" b="1"/>
              <a:t>{SKs-c,</a:t>
            </a:r>
            <a:r>
              <a:rPr lang="en-US" altLang="zh-CN" b="1">
                <a:sym typeface="+mn-ea"/>
              </a:rPr>
              <a:t>C,</a:t>
            </a:r>
            <a:r>
              <a:rPr lang="en-US" altLang="zh-CN" b="1"/>
              <a:t>t</a:t>
            </a:r>
            <a:r>
              <a:rPr lang="en-US" altLang="zh-CN" sz="1400" b="1"/>
              <a:t>T</a:t>
            </a:r>
            <a:r>
              <a:rPr lang="en-US" altLang="zh-CN" b="1"/>
              <a:t>}</a:t>
            </a:r>
            <a:r>
              <a:rPr lang="en-US" altLang="zh-CN" sz="1600" b="1">
                <a:sym typeface="+mn-ea"/>
              </a:rPr>
              <a:t>K</a:t>
            </a:r>
            <a:r>
              <a:rPr lang="en-US" altLang="zh-CN" sz="1400" b="1">
                <a:sym typeface="+mn-ea"/>
              </a:rPr>
              <a:t>s</a:t>
            </a:r>
            <a:r>
              <a:rPr lang="zh-CN" altLang="en-US" b="1">
                <a:sym typeface="+mn-ea"/>
              </a:rPr>
              <a:t>，</a:t>
            </a:r>
            <a:r>
              <a:rPr lang="en-US" altLang="zh-CN" b="1">
                <a:sym typeface="+mn-ea"/>
              </a:rPr>
              <a:t>{</a:t>
            </a:r>
            <a:r>
              <a:rPr lang="en-US" altLang="zh-CN" b="1">
                <a:sym typeface="+mn-ea"/>
              </a:rPr>
              <a:t>C,</a:t>
            </a:r>
            <a:r>
              <a:rPr lang="en-US" altLang="zh-CN" b="1">
                <a:sym typeface="+mn-ea"/>
              </a:rPr>
              <a:t>tc’}</a:t>
            </a:r>
            <a:r>
              <a:rPr lang="en-US" altLang="zh-CN" sz="1600" b="1">
                <a:sym typeface="+mn-ea"/>
              </a:rPr>
              <a:t>SKs</a:t>
            </a:r>
            <a:r>
              <a:rPr lang="en-US" altLang="zh-CN" sz="1400" b="1">
                <a:sym typeface="+mn-ea"/>
              </a:rPr>
              <a:t>-c</a:t>
            </a:r>
            <a:r>
              <a:rPr lang="zh-CN" altLang="en-US" b="1">
                <a:sym typeface="+mn-ea"/>
              </a:rPr>
              <a:t>，</a:t>
            </a:r>
            <a:r>
              <a:rPr lang="en-US" altLang="zh-CN" b="1">
                <a:sym typeface="+mn-ea"/>
              </a:rPr>
              <a:t>Flag</a:t>
            </a:r>
            <a:endParaRPr lang="en-US" altLang="zh-CN" b="1" dirty="0" smtClean="0">
              <a:sym typeface="+mn-ea"/>
            </a:endParaRPr>
          </a:p>
        </p:txBody>
      </p:sp>
      <p:sp>
        <p:nvSpPr>
          <p:cNvPr id="8" name="左大括号 7"/>
          <p:cNvSpPr/>
          <p:nvPr>
            <p:custDataLst>
              <p:tags r:id="rId6"/>
            </p:custDataLst>
          </p:nvPr>
        </p:nvSpPr>
        <p:spPr>
          <a:xfrm rot="5400000">
            <a:off x="5233035" y="4018915"/>
            <a:ext cx="180975" cy="1303655"/>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9" name="文本框 8"/>
          <p:cNvSpPr txBox="1"/>
          <p:nvPr>
            <p:custDataLst>
              <p:tags r:id="rId7"/>
            </p:custDataLst>
          </p:nvPr>
        </p:nvSpPr>
        <p:spPr>
          <a:xfrm>
            <a:off x="5119370" y="4224655"/>
            <a:ext cx="560070" cy="440690"/>
          </a:xfrm>
          <a:prstGeom prst="rect">
            <a:avLst/>
          </a:prstGeom>
          <a:noFill/>
        </p:spPr>
        <p:txBody>
          <a:bodyPr wrap="square" rtlCol="0">
            <a:noAutofit/>
          </a:bodyPr>
          <a:p>
            <a:r>
              <a:rPr lang="en-US" altLang="zh-CN" b="1"/>
              <a:t>ST</a:t>
            </a:r>
            <a:endParaRPr lang="en-US" altLang="zh-CN" b="1"/>
          </a:p>
        </p:txBody>
      </p:sp>
      <p:pic>
        <p:nvPicPr>
          <p:cNvPr id="11" name="图片 10"/>
          <p:cNvPicPr/>
          <p:nvPr>
            <p:custDataLst>
              <p:tags r:id="rId8"/>
            </p:custDataLst>
          </p:nvPr>
        </p:nvPicPr>
        <p:blipFill>
          <a:blip r:embed="rId9"/>
          <a:stretch>
            <a:fillRect/>
          </a:stretch>
        </p:blipFill>
        <p:spPr>
          <a:xfrm>
            <a:off x="7966710" y="4411980"/>
            <a:ext cx="982345" cy="909955"/>
          </a:xfrm>
          <a:prstGeom prst="rect">
            <a:avLst/>
          </a:prstGeom>
          <a:noFill/>
          <a:ln w="9525">
            <a:noFill/>
          </a:ln>
        </p:spPr>
      </p:pic>
      <p:sp>
        <p:nvSpPr>
          <p:cNvPr id="6" name="文本框 5"/>
          <p:cNvSpPr txBox="1"/>
          <p:nvPr>
            <p:custDataLst>
              <p:tags r:id="rId10"/>
            </p:custDataLst>
          </p:nvPr>
        </p:nvSpPr>
        <p:spPr>
          <a:xfrm>
            <a:off x="7953375" y="5297805"/>
            <a:ext cx="995045" cy="398780"/>
          </a:xfrm>
          <a:prstGeom prst="rect">
            <a:avLst/>
          </a:prstGeom>
          <a:noFill/>
        </p:spPr>
        <p:txBody>
          <a:bodyPr wrap="square" rtlCol="0">
            <a:spAutoFit/>
          </a:bodyPr>
          <a:p>
            <a:r>
              <a:rPr lang="en-US" altLang="zh-CN" sz="2000" b="1"/>
              <a:t> Server</a:t>
            </a:r>
            <a:endParaRPr lang="en-US" altLang="zh-CN" sz="2000" b="1"/>
          </a:p>
        </p:txBody>
      </p:sp>
      <p:sp>
        <p:nvSpPr>
          <p:cNvPr id="7" name="文本框 6"/>
          <p:cNvSpPr txBox="1"/>
          <p:nvPr/>
        </p:nvSpPr>
        <p:spPr>
          <a:xfrm>
            <a:off x="3048000" y="3244850"/>
            <a:ext cx="6096000" cy="368300"/>
          </a:xfrm>
          <a:prstGeom prst="rect">
            <a:avLst/>
          </a:prstGeom>
          <a:noFill/>
        </p:spPr>
        <p:txBody>
          <a:bodyPr wrap="square" rtlCol="0" anchor="t">
            <a:spAutoFit/>
          </a:bodyPr>
          <a:p>
            <a:r>
              <a:rPr lang="zh-CN" altLang="en-US" b="1">
                <a:sym typeface="+mn-ea"/>
              </a:rPr>
              <a:t>，</a:t>
            </a:r>
            <a:endParaRPr lang="zh-CN" altLang="en-US" b="1">
              <a:sym typeface="+mn-ea"/>
            </a:endParaRPr>
          </a:p>
        </p:txBody>
      </p:sp>
      <p:sp>
        <p:nvSpPr>
          <p:cNvPr id="12" name="左大括号 11"/>
          <p:cNvSpPr/>
          <p:nvPr>
            <p:custDataLst>
              <p:tags r:id="rId11"/>
            </p:custDataLst>
          </p:nvPr>
        </p:nvSpPr>
        <p:spPr>
          <a:xfrm rot="5400000">
            <a:off x="6565900" y="4116070"/>
            <a:ext cx="181610" cy="1108710"/>
          </a:xfrm>
          <a:prstGeom prst="leftBrace">
            <a:avLst/>
          </a:prstGeom>
          <a:ln w="28575">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p>
            <a:pPr algn="ctr"/>
            <a:endParaRPr lang="zh-CN" altLang="en-US"/>
          </a:p>
        </p:txBody>
      </p:sp>
      <p:sp>
        <p:nvSpPr>
          <p:cNvPr id="14" name="文本框 13"/>
          <p:cNvSpPr txBox="1"/>
          <p:nvPr>
            <p:custDataLst>
              <p:tags r:id="rId12"/>
            </p:custDataLst>
          </p:nvPr>
        </p:nvSpPr>
        <p:spPr>
          <a:xfrm>
            <a:off x="5943600" y="4200525"/>
            <a:ext cx="1437640" cy="440690"/>
          </a:xfrm>
          <a:prstGeom prst="rect">
            <a:avLst/>
          </a:prstGeom>
          <a:noFill/>
        </p:spPr>
        <p:txBody>
          <a:bodyPr wrap="square" rtlCol="0">
            <a:noAutofit/>
          </a:bodyPr>
          <a:p>
            <a:r>
              <a:rPr lang="en-US" altLang="zh-CN" b="1"/>
              <a:t>Authentiator</a:t>
            </a:r>
            <a:endParaRPr lang="en-US" altLang="zh-CN" b="1"/>
          </a:p>
        </p:txBody>
      </p:sp>
    </p:spTree>
  </p:cSld>
  <p:clrMapOvr>
    <a:masterClrMapping/>
  </p:clrMapOvr>
  <mc:AlternateContent xmlns:mc="http://schemas.openxmlformats.org/markup-compatibility/2006">
    <mc:Choice xmlns:p14="http://schemas.microsoft.com/office/powerpoint/2010/main" Requires="p14">
      <p:transition spd="slow" p14:dur="2000" advTm="2827"/>
    </mc:Choice>
    <mc:Fallback>
      <p:transition spd="slow" advTm="2827"/>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sym typeface="+mn-ea"/>
              </a:rPr>
              <a:t>16.4 </a:t>
            </a:r>
            <a:r>
              <a:rPr lang="en-US" altLang="zh-CN" dirty="0"/>
              <a:t>Kerberos</a:t>
            </a:r>
            <a:r>
              <a:rPr lang="zh-CN" altLang="en-US" dirty="0"/>
              <a:t>协议流程</a:t>
            </a:r>
            <a:endParaRPr lang="zh-CN" altLang="en-US" dirty="0"/>
          </a:p>
        </p:txBody>
      </p:sp>
      <p:sp>
        <p:nvSpPr>
          <p:cNvPr id="4" name="灯片编号占位符 3"/>
          <p:cNvSpPr>
            <a:spLocks noGrp="1"/>
          </p:cNvSpPr>
          <p:nvPr>
            <p:ph type="sldNum" sz="quarter" idx="12"/>
          </p:nvPr>
        </p:nvSpPr>
        <p:spPr/>
        <p:txBody>
          <a:bodyPr/>
          <a:lstStyle/>
          <a:p>
            <a:pPr>
              <a:defRPr/>
            </a:pPr>
            <a:fld id="{B42B4293-9377-4872-955B-7EAEC82CC678}" type="slidenum">
              <a:rPr lang="en-US" altLang="zh-CN" smtClean="0"/>
            </a:fld>
            <a:endParaRPr lang="en-US" altLang="zh-CN" dirty="0"/>
          </a:p>
        </p:txBody>
      </p:sp>
      <p:sp>
        <p:nvSpPr>
          <p:cNvPr id="5" name="内容占位符 4"/>
          <p:cNvSpPr/>
          <p:nvPr>
            <p:ph idx="1"/>
          </p:nvPr>
        </p:nvSpPr>
        <p:spPr/>
        <p:txBody>
          <a:bodyPr/>
          <a:p>
            <a:r>
              <a:rPr kumimoji="1" lang="zh-CN" altLang="en-US" dirty="0" smtClean="0">
                <a:latin typeface="Times New Roman" panose="02020603050405020304" pitchFamily="18" charset="0"/>
                <a:sym typeface="+mn-ea"/>
              </a:rPr>
              <a:t>第三阶段：</a:t>
            </a:r>
            <a:r>
              <a:rPr lang="zh-CN" altLang="en-US" b="1" smtClean="0">
                <a:sym typeface="+mn-ea"/>
              </a:rPr>
              <a:t>客户端服务器交换阶段</a:t>
            </a:r>
            <a:r>
              <a:rPr lang="en-US" altLang="zh-CN" b="1">
                <a:sym typeface="+mn-ea"/>
              </a:rPr>
              <a:t> </a:t>
            </a:r>
            <a:r>
              <a:rPr lang="en-US" altLang="zh-CN" b="1">
                <a:sym typeface="+mn-ea"/>
              </a:rPr>
              <a:t>(KRB_AP_REQ)</a:t>
            </a:r>
            <a:endParaRPr lang="zh-CN" altLang="en-US" b="1"/>
          </a:p>
          <a:p>
            <a:pPr lvl="1" algn="l"/>
            <a:r>
              <a:rPr kumimoji="1" lang="en-US" altLang="zh-CN" sz="2400" dirty="0" smtClean="0">
                <a:latin typeface="Times New Roman" panose="02020603050405020304" pitchFamily="18" charset="0"/>
                <a:sym typeface="+mn-ea"/>
              </a:rPr>
              <a:t>Server</a:t>
            </a:r>
            <a:r>
              <a:rPr kumimoji="1" lang="zh-CN" altLang="en-US" sz="2400" dirty="0" smtClean="0">
                <a:latin typeface="Times New Roman" panose="02020603050405020304" pitchFamily="18" charset="0"/>
                <a:sym typeface="+mn-ea"/>
              </a:rPr>
              <a:t>使用</a:t>
            </a:r>
            <a:r>
              <a:rPr kumimoji="1" lang="en-US" altLang="zh-CN" sz="2400" dirty="0" smtClean="0">
                <a:latin typeface="Times New Roman" panose="02020603050405020304" pitchFamily="18" charset="0"/>
                <a:sym typeface="+mn-ea"/>
              </a:rPr>
              <a:t>Ks</a:t>
            </a:r>
            <a:r>
              <a:rPr kumimoji="1" lang="zh-CN" altLang="en-US" sz="2400" dirty="0" smtClean="0">
                <a:latin typeface="Times New Roman" panose="02020603050405020304" pitchFamily="18" charset="0"/>
                <a:sym typeface="+mn-ea"/>
              </a:rPr>
              <a:t>解密</a:t>
            </a:r>
            <a:r>
              <a:rPr kumimoji="1" lang="en-US" altLang="zh-CN" sz="2400" dirty="0" smtClean="0">
                <a:latin typeface="Times New Roman" panose="02020603050405020304" pitchFamily="18" charset="0"/>
                <a:sym typeface="+mn-ea"/>
              </a:rPr>
              <a:t>ST</a:t>
            </a:r>
            <a:r>
              <a:rPr kumimoji="1" lang="zh-CN" altLang="en-US" sz="2400" dirty="0" smtClean="0">
                <a:latin typeface="Times New Roman" panose="02020603050405020304" pitchFamily="18" charset="0"/>
                <a:sym typeface="+mn-ea"/>
              </a:rPr>
              <a:t>，获得</a:t>
            </a:r>
            <a:r>
              <a:rPr lang="en-US" altLang="zh-CN" sz="2400">
                <a:sym typeface="+mn-ea"/>
              </a:rPr>
              <a:t>SKs-c</a:t>
            </a:r>
            <a:endParaRPr kumimoji="1" lang="en-US" altLang="zh-CN" sz="2400" dirty="0" smtClean="0">
              <a:latin typeface="Times New Roman" panose="02020603050405020304" pitchFamily="18" charset="0"/>
              <a:sym typeface="+mn-ea"/>
            </a:endParaRPr>
          </a:p>
          <a:p>
            <a:pPr lvl="1"/>
            <a:r>
              <a:rPr kumimoji="1" lang="zh-CN" altLang="en-US" sz="2400" dirty="0" smtClean="0">
                <a:latin typeface="Times New Roman" panose="02020603050405020304" pitchFamily="18" charset="0"/>
                <a:sym typeface="+mn-ea"/>
              </a:rPr>
              <a:t>使用</a:t>
            </a:r>
            <a:r>
              <a:rPr lang="en-US" altLang="zh-CN" sz="2160">
                <a:sym typeface="+mn-ea"/>
              </a:rPr>
              <a:t>SKs-c</a:t>
            </a:r>
            <a:r>
              <a:rPr lang="zh-CN" altLang="en-US" sz="2160">
                <a:sym typeface="+mn-ea"/>
              </a:rPr>
              <a:t>解密</a:t>
            </a:r>
            <a:r>
              <a:rPr kumimoji="1" lang="en-US" altLang="zh-CN" sz="2400" dirty="0" smtClean="0">
                <a:latin typeface="Times New Roman" panose="02020603050405020304" pitchFamily="18" charset="0"/>
                <a:sym typeface="+mn-ea"/>
              </a:rPr>
              <a:t>Authenticator</a:t>
            </a:r>
            <a:r>
              <a:rPr kumimoji="1" lang="zh-CN" altLang="en-US" sz="2400" dirty="0" smtClean="0">
                <a:latin typeface="Times New Roman" panose="02020603050405020304" pitchFamily="18" charset="0"/>
                <a:sym typeface="+mn-ea"/>
              </a:rPr>
              <a:t>，从而验证客户端身份，若验证成功则返回</a:t>
            </a:r>
            <a:r>
              <a:rPr kumimoji="1" lang="zh-CN" altLang="en-US" sz="2400" dirty="0" smtClean="0">
                <a:latin typeface="Times New Roman" panose="02020603050405020304" pitchFamily="18" charset="0"/>
                <a:sym typeface="+mn-ea"/>
              </a:rPr>
              <a:t>资源。</a:t>
            </a:r>
            <a:endParaRPr kumimoji="1" lang="zh-CN" altLang="en-US" sz="2400" dirty="0" smtClean="0">
              <a:latin typeface="Times New Roman" panose="02020603050405020304" pitchFamily="18" charset="0"/>
              <a:sym typeface="+mn-ea"/>
            </a:endParaRPr>
          </a:p>
          <a:p>
            <a:pPr lvl="1"/>
            <a:r>
              <a:rPr lang="zh-CN" altLang="en-US" sz="2400" dirty="0" smtClean="0">
                <a:sym typeface="+mn-ea"/>
              </a:rPr>
              <a:t>如需双向鉴别：</a:t>
            </a:r>
            <a:r>
              <a:rPr lang="en-US" altLang="zh-CN" sz="2400" dirty="0" smtClean="0">
                <a:sym typeface="+mn-ea"/>
              </a:rPr>
              <a:t>Server</a:t>
            </a:r>
            <a:r>
              <a:rPr lang="zh-CN" altLang="en-US" sz="2400" dirty="0" smtClean="0">
                <a:sym typeface="+mn-ea"/>
              </a:rPr>
              <a:t>从</a:t>
            </a:r>
            <a:r>
              <a:rPr lang="en-US" altLang="zh-CN" sz="2400" dirty="0" smtClean="0">
                <a:sym typeface="+mn-ea"/>
              </a:rPr>
              <a:t>Authenticator</a:t>
            </a:r>
            <a:r>
              <a:rPr lang="zh-CN" altLang="en-US" sz="2400" dirty="0" smtClean="0">
                <a:sym typeface="+mn-ea"/>
              </a:rPr>
              <a:t>提取时间戳</a:t>
            </a:r>
            <a:r>
              <a:rPr lang="en-US" altLang="zh-CN" sz="2400" dirty="0" smtClean="0">
                <a:sym typeface="+mn-ea"/>
              </a:rPr>
              <a:t>tc’</a:t>
            </a:r>
            <a:r>
              <a:rPr lang="zh-CN" altLang="en-US" sz="2400" dirty="0" smtClean="0">
                <a:sym typeface="+mn-ea"/>
              </a:rPr>
              <a:t>，使用</a:t>
            </a:r>
            <a:r>
              <a:rPr lang="en-US" altLang="zh-CN" sz="2400">
                <a:sym typeface="+mn-ea"/>
              </a:rPr>
              <a:t>SKs-c</a:t>
            </a:r>
            <a:r>
              <a:rPr lang="zh-CN" altLang="en-US" sz="2400">
                <a:sym typeface="+mn-ea"/>
              </a:rPr>
              <a:t>加密，并发送给</a:t>
            </a:r>
            <a:r>
              <a:rPr lang="en-US" altLang="zh-CN" sz="2400">
                <a:sym typeface="+mn-ea"/>
              </a:rPr>
              <a:t>Client</a:t>
            </a:r>
            <a:r>
              <a:rPr lang="zh-CN" altLang="en-US" sz="2400">
                <a:sym typeface="+mn-ea"/>
              </a:rPr>
              <a:t>用于</a:t>
            </a:r>
            <a:r>
              <a:rPr lang="en-US" altLang="zh-CN" sz="2400">
                <a:sym typeface="+mn-ea"/>
              </a:rPr>
              <a:t>Client</a:t>
            </a:r>
            <a:r>
              <a:rPr lang="zh-CN" altLang="en-US" sz="2400">
                <a:sym typeface="+mn-ea"/>
              </a:rPr>
              <a:t>验证</a:t>
            </a:r>
            <a:r>
              <a:rPr lang="en-US" altLang="zh-CN" sz="2400">
                <a:sym typeface="+mn-ea"/>
              </a:rPr>
              <a:t>Server</a:t>
            </a:r>
            <a:r>
              <a:rPr lang="zh-CN" altLang="en-US" sz="2400">
                <a:sym typeface="+mn-ea"/>
              </a:rPr>
              <a:t>身份</a:t>
            </a:r>
            <a:endParaRPr lang="zh-CN" altLang="en-US" sz="2400">
              <a:sym typeface="+mn-ea"/>
            </a:endParaRPr>
          </a:p>
        </p:txBody>
      </p:sp>
      <p:pic>
        <p:nvPicPr>
          <p:cNvPr id="10" name="图片 9"/>
          <p:cNvPicPr/>
          <p:nvPr>
            <p:custDataLst>
              <p:tags r:id="rId1"/>
            </p:custDataLst>
          </p:nvPr>
        </p:nvPicPr>
        <p:blipFill>
          <a:blip r:embed="rId2"/>
          <a:stretch>
            <a:fillRect/>
          </a:stretch>
        </p:blipFill>
        <p:spPr>
          <a:xfrm>
            <a:off x="3620135" y="4590415"/>
            <a:ext cx="650875" cy="731520"/>
          </a:xfrm>
          <a:prstGeom prst="rect">
            <a:avLst/>
          </a:prstGeom>
          <a:noFill/>
          <a:ln w="9525">
            <a:noFill/>
          </a:ln>
        </p:spPr>
      </p:pic>
      <p:sp>
        <p:nvSpPr>
          <p:cNvPr id="23" name="文本框 22"/>
          <p:cNvSpPr txBox="1"/>
          <p:nvPr>
            <p:custDataLst>
              <p:tags r:id="rId3"/>
            </p:custDataLst>
          </p:nvPr>
        </p:nvSpPr>
        <p:spPr>
          <a:xfrm>
            <a:off x="2648585" y="4182110"/>
            <a:ext cx="2573020" cy="398780"/>
          </a:xfrm>
          <a:prstGeom prst="rect">
            <a:avLst/>
          </a:prstGeom>
          <a:noFill/>
        </p:spPr>
        <p:txBody>
          <a:bodyPr wrap="square" rtlCol="0">
            <a:spAutoFit/>
          </a:bodyPr>
          <a:p>
            <a:pPr algn="ctr"/>
            <a:r>
              <a:rPr lang="en-US" altLang="zh-CN" sz="2000" b="1"/>
              <a:t>Client</a:t>
            </a:r>
            <a:endParaRPr lang="zh-CN" altLang="en-US" sz="2000" b="1"/>
          </a:p>
        </p:txBody>
      </p:sp>
      <p:sp>
        <p:nvSpPr>
          <p:cNvPr id="3" name="圆角矩形 2"/>
          <p:cNvSpPr/>
          <p:nvPr>
            <p:custDataLst>
              <p:tags r:id="rId4"/>
            </p:custDataLst>
          </p:nvPr>
        </p:nvSpPr>
        <p:spPr>
          <a:xfrm>
            <a:off x="2413000" y="4761230"/>
            <a:ext cx="1109345" cy="389890"/>
          </a:xfrm>
          <a:prstGeom prst="roundRect">
            <a:avLst/>
          </a:prstGeom>
        </p:spPr>
        <p:style>
          <a:lnRef idx="2">
            <a:schemeClr val="dk1"/>
          </a:lnRef>
          <a:fillRef idx="1">
            <a:schemeClr val="lt1"/>
          </a:fillRef>
          <a:effectRef idx="0">
            <a:schemeClr val="dk1"/>
          </a:effectRef>
          <a:fontRef idx="minor">
            <a:schemeClr val="dk1"/>
          </a:fontRef>
        </p:style>
        <p:txBody>
          <a:bodyPr rtlCol="0" anchor="ctr"/>
          <a:p>
            <a:pPr algn="ctr"/>
            <a:r>
              <a:rPr lang="en-US" altLang="zh-CN" b="1"/>
              <a:t>K</a:t>
            </a:r>
            <a:r>
              <a:rPr lang="en-US" altLang="zh-CN" b="1"/>
              <a:t>c</a:t>
            </a:r>
            <a:endParaRPr lang="en-US" altLang="zh-CN" b="1"/>
          </a:p>
        </p:txBody>
      </p:sp>
      <p:cxnSp>
        <p:nvCxnSpPr>
          <p:cNvPr id="39" name="直接箭头连接符 38"/>
          <p:cNvCxnSpPr/>
          <p:nvPr>
            <p:custDataLst>
              <p:tags r:id="rId5"/>
            </p:custDataLst>
          </p:nvPr>
        </p:nvCxnSpPr>
        <p:spPr>
          <a:xfrm flipH="1" flipV="1">
            <a:off x="4368800" y="4962525"/>
            <a:ext cx="3423285" cy="5715"/>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22" name="文本框 21"/>
          <p:cNvSpPr txBox="1"/>
          <p:nvPr/>
        </p:nvSpPr>
        <p:spPr>
          <a:xfrm>
            <a:off x="5570855" y="4599940"/>
            <a:ext cx="1051560" cy="368300"/>
          </a:xfrm>
          <a:prstGeom prst="rect">
            <a:avLst/>
          </a:prstGeom>
          <a:noFill/>
        </p:spPr>
        <p:txBody>
          <a:bodyPr wrap="square" rtlCol="0">
            <a:spAutoFit/>
          </a:bodyPr>
          <a:p>
            <a:r>
              <a:rPr lang="en-US" altLang="zh-CN" b="1">
                <a:sym typeface="+mn-ea"/>
              </a:rPr>
              <a:t>{</a:t>
            </a:r>
            <a:r>
              <a:rPr lang="en-US" altLang="zh-CN" b="1">
                <a:sym typeface="+mn-ea"/>
              </a:rPr>
              <a:t>tc’}</a:t>
            </a:r>
            <a:r>
              <a:rPr lang="en-US" altLang="zh-CN" sz="1600" b="1">
                <a:sym typeface="+mn-ea"/>
              </a:rPr>
              <a:t>SKs</a:t>
            </a:r>
            <a:r>
              <a:rPr lang="en-US" altLang="zh-CN" sz="1400" b="1">
                <a:sym typeface="+mn-ea"/>
              </a:rPr>
              <a:t>-c</a:t>
            </a:r>
            <a:endParaRPr lang="en-US" altLang="zh-CN" b="1" dirty="0" smtClean="0">
              <a:sym typeface="+mn-ea"/>
            </a:endParaRPr>
          </a:p>
        </p:txBody>
      </p:sp>
      <p:pic>
        <p:nvPicPr>
          <p:cNvPr id="11" name="图片 10"/>
          <p:cNvPicPr/>
          <p:nvPr>
            <p:custDataLst>
              <p:tags r:id="rId6"/>
            </p:custDataLst>
          </p:nvPr>
        </p:nvPicPr>
        <p:blipFill>
          <a:blip r:embed="rId7"/>
          <a:stretch>
            <a:fillRect/>
          </a:stretch>
        </p:blipFill>
        <p:spPr>
          <a:xfrm>
            <a:off x="7966710" y="4411980"/>
            <a:ext cx="982345" cy="909955"/>
          </a:xfrm>
          <a:prstGeom prst="rect">
            <a:avLst/>
          </a:prstGeom>
          <a:noFill/>
          <a:ln w="9525">
            <a:noFill/>
          </a:ln>
        </p:spPr>
      </p:pic>
      <p:sp>
        <p:nvSpPr>
          <p:cNvPr id="6" name="文本框 5"/>
          <p:cNvSpPr txBox="1"/>
          <p:nvPr>
            <p:custDataLst>
              <p:tags r:id="rId8"/>
            </p:custDataLst>
          </p:nvPr>
        </p:nvSpPr>
        <p:spPr>
          <a:xfrm>
            <a:off x="7953375" y="5297805"/>
            <a:ext cx="995045" cy="398780"/>
          </a:xfrm>
          <a:prstGeom prst="rect">
            <a:avLst/>
          </a:prstGeom>
          <a:noFill/>
        </p:spPr>
        <p:txBody>
          <a:bodyPr wrap="square" rtlCol="0">
            <a:spAutoFit/>
          </a:bodyPr>
          <a:p>
            <a:r>
              <a:rPr lang="en-US" altLang="zh-CN" sz="2000" b="1"/>
              <a:t> Server</a:t>
            </a:r>
            <a:endParaRPr lang="en-US" altLang="zh-CN" sz="2000" b="1"/>
          </a:p>
        </p:txBody>
      </p:sp>
    </p:spTree>
  </p:cSld>
  <p:clrMapOvr>
    <a:masterClrMapping/>
  </p:clrMapOvr>
  <mc:AlternateContent xmlns:mc="http://schemas.openxmlformats.org/markup-compatibility/2006">
    <mc:Choice xmlns:p14="http://schemas.microsoft.com/office/powerpoint/2010/main" Requires="p14">
      <p:transition spd="slow" p14:dur="2000" advTm="2827"/>
    </mc:Choice>
    <mc:Fallback>
      <p:transition spd="slow" advTm="2827"/>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sym typeface="+mn-ea"/>
              </a:rPr>
              <a:t>16.4 </a:t>
            </a:r>
            <a:r>
              <a:rPr lang="zh-CN" altLang="en-US" dirty="0"/>
              <a:t>总结</a:t>
            </a:r>
            <a:r>
              <a:rPr lang="en-US" altLang="zh-CN" dirty="0"/>
              <a:t>—Kerberos</a:t>
            </a:r>
            <a:r>
              <a:rPr lang="zh-CN" altLang="en-US" dirty="0"/>
              <a:t>协议</a:t>
            </a:r>
            <a:endParaRPr lang="zh-CN" altLang="en-US" dirty="0"/>
          </a:p>
        </p:txBody>
      </p:sp>
      <p:sp>
        <p:nvSpPr>
          <p:cNvPr id="4" name="灯片编号占位符 3"/>
          <p:cNvSpPr>
            <a:spLocks noGrp="1"/>
          </p:cNvSpPr>
          <p:nvPr>
            <p:ph type="sldNum" sz="quarter" idx="12"/>
          </p:nvPr>
        </p:nvSpPr>
        <p:spPr/>
        <p:txBody>
          <a:bodyPr/>
          <a:lstStyle/>
          <a:p>
            <a:pPr>
              <a:defRPr/>
            </a:pPr>
            <a:fld id="{B42B4293-9377-4872-955B-7EAEC82CC678}" type="slidenum">
              <a:rPr lang="en-US" altLang="zh-CN" smtClean="0"/>
            </a:fld>
            <a:endParaRPr lang="en-US" altLang="zh-CN" dirty="0"/>
          </a:p>
        </p:txBody>
      </p:sp>
      <p:sp>
        <p:nvSpPr>
          <p:cNvPr id="5" name="内容占位符 4"/>
          <p:cNvSpPr/>
          <p:nvPr>
            <p:ph idx="1"/>
          </p:nvPr>
        </p:nvSpPr>
        <p:spPr/>
        <p:txBody>
          <a:bodyPr/>
          <a:p>
            <a:r>
              <a:rPr lang="en-US" altLang="zh-CN"/>
              <a:t>Kerberos</a:t>
            </a:r>
            <a:r>
              <a:rPr lang="zh-CN" altLang="en-US"/>
              <a:t>是一种网络认证协议</a:t>
            </a:r>
            <a:endParaRPr lang="en-US" altLang="zh-CN"/>
          </a:p>
          <a:p>
            <a:r>
              <a:rPr lang="en-US" altLang="zh-CN"/>
              <a:t>Kerberos</a:t>
            </a:r>
            <a:r>
              <a:rPr lang="zh-CN" altLang="en-US"/>
              <a:t>包含三部分：</a:t>
            </a:r>
            <a:endParaRPr lang="zh-CN" altLang="en-US"/>
          </a:p>
          <a:p>
            <a:pPr lvl="1"/>
            <a:r>
              <a:rPr lang="zh-CN" altLang="en-US"/>
              <a:t>客户端</a:t>
            </a:r>
            <a:endParaRPr lang="zh-CN" altLang="en-US"/>
          </a:p>
          <a:p>
            <a:pPr lvl="1"/>
            <a:r>
              <a:rPr lang="zh-CN" altLang="en-US"/>
              <a:t>服务器</a:t>
            </a:r>
            <a:endParaRPr lang="zh-CN" altLang="en-US"/>
          </a:p>
          <a:p>
            <a:pPr lvl="1"/>
            <a:r>
              <a:rPr lang="en-US" altLang="zh-CN"/>
              <a:t>Kerberos KDC</a:t>
            </a:r>
            <a:r>
              <a:rPr lang="zh-CN" altLang="en-US"/>
              <a:t>。</a:t>
            </a:r>
            <a:endParaRPr kumimoji="1" lang="zh-CN" altLang="en-US" dirty="0" smtClean="0">
              <a:latin typeface="Times New Roman" panose="02020603050405020304" pitchFamily="18" charset="0"/>
              <a:sym typeface="+mn-ea"/>
            </a:endParaRPr>
          </a:p>
          <a:p>
            <a:r>
              <a:rPr lang="en-US" altLang="zh-CN" dirty="0">
                <a:sym typeface="+mn-ea"/>
              </a:rPr>
              <a:t>Kerberos</a:t>
            </a:r>
            <a:r>
              <a:rPr lang="zh-CN" altLang="en-US" dirty="0">
                <a:sym typeface="+mn-ea"/>
              </a:rPr>
              <a:t>的</a:t>
            </a:r>
            <a:r>
              <a:rPr lang="zh-CN" altLang="en-US" dirty="0">
                <a:sym typeface="+mn-ea"/>
              </a:rPr>
              <a:t>特点：</a:t>
            </a:r>
            <a:endParaRPr lang="zh-CN" altLang="en-US" dirty="0">
              <a:sym typeface="+mn-ea"/>
            </a:endParaRPr>
          </a:p>
          <a:p>
            <a:pPr lvl="1"/>
            <a:r>
              <a:rPr lang="zh-CN" altLang="en-US" dirty="0"/>
              <a:t>基于口令的认证</a:t>
            </a:r>
            <a:r>
              <a:rPr lang="zh-CN" altLang="en-US" dirty="0"/>
              <a:t>协议</a:t>
            </a:r>
            <a:endParaRPr lang="zh-CN" altLang="en-US" dirty="0"/>
          </a:p>
          <a:p>
            <a:pPr lvl="1"/>
            <a:r>
              <a:rPr lang="zh-CN" altLang="en-US" dirty="0"/>
              <a:t>利用对称密码技术建立起来的认证</a:t>
            </a:r>
            <a:r>
              <a:rPr lang="zh-CN" altLang="en-US" dirty="0"/>
              <a:t>协议</a:t>
            </a:r>
            <a:endParaRPr lang="zh-CN" altLang="en-US" dirty="0"/>
          </a:p>
          <a:p>
            <a:pPr lvl="1"/>
            <a:r>
              <a:rPr lang="zh-CN" altLang="en-US" dirty="0"/>
              <a:t>适用于分布式网络环境</a:t>
            </a:r>
            <a:endParaRPr lang="en-US" altLang="zh-CN" dirty="0"/>
          </a:p>
          <a:p>
            <a:endParaRPr kumimoji="1" lang="zh-CN" altLang="en-US" dirty="0" smtClean="0">
              <a:latin typeface="Times New Roman" panose="02020603050405020304" pitchFamily="18" charset="0"/>
              <a:sym typeface="+mn-ea"/>
            </a:endParaRPr>
          </a:p>
          <a:p>
            <a:endParaRPr lang="zh-CN" altLang="en-US" dirty="0" smtClean="0">
              <a:sym typeface="+mn-ea"/>
            </a:endParaRPr>
          </a:p>
        </p:txBody>
      </p:sp>
      <p:pic>
        <p:nvPicPr>
          <p:cNvPr id="7" name="图片 6" descr="image001"/>
          <p:cNvPicPr>
            <a:picLocks noChangeAspect="1"/>
          </p:cNvPicPr>
          <p:nvPr>
            <p:custDataLst>
              <p:tags r:id="rId1"/>
            </p:custDataLst>
          </p:nvPr>
        </p:nvPicPr>
        <p:blipFill>
          <a:blip r:embed="rId2"/>
          <a:stretch>
            <a:fillRect/>
          </a:stretch>
        </p:blipFill>
        <p:spPr>
          <a:xfrm>
            <a:off x="6343650" y="2392680"/>
            <a:ext cx="5492115" cy="3846830"/>
          </a:xfrm>
          <a:prstGeom prst="rect">
            <a:avLst/>
          </a:prstGeom>
        </p:spPr>
      </p:pic>
      <p:sp>
        <p:nvSpPr>
          <p:cNvPr id="3" name="剪去单角的矩形 2"/>
          <p:cNvSpPr/>
          <p:nvPr/>
        </p:nvSpPr>
        <p:spPr>
          <a:xfrm>
            <a:off x="8556625" y="556895"/>
            <a:ext cx="2920365" cy="1623060"/>
          </a:xfrm>
          <a:prstGeom prst="snip1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p>
            <a:pPr algn="l"/>
            <a:r>
              <a:rPr lang="zh-CN" altLang="en-US" b="1"/>
              <a:t>思考：</a:t>
            </a:r>
            <a:endParaRPr lang="zh-CN" altLang="en-US" b="1"/>
          </a:p>
          <a:p>
            <a:pPr marL="285750" indent="-285750" algn="l">
              <a:buFont typeface="Arial" panose="020B0604020202020204" pitchFamily="34" charset="0"/>
              <a:buChar char="•"/>
            </a:pPr>
            <a:r>
              <a:rPr lang="en-US" altLang="zh-CN"/>
              <a:t>Kerberos</a:t>
            </a:r>
            <a:r>
              <a:rPr lang="zh-CN" altLang="en-US"/>
              <a:t>协议如今是否</a:t>
            </a:r>
            <a:r>
              <a:rPr lang="zh-CN" altLang="en-US"/>
              <a:t>安全？</a:t>
            </a:r>
            <a:endParaRPr lang="zh-CN" altLang="en-US"/>
          </a:p>
          <a:p>
            <a:pPr marL="285750" indent="-285750" algn="l">
              <a:buFont typeface="Arial" panose="020B0604020202020204" pitchFamily="34" charset="0"/>
              <a:buChar char="•"/>
            </a:pPr>
            <a:r>
              <a:rPr lang="zh-CN" altLang="en-US"/>
              <a:t>如何设计可以增强</a:t>
            </a:r>
            <a:r>
              <a:rPr lang="en-US" altLang="zh-CN"/>
              <a:t>Kerberos</a:t>
            </a:r>
            <a:r>
              <a:rPr lang="zh-CN" altLang="en-US"/>
              <a:t>协议的</a:t>
            </a:r>
            <a:r>
              <a:rPr lang="zh-CN" altLang="en-US"/>
              <a:t>安全性？</a:t>
            </a:r>
            <a:endParaRPr lang="zh-CN" altLang="en-US"/>
          </a:p>
        </p:txBody>
      </p:sp>
      <p:pic>
        <p:nvPicPr>
          <p:cNvPr id="8" name="Picture 5"/>
          <p:cNvPicPr>
            <a:picLocks noChangeAspect="1" noChangeArrowheads="1"/>
          </p:cNvPicPr>
          <p:nvPr>
            <p:custDataLst>
              <p:tags r:id="rId3"/>
            </p:custDataLst>
          </p:nvPr>
        </p:nvPicPr>
        <p:blipFill>
          <a:blip r:embed="rId4"/>
          <a:srcRect/>
          <a:stretch>
            <a:fillRect/>
          </a:stretch>
        </p:blipFill>
        <p:spPr bwMode="auto">
          <a:xfrm>
            <a:off x="9879965" y="3913505"/>
            <a:ext cx="1705610" cy="2245360"/>
          </a:xfrm>
          <a:prstGeom prst="rect">
            <a:avLst/>
          </a:prstGeom>
          <a:noFill/>
          <a:ln w="9525">
            <a:noFill/>
            <a:miter lim="800000"/>
            <a:headEnd/>
            <a:tailEnd/>
          </a:ln>
        </p:spPr>
      </p:pic>
    </p:spTree>
  </p:cSld>
  <p:clrMapOvr>
    <a:masterClrMapping/>
  </p:clrMapOvr>
  <mc:AlternateContent xmlns:mc="http://schemas.openxmlformats.org/markup-compatibility/2006">
    <mc:Choice xmlns:p14="http://schemas.microsoft.com/office/powerpoint/2010/main" Requires="p14">
      <p:transition spd="slow" p14:dur="2000" advTm="2827"/>
    </mc:Choice>
    <mc:Fallback>
      <p:transition spd="slow" advTm="282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 grpId="1" animBg="1"/>
    </p:bld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UNIT_TABLE_BEAUTIFY" val="smartTable{d9a368f5-c766-45e9-a55a-ce56698a76d7}"/>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UNIT_TABLE_BEAUTIFY" val="smartTable{d9a368f5-c766-45e9-a55a-ce56698a76d7}"/>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UNIT_TABLE_BEAUTIFY" val="smartTable{d9a368f5-c766-45e9-a55a-ce56698a76d7}"/>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UNIT_TABLE_BEAUTIFY" val="smartTable{d9a368f5-c766-45e9-a55a-ce56698a76d7}"/>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UNIT_TABLE_BEAUTIFY" val="smartTable{d9a368f5-c766-45e9-a55a-ce56698a76d7}"/>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UNIT_TABLE_BEAUTIFY" val="smartTable{d9a368f5-c766-45e9-a55a-ce56698a76d7}"/>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commondata" val="eyJoZGlkIjoiZTcwZjg3OGM5MWVhNmI0ZmM4OGQ1YjQxNGU4NWYzMjgifQ=="/>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13025</Words>
  <Application>WPS 演示</Application>
  <PresentationFormat>宽屏</PresentationFormat>
  <Paragraphs>1199</Paragraphs>
  <Slides>72</Slides>
  <Notes>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0</vt:i4>
      </vt:variant>
      <vt:variant>
        <vt:lpstr>幻灯片标题</vt:lpstr>
      </vt:variant>
      <vt:variant>
        <vt:i4>72</vt:i4>
      </vt:variant>
    </vt:vector>
  </HeadingPairs>
  <TitlesOfParts>
    <vt:vector size="82" baseType="lpstr">
      <vt:lpstr>Arial</vt:lpstr>
      <vt:lpstr>宋体</vt:lpstr>
      <vt:lpstr>Wingdings</vt:lpstr>
      <vt:lpstr>Calibri</vt:lpstr>
      <vt:lpstr>微软雅黑</vt:lpstr>
      <vt:lpstr>仿宋</vt:lpstr>
      <vt:lpstr>Times New Roman</vt:lpstr>
      <vt:lpstr>Wingdings</vt:lpstr>
      <vt:lpstr>Arial Unicode MS</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常见的攻击类型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16.4 什么是Kerberos</vt:lpstr>
      <vt:lpstr>PowerPoint 演示文稿</vt:lpstr>
      <vt:lpstr>PowerPoint 演示文稿</vt:lpstr>
      <vt:lpstr>PowerPoint 演示文稿</vt:lpstr>
      <vt:lpstr>Windows domain login</vt:lpstr>
      <vt:lpstr>PowerPoint 演示文稿</vt:lpstr>
      <vt:lpstr>PowerPoint 演示文稿</vt:lpstr>
      <vt:lpstr>16.4 为什么需要Kerberos</vt:lpstr>
      <vt:lpstr>16.4 为什么需要Kerberos</vt:lpstr>
      <vt:lpstr>16.4 为什么需要Kerberos</vt:lpstr>
      <vt:lpstr>16.4 Kerberos的原理</vt:lpstr>
      <vt:lpstr>16.4 Kerberos的原理</vt:lpstr>
      <vt:lpstr>16.4 Kerberos的原理</vt:lpstr>
      <vt:lpstr>16.4 Kerberos的原理</vt:lpstr>
      <vt:lpstr>16.4 Kerberos的原理</vt:lpstr>
      <vt:lpstr>16.4 Kerberos的原理</vt:lpstr>
      <vt:lpstr>16.4 Kerberos的原理</vt:lpstr>
      <vt:lpstr>16.4 Kerberos协议流程</vt:lpstr>
      <vt:lpstr>16.4 Kerberos协议流程</vt:lpstr>
      <vt:lpstr>16.4 Kerberos协议流程</vt:lpstr>
      <vt:lpstr>16.4 Kerberos协议流程</vt:lpstr>
      <vt:lpstr>16.4 Kerberos协议流程</vt:lpstr>
      <vt:lpstr>16.4 Kerberos协议流程</vt:lpstr>
      <vt:lpstr>16.4 总结—Kerberos协议</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surface</dc:creator>
  <cp:lastModifiedBy>BWX</cp:lastModifiedBy>
  <cp:revision>57</cp:revision>
  <dcterms:created xsi:type="dcterms:W3CDTF">1900-01-01T00:00:00Z</dcterms:created>
  <dcterms:modified xsi:type="dcterms:W3CDTF">2024-06-03T03:28:35Z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3B0086CAF875411CACBDA13AB9801EF4_13</vt:lpwstr>
  </property>
  <property fmtid="{D5CDD505-2E9C-101B-9397-08002B2CF9AE}" pid="3" name="KSOProductBuildVer">
    <vt:lpwstr>2052-12.1.0.16929</vt:lpwstr>
  </property>
</Properties>
</file>