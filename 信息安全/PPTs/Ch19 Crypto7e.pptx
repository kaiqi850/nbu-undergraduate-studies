
<file path=[Content_Types].xml><?xml version="1.0" encoding="utf-8"?>
<Types xmlns="http://schemas.openxmlformats.org/package/2006/content-types">
  <Override PartName="/ppt/slides/slide41.xml" ContentType="application/vnd.openxmlformats-officedocument.presentationml.slide+xml"/>
  <Override PartName="/ppt/notesSlides/notesSlide16.xml" ContentType="application/vnd.openxmlformats-officedocument.presentationml.notesSlide+xml"/>
  <Override PartName="/ppt/diagrams/layout8.xml" ContentType="application/vnd.openxmlformats-officedocument.drawingml.diagramLayout+xml"/>
  <Override PartName="/ppt/slides/slide50.xml" ContentType="application/vnd.openxmlformats-officedocument.presentationml.slide+xml"/>
  <Override PartName="/ppt/slides/slide18.xml" ContentType="application/vnd.openxmlformats-officedocument.presentationml.slide+xml"/>
  <Override PartName="/ppt/notesSlides/notesSlide26.xml" ContentType="application/vnd.openxmlformats-officedocument.presentationml.notesSlide+xml"/>
  <Override PartName="/ppt/slides/slide60.xml" ContentType="application/vnd.openxmlformats-officedocument.presentationml.slide+xml"/>
  <Override PartName="/ppt/slides/slide28.xml" ContentType="application/vnd.openxmlformats-officedocument.presentationml.slide+xml"/>
  <Override PartName="/ppt/slides/slide37.xml" ContentType="application/vnd.openxmlformats-officedocument.presentationml.slide+xml"/>
  <Override PartName="/ppt/slides/slide9.xml" ContentType="application/vnd.openxmlformats-officedocument.presentationml.slide+xml"/>
  <Override PartName="/ppt/notesSlides/notesSlide45.xml" ContentType="application/vnd.openxmlformats-officedocument.presentationml.notesSlide+xml"/>
  <Override PartName="/ppt/diagrams/quickStyle6.xml" ContentType="application/vnd.openxmlformats-officedocument.drawingml.diagramStyle+xml"/>
  <Override PartName="/ppt/slides/slide47.xml" ContentType="application/vnd.openxmlformats-officedocument.presentationml.slide+xml"/>
  <Override PartName="/ppt/diagrams/colors2.xml" ContentType="application/vnd.openxmlformats-officedocument.drawingml.diagramColors+xml"/>
  <Override PartName="/ppt/notesSlides/notesSlide55.xml" ContentType="application/vnd.openxmlformats-officedocument.presentationml.notesSlide+xml"/>
  <Override PartName="/ppt/slides/slide56.xml" ContentType="application/vnd.openxmlformats-officedocument.presentationml.slide+xml"/>
  <Override PartName="/ppt/notesMasters/notesMaster1.xml" ContentType="application/vnd.openxmlformats-officedocument.presentationml.notesMaster+xml"/>
  <Default Extension="vml" ContentType="application/vnd.openxmlformats-officedocument.vmlDrawing"/>
  <Override PartName="/ppt/slideLayouts/slideLayout15.xml" ContentType="application/vnd.openxmlformats-officedocument.presentationml.slideLayout+xml"/>
  <Override PartName="/ppt/diagrams/drawing1.xml" ContentType="application/vnd.ms-office.drawingml.diagramDrawing+xml"/>
  <Override PartName="/ppt/theme/theme1.xml" ContentType="application/vnd.openxmlformats-officedocument.theme+xml"/>
  <Override PartName="/ppt/notesSlides/notesSlide2.xml" ContentType="application/vnd.openxmlformats-officedocument.presentationml.notesSlide+xml"/>
  <Override PartName="/ppt/slideLayouts/slideLayout24.xml" ContentType="application/vnd.openxmlformats-officedocument.presentationml.slideLayout+xml"/>
  <Override PartName="/ppt/diagrams/colors8.xml" ContentType="application/vnd.openxmlformats-officedocument.drawingml.diagramColors+xml"/>
  <Override PartName="/ppt/diagrams/drawing7.xml" ContentType="application/vnd.ms-office.drawingml.diagramDrawing+xml"/>
  <Override PartName="/ppt/diagrams/data6.xml" ContentType="application/vnd.openxmlformats-officedocument.drawingml.diagramData+xml"/>
  <Default Extension="jpeg" ContentType="image/jpeg"/>
  <Override PartName="/ppt/notesSlides/notesSlide11.xml" ContentType="application/vnd.openxmlformats-officedocument.presentationml.notesSlide+xml"/>
  <Override PartName="/ppt/diagrams/layout3.xml" ContentType="application/vnd.openxmlformats-officedocument.drawingml.diagramLayout+xml"/>
  <Override PartName="/ppt/slides/slide13.xml" ContentType="application/vnd.openxmlformats-officedocument.presentationml.slide+xml"/>
  <Override PartName="/ppt/notesSlides/notesSlide21.xml" ContentType="application/vnd.openxmlformats-officedocument.presentationml.notesSlide+xml"/>
  <Override PartName="/ppt/slides/slide23.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slides/slide4.xml" ContentType="application/vnd.openxmlformats-officedocument.presentationml.slide+xml"/>
  <Override PartName="/ppt/notesSlides/notesSlide40.xml" ContentType="application/vnd.openxmlformats-officedocument.presentationml.notesSlide+xml"/>
  <Override PartName="/ppt/slideLayouts/slideLayout5.xml" ContentType="application/vnd.openxmlformats-officedocument.presentationml.slideLayout+xml"/>
  <Override PartName="/ppt/diagrams/quickStyle1.xml" ContentType="application/vnd.openxmlformats-officedocument.drawingml.diagramStyle+xml"/>
  <Override PartName="/ppt/slides/slide42.xml" ContentType="application/vnd.openxmlformats-officedocument.presentationml.slide+xml"/>
  <Override PartName="/ppt/slideMasters/slideMaster2.xml" ContentType="application/vnd.openxmlformats-officedocument.presentationml.slideMaster+xml"/>
  <Override PartName="/ppt/notesSlides/notesSlide17.xml" ContentType="application/vnd.openxmlformats-officedocument.presentationml.notesSlide+xml"/>
  <Override PartName="/ppt/notesSlides/notesSlide50.xml" ContentType="application/vnd.openxmlformats-officedocument.presentationml.notesSlide+xml"/>
  <Override PartName="/ppt/slides/slide51.xml" ContentType="application/vnd.openxmlformats-officedocument.presentationml.slide+xml"/>
  <Override PartName="/ppt/slides/slide19.xml" ContentType="application/vnd.openxmlformats-officedocument.presentationml.slide+xml"/>
  <Override PartName="/ppt/notesSlides/notesSlide27.xml" ContentType="application/vnd.openxmlformats-officedocument.presentationml.notesSlide+xml"/>
  <Override PartName="/ppt/slideLayouts/slideLayout10.xml" ContentType="application/vnd.openxmlformats-officedocument.presentationml.slideLayout+xml"/>
  <Override PartName="/ppt/slides/slide61.xml" ContentType="application/vnd.openxmlformats-officedocument.presentationml.slide+xml"/>
  <Override PartName="/ppt/slides/slide29.xml" ContentType="application/vnd.openxmlformats-officedocument.presentationml.slide+xml"/>
  <Override PartName="/ppt/notesSlides/notesSlide36.xml" ContentType="application/vnd.openxmlformats-officedocument.presentationml.notesSlide+xml"/>
  <Override PartName="/ppt/slides/slide38.xml" ContentType="application/vnd.openxmlformats-officedocument.presentationml.slide+xml"/>
  <Override PartName="/ppt/notesSlides/notesSlide46.xml" ContentType="application/vnd.openxmlformats-officedocument.presentationml.notesSlide+xml"/>
  <Override PartName="/ppt/diagrams/quickStyle7.xml" ContentType="application/vnd.openxmlformats-officedocument.drawingml.diagramStyle+xml"/>
  <Override PartName="/ppt/slides/slide48.xml" ContentType="application/vnd.openxmlformats-officedocument.presentationml.slide+xml"/>
  <Override PartName="/ppt/diagrams/colors3.xml" ContentType="application/vnd.openxmlformats-officedocument.drawingml.diagramColors+xml"/>
  <Override PartName="/ppt/notesSlides/notesSlide56.xml" ContentType="application/vnd.openxmlformats-officedocument.presentationml.notesSlide+xml"/>
  <Override PartName="/ppt/slides/slide57.xml" ContentType="application/vnd.openxmlformats-officedocument.presentationml.slide+xml"/>
  <Override PartName="/ppt/slideLayouts/slideLayout16.xml" ContentType="application/vnd.openxmlformats-officedocument.presentationml.slideLayout+xml"/>
  <Override PartName="/ppt/diagrams/drawing2.xml" ContentType="application/vnd.ms-office.drawingml.diagramDrawing+xml"/>
  <Override PartName="/ppt/theme/theme2.xml" ContentType="application/vnd.openxmlformats-officedocument.theme+xml"/>
  <Override PartName="/ppt/diagrams/data1.xml" ContentType="application/vnd.openxmlformats-officedocument.drawingml.diagramData+xml"/>
  <Override PartName="/ppt/notesSlides/notesSlide3.xml" ContentType="application/vnd.openxmlformats-officedocument.presentationml.notesSlide+xml"/>
  <Override PartName="/ppt/diagrams/drawing8.xml" ContentType="application/vnd.ms-office.drawingml.diagramDrawing+xml"/>
  <Override PartName="/ppt/diagrams/data7.xml" ContentType="application/vnd.openxmlformats-officedocument.drawingml.diagramData+xml"/>
  <Override PartName="/ppt/notesSlides/notesSlide8.xml" ContentType="application/vnd.openxmlformats-officedocument.presentationml.notesSlide+xml"/>
  <Override PartName="/ppt/notesSlides/notesSlide12.xml" ContentType="application/vnd.openxmlformats-officedocument.presentationml.notesSlide+xml"/>
  <Override PartName="/ppt/diagrams/layout4.xml" ContentType="application/vnd.openxmlformats-officedocument.drawingml.diagramLayout+xml"/>
  <Override PartName="/ppt/slides/slide14.xml" ContentType="application/vnd.openxmlformats-officedocument.presentationml.slide+xml"/>
  <Override PartName="/ppt/notesSlides/notesSlide22.xml" ContentType="application/vnd.openxmlformats-officedocument.presentationml.notesSlide+xml"/>
  <Override PartName="/ppt/slides/slide24.xml" ContentType="application/vnd.openxmlformats-officedocument.presentationml.slide+xml"/>
  <Default Extension="bin" ContentType="application/vnd.openxmlformats-officedocument.presentationml.printerSettings"/>
  <Override PartName="/ppt/notesSlides/notesSlide32.xml" ContentType="application/vnd.openxmlformats-officedocument.presentationml.notesSlide+xml"/>
  <Override PartName="/ppt/slides/slide33.xml" ContentType="application/vnd.openxmlformats-officedocument.presentationml.slide+xml"/>
  <Override PartName="/ppt/slides/slide5.xml" ContentType="application/vnd.openxmlformats-officedocument.presentationml.slide+xml"/>
  <Default Extension="xml" ContentType="application/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43.xml" ContentType="application/vnd.openxmlformats-officedocument.presentationml.slide+xml"/>
  <Override PartName="/ppt/tableStyles.xml" ContentType="application/vnd.openxmlformats-officedocument.presentationml.tableStyles+xml"/>
  <Override PartName="/ppt/notesSlides/notesSlide18.xml" ContentType="application/vnd.openxmlformats-officedocument.presentationml.notesSlide+xml"/>
  <Override PartName="/ppt/notesSlides/notesSlide41.xml" ContentType="application/vnd.openxmlformats-officedocument.presentationml.notesSlide+xml"/>
  <Override PartName="/ppt/slides/slide52.xml" ContentType="application/vnd.openxmlformats-officedocument.presentationml.slide+xml"/>
  <Override PartName="/ppt/notesSlides/notesSlide51.xml" ContentType="application/vnd.openxmlformats-officedocument.presentationml.notesSlide+xml"/>
  <Override PartName="/ppt/notesSlides/notesSlide60.xml" ContentType="application/vnd.openxmlformats-officedocument.presentationml.notesSlide+xml"/>
  <Override PartName="/ppt/notesSlides/notesSlide28.xml" ContentType="application/vnd.openxmlformats-officedocument.presentationml.notesSlide+xml"/>
  <Override PartName="/ppt/slideLayouts/slideLayout11.xml" ContentType="application/vnd.openxmlformats-officedocument.presentationml.slideLayout+xml"/>
  <Override PartName="/ppt/notesSlides/notesSlide37.xml" ContentType="application/vnd.openxmlformats-officedocument.presentationml.notesSlide+xml"/>
  <Override PartName="/ppt/slideLayouts/slideLayout20.xml" ContentType="application/vnd.openxmlformats-officedocument.presentationml.slideLayout+xml"/>
  <Override PartName="/docProps/app.xml" ContentType="application/vnd.openxmlformats-officedocument.extended-properties+xml"/>
  <Override PartName="/ppt/slides/slide39.xml" ContentType="application/vnd.openxmlformats-officedocument.presentationml.slide+xml"/>
  <Override PartName="/ppt/notesSlides/notesSlide47.xml" ContentType="application/vnd.openxmlformats-officedocument.presentationml.notesSlide+xml"/>
  <Override PartName="/ppt/diagrams/quickStyle8.xml" ContentType="application/vnd.openxmlformats-officedocument.drawingml.diagramStyle+xml"/>
  <Override PartName="/ppt/slides/slide49.xml" ContentType="application/vnd.openxmlformats-officedocument.presentationml.slide+xml"/>
  <Override PartName="/ppt/diagrams/colors4.xml" ContentType="application/vnd.openxmlformats-officedocument.drawingml.diagramColors+xml"/>
  <Override PartName="/ppt/notesSlides/notesSlide57.xml" ContentType="application/vnd.openxmlformats-officedocument.presentationml.notesSlide+xml"/>
  <Override PartName="/ppt/slides/slide58.xml" ContentType="application/vnd.openxmlformats-officedocument.presentationml.slide+xml"/>
  <Override PartName="/docProps/core.xml" ContentType="application/vnd.openxmlformats-package.core-properties+xml"/>
  <Override PartName="/ppt/slideLayouts/slideLayout17.xml" ContentType="application/vnd.openxmlformats-officedocument.presentationml.slideLayout+xml"/>
  <Override PartName="/ppt/diagrams/drawing3.xml" ContentType="application/vnd.ms-office.drawingml.diagramDrawing+xml"/>
  <Override PartName="/ppt/diagrams/data2.xml" ContentType="application/vnd.openxmlformats-officedocument.drawingml.diagramData+xml"/>
  <Override PartName="/ppt/theme/theme3.xml" ContentType="application/vnd.openxmlformats-officedocument.theme+xml"/>
  <Override PartName="/ppt/notesSlides/notesSlide4.xml" ContentType="application/vnd.openxmlformats-officedocument.presentationml.notesSlide+xml"/>
  <Override PartName="/ppt/slideLayouts/slideLayout1.xml" ContentType="application/vnd.openxmlformats-officedocument.presentationml.slideLayout+xml"/>
  <Override PartName="/ppt/diagrams/data8.xml" ContentType="application/vnd.openxmlformats-officedocument.drawingml.diagramData+xml"/>
  <Override PartName="/ppt/notesSlides/notesSlide9.xml" ContentType="application/vnd.openxmlformats-officedocument.presentationml.notesSlide+xml"/>
  <Override PartName="/ppt/notesSlides/notesSlide13.xml" ContentType="application/vnd.openxmlformats-officedocument.presentationml.notesSlide+xml"/>
  <Override PartName="/ppt/diagrams/layout5.xml" ContentType="application/vnd.openxmlformats-officedocument.drawingml.diagramLayout+xml"/>
  <Override PartName="/ppt/slides/slide15.xml" ContentType="application/vnd.openxmlformats-officedocument.presentationml.slide+xml"/>
  <Override PartName="/ppt/notesSlides/notesSlide23.xml" ContentType="application/vnd.openxmlformats-officedocument.presentationml.notesSlide+xml"/>
  <Override PartName="/ppt/slides/slide25.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slides/slide6.xml" ContentType="application/vnd.openxmlformats-officedocument.presentationml.slide+xml"/>
  <Default Extension="png" ContentType="image/png"/>
  <Override PartName="/ppt/slideLayouts/slideLayout7.xml" ContentType="application/vnd.openxmlformats-officedocument.presentationml.slideLayout+xml"/>
  <Override PartName="/ppt/diagrams/quickStyle3.xml" ContentType="application/vnd.openxmlformats-officedocument.drawingml.diagramStyle+xml"/>
  <Default Extension="docx" ContentType="application/vnd.openxmlformats-officedocument.wordprocessingml.document"/>
  <Override PartName="/ppt/slides/slide44.xml" ContentType="application/vnd.openxmlformats-officedocument.presentationml.slide+xml"/>
  <Override PartName="/ppt/notesSlides/notesSlide19.xml" ContentType="application/vnd.openxmlformats-officedocument.presentationml.notesSlide+xml"/>
  <Override PartName="/ppt/notesSlides/notesSlide42.xml" ContentType="application/vnd.openxmlformats-officedocument.presentationml.notesSlide+xml"/>
  <Override PartName="/ppt/slides/slide53.xml" ContentType="application/vnd.openxmlformats-officedocument.presentationml.slide+xml"/>
  <Override PartName="/ppt/notesSlides/notesSlide52.xml" ContentType="application/vnd.openxmlformats-officedocument.presentationml.notesSlide+xml"/>
  <Override PartName="/ppt/notesSlides/notesSlide61.xml" ContentType="application/vnd.openxmlformats-officedocument.presentationml.notesSlide+xml"/>
  <Override PartName="/ppt/notesSlides/notesSlide29.xml" ContentType="application/vnd.openxmlformats-officedocument.presentationml.notesSlide+xml"/>
  <Override PartName="/ppt/slideLayouts/slideLayout12.xml" ContentType="application/vnd.openxmlformats-officedocument.presentationml.slideLayout+xml"/>
  <Override PartName="/ppt/notesSlides/notesSlide38.xml" ContentType="application/vnd.openxmlformats-officedocument.presentationml.notesSlide+xml"/>
  <Override PartName="/ppt/slideLayouts/slideLayout21.xml" ContentType="application/vnd.openxmlformats-officedocument.presentationml.slideLayout+xml"/>
  <Override PartName="/ppt/notesSlides/notesSlide48.xml" ContentType="application/vnd.openxmlformats-officedocument.presentationml.notesSlide+xml"/>
  <Override PartName="/ppt/diagrams/colors5.xml" ContentType="application/vnd.openxmlformats-officedocument.drawingml.diagramColors+xml"/>
  <Override PartName="/ppt/notesSlides/notesSlide58.xml" ContentType="application/vnd.openxmlformats-officedocument.presentationml.notesSlide+xml"/>
  <Override PartName="/ppt/slides/slide59.xml" ContentType="application/vnd.openxmlformats-officedocument.presentationml.slide+xml"/>
  <Override PartName="/ppt/slideLayouts/slideLayout18.xml" ContentType="application/vnd.openxmlformats-officedocument.presentationml.slideLayout+xml"/>
  <Override PartName="/ppt/diagrams/drawing4.xml" ContentType="application/vnd.ms-office.drawingml.diagramDrawing+xml"/>
  <Override PartName="/ppt/diagrams/data3.xml" ContentType="application/vnd.openxmlformats-officedocument.drawingml.diagramData+xml"/>
  <Override PartName="/ppt/theme/theme4.xml" ContentType="application/vnd.openxmlformats-officedocument.theme+xml"/>
  <Override PartName="/ppt/notesSlides/notesSlide5.xml" ContentType="application/vnd.openxmlformats-officedocument.presentationml.notesSlide+xml"/>
  <Override PartName="/ppt/slides/slide10.xml" ContentType="application/vnd.openxmlformats-officedocument.presentationml.slide+xml"/>
  <Override PartName="/ppt/slides/slide20.xml" ContentType="application/vnd.openxmlformats-officedocument.presentationml.slide+xml"/>
  <Override PartName="/ppt/slides/slide1.xml" ContentType="application/vnd.openxmlformats-officedocument.presentationml.slide+xml"/>
  <Override PartName="/ppt/slideLayouts/slideLayout2.xml" ContentType="application/vnd.openxmlformats-officedocument.presentationml.slideLayout+xml"/>
  <Override PartName="/ppt/notesSlides/notesSlide14.xml" ContentType="application/vnd.openxmlformats-officedocument.presentationml.notesSlide+xml"/>
  <Override PartName="/ppt/diagrams/layout6.xml" ContentType="application/vnd.openxmlformats-officedocument.drawingml.diagramLayout+xml"/>
  <Override PartName="/ppt/slides/slide16.xml" ContentType="application/vnd.openxmlformats-officedocument.presentationml.slide+xml"/>
  <Override PartName="/ppt/notesSlides/notesSlide24.xml" ContentType="application/vnd.openxmlformats-officedocument.presentationml.notesSlide+xml"/>
  <Override PartName="/ppt/viewProps.xml" ContentType="application/vnd.openxmlformats-officedocument.presentationml.viewProps+xml"/>
  <Default Extension="rels" ContentType="application/vnd.openxmlformats-package.relationships+xml"/>
  <Override PartName="/ppt/slides/slide26.xml" ContentType="application/vnd.openxmlformats-officedocument.presentationml.slide+xml"/>
  <Default Extension="pict" ContentType="image/pict"/>
  <Override PartName="/ppt/notesSlides/notesSlide34.xml" ContentType="application/vnd.openxmlformats-officedocument.presentationml.notesSlide+xml"/>
  <Default Extension="wmf" ContentType="image/x-wmf"/>
  <Override PartName="/ppt/slides/slide7.xml" ContentType="application/vnd.openxmlformats-officedocument.presentationml.slide+xml"/>
  <Override PartName="/ppt/slides/slide35.xml" ContentType="application/vnd.openxmlformats-officedocument.presentationml.slide+xml"/>
  <Override PartName="/ppt/slideLayouts/slideLayout8.xml" ContentType="application/vnd.openxmlformats-officedocument.presentationml.slideLayout+xml"/>
  <Override PartName="/ppt/diagrams/quickStyle4.xml" ContentType="application/vnd.openxmlformats-officedocument.drawingml.diagramStyle+xml"/>
  <Override PartName="/ppt/slides/slide45.xml" ContentType="application/vnd.openxmlformats-officedocument.presentationml.slide+xml"/>
  <Override PartName="/ppt/notesSlides/notesSlide43.xml" ContentType="application/vnd.openxmlformats-officedocument.presentationml.notesSlide+xml"/>
  <Override PartName="/ppt/notesSlides/notesSlide53.xml" ContentType="application/vnd.openxmlformats-officedocument.presentationml.notesSlide+xml"/>
  <Override PartName="/ppt/slides/slide54.xml" ContentType="application/vnd.openxmlformats-officedocument.presentationml.slide+xml"/>
  <Override PartName="/ppt/slideLayouts/slideLayout13.xml" ContentType="application/vnd.openxmlformats-officedocument.presentationml.slideLayout+xml"/>
  <Override PartName="/ppt/presProps.xml" ContentType="application/vnd.openxmlformats-officedocument.presentationml.presProps+xml"/>
  <Override PartName="/ppt/notesSlides/notesSlide39.xml" ContentType="application/vnd.openxmlformats-officedocument.presentationml.notesSlide+xml"/>
  <Override PartName="/ppt/slideLayouts/slideLayout22.xml" ContentType="application/vnd.openxmlformats-officedocument.presentationml.slideLayout+xml"/>
  <Override PartName="/ppt/presentation.xml" ContentType="application/vnd.openxmlformats-officedocument.presentationml.presentation.main+xml"/>
  <Override PartName="/ppt/notesSlides/notesSlide49.xml" ContentType="application/vnd.openxmlformats-officedocument.presentationml.notesSlide+xml"/>
  <Override PartName="/ppt/diagrams/colors6.xml" ContentType="application/vnd.openxmlformats-officedocument.drawingml.diagramColors+xml"/>
  <Override PartName="/ppt/notesSlides/notesSlide59.xml" ContentType="application/vnd.openxmlformats-officedocument.presentationml.notesSlide+xml"/>
  <Override PartName="/ppt/slideLayouts/slideLayout19.xml" ContentType="application/vnd.openxmlformats-officedocument.presentationml.slideLayout+xml"/>
  <Override PartName="/ppt/diagrams/drawing5.xml" ContentType="application/vnd.ms-office.drawingml.diagramDrawing+xml"/>
  <Override PartName="/ppt/diagrams/data4.xml" ContentType="application/vnd.openxmlformats-officedocument.drawingml.diagramData+xml"/>
  <Override PartName="/ppt/diagrams/layout1.xml" ContentType="application/vnd.openxmlformats-officedocument.drawingml.diagramLayout+xml"/>
  <Override PartName="/ppt/notesSlides/notesSlide6.xml" ContentType="application/vnd.openxmlformats-officedocument.presentationml.notesSlide+xml"/>
  <Override PartName="/ppt/notesSlides/notesSlide10.xml" ContentType="application/vnd.openxmlformats-officedocument.presentationml.notesSlide+xml"/>
  <Override PartName="/ppt/slides/slide11.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2.xml" ContentType="application/vnd.openxmlformats-officedocument.presentationml.slide+xml"/>
  <Override PartName="/ppt/handoutMasters/handoutMaster1.xml" ContentType="application/vnd.openxmlformats-officedocument.presentationml.handoutMaster+xml"/>
  <Override PartName="/ppt/slideLayouts/slideLayout3.xml" ContentType="application/vnd.openxmlformats-officedocument.presentationml.slideLayout+xml"/>
  <Override PartName="/ppt/slides/slide40.xml" ContentType="application/vnd.openxmlformats-officedocument.presentationml.slide+xml"/>
  <Override PartName="/ppt/notesSlides/notesSlide15.xml" ContentType="application/vnd.openxmlformats-officedocument.presentationml.notesSlide+xml"/>
  <Override PartName="/ppt/diagrams/layout7.xml" ContentType="application/vnd.openxmlformats-officedocument.drawingml.diagramLayout+xml"/>
  <Override PartName="/ppt/slides/slide17.xml" ContentType="application/vnd.openxmlformats-officedocument.presentationml.slide+xml"/>
  <Override PartName="/ppt/notesSlides/notesSlide25.xml" ContentType="application/vnd.openxmlformats-officedocument.presentationml.notesSlide+xml"/>
  <Override PartName="/ppt/slides/slide27.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slides/slide8.xml" ContentType="application/vnd.openxmlformats-officedocument.presentationml.slide+xml"/>
  <Override PartName="/ppt/notesSlides/notesSlide44.xml" ContentType="application/vnd.openxmlformats-officedocument.presentationml.notesSlide+xml"/>
  <Override PartName="/ppt/slideLayouts/slideLayout9.xml" ContentType="application/vnd.openxmlformats-officedocument.presentationml.slideLayout+xml"/>
  <Default Extension="pdf" ContentType="application/pdf"/>
  <Override PartName="/ppt/slides/slide46.xml" ContentType="application/vnd.openxmlformats-officedocument.presentationml.slide+xml"/>
  <Override PartName="/ppt/diagrams/quickStyle5.xml" ContentType="application/vnd.openxmlformats-officedocument.drawingml.diagramStyle+xml"/>
  <Override PartName="/ppt/diagrams/colors1.xml" ContentType="application/vnd.openxmlformats-officedocument.drawingml.diagramColors+xml"/>
  <Override PartName="/ppt/notesSlides/notesSlide54.xml" ContentType="application/vnd.openxmlformats-officedocument.presentationml.notesSlide+xml"/>
  <Override PartName="/ppt/slides/slide55.xml" ContentType="application/vnd.openxmlformats-officedocument.presentationml.slide+xml"/>
  <Override PartName="/ppt/slideLayouts/slideLayout14.xml" ContentType="application/vnd.openxmlformats-officedocument.presentationml.slideLayout+xml"/>
  <Override PartName="/ppt/notesSlides/notesSlide1.xml" ContentType="application/vnd.openxmlformats-officedocument.presentationml.notesSlide+xml"/>
  <Override PartName="/ppt/slideLayouts/slideLayout23.xml" ContentType="application/vnd.openxmlformats-officedocument.presentationml.slideLayout+xml"/>
  <Override PartName="/ppt/diagrams/colors7.xml" ContentType="application/vnd.openxmlformats-officedocument.drawingml.diagramColors+xml"/>
  <Override PartName="/ppt/diagrams/drawing6.xml" ContentType="application/vnd.ms-office.drawingml.diagramDrawing+xml"/>
  <Override PartName="/ppt/diagrams/data5.xml" ContentType="application/vnd.openxmlformats-officedocument.drawingml.diagramData+xml"/>
  <Override PartName="/ppt/diagrams/layout2.xml" ContentType="application/vnd.openxmlformats-officedocument.drawingml.diagramLayout+xml"/>
  <Override PartName="/ppt/notesSlides/notesSlide7.xml" ContentType="application/vnd.openxmlformats-officedocument.presentationml.notesSlide+xml"/>
  <Override PartName="/ppt/slides/slide12.xml" ContentType="application/vnd.openxmlformats-officedocument.presentationml.slide+xml"/>
  <Override PartName="/ppt/notesSlides/notesSlide20.xml" ContentType="application/vnd.openxmlformats-officedocument.presentationml.notesSlide+xml"/>
  <Override PartName="/ppt/slides/slide22.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slides/slide3.xml" ContentType="application/vnd.openxmlformats-officedocument.presentationml.slide+xml"/>
  <Override PartName="/ppt/slideLayouts/slideLayout4.xml" ContentType="application/vnd.openxmlformats-officedocument.presentationml.slideLayout+xml"/>
  <Override PartName="/ppt/slideMasters/slideMaster1.xml" ContentType="application/vnd.openxmlformats-officedocument.presentationml.slideMaster+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649" r:id="rId1"/>
    <p:sldMasterId id="2147483697" r:id="rId2"/>
  </p:sldMasterIdLst>
  <p:notesMasterIdLst>
    <p:notesMasterId r:id="rId64"/>
  </p:notesMasterIdLst>
  <p:handoutMasterIdLst>
    <p:handoutMasterId r:id="rId65"/>
  </p:handoutMasterIdLst>
  <p:sldIdLst>
    <p:sldId id="307" r:id="rId3"/>
    <p:sldId id="308" r:id="rId4"/>
    <p:sldId id="303" r:id="rId5"/>
    <p:sldId id="334" r:id="rId6"/>
    <p:sldId id="333" r:id="rId7"/>
    <p:sldId id="335" r:id="rId8"/>
    <p:sldId id="336" r:id="rId9"/>
    <p:sldId id="337" r:id="rId10"/>
    <p:sldId id="319" r:id="rId11"/>
    <p:sldId id="338" r:id="rId12"/>
    <p:sldId id="320" r:id="rId13"/>
    <p:sldId id="339" r:id="rId14"/>
    <p:sldId id="340" r:id="rId15"/>
    <p:sldId id="321" r:id="rId16"/>
    <p:sldId id="322" r:id="rId17"/>
    <p:sldId id="323" r:id="rId18"/>
    <p:sldId id="324" r:id="rId19"/>
    <p:sldId id="341" r:id="rId20"/>
    <p:sldId id="343" r:id="rId21"/>
    <p:sldId id="346" r:id="rId22"/>
    <p:sldId id="347" r:id="rId23"/>
    <p:sldId id="350" r:id="rId24"/>
    <p:sldId id="348" r:id="rId25"/>
    <p:sldId id="318" r:id="rId26"/>
    <p:sldId id="312" r:id="rId27"/>
    <p:sldId id="349" r:id="rId28"/>
    <p:sldId id="345" r:id="rId29"/>
    <p:sldId id="351" r:id="rId30"/>
    <p:sldId id="282" r:id="rId31"/>
    <p:sldId id="281" r:id="rId32"/>
    <p:sldId id="352" r:id="rId33"/>
    <p:sldId id="354" r:id="rId34"/>
    <p:sldId id="327" r:id="rId35"/>
    <p:sldId id="328" r:id="rId36"/>
    <p:sldId id="329" r:id="rId37"/>
    <p:sldId id="330" r:id="rId38"/>
    <p:sldId id="292" r:id="rId39"/>
    <p:sldId id="331" r:id="rId40"/>
    <p:sldId id="301" r:id="rId41"/>
    <p:sldId id="355" r:id="rId42"/>
    <p:sldId id="356" r:id="rId43"/>
    <p:sldId id="357" r:id="rId44"/>
    <p:sldId id="353" r:id="rId45"/>
    <p:sldId id="358" r:id="rId46"/>
    <p:sldId id="359" r:id="rId47"/>
    <p:sldId id="360" r:id="rId48"/>
    <p:sldId id="362" r:id="rId49"/>
    <p:sldId id="363" r:id="rId50"/>
    <p:sldId id="364" r:id="rId51"/>
    <p:sldId id="365" r:id="rId52"/>
    <p:sldId id="344" r:id="rId53"/>
    <p:sldId id="366" r:id="rId54"/>
    <p:sldId id="367" r:id="rId55"/>
    <p:sldId id="302" r:id="rId56"/>
    <p:sldId id="304" r:id="rId57"/>
    <p:sldId id="305" r:id="rId58"/>
    <p:sldId id="306" r:id="rId59"/>
    <p:sldId id="368" r:id="rId60"/>
    <p:sldId id="369" r:id="rId61"/>
    <p:sldId id="361" r:id="rId62"/>
    <p:sldId id="310" r:id="rId63"/>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1" charset="0"/>
        <a:ea typeface="+mn-ea"/>
        <a:cs typeface="+mn-cs"/>
      </a:defRPr>
    </a:lvl1pPr>
    <a:lvl2pPr marL="457200" algn="l" rtl="0" fontAlgn="base">
      <a:spcBef>
        <a:spcPct val="0"/>
      </a:spcBef>
      <a:spcAft>
        <a:spcPct val="0"/>
      </a:spcAft>
      <a:defRPr kern="1200">
        <a:solidFill>
          <a:schemeClr val="tx1"/>
        </a:solidFill>
        <a:latin typeface="Arial" pitchFamily="-1" charset="0"/>
        <a:ea typeface="+mn-ea"/>
        <a:cs typeface="+mn-cs"/>
      </a:defRPr>
    </a:lvl2pPr>
    <a:lvl3pPr marL="914400" algn="l" rtl="0" fontAlgn="base">
      <a:spcBef>
        <a:spcPct val="0"/>
      </a:spcBef>
      <a:spcAft>
        <a:spcPct val="0"/>
      </a:spcAft>
      <a:defRPr kern="1200">
        <a:solidFill>
          <a:schemeClr val="tx1"/>
        </a:solidFill>
        <a:latin typeface="Arial" pitchFamily="-1" charset="0"/>
        <a:ea typeface="+mn-ea"/>
        <a:cs typeface="+mn-cs"/>
      </a:defRPr>
    </a:lvl3pPr>
    <a:lvl4pPr marL="1371600" algn="l" rtl="0" fontAlgn="base">
      <a:spcBef>
        <a:spcPct val="0"/>
      </a:spcBef>
      <a:spcAft>
        <a:spcPct val="0"/>
      </a:spcAft>
      <a:defRPr kern="1200">
        <a:solidFill>
          <a:schemeClr val="tx1"/>
        </a:solidFill>
        <a:latin typeface="Arial" pitchFamily="-1" charset="0"/>
        <a:ea typeface="+mn-ea"/>
        <a:cs typeface="+mn-cs"/>
      </a:defRPr>
    </a:lvl4pPr>
    <a:lvl5pPr marL="1828800" algn="l" rtl="0" fontAlgn="base">
      <a:spcBef>
        <a:spcPct val="0"/>
      </a:spcBef>
      <a:spcAft>
        <a:spcPct val="0"/>
      </a:spcAft>
      <a:defRPr kern="1200">
        <a:solidFill>
          <a:schemeClr val="tx1"/>
        </a:solidFill>
        <a:latin typeface="Arial" pitchFamily="-1" charset="0"/>
        <a:ea typeface="+mn-ea"/>
        <a:cs typeface="+mn-cs"/>
      </a:defRPr>
    </a:lvl5pPr>
    <a:lvl6pPr marL="2286000" algn="l" defTabSz="457200" rtl="0" eaLnBrk="1" latinLnBrk="0" hangingPunct="1">
      <a:defRPr kern="1200">
        <a:solidFill>
          <a:schemeClr val="tx1"/>
        </a:solidFill>
        <a:latin typeface="Arial" pitchFamily="-1" charset="0"/>
        <a:ea typeface="+mn-ea"/>
        <a:cs typeface="+mn-cs"/>
      </a:defRPr>
    </a:lvl6pPr>
    <a:lvl7pPr marL="2743200" algn="l" defTabSz="457200" rtl="0" eaLnBrk="1" latinLnBrk="0" hangingPunct="1">
      <a:defRPr kern="1200">
        <a:solidFill>
          <a:schemeClr val="tx1"/>
        </a:solidFill>
        <a:latin typeface="Arial" pitchFamily="-1" charset="0"/>
        <a:ea typeface="+mn-ea"/>
        <a:cs typeface="+mn-cs"/>
      </a:defRPr>
    </a:lvl7pPr>
    <a:lvl8pPr marL="3200400" algn="l" defTabSz="457200" rtl="0" eaLnBrk="1" latinLnBrk="0" hangingPunct="1">
      <a:defRPr kern="1200">
        <a:solidFill>
          <a:schemeClr val="tx1"/>
        </a:solidFill>
        <a:latin typeface="Arial" pitchFamily="-1" charset="0"/>
        <a:ea typeface="+mn-ea"/>
        <a:cs typeface="+mn-cs"/>
      </a:defRPr>
    </a:lvl8pPr>
    <a:lvl9pPr marL="3657600" algn="l" defTabSz="457200" rtl="0" eaLnBrk="1" latinLnBrk="0" hangingPunct="1">
      <a:defRPr kern="1200">
        <a:solidFill>
          <a:schemeClr val="tx1"/>
        </a:solidFill>
        <a:latin typeface="Arial" pitchFamily="-1"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1416" autoAdjust="0"/>
    <p:restoredTop sz="85338" autoAdjust="0"/>
  </p:normalViewPr>
  <p:slideViewPr>
    <p:cSldViewPr>
      <p:cViewPr>
        <p:scale>
          <a:sx n="100" d="100"/>
          <a:sy n="100" d="100"/>
        </p:scale>
        <p:origin x="-888" y="-816"/>
      </p:cViewPr>
      <p:guideLst>
        <p:guide orient="horz" pos="2160"/>
        <p:guide pos="2880"/>
      </p:guideLst>
    </p:cSldViewPr>
  </p:slideViewPr>
  <p:outlineViewPr>
    <p:cViewPr>
      <p:scale>
        <a:sx n="33" d="100"/>
        <a:sy n="33" d="100"/>
      </p:scale>
      <p:origin x="0" y="0"/>
    </p:cViewPr>
  </p:outlineViewPr>
  <p:notesTextViewPr>
    <p:cViewPr>
      <p:scale>
        <a:sx n="150" d="100"/>
        <a:sy n="150" d="100"/>
      </p:scale>
      <p:origin x="0" y="40"/>
    </p:cViewPr>
  </p:notesTextViewPr>
  <p:sorterViewPr>
    <p:cViewPr>
      <p:scale>
        <a:sx n="66" d="100"/>
        <a:sy n="66" d="100"/>
      </p:scale>
      <p:origin x="0" y="0"/>
    </p:cViewPr>
  </p:sorterViewPr>
  <p:notesViewPr>
    <p:cSldViewPr>
      <p:cViewPr varScale="1">
        <p:scale>
          <a:sx n="119" d="100"/>
          <a:sy n="119" d="100"/>
        </p:scale>
        <p:origin x="-1736" y="-104"/>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63" Type="http://schemas.openxmlformats.org/officeDocument/2006/relationships/slide" Target="slides/slide61.xml"/><Relationship Id="rId64" Type="http://schemas.openxmlformats.org/officeDocument/2006/relationships/notesMaster" Target="notesMasters/notesMaster1.xml"/><Relationship Id="rId65" Type="http://schemas.openxmlformats.org/officeDocument/2006/relationships/handoutMaster" Target="handoutMasters/handoutMaster1.xml"/><Relationship Id="rId66" Type="http://schemas.openxmlformats.org/officeDocument/2006/relationships/printerSettings" Target="printerSettings/printerSettings1.bin"/><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70" Type="http://schemas.openxmlformats.org/officeDocument/2006/relationships/tableStyles" Target="tableStyles.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s>
</file>

<file path=ppt/diagrams/_rels/drawing2.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3.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4.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5.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6.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8.xml.rels><?xml version="1.0" encoding="UTF-8" standalone="yes"?>
<Relationships xmlns="http://schemas.openxmlformats.org/package/2006/relationships"><Relationship Id="rId1" Type="http://schemas.openxmlformats.org/officeDocument/2006/relationships/image" Target="../media/image2.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3B082D3-69A2-B54C-B563-71272EB0B19F}" type="doc">
      <dgm:prSet loTypeId="urn:microsoft.com/office/officeart/2005/8/layout/default" loCatId="list" qsTypeId="urn:microsoft.com/office/officeart/2005/8/quickstyle/simple4" qsCatId="simple" csTypeId="urn:microsoft.com/office/officeart/2005/8/colors/accent1_2" csCatId="accent1" phldr="1"/>
      <dgm:spPr/>
      <dgm:t>
        <a:bodyPr/>
        <a:lstStyle/>
        <a:p>
          <a:endParaRPr lang="en-US"/>
        </a:p>
      </dgm:t>
    </dgm:pt>
    <dgm:pt modelId="{C2A8749C-A601-5E46-9F2D-304C3FAFFC50}">
      <dgm:prSet/>
      <dgm:spPr>
        <a:solidFill>
          <a:schemeClr val="accent2">
            <a:lumMod val="50000"/>
          </a:schemeClr>
        </a:solidFill>
      </dgm:spPr>
      <dgm:t>
        <a:bodyPr/>
        <a:lstStyle/>
        <a:p>
          <a:pPr rtl="0"/>
          <a:r>
            <a:rPr lang="en-US" dirty="0" smtClean="0"/>
            <a:t>Simple Mail Transfer Protocol</a:t>
          </a:r>
          <a:endParaRPr lang="en-US" dirty="0"/>
        </a:p>
      </dgm:t>
    </dgm:pt>
    <dgm:pt modelId="{F9D32566-F503-B14B-98F9-EDC028E7D105}" type="parTrans" cxnId="{3BF4FDCD-8DA6-7B41-80C7-1329B473F732}">
      <dgm:prSet/>
      <dgm:spPr/>
      <dgm:t>
        <a:bodyPr/>
        <a:lstStyle/>
        <a:p>
          <a:endParaRPr lang="en-US"/>
        </a:p>
      </dgm:t>
    </dgm:pt>
    <dgm:pt modelId="{F75F2B3A-7F6E-A443-B989-761E433BF537}" type="sibTrans" cxnId="{3BF4FDCD-8DA6-7B41-80C7-1329B473F732}">
      <dgm:prSet/>
      <dgm:spPr/>
      <dgm:t>
        <a:bodyPr/>
        <a:lstStyle/>
        <a:p>
          <a:endParaRPr lang="en-US"/>
        </a:p>
      </dgm:t>
    </dgm:pt>
    <dgm:pt modelId="{078CCFB6-449B-B140-BBE9-7E096D056802}">
      <dgm:prSet/>
      <dgm:spPr>
        <a:solidFill>
          <a:schemeClr val="accent3">
            <a:lumMod val="75000"/>
          </a:schemeClr>
        </a:solidFill>
      </dgm:spPr>
      <dgm:t>
        <a:bodyPr/>
        <a:lstStyle/>
        <a:p>
          <a:pPr rtl="0"/>
          <a:r>
            <a:rPr lang="en-US" dirty="0" smtClean="0"/>
            <a:t>Is a text-based client-server protocol</a:t>
          </a:r>
          <a:endParaRPr lang="en-US" dirty="0"/>
        </a:p>
      </dgm:t>
    </dgm:pt>
    <dgm:pt modelId="{F934510F-AB63-004C-8183-7AA2A116E7A7}" type="parTrans" cxnId="{39B580A9-2064-4248-9DC8-2C773F760697}">
      <dgm:prSet/>
      <dgm:spPr/>
      <dgm:t>
        <a:bodyPr/>
        <a:lstStyle/>
        <a:p>
          <a:endParaRPr lang="en-US"/>
        </a:p>
      </dgm:t>
    </dgm:pt>
    <dgm:pt modelId="{7EF30890-4A5D-634F-8C0E-2FF8FD056F91}" type="sibTrans" cxnId="{39B580A9-2064-4248-9DC8-2C773F760697}">
      <dgm:prSet/>
      <dgm:spPr/>
      <dgm:t>
        <a:bodyPr/>
        <a:lstStyle/>
        <a:p>
          <a:endParaRPr lang="en-US"/>
        </a:p>
      </dgm:t>
    </dgm:pt>
    <dgm:pt modelId="{BF3F507B-949B-9743-8E91-065B819F3FB3}">
      <dgm:prSet/>
      <dgm:spPr>
        <a:solidFill>
          <a:schemeClr val="accent5">
            <a:lumMod val="50000"/>
          </a:schemeClr>
        </a:solidFill>
      </dgm:spPr>
      <dgm:t>
        <a:bodyPr/>
        <a:lstStyle/>
        <a:p>
          <a:pPr rtl="0"/>
          <a:r>
            <a:rPr lang="en-US" dirty="0" smtClean="0"/>
            <a:t>Encapsulates an email message in an envelope and is used to relay the encapsulated messages from source to destination through multiple </a:t>
          </a:r>
          <a:r>
            <a:rPr lang="en-US" dirty="0" err="1" smtClean="0"/>
            <a:t>MTAs</a:t>
          </a:r>
          <a:endParaRPr lang="en-US" dirty="0"/>
        </a:p>
      </dgm:t>
    </dgm:pt>
    <dgm:pt modelId="{A4F21BBB-F092-D64E-9C5C-85384FD9516D}" type="parTrans" cxnId="{B84B0B07-1C3F-0649-BC03-2C1E9B1BE81C}">
      <dgm:prSet/>
      <dgm:spPr/>
      <dgm:t>
        <a:bodyPr/>
        <a:lstStyle/>
        <a:p>
          <a:endParaRPr lang="en-US"/>
        </a:p>
      </dgm:t>
    </dgm:pt>
    <dgm:pt modelId="{6AF1EED3-D30F-3A47-AC43-15D8BD6089CC}" type="sibTrans" cxnId="{B84B0B07-1C3F-0649-BC03-2C1E9B1BE81C}">
      <dgm:prSet/>
      <dgm:spPr/>
      <dgm:t>
        <a:bodyPr/>
        <a:lstStyle/>
        <a:p>
          <a:endParaRPr lang="en-US"/>
        </a:p>
      </dgm:t>
    </dgm:pt>
    <dgm:pt modelId="{A4A6ACFD-CEA5-4C4F-9EA3-D4A623E31249}">
      <dgm:prSet/>
      <dgm:spPr>
        <a:solidFill>
          <a:schemeClr val="accent5">
            <a:lumMod val="25000"/>
          </a:schemeClr>
        </a:solidFill>
      </dgm:spPr>
      <dgm:t>
        <a:bodyPr/>
        <a:lstStyle/>
        <a:p>
          <a:pPr rtl="0"/>
          <a:r>
            <a:rPr lang="en-US" dirty="0" smtClean="0"/>
            <a:t>Was originally specified in 1982 as RFC 821</a:t>
          </a:r>
          <a:endParaRPr lang="en-US" dirty="0"/>
        </a:p>
      </dgm:t>
    </dgm:pt>
    <dgm:pt modelId="{5917F28F-E955-C042-AD65-2292D8251498}" type="parTrans" cxnId="{8218A940-09A7-6A4A-95E6-CEFABFA91A5A}">
      <dgm:prSet/>
      <dgm:spPr/>
      <dgm:t>
        <a:bodyPr/>
        <a:lstStyle/>
        <a:p>
          <a:endParaRPr lang="en-US"/>
        </a:p>
      </dgm:t>
    </dgm:pt>
    <dgm:pt modelId="{307928B2-5BF2-AF41-890C-7C5ACF793C12}" type="sibTrans" cxnId="{8218A940-09A7-6A4A-95E6-CEFABFA91A5A}">
      <dgm:prSet/>
      <dgm:spPr/>
      <dgm:t>
        <a:bodyPr/>
        <a:lstStyle/>
        <a:p>
          <a:endParaRPr lang="en-US"/>
        </a:p>
      </dgm:t>
    </dgm:pt>
    <dgm:pt modelId="{3000864B-A5DA-0E48-A808-B9ED545A0C29}">
      <dgm:prSet/>
      <dgm:spPr>
        <a:solidFill>
          <a:schemeClr val="accent6">
            <a:lumMod val="50000"/>
          </a:schemeClr>
        </a:solidFill>
      </dgm:spPr>
      <dgm:t>
        <a:bodyPr/>
        <a:lstStyle/>
        <a:p>
          <a:pPr rtl="0"/>
          <a:r>
            <a:rPr lang="en-US" dirty="0" smtClean="0"/>
            <a:t>The term Extended SMTP (ESMTP) is often used to refer to later versions of SMTP</a:t>
          </a:r>
          <a:endParaRPr lang="en-US" dirty="0"/>
        </a:p>
      </dgm:t>
    </dgm:pt>
    <dgm:pt modelId="{276DB802-0797-5C42-9891-CCEBB3A102D9}" type="parTrans" cxnId="{263E16F6-D9DE-DE45-9C14-0A6F74E90BE1}">
      <dgm:prSet/>
      <dgm:spPr/>
      <dgm:t>
        <a:bodyPr/>
        <a:lstStyle/>
        <a:p>
          <a:endParaRPr lang="en-US"/>
        </a:p>
      </dgm:t>
    </dgm:pt>
    <dgm:pt modelId="{6C2379E2-946C-0C47-B4F9-B7D4A8F7568A}" type="sibTrans" cxnId="{263E16F6-D9DE-DE45-9C14-0A6F74E90BE1}">
      <dgm:prSet/>
      <dgm:spPr/>
      <dgm:t>
        <a:bodyPr/>
        <a:lstStyle/>
        <a:p>
          <a:endParaRPr lang="en-US"/>
        </a:p>
      </dgm:t>
    </dgm:pt>
    <dgm:pt modelId="{8C2DE3ED-BCBA-6346-BE80-B729ED41E18B}" type="pres">
      <dgm:prSet presAssocID="{03B082D3-69A2-B54C-B563-71272EB0B19F}" presName="diagram" presStyleCnt="0">
        <dgm:presLayoutVars>
          <dgm:dir/>
          <dgm:resizeHandles val="exact"/>
        </dgm:presLayoutVars>
      </dgm:prSet>
      <dgm:spPr/>
      <dgm:t>
        <a:bodyPr/>
        <a:lstStyle/>
        <a:p>
          <a:endParaRPr lang="en-US"/>
        </a:p>
      </dgm:t>
    </dgm:pt>
    <dgm:pt modelId="{2C34DAFC-F23A-9644-BBCF-BB93EDE38C0F}" type="pres">
      <dgm:prSet presAssocID="{C2A8749C-A601-5E46-9F2D-304C3FAFFC50}" presName="node" presStyleLbl="node1" presStyleIdx="0" presStyleCnt="5" custLinFactNeighborY="-39286">
        <dgm:presLayoutVars>
          <dgm:bulletEnabled val="1"/>
        </dgm:presLayoutVars>
      </dgm:prSet>
      <dgm:spPr/>
      <dgm:t>
        <a:bodyPr/>
        <a:lstStyle/>
        <a:p>
          <a:endParaRPr lang="en-US"/>
        </a:p>
      </dgm:t>
    </dgm:pt>
    <dgm:pt modelId="{A499C69C-4FF6-EF47-A349-F0B756EBC211}" type="pres">
      <dgm:prSet presAssocID="{F75F2B3A-7F6E-A443-B989-761E433BF537}" presName="sibTrans" presStyleCnt="0"/>
      <dgm:spPr/>
    </dgm:pt>
    <dgm:pt modelId="{C9CE7AE0-1AF4-4848-9C47-B20018A6E96F}" type="pres">
      <dgm:prSet presAssocID="{078CCFB6-449B-B140-BBE9-7E096D056802}" presName="node" presStyleLbl="node1" presStyleIdx="1" presStyleCnt="5" custLinFactNeighborX="1429" custLinFactNeighborY="60714">
        <dgm:presLayoutVars>
          <dgm:bulletEnabled val="1"/>
        </dgm:presLayoutVars>
      </dgm:prSet>
      <dgm:spPr/>
      <dgm:t>
        <a:bodyPr/>
        <a:lstStyle/>
        <a:p>
          <a:endParaRPr lang="en-US"/>
        </a:p>
      </dgm:t>
    </dgm:pt>
    <dgm:pt modelId="{7D976B93-C5FE-064E-BF77-B990EA10BF42}" type="pres">
      <dgm:prSet presAssocID="{7EF30890-4A5D-634F-8C0E-2FF8FD056F91}" presName="sibTrans" presStyleCnt="0"/>
      <dgm:spPr/>
    </dgm:pt>
    <dgm:pt modelId="{771C0D72-17DD-0D42-B505-C203312DDB51}" type="pres">
      <dgm:prSet presAssocID="{BF3F507B-949B-9743-8E91-065B819F3FB3}" presName="node" presStyleLbl="node1" presStyleIdx="2" presStyleCnt="5" custLinFactNeighborX="0" custLinFactNeighborY="-44048">
        <dgm:presLayoutVars>
          <dgm:bulletEnabled val="1"/>
        </dgm:presLayoutVars>
      </dgm:prSet>
      <dgm:spPr/>
      <dgm:t>
        <a:bodyPr/>
        <a:lstStyle/>
        <a:p>
          <a:endParaRPr lang="en-US"/>
        </a:p>
      </dgm:t>
    </dgm:pt>
    <dgm:pt modelId="{D4AC7458-B3F9-0C45-B4EF-F54DC7DFF522}" type="pres">
      <dgm:prSet presAssocID="{6AF1EED3-D30F-3A47-AC43-15D8BD6089CC}" presName="sibTrans" presStyleCnt="0"/>
      <dgm:spPr/>
    </dgm:pt>
    <dgm:pt modelId="{775A8041-4F14-E347-9D9F-9C089E10A5E7}" type="pres">
      <dgm:prSet presAssocID="{A4A6ACFD-CEA5-4C4F-9EA3-D4A623E31249}" presName="node" presStyleLbl="node1" presStyleIdx="3" presStyleCnt="5" custLinFactNeighborX="-52143" custLinFactNeighborY="44048">
        <dgm:presLayoutVars>
          <dgm:bulletEnabled val="1"/>
        </dgm:presLayoutVars>
      </dgm:prSet>
      <dgm:spPr/>
      <dgm:t>
        <a:bodyPr/>
        <a:lstStyle/>
        <a:p>
          <a:endParaRPr lang="en-US"/>
        </a:p>
      </dgm:t>
    </dgm:pt>
    <dgm:pt modelId="{877278BE-5AC8-5D43-9712-7C7F765E40B5}" type="pres">
      <dgm:prSet presAssocID="{307928B2-5BF2-AF41-890C-7C5ACF793C12}" presName="sibTrans" presStyleCnt="0"/>
      <dgm:spPr/>
    </dgm:pt>
    <dgm:pt modelId="{70C75229-E5B3-5643-B958-1154A464F8D9}" type="pres">
      <dgm:prSet presAssocID="{3000864B-A5DA-0E48-A808-B9ED545A0C29}" presName="node" presStyleLbl="node1" presStyleIdx="4" presStyleCnt="5" custLinFactNeighborX="55000" custLinFactNeighborY="48810">
        <dgm:presLayoutVars>
          <dgm:bulletEnabled val="1"/>
        </dgm:presLayoutVars>
      </dgm:prSet>
      <dgm:spPr/>
      <dgm:t>
        <a:bodyPr/>
        <a:lstStyle/>
        <a:p>
          <a:endParaRPr lang="en-US"/>
        </a:p>
      </dgm:t>
    </dgm:pt>
  </dgm:ptLst>
  <dgm:cxnLst>
    <dgm:cxn modelId="{2EB02B35-061F-D740-AFDA-802453740272}" type="presOf" srcId="{C2A8749C-A601-5E46-9F2D-304C3FAFFC50}" destId="{2C34DAFC-F23A-9644-BBCF-BB93EDE38C0F}" srcOrd="0" destOrd="0" presId="urn:microsoft.com/office/officeart/2005/8/layout/default"/>
    <dgm:cxn modelId="{39B580A9-2064-4248-9DC8-2C773F760697}" srcId="{03B082D3-69A2-B54C-B563-71272EB0B19F}" destId="{078CCFB6-449B-B140-BBE9-7E096D056802}" srcOrd="1" destOrd="0" parTransId="{F934510F-AB63-004C-8183-7AA2A116E7A7}" sibTransId="{7EF30890-4A5D-634F-8C0E-2FF8FD056F91}"/>
    <dgm:cxn modelId="{8218A940-09A7-6A4A-95E6-CEFABFA91A5A}" srcId="{03B082D3-69A2-B54C-B563-71272EB0B19F}" destId="{A4A6ACFD-CEA5-4C4F-9EA3-D4A623E31249}" srcOrd="3" destOrd="0" parTransId="{5917F28F-E955-C042-AD65-2292D8251498}" sibTransId="{307928B2-5BF2-AF41-890C-7C5ACF793C12}"/>
    <dgm:cxn modelId="{194074A4-69DE-2C4C-BD7A-BB5A4E16A5A7}" type="presOf" srcId="{BF3F507B-949B-9743-8E91-065B819F3FB3}" destId="{771C0D72-17DD-0D42-B505-C203312DDB51}" srcOrd="0" destOrd="0" presId="urn:microsoft.com/office/officeart/2005/8/layout/default"/>
    <dgm:cxn modelId="{4FA328A9-E146-E44A-B9A2-FF27D0711CF9}" type="presOf" srcId="{A4A6ACFD-CEA5-4C4F-9EA3-D4A623E31249}" destId="{775A8041-4F14-E347-9D9F-9C089E10A5E7}" srcOrd="0" destOrd="0" presId="urn:microsoft.com/office/officeart/2005/8/layout/default"/>
    <dgm:cxn modelId="{566BF24C-6BB4-8346-9A6A-B0F61027F789}" type="presOf" srcId="{078CCFB6-449B-B140-BBE9-7E096D056802}" destId="{C9CE7AE0-1AF4-4848-9C47-B20018A6E96F}" srcOrd="0" destOrd="0" presId="urn:microsoft.com/office/officeart/2005/8/layout/default"/>
    <dgm:cxn modelId="{263E16F6-D9DE-DE45-9C14-0A6F74E90BE1}" srcId="{03B082D3-69A2-B54C-B563-71272EB0B19F}" destId="{3000864B-A5DA-0E48-A808-B9ED545A0C29}" srcOrd="4" destOrd="0" parTransId="{276DB802-0797-5C42-9891-CCEBB3A102D9}" sibTransId="{6C2379E2-946C-0C47-B4F9-B7D4A8F7568A}"/>
    <dgm:cxn modelId="{B84B0B07-1C3F-0649-BC03-2C1E9B1BE81C}" srcId="{03B082D3-69A2-B54C-B563-71272EB0B19F}" destId="{BF3F507B-949B-9743-8E91-065B819F3FB3}" srcOrd="2" destOrd="0" parTransId="{A4F21BBB-F092-D64E-9C5C-85384FD9516D}" sibTransId="{6AF1EED3-D30F-3A47-AC43-15D8BD6089CC}"/>
    <dgm:cxn modelId="{C8A1BBD8-18FD-0C4A-A31A-8F1BA820B042}" type="presOf" srcId="{3000864B-A5DA-0E48-A808-B9ED545A0C29}" destId="{70C75229-E5B3-5643-B958-1154A464F8D9}" srcOrd="0" destOrd="0" presId="urn:microsoft.com/office/officeart/2005/8/layout/default"/>
    <dgm:cxn modelId="{3BF4FDCD-8DA6-7B41-80C7-1329B473F732}" srcId="{03B082D3-69A2-B54C-B563-71272EB0B19F}" destId="{C2A8749C-A601-5E46-9F2D-304C3FAFFC50}" srcOrd="0" destOrd="0" parTransId="{F9D32566-F503-B14B-98F9-EDC028E7D105}" sibTransId="{F75F2B3A-7F6E-A443-B989-761E433BF537}"/>
    <dgm:cxn modelId="{4C1D5692-8D2C-8140-B55C-9F3523204CBD}" type="presOf" srcId="{03B082D3-69A2-B54C-B563-71272EB0B19F}" destId="{8C2DE3ED-BCBA-6346-BE80-B729ED41E18B}" srcOrd="0" destOrd="0" presId="urn:microsoft.com/office/officeart/2005/8/layout/default"/>
    <dgm:cxn modelId="{921BE769-E693-7440-A01F-1A5221628CD5}" type="presParOf" srcId="{8C2DE3ED-BCBA-6346-BE80-B729ED41E18B}" destId="{2C34DAFC-F23A-9644-BBCF-BB93EDE38C0F}" srcOrd="0" destOrd="0" presId="urn:microsoft.com/office/officeart/2005/8/layout/default"/>
    <dgm:cxn modelId="{2E3B9CA5-FC87-2147-BBF2-90C0427C410F}" type="presParOf" srcId="{8C2DE3ED-BCBA-6346-BE80-B729ED41E18B}" destId="{A499C69C-4FF6-EF47-A349-F0B756EBC211}" srcOrd="1" destOrd="0" presId="urn:microsoft.com/office/officeart/2005/8/layout/default"/>
    <dgm:cxn modelId="{41942AE9-FAFF-6642-AFEA-FD320B1D3C3C}" type="presParOf" srcId="{8C2DE3ED-BCBA-6346-BE80-B729ED41E18B}" destId="{C9CE7AE0-1AF4-4848-9C47-B20018A6E96F}" srcOrd="2" destOrd="0" presId="urn:microsoft.com/office/officeart/2005/8/layout/default"/>
    <dgm:cxn modelId="{077B85BB-23E1-8D41-A5BE-1AE0D8FAFFC9}" type="presParOf" srcId="{8C2DE3ED-BCBA-6346-BE80-B729ED41E18B}" destId="{7D976B93-C5FE-064E-BF77-B990EA10BF42}" srcOrd="3" destOrd="0" presId="urn:microsoft.com/office/officeart/2005/8/layout/default"/>
    <dgm:cxn modelId="{A9E37CF0-266B-1444-A1B2-878C4D1578A9}" type="presParOf" srcId="{8C2DE3ED-BCBA-6346-BE80-B729ED41E18B}" destId="{771C0D72-17DD-0D42-B505-C203312DDB51}" srcOrd="4" destOrd="0" presId="urn:microsoft.com/office/officeart/2005/8/layout/default"/>
    <dgm:cxn modelId="{67D1B9CB-B5B8-5F4B-95FC-38B1217F7C4A}" type="presParOf" srcId="{8C2DE3ED-BCBA-6346-BE80-B729ED41E18B}" destId="{D4AC7458-B3F9-0C45-B4EF-F54DC7DFF522}" srcOrd="5" destOrd="0" presId="urn:microsoft.com/office/officeart/2005/8/layout/default"/>
    <dgm:cxn modelId="{EE9A3928-4EEE-C346-B0F5-066D6E76941D}" type="presParOf" srcId="{8C2DE3ED-BCBA-6346-BE80-B729ED41E18B}" destId="{775A8041-4F14-E347-9D9F-9C089E10A5E7}" srcOrd="6" destOrd="0" presId="urn:microsoft.com/office/officeart/2005/8/layout/default"/>
    <dgm:cxn modelId="{31549E76-6B96-9A47-931A-59ECC50896C6}" type="presParOf" srcId="{8C2DE3ED-BCBA-6346-BE80-B729ED41E18B}" destId="{877278BE-5AC8-5D43-9712-7C7F765E40B5}" srcOrd="7" destOrd="0" presId="urn:microsoft.com/office/officeart/2005/8/layout/default"/>
    <dgm:cxn modelId="{33FE70A5-95E1-9B41-9D96-4D71BC7926ED}" type="presParOf" srcId="{8C2DE3ED-BCBA-6346-BE80-B729ED41E18B}" destId="{70C75229-E5B3-5643-B958-1154A464F8D9}" srcOrd="8" destOrd="0" presId="urn:microsoft.com/office/officeart/2005/8/layout/default"/>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02D26EC-46F5-BE46-A80B-4E89EF0C21E2}" type="doc">
      <dgm:prSet loTypeId="urn:microsoft.com/office/officeart/2005/8/layout/chart3" loCatId="relationship" qsTypeId="urn:microsoft.com/office/officeart/2005/8/quickstyle/simple4" qsCatId="simple" csTypeId="urn:microsoft.com/office/officeart/2005/8/colors/accent1_2" csCatId="accent1" phldr="1"/>
      <dgm:spPr/>
    </dgm:pt>
    <dgm:pt modelId="{E5FCE8AB-47CD-1448-8D1B-537996823926}">
      <dgm:prSet phldrT="[Text]" custT="1"/>
      <dgm:spPr>
        <a:ln>
          <a:solidFill>
            <a:schemeClr val="tx1"/>
          </a:solidFill>
        </a:ln>
      </dgm:spPr>
      <dgm:t>
        <a:bodyPr/>
        <a:lstStyle/>
        <a:p>
          <a:r>
            <a:rPr lang="en-US" sz="1500" b="1" dirty="0" smtClean="0"/>
            <a:t>Five new message header fields are defined, which may be included in an RFC 5322 header; these fields provide information about the body of the message</a:t>
          </a:r>
          <a:endParaRPr lang="en-US" sz="1500" b="1" dirty="0"/>
        </a:p>
      </dgm:t>
    </dgm:pt>
    <dgm:pt modelId="{AC5C9ED8-C39C-F448-92A3-622E1ABCAD6C}" type="parTrans" cxnId="{9E3CD309-40D8-4D47-A0D1-111ED6F306D8}">
      <dgm:prSet/>
      <dgm:spPr/>
      <dgm:t>
        <a:bodyPr/>
        <a:lstStyle/>
        <a:p>
          <a:endParaRPr lang="en-US"/>
        </a:p>
      </dgm:t>
    </dgm:pt>
    <dgm:pt modelId="{EB825C7E-1B65-3E40-B9C0-88E33C03FB34}" type="sibTrans" cxnId="{9E3CD309-40D8-4D47-A0D1-111ED6F306D8}">
      <dgm:prSet/>
      <dgm:spPr/>
      <dgm:t>
        <a:bodyPr/>
        <a:lstStyle/>
        <a:p>
          <a:endParaRPr lang="en-US"/>
        </a:p>
      </dgm:t>
    </dgm:pt>
    <dgm:pt modelId="{7E0226B9-39C0-8646-979C-DBDB798DFBFF}">
      <dgm:prSet custT="1"/>
      <dgm:spPr>
        <a:ln>
          <a:solidFill>
            <a:schemeClr val="tx1"/>
          </a:solidFill>
        </a:ln>
      </dgm:spPr>
      <dgm:t>
        <a:bodyPr/>
        <a:lstStyle/>
        <a:p>
          <a:r>
            <a:rPr lang="en-US" sz="1500" b="1" dirty="0" smtClean="0"/>
            <a:t>A number of content formats are defined, thus standardizing representations that support multimedia electronic mail</a:t>
          </a:r>
        </a:p>
      </dgm:t>
    </dgm:pt>
    <dgm:pt modelId="{87A755A0-7B13-CC43-AA41-DA1E088917BE}" type="parTrans" cxnId="{5E27F37F-59F7-E443-98DF-80180C4349EE}">
      <dgm:prSet/>
      <dgm:spPr/>
      <dgm:t>
        <a:bodyPr/>
        <a:lstStyle/>
        <a:p>
          <a:endParaRPr lang="en-US"/>
        </a:p>
      </dgm:t>
    </dgm:pt>
    <dgm:pt modelId="{FCFF5AFD-AF63-5340-A7C4-DADB2C08BD9A}" type="sibTrans" cxnId="{5E27F37F-59F7-E443-98DF-80180C4349EE}">
      <dgm:prSet/>
      <dgm:spPr/>
      <dgm:t>
        <a:bodyPr/>
        <a:lstStyle/>
        <a:p>
          <a:endParaRPr lang="en-US"/>
        </a:p>
      </dgm:t>
    </dgm:pt>
    <dgm:pt modelId="{86E5C8D1-BDA8-A849-8D8A-A4ECB07F3882}">
      <dgm:prSet custT="1"/>
      <dgm:spPr>
        <a:ln>
          <a:solidFill>
            <a:schemeClr val="tx1"/>
          </a:solidFill>
        </a:ln>
      </dgm:spPr>
      <dgm:t>
        <a:bodyPr/>
        <a:lstStyle/>
        <a:p>
          <a:r>
            <a:rPr lang="en-US" sz="1500" b="1" dirty="0" smtClean="0"/>
            <a:t>Transfer encodings are defined that enable the conversion of any content format into a form that is protected from alteration by the mail system</a:t>
          </a:r>
        </a:p>
      </dgm:t>
    </dgm:pt>
    <dgm:pt modelId="{860B4314-894A-2049-9758-F48460CEF6D7}" type="parTrans" cxnId="{7667AD3D-1E3E-684F-B509-CAF0A67D5D42}">
      <dgm:prSet/>
      <dgm:spPr/>
      <dgm:t>
        <a:bodyPr/>
        <a:lstStyle/>
        <a:p>
          <a:endParaRPr lang="en-US"/>
        </a:p>
      </dgm:t>
    </dgm:pt>
    <dgm:pt modelId="{BDA936CC-3400-7A47-84F0-E331C5D834BE}" type="sibTrans" cxnId="{7667AD3D-1E3E-684F-B509-CAF0A67D5D42}">
      <dgm:prSet/>
      <dgm:spPr/>
      <dgm:t>
        <a:bodyPr/>
        <a:lstStyle/>
        <a:p>
          <a:endParaRPr lang="en-US"/>
        </a:p>
      </dgm:t>
    </dgm:pt>
    <dgm:pt modelId="{A6B2D7BE-A506-1E43-A9C1-9BD78A80449F}" type="pres">
      <dgm:prSet presAssocID="{E02D26EC-46F5-BE46-A80B-4E89EF0C21E2}" presName="compositeShape" presStyleCnt="0">
        <dgm:presLayoutVars>
          <dgm:chMax val="7"/>
          <dgm:dir/>
          <dgm:resizeHandles val="exact"/>
        </dgm:presLayoutVars>
      </dgm:prSet>
      <dgm:spPr/>
    </dgm:pt>
    <dgm:pt modelId="{26F89071-58DE-7F48-AA27-69ED257A3458}" type="pres">
      <dgm:prSet presAssocID="{E02D26EC-46F5-BE46-A80B-4E89EF0C21E2}" presName="wedge1" presStyleLbl="node1" presStyleIdx="0" presStyleCnt="3" custScaleX="145536" custScaleY="135714" custLinFactNeighborX="5012" custLinFactNeighborY="-8036"/>
      <dgm:spPr/>
      <dgm:t>
        <a:bodyPr/>
        <a:lstStyle/>
        <a:p>
          <a:endParaRPr lang="en-US"/>
        </a:p>
      </dgm:t>
    </dgm:pt>
    <dgm:pt modelId="{5685DC04-4F5A-2245-9A97-B90CA66B5984}" type="pres">
      <dgm:prSet presAssocID="{E02D26EC-46F5-BE46-A80B-4E89EF0C21E2}" presName="wedge1Tx" presStyleLbl="node1" presStyleIdx="0" presStyleCnt="3">
        <dgm:presLayoutVars>
          <dgm:chMax val="0"/>
          <dgm:chPref val="0"/>
          <dgm:bulletEnabled val="1"/>
        </dgm:presLayoutVars>
      </dgm:prSet>
      <dgm:spPr/>
      <dgm:t>
        <a:bodyPr/>
        <a:lstStyle/>
        <a:p>
          <a:endParaRPr lang="en-US"/>
        </a:p>
      </dgm:t>
    </dgm:pt>
    <dgm:pt modelId="{BEE27C44-ADAF-6140-86F7-1803D7077230}" type="pres">
      <dgm:prSet presAssocID="{E02D26EC-46F5-BE46-A80B-4E89EF0C21E2}" presName="wedge2" presStyleLbl="node1" presStyleIdx="1" presStyleCnt="3" custScaleX="145536" custScaleY="135714" custLinFactNeighborX="5702" custLinFactNeighborY="-6548"/>
      <dgm:spPr/>
      <dgm:t>
        <a:bodyPr/>
        <a:lstStyle/>
        <a:p>
          <a:endParaRPr lang="en-US"/>
        </a:p>
      </dgm:t>
    </dgm:pt>
    <dgm:pt modelId="{50A60D34-77A0-7643-9B58-20EEA98D506B}" type="pres">
      <dgm:prSet presAssocID="{E02D26EC-46F5-BE46-A80B-4E89EF0C21E2}" presName="wedge2Tx" presStyleLbl="node1" presStyleIdx="1" presStyleCnt="3">
        <dgm:presLayoutVars>
          <dgm:chMax val="0"/>
          <dgm:chPref val="0"/>
          <dgm:bulletEnabled val="1"/>
        </dgm:presLayoutVars>
      </dgm:prSet>
      <dgm:spPr/>
      <dgm:t>
        <a:bodyPr/>
        <a:lstStyle/>
        <a:p>
          <a:endParaRPr lang="en-US"/>
        </a:p>
      </dgm:t>
    </dgm:pt>
    <dgm:pt modelId="{6DF23F47-D2AF-2747-A71B-8C574F0D8735}" type="pres">
      <dgm:prSet presAssocID="{E02D26EC-46F5-BE46-A80B-4E89EF0C21E2}" presName="wedge3" presStyleLbl="node1" presStyleIdx="2" presStyleCnt="3" custScaleX="145536" custScaleY="135714" custLinFactNeighborX="-994" custLinFactNeighborY="-11012"/>
      <dgm:spPr/>
      <dgm:t>
        <a:bodyPr/>
        <a:lstStyle/>
        <a:p>
          <a:endParaRPr lang="en-US"/>
        </a:p>
      </dgm:t>
    </dgm:pt>
    <dgm:pt modelId="{72470A69-E904-FE43-B41C-69A42D86DFD7}" type="pres">
      <dgm:prSet presAssocID="{E02D26EC-46F5-BE46-A80B-4E89EF0C21E2}" presName="wedge3Tx" presStyleLbl="node1" presStyleIdx="2" presStyleCnt="3">
        <dgm:presLayoutVars>
          <dgm:chMax val="0"/>
          <dgm:chPref val="0"/>
          <dgm:bulletEnabled val="1"/>
        </dgm:presLayoutVars>
      </dgm:prSet>
      <dgm:spPr/>
      <dgm:t>
        <a:bodyPr/>
        <a:lstStyle/>
        <a:p>
          <a:endParaRPr lang="en-US"/>
        </a:p>
      </dgm:t>
    </dgm:pt>
  </dgm:ptLst>
  <dgm:cxnLst>
    <dgm:cxn modelId="{1C33251F-4FD6-654E-A712-0DD4A9C592A2}" type="presOf" srcId="{86E5C8D1-BDA8-A849-8D8A-A4ECB07F3882}" destId="{72470A69-E904-FE43-B41C-69A42D86DFD7}" srcOrd="1" destOrd="0" presId="urn:microsoft.com/office/officeart/2005/8/layout/chart3"/>
    <dgm:cxn modelId="{7667AD3D-1E3E-684F-B509-CAF0A67D5D42}" srcId="{E02D26EC-46F5-BE46-A80B-4E89EF0C21E2}" destId="{86E5C8D1-BDA8-A849-8D8A-A4ECB07F3882}" srcOrd="2" destOrd="0" parTransId="{860B4314-894A-2049-9758-F48460CEF6D7}" sibTransId="{BDA936CC-3400-7A47-84F0-E331C5D834BE}"/>
    <dgm:cxn modelId="{A79038AA-81DB-BD45-AA90-3174EDC6CEDA}" type="presOf" srcId="{7E0226B9-39C0-8646-979C-DBDB798DFBFF}" destId="{BEE27C44-ADAF-6140-86F7-1803D7077230}" srcOrd="0" destOrd="0" presId="urn:microsoft.com/office/officeart/2005/8/layout/chart3"/>
    <dgm:cxn modelId="{8D9BA8BE-4EB1-5F48-B9A2-10D6D976D0CE}" type="presOf" srcId="{E5FCE8AB-47CD-1448-8D1B-537996823926}" destId="{26F89071-58DE-7F48-AA27-69ED257A3458}" srcOrd="0" destOrd="0" presId="urn:microsoft.com/office/officeart/2005/8/layout/chart3"/>
    <dgm:cxn modelId="{31BDFF43-3E8F-3540-B934-568FCF2DC6CF}" type="presOf" srcId="{E5FCE8AB-47CD-1448-8D1B-537996823926}" destId="{5685DC04-4F5A-2245-9A97-B90CA66B5984}" srcOrd="1" destOrd="0" presId="urn:microsoft.com/office/officeart/2005/8/layout/chart3"/>
    <dgm:cxn modelId="{3325C9BD-7460-8D41-98BE-67021EABCB65}" type="presOf" srcId="{86E5C8D1-BDA8-A849-8D8A-A4ECB07F3882}" destId="{6DF23F47-D2AF-2747-A71B-8C574F0D8735}" srcOrd="0" destOrd="0" presId="urn:microsoft.com/office/officeart/2005/8/layout/chart3"/>
    <dgm:cxn modelId="{5E27F37F-59F7-E443-98DF-80180C4349EE}" srcId="{E02D26EC-46F5-BE46-A80B-4E89EF0C21E2}" destId="{7E0226B9-39C0-8646-979C-DBDB798DFBFF}" srcOrd="1" destOrd="0" parTransId="{87A755A0-7B13-CC43-AA41-DA1E088917BE}" sibTransId="{FCFF5AFD-AF63-5340-A7C4-DADB2C08BD9A}"/>
    <dgm:cxn modelId="{12F4ED08-7E0B-8149-878A-2BBCEC312095}" type="presOf" srcId="{7E0226B9-39C0-8646-979C-DBDB798DFBFF}" destId="{50A60D34-77A0-7643-9B58-20EEA98D506B}" srcOrd="1" destOrd="0" presId="urn:microsoft.com/office/officeart/2005/8/layout/chart3"/>
    <dgm:cxn modelId="{9E3CD309-40D8-4D47-A0D1-111ED6F306D8}" srcId="{E02D26EC-46F5-BE46-A80B-4E89EF0C21E2}" destId="{E5FCE8AB-47CD-1448-8D1B-537996823926}" srcOrd="0" destOrd="0" parTransId="{AC5C9ED8-C39C-F448-92A3-622E1ABCAD6C}" sibTransId="{EB825C7E-1B65-3E40-B9C0-88E33C03FB34}"/>
    <dgm:cxn modelId="{0462BFE6-E670-574E-AD1F-4F2D81D1FA83}" type="presOf" srcId="{E02D26EC-46F5-BE46-A80B-4E89EF0C21E2}" destId="{A6B2D7BE-A506-1E43-A9C1-9BD78A80449F}" srcOrd="0" destOrd="0" presId="urn:microsoft.com/office/officeart/2005/8/layout/chart3"/>
    <dgm:cxn modelId="{DC51FCBF-B276-B44E-BC38-F89A1551D354}" type="presParOf" srcId="{A6B2D7BE-A506-1E43-A9C1-9BD78A80449F}" destId="{26F89071-58DE-7F48-AA27-69ED257A3458}" srcOrd="0" destOrd="0" presId="urn:microsoft.com/office/officeart/2005/8/layout/chart3"/>
    <dgm:cxn modelId="{70E5C740-DD90-BB4A-B255-575E024F0FA9}" type="presParOf" srcId="{A6B2D7BE-A506-1E43-A9C1-9BD78A80449F}" destId="{5685DC04-4F5A-2245-9A97-B90CA66B5984}" srcOrd="1" destOrd="0" presId="urn:microsoft.com/office/officeart/2005/8/layout/chart3"/>
    <dgm:cxn modelId="{3FAF262F-FCB7-AA41-8238-F14CC2F384A5}" type="presParOf" srcId="{A6B2D7BE-A506-1E43-A9C1-9BD78A80449F}" destId="{BEE27C44-ADAF-6140-86F7-1803D7077230}" srcOrd="2" destOrd="0" presId="urn:microsoft.com/office/officeart/2005/8/layout/chart3"/>
    <dgm:cxn modelId="{95B0764D-2E1B-4741-931D-770530F16BB3}" type="presParOf" srcId="{A6B2D7BE-A506-1E43-A9C1-9BD78A80449F}" destId="{50A60D34-77A0-7643-9B58-20EEA98D506B}" srcOrd="3" destOrd="0" presId="urn:microsoft.com/office/officeart/2005/8/layout/chart3"/>
    <dgm:cxn modelId="{D2D81CCB-0A31-5940-8149-CA265BF1C699}" type="presParOf" srcId="{A6B2D7BE-A506-1E43-A9C1-9BD78A80449F}" destId="{6DF23F47-D2AF-2747-A71B-8C574F0D8735}" srcOrd="4" destOrd="0" presId="urn:microsoft.com/office/officeart/2005/8/layout/chart3"/>
    <dgm:cxn modelId="{593F047C-C91C-2B42-BA38-B04D72FE339B}" type="presParOf" srcId="{A6B2D7BE-A506-1E43-A9C1-9BD78A80449F}" destId="{72470A69-E904-FE43-B41C-69A42D86DFD7}" srcOrd="5" destOrd="0" presId="urn:microsoft.com/office/officeart/2005/8/layout/chart3"/>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0F91678-A966-014A-AFE3-F3D065DF6BCC}" type="doc">
      <dgm:prSet loTypeId="urn:microsoft.com/office/officeart/2005/8/layout/list1" loCatId="list" qsTypeId="urn:microsoft.com/office/officeart/2005/8/quickstyle/simple4" qsCatId="simple" csTypeId="urn:microsoft.com/office/officeart/2005/8/colors/accent1_2" csCatId="accent1"/>
      <dgm:spPr/>
      <dgm:t>
        <a:bodyPr/>
        <a:lstStyle/>
        <a:p>
          <a:endParaRPr lang="en-US"/>
        </a:p>
      </dgm:t>
    </dgm:pt>
    <dgm:pt modelId="{A51A051B-B444-5C4D-ACCD-2A20DD4E2424}">
      <dgm:prSet/>
      <dgm:spPr/>
      <dgm:t>
        <a:bodyPr/>
        <a:lstStyle/>
        <a:p>
          <a:pPr rtl="0"/>
          <a:r>
            <a:rPr lang="en-US" dirty="0" smtClean="0"/>
            <a:t>MIME-Version</a:t>
          </a:r>
          <a:endParaRPr lang="en-US" dirty="0"/>
        </a:p>
      </dgm:t>
    </dgm:pt>
    <dgm:pt modelId="{8776F8E4-929F-EE4F-9587-AEED3A3789FB}" type="parTrans" cxnId="{C0827931-ADBE-7542-8773-310152EBA1A4}">
      <dgm:prSet/>
      <dgm:spPr/>
      <dgm:t>
        <a:bodyPr/>
        <a:lstStyle/>
        <a:p>
          <a:endParaRPr lang="en-US"/>
        </a:p>
      </dgm:t>
    </dgm:pt>
    <dgm:pt modelId="{AFE95660-BFD2-F744-96FE-FACB8D9DE7B5}" type="sibTrans" cxnId="{C0827931-ADBE-7542-8773-310152EBA1A4}">
      <dgm:prSet/>
      <dgm:spPr/>
      <dgm:t>
        <a:bodyPr/>
        <a:lstStyle/>
        <a:p>
          <a:endParaRPr lang="en-US"/>
        </a:p>
      </dgm:t>
    </dgm:pt>
    <dgm:pt modelId="{F31C79FB-85F6-7C43-A794-B3F4DDE05DF4}">
      <dgm:prSet/>
      <dgm:spPr/>
      <dgm:t>
        <a:bodyPr/>
        <a:lstStyle/>
        <a:p>
          <a:pPr rtl="0"/>
          <a:r>
            <a:rPr lang="en-US" dirty="0" smtClean="0"/>
            <a:t>Must have the parameter value 1.0</a:t>
          </a:r>
          <a:endParaRPr lang="en-US" dirty="0"/>
        </a:p>
      </dgm:t>
    </dgm:pt>
    <dgm:pt modelId="{04C8D68A-9CCD-764A-A3BF-7BFD50312E9D}" type="parTrans" cxnId="{13F08BDF-93E0-9E42-830B-D8B6BF0DDCC1}">
      <dgm:prSet/>
      <dgm:spPr/>
      <dgm:t>
        <a:bodyPr/>
        <a:lstStyle/>
        <a:p>
          <a:endParaRPr lang="en-US"/>
        </a:p>
      </dgm:t>
    </dgm:pt>
    <dgm:pt modelId="{D72DE6BB-3CE9-7D4F-9D78-1B2E4F7DD480}" type="sibTrans" cxnId="{13F08BDF-93E0-9E42-830B-D8B6BF0DDCC1}">
      <dgm:prSet/>
      <dgm:spPr/>
      <dgm:t>
        <a:bodyPr/>
        <a:lstStyle/>
        <a:p>
          <a:endParaRPr lang="en-US"/>
        </a:p>
      </dgm:t>
    </dgm:pt>
    <dgm:pt modelId="{A64C4E49-A0FB-9E44-BB1D-A5CD8B1AE6EB}">
      <dgm:prSet/>
      <dgm:spPr/>
      <dgm:t>
        <a:bodyPr/>
        <a:lstStyle/>
        <a:p>
          <a:pPr rtl="0"/>
          <a:r>
            <a:rPr lang="en-US" dirty="0" smtClean="0"/>
            <a:t>This field indicates that the message conforms to RFCs 2045 and 2046</a:t>
          </a:r>
          <a:endParaRPr lang="en-US" dirty="0"/>
        </a:p>
      </dgm:t>
    </dgm:pt>
    <dgm:pt modelId="{57DBDDC1-3B17-8C40-AD8C-CFBA8BF28BF9}" type="parTrans" cxnId="{90173BE2-1E04-1745-A40A-D7E2A549B1A9}">
      <dgm:prSet/>
      <dgm:spPr/>
      <dgm:t>
        <a:bodyPr/>
        <a:lstStyle/>
        <a:p>
          <a:endParaRPr lang="en-US"/>
        </a:p>
      </dgm:t>
    </dgm:pt>
    <dgm:pt modelId="{6413D08D-EA4A-764A-A87F-1337495A5A65}" type="sibTrans" cxnId="{90173BE2-1E04-1745-A40A-D7E2A549B1A9}">
      <dgm:prSet/>
      <dgm:spPr/>
      <dgm:t>
        <a:bodyPr/>
        <a:lstStyle/>
        <a:p>
          <a:endParaRPr lang="en-US"/>
        </a:p>
      </dgm:t>
    </dgm:pt>
    <dgm:pt modelId="{80DC049B-7FD5-3045-83DD-F1080B16A5FD}">
      <dgm:prSet/>
      <dgm:spPr/>
      <dgm:t>
        <a:bodyPr/>
        <a:lstStyle/>
        <a:p>
          <a:pPr rtl="0"/>
          <a:r>
            <a:rPr lang="en-US" dirty="0" smtClean="0"/>
            <a:t>Content-Type</a:t>
          </a:r>
          <a:endParaRPr lang="en-US" dirty="0"/>
        </a:p>
      </dgm:t>
    </dgm:pt>
    <dgm:pt modelId="{8DB4D05B-BD93-564D-BC96-D04C53A8B166}" type="parTrans" cxnId="{6DC5843C-F893-554C-B497-EE783C6D42AA}">
      <dgm:prSet/>
      <dgm:spPr/>
      <dgm:t>
        <a:bodyPr/>
        <a:lstStyle/>
        <a:p>
          <a:endParaRPr lang="en-US"/>
        </a:p>
      </dgm:t>
    </dgm:pt>
    <dgm:pt modelId="{90A38F66-0514-6B40-9287-C28DD9752DA8}" type="sibTrans" cxnId="{6DC5843C-F893-554C-B497-EE783C6D42AA}">
      <dgm:prSet/>
      <dgm:spPr/>
      <dgm:t>
        <a:bodyPr/>
        <a:lstStyle/>
        <a:p>
          <a:endParaRPr lang="en-US"/>
        </a:p>
      </dgm:t>
    </dgm:pt>
    <dgm:pt modelId="{9EFBC27B-9187-484D-AD98-003F107DD10F}">
      <dgm:prSet/>
      <dgm:spPr/>
      <dgm:t>
        <a:bodyPr/>
        <a:lstStyle/>
        <a:p>
          <a:pPr rtl="0"/>
          <a:r>
            <a:rPr lang="en-US" dirty="0" smtClean="0"/>
            <a:t>Describes the data contained in the body with sufficient detail that the receiving user agent can pick an appropriate agent or mechanism to represent the data to the user or otherwise deal with the data in an appropriate manner</a:t>
          </a:r>
          <a:endParaRPr lang="en-US" dirty="0"/>
        </a:p>
      </dgm:t>
    </dgm:pt>
    <dgm:pt modelId="{625F119B-BFD1-F543-B281-1D322E011FB3}" type="parTrans" cxnId="{4A2F6DC5-D150-1048-AE28-1FF498F06545}">
      <dgm:prSet/>
      <dgm:spPr/>
      <dgm:t>
        <a:bodyPr/>
        <a:lstStyle/>
        <a:p>
          <a:endParaRPr lang="en-US"/>
        </a:p>
      </dgm:t>
    </dgm:pt>
    <dgm:pt modelId="{105A3B14-4266-A84D-A904-71E74119EB9C}" type="sibTrans" cxnId="{4A2F6DC5-D150-1048-AE28-1FF498F06545}">
      <dgm:prSet/>
      <dgm:spPr/>
      <dgm:t>
        <a:bodyPr/>
        <a:lstStyle/>
        <a:p>
          <a:endParaRPr lang="en-US"/>
        </a:p>
      </dgm:t>
    </dgm:pt>
    <dgm:pt modelId="{2C9CC854-3F87-254F-A2B1-29161529ADF1}">
      <dgm:prSet/>
      <dgm:spPr/>
      <dgm:t>
        <a:bodyPr/>
        <a:lstStyle/>
        <a:p>
          <a:pPr rtl="0"/>
          <a:r>
            <a:rPr lang="en-US" dirty="0" smtClean="0"/>
            <a:t>Content-Transfer-Encoding</a:t>
          </a:r>
          <a:endParaRPr lang="en-US" dirty="0"/>
        </a:p>
      </dgm:t>
    </dgm:pt>
    <dgm:pt modelId="{37A459E1-3DFD-484E-A449-6ACB53A26CC2}" type="parTrans" cxnId="{F6EE9D8A-6F99-E049-ABEB-5EA5B04B5184}">
      <dgm:prSet/>
      <dgm:spPr/>
      <dgm:t>
        <a:bodyPr/>
        <a:lstStyle/>
        <a:p>
          <a:endParaRPr lang="en-US"/>
        </a:p>
      </dgm:t>
    </dgm:pt>
    <dgm:pt modelId="{97FE1EB6-3554-394B-B19F-2EB818A7E00F}" type="sibTrans" cxnId="{F6EE9D8A-6F99-E049-ABEB-5EA5B04B5184}">
      <dgm:prSet/>
      <dgm:spPr/>
      <dgm:t>
        <a:bodyPr/>
        <a:lstStyle/>
        <a:p>
          <a:endParaRPr lang="en-US"/>
        </a:p>
      </dgm:t>
    </dgm:pt>
    <dgm:pt modelId="{C0493049-879C-7048-81E3-E88D8A386435}">
      <dgm:prSet/>
      <dgm:spPr/>
      <dgm:t>
        <a:bodyPr/>
        <a:lstStyle/>
        <a:p>
          <a:pPr rtl="0"/>
          <a:r>
            <a:rPr lang="en-US" dirty="0" smtClean="0"/>
            <a:t>Indicates the type of transformation that has been used to represent the body of the message in a way that is acceptable for mail transport</a:t>
          </a:r>
          <a:endParaRPr lang="en-US" dirty="0"/>
        </a:p>
      </dgm:t>
    </dgm:pt>
    <dgm:pt modelId="{8858A644-7071-C74C-A99E-CCE8AB40A547}" type="parTrans" cxnId="{40DC9E8D-B94C-0948-AD4A-5CF5278F6F75}">
      <dgm:prSet/>
      <dgm:spPr/>
      <dgm:t>
        <a:bodyPr/>
        <a:lstStyle/>
        <a:p>
          <a:endParaRPr lang="en-US"/>
        </a:p>
      </dgm:t>
    </dgm:pt>
    <dgm:pt modelId="{4CF35CDC-BA3B-8F45-BB5B-0536A3C176F2}" type="sibTrans" cxnId="{40DC9E8D-B94C-0948-AD4A-5CF5278F6F75}">
      <dgm:prSet/>
      <dgm:spPr/>
      <dgm:t>
        <a:bodyPr/>
        <a:lstStyle/>
        <a:p>
          <a:endParaRPr lang="en-US"/>
        </a:p>
      </dgm:t>
    </dgm:pt>
    <dgm:pt modelId="{87FBB302-2DE2-1C42-85BA-409AF46FD45E}">
      <dgm:prSet/>
      <dgm:spPr/>
      <dgm:t>
        <a:bodyPr/>
        <a:lstStyle/>
        <a:p>
          <a:pPr rtl="0"/>
          <a:r>
            <a:rPr lang="en-US" dirty="0" smtClean="0"/>
            <a:t>Content-ID</a:t>
          </a:r>
          <a:endParaRPr lang="en-US" dirty="0"/>
        </a:p>
      </dgm:t>
    </dgm:pt>
    <dgm:pt modelId="{B1DDF52A-03C2-ED42-BCB4-B84B7D2B9F2C}" type="parTrans" cxnId="{C684D08E-BF39-C646-8A0B-05126313DA0B}">
      <dgm:prSet/>
      <dgm:spPr/>
      <dgm:t>
        <a:bodyPr/>
        <a:lstStyle/>
        <a:p>
          <a:endParaRPr lang="en-US"/>
        </a:p>
      </dgm:t>
    </dgm:pt>
    <dgm:pt modelId="{81CC6E2D-C9C7-CC49-94DF-7BCBF745FD8D}" type="sibTrans" cxnId="{C684D08E-BF39-C646-8A0B-05126313DA0B}">
      <dgm:prSet/>
      <dgm:spPr/>
      <dgm:t>
        <a:bodyPr/>
        <a:lstStyle/>
        <a:p>
          <a:endParaRPr lang="en-US"/>
        </a:p>
      </dgm:t>
    </dgm:pt>
    <dgm:pt modelId="{E2C2B88E-C365-1342-A70B-E66784EEBADA}">
      <dgm:prSet/>
      <dgm:spPr/>
      <dgm:t>
        <a:bodyPr/>
        <a:lstStyle/>
        <a:p>
          <a:pPr rtl="0"/>
          <a:r>
            <a:rPr lang="en-US" dirty="0" smtClean="0"/>
            <a:t>Used to identify MIME entities uniquely in multiple contexts</a:t>
          </a:r>
          <a:endParaRPr lang="en-US" dirty="0"/>
        </a:p>
      </dgm:t>
    </dgm:pt>
    <dgm:pt modelId="{0C65C72B-4B61-A94E-BDEC-BFF0D37E59FA}" type="parTrans" cxnId="{669D4825-009B-E74C-A02E-BA0A0CBB9F58}">
      <dgm:prSet/>
      <dgm:spPr/>
      <dgm:t>
        <a:bodyPr/>
        <a:lstStyle/>
        <a:p>
          <a:endParaRPr lang="en-US"/>
        </a:p>
      </dgm:t>
    </dgm:pt>
    <dgm:pt modelId="{6141C23A-9D80-B74C-B097-1398C10B4B73}" type="sibTrans" cxnId="{669D4825-009B-E74C-A02E-BA0A0CBB9F58}">
      <dgm:prSet/>
      <dgm:spPr/>
      <dgm:t>
        <a:bodyPr/>
        <a:lstStyle/>
        <a:p>
          <a:endParaRPr lang="en-US"/>
        </a:p>
      </dgm:t>
    </dgm:pt>
    <dgm:pt modelId="{DD51DDBF-23E0-B343-B9F6-E49D54C489B5}">
      <dgm:prSet/>
      <dgm:spPr/>
      <dgm:t>
        <a:bodyPr/>
        <a:lstStyle/>
        <a:p>
          <a:pPr rtl="0"/>
          <a:r>
            <a:rPr lang="en-US" dirty="0" smtClean="0"/>
            <a:t>Content-Description</a:t>
          </a:r>
          <a:endParaRPr lang="en-US" dirty="0"/>
        </a:p>
      </dgm:t>
    </dgm:pt>
    <dgm:pt modelId="{A9DB291B-5DDE-7A4E-8BC2-0322A79053D8}" type="parTrans" cxnId="{3DE04106-F15A-5A4E-ACE9-78D6C34928B6}">
      <dgm:prSet/>
      <dgm:spPr/>
      <dgm:t>
        <a:bodyPr/>
        <a:lstStyle/>
        <a:p>
          <a:endParaRPr lang="en-US"/>
        </a:p>
      </dgm:t>
    </dgm:pt>
    <dgm:pt modelId="{D77F60C8-BFE7-E44C-9DCE-ADD797F2CB9E}" type="sibTrans" cxnId="{3DE04106-F15A-5A4E-ACE9-78D6C34928B6}">
      <dgm:prSet/>
      <dgm:spPr/>
      <dgm:t>
        <a:bodyPr/>
        <a:lstStyle/>
        <a:p>
          <a:endParaRPr lang="en-US"/>
        </a:p>
      </dgm:t>
    </dgm:pt>
    <dgm:pt modelId="{F83775D9-231C-DC44-A2D0-E6F9CB883F69}">
      <dgm:prSet/>
      <dgm:spPr/>
      <dgm:t>
        <a:bodyPr/>
        <a:lstStyle/>
        <a:p>
          <a:pPr rtl="0"/>
          <a:r>
            <a:rPr lang="en-US" dirty="0" smtClean="0"/>
            <a:t>A text description of the object with the body;  this is useful when the object is not readable</a:t>
          </a:r>
          <a:endParaRPr lang="en-US" dirty="0"/>
        </a:p>
      </dgm:t>
    </dgm:pt>
    <dgm:pt modelId="{84E1DDA8-5A62-1C4D-9143-A7763DC0FB31}" type="parTrans" cxnId="{8B2D44C8-F569-2C40-8369-F5381957DF24}">
      <dgm:prSet/>
      <dgm:spPr/>
      <dgm:t>
        <a:bodyPr/>
        <a:lstStyle/>
        <a:p>
          <a:endParaRPr lang="en-US"/>
        </a:p>
      </dgm:t>
    </dgm:pt>
    <dgm:pt modelId="{19B7166B-0324-224D-82E1-FB4C4C32A8F2}" type="sibTrans" cxnId="{8B2D44C8-F569-2C40-8369-F5381957DF24}">
      <dgm:prSet/>
      <dgm:spPr/>
      <dgm:t>
        <a:bodyPr/>
        <a:lstStyle/>
        <a:p>
          <a:endParaRPr lang="en-US"/>
        </a:p>
      </dgm:t>
    </dgm:pt>
    <dgm:pt modelId="{44878D81-C104-7847-9BF0-A7694467A921}" type="pres">
      <dgm:prSet presAssocID="{30F91678-A966-014A-AFE3-F3D065DF6BCC}" presName="linear" presStyleCnt="0">
        <dgm:presLayoutVars>
          <dgm:dir/>
          <dgm:animLvl val="lvl"/>
          <dgm:resizeHandles val="exact"/>
        </dgm:presLayoutVars>
      </dgm:prSet>
      <dgm:spPr/>
      <dgm:t>
        <a:bodyPr/>
        <a:lstStyle/>
        <a:p>
          <a:endParaRPr lang="en-US"/>
        </a:p>
      </dgm:t>
    </dgm:pt>
    <dgm:pt modelId="{F4B8651E-3ED3-9E48-B1B8-A623EDC3BE28}" type="pres">
      <dgm:prSet presAssocID="{A51A051B-B444-5C4D-ACCD-2A20DD4E2424}" presName="parentLin" presStyleCnt="0"/>
      <dgm:spPr/>
    </dgm:pt>
    <dgm:pt modelId="{48EC8570-AC82-C646-A9E0-D97EA89C7C19}" type="pres">
      <dgm:prSet presAssocID="{A51A051B-B444-5C4D-ACCD-2A20DD4E2424}" presName="parentLeftMargin" presStyleLbl="node1" presStyleIdx="0" presStyleCnt="5"/>
      <dgm:spPr/>
      <dgm:t>
        <a:bodyPr/>
        <a:lstStyle/>
        <a:p>
          <a:endParaRPr lang="en-US"/>
        </a:p>
      </dgm:t>
    </dgm:pt>
    <dgm:pt modelId="{F3CA23DE-DCA7-8A4B-85EC-47D5EDFB354E}" type="pres">
      <dgm:prSet presAssocID="{A51A051B-B444-5C4D-ACCD-2A20DD4E2424}" presName="parentText" presStyleLbl="node1" presStyleIdx="0" presStyleCnt="5">
        <dgm:presLayoutVars>
          <dgm:chMax val="0"/>
          <dgm:bulletEnabled val="1"/>
        </dgm:presLayoutVars>
      </dgm:prSet>
      <dgm:spPr/>
      <dgm:t>
        <a:bodyPr/>
        <a:lstStyle/>
        <a:p>
          <a:endParaRPr lang="en-US"/>
        </a:p>
      </dgm:t>
    </dgm:pt>
    <dgm:pt modelId="{BEBA6324-3904-494E-BF0D-E5725ED52E91}" type="pres">
      <dgm:prSet presAssocID="{A51A051B-B444-5C4D-ACCD-2A20DD4E2424}" presName="negativeSpace" presStyleCnt="0"/>
      <dgm:spPr/>
    </dgm:pt>
    <dgm:pt modelId="{E470F2D5-B98B-CE44-9C25-1EFDE028763E}" type="pres">
      <dgm:prSet presAssocID="{A51A051B-B444-5C4D-ACCD-2A20DD4E2424}" presName="childText" presStyleLbl="conFgAcc1" presStyleIdx="0" presStyleCnt="5">
        <dgm:presLayoutVars>
          <dgm:bulletEnabled val="1"/>
        </dgm:presLayoutVars>
      </dgm:prSet>
      <dgm:spPr/>
      <dgm:t>
        <a:bodyPr/>
        <a:lstStyle/>
        <a:p>
          <a:endParaRPr lang="en-US"/>
        </a:p>
      </dgm:t>
    </dgm:pt>
    <dgm:pt modelId="{07AFA613-A516-8C45-AA10-C38E404E4015}" type="pres">
      <dgm:prSet presAssocID="{AFE95660-BFD2-F744-96FE-FACB8D9DE7B5}" presName="spaceBetweenRectangles" presStyleCnt="0"/>
      <dgm:spPr/>
    </dgm:pt>
    <dgm:pt modelId="{77BBCC61-96F6-9E40-8EC8-3B69EDB77954}" type="pres">
      <dgm:prSet presAssocID="{80DC049B-7FD5-3045-83DD-F1080B16A5FD}" presName="parentLin" presStyleCnt="0"/>
      <dgm:spPr/>
    </dgm:pt>
    <dgm:pt modelId="{7A72E58F-7E0B-3B4F-92FC-54A2C6DAC1B5}" type="pres">
      <dgm:prSet presAssocID="{80DC049B-7FD5-3045-83DD-F1080B16A5FD}" presName="parentLeftMargin" presStyleLbl="node1" presStyleIdx="0" presStyleCnt="5"/>
      <dgm:spPr/>
      <dgm:t>
        <a:bodyPr/>
        <a:lstStyle/>
        <a:p>
          <a:endParaRPr lang="en-US"/>
        </a:p>
      </dgm:t>
    </dgm:pt>
    <dgm:pt modelId="{9D394F1D-EBFB-3948-A773-BA9E32EB8A2D}" type="pres">
      <dgm:prSet presAssocID="{80DC049B-7FD5-3045-83DD-F1080B16A5FD}" presName="parentText" presStyleLbl="node1" presStyleIdx="1" presStyleCnt="5">
        <dgm:presLayoutVars>
          <dgm:chMax val="0"/>
          <dgm:bulletEnabled val="1"/>
        </dgm:presLayoutVars>
      </dgm:prSet>
      <dgm:spPr/>
      <dgm:t>
        <a:bodyPr/>
        <a:lstStyle/>
        <a:p>
          <a:endParaRPr lang="en-US"/>
        </a:p>
      </dgm:t>
    </dgm:pt>
    <dgm:pt modelId="{F2E2BA8F-51B0-3E4B-8E2C-566ECF10426F}" type="pres">
      <dgm:prSet presAssocID="{80DC049B-7FD5-3045-83DD-F1080B16A5FD}" presName="negativeSpace" presStyleCnt="0"/>
      <dgm:spPr/>
    </dgm:pt>
    <dgm:pt modelId="{E8BFF411-F451-A341-8D87-49C77FF491D5}" type="pres">
      <dgm:prSet presAssocID="{80DC049B-7FD5-3045-83DD-F1080B16A5FD}" presName="childText" presStyleLbl="conFgAcc1" presStyleIdx="1" presStyleCnt="5">
        <dgm:presLayoutVars>
          <dgm:bulletEnabled val="1"/>
        </dgm:presLayoutVars>
      </dgm:prSet>
      <dgm:spPr/>
      <dgm:t>
        <a:bodyPr/>
        <a:lstStyle/>
        <a:p>
          <a:endParaRPr lang="en-US"/>
        </a:p>
      </dgm:t>
    </dgm:pt>
    <dgm:pt modelId="{94545572-E2D1-A840-B151-EEDCC1725653}" type="pres">
      <dgm:prSet presAssocID="{90A38F66-0514-6B40-9287-C28DD9752DA8}" presName="spaceBetweenRectangles" presStyleCnt="0"/>
      <dgm:spPr/>
    </dgm:pt>
    <dgm:pt modelId="{7C5669DA-8D78-D443-B89E-7342304866EA}" type="pres">
      <dgm:prSet presAssocID="{2C9CC854-3F87-254F-A2B1-29161529ADF1}" presName="parentLin" presStyleCnt="0"/>
      <dgm:spPr/>
    </dgm:pt>
    <dgm:pt modelId="{DDFB5F5A-0D30-3348-ADC5-C650D90FEE0B}" type="pres">
      <dgm:prSet presAssocID="{2C9CC854-3F87-254F-A2B1-29161529ADF1}" presName="parentLeftMargin" presStyleLbl="node1" presStyleIdx="1" presStyleCnt="5"/>
      <dgm:spPr/>
      <dgm:t>
        <a:bodyPr/>
        <a:lstStyle/>
        <a:p>
          <a:endParaRPr lang="en-US"/>
        </a:p>
      </dgm:t>
    </dgm:pt>
    <dgm:pt modelId="{68DCEE62-EEE0-0F46-AD28-366444FAC71E}" type="pres">
      <dgm:prSet presAssocID="{2C9CC854-3F87-254F-A2B1-29161529ADF1}" presName="parentText" presStyleLbl="node1" presStyleIdx="2" presStyleCnt="5">
        <dgm:presLayoutVars>
          <dgm:chMax val="0"/>
          <dgm:bulletEnabled val="1"/>
        </dgm:presLayoutVars>
      </dgm:prSet>
      <dgm:spPr/>
      <dgm:t>
        <a:bodyPr/>
        <a:lstStyle/>
        <a:p>
          <a:endParaRPr lang="en-US"/>
        </a:p>
      </dgm:t>
    </dgm:pt>
    <dgm:pt modelId="{7059B93F-5854-4C42-8C9A-467A138CFD2E}" type="pres">
      <dgm:prSet presAssocID="{2C9CC854-3F87-254F-A2B1-29161529ADF1}" presName="negativeSpace" presStyleCnt="0"/>
      <dgm:spPr/>
    </dgm:pt>
    <dgm:pt modelId="{65D12871-84DA-1740-9B7A-B977929B67B0}" type="pres">
      <dgm:prSet presAssocID="{2C9CC854-3F87-254F-A2B1-29161529ADF1}" presName="childText" presStyleLbl="conFgAcc1" presStyleIdx="2" presStyleCnt="5">
        <dgm:presLayoutVars>
          <dgm:bulletEnabled val="1"/>
        </dgm:presLayoutVars>
      </dgm:prSet>
      <dgm:spPr/>
      <dgm:t>
        <a:bodyPr/>
        <a:lstStyle/>
        <a:p>
          <a:endParaRPr lang="en-US"/>
        </a:p>
      </dgm:t>
    </dgm:pt>
    <dgm:pt modelId="{AAE1D0A2-4608-7B49-9996-B99BA586799F}" type="pres">
      <dgm:prSet presAssocID="{97FE1EB6-3554-394B-B19F-2EB818A7E00F}" presName="spaceBetweenRectangles" presStyleCnt="0"/>
      <dgm:spPr/>
    </dgm:pt>
    <dgm:pt modelId="{D0A6A33C-6FDB-514D-9133-1415707A85ED}" type="pres">
      <dgm:prSet presAssocID="{87FBB302-2DE2-1C42-85BA-409AF46FD45E}" presName="parentLin" presStyleCnt="0"/>
      <dgm:spPr/>
    </dgm:pt>
    <dgm:pt modelId="{038E828F-39A9-A443-9762-F6918CB067F8}" type="pres">
      <dgm:prSet presAssocID="{87FBB302-2DE2-1C42-85BA-409AF46FD45E}" presName="parentLeftMargin" presStyleLbl="node1" presStyleIdx="2" presStyleCnt="5"/>
      <dgm:spPr/>
      <dgm:t>
        <a:bodyPr/>
        <a:lstStyle/>
        <a:p>
          <a:endParaRPr lang="en-US"/>
        </a:p>
      </dgm:t>
    </dgm:pt>
    <dgm:pt modelId="{55DCFBF2-A92B-2D49-8E14-712808571A32}" type="pres">
      <dgm:prSet presAssocID="{87FBB302-2DE2-1C42-85BA-409AF46FD45E}" presName="parentText" presStyleLbl="node1" presStyleIdx="3" presStyleCnt="5">
        <dgm:presLayoutVars>
          <dgm:chMax val="0"/>
          <dgm:bulletEnabled val="1"/>
        </dgm:presLayoutVars>
      </dgm:prSet>
      <dgm:spPr/>
      <dgm:t>
        <a:bodyPr/>
        <a:lstStyle/>
        <a:p>
          <a:endParaRPr lang="en-US"/>
        </a:p>
      </dgm:t>
    </dgm:pt>
    <dgm:pt modelId="{A77513AA-EE86-B049-9B6A-4E4DB9D9E803}" type="pres">
      <dgm:prSet presAssocID="{87FBB302-2DE2-1C42-85BA-409AF46FD45E}" presName="negativeSpace" presStyleCnt="0"/>
      <dgm:spPr/>
    </dgm:pt>
    <dgm:pt modelId="{ECB79F2C-3DB5-E846-95BD-E5064A03373D}" type="pres">
      <dgm:prSet presAssocID="{87FBB302-2DE2-1C42-85BA-409AF46FD45E}" presName="childText" presStyleLbl="conFgAcc1" presStyleIdx="3" presStyleCnt="5">
        <dgm:presLayoutVars>
          <dgm:bulletEnabled val="1"/>
        </dgm:presLayoutVars>
      </dgm:prSet>
      <dgm:spPr/>
      <dgm:t>
        <a:bodyPr/>
        <a:lstStyle/>
        <a:p>
          <a:endParaRPr lang="en-US"/>
        </a:p>
      </dgm:t>
    </dgm:pt>
    <dgm:pt modelId="{D6F7455C-C119-D043-B764-574835ECAF8D}" type="pres">
      <dgm:prSet presAssocID="{81CC6E2D-C9C7-CC49-94DF-7BCBF745FD8D}" presName="spaceBetweenRectangles" presStyleCnt="0"/>
      <dgm:spPr/>
    </dgm:pt>
    <dgm:pt modelId="{FA8C67F0-3B9A-5B40-9805-AAF40D878D9B}" type="pres">
      <dgm:prSet presAssocID="{DD51DDBF-23E0-B343-B9F6-E49D54C489B5}" presName="parentLin" presStyleCnt="0"/>
      <dgm:spPr/>
    </dgm:pt>
    <dgm:pt modelId="{9BA1CC4F-1DE9-8A4E-BF58-26CF6DB397FE}" type="pres">
      <dgm:prSet presAssocID="{DD51DDBF-23E0-B343-B9F6-E49D54C489B5}" presName="parentLeftMargin" presStyleLbl="node1" presStyleIdx="3" presStyleCnt="5"/>
      <dgm:spPr/>
      <dgm:t>
        <a:bodyPr/>
        <a:lstStyle/>
        <a:p>
          <a:endParaRPr lang="en-US"/>
        </a:p>
      </dgm:t>
    </dgm:pt>
    <dgm:pt modelId="{AFA02130-531F-2541-A40D-4D4C90AABF70}" type="pres">
      <dgm:prSet presAssocID="{DD51DDBF-23E0-B343-B9F6-E49D54C489B5}" presName="parentText" presStyleLbl="node1" presStyleIdx="4" presStyleCnt="5">
        <dgm:presLayoutVars>
          <dgm:chMax val="0"/>
          <dgm:bulletEnabled val="1"/>
        </dgm:presLayoutVars>
      </dgm:prSet>
      <dgm:spPr/>
      <dgm:t>
        <a:bodyPr/>
        <a:lstStyle/>
        <a:p>
          <a:endParaRPr lang="en-US"/>
        </a:p>
      </dgm:t>
    </dgm:pt>
    <dgm:pt modelId="{C9C57EDF-A407-A54D-A20A-ADB613F35F8F}" type="pres">
      <dgm:prSet presAssocID="{DD51DDBF-23E0-B343-B9F6-E49D54C489B5}" presName="negativeSpace" presStyleCnt="0"/>
      <dgm:spPr/>
    </dgm:pt>
    <dgm:pt modelId="{7052E4C0-0365-DF4E-996C-A00169E89A13}" type="pres">
      <dgm:prSet presAssocID="{DD51DDBF-23E0-B343-B9F6-E49D54C489B5}" presName="childText" presStyleLbl="conFgAcc1" presStyleIdx="4" presStyleCnt="5">
        <dgm:presLayoutVars>
          <dgm:bulletEnabled val="1"/>
        </dgm:presLayoutVars>
      </dgm:prSet>
      <dgm:spPr/>
      <dgm:t>
        <a:bodyPr/>
        <a:lstStyle/>
        <a:p>
          <a:endParaRPr lang="en-US"/>
        </a:p>
      </dgm:t>
    </dgm:pt>
  </dgm:ptLst>
  <dgm:cxnLst>
    <dgm:cxn modelId="{CCB8DB88-B870-6940-87F7-34B806C52D11}" type="presOf" srcId="{9EFBC27B-9187-484D-AD98-003F107DD10F}" destId="{E8BFF411-F451-A341-8D87-49C77FF491D5}" srcOrd="0" destOrd="0" presId="urn:microsoft.com/office/officeart/2005/8/layout/list1"/>
    <dgm:cxn modelId="{6DC5843C-F893-554C-B497-EE783C6D42AA}" srcId="{30F91678-A966-014A-AFE3-F3D065DF6BCC}" destId="{80DC049B-7FD5-3045-83DD-F1080B16A5FD}" srcOrd="1" destOrd="0" parTransId="{8DB4D05B-BD93-564D-BC96-D04C53A8B166}" sibTransId="{90A38F66-0514-6B40-9287-C28DD9752DA8}"/>
    <dgm:cxn modelId="{C4A48707-8581-1C4D-9EBD-DAACA4B007DB}" type="presOf" srcId="{F83775D9-231C-DC44-A2D0-E6F9CB883F69}" destId="{7052E4C0-0365-DF4E-996C-A00169E89A13}" srcOrd="0" destOrd="0" presId="urn:microsoft.com/office/officeart/2005/8/layout/list1"/>
    <dgm:cxn modelId="{F6EE9D8A-6F99-E049-ABEB-5EA5B04B5184}" srcId="{30F91678-A966-014A-AFE3-F3D065DF6BCC}" destId="{2C9CC854-3F87-254F-A2B1-29161529ADF1}" srcOrd="2" destOrd="0" parTransId="{37A459E1-3DFD-484E-A449-6ACB53A26CC2}" sibTransId="{97FE1EB6-3554-394B-B19F-2EB818A7E00F}"/>
    <dgm:cxn modelId="{C0827931-ADBE-7542-8773-310152EBA1A4}" srcId="{30F91678-A966-014A-AFE3-F3D065DF6BCC}" destId="{A51A051B-B444-5C4D-ACCD-2A20DD4E2424}" srcOrd="0" destOrd="0" parTransId="{8776F8E4-929F-EE4F-9587-AEED3A3789FB}" sibTransId="{AFE95660-BFD2-F744-96FE-FACB8D9DE7B5}"/>
    <dgm:cxn modelId="{F2C92BFD-CA97-E448-A5A9-17018E0B7156}" type="presOf" srcId="{87FBB302-2DE2-1C42-85BA-409AF46FD45E}" destId="{038E828F-39A9-A443-9762-F6918CB067F8}" srcOrd="0" destOrd="0" presId="urn:microsoft.com/office/officeart/2005/8/layout/list1"/>
    <dgm:cxn modelId="{90173BE2-1E04-1745-A40A-D7E2A549B1A9}" srcId="{A51A051B-B444-5C4D-ACCD-2A20DD4E2424}" destId="{A64C4E49-A0FB-9E44-BB1D-A5CD8B1AE6EB}" srcOrd="1" destOrd="0" parTransId="{57DBDDC1-3B17-8C40-AD8C-CFBA8BF28BF9}" sibTransId="{6413D08D-EA4A-764A-A87F-1337495A5A65}"/>
    <dgm:cxn modelId="{E90FDAC7-F9EB-8A48-9620-B3966DA28D8D}" type="presOf" srcId="{DD51DDBF-23E0-B343-B9F6-E49D54C489B5}" destId="{AFA02130-531F-2541-A40D-4D4C90AABF70}" srcOrd="1" destOrd="0" presId="urn:microsoft.com/office/officeart/2005/8/layout/list1"/>
    <dgm:cxn modelId="{A759D90D-317E-164E-98C4-77A98472F801}" type="presOf" srcId="{30F91678-A966-014A-AFE3-F3D065DF6BCC}" destId="{44878D81-C104-7847-9BF0-A7694467A921}" srcOrd="0" destOrd="0" presId="urn:microsoft.com/office/officeart/2005/8/layout/list1"/>
    <dgm:cxn modelId="{13F08BDF-93E0-9E42-830B-D8B6BF0DDCC1}" srcId="{A51A051B-B444-5C4D-ACCD-2A20DD4E2424}" destId="{F31C79FB-85F6-7C43-A794-B3F4DDE05DF4}" srcOrd="0" destOrd="0" parTransId="{04C8D68A-9CCD-764A-A3BF-7BFD50312E9D}" sibTransId="{D72DE6BB-3CE9-7D4F-9D78-1B2E4F7DD480}"/>
    <dgm:cxn modelId="{C684D08E-BF39-C646-8A0B-05126313DA0B}" srcId="{30F91678-A966-014A-AFE3-F3D065DF6BCC}" destId="{87FBB302-2DE2-1C42-85BA-409AF46FD45E}" srcOrd="3" destOrd="0" parTransId="{B1DDF52A-03C2-ED42-BCB4-B84B7D2B9F2C}" sibTransId="{81CC6E2D-C9C7-CC49-94DF-7BCBF745FD8D}"/>
    <dgm:cxn modelId="{14082052-3E40-1345-8038-8B186E992241}" type="presOf" srcId="{A51A051B-B444-5C4D-ACCD-2A20DD4E2424}" destId="{48EC8570-AC82-C646-A9E0-D97EA89C7C19}" srcOrd="0" destOrd="0" presId="urn:microsoft.com/office/officeart/2005/8/layout/list1"/>
    <dgm:cxn modelId="{40DC9E8D-B94C-0948-AD4A-5CF5278F6F75}" srcId="{2C9CC854-3F87-254F-A2B1-29161529ADF1}" destId="{C0493049-879C-7048-81E3-E88D8A386435}" srcOrd="0" destOrd="0" parTransId="{8858A644-7071-C74C-A99E-CCE8AB40A547}" sibTransId="{4CF35CDC-BA3B-8F45-BB5B-0536A3C176F2}"/>
    <dgm:cxn modelId="{B6FFD0F8-0EB9-D248-ABA7-7CDC25C9A2D4}" type="presOf" srcId="{C0493049-879C-7048-81E3-E88D8A386435}" destId="{65D12871-84DA-1740-9B7A-B977929B67B0}" srcOrd="0" destOrd="0" presId="urn:microsoft.com/office/officeart/2005/8/layout/list1"/>
    <dgm:cxn modelId="{5E66C46A-AB7C-BD4E-96B3-F6AC9FD9046D}" type="presOf" srcId="{87FBB302-2DE2-1C42-85BA-409AF46FD45E}" destId="{55DCFBF2-A92B-2D49-8E14-712808571A32}" srcOrd="1" destOrd="0" presId="urn:microsoft.com/office/officeart/2005/8/layout/list1"/>
    <dgm:cxn modelId="{1695B39D-2E8D-A146-8D71-704D8B9FE405}" type="presOf" srcId="{80DC049B-7FD5-3045-83DD-F1080B16A5FD}" destId="{7A72E58F-7E0B-3B4F-92FC-54A2C6DAC1B5}" srcOrd="0" destOrd="0" presId="urn:microsoft.com/office/officeart/2005/8/layout/list1"/>
    <dgm:cxn modelId="{67AB5889-852C-3244-98D1-0929EB14A4A1}" type="presOf" srcId="{2C9CC854-3F87-254F-A2B1-29161529ADF1}" destId="{DDFB5F5A-0D30-3348-ADC5-C650D90FEE0B}" srcOrd="0" destOrd="0" presId="urn:microsoft.com/office/officeart/2005/8/layout/list1"/>
    <dgm:cxn modelId="{62CCDD21-5E09-0E46-9940-6370791F1756}" type="presOf" srcId="{F31C79FB-85F6-7C43-A794-B3F4DDE05DF4}" destId="{E470F2D5-B98B-CE44-9C25-1EFDE028763E}" srcOrd="0" destOrd="0" presId="urn:microsoft.com/office/officeart/2005/8/layout/list1"/>
    <dgm:cxn modelId="{33776D2D-9848-6B4C-B2B5-1FAF05D93380}" type="presOf" srcId="{DD51DDBF-23E0-B343-B9F6-E49D54C489B5}" destId="{9BA1CC4F-1DE9-8A4E-BF58-26CF6DB397FE}" srcOrd="0" destOrd="0" presId="urn:microsoft.com/office/officeart/2005/8/layout/list1"/>
    <dgm:cxn modelId="{15626D39-85E8-A147-86B7-92354FC85396}" type="presOf" srcId="{E2C2B88E-C365-1342-A70B-E66784EEBADA}" destId="{ECB79F2C-3DB5-E846-95BD-E5064A03373D}" srcOrd="0" destOrd="0" presId="urn:microsoft.com/office/officeart/2005/8/layout/list1"/>
    <dgm:cxn modelId="{7F357E53-2443-ED46-A113-E86ABB517A75}" type="presOf" srcId="{A64C4E49-A0FB-9E44-BB1D-A5CD8B1AE6EB}" destId="{E470F2D5-B98B-CE44-9C25-1EFDE028763E}" srcOrd="0" destOrd="1" presId="urn:microsoft.com/office/officeart/2005/8/layout/list1"/>
    <dgm:cxn modelId="{3E82B6AF-F560-F34C-8C28-3DDAE239C12D}" type="presOf" srcId="{80DC049B-7FD5-3045-83DD-F1080B16A5FD}" destId="{9D394F1D-EBFB-3948-A773-BA9E32EB8A2D}" srcOrd="1" destOrd="0" presId="urn:microsoft.com/office/officeart/2005/8/layout/list1"/>
    <dgm:cxn modelId="{4A2F6DC5-D150-1048-AE28-1FF498F06545}" srcId="{80DC049B-7FD5-3045-83DD-F1080B16A5FD}" destId="{9EFBC27B-9187-484D-AD98-003F107DD10F}" srcOrd="0" destOrd="0" parTransId="{625F119B-BFD1-F543-B281-1D322E011FB3}" sibTransId="{105A3B14-4266-A84D-A904-71E74119EB9C}"/>
    <dgm:cxn modelId="{940F3D2A-4C4D-894F-A8A1-265D927EDBF9}" type="presOf" srcId="{A51A051B-B444-5C4D-ACCD-2A20DD4E2424}" destId="{F3CA23DE-DCA7-8A4B-85EC-47D5EDFB354E}" srcOrd="1" destOrd="0" presId="urn:microsoft.com/office/officeart/2005/8/layout/list1"/>
    <dgm:cxn modelId="{669D4825-009B-E74C-A02E-BA0A0CBB9F58}" srcId="{87FBB302-2DE2-1C42-85BA-409AF46FD45E}" destId="{E2C2B88E-C365-1342-A70B-E66784EEBADA}" srcOrd="0" destOrd="0" parTransId="{0C65C72B-4B61-A94E-BDEC-BFF0D37E59FA}" sibTransId="{6141C23A-9D80-B74C-B097-1398C10B4B73}"/>
    <dgm:cxn modelId="{3DE04106-F15A-5A4E-ACE9-78D6C34928B6}" srcId="{30F91678-A966-014A-AFE3-F3D065DF6BCC}" destId="{DD51DDBF-23E0-B343-B9F6-E49D54C489B5}" srcOrd="4" destOrd="0" parTransId="{A9DB291B-5DDE-7A4E-8BC2-0322A79053D8}" sibTransId="{D77F60C8-BFE7-E44C-9DCE-ADD797F2CB9E}"/>
    <dgm:cxn modelId="{A208E876-1735-2946-8D6F-DDCC85968089}" type="presOf" srcId="{2C9CC854-3F87-254F-A2B1-29161529ADF1}" destId="{68DCEE62-EEE0-0F46-AD28-366444FAC71E}" srcOrd="1" destOrd="0" presId="urn:microsoft.com/office/officeart/2005/8/layout/list1"/>
    <dgm:cxn modelId="{8B2D44C8-F569-2C40-8369-F5381957DF24}" srcId="{DD51DDBF-23E0-B343-B9F6-E49D54C489B5}" destId="{F83775D9-231C-DC44-A2D0-E6F9CB883F69}" srcOrd="0" destOrd="0" parTransId="{84E1DDA8-5A62-1C4D-9143-A7763DC0FB31}" sibTransId="{19B7166B-0324-224D-82E1-FB4C4C32A8F2}"/>
    <dgm:cxn modelId="{D677621E-D263-7A48-A196-1D3ECE6B9DAE}" type="presParOf" srcId="{44878D81-C104-7847-9BF0-A7694467A921}" destId="{F4B8651E-3ED3-9E48-B1B8-A623EDC3BE28}" srcOrd="0" destOrd="0" presId="urn:microsoft.com/office/officeart/2005/8/layout/list1"/>
    <dgm:cxn modelId="{38EF0B74-ED39-1C46-966E-EE42517EE3C4}" type="presParOf" srcId="{F4B8651E-3ED3-9E48-B1B8-A623EDC3BE28}" destId="{48EC8570-AC82-C646-A9E0-D97EA89C7C19}" srcOrd="0" destOrd="0" presId="urn:microsoft.com/office/officeart/2005/8/layout/list1"/>
    <dgm:cxn modelId="{3EFE2A9A-D140-374E-9CFD-A1068B72AD2E}" type="presParOf" srcId="{F4B8651E-3ED3-9E48-B1B8-A623EDC3BE28}" destId="{F3CA23DE-DCA7-8A4B-85EC-47D5EDFB354E}" srcOrd="1" destOrd="0" presId="urn:microsoft.com/office/officeart/2005/8/layout/list1"/>
    <dgm:cxn modelId="{BF04533B-49BB-4E48-B5E0-79F32D545D24}" type="presParOf" srcId="{44878D81-C104-7847-9BF0-A7694467A921}" destId="{BEBA6324-3904-494E-BF0D-E5725ED52E91}" srcOrd="1" destOrd="0" presId="urn:microsoft.com/office/officeart/2005/8/layout/list1"/>
    <dgm:cxn modelId="{5BA98400-4DB3-9E4F-A8C9-7BEDEEC73237}" type="presParOf" srcId="{44878D81-C104-7847-9BF0-A7694467A921}" destId="{E470F2D5-B98B-CE44-9C25-1EFDE028763E}" srcOrd="2" destOrd="0" presId="urn:microsoft.com/office/officeart/2005/8/layout/list1"/>
    <dgm:cxn modelId="{B0C31420-F710-C14F-89E3-9F25937BEDA2}" type="presParOf" srcId="{44878D81-C104-7847-9BF0-A7694467A921}" destId="{07AFA613-A516-8C45-AA10-C38E404E4015}" srcOrd="3" destOrd="0" presId="urn:microsoft.com/office/officeart/2005/8/layout/list1"/>
    <dgm:cxn modelId="{60403AF6-A287-9848-B921-89CD85DC57FF}" type="presParOf" srcId="{44878D81-C104-7847-9BF0-A7694467A921}" destId="{77BBCC61-96F6-9E40-8EC8-3B69EDB77954}" srcOrd="4" destOrd="0" presId="urn:microsoft.com/office/officeart/2005/8/layout/list1"/>
    <dgm:cxn modelId="{A06E1FDD-A2CA-1043-BC99-6817A91C02BF}" type="presParOf" srcId="{77BBCC61-96F6-9E40-8EC8-3B69EDB77954}" destId="{7A72E58F-7E0B-3B4F-92FC-54A2C6DAC1B5}" srcOrd="0" destOrd="0" presId="urn:microsoft.com/office/officeart/2005/8/layout/list1"/>
    <dgm:cxn modelId="{89E23CA3-80DD-264C-BC24-898278911D88}" type="presParOf" srcId="{77BBCC61-96F6-9E40-8EC8-3B69EDB77954}" destId="{9D394F1D-EBFB-3948-A773-BA9E32EB8A2D}" srcOrd="1" destOrd="0" presId="urn:microsoft.com/office/officeart/2005/8/layout/list1"/>
    <dgm:cxn modelId="{53F02B89-3600-C049-8465-710BC1DDD8E8}" type="presParOf" srcId="{44878D81-C104-7847-9BF0-A7694467A921}" destId="{F2E2BA8F-51B0-3E4B-8E2C-566ECF10426F}" srcOrd="5" destOrd="0" presId="urn:microsoft.com/office/officeart/2005/8/layout/list1"/>
    <dgm:cxn modelId="{8C9F3A8B-40CF-FF42-940A-48E46BD55C2A}" type="presParOf" srcId="{44878D81-C104-7847-9BF0-A7694467A921}" destId="{E8BFF411-F451-A341-8D87-49C77FF491D5}" srcOrd="6" destOrd="0" presId="urn:microsoft.com/office/officeart/2005/8/layout/list1"/>
    <dgm:cxn modelId="{7EAB7A7B-704E-A14D-BFF6-62A5264EBA38}" type="presParOf" srcId="{44878D81-C104-7847-9BF0-A7694467A921}" destId="{94545572-E2D1-A840-B151-EEDCC1725653}" srcOrd="7" destOrd="0" presId="urn:microsoft.com/office/officeart/2005/8/layout/list1"/>
    <dgm:cxn modelId="{3C91D318-8111-9F41-B9D9-8887CDDE0C55}" type="presParOf" srcId="{44878D81-C104-7847-9BF0-A7694467A921}" destId="{7C5669DA-8D78-D443-B89E-7342304866EA}" srcOrd="8" destOrd="0" presId="urn:microsoft.com/office/officeart/2005/8/layout/list1"/>
    <dgm:cxn modelId="{7A7AFBDE-CBDA-D048-A627-007B5D54B9D5}" type="presParOf" srcId="{7C5669DA-8D78-D443-B89E-7342304866EA}" destId="{DDFB5F5A-0D30-3348-ADC5-C650D90FEE0B}" srcOrd="0" destOrd="0" presId="urn:microsoft.com/office/officeart/2005/8/layout/list1"/>
    <dgm:cxn modelId="{275A3441-F8E2-5547-8253-205DFEF32CE6}" type="presParOf" srcId="{7C5669DA-8D78-D443-B89E-7342304866EA}" destId="{68DCEE62-EEE0-0F46-AD28-366444FAC71E}" srcOrd="1" destOrd="0" presId="urn:microsoft.com/office/officeart/2005/8/layout/list1"/>
    <dgm:cxn modelId="{EC836277-AC2B-1B4E-A29F-3AE41878BCFB}" type="presParOf" srcId="{44878D81-C104-7847-9BF0-A7694467A921}" destId="{7059B93F-5854-4C42-8C9A-467A138CFD2E}" srcOrd="9" destOrd="0" presId="urn:microsoft.com/office/officeart/2005/8/layout/list1"/>
    <dgm:cxn modelId="{C9820705-CC05-CA43-836E-213B11C0D058}" type="presParOf" srcId="{44878D81-C104-7847-9BF0-A7694467A921}" destId="{65D12871-84DA-1740-9B7A-B977929B67B0}" srcOrd="10" destOrd="0" presId="urn:microsoft.com/office/officeart/2005/8/layout/list1"/>
    <dgm:cxn modelId="{291D4B7E-2B66-1944-8EF5-253809759274}" type="presParOf" srcId="{44878D81-C104-7847-9BF0-A7694467A921}" destId="{AAE1D0A2-4608-7B49-9996-B99BA586799F}" srcOrd="11" destOrd="0" presId="urn:microsoft.com/office/officeart/2005/8/layout/list1"/>
    <dgm:cxn modelId="{77ADE4E6-C7F4-3448-B901-57E0C68051AD}" type="presParOf" srcId="{44878D81-C104-7847-9BF0-A7694467A921}" destId="{D0A6A33C-6FDB-514D-9133-1415707A85ED}" srcOrd="12" destOrd="0" presId="urn:microsoft.com/office/officeart/2005/8/layout/list1"/>
    <dgm:cxn modelId="{2BB7D9A7-4D8B-A04A-A59B-7888F4E109F5}" type="presParOf" srcId="{D0A6A33C-6FDB-514D-9133-1415707A85ED}" destId="{038E828F-39A9-A443-9762-F6918CB067F8}" srcOrd="0" destOrd="0" presId="urn:microsoft.com/office/officeart/2005/8/layout/list1"/>
    <dgm:cxn modelId="{6E4BB664-D9D1-C848-98F5-8C78363AFC56}" type="presParOf" srcId="{D0A6A33C-6FDB-514D-9133-1415707A85ED}" destId="{55DCFBF2-A92B-2D49-8E14-712808571A32}" srcOrd="1" destOrd="0" presId="urn:microsoft.com/office/officeart/2005/8/layout/list1"/>
    <dgm:cxn modelId="{52978810-7C48-4845-B7CE-189FCCEF78D4}" type="presParOf" srcId="{44878D81-C104-7847-9BF0-A7694467A921}" destId="{A77513AA-EE86-B049-9B6A-4E4DB9D9E803}" srcOrd="13" destOrd="0" presId="urn:microsoft.com/office/officeart/2005/8/layout/list1"/>
    <dgm:cxn modelId="{175D2C86-D667-6846-B535-C466E5D6149F}" type="presParOf" srcId="{44878D81-C104-7847-9BF0-A7694467A921}" destId="{ECB79F2C-3DB5-E846-95BD-E5064A03373D}" srcOrd="14" destOrd="0" presId="urn:microsoft.com/office/officeart/2005/8/layout/list1"/>
    <dgm:cxn modelId="{8527AF4C-0973-184B-AB29-262F512101C5}" type="presParOf" srcId="{44878D81-C104-7847-9BF0-A7694467A921}" destId="{D6F7455C-C119-D043-B764-574835ECAF8D}" srcOrd="15" destOrd="0" presId="urn:microsoft.com/office/officeart/2005/8/layout/list1"/>
    <dgm:cxn modelId="{BA541C36-3B7F-A74A-9DF8-82EE1775CD0B}" type="presParOf" srcId="{44878D81-C104-7847-9BF0-A7694467A921}" destId="{FA8C67F0-3B9A-5B40-9805-AAF40D878D9B}" srcOrd="16" destOrd="0" presId="urn:microsoft.com/office/officeart/2005/8/layout/list1"/>
    <dgm:cxn modelId="{3A0783DD-7647-F340-8315-5450562B7827}" type="presParOf" srcId="{FA8C67F0-3B9A-5B40-9805-AAF40D878D9B}" destId="{9BA1CC4F-1DE9-8A4E-BF58-26CF6DB397FE}" srcOrd="0" destOrd="0" presId="urn:microsoft.com/office/officeart/2005/8/layout/list1"/>
    <dgm:cxn modelId="{37435FE0-F3C6-6E42-86A0-B294A293A659}" type="presParOf" srcId="{FA8C67F0-3B9A-5B40-9805-AAF40D878D9B}" destId="{AFA02130-531F-2541-A40D-4D4C90AABF70}" srcOrd="1" destOrd="0" presId="urn:microsoft.com/office/officeart/2005/8/layout/list1"/>
    <dgm:cxn modelId="{A4784428-35EB-A94D-A2F8-6CD87439B107}" type="presParOf" srcId="{44878D81-C104-7847-9BF0-A7694467A921}" destId="{C9C57EDF-A407-A54D-A20A-ADB613F35F8F}" srcOrd="17" destOrd="0" presId="urn:microsoft.com/office/officeart/2005/8/layout/list1"/>
    <dgm:cxn modelId="{E7EFF6F6-24A5-B544-AB73-D68577AECED1}" type="presParOf" srcId="{44878D81-C104-7847-9BF0-A7694467A921}" destId="{7052E4C0-0365-DF4E-996C-A00169E89A13}" srcOrd="18" destOrd="0" presId="urn:microsoft.com/office/officeart/2005/8/layout/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605BC7D-6CBA-804E-B2B8-BB24A3D713BA}"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81C5031F-CE83-F54C-AEF4-6D26B304772A}">
      <dgm:prSet phldrT="[Text]" custT="1"/>
      <dgm:spPr/>
      <dgm:t>
        <a:bodyPr/>
        <a:lstStyle/>
        <a:p>
          <a:r>
            <a:rPr lang="en-US" sz="1500" b="1" i="0" dirty="0" smtClean="0"/>
            <a:t>Generate a pseudorandom session key for a particular symmetric encryption algorithm</a:t>
          </a:r>
          <a:endParaRPr lang="en-US" sz="1500" b="1" i="0" dirty="0"/>
        </a:p>
      </dgm:t>
    </dgm:pt>
    <dgm:pt modelId="{AC1B7067-E1EF-A344-8709-7AE0A6694BED}" type="parTrans" cxnId="{2D3631F0-B5F9-1F4D-890C-085E40D0779F}">
      <dgm:prSet/>
      <dgm:spPr/>
      <dgm:t>
        <a:bodyPr/>
        <a:lstStyle/>
        <a:p>
          <a:endParaRPr lang="en-US"/>
        </a:p>
      </dgm:t>
    </dgm:pt>
    <dgm:pt modelId="{82F3577B-06D0-C445-BF65-819EE4EB9409}" type="sibTrans" cxnId="{2D3631F0-B5F9-1F4D-890C-085E40D0779F}">
      <dgm:prSet/>
      <dgm:spPr>
        <a:ln>
          <a:solidFill>
            <a:schemeClr val="tx1"/>
          </a:solidFill>
        </a:ln>
      </dgm:spPr>
      <dgm:t>
        <a:bodyPr/>
        <a:lstStyle/>
        <a:p>
          <a:endParaRPr lang="en-US" dirty="0"/>
        </a:p>
      </dgm:t>
    </dgm:pt>
    <dgm:pt modelId="{F1D40321-A12A-BE44-84D3-0A2099D8CDEA}">
      <dgm:prSet custT="1"/>
      <dgm:spPr/>
      <dgm:t>
        <a:bodyPr/>
        <a:lstStyle/>
        <a:p>
          <a:r>
            <a:rPr lang="en-US" sz="1500" b="1" i="0" dirty="0" smtClean="0"/>
            <a:t>For each recipient, encrypt the session key with the recipient’s public RSA key</a:t>
          </a:r>
        </a:p>
      </dgm:t>
    </dgm:pt>
    <dgm:pt modelId="{43515704-6D9C-2545-AC36-DE6F9ACAF51E}" type="parTrans" cxnId="{5F969079-E80F-A64B-B823-8F3F39D0A7D4}">
      <dgm:prSet/>
      <dgm:spPr/>
      <dgm:t>
        <a:bodyPr/>
        <a:lstStyle/>
        <a:p>
          <a:endParaRPr lang="en-US"/>
        </a:p>
      </dgm:t>
    </dgm:pt>
    <dgm:pt modelId="{03CE9978-0BE6-E84B-B554-50C8880B4C7A}" type="sibTrans" cxnId="{5F969079-E80F-A64B-B823-8F3F39D0A7D4}">
      <dgm:prSet/>
      <dgm:spPr>
        <a:ln>
          <a:solidFill>
            <a:schemeClr val="tx1"/>
          </a:solidFill>
        </a:ln>
      </dgm:spPr>
      <dgm:t>
        <a:bodyPr/>
        <a:lstStyle/>
        <a:p>
          <a:endParaRPr lang="en-US" dirty="0"/>
        </a:p>
      </dgm:t>
    </dgm:pt>
    <dgm:pt modelId="{719B5293-0D30-444E-B3FC-4D7726A71BCB}">
      <dgm:prSet custT="1"/>
      <dgm:spPr/>
      <dgm:t>
        <a:bodyPr/>
        <a:lstStyle/>
        <a:p>
          <a:r>
            <a:rPr lang="en-US" sz="1500" b="1" i="0" dirty="0" smtClean="0"/>
            <a:t>For each recipient, prepare a block known as </a:t>
          </a:r>
          <a:r>
            <a:rPr lang="en-US" sz="1500" b="1" i="0" dirty="0" smtClean="0">
              <a:latin typeface="Courier New"/>
              <a:cs typeface="Courier New"/>
            </a:rPr>
            <a:t>RecipientInfo </a:t>
          </a:r>
          <a:r>
            <a:rPr lang="en-US" sz="1500" b="1" i="0" dirty="0" smtClean="0">
              <a:cs typeface="Courier New"/>
            </a:rPr>
            <a:t>that contains an identifier of the recipient’s public-key certificate, an identifier of the algorithm used to encrypt the session key, and the encrypted session key</a:t>
          </a:r>
        </a:p>
      </dgm:t>
    </dgm:pt>
    <dgm:pt modelId="{52BE5FF8-16F9-844C-BAC8-6B1344D093AA}" type="parTrans" cxnId="{E411F62E-1021-E742-9329-93CD0F7C0E16}">
      <dgm:prSet/>
      <dgm:spPr/>
      <dgm:t>
        <a:bodyPr/>
        <a:lstStyle/>
        <a:p>
          <a:endParaRPr lang="en-US"/>
        </a:p>
      </dgm:t>
    </dgm:pt>
    <dgm:pt modelId="{FA06F20C-F234-E247-BBA3-FC6C714263CE}" type="sibTrans" cxnId="{E411F62E-1021-E742-9329-93CD0F7C0E16}">
      <dgm:prSet/>
      <dgm:spPr>
        <a:ln>
          <a:solidFill>
            <a:schemeClr val="tx1"/>
          </a:solidFill>
        </a:ln>
      </dgm:spPr>
      <dgm:t>
        <a:bodyPr/>
        <a:lstStyle/>
        <a:p>
          <a:endParaRPr lang="en-US" dirty="0"/>
        </a:p>
      </dgm:t>
    </dgm:pt>
    <dgm:pt modelId="{40604889-C874-024C-AA49-85FFE5142744}">
      <dgm:prSet custT="1"/>
      <dgm:spPr/>
      <dgm:t>
        <a:bodyPr/>
        <a:lstStyle/>
        <a:p>
          <a:r>
            <a:rPr lang="en-US" sz="1500" b="1" i="0" dirty="0" smtClean="0">
              <a:cs typeface="Courier New"/>
            </a:rPr>
            <a:t>Encrypt the message content with the session key</a:t>
          </a:r>
          <a:r>
            <a:rPr lang="en-US" sz="1500" b="1" i="0" dirty="0" smtClean="0"/>
            <a:t> </a:t>
          </a:r>
          <a:endParaRPr lang="en-US" sz="1500" b="1" i="0" dirty="0"/>
        </a:p>
      </dgm:t>
    </dgm:pt>
    <dgm:pt modelId="{D59DD21D-8F2B-D845-8D24-0906B5BA24D7}" type="parTrans" cxnId="{AD6A61EB-20E8-6241-BACE-B88471E91B5F}">
      <dgm:prSet/>
      <dgm:spPr/>
      <dgm:t>
        <a:bodyPr/>
        <a:lstStyle/>
        <a:p>
          <a:endParaRPr lang="en-US"/>
        </a:p>
      </dgm:t>
    </dgm:pt>
    <dgm:pt modelId="{89849169-617D-BD42-90C9-E99FC93B1C2B}" type="sibTrans" cxnId="{AD6A61EB-20E8-6241-BACE-B88471E91B5F}">
      <dgm:prSet/>
      <dgm:spPr/>
      <dgm:t>
        <a:bodyPr/>
        <a:lstStyle/>
        <a:p>
          <a:endParaRPr lang="en-US"/>
        </a:p>
      </dgm:t>
    </dgm:pt>
    <dgm:pt modelId="{3701EDB1-138E-9E46-9979-880B13224AB2}" type="pres">
      <dgm:prSet presAssocID="{9605BC7D-6CBA-804E-B2B8-BB24A3D713BA}" presName="outerComposite" presStyleCnt="0">
        <dgm:presLayoutVars>
          <dgm:chMax val="5"/>
          <dgm:dir/>
          <dgm:resizeHandles val="exact"/>
        </dgm:presLayoutVars>
      </dgm:prSet>
      <dgm:spPr/>
      <dgm:t>
        <a:bodyPr/>
        <a:lstStyle/>
        <a:p>
          <a:endParaRPr lang="en-US"/>
        </a:p>
      </dgm:t>
    </dgm:pt>
    <dgm:pt modelId="{BE5042EE-5962-3C4A-BF1B-50A23DC0F0F5}" type="pres">
      <dgm:prSet presAssocID="{9605BC7D-6CBA-804E-B2B8-BB24A3D713BA}" presName="dummyMaxCanvas" presStyleCnt="0">
        <dgm:presLayoutVars/>
      </dgm:prSet>
      <dgm:spPr/>
    </dgm:pt>
    <dgm:pt modelId="{DC0241FA-7A3B-2540-99A4-A6418DDD1EA1}" type="pres">
      <dgm:prSet presAssocID="{9605BC7D-6CBA-804E-B2B8-BB24A3D713BA}" presName="FourNodes_1" presStyleLbl="node1" presStyleIdx="0" presStyleCnt="4">
        <dgm:presLayoutVars>
          <dgm:bulletEnabled val="1"/>
        </dgm:presLayoutVars>
      </dgm:prSet>
      <dgm:spPr/>
      <dgm:t>
        <a:bodyPr/>
        <a:lstStyle/>
        <a:p>
          <a:endParaRPr lang="en-US"/>
        </a:p>
      </dgm:t>
    </dgm:pt>
    <dgm:pt modelId="{22ADCE59-A6D1-984D-BF84-74718F412EC1}" type="pres">
      <dgm:prSet presAssocID="{9605BC7D-6CBA-804E-B2B8-BB24A3D713BA}" presName="FourNodes_2" presStyleLbl="node1" presStyleIdx="1" presStyleCnt="4">
        <dgm:presLayoutVars>
          <dgm:bulletEnabled val="1"/>
        </dgm:presLayoutVars>
      </dgm:prSet>
      <dgm:spPr/>
      <dgm:t>
        <a:bodyPr/>
        <a:lstStyle/>
        <a:p>
          <a:endParaRPr lang="en-US"/>
        </a:p>
      </dgm:t>
    </dgm:pt>
    <dgm:pt modelId="{A7C405DB-DC2C-E540-914D-23DD9BB65F79}" type="pres">
      <dgm:prSet presAssocID="{9605BC7D-6CBA-804E-B2B8-BB24A3D713BA}" presName="FourNodes_3" presStyleLbl="node1" presStyleIdx="2" presStyleCnt="4">
        <dgm:presLayoutVars>
          <dgm:bulletEnabled val="1"/>
        </dgm:presLayoutVars>
      </dgm:prSet>
      <dgm:spPr/>
      <dgm:t>
        <a:bodyPr/>
        <a:lstStyle/>
        <a:p>
          <a:endParaRPr lang="en-US"/>
        </a:p>
      </dgm:t>
    </dgm:pt>
    <dgm:pt modelId="{D3171E81-8DA9-F04B-85CE-0B54B5DF11AD}" type="pres">
      <dgm:prSet presAssocID="{9605BC7D-6CBA-804E-B2B8-BB24A3D713BA}" presName="FourNodes_4" presStyleLbl="node1" presStyleIdx="3" presStyleCnt="4">
        <dgm:presLayoutVars>
          <dgm:bulletEnabled val="1"/>
        </dgm:presLayoutVars>
      </dgm:prSet>
      <dgm:spPr/>
      <dgm:t>
        <a:bodyPr/>
        <a:lstStyle/>
        <a:p>
          <a:endParaRPr lang="en-US"/>
        </a:p>
      </dgm:t>
    </dgm:pt>
    <dgm:pt modelId="{4F1B002C-C953-264E-AD33-8E894E64E173}" type="pres">
      <dgm:prSet presAssocID="{9605BC7D-6CBA-804E-B2B8-BB24A3D713BA}" presName="FourConn_1-2" presStyleLbl="fgAccFollowNode1" presStyleIdx="0" presStyleCnt="3">
        <dgm:presLayoutVars>
          <dgm:bulletEnabled val="1"/>
        </dgm:presLayoutVars>
      </dgm:prSet>
      <dgm:spPr/>
      <dgm:t>
        <a:bodyPr/>
        <a:lstStyle/>
        <a:p>
          <a:endParaRPr lang="en-US"/>
        </a:p>
      </dgm:t>
    </dgm:pt>
    <dgm:pt modelId="{B57C5CB7-9E23-374F-9AD0-A772CEA91AF0}" type="pres">
      <dgm:prSet presAssocID="{9605BC7D-6CBA-804E-B2B8-BB24A3D713BA}" presName="FourConn_2-3" presStyleLbl="fgAccFollowNode1" presStyleIdx="1" presStyleCnt="3">
        <dgm:presLayoutVars>
          <dgm:bulletEnabled val="1"/>
        </dgm:presLayoutVars>
      </dgm:prSet>
      <dgm:spPr/>
      <dgm:t>
        <a:bodyPr/>
        <a:lstStyle/>
        <a:p>
          <a:endParaRPr lang="en-US"/>
        </a:p>
      </dgm:t>
    </dgm:pt>
    <dgm:pt modelId="{75224DAF-6741-704C-A1FB-BF13866920F8}" type="pres">
      <dgm:prSet presAssocID="{9605BC7D-6CBA-804E-B2B8-BB24A3D713BA}" presName="FourConn_3-4" presStyleLbl="fgAccFollowNode1" presStyleIdx="2" presStyleCnt="3">
        <dgm:presLayoutVars>
          <dgm:bulletEnabled val="1"/>
        </dgm:presLayoutVars>
      </dgm:prSet>
      <dgm:spPr/>
      <dgm:t>
        <a:bodyPr/>
        <a:lstStyle/>
        <a:p>
          <a:endParaRPr lang="en-US"/>
        </a:p>
      </dgm:t>
    </dgm:pt>
    <dgm:pt modelId="{C0022A29-8CAE-E64E-AA91-CA9E796F6839}" type="pres">
      <dgm:prSet presAssocID="{9605BC7D-6CBA-804E-B2B8-BB24A3D713BA}" presName="FourNodes_1_text" presStyleLbl="node1" presStyleIdx="3" presStyleCnt="4">
        <dgm:presLayoutVars>
          <dgm:bulletEnabled val="1"/>
        </dgm:presLayoutVars>
      </dgm:prSet>
      <dgm:spPr/>
      <dgm:t>
        <a:bodyPr/>
        <a:lstStyle/>
        <a:p>
          <a:endParaRPr lang="en-US"/>
        </a:p>
      </dgm:t>
    </dgm:pt>
    <dgm:pt modelId="{7D8105A9-A913-7642-AD65-F8E1CCE4CCBD}" type="pres">
      <dgm:prSet presAssocID="{9605BC7D-6CBA-804E-B2B8-BB24A3D713BA}" presName="FourNodes_2_text" presStyleLbl="node1" presStyleIdx="3" presStyleCnt="4">
        <dgm:presLayoutVars>
          <dgm:bulletEnabled val="1"/>
        </dgm:presLayoutVars>
      </dgm:prSet>
      <dgm:spPr/>
      <dgm:t>
        <a:bodyPr/>
        <a:lstStyle/>
        <a:p>
          <a:endParaRPr lang="en-US"/>
        </a:p>
      </dgm:t>
    </dgm:pt>
    <dgm:pt modelId="{FF863488-B9B0-9B4E-9C8B-5F2FC3A62477}" type="pres">
      <dgm:prSet presAssocID="{9605BC7D-6CBA-804E-B2B8-BB24A3D713BA}" presName="FourNodes_3_text" presStyleLbl="node1" presStyleIdx="3" presStyleCnt="4">
        <dgm:presLayoutVars>
          <dgm:bulletEnabled val="1"/>
        </dgm:presLayoutVars>
      </dgm:prSet>
      <dgm:spPr/>
      <dgm:t>
        <a:bodyPr/>
        <a:lstStyle/>
        <a:p>
          <a:endParaRPr lang="en-US"/>
        </a:p>
      </dgm:t>
    </dgm:pt>
    <dgm:pt modelId="{69A96FE0-ABC6-CC43-B84F-518F090F1775}" type="pres">
      <dgm:prSet presAssocID="{9605BC7D-6CBA-804E-B2B8-BB24A3D713BA}" presName="FourNodes_4_text" presStyleLbl="node1" presStyleIdx="3" presStyleCnt="4">
        <dgm:presLayoutVars>
          <dgm:bulletEnabled val="1"/>
        </dgm:presLayoutVars>
      </dgm:prSet>
      <dgm:spPr/>
      <dgm:t>
        <a:bodyPr/>
        <a:lstStyle/>
        <a:p>
          <a:endParaRPr lang="en-US"/>
        </a:p>
      </dgm:t>
    </dgm:pt>
  </dgm:ptLst>
  <dgm:cxnLst>
    <dgm:cxn modelId="{D53F4E8D-5380-6449-B3A4-5BE27C700A14}" type="presOf" srcId="{F1D40321-A12A-BE44-84D3-0A2099D8CDEA}" destId="{7D8105A9-A913-7642-AD65-F8E1CCE4CCBD}" srcOrd="1" destOrd="0" presId="urn:microsoft.com/office/officeart/2005/8/layout/vProcess5"/>
    <dgm:cxn modelId="{468E7E5A-5409-0748-9307-5758B0501EDE}" type="presOf" srcId="{719B5293-0D30-444E-B3FC-4D7726A71BCB}" destId="{FF863488-B9B0-9B4E-9C8B-5F2FC3A62477}" srcOrd="1" destOrd="0" presId="urn:microsoft.com/office/officeart/2005/8/layout/vProcess5"/>
    <dgm:cxn modelId="{80FBF315-6BEF-514D-996F-0B4F83762509}" type="presOf" srcId="{82F3577B-06D0-C445-BF65-819EE4EB9409}" destId="{4F1B002C-C953-264E-AD33-8E894E64E173}" srcOrd="0" destOrd="0" presId="urn:microsoft.com/office/officeart/2005/8/layout/vProcess5"/>
    <dgm:cxn modelId="{C81B016B-2EEE-7F40-9F50-838B1BBA2841}" type="presOf" srcId="{40604889-C874-024C-AA49-85FFE5142744}" destId="{D3171E81-8DA9-F04B-85CE-0B54B5DF11AD}" srcOrd="0" destOrd="0" presId="urn:microsoft.com/office/officeart/2005/8/layout/vProcess5"/>
    <dgm:cxn modelId="{8B8C92BC-CFEE-CA49-A931-4562549920BF}" type="presOf" srcId="{03CE9978-0BE6-E84B-B554-50C8880B4C7A}" destId="{B57C5CB7-9E23-374F-9AD0-A772CEA91AF0}" srcOrd="0" destOrd="0" presId="urn:microsoft.com/office/officeart/2005/8/layout/vProcess5"/>
    <dgm:cxn modelId="{1D497661-D35F-AB48-8E64-9352EACEE75B}" type="presOf" srcId="{81C5031F-CE83-F54C-AEF4-6D26B304772A}" destId="{C0022A29-8CAE-E64E-AA91-CA9E796F6839}" srcOrd="1" destOrd="0" presId="urn:microsoft.com/office/officeart/2005/8/layout/vProcess5"/>
    <dgm:cxn modelId="{5F969079-E80F-A64B-B823-8F3F39D0A7D4}" srcId="{9605BC7D-6CBA-804E-B2B8-BB24A3D713BA}" destId="{F1D40321-A12A-BE44-84D3-0A2099D8CDEA}" srcOrd="1" destOrd="0" parTransId="{43515704-6D9C-2545-AC36-DE6F9ACAF51E}" sibTransId="{03CE9978-0BE6-E84B-B554-50C8880B4C7A}"/>
    <dgm:cxn modelId="{DE219ADF-736A-5D41-9240-A4B228370317}" type="presOf" srcId="{719B5293-0D30-444E-B3FC-4D7726A71BCB}" destId="{A7C405DB-DC2C-E540-914D-23DD9BB65F79}" srcOrd="0" destOrd="0" presId="urn:microsoft.com/office/officeart/2005/8/layout/vProcess5"/>
    <dgm:cxn modelId="{E411F62E-1021-E742-9329-93CD0F7C0E16}" srcId="{9605BC7D-6CBA-804E-B2B8-BB24A3D713BA}" destId="{719B5293-0D30-444E-B3FC-4D7726A71BCB}" srcOrd="2" destOrd="0" parTransId="{52BE5FF8-16F9-844C-BAC8-6B1344D093AA}" sibTransId="{FA06F20C-F234-E247-BBA3-FC6C714263CE}"/>
    <dgm:cxn modelId="{AD6A61EB-20E8-6241-BACE-B88471E91B5F}" srcId="{9605BC7D-6CBA-804E-B2B8-BB24A3D713BA}" destId="{40604889-C874-024C-AA49-85FFE5142744}" srcOrd="3" destOrd="0" parTransId="{D59DD21D-8F2B-D845-8D24-0906B5BA24D7}" sibTransId="{89849169-617D-BD42-90C9-E99FC93B1C2B}"/>
    <dgm:cxn modelId="{4B5954AF-F481-7241-AF4F-B4480CFA7F2B}" type="presOf" srcId="{F1D40321-A12A-BE44-84D3-0A2099D8CDEA}" destId="{22ADCE59-A6D1-984D-BF84-74718F412EC1}" srcOrd="0" destOrd="0" presId="urn:microsoft.com/office/officeart/2005/8/layout/vProcess5"/>
    <dgm:cxn modelId="{F8739938-5497-C646-87C0-6D35DB7566F9}" type="presOf" srcId="{40604889-C874-024C-AA49-85FFE5142744}" destId="{69A96FE0-ABC6-CC43-B84F-518F090F1775}" srcOrd="1" destOrd="0" presId="urn:microsoft.com/office/officeart/2005/8/layout/vProcess5"/>
    <dgm:cxn modelId="{47686E7B-0981-B044-82FC-0226250C5AE0}" type="presOf" srcId="{9605BC7D-6CBA-804E-B2B8-BB24A3D713BA}" destId="{3701EDB1-138E-9E46-9979-880B13224AB2}" srcOrd="0" destOrd="0" presId="urn:microsoft.com/office/officeart/2005/8/layout/vProcess5"/>
    <dgm:cxn modelId="{2D3631F0-B5F9-1F4D-890C-085E40D0779F}" srcId="{9605BC7D-6CBA-804E-B2B8-BB24A3D713BA}" destId="{81C5031F-CE83-F54C-AEF4-6D26B304772A}" srcOrd="0" destOrd="0" parTransId="{AC1B7067-E1EF-A344-8709-7AE0A6694BED}" sibTransId="{82F3577B-06D0-C445-BF65-819EE4EB9409}"/>
    <dgm:cxn modelId="{D5DEE688-6BC3-1F43-8AED-E6DD68E28B46}" type="presOf" srcId="{81C5031F-CE83-F54C-AEF4-6D26B304772A}" destId="{DC0241FA-7A3B-2540-99A4-A6418DDD1EA1}" srcOrd="0" destOrd="0" presId="urn:microsoft.com/office/officeart/2005/8/layout/vProcess5"/>
    <dgm:cxn modelId="{F0C376AC-E172-5944-93D4-2F6816ECB26B}" type="presOf" srcId="{FA06F20C-F234-E247-BBA3-FC6C714263CE}" destId="{75224DAF-6741-704C-A1FB-BF13866920F8}" srcOrd="0" destOrd="0" presId="urn:microsoft.com/office/officeart/2005/8/layout/vProcess5"/>
    <dgm:cxn modelId="{29B6BD9E-E225-6949-9FEF-E0DF5FD4882A}" type="presParOf" srcId="{3701EDB1-138E-9E46-9979-880B13224AB2}" destId="{BE5042EE-5962-3C4A-BF1B-50A23DC0F0F5}" srcOrd="0" destOrd="0" presId="urn:microsoft.com/office/officeart/2005/8/layout/vProcess5"/>
    <dgm:cxn modelId="{AF2222C3-597C-D14B-B0DB-869AE512B700}" type="presParOf" srcId="{3701EDB1-138E-9E46-9979-880B13224AB2}" destId="{DC0241FA-7A3B-2540-99A4-A6418DDD1EA1}" srcOrd="1" destOrd="0" presId="urn:microsoft.com/office/officeart/2005/8/layout/vProcess5"/>
    <dgm:cxn modelId="{2D31E880-BBCE-CC4E-B425-791FE5F2750A}" type="presParOf" srcId="{3701EDB1-138E-9E46-9979-880B13224AB2}" destId="{22ADCE59-A6D1-984D-BF84-74718F412EC1}" srcOrd="2" destOrd="0" presId="urn:microsoft.com/office/officeart/2005/8/layout/vProcess5"/>
    <dgm:cxn modelId="{06B27D80-D23B-D64F-9E54-DE593945FFD6}" type="presParOf" srcId="{3701EDB1-138E-9E46-9979-880B13224AB2}" destId="{A7C405DB-DC2C-E540-914D-23DD9BB65F79}" srcOrd="3" destOrd="0" presId="urn:microsoft.com/office/officeart/2005/8/layout/vProcess5"/>
    <dgm:cxn modelId="{972104B5-9973-7C4B-8E3C-4B98932EF925}" type="presParOf" srcId="{3701EDB1-138E-9E46-9979-880B13224AB2}" destId="{D3171E81-8DA9-F04B-85CE-0B54B5DF11AD}" srcOrd="4" destOrd="0" presId="urn:microsoft.com/office/officeart/2005/8/layout/vProcess5"/>
    <dgm:cxn modelId="{4796E909-4054-2D4F-A42F-7089756F0EDF}" type="presParOf" srcId="{3701EDB1-138E-9E46-9979-880B13224AB2}" destId="{4F1B002C-C953-264E-AD33-8E894E64E173}" srcOrd="5" destOrd="0" presId="urn:microsoft.com/office/officeart/2005/8/layout/vProcess5"/>
    <dgm:cxn modelId="{2769559E-48DE-AB43-B25A-87B996187737}" type="presParOf" srcId="{3701EDB1-138E-9E46-9979-880B13224AB2}" destId="{B57C5CB7-9E23-374F-9AD0-A772CEA91AF0}" srcOrd="6" destOrd="0" presId="urn:microsoft.com/office/officeart/2005/8/layout/vProcess5"/>
    <dgm:cxn modelId="{90F6302C-1B7D-B94E-A178-2D0B4D3DF962}" type="presParOf" srcId="{3701EDB1-138E-9E46-9979-880B13224AB2}" destId="{75224DAF-6741-704C-A1FB-BF13866920F8}" srcOrd="7" destOrd="0" presId="urn:microsoft.com/office/officeart/2005/8/layout/vProcess5"/>
    <dgm:cxn modelId="{70699EE7-A753-8B4E-8CF1-70135D0DD80B}" type="presParOf" srcId="{3701EDB1-138E-9E46-9979-880B13224AB2}" destId="{C0022A29-8CAE-E64E-AA91-CA9E796F6839}" srcOrd="8" destOrd="0" presId="urn:microsoft.com/office/officeart/2005/8/layout/vProcess5"/>
    <dgm:cxn modelId="{3A95FC2F-85CA-8E48-9AA8-9054ADBCFACB}" type="presParOf" srcId="{3701EDB1-138E-9E46-9979-880B13224AB2}" destId="{7D8105A9-A913-7642-AD65-F8E1CCE4CCBD}" srcOrd="9" destOrd="0" presId="urn:microsoft.com/office/officeart/2005/8/layout/vProcess5"/>
    <dgm:cxn modelId="{1D6B3B64-BB5C-8F4C-835F-67CC0E9F5F2A}" type="presParOf" srcId="{3701EDB1-138E-9E46-9979-880B13224AB2}" destId="{FF863488-B9B0-9B4E-9C8B-5F2FC3A62477}" srcOrd="10" destOrd="0" presId="urn:microsoft.com/office/officeart/2005/8/layout/vProcess5"/>
    <dgm:cxn modelId="{82FF086D-6668-E247-909D-8FCFCC1A3C27}" type="presParOf" srcId="{3701EDB1-138E-9E46-9979-880B13224AB2}" destId="{69A96FE0-ABC6-CC43-B84F-518F090F1775}" srcOrd="11" destOrd="0" presId="urn:microsoft.com/office/officeart/2005/8/layout/vProcess5"/>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713171B-723F-E646-B567-7828D9B060F5}" type="doc">
      <dgm:prSet loTypeId="urn:microsoft.com/office/officeart/2005/8/layout/arrow2" loCatId="process" qsTypeId="urn:microsoft.com/office/officeart/2005/8/quickstyle/simple4" qsCatId="simple" csTypeId="urn:microsoft.com/office/officeart/2005/8/colors/accent1_2" csCatId="accent1" phldr="1"/>
      <dgm:spPr/>
      <dgm:t>
        <a:bodyPr/>
        <a:lstStyle/>
        <a:p>
          <a:endParaRPr lang="en-US"/>
        </a:p>
      </dgm:t>
    </dgm:pt>
    <dgm:pt modelId="{74B3D2B1-806F-D744-86BE-6D879BBC16A2}">
      <dgm:prSet phldrT="[Text]"/>
      <dgm:spPr/>
      <dgm:t>
        <a:bodyPr/>
        <a:lstStyle/>
        <a:p>
          <a:r>
            <a:rPr lang="en-US" b="1" dirty="0" smtClean="0"/>
            <a:t>Select a message digest algorithm (SHA or MD5)</a:t>
          </a:r>
          <a:endParaRPr lang="en-US" b="1" dirty="0"/>
        </a:p>
      </dgm:t>
    </dgm:pt>
    <dgm:pt modelId="{2633BF21-6621-CC40-B647-E3FD64BADB6E}" type="parTrans" cxnId="{1605A4C7-B30B-0841-AB74-5073E90B4BF0}">
      <dgm:prSet/>
      <dgm:spPr/>
      <dgm:t>
        <a:bodyPr/>
        <a:lstStyle/>
        <a:p>
          <a:endParaRPr lang="en-US"/>
        </a:p>
      </dgm:t>
    </dgm:pt>
    <dgm:pt modelId="{5A87E385-1645-684A-9E76-20CDD89908FC}" type="sibTrans" cxnId="{1605A4C7-B30B-0841-AB74-5073E90B4BF0}">
      <dgm:prSet/>
      <dgm:spPr/>
      <dgm:t>
        <a:bodyPr/>
        <a:lstStyle/>
        <a:p>
          <a:endParaRPr lang="en-US"/>
        </a:p>
      </dgm:t>
    </dgm:pt>
    <dgm:pt modelId="{430B4876-7570-574F-AC09-B684ADAE1845}">
      <dgm:prSet/>
      <dgm:spPr/>
      <dgm:t>
        <a:bodyPr/>
        <a:lstStyle/>
        <a:p>
          <a:r>
            <a:rPr lang="en-US" b="1" dirty="0" smtClean="0"/>
            <a:t>Compute the message digest (hash function) of the content to be signed</a:t>
          </a:r>
        </a:p>
      </dgm:t>
    </dgm:pt>
    <dgm:pt modelId="{9804845B-7166-C245-A033-1707011C1340}" type="parTrans" cxnId="{F820CA5E-8221-A54C-9C83-93788DECE038}">
      <dgm:prSet/>
      <dgm:spPr/>
      <dgm:t>
        <a:bodyPr/>
        <a:lstStyle/>
        <a:p>
          <a:endParaRPr lang="en-US"/>
        </a:p>
      </dgm:t>
    </dgm:pt>
    <dgm:pt modelId="{A8EFB0CD-6CCC-4046-84C2-B9073B010F56}" type="sibTrans" cxnId="{F820CA5E-8221-A54C-9C83-93788DECE038}">
      <dgm:prSet/>
      <dgm:spPr/>
      <dgm:t>
        <a:bodyPr/>
        <a:lstStyle/>
        <a:p>
          <a:endParaRPr lang="en-US"/>
        </a:p>
      </dgm:t>
    </dgm:pt>
    <dgm:pt modelId="{E92CCB42-E23A-3B45-92CD-D94D59D74CEA}">
      <dgm:prSet/>
      <dgm:spPr/>
      <dgm:t>
        <a:bodyPr/>
        <a:lstStyle/>
        <a:p>
          <a:r>
            <a:rPr lang="en-US" b="1" dirty="0" smtClean="0"/>
            <a:t>Encrypt the message digest with the signer’s private key</a:t>
          </a:r>
        </a:p>
      </dgm:t>
    </dgm:pt>
    <dgm:pt modelId="{EC29B15F-0AFE-DB48-A496-0CFA5701D052}" type="parTrans" cxnId="{82E57096-26B3-A848-969A-9D46C3347148}">
      <dgm:prSet/>
      <dgm:spPr/>
      <dgm:t>
        <a:bodyPr/>
        <a:lstStyle/>
        <a:p>
          <a:endParaRPr lang="en-US"/>
        </a:p>
      </dgm:t>
    </dgm:pt>
    <dgm:pt modelId="{7F94153B-E220-E247-8239-FD3395C37145}" type="sibTrans" cxnId="{82E57096-26B3-A848-969A-9D46C3347148}">
      <dgm:prSet/>
      <dgm:spPr/>
      <dgm:t>
        <a:bodyPr/>
        <a:lstStyle/>
        <a:p>
          <a:endParaRPr lang="en-US"/>
        </a:p>
      </dgm:t>
    </dgm:pt>
    <dgm:pt modelId="{72A6FF65-4637-1646-B700-EA5033041EEA}">
      <dgm:prSet/>
      <dgm:spPr/>
      <dgm:t>
        <a:bodyPr/>
        <a:lstStyle/>
        <a:p>
          <a:r>
            <a:rPr lang="en-US" b="1" dirty="0" smtClean="0"/>
            <a:t>Prepare a block known as </a:t>
          </a:r>
          <a:r>
            <a:rPr lang="en-US" b="1" dirty="0" smtClean="0">
              <a:latin typeface="Courier New"/>
              <a:cs typeface="Courier New"/>
            </a:rPr>
            <a:t>SignerInfo </a:t>
          </a:r>
          <a:r>
            <a:rPr lang="en-US" b="1" dirty="0" smtClean="0">
              <a:cs typeface="Courier New"/>
            </a:rPr>
            <a:t>that contains the signer’s public-key certificate, an identifier of the message digest algorithm, an identifier of the algorithm used to encrypt the message digest, and the encrypted message digest</a:t>
          </a:r>
          <a:endParaRPr lang="en-US" b="1" dirty="0"/>
        </a:p>
      </dgm:t>
    </dgm:pt>
    <dgm:pt modelId="{68C6072A-AAA2-BA4D-B1FF-59AB105BBB23}" type="parTrans" cxnId="{0C03DBE1-8B86-1845-B4C7-A92A72CDC6E0}">
      <dgm:prSet/>
      <dgm:spPr/>
      <dgm:t>
        <a:bodyPr/>
        <a:lstStyle/>
        <a:p>
          <a:endParaRPr lang="en-US"/>
        </a:p>
      </dgm:t>
    </dgm:pt>
    <dgm:pt modelId="{29657DB5-1E4D-8D4A-BAD5-AA2F9FAF1861}" type="sibTrans" cxnId="{0C03DBE1-8B86-1845-B4C7-A92A72CDC6E0}">
      <dgm:prSet/>
      <dgm:spPr/>
      <dgm:t>
        <a:bodyPr/>
        <a:lstStyle/>
        <a:p>
          <a:endParaRPr lang="en-US"/>
        </a:p>
      </dgm:t>
    </dgm:pt>
    <dgm:pt modelId="{19DA2E74-1C7C-BB48-8CE8-7E2ACE114457}" type="pres">
      <dgm:prSet presAssocID="{4713171B-723F-E646-B567-7828D9B060F5}" presName="arrowDiagram" presStyleCnt="0">
        <dgm:presLayoutVars>
          <dgm:chMax val="5"/>
          <dgm:dir/>
          <dgm:resizeHandles val="exact"/>
        </dgm:presLayoutVars>
      </dgm:prSet>
      <dgm:spPr/>
      <dgm:t>
        <a:bodyPr/>
        <a:lstStyle/>
        <a:p>
          <a:endParaRPr lang="en-US"/>
        </a:p>
      </dgm:t>
    </dgm:pt>
    <dgm:pt modelId="{6583A533-B32F-3445-A521-7E6E85915F15}" type="pres">
      <dgm:prSet presAssocID="{4713171B-723F-E646-B567-7828D9B060F5}" presName="arrow" presStyleLbl="bgShp" presStyleIdx="0" presStyleCnt="1"/>
      <dgm:spPr>
        <a:effectLst>
          <a:glow rad="38100">
            <a:schemeClr val="accent1">
              <a:alpha val="45000"/>
            </a:schemeClr>
          </a:glow>
          <a:softEdge rad="101600"/>
        </a:effectLst>
      </dgm:spPr>
    </dgm:pt>
    <dgm:pt modelId="{53B967A3-8927-744E-9DDC-9DC043AA37B2}" type="pres">
      <dgm:prSet presAssocID="{4713171B-723F-E646-B567-7828D9B060F5}" presName="arrowDiagram4" presStyleCnt="0"/>
      <dgm:spPr/>
    </dgm:pt>
    <dgm:pt modelId="{39B3DB2F-CFDB-3D46-BC03-E9933E33FB8F}" type="pres">
      <dgm:prSet presAssocID="{74B3D2B1-806F-D744-86BE-6D879BBC16A2}" presName="bullet4a" presStyleLbl="node1" presStyleIdx="0" presStyleCnt="4"/>
      <dgm:spPr>
        <a:ln>
          <a:solidFill>
            <a:schemeClr val="tx1"/>
          </a:solidFill>
        </a:ln>
      </dgm:spPr>
    </dgm:pt>
    <dgm:pt modelId="{70F67D8F-56D9-E74F-8BDF-5458066225AA}" type="pres">
      <dgm:prSet presAssocID="{74B3D2B1-806F-D744-86BE-6D879BBC16A2}" presName="textBox4a" presStyleLbl="revTx" presStyleIdx="0" presStyleCnt="4" custLinFactNeighborX="749" custLinFactNeighborY="-430">
        <dgm:presLayoutVars>
          <dgm:bulletEnabled val="1"/>
        </dgm:presLayoutVars>
      </dgm:prSet>
      <dgm:spPr/>
      <dgm:t>
        <a:bodyPr/>
        <a:lstStyle/>
        <a:p>
          <a:endParaRPr lang="en-US"/>
        </a:p>
      </dgm:t>
    </dgm:pt>
    <dgm:pt modelId="{87961540-DD8B-5449-83AA-9C3C44DC1EF4}" type="pres">
      <dgm:prSet presAssocID="{430B4876-7570-574F-AC09-B684ADAE1845}" presName="bullet4b" presStyleLbl="node1" presStyleIdx="1" presStyleCnt="4"/>
      <dgm:spPr>
        <a:ln>
          <a:solidFill>
            <a:schemeClr val="tx1"/>
          </a:solidFill>
        </a:ln>
      </dgm:spPr>
    </dgm:pt>
    <dgm:pt modelId="{E7240535-9187-B840-9E04-359208A868C4}" type="pres">
      <dgm:prSet presAssocID="{430B4876-7570-574F-AC09-B684ADAE1845}" presName="textBox4b" presStyleLbl="revTx" presStyleIdx="1" presStyleCnt="4" custScaleY="78652" custLinFactNeighborX="1934" custLinFactNeighborY="-7808">
        <dgm:presLayoutVars>
          <dgm:bulletEnabled val="1"/>
        </dgm:presLayoutVars>
      </dgm:prSet>
      <dgm:spPr/>
      <dgm:t>
        <a:bodyPr/>
        <a:lstStyle/>
        <a:p>
          <a:endParaRPr lang="en-US"/>
        </a:p>
      </dgm:t>
    </dgm:pt>
    <dgm:pt modelId="{4CFE7342-B602-1544-9847-E9A231A05FD5}" type="pres">
      <dgm:prSet presAssocID="{E92CCB42-E23A-3B45-92CD-D94D59D74CEA}" presName="bullet4c" presStyleLbl="node1" presStyleIdx="2" presStyleCnt="4"/>
      <dgm:spPr>
        <a:ln>
          <a:solidFill>
            <a:schemeClr val="tx1"/>
          </a:solidFill>
        </a:ln>
      </dgm:spPr>
    </dgm:pt>
    <dgm:pt modelId="{9A149516-666B-5D44-8845-9B7ED7179393}" type="pres">
      <dgm:prSet presAssocID="{E92CCB42-E23A-3B45-92CD-D94D59D74CEA}" presName="textBox4c" presStyleLbl="revTx" presStyleIdx="2" presStyleCnt="4" custScaleY="65270" custLinFactNeighborX="4559" custLinFactNeighborY="-10506">
        <dgm:presLayoutVars>
          <dgm:bulletEnabled val="1"/>
        </dgm:presLayoutVars>
      </dgm:prSet>
      <dgm:spPr/>
      <dgm:t>
        <a:bodyPr/>
        <a:lstStyle/>
        <a:p>
          <a:endParaRPr lang="en-US"/>
        </a:p>
      </dgm:t>
    </dgm:pt>
    <dgm:pt modelId="{21544247-92C1-3D44-99B2-72E06AC3A1AF}" type="pres">
      <dgm:prSet presAssocID="{72A6FF65-4637-1646-B700-EA5033041EEA}" presName="bullet4d" presStyleLbl="node1" presStyleIdx="3" presStyleCnt="4"/>
      <dgm:spPr>
        <a:ln>
          <a:solidFill>
            <a:schemeClr val="tx1"/>
          </a:solidFill>
        </a:ln>
      </dgm:spPr>
    </dgm:pt>
    <dgm:pt modelId="{A1C86641-BAF9-664F-9EAC-CE643C68B505}" type="pres">
      <dgm:prSet presAssocID="{72A6FF65-4637-1646-B700-EA5033041EEA}" presName="textBox4d" presStyleLbl="revTx" presStyleIdx="3" presStyleCnt="4" custScaleY="89114" custLinFactNeighborX="5894" custLinFactNeighborY="2031">
        <dgm:presLayoutVars>
          <dgm:bulletEnabled val="1"/>
        </dgm:presLayoutVars>
      </dgm:prSet>
      <dgm:spPr/>
      <dgm:t>
        <a:bodyPr/>
        <a:lstStyle/>
        <a:p>
          <a:endParaRPr lang="en-US"/>
        </a:p>
      </dgm:t>
    </dgm:pt>
  </dgm:ptLst>
  <dgm:cxnLst>
    <dgm:cxn modelId="{F820CA5E-8221-A54C-9C83-93788DECE038}" srcId="{4713171B-723F-E646-B567-7828D9B060F5}" destId="{430B4876-7570-574F-AC09-B684ADAE1845}" srcOrd="1" destOrd="0" parTransId="{9804845B-7166-C245-A033-1707011C1340}" sibTransId="{A8EFB0CD-6CCC-4046-84C2-B9073B010F56}"/>
    <dgm:cxn modelId="{EAF2EFF4-7A53-3D4F-BD7D-F47E133B7B71}" type="presOf" srcId="{72A6FF65-4637-1646-B700-EA5033041EEA}" destId="{A1C86641-BAF9-664F-9EAC-CE643C68B505}" srcOrd="0" destOrd="0" presId="urn:microsoft.com/office/officeart/2005/8/layout/arrow2"/>
    <dgm:cxn modelId="{CFBED759-0B08-1445-9178-232A35E01777}" type="presOf" srcId="{4713171B-723F-E646-B567-7828D9B060F5}" destId="{19DA2E74-1C7C-BB48-8CE8-7E2ACE114457}" srcOrd="0" destOrd="0" presId="urn:microsoft.com/office/officeart/2005/8/layout/arrow2"/>
    <dgm:cxn modelId="{4FDBB72E-93FA-8E47-948C-741710F8B7D4}" type="presOf" srcId="{430B4876-7570-574F-AC09-B684ADAE1845}" destId="{E7240535-9187-B840-9E04-359208A868C4}" srcOrd="0" destOrd="0" presId="urn:microsoft.com/office/officeart/2005/8/layout/arrow2"/>
    <dgm:cxn modelId="{82E57096-26B3-A848-969A-9D46C3347148}" srcId="{4713171B-723F-E646-B567-7828D9B060F5}" destId="{E92CCB42-E23A-3B45-92CD-D94D59D74CEA}" srcOrd="2" destOrd="0" parTransId="{EC29B15F-0AFE-DB48-A496-0CFA5701D052}" sibTransId="{7F94153B-E220-E247-8239-FD3395C37145}"/>
    <dgm:cxn modelId="{0C03DBE1-8B86-1845-B4C7-A92A72CDC6E0}" srcId="{4713171B-723F-E646-B567-7828D9B060F5}" destId="{72A6FF65-4637-1646-B700-EA5033041EEA}" srcOrd="3" destOrd="0" parTransId="{68C6072A-AAA2-BA4D-B1FF-59AB105BBB23}" sibTransId="{29657DB5-1E4D-8D4A-BAD5-AA2F9FAF1861}"/>
    <dgm:cxn modelId="{A6B1A501-C4AF-934F-85D2-FD8D8B0F928C}" type="presOf" srcId="{74B3D2B1-806F-D744-86BE-6D879BBC16A2}" destId="{70F67D8F-56D9-E74F-8BDF-5458066225AA}" srcOrd="0" destOrd="0" presId="urn:microsoft.com/office/officeart/2005/8/layout/arrow2"/>
    <dgm:cxn modelId="{118114F8-E9AF-C541-8A01-6BAD1CE71762}" type="presOf" srcId="{E92CCB42-E23A-3B45-92CD-D94D59D74CEA}" destId="{9A149516-666B-5D44-8845-9B7ED7179393}" srcOrd="0" destOrd="0" presId="urn:microsoft.com/office/officeart/2005/8/layout/arrow2"/>
    <dgm:cxn modelId="{1605A4C7-B30B-0841-AB74-5073E90B4BF0}" srcId="{4713171B-723F-E646-B567-7828D9B060F5}" destId="{74B3D2B1-806F-D744-86BE-6D879BBC16A2}" srcOrd="0" destOrd="0" parTransId="{2633BF21-6621-CC40-B647-E3FD64BADB6E}" sibTransId="{5A87E385-1645-684A-9E76-20CDD89908FC}"/>
    <dgm:cxn modelId="{020C9A1C-7AFA-6447-9092-FF44B5B9F31D}" type="presParOf" srcId="{19DA2E74-1C7C-BB48-8CE8-7E2ACE114457}" destId="{6583A533-B32F-3445-A521-7E6E85915F15}" srcOrd="0" destOrd="0" presId="urn:microsoft.com/office/officeart/2005/8/layout/arrow2"/>
    <dgm:cxn modelId="{ABC76D32-C03C-D149-81D9-488F8BF4ECEF}" type="presParOf" srcId="{19DA2E74-1C7C-BB48-8CE8-7E2ACE114457}" destId="{53B967A3-8927-744E-9DDC-9DC043AA37B2}" srcOrd="1" destOrd="0" presId="urn:microsoft.com/office/officeart/2005/8/layout/arrow2"/>
    <dgm:cxn modelId="{C7CCA965-D5F6-3F4C-B2FB-A858FD708F3C}" type="presParOf" srcId="{53B967A3-8927-744E-9DDC-9DC043AA37B2}" destId="{39B3DB2F-CFDB-3D46-BC03-E9933E33FB8F}" srcOrd="0" destOrd="0" presId="urn:microsoft.com/office/officeart/2005/8/layout/arrow2"/>
    <dgm:cxn modelId="{C1C6E791-8B2B-D14C-B8D5-A081312826CC}" type="presParOf" srcId="{53B967A3-8927-744E-9DDC-9DC043AA37B2}" destId="{70F67D8F-56D9-E74F-8BDF-5458066225AA}" srcOrd="1" destOrd="0" presId="urn:microsoft.com/office/officeart/2005/8/layout/arrow2"/>
    <dgm:cxn modelId="{8A67988D-1939-9B40-AEB2-532C9446F505}" type="presParOf" srcId="{53B967A3-8927-744E-9DDC-9DC043AA37B2}" destId="{87961540-DD8B-5449-83AA-9C3C44DC1EF4}" srcOrd="2" destOrd="0" presId="urn:microsoft.com/office/officeart/2005/8/layout/arrow2"/>
    <dgm:cxn modelId="{EC88B17E-FB3C-7248-AF7E-37DF1B5E4D46}" type="presParOf" srcId="{53B967A3-8927-744E-9DDC-9DC043AA37B2}" destId="{E7240535-9187-B840-9E04-359208A868C4}" srcOrd="3" destOrd="0" presId="urn:microsoft.com/office/officeart/2005/8/layout/arrow2"/>
    <dgm:cxn modelId="{2C82FC85-35D9-F244-AABC-81A93D7D265A}" type="presParOf" srcId="{53B967A3-8927-744E-9DDC-9DC043AA37B2}" destId="{4CFE7342-B602-1544-9847-E9A231A05FD5}" srcOrd="4" destOrd="0" presId="urn:microsoft.com/office/officeart/2005/8/layout/arrow2"/>
    <dgm:cxn modelId="{B96099C1-607B-0A4B-9E1A-33D09D9453CB}" type="presParOf" srcId="{53B967A3-8927-744E-9DDC-9DC043AA37B2}" destId="{9A149516-666B-5D44-8845-9B7ED7179393}" srcOrd="5" destOrd="0" presId="urn:microsoft.com/office/officeart/2005/8/layout/arrow2"/>
    <dgm:cxn modelId="{C7A3E67F-3491-6E40-8EA0-6616B1E3FE9F}" type="presParOf" srcId="{53B967A3-8927-744E-9DDC-9DC043AA37B2}" destId="{21544247-92C1-3D44-99B2-72E06AC3A1AF}" srcOrd="6" destOrd="0" presId="urn:microsoft.com/office/officeart/2005/8/layout/arrow2"/>
    <dgm:cxn modelId="{2D574F94-D08A-4841-8DC2-46AA3B9821C4}" type="presParOf" srcId="{53B967A3-8927-744E-9DDC-9DC043AA37B2}" destId="{A1C86641-BAF9-664F-9EAC-CE643C68B505}" srcOrd="7" destOrd="0" presId="urn:microsoft.com/office/officeart/2005/8/layout/arrow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7AB59D6-4C33-A34B-AF38-5DDBD84E8C4C}" type="doc">
      <dgm:prSet loTypeId="urn:microsoft.com/office/officeart/2005/8/layout/lProcess1" loCatId="process" qsTypeId="urn:microsoft.com/office/officeart/2005/8/quickstyle/simple4" qsCatId="simple" csTypeId="urn:microsoft.com/office/officeart/2005/8/colors/accent1_2" csCatId="accent1" phldr="1"/>
      <dgm:spPr/>
      <dgm:t>
        <a:bodyPr/>
        <a:lstStyle/>
        <a:p>
          <a:endParaRPr lang="en-US"/>
        </a:p>
      </dgm:t>
    </dgm:pt>
    <dgm:pt modelId="{91565F97-7BC1-8843-879A-E4C12C27F34F}">
      <dgm:prSet phldrT="[Text]" custT="1"/>
      <dgm:spPr/>
      <dgm:t>
        <a:bodyPr/>
        <a:lstStyle/>
        <a:p>
          <a:r>
            <a:rPr lang="en-US" sz="1800" b="1" i="0" dirty="0" smtClean="0"/>
            <a:t>Key generation</a:t>
          </a:r>
          <a:endParaRPr lang="en-US" sz="1800" b="1" i="0" dirty="0"/>
        </a:p>
      </dgm:t>
    </dgm:pt>
    <dgm:pt modelId="{C5BDD6DA-952C-904C-B87A-15DA1BF92690}" type="parTrans" cxnId="{566C2247-C6AA-F348-A77B-07869E75BAED}">
      <dgm:prSet/>
      <dgm:spPr/>
      <dgm:t>
        <a:bodyPr/>
        <a:lstStyle/>
        <a:p>
          <a:endParaRPr lang="en-US"/>
        </a:p>
      </dgm:t>
    </dgm:pt>
    <dgm:pt modelId="{7B5A9F40-BAD1-2041-AC8B-BB0DF3CD2520}" type="sibTrans" cxnId="{566C2247-C6AA-F348-A77B-07869E75BAED}">
      <dgm:prSet/>
      <dgm:spPr/>
      <dgm:t>
        <a:bodyPr/>
        <a:lstStyle/>
        <a:p>
          <a:endParaRPr lang="en-US"/>
        </a:p>
      </dgm:t>
    </dgm:pt>
    <dgm:pt modelId="{CB0CC14D-E390-FA4D-BFF8-D1720BF715EE}">
      <dgm:prSet custT="1"/>
      <dgm:spPr>
        <a:solidFill>
          <a:schemeClr val="bg1"/>
        </a:solidFill>
        <a:ln>
          <a:solidFill>
            <a:schemeClr val="accent1"/>
          </a:solidFill>
        </a:ln>
      </dgm:spPr>
      <dgm:t>
        <a:bodyPr/>
        <a:lstStyle/>
        <a:p>
          <a:r>
            <a:rPr lang="en-US" sz="1500" b="1" i="0" dirty="0" smtClean="0"/>
            <a:t>The user of some related administrative utility must be capable of generating separate Diffie-Hellman and DSS key pairs and should be capable of generating RSA key pairs</a:t>
          </a:r>
        </a:p>
      </dgm:t>
    </dgm:pt>
    <dgm:pt modelId="{410B3BBD-CDA1-E445-8EA8-2A2CF59AB8B2}" type="parTrans" cxnId="{BCDE15DA-12A0-214B-9C01-1F01E49C8344}">
      <dgm:prSet/>
      <dgm:spPr>
        <a:solidFill>
          <a:schemeClr val="tx1"/>
        </a:solidFill>
        <a:effectLst/>
      </dgm:spPr>
      <dgm:t>
        <a:bodyPr/>
        <a:lstStyle/>
        <a:p>
          <a:endParaRPr lang="en-US" dirty="0"/>
        </a:p>
      </dgm:t>
    </dgm:pt>
    <dgm:pt modelId="{F3DCEF80-E181-D24D-9AEA-0E5CF9271CE0}" type="sibTrans" cxnId="{BCDE15DA-12A0-214B-9C01-1F01E49C8344}">
      <dgm:prSet/>
      <dgm:spPr>
        <a:solidFill>
          <a:schemeClr val="tx1"/>
        </a:solidFill>
        <a:effectLst/>
      </dgm:spPr>
      <dgm:t>
        <a:bodyPr/>
        <a:lstStyle/>
        <a:p>
          <a:endParaRPr lang="en-US" dirty="0"/>
        </a:p>
      </dgm:t>
    </dgm:pt>
    <dgm:pt modelId="{72E6CFFC-E2C0-154A-A55F-9A15B6C35E96}">
      <dgm:prSet custT="1"/>
      <dgm:spPr>
        <a:solidFill>
          <a:schemeClr val="bg1"/>
        </a:solidFill>
        <a:ln>
          <a:solidFill>
            <a:schemeClr val="accent1"/>
          </a:solidFill>
        </a:ln>
      </dgm:spPr>
      <dgm:t>
        <a:bodyPr/>
        <a:lstStyle/>
        <a:p>
          <a:r>
            <a:rPr lang="en-US" sz="1500" b="1" i="0" dirty="0" smtClean="0"/>
            <a:t>A user agent should generate RSA key pairs with a length in the range of 768 to 1024 bits and must not generate a length of less than 512 bits</a:t>
          </a:r>
        </a:p>
      </dgm:t>
    </dgm:pt>
    <dgm:pt modelId="{F1569E1B-0C19-8245-A519-F8CEF61DB555}" type="parTrans" cxnId="{8AB8D902-D2DD-1144-9EC7-DFC881974825}">
      <dgm:prSet/>
      <dgm:spPr/>
      <dgm:t>
        <a:bodyPr/>
        <a:lstStyle/>
        <a:p>
          <a:endParaRPr lang="en-US"/>
        </a:p>
      </dgm:t>
    </dgm:pt>
    <dgm:pt modelId="{0A52076B-6781-7646-A89B-8188EBFB43A9}" type="sibTrans" cxnId="{8AB8D902-D2DD-1144-9EC7-DFC881974825}">
      <dgm:prSet/>
      <dgm:spPr/>
      <dgm:t>
        <a:bodyPr/>
        <a:lstStyle/>
        <a:p>
          <a:endParaRPr lang="en-US"/>
        </a:p>
      </dgm:t>
    </dgm:pt>
    <dgm:pt modelId="{11A0533F-530A-BD40-B5F2-6152C13B9624}">
      <dgm:prSet custT="1"/>
      <dgm:spPr/>
      <dgm:t>
        <a:bodyPr/>
        <a:lstStyle/>
        <a:p>
          <a:r>
            <a:rPr lang="en-US" sz="1800" b="1" i="0" dirty="0" smtClean="0"/>
            <a:t>Registration</a:t>
          </a:r>
        </a:p>
      </dgm:t>
    </dgm:pt>
    <dgm:pt modelId="{14D25439-39EC-FC41-921D-5B7A91B82A88}" type="parTrans" cxnId="{CC6A5E4D-8B0F-F84F-B3E6-E486B6C82D39}">
      <dgm:prSet/>
      <dgm:spPr/>
      <dgm:t>
        <a:bodyPr/>
        <a:lstStyle/>
        <a:p>
          <a:endParaRPr lang="en-US"/>
        </a:p>
      </dgm:t>
    </dgm:pt>
    <dgm:pt modelId="{730C2160-501F-C64D-B501-21B323D46B89}" type="sibTrans" cxnId="{CC6A5E4D-8B0F-F84F-B3E6-E486B6C82D39}">
      <dgm:prSet/>
      <dgm:spPr/>
      <dgm:t>
        <a:bodyPr/>
        <a:lstStyle/>
        <a:p>
          <a:endParaRPr lang="en-US"/>
        </a:p>
      </dgm:t>
    </dgm:pt>
    <dgm:pt modelId="{31241FBC-F2F9-AA40-B931-FF4696917E3F}">
      <dgm:prSet custT="1"/>
      <dgm:spPr>
        <a:solidFill>
          <a:schemeClr val="bg1"/>
        </a:solidFill>
        <a:ln>
          <a:solidFill>
            <a:schemeClr val="accent1"/>
          </a:solidFill>
        </a:ln>
      </dgm:spPr>
      <dgm:t>
        <a:bodyPr/>
        <a:lstStyle/>
        <a:p>
          <a:r>
            <a:rPr lang="en-US" sz="1500" b="1" i="0" dirty="0" smtClean="0"/>
            <a:t>A user’s public key must be registered with a certification authority in order to receive an X.509 public-key certificate</a:t>
          </a:r>
        </a:p>
      </dgm:t>
    </dgm:pt>
    <dgm:pt modelId="{DC326A12-933B-094E-AF25-49D4B81D12D1}" type="parTrans" cxnId="{25256B26-D172-7A46-9BAB-7B5A523DDA6D}">
      <dgm:prSet/>
      <dgm:spPr>
        <a:solidFill>
          <a:schemeClr val="tx1"/>
        </a:solidFill>
        <a:effectLst/>
      </dgm:spPr>
      <dgm:t>
        <a:bodyPr/>
        <a:lstStyle/>
        <a:p>
          <a:endParaRPr lang="en-US" dirty="0"/>
        </a:p>
      </dgm:t>
    </dgm:pt>
    <dgm:pt modelId="{1249FFDC-2403-DC47-990D-3193E275392F}" type="sibTrans" cxnId="{25256B26-D172-7A46-9BAB-7B5A523DDA6D}">
      <dgm:prSet/>
      <dgm:spPr/>
      <dgm:t>
        <a:bodyPr/>
        <a:lstStyle/>
        <a:p>
          <a:endParaRPr lang="en-US"/>
        </a:p>
      </dgm:t>
    </dgm:pt>
    <dgm:pt modelId="{B0DF2C07-5285-1147-932C-AC3715653725}">
      <dgm:prSet custT="1"/>
      <dgm:spPr/>
      <dgm:t>
        <a:bodyPr/>
        <a:lstStyle/>
        <a:p>
          <a:r>
            <a:rPr lang="en-US" sz="1800" b="1" i="0" dirty="0" smtClean="0"/>
            <a:t>Certificate storage and retrieval</a:t>
          </a:r>
        </a:p>
      </dgm:t>
    </dgm:pt>
    <dgm:pt modelId="{07F67CE2-7232-5A47-A783-344B37DF5B94}" type="parTrans" cxnId="{37069C4D-5973-A946-B701-C5719143C78B}">
      <dgm:prSet/>
      <dgm:spPr/>
      <dgm:t>
        <a:bodyPr/>
        <a:lstStyle/>
        <a:p>
          <a:endParaRPr lang="en-US"/>
        </a:p>
      </dgm:t>
    </dgm:pt>
    <dgm:pt modelId="{C4216013-C274-1241-8CBA-FF9B7130F5FB}" type="sibTrans" cxnId="{37069C4D-5973-A946-B701-C5719143C78B}">
      <dgm:prSet/>
      <dgm:spPr/>
      <dgm:t>
        <a:bodyPr/>
        <a:lstStyle/>
        <a:p>
          <a:endParaRPr lang="en-US"/>
        </a:p>
      </dgm:t>
    </dgm:pt>
    <dgm:pt modelId="{B7CC46DB-A53B-4B4C-B01B-0E38D433B59F}">
      <dgm:prSet custT="1"/>
      <dgm:spPr>
        <a:solidFill>
          <a:schemeClr val="bg1"/>
        </a:solidFill>
        <a:ln>
          <a:solidFill>
            <a:schemeClr val="accent1"/>
          </a:solidFill>
        </a:ln>
      </dgm:spPr>
      <dgm:t>
        <a:bodyPr/>
        <a:lstStyle/>
        <a:p>
          <a:r>
            <a:rPr lang="en-US" sz="1500" b="1" i="0" dirty="0" smtClean="0"/>
            <a:t>A user requires access to a local list of certificates in order to verify incoming signatures and to encrypt outgoing messages</a:t>
          </a:r>
          <a:endParaRPr lang="en-US" sz="1500" b="1" i="0" dirty="0"/>
        </a:p>
      </dgm:t>
    </dgm:pt>
    <dgm:pt modelId="{496908AA-6D47-DF4D-9C32-CDAEF2E8F112}" type="parTrans" cxnId="{8C091EA9-FBA1-3E4B-A1CA-BC0D4B09DE7D}">
      <dgm:prSet/>
      <dgm:spPr>
        <a:solidFill>
          <a:schemeClr val="tx1"/>
        </a:solidFill>
        <a:effectLst/>
      </dgm:spPr>
      <dgm:t>
        <a:bodyPr/>
        <a:lstStyle/>
        <a:p>
          <a:endParaRPr lang="en-US" dirty="0"/>
        </a:p>
      </dgm:t>
    </dgm:pt>
    <dgm:pt modelId="{6603F3B3-BCCF-744A-9B4E-2C5938557CFA}" type="sibTrans" cxnId="{8C091EA9-FBA1-3E4B-A1CA-BC0D4B09DE7D}">
      <dgm:prSet/>
      <dgm:spPr/>
      <dgm:t>
        <a:bodyPr/>
        <a:lstStyle/>
        <a:p>
          <a:endParaRPr lang="en-US"/>
        </a:p>
      </dgm:t>
    </dgm:pt>
    <dgm:pt modelId="{ECCBFC9D-EE20-E84A-AD40-28611A9BC2B1}" type="pres">
      <dgm:prSet presAssocID="{87AB59D6-4C33-A34B-AF38-5DDBD84E8C4C}" presName="Name0" presStyleCnt="0">
        <dgm:presLayoutVars>
          <dgm:dir/>
          <dgm:animLvl val="lvl"/>
          <dgm:resizeHandles val="exact"/>
        </dgm:presLayoutVars>
      </dgm:prSet>
      <dgm:spPr/>
      <dgm:t>
        <a:bodyPr/>
        <a:lstStyle/>
        <a:p>
          <a:endParaRPr lang="en-US"/>
        </a:p>
      </dgm:t>
    </dgm:pt>
    <dgm:pt modelId="{8BEC1D6C-EACB-DB48-83E0-E3AC2FAA5BB6}" type="pres">
      <dgm:prSet presAssocID="{91565F97-7BC1-8843-879A-E4C12C27F34F}" presName="vertFlow" presStyleCnt="0"/>
      <dgm:spPr/>
    </dgm:pt>
    <dgm:pt modelId="{5640E4EC-D131-0C41-A714-976262004000}" type="pres">
      <dgm:prSet presAssocID="{91565F97-7BC1-8843-879A-E4C12C27F34F}" presName="header" presStyleLbl="node1" presStyleIdx="0" presStyleCnt="3" custLinFactY="32710" custLinFactNeighborX="509" custLinFactNeighborY="100000"/>
      <dgm:spPr/>
      <dgm:t>
        <a:bodyPr/>
        <a:lstStyle/>
        <a:p>
          <a:endParaRPr lang="en-US"/>
        </a:p>
      </dgm:t>
    </dgm:pt>
    <dgm:pt modelId="{499DAEB3-C700-2348-8690-589FFD73282E}" type="pres">
      <dgm:prSet presAssocID="{410B3BBD-CDA1-E445-8EA8-2A2CF59AB8B2}" presName="parTrans" presStyleLbl="sibTrans2D1" presStyleIdx="0" presStyleCnt="4" custScaleY="536054"/>
      <dgm:spPr/>
      <dgm:t>
        <a:bodyPr/>
        <a:lstStyle/>
        <a:p>
          <a:endParaRPr lang="en-US"/>
        </a:p>
      </dgm:t>
    </dgm:pt>
    <dgm:pt modelId="{00E8D720-FB90-3F40-B94E-FEE132455706}" type="pres">
      <dgm:prSet presAssocID="{CB0CC14D-E390-FA4D-BFF8-D1720BF715EE}" presName="child" presStyleLbl="alignAccFollowNode1" presStyleIdx="0" presStyleCnt="4" custScaleX="117359" custScaleY="240291" custLinFactY="99133" custLinFactNeighborX="-77" custLinFactNeighborY="100000">
        <dgm:presLayoutVars>
          <dgm:chMax val="0"/>
          <dgm:bulletEnabled val="1"/>
        </dgm:presLayoutVars>
      </dgm:prSet>
      <dgm:spPr/>
      <dgm:t>
        <a:bodyPr/>
        <a:lstStyle/>
        <a:p>
          <a:endParaRPr lang="en-US"/>
        </a:p>
      </dgm:t>
    </dgm:pt>
    <dgm:pt modelId="{2C4540C6-1CCE-8F44-B5F9-43BA4E58799A}" type="pres">
      <dgm:prSet presAssocID="{F3DCEF80-E181-D24D-9AEA-0E5CF9271CE0}" presName="sibTrans" presStyleLbl="sibTrans2D1" presStyleIdx="1" presStyleCnt="4" custScaleY="536054"/>
      <dgm:spPr/>
      <dgm:t>
        <a:bodyPr/>
        <a:lstStyle/>
        <a:p>
          <a:endParaRPr lang="en-US"/>
        </a:p>
      </dgm:t>
    </dgm:pt>
    <dgm:pt modelId="{4E28F1E9-86E9-D94E-93A5-CAF02EBFC40E}" type="pres">
      <dgm:prSet presAssocID="{72E6CFFC-E2C0-154A-A55F-9A15B6C35E96}" presName="child" presStyleLbl="alignAccFollowNode1" presStyleIdx="1" presStyleCnt="4" custScaleX="104947" custScaleY="194570" custLinFactY="113802" custLinFactNeighborX="-106" custLinFactNeighborY="200000">
        <dgm:presLayoutVars>
          <dgm:chMax val="0"/>
          <dgm:bulletEnabled val="1"/>
        </dgm:presLayoutVars>
      </dgm:prSet>
      <dgm:spPr/>
      <dgm:t>
        <a:bodyPr/>
        <a:lstStyle/>
        <a:p>
          <a:endParaRPr lang="en-US"/>
        </a:p>
      </dgm:t>
    </dgm:pt>
    <dgm:pt modelId="{97AB9586-1C0A-D24F-9CF0-EE98469F1F1F}" type="pres">
      <dgm:prSet presAssocID="{91565F97-7BC1-8843-879A-E4C12C27F34F}" presName="hSp" presStyleCnt="0"/>
      <dgm:spPr/>
    </dgm:pt>
    <dgm:pt modelId="{5D597686-2E7F-4F41-9840-EF3C17C68D6B}" type="pres">
      <dgm:prSet presAssocID="{11A0533F-530A-BD40-B5F2-6152C13B9624}" presName="vertFlow" presStyleCnt="0"/>
      <dgm:spPr/>
    </dgm:pt>
    <dgm:pt modelId="{1DFF3C36-D263-5343-81BB-8740166AD25A}" type="pres">
      <dgm:prSet presAssocID="{11A0533F-530A-BD40-B5F2-6152C13B9624}" presName="header" presStyleLbl="node1" presStyleIdx="1" presStyleCnt="3" custLinFactY="32710" custLinFactNeighborX="-3364" custLinFactNeighborY="100000"/>
      <dgm:spPr/>
      <dgm:t>
        <a:bodyPr/>
        <a:lstStyle/>
        <a:p>
          <a:endParaRPr lang="en-US"/>
        </a:p>
      </dgm:t>
    </dgm:pt>
    <dgm:pt modelId="{FDC2ACAE-9F74-D944-BF52-0E244DB76F2A}" type="pres">
      <dgm:prSet presAssocID="{DC326A12-933B-094E-AF25-49D4B81D12D1}" presName="parTrans" presStyleLbl="sibTrans2D1" presStyleIdx="2" presStyleCnt="4" custScaleY="536054"/>
      <dgm:spPr/>
      <dgm:t>
        <a:bodyPr/>
        <a:lstStyle/>
        <a:p>
          <a:endParaRPr lang="en-US"/>
        </a:p>
      </dgm:t>
    </dgm:pt>
    <dgm:pt modelId="{9F46745B-DDFD-9142-A2AB-A68D61AF4AC4}" type="pres">
      <dgm:prSet presAssocID="{31241FBC-F2F9-AA40-B931-FF4696917E3F}" presName="child" presStyleLbl="alignAccFollowNode1" presStyleIdx="2" presStyleCnt="4" custScaleX="109462" custScaleY="151146" custLinFactY="100000" custLinFactNeighborX="-1722" custLinFactNeighborY="157362">
        <dgm:presLayoutVars>
          <dgm:chMax val="0"/>
          <dgm:bulletEnabled val="1"/>
        </dgm:presLayoutVars>
      </dgm:prSet>
      <dgm:spPr/>
      <dgm:t>
        <a:bodyPr/>
        <a:lstStyle/>
        <a:p>
          <a:endParaRPr lang="en-US"/>
        </a:p>
      </dgm:t>
    </dgm:pt>
    <dgm:pt modelId="{7FDAD220-DE67-6F4D-9761-70BB45BD2D02}" type="pres">
      <dgm:prSet presAssocID="{11A0533F-530A-BD40-B5F2-6152C13B9624}" presName="hSp" presStyleCnt="0"/>
      <dgm:spPr/>
    </dgm:pt>
    <dgm:pt modelId="{FD4E7D40-69CE-194B-AC64-DFE0E3AC06D0}" type="pres">
      <dgm:prSet presAssocID="{B0DF2C07-5285-1147-932C-AC3715653725}" presName="vertFlow" presStyleCnt="0"/>
      <dgm:spPr/>
    </dgm:pt>
    <dgm:pt modelId="{6FFE8623-4392-894F-AB9D-1E249DE8C8DD}" type="pres">
      <dgm:prSet presAssocID="{B0DF2C07-5285-1147-932C-AC3715653725}" presName="header" presStyleLbl="node1" presStyleIdx="2" presStyleCnt="3" custLinFactY="32710" custLinFactNeighborX="-1744" custLinFactNeighborY="100000"/>
      <dgm:spPr/>
      <dgm:t>
        <a:bodyPr/>
        <a:lstStyle/>
        <a:p>
          <a:endParaRPr lang="en-US"/>
        </a:p>
      </dgm:t>
    </dgm:pt>
    <dgm:pt modelId="{9B6C36B4-2E14-DD41-AA37-637EABA5416A}" type="pres">
      <dgm:prSet presAssocID="{496908AA-6D47-DF4D-9C32-CDAEF2E8F112}" presName="parTrans" presStyleLbl="sibTrans2D1" presStyleIdx="3" presStyleCnt="4" custScaleY="536054"/>
      <dgm:spPr/>
      <dgm:t>
        <a:bodyPr/>
        <a:lstStyle/>
        <a:p>
          <a:endParaRPr lang="en-US"/>
        </a:p>
      </dgm:t>
    </dgm:pt>
    <dgm:pt modelId="{510A18EB-2775-2A43-8C68-735C2689912B}" type="pres">
      <dgm:prSet presAssocID="{B7CC46DB-A53B-4B4C-B01B-0E38D433B59F}" presName="child" presStyleLbl="alignAccFollowNode1" presStyleIdx="3" presStyleCnt="4" custScaleX="100195" custScaleY="195738" custLinFactY="100000" custLinFactNeighborX="-1646" custLinFactNeighborY="122066">
        <dgm:presLayoutVars>
          <dgm:chMax val="0"/>
          <dgm:bulletEnabled val="1"/>
        </dgm:presLayoutVars>
      </dgm:prSet>
      <dgm:spPr/>
      <dgm:t>
        <a:bodyPr/>
        <a:lstStyle/>
        <a:p>
          <a:endParaRPr lang="en-US"/>
        </a:p>
      </dgm:t>
    </dgm:pt>
  </dgm:ptLst>
  <dgm:cxnLst>
    <dgm:cxn modelId="{566C2247-C6AA-F348-A77B-07869E75BAED}" srcId="{87AB59D6-4C33-A34B-AF38-5DDBD84E8C4C}" destId="{91565F97-7BC1-8843-879A-E4C12C27F34F}" srcOrd="0" destOrd="0" parTransId="{C5BDD6DA-952C-904C-B87A-15DA1BF92690}" sibTransId="{7B5A9F40-BAD1-2041-AC8B-BB0DF3CD2520}"/>
    <dgm:cxn modelId="{8C091EA9-FBA1-3E4B-A1CA-BC0D4B09DE7D}" srcId="{B0DF2C07-5285-1147-932C-AC3715653725}" destId="{B7CC46DB-A53B-4B4C-B01B-0E38D433B59F}" srcOrd="0" destOrd="0" parTransId="{496908AA-6D47-DF4D-9C32-CDAEF2E8F112}" sibTransId="{6603F3B3-BCCF-744A-9B4E-2C5938557CFA}"/>
    <dgm:cxn modelId="{37069C4D-5973-A946-B701-C5719143C78B}" srcId="{87AB59D6-4C33-A34B-AF38-5DDBD84E8C4C}" destId="{B0DF2C07-5285-1147-932C-AC3715653725}" srcOrd="2" destOrd="0" parTransId="{07F67CE2-7232-5A47-A783-344B37DF5B94}" sibTransId="{C4216013-C274-1241-8CBA-FF9B7130F5FB}"/>
    <dgm:cxn modelId="{738EB5BF-D1B5-8444-AA3A-7B882B12BE1E}" type="presOf" srcId="{410B3BBD-CDA1-E445-8EA8-2A2CF59AB8B2}" destId="{499DAEB3-C700-2348-8690-589FFD73282E}" srcOrd="0" destOrd="0" presId="urn:microsoft.com/office/officeart/2005/8/layout/lProcess1"/>
    <dgm:cxn modelId="{0563AA5B-B474-814F-8053-C1CE83D7D62C}" type="presOf" srcId="{B0DF2C07-5285-1147-932C-AC3715653725}" destId="{6FFE8623-4392-894F-AB9D-1E249DE8C8DD}" srcOrd="0" destOrd="0" presId="urn:microsoft.com/office/officeart/2005/8/layout/lProcess1"/>
    <dgm:cxn modelId="{7E73B8E8-3EC5-EF41-99FC-F8D4AEC860E9}" type="presOf" srcId="{31241FBC-F2F9-AA40-B931-FF4696917E3F}" destId="{9F46745B-DDFD-9142-A2AB-A68D61AF4AC4}" srcOrd="0" destOrd="0" presId="urn:microsoft.com/office/officeart/2005/8/layout/lProcess1"/>
    <dgm:cxn modelId="{BCDE15DA-12A0-214B-9C01-1F01E49C8344}" srcId="{91565F97-7BC1-8843-879A-E4C12C27F34F}" destId="{CB0CC14D-E390-FA4D-BFF8-D1720BF715EE}" srcOrd="0" destOrd="0" parTransId="{410B3BBD-CDA1-E445-8EA8-2A2CF59AB8B2}" sibTransId="{F3DCEF80-E181-D24D-9AEA-0E5CF9271CE0}"/>
    <dgm:cxn modelId="{524A9233-FC48-CB4E-B424-2A49F08236C3}" type="presOf" srcId="{87AB59D6-4C33-A34B-AF38-5DDBD84E8C4C}" destId="{ECCBFC9D-EE20-E84A-AD40-28611A9BC2B1}" srcOrd="0" destOrd="0" presId="urn:microsoft.com/office/officeart/2005/8/layout/lProcess1"/>
    <dgm:cxn modelId="{24B8FDEE-6C9E-0D47-8515-3D386E2CBC56}" type="presOf" srcId="{496908AA-6D47-DF4D-9C32-CDAEF2E8F112}" destId="{9B6C36B4-2E14-DD41-AA37-637EABA5416A}" srcOrd="0" destOrd="0" presId="urn:microsoft.com/office/officeart/2005/8/layout/lProcess1"/>
    <dgm:cxn modelId="{8ABD1D8F-A78C-764E-BB7F-A5683CE98B76}" type="presOf" srcId="{11A0533F-530A-BD40-B5F2-6152C13B9624}" destId="{1DFF3C36-D263-5343-81BB-8740166AD25A}" srcOrd="0" destOrd="0" presId="urn:microsoft.com/office/officeart/2005/8/layout/lProcess1"/>
    <dgm:cxn modelId="{4CEFE833-8599-CA44-AAE4-E8E71C89DE40}" type="presOf" srcId="{CB0CC14D-E390-FA4D-BFF8-D1720BF715EE}" destId="{00E8D720-FB90-3F40-B94E-FEE132455706}" srcOrd="0" destOrd="0" presId="urn:microsoft.com/office/officeart/2005/8/layout/lProcess1"/>
    <dgm:cxn modelId="{8AB8D902-D2DD-1144-9EC7-DFC881974825}" srcId="{91565F97-7BC1-8843-879A-E4C12C27F34F}" destId="{72E6CFFC-E2C0-154A-A55F-9A15B6C35E96}" srcOrd="1" destOrd="0" parTransId="{F1569E1B-0C19-8245-A519-F8CEF61DB555}" sibTransId="{0A52076B-6781-7646-A89B-8188EBFB43A9}"/>
    <dgm:cxn modelId="{25256B26-D172-7A46-9BAB-7B5A523DDA6D}" srcId="{11A0533F-530A-BD40-B5F2-6152C13B9624}" destId="{31241FBC-F2F9-AA40-B931-FF4696917E3F}" srcOrd="0" destOrd="0" parTransId="{DC326A12-933B-094E-AF25-49D4B81D12D1}" sibTransId="{1249FFDC-2403-DC47-990D-3193E275392F}"/>
    <dgm:cxn modelId="{88F6BDE4-8880-0847-9E80-43244E172B0F}" type="presOf" srcId="{72E6CFFC-E2C0-154A-A55F-9A15B6C35E96}" destId="{4E28F1E9-86E9-D94E-93A5-CAF02EBFC40E}" srcOrd="0" destOrd="0" presId="urn:microsoft.com/office/officeart/2005/8/layout/lProcess1"/>
    <dgm:cxn modelId="{8A0CAEFE-C8C3-EF49-A147-86248D2750D8}" type="presOf" srcId="{F3DCEF80-E181-D24D-9AEA-0E5CF9271CE0}" destId="{2C4540C6-1CCE-8F44-B5F9-43BA4E58799A}" srcOrd="0" destOrd="0" presId="urn:microsoft.com/office/officeart/2005/8/layout/lProcess1"/>
    <dgm:cxn modelId="{27B119EF-504D-0C41-8D0C-042FFBD20733}" type="presOf" srcId="{B7CC46DB-A53B-4B4C-B01B-0E38D433B59F}" destId="{510A18EB-2775-2A43-8C68-735C2689912B}" srcOrd="0" destOrd="0" presId="urn:microsoft.com/office/officeart/2005/8/layout/lProcess1"/>
    <dgm:cxn modelId="{CF72FE2C-0F67-BF40-BE7F-55DC7A0850F5}" type="presOf" srcId="{DC326A12-933B-094E-AF25-49D4B81D12D1}" destId="{FDC2ACAE-9F74-D944-BF52-0E244DB76F2A}" srcOrd="0" destOrd="0" presId="urn:microsoft.com/office/officeart/2005/8/layout/lProcess1"/>
    <dgm:cxn modelId="{511058EF-1E2A-6340-96CA-12240767D202}" type="presOf" srcId="{91565F97-7BC1-8843-879A-E4C12C27F34F}" destId="{5640E4EC-D131-0C41-A714-976262004000}" srcOrd="0" destOrd="0" presId="urn:microsoft.com/office/officeart/2005/8/layout/lProcess1"/>
    <dgm:cxn modelId="{CC6A5E4D-8B0F-F84F-B3E6-E486B6C82D39}" srcId="{87AB59D6-4C33-A34B-AF38-5DDBD84E8C4C}" destId="{11A0533F-530A-BD40-B5F2-6152C13B9624}" srcOrd="1" destOrd="0" parTransId="{14D25439-39EC-FC41-921D-5B7A91B82A88}" sibTransId="{730C2160-501F-C64D-B501-21B323D46B89}"/>
    <dgm:cxn modelId="{E3C9A1B7-9A70-D449-9503-68BE24D25575}" type="presParOf" srcId="{ECCBFC9D-EE20-E84A-AD40-28611A9BC2B1}" destId="{8BEC1D6C-EACB-DB48-83E0-E3AC2FAA5BB6}" srcOrd="0" destOrd="0" presId="urn:microsoft.com/office/officeart/2005/8/layout/lProcess1"/>
    <dgm:cxn modelId="{A7FAED9C-BBCA-8C45-B520-35F61BC0680C}" type="presParOf" srcId="{8BEC1D6C-EACB-DB48-83E0-E3AC2FAA5BB6}" destId="{5640E4EC-D131-0C41-A714-976262004000}" srcOrd="0" destOrd="0" presId="urn:microsoft.com/office/officeart/2005/8/layout/lProcess1"/>
    <dgm:cxn modelId="{EDE4A152-B524-E741-8D69-58DB383BF57C}" type="presParOf" srcId="{8BEC1D6C-EACB-DB48-83E0-E3AC2FAA5BB6}" destId="{499DAEB3-C700-2348-8690-589FFD73282E}" srcOrd="1" destOrd="0" presId="urn:microsoft.com/office/officeart/2005/8/layout/lProcess1"/>
    <dgm:cxn modelId="{A504AE06-C4D9-9447-A870-C2449815C9DC}" type="presParOf" srcId="{8BEC1D6C-EACB-DB48-83E0-E3AC2FAA5BB6}" destId="{00E8D720-FB90-3F40-B94E-FEE132455706}" srcOrd="2" destOrd="0" presId="urn:microsoft.com/office/officeart/2005/8/layout/lProcess1"/>
    <dgm:cxn modelId="{FF38D06E-A729-CD40-8EDC-114CBA25A9E3}" type="presParOf" srcId="{8BEC1D6C-EACB-DB48-83E0-E3AC2FAA5BB6}" destId="{2C4540C6-1CCE-8F44-B5F9-43BA4E58799A}" srcOrd="3" destOrd="0" presId="urn:microsoft.com/office/officeart/2005/8/layout/lProcess1"/>
    <dgm:cxn modelId="{FAADB5CC-4585-A043-9B6D-4BC32EE7B25F}" type="presParOf" srcId="{8BEC1D6C-EACB-DB48-83E0-E3AC2FAA5BB6}" destId="{4E28F1E9-86E9-D94E-93A5-CAF02EBFC40E}" srcOrd="4" destOrd="0" presId="urn:microsoft.com/office/officeart/2005/8/layout/lProcess1"/>
    <dgm:cxn modelId="{7F3C4AC1-DD0C-E04C-A90E-D1389328B287}" type="presParOf" srcId="{ECCBFC9D-EE20-E84A-AD40-28611A9BC2B1}" destId="{97AB9586-1C0A-D24F-9CF0-EE98469F1F1F}" srcOrd="1" destOrd="0" presId="urn:microsoft.com/office/officeart/2005/8/layout/lProcess1"/>
    <dgm:cxn modelId="{A3565C30-334C-C34F-BAF1-A38164283238}" type="presParOf" srcId="{ECCBFC9D-EE20-E84A-AD40-28611A9BC2B1}" destId="{5D597686-2E7F-4F41-9840-EF3C17C68D6B}" srcOrd="2" destOrd="0" presId="urn:microsoft.com/office/officeart/2005/8/layout/lProcess1"/>
    <dgm:cxn modelId="{62F3D7F2-EBD8-E649-934E-4C583D9947FF}" type="presParOf" srcId="{5D597686-2E7F-4F41-9840-EF3C17C68D6B}" destId="{1DFF3C36-D263-5343-81BB-8740166AD25A}" srcOrd="0" destOrd="0" presId="urn:microsoft.com/office/officeart/2005/8/layout/lProcess1"/>
    <dgm:cxn modelId="{0E5B0F50-36AF-1E4E-BB89-FC98FB4FB517}" type="presParOf" srcId="{5D597686-2E7F-4F41-9840-EF3C17C68D6B}" destId="{FDC2ACAE-9F74-D944-BF52-0E244DB76F2A}" srcOrd="1" destOrd="0" presId="urn:microsoft.com/office/officeart/2005/8/layout/lProcess1"/>
    <dgm:cxn modelId="{22B24EFF-07E6-984E-93B1-4E11663B7A95}" type="presParOf" srcId="{5D597686-2E7F-4F41-9840-EF3C17C68D6B}" destId="{9F46745B-DDFD-9142-A2AB-A68D61AF4AC4}" srcOrd="2" destOrd="0" presId="urn:microsoft.com/office/officeart/2005/8/layout/lProcess1"/>
    <dgm:cxn modelId="{4B43E0DC-4223-844B-B6D7-DD51AAA9D5BD}" type="presParOf" srcId="{ECCBFC9D-EE20-E84A-AD40-28611A9BC2B1}" destId="{7FDAD220-DE67-6F4D-9761-70BB45BD2D02}" srcOrd="3" destOrd="0" presId="urn:microsoft.com/office/officeart/2005/8/layout/lProcess1"/>
    <dgm:cxn modelId="{39244D58-A600-7B4D-9937-62A2E581D71F}" type="presParOf" srcId="{ECCBFC9D-EE20-E84A-AD40-28611A9BC2B1}" destId="{FD4E7D40-69CE-194B-AC64-DFE0E3AC06D0}" srcOrd="4" destOrd="0" presId="urn:microsoft.com/office/officeart/2005/8/layout/lProcess1"/>
    <dgm:cxn modelId="{0E934C51-2AFC-0241-AF19-3EBCEBC0E956}" type="presParOf" srcId="{FD4E7D40-69CE-194B-AC64-DFE0E3AC06D0}" destId="{6FFE8623-4392-894F-AB9D-1E249DE8C8DD}" srcOrd="0" destOrd="0" presId="urn:microsoft.com/office/officeart/2005/8/layout/lProcess1"/>
    <dgm:cxn modelId="{4C88FCCB-95ED-F044-81E6-FC4DDBDA8C8E}" type="presParOf" srcId="{FD4E7D40-69CE-194B-AC64-DFE0E3AC06D0}" destId="{9B6C36B4-2E14-DD41-AA37-637EABA5416A}" srcOrd="1" destOrd="0" presId="urn:microsoft.com/office/officeart/2005/8/layout/lProcess1"/>
    <dgm:cxn modelId="{F4557EAE-DCB1-8742-91F3-76612E326C83}" type="presParOf" srcId="{FD4E7D40-69CE-194B-AC64-DFE0E3AC06D0}" destId="{510A18EB-2775-2A43-8C68-735C2689912B}" srcOrd="2" destOrd="0" presId="urn:microsoft.com/office/officeart/2005/8/layout/lProcess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AAE89E5-777B-5143-851B-ED2FDFDFF485}" type="doc">
      <dgm:prSet loTypeId="urn:microsoft.com/office/officeart/2005/8/layout/default" loCatId="list" qsTypeId="urn:microsoft.com/office/officeart/2005/8/quickstyle/simple4" qsCatId="simple" csTypeId="urn:microsoft.com/office/officeart/2005/8/colors/accent1_2" csCatId="accent1" phldr="1"/>
      <dgm:spPr/>
      <dgm:t>
        <a:bodyPr/>
        <a:lstStyle/>
        <a:p>
          <a:endParaRPr lang="en-US"/>
        </a:p>
      </dgm:t>
    </dgm:pt>
    <dgm:pt modelId="{D8AC5473-B969-574B-8F58-09176CC38CD2}">
      <dgm:prSet/>
      <dgm:spPr>
        <a:solidFill>
          <a:schemeClr val="accent5">
            <a:lumMod val="50000"/>
          </a:schemeClr>
        </a:solidFill>
      </dgm:spPr>
      <dgm:t>
        <a:bodyPr/>
        <a:lstStyle/>
        <a:p>
          <a:pPr rtl="0"/>
          <a:r>
            <a:rPr lang="en-US" dirty="0" smtClean="0"/>
            <a:t>DNS-Based Authentication of Named Entities</a:t>
          </a:r>
          <a:endParaRPr lang="en-US" dirty="0"/>
        </a:p>
      </dgm:t>
    </dgm:pt>
    <dgm:pt modelId="{386F30D3-E5C2-4F49-9199-0364AC43EFD4}" type="parTrans" cxnId="{B133139A-1E48-FD4D-A873-905ED42793EA}">
      <dgm:prSet/>
      <dgm:spPr/>
      <dgm:t>
        <a:bodyPr/>
        <a:lstStyle/>
        <a:p>
          <a:endParaRPr lang="en-US"/>
        </a:p>
      </dgm:t>
    </dgm:pt>
    <dgm:pt modelId="{5397F25E-C9EE-0240-B002-9E8F65A33B4B}" type="sibTrans" cxnId="{B133139A-1E48-FD4D-A873-905ED42793EA}">
      <dgm:prSet/>
      <dgm:spPr/>
      <dgm:t>
        <a:bodyPr/>
        <a:lstStyle/>
        <a:p>
          <a:endParaRPr lang="en-US"/>
        </a:p>
      </dgm:t>
    </dgm:pt>
    <dgm:pt modelId="{8217E86C-C98A-CA45-81A8-3B6A5C849B59}">
      <dgm:prSet/>
      <dgm:spPr>
        <a:solidFill>
          <a:schemeClr val="accent6">
            <a:lumMod val="75000"/>
          </a:schemeClr>
        </a:solidFill>
      </dgm:spPr>
      <dgm:t>
        <a:bodyPr/>
        <a:lstStyle/>
        <a:p>
          <a:pPr rtl="0"/>
          <a:r>
            <a:rPr lang="en-US" dirty="0" smtClean="0"/>
            <a:t>Is a protocol to allow X.509 certificates, commonly used for Transport Layer Security (TLS) to be bound to DNS names using DNSSEC</a:t>
          </a:r>
          <a:endParaRPr lang="en-US" dirty="0"/>
        </a:p>
      </dgm:t>
    </dgm:pt>
    <dgm:pt modelId="{EC704D98-2BA3-5646-B713-4B4D8A0AD7A9}" type="parTrans" cxnId="{660B0513-DA99-6743-B6DD-F345BB36E259}">
      <dgm:prSet/>
      <dgm:spPr/>
      <dgm:t>
        <a:bodyPr/>
        <a:lstStyle/>
        <a:p>
          <a:endParaRPr lang="en-US"/>
        </a:p>
      </dgm:t>
    </dgm:pt>
    <dgm:pt modelId="{1D4988BF-8263-7E4D-B945-428796046E98}" type="sibTrans" cxnId="{660B0513-DA99-6743-B6DD-F345BB36E259}">
      <dgm:prSet/>
      <dgm:spPr/>
      <dgm:t>
        <a:bodyPr/>
        <a:lstStyle/>
        <a:p>
          <a:endParaRPr lang="en-US"/>
        </a:p>
      </dgm:t>
    </dgm:pt>
    <dgm:pt modelId="{2D7791C2-FDB9-504C-B415-9C806DA4A827}">
      <dgm:prSet/>
      <dgm:spPr>
        <a:solidFill>
          <a:schemeClr val="accent2">
            <a:lumMod val="50000"/>
          </a:schemeClr>
        </a:solidFill>
      </dgm:spPr>
      <dgm:t>
        <a:bodyPr/>
        <a:lstStyle/>
        <a:p>
          <a:pPr rtl="0"/>
          <a:r>
            <a:rPr lang="en-US" dirty="0" smtClean="0"/>
            <a:t>It is proposed in RFC 6698 as a way to authenticate TLS client and server entities without a certificate authority (CA)</a:t>
          </a:r>
          <a:endParaRPr lang="en-US" dirty="0"/>
        </a:p>
      </dgm:t>
    </dgm:pt>
    <dgm:pt modelId="{A2F43D6E-94B3-F147-ABEB-51F15D0124E5}" type="parTrans" cxnId="{C4DA777D-B822-1C45-BDD7-1E062AC4878B}">
      <dgm:prSet/>
      <dgm:spPr/>
      <dgm:t>
        <a:bodyPr/>
        <a:lstStyle/>
        <a:p>
          <a:endParaRPr lang="en-US"/>
        </a:p>
      </dgm:t>
    </dgm:pt>
    <dgm:pt modelId="{8F2C56AE-613E-ED4B-A30B-7C726C6C9F18}" type="sibTrans" cxnId="{C4DA777D-B822-1C45-BDD7-1E062AC4878B}">
      <dgm:prSet/>
      <dgm:spPr/>
      <dgm:t>
        <a:bodyPr/>
        <a:lstStyle/>
        <a:p>
          <a:endParaRPr lang="en-US"/>
        </a:p>
      </dgm:t>
    </dgm:pt>
    <dgm:pt modelId="{73715CE2-FE0F-3949-A130-F94375B8FFCD}">
      <dgm:prSet/>
      <dgm:spPr>
        <a:solidFill>
          <a:schemeClr val="accent4">
            <a:lumMod val="75000"/>
          </a:schemeClr>
        </a:solidFill>
      </dgm:spPr>
      <dgm:t>
        <a:bodyPr/>
        <a:lstStyle/>
        <a:p>
          <a:pPr rtl="0"/>
          <a:r>
            <a:rPr lang="en-US" dirty="0" smtClean="0"/>
            <a:t>The purpose of DANE is to replace reliance on the security of the CA system with reliance on the security provided by DNSSEC</a:t>
          </a:r>
          <a:endParaRPr lang="en-US" dirty="0"/>
        </a:p>
      </dgm:t>
    </dgm:pt>
    <dgm:pt modelId="{F7DAFFDF-0B57-3549-8E01-E7A6E277CE39}" type="parTrans" cxnId="{674E9E7F-1C0A-6342-A6CD-FD3AD980939E}">
      <dgm:prSet/>
      <dgm:spPr/>
      <dgm:t>
        <a:bodyPr/>
        <a:lstStyle/>
        <a:p>
          <a:endParaRPr lang="en-US"/>
        </a:p>
      </dgm:t>
    </dgm:pt>
    <dgm:pt modelId="{10FD024C-476D-B64A-BC16-3DF20B7896A6}" type="sibTrans" cxnId="{674E9E7F-1C0A-6342-A6CD-FD3AD980939E}">
      <dgm:prSet/>
      <dgm:spPr/>
      <dgm:t>
        <a:bodyPr/>
        <a:lstStyle/>
        <a:p>
          <a:endParaRPr lang="en-US"/>
        </a:p>
      </dgm:t>
    </dgm:pt>
    <dgm:pt modelId="{4026EA82-F967-6042-8163-7D252449B1C2}" type="pres">
      <dgm:prSet presAssocID="{1AAE89E5-777B-5143-851B-ED2FDFDFF485}" presName="diagram" presStyleCnt="0">
        <dgm:presLayoutVars>
          <dgm:dir/>
          <dgm:resizeHandles val="exact"/>
        </dgm:presLayoutVars>
      </dgm:prSet>
      <dgm:spPr/>
    </dgm:pt>
    <dgm:pt modelId="{264FE9F5-0A1E-3444-9834-F05303A01532}" type="pres">
      <dgm:prSet presAssocID="{D8AC5473-B969-574B-8F58-09176CC38CD2}" presName="node" presStyleLbl="node1" presStyleIdx="0" presStyleCnt="4">
        <dgm:presLayoutVars>
          <dgm:bulletEnabled val="1"/>
        </dgm:presLayoutVars>
      </dgm:prSet>
      <dgm:spPr/>
    </dgm:pt>
    <dgm:pt modelId="{AFB25D3C-FEE2-AE41-89DF-5BFF3096C9D4}" type="pres">
      <dgm:prSet presAssocID="{5397F25E-C9EE-0240-B002-9E8F65A33B4B}" presName="sibTrans" presStyleCnt="0"/>
      <dgm:spPr/>
    </dgm:pt>
    <dgm:pt modelId="{31C37128-0A3B-2241-8BE1-B06CDF185D00}" type="pres">
      <dgm:prSet presAssocID="{8217E86C-C98A-CA45-81A8-3B6A5C849B59}" presName="node" presStyleLbl="node1" presStyleIdx="1" presStyleCnt="4">
        <dgm:presLayoutVars>
          <dgm:bulletEnabled val="1"/>
        </dgm:presLayoutVars>
      </dgm:prSet>
      <dgm:spPr/>
    </dgm:pt>
    <dgm:pt modelId="{0388E9DE-C8E4-8D46-88F6-BE4111B26812}" type="pres">
      <dgm:prSet presAssocID="{1D4988BF-8263-7E4D-B945-428796046E98}" presName="sibTrans" presStyleCnt="0"/>
      <dgm:spPr/>
    </dgm:pt>
    <dgm:pt modelId="{A25DB5C0-36FF-6148-8BB9-365B2378C232}" type="pres">
      <dgm:prSet presAssocID="{2D7791C2-FDB9-504C-B415-9C806DA4A827}" presName="node" presStyleLbl="node1" presStyleIdx="2" presStyleCnt="4">
        <dgm:presLayoutVars>
          <dgm:bulletEnabled val="1"/>
        </dgm:presLayoutVars>
      </dgm:prSet>
      <dgm:spPr/>
    </dgm:pt>
    <dgm:pt modelId="{73F464B8-AB8E-7C40-8A6B-84B6C2013127}" type="pres">
      <dgm:prSet presAssocID="{8F2C56AE-613E-ED4B-A30B-7C726C6C9F18}" presName="sibTrans" presStyleCnt="0"/>
      <dgm:spPr/>
    </dgm:pt>
    <dgm:pt modelId="{479E9ADA-2E2A-6D43-AE0A-51D0F523C8D2}" type="pres">
      <dgm:prSet presAssocID="{73715CE2-FE0F-3949-A130-F94375B8FFCD}" presName="node" presStyleLbl="node1" presStyleIdx="3" presStyleCnt="4">
        <dgm:presLayoutVars>
          <dgm:bulletEnabled val="1"/>
        </dgm:presLayoutVars>
      </dgm:prSet>
      <dgm:spPr/>
    </dgm:pt>
  </dgm:ptLst>
  <dgm:cxnLst>
    <dgm:cxn modelId="{09437F6E-EDA8-B843-AB32-0E5FAE8C9A89}" type="presOf" srcId="{D8AC5473-B969-574B-8F58-09176CC38CD2}" destId="{264FE9F5-0A1E-3444-9834-F05303A01532}" srcOrd="0" destOrd="0" presId="urn:microsoft.com/office/officeart/2005/8/layout/default"/>
    <dgm:cxn modelId="{65294455-26B5-5242-AA97-B06EFEC779E9}" type="presOf" srcId="{8217E86C-C98A-CA45-81A8-3B6A5C849B59}" destId="{31C37128-0A3B-2241-8BE1-B06CDF185D00}" srcOrd="0" destOrd="0" presId="urn:microsoft.com/office/officeart/2005/8/layout/default"/>
    <dgm:cxn modelId="{C4DA777D-B822-1C45-BDD7-1E062AC4878B}" srcId="{1AAE89E5-777B-5143-851B-ED2FDFDFF485}" destId="{2D7791C2-FDB9-504C-B415-9C806DA4A827}" srcOrd="2" destOrd="0" parTransId="{A2F43D6E-94B3-F147-ABEB-51F15D0124E5}" sibTransId="{8F2C56AE-613E-ED4B-A30B-7C726C6C9F18}"/>
    <dgm:cxn modelId="{C11E8511-3F44-F349-A5E5-00914B47C6F8}" type="presOf" srcId="{1AAE89E5-777B-5143-851B-ED2FDFDFF485}" destId="{4026EA82-F967-6042-8163-7D252449B1C2}" srcOrd="0" destOrd="0" presId="urn:microsoft.com/office/officeart/2005/8/layout/default"/>
    <dgm:cxn modelId="{660B0513-DA99-6743-B6DD-F345BB36E259}" srcId="{1AAE89E5-777B-5143-851B-ED2FDFDFF485}" destId="{8217E86C-C98A-CA45-81A8-3B6A5C849B59}" srcOrd="1" destOrd="0" parTransId="{EC704D98-2BA3-5646-B713-4B4D8A0AD7A9}" sibTransId="{1D4988BF-8263-7E4D-B945-428796046E98}"/>
    <dgm:cxn modelId="{674E9E7F-1C0A-6342-A6CD-FD3AD980939E}" srcId="{1AAE89E5-777B-5143-851B-ED2FDFDFF485}" destId="{73715CE2-FE0F-3949-A130-F94375B8FFCD}" srcOrd="3" destOrd="0" parTransId="{F7DAFFDF-0B57-3549-8E01-E7A6E277CE39}" sibTransId="{10FD024C-476D-B64A-BC16-3DF20B7896A6}"/>
    <dgm:cxn modelId="{16E144CD-E8F0-484A-9706-643509BAA0FA}" type="presOf" srcId="{2D7791C2-FDB9-504C-B415-9C806DA4A827}" destId="{A25DB5C0-36FF-6148-8BB9-365B2378C232}" srcOrd="0" destOrd="0" presId="urn:microsoft.com/office/officeart/2005/8/layout/default"/>
    <dgm:cxn modelId="{B133139A-1E48-FD4D-A873-905ED42793EA}" srcId="{1AAE89E5-777B-5143-851B-ED2FDFDFF485}" destId="{D8AC5473-B969-574B-8F58-09176CC38CD2}" srcOrd="0" destOrd="0" parTransId="{386F30D3-E5C2-4F49-9199-0364AC43EFD4}" sibTransId="{5397F25E-C9EE-0240-B002-9E8F65A33B4B}"/>
    <dgm:cxn modelId="{CC0662EE-51BA-DF43-8077-0AA02C8B56BB}" type="presOf" srcId="{73715CE2-FE0F-3949-A130-F94375B8FFCD}" destId="{479E9ADA-2E2A-6D43-AE0A-51D0F523C8D2}" srcOrd="0" destOrd="0" presId="urn:microsoft.com/office/officeart/2005/8/layout/default"/>
    <dgm:cxn modelId="{7769A84B-C209-4C45-A244-F93FC10DFA2C}" type="presParOf" srcId="{4026EA82-F967-6042-8163-7D252449B1C2}" destId="{264FE9F5-0A1E-3444-9834-F05303A01532}" srcOrd="0" destOrd="0" presId="urn:microsoft.com/office/officeart/2005/8/layout/default"/>
    <dgm:cxn modelId="{DD6A4B50-6640-2B43-9E94-A04A84CF8E1F}" type="presParOf" srcId="{4026EA82-F967-6042-8163-7D252449B1C2}" destId="{AFB25D3C-FEE2-AE41-89DF-5BFF3096C9D4}" srcOrd="1" destOrd="0" presId="urn:microsoft.com/office/officeart/2005/8/layout/default"/>
    <dgm:cxn modelId="{2D59662E-654E-1740-9667-B791EB781F24}" type="presParOf" srcId="{4026EA82-F967-6042-8163-7D252449B1C2}" destId="{31C37128-0A3B-2241-8BE1-B06CDF185D00}" srcOrd="2" destOrd="0" presId="urn:microsoft.com/office/officeart/2005/8/layout/default"/>
    <dgm:cxn modelId="{0C240E64-70E4-6246-A8EA-34DAB7FB2FA2}" type="presParOf" srcId="{4026EA82-F967-6042-8163-7D252449B1C2}" destId="{0388E9DE-C8E4-8D46-88F6-BE4111B26812}" srcOrd="3" destOrd="0" presId="urn:microsoft.com/office/officeart/2005/8/layout/default"/>
    <dgm:cxn modelId="{3BABAA78-BFB0-3A43-A399-E4CACCD9C4E2}" type="presParOf" srcId="{4026EA82-F967-6042-8163-7D252449B1C2}" destId="{A25DB5C0-36FF-6148-8BB9-365B2378C232}" srcOrd="4" destOrd="0" presId="urn:microsoft.com/office/officeart/2005/8/layout/default"/>
    <dgm:cxn modelId="{161DFAF8-402E-D04E-A82A-CBC99309ADB0}" type="presParOf" srcId="{4026EA82-F967-6042-8163-7D252449B1C2}" destId="{73F464B8-AB8E-7C40-8A6B-84B6C2013127}" srcOrd="5" destOrd="0" presId="urn:microsoft.com/office/officeart/2005/8/layout/default"/>
    <dgm:cxn modelId="{DEFD0398-D1E0-8342-A890-F98EAD8AA648}" type="presParOf" srcId="{4026EA82-F967-6042-8163-7D252449B1C2}" destId="{479E9ADA-2E2A-6D43-AE0A-51D0F523C8D2}" srcOrd="6" destOrd="0" presId="urn:microsoft.com/office/officeart/2005/8/layout/default"/>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6C8C9CF-B679-8644-9FB3-0D1FAA70B24A}" type="doc">
      <dgm:prSet loTypeId="urn:microsoft.com/office/officeart/2005/8/layout/pyramid2" loCatId="pyramid" qsTypeId="urn:microsoft.com/office/officeart/2005/8/quickstyle/simple4" qsCatId="simple" csTypeId="urn:microsoft.com/office/officeart/2005/8/colors/accent1_2" csCatId="accent1" phldr="1"/>
      <dgm:spPr/>
    </dgm:pt>
    <dgm:pt modelId="{9CC1D4D6-FA0A-2246-9F7C-12687112C3F6}">
      <dgm:prSet phldrT="[Text]" custT="1"/>
      <dgm:spPr>
        <a:ln>
          <a:noFill/>
        </a:ln>
        <a:effectLst/>
      </dgm:spPr>
      <dgm:t>
        <a:bodyPr/>
        <a:lstStyle/>
        <a:p>
          <a:r>
            <a:rPr lang="en-US" sz="1200" dirty="0" smtClean="0"/>
            <a:t>At the low end are attackers who simply want to send e-mail that a recipient does not want to receive</a:t>
          </a:r>
          <a:endParaRPr lang="en-US" sz="1200" dirty="0"/>
        </a:p>
      </dgm:t>
    </dgm:pt>
    <dgm:pt modelId="{C6A2A740-76DF-3841-95CD-B01CBC33EEC0}" type="parTrans" cxnId="{64E95A8E-1F8E-754D-A260-FA5152E1DE39}">
      <dgm:prSet/>
      <dgm:spPr/>
      <dgm:t>
        <a:bodyPr/>
        <a:lstStyle/>
        <a:p>
          <a:endParaRPr lang="en-US"/>
        </a:p>
      </dgm:t>
    </dgm:pt>
    <dgm:pt modelId="{8000220D-BA08-FE46-BFC1-1B4819864BD2}" type="sibTrans" cxnId="{64E95A8E-1F8E-754D-A260-FA5152E1DE39}">
      <dgm:prSet/>
      <dgm:spPr/>
      <dgm:t>
        <a:bodyPr/>
        <a:lstStyle/>
        <a:p>
          <a:endParaRPr lang="en-US"/>
        </a:p>
      </dgm:t>
    </dgm:pt>
    <dgm:pt modelId="{BD05AFBD-277B-AD48-8919-A351EE84BF44}">
      <dgm:prSet custT="1"/>
      <dgm:spPr>
        <a:ln>
          <a:noFill/>
        </a:ln>
        <a:effectLst/>
      </dgm:spPr>
      <dgm:t>
        <a:bodyPr/>
        <a:lstStyle/>
        <a:p>
          <a:r>
            <a:rPr lang="en-US" sz="1200" dirty="0" smtClean="0"/>
            <a:t>The next level are professional senders of bulk spam mail and often operate as commercial enterprises and send messages on behalf of third parties</a:t>
          </a:r>
        </a:p>
      </dgm:t>
    </dgm:pt>
    <dgm:pt modelId="{E4982A27-160A-EF41-951C-7E86826E15E1}" type="parTrans" cxnId="{B6014E6B-1744-7B49-9CC3-F4EA17AFA317}">
      <dgm:prSet/>
      <dgm:spPr/>
      <dgm:t>
        <a:bodyPr/>
        <a:lstStyle/>
        <a:p>
          <a:endParaRPr lang="en-US"/>
        </a:p>
      </dgm:t>
    </dgm:pt>
    <dgm:pt modelId="{E720A009-736D-EF4C-A0CA-635EB75F0A02}" type="sibTrans" cxnId="{B6014E6B-1744-7B49-9CC3-F4EA17AFA317}">
      <dgm:prSet/>
      <dgm:spPr/>
      <dgm:t>
        <a:bodyPr/>
        <a:lstStyle/>
        <a:p>
          <a:endParaRPr lang="en-US"/>
        </a:p>
      </dgm:t>
    </dgm:pt>
    <dgm:pt modelId="{9425AC48-3163-E04D-AA90-1EC59A734E08}">
      <dgm:prSet custT="1"/>
      <dgm:spPr>
        <a:ln>
          <a:noFill/>
        </a:ln>
        <a:effectLst/>
      </dgm:spPr>
      <dgm:t>
        <a:bodyPr/>
        <a:lstStyle/>
        <a:p>
          <a:r>
            <a:rPr lang="en-US" sz="1200" b="0" i="0" dirty="0" smtClean="0"/>
            <a:t>The most sophisticated and financially motivated senders of messages are those who stand to receive substantial financial benefit, such as from an e-mail based fraud scheme</a:t>
          </a:r>
        </a:p>
      </dgm:t>
    </dgm:pt>
    <dgm:pt modelId="{33C87EDF-B700-3A41-B3E3-BF6A2EABF370}" type="parTrans" cxnId="{AA78436C-BEC2-5D4E-BB35-88EBD1FC8CEC}">
      <dgm:prSet/>
      <dgm:spPr/>
      <dgm:t>
        <a:bodyPr/>
        <a:lstStyle/>
        <a:p>
          <a:endParaRPr lang="en-US"/>
        </a:p>
      </dgm:t>
    </dgm:pt>
    <dgm:pt modelId="{EE71451B-BAD8-0748-9A7D-20BB5E374FDE}" type="sibTrans" cxnId="{AA78436C-BEC2-5D4E-BB35-88EBD1FC8CEC}">
      <dgm:prSet/>
      <dgm:spPr/>
      <dgm:t>
        <a:bodyPr/>
        <a:lstStyle/>
        <a:p>
          <a:endParaRPr lang="en-US"/>
        </a:p>
      </dgm:t>
    </dgm:pt>
    <dgm:pt modelId="{67E49920-C144-F04D-8103-3BDAE951159D}" type="pres">
      <dgm:prSet presAssocID="{D6C8C9CF-B679-8644-9FB3-0D1FAA70B24A}" presName="compositeShape" presStyleCnt="0">
        <dgm:presLayoutVars>
          <dgm:dir/>
          <dgm:resizeHandles/>
        </dgm:presLayoutVars>
      </dgm:prSet>
      <dgm:spPr/>
    </dgm:pt>
    <dgm:pt modelId="{71AFBD50-8486-754D-A169-DE944DDE6132}" type="pres">
      <dgm:prSet presAssocID="{D6C8C9CF-B679-8644-9FB3-0D1FAA70B24A}" presName="pyramid" presStyleLbl="node1" presStyleIdx="0" presStyleCnt="1"/>
      <dgm:spPr/>
    </dgm:pt>
    <dgm:pt modelId="{C135134D-D8DB-8E4B-AC86-4B535C84FA2A}" type="pres">
      <dgm:prSet presAssocID="{D6C8C9CF-B679-8644-9FB3-0D1FAA70B24A}" presName="theList" presStyleCnt="0"/>
      <dgm:spPr/>
    </dgm:pt>
    <dgm:pt modelId="{125C339E-4F11-1B46-BE35-E3E1A805B6F5}" type="pres">
      <dgm:prSet presAssocID="{9CC1D4D6-FA0A-2246-9F7C-12687112C3F6}" presName="aNode" presStyleLbl="fgAcc1" presStyleIdx="0" presStyleCnt="3" custLinFactY="227487" custLinFactNeighborX="-49279" custLinFactNeighborY="300000">
        <dgm:presLayoutVars>
          <dgm:bulletEnabled val="1"/>
        </dgm:presLayoutVars>
      </dgm:prSet>
      <dgm:spPr/>
      <dgm:t>
        <a:bodyPr/>
        <a:lstStyle/>
        <a:p>
          <a:endParaRPr lang="en-US"/>
        </a:p>
      </dgm:t>
    </dgm:pt>
    <dgm:pt modelId="{652F225B-26C0-484E-BBC6-F08100347409}" type="pres">
      <dgm:prSet presAssocID="{9CC1D4D6-FA0A-2246-9F7C-12687112C3F6}" presName="aSpace" presStyleCnt="0"/>
      <dgm:spPr/>
    </dgm:pt>
    <dgm:pt modelId="{55495424-309A-C641-9EE7-3186D954936C}" type="pres">
      <dgm:prSet presAssocID="{BD05AFBD-277B-AD48-8919-A351EE84BF44}" presName="aNode" presStyleLbl="fgAcc1" presStyleIdx="1" presStyleCnt="3" custLinFactY="12504" custLinFactNeighborX="-49279" custLinFactNeighborY="100000">
        <dgm:presLayoutVars>
          <dgm:bulletEnabled val="1"/>
        </dgm:presLayoutVars>
      </dgm:prSet>
      <dgm:spPr/>
      <dgm:t>
        <a:bodyPr/>
        <a:lstStyle/>
        <a:p>
          <a:endParaRPr lang="en-US"/>
        </a:p>
      </dgm:t>
    </dgm:pt>
    <dgm:pt modelId="{DE11AE31-EDD1-EA4C-B0B2-A5E348461C20}" type="pres">
      <dgm:prSet presAssocID="{BD05AFBD-277B-AD48-8919-A351EE84BF44}" presName="aSpace" presStyleCnt="0"/>
      <dgm:spPr/>
    </dgm:pt>
    <dgm:pt modelId="{27B93BF8-083B-4A4C-B716-EB033E916BB9}" type="pres">
      <dgm:prSet presAssocID="{9425AC48-3163-E04D-AA90-1EC59A734E08}" presName="aNode" presStyleLbl="fgAcc1" presStyleIdx="2" presStyleCnt="3" custLinFactY="-197477" custLinFactNeighborX="-46514" custLinFactNeighborY="-200000">
        <dgm:presLayoutVars>
          <dgm:bulletEnabled val="1"/>
        </dgm:presLayoutVars>
      </dgm:prSet>
      <dgm:spPr/>
      <dgm:t>
        <a:bodyPr/>
        <a:lstStyle/>
        <a:p>
          <a:endParaRPr lang="en-US"/>
        </a:p>
      </dgm:t>
    </dgm:pt>
    <dgm:pt modelId="{E46491A7-DA0E-BA4B-99BF-43A705101C5A}" type="pres">
      <dgm:prSet presAssocID="{9425AC48-3163-E04D-AA90-1EC59A734E08}" presName="aSpace" presStyleCnt="0"/>
      <dgm:spPr/>
    </dgm:pt>
  </dgm:ptLst>
  <dgm:cxnLst>
    <dgm:cxn modelId="{05A7462D-2FBF-5C46-A65B-054D773E8864}" type="presOf" srcId="{D6C8C9CF-B679-8644-9FB3-0D1FAA70B24A}" destId="{67E49920-C144-F04D-8103-3BDAE951159D}" srcOrd="0" destOrd="0" presId="urn:microsoft.com/office/officeart/2005/8/layout/pyramid2"/>
    <dgm:cxn modelId="{6FCD8270-A7D7-B545-9517-5801C9C3FDCD}" type="presOf" srcId="{BD05AFBD-277B-AD48-8919-A351EE84BF44}" destId="{55495424-309A-C641-9EE7-3186D954936C}" srcOrd="0" destOrd="0" presId="urn:microsoft.com/office/officeart/2005/8/layout/pyramid2"/>
    <dgm:cxn modelId="{64E95A8E-1F8E-754D-A260-FA5152E1DE39}" srcId="{D6C8C9CF-B679-8644-9FB3-0D1FAA70B24A}" destId="{9CC1D4D6-FA0A-2246-9F7C-12687112C3F6}" srcOrd="0" destOrd="0" parTransId="{C6A2A740-76DF-3841-95CD-B01CBC33EEC0}" sibTransId="{8000220D-BA08-FE46-BFC1-1B4819864BD2}"/>
    <dgm:cxn modelId="{57B2C042-B3D4-6040-A1A5-F9BCFD482C31}" type="presOf" srcId="{9CC1D4D6-FA0A-2246-9F7C-12687112C3F6}" destId="{125C339E-4F11-1B46-BE35-E3E1A805B6F5}" srcOrd="0" destOrd="0" presId="urn:microsoft.com/office/officeart/2005/8/layout/pyramid2"/>
    <dgm:cxn modelId="{1EE04334-B3EB-F04D-942B-EA1199456816}" type="presOf" srcId="{9425AC48-3163-E04D-AA90-1EC59A734E08}" destId="{27B93BF8-083B-4A4C-B716-EB033E916BB9}" srcOrd="0" destOrd="0" presId="urn:microsoft.com/office/officeart/2005/8/layout/pyramid2"/>
    <dgm:cxn modelId="{B6014E6B-1744-7B49-9CC3-F4EA17AFA317}" srcId="{D6C8C9CF-B679-8644-9FB3-0D1FAA70B24A}" destId="{BD05AFBD-277B-AD48-8919-A351EE84BF44}" srcOrd="1" destOrd="0" parTransId="{E4982A27-160A-EF41-951C-7E86826E15E1}" sibTransId="{E720A009-736D-EF4C-A0CA-635EB75F0A02}"/>
    <dgm:cxn modelId="{AA78436C-BEC2-5D4E-BB35-88EBD1FC8CEC}" srcId="{D6C8C9CF-B679-8644-9FB3-0D1FAA70B24A}" destId="{9425AC48-3163-E04D-AA90-1EC59A734E08}" srcOrd="2" destOrd="0" parTransId="{33C87EDF-B700-3A41-B3E3-BF6A2EABF370}" sibTransId="{EE71451B-BAD8-0748-9A7D-20BB5E374FDE}"/>
    <dgm:cxn modelId="{90BA1E5A-B705-1142-990A-336FBE234215}" type="presParOf" srcId="{67E49920-C144-F04D-8103-3BDAE951159D}" destId="{71AFBD50-8486-754D-A169-DE944DDE6132}" srcOrd="0" destOrd="0" presId="urn:microsoft.com/office/officeart/2005/8/layout/pyramid2"/>
    <dgm:cxn modelId="{C6808BC2-7543-934B-8826-B0D744084770}" type="presParOf" srcId="{67E49920-C144-F04D-8103-3BDAE951159D}" destId="{C135134D-D8DB-8E4B-AC86-4B535C84FA2A}" srcOrd="1" destOrd="0" presId="urn:microsoft.com/office/officeart/2005/8/layout/pyramid2"/>
    <dgm:cxn modelId="{DE5D8D7E-B0D0-8343-8D56-A66827C3B2B4}" type="presParOf" srcId="{C135134D-D8DB-8E4B-AC86-4B535C84FA2A}" destId="{125C339E-4F11-1B46-BE35-E3E1A805B6F5}" srcOrd="0" destOrd="0" presId="urn:microsoft.com/office/officeart/2005/8/layout/pyramid2"/>
    <dgm:cxn modelId="{45AE60CE-AC7C-6842-A68E-2E9A4436354F}" type="presParOf" srcId="{C135134D-D8DB-8E4B-AC86-4B535C84FA2A}" destId="{652F225B-26C0-484E-BBC6-F08100347409}" srcOrd="1" destOrd="0" presId="urn:microsoft.com/office/officeart/2005/8/layout/pyramid2"/>
    <dgm:cxn modelId="{683FF103-B75B-9840-AE51-0AE10F47B04E}" type="presParOf" srcId="{C135134D-D8DB-8E4B-AC86-4B535C84FA2A}" destId="{55495424-309A-C641-9EE7-3186D954936C}" srcOrd="2" destOrd="0" presId="urn:microsoft.com/office/officeart/2005/8/layout/pyramid2"/>
    <dgm:cxn modelId="{F7F08C80-DBDD-5648-B953-989C172EB579}" type="presParOf" srcId="{C135134D-D8DB-8E4B-AC86-4B535C84FA2A}" destId="{DE11AE31-EDD1-EA4C-B0B2-A5E348461C20}" srcOrd="3" destOrd="0" presId="urn:microsoft.com/office/officeart/2005/8/layout/pyramid2"/>
    <dgm:cxn modelId="{83CAF178-E65A-9E4F-9DEF-F34BC642FEAD}" type="presParOf" srcId="{C135134D-D8DB-8E4B-AC86-4B535C84FA2A}" destId="{27B93BF8-083B-4A4C-B716-EB033E916BB9}" srcOrd="4" destOrd="0" presId="urn:microsoft.com/office/officeart/2005/8/layout/pyramid2"/>
    <dgm:cxn modelId="{3B8A41AD-2734-3B46-94D8-627B0356B42B}" type="presParOf" srcId="{C135134D-D8DB-8E4B-AC86-4B535C84FA2A}" destId="{E46491A7-DA0E-BA4B-99BF-43A705101C5A}" srcOrd="5" destOrd="0" presId="urn:microsoft.com/office/officeart/2005/8/layout/pyramid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2C34DAFC-F23A-9644-BBCF-BB93EDE38C0F}">
      <dsp:nvSpPr>
        <dsp:cNvPr id="0" name=""/>
        <dsp:cNvSpPr/>
      </dsp:nvSpPr>
      <dsp:spPr>
        <a:xfrm>
          <a:off x="0" y="152395"/>
          <a:ext cx="2666999" cy="1600199"/>
        </a:xfrm>
        <a:prstGeom prst="rect">
          <a:avLst/>
        </a:prstGeom>
        <a:solidFill>
          <a:schemeClr val="accent2">
            <a:lumMod val="50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en-US" sz="1700" kern="1200" dirty="0" smtClean="0"/>
            <a:t>Simple Mail Transfer Protocol</a:t>
          </a:r>
          <a:endParaRPr lang="en-US" sz="1700" kern="1200" dirty="0"/>
        </a:p>
      </dsp:txBody>
      <dsp:txXfrm>
        <a:off x="0" y="152395"/>
        <a:ext cx="2666999" cy="1600199"/>
      </dsp:txXfrm>
    </dsp:sp>
    <dsp:sp modelId="{C9CE7AE0-1AF4-4848-9C47-B20018A6E96F}">
      <dsp:nvSpPr>
        <dsp:cNvPr id="0" name=""/>
        <dsp:cNvSpPr/>
      </dsp:nvSpPr>
      <dsp:spPr>
        <a:xfrm>
          <a:off x="2971811" y="1752595"/>
          <a:ext cx="2666999" cy="1600199"/>
        </a:xfrm>
        <a:prstGeom prst="rect">
          <a:avLst/>
        </a:prstGeom>
        <a:solidFill>
          <a:schemeClr val="accent3">
            <a:lumMod val="75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en-US" sz="1700" kern="1200" dirty="0" smtClean="0"/>
            <a:t>Is a text-based client-server protocol</a:t>
          </a:r>
          <a:endParaRPr lang="en-US" sz="1700" kern="1200" dirty="0"/>
        </a:p>
      </dsp:txBody>
      <dsp:txXfrm>
        <a:off x="2971811" y="1752595"/>
        <a:ext cx="2666999" cy="1600199"/>
      </dsp:txXfrm>
    </dsp:sp>
    <dsp:sp modelId="{771C0D72-17DD-0D42-B505-C203312DDB51}">
      <dsp:nvSpPr>
        <dsp:cNvPr id="0" name=""/>
        <dsp:cNvSpPr/>
      </dsp:nvSpPr>
      <dsp:spPr>
        <a:xfrm>
          <a:off x="5867399" y="76194"/>
          <a:ext cx="2666999" cy="1600199"/>
        </a:xfrm>
        <a:prstGeom prst="rect">
          <a:avLst/>
        </a:prstGeom>
        <a:solidFill>
          <a:schemeClr val="accent5">
            <a:lumMod val="50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en-US" sz="1700" kern="1200" dirty="0" smtClean="0"/>
            <a:t>Encapsulates an email message in an envelope and is used to relay the encapsulated messages from source to destination through multiple </a:t>
          </a:r>
          <a:r>
            <a:rPr lang="en-US" sz="1700" kern="1200" dirty="0" err="1" smtClean="0"/>
            <a:t>MTAs</a:t>
          </a:r>
          <a:endParaRPr lang="en-US" sz="1700" kern="1200" dirty="0"/>
        </a:p>
      </dsp:txBody>
      <dsp:txXfrm>
        <a:off x="5867399" y="76194"/>
        <a:ext cx="2666999" cy="1600199"/>
      </dsp:txXfrm>
    </dsp:sp>
    <dsp:sp modelId="{775A8041-4F14-E347-9D9F-9C089E10A5E7}">
      <dsp:nvSpPr>
        <dsp:cNvPr id="0" name=""/>
        <dsp:cNvSpPr/>
      </dsp:nvSpPr>
      <dsp:spPr>
        <a:xfrm>
          <a:off x="76196" y="3352805"/>
          <a:ext cx="2666999" cy="1600199"/>
        </a:xfrm>
        <a:prstGeom prst="rect">
          <a:avLst/>
        </a:prstGeom>
        <a:solidFill>
          <a:schemeClr val="accent5">
            <a:lumMod val="25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en-US" sz="1700" kern="1200" dirty="0" smtClean="0"/>
            <a:t>Was originally specified in 1982 as RFC 821</a:t>
          </a:r>
          <a:endParaRPr lang="en-US" sz="1700" kern="1200" dirty="0"/>
        </a:p>
      </dsp:txBody>
      <dsp:txXfrm>
        <a:off x="76196" y="3352805"/>
        <a:ext cx="2666999" cy="1600199"/>
      </dsp:txXfrm>
    </dsp:sp>
    <dsp:sp modelId="{70C75229-E5B3-5643-B958-1154A464F8D9}">
      <dsp:nvSpPr>
        <dsp:cNvPr id="0" name=""/>
        <dsp:cNvSpPr/>
      </dsp:nvSpPr>
      <dsp:spPr>
        <a:xfrm>
          <a:off x="5867399" y="3429000"/>
          <a:ext cx="2666999" cy="1600199"/>
        </a:xfrm>
        <a:prstGeom prst="rect">
          <a:avLst/>
        </a:prstGeom>
        <a:solidFill>
          <a:schemeClr val="accent6">
            <a:lumMod val="50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en-US" sz="1700" kern="1200" dirty="0" smtClean="0"/>
            <a:t>The term Extended SMTP (ESMTP) is often used to refer to later versions of SMTP</a:t>
          </a:r>
          <a:endParaRPr lang="en-US" sz="1700" kern="1200" dirty="0"/>
        </a:p>
      </dsp:txBody>
      <dsp:txXfrm>
        <a:off x="5867399" y="3429000"/>
        <a:ext cx="2666999" cy="1600199"/>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26F89071-58DE-7F48-AA27-69ED257A3458}">
      <dsp:nvSpPr>
        <dsp:cNvPr id="0" name=""/>
        <dsp:cNvSpPr/>
      </dsp:nvSpPr>
      <dsp:spPr>
        <a:xfrm>
          <a:off x="822958" y="-609604"/>
          <a:ext cx="4968249" cy="4632950"/>
        </a:xfrm>
        <a:prstGeom prst="pie">
          <a:avLst>
            <a:gd name="adj1" fmla="val 16200000"/>
            <a:gd name="adj2" fmla="val 180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b="1" kern="1200" dirty="0" smtClean="0"/>
            <a:t>Five new message header fields are defined, which may be included in an RFC 5322 header; these fields provide information about the body of the message</a:t>
          </a:r>
          <a:endParaRPr lang="en-US" sz="1500" b="1" kern="1200" dirty="0"/>
        </a:p>
      </dsp:txBody>
      <dsp:txXfrm>
        <a:off x="3524148" y="245284"/>
        <a:ext cx="1685656" cy="1544316"/>
      </dsp:txXfrm>
    </dsp:sp>
    <dsp:sp modelId="{BEE27C44-ADAF-6140-86F7-1803D7077230}">
      <dsp:nvSpPr>
        <dsp:cNvPr id="0" name=""/>
        <dsp:cNvSpPr/>
      </dsp:nvSpPr>
      <dsp:spPr>
        <a:xfrm>
          <a:off x="670542" y="-457208"/>
          <a:ext cx="4968249" cy="4632950"/>
        </a:xfrm>
        <a:prstGeom prst="pie">
          <a:avLst>
            <a:gd name="adj1" fmla="val 1800000"/>
            <a:gd name="adj2" fmla="val 900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b="1" kern="1200" dirty="0" smtClean="0"/>
            <a:t>A number of content formats are defined, thus standardizing representations that support multimedia electronic mail</a:t>
          </a:r>
        </a:p>
      </dsp:txBody>
      <dsp:txXfrm>
        <a:off x="2030896" y="2465962"/>
        <a:ext cx="2247541" cy="1434008"/>
      </dsp:txXfrm>
    </dsp:sp>
    <dsp:sp modelId="{6DF23F47-D2AF-2747-A71B-8C574F0D8735}">
      <dsp:nvSpPr>
        <dsp:cNvPr id="0" name=""/>
        <dsp:cNvSpPr/>
      </dsp:nvSpPr>
      <dsp:spPr>
        <a:xfrm>
          <a:off x="441956" y="-609598"/>
          <a:ext cx="4968249" cy="4632950"/>
        </a:xfrm>
        <a:prstGeom prst="pie">
          <a:avLst>
            <a:gd name="adj1" fmla="val 9000000"/>
            <a:gd name="adj2" fmla="val 1620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b="1" kern="1200" dirty="0" smtClean="0"/>
            <a:t>Transfer encodings are defined that enable the conversion of any content format into a form that is protected from alteration by the mail system</a:t>
          </a:r>
        </a:p>
      </dsp:txBody>
      <dsp:txXfrm>
        <a:off x="974269" y="300445"/>
        <a:ext cx="1685656" cy="1544316"/>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E470F2D5-B98B-CE44-9C25-1EFDE028763E}">
      <dsp:nvSpPr>
        <dsp:cNvPr id="0" name=""/>
        <dsp:cNvSpPr/>
      </dsp:nvSpPr>
      <dsp:spPr>
        <a:xfrm>
          <a:off x="0" y="233392"/>
          <a:ext cx="7570787" cy="757575"/>
        </a:xfrm>
        <a:prstGeom prst="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87577" tIns="270764" rIns="587577" bIns="92456" numCol="1" spcCol="1270" anchor="t" anchorCtr="0">
          <a:noAutofit/>
        </a:bodyPr>
        <a:lstStyle/>
        <a:p>
          <a:pPr marL="114300" lvl="1" indent="-114300" algn="l" defTabSz="577850" rtl="0">
            <a:lnSpc>
              <a:spcPct val="90000"/>
            </a:lnSpc>
            <a:spcBef>
              <a:spcPct val="0"/>
            </a:spcBef>
            <a:spcAft>
              <a:spcPct val="15000"/>
            </a:spcAft>
            <a:buChar char="••"/>
          </a:pPr>
          <a:r>
            <a:rPr lang="en-US" sz="1300" kern="1200" dirty="0" smtClean="0"/>
            <a:t>Must have the parameter value 1.0</a:t>
          </a:r>
          <a:endParaRPr lang="en-US" sz="1300" kern="1200" dirty="0"/>
        </a:p>
        <a:p>
          <a:pPr marL="114300" lvl="1" indent="-114300" algn="l" defTabSz="577850" rtl="0">
            <a:lnSpc>
              <a:spcPct val="90000"/>
            </a:lnSpc>
            <a:spcBef>
              <a:spcPct val="0"/>
            </a:spcBef>
            <a:spcAft>
              <a:spcPct val="15000"/>
            </a:spcAft>
            <a:buChar char="••"/>
          </a:pPr>
          <a:r>
            <a:rPr lang="en-US" sz="1300" kern="1200" dirty="0" smtClean="0"/>
            <a:t>This field indicates that the message conforms to RFCs 2045 and 2046</a:t>
          </a:r>
          <a:endParaRPr lang="en-US" sz="1300" kern="1200" dirty="0"/>
        </a:p>
      </dsp:txBody>
      <dsp:txXfrm>
        <a:off x="0" y="233392"/>
        <a:ext cx="7570787" cy="757575"/>
      </dsp:txXfrm>
    </dsp:sp>
    <dsp:sp modelId="{F3CA23DE-DCA7-8A4B-85EC-47D5EDFB354E}">
      <dsp:nvSpPr>
        <dsp:cNvPr id="0" name=""/>
        <dsp:cNvSpPr/>
      </dsp:nvSpPr>
      <dsp:spPr>
        <a:xfrm>
          <a:off x="378539" y="41512"/>
          <a:ext cx="5299550" cy="383760"/>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0310" tIns="0" rIns="200310" bIns="0" numCol="1" spcCol="1270" anchor="ctr" anchorCtr="0">
          <a:noAutofit/>
        </a:bodyPr>
        <a:lstStyle/>
        <a:p>
          <a:pPr lvl="0" algn="l" defTabSz="577850" rtl="0">
            <a:lnSpc>
              <a:spcPct val="90000"/>
            </a:lnSpc>
            <a:spcBef>
              <a:spcPct val="0"/>
            </a:spcBef>
            <a:spcAft>
              <a:spcPct val="35000"/>
            </a:spcAft>
          </a:pPr>
          <a:r>
            <a:rPr lang="en-US" sz="1300" kern="1200" dirty="0" smtClean="0"/>
            <a:t>MIME-Version</a:t>
          </a:r>
          <a:endParaRPr lang="en-US" sz="1300" kern="1200" dirty="0"/>
        </a:p>
      </dsp:txBody>
      <dsp:txXfrm>
        <a:off x="378539" y="41512"/>
        <a:ext cx="5299550" cy="383760"/>
      </dsp:txXfrm>
    </dsp:sp>
    <dsp:sp modelId="{E8BFF411-F451-A341-8D87-49C77FF491D5}">
      <dsp:nvSpPr>
        <dsp:cNvPr id="0" name=""/>
        <dsp:cNvSpPr/>
      </dsp:nvSpPr>
      <dsp:spPr>
        <a:xfrm>
          <a:off x="0" y="1253047"/>
          <a:ext cx="7570787" cy="921375"/>
        </a:xfrm>
        <a:prstGeom prst="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87577" tIns="270764" rIns="587577" bIns="92456" numCol="1" spcCol="1270" anchor="t" anchorCtr="0">
          <a:noAutofit/>
        </a:bodyPr>
        <a:lstStyle/>
        <a:p>
          <a:pPr marL="114300" lvl="1" indent="-114300" algn="l" defTabSz="577850" rtl="0">
            <a:lnSpc>
              <a:spcPct val="90000"/>
            </a:lnSpc>
            <a:spcBef>
              <a:spcPct val="0"/>
            </a:spcBef>
            <a:spcAft>
              <a:spcPct val="15000"/>
            </a:spcAft>
            <a:buChar char="••"/>
          </a:pPr>
          <a:r>
            <a:rPr lang="en-US" sz="1300" kern="1200" dirty="0" smtClean="0"/>
            <a:t>Describes the data contained in the body with sufficient detail that the receiving user agent can pick an appropriate agent or mechanism to represent the data to the user or otherwise deal with the data in an appropriate manner</a:t>
          </a:r>
          <a:endParaRPr lang="en-US" sz="1300" kern="1200" dirty="0"/>
        </a:p>
      </dsp:txBody>
      <dsp:txXfrm>
        <a:off x="0" y="1253047"/>
        <a:ext cx="7570787" cy="921375"/>
      </dsp:txXfrm>
    </dsp:sp>
    <dsp:sp modelId="{9D394F1D-EBFB-3948-A773-BA9E32EB8A2D}">
      <dsp:nvSpPr>
        <dsp:cNvPr id="0" name=""/>
        <dsp:cNvSpPr/>
      </dsp:nvSpPr>
      <dsp:spPr>
        <a:xfrm>
          <a:off x="378539" y="1061167"/>
          <a:ext cx="5299550" cy="383760"/>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0310" tIns="0" rIns="200310" bIns="0" numCol="1" spcCol="1270" anchor="ctr" anchorCtr="0">
          <a:noAutofit/>
        </a:bodyPr>
        <a:lstStyle/>
        <a:p>
          <a:pPr lvl="0" algn="l" defTabSz="577850" rtl="0">
            <a:lnSpc>
              <a:spcPct val="90000"/>
            </a:lnSpc>
            <a:spcBef>
              <a:spcPct val="0"/>
            </a:spcBef>
            <a:spcAft>
              <a:spcPct val="35000"/>
            </a:spcAft>
          </a:pPr>
          <a:r>
            <a:rPr lang="en-US" sz="1300" kern="1200" dirty="0" smtClean="0"/>
            <a:t>Content-Type</a:t>
          </a:r>
          <a:endParaRPr lang="en-US" sz="1300" kern="1200" dirty="0"/>
        </a:p>
      </dsp:txBody>
      <dsp:txXfrm>
        <a:off x="378539" y="1061167"/>
        <a:ext cx="5299550" cy="383760"/>
      </dsp:txXfrm>
    </dsp:sp>
    <dsp:sp modelId="{65D12871-84DA-1740-9B7A-B977929B67B0}">
      <dsp:nvSpPr>
        <dsp:cNvPr id="0" name=""/>
        <dsp:cNvSpPr/>
      </dsp:nvSpPr>
      <dsp:spPr>
        <a:xfrm>
          <a:off x="0" y="2436502"/>
          <a:ext cx="7570787" cy="737100"/>
        </a:xfrm>
        <a:prstGeom prst="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87577" tIns="270764" rIns="587577" bIns="92456" numCol="1" spcCol="1270" anchor="t" anchorCtr="0">
          <a:noAutofit/>
        </a:bodyPr>
        <a:lstStyle/>
        <a:p>
          <a:pPr marL="114300" lvl="1" indent="-114300" algn="l" defTabSz="577850" rtl="0">
            <a:lnSpc>
              <a:spcPct val="90000"/>
            </a:lnSpc>
            <a:spcBef>
              <a:spcPct val="0"/>
            </a:spcBef>
            <a:spcAft>
              <a:spcPct val="15000"/>
            </a:spcAft>
            <a:buChar char="••"/>
          </a:pPr>
          <a:r>
            <a:rPr lang="en-US" sz="1300" kern="1200" dirty="0" smtClean="0"/>
            <a:t>Indicates the type of transformation that has been used to represent the body of the message in a way that is acceptable for mail transport</a:t>
          </a:r>
          <a:endParaRPr lang="en-US" sz="1300" kern="1200" dirty="0"/>
        </a:p>
      </dsp:txBody>
      <dsp:txXfrm>
        <a:off x="0" y="2436502"/>
        <a:ext cx="7570787" cy="737100"/>
      </dsp:txXfrm>
    </dsp:sp>
    <dsp:sp modelId="{68DCEE62-EEE0-0F46-AD28-366444FAC71E}">
      <dsp:nvSpPr>
        <dsp:cNvPr id="0" name=""/>
        <dsp:cNvSpPr/>
      </dsp:nvSpPr>
      <dsp:spPr>
        <a:xfrm>
          <a:off x="378539" y="2244622"/>
          <a:ext cx="5299550" cy="383760"/>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0310" tIns="0" rIns="200310" bIns="0" numCol="1" spcCol="1270" anchor="ctr" anchorCtr="0">
          <a:noAutofit/>
        </a:bodyPr>
        <a:lstStyle/>
        <a:p>
          <a:pPr lvl="0" algn="l" defTabSz="577850" rtl="0">
            <a:lnSpc>
              <a:spcPct val="90000"/>
            </a:lnSpc>
            <a:spcBef>
              <a:spcPct val="0"/>
            </a:spcBef>
            <a:spcAft>
              <a:spcPct val="35000"/>
            </a:spcAft>
          </a:pPr>
          <a:r>
            <a:rPr lang="en-US" sz="1300" kern="1200" dirty="0" smtClean="0"/>
            <a:t>Content-Transfer-Encoding</a:t>
          </a:r>
          <a:endParaRPr lang="en-US" sz="1300" kern="1200" dirty="0"/>
        </a:p>
      </dsp:txBody>
      <dsp:txXfrm>
        <a:off x="378539" y="2244622"/>
        <a:ext cx="5299550" cy="383760"/>
      </dsp:txXfrm>
    </dsp:sp>
    <dsp:sp modelId="{ECB79F2C-3DB5-E846-95BD-E5064A03373D}">
      <dsp:nvSpPr>
        <dsp:cNvPr id="0" name=""/>
        <dsp:cNvSpPr/>
      </dsp:nvSpPr>
      <dsp:spPr>
        <a:xfrm>
          <a:off x="0" y="3435682"/>
          <a:ext cx="7570787" cy="552825"/>
        </a:xfrm>
        <a:prstGeom prst="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87577" tIns="270764" rIns="587577" bIns="92456" numCol="1" spcCol="1270" anchor="t" anchorCtr="0">
          <a:noAutofit/>
        </a:bodyPr>
        <a:lstStyle/>
        <a:p>
          <a:pPr marL="114300" lvl="1" indent="-114300" algn="l" defTabSz="577850" rtl="0">
            <a:lnSpc>
              <a:spcPct val="90000"/>
            </a:lnSpc>
            <a:spcBef>
              <a:spcPct val="0"/>
            </a:spcBef>
            <a:spcAft>
              <a:spcPct val="15000"/>
            </a:spcAft>
            <a:buChar char="••"/>
          </a:pPr>
          <a:r>
            <a:rPr lang="en-US" sz="1300" kern="1200" dirty="0" smtClean="0"/>
            <a:t>Used to identify MIME entities uniquely in multiple contexts</a:t>
          </a:r>
          <a:endParaRPr lang="en-US" sz="1300" kern="1200" dirty="0"/>
        </a:p>
      </dsp:txBody>
      <dsp:txXfrm>
        <a:off x="0" y="3435682"/>
        <a:ext cx="7570787" cy="552825"/>
      </dsp:txXfrm>
    </dsp:sp>
    <dsp:sp modelId="{55DCFBF2-A92B-2D49-8E14-712808571A32}">
      <dsp:nvSpPr>
        <dsp:cNvPr id="0" name=""/>
        <dsp:cNvSpPr/>
      </dsp:nvSpPr>
      <dsp:spPr>
        <a:xfrm>
          <a:off x="378539" y="3243802"/>
          <a:ext cx="5299550" cy="383760"/>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0310" tIns="0" rIns="200310" bIns="0" numCol="1" spcCol="1270" anchor="ctr" anchorCtr="0">
          <a:noAutofit/>
        </a:bodyPr>
        <a:lstStyle/>
        <a:p>
          <a:pPr lvl="0" algn="l" defTabSz="577850" rtl="0">
            <a:lnSpc>
              <a:spcPct val="90000"/>
            </a:lnSpc>
            <a:spcBef>
              <a:spcPct val="0"/>
            </a:spcBef>
            <a:spcAft>
              <a:spcPct val="35000"/>
            </a:spcAft>
          </a:pPr>
          <a:r>
            <a:rPr lang="en-US" sz="1300" kern="1200" dirty="0" smtClean="0"/>
            <a:t>Content-ID</a:t>
          </a:r>
          <a:endParaRPr lang="en-US" sz="1300" kern="1200" dirty="0"/>
        </a:p>
      </dsp:txBody>
      <dsp:txXfrm>
        <a:off x="378539" y="3243802"/>
        <a:ext cx="5299550" cy="383760"/>
      </dsp:txXfrm>
    </dsp:sp>
    <dsp:sp modelId="{7052E4C0-0365-DF4E-996C-A00169E89A13}">
      <dsp:nvSpPr>
        <dsp:cNvPr id="0" name=""/>
        <dsp:cNvSpPr/>
      </dsp:nvSpPr>
      <dsp:spPr>
        <a:xfrm>
          <a:off x="0" y="4250587"/>
          <a:ext cx="7570787" cy="737100"/>
        </a:xfrm>
        <a:prstGeom prst="rect">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87577" tIns="270764" rIns="587577" bIns="92456" numCol="1" spcCol="1270" anchor="t" anchorCtr="0">
          <a:noAutofit/>
        </a:bodyPr>
        <a:lstStyle/>
        <a:p>
          <a:pPr marL="114300" lvl="1" indent="-114300" algn="l" defTabSz="577850" rtl="0">
            <a:lnSpc>
              <a:spcPct val="90000"/>
            </a:lnSpc>
            <a:spcBef>
              <a:spcPct val="0"/>
            </a:spcBef>
            <a:spcAft>
              <a:spcPct val="15000"/>
            </a:spcAft>
            <a:buChar char="••"/>
          </a:pPr>
          <a:r>
            <a:rPr lang="en-US" sz="1300" kern="1200" dirty="0" smtClean="0"/>
            <a:t>A text description of the object with the body;  this is useful when the object is not readable</a:t>
          </a:r>
          <a:endParaRPr lang="en-US" sz="1300" kern="1200" dirty="0"/>
        </a:p>
      </dsp:txBody>
      <dsp:txXfrm>
        <a:off x="0" y="4250587"/>
        <a:ext cx="7570787" cy="737100"/>
      </dsp:txXfrm>
    </dsp:sp>
    <dsp:sp modelId="{AFA02130-531F-2541-A40D-4D4C90AABF70}">
      <dsp:nvSpPr>
        <dsp:cNvPr id="0" name=""/>
        <dsp:cNvSpPr/>
      </dsp:nvSpPr>
      <dsp:spPr>
        <a:xfrm>
          <a:off x="378539" y="4058707"/>
          <a:ext cx="5299550" cy="383760"/>
        </a:xfrm>
        <a:prstGeom prst="round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0310" tIns="0" rIns="200310" bIns="0" numCol="1" spcCol="1270" anchor="ctr" anchorCtr="0">
          <a:noAutofit/>
        </a:bodyPr>
        <a:lstStyle/>
        <a:p>
          <a:pPr lvl="0" algn="l" defTabSz="577850" rtl="0">
            <a:lnSpc>
              <a:spcPct val="90000"/>
            </a:lnSpc>
            <a:spcBef>
              <a:spcPct val="0"/>
            </a:spcBef>
            <a:spcAft>
              <a:spcPct val="35000"/>
            </a:spcAft>
          </a:pPr>
          <a:r>
            <a:rPr lang="en-US" sz="1300" kern="1200" dirty="0" smtClean="0"/>
            <a:t>Content-Description</a:t>
          </a:r>
          <a:endParaRPr lang="en-US" sz="1300" kern="1200" dirty="0"/>
        </a:p>
      </dsp:txBody>
      <dsp:txXfrm>
        <a:off x="378539" y="4058707"/>
        <a:ext cx="5299550" cy="383760"/>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DC0241FA-7A3B-2540-99A4-A6418DDD1EA1}">
      <dsp:nvSpPr>
        <dsp:cNvPr id="0" name=""/>
        <dsp:cNvSpPr/>
      </dsp:nvSpPr>
      <dsp:spPr>
        <a:xfrm>
          <a:off x="0" y="0"/>
          <a:ext cx="6522720" cy="955548"/>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n-US" sz="1500" b="1" i="0" kern="1200" dirty="0" smtClean="0"/>
            <a:t>Generate a pseudorandom session key for a particular symmetric encryption algorithm</a:t>
          </a:r>
          <a:endParaRPr lang="en-US" sz="1500" b="1" i="0" kern="1200" dirty="0"/>
        </a:p>
      </dsp:txBody>
      <dsp:txXfrm>
        <a:off x="0" y="0"/>
        <a:ext cx="5466839" cy="955548"/>
      </dsp:txXfrm>
    </dsp:sp>
    <dsp:sp modelId="{22ADCE59-A6D1-984D-BF84-74718F412EC1}">
      <dsp:nvSpPr>
        <dsp:cNvPr id="0" name=""/>
        <dsp:cNvSpPr/>
      </dsp:nvSpPr>
      <dsp:spPr>
        <a:xfrm>
          <a:off x="546277" y="1129284"/>
          <a:ext cx="6522720" cy="955548"/>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n-US" sz="1500" b="1" i="0" kern="1200" dirty="0" smtClean="0"/>
            <a:t>For each recipient, encrypt the session key with the recipient’s public RSA key</a:t>
          </a:r>
        </a:p>
      </dsp:txBody>
      <dsp:txXfrm>
        <a:off x="546277" y="1129284"/>
        <a:ext cx="5355336" cy="955548"/>
      </dsp:txXfrm>
    </dsp:sp>
    <dsp:sp modelId="{A7C405DB-DC2C-E540-914D-23DD9BB65F79}">
      <dsp:nvSpPr>
        <dsp:cNvPr id="0" name=""/>
        <dsp:cNvSpPr/>
      </dsp:nvSpPr>
      <dsp:spPr>
        <a:xfrm>
          <a:off x="1084402" y="2258568"/>
          <a:ext cx="6522720" cy="955548"/>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n-US" sz="1500" b="1" i="0" kern="1200" dirty="0" smtClean="0"/>
            <a:t>For each recipient, prepare a block known as </a:t>
          </a:r>
          <a:r>
            <a:rPr lang="en-US" sz="1500" b="1" i="0" kern="1200" dirty="0" smtClean="0">
              <a:latin typeface="Courier New"/>
              <a:cs typeface="Courier New"/>
            </a:rPr>
            <a:t>RecipientInfo </a:t>
          </a:r>
          <a:r>
            <a:rPr lang="en-US" sz="1500" b="1" i="0" kern="1200" dirty="0" smtClean="0">
              <a:cs typeface="Courier New"/>
            </a:rPr>
            <a:t>that contains an identifier of the recipient’s public-key certificate, an identifier of the algorithm used to encrypt the session key, and the encrypted session key</a:t>
          </a:r>
        </a:p>
      </dsp:txBody>
      <dsp:txXfrm>
        <a:off x="1084402" y="2258568"/>
        <a:ext cx="5363489" cy="955548"/>
      </dsp:txXfrm>
    </dsp:sp>
    <dsp:sp modelId="{D3171E81-8DA9-F04B-85CE-0B54B5DF11AD}">
      <dsp:nvSpPr>
        <dsp:cNvPr id="0" name=""/>
        <dsp:cNvSpPr/>
      </dsp:nvSpPr>
      <dsp:spPr>
        <a:xfrm>
          <a:off x="1630679" y="3387852"/>
          <a:ext cx="6522720" cy="955548"/>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n-US" sz="1500" b="1" i="0" kern="1200" dirty="0" smtClean="0">
              <a:cs typeface="Courier New"/>
            </a:rPr>
            <a:t>Encrypt the message content with the session key</a:t>
          </a:r>
          <a:r>
            <a:rPr lang="en-US" sz="1500" b="1" i="0" kern="1200" dirty="0" smtClean="0"/>
            <a:t> </a:t>
          </a:r>
          <a:endParaRPr lang="en-US" sz="1500" b="1" i="0" kern="1200" dirty="0"/>
        </a:p>
      </dsp:txBody>
      <dsp:txXfrm>
        <a:off x="1630679" y="3387852"/>
        <a:ext cx="5355336" cy="955548"/>
      </dsp:txXfrm>
    </dsp:sp>
    <dsp:sp modelId="{4F1B002C-C953-264E-AD33-8E894E64E173}">
      <dsp:nvSpPr>
        <dsp:cNvPr id="0" name=""/>
        <dsp:cNvSpPr/>
      </dsp:nvSpPr>
      <dsp:spPr>
        <a:xfrm>
          <a:off x="5901613" y="731862"/>
          <a:ext cx="621106" cy="621106"/>
        </a:xfrm>
        <a:prstGeom prst="downArrow">
          <a:avLst>
            <a:gd name="adj1" fmla="val 55000"/>
            <a:gd name="adj2" fmla="val 45000"/>
          </a:avLst>
        </a:prstGeom>
        <a:solidFill>
          <a:schemeClr val="accent1">
            <a:alpha val="90000"/>
            <a:tint val="40000"/>
            <a:hueOff val="0"/>
            <a:satOff val="0"/>
            <a:lumOff val="0"/>
            <a:alphaOff val="0"/>
          </a:schemeClr>
        </a:solidFill>
        <a:ln w="38100" cap="flat" cmpd="sng" algn="ctr">
          <a:solidFill>
            <a:schemeClr val="tx1"/>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endParaRPr lang="en-US" sz="2800" kern="1200" dirty="0"/>
        </a:p>
      </dsp:txBody>
      <dsp:txXfrm>
        <a:off x="5901613" y="731862"/>
        <a:ext cx="621106" cy="621106"/>
      </dsp:txXfrm>
    </dsp:sp>
    <dsp:sp modelId="{B57C5CB7-9E23-374F-9AD0-A772CEA91AF0}">
      <dsp:nvSpPr>
        <dsp:cNvPr id="0" name=""/>
        <dsp:cNvSpPr/>
      </dsp:nvSpPr>
      <dsp:spPr>
        <a:xfrm>
          <a:off x="6447891" y="1861146"/>
          <a:ext cx="621106" cy="621106"/>
        </a:xfrm>
        <a:prstGeom prst="downArrow">
          <a:avLst>
            <a:gd name="adj1" fmla="val 55000"/>
            <a:gd name="adj2" fmla="val 45000"/>
          </a:avLst>
        </a:prstGeom>
        <a:solidFill>
          <a:schemeClr val="accent1">
            <a:alpha val="90000"/>
            <a:tint val="40000"/>
            <a:hueOff val="0"/>
            <a:satOff val="0"/>
            <a:lumOff val="0"/>
            <a:alphaOff val="0"/>
          </a:schemeClr>
        </a:solidFill>
        <a:ln w="38100" cap="flat" cmpd="sng" algn="ctr">
          <a:solidFill>
            <a:schemeClr val="tx1"/>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endParaRPr lang="en-US" sz="2800" kern="1200" dirty="0"/>
        </a:p>
      </dsp:txBody>
      <dsp:txXfrm>
        <a:off x="6447891" y="1861146"/>
        <a:ext cx="621106" cy="621106"/>
      </dsp:txXfrm>
    </dsp:sp>
    <dsp:sp modelId="{75224DAF-6741-704C-A1FB-BF13866920F8}">
      <dsp:nvSpPr>
        <dsp:cNvPr id="0" name=""/>
        <dsp:cNvSpPr/>
      </dsp:nvSpPr>
      <dsp:spPr>
        <a:xfrm>
          <a:off x="6986016" y="2990430"/>
          <a:ext cx="621106" cy="621106"/>
        </a:xfrm>
        <a:prstGeom prst="downArrow">
          <a:avLst>
            <a:gd name="adj1" fmla="val 55000"/>
            <a:gd name="adj2" fmla="val 45000"/>
          </a:avLst>
        </a:prstGeom>
        <a:solidFill>
          <a:schemeClr val="accent1">
            <a:alpha val="90000"/>
            <a:tint val="40000"/>
            <a:hueOff val="0"/>
            <a:satOff val="0"/>
            <a:lumOff val="0"/>
            <a:alphaOff val="0"/>
          </a:schemeClr>
        </a:solidFill>
        <a:ln w="38100" cap="flat" cmpd="sng" algn="ctr">
          <a:solidFill>
            <a:schemeClr val="tx1"/>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endParaRPr lang="en-US" sz="2800" kern="1200" dirty="0"/>
        </a:p>
      </dsp:txBody>
      <dsp:txXfrm>
        <a:off x="6986016" y="2990430"/>
        <a:ext cx="621106" cy="621106"/>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583A533-B32F-3445-A521-7E6E85915F15}">
      <dsp:nvSpPr>
        <dsp:cNvPr id="0" name=""/>
        <dsp:cNvSpPr/>
      </dsp:nvSpPr>
      <dsp:spPr>
        <a:xfrm>
          <a:off x="292100" y="0"/>
          <a:ext cx="8331200" cy="5207000"/>
        </a:xfrm>
        <a:prstGeom prst="swooshArrow">
          <a:avLst>
            <a:gd name="adj1" fmla="val 25000"/>
            <a:gd name="adj2" fmla="val 25000"/>
          </a:avLst>
        </a:prstGeom>
        <a:solidFill>
          <a:schemeClr val="accent1">
            <a:tint val="40000"/>
            <a:hueOff val="0"/>
            <a:satOff val="0"/>
            <a:lumOff val="0"/>
            <a:alphaOff val="0"/>
          </a:schemeClr>
        </a:solidFill>
        <a:ln>
          <a:noFill/>
        </a:ln>
        <a:effectLst>
          <a:glow rad="38100">
            <a:schemeClr val="accent1">
              <a:alpha val="45000"/>
            </a:schemeClr>
          </a:glow>
          <a:softEdge rad="101600"/>
        </a:effectLst>
      </dsp:spPr>
      <dsp:style>
        <a:lnRef idx="0">
          <a:scrgbClr r="0" g="0" b="0"/>
        </a:lnRef>
        <a:fillRef idx="1">
          <a:scrgbClr r="0" g="0" b="0"/>
        </a:fillRef>
        <a:effectRef idx="2">
          <a:scrgbClr r="0" g="0" b="0"/>
        </a:effectRef>
        <a:fontRef idx="minor"/>
      </dsp:style>
    </dsp:sp>
    <dsp:sp modelId="{39B3DB2F-CFDB-3D46-BC03-E9933E33FB8F}">
      <dsp:nvSpPr>
        <dsp:cNvPr id="0" name=""/>
        <dsp:cNvSpPr/>
      </dsp:nvSpPr>
      <dsp:spPr>
        <a:xfrm>
          <a:off x="1112723" y="3871925"/>
          <a:ext cx="191617" cy="191617"/>
        </a:xfrm>
        <a:prstGeom prst="ellipse">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70F67D8F-56D9-E74F-8BDF-5458066225AA}">
      <dsp:nvSpPr>
        <dsp:cNvPr id="0" name=""/>
        <dsp:cNvSpPr/>
      </dsp:nvSpPr>
      <dsp:spPr>
        <a:xfrm>
          <a:off x="1219202" y="3962405"/>
          <a:ext cx="1424635" cy="12392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534" tIns="0" rIns="0" bIns="0" numCol="1" spcCol="1270" anchor="t" anchorCtr="0">
          <a:noAutofit/>
        </a:bodyPr>
        <a:lstStyle/>
        <a:p>
          <a:pPr lvl="0" algn="l" defTabSz="666750">
            <a:lnSpc>
              <a:spcPct val="90000"/>
            </a:lnSpc>
            <a:spcBef>
              <a:spcPct val="0"/>
            </a:spcBef>
            <a:spcAft>
              <a:spcPct val="35000"/>
            </a:spcAft>
          </a:pPr>
          <a:r>
            <a:rPr lang="en-US" sz="1500" b="1" kern="1200" dirty="0" smtClean="0"/>
            <a:t>Select a message digest algorithm (SHA or MD5)</a:t>
          </a:r>
          <a:endParaRPr lang="en-US" sz="1500" b="1" kern="1200" dirty="0"/>
        </a:p>
      </dsp:txBody>
      <dsp:txXfrm>
        <a:off x="1219202" y="3962405"/>
        <a:ext cx="1424635" cy="1239266"/>
      </dsp:txXfrm>
    </dsp:sp>
    <dsp:sp modelId="{87961540-DD8B-5449-83AA-9C3C44DC1EF4}">
      <dsp:nvSpPr>
        <dsp:cNvPr id="0" name=""/>
        <dsp:cNvSpPr/>
      </dsp:nvSpPr>
      <dsp:spPr>
        <a:xfrm>
          <a:off x="2466543" y="2660776"/>
          <a:ext cx="333248" cy="333248"/>
        </a:xfrm>
        <a:prstGeom prst="ellipse">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E7240535-9187-B840-9E04-359208A868C4}">
      <dsp:nvSpPr>
        <dsp:cNvPr id="0" name=""/>
        <dsp:cNvSpPr/>
      </dsp:nvSpPr>
      <dsp:spPr>
        <a:xfrm>
          <a:off x="2667003" y="2895600"/>
          <a:ext cx="1749552" cy="18716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581" tIns="0" rIns="0" bIns="0" numCol="1" spcCol="1270" anchor="t" anchorCtr="0">
          <a:noAutofit/>
        </a:bodyPr>
        <a:lstStyle/>
        <a:p>
          <a:pPr lvl="0" algn="l" defTabSz="666750">
            <a:lnSpc>
              <a:spcPct val="90000"/>
            </a:lnSpc>
            <a:spcBef>
              <a:spcPct val="0"/>
            </a:spcBef>
            <a:spcAft>
              <a:spcPct val="35000"/>
            </a:spcAft>
          </a:pPr>
          <a:r>
            <a:rPr lang="en-US" sz="1500" b="1" kern="1200" dirty="0" smtClean="0"/>
            <a:t>Compute the message digest (hash function) of the content to be signed</a:t>
          </a:r>
        </a:p>
      </dsp:txBody>
      <dsp:txXfrm>
        <a:off x="2667003" y="2895600"/>
        <a:ext cx="1749552" cy="1871602"/>
      </dsp:txXfrm>
    </dsp:sp>
    <dsp:sp modelId="{4CFE7342-B602-1544-9847-E9A231A05FD5}">
      <dsp:nvSpPr>
        <dsp:cNvPr id="0" name=""/>
        <dsp:cNvSpPr/>
      </dsp:nvSpPr>
      <dsp:spPr>
        <a:xfrm>
          <a:off x="4195267" y="1768297"/>
          <a:ext cx="441553" cy="441553"/>
        </a:xfrm>
        <a:prstGeom prst="ellipse">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9A149516-666B-5D44-8845-9B7ED7179393}">
      <dsp:nvSpPr>
        <dsp:cNvPr id="0" name=""/>
        <dsp:cNvSpPr/>
      </dsp:nvSpPr>
      <dsp:spPr>
        <a:xfrm>
          <a:off x="4495806" y="2209791"/>
          <a:ext cx="1749552" cy="2100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970" tIns="0" rIns="0" bIns="0" numCol="1" spcCol="1270" anchor="t" anchorCtr="0">
          <a:noAutofit/>
        </a:bodyPr>
        <a:lstStyle/>
        <a:p>
          <a:pPr lvl="0" algn="l" defTabSz="666750">
            <a:lnSpc>
              <a:spcPct val="90000"/>
            </a:lnSpc>
            <a:spcBef>
              <a:spcPct val="0"/>
            </a:spcBef>
            <a:spcAft>
              <a:spcPct val="35000"/>
            </a:spcAft>
          </a:pPr>
          <a:r>
            <a:rPr lang="en-US" sz="1500" b="1" kern="1200" dirty="0" smtClean="0"/>
            <a:t>Encrypt the message digest with the signer’s private key</a:t>
          </a:r>
        </a:p>
      </dsp:txBody>
      <dsp:txXfrm>
        <a:off x="4495806" y="2209791"/>
        <a:ext cx="1749552" cy="2100340"/>
      </dsp:txXfrm>
    </dsp:sp>
    <dsp:sp modelId="{21544247-92C1-3D44-99B2-72E06AC3A1AF}">
      <dsp:nvSpPr>
        <dsp:cNvPr id="0" name=""/>
        <dsp:cNvSpPr/>
      </dsp:nvSpPr>
      <dsp:spPr>
        <a:xfrm>
          <a:off x="6078118" y="1177823"/>
          <a:ext cx="591515" cy="591515"/>
        </a:xfrm>
        <a:prstGeom prst="ellipse">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A1C86641-BAF9-664F-9EAC-CE643C68B505}">
      <dsp:nvSpPr>
        <dsp:cNvPr id="0" name=""/>
        <dsp:cNvSpPr/>
      </dsp:nvSpPr>
      <dsp:spPr>
        <a:xfrm>
          <a:off x="6476994" y="1752616"/>
          <a:ext cx="1749552" cy="3326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3432" tIns="0" rIns="0" bIns="0" numCol="1" spcCol="1270" anchor="t" anchorCtr="0">
          <a:noAutofit/>
        </a:bodyPr>
        <a:lstStyle/>
        <a:p>
          <a:pPr lvl="0" algn="l" defTabSz="666750">
            <a:lnSpc>
              <a:spcPct val="90000"/>
            </a:lnSpc>
            <a:spcBef>
              <a:spcPct val="0"/>
            </a:spcBef>
            <a:spcAft>
              <a:spcPct val="35000"/>
            </a:spcAft>
          </a:pPr>
          <a:r>
            <a:rPr lang="en-US" sz="1500" b="1" kern="1200" dirty="0" smtClean="0"/>
            <a:t>Prepare a block known as </a:t>
          </a:r>
          <a:r>
            <a:rPr lang="en-US" sz="1500" b="1" kern="1200" dirty="0" smtClean="0">
              <a:latin typeface="Courier New"/>
              <a:cs typeface="Courier New"/>
            </a:rPr>
            <a:t>SignerInfo </a:t>
          </a:r>
          <a:r>
            <a:rPr lang="en-US" sz="1500" b="1" kern="1200" dirty="0" smtClean="0">
              <a:cs typeface="Courier New"/>
            </a:rPr>
            <a:t>that contains the signer’s public-key certificate, an identifier of the message digest algorithm, an identifier of the algorithm used to encrypt the message digest, and the encrypted message digest</a:t>
          </a:r>
          <a:endParaRPr lang="en-US" sz="1500" b="1" kern="1200" dirty="0"/>
        </a:p>
      </dsp:txBody>
      <dsp:txXfrm>
        <a:off x="6476994" y="1752616"/>
        <a:ext cx="1749552" cy="3326999"/>
      </dsp:txXfrm>
    </dsp:sp>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640E4EC-D131-0C41-A714-976262004000}">
      <dsp:nvSpPr>
        <dsp:cNvPr id="0" name=""/>
        <dsp:cNvSpPr/>
      </dsp:nvSpPr>
      <dsp:spPr>
        <a:xfrm>
          <a:off x="228599" y="1119788"/>
          <a:ext cx="2467272" cy="616818"/>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b="1" i="0" kern="1200" dirty="0" smtClean="0"/>
            <a:t>Key generation</a:t>
          </a:r>
          <a:endParaRPr lang="en-US" sz="1800" b="1" i="0" kern="1200" dirty="0"/>
        </a:p>
      </dsp:txBody>
      <dsp:txXfrm>
        <a:off x="228599" y="1119788"/>
        <a:ext cx="2467272" cy="616818"/>
      </dsp:txXfrm>
    </dsp:sp>
    <dsp:sp modelId="{499DAEB3-C700-2348-8690-589FFD73282E}">
      <dsp:nvSpPr>
        <dsp:cNvPr id="0" name=""/>
        <dsp:cNvSpPr/>
      </dsp:nvSpPr>
      <dsp:spPr>
        <a:xfrm rot="5429659">
          <a:off x="1300471" y="1760087"/>
          <a:ext cx="312809" cy="578633"/>
        </a:xfrm>
        <a:prstGeom prst="rightArrow">
          <a:avLst>
            <a:gd name="adj1" fmla="val 66700"/>
            <a:gd name="adj2" fmla="val 50000"/>
          </a:avLst>
        </a:prstGeom>
        <a:solidFill>
          <a:schemeClr val="tx1"/>
        </a:solidFill>
        <a:ln>
          <a:noFill/>
        </a:ln>
        <a:effectLst/>
      </dsp:spPr>
      <dsp:style>
        <a:lnRef idx="0">
          <a:scrgbClr r="0" g="0" b="0"/>
        </a:lnRef>
        <a:fillRef idx="3">
          <a:scrgbClr r="0" g="0" b="0"/>
        </a:fillRef>
        <a:effectRef idx="2">
          <a:scrgbClr r="0" g="0" b="0"/>
        </a:effectRef>
        <a:fontRef idx="minor">
          <a:schemeClr val="lt1"/>
        </a:fontRef>
      </dsp:style>
    </dsp:sp>
    <dsp:sp modelId="{00E8D720-FB90-3F40-B94E-FEE132455706}">
      <dsp:nvSpPr>
        <dsp:cNvPr id="0" name=""/>
        <dsp:cNvSpPr/>
      </dsp:nvSpPr>
      <dsp:spPr>
        <a:xfrm>
          <a:off x="0" y="2362201"/>
          <a:ext cx="2895566" cy="1482158"/>
        </a:xfrm>
        <a:prstGeom prst="roundRect">
          <a:avLst>
            <a:gd name="adj" fmla="val 10000"/>
          </a:avLst>
        </a:prstGeom>
        <a:solidFill>
          <a:schemeClr val="bg1"/>
        </a:solidFill>
        <a:ln w="38100" cap="flat" cmpd="sng" algn="ctr">
          <a:solidFill>
            <a:schemeClr val="accent1"/>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b="1" i="0" kern="1200" dirty="0" smtClean="0"/>
            <a:t>The user of some related administrative utility must be capable of generating separate Diffie-Hellman and DSS key pairs and should be capable of generating RSA key pairs</a:t>
          </a:r>
        </a:p>
      </dsp:txBody>
      <dsp:txXfrm>
        <a:off x="0" y="2362201"/>
        <a:ext cx="2895566" cy="1482158"/>
      </dsp:txXfrm>
    </dsp:sp>
    <dsp:sp modelId="{2C4540C6-1CCE-8F44-B5F9-43BA4E58799A}">
      <dsp:nvSpPr>
        <dsp:cNvPr id="0" name=""/>
        <dsp:cNvSpPr/>
      </dsp:nvSpPr>
      <dsp:spPr>
        <a:xfrm rot="5401470">
          <a:off x="1328043" y="3728363"/>
          <a:ext cx="238697" cy="578633"/>
        </a:xfrm>
        <a:prstGeom prst="rightArrow">
          <a:avLst>
            <a:gd name="adj1" fmla="val 66700"/>
            <a:gd name="adj2" fmla="val 50000"/>
          </a:avLst>
        </a:prstGeom>
        <a:solidFill>
          <a:schemeClr val="tx1"/>
        </a:solidFill>
        <a:ln>
          <a:noFill/>
        </a:ln>
        <a:effectLst/>
      </dsp:spPr>
      <dsp:style>
        <a:lnRef idx="0">
          <a:scrgbClr r="0" g="0" b="0"/>
        </a:lnRef>
        <a:fillRef idx="3">
          <a:scrgbClr r="0" g="0" b="0"/>
        </a:fillRef>
        <a:effectRef idx="2">
          <a:scrgbClr r="0" g="0" b="0"/>
        </a:effectRef>
        <a:fontRef idx="minor">
          <a:schemeClr val="lt1"/>
        </a:fontRef>
      </dsp:style>
    </dsp:sp>
    <dsp:sp modelId="{4E28F1E9-86E9-D94E-93A5-CAF02EBFC40E}">
      <dsp:nvSpPr>
        <dsp:cNvPr id="0" name=""/>
        <dsp:cNvSpPr/>
      </dsp:nvSpPr>
      <dsp:spPr>
        <a:xfrm>
          <a:off x="152397" y="4191001"/>
          <a:ext cx="2589328" cy="1200143"/>
        </a:xfrm>
        <a:prstGeom prst="roundRect">
          <a:avLst>
            <a:gd name="adj" fmla="val 10000"/>
          </a:avLst>
        </a:prstGeom>
        <a:solidFill>
          <a:schemeClr val="bg1"/>
        </a:solidFill>
        <a:ln w="38100" cap="flat" cmpd="sng" algn="ctr">
          <a:solidFill>
            <a:schemeClr val="accent1"/>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b="1" i="0" kern="1200" dirty="0" smtClean="0"/>
            <a:t>A user agent should generate RSA key pairs with a length in the range of 768 to 1024 bits and must not generate a length of less than 512 bits</a:t>
          </a:r>
        </a:p>
      </dsp:txBody>
      <dsp:txXfrm>
        <a:off x="152397" y="4191001"/>
        <a:ext cx="2589328" cy="1200143"/>
      </dsp:txXfrm>
    </dsp:sp>
    <dsp:sp modelId="{1DFF3C36-D263-5343-81BB-8740166AD25A}">
      <dsp:nvSpPr>
        <dsp:cNvPr id="0" name=""/>
        <dsp:cNvSpPr/>
      </dsp:nvSpPr>
      <dsp:spPr>
        <a:xfrm>
          <a:off x="3276605" y="1119788"/>
          <a:ext cx="2467272" cy="616818"/>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b="1" i="0" kern="1200" dirty="0" smtClean="0"/>
            <a:t>Registration</a:t>
          </a:r>
        </a:p>
      </dsp:txBody>
      <dsp:txXfrm>
        <a:off x="3276605" y="1119788"/>
        <a:ext cx="2467272" cy="616818"/>
      </dsp:txXfrm>
    </dsp:sp>
    <dsp:sp modelId="{FDC2ACAE-9F74-D944-BF52-0E244DB76F2A}">
      <dsp:nvSpPr>
        <dsp:cNvPr id="0" name=""/>
        <dsp:cNvSpPr/>
      </dsp:nvSpPr>
      <dsp:spPr>
        <a:xfrm rot="5302538">
          <a:off x="4364685" y="1774311"/>
          <a:ext cx="327153" cy="578633"/>
        </a:xfrm>
        <a:prstGeom prst="rightArrow">
          <a:avLst>
            <a:gd name="adj1" fmla="val 66700"/>
            <a:gd name="adj2" fmla="val 50000"/>
          </a:avLst>
        </a:prstGeom>
        <a:solidFill>
          <a:schemeClr val="tx1"/>
        </a:solidFill>
        <a:ln>
          <a:noFill/>
        </a:ln>
        <a:effectLst/>
      </dsp:spPr>
      <dsp:style>
        <a:lnRef idx="0">
          <a:scrgbClr r="0" g="0" b="0"/>
        </a:lnRef>
        <a:fillRef idx="3">
          <a:scrgbClr r="0" g="0" b="0"/>
        </a:fillRef>
        <a:effectRef idx="2">
          <a:scrgbClr r="0" g="0" b="0"/>
        </a:effectRef>
        <a:fontRef idx="minor">
          <a:schemeClr val="lt1"/>
        </a:fontRef>
      </dsp:style>
    </dsp:sp>
    <dsp:sp modelId="{9F46745B-DDFD-9142-A2AB-A68D61AF4AC4}">
      <dsp:nvSpPr>
        <dsp:cNvPr id="0" name=""/>
        <dsp:cNvSpPr/>
      </dsp:nvSpPr>
      <dsp:spPr>
        <a:xfrm>
          <a:off x="3200391" y="2390651"/>
          <a:ext cx="2700725" cy="932295"/>
        </a:xfrm>
        <a:prstGeom prst="roundRect">
          <a:avLst>
            <a:gd name="adj" fmla="val 10000"/>
          </a:avLst>
        </a:prstGeom>
        <a:solidFill>
          <a:schemeClr val="bg1"/>
        </a:solidFill>
        <a:ln w="38100" cap="flat" cmpd="sng" algn="ctr">
          <a:solidFill>
            <a:schemeClr val="accent1"/>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b="1" i="0" kern="1200" dirty="0" smtClean="0"/>
            <a:t>A user’s public key must be registered with a certification authority in order to receive an X.509 public-key certificate</a:t>
          </a:r>
        </a:p>
      </dsp:txBody>
      <dsp:txXfrm>
        <a:off x="3200391" y="2390651"/>
        <a:ext cx="2700725" cy="932295"/>
      </dsp:txXfrm>
    </dsp:sp>
    <dsp:sp modelId="{6FFE8623-4392-894F-AB9D-1E249DE8C8DD}">
      <dsp:nvSpPr>
        <dsp:cNvPr id="0" name=""/>
        <dsp:cNvSpPr/>
      </dsp:nvSpPr>
      <dsp:spPr>
        <a:xfrm>
          <a:off x="6248398" y="1119788"/>
          <a:ext cx="2467272" cy="616818"/>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b="1" i="0" kern="1200" dirty="0" smtClean="0"/>
            <a:t>Certificate storage and retrieval</a:t>
          </a:r>
        </a:p>
      </dsp:txBody>
      <dsp:txXfrm>
        <a:off x="6248398" y="1119788"/>
        <a:ext cx="2467272" cy="616818"/>
      </dsp:txXfrm>
    </dsp:sp>
    <dsp:sp modelId="{9B6C36B4-2E14-DD41-AA37-637EABA5416A}">
      <dsp:nvSpPr>
        <dsp:cNvPr id="0" name=""/>
        <dsp:cNvSpPr/>
      </dsp:nvSpPr>
      <dsp:spPr>
        <a:xfrm rot="5394644">
          <a:off x="7323056" y="1767204"/>
          <a:ext cx="319915" cy="578633"/>
        </a:xfrm>
        <a:prstGeom prst="rightArrow">
          <a:avLst>
            <a:gd name="adj1" fmla="val 66700"/>
            <a:gd name="adj2" fmla="val 50000"/>
          </a:avLst>
        </a:prstGeom>
        <a:solidFill>
          <a:schemeClr val="tx1"/>
        </a:solidFill>
        <a:ln>
          <a:noFill/>
        </a:ln>
        <a:effectLst/>
      </dsp:spPr>
      <dsp:style>
        <a:lnRef idx="0">
          <a:scrgbClr r="0" g="0" b="0"/>
        </a:lnRef>
        <a:fillRef idx="3">
          <a:scrgbClr r="0" g="0" b="0"/>
        </a:fillRef>
        <a:effectRef idx="2">
          <a:scrgbClr r="0" g="0" b="0"/>
        </a:effectRef>
        <a:fontRef idx="minor">
          <a:schemeClr val="lt1"/>
        </a:fontRef>
      </dsp:style>
    </dsp:sp>
    <dsp:sp modelId="{510A18EB-2775-2A43-8C68-735C2689912B}">
      <dsp:nvSpPr>
        <dsp:cNvPr id="0" name=""/>
        <dsp:cNvSpPr/>
      </dsp:nvSpPr>
      <dsp:spPr>
        <a:xfrm>
          <a:off x="6248411" y="2376436"/>
          <a:ext cx="2472083" cy="1207347"/>
        </a:xfrm>
        <a:prstGeom prst="roundRect">
          <a:avLst>
            <a:gd name="adj" fmla="val 10000"/>
          </a:avLst>
        </a:prstGeom>
        <a:solidFill>
          <a:schemeClr val="bg1"/>
        </a:solidFill>
        <a:ln w="38100" cap="flat" cmpd="sng" algn="ctr">
          <a:solidFill>
            <a:schemeClr val="accent1"/>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b="1" i="0" kern="1200" dirty="0" smtClean="0"/>
            <a:t>A user requires access to a local list of certificates in order to verify incoming signatures and to encrypt outgoing messages</a:t>
          </a:r>
          <a:endParaRPr lang="en-US" sz="1500" b="1" i="0" kern="1200" dirty="0"/>
        </a:p>
      </dsp:txBody>
      <dsp:txXfrm>
        <a:off x="6248411" y="2376436"/>
        <a:ext cx="2472083" cy="1207347"/>
      </dsp:txXfrm>
    </dsp:sp>
  </dsp:spTree>
</dsp:drawing>
</file>

<file path=ppt/diagrams/drawing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264FE9F5-0A1E-3444-9834-F05303A01532}">
      <dsp:nvSpPr>
        <dsp:cNvPr id="0" name=""/>
        <dsp:cNvSpPr/>
      </dsp:nvSpPr>
      <dsp:spPr>
        <a:xfrm>
          <a:off x="39739" y="599"/>
          <a:ext cx="3567289" cy="2140373"/>
        </a:xfrm>
        <a:prstGeom prst="rect">
          <a:avLst/>
        </a:prstGeom>
        <a:solidFill>
          <a:schemeClr val="accent5">
            <a:lumMod val="50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rtl="0">
            <a:lnSpc>
              <a:spcPct val="90000"/>
            </a:lnSpc>
            <a:spcBef>
              <a:spcPct val="0"/>
            </a:spcBef>
            <a:spcAft>
              <a:spcPct val="35000"/>
            </a:spcAft>
          </a:pPr>
          <a:r>
            <a:rPr lang="en-US" sz="2300" kern="1200" dirty="0" smtClean="0"/>
            <a:t>DNS-Based Authentication of Named Entities</a:t>
          </a:r>
          <a:endParaRPr lang="en-US" sz="2300" kern="1200" dirty="0"/>
        </a:p>
      </dsp:txBody>
      <dsp:txXfrm>
        <a:off x="39739" y="599"/>
        <a:ext cx="3567289" cy="2140373"/>
      </dsp:txXfrm>
    </dsp:sp>
    <dsp:sp modelId="{31C37128-0A3B-2241-8BE1-B06CDF185D00}">
      <dsp:nvSpPr>
        <dsp:cNvPr id="0" name=""/>
        <dsp:cNvSpPr/>
      </dsp:nvSpPr>
      <dsp:spPr>
        <a:xfrm>
          <a:off x="3963757" y="599"/>
          <a:ext cx="3567289" cy="2140373"/>
        </a:xfrm>
        <a:prstGeom prst="rect">
          <a:avLst/>
        </a:prstGeom>
        <a:solidFill>
          <a:schemeClr val="accent6">
            <a:lumMod val="75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rtl="0">
            <a:lnSpc>
              <a:spcPct val="90000"/>
            </a:lnSpc>
            <a:spcBef>
              <a:spcPct val="0"/>
            </a:spcBef>
            <a:spcAft>
              <a:spcPct val="35000"/>
            </a:spcAft>
          </a:pPr>
          <a:r>
            <a:rPr lang="en-US" sz="2300" kern="1200" dirty="0" smtClean="0"/>
            <a:t>Is a protocol to allow X.509 certificates, commonly used for Transport Layer Security (TLS) to be bound to DNS names using DNSSEC</a:t>
          </a:r>
          <a:endParaRPr lang="en-US" sz="2300" kern="1200" dirty="0"/>
        </a:p>
      </dsp:txBody>
      <dsp:txXfrm>
        <a:off x="3963757" y="599"/>
        <a:ext cx="3567289" cy="2140373"/>
      </dsp:txXfrm>
    </dsp:sp>
    <dsp:sp modelId="{A25DB5C0-36FF-6148-8BB9-365B2378C232}">
      <dsp:nvSpPr>
        <dsp:cNvPr id="0" name=""/>
        <dsp:cNvSpPr/>
      </dsp:nvSpPr>
      <dsp:spPr>
        <a:xfrm>
          <a:off x="39739" y="2497701"/>
          <a:ext cx="3567289" cy="2140373"/>
        </a:xfrm>
        <a:prstGeom prst="rect">
          <a:avLst/>
        </a:prstGeom>
        <a:solidFill>
          <a:schemeClr val="accent2">
            <a:lumMod val="50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rtl="0">
            <a:lnSpc>
              <a:spcPct val="90000"/>
            </a:lnSpc>
            <a:spcBef>
              <a:spcPct val="0"/>
            </a:spcBef>
            <a:spcAft>
              <a:spcPct val="35000"/>
            </a:spcAft>
          </a:pPr>
          <a:r>
            <a:rPr lang="en-US" sz="2300" kern="1200" dirty="0" smtClean="0"/>
            <a:t>It is proposed in RFC 6698 as a way to authenticate TLS client and server entities without a certificate authority (CA)</a:t>
          </a:r>
          <a:endParaRPr lang="en-US" sz="2300" kern="1200" dirty="0"/>
        </a:p>
      </dsp:txBody>
      <dsp:txXfrm>
        <a:off x="39739" y="2497701"/>
        <a:ext cx="3567289" cy="2140373"/>
      </dsp:txXfrm>
    </dsp:sp>
    <dsp:sp modelId="{479E9ADA-2E2A-6D43-AE0A-51D0F523C8D2}">
      <dsp:nvSpPr>
        <dsp:cNvPr id="0" name=""/>
        <dsp:cNvSpPr/>
      </dsp:nvSpPr>
      <dsp:spPr>
        <a:xfrm>
          <a:off x="3963757" y="2497701"/>
          <a:ext cx="3567289" cy="2140373"/>
        </a:xfrm>
        <a:prstGeom prst="rect">
          <a:avLst/>
        </a:prstGeom>
        <a:solidFill>
          <a:schemeClr val="accent4">
            <a:lumMod val="75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rtl="0">
            <a:lnSpc>
              <a:spcPct val="90000"/>
            </a:lnSpc>
            <a:spcBef>
              <a:spcPct val="0"/>
            </a:spcBef>
            <a:spcAft>
              <a:spcPct val="35000"/>
            </a:spcAft>
          </a:pPr>
          <a:r>
            <a:rPr lang="en-US" sz="2300" kern="1200" dirty="0" smtClean="0"/>
            <a:t>The purpose of DANE is to replace reliance on the security of the CA system with reliance on the security provided by DNSSEC</a:t>
          </a:r>
          <a:endParaRPr lang="en-US" sz="2300" kern="1200" dirty="0"/>
        </a:p>
      </dsp:txBody>
      <dsp:txXfrm>
        <a:off x="3963757" y="2497701"/>
        <a:ext cx="3567289" cy="2140373"/>
      </dsp:txXfrm>
    </dsp:sp>
  </dsp:spTree>
</dsp:drawing>
</file>

<file path=ppt/diagrams/drawing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1AFBD50-8486-754D-A169-DE944DDE6132}">
      <dsp:nvSpPr>
        <dsp:cNvPr id="0" name=""/>
        <dsp:cNvSpPr/>
      </dsp:nvSpPr>
      <dsp:spPr>
        <a:xfrm>
          <a:off x="0" y="0"/>
          <a:ext cx="4240695" cy="4292600"/>
        </a:xfrm>
        <a:prstGeom prst="triangle">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125C339E-4F11-1B46-BE35-E3E1A805B6F5}">
      <dsp:nvSpPr>
        <dsp:cNvPr id="0" name=""/>
        <dsp:cNvSpPr/>
      </dsp:nvSpPr>
      <dsp:spPr>
        <a:xfrm>
          <a:off x="761995" y="3124201"/>
          <a:ext cx="2756452" cy="1016138"/>
        </a:xfrm>
        <a:prstGeom prst="roundRect">
          <a:avLst/>
        </a:prstGeom>
        <a:solidFill>
          <a:schemeClr val="lt1">
            <a:alpha val="90000"/>
            <a:hueOff val="0"/>
            <a:satOff val="0"/>
            <a:lumOff val="0"/>
            <a:alphaOff val="0"/>
          </a:schemeClr>
        </a:solidFill>
        <a:ln w="38100" cap="flat" cmpd="sng" algn="ctr">
          <a:noFill/>
          <a:prstDash val="solid"/>
          <a:miter/>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smtClean="0"/>
            <a:t>At the low end are attackers who simply want to send e-mail that a recipient does not want to receive</a:t>
          </a:r>
          <a:endParaRPr lang="en-US" sz="1200" kern="1200" dirty="0"/>
        </a:p>
      </dsp:txBody>
      <dsp:txXfrm>
        <a:off x="761995" y="3124201"/>
        <a:ext cx="2756452" cy="1016138"/>
      </dsp:txXfrm>
    </dsp:sp>
    <dsp:sp modelId="{55495424-309A-C641-9EE7-3186D954936C}">
      <dsp:nvSpPr>
        <dsp:cNvPr id="0" name=""/>
        <dsp:cNvSpPr/>
      </dsp:nvSpPr>
      <dsp:spPr>
        <a:xfrm>
          <a:off x="761995" y="1828797"/>
          <a:ext cx="2756452" cy="1016138"/>
        </a:xfrm>
        <a:prstGeom prst="roundRect">
          <a:avLst/>
        </a:prstGeom>
        <a:solidFill>
          <a:schemeClr val="lt1">
            <a:alpha val="90000"/>
            <a:hueOff val="0"/>
            <a:satOff val="0"/>
            <a:lumOff val="0"/>
            <a:alphaOff val="0"/>
          </a:schemeClr>
        </a:solidFill>
        <a:ln w="38100" cap="flat" cmpd="sng" algn="ctr">
          <a:noFill/>
          <a:prstDash val="solid"/>
          <a:miter/>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smtClean="0"/>
            <a:t>The next level are professional senders of bulk spam mail and often operate as commercial enterprises and send messages on behalf of third parties</a:t>
          </a:r>
        </a:p>
      </dsp:txBody>
      <dsp:txXfrm>
        <a:off x="761995" y="1828797"/>
        <a:ext cx="2756452" cy="1016138"/>
      </dsp:txXfrm>
    </dsp:sp>
    <dsp:sp modelId="{27B93BF8-083B-4A4C-B716-EB033E916BB9}">
      <dsp:nvSpPr>
        <dsp:cNvPr id="0" name=""/>
        <dsp:cNvSpPr/>
      </dsp:nvSpPr>
      <dsp:spPr>
        <a:xfrm>
          <a:off x="838211" y="457202"/>
          <a:ext cx="2756452" cy="1016138"/>
        </a:xfrm>
        <a:prstGeom prst="roundRect">
          <a:avLst/>
        </a:prstGeom>
        <a:solidFill>
          <a:schemeClr val="lt1">
            <a:alpha val="90000"/>
            <a:hueOff val="0"/>
            <a:satOff val="0"/>
            <a:lumOff val="0"/>
            <a:alphaOff val="0"/>
          </a:schemeClr>
        </a:solidFill>
        <a:ln w="38100" cap="flat" cmpd="sng" algn="ctr">
          <a:noFill/>
          <a:prstDash val="solid"/>
          <a:miter/>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0" i="0" kern="1200" dirty="0" smtClean="0"/>
            <a:t>The most sophisticated and financially motivated senders of messages are those who stand to receive substantial financial benefit, such as from an e-mail based fraud scheme</a:t>
          </a:r>
        </a:p>
      </dsp:txBody>
      <dsp:txXfrm>
        <a:off x="838211" y="457202"/>
        <a:ext cx="2756452" cy="1016138"/>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6.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3.pict"/></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FDA503-0A2E-A94A-A22A-46CE2FC07066}" type="datetimeFigureOut">
              <a:rPr lang="en-US" smtClean="0"/>
              <a:pPr/>
              <a:t>5/13/16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136FB15-12CF-0D4B-A23C-97F2DE2A7B8E}" type="slidenum">
              <a:rPr lang="en-US" smtClean="0"/>
              <a:pPr/>
              <a:t>‹#›</a:t>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AU" dirty="0"/>
          </a:p>
        </p:txBody>
      </p:sp>
      <p:sp>
        <p:nvSpPr>
          <p:cNvPr id="22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AU" dirty="0"/>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AU" dirty="0"/>
          </a:p>
        </p:txBody>
      </p:sp>
      <p:sp>
        <p:nvSpPr>
          <p:cNvPr id="22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CB7A55E6-BE3F-7A48-8783-9A487B642D69}" type="slidenum">
              <a:rPr lang="en-AU"/>
              <a:pPr>
                <a:defRPr/>
              </a:pPr>
              <a:t>‹#›</a:t>
            </a:fld>
            <a:endParaRPr lang="en-AU" dirty="0"/>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2pPr>
    <a:lvl3pPr marL="9144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3pPr>
    <a:lvl4pPr marL="13716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4pPr>
    <a:lvl5pPr marL="18288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9698" name="Rectangle 1031"/>
          <p:cNvSpPr>
            <a:spLocks noGrp="1" noChangeArrowheads="1"/>
          </p:cNvSpPr>
          <p:nvPr>
            <p:ph type="sldNum" sz="quarter" idx="5"/>
          </p:nvPr>
        </p:nvSpPr>
        <p:spPr>
          <a:noFill/>
        </p:spPr>
        <p:txBody>
          <a:bodyPr/>
          <a:lstStyle/>
          <a:p>
            <a:fld id="{E19838C5-D210-634D-AD54-173CE2131589}" type="slidenum">
              <a:rPr lang="en-AU">
                <a:latin typeface="Arial" pitchFamily="-84" charset="0"/>
              </a:rPr>
              <a:pPr/>
              <a:t>1</a:t>
            </a:fld>
            <a:endParaRPr lang="en-AU" dirty="0">
              <a:latin typeface="Arial" pitchFamily="-8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r>
              <a:rPr lang="en-US" dirty="0" smtClean="0">
                <a:latin typeface="Times New Roman" pitchFamily="-84" charset="0"/>
                <a:ea typeface="ＭＳ Ｐゴシック" pitchFamily="-84" charset="-128"/>
                <a:cs typeface="ＭＳ Ｐゴシック" pitchFamily="-84" charset="-128"/>
              </a:rPr>
              <a:t>Lecture slides prepared for “Cryptography and Network Security”, 7/e, by William Stallings</a:t>
            </a:r>
            <a:r>
              <a:rPr lang="en-US" dirty="0" smtClean="0">
                <a:latin typeface="Arial" pitchFamily="-84" charset="0"/>
                <a:ea typeface="ＭＳ Ｐゴシック" pitchFamily="-84" charset="-128"/>
                <a:cs typeface="ＭＳ Ｐゴシック" pitchFamily="-84" charset="-128"/>
              </a:rPr>
              <a:t>, </a:t>
            </a:r>
            <a:r>
              <a:rPr lang="en-US" dirty="0" smtClean="0">
                <a:latin typeface="Arial" pitchFamily="-1" charset="0"/>
                <a:ea typeface="Arial" pitchFamily="-1" charset="0"/>
                <a:cs typeface="Arial" pitchFamily="-1" charset="0"/>
              </a:rPr>
              <a:t>Chapter 19 – “</a:t>
            </a:r>
            <a:r>
              <a:rPr lang="en-AU" dirty="0" smtClean="0">
                <a:latin typeface="Arial" pitchFamily="-1" charset="0"/>
                <a:ea typeface="Arial" pitchFamily="-1" charset="0"/>
                <a:cs typeface="Arial" pitchFamily="-1" charset="0"/>
              </a:rPr>
              <a:t>Electronic Mail Security</a:t>
            </a:r>
            <a:r>
              <a:rPr lang="en-US" dirty="0" smtClean="0">
                <a:latin typeface="Arial" pitchFamily="-1" charset="0"/>
                <a:ea typeface="Arial" pitchFamily="-1" charset="0"/>
                <a:cs typeface="Arial" pitchFamily="-1" charset="0"/>
              </a:rPr>
              <a:t>”.</a:t>
            </a:r>
            <a:endParaRPr lang="en-AU" dirty="0" smtClean="0">
              <a:latin typeface="Arial" pitchFamily="-84" charset="0"/>
              <a:ea typeface="ＭＳ Ｐゴシック" pitchFamily="-84" charset="-128"/>
              <a:cs typeface="ＭＳ Ｐゴシック" pitchFamily="-84" charset="-128"/>
            </a:endParaRPr>
          </a:p>
          <a:p>
            <a:pPr eaLnBrk="1" hangingPunct="1"/>
            <a:endParaRPr lang="en-AU" dirty="0" smtClean="0">
              <a:latin typeface="Times New Roman" pitchFamily="-84" charset="0"/>
              <a:ea typeface="ＭＳ Ｐゴシック" pitchFamily="-84" charset="-128"/>
              <a:cs typeface="ＭＳ Ｐゴシック" pitchFamily="-84" charset="-128"/>
            </a:endParaRPr>
          </a:p>
          <a:p>
            <a:pPr eaLnBrk="1" hangingPunct="1"/>
            <a:endParaRPr lang="en-US"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1746" name="Slide Image Placeholder 1"/>
          <p:cNvSpPr>
            <a:spLocks noGrp="1" noRot="1" noChangeAspect="1"/>
          </p:cNvSpPr>
          <p:nvPr>
            <p:ph type="sldImg"/>
          </p:nvPr>
        </p:nvSpPr>
        <p:spPr>
          <a:ln/>
        </p:spPr>
      </p:sp>
      <p:sp>
        <p:nvSpPr>
          <p:cNvPr id="31747" name="Notes Placeholder 2"/>
          <p:cNvSpPr>
            <a:spLocks noGrp="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In virtually all distributed environments, electronic mail is the most heavily used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network-based application. Users expect to be able to, and do, send e-mail to others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who are connected directly or indirectly to the Internet, regardless of host operating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system or communications suite. With the explosively growing reliance on e-mail,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there grows a demand for authentication and confidentiality services. Two schemes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stand out as approaches that enjoy widespread use: Pretty Good Privacy (PGP)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S/MIME. Both are examined in this chapter. The chapter closes with a discussion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DomainKeys Identified Mail.</a:t>
            </a:r>
            <a:endParaRPr lang="en-US" dirty="0" smtClean="0">
              <a:latin typeface="Arial" pitchFamily="-84" charset="0"/>
              <a:ea typeface="ＭＳ Ｐゴシック" pitchFamily="-84" charset="-128"/>
              <a:cs typeface="ＭＳ Ｐゴシック" pitchFamily="-84" charset="-128"/>
            </a:endParaRPr>
          </a:p>
        </p:txBody>
      </p:sp>
      <p:sp>
        <p:nvSpPr>
          <p:cNvPr id="31748" name="Slide Number Placeholder 3"/>
          <p:cNvSpPr>
            <a:spLocks noGrp="1"/>
          </p:cNvSpPr>
          <p:nvPr>
            <p:ph type="sldNum" sz="quarter" idx="5"/>
          </p:nvPr>
        </p:nvSpPr>
        <p:spPr>
          <a:noFill/>
        </p:spPr>
        <p:txBody>
          <a:bodyPr/>
          <a:lstStyle/>
          <a:p>
            <a:fld id="{2110E2E4-7EF1-9740-B874-0923C8317D3F}" type="slidenum">
              <a:rPr lang="en-AU" smtClean="0">
                <a:latin typeface="Arial" pitchFamily="-84" charset="0"/>
              </a:rPr>
              <a:pPr/>
              <a:t>2</a:t>
            </a:fld>
            <a:endParaRPr lang="en-AU" dirty="0" smtClean="0">
              <a:latin typeface="Arial" pitchFamily="-8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2706" name="Slide Image Placeholder 1"/>
          <p:cNvSpPr>
            <a:spLocks noGrp="1" noRot="1" noChangeAspect="1"/>
          </p:cNvSpPr>
          <p:nvPr>
            <p:ph type="sldImg"/>
          </p:nvPr>
        </p:nvSpPr>
        <p:spPr>
          <a:ln/>
        </p:spPr>
      </p:sp>
      <p:sp>
        <p:nvSpPr>
          <p:cNvPr id="72707" name="Notes Placeholder 2"/>
          <p:cNvSpPr>
            <a:spLocks noGrp="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At its most fundamental level, the Internet mail architecture consists of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user world in the form of Message User Agents (MUA), and the transfer world, 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form of the Message Handling Service (MHS), which is composed of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Transfer Agents (MTA). The MHS accepts a message from one user and delivers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 to one or more other users, creating a virtual MUA-to-MUA exchange environment.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This architecture involves three types of interoperability. One is directly between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users: messages must be formatted by the MUA on behalf of the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author so that the message can be displayed to the message recipient by the destination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MUA. There are also interoperability requirements between the MUA and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MHS—first when a message is posted from an MUA to the MHS and later when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 is delivered from the MHS to the destination MUA. Interoperability is required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among the MTA components along the transfer path through the MHS.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Figure 19.1 illustrates the key components of the Internet mail architecture,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which include the following.</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Message User Agent (MUA):  Operates on behalf of user actors and user applications.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 is their representative within the e-mail service. Typically, this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function is housed in the user’s computer and is referred to as a client e-mail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program or a local network e-mail server. The author MUA formats a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performs initial submission into the MHS via a MSA. The recipient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MUA processes received mail for storage and/or display to the recipient user.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Mail Submission Agent (MSA):  Accepts the message submitted by an MUA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enforces the policies of the hosting domain and the requirements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Internet standards. This function may be located together with the MUA 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a separate functional model. In the latter case, the Simple Mail Transfer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Protocol (SMTP) is used between the MUA and the MSA.</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Message Transfer Agent (MTA):  Relays mail for one application-level hop.</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 is like a packet switch or IP router in that its job is to make routing assessments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to move the message closer to the recipients. Relaying is performed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by a sequence of MTAs until the message reaches a destination MDA. 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MTA also adds trace information to the message header. SMTP is used between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MTAs and between an MTA and an MSA or MDA.</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Mail Delivery Agent (MDA):  Responsible for transferring the message from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MHS to the MS.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Message Store (MS):  An MUA can employ a long-term MS. An MS can be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located on a remote server or on the same machine as the MUA. Typically,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MUA retrieves messages from a remote server using POP (Post Office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Protocol) or IMAP (Internet Message Access Protocol).</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Two other concepts need to be defined. An administrative management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domain (ADMD)  is an Internet e-mail provider. Examples include a department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operates a local mail relay (MTA), an IT department that operates an enterprise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mail relay, and an ISP that operates a public shared e-mail service. Each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ADMD can have different operating policies and trust-based decision making. One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obvious example is the distinction between mail that is exchanged within an organization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mail that is exchanged between independent organizations. The rules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handling the two types of traffic tend to be quite different.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Domain Name System (DNS)  is a directory lookup service that provides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mapping between the name of a host on the Internet and its numerical address.</a:t>
            </a:r>
            <a:endParaRPr lang="en-US" dirty="0" smtClean="0">
              <a:latin typeface="Arial" pitchFamily="-1" charset="0"/>
              <a:ea typeface="ＭＳ Ｐゴシック" pitchFamily="-1" charset="-128"/>
              <a:cs typeface="ＭＳ Ｐゴシック" pitchFamily="-1" charset="-128"/>
            </a:endParaRPr>
          </a:p>
        </p:txBody>
      </p:sp>
      <p:sp>
        <p:nvSpPr>
          <p:cNvPr id="72708" name="Slide Number Placeholder 3"/>
          <p:cNvSpPr>
            <a:spLocks noGrp="1"/>
          </p:cNvSpPr>
          <p:nvPr>
            <p:ph type="sldNum" sz="quarter" idx="5"/>
          </p:nvPr>
        </p:nvSpPr>
        <p:spPr>
          <a:noFill/>
        </p:spPr>
        <p:txBody>
          <a:bodyPr/>
          <a:lstStyle/>
          <a:p>
            <a:fld id="{A0FCA52B-9EB4-F647-B799-5E16235241F6}" type="slidenum">
              <a:rPr lang="en-AU" smtClean="0">
                <a:latin typeface="Arial" pitchFamily="-1" charset="0"/>
              </a:rPr>
              <a:pPr/>
              <a:t>3</a:t>
            </a:fld>
            <a:endParaRPr lang="en-AU" dirty="0" smtClean="0">
              <a:latin typeface="Arial" pitchFamily="-1"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Two types of protocols are used for transferring email. The first type is used to move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messages through the Internet from source to destination. The protocol used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this purpose is SMTP, with various extensions and in some cases restrictions.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second type consists of protocols used to transfer messages between mail servers,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which IMAP and POP are the most commonly used.</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4</a:t>
            </a:fld>
            <a:endParaRPr lang="en-AU"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SMTP encapsulates an email message in an envelope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is used to relay the encapsulated messages from source to destination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through multiple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MTAs</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SMTP was originally specified in 1982 as RFC 821 and has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undergone several revisions, the most current being RFC 5321 (October 2008). These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revisions have added additional commands and introduced extensions. The term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Extended SMTP (ESMTP) is often used to refer to these later versions of SMTP.</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SMTP is a text-based client-server protocol where the client (email sender)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contacts the server (next-hop recipient) and issues a set of commands to tell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server about the message to be sent, then sending the message itself. The majority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these commands are ASCII text messages sent by the client and a resulting return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code (and additional ASCII text) returned by the server.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transfer of a message from a source to its ultimate destination can occur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over a single SMTP client/server conversation over a single TCP connection.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Alternatively, an SMTP server may be an intermediate relay that assumes the role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an SMTP client after receiving a message and then forwards that message to 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SMTP server along a route to the ultimate destination.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operation of SMTP consists of a series of commands and responses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exchanged between the SMTP sender and receiver. The initiative is with the SMTP</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sender, who establishes the TCP connection. Once the connection is established,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SMTP sender sends commands over the connection to the receiver. Each command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consists of a single line of text, beginning with a four-letter command code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followed in some cases by an argument field. Each command generates exactly one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reply from the SMTP receiver. Most replies are a single-line, although multiple-line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replies are possible. Each reply begins with a three-digit code and may be followed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by additional information.</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5</a:t>
            </a:fld>
            <a:endParaRPr lang="en-AU"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Figure 19.2 illustrates the SMTP exchange between a client (C) and server (S).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interchange begins with the client establishing a TCP connection to TCP port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25 on the server (not shown in figure). This causes the server to activate SMTP</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and send a 220 reply to the client. The HELO command identifies the sending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domain, which the server acknowledges and accepts with a 250 reply. The SMTP</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sender is transmitting mail that originates with the user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Smith@bar.com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MAIL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command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identifies the originator of the message. The message is addressed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three users on machine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foo.com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namely, Jones, Green, and Brown. The client identifies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each of these in a separate RCPT command. The SMTP receiver indicates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it has mailboxes for Jones and Brown but does not have information on Green.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Because at least one of the intended recipients has been verified, the client proceeds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send the text message, by first sending a DATA command to ensure the server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ready for the data. After the server acknowledges receipt of all the data, it issues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250 OK message. Then the client issues a QUIT command and the server closes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connection.</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6</a:t>
            </a:fld>
            <a:endParaRPr lang="en-AU"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 significant security-related extension for SMTP, called STARTTLS,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defined in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RFC 3207 (SMTP Service Extension for Secure SMTP over Transport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Layer Security , February 2002). STARTTLS enables the addition of confidentiality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authentication in the exchange between SMTP agents. This gives SMTP agents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ability to protect some or all of their communications from eavesdroppers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attackers. If the client does initiate the connection over a TLS-enabled port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(e.g., port 465 was previously used for SMTP over SSL), the server may prompt with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message indicating that the STARTTLS option is available. The client can then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issue the STARTTLS command in the SMTP command stream, and the two parties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proceed to establish a secure TLS connection. An advantage of using STARTTLS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that the server can offer SMTP service on a single port, rather than requiring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separate port numbers for secure and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cleartext</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operations. Similar mechanisms are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available for running TLS over IMAP and POP protocols.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Historically, MUA/MSA message transfers have used SMTP. The standard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currently preferred is SUBMISSION, defined in RFC 6409 (Message Submission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Mail , November 2011). Although SUBMISSION derives from SMTP, it uses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separate TCP port and imposes distinct requirements, such as access authorization.</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7</a:t>
            </a:fld>
            <a:endParaRPr lang="en-AU"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Post Office Protocol (POP3) allows 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email client (user agent) to download an email from an email server (MTA). POP3</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user agents connect via TCP to the server (typically port 110). The user agent enters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username and password (either stored internally for convenience or entered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each time by the user for stronger security). After authorization, the UA can issue POP3</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commands to retrieve and delete mail.</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with POP3, Internet Mail Access Protocol (IMAP) also enables an email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client to access mail on an email server. IMAP also uses TCP, with server TCP port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143. IMAP is more complex than POP3. IMAP provides stronger authentication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than POP3 and provides other functions not supported by POP3.</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8</a:t>
            </a:fld>
            <a:endParaRPr lang="en-AU"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RFC 5322 defines a format for text messages that are sent using electronic mail. It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has been the standard for Internet-based text mail messages and remains in common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 In the RFC 5322 context, messages are viewed as having an envelope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contents. The envelope contains whatever information is needed to accomplish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transmission and delivery. The contents compose the object to be delivered to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recipient. The RFC 5322 standard applies only to the contents. However, the content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standard includes a set of header fields that may be used by the mail system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create the envelope, and the standard is intended to facilitate the acquisition of such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information by programs.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overall structure of a message that conforms to RFC 5322 is very simple.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message consists of some number of header lines (the header ) followed by unrestricted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text (the body ). The header is separated from the body by a blank line. Put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differently, a message is ASCII text, and all lines up to the first blank line are assumed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be header lines used by the user agent part of the mail system.</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header line usually consists of a keyword, followed by a colon, followed by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keyword’s arguments; the format allows a long line to be broken up into several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lines. The most frequently used keywords are From , To , Subject , and Date .</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Another field that is commonly found in RFC 5322 headers is Message-ID .</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This field contains a unique identifier associated with this message.</a:t>
            </a:r>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9</a:t>
            </a:fld>
            <a:endParaRPr lang="en-AU"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Example message.</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10</a:t>
            </a:fld>
            <a:endParaRPr lang="en-AU"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Multipurpose Internet Mail Extension (MIME) is an extension to the RFC 5322</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framework that is intended to address some of the problems and limitations of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 of Simple Mail Transfer Protocol (SMTP) or some other mail transfer protocol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RFC 5322 for electronic mail.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RFCs</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2045 through 2049 define MIME, and there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have been a number of updating documents since then.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MIME specification includes the following elements.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Five new message header fields are defined, which may be included in 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RFC 5322 header. These fields provide information about the body of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A number of content formats are defined, thus standardizing representations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support multimedia electronic mail.</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Transfer encodings are defined that enable the conversion of any content format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into a form that is protected from alteration by the mail system.</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11</a:t>
            </a:fld>
            <a:endParaRPr lang="en-AU"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As justification for the use of MIME, [PARZ06] lists the following limitations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the SMTP/5322 scheme.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SMTP cannot transmit executable files or other binary objects. A number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schemes are in use for converting binary files into a text form that can be used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by SMTP mail systems, including the popular UNIX UUencode/</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UUdecode</a:t>
            </a:r>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scheme. However, none of these is a standard or even a de facto  standard.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SMTP cannot transmit text data that includes national language characters,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because these are represented by 8-bit codes with values of 128 decimal 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higher, and SMTP is limited to 7-bit ASCII.</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SMTP servers may reject mail message over a certain size.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4.  SMTP gateways that translate between ASCII and the character code EBCDIC</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do not use a consistent set of mappings, resulting in translation problems.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5.  SMTP gateways to X.400 electronic mail networks cannot handle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nontextual</a:t>
            </a:r>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data included in X.400 messages.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6.  Some SMTP implementations do not adhere completely to the SMTP</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standards defined in RFC 821. Common problems include: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—Deletion, addition, or reordering of carriage return and linefeed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—Truncating or wrapping lines longer than 76 characters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—Removal of trailing white space (tab and space characters)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—Padding of lines in a message to the same length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—Conversion of tab characters into multiple space characters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MIME is intended to resolve these problems in a manner that is compatible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with existing RFC 5322 implementations.</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12</a:t>
            </a:fld>
            <a:endParaRPr lang="en-AU"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e</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MIME specification includes the following elements.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Five new message header fields are defined, which may be included in 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RFC 5322 header. These fields provide information about the body of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A number of content formats are defined, thus standardizing representations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support multimedia electronic mail</a:t>
            </a:r>
            <a:r>
              <a:rPr lang="en-US" sz="1200" kern="1200" baseline="0" smtClean="0">
                <a:solidFill>
                  <a:schemeClr val="tx1"/>
                </a:solidFill>
                <a:latin typeface="Arial" pitchFamily="-107" charset="0"/>
                <a:ea typeface="ＭＳ Ｐゴシック" pitchFamily="-107" charset="-128"/>
                <a:cs typeface="ＭＳ Ｐゴシック" pitchFamily="-107" charset="-128"/>
              </a:rPr>
              <a:t>.</a:t>
            </a:r>
          </a:p>
          <a:p>
            <a:r>
              <a:rPr lang="en-US" sz="1200" kern="1200" baseline="0" smtClean="0">
                <a:solidFill>
                  <a:schemeClr val="tx1"/>
                </a:solidFill>
                <a:latin typeface="Arial" pitchFamily="-107" charset="0"/>
                <a:ea typeface="ＭＳ Ｐゴシック" pitchFamily="-107" charset="-128"/>
                <a:cs typeface="ＭＳ Ｐゴシック" pitchFamily="-107" charset="-128"/>
              </a:rPr>
              <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Transfer encodings are defined that enable the conversion of any content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format into a form that is protected from alteration by the mail system.</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13</a:t>
            </a:fld>
            <a:endParaRPr lang="en-AU"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this subsection, we introduce the five message header fields. The next two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subsections deal with content formats and transfer encodings.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five header fields defined in MIME are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MIME-Version:  Must have the parameter value 1.0. This field indicates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message conforms to RFCs 2045 and 2046.</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Content-Type:  Describes the data contained in the body with sufficient detail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receiving user agent can pick an appropriate agent or mechanism to represent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data to the user or otherwise deal with the data in an appropriate manner.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Content-Transfer-Encoding:  Indicates the type of transformation that has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been used to represent the body of the message in a way that is acceptable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mail transport.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Content-ID:  Used to identify MIME entities uniquely in multiple contexts.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Content-Description:  A text description of the object with the body; this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useful when the object is not readable (e.g., audio data).</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Any or all of these fields may appear in a normal RFC 5322 header. A compliant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implementation must support the MIME-Version, Content-Type,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Content-Transfer-Encoding fields; the Content-ID and Content-Description fields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are optional and may be ignored by the recipient implementation.</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14</a:t>
            </a:fld>
            <a:endParaRPr lang="en-AU"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bulk of the MIME specification is concerned with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definition of a variety of content types. This reflects the need to provide standardized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ways of dealing with a wide variety of information representations in a multimedia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environment.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Table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19.1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lists the content types specified in RFC 2046. There are seven different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major types of content and a total of 15 subtypes. In general, a content type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declares the general type of data, and the subtype specifies a particular format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type of data.</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the text type  of body, no special software is required to get the full meaning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the text aside from support of the indicated character set. The primary subtype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plain text , which is simply a string of ASCII characters or ISO 8859 characters.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enriched  subtype allows greater formatting flexibility.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multipart type  indicates that the body contains multiple, independent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parts. The Content-Type header field includes a parameter (called a boundary)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defines the delimiter between body parts. This boundary should not appear in any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parts of the message. Each boundary starts on a new line and consists of two hyphens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followed by the boundary value. The final boundary, which indicates the end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the last part, also has a suffix of two hyphens. Within each part, there may be 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optional ordinary MIME header.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There are four subtypes of the multipart type, all of which have the same overall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syntax. The multipart/mixed subtype  is used when there are multiple independent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body parts that need to be bundled in a particular order. For the multipart/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parallel subtype,  the order of the parts is not significant. If the recipient’s system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appropriate, the multiple parts can be presented in parallel. For example, a picture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or text part could be accompanied by a voice commentary that is played while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picture or text is displayed.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the multipart/alternative subtype,  the various parts are different representations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the same information.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multipart/digest subtype  is used when each of the body parts is interpreted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an RFC 5322 message with headers. This subtype enables the construction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a message whose parts are individual messages. For example, the moderator of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group might collect e-mail messages from participants, bundle these messages,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send them out in one encapsulating MIME message.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message type  provides a number of important capabilities in MIME.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message/rfc822 subtype  indicates that the body is an entire message, including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header and body. Despite the name of this subtype, the encapsulated message may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 not only a simple RFC 5322 message but also any MIME message.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message/partial subtype  enables fragmentation of a large message into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number of parts, which must be reassembled at the destination. For this subtype,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three parameters are specified in the Content-Type: Message/Partial field: an id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common to all fragments of the same message, a sequence number  unique to each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fragment, and the total  number of fragments.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message/external-body subtype  indicates that the actual data to be conveyed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this message are not contained in the body. Instead, the body contains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information needed to access the data. As with the other message types, the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external-body subtype has an outer header and an encapsulated message with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its own header. The only necessary field in the outer header is the Content-Type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field, which identifies this as a message/external-body subtype. The inner header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message header for the encapsulated message. The Content-Type field in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outer header must include an access-type parameter, which indicates the method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access, such as FTP (file transfer protocol).</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application type  refers to other kinds of data, typically either uninterpreted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binary data or information to be processed by a mail-based application.</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15</a:t>
            </a:fld>
            <a:endParaRPr lang="en-AU"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other major component of the MIME specification,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addition to content type specification, is a definition of transfer encodings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message bodies. The objective is to provide reliable delivery across the largest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range of environments.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MIME standard defines two methods of encoding data. The Content-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Transfer-Encoding field can actually take on six values, as listed in Table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19.2.</a:t>
            </a:r>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However, three of these values (7bit, 8bit, and binary) indicate that no encoding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has been done but provide some information about the nature of the data.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SMTP transfer, it is safe to use the 7bit form. The 8bit and binary forms may be usable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other mail transport contexts. Another Content-Transfer-Encoding value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x-token, which indicates that some other encoding scheme is used for which a name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to be supplied. This could be a vendor-specific or application-specific scheme.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two actual encoding schemes defined are quoted-printable and base64. Two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schemes are defined to provide a choice between a transfer technique that is essentially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human readable and one that is safe for all types of data in a way that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reasonably compact.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quoted-printable  transfer encoding is useful when the data consists largely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octets that correspond to printable ASCII characters. In essence, it represents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nonsafe characters by the hexadecimal representation of their code and introduces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reversible (soft) line breaks to limit message lines to 76 characters.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base64 transfer encoding,  also known as radix-64 encoding, is a common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one for encoding arbitrary binary data in such a way as to be invulnerable to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processing by mail-transport programs. It is also used in PGP and is described 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Appendix</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X.</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16</a:t>
            </a:fld>
            <a:endParaRPr lang="en-AU"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Figure 19.3, taken from RFC 2045, is the outline of a complex</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multipart message. The message has five parts to be displayed serially: two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introductory plain text parts, an embedded multipart message, a richtext part,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 closing encapsulated text message in a non-ASCII character set. The embedded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multipart message has two parts to be displayed in parallel: a picture and an audio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fragment.</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17</a:t>
            </a:fld>
            <a:endParaRPr lang="en-AU"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An important concept in MIME and S/MIME is that of canonical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form. Canonical form is a format, appropriate to the content type, that is standardized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use between systems. This is in contrast to native form, which is a format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may be peculiar to a particular system. RFC 2049 defines these two forms as follows:</a:t>
            </a:r>
          </a:p>
          <a:p>
            <a:endParaRPr lang="en-US" sz="1200" b="1"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Native form:  The body to be transmitted is created in the system’s native format.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native character set is used and, where appropriate, local end-of-line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conventions are used as well. The body may be any format that corresponds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local model for the representation of some form of information. Examples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include a UNIX-style text file, or a Sun raster image, or a VMS indexed file,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audio data in a system-dependent format stored only in memory. In essence,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data are created in the native form that corresponds to the type specified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by the media type.</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Canonical form:  The entire body, including out-of-band information such as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record lengths and possibly file attribute information, is converted to a universal</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canonical form. The specific media type of the body as well as its associated</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attributes dictates the nature of the canonical form that is used. Conversion to</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proper canonical form may involve character set conversion, transformation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of audio data, compression, or various other operations specific to the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various media types.</a:t>
            </a:r>
            <a:endParaRPr lang="en-US" b="0"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18</a:t>
            </a:fld>
            <a:endParaRPr lang="en-AU"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For both organizations and individuals, email is both pervasive and especially vulnerable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to a wide range of security threats. In general terms, email security threats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can be classified as follows:</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Authenticity-related threats:  Could result in unauthorized access to an enterprise’s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email system.</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Integrity-related threats:  Could result in unauthorized modification of email</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content.</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Confidentiality-related threats:  Could result in unauthorized disclosure of</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sensitive information.</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Availability-related threats:  Could prevent end users from being able to send</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or receive email.</a:t>
            </a:r>
            <a:endParaRPr lang="en-US" b="0"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19</a:t>
            </a:fld>
            <a:endParaRPr lang="en-AU"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 useful list of specific email threats, together with approaches to mitigation,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provided in NIST SP 800-177 (Trustworthy Email , September 2015) and is shown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Table 19.3.</a:t>
            </a:r>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20</a:t>
            </a:fld>
            <a:endParaRPr lang="en-AU"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SP 800-177 recommends use of a variety of standardized protocols as a means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for countering these threats. These include:</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STARTTLS:  An SMTP security extension that provides authentication, integrity,</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non-repudiation (via digital signatures) and confidentiality (via encryption)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for the entire SMTP message by running SMTP over TLS.</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S/MIME:  Provides authentication, integrity, non-repudiation (via digital</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Signatures) and confidentiality (via encryption) of the message body carried</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in SMTP messages.</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DNS Security Extensions (DNSSEC):  Provides authentication and integrity</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protection of DNS data, and is an underlying tool used by various email</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security protocols.</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DNS-based Authentication of Named Entities (DANE):  Is designed to overcome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problems in the certificate authority (CA) system by providing an alternative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channel for authenticating public keys based on DNSSEC, with the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result that the same trust relationships used to certify IP addresses are used to</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certify servers operating on those addresses.</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Sender Policy Framework (SPF):  Uses the Domain Name System (DNS) to</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allow domain owners to create records that associate the domain name with a</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specific IP address range of authorized message senders. It is a simple matter</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for receivers to check the SPF TXT record in the DNS to confirm that the purported</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sender of a message is permitted to use that source address and reject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mail that does not come from an authorized IP address.</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DomainKeys</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Identified Mail (DKIM):  Enables an MTA to sign selected</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headers and the body of a message. This validates the source domain of the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mail and provides message body integrity.</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Domain-based Message Authentication, Reporting, and Conformance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(DMARC):  Lets senders know the proportionate effectiveness of their SPF</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and DKIM policies, and signals to receivers what action should be taken in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various individual and bulk attack scenarios.</a:t>
            </a:r>
            <a:endParaRPr lang="en-US" b="0"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21</a:t>
            </a:fld>
            <a:endParaRPr lang="en-AU"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Sender Policy Framework (SPF):  Uses the Domain Name System (DNS) to</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allow domain owners to create records that associate the domain name with a</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specific IP address range of authorized message senders. It is a simple matter</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for receivers to check the SPF TXT record in the DNS to confirm that the purported</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sender of a message is permitted to use that source address and reject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mail that does not come from an authorized IP address.</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DomainKeys</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Identified Mail (DKIM):  Enables an MTA to sign selected</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headers and the body of a message. This validates the source domain of the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mail and provides message body integrity.</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Domain-based Message Authentication, Reporting, and Conformance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(DMARC):  Lets senders know the proportionate effectiveness of their SPF</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and DKIM policies, and signals to receivers what action should be taken in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various individual and bulk attack scenarios.</a:t>
            </a:r>
            <a:endParaRPr lang="en-US" b="0"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22</a:t>
            </a:fld>
            <a:endParaRPr lang="en-AU"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Figure 19.4 shows how these components interact to provide message authenticity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integrity. Not shown, for simplicity, is that S/MIME also provides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confidentiality by encrypting messages.</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23</a:t>
            </a:fld>
            <a:endParaRPr lang="en-AU"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Secure/Multipurpose Internet Mail Extension (S/MIME) is a security enhancement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to the MIME Internet email format standard based on technology from RSA Data</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Security. S/MIME is a complex capability that is defined in a number of documents.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most important documents relevant to S/MIME include the following:</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RFC 5750, S/MIME Version 3.2 Certificate Handling:  Specifies conventions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for X.509 certificate usage by (S/MIME) v3.2.</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pPr algn="l" rtl="0" eaLnBrk="0" fontAlgn="base" hangingPunct="0">
              <a:spcBef>
                <a:spcPct val="30000"/>
              </a:spcBef>
              <a:spcAft>
                <a:spcPct val="0"/>
              </a:spcAft>
              <a:buFont typeface="Arial"/>
              <a:buNone/>
            </a:pP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RFC 5751, S/MIME) Version 3.2 Message Specification: The principal defining</a:t>
            </a:r>
          </a:p>
          <a:p>
            <a:pPr algn="l" rtl="0" eaLnBrk="0" fontAlgn="base" hangingPunct="0">
              <a:spcBef>
                <a:spcPct val="30000"/>
              </a:spcBef>
              <a:spcAft>
                <a:spcPct val="0"/>
              </a:spcAft>
              <a:buFont typeface="Arial"/>
              <a:buNone/>
            </a:pPr>
            <a:r>
              <a:rPr lang="en-US" sz="1200" b="0" kern="1200" baseline="0" dirty="0" smtClean="0">
                <a:solidFill>
                  <a:schemeClr val="tx1"/>
                </a:solidFill>
                <a:latin typeface="Arial" pitchFamily="-107" charset="0"/>
                <a:ea typeface="ＭＳ Ｐゴシック" pitchFamily="-107" charset="-128"/>
                <a:cs typeface="ＭＳ Ｐゴシック" pitchFamily="-107" charset="-128"/>
              </a:rPr>
              <a:t>document for S/MIME message creation and processing.</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RFC 4134, Examples of S/MIME Messages: Gives examples of message bodies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formatted using S/MIME.</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RFC 2634, Enhanced Security Services for S/MIME: Describes four optional</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security service extensions for S/MIME.</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RFC 5652, Cryptographic Message Syntax (CMS): Describes the Cryptographic</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Message Syntax (CMS). This syntax is used to digitally sign, digest,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authenticate, or encrypt arbitrary message content.</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RFC 3370, CMS Algorithms: Describes the conventions for using several</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cryptographic</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algorithms with the CMS.</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RFC 5752, Multiple Signatures in CMS: Describes the use of multiple, parallel</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signatures for a message.</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RFC 1847, Security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Multiparts</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for MIME—Multipart/Signed and Multipart/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Encrypted: Defines a framework within which security services may be applied</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to MIME body parts. The use of a digital signature is relevant to S/MIME, as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explained subsequently.</a:t>
            </a:r>
            <a:endParaRPr lang="en-US" b="0"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24</a:t>
            </a:fld>
            <a:endParaRPr lang="en-AU"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S/MIME provides for four message-related services: authentication, confidentiality,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compression, and email compatibility (Table 19.4). This subsection provides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overview. We then look in more detail at this capability by examining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formats and message preparation.</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25</a:t>
            </a:fld>
            <a:endParaRPr lang="en-AU"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Authentication is provided by means of a digital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using the general scheme discussed in Chapter 13 and illustrated in Figure 13.1. Most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commonly RSA with SHA-256 is used. The sequence is as follows: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The sender creates a message.</a:t>
            </a:r>
          </a:p>
          <a:p>
            <a:pPr marL="228600" indent="-228600">
              <a:buAutoNum type="arabicPeriod" startAt="2"/>
            </a:pPr>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pPr marL="228600" indent="-228600">
              <a:buAutoNum type="arabicPeriod" startAt="2"/>
            </a:pPr>
            <a:r>
              <a:rPr lang="en-US" sz="1200" kern="1200" baseline="0" dirty="0" smtClean="0">
                <a:solidFill>
                  <a:schemeClr val="tx1"/>
                </a:solidFill>
                <a:latin typeface="Arial" pitchFamily="-107" charset="0"/>
                <a:ea typeface="ＭＳ Ｐゴシック" pitchFamily="-107" charset="-128"/>
                <a:cs typeface="ＭＳ Ｐゴシック" pitchFamily="-107" charset="-128"/>
              </a:rPr>
              <a:t>SHA-256 is used to generate a 256-bit message digest of the message.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The message digest is encrypted with RSA using the sender’s private key,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result is appended to the message. Also appended is identifying information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the signer, which will enable the receiver to retrieve the signer’s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public key.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4. The receiver uses RSA with the sender’s public key to decrypt and recover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digest.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5. The receiver generates a new message digest for the message and compares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 with the decrypted hash code. If the two match, the message is accepted as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authentic.</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combination of SHA-256 and RSA provides an effective digital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scheme. Because of the strength of RSA, the recipient is assured that only the possessor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the matching private key can generate the signature. Because of the strength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SHA-256, the recipient is assured that no one else could generate a new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matches the hash code and, hence, the signature of the original message.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Although signatures normally are found attached to the message or file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they sign, this is not always the case: Detached signatures are supported. A detached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signature may be stored and transmitted separately from the message it signs. This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useful in several contexts. A user may wish to maintain a separate signature log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all messages sent or received. A detached signature of an executable program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can detect subsequent virus infection. Finally, detached signatures can be used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when more than one party must sign a document, such as a legal contract. Each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person’s signature is independent and therefore is applied only to the document.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Otherwise, signatures would have to be nested, with the second signer signing both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document and the first signature, and so on.</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26</a:t>
            </a:fld>
            <a:endParaRPr lang="en-AU"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S/MIME provides confidentiality by encrypting messages. Most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commonly AES with a 128-bit key is used, with the cipher block chaining (CBC)</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mode. The key itself is also encrypted, typically with RSA, as explained below.</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always, one must address the problem of key distribution. In S/MIME,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each symmetric key, referred to as a content-encryption key, is used only once.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a new key is generated as a random number for each message. Because it is to be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used only once, the content-encryption key is bound to the message and transmitted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with it. To protect the key, it is encrypted with the receiver’s public key.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sequence can be described as follows: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The sender generates a message and a random 128-bit number to be used as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content-encryption key for this message only.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The message is encrypted using the content-encryption key.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The content-encryption key is encrypted with RSA using the recipient’s public</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 and is attached to the message.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pPr marL="228600" indent="-228600">
              <a:buAutoNum type="arabicPeriod" startAt="4"/>
            </a:pPr>
            <a:r>
              <a:rPr lang="en-US" sz="1200" kern="1200" baseline="0" dirty="0" smtClean="0">
                <a:solidFill>
                  <a:schemeClr val="tx1"/>
                </a:solidFill>
                <a:latin typeface="Arial" pitchFamily="-107" charset="0"/>
                <a:ea typeface="ＭＳ Ｐゴシック" pitchFamily="-107" charset="-128"/>
                <a:cs typeface="ＭＳ Ｐゴシック" pitchFamily="-107" charset="-128"/>
              </a:rPr>
              <a:t>The receiver uses RSA with its private key to decrypt and recover the content-encryption key.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5.  The content-encryption key is used to decrypt the message.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Several observations may be made. First, to reduce encryption time, the combination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symmetric and public-key encryption is used in preference to simply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using public-key encryption to encrypt the message directly: Symmetric algorithms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are substantially faster than asymmetric ones for a large block of content. Second,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use of the public-key algorithm solves the session-key distribution problem,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because only the recipient is able to recover the session key that is bound to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Note that we do not need a session-key exchange protocol of the type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discussed in Chapter 14, because we are not beginning an ongoing session. Rather,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each message is a one-time independent event with its own key. Furthermore, given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store-and-forward nature of electronic mail, the use of handshaking to assure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both sides have the same session key is not practical. Finally, the use of onetime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symmetric keys strengthens what is already a strong symmetric encryption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approach. Only a small amount of plaintext is encrypted with each key, and there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no relationship among the keys. Thus, to the extent that the public-key algorithm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secure, the entire scheme is secure.</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27</a:t>
            </a:fld>
            <a:endParaRPr lang="en-AU"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Figure 19.5 illustrates, both confidentiality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encryption may be used for the same message. The figure shows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sequence in which a signature is generated for the plaintext message and appended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the message. Then the plaintext message and signature are encrypted as a single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block using symmetric encryption and the symmetric encryption key is encrypted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using public-key encryption.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S/MIME allows the signing and message encryption operations to be performed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either order. If signing is done first, the identity of the signer is hidden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by the encryption. Plus, it is generally more convenient to store a signature with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plaintext version of a message. Furthermore, for purposes of third-party verification,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if the signature is performed first, a third party need not be concerned with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symmetric key when verifying the signature.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If encryption is done first, it is possible to verify a signature without exposing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message content. This can be useful in a context in which automatic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verification is desired, as no private key material is required to verify a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However, in this case the recipient cannot determine any relationship between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signer and the unencrypted content of the message.</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28</a:t>
            </a:fld>
            <a:endParaRPr lang="en-AU"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02D07DB9-2580-3D4D-A6BD-25F665D7C745}" type="slidenum">
              <a:rPr lang="en-AU">
                <a:latin typeface="Arial" pitchFamily="-1" charset="0"/>
              </a:rPr>
              <a:pPr/>
              <a:t>29</a:t>
            </a:fld>
            <a:endParaRPr lang="en-AU" dirty="0">
              <a:latin typeface="Arial" pitchFamily="-1" charset="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When</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S/MIME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is used, at least part of the block to be transmitted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encrypted. If only the signature service is used, then the message digest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encrypted (with the sender’s private key). If the confidentiality service is used,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plus signature (if present) are encrypted (with a one-time symmetric key).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Thus, part or all of the resulting block consists of a stream of arbitrary 8-bit octets.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However, many electronic mail systems only permit the use of blocks consisting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ASCII text. To accommodate this restriction,</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S/MIME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provides the service of converting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raw 8-bit binary stream to a stream of printable ASCII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characters,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 process referred to as 7-bit encoding.</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scheme used for this purpose is</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Base-</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64 conversion. Each group of three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octets of binary data is mapped into four ASCII characters.</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See Appendix</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X for a description.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One noteworthy aspect of the</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Base-</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64 algorithm is that it blindly converts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input stream to</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Base-</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64 format regardless of content, even if the input happens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 ASCII text. Thus, if a message is signed but not encrypted and the conversion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applied to the entire block, the output will be unreadable to the casual observer,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which provides a certain level of confidentiality.</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RFC 5751 also recommends that even if outer 7-bit encoding is not used,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original MIME content should be 7-bit encoded. The reason for this is that it allows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MIME entity to be handled in any environment without changing it. For example,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trusted gateway might remove the encryption, but not the signature, of a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then forward the signed message on to the end recipient so that they can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verify the signatures directly. If the transport internal to the site is not 8-bit clean,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such as on a wide area network with a single mail gateway, verifying the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will not be possible unless the original MIME entity was only 7-bit data.</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8AE7F461-4F47-3749-BD6C-D9F1E48878F8}" type="slidenum">
              <a:rPr lang="en-AU">
                <a:latin typeface="Arial" pitchFamily="-1" charset="0"/>
              </a:rPr>
              <a:pPr/>
              <a:t>30</a:t>
            </a:fld>
            <a:endParaRPr lang="en-AU" dirty="0">
              <a:latin typeface="Arial" pitchFamily="-1"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S/MIME also offers the ability to compress a message. This has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benefit of saving space both for email transmission and for file storage. Compression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can be applied in any order with respect to the signing and message encryption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operations.  RFC 5751 provides the following guidelines:</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Compression of binary encoded encrypted data is discouraged, since it will not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yield significant compression. Base64 encrypted data could very well benefit,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however.</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If a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lossy</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compression algorithm is used with signing, you will need to compress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first, then sign.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S/MIME uses the following message content types, which are defined in RFC 5652,</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Cryptographic Message Syntax:</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Data:  Refers to the inner MIME-encoded message content, which may then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be encapsulated in a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SignedData</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EnvelopedData</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or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CompressedData</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content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type.</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SignedData</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Used to apply a digital signature to a message.</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EnvelopedData</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This consists of encrypted content of any type and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encryptedcontent</a:t>
            </a:r>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encryption keys for one or more recipients.</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CompressedData</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Used to apply data compression to a message.</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Data content type is also used for a procedure known as clear signing.</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For clear signing, a digital signature is calculated for a MIME-encoded message and</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two parts, the message and signature, form a multipart MIME message. Unlike</a:t>
            </a:r>
          </a:p>
          <a:p>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SignedData</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which involves encapsulating the message and signature in a special</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format, clear-signed messages can be read and their signatures verified by email</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entities that do not implement S/MIME.</a:t>
            </a:r>
            <a:endParaRPr lang="en-US" b="0"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31</a:t>
            </a:fld>
            <a:endParaRPr lang="en-AU"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Table 19.5 summarizes the cryptographic algorithms used in S/MIME. S/MIME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uses the following terminology taken from RFC 2119 (Key Words for use in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RFCs</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to</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Indicate Requirement Levels , March 1997) to specify the requirement level:</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MUST:  The definition is an absolute requirement of the specification. An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implementation must include this feature or function to be in conformance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with the specification.</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SHOULD:  There may exist valid reasons in particular circumstances to ignore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this feature or function, but it is recommended that an implementation include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feature or function.</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S/MIME specification includes a discussion of the procedure for deciding</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which content encryption algorithm to use. In essence, a sending agent has two decisions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to make. First, the sending agent must determine if the receiving agent is capable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of decrypting using a given encryption algorithm. Second, if the receiving agent is only</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capable of accepting weakly encrypted content, the sending agent must decide if it is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acceptable to send using weak encryption. To support this decision process, a sending</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agent may announce its decrypting capabilities in order of preference for any message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that it sends out. A receiving agent may store that information for future use.</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following rules, in the following order, should be followed by a sending agent.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If the sending agent has a list of preferred decrypting capabilities from 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Intended recipient, it SHOULD choose the first (highest preference) capability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 the list that it is capable of using.</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If the sending agent has no such list of capabilities from an intended recipient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but has received one or more messages from the recipient, then the outgoing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SHOULD use the same encryption algorithm as was used on the last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signed and encrypted message received from that intended recipient.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If the sending agent has no knowledge about the decryption capabilities of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intended recipient and is willing to risk that the recipient may not be able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decrypt the message, then the sending agent SHOULD use triple DES.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4.  If the sending agent has no knowledge about the decryption capabilities of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intended recipient and is not willing to risk that the recipient may not be able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decrypt the message, then the sending agent MUST use RC2/40.</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If a message is to be sent to multiple recipients and a common encryption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algorithm cannot be selected for all, then the sending agent will need to send two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messages. However, in that case, it is important to note that the security of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is made vulnerable by the transmission of one copy with lower security.</a:t>
            </a:r>
            <a:endParaRPr lang="en-US" b="0"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32</a:t>
            </a:fld>
            <a:endParaRPr lang="en-AU"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S/MIME secures a MIME entity with a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encryption, or both. A MIME entity may be an entire message (except for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RFC 5322 headers), or if the MIME content type is multipart, then a MIME entity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one or more of the subparts of the message. The MIME entity is prepared according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the normal rules for MIME message preparation. Then the MIME entity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plus some security-related data, such as algorithm identifiers and certificates, are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processed by S/MIME to produce what is known as a PKCS object. A PKCS object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then treated as message content and wrapped in MIME (provided with appropriate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MIME headers). This process should become clear as we look at specific objects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provide examples.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In all cases, the message to be sent is converted to canonical form. In particular,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a given type and subtype, the appropriate canonical form is used for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content. For a multipart message, the appropriate canonical form is used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each subpart.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use of transfer encoding requires special attention. For most cases,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result of applying the security algorithm will be to produce an object that is partially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or totally represented in arbitrary binary data. This will then be wrapped in 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outer MIME message, and transfer encoding can be applied at that point, typically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base64. However, in the case of a multipart signed message (described in more detail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later), the message content in one of the subparts is unchanged by the security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process. Unless that content is 7bit, it should be transfer encoded using base64 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quoted-printable so that there is no danger of altering the content to which the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was applied.</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33</a:t>
            </a:fld>
            <a:endParaRPr lang="en-AU"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An application/pkcs7-mime subtype is used for one of four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categories of S/MIME processing, each with a unique smime-type parameter. In all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cases, the resulting entity (referred to as an object) is represented in a form known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Basic Encoding Rules (BER), which is defined in ITU-T Recommendation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X.209. The BER format consists of arbitrary octet strings and is therefore binary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data. Such an object should be transfer encoded with base64 in the outer MIME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We first look at envelopedData.</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steps for preparing an envelopedData MIME entity are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Generate a pseudorandom session key for a particular symmetric encryption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algorithm (RC2/40 or triple DES).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For each recipient, encrypt the session key with the recipient’s public RSA key.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For each recipient, prepare a block known as RecipientInfo  that contains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identifier of the recipient’s public-key certificate, an identifier of the algorithm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used to encrypt the session key, and the encrypted session key.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4.  Encrypt the message content with the session key.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RecipientInfo  blocks followed by the encrypted content constitute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envelopedData . This information is then encoded into base64.</a:t>
            </a:r>
          </a:p>
          <a:p>
            <a:endParaRPr lang="en-US" dirty="0" smtClean="0"/>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recover the encrypted message, the recipient first strips off the base64 encoding.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Then the recipient’s private key is used to recover the session key. Finally,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message content is decrypted with the session key.</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34</a:t>
            </a:fld>
            <a:endParaRPr lang="en-AU"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signedData  smime-type can be used with one or more signers.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clarity, we confine our description to the case of a single digital signature.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steps for preparing a signedData MIME entity are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Select a message digest algorithm (SHA or MD5).</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Compute the message digest (hash function) of the content to be signed.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Encrypt the message digest with the signer’s private key.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4.  Prepare a block known as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SignerInfo</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that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contains the signer’s public-key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certificate, an identifier of the message digest algorithm, an identifier of the algorithm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used to encrypt the message digest, and the encrypted message digest.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signedData  entity consists of a series of blocks, including a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digest algorithm identifier, the message being signed, and SignerInfo .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signedData  entity may also include a set of public-key certificates sufficient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constitute a chain from a recognized root or top-level certification authority to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signer. This information is then encoded into base64.</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To recover the signed message and verify the signature, the recipient first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strips off the base64 encoding. Then the signer’s public key is used to decrypt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digest. The recipient independently computes the message digest and compares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 to the decrypted message digest to verify the signature.</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35</a:t>
            </a:fld>
            <a:endParaRPr lang="en-AU"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Clear signing is achieved using the multipart content type with a signed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subtype. As was mentioned, this signing process does not involve transforming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to be signed, so that the message is sent “in the clear.” Thus, recipients with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MIME capability but not S/MIME capability are able to read the incoming message.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multipart/signed message has two parts. The first part can be any MIME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type but must be prepared so that it will not be altered during transfer from source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destination. This means that if the first part is not 7bit, then it needs to be encoded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using base64 or quoted-printable. Then this part is processed in the same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manner as signedData , but in this case an object with signedData  format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created that has an empty message content field. This object is a detached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 is then transfer encoded using base64 to become the second part of the multipart/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signed message. This second part has a MIME content type of application and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subtype of pkcs7-signature.</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36</a:t>
            </a:fld>
            <a:endParaRPr lang="en-AU"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7FF17E54-8133-D54E-A886-A89279324C10}" type="slidenum">
              <a:rPr lang="en-AU">
                <a:latin typeface="Arial" pitchFamily="-1" charset="0"/>
              </a:rPr>
              <a:pPr/>
              <a:t>37</a:t>
            </a:fld>
            <a:endParaRPr lang="en-AU" dirty="0">
              <a:latin typeface="Arial" pitchFamily="-1"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S/MIME uses public-key certificates that conform to version 3 of X.509 (see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Chapter 14). S/MIME managers and/or users must configure each client with a list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trusted keys and with certificate revocation lists. That is, the responsibility is local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maintaining the certificates needed to verify incoming signatures and to encrypt outgoing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messages. On the other hand, the certificates are signed by certification authorities.</a:t>
            </a:r>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S/MIME user has several key-management functions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perform.</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Key generation:  The user of some related administrative utility (e.g., one associated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with LAN management) MUST be capable of generating separate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Diffie-Hellman and DSS key pairs and SHOULD be capable of generating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RSA key pairs. Each key pair MUST be generated from a good source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nondeterministic random input and be protected in a secure fashion. A user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agent SHOULD generate RSA key pairs with a length in the range of 768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1024 bits and MUST NOT generate a length of less than 512 bits.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Registration:  A user’s public key must be registered with a certification authority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order to receive an X.509 public-key certificate.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Certificate storage and retrieval:  A user requires access to a local list of certificates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order to verify incoming signatures and to encrypt outgoing messages.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Such a list could be maintained by the user or by some local administrative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entity on behalf of a number of users.</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38</a:t>
            </a:fld>
            <a:endParaRPr lang="en-AU"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8610" name="Slide Image Placeholder 1"/>
          <p:cNvSpPr>
            <a:spLocks noGrp="1" noRot="1" noChangeAspect="1"/>
          </p:cNvSpPr>
          <p:nvPr>
            <p:ph type="sldImg"/>
          </p:nvPr>
        </p:nvSpPr>
        <p:spPr>
          <a:ln/>
        </p:spPr>
      </p:sp>
      <p:sp>
        <p:nvSpPr>
          <p:cNvPr id="68611" name="Notes Placeholder 2"/>
          <p:cNvSpPr>
            <a:spLocks noGrp="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RFC 2634 defines four enhanced security services for S/MIME: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Signed receipts:  A signed receipt may be requested in a SignedData  object.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Returning a signed receipt provides proof of delivery to the originator of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and allows the originator to demonstrate to a third party that the recipient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received the message. In essence, the recipient signs the entire original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plus the original (sender’s) signature and appends the new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form a new S/MIME message.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Security labels:  A security label may be included in the authenticated attributes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a SignedData  object. A security label is a set of security information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regarding the sensitivity of the content that is protected by S/MIME encapsulation.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labels may be used for access control, by indicating which users are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permitted access to an object. Other uses include priority (secret, confidential,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restricted, and so on) or role based, describing which kind of people can see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information (e.g., patient’s health-care team, medical billing agents, etc.).</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Secure mailing lists: When a user sends a message to multiple recipients, a certain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amount of per-recipient processing is required, including the use of each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recipient’s public key. The user can be relieved of this work by employing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services of an S/MIME Mail List Agent (MLA). An MLA can take a single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incoming message, perform the recipient-specific encryption for each recipient,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forward the message. The originator of a message need only send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to the MLA with encryption performed using the MLA’s public key</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Signing certificates: This service is used to securely bind a sender’s certificate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to their signature through a signing certificate attribute.</a:t>
            </a:r>
            <a:endParaRPr lang="en-US" b="0" dirty="0" smtClean="0">
              <a:latin typeface="Arial" pitchFamily="-1" charset="0"/>
              <a:ea typeface="ＭＳ Ｐゴシック" pitchFamily="-1" charset="-128"/>
              <a:cs typeface="ＭＳ Ｐゴシック" pitchFamily="-1" charset="-128"/>
            </a:endParaRPr>
          </a:p>
        </p:txBody>
      </p:sp>
      <p:sp>
        <p:nvSpPr>
          <p:cNvPr id="68612" name="Slide Number Placeholder 3"/>
          <p:cNvSpPr>
            <a:spLocks noGrp="1"/>
          </p:cNvSpPr>
          <p:nvPr>
            <p:ph type="sldNum" sz="quarter" idx="5"/>
          </p:nvPr>
        </p:nvSpPr>
        <p:spPr>
          <a:noFill/>
        </p:spPr>
        <p:txBody>
          <a:bodyPr/>
          <a:lstStyle/>
          <a:p>
            <a:fld id="{73C9CB29-376C-2242-9C92-664315DC148D}" type="slidenum">
              <a:rPr lang="en-AU" smtClean="0">
                <a:latin typeface="Arial" pitchFamily="-1" charset="0"/>
              </a:rPr>
              <a:pPr/>
              <a:t>39</a:t>
            </a:fld>
            <a:endParaRPr lang="en-AU" dirty="0" smtClean="0">
              <a:latin typeface="Arial" pitchFamily="-1"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An alternative email security protocol is Pretty Good Privacy (PGP), which has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essentially the same functionality as S/MIME. PGP was created by Phil Zimmerman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and implemented as a product first released in 1991. It was made available free of</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charge and became quite popular for personal use. The initial PGP protocol was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proprietary and used some encryption algorithms with intellectual property restrictions.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In 1996, version 5.x of PGP was defined in IETF RFC 1991, PGP Message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Exchange Formats . Subsequently,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OpenPGP</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was developed as a new standard</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protocol based on PGP version 5.x.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OpenPGP</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is defined in RFC 4880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OpenPGP</a:t>
            </a:r>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Message Format , November 2007) and RFC 3156 (MIME Security with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OpenPGP</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August 2001).</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There are two significant differences between S/MIME and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OpenPGP</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Key Certification:  S/MIME uses X.509 certificates that are issued by Certificate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Authorities (or local agencies that have been delegated authority by a CA to</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issue certificates). In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OpenPGP</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users generate their own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OpenPGP</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public</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and private keys and then solicit signatures for their public keys from individuals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or organizations to which they are known. Whereas X.509 certificates are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trusted if there is a valid PKIX chain to a trusted root, an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OpenPGP</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public key</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is trusted if it is signed by another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OpenPGP</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public key that is trusted by the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recipient. This is called the Web-of-Trust .</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Key Distribution: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OpenPGP</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does not include the sender’s public key with</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each message, so it is necessary for recipients of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OpenPGP</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messages to separately</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obtain the sender’s public key in order to verify the message. Many</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organizations post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OpenPGP</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keys on TLS-protected websites: People who</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wish to verify digital signatures or send these organizations encrypted mail</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need to manually download these keys and add them to their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OpenPGP</a:t>
            </a:r>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clients. Keys may also be registered with the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OpenPGP</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public key servers,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which are servers that maintain a database of PGP public keys organized by</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email address. Anyone may post a public key to the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OpenPGP</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key servers,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and that public key may contain any email address. There is no vetting of</a:t>
            </a:r>
          </a:p>
          <a:p>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OpenPGP</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keys, so users must use the Web-of-Trust to decide whether to trust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 given public key.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NIST 800-177 recommends the use of S/MIME rather than PGP because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greater confidence in the CA system of verifying public keys.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Appendix P provides an overview of PGP.</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40</a:t>
            </a:fld>
            <a:endParaRPr lang="en-AU"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DNS is a directory lookup service that provides a mapping between the name of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host on the Internet and its numeric IP address. DNS is essential to the functioning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the Internet. The DNS is used by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MUAs</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and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MTAs</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to find the address of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next hop server for mail delivery. Sending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MTAs</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query DNS for the Mail Exchange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Resource Record (MX RR) of the recipient’s domain (the right hand side of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symbol) in order to find the receiving MTA to contact.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Four elements comprise the DNS:</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Domain name space:  DNS uses a tree-structured name space to identify</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resources on the Internet.</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DNS database:  Conceptually, each node and leaf in the name space tree structure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names a set of information (e.g., IP address, name server for this domain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name) that is contained in resource record. The collection of all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RRs</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is organized</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into a distributed database.</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Name servers:  These are server programs that hold information about a portion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of the domain name tree structure and the associated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RRs</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Resolvers:  These are programs that extract information from name servers in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response to client requests. A typical client request is for an IP address corresponding</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to a given domain name.</a:t>
            </a:r>
            <a:endParaRPr lang="en-US" b="0"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41</a:t>
            </a:fld>
            <a:endParaRPr lang="en-AU"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DNS is based on a hierarchical database containing resource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records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RRs</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that include the name, IP address, and other information about hosts.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key features of the database are as follows:</a:t>
            </a:r>
          </a:p>
          <a:p>
            <a:endParaRPr lang="en-US" sz="1200" b="1"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1" kern="1200" baseline="0" dirty="0" smtClean="0">
                <a:solidFill>
                  <a:schemeClr val="tx1"/>
                </a:solidFill>
                <a:latin typeface="Arial" pitchFamily="-107" charset="0"/>
                <a:ea typeface="ＭＳ Ｐゴシック" pitchFamily="-107" charset="-128"/>
                <a:cs typeface="ＭＳ Ｐゴシック" pitchFamily="-107" charset="-128"/>
              </a:rPr>
              <a:t>■ Variable-depth hierarchy for names:  DNS allows essentially unlimited levels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uses the period (.) as the level delimiter in printed names, as described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earlier.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1" kern="1200" baseline="0" dirty="0" smtClean="0">
                <a:solidFill>
                  <a:schemeClr val="tx1"/>
                </a:solidFill>
                <a:latin typeface="Arial" pitchFamily="-107" charset="0"/>
                <a:ea typeface="ＭＳ Ｐゴシック" pitchFamily="-107" charset="-128"/>
                <a:cs typeface="ＭＳ Ｐゴシック" pitchFamily="-107" charset="-128"/>
              </a:rPr>
              <a:t>■ Distributed database: The database resides in DNS servers scattered throughout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Internet.</a:t>
            </a:r>
          </a:p>
          <a:p>
            <a:endParaRPr lang="en-US" sz="1200" b="1"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1" kern="1200" baseline="0" dirty="0" smtClean="0">
                <a:solidFill>
                  <a:schemeClr val="tx1"/>
                </a:solidFill>
                <a:latin typeface="Arial" pitchFamily="-107" charset="0"/>
                <a:ea typeface="ＭＳ Ｐゴシック" pitchFamily="-107" charset="-128"/>
                <a:cs typeface="ＭＳ Ｐゴシック" pitchFamily="-107" charset="-128"/>
              </a:rPr>
              <a:t>■ Distribution controlled by the database: The DNS database is divided into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thousands of separately managed zones, which are managed by separate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administrators. Distribution and update of records is controlled by the database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software.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Using this database, DNS servers provide a name-to-address directory service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network applications that need to locate specific servers. For example, every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time an email message is sent or a Web page is accessed, there must be a DNS name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lookup to determine the IP address of the email server or Web server.</a:t>
            </a:r>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42</a:t>
            </a:fld>
            <a:endParaRPr lang="en-AU"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baseline="0" dirty="0" smtClean="0">
                <a:solidFill>
                  <a:schemeClr val="tx1"/>
                </a:solidFill>
                <a:latin typeface="Arial" pitchFamily="-107" charset="0"/>
                <a:ea typeface="ＭＳ Ｐゴシック" pitchFamily="-107" charset="-128"/>
                <a:cs typeface="ＭＳ Ｐゴシック" pitchFamily="-107" charset="-128"/>
              </a:rPr>
              <a:t>Table 19.6 lists the various types of resource records.</a:t>
            </a:r>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43</a:t>
            </a:fld>
            <a:endParaRPr lang="en-AU"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DNS operation typically includes the following steps (Figure 19.6):</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A user program requests an IP address for a domain name.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A resolver module in the local host or local ISP queries a local name server 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same domain as the resolver.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The local name server checks to see if the name is in its local database or cache,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if so, returns the IP address to the requestor. Otherwise, the name server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queries other available name servers, if necessary going to the root server, as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explained subsequently.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4.  When a response is received at the local name server, it stores the name/address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mapping in its local cache and may maintain this entry for the amount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time specified in the time-to-live field of the retrieved RR.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pPr marL="228600" indent="-228600">
              <a:buAutoNum type="arabicPeriod" startAt="5"/>
            </a:pPr>
            <a:r>
              <a:rPr lang="en-US" sz="1200" kern="1200" baseline="0" dirty="0" smtClean="0">
                <a:solidFill>
                  <a:schemeClr val="tx1"/>
                </a:solidFill>
                <a:latin typeface="Arial" pitchFamily="-107" charset="0"/>
                <a:ea typeface="ＭＳ Ｐゴシック" pitchFamily="-107" charset="-128"/>
                <a:cs typeface="ＭＳ Ｐゴシック" pitchFamily="-107" charset="-128"/>
              </a:rPr>
              <a:t>The user program is given the IP address or an error message.</a:t>
            </a:r>
          </a:p>
          <a:p>
            <a:pPr marL="228600" indent="-228600">
              <a:buAutoNum type="arabicPeriod" startAt="5"/>
            </a:pPr>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distributed DNS database that supports the DNS functionality must be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updated frequently because of the rapid and continued growth of the Internet.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Further, the DNS must cope with dynamic assignment of IP addresses, such as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done for home DSL users by their ISP. Accordingly, dynamic updating functions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DNS have been defined. In essence, DNS name servers automatically send out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updates to other relevant name servers as conditions warrant.</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44</a:t>
            </a:fld>
            <a:endParaRPr lang="en-AU"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DNSSEC provides end-to-end protection through the use of digital signatures that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are created by responding zone administrators and verified by a recipient’s resolver</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software. In particular, DNSSEC avoids the need to trust intermediate name servers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and resolvers that cache or route the DNS records originating from the responding</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zone administrator before they reach the source of the query. DNSSEC consists of</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 set of new resource record types and modifications to the existing DNS protocol,</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and is defined in the following documents:</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RFC 4033, DNS Security Introduction and Requirements:  Introduces the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DNS security extensions and describes their capabilities and limitations. The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document also discusses the services that the DNS security extensions do and</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do not provide.</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RFC 4034, Resource Records for the DNS Security Extensions:  Defines four</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new resource records that provide security for DNS.</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RFC 4035, Protocol Modifications for the DNS Security Extensions: Defines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concept of a signed zone, along with the requirements for serving and</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resolving by using DNSSEC. These techniques allow a security-aware resolver</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to authenticate both DNS resource records and authoritative DNS error</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indications.</a:t>
            </a:r>
            <a:endParaRPr lang="en-US" b="0"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45</a:t>
            </a:fld>
            <a:endParaRPr lang="en-AU"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In essence, DNSSEC is designed to protect DNS clients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from accepting forged or altered DNS resource records. It does this by using digital</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signatures to provide:</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Data origin authentication:  Ensures that data has originated from the correct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source.</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Data integrity verification:  Ensures that the content of a RR has not been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modified.</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DNS zone administrator digitally signs every Resource Record set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RRset</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 in the zone, and publishes this collection of digital signatures, along with</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zone administrator’s public key, in the DNS itself. In DNSSEC, trust in the public</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key (for signature verification) of the source is established not by going to a third</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party or a chain of third parties (as in public key infrastructure [PKI] chaining), but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by starting from a trusted zone (such as the root zone) and establishing the chain of</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trust down to the current source of response through successive verifications of signature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of the public key of a child by its parent. The public key of the trusted zone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is called the trust anchor .</a:t>
            </a:r>
            <a:endParaRPr lang="en-US" b="0"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46</a:t>
            </a:fld>
            <a:endParaRPr lang="en-AU"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RFC 4034 defines four new DNS resource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records:</a:t>
            </a:r>
          </a:p>
          <a:p>
            <a:endParaRPr lang="en-US" sz="1200" b="1"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1" kern="1200" baseline="0" dirty="0" smtClean="0">
                <a:solidFill>
                  <a:schemeClr val="tx1"/>
                </a:solidFill>
                <a:latin typeface="Arial" pitchFamily="-107" charset="0"/>
                <a:ea typeface="ＭＳ Ｐゴシック" pitchFamily="-107" charset="-128"/>
                <a:cs typeface="ＭＳ Ｐゴシック" pitchFamily="-107" charset="-128"/>
              </a:rPr>
              <a:t>■ DNSKEY:  Contains a public key.</a:t>
            </a:r>
          </a:p>
          <a:p>
            <a:endParaRPr lang="en-US" sz="1200" b="1"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1" kern="1200" baseline="0" dirty="0" smtClean="0">
                <a:solidFill>
                  <a:schemeClr val="tx1"/>
                </a:solidFill>
                <a:latin typeface="Arial" pitchFamily="-107" charset="0"/>
                <a:ea typeface="ＭＳ Ｐゴシック" pitchFamily="-107" charset="-128"/>
                <a:cs typeface="ＭＳ Ｐゴシック" pitchFamily="-107" charset="-128"/>
              </a:rPr>
              <a:t>■ RRSIG:  A resource record digital signature.</a:t>
            </a:r>
          </a:p>
          <a:p>
            <a:endParaRPr lang="en-US" sz="1200" b="1"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1" kern="1200" baseline="0" dirty="0" smtClean="0">
                <a:solidFill>
                  <a:schemeClr val="tx1"/>
                </a:solidFill>
                <a:latin typeface="Arial" pitchFamily="-107" charset="0"/>
                <a:ea typeface="ＭＳ Ｐゴシック" pitchFamily="-107" charset="-128"/>
                <a:cs typeface="ＭＳ Ｐゴシック" pitchFamily="-107" charset="-128"/>
              </a:rPr>
              <a:t>■ NSEC:  Authenticated denial of existence record.</a:t>
            </a:r>
          </a:p>
          <a:p>
            <a:endParaRPr lang="en-US" sz="1200" b="1"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1" kern="1200" baseline="0" dirty="0" smtClean="0">
                <a:solidFill>
                  <a:schemeClr val="tx1"/>
                </a:solidFill>
                <a:latin typeface="Arial" pitchFamily="-107" charset="0"/>
                <a:ea typeface="ＭＳ Ｐゴシック" pitchFamily="-107" charset="-128"/>
                <a:cs typeface="ＭＳ Ｐゴシック" pitchFamily="-107" charset="-128"/>
              </a:rPr>
              <a:t>■ DS:  Delegation signer.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RRSIG is associated with each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RRset</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where an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RRset</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is the set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resource records that have the same label, class, and type. When a client requests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data, an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RRset</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is returned, together with the associated digital signature in 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RRSIG record. The client obtains the relevant DNSKEY public key and verifies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signature for this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RRset</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DNSSEC depends on establishing the authenticity of the DNS hierarchy leading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the domain name in question, and thus its operation depends on beginning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use of cryptographic digital signatures in the root zone. The DS resource record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facilitates key signing and authentication between DNS zones to create an authentication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chain, or trusted sequence of signed data, from the root of the DNS tree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down to a specific domain name. To secure all DNS lookups, including those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non-existent domain names and record types, DNSSEC uses the NSEC resource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record to authenticate negative responses to queries. NSEC is used to identify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range of DNS names or resource record types that do not exist among the sequence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domain names in a zone.</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47</a:t>
            </a:fld>
            <a:endParaRPr lang="en-AU"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DANE is a protocol to allow X.509 certificates, commonly used for Transport Layer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Security (TLS), to be bound to DNS names using DNSSEC. It is proposed in RFC</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6698 as a way to authenticate TLS client and server entities without a certificate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authority (CA).</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rationale for DANE is the vulnerability of the use of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CAs</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in a global PKI</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system. Every browser developer and operating system supplier maintains a list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 root certificates as trust anchors. These are called the software’s root certificates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are stored in its root certificate store. The PKIX procedure allows a certificate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recipient to trace a certificate back to the root. So long as the root certificate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remains trustworthy, and the authentication concludes successfully, the client can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proceed with the connection.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However, if any of the hundreds of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CAs</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operating on the Internet is compromised,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effects can be widespread. The attacker can obtain the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CA’s</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private key,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get issued certificates under a false name, or introduce new bogus root certificates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into a root certificate store. There is no limitation of scope for the global PKI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compromise of a single CA damages the integrity of the entire PKI system. 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addition, some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CAs</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have engaged in poor security practices. For example, some</a:t>
            </a:r>
          </a:p>
          <a:p>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CAs</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have issued wildcard certificates that allow the holder to issue sub-certificates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any domain or entity, anywhere in the world.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purpose of DANE is to replace reliance on the security of the CA system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with reliance on the security provided by DNSSEC. Given that the DNS administrator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a domain name is authorized to give identifying information about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zone, it makes sense to allow that administrator to also make an authoritative binding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between the domain name and a certificate that might be used by a host at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domain name.</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48</a:t>
            </a:fld>
            <a:endParaRPr lang="en-AU"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DANE defines a new DNS record type, TLSA, that can be used for a secure method</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of authenticating SSL/TLS certificates. The TLSA provides for:</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Specifying constraints on which CA can vouch for a certificate, or which</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specific PKIX end-entity certificate is valid.</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Specifying that a service certificate or a CA can be directly authenticated in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DNS itself.</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TLSA RR enables certificate issue and delivery to be tied to a given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domain. A server domain owner creates a TLSA resource record that identifies the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certificate and its public key. When a client receives an X.509 certificate in the TLS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negotiation, it looks up the TLSA RR for that domain and matches the TLSA data</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against the certificate as part of the client’s certificate validation procedure.</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Figure 19.7 shows the format of a TLSA RR as it is transmitted to a requesting</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entity. It contains four fields. The Certificate Usage  field defines four different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usage models, to accommodate users who require different forms of authentication.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usage models are:</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PKIX-TA (CA constraint):  Specifies which CA should be trusted to authenticate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certificate for the service. This usage model limits which CA can be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used to issue certificates for a given service on a host. The server certificate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chain must pass PKIX validation that terminates with a trusted root certificate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stored in the client.</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PKIX-EE (service certificate constraint):  Defines which specific end entity</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service certificate should be trusted for the service. This usage model limits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which end entity certificate can be used by a given service on a host. The server</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certificate chain must pass PKIX validation that terminates with a trusted root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certificate stored in the client.</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DANE-TA (trust anchor assertion):  Specifies a domain-operated CA to be</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used as a trust anchor. This usage model allows a domain name administrator</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to specify a new trust anchor—for example, if the domain issues its own certificates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under its own CA that is not expected to be in the end users’ collection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of trust anchors. The server certificate chain is self-issued and does not need to</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verify against a trusted root stored in the client.</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 DANE-EE (domain-issued certificate):  Specifies a domain-operated CA to</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be used as a trust anchor. This certificate usage allows a domain name administrator</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to issue certificates for a domain without involving a third-party CA.</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server certificate chain is self-issued and does not need to verify against a</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trusted root stored in the client.</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first two usage models are designed to co-exist with and strengthen</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public CA system. The final two usage models operate without the use of</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public </a:t>
            </a:r>
            <a:r>
              <a:rPr lang="en-US" sz="1200" b="0" kern="1200" baseline="0" dirty="0" err="1" smtClean="0">
                <a:solidFill>
                  <a:schemeClr val="tx1"/>
                </a:solidFill>
                <a:latin typeface="Arial" pitchFamily="-107" charset="0"/>
                <a:ea typeface="ＭＳ Ｐゴシック" pitchFamily="-107" charset="-128"/>
                <a:cs typeface="ＭＳ Ｐゴシック" pitchFamily="-107" charset="-128"/>
              </a:rPr>
              <a:t>CAs</a:t>
            </a:r>
            <a:r>
              <a:rPr lang="en-US" sz="1200" b="0" kern="1200" baseline="0" dirty="0" smtClean="0">
                <a:solidFill>
                  <a:schemeClr val="tx1"/>
                </a:solidFill>
                <a:latin typeface="Arial" pitchFamily="-107" charset="0"/>
                <a:ea typeface="ＭＳ Ｐゴシック" pitchFamily="-107" charset="-128"/>
                <a:cs typeface="ＭＳ Ｐゴシック" pitchFamily="-107" charset="-128"/>
              </a:rPr>
              <a:t>.</a:t>
            </a:r>
          </a:p>
          <a:p>
            <a:endParaRPr lang="en-US" sz="1200" b="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Selector  field indicates whether the full certificate will be matched or just</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value of the public key. The match is made between the certificate presented</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in TLS negotiation and the certificate in the TLSA RR. The Matching Type  field</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indicates how the match of the certificate is made. The options are exact match,</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SHA-256 hash match, or SHA-512 hash match. The Certificate Association Data  is</a:t>
            </a:r>
          </a:p>
          <a:p>
            <a:r>
              <a:rPr lang="en-US" sz="1200" b="0" kern="1200" baseline="0" dirty="0" smtClean="0">
                <a:solidFill>
                  <a:schemeClr val="tx1"/>
                </a:solidFill>
                <a:latin typeface="Arial" pitchFamily="-107" charset="0"/>
                <a:ea typeface="ＭＳ Ｐゴシック" pitchFamily="-107" charset="-128"/>
                <a:cs typeface="ＭＳ Ｐゴシック" pitchFamily="-107" charset="-128"/>
              </a:rPr>
              <a:t>the raw certificate data in hex format.</a:t>
            </a:r>
            <a:endParaRPr lang="en-US" b="0"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49</a:t>
            </a:fld>
            <a:endParaRPr lang="en-AU"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SPF is the standardized way for a sending domain to identify and assert the mail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senders for a given domain. The problem that SPF addresses is the following: With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current email infrastructure, any host can use any domain name for each of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various identifiers in the mail header, not just the domain name where the host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located. Two major drawbacks of this freedom are:</a:t>
            </a:r>
          </a:p>
          <a:p>
            <a:endParaRPr lang="en-US" sz="1200" b="1"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1" kern="1200" baseline="0" dirty="0" smtClean="0">
                <a:solidFill>
                  <a:schemeClr val="tx1"/>
                </a:solidFill>
                <a:latin typeface="Arial" pitchFamily="-107" charset="0"/>
                <a:ea typeface="ＭＳ Ｐゴシック" pitchFamily="-107" charset="-128"/>
                <a:cs typeface="ＭＳ Ｐゴシック" pitchFamily="-107" charset="-128"/>
              </a:rPr>
              <a:t>■  It is a major obstacle to reducing unsolicited bulk email (UBE), also known as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spam. It makes it difficult for mail handlers to filter out emails on the basis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known UBE sources.</a:t>
            </a:r>
          </a:p>
          <a:p>
            <a:endParaRPr lang="en-US" sz="1200" b="1"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b="1" kern="1200" baseline="0" dirty="0" smtClean="0">
                <a:solidFill>
                  <a:schemeClr val="tx1"/>
                </a:solidFill>
                <a:latin typeface="Arial" pitchFamily="-107" charset="0"/>
                <a:ea typeface="ＭＳ Ｐゴシック" pitchFamily="-107" charset="-128"/>
                <a:cs typeface="ＭＳ Ｐゴシック" pitchFamily="-107" charset="-128"/>
              </a:rPr>
              <a:t>■  </a:t>
            </a:r>
            <a:r>
              <a:rPr lang="en-US" sz="1200" b="1" kern="1200" baseline="0" dirty="0" err="1" smtClean="0">
                <a:solidFill>
                  <a:schemeClr val="tx1"/>
                </a:solidFill>
                <a:latin typeface="Arial" pitchFamily="-107" charset="0"/>
                <a:ea typeface="ＭＳ Ｐゴシック" pitchFamily="-107" charset="-128"/>
                <a:cs typeface="ＭＳ Ｐゴシック" pitchFamily="-107" charset="-128"/>
              </a:rPr>
              <a:t>ADMDs</a:t>
            </a:r>
            <a:r>
              <a:rPr lang="en-US" sz="1200" b="1" kern="1200" baseline="0" dirty="0" smtClean="0">
                <a:solidFill>
                  <a:schemeClr val="tx1"/>
                </a:solidFill>
                <a:latin typeface="Arial" pitchFamily="-107" charset="0"/>
                <a:ea typeface="ＭＳ Ｐゴシック" pitchFamily="-107" charset="-128"/>
                <a:cs typeface="ＭＳ Ｐゴシック" pitchFamily="-107" charset="-128"/>
              </a:rPr>
              <a:t> (see Section 19.1) are understandably concerned about the ease with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which other entities can make use of their domain names, often with malicious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intent.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RFC 7208 defines the SPF. It provides a protocol by which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ADMDs</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can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authorize hosts to use their domain names in the “MAIL FROM” or “HELO”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identities. Compliant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ADMDs</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publish Sender Policy Framework (SPF) records 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DNS specifying which hosts are permitted to use their names, and compliant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mail receivers use the published SPF records to test the authorization of sending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Mail Transfer Agents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MTAs</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using a given “HELO” or “MAIL FROM” identity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during a mail transaction.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SPF works by checking a sender’s IP address against the policy encoded in any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SPF record found at the sending domain. The sending domain is the domain used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the SMTP connection, not the domain indicated in the message header as displayed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the MUA. This means that SPF checks can be applied before the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content is received from the sender.</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50</a:t>
            </a:fld>
            <a:endParaRPr lang="en-AU"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Figure 19.8 is an example in which SPF would come into play. Assume that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sender’s IP address is 192.168.0.1. The message arrives from the MTA with domain</a:t>
            </a:r>
          </a:p>
          <a:p>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mta.example.net</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sender uses the MAIL FROM tag of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alice@example.org</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indicating that the message originates in the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example.org</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domain. But the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header specifies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alice.sender@example.net</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receiver uses SPF to query for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SPF RR that corresponds to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example.com</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to check if the IP address 192.168.0.1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listed as a valid sender, and then takes appropriate action based on the results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checking the RR.</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51</a:t>
            </a:fld>
            <a:endParaRPr lang="en-AU"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 sending domain needs to identify all the senders for a given domain and add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information into the DNS as a separate resource record. Next, the sending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domain encodes the appropriate policy for each sender using the SPF syntax.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encoding is done in a TXT DNS resource record as a list of mechanisms and modifiers.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Mechanisms are used to define an IP address or range of addresses to be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matched, and modifiers indicate the policy for a given match. Table 19.7 lists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most important mechanisms and modifiers used in SPF.</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SPF syntax is fairly complex and can express complex relationships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between senders. For more detail, see RFC 7208.</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52</a:t>
            </a:fld>
            <a:endParaRPr lang="en-AU"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If SPF is implemented at a receiver, the SPF entity uses the SMTP envelope MAIL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FROM: address domain and the IP address of the sender to query an SPF TXT RR.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SPF checks can be started before the body of the email message is received,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which may result in blocking the transmission of the email content. Alternatively,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entire message can be absorbed and buffered until all the checks are finished.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either case, checks must be completed before the mail message is sent to the end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user’s inbox.</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checking involves the following rules: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If no SPF TXT RR is returned, the default behavior is to accept the message.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If the SPF TXT RR has formatting errors, the default behavior is to accept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Otherwise the mechanisms and modifiers in the RR are used to determine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disposition of the email message.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Figure 19.9 illustrates SPF operation.</a:t>
            </a:r>
          </a:p>
          <a:p>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53</a:t>
            </a:fld>
            <a:endParaRPr lang="en-AU"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0658" name="Slide Image Placeholder 1"/>
          <p:cNvSpPr>
            <a:spLocks noGrp="1" noRot="1" noChangeAspect="1"/>
          </p:cNvSpPr>
          <p:nvPr>
            <p:ph type="sldImg"/>
          </p:nvPr>
        </p:nvSpPr>
        <p:spPr>
          <a:ln/>
        </p:spPr>
      </p:sp>
      <p:sp>
        <p:nvSpPr>
          <p:cNvPr id="70659" name="Notes Placeholder 2"/>
          <p:cNvSpPr>
            <a:spLocks noGrp="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DomainKeys Identified Mail (DKIM) is a specification for cryptographically signing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e-mail messages, permitting a signing domain to claim responsibility for a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the mail stream. Message recipients (or agents acting in their behalf) can verify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signature by querying the signer’s domain directly to retrieve the appropriate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public key and thereby can confirm that the message was attested to by a party 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possession of the private key for the signing domain. DKIM is a proposed Internet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Standard (RFC</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6376: </a:t>
            </a:r>
            <a:r>
              <a:rPr lang="en-US" sz="1200" i="1" kern="1200" baseline="0" dirty="0" smtClean="0">
                <a:solidFill>
                  <a:schemeClr val="tx1"/>
                </a:solidFill>
                <a:latin typeface="Arial" pitchFamily="-107" charset="0"/>
                <a:ea typeface="ＭＳ Ｐゴシック" pitchFamily="-107" charset="-128"/>
                <a:cs typeface="ＭＳ Ｐゴシック" pitchFamily="-107" charset="-128"/>
              </a:rPr>
              <a:t>DomainKeys Identified Mail (DKIM) Signatures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DKIM has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been widely adopted by a range of e-mail providers, including corporations, government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agencies, gmail,</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Yahoo!,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and many Internet Service Providers (ISPs).</a:t>
            </a:r>
            <a:endParaRPr lang="en-US" dirty="0" smtClean="0">
              <a:latin typeface="Arial" pitchFamily="-1" charset="0"/>
              <a:ea typeface="ＭＳ Ｐゴシック" pitchFamily="-1" charset="-128"/>
              <a:cs typeface="ＭＳ Ｐゴシック" pitchFamily="-1" charset="-128"/>
            </a:endParaRPr>
          </a:p>
        </p:txBody>
      </p:sp>
      <p:sp>
        <p:nvSpPr>
          <p:cNvPr id="70660" name="Slide Number Placeholder 3"/>
          <p:cNvSpPr>
            <a:spLocks noGrp="1"/>
          </p:cNvSpPr>
          <p:nvPr>
            <p:ph type="sldNum" sz="quarter" idx="5"/>
          </p:nvPr>
        </p:nvSpPr>
        <p:spPr>
          <a:noFill/>
        </p:spPr>
        <p:txBody>
          <a:bodyPr/>
          <a:lstStyle/>
          <a:p>
            <a:fld id="{EFDD9883-232B-4C43-90AA-D078E12B6389}" type="slidenum">
              <a:rPr lang="en-AU" smtClean="0">
                <a:latin typeface="Arial" pitchFamily="-1" charset="0"/>
              </a:rPr>
              <a:pPr/>
              <a:t>54</a:t>
            </a:fld>
            <a:endParaRPr lang="en-AU" dirty="0" smtClean="0">
              <a:latin typeface="Arial" pitchFamily="-1"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4754" name="Slide Image Placeholder 1"/>
          <p:cNvSpPr>
            <a:spLocks noGrp="1" noRot="1" noChangeAspect="1"/>
          </p:cNvSpPr>
          <p:nvPr>
            <p:ph type="sldImg"/>
          </p:nvPr>
        </p:nvSpPr>
        <p:spPr>
          <a:ln/>
        </p:spPr>
      </p:sp>
      <p:sp>
        <p:nvSpPr>
          <p:cNvPr id="74755" name="Notes Placeholder 2"/>
          <p:cNvSpPr>
            <a:spLocks noGrp="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RFC 4686 (</a:t>
            </a:r>
            <a:r>
              <a:rPr lang="en-US" sz="1200" i="1" kern="1200" baseline="0" dirty="0" smtClean="0">
                <a:solidFill>
                  <a:schemeClr val="tx1"/>
                </a:solidFill>
                <a:latin typeface="Arial" pitchFamily="-107" charset="0"/>
                <a:ea typeface="ＭＳ Ｐゴシック" pitchFamily="-107" charset="-128"/>
                <a:cs typeface="ＭＳ Ｐゴシック" pitchFamily="-107" charset="-128"/>
              </a:rPr>
              <a:t>Analysis of Threats Motivating </a:t>
            </a:r>
            <a:r>
              <a:rPr lang="en-US" sz="1200" i="1" kern="1200" baseline="0" dirty="0" err="1" smtClean="0">
                <a:solidFill>
                  <a:schemeClr val="tx1"/>
                </a:solidFill>
                <a:latin typeface="Arial" pitchFamily="-107" charset="0"/>
                <a:ea typeface="ＭＳ Ｐゴシック" pitchFamily="-107" charset="-128"/>
                <a:cs typeface="ＭＳ Ｐゴシック" pitchFamily="-107" charset="-128"/>
              </a:rPr>
              <a:t>DomainKeys</a:t>
            </a:r>
            <a:r>
              <a:rPr lang="en-US" sz="1200" i="1" kern="1200" baseline="0" dirty="0" smtClean="0">
                <a:solidFill>
                  <a:schemeClr val="tx1"/>
                </a:solidFill>
                <a:latin typeface="Arial" pitchFamily="-107" charset="0"/>
                <a:ea typeface="ＭＳ Ｐゴシック" pitchFamily="-107" charset="-128"/>
                <a:cs typeface="ＭＳ Ｐゴシック" pitchFamily="-107" charset="-128"/>
              </a:rPr>
              <a:t> Identified Mail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describes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threats being addressed by DKIM in terms of the characteristics, capabilities,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location of potential attackers.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RFC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4686 characterizes the range of attackers on a spectrum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three levels of threat.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At the low end are attackers who simply want to send e-mail that a recipient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does not want to receive. The attacker can use one of a number of commercially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available tools that allow the sender to falsify the origin address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messages. This makes it difficult for the receiver to filter spam on the basis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originating address or domain.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At the next level are professional senders of bulk spam mail. These attackers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often operate as commercial enterprises and send messages on behalf of third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parties. They employ more comprehensive tools for attack, including Mail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Transfer Agents (MTAs) and registered domains and networks of compromised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computers (zombies) to send messages and (in some cases) to harvest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addresses to which to send.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The most sophisticated and financially motivated senders of messages are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those who stand to receive substantial financial benefit, such as from 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E-mail-based fraud scheme. These attackers can be expected to employ all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above mechanisms and additionally may attack the Internet infrastructure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itself, including DNS cache-poisoning attacks and IP routing attacks.</a:t>
            </a:r>
            <a:endParaRPr lang="en-US" dirty="0" smtClean="0">
              <a:latin typeface="Arial" pitchFamily="-1" charset="0"/>
              <a:ea typeface="ＭＳ Ｐゴシック" pitchFamily="-1" charset="-128"/>
              <a:cs typeface="ＭＳ Ｐゴシック" pitchFamily="-1" charset="-128"/>
            </a:endParaRPr>
          </a:p>
        </p:txBody>
      </p:sp>
      <p:sp>
        <p:nvSpPr>
          <p:cNvPr id="74756" name="Slide Number Placeholder 3"/>
          <p:cNvSpPr>
            <a:spLocks noGrp="1"/>
          </p:cNvSpPr>
          <p:nvPr>
            <p:ph type="sldNum" sz="quarter" idx="5"/>
          </p:nvPr>
        </p:nvSpPr>
        <p:spPr>
          <a:noFill/>
        </p:spPr>
        <p:txBody>
          <a:bodyPr/>
          <a:lstStyle/>
          <a:p>
            <a:fld id="{A5E25E52-D2C5-CD47-9CA4-47426E1B153D}" type="slidenum">
              <a:rPr lang="en-AU" smtClean="0">
                <a:latin typeface="Arial" pitchFamily="-1" charset="0"/>
              </a:rPr>
              <a:pPr/>
              <a:t>55</a:t>
            </a:fld>
            <a:endParaRPr lang="en-AU" dirty="0" smtClean="0">
              <a:latin typeface="Arial" pitchFamily="-1"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6802" name="Slide Image Placeholder 1"/>
          <p:cNvSpPr>
            <a:spLocks noGrp="1" noRot="1" noChangeAspect="1"/>
          </p:cNvSpPr>
          <p:nvPr>
            <p:ph type="sldImg"/>
          </p:nvPr>
        </p:nvSpPr>
        <p:spPr>
          <a:ln/>
        </p:spPr>
      </p:sp>
      <p:sp>
        <p:nvSpPr>
          <p:cNvPr id="76803" name="Notes Placeholder 2"/>
          <p:cNvSpPr>
            <a:spLocks noGrp="1"/>
          </p:cNvSpPr>
          <p:nvPr>
            <p:ph type="body" idx="1"/>
          </p:nvPr>
        </p:nvSpPr>
        <p:spPr>
          <a:xfrm>
            <a:off x="685800" y="4343400"/>
            <a:ext cx="5486400" cy="4341813"/>
          </a:xfrm>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DKIM is designed to provide an e-mail authentication technique that is transparent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the end user. In essence, a user’s e-mail message is signed by a private key of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administrative domain from which the e-mail originates. The signature covers all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content of the message and some of the RFC 5322 message headers. At the receiving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end, the MDA can access the corresponding public key via a DNS and verify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signature, thus authenticating that the message comes from the claimed administrative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domain. Thus, mail that originates from somewhere else but claims to come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from a given domain will not pass the authentication test and can be rejected. This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approach differs from that of S/MIME and PGP, which use the originator’s private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 to sign the content of the message. The motivation for DKIM is based on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following reasoning.</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S/MIME depends on both the sending and receiving users employing S/MIME.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almost all users, the bulk of incoming mail does not use S/MIME, and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bulk of the mail the user wants to send is to recipients not using S/MIME.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S/MIME signs only the message content. Thus, RFC 5322 header information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concerning origin can be compromised.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DKIM is not implemented in client programs (MUAs) and is therefore transparent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the user; the user need take no action.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4. DKIM applies to all mail from cooperating domains.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5. DKIM allows good senders to prove that they did send a particular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to prevent forgers from masquerading as good senders.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Figure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19.10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is a simple example of the operation of DKIM. We begin with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generated by a user and transmitted into the MHS to an MSA that is within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user’s administrative domain. An e-mail message is generated by an e-mail client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program. The content of the message, plus selected RFC 5322 headers, is signed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by the e-mail provider using the provider’s private key. The signer is associated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with a domain, which could be a corporate local network, an ISP, or a public e-mail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facility such as gmail. The signed message then passes through the Internet via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sequence of MTAs. At the destination, the MDA retrieves the public key for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incoming signature and verifies the signature before passing the message on to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destination e-mail client. The default signing algorithm is RSA with SHA-256. RSA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with SHA-1 also may be used.</a:t>
            </a:r>
            <a:endParaRPr lang="en-US" dirty="0" smtClean="0">
              <a:latin typeface="Arial" pitchFamily="-1" charset="0"/>
              <a:ea typeface="ＭＳ Ｐゴシック" pitchFamily="-1" charset="-128"/>
              <a:cs typeface="ＭＳ Ｐゴシック" pitchFamily="-1" charset="-128"/>
            </a:endParaRPr>
          </a:p>
        </p:txBody>
      </p:sp>
      <p:sp>
        <p:nvSpPr>
          <p:cNvPr id="76804" name="Slide Number Placeholder 3"/>
          <p:cNvSpPr>
            <a:spLocks noGrp="1"/>
          </p:cNvSpPr>
          <p:nvPr>
            <p:ph type="sldNum" sz="quarter" idx="5"/>
          </p:nvPr>
        </p:nvSpPr>
        <p:spPr>
          <a:noFill/>
        </p:spPr>
        <p:txBody>
          <a:bodyPr/>
          <a:lstStyle/>
          <a:p>
            <a:fld id="{849E86ED-1E11-024B-BF54-7A3F5A3A6676}" type="slidenum">
              <a:rPr lang="en-AU" smtClean="0">
                <a:latin typeface="Arial" pitchFamily="-1" charset="0"/>
              </a:rPr>
              <a:pPr/>
              <a:t>56</a:t>
            </a:fld>
            <a:endParaRPr lang="en-AU" dirty="0" smtClean="0">
              <a:latin typeface="Arial" pitchFamily="-1"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8850" name="Slide Image Placeholder 1"/>
          <p:cNvSpPr>
            <a:spLocks noGrp="1" noRot="1" noChangeAspect="1"/>
          </p:cNvSpPr>
          <p:nvPr>
            <p:ph type="sldImg"/>
          </p:nvPr>
        </p:nvSpPr>
        <p:spPr>
          <a:ln/>
        </p:spPr>
      </p:sp>
      <p:sp>
        <p:nvSpPr>
          <p:cNvPr id="78851" name="Notes Placeholder 2"/>
          <p:cNvSpPr>
            <a:spLocks noGrp="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Figure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19.11 </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provides a more detailed look at the elements of DKIM operation. Basic</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processing is divided between a signing Administrative Management Domain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(ADMD) and a verifying ADMD. At its simplest, this is between the originating ADMD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the delivering ADMD, but it can involve other ADMDs in the handling path.</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Signing is performed by an authorized module within the signing ADMD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uses private information from a Key Store. Within the originating ADMD, this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might be performed by the MUA, MSA, or an MTA. Verifying is performed by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authorized module within the verifying ADMD. Within a delivering ADMD,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verifying might be performed by an MTA, MDA, or MUA. The module verifies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signature or determines whether a particular signature was required. Verifying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signature uses public information from the Key Store. If the signature passes,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reputation information is used to assess the signer and that information is passed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the message filtering system. If the signature fails or there is no signature using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author’s domain, information about signing practices related to the author can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 retrieved remotely and/or locally, and that information is passed to the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filtering system. For example, if the sender (e.g., gmail) uses DKIM but no DKIM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signature is present, then the message may be considered fraudulent.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signature is inserted into the RFC 5322 message as an additional header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entry, starting with the keyword Dkim-Signature . You can view examples from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your own incoming mail by using the View Long Headers (or similar wording)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option for an incoming message.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Before a message is signed, a process known as canonicalization is performed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 both the header and body of the RFC 5322 message. Canonicalization is necessary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deal with the possibility of minor changes in the message made en route,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including character encoding, treatment of trailing white space in message lines,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“folding” and “unfolding” of header lines. The intent of canonicalization is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make a minimal transformation of the message (for the purpose of signing; the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itself is not changed, so the canonicalization must be performed again by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verifier) that will give it its best chance of producing the same canonical value at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receiving end. DKIM defines two header canonicalization algorithms (“simple”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“relaxed”) and two for the body (with the same names). The simple algorithm tolerates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almost no modification, while the relaxed tolerates common modifications.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signature includes a number of fields. Each field begins with a tag consisting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a tag code followed by an equals sign and ends with a semicolon.</a:t>
            </a:r>
            <a:endParaRPr lang="en-US" dirty="0" smtClean="0">
              <a:latin typeface="Arial" pitchFamily="-1" charset="0"/>
              <a:ea typeface="ＭＳ Ｐゴシック" pitchFamily="-1" charset="-128"/>
              <a:cs typeface="ＭＳ Ｐゴシック" pitchFamily="-1" charset="-128"/>
            </a:endParaRPr>
          </a:p>
        </p:txBody>
      </p:sp>
      <p:sp>
        <p:nvSpPr>
          <p:cNvPr id="78852" name="Slide Number Placeholder 3"/>
          <p:cNvSpPr>
            <a:spLocks noGrp="1"/>
          </p:cNvSpPr>
          <p:nvPr>
            <p:ph type="sldNum" sz="quarter" idx="5"/>
          </p:nvPr>
        </p:nvSpPr>
        <p:spPr>
          <a:noFill/>
        </p:spPr>
        <p:txBody>
          <a:bodyPr/>
          <a:lstStyle/>
          <a:p>
            <a:fld id="{D9897F92-9C8F-5042-8DB6-3F1DE6035B76}" type="slidenum">
              <a:rPr lang="en-AU" smtClean="0">
                <a:latin typeface="Arial" pitchFamily="-1" charset="0"/>
              </a:rPr>
              <a:pPr/>
              <a:t>57</a:t>
            </a:fld>
            <a:endParaRPr lang="en-AU" dirty="0" smtClean="0">
              <a:latin typeface="Arial" pitchFamily="-1"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Domain-Based Message Authentication, Reporting, and Conformance (DMARC)</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allows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email senders to specify policy on how their mail should be handled,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types of reports that receivers can send back, and the frequency those reports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should be sent. It is defined in RFC 7489 (Domain-based Message Authentication,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Reporting, and Conformance , March 2015).</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DMARC works with SPF and DKIM. SPF and DKM enable senders to advise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receivers, via DNS, whether mail purporting to come from the sender is valid,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whether it should be delivered, flagged, or discarded. However, neither SPF nor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DKIM include a mechanism to tell receivers if SPF or DKIM are in use, nor do they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have feedback mechanism to inform senders of the effectiveness of the anti-spam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techniques. For example, if a message arrives at a receiver without a DKIM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DKIM provides no mechanism to allow the receiver to learn if the message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authentic but was sent from a sender that did not implement DKIM, or if the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a spoof. DMARC addresses these issues essentially by standardizing how</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email receivers perform email authentication using SPF and DKIM mechanisms.</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58</a:t>
            </a:fld>
            <a:endParaRPr lang="en-AU"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Figure 19.12, based on one at </a:t>
            </a:r>
            <a:r>
              <a:rPr lang="en-US" sz="1200" kern="1200" baseline="0" dirty="0" err="1" smtClean="0">
                <a:solidFill>
                  <a:schemeClr val="tx1"/>
                </a:solidFill>
                <a:latin typeface="Arial" pitchFamily="-107" charset="0"/>
                <a:ea typeface="ＭＳ Ｐゴシック" pitchFamily="-107" charset="-128"/>
                <a:cs typeface="ＭＳ Ｐゴシック" pitchFamily="-107" charset="-128"/>
              </a:rPr>
              <a:t>DMARC.org</a:t>
            </a:r>
            <a:r>
              <a:rPr lang="en-US" sz="1200" kern="1200" baseline="0" dirty="0" smtClean="0">
                <a:solidFill>
                  <a:schemeClr val="tx1"/>
                </a:solidFill>
                <a:latin typeface="Arial" pitchFamily="-107" charset="0"/>
                <a:ea typeface="ＭＳ Ｐゴシック" pitchFamily="-107" charset="-128"/>
                <a:cs typeface="ＭＳ Ｐゴシック" pitchFamily="-107" charset="-128"/>
              </a:rPr>
              <a:t>, summarizes the sending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receiving functional flow.</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59</a:t>
            </a:fld>
            <a:endParaRPr lang="en-AU"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dirty="0" smtClean="0">
                <a:solidFill>
                  <a:schemeClr val="tx1"/>
                </a:solidFill>
                <a:latin typeface="Arial" pitchFamily="-107" charset="0"/>
                <a:ea typeface="ＭＳ Ｐゴシック" pitchFamily="-107" charset="-128"/>
                <a:cs typeface="ＭＳ Ｐゴシック" pitchFamily="-107" charset="-128"/>
              </a:rPr>
              <a:t>Table 19.8  DMARC Tag and Value Descriptions</a:t>
            </a:r>
            <a:r>
              <a:rPr lang="en-US" b="0" dirty="0" smtClean="0"/>
              <a:t> </a:t>
            </a:r>
            <a:endParaRPr lang="en-US" b="0"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60</a:t>
            </a:fld>
            <a:endParaRPr lang="en-AU"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1378" name="Rectangle 1031"/>
          <p:cNvSpPr>
            <a:spLocks noGrp="1" noChangeArrowheads="1"/>
          </p:cNvSpPr>
          <p:nvPr>
            <p:ph type="sldNum" sz="quarter" idx="5"/>
          </p:nvPr>
        </p:nvSpPr>
        <p:spPr>
          <a:noFill/>
        </p:spPr>
        <p:txBody>
          <a:bodyPr/>
          <a:lstStyle/>
          <a:p>
            <a:fld id="{645F3BD3-6F3C-694C-8E1B-CF3CF7A9ECD3}" type="slidenum">
              <a:rPr lang="en-AU">
                <a:latin typeface="Arial" pitchFamily="-84" charset="0"/>
              </a:rPr>
              <a:pPr/>
              <a:t>61</a:t>
            </a:fld>
            <a:endParaRPr lang="en-AU" dirty="0">
              <a:latin typeface="Arial" pitchFamily="-84"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Chapter</a:t>
            </a:r>
            <a:r>
              <a:rPr lang="en-US" dirty="0" smtClean="0">
                <a:latin typeface="Arial" pitchFamily="-84" charset="0"/>
                <a:ea typeface="ＭＳ Ｐゴシック" pitchFamily="-84" charset="-128"/>
                <a:cs typeface="ＭＳ Ｐゴシック" pitchFamily="-84" charset="-128"/>
              </a:rPr>
              <a:t> 19 </a:t>
            </a:r>
            <a:r>
              <a:rPr lang="en-US" dirty="0">
                <a:latin typeface="Arial" pitchFamily="-84" charset="0"/>
                <a:ea typeface="ＭＳ Ｐゴシック" pitchFamily="-84" charset="-128"/>
                <a:cs typeface="ＭＳ Ｐゴシック" pitchFamily="-84" charset="-128"/>
              </a:rPr>
              <a:t>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itle" preserve="1">
  <p:cSld name="Title Slide">
    <p:spTree>
      <p:nvGrpSpPr>
        <p:cNvPr id="1" name=""/>
        <p:cNvGrpSpPr/>
        <p:nvPr/>
      </p:nvGrpSpPr>
      <p:grpSpPr>
        <a:xfrm>
          <a:off x="0" y="0"/>
          <a:ext cx="0" cy="0"/>
          <a:chOff x="0" y="0"/>
          <a:chExt cx="0" cy="0"/>
        </a:xfrm>
      </p:grpSpPr>
      <p:grpSp>
        <p:nvGrpSpPr>
          <p:cNvPr id="4" name="Group 1026"/>
          <p:cNvGrpSpPr>
            <a:grpSpLocks/>
          </p:cNvGrpSpPr>
          <p:nvPr/>
        </p:nvGrpSpPr>
        <p:grpSpPr bwMode="auto">
          <a:xfrm>
            <a:off x="3175" y="4267200"/>
            <a:ext cx="9140825" cy="2590800"/>
            <a:chOff x="2" y="2688"/>
            <a:chExt cx="5758" cy="1632"/>
          </a:xfrm>
        </p:grpSpPr>
        <p:sp>
          <p:nvSpPr>
            <p:cNvPr id="5" name="Freeform 1027"/>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6" name="Group 1028"/>
            <p:cNvGrpSpPr>
              <a:grpSpLocks/>
            </p:cNvGrpSpPr>
            <p:nvPr/>
          </p:nvGrpSpPr>
          <p:grpSpPr bwMode="auto">
            <a:xfrm>
              <a:off x="1776" y="3024"/>
              <a:ext cx="3929" cy="1290"/>
              <a:chOff x="1776" y="3024"/>
              <a:chExt cx="3929" cy="1290"/>
            </a:xfrm>
          </p:grpSpPr>
          <p:grpSp>
            <p:nvGrpSpPr>
              <p:cNvPr id="7" name="Group 1029"/>
              <p:cNvGrpSpPr>
                <a:grpSpLocks/>
              </p:cNvGrpSpPr>
              <p:nvPr/>
            </p:nvGrpSpPr>
            <p:grpSpPr bwMode="auto">
              <a:xfrm>
                <a:off x="2268" y="3934"/>
                <a:ext cx="638" cy="377"/>
                <a:chOff x="2268" y="3934"/>
                <a:chExt cx="638" cy="377"/>
              </a:xfrm>
            </p:grpSpPr>
            <p:sp>
              <p:nvSpPr>
                <p:cNvPr id="60" name="Oval 1030"/>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1" name="Oval 1031"/>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2" name="Oval 1032"/>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3" name="Oval 1033"/>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4" name="Oval 1034"/>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5" name="Oval 1035"/>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6" name="Oval 1036"/>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7" name="Oval 1037"/>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8" name="Oval 1038"/>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9" name="Oval 1039"/>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0" name="Oval 1040"/>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1" name="Oval 1041"/>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2" name="Oval 1042"/>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3" name="Freeform 1043"/>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4" name="Freeform 1044"/>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5" name="Freeform 1045"/>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6" name="Freeform 1046"/>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7" name="Freeform 1047"/>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8" name="Freeform 1048"/>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9" name="Freeform 1049"/>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0" name="Freeform 1050"/>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1" name="Freeform 1051"/>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2" name="Freeform 1052"/>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3" name="Freeform 1053"/>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4" name="Freeform 1054"/>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5" name="Freeform 1055"/>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6" name="Freeform 1056"/>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7" name="Freeform 1057"/>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8" name="Freeform 1058"/>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9" name="Freeform 1059"/>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0" name="Freeform 1060"/>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1" name="Freeform 1061"/>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2" name="Freeform 1062"/>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3" name="Freeform 1063"/>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4" name="Freeform 1064"/>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5" name="Freeform 1065"/>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6" name="Freeform 1066"/>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7" name="Freeform 1067"/>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8" name="Freeform 1068"/>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9" name="Freeform 1069"/>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0" name="Freeform 1070"/>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1" name="Freeform 1071"/>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2" name="Freeform 1072"/>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3" name="Freeform 1073"/>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4" name="Freeform 1074"/>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5" name="Freeform 1075"/>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6" name="Freeform 1076"/>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7" name="Oval 1077"/>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48" name="Group 1078"/>
              <p:cNvGrpSpPr>
                <a:grpSpLocks/>
              </p:cNvGrpSpPr>
              <p:nvPr/>
            </p:nvGrpSpPr>
            <p:grpSpPr bwMode="auto">
              <a:xfrm>
                <a:off x="4546" y="3608"/>
                <a:ext cx="518" cy="319"/>
                <a:chOff x="4546" y="3608"/>
                <a:chExt cx="518" cy="319"/>
              </a:xfrm>
            </p:grpSpPr>
            <p:sp>
              <p:nvSpPr>
                <p:cNvPr id="54" name="Oval 1079"/>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5" name="Oval 1080"/>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6" name="Oval 1081"/>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7" name="Oval 1082"/>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8" name="Oval 1083"/>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9" name="Oval 1084"/>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49" name="Group 1085"/>
              <p:cNvGrpSpPr>
                <a:grpSpLocks/>
              </p:cNvGrpSpPr>
              <p:nvPr/>
            </p:nvGrpSpPr>
            <p:grpSpPr bwMode="auto">
              <a:xfrm>
                <a:off x="5381" y="3085"/>
                <a:ext cx="227" cy="132"/>
                <a:chOff x="5381" y="3085"/>
                <a:chExt cx="227" cy="132"/>
              </a:xfrm>
            </p:grpSpPr>
            <p:sp>
              <p:nvSpPr>
                <p:cNvPr id="50" name="Oval 1086"/>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1" name="Oval 1087"/>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2" name="Oval 1088"/>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3" name="Oval 1089"/>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69698" name="Rectangle 1090"/>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69699" name="Rectangle 1091"/>
          <p:cNvSpPr>
            <a:spLocks noGrp="1" noChangeArrowheads="1"/>
          </p:cNvSpPr>
          <p:nvPr>
            <p:ph type="subTitle" sz="quarter" idx="1"/>
          </p:nvPr>
        </p:nvSpPr>
        <p:spPr>
          <a:xfrm>
            <a:off x="1371600" y="3886200"/>
            <a:ext cx="6400800" cy="1752600"/>
          </a:xfrm>
        </p:spPr>
        <p:txBody>
          <a:bodyPr/>
          <a:lstStyle>
            <a:lvl1pPr marL="0" indent="0" algn="ctr">
              <a:buFont typeface="Wingdings" pitchFamily="-107" charset="2"/>
              <a:buNone/>
              <a:defRPr/>
            </a:lvl1pPr>
          </a:lstStyle>
          <a:p>
            <a:r>
              <a:rPr lang="en-US"/>
              <a:t>Click to edit Master subtitle style</a:t>
            </a:r>
          </a:p>
        </p:txBody>
      </p:sp>
      <p:sp>
        <p:nvSpPr>
          <p:cNvPr id="68" name="Rectangle 1092"/>
          <p:cNvSpPr>
            <a:spLocks noGrp="1" noChangeArrowheads="1"/>
          </p:cNvSpPr>
          <p:nvPr>
            <p:ph type="dt" sz="quarter" idx="10"/>
          </p:nvPr>
        </p:nvSpPr>
        <p:spPr/>
        <p:txBody>
          <a:bodyPr/>
          <a:lstStyle>
            <a:lvl1pPr>
              <a:defRPr/>
            </a:lvl1pPr>
          </a:lstStyle>
          <a:p>
            <a:pPr>
              <a:defRPr/>
            </a:pPr>
            <a:endParaRPr lang="en-US" dirty="0"/>
          </a:p>
        </p:txBody>
      </p:sp>
      <p:sp>
        <p:nvSpPr>
          <p:cNvPr id="69" name="Rectangle 1093"/>
          <p:cNvSpPr>
            <a:spLocks noGrp="1" noChangeArrowheads="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70" name="Rectangle 1094"/>
          <p:cNvSpPr>
            <a:spLocks noGrp="1" noChangeArrowheads="1"/>
          </p:cNvSpPr>
          <p:nvPr>
            <p:ph type="sldNum" sz="quarter" idx="12"/>
          </p:nvPr>
        </p:nvSpPr>
        <p:spPr/>
        <p:txBody>
          <a:bodyPr/>
          <a:lstStyle>
            <a:lvl1pPr>
              <a:defRPr/>
            </a:lvl1pPr>
          </a:lstStyle>
          <a:p>
            <a:pPr>
              <a:defRPr/>
            </a:pPr>
            <a:fld id="{2F3F2AB2-B8DE-BE47-A013-645DD366DA5C}"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43425F2E-304D-7D47-8BFB-18F22DFB059D}"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smtClean="0"/>
              <a:t>Click to edit Master text styles</a:t>
            </a:r>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B1DEA97C-F765-254E-B8F0-D14BC8CC3411}"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0C2342BA-D990-8442-B68C-9929AF8682C4}"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Rectangle 67"/>
          <p:cNvSpPr>
            <a:spLocks noGrp="1" noChangeArrowheads="1"/>
          </p:cNvSpPr>
          <p:nvPr>
            <p:ph type="dt" sz="half" idx="10"/>
          </p:nvPr>
        </p:nvSpPr>
        <p:spPr>
          <a:ln/>
        </p:spPr>
        <p:txBody>
          <a:bodyPr/>
          <a:lstStyle>
            <a:lvl1pPr>
              <a:defRPr/>
            </a:lvl1pPr>
          </a:lstStyle>
          <a:p>
            <a:pPr>
              <a:defRPr/>
            </a:pPr>
            <a:endParaRPr lang="en-US" dirty="0"/>
          </a:p>
        </p:txBody>
      </p:sp>
      <p:sp>
        <p:nvSpPr>
          <p:cNvPr id="8"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9" name="Rectangle 69"/>
          <p:cNvSpPr>
            <a:spLocks noGrp="1" noChangeArrowheads="1"/>
          </p:cNvSpPr>
          <p:nvPr>
            <p:ph type="sldNum" sz="quarter" idx="12"/>
          </p:nvPr>
        </p:nvSpPr>
        <p:spPr>
          <a:ln/>
        </p:spPr>
        <p:txBody>
          <a:bodyPr/>
          <a:lstStyle>
            <a:lvl1pPr>
              <a:defRPr/>
            </a:lvl1pPr>
          </a:lstStyle>
          <a:p>
            <a:pPr>
              <a:defRPr/>
            </a:pPr>
            <a:fld id="{6D5C0AA9-1731-DB48-8BC9-0A079BBDC74B}"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Rectangle 67"/>
          <p:cNvSpPr>
            <a:spLocks noGrp="1" noChangeArrowheads="1"/>
          </p:cNvSpPr>
          <p:nvPr>
            <p:ph type="dt" sz="half" idx="10"/>
          </p:nvPr>
        </p:nvSpPr>
        <p:spPr>
          <a:ln/>
        </p:spPr>
        <p:txBody>
          <a:bodyPr/>
          <a:lstStyle>
            <a:lvl1pPr>
              <a:defRPr/>
            </a:lvl1pPr>
          </a:lstStyle>
          <a:p>
            <a:pPr>
              <a:defRPr/>
            </a:pPr>
            <a:endParaRPr lang="en-US" dirty="0"/>
          </a:p>
        </p:txBody>
      </p:sp>
      <p:sp>
        <p:nvSpPr>
          <p:cNvPr id="4"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5" name="Rectangle 69"/>
          <p:cNvSpPr>
            <a:spLocks noGrp="1" noChangeArrowheads="1"/>
          </p:cNvSpPr>
          <p:nvPr>
            <p:ph type="sldNum" sz="quarter" idx="12"/>
          </p:nvPr>
        </p:nvSpPr>
        <p:spPr>
          <a:ln/>
        </p:spPr>
        <p:txBody>
          <a:bodyPr/>
          <a:lstStyle>
            <a:lvl1pPr>
              <a:defRPr/>
            </a:lvl1pPr>
          </a:lstStyle>
          <a:p>
            <a:pPr>
              <a:defRPr/>
            </a:pPr>
            <a:fld id="{8188C0FA-934D-F44B-9062-2F8EA31D77D2}"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Rectangle 67"/>
          <p:cNvSpPr>
            <a:spLocks noGrp="1" noChangeArrowheads="1"/>
          </p:cNvSpPr>
          <p:nvPr>
            <p:ph type="dt" sz="half" idx="10"/>
          </p:nvPr>
        </p:nvSpPr>
        <p:spPr>
          <a:ln/>
        </p:spPr>
        <p:txBody>
          <a:bodyPr/>
          <a:lstStyle>
            <a:lvl1pPr>
              <a:defRPr/>
            </a:lvl1pPr>
          </a:lstStyle>
          <a:p>
            <a:pPr>
              <a:defRPr/>
            </a:pPr>
            <a:endParaRPr lang="en-US" dirty="0"/>
          </a:p>
        </p:txBody>
      </p:sp>
      <p:sp>
        <p:nvSpPr>
          <p:cNvPr id="3"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4" name="Rectangle 69"/>
          <p:cNvSpPr>
            <a:spLocks noGrp="1" noChangeArrowheads="1"/>
          </p:cNvSpPr>
          <p:nvPr>
            <p:ph type="sldNum" sz="quarter" idx="12"/>
          </p:nvPr>
        </p:nvSpPr>
        <p:spPr>
          <a:ln/>
        </p:spPr>
        <p:txBody>
          <a:bodyPr/>
          <a:lstStyle>
            <a:lvl1pPr>
              <a:defRPr/>
            </a:lvl1pPr>
          </a:lstStyle>
          <a:p>
            <a:pPr>
              <a:defRPr/>
            </a:pPr>
            <a:fld id="{C74D2808-C20F-B845-A3F1-3BE5A6762A71}"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6428AAE1-20AC-F044-AB6C-5ECE1B3CBC7F}"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6BB4B591-ED0D-1E4B-9651-87E1B8B4B9DC}"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0A784ACF-4DF9-724B-8937-0CD171B77DEC}"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5248521D-1F4E-784B-85AE-CEB7B598060C}"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5"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7" name="Group 16"/>
          <p:cNvGrpSpPr>
            <a:grpSpLocks/>
          </p:cNvGrpSpPr>
          <p:nvPr/>
        </p:nvGrpSpPr>
        <p:grpSpPr bwMode="auto">
          <a:xfrm>
            <a:off x="7546975" y="0"/>
            <a:ext cx="1597025" cy="6858000"/>
            <a:chOff x="7413812" y="0"/>
            <a:chExt cx="1597734" cy="6858000"/>
          </a:xfrm>
        </p:grpSpPr>
        <p:pic>
          <p:nvPicPr>
            <p:cNvPr id="8"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9"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1" name="Date Placeholder 3"/>
          <p:cNvSpPr>
            <a:spLocks noGrp="1"/>
          </p:cNvSpPr>
          <p:nvPr>
            <p:ph type="dt" sz="half" idx="10"/>
          </p:nvPr>
        </p:nvSpPr>
        <p:spPr>
          <a:xfrm>
            <a:off x="5257800" y="6356350"/>
            <a:ext cx="2133600" cy="365125"/>
          </a:xfrm>
        </p:spPr>
        <p:txBody>
          <a:bodyPr/>
          <a:lstStyle>
            <a:lvl1pPr>
              <a:defRPr smtClean="0">
                <a:solidFill>
                  <a:schemeClr val="tx2"/>
                </a:solidFill>
              </a:defRPr>
            </a:lvl1pPr>
          </a:lstStyle>
          <a:p>
            <a:pPr>
              <a:defRPr/>
            </a:pPr>
            <a:endParaRPr lang="en-US" dirty="0"/>
          </a:p>
        </p:txBody>
      </p:sp>
      <p:sp>
        <p:nvSpPr>
          <p:cNvPr id="12" name="Footer Placeholder 4"/>
          <p:cNvSpPr>
            <a:spLocks noGrp="1"/>
          </p:cNvSpPr>
          <p:nvPr>
            <p:ph type="ftr" sz="quarter" idx="11"/>
          </p:nvPr>
        </p:nvSpPr>
        <p:spPr>
          <a:xfrm>
            <a:off x="1752600" y="6356350"/>
            <a:ext cx="2895600" cy="365125"/>
          </a:xfrm>
        </p:spPr>
        <p:txBody>
          <a:bodyPr/>
          <a:lstStyle>
            <a:lvl1pPr>
              <a:defRPr dirty="0">
                <a:solidFill>
                  <a:schemeClr val="tx2"/>
                </a:solidFill>
              </a:defRPr>
            </a:lvl1pPr>
          </a:lstStyle>
          <a:p>
            <a:pPr>
              <a:defRPr/>
            </a:pPr>
            <a:r>
              <a:rPr lang="en-US" smtClean="0"/>
              <a:t>© 2017 Pearson Education, Inc., Hoboken, NJ. All rights reserved.         </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9ED48F9B-91BA-5241-927F-DFD69C82FCF7}" type="slidenum">
              <a:rPr lang="en-US"/>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Title Slide with Pictur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6"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5" name="Group 16"/>
          <p:cNvGrpSpPr>
            <a:grpSpLocks/>
          </p:cNvGrpSpPr>
          <p:nvPr/>
        </p:nvGrpSpPr>
        <p:grpSpPr bwMode="auto">
          <a:xfrm>
            <a:off x="7546975" y="0"/>
            <a:ext cx="1597025" cy="6858000"/>
            <a:chOff x="7413812" y="0"/>
            <a:chExt cx="1597734" cy="6858000"/>
          </a:xfrm>
        </p:grpSpPr>
        <p:pic>
          <p:nvPicPr>
            <p:cNvPr id="9"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10"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1"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dirty="0" smtClean="0"/>
              <a:t>Click icon to add picture</a:t>
            </a:r>
            <a:endParaRPr noProof="0" dirty="0"/>
          </a:p>
        </p:txBody>
      </p:sp>
      <p:sp>
        <p:nvSpPr>
          <p:cNvPr id="12" name="Date Placeholder 3"/>
          <p:cNvSpPr>
            <a:spLocks noGrp="1"/>
          </p:cNvSpPr>
          <p:nvPr>
            <p:ph type="dt" sz="half" idx="13"/>
          </p:nvPr>
        </p:nvSpPr>
        <p:spPr>
          <a:xfrm>
            <a:off x="5257800" y="6356350"/>
            <a:ext cx="2133600" cy="365125"/>
          </a:xfrm>
        </p:spPr>
        <p:txBody>
          <a:bodyPr/>
          <a:lstStyle>
            <a:lvl1pPr>
              <a:defRPr dirty="0">
                <a:solidFill>
                  <a:schemeClr val="tx2"/>
                </a:solidFill>
              </a:defRPr>
            </a:lvl1pPr>
          </a:lstStyle>
          <a:p>
            <a:pPr>
              <a:defRPr/>
            </a:pPr>
            <a:endParaRPr lang="en-US" dirty="0"/>
          </a:p>
        </p:txBody>
      </p:sp>
      <p:sp>
        <p:nvSpPr>
          <p:cNvPr id="13" name="Footer Placeholder 4"/>
          <p:cNvSpPr>
            <a:spLocks noGrp="1"/>
          </p:cNvSpPr>
          <p:nvPr>
            <p:ph type="ftr" sz="quarter" idx="14"/>
          </p:nvPr>
        </p:nvSpPr>
        <p:spPr>
          <a:xfrm>
            <a:off x="1752600" y="6356350"/>
            <a:ext cx="2895600" cy="365125"/>
          </a:xfrm>
        </p:spPr>
        <p:txBody>
          <a:bodyPr/>
          <a:lstStyle>
            <a:lvl1pPr>
              <a:defRPr dirty="0">
                <a:solidFill>
                  <a:schemeClr val="tx2"/>
                </a:solidFill>
              </a:defRPr>
            </a:lvl1pPr>
          </a:lstStyle>
          <a:p>
            <a:pPr>
              <a:defRPr/>
            </a:pPr>
            <a:r>
              <a:rPr lang="en-US" smtClean="0"/>
              <a:t>© 2017 Pearson Education, Inc., Hoboken, NJ. All rights reserved.         </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bg>
      <p:bgRef idx="1003">
        <a:schemeClr val="bg2"/>
      </p:bgRef>
    </p:bg>
    <p:spTree>
      <p:nvGrpSpPr>
        <p:cNvPr id="1" name=""/>
        <p:cNvGrpSpPr/>
        <p:nvPr/>
      </p:nvGrpSpPr>
      <p:grpSpPr>
        <a:xfrm>
          <a:off x="0" y="0"/>
          <a:ext cx="0" cy="0"/>
          <a:chOff x="0" y="0"/>
          <a:chExt cx="0" cy="0"/>
        </a:xfrm>
      </p:grpSpPr>
      <p:grpSp>
        <p:nvGrpSpPr>
          <p:cNvPr id="4" name="Group 9"/>
          <p:cNvGrpSpPr>
            <a:grpSpLocks/>
          </p:cNvGrpSpPr>
          <p:nvPr/>
        </p:nvGrpSpPr>
        <p:grpSpPr bwMode="auto">
          <a:xfrm>
            <a:off x="0" y="0"/>
            <a:ext cx="9144000" cy="1190625"/>
            <a:chOff x="0" y="0"/>
            <a:chExt cx="9144000" cy="1191256"/>
          </a:xfrm>
        </p:grpSpPr>
        <p:pic>
          <p:nvPicPr>
            <p:cNvPr id="5" name="Picture 7"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grpSp>
        <p:nvGrpSpPr>
          <p:cNvPr id="7" name="Group 10"/>
          <p:cNvGrpSpPr>
            <a:grpSpLocks/>
          </p:cNvGrpSpPr>
          <p:nvPr/>
        </p:nvGrpSpPr>
        <p:grpSpPr bwMode="auto">
          <a:xfrm flipV="1">
            <a:off x="0" y="5667375"/>
            <a:ext cx="9144000" cy="1190625"/>
            <a:chOff x="0" y="0"/>
            <a:chExt cx="9144000" cy="1191256"/>
          </a:xfrm>
        </p:grpSpPr>
        <p:pic>
          <p:nvPicPr>
            <p:cNvPr id="8" name="Picture 10"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9" name="Picture 11"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3259138"/>
            <a:ext cx="6035675" cy="339725"/>
          </a:xfrm>
          <a:prstGeom prst="rect">
            <a:avLst/>
          </a:prstGeom>
          <a:noFill/>
          <a:ln w="9525">
            <a:noFill/>
            <a:miter lim="800000"/>
            <a:headEnd/>
            <a:tailEnd/>
          </a:ln>
        </p:spPr>
      </p:pic>
      <p:sp>
        <p:nvSpPr>
          <p:cNvPr id="2" name="Title 1"/>
          <p:cNvSpPr>
            <a:spLocks noGrp="1"/>
          </p:cNvSpPr>
          <p:nvPr>
            <p:ph type="title"/>
          </p:nvPr>
        </p:nvSpPr>
        <p:spPr>
          <a:xfrm>
            <a:off x="1854200" y="1851212"/>
            <a:ext cx="5446714" cy="1730375"/>
          </a:xfrm>
        </p:spPr>
        <p:txBody>
          <a:bodyPr anchor="b"/>
          <a:lstStyle>
            <a:lvl1pPr algn="ctr">
              <a:lnSpc>
                <a:spcPts val="6800"/>
              </a:lnSpc>
              <a:defRPr sz="6500" b="0" cap="none" baseline="0">
                <a:latin typeface="+mj-lt"/>
              </a:defRPr>
            </a:lvl1pPr>
          </a:lstStyle>
          <a:p>
            <a:r>
              <a:rPr lang="en-US" smtClean="0"/>
              <a:t>Click to edit Master title style</a:t>
            </a:r>
            <a:endParaRPr/>
          </a:p>
        </p:txBody>
      </p:sp>
      <p:sp>
        <p:nvSpPr>
          <p:cNvPr id="3" name="Text Placeholder 2"/>
          <p:cNvSpPr>
            <a:spLocks noGrp="1"/>
          </p:cNvSpPr>
          <p:nvPr>
            <p:ph type="body" idx="1"/>
          </p:nvPr>
        </p:nvSpPr>
        <p:spPr>
          <a:xfrm>
            <a:off x="1854200" y="3576918"/>
            <a:ext cx="5446714" cy="829982"/>
          </a:xfrm>
        </p:spPr>
        <p:txBody>
          <a:bodyPr>
            <a:normAutofit/>
          </a:bodyPr>
          <a:lstStyle>
            <a:lvl1pPr marL="0" indent="0" algn="ctr">
              <a:spcBef>
                <a:spcPts val="300"/>
              </a:spcBef>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1" name="Date Placeholder 3"/>
          <p:cNvSpPr>
            <a:spLocks noGrp="1"/>
          </p:cNvSpPr>
          <p:nvPr>
            <p:ph type="dt" sz="half" idx="10"/>
          </p:nvPr>
        </p:nvSpPr>
        <p:spPr/>
        <p:txBody>
          <a:bodyPr/>
          <a:lstStyle>
            <a:lvl1pPr>
              <a:defRPr smtClean="0"/>
            </a:lvl1pPr>
          </a:lstStyle>
          <a:p>
            <a:pPr>
              <a:defRPr/>
            </a:pPr>
            <a:endParaRPr lang="en-US" dirty="0"/>
          </a:p>
        </p:txBody>
      </p:sp>
      <p:sp>
        <p:nvSpPr>
          <p:cNvPr id="12"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3" name="Slide Number Placeholder 5"/>
          <p:cNvSpPr>
            <a:spLocks noGrp="1"/>
          </p:cNvSpPr>
          <p:nvPr>
            <p:ph type="sldNum" sz="quarter" idx="12"/>
          </p:nvPr>
        </p:nvSpPr>
        <p:spPr/>
        <p:txBody>
          <a:bodyPr/>
          <a:lstStyle>
            <a:lvl1pPr>
              <a:defRPr/>
            </a:lvl1pPr>
          </a:lstStyle>
          <a:p>
            <a:pPr>
              <a:defRPr/>
            </a:pPr>
            <a:fld id="{EC3F0E40-9566-FF47-84D5-E4C9DFD1FA8E}"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grpSp>
        <p:nvGrpSpPr>
          <p:cNvPr id="5" name="Group 6"/>
          <p:cNvGrpSpPr>
            <a:grpSpLocks/>
          </p:cNvGrpSpPr>
          <p:nvPr/>
        </p:nvGrpSpPr>
        <p:grpSpPr bwMode="auto">
          <a:xfrm>
            <a:off x="0" y="1373188"/>
            <a:ext cx="9144000" cy="5484812"/>
            <a:chOff x="0" y="1372650"/>
            <a:chExt cx="9144000" cy="5485350"/>
          </a:xfrm>
        </p:grpSpPr>
        <p:pic>
          <p:nvPicPr>
            <p:cNvPr id="6"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7"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792162"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766534"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4FF0B399-20FE-C646-851D-65041BC80C79}" type="slidenum">
              <a:rPr lang="en-US"/>
              <a:pPr>
                <a:defRPr/>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grpSp>
        <p:nvGrpSpPr>
          <p:cNvPr id="7" name="Group 6"/>
          <p:cNvGrpSpPr>
            <a:grpSpLocks/>
          </p:cNvGrpSpPr>
          <p:nvPr/>
        </p:nvGrpSpPr>
        <p:grpSpPr bwMode="auto">
          <a:xfrm>
            <a:off x="0" y="1373188"/>
            <a:ext cx="9144000" cy="5484812"/>
            <a:chOff x="0" y="1372650"/>
            <a:chExt cx="9144000" cy="5485350"/>
          </a:xfrm>
        </p:grpSpPr>
        <p:pic>
          <p:nvPicPr>
            <p:cNvPr id="8"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9"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pic>
        <p:nvPicPr>
          <p:cNvPr id="10" name="Picture 9" descr="Overlay-HorizontalBridge.jpg"/>
          <p:cNvPicPr>
            <a:picLocks noChangeAspect="1"/>
          </p:cNvPicPr>
          <p:nvPr/>
        </p:nvPicPr>
        <p:blipFill>
          <a:blip r:embed="rId3"/>
          <a:srcRect t="23425" r="61031" b="39764"/>
          <a:stretch>
            <a:fillRect/>
          </a:stretch>
        </p:blipFill>
        <p:spPr>
          <a:xfrm>
            <a:off x="4765675" y="2460625"/>
            <a:ext cx="3563938" cy="98425"/>
          </a:xfrm>
          <a:prstGeom prst="rect">
            <a:avLst/>
          </a:prstGeom>
          <a:solidFill>
            <a:schemeClr val="bg2">
              <a:lumMod val="40000"/>
              <a:lumOff val="60000"/>
            </a:schemeClr>
          </a:solidFill>
        </p:spPr>
      </p:pic>
      <p:pic>
        <p:nvPicPr>
          <p:cNvPr id="11" name="Picture 10" descr="Overlay-HorizontalBridge.jpg"/>
          <p:cNvPicPr>
            <a:picLocks noChangeAspect="1"/>
          </p:cNvPicPr>
          <p:nvPr/>
        </p:nvPicPr>
        <p:blipFill>
          <a:blip r:embed="rId3"/>
          <a:srcRect t="23425" r="61031" b="39764"/>
          <a:stretch>
            <a:fillRect/>
          </a:stretch>
        </p:blipFill>
        <p:spPr>
          <a:xfrm>
            <a:off x="779463" y="2460625"/>
            <a:ext cx="3563937" cy="98425"/>
          </a:xfrm>
          <a:prstGeom prst="rect">
            <a:avLst/>
          </a:prstGeom>
          <a:solidFill>
            <a:schemeClr val="bg2">
              <a:lumMod val="40000"/>
              <a:lumOff val="60000"/>
            </a:schemeClr>
          </a:solidFill>
        </p:spPr>
      </p:pic>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777240"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77240"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766048"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66048"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2" name="Date Placeholder 6"/>
          <p:cNvSpPr>
            <a:spLocks noGrp="1"/>
          </p:cNvSpPr>
          <p:nvPr>
            <p:ph type="dt" sz="half" idx="10"/>
          </p:nvPr>
        </p:nvSpPr>
        <p:spPr/>
        <p:txBody>
          <a:bodyPr/>
          <a:lstStyle>
            <a:lvl1pPr>
              <a:defRPr/>
            </a:lvl1pPr>
          </a:lstStyle>
          <a:p>
            <a:pPr>
              <a:defRPr/>
            </a:pPr>
            <a:endParaRPr lang="en-US" dirty="0"/>
          </a:p>
        </p:txBody>
      </p:sp>
      <p:sp>
        <p:nvSpPr>
          <p:cNvPr id="13" name="Footer Placeholder 7"/>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4" name="Slide Number Placeholder 8"/>
          <p:cNvSpPr>
            <a:spLocks noGrp="1"/>
          </p:cNvSpPr>
          <p:nvPr>
            <p:ph type="sldNum" sz="quarter" idx="12"/>
          </p:nvPr>
        </p:nvSpPr>
        <p:spPr/>
        <p:txBody>
          <a:bodyPr/>
          <a:lstStyle>
            <a:lvl1pPr>
              <a:defRPr/>
            </a:lvl1pPr>
          </a:lstStyle>
          <a:p>
            <a:pPr>
              <a:defRPr/>
            </a:pPr>
            <a:fld id="{3E06906F-F82C-C24B-ADFB-A876A59C3E1B}" type="slidenum">
              <a:rPr lang="en-US"/>
              <a:pPr>
                <a:defRPr/>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grpSp>
        <p:nvGrpSpPr>
          <p:cNvPr id="3" name="Group 6"/>
          <p:cNvGrpSpPr>
            <a:grpSpLocks/>
          </p:cNvGrpSpPr>
          <p:nvPr/>
        </p:nvGrpSpPr>
        <p:grpSpPr bwMode="auto">
          <a:xfrm>
            <a:off x="0" y="1373188"/>
            <a:ext cx="9144000" cy="5484812"/>
            <a:chOff x="0" y="1372650"/>
            <a:chExt cx="9144000" cy="5485350"/>
          </a:xfrm>
        </p:grpSpPr>
        <p:pic>
          <p:nvPicPr>
            <p:cNvPr id="4"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5"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6" name="Date Placeholder 2"/>
          <p:cNvSpPr>
            <a:spLocks noGrp="1"/>
          </p:cNvSpPr>
          <p:nvPr>
            <p:ph type="dt" sz="half" idx="10"/>
          </p:nvPr>
        </p:nvSpPr>
        <p:spPr/>
        <p:txBody>
          <a:bodyPr/>
          <a:lstStyle>
            <a:lvl1pPr>
              <a:defRPr/>
            </a:lvl1pPr>
          </a:lstStyle>
          <a:p>
            <a:pPr>
              <a:defRPr/>
            </a:pPr>
            <a:endParaRPr lang="en-US" dirty="0"/>
          </a:p>
        </p:txBody>
      </p:sp>
      <p:sp>
        <p:nvSpPr>
          <p:cNvPr id="7" name="Footer Placeholder 3"/>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8" name="Slide Number Placeholder 4"/>
          <p:cNvSpPr>
            <a:spLocks noGrp="1"/>
          </p:cNvSpPr>
          <p:nvPr>
            <p:ph type="sldNum" sz="quarter" idx="12"/>
          </p:nvPr>
        </p:nvSpPr>
        <p:spPr/>
        <p:txBody>
          <a:bodyPr/>
          <a:lstStyle>
            <a:lvl1pPr>
              <a:defRPr/>
            </a:lvl1pPr>
          </a:lstStyle>
          <a:p>
            <a:pPr>
              <a:defRPr/>
            </a:pPr>
            <a:fld id="{2738C610-EA48-3F45-BACD-67F8C6BE9BE5}" type="slidenum">
              <a:rPr lang="en-US"/>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pic>
        <p:nvPicPr>
          <p:cNvPr id="2"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 name="Date Placeholder 1"/>
          <p:cNvSpPr>
            <a:spLocks noGrp="1"/>
          </p:cNvSpPr>
          <p:nvPr>
            <p:ph type="dt" sz="half" idx="10"/>
          </p:nvPr>
        </p:nvSpPr>
        <p:spPr/>
        <p:txBody>
          <a:bodyPr/>
          <a:lstStyle>
            <a:lvl1pPr>
              <a:defRPr/>
            </a:lvl1pPr>
          </a:lstStyle>
          <a:p>
            <a:pPr>
              <a:defRPr/>
            </a:pPr>
            <a:endParaRPr lang="en-US" dirty="0"/>
          </a:p>
        </p:txBody>
      </p:sp>
      <p:sp>
        <p:nvSpPr>
          <p:cNvPr id="4" name="Footer Placeholder 2"/>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5" name="Slide Number Placeholder 3"/>
          <p:cNvSpPr>
            <a:spLocks noGrp="1"/>
          </p:cNvSpPr>
          <p:nvPr>
            <p:ph type="sldNum" sz="quarter" idx="12"/>
          </p:nvPr>
        </p:nvSpPr>
        <p:spPr/>
        <p:txBody>
          <a:bodyPr/>
          <a:lstStyle>
            <a:lvl1pPr>
              <a:defRPr/>
            </a:lvl1pPr>
          </a:lstStyle>
          <a:p>
            <a:pPr>
              <a:defRPr/>
            </a:pPr>
            <a:fld id="{7A0671E9-418D-2440-8FFC-982A85567CAA}" type="slidenum">
              <a:rPr lang="en-US"/>
              <a:pPr>
                <a:defRPr/>
              </a:pPr>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grpSp>
        <p:nvGrpSpPr>
          <p:cNvPr id="5" name="Group 11"/>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776" cy="1537447"/>
          </a:xfrm>
        </p:spPr>
        <p:txBody>
          <a:bodyPr anchor="b"/>
          <a:lstStyle>
            <a:lvl1pPr algn="ctr">
              <a:lnSpc>
                <a:spcPct val="100000"/>
              </a:lnSpc>
              <a:defRPr sz="3600" b="0"/>
            </a:lvl1pPr>
          </a:lstStyle>
          <a:p>
            <a:r>
              <a:rPr lang="en-US" smtClean="0"/>
              <a:t>Click to edit Master title style</a:t>
            </a:r>
            <a:endParaRPr/>
          </a:p>
        </p:txBody>
      </p:sp>
      <p:sp>
        <p:nvSpPr>
          <p:cNvPr id="3" name="Content Placeholder 2"/>
          <p:cNvSpPr>
            <a:spLocks noGrp="1"/>
          </p:cNvSpPr>
          <p:nvPr>
            <p:ph idx="1"/>
          </p:nvPr>
        </p:nvSpPr>
        <p:spPr>
          <a:xfrm>
            <a:off x="4885859" y="381001"/>
            <a:ext cx="3813174" cy="5697537"/>
          </a:xfrm>
        </p:spPr>
        <p:txBody>
          <a:bodyPr>
            <a:normAutofit/>
          </a:bodyPr>
          <a:lstStyle>
            <a:lvl1pPr>
              <a:defRPr sz="2400" b="0"/>
            </a:lvl1pPr>
            <a:lvl2pPr>
              <a:defRPr sz="2200" b="0"/>
            </a:lvl2pPr>
            <a:lvl3pPr>
              <a:defRPr sz="2000" b="0"/>
            </a:lvl3pPr>
            <a:lvl4pPr>
              <a:defRPr sz="1800" b="0"/>
            </a:lvl4pPr>
            <a:lvl5pPr>
              <a:defRPr sz="1800" b="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00" y="2209801"/>
            <a:ext cx="3612776" cy="3200400"/>
          </a:xfrm>
        </p:spPr>
        <p:txBody>
          <a:bodyPr>
            <a:normAutofit/>
          </a:bodyPr>
          <a:lstStyle>
            <a:lvl1pPr marL="0" indent="0" algn="ctr">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dirty="0">
                <a:solidFill>
                  <a:schemeClr val="tx2"/>
                </a:solidFill>
              </a:defRPr>
            </a:lvl1pPr>
          </a:lstStyle>
          <a:p>
            <a:pPr>
              <a:defRPr/>
            </a:pPr>
            <a:r>
              <a:rPr lang="en-US" smtClean="0"/>
              <a:t>© 2017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lgn="ctr">
              <a:defRPr smtClean="0">
                <a:solidFill>
                  <a:schemeClr val="tx2">
                    <a:lumMod val="40000"/>
                    <a:lumOff val="60000"/>
                  </a:schemeClr>
                </a:solidFill>
              </a:defRPr>
            </a:lvl1pPr>
          </a:lstStyle>
          <a:p>
            <a:pPr>
              <a:defRPr/>
            </a:pPr>
            <a:fld id="{8CA6F8B6-D79F-7D42-8296-26A8574CEF86}" type="slidenum">
              <a:rPr lang="en-US"/>
              <a:pPr>
                <a:defRPr/>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pic>
        <p:nvPicPr>
          <p:cNvPr id="5"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solidFill>
              <a:schemeClr val="accent1">
                <a:lumMod val="40000"/>
                <a:lumOff val="60000"/>
                <a:alpha val="40000"/>
              </a:schemeClr>
            </a:solidFill>
            <a:miter lim="800000"/>
          </a:ln>
          <a:effectLst>
            <a:innerShdw blurRad="457200">
              <a:schemeClr val="accent1">
                <a:alpha val="80000"/>
              </a:schemeClr>
            </a:innerShdw>
            <a:softEdge rad="3175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dirty="0"/>
          </a:p>
        </p:txBody>
      </p:sp>
      <p:sp>
        <p:nvSpPr>
          <p:cNvPr id="7"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8" name="Slide Number Placeholder 6"/>
          <p:cNvSpPr>
            <a:spLocks noGrp="1"/>
          </p:cNvSpPr>
          <p:nvPr>
            <p:ph type="sldNum" sz="quarter" idx="12"/>
          </p:nvPr>
        </p:nvSpPr>
        <p:spPr/>
        <p:txBody>
          <a:bodyPr/>
          <a:lstStyle>
            <a:lvl1pPr>
              <a:defRPr/>
            </a:lvl1pPr>
          </a:lstStyle>
          <a:p>
            <a:pPr>
              <a:defRPr/>
            </a:pPr>
            <a:fld id="{D5C89D08-05CB-8041-A6F5-8B39A23581E0}" type="slidenum">
              <a:rPr lang="en-US"/>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Alt.">
    <p:spTree>
      <p:nvGrpSpPr>
        <p:cNvPr id="1" name=""/>
        <p:cNvGrpSpPr/>
        <p:nvPr/>
      </p:nvGrpSpPr>
      <p:grpSpPr>
        <a:xfrm>
          <a:off x="0" y="0"/>
          <a:ext cx="0" cy="0"/>
          <a:chOff x="0" y="0"/>
          <a:chExt cx="0" cy="0"/>
        </a:xfrm>
      </p:grpSpPr>
      <p:grpSp>
        <p:nvGrpSpPr>
          <p:cNvPr id="5" name="Group 8"/>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noFill/>
            <a:miter lim="800000"/>
          </a:ln>
          <a:effectLst>
            <a:innerShdw blurRad="457200">
              <a:schemeClr val="tx1">
                <a:lumMod val="50000"/>
                <a:lumOff val="50000"/>
                <a:alpha val="80000"/>
              </a:schemeClr>
            </a:innerShdw>
            <a:softEdge rad="12700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5D128D79-964E-A448-8064-06DBA4282F16}" type="slidenum">
              <a:rPr lang="en-US"/>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B6193134-7B2A-5144-91AA-8D21FF7C19B5}" type="slidenum">
              <a:rPr lang="en-US"/>
              <a:pPr>
                <a:defRPr/>
              </a:pPr>
              <a:t>‹#›</a:t>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grpSp>
        <p:nvGrpSpPr>
          <p:cNvPr id="4" name="Group 10"/>
          <p:cNvGrpSpPr>
            <a:grpSpLocks/>
          </p:cNvGrpSpPr>
          <p:nvPr/>
        </p:nvGrpSpPr>
        <p:grpSpPr bwMode="auto">
          <a:xfrm>
            <a:off x="0" y="0"/>
            <a:ext cx="7696200" cy="6858000"/>
            <a:chOff x="0" y="0"/>
            <a:chExt cx="7696200" cy="6858000"/>
          </a:xfrm>
        </p:grpSpPr>
        <p:pic>
          <p:nvPicPr>
            <p:cNvPr id="5" name="Picture 7" descr="Overlay-Blank.jpg"/>
            <p:cNvPicPr>
              <a:picLocks noChangeAspect="1"/>
            </p:cNvPicPr>
            <p:nvPr userDrawn="1"/>
          </p:nvPicPr>
          <p:blipFill>
            <a:blip r:embed="rId2"/>
            <a:srcRect l="1471" r="16862"/>
            <a:stretch>
              <a:fillRect/>
            </a:stretch>
          </p:blipFill>
          <p:spPr bwMode="auto">
            <a:xfrm>
              <a:off x="0" y="0"/>
              <a:ext cx="7467600"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7428309" y="0"/>
              <a:ext cx="267891" cy="6858000"/>
            </a:xfrm>
            <a:prstGeom prst="rect">
              <a:avLst/>
            </a:prstGeom>
            <a:noFill/>
            <a:ln w="9525">
              <a:noFill/>
              <a:miter lim="800000"/>
              <a:headEnd/>
              <a:tailEnd/>
            </a:ln>
          </p:spPr>
        </p:pic>
      </p:grpSp>
      <p:sp>
        <p:nvSpPr>
          <p:cNvPr id="2" name="Vertical Title 1"/>
          <p:cNvSpPr>
            <a:spLocks noGrp="1"/>
          </p:cNvSpPr>
          <p:nvPr>
            <p:ph type="title" orient="vert"/>
          </p:nvPr>
        </p:nvSpPr>
        <p:spPr>
          <a:xfrm>
            <a:off x="7620000" y="381001"/>
            <a:ext cx="1447800" cy="5697538"/>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381000" y="381001"/>
            <a:ext cx="6705600" cy="56975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9A747C69-A4E4-6642-9B2D-EA3DE70B39AF}"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theme" Target="../theme/theme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3175" y="4267200"/>
            <a:ext cx="9140825" cy="2590800"/>
            <a:chOff x="2" y="2688"/>
            <a:chExt cx="5758" cy="1632"/>
          </a:xfrm>
        </p:grpSpPr>
        <p:sp>
          <p:nvSpPr>
            <p:cNvPr id="68611" name="Freeform 3"/>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1033" name="Group 4"/>
            <p:cNvGrpSpPr>
              <a:grpSpLocks/>
            </p:cNvGrpSpPr>
            <p:nvPr/>
          </p:nvGrpSpPr>
          <p:grpSpPr bwMode="auto">
            <a:xfrm>
              <a:off x="1776" y="3024"/>
              <a:ext cx="3929" cy="1290"/>
              <a:chOff x="1776" y="3024"/>
              <a:chExt cx="3929" cy="1290"/>
            </a:xfrm>
          </p:grpSpPr>
          <p:grpSp>
            <p:nvGrpSpPr>
              <p:cNvPr id="1034" name="Group 5"/>
              <p:cNvGrpSpPr>
                <a:grpSpLocks/>
              </p:cNvGrpSpPr>
              <p:nvPr userDrawn="1"/>
            </p:nvGrpSpPr>
            <p:grpSpPr bwMode="auto">
              <a:xfrm>
                <a:off x="2268" y="3934"/>
                <a:ext cx="638" cy="377"/>
                <a:chOff x="2268" y="3934"/>
                <a:chExt cx="638" cy="377"/>
              </a:xfrm>
            </p:grpSpPr>
            <p:sp>
              <p:nvSpPr>
                <p:cNvPr id="68614" name="Oval 6"/>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15" name="Oval 7"/>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16" name="Oval 8"/>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17" name="Oval 9"/>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18" name="Oval 10"/>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19" name="Oval 11"/>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0" name="Oval 12"/>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1" name="Oval 13"/>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68622" name="Oval 14"/>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3" name="Oval 15"/>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4" name="Oval 16"/>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5" name="Oval 17"/>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6" name="Oval 18"/>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7" name="Freeform 19"/>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28" name="Freeform 20"/>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29" name="Freeform 21"/>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0" name="Freeform 22"/>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1" name="Freeform 23"/>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2" name="Freeform 24"/>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3" name="Freeform 25"/>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4" name="Freeform 26"/>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5" name="Freeform 27"/>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6" name="Freeform 28"/>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7" name="Freeform 29"/>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8" name="Freeform 30"/>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9" name="Freeform 31"/>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0" name="Freeform 32"/>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1" name="Freeform 33"/>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2" name="Freeform 34"/>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3" name="Freeform 35"/>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4" name="Freeform 36"/>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5" name="Freeform 37"/>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6" name="Freeform 38"/>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7" name="Freeform 39"/>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8" name="Freeform 40"/>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9" name="Freeform 41"/>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0" name="Freeform 42"/>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1" name="Freeform 43"/>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2" name="Freeform 44"/>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3" name="Freeform 45"/>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4" name="Freeform 46"/>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5" name="Freeform 47"/>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6" name="Freeform 48"/>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7" name="Freeform 49"/>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8" name="Freeform 50"/>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9" name="Freeform 51"/>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60" name="Freeform 52"/>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61" name="Oval 53"/>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1075" name="Group 54"/>
              <p:cNvGrpSpPr>
                <a:grpSpLocks/>
              </p:cNvGrpSpPr>
              <p:nvPr userDrawn="1"/>
            </p:nvGrpSpPr>
            <p:grpSpPr bwMode="auto">
              <a:xfrm>
                <a:off x="4546" y="3608"/>
                <a:ext cx="518" cy="319"/>
                <a:chOff x="4546" y="3608"/>
                <a:chExt cx="518" cy="319"/>
              </a:xfrm>
            </p:grpSpPr>
            <p:sp>
              <p:nvSpPr>
                <p:cNvPr id="68663" name="Oval 55"/>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64" name="Oval 56"/>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65" name="Oval 57"/>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66" name="Oval 58"/>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67" name="Oval 59"/>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68" name="Oval 60"/>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1076" name="Group 61"/>
              <p:cNvGrpSpPr>
                <a:grpSpLocks/>
              </p:cNvGrpSpPr>
              <p:nvPr userDrawn="1"/>
            </p:nvGrpSpPr>
            <p:grpSpPr bwMode="auto">
              <a:xfrm>
                <a:off x="5381" y="3085"/>
                <a:ext cx="227" cy="132"/>
                <a:chOff x="5381" y="3085"/>
                <a:chExt cx="227" cy="132"/>
              </a:xfrm>
            </p:grpSpPr>
            <p:sp>
              <p:nvSpPr>
                <p:cNvPr id="68670" name="Oval 62"/>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71" name="Oval 63"/>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72" name="Oval 64"/>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73" name="Oval 65"/>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68674" name="Rectangle 66"/>
          <p:cNvSpPr>
            <a:spLocks noGrp="1" noChangeArrowheads="1"/>
          </p:cNvSpPr>
          <p:nvPr>
            <p:ph type="title"/>
          </p:nvPr>
        </p:nvSpPr>
        <p:spPr bwMode="black">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68675" name="Rectangle 67"/>
          <p:cNvSpPr>
            <a:spLocks noGrp="1" noChangeArrowheads="1"/>
          </p:cNvSpPr>
          <p:nvPr>
            <p:ph type="dt" sz="half" idx="2"/>
          </p:nvPr>
        </p:nvSpPr>
        <p:spPr bwMode="black">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000000"/>
                  </a:outerShdw>
                </a:effectLst>
                <a:latin typeface="Arial" pitchFamily="-107" charset="0"/>
              </a:defRPr>
            </a:lvl1pPr>
          </a:lstStyle>
          <a:p>
            <a:pPr>
              <a:defRPr/>
            </a:pPr>
            <a:endParaRPr lang="en-US" dirty="0"/>
          </a:p>
        </p:txBody>
      </p:sp>
      <p:sp>
        <p:nvSpPr>
          <p:cNvPr id="68676" name="Rectangle 68"/>
          <p:cNvSpPr>
            <a:spLocks noGrp="1" noChangeArrowheads="1"/>
          </p:cNvSpPr>
          <p:nvPr>
            <p:ph type="ftr" sz="quarter" idx="3"/>
          </p:nvPr>
        </p:nvSpPr>
        <p:spPr bwMode="black">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effectLst>
                  <a:outerShdw blurRad="38100" dist="38100" dir="2700000" algn="tl">
                    <a:srgbClr val="000000"/>
                  </a:outerShdw>
                </a:effectLst>
                <a:latin typeface="Arial" pitchFamily="-107" charset="0"/>
              </a:defRPr>
            </a:lvl1pPr>
          </a:lstStyle>
          <a:p>
            <a:pPr>
              <a:defRPr/>
            </a:pPr>
            <a:r>
              <a:rPr lang="en-US" smtClean="0"/>
              <a:t>© 2017 Pearson Education, Inc., Hoboken, NJ. All rights reserved.         </a:t>
            </a:r>
            <a:endParaRPr lang="en-US" dirty="0"/>
          </a:p>
        </p:txBody>
      </p:sp>
      <p:sp>
        <p:nvSpPr>
          <p:cNvPr id="68677" name="Rectangle 69"/>
          <p:cNvSpPr>
            <a:spLocks noGrp="1" noChangeArrowheads="1"/>
          </p:cNvSpPr>
          <p:nvPr>
            <p:ph type="sldNum" sz="quarter" idx="4"/>
          </p:nvPr>
        </p:nvSpPr>
        <p:spPr bwMode="black">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latin typeface="Arial" pitchFamily="-107" charset="0"/>
              </a:defRPr>
            </a:lvl1pPr>
          </a:lstStyle>
          <a:p>
            <a:pPr>
              <a:defRPr/>
            </a:pPr>
            <a:fld id="{BAE742E5-0B39-C148-A46B-D9A9B26A77B5}" type="slidenum">
              <a:rPr lang="en-US"/>
              <a:pPr>
                <a:defRPr/>
              </a:pPr>
              <a:t>‹#›</a:t>
            </a:fld>
            <a:endParaRPr lang="en-US" dirty="0"/>
          </a:p>
        </p:txBody>
      </p:sp>
      <p:sp>
        <p:nvSpPr>
          <p:cNvPr id="68678" name="Rectangle 70"/>
          <p:cNvSpPr>
            <a:spLocks noGrp="1" noChangeArrowheads="1"/>
          </p:cNvSpPr>
          <p:nvPr>
            <p:ph type="body" idx="1"/>
          </p:nvPr>
        </p:nvSpPr>
        <p:spPr bwMode="black">
          <a:xfrm>
            <a:off x="457200" y="1676400"/>
            <a:ext cx="8229600" cy="4454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696"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par>
    </p:tnLst>
  </p:timing>
  <p:hf sldNum="0" hdr="0" dt="0"/>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ＭＳ Ｐゴシック" pitchFamily="-107" charset="-128"/>
          <a:cs typeface="ＭＳ Ｐゴシック" pitchFamily="-107" charset="-128"/>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9pPr>
    </p:titleStyle>
    <p:bodyStyle>
      <a:lvl1pPr marL="342900" indent="-342900" algn="l" rtl="0" eaLnBrk="0" fontAlgn="base" hangingPunct="0">
        <a:spcBef>
          <a:spcPct val="20000"/>
        </a:spcBef>
        <a:spcAft>
          <a:spcPct val="0"/>
        </a:spcAft>
        <a:buClr>
          <a:schemeClr val="hlink"/>
        </a:buClr>
        <a:buSzPct val="80000"/>
        <a:buFont typeface="Wingdings" pitchFamily="-1" charset="2"/>
        <a:buChar char="Ø"/>
        <a:defRPr sz="3200">
          <a:solidFill>
            <a:schemeClr val="tx1"/>
          </a:solidFill>
          <a:effectLst>
            <a:outerShdw blurRad="38100" dist="38100" dir="2700000" algn="tl">
              <a:srgbClr val="000000"/>
            </a:outerShdw>
          </a:effectLst>
          <a:latin typeface="+mn-lt"/>
          <a:ea typeface="ＭＳ Ｐゴシック" pitchFamily="-107" charset="-128"/>
          <a:cs typeface="ＭＳ Ｐゴシック" pitchFamily="-107" charset="-128"/>
        </a:defRPr>
      </a:lvl1pPr>
      <a:lvl2pPr marL="742950" indent="-285750" algn="l" rtl="0" eaLnBrk="0" fontAlgn="base" hangingPunct="0">
        <a:spcBef>
          <a:spcPct val="20000"/>
        </a:spcBef>
        <a:spcAft>
          <a:spcPct val="0"/>
        </a:spcAft>
        <a:buClr>
          <a:schemeClr val="tx2"/>
        </a:buClr>
        <a:buSzPct val="50000"/>
        <a:buFont typeface="Wingdings" pitchFamily="-1" charset="2"/>
        <a:buChar char="l"/>
        <a:defRPr sz="2800">
          <a:solidFill>
            <a:schemeClr val="tx1"/>
          </a:solidFill>
          <a:effectLst>
            <a:outerShdw blurRad="38100" dist="38100" dir="2700000" algn="tl">
              <a:srgbClr val="000000"/>
            </a:outerShdw>
          </a:effectLst>
          <a:latin typeface="+mn-lt"/>
          <a:ea typeface="ＭＳ Ｐゴシック" pitchFamily="-107" charset="-128"/>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ea typeface="ＭＳ Ｐゴシック" pitchFamily="-107" charset="-128"/>
        </a:defRPr>
      </a:lvl3pPr>
      <a:lvl4pPr marL="1600200" indent="-228600" algn="l" rtl="0" eaLnBrk="0" fontAlgn="base" hangingPunct="0">
        <a:spcBef>
          <a:spcPct val="20000"/>
        </a:spcBef>
        <a:spcAft>
          <a:spcPct val="0"/>
        </a:spcAft>
        <a:buClr>
          <a:schemeClr val="folHlink"/>
        </a:buClr>
        <a:buSzPct val="50000"/>
        <a:buFont typeface="Wingdings" pitchFamily="-1" charset="2"/>
        <a:buChar char="l"/>
        <a:defRPr sz="2000">
          <a:solidFill>
            <a:schemeClr val="tx1"/>
          </a:solidFill>
          <a:effectLst>
            <a:outerShdw blurRad="38100" dist="38100" dir="2700000" algn="tl">
              <a:srgbClr val="000000"/>
            </a:outerShdw>
          </a:effectLst>
          <a:latin typeface="+mn-lt"/>
          <a:ea typeface="ＭＳ Ｐゴシック" pitchFamily="-107" charset="-128"/>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2"/>
      </p:bgRef>
    </p:bg>
    <p:spTree>
      <p:nvGrpSpPr>
        <p:cNvPr id="1" name=""/>
        <p:cNvGrpSpPr/>
        <p:nvPr/>
      </p:nvGrpSpPr>
      <p:grpSpPr>
        <a:xfrm>
          <a:off x="0" y="0"/>
          <a:ext cx="0" cy="0"/>
          <a:chOff x="0" y="0"/>
          <a:chExt cx="0" cy="0"/>
        </a:xfrm>
      </p:grpSpPr>
      <p:sp>
        <p:nvSpPr>
          <p:cNvPr id="13314" name="Title Placeholder 1"/>
          <p:cNvSpPr>
            <a:spLocks noGrp="1"/>
          </p:cNvSpPr>
          <p:nvPr>
            <p:ph type="title"/>
          </p:nvPr>
        </p:nvSpPr>
        <p:spPr bwMode="auto">
          <a:xfrm>
            <a:off x="792163" y="39688"/>
            <a:ext cx="7570787" cy="1412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3315" name="Text Placeholder 2"/>
          <p:cNvSpPr>
            <a:spLocks noGrp="1"/>
          </p:cNvSpPr>
          <p:nvPr>
            <p:ph type="body" idx="1"/>
          </p:nvPr>
        </p:nvSpPr>
        <p:spPr bwMode="auto">
          <a:xfrm>
            <a:off x="792163" y="1762125"/>
            <a:ext cx="7570787" cy="42894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651625" y="6356350"/>
            <a:ext cx="2133600" cy="365125"/>
          </a:xfrm>
          <a:prstGeom prst="rect">
            <a:avLst/>
          </a:prstGeom>
        </p:spPr>
        <p:txBody>
          <a:bodyPr vert="horz" lIns="91440" tIns="45720" rIns="91440" bIns="45720" rtlCol="0" anchor="ctr"/>
          <a:lstStyle>
            <a:lvl1pPr algn="r">
              <a:defRPr sz="1200" b="1" dirty="0">
                <a:solidFill>
                  <a:schemeClr val="tx2">
                    <a:lumMod val="40000"/>
                    <a:lumOff val="60000"/>
                  </a:schemeClr>
                </a:solidFill>
                <a:latin typeface="Arial" pitchFamily="-1" charset="0"/>
              </a:defRPr>
            </a:lvl1pPr>
          </a:lstStyle>
          <a:p>
            <a:pPr>
              <a:defRPr/>
            </a:pPr>
            <a:endParaRPr lang="en-US" dirty="0"/>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b="1" smtClean="0">
                <a:solidFill>
                  <a:schemeClr val="tx2">
                    <a:lumMod val="40000"/>
                    <a:lumOff val="60000"/>
                  </a:schemeClr>
                </a:solidFill>
                <a:latin typeface="Arial" pitchFamily="-1" charset="0"/>
              </a:defRPr>
            </a:lvl1pPr>
          </a:lstStyle>
          <a:p>
            <a:pPr>
              <a:defRPr/>
            </a:pPr>
            <a:fld id="{FD05123F-ECCC-3744-8046-0E4114F7D95B}" type="slidenum">
              <a:rPr lang="en-US"/>
              <a:pPr>
                <a:defRPr/>
              </a:pPr>
              <a:t>‹#›</a:t>
            </a:fld>
            <a:endParaRPr lang="en-US" dirty="0"/>
          </a:p>
        </p:txBody>
      </p:sp>
      <p:sp>
        <p:nvSpPr>
          <p:cNvPr id="5" name="Footer Placeholder 4"/>
          <p:cNvSpPr>
            <a:spLocks noGrp="1"/>
          </p:cNvSpPr>
          <p:nvPr>
            <p:ph type="ftr" sz="quarter" idx="3"/>
          </p:nvPr>
        </p:nvSpPr>
        <p:spPr>
          <a:xfrm>
            <a:off x="371475" y="6356350"/>
            <a:ext cx="2895600" cy="365125"/>
          </a:xfrm>
          <a:prstGeom prst="rect">
            <a:avLst/>
          </a:prstGeom>
        </p:spPr>
        <p:txBody>
          <a:bodyPr vert="horz" lIns="91440" tIns="45720" rIns="91440" bIns="45720" rtlCol="0" anchor="ctr"/>
          <a:lstStyle>
            <a:lvl1pPr algn="l">
              <a:defRPr sz="1200" b="1" dirty="0">
                <a:solidFill>
                  <a:schemeClr val="tx2">
                    <a:lumMod val="40000"/>
                    <a:lumOff val="60000"/>
                  </a:schemeClr>
                </a:solidFill>
                <a:latin typeface="Arial" pitchFamily="-1" charset="0"/>
              </a:defRPr>
            </a:lvl1pPr>
          </a:lstStyle>
          <a:p>
            <a:pPr>
              <a:defRPr/>
            </a:pPr>
            <a:r>
              <a:rPr lang="en-US" smtClean="0"/>
              <a:t>© 2017 Pearson Education, Inc., Hoboken, NJ. All rights reserved.         </a:t>
            </a:r>
            <a:endParaRPr lang="en-US" dirty="0"/>
          </a:p>
        </p:txBody>
      </p:sp>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Lst>
  <p:hf sldNum="0" hdr="0" dt="0"/>
  <p:txStyles>
    <p:titleStyle>
      <a:lvl1pPr algn="ctr" rtl="0" fontAlgn="base">
        <a:lnSpc>
          <a:spcPts val="6000"/>
        </a:lnSpc>
        <a:spcBef>
          <a:spcPct val="0"/>
        </a:spcBef>
        <a:spcAft>
          <a:spcPct val="0"/>
        </a:spcAft>
        <a:defRPr sz="5400" kern="1200">
          <a:solidFill>
            <a:schemeClr val="tx2"/>
          </a:solidFill>
          <a:latin typeface="+mn-lt"/>
          <a:ea typeface="ＭＳ Ｐゴシック" pitchFamily="-84" charset="-128"/>
          <a:cs typeface="ＭＳ Ｐゴシック" pitchFamily="-84" charset="-128"/>
        </a:defRPr>
      </a:lvl1pPr>
      <a:lvl2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2pPr>
      <a:lvl3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3pPr>
      <a:lvl4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4pPr>
      <a:lvl5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5pPr>
      <a:lvl6pPr marL="4572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6pPr>
      <a:lvl7pPr marL="9144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7pPr>
      <a:lvl8pPr marL="13716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8pPr>
      <a:lvl9pPr marL="18288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9pPr>
    </p:titleStyle>
    <p:bodyStyle>
      <a:lvl1pPr marL="342900" indent="-342900" algn="l" rtl="0" fontAlgn="base">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fontAlgn="base">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fontAlgn="base">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fontAlgn="base">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fontAlgn="base">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10.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0.jpeg"/></Relationships>
</file>

<file path=ppt/slides/_rels/slide3.xml.rels><?xml version="1.0" encoding="UTF-8" standalone="yes"?>
<Relationships xmlns="http://schemas.openxmlformats.org/package/2006/relationships"><Relationship Id="rId3" Type="http://schemas.openxmlformats.org/officeDocument/2006/relationships/image" Target="../media/image11.pdf"/><Relationship Id="rId4" Type="http://schemas.openxmlformats.org/officeDocument/2006/relationships/image" Target="../media/image12.png"/><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4" Type="http://schemas.openxmlformats.org/officeDocument/2006/relationships/package" Target="../embeddings/Microsoft_Word_Document1.docx"/><Relationship Id="rId1" Type="http://schemas.openxmlformats.org/officeDocument/2006/relationships/vmlDrawing" Target="../drawings/vmlDrawing1.vml"/><Relationship Id="rId2"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4" Type="http://schemas.openxmlformats.org/officeDocument/2006/relationships/diagramLayout" Target="../diagrams/layout3.xml"/><Relationship Id="rId5" Type="http://schemas.openxmlformats.org/officeDocument/2006/relationships/diagramQuickStyle" Target="../diagrams/quickStyle3.xml"/><Relationship Id="rId6" Type="http://schemas.openxmlformats.org/officeDocument/2006/relationships/diagramColors" Target="../diagrams/colors3.xml"/><Relationship Id="rId7" Type="http://schemas.microsoft.com/office/2007/relationships/diagramDrawing" Target="../diagrams/drawing3.xml"/><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14.pdf"/><Relationship Id="rId4" Type="http://schemas.openxmlformats.org/officeDocument/2006/relationships/image" Target="../media/image15.png"/><Relationship Id="rId1" Type="http://schemas.openxmlformats.org/officeDocument/2006/relationships/slideLayout" Target="../slideLayouts/slideLayout1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16.pdf"/><Relationship Id="rId4" Type="http://schemas.openxmlformats.org/officeDocument/2006/relationships/image" Target="../media/image17.png"/><Relationship Id="rId1" Type="http://schemas.openxmlformats.org/officeDocument/2006/relationships/slideLayout" Target="../slideLayouts/slideLayout1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18.pdf"/><Relationship Id="rId4" Type="http://schemas.openxmlformats.org/officeDocument/2006/relationships/image" Target="../media/image19.png"/><Relationship Id="rId1" Type="http://schemas.openxmlformats.org/officeDocument/2006/relationships/slideLayout" Target="../slideLayouts/slideLayout1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20.pdf"/><Relationship Id="rId4" Type="http://schemas.openxmlformats.org/officeDocument/2006/relationships/image" Target="../media/image21.png"/><Relationship Id="rId1" Type="http://schemas.openxmlformats.org/officeDocument/2006/relationships/slideLayout" Target="../slideLayouts/slideLayout1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df"/><Relationship Id="rId4" Type="http://schemas.openxmlformats.org/officeDocument/2006/relationships/image" Target="../media/image23.png"/><Relationship Id="rId1" Type="http://schemas.openxmlformats.org/officeDocument/2006/relationships/slideLayout" Target="../slideLayouts/slideLayout1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24.wmf"/></Relationships>
</file>

<file path=ppt/slides/_rels/slide25.xml.rels><?xml version="1.0" encoding="UTF-8" standalone="yes"?>
<Relationships xmlns="http://schemas.openxmlformats.org/package/2006/relationships"><Relationship Id="rId3" Type="http://schemas.openxmlformats.org/officeDocument/2006/relationships/image" Target="../media/image25.pdf"/><Relationship Id="rId4" Type="http://schemas.openxmlformats.org/officeDocument/2006/relationships/image" Target="../media/image26.png"/><Relationship Id="rId1" Type="http://schemas.openxmlformats.org/officeDocument/2006/relationships/slideLayout" Target="../slideLayouts/slideLayout1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27.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image" Target="../media/image28.pdf"/><Relationship Id="rId4" Type="http://schemas.openxmlformats.org/officeDocument/2006/relationships/image" Target="../media/image29.png"/><Relationship Id="rId1" Type="http://schemas.openxmlformats.org/officeDocument/2006/relationships/slideLayout" Target="../slideLayouts/slideLayout1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30.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2.xml"/><Relationship Id="rId3"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4.xml"/><Relationship Id="rId4" Type="http://schemas.openxmlformats.org/officeDocument/2006/relationships/diagramLayout" Target="../diagrams/layout4.xml"/><Relationship Id="rId5" Type="http://schemas.openxmlformats.org/officeDocument/2006/relationships/diagramQuickStyle" Target="../diagrams/quickStyle4.xml"/><Relationship Id="rId6" Type="http://schemas.openxmlformats.org/officeDocument/2006/relationships/diagramColors" Target="../diagrams/colors4.xml"/><Relationship Id="rId7" Type="http://schemas.microsoft.com/office/2007/relationships/diagramDrawing" Target="../diagrams/drawing4.xml"/><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5.xml"/><Relationship Id="rId4" Type="http://schemas.openxmlformats.org/officeDocument/2006/relationships/diagramLayout" Target="../diagrams/layout5.xml"/><Relationship Id="rId5" Type="http://schemas.openxmlformats.org/officeDocument/2006/relationships/diagramQuickStyle" Target="../diagrams/quickStyle5.xml"/><Relationship Id="rId6" Type="http://schemas.openxmlformats.org/officeDocument/2006/relationships/diagramColors" Target="../diagrams/colors5.xml"/><Relationship Id="rId7" Type="http://schemas.microsoft.com/office/2007/relationships/diagramDrawing" Target="../diagrams/drawing5.xml"/><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6.xml"/><Relationship Id="rId4" Type="http://schemas.openxmlformats.org/officeDocument/2006/relationships/diagramLayout" Target="../diagrams/layout6.xml"/><Relationship Id="rId5" Type="http://schemas.openxmlformats.org/officeDocument/2006/relationships/diagramQuickStyle" Target="../diagrams/quickStyle6.xml"/><Relationship Id="rId6" Type="http://schemas.openxmlformats.org/officeDocument/2006/relationships/diagramColors" Target="../diagrams/colors6.xml"/><Relationship Id="rId7" Type="http://schemas.microsoft.com/office/2007/relationships/diagramDrawing" Target="../diagrams/drawing6.xml"/><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3" Type="http://schemas.openxmlformats.org/officeDocument/2006/relationships/image" Target="../media/image32.pdf"/><Relationship Id="rId4" Type="http://schemas.openxmlformats.org/officeDocument/2006/relationships/image" Target="../media/image33.png"/><Relationship Id="rId1" Type="http://schemas.openxmlformats.org/officeDocument/2006/relationships/slideLayout" Target="../slideLayouts/slideLayout19.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3" Type="http://schemas.openxmlformats.org/officeDocument/2006/relationships/image" Target="../media/image34.pdf"/><Relationship Id="rId4" Type="http://schemas.openxmlformats.org/officeDocument/2006/relationships/image" Target="../media/image35.png"/><Relationship Id="rId1" Type="http://schemas.openxmlformats.org/officeDocument/2006/relationships/slideLayout" Target="../slideLayouts/slideLayout19.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7.xml"/><Relationship Id="rId4" Type="http://schemas.openxmlformats.org/officeDocument/2006/relationships/diagramLayout" Target="../diagrams/layout7.xml"/><Relationship Id="rId5" Type="http://schemas.openxmlformats.org/officeDocument/2006/relationships/diagramQuickStyle" Target="../diagrams/quickStyle7.xml"/><Relationship Id="rId6" Type="http://schemas.openxmlformats.org/officeDocument/2006/relationships/diagramColors" Target="../diagrams/colors7.xml"/><Relationship Id="rId7" Type="http://schemas.microsoft.com/office/2007/relationships/diagramDrawing" Target="../diagrams/drawing7.xml"/><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3" Type="http://schemas.openxmlformats.org/officeDocument/2006/relationships/image" Target="../media/image36.pdf"/><Relationship Id="rId4" Type="http://schemas.openxmlformats.org/officeDocument/2006/relationships/image" Target="../media/image37.png"/><Relationship Id="rId1" Type="http://schemas.openxmlformats.org/officeDocument/2006/relationships/slideLayout" Target="../slideLayouts/slideLayout19.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3" Type="http://schemas.openxmlformats.org/officeDocument/2006/relationships/image" Target="../media/image38.pdf"/><Relationship Id="rId4" Type="http://schemas.openxmlformats.org/officeDocument/2006/relationships/image" Target="../media/image39.png"/><Relationship Id="rId1" Type="http://schemas.openxmlformats.org/officeDocument/2006/relationships/slideLayout" Target="../slideLayouts/slideLayout19.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3" Type="http://schemas.openxmlformats.org/officeDocument/2006/relationships/image" Target="../media/image40.pdf"/><Relationship Id="rId4" Type="http://schemas.openxmlformats.org/officeDocument/2006/relationships/image" Target="../media/image41.png"/><Relationship Id="rId1" Type="http://schemas.openxmlformats.org/officeDocument/2006/relationships/slideLayout" Target="../slideLayouts/slideLayout19.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3" Type="http://schemas.openxmlformats.org/officeDocument/2006/relationships/image" Target="../media/image42.pdf"/><Relationship Id="rId4" Type="http://schemas.openxmlformats.org/officeDocument/2006/relationships/image" Target="../media/image43.png"/><Relationship Id="rId1" Type="http://schemas.openxmlformats.org/officeDocument/2006/relationships/slideLayout" Target="../slideLayouts/slideLayout19.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3" Type="http://schemas.openxmlformats.org/officeDocument/2006/relationships/diagramData" Target="../diagrams/data8.xml"/><Relationship Id="rId4" Type="http://schemas.openxmlformats.org/officeDocument/2006/relationships/diagramLayout" Target="../diagrams/layout8.xml"/><Relationship Id="rId5" Type="http://schemas.openxmlformats.org/officeDocument/2006/relationships/diagramQuickStyle" Target="../diagrams/quickStyle8.xml"/><Relationship Id="rId6" Type="http://schemas.openxmlformats.org/officeDocument/2006/relationships/diagramColors" Target="../diagrams/colors8.xml"/><Relationship Id="rId7" Type="http://schemas.microsoft.com/office/2007/relationships/diagramDrawing" Target="../diagrams/drawing8.xml"/><Relationship Id="rId1" Type="http://schemas.openxmlformats.org/officeDocument/2006/relationships/slideLayout" Target="../slideLayouts/slideLayout1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3" Type="http://schemas.openxmlformats.org/officeDocument/2006/relationships/image" Target="../media/image44.pdf"/><Relationship Id="rId4" Type="http://schemas.openxmlformats.org/officeDocument/2006/relationships/image" Target="../media/image45.png"/><Relationship Id="rId1" Type="http://schemas.openxmlformats.org/officeDocument/2006/relationships/slideLayout" Target="../slideLayouts/slideLayout19.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3" Type="http://schemas.openxmlformats.org/officeDocument/2006/relationships/image" Target="../media/image46.pdf"/><Relationship Id="rId4" Type="http://schemas.openxmlformats.org/officeDocument/2006/relationships/image" Target="../media/image47.png"/><Relationship Id="rId1" Type="http://schemas.openxmlformats.org/officeDocument/2006/relationships/slideLayout" Target="../slideLayouts/slideLayout19.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3" Type="http://schemas.openxmlformats.org/officeDocument/2006/relationships/image" Target="../media/image48.pdf"/><Relationship Id="rId4" Type="http://schemas.openxmlformats.org/officeDocument/2006/relationships/image" Target="../media/image49.png"/><Relationship Id="rId1" Type="http://schemas.openxmlformats.org/officeDocument/2006/relationships/slideLayout" Target="../slideLayouts/slideLayout19.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3" Type="http://schemas.openxmlformats.org/officeDocument/2006/relationships/image" Target="../media/image50.pdf"/><Relationship Id="rId4" Type="http://schemas.openxmlformats.org/officeDocument/2006/relationships/image" Target="../media/image51.png"/><Relationship Id="rId1" Type="http://schemas.openxmlformats.org/officeDocument/2006/relationships/slideLayout" Target="../slideLayouts/slideLayout19.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1.xml"/><Relationship Id="rId3"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854200" y="3694113"/>
            <a:ext cx="5446713" cy="1470025"/>
          </a:xfrm>
        </p:spPr>
        <p:txBody>
          <a:bodyPr rtlCol="0">
            <a:noAutofit/>
          </a:bodyPr>
          <a:lstStyle/>
          <a:p>
            <a:pPr fontAlgn="auto">
              <a:spcAft>
                <a:spcPts val="0"/>
              </a:spcAft>
              <a:defRPr/>
            </a:pPr>
            <a:r>
              <a:rPr lang="en-US" dirty="0">
                <a:ea typeface="+mj-ea"/>
                <a:cs typeface="+mj-cs"/>
              </a:rPr>
              <a:t>Cryptography and Network Security</a:t>
            </a:r>
            <a:endParaRPr lang="en-AU" dirty="0">
              <a:ea typeface="+mj-ea"/>
              <a:cs typeface="+mj-cs"/>
            </a:endParaRPr>
          </a:p>
        </p:txBody>
      </p:sp>
      <p:sp>
        <p:nvSpPr>
          <p:cNvPr id="28675" name="Rectangle 3"/>
          <p:cNvSpPr>
            <a:spLocks noGrp="1" noChangeArrowheads="1"/>
          </p:cNvSpPr>
          <p:nvPr>
            <p:ph type="subTitle" idx="1"/>
          </p:nvPr>
        </p:nvSpPr>
        <p:spPr>
          <a:xfrm>
            <a:off x="1854200" y="5203825"/>
            <a:ext cx="5446713" cy="852488"/>
          </a:xfrm>
        </p:spPr>
        <p:txBody>
          <a:bodyPr/>
          <a:lstStyle/>
          <a:p>
            <a:pPr>
              <a:buFont typeface="Wingdings" pitchFamily="-84" charset="2"/>
              <a:buNone/>
            </a:pPr>
            <a:r>
              <a:rPr lang="en-US" dirty="0" smtClean="0"/>
              <a:t>Seventh Edition</a:t>
            </a:r>
          </a:p>
          <a:p>
            <a:pPr>
              <a:buFont typeface="Wingdings" pitchFamily="-84" charset="2"/>
              <a:buNone/>
            </a:pPr>
            <a:r>
              <a:rPr lang="en-US" dirty="0" smtClean="0"/>
              <a:t>by William Stallings	</a:t>
            </a:r>
          </a:p>
          <a:p>
            <a:pPr>
              <a:buFont typeface="Wingdings" pitchFamily="-84" charset="2"/>
              <a:buNone/>
            </a:pPr>
            <a:endParaRPr lang="en-US" dirty="0" smtClean="0"/>
          </a:p>
        </p:txBody>
      </p:sp>
      <p:pic>
        <p:nvPicPr>
          <p:cNvPr id="14" name="Picture Placeholder 4" descr="crypto.jpg"/>
          <p:cNvPicPr>
            <a:picLocks noGrp="1" noChangeAspect="1"/>
          </p:cNvPicPr>
          <p:nvPr>
            <p:ph type="pic" sz="quarter" idx="12"/>
          </p:nvPr>
        </p:nvPicPr>
        <p:blipFill>
          <a:blip r:embed="rId3">
            <a:alphaModFix/>
            <a:lum bright="28000"/>
          </a:blip>
          <a:srcRect l="-16674" t="-1111" r="-18211" b="44444"/>
          <a:stretch>
            <a:fillRect/>
          </a:stretch>
        </p:blipFill>
        <p:spPr>
          <a:xfrm>
            <a:off x="3581400" y="1447800"/>
            <a:ext cx="2109547" cy="1209027"/>
          </a:xfrm>
          <a:effectLst>
            <a:innerShdw blurRad="762000">
              <a:schemeClr val="accent1">
                <a:alpha val="80000"/>
              </a:schemeClr>
            </a:innerShdw>
            <a:softEdge rad="76200"/>
          </a:effectLst>
        </p:spPr>
      </p:pic>
      <p:sp>
        <p:nvSpPr>
          <p:cNvPr id="5" name="Footer Placeholder 4"/>
          <p:cNvSpPr>
            <a:spLocks noGrp="1"/>
          </p:cNvSpPr>
          <p:nvPr>
            <p:ph type="ftr" sz="quarter" idx="14"/>
          </p:nvPr>
        </p:nvSpPr>
        <p:spPr>
          <a:xfrm>
            <a:off x="0" y="6492875"/>
            <a:ext cx="46482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 name="Title 12"/>
          <p:cNvSpPr>
            <a:spLocks noGrp="1"/>
          </p:cNvSpPr>
          <p:nvPr>
            <p:ph type="ctrTitle"/>
          </p:nvPr>
        </p:nvSpPr>
        <p:spPr>
          <a:xfrm>
            <a:off x="1828800" y="3200400"/>
            <a:ext cx="5446713" cy="1470025"/>
          </a:xfrm>
        </p:spPr>
        <p:txBody>
          <a:bodyPr rtlCol="0">
            <a:noAutofit/>
          </a:bodyPr>
          <a:lstStyle/>
          <a:p>
            <a:pPr fontAlgn="auto">
              <a:spcAft>
                <a:spcPts val="0"/>
              </a:spcAft>
              <a:defRPr/>
            </a:pPr>
            <a:r>
              <a:rPr lang="en-US" dirty="0" smtClean="0">
                <a:ea typeface="+mj-ea"/>
                <a:cs typeface="+mj-cs"/>
              </a:rPr>
              <a:t>Chapter 19</a:t>
            </a:r>
            <a:endParaRPr lang="en-US" dirty="0">
              <a:ea typeface="+mj-ea"/>
              <a:cs typeface="+mj-cs"/>
            </a:endParaRPr>
          </a:p>
        </p:txBody>
      </p:sp>
      <p:sp>
        <p:nvSpPr>
          <p:cNvPr id="30723" name="Subtitle 13"/>
          <p:cNvSpPr>
            <a:spLocks noGrp="1"/>
          </p:cNvSpPr>
          <p:nvPr>
            <p:ph type="subTitle" idx="1"/>
          </p:nvPr>
        </p:nvSpPr>
        <p:spPr>
          <a:xfrm>
            <a:off x="1524000" y="5029200"/>
            <a:ext cx="6096000" cy="852488"/>
          </a:xfrm>
        </p:spPr>
        <p:txBody>
          <a:bodyPr>
            <a:normAutofit/>
          </a:bodyPr>
          <a:lstStyle/>
          <a:p>
            <a:r>
              <a:rPr lang="en-AU" sz="3600" dirty="0" smtClean="0"/>
              <a:t>Electronic Mail Security</a:t>
            </a:r>
            <a:endParaRPr lang="en-US" sz="3600" dirty="0" smtClean="0"/>
          </a:p>
        </p:txBody>
      </p:sp>
      <p:pic>
        <p:nvPicPr>
          <p:cNvPr id="6" name="Picture Placeholder 4" descr="crypto.jpg"/>
          <p:cNvPicPr>
            <a:picLocks noChangeAspect="1"/>
          </p:cNvPicPr>
          <p:nvPr/>
        </p:nvPicPr>
        <p:blipFill>
          <a:blip r:embed="rId3">
            <a:alphaModFix/>
            <a:lum bright="28000"/>
          </a:blip>
          <a:srcRect l="-16674" t="-1111" r="-18211" b="44444"/>
          <a:stretch>
            <a:fillRect/>
          </a:stretch>
        </p:blipFill>
        <p:spPr bwMode="auto">
          <a:xfrm>
            <a:off x="3581400" y="14478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5" name="Footer Placeholder 4"/>
          <p:cNvSpPr>
            <a:spLocks noGrp="1"/>
          </p:cNvSpPr>
          <p:nvPr>
            <p:ph type="ftr" sz="quarter" idx="11"/>
          </p:nvPr>
        </p:nvSpPr>
        <p:spPr>
          <a:xfrm>
            <a:off x="0" y="6492875"/>
            <a:ext cx="46482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6172200" cy="365125"/>
          </a:xfrm>
        </p:spPr>
        <p:txBody>
          <a:bodyPr/>
          <a:lstStyle/>
          <a:p>
            <a:pPr>
              <a:defRPr/>
            </a:pPr>
            <a:r>
              <a:rPr lang="en-US" sz="1050" dirty="0" smtClean="0"/>
              <a:t>© 2017 Pearson Education, Inc., Hoboken, NJ. All rights reserved.         </a:t>
            </a:r>
            <a:endParaRPr lang="en-US" sz="1050" dirty="0"/>
          </a:p>
        </p:txBody>
      </p:sp>
      <p:pic>
        <p:nvPicPr>
          <p:cNvPr id="5" name="Picture 4" descr="f01.pdf"/>
          <p:cNvPicPr>
            <a:picLocks noChangeAspect="1"/>
          </p:cNvPicPr>
          <p:nvPr/>
        </p:nvPicPr>
        <mc:AlternateContent>
          <mc:Choice xmlns:ma="http://schemas.microsoft.com/office/mac/drawingml/2008/main" Requires="ma">
            <p:blipFill>
              <a:blip r:embed="rId3"/>
              <a:srcRect t="15455" b="5455"/>
              <a:stretch>
                <a:fillRect/>
              </a:stretch>
            </p:blipFill>
          </mc:Choice>
          <mc:Fallback>
            <p:blipFill>
              <a:blip r:embed="rId4"/>
              <a:srcRect t="15455" b="5455"/>
              <a:stretch>
                <a:fillRect/>
              </a:stretch>
            </p:blipFill>
          </mc:Fallback>
        </mc:AlternateContent>
        <p:spPr>
          <a:xfrm>
            <a:off x="1447800" y="-228600"/>
            <a:ext cx="6858000" cy="7019273"/>
          </a:xfrm>
          <a:prstGeom prst="rect">
            <a:avLst/>
          </a:prstGeom>
        </p:spPr>
      </p:pic>
    </p:spTree>
  </p:cSld>
  <p:clrMapOvr>
    <a:masterClrMapping/>
  </p:clrMapOvr>
  <p:transition>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Email Protocols</a:t>
            </a:r>
            <a:endParaRPr lang="en-US" dirty="0"/>
          </a:p>
        </p:txBody>
      </p:sp>
      <p:sp>
        <p:nvSpPr>
          <p:cNvPr id="7" name="Content Placeholder 6"/>
          <p:cNvSpPr>
            <a:spLocks noGrp="1"/>
          </p:cNvSpPr>
          <p:nvPr>
            <p:ph idx="1"/>
          </p:nvPr>
        </p:nvSpPr>
        <p:spPr>
          <a:xfrm>
            <a:off x="838200" y="1828800"/>
            <a:ext cx="7570787" cy="4289425"/>
          </a:xfrm>
        </p:spPr>
        <p:txBody>
          <a:bodyPr/>
          <a:lstStyle/>
          <a:p>
            <a:r>
              <a:rPr lang="en-US" dirty="0" smtClean="0"/>
              <a:t>Two types of protocols are used for transferring email:</a:t>
            </a:r>
          </a:p>
          <a:p>
            <a:pPr lvl="1"/>
            <a:r>
              <a:rPr lang="en-US" dirty="0" smtClean="0"/>
              <a:t>Used to move messages through the Internet from source to destination</a:t>
            </a:r>
          </a:p>
          <a:p>
            <a:pPr lvl="2"/>
            <a:r>
              <a:rPr lang="en-US" dirty="0" smtClean="0"/>
              <a:t>Simple Mail Transfer Protocol (SMTP)</a:t>
            </a:r>
          </a:p>
          <a:p>
            <a:pPr lvl="1"/>
            <a:r>
              <a:rPr lang="en-US" dirty="0" smtClean="0"/>
              <a:t>Used to transfer messages between mail servers</a:t>
            </a:r>
          </a:p>
          <a:p>
            <a:pPr lvl="2"/>
            <a:r>
              <a:rPr lang="en-US" dirty="0" smtClean="0"/>
              <a:t>IMAP and POP are the most commonly used</a:t>
            </a:r>
          </a:p>
          <a:p>
            <a:pPr lvl="1">
              <a:buNone/>
            </a:pPr>
            <a:r>
              <a:rPr lang="en-US" dirty="0" smtClean="0"/>
              <a:t> </a:t>
            </a:r>
          </a:p>
        </p:txBody>
      </p:sp>
      <p:sp>
        <p:nvSpPr>
          <p:cNvPr id="5" name="Footer Placeholder 4"/>
          <p:cNvSpPr>
            <a:spLocks noGrp="1"/>
          </p:cNvSpPr>
          <p:nvPr>
            <p:ph type="ftr" sz="quarter" idx="11"/>
          </p:nvPr>
        </p:nvSpPr>
        <p:spPr>
          <a:xfrm>
            <a:off x="0" y="6492875"/>
            <a:ext cx="60198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a:xfrm>
            <a:off x="0" y="39688"/>
            <a:ext cx="9143999" cy="1412875"/>
          </a:xfrm>
        </p:spPr>
        <p:txBody>
          <a:bodyPr/>
          <a:lstStyle/>
          <a:p>
            <a:r>
              <a:rPr lang="en-US" dirty="0" smtClean="0"/>
              <a:t>SMTP</a:t>
            </a:r>
            <a:endParaRPr lang="en-US" dirty="0"/>
          </a:p>
        </p:txBody>
      </p:sp>
      <p:graphicFrame>
        <p:nvGraphicFramePr>
          <p:cNvPr id="14" name="Content Placeholder 13"/>
          <p:cNvGraphicFramePr>
            <a:graphicFrameLocks noGrp="1"/>
          </p:cNvGraphicFramePr>
          <p:nvPr>
            <p:ph idx="1"/>
          </p:nvPr>
        </p:nvGraphicFramePr>
        <p:xfrm>
          <a:off x="304800" y="1524001"/>
          <a:ext cx="8534399" cy="50292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67056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0" y="6492875"/>
            <a:ext cx="5486400" cy="365125"/>
          </a:xfrm>
        </p:spPr>
        <p:txBody>
          <a:bodyPr/>
          <a:lstStyle/>
          <a:p>
            <a:pPr>
              <a:defRPr/>
            </a:pPr>
            <a:r>
              <a:rPr lang="en-US" sz="1050" dirty="0" smtClean="0"/>
              <a:t>© 2017 Pearson Education, Inc., Hoboken, NJ. All rights reserved.         </a:t>
            </a:r>
            <a:endParaRPr lang="en-US" sz="1050" dirty="0"/>
          </a:p>
        </p:txBody>
      </p:sp>
      <p:graphicFrame>
        <p:nvGraphicFramePr>
          <p:cNvPr id="111618" name="Object 2"/>
          <p:cNvGraphicFramePr>
            <a:graphicFrameLocks noChangeAspect="1"/>
          </p:cNvGraphicFramePr>
          <p:nvPr/>
        </p:nvGraphicFramePr>
        <p:xfrm>
          <a:off x="152400" y="533400"/>
          <a:ext cx="8792076" cy="5638800"/>
        </p:xfrm>
        <a:graphic>
          <a:graphicData uri="http://schemas.openxmlformats.org/presentationml/2006/ole">
            <p:oleObj spid="_x0000_s111618" name="Document" r:id="rId4" imgW="6019800" imgH="3403600" progId="Word.Document.12">
              <p:embed/>
            </p:oleObj>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STARTTLS</a:t>
            </a:r>
            <a:endParaRPr lang="en-US" dirty="0"/>
          </a:p>
        </p:txBody>
      </p:sp>
      <p:sp>
        <p:nvSpPr>
          <p:cNvPr id="7" name="Content Placeholder 6"/>
          <p:cNvSpPr>
            <a:spLocks noGrp="1"/>
          </p:cNvSpPr>
          <p:nvPr>
            <p:ph idx="1"/>
          </p:nvPr>
        </p:nvSpPr>
        <p:spPr>
          <a:xfrm>
            <a:off x="533400" y="1752600"/>
            <a:ext cx="8077199" cy="4953000"/>
          </a:xfrm>
        </p:spPr>
        <p:txBody>
          <a:bodyPr>
            <a:normAutofit fontScale="85000" lnSpcReduction="10000"/>
          </a:bodyPr>
          <a:lstStyle/>
          <a:p>
            <a:r>
              <a:rPr lang="en-US" dirty="0" smtClean="0"/>
              <a:t>A significant security-related extension for SMTP</a:t>
            </a:r>
          </a:p>
          <a:p>
            <a:r>
              <a:rPr lang="en-US" dirty="0" smtClean="0"/>
              <a:t>Defined in RFC 3207 (</a:t>
            </a:r>
            <a:r>
              <a:rPr lang="en-US" i="1" dirty="0" smtClean="0"/>
              <a:t>SMTP Service Extension for Secure SMTP over Transport Layer Security, </a:t>
            </a:r>
            <a:r>
              <a:rPr lang="en-US" dirty="0" smtClean="0"/>
              <a:t>February 2002)</a:t>
            </a:r>
          </a:p>
          <a:p>
            <a:r>
              <a:rPr lang="en-US" dirty="0" smtClean="0"/>
              <a:t>Enables the addition of confidentiality and authentication in the exchange between SMTP agents</a:t>
            </a:r>
          </a:p>
          <a:p>
            <a:r>
              <a:rPr lang="en-US" dirty="0" smtClean="0"/>
              <a:t>This gives SMTP agents the ability to protect some or all of their communication from eavesdroppers and attackers</a:t>
            </a:r>
          </a:p>
          <a:p>
            <a:pPr marL="342900" lvl="1" indent="-342900">
              <a:spcBef>
                <a:spcPts val="2400"/>
              </a:spcBef>
              <a:buClr>
                <a:srgbClr val="BAABE3"/>
              </a:buClr>
            </a:pPr>
            <a:r>
              <a:rPr lang="en-US" sz="2824" dirty="0" smtClean="0">
                <a:cs typeface="ＭＳ Ｐゴシック" pitchFamily="-84" charset="-128"/>
              </a:rPr>
              <a:t>Advantage of using STARTTLS is that the server can offer SMTP service on a single port, rather than requiring separate port numbers for secure and </a:t>
            </a:r>
            <a:r>
              <a:rPr lang="en-US" sz="2824" dirty="0" err="1" smtClean="0">
                <a:cs typeface="ＭＳ Ｐゴシック" pitchFamily="-84" charset="-128"/>
              </a:rPr>
              <a:t>cleartext</a:t>
            </a:r>
            <a:r>
              <a:rPr lang="en-US" sz="2824" dirty="0" smtClean="0">
                <a:cs typeface="ＭＳ Ｐゴシック" pitchFamily="-84" charset="-128"/>
              </a:rPr>
              <a:t> operations</a:t>
            </a:r>
          </a:p>
        </p:txBody>
      </p:sp>
      <p:sp>
        <p:nvSpPr>
          <p:cNvPr id="5" name="Footer Placeholder 4"/>
          <p:cNvSpPr>
            <a:spLocks noGrp="1"/>
          </p:cNvSpPr>
          <p:nvPr>
            <p:ph type="ftr" sz="quarter" idx="11"/>
          </p:nvPr>
        </p:nvSpPr>
        <p:spPr>
          <a:xfrm>
            <a:off x="0" y="6492875"/>
            <a:ext cx="61722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Mail Access Protocols</a:t>
            </a:r>
            <a:endParaRPr lang="en-US" dirty="0"/>
          </a:p>
        </p:txBody>
      </p:sp>
      <p:sp>
        <p:nvSpPr>
          <p:cNvPr id="7" name="Text Placeholder 6"/>
          <p:cNvSpPr>
            <a:spLocks noGrp="1"/>
          </p:cNvSpPr>
          <p:nvPr>
            <p:ph type="body" idx="1"/>
          </p:nvPr>
        </p:nvSpPr>
        <p:spPr/>
        <p:txBody>
          <a:bodyPr/>
          <a:lstStyle/>
          <a:p>
            <a:r>
              <a:rPr lang="en-US" b="1" dirty="0" smtClean="0">
                <a:solidFill>
                  <a:schemeClr val="accent1"/>
                </a:solidFill>
              </a:rPr>
              <a:t>POP3</a:t>
            </a:r>
            <a:endParaRPr lang="en-US" b="1" dirty="0">
              <a:solidFill>
                <a:schemeClr val="accent1"/>
              </a:solidFill>
            </a:endParaRPr>
          </a:p>
        </p:txBody>
      </p:sp>
      <p:sp>
        <p:nvSpPr>
          <p:cNvPr id="8" name="Content Placeholder 7"/>
          <p:cNvSpPr>
            <a:spLocks noGrp="1"/>
          </p:cNvSpPr>
          <p:nvPr>
            <p:ph sz="half" idx="2"/>
          </p:nvPr>
        </p:nvSpPr>
        <p:spPr/>
        <p:txBody>
          <a:bodyPr>
            <a:normAutofit fontScale="92500" lnSpcReduction="10000"/>
          </a:bodyPr>
          <a:lstStyle/>
          <a:p>
            <a:r>
              <a:rPr lang="en-US" dirty="0" smtClean="0"/>
              <a:t>Post Office Protocol</a:t>
            </a:r>
          </a:p>
          <a:p>
            <a:r>
              <a:rPr lang="en-US" dirty="0" smtClean="0"/>
              <a:t>Allows an email client to download an email from an email server (MTA)</a:t>
            </a:r>
          </a:p>
          <a:p>
            <a:r>
              <a:rPr lang="en-US" dirty="0" smtClean="0"/>
              <a:t>POP3 user agents connect via TCP to the server</a:t>
            </a:r>
          </a:p>
          <a:p>
            <a:r>
              <a:rPr lang="en-US" dirty="0" smtClean="0"/>
              <a:t>After authorization, the UA can issue POP3 commands to retrieve and delete mail</a:t>
            </a:r>
            <a:endParaRPr lang="en-US" dirty="0"/>
          </a:p>
        </p:txBody>
      </p:sp>
      <p:sp>
        <p:nvSpPr>
          <p:cNvPr id="9" name="Text Placeholder 8"/>
          <p:cNvSpPr>
            <a:spLocks noGrp="1"/>
          </p:cNvSpPr>
          <p:nvPr>
            <p:ph type="body" sz="quarter" idx="3"/>
          </p:nvPr>
        </p:nvSpPr>
        <p:spPr/>
        <p:txBody>
          <a:bodyPr/>
          <a:lstStyle/>
          <a:p>
            <a:r>
              <a:rPr lang="en-US" b="1" dirty="0" smtClean="0">
                <a:solidFill>
                  <a:schemeClr val="accent1"/>
                </a:solidFill>
              </a:rPr>
              <a:t>IMAP</a:t>
            </a:r>
          </a:p>
        </p:txBody>
      </p:sp>
      <p:sp>
        <p:nvSpPr>
          <p:cNvPr id="10" name="Content Placeholder 9"/>
          <p:cNvSpPr>
            <a:spLocks noGrp="1"/>
          </p:cNvSpPr>
          <p:nvPr>
            <p:ph sz="quarter" idx="4"/>
          </p:nvPr>
        </p:nvSpPr>
        <p:spPr>
          <a:xfrm>
            <a:off x="4766048" y="2590799"/>
            <a:ext cx="3615952" cy="4038601"/>
          </a:xfrm>
        </p:spPr>
        <p:txBody>
          <a:bodyPr>
            <a:normAutofit fontScale="85000" lnSpcReduction="10000"/>
          </a:bodyPr>
          <a:lstStyle/>
          <a:p>
            <a:r>
              <a:rPr lang="en-US" dirty="0" smtClean="0"/>
              <a:t>Internet Mail Access Protocol</a:t>
            </a:r>
          </a:p>
          <a:p>
            <a:r>
              <a:rPr lang="en-US" dirty="0" smtClean="0"/>
              <a:t>Enables an email client to access mail on an email server</a:t>
            </a:r>
          </a:p>
          <a:p>
            <a:r>
              <a:rPr lang="en-US" dirty="0" smtClean="0"/>
              <a:t>Also uses TCP, with server TCP port 143</a:t>
            </a:r>
          </a:p>
          <a:p>
            <a:r>
              <a:rPr lang="en-US" dirty="0" smtClean="0"/>
              <a:t>Is more complex than POP3</a:t>
            </a:r>
          </a:p>
          <a:p>
            <a:r>
              <a:rPr lang="en-US" dirty="0" smtClean="0"/>
              <a:t>Provides stronger authentication and provides other functions not supported by POP3</a:t>
            </a:r>
            <a:endParaRPr lang="en-US" dirty="0"/>
          </a:p>
        </p:txBody>
      </p:sp>
      <p:sp>
        <p:nvSpPr>
          <p:cNvPr id="5" name="Footer Placeholder 4"/>
          <p:cNvSpPr>
            <a:spLocks noGrp="1"/>
          </p:cNvSpPr>
          <p:nvPr>
            <p:ph type="ftr" sz="quarter" idx="11"/>
          </p:nvPr>
        </p:nvSpPr>
        <p:spPr>
          <a:xfrm>
            <a:off x="0" y="6492875"/>
            <a:ext cx="60198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RFC 5322</a:t>
            </a:r>
            <a:endParaRPr lang="en-US" dirty="0"/>
          </a:p>
        </p:txBody>
      </p:sp>
      <p:sp>
        <p:nvSpPr>
          <p:cNvPr id="3" name="Content Placeholder 2"/>
          <p:cNvSpPr>
            <a:spLocks noGrp="1"/>
          </p:cNvSpPr>
          <p:nvPr>
            <p:ph idx="1"/>
          </p:nvPr>
        </p:nvSpPr>
        <p:spPr>
          <a:xfrm>
            <a:off x="792163" y="1762125"/>
            <a:ext cx="7570787" cy="4867275"/>
          </a:xfrm>
        </p:spPr>
        <p:txBody>
          <a:bodyPr>
            <a:normAutofit fontScale="92500" lnSpcReduction="20000"/>
          </a:bodyPr>
          <a:lstStyle/>
          <a:p>
            <a:r>
              <a:rPr lang="en-US" dirty="0" smtClean="0"/>
              <a:t>Defines a format for text messages that are sent using electronic mail</a:t>
            </a:r>
          </a:p>
          <a:p>
            <a:r>
              <a:rPr lang="en-US" dirty="0" smtClean="0"/>
              <a:t>Messages are viewed as having an envelope and contents</a:t>
            </a:r>
          </a:p>
          <a:p>
            <a:pPr lvl="1"/>
            <a:r>
              <a:rPr lang="en-US" dirty="0" smtClean="0"/>
              <a:t>The envelope contains whatever information is needed to accomplish transmission and delivery</a:t>
            </a:r>
          </a:p>
          <a:p>
            <a:pPr lvl="1"/>
            <a:r>
              <a:rPr lang="en-US" dirty="0" smtClean="0"/>
              <a:t>The contents compose the object to be delivered to the recipient</a:t>
            </a:r>
          </a:p>
          <a:p>
            <a:pPr lvl="1"/>
            <a:r>
              <a:rPr lang="en-US" dirty="0" smtClean="0"/>
              <a:t>RFC 5322 standard applies only to the contents</a:t>
            </a:r>
          </a:p>
          <a:p>
            <a:r>
              <a:rPr lang="en-US" dirty="0" smtClean="0"/>
              <a:t>The content standard includes a set of header fields that may be used by the mail system to create the envelope</a:t>
            </a:r>
          </a:p>
        </p:txBody>
      </p:sp>
      <p:sp>
        <p:nvSpPr>
          <p:cNvPr id="4" name="Footer Placeholder 3"/>
          <p:cNvSpPr>
            <a:spLocks noGrp="1"/>
          </p:cNvSpPr>
          <p:nvPr>
            <p:ph type="ftr" sz="quarter" idx="11"/>
          </p:nvPr>
        </p:nvSpPr>
        <p:spPr>
          <a:xfrm>
            <a:off x="0" y="6492875"/>
            <a:ext cx="67056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Example Message</a:t>
            </a:r>
            <a:endParaRPr lang="en-US" dirty="0"/>
          </a:p>
        </p:txBody>
      </p:sp>
      <p:sp>
        <p:nvSpPr>
          <p:cNvPr id="7" name="Content Placeholder 6"/>
          <p:cNvSpPr>
            <a:spLocks noGrp="1"/>
          </p:cNvSpPr>
          <p:nvPr>
            <p:ph idx="1"/>
          </p:nvPr>
        </p:nvSpPr>
        <p:spPr>
          <a:xfrm>
            <a:off x="762000" y="1676400"/>
            <a:ext cx="7570787" cy="4289425"/>
          </a:xfrm>
        </p:spPr>
        <p:txBody>
          <a:bodyPr/>
          <a:lstStyle/>
          <a:p>
            <a:pPr>
              <a:spcBef>
                <a:spcPts val="600"/>
              </a:spcBef>
              <a:buNone/>
            </a:pPr>
            <a:r>
              <a:rPr lang="en-US" dirty="0" smtClean="0"/>
              <a:t> Date: October 8, 2009 2:15:49 PM EDT</a:t>
            </a:r>
          </a:p>
          <a:p>
            <a:pPr>
              <a:spcBef>
                <a:spcPts val="600"/>
              </a:spcBef>
              <a:buNone/>
            </a:pPr>
            <a:r>
              <a:rPr lang="en-US" dirty="0" smtClean="0"/>
              <a:t>From: “William Stallings” &lt;</a:t>
            </a:r>
            <a:r>
              <a:rPr lang="en-US" dirty="0" err="1" smtClean="0"/>
              <a:t>ws@shore.net</a:t>
            </a:r>
            <a:r>
              <a:rPr lang="en-US" dirty="0" smtClean="0"/>
              <a:t>&gt;</a:t>
            </a:r>
          </a:p>
          <a:p>
            <a:pPr>
              <a:spcBef>
                <a:spcPts val="600"/>
              </a:spcBef>
              <a:buNone/>
            </a:pPr>
            <a:r>
              <a:rPr lang="en-US" dirty="0" smtClean="0"/>
              <a:t>Subject: The Syntax in RFC 5322</a:t>
            </a:r>
          </a:p>
          <a:p>
            <a:pPr>
              <a:spcBef>
                <a:spcPts val="600"/>
              </a:spcBef>
              <a:buNone/>
            </a:pPr>
            <a:r>
              <a:rPr lang="en-US" dirty="0" smtClean="0"/>
              <a:t>To: </a:t>
            </a:r>
            <a:r>
              <a:rPr lang="en-US" dirty="0" err="1" smtClean="0"/>
              <a:t>Smith@Other-host.com</a:t>
            </a:r>
            <a:endParaRPr lang="en-US" dirty="0" smtClean="0"/>
          </a:p>
          <a:p>
            <a:pPr>
              <a:spcBef>
                <a:spcPts val="600"/>
              </a:spcBef>
              <a:buNone/>
            </a:pPr>
            <a:r>
              <a:rPr lang="en-US" dirty="0" smtClean="0"/>
              <a:t>Cc: </a:t>
            </a:r>
            <a:r>
              <a:rPr lang="en-US" dirty="0" err="1" smtClean="0"/>
              <a:t>Jones@Yet-Another-Host.com</a:t>
            </a:r>
            <a:endParaRPr lang="en-US" dirty="0" smtClean="0"/>
          </a:p>
          <a:p>
            <a:pPr>
              <a:spcBef>
                <a:spcPts val="600"/>
              </a:spcBef>
              <a:buNone/>
            </a:pPr>
            <a:endParaRPr lang="en-US" sz="1800" dirty="0" smtClean="0"/>
          </a:p>
          <a:p>
            <a:pPr>
              <a:spcBef>
                <a:spcPts val="600"/>
              </a:spcBef>
              <a:buNone/>
            </a:pPr>
            <a:r>
              <a:rPr lang="en-US" dirty="0" smtClean="0"/>
              <a:t>Hello. This section begins the actual</a:t>
            </a:r>
          </a:p>
          <a:p>
            <a:pPr>
              <a:spcBef>
                <a:spcPts val="600"/>
              </a:spcBef>
              <a:buNone/>
            </a:pPr>
            <a:r>
              <a:rPr lang="en-US" dirty="0" smtClean="0"/>
              <a:t>message body, which is delimited from the</a:t>
            </a:r>
          </a:p>
          <a:p>
            <a:pPr>
              <a:spcBef>
                <a:spcPts val="600"/>
              </a:spcBef>
              <a:buNone/>
            </a:pPr>
            <a:r>
              <a:rPr lang="en-US" dirty="0" smtClean="0"/>
              <a:t>message heading by a blank line.</a:t>
            </a:r>
            <a:endParaRPr lang="en-US" dirty="0"/>
          </a:p>
        </p:txBody>
      </p:sp>
      <p:sp>
        <p:nvSpPr>
          <p:cNvPr id="5" name="Footer Placeholder 4"/>
          <p:cNvSpPr>
            <a:spLocks noGrp="1"/>
          </p:cNvSpPr>
          <p:nvPr>
            <p:ph type="ftr" sz="quarter" idx="11"/>
          </p:nvPr>
        </p:nvSpPr>
        <p:spPr>
          <a:xfrm>
            <a:off x="0" y="6492875"/>
            <a:ext cx="7239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Multipurpose Internet Mail Extensions (MIME)</a:t>
            </a:r>
            <a:endParaRPr lang="en-US" dirty="0"/>
          </a:p>
        </p:txBody>
      </p:sp>
      <p:sp>
        <p:nvSpPr>
          <p:cNvPr id="3" name="Content Placeholder 2"/>
          <p:cNvSpPr>
            <a:spLocks noGrp="1"/>
          </p:cNvSpPr>
          <p:nvPr>
            <p:ph sz="half" idx="1"/>
          </p:nvPr>
        </p:nvSpPr>
        <p:spPr>
          <a:xfrm>
            <a:off x="0" y="1905000"/>
            <a:ext cx="3566160" cy="4379913"/>
          </a:xfrm>
        </p:spPr>
        <p:txBody>
          <a:bodyPr>
            <a:normAutofit fontScale="40000" lnSpcReduction="20000"/>
          </a:bodyPr>
          <a:lstStyle/>
          <a:p>
            <a:r>
              <a:rPr lang="en-US" sz="4632" dirty="0" smtClean="0"/>
              <a:t>An extension to the RFC 5322 framework that is intended to address some of the problems and limitations of the use of Simple Mail Transfer Protocol (SMTP)</a:t>
            </a:r>
          </a:p>
          <a:p>
            <a:pPr lvl="1"/>
            <a:r>
              <a:rPr lang="en-US" sz="4632" dirty="0" smtClean="0"/>
              <a:t>Is intended to resolve these problems in a manner that is compatible with existing RFC 5322 implementations</a:t>
            </a:r>
          </a:p>
          <a:p>
            <a:pPr lvl="1"/>
            <a:r>
              <a:rPr lang="en-US" sz="4632" dirty="0" smtClean="0"/>
              <a:t>The specification is provided in RFCs 2045 through 2049</a:t>
            </a:r>
          </a:p>
          <a:p>
            <a:endParaRPr lang="en-US" dirty="0"/>
          </a:p>
        </p:txBody>
      </p:sp>
      <p:sp>
        <p:nvSpPr>
          <p:cNvPr id="4" name="Content Placeholder 3"/>
          <p:cNvSpPr>
            <a:spLocks noGrp="1"/>
          </p:cNvSpPr>
          <p:nvPr>
            <p:ph sz="half" idx="2"/>
          </p:nvPr>
        </p:nvSpPr>
        <p:spPr>
          <a:xfrm>
            <a:off x="4114800" y="1676400"/>
            <a:ext cx="4724400" cy="457200"/>
          </a:xfrm>
        </p:spPr>
        <p:txBody>
          <a:bodyPr>
            <a:normAutofit fontScale="40000" lnSpcReduction="20000"/>
          </a:bodyPr>
          <a:lstStyle/>
          <a:p>
            <a:pPr>
              <a:buNone/>
            </a:pPr>
            <a:r>
              <a:rPr lang="en-US" sz="3520" b="1" dirty="0" smtClean="0"/>
              <a:t>    MIME specification includes the following elements:</a:t>
            </a:r>
          </a:p>
          <a:p>
            <a:endParaRPr lang="en-US" dirty="0"/>
          </a:p>
        </p:txBody>
      </p:sp>
      <p:graphicFrame>
        <p:nvGraphicFramePr>
          <p:cNvPr id="5" name="Diagram 4"/>
          <p:cNvGraphicFramePr/>
          <p:nvPr/>
        </p:nvGraphicFramePr>
        <p:xfrm>
          <a:off x="3200400" y="2590800"/>
          <a:ext cx="6096000" cy="40640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0" y="6492875"/>
            <a:ext cx="4572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a:xfrm>
            <a:off x="0" y="39688"/>
            <a:ext cx="9143999" cy="1412875"/>
          </a:xfrm>
        </p:spPr>
        <p:txBody>
          <a:bodyPr/>
          <a:lstStyle/>
          <a:p>
            <a:r>
              <a:rPr lang="en-US" dirty="0" smtClean="0"/>
              <a:t>Limitations of the SMTP/5322 Scheme</a:t>
            </a:r>
            <a:endParaRPr lang="en-US" dirty="0"/>
          </a:p>
        </p:txBody>
      </p:sp>
      <p:sp>
        <p:nvSpPr>
          <p:cNvPr id="7" name="Content Placeholder 6"/>
          <p:cNvSpPr>
            <a:spLocks noGrp="1"/>
          </p:cNvSpPr>
          <p:nvPr>
            <p:ph idx="1"/>
          </p:nvPr>
        </p:nvSpPr>
        <p:spPr>
          <a:xfrm>
            <a:off x="762000" y="1676400"/>
            <a:ext cx="7570787" cy="4867275"/>
          </a:xfrm>
        </p:spPr>
        <p:txBody>
          <a:bodyPr>
            <a:normAutofit fontScale="77500" lnSpcReduction="20000"/>
          </a:bodyPr>
          <a:lstStyle/>
          <a:p>
            <a:r>
              <a:rPr lang="en-US" dirty="0" smtClean="0"/>
              <a:t>SMTP cannot transmit executable files or other binary objects</a:t>
            </a:r>
          </a:p>
          <a:p>
            <a:r>
              <a:rPr lang="en-US" dirty="0" smtClean="0"/>
              <a:t>SMTP cannot transmit text data that includes national language characters</a:t>
            </a:r>
          </a:p>
          <a:p>
            <a:r>
              <a:rPr lang="en-US" dirty="0" smtClean="0"/>
              <a:t>SMTP servers may reject mail message over a certain size</a:t>
            </a:r>
          </a:p>
          <a:p>
            <a:r>
              <a:rPr lang="en-US" dirty="0" smtClean="0"/>
              <a:t>SMTP gateways that translate between ASCII and the character code EBCDIC do not use a consistent set of mappings, resulting in translation problems</a:t>
            </a:r>
          </a:p>
          <a:p>
            <a:r>
              <a:rPr lang="en-US" dirty="0" smtClean="0"/>
              <a:t>SMTP gateways to X.400 electronic mail networks cannot handle </a:t>
            </a:r>
            <a:r>
              <a:rPr lang="en-US" dirty="0" err="1" smtClean="0"/>
              <a:t>nontextual</a:t>
            </a:r>
            <a:r>
              <a:rPr lang="en-US" dirty="0" smtClean="0"/>
              <a:t> data included in X.400 messages</a:t>
            </a:r>
          </a:p>
          <a:p>
            <a:r>
              <a:rPr lang="en-US" dirty="0" smtClean="0"/>
              <a:t>Some SMTP implementations do not adhere completely to the SMTP standards defined in RFC 821</a:t>
            </a:r>
            <a:endParaRPr lang="en-US" dirty="0"/>
          </a:p>
        </p:txBody>
      </p:sp>
      <p:sp>
        <p:nvSpPr>
          <p:cNvPr id="5" name="Footer Placeholder 4"/>
          <p:cNvSpPr>
            <a:spLocks noGrp="1"/>
          </p:cNvSpPr>
          <p:nvPr>
            <p:ph type="ftr" sz="quarter" idx="11"/>
          </p:nvPr>
        </p:nvSpPr>
        <p:spPr>
          <a:xfrm>
            <a:off x="0" y="6492875"/>
            <a:ext cx="67818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MIME Specifications</a:t>
            </a:r>
            <a:endParaRPr lang="en-US" dirty="0"/>
          </a:p>
        </p:txBody>
      </p:sp>
      <p:sp>
        <p:nvSpPr>
          <p:cNvPr id="7" name="Content Placeholder 6"/>
          <p:cNvSpPr>
            <a:spLocks noGrp="1"/>
          </p:cNvSpPr>
          <p:nvPr>
            <p:ph idx="1"/>
          </p:nvPr>
        </p:nvSpPr>
        <p:spPr/>
        <p:txBody>
          <a:bodyPr/>
          <a:lstStyle/>
          <a:p>
            <a:r>
              <a:rPr lang="en-US" dirty="0" smtClean="0"/>
              <a:t>The MIME specification includes the following elements:</a:t>
            </a:r>
          </a:p>
          <a:p>
            <a:pPr lvl="1"/>
            <a:r>
              <a:rPr lang="en-US" dirty="0" smtClean="0"/>
              <a:t>Five new message header fields are defined, which may be included in an RFC 5322 header</a:t>
            </a:r>
          </a:p>
          <a:p>
            <a:pPr lvl="1"/>
            <a:r>
              <a:rPr lang="en-US" dirty="0" smtClean="0"/>
              <a:t>A number of content formats are defined, thus standardizing representations that support multimedia electronic mail</a:t>
            </a:r>
          </a:p>
          <a:p>
            <a:pPr lvl="1"/>
            <a:r>
              <a:rPr lang="en-US" dirty="0" smtClean="0"/>
              <a:t>Transfer encodings are defined that enable the conversion of any content format into a form that is protected from alteration by the mail system</a:t>
            </a:r>
            <a:endParaRPr lang="en-US" dirty="0"/>
          </a:p>
        </p:txBody>
      </p:sp>
      <p:sp>
        <p:nvSpPr>
          <p:cNvPr id="5" name="Footer Placeholder 4"/>
          <p:cNvSpPr>
            <a:spLocks noGrp="1"/>
          </p:cNvSpPr>
          <p:nvPr>
            <p:ph type="ftr" sz="quarter" idx="11"/>
          </p:nvPr>
        </p:nvSpPr>
        <p:spPr>
          <a:xfrm>
            <a:off x="0" y="6492875"/>
            <a:ext cx="67056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Five Header Fields Defined in MIME </a:t>
            </a:r>
            <a:endParaRPr lang="en-US" dirty="0"/>
          </a:p>
        </p:txBody>
      </p:sp>
      <p:graphicFrame>
        <p:nvGraphicFramePr>
          <p:cNvPr id="4" name="Content Placeholder 3"/>
          <p:cNvGraphicFramePr>
            <a:graphicFrameLocks noGrp="1"/>
          </p:cNvGraphicFramePr>
          <p:nvPr>
            <p:ph idx="1"/>
          </p:nvPr>
        </p:nvGraphicFramePr>
        <p:xfrm>
          <a:off x="792163" y="1600201"/>
          <a:ext cx="7570787" cy="50292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5867400" cy="365125"/>
          </a:xfrm>
        </p:spPr>
        <p:txBody>
          <a:bodyPr/>
          <a:lstStyle/>
          <a:p>
            <a:pPr>
              <a:defRPr/>
            </a:pPr>
            <a:r>
              <a:rPr lang="en-US" sz="1050" dirty="0" smtClean="0"/>
              <a:t>© 2017 Pearson Education, Inc., Hoboken, NJ. All rights reserved.   </a:t>
            </a:r>
            <a:r>
              <a:rPr lang="en-US" dirty="0" smtClean="0"/>
              <a:t>      </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152400" y="0"/>
            <a:ext cx="7091321" cy="6705600"/>
          </a:xfrm>
          <a:prstGeom prst="rect">
            <a:avLst/>
          </a:prstGeom>
        </p:spPr>
      </p:pic>
      <p:sp>
        <p:nvSpPr>
          <p:cNvPr id="5" name="Rectangle 4"/>
          <p:cNvSpPr/>
          <p:nvPr/>
        </p:nvSpPr>
        <p:spPr>
          <a:xfrm>
            <a:off x="7162800" y="1219200"/>
            <a:ext cx="1981200" cy="3046988"/>
          </a:xfrm>
          <a:prstGeom prst="rect">
            <a:avLst/>
          </a:prstGeom>
        </p:spPr>
        <p:txBody>
          <a:bodyPr wrap="square">
            <a:spAutoFit/>
          </a:bodyPr>
          <a:lstStyle/>
          <a:p>
            <a:pPr algn="ctr"/>
            <a:r>
              <a:rPr lang="en-US" sz="3200" dirty="0">
                <a:latin typeface="+mn-lt"/>
              </a:rPr>
              <a:t>Table</a:t>
            </a:r>
            <a:r>
              <a:rPr lang="en-US" sz="3200" dirty="0" smtClean="0">
                <a:latin typeface="+mn-lt"/>
              </a:rPr>
              <a:t> </a:t>
            </a:r>
            <a:r>
              <a:rPr lang="en-US" sz="3200" dirty="0" smtClean="0">
                <a:latin typeface="+mn-lt"/>
              </a:rPr>
              <a:t>19.1  </a:t>
            </a:r>
            <a:endParaRPr lang="en-US" sz="3200" dirty="0" smtClean="0">
              <a:latin typeface="+mn-lt"/>
            </a:endParaRPr>
          </a:p>
          <a:p>
            <a:pPr algn="ctr"/>
            <a:endParaRPr lang="en-US" sz="3200" dirty="0" smtClean="0">
              <a:latin typeface="+mn-lt"/>
            </a:endParaRPr>
          </a:p>
          <a:p>
            <a:pPr algn="ctr"/>
            <a:endParaRPr lang="en-US" sz="3200" dirty="0" smtClean="0">
              <a:latin typeface="+mn-lt"/>
            </a:endParaRPr>
          </a:p>
          <a:p>
            <a:pPr algn="ctr"/>
            <a:r>
              <a:rPr lang="en-US" sz="3200" dirty="0" smtClean="0">
                <a:latin typeface="+mn-lt"/>
              </a:rPr>
              <a:t>MIME </a:t>
            </a:r>
            <a:r>
              <a:rPr lang="en-US" sz="3200" dirty="0">
                <a:latin typeface="+mn-lt"/>
              </a:rPr>
              <a:t>Content Types</a:t>
            </a:r>
            <a:r>
              <a:rPr lang="en-US" sz="3200" dirty="0" smtClean="0">
                <a:latin typeface="+mn-lt"/>
              </a:rPr>
              <a:t> </a:t>
            </a:r>
            <a:endParaRPr lang="en-US" sz="3200" dirty="0">
              <a:latin typeface="+mn-lt"/>
            </a:endParaRPr>
          </a:p>
        </p:txBody>
      </p:sp>
      <p:sp>
        <p:nvSpPr>
          <p:cNvPr id="6" name="Footer Placeholder 5"/>
          <p:cNvSpPr>
            <a:spLocks noGrp="1"/>
          </p:cNvSpPr>
          <p:nvPr>
            <p:ph type="ftr" sz="quarter" idx="11"/>
          </p:nvPr>
        </p:nvSpPr>
        <p:spPr>
          <a:xfrm>
            <a:off x="0" y="6492875"/>
            <a:ext cx="7010400" cy="365125"/>
          </a:xfrm>
        </p:spPr>
        <p:txBody>
          <a:bodyPr/>
          <a:lstStyle/>
          <a:p>
            <a:pPr>
              <a:defRPr/>
            </a:pPr>
            <a:r>
              <a:rPr lang="en-US" sz="1050" dirty="0" smtClean="0"/>
              <a:t>© 2017 Pearson Education, Inc., Hoboken, NJ. All rights reserved</a:t>
            </a:r>
            <a:r>
              <a:rPr lang="en-US" dirty="0" smtClean="0"/>
              <a:t>.         </a:t>
            </a:r>
            <a:endParaRPr lang="en-US" dirty="0"/>
          </a:p>
        </p:txBody>
      </p:sp>
      <p:sp>
        <p:nvSpPr>
          <p:cNvPr id="7" name="TextBox 6"/>
          <p:cNvSpPr txBox="1"/>
          <p:nvPr/>
        </p:nvSpPr>
        <p:spPr>
          <a:xfrm>
            <a:off x="7391400" y="6248400"/>
            <a:ext cx="1752600" cy="461665"/>
          </a:xfrm>
          <a:prstGeom prst="rect">
            <a:avLst/>
          </a:prstGeom>
          <a:noFill/>
        </p:spPr>
        <p:txBody>
          <a:bodyPr wrap="square" rtlCol="0">
            <a:spAutoFit/>
          </a:bodyPr>
          <a:lstStyle/>
          <a:p>
            <a:r>
              <a:rPr lang="en-US" sz="1200" dirty="0" smtClean="0"/>
              <a:t>(Table is on page 602 in textbook) </a:t>
            </a:r>
            <a:endParaRPr lang="en-US" sz="1200" dirty="0"/>
          </a:p>
        </p:txBody>
      </p:sp>
    </p:spTree>
  </p:cSld>
  <p:clrMapOvr>
    <a:masterClrMapping/>
  </p:clrMapOvr>
  <p:transition spd="med">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228600" y="1600200"/>
            <a:ext cx="8763000" cy="4656489"/>
          </a:xfrm>
          <a:prstGeom prst="rect">
            <a:avLst/>
          </a:prstGeom>
        </p:spPr>
      </p:pic>
      <p:sp>
        <p:nvSpPr>
          <p:cNvPr id="3" name="Rectangle 2"/>
          <p:cNvSpPr/>
          <p:nvPr/>
        </p:nvSpPr>
        <p:spPr>
          <a:xfrm>
            <a:off x="0" y="0"/>
            <a:ext cx="9144000" cy="1569660"/>
          </a:xfrm>
          <a:prstGeom prst="rect">
            <a:avLst/>
          </a:prstGeom>
        </p:spPr>
        <p:txBody>
          <a:bodyPr wrap="square">
            <a:spAutoFit/>
          </a:bodyPr>
          <a:lstStyle/>
          <a:p>
            <a:pPr algn="ctr"/>
            <a:r>
              <a:rPr lang="en-US" sz="4800" dirty="0">
                <a:latin typeface="+mn-lt"/>
              </a:rPr>
              <a:t>Table </a:t>
            </a:r>
            <a:r>
              <a:rPr lang="en-US" sz="4800" dirty="0" smtClean="0">
                <a:latin typeface="+mn-lt"/>
              </a:rPr>
              <a:t>19.2  </a:t>
            </a:r>
            <a:endParaRPr lang="en-US" sz="4800" dirty="0" smtClean="0">
              <a:latin typeface="+mn-lt"/>
            </a:endParaRPr>
          </a:p>
          <a:p>
            <a:pPr algn="ctr"/>
            <a:r>
              <a:rPr lang="en-US" sz="4800" dirty="0" smtClean="0">
                <a:latin typeface="+mn-lt"/>
              </a:rPr>
              <a:t>MIME </a:t>
            </a:r>
            <a:r>
              <a:rPr lang="en-US" sz="4800" dirty="0">
                <a:latin typeface="+mn-lt"/>
              </a:rPr>
              <a:t>Transfer Encodings</a:t>
            </a:r>
            <a:r>
              <a:rPr lang="en-US" sz="4800" dirty="0" smtClean="0">
                <a:latin typeface="+mn-lt"/>
              </a:rPr>
              <a:t> </a:t>
            </a:r>
            <a:endParaRPr lang="en-US" sz="4800" dirty="0">
              <a:latin typeface="+mn-lt"/>
            </a:endParaRPr>
          </a:p>
        </p:txBody>
      </p:sp>
      <p:sp>
        <p:nvSpPr>
          <p:cNvPr id="4" name="Footer Placeholder 3"/>
          <p:cNvSpPr>
            <a:spLocks noGrp="1"/>
          </p:cNvSpPr>
          <p:nvPr>
            <p:ph type="ftr" sz="quarter" idx="11"/>
          </p:nvPr>
        </p:nvSpPr>
        <p:spPr>
          <a:xfrm>
            <a:off x="0" y="6492875"/>
            <a:ext cx="6019800" cy="365125"/>
          </a:xfrm>
        </p:spPr>
        <p:txBody>
          <a:bodyPr/>
          <a:lstStyle/>
          <a:p>
            <a:pPr>
              <a:defRPr/>
            </a:pPr>
            <a:r>
              <a:rPr lang="en-US" sz="1050" dirty="0" smtClean="0"/>
              <a:t>© 2017 Pearson Education, Inc., Hoboken, NJ. All rights reserved.         </a:t>
            </a:r>
            <a:endParaRPr lang="en-US" sz="1050" dirty="0"/>
          </a:p>
        </p:txBody>
      </p:sp>
      <p:sp>
        <p:nvSpPr>
          <p:cNvPr id="5" name="TextBox 4"/>
          <p:cNvSpPr txBox="1"/>
          <p:nvPr/>
        </p:nvSpPr>
        <p:spPr>
          <a:xfrm>
            <a:off x="6629400" y="6248400"/>
            <a:ext cx="2514600" cy="276999"/>
          </a:xfrm>
          <a:prstGeom prst="rect">
            <a:avLst/>
          </a:prstGeom>
          <a:noFill/>
        </p:spPr>
        <p:txBody>
          <a:bodyPr wrap="square" rtlCol="0">
            <a:spAutoFit/>
          </a:bodyPr>
          <a:lstStyle/>
          <a:p>
            <a:r>
              <a:rPr lang="en-US" sz="1200" dirty="0" smtClean="0"/>
              <a:t>(Table is on page 605 in textbook) </a:t>
            </a:r>
            <a:endParaRPr lang="en-US" sz="1200" dirty="0"/>
          </a:p>
        </p:txBody>
      </p:sp>
    </p:spTree>
  </p:cSld>
  <p:clrMapOvr>
    <a:masterClrMapping/>
  </p:clrMapOvr>
  <p:transition spd="med">
    <p:wipe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descr="f3.pdf"/>
          <p:cNvPicPr>
            <a:picLocks noChangeAspect="1"/>
          </p:cNvPicPr>
          <p:nvPr/>
        </p:nvPicPr>
        <mc:AlternateContent>
          <mc:Choice xmlns:ma="http://schemas.microsoft.com/office/mac/drawingml/2008/main" Requires="ma">
            <p:blipFill>
              <a:blip r:embed="rId3"/>
              <a:srcRect t="3636" b="19091"/>
              <a:stretch>
                <a:fillRect/>
              </a:stretch>
            </p:blipFill>
          </mc:Choice>
          <mc:Fallback>
            <p:blipFill>
              <a:blip r:embed="rId4"/>
              <a:srcRect t="3636" b="19091"/>
              <a:stretch>
                <a:fillRect/>
              </a:stretch>
            </p:blipFill>
          </mc:Fallback>
        </mc:AlternateContent>
        <p:spPr>
          <a:xfrm>
            <a:off x="838200" y="-152400"/>
            <a:ext cx="6858076" cy="6858000"/>
          </a:xfrm>
          <a:prstGeom prst="rect">
            <a:avLst/>
          </a:prstGeom>
        </p:spPr>
      </p:pic>
      <p:sp>
        <p:nvSpPr>
          <p:cNvPr id="3" name="Footer Placeholder 2"/>
          <p:cNvSpPr>
            <a:spLocks noGrp="1"/>
          </p:cNvSpPr>
          <p:nvPr>
            <p:ph type="ftr" sz="quarter" idx="11"/>
          </p:nvPr>
        </p:nvSpPr>
        <p:spPr>
          <a:xfrm>
            <a:off x="0" y="6492875"/>
            <a:ext cx="5943600" cy="365125"/>
          </a:xfrm>
        </p:spPr>
        <p:txBody>
          <a:bodyPr/>
          <a:lstStyle/>
          <a:p>
            <a:pPr>
              <a:defRPr/>
            </a:pPr>
            <a:r>
              <a:rPr lang="en-US" sz="1050" dirty="0" smtClean="0"/>
              <a:t>© 2017 Pearson Education, Inc., Hoboken, NJ. All rights reserved.         </a:t>
            </a:r>
            <a:endParaRPr lang="en-US" sz="1050" dirty="0"/>
          </a:p>
        </p:txBody>
      </p:sp>
      <p:sp>
        <p:nvSpPr>
          <p:cNvPr id="4" name="TextBox 3"/>
          <p:cNvSpPr txBox="1"/>
          <p:nvPr/>
        </p:nvSpPr>
        <p:spPr>
          <a:xfrm>
            <a:off x="7010400" y="6172200"/>
            <a:ext cx="1981200" cy="461665"/>
          </a:xfrm>
          <a:prstGeom prst="rect">
            <a:avLst/>
          </a:prstGeom>
          <a:noFill/>
        </p:spPr>
        <p:txBody>
          <a:bodyPr wrap="square" rtlCol="0">
            <a:spAutoFit/>
          </a:bodyPr>
          <a:lstStyle/>
          <a:p>
            <a:r>
              <a:rPr lang="en-US" sz="1200" dirty="0" smtClean="0"/>
              <a:t>(Figure is on page 606 in textbook) </a:t>
            </a:r>
            <a:endParaRPr lang="en-US" sz="1200" dirty="0"/>
          </a:p>
        </p:txBody>
      </p:sp>
    </p:spTree>
  </p:cSld>
  <p:clrMapOvr>
    <a:masterClrMapping/>
  </p:clrMapOvr>
  <p:transition spd="med">
    <p:pull dir="l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Formats</a:t>
            </a:r>
            <a:endParaRPr lang="en-US" dirty="0"/>
          </a:p>
        </p:txBody>
      </p:sp>
      <p:sp>
        <p:nvSpPr>
          <p:cNvPr id="7" name="Text Placeholder 6"/>
          <p:cNvSpPr>
            <a:spLocks noGrp="1"/>
          </p:cNvSpPr>
          <p:nvPr>
            <p:ph type="body" idx="1"/>
          </p:nvPr>
        </p:nvSpPr>
        <p:spPr>
          <a:xfrm>
            <a:off x="762000" y="1676400"/>
            <a:ext cx="3566160" cy="639762"/>
          </a:xfrm>
        </p:spPr>
        <p:txBody>
          <a:bodyPr/>
          <a:lstStyle/>
          <a:p>
            <a:r>
              <a:rPr lang="en-US" dirty="0" smtClean="0">
                <a:ln>
                  <a:solidFill>
                    <a:schemeClr val="tx2"/>
                  </a:solidFill>
                </a:ln>
              </a:rPr>
              <a:t>Native Form</a:t>
            </a:r>
            <a:endParaRPr lang="en-US" dirty="0">
              <a:ln>
                <a:solidFill>
                  <a:schemeClr val="tx2"/>
                </a:solidFill>
              </a:ln>
            </a:endParaRPr>
          </a:p>
        </p:txBody>
      </p:sp>
      <p:sp>
        <p:nvSpPr>
          <p:cNvPr id="8" name="Content Placeholder 7"/>
          <p:cNvSpPr>
            <a:spLocks noGrp="1"/>
          </p:cNvSpPr>
          <p:nvPr>
            <p:ph sz="half" idx="2"/>
          </p:nvPr>
        </p:nvSpPr>
        <p:spPr>
          <a:xfrm>
            <a:off x="777240" y="2514601"/>
            <a:ext cx="3566160" cy="3962400"/>
          </a:xfrm>
        </p:spPr>
        <p:txBody>
          <a:bodyPr>
            <a:normAutofit fontScale="77500" lnSpcReduction="20000"/>
          </a:bodyPr>
          <a:lstStyle/>
          <a:p>
            <a:pPr>
              <a:spcBef>
                <a:spcPts val="1200"/>
              </a:spcBef>
            </a:pPr>
            <a:r>
              <a:rPr lang="en-US" dirty="0" smtClean="0"/>
              <a:t>The body to be transmitted is created in the system’s native format</a:t>
            </a:r>
          </a:p>
          <a:p>
            <a:pPr>
              <a:spcBef>
                <a:spcPts val="1200"/>
              </a:spcBef>
            </a:pPr>
            <a:r>
              <a:rPr lang="en-US" dirty="0" smtClean="0"/>
              <a:t>The native character set is used and, where appropriate, local end-of-line conventions are used as well</a:t>
            </a:r>
          </a:p>
          <a:p>
            <a:pPr>
              <a:spcBef>
                <a:spcPts val="1200"/>
              </a:spcBef>
            </a:pPr>
            <a:r>
              <a:rPr lang="en-US" dirty="0" smtClean="0"/>
              <a:t>The body may be any format that corresponds to the local model for the representation of some form of information</a:t>
            </a:r>
          </a:p>
          <a:p>
            <a:pPr>
              <a:spcBef>
                <a:spcPts val="1200"/>
              </a:spcBef>
            </a:pPr>
            <a:r>
              <a:rPr lang="en-US" dirty="0" smtClean="0"/>
              <a:t>Examples include a UNIX-style text file, or a Sun raster image, or a VMS indexed file, and audio data in a system-dependent format stored only in memory</a:t>
            </a:r>
            <a:endParaRPr lang="en-US" dirty="0"/>
          </a:p>
        </p:txBody>
      </p:sp>
      <p:sp>
        <p:nvSpPr>
          <p:cNvPr id="9" name="Text Placeholder 8"/>
          <p:cNvSpPr>
            <a:spLocks noGrp="1"/>
          </p:cNvSpPr>
          <p:nvPr>
            <p:ph type="body" sz="quarter" idx="3"/>
          </p:nvPr>
        </p:nvSpPr>
        <p:spPr>
          <a:xfrm>
            <a:off x="4724400" y="1676400"/>
            <a:ext cx="3566160" cy="639762"/>
          </a:xfrm>
        </p:spPr>
        <p:txBody>
          <a:bodyPr/>
          <a:lstStyle/>
          <a:p>
            <a:r>
              <a:rPr lang="en-US" dirty="0" smtClean="0">
                <a:ln>
                  <a:solidFill>
                    <a:schemeClr val="tx2"/>
                  </a:solidFill>
                </a:ln>
              </a:rPr>
              <a:t>Canonical Form</a:t>
            </a:r>
          </a:p>
        </p:txBody>
      </p:sp>
      <p:sp>
        <p:nvSpPr>
          <p:cNvPr id="10" name="Content Placeholder 9"/>
          <p:cNvSpPr>
            <a:spLocks noGrp="1"/>
          </p:cNvSpPr>
          <p:nvPr>
            <p:ph sz="quarter" idx="4"/>
          </p:nvPr>
        </p:nvSpPr>
        <p:spPr>
          <a:xfrm>
            <a:off x="4766048" y="2438400"/>
            <a:ext cx="3566160" cy="4191000"/>
          </a:xfrm>
        </p:spPr>
        <p:txBody>
          <a:bodyPr>
            <a:normAutofit lnSpcReduction="10000"/>
          </a:bodyPr>
          <a:lstStyle/>
          <a:p>
            <a:pPr>
              <a:spcBef>
                <a:spcPts val="1200"/>
              </a:spcBef>
            </a:pPr>
            <a:r>
              <a:rPr lang="en-US" sz="1700" dirty="0" smtClean="0"/>
              <a:t>The entire body, including out-of-band information such as record lengths and possibly file attribute information, is converted to a universal canonical form</a:t>
            </a:r>
          </a:p>
          <a:p>
            <a:pPr>
              <a:spcBef>
                <a:spcPts val="1200"/>
              </a:spcBef>
            </a:pPr>
            <a:r>
              <a:rPr lang="en-US" sz="1700" dirty="0" smtClean="0"/>
              <a:t>The specific media type of the body as well as its associated attributes dictates the nature of the canonical form that is used</a:t>
            </a:r>
          </a:p>
          <a:p>
            <a:pPr>
              <a:spcBef>
                <a:spcPts val="1200"/>
              </a:spcBef>
            </a:pPr>
            <a:r>
              <a:rPr lang="en-US" sz="1700" dirty="0" smtClean="0"/>
              <a:t>Conversion to the proper canonical form may involve character set conversion, transformation of audio data, compression, or various other operations specific to the various media types</a:t>
            </a:r>
          </a:p>
        </p:txBody>
      </p:sp>
      <p:sp>
        <p:nvSpPr>
          <p:cNvPr id="5" name="Footer Placeholder 4"/>
          <p:cNvSpPr>
            <a:spLocks noGrp="1"/>
          </p:cNvSpPr>
          <p:nvPr>
            <p:ph type="ftr" sz="quarter" idx="11"/>
          </p:nvPr>
        </p:nvSpPr>
        <p:spPr>
          <a:xfrm>
            <a:off x="0" y="6492875"/>
            <a:ext cx="47244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Email Security Threats</a:t>
            </a:r>
            <a:endParaRPr lang="en-US" dirty="0"/>
          </a:p>
        </p:txBody>
      </p:sp>
      <p:sp>
        <p:nvSpPr>
          <p:cNvPr id="7" name="Content Placeholder 6"/>
          <p:cNvSpPr>
            <a:spLocks noGrp="1"/>
          </p:cNvSpPr>
          <p:nvPr>
            <p:ph idx="1"/>
          </p:nvPr>
        </p:nvSpPr>
        <p:spPr/>
        <p:txBody>
          <a:bodyPr>
            <a:normAutofit fontScale="77500" lnSpcReduction="20000"/>
          </a:bodyPr>
          <a:lstStyle/>
          <a:p>
            <a:r>
              <a:rPr lang="en-US" dirty="0" smtClean="0"/>
              <a:t>Authenticity-related threats</a:t>
            </a:r>
          </a:p>
          <a:p>
            <a:pPr lvl="1"/>
            <a:r>
              <a:rPr lang="en-US" dirty="0" smtClean="0"/>
              <a:t>Could result in unauthorized access to an enterprise’s email system</a:t>
            </a:r>
          </a:p>
          <a:p>
            <a:r>
              <a:rPr lang="en-US" dirty="0" smtClean="0"/>
              <a:t>Integrity-related threats</a:t>
            </a:r>
          </a:p>
          <a:p>
            <a:pPr lvl="1"/>
            <a:r>
              <a:rPr lang="en-US" dirty="0" smtClean="0"/>
              <a:t>Could result in unauthorized modification of email content</a:t>
            </a:r>
          </a:p>
          <a:p>
            <a:r>
              <a:rPr lang="en-US" dirty="0" smtClean="0"/>
              <a:t>Confidentiality-related threats</a:t>
            </a:r>
          </a:p>
          <a:p>
            <a:pPr lvl="1"/>
            <a:r>
              <a:rPr lang="en-US" dirty="0" smtClean="0"/>
              <a:t>Could result in unauthorized disclosure of sensitive information</a:t>
            </a:r>
          </a:p>
          <a:p>
            <a:r>
              <a:rPr lang="en-US" dirty="0" smtClean="0"/>
              <a:t>Availability-related threats</a:t>
            </a:r>
          </a:p>
          <a:p>
            <a:pPr lvl="1"/>
            <a:r>
              <a:rPr lang="en-US" dirty="0" smtClean="0"/>
              <a:t>Could prevent end users from being able to send or receive mail</a:t>
            </a:r>
            <a:endParaRPr lang="en-US" dirty="0"/>
          </a:p>
        </p:txBody>
      </p:sp>
      <p:sp>
        <p:nvSpPr>
          <p:cNvPr id="5" name="Footer Placeholder 4"/>
          <p:cNvSpPr>
            <a:spLocks noGrp="1"/>
          </p:cNvSpPr>
          <p:nvPr>
            <p:ph type="ftr" sz="quarter" idx="11"/>
          </p:nvPr>
        </p:nvSpPr>
        <p:spPr>
          <a:xfrm>
            <a:off x="0" y="6492875"/>
            <a:ext cx="4953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3267075" cy="365125"/>
          </a:xfrm>
        </p:spPr>
        <p:txBody>
          <a:bodyPr/>
          <a:lstStyle/>
          <a:p>
            <a:pPr>
              <a:defRPr/>
            </a:pPr>
            <a:r>
              <a:rPr lang="en-US" sz="1050" dirty="0" smtClean="0"/>
              <a:t>© 2017 Pearson Education, Inc., Hoboken, NJ. All rights reserved.         </a:t>
            </a:r>
            <a:endParaRPr lang="en-US" sz="1050" dirty="0"/>
          </a:p>
        </p:txBody>
      </p:sp>
      <p:pic>
        <p:nvPicPr>
          <p:cNvPr id="5" name="Picture 4"/>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3281754" y="0"/>
            <a:ext cx="5862246" cy="7012665"/>
          </a:xfrm>
          <a:prstGeom prst="rect">
            <a:avLst/>
          </a:prstGeom>
        </p:spPr>
      </p:pic>
      <p:sp>
        <p:nvSpPr>
          <p:cNvPr id="6" name="TextBox 5"/>
          <p:cNvSpPr txBox="1"/>
          <p:nvPr/>
        </p:nvSpPr>
        <p:spPr>
          <a:xfrm>
            <a:off x="228600" y="1320800"/>
            <a:ext cx="2819400" cy="2800767"/>
          </a:xfrm>
          <a:prstGeom prst="rect">
            <a:avLst/>
          </a:prstGeom>
          <a:noFill/>
        </p:spPr>
        <p:txBody>
          <a:bodyPr wrap="square" rtlCol="0">
            <a:spAutoFit/>
          </a:bodyPr>
          <a:lstStyle/>
          <a:p>
            <a:pPr algn="ctr"/>
            <a:r>
              <a:rPr lang="en-US" sz="3600" b="1" dirty="0" smtClean="0">
                <a:latin typeface="+mn-lt"/>
              </a:rPr>
              <a:t>Table 19.3   </a:t>
            </a:r>
            <a:r>
              <a:rPr lang="en-US" sz="3600" b="1" dirty="0" smtClean="0">
                <a:latin typeface="+mn-lt"/>
              </a:rPr>
              <a:t> </a:t>
            </a:r>
          </a:p>
          <a:p>
            <a:pPr algn="ctr"/>
            <a:endParaRPr lang="en-US" sz="2800" b="1" dirty="0" smtClean="0">
              <a:latin typeface="+mn-lt"/>
            </a:endParaRPr>
          </a:p>
          <a:p>
            <a:pPr algn="ctr"/>
            <a:endParaRPr lang="en-US" sz="2800" b="1" dirty="0" smtClean="0">
              <a:latin typeface="+mn-lt"/>
            </a:endParaRPr>
          </a:p>
          <a:p>
            <a:pPr algn="ctr"/>
            <a:r>
              <a:rPr lang="en-US" sz="2800" b="1" dirty="0" smtClean="0">
                <a:latin typeface="+mn-lt"/>
              </a:rPr>
              <a:t>Email </a:t>
            </a:r>
            <a:r>
              <a:rPr lang="en-US" sz="2800" b="1" dirty="0" smtClean="0">
                <a:latin typeface="+mn-lt"/>
              </a:rPr>
              <a:t>Threats</a:t>
            </a:r>
            <a:r>
              <a:rPr lang="en-US" sz="2800" b="1" dirty="0" smtClean="0">
                <a:latin typeface="+mn-lt"/>
              </a:rPr>
              <a:t> </a:t>
            </a:r>
          </a:p>
          <a:p>
            <a:pPr algn="ctr"/>
            <a:r>
              <a:rPr lang="en-US" sz="2800" b="1" dirty="0" smtClean="0">
                <a:latin typeface="+mn-lt"/>
              </a:rPr>
              <a:t>and </a:t>
            </a:r>
          </a:p>
          <a:p>
            <a:pPr algn="ctr"/>
            <a:r>
              <a:rPr lang="en-US" sz="2800" b="1" dirty="0" smtClean="0">
                <a:latin typeface="+mn-lt"/>
              </a:rPr>
              <a:t>Mitigations </a:t>
            </a:r>
            <a:endParaRPr lang="en-US" sz="2800" b="1" dirty="0">
              <a:latin typeface="+mn-lt"/>
            </a:endParaRPr>
          </a:p>
        </p:txBody>
      </p:sp>
      <p:sp>
        <p:nvSpPr>
          <p:cNvPr id="7" name="TextBox 6"/>
          <p:cNvSpPr txBox="1"/>
          <p:nvPr/>
        </p:nvSpPr>
        <p:spPr>
          <a:xfrm>
            <a:off x="228600" y="4800600"/>
            <a:ext cx="2819400" cy="461665"/>
          </a:xfrm>
          <a:prstGeom prst="rect">
            <a:avLst/>
          </a:prstGeom>
          <a:noFill/>
        </p:spPr>
        <p:txBody>
          <a:bodyPr wrap="square" rtlCol="0">
            <a:spAutoFit/>
          </a:bodyPr>
          <a:lstStyle/>
          <a:p>
            <a:r>
              <a:rPr lang="en-US" sz="1200" dirty="0" smtClean="0"/>
              <a:t>(Table can be found on page 608 in the textbook)</a:t>
            </a:r>
            <a:endParaRPr lang="en-US" sz="12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Counter Threat Protocols</a:t>
            </a:r>
            <a:endParaRPr lang="en-US" dirty="0"/>
          </a:p>
        </p:txBody>
      </p:sp>
      <p:sp>
        <p:nvSpPr>
          <p:cNvPr id="3" name="Content Placeholder 2"/>
          <p:cNvSpPr>
            <a:spLocks noGrp="1"/>
          </p:cNvSpPr>
          <p:nvPr>
            <p:ph idx="1"/>
          </p:nvPr>
        </p:nvSpPr>
        <p:spPr>
          <a:xfrm>
            <a:off x="792163" y="1762125"/>
            <a:ext cx="7570787" cy="4714875"/>
          </a:xfrm>
        </p:spPr>
        <p:txBody>
          <a:bodyPr>
            <a:normAutofit fontScale="77500" lnSpcReduction="20000"/>
          </a:bodyPr>
          <a:lstStyle/>
          <a:p>
            <a:r>
              <a:rPr lang="en-US" dirty="0" smtClean="0"/>
              <a:t>SP800-177 recommends use of a variety of standardized protocols as a means for countering threats:</a:t>
            </a:r>
          </a:p>
          <a:p>
            <a:pPr lvl="2"/>
            <a:r>
              <a:rPr lang="en-US" dirty="0" smtClean="0"/>
              <a:t>STARTTLS</a:t>
            </a:r>
          </a:p>
          <a:p>
            <a:pPr lvl="3"/>
            <a:r>
              <a:rPr lang="en-US" dirty="0" smtClean="0"/>
              <a:t>An SMPT security extension that provides authentication, integrity, non-repudiation and confidentiality for the entire SMTP message by running SMTP over TLS</a:t>
            </a:r>
          </a:p>
          <a:p>
            <a:pPr lvl="2"/>
            <a:r>
              <a:rPr lang="en-US" dirty="0" smtClean="0"/>
              <a:t>S/MIME</a:t>
            </a:r>
          </a:p>
          <a:p>
            <a:pPr lvl="3"/>
            <a:r>
              <a:rPr lang="en-US" dirty="0" smtClean="0"/>
              <a:t>Provides authentication, integrity, non-repudiation and confidentiality of the message body carried in SMTP messages</a:t>
            </a:r>
          </a:p>
          <a:p>
            <a:pPr lvl="2"/>
            <a:r>
              <a:rPr lang="en-US" dirty="0" smtClean="0"/>
              <a:t>DNS Security Extensions (DNSSEC)</a:t>
            </a:r>
          </a:p>
          <a:p>
            <a:pPr lvl="3"/>
            <a:r>
              <a:rPr lang="en-US" dirty="0" smtClean="0"/>
              <a:t>Provides authentication and integrity protection of DNS data, and is an underlying tool used by various email security protocols</a:t>
            </a:r>
          </a:p>
          <a:p>
            <a:pPr lvl="2"/>
            <a:r>
              <a:rPr lang="en-US" dirty="0" smtClean="0"/>
              <a:t>DNS-based Authentication of Named Entities (DANE)</a:t>
            </a:r>
          </a:p>
          <a:p>
            <a:pPr lvl="3"/>
            <a:r>
              <a:rPr lang="en-US" dirty="0" smtClean="0"/>
              <a:t>Is designed to overcome problems in the certificate authority (CA) system by providing an alternative channel for authenticating public keys based on DNSSEC, with the result that the same trust relationships used to certify IP addresses are used to certify servers operating on those addresses</a:t>
            </a:r>
            <a:endParaRPr lang="en-US" dirty="0"/>
          </a:p>
        </p:txBody>
      </p:sp>
      <p:sp>
        <p:nvSpPr>
          <p:cNvPr id="4" name="Footer Placeholder 3"/>
          <p:cNvSpPr>
            <a:spLocks noGrp="1"/>
          </p:cNvSpPr>
          <p:nvPr>
            <p:ph type="ftr" sz="quarter" idx="11"/>
          </p:nvPr>
        </p:nvSpPr>
        <p:spPr>
          <a:xfrm>
            <a:off x="0" y="6492875"/>
            <a:ext cx="67818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Counter Threat Protocols</a:t>
            </a:r>
            <a:endParaRPr lang="en-US" dirty="0"/>
          </a:p>
        </p:txBody>
      </p:sp>
      <p:sp>
        <p:nvSpPr>
          <p:cNvPr id="3" name="Content Placeholder 2"/>
          <p:cNvSpPr>
            <a:spLocks noGrp="1"/>
          </p:cNvSpPr>
          <p:nvPr>
            <p:ph idx="1"/>
          </p:nvPr>
        </p:nvSpPr>
        <p:spPr>
          <a:xfrm>
            <a:off x="762000" y="1600200"/>
            <a:ext cx="7570787" cy="5095875"/>
          </a:xfrm>
        </p:spPr>
        <p:txBody>
          <a:bodyPr>
            <a:normAutofit fontScale="85000" lnSpcReduction="20000"/>
          </a:bodyPr>
          <a:lstStyle/>
          <a:p>
            <a:r>
              <a:rPr lang="en-US" dirty="0" smtClean="0"/>
              <a:t>SP800-177 recommends use of a variety of standardized protocols as a means for countering threats:</a:t>
            </a:r>
          </a:p>
          <a:p>
            <a:pPr lvl="2"/>
            <a:r>
              <a:rPr lang="en-US" dirty="0" smtClean="0"/>
              <a:t>Sender Policy Framework (SPF)</a:t>
            </a:r>
          </a:p>
          <a:p>
            <a:pPr lvl="3"/>
            <a:r>
              <a:rPr lang="en-US" dirty="0" smtClean="0"/>
              <a:t>Uses the Domain Name System (DNS) to allow domain owners to create records that associate the domain name with a specific IP address range of authorized message senders.</a:t>
            </a:r>
          </a:p>
          <a:p>
            <a:pPr lvl="2"/>
            <a:r>
              <a:rPr lang="en-US" dirty="0" err="1" smtClean="0"/>
              <a:t>D</a:t>
            </a:r>
            <a:r>
              <a:rPr lang="en-US" dirty="0" err="1" smtClean="0"/>
              <a:t>omainKeys</a:t>
            </a:r>
            <a:r>
              <a:rPr lang="en-US" dirty="0" smtClean="0"/>
              <a:t> Identified Mail (DKIM)</a:t>
            </a:r>
          </a:p>
          <a:p>
            <a:pPr lvl="3"/>
            <a:r>
              <a:rPr lang="en-US" dirty="0" smtClean="0"/>
              <a:t>Enables an MTA to sign selected headers and the body of a message.  This validates the source domain of the mail and provides message body integrity</a:t>
            </a:r>
          </a:p>
          <a:p>
            <a:pPr lvl="2"/>
            <a:r>
              <a:rPr lang="en-US" dirty="0" smtClean="0"/>
              <a:t>Domain-based Message Authentication, Reporting, and Conformance (DMARC)</a:t>
            </a:r>
          </a:p>
          <a:p>
            <a:pPr lvl="3"/>
            <a:r>
              <a:rPr lang="en-US" dirty="0" smtClean="0"/>
              <a:t>Lets senders know the proportionate effectiveness of their SPF and DKIM policies, and signals to receivers what action should be taken in various individual and bulk attack scenarios</a:t>
            </a:r>
            <a:endParaRPr lang="en-US" dirty="0"/>
          </a:p>
        </p:txBody>
      </p:sp>
      <p:sp>
        <p:nvSpPr>
          <p:cNvPr id="4" name="Footer Placeholder 3"/>
          <p:cNvSpPr>
            <a:spLocks noGrp="1"/>
          </p:cNvSpPr>
          <p:nvPr>
            <p:ph type="ftr" sz="quarter" idx="11"/>
          </p:nvPr>
        </p:nvSpPr>
        <p:spPr>
          <a:xfrm>
            <a:off x="0" y="6492875"/>
            <a:ext cx="67818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4800600" cy="365125"/>
          </a:xfrm>
        </p:spPr>
        <p:txBody>
          <a:bodyPr/>
          <a:lstStyle/>
          <a:p>
            <a:pPr>
              <a:defRPr/>
            </a:pPr>
            <a:r>
              <a:rPr lang="en-US" sz="1050" dirty="0" smtClean="0"/>
              <a:t>© 2017 Pearson Education, Inc., Hoboken, NJ. All rights reserved.         </a:t>
            </a:r>
            <a:endParaRPr lang="en-US" sz="1050" dirty="0"/>
          </a:p>
        </p:txBody>
      </p:sp>
      <p:pic>
        <p:nvPicPr>
          <p:cNvPr id="5" name="Picture 4" descr="f04.pdf"/>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1524000" y="-685800"/>
            <a:ext cx="5943600" cy="7691717"/>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sz="4800" dirty="0" smtClean="0"/>
              <a:t>Secure/Multipurpose Internet Mail Extension (S/MIME)</a:t>
            </a:r>
            <a:endParaRPr lang="en-US" sz="4800" dirty="0"/>
          </a:p>
        </p:txBody>
      </p:sp>
      <p:sp>
        <p:nvSpPr>
          <p:cNvPr id="3" name="Content Placeholder 2"/>
          <p:cNvSpPr>
            <a:spLocks noGrp="1"/>
          </p:cNvSpPr>
          <p:nvPr>
            <p:ph idx="1"/>
          </p:nvPr>
        </p:nvSpPr>
        <p:spPr>
          <a:xfrm>
            <a:off x="533400" y="1828800"/>
            <a:ext cx="7239000" cy="4876800"/>
          </a:xfrm>
        </p:spPr>
        <p:txBody>
          <a:bodyPr>
            <a:normAutofit fontScale="77500" lnSpcReduction="20000"/>
          </a:bodyPr>
          <a:lstStyle/>
          <a:p>
            <a:r>
              <a:rPr lang="en-US" dirty="0" smtClean="0"/>
              <a:t>A security enhancement to the MIME Internet e-mail format standard based on technology from RSA Data </a:t>
            </a:r>
            <a:r>
              <a:rPr lang="en-US" dirty="0" smtClean="0"/>
              <a:t>Security</a:t>
            </a:r>
          </a:p>
          <a:p>
            <a:r>
              <a:rPr lang="en-US" dirty="0" smtClean="0"/>
              <a:t>The most important documents relevant to S/MIME include:</a:t>
            </a:r>
          </a:p>
          <a:p>
            <a:pPr lvl="1"/>
            <a:r>
              <a:rPr lang="en-US" dirty="0" smtClean="0"/>
              <a:t>RFC 5750, S/MIME Version 3.2 Certificate Handling</a:t>
            </a:r>
          </a:p>
          <a:p>
            <a:pPr lvl="1"/>
            <a:r>
              <a:rPr lang="en-US" dirty="0" smtClean="0"/>
              <a:t>RFC 5751, S/MIME Version 3.2 Message Specification</a:t>
            </a:r>
          </a:p>
          <a:p>
            <a:pPr lvl="1"/>
            <a:r>
              <a:rPr lang="en-US" dirty="0" smtClean="0"/>
              <a:t>RFC 4134, Examples of S/MIME Messages</a:t>
            </a:r>
          </a:p>
          <a:p>
            <a:pPr lvl="1"/>
            <a:r>
              <a:rPr lang="en-US" dirty="0" smtClean="0"/>
              <a:t>RFC 2634, Enhanced Security Services for S/MIME</a:t>
            </a:r>
          </a:p>
          <a:p>
            <a:pPr lvl="1"/>
            <a:r>
              <a:rPr lang="en-US" dirty="0" smtClean="0"/>
              <a:t>RFC 5652, Cryptographic Message Syntax (CMS)</a:t>
            </a:r>
          </a:p>
          <a:p>
            <a:pPr lvl="1"/>
            <a:r>
              <a:rPr lang="en-US" dirty="0" smtClean="0"/>
              <a:t>RFC 3370, CMS Algorithms</a:t>
            </a:r>
          </a:p>
          <a:p>
            <a:pPr lvl="1"/>
            <a:r>
              <a:rPr lang="en-US" dirty="0" smtClean="0"/>
              <a:t>RFC 5752, Multiple Signatures in CMS</a:t>
            </a:r>
          </a:p>
          <a:p>
            <a:pPr lvl="1"/>
            <a:r>
              <a:rPr lang="en-US" dirty="0" smtClean="0"/>
              <a:t>RFC 1847, Security </a:t>
            </a:r>
            <a:r>
              <a:rPr lang="en-US" dirty="0" err="1" smtClean="0"/>
              <a:t>Multiparts</a:t>
            </a:r>
            <a:r>
              <a:rPr lang="en-US" dirty="0" smtClean="0"/>
              <a:t> for MIME –                    Multipart/Signed and Multipart/Encrypted</a:t>
            </a:r>
            <a:endParaRPr lang="en-US" dirty="0" smtClean="0"/>
          </a:p>
        </p:txBody>
      </p:sp>
      <p:pic>
        <p:nvPicPr>
          <p:cNvPr id="4" name="Picture 3"/>
          <p:cNvPicPr>
            <a:picLocks noChangeAspect="1"/>
          </p:cNvPicPr>
          <p:nvPr/>
        </p:nvPicPr>
        <p:blipFill>
          <a:blip r:embed="rId3"/>
          <a:stretch>
            <a:fillRect/>
          </a:stretch>
        </p:blipFill>
        <p:spPr>
          <a:xfrm>
            <a:off x="6705600" y="4495800"/>
            <a:ext cx="1993677" cy="2171458"/>
          </a:xfrm>
          <a:prstGeom prst="rect">
            <a:avLst/>
          </a:prstGeom>
        </p:spPr>
      </p:pic>
      <p:sp>
        <p:nvSpPr>
          <p:cNvPr id="5" name="Footer Placeholder 4"/>
          <p:cNvSpPr>
            <a:spLocks noGrp="1"/>
          </p:cNvSpPr>
          <p:nvPr>
            <p:ph type="ftr" sz="quarter" idx="11"/>
          </p:nvPr>
        </p:nvSpPr>
        <p:spPr>
          <a:xfrm>
            <a:off x="0" y="6492875"/>
            <a:ext cx="5334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8" name="Picture 7"/>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381000" y="1295400"/>
            <a:ext cx="8532886" cy="5391070"/>
          </a:xfrm>
          <a:prstGeom prst="rect">
            <a:avLst/>
          </a:prstGeom>
        </p:spPr>
      </p:pic>
      <p:sp>
        <p:nvSpPr>
          <p:cNvPr id="9" name="TextBox 8"/>
          <p:cNvSpPr txBox="1"/>
          <p:nvPr/>
        </p:nvSpPr>
        <p:spPr>
          <a:xfrm>
            <a:off x="0" y="0"/>
            <a:ext cx="9144000" cy="1477328"/>
          </a:xfrm>
          <a:prstGeom prst="rect">
            <a:avLst/>
          </a:prstGeom>
          <a:noFill/>
        </p:spPr>
        <p:txBody>
          <a:bodyPr wrap="square" rtlCol="0">
            <a:spAutoFit/>
          </a:bodyPr>
          <a:lstStyle/>
          <a:p>
            <a:pPr algn="ctr"/>
            <a:r>
              <a:rPr lang="en-US" sz="3600" dirty="0">
                <a:latin typeface="+mn-lt"/>
              </a:rPr>
              <a:t>Table </a:t>
            </a:r>
            <a:r>
              <a:rPr lang="en-US" sz="3600" dirty="0" smtClean="0">
                <a:latin typeface="+mn-lt"/>
              </a:rPr>
              <a:t>19.4</a:t>
            </a:r>
            <a:endParaRPr lang="en-US" sz="1600" dirty="0" smtClean="0">
              <a:latin typeface="+mn-lt"/>
            </a:endParaRPr>
          </a:p>
          <a:p>
            <a:pPr algn="ctr">
              <a:lnSpc>
                <a:spcPct val="0"/>
              </a:lnSpc>
            </a:pPr>
            <a:endParaRPr lang="en-US" sz="3600" dirty="0" smtClean="0">
              <a:latin typeface="+mn-lt"/>
            </a:endParaRPr>
          </a:p>
          <a:p>
            <a:pPr algn="ctr">
              <a:lnSpc>
                <a:spcPct val="0"/>
              </a:lnSpc>
            </a:pPr>
            <a:r>
              <a:rPr lang="en-US" sz="3600" dirty="0" smtClean="0">
                <a:latin typeface="+mn-lt"/>
              </a:rPr>
              <a:t>  </a:t>
            </a:r>
          </a:p>
          <a:p>
            <a:pPr algn="ctr"/>
            <a:r>
              <a:rPr lang="en-US" sz="3600" dirty="0" smtClean="0">
                <a:latin typeface="+mn-lt"/>
              </a:rPr>
              <a:t>Summary </a:t>
            </a:r>
            <a:r>
              <a:rPr lang="en-US" sz="3600" dirty="0">
                <a:latin typeface="+mn-lt"/>
              </a:rPr>
              <a:t>of</a:t>
            </a:r>
            <a:r>
              <a:rPr lang="en-US" sz="3600" dirty="0" smtClean="0">
                <a:latin typeface="+mn-lt"/>
              </a:rPr>
              <a:t> S/MIME </a:t>
            </a:r>
            <a:r>
              <a:rPr lang="en-US" sz="3600" dirty="0">
                <a:latin typeface="+mn-lt"/>
              </a:rPr>
              <a:t>Services</a:t>
            </a:r>
          </a:p>
          <a:p>
            <a:endParaRPr lang="en-US" dirty="0"/>
          </a:p>
        </p:txBody>
      </p:sp>
      <p:sp>
        <p:nvSpPr>
          <p:cNvPr id="4" name="Footer Placeholder 3"/>
          <p:cNvSpPr>
            <a:spLocks noGrp="1"/>
          </p:cNvSpPr>
          <p:nvPr>
            <p:ph type="ftr" sz="quarter" idx="11"/>
          </p:nvPr>
        </p:nvSpPr>
        <p:spPr>
          <a:xfrm>
            <a:off x="0" y="6492875"/>
            <a:ext cx="51816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ransition>
    <p:dissolv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Authentication </a:t>
            </a:r>
            <a:endParaRPr lang="en-US" dirty="0"/>
          </a:p>
        </p:txBody>
      </p:sp>
      <p:sp>
        <p:nvSpPr>
          <p:cNvPr id="7" name="Content Placeholder 6"/>
          <p:cNvSpPr>
            <a:spLocks noGrp="1"/>
          </p:cNvSpPr>
          <p:nvPr>
            <p:ph idx="1"/>
          </p:nvPr>
        </p:nvSpPr>
        <p:spPr>
          <a:xfrm>
            <a:off x="381000" y="1600200"/>
            <a:ext cx="7723187" cy="5095875"/>
          </a:xfrm>
        </p:spPr>
        <p:txBody>
          <a:bodyPr>
            <a:normAutofit fontScale="77500" lnSpcReduction="20000"/>
          </a:bodyPr>
          <a:lstStyle/>
          <a:p>
            <a:r>
              <a:rPr lang="en-US" dirty="0" smtClean="0"/>
              <a:t>Provided by means of a digital signature</a:t>
            </a:r>
          </a:p>
          <a:p>
            <a:pPr lvl="1"/>
            <a:r>
              <a:rPr lang="en-US" dirty="0" smtClean="0"/>
              <a:t>The sender creates a message</a:t>
            </a:r>
          </a:p>
          <a:p>
            <a:pPr lvl="1"/>
            <a:r>
              <a:rPr lang="en-US" dirty="0" smtClean="0"/>
              <a:t>SHA-256 is used to generate a 256-bit message digest of the message</a:t>
            </a:r>
          </a:p>
          <a:p>
            <a:pPr lvl="1"/>
            <a:r>
              <a:rPr lang="en-US" dirty="0" smtClean="0"/>
              <a:t>The message digest is encrypted with RSA using the sender’s private key, and the result is appended to the message.  Also appended is identifying information for the signer, which will enable the receiver to retrieve the signer’s public key</a:t>
            </a:r>
          </a:p>
          <a:p>
            <a:pPr lvl="1"/>
            <a:r>
              <a:rPr lang="en-US" dirty="0" smtClean="0"/>
              <a:t>The receiver uses RSA with the sender’s public key to decrypt and recover the message digest</a:t>
            </a:r>
          </a:p>
          <a:p>
            <a:pPr lvl="1"/>
            <a:r>
              <a:rPr lang="en-US" dirty="0" smtClean="0"/>
              <a:t>The receiver generates a new message digest for the message and compares it with the decrypted hash code.  If the two match, the message is accepted as authentic</a:t>
            </a:r>
          </a:p>
          <a:p>
            <a:r>
              <a:rPr lang="en-US" dirty="0" smtClean="0"/>
              <a:t>Detached signatures are supported</a:t>
            </a:r>
          </a:p>
          <a:p>
            <a:pPr lvl="1"/>
            <a:r>
              <a:rPr lang="en-US" dirty="0" smtClean="0"/>
              <a:t>A detached signature may be stored and                       transmitted separately from the message it signs</a:t>
            </a:r>
          </a:p>
          <a:p>
            <a:endParaRPr lang="en-US" dirty="0"/>
          </a:p>
        </p:txBody>
      </p:sp>
      <p:sp>
        <p:nvSpPr>
          <p:cNvPr id="4" name="Footer Placeholder 3"/>
          <p:cNvSpPr>
            <a:spLocks noGrp="1"/>
          </p:cNvSpPr>
          <p:nvPr>
            <p:ph type="ftr" sz="quarter" idx="11"/>
          </p:nvPr>
        </p:nvSpPr>
        <p:spPr>
          <a:xfrm>
            <a:off x="0" y="6492875"/>
            <a:ext cx="4876800" cy="365125"/>
          </a:xfrm>
        </p:spPr>
        <p:txBody>
          <a:bodyPr/>
          <a:lstStyle/>
          <a:p>
            <a:r>
              <a:rPr lang="en-US" sz="1050" dirty="0" smtClean="0"/>
              <a:t>© 2017 Pearson Education, Inc., Hoboken, NJ. All rights reserved.         </a:t>
            </a:r>
            <a:endParaRPr lang="en-US" sz="1050" dirty="0"/>
          </a:p>
        </p:txBody>
      </p:sp>
      <p:pic>
        <p:nvPicPr>
          <p:cNvPr id="8" name="Picture 7"/>
          <p:cNvPicPr>
            <a:picLocks noChangeAspect="1"/>
          </p:cNvPicPr>
          <p:nvPr/>
        </p:nvPicPr>
        <p:blipFill>
          <a:blip r:embed="rId3"/>
          <a:stretch>
            <a:fillRect/>
          </a:stretch>
        </p:blipFill>
        <p:spPr>
          <a:xfrm>
            <a:off x="6400800" y="4813300"/>
            <a:ext cx="2603500" cy="2044700"/>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C</a:t>
            </a:r>
            <a:r>
              <a:rPr lang="en-US" dirty="0" smtClean="0"/>
              <a:t>onfidentiality </a:t>
            </a:r>
            <a:endParaRPr lang="en-US" dirty="0"/>
          </a:p>
        </p:txBody>
      </p:sp>
      <p:sp>
        <p:nvSpPr>
          <p:cNvPr id="7" name="Content Placeholder 6"/>
          <p:cNvSpPr>
            <a:spLocks noGrp="1"/>
          </p:cNvSpPr>
          <p:nvPr>
            <p:ph idx="1"/>
          </p:nvPr>
        </p:nvSpPr>
        <p:spPr>
          <a:xfrm>
            <a:off x="762000" y="1676400"/>
            <a:ext cx="7570787" cy="4791075"/>
          </a:xfrm>
        </p:spPr>
        <p:txBody>
          <a:bodyPr>
            <a:normAutofit fontScale="77500" lnSpcReduction="20000"/>
          </a:bodyPr>
          <a:lstStyle/>
          <a:p>
            <a:pPr>
              <a:spcBef>
                <a:spcPts val="1200"/>
              </a:spcBef>
            </a:pPr>
            <a:r>
              <a:rPr lang="en-US" dirty="0" smtClean="0"/>
              <a:t>S/MIME provides confidentiality by encrypting messages</a:t>
            </a:r>
          </a:p>
          <a:p>
            <a:pPr lvl="1">
              <a:spcBef>
                <a:spcPts val="1200"/>
              </a:spcBef>
            </a:pPr>
            <a:r>
              <a:rPr lang="en-US" dirty="0" smtClean="0"/>
              <a:t>Most commonly AES with a 128-bit key is used, with the cipher block chaining (CBC) mode</a:t>
            </a:r>
          </a:p>
          <a:p>
            <a:pPr marL="342900" lvl="1" indent="-342900">
              <a:spcBef>
                <a:spcPts val="1200"/>
              </a:spcBef>
              <a:buClr>
                <a:srgbClr val="BAABE3"/>
              </a:buClr>
            </a:pPr>
            <a:r>
              <a:rPr lang="en-US" sz="2800" dirty="0" smtClean="0">
                <a:cs typeface="ＭＳ Ｐゴシック" pitchFamily="-84" charset="-128"/>
              </a:rPr>
              <a:t>The key itself is also encrypted, typically with </a:t>
            </a:r>
            <a:r>
              <a:rPr lang="en-US" sz="2800" dirty="0" smtClean="0">
                <a:cs typeface="ＭＳ Ｐゴシック" pitchFamily="-84" charset="-128"/>
              </a:rPr>
              <a:t>RSA</a:t>
            </a:r>
          </a:p>
          <a:p>
            <a:pPr marL="342900" lvl="1" indent="-342900">
              <a:spcBef>
                <a:spcPts val="1200"/>
              </a:spcBef>
              <a:buClr>
                <a:srgbClr val="BAABE3"/>
              </a:buClr>
            </a:pPr>
            <a:r>
              <a:rPr lang="en-US" sz="2800" dirty="0" smtClean="0">
                <a:cs typeface="ＭＳ Ｐゴシック" pitchFamily="-84" charset="-128"/>
              </a:rPr>
              <a:t>Each symmetric key, referred to as a content-encryption key, is used only once</a:t>
            </a:r>
          </a:p>
          <a:p>
            <a:pPr marL="692150" lvl="2" indent="-342900">
              <a:spcBef>
                <a:spcPts val="1200"/>
              </a:spcBef>
            </a:pPr>
            <a:r>
              <a:rPr lang="en-US" dirty="0" smtClean="0">
                <a:cs typeface="ＭＳ Ｐゴシック" pitchFamily="-84" charset="-128"/>
              </a:rPr>
              <a:t>A new key is generated as a random number for each message</a:t>
            </a:r>
          </a:p>
          <a:p>
            <a:pPr marL="692150" lvl="2" indent="-342900">
              <a:spcBef>
                <a:spcPts val="1200"/>
              </a:spcBef>
            </a:pPr>
            <a:r>
              <a:rPr lang="en-US" dirty="0" smtClean="0">
                <a:cs typeface="ＭＳ Ｐゴシック" pitchFamily="-84" charset="-128"/>
              </a:rPr>
              <a:t>Because it is to be used only once, the content-encryption key is bound to the message and transmitted with it</a:t>
            </a:r>
          </a:p>
          <a:p>
            <a:pPr marL="692150" lvl="2" indent="-342900">
              <a:spcBef>
                <a:spcPts val="1200"/>
              </a:spcBef>
            </a:pPr>
            <a:r>
              <a:rPr lang="en-US" dirty="0" smtClean="0">
                <a:cs typeface="ＭＳ Ｐゴシック" pitchFamily="-84" charset="-128"/>
              </a:rPr>
              <a:t>To protect the key, it is encrypted with the receiver’s public key</a:t>
            </a:r>
          </a:p>
          <a:p>
            <a:pPr marL="692150" lvl="2" indent="-342900">
              <a:spcBef>
                <a:spcPts val="1200"/>
              </a:spcBef>
            </a:pPr>
            <a:r>
              <a:rPr lang="en-US" dirty="0" smtClean="0">
                <a:cs typeface="ＭＳ Ｐゴシック" pitchFamily="-84" charset="-128"/>
              </a:rPr>
              <a:t>To reduce encryption time, the combination of symmetric and public-key encryption is used</a:t>
            </a:r>
          </a:p>
          <a:p>
            <a:pPr marL="692150" lvl="2" indent="-342900">
              <a:spcBef>
                <a:spcPts val="1200"/>
              </a:spcBef>
            </a:pPr>
            <a:r>
              <a:rPr lang="en-US" dirty="0" smtClean="0">
                <a:cs typeface="ＭＳ Ｐゴシック" pitchFamily="-84" charset="-128"/>
              </a:rPr>
              <a:t>Only the recipient is able to recover the session key that is bound to the message</a:t>
            </a:r>
          </a:p>
          <a:p>
            <a:pPr lvl="1"/>
            <a:endParaRPr lang="en-US" dirty="0"/>
          </a:p>
        </p:txBody>
      </p:sp>
      <p:sp>
        <p:nvSpPr>
          <p:cNvPr id="5" name="Footer Placeholder 4"/>
          <p:cNvSpPr>
            <a:spLocks noGrp="1"/>
          </p:cNvSpPr>
          <p:nvPr>
            <p:ph type="ftr" sz="quarter" idx="11"/>
          </p:nvPr>
        </p:nvSpPr>
        <p:spPr>
          <a:xfrm>
            <a:off x="0" y="6492875"/>
            <a:ext cx="56388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4953000" cy="365125"/>
          </a:xfrm>
        </p:spPr>
        <p:txBody>
          <a:bodyPr/>
          <a:lstStyle/>
          <a:p>
            <a:pPr>
              <a:defRPr/>
            </a:pPr>
            <a:r>
              <a:rPr lang="en-US" sz="1050" dirty="0" smtClean="0"/>
              <a:t>© 2017 Pearson Education, Inc., Hoboken, NJ. All rights reserved.         </a:t>
            </a:r>
            <a:endParaRPr lang="en-US" sz="1050" dirty="0"/>
          </a:p>
        </p:txBody>
      </p:sp>
      <p:pic>
        <p:nvPicPr>
          <p:cNvPr id="5" name="Picture 4" descr="f05.pdf"/>
          <p:cNvPicPr>
            <a:picLocks noChangeAspect="1"/>
          </p:cNvPicPr>
          <p:nvPr/>
        </p:nvPicPr>
        <mc:AlternateContent>
          <mc:Choice xmlns:ma="http://schemas.microsoft.com/office/mac/drawingml/2008/main" Requires="ma">
            <p:blipFill>
              <a:blip r:embed="rId3"/>
              <a:srcRect b="10000"/>
              <a:stretch>
                <a:fillRect/>
              </a:stretch>
            </p:blipFill>
          </mc:Choice>
          <mc:Fallback>
            <p:blipFill>
              <a:blip r:embed="rId4"/>
              <a:srcRect b="10000"/>
              <a:stretch>
                <a:fillRect/>
              </a:stretch>
            </p:blipFill>
          </mc:Fallback>
        </mc:AlternateContent>
        <p:spPr>
          <a:xfrm>
            <a:off x="1524000" y="-228600"/>
            <a:ext cx="5861619" cy="6827072"/>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dirty="0" smtClean="0"/>
              <a:t>E</a:t>
            </a:r>
            <a:r>
              <a:rPr lang="en-US" dirty="0" smtClean="0"/>
              <a:t>-mail Compatibility</a:t>
            </a:r>
            <a:endParaRPr lang="en-AU" dirty="0"/>
          </a:p>
        </p:txBody>
      </p:sp>
      <p:sp>
        <p:nvSpPr>
          <p:cNvPr id="55299" name="Rectangle 3"/>
          <p:cNvSpPr>
            <a:spLocks noGrp="1" noChangeArrowheads="1"/>
          </p:cNvSpPr>
          <p:nvPr>
            <p:ph idx="1"/>
          </p:nvPr>
        </p:nvSpPr>
        <p:spPr>
          <a:xfrm>
            <a:off x="609600" y="1600200"/>
            <a:ext cx="8153400" cy="5029200"/>
          </a:xfrm>
        </p:spPr>
        <p:txBody>
          <a:bodyPr>
            <a:normAutofit fontScale="92500" lnSpcReduction="10000"/>
          </a:bodyPr>
          <a:lstStyle/>
          <a:p>
            <a:r>
              <a:rPr lang="en-US" dirty="0" smtClean="0"/>
              <a:t>Many electronic mail systems only permit the use of blocks consisting of ASCII text</a:t>
            </a:r>
          </a:p>
          <a:p>
            <a:pPr lvl="1"/>
            <a:r>
              <a:rPr lang="en-US" sz="2400" dirty="0" smtClean="0"/>
              <a:t>To accommodate this restriction,</a:t>
            </a:r>
            <a:r>
              <a:rPr lang="en-US" sz="2400" dirty="0" smtClean="0"/>
              <a:t> S/MIME </a:t>
            </a:r>
            <a:r>
              <a:rPr lang="en-US" sz="2400" dirty="0" smtClean="0"/>
              <a:t>provides the service of converting the raw 8-bit binary stream to a stream of printable ASCII characters</a:t>
            </a:r>
          </a:p>
          <a:p>
            <a:pPr lvl="1"/>
            <a:r>
              <a:rPr lang="en-US" sz="2400" dirty="0" smtClean="0"/>
              <a:t>The scheme used for this purpose is</a:t>
            </a:r>
            <a:r>
              <a:rPr lang="en-US" sz="2400" dirty="0" smtClean="0"/>
              <a:t> Base-</a:t>
            </a:r>
            <a:r>
              <a:rPr lang="en-US" sz="2400" dirty="0" smtClean="0"/>
              <a:t>64 conversion</a:t>
            </a:r>
          </a:p>
          <a:p>
            <a:pPr lvl="2"/>
            <a:r>
              <a:rPr lang="en-US" sz="2000" dirty="0" smtClean="0"/>
              <a:t>Each group of three octets of binary data is mapped into four ASCII characters</a:t>
            </a:r>
            <a:endParaRPr lang="en-US" sz="2000" dirty="0" smtClean="0"/>
          </a:p>
          <a:p>
            <a:pPr lvl="2"/>
            <a:r>
              <a:rPr lang="en-AU" sz="2000" dirty="0" smtClean="0"/>
              <a:t>The Base64 algorithm blindly converts the input stream to Base64 format regardless of content, even if the input happens to be ASCII text</a:t>
            </a:r>
          </a:p>
          <a:p>
            <a:pPr marL="342900" lvl="1" indent="-342900">
              <a:spcBef>
                <a:spcPts val="2400"/>
              </a:spcBef>
              <a:buClr>
                <a:srgbClr val="BAABE3"/>
              </a:buClr>
            </a:pPr>
            <a:r>
              <a:rPr lang="en-AU" sz="2595" dirty="0" smtClean="0">
                <a:cs typeface="ＭＳ Ｐゴシック" pitchFamily="-84" charset="-128"/>
              </a:rPr>
              <a:t>RFC 5751 recommends that even if outer 7-bit encoding is not used, the original MIME content should be 7-bit encoded</a:t>
            </a:r>
          </a:p>
        </p:txBody>
      </p:sp>
      <p:sp>
        <p:nvSpPr>
          <p:cNvPr id="4" name="Footer Placeholder 3"/>
          <p:cNvSpPr>
            <a:spLocks noGrp="1"/>
          </p:cNvSpPr>
          <p:nvPr>
            <p:ph type="ftr" sz="quarter" idx="11"/>
          </p:nvPr>
        </p:nvSpPr>
        <p:spPr>
          <a:xfrm>
            <a:off x="0" y="6492875"/>
            <a:ext cx="5334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dirty="0" smtClean="0"/>
              <a:t>Compression</a:t>
            </a:r>
            <a:endParaRPr lang="en-AU" dirty="0"/>
          </a:p>
        </p:txBody>
      </p:sp>
      <p:sp>
        <p:nvSpPr>
          <p:cNvPr id="54275" name="Rectangle 3"/>
          <p:cNvSpPr>
            <a:spLocks noGrp="1" noChangeArrowheads="1"/>
          </p:cNvSpPr>
          <p:nvPr>
            <p:ph idx="1"/>
          </p:nvPr>
        </p:nvSpPr>
        <p:spPr>
          <a:xfrm>
            <a:off x="304800" y="1828800"/>
            <a:ext cx="7162800" cy="5029200"/>
          </a:xfrm>
        </p:spPr>
        <p:txBody>
          <a:bodyPr>
            <a:normAutofit fontScale="85000" lnSpcReduction="10000"/>
          </a:bodyPr>
          <a:lstStyle/>
          <a:p>
            <a:r>
              <a:rPr lang="en-US" dirty="0" smtClean="0"/>
              <a:t>S/MIME offers the ability to compress a message</a:t>
            </a:r>
          </a:p>
          <a:p>
            <a:r>
              <a:rPr lang="en-US" sz="2595" dirty="0" smtClean="0"/>
              <a:t>This has the benefit of saving space both for email transmission and for file storage</a:t>
            </a:r>
          </a:p>
          <a:p>
            <a:r>
              <a:rPr lang="en-US" sz="2595" dirty="0" smtClean="0"/>
              <a:t>Compression can be applied in any order with respect to the signing and message encryption operations</a:t>
            </a:r>
          </a:p>
          <a:p>
            <a:r>
              <a:rPr lang="en-US" sz="2595" dirty="0" smtClean="0"/>
              <a:t>RFC 5751 provides these guidelines:</a:t>
            </a:r>
          </a:p>
          <a:p>
            <a:pPr lvl="1"/>
            <a:r>
              <a:rPr lang="en-US" sz="2395" dirty="0" smtClean="0"/>
              <a:t>Compression of binary encoded encrypted data is discouraged, since it will not yield significant compression; Base64 encrypted data could very well benefit, however</a:t>
            </a:r>
          </a:p>
          <a:p>
            <a:pPr lvl="1"/>
            <a:r>
              <a:rPr lang="en-US" sz="2395" dirty="0" smtClean="0"/>
              <a:t>If a </a:t>
            </a:r>
            <a:r>
              <a:rPr lang="en-US" sz="2395" dirty="0" err="1" smtClean="0"/>
              <a:t>lossy</a:t>
            </a:r>
            <a:r>
              <a:rPr lang="en-US" sz="2395" dirty="0" smtClean="0"/>
              <a:t> compression algorithm is used with signing, you will need to compress first, then sign</a:t>
            </a:r>
            <a:endParaRPr lang="en-AU" sz="2395" dirty="0" smtClean="0"/>
          </a:p>
        </p:txBody>
      </p:sp>
      <p:pic>
        <p:nvPicPr>
          <p:cNvPr id="5" name="Picture 4"/>
          <p:cNvPicPr>
            <a:picLocks noChangeAspect="1"/>
          </p:cNvPicPr>
          <p:nvPr/>
        </p:nvPicPr>
        <p:blipFill>
          <a:blip r:embed="rId3"/>
          <a:stretch>
            <a:fillRect/>
          </a:stretch>
        </p:blipFill>
        <p:spPr>
          <a:xfrm>
            <a:off x="7467600" y="5181600"/>
            <a:ext cx="1479550" cy="1469485"/>
          </a:xfrm>
          <a:prstGeom prst="rect">
            <a:avLst/>
          </a:prstGeom>
        </p:spPr>
      </p:pic>
      <p:sp>
        <p:nvSpPr>
          <p:cNvPr id="6" name="Footer Placeholder 5"/>
          <p:cNvSpPr>
            <a:spLocks noGrp="1"/>
          </p:cNvSpPr>
          <p:nvPr>
            <p:ph type="ftr" sz="quarter" idx="11"/>
          </p:nvPr>
        </p:nvSpPr>
        <p:spPr>
          <a:xfrm>
            <a:off x="0" y="6492875"/>
            <a:ext cx="5715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296399" cy="1412875"/>
          </a:xfrm>
        </p:spPr>
        <p:txBody>
          <a:bodyPr/>
          <a:lstStyle/>
          <a:p>
            <a:r>
              <a:rPr lang="en-US" dirty="0" smtClean="0"/>
              <a:t>S/MIME Message </a:t>
            </a:r>
            <a:br>
              <a:rPr lang="en-US" dirty="0" smtClean="0"/>
            </a:br>
            <a:r>
              <a:rPr lang="en-US" dirty="0" smtClean="0"/>
              <a:t>Content Types</a:t>
            </a:r>
            <a:endParaRPr lang="en-US" dirty="0"/>
          </a:p>
        </p:txBody>
      </p:sp>
      <p:sp>
        <p:nvSpPr>
          <p:cNvPr id="3" name="Content Placeholder 2"/>
          <p:cNvSpPr>
            <a:spLocks noGrp="1"/>
          </p:cNvSpPr>
          <p:nvPr>
            <p:ph idx="1"/>
          </p:nvPr>
        </p:nvSpPr>
        <p:spPr>
          <a:xfrm>
            <a:off x="609600" y="1762125"/>
            <a:ext cx="8229600" cy="5095875"/>
          </a:xfrm>
        </p:spPr>
        <p:txBody>
          <a:bodyPr>
            <a:normAutofit fontScale="70000" lnSpcReduction="20000"/>
          </a:bodyPr>
          <a:lstStyle/>
          <a:p>
            <a:pPr>
              <a:spcBef>
                <a:spcPts val="800"/>
              </a:spcBef>
            </a:pPr>
            <a:r>
              <a:rPr lang="en-US" dirty="0" smtClean="0"/>
              <a:t>Defined in RFC 5652, Cryptographic Message Syntax</a:t>
            </a:r>
          </a:p>
          <a:p>
            <a:pPr lvl="1">
              <a:spcBef>
                <a:spcPts val="800"/>
              </a:spcBef>
            </a:pPr>
            <a:r>
              <a:rPr lang="en-US" dirty="0" smtClean="0"/>
              <a:t>Data</a:t>
            </a:r>
          </a:p>
          <a:p>
            <a:pPr lvl="2">
              <a:spcBef>
                <a:spcPts val="800"/>
              </a:spcBef>
            </a:pPr>
            <a:r>
              <a:rPr lang="en-US" sz="2065" dirty="0" smtClean="0"/>
              <a:t>Refers to the inner MIME-encoded message content, which may then be encapsulated in a </a:t>
            </a:r>
            <a:r>
              <a:rPr lang="en-US" sz="2065" dirty="0" err="1" smtClean="0"/>
              <a:t>SignedData</a:t>
            </a:r>
            <a:r>
              <a:rPr lang="en-US" sz="2065" dirty="0" smtClean="0"/>
              <a:t>, </a:t>
            </a:r>
            <a:r>
              <a:rPr lang="en-US" sz="2065" dirty="0" err="1" smtClean="0"/>
              <a:t>EnvelopedData</a:t>
            </a:r>
            <a:r>
              <a:rPr lang="en-US" sz="2065" dirty="0" smtClean="0"/>
              <a:t>, or </a:t>
            </a:r>
            <a:r>
              <a:rPr lang="en-US" sz="2065" dirty="0" err="1" smtClean="0"/>
              <a:t>CompressedData</a:t>
            </a:r>
            <a:r>
              <a:rPr lang="en-US" sz="2065" dirty="0" smtClean="0"/>
              <a:t> content type</a:t>
            </a:r>
          </a:p>
          <a:p>
            <a:pPr lvl="1">
              <a:spcBef>
                <a:spcPts val="800"/>
              </a:spcBef>
            </a:pPr>
            <a:r>
              <a:rPr lang="en-US" dirty="0" err="1" smtClean="0"/>
              <a:t>SignedData</a:t>
            </a:r>
            <a:endParaRPr lang="en-US" dirty="0" smtClean="0"/>
          </a:p>
          <a:p>
            <a:pPr lvl="2">
              <a:spcBef>
                <a:spcPts val="800"/>
              </a:spcBef>
            </a:pPr>
            <a:r>
              <a:rPr lang="en-US" sz="2065" dirty="0" smtClean="0"/>
              <a:t>Used to apply a digital signature to a message</a:t>
            </a:r>
          </a:p>
          <a:p>
            <a:pPr lvl="1">
              <a:spcBef>
                <a:spcPts val="800"/>
              </a:spcBef>
            </a:pPr>
            <a:r>
              <a:rPr lang="en-US" dirty="0" err="1" smtClean="0"/>
              <a:t>EnvelopedData</a:t>
            </a:r>
            <a:endParaRPr lang="en-US" dirty="0" smtClean="0"/>
          </a:p>
          <a:p>
            <a:pPr lvl="2">
              <a:spcBef>
                <a:spcPts val="800"/>
              </a:spcBef>
            </a:pPr>
            <a:r>
              <a:rPr lang="en-US" sz="2065" dirty="0" smtClean="0"/>
              <a:t>This consists of encrypted content of any type and encrypted content encryption keys for one or more recipients</a:t>
            </a:r>
          </a:p>
          <a:p>
            <a:pPr lvl="1">
              <a:spcBef>
                <a:spcPts val="800"/>
              </a:spcBef>
            </a:pPr>
            <a:r>
              <a:rPr lang="en-US" dirty="0" err="1" smtClean="0"/>
              <a:t>CompressedData</a:t>
            </a:r>
            <a:endParaRPr lang="en-US" dirty="0" smtClean="0"/>
          </a:p>
          <a:p>
            <a:pPr lvl="2">
              <a:spcBef>
                <a:spcPts val="800"/>
              </a:spcBef>
            </a:pPr>
            <a:r>
              <a:rPr lang="en-US" sz="2118" dirty="0" smtClean="0"/>
              <a:t>Used to apply data compression to a message</a:t>
            </a:r>
          </a:p>
          <a:p>
            <a:pPr marL="342900" lvl="2" indent="-342900">
              <a:spcBef>
                <a:spcPts val="800"/>
              </a:spcBef>
            </a:pPr>
            <a:r>
              <a:rPr lang="en-US" sz="2824" dirty="0" smtClean="0"/>
              <a:t>Clear signing</a:t>
            </a:r>
          </a:p>
          <a:p>
            <a:pPr marL="679450" lvl="3" indent="-342900">
              <a:spcBef>
                <a:spcPts val="800"/>
              </a:spcBef>
            </a:pPr>
            <a:r>
              <a:rPr lang="en-US" sz="2571" dirty="0" smtClean="0">
                <a:cs typeface="ＭＳ Ｐゴシック" pitchFamily="-84" charset="-128"/>
              </a:rPr>
              <a:t>A digital signature is calculated for a MIME-encoded message and the two parts, the message and signature, form a multipart MIME message</a:t>
            </a:r>
          </a:p>
          <a:p>
            <a:pPr marL="679450" lvl="3" indent="-342900">
              <a:spcBef>
                <a:spcPts val="800"/>
              </a:spcBef>
            </a:pPr>
            <a:r>
              <a:rPr lang="en-US" sz="2571" dirty="0" smtClean="0">
                <a:cs typeface="ＭＳ Ｐゴシック" pitchFamily="-84" charset="-128"/>
              </a:rPr>
              <a:t>Can be read and their signatures verified by email entities that do not implement S/MIME</a:t>
            </a:r>
          </a:p>
          <a:p>
            <a:pPr lvl="2"/>
            <a:endParaRPr lang="en-US" dirty="0" smtClean="0"/>
          </a:p>
          <a:p>
            <a:pPr lvl="1"/>
            <a:endParaRPr lang="en-US" dirty="0" smtClean="0"/>
          </a:p>
          <a:p>
            <a:pPr lvl="1"/>
            <a:endParaRPr lang="en-US" dirty="0"/>
          </a:p>
        </p:txBody>
      </p:sp>
      <p:sp>
        <p:nvSpPr>
          <p:cNvPr id="4" name="Footer Placeholder 3"/>
          <p:cNvSpPr>
            <a:spLocks noGrp="1"/>
          </p:cNvSpPr>
          <p:nvPr>
            <p:ph type="ftr" sz="quarter" idx="11"/>
          </p:nvPr>
        </p:nvSpPr>
        <p:spPr>
          <a:xfrm>
            <a:off x="0" y="6492875"/>
            <a:ext cx="69342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6943725" cy="365125"/>
          </a:xfrm>
        </p:spPr>
        <p:txBody>
          <a:bodyPr/>
          <a:lstStyle/>
          <a:p>
            <a:pPr>
              <a:defRPr/>
            </a:pPr>
            <a:r>
              <a:rPr lang="en-US" sz="1050" dirty="0" smtClean="0"/>
              <a:t>© 2017 Pearson Education, Inc., Hoboken, NJ. All rights reserved.         </a:t>
            </a:r>
            <a:endParaRPr lang="en-US" sz="1050" dirty="0"/>
          </a:p>
        </p:txBody>
      </p:sp>
      <p:pic>
        <p:nvPicPr>
          <p:cNvPr id="7" name="Picture 6"/>
          <p:cNvPicPr>
            <a:picLocks noChangeAspect="1"/>
          </p:cNvPicPr>
          <p:nvPr/>
        </p:nvPicPr>
        <p:blipFill>
          <a:blip r:embed="rId3"/>
          <a:stretch>
            <a:fillRect/>
          </a:stretch>
        </p:blipFill>
        <p:spPr>
          <a:xfrm>
            <a:off x="457200" y="1295400"/>
            <a:ext cx="8459230" cy="5249333"/>
          </a:xfrm>
          <a:prstGeom prst="rect">
            <a:avLst/>
          </a:prstGeom>
        </p:spPr>
      </p:pic>
      <p:sp>
        <p:nvSpPr>
          <p:cNvPr id="8" name="TextBox 7"/>
          <p:cNvSpPr txBox="1"/>
          <p:nvPr/>
        </p:nvSpPr>
        <p:spPr>
          <a:xfrm>
            <a:off x="1242371" y="0"/>
            <a:ext cx="6889752" cy="1015663"/>
          </a:xfrm>
          <a:prstGeom prst="rect">
            <a:avLst/>
          </a:prstGeom>
          <a:noFill/>
        </p:spPr>
        <p:txBody>
          <a:bodyPr wrap="none" rtlCol="0">
            <a:spAutoFit/>
          </a:bodyPr>
          <a:lstStyle/>
          <a:p>
            <a:pPr algn="ctr"/>
            <a:r>
              <a:rPr lang="en-US" sz="3200" dirty="0" smtClean="0"/>
              <a:t>Table 19.5 </a:t>
            </a:r>
            <a:r>
              <a:rPr lang="en-US" sz="3200" dirty="0" smtClean="0"/>
              <a:t> </a:t>
            </a:r>
          </a:p>
          <a:p>
            <a:pPr algn="ctr"/>
            <a:r>
              <a:rPr lang="en-US" sz="2800" dirty="0" smtClean="0"/>
              <a:t>Cryptographic </a:t>
            </a:r>
            <a:r>
              <a:rPr lang="en-US" sz="2800" dirty="0" smtClean="0"/>
              <a:t>Algorithms Used in S/MIME </a:t>
            </a:r>
            <a:endParaRPr lang="en-US" sz="28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Securing a MIME Entity</a:t>
            </a:r>
            <a:endParaRPr lang="en-US" dirty="0"/>
          </a:p>
        </p:txBody>
      </p:sp>
      <p:sp>
        <p:nvSpPr>
          <p:cNvPr id="3" name="Content Placeholder 2"/>
          <p:cNvSpPr>
            <a:spLocks noGrp="1"/>
          </p:cNvSpPr>
          <p:nvPr>
            <p:ph idx="1"/>
          </p:nvPr>
        </p:nvSpPr>
        <p:spPr>
          <a:xfrm>
            <a:off x="792163" y="1762125"/>
            <a:ext cx="7570787" cy="4638675"/>
          </a:xfrm>
        </p:spPr>
        <p:txBody>
          <a:bodyPr>
            <a:normAutofit fontScale="92500" lnSpcReduction="20000"/>
          </a:bodyPr>
          <a:lstStyle/>
          <a:p>
            <a:r>
              <a:rPr lang="en-US" dirty="0" smtClean="0"/>
              <a:t>S/MIME secures a MIME entity with a signature, encryption, or both</a:t>
            </a:r>
          </a:p>
          <a:p>
            <a:r>
              <a:rPr lang="en-US" dirty="0" smtClean="0"/>
              <a:t>The MIME entity is prepared according to the normal rules for MIME message preparation</a:t>
            </a:r>
          </a:p>
          <a:p>
            <a:pPr lvl="1"/>
            <a:r>
              <a:rPr lang="en-US" dirty="0" smtClean="0"/>
              <a:t>The MIME entity plus some security-related data, such as algorithm identifiers and certificates, are processed by S/MIME to produce what is known as a PKCS object</a:t>
            </a:r>
          </a:p>
          <a:p>
            <a:pPr lvl="1"/>
            <a:r>
              <a:rPr lang="en-US" dirty="0" smtClean="0"/>
              <a:t>A PKCS object is then treated as message content and wrapped in MIME</a:t>
            </a:r>
          </a:p>
          <a:p>
            <a:r>
              <a:rPr lang="en-US" dirty="0" smtClean="0"/>
              <a:t>In all cases the message to be sent is converted to canonical form</a:t>
            </a:r>
          </a:p>
          <a:p>
            <a:endParaRPr lang="en-US" dirty="0"/>
          </a:p>
        </p:txBody>
      </p:sp>
      <p:sp>
        <p:nvSpPr>
          <p:cNvPr id="4" name="Footer Placeholder 3"/>
          <p:cNvSpPr>
            <a:spLocks noGrp="1"/>
          </p:cNvSpPr>
          <p:nvPr>
            <p:ph type="ftr" sz="quarter" idx="11"/>
          </p:nvPr>
        </p:nvSpPr>
        <p:spPr>
          <a:xfrm>
            <a:off x="0" y="6492875"/>
            <a:ext cx="51054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EnvelopedData </a:t>
            </a:r>
            <a:endParaRPr lang="en-US" dirty="0"/>
          </a:p>
        </p:txBody>
      </p:sp>
      <p:sp>
        <p:nvSpPr>
          <p:cNvPr id="3" name="Content Placeholder 2"/>
          <p:cNvSpPr>
            <a:spLocks noGrp="1"/>
          </p:cNvSpPr>
          <p:nvPr>
            <p:ph idx="1"/>
          </p:nvPr>
        </p:nvSpPr>
        <p:spPr>
          <a:xfrm>
            <a:off x="457200" y="1524000"/>
            <a:ext cx="8305800" cy="838200"/>
          </a:xfrm>
        </p:spPr>
        <p:txBody>
          <a:bodyPr>
            <a:normAutofit fontScale="92500"/>
          </a:bodyPr>
          <a:lstStyle/>
          <a:p>
            <a:r>
              <a:rPr lang="en-US" dirty="0" smtClean="0"/>
              <a:t>The steps for preparing an envelopedData MIME are:</a:t>
            </a:r>
          </a:p>
        </p:txBody>
      </p:sp>
      <p:graphicFrame>
        <p:nvGraphicFramePr>
          <p:cNvPr id="5" name="Diagram 4"/>
          <p:cNvGraphicFramePr/>
          <p:nvPr/>
        </p:nvGraphicFramePr>
        <p:xfrm>
          <a:off x="609600" y="2133600"/>
          <a:ext cx="8153400" cy="43434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0" y="6492875"/>
            <a:ext cx="48768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SignedData</a:t>
            </a:r>
            <a:endParaRPr lang="en-US" dirty="0"/>
          </a:p>
        </p:txBody>
      </p:sp>
      <p:sp>
        <p:nvSpPr>
          <p:cNvPr id="5" name="Content Placeholder 4"/>
          <p:cNvSpPr>
            <a:spLocks noGrp="1"/>
          </p:cNvSpPr>
          <p:nvPr>
            <p:ph idx="1"/>
          </p:nvPr>
        </p:nvSpPr>
        <p:spPr>
          <a:xfrm>
            <a:off x="0" y="1905000"/>
            <a:ext cx="4876800" cy="828675"/>
          </a:xfrm>
        </p:spPr>
        <p:txBody>
          <a:bodyPr>
            <a:normAutofit fontScale="92500" lnSpcReduction="10000"/>
          </a:bodyPr>
          <a:lstStyle/>
          <a:p>
            <a:r>
              <a:rPr lang="en-US" dirty="0" smtClean="0"/>
              <a:t>The steps for preparing a signedData MIME are:</a:t>
            </a:r>
          </a:p>
        </p:txBody>
      </p:sp>
      <p:graphicFrame>
        <p:nvGraphicFramePr>
          <p:cNvPr id="6" name="Diagram 5"/>
          <p:cNvGraphicFramePr/>
          <p:nvPr/>
        </p:nvGraphicFramePr>
        <p:xfrm>
          <a:off x="228600" y="1447800"/>
          <a:ext cx="8915400" cy="52070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0" y="6492875"/>
            <a:ext cx="50292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Clear Signing</a:t>
            </a:r>
            <a:endParaRPr lang="en-US" dirty="0"/>
          </a:p>
        </p:txBody>
      </p:sp>
      <p:sp>
        <p:nvSpPr>
          <p:cNvPr id="3" name="Content Placeholder 2"/>
          <p:cNvSpPr>
            <a:spLocks noGrp="1"/>
          </p:cNvSpPr>
          <p:nvPr>
            <p:ph idx="1"/>
          </p:nvPr>
        </p:nvSpPr>
        <p:spPr/>
        <p:txBody>
          <a:bodyPr/>
          <a:lstStyle/>
          <a:p>
            <a:r>
              <a:rPr lang="en-US" dirty="0" smtClean="0"/>
              <a:t>Achieved using the multipart content type with a signed subtype</a:t>
            </a:r>
          </a:p>
          <a:p>
            <a:r>
              <a:rPr lang="en-US" dirty="0" smtClean="0"/>
              <a:t>This signing process does not involve transforming the message to be signed</a:t>
            </a:r>
          </a:p>
          <a:p>
            <a:r>
              <a:rPr lang="en-US" dirty="0" smtClean="0"/>
              <a:t>Recipients with MIME capability but not           S/MIME capability are able to read the incoming message</a:t>
            </a:r>
            <a:endParaRPr lang="en-US" dirty="0"/>
          </a:p>
        </p:txBody>
      </p:sp>
      <p:sp>
        <p:nvSpPr>
          <p:cNvPr id="4" name="Footer Placeholder 3"/>
          <p:cNvSpPr>
            <a:spLocks noGrp="1"/>
          </p:cNvSpPr>
          <p:nvPr>
            <p:ph type="ftr" sz="quarter" idx="11"/>
          </p:nvPr>
        </p:nvSpPr>
        <p:spPr>
          <a:xfrm>
            <a:off x="0" y="6492875"/>
            <a:ext cx="4572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0" y="39688"/>
            <a:ext cx="9143999" cy="1412875"/>
          </a:xfrm>
        </p:spPr>
        <p:txBody>
          <a:bodyPr/>
          <a:lstStyle/>
          <a:p>
            <a:r>
              <a:rPr lang="en-AU" dirty="0" smtClean="0"/>
              <a:t>S/MIME Certificate Processing</a:t>
            </a:r>
            <a:endParaRPr lang="en-AU" dirty="0"/>
          </a:p>
        </p:txBody>
      </p:sp>
      <p:sp>
        <p:nvSpPr>
          <p:cNvPr id="65539" name="Rectangle 3"/>
          <p:cNvSpPr>
            <a:spLocks noGrp="1" noChangeArrowheads="1"/>
          </p:cNvSpPr>
          <p:nvPr>
            <p:ph idx="1"/>
          </p:nvPr>
        </p:nvSpPr>
        <p:spPr>
          <a:xfrm>
            <a:off x="792163" y="1762125"/>
            <a:ext cx="7570787" cy="4638675"/>
          </a:xfrm>
        </p:spPr>
        <p:txBody>
          <a:bodyPr>
            <a:normAutofit fontScale="92500" lnSpcReduction="10000"/>
          </a:bodyPr>
          <a:lstStyle/>
          <a:p>
            <a:r>
              <a:rPr lang="en-AU" dirty="0" smtClean="0"/>
              <a:t>S/MIME uses public-key certificates that conform to version 3 of X.509</a:t>
            </a:r>
            <a:endParaRPr lang="en-AU" dirty="0" smtClean="0"/>
          </a:p>
          <a:p>
            <a:r>
              <a:rPr lang="en-AU" dirty="0" smtClean="0"/>
              <a:t>S</a:t>
            </a:r>
            <a:r>
              <a:rPr lang="en-AU" dirty="0" smtClean="0"/>
              <a:t>/MIME managers and/or users must configure each client with a list of trusted keys and with certificate revocation lists</a:t>
            </a:r>
          </a:p>
          <a:p>
            <a:pPr lvl="1"/>
            <a:r>
              <a:rPr lang="en-AU" dirty="0" smtClean="0"/>
              <a:t>The responsibility is local for maintaining the certificates needed to verify incoming signatures and to encrypt outgoing messages</a:t>
            </a:r>
          </a:p>
          <a:p>
            <a:r>
              <a:rPr lang="en-AU" dirty="0" smtClean="0"/>
              <a:t>The certificates are signed by certification authorities </a:t>
            </a:r>
          </a:p>
        </p:txBody>
      </p:sp>
      <p:sp>
        <p:nvSpPr>
          <p:cNvPr id="4" name="Footer Placeholder 3"/>
          <p:cNvSpPr>
            <a:spLocks noGrp="1"/>
          </p:cNvSpPr>
          <p:nvPr>
            <p:ph type="ftr" sz="quarter" idx="11"/>
          </p:nvPr>
        </p:nvSpPr>
        <p:spPr>
          <a:xfrm>
            <a:off x="0" y="6492875"/>
            <a:ext cx="50292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 Agent Role</a:t>
            </a:r>
            <a:endParaRPr lang="en-US" dirty="0"/>
          </a:p>
        </p:txBody>
      </p:sp>
      <p:sp>
        <p:nvSpPr>
          <p:cNvPr id="3" name="Content Placeholder 2"/>
          <p:cNvSpPr>
            <a:spLocks noGrp="1"/>
          </p:cNvSpPr>
          <p:nvPr>
            <p:ph idx="1"/>
          </p:nvPr>
        </p:nvSpPr>
        <p:spPr>
          <a:xfrm>
            <a:off x="152400" y="1447800"/>
            <a:ext cx="9144000" cy="752475"/>
          </a:xfrm>
        </p:spPr>
        <p:txBody>
          <a:bodyPr>
            <a:normAutofit fontScale="92500" lnSpcReduction="20000"/>
          </a:bodyPr>
          <a:lstStyle/>
          <a:p>
            <a:r>
              <a:rPr lang="en-US" dirty="0" smtClean="0"/>
              <a:t>An S/MIME user has several key-management functions to  				perform:</a:t>
            </a:r>
          </a:p>
        </p:txBody>
      </p:sp>
      <p:graphicFrame>
        <p:nvGraphicFramePr>
          <p:cNvPr id="4" name="Diagram 3"/>
          <p:cNvGraphicFramePr/>
          <p:nvPr/>
        </p:nvGraphicFramePr>
        <p:xfrm>
          <a:off x="228600" y="1143000"/>
          <a:ext cx="8763000" cy="54864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70104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dirty="0" smtClean="0"/>
              <a:t>Enhanced Security Services</a:t>
            </a:r>
            <a:endParaRPr lang="en-US" dirty="0"/>
          </a:p>
        </p:txBody>
      </p:sp>
      <p:sp>
        <p:nvSpPr>
          <p:cNvPr id="8" name="Content Placeholder 7"/>
          <p:cNvSpPr>
            <a:spLocks noGrp="1"/>
          </p:cNvSpPr>
          <p:nvPr>
            <p:ph idx="1"/>
          </p:nvPr>
        </p:nvSpPr>
        <p:spPr>
          <a:xfrm>
            <a:off x="792163" y="1762125"/>
            <a:ext cx="7570787" cy="4791075"/>
          </a:xfrm>
        </p:spPr>
        <p:txBody>
          <a:bodyPr>
            <a:normAutofit fontScale="77500" lnSpcReduction="20000"/>
          </a:bodyPr>
          <a:lstStyle/>
          <a:p>
            <a:r>
              <a:rPr lang="en-US" dirty="0" smtClean="0"/>
              <a:t>RFC 2634 defines four enhanced security services for S/MIME</a:t>
            </a:r>
            <a:r>
              <a:rPr lang="en-US" dirty="0" smtClean="0"/>
              <a:t>:</a:t>
            </a:r>
            <a:endParaRPr lang="en-US" dirty="0" smtClean="0"/>
          </a:p>
          <a:p>
            <a:pPr lvl="1"/>
            <a:r>
              <a:rPr lang="en-US" dirty="0" smtClean="0"/>
              <a:t>Signed receipt</a:t>
            </a:r>
          </a:p>
          <a:p>
            <a:pPr lvl="2"/>
            <a:r>
              <a:rPr lang="en-US" dirty="0" smtClean="0"/>
              <a:t>Returning a signed receipt provides proof of delivery to the originator of a message and allows the originator to demonstrate to a third party that the recipient received the message</a:t>
            </a:r>
          </a:p>
          <a:p>
            <a:pPr lvl="1"/>
            <a:r>
              <a:rPr lang="en-US" dirty="0" smtClean="0"/>
              <a:t>Security labels</a:t>
            </a:r>
          </a:p>
          <a:p>
            <a:pPr lvl="2"/>
            <a:r>
              <a:rPr lang="en-US" dirty="0" smtClean="0"/>
              <a:t>A set of security information regarding the sensitivity of the content that is protected by S/MIME encapsulation</a:t>
            </a:r>
          </a:p>
          <a:p>
            <a:pPr lvl="1"/>
            <a:r>
              <a:rPr lang="en-US" dirty="0" smtClean="0"/>
              <a:t>Secure mailing lists</a:t>
            </a:r>
          </a:p>
          <a:p>
            <a:pPr lvl="2"/>
            <a:r>
              <a:rPr lang="en-US" dirty="0" smtClean="0"/>
              <a:t>An S/MIME Mail List Agent (MLA) can take a single incoming message, perform the recipient-specific encryption for each recipient, and forward the </a:t>
            </a:r>
            <a:r>
              <a:rPr lang="en-US" dirty="0" smtClean="0"/>
              <a:t>message</a:t>
            </a:r>
          </a:p>
          <a:p>
            <a:pPr lvl="1"/>
            <a:r>
              <a:rPr lang="en-US" sz="2588" dirty="0" smtClean="0"/>
              <a:t>Signing </a:t>
            </a:r>
            <a:r>
              <a:rPr lang="en-US" sz="2588" dirty="0" smtClean="0"/>
              <a:t>certificates</a:t>
            </a:r>
          </a:p>
          <a:p>
            <a:pPr lvl="2"/>
            <a:r>
              <a:rPr lang="en-US" sz="2388" dirty="0" smtClean="0"/>
              <a:t>This service is used to securely bind a sender’s certificate to their signature through a signing certificate attribute</a:t>
            </a:r>
            <a:endParaRPr lang="en-US" sz="2388" dirty="0"/>
          </a:p>
        </p:txBody>
      </p:sp>
      <p:sp>
        <p:nvSpPr>
          <p:cNvPr id="4" name="Footer Placeholder 3"/>
          <p:cNvSpPr>
            <a:spLocks noGrp="1"/>
          </p:cNvSpPr>
          <p:nvPr>
            <p:ph type="ftr" sz="quarter" idx="11"/>
          </p:nvPr>
        </p:nvSpPr>
        <p:spPr>
          <a:xfrm>
            <a:off x="0" y="6492875"/>
            <a:ext cx="66294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Pretty Good Privacy (PGP)</a:t>
            </a:r>
            <a:endParaRPr lang="en-US" dirty="0"/>
          </a:p>
        </p:txBody>
      </p:sp>
      <p:sp>
        <p:nvSpPr>
          <p:cNvPr id="3" name="Content Placeholder 2"/>
          <p:cNvSpPr>
            <a:spLocks noGrp="1"/>
          </p:cNvSpPr>
          <p:nvPr>
            <p:ph idx="1"/>
          </p:nvPr>
        </p:nvSpPr>
        <p:spPr>
          <a:xfrm>
            <a:off x="685800" y="1762125"/>
            <a:ext cx="7924799" cy="5095875"/>
          </a:xfrm>
        </p:spPr>
        <p:txBody>
          <a:bodyPr>
            <a:normAutofit fontScale="62500" lnSpcReduction="20000"/>
          </a:bodyPr>
          <a:lstStyle/>
          <a:p>
            <a:pPr>
              <a:spcBef>
                <a:spcPts val="1200"/>
              </a:spcBef>
            </a:pPr>
            <a:r>
              <a:rPr lang="en-US" dirty="0" smtClean="0"/>
              <a:t>Alternative email security protocol which has essentially the same functionality as S/MIME</a:t>
            </a:r>
          </a:p>
          <a:p>
            <a:pPr>
              <a:spcBef>
                <a:spcPts val="1200"/>
              </a:spcBef>
            </a:pPr>
            <a:r>
              <a:rPr lang="en-US" dirty="0" smtClean="0"/>
              <a:t>PGP was created by Phil Zimmerman and implemented as a product first released in 1991</a:t>
            </a:r>
          </a:p>
          <a:p>
            <a:pPr>
              <a:spcBef>
                <a:spcPts val="1200"/>
              </a:spcBef>
            </a:pPr>
            <a:r>
              <a:rPr lang="en-US" dirty="0" smtClean="0"/>
              <a:t>It was made available free of charge and became popular for personal use</a:t>
            </a:r>
          </a:p>
          <a:p>
            <a:pPr>
              <a:spcBef>
                <a:spcPts val="1200"/>
              </a:spcBef>
            </a:pPr>
            <a:r>
              <a:rPr lang="en-US" dirty="0" smtClean="0"/>
              <a:t>The initial protocol was proprietary and used some encryption algorithms with intellectual property restrictions</a:t>
            </a:r>
          </a:p>
          <a:p>
            <a:pPr>
              <a:spcBef>
                <a:spcPts val="1200"/>
              </a:spcBef>
            </a:pPr>
            <a:r>
              <a:rPr lang="en-US" dirty="0" err="1" smtClean="0"/>
              <a:t>OpenPGP</a:t>
            </a:r>
            <a:r>
              <a:rPr lang="en-US" dirty="0" smtClean="0"/>
              <a:t> was developed as a new standard protocol based on PGP version 5.x</a:t>
            </a:r>
          </a:p>
          <a:p>
            <a:pPr>
              <a:spcBef>
                <a:spcPts val="1200"/>
              </a:spcBef>
            </a:pPr>
            <a:r>
              <a:rPr lang="en-US" dirty="0" err="1" smtClean="0"/>
              <a:t>OpenPGP</a:t>
            </a:r>
            <a:r>
              <a:rPr lang="en-US" dirty="0" smtClean="0"/>
              <a:t> is defined in RFC 4880 and RFC 3156</a:t>
            </a:r>
          </a:p>
          <a:p>
            <a:pPr>
              <a:spcBef>
                <a:spcPts val="1200"/>
              </a:spcBef>
            </a:pPr>
            <a:r>
              <a:rPr lang="en-US" dirty="0" smtClean="0"/>
              <a:t>There are two significant differences between S/MIME and </a:t>
            </a:r>
            <a:r>
              <a:rPr lang="en-US" dirty="0" err="1" smtClean="0"/>
              <a:t>OpenPGP</a:t>
            </a:r>
            <a:r>
              <a:rPr lang="en-US" dirty="0" smtClean="0"/>
              <a:t>:</a:t>
            </a:r>
          </a:p>
          <a:p>
            <a:pPr lvl="2">
              <a:lnSpc>
                <a:spcPct val="90000"/>
              </a:lnSpc>
            </a:pPr>
            <a:r>
              <a:rPr lang="en-US" dirty="0" smtClean="0"/>
              <a:t>Key Certification</a:t>
            </a:r>
          </a:p>
          <a:p>
            <a:pPr lvl="2">
              <a:lnSpc>
                <a:spcPct val="90000"/>
              </a:lnSpc>
            </a:pPr>
            <a:r>
              <a:rPr lang="en-US" dirty="0" smtClean="0"/>
              <a:t>Key Distribution</a:t>
            </a:r>
          </a:p>
          <a:p>
            <a:pPr marL="342900" lvl="1" indent="-342900">
              <a:spcBef>
                <a:spcPts val="1200"/>
              </a:spcBef>
              <a:buClr>
                <a:srgbClr val="BAABE3"/>
              </a:buClr>
            </a:pPr>
            <a:r>
              <a:rPr lang="en-US" sz="2880" dirty="0" smtClean="0">
                <a:cs typeface="ＭＳ Ｐゴシック" pitchFamily="-84" charset="-128"/>
              </a:rPr>
              <a:t>NIST 800-177 recommends the use of S/MIME rather than PGP because of the greater confidence in the CA system of verifying public keys</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a:p>
        </p:txBody>
      </p:sp>
      <p:sp>
        <p:nvSpPr>
          <p:cNvPr id="4" name="Footer Placeholder 3"/>
          <p:cNvSpPr>
            <a:spLocks noGrp="1"/>
          </p:cNvSpPr>
          <p:nvPr>
            <p:ph type="ftr" sz="quarter" idx="11"/>
          </p:nvPr>
        </p:nvSpPr>
        <p:spPr>
          <a:xfrm>
            <a:off x="0" y="6492875"/>
            <a:ext cx="5715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Domain Name System (DNS)</a:t>
            </a:r>
            <a:endParaRPr lang="en-US" dirty="0"/>
          </a:p>
        </p:txBody>
      </p:sp>
      <p:sp>
        <p:nvSpPr>
          <p:cNvPr id="3" name="Content Placeholder 2"/>
          <p:cNvSpPr>
            <a:spLocks noGrp="1"/>
          </p:cNvSpPr>
          <p:nvPr>
            <p:ph idx="1"/>
          </p:nvPr>
        </p:nvSpPr>
        <p:spPr>
          <a:xfrm>
            <a:off x="792163" y="1762125"/>
            <a:ext cx="7570787" cy="4791075"/>
          </a:xfrm>
        </p:spPr>
        <p:txBody>
          <a:bodyPr>
            <a:normAutofit fontScale="85000" lnSpcReduction="20000"/>
          </a:bodyPr>
          <a:lstStyle/>
          <a:p>
            <a:r>
              <a:rPr lang="en-US" dirty="0" smtClean="0"/>
              <a:t>A directory lookup service that provides a mapping between the name of a host on the Internet and its numeric IP address</a:t>
            </a:r>
          </a:p>
          <a:p>
            <a:r>
              <a:rPr lang="en-US" dirty="0" smtClean="0"/>
              <a:t>Is essential to the functioning of the Internet</a:t>
            </a:r>
          </a:p>
          <a:p>
            <a:r>
              <a:rPr lang="en-US" dirty="0" smtClean="0"/>
              <a:t>Is used by </a:t>
            </a:r>
            <a:r>
              <a:rPr lang="en-US" dirty="0" err="1" smtClean="0"/>
              <a:t>MUAs</a:t>
            </a:r>
            <a:r>
              <a:rPr lang="en-US" dirty="0" smtClean="0"/>
              <a:t> and </a:t>
            </a:r>
            <a:r>
              <a:rPr lang="en-US" dirty="0" err="1" smtClean="0"/>
              <a:t>MTAs</a:t>
            </a:r>
            <a:r>
              <a:rPr lang="en-US" dirty="0" smtClean="0"/>
              <a:t> to find the address of the next hop server for mail delivery</a:t>
            </a:r>
          </a:p>
          <a:p>
            <a:r>
              <a:rPr lang="en-US" dirty="0" smtClean="0"/>
              <a:t>Is comprised of four elements:</a:t>
            </a:r>
          </a:p>
          <a:p>
            <a:pPr lvl="1"/>
            <a:r>
              <a:rPr lang="en-US" dirty="0" smtClean="0"/>
              <a:t>Domain name space</a:t>
            </a:r>
          </a:p>
          <a:p>
            <a:pPr lvl="1"/>
            <a:r>
              <a:rPr lang="en-US" dirty="0" smtClean="0"/>
              <a:t>DNS database</a:t>
            </a:r>
          </a:p>
          <a:p>
            <a:pPr lvl="1"/>
            <a:r>
              <a:rPr lang="en-US" dirty="0" smtClean="0"/>
              <a:t>Name servers</a:t>
            </a:r>
          </a:p>
          <a:p>
            <a:pPr lvl="1"/>
            <a:r>
              <a:rPr lang="en-US" dirty="0" smtClean="0"/>
              <a:t>Resolvers </a:t>
            </a:r>
            <a:endParaRPr lang="en-US" dirty="0"/>
          </a:p>
        </p:txBody>
      </p:sp>
      <p:sp>
        <p:nvSpPr>
          <p:cNvPr id="4" name="Footer Placeholder 3"/>
          <p:cNvSpPr>
            <a:spLocks noGrp="1"/>
          </p:cNvSpPr>
          <p:nvPr>
            <p:ph type="ftr" sz="quarter" idx="11"/>
          </p:nvPr>
        </p:nvSpPr>
        <p:spPr>
          <a:xfrm>
            <a:off x="0" y="6492875"/>
            <a:ext cx="52578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DNS Database</a:t>
            </a:r>
            <a:endParaRPr lang="en-US" dirty="0"/>
          </a:p>
        </p:txBody>
      </p:sp>
      <p:sp>
        <p:nvSpPr>
          <p:cNvPr id="3" name="Content Placeholder 2"/>
          <p:cNvSpPr>
            <a:spLocks noGrp="1"/>
          </p:cNvSpPr>
          <p:nvPr>
            <p:ph idx="1"/>
          </p:nvPr>
        </p:nvSpPr>
        <p:spPr>
          <a:xfrm>
            <a:off x="792163" y="1762125"/>
            <a:ext cx="7570787" cy="4638675"/>
          </a:xfrm>
        </p:spPr>
        <p:txBody>
          <a:bodyPr>
            <a:normAutofit fontScale="92500"/>
          </a:bodyPr>
          <a:lstStyle/>
          <a:p>
            <a:r>
              <a:rPr lang="en-US" dirty="0" smtClean="0"/>
              <a:t>DNS is based on a hierarchical database containing resource records (</a:t>
            </a:r>
            <a:r>
              <a:rPr lang="en-US" dirty="0" err="1" smtClean="0"/>
              <a:t>RRs</a:t>
            </a:r>
            <a:r>
              <a:rPr lang="en-US" dirty="0" smtClean="0"/>
              <a:t>) that include the name, IP address, and other information about hosts</a:t>
            </a:r>
          </a:p>
          <a:p>
            <a:r>
              <a:rPr lang="en-US" dirty="0" smtClean="0"/>
              <a:t>The key features of the database are:</a:t>
            </a:r>
          </a:p>
          <a:p>
            <a:pPr lvl="1"/>
            <a:r>
              <a:rPr lang="en-US" dirty="0" smtClean="0"/>
              <a:t>Variable-depth hierarchy for names</a:t>
            </a:r>
          </a:p>
          <a:p>
            <a:pPr lvl="1"/>
            <a:r>
              <a:rPr lang="en-US" dirty="0" smtClean="0"/>
              <a:t>Distributed database</a:t>
            </a:r>
          </a:p>
          <a:p>
            <a:pPr lvl="1"/>
            <a:r>
              <a:rPr lang="en-US" dirty="0" smtClean="0"/>
              <a:t>Distribution controlled by the database</a:t>
            </a:r>
          </a:p>
          <a:p>
            <a:pPr lvl="1"/>
            <a:r>
              <a:rPr lang="en-US" dirty="0" smtClean="0"/>
              <a:t>Using this database, DNS servers provide a name-to-address directory service for network applications that need to locate specific servers</a:t>
            </a:r>
            <a:endParaRPr lang="en-US" dirty="0"/>
          </a:p>
        </p:txBody>
      </p:sp>
      <p:sp>
        <p:nvSpPr>
          <p:cNvPr id="4" name="Footer Placeholder 3"/>
          <p:cNvSpPr>
            <a:spLocks noGrp="1"/>
          </p:cNvSpPr>
          <p:nvPr>
            <p:ph type="ftr" sz="quarter" idx="11"/>
          </p:nvPr>
        </p:nvSpPr>
        <p:spPr>
          <a:xfrm>
            <a:off x="0" y="6492875"/>
            <a:ext cx="55626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6019800" cy="365125"/>
          </a:xfrm>
        </p:spPr>
        <p:txBody>
          <a:bodyPr/>
          <a:lstStyle/>
          <a:p>
            <a:pPr>
              <a:defRPr/>
            </a:pPr>
            <a:r>
              <a:rPr lang="en-US" sz="1050" dirty="0" smtClean="0"/>
              <a:t>© 2017 Pearson Education, Inc., Hoboken, NJ. All rights reserved.         </a:t>
            </a:r>
            <a:endParaRPr lang="en-US" sz="1050" dirty="0"/>
          </a:p>
        </p:txBody>
      </p:sp>
      <p:pic>
        <p:nvPicPr>
          <p:cNvPr id="5" name="Picture 4"/>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1219200" y="762000"/>
            <a:ext cx="6781800" cy="5918148"/>
          </a:xfrm>
          <a:prstGeom prst="rect">
            <a:avLst/>
          </a:prstGeom>
        </p:spPr>
      </p:pic>
      <p:sp>
        <p:nvSpPr>
          <p:cNvPr id="6" name="TextBox 5"/>
          <p:cNvSpPr txBox="1"/>
          <p:nvPr/>
        </p:nvSpPr>
        <p:spPr>
          <a:xfrm>
            <a:off x="0" y="0"/>
            <a:ext cx="9144000" cy="769441"/>
          </a:xfrm>
          <a:prstGeom prst="rect">
            <a:avLst/>
          </a:prstGeom>
          <a:noFill/>
        </p:spPr>
        <p:txBody>
          <a:bodyPr wrap="square" rtlCol="0">
            <a:spAutoFit/>
          </a:bodyPr>
          <a:lstStyle/>
          <a:p>
            <a:pPr algn="ctr"/>
            <a:r>
              <a:rPr lang="en-US" sz="2400" dirty="0" smtClean="0"/>
              <a:t>Table 19.6  </a:t>
            </a:r>
            <a:r>
              <a:rPr lang="en-US" sz="2400" dirty="0" smtClean="0"/>
              <a:t> </a:t>
            </a:r>
          </a:p>
          <a:p>
            <a:pPr algn="ctr"/>
            <a:r>
              <a:rPr lang="en-US" sz="2000" dirty="0" smtClean="0"/>
              <a:t>Resource </a:t>
            </a:r>
            <a:r>
              <a:rPr lang="en-US" sz="2000" dirty="0" smtClean="0"/>
              <a:t>Record Types </a:t>
            </a:r>
            <a:endParaRPr lang="en-US" sz="2000" dirty="0"/>
          </a:p>
        </p:txBody>
      </p:sp>
      <p:sp>
        <p:nvSpPr>
          <p:cNvPr id="7" name="TextBox 6"/>
          <p:cNvSpPr txBox="1"/>
          <p:nvPr/>
        </p:nvSpPr>
        <p:spPr>
          <a:xfrm>
            <a:off x="6172200" y="6581001"/>
            <a:ext cx="2751174" cy="276999"/>
          </a:xfrm>
          <a:prstGeom prst="rect">
            <a:avLst/>
          </a:prstGeom>
          <a:noFill/>
        </p:spPr>
        <p:txBody>
          <a:bodyPr wrap="none" rtlCol="0">
            <a:spAutoFit/>
          </a:bodyPr>
          <a:lstStyle/>
          <a:p>
            <a:r>
              <a:rPr lang="en-US" sz="1200" dirty="0" smtClean="0"/>
              <a:t>(Table is on page 622 in the textbook)</a:t>
            </a:r>
            <a:endParaRPr lang="en-US" sz="1200"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4724400" cy="365125"/>
          </a:xfrm>
        </p:spPr>
        <p:txBody>
          <a:bodyPr/>
          <a:lstStyle/>
          <a:p>
            <a:pPr>
              <a:defRPr/>
            </a:pPr>
            <a:r>
              <a:rPr lang="en-US" sz="1050" dirty="0" smtClean="0"/>
              <a:t>© 2017 Pearson Education, Inc., Hoboken, NJ. All rights reserved.         </a:t>
            </a:r>
            <a:endParaRPr lang="en-US" sz="1050" dirty="0"/>
          </a:p>
        </p:txBody>
      </p:sp>
      <p:pic>
        <p:nvPicPr>
          <p:cNvPr id="5" name="Picture 4" descr="f06.pdf"/>
          <p:cNvPicPr>
            <a:picLocks noChangeAspect="1"/>
          </p:cNvPicPr>
          <p:nvPr/>
        </p:nvPicPr>
        <mc:AlternateContent>
          <mc:Choice xmlns:ma="http://schemas.microsoft.com/office/mac/drawingml/2008/main" Requires="ma">
            <p:blipFill>
              <a:blip r:embed="rId3"/>
              <a:srcRect t="20909" b="27273"/>
              <a:stretch>
                <a:fillRect/>
              </a:stretch>
            </p:blipFill>
          </mc:Choice>
          <mc:Fallback>
            <p:blipFill>
              <a:blip r:embed="rId4"/>
              <a:srcRect t="20909" b="27273"/>
              <a:stretch>
                <a:fillRect/>
              </a:stretch>
            </p:blipFill>
          </mc:Fallback>
        </mc:AlternateContent>
        <p:spPr>
          <a:xfrm>
            <a:off x="-990600" y="-228600"/>
            <a:ext cx="10567732" cy="7086600"/>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DNSSEC</a:t>
            </a:r>
            <a:endParaRPr lang="en-US" dirty="0"/>
          </a:p>
        </p:txBody>
      </p:sp>
      <p:sp>
        <p:nvSpPr>
          <p:cNvPr id="3" name="Content Placeholder 2"/>
          <p:cNvSpPr>
            <a:spLocks noGrp="1"/>
          </p:cNvSpPr>
          <p:nvPr>
            <p:ph idx="1"/>
          </p:nvPr>
        </p:nvSpPr>
        <p:spPr>
          <a:xfrm>
            <a:off x="762000" y="1600200"/>
            <a:ext cx="7646987" cy="5095875"/>
          </a:xfrm>
        </p:spPr>
        <p:txBody>
          <a:bodyPr>
            <a:normAutofit fontScale="70000" lnSpcReduction="20000"/>
          </a:bodyPr>
          <a:lstStyle/>
          <a:p>
            <a:r>
              <a:rPr lang="en-US" dirty="0" smtClean="0"/>
              <a:t>DNS Security Extensions</a:t>
            </a:r>
          </a:p>
          <a:p>
            <a:r>
              <a:rPr lang="en-US" dirty="0" smtClean="0"/>
              <a:t>Provides end-to-end protection through the use of digital signatures that are created by responding zone administrators and verified by a recipient’s resolver software</a:t>
            </a:r>
          </a:p>
          <a:p>
            <a:r>
              <a:rPr lang="en-US" dirty="0" smtClean="0"/>
              <a:t>Avoids the need to trust intermediate name servers and resolvers that cache or route the DNS records originating from the responding zone administrator before they reach the source of the query</a:t>
            </a:r>
          </a:p>
          <a:p>
            <a:r>
              <a:rPr lang="en-US" dirty="0" smtClean="0"/>
              <a:t>Consists of a set of new resource record types and modifications to the existing DNS protocol</a:t>
            </a:r>
          </a:p>
          <a:p>
            <a:r>
              <a:rPr lang="en-US" dirty="0" smtClean="0"/>
              <a:t>Defined in these documents:</a:t>
            </a:r>
          </a:p>
          <a:p>
            <a:pPr lvl="1"/>
            <a:r>
              <a:rPr lang="en-US" dirty="0" smtClean="0"/>
              <a:t>RFC 4033, DNS Security Introduction and Requirements</a:t>
            </a:r>
          </a:p>
          <a:p>
            <a:pPr lvl="1"/>
            <a:r>
              <a:rPr lang="en-US" dirty="0" smtClean="0"/>
              <a:t>RFC 4034, Resource Records for the DNS Security Extensions</a:t>
            </a:r>
          </a:p>
          <a:p>
            <a:pPr lvl="1"/>
            <a:r>
              <a:rPr lang="en-US" dirty="0" smtClean="0"/>
              <a:t>RFC 4035, Protocol Modifications for the DNS Security Extensions</a:t>
            </a:r>
            <a:endParaRPr lang="en-US" dirty="0"/>
          </a:p>
        </p:txBody>
      </p:sp>
      <p:sp>
        <p:nvSpPr>
          <p:cNvPr id="4" name="Footer Placeholder 3"/>
          <p:cNvSpPr>
            <a:spLocks noGrp="1"/>
          </p:cNvSpPr>
          <p:nvPr>
            <p:ph type="ftr" sz="quarter" idx="11"/>
          </p:nvPr>
        </p:nvSpPr>
        <p:spPr>
          <a:xfrm>
            <a:off x="0" y="6492875"/>
            <a:ext cx="47244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DNSSEC Operation</a:t>
            </a:r>
            <a:endParaRPr lang="en-US" dirty="0"/>
          </a:p>
        </p:txBody>
      </p:sp>
      <p:sp>
        <p:nvSpPr>
          <p:cNvPr id="3" name="Content Placeholder 2"/>
          <p:cNvSpPr>
            <a:spLocks noGrp="1"/>
          </p:cNvSpPr>
          <p:nvPr>
            <p:ph idx="1"/>
          </p:nvPr>
        </p:nvSpPr>
        <p:spPr>
          <a:xfrm>
            <a:off x="792163" y="1762125"/>
            <a:ext cx="7570787" cy="4714875"/>
          </a:xfrm>
        </p:spPr>
        <p:txBody>
          <a:bodyPr>
            <a:normAutofit fontScale="77500" lnSpcReduction="20000"/>
          </a:bodyPr>
          <a:lstStyle/>
          <a:p>
            <a:r>
              <a:rPr lang="en-US" dirty="0" smtClean="0"/>
              <a:t>In essence, DNSSEC is designed to protect DNS clients from accepting forged or altered DNS resource records</a:t>
            </a:r>
          </a:p>
          <a:p>
            <a:r>
              <a:rPr lang="en-US" dirty="0" smtClean="0"/>
              <a:t>It does this by using digital signatures to provide:</a:t>
            </a:r>
          </a:p>
          <a:p>
            <a:pPr lvl="1"/>
            <a:r>
              <a:rPr lang="en-US" dirty="0" smtClean="0"/>
              <a:t>Data origin authentication</a:t>
            </a:r>
          </a:p>
          <a:p>
            <a:pPr lvl="2"/>
            <a:r>
              <a:rPr lang="en-US" dirty="0" smtClean="0"/>
              <a:t>Ensures that data has originated from the correct source</a:t>
            </a:r>
          </a:p>
          <a:p>
            <a:pPr lvl="1"/>
            <a:r>
              <a:rPr lang="en-US" dirty="0" smtClean="0"/>
              <a:t>Data integrity verification</a:t>
            </a:r>
          </a:p>
          <a:p>
            <a:pPr lvl="2"/>
            <a:r>
              <a:rPr lang="en-US" dirty="0" smtClean="0"/>
              <a:t>Ensures that the content of a RR has not been modified</a:t>
            </a:r>
          </a:p>
          <a:p>
            <a:pPr marL="342900" lvl="2" indent="-342900">
              <a:spcBef>
                <a:spcPts val="2400"/>
              </a:spcBef>
            </a:pPr>
            <a:r>
              <a:rPr lang="en-US" sz="2824" dirty="0" smtClean="0">
                <a:cs typeface="ＭＳ Ｐゴシック" pitchFamily="-84" charset="-128"/>
              </a:rPr>
              <a:t>Trust in the public key of the source is established by starting from a trusted zone and establishing the chain of trust down to the current source of response through successive verifications of signature of the public key of a child by its </a:t>
            </a:r>
            <a:r>
              <a:rPr lang="en-US" sz="2824" dirty="0" smtClean="0">
                <a:cs typeface="ＭＳ Ｐゴシック" pitchFamily="-84" charset="-128"/>
              </a:rPr>
              <a:t>parent</a:t>
            </a:r>
          </a:p>
          <a:p>
            <a:pPr marL="679450" lvl="3" indent="-342900">
              <a:spcBef>
                <a:spcPts val="1200"/>
              </a:spcBef>
            </a:pPr>
            <a:r>
              <a:rPr lang="en-US" sz="2624" dirty="0" smtClean="0">
                <a:cs typeface="ＭＳ Ｐゴシック" pitchFamily="-84" charset="-128"/>
              </a:rPr>
              <a:t>The public key of the trusted zone is called the </a:t>
            </a:r>
            <a:r>
              <a:rPr lang="en-US" sz="2624" i="1" dirty="0" smtClean="0">
                <a:cs typeface="ＭＳ Ｐゴシック" pitchFamily="-84" charset="-128"/>
              </a:rPr>
              <a:t>trust anchor</a:t>
            </a:r>
            <a:endParaRPr lang="en-US" sz="2624" dirty="0" smtClean="0">
              <a:cs typeface="ＭＳ Ｐゴシック" pitchFamily="-84" charset="-128"/>
            </a:endParaRPr>
          </a:p>
        </p:txBody>
      </p:sp>
      <p:sp>
        <p:nvSpPr>
          <p:cNvPr id="4" name="Footer Placeholder 3"/>
          <p:cNvSpPr>
            <a:spLocks noGrp="1"/>
          </p:cNvSpPr>
          <p:nvPr>
            <p:ph type="ftr" sz="quarter" idx="11"/>
          </p:nvPr>
        </p:nvSpPr>
        <p:spPr>
          <a:xfrm>
            <a:off x="0" y="6492875"/>
            <a:ext cx="66294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Resource Records for DNSSEC</a:t>
            </a:r>
            <a:endParaRPr lang="en-US" dirty="0"/>
          </a:p>
        </p:txBody>
      </p:sp>
      <p:sp>
        <p:nvSpPr>
          <p:cNvPr id="3" name="Content Placeholder 2"/>
          <p:cNvSpPr>
            <a:spLocks noGrp="1"/>
          </p:cNvSpPr>
          <p:nvPr>
            <p:ph idx="1"/>
          </p:nvPr>
        </p:nvSpPr>
        <p:spPr>
          <a:xfrm>
            <a:off x="533400" y="1676400"/>
            <a:ext cx="8153400" cy="5181600"/>
          </a:xfrm>
        </p:spPr>
        <p:txBody>
          <a:bodyPr>
            <a:normAutofit fontScale="55000" lnSpcReduction="20000"/>
          </a:bodyPr>
          <a:lstStyle/>
          <a:p>
            <a:pPr>
              <a:lnSpc>
                <a:spcPct val="120000"/>
              </a:lnSpc>
              <a:spcBef>
                <a:spcPts val="800"/>
              </a:spcBef>
            </a:pPr>
            <a:r>
              <a:rPr lang="en-US" dirty="0" smtClean="0"/>
              <a:t>RFC 4034 defines four new DNS resource records:</a:t>
            </a:r>
          </a:p>
          <a:p>
            <a:pPr lvl="1">
              <a:lnSpc>
                <a:spcPct val="120000"/>
              </a:lnSpc>
              <a:spcBef>
                <a:spcPts val="200"/>
              </a:spcBef>
            </a:pPr>
            <a:r>
              <a:rPr lang="en-US" dirty="0" smtClean="0"/>
              <a:t>DNSKEY</a:t>
            </a:r>
          </a:p>
          <a:p>
            <a:pPr lvl="2">
              <a:lnSpc>
                <a:spcPct val="120000"/>
              </a:lnSpc>
              <a:spcBef>
                <a:spcPts val="200"/>
              </a:spcBef>
            </a:pPr>
            <a:r>
              <a:rPr lang="en-US" dirty="0" smtClean="0"/>
              <a:t>Contains a public key</a:t>
            </a:r>
          </a:p>
          <a:p>
            <a:pPr lvl="1">
              <a:lnSpc>
                <a:spcPct val="120000"/>
              </a:lnSpc>
              <a:spcBef>
                <a:spcPts val="200"/>
              </a:spcBef>
            </a:pPr>
            <a:r>
              <a:rPr lang="en-US" dirty="0" smtClean="0"/>
              <a:t>RRSIG</a:t>
            </a:r>
          </a:p>
          <a:p>
            <a:pPr lvl="2">
              <a:lnSpc>
                <a:spcPct val="120000"/>
              </a:lnSpc>
              <a:spcBef>
                <a:spcPts val="200"/>
              </a:spcBef>
            </a:pPr>
            <a:r>
              <a:rPr lang="en-US" dirty="0" smtClean="0"/>
              <a:t>A resource record digital signature</a:t>
            </a:r>
          </a:p>
          <a:p>
            <a:pPr lvl="1">
              <a:lnSpc>
                <a:spcPct val="120000"/>
              </a:lnSpc>
              <a:spcBef>
                <a:spcPts val="200"/>
              </a:spcBef>
            </a:pPr>
            <a:r>
              <a:rPr lang="en-US" dirty="0" smtClean="0"/>
              <a:t>NSEC</a:t>
            </a:r>
          </a:p>
          <a:p>
            <a:pPr lvl="2">
              <a:lnSpc>
                <a:spcPct val="120000"/>
              </a:lnSpc>
              <a:spcBef>
                <a:spcPts val="200"/>
              </a:spcBef>
            </a:pPr>
            <a:r>
              <a:rPr lang="en-US" dirty="0" smtClean="0"/>
              <a:t>Authenticated denial of existence record</a:t>
            </a:r>
          </a:p>
          <a:p>
            <a:pPr lvl="1">
              <a:lnSpc>
                <a:spcPct val="120000"/>
              </a:lnSpc>
              <a:spcBef>
                <a:spcPts val="200"/>
              </a:spcBef>
            </a:pPr>
            <a:r>
              <a:rPr lang="en-US" dirty="0" smtClean="0"/>
              <a:t>DS</a:t>
            </a:r>
          </a:p>
          <a:p>
            <a:pPr lvl="2">
              <a:lnSpc>
                <a:spcPct val="120000"/>
              </a:lnSpc>
              <a:spcBef>
                <a:spcPts val="200"/>
              </a:spcBef>
            </a:pPr>
            <a:r>
              <a:rPr lang="en-US" dirty="0" smtClean="0"/>
              <a:t>Delegation signer</a:t>
            </a:r>
          </a:p>
          <a:p>
            <a:pPr marL="342900" lvl="2" indent="-342900">
              <a:lnSpc>
                <a:spcPct val="120000"/>
              </a:lnSpc>
              <a:spcBef>
                <a:spcPts val="800"/>
              </a:spcBef>
            </a:pPr>
            <a:r>
              <a:rPr lang="en-US" sz="2811" dirty="0" smtClean="0">
                <a:cs typeface="ＭＳ Ｐゴシック" pitchFamily="-84" charset="-128"/>
              </a:rPr>
              <a:t>DNSSEC depends on establishing the authenticity of the </a:t>
            </a:r>
            <a:r>
              <a:rPr lang="en-US" sz="2811" dirty="0" smtClean="0">
                <a:cs typeface="ＭＳ Ｐゴシック" pitchFamily="-84" charset="-128"/>
              </a:rPr>
              <a:t>DNS hierarchy leading to the domain name in question, and thus its operation depends on beginning the use of cryptographic digital signatures in the root zone</a:t>
            </a:r>
          </a:p>
          <a:p>
            <a:pPr marL="342900" lvl="2" indent="-342900">
              <a:lnSpc>
                <a:spcPct val="120000"/>
              </a:lnSpc>
              <a:spcBef>
                <a:spcPts val="800"/>
              </a:spcBef>
            </a:pPr>
            <a:r>
              <a:rPr lang="en-US" sz="2811" dirty="0" smtClean="0">
                <a:cs typeface="ＭＳ Ｐゴシック" pitchFamily="-84" charset="-128"/>
              </a:rPr>
              <a:t>The DS resource record facilitates key signing and authentication between DNS zones to create an authentication chain from the root of the DNS tree down to a specific domain name</a:t>
            </a:r>
          </a:p>
          <a:p>
            <a:pPr marL="342900" lvl="2" indent="-342900">
              <a:lnSpc>
                <a:spcPct val="120000"/>
              </a:lnSpc>
              <a:spcBef>
                <a:spcPts val="800"/>
              </a:spcBef>
            </a:pPr>
            <a:r>
              <a:rPr lang="en-US" sz="2811" dirty="0" smtClean="0">
                <a:cs typeface="ＭＳ Ｐゴシック" pitchFamily="-84" charset="-128"/>
              </a:rPr>
              <a:t>To secure all DNS lookups DNSSEC uses the NSEC resource record to authenticate negative responses to queries</a:t>
            </a:r>
          </a:p>
          <a:p>
            <a:pPr marL="342900" lvl="2" indent="-342900">
              <a:lnSpc>
                <a:spcPct val="120000"/>
              </a:lnSpc>
              <a:spcBef>
                <a:spcPts val="800"/>
              </a:spcBef>
            </a:pPr>
            <a:r>
              <a:rPr lang="en-US" sz="2811" dirty="0" smtClean="0">
                <a:cs typeface="ＭＳ Ｐゴシック" pitchFamily="-84" charset="-128"/>
              </a:rPr>
              <a:t>NSEC is used to identify the range of DNS names or resource record types that do not exist among the sequence of domain names in a zone</a:t>
            </a:r>
          </a:p>
          <a:p>
            <a:pPr marL="342900" lvl="2" indent="-342900">
              <a:spcBef>
                <a:spcPts val="2400"/>
              </a:spcBef>
            </a:pPr>
            <a:endParaRPr lang="en-US" sz="2811" dirty="0" smtClean="0">
              <a:cs typeface="ＭＳ Ｐゴシック" pitchFamily="-84" charset="-128"/>
            </a:endParaRPr>
          </a:p>
          <a:p>
            <a:pPr lvl="2"/>
            <a:endParaRPr lang="en-US" dirty="0" smtClean="0"/>
          </a:p>
        </p:txBody>
      </p:sp>
      <p:sp>
        <p:nvSpPr>
          <p:cNvPr id="4" name="Footer Placeholder 3"/>
          <p:cNvSpPr>
            <a:spLocks noGrp="1"/>
          </p:cNvSpPr>
          <p:nvPr>
            <p:ph type="ftr" sz="quarter" idx="11"/>
          </p:nvPr>
        </p:nvSpPr>
        <p:spPr>
          <a:xfrm>
            <a:off x="0" y="6492875"/>
            <a:ext cx="5715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DANE</a:t>
            </a:r>
            <a:endParaRPr lang="en-US" dirty="0"/>
          </a:p>
        </p:txBody>
      </p:sp>
      <p:graphicFrame>
        <p:nvGraphicFramePr>
          <p:cNvPr id="5" name="Content Placeholder 4"/>
          <p:cNvGraphicFramePr>
            <a:graphicFrameLocks noGrp="1"/>
          </p:cNvGraphicFramePr>
          <p:nvPr>
            <p:ph idx="1"/>
          </p:nvPr>
        </p:nvGraphicFramePr>
        <p:xfrm>
          <a:off x="792163" y="1762125"/>
          <a:ext cx="7570787" cy="4638675"/>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0" y="6492875"/>
            <a:ext cx="56388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5562600" cy="365125"/>
          </a:xfrm>
        </p:spPr>
        <p:txBody>
          <a:bodyPr/>
          <a:lstStyle/>
          <a:p>
            <a:pPr>
              <a:defRPr/>
            </a:pPr>
            <a:r>
              <a:rPr lang="en-US" sz="1050" dirty="0" smtClean="0"/>
              <a:t>© 2017 Pearson Education, Inc., Hoboken, NJ. All rights reserved.         </a:t>
            </a:r>
            <a:endParaRPr lang="en-US" sz="1050" dirty="0"/>
          </a:p>
        </p:txBody>
      </p:sp>
      <p:pic>
        <p:nvPicPr>
          <p:cNvPr id="5" name="Picture 4" descr="f07.pdf"/>
          <p:cNvPicPr>
            <a:picLocks noChangeAspect="1"/>
          </p:cNvPicPr>
          <p:nvPr/>
        </p:nvPicPr>
        <mc:AlternateContent>
          <mc:Choice xmlns:ma="http://schemas.microsoft.com/office/mac/drawingml/2008/main" Requires="ma">
            <p:blipFill>
              <a:blip r:embed="rId3"/>
              <a:srcRect l="4706" t="18182" r="7059" b="51818"/>
              <a:stretch>
                <a:fillRect/>
              </a:stretch>
            </p:blipFill>
          </mc:Choice>
          <mc:Fallback>
            <p:blipFill>
              <a:blip r:embed="rId4"/>
              <a:srcRect l="4706" t="18182" r="7059" b="51818"/>
              <a:stretch>
                <a:fillRect/>
              </a:stretch>
            </p:blipFill>
          </mc:Fallback>
        </mc:AlternateContent>
        <p:spPr>
          <a:xfrm>
            <a:off x="0" y="1371600"/>
            <a:ext cx="9524730" cy="4190999"/>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Sender Policy Framework (SPF)</a:t>
            </a:r>
            <a:endParaRPr lang="en-US" dirty="0"/>
          </a:p>
        </p:txBody>
      </p:sp>
      <p:sp>
        <p:nvSpPr>
          <p:cNvPr id="3" name="Content Placeholder 2"/>
          <p:cNvSpPr>
            <a:spLocks noGrp="1"/>
          </p:cNvSpPr>
          <p:nvPr>
            <p:ph idx="1"/>
          </p:nvPr>
        </p:nvSpPr>
        <p:spPr>
          <a:xfrm>
            <a:off x="792163" y="1762125"/>
            <a:ext cx="7570787" cy="4638675"/>
          </a:xfrm>
        </p:spPr>
        <p:txBody>
          <a:bodyPr>
            <a:normAutofit fontScale="92500" lnSpcReduction="20000"/>
          </a:bodyPr>
          <a:lstStyle/>
          <a:p>
            <a:r>
              <a:rPr lang="en-US" dirty="0" smtClean="0"/>
              <a:t>SPF is the standardized way for a sending domain to identify and assert the mail senders for a given domain</a:t>
            </a:r>
          </a:p>
          <a:p>
            <a:r>
              <a:rPr lang="en-US" dirty="0" smtClean="0"/>
              <a:t>RFC 7208 defines the SPF</a:t>
            </a:r>
          </a:p>
          <a:p>
            <a:pPr lvl="1"/>
            <a:r>
              <a:rPr lang="en-US" dirty="0" smtClean="0"/>
              <a:t>It provides a protocol by which </a:t>
            </a:r>
            <a:r>
              <a:rPr lang="en-US" dirty="0" err="1" smtClean="0"/>
              <a:t>ADMDs</a:t>
            </a:r>
            <a:r>
              <a:rPr lang="en-US" dirty="0" smtClean="0"/>
              <a:t> can authorize hosts to use their domain names in the “MAIL FROM” or “HELLO” identities</a:t>
            </a:r>
          </a:p>
          <a:p>
            <a:r>
              <a:rPr lang="en-US" dirty="0" smtClean="0"/>
              <a:t>SPF works by checking a sender’s IP address against the policy encoded in any SPF record found at the sending domain</a:t>
            </a:r>
          </a:p>
          <a:p>
            <a:pPr lvl="1"/>
            <a:r>
              <a:rPr lang="en-US" dirty="0" smtClean="0"/>
              <a:t>This means that SPF checks can be applied before the message content is received from the sender</a:t>
            </a:r>
            <a:endParaRPr lang="en-US" dirty="0"/>
          </a:p>
        </p:txBody>
      </p:sp>
      <p:sp>
        <p:nvSpPr>
          <p:cNvPr id="4" name="Footer Placeholder 3"/>
          <p:cNvSpPr>
            <a:spLocks noGrp="1"/>
          </p:cNvSpPr>
          <p:nvPr>
            <p:ph type="ftr" sz="quarter" idx="11"/>
          </p:nvPr>
        </p:nvSpPr>
        <p:spPr>
          <a:xfrm>
            <a:off x="0" y="6492875"/>
            <a:ext cx="55626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0" y="6492875"/>
            <a:ext cx="4876800" cy="365125"/>
          </a:xfrm>
        </p:spPr>
        <p:txBody>
          <a:bodyPr/>
          <a:lstStyle/>
          <a:p>
            <a:pPr>
              <a:defRPr/>
            </a:pPr>
            <a:r>
              <a:rPr lang="en-US" sz="1050" dirty="0" smtClean="0"/>
              <a:t>© 2017 Pearson Education, Inc., Hoboken, NJ. All rights reserved.         </a:t>
            </a:r>
            <a:endParaRPr lang="en-US" sz="1050" dirty="0"/>
          </a:p>
        </p:txBody>
      </p:sp>
      <p:pic>
        <p:nvPicPr>
          <p:cNvPr id="8" name="Picture 7"/>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453189" y="1447800"/>
            <a:ext cx="8237622" cy="3962400"/>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4876800" cy="365125"/>
          </a:xfrm>
        </p:spPr>
        <p:txBody>
          <a:bodyPr/>
          <a:lstStyle/>
          <a:p>
            <a:pPr>
              <a:defRPr/>
            </a:pPr>
            <a:r>
              <a:rPr lang="en-US" sz="1050" dirty="0" smtClean="0"/>
              <a:t>© 2017 Pearson Education, Inc., Hoboken, NJ. All rights reserved.         </a:t>
            </a:r>
            <a:endParaRPr lang="en-US" sz="1050" dirty="0"/>
          </a:p>
        </p:txBody>
      </p:sp>
      <p:pic>
        <p:nvPicPr>
          <p:cNvPr id="5" name="Picture 4"/>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990600" y="152400"/>
            <a:ext cx="7197740" cy="6521543"/>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4800600" cy="365125"/>
          </a:xfrm>
        </p:spPr>
        <p:txBody>
          <a:bodyPr/>
          <a:lstStyle/>
          <a:p>
            <a:pPr>
              <a:defRPr/>
            </a:pPr>
            <a:r>
              <a:rPr lang="en-US" sz="1050" dirty="0" smtClean="0"/>
              <a:t>© 2017 Pearson Education, Inc., Hoboken, NJ. All rights reserved.         </a:t>
            </a:r>
            <a:endParaRPr lang="en-US" sz="1050" dirty="0"/>
          </a:p>
        </p:txBody>
      </p:sp>
      <p:pic>
        <p:nvPicPr>
          <p:cNvPr id="5" name="Picture 4" descr="f09.pdf"/>
          <p:cNvPicPr>
            <a:picLocks noChangeAspect="1"/>
          </p:cNvPicPr>
          <p:nvPr/>
        </p:nvPicPr>
        <mc:AlternateContent>
          <mc:Choice xmlns:ma="http://schemas.microsoft.com/office/mac/drawingml/2008/main" Requires="ma">
            <p:blipFill>
              <a:blip r:embed="rId3"/>
              <a:srcRect t="28182" b="22727"/>
              <a:stretch>
                <a:fillRect/>
              </a:stretch>
            </p:blipFill>
          </mc:Choice>
          <mc:Fallback>
            <p:blipFill>
              <a:blip r:embed="rId4"/>
              <a:srcRect t="28182" b="22727"/>
              <a:stretch>
                <a:fillRect/>
              </a:stretch>
            </p:blipFill>
          </mc:Fallback>
        </mc:AlternateContent>
        <p:spPr>
          <a:xfrm>
            <a:off x="0" y="609600"/>
            <a:ext cx="9235722" cy="5867400"/>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1" y="39688"/>
            <a:ext cx="9144000" cy="1412875"/>
          </a:xfrm>
        </p:spPr>
        <p:txBody>
          <a:bodyPr/>
          <a:lstStyle/>
          <a:p>
            <a:r>
              <a:rPr lang="en-US" sz="4400" dirty="0" smtClean="0"/>
              <a:t>DomainKeys Identified Mail (DKIM)</a:t>
            </a:r>
            <a:endParaRPr lang="en-US" sz="4400" dirty="0"/>
          </a:p>
        </p:txBody>
      </p:sp>
      <p:sp>
        <p:nvSpPr>
          <p:cNvPr id="6" name="Content Placeholder 5"/>
          <p:cNvSpPr>
            <a:spLocks noGrp="1"/>
          </p:cNvSpPr>
          <p:nvPr>
            <p:ph idx="1"/>
          </p:nvPr>
        </p:nvSpPr>
        <p:spPr>
          <a:xfrm>
            <a:off x="792163" y="1762125"/>
            <a:ext cx="7570787" cy="4638675"/>
          </a:xfrm>
        </p:spPr>
        <p:txBody>
          <a:bodyPr>
            <a:normAutofit fontScale="85000" lnSpcReduction="10000"/>
          </a:bodyPr>
          <a:lstStyle/>
          <a:p>
            <a:r>
              <a:rPr lang="en-US" dirty="0" smtClean="0"/>
              <a:t>A specification for cryptographically signing e-mail messages, permitting a signing domain to claim responsibility for a message in the mail stream</a:t>
            </a:r>
          </a:p>
          <a:p>
            <a:r>
              <a:rPr lang="en-US" dirty="0" smtClean="0"/>
              <a:t>Message recipients can verify the signature by querying the signer’s domain directly to retrieve the appropriate public key and can thereby confirm that the message was attested to by a party in possession of the private key for the signing domain</a:t>
            </a:r>
          </a:p>
          <a:p>
            <a:r>
              <a:rPr lang="en-US" dirty="0" smtClean="0"/>
              <a:t>Proposed Internet Standard RFC</a:t>
            </a:r>
            <a:r>
              <a:rPr lang="en-US" dirty="0" smtClean="0"/>
              <a:t> 6376</a:t>
            </a:r>
          </a:p>
          <a:p>
            <a:r>
              <a:rPr lang="en-US" dirty="0" smtClean="0"/>
              <a:t>Has been widely adopted by a range of e-mail providers and Internet Service Providers (ISPs)</a:t>
            </a:r>
            <a:endParaRPr lang="en-US" dirty="0"/>
          </a:p>
        </p:txBody>
      </p:sp>
      <p:sp>
        <p:nvSpPr>
          <p:cNvPr id="4" name="Footer Placeholder 3"/>
          <p:cNvSpPr>
            <a:spLocks noGrp="1"/>
          </p:cNvSpPr>
          <p:nvPr>
            <p:ph type="ftr" sz="quarter" idx="11"/>
          </p:nvPr>
        </p:nvSpPr>
        <p:spPr>
          <a:xfrm>
            <a:off x="0" y="6492875"/>
            <a:ext cx="55626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E-mail Threats</a:t>
            </a:r>
            <a:endParaRPr lang="en-US" dirty="0"/>
          </a:p>
        </p:txBody>
      </p:sp>
      <p:sp>
        <p:nvSpPr>
          <p:cNvPr id="3" name="Content Placeholder 2"/>
          <p:cNvSpPr>
            <a:spLocks noGrp="1"/>
          </p:cNvSpPr>
          <p:nvPr>
            <p:ph sz="half" idx="1"/>
          </p:nvPr>
        </p:nvSpPr>
        <p:spPr>
          <a:xfrm>
            <a:off x="228600" y="1600200"/>
            <a:ext cx="3566160" cy="4303713"/>
          </a:xfrm>
        </p:spPr>
        <p:txBody>
          <a:bodyPr>
            <a:normAutofit/>
          </a:bodyPr>
          <a:lstStyle/>
          <a:p>
            <a:r>
              <a:rPr lang="en-US" dirty="0" smtClean="0"/>
              <a:t>RFC </a:t>
            </a:r>
            <a:r>
              <a:rPr lang="en-US" dirty="0" smtClean="0"/>
              <a:t>4686 </a:t>
            </a:r>
            <a:r>
              <a:rPr lang="en-US" i="1" dirty="0" smtClean="0"/>
              <a:t>(Analysis of Threats Motivating DomainKeys Identified Mail)</a:t>
            </a:r>
          </a:p>
          <a:p>
            <a:pPr lvl="1"/>
            <a:r>
              <a:rPr lang="en-US" dirty="0" smtClean="0"/>
              <a:t>Describes the threats being addressed by DKIM in terms of the characteristics, capabilities, and location of potential attackers</a:t>
            </a:r>
          </a:p>
        </p:txBody>
      </p:sp>
      <p:sp>
        <p:nvSpPr>
          <p:cNvPr id="5" name="Content Placeholder 4"/>
          <p:cNvSpPr>
            <a:spLocks noGrp="1"/>
          </p:cNvSpPr>
          <p:nvPr>
            <p:ph sz="half" idx="2"/>
          </p:nvPr>
        </p:nvSpPr>
        <p:spPr>
          <a:xfrm>
            <a:off x="4191000" y="1524000"/>
            <a:ext cx="4572000" cy="4303713"/>
          </a:xfrm>
        </p:spPr>
        <p:txBody>
          <a:bodyPr>
            <a:normAutofit/>
          </a:bodyPr>
          <a:lstStyle/>
          <a:p>
            <a:r>
              <a:rPr lang="en-US" dirty="0" smtClean="0"/>
              <a:t>Characterized on three levels 	             of threat:</a:t>
            </a:r>
          </a:p>
          <a:p>
            <a:endParaRPr lang="en-US" dirty="0"/>
          </a:p>
        </p:txBody>
      </p:sp>
      <p:graphicFrame>
        <p:nvGraphicFramePr>
          <p:cNvPr id="4" name="Diagram 3"/>
          <p:cNvGraphicFramePr/>
          <p:nvPr/>
        </p:nvGraphicFramePr>
        <p:xfrm>
          <a:off x="4495800" y="2362200"/>
          <a:ext cx="4876800" cy="42926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0" y="6492875"/>
            <a:ext cx="46482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7467600" cy="365125"/>
          </a:xfrm>
        </p:spPr>
        <p:txBody>
          <a:bodyPr/>
          <a:lstStyle/>
          <a:p>
            <a:pPr>
              <a:defRPr/>
            </a:pPr>
            <a:r>
              <a:rPr lang="en-US" sz="1050" dirty="0" smtClean="0"/>
              <a:t>© 2017 Pearson Education, Inc., Hoboken, NJ. All rights reserved.         </a:t>
            </a:r>
            <a:endParaRPr lang="en-US" sz="1050" dirty="0"/>
          </a:p>
        </p:txBody>
      </p:sp>
      <p:pic>
        <p:nvPicPr>
          <p:cNvPr id="4" name="Picture 3" descr="f10.pdf"/>
          <p:cNvPicPr>
            <a:picLocks noChangeAspect="1"/>
          </p:cNvPicPr>
          <p:nvPr/>
        </p:nvPicPr>
        <mc:AlternateContent>
          <mc:Choice xmlns:ma="http://schemas.microsoft.com/office/mac/drawingml/2008/main" Requires="ma">
            <p:blipFill>
              <a:blip r:embed="rId3"/>
              <a:srcRect t="5455" b="18182"/>
              <a:stretch>
                <a:fillRect/>
              </a:stretch>
            </p:blipFill>
          </mc:Choice>
          <mc:Fallback>
            <p:blipFill>
              <a:blip r:embed="rId4"/>
              <a:srcRect t="5455" b="18182"/>
              <a:stretch>
                <a:fillRect/>
              </a:stretch>
            </p:blipFill>
          </mc:Fallback>
        </mc:AlternateContent>
        <p:spPr>
          <a:xfrm>
            <a:off x="1295400" y="0"/>
            <a:ext cx="6705600" cy="6626668"/>
          </a:xfrm>
          <a:prstGeom prst="rect">
            <a:avLst/>
          </a:prstGeom>
        </p:spPr>
      </p:pic>
    </p:spTree>
  </p:cSld>
  <p:clrMapOvr>
    <a:masterClrMapping/>
  </p:clrMapOvr>
  <p:transition spd="med">
    <p:wedg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6248400" cy="365125"/>
          </a:xfrm>
        </p:spPr>
        <p:txBody>
          <a:bodyPr/>
          <a:lstStyle/>
          <a:p>
            <a:pPr>
              <a:defRPr/>
            </a:pPr>
            <a:r>
              <a:rPr lang="en-US" sz="1050" dirty="0" smtClean="0"/>
              <a:t>© 2017 Pearson Education, Inc., Hoboken, NJ. All rights reserved.         </a:t>
            </a:r>
            <a:endParaRPr lang="en-US" sz="1050" dirty="0"/>
          </a:p>
        </p:txBody>
      </p:sp>
      <p:pic>
        <p:nvPicPr>
          <p:cNvPr id="5" name="Picture 4" descr="f11.pdf"/>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1922318" y="0"/>
            <a:ext cx="5299364" cy="6858000"/>
          </a:xfrm>
          <a:prstGeom prst="rect">
            <a:avLst/>
          </a:prstGeom>
        </p:spPr>
      </p:pic>
    </p:spTree>
  </p:cSld>
  <p:clrMapOvr>
    <a:masterClrMapping/>
  </p:clrMapOvr>
  <p:transition>
    <p:dissolve/>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DMARC</a:t>
            </a:r>
            <a:endParaRPr lang="en-US" dirty="0"/>
          </a:p>
        </p:txBody>
      </p:sp>
      <p:sp>
        <p:nvSpPr>
          <p:cNvPr id="3" name="Content Placeholder 2"/>
          <p:cNvSpPr>
            <a:spLocks noGrp="1"/>
          </p:cNvSpPr>
          <p:nvPr>
            <p:ph idx="1"/>
          </p:nvPr>
        </p:nvSpPr>
        <p:spPr/>
        <p:txBody>
          <a:bodyPr/>
          <a:lstStyle/>
          <a:p>
            <a:r>
              <a:rPr lang="en-US" dirty="0" smtClean="0"/>
              <a:t>Domain-Based Message Authentication, Reporting, and Conformance</a:t>
            </a:r>
          </a:p>
          <a:p>
            <a:r>
              <a:rPr lang="en-US" dirty="0" smtClean="0"/>
              <a:t>Allows email senders to specify policy on how their mail should be handled, the types of reports that receivers can send back, and the frequency those reports should be sent</a:t>
            </a:r>
          </a:p>
          <a:p>
            <a:r>
              <a:rPr lang="en-US" dirty="0" smtClean="0"/>
              <a:t>It is defined in RFC 7489 (</a:t>
            </a:r>
            <a:r>
              <a:rPr lang="en-US" i="1" dirty="0" smtClean="0"/>
              <a:t>Domain-based Message Authentication, Reporting, and Conformance, </a:t>
            </a:r>
            <a:r>
              <a:rPr lang="en-US" dirty="0" smtClean="0"/>
              <a:t>March 2015)</a:t>
            </a:r>
          </a:p>
          <a:p>
            <a:endParaRPr lang="en-US" dirty="0"/>
          </a:p>
        </p:txBody>
      </p:sp>
      <p:sp>
        <p:nvSpPr>
          <p:cNvPr id="4" name="Footer Placeholder 3"/>
          <p:cNvSpPr>
            <a:spLocks noGrp="1"/>
          </p:cNvSpPr>
          <p:nvPr>
            <p:ph type="ftr" sz="quarter" idx="11"/>
          </p:nvPr>
        </p:nvSpPr>
        <p:spPr>
          <a:xfrm>
            <a:off x="0" y="6492875"/>
            <a:ext cx="5715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6477000" cy="365125"/>
          </a:xfrm>
        </p:spPr>
        <p:txBody>
          <a:bodyPr/>
          <a:lstStyle/>
          <a:p>
            <a:pPr>
              <a:defRPr/>
            </a:pPr>
            <a:r>
              <a:rPr lang="en-US" sz="1050" dirty="0" smtClean="0"/>
              <a:t>© 2017 Pearson Education, Inc., Hoboken, NJ. All rights reserved.         </a:t>
            </a:r>
            <a:endParaRPr lang="en-US" sz="1050" dirty="0"/>
          </a:p>
        </p:txBody>
      </p:sp>
      <p:pic>
        <p:nvPicPr>
          <p:cNvPr id="7" name="Picture 6" descr="f19-12.pdf"/>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1828800" y="-152400"/>
            <a:ext cx="5687291" cy="7360023"/>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5867400" cy="365125"/>
          </a:xfrm>
        </p:spPr>
        <p:txBody>
          <a:bodyPr/>
          <a:lstStyle/>
          <a:p>
            <a:pPr>
              <a:defRPr/>
            </a:pPr>
            <a:r>
              <a:rPr lang="en-US" sz="1050" dirty="0" smtClean="0"/>
              <a:t>© 2017 Pearson Education, Inc., Hoboken, NJ. </a:t>
            </a:r>
          </a:p>
          <a:p>
            <a:pPr>
              <a:defRPr/>
            </a:pPr>
            <a:r>
              <a:rPr lang="en-US" sz="1050" dirty="0" smtClean="0"/>
              <a:t>All rights reserved.         </a:t>
            </a:r>
            <a:endParaRPr lang="en-US" sz="1050" dirty="0"/>
          </a:p>
        </p:txBody>
      </p:sp>
      <p:pic>
        <p:nvPicPr>
          <p:cNvPr id="5" name="Picture 4"/>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3352800" y="152400"/>
            <a:ext cx="5508172" cy="6705600"/>
          </a:xfrm>
          <a:prstGeom prst="rect">
            <a:avLst/>
          </a:prstGeom>
        </p:spPr>
      </p:pic>
      <p:sp>
        <p:nvSpPr>
          <p:cNvPr id="6" name="TextBox 5"/>
          <p:cNvSpPr txBox="1"/>
          <p:nvPr/>
        </p:nvSpPr>
        <p:spPr>
          <a:xfrm>
            <a:off x="381000" y="1422400"/>
            <a:ext cx="2743201" cy="2923877"/>
          </a:xfrm>
          <a:prstGeom prst="rect">
            <a:avLst/>
          </a:prstGeom>
          <a:noFill/>
        </p:spPr>
        <p:txBody>
          <a:bodyPr wrap="square" rtlCol="0">
            <a:spAutoFit/>
          </a:bodyPr>
          <a:lstStyle/>
          <a:p>
            <a:pPr algn="ctr"/>
            <a:r>
              <a:rPr lang="en-US" sz="4000" dirty="0" smtClean="0">
                <a:latin typeface="+mn-lt"/>
              </a:rPr>
              <a:t>Table 19.8 </a:t>
            </a:r>
            <a:r>
              <a:rPr lang="en-US" sz="4000" dirty="0" smtClean="0">
                <a:latin typeface="+mn-lt"/>
              </a:rPr>
              <a:t> </a:t>
            </a:r>
          </a:p>
          <a:p>
            <a:pPr algn="ctr"/>
            <a:endParaRPr lang="en-US" sz="3600" dirty="0" smtClean="0">
              <a:latin typeface="+mn-lt"/>
            </a:endParaRPr>
          </a:p>
          <a:p>
            <a:pPr algn="ctr"/>
            <a:r>
              <a:rPr lang="en-US" sz="3600" dirty="0" smtClean="0">
                <a:latin typeface="+mn-lt"/>
              </a:rPr>
              <a:t>DMARC </a:t>
            </a:r>
            <a:r>
              <a:rPr lang="en-US" sz="3600" dirty="0" smtClean="0">
                <a:latin typeface="+mn-lt"/>
              </a:rPr>
              <a:t>Tag</a:t>
            </a:r>
            <a:r>
              <a:rPr lang="en-US" sz="3600" dirty="0" smtClean="0">
                <a:latin typeface="+mn-lt"/>
              </a:rPr>
              <a:t> </a:t>
            </a:r>
          </a:p>
          <a:p>
            <a:pPr algn="ctr"/>
            <a:r>
              <a:rPr lang="en-US" sz="3600" dirty="0" smtClean="0">
                <a:latin typeface="+mn-lt"/>
              </a:rPr>
              <a:t>and </a:t>
            </a:r>
            <a:r>
              <a:rPr lang="en-US" sz="3600" dirty="0" smtClean="0">
                <a:latin typeface="+mn-lt"/>
              </a:rPr>
              <a:t>Value</a:t>
            </a:r>
            <a:r>
              <a:rPr lang="en-US" sz="3600" dirty="0" smtClean="0">
                <a:latin typeface="+mn-lt"/>
              </a:rPr>
              <a:t> </a:t>
            </a:r>
          </a:p>
          <a:p>
            <a:pPr algn="ctr"/>
            <a:r>
              <a:rPr lang="en-US" sz="3600" dirty="0" smtClean="0">
                <a:latin typeface="+mn-lt"/>
              </a:rPr>
              <a:t>Descriptions</a:t>
            </a:r>
            <a:endParaRPr lang="en-US" sz="3600" dirty="0">
              <a:latin typeface="+mn-lt"/>
            </a:endParaRPr>
          </a:p>
        </p:txBody>
      </p:sp>
      <p:sp>
        <p:nvSpPr>
          <p:cNvPr id="7" name="TextBox 6"/>
          <p:cNvSpPr txBox="1"/>
          <p:nvPr/>
        </p:nvSpPr>
        <p:spPr>
          <a:xfrm>
            <a:off x="406400" y="4762500"/>
            <a:ext cx="2751174" cy="276999"/>
          </a:xfrm>
          <a:prstGeom prst="rect">
            <a:avLst/>
          </a:prstGeom>
          <a:noFill/>
        </p:spPr>
        <p:txBody>
          <a:bodyPr wrap="none" rtlCol="0">
            <a:spAutoFit/>
          </a:bodyPr>
          <a:lstStyle/>
          <a:p>
            <a:r>
              <a:rPr lang="en-US" sz="1200" dirty="0" smtClean="0"/>
              <a:t>(Table is on page 638 in the textbook)</a:t>
            </a:r>
            <a:endParaRPr lang="en-US" sz="1200"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dirty="0" smtClean="0"/>
              <a:t>Summary</a:t>
            </a:r>
            <a:endParaRPr lang="en-AU" dirty="0" smtClean="0"/>
          </a:p>
        </p:txBody>
      </p:sp>
      <p:sp>
        <p:nvSpPr>
          <p:cNvPr id="100355" name="Rectangle 3"/>
          <p:cNvSpPr>
            <a:spLocks noGrp="1" noChangeArrowheads="1"/>
          </p:cNvSpPr>
          <p:nvPr>
            <p:ph sz="half" idx="1"/>
          </p:nvPr>
        </p:nvSpPr>
        <p:spPr>
          <a:xfrm>
            <a:off x="152400" y="1600200"/>
            <a:ext cx="3565525" cy="4953000"/>
          </a:xfrm>
        </p:spPr>
        <p:txBody>
          <a:bodyPr>
            <a:normAutofit fontScale="70000" lnSpcReduction="20000"/>
          </a:bodyPr>
          <a:lstStyle/>
          <a:p>
            <a:r>
              <a:rPr lang="en-US" dirty="0" smtClean="0"/>
              <a:t>Internet mail architecture</a:t>
            </a:r>
          </a:p>
          <a:p>
            <a:pPr lvl="1"/>
            <a:r>
              <a:rPr lang="en-US" dirty="0" smtClean="0"/>
              <a:t>Email components</a:t>
            </a:r>
          </a:p>
          <a:p>
            <a:pPr lvl="1"/>
            <a:r>
              <a:rPr lang="en-US" dirty="0" smtClean="0"/>
              <a:t>Email protocols</a:t>
            </a:r>
          </a:p>
          <a:p>
            <a:r>
              <a:rPr lang="en-US" dirty="0" smtClean="0"/>
              <a:t>Email formats</a:t>
            </a:r>
          </a:p>
          <a:p>
            <a:pPr lvl="1"/>
            <a:r>
              <a:rPr lang="en-US" dirty="0" smtClean="0"/>
              <a:t>RFC 5322</a:t>
            </a:r>
          </a:p>
          <a:p>
            <a:pPr lvl="1"/>
            <a:r>
              <a:rPr lang="en-US" dirty="0" smtClean="0"/>
              <a:t>Multipurpose internet mail extensions </a:t>
            </a:r>
          </a:p>
          <a:p>
            <a:r>
              <a:rPr lang="en-US" dirty="0" smtClean="0"/>
              <a:t>Email threats and comprehensive email security </a:t>
            </a:r>
          </a:p>
          <a:p>
            <a:r>
              <a:rPr lang="en-US" dirty="0" smtClean="0"/>
              <a:t>P</a:t>
            </a:r>
            <a:r>
              <a:rPr lang="en-US" dirty="0" smtClean="0"/>
              <a:t>retty good privacy</a:t>
            </a:r>
          </a:p>
          <a:p>
            <a:r>
              <a:rPr lang="en-US" dirty="0" smtClean="0"/>
              <a:t>DNSSEC</a:t>
            </a:r>
          </a:p>
          <a:p>
            <a:pPr lvl="1"/>
            <a:r>
              <a:rPr lang="en-US" dirty="0" smtClean="0"/>
              <a:t>Domain name system</a:t>
            </a:r>
          </a:p>
          <a:p>
            <a:pPr lvl="1"/>
            <a:r>
              <a:rPr lang="en-US" dirty="0" smtClean="0"/>
              <a:t>DNS security extensions</a:t>
            </a:r>
            <a:endParaRPr lang="en-AU" dirty="0" smtClean="0"/>
          </a:p>
        </p:txBody>
      </p:sp>
      <p:sp>
        <p:nvSpPr>
          <p:cNvPr id="76804" name="Content Placeholder 11"/>
          <p:cNvSpPr>
            <a:spLocks noGrp="1"/>
          </p:cNvSpPr>
          <p:nvPr>
            <p:ph sz="half" idx="2"/>
          </p:nvPr>
        </p:nvSpPr>
        <p:spPr>
          <a:xfrm>
            <a:off x="5578475" y="1524000"/>
            <a:ext cx="3565525" cy="5105400"/>
          </a:xfrm>
        </p:spPr>
        <p:txBody>
          <a:bodyPr rtlCol="0">
            <a:normAutofit fontScale="70000" lnSpcReduction="20000"/>
          </a:bodyPr>
          <a:lstStyle/>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S/MIME</a:t>
            </a:r>
            <a:endParaRPr lang="en-US" dirty="0" smtClean="0">
              <a:ea typeface="+mn-ea"/>
              <a:cs typeface="+mn-cs"/>
            </a:endParaRPr>
          </a:p>
          <a:p>
            <a:pPr lvl="1" fontAlgn="auto">
              <a:spcAft>
                <a:spcPts val="0"/>
              </a:spcAft>
              <a:buClr>
                <a:schemeClr val="accent1">
                  <a:lumMod val="60000"/>
                  <a:lumOff val="40000"/>
                </a:schemeClr>
              </a:buClr>
              <a:buFont typeface="Candara" pitchFamily="34" charset="0"/>
              <a:buChar char="•"/>
              <a:defRPr/>
            </a:pPr>
            <a:r>
              <a:rPr lang="en-US" dirty="0" smtClean="0">
                <a:ea typeface="+mn-ea"/>
              </a:rPr>
              <a:t>Operational description</a:t>
            </a:r>
          </a:p>
          <a:p>
            <a:pPr lvl="1" fontAlgn="auto">
              <a:spcAft>
                <a:spcPts val="0"/>
              </a:spcAft>
              <a:buClr>
                <a:schemeClr val="accent1">
                  <a:lumMod val="60000"/>
                  <a:lumOff val="40000"/>
                </a:schemeClr>
              </a:buClr>
              <a:buFont typeface="Candara" pitchFamily="34" charset="0"/>
              <a:buChar char="•"/>
              <a:defRPr/>
            </a:pPr>
            <a:r>
              <a:rPr lang="en-US" dirty="0" smtClean="0">
                <a:ea typeface="+mn-ea"/>
              </a:rPr>
              <a:t>S/MIME message content types</a:t>
            </a:r>
          </a:p>
          <a:p>
            <a:pPr lvl="1" fontAlgn="auto">
              <a:spcAft>
                <a:spcPts val="0"/>
              </a:spcAft>
              <a:buClr>
                <a:schemeClr val="accent1">
                  <a:lumMod val="60000"/>
                  <a:lumOff val="40000"/>
                </a:schemeClr>
              </a:buClr>
              <a:buFont typeface="Candara" pitchFamily="34" charset="0"/>
              <a:buChar char="•"/>
              <a:defRPr/>
            </a:pPr>
            <a:r>
              <a:rPr lang="en-US" dirty="0" smtClean="0">
                <a:ea typeface="+mn-ea"/>
              </a:rPr>
              <a:t>Approved cryptographic algorithms</a:t>
            </a:r>
          </a:p>
          <a:p>
            <a:pPr lvl="1" fontAlgn="auto">
              <a:spcAft>
                <a:spcPts val="0"/>
              </a:spcAft>
              <a:buClr>
                <a:schemeClr val="accent1">
                  <a:lumMod val="60000"/>
                  <a:lumOff val="40000"/>
                </a:schemeClr>
              </a:buClr>
              <a:buFont typeface="Candara" pitchFamily="34" charset="0"/>
              <a:buChar char="•"/>
              <a:defRPr/>
            </a:pPr>
            <a:r>
              <a:rPr lang="en-US" dirty="0" smtClean="0">
                <a:ea typeface="+mn-ea"/>
              </a:rPr>
              <a:t>S/MIME messages</a:t>
            </a:r>
          </a:p>
          <a:p>
            <a:pPr lvl="1" fontAlgn="auto">
              <a:spcAft>
                <a:spcPts val="0"/>
              </a:spcAft>
              <a:buClr>
                <a:schemeClr val="accent1">
                  <a:lumMod val="60000"/>
                  <a:lumOff val="40000"/>
                </a:schemeClr>
              </a:buClr>
              <a:buFont typeface="Candara" pitchFamily="34" charset="0"/>
              <a:buChar char="•"/>
              <a:defRPr/>
            </a:pPr>
            <a:r>
              <a:rPr lang="en-US" dirty="0" smtClean="0">
                <a:ea typeface="+mn-ea"/>
              </a:rPr>
              <a:t>S/MIME certificate processing</a:t>
            </a:r>
          </a:p>
          <a:p>
            <a:pPr lvl="1" fontAlgn="auto">
              <a:spcAft>
                <a:spcPts val="0"/>
              </a:spcAft>
              <a:buClr>
                <a:schemeClr val="accent1">
                  <a:lumMod val="60000"/>
                  <a:lumOff val="40000"/>
                </a:schemeClr>
              </a:buClr>
              <a:buFont typeface="Candara" pitchFamily="34" charset="0"/>
              <a:buChar char="•"/>
              <a:defRPr/>
            </a:pPr>
            <a:r>
              <a:rPr lang="en-US" dirty="0" smtClean="0">
                <a:ea typeface="+mn-ea"/>
              </a:rPr>
              <a:t>Enhanced security services</a:t>
            </a:r>
          </a:p>
          <a:p>
            <a:pPr marL="342900" lvl="1" indent="-342900">
              <a:spcBef>
                <a:spcPts val="2400"/>
              </a:spcBef>
              <a:buClr>
                <a:schemeClr val="accent1">
                  <a:lumMod val="60000"/>
                  <a:lumOff val="40000"/>
                </a:schemeClr>
              </a:buClr>
              <a:defRPr/>
            </a:pPr>
            <a:r>
              <a:rPr lang="en-US" sz="2452" dirty="0" smtClean="0">
                <a:cs typeface="ＭＳ Ｐゴシック" pitchFamily="-84" charset="-128"/>
              </a:rPr>
              <a:t>DNS-based authentication of named entities</a:t>
            </a:r>
          </a:p>
          <a:p>
            <a:pPr marL="692150" lvl="2" indent="-342900">
              <a:spcBef>
                <a:spcPts val="200"/>
              </a:spcBef>
              <a:buClr>
                <a:schemeClr val="accent1">
                  <a:lumMod val="60000"/>
                  <a:lumOff val="40000"/>
                </a:schemeClr>
              </a:buClr>
              <a:defRPr/>
            </a:pPr>
            <a:r>
              <a:rPr lang="en-US" sz="2452" dirty="0" smtClean="0">
                <a:cs typeface="ＭＳ Ｐゴシック" pitchFamily="-84" charset="-128"/>
              </a:rPr>
              <a:t>TLSA record</a:t>
            </a:r>
          </a:p>
          <a:p>
            <a:pPr marL="342900" lvl="1" indent="-342900" fontAlgn="auto">
              <a:spcBef>
                <a:spcPts val="2400"/>
              </a:spcBef>
              <a:spcAft>
                <a:spcPts val="0"/>
              </a:spcAft>
              <a:buClr>
                <a:schemeClr val="accent1">
                  <a:lumMod val="60000"/>
                  <a:lumOff val="40000"/>
                </a:schemeClr>
              </a:buClr>
              <a:buFont typeface="Candara" pitchFamily="34" charset="0"/>
              <a:buChar char="•"/>
              <a:defRPr/>
            </a:pPr>
            <a:r>
              <a:rPr lang="en-US" sz="2452" dirty="0" smtClean="0">
                <a:ea typeface="+mn-ea"/>
              </a:rPr>
              <a:t>Sender policy framework</a:t>
            </a:r>
          </a:p>
          <a:p>
            <a:pPr marL="342900" lvl="1" indent="-342900">
              <a:spcBef>
                <a:spcPts val="400"/>
              </a:spcBef>
              <a:buClr>
                <a:schemeClr val="accent1">
                  <a:lumMod val="60000"/>
                  <a:lumOff val="40000"/>
                </a:schemeClr>
              </a:buClr>
              <a:defRPr/>
            </a:pPr>
            <a:r>
              <a:rPr lang="en-US" sz="2400" dirty="0" err="1" smtClean="0">
                <a:cs typeface="ＭＳ Ｐゴシック" pitchFamily="-84" charset="-128"/>
              </a:rPr>
              <a:t>DomainKeys</a:t>
            </a:r>
            <a:r>
              <a:rPr lang="en-US" sz="2400" dirty="0" smtClean="0">
                <a:cs typeface="ＭＳ Ｐゴシック" pitchFamily="-84" charset="-128"/>
              </a:rPr>
              <a:t> identified mail </a:t>
            </a:r>
          </a:p>
          <a:p>
            <a:pPr marL="692150" lvl="2" indent="-342900">
              <a:spcBef>
                <a:spcPts val="400"/>
              </a:spcBef>
              <a:buClr>
                <a:schemeClr val="accent1">
                  <a:lumMod val="60000"/>
                  <a:lumOff val="40000"/>
                </a:schemeClr>
              </a:buClr>
              <a:defRPr/>
            </a:pPr>
            <a:r>
              <a:rPr lang="en-US" sz="2400" dirty="0" smtClean="0">
                <a:cs typeface="ＭＳ Ｐゴシック" pitchFamily="-84" charset="-128"/>
              </a:rPr>
              <a:t>Email threats</a:t>
            </a:r>
          </a:p>
          <a:p>
            <a:pPr marL="692150" lvl="2" indent="-342900">
              <a:spcBef>
                <a:spcPts val="400"/>
              </a:spcBef>
              <a:buClr>
                <a:schemeClr val="accent1">
                  <a:lumMod val="60000"/>
                  <a:lumOff val="40000"/>
                </a:schemeClr>
              </a:buClr>
              <a:defRPr/>
            </a:pPr>
            <a:r>
              <a:rPr lang="en-US" sz="2400" dirty="0" smtClean="0">
                <a:cs typeface="ＭＳ Ｐゴシック" pitchFamily="-84" charset="-128"/>
              </a:rPr>
              <a:t>DKIM strategy</a:t>
            </a:r>
          </a:p>
          <a:p>
            <a:pPr marL="692150" lvl="2" indent="-342900">
              <a:spcBef>
                <a:spcPts val="400"/>
              </a:spcBef>
              <a:buClr>
                <a:schemeClr val="accent1">
                  <a:lumMod val="60000"/>
                  <a:lumOff val="40000"/>
                </a:schemeClr>
              </a:buClr>
              <a:defRPr/>
            </a:pPr>
            <a:r>
              <a:rPr lang="en-US" sz="2400" dirty="0" smtClean="0">
                <a:cs typeface="ＭＳ Ｐゴシック" pitchFamily="-84" charset="-128"/>
              </a:rPr>
              <a:t>DKIM functional flow</a:t>
            </a:r>
          </a:p>
          <a:p>
            <a:pPr lvl="1" fontAlgn="auto">
              <a:spcAft>
                <a:spcPts val="0"/>
              </a:spcAft>
              <a:buClr>
                <a:schemeClr val="accent1">
                  <a:lumMod val="60000"/>
                  <a:lumOff val="40000"/>
                </a:schemeClr>
              </a:buClr>
              <a:buFont typeface="Candara" pitchFamily="34" charset="0"/>
              <a:buChar char="•"/>
              <a:defRPr/>
            </a:pPr>
            <a:endParaRPr lang="en-US" dirty="0" smtClean="0"/>
          </a:p>
        </p:txBody>
      </p:sp>
      <p:pic>
        <p:nvPicPr>
          <p:cNvPr id="5" name="Picture Placeholder 4" descr="crypto.jpg"/>
          <p:cNvPicPr>
            <a:picLocks noChangeAspect="1"/>
          </p:cNvPicPr>
          <p:nvPr/>
        </p:nvPicPr>
        <p:blipFill>
          <a:blip r:embed="rId3">
            <a:alphaModFix/>
            <a:lum bright="28000"/>
          </a:blip>
          <a:srcRect l="-16674" t="-1111" r="-18211" b="44444"/>
          <a:stretch>
            <a:fillRect/>
          </a:stretch>
        </p:blipFill>
        <p:spPr bwMode="auto">
          <a:xfrm>
            <a:off x="3581400" y="30480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6" name="Footer Placeholder 5"/>
          <p:cNvSpPr>
            <a:spLocks noGrp="1"/>
          </p:cNvSpPr>
          <p:nvPr>
            <p:ph type="ftr" sz="quarter" idx="11"/>
          </p:nvPr>
        </p:nvSpPr>
        <p:spPr>
          <a:xfrm>
            <a:off x="0" y="6492875"/>
            <a:ext cx="46482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ch01">
  <a:themeElements>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fontScheme name="ch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ch01 1">
        <a:dk1>
          <a:srgbClr val="2B2B85"/>
        </a:dk1>
        <a:lt1>
          <a:srgbClr val="FFFFFF"/>
        </a:lt1>
        <a:dk2>
          <a:srgbClr val="00254A"/>
        </a:dk2>
        <a:lt2>
          <a:srgbClr val="C0C0C0"/>
        </a:lt2>
        <a:accent1>
          <a:srgbClr val="2E2E8E"/>
        </a:accent1>
        <a:accent2>
          <a:srgbClr val="0066CC"/>
        </a:accent2>
        <a:accent3>
          <a:srgbClr val="AAACB1"/>
        </a:accent3>
        <a:accent4>
          <a:srgbClr val="DADADA"/>
        </a:accent4>
        <a:accent5>
          <a:srgbClr val="ADADC6"/>
        </a:accent5>
        <a:accent6>
          <a:srgbClr val="005CB9"/>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ch01 2">
        <a:dk1>
          <a:srgbClr val="3B4B5D"/>
        </a:dk1>
        <a:lt1>
          <a:srgbClr val="FFFFFF"/>
        </a:lt1>
        <a:dk2>
          <a:srgbClr val="466886"/>
        </a:dk2>
        <a:lt2>
          <a:srgbClr val="CCECFF"/>
        </a:lt2>
        <a:accent1>
          <a:srgbClr val="58718C"/>
        </a:accent1>
        <a:accent2>
          <a:srgbClr val="6D9D97"/>
        </a:accent2>
        <a:accent3>
          <a:srgbClr val="B0B9C3"/>
        </a:accent3>
        <a:accent4>
          <a:srgbClr val="DADADA"/>
        </a:accent4>
        <a:accent5>
          <a:srgbClr val="B4BBC5"/>
        </a:accent5>
        <a:accent6>
          <a:srgbClr val="628E88"/>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ch01 3">
        <a:dk1>
          <a:srgbClr val="008AE8"/>
        </a:dk1>
        <a:lt1>
          <a:srgbClr val="FFFFFF"/>
        </a:lt1>
        <a:dk2>
          <a:srgbClr val="0068AE"/>
        </a:dk2>
        <a:lt2>
          <a:srgbClr val="CCECFF"/>
        </a:lt2>
        <a:accent1>
          <a:srgbClr val="0088E4"/>
        </a:accent1>
        <a:accent2>
          <a:srgbClr val="009999"/>
        </a:accent2>
        <a:accent3>
          <a:srgbClr val="AAB9D3"/>
        </a:accent3>
        <a:accent4>
          <a:srgbClr val="DADADA"/>
        </a:accent4>
        <a:accent5>
          <a:srgbClr val="AAC3EF"/>
        </a:accent5>
        <a:accent6>
          <a:srgbClr val="008A8A"/>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clrMap bg1="dk2" tx1="lt1" bg2="dk1" tx2="lt2" accent1="accent1" accent2="accent2" accent3="accent3" accent4="accent4" accent5="accent5" accent6="accent6" hlink="hlink" folHlink="folHlink"/>
    </a:extraClrScheme>
    <a:extraClrScheme>
      <a:clrScheme name="ch01 5">
        <a:dk1>
          <a:srgbClr val="008080"/>
        </a:dk1>
        <a:lt1>
          <a:srgbClr val="FFFFFF"/>
        </a:lt1>
        <a:dk2>
          <a:srgbClr val="006666"/>
        </a:dk2>
        <a:lt2>
          <a:srgbClr val="FFFFCC"/>
        </a:lt2>
        <a:accent1>
          <a:srgbClr val="008080"/>
        </a:accent1>
        <a:accent2>
          <a:srgbClr val="0099FF"/>
        </a:accent2>
        <a:accent3>
          <a:srgbClr val="AAB8B8"/>
        </a:accent3>
        <a:accent4>
          <a:srgbClr val="DADADA"/>
        </a:accent4>
        <a:accent5>
          <a:srgbClr val="AAC0C0"/>
        </a:accent5>
        <a:accent6>
          <a:srgbClr val="008AE7"/>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ch01 6">
        <a:dk1>
          <a:srgbClr val="CDD9D1"/>
        </a:dk1>
        <a:lt1>
          <a:srgbClr val="FFFFFF"/>
        </a:lt1>
        <a:dk2>
          <a:srgbClr val="A3BBA9"/>
        </a:dk2>
        <a:lt2>
          <a:srgbClr val="007D80"/>
        </a:lt2>
        <a:accent1>
          <a:srgbClr val="CBD7CE"/>
        </a:accent1>
        <a:accent2>
          <a:srgbClr val="9CA8A4"/>
        </a:accent2>
        <a:accent3>
          <a:srgbClr val="CEDAD1"/>
        </a:accent3>
        <a:accent4>
          <a:srgbClr val="DADADA"/>
        </a:accent4>
        <a:accent5>
          <a:srgbClr val="E2E8E3"/>
        </a:accent5>
        <a:accent6>
          <a:srgbClr val="8D9894"/>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ch01 7">
        <a:dk1>
          <a:srgbClr val="686B5D"/>
        </a:dk1>
        <a:lt1>
          <a:srgbClr val="DCDAD0"/>
        </a:lt1>
        <a:dk2>
          <a:srgbClr val="525040"/>
        </a:dk2>
        <a:lt2>
          <a:srgbClr val="D3D2A6"/>
        </a:lt2>
        <a:accent1>
          <a:srgbClr val="686B5D"/>
        </a:accent1>
        <a:accent2>
          <a:srgbClr val="5D8770"/>
        </a:accent2>
        <a:accent3>
          <a:srgbClr val="B3B3AF"/>
        </a:accent3>
        <a:accent4>
          <a:srgbClr val="BCBAB1"/>
        </a:accent4>
        <a:accent5>
          <a:srgbClr val="B9BAB6"/>
        </a:accent5>
        <a:accent6>
          <a:srgbClr val="537A65"/>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ch01 8">
        <a:dk1>
          <a:srgbClr val="000000"/>
        </a:dk1>
        <a:lt1>
          <a:srgbClr val="EAEAEA"/>
        </a:lt1>
        <a:dk2>
          <a:srgbClr val="000000"/>
        </a:dk2>
        <a:lt2>
          <a:srgbClr val="B2B2B2"/>
        </a:lt2>
        <a:accent1>
          <a:srgbClr val="FFFFFF"/>
        </a:accent1>
        <a:accent2>
          <a:srgbClr val="A4BCC4"/>
        </a:accent2>
        <a:accent3>
          <a:srgbClr val="F3F3F3"/>
        </a:accent3>
        <a:accent4>
          <a:srgbClr val="000000"/>
        </a:accent4>
        <a:accent5>
          <a:srgbClr val="FFFFFF"/>
        </a:accent5>
        <a:accent6>
          <a:srgbClr val="94AAB1"/>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ch01 9">
        <a:dk1>
          <a:srgbClr val="000000"/>
        </a:dk1>
        <a:lt1>
          <a:srgbClr val="D7D1B9"/>
        </a:lt1>
        <a:dk2>
          <a:srgbClr val="B39257"/>
        </a:dk2>
        <a:lt2>
          <a:srgbClr val="B1A887"/>
        </a:lt2>
        <a:accent1>
          <a:srgbClr val="E6E3D4"/>
        </a:accent1>
        <a:accent2>
          <a:srgbClr val="A2A4AC"/>
        </a:accent2>
        <a:accent3>
          <a:srgbClr val="E8E5D9"/>
        </a:accent3>
        <a:accent4>
          <a:srgbClr val="000000"/>
        </a:accent4>
        <a:accent5>
          <a:srgbClr val="F0EFE6"/>
        </a:accent5>
        <a:accent6>
          <a:srgbClr val="9294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fusion">
  <a:themeElements>
    <a:clrScheme name="Infusion">
      <a:dk1>
        <a:sysClr val="windowText" lastClr="000000"/>
      </a:dk1>
      <a:lt1>
        <a:sysClr val="window" lastClr="FFFFFF"/>
      </a:lt1>
      <a:dk2>
        <a:srgbClr val="2F1F58"/>
      </a:dk2>
      <a:lt2>
        <a:srgbClr val="B7A9E0"/>
      </a:lt2>
      <a:accent1>
        <a:srgbClr val="8C73D0"/>
      </a:accent1>
      <a:accent2>
        <a:srgbClr val="C2E8C4"/>
      </a:accent2>
      <a:accent3>
        <a:srgbClr val="C5A6E8"/>
      </a:accent3>
      <a:accent4>
        <a:srgbClr val="B45EC7"/>
      </a:accent4>
      <a:accent5>
        <a:srgbClr val="9FDAFB"/>
      </a:accent5>
      <a:accent6>
        <a:srgbClr val="95C5B0"/>
      </a:accent6>
      <a:hlink>
        <a:srgbClr val="744AE0"/>
      </a:hlink>
      <a:folHlink>
        <a:srgbClr val="8D8AD1"/>
      </a:folHlink>
    </a:clrScheme>
    <a:fontScheme name="Infusion">
      <a:majorFont>
        <a:latin typeface="Mistral"/>
        <a:ea typeface=""/>
        <a:cs typeface=""/>
        <a:font script="Jpan" typeface="ＭＳ Ｐ明朝"/>
      </a:majorFont>
      <a:minorFont>
        <a:latin typeface="Candara"/>
        <a:ea typeface=""/>
        <a:cs typeface=""/>
        <a:font script="Jpan" typeface="メイリオ"/>
      </a:minorFont>
    </a:fontScheme>
    <a:fmtScheme name="Infusion">
      <a:fillStyleLst>
        <a:solidFill>
          <a:schemeClr val="phClr"/>
        </a:solidFill>
        <a:blipFill rotWithShape="1">
          <a:blip xmlns:r="http://schemas.openxmlformats.org/officeDocument/2006/relationships" r:embed="rId1">
            <a:duotone>
              <a:schemeClr val="phClr">
                <a:shade val="70000"/>
                <a:satMod val="120000"/>
              </a:schemeClr>
              <a:schemeClr val="phClr">
                <a:tint val="70000"/>
                <a:satMod val="300000"/>
                <a:lumMod val="125000"/>
              </a:schemeClr>
            </a:duotone>
          </a:blip>
          <a:tile tx="0" ty="0" sx="50000" sy="50000" flip="none" algn="tl"/>
        </a:blipFill>
        <a:blipFill rotWithShape="1">
          <a:blip xmlns:r="http://schemas.openxmlformats.org/officeDocument/2006/relationships" r:embed="rId2">
            <a:duotone>
              <a:schemeClr val="phClr">
                <a:shade val="70000"/>
                <a:satMod val="120000"/>
              </a:schemeClr>
              <a:schemeClr val="phClr">
                <a:tint val="70000"/>
                <a:satMod val="135000"/>
              </a:schemeClr>
            </a:duotone>
          </a:blip>
          <a:tile tx="0" ty="0" sx="40000" sy="40000" flip="none" algn="tl"/>
        </a:blipFill>
      </a:fillStyleLst>
      <a:lnStyleLst>
        <a:ln w="38100" cap="flat" cmpd="sng" algn="ctr">
          <a:solidFill>
            <a:schemeClr val="phClr">
              <a:alpha val="70000"/>
              <a:satMod val="105000"/>
            </a:schemeClr>
          </a:solidFill>
          <a:prstDash val="solid"/>
          <a:miter/>
        </a:ln>
        <a:ln w="50800" cap="flat" cmpd="sng" algn="ctr">
          <a:solidFill>
            <a:schemeClr val="phClr">
              <a:alpha val="50000"/>
            </a:schemeClr>
          </a:solidFill>
          <a:prstDash val="solid"/>
          <a:miter/>
        </a:ln>
        <a:ln w="88900" cap="flat" cmpd="sng" algn="ctr">
          <a:solidFill>
            <a:schemeClr val="phClr">
              <a:alpha val="40000"/>
            </a:schemeClr>
          </a:solidFill>
          <a:prstDash val="solid"/>
          <a:miter/>
        </a:ln>
      </a:lnStyleLst>
      <a:effectStyleLst>
        <a:effectStyle>
          <a:effectLst/>
        </a:effectStyle>
        <a:effectStyle>
          <a:effectLst>
            <a:outerShdw blurRad="38100" dist="25400" dir="5400000" rotWithShape="0">
              <a:srgbClr val="000000">
                <a:alpha val="50000"/>
              </a:srgbClr>
            </a:outerShdw>
          </a:effectLst>
        </a:effectStyle>
        <a:effectStyle>
          <a:effectLst>
            <a:innerShdw blurRad="190500" dir="13500000">
              <a:srgbClr val="000000">
                <a:alpha val="50000"/>
              </a:srgbClr>
            </a:innerShdw>
            <a:outerShdw blurRad="38100" dist="25400" dir="5400000" rotWithShape="0">
              <a:srgbClr val="000000">
                <a:alpha val="50000"/>
              </a:srgbClr>
            </a:outerShdw>
          </a:effectLst>
        </a:effectStyle>
      </a:effectStyleLst>
      <a:bgFillStyleLst>
        <a:blipFill rotWithShape="1">
          <a:blip xmlns:r="http://schemas.openxmlformats.org/officeDocument/2006/relationships" r:embed="rId3">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4">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5">
            <a:duotone>
              <a:schemeClr val="phClr">
                <a:shade val="70000"/>
                <a:satMod val="500000"/>
                <a:lumMod val="50000"/>
              </a:schemeClr>
              <a:schemeClr val="phClr">
                <a:satMod val="800000"/>
                <a:lumMod val="25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Mnementh:Users:lpb:admin:consult:Prentice-Hall:Slides:ch01.ppt</Template>
  <TotalTime>9513</TotalTime>
  <Words>19222</Words>
  <Application>Microsoft Macintosh PowerPoint</Application>
  <PresentationFormat>On-screen Show (4:3)</PresentationFormat>
  <Paragraphs>1756</Paragraphs>
  <Slides>61</Slides>
  <Notes>61</Notes>
  <HiddenSlides>0</HiddenSlides>
  <MMClips>0</MMClips>
  <ScaleCrop>false</ScaleCrop>
  <HeadingPairs>
    <vt:vector size="6" baseType="variant">
      <vt:variant>
        <vt:lpstr>Design Template</vt:lpstr>
      </vt:variant>
      <vt:variant>
        <vt:i4>2</vt:i4>
      </vt:variant>
      <vt:variant>
        <vt:lpstr>Embedded OLE Servers</vt:lpstr>
      </vt:variant>
      <vt:variant>
        <vt:i4>1</vt:i4>
      </vt:variant>
      <vt:variant>
        <vt:lpstr>Slide Titles</vt:lpstr>
      </vt:variant>
      <vt:variant>
        <vt:i4>61</vt:i4>
      </vt:variant>
    </vt:vector>
  </HeadingPairs>
  <TitlesOfParts>
    <vt:vector size="64" baseType="lpstr">
      <vt:lpstr>ch01</vt:lpstr>
      <vt:lpstr>Infusion</vt:lpstr>
      <vt:lpstr>Document</vt:lpstr>
      <vt:lpstr>Cryptography and Network Security</vt:lpstr>
      <vt:lpstr>Chapter 19</vt:lpstr>
      <vt:lpstr>Slide 3</vt:lpstr>
      <vt:lpstr>Email Protocols</vt:lpstr>
      <vt:lpstr>SMTP</vt:lpstr>
      <vt:lpstr>Slide 6</vt:lpstr>
      <vt:lpstr>STARTTLS</vt:lpstr>
      <vt:lpstr>Mail Access Protocols</vt:lpstr>
      <vt:lpstr>RFC 5322</vt:lpstr>
      <vt:lpstr>Example Message</vt:lpstr>
      <vt:lpstr>Multipurpose Internet Mail Extensions (MIME)</vt:lpstr>
      <vt:lpstr>Limitations of the SMTP/5322 Scheme</vt:lpstr>
      <vt:lpstr>MIME Specifications</vt:lpstr>
      <vt:lpstr>The Five Header Fields Defined in MIME </vt:lpstr>
      <vt:lpstr>Slide 15</vt:lpstr>
      <vt:lpstr>Slide 16</vt:lpstr>
      <vt:lpstr>Slide 17</vt:lpstr>
      <vt:lpstr>Formats</vt:lpstr>
      <vt:lpstr>Email Security Threats</vt:lpstr>
      <vt:lpstr>Slide 20</vt:lpstr>
      <vt:lpstr>Counter Threat Protocols</vt:lpstr>
      <vt:lpstr>Counter Threat Protocols</vt:lpstr>
      <vt:lpstr>Slide 23</vt:lpstr>
      <vt:lpstr>Secure/Multipurpose Internet Mail Extension (S/MIME)</vt:lpstr>
      <vt:lpstr>Slide 25</vt:lpstr>
      <vt:lpstr>Authentication </vt:lpstr>
      <vt:lpstr>Confidentiality </vt:lpstr>
      <vt:lpstr>Slide 28</vt:lpstr>
      <vt:lpstr>E-mail Compatibility</vt:lpstr>
      <vt:lpstr>Compression</vt:lpstr>
      <vt:lpstr>S/MIME Message  Content Types</vt:lpstr>
      <vt:lpstr>Slide 32</vt:lpstr>
      <vt:lpstr>Securing a MIME Entity</vt:lpstr>
      <vt:lpstr>EnvelopedData </vt:lpstr>
      <vt:lpstr>SignedData</vt:lpstr>
      <vt:lpstr>Clear Signing</vt:lpstr>
      <vt:lpstr>S/MIME Certificate Processing</vt:lpstr>
      <vt:lpstr>User Agent Role</vt:lpstr>
      <vt:lpstr>Enhanced Security Services</vt:lpstr>
      <vt:lpstr>Pretty Good Privacy (PGP)</vt:lpstr>
      <vt:lpstr>Domain Name System (DNS)</vt:lpstr>
      <vt:lpstr>DNS Database</vt:lpstr>
      <vt:lpstr>Slide 43</vt:lpstr>
      <vt:lpstr>Slide 44</vt:lpstr>
      <vt:lpstr>DNSSEC</vt:lpstr>
      <vt:lpstr>DNSSEC Operation</vt:lpstr>
      <vt:lpstr>Resource Records for DNSSEC</vt:lpstr>
      <vt:lpstr>DANE</vt:lpstr>
      <vt:lpstr>Slide 49</vt:lpstr>
      <vt:lpstr>Sender Policy Framework (SPF)</vt:lpstr>
      <vt:lpstr>Slide 51</vt:lpstr>
      <vt:lpstr>Slide 52</vt:lpstr>
      <vt:lpstr>Slide 53</vt:lpstr>
      <vt:lpstr>DomainKeys Identified Mail (DKIM)</vt:lpstr>
      <vt:lpstr>E-mail Threats</vt:lpstr>
      <vt:lpstr>Slide 56</vt:lpstr>
      <vt:lpstr>Slide 57</vt:lpstr>
      <vt:lpstr>DMARC</vt:lpstr>
      <vt:lpstr>Slide 59</vt:lpstr>
      <vt:lpstr>Slide 60</vt:lpstr>
      <vt:lpstr>Summary</vt:lpstr>
    </vt:vector>
  </TitlesOfParts>
  <Manager/>
  <Company>School of Eng &amp; IT, UNSW@ADFA</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18</dc:subject>
  <dc:creator>Dr Lawrie Brown</dc:creator>
  <cp:keywords/>
  <dc:description/>
  <cp:lastModifiedBy>Kevin McLaughlin</cp:lastModifiedBy>
  <cp:revision>81</cp:revision>
  <dcterms:created xsi:type="dcterms:W3CDTF">2016-05-14T02:01:48Z</dcterms:created>
  <dcterms:modified xsi:type="dcterms:W3CDTF">2016-05-16T23:56:02Z</dcterms:modified>
  <cp:category/>
</cp:coreProperties>
</file>